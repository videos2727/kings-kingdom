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handoutMasterIdLst>
    <p:handoutMasterId r:id="rId17"/>
  </p:handoutMasterIdLst>
  <p:sldIdLst>
    <p:sldId id="256" r:id="rId2"/>
    <p:sldId id="348" r:id="rId3"/>
    <p:sldId id="257" r:id="rId4"/>
    <p:sldId id="345" r:id="rId5"/>
    <p:sldId id="267" r:id="rId6"/>
    <p:sldId id="268" r:id="rId7"/>
    <p:sldId id="269" r:id="rId8"/>
    <p:sldId id="270" r:id="rId9"/>
    <p:sldId id="271" r:id="rId10"/>
    <p:sldId id="272" r:id="rId11"/>
    <p:sldId id="273" r:id="rId12"/>
    <p:sldId id="274" r:id="rId13"/>
    <p:sldId id="275" r:id="rId14"/>
    <p:sldId id="349" r:id="rId15"/>
  </p:sldIdLst>
  <p:sldSz cx="12188825" cy="6858000"/>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39" userDrawn="1">
          <p15:clr>
            <a:srgbClr val="A4A3A4"/>
          </p15:clr>
        </p15:guide>
        <p15:guide id="2" orient="horz" pos="2160" userDrawn="1">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EC20E35-A176-4012-BC5E-935CFFF8708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11" autoAdjust="0"/>
    <p:restoredTop sz="94599" autoAdjust="0"/>
  </p:normalViewPr>
  <p:slideViewPr>
    <p:cSldViewPr>
      <p:cViewPr varScale="1">
        <p:scale>
          <a:sx n="84" d="100"/>
          <a:sy n="84" d="100"/>
        </p:scale>
        <p:origin x="36" y="366"/>
      </p:cViewPr>
      <p:guideLst>
        <p:guide pos="3839"/>
        <p:guide orient="horz" pos="2160"/>
      </p:guideLst>
    </p:cSldViewPr>
  </p:slideViewPr>
  <p:notesTextViewPr>
    <p:cViewPr>
      <p:scale>
        <a:sx n="1" d="1"/>
        <a:sy n="1" d="1"/>
      </p:scale>
      <p:origin x="0" y="0"/>
    </p:cViewPr>
  </p:notesTextViewPr>
  <p:notesViewPr>
    <p:cSldViewPr showGuides="1">
      <p:cViewPr varScale="1">
        <p:scale>
          <a:sx n="52" d="100"/>
          <a:sy n="52" d="100"/>
        </p:scale>
        <p:origin x="2664" y="32"/>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50443" y="0"/>
            <a:ext cx="2945659" cy="496332"/>
          </a:xfrm>
          <a:prstGeom prst="rect">
            <a:avLst/>
          </a:prstGeom>
        </p:spPr>
        <p:txBody>
          <a:bodyPr vert="horz" lIns="91440" tIns="45720" rIns="91440" bIns="45720" rtlCol="0"/>
          <a:lstStyle>
            <a:lvl1pPr algn="r">
              <a:defRPr sz="1200"/>
            </a:lvl1pPr>
          </a:lstStyle>
          <a:p>
            <a:fld id="{784AA43A-3F76-4A13-9CD6-36134EB429E3}" type="datetimeFigureOut">
              <a:rPr lang="en-US"/>
              <a:t>3/3/2021</a:t>
            </a:fld>
            <a:endParaRPr/>
          </a:p>
        </p:txBody>
      </p:sp>
      <p:sp>
        <p:nvSpPr>
          <p:cNvPr id="4" name="Footer Placeholder 3"/>
          <p:cNvSpPr>
            <a:spLocks noGrp="1"/>
          </p:cNvSpPr>
          <p:nvPr>
            <p:ph type="ftr" sz="quarter" idx="2"/>
          </p:nvPr>
        </p:nvSpPr>
        <p:spPr>
          <a:xfrm>
            <a:off x="0" y="9428583"/>
            <a:ext cx="2945659" cy="496332"/>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50443" y="9428583"/>
            <a:ext cx="2945659" cy="496332"/>
          </a:xfrm>
          <a:prstGeom prst="rect">
            <a:avLst/>
          </a:prstGeom>
        </p:spPr>
        <p:txBody>
          <a:bodyPr vert="horz" lIns="91440" tIns="45720" rIns="91440" bIns="45720" rtlCol="0" anchor="b"/>
          <a:lstStyle>
            <a:lvl1pPr algn="r">
              <a:defRPr sz="1200"/>
            </a:lvl1pPr>
          </a:lstStyle>
          <a:p>
            <a:fld id="{A850423A-8BCE-448E-A97B-03A88B2B12C1}" type="slidenum">
              <a:rPr/>
              <a:t>‹#›</a:t>
            </a:fld>
            <a:endParaRPr/>
          </a:p>
        </p:txBody>
      </p:sp>
    </p:spTree>
    <p:extLst>
      <p:ext uri="{BB962C8B-B14F-4D97-AF65-F5344CB8AC3E}">
        <p14:creationId xmlns:p14="http://schemas.microsoft.com/office/powerpoint/2010/main" val="4051395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50443" y="0"/>
            <a:ext cx="2945659" cy="496332"/>
          </a:xfrm>
          <a:prstGeom prst="rect">
            <a:avLst/>
          </a:prstGeom>
        </p:spPr>
        <p:txBody>
          <a:bodyPr vert="horz" lIns="91440" tIns="45720" rIns="91440" bIns="45720" rtlCol="0"/>
          <a:lstStyle>
            <a:lvl1pPr algn="r">
              <a:defRPr sz="1200"/>
            </a:lvl1pPr>
          </a:lstStyle>
          <a:p>
            <a:fld id="{5F674A4F-2B7A-4ECB-A400-260B2FFC03C1}" type="datetimeFigureOut">
              <a:rPr lang="en-US"/>
              <a:t>3/3/2021</a:t>
            </a:fld>
            <a:endParaRPr/>
          </a:p>
        </p:txBody>
      </p:sp>
      <p:sp>
        <p:nvSpPr>
          <p:cNvPr id="4" name="Slide Image Placeholder 3"/>
          <p:cNvSpPr>
            <a:spLocks noGrp="1" noRot="1" noChangeAspect="1"/>
          </p:cNvSpPr>
          <p:nvPr>
            <p:ph type="sldImg" idx="2"/>
          </p:nvPr>
        </p:nvSpPr>
        <p:spPr>
          <a:xfrm>
            <a:off x="92075" y="744538"/>
            <a:ext cx="6613525" cy="37226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79768" y="4715153"/>
            <a:ext cx="5438140" cy="4466987"/>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9428583"/>
            <a:ext cx="2945659" cy="496332"/>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50443" y="9428583"/>
            <a:ext cx="2945659" cy="496332"/>
          </a:xfrm>
          <a:prstGeom prst="rect">
            <a:avLst/>
          </a:prstGeom>
        </p:spPr>
        <p:txBody>
          <a:bodyPr vert="horz" lIns="91440" tIns="45720" rIns="91440" bIns="45720" rtlCol="0" anchor="b"/>
          <a:lstStyle>
            <a:lvl1pPr algn="r">
              <a:defRPr sz="1200"/>
            </a:lvl1pPr>
          </a:lstStyle>
          <a:p>
            <a:fld id="{01F2A70B-78F2-4DCF-B53B-C990D2FAFB8A}" type="slidenum">
              <a:rPr/>
              <a:t>‹#›</a:t>
            </a:fld>
            <a:endParaRPr/>
          </a:p>
        </p:txBody>
      </p:sp>
    </p:spTree>
    <p:extLst>
      <p:ext uri="{BB962C8B-B14F-4D97-AF65-F5344CB8AC3E}">
        <p14:creationId xmlns:p14="http://schemas.microsoft.com/office/powerpoint/2010/main" val="24115705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Required: MAB Blocks of 10s and single cubes for concrete examples</a:t>
            </a:r>
          </a:p>
        </p:txBody>
      </p:sp>
      <p:sp>
        <p:nvSpPr>
          <p:cNvPr id="4" name="Slide Number Placeholder 3"/>
          <p:cNvSpPr>
            <a:spLocks noGrp="1"/>
          </p:cNvSpPr>
          <p:nvPr>
            <p:ph type="sldNum" sz="quarter" idx="10"/>
          </p:nvPr>
        </p:nvSpPr>
        <p:spPr/>
        <p:txBody>
          <a:bodyPr/>
          <a:lstStyle/>
          <a:p>
            <a:fld id="{B28BD033-8677-4794-8EA0-E5BD0D524802}" type="slidenum">
              <a:rPr lang="en-AU" smtClean="0"/>
              <a:t>4</a:t>
            </a:fld>
            <a:endParaRPr lang="en-AU"/>
          </a:p>
        </p:txBody>
      </p:sp>
    </p:spTree>
    <p:extLst>
      <p:ext uri="{BB962C8B-B14F-4D97-AF65-F5344CB8AC3E}">
        <p14:creationId xmlns:p14="http://schemas.microsoft.com/office/powerpoint/2010/main" val="11377222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2413" y="1905000"/>
            <a:ext cx="9144000" cy="2667000"/>
          </a:xfrm>
        </p:spPr>
        <p:txBody>
          <a:bodyPr>
            <a:noAutofit/>
          </a:bodyPr>
          <a:lstStyle>
            <a:lvl1pPr>
              <a:defRPr sz="5400"/>
            </a:lvl1pPr>
          </a:lstStyle>
          <a:p>
            <a:r>
              <a:rPr lang="en-US"/>
              <a:t>Click to edit Master title style</a:t>
            </a:r>
            <a:endParaRPr/>
          </a:p>
        </p:txBody>
      </p:sp>
      <p:grpSp>
        <p:nvGrpSpPr>
          <p:cNvPr id="256" name="line" descr="Line graphic"/>
          <p:cNvGrpSpPr/>
          <p:nvPr/>
        </p:nvGrpSpPr>
        <p:grpSpPr bwMode="invGray">
          <a:xfrm>
            <a:off x="1584896" y="4724400"/>
            <a:ext cx="8631936" cy="64008"/>
            <a:chOff x="-4110038" y="2703513"/>
            <a:chExt cx="17394239" cy="160336"/>
          </a:xfrm>
          <a:solidFill>
            <a:schemeClr val="accent1"/>
          </a:solidFill>
        </p:grpSpPr>
        <p:sp>
          <p:nvSpPr>
            <p:cNvPr id="257" name="Freeform 5"/>
            <p:cNvSpPr>
              <a:spLocks/>
            </p:cNvSpPr>
            <p:nvPr/>
          </p:nvSpPr>
          <p:spPr bwMode="invGray">
            <a:xfrm>
              <a:off x="12815888" y="2768600"/>
              <a:ext cx="468313" cy="19050"/>
            </a:xfrm>
            <a:custGeom>
              <a:avLst/>
              <a:gdLst>
                <a:gd name="T0" fmla="*/ 21 w 244"/>
                <a:gd name="T1" fmla="*/ 5 h 8"/>
                <a:gd name="T2" fmla="*/ 21 w 244"/>
                <a:gd name="T3" fmla="*/ 5 h 8"/>
                <a:gd name="T4" fmla="*/ 52 w 244"/>
                <a:gd name="T5" fmla="*/ 7 h 8"/>
                <a:gd name="T6" fmla="*/ 100 w 244"/>
                <a:gd name="T7" fmla="*/ 5 h 8"/>
                <a:gd name="T8" fmla="*/ 125 w 244"/>
                <a:gd name="T9" fmla="*/ 7 h 8"/>
                <a:gd name="T10" fmla="*/ 202 w 244"/>
                <a:gd name="T11" fmla="*/ 6 h 8"/>
                <a:gd name="T12" fmla="*/ 156 w 244"/>
                <a:gd name="T13" fmla="*/ 5 h 8"/>
                <a:gd name="T14" fmla="*/ 244 w 244"/>
                <a:gd name="T15" fmla="*/ 3 h 8"/>
                <a:gd name="T16" fmla="*/ 161 w 244"/>
                <a:gd name="T17" fmla="*/ 3 h 8"/>
                <a:gd name="T18" fmla="*/ 165 w 244"/>
                <a:gd name="T19" fmla="*/ 2 h 8"/>
                <a:gd name="T20" fmla="*/ 96 w 244"/>
                <a:gd name="T21" fmla="*/ 2 h 8"/>
                <a:gd name="T22" fmla="*/ 111 w 244"/>
                <a:gd name="T23" fmla="*/ 1 h 8"/>
                <a:gd name="T24" fmla="*/ 0 w 244"/>
                <a:gd name="T25" fmla="*/ 5 h 8"/>
                <a:gd name="T26" fmla="*/ 21 w 244"/>
                <a:gd name="T27"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4" h="8">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8" name="Freeform 6"/>
            <p:cNvSpPr>
              <a:spLocks/>
            </p:cNvSpPr>
            <p:nvPr/>
          </p:nvSpPr>
          <p:spPr bwMode="invGray">
            <a:xfrm>
              <a:off x="12380913" y="2755900"/>
              <a:ext cx="461963" cy="26987"/>
            </a:xfrm>
            <a:custGeom>
              <a:avLst/>
              <a:gdLst>
                <a:gd name="T0" fmla="*/ 162 w 241"/>
                <a:gd name="T1" fmla="*/ 4 h 12"/>
                <a:gd name="T2" fmla="*/ 162 w 241"/>
                <a:gd name="T3" fmla="*/ 4 h 12"/>
                <a:gd name="T4" fmla="*/ 127 w 241"/>
                <a:gd name="T5" fmla="*/ 7 h 12"/>
                <a:gd name="T6" fmla="*/ 68 w 241"/>
                <a:gd name="T7" fmla="*/ 6 h 12"/>
                <a:gd name="T8" fmla="*/ 53 w 241"/>
                <a:gd name="T9" fmla="*/ 9 h 12"/>
                <a:gd name="T10" fmla="*/ 79 w 241"/>
                <a:gd name="T11" fmla="*/ 9 h 12"/>
                <a:gd name="T12" fmla="*/ 18 w 241"/>
                <a:gd name="T13" fmla="*/ 11 h 12"/>
                <a:gd name="T14" fmla="*/ 101 w 241"/>
                <a:gd name="T15" fmla="*/ 10 h 12"/>
                <a:gd name="T16" fmla="*/ 195 w 241"/>
                <a:gd name="T17" fmla="*/ 12 h 12"/>
                <a:gd name="T18" fmla="*/ 226 w 241"/>
                <a:gd name="T19" fmla="*/ 11 h 12"/>
                <a:gd name="T20" fmla="*/ 215 w 241"/>
                <a:gd name="T21" fmla="*/ 11 h 12"/>
                <a:gd name="T22" fmla="*/ 213 w 241"/>
                <a:gd name="T23" fmla="*/ 7 h 12"/>
                <a:gd name="T24" fmla="*/ 172 w 241"/>
                <a:gd name="T25" fmla="*/ 7 h 12"/>
                <a:gd name="T26" fmla="*/ 241 w 241"/>
                <a:gd name="T27" fmla="*/ 4 h 12"/>
                <a:gd name="T28" fmla="*/ 123 w 241"/>
                <a:gd name="T29" fmla="*/ 0 h 12"/>
                <a:gd name="T30" fmla="*/ 162 w 241"/>
                <a:gd name="T31"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1" h="12">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9" name="Freeform 7"/>
            <p:cNvSpPr>
              <a:spLocks/>
            </p:cNvSpPr>
            <p:nvPr/>
          </p:nvSpPr>
          <p:spPr bwMode="invGray">
            <a:xfrm>
              <a:off x="12814300" y="2779713"/>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0" name="Freeform 8"/>
            <p:cNvSpPr>
              <a:spLocks/>
            </p:cNvSpPr>
            <p:nvPr/>
          </p:nvSpPr>
          <p:spPr bwMode="invGray">
            <a:xfrm>
              <a:off x="2738437" y="2795588"/>
              <a:ext cx="425450" cy="15875"/>
            </a:xfrm>
            <a:custGeom>
              <a:avLst/>
              <a:gdLst>
                <a:gd name="T0" fmla="*/ 77 w 222"/>
                <a:gd name="T1" fmla="*/ 5 h 7"/>
                <a:gd name="T2" fmla="*/ 77 w 222"/>
                <a:gd name="T3" fmla="*/ 5 h 7"/>
                <a:gd name="T4" fmla="*/ 56 w 222"/>
                <a:gd name="T5" fmla="*/ 6 h 7"/>
                <a:gd name="T6" fmla="*/ 222 w 222"/>
                <a:gd name="T7" fmla="*/ 5 h 7"/>
                <a:gd name="T8" fmla="*/ 200 w 222"/>
                <a:gd name="T9" fmla="*/ 3 h 7"/>
                <a:gd name="T10" fmla="*/ 137 w 222"/>
                <a:gd name="T11" fmla="*/ 4 h 7"/>
                <a:gd name="T12" fmla="*/ 149 w 222"/>
                <a:gd name="T13" fmla="*/ 3 h 7"/>
                <a:gd name="T14" fmla="*/ 109 w 222"/>
                <a:gd name="T15" fmla="*/ 0 h 7"/>
                <a:gd name="T16" fmla="*/ 106 w 222"/>
                <a:gd name="T17" fmla="*/ 0 h 7"/>
                <a:gd name="T18" fmla="*/ 0 w 222"/>
                <a:gd name="T19" fmla="*/ 7 h 7"/>
                <a:gd name="T20" fmla="*/ 77 w 222"/>
                <a:gd name="T21"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2" h="7">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1" name="Freeform 9"/>
            <p:cNvSpPr>
              <a:spLocks/>
            </p:cNvSpPr>
            <p:nvPr/>
          </p:nvSpPr>
          <p:spPr bwMode="invGray">
            <a:xfrm>
              <a:off x="-3646488" y="2800350"/>
              <a:ext cx="46038" cy="3175"/>
            </a:xfrm>
            <a:custGeom>
              <a:avLst/>
              <a:gdLst>
                <a:gd name="T0" fmla="*/ 0 w 24"/>
                <a:gd name="T1" fmla="*/ 1 h 1"/>
                <a:gd name="T2" fmla="*/ 0 w 24"/>
                <a:gd name="T3" fmla="*/ 1 h 1"/>
                <a:gd name="T4" fmla="*/ 21 w 24"/>
                <a:gd name="T5" fmla="*/ 0 h 1"/>
                <a:gd name="T6" fmla="*/ 0 w 24"/>
                <a:gd name="T7" fmla="*/ 1 h 1"/>
              </a:gdLst>
              <a:ahLst/>
              <a:cxnLst>
                <a:cxn ang="0">
                  <a:pos x="T0" y="T1"/>
                </a:cxn>
                <a:cxn ang="0">
                  <a:pos x="T2" y="T3"/>
                </a:cxn>
                <a:cxn ang="0">
                  <a:pos x="T4" y="T5"/>
                </a:cxn>
                <a:cxn ang="0">
                  <a:pos x="T6" y="T7"/>
                </a:cxn>
              </a:cxnLst>
              <a:rect l="0" t="0" r="r" b="b"/>
              <a:pathLst>
                <a:path w="24" h="1">
                  <a:moveTo>
                    <a:pt x="0" y="1"/>
                  </a:moveTo>
                  <a:lnTo>
                    <a:pt x="0" y="1"/>
                  </a:lnTo>
                  <a:cubicBezTo>
                    <a:pt x="21" y="0"/>
                    <a:pt x="24" y="0"/>
                    <a:pt x="21" y="0"/>
                  </a:cubicBez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2" name="Freeform 10"/>
            <p:cNvSpPr>
              <a:spLocks/>
            </p:cNvSpPr>
            <p:nvPr/>
          </p:nvSpPr>
          <p:spPr bwMode="invGray">
            <a:xfrm>
              <a:off x="2627312" y="2816225"/>
              <a:ext cx="63500" cy="4762"/>
            </a:xfrm>
            <a:custGeom>
              <a:avLst/>
              <a:gdLst>
                <a:gd name="T0" fmla="*/ 33 w 33"/>
                <a:gd name="T1" fmla="*/ 0 h 2"/>
                <a:gd name="T2" fmla="*/ 33 w 33"/>
                <a:gd name="T3" fmla="*/ 0 h 2"/>
                <a:gd name="T4" fmla="*/ 0 w 33"/>
                <a:gd name="T5" fmla="*/ 2 h 2"/>
                <a:gd name="T6" fmla="*/ 33 w 33"/>
                <a:gd name="T7" fmla="*/ 0 h 2"/>
              </a:gdLst>
              <a:ahLst/>
              <a:cxnLst>
                <a:cxn ang="0">
                  <a:pos x="T0" y="T1"/>
                </a:cxn>
                <a:cxn ang="0">
                  <a:pos x="T2" y="T3"/>
                </a:cxn>
                <a:cxn ang="0">
                  <a:pos x="T4" y="T5"/>
                </a:cxn>
                <a:cxn ang="0">
                  <a:pos x="T6" y="T7"/>
                </a:cxn>
              </a:cxnLst>
              <a:rect l="0" t="0" r="r" b="b"/>
              <a:pathLst>
                <a:path w="33" h="2">
                  <a:moveTo>
                    <a:pt x="33" y="0"/>
                  </a:moveTo>
                  <a:lnTo>
                    <a:pt x="33" y="0"/>
                  </a:lnTo>
                  <a:lnTo>
                    <a:pt x="0" y="2"/>
                  </a:lnTo>
                  <a:cubicBezTo>
                    <a:pt x="14" y="1"/>
                    <a:pt x="25" y="1"/>
                    <a:pt x="3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3" name="Freeform 11"/>
            <p:cNvSpPr>
              <a:spLocks/>
            </p:cNvSpPr>
            <p:nvPr/>
          </p:nvSpPr>
          <p:spPr bwMode="invGray">
            <a:xfrm>
              <a:off x="3103562" y="2741613"/>
              <a:ext cx="28575" cy="3175"/>
            </a:xfrm>
            <a:custGeom>
              <a:avLst/>
              <a:gdLst>
                <a:gd name="T0" fmla="*/ 15 w 15"/>
                <a:gd name="T1" fmla="*/ 0 h 1"/>
                <a:gd name="T2" fmla="*/ 15 w 15"/>
                <a:gd name="T3" fmla="*/ 0 h 1"/>
                <a:gd name="T4" fmla="*/ 15 w 15"/>
                <a:gd name="T5" fmla="*/ 0 h 1"/>
                <a:gd name="T6" fmla="*/ 0 w 15"/>
                <a:gd name="T7" fmla="*/ 1 h 1"/>
                <a:gd name="T8" fmla="*/ 0 w 15"/>
                <a:gd name="T9" fmla="*/ 1 h 1"/>
                <a:gd name="T10" fmla="*/ 15 w 15"/>
                <a:gd name="T11" fmla="*/ 0 h 1"/>
              </a:gdLst>
              <a:ahLst/>
              <a:cxnLst>
                <a:cxn ang="0">
                  <a:pos x="T0" y="T1"/>
                </a:cxn>
                <a:cxn ang="0">
                  <a:pos x="T2" y="T3"/>
                </a:cxn>
                <a:cxn ang="0">
                  <a:pos x="T4" y="T5"/>
                </a:cxn>
                <a:cxn ang="0">
                  <a:pos x="T6" y="T7"/>
                </a:cxn>
                <a:cxn ang="0">
                  <a:pos x="T8" y="T9"/>
                </a:cxn>
                <a:cxn ang="0">
                  <a:pos x="T10" y="T11"/>
                </a:cxn>
              </a:cxnLst>
              <a:rect l="0" t="0" r="r" b="b"/>
              <a:pathLst>
                <a:path w="15" h="1">
                  <a:moveTo>
                    <a:pt x="15" y="0"/>
                  </a:moveTo>
                  <a:lnTo>
                    <a:pt x="15" y="0"/>
                  </a:lnTo>
                  <a:cubicBezTo>
                    <a:pt x="15" y="0"/>
                    <a:pt x="15" y="0"/>
                    <a:pt x="15" y="0"/>
                  </a:cubicBezTo>
                  <a:lnTo>
                    <a:pt x="0" y="1"/>
                  </a:lnTo>
                  <a:lnTo>
                    <a:pt x="0" y="1"/>
                  </a:lnTo>
                  <a:lnTo>
                    <a:pt x="1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4" name="Freeform 12"/>
            <p:cNvSpPr>
              <a:spLocks/>
            </p:cNvSpPr>
            <p:nvPr/>
          </p:nvSpPr>
          <p:spPr bwMode="invGray">
            <a:xfrm>
              <a:off x="1227137" y="2836863"/>
              <a:ext cx="20638" cy="0"/>
            </a:xfrm>
            <a:custGeom>
              <a:avLst/>
              <a:gdLst>
                <a:gd name="T0" fmla="*/ 11 w 11"/>
                <a:gd name="T1" fmla="*/ 11 w 11"/>
                <a:gd name="T2" fmla="*/ 0 w 11"/>
                <a:gd name="T3" fmla="*/ 11 w 11"/>
              </a:gdLst>
              <a:ahLst/>
              <a:cxnLst>
                <a:cxn ang="0">
                  <a:pos x="T0" y="0"/>
                </a:cxn>
                <a:cxn ang="0">
                  <a:pos x="T1" y="0"/>
                </a:cxn>
                <a:cxn ang="0">
                  <a:pos x="T2" y="0"/>
                </a:cxn>
                <a:cxn ang="0">
                  <a:pos x="T3" y="0"/>
                </a:cxn>
              </a:cxnLst>
              <a:rect l="0" t="0" r="r" b="b"/>
              <a:pathLst>
                <a:path w="11">
                  <a:moveTo>
                    <a:pt x="11" y="0"/>
                  </a:moveTo>
                  <a:lnTo>
                    <a:pt x="11" y="0"/>
                  </a:ln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5" name="Freeform 13"/>
            <p:cNvSpPr>
              <a:spLocks/>
            </p:cNvSpPr>
            <p:nvPr/>
          </p:nvSpPr>
          <p:spPr bwMode="invGray">
            <a:xfrm>
              <a:off x="3660775" y="2713038"/>
              <a:ext cx="331788" cy="20637"/>
            </a:xfrm>
            <a:custGeom>
              <a:avLst/>
              <a:gdLst>
                <a:gd name="T0" fmla="*/ 173 w 173"/>
                <a:gd name="T1" fmla="*/ 0 h 9"/>
                <a:gd name="T2" fmla="*/ 173 w 173"/>
                <a:gd name="T3" fmla="*/ 0 h 9"/>
                <a:gd name="T4" fmla="*/ 99 w 173"/>
                <a:gd name="T5" fmla="*/ 2 h 9"/>
                <a:gd name="T6" fmla="*/ 89 w 173"/>
                <a:gd name="T7" fmla="*/ 1 h 9"/>
                <a:gd name="T8" fmla="*/ 64 w 173"/>
                <a:gd name="T9" fmla="*/ 2 h 9"/>
                <a:gd name="T10" fmla="*/ 79 w 173"/>
                <a:gd name="T11" fmla="*/ 2 h 9"/>
                <a:gd name="T12" fmla="*/ 0 w 173"/>
                <a:gd name="T13" fmla="*/ 8 h 9"/>
                <a:gd name="T14" fmla="*/ 78 w 173"/>
                <a:gd name="T15" fmla="*/ 7 h 9"/>
                <a:gd name="T16" fmla="*/ 98 w 173"/>
                <a:gd name="T17" fmla="*/ 6 h 9"/>
                <a:gd name="T18" fmla="*/ 159 w 173"/>
                <a:gd name="T19" fmla="*/ 2 h 9"/>
                <a:gd name="T20" fmla="*/ 173 w 173"/>
                <a:gd name="T21"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9">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6" name="Freeform 14"/>
            <p:cNvSpPr>
              <a:spLocks/>
            </p:cNvSpPr>
            <p:nvPr/>
          </p:nvSpPr>
          <p:spPr bwMode="invGray">
            <a:xfrm>
              <a:off x="-1674813" y="2768600"/>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7" name="Freeform 15"/>
            <p:cNvSpPr>
              <a:spLocks/>
            </p:cNvSpPr>
            <p:nvPr/>
          </p:nvSpPr>
          <p:spPr bwMode="invGray">
            <a:xfrm>
              <a:off x="-1673225" y="2767013"/>
              <a:ext cx="36513" cy="1587"/>
            </a:xfrm>
            <a:custGeom>
              <a:avLst/>
              <a:gdLst>
                <a:gd name="T0" fmla="*/ 3 w 19"/>
                <a:gd name="T1" fmla="*/ 0 h 1"/>
                <a:gd name="T2" fmla="*/ 3 w 19"/>
                <a:gd name="T3" fmla="*/ 0 h 1"/>
                <a:gd name="T4" fmla="*/ 0 w 19"/>
                <a:gd name="T5" fmla="*/ 1 h 1"/>
                <a:gd name="T6" fmla="*/ 3 w 19"/>
                <a:gd name="T7" fmla="*/ 0 h 1"/>
              </a:gdLst>
              <a:ahLst/>
              <a:cxnLst>
                <a:cxn ang="0">
                  <a:pos x="T0" y="T1"/>
                </a:cxn>
                <a:cxn ang="0">
                  <a:pos x="T2" y="T3"/>
                </a:cxn>
                <a:cxn ang="0">
                  <a:pos x="T4" y="T5"/>
                </a:cxn>
                <a:cxn ang="0">
                  <a:pos x="T6" y="T7"/>
                </a:cxn>
              </a:cxnLst>
              <a:rect l="0" t="0" r="r" b="b"/>
              <a:pathLst>
                <a:path w="19" h="1">
                  <a:moveTo>
                    <a:pt x="3" y="0"/>
                  </a:moveTo>
                  <a:lnTo>
                    <a:pt x="3" y="0"/>
                  </a:lnTo>
                  <a:lnTo>
                    <a:pt x="0" y="1"/>
                  </a:lnTo>
                  <a:cubicBezTo>
                    <a:pt x="4" y="0"/>
                    <a:pt x="19" y="0"/>
                    <a:pt x="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8" name="Freeform 16"/>
            <p:cNvSpPr>
              <a:spLocks/>
            </p:cNvSpPr>
            <p:nvPr/>
          </p:nvSpPr>
          <p:spPr bwMode="invGray">
            <a:xfrm>
              <a:off x="2690812" y="2811463"/>
              <a:ext cx="47625" cy="4762"/>
            </a:xfrm>
            <a:custGeom>
              <a:avLst/>
              <a:gdLst>
                <a:gd name="T0" fmla="*/ 13 w 25"/>
                <a:gd name="T1" fmla="*/ 0 h 2"/>
                <a:gd name="T2" fmla="*/ 13 w 25"/>
                <a:gd name="T3" fmla="*/ 0 h 2"/>
                <a:gd name="T4" fmla="*/ 0 w 25"/>
                <a:gd name="T5" fmla="*/ 2 h 2"/>
                <a:gd name="T6" fmla="*/ 25 w 25"/>
                <a:gd name="T7" fmla="*/ 0 h 2"/>
                <a:gd name="T8" fmla="*/ 13 w 25"/>
                <a:gd name="T9" fmla="*/ 0 h 2"/>
              </a:gdLst>
              <a:ahLst/>
              <a:cxnLst>
                <a:cxn ang="0">
                  <a:pos x="T0" y="T1"/>
                </a:cxn>
                <a:cxn ang="0">
                  <a:pos x="T2" y="T3"/>
                </a:cxn>
                <a:cxn ang="0">
                  <a:pos x="T4" y="T5"/>
                </a:cxn>
                <a:cxn ang="0">
                  <a:pos x="T6" y="T7"/>
                </a:cxn>
                <a:cxn ang="0">
                  <a:pos x="T8" y="T9"/>
                </a:cxn>
              </a:cxnLst>
              <a:rect l="0" t="0" r="r" b="b"/>
              <a:pathLst>
                <a:path w="25" h="2">
                  <a:moveTo>
                    <a:pt x="13" y="0"/>
                  </a:moveTo>
                  <a:lnTo>
                    <a:pt x="13" y="0"/>
                  </a:lnTo>
                  <a:cubicBezTo>
                    <a:pt x="12" y="0"/>
                    <a:pt x="7" y="1"/>
                    <a:pt x="0" y="2"/>
                  </a:cubicBezTo>
                  <a:lnTo>
                    <a:pt x="25"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9" name="Freeform 17"/>
            <p:cNvSpPr>
              <a:spLocks/>
            </p:cNvSpPr>
            <p:nvPr/>
          </p:nvSpPr>
          <p:spPr bwMode="invGray">
            <a:xfrm>
              <a:off x="2822575" y="2794000"/>
              <a:ext cx="163513" cy="4762"/>
            </a:xfrm>
            <a:custGeom>
              <a:avLst/>
              <a:gdLst>
                <a:gd name="T0" fmla="*/ 0 w 85"/>
                <a:gd name="T1" fmla="*/ 2 h 2"/>
                <a:gd name="T2" fmla="*/ 0 w 85"/>
                <a:gd name="T3" fmla="*/ 2 h 2"/>
                <a:gd name="T4" fmla="*/ 62 w 85"/>
                <a:gd name="T5" fmla="*/ 1 h 2"/>
                <a:gd name="T6" fmla="*/ 85 w 85"/>
                <a:gd name="T7" fmla="*/ 0 h 2"/>
                <a:gd name="T8" fmla="*/ 0 w 85"/>
                <a:gd name="T9" fmla="*/ 2 h 2"/>
              </a:gdLst>
              <a:ahLst/>
              <a:cxnLst>
                <a:cxn ang="0">
                  <a:pos x="T0" y="T1"/>
                </a:cxn>
                <a:cxn ang="0">
                  <a:pos x="T2" y="T3"/>
                </a:cxn>
                <a:cxn ang="0">
                  <a:pos x="T4" y="T5"/>
                </a:cxn>
                <a:cxn ang="0">
                  <a:pos x="T6" y="T7"/>
                </a:cxn>
                <a:cxn ang="0">
                  <a:pos x="T8" y="T9"/>
                </a:cxn>
              </a:cxnLst>
              <a:rect l="0" t="0" r="r" b="b"/>
              <a:pathLst>
                <a:path w="85" h="2">
                  <a:moveTo>
                    <a:pt x="0" y="2"/>
                  </a:moveTo>
                  <a:lnTo>
                    <a:pt x="0" y="2"/>
                  </a:lnTo>
                  <a:lnTo>
                    <a:pt x="62" y="1"/>
                  </a:lnTo>
                  <a:lnTo>
                    <a:pt x="8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0" name="Freeform 18"/>
            <p:cNvSpPr>
              <a:spLocks/>
            </p:cNvSpPr>
            <p:nvPr/>
          </p:nvSpPr>
          <p:spPr bwMode="invGray">
            <a:xfrm>
              <a:off x="715962" y="2809875"/>
              <a:ext cx="1911350" cy="50800"/>
            </a:xfrm>
            <a:custGeom>
              <a:avLst/>
              <a:gdLst>
                <a:gd name="T0" fmla="*/ 375 w 996"/>
                <a:gd name="T1" fmla="*/ 13 h 23"/>
                <a:gd name="T2" fmla="*/ 375 w 996"/>
                <a:gd name="T3" fmla="*/ 13 h 23"/>
                <a:gd name="T4" fmla="*/ 348 w 996"/>
                <a:gd name="T5" fmla="*/ 9 h 23"/>
                <a:gd name="T6" fmla="*/ 277 w 996"/>
                <a:gd name="T7" fmla="*/ 12 h 23"/>
                <a:gd name="T8" fmla="*/ 366 w 996"/>
                <a:gd name="T9" fmla="*/ 16 h 23"/>
                <a:gd name="T10" fmla="*/ 257 w 996"/>
                <a:gd name="T11" fmla="*/ 19 h 23"/>
                <a:gd name="T12" fmla="*/ 301 w 996"/>
                <a:gd name="T13" fmla="*/ 14 h 23"/>
                <a:gd name="T14" fmla="*/ 249 w 996"/>
                <a:gd name="T15" fmla="*/ 16 h 23"/>
                <a:gd name="T16" fmla="*/ 76 w 996"/>
                <a:gd name="T17" fmla="*/ 16 h 23"/>
                <a:gd name="T18" fmla="*/ 5 w 996"/>
                <a:gd name="T19" fmla="*/ 20 h 23"/>
                <a:gd name="T20" fmla="*/ 93 w 996"/>
                <a:gd name="T21" fmla="*/ 23 h 23"/>
                <a:gd name="T22" fmla="*/ 84 w 996"/>
                <a:gd name="T23" fmla="*/ 22 h 23"/>
                <a:gd name="T24" fmla="*/ 125 w 996"/>
                <a:gd name="T25" fmla="*/ 23 h 23"/>
                <a:gd name="T26" fmla="*/ 151 w 996"/>
                <a:gd name="T27" fmla="*/ 20 h 23"/>
                <a:gd name="T28" fmla="*/ 191 w 996"/>
                <a:gd name="T29" fmla="*/ 20 h 23"/>
                <a:gd name="T30" fmla="*/ 168 w 996"/>
                <a:gd name="T31" fmla="*/ 21 h 23"/>
                <a:gd name="T32" fmla="*/ 264 w 996"/>
                <a:gd name="T33" fmla="*/ 20 h 23"/>
                <a:gd name="T34" fmla="*/ 252 w 996"/>
                <a:gd name="T35" fmla="*/ 22 h 23"/>
                <a:gd name="T36" fmla="*/ 371 w 996"/>
                <a:gd name="T37" fmla="*/ 18 h 23"/>
                <a:gd name="T38" fmla="*/ 341 w 996"/>
                <a:gd name="T39" fmla="*/ 21 h 23"/>
                <a:gd name="T40" fmla="*/ 539 w 996"/>
                <a:gd name="T41" fmla="*/ 20 h 23"/>
                <a:gd name="T42" fmla="*/ 527 w 996"/>
                <a:gd name="T43" fmla="*/ 19 h 23"/>
                <a:gd name="T44" fmla="*/ 575 w 996"/>
                <a:gd name="T45" fmla="*/ 21 h 23"/>
                <a:gd name="T46" fmla="*/ 766 w 996"/>
                <a:gd name="T47" fmla="*/ 20 h 23"/>
                <a:gd name="T48" fmla="*/ 996 w 996"/>
                <a:gd name="T49" fmla="*/ 5 h 23"/>
                <a:gd name="T50" fmla="*/ 969 w 996"/>
                <a:gd name="T51" fmla="*/ 6 h 23"/>
                <a:gd name="T52" fmla="*/ 973 w 996"/>
                <a:gd name="T53" fmla="*/ 1 h 23"/>
                <a:gd name="T54" fmla="*/ 897 w 996"/>
                <a:gd name="T55" fmla="*/ 5 h 23"/>
                <a:gd name="T56" fmla="*/ 872 w 996"/>
                <a:gd name="T57" fmla="*/ 0 h 23"/>
                <a:gd name="T58" fmla="*/ 535 w 996"/>
                <a:gd name="T59" fmla="*/ 14 h 23"/>
                <a:gd name="T60" fmla="*/ 389 w 996"/>
                <a:gd name="T61" fmla="*/ 13 h 23"/>
                <a:gd name="T62" fmla="*/ 476 w 996"/>
                <a:gd name="T63" fmla="*/ 9 h 23"/>
                <a:gd name="T64" fmla="*/ 387 w 996"/>
                <a:gd name="T65" fmla="*/ 9 h 23"/>
                <a:gd name="T66" fmla="*/ 375 w 996"/>
                <a:gd name="T67" fmla="*/ 1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96" h="23">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1" name="Freeform 19"/>
            <p:cNvSpPr>
              <a:spLocks/>
            </p:cNvSpPr>
            <p:nvPr/>
          </p:nvSpPr>
          <p:spPr bwMode="invGray">
            <a:xfrm>
              <a:off x="1995487" y="2822575"/>
              <a:ext cx="20638" cy="0"/>
            </a:xfrm>
            <a:custGeom>
              <a:avLst/>
              <a:gdLst>
                <a:gd name="T0" fmla="*/ 10 w 10"/>
                <a:gd name="T1" fmla="*/ 10 w 10"/>
                <a:gd name="T2" fmla="*/ 0 w 10"/>
                <a:gd name="T3" fmla="*/ 10 w 10"/>
              </a:gdLst>
              <a:ahLst/>
              <a:cxnLst>
                <a:cxn ang="0">
                  <a:pos x="T0" y="0"/>
                </a:cxn>
                <a:cxn ang="0">
                  <a:pos x="T1" y="0"/>
                </a:cxn>
                <a:cxn ang="0">
                  <a:pos x="T2" y="0"/>
                </a:cxn>
                <a:cxn ang="0">
                  <a:pos x="T3" y="0"/>
                </a:cxn>
              </a:cxnLst>
              <a:rect l="0" t="0" r="r" b="b"/>
              <a:pathLst>
                <a:path w="10">
                  <a:moveTo>
                    <a:pt x="10" y="0"/>
                  </a:moveTo>
                  <a:lnTo>
                    <a:pt x="10" y="0"/>
                  </a:lnTo>
                  <a:lnTo>
                    <a:pt x="0" y="0"/>
                  </a:lnTo>
                  <a:cubicBezTo>
                    <a:pt x="1" y="0"/>
                    <a:pt x="4" y="0"/>
                    <a:pt x="1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2" name="Freeform 20"/>
            <p:cNvSpPr>
              <a:spLocks/>
            </p:cNvSpPr>
            <p:nvPr/>
          </p:nvSpPr>
          <p:spPr bwMode="invGray">
            <a:xfrm>
              <a:off x="1630362" y="2830513"/>
              <a:ext cx="22225" cy="0"/>
            </a:xfrm>
            <a:custGeom>
              <a:avLst/>
              <a:gdLst>
                <a:gd name="T0" fmla="*/ 11 w 12"/>
                <a:gd name="T1" fmla="*/ 11 w 12"/>
                <a:gd name="T2" fmla="*/ 12 w 12"/>
                <a:gd name="T3" fmla="*/ 0 w 12"/>
                <a:gd name="T4" fmla="*/ 11 w 12"/>
              </a:gdLst>
              <a:ahLst/>
              <a:cxnLst>
                <a:cxn ang="0">
                  <a:pos x="T0" y="0"/>
                </a:cxn>
                <a:cxn ang="0">
                  <a:pos x="T1" y="0"/>
                </a:cxn>
                <a:cxn ang="0">
                  <a:pos x="T2" y="0"/>
                </a:cxn>
                <a:cxn ang="0">
                  <a:pos x="T3" y="0"/>
                </a:cxn>
                <a:cxn ang="0">
                  <a:pos x="T4" y="0"/>
                </a:cxn>
              </a:cxnLst>
              <a:rect l="0" t="0" r="r" b="b"/>
              <a:pathLst>
                <a:path w="12">
                  <a:moveTo>
                    <a:pt x="11" y="0"/>
                  </a:moveTo>
                  <a:lnTo>
                    <a:pt x="11" y="0"/>
                  </a:lnTo>
                  <a:cubicBezTo>
                    <a:pt x="12" y="0"/>
                    <a:pt x="11" y="0"/>
                    <a:pt x="12" y="0"/>
                  </a:cubicBez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3" name="Freeform 21"/>
            <p:cNvSpPr>
              <a:spLocks/>
            </p:cNvSpPr>
            <p:nvPr/>
          </p:nvSpPr>
          <p:spPr bwMode="invGray">
            <a:xfrm>
              <a:off x="2651125" y="2798763"/>
              <a:ext cx="46038" cy="1587"/>
            </a:xfrm>
            <a:custGeom>
              <a:avLst/>
              <a:gdLst>
                <a:gd name="T0" fmla="*/ 3 w 24"/>
                <a:gd name="T1" fmla="*/ 1 h 1"/>
                <a:gd name="T2" fmla="*/ 3 w 24"/>
                <a:gd name="T3" fmla="*/ 1 h 1"/>
                <a:gd name="T4" fmla="*/ 24 w 24"/>
                <a:gd name="T5" fmla="*/ 0 h 1"/>
                <a:gd name="T6" fmla="*/ 8 w 24"/>
                <a:gd name="T7" fmla="*/ 1 h 1"/>
                <a:gd name="T8" fmla="*/ 3 w 24"/>
                <a:gd name="T9" fmla="*/ 1 h 1"/>
              </a:gdLst>
              <a:ahLst/>
              <a:cxnLst>
                <a:cxn ang="0">
                  <a:pos x="T0" y="T1"/>
                </a:cxn>
                <a:cxn ang="0">
                  <a:pos x="T2" y="T3"/>
                </a:cxn>
                <a:cxn ang="0">
                  <a:pos x="T4" y="T5"/>
                </a:cxn>
                <a:cxn ang="0">
                  <a:pos x="T6" y="T7"/>
                </a:cxn>
                <a:cxn ang="0">
                  <a:pos x="T8" y="T9"/>
                </a:cxn>
              </a:cxnLst>
              <a:rect l="0" t="0" r="r" b="b"/>
              <a:pathLst>
                <a:path w="24" h="1">
                  <a:moveTo>
                    <a:pt x="3" y="1"/>
                  </a:moveTo>
                  <a:lnTo>
                    <a:pt x="3" y="1"/>
                  </a:lnTo>
                  <a:lnTo>
                    <a:pt x="24" y="0"/>
                  </a:lnTo>
                  <a:lnTo>
                    <a:pt x="8" y="1"/>
                  </a:lnTo>
                  <a:cubicBezTo>
                    <a:pt x="2" y="1"/>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4" name="Freeform 22"/>
            <p:cNvSpPr>
              <a:spLocks/>
            </p:cNvSpPr>
            <p:nvPr/>
          </p:nvSpPr>
          <p:spPr bwMode="invGray">
            <a:xfrm>
              <a:off x="2698750" y="2809875"/>
              <a:ext cx="19050" cy="1587"/>
            </a:xfrm>
            <a:custGeom>
              <a:avLst/>
              <a:gdLst>
                <a:gd name="T0" fmla="*/ 4 w 10"/>
                <a:gd name="T1" fmla="*/ 0 h 1"/>
                <a:gd name="T2" fmla="*/ 4 w 10"/>
                <a:gd name="T3" fmla="*/ 0 h 1"/>
                <a:gd name="T4" fmla="*/ 0 w 10"/>
                <a:gd name="T5" fmla="*/ 1 h 1"/>
                <a:gd name="T6" fmla="*/ 9 w 10"/>
                <a:gd name="T7" fmla="*/ 1 h 1"/>
                <a:gd name="T8" fmla="*/ 4 w 10"/>
                <a:gd name="T9" fmla="*/ 0 h 1"/>
              </a:gdLst>
              <a:ahLst/>
              <a:cxnLst>
                <a:cxn ang="0">
                  <a:pos x="T0" y="T1"/>
                </a:cxn>
                <a:cxn ang="0">
                  <a:pos x="T2" y="T3"/>
                </a:cxn>
                <a:cxn ang="0">
                  <a:pos x="T4" y="T5"/>
                </a:cxn>
                <a:cxn ang="0">
                  <a:pos x="T6" y="T7"/>
                </a:cxn>
                <a:cxn ang="0">
                  <a:pos x="T8" y="T9"/>
                </a:cxn>
              </a:cxnLst>
              <a:rect l="0" t="0" r="r" b="b"/>
              <a:pathLst>
                <a:path w="10" h="1">
                  <a:moveTo>
                    <a:pt x="4" y="0"/>
                  </a:moveTo>
                  <a:lnTo>
                    <a:pt x="4" y="0"/>
                  </a:lnTo>
                  <a:lnTo>
                    <a:pt x="0" y="1"/>
                  </a:lnTo>
                  <a:lnTo>
                    <a:pt x="9" y="1"/>
                  </a:lnTo>
                  <a:cubicBezTo>
                    <a:pt x="10" y="0"/>
                    <a:pt x="9" y="0"/>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5" name="Freeform 23"/>
            <p:cNvSpPr>
              <a:spLocks/>
            </p:cNvSpPr>
            <p:nvPr/>
          </p:nvSpPr>
          <p:spPr bwMode="invGray">
            <a:xfrm>
              <a:off x="469900" y="2800350"/>
              <a:ext cx="23813" cy="3175"/>
            </a:xfrm>
            <a:custGeom>
              <a:avLst/>
              <a:gdLst>
                <a:gd name="T0" fmla="*/ 13 w 13"/>
                <a:gd name="T1" fmla="*/ 0 h 1"/>
                <a:gd name="T2" fmla="*/ 13 w 13"/>
                <a:gd name="T3" fmla="*/ 0 h 1"/>
                <a:gd name="T4" fmla="*/ 0 w 13"/>
                <a:gd name="T5" fmla="*/ 1 h 1"/>
                <a:gd name="T6" fmla="*/ 13 w 13"/>
                <a:gd name="T7" fmla="*/ 0 h 1"/>
              </a:gdLst>
              <a:ahLst/>
              <a:cxnLst>
                <a:cxn ang="0">
                  <a:pos x="T0" y="T1"/>
                </a:cxn>
                <a:cxn ang="0">
                  <a:pos x="T2" y="T3"/>
                </a:cxn>
                <a:cxn ang="0">
                  <a:pos x="T4" y="T5"/>
                </a:cxn>
                <a:cxn ang="0">
                  <a:pos x="T6" y="T7"/>
                </a:cxn>
              </a:cxnLst>
              <a:rect l="0" t="0" r="r" b="b"/>
              <a:pathLst>
                <a:path w="13" h="1">
                  <a:moveTo>
                    <a:pt x="13" y="0"/>
                  </a:moveTo>
                  <a:lnTo>
                    <a:pt x="13" y="0"/>
                  </a:lnTo>
                  <a:lnTo>
                    <a:pt x="0" y="1"/>
                  </a:lnTo>
                  <a:cubicBezTo>
                    <a:pt x="8" y="1"/>
                    <a:pt x="11" y="1"/>
                    <a:pt x="1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6" name="Freeform 24"/>
            <p:cNvSpPr>
              <a:spLocks/>
            </p:cNvSpPr>
            <p:nvPr/>
          </p:nvSpPr>
          <p:spPr bwMode="invGray">
            <a:xfrm>
              <a:off x="998537" y="2811463"/>
              <a:ext cx="1076325" cy="20637"/>
            </a:xfrm>
            <a:custGeom>
              <a:avLst/>
              <a:gdLst>
                <a:gd name="T0" fmla="*/ 85 w 561"/>
                <a:gd name="T1" fmla="*/ 9 h 9"/>
                <a:gd name="T2" fmla="*/ 85 w 561"/>
                <a:gd name="T3" fmla="*/ 9 h 9"/>
                <a:gd name="T4" fmla="*/ 154 w 561"/>
                <a:gd name="T5" fmla="*/ 6 h 9"/>
                <a:gd name="T6" fmla="*/ 135 w 561"/>
                <a:gd name="T7" fmla="*/ 6 h 9"/>
                <a:gd name="T8" fmla="*/ 314 w 561"/>
                <a:gd name="T9" fmla="*/ 5 h 9"/>
                <a:gd name="T10" fmla="*/ 341 w 561"/>
                <a:gd name="T11" fmla="*/ 8 h 9"/>
                <a:gd name="T12" fmla="*/ 433 w 561"/>
                <a:gd name="T13" fmla="*/ 5 h 9"/>
                <a:gd name="T14" fmla="*/ 520 w 561"/>
                <a:gd name="T15" fmla="*/ 5 h 9"/>
                <a:gd name="T16" fmla="*/ 490 w 561"/>
                <a:gd name="T17" fmla="*/ 3 h 9"/>
                <a:gd name="T18" fmla="*/ 498 w 561"/>
                <a:gd name="T19" fmla="*/ 2 h 9"/>
                <a:gd name="T20" fmla="*/ 395 w 561"/>
                <a:gd name="T21" fmla="*/ 3 h 9"/>
                <a:gd name="T22" fmla="*/ 411 w 561"/>
                <a:gd name="T23" fmla="*/ 1 h 9"/>
                <a:gd name="T24" fmla="*/ 261 w 561"/>
                <a:gd name="T25" fmla="*/ 4 h 9"/>
                <a:gd name="T26" fmla="*/ 210 w 561"/>
                <a:gd name="T27" fmla="*/ 3 h 9"/>
                <a:gd name="T28" fmla="*/ 1 w 561"/>
                <a:gd name="T29" fmla="*/ 7 h 9"/>
                <a:gd name="T30" fmla="*/ 85 w 561"/>
                <a:gd name="T31" fmla="*/ 6 h 9"/>
                <a:gd name="T32" fmla="*/ 85 w 561"/>
                <a:gd name="T33"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1" h="9">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7" name="Freeform 25"/>
            <p:cNvSpPr>
              <a:spLocks/>
            </p:cNvSpPr>
            <p:nvPr/>
          </p:nvSpPr>
          <p:spPr bwMode="invGray">
            <a:xfrm>
              <a:off x="2495550" y="2803525"/>
              <a:ext cx="17463" cy="0"/>
            </a:xfrm>
            <a:custGeom>
              <a:avLst/>
              <a:gdLst>
                <a:gd name="T0" fmla="*/ 9 w 9"/>
                <a:gd name="T1" fmla="*/ 9 w 9"/>
                <a:gd name="T2" fmla="*/ 0 w 9"/>
                <a:gd name="T3" fmla="*/ 9 w 9"/>
              </a:gdLst>
              <a:ahLst/>
              <a:cxnLst>
                <a:cxn ang="0">
                  <a:pos x="T0" y="0"/>
                </a:cxn>
                <a:cxn ang="0">
                  <a:pos x="T1" y="0"/>
                </a:cxn>
                <a:cxn ang="0">
                  <a:pos x="T2" y="0"/>
                </a:cxn>
                <a:cxn ang="0">
                  <a:pos x="T3" y="0"/>
                </a:cxn>
              </a:cxnLst>
              <a:rect l="0" t="0" r="r" b="b"/>
              <a:pathLst>
                <a:path w="9">
                  <a:moveTo>
                    <a:pt x="9" y="0"/>
                  </a:moveTo>
                  <a:lnTo>
                    <a:pt x="9" y="0"/>
                  </a:lnTo>
                  <a:lnTo>
                    <a:pt x="0" y="0"/>
                  </a:lnTo>
                  <a:lnTo>
                    <a:pt x="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8" name="Freeform 26"/>
            <p:cNvSpPr>
              <a:spLocks noEditPoints="1"/>
            </p:cNvSpPr>
            <p:nvPr/>
          </p:nvSpPr>
          <p:spPr bwMode="invGray">
            <a:xfrm>
              <a:off x="2538412" y="2816225"/>
              <a:ext cx="1057275" cy="31750"/>
            </a:xfrm>
            <a:custGeom>
              <a:avLst/>
              <a:gdLst>
                <a:gd name="T0" fmla="*/ 495 w 551"/>
                <a:gd name="T1" fmla="*/ 10 h 14"/>
                <a:gd name="T2" fmla="*/ 495 w 551"/>
                <a:gd name="T3" fmla="*/ 10 h 14"/>
                <a:gd name="T4" fmla="*/ 461 w 551"/>
                <a:gd name="T5" fmla="*/ 9 h 14"/>
                <a:gd name="T6" fmla="*/ 495 w 551"/>
                <a:gd name="T7" fmla="*/ 10 h 14"/>
                <a:gd name="T8" fmla="*/ 551 w 551"/>
                <a:gd name="T9" fmla="*/ 9 h 14"/>
                <a:gd name="T10" fmla="*/ 551 w 551"/>
                <a:gd name="T11" fmla="*/ 9 h 14"/>
                <a:gd name="T12" fmla="*/ 532 w 551"/>
                <a:gd name="T13" fmla="*/ 13 h 14"/>
                <a:gd name="T14" fmla="*/ 294 w 551"/>
                <a:gd name="T15" fmla="*/ 13 h 14"/>
                <a:gd name="T16" fmla="*/ 304 w 551"/>
                <a:gd name="T17" fmla="*/ 12 h 14"/>
                <a:gd name="T18" fmla="*/ 93 w 551"/>
                <a:gd name="T19" fmla="*/ 14 h 14"/>
                <a:gd name="T20" fmla="*/ 38 w 551"/>
                <a:gd name="T21" fmla="*/ 12 h 14"/>
                <a:gd name="T22" fmla="*/ 4 w 551"/>
                <a:gd name="T23" fmla="*/ 12 h 14"/>
                <a:gd name="T24" fmla="*/ 31 w 551"/>
                <a:gd name="T25" fmla="*/ 11 h 14"/>
                <a:gd name="T26" fmla="*/ 16 w 551"/>
                <a:gd name="T27" fmla="*/ 11 h 14"/>
                <a:gd name="T28" fmla="*/ 73 w 551"/>
                <a:gd name="T29" fmla="*/ 6 h 14"/>
                <a:gd name="T30" fmla="*/ 39 w 551"/>
                <a:gd name="T31" fmla="*/ 10 h 14"/>
                <a:gd name="T32" fmla="*/ 62 w 551"/>
                <a:gd name="T33" fmla="*/ 8 h 14"/>
                <a:gd name="T34" fmla="*/ 90 w 551"/>
                <a:gd name="T35" fmla="*/ 10 h 14"/>
                <a:gd name="T36" fmla="*/ 157 w 551"/>
                <a:gd name="T37" fmla="*/ 9 h 14"/>
                <a:gd name="T38" fmla="*/ 193 w 551"/>
                <a:gd name="T39" fmla="*/ 11 h 14"/>
                <a:gd name="T40" fmla="*/ 215 w 551"/>
                <a:gd name="T41" fmla="*/ 8 h 14"/>
                <a:gd name="T42" fmla="*/ 280 w 551"/>
                <a:gd name="T43" fmla="*/ 8 h 14"/>
                <a:gd name="T44" fmla="*/ 373 w 551"/>
                <a:gd name="T45" fmla="*/ 0 h 14"/>
                <a:gd name="T46" fmla="*/ 452 w 551"/>
                <a:gd name="T47" fmla="*/ 6 h 14"/>
                <a:gd name="T48" fmla="*/ 329 w 551"/>
                <a:gd name="T49" fmla="*/ 7 h 14"/>
                <a:gd name="T50" fmla="*/ 282 w 551"/>
                <a:gd name="T51" fmla="*/ 11 h 14"/>
                <a:gd name="T52" fmla="*/ 389 w 551"/>
                <a:gd name="T53" fmla="*/ 9 h 14"/>
                <a:gd name="T54" fmla="*/ 377 w 551"/>
                <a:gd name="T55" fmla="*/ 10 h 14"/>
                <a:gd name="T56" fmla="*/ 494 w 551"/>
                <a:gd name="T57" fmla="*/ 8 h 14"/>
                <a:gd name="T58" fmla="*/ 510 w 551"/>
                <a:gd name="T59" fmla="*/ 9 h 14"/>
                <a:gd name="T60" fmla="*/ 551 w 551"/>
                <a:gd name="T61" fmla="*/ 9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51" h="14">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9" name="Freeform 27"/>
            <p:cNvSpPr>
              <a:spLocks/>
            </p:cNvSpPr>
            <p:nvPr/>
          </p:nvSpPr>
          <p:spPr bwMode="invGray">
            <a:xfrm>
              <a:off x="11777663" y="2757488"/>
              <a:ext cx="19050" cy="3175"/>
            </a:xfrm>
            <a:custGeom>
              <a:avLst/>
              <a:gdLst>
                <a:gd name="T0" fmla="*/ 0 w 10"/>
                <a:gd name="T1" fmla="*/ 0 h 1"/>
                <a:gd name="T2" fmla="*/ 0 w 10"/>
                <a:gd name="T3" fmla="*/ 0 h 1"/>
                <a:gd name="T4" fmla="*/ 10 w 10"/>
                <a:gd name="T5" fmla="*/ 1 h 1"/>
                <a:gd name="T6" fmla="*/ 0 w 10"/>
                <a:gd name="T7" fmla="*/ 0 h 1"/>
              </a:gdLst>
              <a:ahLst/>
              <a:cxnLst>
                <a:cxn ang="0">
                  <a:pos x="T0" y="T1"/>
                </a:cxn>
                <a:cxn ang="0">
                  <a:pos x="T2" y="T3"/>
                </a:cxn>
                <a:cxn ang="0">
                  <a:pos x="T4" y="T5"/>
                </a:cxn>
                <a:cxn ang="0">
                  <a:pos x="T6" y="T7"/>
                </a:cxn>
              </a:cxnLst>
              <a:rect l="0" t="0" r="r" b="b"/>
              <a:pathLst>
                <a:path w="10" h="1">
                  <a:moveTo>
                    <a:pt x="0" y="0"/>
                  </a:moveTo>
                  <a:lnTo>
                    <a:pt x="0" y="0"/>
                  </a:lnTo>
                  <a:lnTo>
                    <a:pt x="10" y="1"/>
                  </a:lnTo>
                  <a:cubicBezTo>
                    <a:pt x="8" y="1"/>
                    <a:pt x="4"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0" name="Freeform 28"/>
            <p:cNvSpPr>
              <a:spLocks/>
            </p:cNvSpPr>
            <p:nvPr/>
          </p:nvSpPr>
          <p:spPr bwMode="invGray">
            <a:xfrm>
              <a:off x="5983288" y="2741613"/>
              <a:ext cx="38100" cy="0"/>
            </a:xfrm>
            <a:custGeom>
              <a:avLst/>
              <a:gdLst>
                <a:gd name="T0" fmla="*/ 0 w 20"/>
                <a:gd name="T1" fmla="*/ 0 w 20"/>
                <a:gd name="T2" fmla="*/ 20 w 20"/>
                <a:gd name="T3" fmla="*/ 0 w 20"/>
              </a:gdLst>
              <a:ahLst/>
              <a:cxnLst>
                <a:cxn ang="0">
                  <a:pos x="T0" y="0"/>
                </a:cxn>
                <a:cxn ang="0">
                  <a:pos x="T1" y="0"/>
                </a:cxn>
                <a:cxn ang="0">
                  <a:pos x="T2" y="0"/>
                </a:cxn>
                <a:cxn ang="0">
                  <a:pos x="T3" y="0"/>
                </a:cxn>
              </a:cxnLst>
              <a:rect l="0" t="0" r="r" b="b"/>
              <a:pathLst>
                <a:path w="20">
                  <a:moveTo>
                    <a:pt x="0" y="0"/>
                  </a:moveTo>
                  <a:lnTo>
                    <a:pt x="0" y="0"/>
                  </a:lnTo>
                  <a:lnTo>
                    <a:pt x="20"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1" name="Freeform 29"/>
            <p:cNvSpPr>
              <a:spLocks/>
            </p:cNvSpPr>
            <p:nvPr/>
          </p:nvSpPr>
          <p:spPr bwMode="invGray">
            <a:xfrm>
              <a:off x="6832600" y="2713038"/>
              <a:ext cx="53975" cy="1587"/>
            </a:xfrm>
            <a:custGeom>
              <a:avLst/>
              <a:gdLst>
                <a:gd name="T0" fmla="*/ 0 w 28"/>
                <a:gd name="T1" fmla="*/ 1 h 1"/>
                <a:gd name="T2" fmla="*/ 0 w 28"/>
                <a:gd name="T3" fmla="*/ 1 h 1"/>
                <a:gd name="T4" fmla="*/ 28 w 28"/>
                <a:gd name="T5" fmla="*/ 0 h 1"/>
                <a:gd name="T6" fmla="*/ 0 w 28"/>
                <a:gd name="T7" fmla="*/ 1 h 1"/>
              </a:gdLst>
              <a:ahLst/>
              <a:cxnLst>
                <a:cxn ang="0">
                  <a:pos x="T0" y="T1"/>
                </a:cxn>
                <a:cxn ang="0">
                  <a:pos x="T2" y="T3"/>
                </a:cxn>
                <a:cxn ang="0">
                  <a:pos x="T4" y="T5"/>
                </a:cxn>
                <a:cxn ang="0">
                  <a:pos x="T6" y="T7"/>
                </a:cxn>
              </a:cxnLst>
              <a:rect l="0" t="0" r="r" b="b"/>
              <a:pathLst>
                <a:path w="28" h="1">
                  <a:moveTo>
                    <a:pt x="0" y="1"/>
                  </a:moveTo>
                  <a:lnTo>
                    <a:pt x="0" y="1"/>
                  </a:lnTo>
                  <a:lnTo>
                    <a:pt x="28" y="0"/>
                  </a:lnTo>
                  <a:cubicBezTo>
                    <a:pt x="17" y="0"/>
                    <a:pt x="8"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2" name="Freeform 30"/>
            <p:cNvSpPr>
              <a:spLocks/>
            </p:cNvSpPr>
            <p:nvPr/>
          </p:nvSpPr>
          <p:spPr bwMode="invGray">
            <a:xfrm>
              <a:off x="11317288" y="2755900"/>
              <a:ext cx="9525" cy="0"/>
            </a:xfrm>
            <a:custGeom>
              <a:avLst/>
              <a:gdLst>
                <a:gd name="T0" fmla="*/ 5 w 5"/>
                <a:gd name="T1" fmla="*/ 5 w 5"/>
                <a:gd name="T2" fmla="*/ 4 w 5"/>
                <a:gd name="T3" fmla="*/ 0 w 5"/>
                <a:gd name="T4" fmla="*/ 5 w 5"/>
              </a:gdLst>
              <a:ahLst/>
              <a:cxnLst>
                <a:cxn ang="0">
                  <a:pos x="T0" y="0"/>
                </a:cxn>
                <a:cxn ang="0">
                  <a:pos x="T1" y="0"/>
                </a:cxn>
                <a:cxn ang="0">
                  <a:pos x="T2" y="0"/>
                </a:cxn>
                <a:cxn ang="0">
                  <a:pos x="T3" y="0"/>
                </a:cxn>
                <a:cxn ang="0">
                  <a:pos x="T4" y="0"/>
                </a:cxn>
              </a:cxnLst>
              <a:rect l="0" t="0" r="r" b="b"/>
              <a:pathLst>
                <a:path w="5">
                  <a:moveTo>
                    <a:pt x="5" y="0"/>
                  </a:moveTo>
                  <a:lnTo>
                    <a:pt x="5" y="0"/>
                  </a:lnTo>
                  <a:lnTo>
                    <a:pt x="4" y="0"/>
                  </a:lnTo>
                  <a:lnTo>
                    <a:pt x="0" y="0"/>
                  </a:lnTo>
                  <a:lnTo>
                    <a:pt x="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3" name="Freeform 31"/>
            <p:cNvSpPr>
              <a:spLocks/>
            </p:cNvSpPr>
            <p:nvPr/>
          </p:nvSpPr>
          <p:spPr bwMode="invGray">
            <a:xfrm>
              <a:off x="8534400" y="2735263"/>
              <a:ext cx="30163" cy="0"/>
            </a:xfrm>
            <a:custGeom>
              <a:avLst/>
              <a:gdLst>
                <a:gd name="T0" fmla="*/ 0 w 16"/>
                <a:gd name="T1" fmla="*/ 0 w 16"/>
                <a:gd name="T2" fmla="*/ 16 w 16"/>
                <a:gd name="T3" fmla="*/ 0 w 16"/>
              </a:gdLst>
              <a:ahLst/>
              <a:cxnLst>
                <a:cxn ang="0">
                  <a:pos x="T0" y="0"/>
                </a:cxn>
                <a:cxn ang="0">
                  <a:pos x="T1" y="0"/>
                </a:cxn>
                <a:cxn ang="0">
                  <a:pos x="T2" y="0"/>
                </a:cxn>
                <a:cxn ang="0">
                  <a:pos x="T3" y="0"/>
                </a:cxn>
              </a:cxnLst>
              <a:rect l="0" t="0" r="r" b="b"/>
              <a:pathLst>
                <a:path w="16">
                  <a:moveTo>
                    <a:pt x="0" y="0"/>
                  </a:moveTo>
                  <a:lnTo>
                    <a:pt x="0" y="0"/>
                  </a:lnTo>
                  <a:cubicBezTo>
                    <a:pt x="4" y="0"/>
                    <a:pt x="9" y="0"/>
                    <a:pt x="16" y="0"/>
                  </a:cubicBezTo>
                  <a:cubicBezTo>
                    <a:pt x="15" y="0"/>
                    <a:pt x="9"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4" name="Freeform 32"/>
            <p:cNvSpPr>
              <a:spLocks/>
            </p:cNvSpPr>
            <p:nvPr/>
          </p:nvSpPr>
          <p:spPr bwMode="invGray">
            <a:xfrm>
              <a:off x="6821488" y="2714625"/>
              <a:ext cx="9525" cy="0"/>
            </a:xfrm>
            <a:custGeom>
              <a:avLst/>
              <a:gdLst>
                <a:gd name="T0" fmla="*/ 0 w 5"/>
                <a:gd name="T1" fmla="*/ 0 w 5"/>
                <a:gd name="T2" fmla="*/ 2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2"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5" name="Freeform 33"/>
            <p:cNvSpPr>
              <a:spLocks/>
            </p:cNvSpPr>
            <p:nvPr/>
          </p:nvSpPr>
          <p:spPr bwMode="invGray">
            <a:xfrm>
              <a:off x="5583238" y="2719388"/>
              <a:ext cx="25400" cy="0"/>
            </a:xfrm>
            <a:custGeom>
              <a:avLst/>
              <a:gdLst>
                <a:gd name="T0" fmla="*/ 13 w 13"/>
                <a:gd name="T1" fmla="*/ 13 w 13"/>
                <a:gd name="T2" fmla="*/ 0 w 13"/>
                <a:gd name="T3" fmla="*/ 13 w 13"/>
              </a:gdLst>
              <a:ahLst/>
              <a:cxnLst>
                <a:cxn ang="0">
                  <a:pos x="T0" y="0"/>
                </a:cxn>
                <a:cxn ang="0">
                  <a:pos x="T1" y="0"/>
                </a:cxn>
                <a:cxn ang="0">
                  <a:pos x="T2" y="0"/>
                </a:cxn>
                <a:cxn ang="0">
                  <a:pos x="T3" y="0"/>
                </a:cxn>
              </a:cxnLst>
              <a:rect l="0" t="0" r="r" b="b"/>
              <a:pathLst>
                <a:path w="13">
                  <a:moveTo>
                    <a:pt x="13" y="0"/>
                  </a:moveTo>
                  <a:lnTo>
                    <a:pt x="13" y="0"/>
                  </a:lnTo>
                  <a:lnTo>
                    <a:pt x="0"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6" name="Freeform 34"/>
            <p:cNvSpPr>
              <a:spLocks/>
            </p:cNvSpPr>
            <p:nvPr/>
          </p:nvSpPr>
          <p:spPr bwMode="invGray">
            <a:xfrm>
              <a:off x="5638800" y="2740025"/>
              <a:ext cx="23813" cy="1587"/>
            </a:xfrm>
            <a:custGeom>
              <a:avLst/>
              <a:gdLst>
                <a:gd name="T0" fmla="*/ 12 w 12"/>
                <a:gd name="T1" fmla="*/ 0 h 1"/>
                <a:gd name="T2" fmla="*/ 12 w 12"/>
                <a:gd name="T3" fmla="*/ 0 h 1"/>
                <a:gd name="T4" fmla="*/ 0 w 12"/>
                <a:gd name="T5" fmla="*/ 1 h 1"/>
                <a:gd name="T6" fmla="*/ 12 w 12"/>
                <a:gd name="T7" fmla="*/ 0 h 1"/>
              </a:gdLst>
              <a:ahLst/>
              <a:cxnLst>
                <a:cxn ang="0">
                  <a:pos x="T0" y="T1"/>
                </a:cxn>
                <a:cxn ang="0">
                  <a:pos x="T2" y="T3"/>
                </a:cxn>
                <a:cxn ang="0">
                  <a:pos x="T4" y="T5"/>
                </a:cxn>
                <a:cxn ang="0">
                  <a:pos x="T6" y="T7"/>
                </a:cxn>
              </a:cxnLst>
              <a:rect l="0" t="0" r="r" b="b"/>
              <a:pathLst>
                <a:path w="12" h="1">
                  <a:moveTo>
                    <a:pt x="12" y="0"/>
                  </a:moveTo>
                  <a:lnTo>
                    <a:pt x="12" y="0"/>
                  </a:lnTo>
                  <a:lnTo>
                    <a:pt x="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7" name="Freeform 35"/>
            <p:cNvSpPr>
              <a:spLocks/>
            </p:cNvSpPr>
            <p:nvPr/>
          </p:nvSpPr>
          <p:spPr bwMode="invGray">
            <a:xfrm>
              <a:off x="4303712" y="2728913"/>
              <a:ext cx="50800" cy="0"/>
            </a:xfrm>
            <a:custGeom>
              <a:avLst/>
              <a:gdLst>
                <a:gd name="T0" fmla="*/ 26 w 26"/>
                <a:gd name="T1" fmla="*/ 26 w 26"/>
                <a:gd name="T2" fmla="*/ 0 w 26"/>
                <a:gd name="T3" fmla="*/ 26 w 26"/>
              </a:gdLst>
              <a:ahLst/>
              <a:cxnLst>
                <a:cxn ang="0">
                  <a:pos x="T0" y="0"/>
                </a:cxn>
                <a:cxn ang="0">
                  <a:pos x="T1" y="0"/>
                </a:cxn>
                <a:cxn ang="0">
                  <a:pos x="T2" y="0"/>
                </a:cxn>
                <a:cxn ang="0">
                  <a:pos x="T3" y="0"/>
                </a:cxn>
              </a:cxnLst>
              <a:rect l="0" t="0" r="r" b="b"/>
              <a:pathLst>
                <a:path w="26">
                  <a:moveTo>
                    <a:pt x="26" y="0"/>
                  </a:moveTo>
                  <a:lnTo>
                    <a:pt x="26" y="0"/>
                  </a:lnTo>
                  <a:lnTo>
                    <a:pt x="0" y="0"/>
                  </a:lnTo>
                  <a:cubicBezTo>
                    <a:pt x="13" y="0"/>
                    <a:pt x="20" y="0"/>
                    <a:pt x="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8" name="Freeform 36"/>
            <p:cNvSpPr>
              <a:spLocks/>
            </p:cNvSpPr>
            <p:nvPr/>
          </p:nvSpPr>
          <p:spPr bwMode="invGray">
            <a:xfrm>
              <a:off x="5519738" y="2735263"/>
              <a:ext cx="9525" cy="3175"/>
            </a:xfrm>
            <a:custGeom>
              <a:avLst/>
              <a:gdLst>
                <a:gd name="T0" fmla="*/ 4 w 5"/>
                <a:gd name="T1" fmla="*/ 0 h 1"/>
                <a:gd name="T2" fmla="*/ 4 w 5"/>
                <a:gd name="T3" fmla="*/ 0 h 1"/>
                <a:gd name="T4" fmla="*/ 0 w 5"/>
                <a:gd name="T5" fmla="*/ 1 h 1"/>
                <a:gd name="T6" fmla="*/ 4 w 5"/>
                <a:gd name="T7" fmla="*/ 0 h 1"/>
              </a:gdLst>
              <a:ahLst/>
              <a:cxnLst>
                <a:cxn ang="0">
                  <a:pos x="T0" y="T1"/>
                </a:cxn>
                <a:cxn ang="0">
                  <a:pos x="T2" y="T3"/>
                </a:cxn>
                <a:cxn ang="0">
                  <a:pos x="T4" y="T5"/>
                </a:cxn>
                <a:cxn ang="0">
                  <a:pos x="T6" y="T7"/>
                </a:cxn>
              </a:cxnLst>
              <a:rect l="0" t="0" r="r" b="b"/>
              <a:pathLst>
                <a:path w="5" h="1">
                  <a:moveTo>
                    <a:pt x="4" y="0"/>
                  </a:moveTo>
                  <a:lnTo>
                    <a:pt x="4" y="0"/>
                  </a:lnTo>
                  <a:lnTo>
                    <a:pt x="0" y="1"/>
                  </a:lnTo>
                  <a:cubicBezTo>
                    <a:pt x="3" y="1"/>
                    <a:pt x="5"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9" name="Freeform 37"/>
            <p:cNvSpPr>
              <a:spLocks/>
            </p:cNvSpPr>
            <p:nvPr/>
          </p:nvSpPr>
          <p:spPr bwMode="invGray">
            <a:xfrm>
              <a:off x="12096750" y="2784475"/>
              <a:ext cx="6350" cy="0"/>
            </a:xfrm>
            <a:custGeom>
              <a:avLst/>
              <a:gdLst>
                <a:gd name="T0" fmla="*/ 3 w 3"/>
                <a:gd name="T1" fmla="*/ 3 w 3"/>
                <a:gd name="T2" fmla="*/ 1 w 3"/>
                <a:gd name="T3" fmla="*/ 0 w 3"/>
                <a:gd name="T4" fmla="*/ 3 w 3"/>
              </a:gdLst>
              <a:ahLst/>
              <a:cxnLst>
                <a:cxn ang="0">
                  <a:pos x="T0" y="0"/>
                </a:cxn>
                <a:cxn ang="0">
                  <a:pos x="T1" y="0"/>
                </a:cxn>
                <a:cxn ang="0">
                  <a:pos x="T2" y="0"/>
                </a:cxn>
                <a:cxn ang="0">
                  <a:pos x="T3" y="0"/>
                </a:cxn>
                <a:cxn ang="0">
                  <a:pos x="T4" y="0"/>
                </a:cxn>
              </a:cxnLst>
              <a:rect l="0" t="0" r="r" b="b"/>
              <a:pathLst>
                <a:path w="3">
                  <a:moveTo>
                    <a:pt x="3" y="0"/>
                  </a:moveTo>
                  <a:lnTo>
                    <a:pt x="3" y="0"/>
                  </a:lnTo>
                  <a:lnTo>
                    <a:pt x="1"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0" name="Freeform 38"/>
            <p:cNvSpPr>
              <a:spLocks/>
            </p:cNvSpPr>
            <p:nvPr/>
          </p:nvSpPr>
          <p:spPr bwMode="invGray">
            <a:xfrm>
              <a:off x="12225338" y="2773363"/>
              <a:ext cx="46038" cy="0"/>
            </a:xfrm>
            <a:custGeom>
              <a:avLst/>
              <a:gdLst>
                <a:gd name="T0" fmla="*/ 0 w 24"/>
                <a:gd name="T1" fmla="*/ 0 w 24"/>
                <a:gd name="T2" fmla="*/ 24 w 24"/>
                <a:gd name="T3" fmla="*/ 0 w 24"/>
              </a:gdLst>
              <a:ahLst/>
              <a:cxnLst>
                <a:cxn ang="0">
                  <a:pos x="T0" y="0"/>
                </a:cxn>
                <a:cxn ang="0">
                  <a:pos x="T1" y="0"/>
                </a:cxn>
                <a:cxn ang="0">
                  <a:pos x="T2" y="0"/>
                </a:cxn>
                <a:cxn ang="0">
                  <a:pos x="T3" y="0"/>
                </a:cxn>
              </a:cxnLst>
              <a:rect l="0" t="0" r="r" b="b"/>
              <a:pathLst>
                <a:path w="24">
                  <a:moveTo>
                    <a:pt x="0" y="0"/>
                  </a:moveTo>
                  <a:lnTo>
                    <a:pt x="0" y="0"/>
                  </a:lnTo>
                  <a:lnTo>
                    <a:pt x="24" y="0"/>
                  </a:lnTo>
                  <a:cubicBezTo>
                    <a:pt x="15" y="0"/>
                    <a:pt x="6"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1" name="Freeform 39"/>
            <p:cNvSpPr>
              <a:spLocks/>
            </p:cNvSpPr>
            <p:nvPr/>
          </p:nvSpPr>
          <p:spPr bwMode="invGray">
            <a:xfrm>
              <a:off x="9274175" y="2746375"/>
              <a:ext cx="55563" cy="4762"/>
            </a:xfrm>
            <a:custGeom>
              <a:avLst/>
              <a:gdLst>
                <a:gd name="T0" fmla="*/ 0 w 29"/>
                <a:gd name="T1" fmla="*/ 1 h 2"/>
                <a:gd name="T2" fmla="*/ 0 w 29"/>
                <a:gd name="T3" fmla="*/ 1 h 2"/>
                <a:gd name="T4" fmla="*/ 15 w 29"/>
                <a:gd name="T5" fmla="*/ 2 h 2"/>
                <a:gd name="T6" fmla="*/ 0 w 29"/>
                <a:gd name="T7" fmla="*/ 1 h 2"/>
              </a:gdLst>
              <a:ahLst/>
              <a:cxnLst>
                <a:cxn ang="0">
                  <a:pos x="T0" y="T1"/>
                </a:cxn>
                <a:cxn ang="0">
                  <a:pos x="T2" y="T3"/>
                </a:cxn>
                <a:cxn ang="0">
                  <a:pos x="T4" y="T5"/>
                </a:cxn>
                <a:cxn ang="0">
                  <a:pos x="T6" y="T7"/>
                </a:cxn>
              </a:cxnLst>
              <a:rect l="0" t="0" r="r" b="b"/>
              <a:pathLst>
                <a:path w="29" h="2">
                  <a:moveTo>
                    <a:pt x="0" y="1"/>
                  </a:moveTo>
                  <a:lnTo>
                    <a:pt x="0" y="1"/>
                  </a:lnTo>
                  <a:cubicBezTo>
                    <a:pt x="7" y="1"/>
                    <a:pt x="23" y="2"/>
                    <a:pt x="15" y="2"/>
                  </a:cubicBezTo>
                  <a:cubicBezTo>
                    <a:pt x="29" y="2"/>
                    <a:pt x="2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2" name="Freeform 40"/>
            <p:cNvSpPr>
              <a:spLocks/>
            </p:cNvSpPr>
            <p:nvPr/>
          </p:nvSpPr>
          <p:spPr bwMode="invGray">
            <a:xfrm>
              <a:off x="11847513" y="2827338"/>
              <a:ext cx="34925" cy="3175"/>
            </a:xfrm>
            <a:custGeom>
              <a:avLst/>
              <a:gdLst>
                <a:gd name="T0" fmla="*/ 3 w 18"/>
                <a:gd name="T1" fmla="*/ 1 h 1"/>
                <a:gd name="T2" fmla="*/ 3 w 18"/>
                <a:gd name="T3" fmla="*/ 1 h 1"/>
                <a:gd name="T4" fmla="*/ 18 w 18"/>
                <a:gd name="T5" fmla="*/ 0 h 1"/>
                <a:gd name="T6" fmla="*/ 3 w 18"/>
                <a:gd name="T7" fmla="*/ 1 h 1"/>
              </a:gdLst>
              <a:ahLst/>
              <a:cxnLst>
                <a:cxn ang="0">
                  <a:pos x="T0" y="T1"/>
                </a:cxn>
                <a:cxn ang="0">
                  <a:pos x="T2" y="T3"/>
                </a:cxn>
                <a:cxn ang="0">
                  <a:pos x="T4" y="T5"/>
                </a:cxn>
                <a:cxn ang="0">
                  <a:pos x="T6" y="T7"/>
                </a:cxn>
              </a:cxnLst>
              <a:rect l="0" t="0" r="r" b="b"/>
              <a:pathLst>
                <a:path w="18" h="1">
                  <a:moveTo>
                    <a:pt x="3" y="1"/>
                  </a:moveTo>
                  <a:lnTo>
                    <a:pt x="3" y="1"/>
                  </a:lnTo>
                  <a:cubicBezTo>
                    <a:pt x="7" y="1"/>
                    <a:pt x="13" y="0"/>
                    <a:pt x="18" y="0"/>
                  </a:cubicBezTo>
                  <a:cubicBezTo>
                    <a:pt x="8"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3" name="Freeform 41"/>
            <p:cNvSpPr>
              <a:spLocks/>
            </p:cNvSpPr>
            <p:nvPr/>
          </p:nvSpPr>
          <p:spPr bwMode="invGray">
            <a:xfrm>
              <a:off x="11882438" y="2825750"/>
              <a:ext cx="25400" cy="1587"/>
            </a:xfrm>
            <a:custGeom>
              <a:avLst/>
              <a:gdLst>
                <a:gd name="T0" fmla="*/ 0 w 14"/>
                <a:gd name="T1" fmla="*/ 1 h 1"/>
                <a:gd name="T2" fmla="*/ 0 w 14"/>
                <a:gd name="T3" fmla="*/ 1 h 1"/>
                <a:gd name="T4" fmla="*/ 14 w 14"/>
                <a:gd name="T5" fmla="*/ 0 h 1"/>
                <a:gd name="T6" fmla="*/ 0 w 14"/>
                <a:gd name="T7" fmla="*/ 1 h 1"/>
              </a:gdLst>
              <a:ahLst/>
              <a:cxnLst>
                <a:cxn ang="0">
                  <a:pos x="T0" y="T1"/>
                </a:cxn>
                <a:cxn ang="0">
                  <a:pos x="T2" y="T3"/>
                </a:cxn>
                <a:cxn ang="0">
                  <a:pos x="T4" y="T5"/>
                </a:cxn>
                <a:cxn ang="0">
                  <a:pos x="T6" y="T7"/>
                </a:cxn>
              </a:cxnLst>
              <a:rect l="0" t="0" r="r" b="b"/>
              <a:pathLst>
                <a:path w="14" h="1">
                  <a:moveTo>
                    <a:pt x="0" y="1"/>
                  </a:moveTo>
                  <a:lnTo>
                    <a:pt x="0" y="1"/>
                  </a:lnTo>
                  <a:lnTo>
                    <a:pt x="14"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4" name="Freeform 42"/>
            <p:cNvSpPr>
              <a:spLocks/>
            </p:cNvSpPr>
            <p:nvPr/>
          </p:nvSpPr>
          <p:spPr bwMode="invGray">
            <a:xfrm>
              <a:off x="8915400" y="2809875"/>
              <a:ext cx="15875" cy="1587"/>
            </a:xfrm>
            <a:custGeom>
              <a:avLst/>
              <a:gdLst>
                <a:gd name="T0" fmla="*/ 8 w 8"/>
                <a:gd name="T1" fmla="*/ 1 h 1"/>
                <a:gd name="T2" fmla="*/ 8 w 8"/>
                <a:gd name="T3" fmla="*/ 1 h 1"/>
                <a:gd name="T4" fmla="*/ 0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cubicBezTo>
                    <a:pt x="6" y="0"/>
                    <a:pt x="3" y="0"/>
                    <a:pt x="0" y="0"/>
                  </a:cubicBezTo>
                  <a:cubicBezTo>
                    <a:pt x="1" y="0"/>
                    <a:pt x="4"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5" name="Freeform 43"/>
            <p:cNvSpPr>
              <a:spLocks/>
            </p:cNvSpPr>
            <p:nvPr/>
          </p:nvSpPr>
          <p:spPr bwMode="invGray">
            <a:xfrm>
              <a:off x="12109450" y="2752725"/>
              <a:ext cx="454025" cy="23812"/>
            </a:xfrm>
            <a:custGeom>
              <a:avLst/>
              <a:gdLst>
                <a:gd name="T0" fmla="*/ 102 w 236"/>
                <a:gd name="T1" fmla="*/ 10 h 10"/>
                <a:gd name="T2" fmla="*/ 102 w 236"/>
                <a:gd name="T3" fmla="*/ 10 h 10"/>
                <a:gd name="T4" fmla="*/ 123 w 236"/>
                <a:gd name="T5" fmla="*/ 7 h 10"/>
                <a:gd name="T6" fmla="*/ 200 w 236"/>
                <a:gd name="T7" fmla="*/ 6 h 10"/>
                <a:gd name="T8" fmla="*/ 203 w 236"/>
                <a:gd name="T9" fmla="*/ 3 h 10"/>
                <a:gd name="T10" fmla="*/ 160 w 236"/>
                <a:gd name="T11" fmla="*/ 4 h 10"/>
                <a:gd name="T12" fmla="*/ 202 w 236"/>
                <a:gd name="T13" fmla="*/ 3 h 10"/>
                <a:gd name="T14" fmla="*/ 198 w 236"/>
                <a:gd name="T15" fmla="*/ 0 h 10"/>
                <a:gd name="T16" fmla="*/ 0 w 236"/>
                <a:gd name="T17" fmla="*/ 4 h 10"/>
                <a:gd name="T18" fmla="*/ 137 w 236"/>
                <a:gd name="T19" fmla="*/ 4 h 10"/>
                <a:gd name="T20" fmla="*/ 121 w 236"/>
                <a:gd name="T21" fmla="*/ 6 h 10"/>
                <a:gd name="T22" fmla="*/ 8 w 236"/>
                <a:gd name="T23" fmla="*/ 5 h 10"/>
                <a:gd name="T24" fmla="*/ 104 w 236"/>
                <a:gd name="T25" fmla="*/ 7 h 10"/>
                <a:gd name="T26" fmla="*/ 84 w 236"/>
                <a:gd name="T27" fmla="*/ 9 h 10"/>
                <a:gd name="T28" fmla="*/ 102 w 236"/>
                <a:gd name="T2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6" h="10">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6" name="Freeform 44"/>
            <p:cNvSpPr>
              <a:spLocks/>
            </p:cNvSpPr>
            <p:nvPr/>
          </p:nvSpPr>
          <p:spPr bwMode="invGray">
            <a:xfrm>
              <a:off x="12182475" y="2816225"/>
              <a:ext cx="9525" cy="0"/>
            </a:xfrm>
            <a:custGeom>
              <a:avLst/>
              <a:gdLst>
                <a:gd name="T0" fmla="*/ 0 w 5"/>
                <a:gd name="T1" fmla="*/ 0 w 5"/>
                <a:gd name="T2" fmla="*/ 1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1"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7" name="Freeform 45"/>
            <p:cNvSpPr>
              <a:spLocks/>
            </p:cNvSpPr>
            <p:nvPr/>
          </p:nvSpPr>
          <p:spPr bwMode="invGray">
            <a:xfrm>
              <a:off x="4348162" y="2827338"/>
              <a:ext cx="17463" cy="3175"/>
            </a:xfrm>
            <a:custGeom>
              <a:avLst/>
              <a:gdLst>
                <a:gd name="T0" fmla="*/ 8 w 9"/>
                <a:gd name="T1" fmla="*/ 0 h 1"/>
                <a:gd name="T2" fmla="*/ 8 w 9"/>
                <a:gd name="T3" fmla="*/ 0 h 1"/>
                <a:gd name="T4" fmla="*/ 0 w 9"/>
                <a:gd name="T5" fmla="*/ 1 h 1"/>
                <a:gd name="T6" fmla="*/ 8 w 9"/>
                <a:gd name="T7" fmla="*/ 0 h 1"/>
              </a:gdLst>
              <a:ahLst/>
              <a:cxnLst>
                <a:cxn ang="0">
                  <a:pos x="T0" y="T1"/>
                </a:cxn>
                <a:cxn ang="0">
                  <a:pos x="T2" y="T3"/>
                </a:cxn>
                <a:cxn ang="0">
                  <a:pos x="T4" y="T5"/>
                </a:cxn>
                <a:cxn ang="0">
                  <a:pos x="T6" y="T7"/>
                </a:cxn>
              </a:cxnLst>
              <a:rect l="0" t="0" r="r" b="b"/>
              <a:pathLst>
                <a:path w="9" h="1">
                  <a:moveTo>
                    <a:pt x="8" y="0"/>
                  </a:moveTo>
                  <a:lnTo>
                    <a:pt x="8" y="0"/>
                  </a:lnTo>
                  <a:lnTo>
                    <a:pt x="0" y="1"/>
                  </a:lnTo>
                  <a:cubicBezTo>
                    <a:pt x="7" y="0"/>
                    <a:pt x="9" y="0"/>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8" name="Freeform 46"/>
            <p:cNvSpPr>
              <a:spLocks/>
            </p:cNvSpPr>
            <p:nvPr/>
          </p:nvSpPr>
          <p:spPr bwMode="invGray">
            <a:xfrm>
              <a:off x="12071350" y="2790825"/>
              <a:ext cx="0" cy="0"/>
            </a:xfrm>
            <a:custGeom>
              <a:avLst/>
              <a:gdLst/>
              <a:ahLst/>
              <a:cxnLst>
                <a:cxn ang="0">
                  <a:pos x="0" y="0"/>
                </a:cxn>
                <a:cxn ang="0">
                  <a:pos x="0" y="0"/>
                </a:cxn>
                <a:cxn ang="0">
                  <a:pos x="0" y="0"/>
                </a:cxn>
                <a:cxn ang="0">
                  <a:pos x="0" y="0"/>
                </a:cxn>
              </a:cxnLst>
              <a:rect l="0" t="0" r="r" b="b"/>
              <a:pathLst>
                <a:path>
                  <a:moveTo>
                    <a:pt x="0" y="0"/>
                  </a:moveTo>
                  <a:lnTo>
                    <a:pt x="0" y="0"/>
                  </a:lnTo>
                  <a:lnTo>
                    <a:pt x="0"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9" name="Freeform 47"/>
            <p:cNvSpPr>
              <a:spLocks/>
            </p:cNvSpPr>
            <p:nvPr/>
          </p:nvSpPr>
          <p:spPr bwMode="invGray">
            <a:xfrm>
              <a:off x="4754563" y="2827338"/>
              <a:ext cx="4763"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cubicBezTo>
                    <a:pt x="1" y="0"/>
                    <a:pt x="1" y="0"/>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0" name="Freeform 48"/>
            <p:cNvSpPr>
              <a:spLocks/>
            </p:cNvSpPr>
            <p:nvPr/>
          </p:nvSpPr>
          <p:spPr bwMode="invGray">
            <a:xfrm>
              <a:off x="4852988" y="2719388"/>
              <a:ext cx="9525" cy="3175"/>
            </a:xfrm>
            <a:custGeom>
              <a:avLst/>
              <a:gdLst>
                <a:gd name="T0" fmla="*/ 5 w 5"/>
                <a:gd name="T1" fmla="*/ 1 h 1"/>
                <a:gd name="T2" fmla="*/ 5 w 5"/>
                <a:gd name="T3" fmla="*/ 1 h 1"/>
                <a:gd name="T4" fmla="*/ 4 w 5"/>
                <a:gd name="T5" fmla="*/ 0 h 1"/>
                <a:gd name="T6" fmla="*/ 5 w 5"/>
                <a:gd name="T7" fmla="*/ 1 h 1"/>
              </a:gdLst>
              <a:ahLst/>
              <a:cxnLst>
                <a:cxn ang="0">
                  <a:pos x="T0" y="T1"/>
                </a:cxn>
                <a:cxn ang="0">
                  <a:pos x="T2" y="T3"/>
                </a:cxn>
                <a:cxn ang="0">
                  <a:pos x="T4" y="T5"/>
                </a:cxn>
                <a:cxn ang="0">
                  <a:pos x="T6" y="T7"/>
                </a:cxn>
              </a:cxnLst>
              <a:rect l="0" t="0" r="r" b="b"/>
              <a:pathLst>
                <a:path w="5" h="1">
                  <a:moveTo>
                    <a:pt x="5" y="1"/>
                  </a:moveTo>
                  <a:lnTo>
                    <a:pt x="5" y="1"/>
                  </a:lnTo>
                  <a:cubicBezTo>
                    <a:pt x="5" y="1"/>
                    <a:pt x="5" y="1"/>
                    <a:pt x="4" y="0"/>
                  </a:cubicBezTo>
                  <a:cubicBezTo>
                    <a:pt x="0" y="1"/>
                    <a:pt x="2" y="1"/>
                    <a:pt x="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1" name="Freeform 49"/>
            <p:cNvSpPr>
              <a:spLocks/>
            </p:cNvSpPr>
            <p:nvPr/>
          </p:nvSpPr>
          <p:spPr bwMode="invGray">
            <a:xfrm>
              <a:off x="4759325" y="2827338"/>
              <a:ext cx="0" cy="0"/>
            </a:xfrm>
            <a:custGeom>
              <a:avLst/>
              <a:gdLst/>
              <a:ahLst/>
              <a:cxnLst>
                <a:cxn ang="0">
                  <a:pos x="0" y="0"/>
                </a:cxn>
                <a:cxn ang="0">
                  <a:pos x="0" y="0"/>
                </a:cxn>
                <a:cxn ang="0">
                  <a:pos x="0" y="0"/>
                </a:cxn>
                <a:cxn ang="0">
                  <a:pos x="0" y="0"/>
                </a:cxn>
              </a:cxnLst>
              <a:rect l="0" t="0" r="r" b="b"/>
              <a:pathLst>
                <a:path>
                  <a:moveTo>
                    <a:pt x="0" y="0"/>
                  </a:moveTo>
                  <a:lnTo>
                    <a:pt x="0" y="0"/>
                  </a:lnTo>
                  <a:cubicBezTo>
                    <a:pt x="0" y="0"/>
                    <a:pt x="0" y="0"/>
                    <a:pt x="0" y="0"/>
                  </a:cubicBez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2" name="Freeform 50"/>
            <p:cNvSpPr>
              <a:spLocks/>
            </p:cNvSpPr>
            <p:nvPr/>
          </p:nvSpPr>
          <p:spPr bwMode="invGray">
            <a:xfrm>
              <a:off x="6654800" y="2805113"/>
              <a:ext cx="19050" cy="1587"/>
            </a:xfrm>
            <a:custGeom>
              <a:avLst/>
              <a:gdLst>
                <a:gd name="T0" fmla="*/ 10 w 10"/>
                <a:gd name="T1" fmla="*/ 1 h 1"/>
                <a:gd name="T2" fmla="*/ 10 w 10"/>
                <a:gd name="T3" fmla="*/ 1 h 1"/>
                <a:gd name="T4" fmla="*/ 2 w 10"/>
                <a:gd name="T5" fmla="*/ 0 h 1"/>
                <a:gd name="T6" fmla="*/ 10 w 10"/>
                <a:gd name="T7" fmla="*/ 1 h 1"/>
              </a:gdLst>
              <a:ahLst/>
              <a:cxnLst>
                <a:cxn ang="0">
                  <a:pos x="T0" y="T1"/>
                </a:cxn>
                <a:cxn ang="0">
                  <a:pos x="T2" y="T3"/>
                </a:cxn>
                <a:cxn ang="0">
                  <a:pos x="T4" y="T5"/>
                </a:cxn>
                <a:cxn ang="0">
                  <a:pos x="T6" y="T7"/>
                </a:cxn>
              </a:cxnLst>
              <a:rect l="0" t="0" r="r" b="b"/>
              <a:pathLst>
                <a:path w="10" h="1">
                  <a:moveTo>
                    <a:pt x="10" y="1"/>
                  </a:moveTo>
                  <a:lnTo>
                    <a:pt x="10" y="1"/>
                  </a:lnTo>
                  <a:lnTo>
                    <a:pt x="2" y="0"/>
                  </a:lnTo>
                  <a:cubicBezTo>
                    <a:pt x="0" y="0"/>
                    <a:pt x="2" y="0"/>
                    <a:pt x="1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3" name="Freeform 51"/>
            <p:cNvSpPr>
              <a:spLocks/>
            </p:cNvSpPr>
            <p:nvPr/>
          </p:nvSpPr>
          <p:spPr bwMode="invGray">
            <a:xfrm>
              <a:off x="6289675" y="2798763"/>
              <a:ext cx="6350" cy="0"/>
            </a:xfrm>
            <a:custGeom>
              <a:avLst/>
              <a:gdLst>
                <a:gd name="T0" fmla="*/ 3 w 3"/>
                <a:gd name="T1" fmla="*/ 3 w 3"/>
                <a:gd name="T2" fmla="*/ 0 w 3"/>
                <a:gd name="T3" fmla="*/ 3 w 3"/>
              </a:gdLst>
              <a:ahLst/>
              <a:cxnLst>
                <a:cxn ang="0">
                  <a:pos x="T0" y="0"/>
                </a:cxn>
                <a:cxn ang="0">
                  <a:pos x="T1" y="0"/>
                </a:cxn>
                <a:cxn ang="0">
                  <a:pos x="T2" y="0"/>
                </a:cxn>
                <a:cxn ang="0">
                  <a:pos x="T3" y="0"/>
                </a:cxn>
              </a:cxnLst>
              <a:rect l="0" t="0" r="r" b="b"/>
              <a:pathLst>
                <a:path w="3">
                  <a:moveTo>
                    <a:pt x="3" y="0"/>
                  </a:moveTo>
                  <a:lnTo>
                    <a:pt x="3"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4" name="Freeform 52"/>
            <p:cNvSpPr>
              <a:spLocks/>
            </p:cNvSpPr>
            <p:nvPr/>
          </p:nvSpPr>
          <p:spPr bwMode="invGray">
            <a:xfrm>
              <a:off x="9140825" y="2725738"/>
              <a:ext cx="44450" cy="0"/>
            </a:xfrm>
            <a:custGeom>
              <a:avLst/>
              <a:gdLst>
                <a:gd name="T0" fmla="*/ 23 w 23"/>
                <a:gd name="T1" fmla="*/ 23 w 23"/>
                <a:gd name="T2" fmla="*/ 0 w 23"/>
                <a:gd name="T3" fmla="*/ 23 w 23"/>
              </a:gdLst>
              <a:ahLst/>
              <a:cxnLst>
                <a:cxn ang="0">
                  <a:pos x="T0" y="0"/>
                </a:cxn>
                <a:cxn ang="0">
                  <a:pos x="T1" y="0"/>
                </a:cxn>
                <a:cxn ang="0">
                  <a:pos x="T2" y="0"/>
                </a:cxn>
                <a:cxn ang="0">
                  <a:pos x="T3" y="0"/>
                </a:cxn>
              </a:cxnLst>
              <a:rect l="0" t="0" r="r" b="b"/>
              <a:pathLst>
                <a:path w="23">
                  <a:moveTo>
                    <a:pt x="23" y="0"/>
                  </a:moveTo>
                  <a:lnTo>
                    <a:pt x="23" y="0"/>
                  </a:lnTo>
                  <a:lnTo>
                    <a:pt x="0" y="0"/>
                  </a:lnTo>
                  <a:lnTo>
                    <a:pt x="2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5" name="Freeform 53"/>
            <p:cNvSpPr>
              <a:spLocks/>
            </p:cNvSpPr>
            <p:nvPr/>
          </p:nvSpPr>
          <p:spPr bwMode="invGray">
            <a:xfrm>
              <a:off x="4737100" y="2827338"/>
              <a:ext cx="17463" cy="3175"/>
            </a:xfrm>
            <a:custGeom>
              <a:avLst/>
              <a:gdLst>
                <a:gd name="T0" fmla="*/ 9 w 9"/>
                <a:gd name="T1" fmla="*/ 0 h 1"/>
                <a:gd name="T2" fmla="*/ 9 w 9"/>
                <a:gd name="T3" fmla="*/ 0 h 1"/>
                <a:gd name="T4" fmla="*/ 0 w 9"/>
                <a:gd name="T5" fmla="*/ 1 h 1"/>
                <a:gd name="T6" fmla="*/ 9 w 9"/>
                <a:gd name="T7" fmla="*/ 0 h 1"/>
              </a:gdLst>
              <a:ahLst/>
              <a:cxnLst>
                <a:cxn ang="0">
                  <a:pos x="T0" y="T1"/>
                </a:cxn>
                <a:cxn ang="0">
                  <a:pos x="T2" y="T3"/>
                </a:cxn>
                <a:cxn ang="0">
                  <a:pos x="T4" y="T5"/>
                </a:cxn>
                <a:cxn ang="0">
                  <a:pos x="T6" y="T7"/>
                </a:cxn>
              </a:cxnLst>
              <a:rect l="0" t="0" r="r" b="b"/>
              <a:pathLst>
                <a:path w="9" h="1">
                  <a:moveTo>
                    <a:pt x="9" y="0"/>
                  </a:moveTo>
                  <a:lnTo>
                    <a:pt x="9" y="0"/>
                  </a:lnTo>
                  <a:lnTo>
                    <a:pt x="0" y="1"/>
                  </a:lnTo>
                  <a:cubicBezTo>
                    <a:pt x="5" y="0"/>
                    <a:pt x="8" y="0"/>
                    <a:pt x="9"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6" name="Freeform 54"/>
            <p:cNvSpPr>
              <a:spLocks/>
            </p:cNvSpPr>
            <p:nvPr/>
          </p:nvSpPr>
          <p:spPr bwMode="invGray">
            <a:xfrm>
              <a:off x="7239000" y="2779713"/>
              <a:ext cx="11113" cy="3175"/>
            </a:xfrm>
            <a:custGeom>
              <a:avLst/>
              <a:gdLst>
                <a:gd name="T0" fmla="*/ 6 w 6"/>
                <a:gd name="T1" fmla="*/ 0 h 1"/>
                <a:gd name="T2" fmla="*/ 6 w 6"/>
                <a:gd name="T3" fmla="*/ 0 h 1"/>
                <a:gd name="T4" fmla="*/ 0 w 6"/>
                <a:gd name="T5" fmla="*/ 1 h 1"/>
                <a:gd name="T6" fmla="*/ 4 w 6"/>
                <a:gd name="T7" fmla="*/ 1 h 1"/>
                <a:gd name="T8" fmla="*/ 6 w 6"/>
                <a:gd name="T9" fmla="*/ 0 h 1"/>
              </a:gdLst>
              <a:ahLst/>
              <a:cxnLst>
                <a:cxn ang="0">
                  <a:pos x="T0" y="T1"/>
                </a:cxn>
                <a:cxn ang="0">
                  <a:pos x="T2" y="T3"/>
                </a:cxn>
                <a:cxn ang="0">
                  <a:pos x="T4" y="T5"/>
                </a:cxn>
                <a:cxn ang="0">
                  <a:pos x="T6" y="T7"/>
                </a:cxn>
                <a:cxn ang="0">
                  <a:pos x="T8" y="T9"/>
                </a:cxn>
              </a:cxnLst>
              <a:rect l="0" t="0" r="r" b="b"/>
              <a:pathLst>
                <a:path w="6" h="1">
                  <a:moveTo>
                    <a:pt x="6" y="0"/>
                  </a:moveTo>
                  <a:lnTo>
                    <a:pt x="6" y="0"/>
                  </a:lnTo>
                  <a:lnTo>
                    <a:pt x="0" y="1"/>
                  </a:lnTo>
                  <a:lnTo>
                    <a:pt x="4" y="1"/>
                  </a:lnTo>
                  <a:lnTo>
                    <a:pt x="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7" name="Freeform 55"/>
            <p:cNvSpPr>
              <a:spLocks/>
            </p:cNvSpPr>
            <p:nvPr/>
          </p:nvSpPr>
          <p:spPr bwMode="invGray">
            <a:xfrm>
              <a:off x="7181850" y="2773363"/>
              <a:ext cx="468313" cy="15875"/>
            </a:xfrm>
            <a:custGeom>
              <a:avLst/>
              <a:gdLst>
                <a:gd name="T0" fmla="*/ 139 w 244"/>
                <a:gd name="T1" fmla="*/ 5 h 7"/>
                <a:gd name="T2" fmla="*/ 139 w 244"/>
                <a:gd name="T3" fmla="*/ 5 h 7"/>
                <a:gd name="T4" fmla="*/ 132 w 244"/>
                <a:gd name="T5" fmla="*/ 6 h 7"/>
                <a:gd name="T6" fmla="*/ 244 w 244"/>
                <a:gd name="T7" fmla="*/ 4 h 7"/>
                <a:gd name="T8" fmla="*/ 178 w 244"/>
                <a:gd name="T9" fmla="*/ 1 h 7"/>
                <a:gd name="T10" fmla="*/ 101 w 244"/>
                <a:gd name="T11" fmla="*/ 0 h 7"/>
                <a:gd name="T12" fmla="*/ 77 w 244"/>
                <a:gd name="T13" fmla="*/ 3 h 7"/>
                <a:gd name="T14" fmla="*/ 60 w 244"/>
                <a:gd name="T15" fmla="*/ 1 h 7"/>
                <a:gd name="T16" fmla="*/ 0 w 244"/>
                <a:gd name="T17" fmla="*/ 1 h 7"/>
                <a:gd name="T18" fmla="*/ 52 w 244"/>
                <a:gd name="T19" fmla="*/ 1 h 7"/>
                <a:gd name="T20" fmla="*/ 36 w 244"/>
                <a:gd name="T21" fmla="*/ 3 h 7"/>
                <a:gd name="T22" fmla="*/ 41 w 244"/>
                <a:gd name="T23" fmla="*/ 3 h 7"/>
                <a:gd name="T24" fmla="*/ 139 w 244"/>
                <a:gd name="T25"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4" h="7">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8" name="Freeform 56"/>
            <p:cNvSpPr>
              <a:spLocks/>
            </p:cNvSpPr>
            <p:nvPr/>
          </p:nvSpPr>
          <p:spPr bwMode="invGray">
            <a:xfrm>
              <a:off x="7407275" y="2787650"/>
              <a:ext cx="26988" cy="0"/>
            </a:xfrm>
            <a:custGeom>
              <a:avLst/>
              <a:gdLst>
                <a:gd name="T0" fmla="*/ 14 w 14"/>
                <a:gd name="T1" fmla="*/ 14 w 14"/>
                <a:gd name="T2" fmla="*/ 0 w 14"/>
                <a:gd name="T3" fmla="*/ 14 w 14"/>
              </a:gdLst>
              <a:ahLst/>
              <a:cxnLst>
                <a:cxn ang="0">
                  <a:pos x="T0" y="0"/>
                </a:cxn>
                <a:cxn ang="0">
                  <a:pos x="T1" y="0"/>
                </a:cxn>
                <a:cxn ang="0">
                  <a:pos x="T2" y="0"/>
                </a:cxn>
                <a:cxn ang="0">
                  <a:pos x="T3" y="0"/>
                </a:cxn>
              </a:cxnLst>
              <a:rect l="0" t="0" r="r" b="b"/>
              <a:pathLst>
                <a:path w="14">
                  <a:moveTo>
                    <a:pt x="14" y="0"/>
                  </a:moveTo>
                  <a:lnTo>
                    <a:pt x="14" y="0"/>
                  </a:lnTo>
                  <a:lnTo>
                    <a:pt x="0" y="0"/>
                  </a:lnTo>
                  <a:cubicBezTo>
                    <a:pt x="8" y="0"/>
                    <a:pt x="11" y="0"/>
                    <a:pt x="1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9" name="Freeform 57"/>
            <p:cNvSpPr>
              <a:spLocks/>
            </p:cNvSpPr>
            <p:nvPr/>
          </p:nvSpPr>
          <p:spPr bwMode="invGray">
            <a:xfrm>
              <a:off x="8123238" y="2794000"/>
              <a:ext cx="31750" cy="1587"/>
            </a:xfrm>
            <a:custGeom>
              <a:avLst/>
              <a:gdLst>
                <a:gd name="T0" fmla="*/ 0 w 16"/>
                <a:gd name="T1" fmla="*/ 1 h 1"/>
                <a:gd name="T2" fmla="*/ 0 w 16"/>
                <a:gd name="T3" fmla="*/ 1 h 1"/>
                <a:gd name="T4" fmla="*/ 16 w 16"/>
                <a:gd name="T5" fmla="*/ 0 h 1"/>
                <a:gd name="T6" fmla="*/ 0 w 16"/>
                <a:gd name="T7" fmla="*/ 1 h 1"/>
              </a:gdLst>
              <a:ahLst/>
              <a:cxnLst>
                <a:cxn ang="0">
                  <a:pos x="T0" y="T1"/>
                </a:cxn>
                <a:cxn ang="0">
                  <a:pos x="T2" y="T3"/>
                </a:cxn>
                <a:cxn ang="0">
                  <a:pos x="T4" y="T5"/>
                </a:cxn>
                <a:cxn ang="0">
                  <a:pos x="T6" y="T7"/>
                </a:cxn>
              </a:cxnLst>
              <a:rect l="0" t="0" r="r" b="b"/>
              <a:pathLst>
                <a:path w="16" h="1">
                  <a:moveTo>
                    <a:pt x="0" y="1"/>
                  </a:moveTo>
                  <a:lnTo>
                    <a:pt x="0" y="1"/>
                  </a:lnTo>
                  <a:lnTo>
                    <a:pt x="16"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0" name="Freeform 58"/>
            <p:cNvSpPr>
              <a:spLocks/>
            </p:cNvSpPr>
            <p:nvPr/>
          </p:nvSpPr>
          <p:spPr bwMode="invGray">
            <a:xfrm>
              <a:off x="3070225" y="2794000"/>
              <a:ext cx="101600" cy="4762"/>
            </a:xfrm>
            <a:custGeom>
              <a:avLst/>
              <a:gdLst>
                <a:gd name="T0" fmla="*/ 0 w 53"/>
                <a:gd name="T1" fmla="*/ 0 h 2"/>
                <a:gd name="T2" fmla="*/ 0 w 53"/>
                <a:gd name="T3" fmla="*/ 0 h 2"/>
                <a:gd name="T4" fmla="*/ 52 w 53"/>
                <a:gd name="T5" fmla="*/ 0 h 2"/>
                <a:gd name="T6" fmla="*/ 6 w 53"/>
                <a:gd name="T7" fmla="*/ 0 h 2"/>
                <a:gd name="T8" fmla="*/ 0 w 53"/>
                <a:gd name="T9" fmla="*/ 0 h 2"/>
              </a:gdLst>
              <a:ahLst/>
              <a:cxnLst>
                <a:cxn ang="0">
                  <a:pos x="T0" y="T1"/>
                </a:cxn>
                <a:cxn ang="0">
                  <a:pos x="T2" y="T3"/>
                </a:cxn>
                <a:cxn ang="0">
                  <a:pos x="T4" y="T5"/>
                </a:cxn>
                <a:cxn ang="0">
                  <a:pos x="T6" y="T7"/>
                </a:cxn>
                <a:cxn ang="0">
                  <a:pos x="T8" y="T9"/>
                </a:cxn>
              </a:cxnLst>
              <a:rect l="0" t="0" r="r" b="b"/>
              <a:pathLst>
                <a:path w="53" h="2">
                  <a:moveTo>
                    <a:pt x="0" y="0"/>
                  </a:moveTo>
                  <a:lnTo>
                    <a:pt x="0" y="0"/>
                  </a:lnTo>
                  <a:cubicBezTo>
                    <a:pt x="2" y="1"/>
                    <a:pt x="53" y="2"/>
                    <a:pt x="52" y="0"/>
                  </a:cubicBez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1" name="Freeform 59"/>
            <p:cNvSpPr>
              <a:spLocks/>
            </p:cNvSpPr>
            <p:nvPr/>
          </p:nvSpPr>
          <p:spPr bwMode="invGray">
            <a:xfrm>
              <a:off x="9963150" y="2778125"/>
              <a:ext cx="41275" cy="0"/>
            </a:xfrm>
            <a:custGeom>
              <a:avLst/>
              <a:gdLst>
                <a:gd name="T0" fmla="*/ 21 w 21"/>
                <a:gd name="T1" fmla="*/ 21 w 21"/>
                <a:gd name="T2" fmla="*/ 3 w 21"/>
                <a:gd name="T3" fmla="*/ 0 w 21"/>
                <a:gd name="T4" fmla="*/ 21 w 21"/>
              </a:gdLst>
              <a:ahLst/>
              <a:cxnLst>
                <a:cxn ang="0">
                  <a:pos x="T0" y="0"/>
                </a:cxn>
                <a:cxn ang="0">
                  <a:pos x="T1" y="0"/>
                </a:cxn>
                <a:cxn ang="0">
                  <a:pos x="T2" y="0"/>
                </a:cxn>
                <a:cxn ang="0">
                  <a:pos x="T3" y="0"/>
                </a:cxn>
                <a:cxn ang="0">
                  <a:pos x="T4" y="0"/>
                </a:cxn>
              </a:cxnLst>
              <a:rect l="0" t="0" r="r" b="b"/>
              <a:pathLst>
                <a:path w="21">
                  <a:moveTo>
                    <a:pt x="21" y="0"/>
                  </a:moveTo>
                  <a:lnTo>
                    <a:pt x="21" y="0"/>
                  </a:lnTo>
                  <a:lnTo>
                    <a:pt x="3" y="0"/>
                  </a:lnTo>
                  <a:lnTo>
                    <a:pt x="0" y="0"/>
                  </a:lnTo>
                  <a:cubicBezTo>
                    <a:pt x="4" y="0"/>
                    <a:pt x="15"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2" name="Freeform 60"/>
            <p:cNvSpPr>
              <a:spLocks/>
            </p:cNvSpPr>
            <p:nvPr/>
          </p:nvSpPr>
          <p:spPr bwMode="invGray">
            <a:xfrm>
              <a:off x="7523163" y="2773363"/>
              <a:ext cx="30163" cy="3175"/>
            </a:xfrm>
            <a:custGeom>
              <a:avLst/>
              <a:gdLst>
                <a:gd name="T0" fmla="*/ 16 w 16"/>
                <a:gd name="T1" fmla="*/ 0 h 1"/>
                <a:gd name="T2" fmla="*/ 16 w 16"/>
                <a:gd name="T3" fmla="*/ 0 h 1"/>
                <a:gd name="T4" fmla="*/ 0 w 16"/>
                <a:gd name="T5" fmla="*/ 1 h 1"/>
                <a:gd name="T6" fmla="*/ 16 w 16"/>
                <a:gd name="T7" fmla="*/ 0 h 1"/>
              </a:gdLst>
              <a:ahLst/>
              <a:cxnLst>
                <a:cxn ang="0">
                  <a:pos x="T0" y="T1"/>
                </a:cxn>
                <a:cxn ang="0">
                  <a:pos x="T2" y="T3"/>
                </a:cxn>
                <a:cxn ang="0">
                  <a:pos x="T4" y="T5"/>
                </a:cxn>
                <a:cxn ang="0">
                  <a:pos x="T6" y="T7"/>
                </a:cxn>
              </a:cxnLst>
              <a:rect l="0" t="0" r="r" b="b"/>
              <a:pathLst>
                <a:path w="16" h="1">
                  <a:moveTo>
                    <a:pt x="16" y="0"/>
                  </a:moveTo>
                  <a:lnTo>
                    <a:pt x="16" y="0"/>
                  </a:lnTo>
                  <a:cubicBezTo>
                    <a:pt x="6" y="0"/>
                    <a:pt x="2" y="1"/>
                    <a:pt x="0" y="1"/>
                  </a:cubicBezTo>
                  <a:cubicBezTo>
                    <a:pt x="6" y="1"/>
                    <a:pt x="12" y="1"/>
                    <a:pt x="1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3" name="Freeform 61"/>
            <p:cNvSpPr>
              <a:spLocks/>
            </p:cNvSpPr>
            <p:nvPr/>
          </p:nvSpPr>
          <p:spPr bwMode="invGray">
            <a:xfrm>
              <a:off x="10009188" y="2787650"/>
              <a:ext cx="115888" cy="3175"/>
            </a:xfrm>
            <a:custGeom>
              <a:avLst/>
              <a:gdLst>
                <a:gd name="T0" fmla="*/ 0 w 60"/>
                <a:gd name="T1" fmla="*/ 0 h 2"/>
                <a:gd name="T2" fmla="*/ 0 w 60"/>
                <a:gd name="T3" fmla="*/ 0 h 2"/>
                <a:gd name="T4" fmla="*/ 19 w 60"/>
                <a:gd name="T5" fmla="*/ 2 h 2"/>
                <a:gd name="T6" fmla="*/ 60 w 60"/>
                <a:gd name="T7" fmla="*/ 1 h 2"/>
                <a:gd name="T8" fmla="*/ 0 w 60"/>
                <a:gd name="T9" fmla="*/ 0 h 2"/>
              </a:gdLst>
              <a:ahLst/>
              <a:cxnLst>
                <a:cxn ang="0">
                  <a:pos x="T0" y="T1"/>
                </a:cxn>
                <a:cxn ang="0">
                  <a:pos x="T2" y="T3"/>
                </a:cxn>
                <a:cxn ang="0">
                  <a:pos x="T4" y="T5"/>
                </a:cxn>
                <a:cxn ang="0">
                  <a:pos x="T6" y="T7"/>
                </a:cxn>
                <a:cxn ang="0">
                  <a:pos x="T8" y="T9"/>
                </a:cxn>
              </a:cxnLst>
              <a:rect l="0" t="0" r="r" b="b"/>
              <a:pathLst>
                <a:path w="60" h="2">
                  <a:moveTo>
                    <a:pt x="0" y="0"/>
                  </a:moveTo>
                  <a:lnTo>
                    <a:pt x="0" y="0"/>
                  </a:lnTo>
                  <a:cubicBezTo>
                    <a:pt x="7" y="0"/>
                    <a:pt x="18" y="1"/>
                    <a:pt x="19" y="2"/>
                  </a:cubicBezTo>
                  <a:cubicBezTo>
                    <a:pt x="34" y="2"/>
                    <a:pt x="45" y="1"/>
                    <a:pt x="60" y="1"/>
                  </a:cubicBezTo>
                  <a:cubicBezTo>
                    <a:pt x="43" y="1"/>
                    <a:pt x="23"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4" name="Freeform 62"/>
            <p:cNvSpPr>
              <a:spLocks/>
            </p:cNvSpPr>
            <p:nvPr/>
          </p:nvSpPr>
          <p:spPr bwMode="invGray">
            <a:xfrm>
              <a:off x="10125075" y="2789238"/>
              <a:ext cx="1588" cy="0"/>
            </a:xfrm>
            <a:custGeom>
              <a:avLst/>
              <a:gdLst>
                <a:gd name="T0" fmla="*/ 1 w 1"/>
                <a:gd name="T1" fmla="*/ 1 w 1"/>
                <a:gd name="T2" fmla="*/ 0 w 1"/>
                <a:gd name="T3" fmla="*/ 1 w 1"/>
              </a:gdLst>
              <a:ahLst/>
              <a:cxnLst>
                <a:cxn ang="0">
                  <a:pos x="T0" y="0"/>
                </a:cxn>
                <a:cxn ang="0">
                  <a:pos x="T1" y="0"/>
                </a:cxn>
                <a:cxn ang="0">
                  <a:pos x="T2" y="0"/>
                </a:cxn>
                <a:cxn ang="0">
                  <a:pos x="T3" y="0"/>
                </a:cxn>
              </a:cxnLst>
              <a:rect l="0" t="0" r="r" b="b"/>
              <a:pathLst>
                <a:path w="1">
                  <a:moveTo>
                    <a:pt x="1" y="0"/>
                  </a:moveTo>
                  <a:lnTo>
                    <a:pt x="1" y="0"/>
                  </a:lnTo>
                  <a:lnTo>
                    <a:pt x="0" y="0"/>
                  </a:lnTo>
                  <a:lnTo>
                    <a:pt x="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5" name="Freeform 63"/>
            <p:cNvSpPr>
              <a:spLocks noEditPoints="1"/>
            </p:cNvSpPr>
            <p:nvPr/>
          </p:nvSpPr>
          <p:spPr bwMode="invGray">
            <a:xfrm>
              <a:off x="-4110038" y="2703513"/>
              <a:ext cx="16486188" cy="134937"/>
            </a:xfrm>
            <a:custGeom>
              <a:avLst/>
              <a:gdLst>
                <a:gd name="T0" fmla="*/ 5206 w 8594"/>
                <a:gd name="T1" fmla="*/ 34 h 60"/>
                <a:gd name="T2" fmla="*/ 4851 w 8594"/>
                <a:gd name="T3" fmla="*/ 37 h 60"/>
                <a:gd name="T4" fmla="*/ 5322 w 8594"/>
                <a:gd name="T5" fmla="*/ 35 h 60"/>
                <a:gd name="T6" fmla="*/ 5841 w 8594"/>
                <a:gd name="T7" fmla="*/ 43 h 60"/>
                <a:gd name="T8" fmla="*/ 5952 w 8594"/>
                <a:gd name="T9" fmla="*/ 46 h 60"/>
                <a:gd name="T10" fmla="*/ 6323 w 8594"/>
                <a:gd name="T11" fmla="*/ 40 h 60"/>
                <a:gd name="T12" fmla="*/ 6806 w 8594"/>
                <a:gd name="T13" fmla="*/ 32 h 60"/>
                <a:gd name="T14" fmla="*/ 6211 w 8594"/>
                <a:gd name="T15" fmla="*/ 34 h 60"/>
                <a:gd name="T16" fmla="*/ 5558 w 8594"/>
                <a:gd name="T17" fmla="*/ 29 h 60"/>
                <a:gd name="T18" fmla="*/ 7046 w 8594"/>
                <a:gd name="T19" fmla="*/ 41 h 60"/>
                <a:gd name="T20" fmla="*/ 7472 w 8594"/>
                <a:gd name="T21" fmla="*/ 40 h 60"/>
                <a:gd name="T22" fmla="*/ 7784 w 8594"/>
                <a:gd name="T23" fmla="*/ 39 h 60"/>
                <a:gd name="T24" fmla="*/ 4392 w 8594"/>
                <a:gd name="T25" fmla="*/ 36 h 60"/>
                <a:gd name="T26" fmla="*/ 4053 w 8594"/>
                <a:gd name="T27" fmla="*/ 35 h 60"/>
                <a:gd name="T28" fmla="*/ 4729 w 8594"/>
                <a:gd name="T29" fmla="*/ 29 h 60"/>
                <a:gd name="T30" fmla="*/ 348 w 8594"/>
                <a:gd name="T31" fmla="*/ 40 h 60"/>
                <a:gd name="T32" fmla="*/ 3365 w 8594"/>
                <a:gd name="T33" fmla="*/ 41 h 60"/>
                <a:gd name="T34" fmla="*/ 2626 w 8594"/>
                <a:gd name="T35" fmla="*/ 45 h 60"/>
                <a:gd name="T36" fmla="*/ 1989 w 8594"/>
                <a:gd name="T37" fmla="*/ 45 h 60"/>
                <a:gd name="T38" fmla="*/ 1241 w 8594"/>
                <a:gd name="T39" fmla="*/ 44 h 60"/>
                <a:gd name="T40" fmla="*/ 260 w 8594"/>
                <a:gd name="T41" fmla="*/ 41 h 60"/>
                <a:gd name="T42" fmla="*/ 403 w 8594"/>
                <a:gd name="T43" fmla="*/ 29 h 60"/>
                <a:gd name="T44" fmla="*/ 1235 w 8594"/>
                <a:gd name="T45" fmla="*/ 30 h 60"/>
                <a:gd name="T46" fmla="*/ 1695 w 8594"/>
                <a:gd name="T47" fmla="*/ 28 h 60"/>
                <a:gd name="T48" fmla="*/ 2516 w 8594"/>
                <a:gd name="T49" fmla="*/ 20 h 60"/>
                <a:gd name="T50" fmla="*/ 3096 w 8594"/>
                <a:gd name="T51" fmla="*/ 21 h 60"/>
                <a:gd name="T52" fmla="*/ 3775 w 8594"/>
                <a:gd name="T53" fmla="*/ 17 h 60"/>
                <a:gd name="T54" fmla="*/ 3608 w 8594"/>
                <a:gd name="T55" fmla="*/ 13 h 60"/>
                <a:gd name="T56" fmla="*/ 3472 w 8594"/>
                <a:gd name="T57" fmla="*/ 9 h 60"/>
                <a:gd name="T58" fmla="*/ 4061 w 8594"/>
                <a:gd name="T59" fmla="*/ 4 h 60"/>
                <a:gd name="T60" fmla="*/ 4257 w 8594"/>
                <a:gd name="T61" fmla="*/ 12 h 60"/>
                <a:gd name="T62" fmla="*/ 4645 w 8594"/>
                <a:gd name="T63" fmla="*/ 16 h 60"/>
                <a:gd name="T64" fmla="*/ 4373 w 8594"/>
                <a:gd name="T65" fmla="*/ 10 h 60"/>
                <a:gd name="T66" fmla="*/ 5119 w 8594"/>
                <a:gd name="T67" fmla="*/ 4 h 60"/>
                <a:gd name="T68" fmla="*/ 5193 w 8594"/>
                <a:gd name="T69" fmla="*/ 5 h 60"/>
                <a:gd name="T70" fmla="*/ 5134 w 8594"/>
                <a:gd name="T71" fmla="*/ 16 h 60"/>
                <a:gd name="T72" fmla="*/ 5438 w 8594"/>
                <a:gd name="T73" fmla="*/ 15 h 60"/>
                <a:gd name="T74" fmla="*/ 5834 w 8594"/>
                <a:gd name="T75" fmla="*/ 5 h 60"/>
                <a:gd name="T76" fmla="*/ 5843 w 8594"/>
                <a:gd name="T77" fmla="*/ 16 h 60"/>
                <a:gd name="T78" fmla="*/ 5967 w 8594"/>
                <a:gd name="T79" fmla="*/ 11 h 60"/>
                <a:gd name="T80" fmla="*/ 6226 w 8594"/>
                <a:gd name="T81" fmla="*/ 10 h 60"/>
                <a:gd name="T82" fmla="*/ 6261 w 8594"/>
                <a:gd name="T83" fmla="*/ 13 h 60"/>
                <a:gd name="T84" fmla="*/ 6697 w 8594"/>
                <a:gd name="T85" fmla="*/ 10 h 60"/>
                <a:gd name="T86" fmla="*/ 6837 w 8594"/>
                <a:gd name="T87" fmla="*/ 16 h 60"/>
                <a:gd name="T88" fmla="*/ 7682 w 8594"/>
                <a:gd name="T89" fmla="*/ 14 h 60"/>
                <a:gd name="T90" fmla="*/ 7802 w 8594"/>
                <a:gd name="T91" fmla="*/ 24 h 60"/>
                <a:gd name="T92" fmla="*/ 8182 w 8594"/>
                <a:gd name="T93" fmla="*/ 23 h 60"/>
                <a:gd name="T94" fmla="*/ 8315 w 8594"/>
                <a:gd name="T95" fmla="*/ 27 h 60"/>
                <a:gd name="T96" fmla="*/ 8441 w 8594"/>
                <a:gd name="T97" fmla="*/ 38 h 60"/>
                <a:gd name="T98" fmla="*/ 8077 w 8594"/>
                <a:gd name="T99" fmla="*/ 45 h 60"/>
                <a:gd name="T100" fmla="*/ 8594 w 8594"/>
                <a:gd name="T101" fmla="*/ 47 h 60"/>
                <a:gd name="T102" fmla="*/ 8205 w 8594"/>
                <a:gd name="T103" fmla="*/ 53 h 60"/>
                <a:gd name="T104" fmla="*/ 7779 w 8594"/>
                <a:gd name="T105" fmla="*/ 58 h 60"/>
                <a:gd name="T106" fmla="*/ 7358 w 8594"/>
                <a:gd name="T107" fmla="*/ 54 h 60"/>
                <a:gd name="T108" fmla="*/ 6692 w 8594"/>
                <a:gd name="T109" fmla="*/ 49 h 60"/>
                <a:gd name="T110" fmla="*/ 5792 w 8594"/>
                <a:gd name="T111" fmla="*/ 53 h 60"/>
                <a:gd name="T112" fmla="*/ 5390 w 8594"/>
                <a:gd name="T113" fmla="*/ 47 h 60"/>
                <a:gd name="T114" fmla="*/ 5194 w 8594"/>
                <a:gd name="T115" fmla="*/ 51 h 60"/>
                <a:gd name="T116" fmla="*/ 4559 w 8594"/>
                <a:gd name="T117" fmla="*/ 53 h 60"/>
                <a:gd name="T118" fmla="*/ 4226 w 8594"/>
                <a:gd name="T119" fmla="*/ 58 h 60"/>
                <a:gd name="T120" fmla="*/ 4010 w 8594"/>
                <a:gd name="T121" fmla="*/ 60 h 60"/>
                <a:gd name="T122" fmla="*/ 3858 w 8594"/>
                <a:gd name="T123"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594" h="60">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6" name="Freeform 64"/>
            <p:cNvSpPr>
              <a:spLocks/>
            </p:cNvSpPr>
            <p:nvPr/>
          </p:nvSpPr>
          <p:spPr bwMode="invGray">
            <a:xfrm>
              <a:off x="12117388" y="2779713"/>
              <a:ext cx="127000" cy="4762"/>
            </a:xfrm>
            <a:custGeom>
              <a:avLst/>
              <a:gdLst>
                <a:gd name="T0" fmla="*/ 19 w 66"/>
                <a:gd name="T1" fmla="*/ 2 h 2"/>
                <a:gd name="T2" fmla="*/ 19 w 66"/>
                <a:gd name="T3" fmla="*/ 2 h 2"/>
                <a:gd name="T4" fmla="*/ 60 w 66"/>
                <a:gd name="T5" fmla="*/ 0 h 2"/>
                <a:gd name="T6" fmla="*/ 19 w 66"/>
                <a:gd name="T7" fmla="*/ 2 h 2"/>
              </a:gdLst>
              <a:ahLst/>
              <a:cxnLst>
                <a:cxn ang="0">
                  <a:pos x="T0" y="T1"/>
                </a:cxn>
                <a:cxn ang="0">
                  <a:pos x="T2" y="T3"/>
                </a:cxn>
                <a:cxn ang="0">
                  <a:pos x="T4" y="T5"/>
                </a:cxn>
                <a:cxn ang="0">
                  <a:pos x="T6" y="T7"/>
                </a:cxn>
              </a:cxnLst>
              <a:rect l="0" t="0" r="r" b="b"/>
              <a:pathLst>
                <a:path w="66" h="2">
                  <a:moveTo>
                    <a:pt x="19" y="2"/>
                  </a:moveTo>
                  <a:lnTo>
                    <a:pt x="19" y="2"/>
                  </a:lnTo>
                  <a:cubicBezTo>
                    <a:pt x="33" y="2"/>
                    <a:pt x="66" y="2"/>
                    <a:pt x="60" y="0"/>
                  </a:cubicBezTo>
                  <a:cubicBezTo>
                    <a:pt x="60" y="2"/>
                    <a:pt x="0" y="0"/>
                    <a:pt x="19"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7" name="Freeform 65"/>
            <p:cNvSpPr>
              <a:spLocks/>
            </p:cNvSpPr>
            <p:nvPr/>
          </p:nvSpPr>
          <p:spPr bwMode="invGray">
            <a:xfrm>
              <a:off x="12182475" y="2787650"/>
              <a:ext cx="79375" cy="1587"/>
            </a:xfrm>
            <a:custGeom>
              <a:avLst/>
              <a:gdLst>
                <a:gd name="T0" fmla="*/ 25 w 41"/>
                <a:gd name="T1" fmla="*/ 1 h 1"/>
                <a:gd name="T2" fmla="*/ 25 w 41"/>
                <a:gd name="T3" fmla="*/ 1 h 1"/>
                <a:gd name="T4" fmla="*/ 41 w 41"/>
                <a:gd name="T5" fmla="*/ 0 h 1"/>
                <a:gd name="T6" fmla="*/ 0 w 41"/>
                <a:gd name="T7" fmla="*/ 0 h 1"/>
                <a:gd name="T8" fmla="*/ 25 w 41"/>
                <a:gd name="T9" fmla="*/ 1 h 1"/>
              </a:gdLst>
              <a:ahLst/>
              <a:cxnLst>
                <a:cxn ang="0">
                  <a:pos x="T0" y="T1"/>
                </a:cxn>
                <a:cxn ang="0">
                  <a:pos x="T2" y="T3"/>
                </a:cxn>
                <a:cxn ang="0">
                  <a:pos x="T4" y="T5"/>
                </a:cxn>
                <a:cxn ang="0">
                  <a:pos x="T6" y="T7"/>
                </a:cxn>
                <a:cxn ang="0">
                  <a:pos x="T8" y="T9"/>
                </a:cxn>
              </a:cxnLst>
              <a:rect l="0" t="0" r="r" b="b"/>
              <a:pathLst>
                <a:path w="41" h="1">
                  <a:moveTo>
                    <a:pt x="25" y="1"/>
                  </a:moveTo>
                  <a:lnTo>
                    <a:pt x="25" y="1"/>
                  </a:lnTo>
                  <a:cubicBezTo>
                    <a:pt x="27" y="1"/>
                    <a:pt x="26" y="0"/>
                    <a:pt x="41" y="0"/>
                  </a:cubicBezTo>
                  <a:lnTo>
                    <a:pt x="0" y="0"/>
                  </a:lnTo>
                  <a:lnTo>
                    <a:pt x="2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8" name="Freeform 66"/>
            <p:cNvSpPr>
              <a:spLocks/>
            </p:cNvSpPr>
            <p:nvPr/>
          </p:nvSpPr>
          <p:spPr bwMode="invGray">
            <a:xfrm>
              <a:off x="12307888" y="2809875"/>
              <a:ext cx="249238" cy="15875"/>
            </a:xfrm>
            <a:custGeom>
              <a:avLst/>
              <a:gdLst>
                <a:gd name="T0" fmla="*/ 2 w 130"/>
                <a:gd name="T1" fmla="*/ 3 h 7"/>
                <a:gd name="T2" fmla="*/ 2 w 130"/>
                <a:gd name="T3" fmla="*/ 3 h 7"/>
                <a:gd name="T4" fmla="*/ 70 w 130"/>
                <a:gd name="T5" fmla="*/ 2 h 7"/>
                <a:gd name="T6" fmla="*/ 0 w 130"/>
                <a:gd name="T7" fmla="*/ 6 h 7"/>
                <a:gd name="T8" fmla="*/ 130 w 130"/>
                <a:gd name="T9" fmla="*/ 4 h 7"/>
                <a:gd name="T10" fmla="*/ 2 w 130"/>
                <a:gd name="T11" fmla="*/ 3 h 7"/>
              </a:gdLst>
              <a:ahLst/>
              <a:cxnLst>
                <a:cxn ang="0">
                  <a:pos x="T0" y="T1"/>
                </a:cxn>
                <a:cxn ang="0">
                  <a:pos x="T2" y="T3"/>
                </a:cxn>
                <a:cxn ang="0">
                  <a:pos x="T4" y="T5"/>
                </a:cxn>
                <a:cxn ang="0">
                  <a:pos x="T6" y="T7"/>
                </a:cxn>
                <a:cxn ang="0">
                  <a:pos x="T8" y="T9"/>
                </a:cxn>
                <a:cxn ang="0">
                  <a:pos x="T10" y="T11"/>
                </a:cxn>
              </a:cxnLst>
              <a:rect l="0" t="0" r="r" b="b"/>
              <a:pathLst>
                <a:path w="130" h="7">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9" name="Freeform 67"/>
            <p:cNvSpPr>
              <a:spLocks/>
            </p:cNvSpPr>
            <p:nvPr/>
          </p:nvSpPr>
          <p:spPr bwMode="invGray">
            <a:xfrm>
              <a:off x="12252325" y="2825750"/>
              <a:ext cx="73025" cy="1587"/>
            </a:xfrm>
            <a:custGeom>
              <a:avLst/>
              <a:gdLst>
                <a:gd name="T0" fmla="*/ 4 w 38"/>
                <a:gd name="T1" fmla="*/ 1 h 1"/>
                <a:gd name="T2" fmla="*/ 4 w 38"/>
                <a:gd name="T3" fmla="*/ 1 h 1"/>
                <a:gd name="T4" fmla="*/ 38 w 38"/>
                <a:gd name="T5" fmla="*/ 0 h 1"/>
                <a:gd name="T6" fmla="*/ 34 w 38"/>
                <a:gd name="T7" fmla="*/ 0 h 1"/>
                <a:gd name="T8" fmla="*/ 0 w 38"/>
                <a:gd name="T9" fmla="*/ 1 h 1"/>
                <a:gd name="T10" fmla="*/ 4 w 38"/>
                <a:gd name="T11" fmla="*/ 1 h 1"/>
              </a:gdLst>
              <a:ahLst/>
              <a:cxnLst>
                <a:cxn ang="0">
                  <a:pos x="T0" y="T1"/>
                </a:cxn>
                <a:cxn ang="0">
                  <a:pos x="T2" y="T3"/>
                </a:cxn>
                <a:cxn ang="0">
                  <a:pos x="T4" y="T5"/>
                </a:cxn>
                <a:cxn ang="0">
                  <a:pos x="T6" y="T7"/>
                </a:cxn>
                <a:cxn ang="0">
                  <a:pos x="T8" y="T9"/>
                </a:cxn>
                <a:cxn ang="0">
                  <a:pos x="T10" y="T11"/>
                </a:cxn>
              </a:cxnLst>
              <a:rect l="0" t="0" r="r" b="b"/>
              <a:pathLst>
                <a:path w="38" h="1">
                  <a:moveTo>
                    <a:pt x="4" y="1"/>
                  </a:moveTo>
                  <a:lnTo>
                    <a:pt x="4" y="1"/>
                  </a:lnTo>
                  <a:lnTo>
                    <a:pt x="38" y="0"/>
                  </a:lnTo>
                  <a:lnTo>
                    <a:pt x="34" y="0"/>
                  </a:lnTo>
                  <a:lnTo>
                    <a:pt x="0" y="1"/>
                  </a:lnTo>
                  <a:lnTo>
                    <a:pt x="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0" name="Freeform 68"/>
            <p:cNvSpPr>
              <a:spLocks/>
            </p:cNvSpPr>
            <p:nvPr/>
          </p:nvSpPr>
          <p:spPr bwMode="invGray">
            <a:xfrm>
              <a:off x="10779125" y="2733675"/>
              <a:ext cx="66675" cy="4762"/>
            </a:xfrm>
            <a:custGeom>
              <a:avLst/>
              <a:gdLst>
                <a:gd name="T0" fmla="*/ 35 w 35"/>
                <a:gd name="T1" fmla="*/ 2 h 2"/>
                <a:gd name="T2" fmla="*/ 35 w 35"/>
                <a:gd name="T3" fmla="*/ 2 h 2"/>
                <a:gd name="T4" fmla="*/ 0 w 35"/>
                <a:gd name="T5" fmla="*/ 2 h 2"/>
                <a:gd name="T6" fmla="*/ 35 w 35"/>
                <a:gd name="T7" fmla="*/ 2 h 2"/>
              </a:gdLst>
              <a:ahLst/>
              <a:cxnLst>
                <a:cxn ang="0">
                  <a:pos x="T0" y="T1"/>
                </a:cxn>
                <a:cxn ang="0">
                  <a:pos x="T2" y="T3"/>
                </a:cxn>
                <a:cxn ang="0">
                  <a:pos x="T4" y="T5"/>
                </a:cxn>
                <a:cxn ang="0">
                  <a:pos x="T6" y="T7"/>
                </a:cxn>
              </a:cxnLst>
              <a:rect l="0" t="0" r="r" b="b"/>
              <a:pathLst>
                <a:path w="35" h="2">
                  <a:moveTo>
                    <a:pt x="35" y="2"/>
                  </a:moveTo>
                  <a:lnTo>
                    <a:pt x="35" y="2"/>
                  </a:lnTo>
                  <a:cubicBezTo>
                    <a:pt x="32" y="0"/>
                    <a:pt x="11" y="1"/>
                    <a:pt x="0" y="2"/>
                  </a:cubicBezTo>
                  <a:cubicBezTo>
                    <a:pt x="9" y="2"/>
                    <a:pt x="22" y="2"/>
                    <a:pt x="3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1" name="Freeform 69"/>
            <p:cNvSpPr>
              <a:spLocks/>
            </p:cNvSpPr>
            <p:nvPr/>
          </p:nvSpPr>
          <p:spPr bwMode="invGray">
            <a:xfrm>
              <a:off x="-2471738" y="2738438"/>
              <a:ext cx="496888" cy="1587"/>
            </a:xfrm>
            <a:custGeom>
              <a:avLst/>
              <a:gdLst>
                <a:gd name="T0" fmla="*/ 259 w 259"/>
                <a:gd name="T1" fmla="*/ 0 h 1"/>
                <a:gd name="T2" fmla="*/ 259 w 259"/>
                <a:gd name="T3" fmla="*/ 0 h 1"/>
                <a:gd name="T4" fmla="*/ 0 w 259"/>
                <a:gd name="T5" fmla="*/ 1 h 1"/>
                <a:gd name="T6" fmla="*/ 259 w 259"/>
                <a:gd name="T7" fmla="*/ 0 h 1"/>
              </a:gdLst>
              <a:ahLst/>
              <a:cxnLst>
                <a:cxn ang="0">
                  <a:pos x="T0" y="T1"/>
                </a:cxn>
                <a:cxn ang="0">
                  <a:pos x="T2" y="T3"/>
                </a:cxn>
                <a:cxn ang="0">
                  <a:pos x="T4" y="T5"/>
                </a:cxn>
                <a:cxn ang="0">
                  <a:pos x="T6" y="T7"/>
                </a:cxn>
              </a:cxnLst>
              <a:rect l="0" t="0" r="r" b="b"/>
              <a:pathLst>
                <a:path w="259" h="1">
                  <a:moveTo>
                    <a:pt x="259" y="0"/>
                  </a:moveTo>
                  <a:lnTo>
                    <a:pt x="259" y="0"/>
                  </a:lnTo>
                  <a:lnTo>
                    <a:pt x="0" y="1"/>
                  </a:lnTo>
                  <a:lnTo>
                    <a:pt x="25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2" name="Freeform 70"/>
            <p:cNvSpPr>
              <a:spLocks/>
            </p:cNvSpPr>
            <p:nvPr/>
          </p:nvSpPr>
          <p:spPr bwMode="invGray">
            <a:xfrm>
              <a:off x="9136063" y="2735263"/>
              <a:ext cx="387350" cy="14287"/>
            </a:xfrm>
            <a:custGeom>
              <a:avLst/>
              <a:gdLst>
                <a:gd name="T0" fmla="*/ 30 w 202"/>
                <a:gd name="T1" fmla="*/ 6 h 6"/>
                <a:gd name="T2" fmla="*/ 30 w 202"/>
                <a:gd name="T3" fmla="*/ 6 h 6"/>
                <a:gd name="T4" fmla="*/ 202 w 202"/>
                <a:gd name="T5" fmla="*/ 3 h 6"/>
                <a:gd name="T6" fmla="*/ 0 w 202"/>
                <a:gd name="T7" fmla="*/ 3 h 6"/>
                <a:gd name="T8" fmla="*/ 30 w 202"/>
                <a:gd name="T9" fmla="*/ 6 h 6"/>
              </a:gdLst>
              <a:ahLst/>
              <a:cxnLst>
                <a:cxn ang="0">
                  <a:pos x="T0" y="T1"/>
                </a:cxn>
                <a:cxn ang="0">
                  <a:pos x="T2" y="T3"/>
                </a:cxn>
                <a:cxn ang="0">
                  <a:pos x="T4" y="T5"/>
                </a:cxn>
                <a:cxn ang="0">
                  <a:pos x="T6" y="T7"/>
                </a:cxn>
                <a:cxn ang="0">
                  <a:pos x="T8" y="T9"/>
                </a:cxn>
              </a:cxnLst>
              <a:rect l="0" t="0" r="r" b="b"/>
              <a:pathLst>
                <a:path w="202" h="6">
                  <a:moveTo>
                    <a:pt x="30" y="6"/>
                  </a:moveTo>
                  <a:lnTo>
                    <a:pt x="30" y="6"/>
                  </a:lnTo>
                  <a:cubicBezTo>
                    <a:pt x="100" y="5"/>
                    <a:pt x="131" y="3"/>
                    <a:pt x="202" y="3"/>
                  </a:cubicBezTo>
                  <a:cubicBezTo>
                    <a:pt x="109" y="0"/>
                    <a:pt x="79" y="6"/>
                    <a:pt x="0" y="3"/>
                  </a:cubicBezTo>
                  <a:lnTo>
                    <a:pt x="30"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3" name="Freeform 71"/>
            <p:cNvSpPr>
              <a:spLocks/>
            </p:cNvSpPr>
            <p:nvPr/>
          </p:nvSpPr>
          <p:spPr bwMode="invGray">
            <a:xfrm>
              <a:off x="9139238" y="2725738"/>
              <a:ext cx="142875" cy="9525"/>
            </a:xfrm>
            <a:custGeom>
              <a:avLst/>
              <a:gdLst>
                <a:gd name="T0" fmla="*/ 54 w 75"/>
                <a:gd name="T1" fmla="*/ 0 h 4"/>
                <a:gd name="T2" fmla="*/ 54 w 75"/>
                <a:gd name="T3" fmla="*/ 0 h 4"/>
                <a:gd name="T4" fmla="*/ 10 w 75"/>
                <a:gd name="T5" fmla="*/ 4 h 4"/>
                <a:gd name="T6" fmla="*/ 75 w 75"/>
                <a:gd name="T7" fmla="*/ 2 h 4"/>
                <a:gd name="T8" fmla="*/ 54 w 75"/>
                <a:gd name="T9" fmla="*/ 0 h 4"/>
              </a:gdLst>
              <a:ahLst/>
              <a:cxnLst>
                <a:cxn ang="0">
                  <a:pos x="T0" y="T1"/>
                </a:cxn>
                <a:cxn ang="0">
                  <a:pos x="T2" y="T3"/>
                </a:cxn>
                <a:cxn ang="0">
                  <a:pos x="T4" y="T5"/>
                </a:cxn>
                <a:cxn ang="0">
                  <a:pos x="T6" y="T7"/>
                </a:cxn>
                <a:cxn ang="0">
                  <a:pos x="T8" y="T9"/>
                </a:cxn>
              </a:cxnLst>
              <a:rect l="0" t="0" r="r" b="b"/>
              <a:pathLst>
                <a:path w="75" h="4">
                  <a:moveTo>
                    <a:pt x="54" y="0"/>
                  </a:moveTo>
                  <a:lnTo>
                    <a:pt x="54" y="0"/>
                  </a:lnTo>
                  <a:cubicBezTo>
                    <a:pt x="65" y="2"/>
                    <a:pt x="0" y="3"/>
                    <a:pt x="10" y="4"/>
                  </a:cubicBezTo>
                  <a:cubicBezTo>
                    <a:pt x="57" y="4"/>
                    <a:pt x="32" y="2"/>
                    <a:pt x="75" y="2"/>
                  </a:cubicBezTo>
                  <a:lnTo>
                    <a:pt x="5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4" name="Freeform 72"/>
            <p:cNvSpPr>
              <a:spLocks/>
            </p:cNvSpPr>
            <p:nvPr/>
          </p:nvSpPr>
          <p:spPr bwMode="invGray">
            <a:xfrm>
              <a:off x="9805988" y="2817813"/>
              <a:ext cx="39688" cy="3175"/>
            </a:xfrm>
            <a:custGeom>
              <a:avLst/>
              <a:gdLst>
                <a:gd name="T0" fmla="*/ 21 w 21"/>
                <a:gd name="T1" fmla="*/ 0 h 1"/>
                <a:gd name="T2" fmla="*/ 21 w 21"/>
                <a:gd name="T3" fmla="*/ 0 h 1"/>
                <a:gd name="T4" fmla="*/ 0 w 21"/>
                <a:gd name="T5" fmla="*/ 1 h 1"/>
                <a:gd name="T6" fmla="*/ 17 w 21"/>
                <a:gd name="T7" fmla="*/ 1 h 1"/>
                <a:gd name="T8" fmla="*/ 21 w 21"/>
                <a:gd name="T9" fmla="*/ 0 h 1"/>
              </a:gdLst>
              <a:ahLst/>
              <a:cxnLst>
                <a:cxn ang="0">
                  <a:pos x="T0" y="T1"/>
                </a:cxn>
                <a:cxn ang="0">
                  <a:pos x="T2" y="T3"/>
                </a:cxn>
                <a:cxn ang="0">
                  <a:pos x="T4" y="T5"/>
                </a:cxn>
                <a:cxn ang="0">
                  <a:pos x="T6" y="T7"/>
                </a:cxn>
                <a:cxn ang="0">
                  <a:pos x="T8" y="T9"/>
                </a:cxn>
              </a:cxnLst>
              <a:rect l="0" t="0" r="r" b="b"/>
              <a:pathLst>
                <a:path w="21" h="1">
                  <a:moveTo>
                    <a:pt x="21" y="0"/>
                  </a:moveTo>
                  <a:lnTo>
                    <a:pt x="21" y="0"/>
                  </a:lnTo>
                  <a:lnTo>
                    <a:pt x="0" y="1"/>
                  </a:lnTo>
                  <a:lnTo>
                    <a:pt x="17" y="1"/>
                  </a:lnTo>
                  <a:lnTo>
                    <a:pt x="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5" name="Freeform 73"/>
            <p:cNvSpPr>
              <a:spLocks/>
            </p:cNvSpPr>
            <p:nvPr/>
          </p:nvSpPr>
          <p:spPr bwMode="invGray">
            <a:xfrm>
              <a:off x="8580438" y="2725738"/>
              <a:ext cx="66675" cy="3175"/>
            </a:xfrm>
            <a:custGeom>
              <a:avLst/>
              <a:gdLst>
                <a:gd name="T0" fmla="*/ 27 w 35"/>
                <a:gd name="T1" fmla="*/ 1 h 1"/>
                <a:gd name="T2" fmla="*/ 27 w 35"/>
                <a:gd name="T3" fmla="*/ 1 h 1"/>
                <a:gd name="T4" fmla="*/ 35 w 35"/>
                <a:gd name="T5" fmla="*/ 1 h 1"/>
                <a:gd name="T6" fmla="*/ 0 w 35"/>
                <a:gd name="T7" fmla="*/ 0 h 1"/>
                <a:gd name="T8" fmla="*/ 27 w 35"/>
                <a:gd name="T9" fmla="*/ 1 h 1"/>
              </a:gdLst>
              <a:ahLst/>
              <a:cxnLst>
                <a:cxn ang="0">
                  <a:pos x="T0" y="T1"/>
                </a:cxn>
                <a:cxn ang="0">
                  <a:pos x="T2" y="T3"/>
                </a:cxn>
                <a:cxn ang="0">
                  <a:pos x="T4" y="T5"/>
                </a:cxn>
                <a:cxn ang="0">
                  <a:pos x="T6" y="T7"/>
                </a:cxn>
                <a:cxn ang="0">
                  <a:pos x="T8" y="T9"/>
                </a:cxn>
              </a:cxnLst>
              <a:rect l="0" t="0" r="r" b="b"/>
              <a:pathLst>
                <a:path w="35" h="1">
                  <a:moveTo>
                    <a:pt x="27" y="1"/>
                  </a:moveTo>
                  <a:lnTo>
                    <a:pt x="27" y="1"/>
                  </a:lnTo>
                  <a:lnTo>
                    <a:pt x="35" y="1"/>
                  </a:lnTo>
                  <a:lnTo>
                    <a:pt x="0" y="0"/>
                  </a:lnTo>
                  <a:lnTo>
                    <a:pt x="2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6" name="Freeform 74"/>
            <p:cNvSpPr>
              <a:spLocks/>
            </p:cNvSpPr>
            <p:nvPr/>
          </p:nvSpPr>
          <p:spPr bwMode="invGray">
            <a:xfrm>
              <a:off x="8647113" y="2725738"/>
              <a:ext cx="15875" cy="3175"/>
            </a:xfrm>
            <a:custGeom>
              <a:avLst/>
              <a:gdLst>
                <a:gd name="T0" fmla="*/ 8 w 8"/>
                <a:gd name="T1" fmla="*/ 0 h 1"/>
                <a:gd name="T2" fmla="*/ 8 w 8"/>
                <a:gd name="T3" fmla="*/ 0 h 1"/>
                <a:gd name="T4" fmla="*/ 0 w 8"/>
                <a:gd name="T5" fmla="*/ 1 h 1"/>
                <a:gd name="T6" fmla="*/ 8 w 8"/>
                <a:gd name="T7" fmla="*/ 0 h 1"/>
              </a:gdLst>
              <a:ahLst/>
              <a:cxnLst>
                <a:cxn ang="0">
                  <a:pos x="T0" y="T1"/>
                </a:cxn>
                <a:cxn ang="0">
                  <a:pos x="T2" y="T3"/>
                </a:cxn>
                <a:cxn ang="0">
                  <a:pos x="T4" y="T5"/>
                </a:cxn>
                <a:cxn ang="0">
                  <a:pos x="T6" y="T7"/>
                </a:cxn>
              </a:cxnLst>
              <a:rect l="0" t="0" r="r" b="b"/>
              <a:pathLst>
                <a:path w="8" h="1">
                  <a:moveTo>
                    <a:pt x="8" y="0"/>
                  </a:moveTo>
                  <a:lnTo>
                    <a:pt x="8" y="0"/>
                  </a:lnTo>
                  <a:lnTo>
                    <a:pt x="0" y="1"/>
                  </a:lnTo>
                  <a:lnTo>
                    <a:pt x="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7" name="Freeform 75"/>
            <p:cNvSpPr>
              <a:spLocks/>
            </p:cNvSpPr>
            <p:nvPr/>
          </p:nvSpPr>
          <p:spPr bwMode="invGray">
            <a:xfrm>
              <a:off x="9794875" y="2830513"/>
              <a:ext cx="90488" cy="1587"/>
            </a:xfrm>
            <a:custGeom>
              <a:avLst/>
              <a:gdLst>
                <a:gd name="T0" fmla="*/ 0 w 47"/>
                <a:gd name="T1" fmla="*/ 0 h 1"/>
                <a:gd name="T2" fmla="*/ 0 w 47"/>
                <a:gd name="T3" fmla="*/ 0 h 1"/>
                <a:gd name="T4" fmla="*/ 32 w 47"/>
                <a:gd name="T5" fmla="*/ 1 h 1"/>
                <a:gd name="T6" fmla="*/ 47 w 47"/>
                <a:gd name="T7" fmla="*/ 0 h 1"/>
                <a:gd name="T8" fmla="*/ 0 w 47"/>
                <a:gd name="T9" fmla="*/ 0 h 1"/>
              </a:gdLst>
              <a:ahLst/>
              <a:cxnLst>
                <a:cxn ang="0">
                  <a:pos x="T0" y="T1"/>
                </a:cxn>
                <a:cxn ang="0">
                  <a:pos x="T2" y="T3"/>
                </a:cxn>
                <a:cxn ang="0">
                  <a:pos x="T4" y="T5"/>
                </a:cxn>
                <a:cxn ang="0">
                  <a:pos x="T6" y="T7"/>
                </a:cxn>
                <a:cxn ang="0">
                  <a:pos x="T8" y="T9"/>
                </a:cxn>
              </a:cxnLst>
              <a:rect l="0" t="0" r="r" b="b"/>
              <a:pathLst>
                <a:path w="47" h="1">
                  <a:moveTo>
                    <a:pt x="0" y="0"/>
                  </a:moveTo>
                  <a:lnTo>
                    <a:pt x="0" y="0"/>
                  </a:lnTo>
                  <a:lnTo>
                    <a:pt x="32" y="1"/>
                  </a:lnTo>
                  <a:lnTo>
                    <a:pt x="47"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8" name="Freeform 76"/>
            <p:cNvSpPr>
              <a:spLocks/>
            </p:cNvSpPr>
            <p:nvPr/>
          </p:nvSpPr>
          <p:spPr bwMode="invGray">
            <a:xfrm>
              <a:off x="9232900" y="2795588"/>
              <a:ext cx="84138" cy="3175"/>
            </a:xfrm>
            <a:custGeom>
              <a:avLst/>
              <a:gdLst>
                <a:gd name="T0" fmla="*/ 16 w 44"/>
                <a:gd name="T1" fmla="*/ 1 h 1"/>
                <a:gd name="T2" fmla="*/ 16 w 44"/>
                <a:gd name="T3" fmla="*/ 1 h 1"/>
                <a:gd name="T4" fmla="*/ 44 w 44"/>
                <a:gd name="T5" fmla="*/ 1 h 1"/>
                <a:gd name="T6" fmla="*/ 16 w 44"/>
                <a:gd name="T7" fmla="*/ 1 h 1"/>
              </a:gdLst>
              <a:ahLst/>
              <a:cxnLst>
                <a:cxn ang="0">
                  <a:pos x="T0" y="T1"/>
                </a:cxn>
                <a:cxn ang="0">
                  <a:pos x="T2" y="T3"/>
                </a:cxn>
                <a:cxn ang="0">
                  <a:pos x="T4" y="T5"/>
                </a:cxn>
                <a:cxn ang="0">
                  <a:pos x="T6" y="T7"/>
                </a:cxn>
              </a:cxnLst>
              <a:rect l="0" t="0" r="r" b="b"/>
              <a:pathLst>
                <a:path w="44" h="1">
                  <a:moveTo>
                    <a:pt x="16" y="1"/>
                  </a:moveTo>
                  <a:lnTo>
                    <a:pt x="16" y="1"/>
                  </a:lnTo>
                  <a:lnTo>
                    <a:pt x="44" y="1"/>
                  </a:lnTo>
                  <a:cubicBezTo>
                    <a:pt x="39" y="1"/>
                    <a:pt x="0" y="0"/>
                    <a:pt x="16"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9" name="Freeform 77"/>
            <p:cNvSpPr>
              <a:spLocks/>
            </p:cNvSpPr>
            <p:nvPr/>
          </p:nvSpPr>
          <p:spPr bwMode="invGray">
            <a:xfrm>
              <a:off x="8158163" y="2725738"/>
              <a:ext cx="71438" cy="3175"/>
            </a:xfrm>
            <a:custGeom>
              <a:avLst/>
              <a:gdLst>
                <a:gd name="T0" fmla="*/ 34 w 37"/>
                <a:gd name="T1" fmla="*/ 0 h 1"/>
                <a:gd name="T2" fmla="*/ 34 w 37"/>
                <a:gd name="T3" fmla="*/ 0 h 1"/>
                <a:gd name="T4" fmla="*/ 0 w 37"/>
                <a:gd name="T5" fmla="*/ 1 h 1"/>
                <a:gd name="T6" fmla="*/ 3 w 37"/>
                <a:gd name="T7" fmla="*/ 1 h 1"/>
                <a:gd name="T8" fmla="*/ 37 w 37"/>
                <a:gd name="T9" fmla="*/ 0 h 1"/>
                <a:gd name="T10" fmla="*/ 34 w 37"/>
                <a:gd name="T11" fmla="*/ 0 h 1"/>
              </a:gdLst>
              <a:ahLst/>
              <a:cxnLst>
                <a:cxn ang="0">
                  <a:pos x="T0" y="T1"/>
                </a:cxn>
                <a:cxn ang="0">
                  <a:pos x="T2" y="T3"/>
                </a:cxn>
                <a:cxn ang="0">
                  <a:pos x="T4" y="T5"/>
                </a:cxn>
                <a:cxn ang="0">
                  <a:pos x="T6" y="T7"/>
                </a:cxn>
                <a:cxn ang="0">
                  <a:pos x="T8" y="T9"/>
                </a:cxn>
                <a:cxn ang="0">
                  <a:pos x="T10" y="T11"/>
                </a:cxn>
              </a:cxnLst>
              <a:rect l="0" t="0" r="r" b="b"/>
              <a:pathLst>
                <a:path w="37" h="1">
                  <a:moveTo>
                    <a:pt x="34" y="0"/>
                  </a:moveTo>
                  <a:lnTo>
                    <a:pt x="34" y="0"/>
                  </a:lnTo>
                  <a:lnTo>
                    <a:pt x="0" y="1"/>
                  </a:lnTo>
                  <a:lnTo>
                    <a:pt x="3" y="1"/>
                  </a:lnTo>
                  <a:lnTo>
                    <a:pt x="37" y="0"/>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0" name="Freeform 78"/>
            <p:cNvSpPr>
              <a:spLocks/>
            </p:cNvSpPr>
            <p:nvPr/>
          </p:nvSpPr>
          <p:spPr bwMode="invGray">
            <a:xfrm>
              <a:off x="8734425" y="2814638"/>
              <a:ext cx="144463" cy="3175"/>
            </a:xfrm>
            <a:custGeom>
              <a:avLst/>
              <a:gdLst>
                <a:gd name="T0" fmla="*/ 56 w 76"/>
                <a:gd name="T1" fmla="*/ 0 h 2"/>
                <a:gd name="T2" fmla="*/ 56 w 76"/>
                <a:gd name="T3" fmla="*/ 0 h 2"/>
                <a:gd name="T4" fmla="*/ 40 w 76"/>
                <a:gd name="T5" fmla="*/ 2 h 2"/>
                <a:gd name="T6" fmla="*/ 56 w 76"/>
                <a:gd name="T7" fmla="*/ 0 h 2"/>
              </a:gdLst>
              <a:ahLst/>
              <a:cxnLst>
                <a:cxn ang="0">
                  <a:pos x="T0" y="T1"/>
                </a:cxn>
                <a:cxn ang="0">
                  <a:pos x="T2" y="T3"/>
                </a:cxn>
                <a:cxn ang="0">
                  <a:pos x="T4" y="T5"/>
                </a:cxn>
                <a:cxn ang="0">
                  <a:pos x="T6" y="T7"/>
                </a:cxn>
              </a:cxnLst>
              <a:rect l="0" t="0" r="r" b="b"/>
              <a:pathLst>
                <a:path w="76" h="2">
                  <a:moveTo>
                    <a:pt x="56" y="0"/>
                  </a:moveTo>
                  <a:lnTo>
                    <a:pt x="56" y="0"/>
                  </a:lnTo>
                  <a:cubicBezTo>
                    <a:pt x="76" y="2"/>
                    <a:pt x="0" y="0"/>
                    <a:pt x="40" y="2"/>
                  </a:cubicBezTo>
                  <a:cubicBezTo>
                    <a:pt x="76" y="2"/>
                    <a:pt x="61" y="1"/>
                    <a:pt x="5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1" name="Freeform 79"/>
            <p:cNvSpPr>
              <a:spLocks/>
            </p:cNvSpPr>
            <p:nvPr/>
          </p:nvSpPr>
          <p:spPr bwMode="invGray">
            <a:xfrm>
              <a:off x="8023225" y="2782888"/>
              <a:ext cx="26988" cy="1587"/>
            </a:xfrm>
            <a:custGeom>
              <a:avLst/>
              <a:gdLst>
                <a:gd name="T0" fmla="*/ 14 w 14"/>
                <a:gd name="T1" fmla="*/ 0 h 1"/>
                <a:gd name="T2" fmla="*/ 14 w 14"/>
                <a:gd name="T3" fmla="*/ 0 h 1"/>
                <a:gd name="T4" fmla="*/ 0 w 14"/>
                <a:gd name="T5" fmla="*/ 1 h 1"/>
                <a:gd name="T6" fmla="*/ 14 w 14"/>
                <a:gd name="T7" fmla="*/ 0 h 1"/>
              </a:gdLst>
              <a:ahLst/>
              <a:cxnLst>
                <a:cxn ang="0">
                  <a:pos x="T0" y="T1"/>
                </a:cxn>
                <a:cxn ang="0">
                  <a:pos x="T2" y="T3"/>
                </a:cxn>
                <a:cxn ang="0">
                  <a:pos x="T4" y="T5"/>
                </a:cxn>
                <a:cxn ang="0">
                  <a:pos x="T6" y="T7"/>
                </a:cxn>
              </a:cxnLst>
              <a:rect l="0" t="0" r="r" b="b"/>
              <a:pathLst>
                <a:path w="14" h="1">
                  <a:moveTo>
                    <a:pt x="14" y="0"/>
                  </a:moveTo>
                  <a:lnTo>
                    <a:pt x="14" y="0"/>
                  </a:lnTo>
                  <a:cubicBezTo>
                    <a:pt x="9" y="0"/>
                    <a:pt x="5" y="0"/>
                    <a:pt x="0" y="1"/>
                  </a:cubicBezTo>
                  <a:lnTo>
                    <a:pt x="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2" name="Freeform 80"/>
            <p:cNvSpPr>
              <a:spLocks/>
            </p:cNvSpPr>
            <p:nvPr/>
          </p:nvSpPr>
          <p:spPr bwMode="invGray">
            <a:xfrm>
              <a:off x="8050213" y="2782888"/>
              <a:ext cx="77788" cy="1587"/>
            </a:xfrm>
            <a:custGeom>
              <a:avLst/>
              <a:gdLst>
                <a:gd name="T0" fmla="*/ 0 w 40"/>
                <a:gd name="T1" fmla="*/ 0 h 1"/>
                <a:gd name="T2" fmla="*/ 0 w 40"/>
                <a:gd name="T3" fmla="*/ 0 h 1"/>
                <a:gd name="T4" fmla="*/ 40 w 40"/>
                <a:gd name="T5" fmla="*/ 1 h 1"/>
                <a:gd name="T6" fmla="*/ 0 w 40"/>
                <a:gd name="T7" fmla="*/ 0 h 1"/>
              </a:gdLst>
              <a:ahLst/>
              <a:cxnLst>
                <a:cxn ang="0">
                  <a:pos x="T0" y="T1"/>
                </a:cxn>
                <a:cxn ang="0">
                  <a:pos x="T2" y="T3"/>
                </a:cxn>
                <a:cxn ang="0">
                  <a:pos x="T4" y="T5"/>
                </a:cxn>
                <a:cxn ang="0">
                  <a:pos x="T6" y="T7"/>
                </a:cxn>
              </a:cxnLst>
              <a:rect l="0" t="0" r="r" b="b"/>
              <a:pathLst>
                <a:path w="40" h="1">
                  <a:moveTo>
                    <a:pt x="0" y="0"/>
                  </a:moveTo>
                  <a:lnTo>
                    <a:pt x="0" y="0"/>
                  </a:lnTo>
                  <a:cubicBezTo>
                    <a:pt x="15" y="0"/>
                    <a:pt x="30" y="1"/>
                    <a:pt x="40" y="1"/>
                  </a:cubicBezTo>
                  <a:cubicBezTo>
                    <a:pt x="21" y="0"/>
                    <a:pt x="15"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3" name="Freeform 81"/>
            <p:cNvSpPr>
              <a:spLocks/>
            </p:cNvSpPr>
            <p:nvPr/>
          </p:nvSpPr>
          <p:spPr bwMode="invGray">
            <a:xfrm>
              <a:off x="7715250" y="2779713"/>
              <a:ext cx="90488" cy="7937"/>
            </a:xfrm>
            <a:custGeom>
              <a:avLst/>
              <a:gdLst>
                <a:gd name="T0" fmla="*/ 5 w 47"/>
                <a:gd name="T1" fmla="*/ 2 h 3"/>
                <a:gd name="T2" fmla="*/ 5 w 47"/>
                <a:gd name="T3" fmla="*/ 2 h 3"/>
                <a:gd name="T4" fmla="*/ 18 w 47"/>
                <a:gd name="T5" fmla="*/ 2 h 3"/>
                <a:gd name="T6" fmla="*/ 23 w 47"/>
                <a:gd name="T7" fmla="*/ 2 h 3"/>
                <a:gd name="T8" fmla="*/ 38 w 47"/>
                <a:gd name="T9" fmla="*/ 1 h 3"/>
                <a:gd name="T10" fmla="*/ 47 w 47"/>
                <a:gd name="T11" fmla="*/ 0 h 3"/>
                <a:gd name="T12" fmla="*/ 35 w 47"/>
                <a:gd name="T13" fmla="*/ 1 h 3"/>
                <a:gd name="T14" fmla="*/ 5 w 47"/>
                <a:gd name="T15" fmla="*/ 2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 h="3">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4" name="Freeform 82"/>
            <p:cNvSpPr>
              <a:spLocks/>
            </p:cNvSpPr>
            <p:nvPr/>
          </p:nvSpPr>
          <p:spPr bwMode="invGray">
            <a:xfrm>
              <a:off x="6508750" y="2713038"/>
              <a:ext cx="247650" cy="6350"/>
            </a:xfrm>
            <a:custGeom>
              <a:avLst/>
              <a:gdLst>
                <a:gd name="T0" fmla="*/ 0 w 129"/>
                <a:gd name="T1" fmla="*/ 0 h 3"/>
                <a:gd name="T2" fmla="*/ 0 w 129"/>
                <a:gd name="T3" fmla="*/ 0 h 3"/>
                <a:gd name="T4" fmla="*/ 60 w 129"/>
                <a:gd name="T5" fmla="*/ 2 h 3"/>
                <a:gd name="T6" fmla="*/ 129 w 129"/>
                <a:gd name="T7" fmla="*/ 0 h 3"/>
                <a:gd name="T8" fmla="*/ 0 w 129"/>
                <a:gd name="T9" fmla="*/ 0 h 3"/>
              </a:gdLst>
              <a:ahLst/>
              <a:cxnLst>
                <a:cxn ang="0">
                  <a:pos x="T0" y="T1"/>
                </a:cxn>
                <a:cxn ang="0">
                  <a:pos x="T2" y="T3"/>
                </a:cxn>
                <a:cxn ang="0">
                  <a:pos x="T4" y="T5"/>
                </a:cxn>
                <a:cxn ang="0">
                  <a:pos x="T6" y="T7"/>
                </a:cxn>
                <a:cxn ang="0">
                  <a:pos x="T8" y="T9"/>
                </a:cxn>
              </a:cxnLst>
              <a:rect l="0" t="0" r="r" b="b"/>
              <a:pathLst>
                <a:path w="129" h="3">
                  <a:moveTo>
                    <a:pt x="0" y="0"/>
                  </a:moveTo>
                  <a:lnTo>
                    <a:pt x="0" y="0"/>
                  </a:lnTo>
                  <a:cubicBezTo>
                    <a:pt x="50" y="1"/>
                    <a:pt x="63" y="1"/>
                    <a:pt x="60" y="2"/>
                  </a:cubicBezTo>
                  <a:cubicBezTo>
                    <a:pt x="108" y="3"/>
                    <a:pt x="100" y="0"/>
                    <a:pt x="129"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5" name="Freeform 83"/>
            <p:cNvSpPr>
              <a:spLocks/>
            </p:cNvSpPr>
            <p:nvPr/>
          </p:nvSpPr>
          <p:spPr bwMode="invGray">
            <a:xfrm>
              <a:off x="6756400" y="2713038"/>
              <a:ext cx="33338" cy="0"/>
            </a:xfrm>
            <a:custGeom>
              <a:avLst/>
              <a:gdLst>
                <a:gd name="T0" fmla="*/ 0 w 18"/>
                <a:gd name="T1" fmla="*/ 0 w 18"/>
                <a:gd name="T2" fmla="*/ 18 w 18"/>
                <a:gd name="T3" fmla="*/ 0 w 18"/>
              </a:gdLst>
              <a:ahLst/>
              <a:cxnLst>
                <a:cxn ang="0">
                  <a:pos x="T0" y="0"/>
                </a:cxn>
                <a:cxn ang="0">
                  <a:pos x="T1" y="0"/>
                </a:cxn>
                <a:cxn ang="0">
                  <a:pos x="T2" y="0"/>
                </a:cxn>
                <a:cxn ang="0">
                  <a:pos x="T3" y="0"/>
                </a:cxn>
              </a:cxnLst>
              <a:rect l="0" t="0" r="r" b="b"/>
              <a:pathLst>
                <a:path w="18">
                  <a:moveTo>
                    <a:pt x="0" y="0"/>
                  </a:moveTo>
                  <a:lnTo>
                    <a:pt x="0" y="0"/>
                  </a:lnTo>
                  <a:lnTo>
                    <a:pt x="18"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6" name="Freeform 84"/>
            <p:cNvSpPr>
              <a:spLocks/>
            </p:cNvSpPr>
            <p:nvPr/>
          </p:nvSpPr>
          <p:spPr bwMode="invGray">
            <a:xfrm>
              <a:off x="8047038" y="2820988"/>
              <a:ext cx="58738" cy="4762"/>
            </a:xfrm>
            <a:custGeom>
              <a:avLst/>
              <a:gdLst>
                <a:gd name="T0" fmla="*/ 31 w 31"/>
                <a:gd name="T1" fmla="*/ 0 h 2"/>
                <a:gd name="T2" fmla="*/ 31 w 31"/>
                <a:gd name="T3" fmla="*/ 0 h 2"/>
                <a:gd name="T4" fmla="*/ 0 w 31"/>
                <a:gd name="T5" fmla="*/ 2 h 2"/>
                <a:gd name="T6" fmla="*/ 11 w 31"/>
                <a:gd name="T7" fmla="*/ 2 h 2"/>
                <a:gd name="T8" fmla="*/ 31 w 31"/>
                <a:gd name="T9" fmla="*/ 0 h 2"/>
              </a:gdLst>
              <a:ahLst/>
              <a:cxnLst>
                <a:cxn ang="0">
                  <a:pos x="T0" y="T1"/>
                </a:cxn>
                <a:cxn ang="0">
                  <a:pos x="T2" y="T3"/>
                </a:cxn>
                <a:cxn ang="0">
                  <a:pos x="T4" y="T5"/>
                </a:cxn>
                <a:cxn ang="0">
                  <a:pos x="T6" y="T7"/>
                </a:cxn>
                <a:cxn ang="0">
                  <a:pos x="T8" y="T9"/>
                </a:cxn>
              </a:cxnLst>
              <a:rect l="0" t="0" r="r" b="b"/>
              <a:pathLst>
                <a:path w="31" h="2">
                  <a:moveTo>
                    <a:pt x="31" y="0"/>
                  </a:moveTo>
                  <a:lnTo>
                    <a:pt x="31" y="0"/>
                  </a:lnTo>
                  <a:lnTo>
                    <a:pt x="0" y="2"/>
                  </a:lnTo>
                  <a:lnTo>
                    <a:pt x="11" y="2"/>
                  </a:lnTo>
                  <a:lnTo>
                    <a:pt x="3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7" name="Freeform 85"/>
            <p:cNvSpPr>
              <a:spLocks/>
            </p:cNvSpPr>
            <p:nvPr/>
          </p:nvSpPr>
          <p:spPr bwMode="invGray">
            <a:xfrm>
              <a:off x="6348413" y="2711451"/>
              <a:ext cx="82550" cy="1587"/>
            </a:xfrm>
            <a:custGeom>
              <a:avLst/>
              <a:gdLst>
                <a:gd name="T0" fmla="*/ 9 w 43"/>
                <a:gd name="T1" fmla="*/ 1 h 1"/>
                <a:gd name="T2" fmla="*/ 9 w 43"/>
                <a:gd name="T3" fmla="*/ 1 h 1"/>
                <a:gd name="T4" fmla="*/ 41 w 43"/>
                <a:gd name="T5" fmla="*/ 1 h 1"/>
                <a:gd name="T6" fmla="*/ 9 w 43"/>
                <a:gd name="T7" fmla="*/ 1 h 1"/>
              </a:gdLst>
              <a:ahLst/>
              <a:cxnLst>
                <a:cxn ang="0">
                  <a:pos x="T0" y="T1"/>
                </a:cxn>
                <a:cxn ang="0">
                  <a:pos x="T2" y="T3"/>
                </a:cxn>
                <a:cxn ang="0">
                  <a:pos x="T4" y="T5"/>
                </a:cxn>
                <a:cxn ang="0">
                  <a:pos x="T6" y="T7"/>
                </a:cxn>
              </a:cxnLst>
              <a:rect l="0" t="0" r="r" b="b"/>
              <a:pathLst>
                <a:path w="43" h="1">
                  <a:moveTo>
                    <a:pt x="9" y="1"/>
                  </a:moveTo>
                  <a:lnTo>
                    <a:pt x="9" y="1"/>
                  </a:lnTo>
                  <a:cubicBezTo>
                    <a:pt x="18" y="1"/>
                    <a:pt x="33" y="1"/>
                    <a:pt x="41" y="1"/>
                  </a:cubicBezTo>
                  <a:cubicBezTo>
                    <a:pt x="43" y="0"/>
                    <a:pt x="0" y="1"/>
                    <a:pt x="9"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8" name="Freeform 86"/>
            <p:cNvSpPr>
              <a:spLocks/>
            </p:cNvSpPr>
            <p:nvPr/>
          </p:nvSpPr>
          <p:spPr bwMode="invGray">
            <a:xfrm>
              <a:off x="6734175" y="2771775"/>
              <a:ext cx="96838" cy="6350"/>
            </a:xfrm>
            <a:custGeom>
              <a:avLst/>
              <a:gdLst>
                <a:gd name="T0" fmla="*/ 0 w 50"/>
                <a:gd name="T1" fmla="*/ 2 h 3"/>
                <a:gd name="T2" fmla="*/ 0 w 50"/>
                <a:gd name="T3" fmla="*/ 2 h 3"/>
                <a:gd name="T4" fmla="*/ 50 w 50"/>
                <a:gd name="T5" fmla="*/ 3 h 3"/>
                <a:gd name="T6" fmla="*/ 0 w 50"/>
                <a:gd name="T7" fmla="*/ 2 h 3"/>
              </a:gdLst>
              <a:ahLst/>
              <a:cxnLst>
                <a:cxn ang="0">
                  <a:pos x="T0" y="T1"/>
                </a:cxn>
                <a:cxn ang="0">
                  <a:pos x="T2" y="T3"/>
                </a:cxn>
                <a:cxn ang="0">
                  <a:pos x="T4" y="T5"/>
                </a:cxn>
                <a:cxn ang="0">
                  <a:pos x="T6" y="T7"/>
                </a:cxn>
              </a:cxnLst>
              <a:rect l="0" t="0" r="r" b="b"/>
              <a:pathLst>
                <a:path w="50" h="3">
                  <a:moveTo>
                    <a:pt x="0" y="2"/>
                  </a:moveTo>
                  <a:lnTo>
                    <a:pt x="0" y="2"/>
                  </a:lnTo>
                  <a:cubicBezTo>
                    <a:pt x="6" y="3"/>
                    <a:pt x="37" y="2"/>
                    <a:pt x="50" y="3"/>
                  </a:cubicBezTo>
                  <a:cubicBezTo>
                    <a:pt x="32" y="2"/>
                    <a:pt x="17"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9" name="Freeform 87"/>
            <p:cNvSpPr>
              <a:spLocks/>
            </p:cNvSpPr>
            <p:nvPr/>
          </p:nvSpPr>
          <p:spPr bwMode="invGray">
            <a:xfrm>
              <a:off x="6091238" y="2722563"/>
              <a:ext cx="95250" cy="7937"/>
            </a:xfrm>
            <a:custGeom>
              <a:avLst/>
              <a:gdLst>
                <a:gd name="T0" fmla="*/ 0 w 49"/>
                <a:gd name="T1" fmla="*/ 1 h 4"/>
                <a:gd name="T2" fmla="*/ 0 w 49"/>
                <a:gd name="T3" fmla="*/ 1 h 4"/>
                <a:gd name="T4" fmla="*/ 18 w 49"/>
                <a:gd name="T5" fmla="*/ 4 h 4"/>
                <a:gd name="T6" fmla="*/ 0 w 49"/>
                <a:gd name="T7" fmla="*/ 1 h 4"/>
              </a:gdLst>
              <a:ahLst/>
              <a:cxnLst>
                <a:cxn ang="0">
                  <a:pos x="T0" y="T1"/>
                </a:cxn>
                <a:cxn ang="0">
                  <a:pos x="T2" y="T3"/>
                </a:cxn>
                <a:cxn ang="0">
                  <a:pos x="T4" y="T5"/>
                </a:cxn>
                <a:cxn ang="0">
                  <a:pos x="T6" y="T7"/>
                </a:cxn>
              </a:cxnLst>
              <a:rect l="0" t="0" r="r" b="b"/>
              <a:pathLst>
                <a:path w="49" h="4">
                  <a:moveTo>
                    <a:pt x="0" y="1"/>
                  </a:moveTo>
                  <a:lnTo>
                    <a:pt x="0" y="1"/>
                  </a:lnTo>
                  <a:cubicBezTo>
                    <a:pt x="10" y="2"/>
                    <a:pt x="24" y="2"/>
                    <a:pt x="18" y="4"/>
                  </a:cubicBezTo>
                  <a:cubicBezTo>
                    <a:pt x="31" y="3"/>
                    <a:pt x="4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0" name="Freeform 88"/>
            <p:cNvSpPr>
              <a:spLocks/>
            </p:cNvSpPr>
            <p:nvPr/>
          </p:nvSpPr>
          <p:spPr bwMode="invGray">
            <a:xfrm>
              <a:off x="6559550" y="2773363"/>
              <a:ext cx="80963" cy="3175"/>
            </a:xfrm>
            <a:custGeom>
              <a:avLst/>
              <a:gdLst>
                <a:gd name="T0" fmla="*/ 0 w 42"/>
                <a:gd name="T1" fmla="*/ 1 h 1"/>
                <a:gd name="T2" fmla="*/ 0 w 42"/>
                <a:gd name="T3" fmla="*/ 1 h 1"/>
                <a:gd name="T4" fmla="*/ 8 w 42"/>
                <a:gd name="T5" fmla="*/ 1 h 1"/>
                <a:gd name="T6" fmla="*/ 42 w 42"/>
                <a:gd name="T7" fmla="*/ 0 h 1"/>
                <a:gd name="T8" fmla="*/ 0 w 42"/>
                <a:gd name="T9" fmla="*/ 1 h 1"/>
              </a:gdLst>
              <a:ahLst/>
              <a:cxnLst>
                <a:cxn ang="0">
                  <a:pos x="T0" y="T1"/>
                </a:cxn>
                <a:cxn ang="0">
                  <a:pos x="T2" y="T3"/>
                </a:cxn>
                <a:cxn ang="0">
                  <a:pos x="T4" y="T5"/>
                </a:cxn>
                <a:cxn ang="0">
                  <a:pos x="T6" y="T7"/>
                </a:cxn>
                <a:cxn ang="0">
                  <a:pos x="T8" y="T9"/>
                </a:cxn>
              </a:cxnLst>
              <a:rect l="0" t="0" r="r" b="b"/>
              <a:pathLst>
                <a:path w="42" h="1">
                  <a:moveTo>
                    <a:pt x="0" y="1"/>
                  </a:moveTo>
                  <a:lnTo>
                    <a:pt x="0" y="1"/>
                  </a:lnTo>
                  <a:lnTo>
                    <a:pt x="8" y="1"/>
                  </a:lnTo>
                  <a:lnTo>
                    <a:pt x="42"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1" name="Freeform 89"/>
            <p:cNvSpPr>
              <a:spLocks/>
            </p:cNvSpPr>
            <p:nvPr/>
          </p:nvSpPr>
          <p:spPr bwMode="invGray">
            <a:xfrm>
              <a:off x="6640513" y="2806700"/>
              <a:ext cx="227013" cy="15875"/>
            </a:xfrm>
            <a:custGeom>
              <a:avLst/>
              <a:gdLst>
                <a:gd name="T0" fmla="*/ 80 w 118"/>
                <a:gd name="T1" fmla="*/ 7 h 7"/>
                <a:gd name="T2" fmla="*/ 80 w 118"/>
                <a:gd name="T3" fmla="*/ 7 h 7"/>
                <a:gd name="T4" fmla="*/ 85 w 118"/>
                <a:gd name="T5" fmla="*/ 1 h 7"/>
                <a:gd name="T6" fmla="*/ 29 w 118"/>
                <a:gd name="T7" fmla="*/ 4 h 7"/>
                <a:gd name="T8" fmla="*/ 80 w 118"/>
                <a:gd name="T9" fmla="*/ 7 h 7"/>
              </a:gdLst>
              <a:ahLst/>
              <a:cxnLst>
                <a:cxn ang="0">
                  <a:pos x="T0" y="T1"/>
                </a:cxn>
                <a:cxn ang="0">
                  <a:pos x="T2" y="T3"/>
                </a:cxn>
                <a:cxn ang="0">
                  <a:pos x="T4" y="T5"/>
                </a:cxn>
                <a:cxn ang="0">
                  <a:pos x="T6" y="T7"/>
                </a:cxn>
                <a:cxn ang="0">
                  <a:pos x="T8" y="T9"/>
                </a:cxn>
              </a:cxnLst>
              <a:rect l="0" t="0" r="r" b="b"/>
              <a:pathLst>
                <a:path w="118" h="7">
                  <a:moveTo>
                    <a:pt x="80" y="7"/>
                  </a:moveTo>
                  <a:lnTo>
                    <a:pt x="80" y="7"/>
                  </a:lnTo>
                  <a:cubicBezTo>
                    <a:pt x="118" y="5"/>
                    <a:pt x="19" y="3"/>
                    <a:pt x="85" y="1"/>
                  </a:cubicBezTo>
                  <a:cubicBezTo>
                    <a:pt x="0" y="0"/>
                    <a:pt x="92" y="4"/>
                    <a:pt x="29" y="4"/>
                  </a:cubicBezTo>
                  <a:cubicBezTo>
                    <a:pt x="66" y="4"/>
                    <a:pt x="84" y="6"/>
                    <a:pt x="80"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2" name="Freeform 90"/>
            <p:cNvSpPr>
              <a:spLocks/>
            </p:cNvSpPr>
            <p:nvPr/>
          </p:nvSpPr>
          <p:spPr bwMode="invGray">
            <a:xfrm>
              <a:off x="6661150" y="2814638"/>
              <a:ext cx="34925" cy="1587"/>
            </a:xfrm>
            <a:custGeom>
              <a:avLst/>
              <a:gdLst>
                <a:gd name="T0" fmla="*/ 18 w 18"/>
                <a:gd name="T1" fmla="*/ 1 h 1"/>
                <a:gd name="T2" fmla="*/ 18 w 18"/>
                <a:gd name="T3" fmla="*/ 1 h 1"/>
                <a:gd name="T4" fmla="*/ 0 w 18"/>
                <a:gd name="T5" fmla="*/ 0 h 1"/>
                <a:gd name="T6" fmla="*/ 18 w 18"/>
                <a:gd name="T7" fmla="*/ 1 h 1"/>
              </a:gdLst>
              <a:ahLst/>
              <a:cxnLst>
                <a:cxn ang="0">
                  <a:pos x="T0" y="T1"/>
                </a:cxn>
                <a:cxn ang="0">
                  <a:pos x="T2" y="T3"/>
                </a:cxn>
                <a:cxn ang="0">
                  <a:pos x="T4" y="T5"/>
                </a:cxn>
                <a:cxn ang="0">
                  <a:pos x="T6" y="T7"/>
                </a:cxn>
              </a:cxnLst>
              <a:rect l="0" t="0" r="r" b="b"/>
              <a:pathLst>
                <a:path w="18" h="1">
                  <a:moveTo>
                    <a:pt x="18" y="1"/>
                  </a:moveTo>
                  <a:lnTo>
                    <a:pt x="18" y="1"/>
                  </a:lnTo>
                  <a:lnTo>
                    <a:pt x="0" y="0"/>
                  </a:lnTo>
                  <a:lnTo>
                    <a:pt x="18"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3" name="Freeform 91"/>
            <p:cNvSpPr>
              <a:spLocks/>
            </p:cNvSpPr>
            <p:nvPr/>
          </p:nvSpPr>
          <p:spPr bwMode="invGray">
            <a:xfrm>
              <a:off x="5661025" y="2789238"/>
              <a:ext cx="23813" cy="1587"/>
            </a:xfrm>
            <a:custGeom>
              <a:avLst/>
              <a:gdLst>
                <a:gd name="T0" fmla="*/ 0 w 13"/>
                <a:gd name="T1" fmla="*/ 1 h 1"/>
                <a:gd name="T2" fmla="*/ 0 w 13"/>
                <a:gd name="T3" fmla="*/ 1 h 1"/>
                <a:gd name="T4" fmla="*/ 13 w 13"/>
                <a:gd name="T5" fmla="*/ 0 h 1"/>
                <a:gd name="T6" fmla="*/ 0 w 13"/>
                <a:gd name="T7" fmla="*/ 1 h 1"/>
              </a:gdLst>
              <a:ahLst/>
              <a:cxnLst>
                <a:cxn ang="0">
                  <a:pos x="T0" y="T1"/>
                </a:cxn>
                <a:cxn ang="0">
                  <a:pos x="T2" y="T3"/>
                </a:cxn>
                <a:cxn ang="0">
                  <a:pos x="T4" y="T5"/>
                </a:cxn>
                <a:cxn ang="0">
                  <a:pos x="T6" y="T7"/>
                </a:cxn>
              </a:cxnLst>
              <a:rect l="0" t="0" r="r" b="b"/>
              <a:pathLst>
                <a:path w="13" h="1">
                  <a:moveTo>
                    <a:pt x="0" y="1"/>
                  </a:moveTo>
                  <a:lnTo>
                    <a:pt x="0" y="1"/>
                  </a:lnTo>
                  <a:lnTo>
                    <a:pt x="13"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4" name="Freeform 92"/>
            <p:cNvSpPr>
              <a:spLocks/>
            </p:cNvSpPr>
            <p:nvPr/>
          </p:nvSpPr>
          <p:spPr bwMode="invGray">
            <a:xfrm>
              <a:off x="6162675" y="2814638"/>
              <a:ext cx="258763" cy="7937"/>
            </a:xfrm>
            <a:custGeom>
              <a:avLst/>
              <a:gdLst>
                <a:gd name="T0" fmla="*/ 77 w 135"/>
                <a:gd name="T1" fmla="*/ 2 h 4"/>
                <a:gd name="T2" fmla="*/ 77 w 135"/>
                <a:gd name="T3" fmla="*/ 2 h 4"/>
                <a:gd name="T4" fmla="*/ 135 w 135"/>
                <a:gd name="T5" fmla="*/ 0 h 4"/>
                <a:gd name="T6" fmla="*/ 6 w 135"/>
                <a:gd name="T7" fmla="*/ 4 h 4"/>
                <a:gd name="T8" fmla="*/ 90 w 135"/>
                <a:gd name="T9" fmla="*/ 3 h 4"/>
                <a:gd name="T10" fmla="*/ 77 w 135"/>
                <a:gd name="T11" fmla="*/ 2 h 4"/>
              </a:gdLst>
              <a:ahLst/>
              <a:cxnLst>
                <a:cxn ang="0">
                  <a:pos x="T0" y="T1"/>
                </a:cxn>
                <a:cxn ang="0">
                  <a:pos x="T2" y="T3"/>
                </a:cxn>
                <a:cxn ang="0">
                  <a:pos x="T4" y="T5"/>
                </a:cxn>
                <a:cxn ang="0">
                  <a:pos x="T6" y="T7"/>
                </a:cxn>
                <a:cxn ang="0">
                  <a:pos x="T8" y="T9"/>
                </a:cxn>
                <a:cxn ang="0">
                  <a:pos x="T10" y="T11"/>
                </a:cxn>
              </a:cxnLst>
              <a:rect l="0" t="0" r="r" b="b"/>
              <a:pathLst>
                <a:path w="135" h="4">
                  <a:moveTo>
                    <a:pt x="77" y="2"/>
                  </a:moveTo>
                  <a:lnTo>
                    <a:pt x="77" y="2"/>
                  </a:lnTo>
                  <a:lnTo>
                    <a:pt x="135" y="0"/>
                  </a:lnTo>
                  <a:cubicBezTo>
                    <a:pt x="96" y="1"/>
                    <a:pt x="0" y="1"/>
                    <a:pt x="6" y="4"/>
                  </a:cubicBezTo>
                  <a:cubicBezTo>
                    <a:pt x="37" y="4"/>
                    <a:pt x="75" y="4"/>
                    <a:pt x="90" y="3"/>
                  </a:cubicBezTo>
                  <a:lnTo>
                    <a:pt x="77"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5" name="Freeform 93"/>
            <p:cNvSpPr>
              <a:spLocks/>
            </p:cNvSpPr>
            <p:nvPr/>
          </p:nvSpPr>
          <p:spPr bwMode="invGray">
            <a:xfrm>
              <a:off x="5019675" y="2713038"/>
              <a:ext cx="73025" cy="4762"/>
            </a:xfrm>
            <a:custGeom>
              <a:avLst/>
              <a:gdLst>
                <a:gd name="T0" fmla="*/ 13 w 38"/>
                <a:gd name="T1" fmla="*/ 1 h 2"/>
                <a:gd name="T2" fmla="*/ 13 w 38"/>
                <a:gd name="T3" fmla="*/ 1 h 2"/>
                <a:gd name="T4" fmla="*/ 38 w 38"/>
                <a:gd name="T5" fmla="*/ 0 h 2"/>
                <a:gd name="T6" fmla="*/ 7 w 38"/>
                <a:gd name="T7" fmla="*/ 0 h 2"/>
                <a:gd name="T8" fmla="*/ 13 w 38"/>
                <a:gd name="T9" fmla="*/ 1 h 2"/>
              </a:gdLst>
              <a:ahLst/>
              <a:cxnLst>
                <a:cxn ang="0">
                  <a:pos x="T0" y="T1"/>
                </a:cxn>
                <a:cxn ang="0">
                  <a:pos x="T2" y="T3"/>
                </a:cxn>
                <a:cxn ang="0">
                  <a:pos x="T4" y="T5"/>
                </a:cxn>
                <a:cxn ang="0">
                  <a:pos x="T6" y="T7"/>
                </a:cxn>
                <a:cxn ang="0">
                  <a:pos x="T8" y="T9"/>
                </a:cxn>
              </a:cxnLst>
              <a:rect l="0" t="0" r="r" b="b"/>
              <a:pathLst>
                <a:path w="38" h="2">
                  <a:moveTo>
                    <a:pt x="13" y="1"/>
                  </a:moveTo>
                  <a:lnTo>
                    <a:pt x="13" y="1"/>
                  </a:lnTo>
                  <a:lnTo>
                    <a:pt x="38" y="0"/>
                  </a:lnTo>
                  <a:lnTo>
                    <a:pt x="7" y="0"/>
                  </a:lnTo>
                  <a:cubicBezTo>
                    <a:pt x="16" y="0"/>
                    <a:pt x="0" y="2"/>
                    <a:pt x="1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6" name="Freeform 94"/>
            <p:cNvSpPr>
              <a:spLocks/>
            </p:cNvSpPr>
            <p:nvPr/>
          </p:nvSpPr>
          <p:spPr bwMode="invGray">
            <a:xfrm>
              <a:off x="5021263" y="2713038"/>
              <a:ext cx="11113" cy="0"/>
            </a:xfrm>
            <a:custGeom>
              <a:avLst/>
              <a:gdLst>
                <a:gd name="T0" fmla="*/ 0 w 6"/>
                <a:gd name="T1" fmla="*/ 0 w 6"/>
                <a:gd name="T2" fmla="*/ 6 w 6"/>
                <a:gd name="T3" fmla="*/ 0 w 6"/>
              </a:gdLst>
              <a:ahLst/>
              <a:cxnLst>
                <a:cxn ang="0">
                  <a:pos x="T0" y="0"/>
                </a:cxn>
                <a:cxn ang="0">
                  <a:pos x="T1" y="0"/>
                </a:cxn>
                <a:cxn ang="0">
                  <a:pos x="T2" y="0"/>
                </a:cxn>
                <a:cxn ang="0">
                  <a:pos x="T3" y="0"/>
                </a:cxn>
              </a:cxnLst>
              <a:rect l="0" t="0" r="r" b="b"/>
              <a:pathLst>
                <a:path w="6">
                  <a:moveTo>
                    <a:pt x="0" y="0"/>
                  </a:moveTo>
                  <a:lnTo>
                    <a:pt x="0" y="0"/>
                  </a:ln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7" name="Freeform 95"/>
            <p:cNvSpPr>
              <a:spLocks/>
            </p:cNvSpPr>
            <p:nvPr/>
          </p:nvSpPr>
          <p:spPr bwMode="invGray">
            <a:xfrm>
              <a:off x="5864225" y="2784475"/>
              <a:ext cx="101600" cy="4762"/>
            </a:xfrm>
            <a:custGeom>
              <a:avLst/>
              <a:gdLst>
                <a:gd name="T0" fmla="*/ 3 w 53"/>
                <a:gd name="T1" fmla="*/ 2 h 2"/>
                <a:gd name="T2" fmla="*/ 3 w 53"/>
                <a:gd name="T3" fmla="*/ 2 h 2"/>
                <a:gd name="T4" fmla="*/ 53 w 53"/>
                <a:gd name="T5" fmla="*/ 1 h 2"/>
                <a:gd name="T6" fmla="*/ 3 w 53"/>
                <a:gd name="T7" fmla="*/ 2 h 2"/>
              </a:gdLst>
              <a:ahLst/>
              <a:cxnLst>
                <a:cxn ang="0">
                  <a:pos x="T0" y="T1"/>
                </a:cxn>
                <a:cxn ang="0">
                  <a:pos x="T2" y="T3"/>
                </a:cxn>
                <a:cxn ang="0">
                  <a:pos x="T4" y="T5"/>
                </a:cxn>
                <a:cxn ang="0">
                  <a:pos x="T6" y="T7"/>
                </a:cxn>
              </a:cxnLst>
              <a:rect l="0" t="0" r="r" b="b"/>
              <a:pathLst>
                <a:path w="53" h="2">
                  <a:moveTo>
                    <a:pt x="3" y="2"/>
                  </a:moveTo>
                  <a:lnTo>
                    <a:pt x="3" y="2"/>
                  </a:lnTo>
                  <a:cubicBezTo>
                    <a:pt x="21" y="2"/>
                    <a:pt x="36" y="2"/>
                    <a:pt x="53" y="1"/>
                  </a:cubicBezTo>
                  <a:cubicBezTo>
                    <a:pt x="46" y="1"/>
                    <a:pt x="0" y="0"/>
                    <a:pt x="3"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8" name="Freeform 96"/>
            <p:cNvSpPr>
              <a:spLocks/>
            </p:cNvSpPr>
            <p:nvPr/>
          </p:nvSpPr>
          <p:spPr bwMode="invGray">
            <a:xfrm>
              <a:off x="4703763" y="2722563"/>
              <a:ext cx="84138" cy="1587"/>
            </a:xfrm>
            <a:custGeom>
              <a:avLst/>
              <a:gdLst>
                <a:gd name="T0" fmla="*/ 3 w 44"/>
                <a:gd name="T1" fmla="*/ 1 h 1"/>
                <a:gd name="T2" fmla="*/ 3 w 44"/>
                <a:gd name="T3" fmla="*/ 1 h 1"/>
                <a:gd name="T4" fmla="*/ 44 w 44"/>
                <a:gd name="T5" fmla="*/ 0 h 1"/>
                <a:gd name="T6" fmla="*/ 0 w 44"/>
                <a:gd name="T7" fmla="*/ 0 h 1"/>
                <a:gd name="T8" fmla="*/ 3 w 44"/>
                <a:gd name="T9" fmla="*/ 1 h 1"/>
              </a:gdLst>
              <a:ahLst/>
              <a:cxnLst>
                <a:cxn ang="0">
                  <a:pos x="T0" y="T1"/>
                </a:cxn>
                <a:cxn ang="0">
                  <a:pos x="T2" y="T3"/>
                </a:cxn>
                <a:cxn ang="0">
                  <a:pos x="T4" y="T5"/>
                </a:cxn>
                <a:cxn ang="0">
                  <a:pos x="T6" y="T7"/>
                </a:cxn>
                <a:cxn ang="0">
                  <a:pos x="T8" y="T9"/>
                </a:cxn>
              </a:cxnLst>
              <a:rect l="0" t="0" r="r" b="b"/>
              <a:pathLst>
                <a:path w="44" h="1">
                  <a:moveTo>
                    <a:pt x="3" y="1"/>
                  </a:moveTo>
                  <a:lnTo>
                    <a:pt x="3" y="1"/>
                  </a:lnTo>
                  <a:lnTo>
                    <a:pt x="44" y="0"/>
                  </a:lnTo>
                  <a:lnTo>
                    <a:pt x="0" y="0"/>
                  </a:lnTo>
                  <a:lnTo>
                    <a:pt x="3"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9" name="Freeform 97"/>
            <p:cNvSpPr>
              <a:spLocks/>
            </p:cNvSpPr>
            <p:nvPr/>
          </p:nvSpPr>
          <p:spPr bwMode="invGray">
            <a:xfrm>
              <a:off x="4264025" y="2713038"/>
              <a:ext cx="77788" cy="4762"/>
            </a:xfrm>
            <a:custGeom>
              <a:avLst/>
              <a:gdLst>
                <a:gd name="T0" fmla="*/ 41 w 41"/>
                <a:gd name="T1" fmla="*/ 1 h 2"/>
                <a:gd name="T2" fmla="*/ 41 w 41"/>
                <a:gd name="T3" fmla="*/ 1 h 2"/>
                <a:gd name="T4" fmla="*/ 34 w 41"/>
                <a:gd name="T5" fmla="*/ 0 h 2"/>
                <a:gd name="T6" fmla="*/ 0 w 41"/>
                <a:gd name="T7" fmla="*/ 1 h 2"/>
                <a:gd name="T8" fmla="*/ 7 w 41"/>
                <a:gd name="T9" fmla="*/ 2 h 2"/>
                <a:gd name="T10" fmla="*/ 41 w 41"/>
                <a:gd name="T11" fmla="*/ 1 h 2"/>
              </a:gdLst>
              <a:ahLst/>
              <a:cxnLst>
                <a:cxn ang="0">
                  <a:pos x="T0" y="T1"/>
                </a:cxn>
                <a:cxn ang="0">
                  <a:pos x="T2" y="T3"/>
                </a:cxn>
                <a:cxn ang="0">
                  <a:pos x="T4" y="T5"/>
                </a:cxn>
                <a:cxn ang="0">
                  <a:pos x="T6" y="T7"/>
                </a:cxn>
                <a:cxn ang="0">
                  <a:pos x="T8" y="T9"/>
                </a:cxn>
                <a:cxn ang="0">
                  <a:pos x="T10" y="T11"/>
                </a:cxn>
              </a:cxnLst>
              <a:rect l="0" t="0" r="r" b="b"/>
              <a:pathLst>
                <a:path w="41" h="2">
                  <a:moveTo>
                    <a:pt x="41" y="1"/>
                  </a:moveTo>
                  <a:lnTo>
                    <a:pt x="41" y="1"/>
                  </a:lnTo>
                  <a:lnTo>
                    <a:pt x="34" y="0"/>
                  </a:lnTo>
                  <a:lnTo>
                    <a:pt x="0" y="1"/>
                  </a:lnTo>
                  <a:lnTo>
                    <a:pt x="7" y="2"/>
                  </a:lnTo>
                  <a:lnTo>
                    <a:pt x="4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0" name="Freeform 98"/>
            <p:cNvSpPr>
              <a:spLocks/>
            </p:cNvSpPr>
            <p:nvPr/>
          </p:nvSpPr>
          <p:spPr bwMode="invGray">
            <a:xfrm>
              <a:off x="4800600" y="2822575"/>
              <a:ext cx="117475" cy="7937"/>
            </a:xfrm>
            <a:custGeom>
              <a:avLst/>
              <a:gdLst>
                <a:gd name="T0" fmla="*/ 11 w 61"/>
                <a:gd name="T1" fmla="*/ 2 h 3"/>
                <a:gd name="T2" fmla="*/ 11 w 61"/>
                <a:gd name="T3" fmla="*/ 2 h 3"/>
                <a:gd name="T4" fmla="*/ 54 w 61"/>
                <a:gd name="T5" fmla="*/ 0 h 3"/>
                <a:gd name="T6" fmla="*/ 0 w 61"/>
                <a:gd name="T7" fmla="*/ 0 h 3"/>
                <a:gd name="T8" fmla="*/ 46 w 61"/>
                <a:gd name="T9" fmla="*/ 0 h 3"/>
                <a:gd name="T10" fmla="*/ 11 w 61"/>
                <a:gd name="T11" fmla="*/ 2 h 3"/>
              </a:gdLst>
              <a:ahLst/>
              <a:cxnLst>
                <a:cxn ang="0">
                  <a:pos x="T0" y="T1"/>
                </a:cxn>
                <a:cxn ang="0">
                  <a:pos x="T2" y="T3"/>
                </a:cxn>
                <a:cxn ang="0">
                  <a:pos x="T4" y="T5"/>
                </a:cxn>
                <a:cxn ang="0">
                  <a:pos x="T6" y="T7"/>
                </a:cxn>
                <a:cxn ang="0">
                  <a:pos x="T8" y="T9"/>
                </a:cxn>
                <a:cxn ang="0">
                  <a:pos x="T10" y="T11"/>
                </a:cxn>
              </a:cxnLst>
              <a:rect l="0" t="0" r="r" b="b"/>
              <a:pathLst>
                <a:path w="61" h="3">
                  <a:moveTo>
                    <a:pt x="11" y="2"/>
                  </a:moveTo>
                  <a:lnTo>
                    <a:pt x="11" y="2"/>
                  </a:lnTo>
                  <a:cubicBezTo>
                    <a:pt x="39" y="3"/>
                    <a:pt x="61" y="0"/>
                    <a:pt x="54" y="0"/>
                  </a:cubicBezTo>
                  <a:lnTo>
                    <a:pt x="0" y="0"/>
                  </a:lnTo>
                  <a:cubicBezTo>
                    <a:pt x="13" y="2"/>
                    <a:pt x="15" y="0"/>
                    <a:pt x="46" y="0"/>
                  </a:cubicBezTo>
                  <a:lnTo>
                    <a:pt x="11"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1" name="Freeform 99"/>
            <p:cNvSpPr>
              <a:spLocks/>
            </p:cNvSpPr>
            <p:nvPr/>
          </p:nvSpPr>
          <p:spPr bwMode="invGray">
            <a:xfrm>
              <a:off x="187325" y="2714625"/>
              <a:ext cx="1925638" cy="31750"/>
            </a:xfrm>
            <a:custGeom>
              <a:avLst/>
              <a:gdLst>
                <a:gd name="T0" fmla="*/ 746 w 1004"/>
                <a:gd name="T1" fmla="*/ 6 h 14"/>
                <a:gd name="T2" fmla="*/ 746 w 1004"/>
                <a:gd name="T3" fmla="*/ 6 h 14"/>
                <a:gd name="T4" fmla="*/ 820 w 1004"/>
                <a:gd name="T5" fmla="*/ 7 h 14"/>
                <a:gd name="T6" fmla="*/ 800 w 1004"/>
                <a:gd name="T7" fmla="*/ 8 h 14"/>
                <a:gd name="T8" fmla="*/ 847 w 1004"/>
                <a:gd name="T9" fmla="*/ 5 h 14"/>
                <a:gd name="T10" fmla="*/ 769 w 1004"/>
                <a:gd name="T11" fmla="*/ 11 h 14"/>
                <a:gd name="T12" fmla="*/ 918 w 1004"/>
                <a:gd name="T13" fmla="*/ 9 h 14"/>
                <a:gd name="T14" fmla="*/ 876 w 1004"/>
                <a:gd name="T15" fmla="*/ 7 h 14"/>
                <a:gd name="T16" fmla="*/ 981 w 1004"/>
                <a:gd name="T17" fmla="*/ 5 h 14"/>
                <a:gd name="T18" fmla="*/ 989 w 1004"/>
                <a:gd name="T19" fmla="*/ 2 h 14"/>
                <a:gd name="T20" fmla="*/ 997 w 1004"/>
                <a:gd name="T21" fmla="*/ 2 h 14"/>
                <a:gd name="T22" fmla="*/ 1004 w 1004"/>
                <a:gd name="T23" fmla="*/ 2 h 14"/>
                <a:gd name="T24" fmla="*/ 999 w 1004"/>
                <a:gd name="T25" fmla="*/ 2 h 14"/>
                <a:gd name="T26" fmla="*/ 994 w 1004"/>
                <a:gd name="T27" fmla="*/ 1 h 14"/>
                <a:gd name="T28" fmla="*/ 904 w 1004"/>
                <a:gd name="T29" fmla="*/ 0 h 14"/>
                <a:gd name="T30" fmla="*/ 791 w 1004"/>
                <a:gd name="T31" fmla="*/ 2 h 14"/>
                <a:gd name="T32" fmla="*/ 756 w 1004"/>
                <a:gd name="T33" fmla="*/ 2 h 14"/>
                <a:gd name="T34" fmla="*/ 743 w 1004"/>
                <a:gd name="T35" fmla="*/ 2 h 14"/>
                <a:gd name="T36" fmla="*/ 764 w 1004"/>
                <a:gd name="T37" fmla="*/ 1 h 14"/>
                <a:gd name="T38" fmla="*/ 697 w 1004"/>
                <a:gd name="T39" fmla="*/ 2 h 14"/>
                <a:gd name="T40" fmla="*/ 570 w 1004"/>
                <a:gd name="T41" fmla="*/ 3 h 14"/>
                <a:gd name="T42" fmla="*/ 559 w 1004"/>
                <a:gd name="T43" fmla="*/ 2 h 14"/>
                <a:gd name="T44" fmla="*/ 554 w 1004"/>
                <a:gd name="T45" fmla="*/ 3 h 14"/>
                <a:gd name="T46" fmla="*/ 0 w 1004"/>
                <a:gd name="T47" fmla="*/ 4 h 14"/>
                <a:gd name="T48" fmla="*/ 79 w 1004"/>
                <a:gd name="T49" fmla="*/ 5 h 14"/>
                <a:gd name="T50" fmla="*/ 113 w 1004"/>
                <a:gd name="T51" fmla="*/ 8 h 14"/>
                <a:gd name="T52" fmla="*/ 49 w 1004"/>
                <a:gd name="T53" fmla="*/ 8 h 14"/>
                <a:gd name="T54" fmla="*/ 64 w 1004"/>
                <a:gd name="T55" fmla="*/ 12 h 14"/>
                <a:gd name="T56" fmla="*/ 213 w 1004"/>
                <a:gd name="T57" fmla="*/ 8 h 14"/>
                <a:gd name="T58" fmla="*/ 234 w 1004"/>
                <a:gd name="T59" fmla="*/ 11 h 14"/>
                <a:gd name="T60" fmla="*/ 223 w 1004"/>
                <a:gd name="T61" fmla="*/ 11 h 14"/>
                <a:gd name="T62" fmla="*/ 324 w 1004"/>
                <a:gd name="T63" fmla="*/ 10 h 14"/>
                <a:gd name="T64" fmla="*/ 322 w 1004"/>
                <a:gd name="T65" fmla="*/ 12 h 14"/>
                <a:gd name="T66" fmla="*/ 454 w 1004"/>
                <a:gd name="T67" fmla="*/ 10 h 14"/>
                <a:gd name="T68" fmla="*/ 452 w 1004"/>
                <a:gd name="T69" fmla="*/ 11 h 14"/>
                <a:gd name="T70" fmla="*/ 620 w 1004"/>
                <a:gd name="T71" fmla="*/ 9 h 14"/>
                <a:gd name="T72" fmla="*/ 568 w 1004"/>
                <a:gd name="T73" fmla="*/ 11 h 14"/>
                <a:gd name="T74" fmla="*/ 643 w 1004"/>
                <a:gd name="T75" fmla="*/ 10 h 14"/>
                <a:gd name="T76" fmla="*/ 622 w 1004"/>
                <a:gd name="T77" fmla="*/ 12 h 14"/>
                <a:gd name="T78" fmla="*/ 758 w 1004"/>
                <a:gd name="T79" fmla="*/ 8 h 14"/>
                <a:gd name="T80" fmla="*/ 746 w 1004"/>
                <a:gd name="T81" fmla="*/ 6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04" h="14">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2" name="Freeform 100"/>
            <p:cNvSpPr>
              <a:spLocks/>
            </p:cNvSpPr>
            <p:nvPr/>
          </p:nvSpPr>
          <p:spPr bwMode="invGray">
            <a:xfrm>
              <a:off x="1947862" y="2735263"/>
              <a:ext cx="47625" cy="0"/>
            </a:xfrm>
            <a:custGeom>
              <a:avLst/>
              <a:gdLst>
                <a:gd name="T0" fmla="*/ 0 w 25"/>
                <a:gd name="T1" fmla="*/ 0 w 25"/>
                <a:gd name="T2" fmla="*/ 25 w 25"/>
                <a:gd name="T3" fmla="*/ 0 w 25"/>
              </a:gdLst>
              <a:ahLst/>
              <a:cxnLst>
                <a:cxn ang="0">
                  <a:pos x="T0" y="0"/>
                </a:cxn>
                <a:cxn ang="0">
                  <a:pos x="T1" y="0"/>
                </a:cxn>
                <a:cxn ang="0">
                  <a:pos x="T2" y="0"/>
                </a:cxn>
                <a:cxn ang="0">
                  <a:pos x="T3" y="0"/>
                </a:cxn>
              </a:cxnLst>
              <a:rect l="0" t="0" r="r" b="b"/>
              <a:pathLst>
                <a:path w="25">
                  <a:moveTo>
                    <a:pt x="0" y="0"/>
                  </a:moveTo>
                  <a:lnTo>
                    <a:pt x="0" y="0"/>
                  </a:lnTo>
                  <a:lnTo>
                    <a:pt x="2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3" name="Freeform 101"/>
            <p:cNvSpPr>
              <a:spLocks/>
            </p:cNvSpPr>
            <p:nvPr/>
          </p:nvSpPr>
          <p:spPr bwMode="invGray">
            <a:xfrm>
              <a:off x="112712" y="2724150"/>
              <a:ext cx="74613" cy="0"/>
            </a:xfrm>
            <a:custGeom>
              <a:avLst/>
              <a:gdLst>
                <a:gd name="T0" fmla="*/ 0 w 39"/>
                <a:gd name="T1" fmla="*/ 0 w 39"/>
                <a:gd name="T2" fmla="*/ 39 w 39"/>
                <a:gd name="T3" fmla="*/ 0 w 39"/>
              </a:gdLst>
              <a:ahLst/>
              <a:cxnLst>
                <a:cxn ang="0">
                  <a:pos x="T0" y="0"/>
                </a:cxn>
                <a:cxn ang="0">
                  <a:pos x="T1" y="0"/>
                </a:cxn>
                <a:cxn ang="0">
                  <a:pos x="T2" y="0"/>
                </a:cxn>
                <a:cxn ang="0">
                  <a:pos x="T3" y="0"/>
                </a:cxn>
              </a:cxnLst>
              <a:rect l="0" t="0" r="r" b="b"/>
              <a:pathLst>
                <a:path w="39">
                  <a:moveTo>
                    <a:pt x="0" y="0"/>
                  </a:moveTo>
                  <a:lnTo>
                    <a:pt x="0" y="0"/>
                  </a:lnTo>
                  <a:lnTo>
                    <a:pt x="39" y="0"/>
                  </a:lnTo>
                  <a:cubicBezTo>
                    <a:pt x="27" y="0"/>
                    <a:pt x="14"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4" name="Freeform 102"/>
            <p:cNvSpPr>
              <a:spLocks/>
            </p:cNvSpPr>
            <p:nvPr/>
          </p:nvSpPr>
          <p:spPr bwMode="invGray">
            <a:xfrm>
              <a:off x="2187575" y="2717800"/>
              <a:ext cx="176213" cy="6350"/>
            </a:xfrm>
            <a:custGeom>
              <a:avLst/>
              <a:gdLst>
                <a:gd name="T0" fmla="*/ 71 w 92"/>
                <a:gd name="T1" fmla="*/ 3 h 3"/>
                <a:gd name="T2" fmla="*/ 71 w 92"/>
                <a:gd name="T3" fmla="*/ 3 h 3"/>
                <a:gd name="T4" fmla="*/ 92 w 92"/>
                <a:gd name="T5" fmla="*/ 0 h 3"/>
                <a:gd name="T6" fmla="*/ 8 w 92"/>
                <a:gd name="T7" fmla="*/ 1 h 3"/>
                <a:gd name="T8" fmla="*/ 2 w 92"/>
                <a:gd name="T9" fmla="*/ 3 h 3"/>
                <a:gd name="T10" fmla="*/ 71 w 92"/>
                <a:gd name="T11" fmla="*/ 3 h 3"/>
              </a:gdLst>
              <a:ahLst/>
              <a:cxnLst>
                <a:cxn ang="0">
                  <a:pos x="T0" y="T1"/>
                </a:cxn>
                <a:cxn ang="0">
                  <a:pos x="T2" y="T3"/>
                </a:cxn>
                <a:cxn ang="0">
                  <a:pos x="T4" y="T5"/>
                </a:cxn>
                <a:cxn ang="0">
                  <a:pos x="T6" y="T7"/>
                </a:cxn>
                <a:cxn ang="0">
                  <a:pos x="T8" y="T9"/>
                </a:cxn>
                <a:cxn ang="0">
                  <a:pos x="T10" y="T11"/>
                </a:cxn>
              </a:cxnLst>
              <a:rect l="0" t="0" r="r" b="b"/>
              <a:pathLst>
                <a:path w="92" h="3">
                  <a:moveTo>
                    <a:pt x="71" y="3"/>
                  </a:moveTo>
                  <a:lnTo>
                    <a:pt x="71" y="3"/>
                  </a:lnTo>
                  <a:cubicBezTo>
                    <a:pt x="47" y="2"/>
                    <a:pt x="88" y="1"/>
                    <a:pt x="92" y="0"/>
                  </a:cubicBezTo>
                  <a:lnTo>
                    <a:pt x="8" y="1"/>
                  </a:lnTo>
                  <a:cubicBezTo>
                    <a:pt x="8" y="1"/>
                    <a:pt x="0" y="2"/>
                    <a:pt x="2" y="3"/>
                  </a:cubicBezTo>
                  <a:lnTo>
                    <a:pt x="71"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5" name="Freeform 103"/>
            <p:cNvSpPr>
              <a:spLocks/>
            </p:cNvSpPr>
            <p:nvPr/>
          </p:nvSpPr>
          <p:spPr bwMode="invGray">
            <a:xfrm>
              <a:off x="2112962" y="2714625"/>
              <a:ext cx="90488" cy="4762"/>
            </a:xfrm>
            <a:custGeom>
              <a:avLst/>
              <a:gdLst>
                <a:gd name="T0" fmla="*/ 22 w 47"/>
                <a:gd name="T1" fmla="*/ 0 h 2"/>
                <a:gd name="T2" fmla="*/ 22 w 47"/>
                <a:gd name="T3" fmla="*/ 0 h 2"/>
                <a:gd name="T4" fmla="*/ 0 w 47"/>
                <a:gd name="T5" fmla="*/ 2 h 2"/>
                <a:gd name="T6" fmla="*/ 47 w 47"/>
                <a:gd name="T7" fmla="*/ 2 h 2"/>
                <a:gd name="T8" fmla="*/ 22 w 47"/>
                <a:gd name="T9" fmla="*/ 0 h 2"/>
              </a:gdLst>
              <a:ahLst/>
              <a:cxnLst>
                <a:cxn ang="0">
                  <a:pos x="T0" y="T1"/>
                </a:cxn>
                <a:cxn ang="0">
                  <a:pos x="T2" y="T3"/>
                </a:cxn>
                <a:cxn ang="0">
                  <a:pos x="T4" y="T5"/>
                </a:cxn>
                <a:cxn ang="0">
                  <a:pos x="T6" y="T7"/>
                </a:cxn>
                <a:cxn ang="0">
                  <a:pos x="T8" y="T9"/>
                </a:cxn>
              </a:cxnLst>
              <a:rect l="0" t="0" r="r" b="b"/>
              <a:pathLst>
                <a:path w="47" h="2">
                  <a:moveTo>
                    <a:pt x="22" y="0"/>
                  </a:moveTo>
                  <a:lnTo>
                    <a:pt x="22" y="0"/>
                  </a:lnTo>
                  <a:cubicBezTo>
                    <a:pt x="19" y="1"/>
                    <a:pt x="11" y="1"/>
                    <a:pt x="0" y="2"/>
                  </a:cubicBezTo>
                  <a:lnTo>
                    <a:pt x="47" y="2"/>
                  </a:lnTo>
                  <a:cubicBezTo>
                    <a:pt x="47" y="1"/>
                    <a:pt x="41" y="0"/>
                    <a:pt x="2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6" name="Freeform 104"/>
            <p:cNvSpPr>
              <a:spLocks/>
            </p:cNvSpPr>
            <p:nvPr/>
          </p:nvSpPr>
          <p:spPr bwMode="invGray">
            <a:xfrm>
              <a:off x="2101850" y="2811463"/>
              <a:ext cx="71438" cy="3175"/>
            </a:xfrm>
            <a:custGeom>
              <a:avLst/>
              <a:gdLst>
                <a:gd name="T0" fmla="*/ 37 w 37"/>
                <a:gd name="T1" fmla="*/ 0 h 1"/>
                <a:gd name="T2" fmla="*/ 37 w 37"/>
                <a:gd name="T3" fmla="*/ 0 h 1"/>
                <a:gd name="T4" fmla="*/ 22 w 37"/>
                <a:gd name="T5" fmla="*/ 1 h 1"/>
                <a:gd name="T6" fmla="*/ 0 w 37"/>
                <a:gd name="T7" fmla="*/ 1 h 1"/>
                <a:gd name="T8" fmla="*/ 37 w 37"/>
                <a:gd name="T9" fmla="*/ 0 h 1"/>
              </a:gdLst>
              <a:ahLst/>
              <a:cxnLst>
                <a:cxn ang="0">
                  <a:pos x="T0" y="T1"/>
                </a:cxn>
                <a:cxn ang="0">
                  <a:pos x="T2" y="T3"/>
                </a:cxn>
                <a:cxn ang="0">
                  <a:pos x="T4" y="T5"/>
                </a:cxn>
                <a:cxn ang="0">
                  <a:pos x="T6" y="T7"/>
                </a:cxn>
                <a:cxn ang="0">
                  <a:pos x="T8" y="T9"/>
                </a:cxn>
              </a:cxnLst>
              <a:rect l="0" t="0" r="r" b="b"/>
              <a:pathLst>
                <a:path w="37" h="1">
                  <a:moveTo>
                    <a:pt x="37" y="0"/>
                  </a:moveTo>
                  <a:lnTo>
                    <a:pt x="37" y="0"/>
                  </a:lnTo>
                  <a:lnTo>
                    <a:pt x="22" y="1"/>
                  </a:lnTo>
                  <a:lnTo>
                    <a:pt x="0" y="1"/>
                  </a:lnTo>
                  <a:lnTo>
                    <a:pt x="3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7" name="Freeform 105"/>
            <p:cNvSpPr>
              <a:spLocks/>
            </p:cNvSpPr>
            <p:nvPr/>
          </p:nvSpPr>
          <p:spPr bwMode="invGray">
            <a:xfrm>
              <a:off x="1724025" y="2805113"/>
              <a:ext cx="120650" cy="4762"/>
            </a:xfrm>
            <a:custGeom>
              <a:avLst/>
              <a:gdLst>
                <a:gd name="T0" fmla="*/ 0 w 63"/>
                <a:gd name="T1" fmla="*/ 0 h 2"/>
                <a:gd name="T2" fmla="*/ 0 w 63"/>
                <a:gd name="T3" fmla="*/ 0 h 2"/>
                <a:gd name="T4" fmla="*/ 63 w 63"/>
                <a:gd name="T5" fmla="*/ 0 h 2"/>
                <a:gd name="T6" fmla="*/ 0 w 63"/>
                <a:gd name="T7" fmla="*/ 0 h 2"/>
              </a:gdLst>
              <a:ahLst/>
              <a:cxnLst>
                <a:cxn ang="0">
                  <a:pos x="T0" y="T1"/>
                </a:cxn>
                <a:cxn ang="0">
                  <a:pos x="T2" y="T3"/>
                </a:cxn>
                <a:cxn ang="0">
                  <a:pos x="T4" y="T5"/>
                </a:cxn>
                <a:cxn ang="0">
                  <a:pos x="T6" y="T7"/>
                </a:cxn>
              </a:cxnLst>
              <a:rect l="0" t="0" r="r" b="b"/>
              <a:pathLst>
                <a:path w="63" h="2">
                  <a:moveTo>
                    <a:pt x="0" y="0"/>
                  </a:moveTo>
                  <a:lnTo>
                    <a:pt x="0" y="0"/>
                  </a:lnTo>
                  <a:cubicBezTo>
                    <a:pt x="18" y="2"/>
                    <a:pt x="52" y="1"/>
                    <a:pt x="63" y="0"/>
                  </a:cubicBezTo>
                  <a:cubicBezTo>
                    <a:pt x="24" y="0"/>
                    <a:pt x="41"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8" name="Freeform 106"/>
            <p:cNvSpPr>
              <a:spLocks/>
            </p:cNvSpPr>
            <p:nvPr/>
          </p:nvSpPr>
          <p:spPr bwMode="invGray">
            <a:xfrm>
              <a:off x="1744662" y="2833688"/>
              <a:ext cx="73025" cy="3175"/>
            </a:xfrm>
            <a:custGeom>
              <a:avLst/>
              <a:gdLst>
                <a:gd name="T0" fmla="*/ 38 w 38"/>
                <a:gd name="T1" fmla="*/ 0 h 1"/>
                <a:gd name="T2" fmla="*/ 38 w 38"/>
                <a:gd name="T3" fmla="*/ 0 h 1"/>
                <a:gd name="T4" fmla="*/ 0 w 38"/>
                <a:gd name="T5" fmla="*/ 1 h 1"/>
                <a:gd name="T6" fmla="*/ 3 w 38"/>
                <a:gd name="T7" fmla="*/ 1 h 1"/>
                <a:gd name="T8" fmla="*/ 38 w 38"/>
                <a:gd name="T9" fmla="*/ 0 h 1"/>
              </a:gdLst>
              <a:ahLst/>
              <a:cxnLst>
                <a:cxn ang="0">
                  <a:pos x="T0" y="T1"/>
                </a:cxn>
                <a:cxn ang="0">
                  <a:pos x="T2" y="T3"/>
                </a:cxn>
                <a:cxn ang="0">
                  <a:pos x="T4" y="T5"/>
                </a:cxn>
                <a:cxn ang="0">
                  <a:pos x="T6" y="T7"/>
                </a:cxn>
                <a:cxn ang="0">
                  <a:pos x="T8" y="T9"/>
                </a:cxn>
              </a:cxnLst>
              <a:rect l="0" t="0" r="r" b="b"/>
              <a:pathLst>
                <a:path w="38" h="1">
                  <a:moveTo>
                    <a:pt x="38" y="0"/>
                  </a:moveTo>
                  <a:lnTo>
                    <a:pt x="38" y="0"/>
                  </a:lnTo>
                  <a:lnTo>
                    <a:pt x="0" y="1"/>
                  </a:lnTo>
                  <a:lnTo>
                    <a:pt x="3" y="1"/>
                  </a:lnTo>
                  <a:lnTo>
                    <a:pt x="3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9" name="Freeform 107"/>
            <p:cNvSpPr>
              <a:spLocks/>
            </p:cNvSpPr>
            <p:nvPr/>
          </p:nvSpPr>
          <p:spPr bwMode="invGray">
            <a:xfrm>
              <a:off x="-474663" y="2741613"/>
              <a:ext cx="34925" cy="0"/>
            </a:xfrm>
            <a:custGeom>
              <a:avLst/>
              <a:gdLst>
                <a:gd name="T0" fmla="*/ 18 w 18"/>
                <a:gd name="T1" fmla="*/ 18 w 18"/>
                <a:gd name="T2" fmla="*/ 0 w 18"/>
                <a:gd name="T3" fmla="*/ 18 w 18"/>
              </a:gdLst>
              <a:ahLst/>
              <a:cxnLst>
                <a:cxn ang="0">
                  <a:pos x="T0" y="0"/>
                </a:cxn>
                <a:cxn ang="0">
                  <a:pos x="T1" y="0"/>
                </a:cxn>
                <a:cxn ang="0">
                  <a:pos x="T2" y="0"/>
                </a:cxn>
                <a:cxn ang="0">
                  <a:pos x="T3" y="0"/>
                </a:cxn>
              </a:cxnLst>
              <a:rect l="0" t="0" r="r" b="b"/>
              <a:pathLst>
                <a:path w="18">
                  <a:moveTo>
                    <a:pt x="18" y="0"/>
                  </a:moveTo>
                  <a:lnTo>
                    <a:pt x="18" y="0"/>
                  </a:lnTo>
                  <a:lnTo>
                    <a:pt x="0" y="0"/>
                  </a:lnTo>
                  <a:lnTo>
                    <a:pt x="1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0" name="Freeform 108"/>
            <p:cNvSpPr>
              <a:spLocks/>
            </p:cNvSpPr>
            <p:nvPr/>
          </p:nvSpPr>
          <p:spPr bwMode="invGray">
            <a:xfrm>
              <a:off x="-947738" y="2725738"/>
              <a:ext cx="1239838" cy="19050"/>
            </a:xfrm>
            <a:custGeom>
              <a:avLst/>
              <a:gdLst>
                <a:gd name="T0" fmla="*/ 588 w 647"/>
                <a:gd name="T1" fmla="*/ 5 h 8"/>
                <a:gd name="T2" fmla="*/ 588 w 647"/>
                <a:gd name="T3" fmla="*/ 5 h 8"/>
                <a:gd name="T4" fmla="*/ 619 w 647"/>
                <a:gd name="T5" fmla="*/ 0 h 8"/>
                <a:gd name="T6" fmla="*/ 570 w 647"/>
                <a:gd name="T7" fmla="*/ 1 h 8"/>
                <a:gd name="T8" fmla="*/ 574 w 647"/>
                <a:gd name="T9" fmla="*/ 0 h 8"/>
                <a:gd name="T10" fmla="*/ 515 w 647"/>
                <a:gd name="T11" fmla="*/ 1 h 8"/>
                <a:gd name="T12" fmla="*/ 533 w 647"/>
                <a:gd name="T13" fmla="*/ 3 h 8"/>
                <a:gd name="T14" fmla="*/ 450 w 647"/>
                <a:gd name="T15" fmla="*/ 0 h 8"/>
                <a:gd name="T16" fmla="*/ 361 w 647"/>
                <a:gd name="T17" fmla="*/ 0 h 8"/>
                <a:gd name="T18" fmla="*/ 368 w 647"/>
                <a:gd name="T19" fmla="*/ 0 h 8"/>
                <a:gd name="T20" fmla="*/ 355 w 647"/>
                <a:gd name="T21" fmla="*/ 0 h 8"/>
                <a:gd name="T22" fmla="*/ 55 w 647"/>
                <a:gd name="T23" fmla="*/ 1 h 8"/>
                <a:gd name="T24" fmla="*/ 45 w 647"/>
                <a:gd name="T25" fmla="*/ 6 h 8"/>
                <a:gd name="T26" fmla="*/ 207 w 647"/>
                <a:gd name="T27" fmla="*/ 5 h 8"/>
                <a:gd name="T28" fmla="*/ 214 w 647"/>
                <a:gd name="T29" fmla="*/ 6 h 8"/>
                <a:gd name="T30" fmla="*/ 250 w 647"/>
                <a:gd name="T31" fmla="*/ 4 h 8"/>
                <a:gd name="T32" fmla="*/ 216 w 647"/>
                <a:gd name="T33" fmla="*/ 3 h 8"/>
                <a:gd name="T34" fmla="*/ 393 w 647"/>
                <a:gd name="T35" fmla="*/ 3 h 8"/>
                <a:gd name="T36" fmla="*/ 265 w 647"/>
                <a:gd name="T37" fmla="*/ 5 h 8"/>
                <a:gd name="T38" fmla="*/ 265 w 647"/>
                <a:gd name="T39" fmla="*/ 7 h 8"/>
                <a:gd name="T40" fmla="*/ 588 w 647"/>
                <a:gd name="T41"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47" h="8">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1" name="Freeform 109"/>
            <p:cNvSpPr>
              <a:spLocks/>
            </p:cNvSpPr>
            <p:nvPr/>
          </p:nvSpPr>
          <p:spPr bwMode="invGray">
            <a:xfrm>
              <a:off x="-1944688" y="2741613"/>
              <a:ext cx="4763" cy="0"/>
            </a:xfrm>
            <a:custGeom>
              <a:avLst/>
              <a:gdLst>
                <a:gd name="T0" fmla="*/ 1 w 2"/>
                <a:gd name="T1" fmla="*/ 1 w 2"/>
                <a:gd name="T2" fmla="*/ 2 w 2"/>
                <a:gd name="T3" fmla="*/ 1 w 2"/>
              </a:gdLst>
              <a:ahLst/>
              <a:cxnLst>
                <a:cxn ang="0">
                  <a:pos x="T0" y="0"/>
                </a:cxn>
                <a:cxn ang="0">
                  <a:pos x="T1" y="0"/>
                </a:cxn>
                <a:cxn ang="0">
                  <a:pos x="T2" y="0"/>
                </a:cxn>
                <a:cxn ang="0">
                  <a:pos x="T3" y="0"/>
                </a:cxn>
              </a:cxnLst>
              <a:rect l="0" t="0" r="r" b="b"/>
              <a:pathLst>
                <a:path w="2">
                  <a:moveTo>
                    <a:pt x="1" y="0"/>
                  </a:moveTo>
                  <a:lnTo>
                    <a:pt x="1" y="0"/>
                  </a:lnTo>
                  <a:lnTo>
                    <a:pt x="2" y="0"/>
                  </a:lnTo>
                  <a:cubicBezTo>
                    <a:pt x="0" y="0"/>
                    <a:pt x="0"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2" name="Freeform 110"/>
            <p:cNvSpPr>
              <a:spLocks/>
            </p:cNvSpPr>
            <p:nvPr/>
          </p:nvSpPr>
          <p:spPr bwMode="invGray">
            <a:xfrm>
              <a:off x="-1939925" y="2735263"/>
              <a:ext cx="173038" cy="6350"/>
            </a:xfrm>
            <a:custGeom>
              <a:avLst/>
              <a:gdLst>
                <a:gd name="T0" fmla="*/ 36 w 90"/>
                <a:gd name="T1" fmla="*/ 3 h 3"/>
                <a:gd name="T2" fmla="*/ 36 w 90"/>
                <a:gd name="T3" fmla="*/ 3 h 3"/>
                <a:gd name="T4" fmla="*/ 90 w 90"/>
                <a:gd name="T5" fmla="*/ 0 h 3"/>
                <a:gd name="T6" fmla="*/ 6 w 90"/>
                <a:gd name="T7" fmla="*/ 1 h 3"/>
                <a:gd name="T8" fmla="*/ 0 w 90"/>
                <a:gd name="T9" fmla="*/ 3 h 3"/>
                <a:gd name="T10" fmla="*/ 48 w 90"/>
                <a:gd name="T11" fmla="*/ 2 h 3"/>
                <a:gd name="T12" fmla="*/ 36 w 90"/>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90" h="3">
                  <a:moveTo>
                    <a:pt x="36" y="3"/>
                  </a:moveTo>
                  <a:lnTo>
                    <a:pt x="36" y="3"/>
                  </a:lnTo>
                  <a:lnTo>
                    <a:pt x="90" y="0"/>
                  </a:lnTo>
                  <a:lnTo>
                    <a:pt x="6" y="1"/>
                  </a:lnTo>
                  <a:lnTo>
                    <a:pt x="0" y="3"/>
                  </a:lnTo>
                  <a:cubicBezTo>
                    <a:pt x="8" y="2"/>
                    <a:pt x="37" y="1"/>
                    <a:pt x="48" y="2"/>
                  </a:cubicBezTo>
                  <a:lnTo>
                    <a:pt x="36"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3" name="Freeform 111"/>
            <p:cNvSpPr>
              <a:spLocks/>
            </p:cNvSpPr>
            <p:nvPr/>
          </p:nvSpPr>
          <p:spPr bwMode="invGray">
            <a:xfrm>
              <a:off x="-1773238" y="2733675"/>
              <a:ext cx="123825" cy="12700"/>
            </a:xfrm>
            <a:custGeom>
              <a:avLst/>
              <a:gdLst>
                <a:gd name="T0" fmla="*/ 65 w 65"/>
                <a:gd name="T1" fmla="*/ 0 h 6"/>
                <a:gd name="T2" fmla="*/ 65 w 65"/>
                <a:gd name="T3" fmla="*/ 0 h 6"/>
                <a:gd name="T4" fmla="*/ 48 w 65"/>
                <a:gd name="T5" fmla="*/ 4 h 6"/>
                <a:gd name="T6" fmla="*/ 0 w 65"/>
                <a:gd name="T7" fmla="*/ 4 h 6"/>
                <a:gd name="T8" fmla="*/ 61 w 65"/>
                <a:gd name="T9" fmla="*/ 4 h 6"/>
                <a:gd name="T10" fmla="*/ 65 w 65"/>
                <a:gd name="T11" fmla="*/ 0 h 6"/>
              </a:gdLst>
              <a:ahLst/>
              <a:cxnLst>
                <a:cxn ang="0">
                  <a:pos x="T0" y="T1"/>
                </a:cxn>
                <a:cxn ang="0">
                  <a:pos x="T2" y="T3"/>
                </a:cxn>
                <a:cxn ang="0">
                  <a:pos x="T4" y="T5"/>
                </a:cxn>
                <a:cxn ang="0">
                  <a:pos x="T6" y="T7"/>
                </a:cxn>
                <a:cxn ang="0">
                  <a:pos x="T8" y="T9"/>
                </a:cxn>
                <a:cxn ang="0">
                  <a:pos x="T10" y="T11"/>
                </a:cxn>
              </a:cxnLst>
              <a:rect l="0" t="0" r="r" b="b"/>
              <a:pathLst>
                <a:path w="65" h="6">
                  <a:moveTo>
                    <a:pt x="65" y="0"/>
                  </a:moveTo>
                  <a:lnTo>
                    <a:pt x="65" y="0"/>
                  </a:lnTo>
                  <a:cubicBezTo>
                    <a:pt x="22" y="1"/>
                    <a:pt x="25" y="3"/>
                    <a:pt x="48" y="4"/>
                  </a:cubicBezTo>
                  <a:cubicBezTo>
                    <a:pt x="8" y="5"/>
                    <a:pt x="27" y="1"/>
                    <a:pt x="0" y="4"/>
                  </a:cubicBezTo>
                  <a:cubicBezTo>
                    <a:pt x="1" y="6"/>
                    <a:pt x="50" y="5"/>
                    <a:pt x="61" y="4"/>
                  </a:cubicBezTo>
                  <a:lnTo>
                    <a:pt x="6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4" name="Freeform 112"/>
            <p:cNvSpPr>
              <a:spLocks/>
            </p:cNvSpPr>
            <p:nvPr/>
          </p:nvSpPr>
          <p:spPr bwMode="invGray">
            <a:xfrm>
              <a:off x="-1057275" y="2735263"/>
              <a:ext cx="57150" cy="3175"/>
            </a:xfrm>
            <a:custGeom>
              <a:avLst/>
              <a:gdLst>
                <a:gd name="T0" fmla="*/ 12 w 30"/>
                <a:gd name="T1" fmla="*/ 0 h 1"/>
                <a:gd name="T2" fmla="*/ 12 w 30"/>
                <a:gd name="T3" fmla="*/ 0 h 1"/>
                <a:gd name="T4" fmla="*/ 0 w 30"/>
                <a:gd name="T5" fmla="*/ 1 h 1"/>
                <a:gd name="T6" fmla="*/ 30 w 30"/>
                <a:gd name="T7" fmla="*/ 1 h 1"/>
                <a:gd name="T8" fmla="*/ 12 w 30"/>
                <a:gd name="T9" fmla="*/ 0 h 1"/>
              </a:gdLst>
              <a:ahLst/>
              <a:cxnLst>
                <a:cxn ang="0">
                  <a:pos x="T0" y="T1"/>
                </a:cxn>
                <a:cxn ang="0">
                  <a:pos x="T2" y="T3"/>
                </a:cxn>
                <a:cxn ang="0">
                  <a:pos x="T4" y="T5"/>
                </a:cxn>
                <a:cxn ang="0">
                  <a:pos x="T6" y="T7"/>
                </a:cxn>
                <a:cxn ang="0">
                  <a:pos x="T8" y="T9"/>
                </a:cxn>
              </a:cxnLst>
              <a:rect l="0" t="0" r="r" b="b"/>
              <a:pathLst>
                <a:path w="30" h="1">
                  <a:moveTo>
                    <a:pt x="12" y="0"/>
                  </a:moveTo>
                  <a:lnTo>
                    <a:pt x="12" y="0"/>
                  </a:lnTo>
                  <a:lnTo>
                    <a:pt x="0" y="1"/>
                  </a:lnTo>
                  <a:lnTo>
                    <a:pt x="3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5" name="Freeform 113"/>
            <p:cNvSpPr>
              <a:spLocks/>
            </p:cNvSpPr>
            <p:nvPr/>
          </p:nvSpPr>
          <p:spPr bwMode="invGray">
            <a:xfrm>
              <a:off x="-1116013" y="2738438"/>
              <a:ext cx="58738" cy="3175"/>
            </a:xfrm>
            <a:custGeom>
              <a:avLst/>
              <a:gdLst>
                <a:gd name="T0" fmla="*/ 30 w 30"/>
                <a:gd name="T1" fmla="*/ 0 h 2"/>
                <a:gd name="T2" fmla="*/ 30 w 30"/>
                <a:gd name="T3" fmla="*/ 0 h 2"/>
                <a:gd name="T4" fmla="*/ 0 w 30"/>
                <a:gd name="T5" fmla="*/ 0 h 2"/>
                <a:gd name="T6" fmla="*/ 9 w 30"/>
                <a:gd name="T7" fmla="*/ 2 h 2"/>
                <a:gd name="T8" fmla="*/ 30 w 30"/>
                <a:gd name="T9" fmla="*/ 0 h 2"/>
              </a:gdLst>
              <a:ahLst/>
              <a:cxnLst>
                <a:cxn ang="0">
                  <a:pos x="T0" y="T1"/>
                </a:cxn>
                <a:cxn ang="0">
                  <a:pos x="T2" y="T3"/>
                </a:cxn>
                <a:cxn ang="0">
                  <a:pos x="T4" y="T5"/>
                </a:cxn>
                <a:cxn ang="0">
                  <a:pos x="T6" y="T7"/>
                </a:cxn>
                <a:cxn ang="0">
                  <a:pos x="T8" y="T9"/>
                </a:cxn>
              </a:cxnLst>
              <a:rect l="0" t="0" r="r" b="b"/>
              <a:pathLst>
                <a:path w="30" h="2">
                  <a:moveTo>
                    <a:pt x="30" y="0"/>
                  </a:moveTo>
                  <a:lnTo>
                    <a:pt x="30" y="0"/>
                  </a:lnTo>
                  <a:lnTo>
                    <a:pt x="0" y="0"/>
                  </a:lnTo>
                  <a:cubicBezTo>
                    <a:pt x="2" y="0"/>
                    <a:pt x="4" y="1"/>
                    <a:pt x="9" y="2"/>
                  </a:cubicBez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6" name="Freeform 114"/>
            <p:cNvSpPr>
              <a:spLocks/>
            </p:cNvSpPr>
            <p:nvPr/>
          </p:nvSpPr>
          <p:spPr bwMode="invGray">
            <a:xfrm>
              <a:off x="-1349375" y="2735263"/>
              <a:ext cx="84138" cy="0"/>
            </a:xfrm>
            <a:custGeom>
              <a:avLst/>
              <a:gdLst>
                <a:gd name="T0" fmla="*/ 44 w 44"/>
                <a:gd name="T1" fmla="*/ 44 w 44"/>
                <a:gd name="T2" fmla="*/ 0 w 44"/>
                <a:gd name="T3" fmla="*/ 44 w 44"/>
              </a:gdLst>
              <a:ahLst/>
              <a:cxnLst>
                <a:cxn ang="0">
                  <a:pos x="T0" y="0"/>
                </a:cxn>
                <a:cxn ang="0">
                  <a:pos x="T1" y="0"/>
                </a:cxn>
                <a:cxn ang="0">
                  <a:pos x="T2" y="0"/>
                </a:cxn>
                <a:cxn ang="0">
                  <a:pos x="T3" y="0"/>
                </a:cxn>
              </a:cxnLst>
              <a:rect l="0" t="0" r="r" b="b"/>
              <a:pathLst>
                <a:path w="44">
                  <a:moveTo>
                    <a:pt x="44" y="0"/>
                  </a:moveTo>
                  <a:lnTo>
                    <a:pt x="44" y="0"/>
                  </a:lnTo>
                  <a:lnTo>
                    <a:pt x="0" y="0"/>
                  </a:lnTo>
                  <a:lnTo>
                    <a:pt x="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7" name="Freeform 115"/>
            <p:cNvSpPr>
              <a:spLocks/>
            </p:cNvSpPr>
            <p:nvPr/>
          </p:nvSpPr>
          <p:spPr bwMode="invGray">
            <a:xfrm>
              <a:off x="-1265238" y="2735263"/>
              <a:ext cx="65088" cy="3175"/>
            </a:xfrm>
            <a:custGeom>
              <a:avLst/>
              <a:gdLst>
                <a:gd name="T0" fmla="*/ 34 w 34"/>
                <a:gd name="T1" fmla="*/ 1 h 1"/>
                <a:gd name="T2" fmla="*/ 34 w 34"/>
                <a:gd name="T3" fmla="*/ 1 h 1"/>
                <a:gd name="T4" fmla="*/ 33 w 34"/>
                <a:gd name="T5" fmla="*/ 0 h 1"/>
                <a:gd name="T6" fmla="*/ 0 w 34"/>
                <a:gd name="T7" fmla="*/ 0 h 1"/>
                <a:gd name="T8" fmla="*/ 34 w 34"/>
                <a:gd name="T9" fmla="*/ 1 h 1"/>
              </a:gdLst>
              <a:ahLst/>
              <a:cxnLst>
                <a:cxn ang="0">
                  <a:pos x="T0" y="T1"/>
                </a:cxn>
                <a:cxn ang="0">
                  <a:pos x="T2" y="T3"/>
                </a:cxn>
                <a:cxn ang="0">
                  <a:pos x="T4" y="T5"/>
                </a:cxn>
                <a:cxn ang="0">
                  <a:pos x="T6" y="T7"/>
                </a:cxn>
                <a:cxn ang="0">
                  <a:pos x="T8" y="T9"/>
                </a:cxn>
              </a:cxnLst>
              <a:rect l="0" t="0" r="r" b="b"/>
              <a:pathLst>
                <a:path w="34" h="1">
                  <a:moveTo>
                    <a:pt x="34" y="1"/>
                  </a:moveTo>
                  <a:lnTo>
                    <a:pt x="34" y="1"/>
                  </a:lnTo>
                  <a:lnTo>
                    <a:pt x="33" y="0"/>
                  </a:lnTo>
                  <a:lnTo>
                    <a:pt x="0" y="0"/>
                  </a:lnTo>
                  <a:lnTo>
                    <a:pt x="3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8" name="Freeform 116"/>
            <p:cNvSpPr>
              <a:spLocks/>
            </p:cNvSpPr>
            <p:nvPr/>
          </p:nvSpPr>
          <p:spPr bwMode="invGray">
            <a:xfrm>
              <a:off x="-1219200" y="2728913"/>
              <a:ext cx="103188" cy="9525"/>
            </a:xfrm>
            <a:custGeom>
              <a:avLst/>
              <a:gdLst>
                <a:gd name="T0" fmla="*/ 54 w 54"/>
                <a:gd name="T1" fmla="*/ 4 h 4"/>
                <a:gd name="T2" fmla="*/ 54 w 54"/>
                <a:gd name="T3" fmla="*/ 4 h 4"/>
                <a:gd name="T4" fmla="*/ 0 w 54"/>
                <a:gd name="T5" fmla="*/ 1 h 4"/>
                <a:gd name="T6" fmla="*/ 9 w 54"/>
                <a:gd name="T7" fmla="*/ 3 h 4"/>
                <a:gd name="T8" fmla="*/ 54 w 54"/>
                <a:gd name="T9" fmla="*/ 4 h 4"/>
              </a:gdLst>
              <a:ahLst/>
              <a:cxnLst>
                <a:cxn ang="0">
                  <a:pos x="T0" y="T1"/>
                </a:cxn>
                <a:cxn ang="0">
                  <a:pos x="T2" y="T3"/>
                </a:cxn>
                <a:cxn ang="0">
                  <a:pos x="T4" y="T5"/>
                </a:cxn>
                <a:cxn ang="0">
                  <a:pos x="T6" y="T7"/>
                </a:cxn>
                <a:cxn ang="0">
                  <a:pos x="T8" y="T9"/>
                </a:cxn>
              </a:cxnLst>
              <a:rect l="0" t="0" r="r" b="b"/>
              <a:pathLst>
                <a:path w="54" h="4">
                  <a:moveTo>
                    <a:pt x="54" y="4"/>
                  </a:moveTo>
                  <a:lnTo>
                    <a:pt x="54" y="4"/>
                  </a:lnTo>
                  <a:cubicBezTo>
                    <a:pt x="49" y="2"/>
                    <a:pt x="43" y="0"/>
                    <a:pt x="0" y="1"/>
                  </a:cubicBezTo>
                  <a:lnTo>
                    <a:pt x="9" y="3"/>
                  </a:lnTo>
                  <a:lnTo>
                    <a:pt x="54"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9" name="Freeform 117"/>
            <p:cNvSpPr>
              <a:spLocks/>
            </p:cNvSpPr>
            <p:nvPr/>
          </p:nvSpPr>
          <p:spPr bwMode="invGray">
            <a:xfrm>
              <a:off x="1225550" y="2830513"/>
              <a:ext cx="73025" cy="3175"/>
            </a:xfrm>
            <a:custGeom>
              <a:avLst/>
              <a:gdLst>
                <a:gd name="T0" fmla="*/ 34 w 38"/>
                <a:gd name="T1" fmla="*/ 0 h 2"/>
                <a:gd name="T2" fmla="*/ 34 w 38"/>
                <a:gd name="T3" fmla="*/ 0 h 2"/>
                <a:gd name="T4" fmla="*/ 0 w 38"/>
                <a:gd name="T5" fmla="*/ 1 h 2"/>
                <a:gd name="T6" fmla="*/ 4 w 38"/>
                <a:gd name="T7" fmla="*/ 2 h 2"/>
                <a:gd name="T8" fmla="*/ 38 w 38"/>
                <a:gd name="T9" fmla="*/ 1 h 2"/>
                <a:gd name="T10" fmla="*/ 34 w 38"/>
                <a:gd name="T11" fmla="*/ 0 h 2"/>
              </a:gdLst>
              <a:ahLst/>
              <a:cxnLst>
                <a:cxn ang="0">
                  <a:pos x="T0" y="T1"/>
                </a:cxn>
                <a:cxn ang="0">
                  <a:pos x="T2" y="T3"/>
                </a:cxn>
                <a:cxn ang="0">
                  <a:pos x="T4" y="T5"/>
                </a:cxn>
                <a:cxn ang="0">
                  <a:pos x="T6" y="T7"/>
                </a:cxn>
                <a:cxn ang="0">
                  <a:pos x="T8" y="T9"/>
                </a:cxn>
                <a:cxn ang="0">
                  <a:pos x="T10" y="T11"/>
                </a:cxn>
              </a:cxnLst>
              <a:rect l="0" t="0" r="r" b="b"/>
              <a:pathLst>
                <a:path w="38" h="2">
                  <a:moveTo>
                    <a:pt x="34" y="0"/>
                  </a:moveTo>
                  <a:lnTo>
                    <a:pt x="34" y="0"/>
                  </a:lnTo>
                  <a:lnTo>
                    <a:pt x="0" y="1"/>
                  </a:lnTo>
                  <a:lnTo>
                    <a:pt x="4" y="2"/>
                  </a:lnTo>
                  <a:lnTo>
                    <a:pt x="38" y="1"/>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0" name="Freeform 118"/>
            <p:cNvSpPr>
              <a:spLocks/>
            </p:cNvSpPr>
            <p:nvPr/>
          </p:nvSpPr>
          <p:spPr bwMode="invGray">
            <a:xfrm>
              <a:off x="874712" y="2827338"/>
              <a:ext cx="39688" cy="317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9" y="1"/>
                    <a:pt x="16" y="1"/>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1" name="Freeform 119"/>
            <p:cNvSpPr>
              <a:spLocks/>
            </p:cNvSpPr>
            <p:nvPr/>
          </p:nvSpPr>
          <p:spPr bwMode="invGray">
            <a:xfrm>
              <a:off x="417512" y="2827338"/>
              <a:ext cx="457200" cy="31750"/>
            </a:xfrm>
            <a:custGeom>
              <a:avLst/>
              <a:gdLst>
                <a:gd name="T0" fmla="*/ 113 w 238"/>
                <a:gd name="T1" fmla="*/ 12 h 14"/>
                <a:gd name="T2" fmla="*/ 113 w 238"/>
                <a:gd name="T3" fmla="*/ 12 h 14"/>
                <a:gd name="T4" fmla="*/ 94 w 238"/>
                <a:gd name="T5" fmla="*/ 9 h 14"/>
                <a:gd name="T6" fmla="*/ 157 w 238"/>
                <a:gd name="T7" fmla="*/ 6 h 14"/>
                <a:gd name="T8" fmla="*/ 145 w 238"/>
                <a:gd name="T9" fmla="*/ 8 h 14"/>
                <a:gd name="T10" fmla="*/ 169 w 238"/>
                <a:gd name="T11" fmla="*/ 6 h 14"/>
                <a:gd name="T12" fmla="*/ 238 w 238"/>
                <a:gd name="T13" fmla="*/ 1 h 14"/>
                <a:gd name="T14" fmla="*/ 32 w 238"/>
                <a:gd name="T15" fmla="*/ 3 h 14"/>
                <a:gd name="T16" fmla="*/ 19 w 238"/>
                <a:gd name="T17" fmla="*/ 13 h 14"/>
                <a:gd name="T18" fmla="*/ 113 w 238"/>
                <a:gd name="T19"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8" h="14">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2" name="Freeform 120"/>
            <p:cNvSpPr>
              <a:spLocks/>
            </p:cNvSpPr>
            <p:nvPr/>
          </p:nvSpPr>
          <p:spPr bwMode="invGray">
            <a:xfrm>
              <a:off x="755650" y="2859087"/>
              <a:ext cx="68263" cy="4762"/>
            </a:xfrm>
            <a:custGeom>
              <a:avLst/>
              <a:gdLst>
                <a:gd name="T0" fmla="*/ 0 w 36"/>
                <a:gd name="T1" fmla="*/ 1 h 2"/>
                <a:gd name="T2" fmla="*/ 0 w 36"/>
                <a:gd name="T3" fmla="*/ 1 h 2"/>
                <a:gd name="T4" fmla="*/ 36 w 36"/>
                <a:gd name="T5" fmla="*/ 1 h 2"/>
                <a:gd name="T6" fmla="*/ 0 w 36"/>
                <a:gd name="T7" fmla="*/ 1 h 2"/>
              </a:gdLst>
              <a:ahLst/>
              <a:cxnLst>
                <a:cxn ang="0">
                  <a:pos x="T0" y="T1"/>
                </a:cxn>
                <a:cxn ang="0">
                  <a:pos x="T2" y="T3"/>
                </a:cxn>
                <a:cxn ang="0">
                  <a:pos x="T4" y="T5"/>
                </a:cxn>
                <a:cxn ang="0">
                  <a:pos x="T6" y="T7"/>
                </a:cxn>
              </a:cxnLst>
              <a:rect l="0" t="0" r="r" b="b"/>
              <a:pathLst>
                <a:path w="36" h="2">
                  <a:moveTo>
                    <a:pt x="0" y="1"/>
                  </a:moveTo>
                  <a:lnTo>
                    <a:pt x="0" y="1"/>
                  </a:lnTo>
                  <a:cubicBezTo>
                    <a:pt x="19" y="2"/>
                    <a:pt x="24" y="1"/>
                    <a:pt x="36" y="1"/>
                  </a:cubicBezTo>
                  <a:cubicBezTo>
                    <a:pt x="33" y="0"/>
                    <a:pt x="15"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3" name="Freeform 121"/>
            <p:cNvSpPr>
              <a:spLocks/>
            </p:cNvSpPr>
            <p:nvPr/>
          </p:nvSpPr>
          <p:spPr bwMode="invGray">
            <a:xfrm>
              <a:off x="-133350" y="2798763"/>
              <a:ext cx="111125" cy="4762"/>
            </a:xfrm>
            <a:custGeom>
              <a:avLst/>
              <a:gdLst>
                <a:gd name="T0" fmla="*/ 37 w 58"/>
                <a:gd name="T1" fmla="*/ 0 h 2"/>
                <a:gd name="T2" fmla="*/ 37 w 58"/>
                <a:gd name="T3" fmla="*/ 0 h 2"/>
                <a:gd name="T4" fmla="*/ 7 w 58"/>
                <a:gd name="T5" fmla="*/ 2 h 2"/>
                <a:gd name="T6" fmla="*/ 58 w 58"/>
                <a:gd name="T7" fmla="*/ 2 h 2"/>
                <a:gd name="T8" fmla="*/ 37 w 58"/>
                <a:gd name="T9" fmla="*/ 0 h 2"/>
              </a:gdLst>
              <a:ahLst/>
              <a:cxnLst>
                <a:cxn ang="0">
                  <a:pos x="T0" y="T1"/>
                </a:cxn>
                <a:cxn ang="0">
                  <a:pos x="T2" y="T3"/>
                </a:cxn>
                <a:cxn ang="0">
                  <a:pos x="T4" y="T5"/>
                </a:cxn>
                <a:cxn ang="0">
                  <a:pos x="T6" y="T7"/>
                </a:cxn>
                <a:cxn ang="0">
                  <a:pos x="T8" y="T9"/>
                </a:cxn>
              </a:cxnLst>
              <a:rect l="0" t="0" r="r" b="b"/>
              <a:pathLst>
                <a:path w="58" h="2">
                  <a:moveTo>
                    <a:pt x="37" y="0"/>
                  </a:moveTo>
                  <a:lnTo>
                    <a:pt x="37" y="0"/>
                  </a:lnTo>
                  <a:cubicBezTo>
                    <a:pt x="34" y="1"/>
                    <a:pt x="0" y="1"/>
                    <a:pt x="7" y="2"/>
                  </a:cubicBezTo>
                  <a:lnTo>
                    <a:pt x="58" y="2"/>
                  </a:lnTo>
                  <a:cubicBezTo>
                    <a:pt x="46" y="2"/>
                    <a:pt x="42" y="1"/>
                    <a:pt x="3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4" name="Freeform 122"/>
            <p:cNvSpPr>
              <a:spLocks/>
            </p:cNvSpPr>
            <p:nvPr/>
          </p:nvSpPr>
          <p:spPr bwMode="invGray">
            <a:xfrm>
              <a:off x="-22225" y="2800350"/>
              <a:ext cx="44450" cy="3175"/>
            </a:xfrm>
            <a:custGeom>
              <a:avLst/>
              <a:gdLst>
                <a:gd name="T0" fmla="*/ 23 w 23"/>
                <a:gd name="T1" fmla="*/ 0 h 1"/>
                <a:gd name="T2" fmla="*/ 23 w 23"/>
                <a:gd name="T3" fmla="*/ 0 h 1"/>
                <a:gd name="T4" fmla="*/ 0 w 23"/>
                <a:gd name="T5" fmla="*/ 1 h 1"/>
                <a:gd name="T6" fmla="*/ 23 w 23"/>
                <a:gd name="T7" fmla="*/ 0 h 1"/>
              </a:gdLst>
              <a:ahLst/>
              <a:cxnLst>
                <a:cxn ang="0">
                  <a:pos x="T0" y="T1"/>
                </a:cxn>
                <a:cxn ang="0">
                  <a:pos x="T2" y="T3"/>
                </a:cxn>
                <a:cxn ang="0">
                  <a:pos x="T4" y="T5"/>
                </a:cxn>
                <a:cxn ang="0">
                  <a:pos x="T6" y="T7"/>
                </a:cxn>
              </a:cxnLst>
              <a:rect l="0" t="0" r="r" b="b"/>
              <a:pathLst>
                <a:path w="23" h="1">
                  <a:moveTo>
                    <a:pt x="23" y="0"/>
                  </a:moveTo>
                  <a:lnTo>
                    <a:pt x="23" y="0"/>
                  </a:lnTo>
                  <a:lnTo>
                    <a:pt x="0" y="1"/>
                  </a:lnTo>
                  <a:cubicBezTo>
                    <a:pt x="6" y="1"/>
                    <a:pt x="13"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5" name="Freeform 123"/>
            <p:cNvSpPr>
              <a:spLocks/>
            </p:cNvSpPr>
            <p:nvPr/>
          </p:nvSpPr>
          <p:spPr bwMode="invGray">
            <a:xfrm>
              <a:off x="-66675" y="2798763"/>
              <a:ext cx="6350" cy="0"/>
            </a:xfrm>
            <a:custGeom>
              <a:avLst/>
              <a:gdLst>
                <a:gd name="T0" fmla="*/ 0 w 3"/>
                <a:gd name="T1" fmla="*/ 0 w 3"/>
                <a:gd name="T2" fmla="*/ 2 w 3"/>
                <a:gd name="T3" fmla="*/ 0 w 3"/>
              </a:gdLst>
              <a:ahLst/>
              <a:cxnLst>
                <a:cxn ang="0">
                  <a:pos x="T0" y="0"/>
                </a:cxn>
                <a:cxn ang="0">
                  <a:pos x="T1" y="0"/>
                </a:cxn>
                <a:cxn ang="0">
                  <a:pos x="T2" y="0"/>
                </a:cxn>
                <a:cxn ang="0">
                  <a:pos x="T3" y="0"/>
                </a:cxn>
              </a:cxnLst>
              <a:rect l="0" t="0" r="r" b="b"/>
              <a:pathLst>
                <a:path w="3">
                  <a:moveTo>
                    <a:pt x="0" y="0"/>
                  </a:moveTo>
                  <a:lnTo>
                    <a:pt x="0" y="0"/>
                  </a:lnTo>
                  <a:lnTo>
                    <a:pt x="2" y="0"/>
                  </a:lnTo>
                  <a:cubicBezTo>
                    <a:pt x="3" y="0"/>
                    <a:pt x="3"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6" name="Freeform 124"/>
            <p:cNvSpPr>
              <a:spLocks/>
            </p:cNvSpPr>
            <p:nvPr/>
          </p:nvSpPr>
          <p:spPr bwMode="invGray">
            <a:xfrm>
              <a:off x="-1566863" y="2730500"/>
              <a:ext cx="65088" cy="3175"/>
            </a:xfrm>
            <a:custGeom>
              <a:avLst/>
              <a:gdLst>
                <a:gd name="T0" fmla="*/ 33 w 34"/>
                <a:gd name="T1" fmla="*/ 1 h 1"/>
                <a:gd name="T2" fmla="*/ 33 w 34"/>
                <a:gd name="T3" fmla="*/ 1 h 1"/>
                <a:gd name="T4" fmla="*/ 0 w 34"/>
                <a:gd name="T5" fmla="*/ 1 h 1"/>
                <a:gd name="T6" fmla="*/ 33 w 34"/>
                <a:gd name="T7" fmla="*/ 1 h 1"/>
              </a:gdLst>
              <a:ahLst/>
              <a:cxnLst>
                <a:cxn ang="0">
                  <a:pos x="T0" y="T1"/>
                </a:cxn>
                <a:cxn ang="0">
                  <a:pos x="T2" y="T3"/>
                </a:cxn>
                <a:cxn ang="0">
                  <a:pos x="T4" y="T5"/>
                </a:cxn>
                <a:cxn ang="0">
                  <a:pos x="T6" y="T7"/>
                </a:cxn>
              </a:cxnLst>
              <a:rect l="0" t="0" r="r" b="b"/>
              <a:pathLst>
                <a:path w="34" h="1">
                  <a:moveTo>
                    <a:pt x="33" y="1"/>
                  </a:moveTo>
                  <a:lnTo>
                    <a:pt x="33" y="1"/>
                  </a:lnTo>
                  <a:cubicBezTo>
                    <a:pt x="34" y="0"/>
                    <a:pt x="12" y="1"/>
                    <a:pt x="0" y="1"/>
                  </a:cubicBezTo>
                  <a:cubicBezTo>
                    <a:pt x="9" y="1"/>
                    <a:pt x="22" y="1"/>
                    <a:pt x="3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7" name="Freeform 125"/>
            <p:cNvSpPr>
              <a:spLocks/>
            </p:cNvSpPr>
            <p:nvPr/>
          </p:nvSpPr>
          <p:spPr bwMode="invGray">
            <a:xfrm>
              <a:off x="-3175000" y="2740025"/>
              <a:ext cx="38100" cy="0"/>
            </a:xfrm>
            <a:custGeom>
              <a:avLst/>
              <a:gdLst>
                <a:gd name="T0" fmla="*/ 20 w 20"/>
                <a:gd name="T1" fmla="*/ 20 w 20"/>
                <a:gd name="T2" fmla="*/ 0 w 20"/>
                <a:gd name="T3" fmla="*/ 20 w 20"/>
              </a:gdLst>
              <a:ahLst/>
              <a:cxnLst>
                <a:cxn ang="0">
                  <a:pos x="T0" y="0"/>
                </a:cxn>
                <a:cxn ang="0">
                  <a:pos x="T1" y="0"/>
                </a:cxn>
                <a:cxn ang="0">
                  <a:pos x="T2" y="0"/>
                </a:cxn>
                <a:cxn ang="0">
                  <a:pos x="T3" y="0"/>
                </a:cxn>
              </a:cxnLst>
              <a:rect l="0" t="0" r="r" b="b"/>
              <a:pathLst>
                <a:path w="20">
                  <a:moveTo>
                    <a:pt x="20" y="0"/>
                  </a:moveTo>
                  <a:lnTo>
                    <a:pt x="20" y="0"/>
                  </a:lnTo>
                  <a:lnTo>
                    <a:pt x="0" y="0"/>
                  </a:lnTo>
                  <a:cubicBezTo>
                    <a:pt x="7" y="0"/>
                    <a:pt x="11" y="0"/>
                    <a:pt x="2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8" name="Freeform 126"/>
            <p:cNvSpPr>
              <a:spLocks/>
            </p:cNvSpPr>
            <p:nvPr/>
          </p:nvSpPr>
          <p:spPr bwMode="invGray">
            <a:xfrm>
              <a:off x="-3735388" y="2803525"/>
              <a:ext cx="6350" cy="1587"/>
            </a:xfrm>
            <a:custGeom>
              <a:avLst/>
              <a:gdLst>
                <a:gd name="T0" fmla="*/ 4 w 4"/>
                <a:gd name="T1" fmla="*/ 0 h 1"/>
                <a:gd name="T2" fmla="*/ 4 w 4"/>
                <a:gd name="T3" fmla="*/ 0 h 1"/>
                <a:gd name="T4" fmla="*/ 0 w 4"/>
                <a:gd name="T5" fmla="*/ 1 h 1"/>
                <a:gd name="T6" fmla="*/ 4 w 4"/>
                <a:gd name="T7" fmla="*/ 0 h 1"/>
              </a:gdLst>
              <a:ahLst/>
              <a:cxnLst>
                <a:cxn ang="0">
                  <a:pos x="T0" y="T1"/>
                </a:cxn>
                <a:cxn ang="0">
                  <a:pos x="T2" y="T3"/>
                </a:cxn>
                <a:cxn ang="0">
                  <a:pos x="T4" y="T5"/>
                </a:cxn>
                <a:cxn ang="0">
                  <a:pos x="T6" y="T7"/>
                </a:cxn>
              </a:cxnLst>
              <a:rect l="0" t="0" r="r" b="b"/>
              <a:pathLst>
                <a:path w="4" h="1">
                  <a:moveTo>
                    <a:pt x="4" y="0"/>
                  </a:moveTo>
                  <a:lnTo>
                    <a:pt x="4" y="0"/>
                  </a:lnTo>
                  <a:cubicBezTo>
                    <a:pt x="3" y="0"/>
                    <a:pt x="2" y="1"/>
                    <a:pt x="0" y="1"/>
                  </a:cubicBezTo>
                  <a:cubicBezTo>
                    <a:pt x="2" y="1"/>
                    <a:pt x="3"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9" name="Freeform 127"/>
            <p:cNvSpPr>
              <a:spLocks/>
            </p:cNvSpPr>
            <p:nvPr/>
          </p:nvSpPr>
          <p:spPr bwMode="invGray">
            <a:xfrm>
              <a:off x="-3924300" y="2803525"/>
              <a:ext cx="188913" cy="3175"/>
            </a:xfrm>
            <a:custGeom>
              <a:avLst/>
              <a:gdLst>
                <a:gd name="T0" fmla="*/ 98 w 98"/>
                <a:gd name="T1" fmla="*/ 1 h 2"/>
                <a:gd name="T2" fmla="*/ 98 w 98"/>
                <a:gd name="T3" fmla="*/ 1 h 2"/>
                <a:gd name="T4" fmla="*/ 26 w 98"/>
                <a:gd name="T5" fmla="*/ 1 h 2"/>
                <a:gd name="T6" fmla="*/ 28 w 98"/>
                <a:gd name="T7" fmla="*/ 1 h 2"/>
                <a:gd name="T8" fmla="*/ 0 w 98"/>
                <a:gd name="T9" fmla="*/ 2 h 2"/>
                <a:gd name="T10" fmla="*/ 98 w 98"/>
                <a:gd name="T11" fmla="*/ 1 h 2"/>
              </a:gdLst>
              <a:ahLst/>
              <a:cxnLst>
                <a:cxn ang="0">
                  <a:pos x="T0" y="T1"/>
                </a:cxn>
                <a:cxn ang="0">
                  <a:pos x="T2" y="T3"/>
                </a:cxn>
                <a:cxn ang="0">
                  <a:pos x="T4" y="T5"/>
                </a:cxn>
                <a:cxn ang="0">
                  <a:pos x="T6" y="T7"/>
                </a:cxn>
                <a:cxn ang="0">
                  <a:pos x="T8" y="T9"/>
                </a:cxn>
                <a:cxn ang="0">
                  <a:pos x="T10" y="T11"/>
                </a:cxn>
              </a:cxnLst>
              <a:rect l="0" t="0" r="r" b="b"/>
              <a:pathLst>
                <a:path w="98" h="2">
                  <a:moveTo>
                    <a:pt x="98" y="1"/>
                  </a:moveTo>
                  <a:lnTo>
                    <a:pt x="98" y="1"/>
                  </a:lnTo>
                  <a:cubicBezTo>
                    <a:pt x="84" y="2"/>
                    <a:pt x="42" y="0"/>
                    <a:pt x="26" y="1"/>
                  </a:cubicBezTo>
                  <a:lnTo>
                    <a:pt x="28" y="1"/>
                  </a:lnTo>
                  <a:lnTo>
                    <a:pt x="0" y="2"/>
                  </a:lnTo>
                  <a:cubicBezTo>
                    <a:pt x="27" y="2"/>
                    <a:pt x="82" y="2"/>
                    <a:pt x="9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sp>
        <p:nvSpPr>
          <p:cNvPr id="3" name="Subtitle 2"/>
          <p:cNvSpPr>
            <a:spLocks noGrp="1"/>
          </p:cNvSpPr>
          <p:nvPr>
            <p:ph type="subTitle" idx="1"/>
          </p:nvPr>
        </p:nvSpPr>
        <p:spPr>
          <a:xfrm>
            <a:off x="1522413" y="5105400"/>
            <a:ext cx="9143999" cy="1066800"/>
          </a:xfrm>
        </p:spPr>
        <p:txBody>
          <a:bodyPr/>
          <a:lstStyle>
            <a:lvl1pPr marL="0" indent="0" algn="l">
              <a:spcBef>
                <a:spcPts val="0"/>
              </a:spcBef>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Tree>
    <p:extLst>
      <p:ext uri="{BB962C8B-B14F-4D97-AF65-F5344CB8AC3E}">
        <p14:creationId xmlns:p14="http://schemas.microsoft.com/office/powerpoint/2010/main" val="674356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lstStyle/>
          <a:p>
            <a:r>
              <a:rPr lang="en-US"/>
              <a:t>Click to edit Master title style</a:t>
            </a:r>
            <a:endParaRPr/>
          </a:p>
        </p:txBody>
      </p:sp>
      <p:grpSp>
        <p:nvGrpSpPr>
          <p:cNvPr id="167" name="line" descr="Line graphic"/>
          <p:cNvGrpSpPr/>
          <p:nvPr/>
        </p:nvGrpSpPr>
        <p:grpSpPr bwMode="invGray">
          <a:xfrm>
            <a:off x="1522413" y="1514475"/>
            <a:ext cx="10569575" cy="64008"/>
            <a:chOff x="1522413" y="1514475"/>
            <a:chExt cx="10569575" cy="64008"/>
          </a:xfrm>
        </p:grpSpPr>
        <p:sp>
          <p:nvSpPr>
            <p:cNvPr id="168"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Content Placeholder 2"/>
          <p:cNvSpPr>
            <a:spLocks noGrp="1"/>
          </p:cNvSpPr>
          <p:nvPr>
            <p:ph idx="1"/>
          </p:nvPr>
        </p:nvSpPr>
        <p:spPr/>
        <p:txBody>
          <a:bodyPr/>
          <a:lstStyle>
            <a:lvl2pPr marL="548640">
              <a:defRPr/>
            </a:lvl2pPr>
            <a:lvl3pPr marL="777240">
              <a:defRPr/>
            </a:lvl3pPr>
            <a:lvl4pPr marL="1005840">
              <a:defRPr/>
            </a:lvl4pPr>
            <a:lvl5pPr marL="1234440">
              <a:defRPr/>
            </a:lvl5pPr>
            <a:lvl6pPr marL="1463040">
              <a:defRPr baseline="0"/>
            </a:lvl6pPr>
            <a:lvl7pPr marL="1691640">
              <a:defRPr baseline="0"/>
            </a:lvl7pPr>
            <a:lvl8pPr marL="1920240">
              <a:defRPr baseline="0"/>
            </a:lvl8pPr>
            <a:lvl9pPr marL="2148840">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dirty="0"/>
          </a:p>
        </p:txBody>
      </p:sp>
      <p:sp>
        <p:nvSpPr>
          <p:cNvPr id="4" name="Date Placeholder 3"/>
          <p:cNvSpPr>
            <a:spLocks noGrp="1"/>
          </p:cNvSpPr>
          <p:nvPr>
            <p:ph type="dt" sz="half" idx="10"/>
          </p:nvPr>
        </p:nvSpPr>
        <p:spPr/>
        <p:txBody>
          <a:bodyPr/>
          <a:lstStyle/>
          <a:p>
            <a:fld id="{9AFE8FB1-0A7A-443E-AAF7-31D4FA1AA312}" type="datetimeFigureOut">
              <a:rPr lang="en-US"/>
              <a:t>3/3/2021</a:t>
            </a:fld>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dirty="0"/>
          </a:p>
        </p:txBody>
      </p:sp>
    </p:spTree>
    <p:extLst>
      <p:ext uri="{BB962C8B-B14F-4D97-AF65-F5344CB8AC3E}">
        <p14:creationId xmlns:p14="http://schemas.microsoft.com/office/powerpoint/2010/main" val="2614472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22413" y="1905000"/>
            <a:ext cx="9144000" cy="2667000"/>
          </a:xfrm>
        </p:spPr>
        <p:txBody>
          <a:bodyPr anchor="b">
            <a:noAutofit/>
          </a:bodyPr>
          <a:lstStyle>
            <a:lvl1pPr algn="l">
              <a:defRPr sz="4400" b="0" cap="none" baseline="0"/>
            </a:lvl1pPr>
          </a:lstStyle>
          <a:p>
            <a:r>
              <a:rPr lang="en-US"/>
              <a:t>Click to edit Master title style</a:t>
            </a:r>
            <a:endParaRPr/>
          </a:p>
        </p:txBody>
      </p:sp>
      <p:grpSp>
        <p:nvGrpSpPr>
          <p:cNvPr id="255" name="line" descr="Line graphic"/>
          <p:cNvGrpSpPr/>
          <p:nvPr/>
        </p:nvGrpSpPr>
        <p:grpSpPr bwMode="invGray">
          <a:xfrm>
            <a:off x="1584896" y="4724400"/>
            <a:ext cx="8631936" cy="64008"/>
            <a:chOff x="-4110038" y="2703513"/>
            <a:chExt cx="17394239" cy="160336"/>
          </a:xfrm>
          <a:solidFill>
            <a:schemeClr val="accent1"/>
          </a:solidFill>
        </p:grpSpPr>
        <p:sp>
          <p:nvSpPr>
            <p:cNvPr id="256" name="Freeform 5"/>
            <p:cNvSpPr>
              <a:spLocks/>
            </p:cNvSpPr>
            <p:nvPr/>
          </p:nvSpPr>
          <p:spPr bwMode="invGray">
            <a:xfrm>
              <a:off x="12815888" y="2768600"/>
              <a:ext cx="468313" cy="19050"/>
            </a:xfrm>
            <a:custGeom>
              <a:avLst/>
              <a:gdLst>
                <a:gd name="T0" fmla="*/ 21 w 244"/>
                <a:gd name="T1" fmla="*/ 5 h 8"/>
                <a:gd name="T2" fmla="*/ 21 w 244"/>
                <a:gd name="T3" fmla="*/ 5 h 8"/>
                <a:gd name="T4" fmla="*/ 52 w 244"/>
                <a:gd name="T5" fmla="*/ 7 h 8"/>
                <a:gd name="T6" fmla="*/ 100 w 244"/>
                <a:gd name="T7" fmla="*/ 5 h 8"/>
                <a:gd name="T8" fmla="*/ 125 w 244"/>
                <a:gd name="T9" fmla="*/ 7 h 8"/>
                <a:gd name="T10" fmla="*/ 202 w 244"/>
                <a:gd name="T11" fmla="*/ 6 h 8"/>
                <a:gd name="T12" fmla="*/ 156 w 244"/>
                <a:gd name="T13" fmla="*/ 5 h 8"/>
                <a:gd name="T14" fmla="*/ 244 w 244"/>
                <a:gd name="T15" fmla="*/ 3 h 8"/>
                <a:gd name="T16" fmla="*/ 161 w 244"/>
                <a:gd name="T17" fmla="*/ 3 h 8"/>
                <a:gd name="T18" fmla="*/ 165 w 244"/>
                <a:gd name="T19" fmla="*/ 2 h 8"/>
                <a:gd name="T20" fmla="*/ 96 w 244"/>
                <a:gd name="T21" fmla="*/ 2 h 8"/>
                <a:gd name="T22" fmla="*/ 111 w 244"/>
                <a:gd name="T23" fmla="*/ 1 h 8"/>
                <a:gd name="T24" fmla="*/ 0 w 244"/>
                <a:gd name="T25" fmla="*/ 5 h 8"/>
                <a:gd name="T26" fmla="*/ 21 w 244"/>
                <a:gd name="T27"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4" h="8">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7" name="Freeform 6"/>
            <p:cNvSpPr>
              <a:spLocks/>
            </p:cNvSpPr>
            <p:nvPr/>
          </p:nvSpPr>
          <p:spPr bwMode="invGray">
            <a:xfrm>
              <a:off x="12380913" y="2755900"/>
              <a:ext cx="461963" cy="26987"/>
            </a:xfrm>
            <a:custGeom>
              <a:avLst/>
              <a:gdLst>
                <a:gd name="T0" fmla="*/ 162 w 241"/>
                <a:gd name="T1" fmla="*/ 4 h 12"/>
                <a:gd name="T2" fmla="*/ 162 w 241"/>
                <a:gd name="T3" fmla="*/ 4 h 12"/>
                <a:gd name="T4" fmla="*/ 127 w 241"/>
                <a:gd name="T5" fmla="*/ 7 h 12"/>
                <a:gd name="T6" fmla="*/ 68 w 241"/>
                <a:gd name="T7" fmla="*/ 6 h 12"/>
                <a:gd name="T8" fmla="*/ 53 w 241"/>
                <a:gd name="T9" fmla="*/ 9 h 12"/>
                <a:gd name="T10" fmla="*/ 79 w 241"/>
                <a:gd name="T11" fmla="*/ 9 h 12"/>
                <a:gd name="T12" fmla="*/ 18 w 241"/>
                <a:gd name="T13" fmla="*/ 11 h 12"/>
                <a:gd name="T14" fmla="*/ 101 w 241"/>
                <a:gd name="T15" fmla="*/ 10 h 12"/>
                <a:gd name="T16" fmla="*/ 195 w 241"/>
                <a:gd name="T17" fmla="*/ 12 h 12"/>
                <a:gd name="T18" fmla="*/ 226 w 241"/>
                <a:gd name="T19" fmla="*/ 11 h 12"/>
                <a:gd name="T20" fmla="*/ 215 w 241"/>
                <a:gd name="T21" fmla="*/ 11 h 12"/>
                <a:gd name="T22" fmla="*/ 213 w 241"/>
                <a:gd name="T23" fmla="*/ 7 h 12"/>
                <a:gd name="T24" fmla="*/ 172 w 241"/>
                <a:gd name="T25" fmla="*/ 7 h 12"/>
                <a:gd name="T26" fmla="*/ 241 w 241"/>
                <a:gd name="T27" fmla="*/ 4 h 12"/>
                <a:gd name="T28" fmla="*/ 123 w 241"/>
                <a:gd name="T29" fmla="*/ 0 h 12"/>
                <a:gd name="T30" fmla="*/ 162 w 241"/>
                <a:gd name="T31"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1" h="12">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8" name="Freeform 7"/>
            <p:cNvSpPr>
              <a:spLocks/>
            </p:cNvSpPr>
            <p:nvPr/>
          </p:nvSpPr>
          <p:spPr bwMode="invGray">
            <a:xfrm>
              <a:off x="12814300" y="2779713"/>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9" name="Freeform 8"/>
            <p:cNvSpPr>
              <a:spLocks/>
            </p:cNvSpPr>
            <p:nvPr/>
          </p:nvSpPr>
          <p:spPr bwMode="invGray">
            <a:xfrm>
              <a:off x="2738437" y="2795588"/>
              <a:ext cx="425450" cy="15875"/>
            </a:xfrm>
            <a:custGeom>
              <a:avLst/>
              <a:gdLst>
                <a:gd name="T0" fmla="*/ 77 w 222"/>
                <a:gd name="T1" fmla="*/ 5 h 7"/>
                <a:gd name="T2" fmla="*/ 77 w 222"/>
                <a:gd name="T3" fmla="*/ 5 h 7"/>
                <a:gd name="T4" fmla="*/ 56 w 222"/>
                <a:gd name="T5" fmla="*/ 6 h 7"/>
                <a:gd name="T6" fmla="*/ 222 w 222"/>
                <a:gd name="T7" fmla="*/ 5 h 7"/>
                <a:gd name="T8" fmla="*/ 200 w 222"/>
                <a:gd name="T9" fmla="*/ 3 h 7"/>
                <a:gd name="T10" fmla="*/ 137 w 222"/>
                <a:gd name="T11" fmla="*/ 4 h 7"/>
                <a:gd name="T12" fmla="*/ 149 w 222"/>
                <a:gd name="T13" fmla="*/ 3 h 7"/>
                <a:gd name="T14" fmla="*/ 109 w 222"/>
                <a:gd name="T15" fmla="*/ 0 h 7"/>
                <a:gd name="T16" fmla="*/ 106 w 222"/>
                <a:gd name="T17" fmla="*/ 0 h 7"/>
                <a:gd name="T18" fmla="*/ 0 w 222"/>
                <a:gd name="T19" fmla="*/ 7 h 7"/>
                <a:gd name="T20" fmla="*/ 77 w 222"/>
                <a:gd name="T21"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2" h="7">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0" name="Freeform 9"/>
            <p:cNvSpPr>
              <a:spLocks/>
            </p:cNvSpPr>
            <p:nvPr/>
          </p:nvSpPr>
          <p:spPr bwMode="invGray">
            <a:xfrm>
              <a:off x="-3646488" y="2800350"/>
              <a:ext cx="46038" cy="3175"/>
            </a:xfrm>
            <a:custGeom>
              <a:avLst/>
              <a:gdLst>
                <a:gd name="T0" fmla="*/ 0 w 24"/>
                <a:gd name="T1" fmla="*/ 1 h 1"/>
                <a:gd name="T2" fmla="*/ 0 w 24"/>
                <a:gd name="T3" fmla="*/ 1 h 1"/>
                <a:gd name="T4" fmla="*/ 21 w 24"/>
                <a:gd name="T5" fmla="*/ 0 h 1"/>
                <a:gd name="T6" fmla="*/ 0 w 24"/>
                <a:gd name="T7" fmla="*/ 1 h 1"/>
              </a:gdLst>
              <a:ahLst/>
              <a:cxnLst>
                <a:cxn ang="0">
                  <a:pos x="T0" y="T1"/>
                </a:cxn>
                <a:cxn ang="0">
                  <a:pos x="T2" y="T3"/>
                </a:cxn>
                <a:cxn ang="0">
                  <a:pos x="T4" y="T5"/>
                </a:cxn>
                <a:cxn ang="0">
                  <a:pos x="T6" y="T7"/>
                </a:cxn>
              </a:cxnLst>
              <a:rect l="0" t="0" r="r" b="b"/>
              <a:pathLst>
                <a:path w="24" h="1">
                  <a:moveTo>
                    <a:pt x="0" y="1"/>
                  </a:moveTo>
                  <a:lnTo>
                    <a:pt x="0" y="1"/>
                  </a:lnTo>
                  <a:cubicBezTo>
                    <a:pt x="21" y="0"/>
                    <a:pt x="24" y="0"/>
                    <a:pt x="21" y="0"/>
                  </a:cubicBez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1" name="Freeform 10"/>
            <p:cNvSpPr>
              <a:spLocks/>
            </p:cNvSpPr>
            <p:nvPr/>
          </p:nvSpPr>
          <p:spPr bwMode="invGray">
            <a:xfrm>
              <a:off x="2627312" y="2816225"/>
              <a:ext cx="63500" cy="4762"/>
            </a:xfrm>
            <a:custGeom>
              <a:avLst/>
              <a:gdLst>
                <a:gd name="T0" fmla="*/ 33 w 33"/>
                <a:gd name="T1" fmla="*/ 0 h 2"/>
                <a:gd name="T2" fmla="*/ 33 w 33"/>
                <a:gd name="T3" fmla="*/ 0 h 2"/>
                <a:gd name="T4" fmla="*/ 0 w 33"/>
                <a:gd name="T5" fmla="*/ 2 h 2"/>
                <a:gd name="T6" fmla="*/ 33 w 33"/>
                <a:gd name="T7" fmla="*/ 0 h 2"/>
              </a:gdLst>
              <a:ahLst/>
              <a:cxnLst>
                <a:cxn ang="0">
                  <a:pos x="T0" y="T1"/>
                </a:cxn>
                <a:cxn ang="0">
                  <a:pos x="T2" y="T3"/>
                </a:cxn>
                <a:cxn ang="0">
                  <a:pos x="T4" y="T5"/>
                </a:cxn>
                <a:cxn ang="0">
                  <a:pos x="T6" y="T7"/>
                </a:cxn>
              </a:cxnLst>
              <a:rect l="0" t="0" r="r" b="b"/>
              <a:pathLst>
                <a:path w="33" h="2">
                  <a:moveTo>
                    <a:pt x="33" y="0"/>
                  </a:moveTo>
                  <a:lnTo>
                    <a:pt x="33" y="0"/>
                  </a:lnTo>
                  <a:lnTo>
                    <a:pt x="0" y="2"/>
                  </a:lnTo>
                  <a:cubicBezTo>
                    <a:pt x="14" y="1"/>
                    <a:pt x="25" y="1"/>
                    <a:pt x="3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2" name="Freeform 11"/>
            <p:cNvSpPr>
              <a:spLocks/>
            </p:cNvSpPr>
            <p:nvPr/>
          </p:nvSpPr>
          <p:spPr bwMode="invGray">
            <a:xfrm>
              <a:off x="3103562" y="2741613"/>
              <a:ext cx="28575" cy="3175"/>
            </a:xfrm>
            <a:custGeom>
              <a:avLst/>
              <a:gdLst>
                <a:gd name="T0" fmla="*/ 15 w 15"/>
                <a:gd name="T1" fmla="*/ 0 h 1"/>
                <a:gd name="T2" fmla="*/ 15 w 15"/>
                <a:gd name="T3" fmla="*/ 0 h 1"/>
                <a:gd name="T4" fmla="*/ 15 w 15"/>
                <a:gd name="T5" fmla="*/ 0 h 1"/>
                <a:gd name="T6" fmla="*/ 0 w 15"/>
                <a:gd name="T7" fmla="*/ 1 h 1"/>
                <a:gd name="T8" fmla="*/ 0 w 15"/>
                <a:gd name="T9" fmla="*/ 1 h 1"/>
                <a:gd name="T10" fmla="*/ 15 w 15"/>
                <a:gd name="T11" fmla="*/ 0 h 1"/>
              </a:gdLst>
              <a:ahLst/>
              <a:cxnLst>
                <a:cxn ang="0">
                  <a:pos x="T0" y="T1"/>
                </a:cxn>
                <a:cxn ang="0">
                  <a:pos x="T2" y="T3"/>
                </a:cxn>
                <a:cxn ang="0">
                  <a:pos x="T4" y="T5"/>
                </a:cxn>
                <a:cxn ang="0">
                  <a:pos x="T6" y="T7"/>
                </a:cxn>
                <a:cxn ang="0">
                  <a:pos x="T8" y="T9"/>
                </a:cxn>
                <a:cxn ang="0">
                  <a:pos x="T10" y="T11"/>
                </a:cxn>
              </a:cxnLst>
              <a:rect l="0" t="0" r="r" b="b"/>
              <a:pathLst>
                <a:path w="15" h="1">
                  <a:moveTo>
                    <a:pt x="15" y="0"/>
                  </a:moveTo>
                  <a:lnTo>
                    <a:pt x="15" y="0"/>
                  </a:lnTo>
                  <a:cubicBezTo>
                    <a:pt x="15" y="0"/>
                    <a:pt x="15" y="0"/>
                    <a:pt x="15" y="0"/>
                  </a:cubicBezTo>
                  <a:lnTo>
                    <a:pt x="0" y="1"/>
                  </a:lnTo>
                  <a:lnTo>
                    <a:pt x="0" y="1"/>
                  </a:lnTo>
                  <a:lnTo>
                    <a:pt x="1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3" name="Freeform 12"/>
            <p:cNvSpPr>
              <a:spLocks/>
            </p:cNvSpPr>
            <p:nvPr/>
          </p:nvSpPr>
          <p:spPr bwMode="invGray">
            <a:xfrm>
              <a:off x="1227137" y="2836863"/>
              <a:ext cx="20638" cy="0"/>
            </a:xfrm>
            <a:custGeom>
              <a:avLst/>
              <a:gdLst>
                <a:gd name="T0" fmla="*/ 11 w 11"/>
                <a:gd name="T1" fmla="*/ 11 w 11"/>
                <a:gd name="T2" fmla="*/ 0 w 11"/>
                <a:gd name="T3" fmla="*/ 11 w 11"/>
              </a:gdLst>
              <a:ahLst/>
              <a:cxnLst>
                <a:cxn ang="0">
                  <a:pos x="T0" y="0"/>
                </a:cxn>
                <a:cxn ang="0">
                  <a:pos x="T1" y="0"/>
                </a:cxn>
                <a:cxn ang="0">
                  <a:pos x="T2" y="0"/>
                </a:cxn>
                <a:cxn ang="0">
                  <a:pos x="T3" y="0"/>
                </a:cxn>
              </a:cxnLst>
              <a:rect l="0" t="0" r="r" b="b"/>
              <a:pathLst>
                <a:path w="11">
                  <a:moveTo>
                    <a:pt x="11" y="0"/>
                  </a:moveTo>
                  <a:lnTo>
                    <a:pt x="11" y="0"/>
                  </a:ln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4" name="Freeform 13"/>
            <p:cNvSpPr>
              <a:spLocks/>
            </p:cNvSpPr>
            <p:nvPr/>
          </p:nvSpPr>
          <p:spPr bwMode="invGray">
            <a:xfrm>
              <a:off x="3660775" y="2713038"/>
              <a:ext cx="331788" cy="20637"/>
            </a:xfrm>
            <a:custGeom>
              <a:avLst/>
              <a:gdLst>
                <a:gd name="T0" fmla="*/ 173 w 173"/>
                <a:gd name="T1" fmla="*/ 0 h 9"/>
                <a:gd name="T2" fmla="*/ 173 w 173"/>
                <a:gd name="T3" fmla="*/ 0 h 9"/>
                <a:gd name="T4" fmla="*/ 99 w 173"/>
                <a:gd name="T5" fmla="*/ 2 h 9"/>
                <a:gd name="T6" fmla="*/ 89 w 173"/>
                <a:gd name="T7" fmla="*/ 1 h 9"/>
                <a:gd name="T8" fmla="*/ 64 w 173"/>
                <a:gd name="T9" fmla="*/ 2 h 9"/>
                <a:gd name="T10" fmla="*/ 79 w 173"/>
                <a:gd name="T11" fmla="*/ 2 h 9"/>
                <a:gd name="T12" fmla="*/ 0 w 173"/>
                <a:gd name="T13" fmla="*/ 8 h 9"/>
                <a:gd name="T14" fmla="*/ 78 w 173"/>
                <a:gd name="T15" fmla="*/ 7 h 9"/>
                <a:gd name="T16" fmla="*/ 98 w 173"/>
                <a:gd name="T17" fmla="*/ 6 h 9"/>
                <a:gd name="T18" fmla="*/ 159 w 173"/>
                <a:gd name="T19" fmla="*/ 2 h 9"/>
                <a:gd name="T20" fmla="*/ 173 w 173"/>
                <a:gd name="T21"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9">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5" name="Freeform 14"/>
            <p:cNvSpPr>
              <a:spLocks/>
            </p:cNvSpPr>
            <p:nvPr/>
          </p:nvSpPr>
          <p:spPr bwMode="invGray">
            <a:xfrm>
              <a:off x="-1674813" y="2768600"/>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6" name="Freeform 15"/>
            <p:cNvSpPr>
              <a:spLocks/>
            </p:cNvSpPr>
            <p:nvPr/>
          </p:nvSpPr>
          <p:spPr bwMode="invGray">
            <a:xfrm>
              <a:off x="-1673225" y="2767013"/>
              <a:ext cx="36513" cy="1587"/>
            </a:xfrm>
            <a:custGeom>
              <a:avLst/>
              <a:gdLst>
                <a:gd name="T0" fmla="*/ 3 w 19"/>
                <a:gd name="T1" fmla="*/ 0 h 1"/>
                <a:gd name="T2" fmla="*/ 3 w 19"/>
                <a:gd name="T3" fmla="*/ 0 h 1"/>
                <a:gd name="T4" fmla="*/ 0 w 19"/>
                <a:gd name="T5" fmla="*/ 1 h 1"/>
                <a:gd name="T6" fmla="*/ 3 w 19"/>
                <a:gd name="T7" fmla="*/ 0 h 1"/>
              </a:gdLst>
              <a:ahLst/>
              <a:cxnLst>
                <a:cxn ang="0">
                  <a:pos x="T0" y="T1"/>
                </a:cxn>
                <a:cxn ang="0">
                  <a:pos x="T2" y="T3"/>
                </a:cxn>
                <a:cxn ang="0">
                  <a:pos x="T4" y="T5"/>
                </a:cxn>
                <a:cxn ang="0">
                  <a:pos x="T6" y="T7"/>
                </a:cxn>
              </a:cxnLst>
              <a:rect l="0" t="0" r="r" b="b"/>
              <a:pathLst>
                <a:path w="19" h="1">
                  <a:moveTo>
                    <a:pt x="3" y="0"/>
                  </a:moveTo>
                  <a:lnTo>
                    <a:pt x="3" y="0"/>
                  </a:lnTo>
                  <a:lnTo>
                    <a:pt x="0" y="1"/>
                  </a:lnTo>
                  <a:cubicBezTo>
                    <a:pt x="4" y="0"/>
                    <a:pt x="19" y="0"/>
                    <a:pt x="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7" name="Freeform 16"/>
            <p:cNvSpPr>
              <a:spLocks/>
            </p:cNvSpPr>
            <p:nvPr/>
          </p:nvSpPr>
          <p:spPr bwMode="invGray">
            <a:xfrm>
              <a:off x="2690812" y="2811463"/>
              <a:ext cx="47625" cy="4762"/>
            </a:xfrm>
            <a:custGeom>
              <a:avLst/>
              <a:gdLst>
                <a:gd name="T0" fmla="*/ 13 w 25"/>
                <a:gd name="T1" fmla="*/ 0 h 2"/>
                <a:gd name="T2" fmla="*/ 13 w 25"/>
                <a:gd name="T3" fmla="*/ 0 h 2"/>
                <a:gd name="T4" fmla="*/ 0 w 25"/>
                <a:gd name="T5" fmla="*/ 2 h 2"/>
                <a:gd name="T6" fmla="*/ 25 w 25"/>
                <a:gd name="T7" fmla="*/ 0 h 2"/>
                <a:gd name="T8" fmla="*/ 13 w 25"/>
                <a:gd name="T9" fmla="*/ 0 h 2"/>
              </a:gdLst>
              <a:ahLst/>
              <a:cxnLst>
                <a:cxn ang="0">
                  <a:pos x="T0" y="T1"/>
                </a:cxn>
                <a:cxn ang="0">
                  <a:pos x="T2" y="T3"/>
                </a:cxn>
                <a:cxn ang="0">
                  <a:pos x="T4" y="T5"/>
                </a:cxn>
                <a:cxn ang="0">
                  <a:pos x="T6" y="T7"/>
                </a:cxn>
                <a:cxn ang="0">
                  <a:pos x="T8" y="T9"/>
                </a:cxn>
              </a:cxnLst>
              <a:rect l="0" t="0" r="r" b="b"/>
              <a:pathLst>
                <a:path w="25" h="2">
                  <a:moveTo>
                    <a:pt x="13" y="0"/>
                  </a:moveTo>
                  <a:lnTo>
                    <a:pt x="13" y="0"/>
                  </a:lnTo>
                  <a:cubicBezTo>
                    <a:pt x="12" y="0"/>
                    <a:pt x="7" y="1"/>
                    <a:pt x="0" y="2"/>
                  </a:cubicBezTo>
                  <a:lnTo>
                    <a:pt x="25"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8" name="Freeform 17"/>
            <p:cNvSpPr>
              <a:spLocks/>
            </p:cNvSpPr>
            <p:nvPr/>
          </p:nvSpPr>
          <p:spPr bwMode="invGray">
            <a:xfrm>
              <a:off x="2822575" y="2794000"/>
              <a:ext cx="163513" cy="4762"/>
            </a:xfrm>
            <a:custGeom>
              <a:avLst/>
              <a:gdLst>
                <a:gd name="T0" fmla="*/ 0 w 85"/>
                <a:gd name="T1" fmla="*/ 2 h 2"/>
                <a:gd name="T2" fmla="*/ 0 w 85"/>
                <a:gd name="T3" fmla="*/ 2 h 2"/>
                <a:gd name="T4" fmla="*/ 62 w 85"/>
                <a:gd name="T5" fmla="*/ 1 h 2"/>
                <a:gd name="T6" fmla="*/ 85 w 85"/>
                <a:gd name="T7" fmla="*/ 0 h 2"/>
                <a:gd name="T8" fmla="*/ 0 w 85"/>
                <a:gd name="T9" fmla="*/ 2 h 2"/>
              </a:gdLst>
              <a:ahLst/>
              <a:cxnLst>
                <a:cxn ang="0">
                  <a:pos x="T0" y="T1"/>
                </a:cxn>
                <a:cxn ang="0">
                  <a:pos x="T2" y="T3"/>
                </a:cxn>
                <a:cxn ang="0">
                  <a:pos x="T4" y="T5"/>
                </a:cxn>
                <a:cxn ang="0">
                  <a:pos x="T6" y="T7"/>
                </a:cxn>
                <a:cxn ang="0">
                  <a:pos x="T8" y="T9"/>
                </a:cxn>
              </a:cxnLst>
              <a:rect l="0" t="0" r="r" b="b"/>
              <a:pathLst>
                <a:path w="85" h="2">
                  <a:moveTo>
                    <a:pt x="0" y="2"/>
                  </a:moveTo>
                  <a:lnTo>
                    <a:pt x="0" y="2"/>
                  </a:lnTo>
                  <a:lnTo>
                    <a:pt x="62" y="1"/>
                  </a:lnTo>
                  <a:lnTo>
                    <a:pt x="8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9" name="Freeform 18"/>
            <p:cNvSpPr>
              <a:spLocks/>
            </p:cNvSpPr>
            <p:nvPr/>
          </p:nvSpPr>
          <p:spPr bwMode="invGray">
            <a:xfrm>
              <a:off x="715962" y="2809875"/>
              <a:ext cx="1911350" cy="50800"/>
            </a:xfrm>
            <a:custGeom>
              <a:avLst/>
              <a:gdLst>
                <a:gd name="T0" fmla="*/ 375 w 996"/>
                <a:gd name="T1" fmla="*/ 13 h 23"/>
                <a:gd name="T2" fmla="*/ 375 w 996"/>
                <a:gd name="T3" fmla="*/ 13 h 23"/>
                <a:gd name="T4" fmla="*/ 348 w 996"/>
                <a:gd name="T5" fmla="*/ 9 h 23"/>
                <a:gd name="T6" fmla="*/ 277 w 996"/>
                <a:gd name="T7" fmla="*/ 12 h 23"/>
                <a:gd name="T8" fmla="*/ 366 w 996"/>
                <a:gd name="T9" fmla="*/ 16 h 23"/>
                <a:gd name="T10" fmla="*/ 257 w 996"/>
                <a:gd name="T11" fmla="*/ 19 h 23"/>
                <a:gd name="T12" fmla="*/ 301 w 996"/>
                <a:gd name="T13" fmla="*/ 14 h 23"/>
                <a:gd name="T14" fmla="*/ 249 w 996"/>
                <a:gd name="T15" fmla="*/ 16 h 23"/>
                <a:gd name="T16" fmla="*/ 76 w 996"/>
                <a:gd name="T17" fmla="*/ 16 h 23"/>
                <a:gd name="T18" fmla="*/ 5 w 996"/>
                <a:gd name="T19" fmla="*/ 20 h 23"/>
                <a:gd name="T20" fmla="*/ 93 w 996"/>
                <a:gd name="T21" fmla="*/ 23 h 23"/>
                <a:gd name="T22" fmla="*/ 84 w 996"/>
                <a:gd name="T23" fmla="*/ 22 h 23"/>
                <a:gd name="T24" fmla="*/ 125 w 996"/>
                <a:gd name="T25" fmla="*/ 23 h 23"/>
                <a:gd name="T26" fmla="*/ 151 w 996"/>
                <a:gd name="T27" fmla="*/ 20 h 23"/>
                <a:gd name="T28" fmla="*/ 191 w 996"/>
                <a:gd name="T29" fmla="*/ 20 h 23"/>
                <a:gd name="T30" fmla="*/ 168 w 996"/>
                <a:gd name="T31" fmla="*/ 21 h 23"/>
                <a:gd name="T32" fmla="*/ 264 w 996"/>
                <a:gd name="T33" fmla="*/ 20 h 23"/>
                <a:gd name="T34" fmla="*/ 252 w 996"/>
                <a:gd name="T35" fmla="*/ 22 h 23"/>
                <a:gd name="T36" fmla="*/ 371 w 996"/>
                <a:gd name="T37" fmla="*/ 18 h 23"/>
                <a:gd name="T38" fmla="*/ 341 w 996"/>
                <a:gd name="T39" fmla="*/ 21 h 23"/>
                <a:gd name="T40" fmla="*/ 539 w 996"/>
                <a:gd name="T41" fmla="*/ 20 h 23"/>
                <a:gd name="T42" fmla="*/ 527 w 996"/>
                <a:gd name="T43" fmla="*/ 19 h 23"/>
                <a:gd name="T44" fmla="*/ 575 w 996"/>
                <a:gd name="T45" fmla="*/ 21 h 23"/>
                <a:gd name="T46" fmla="*/ 766 w 996"/>
                <a:gd name="T47" fmla="*/ 20 h 23"/>
                <a:gd name="T48" fmla="*/ 996 w 996"/>
                <a:gd name="T49" fmla="*/ 5 h 23"/>
                <a:gd name="T50" fmla="*/ 969 w 996"/>
                <a:gd name="T51" fmla="*/ 6 h 23"/>
                <a:gd name="T52" fmla="*/ 973 w 996"/>
                <a:gd name="T53" fmla="*/ 1 h 23"/>
                <a:gd name="T54" fmla="*/ 897 w 996"/>
                <a:gd name="T55" fmla="*/ 5 h 23"/>
                <a:gd name="T56" fmla="*/ 872 w 996"/>
                <a:gd name="T57" fmla="*/ 0 h 23"/>
                <a:gd name="T58" fmla="*/ 535 w 996"/>
                <a:gd name="T59" fmla="*/ 14 h 23"/>
                <a:gd name="T60" fmla="*/ 389 w 996"/>
                <a:gd name="T61" fmla="*/ 13 h 23"/>
                <a:gd name="T62" fmla="*/ 476 w 996"/>
                <a:gd name="T63" fmla="*/ 9 h 23"/>
                <a:gd name="T64" fmla="*/ 387 w 996"/>
                <a:gd name="T65" fmla="*/ 9 h 23"/>
                <a:gd name="T66" fmla="*/ 375 w 996"/>
                <a:gd name="T67" fmla="*/ 1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96" h="23">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0" name="Freeform 19"/>
            <p:cNvSpPr>
              <a:spLocks/>
            </p:cNvSpPr>
            <p:nvPr/>
          </p:nvSpPr>
          <p:spPr bwMode="invGray">
            <a:xfrm>
              <a:off x="1995487" y="2822575"/>
              <a:ext cx="20638" cy="0"/>
            </a:xfrm>
            <a:custGeom>
              <a:avLst/>
              <a:gdLst>
                <a:gd name="T0" fmla="*/ 10 w 10"/>
                <a:gd name="T1" fmla="*/ 10 w 10"/>
                <a:gd name="T2" fmla="*/ 0 w 10"/>
                <a:gd name="T3" fmla="*/ 10 w 10"/>
              </a:gdLst>
              <a:ahLst/>
              <a:cxnLst>
                <a:cxn ang="0">
                  <a:pos x="T0" y="0"/>
                </a:cxn>
                <a:cxn ang="0">
                  <a:pos x="T1" y="0"/>
                </a:cxn>
                <a:cxn ang="0">
                  <a:pos x="T2" y="0"/>
                </a:cxn>
                <a:cxn ang="0">
                  <a:pos x="T3" y="0"/>
                </a:cxn>
              </a:cxnLst>
              <a:rect l="0" t="0" r="r" b="b"/>
              <a:pathLst>
                <a:path w="10">
                  <a:moveTo>
                    <a:pt x="10" y="0"/>
                  </a:moveTo>
                  <a:lnTo>
                    <a:pt x="10" y="0"/>
                  </a:lnTo>
                  <a:lnTo>
                    <a:pt x="0" y="0"/>
                  </a:lnTo>
                  <a:cubicBezTo>
                    <a:pt x="1" y="0"/>
                    <a:pt x="4" y="0"/>
                    <a:pt x="1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1" name="Freeform 20"/>
            <p:cNvSpPr>
              <a:spLocks/>
            </p:cNvSpPr>
            <p:nvPr/>
          </p:nvSpPr>
          <p:spPr bwMode="invGray">
            <a:xfrm>
              <a:off x="1630362" y="2830513"/>
              <a:ext cx="22225" cy="0"/>
            </a:xfrm>
            <a:custGeom>
              <a:avLst/>
              <a:gdLst>
                <a:gd name="T0" fmla="*/ 11 w 12"/>
                <a:gd name="T1" fmla="*/ 11 w 12"/>
                <a:gd name="T2" fmla="*/ 12 w 12"/>
                <a:gd name="T3" fmla="*/ 0 w 12"/>
                <a:gd name="T4" fmla="*/ 11 w 12"/>
              </a:gdLst>
              <a:ahLst/>
              <a:cxnLst>
                <a:cxn ang="0">
                  <a:pos x="T0" y="0"/>
                </a:cxn>
                <a:cxn ang="0">
                  <a:pos x="T1" y="0"/>
                </a:cxn>
                <a:cxn ang="0">
                  <a:pos x="T2" y="0"/>
                </a:cxn>
                <a:cxn ang="0">
                  <a:pos x="T3" y="0"/>
                </a:cxn>
                <a:cxn ang="0">
                  <a:pos x="T4" y="0"/>
                </a:cxn>
              </a:cxnLst>
              <a:rect l="0" t="0" r="r" b="b"/>
              <a:pathLst>
                <a:path w="12">
                  <a:moveTo>
                    <a:pt x="11" y="0"/>
                  </a:moveTo>
                  <a:lnTo>
                    <a:pt x="11" y="0"/>
                  </a:lnTo>
                  <a:cubicBezTo>
                    <a:pt x="12" y="0"/>
                    <a:pt x="11" y="0"/>
                    <a:pt x="12" y="0"/>
                  </a:cubicBez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2" name="Freeform 21"/>
            <p:cNvSpPr>
              <a:spLocks/>
            </p:cNvSpPr>
            <p:nvPr/>
          </p:nvSpPr>
          <p:spPr bwMode="invGray">
            <a:xfrm>
              <a:off x="2651125" y="2798763"/>
              <a:ext cx="46038" cy="1587"/>
            </a:xfrm>
            <a:custGeom>
              <a:avLst/>
              <a:gdLst>
                <a:gd name="T0" fmla="*/ 3 w 24"/>
                <a:gd name="T1" fmla="*/ 1 h 1"/>
                <a:gd name="T2" fmla="*/ 3 w 24"/>
                <a:gd name="T3" fmla="*/ 1 h 1"/>
                <a:gd name="T4" fmla="*/ 24 w 24"/>
                <a:gd name="T5" fmla="*/ 0 h 1"/>
                <a:gd name="T6" fmla="*/ 8 w 24"/>
                <a:gd name="T7" fmla="*/ 1 h 1"/>
                <a:gd name="T8" fmla="*/ 3 w 24"/>
                <a:gd name="T9" fmla="*/ 1 h 1"/>
              </a:gdLst>
              <a:ahLst/>
              <a:cxnLst>
                <a:cxn ang="0">
                  <a:pos x="T0" y="T1"/>
                </a:cxn>
                <a:cxn ang="0">
                  <a:pos x="T2" y="T3"/>
                </a:cxn>
                <a:cxn ang="0">
                  <a:pos x="T4" y="T5"/>
                </a:cxn>
                <a:cxn ang="0">
                  <a:pos x="T6" y="T7"/>
                </a:cxn>
                <a:cxn ang="0">
                  <a:pos x="T8" y="T9"/>
                </a:cxn>
              </a:cxnLst>
              <a:rect l="0" t="0" r="r" b="b"/>
              <a:pathLst>
                <a:path w="24" h="1">
                  <a:moveTo>
                    <a:pt x="3" y="1"/>
                  </a:moveTo>
                  <a:lnTo>
                    <a:pt x="3" y="1"/>
                  </a:lnTo>
                  <a:lnTo>
                    <a:pt x="24" y="0"/>
                  </a:lnTo>
                  <a:lnTo>
                    <a:pt x="8" y="1"/>
                  </a:lnTo>
                  <a:cubicBezTo>
                    <a:pt x="2" y="1"/>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3" name="Freeform 22"/>
            <p:cNvSpPr>
              <a:spLocks/>
            </p:cNvSpPr>
            <p:nvPr/>
          </p:nvSpPr>
          <p:spPr bwMode="invGray">
            <a:xfrm>
              <a:off x="2698750" y="2809875"/>
              <a:ext cx="19050" cy="1587"/>
            </a:xfrm>
            <a:custGeom>
              <a:avLst/>
              <a:gdLst>
                <a:gd name="T0" fmla="*/ 4 w 10"/>
                <a:gd name="T1" fmla="*/ 0 h 1"/>
                <a:gd name="T2" fmla="*/ 4 w 10"/>
                <a:gd name="T3" fmla="*/ 0 h 1"/>
                <a:gd name="T4" fmla="*/ 0 w 10"/>
                <a:gd name="T5" fmla="*/ 1 h 1"/>
                <a:gd name="T6" fmla="*/ 9 w 10"/>
                <a:gd name="T7" fmla="*/ 1 h 1"/>
                <a:gd name="T8" fmla="*/ 4 w 10"/>
                <a:gd name="T9" fmla="*/ 0 h 1"/>
              </a:gdLst>
              <a:ahLst/>
              <a:cxnLst>
                <a:cxn ang="0">
                  <a:pos x="T0" y="T1"/>
                </a:cxn>
                <a:cxn ang="0">
                  <a:pos x="T2" y="T3"/>
                </a:cxn>
                <a:cxn ang="0">
                  <a:pos x="T4" y="T5"/>
                </a:cxn>
                <a:cxn ang="0">
                  <a:pos x="T6" y="T7"/>
                </a:cxn>
                <a:cxn ang="0">
                  <a:pos x="T8" y="T9"/>
                </a:cxn>
              </a:cxnLst>
              <a:rect l="0" t="0" r="r" b="b"/>
              <a:pathLst>
                <a:path w="10" h="1">
                  <a:moveTo>
                    <a:pt x="4" y="0"/>
                  </a:moveTo>
                  <a:lnTo>
                    <a:pt x="4" y="0"/>
                  </a:lnTo>
                  <a:lnTo>
                    <a:pt x="0" y="1"/>
                  </a:lnTo>
                  <a:lnTo>
                    <a:pt x="9" y="1"/>
                  </a:lnTo>
                  <a:cubicBezTo>
                    <a:pt x="10" y="0"/>
                    <a:pt x="9" y="0"/>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4" name="Freeform 23"/>
            <p:cNvSpPr>
              <a:spLocks/>
            </p:cNvSpPr>
            <p:nvPr/>
          </p:nvSpPr>
          <p:spPr bwMode="invGray">
            <a:xfrm>
              <a:off x="469900" y="2800350"/>
              <a:ext cx="23813" cy="3175"/>
            </a:xfrm>
            <a:custGeom>
              <a:avLst/>
              <a:gdLst>
                <a:gd name="T0" fmla="*/ 13 w 13"/>
                <a:gd name="T1" fmla="*/ 0 h 1"/>
                <a:gd name="T2" fmla="*/ 13 w 13"/>
                <a:gd name="T3" fmla="*/ 0 h 1"/>
                <a:gd name="T4" fmla="*/ 0 w 13"/>
                <a:gd name="T5" fmla="*/ 1 h 1"/>
                <a:gd name="T6" fmla="*/ 13 w 13"/>
                <a:gd name="T7" fmla="*/ 0 h 1"/>
              </a:gdLst>
              <a:ahLst/>
              <a:cxnLst>
                <a:cxn ang="0">
                  <a:pos x="T0" y="T1"/>
                </a:cxn>
                <a:cxn ang="0">
                  <a:pos x="T2" y="T3"/>
                </a:cxn>
                <a:cxn ang="0">
                  <a:pos x="T4" y="T5"/>
                </a:cxn>
                <a:cxn ang="0">
                  <a:pos x="T6" y="T7"/>
                </a:cxn>
              </a:cxnLst>
              <a:rect l="0" t="0" r="r" b="b"/>
              <a:pathLst>
                <a:path w="13" h="1">
                  <a:moveTo>
                    <a:pt x="13" y="0"/>
                  </a:moveTo>
                  <a:lnTo>
                    <a:pt x="13" y="0"/>
                  </a:lnTo>
                  <a:lnTo>
                    <a:pt x="0" y="1"/>
                  </a:lnTo>
                  <a:cubicBezTo>
                    <a:pt x="8" y="1"/>
                    <a:pt x="11" y="1"/>
                    <a:pt x="1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5" name="Freeform 24"/>
            <p:cNvSpPr>
              <a:spLocks/>
            </p:cNvSpPr>
            <p:nvPr/>
          </p:nvSpPr>
          <p:spPr bwMode="invGray">
            <a:xfrm>
              <a:off x="998537" y="2811463"/>
              <a:ext cx="1076325" cy="20637"/>
            </a:xfrm>
            <a:custGeom>
              <a:avLst/>
              <a:gdLst>
                <a:gd name="T0" fmla="*/ 85 w 561"/>
                <a:gd name="T1" fmla="*/ 9 h 9"/>
                <a:gd name="T2" fmla="*/ 85 w 561"/>
                <a:gd name="T3" fmla="*/ 9 h 9"/>
                <a:gd name="T4" fmla="*/ 154 w 561"/>
                <a:gd name="T5" fmla="*/ 6 h 9"/>
                <a:gd name="T6" fmla="*/ 135 w 561"/>
                <a:gd name="T7" fmla="*/ 6 h 9"/>
                <a:gd name="T8" fmla="*/ 314 w 561"/>
                <a:gd name="T9" fmla="*/ 5 h 9"/>
                <a:gd name="T10" fmla="*/ 341 w 561"/>
                <a:gd name="T11" fmla="*/ 8 h 9"/>
                <a:gd name="T12" fmla="*/ 433 w 561"/>
                <a:gd name="T13" fmla="*/ 5 h 9"/>
                <a:gd name="T14" fmla="*/ 520 w 561"/>
                <a:gd name="T15" fmla="*/ 5 h 9"/>
                <a:gd name="T16" fmla="*/ 490 w 561"/>
                <a:gd name="T17" fmla="*/ 3 h 9"/>
                <a:gd name="T18" fmla="*/ 498 w 561"/>
                <a:gd name="T19" fmla="*/ 2 h 9"/>
                <a:gd name="T20" fmla="*/ 395 w 561"/>
                <a:gd name="T21" fmla="*/ 3 h 9"/>
                <a:gd name="T22" fmla="*/ 411 w 561"/>
                <a:gd name="T23" fmla="*/ 1 h 9"/>
                <a:gd name="T24" fmla="*/ 261 w 561"/>
                <a:gd name="T25" fmla="*/ 4 h 9"/>
                <a:gd name="T26" fmla="*/ 210 w 561"/>
                <a:gd name="T27" fmla="*/ 3 h 9"/>
                <a:gd name="T28" fmla="*/ 1 w 561"/>
                <a:gd name="T29" fmla="*/ 7 h 9"/>
                <a:gd name="T30" fmla="*/ 85 w 561"/>
                <a:gd name="T31" fmla="*/ 6 h 9"/>
                <a:gd name="T32" fmla="*/ 85 w 561"/>
                <a:gd name="T33"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1" h="9">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6" name="Freeform 25"/>
            <p:cNvSpPr>
              <a:spLocks/>
            </p:cNvSpPr>
            <p:nvPr/>
          </p:nvSpPr>
          <p:spPr bwMode="invGray">
            <a:xfrm>
              <a:off x="2495550" y="2803525"/>
              <a:ext cx="17463" cy="0"/>
            </a:xfrm>
            <a:custGeom>
              <a:avLst/>
              <a:gdLst>
                <a:gd name="T0" fmla="*/ 9 w 9"/>
                <a:gd name="T1" fmla="*/ 9 w 9"/>
                <a:gd name="T2" fmla="*/ 0 w 9"/>
                <a:gd name="T3" fmla="*/ 9 w 9"/>
              </a:gdLst>
              <a:ahLst/>
              <a:cxnLst>
                <a:cxn ang="0">
                  <a:pos x="T0" y="0"/>
                </a:cxn>
                <a:cxn ang="0">
                  <a:pos x="T1" y="0"/>
                </a:cxn>
                <a:cxn ang="0">
                  <a:pos x="T2" y="0"/>
                </a:cxn>
                <a:cxn ang="0">
                  <a:pos x="T3" y="0"/>
                </a:cxn>
              </a:cxnLst>
              <a:rect l="0" t="0" r="r" b="b"/>
              <a:pathLst>
                <a:path w="9">
                  <a:moveTo>
                    <a:pt x="9" y="0"/>
                  </a:moveTo>
                  <a:lnTo>
                    <a:pt x="9" y="0"/>
                  </a:lnTo>
                  <a:lnTo>
                    <a:pt x="0" y="0"/>
                  </a:lnTo>
                  <a:lnTo>
                    <a:pt x="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7" name="Freeform 26"/>
            <p:cNvSpPr>
              <a:spLocks noEditPoints="1"/>
            </p:cNvSpPr>
            <p:nvPr/>
          </p:nvSpPr>
          <p:spPr bwMode="invGray">
            <a:xfrm>
              <a:off x="2538412" y="2816225"/>
              <a:ext cx="1057275" cy="31750"/>
            </a:xfrm>
            <a:custGeom>
              <a:avLst/>
              <a:gdLst>
                <a:gd name="T0" fmla="*/ 495 w 551"/>
                <a:gd name="T1" fmla="*/ 10 h 14"/>
                <a:gd name="T2" fmla="*/ 495 w 551"/>
                <a:gd name="T3" fmla="*/ 10 h 14"/>
                <a:gd name="T4" fmla="*/ 461 w 551"/>
                <a:gd name="T5" fmla="*/ 9 h 14"/>
                <a:gd name="T6" fmla="*/ 495 w 551"/>
                <a:gd name="T7" fmla="*/ 10 h 14"/>
                <a:gd name="T8" fmla="*/ 551 w 551"/>
                <a:gd name="T9" fmla="*/ 9 h 14"/>
                <a:gd name="T10" fmla="*/ 551 w 551"/>
                <a:gd name="T11" fmla="*/ 9 h 14"/>
                <a:gd name="T12" fmla="*/ 532 w 551"/>
                <a:gd name="T13" fmla="*/ 13 h 14"/>
                <a:gd name="T14" fmla="*/ 294 w 551"/>
                <a:gd name="T15" fmla="*/ 13 h 14"/>
                <a:gd name="T16" fmla="*/ 304 w 551"/>
                <a:gd name="T17" fmla="*/ 12 h 14"/>
                <a:gd name="T18" fmla="*/ 93 w 551"/>
                <a:gd name="T19" fmla="*/ 14 h 14"/>
                <a:gd name="T20" fmla="*/ 38 w 551"/>
                <a:gd name="T21" fmla="*/ 12 h 14"/>
                <a:gd name="T22" fmla="*/ 4 w 551"/>
                <a:gd name="T23" fmla="*/ 12 h 14"/>
                <a:gd name="T24" fmla="*/ 31 w 551"/>
                <a:gd name="T25" fmla="*/ 11 h 14"/>
                <a:gd name="T26" fmla="*/ 16 w 551"/>
                <a:gd name="T27" fmla="*/ 11 h 14"/>
                <a:gd name="T28" fmla="*/ 73 w 551"/>
                <a:gd name="T29" fmla="*/ 6 h 14"/>
                <a:gd name="T30" fmla="*/ 39 w 551"/>
                <a:gd name="T31" fmla="*/ 10 h 14"/>
                <a:gd name="T32" fmla="*/ 62 w 551"/>
                <a:gd name="T33" fmla="*/ 8 h 14"/>
                <a:gd name="T34" fmla="*/ 90 w 551"/>
                <a:gd name="T35" fmla="*/ 10 h 14"/>
                <a:gd name="T36" fmla="*/ 157 w 551"/>
                <a:gd name="T37" fmla="*/ 9 h 14"/>
                <a:gd name="T38" fmla="*/ 193 w 551"/>
                <a:gd name="T39" fmla="*/ 11 h 14"/>
                <a:gd name="T40" fmla="*/ 215 w 551"/>
                <a:gd name="T41" fmla="*/ 8 h 14"/>
                <a:gd name="T42" fmla="*/ 280 w 551"/>
                <a:gd name="T43" fmla="*/ 8 h 14"/>
                <a:gd name="T44" fmla="*/ 373 w 551"/>
                <a:gd name="T45" fmla="*/ 0 h 14"/>
                <a:gd name="T46" fmla="*/ 452 w 551"/>
                <a:gd name="T47" fmla="*/ 6 h 14"/>
                <a:gd name="T48" fmla="*/ 329 w 551"/>
                <a:gd name="T49" fmla="*/ 7 h 14"/>
                <a:gd name="T50" fmla="*/ 282 w 551"/>
                <a:gd name="T51" fmla="*/ 11 h 14"/>
                <a:gd name="T52" fmla="*/ 389 w 551"/>
                <a:gd name="T53" fmla="*/ 9 h 14"/>
                <a:gd name="T54" fmla="*/ 377 w 551"/>
                <a:gd name="T55" fmla="*/ 10 h 14"/>
                <a:gd name="T56" fmla="*/ 494 w 551"/>
                <a:gd name="T57" fmla="*/ 8 h 14"/>
                <a:gd name="T58" fmla="*/ 510 w 551"/>
                <a:gd name="T59" fmla="*/ 9 h 14"/>
                <a:gd name="T60" fmla="*/ 551 w 551"/>
                <a:gd name="T61" fmla="*/ 9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51" h="14">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8" name="Freeform 27"/>
            <p:cNvSpPr>
              <a:spLocks/>
            </p:cNvSpPr>
            <p:nvPr/>
          </p:nvSpPr>
          <p:spPr bwMode="invGray">
            <a:xfrm>
              <a:off x="11777663" y="2757488"/>
              <a:ext cx="19050" cy="3175"/>
            </a:xfrm>
            <a:custGeom>
              <a:avLst/>
              <a:gdLst>
                <a:gd name="T0" fmla="*/ 0 w 10"/>
                <a:gd name="T1" fmla="*/ 0 h 1"/>
                <a:gd name="T2" fmla="*/ 0 w 10"/>
                <a:gd name="T3" fmla="*/ 0 h 1"/>
                <a:gd name="T4" fmla="*/ 10 w 10"/>
                <a:gd name="T5" fmla="*/ 1 h 1"/>
                <a:gd name="T6" fmla="*/ 0 w 10"/>
                <a:gd name="T7" fmla="*/ 0 h 1"/>
              </a:gdLst>
              <a:ahLst/>
              <a:cxnLst>
                <a:cxn ang="0">
                  <a:pos x="T0" y="T1"/>
                </a:cxn>
                <a:cxn ang="0">
                  <a:pos x="T2" y="T3"/>
                </a:cxn>
                <a:cxn ang="0">
                  <a:pos x="T4" y="T5"/>
                </a:cxn>
                <a:cxn ang="0">
                  <a:pos x="T6" y="T7"/>
                </a:cxn>
              </a:cxnLst>
              <a:rect l="0" t="0" r="r" b="b"/>
              <a:pathLst>
                <a:path w="10" h="1">
                  <a:moveTo>
                    <a:pt x="0" y="0"/>
                  </a:moveTo>
                  <a:lnTo>
                    <a:pt x="0" y="0"/>
                  </a:lnTo>
                  <a:lnTo>
                    <a:pt x="10" y="1"/>
                  </a:lnTo>
                  <a:cubicBezTo>
                    <a:pt x="8" y="1"/>
                    <a:pt x="4"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9" name="Freeform 28"/>
            <p:cNvSpPr>
              <a:spLocks/>
            </p:cNvSpPr>
            <p:nvPr/>
          </p:nvSpPr>
          <p:spPr bwMode="invGray">
            <a:xfrm>
              <a:off x="5983288" y="2741613"/>
              <a:ext cx="38100" cy="0"/>
            </a:xfrm>
            <a:custGeom>
              <a:avLst/>
              <a:gdLst>
                <a:gd name="T0" fmla="*/ 0 w 20"/>
                <a:gd name="T1" fmla="*/ 0 w 20"/>
                <a:gd name="T2" fmla="*/ 20 w 20"/>
                <a:gd name="T3" fmla="*/ 0 w 20"/>
              </a:gdLst>
              <a:ahLst/>
              <a:cxnLst>
                <a:cxn ang="0">
                  <a:pos x="T0" y="0"/>
                </a:cxn>
                <a:cxn ang="0">
                  <a:pos x="T1" y="0"/>
                </a:cxn>
                <a:cxn ang="0">
                  <a:pos x="T2" y="0"/>
                </a:cxn>
                <a:cxn ang="0">
                  <a:pos x="T3" y="0"/>
                </a:cxn>
              </a:cxnLst>
              <a:rect l="0" t="0" r="r" b="b"/>
              <a:pathLst>
                <a:path w="20">
                  <a:moveTo>
                    <a:pt x="0" y="0"/>
                  </a:moveTo>
                  <a:lnTo>
                    <a:pt x="0" y="0"/>
                  </a:lnTo>
                  <a:lnTo>
                    <a:pt x="20"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0" name="Freeform 29"/>
            <p:cNvSpPr>
              <a:spLocks/>
            </p:cNvSpPr>
            <p:nvPr/>
          </p:nvSpPr>
          <p:spPr bwMode="invGray">
            <a:xfrm>
              <a:off x="6832600" y="2713038"/>
              <a:ext cx="53975" cy="1587"/>
            </a:xfrm>
            <a:custGeom>
              <a:avLst/>
              <a:gdLst>
                <a:gd name="T0" fmla="*/ 0 w 28"/>
                <a:gd name="T1" fmla="*/ 1 h 1"/>
                <a:gd name="T2" fmla="*/ 0 w 28"/>
                <a:gd name="T3" fmla="*/ 1 h 1"/>
                <a:gd name="T4" fmla="*/ 28 w 28"/>
                <a:gd name="T5" fmla="*/ 0 h 1"/>
                <a:gd name="T6" fmla="*/ 0 w 28"/>
                <a:gd name="T7" fmla="*/ 1 h 1"/>
              </a:gdLst>
              <a:ahLst/>
              <a:cxnLst>
                <a:cxn ang="0">
                  <a:pos x="T0" y="T1"/>
                </a:cxn>
                <a:cxn ang="0">
                  <a:pos x="T2" y="T3"/>
                </a:cxn>
                <a:cxn ang="0">
                  <a:pos x="T4" y="T5"/>
                </a:cxn>
                <a:cxn ang="0">
                  <a:pos x="T6" y="T7"/>
                </a:cxn>
              </a:cxnLst>
              <a:rect l="0" t="0" r="r" b="b"/>
              <a:pathLst>
                <a:path w="28" h="1">
                  <a:moveTo>
                    <a:pt x="0" y="1"/>
                  </a:moveTo>
                  <a:lnTo>
                    <a:pt x="0" y="1"/>
                  </a:lnTo>
                  <a:lnTo>
                    <a:pt x="28" y="0"/>
                  </a:lnTo>
                  <a:cubicBezTo>
                    <a:pt x="17" y="0"/>
                    <a:pt x="8"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1" name="Freeform 30"/>
            <p:cNvSpPr>
              <a:spLocks/>
            </p:cNvSpPr>
            <p:nvPr/>
          </p:nvSpPr>
          <p:spPr bwMode="invGray">
            <a:xfrm>
              <a:off x="11317288" y="2755900"/>
              <a:ext cx="9525" cy="0"/>
            </a:xfrm>
            <a:custGeom>
              <a:avLst/>
              <a:gdLst>
                <a:gd name="T0" fmla="*/ 5 w 5"/>
                <a:gd name="T1" fmla="*/ 5 w 5"/>
                <a:gd name="T2" fmla="*/ 4 w 5"/>
                <a:gd name="T3" fmla="*/ 0 w 5"/>
                <a:gd name="T4" fmla="*/ 5 w 5"/>
              </a:gdLst>
              <a:ahLst/>
              <a:cxnLst>
                <a:cxn ang="0">
                  <a:pos x="T0" y="0"/>
                </a:cxn>
                <a:cxn ang="0">
                  <a:pos x="T1" y="0"/>
                </a:cxn>
                <a:cxn ang="0">
                  <a:pos x="T2" y="0"/>
                </a:cxn>
                <a:cxn ang="0">
                  <a:pos x="T3" y="0"/>
                </a:cxn>
                <a:cxn ang="0">
                  <a:pos x="T4" y="0"/>
                </a:cxn>
              </a:cxnLst>
              <a:rect l="0" t="0" r="r" b="b"/>
              <a:pathLst>
                <a:path w="5">
                  <a:moveTo>
                    <a:pt x="5" y="0"/>
                  </a:moveTo>
                  <a:lnTo>
                    <a:pt x="5" y="0"/>
                  </a:lnTo>
                  <a:lnTo>
                    <a:pt x="4" y="0"/>
                  </a:lnTo>
                  <a:lnTo>
                    <a:pt x="0" y="0"/>
                  </a:lnTo>
                  <a:lnTo>
                    <a:pt x="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2" name="Freeform 31"/>
            <p:cNvSpPr>
              <a:spLocks/>
            </p:cNvSpPr>
            <p:nvPr/>
          </p:nvSpPr>
          <p:spPr bwMode="invGray">
            <a:xfrm>
              <a:off x="8534400" y="2735263"/>
              <a:ext cx="30163" cy="0"/>
            </a:xfrm>
            <a:custGeom>
              <a:avLst/>
              <a:gdLst>
                <a:gd name="T0" fmla="*/ 0 w 16"/>
                <a:gd name="T1" fmla="*/ 0 w 16"/>
                <a:gd name="T2" fmla="*/ 16 w 16"/>
                <a:gd name="T3" fmla="*/ 0 w 16"/>
              </a:gdLst>
              <a:ahLst/>
              <a:cxnLst>
                <a:cxn ang="0">
                  <a:pos x="T0" y="0"/>
                </a:cxn>
                <a:cxn ang="0">
                  <a:pos x="T1" y="0"/>
                </a:cxn>
                <a:cxn ang="0">
                  <a:pos x="T2" y="0"/>
                </a:cxn>
                <a:cxn ang="0">
                  <a:pos x="T3" y="0"/>
                </a:cxn>
              </a:cxnLst>
              <a:rect l="0" t="0" r="r" b="b"/>
              <a:pathLst>
                <a:path w="16">
                  <a:moveTo>
                    <a:pt x="0" y="0"/>
                  </a:moveTo>
                  <a:lnTo>
                    <a:pt x="0" y="0"/>
                  </a:lnTo>
                  <a:cubicBezTo>
                    <a:pt x="4" y="0"/>
                    <a:pt x="9" y="0"/>
                    <a:pt x="16" y="0"/>
                  </a:cubicBezTo>
                  <a:cubicBezTo>
                    <a:pt x="15" y="0"/>
                    <a:pt x="9"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3" name="Freeform 32"/>
            <p:cNvSpPr>
              <a:spLocks/>
            </p:cNvSpPr>
            <p:nvPr/>
          </p:nvSpPr>
          <p:spPr bwMode="invGray">
            <a:xfrm>
              <a:off x="6821488" y="2714625"/>
              <a:ext cx="9525" cy="0"/>
            </a:xfrm>
            <a:custGeom>
              <a:avLst/>
              <a:gdLst>
                <a:gd name="T0" fmla="*/ 0 w 5"/>
                <a:gd name="T1" fmla="*/ 0 w 5"/>
                <a:gd name="T2" fmla="*/ 2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2"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4" name="Freeform 33"/>
            <p:cNvSpPr>
              <a:spLocks/>
            </p:cNvSpPr>
            <p:nvPr/>
          </p:nvSpPr>
          <p:spPr bwMode="invGray">
            <a:xfrm>
              <a:off x="5583238" y="2719388"/>
              <a:ext cx="25400" cy="0"/>
            </a:xfrm>
            <a:custGeom>
              <a:avLst/>
              <a:gdLst>
                <a:gd name="T0" fmla="*/ 13 w 13"/>
                <a:gd name="T1" fmla="*/ 13 w 13"/>
                <a:gd name="T2" fmla="*/ 0 w 13"/>
                <a:gd name="T3" fmla="*/ 13 w 13"/>
              </a:gdLst>
              <a:ahLst/>
              <a:cxnLst>
                <a:cxn ang="0">
                  <a:pos x="T0" y="0"/>
                </a:cxn>
                <a:cxn ang="0">
                  <a:pos x="T1" y="0"/>
                </a:cxn>
                <a:cxn ang="0">
                  <a:pos x="T2" y="0"/>
                </a:cxn>
                <a:cxn ang="0">
                  <a:pos x="T3" y="0"/>
                </a:cxn>
              </a:cxnLst>
              <a:rect l="0" t="0" r="r" b="b"/>
              <a:pathLst>
                <a:path w="13">
                  <a:moveTo>
                    <a:pt x="13" y="0"/>
                  </a:moveTo>
                  <a:lnTo>
                    <a:pt x="13" y="0"/>
                  </a:lnTo>
                  <a:lnTo>
                    <a:pt x="0"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5" name="Freeform 34"/>
            <p:cNvSpPr>
              <a:spLocks/>
            </p:cNvSpPr>
            <p:nvPr/>
          </p:nvSpPr>
          <p:spPr bwMode="invGray">
            <a:xfrm>
              <a:off x="5638800" y="2740025"/>
              <a:ext cx="23813" cy="1587"/>
            </a:xfrm>
            <a:custGeom>
              <a:avLst/>
              <a:gdLst>
                <a:gd name="T0" fmla="*/ 12 w 12"/>
                <a:gd name="T1" fmla="*/ 0 h 1"/>
                <a:gd name="T2" fmla="*/ 12 w 12"/>
                <a:gd name="T3" fmla="*/ 0 h 1"/>
                <a:gd name="T4" fmla="*/ 0 w 12"/>
                <a:gd name="T5" fmla="*/ 1 h 1"/>
                <a:gd name="T6" fmla="*/ 12 w 12"/>
                <a:gd name="T7" fmla="*/ 0 h 1"/>
              </a:gdLst>
              <a:ahLst/>
              <a:cxnLst>
                <a:cxn ang="0">
                  <a:pos x="T0" y="T1"/>
                </a:cxn>
                <a:cxn ang="0">
                  <a:pos x="T2" y="T3"/>
                </a:cxn>
                <a:cxn ang="0">
                  <a:pos x="T4" y="T5"/>
                </a:cxn>
                <a:cxn ang="0">
                  <a:pos x="T6" y="T7"/>
                </a:cxn>
              </a:cxnLst>
              <a:rect l="0" t="0" r="r" b="b"/>
              <a:pathLst>
                <a:path w="12" h="1">
                  <a:moveTo>
                    <a:pt x="12" y="0"/>
                  </a:moveTo>
                  <a:lnTo>
                    <a:pt x="12" y="0"/>
                  </a:lnTo>
                  <a:lnTo>
                    <a:pt x="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6" name="Freeform 35"/>
            <p:cNvSpPr>
              <a:spLocks/>
            </p:cNvSpPr>
            <p:nvPr/>
          </p:nvSpPr>
          <p:spPr bwMode="invGray">
            <a:xfrm>
              <a:off x="4303712" y="2728913"/>
              <a:ext cx="50800" cy="0"/>
            </a:xfrm>
            <a:custGeom>
              <a:avLst/>
              <a:gdLst>
                <a:gd name="T0" fmla="*/ 26 w 26"/>
                <a:gd name="T1" fmla="*/ 26 w 26"/>
                <a:gd name="T2" fmla="*/ 0 w 26"/>
                <a:gd name="T3" fmla="*/ 26 w 26"/>
              </a:gdLst>
              <a:ahLst/>
              <a:cxnLst>
                <a:cxn ang="0">
                  <a:pos x="T0" y="0"/>
                </a:cxn>
                <a:cxn ang="0">
                  <a:pos x="T1" y="0"/>
                </a:cxn>
                <a:cxn ang="0">
                  <a:pos x="T2" y="0"/>
                </a:cxn>
                <a:cxn ang="0">
                  <a:pos x="T3" y="0"/>
                </a:cxn>
              </a:cxnLst>
              <a:rect l="0" t="0" r="r" b="b"/>
              <a:pathLst>
                <a:path w="26">
                  <a:moveTo>
                    <a:pt x="26" y="0"/>
                  </a:moveTo>
                  <a:lnTo>
                    <a:pt x="26" y="0"/>
                  </a:lnTo>
                  <a:lnTo>
                    <a:pt x="0" y="0"/>
                  </a:lnTo>
                  <a:cubicBezTo>
                    <a:pt x="13" y="0"/>
                    <a:pt x="20" y="0"/>
                    <a:pt x="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7" name="Freeform 36"/>
            <p:cNvSpPr>
              <a:spLocks/>
            </p:cNvSpPr>
            <p:nvPr/>
          </p:nvSpPr>
          <p:spPr bwMode="invGray">
            <a:xfrm>
              <a:off x="5519738" y="2735263"/>
              <a:ext cx="9525" cy="3175"/>
            </a:xfrm>
            <a:custGeom>
              <a:avLst/>
              <a:gdLst>
                <a:gd name="T0" fmla="*/ 4 w 5"/>
                <a:gd name="T1" fmla="*/ 0 h 1"/>
                <a:gd name="T2" fmla="*/ 4 w 5"/>
                <a:gd name="T3" fmla="*/ 0 h 1"/>
                <a:gd name="T4" fmla="*/ 0 w 5"/>
                <a:gd name="T5" fmla="*/ 1 h 1"/>
                <a:gd name="T6" fmla="*/ 4 w 5"/>
                <a:gd name="T7" fmla="*/ 0 h 1"/>
              </a:gdLst>
              <a:ahLst/>
              <a:cxnLst>
                <a:cxn ang="0">
                  <a:pos x="T0" y="T1"/>
                </a:cxn>
                <a:cxn ang="0">
                  <a:pos x="T2" y="T3"/>
                </a:cxn>
                <a:cxn ang="0">
                  <a:pos x="T4" y="T5"/>
                </a:cxn>
                <a:cxn ang="0">
                  <a:pos x="T6" y="T7"/>
                </a:cxn>
              </a:cxnLst>
              <a:rect l="0" t="0" r="r" b="b"/>
              <a:pathLst>
                <a:path w="5" h="1">
                  <a:moveTo>
                    <a:pt x="4" y="0"/>
                  </a:moveTo>
                  <a:lnTo>
                    <a:pt x="4" y="0"/>
                  </a:lnTo>
                  <a:lnTo>
                    <a:pt x="0" y="1"/>
                  </a:lnTo>
                  <a:cubicBezTo>
                    <a:pt x="3" y="1"/>
                    <a:pt x="5"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8" name="Freeform 37"/>
            <p:cNvSpPr>
              <a:spLocks/>
            </p:cNvSpPr>
            <p:nvPr/>
          </p:nvSpPr>
          <p:spPr bwMode="invGray">
            <a:xfrm>
              <a:off x="12096750" y="2784475"/>
              <a:ext cx="6350" cy="0"/>
            </a:xfrm>
            <a:custGeom>
              <a:avLst/>
              <a:gdLst>
                <a:gd name="T0" fmla="*/ 3 w 3"/>
                <a:gd name="T1" fmla="*/ 3 w 3"/>
                <a:gd name="T2" fmla="*/ 1 w 3"/>
                <a:gd name="T3" fmla="*/ 0 w 3"/>
                <a:gd name="T4" fmla="*/ 3 w 3"/>
              </a:gdLst>
              <a:ahLst/>
              <a:cxnLst>
                <a:cxn ang="0">
                  <a:pos x="T0" y="0"/>
                </a:cxn>
                <a:cxn ang="0">
                  <a:pos x="T1" y="0"/>
                </a:cxn>
                <a:cxn ang="0">
                  <a:pos x="T2" y="0"/>
                </a:cxn>
                <a:cxn ang="0">
                  <a:pos x="T3" y="0"/>
                </a:cxn>
                <a:cxn ang="0">
                  <a:pos x="T4" y="0"/>
                </a:cxn>
              </a:cxnLst>
              <a:rect l="0" t="0" r="r" b="b"/>
              <a:pathLst>
                <a:path w="3">
                  <a:moveTo>
                    <a:pt x="3" y="0"/>
                  </a:moveTo>
                  <a:lnTo>
                    <a:pt x="3" y="0"/>
                  </a:lnTo>
                  <a:lnTo>
                    <a:pt x="1"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9" name="Freeform 38"/>
            <p:cNvSpPr>
              <a:spLocks/>
            </p:cNvSpPr>
            <p:nvPr/>
          </p:nvSpPr>
          <p:spPr bwMode="invGray">
            <a:xfrm>
              <a:off x="12225338" y="2773363"/>
              <a:ext cx="46038" cy="0"/>
            </a:xfrm>
            <a:custGeom>
              <a:avLst/>
              <a:gdLst>
                <a:gd name="T0" fmla="*/ 0 w 24"/>
                <a:gd name="T1" fmla="*/ 0 w 24"/>
                <a:gd name="T2" fmla="*/ 24 w 24"/>
                <a:gd name="T3" fmla="*/ 0 w 24"/>
              </a:gdLst>
              <a:ahLst/>
              <a:cxnLst>
                <a:cxn ang="0">
                  <a:pos x="T0" y="0"/>
                </a:cxn>
                <a:cxn ang="0">
                  <a:pos x="T1" y="0"/>
                </a:cxn>
                <a:cxn ang="0">
                  <a:pos x="T2" y="0"/>
                </a:cxn>
                <a:cxn ang="0">
                  <a:pos x="T3" y="0"/>
                </a:cxn>
              </a:cxnLst>
              <a:rect l="0" t="0" r="r" b="b"/>
              <a:pathLst>
                <a:path w="24">
                  <a:moveTo>
                    <a:pt x="0" y="0"/>
                  </a:moveTo>
                  <a:lnTo>
                    <a:pt x="0" y="0"/>
                  </a:lnTo>
                  <a:lnTo>
                    <a:pt x="24" y="0"/>
                  </a:lnTo>
                  <a:cubicBezTo>
                    <a:pt x="15" y="0"/>
                    <a:pt x="6"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0" name="Freeform 39"/>
            <p:cNvSpPr>
              <a:spLocks/>
            </p:cNvSpPr>
            <p:nvPr/>
          </p:nvSpPr>
          <p:spPr bwMode="invGray">
            <a:xfrm>
              <a:off x="9274175" y="2746375"/>
              <a:ext cx="55563" cy="4762"/>
            </a:xfrm>
            <a:custGeom>
              <a:avLst/>
              <a:gdLst>
                <a:gd name="T0" fmla="*/ 0 w 29"/>
                <a:gd name="T1" fmla="*/ 1 h 2"/>
                <a:gd name="T2" fmla="*/ 0 w 29"/>
                <a:gd name="T3" fmla="*/ 1 h 2"/>
                <a:gd name="T4" fmla="*/ 15 w 29"/>
                <a:gd name="T5" fmla="*/ 2 h 2"/>
                <a:gd name="T6" fmla="*/ 0 w 29"/>
                <a:gd name="T7" fmla="*/ 1 h 2"/>
              </a:gdLst>
              <a:ahLst/>
              <a:cxnLst>
                <a:cxn ang="0">
                  <a:pos x="T0" y="T1"/>
                </a:cxn>
                <a:cxn ang="0">
                  <a:pos x="T2" y="T3"/>
                </a:cxn>
                <a:cxn ang="0">
                  <a:pos x="T4" y="T5"/>
                </a:cxn>
                <a:cxn ang="0">
                  <a:pos x="T6" y="T7"/>
                </a:cxn>
              </a:cxnLst>
              <a:rect l="0" t="0" r="r" b="b"/>
              <a:pathLst>
                <a:path w="29" h="2">
                  <a:moveTo>
                    <a:pt x="0" y="1"/>
                  </a:moveTo>
                  <a:lnTo>
                    <a:pt x="0" y="1"/>
                  </a:lnTo>
                  <a:cubicBezTo>
                    <a:pt x="7" y="1"/>
                    <a:pt x="23" y="2"/>
                    <a:pt x="15" y="2"/>
                  </a:cubicBezTo>
                  <a:cubicBezTo>
                    <a:pt x="29" y="2"/>
                    <a:pt x="2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1" name="Freeform 40"/>
            <p:cNvSpPr>
              <a:spLocks/>
            </p:cNvSpPr>
            <p:nvPr/>
          </p:nvSpPr>
          <p:spPr bwMode="invGray">
            <a:xfrm>
              <a:off x="11847513" y="2827338"/>
              <a:ext cx="34925" cy="3175"/>
            </a:xfrm>
            <a:custGeom>
              <a:avLst/>
              <a:gdLst>
                <a:gd name="T0" fmla="*/ 3 w 18"/>
                <a:gd name="T1" fmla="*/ 1 h 1"/>
                <a:gd name="T2" fmla="*/ 3 w 18"/>
                <a:gd name="T3" fmla="*/ 1 h 1"/>
                <a:gd name="T4" fmla="*/ 18 w 18"/>
                <a:gd name="T5" fmla="*/ 0 h 1"/>
                <a:gd name="T6" fmla="*/ 3 w 18"/>
                <a:gd name="T7" fmla="*/ 1 h 1"/>
              </a:gdLst>
              <a:ahLst/>
              <a:cxnLst>
                <a:cxn ang="0">
                  <a:pos x="T0" y="T1"/>
                </a:cxn>
                <a:cxn ang="0">
                  <a:pos x="T2" y="T3"/>
                </a:cxn>
                <a:cxn ang="0">
                  <a:pos x="T4" y="T5"/>
                </a:cxn>
                <a:cxn ang="0">
                  <a:pos x="T6" y="T7"/>
                </a:cxn>
              </a:cxnLst>
              <a:rect l="0" t="0" r="r" b="b"/>
              <a:pathLst>
                <a:path w="18" h="1">
                  <a:moveTo>
                    <a:pt x="3" y="1"/>
                  </a:moveTo>
                  <a:lnTo>
                    <a:pt x="3" y="1"/>
                  </a:lnTo>
                  <a:cubicBezTo>
                    <a:pt x="7" y="1"/>
                    <a:pt x="13" y="0"/>
                    <a:pt x="18" y="0"/>
                  </a:cubicBezTo>
                  <a:cubicBezTo>
                    <a:pt x="8"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2" name="Freeform 41"/>
            <p:cNvSpPr>
              <a:spLocks/>
            </p:cNvSpPr>
            <p:nvPr/>
          </p:nvSpPr>
          <p:spPr bwMode="invGray">
            <a:xfrm>
              <a:off x="11882438" y="2825750"/>
              <a:ext cx="25400" cy="1587"/>
            </a:xfrm>
            <a:custGeom>
              <a:avLst/>
              <a:gdLst>
                <a:gd name="T0" fmla="*/ 0 w 14"/>
                <a:gd name="T1" fmla="*/ 1 h 1"/>
                <a:gd name="T2" fmla="*/ 0 w 14"/>
                <a:gd name="T3" fmla="*/ 1 h 1"/>
                <a:gd name="T4" fmla="*/ 14 w 14"/>
                <a:gd name="T5" fmla="*/ 0 h 1"/>
                <a:gd name="T6" fmla="*/ 0 w 14"/>
                <a:gd name="T7" fmla="*/ 1 h 1"/>
              </a:gdLst>
              <a:ahLst/>
              <a:cxnLst>
                <a:cxn ang="0">
                  <a:pos x="T0" y="T1"/>
                </a:cxn>
                <a:cxn ang="0">
                  <a:pos x="T2" y="T3"/>
                </a:cxn>
                <a:cxn ang="0">
                  <a:pos x="T4" y="T5"/>
                </a:cxn>
                <a:cxn ang="0">
                  <a:pos x="T6" y="T7"/>
                </a:cxn>
              </a:cxnLst>
              <a:rect l="0" t="0" r="r" b="b"/>
              <a:pathLst>
                <a:path w="14" h="1">
                  <a:moveTo>
                    <a:pt x="0" y="1"/>
                  </a:moveTo>
                  <a:lnTo>
                    <a:pt x="0" y="1"/>
                  </a:lnTo>
                  <a:lnTo>
                    <a:pt x="14"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3" name="Freeform 42"/>
            <p:cNvSpPr>
              <a:spLocks/>
            </p:cNvSpPr>
            <p:nvPr/>
          </p:nvSpPr>
          <p:spPr bwMode="invGray">
            <a:xfrm>
              <a:off x="8915400" y="2809875"/>
              <a:ext cx="15875" cy="1587"/>
            </a:xfrm>
            <a:custGeom>
              <a:avLst/>
              <a:gdLst>
                <a:gd name="T0" fmla="*/ 8 w 8"/>
                <a:gd name="T1" fmla="*/ 1 h 1"/>
                <a:gd name="T2" fmla="*/ 8 w 8"/>
                <a:gd name="T3" fmla="*/ 1 h 1"/>
                <a:gd name="T4" fmla="*/ 0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cubicBezTo>
                    <a:pt x="6" y="0"/>
                    <a:pt x="3" y="0"/>
                    <a:pt x="0" y="0"/>
                  </a:cubicBezTo>
                  <a:cubicBezTo>
                    <a:pt x="1" y="0"/>
                    <a:pt x="4"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4" name="Freeform 43"/>
            <p:cNvSpPr>
              <a:spLocks/>
            </p:cNvSpPr>
            <p:nvPr/>
          </p:nvSpPr>
          <p:spPr bwMode="invGray">
            <a:xfrm>
              <a:off x="12109450" y="2752725"/>
              <a:ext cx="454025" cy="23812"/>
            </a:xfrm>
            <a:custGeom>
              <a:avLst/>
              <a:gdLst>
                <a:gd name="T0" fmla="*/ 102 w 236"/>
                <a:gd name="T1" fmla="*/ 10 h 10"/>
                <a:gd name="T2" fmla="*/ 102 w 236"/>
                <a:gd name="T3" fmla="*/ 10 h 10"/>
                <a:gd name="T4" fmla="*/ 123 w 236"/>
                <a:gd name="T5" fmla="*/ 7 h 10"/>
                <a:gd name="T6" fmla="*/ 200 w 236"/>
                <a:gd name="T7" fmla="*/ 6 h 10"/>
                <a:gd name="T8" fmla="*/ 203 w 236"/>
                <a:gd name="T9" fmla="*/ 3 h 10"/>
                <a:gd name="T10" fmla="*/ 160 w 236"/>
                <a:gd name="T11" fmla="*/ 4 h 10"/>
                <a:gd name="T12" fmla="*/ 202 w 236"/>
                <a:gd name="T13" fmla="*/ 3 h 10"/>
                <a:gd name="T14" fmla="*/ 198 w 236"/>
                <a:gd name="T15" fmla="*/ 0 h 10"/>
                <a:gd name="T16" fmla="*/ 0 w 236"/>
                <a:gd name="T17" fmla="*/ 4 h 10"/>
                <a:gd name="T18" fmla="*/ 137 w 236"/>
                <a:gd name="T19" fmla="*/ 4 h 10"/>
                <a:gd name="T20" fmla="*/ 121 w 236"/>
                <a:gd name="T21" fmla="*/ 6 h 10"/>
                <a:gd name="T22" fmla="*/ 8 w 236"/>
                <a:gd name="T23" fmla="*/ 5 h 10"/>
                <a:gd name="T24" fmla="*/ 104 w 236"/>
                <a:gd name="T25" fmla="*/ 7 h 10"/>
                <a:gd name="T26" fmla="*/ 84 w 236"/>
                <a:gd name="T27" fmla="*/ 9 h 10"/>
                <a:gd name="T28" fmla="*/ 102 w 236"/>
                <a:gd name="T2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6" h="10">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5" name="Freeform 44"/>
            <p:cNvSpPr>
              <a:spLocks/>
            </p:cNvSpPr>
            <p:nvPr/>
          </p:nvSpPr>
          <p:spPr bwMode="invGray">
            <a:xfrm>
              <a:off x="12182475" y="2816225"/>
              <a:ext cx="9525" cy="0"/>
            </a:xfrm>
            <a:custGeom>
              <a:avLst/>
              <a:gdLst>
                <a:gd name="T0" fmla="*/ 0 w 5"/>
                <a:gd name="T1" fmla="*/ 0 w 5"/>
                <a:gd name="T2" fmla="*/ 1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1"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6" name="Freeform 45"/>
            <p:cNvSpPr>
              <a:spLocks/>
            </p:cNvSpPr>
            <p:nvPr/>
          </p:nvSpPr>
          <p:spPr bwMode="invGray">
            <a:xfrm>
              <a:off x="4348162" y="2827338"/>
              <a:ext cx="17463" cy="3175"/>
            </a:xfrm>
            <a:custGeom>
              <a:avLst/>
              <a:gdLst>
                <a:gd name="T0" fmla="*/ 8 w 9"/>
                <a:gd name="T1" fmla="*/ 0 h 1"/>
                <a:gd name="T2" fmla="*/ 8 w 9"/>
                <a:gd name="T3" fmla="*/ 0 h 1"/>
                <a:gd name="T4" fmla="*/ 0 w 9"/>
                <a:gd name="T5" fmla="*/ 1 h 1"/>
                <a:gd name="T6" fmla="*/ 8 w 9"/>
                <a:gd name="T7" fmla="*/ 0 h 1"/>
              </a:gdLst>
              <a:ahLst/>
              <a:cxnLst>
                <a:cxn ang="0">
                  <a:pos x="T0" y="T1"/>
                </a:cxn>
                <a:cxn ang="0">
                  <a:pos x="T2" y="T3"/>
                </a:cxn>
                <a:cxn ang="0">
                  <a:pos x="T4" y="T5"/>
                </a:cxn>
                <a:cxn ang="0">
                  <a:pos x="T6" y="T7"/>
                </a:cxn>
              </a:cxnLst>
              <a:rect l="0" t="0" r="r" b="b"/>
              <a:pathLst>
                <a:path w="9" h="1">
                  <a:moveTo>
                    <a:pt x="8" y="0"/>
                  </a:moveTo>
                  <a:lnTo>
                    <a:pt x="8" y="0"/>
                  </a:lnTo>
                  <a:lnTo>
                    <a:pt x="0" y="1"/>
                  </a:lnTo>
                  <a:cubicBezTo>
                    <a:pt x="7" y="0"/>
                    <a:pt x="9" y="0"/>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7" name="Freeform 46"/>
            <p:cNvSpPr>
              <a:spLocks/>
            </p:cNvSpPr>
            <p:nvPr/>
          </p:nvSpPr>
          <p:spPr bwMode="invGray">
            <a:xfrm>
              <a:off x="12071350" y="2790825"/>
              <a:ext cx="0" cy="0"/>
            </a:xfrm>
            <a:custGeom>
              <a:avLst/>
              <a:gdLst/>
              <a:ahLst/>
              <a:cxnLst>
                <a:cxn ang="0">
                  <a:pos x="0" y="0"/>
                </a:cxn>
                <a:cxn ang="0">
                  <a:pos x="0" y="0"/>
                </a:cxn>
                <a:cxn ang="0">
                  <a:pos x="0" y="0"/>
                </a:cxn>
                <a:cxn ang="0">
                  <a:pos x="0" y="0"/>
                </a:cxn>
              </a:cxnLst>
              <a:rect l="0" t="0" r="r" b="b"/>
              <a:pathLst>
                <a:path>
                  <a:moveTo>
                    <a:pt x="0" y="0"/>
                  </a:moveTo>
                  <a:lnTo>
                    <a:pt x="0" y="0"/>
                  </a:lnTo>
                  <a:lnTo>
                    <a:pt x="0"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8" name="Freeform 47"/>
            <p:cNvSpPr>
              <a:spLocks/>
            </p:cNvSpPr>
            <p:nvPr/>
          </p:nvSpPr>
          <p:spPr bwMode="invGray">
            <a:xfrm>
              <a:off x="4754563" y="2827338"/>
              <a:ext cx="4763"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cubicBezTo>
                    <a:pt x="1" y="0"/>
                    <a:pt x="1" y="0"/>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9" name="Freeform 48"/>
            <p:cNvSpPr>
              <a:spLocks/>
            </p:cNvSpPr>
            <p:nvPr/>
          </p:nvSpPr>
          <p:spPr bwMode="invGray">
            <a:xfrm>
              <a:off x="4852988" y="2719388"/>
              <a:ext cx="9525" cy="3175"/>
            </a:xfrm>
            <a:custGeom>
              <a:avLst/>
              <a:gdLst>
                <a:gd name="T0" fmla="*/ 5 w 5"/>
                <a:gd name="T1" fmla="*/ 1 h 1"/>
                <a:gd name="T2" fmla="*/ 5 w 5"/>
                <a:gd name="T3" fmla="*/ 1 h 1"/>
                <a:gd name="T4" fmla="*/ 4 w 5"/>
                <a:gd name="T5" fmla="*/ 0 h 1"/>
                <a:gd name="T6" fmla="*/ 5 w 5"/>
                <a:gd name="T7" fmla="*/ 1 h 1"/>
              </a:gdLst>
              <a:ahLst/>
              <a:cxnLst>
                <a:cxn ang="0">
                  <a:pos x="T0" y="T1"/>
                </a:cxn>
                <a:cxn ang="0">
                  <a:pos x="T2" y="T3"/>
                </a:cxn>
                <a:cxn ang="0">
                  <a:pos x="T4" y="T5"/>
                </a:cxn>
                <a:cxn ang="0">
                  <a:pos x="T6" y="T7"/>
                </a:cxn>
              </a:cxnLst>
              <a:rect l="0" t="0" r="r" b="b"/>
              <a:pathLst>
                <a:path w="5" h="1">
                  <a:moveTo>
                    <a:pt x="5" y="1"/>
                  </a:moveTo>
                  <a:lnTo>
                    <a:pt x="5" y="1"/>
                  </a:lnTo>
                  <a:cubicBezTo>
                    <a:pt x="5" y="1"/>
                    <a:pt x="5" y="1"/>
                    <a:pt x="4" y="0"/>
                  </a:cubicBezTo>
                  <a:cubicBezTo>
                    <a:pt x="0" y="1"/>
                    <a:pt x="2" y="1"/>
                    <a:pt x="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0" name="Freeform 49"/>
            <p:cNvSpPr>
              <a:spLocks/>
            </p:cNvSpPr>
            <p:nvPr/>
          </p:nvSpPr>
          <p:spPr bwMode="invGray">
            <a:xfrm>
              <a:off x="4759325" y="2827338"/>
              <a:ext cx="0" cy="0"/>
            </a:xfrm>
            <a:custGeom>
              <a:avLst/>
              <a:gdLst/>
              <a:ahLst/>
              <a:cxnLst>
                <a:cxn ang="0">
                  <a:pos x="0" y="0"/>
                </a:cxn>
                <a:cxn ang="0">
                  <a:pos x="0" y="0"/>
                </a:cxn>
                <a:cxn ang="0">
                  <a:pos x="0" y="0"/>
                </a:cxn>
                <a:cxn ang="0">
                  <a:pos x="0" y="0"/>
                </a:cxn>
              </a:cxnLst>
              <a:rect l="0" t="0" r="r" b="b"/>
              <a:pathLst>
                <a:path>
                  <a:moveTo>
                    <a:pt x="0" y="0"/>
                  </a:moveTo>
                  <a:lnTo>
                    <a:pt x="0" y="0"/>
                  </a:lnTo>
                  <a:cubicBezTo>
                    <a:pt x="0" y="0"/>
                    <a:pt x="0" y="0"/>
                    <a:pt x="0" y="0"/>
                  </a:cubicBez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1" name="Freeform 50"/>
            <p:cNvSpPr>
              <a:spLocks/>
            </p:cNvSpPr>
            <p:nvPr/>
          </p:nvSpPr>
          <p:spPr bwMode="invGray">
            <a:xfrm>
              <a:off x="6654800" y="2805113"/>
              <a:ext cx="19050" cy="1587"/>
            </a:xfrm>
            <a:custGeom>
              <a:avLst/>
              <a:gdLst>
                <a:gd name="T0" fmla="*/ 10 w 10"/>
                <a:gd name="T1" fmla="*/ 1 h 1"/>
                <a:gd name="T2" fmla="*/ 10 w 10"/>
                <a:gd name="T3" fmla="*/ 1 h 1"/>
                <a:gd name="T4" fmla="*/ 2 w 10"/>
                <a:gd name="T5" fmla="*/ 0 h 1"/>
                <a:gd name="T6" fmla="*/ 10 w 10"/>
                <a:gd name="T7" fmla="*/ 1 h 1"/>
              </a:gdLst>
              <a:ahLst/>
              <a:cxnLst>
                <a:cxn ang="0">
                  <a:pos x="T0" y="T1"/>
                </a:cxn>
                <a:cxn ang="0">
                  <a:pos x="T2" y="T3"/>
                </a:cxn>
                <a:cxn ang="0">
                  <a:pos x="T4" y="T5"/>
                </a:cxn>
                <a:cxn ang="0">
                  <a:pos x="T6" y="T7"/>
                </a:cxn>
              </a:cxnLst>
              <a:rect l="0" t="0" r="r" b="b"/>
              <a:pathLst>
                <a:path w="10" h="1">
                  <a:moveTo>
                    <a:pt x="10" y="1"/>
                  </a:moveTo>
                  <a:lnTo>
                    <a:pt x="10" y="1"/>
                  </a:lnTo>
                  <a:lnTo>
                    <a:pt x="2" y="0"/>
                  </a:lnTo>
                  <a:cubicBezTo>
                    <a:pt x="0" y="0"/>
                    <a:pt x="2" y="0"/>
                    <a:pt x="1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2" name="Freeform 51"/>
            <p:cNvSpPr>
              <a:spLocks/>
            </p:cNvSpPr>
            <p:nvPr/>
          </p:nvSpPr>
          <p:spPr bwMode="invGray">
            <a:xfrm>
              <a:off x="6289675" y="2798763"/>
              <a:ext cx="6350" cy="0"/>
            </a:xfrm>
            <a:custGeom>
              <a:avLst/>
              <a:gdLst>
                <a:gd name="T0" fmla="*/ 3 w 3"/>
                <a:gd name="T1" fmla="*/ 3 w 3"/>
                <a:gd name="T2" fmla="*/ 0 w 3"/>
                <a:gd name="T3" fmla="*/ 3 w 3"/>
              </a:gdLst>
              <a:ahLst/>
              <a:cxnLst>
                <a:cxn ang="0">
                  <a:pos x="T0" y="0"/>
                </a:cxn>
                <a:cxn ang="0">
                  <a:pos x="T1" y="0"/>
                </a:cxn>
                <a:cxn ang="0">
                  <a:pos x="T2" y="0"/>
                </a:cxn>
                <a:cxn ang="0">
                  <a:pos x="T3" y="0"/>
                </a:cxn>
              </a:cxnLst>
              <a:rect l="0" t="0" r="r" b="b"/>
              <a:pathLst>
                <a:path w="3">
                  <a:moveTo>
                    <a:pt x="3" y="0"/>
                  </a:moveTo>
                  <a:lnTo>
                    <a:pt x="3"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3" name="Freeform 52"/>
            <p:cNvSpPr>
              <a:spLocks/>
            </p:cNvSpPr>
            <p:nvPr/>
          </p:nvSpPr>
          <p:spPr bwMode="invGray">
            <a:xfrm>
              <a:off x="9140825" y="2725738"/>
              <a:ext cx="44450" cy="0"/>
            </a:xfrm>
            <a:custGeom>
              <a:avLst/>
              <a:gdLst>
                <a:gd name="T0" fmla="*/ 23 w 23"/>
                <a:gd name="T1" fmla="*/ 23 w 23"/>
                <a:gd name="T2" fmla="*/ 0 w 23"/>
                <a:gd name="T3" fmla="*/ 23 w 23"/>
              </a:gdLst>
              <a:ahLst/>
              <a:cxnLst>
                <a:cxn ang="0">
                  <a:pos x="T0" y="0"/>
                </a:cxn>
                <a:cxn ang="0">
                  <a:pos x="T1" y="0"/>
                </a:cxn>
                <a:cxn ang="0">
                  <a:pos x="T2" y="0"/>
                </a:cxn>
                <a:cxn ang="0">
                  <a:pos x="T3" y="0"/>
                </a:cxn>
              </a:cxnLst>
              <a:rect l="0" t="0" r="r" b="b"/>
              <a:pathLst>
                <a:path w="23">
                  <a:moveTo>
                    <a:pt x="23" y="0"/>
                  </a:moveTo>
                  <a:lnTo>
                    <a:pt x="23" y="0"/>
                  </a:lnTo>
                  <a:lnTo>
                    <a:pt x="0" y="0"/>
                  </a:lnTo>
                  <a:lnTo>
                    <a:pt x="2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4" name="Freeform 53"/>
            <p:cNvSpPr>
              <a:spLocks/>
            </p:cNvSpPr>
            <p:nvPr/>
          </p:nvSpPr>
          <p:spPr bwMode="invGray">
            <a:xfrm>
              <a:off x="4737100" y="2827338"/>
              <a:ext cx="17463" cy="3175"/>
            </a:xfrm>
            <a:custGeom>
              <a:avLst/>
              <a:gdLst>
                <a:gd name="T0" fmla="*/ 9 w 9"/>
                <a:gd name="T1" fmla="*/ 0 h 1"/>
                <a:gd name="T2" fmla="*/ 9 w 9"/>
                <a:gd name="T3" fmla="*/ 0 h 1"/>
                <a:gd name="T4" fmla="*/ 0 w 9"/>
                <a:gd name="T5" fmla="*/ 1 h 1"/>
                <a:gd name="T6" fmla="*/ 9 w 9"/>
                <a:gd name="T7" fmla="*/ 0 h 1"/>
              </a:gdLst>
              <a:ahLst/>
              <a:cxnLst>
                <a:cxn ang="0">
                  <a:pos x="T0" y="T1"/>
                </a:cxn>
                <a:cxn ang="0">
                  <a:pos x="T2" y="T3"/>
                </a:cxn>
                <a:cxn ang="0">
                  <a:pos x="T4" y="T5"/>
                </a:cxn>
                <a:cxn ang="0">
                  <a:pos x="T6" y="T7"/>
                </a:cxn>
              </a:cxnLst>
              <a:rect l="0" t="0" r="r" b="b"/>
              <a:pathLst>
                <a:path w="9" h="1">
                  <a:moveTo>
                    <a:pt x="9" y="0"/>
                  </a:moveTo>
                  <a:lnTo>
                    <a:pt x="9" y="0"/>
                  </a:lnTo>
                  <a:lnTo>
                    <a:pt x="0" y="1"/>
                  </a:lnTo>
                  <a:cubicBezTo>
                    <a:pt x="5" y="0"/>
                    <a:pt x="8" y="0"/>
                    <a:pt x="9"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5" name="Freeform 54"/>
            <p:cNvSpPr>
              <a:spLocks/>
            </p:cNvSpPr>
            <p:nvPr/>
          </p:nvSpPr>
          <p:spPr bwMode="invGray">
            <a:xfrm>
              <a:off x="7239000" y="2779713"/>
              <a:ext cx="11113" cy="3175"/>
            </a:xfrm>
            <a:custGeom>
              <a:avLst/>
              <a:gdLst>
                <a:gd name="T0" fmla="*/ 6 w 6"/>
                <a:gd name="T1" fmla="*/ 0 h 1"/>
                <a:gd name="T2" fmla="*/ 6 w 6"/>
                <a:gd name="T3" fmla="*/ 0 h 1"/>
                <a:gd name="T4" fmla="*/ 0 w 6"/>
                <a:gd name="T5" fmla="*/ 1 h 1"/>
                <a:gd name="T6" fmla="*/ 4 w 6"/>
                <a:gd name="T7" fmla="*/ 1 h 1"/>
                <a:gd name="T8" fmla="*/ 6 w 6"/>
                <a:gd name="T9" fmla="*/ 0 h 1"/>
              </a:gdLst>
              <a:ahLst/>
              <a:cxnLst>
                <a:cxn ang="0">
                  <a:pos x="T0" y="T1"/>
                </a:cxn>
                <a:cxn ang="0">
                  <a:pos x="T2" y="T3"/>
                </a:cxn>
                <a:cxn ang="0">
                  <a:pos x="T4" y="T5"/>
                </a:cxn>
                <a:cxn ang="0">
                  <a:pos x="T6" y="T7"/>
                </a:cxn>
                <a:cxn ang="0">
                  <a:pos x="T8" y="T9"/>
                </a:cxn>
              </a:cxnLst>
              <a:rect l="0" t="0" r="r" b="b"/>
              <a:pathLst>
                <a:path w="6" h="1">
                  <a:moveTo>
                    <a:pt x="6" y="0"/>
                  </a:moveTo>
                  <a:lnTo>
                    <a:pt x="6" y="0"/>
                  </a:lnTo>
                  <a:lnTo>
                    <a:pt x="0" y="1"/>
                  </a:lnTo>
                  <a:lnTo>
                    <a:pt x="4" y="1"/>
                  </a:lnTo>
                  <a:lnTo>
                    <a:pt x="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6" name="Freeform 55"/>
            <p:cNvSpPr>
              <a:spLocks/>
            </p:cNvSpPr>
            <p:nvPr/>
          </p:nvSpPr>
          <p:spPr bwMode="invGray">
            <a:xfrm>
              <a:off x="7181850" y="2773363"/>
              <a:ext cx="468313" cy="15875"/>
            </a:xfrm>
            <a:custGeom>
              <a:avLst/>
              <a:gdLst>
                <a:gd name="T0" fmla="*/ 139 w 244"/>
                <a:gd name="T1" fmla="*/ 5 h 7"/>
                <a:gd name="T2" fmla="*/ 139 w 244"/>
                <a:gd name="T3" fmla="*/ 5 h 7"/>
                <a:gd name="T4" fmla="*/ 132 w 244"/>
                <a:gd name="T5" fmla="*/ 6 h 7"/>
                <a:gd name="T6" fmla="*/ 244 w 244"/>
                <a:gd name="T7" fmla="*/ 4 h 7"/>
                <a:gd name="T8" fmla="*/ 178 w 244"/>
                <a:gd name="T9" fmla="*/ 1 h 7"/>
                <a:gd name="T10" fmla="*/ 101 w 244"/>
                <a:gd name="T11" fmla="*/ 0 h 7"/>
                <a:gd name="T12" fmla="*/ 77 w 244"/>
                <a:gd name="T13" fmla="*/ 3 h 7"/>
                <a:gd name="T14" fmla="*/ 60 w 244"/>
                <a:gd name="T15" fmla="*/ 1 h 7"/>
                <a:gd name="T16" fmla="*/ 0 w 244"/>
                <a:gd name="T17" fmla="*/ 1 h 7"/>
                <a:gd name="T18" fmla="*/ 52 w 244"/>
                <a:gd name="T19" fmla="*/ 1 h 7"/>
                <a:gd name="T20" fmla="*/ 36 w 244"/>
                <a:gd name="T21" fmla="*/ 3 h 7"/>
                <a:gd name="T22" fmla="*/ 41 w 244"/>
                <a:gd name="T23" fmla="*/ 3 h 7"/>
                <a:gd name="T24" fmla="*/ 139 w 244"/>
                <a:gd name="T25"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4" h="7">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7" name="Freeform 56"/>
            <p:cNvSpPr>
              <a:spLocks/>
            </p:cNvSpPr>
            <p:nvPr/>
          </p:nvSpPr>
          <p:spPr bwMode="invGray">
            <a:xfrm>
              <a:off x="7407275" y="2787650"/>
              <a:ext cx="26988" cy="0"/>
            </a:xfrm>
            <a:custGeom>
              <a:avLst/>
              <a:gdLst>
                <a:gd name="T0" fmla="*/ 14 w 14"/>
                <a:gd name="T1" fmla="*/ 14 w 14"/>
                <a:gd name="T2" fmla="*/ 0 w 14"/>
                <a:gd name="T3" fmla="*/ 14 w 14"/>
              </a:gdLst>
              <a:ahLst/>
              <a:cxnLst>
                <a:cxn ang="0">
                  <a:pos x="T0" y="0"/>
                </a:cxn>
                <a:cxn ang="0">
                  <a:pos x="T1" y="0"/>
                </a:cxn>
                <a:cxn ang="0">
                  <a:pos x="T2" y="0"/>
                </a:cxn>
                <a:cxn ang="0">
                  <a:pos x="T3" y="0"/>
                </a:cxn>
              </a:cxnLst>
              <a:rect l="0" t="0" r="r" b="b"/>
              <a:pathLst>
                <a:path w="14">
                  <a:moveTo>
                    <a:pt x="14" y="0"/>
                  </a:moveTo>
                  <a:lnTo>
                    <a:pt x="14" y="0"/>
                  </a:lnTo>
                  <a:lnTo>
                    <a:pt x="0" y="0"/>
                  </a:lnTo>
                  <a:cubicBezTo>
                    <a:pt x="8" y="0"/>
                    <a:pt x="11" y="0"/>
                    <a:pt x="1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8" name="Freeform 57"/>
            <p:cNvSpPr>
              <a:spLocks/>
            </p:cNvSpPr>
            <p:nvPr/>
          </p:nvSpPr>
          <p:spPr bwMode="invGray">
            <a:xfrm>
              <a:off x="8123238" y="2794000"/>
              <a:ext cx="31750" cy="1587"/>
            </a:xfrm>
            <a:custGeom>
              <a:avLst/>
              <a:gdLst>
                <a:gd name="T0" fmla="*/ 0 w 16"/>
                <a:gd name="T1" fmla="*/ 1 h 1"/>
                <a:gd name="T2" fmla="*/ 0 w 16"/>
                <a:gd name="T3" fmla="*/ 1 h 1"/>
                <a:gd name="T4" fmla="*/ 16 w 16"/>
                <a:gd name="T5" fmla="*/ 0 h 1"/>
                <a:gd name="T6" fmla="*/ 0 w 16"/>
                <a:gd name="T7" fmla="*/ 1 h 1"/>
              </a:gdLst>
              <a:ahLst/>
              <a:cxnLst>
                <a:cxn ang="0">
                  <a:pos x="T0" y="T1"/>
                </a:cxn>
                <a:cxn ang="0">
                  <a:pos x="T2" y="T3"/>
                </a:cxn>
                <a:cxn ang="0">
                  <a:pos x="T4" y="T5"/>
                </a:cxn>
                <a:cxn ang="0">
                  <a:pos x="T6" y="T7"/>
                </a:cxn>
              </a:cxnLst>
              <a:rect l="0" t="0" r="r" b="b"/>
              <a:pathLst>
                <a:path w="16" h="1">
                  <a:moveTo>
                    <a:pt x="0" y="1"/>
                  </a:moveTo>
                  <a:lnTo>
                    <a:pt x="0" y="1"/>
                  </a:lnTo>
                  <a:lnTo>
                    <a:pt x="16"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9" name="Freeform 58"/>
            <p:cNvSpPr>
              <a:spLocks/>
            </p:cNvSpPr>
            <p:nvPr/>
          </p:nvSpPr>
          <p:spPr bwMode="invGray">
            <a:xfrm>
              <a:off x="3070225" y="2794000"/>
              <a:ext cx="101600" cy="4762"/>
            </a:xfrm>
            <a:custGeom>
              <a:avLst/>
              <a:gdLst>
                <a:gd name="T0" fmla="*/ 0 w 53"/>
                <a:gd name="T1" fmla="*/ 0 h 2"/>
                <a:gd name="T2" fmla="*/ 0 w 53"/>
                <a:gd name="T3" fmla="*/ 0 h 2"/>
                <a:gd name="T4" fmla="*/ 52 w 53"/>
                <a:gd name="T5" fmla="*/ 0 h 2"/>
                <a:gd name="T6" fmla="*/ 6 w 53"/>
                <a:gd name="T7" fmla="*/ 0 h 2"/>
                <a:gd name="T8" fmla="*/ 0 w 53"/>
                <a:gd name="T9" fmla="*/ 0 h 2"/>
              </a:gdLst>
              <a:ahLst/>
              <a:cxnLst>
                <a:cxn ang="0">
                  <a:pos x="T0" y="T1"/>
                </a:cxn>
                <a:cxn ang="0">
                  <a:pos x="T2" y="T3"/>
                </a:cxn>
                <a:cxn ang="0">
                  <a:pos x="T4" y="T5"/>
                </a:cxn>
                <a:cxn ang="0">
                  <a:pos x="T6" y="T7"/>
                </a:cxn>
                <a:cxn ang="0">
                  <a:pos x="T8" y="T9"/>
                </a:cxn>
              </a:cxnLst>
              <a:rect l="0" t="0" r="r" b="b"/>
              <a:pathLst>
                <a:path w="53" h="2">
                  <a:moveTo>
                    <a:pt x="0" y="0"/>
                  </a:moveTo>
                  <a:lnTo>
                    <a:pt x="0" y="0"/>
                  </a:lnTo>
                  <a:cubicBezTo>
                    <a:pt x="2" y="1"/>
                    <a:pt x="53" y="2"/>
                    <a:pt x="52" y="0"/>
                  </a:cubicBez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0" name="Freeform 59"/>
            <p:cNvSpPr>
              <a:spLocks/>
            </p:cNvSpPr>
            <p:nvPr/>
          </p:nvSpPr>
          <p:spPr bwMode="invGray">
            <a:xfrm>
              <a:off x="9963150" y="2778125"/>
              <a:ext cx="41275" cy="0"/>
            </a:xfrm>
            <a:custGeom>
              <a:avLst/>
              <a:gdLst>
                <a:gd name="T0" fmla="*/ 21 w 21"/>
                <a:gd name="T1" fmla="*/ 21 w 21"/>
                <a:gd name="T2" fmla="*/ 3 w 21"/>
                <a:gd name="T3" fmla="*/ 0 w 21"/>
                <a:gd name="T4" fmla="*/ 21 w 21"/>
              </a:gdLst>
              <a:ahLst/>
              <a:cxnLst>
                <a:cxn ang="0">
                  <a:pos x="T0" y="0"/>
                </a:cxn>
                <a:cxn ang="0">
                  <a:pos x="T1" y="0"/>
                </a:cxn>
                <a:cxn ang="0">
                  <a:pos x="T2" y="0"/>
                </a:cxn>
                <a:cxn ang="0">
                  <a:pos x="T3" y="0"/>
                </a:cxn>
                <a:cxn ang="0">
                  <a:pos x="T4" y="0"/>
                </a:cxn>
              </a:cxnLst>
              <a:rect l="0" t="0" r="r" b="b"/>
              <a:pathLst>
                <a:path w="21">
                  <a:moveTo>
                    <a:pt x="21" y="0"/>
                  </a:moveTo>
                  <a:lnTo>
                    <a:pt x="21" y="0"/>
                  </a:lnTo>
                  <a:lnTo>
                    <a:pt x="3" y="0"/>
                  </a:lnTo>
                  <a:lnTo>
                    <a:pt x="0" y="0"/>
                  </a:lnTo>
                  <a:cubicBezTo>
                    <a:pt x="4" y="0"/>
                    <a:pt x="15"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1" name="Freeform 60"/>
            <p:cNvSpPr>
              <a:spLocks/>
            </p:cNvSpPr>
            <p:nvPr/>
          </p:nvSpPr>
          <p:spPr bwMode="invGray">
            <a:xfrm>
              <a:off x="7523163" y="2773363"/>
              <a:ext cx="30163" cy="3175"/>
            </a:xfrm>
            <a:custGeom>
              <a:avLst/>
              <a:gdLst>
                <a:gd name="T0" fmla="*/ 16 w 16"/>
                <a:gd name="T1" fmla="*/ 0 h 1"/>
                <a:gd name="T2" fmla="*/ 16 w 16"/>
                <a:gd name="T3" fmla="*/ 0 h 1"/>
                <a:gd name="T4" fmla="*/ 0 w 16"/>
                <a:gd name="T5" fmla="*/ 1 h 1"/>
                <a:gd name="T6" fmla="*/ 16 w 16"/>
                <a:gd name="T7" fmla="*/ 0 h 1"/>
              </a:gdLst>
              <a:ahLst/>
              <a:cxnLst>
                <a:cxn ang="0">
                  <a:pos x="T0" y="T1"/>
                </a:cxn>
                <a:cxn ang="0">
                  <a:pos x="T2" y="T3"/>
                </a:cxn>
                <a:cxn ang="0">
                  <a:pos x="T4" y="T5"/>
                </a:cxn>
                <a:cxn ang="0">
                  <a:pos x="T6" y="T7"/>
                </a:cxn>
              </a:cxnLst>
              <a:rect l="0" t="0" r="r" b="b"/>
              <a:pathLst>
                <a:path w="16" h="1">
                  <a:moveTo>
                    <a:pt x="16" y="0"/>
                  </a:moveTo>
                  <a:lnTo>
                    <a:pt x="16" y="0"/>
                  </a:lnTo>
                  <a:cubicBezTo>
                    <a:pt x="6" y="0"/>
                    <a:pt x="2" y="1"/>
                    <a:pt x="0" y="1"/>
                  </a:cubicBezTo>
                  <a:cubicBezTo>
                    <a:pt x="6" y="1"/>
                    <a:pt x="12" y="1"/>
                    <a:pt x="1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2" name="Freeform 61"/>
            <p:cNvSpPr>
              <a:spLocks/>
            </p:cNvSpPr>
            <p:nvPr/>
          </p:nvSpPr>
          <p:spPr bwMode="invGray">
            <a:xfrm>
              <a:off x="10009188" y="2787650"/>
              <a:ext cx="115888" cy="3175"/>
            </a:xfrm>
            <a:custGeom>
              <a:avLst/>
              <a:gdLst>
                <a:gd name="T0" fmla="*/ 0 w 60"/>
                <a:gd name="T1" fmla="*/ 0 h 2"/>
                <a:gd name="T2" fmla="*/ 0 w 60"/>
                <a:gd name="T3" fmla="*/ 0 h 2"/>
                <a:gd name="T4" fmla="*/ 19 w 60"/>
                <a:gd name="T5" fmla="*/ 2 h 2"/>
                <a:gd name="T6" fmla="*/ 60 w 60"/>
                <a:gd name="T7" fmla="*/ 1 h 2"/>
                <a:gd name="T8" fmla="*/ 0 w 60"/>
                <a:gd name="T9" fmla="*/ 0 h 2"/>
              </a:gdLst>
              <a:ahLst/>
              <a:cxnLst>
                <a:cxn ang="0">
                  <a:pos x="T0" y="T1"/>
                </a:cxn>
                <a:cxn ang="0">
                  <a:pos x="T2" y="T3"/>
                </a:cxn>
                <a:cxn ang="0">
                  <a:pos x="T4" y="T5"/>
                </a:cxn>
                <a:cxn ang="0">
                  <a:pos x="T6" y="T7"/>
                </a:cxn>
                <a:cxn ang="0">
                  <a:pos x="T8" y="T9"/>
                </a:cxn>
              </a:cxnLst>
              <a:rect l="0" t="0" r="r" b="b"/>
              <a:pathLst>
                <a:path w="60" h="2">
                  <a:moveTo>
                    <a:pt x="0" y="0"/>
                  </a:moveTo>
                  <a:lnTo>
                    <a:pt x="0" y="0"/>
                  </a:lnTo>
                  <a:cubicBezTo>
                    <a:pt x="7" y="0"/>
                    <a:pt x="18" y="1"/>
                    <a:pt x="19" y="2"/>
                  </a:cubicBezTo>
                  <a:cubicBezTo>
                    <a:pt x="34" y="2"/>
                    <a:pt x="45" y="1"/>
                    <a:pt x="60" y="1"/>
                  </a:cubicBezTo>
                  <a:cubicBezTo>
                    <a:pt x="43" y="1"/>
                    <a:pt x="23"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3" name="Freeform 62"/>
            <p:cNvSpPr>
              <a:spLocks/>
            </p:cNvSpPr>
            <p:nvPr/>
          </p:nvSpPr>
          <p:spPr bwMode="invGray">
            <a:xfrm>
              <a:off x="10125075" y="2789238"/>
              <a:ext cx="1588" cy="0"/>
            </a:xfrm>
            <a:custGeom>
              <a:avLst/>
              <a:gdLst>
                <a:gd name="T0" fmla="*/ 1 w 1"/>
                <a:gd name="T1" fmla="*/ 1 w 1"/>
                <a:gd name="T2" fmla="*/ 0 w 1"/>
                <a:gd name="T3" fmla="*/ 1 w 1"/>
              </a:gdLst>
              <a:ahLst/>
              <a:cxnLst>
                <a:cxn ang="0">
                  <a:pos x="T0" y="0"/>
                </a:cxn>
                <a:cxn ang="0">
                  <a:pos x="T1" y="0"/>
                </a:cxn>
                <a:cxn ang="0">
                  <a:pos x="T2" y="0"/>
                </a:cxn>
                <a:cxn ang="0">
                  <a:pos x="T3" y="0"/>
                </a:cxn>
              </a:cxnLst>
              <a:rect l="0" t="0" r="r" b="b"/>
              <a:pathLst>
                <a:path w="1">
                  <a:moveTo>
                    <a:pt x="1" y="0"/>
                  </a:moveTo>
                  <a:lnTo>
                    <a:pt x="1" y="0"/>
                  </a:lnTo>
                  <a:lnTo>
                    <a:pt x="0" y="0"/>
                  </a:lnTo>
                  <a:lnTo>
                    <a:pt x="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4" name="Freeform 63"/>
            <p:cNvSpPr>
              <a:spLocks noEditPoints="1"/>
            </p:cNvSpPr>
            <p:nvPr/>
          </p:nvSpPr>
          <p:spPr bwMode="invGray">
            <a:xfrm>
              <a:off x="-4110038" y="2703513"/>
              <a:ext cx="16486188" cy="134937"/>
            </a:xfrm>
            <a:custGeom>
              <a:avLst/>
              <a:gdLst>
                <a:gd name="T0" fmla="*/ 5206 w 8594"/>
                <a:gd name="T1" fmla="*/ 34 h 60"/>
                <a:gd name="T2" fmla="*/ 4851 w 8594"/>
                <a:gd name="T3" fmla="*/ 37 h 60"/>
                <a:gd name="T4" fmla="*/ 5322 w 8594"/>
                <a:gd name="T5" fmla="*/ 35 h 60"/>
                <a:gd name="T6" fmla="*/ 5841 w 8594"/>
                <a:gd name="T7" fmla="*/ 43 h 60"/>
                <a:gd name="T8" fmla="*/ 5952 w 8594"/>
                <a:gd name="T9" fmla="*/ 46 h 60"/>
                <a:gd name="T10" fmla="*/ 6323 w 8594"/>
                <a:gd name="T11" fmla="*/ 40 h 60"/>
                <a:gd name="T12" fmla="*/ 6806 w 8594"/>
                <a:gd name="T13" fmla="*/ 32 h 60"/>
                <a:gd name="T14" fmla="*/ 6211 w 8594"/>
                <a:gd name="T15" fmla="*/ 34 h 60"/>
                <a:gd name="T16" fmla="*/ 5558 w 8594"/>
                <a:gd name="T17" fmla="*/ 29 h 60"/>
                <a:gd name="T18" fmla="*/ 7046 w 8594"/>
                <a:gd name="T19" fmla="*/ 41 h 60"/>
                <a:gd name="T20" fmla="*/ 7472 w 8594"/>
                <a:gd name="T21" fmla="*/ 40 h 60"/>
                <a:gd name="T22" fmla="*/ 7784 w 8594"/>
                <a:gd name="T23" fmla="*/ 39 h 60"/>
                <a:gd name="T24" fmla="*/ 4392 w 8594"/>
                <a:gd name="T25" fmla="*/ 36 h 60"/>
                <a:gd name="T26" fmla="*/ 4053 w 8594"/>
                <a:gd name="T27" fmla="*/ 35 h 60"/>
                <a:gd name="T28" fmla="*/ 4729 w 8594"/>
                <a:gd name="T29" fmla="*/ 29 h 60"/>
                <a:gd name="T30" fmla="*/ 348 w 8594"/>
                <a:gd name="T31" fmla="*/ 40 h 60"/>
                <a:gd name="T32" fmla="*/ 3365 w 8594"/>
                <a:gd name="T33" fmla="*/ 41 h 60"/>
                <a:gd name="T34" fmla="*/ 2626 w 8594"/>
                <a:gd name="T35" fmla="*/ 45 h 60"/>
                <a:gd name="T36" fmla="*/ 1989 w 8594"/>
                <a:gd name="T37" fmla="*/ 45 h 60"/>
                <a:gd name="T38" fmla="*/ 1241 w 8594"/>
                <a:gd name="T39" fmla="*/ 44 h 60"/>
                <a:gd name="T40" fmla="*/ 260 w 8594"/>
                <a:gd name="T41" fmla="*/ 41 h 60"/>
                <a:gd name="T42" fmla="*/ 403 w 8594"/>
                <a:gd name="T43" fmla="*/ 29 h 60"/>
                <a:gd name="T44" fmla="*/ 1235 w 8594"/>
                <a:gd name="T45" fmla="*/ 30 h 60"/>
                <a:gd name="T46" fmla="*/ 1695 w 8594"/>
                <a:gd name="T47" fmla="*/ 28 h 60"/>
                <a:gd name="T48" fmla="*/ 2516 w 8594"/>
                <a:gd name="T49" fmla="*/ 20 h 60"/>
                <a:gd name="T50" fmla="*/ 3096 w 8594"/>
                <a:gd name="T51" fmla="*/ 21 h 60"/>
                <a:gd name="T52" fmla="*/ 3775 w 8594"/>
                <a:gd name="T53" fmla="*/ 17 h 60"/>
                <a:gd name="T54" fmla="*/ 3608 w 8594"/>
                <a:gd name="T55" fmla="*/ 13 h 60"/>
                <a:gd name="T56" fmla="*/ 3472 w 8594"/>
                <a:gd name="T57" fmla="*/ 9 h 60"/>
                <a:gd name="T58" fmla="*/ 4061 w 8594"/>
                <a:gd name="T59" fmla="*/ 4 h 60"/>
                <a:gd name="T60" fmla="*/ 4257 w 8594"/>
                <a:gd name="T61" fmla="*/ 12 h 60"/>
                <a:gd name="T62" fmla="*/ 4645 w 8594"/>
                <a:gd name="T63" fmla="*/ 16 h 60"/>
                <a:gd name="T64" fmla="*/ 4373 w 8594"/>
                <a:gd name="T65" fmla="*/ 10 h 60"/>
                <a:gd name="T66" fmla="*/ 5119 w 8594"/>
                <a:gd name="T67" fmla="*/ 4 h 60"/>
                <a:gd name="T68" fmla="*/ 5193 w 8594"/>
                <a:gd name="T69" fmla="*/ 5 h 60"/>
                <a:gd name="T70" fmla="*/ 5134 w 8594"/>
                <a:gd name="T71" fmla="*/ 16 h 60"/>
                <a:gd name="T72" fmla="*/ 5438 w 8594"/>
                <a:gd name="T73" fmla="*/ 15 h 60"/>
                <a:gd name="T74" fmla="*/ 5834 w 8594"/>
                <a:gd name="T75" fmla="*/ 5 h 60"/>
                <a:gd name="T76" fmla="*/ 5843 w 8594"/>
                <a:gd name="T77" fmla="*/ 16 h 60"/>
                <a:gd name="T78" fmla="*/ 5967 w 8594"/>
                <a:gd name="T79" fmla="*/ 11 h 60"/>
                <a:gd name="T80" fmla="*/ 6226 w 8594"/>
                <a:gd name="T81" fmla="*/ 10 h 60"/>
                <a:gd name="T82" fmla="*/ 6261 w 8594"/>
                <a:gd name="T83" fmla="*/ 13 h 60"/>
                <a:gd name="T84" fmla="*/ 6697 w 8594"/>
                <a:gd name="T85" fmla="*/ 10 h 60"/>
                <a:gd name="T86" fmla="*/ 6837 w 8594"/>
                <a:gd name="T87" fmla="*/ 16 h 60"/>
                <a:gd name="T88" fmla="*/ 7682 w 8594"/>
                <a:gd name="T89" fmla="*/ 14 h 60"/>
                <a:gd name="T90" fmla="*/ 7802 w 8594"/>
                <a:gd name="T91" fmla="*/ 24 h 60"/>
                <a:gd name="T92" fmla="*/ 8182 w 8594"/>
                <a:gd name="T93" fmla="*/ 23 h 60"/>
                <a:gd name="T94" fmla="*/ 8315 w 8594"/>
                <a:gd name="T95" fmla="*/ 27 h 60"/>
                <a:gd name="T96" fmla="*/ 8441 w 8594"/>
                <a:gd name="T97" fmla="*/ 38 h 60"/>
                <a:gd name="T98" fmla="*/ 8077 w 8594"/>
                <a:gd name="T99" fmla="*/ 45 h 60"/>
                <a:gd name="T100" fmla="*/ 8594 w 8594"/>
                <a:gd name="T101" fmla="*/ 47 h 60"/>
                <a:gd name="T102" fmla="*/ 8205 w 8594"/>
                <a:gd name="T103" fmla="*/ 53 h 60"/>
                <a:gd name="T104" fmla="*/ 7779 w 8594"/>
                <a:gd name="T105" fmla="*/ 58 h 60"/>
                <a:gd name="T106" fmla="*/ 7358 w 8594"/>
                <a:gd name="T107" fmla="*/ 54 h 60"/>
                <a:gd name="T108" fmla="*/ 6692 w 8594"/>
                <a:gd name="T109" fmla="*/ 49 h 60"/>
                <a:gd name="T110" fmla="*/ 5792 w 8594"/>
                <a:gd name="T111" fmla="*/ 53 h 60"/>
                <a:gd name="T112" fmla="*/ 5390 w 8594"/>
                <a:gd name="T113" fmla="*/ 47 h 60"/>
                <a:gd name="T114" fmla="*/ 5194 w 8594"/>
                <a:gd name="T115" fmla="*/ 51 h 60"/>
                <a:gd name="T116" fmla="*/ 4559 w 8594"/>
                <a:gd name="T117" fmla="*/ 53 h 60"/>
                <a:gd name="T118" fmla="*/ 4226 w 8594"/>
                <a:gd name="T119" fmla="*/ 58 h 60"/>
                <a:gd name="T120" fmla="*/ 4010 w 8594"/>
                <a:gd name="T121" fmla="*/ 60 h 60"/>
                <a:gd name="T122" fmla="*/ 3858 w 8594"/>
                <a:gd name="T123"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594" h="60">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5" name="Freeform 64"/>
            <p:cNvSpPr>
              <a:spLocks/>
            </p:cNvSpPr>
            <p:nvPr/>
          </p:nvSpPr>
          <p:spPr bwMode="invGray">
            <a:xfrm>
              <a:off x="12117388" y="2779713"/>
              <a:ext cx="127000" cy="4762"/>
            </a:xfrm>
            <a:custGeom>
              <a:avLst/>
              <a:gdLst>
                <a:gd name="T0" fmla="*/ 19 w 66"/>
                <a:gd name="T1" fmla="*/ 2 h 2"/>
                <a:gd name="T2" fmla="*/ 19 w 66"/>
                <a:gd name="T3" fmla="*/ 2 h 2"/>
                <a:gd name="T4" fmla="*/ 60 w 66"/>
                <a:gd name="T5" fmla="*/ 0 h 2"/>
                <a:gd name="T6" fmla="*/ 19 w 66"/>
                <a:gd name="T7" fmla="*/ 2 h 2"/>
              </a:gdLst>
              <a:ahLst/>
              <a:cxnLst>
                <a:cxn ang="0">
                  <a:pos x="T0" y="T1"/>
                </a:cxn>
                <a:cxn ang="0">
                  <a:pos x="T2" y="T3"/>
                </a:cxn>
                <a:cxn ang="0">
                  <a:pos x="T4" y="T5"/>
                </a:cxn>
                <a:cxn ang="0">
                  <a:pos x="T6" y="T7"/>
                </a:cxn>
              </a:cxnLst>
              <a:rect l="0" t="0" r="r" b="b"/>
              <a:pathLst>
                <a:path w="66" h="2">
                  <a:moveTo>
                    <a:pt x="19" y="2"/>
                  </a:moveTo>
                  <a:lnTo>
                    <a:pt x="19" y="2"/>
                  </a:lnTo>
                  <a:cubicBezTo>
                    <a:pt x="33" y="2"/>
                    <a:pt x="66" y="2"/>
                    <a:pt x="60" y="0"/>
                  </a:cubicBezTo>
                  <a:cubicBezTo>
                    <a:pt x="60" y="2"/>
                    <a:pt x="0" y="0"/>
                    <a:pt x="19"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6" name="Freeform 65"/>
            <p:cNvSpPr>
              <a:spLocks/>
            </p:cNvSpPr>
            <p:nvPr/>
          </p:nvSpPr>
          <p:spPr bwMode="invGray">
            <a:xfrm>
              <a:off x="12182475" y="2787650"/>
              <a:ext cx="79375" cy="1587"/>
            </a:xfrm>
            <a:custGeom>
              <a:avLst/>
              <a:gdLst>
                <a:gd name="T0" fmla="*/ 25 w 41"/>
                <a:gd name="T1" fmla="*/ 1 h 1"/>
                <a:gd name="T2" fmla="*/ 25 w 41"/>
                <a:gd name="T3" fmla="*/ 1 h 1"/>
                <a:gd name="T4" fmla="*/ 41 w 41"/>
                <a:gd name="T5" fmla="*/ 0 h 1"/>
                <a:gd name="T6" fmla="*/ 0 w 41"/>
                <a:gd name="T7" fmla="*/ 0 h 1"/>
                <a:gd name="T8" fmla="*/ 25 w 41"/>
                <a:gd name="T9" fmla="*/ 1 h 1"/>
              </a:gdLst>
              <a:ahLst/>
              <a:cxnLst>
                <a:cxn ang="0">
                  <a:pos x="T0" y="T1"/>
                </a:cxn>
                <a:cxn ang="0">
                  <a:pos x="T2" y="T3"/>
                </a:cxn>
                <a:cxn ang="0">
                  <a:pos x="T4" y="T5"/>
                </a:cxn>
                <a:cxn ang="0">
                  <a:pos x="T6" y="T7"/>
                </a:cxn>
                <a:cxn ang="0">
                  <a:pos x="T8" y="T9"/>
                </a:cxn>
              </a:cxnLst>
              <a:rect l="0" t="0" r="r" b="b"/>
              <a:pathLst>
                <a:path w="41" h="1">
                  <a:moveTo>
                    <a:pt x="25" y="1"/>
                  </a:moveTo>
                  <a:lnTo>
                    <a:pt x="25" y="1"/>
                  </a:lnTo>
                  <a:cubicBezTo>
                    <a:pt x="27" y="1"/>
                    <a:pt x="26" y="0"/>
                    <a:pt x="41" y="0"/>
                  </a:cubicBezTo>
                  <a:lnTo>
                    <a:pt x="0" y="0"/>
                  </a:lnTo>
                  <a:lnTo>
                    <a:pt x="2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7" name="Freeform 66"/>
            <p:cNvSpPr>
              <a:spLocks/>
            </p:cNvSpPr>
            <p:nvPr/>
          </p:nvSpPr>
          <p:spPr bwMode="invGray">
            <a:xfrm>
              <a:off x="12307888" y="2809875"/>
              <a:ext cx="249238" cy="15875"/>
            </a:xfrm>
            <a:custGeom>
              <a:avLst/>
              <a:gdLst>
                <a:gd name="T0" fmla="*/ 2 w 130"/>
                <a:gd name="T1" fmla="*/ 3 h 7"/>
                <a:gd name="T2" fmla="*/ 2 w 130"/>
                <a:gd name="T3" fmla="*/ 3 h 7"/>
                <a:gd name="T4" fmla="*/ 70 w 130"/>
                <a:gd name="T5" fmla="*/ 2 h 7"/>
                <a:gd name="T6" fmla="*/ 0 w 130"/>
                <a:gd name="T7" fmla="*/ 6 h 7"/>
                <a:gd name="T8" fmla="*/ 130 w 130"/>
                <a:gd name="T9" fmla="*/ 4 h 7"/>
                <a:gd name="T10" fmla="*/ 2 w 130"/>
                <a:gd name="T11" fmla="*/ 3 h 7"/>
              </a:gdLst>
              <a:ahLst/>
              <a:cxnLst>
                <a:cxn ang="0">
                  <a:pos x="T0" y="T1"/>
                </a:cxn>
                <a:cxn ang="0">
                  <a:pos x="T2" y="T3"/>
                </a:cxn>
                <a:cxn ang="0">
                  <a:pos x="T4" y="T5"/>
                </a:cxn>
                <a:cxn ang="0">
                  <a:pos x="T6" y="T7"/>
                </a:cxn>
                <a:cxn ang="0">
                  <a:pos x="T8" y="T9"/>
                </a:cxn>
                <a:cxn ang="0">
                  <a:pos x="T10" y="T11"/>
                </a:cxn>
              </a:cxnLst>
              <a:rect l="0" t="0" r="r" b="b"/>
              <a:pathLst>
                <a:path w="130" h="7">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8" name="Freeform 67"/>
            <p:cNvSpPr>
              <a:spLocks/>
            </p:cNvSpPr>
            <p:nvPr/>
          </p:nvSpPr>
          <p:spPr bwMode="invGray">
            <a:xfrm>
              <a:off x="12252325" y="2825750"/>
              <a:ext cx="73025" cy="1587"/>
            </a:xfrm>
            <a:custGeom>
              <a:avLst/>
              <a:gdLst>
                <a:gd name="T0" fmla="*/ 4 w 38"/>
                <a:gd name="T1" fmla="*/ 1 h 1"/>
                <a:gd name="T2" fmla="*/ 4 w 38"/>
                <a:gd name="T3" fmla="*/ 1 h 1"/>
                <a:gd name="T4" fmla="*/ 38 w 38"/>
                <a:gd name="T5" fmla="*/ 0 h 1"/>
                <a:gd name="T6" fmla="*/ 34 w 38"/>
                <a:gd name="T7" fmla="*/ 0 h 1"/>
                <a:gd name="T8" fmla="*/ 0 w 38"/>
                <a:gd name="T9" fmla="*/ 1 h 1"/>
                <a:gd name="T10" fmla="*/ 4 w 38"/>
                <a:gd name="T11" fmla="*/ 1 h 1"/>
              </a:gdLst>
              <a:ahLst/>
              <a:cxnLst>
                <a:cxn ang="0">
                  <a:pos x="T0" y="T1"/>
                </a:cxn>
                <a:cxn ang="0">
                  <a:pos x="T2" y="T3"/>
                </a:cxn>
                <a:cxn ang="0">
                  <a:pos x="T4" y="T5"/>
                </a:cxn>
                <a:cxn ang="0">
                  <a:pos x="T6" y="T7"/>
                </a:cxn>
                <a:cxn ang="0">
                  <a:pos x="T8" y="T9"/>
                </a:cxn>
                <a:cxn ang="0">
                  <a:pos x="T10" y="T11"/>
                </a:cxn>
              </a:cxnLst>
              <a:rect l="0" t="0" r="r" b="b"/>
              <a:pathLst>
                <a:path w="38" h="1">
                  <a:moveTo>
                    <a:pt x="4" y="1"/>
                  </a:moveTo>
                  <a:lnTo>
                    <a:pt x="4" y="1"/>
                  </a:lnTo>
                  <a:lnTo>
                    <a:pt x="38" y="0"/>
                  </a:lnTo>
                  <a:lnTo>
                    <a:pt x="34" y="0"/>
                  </a:lnTo>
                  <a:lnTo>
                    <a:pt x="0" y="1"/>
                  </a:lnTo>
                  <a:lnTo>
                    <a:pt x="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9" name="Freeform 68"/>
            <p:cNvSpPr>
              <a:spLocks/>
            </p:cNvSpPr>
            <p:nvPr/>
          </p:nvSpPr>
          <p:spPr bwMode="invGray">
            <a:xfrm>
              <a:off x="10779125" y="2733675"/>
              <a:ext cx="66675" cy="4762"/>
            </a:xfrm>
            <a:custGeom>
              <a:avLst/>
              <a:gdLst>
                <a:gd name="T0" fmla="*/ 35 w 35"/>
                <a:gd name="T1" fmla="*/ 2 h 2"/>
                <a:gd name="T2" fmla="*/ 35 w 35"/>
                <a:gd name="T3" fmla="*/ 2 h 2"/>
                <a:gd name="T4" fmla="*/ 0 w 35"/>
                <a:gd name="T5" fmla="*/ 2 h 2"/>
                <a:gd name="T6" fmla="*/ 35 w 35"/>
                <a:gd name="T7" fmla="*/ 2 h 2"/>
              </a:gdLst>
              <a:ahLst/>
              <a:cxnLst>
                <a:cxn ang="0">
                  <a:pos x="T0" y="T1"/>
                </a:cxn>
                <a:cxn ang="0">
                  <a:pos x="T2" y="T3"/>
                </a:cxn>
                <a:cxn ang="0">
                  <a:pos x="T4" y="T5"/>
                </a:cxn>
                <a:cxn ang="0">
                  <a:pos x="T6" y="T7"/>
                </a:cxn>
              </a:cxnLst>
              <a:rect l="0" t="0" r="r" b="b"/>
              <a:pathLst>
                <a:path w="35" h="2">
                  <a:moveTo>
                    <a:pt x="35" y="2"/>
                  </a:moveTo>
                  <a:lnTo>
                    <a:pt x="35" y="2"/>
                  </a:lnTo>
                  <a:cubicBezTo>
                    <a:pt x="32" y="0"/>
                    <a:pt x="11" y="1"/>
                    <a:pt x="0" y="2"/>
                  </a:cubicBezTo>
                  <a:cubicBezTo>
                    <a:pt x="9" y="2"/>
                    <a:pt x="22" y="2"/>
                    <a:pt x="3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0" name="Freeform 69"/>
            <p:cNvSpPr>
              <a:spLocks/>
            </p:cNvSpPr>
            <p:nvPr/>
          </p:nvSpPr>
          <p:spPr bwMode="invGray">
            <a:xfrm>
              <a:off x="-2471738" y="2738438"/>
              <a:ext cx="496888" cy="1587"/>
            </a:xfrm>
            <a:custGeom>
              <a:avLst/>
              <a:gdLst>
                <a:gd name="T0" fmla="*/ 259 w 259"/>
                <a:gd name="T1" fmla="*/ 0 h 1"/>
                <a:gd name="T2" fmla="*/ 259 w 259"/>
                <a:gd name="T3" fmla="*/ 0 h 1"/>
                <a:gd name="T4" fmla="*/ 0 w 259"/>
                <a:gd name="T5" fmla="*/ 1 h 1"/>
                <a:gd name="T6" fmla="*/ 259 w 259"/>
                <a:gd name="T7" fmla="*/ 0 h 1"/>
              </a:gdLst>
              <a:ahLst/>
              <a:cxnLst>
                <a:cxn ang="0">
                  <a:pos x="T0" y="T1"/>
                </a:cxn>
                <a:cxn ang="0">
                  <a:pos x="T2" y="T3"/>
                </a:cxn>
                <a:cxn ang="0">
                  <a:pos x="T4" y="T5"/>
                </a:cxn>
                <a:cxn ang="0">
                  <a:pos x="T6" y="T7"/>
                </a:cxn>
              </a:cxnLst>
              <a:rect l="0" t="0" r="r" b="b"/>
              <a:pathLst>
                <a:path w="259" h="1">
                  <a:moveTo>
                    <a:pt x="259" y="0"/>
                  </a:moveTo>
                  <a:lnTo>
                    <a:pt x="259" y="0"/>
                  </a:lnTo>
                  <a:lnTo>
                    <a:pt x="0" y="1"/>
                  </a:lnTo>
                  <a:lnTo>
                    <a:pt x="25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1" name="Freeform 70"/>
            <p:cNvSpPr>
              <a:spLocks/>
            </p:cNvSpPr>
            <p:nvPr/>
          </p:nvSpPr>
          <p:spPr bwMode="invGray">
            <a:xfrm>
              <a:off x="9136063" y="2735263"/>
              <a:ext cx="387350" cy="14287"/>
            </a:xfrm>
            <a:custGeom>
              <a:avLst/>
              <a:gdLst>
                <a:gd name="T0" fmla="*/ 30 w 202"/>
                <a:gd name="T1" fmla="*/ 6 h 6"/>
                <a:gd name="T2" fmla="*/ 30 w 202"/>
                <a:gd name="T3" fmla="*/ 6 h 6"/>
                <a:gd name="T4" fmla="*/ 202 w 202"/>
                <a:gd name="T5" fmla="*/ 3 h 6"/>
                <a:gd name="T6" fmla="*/ 0 w 202"/>
                <a:gd name="T7" fmla="*/ 3 h 6"/>
                <a:gd name="T8" fmla="*/ 30 w 202"/>
                <a:gd name="T9" fmla="*/ 6 h 6"/>
              </a:gdLst>
              <a:ahLst/>
              <a:cxnLst>
                <a:cxn ang="0">
                  <a:pos x="T0" y="T1"/>
                </a:cxn>
                <a:cxn ang="0">
                  <a:pos x="T2" y="T3"/>
                </a:cxn>
                <a:cxn ang="0">
                  <a:pos x="T4" y="T5"/>
                </a:cxn>
                <a:cxn ang="0">
                  <a:pos x="T6" y="T7"/>
                </a:cxn>
                <a:cxn ang="0">
                  <a:pos x="T8" y="T9"/>
                </a:cxn>
              </a:cxnLst>
              <a:rect l="0" t="0" r="r" b="b"/>
              <a:pathLst>
                <a:path w="202" h="6">
                  <a:moveTo>
                    <a:pt x="30" y="6"/>
                  </a:moveTo>
                  <a:lnTo>
                    <a:pt x="30" y="6"/>
                  </a:lnTo>
                  <a:cubicBezTo>
                    <a:pt x="100" y="5"/>
                    <a:pt x="131" y="3"/>
                    <a:pt x="202" y="3"/>
                  </a:cubicBezTo>
                  <a:cubicBezTo>
                    <a:pt x="109" y="0"/>
                    <a:pt x="79" y="6"/>
                    <a:pt x="0" y="3"/>
                  </a:cubicBezTo>
                  <a:lnTo>
                    <a:pt x="30"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2" name="Freeform 71"/>
            <p:cNvSpPr>
              <a:spLocks/>
            </p:cNvSpPr>
            <p:nvPr/>
          </p:nvSpPr>
          <p:spPr bwMode="invGray">
            <a:xfrm>
              <a:off x="9139238" y="2725738"/>
              <a:ext cx="142875" cy="9525"/>
            </a:xfrm>
            <a:custGeom>
              <a:avLst/>
              <a:gdLst>
                <a:gd name="T0" fmla="*/ 54 w 75"/>
                <a:gd name="T1" fmla="*/ 0 h 4"/>
                <a:gd name="T2" fmla="*/ 54 w 75"/>
                <a:gd name="T3" fmla="*/ 0 h 4"/>
                <a:gd name="T4" fmla="*/ 10 w 75"/>
                <a:gd name="T5" fmla="*/ 4 h 4"/>
                <a:gd name="T6" fmla="*/ 75 w 75"/>
                <a:gd name="T7" fmla="*/ 2 h 4"/>
                <a:gd name="T8" fmla="*/ 54 w 75"/>
                <a:gd name="T9" fmla="*/ 0 h 4"/>
              </a:gdLst>
              <a:ahLst/>
              <a:cxnLst>
                <a:cxn ang="0">
                  <a:pos x="T0" y="T1"/>
                </a:cxn>
                <a:cxn ang="0">
                  <a:pos x="T2" y="T3"/>
                </a:cxn>
                <a:cxn ang="0">
                  <a:pos x="T4" y="T5"/>
                </a:cxn>
                <a:cxn ang="0">
                  <a:pos x="T6" y="T7"/>
                </a:cxn>
                <a:cxn ang="0">
                  <a:pos x="T8" y="T9"/>
                </a:cxn>
              </a:cxnLst>
              <a:rect l="0" t="0" r="r" b="b"/>
              <a:pathLst>
                <a:path w="75" h="4">
                  <a:moveTo>
                    <a:pt x="54" y="0"/>
                  </a:moveTo>
                  <a:lnTo>
                    <a:pt x="54" y="0"/>
                  </a:lnTo>
                  <a:cubicBezTo>
                    <a:pt x="65" y="2"/>
                    <a:pt x="0" y="3"/>
                    <a:pt x="10" y="4"/>
                  </a:cubicBezTo>
                  <a:cubicBezTo>
                    <a:pt x="57" y="4"/>
                    <a:pt x="32" y="2"/>
                    <a:pt x="75" y="2"/>
                  </a:cubicBezTo>
                  <a:lnTo>
                    <a:pt x="5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3" name="Freeform 72"/>
            <p:cNvSpPr>
              <a:spLocks/>
            </p:cNvSpPr>
            <p:nvPr/>
          </p:nvSpPr>
          <p:spPr bwMode="invGray">
            <a:xfrm>
              <a:off x="9805988" y="2817813"/>
              <a:ext cx="39688" cy="3175"/>
            </a:xfrm>
            <a:custGeom>
              <a:avLst/>
              <a:gdLst>
                <a:gd name="T0" fmla="*/ 21 w 21"/>
                <a:gd name="T1" fmla="*/ 0 h 1"/>
                <a:gd name="T2" fmla="*/ 21 w 21"/>
                <a:gd name="T3" fmla="*/ 0 h 1"/>
                <a:gd name="T4" fmla="*/ 0 w 21"/>
                <a:gd name="T5" fmla="*/ 1 h 1"/>
                <a:gd name="T6" fmla="*/ 17 w 21"/>
                <a:gd name="T7" fmla="*/ 1 h 1"/>
                <a:gd name="T8" fmla="*/ 21 w 21"/>
                <a:gd name="T9" fmla="*/ 0 h 1"/>
              </a:gdLst>
              <a:ahLst/>
              <a:cxnLst>
                <a:cxn ang="0">
                  <a:pos x="T0" y="T1"/>
                </a:cxn>
                <a:cxn ang="0">
                  <a:pos x="T2" y="T3"/>
                </a:cxn>
                <a:cxn ang="0">
                  <a:pos x="T4" y="T5"/>
                </a:cxn>
                <a:cxn ang="0">
                  <a:pos x="T6" y="T7"/>
                </a:cxn>
                <a:cxn ang="0">
                  <a:pos x="T8" y="T9"/>
                </a:cxn>
              </a:cxnLst>
              <a:rect l="0" t="0" r="r" b="b"/>
              <a:pathLst>
                <a:path w="21" h="1">
                  <a:moveTo>
                    <a:pt x="21" y="0"/>
                  </a:moveTo>
                  <a:lnTo>
                    <a:pt x="21" y="0"/>
                  </a:lnTo>
                  <a:lnTo>
                    <a:pt x="0" y="1"/>
                  </a:lnTo>
                  <a:lnTo>
                    <a:pt x="17" y="1"/>
                  </a:lnTo>
                  <a:lnTo>
                    <a:pt x="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4" name="Freeform 73"/>
            <p:cNvSpPr>
              <a:spLocks/>
            </p:cNvSpPr>
            <p:nvPr/>
          </p:nvSpPr>
          <p:spPr bwMode="invGray">
            <a:xfrm>
              <a:off x="8580438" y="2725738"/>
              <a:ext cx="66675" cy="3175"/>
            </a:xfrm>
            <a:custGeom>
              <a:avLst/>
              <a:gdLst>
                <a:gd name="T0" fmla="*/ 27 w 35"/>
                <a:gd name="T1" fmla="*/ 1 h 1"/>
                <a:gd name="T2" fmla="*/ 27 w 35"/>
                <a:gd name="T3" fmla="*/ 1 h 1"/>
                <a:gd name="T4" fmla="*/ 35 w 35"/>
                <a:gd name="T5" fmla="*/ 1 h 1"/>
                <a:gd name="T6" fmla="*/ 0 w 35"/>
                <a:gd name="T7" fmla="*/ 0 h 1"/>
                <a:gd name="T8" fmla="*/ 27 w 35"/>
                <a:gd name="T9" fmla="*/ 1 h 1"/>
              </a:gdLst>
              <a:ahLst/>
              <a:cxnLst>
                <a:cxn ang="0">
                  <a:pos x="T0" y="T1"/>
                </a:cxn>
                <a:cxn ang="0">
                  <a:pos x="T2" y="T3"/>
                </a:cxn>
                <a:cxn ang="0">
                  <a:pos x="T4" y="T5"/>
                </a:cxn>
                <a:cxn ang="0">
                  <a:pos x="T6" y="T7"/>
                </a:cxn>
                <a:cxn ang="0">
                  <a:pos x="T8" y="T9"/>
                </a:cxn>
              </a:cxnLst>
              <a:rect l="0" t="0" r="r" b="b"/>
              <a:pathLst>
                <a:path w="35" h="1">
                  <a:moveTo>
                    <a:pt x="27" y="1"/>
                  </a:moveTo>
                  <a:lnTo>
                    <a:pt x="27" y="1"/>
                  </a:lnTo>
                  <a:lnTo>
                    <a:pt x="35" y="1"/>
                  </a:lnTo>
                  <a:lnTo>
                    <a:pt x="0" y="0"/>
                  </a:lnTo>
                  <a:lnTo>
                    <a:pt x="2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5" name="Freeform 74"/>
            <p:cNvSpPr>
              <a:spLocks/>
            </p:cNvSpPr>
            <p:nvPr/>
          </p:nvSpPr>
          <p:spPr bwMode="invGray">
            <a:xfrm>
              <a:off x="8647113" y="2725738"/>
              <a:ext cx="15875" cy="3175"/>
            </a:xfrm>
            <a:custGeom>
              <a:avLst/>
              <a:gdLst>
                <a:gd name="T0" fmla="*/ 8 w 8"/>
                <a:gd name="T1" fmla="*/ 0 h 1"/>
                <a:gd name="T2" fmla="*/ 8 w 8"/>
                <a:gd name="T3" fmla="*/ 0 h 1"/>
                <a:gd name="T4" fmla="*/ 0 w 8"/>
                <a:gd name="T5" fmla="*/ 1 h 1"/>
                <a:gd name="T6" fmla="*/ 8 w 8"/>
                <a:gd name="T7" fmla="*/ 0 h 1"/>
              </a:gdLst>
              <a:ahLst/>
              <a:cxnLst>
                <a:cxn ang="0">
                  <a:pos x="T0" y="T1"/>
                </a:cxn>
                <a:cxn ang="0">
                  <a:pos x="T2" y="T3"/>
                </a:cxn>
                <a:cxn ang="0">
                  <a:pos x="T4" y="T5"/>
                </a:cxn>
                <a:cxn ang="0">
                  <a:pos x="T6" y="T7"/>
                </a:cxn>
              </a:cxnLst>
              <a:rect l="0" t="0" r="r" b="b"/>
              <a:pathLst>
                <a:path w="8" h="1">
                  <a:moveTo>
                    <a:pt x="8" y="0"/>
                  </a:moveTo>
                  <a:lnTo>
                    <a:pt x="8" y="0"/>
                  </a:lnTo>
                  <a:lnTo>
                    <a:pt x="0" y="1"/>
                  </a:lnTo>
                  <a:lnTo>
                    <a:pt x="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6" name="Freeform 75"/>
            <p:cNvSpPr>
              <a:spLocks/>
            </p:cNvSpPr>
            <p:nvPr/>
          </p:nvSpPr>
          <p:spPr bwMode="invGray">
            <a:xfrm>
              <a:off x="9794875" y="2830513"/>
              <a:ext cx="90488" cy="1587"/>
            </a:xfrm>
            <a:custGeom>
              <a:avLst/>
              <a:gdLst>
                <a:gd name="T0" fmla="*/ 0 w 47"/>
                <a:gd name="T1" fmla="*/ 0 h 1"/>
                <a:gd name="T2" fmla="*/ 0 w 47"/>
                <a:gd name="T3" fmla="*/ 0 h 1"/>
                <a:gd name="T4" fmla="*/ 32 w 47"/>
                <a:gd name="T5" fmla="*/ 1 h 1"/>
                <a:gd name="T6" fmla="*/ 47 w 47"/>
                <a:gd name="T7" fmla="*/ 0 h 1"/>
                <a:gd name="T8" fmla="*/ 0 w 47"/>
                <a:gd name="T9" fmla="*/ 0 h 1"/>
              </a:gdLst>
              <a:ahLst/>
              <a:cxnLst>
                <a:cxn ang="0">
                  <a:pos x="T0" y="T1"/>
                </a:cxn>
                <a:cxn ang="0">
                  <a:pos x="T2" y="T3"/>
                </a:cxn>
                <a:cxn ang="0">
                  <a:pos x="T4" y="T5"/>
                </a:cxn>
                <a:cxn ang="0">
                  <a:pos x="T6" y="T7"/>
                </a:cxn>
                <a:cxn ang="0">
                  <a:pos x="T8" y="T9"/>
                </a:cxn>
              </a:cxnLst>
              <a:rect l="0" t="0" r="r" b="b"/>
              <a:pathLst>
                <a:path w="47" h="1">
                  <a:moveTo>
                    <a:pt x="0" y="0"/>
                  </a:moveTo>
                  <a:lnTo>
                    <a:pt x="0" y="0"/>
                  </a:lnTo>
                  <a:lnTo>
                    <a:pt x="32" y="1"/>
                  </a:lnTo>
                  <a:lnTo>
                    <a:pt x="47"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7" name="Freeform 76"/>
            <p:cNvSpPr>
              <a:spLocks/>
            </p:cNvSpPr>
            <p:nvPr/>
          </p:nvSpPr>
          <p:spPr bwMode="invGray">
            <a:xfrm>
              <a:off x="9232900" y="2795588"/>
              <a:ext cx="84138" cy="3175"/>
            </a:xfrm>
            <a:custGeom>
              <a:avLst/>
              <a:gdLst>
                <a:gd name="T0" fmla="*/ 16 w 44"/>
                <a:gd name="T1" fmla="*/ 1 h 1"/>
                <a:gd name="T2" fmla="*/ 16 w 44"/>
                <a:gd name="T3" fmla="*/ 1 h 1"/>
                <a:gd name="T4" fmla="*/ 44 w 44"/>
                <a:gd name="T5" fmla="*/ 1 h 1"/>
                <a:gd name="T6" fmla="*/ 16 w 44"/>
                <a:gd name="T7" fmla="*/ 1 h 1"/>
              </a:gdLst>
              <a:ahLst/>
              <a:cxnLst>
                <a:cxn ang="0">
                  <a:pos x="T0" y="T1"/>
                </a:cxn>
                <a:cxn ang="0">
                  <a:pos x="T2" y="T3"/>
                </a:cxn>
                <a:cxn ang="0">
                  <a:pos x="T4" y="T5"/>
                </a:cxn>
                <a:cxn ang="0">
                  <a:pos x="T6" y="T7"/>
                </a:cxn>
              </a:cxnLst>
              <a:rect l="0" t="0" r="r" b="b"/>
              <a:pathLst>
                <a:path w="44" h="1">
                  <a:moveTo>
                    <a:pt x="16" y="1"/>
                  </a:moveTo>
                  <a:lnTo>
                    <a:pt x="16" y="1"/>
                  </a:lnTo>
                  <a:lnTo>
                    <a:pt x="44" y="1"/>
                  </a:lnTo>
                  <a:cubicBezTo>
                    <a:pt x="39" y="1"/>
                    <a:pt x="0" y="0"/>
                    <a:pt x="16"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8" name="Freeform 77"/>
            <p:cNvSpPr>
              <a:spLocks/>
            </p:cNvSpPr>
            <p:nvPr/>
          </p:nvSpPr>
          <p:spPr bwMode="invGray">
            <a:xfrm>
              <a:off x="8158163" y="2725738"/>
              <a:ext cx="71438" cy="3175"/>
            </a:xfrm>
            <a:custGeom>
              <a:avLst/>
              <a:gdLst>
                <a:gd name="T0" fmla="*/ 34 w 37"/>
                <a:gd name="T1" fmla="*/ 0 h 1"/>
                <a:gd name="T2" fmla="*/ 34 w 37"/>
                <a:gd name="T3" fmla="*/ 0 h 1"/>
                <a:gd name="T4" fmla="*/ 0 w 37"/>
                <a:gd name="T5" fmla="*/ 1 h 1"/>
                <a:gd name="T6" fmla="*/ 3 w 37"/>
                <a:gd name="T7" fmla="*/ 1 h 1"/>
                <a:gd name="T8" fmla="*/ 37 w 37"/>
                <a:gd name="T9" fmla="*/ 0 h 1"/>
                <a:gd name="T10" fmla="*/ 34 w 37"/>
                <a:gd name="T11" fmla="*/ 0 h 1"/>
              </a:gdLst>
              <a:ahLst/>
              <a:cxnLst>
                <a:cxn ang="0">
                  <a:pos x="T0" y="T1"/>
                </a:cxn>
                <a:cxn ang="0">
                  <a:pos x="T2" y="T3"/>
                </a:cxn>
                <a:cxn ang="0">
                  <a:pos x="T4" y="T5"/>
                </a:cxn>
                <a:cxn ang="0">
                  <a:pos x="T6" y="T7"/>
                </a:cxn>
                <a:cxn ang="0">
                  <a:pos x="T8" y="T9"/>
                </a:cxn>
                <a:cxn ang="0">
                  <a:pos x="T10" y="T11"/>
                </a:cxn>
              </a:cxnLst>
              <a:rect l="0" t="0" r="r" b="b"/>
              <a:pathLst>
                <a:path w="37" h="1">
                  <a:moveTo>
                    <a:pt x="34" y="0"/>
                  </a:moveTo>
                  <a:lnTo>
                    <a:pt x="34" y="0"/>
                  </a:lnTo>
                  <a:lnTo>
                    <a:pt x="0" y="1"/>
                  </a:lnTo>
                  <a:lnTo>
                    <a:pt x="3" y="1"/>
                  </a:lnTo>
                  <a:lnTo>
                    <a:pt x="37" y="0"/>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9" name="Freeform 78"/>
            <p:cNvSpPr>
              <a:spLocks/>
            </p:cNvSpPr>
            <p:nvPr/>
          </p:nvSpPr>
          <p:spPr bwMode="invGray">
            <a:xfrm>
              <a:off x="8734425" y="2814638"/>
              <a:ext cx="144463" cy="3175"/>
            </a:xfrm>
            <a:custGeom>
              <a:avLst/>
              <a:gdLst>
                <a:gd name="T0" fmla="*/ 56 w 76"/>
                <a:gd name="T1" fmla="*/ 0 h 2"/>
                <a:gd name="T2" fmla="*/ 56 w 76"/>
                <a:gd name="T3" fmla="*/ 0 h 2"/>
                <a:gd name="T4" fmla="*/ 40 w 76"/>
                <a:gd name="T5" fmla="*/ 2 h 2"/>
                <a:gd name="T6" fmla="*/ 56 w 76"/>
                <a:gd name="T7" fmla="*/ 0 h 2"/>
              </a:gdLst>
              <a:ahLst/>
              <a:cxnLst>
                <a:cxn ang="0">
                  <a:pos x="T0" y="T1"/>
                </a:cxn>
                <a:cxn ang="0">
                  <a:pos x="T2" y="T3"/>
                </a:cxn>
                <a:cxn ang="0">
                  <a:pos x="T4" y="T5"/>
                </a:cxn>
                <a:cxn ang="0">
                  <a:pos x="T6" y="T7"/>
                </a:cxn>
              </a:cxnLst>
              <a:rect l="0" t="0" r="r" b="b"/>
              <a:pathLst>
                <a:path w="76" h="2">
                  <a:moveTo>
                    <a:pt x="56" y="0"/>
                  </a:moveTo>
                  <a:lnTo>
                    <a:pt x="56" y="0"/>
                  </a:lnTo>
                  <a:cubicBezTo>
                    <a:pt x="76" y="2"/>
                    <a:pt x="0" y="0"/>
                    <a:pt x="40" y="2"/>
                  </a:cubicBezTo>
                  <a:cubicBezTo>
                    <a:pt x="76" y="2"/>
                    <a:pt x="61" y="1"/>
                    <a:pt x="5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0" name="Freeform 79"/>
            <p:cNvSpPr>
              <a:spLocks/>
            </p:cNvSpPr>
            <p:nvPr/>
          </p:nvSpPr>
          <p:spPr bwMode="invGray">
            <a:xfrm>
              <a:off x="8023225" y="2782888"/>
              <a:ext cx="26988" cy="1587"/>
            </a:xfrm>
            <a:custGeom>
              <a:avLst/>
              <a:gdLst>
                <a:gd name="T0" fmla="*/ 14 w 14"/>
                <a:gd name="T1" fmla="*/ 0 h 1"/>
                <a:gd name="T2" fmla="*/ 14 w 14"/>
                <a:gd name="T3" fmla="*/ 0 h 1"/>
                <a:gd name="T4" fmla="*/ 0 w 14"/>
                <a:gd name="T5" fmla="*/ 1 h 1"/>
                <a:gd name="T6" fmla="*/ 14 w 14"/>
                <a:gd name="T7" fmla="*/ 0 h 1"/>
              </a:gdLst>
              <a:ahLst/>
              <a:cxnLst>
                <a:cxn ang="0">
                  <a:pos x="T0" y="T1"/>
                </a:cxn>
                <a:cxn ang="0">
                  <a:pos x="T2" y="T3"/>
                </a:cxn>
                <a:cxn ang="0">
                  <a:pos x="T4" y="T5"/>
                </a:cxn>
                <a:cxn ang="0">
                  <a:pos x="T6" y="T7"/>
                </a:cxn>
              </a:cxnLst>
              <a:rect l="0" t="0" r="r" b="b"/>
              <a:pathLst>
                <a:path w="14" h="1">
                  <a:moveTo>
                    <a:pt x="14" y="0"/>
                  </a:moveTo>
                  <a:lnTo>
                    <a:pt x="14" y="0"/>
                  </a:lnTo>
                  <a:cubicBezTo>
                    <a:pt x="9" y="0"/>
                    <a:pt x="5" y="0"/>
                    <a:pt x="0" y="1"/>
                  </a:cubicBezTo>
                  <a:lnTo>
                    <a:pt x="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1" name="Freeform 80"/>
            <p:cNvSpPr>
              <a:spLocks/>
            </p:cNvSpPr>
            <p:nvPr/>
          </p:nvSpPr>
          <p:spPr bwMode="invGray">
            <a:xfrm>
              <a:off x="8050213" y="2782888"/>
              <a:ext cx="77788" cy="1587"/>
            </a:xfrm>
            <a:custGeom>
              <a:avLst/>
              <a:gdLst>
                <a:gd name="T0" fmla="*/ 0 w 40"/>
                <a:gd name="T1" fmla="*/ 0 h 1"/>
                <a:gd name="T2" fmla="*/ 0 w 40"/>
                <a:gd name="T3" fmla="*/ 0 h 1"/>
                <a:gd name="T4" fmla="*/ 40 w 40"/>
                <a:gd name="T5" fmla="*/ 1 h 1"/>
                <a:gd name="T6" fmla="*/ 0 w 40"/>
                <a:gd name="T7" fmla="*/ 0 h 1"/>
              </a:gdLst>
              <a:ahLst/>
              <a:cxnLst>
                <a:cxn ang="0">
                  <a:pos x="T0" y="T1"/>
                </a:cxn>
                <a:cxn ang="0">
                  <a:pos x="T2" y="T3"/>
                </a:cxn>
                <a:cxn ang="0">
                  <a:pos x="T4" y="T5"/>
                </a:cxn>
                <a:cxn ang="0">
                  <a:pos x="T6" y="T7"/>
                </a:cxn>
              </a:cxnLst>
              <a:rect l="0" t="0" r="r" b="b"/>
              <a:pathLst>
                <a:path w="40" h="1">
                  <a:moveTo>
                    <a:pt x="0" y="0"/>
                  </a:moveTo>
                  <a:lnTo>
                    <a:pt x="0" y="0"/>
                  </a:lnTo>
                  <a:cubicBezTo>
                    <a:pt x="15" y="0"/>
                    <a:pt x="30" y="1"/>
                    <a:pt x="40" y="1"/>
                  </a:cubicBezTo>
                  <a:cubicBezTo>
                    <a:pt x="21" y="0"/>
                    <a:pt x="15"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2" name="Freeform 81"/>
            <p:cNvSpPr>
              <a:spLocks/>
            </p:cNvSpPr>
            <p:nvPr/>
          </p:nvSpPr>
          <p:spPr bwMode="invGray">
            <a:xfrm>
              <a:off x="7715250" y="2779713"/>
              <a:ext cx="90488" cy="7937"/>
            </a:xfrm>
            <a:custGeom>
              <a:avLst/>
              <a:gdLst>
                <a:gd name="T0" fmla="*/ 5 w 47"/>
                <a:gd name="T1" fmla="*/ 2 h 3"/>
                <a:gd name="T2" fmla="*/ 5 w 47"/>
                <a:gd name="T3" fmla="*/ 2 h 3"/>
                <a:gd name="T4" fmla="*/ 18 w 47"/>
                <a:gd name="T5" fmla="*/ 2 h 3"/>
                <a:gd name="T6" fmla="*/ 23 w 47"/>
                <a:gd name="T7" fmla="*/ 2 h 3"/>
                <a:gd name="T8" fmla="*/ 38 w 47"/>
                <a:gd name="T9" fmla="*/ 1 h 3"/>
                <a:gd name="T10" fmla="*/ 47 w 47"/>
                <a:gd name="T11" fmla="*/ 0 h 3"/>
                <a:gd name="T12" fmla="*/ 35 w 47"/>
                <a:gd name="T13" fmla="*/ 1 h 3"/>
                <a:gd name="T14" fmla="*/ 5 w 47"/>
                <a:gd name="T15" fmla="*/ 2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 h="3">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3" name="Freeform 82"/>
            <p:cNvSpPr>
              <a:spLocks/>
            </p:cNvSpPr>
            <p:nvPr/>
          </p:nvSpPr>
          <p:spPr bwMode="invGray">
            <a:xfrm>
              <a:off x="6508750" y="2713038"/>
              <a:ext cx="247650" cy="6350"/>
            </a:xfrm>
            <a:custGeom>
              <a:avLst/>
              <a:gdLst>
                <a:gd name="T0" fmla="*/ 0 w 129"/>
                <a:gd name="T1" fmla="*/ 0 h 3"/>
                <a:gd name="T2" fmla="*/ 0 w 129"/>
                <a:gd name="T3" fmla="*/ 0 h 3"/>
                <a:gd name="T4" fmla="*/ 60 w 129"/>
                <a:gd name="T5" fmla="*/ 2 h 3"/>
                <a:gd name="T6" fmla="*/ 129 w 129"/>
                <a:gd name="T7" fmla="*/ 0 h 3"/>
                <a:gd name="T8" fmla="*/ 0 w 129"/>
                <a:gd name="T9" fmla="*/ 0 h 3"/>
              </a:gdLst>
              <a:ahLst/>
              <a:cxnLst>
                <a:cxn ang="0">
                  <a:pos x="T0" y="T1"/>
                </a:cxn>
                <a:cxn ang="0">
                  <a:pos x="T2" y="T3"/>
                </a:cxn>
                <a:cxn ang="0">
                  <a:pos x="T4" y="T5"/>
                </a:cxn>
                <a:cxn ang="0">
                  <a:pos x="T6" y="T7"/>
                </a:cxn>
                <a:cxn ang="0">
                  <a:pos x="T8" y="T9"/>
                </a:cxn>
              </a:cxnLst>
              <a:rect l="0" t="0" r="r" b="b"/>
              <a:pathLst>
                <a:path w="129" h="3">
                  <a:moveTo>
                    <a:pt x="0" y="0"/>
                  </a:moveTo>
                  <a:lnTo>
                    <a:pt x="0" y="0"/>
                  </a:lnTo>
                  <a:cubicBezTo>
                    <a:pt x="50" y="1"/>
                    <a:pt x="63" y="1"/>
                    <a:pt x="60" y="2"/>
                  </a:cubicBezTo>
                  <a:cubicBezTo>
                    <a:pt x="108" y="3"/>
                    <a:pt x="100" y="0"/>
                    <a:pt x="129"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4" name="Freeform 83"/>
            <p:cNvSpPr>
              <a:spLocks/>
            </p:cNvSpPr>
            <p:nvPr/>
          </p:nvSpPr>
          <p:spPr bwMode="invGray">
            <a:xfrm>
              <a:off x="6756400" y="2713038"/>
              <a:ext cx="33338" cy="0"/>
            </a:xfrm>
            <a:custGeom>
              <a:avLst/>
              <a:gdLst>
                <a:gd name="T0" fmla="*/ 0 w 18"/>
                <a:gd name="T1" fmla="*/ 0 w 18"/>
                <a:gd name="T2" fmla="*/ 18 w 18"/>
                <a:gd name="T3" fmla="*/ 0 w 18"/>
              </a:gdLst>
              <a:ahLst/>
              <a:cxnLst>
                <a:cxn ang="0">
                  <a:pos x="T0" y="0"/>
                </a:cxn>
                <a:cxn ang="0">
                  <a:pos x="T1" y="0"/>
                </a:cxn>
                <a:cxn ang="0">
                  <a:pos x="T2" y="0"/>
                </a:cxn>
                <a:cxn ang="0">
                  <a:pos x="T3" y="0"/>
                </a:cxn>
              </a:cxnLst>
              <a:rect l="0" t="0" r="r" b="b"/>
              <a:pathLst>
                <a:path w="18">
                  <a:moveTo>
                    <a:pt x="0" y="0"/>
                  </a:moveTo>
                  <a:lnTo>
                    <a:pt x="0" y="0"/>
                  </a:lnTo>
                  <a:lnTo>
                    <a:pt x="18"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5" name="Freeform 84"/>
            <p:cNvSpPr>
              <a:spLocks/>
            </p:cNvSpPr>
            <p:nvPr/>
          </p:nvSpPr>
          <p:spPr bwMode="invGray">
            <a:xfrm>
              <a:off x="8047038" y="2820988"/>
              <a:ext cx="58738" cy="4762"/>
            </a:xfrm>
            <a:custGeom>
              <a:avLst/>
              <a:gdLst>
                <a:gd name="T0" fmla="*/ 31 w 31"/>
                <a:gd name="T1" fmla="*/ 0 h 2"/>
                <a:gd name="T2" fmla="*/ 31 w 31"/>
                <a:gd name="T3" fmla="*/ 0 h 2"/>
                <a:gd name="T4" fmla="*/ 0 w 31"/>
                <a:gd name="T5" fmla="*/ 2 h 2"/>
                <a:gd name="T6" fmla="*/ 11 w 31"/>
                <a:gd name="T7" fmla="*/ 2 h 2"/>
                <a:gd name="T8" fmla="*/ 31 w 31"/>
                <a:gd name="T9" fmla="*/ 0 h 2"/>
              </a:gdLst>
              <a:ahLst/>
              <a:cxnLst>
                <a:cxn ang="0">
                  <a:pos x="T0" y="T1"/>
                </a:cxn>
                <a:cxn ang="0">
                  <a:pos x="T2" y="T3"/>
                </a:cxn>
                <a:cxn ang="0">
                  <a:pos x="T4" y="T5"/>
                </a:cxn>
                <a:cxn ang="0">
                  <a:pos x="T6" y="T7"/>
                </a:cxn>
                <a:cxn ang="0">
                  <a:pos x="T8" y="T9"/>
                </a:cxn>
              </a:cxnLst>
              <a:rect l="0" t="0" r="r" b="b"/>
              <a:pathLst>
                <a:path w="31" h="2">
                  <a:moveTo>
                    <a:pt x="31" y="0"/>
                  </a:moveTo>
                  <a:lnTo>
                    <a:pt x="31" y="0"/>
                  </a:lnTo>
                  <a:lnTo>
                    <a:pt x="0" y="2"/>
                  </a:lnTo>
                  <a:lnTo>
                    <a:pt x="11" y="2"/>
                  </a:lnTo>
                  <a:lnTo>
                    <a:pt x="3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6" name="Freeform 85"/>
            <p:cNvSpPr>
              <a:spLocks/>
            </p:cNvSpPr>
            <p:nvPr/>
          </p:nvSpPr>
          <p:spPr bwMode="invGray">
            <a:xfrm>
              <a:off x="6348413" y="2711451"/>
              <a:ext cx="82550" cy="1587"/>
            </a:xfrm>
            <a:custGeom>
              <a:avLst/>
              <a:gdLst>
                <a:gd name="T0" fmla="*/ 9 w 43"/>
                <a:gd name="T1" fmla="*/ 1 h 1"/>
                <a:gd name="T2" fmla="*/ 9 w 43"/>
                <a:gd name="T3" fmla="*/ 1 h 1"/>
                <a:gd name="T4" fmla="*/ 41 w 43"/>
                <a:gd name="T5" fmla="*/ 1 h 1"/>
                <a:gd name="T6" fmla="*/ 9 w 43"/>
                <a:gd name="T7" fmla="*/ 1 h 1"/>
              </a:gdLst>
              <a:ahLst/>
              <a:cxnLst>
                <a:cxn ang="0">
                  <a:pos x="T0" y="T1"/>
                </a:cxn>
                <a:cxn ang="0">
                  <a:pos x="T2" y="T3"/>
                </a:cxn>
                <a:cxn ang="0">
                  <a:pos x="T4" y="T5"/>
                </a:cxn>
                <a:cxn ang="0">
                  <a:pos x="T6" y="T7"/>
                </a:cxn>
              </a:cxnLst>
              <a:rect l="0" t="0" r="r" b="b"/>
              <a:pathLst>
                <a:path w="43" h="1">
                  <a:moveTo>
                    <a:pt x="9" y="1"/>
                  </a:moveTo>
                  <a:lnTo>
                    <a:pt x="9" y="1"/>
                  </a:lnTo>
                  <a:cubicBezTo>
                    <a:pt x="18" y="1"/>
                    <a:pt x="33" y="1"/>
                    <a:pt x="41" y="1"/>
                  </a:cubicBezTo>
                  <a:cubicBezTo>
                    <a:pt x="43" y="0"/>
                    <a:pt x="0" y="1"/>
                    <a:pt x="9"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7" name="Freeform 86"/>
            <p:cNvSpPr>
              <a:spLocks/>
            </p:cNvSpPr>
            <p:nvPr/>
          </p:nvSpPr>
          <p:spPr bwMode="invGray">
            <a:xfrm>
              <a:off x="6734175" y="2771775"/>
              <a:ext cx="96838" cy="6350"/>
            </a:xfrm>
            <a:custGeom>
              <a:avLst/>
              <a:gdLst>
                <a:gd name="T0" fmla="*/ 0 w 50"/>
                <a:gd name="T1" fmla="*/ 2 h 3"/>
                <a:gd name="T2" fmla="*/ 0 w 50"/>
                <a:gd name="T3" fmla="*/ 2 h 3"/>
                <a:gd name="T4" fmla="*/ 50 w 50"/>
                <a:gd name="T5" fmla="*/ 3 h 3"/>
                <a:gd name="T6" fmla="*/ 0 w 50"/>
                <a:gd name="T7" fmla="*/ 2 h 3"/>
              </a:gdLst>
              <a:ahLst/>
              <a:cxnLst>
                <a:cxn ang="0">
                  <a:pos x="T0" y="T1"/>
                </a:cxn>
                <a:cxn ang="0">
                  <a:pos x="T2" y="T3"/>
                </a:cxn>
                <a:cxn ang="0">
                  <a:pos x="T4" y="T5"/>
                </a:cxn>
                <a:cxn ang="0">
                  <a:pos x="T6" y="T7"/>
                </a:cxn>
              </a:cxnLst>
              <a:rect l="0" t="0" r="r" b="b"/>
              <a:pathLst>
                <a:path w="50" h="3">
                  <a:moveTo>
                    <a:pt x="0" y="2"/>
                  </a:moveTo>
                  <a:lnTo>
                    <a:pt x="0" y="2"/>
                  </a:lnTo>
                  <a:cubicBezTo>
                    <a:pt x="6" y="3"/>
                    <a:pt x="37" y="2"/>
                    <a:pt x="50" y="3"/>
                  </a:cubicBezTo>
                  <a:cubicBezTo>
                    <a:pt x="32" y="2"/>
                    <a:pt x="17"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8" name="Freeform 87"/>
            <p:cNvSpPr>
              <a:spLocks/>
            </p:cNvSpPr>
            <p:nvPr/>
          </p:nvSpPr>
          <p:spPr bwMode="invGray">
            <a:xfrm>
              <a:off x="6091238" y="2722563"/>
              <a:ext cx="95250" cy="7937"/>
            </a:xfrm>
            <a:custGeom>
              <a:avLst/>
              <a:gdLst>
                <a:gd name="T0" fmla="*/ 0 w 49"/>
                <a:gd name="T1" fmla="*/ 1 h 4"/>
                <a:gd name="T2" fmla="*/ 0 w 49"/>
                <a:gd name="T3" fmla="*/ 1 h 4"/>
                <a:gd name="T4" fmla="*/ 18 w 49"/>
                <a:gd name="T5" fmla="*/ 4 h 4"/>
                <a:gd name="T6" fmla="*/ 0 w 49"/>
                <a:gd name="T7" fmla="*/ 1 h 4"/>
              </a:gdLst>
              <a:ahLst/>
              <a:cxnLst>
                <a:cxn ang="0">
                  <a:pos x="T0" y="T1"/>
                </a:cxn>
                <a:cxn ang="0">
                  <a:pos x="T2" y="T3"/>
                </a:cxn>
                <a:cxn ang="0">
                  <a:pos x="T4" y="T5"/>
                </a:cxn>
                <a:cxn ang="0">
                  <a:pos x="T6" y="T7"/>
                </a:cxn>
              </a:cxnLst>
              <a:rect l="0" t="0" r="r" b="b"/>
              <a:pathLst>
                <a:path w="49" h="4">
                  <a:moveTo>
                    <a:pt x="0" y="1"/>
                  </a:moveTo>
                  <a:lnTo>
                    <a:pt x="0" y="1"/>
                  </a:lnTo>
                  <a:cubicBezTo>
                    <a:pt x="10" y="2"/>
                    <a:pt x="24" y="2"/>
                    <a:pt x="18" y="4"/>
                  </a:cubicBezTo>
                  <a:cubicBezTo>
                    <a:pt x="31" y="3"/>
                    <a:pt x="4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9" name="Freeform 88"/>
            <p:cNvSpPr>
              <a:spLocks/>
            </p:cNvSpPr>
            <p:nvPr/>
          </p:nvSpPr>
          <p:spPr bwMode="invGray">
            <a:xfrm>
              <a:off x="6559550" y="2773363"/>
              <a:ext cx="80963" cy="3175"/>
            </a:xfrm>
            <a:custGeom>
              <a:avLst/>
              <a:gdLst>
                <a:gd name="T0" fmla="*/ 0 w 42"/>
                <a:gd name="T1" fmla="*/ 1 h 1"/>
                <a:gd name="T2" fmla="*/ 0 w 42"/>
                <a:gd name="T3" fmla="*/ 1 h 1"/>
                <a:gd name="T4" fmla="*/ 8 w 42"/>
                <a:gd name="T5" fmla="*/ 1 h 1"/>
                <a:gd name="T6" fmla="*/ 42 w 42"/>
                <a:gd name="T7" fmla="*/ 0 h 1"/>
                <a:gd name="T8" fmla="*/ 0 w 42"/>
                <a:gd name="T9" fmla="*/ 1 h 1"/>
              </a:gdLst>
              <a:ahLst/>
              <a:cxnLst>
                <a:cxn ang="0">
                  <a:pos x="T0" y="T1"/>
                </a:cxn>
                <a:cxn ang="0">
                  <a:pos x="T2" y="T3"/>
                </a:cxn>
                <a:cxn ang="0">
                  <a:pos x="T4" y="T5"/>
                </a:cxn>
                <a:cxn ang="0">
                  <a:pos x="T6" y="T7"/>
                </a:cxn>
                <a:cxn ang="0">
                  <a:pos x="T8" y="T9"/>
                </a:cxn>
              </a:cxnLst>
              <a:rect l="0" t="0" r="r" b="b"/>
              <a:pathLst>
                <a:path w="42" h="1">
                  <a:moveTo>
                    <a:pt x="0" y="1"/>
                  </a:moveTo>
                  <a:lnTo>
                    <a:pt x="0" y="1"/>
                  </a:lnTo>
                  <a:lnTo>
                    <a:pt x="8" y="1"/>
                  </a:lnTo>
                  <a:lnTo>
                    <a:pt x="42"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0" name="Freeform 89"/>
            <p:cNvSpPr>
              <a:spLocks/>
            </p:cNvSpPr>
            <p:nvPr/>
          </p:nvSpPr>
          <p:spPr bwMode="invGray">
            <a:xfrm>
              <a:off x="6640513" y="2806700"/>
              <a:ext cx="227013" cy="15875"/>
            </a:xfrm>
            <a:custGeom>
              <a:avLst/>
              <a:gdLst>
                <a:gd name="T0" fmla="*/ 80 w 118"/>
                <a:gd name="T1" fmla="*/ 7 h 7"/>
                <a:gd name="T2" fmla="*/ 80 w 118"/>
                <a:gd name="T3" fmla="*/ 7 h 7"/>
                <a:gd name="T4" fmla="*/ 85 w 118"/>
                <a:gd name="T5" fmla="*/ 1 h 7"/>
                <a:gd name="T6" fmla="*/ 29 w 118"/>
                <a:gd name="T7" fmla="*/ 4 h 7"/>
                <a:gd name="T8" fmla="*/ 80 w 118"/>
                <a:gd name="T9" fmla="*/ 7 h 7"/>
              </a:gdLst>
              <a:ahLst/>
              <a:cxnLst>
                <a:cxn ang="0">
                  <a:pos x="T0" y="T1"/>
                </a:cxn>
                <a:cxn ang="0">
                  <a:pos x="T2" y="T3"/>
                </a:cxn>
                <a:cxn ang="0">
                  <a:pos x="T4" y="T5"/>
                </a:cxn>
                <a:cxn ang="0">
                  <a:pos x="T6" y="T7"/>
                </a:cxn>
                <a:cxn ang="0">
                  <a:pos x="T8" y="T9"/>
                </a:cxn>
              </a:cxnLst>
              <a:rect l="0" t="0" r="r" b="b"/>
              <a:pathLst>
                <a:path w="118" h="7">
                  <a:moveTo>
                    <a:pt x="80" y="7"/>
                  </a:moveTo>
                  <a:lnTo>
                    <a:pt x="80" y="7"/>
                  </a:lnTo>
                  <a:cubicBezTo>
                    <a:pt x="118" y="5"/>
                    <a:pt x="19" y="3"/>
                    <a:pt x="85" y="1"/>
                  </a:cubicBezTo>
                  <a:cubicBezTo>
                    <a:pt x="0" y="0"/>
                    <a:pt x="92" y="4"/>
                    <a:pt x="29" y="4"/>
                  </a:cubicBezTo>
                  <a:cubicBezTo>
                    <a:pt x="66" y="4"/>
                    <a:pt x="84" y="6"/>
                    <a:pt x="80"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1" name="Freeform 90"/>
            <p:cNvSpPr>
              <a:spLocks/>
            </p:cNvSpPr>
            <p:nvPr/>
          </p:nvSpPr>
          <p:spPr bwMode="invGray">
            <a:xfrm>
              <a:off x="6661150" y="2814638"/>
              <a:ext cx="34925" cy="1587"/>
            </a:xfrm>
            <a:custGeom>
              <a:avLst/>
              <a:gdLst>
                <a:gd name="T0" fmla="*/ 18 w 18"/>
                <a:gd name="T1" fmla="*/ 1 h 1"/>
                <a:gd name="T2" fmla="*/ 18 w 18"/>
                <a:gd name="T3" fmla="*/ 1 h 1"/>
                <a:gd name="T4" fmla="*/ 0 w 18"/>
                <a:gd name="T5" fmla="*/ 0 h 1"/>
                <a:gd name="T6" fmla="*/ 18 w 18"/>
                <a:gd name="T7" fmla="*/ 1 h 1"/>
              </a:gdLst>
              <a:ahLst/>
              <a:cxnLst>
                <a:cxn ang="0">
                  <a:pos x="T0" y="T1"/>
                </a:cxn>
                <a:cxn ang="0">
                  <a:pos x="T2" y="T3"/>
                </a:cxn>
                <a:cxn ang="0">
                  <a:pos x="T4" y="T5"/>
                </a:cxn>
                <a:cxn ang="0">
                  <a:pos x="T6" y="T7"/>
                </a:cxn>
              </a:cxnLst>
              <a:rect l="0" t="0" r="r" b="b"/>
              <a:pathLst>
                <a:path w="18" h="1">
                  <a:moveTo>
                    <a:pt x="18" y="1"/>
                  </a:moveTo>
                  <a:lnTo>
                    <a:pt x="18" y="1"/>
                  </a:lnTo>
                  <a:lnTo>
                    <a:pt x="0" y="0"/>
                  </a:lnTo>
                  <a:lnTo>
                    <a:pt x="18"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2" name="Freeform 91"/>
            <p:cNvSpPr>
              <a:spLocks/>
            </p:cNvSpPr>
            <p:nvPr/>
          </p:nvSpPr>
          <p:spPr bwMode="invGray">
            <a:xfrm>
              <a:off x="5661025" y="2789238"/>
              <a:ext cx="23813" cy="1587"/>
            </a:xfrm>
            <a:custGeom>
              <a:avLst/>
              <a:gdLst>
                <a:gd name="T0" fmla="*/ 0 w 13"/>
                <a:gd name="T1" fmla="*/ 1 h 1"/>
                <a:gd name="T2" fmla="*/ 0 w 13"/>
                <a:gd name="T3" fmla="*/ 1 h 1"/>
                <a:gd name="T4" fmla="*/ 13 w 13"/>
                <a:gd name="T5" fmla="*/ 0 h 1"/>
                <a:gd name="T6" fmla="*/ 0 w 13"/>
                <a:gd name="T7" fmla="*/ 1 h 1"/>
              </a:gdLst>
              <a:ahLst/>
              <a:cxnLst>
                <a:cxn ang="0">
                  <a:pos x="T0" y="T1"/>
                </a:cxn>
                <a:cxn ang="0">
                  <a:pos x="T2" y="T3"/>
                </a:cxn>
                <a:cxn ang="0">
                  <a:pos x="T4" y="T5"/>
                </a:cxn>
                <a:cxn ang="0">
                  <a:pos x="T6" y="T7"/>
                </a:cxn>
              </a:cxnLst>
              <a:rect l="0" t="0" r="r" b="b"/>
              <a:pathLst>
                <a:path w="13" h="1">
                  <a:moveTo>
                    <a:pt x="0" y="1"/>
                  </a:moveTo>
                  <a:lnTo>
                    <a:pt x="0" y="1"/>
                  </a:lnTo>
                  <a:lnTo>
                    <a:pt x="13"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3" name="Freeform 92"/>
            <p:cNvSpPr>
              <a:spLocks/>
            </p:cNvSpPr>
            <p:nvPr/>
          </p:nvSpPr>
          <p:spPr bwMode="invGray">
            <a:xfrm>
              <a:off x="6162675" y="2814638"/>
              <a:ext cx="258763" cy="7937"/>
            </a:xfrm>
            <a:custGeom>
              <a:avLst/>
              <a:gdLst>
                <a:gd name="T0" fmla="*/ 77 w 135"/>
                <a:gd name="T1" fmla="*/ 2 h 4"/>
                <a:gd name="T2" fmla="*/ 77 w 135"/>
                <a:gd name="T3" fmla="*/ 2 h 4"/>
                <a:gd name="T4" fmla="*/ 135 w 135"/>
                <a:gd name="T5" fmla="*/ 0 h 4"/>
                <a:gd name="T6" fmla="*/ 6 w 135"/>
                <a:gd name="T7" fmla="*/ 4 h 4"/>
                <a:gd name="T8" fmla="*/ 90 w 135"/>
                <a:gd name="T9" fmla="*/ 3 h 4"/>
                <a:gd name="T10" fmla="*/ 77 w 135"/>
                <a:gd name="T11" fmla="*/ 2 h 4"/>
              </a:gdLst>
              <a:ahLst/>
              <a:cxnLst>
                <a:cxn ang="0">
                  <a:pos x="T0" y="T1"/>
                </a:cxn>
                <a:cxn ang="0">
                  <a:pos x="T2" y="T3"/>
                </a:cxn>
                <a:cxn ang="0">
                  <a:pos x="T4" y="T5"/>
                </a:cxn>
                <a:cxn ang="0">
                  <a:pos x="T6" y="T7"/>
                </a:cxn>
                <a:cxn ang="0">
                  <a:pos x="T8" y="T9"/>
                </a:cxn>
                <a:cxn ang="0">
                  <a:pos x="T10" y="T11"/>
                </a:cxn>
              </a:cxnLst>
              <a:rect l="0" t="0" r="r" b="b"/>
              <a:pathLst>
                <a:path w="135" h="4">
                  <a:moveTo>
                    <a:pt x="77" y="2"/>
                  </a:moveTo>
                  <a:lnTo>
                    <a:pt x="77" y="2"/>
                  </a:lnTo>
                  <a:lnTo>
                    <a:pt x="135" y="0"/>
                  </a:lnTo>
                  <a:cubicBezTo>
                    <a:pt x="96" y="1"/>
                    <a:pt x="0" y="1"/>
                    <a:pt x="6" y="4"/>
                  </a:cubicBezTo>
                  <a:cubicBezTo>
                    <a:pt x="37" y="4"/>
                    <a:pt x="75" y="4"/>
                    <a:pt x="90" y="3"/>
                  </a:cubicBezTo>
                  <a:lnTo>
                    <a:pt x="77"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4" name="Freeform 93"/>
            <p:cNvSpPr>
              <a:spLocks/>
            </p:cNvSpPr>
            <p:nvPr/>
          </p:nvSpPr>
          <p:spPr bwMode="invGray">
            <a:xfrm>
              <a:off x="5019675" y="2713038"/>
              <a:ext cx="73025" cy="4762"/>
            </a:xfrm>
            <a:custGeom>
              <a:avLst/>
              <a:gdLst>
                <a:gd name="T0" fmla="*/ 13 w 38"/>
                <a:gd name="T1" fmla="*/ 1 h 2"/>
                <a:gd name="T2" fmla="*/ 13 w 38"/>
                <a:gd name="T3" fmla="*/ 1 h 2"/>
                <a:gd name="T4" fmla="*/ 38 w 38"/>
                <a:gd name="T5" fmla="*/ 0 h 2"/>
                <a:gd name="T6" fmla="*/ 7 w 38"/>
                <a:gd name="T7" fmla="*/ 0 h 2"/>
                <a:gd name="T8" fmla="*/ 13 w 38"/>
                <a:gd name="T9" fmla="*/ 1 h 2"/>
              </a:gdLst>
              <a:ahLst/>
              <a:cxnLst>
                <a:cxn ang="0">
                  <a:pos x="T0" y="T1"/>
                </a:cxn>
                <a:cxn ang="0">
                  <a:pos x="T2" y="T3"/>
                </a:cxn>
                <a:cxn ang="0">
                  <a:pos x="T4" y="T5"/>
                </a:cxn>
                <a:cxn ang="0">
                  <a:pos x="T6" y="T7"/>
                </a:cxn>
                <a:cxn ang="0">
                  <a:pos x="T8" y="T9"/>
                </a:cxn>
              </a:cxnLst>
              <a:rect l="0" t="0" r="r" b="b"/>
              <a:pathLst>
                <a:path w="38" h="2">
                  <a:moveTo>
                    <a:pt x="13" y="1"/>
                  </a:moveTo>
                  <a:lnTo>
                    <a:pt x="13" y="1"/>
                  </a:lnTo>
                  <a:lnTo>
                    <a:pt x="38" y="0"/>
                  </a:lnTo>
                  <a:lnTo>
                    <a:pt x="7" y="0"/>
                  </a:lnTo>
                  <a:cubicBezTo>
                    <a:pt x="16" y="0"/>
                    <a:pt x="0" y="2"/>
                    <a:pt x="1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5" name="Freeform 94"/>
            <p:cNvSpPr>
              <a:spLocks/>
            </p:cNvSpPr>
            <p:nvPr/>
          </p:nvSpPr>
          <p:spPr bwMode="invGray">
            <a:xfrm>
              <a:off x="5021263" y="2713038"/>
              <a:ext cx="11113" cy="0"/>
            </a:xfrm>
            <a:custGeom>
              <a:avLst/>
              <a:gdLst>
                <a:gd name="T0" fmla="*/ 0 w 6"/>
                <a:gd name="T1" fmla="*/ 0 w 6"/>
                <a:gd name="T2" fmla="*/ 6 w 6"/>
                <a:gd name="T3" fmla="*/ 0 w 6"/>
              </a:gdLst>
              <a:ahLst/>
              <a:cxnLst>
                <a:cxn ang="0">
                  <a:pos x="T0" y="0"/>
                </a:cxn>
                <a:cxn ang="0">
                  <a:pos x="T1" y="0"/>
                </a:cxn>
                <a:cxn ang="0">
                  <a:pos x="T2" y="0"/>
                </a:cxn>
                <a:cxn ang="0">
                  <a:pos x="T3" y="0"/>
                </a:cxn>
              </a:cxnLst>
              <a:rect l="0" t="0" r="r" b="b"/>
              <a:pathLst>
                <a:path w="6">
                  <a:moveTo>
                    <a:pt x="0" y="0"/>
                  </a:moveTo>
                  <a:lnTo>
                    <a:pt x="0" y="0"/>
                  </a:ln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6" name="Freeform 95"/>
            <p:cNvSpPr>
              <a:spLocks/>
            </p:cNvSpPr>
            <p:nvPr/>
          </p:nvSpPr>
          <p:spPr bwMode="invGray">
            <a:xfrm>
              <a:off x="5864225" y="2784475"/>
              <a:ext cx="101600" cy="4762"/>
            </a:xfrm>
            <a:custGeom>
              <a:avLst/>
              <a:gdLst>
                <a:gd name="T0" fmla="*/ 3 w 53"/>
                <a:gd name="T1" fmla="*/ 2 h 2"/>
                <a:gd name="T2" fmla="*/ 3 w 53"/>
                <a:gd name="T3" fmla="*/ 2 h 2"/>
                <a:gd name="T4" fmla="*/ 53 w 53"/>
                <a:gd name="T5" fmla="*/ 1 h 2"/>
                <a:gd name="T6" fmla="*/ 3 w 53"/>
                <a:gd name="T7" fmla="*/ 2 h 2"/>
              </a:gdLst>
              <a:ahLst/>
              <a:cxnLst>
                <a:cxn ang="0">
                  <a:pos x="T0" y="T1"/>
                </a:cxn>
                <a:cxn ang="0">
                  <a:pos x="T2" y="T3"/>
                </a:cxn>
                <a:cxn ang="0">
                  <a:pos x="T4" y="T5"/>
                </a:cxn>
                <a:cxn ang="0">
                  <a:pos x="T6" y="T7"/>
                </a:cxn>
              </a:cxnLst>
              <a:rect l="0" t="0" r="r" b="b"/>
              <a:pathLst>
                <a:path w="53" h="2">
                  <a:moveTo>
                    <a:pt x="3" y="2"/>
                  </a:moveTo>
                  <a:lnTo>
                    <a:pt x="3" y="2"/>
                  </a:lnTo>
                  <a:cubicBezTo>
                    <a:pt x="21" y="2"/>
                    <a:pt x="36" y="2"/>
                    <a:pt x="53" y="1"/>
                  </a:cubicBezTo>
                  <a:cubicBezTo>
                    <a:pt x="46" y="1"/>
                    <a:pt x="0" y="0"/>
                    <a:pt x="3"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7" name="Freeform 96"/>
            <p:cNvSpPr>
              <a:spLocks/>
            </p:cNvSpPr>
            <p:nvPr/>
          </p:nvSpPr>
          <p:spPr bwMode="invGray">
            <a:xfrm>
              <a:off x="4703763" y="2722563"/>
              <a:ext cx="84138" cy="1587"/>
            </a:xfrm>
            <a:custGeom>
              <a:avLst/>
              <a:gdLst>
                <a:gd name="T0" fmla="*/ 3 w 44"/>
                <a:gd name="T1" fmla="*/ 1 h 1"/>
                <a:gd name="T2" fmla="*/ 3 w 44"/>
                <a:gd name="T3" fmla="*/ 1 h 1"/>
                <a:gd name="T4" fmla="*/ 44 w 44"/>
                <a:gd name="T5" fmla="*/ 0 h 1"/>
                <a:gd name="T6" fmla="*/ 0 w 44"/>
                <a:gd name="T7" fmla="*/ 0 h 1"/>
                <a:gd name="T8" fmla="*/ 3 w 44"/>
                <a:gd name="T9" fmla="*/ 1 h 1"/>
              </a:gdLst>
              <a:ahLst/>
              <a:cxnLst>
                <a:cxn ang="0">
                  <a:pos x="T0" y="T1"/>
                </a:cxn>
                <a:cxn ang="0">
                  <a:pos x="T2" y="T3"/>
                </a:cxn>
                <a:cxn ang="0">
                  <a:pos x="T4" y="T5"/>
                </a:cxn>
                <a:cxn ang="0">
                  <a:pos x="T6" y="T7"/>
                </a:cxn>
                <a:cxn ang="0">
                  <a:pos x="T8" y="T9"/>
                </a:cxn>
              </a:cxnLst>
              <a:rect l="0" t="0" r="r" b="b"/>
              <a:pathLst>
                <a:path w="44" h="1">
                  <a:moveTo>
                    <a:pt x="3" y="1"/>
                  </a:moveTo>
                  <a:lnTo>
                    <a:pt x="3" y="1"/>
                  </a:lnTo>
                  <a:lnTo>
                    <a:pt x="44" y="0"/>
                  </a:lnTo>
                  <a:lnTo>
                    <a:pt x="0" y="0"/>
                  </a:lnTo>
                  <a:lnTo>
                    <a:pt x="3"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8" name="Freeform 97"/>
            <p:cNvSpPr>
              <a:spLocks/>
            </p:cNvSpPr>
            <p:nvPr/>
          </p:nvSpPr>
          <p:spPr bwMode="invGray">
            <a:xfrm>
              <a:off x="4264025" y="2713038"/>
              <a:ext cx="77788" cy="4762"/>
            </a:xfrm>
            <a:custGeom>
              <a:avLst/>
              <a:gdLst>
                <a:gd name="T0" fmla="*/ 41 w 41"/>
                <a:gd name="T1" fmla="*/ 1 h 2"/>
                <a:gd name="T2" fmla="*/ 41 w 41"/>
                <a:gd name="T3" fmla="*/ 1 h 2"/>
                <a:gd name="T4" fmla="*/ 34 w 41"/>
                <a:gd name="T5" fmla="*/ 0 h 2"/>
                <a:gd name="T6" fmla="*/ 0 w 41"/>
                <a:gd name="T7" fmla="*/ 1 h 2"/>
                <a:gd name="T8" fmla="*/ 7 w 41"/>
                <a:gd name="T9" fmla="*/ 2 h 2"/>
                <a:gd name="T10" fmla="*/ 41 w 41"/>
                <a:gd name="T11" fmla="*/ 1 h 2"/>
              </a:gdLst>
              <a:ahLst/>
              <a:cxnLst>
                <a:cxn ang="0">
                  <a:pos x="T0" y="T1"/>
                </a:cxn>
                <a:cxn ang="0">
                  <a:pos x="T2" y="T3"/>
                </a:cxn>
                <a:cxn ang="0">
                  <a:pos x="T4" y="T5"/>
                </a:cxn>
                <a:cxn ang="0">
                  <a:pos x="T6" y="T7"/>
                </a:cxn>
                <a:cxn ang="0">
                  <a:pos x="T8" y="T9"/>
                </a:cxn>
                <a:cxn ang="0">
                  <a:pos x="T10" y="T11"/>
                </a:cxn>
              </a:cxnLst>
              <a:rect l="0" t="0" r="r" b="b"/>
              <a:pathLst>
                <a:path w="41" h="2">
                  <a:moveTo>
                    <a:pt x="41" y="1"/>
                  </a:moveTo>
                  <a:lnTo>
                    <a:pt x="41" y="1"/>
                  </a:lnTo>
                  <a:lnTo>
                    <a:pt x="34" y="0"/>
                  </a:lnTo>
                  <a:lnTo>
                    <a:pt x="0" y="1"/>
                  </a:lnTo>
                  <a:lnTo>
                    <a:pt x="7" y="2"/>
                  </a:lnTo>
                  <a:lnTo>
                    <a:pt x="4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9" name="Freeform 98"/>
            <p:cNvSpPr>
              <a:spLocks/>
            </p:cNvSpPr>
            <p:nvPr/>
          </p:nvSpPr>
          <p:spPr bwMode="invGray">
            <a:xfrm>
              <a:off x="4800600" y="2822575"/>
              <a:ext cx="117475" cy="7937"/>
            </a:xfrm>
            <a:custGeom>
              <a:avLst/>
              <a:gdLst>
                <a:gd name="T0" fmla="*/ 11 w 61"/>
                <a:gd name="T1" fmla="*/ 2 h 3"/>
                <a:gd name="T2" fmla="*/ 11 w 61"/>
                <a:gd name="T3" fmla="*/ 2 h 3"/>
                <a:gd name="T4" fmla="*/ 54 w 61"/>
                <a:gd name="T5" fmla="*/ 0 h 3"/>
                <a:gd name="T6" fmla="*/ 0 w 61"/>
                <a:gd name="T7" fmla="*/ 0 h 3"/>
                <a:gd name="T8" fmla="*/ 46 w 61"/>
                <a:gd name="T9" fmla="*/ 0 h 3"/>
                <a:gd name="T10" fmla="*/ 11 w 61"/>
                <a:gd name="T11" fmla="*/ 2 h 3"/>
              </a:gdLst>
              <a:ahLst/>
              <a:cxnLst>
                <a:cxn ang="0">
                  <a:pos x="T0" y="T1"/>
                </a:cxn>
                <a:cxn ang="0">
                  <a:pos x="T2" y="T3"/>
                </a:cxn>
                <a:cxn ang="0">
                  <a:pos x="T4" y="T5"/>
                </a:cxn>
                <a:cxn ang="0">
                  <a:pos x="T6" y="T7"/>
                </a:cxn>
                <a:cxn ang="0">
                  <a:pos x="T8" y="T9"/>
                </a:cxn>
                <a:cxn ang="0">
                  <a:pos x="T10" y="T11"/>
                </a:cxn>
              </a:cxnLst>
              <a:rect l="0" t="0" r="r" b="b"/>
              <a:pathLst>
                <a:path w="61" h="3">
                  <a:moveTo>
                    <a:pt x="11" y="2"/>
                  </a:moveTo>
                  <a:lnTo>
                    <a:pt x="11" y="2"/>
                  </a:lnTo>
                  <a:cubicBezTo>
                    <a:pt x="39" y="3"/>
                    <a:pt x="61" y="0"/>
                    <a:pt x="54" y="0"/>
                  </a:cubicBezTo>
                  <a:lnTo>
                    <a:pt x="0" y="0"/>
                  </a:lnTo>
                  <a:cubicBezTo>
                    <a:pt x="13" y="2"/>
                    <a:pt x="15" y="0"/>
                    <a:pt x="46" y="0"/>
                  </a:cubicBezTo>
                  <a:lnTo>
                    <a:pt x="11"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0" name="Freeform 99"/>
            <p:cNvSpPr>
              <a:spLocks/>
            </p:cNvSpPr>
            <p:nvPr/>
          </p:nvSpPr>
          <p:spPr bwMode="invGray">
            <a:xfrm>
              <a:off x="187325" y="2714625"/>
              <a:ext cx="1925638" cy="31750"/>
            </a:xfrm>
            <a:custGeom>
              <a:avLst/>
              <a:gdLst>
                <a:gd name="T0" fmla="*/ 746 w 1004"/>
                <a:gd name="T1" fmla="*/ 6 h 14"/>
                <a:gd name="T2" fmla="*/ 746 w 1004"/>
                <a:gd name="T3" fmla="*/ 6 h 14"/>
                <a:gd name="T4" fmla="*/ 820 w 1004"/>
                <a:gd name="T5" fmla="*/ 7 h 14"/>
                <a:gd name="T6" fmla="*/ 800 w 1004"/>
                <a:gd name="T7" fmla="*/ 8 h 14"/>
                <a:gd name="T8" fmla="*/ 847 w 1004"/>
                <a:gd name="T9" fmla="*/ 5 h 14"/>
                <a:gd name="T10" fmla="*/ 769 w 1004"/>
                <a:gd name="T11" fmla="*/ 11 h 14"/>
                <a:gd name="T12" fmla="*/ 918 w 1004"/>
                <a:gd name="T13" fmla="*/ 9 h 14"/>
                <a:gd name="T14" fmla="*/ 876 w 1004"/>
                <a:gd name="T15" fmla="*/ 7 h 14"/>
                <a:gd name="T16" fmla="*/ 981 w 1004"/>
                <a:gd name="T17" fmla="*/ 5 h 14"/>
                <a:gd name="T18" fmla="*/ 989 w 1004"/>
                <a:gd name="T19" fmla="*/ 2 h 14"/>
                <a:gd name="T20" fmla="*/ 997 w 1004"/>
                <a:gd name="T21" fmla="*/ 2 h 14"/>
                <a:gd name="T22" fmla="*/ 1004 w 1004"/>
                <a:gd name="T23" fmla="*/ 2 h 14"/>
                <a:gd name="T24" fmla="*/ 999 w 1004"/>
                <a:gd name="T25" fmla="*/ 2 h 14"/>
                <a:gd name="T26" fmla="*/ 994 w 1004"/>
                <a:gd name="T27" fmla="*/ 1 h 14"/>
                <a:gd name="T28" fmla="*/ 904 w 1004"/>
                <a:gd name="T29" fmla="*/ 0 h 14"/>
                <a:gd name="T30" fmla="*/ 791 w 1004"/>
                <a:gd name="T31" fmla="*/ 2 h 14"/>
                <a:gd name="T32" fmla="*/ 756 w 1004"/>
                <a:gd name="T33" fmla="*/ 2 h 14"/>
                <a:gd name="T34" fmla="*/ 743 w 1004"/>
                <a:gd name="T35" fmla="*/ 2 h 14"/>
                <a:gd name="T36" fmla="*/ 764 w 1004"/>
                <a:gd name="T37" fmla="*/ 1 h 14"/>
                <a:gd name="T38" fmla="*/ 697 w 1004"/>
                <a:gd name="T39" fmla="*/ 2 h 14"/>
                <a:gd name="T40" fmla="*/ 570 w 1004"/>
                <a:gd name="T41" fmla="*/ 3 h 14"/>
                <a:gd name="T42" fmla="*/ 559 w 1004"/>
                <a:gd name="T43" fmla="*/ 2 h 14"/>
                <a:gd name="T44" fmla="*/ 554 w 1004"/>
                <a:gd name="T45" fmla="*/ 3 h 14"/>
                <a:gd name="T46" fmla="*/ 0 w 1004"/>
                <a:gd name="T47" fmla="*/ 4 h 14"/>
                <a:gd name="T48" fmla="*/ 79 w 1004"/>
                <a:gd name="T49" fmla="*/ 5 h 14"/>
                <a:gd name="T50" fmla="*/ 113 w 1004"/>
                <a:gd name="T51" fmla="*/ 8 h 14"/>
                <a:gd name="T52" fmla="*/ 49 w 1004"/>
                <a:gd name="T53" fmla="*/ 8 h 14"/>
                <a:gd name="T54" fmla="*/ 64 w 1004"/>
                <a:gd name="T55" fmla="*/ 12 h 14"/>
                <a:gd name="T56" fmla="*/ 213 w 1004"/>
                <a:gd name="T57" fmla="*/ 8 h 14"/>
                <a:gd name="T58" fmla="*/ 234 w 1004"/>
                <a:gd name="T59" fmla="*/ 11 h 14"/>
                <a:gd name="T60" fmla="*/ 223 w 1004"/>
                <a:gd name="T61" fmla="*/ 11 h 14"/>
                <a:gd name="T62" fmla="*/ 324 w 1004"/>
                <a:gd name="T63" fmla="*/ 10 h 14"/>
                <a:gd name="T64" fmla="*/ 322 w 1004"/>
                <a:gd name="T65" fmla="*/ 12 h 14"/>
                <a:gd name="T66" fmla="*/ 454 w 1004"/>
                <a:gd name="T67" fmla="*/ 10 h 14"/>
                <a:gd name="T68" fmla="*/ 452 w 1004"/>
                <a:gd name="T69" fmla="*/ 11 h 14"/>
                <a:gd name="T70" fmla="*/ 620 w 1004"/>
                <a:gd name="T71" fmla="*/ 9 h 14"/>
                <a:gd name="T72" fmla="*/ 568 w 1004"/>
                <a:gd name="T73" fmla="*/ 11 h 14"/>
                <a:gd name="T74" fmla="*/ 643 w 1004"/>
                <a:gd name="T75" fmla="*/ 10 h 14"/>
                <a:gd name="T76" fmla="*/ 622 w 1004"/>
                <a:gd name="T77" fmla="*/ 12 h 14"/>
                <a:gd name="T78" fmla="*/ 758 w 1004"/>
                <a:gd name="T79" fmla="*/ 8 h 14"/>
                <a:gd name="T80" fmla="*/ 746 w 1004"/>
                <a:gd name="T81" fmla="*/ 6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04" h="14">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1" name="Freeform 100"/>
            <p:cNvSpPr>
              <a:spLocks/>
            </p:cNvSpPr>
            <p:nvPr/>
          </p:nvSpPr>
          <p:spPr bwMode="invGray">
            <a:xfrm>
              <a:off x="1947862" y="2735263"/>
              <a:ext cx="47625" cy="0"/>
            </a:xfrm>
            <a:custGeom>
              <a:avLst/>
              <a:gdLst>
                <a:gd name="T0" fmla="*/ 0 w 25"/>
                <a:gd name="T1" fmla="*/ 0 w 25"/>
                <a:gd name="T2" fmla="*/ 25 w 25"/>
                <a:gd name="T3" fmla="*/ 0 w 25"/>
              </a:gdLst>
              <a:ahLst/>
              <a:cxnLst>
                <a:cxn ang="0">
                  <a:pos x="T0" y="0"/>
                </a:cxn>
                <a:cxn ang="0">
                  <a:pos x="T1" y="0"/>
                </a:cxn>
                <a:cxn ang="0">
                  <a:pos x="T2" y="0"/>
                </a:cxn>
                <a:cxn ang="0">
                  <a:pos x="T3" y="0"/>
                </a:cxn>
              </a:cxnLst>
              <a:rect l="0" t="0" r="r" b="b"/>
              <a:pathLst>
                <a:path w="25">
                  <a:moveTo>
                    <a:pt x="0" y="0"/>
                  </a:moveTo>
                  <a:lnTo>
                    <a:pt x="0" y="0"/>
                  </a:lnTo>
                  <a:lnTo>
                    <a:pt x="2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2" name="Freeform 101"/>
            <p:cNvSpPr>
              <a:spLocks/>
            </p:cNvSpPr>
            <p:nvPr/>
          </p:nvSpPr>
          <p:spPr bwMode="invGray">
            <a:xfrm>
              <a:off x="112712" y="2724150"/>
              <a:ext cx="74613" cy="0"/>
            </a:xfrm>
            <a:custGeom>
              <a:avLst/>
              <a:gdLst>
                <a:gd name="T0" fmla="*/ 0 w 39"/>
                <a:gd name="T1" fmla="*/ 0 w 39"/>
                <a:gd name="T2" fmla="*/ 39 w 39"/>
                <a:gd name="T3" fmla="*/ 0 w 39"/>
              </a:gdLst>
              <a:ahLst/>
              <a:cxnLst>
                <a:cxn ang="0">
                  <a:pos x="T0" y="0"/>
                </a:cxn>
                <a:cxn ang="0">
                  <a:pos x="T1" y="0"/>
                </a:cxn>
                <a:cxn ang="0">
                  <a:pos x="T2" y="0"/>
                </a:cxn>
                <a:cxn ang="0">
                  <a:pos x="T3" y="0"/>
                </a:cxn>
              </a:cxnLst>
              <a:rect l="0" t="0" r="r" b="b"/>
              <a:pathLst>
                <a:path w="39">
                  <a:moveTo>
                    <a:pt x="0" y="0"/>
                  </a:moveTo>
                  <a:lnTo>
                    <a:pt x="0" y="0"/>
                  </a:lnTo>
                  <a:lnTo>
                    <a:pt x="39" y="0"/>
                  </a:lnTo>
                  <a:cubicBezTo>
                    <a:pt x="27" y="0"/>
                    <a:pt x="14"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3" name="Freeform 102"/>
            <p:cNvSpPr>
              <a:spLocks/>
            </p:cNvSpPr>
            <p:nvPr/>
          </p:nvSpPr>
          <p:spPr bwMode="invGray">
            <a:xfrm>
              <a:off x="2187575" y="2717800"/>
              <a:ext cx="176213" cy="6350"/>
            </a:xfrm>
            <a:custGeom>
              <a:avLst/>
              <a:gdLst>
                <a:gd name="T0" fmla="*/ 71 w 92"/>
                <a:gd name="T1" fmla="*/ 3 h 3"/>
                <a:gd name="T2" fmla="*/ 71 w 92"/>
                <a:gd name="T3" fmla="*/ 3 h 3"/>
                <a:gd name="T4" fmla="*/ 92 w 92"/>
                <a:gd name="T5" fmla="*/ 0 h 3"/>
                <a:gd name="T6" fmla="*/ 8 w 92"/>
                <a:gd name="T7" fmla="*/ 1 h 3"/>
                <a:gd name="T8" fmla="*/ 2 w 92"/>
                <a:gd name="T9" fmla="*/ 3 h 3"/>
                <a:gd name="T10" fmla="*/ 71 w 92"/>
                <a:gd name="T11" fmla="*/ 3 h 3"/>
              </a:gdLst>
              <a:ahLst/>
              <a:cxnLst>
                <a:cxn ang="0">
                  <a:pos x="T0" y="T1"/>
                </a:cxn>
                <a:cxn ang="0">
                  <a:pos x="T2" y="T3"/>
                </a:cxn>
                <a:cxn ang="0">
                  <a:pos x="T4" y="T5"/>
                </a:cxn>
                <a:cxn ang="0">
                  <a:pos x="T6" y="T7"/>
                </a:cxn>
                <a:cxn ang="0">
                  <a:pos x="T8" y="T9"/>
                </a:cxn>
                <a:cxn ang="0">
                  <a:pos x="T10" y="T11"/>
                </a:cxn>
              </a:cxnLst>
              <a:rect l="0" t="0" r="r" b="b"/>
              <a:pathLst>
                <a:path w="92" h="3">
                  <a:moveTo>
                    <a:pt x="71" y="3"/>
                  </a:moveTo>
                  <a:lnTo>
                    <a:pt x="71" y="3"/>
                  </a:lnTo>
                  <a:cubicBezTo>
                    <a:pt x="47" y="2"/>
                    <a:pt x="88" y="1"/>
                    <a:pt x="92" y="0"/>
                  </a:cubicBezTo>
                  <a:lnTo>
                    <a:pt x="8" y="1"/>
                  </a:lnTo>
                  <a:cubicBezTo>
                    <a:pt x="8" y="1"/>
                    <a:pt x="0" y="2"/>
                    <a:pt x="2" y="3"/>
                  </a:cubicBezTo>
                  <a:lnTo>
                    <a:pt x="71"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4" name="Freeform 103"/>
            <p:cNvSpPr>
              <a:spLocks/>
            </p:cNvSpPr>
            <p:nvPr/>
          </p:nvSpPr>
          <p:spPr bwMode="invGray">
            <a:xfrm>
              <a:off x="2112962" y="2714625"/>
              <a:ext cx="90488" cy="4762"/>
            </a:xfrm>
            <a:custGeom>
              <a:avLst/>
              <a:gdLst>
                <a:gd name="T0" fmla="*/ 22 w 47"/>
                <a:gd name="T1" fmla="*/ 0 h 2"/>
                <a:gd name="T2" fmla="*/ 22 w 47"/>
                <a:gd name="T3" fmla="*/ 0 h 2"/>
                <a:gd name="T4" fmla="*/ 0 w 47"/>
                <a:gd name="T5" fmla="*/ 2 h 2"/>
                <a:gd name="T6" fmla="*/ 47 w 47"/>
                <a:gd name="T7" fmla="*/ 2 h 2"/>
                <a:gd name="T8" fmla="*/ 22 w 47"/>
                <a:gd name="T9" fmla="*/ 0 h 2"/>
              </a:gdLst>
              <a:ahLst/>
              <a:cxnLst>
                <a:cxn ang="0">
                  <a:pos x="T0" y="T1"/>
                </a:cxn>
                <a:cxn ang="0">
                  <a:pos x="T2" y="T3"/>
                </a:cxn>
                <a:cxn ang="0">
                  <a:pos x="T4" y="T5"/>
                </a:cxn>
                <a:cxn ang="0">
                  <a:pos x="T6" y="T7"/>
                </a:cxn>
                <a:cxn ang="0">
                  <a:pos x="T8" y="T9"/>
                </a:cxn>
              </a:cxnLst>
              <a:rect l="0" t="0" r="r" b="b"/>
              <a:pathLst>
                <a:path w="47" h="2">
                  <a:moveTo>
                    <a:pt x="22" y="0"/>
                  </a:moveTo>
                  <a:lnTo>
                    <a:pt x="22" y="0"/>
                  </a:lnTo>
                  <a:cubicBezTo>
                    <a:pt x="19" y="1"/>
                    <a:pt x="11" y="1"/>
                    <a:pt x="0" y="2"/>
                  </a:cubicBezTo>
                  <a:lnTo>
                    <a:pt x="47" y="2"/>
                  </a:lnTo>
                  <a:cubicBezTo>
                    <a:pt x="47" y="1"/>
                    <a:pt x="41" y="0"/>
                    <a:pt x="2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5" name="Freeform 104"/>
            <p:cNvSpPr>
              <a:spLocks/>
            </p:cNvSpPr>
            <p:nvPr/>
          </p:nvSpPr>
          <p:spPr bwMode="invGray">
            <a:xfrm>
              <a:off x="2101850" y="2811463"/>
              <a:ext cx="71438" cy="3175"/>
            </a:xfrm>
            <a:custGeom>
              <a:avLst/>
              <a:gdLst>
                <a:gd name="T0" fmla="*/ 37 w 37"/>
                <a:gd name="T1" fmla="*/ 0 h 1"/>
                <a:gd name="T2" fmla="*/ 37 w 37"/>
                <a:gd name="T3" fmla="*/ 0 h 1"/>
                <a:gd name="T4" fmla="*/ 22 w 37"/>
                <a:gd name="T5" fmla="*/ 1 h 1"/>
                <a:gd name="T6" fmla="*/ 0 w 37"/>
                <a:gd name="T7" fmla="*/ 1 h 1"/>
                <a:gd name="T8" fmla="*/ 37 w 37"/>
                <a:gd name="T9" fmla="*/ 0 h 1"/>
              </a:gdLst>
              <a:ahLst/>
              <a:cxnLst>
                <a:cxn ang="0">
                  <a:pos x="T0" y="T1"/>
                </a:cxn>
                <a:cxn ang="0">
                  <a:pos x="T2" y="T3"/>
                </a:cxn>
                <a:cxn ang="0">
                  <a:pos x="T4" y="T5"/>
                </a:cxn>
                <a:cxn ang="0">
                  <a:pos x="T6" y="T7"/>
                </a:cxn>
                <a:cxn ang="0">
                  <a:pos x="T8" y="T9"/>
                </a:cxn>
              </a:cxnLst>
              <a:rect l="0" t="0" r="r" b="b"/>
              <a:pathLst>
                <a:path w="37" h="1">
                  <a:moveTo>
                    <a:pt x="37" y="0"/>
                  </a:moveTo>
                  <a:lnTo>
                    <a:pt x="37" y="0"/>
                  </a:lnTo>
                  <a:lnTo>
                    <a:pt x="22" y="1"/>
                  </a:lnTo>
                  <a:lnTo>
                    <a:pt x="0" y="1"/>
                  </a:lnTo>
                  <a:lnTo>
                    <a:pt x="3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6" name="Freeform 105"/>
            <p:cNvSpPr>
              <a:spLocks/>
            </p:cNvSpPr>
            <p:nvPr/>
          </p:nvSpPr>
          <p:spPr bwMode="invGray">
            <a:xfrm>
              <a:off x="1724025" y="2805113"/>
              <a:ext cx="120650" cy="4762"/>
            </a:xfrm>
            <a:custGeom>
              <a:avLst/>
              <a:gdLst>
                <a:gd name="T0" fmla="*/ 0 w 63"/>
                <a:gd name="T1" fmla="*/ 0 h 2"/>
                <a:gd name="T2" fmla="*/ 0 w 63"/>
                <a:gd name="T3" fmla="*/ 0 h 2"/>
                <a:gd name="T4" fmla="*/ 63 w 63"/>
                <a:gd name="T5" fmla="*/ 0 h 2"/>
                <a:gd name="T6" fmla="*/ 0 w 63"/>
                <a:gd name="T7" fmla="*/ 0 h 2"/>
              </a:gdLst>
              <a:ahLst/>
              <a:cxnLst>
                <a:cxn ang="0">
                  <a:pos x="T0" y="T1"/>
                </a:cxn>
                <a:cxn ang="0">
                  <a:pos x="T2" y="T3"/>
                </a:cxn>
                <a:cxn ang="0">
                  <a:pos x="T4" y="T5"/>
                </a:cxn>
                <a:cxn ang="0">
                  <a:pos x="T6" y="T7"/>
                </a:cxn>
              </a:cxnLst>
              <a:rect l="0" t="0" r="r" b="b"/>
              <a:pathLst>
                <a:path w="63" h="2">
                  <a:moveTo>
                    <a:pt x="0" y="0"/>
                  </a:moveTo>
                  <a:lnTo>
                    <a:pt x="0" y="0"/>
                  </a:lnTo>
                  <a:cubicBezTo>
                    <a:pt x="18" y="2"/>
                    <a:pt x="52" y="1"/>
                    <a:pt x="63" y="0"/>
                  </a:cubicBezTo>
                  <a:cubicBezTo>
                    <a:pt x="24" y="0"/>
                    <a:pt x="41"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7" name="Freeform 106"/>
            <p:cNvSpPr>
              <a:spLocks/>
            </p:cNvSpPr>
            <p:nvPr/>
          </p:nvSpPr>
          <p:spPr bwMode="invGray">
            <a:xfrm>
              <a:off x="1744662" y="2833688"/>
              <a:ext cx="73025" cy="3175"/>
            </a:xfrm>
            <a:custGeom>
              <a:avLst/>
              <a:gdLst>
                <a:gd name="T0" fmla="*/ 38 w 38"/>
                <a:gd name="T1" fmla="*/ 0 h 1"/>
                <a:gd name="T2" fmla="*/ 38 w 38"/>
                <a:gd name="T3" fmla="*/ 0 h 1"/>
                <a:gd name="T4" fmla="*/ 0 w 38"/>
                <a:gd name="T5" fmla="*/ 1 h 1"/>
                <a:gd name="T6" fmla="*/ 3 w 38"/>
                <a:gd name="T7" fmla="*/ 1 h 1"/>
                <a:gd name="T8" fmla="*/ 38 w 38"/>
                <a:gd name="T9" fmla="*/ 0 h 1"/>
              </a:gdLst>
              <a:ahLst/>
              <a:cxnLst>
                <a:cxn ang="0">
                  <a:pos x="T0" y="T1"/>
                </a:cxn>
                <a:cxn ang="0">
                  <a:pos x="T2" y="T3"/>
                </a:cxn>
                <a:cxn ang="0">
                  <a:pos x="T4" y="T5"/>
                </a:cxn>
                <a:cxn ang="0">
                  <a:pos x="T6" y="T7"/>
                </a:cxn>
                <a:cxn ang="0">
                  <a:pos x="T8" y="T9"/>
                </a:cxn>
              </a:cxnLst>
              <a:rect l="0" t="0" r="r" b="b"/>
              <a:pathLst>
                <a:path w="38" h="1">
                  <a:moveTo>
                    <a:pt x="38" y="0"/>
                  </a:moveTo>
                  <a:lnTo>
                    <a:pt x="38" y="0"/>
                  </a:lnTo>
                  <a:lnTo>
                    <a:pt x="0" y="1"/>
                  </a:lnTo>
                  <a:lnTo>
                    <a:pt x="3" y="1"/>
                  </a:lnTo>
                  <a:lnTo>
                    <a:pt x="3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8" name="Freeform 107"/>
            <p:cNvSpPr>
              <a:spLocks/>
            </p:cNvSpPr>
            <p:nvPr/>
          </p:nvSpPr>
          <p:spPr bwMode="invGray">
            <a:xfrm>
              <a:off x="-474663" y="2741613"/>
              <a:ext cx="34925" cy="0"/>
            </a:xfrm>
            <a:custGeom>
              <a:avLst/>
              <a:gdLst>
                <a:gd name="T0" fmla="*/ 18 w 18"/>
                <a:gd name="T1" fmla="*/ 18 w 18"/>
                <a:gd name="T2" fmla="*/ 0 w 18"/>
                <a:gd name="T3" fmla="*/ 18 w 18"/>
              </a:gdLst>
              <a:ahLst/>
              <a:cxnLst>
                <a:cxn ang="0">
                  <a:pos x="T0" y="0"/>
                </a:cxn>
                <a:cxn ang="0">
                  <a:pos x="T1" y="0"/>
                </a:cxn>
                <a:cxn ang="0">
                  <a:pos x="T2" y="0"/>
                </a:cxn>
                <a:cxn ang="0">
                  <a:pos x="T3" y="0"/>
                </a:cxn>
              </a:cxnLst>
              <a:rect l="0" t="0" r="r" b="b"/>
              <a:pathLst>
                <a:path w="18">
                  <a:moveTo>
                    <a:pt x="18" y="0"/>
                  </a:moveTo>
                  <a:lnTo>
                    <a:pt x="18" y="0"/>
                  </a:lnTo>
                  <a:lnTo>
                    <a:pt x="0" y="0"/>
                  </a:lnTo>
                  <a:lnTo>
                    <a:pt x="1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9" name="Freeform 108"/>
            <p:cNvSpPr>
              <a:spLocks/>
            </p:cNvSpPr>
            <p:nvPr/>
          </p:nvSpPr>
          <p:spPr bwMode="invGray">
            <a:xfrm>
              <a:off x="-947738" y="2725738"/>
              <a:ext cx="1239838" cy="19050"/>
            </a:xfrm>
            <a:custGeom>
              <a:avLst/>
              <a:gdLst>
                <a:gd name="T0" fmla="*/ 588 w 647"/>
                <a:gd name="T1" fmla="*/ 5 h 8"/>
                <a:gd name="T2" fmla="*/ 588 w 647"/>
                <a:gd name="T3" fmla="*/ 5 h 8"/>
                <a:gd name="T4" fmla="*/ 619 w 647"/>
                <a:gd name="T5" fmla="*/ 0 h 8"/>
                <a:gd name="T6" fmla="*/ 570 w 647"/>
                <a:gd name="T7" fmla="*/ 1 h 8"/>
                <a:gd name="T8" fmla="*/ 574 w 647"/>
                <a:gd name="T9" fmla="*/ 0 h 8"/>
                <a:gd name="T10" fmla="*/ 515 w 647"/>
                <a:gd name="T11" fmla="*/ 1 h 8"/>
                <a:gd name="T12" fmla="*/ 533 w 647"/>
                <a:gd name="T13" fmla="*/ 3 h 8"/>
                <a:gd name="T14" fmla="*/ 450 w 647"/>
                <a:gd name="T15" fmla="*/ 0 h 8"/>
                <a:gd name="T16" fmla="*/ 361 w 647"/>
                <a:gd name="T17" fmla="*/ 0 h 8"/>
                <a:gd name="T18" fmla="*/ 368 w 647"/>
                <a:gd name="T19" fmla="*/ 0 h 8"/>
                <a:gd name="T20" fmla="*/ 355 w 647"/>
                <a:gd name="T21" fmla="*/ 0 h 8"/>
                <a:gd name="T22" fmla="*/ 55 w 647"/>
                <a:gd name="T23" fmla="*/ 1 h 8"/>
                <a:gd name="T24" fmla="*/ 45 w 647"/>
                <a:gd name="T25" fmla="*/ 6 h 8"/>
                <a:gd name="T26" fmla="*/ 207 w 647"/>
                <a:gd name="T27" fmla="*/ 5 h 8"/>
                <a:gd name="T28" fmla="*/ 214 w 647"/>
                <a:gd name="T29" fmla="*/ 6 h 8"/>
                <a:gd name="T30" fmla="*/ 250 w 647"/>
                <a:gd name="T31" fmla="*/ 4 h 8"/>
                <a:gd name="T32" fmla="*/ 216 w 647"/>
                <a:gd name="T33" fmla="*/ 3 h 8"/>
                <a:gd name="T34" fmla="*/ 393 w 647"/>
                <a:gd name="T35" fmla="*/ 3 h 8"/>
                <a:gd name="T36" fmla="*/ 265 w 647"/>
                <a:gd name="T37" fmla="*/ 5 h 8"/>
                <a:gd name="T38" fmla="*/ 265 w 647"/>
                <a:gd name="T39" fmla="*/ 7 h 8"/>
                <a:gd name="T40" fmla="*/ 588 w 647"/>
                <a:gd name="T41"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47" h="8">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0" name="Freeform 109"/>
            <p:cNvSpPr>
              <a:spLocks/>
            </p:cNvSpPr>
            <p:nvPr/>
          </p:nvSpPr>
          <p:spPr bwMode="invGray">
            <a:xfrm>
              <a:off x="-1944688" y="2741613"/>
              <a:ext cx="4763" cy="0"/>
            </a:xfrm>
            <a:custGeom>
              <a:avLst/>
              <a:gdLst>
                <a:gd name="T0" fmla="*/ 1 w 2"/>
                <a:gd name="T1" fmla="*/ 1 w 2"/>
                <a:gd name="T2" fmla="*/ 2 w 2"/>
                <a:gd name="T3" fmla="*/ 1 w 2"/>
              </a:gdLst>
              <a:ahLst/>
              <a:cxnLst>
                <a:cxn ang="0">
                  <a:pos x="T0" y="0"/>
                </a:cxn>
                <a:cxn ang="0">
                  <a:pos x="T1" y="0"/>
                </a:cxn>
                <a:cxn ang="0">
                  <a:pos x="T2" y="0"/>
                </a:cxn>
                <a:cxn ang="0">
                  <a:pos x="T3" y="0"/>
                </a:cxn>
              </a:cxnLst>
              <a:rect l="0" t="0" r="r" b="b"/>
              <a:pathLst>
                <a:path w="2">
                  <a:moveTo>
                    <a:pt x="1" y="0"/>
                  </a:moveTo>
                  <a:lnTo>
                    <a:pt x="1" y="0"/>
                  </a:lnTo>
                  <a:lnTo>
                    <a:pt x="2" y="0"/>
                  </a:lnTo>
                  <a:cubicBezTo>
                    <a:pt x="0" y="0"/>
                    <a:pt x="0"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1" name="Freeform 110"/>
            <p:cNvSpPr>
              <a:spLocks/>
            </p:cNvSpPr>
            <p:nvPr/>
          </p:nvSpPr>
          <p:spPr bwMode="invGray">
            <a:xfrm>
              <a:off x="-1939925" y="2735263"/>
              <a:ext cx="173038" cy="6350"/>
            </a:xfrm>
            <a:custGeom>
              <a:avLst/>
              <a:gdLst>
                <a:gd name="T0" fmla="*/ 36 w 90"/>
                <a:gd name="T1" fmla="*/ 3 h 3"/>
                <a:gd name="T2" fmla="*/ 36 w 90"/>
                <a:gd name="T3" fmla="*/ 3 h 3"/>
                <a:gd name="T4" fmla="*/ 90 w 90"/>
                <a:gd name="T5" fmla="*/ 0 h 3"/>
                <a:gd name="T6" fmla="*/ 6 w 90"/>
                <a:gd name="T7" fmla="*/ 1 h 3"/>
                <a:gd name="T8" fmla="*/ 0 w 90"/>
                <a:gd name="T9" fmla="*/ 3 h 3"/>
                <a:gd name="T10" fmla="*/ 48 w 90"/>
                <a:gd name="T11" fmla="*/ 2 h 3"/>
                <a:gd name="T12" fmla="*/ 36 w 90"/>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90" h="3">
                  <a:moveTo>
                    <a:pt x="36" y="3"/>
                  </a:moveTo>
                  <a:lnTo>
                    <a:pt x="36" y="3"/>
                  </a:lnTo>
                  <a:lnTo>
                    <a:pt x="90" y="0"/>
                  </a:lnTo>
                  <a:lnTo>
                    <a:pt x="6" y="1"/>
                  </a:lnTo>
                  <a:lnTo>
                    <a:pt x="0" y="3"/>
                  </a:lnTo>
                  <a:cubicBezTo>
                    <a:pt x="8" y="2"/>
                    <a:pt x="37" y="1"/>
                    <a:pt x="48" y="2"/>
                  </a:cubicBezTo>
                  <a:lnTo>
                    <a:pt x="36"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2" name="Freeform 111"/>
            <p:cNvSpPr>
              <a:spLocks/>
            </p:cNvSpPr>
            <p:nvPr/>
          </p:nvSpPr>
          <p:spPr bwMode="invGray">
            <a:xfrm>
              <a:off x="-1773238" y="2733675"/>
              <a:ext cx="123825" cy="12700"/>
            </a:xfrm>
            <a:custGeom>
              <a:avLst/>
              <a:gdLst>
                <a:gd name="T0" fmla="*/ 65 w 65"/>
                <a:gd name="T1" fmla="*/ 0 h 6"/>
                <a:gd name="T2" fmla="*/ 65 w 65"/>
                <a:gd name="T3" fmla="*/ 0 h 6"/>
                <a:gd name="T4" fmla="*/ 48 w 65"/>
                <a:gd name="T5" fmla="*/ 4 h 6"/>
                <a:gd name="T6" fmla="*/ 0 w 65"/>
                <a:gd name="T7" fmla="*/ 4 h 6"/>
                <a:gd name="T8" fmla="*/ 61 w 65"/>
                <a:gd name="T9" fmla="*/ 4 h 6"/>
                <a:gd name="T10" fmla="*/ 65 w 65"/>
                <a:gd name="T11" fmla="*/ 0 h 6"/>
              </a:gdLst>
              <a:ahLst/>
              <a:cxnLst>
                <a:cxn ang="0">
                  <a:pos x="T0" y="T1"/>
                </a:cxn>
                <a:cxn ang="0">
                  <a:pos x="T2" y="T3"/>
                </a:cxn>
                <a:cxn ang="0">
                  <a:pos x="T4" y="T5"/>
                </a:cxn>
                <a:cxn ang="0">
                  <a:pos x="T6" y="T7"/>
                </a:cxn>
                <a:cxn ang="0">
                  <a:pos x="T8" y="T9"/>
                </a:cxn>
                <a:cxn ang="0">
                  <a:pos x="T10" y="T11"/>
                </a:cxn>
              </a:cxnLst>
              <a:rect l="0" t="0" r="r" b="b"/>
              <a:pathLst>
                <a:path w="65" h="6">
                  <a:moveTo>
                    <a:pt x="65" y="0"/>
                  </a:moveTo>
                  <a:lnTo>
                    <a:pt x="65" y="0"/>
                  </a:lnTo>
                  <a:cubicBezTo>
                    <a:pt x="22" y="1"/>
                    <a:pt x="25" y="3"/>
                    <a:pt x="48" y="4"/>
                  </a:cubicBezTo>
                  <a:cubicBezTo>
                    <a:pt x="8" y="5"/>
                    <a:pt x="27" y="1"/>
                    <a:pt x="0" y="4"/>
                  </a:cubicBezTo>
                  <a:cubicBezTo>
                    <a:pt x="1" y="6"/>
                    <a:pt x="50" y="5"/>
                    <a:pt x="61" y="4"/>
                  </a:cubicBezTo>
                  <a:lnTo>
                    <a:pt x="6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3" name="Freeform 112"/>
            <p:cNvSpPr>
              <a:spLocks/>
            </p:cNvSpPr>
            <p:nvPr/>
          </p:nvSpPr>
          <p:spPr bwMode="invGray">
            <a:xfrm>
              <a:off x="-1057275" y="2735263"/>
              <a:ext cx="57150" cy="3175"/>
            </a:xfrm>
            <a:custGeom>
              <a:avLst/>
              <a:gdLst>
                <a:gd name="T0" fmla="*/ 12 w 30"/>
                <a:gd name="T1" fmla="*/ 0 h 1"/>
                <a:gd name="T2" fmla="*/ 12 w 30"/>
                <a:gd name="T3" fmla="*/ 0 h 1"/>
                <a:gd name="T4" fmla="*/ 0 w 30"/>
                <a:gd name="T5" fmla="*/ 1 h 1"/>
                <a:gd name="T6" fmla="*/ 30 w 30"/>
                <a:gd name="T7" fmla="*/ 1 h 1"/>
                <a:gd name="T8" fmla="*/ 12 w 30"/>
                <a:gd name="T9" fmla="*/ 0 h 1"/>
              </a:gdLst>
              <a:ahLst/>
              <a:cxnLst>
                <a:cxn ang="0">
                  <a:pos x="T0" y="T1"/>
                </a:cxn>
                <a:cxn ang="0">
                  <a:pos x="T2" y="T3"/>
                </a:cxn>
                <a:cxn ang="0">
                  <a:pos x="T4" y="T5"/>
                </a:cxn>
                <a:cxn ang="0">
                  <a:pos x="T6" y="T7"/>
                </a:cxn>
                <a:cxn ang="0">
                  <a:pos x="T8" y="T9"/>
                </a:cxn>
              </a:cxnLst>
              <a:rect l="0" t="0" r="r" b="b"/>
              <a:pathLst>
                <a:path w="30" h="1">
                  <a:moveTo>
                    <a:pt x="12" y="0"/>
                  </a:moveTo>
                  <a:lnTo>
                    <a:pt x="12" y="0"/>
                  </a:lnTo>
                  <a:lnTo>
                    <a:pt x="0" y="1"/>
                  </a:lnTo>
                  <a:lnTo>
                    <a:pt x="3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4" name="Freeform 113"/>
            <p:cNvSpPr>
              <a:spLocks/>
            </p:cNvSpPr>
            <p:nvPr/>
          </p:nvSpPr>
          <p:spPr bwMode="invGray">
            <a:xfrm>
              <a:off x="-1116013" y="2738438"/>
              <a:ext cx="58738" cy="3175"/>
            </a:xfrm>
            <a:custGeom>
              <a:avLst/>
              <a:gdLst>
                <a:gd name="T0" fmla="*/ 30 w 30"/>
                <a:gd name="T1" fmla="*/ 0 h 2"/>
                <a:gd name="T2" fmla="*/ 30 w 30"/>
                <a:gd name="T3" fmla="*/ 0 h 2"/>
                <a:gd name="T4" fmla="*/ 0 w 30"/>
                <a:gd name="T5" fmla="*/ 0 h 2"/>
                <a:gd name="T6" fmla="*/ 9 w 30"/>
                <a:gd name="T7" fmla="*/ 2 h 2"/>
                <a:gd name="T8" fmla="*/ 30 w 30"/>
                <a:gd name="T9" fmla="*/ 0 h 2"/>
              </a:gdLst>
              <a:ahLst/>
              <a:cxnLst>
                <a:cxn ang="0">
                  <a:pos x="T0" y="T1"/>
                </a:cxn>
                <a:cxn ang="0">
                  <a:pos x="T2" y="T3"/>
                </a:cxn>
                <a:cxn ang="0">
                  <a:pos x="T4" y="T5"/>
                </a:cxn>
                <a:cxn ang="0">
                  <a:pos x="T6" y="T7"/>
                </a:cxn>
                <a:cxn ang="0">
                  <a:pos x="T8" y="T9"/>
                </a:cxn>
              </a:cxnLst>
              <a:rect l="0" t="0" r="r" b="b"/>
              <a:pathLst>
                <a:path w="30" h="2">
                  <a:moveTo>
                    <a:pt x="30" y="0"/>
                  </a:moveTo>
                  <a:lnTo>
                    <a:pt x="30" y="0"/>
                  </a:lnTo>
                  <a:lnTo>
                    <a:pt x="0" y="0"/>
                  </a:lnTo>
                  <a:cubicBezTo>
                    <a:pt x="2" y="0"/>
                    <a:pt x="4" y="1"/>
                    <a:pt x="9" y="2"/>
                  </a:cubicBez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5" name="Freeform 114"/>
            <p:cNvSpPr>
              <a:spLocks/>
            </p:cNvSpPr>
            <p:nvPr/>
          </p:nvSpPr>
          <p:spPr bwMode="invGray">
            <a:xfrm>
              <a:off x="-1349375" y="2735263"/>
              <a:ext cx="84138" cy="0"/>
            </a:xfrm>
            <a:custGeom>
              <a:avLst/>
              <a:gdLst>
                <a:gd name="T0" fmla="*/ 44 w 44"/>
                <a:gd name="T1" fmla="*/ 44 w 44"/>
                <a:gd name="T2" fmla="*/ 0 w 44"/>
                <a:gd name="T3" fmla="*/ 44 w 44"/>
              </a:gdLst>
              <a:ahLst/>
              <a:cxnLst>
                <a:cxn ang="0">
                  <a:pos x="T0" y="0"/>
                </a:cxn>
                <a:cxn ang="0">
                  <a:pos x="T1" y="0"/>
                </a:cxn>
                <a:cxn ang="0">
                  <a:pos x="T2" y="0"/>
                </a:cxn>
                <a:cxn ang="0">
                  <a:pos x="T3" y="0"/>
                </a:cxn>
              </a:cxnLst>
              <a:rect l="0" t="0" r="r" b="b"/>
              <a:pathLst>
                <a:path w="44">
                  <a:moveTo>
                    <a:pt x="44" y="0"/>
                  </a:moveTo>
                  <a:lnTo>
                    <a:pt x="44" y="0"/>
                  </a:lnTo>
                  <a:lnTo>
                    <a:pt x="0" y="0"/>
                  </a:lnTo>
                  <a:lnTo>
                    <a:pt x="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6" name="Freeform 115"/>
            <p:cNvSpPr>
              <a:spLocks/>
            </p:cNvSpPr>
            <p:nvPr/>
          </p:nvSpPr>
          <p:spPr bwMode="invGray">
            <a:xfrm>
              <a:off x="-1265238" y="2735263"/>
              <a:ext cx="65088" cy="3175"/>
            </a:xfrm>
            <a:custGeom>
              <a:avLst/>
              <a:gdLst>
                <a:gd name="T0" fmla="*/ 34 w 34"/>
                <a:gd name="T1" fmla="*/ 1 h 1"/>
                <a:gd name="T2" fmla="*/ 34 w 34"/>
                <a:gd name="T3" fmla="*/ 1 h 1"/>
                <a:gd name="T4" fmla="*/ 33 w 34"/>
                <a:gd name="T5" fmla="*/ 0 h 1"/>
                <a:gd name="T6" fmla="*/ 0 w 34"/>
                <a:gd name="T7" fmla="*/ 0 h 1"/>
                <a:gd name="T8" fmla="*/ 34 w 34"/>
                <a:gd name="T9" fmla="*/ 1 h 1"/>
              </a:gdLst>
              <a:ahLst/>
              <a:cxnLst>
                <a:cxn ang="0">
                  <a:pos x="T0" y="T1"/>
                </a:cxn>
                <a:cxn ang="0">
                  <a:pos x="T2" y="T3"/>
                </a:cxn>
                <a:cxn ang="0">
                  <a:pos x="T4" y="T5"/>
                </a:cxn>
                <a:cxn ang="0">
                  <a:pos x="T6" y="T7"/>
                </a:cxn>
                <a:cxn ang="0">
                  <a:pos x="T8" y="T9"/>
                </a:cxn>
              </a:cxnLst>
              <a:rect l="0" t="0" r="r" b="b"/>
              <a:pathLst>
                <a:path w="34" h="1">
                  <a:moveTo>
                    <a:pt x="34" y="1"/>
                  </a:moveTo>
                  <a:lnTo>
                    <a:pt x="34" y="1"/>
                  </a:lnTo>
                  <a:lnTo>
                    <a:pt x="33" y="0"/>
                  </a:lnTo>
                  <a:lnTo>
                    <a:pt x="0" y="0"/>
                  </a:lnTo>
                  <a:lnTo>
                    <a:pt x="3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7" name="Freeform 116"/>
            <p:cNvSpPr>
              <a:spLocks/>
            </p:cNvSpPr>
            <p:nvPr/>
          </p:nvSpPr>
          <p:spPr bwMode="invGray">
            <a:xfrm>
              <a:off x="-1219200" y="2728913"/>
              <a:ext cx="103188" cy="9525"/>
            </a:xfrm>
            <a:custGeom>
              <a:avLst/>
              <a:gdLst>
                <a:gd name="T0" fmla="*/ 54 w 54"/>
                <a:gd name="T1" fmla="*/ 4 h 4"/>
                <a:gd name="T2" fmla="*/ 54 w 54"/>
                <a:gd name="T3" fmla="*/ 4 h 4"/>
                <a:gd name="T4" fmla="*/ 0 w 54"/>
                <a:gd name="T5" fmla="*/ 1 h 4"/>
                <a:gd name="T6" fmla="*/ 9 w 54"/>
                <a:gd name="T7" fmla="*/ 3 h 4"/>
                <a:gd name="T8" fmla="*/ 54 w 54"/>
                <a:gd name="T9" fmla="*/ 4 h 4"/>
              </a:gdLst>
              <a:ahLst/>
              <a:cxnLst>
                <a:cxn ang="0">
                  <a:pos x="T0" y="T1"/>
                </a:cxn>
                <a:cxn ang="0">
                  <a:pos x="T2" y="T3"/>
                </a:cxn>
                <a:cxn ang="0">
                  <a:pos x="T4" y="T5"/>
                </a:cxn>
                <a:cxn ang="0">
                  <a:pos x="T6" y="T7"/>
                </a:cxn>
                <a:cxn ang="0">
                  <a:pos x="T8" y="T9"/>
                </a:cxn>
              </a:cxnLst>
              <a:rect l="0" t="0" r="r" b="b"/>
              <a:pathLst>
                <a:path w="54" h="4">
                  <a:moveTo>
                    <a:pt x="54" y="4"/>
                  </a:moveTo>
                  <a:lnTo>
                    <a:pt x="54" y="4"/>
                  </a:lnTo>
                  <a:cubicBezTo>
                    <a:pt x="49" y="2"/>
                    <a:pt x="43" y="0"/>
                    <a:pt x="0" y="1"/>
                  </a:cubicBezTo>
                  <a:lnTo>
                    <a:pt x="9" y="3"/>
                  </a:lnTo>
                  <a:lnTo>
                    <a:pt x="54"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8" name="Freeform 117"/>
            <p:cNvSpPr>
              <a:spLocks/>
            </p:cNvSpPr>
            <p:nvPr/>
          </p:nvSpPr>
          <p:spPr bwMode="invGray">
            <a:xfrm>
              <a:off x="1225550" y="2830513"/>
              <a:ext cx="73025" cy="3175"/>
            </a:xfrm>
            <a:custGeom>
              <a:avLst/>
              <a:gdLst>
                <a:gd name="T0" fmla="*/ 34 w 38"/>
                <a:gd name="T1" fmla="*/ 0 h 2"/>
                <a:gd name="T2" fmla="*/ 34 w 38"/>
                <a:gd name="T3" fmla="*/ 0 h 2"/>
                <a:gd name="T4" fmla="*/ 0 w 38"/>
                <a:gd name="T5" fmla="*/ 1 h 2"/>
                <a:gd name="T6" fmla="*/ 4 w 38"/>
                <a:gd name="T7" fmla="*/ 2 h 2"/>
                <a:gd name="T8" fmla="*/ 38 w 38"/>
                <a:gd name="T9" fmla="*/ 1 h 2"/>
                <a:gd name="T10" fmla="*/ 34 w 38"/>
                <a:gd name="T11" fmla="*/ 0 h 2"/>
              </a:gdLst>
              <a:ahLst/>
              <a:cxnLst>
                <a:cxn ang="0">
                  <a:pos x="T0" y="T1"/>
                </a:cxn>
                <a:cxn ang="0">
                  <a:pos x="T2" y="T3"/>
                </a:cxn>
                <a:cxn ang="0">
                  <a:pos x="T4" y="T5"/>
                </a:cxn>
                <a:cxn ang="0">
                  <a:pos x="T6" y="T7"/>
                </a:cxn>
                <a:cxn ang="0">
                  <a:pos x="T8" y="T9"/>
                </a:cxn>
                <a:cxn ang="0">
                  <a:pos x="T10" y="T11"/>
                </a:cxn>
              </a:cxnLst>
              <a:rect l="0" t="0" r="r" b="b"/>
              <a:pathLst>
                <a:path w="38" h="2">
                  <a:moveTo>
                    <a:pt x="34" y="0"/>
                  </a:moveTo>
                  <a:lnTo>
                    <a:pt x="34" y="0"/>
                  </a:lnTo>
                  <a:lnTo>
                    <a:pt x="0" y="1"/>
                  </a:lnTo>
                  <a:lnTo>
                    <a:pt x="4" y="2"/>
                  </a:lnTo>
                  <a:lnTo>
                    <a:pt x="38" y="1"/>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9" name="Freeform 118"/>
            <p:cNvSpPr>
              <a:spLocks/>
            </p:cNvSpPr>
            <p:nvPr/>
          </p:nvSpPr>
          <p:spPr bwMode="invGray">
            <a:xfrm>
              <a:off x="874712" y="2827338"/>
              <a:ext cx="39688" cy="317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9" y="1"/>
                    <a:pt x="16" y="1"/>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0" name="Freeform 119"/>
            <p:cNvSpPr>
              <a:spLocks/>
            </p:cNvSpPr>
            <p:nvPr/>
          </p:nvSpPr>
          <p:spPr bwMode="invGray">
            <a:xfrm>
              <a:off x="417512" y="2827338"/>
              <a:ext cx="457200" cy="31750"/>
            </a:xfrm>
            <a:custGeom>
              <a:avLst/>
              <a:gdLst>
                <a:gd name="T0" fmla="*/ 113 w 238"/>
                <a:gd name="T1" fmla="*/ 12 h 14"/>
                <a:gd name="T2" fmla="*/ 113 w 238"/>
                <a:gd name="T3" fmla="*/ 12 h 14"/>
                <a:gd name="T4" fmla="*/ 94 w 238"/>
                <a:gd name="T5" fmla="*/ 9 h 14"/>
                <a:gd name="T6" fmla="*/ 157 w 238"/>
                <a:gd name="T7" fmla="*/ 6 h 14"/>
                <a:gd name="T8" fmla="*/ 145 w 238"/>
                <a:gd name="T9" fmla="*/ 8 h 14"/>
                <a:gd name="T10" fmla="*/ 169 w 238"/>
                <a:gd name="T11" fmla="*/ 6 h 14"/>
                <a:gd name="T12" fmla="*/ 238 w 238"/>
                <a:gd name="T13" fmla="*/ 1 h 14"/>
                <a:gd name="T14" fmla="*/ 32 w 238"/>
                <a:gd name="T15" fmla="*/ 3 h 14"/>
                <a:gd name="T16" fmla="*/ 19 w 238"/>
                <a:gd name="T17" fmla="*/ 13 h 14"/>
                <a:gd name="T18" fmla="*/ 113 w 238"/>
                <a:gd name="T19"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8" h="14">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1" name="Freeform 120"/>
            <p:cNvSpPr>
              <a:spLocks/>
            </p:cNvSpPr>
            <p:nvPr/>
          </p:nvSpPr>
          <p:spPr bwMode="invGray">
            <a:xfrm>
              <a:off x="755650" y="2859087"/>
              <a:ext cx="68263" cy="4762"/>
            </a:xfrm>
            <a:custGeom>
              <a:avLst/>
              <a:gdLst>
                <a:gd name="T0" fmla="*/ 0 w 36"/>
                <a:gd name="T1" fmla="*/ 1 h 2"/>
                <a:gd name="T2" fmla="*/ 0 w 36"/>
                <a:gd name="T3" fmla="*/ 1 h 2"/>
                <a:gd name="T4" fmla="*/ 36 w 36"/>
                <a:gd name="T5" fmla="*/ 1 h 2"/>
                <a:gd name="T6" fmla="*/ 0 w 36"/>
                <a:gd name="T7" fmla="*/ 1 h 2"/>
              </a:gdLst>
              <a:ahLst/>
              <a:cxnLst>
                <a:cxn ang="0">
                  <a:pos x="T0" y="T1"/>
                </a:cxn>
                <a:cxn ang="0">
                  <a:pos x="T2" y="T3"/>
                </a:cxn>
                <a:cxn ang="0">
                  <a:pos x="T4" y="T5"/>
                </a:cxn>
                <a:cxn ang="0">
                  <a:pos x="T6" y="T7"/>
                </a:cxn>
              </a:cxnLst>
              <a:rect l="0" t="0" r="r" b="b"/>
              <a:pathLst>
                <a:path w="36" h="2">
                  <a:moveTo>
                    <a:pt x="0" y="1"/>
                  </a:moveTo>
                  <a:lnTo>
                    <a:pt x="0" y="1"/>
                  </a:lnTo>
                  <a:cubicBezTo>
                    <a:pt x="19" y="2"/>
                    <a:pt x="24" y="1"/>
                    <a:pt x="36" y="1"/>
                  </a:cubicBezTo>
                  <a:cubicBezTo>
                    <a:pt x="33" y="0"/>
                    <a:pt x="15"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2" name="Freeform 121"/>
            <p:cNvSpPr>
              <a:spLocks/>
            </p:cNvSpPr>
            <p:nvPr/>
          </p:nvSpPr>
          <p:spPr bwMode="invGray">
            <a:xfrm>
              <a:off x="-133350" y="2798763"/>
              <a:ext cx="111125" cy="4762"/>
            </a:xfrm>
            <a:custGeom>
              <a:avLst/>
              <a:gdLst>
                <a:gd name="T0" fmla="*/ 37 w 58"/>
                <a:gd name="T1" fmla="*/ 0 h 2"/>
                <a:gd name="T2" fmla="*/ 37 w 58"/>
                <a:gd name="T3" fmla="*/ 0 h 2"/>
                <a:gd name="T4" fmla="*/ 7 w 58"/>
                <a:gd name="T5" fmla="*/ 2 h 2"/>
                <a:gd name="T6" fmla="*/ 58 w 58"/>
                <a:gd name="T7" fmla="*/ 2 h 2"/>
                <a:gd name="T8" fmla="*/ 37 w 58"/>
                <a:gd name="T9" fmla="*/ 0 h 2"/>
              </a:gdLst>
              <a:ahLst/>
              <a:cxnLst>
                <a:cxn ang="0">
                  <a:pos x="T0" y="T1"/>
                </a:cxn>
                <a:cxn ang="0">
                  <a:pos x="T2" y="T3"/>
                </a:cxn>
                <a:cxn ang="0">
                  <a:pos x="T4" y="T5"/>
                </a:cxn>
                <a:cxn ang="0">
                  <a:pos x="T6" y="T7"/>
                </a:cxn>
                <a:cxn ang="0">
                  <a:pos x="T8" y="T9"/>
                </a:cxn>
              </a:cxnLst>
              <a:rect l="0" t="0" r="r" b="b"/>
              <a:pathLst>
                <a:path w="58" h="2">
                  <a:moveTo>
                    <a:pt x="37" y="0"/>
                  </a:moveTo>
                  <a:lnTo>
                    <a:pt x="37" y="0"/>
                  </a:lnTo>
                  <a:cubicBezTo>
                    <a:pt x="34" y="1"/>
                    <a:pt x="0" y="1"/>
                    <a:pt x="7" y="2"/>
                  </a:cubicBezTo>
                  <a:lnTo>
                    <a:pt x="58" y="2"/>
                  </a:lnTo>
                  <a:cubicBezTo>
                    <a:pt x="46" y="2"/>
                    <a:pt x="42" y="1"/>
                    <a:pt x="3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3" name="Freeform 122"/>
            <p:cNvSpPr>
              <a:spLocks/>
            </p:cNvSpPr>
            <p:nvPr/>
          </p:nvSpPr>
          <p:spPr bwMode="invGray">
            <a:xfrm>
              <a:off x="-22225" y="2800350"/>
              <a:ext cx="44450" cy="3175"/>
            </a:xfrm>
            <a:custGeom>
              <a:avLst/>
              <a:gdLst>
                <a:gd name="T0" fmla="*/ 23 w 23"/>
                <a:gd name="T1" fmla="*/ 0 h 1"/>
                <a:gd name="T2" fmla="*/ 23 w 23"/>
                <a:gd name="T3" fmla="*/ 0 h 1"/>
                <a:gd name="T4" fmla="*/ 0 w 23"/>
                <a:gd name="T5" fmla="*/ 1 h 1"/>
                <a:gd name="T6" fmla="*/ 23 w 23"/>
                <a:gd name="T7" fmla="*/ 0 h 1"/>
              </a:gdLst>
              <a:ahLst/>
              <a:cxnLst>
                <a:cxn ang="0">
                  <a:pos x="T0" y="T1"/>
                </a:cxn>
                <a:cxn ang="0">
                  <a:pos x="T2" y="T3"/>
                </a:cxn>
                <a:cxn ang="0">
                  <a:pos x="T4" y="T5"/>
                </a:cxn>
                <a:cxn ang="0">
                  <a:pos x="T6" y="T7"/>
                </a:cxn>
              </a:cxnLst>
              <a:rect l="0" t="0" r="r" b="b"/>
              <a:pathLst>
                <a:path w="23" h="1">
                  <a:moveTo>
                    <a:pt x="23" y="0"/>
                  </a:moveTo>
                  <a:lnTo>
                    <a:pt x="23" y="0"/>
                  </a:lnTo>
                  <a:lnTo>
                    <a:pt x="0" y="1"/>
                  </a:lnTo>
                  <a:cubicBezTo>
                    <a:pt x="6" y="1"/>
                    <a:pt x="13"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4" name="Freeform 123"/>
            <p:cNvSpPr>
              <a:spLocks/>
            </p:cNvSpPr>
            <p:nvPr/>
          </p:nvSpPr>
          <p:spPr bwMode="invGray">
            <a:xfrm>
              <a:off x="-66675" y="2798763"/>
              <a:ext cx="6350" cy="0"/>
            </a:xfrm>
            <a:custGeom>
              <a:avLst/>
              <a:gdLst>
                <a:gd name="T0" fmla="*/ 0 w 3"/>
                <a:gd name="T1" fmla="*/ 0 w 3"/>
                <a:gd name="T2" fmla="*/ 2 w 3"/>
                <a:gd name="T3" fmla="*/ 0 w 3"/>
              </a:gdLst>
              <a:ahLst/>
              <a:cxnLst>
                <a:cxn ang="0">
                  <a:pos x="T0" y="0"/>
                </a:cxn>
                <a:cxn ang="0">
                  <a:pos x="T1" y="0"/>
                </a:cxn>
                <a:cxn ang="0">
                  <a:pos x="T2" y="0"/>
                </a:cxn>
                <a:cxn ang="0">
                  <a:pos x="T3" y="0"/>
                </a:cxn>
              </a:cxnLst>
              <a:rect l="0" t="0" r="r" b="b"/>
              <a:pathLst>
                <a:path w="3">
                  <a:moveTo>
                    <a:pt x="0" y="0"/>
                  </a:moveTo>
                  <a:lnTo>
                    <a:pt x="0" y="0"/>
                  </a:lnTo>
                  <a:lnTo>
                    <a:pt x="2" y="0"/>
                  </a:lnTo>
                  <a:cubicBezTo>
                    <a:pt x="3" y="0"/>
                    <a:pt x="3"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5" name="Freeform 124"/>
            <p:cNvSpPr>
              <a:spLocks/>
            </p:cNvSpPr>
            <p:nvPr/>
          </p:nvSpPr>
          <p:spPr bwMode="invGray">
            <a:xfrm>
              <a:off x="-1566863" y="2730500"/>
              <a:ext cx="65088" cy="3175"/>
            </a:xfrm>
            <a:custGeom>
              <a:avLst/>
              <a:gdLst>
                <a:gd name="T0" fmla="*/ 33 w 34"/>
                <a:gd name="T1" fmla="*/ 1 h 1"/>
                <a:gd name="T2" fmla="*/ 33 w 34"/>
                <a:gd name="T3" fmla="*/ 1 h 1"/>
                <a:gd name="T4" fmla="*/ 0 w 34"/>
                <a:gd name="T5" fmla="*/ 1 h 1"/>
                <a:gd name="T6" fmla="*/ 33 w 34"/>
                <a:gd name="T7" fmla="*/ 1 h 1"/>
              </a:gdLst>
              <a:ahLst/>
              <a:cxnLst>
                <a:cxn ang="0">
                  <a:pos x="T0" y="T1"/>
                </a:cxn>
                <a:cxn ang="0">
                  <a:pos x="T2" y="T3"/>
                </a:cxn>
                <a:cxn ang="0">
                  <a:pos x="T4" y="T5"/>
                </a:cxn>
                <a:cxn ang="0">
                  <a:pos x="T6" y="T7"/>
                </a:cxn>
              </a:cxnLst>
              <a:rect l="0" t="0" r="r" b="b"/>
              <a:pathLst>
                <a:path w="34" h="1">
                  <a:moveTo>
                    <a:pt x="33" y="1"/>
                  </a:moveTo>
                  <a:lnTo>
                    <a:pt x="33" y="1"/>
                  </a:lnTo>
                  <a:cubicBezTo>
                    <a:pt x="34" y="0"/>
                    <a:pt x="12" y="1"/>
                    <a:pt x="0" y="1"/>
                  </a:cubicBezTo>
                  <a:cubicBezTo>
                    <a:pt x="9" y="1"/>
                    <a:pt x="22" y="1"/>
                    <a:pt x="3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6" name="Freeform 125"/>
            <p:cNvSpPr>
              <a:spLocks/>
            </p:cNvSpPr>
            <p:nvPr/>
          </p:nvSpPr>
          <p:spPr bwMode="invGray">
            <a:xfrm>
              <a:off x="-3175000" y="2740025"/>
              <a:ext cx="38100" cy="0"/>
            </a:xfrm>
            <a:custGeom>
              <a:avLst/>
              <a:gdLst>
                <a:gd name="T0" fmla="*/ 20 w 20"/>
                <a:gd name="T1" fmla="*/ 20 w 20"/>
                <a:gd name="T2" fmla="*/ 0 w 20"/>
                <a:gd name="T3" fmla="*/ 20 w 20"/>
              </a:gdLst>
              <a:ahLst/>
              <a:cxnLst>
                <a:cxn ang="0">
                  <a:pos x="T0" y="0"/>
                </a:cxn>
                <a:cxn ang="0">
                  <a:pos x="T1" y="0"/>
                </a:cxn>
                <a:cxn ang="0">
                  <a:pos x="T2" y="0"/>
                </a:cxn>
                <a:cxn ang="0">
                  <a:pos x="T3" y="0"/>
                </a:cxn>
              </a:cxnLst>
              <a:rect l="0" t="0" r="r" b="b"/>
              <a:pathLst>
                <a:path w="20">
                  <a:moveTo>
                    <a:pt x="20" y="0"/>
                  </a:moveTo>
                  <a:lnTo>
                    <a:pt x="20" y="0"/>
                  </a:lnTo>
                  <a:lnTo>
                    <a:pt x="0" y="0"/>
                  </a:lnTo>
                  <a:cubicBezTo>
                    <a:pt x="7" y="0"/>
                    <a:pt x="11" y="0"/>
                    <a:pt x="2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7" name="Freeform 126"/>
            <p:cNvSpPr>
              <a:spLocks/>
            </p:cNvSpPr>
            <p:nvPr/>
          </p:nvSpPr>
          <p:spPr bwMode="invGray">
            <a:xfrm>
              <a:off x="-3735388" y="2803525"/>
              <a:ext cx="6350" cy="1587"/>
            </a:xfrm>
            <a:custGeom>
              <a:avLst/>
              <a:gdLst>
                <a:gd name="T0" fmla="*/ 4 w 4"/>
                <a:gd name="T1" fmla="*/ 0 h 1"/>
                <a:gd name="T2" fmla="*/ 4 w 4"/>
                <a:gd name="T3" fmla="*/ 0 h 1"/>
                <a:gd name="T4" fmla="*/ 0 w 4"/>
                <a:gd name="T5" fmla="*/ 1 h 1"/>
                <a:gd name="T6" fmla="*/ 4 w 4"/>
                <a:gd name="T7" fmla="*/ 0 h 1"/>
              </a:gdLst>
              <a:ahLst/>
              <a:cxnLst>
                <a:cxn ang="0">
                  <a:pos x="T0" y="T1"/>
                </a:cxn>
                <a:cxn ang="0">
                  <a:pos x="T2" y="T3"/>
                </a:cxn>
                <a:cxn ang="0">
                  <a:pos x="T4" y="T5"/>
                </a:cxn>
                <a:cxn ang="0">
                  <a:pos x="T6" y="T7"/>
                </a:cxn>
              </a:cxnLst>
              <a:rect l="0" t="0" r="r" b="b"/>
              <a:pathLst>
                <a:path w="4" h="1">
                  <a:moveTo>
                    <a:pt x="4" y="0"/>
                  </a:moveTo>
                  <a:lnTo>
                    <a:pt x="4" y="0"/>
                  </a:lnTo>
                  <a:cubicBezTo>
                    <a:pt x="3" y="0"/>
                    <a:pt x="2" y="1"/>
                    <a:pt x="0" y="1"/>
                  </a:cubicBezTo>
                  <a:cubicBezTo>
                    <a:pt x="2" y="1"/>
                    <a:pt x="3"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8" name="Freeform 127"/>
            <p:cNvSpPr>
              <a:spLocks/>
            </p:cNvSpPr>
            <p:nvPr/>
          </p:nvSpPr>
          <p:spPr bwMode="invGray">
            <a:xfrm>
              <a:off x="-3924300" y="2803525"/>
              <a:ext cx="188913" cy="3175"/>
            </a:xfrm>
            <a:custGeom>
              <a:avLst/>
              <a:gdLst>
                <a:gd name="T0" fmla="*/ 98 w 98"/>
                <a:gd name="T1" fmla="*/ 1 h 2"/>
                <a:gd name="T2" fmla="*/ 98 w 98"/>
                <a:gd name="T3" fmla="*/ 1 h 2"/>
                <a:gd name="T4" fmla="*/ 26 w 98"/>
                <a:gd name="T5" fmla="*/ 1 h 2"/>
                <a:gd name="T6" fmla="*/ 28 w 98"/>
                <a:gd name="T7" fmla="*/ 1 h 2"/>
                <a:gd name="T8" fmla="*/ 0 w 98"/>
                <a:gd name="T9" fmla="*/ 2 h 2"/>
                <a:gd name="T10" fmla="*/ 98 w 98"/>
                <a:gd name="T11" fmla="*/ 1 h 2"/>
              </a:gdLst>
              <a:ahLst/>
              <a:cxnLst>
                <a:cxn ang="0">
                  <a:pos x="T0" y="T1"/>
                </a:cxn>
                <a:cxn ang="0">
                  <a:pos x="T2" y="T3"/>
                </a:cxn>
                <a:cxn ang="0">
                  <a:pos x="T4" y="T5"/>
                </a:cxn>
                <a:cxn ang="0">
                  <a:pos x="T6" y="T7"/>
                </a:cxn>
                <a:cxn ang="0">
                  <a:pos x="T8" y="T9"/>
                </a:cxn>
                <a:cxn ang="0">
                  <a:pos x="T10" y="T11"/>
                </a:cxn>
              </a:cxnLst>
              <a:rect l="0" t="0" r="r" b="b"/>
              <a:pathLst>
                <a:path w="98" h="2">
                  <a:moveTo>
                    <a:pt x="98" y="1"/>
                  </a:moveTo>
                  <a:lnTo>
                    <a:pt x="98" y="1"/>
                  </a:lnTo>
                  <a:cubicBezTo>
                    <a:pt x="84" y="2"/>
                    <a:pt x="42" y="0"/>
                    <a:pt x="26" y="1"/>
                  </a:cubicBezTo>
                  <a:lnTo>
                    <a:pt x="28" y="1"/>
                  </a:lnTo>
                  <a:lnTo>
                    <a:pt x="0" y="2"/>
                  </a:lnTo>
                  <a:cubicBezTo>
                    <a:pt x="27" y="2"/>
                    <a:pt x="82" y="2"/>
                    <a:pt x="9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sp>
        <p:nvSpPr>
          <p:cNvPr id="3" name="Text Placeholder 2"/>
          <p:cNvSpPr>
            <a:spLocks noGrp="1"/>
          </p:cNvSpPr>
          <p:nvPr>
            <p:ph type="body" idx="1"/>
          </p:nvPr>
        </p:nvSpPr>
        <p:spPr>
          <a:xfrm>
            <a:off x="1522413" y="5102525"/>
            <a:ext cx="9143999" cy="1069675"/>
          </a:xfrm>
        </p:spPr>
        <p:txBody>
          <a:bodyPr anchor="t">
            <a:normAutofit/>
          </a:bodyPr>
          <a:lstStyle>
            <a:lvl1pPr marL="0" indent="0">
              <a:spcBef>
                <a:spcPts val="0"/>
              </a:spcBef>
              <a:buNone/>
              <a:defRPr sz="24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9AFE8FB1-0A7A-443E-AAF7-31D4FA1AA312}" type="datetimeFigureOut">
              <a:rPr lang="en-US"/>
              <a:t>3/3/2021</a:t>
            </a:fld>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4058797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lstStyle/>
          <a:p>
            <a:r>
              <a:rPr lang="en-US"/>
              <a:t>Click to edit Master title style</a:t>
            </a:r>
            <a:endParaRPr/>
          </a:p>
        </p:txBody>
      </p:sp>
      <p:grpSp>
        <p:nvGrpSpPr>
          <p:cNvPr id="158" name="line" descr="Line graphic"/>
          <p:cNvGrpSpPr/>
          <p:nvPr/>
        </p:nvGrpSpPr>
        <p:grpSpPr bwMode="invGray">
          <a:xfrm>
            <a:off x="1522413" y="1514475"/>
            <a:ext cx="10569575" cy="64008"/>
            <a:chOff x="1522413" y="1514475"/>
            <a:chExt cx="10569575" cy="64008"/>
          </a:xfrm>
        </p:grpSpPr>
        <p:sp>
          <p:nvSpPr>
            <p:cNvPr id="159"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0"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1"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Content Placeholder 2"/>
          <p:cNvSpPr>
            <a:spLocks noGrp="1"/>
          </p:cNvSpPr>
          <p:nvPr>
            <p:ph sz="half" idx="1"/>
          </p:nvPr>
        </p:nvSpPr>
        <p:spPr>
          <a:xfrm>
            <a:off x="1522413" y="1905000"/>
            <a:ext cx="4419599" cy="4267200"/>
          </a:xfrm>
        </p:spPr>
        <p:txBody>
          <a:bodyPr>
            <a:normAutofit/>
          </a:bodyPr>
          <a:lstStyle>
            <a:lvl1pPr>
              <a:defRPr sz="2400"/>
            </a:lvl1pPr>
            <a:lvl2pPr>
              <a:defRPr sz="2000"/>
            </a:lvl2pPr>
            <a:lvl3pPr>
              <a:defRPr sz="1800"/>
            </a:lvl3pPr>
            <a:lvl4pPr>
              <a:defRPr sz="1600"/>
            </a:lvl4pPr>
            <a:lvl5pPr>
              <a:defRPr sz="1600"/>
            </a:lvl5pPr>
            <a:lvl6pPr marL="1956816">
              <a:defRPr sz="1600"/>
            </a:lvl6pPr>
            <a:lvl7pPr marL="1956816">
              <a:defRPr sz="1600" baseline="0"/>
            </a:lvl7pPr>
            <a:lvl8pPr marL="1956816">
              <a:defRPr sz="1600" baseline="0"/>
            </a:lvl8pPr>
            <a:lvl9pPr marL="1956816">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246815" y="1905000"/>
            <a:ext cx="4419598" cy="4267200"/>
          </a:xfrm>
        </p:spPr>
        <p:txBody>
          <a:bodyPr>
            <a:normAutofit/>
          </a:bodyPr>
          <a:lstStyle>
            <a:lvl1pPr>
              <a:defRPr sz="2400"/>
            </a:lvl1pPr>
            <a:lvl2pPr>
              <a:defRPr sz="2000"/>
            </a:lvl2pPr>
            <a:lvl3pPr>
              <a:defRPr sz="1800"/>
            </a:lvl3pPr>
            <a:lvl4pPr>
              <a:defRPr sz="1600"/>
            </a:lvl4pPr>
            <a:lvl5pPr>
              <a:defRPr sz="1600"/>
            </a:lvl5pPr>
            <a:lvl6pPr marL="1956816">
              <a:defRPr sz="1600"/>
            </a:lvl6pPr>
            <a:lvl7pPr marL="1956816">
              <a:defRPr sz="1600"/>
            </a:lvl7pPr>
            <a:lvl8pPr marL="1956816">
              <a:defRPr sz="1600" baseline="0"/>
            </a:lvl8pPr>
            <a:lvl9pPr marL="1956816">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9AFE8FB1-0A7A-443E-AAF7-31D4FA1AA312}" type="datetimeFigureOut">
              <a:rPr lang="en-US"/>
              <a:t>3/3/2021</a:t>
            </a:fld>
            <a:endParaRPr/>
          </a:p>
        </p:txBody>
      </p:sp>
      <p:sp>
        <p:nvSpPr>
          <p:cNvPr id="7" name="Slide Number Placeholder 6"/>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1683294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lstStyle>
            <a:lvl1pPr>
              <a:defRPr/>
            </a:lvl1pPr>
          </a:lstStyle>
          <a:p>
            <a:r>
              <a:rPr lang="en-US"/>
              <a:t>Click to edit Master title style</a:t>
            </a:r>
            <a:endParaRPr/>
          </a:p>
        </p:txBody>
      </p:sp>
      <p:grpSp>
        <p:nvGrpSpPr>
          <p:cNvPr id="160" name="line" descr="Line graphic"/>
          <p:cNvGrpSpPr/>
          <p:nvPr/>
        </p:nvGrpSpPr>
        <p:grpSpPr bwMode="invGray">
          <a:xfrm>
            <a:off x="1522413" y="1514475"/>
            <a:ext cx="10569575" cy="64008"/>
            <a:chOff x="1522413" y="1514475"/>
            <a:chExt cx="10569575" cy="64008"/>
          </a:xfrm>
        </p:grpSpPr>
        <p:sp>
          <p:nvSpPr>
            <p:cNvPr id="161" name="Freeform 16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6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6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3"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4"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Text Placeholder 2"/>
          <p:cNvSpPr>
            <a:spLocks noGrp="1"/>
          </p:cNvSpPr>
          <p:nvPr>
            <p:ph type="body" idx="1"/>
          </p:nvPr>
        </p:nvSpPr>
        <p:spPr>
          <a:xfrm>
            <a:off x="1522413" y="1905000"/>
            <a:ext cx="4416552" cy="762000"/>
          </a:xfrm>
        </p:spPr>
        <p:txBody>
          <a:bodyPr anchor="ct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22413" y="2819399"/>
            <a:ext cx="4416552" cy="3352801"/>
          </a:xfrm>
        </p:spPr>
        <p:txBody>
          <a:bodyPr/>
          <a:lstStyle>
            <a:lvl1pPr>
              <a:defRPr sz="2400"/>
            </a:lvl1pPr>
            <a:lvl2pPr>
              <a:defRPr sz="2000"/>
            </a:lvl2pPr>
            <a:lvl3pPr>
              <a:defRPr sz="1800"/>
            </a:lvl3pPr>
            <a:lvl4pPr>
              <a:defRPr sz="1600"/>
            </a:lvl4pPr>
            <a:lvl5pPr>
              <a:defRPr sz="1600"/>
            </a:lvl5pPr>
            <a:lvl6pPr marL="1956816">
              <a:defRPr sz="1600"/>
            </a:lvl6pPr>
            <a:lvl7pPr marL="1956816">
              <a:defRPr sz="1600" baseline="0"/>
            </a:lvl7pPr>
            <a:lvl8pPr marL="1956816">
              <a:defRPr sz="1600" baseline="0"/>
            </a:lvl8pPr>
            <a:lvl9pPr marL="1956816">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249860" y="1905000"/>
            <a:ext cx="4416552" cy="762000"/>
          </a:xfrm>
        </p:spPr>
        <p:txBody>
          <a:bodyPr anchor="ct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49860" y="2819399"/>
            <a:ext cx="4416552" cy="3352801"/>
          </a:xfrm>
        </p:spPr>
        <p:txBody>
          <a:bodyPr/>
          <a:lstStyle>
            <a:lvl1pPr>
              <a:defRPr sz="2400"/>
            </a:lvl1pPr>
            <a:lvl2pPr>
              <a:defRPr sz="2000"/>
            </a:lvl2pPr>
            <a:lvl3pPr>
              <a:defRPr sz="1800"/>
            </a:lvl3pPr>
            <a:lvl4pPr>
              <a:defRPr sz="1600"/>
            </a:lvl4pPr>
            <a:lvl5pPr marL="1956816">
              <a:defRPr sz="1600"/>
            </a:lvl5pPr>
            <a:lvl6pPr marL="1956816">
              <a:defRPr sz="1600"/>
            </a:lvl6pPr>
            <a:lvl7pPr marL="1956816">
              <a:defRPr sz="1600"/>
            </a:lvl7pPr>
            <a:lvl8pPr marL="1956816">
              <a:defRPr sz="1600"/>
            </a:lvl8pPr>
            <a:lvl9pPr marL="1956816">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endParaRPr/>
          </a:p>
        </p:txBody>
      </p:sp>
      <p:sp>
        <p:nvSpPr>
          <p:cNvPr id="7" name="Date Placeholder 6"/>
          <p:cNvSpPr>
            <a:spLocks noGrp="1"/>
          </p:cNvSpPr>
          <p:nvPr>
            <p:ph type="dt" sz="half" idx="10"/>
          </p:nvPr>
        </p:nvSpPr>
        <p:spPr/>
        <p:txBody>
          <a:bodyPr/>
          <a:lstStyle/>
          <a:p>
            <a:fld id="{9AFE8FB1-0A7A-443E-AAF7-31D4FA1AA312}" type="datetimeFigureOut">
              <a:rPr lang="en-US"/>
              <a:t>3/3/2021</a:t>
            </a:fld>
            <a:endParaRPr/>
          </a:p>
        </p:txBody>
      </p:sp>
      <p:sp>
        <p:nvSpPr>
          <p:cNvPr id="9" name="Slide Number Placeholder 8"/>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4182491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grpSp>
        <p:nvGrpSpPr>
          <p:cNvPr id="156" name="line" descr="Line graphic"/>
          <p:cNvGrpSpPr/>
          <p:nvPr/>
        </p:nvGrpSpPr>
        <p:grpSpPr bwMode="invGray">
          <a:xfrm>
            <a:off x="1522413" y="1514475"/>
            <a:ext cx="10569575" cy="64008"/>
            <a:chOff x="1522413" y="1514475"/>
            <a:chExt cx="10569575" cy="64008"/>
          </a:xfrm>
        </p:grpSpPr>
        <p:sp>
          <p:nvSpPr>
            <p:cNvPr id="157"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8"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9"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0"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1"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4" name="Footer Placeholder 3"/>
          <p:cNvSpPr>
            <a:spLocks noGrp="1"/>
          </p:cNvSpPr>
          <p:nvPr>
            <p:ph type="ftr" sz="quarter" idx="11"/>
          </p:nvPr>
        </p:nvSpPr>
        <p:spPr/>
        <p:txBody>
          <a:bodyPr/>
          <a:lstStyle/>
          <a:p>
            <a:endParaRPr/>
          </a:p>
        </p:txBody>
      </p:sp>
      <p:sp>
        <p:nvSpPr>
          <p:cNvPr id="3" name="Date Placeholder 2"/>
          <p:cNvSpPr>
            <a:spLocks noGrp="1"/>
          </p:cNvSpPr>
          <p:nvPr>
            <p:ph type="dt" sz="half" idx="10"/>
          </p:nvPr>
        </p:nvSpPr>
        <p:spPr/>
        <p:txBody>
          <a:bodyPr/>
          <a:lstStyle/>
          <a:p>
            <a:fld id="{9AFE8FB1-0A7A-443E-AAF7-31D4FA1AA312}" type="datetimeFigureOut">
              <a:rPr lang="en-US"/>
              <a:t>3/3/2021</a:t>
            </a:fld>
            <a:endParaRPr/>
          </a:p>
        </p:txBody>
      </p:sp>
      <p:sp>
        <p:nvSpPr>
          <p:cNvPr id="5" name="Slide Number Placeholder 4"/>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2531561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a:p>
        </p:txBody>
      </p:sp>
      <p:sp>
        <p:nvSpPr>
          <p:cNvPr id="2" name="Date Placeholder 1"/>
          <p:cNvSpPr>
            <a:spLocks noGrp="1"/>
          </p:cNvSpPr>
          <p:nvPr>
            <p:ph type="dt" sz="half" idx="10"/>
          </p:nvPr>
        </p:nvSpPr>
        <p:spPr/>
        <p:txBody>
          <a:bodyPr/>
          <a:lstStyle/>
          <a:p>
            <a:fld id="{9AFE8FB1-0A7A-443E-AAF7-31D4FA1AA312}" type="datetimeFigureOut">
              <a:rPr lang="en-US"/>
              <a:t>3/3/2021</a:t>
            </a:fld>
            <a:endParaRPr/>
          </a:p>
        </p:txBody>
      </p:sp>
      <p:sp>
        <p:nvSpPr>
          <p:cNvPr id="4" name="Slide Number Placeholder 3"/>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1405966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nchor="b">
            <a:noAutofit/>
          </a:bodyPr>
          <a:lstStyle>
            <a:lvl1pPr algn="l">
              <a:defRPr sz="3200" b="0"/>
            </a:lvl1pPr>
          </a:lstStyle>
          <a:p>
            <a:r>
              <a:rPr lang="en-US"/>
              <a:t>Click to edit Master title style</a:t>
            </a:r>
            <a:endParaRPr/>
          </a:p>
        </p:txBody>
      </p:sp>
      <p:sp>
        <p:nvSpPr>
          <p:cNvPr id="4" name="Text Placeholder 3"/>
          <p:cNvSpPr>
            <a:spLocks noGrp="1"/>
          </p:cNvSpPr>
          <p:nvPr>
            <p:ph type="body" sz="half" idx="2"/>
          </p:nvPr>
        </p:nvSpPr>
        <p:spPr>
          <a:xfrm>
            <a:off x="1522413" y="3429000"/>
            <a:ext cx="2743200" cy="2743200"/>
          </a:xfrm>
        </p:spPr>
        <p:txBody>
          <a:bodyPr anchor="b">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Content Placeholder 2"/>
          <p:cNvSpPr>
            <a:spLocks noGrp="1"/>
          </p:cNvSpPr>
          <p:nvPr>
            <p:ph idx="1"/>
          </p:nvPr>
        </p:nvSpPr>
        <p:spPr>
          <a:xfrm>
            <a:off x="4710022" y="1905000"/>
            <a:ext cx="5669280" cy="4038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baseline="0"/>
            </a:lvl7pPr>
            <a:lvl8pPr>
              <a:defRPr sz="1600" baseline="0"/>
            </a:lvl8pPr>
            <a:lvl9pPr>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grpSp>
        <p:nvGrpSpPr>
          <p:cNvPr id="615" name="frame" descr="Box graphic"/>
          <p:cNvGrpSpPr/>
          <p:nvPr/>
        </p:nvGrpSpPr>
        <p:grpSpPr bwMode="invGray">
          <a:xfrm>
            <a:off x="4417839" y="1630821"/>
            <a:ext cx="6291028" cy="4575885"/>
            <a:chOff x="4417839" y="1630821"/>
            <a:chExt cx="6291028" cy="4575885"/>
          </a:xfrm>
        </p:grpSpPr>
        <p:grpSp>
          <p:nvGrpSpPr>
            <p:cNvPr id="616" name="Group 615"/>
            <p:cNvGrpSpPr/>
            <p:nvPr/>
          </p:nvGrpSpPr>
          <p:grpSpPr bwMode="invGray">
            <a:xfrm>
              <a:off x="5414491" y="1630821"/>
              <a:ext cx="5294376" cy="4114800"/>
              <a:chOff x="3310555" y="716546"/>
              <a:chExt cx="5294376" cy="4114800"/>
            </a:xfrm>
          </p:grpSpPr>
          <p:grpSp>
            <p:nvGrpSpPr>
              <p:cNvPr id="768" name="Group 767"/>
              <p:cNvGrpSpPr/>
              <p:nvPr/>
            </p:nvGrpSpPr>
            <p:grpSpPr bwMode="invGray">
              <a:xfrm flipH="1">
                <a:off x="3310555" y="737968"/>
                <a:ext cx="5294376" cy="54864"/>
                <a:chOff x="1522413" y="1514475"/>
                <a:chExt cx="10569575" cy="64008"/>
              </a:xfrm>
              <a:solidFill>
                <a:schemeClr val="accent1"/>
              </a:solidFill>
            </p:grpSpPr>
            <p:sp>
              <p:nvSpPr>
                <p:cNvPr id="844" name="Freeform 843"/>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5" name="Freeform 844"/>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6" name="Freeform 845"/>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7"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8"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9"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0"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1"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2"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3"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4"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5"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6"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7"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8"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9"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0"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1"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2"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3"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4"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5"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6"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7"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8"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9"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0"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1"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2"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3"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4"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5"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6"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7"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8"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9"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0"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1"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2"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3"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4"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5"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6"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7"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8"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9"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0"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1"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2"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3"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4"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5"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6"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7"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8"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9"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0"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1"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2"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3"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4"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5"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6"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7"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8"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9"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0"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1"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2"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3"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4"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5"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6"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7"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769" name="Group 768"/>
              <p:cNvGrpSpPr/>
              <p:nvPr/>
            </p:nvGrpSpPr>
            <p:grpSpPr bwMode="invGray">
              <a:xfrm rot="16200000" flipH="1">
                <a:off x="6492229" y="2755658"/>
                <a:ext cx="4114800" cy="36576"/>
                <a:chOff x="1522413" y="1514475"/>
                <a:chExt cx="10569575" cy="64008"/>
              </a:xfrm>
              <a:solidFill>
                <a:schemeClr val="accent1"/>
              </a:solidFill>
            </p:grpSpPr>
            <p:sp>
              <p:nvSpPr>
                <p:cNvPr id="770" name="Freeform 769"/>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1" name="Freeform 770"/>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2" name="Freeform 771"/>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3"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4"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5"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6"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7"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8"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9"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0"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1"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2"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3"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4"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5"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6"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7"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8"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9"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0"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1"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2"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3"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4"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5"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6"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7"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8"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9"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0"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1"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2"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3"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4"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5"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6"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7"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8"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9"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0"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1"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2"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3"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4"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5"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6"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7"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8"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9"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0"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1"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2"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3"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4"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5"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6"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7"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8"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9"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0"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1"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2"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3"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4"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5"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6"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7"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8"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9"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0"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1"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2"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3"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nvGrpSpPr>
            <p:cNvPr id="617" name="Group 616"/>
            <p:cNvGrpSpPr/>
            <p:nvPr/>
          </p:nvGrpSpPr>
          <p:grpSpPr bwMode="invGray">
            <a:xfrm rot="10800000">
              <a:off x="4417839" y="2091906"/>
              <a:ext cx="5294376" cy="4114800"/>
              <a:chOff x="3310555" y="716546"/>
              <a:chExt cx="5294376" cy="4114800"/>
            </a:xfrm>
          </p:grpSpPr>
          <p:grpSp>
            <p:nvGrpSpPr>
              <p:cNvPr id="618" name="Group 617"/>
              <p:cNvGrpSpPr/>
              <p:nvPr/>
            </p:nvGrpSpPr>
            <p:grpSpPr bwMode="invGray">
              <a:xfrm flipH="1">
                <a:off x="3310555" y="737968"/>
                <a:ext cx="5294376" cy="54864"/>
                <a:chOff x="1522413" y="1514475"/>
                <a:chExt cx="10569575" cy="64008"/>
              </a:xfrm>
              <a:solidFill>
                <a:schemeClr val="accent1"/>
              </a:solidFill>
            </p:grpSpPr>
            <p:sp>
              <p:nvSpPr>
                <p:cNvPr id="694" name="Freeform 693"/>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5" name="Freeform 694"/>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6" name="Freeform 695"/>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7"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8"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9"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0"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1"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2"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3"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4"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5"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6"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7"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8"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9"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0"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1"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2"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3"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4"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5"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6"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7"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8"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9"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0"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1"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2"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3"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4"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5"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6"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7"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8"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9"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0"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1"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2"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3"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4"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5"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6"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7"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8"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9"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0"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1"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2"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3"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4"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5"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6"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7"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8"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9"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0"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1"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2"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3"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4"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5"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6"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7"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8"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9"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0"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1"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2"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3"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4"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5"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6"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7"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619" name="Group 618"/>
              <p:cNvGrpSpPr/>
              <p:nvPr/>
            </p:nvGrpSpPr>
            <p:grpSpPr bwMode="invGray">
              <a:xfrm rot="16200000" flipH="1">
                <a:off x="6492229" y="2755658"/>
                <a:ext cx="4114800" cy="36576"/>
                <a:chOff x="1522413" y="1514475"/>
                <a:chExt cx="10569575" cy="64008"/>
              </a:xfrm>
              <a:solidFill>
                <a:schemeClr val="accent1"/>
              </a:solidFill>
            </p:grpSpPr>
            <p:sp>
              <p:nvSpPr>
                <p:cNvPr id="620" name="Freeform 619"/>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1" name="Freeform 620"/>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2" name="Freeform 621"/>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3"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4"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5"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6"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7"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8"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9"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0"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1"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2"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3"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4"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5"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6"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7"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8"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9"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0"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1"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2"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3"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4"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5"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6"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7"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8"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9"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0"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1"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2"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3"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4"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5"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6"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7"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8"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9"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0"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1"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2"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3"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4"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5"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6"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7"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8"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9"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0"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1"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2"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3"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4"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5"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6"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7"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8"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9"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0"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1"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2"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3"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4"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5"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6"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7"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8"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9"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0"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1"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2"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3"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9AFE8FB1-0A7A-443E-AAF7-31D4FA1AA312}" type="datetimeFigureOut">
              <a:rPr lang="en-US"/>
              <a:t>3/3/2021</a:t>
            </a:fld>
            <a:endParaRPr/>
          </a:p>
        </p:txBody>
      </p:sp>
      <p:sp>
        <p:nvSpPr>
          <p:cNvPr id="7" name="Slide Number Placeholder 6"/>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962116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nchor="b">
            <a:noAutofit/>
          </a:bodyPr>
          <a:lstStyle>
            <a:lvl1pPr algn="l">
              <a:defRPr sz="3200" b="0"/>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1745838" y="1884311"/>
            <a:ext cx="5669280" cy="4041648"/>
          </a:xfrm>
          <a:solidFill>
            <a:schemeClr val="bg1"/>
          </a:solidFill>
        </p:spPr>
        <p:txBody>
          <a:bodyPr tIns="9144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grpSp>
        <p:nvGrpSpPr>
          <p:cNvPr id="614" name="frame" descr="Box graphic"/>
          <p:cNvGrpSpPr/>
          <p:nvPr/>
        </p:nvGrpSpPr>
        <p:grpSpPr bwMode="invGray">
          <a:xfrm flipH="1">
            <a:off x="1447500" y="1630821"/>
            <a:ext cx="6291028" cy="4575885"/>
            <a:chOff x="4417839" y="1630821"/>
            <a:chExt cx="6291028" cy="4575885"/>
          </a:xfrm>
        </p:grpSpPr>
        <p:grpSp>
          <p:nvGrpSpPr>
            <p:cNvPr id="615" name="Group 614"/>
            <p:cNvGrpSpPr/>
            <p:nvPr/>
          </p:nvGrpSpPr>
          <p:grpSpPr bwMode="invGray">
            <a:xfrm>
              <a:off x="5414491" y="1630821"/>
              <a:ext cx="5294376" cy="4114800"/>
              <a:chOff x="3310555" y="716546"/>
              <a:chExt cx="5294376" cy="4114800"/>
            </a:xfrm>
          </p:grpSpPr>
          <p:grpSp>
            <p:nvGrpSpPr>
              <p:cNvPr id="767" name="Group 766"/>
              <p:cNvGrpSpPr/>
              <p:nvPr/>
            </p:nvGrpSpPr>
            <p:grpSpPr bwMode="invGray">
              <a:xfrm flipH="1">
                <a:off x="3310555" y="737968"/>
                <a:ext cx="5294376" cy="54864"/>
                <a:chOff x="1522413" y="1514475"/>
                <a:chExt cx="10569575" cy="64008"/>
              </a:xfrm>
              <a:solidFill>
                <a:schemeClr val="accent1"/>
              </a:solidFill>
            </p:grpSpPr>
            <p:sp>
              <p:nvSpPr>
                <p:cNvPr id="843" name="Freeform 842"/>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4" name="Freeform 843"/>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5" name="Freeform 844"/>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6"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7"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8"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9"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0"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1"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2"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3"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4"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5"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6"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7"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8"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9"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0"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1"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2"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3"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4"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5"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6"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7"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8"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9"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0"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1"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2"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3"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4"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5"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6"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7"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8"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9"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0"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1"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2"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3"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4"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5"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6"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7"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8"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9"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0"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1"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2"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3"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4"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5"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6"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7"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8"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9"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0"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1"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2"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3"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4"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5"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6"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7"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8"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9"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0"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1"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2"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3"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4"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5"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6"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768" name="Group 767"/>
              <p:cNvGrpSpPr/>
              <p:nvPr/>
            </p:nvGrpSpPr>
            <p:grpSpPr bwMode="invGray">
              <a:xfrm rot="16200000" flipH="1">
                <a:off x="6492229" y="2755658"/>
                <a:ext cx="4114800" cy="36576"/>
                <a:chOff x="1522413" y="1514475"/>
                <a:chExt cx="10569575" cy="64008"/>
              </a:xfrm>
              <a:solidFill>
                <a:schemeClr val="accent1"/>
              </a:solidFill>
            </p:grpSpPr>
            <p:sp>
              <p:nvSpPr>
                <p:cNvPr id="769" name="Freeform 768"/>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0" name="Freeform 769"/>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1" name="Freeform 770"/>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2"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3"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4"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5"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6"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7"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8"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9"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0"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1"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2"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3"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4"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5"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6"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7"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8"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9"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0"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1"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2"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3"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4"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5"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6"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7"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8"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9"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0"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1"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2"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3"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4"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5"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6"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7"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8"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9"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0"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1"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2"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3"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4"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5"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6"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7"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8"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9"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0"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1"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2"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3"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4"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5"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6"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7"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8"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9"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0"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1"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2"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3"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4"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5"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6"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7"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8"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9"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0"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1"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2"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nvGrpSpPr>
            <p:cNvPr id="616" name="Group 615"/>
            <p:cNvGrpSpPr/>
            <p:nvPr/>
          </p:nvGrpSpPr>
          <p:grpSpPr bwMode="invGray">
            <a:xfrm rot="10800000">
              <a:off x="4417839" y="2091906"/>
              <a:ext cx="5294376" cy="4114800"/>
              <a:chOff x="3310555" y="716546"/>
              <a:chExt cx="5294376" cy="4114800"/>
            </a:xfrm>
          </p:grpSpPr>
          <p:grpSp>
            <p:nvGrpSpPr>
              <p:cNvPr id="617" name="Group 616"/>
              <p:cNvGrpSpPr/>
              <p:nvPr/>
            </p:nvGrpSpPr>
            <p:grpSpPr bwMode="invGray">
              <a:xfrm flipH="1">
                <a:off x="3310555" y="737968"/>
                <a:ext cx="5294376" cy="54864"/>
                <a:chOff x="1522413" y="1514475"/>
                <a:chExt cx="10569575" cy="64008"/>
              </a:xfrm>
              <a:solidFill>
                <a:schemeClr val="accent1"/>
              </a:solidFill>
            </p:grpSpPr>
            <p:sp>
              <p:nvSpPr>
                <p:cNvPr id="693" name="Freeform 692"/>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4" name="Freeform 693"/>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5" name="Freeform 694"/>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6"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7"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8"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9"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0"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1"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2"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3"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4"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5"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6"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7"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8"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9"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0"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1"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2"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3"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4"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5"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6"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7"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8"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9"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0"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1"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2"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3"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4"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5"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6"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7"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8"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9"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0"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1"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2"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3"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4"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5"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6"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7"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8"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9"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0"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1"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2"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3"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4"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5"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6"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7"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8"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9"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0"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1"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2"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3"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4"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5"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6"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7"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8"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9"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0"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1"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2"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3"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4"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5"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6"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618" name="Group 617"/>
              <p:cNvGrpSpPr/>
              <p:nvPr/>
            </p:nvGrpSpPr>
            <p:grpSpPr bwMode="invGray">
              <a:xfrm rot="16200000" flipH="1">
                <a:off x="6492229" y="2755658"/>
                <a:ext cx="4114800" cy="36576"/>
                <a:chOff x="1522413" y="1514475"/>
                <a:chExt cx="10569575" cy="64008"/>
              </a:xfrm>
              <a:solidFill>
                <a:schemeClr val="accent1"/>
              </a:solidFill>
            </p:grpSpPr>
            <p:sp>
              <p:nvSpPr>
                <p:cNvPr id="619" name="Freeform 618"/>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0" name="Freeform 619"/>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1" name="Freeform 620"/>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2" name="Freeform 621"/>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3" name="Freeform 622"/>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4" name="Freeform 623"/>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5" name="Freeform 624"/>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6" name="Freeform 625"/>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7" name="Freeform 626"/>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8" name="Freeform 627"/>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9" name="Freeform 628"/>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0" name="Freeform 629"/>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1" name="Freeform 630"/>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2" name="Freeform 631"/>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3" name="Freeform 632"/>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4" name="Freeform 633"/>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5" name="Freeform 634"/>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6" name="Freeform 635"/>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7" name="Freeform 636"/>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8" name="Freeform 637"/>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9" name="Freeform 638"/>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0" name="Freeform 639"/>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1" name="Freeform 640"/>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2" name="Freeform 641"/>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3" name="Freeform 642"/>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4" name="Freeform 643"/>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5" name="Freeform 644"/>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6" name="Freeform 645"/>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7" name="Freeform 646"/>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8" name="Freeform 647"/>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9" name="Freeform 648"/>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0" name="Freeform 649"/>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1" name="Freeform 650"/>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2" name="Freeform 651"/>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3" name="Freeform 652"/>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4" name="Freeform 653"/>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5" name="Freeform 654"/>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6" name="Freeform 655"/>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7" name="Freeform 656"/>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8" name="Freeform 657"/>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9" name="Freeform 658"/>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0" name="Freeform 659"/>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1" name="Freeform 660"/>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2" name="Freeform 661"/>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3" name="Freeform 662"/>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4" name="Freeform 663"/>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5" name="Freeform 664"/>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6" name="Freeform 665"/>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7" name="Freeform 666"/>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8" name="Freeform 667"/>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9" name="Freeform 668"/>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0" name="Freeform 669"/>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1" name="Freeform 670"/>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2" name="Freeform 671"/>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3" name="Freeform 672"/>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4" name="Freeform 673"/>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5" name="Freeform 674"/>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6" name="Freeform 675"/>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7" name="Freeform 676"/>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8" name="Freeform 677"/>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9" name="Freeform 678"/>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0" name="Freeform 679"/>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1" name="Freeform 680"/>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2" name="Freeform 681"/>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3" name="Freeform 682"/>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4" name="Freeform 683"/>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5" name="Freeform 684"/>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6" name="Freeform 685"/>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7" name="Freeform 686"/>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8" name="Freeform 687"/>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9" name="Freeform 688"/>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0" name="Freeform 689"/>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1" name="Freeform 690"/>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2" name="Freeform 691"/>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sp>
        <p:nvSpPr>
          <p:cNvPr id="4" name="Text Placeholder 3"/>
          <p:cNvSpPr>
            <a:spLocks noGrp="1"/>
          </p:cNvSpPr>
          <p:nvPr>
            <p:ph type="body" sz="half" idx="2"/>
          </p:nvPr>
        </p:nvSpPr>
        <p:spPr>
          <a:xfrm>
            <a:off x="7905959" y="3411748"/>
            <a:ext cx="2743200" cy="2743200"/>
          </a:xfrm>
        </p:spPr>
        <p:txBody>
          <a:bodyPr anchor="b">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9AFE8FB1-0A7A-443E-AAF7-31D4FA1AA312}" type="datetimeFigureOut">
              <a:rPr lang="en-US"/>
              <a:t>3/3/2021</a:t>
            </a:fld>
            <a:endParaRPr/>
          </a:p>
        </p:txBody>
      </p:sp>
      <p:sp>
        <p:nvSpPr>
          <p:cNvPr id="7" name="Slide Number Placeholder 6"/>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3617694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grpSp>
        <p:nvGrpSpPr>
          <p:cNvPr id="7" name="line" descr="Line graphic"/>
          <p:cNvGrpSpPr/>
          <p:nvPr/>
        </p:nvGrpSpPr>
        <p:grpSpPr bwMode="invGray">
          <a:xfrm>
            <a:off x="1522413" y="1514475"/>
            <a:ext cx="10569575" cy="64008"/>
            <a:chOff x="1522413" y="1514475"/>
            <a:chExt cx="10569575" cy="64008"/>
          </a:xfrm>
        </p:grpSpPr>
        <p:sp>
          <p:nvSpPr>
            <p:cNvPr id="8" name="Freeform 7"/>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 name="Freeform 8"/>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0" name="Freeform 9"/>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Vertical Text Placeholder 2"/>
          <p:cNvSpPr>
            <a:spLocks noGrp="1"/>
          </p:cNvSpPr>
          <p:nvPr>
            <p:ph type="body" orient="vert" idx="1"/>
          </p:nvPr>
        </p:nvSpPr>
        <p:spPr/>
        <p:txBody>
          <a:bodyPr vert="eaVert"/>
          <a:lstStyle>
            <a:lvl5pPr>
              <a:defRPr/>
            </a:lvl5pPr>
            <a:lvl6pPr marL="1956816">
              <a:defRPr/>
            </a:lvl6pPr>
            <a:lvl7pPr marL="1956816">
              <a:defRPr/>
            </a:lvl7pPr>
            <a:lvl8pPr marL="1956816">
              <a:defRPr/>
            </a:lvl8pPr>
            <a:lvl9pPr marL="1956816">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9AFE8FB1-0A7A-443E-AAF7-31D4FA1AA312}" type="datetimeFigureOut">
              <a:rPr lang="en-US"/>
              <a:t>3/3/2021</a:t>
            </a:fld>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2126793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361612" y="274639"/>
            <a:ext cx="1371600" cy="5901747"/>
          </a:xfrm>
        </p:spPr>
        <p:txBody>
          <a:bodyPr vert="eaVert"/>
          <a:lstStyle/>
          <a:p>
            <a:r>
              <a:rPr lang="en-US"/>
              <a:t>Click to edit Master title style</a:t>
            </a:r>
            <a:endParaRPr/>
          </a:p>
        </p:txBody>
      </p:sp>
      <p:grpSp>
        <p:nvGrpSpPr>
          <p:cNvPr id="7" name="line" descr="Line graphic"/>
          <p:cNvGrpSpPr/>
          <p:nvPr/>
        </p:nvGrpSpPr>
        <p:grpSpPr bwMode="invGray">
          <a:xfrm rot="5400000">
            <a:off x="6864412" y="3472598"/>
            <a:ext cx="6492240" cy="64008"/>
            <a:chOff x="1522413" y="1514475"/>
            <a:chExt cx="10569575" cy="64008"/>
          </a:xfrm>
        </p:grpSpPr>
        <p:sp>
          <p:nvSpPr>
            <p:cNvPr id="8"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0"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Vertical Text Placeholder 2"/>
          <p:cNvSpPr>
            <a:spLocks noGrp="1"/>
          </p:cNvSpPr>
          <p:nvPr>
            <p:ph type="body" orient="vert" idx="1" hasCustomPrompt="1"/>
          </p:nvPr>
        </p:nvSpPr>
        <p:spPr>
          <a:xfrm>
            <a:off x="608012" y="277813"/>
            <a:ext cx="9144001" cy="5898573"/>
          </a:xfrm>
        </p:spPr>
        <p:txBody>
          <a:bodyPr vert="eaVert"/>
          <a:lstStyle>
            <a:lvl5pPr>
              <a:defRPr/>
            </a:lvl5pPr>
            <a:lvl6pPr marL="1261872" indent="0">
              <a:buNone/>
              <a:defRPr/>
            </a:lvl6pPr>
            <a:lvl7pPr>
              <a:defRPr/>
            </a:lvl7pPr>
            <a:lvl8pPr>
              <a:defRPr baseline="0"/>
            </a:lvl8pPr>
            <a:lvl9pPr>
              <a:defRPr baseline="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endParaRPr lang="en-US" dirty="0"/>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9AFE8FB1-0A7A-443E-AAF7-31D4FA1AA312}" type="datetimeFigureOut">
              <a:rPr lang="en-US"/>
              <a:t>3/3/2021</a:t>
            </a:fld>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2211791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2414" y="274638"/>
            <a:ext cx="9143998" cy="1020762"/>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522414" y="1905000"/>
            <a:ext cx="9144000" cy="4267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1522413" y="6400801"/>
            <a:ext cx="6324599" cy="276226"/>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4" name="Date Placeholder 3"/>
          <p:cNvSpPr>
            <a:spLocks noGrp="1"/>
          </p:cNvSpPr>
          <p:nvPr>
            <p:ph type="dt" sz="half" idx="2"/>
          </p:nvPr>
        </p:nvSpPr>
        <p:spPr>
          <a:xfrm>
            <a:off x="8075612" y="6400801"/>
            <a:ext cx="1243859" cy="276226"/>
          </a:xfrm>
          <a:prstGeom prst="rect">
            <a:avLst/>
          </a:prstGeom>
        </p:spPr>
        <p:txBody>
          <a:bodyPr vert="horz" lIns="91440" tIns="45720" rIns="91440" bIns="45720" rtlCol="0" anchor="ctr"/>
          <a:lstStyle>
            <a:lvl1pPr algn="r">
              <a:defRPr sz="1200">
                <a:solidFill>
                  <a:schemeClr val="tx1">
                    <a:tint val="75000"/>
                  </a:schemeClr>
                </a:solidFill>
              </a:defRPr>
            </a:lvl1pPr>
          </a:lstStyle>
          <a:p>
            <a:fld id="{9AFE8FB1-0A7A-443E-AAF7-31D4FA1AA312}" type="datetimeFigureOut">
              <a:rPr lang="en-US" smtClean="0"/>
              <a:pPr/>
              <a:t>3/3/2021</a:t>
            </a:fld>
            <a:endParaRPr lang="en-US" dirty="0"/>
          </a:p>
        </p:txBody>
      </p:sp>
      <p:sp>
        <p:nvSpPr>
          <p:cNvPr id="6" name="Slide Number Placeholder 5"/>
          <p:cNvSpPr>
            <a:spLocks noGrp="1"/>
          </p:cNvSpPr>
          <p:nvPr>
            <p:ph type="sldNum" sz="quarter" idx="4"/>
          </p:nvPr>
        </p:nvSpPr>
        <p:spPr>
          <a:xfrm>
            <a:off x="9523412" y="6400801"/>
            <a:ext cx="1143002" cy="276226"/>
          </a:xfrm>
          <a:prstGeom prst="rect">
            <a:avLst/>
          </a:prstGeom>
        </p:spPr>
        <p:txBody>
          <a:bodyPr vert="horz" lIns="91440" tIns="45720" rIns="91440" bIns="45720" rtlCol="0" anchor="ctr"/>
          <a:lstStyle>
            <a:lvl1pPr algn="r">
              <a:defRPr sz="1200">
                <a:solidFill>
                  <a:schemeClr val="tx1">
                    <a:tint val="75000"/>
                  </a:schemeClr>
                </a:solidFill>
              </a:defRPr>
            </a:lvl1pPr>
          </a:lstStyle>
          <a:p>
            <a:fld id="{25BA54BD-C84D-46CE-8B72-31BFB26ABA43}" type="slidenum">
              <a:rPr lang="en-US" smtClean="0"/>
              <a:pPr/>
              <a:t>‹#›</a:t>
            </a:fld>
            <a:endParaRPr lang="en-US"/>
          </a:p>
        </p:txBody>
      </p:sp>
    </p:spTree>
    <p:extLst>
      <p:ext uri="{BB962C8B-B14F-4D97-AF65-F5344CB8AC3E}">
        <p14:creationId xmlns:p14="http://schemas.microsoft.com/office/powerpoint/2010/main" val="53563648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76072"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804672"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332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618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904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6pPr>
      <a:lvl7pPr marL="17190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7pPr>
      <a:lvl8pPr marL="19476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8pPr>
      <a:lvl9pPr marL="21762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16.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400" dirty="0">
                <a:latin typeface="Calibri" panose="020F0502020204030204" pitchFamily="34" charset="0"/>
                <a:cs typeface="Calibri" panose="020F0502020204030204" pitchFamily="34" charset="0"/>
              </a:rPr>
              <a:t>Topic: Mathematical Thinking Process</a:t>
            </a:r>
            <a:br>
              <a:rPr lang="en-US" sz="4400" dirty="0">
                <a:latin typeface="Calibri" panose="020F0502020204030204" pitchFamily="34" charset="0"/>
                <a:cs typeface="Calibri" panose="020F0502020204030204" pitchFamily="34" charset="0"/>
              </a:rPr>
            </a:br>
            <a:r>
              <a:rPr lang="en-US" sz="4400" dirty="0">
                <a:latin typeface="Calibri" panose="020F0502020204030204" pitchFamily="34" charset="0"/>
                <a:cs typeface="Calibri" panose="020F0502020204030204" pitchFamily="34" charset="0"/>
              </a:rPr>
              <a:t>EQ: How do I use the mathematical thinking process to solve a problem?</a:t>
            </a:r>
          </a:p>
        </p:txBody>
      </p:sp>
      <p:sp>
        <p:nvSpPr>
          <p:cNvPr id="3" name="Subtitle 2"/>
          <p:cNvSpPr>
            <a:spLocks noGrp="1"/>
          </p:cNvSpPr>
          <p:nvPr>
            <p:ph type="subTitle" idx="1"/>
          </p:nvPr>
        </p:nvSpPr>
        <p:spPr/>
        <p:txBody>
          <a:bodyPr/>
          <a:lstStyle/>
          <a:p>
            <a:r>
              <a:rPr lang="en-US" dirty="0"/>
              <a:t>Year 11 Mathematics Essentials</a:t>
            </a:r>
          </a:p>
          <a:p>
            <a:r>
              <a:rPr lang="en-US" dirty="0" err="1"/>
              <a:t>Mrs</a:t>
            </a:r>
            <a:r>
              <a:rPr lang="en-US" dirty="0"/>
              <a:t> Parlevliet</a:t>
            </a:r>
          </a:p>
        </p:txBody>
      </p:sp>
    </p:spTree>
    <p:extLst>
      <p:ext uri="{BB962C8B-B14F-4D97-AF65-F5344CB8AC3E}">
        <p14:creationId xmlns:p14="http://schemas.microsoft.com/office/powerpoint/2010/main" val="1920111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2CE83-0B0C-4EA1-BAF9-04F996237CBA}"/>
              </a:ext>
            </a:extLst>
          </p:cNvPr>
          <p:cNvSpPr>
            <a:spLocks noGrp="1"/>
          </p:cNvSpPr>
          <p:nvPr>
            <p:ph type="title"/>
          </p:nvPr>
        </p:nvSpPr>
        <p:spPr/>
        <p:txBody>
          <a:bodyPr/>
          <a:lstStyle/>
          <a:p>
            <a:r>
              <a:rPr lang="en-AU" dirty="0"/>
              <a:t>Senior School Assessment Policy</a:t>
            </a:r>
          </a:p>
        </p:txBody>
      </p:sp>
      <p:pic>
        <p:nvPicPr>
          <p:cNvPr id="4" name="Content Placeholder 3">
            <a:extLst>
              <a:ext uri="{FF2B5EF4-FFF2-40B4-BE49-F238E27FC236}">
                <a16:creationId xmlns:a16="http://schemas.microsoft.com/office/drawing/2014/main" id="{8701BB6F-A301-41CC-B94A-325CEF0FBA7C}"/>
              </a:ext>
            </a:extLst>
          </p:cNvPr>
          <p:cNvPicPr>
            <a:picLocks noGrp="1" noChangeAspect="1"/>
          </p:cNvPicPr>
          <p:nvPr>
            <p:ph idx="1"/>
          </p:nvPr>
        </p:nvPicPr>
        <p:blipFill>
          <a:blip r:embed="rId2"/>
          <a:stretch>
            <a:fillRect/>
          </a:stretch>
        </p:blipFill>
        <p:spPr>
          <a:xfrm>
            <a:off x="1269876" y="1756792"/>
            <a:ext cx="9948340" cy="4810546"/>
          </a:xfrm>
          <a:prstGeom prst="rect">
            <a:avLst/>
          </a:prstGeom>
        </p:spPr>
      </p:pic>
    </p:spTree>
    <p:extLst>
      <p:ext uri="{BB962C8B-B14F-4D97-AF65-F5344CB8AC3E}">
        <p14:creationId xmlns:p14="http://schemas.microsoft.com/office/powerpoint/2010/main" val="174689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Mathematical Thinking Process</a:t>
            </a:r>
          </a:p>
        </p:txBody>
      </p:sp>
      <p:sp>
        <p:nvSpPr>
          <p:cNvPr id="14" name="Content Placeholder 13"/>
          <p:cNvSpPr>
            <a:spLocks noGrp="1"/>
          </p:cNvSpPr>
          <p:nvPr>
            <p:ph idx="1"/>
          </p:nvPr>
        </p:nvSpPr>
        <p:spPr>
          <a:xfrm>
            <a:off x="1522414" y="1916832"/>
            <a:ext cx="9144000" cy="4267200"/>
          </a:xfrm>
        </p:spPr>
        <p:txBody>
          <a:bodyPr/>
          <a:lstStyle/>
          <a:p>
            <a:pPr>
              <a:lnSpc>
                <a:spcPct val="100000"/>
              </a:lnSpc>
            </a:pPr>
            <a:r>
              <a:rPr lang="en-US" dirty="0">
                <a:latin typeface="Calibri" panose="020F0502020204030204" pitchFamily="34" charset="0"/>
                <a:cs typeface="Calibri" panose="020F0502020204030204" pitchFamily="34" charset="0"/>
              </a:rPr>
              <a:t>Today you need to work on Step 4 of the Mathematical Thinking Process so that you are prepared for Friday’s lesson when we work on the discussion and providing answers to the problem.</a:t>
            </a:r>
          </a:p>
          <a:p>
            <a:pPr>
              <a:lnSpc>
                <a:spcPct val="100000"/>
              </a:lnSpc>
            </a:pPr>
            <a:r>
              <a:rPr lang="en-US" dirty="0">
                <a:latin typeface="Calibri" panose="020F0502020204030204" pitchFamily="34" charset="0"/>
                <a:cs typeface="Calibri" panose="020F0502020204030204" pitchFamily="34" charset="0"/>
              </a:rPr>
              <a:t>Remember, your Practical Application has a weighting of 10%.</a:t>
            </a:r>
          </a:p>
        </p:txBody>
      </p:sp>
    </p:spTree>
    <p:extLst>
      <p:ext uri="{BB962C8B-B14F-4D97-AF65-F5344CB8AC3E}">
        <p14:creationId xmlns:p14="http://schemas.microsoft.com/office/powerpoint/2010/main" val="21285360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182E708C-71E9-4394-B264-F716CFD18F17}"/>
              </a:ext>
            </a:extLst>
          </p:cNvPr>
          <p:cNvCxnSpPr>
            <a:cxnSpLocks/>
          </p:cNvCxnSpPr>
          <p:nvPr/>
        </p:nvCxnSpPr>
        <p:spPr>
          <a:xfrm>
            <a:off x="74626" y="778486"/>
            <a:ext cx="12114199"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a:extLst>
              <a:ext uri="{FF2B5EF4-FFF2-40B4-BE49-F238E27FC236}">
                <a16:creationId xmlns:a16="http://schemas.microsoft.com/office/drawing/2014/main" id="{EC740D6E-7B99-4DDB-9DE0-A5B61E8C3072}"/>
              </a:ext>
            </a:extLst>
          </p:cNvPr>
          <p:cNvCxnSpPr>
            <a:cxnSpLocks/>
          </p:cNvCxnSpPr>
          <p:nvPr/>
        </p:nvCxnSpPr>
        <p:spPr>
          <a:xfrm flipV="1">
            <a:off x="-1" y="1222969"/>
            <a:ext cx="12188825" cy="2228"/>
          </a:xfrm>
          <a:prstGeom prst="line">
            <a:avLst/>
          </a:prstGeom>
        </p:spPr>
        <p:style>
          <a:lnRef idx="1">
            <a:schemeClr val="accent2"/>
          </a:lnRef>
          <a:fillRef idx="0">
            <a:schemeClr val="accent2"/>
          </a:fillRef>
          <a:effectRef idx="0">
            <a:schemeClr val="accent2"/>
          </a:effectRef>
          <a:fontRef idx="minor">
            <a:schemeClr val="tx1"/>
          </a:fontRef>
        </p:style>
      </p:cxnSp>
      <p:sp>
        <p:nvSpPr>
          <p:cNvPr id="14" name="TextBox 13">
            <a:extLst>
              <a:ext uri="{FF2B5EF4-FFF2-40B4-BE49-F238E27FC236}">
                <a16:creationId xmlns:a16="http://schemas.microsoft.com/office/drawing/2014/main" id="{B9F519F3-0A4A-4CE2-A029-D8462460B133}"/>
              </a:ext>
            </a:extLst>
          </p:cNvPr>
          <p:cNvSpPr txBox="1"/>
          <p:nvPr/>
        </p:nvSpPr>
        <p:spPr>
          <a:xfrm>
            <a:off x="178561" y="893"/>
            <a:ext cx="575914" cy="830781"/>
          </a:xfrm>
          <a:prstGeom prst="rect">
            <a:avLst/>
          </a:prstGeom>
          <a:noFill/>
        </p:spPr>
        <p:txBody>
          <a:bodyPr wrap="square" rtlCol="0">
            <a:spAutoFit/>
          </a:bodyPr>
          <a:lstStyle/>
          <a:p>
            <a:r>
              <a:rPr lang="en-AU" sz="1600" dirty="0">
                <a:latin typeface="Calibri" panose="020F0502020204030204" pitchFamily="34" charset="0"/>
                <a:cs typeface="Calibri" panose="020F0502020204030204" pitchFamily="34" charset="0"/>
              </a:rPr>
              <a:t>24</a:t>
            </a:r>
          </a:p>
          <a:p>
            <a:r>
              <a:rPr lang="en-AU" sz="1600" dirty="0">
                <a:latin typeface="Calibri" panose="020F0502020204030204" pitchFamily="34" charset="0"/>
                <a:cs typeface="Calibri" panose="020F0502020204030204" pitchFamily="34" charset="0"/>
              </a:rPr>
              <a:t>7</a:t>
            </a:r>
          </a:p>
          <a:p>
            <a:r>
              <a:rPr lang="en-AU" sz="1600" dirty="0">
                <a:latin typeface="Calibri" panose="020F0502020204030204" pitchFamily="34" charset="0"/>
                <a:cs typeface="Calibri" panose="020F0502020204030204" pitchFamily="34" charset="0"/>
              </a:rPr>
              <a:t>30</a:t>
            </a:r>
          </a:p>
        </p:txBody>
      </p:sp>
      <p:cxnSp>
        <p:nvCxnSpPr>
          <p:cNvPr id="15" name="Straight Connector 14">
            <a:extLst>
              <a:ext uri="{FF2B5EF4-FFF2-40B4-BE49-F238E27FC236}">
                <a16:creationId xmlns:a16="http://schemas.microsoft.com/office/drawing/2014/main" id="{1BA2B774-B760-43E5-9BF4-42AEF5DA72EC}"/>
              </a:ext>
            </a:extLst>
          </p:cNvPr>
          <p:cNvCxnSpPr>
            <a:cxnSpLocks/>
          </p:cNvCxnSpPr>
          <p:nvPr/>
        </p:nvCxnSpPr>
        <p:spPr>
          <a:xfrm>
            <a:off x="2381838" y="1225195"/>
            <a:ext cx="0" cy="4992781"/>
          </a:xfrm>
          <a:prstGeom prst="line">
            <a:avLst/>
          </a:prstGeom>
        </p:spPr>
        <p:style>
          <a:lnRef idx="1">
            <a:schemeClr val="accent2"/>
          </a:lnRef>
          <a:fillRef idx="0">
            <a:schemeClr val="accent2"/>
          </a:fillRef>
          <a:effectRef idx="0">
            <a:schemeClr val="accent2"/>
          </a:effectRef>
          <a:fontRef idx="minor">
            <a:schemeClr val="tx1"/>
          </a:fontRef>
        </p:style>
      </p:cxnSp>
      <p:sp>
        <p:nvSpPr>
          <p:cNvPr id="17" name="TextBox 16">
            <a:extLst>
              <a:ext uri="{FF2B5EF4-FFF2-40B4-BE49-F238E27FC236}">
                <a16:creationId xmlns:a16="http://schemas.microsoft.com/office/drawing/2014/main" id="{EC05745E-D2A7-4A30-B812-5738EFA91614}"/>
              </a:ext>
            </a:extLst>
          </p:cNvPr>
          <p:cNvSpPr txBox="1"/>
          <p:nvPr/>
        </p:nvSpPr>
        <p:spPr>
          <a:xfrm>
            <a:off x="754475" y="197050"/>
            <a:ext cx="5646930" cy="523092"/>
          </a:xfrm>
          <a:prstGeom prst="rect">
            <a:avLst/>
          </a:prstGeom>
          <a:noFill/>
        </p:spPr>
        <p:txBody>
          <a:bodyPr wrap="none" rtlCol="0">
            <a:spAutoFit/>
          </a:bodyPr>
          <a:lstStyle/>
          <a:p>
            <a:r>
              <a:rPr lang="en-AU" sz="2799" dirty="0">
                <a:latin typeface="Calibri" panose="020F0502020204030204" pitchFamily="34" charset="0"/>
                <a:cs typeface="Calibri" panose="020F0502020204030204" pitchFamily="34" charset="0"/>
              </a:rPr>
              <a:t>Topic: Mathematical Thinking Process</a:t>
            </a:r>
          </a:p>
        </p:txBody>
      </p:sp>
      <p:sp>
        <p:nvSpPr>
          <p:cNvPr id="2" name="TextBox 1">
            <a:extLst>
              <a:ext uri="{FF2B5EF4-FFF2-40B4-BE49-F238E27FC236}">
                <a16:creationId xmlns:a16="http://schemas.microsoft.com/office/drawing/2014/main" id="{BAEB9F17-FE97-4A80-AD23-AA0696B2CA65}"/>
              </a:ext>
            </a:extLst>
          </p:cNvPr>
          <p:cNvSpPr txBox="1"/>
          <p:nvPr/>
        </p:nvSpPr>
        <p:spPr>
          <a:xfrm>
            <a:off x="271835" y="757345"/>
            <a:ext cx="10758121" cy="461545"/>
          </a:xfrm>
          <a:prstGeom prst="rect">
            <a:avLst/>
          </a:prstGeom>
          <a:noFill/>
        </p:spPr>
        <p:txBody>
          <a:bodyPr wrap="square" rtlCol="0">
            <a:spAutoFit/>
          </a:bodyPr>
          <a:lstStyle/>
          <a:p>
            <a:r>
              <a:rPr lang="en-AU" sz="2399" dirty="0">
                <a:latin typeface="Calibri" panose="020F0502020204030204" pitchFamily="34" charset="0"/>
                <a:cs typeface="Calibri" panose="020F0502020204030204" pitchFamily="34" charset="0"/>
              </a:rPr>
              <a:t>EQ: How do I use the mathematical thinking process to solve a problem?</a:t>
            </a:r>
            <a:endParaRPr lang="en-GB" sz="2399" dirty="0">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F728AC80-0291-455D-BC3B-60AF60B7DB39}"/>
              </a:ext>
            </a:extLst>
          </p:cNvPr>
          <p:cNvSpPr txBox="1"/>
          <p:nvPr/>
        </p:nvSpPr>
        <p:spPr>
          <a:xfrm>
            <a:off x="124245" y="5756432"/>
            <a:ext cx="2027738" cy="461545"/>
          </a:xfrm>
          <a:prstGeom prst="rect">
            <a:avLst/>
          </a:prstGeom>
          <a:noFill/>
        </p:spPr>
        <p:txBody>
          <a:bodyPr wrap="square" rtlCol="0">
            <a:spAutoFit/>
          </a:bodyPr>
          <a:lstStyle/>
          <a:p>
            <a:pPr algn="ctr"/>
            <a:r>
              <a:rPr lang="en-AU" sz="2399" b="1" dirty="0">
                <a:solidFill>
                  <a:schemeClr val="accent1"/>
                </a:solidFill>
                <a:latin typeface="Calibri" panose="020F0502020204030204" pitchFamily="34" charset="0"/>
                <a:cs typeface="Calibri" panose="020F0502020204030204" pitchFamily="34" charset="0"/>
              </a:rPr>
              <a:t>W</a:t>
            </a:r>
            <a:r>
              <a:rPr lang="en-AU" sz="2399" b="1" dirty="0">
                <a:latin typeface="Calibri" panose="020F0502020204030204" pitchFamily="34" charset="0"/>
                <a:cs typeface="Calibri" panose="020F0502020204030204" pitchFamily="34" charset="0"/>
              </a:rPr>
              <a:t>IC</a:t>
            </a:r>
            <a:r>
              <a:rPr lang="en-AU" sz="2399" b="1" dirty="0">
                <a:solidFill>
                  <a:srgbClr val="FF0000"/>
                </a:solidFill>
                <a:latin typeface="Calibri" panose="020F0502020204030204" pitchFamily="34" charset="0"/>
                <a:cs typeface="Calibri" panose="020F0502020204030204" pitchFamily="34" charset="0"/>
              </a:rPr>
              <a:t>O</a:t>
            </a:r>
            <a:r>
              <a:rPr lang="en-AU" sz="2399" b="1" dirty="0">
                <a:latin typeface="Calibri" panose="020F0502020204030204" pitchFamily="34" charset="0"/>
                <a:cs typeface="Calibri" panose="020F0502020204030204" pitchFamily="34" charset="0"/>
              </a:rPr>
              <a:t>R</a:t>
            </a:r>
            <a:endParaRPr lang="en-GB" sz="2399" b="1" dirty="0">
              <a:latin typeface="Calibri" panose="020F0502020204030204" pitchFamily="34" charset="0"/>
              <a:cs typeface="Calibri" panose="020F0502020204030204" pitchFamily="34" charset="0"/>
            </a:endParaRPr>
          </a:p>
        </p:txBody>
      </p:sp>
      <p:sp>
        <p:nvSpPr>
          <p:cNvPr id="23" name="TextBox 22">
            <a:extLst>
              <a:ext uri="{FF2B5EF4-FFF2-40B4-BE49-F238E27FC236}">
                <a16:creationId xmlns:a16="http://schemas.microsoft.com/office/drawing/2014/main" id="{190DFE82-329E-4213-9CF8-A8FD3DCF967B}"/>
              </a:ext>
            </a:extLst>
          </p:cNvPr>
          <p:cNvSpPr txBox="1"/>
          <p:nvPr/>
        </p:nvSpPr>
        <p:spPr>
          <a:xfrm>
            <a:off x="9565878" y="197050"/>
            <a:ext cx="2545346" cy="461545"/>
          </a:xfrm>
          <a:prstGeom prst="rect">
            <a:avLst/>
          </a:prstGeom>
          <a:noFill/>
        </p:spPr>
        <p:txBody>
          <a:bodyPr wrap="square" rtlCol="0">
            <a:spAutoFit/>
          </a:bodyPr>
          <a:lstStyle/>
          <a:p>
            <a:r>
              <a:rPr lang="en-AU" sz="2399" dirty="0">
                <a:latin typeface="Calibri" panose="020F0502020204030204" pitchFamily="34" charset="0"/>
                <a:cs typeface="Calibri" panose="020F0502020204030204" pitchFamily="34" charset="0"/>
              </a:rPr>
              <a:t>Date: 03/03/2021</a:t>
            </a:r>
          </a:p>
        </p:txBody>
      </p:sp>
      <p:cxnSp>
        <p:nvCxnSpPr>
          <p:cNvPr id="25" name="Straight Connector 24">
            <a:extLst>
              <a:ext uri="{FF2B5EF4-FFF2-40B4-BE49-F238E27FC236}">
                <a16:creationId xmlns:a16="http://schemas.microsoft.com/office/drawing/2014/main" id="{B2CDAD20-C34B-4CAB-9BA2-2A1DCC9E489F}"/>
              </a:ext>
            </a:extLst>
          </p:cNvPr>
          <p:cNvCxnSpPr>
            <a:cxnSpLocks/>
          </p:cNvCxnSpPr>
          <p:nvPr/>
        </p:nvCxnSpPr>
        <p:spPr>
          <a:xfrm flipV="1">
            <a:off x="37312" y="6217977"/>
            <a:ext cx="12188825" cy="2228"/>
          </a:xfrm>
          <a:prstGeom prst="line">
            <a:avLst/>
          </a:prstGeom>
        </p:spPr>
        <p:style>
          <a:lnRef idx="1">
            <a:schemeClr val="accent2"/>
          </a:lnRef>
          <a:fillRef idx="0">
            <a:schemeClr val="accent2"/>
          </a:fillRef>
          <a:effectRef idx="0">
            <a:schemeClr val="accent2"/>
          </a:effectRef>
          <a:fontRef idx="minor">
            <a:schemeClr val="tx1"/>
          </a:fontRef>
        </p:style>
      </p:cxnSp>
      <p:sp>
        <p:nvSpPr>
          <p:cNvPr id="29" name="TextBox 28">
            <a:extLst>
              <a:ext uri="{FF2B5EF4-FFF2-40B4-BE49-F238E27FC236}">
                <a16:creationId xmlns:a16="http://schemas.microsoft.com/office/drawing/2014/main" id="{560947EF-9B1F-4D54-B7A4-3BD7EBF79507}"/>
              </a:ext>
            </a:extLst>
          </p:cNvPr>
          <p:cNvSpPr txBox="1"/>
          <p:nvPr/>
        </p:nvSpPr>
        <p:spPr>
          <a:xfrm>
            <a:off x="74626" y="1340506"/>
            <a:ext cx="2166798" cy="1015278"/>
          </a:xfrm>
          <a:prstGeom prst="rect">
            <a:avLst/>
          </a:prstGeom>
          <a:noFill/>
        </p:spPr>
        <p:txBody>
          <a:bodyPr wrap="square" rtlCol="0">
            <a:spAutoFit/>
          </a:bodyPr>
          <a:lstStyle/>
          <a:p>
            <a:r>
              <a:rPr lang="en-AU" sz="1999" dirty="0">
                <a:latin typeface="Calibri" panose="020F0502020204030204" pitchFamily="34" charset="0"/>
                <a:cs typeface="Calibri" panose="020F0502020204030204" pitchFamily="34" charset="0"/>
              </a:rPr>
              <a:t>What is the Mathematical Thinking Process?</a:t>
            </a:r>
          </a:p>
        </p:txBody>
      </p:sp>
      <p:sp>
        <p:nvSpPr>
          <p:cNvPr id="30" name="TextBox 29">
            <a:extLst>
              <a:ext uri="{FF2B5EF4-FFF2-40B4-BE49-F238E27FC236}">
                <a16:creationId xmlns:a16="http://schemas.microsoft.com/office/drawing/2014/main" id="{262C73F1-8C8A-4E04-99E4-4A2B5B500106}"/>
              </a:ext>
            </a:extLst>
          </p:cNvPr>
          <p:cNvSpPr txBox="1"/>
          <p:nvPr/>
        </p:nvSpPr>
        <p:spPr>
          <a:xfrm>
            <a:off x="2509374" y="1256093"/>
            <a:ext cx="9044747" cy="5021055"/>
          </a:xfrm>
          <a:prstGeom prst="rect">
            <a:avLst/>
          </a:prstGeom>
          <a:noFill/>
        </p:spPr>
        <p:txBody>
          <a:bodyPr wrap="square" rtlCol="0">
            <a:spAutoFit/>
          </a:bodyPr>
          <a:lstStyle/>
          <a:p>
            <a:pPr>
              <a:lnSpc>
                <a:spcPct val="150000"/>
              </a:lnSpc>
            </a:pPr>
            <a:r>
              <a:rPr lang="en-AU" sz="2400" dirty="0">
                <a:latin typeface="Calibri" panose="020F0502020204030204" pitchFamily="34" charset="0"/>
                <a:cs typeface="Calibri" panose="020F0502020204030204" pitchFamily="34" charset="0"/>
              </a:rPr>
              <a:t>The Mathematical Thinking Process is made up of the following steps:</a:t>
            </a:r>
          </a:p>
          <a:p>
            <a:pPr marL="457200" indent="-457200">
              <a:lnSpc>
                <a:spcPct val="150000"/>
              </a:lnSpc>
              <a:buFont typeface="+mj-lt"/>
              <a:buAutoNum type="arabicPeriod"/>
            </a:pPr>
            <a:r>
              <a:rPr lang="en-AU" sz="2400" dirty="0">
                <a:latin typeface="Calibri" panose="020F0502020204030204" pitchFamily="34" charset="0"/>
                <a:cs typeface="Calibri" panose="020F0502020204030204" pitchFamily="34" charset="0"/>
              </a:rPr>
              <a:t>Interpreting the Task</a:t>
            </a:r>
          </a:p>
          <a:p>
            <a:pPr marL="457200" indent="-457200">
              <a:lnSpc>
                <a:spcPct val="150000"/>
              </a:lnSpc>
              <a:buFont typeface="+mj-lt"/>
              <a:buAutoNum type="arabicPeriod"/>
            </a:pPr>
            <a:r>
              <a:rPr lang="en-AU" sz="2400" dirty="0">
                <a:latin typeface="Calibri" panose="020F0502020204030204" pitchFamily="34" charset="0"/>
                <a:cs typeface="Calibri" panose="020F0502020204030204" pitchFamily="34" charset="0"/>
              </a:rPr>
              <a:t>Identify the mathematics involved</a:t>
            </a:r>
          </a:p>
          <a:p>
            <a:pPr marL="457200" indent="-457200">
              <a:lnSpc>
                <a:spcPct val="150000"/>
              </a:lnSpc>
              <a:buFont typeface="+mj-lt"/>
              <a:buAutoNum type="arabicPeriod"/>
            </a:pPr>
            <a:r>
              <a:rPr lang="en-AU" sz="2400" dirty="0">
                <a:latin typeface="Calibri" panose="020F0502020204030204" pitchFamily="34" charset="0"/>
                <a:cs typeface="Calibri" panose="020F0502020204030204" pitchFamily="34" charset="0"/>
              </a:rPr>
              <a:t>Analyse the information and data involved which may require you to research and find the information needed</a:t>
            </a:r>
          </a:p>
          <a:p>
            <a:pPr marL="457200" indent="-457200">
              <a:lnSpc>
                <a:spcPct val="150000"/>
              </a:lnSpc>
              <a:buFont typeface="+mj-lt"/>
              <a:buAutoNum type="arabicPeriod"/>
            </a:pPr>
            <a:r>
              <a:rPr lang="en-AU" sz="2400" dirty="0">
                <a:latin typeface="Calibri" panose="020F0502020204030204" pitchFamily="34" charset="0"/>
                <a:cs typeface="Calibri" panose="020F0502020204030204" pitchFamily="34" charset="0"/>
              </a:rPr>
              <a:t>Apply mathematical knowledge and strategies to calculate values to arrive at the answer or answers to the problem</a:t>
            </a:r>
          </a:p>
          <a:p>
            <a:pPr marL="457200" indent="-457200">
              <a:lnSpc>
                <a:spcPct val="150000"/>
              </a:lnSpc>
              <a:buFont typeface="+mj-lt"/>
              <a:buAutoNum type="arabicPeriod"/>
            </a:pPr>
            <a:r>
              <a:rPr lang="en-AU" sz="2400" dirty="0">
                <a:latin typeface="Calibri" panose="020F0502020204030204" pitchFamily="34" charset="0"/>
                <a:cs typeface="Calibri" panose="020F0502020204030204" pitchFamily="34" charset="0"/>
              </a:rPr>
              <a:t>Verify the reasonableness of your answer</a:t>
            </a:r>
          </a:p>
          <a:p>
            <a:pPr marL="457200" indent="-457200">
              <a:lnSpc>
                <a:spcPct val="150000"/>
              </a:lnSpc>
              <a:buFont typeface="+mj-lt"/>
              <a:buAutoNum type="arabicPeriod"/>
            </a:pPr>
            <a:r>
              <a:rPr lang="en-AU" sz="2400" dirty="0">
                <a:latin typeface="Calibri" panose="020F0502020204030204" pitchFamily="34" charset="0"/>
                <a:cs typeface="Calibri" panose="020F0502020204030204" pitchFamily="34" charset="0"/>
              </a:rPr>
              <a:t>Communicate these findings in a suitable format</a:t>
            </a:r>
          </a:p>
        </p:txBody>
      </p:sp>
    </p:spTree>
    <p:extLst>
      <p:ext uri="{BB962C8B-B14F-4D97-AF65-F5344CB8AC3E}">
        <p14:creationId xmlns:p14="http://schemas.microsoft.com/office/powerpoint/2010/main" val="3819495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
                                            <p:txEl>
                                              <p:pRg st="0" end="0"/>
                                            </p:txEl>
                                          </p:spTgt>
                                        </p:tgtEl>
                                        <p:attrNameLst>
                                          <p:attrName>style.visibility</p:attrName>
                                        </p:attrNameLst>
                                      </p:cBhvr>
                                      <p:to>
                                        <p:strVal val="visible"/>
                                      </p:to>
                                    </p:set>
                                    <p:animEffect transition="in" filter="fade">
                                      <p:cBhvr>
                                        <p:cTn id="12" dur="500"/>
                                        <p:tgtEl>
                                          <p:spTgt spid="3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xEl>
                                              <p:pRg st="1" end="1"/>
                                            </p:txEl>
                                          </p:spTgt>
                                        </p:tgtEl>
                                        <p:attrNameLst>
                                          <p:attrName>style.visibility</p:attrName>
                                        </p:attrNameLst>
                                      </p:cBhvr>
                                      <p:to>
                                        <p:strVal val="visible"/>
                                      </p:to>
                                    </p:set>
                                    <p:animEffect transition="in" filter="fade">
                                      <p:cBhvr>
                                        <p:cTn id="17" dur="500"/>
                                        <p:tgtEl>
                                          <p:spTgt spid="30">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
                                            <p:txEl>
                                              <p:pRg st="2" end="2"/>
                                            </p:txEl>
                                          </p:spTgt>
                                        </p:tgtEl>
                                        <p:attrNameLst>
                                          <p:attrName>style.visibility</p:attrName>
                                        </p:attrNameLst>
                                      </p:cBhvr>
                                      <p:to>
                                        <p:strVal val="visible"/>
                                      </p:to>
                                    </p:set>
                                    <p:animEffect transition="in" filter="fade">
                                      <p:cBhvr>
                                        <p:cTn id="22" dur="500"/>
                                        <p:tgtEl>
                                          <p:spTgt spid="30">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0">
                                            <p:txEl>
                                              <p:pRg st="3" end="3"/>
                                            </p:txEl>
                                          </p:spTgt>
                                        </p:tgtEl>
                                        <p:attrNameLst>
                                          <p:attrName>style.visibility</p:attrName>
                                        </p:attrNameLst>
                                      </p:cBhvr>
                                      <p:to>
                                        <p:strVal val="visible"/>
                                      </p:to>
                                    </p:set>
                                    <p:animEffect transition="in" filter="fade">
                                      <p:cBhvr>
                                        <p:cTn id="27" dur="500"/>
                                        <p:tgtEl>
                                          <p:spTgt spid="30">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0">
                                            <p:txEl>
                                              <p:pRg st="4" end="4"/>
                                            </p:txEl>
                                          </p:spTgt>
                                        </p:tgtEl>
                                        <p:attrNameLst>
                                          <p:attrName>style.visibility</p:attrName>
                                        </p:attrNameLst>
                                      </p:cBhvr>
                                      <p:to>
                                        <p:strVal val="visible"/>
                                      </p:to>
                                    </p:set>
                                    <p:animEffect transition="in" filter="fade">
                                      <p:cBhvr>
                                        <p:cTn id="32" dur="500"/>
                                        <p:tgtEl>
                                          <p:spTgt spid="30">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0">
                                            <p:txEl>
                                              <p:pRg st="5" end="5"/>
                                            </p:txEl>
                                          </p:spTgt>
                                        </p:tgtEl>
                                        <p:attrNameLst>
                                          <p:attrName>style.visibility</p:attrName>
                                        </p:attrNameLst>
                                      </p:cBhvr>
                                      <p:to>
                                        <p:strVal val="visible"/>
                                      </p:to>
                                    </p:set>
                                    <p:animEffect transition="in" filter="fade">
                                      <p:cBhvr>
                                        <p:cTn id="37" dur="500"/>
                                        <p:tgtEl>
                                          <p:spTgt spid="30">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0">
                                            <p:txEl>
                                              <p:pRg st="6" end="6"/>
                                            </p:txEl>
                                          </p:spTgt>
                                        </p:tgtEl>
                                        <p:attrNameLst>
                                          <p:attrName>style.visibility</p:attrName>
                                        </p:attrNameLst>
                                      </p:cBhvr>
                                      <p:to>
                                        <p:strVal val="visible"/>
                                      </p:to>
                                    </p:set>
                                    <p:animEffect transition="in" filter="fade">
                                      <p:cBhvr>
                                        <p:cTn id="42" dur="500"/>
                                        <p:tgtEl>
                                          <p:spTgt spid="3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Task (LHS) – Apply the Mathematical Knowledge and Strategies to Calculate Values</a:t>
            </a:r>
          </a:p>
        </p:txBody>
      </p:sp>
      <p:sp>
        <p:nvSpPr>
          <p:cNvPr id="4" name="Content Placeholder 3">
            <a:extLst>
              <a:ext uri="{FF2B5EF4-FFF2-40B4-BE49-F238E27FC236}">
                <a16:creationId xmlns:a16="http://schemas.microsoft.com/office/drawing/2014/main" id="{1494AD13-15B2-45ED-B287-F8627A3DAC72}"/>
              </a:ext>
            </a:extLst>
          </p:cNvPr>
          <p:cNvSpPr>
            <a:spLocks noGrp="1"/>
          </p:cNvSpPr>
          <p:nvPr>
            <p:ph idx="1"/>
          </p:nvPr>
        </p:nvSpPr>
        <p:spPr>
          <a:xfrm>
            <a:off x="1522414" y="1916832"/>
            <a:ext cx="9144000" cy="4267200"/>
          </a:xfrm>
        </p:spPr>
        <p:txBody>
          <a:bodyPr>
            <a:normAutofit/>
          </a:bodyPr>
          <a:lstStyle/>
          <a:p>
            <a:pPr marL="0" indent="0">
              <a:buNone/>
            </a:pPr>
            <a:r>
              <a:rPr lang="en-AU" dirty="0">
                <a:latin typeface="Calibri" panose="020F0502020204030204" pitchFamily="34" charset="0"/>
                <a:ea typeface="Calibri" panose="020F0502020204030204" pitchFamily="34" charset="0"/>
                <a:cs typeface="Cordia New" panose="020B0304020202020204" pitchFamily="34" charset="-34"/>
              </a:rPr>
              <a:t>Step 4 - </a:t>
            </a:r>
            <a:r>
              <a:rPr lang="en-AU" dirty="0">
                <a:latin typeface="Calibri" panose="020F0502020204030204" pitchFamily="34" charset="0"/>
                <a:cs typeface="Calibri" panose="020F0502020204030204" pitchFamily="34" charset="0"/>
              </a:rPr>
              <a:t>Apply mathematical knowledge and strategies to calculate values to arrive at the answer or answers to the problem</a:t>
            </a:r>
          </a:p>
          <a:p>
            <a:r>
              <a:rPr lang="en-AU" dirty="0">
                <a:latin typeface="Calibri" panose="020F0502020204030204" pitchFamily="34" charset="0"/>
                <a:ea typeface="Calibri" panose="020F0502020204030204" pitchFamily="34" charset="0"/>
                <a:cs typeface="Cordia New" panose="020B0304020202020204" pitchFamily="34" charset="-34"/>
              </a:rPr>
              <a:t>Find three meals from taste.com</a:t>
            </a:r>
          </a:p>
          <a:p>
            <a:r>
              <a:rPr lang="en-AU" dirty="0">
                <a:latin typeface="Calibri" panose="020F0502020204030204" pitchFamily="34" charset="0"/>
                <a:ea typeface="Calibri" panose="020F0502020204030204" pitchFamily="34" charset="0"/>
                <a:cs typeface="Cordia New" panose="020B0304020202020204" pitchFamily="34" charset="-34"/>
              </a:rPr>
              <a:t>Research the food prices</a:t>
            </a:r>
          </a:p>
          <a:p>
            <a:r>
              <a:rPr lang="en-AU" dirty="0">
                <a:latin typeface="Calibri" panose="020F0502020204030204" pitchFamily="34" charset="0"/>
                <a:ea typeface="Calibri" panose="020F0502020204030204" pitchFamily="34" charset="0"/>
                <a:cs typeface="Cordia New" panose="020B0304020202020204" pitchFamily="34" charset="-34"/>
              </a:rPr>
              <a:t>Set up your Microsoft Excel spreadsheet to determine:</a:t>
            </a:r>
          </a:p>
          <a:p>
            <a:pPr lvl="1"/>
            <a:r>
              <a:rPr lang="en-AU" dirty="0">
                <a:latin typeface="Calibri" panose="020F0502020204030204" pitchFamily="34" charset="0"/>
                <a:ea typeface="Calibri" panose="020F0502020204030204" pitchFamily="34" charset="0"/>
                <a:cs typeface="Cordia New" panose="020B0304020202020204" pitchFamily="34" charset="-34"/>
              </a:rPr>
              <a:t>Food to buy</a:t>
            </a:r>
          </a:p>
          <a:p>
            <a:pPr lvl="1"/>
            <a:r>
              <a:rPr lang="en-AU" dirty="0">
                <a:latin typeface="Calibri" panose="020F0502020204030204" pitchFamily="34" charset="0"/>
                <a:ea typeface="Calibri" panose="020F0502020204030204" pitchFamily="34" charset="0"/>
                <a:cs typeface="Cordia New" panose="020B0304020202020204" pitchFamily="34" charset="-34"/>
              </a:rPr>
              <a:t>Budget</a:t>
            </a:r>
          </a:p>
          <a:p>
            <a:pPr lvl="1"/>
            <a:r>
              <a:rPr lang="en-AU" dirty="0">
                <a:latin typeface="Calibri" panose="020F0502020204030204" pitchFamily="34" charset="0"/>
                <a:ea typeface="Calibri" panose="020F0502020204030204" pitchFamily="34" charset="0"/>
                <a:cs typeface="Cordia New" panose="020B0304020202020204" pitchFamily="34" charset="-34"/>
              </a:rPr>
              <a:t>Anything else you can think of</a:t>
            </a:r>
          </a:p>
        </p:txBody>
      </p:sp>
    </p:spTree>
    <p:extLst>
      <p:ext uri="{BB962C8B-B14F-4D97-AF65-F5344CB8AC3E}">
        <p14:creationId xmlns:p14="http://schemas.microsoft.com/office/powerpoint/2010/main" val="3965807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Freeform 19">
            <a:extLst>
              <a:ext uri="{FF2B5EF4-FFF2-40B4-BE49-F238E27FC236}">
                <a16:creationId xmlns:a16="http://schemas.microsoft.com/office/drawing/2014/main" id="{189E3C56-F900-44E7-BF74-7509E4A585C5}"/>
              </a:ext>
              <a:ext uri="{C183D7F6-B498-43B3-948B-1728B52AA6E4}">
                <adec:decorative xmlns:adec="http://schemas.microsoft.com/office/drawing/2017/decorative" val="1"/>
              </a:ext>
            </a:extLst>
          </p:cNvPr>
          <p:cNvSpPr/>
          <p:nvPr/>
        </p:nvSpPr>
        <p:spPr>
          <a:xfrm rot="2700000">
            <a:off x="11785872" y="6332718"/>
            <a:ext cx="527349" cy="603031"/>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799" dirty="0">
              <a:solidFill>
                <a:srgbClr val="98A3AD"/>
              </a:solidFill>
            </a:endParaRPr>
          </a:p>
        </p:txBody>
      </p:sp>
      <p:sp>
        <p:nvSpPr>
          <p:cNvPr id="2" name="Title 1" hidden="1">
            <a:extLst>
              <a:ext uri="{FF2B5EF4-FFF2-40B4-BE49-F238E27FC236}">
                <a16:creationId xmlns:a16="http://schemas.microsoft.com/office/drawing/2014/main" id="{57154957-68AB-414D-8F5B-A49D3A2612B1}"/>
              </a:ext>
            </a:extLst>
          </p:cNvPr>
          <p:cNvSpPr>
            <a:spLocks noGrp="1"/>
          </p:cNvSpPr>
          <p:nvPr>
            <p:ph type="title"/>
          </p:nvPr>
        </p:nvSpPr>
        <p:spPr/>
        <p:txBody>
          <a:bodyPr/>
          <a:lstStyle/>
          <a:p>
            <a:r>
              <a:rPr lang="en-US" dirty="0"/>
              <a:t>Slide 2</a:t>
            </a:r>
          </a:p>
        </p:txBody>
      </p:sp>
      <p:sp>
        <p:nvSpPr>
          <p:cNvPr id="3" name="TextBox 2">
            <a:extLst>
              <a:ext uri="{FF2B5EF4-FFF2-40B4-BE49-F238E27FC236}">
                <a16:creationId xmlns:a16="http://schemas.microsoft.com/office/drawing/2014/main" id="{C0C08879-8105-4E1D-BEE8-44774A4E1582}"/>
              </a:ext>
            </a:extLst>
          </p:cNvPr>
          <p:cNvSpPr txBox="1"/>
          <p:nvPr/>
        </p:nvSpPr>
        <p:spPr>
          <a:xfrm>
            <a:off x="117748" y="260648"/>
            <a:ext cx="10704051" cy="6524863"/>
          </a:xfrm>
          <a:prstGeom prst="rect">
            <a:avLst/>
          </a:prstGeom>
          <a:noFill/>
        </p:spPr>
        <p:txBody>
          <a:bodyPr wrap="square" rtlCol="0">
            <a:spAutoFit/>
          </a:bodyPr>
          <a:lstStyle/>
          <a:p>
            <a:r>
              <a:rPr lang="en-AU" sz="2000" b="1" dirty="0"/>
              <a:t>What is a spreadsheet?</a:t>
            </a:r>
          </a:p>
          <a:p>
            <a:endParaRPr lang="en-AU" sz="2000" dirty="0"/>
          </a:p>
          <a:p>
            <a:r>
              <a:rPr lang="en-AU" sz="2000" dirty="0"/>
              <a:t>A spreadsheet is a digital file made of rows and columns that help sort, organize, and arrange data efficiently, and calculate numerical data.</a:t>
            </a:r>
          </a:p>
          <a:p>
            <a:endParaRPr lang="en-AU" sz="2000" dirty="0"/>
          </a:p>
          <a:p>
            <a:r>
              <a:rPr lang="en-AU" sz="2000" b="1" dirty="0"/>
              <a:t>There are many versions of spreadsheets.  </a:t>
            </a:r>
          </a:p>
          <a:p>
            <a:r>
              <a:rPr lang="en-AU" sz="2000" dirty="0"/>
              <a:t>	Microsoft Excel.</a:t>
            </a:r>
          </a:p>
          <a:p>
            <a:r>
              <a:rPr lang="en-AU" sz="2000" dirty="0"/>
              <a:t>	Apple Numbers.</a:t>
            </a:r>
          </a:p>
          <a:p>
            <a:r>
              <a:rPr lang="en-AU" sz="2000" dirty="0"/>
              <a:t>	Google Sheets.</a:t>
            </a:r>
          </a:p>
          <a:p>
            <a:r>
              <a:rPr lang="en-AU" sz="2000" dirty="0"/>
              <a:t>	Quip.</a:t>
            </a:r>
          </a:p>
          <a:p>
            <a:r>
              <a:rPr lang="en-AU" sz="2000" dirty="0"/>
              <a:t>	</a:t>
            </a:r>
            <a:r>
              <a:rPr lang="en-AU" sz="2000" dirty="0" err="1"/>
              <a:t>EtherCalc</a:t>
            </a:r>
            <a:r>
              <a:rPr lang="en-AU" sz="2000" dirty="0"/>
              <a:t>.</a:t>
            </a:r>
          </a:p>
          <a:p>
            <a:r>
              <a:rPr lang="en-AU" sz="2000" dirty="0"/>
              <a:t>	</a:t>
            </a:r>
            <a:r>
              <a:rPr lang="en-AU" sz="2000" dirty="0" err="1"/>
              <a:t>Zoho</a:t>
            </a:r>
            <a:r>
              <a:rPr lang="en-AU" sz="2000" dirty="0"/>
              <a:t> Sheets.</a:t>
            </a:r>
          </a:p>
          <a:p>
            <a:r>
              <a:rPr lang="en-AU" sz="2000" dirty="0"/>
              <a:t>	LibreOffice.</a:t>
            </a:r>
          </a:p>
          <a:p>
            <a:r>
              <a:rPr lang="en-AU" sz="2000" dirty="0"/>
              <a:t>	Apache OpenOffice Calc</a:t>
            </a:r>
          </a:p>
          <a:p>
            <a:endParaRPr lang="en-AU" sz="2000" dirty="0"/>
          </a:p>
          <a:p>
            <a:endParaRPr lang="en-AU" sz="2000" dirty="0"/>
          </a:p>
          <a:p>
            <a:endParaRPr lang="en-AU" sz="2000" dirty="0"/>
          </a:p>
          <a:p>
            <a:r>
              <a:rPr lang="en-AU" sz="2000" dirty="0"/>
              <a:t>We are just going to concentrate on using Microsoft office, but all spreadsheets are similar and use similar commands.</a:t>
            </a:r>
          </a:p>
          <a:p>
            <a:endParaRPr lang="en-AU" sz="2000" dirty="0"/>
          </a:p>
          <a:p>
            <a:r>
              <a:rPr lang="en-AU" sz="2000" dirty="0"/>
              <a:t>To start with we are going to look at some terminology.</a:t>
            </a:r>
          </a:p>
        </p:txBody>
      </p:sp>
      <p:pic>
        <p:nvPicPr>
          <p:cNvPr id="5" name="Picture 4">
            <a:extLst>
              <a:ext uri="{FF2B5EF4-FFF2-40B4-BE49-F238E27FC236}">
                <a16:creationId xmlns:a16="http://schemas.microsoft.com/office/drawing/2014/main" id="{835AB7E6-2421-4B8C-8B5A-390D7E281473}"/>
              </a:ext>
            </a:extLst>
          </p:cNvPr>
          <p:cNvPicPr>
            <a:picLocks noChangeAspect="1"/>
          </p:cNvPicPr>
          <p:nvPr/>
        </p:nvPicPr>
        <p:blipFill rotWithShape="1">
          <a:blip r:embed="rId2"/>
          <a:srcRect r="11330"/>
          <a:stretch/>
        </p:blipFill>
        <p:spPr>
          <a:xfrm>
            <a:off x="4811730" y="1912161"/>
            <a:ext cx="7134352" cy="2706024"/>
          </a:xfrm>
          <a:prstGeom prst="rect">
            <a:avLst/>
          </a:prstGeom>
        </p:spPr>
      </p:pic>
    </p:spTree>
    <p:extLst>
      <p:ext uri="{BB962C8B-B14F-4D97-AF65-F5344CB8AC3E}">
        <p14:creationId xmlns:p14="http://schemas.microsoft.com/office/powerpoint/2010/main" val="2891648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16" end="16"/>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reeform 19">
            <a:extLst>
              <a:ext uri="{C183D7F6-B498-43B3-948B-1728B52AA6E4}">
                <adec:decorative xmlns:adec="http://schemas.microsoft.com/office/drawing/2017/decorative" val="1"/>
              </a:ext>
            </a:extLst>
          </p:cNvPr>
          <p:cNvSpPr/>
          <p:nvPr/>
        </p:nvSpPr>
        <p:spPr>
          <a:xfrm rot="2700000">
            <a:off x="11785872" y="6332718"/>
            <a:ext cx="527349" cy="603031"/>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799" dirty="0">
              <a:solidFill>
                <a:srgbClr val="98A3AD"/>
              </a:solidFill>
            </a:endParaRPr>
          </a:p>
        </p:txBody>
      </p:sp>
      <p:sp>
        <p:nvSpPr>
          <p:cNvPr id="4" name="Title 3" hidden="1">
            <a:extLst>
              <a:ext uri="{FF2B5EF4-FFF2-40B4-BE49-F238E27FC236}">
                <a16:creationId xmlns:a16="http://schemas.microsoft.com/office/drawing/2014/main" id="{19D7E498-2D9B-4F60-93FF-25DEC5873336}"/>
              </a:ext>
            </a:extLst>
          </p:cNvPr>
          <p:cNvSpPr>
            <a:spLocks noGrp="1"/>
          </p:cNvSpPr>
          <p:nvPr>
            <p:ph type="title"/>
          </p:nvPr>
        </p:nvSpPr>
        <p:spPr/>
        <p:txBody>
          <a:bodyPr/>
          <a:lstStyle/>
          <a:p>
            <a:r>
              <a:rPr lang="en-US" dirty="0"/>
              <a:t>Slide 3</a:t>
            </a:r>
          </a:p>
        </p:txBody>
      </p:sp>
      <p:sp>
        <p:nvSpPr>
          <p:cNvPr id="6" name="TextBox 5">
            <a:extLst>
              <a:ext uri="{FF2B5EF4-FFF2-40B4-BE49-F238E27FC236}">
                <a16:creationId xmlns:a16="http://schemas.microsoft.com/office/drawing/2014/main" id="{A9AF7485-F62B-45FD-8AC4-F50043F982AC}"/>
              </a:ext>
            </a:extLst>
          </p:cNvPr>
          <p:cNvSpPr txBox="1"/>
          <p:nvPr/>
        </p:nvSpPr>
        <p:spPr>
          <a:xfrm>
            <a:off x="464828" y="512204"/>
            <a:ext cx="11062908" cy="2030796"/>
          </a:xfrm>
          <a:prstGeom prst="rect">
            <a:avLst/>
          </a:prstGeom>
          <a:noFill/>
        </p:spPr>
        <p:txBody>
          <a:bodyPr wrap="square" rtlCol="0">
            <a:spAutoFit/>
          </a:bodyPr>
          <a:lstStyle/>
          <a:p>
            <a:r>
              <a:rPr lang="en-AU" dirty="0"/>
              <a:t>A spreadsheet page is organised into a grid made up of lots of rectangles called “cells”</a:t>
            </a:r>
          </a:p>
          <a:p>
            <a:endParaRPr lang="en-AU" dirty="0"/>
          </a:p>
          <a:p>
            <a:r>
              <a:rPr lang="en-AU" dirty="0"/>
              <a:t>These cells are organised horizontally into rows and vertically into columns</a:t>
            </a:r>
          </a:p>
          <a:p>
            <a:endParaRPr lang="en-AU" dirty="0"/>
          </a:p>
          <a:p>
            <a:endParaRPr lang="en-AU" dirty="0"/>
          </a:p>
          <a:p>
            <a:endParaRPr lang="en-AU" dirty="0"/>
          </a:p>
          <a:p>
            <a:endParaRPr lang="en-AU" dirty="0"/>
          </a:p>
        </p:txBody>
      </p:sp>
      <p:pic>
        <p:nvPicPr>
          <p:cNvPr id="7" name="Picture 6">
            <a:extLst>
              <a:ext uri="{FF2B5EF4-FFF2-40B4-BE49-F238E27FC236}">
                <a16:creationId xmlns:a16="http://schemas.microsoft.com/office/drawing/2014/main" id="{9002B797-EDCA-4975-99A4-7403C76396E7}"/>
              </a:ext>
            </a:extLst>
          </p:cNvPr>
          <p:cNvPicPr>
            <a:picLocks noChangeAspect="1"/>
          </p:cNvPicPr>
          <p:nvPr/>
        </p:nvPicPr>
        <p:blipFill rotWithShape="1">
          <a:blip r:embed="rId2"/>
          <a:srcRect t="44346"/>
          <a:stretch/>
        </p:blipFill>
        <p:spPr>
          <a:xfrm>
            <a:off x="1547635" y="1629499"/>
            <a:ext cx="8459870" cy="2685502"/>
          </a:xfrm>
          <a:prstGeom prst="rect">
            <a:avLst/>
          </a:prstGeom>
        </p:spPr>
      </p:pic>
      <p:sp>
        <p:nvSpPr>
          <p:cNvPr id="9" name="TextBox 8">
            <a:extLst>
              <a:ext uri="{FF2B5EF4-FFF2-40B4-BE49-F238E27FC236}">
                <a16:creationId xmlns:a16="http://schemas.microsoft.com/office/drawing/2014/main" id="{CE4CB960-7C55-4EA4-8394-568EB1E25E00}"/>
              </a:ext>
            </a:extLst>
          </p:cNvPr>
          <p:cNvSpPr txBox="1"/>
          <p:nvPr/>
        </p:nvSpPr>
        <p:spPr>
          <a:xfrm>
            <a:off x="635265" y="4832288"/>
            <a:ext cx="9372240" cy="1200016"/>
          </a:xfrm>
          <a:prstGeom prst="rect">
            <a:avLst/>
          </a:prstGeom>
          <a:noFill/>
        </p:spPr>
        <p:txBody>
          <a:bodyPr wrap="square" rtlCol="0">
            <a:spAutoFit/>
          </a:bodyPr>
          <a:lstStyle/>
          <a:p>
            <a:r>
              <a:rPr lang="en-AU" dirty="0"/>
              <a:t>In the picture above, the “C” column  and row “2” are both highlighted. </a:t>
            </a:r>
          </a:p>
          <a:p>
            <a:endParaRPr lang="en-AU" dirty="0"/>
          </a:p>
          <a:p>
            <a:r>
              <a:rPr lang="en-AU" dirty="0"/>
              <a:t>When we name a cell, we always mention the column, then the row., So we can say that the word “Cell” was written in cell “E4”.</a:t>
            </a:r>
          </a:p>
        </p:txBody>
      </p:sp>
    </p:spTree>
    <p:extLst>
      <p:ext uri="{BB962C8B-B14F-4D97-AF65-F5344CB8AC3E}">
        <p14:creationId xmlns:p14="http://schemas.microsoft.com/office/powerpoint/2010/main" val="4354130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Freeform 37">
            <a:extLst>
              <a:ext uri="{C183D7F6-B498-43B3-948B-1728B52AA6E4}">
                <adec:decorative xmlns:adec="http://schemas.microsoft.com/office/drawing/2017/decorative" val="1"/>
              </a:ext>
            </a:extLst>
          </p:cNvPr>
          <p:cNvSpPr/>
          <p:nvPr/>
        </p:nvSpPr>
        <p:spPr>
          <a:xfrm rot="2700000">
            <a:off x="11785872" y="6332718"/>
            <a:ext cx="527349" cy="603031"/>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799" dirty="0">
              <a:solidFill>
                <a:srgbClr val="98A3AD"/>
              </a:solidFill>
            </a:endParaRPr>
          </a:p>
        </p:txBody>
      </p:sp>
      <p:sp>
        <p:nvSpPr>
          <p:cNvPr id="42" name="TextBox 41"/>
          <p:cNvSpPr txBox="1"/>
          <p:nvPr/>
        </p:nvSpPr>
        <p:spPr>
          <a:xfrm>
            <a:off x="11904353" y="6480386"/>
            <a:ext cx="279171" cy="307697"/>
          </a:xfrm>
          <a:prstGeom prst="rect">
            <a:avLst/>
          </a:prstGeom>
          <a:noFill/>
        </p:spPr>
        <p:txBody>
          <a:bodyPr wrap="none" rtlCol="0">
            <a:spAutoFit/>
          </a:bodyPr>
          <a:lstStyle/>
          <a:p>
            <a:r>
              <a:rPr lang="en-US" sz="1400" b="1" dirty="0">
                <a:solidFill>
                  <a:schemeClr val="bg1"/>
                </a:solidFill>
              </a:rPr>
              <a:t>4</a:t>
            </a:r>
          </a:p>
        </p:txBody>
      </p:sp>
      <p:sp>
        <p:nvSpPr>
          <p:cNvPr id="40" name="TextBox 39">
            <a:extLst>
              <a:ext uri="{FF2B5EF4-FFF2-40B4-BE49-F238E27FC236}">
                <a16:creationId xmlns:a16="http://schemas.microsoft.com/office/drawing/2014/main" id="{FFAEF1C8-817C-4EBC-A4FB-3ED2DB7FCBF8}"/>
              </a:ext>
            </a:extLst>
          </p:cNvPr>
          <p:cNvSpPr txBox="1"/>
          <p:nvPr/>
        </p:nvSpPr>
        <p:spPr>
          <a:xfrm>
            <a:off x="1462159" y="166231"/>
            <a:ext cx="9264547" cy="492186"/>
          </a:xfrm>
          <a:prstGeom prst="rect">
            <a:avLst/>
          </a:prstGeom>
          <a:noFill/>
        </p:spPr>
        <p:txBody>
          <a:bodyPr wrap="none" lIns="0" tIns="0" rIns="0" bIns="0" rtlCol="0">
            <a:spAutoFit/>
          </a:bodyPr>
          <a:lstStyle/>
          <a:p>
            <a:pPr algn="ctr">
              <a:tabLst>
                <a:tab pos="347559" algn="l"/>
              </a:tabLst>
            </a:pPr>
            <a:r>
              <a:rPr lang="en-US" sz="3199" b="1" dirty="0">
                <a:latin typeface="+mj-lt"/>
              </a:rPr>
              <a:t>Open Excel – it’s time to try it together</a:t>
            </a:r>
          </a:p>
        </p:txBody>
      </p:sp>
      <p:sp>
        <p:nvSpPr>
          <p:cNvPr id="2" name="Title 1" hidden="1">
            <a:extLst>
              <a:ext uri="{FF2B5EF4-FFF2-40B4-BE49-F238E27FC236}">
                <a16:creationId xmlns:a16="http://schemas.microsoft.com/office/drawing/2014/main" id="{8BD7D413-936A-4A2D-83E0-6714C8DB077C}"/>
              </a:ext>
            </a:extLst>
          </p:cNvPr>
          <p:cNvSpPr>
            <a:spLocks noGrp="1"/>
          </p:cNvSpPr>
          <p:nvPr>
            <p:ph type="title"/>
          </p:nvPr>
        </p:nvSpPr>
        <p:spPr/>
        <p:txBody>
          <a:bodyPr/>
          <a:lstStyle/>
          <a:p>
            <a:r>
              <a:rPr lang="en-US" dirty="0"/>
              <a:t>Slide 4</a:t>
            </a:r>
          </a:p>
        </p:txBody>
      </p:sp>
      <p:sp>
        <p:nvSpPr>
          <p:cNvPr id="3" name="TextBox 2">
            <a:extLst>
              <a:ext uri="{FF2B5EF4-FFF2-40B4-BE49-F238E27FC236}">
                <a16:creationId xmlns:a16="http://schemas.microsoft.com/office/drawing/2014/main" id="{243C864D-EE8A-483F-9D43-908D8CC201CF}"/>
              </a:ext>
            </a:extLst>
          </p:cNvPr>
          <p:cNvSpPr txBox="1"/>
          <p:nvPr/>
        </p:nvSpPr>
        <p:spPr>
          <a:xfrm>
            <a:off x="621804" y="718081"/>
            <a:ext cx="11061115" cy="3170099"/>
          </a:xfrm>
          <a:prstGeom prst="rect">
            <a:avLst/>
          </a:prstGeom>
          <a:noFill/>
        </p:spPr>
        <p:txBody>
          <a:bodyPr wrap="square" rtlCol="0">
            <a:spAutoFit/>
          </a:bodyPr>
          <a:lstStyle/>
          <a:p>
            <a:r>
              <a:rPr lang="en-AU" sz="2000" dirty="0"/>
              <a:t>Open excel – click on the “Excel” logo.  It should be somewhere in your Windows menu or you can type “Excel” into your Search </a:t>
            </a:r>
            <a:r>
              <a:rPr lang="en-AU" sz="2000" dirty="0" err="1"/>
              <a:t>toolba</a:t>
            </a:r>
            <a:r>
              <a:rPr lang="en-AU" sz="2000" dirty="0"/>
              <a:t>,.  Once Excel loads, double click onto “blank workbook”</a:t>
            </a:r>
          </a:p>
          <a:p>
            <a:pPr marL="342797" indent="-342797">
              <a:buAutoNum type="arabicPeriod"/>
            </a:pPr>
            <a:endParaRPr lang="en-AU" sz="2000" dirty="0"/>
          </a:p>
          <a:p>
            <a:pPr marL="342797" indent="-342797">
              <a:buAutoNum type="arabicPeriod"/>
            </a:pPr>
            <a:endParaRPr lang="en-AU" sz="2000" dirty="0"/>
          </a:p>
          <a:p>
            <a:pPr marL="342797" indent="-342797">
              <a:buAutoNum type="arabicPeriod"/>
            </a:pPr>
            <a:endParaRPr lang="en-AU" sz="2000" dirty="0"/>
          </a:p>
          <a:p>
            <a:pPr marL="342797" indent="-342797">
              <a:buAutoNum type="arabicPeriod"/>
            </a:pPr>
            <a:endParaRPr lang="en-AU" sz="2000" dirty="0"/>
          </a:p>
          <a:p>
            <a:pPr marL="342797" indent="-342797">
              <a:buAutoNum type="arabicPeriod"/>
            </a:pPr>
            <a:endParaRPr lang="en-AU" sz="2000" dirty="0"/>
          </a:p>
          <a:p>
            <a:pPr marL="342797" indent="-342797">
              <a:buAutoNum type="arabicPeriod"/>
            </a:pPr>
            <a:endParaRPr lang="en-AU" sz="2000" dirty="0"/>
          </a:p>
          <a:p>
            <a:pPr marL="342797" indent="-342797">
              <a:buAutoNum type="arabicPeriod"/>
            </a:pPr>
            <a:endParaRPr lang="en-AU" sz="2000" dirty="0"/>
          </a:p>
          <a:p>
            <a:r>
              <a:rPr lang="en-AU" sz="2000" dirty="0"/>
              <a:t>You should now have a blank spreadsheet</a:t>
            </a:r>
          </a:p>
        </p:txBody>
      </p:sp>
      <p:pic>
        <p:nvPicPr>
          <p:cNvPr id="4" name="Picture 3">
            <a:extLst>
              <a:ext uri="{FF2B5EF4-FFF2-40B4-BE49-F238E27FC236}">
                <a16:creationId xmlns:a16="http://schemas.microsoft.com/office/drawing/2014/main" id="{8ED1D00B-2428-4AE5-AE65-FD41A2024D64}"/>
              </a:ext>
            </a:extLst>
          </p:cNvPr>
          <p:cNvPicPr>
            <a:picLocks noChangeAspect="1"/>
          </p:cNvPicPr>
          <p:nvPr/>
        </p:nvPicPr>
        <p:blipFill rotWithShape="1">
          <a:blip r:embed="rId2"/>
          <a:srcRect l="41567" t="20325" r="51568" b="67013"/>
          <a:stretch/>
        </p:blipFill>
        <p:spPr>
          <a:xfrm>
            <a:off x="2708611" y="1709708"/>
            <a:ext cx="1657886" cy="1719292"/>
          </a:xfrm>
          <a:prstGeom prst="rect">
            <a:avLst/>
          </a:prstGeom>
        </p:spPr>
      </p:pic>
      <p:pic>
        <p:nvPicPr>
          <p:cNvPr id="11" name="Picture 10">
            <a:extLst>
              <a:ext uri="{FF2B5EF4-FFF2-40B4-BE49-F238E27FC236}">
                <a16:creationId xmlns:a16="http://schemas.microsoft.com/office/drawing/2014/main" id="{F2860F55-ACB0-40B0-A049-9274D6E6AF85}"/>
              </a:ext>
            </a:extLst>
          </p:cNvPr>
          <p:cNvPicPr>
            <a:picLocks noChangeAspect="1"/>
          </p:cNvPicPr>
          <p:nvPr/>
        </p:nvPicPr>
        <p:blipFill>
          <a:blip r:embed="rId3"/>
          <a:stretch>
            <a:fillRect/>
          </a:stretch>
        </p:blipFill>
        <p:spPr>
          <a:xfrm>
            <a:off x="2708611" y="3854103"/>
            <a:ext cx="5633649" cy="2877818"/>
          </a:xfrm>
          <a:prstGeom prst="rect">
            <a:avLst/>
          </a:prstGeom>
        </p:spPr>
      </p:pic>
      <p:pic>
        <p:nvPicPr>
          <p:cNvPr id="49" name="Picture 48">
            <a:extLst>
              <a:ext uri="{FF2B5EF4-FFF2-40B4-BE49-F238E27FC236}">
                <a16:creationId xmlns:a16="http://schemas.microsoft.com/office/drawing/2014/main" id="{ED09E47F-D4EA-4383-8149-2AC14217AF07}"/>
              </a:ext>
            </a:extLst>
          </p:cNvPr>
          <p:cNvPicPr>
            <a:picLocks noChangeAspect="1"/>
          </p:cNvPicPr>
          <p:nvPr/>
        </p:nvPicPr>
        <p:blipFill>
          <a:blip r:embed="rId4"/>
          <a:stretch>
            <a:fillRect/>
          </a:stretch>
        </p:blipFill>
        <p:spPr>
          <a:xfrm>
            <a:off x="5841340" y="1616516"/>
            <a:ext cx="2675828" cy="1847369"/>
          </a:xfrm>
          <a:prstGeom prst="rect">
            <a:avLst/>
          </a:prstGeom>
        </p:spPr>
      </p:pic>
    </p:spTree>
    <p:extLst>
      <p:ext uri="{BB962C8B-B14F-4D97-AF65-F5344CB8AC3E}">
        <p14:creationId xmlns:p14="http://schemas.microsoft.com/office/powerpoint/2010/main" val="2475759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E219E145-B183-48DB-AC65-02D855AF568A}"/>
              </a:ext>
            </a:extLst>
          </p:cNvPr>
          <p:cNvPicPr>
            <a:picLocks noChangeAspect="1"/>
          </p:cNvPicPr>
          <p:nvPr/>
        </p:nvPicPr>
        <p:blipFill>
          <a:blip r:embed="rId2"/>
          <a:stretch>
            <a:fillRect/>
          </a:stretch>
        </p:blipFill>
        <p:spPr>
          <a:xfrm>
            <a:off x="1766026" y="4159818"/>
            <a:ext cx="7444584" cy="2425971"/>
          </a:xfrm>
          <a:prstGeom prst="rect">
            <a:avLst/>
          </a:prstGeom>
        </p:spPr>
      </p:pic>
      <p:pic>
        <p:nvPicPr>
          <p:cNvPr id="4" name="Picture 3">
            <a:extLst>
              <a:ext uri="{FF2B5EF4-FFF2-40B4-BE49-F238E27FC236}">
                <a16:creationId xmlns:a16="http://schemas.microsoft.com/office/drawing/2014/main" id="{A30BC088-BCD6-4307-899C-BD602CCBDBD8}"/>
              </a:ext>
            </a:extLst>
          </p:cNvPr>
          <p:cNvPicPr>
            <a:picLocks noChangeAspect="1"/>
          </p:cNvPicPr>
          <p:nvPr/>
        </p:nvPicPr>
        <p:blipFill>
          <a:blip r:embed="rId3"/>
          <a:stretch>
            <a:fillRect/>
          </a:stretch>
        </p:blipFill>
        <p:spPr>
          <a:xfrm>
            <a:off x="2665014" y="1721512"/>
            <a:ext cx="2823304" cy="1677849"/>
          </a:xfrm>
          <a:prstGeom prst="rect">
            <a:avLst/>
          </a:prstGeom>
        </p:spPr>
      </p:pic>
      <p:sp>
        <p:nvSpPr>
          <p:cNvPr id="5" name="TextBox 4">
            <a:extLst>
              <a:ext uri="{FF2B5EF4-FFF2-40B4-BE49-F238E27FC236}">
                <a16:creationId xmlns:a16="http://schemas.microsoft.com/office/drawing/2014/main" id="{306B21EC-3D52-48EF-90BD-A869FDA94412}"/>
              </a:ext>
            </a:extLst>
          </p:cNvPr>
          <p:cNvSpPr txBox="1"/>
          <p:nvPr/>
        </p:nvSpPr>
        <p:spPr>
          <a:xfrm>
            <a:off x="477788" y="608762"/>
            <a:ext cx="11061115" cy="923090"/>
          </a:xfrm>
          <a:prstGeom prst="rect">
            <a:avLst/>
          </a:prstGeom>
          <a:noFill/>
        </p:spPr>
        <p:txBody>
          <a:bodyPr wrap="square" rtlCol="0">
            <a:spAutoFit/>
          </a:bodyPr>
          <a:lstStyle/>
          <a:p>
            <a:r>
              <a:rPr lang="en-AU" sz="1799" dirty="0"/>
              <a:t>Click on cell “A1 and type “Apples” then press enter.  It should take you down to cell A2. Type “Bananas” and press enter.  Then type “Grapes” and press enter again.  Now click on cell B1 and type 5, press enter, type 3, press enter and type 12.  Your table should look like this: </a:t>
            </a:r>
          </a:p>
        </p:txBody>
      </p:sp>
      <p:sp>
        <p:nvSpPr>
          <p:cNvPr id="6" name="TextBox 5">
            <a:extLst>
              <a:ext uri="{FF2B5EF4-FFF2-40B4-BE49-F238E27FC236}">
                <a16:creationId xmlns:a16="http://schemas.microsoft.com/office/drawing/2014/main" id="{BF7DD968-DEE9-4CFE-8C65-4F3B4348B9C9}"/>
              </a:ext>
            </a:extLst>
          </p:cNvPr>
          <p:cNvSpPr txBox="1"/>
          <p:nvPr/>
        </p:nvSpPr>
        <p:spPr>
          <a:xfrm>
            <a:off x="563855" y="3446505"/>
            <a:ext cx="11061115" cy="646163"/>
          </a:xfrm>
          <a:prstGeom prst="rect">
            <a:avLst/>
          </a:prstGeom>
          <a:noFill/>
        </p:spPr>
        <p:txBody>
          <a:bodyPr wrap="square" rtlCol="0">
            <a:spAutoFit/>
          </a:bodyPr>
          <a:lstStyle/>
          <a:p>
            <a:r>
              <a:rPr lang="en-AU" sz="1799" dirty="0"/>
              <a:t>If you make a mistake, click on the cell that has the mistake and type the changes into the </a:t>
            </a:r>
            <a:r>
              <a:rPr lang="en-AU" sz="1799" dirty="0">
                <a:solidFill>
                  <a:srgbClr val="FF0000"/>
                </a:solidFill>
              </a:rPr>
              <a:t>formula bar</a:t>
            </a:r>
            <a:r>
              <a:rPr lang="en-AU" sz="1799" dirty="0"/>
              <a:t>.  Try using the formula bar to change Grapes to Blueberries so that the spreadsheet now looks like this: </a:t>
            </a:r>
          </a:p>
        </p:txBody>
      </p:sp>
      <p:sp>
        <p:nvSpPr>
          <p:cNvPr id="9" name="Rectangle 8">
            <a:extLst>
              <a:ext uri="{FF2B5EF4-FFF2-40B4-BE49-F238E27FC236}">
                <a16:creationId xmlns:a16="http://schemas.microsoft.com/office/drawing/2014/main" id="{BE5D2E46-6548-46BD-B5DF-98742732A2FA}"/>
              </a:ext>
            </a:extLst>
          </p:cNvPr>
          <p:cNvSpPr/>
          <p:nvPr/>
        </p:nvSpPr>
        <p:spPr>
          <a:xfrm>
            <a:off x="6272557" y="4294119"/>
            <a:ext cx="4150242" cy="71827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799"/>
          </a:p>
        </p:txBody>
      </p:sp>
      <p:sp>
        <p:nvSpPr>
          <p:cNvPr id="10" name="Arrow: Down 9">
            <a:extLst>
              <a:ext uri="{FF2B5EF4-FFF2-40B4-BE49-F238E27FC236}">
                <a16:creationId xmlns:a16="http://schemas.microsoft.com/office/drawing/2014/main" id="{50C1F648-7FB9-4AA9-9EC9-9CF0FFBBADD0}"/>
              </a:ext>
            </a:extLst>
          </p:cNvPr>
          <p:cNvSpPr/>
          <p:nvPr/>
        </p:nvSpPr>
        <p:spPr>
          <a:xfrm rot="787038">
            <a:off x="9289213" y="3681439"/>
            <a:ext cx="379729" cy="736359"/>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799"/>
          </a:p>
        </p:txBody>
      </p:sp>
      <p:sp>
        <p:nvSpPr>
          <p:cNvPr id="2" name="TextBox 1">
            <a:extLst>
              <a:ext uri="{FF2B5EF4-FFF2-40B4-BE49-F238E27FC236}">
                <a16:creationId xmlns:a16="http://schemas.microsoft.com/office/drawing/2014/main" id="{52DCE1C2-9501-40A0-8F31-A42C090A3A1C}"/>
              </a:ext>
            </a:extLst>
          </p:cNvPr>
          <p:cNvSpPr txBox="1"/>
          <p:nvPr/>
        </p:nvSpPr>
        <p:spPr>
          <a:xfrm>
            <a:off x="261764" y="239526"/>
            <a:ext cx="7204834" cy="369236"/>
          </a:xfrm>
          <a:prstGeom prst="rect">
            <a:avLst/>
          </a:prstGeom>
          <a:noFill/>
        </p:spPr>
        <p:txBody>
          <a:bodyPr wrap="square" rtlCol="0">
            <a:spAutoFit/>
          </a:bodyPr>
          <a:lstStyle/>
          <a:p>
            <a:r>
              <a:rPr lang="en-AU" sz="1799" b="1" dirty="0"/>
              <a:t>Let’s enter some data</a:t>
            </a:r>
          </a:p>
        </p:txBody>
      </p:sp>
    </p:spTree>
    <p:extLst>
      <p:ext uri="{BB962C8B-B14F-4D97-AF65-F5344CB8AC3E}">
        <p14:creationId xmlns:p14="http://schemas.microsoft.com/office/powerpoint/2010/main" val="40117505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animBg="1"/>
      <p:bldP spid="1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99274CD-879D-49CF-B930-A1E35DE409D8}"/>
              </a:ext>
            </a:extLst>
          </p:cNvPr>
          <p:cNvSpPr txBox="1"/>
          <p:nvPr/>
        </p:nvSpPr>
        <p:spPr>
          <a:xfrm>
            <a:off x="563854" y="568263"/>
            <a:ext cx="11061115" cy="1200016"/>
          </a:xfrm>
          <a:prstGeom prst="rect">
            <a:avLst/>
          </a:prstGeom>
          <a:noFill/>
        </p:spPr>
        <p:txBody>
          <a:bodyPr wrap="square" rtlCol="0">
            <a:spAutoFit/>
          </a:bodyPr>
          <a:lstStyle/>
          <a:p>
            <a:r>
              <a:rPr lang="en-AU" sz="1799" dirty="0"/>
              <a:t>You will notice that the word Blueberries doesn’t fit into the column correctly.  You can resize the column by grabbing the line between column A and B and dragging the column to the size that you want.  (you can do the same with rows).</a:t>
            </a:r>
          </a:p>
          <a:p>
            <a:endParaRPr lang="en-AU" sz="1799" dirty="0"/>
          </a:p>
        </p:txBody>
      </p:sp>
      <p:pic>
        <p:nvPicPr>
          <p:cNvPr id="4" name="Column resize 1">
            <a:hlinkClick r:id="" action="ppaction://media"/>
            <a:extLst>
              <a:ext uri="{FF2B5EF4-FFF2-40B4-BE49-F238E27FC236}">
                <a16:creationId xmlns:a16="http://schemas.microsoft.com/office/drawing/2014/main" id="{E8A58494-E37B-4CA0-9148-56874B719950}"/>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641153" y="1863468"/>
            <a:ext cx="5701890" cy="4665182"/>
          </a:xfrm>
          <a:prstGeom prst="rect">
            <a:avLst/>
          </a:prstGeom>
        </p:spPr>
      </p:pic>
      <p:sp>
        <p:nvSpPr>
          <p:cNvPr id="2" name="TextBox 1">
            <a:extLst>
              <a:ext uri="{FF2B5EF4-FFF2-40B4-BE49-F238E27FC236}">
                <a16:creationId xmlns:a16="http://schemas.microsoft.com/office/drawing/2014/main" id="{304229E8-36CE-49FE-8C6B-230C057CF0D8}"/>
              </a:ext>
            </a:extLst>
          </p:cNvPr>
          <p:cNvSpPr txBox="1"/>
          <p:nvPr/>
        </p:nvSpPr>
        <p:spPr>
          <a:xfrm>
            <a:off x="294391" y="233307"/>
            <a:ext cx="5800021" cy="369236"/>
          </a:xfrm>
          <a:prstGeom prst="rect">
            <a:avLst/>
          </a:prstGeom>
          <a:noFill/>
        </p:spPr>
        <p:txBody>
          <a:bodyPr wrap="square" rtlCol="0">
            <a:spAutoFit/>
          </a:bodyPr>
          <a:lstStyle/>
          <a:p>
            <a:r>
              <a:rPr lang="en-AU" sz="1799" b="1" dirty="0"/>
              <a:t>Resize the column</a:t>
            </a:r>
          </a:p>
        </p:txBody>
      </p:sp>
    </p:spTree>
    <p:extLst>
      <p:ext uri="{BB962C8B-B14F-4D97-AF65-F5344CB8AC3E}">
        <p14:creationId xmlns:p14="http://schemas.microsoft.com/office/powerpoint/2010/main" val="2954929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944"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4"/>
                </p:tgtEl>
              </p:cMediaNode>
            </p:vide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67148CB7-F662-410E-AFE7-6EB6CE680E2F}"/>
              </a:ext>
            </a:extLst>
          </p:cNvPr>
          <p:cNvSpPr txBox="1"/>
          <p:nvPr/>
        </p:nvSpPr>
        <p:spPr>
          <a:xfrm>
            <a:off x="34382" y="0"/>
            <a:ext cx="11061115" cy="2554545"/>
          </a:xfrm>
          <a:prstGeom prst="rect">
            <a:avLst/>
          </a:prstGeom>
          <a:noFill/>
        </p:spPr>
        <p:txBody>
          <a:bodyPr wrap="square" rtlCol="0">
            <a:spAutoFit/>
          </a:bodyPr>
          <a:lstStyle/>
          <a:p>
            <a:r>
              <a:rPr lang="en-AU" sz="2000" b="1" dirty="0">
                <a:latin typeface="Calibri" panose="020F0502020204030204" pitchFamily="34" charset="0"/>
                <a:cs typeface="Calibri" panose="020F0502020204030204" pitchFamily="34" charset="0"/>
              </a:rPr>
              <a:t>Now we are going to add a formula.</a:t>
            </a:r>
          </a:p>
          <a:p>
            <a:pPr lvl="1"/>
            <a:r>
              <a:rPr lang="en-AU" sz="2000" dirty="0">
                <a:latin typeface="Calibri" panose="020F0502020204030204" pitchFamily="34" charset="0"/>
                <a:cs typeface="Calibri" panose="020F0502020204030204" pitchFamily="34" charset="0"/>
              </a:rPr>
              <a:t>Formulas can be used to do calculations for us.</a:t>
            </a:r>
          </a:p>
          <a:p>
            <a:pPr lvl="1"/>
            <a:endParaRPr lang="en-AU" sz="2000" dirty="0">
              <a:latin typeface="Calibri" panose="020F0502020204030204" pitchFamily="34" charset="0"/>
              <a:cs typeface="Calibri" panose="020F0502020204030204" pitchFamily="34" charset="0"/>
            </a:endParaRPr>
          </a:p>
          <a:p>
            <a:pPr lvl="1"/>
            <a:r>
              <a:rPr lang="en-AU" sz="2000" dirty="0">
                <a:latin typeface="Calibri" panose="020F0502020204030204" pitchFamily="34" charset="0"/>
                <a:cs typeface="Calibri" panose="020F0502020204030204" pitchFamily="34" charset="0"/>
              </a:rPr>
              <a:t>Click on the cell “b4”and enter the following </a:t>
            </a:r>
          </a:p>
          <a:p>
            <a:pPr lvl="1"/>
            <a:r>
              <a:rPr lang="en-AU" sz="2000" dirty="0">
                <a:latin typeface="Calibri" panose="020F0502020204030204" pitchFamily="34" charset="0"/>
                <a:cs typeface="Calibri" panose="020F0502020204030204" pitchFamily="34" charset="0"/>
              </a:rPr>
              <a:t>	</a:t>
            </a:r>
            <a:r>
              <a:rPr lang="en-AU" sz="2000" b="1" dirty="0">
                <a:latin typeface="Calibri" panose="020F0502020204030204" pitchFamily="34" charset="0"/>
                <a:cs typeface="Calibri" panose="020F0502020204030204" pitchFamily="34" charset="0"/>
              </a:rPr>
              <a:t>=sum(b1:b3)</a:t>
            </a:r>
          </a:p>
          <a:p>
            <a:pPr lvl="1"/>
            <a:endParaRPr lang="en-AU" sz="2000" dirty="0">
              <a:latin typeface="Calibri" panose="020F0502020204030204" pitchFamily="34" charset="0"/>
              <a:cs typeface="Calibri" panose="020F0502020204030204" pitchFamily="34" charset="0"/>
            </a:endParaRPr>
          </a:p>
          <a:p>
            <a:pPr lvl="1"/>
            <a:r>
              <a:rPr lang="en-AU" sz="2000" dirty="0">
                <a:latin typeface="Calibri" panose="020F0502020204030204" pitchFamily="34" charset="0"/>
                <a:cs typeface="Calibri" panose="020F0502020204030204" pitchFamily="34" charset="0"/>
              </a:rPr>
              <a:t>This will add all the values in cells in the region starting from cell b1 and continuing to cell b3 </a:t>
            </a:r>
          </a:p>
          <a:p>
            <a:endParaRPr lang="en-AU" sz="2000" dirty="0">
              <a:latin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85CC70D9-EC30-4FE3-8394-57DC79CB5663}"/>
              </a:ext>
            </a:extLst>
          </p:cNvPr>
          <p:cNvPicPr>
            <a:picLocks noChangeAspect="1"/>
          </p:cNvPicPr>
          <p:nvPr/>
        </p:nvPicPr>
        <p:blipFill>
          <a:blip r:embed="rId2"/>
          <a:stretch>
            <a:fillRect/>
          </a:stretch>
        </p:blipFill>
        <p:spPr>
          <a:xfrm>
            <a:off x="1210054" y="2321290"/>
            <a:ext cx="4488474" cy="2042581"/>
          </a:xfrm>
          <a:prstGeom prst="rect">
            <a:avLst/>
          </a:prstGeom>
        </p:spPr>
      </p:pic>
      <p:pic>
        <p:nvPicPr>
          <p:cNvPr id="11" name="Picture 10">
            <a:extLst>
              <a:ext uri="{FF2B5EF4-FFF2-40B4-BE49-F238E27FC236}">
                <a16:creationId xmlns:a16="http://schemas.microsoft.com/office/drawing/2014/main" id="{73976D5B-EA0B-40EC-BB21-7EAAA325713B}"/>
              </a:ext>
            </a:extLst>
          </p:cNvPr>
          <p:cNvPicPr>
            <a:picLocks noChangeAspect="1"/>
          </p:cNvPicPr>
          <p:nvPr/>
        </p:nvPicPr>
        <p:blipFill>
          <a:blip r:embed="rId3"/>
          <a:stretch>
            <a:fillRect/>
          </a:stretch>
        </p:blipFill>
        <p:spPr>
          <a:xfrm>
            <a:off x="6569826" y="2276872"/>
            <a:ext cx="2611984" cy="2044734"/>
          </a:xfrm>
          <a:prstGeom prst="rect">
            <a:avLst/>
          </a:prstGeom>
        </p:spPr>
      </p:pic>
      <p:sp>
        <p:nvSpPr>
          <p:cNvPr id="13" name="TextBox 12">
            <a:extLst>
              <a:ext uri="{FF2B5EF4-FFF2-40B4-BE49-F238E27FC236}">
                <a16:creationId xmlns:a16="http://schemas.microsoft.com/office/drawing/2014/main" id="{A938708A-B925-4424-98D4-ED4A47AAAEC3}"/>
              </a:ext>
            </a:extLst>
          </p:cNvPr>
          <p:cNvSpPr txBox="1"/>
          <p:nvPr/>
        </p:nvSpPr>
        <p:spPr>
          <a:xfrm>
            <a:off x="405780" y="4797152"/>
            <a:ext cx="11061115" cy="707886"/>
          </a:xfrm>
          <a:prstGeom prst="rect">
            <a:avLst/>
          </a:prstGeom>
          <a:noFill/>
          <a:ln w="28575">
            <a:solidFill>
              <a:srgbClr val="FF0000"/>
            </a:solidFill>
          </a:ln>
        </p:spPr>
        <p:txBody>
          <a:bodyPr wrap="square" rtlCol="0">
            <a:spAutoFit/>
          </a:bodyPr>
          <a:lstStyle/>
          <a:p>
            <a:r>
              <a:rPr lang="en-AU" sz="2000" dirty="0">
                <a:latin typeface="Calibri" panose="020F0502020204030204" pitchFamily="34" charset="0"/>
                <a:cs typeface="Calibri" panose="020F0502020204030204" pitchFamily="34" charset="0"/>
              </a:rPr>
              <a:t>Now change the number of bananas to 7 and the number of apples to 9, you will see that the spreadsheet immediately recalculates the total for you.</a:t>
            </a:r>
          </a:p>
        </p:txBody>
      </p:sp>
    </p:spTree>
    <p:extLst>
      <p:ext uri="{BB962C8B-B14F-4D97-AF65-F5344CB8AC3E}">
        <p14:creationId xmlns:p14="http://schemas.microsoft.com/office/powerpoint/2010/main" val="265212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14F88-258D-4D8A-BD7E-CD27A9092A9B}"/>
              </a:ext>
            </a:extLst>
          </p:cNvPr>
          <p:cNvSpPr>
            <a:spLocks noGrp="1"/>
          </p:cNvSpPr>
          <p:nvPr>
            <p:ph type="title"/>
          </p:nvPr>
        </p:nvSpPr>
        <p:spPr>
          <a:xfrm>
            <a:off x="418345" y="520867"/>
            <a:ext cx="10870521" cy="580120"/>
          </a:xfrm>
        </p:spPr>
        <p:txBody>
          <a:bodyPr>
            <a:normAutofit fontScale="90000"/>
          </a:bodyPr>
          <a:lstStyle/>
          <a:p>
            <a:r>
              <a:rPr lang="en-AU" dirty="0"/>
              <a:t>Other formulas</a:t>
            </a:r>
            <a:br>
              <a:rPr lang="en-AU" dirty="0"/>
            </a:br>
            <a:endParaRPr lang="en-AU" dirty="0"/>
          </a:p>
        </p:txBody>
      </p:sp>
      <p:sp>
        <p:nvSpPr>
          <p:cNvPr id="3" name="TextBox 2">
            <a:extLst>
              <a:ext uri="{FF2B5EF4-FFF2-40B4-BE49-F238E27FC236}">
                <a16:creationId xmlns:a16="http://schemas.microsoft.com/office/drawing/2014/main" id="{DB77955D-1259-4C99-B7AF-32F03AAE5A7D}"/>
              </a:ext>
            </a:extLst>
          </p:cNvPr>
          <p:cNvSpPr txBox="1"/>
          <p:nvPr/>
        </p:nvSpPr>
        <p:spPr>
          <a:xfrm>
            <a:off x="333772" y="1592969"/>
            <a:ext cx="5411641" cy="4401205"/>
          </a:xfrm>
          <a:prstGeom prst="rect">
            <a:avLst/>
          </a:prstGeom>
          <a:noFill/>
        </p:spPr>
        <p:txBody>
          <a:bodyPr wrap="square" rtlCol="0">
            <a:spAutoFit/>
          </a:bodyPr>
          <a:lstStyle/>
          <a:p>
            <a:r>
              <a:rPr lang="en-AU" sz="2000" dirty="0">
                <a:latin typeface="Calibri" panose="020F0502020204030204" pitchFamily="34" charset="0"/>
                <a:cs typeface="Calibri" panose="020F0502020204030204" pitchFamily="34" charset="0"/>
              </a:rPr>
              <a:t>There are many formulas in excel that you can use.  </a:t>
            </a:r>
          </a:p>
          <a:p>
            <a:endParaRPr lang="en-AU" sz="2000" dirty="0">
              <a:latin typeface="Calibri" panose="020F0502020204030204" pitchFamily="34" charset="0"/>
              <a:cs typeface="Calibri" panose="020F0502020204030204" pitchFamily="34" charset="0"/>
            </a:endParaRPr>
          </a:p>
          <a:p>
            <a:r>
              <a:rPr lang="en-AU" sz="2000" dirty="0">
                <a:latin typeface="Calibri" panose="020F0502020204030204" pitchFamily="34" charset="0"/>
                <a:cs typeface="Calibri" panose="020F0502020204030204" pitchFamily="34" charset="0"/>
              </a:rPr>
              <a:t>To find them all, click on a cell and go to the Formula’s tab.  Here they are grouped into categories. </a:t>
            </a:r>
          </a:p>
          <a:p>
            <a:endParaRPr lang="en-AU" sz="2000" dirty="0">
              <a:latin typeface="Calibri" panose="020F0502020204030204" pitchFamily="34" charset="0"/>
              <a:cs typeface="Calibri" panose="020F0502020204030204" pitchFamily="34" charset="0"/>
            </a:endParaRPr>
          </a:p>
          <a:p>
            <a:endParaRPr lang="en-AU" sz="2000" dirty="0">
              <a:latin typeface="Calibri" panose="020F0502020204030204" pitchFamily="34" charset="0"/>
              <a:cs typeface="Calibri" panose="020F0502020204030204" pitchFamily="34" charset="0"/>
            </a:endParaRPr>
          </a:p>
          <a:p>
            <a:endParaRPr lang="en-AU" sz="2000" dirty="0">
              <a:latin typeface="Calibri" panose="020F0502020204030204" pitchFamily="34" charset="0"/>
              <a:cs typeface="Calibri" panose="020F0502020204030204" pitchFamily="34" charset="0"/>
            </a:endParaRPr>
          </a:p>
          <a:p>
            <a:endParaRPr lang="en-AU" sz="2000" dirty="0">
              <a:latin typeface="Calibri" panose="020F0502020204030204" pitchFamily="34" charset="0"/>
              <a:cs typeface="Calibri" panose="020F0502020204030204" pitchFamily="34" charset="0"/>
            </a:endParaRPr>
          </a:p>
          <a:p>
            <a:endParaRPr lang="en-AU" sz="2000" dirty="0">
              <a:latin typeface="Calibri" panose="020F0502020204030204" pitchFamily="34" charset="0"/>
              <a:cs typeface="Calibri" panose="020F0502020204030204" pitchFamily="34" charset="0"/>
            </a:endParaRPr>
          </a:p>
          <a:p>
            <a:endParaRPr lang="en-AU" sz="2000" dirty="0">
              <a:latin typeface="Calibri" panose="020F0502020204030204" pitchFamily="34" charset="0"/>
              <a:cs typeface="Calibri" panose="020F0502020204030204" pitchFamily="34" charset="0"/>
            </a:endParaRPr>
          </a:p>
          <a:p>
            <a:endParaRPr lang="en-AU" sz="2000" dirty="0">
              <a:latin typeface="Calibri" panose="020F0502020204030204" pitchFamily="34" charset="0"/>
              <a:cs typeface="Calibri" panose="020F0502020204030204" pitchFamily="34" charset="0"/>
            </a:endParaRPr>
          </a:p>
          <a:p>
            <a:r>
              <a:rPr lang="en-AU" sz="2000" dirty="0">
                <a:latin typeface="Calibri" panose="020F0502020204030204" pitchFamily="34" charset="0"/>
                <a:cs typeface="Calibri" panose="020F0502020204030204" pitchFamily="34" charset="0"/>
              </a:rPr>
              <a:t>You can also click the</a:t>
            </a:r>
            <a:r>
              <a:rPr lang="en-AU" sz="2000" dirty="0">
                <a:solidFill>
                  <a:srgbClr val="FF0000"/>
                </a:solidFill>
                <a:latin typeface="Calibri" panose="020F0502020204030204" pitchFamily="34" charset="0"/>
                <a:cs typeface="Calibri" panose="020F0502020204030204" pitchFamily="34" charset="0"/>
              </a:rPr>
              <a:t> </a:t>
            </a:r>
            <a:r>
              <a:rPr lang="en-AU" sz="2000" dirty="0" err="1">
                <a:solidFill>
                  <a:srgbClr val="FF0000"/>
                </a:solidFill>
                <a:latin typeface="Calibri" panose="020F0502020204030204" pitchFamily="34" charset="0"/>
                <a:cs typeface="Calibri" panose="020F0502020204030204" pitchFamily="34" charset="0"/>
              </a:rPr>
              <a:t>fx</a:t>
            </a:r>
            <a:r>
              <a:rPr lang="en-AU" sz="2000" dirty="0">
                <a:solidFill>
                  <a:srgbClr val="FF0000"/>
                </a:solidFill>
                <a:latin typeface="Calibri" panose="020F0502020204030204" pitchFamily="34" charset="0"/>
                <a:cs typeface="Calibri" panose="020F0502020204030204" pitchFamily="34" charset="0"/>
              </a:rPr>
              <a:t> </a:t>
            </a:r>
            <a:r>
              <a:rPr lang="en-AU" sz="2000" dirty="0">
                <a:latin typeface="Calibri" panose="020F0502020204030204" pitchFamily="34" charset="0"/>
                <a:cs typeface="Calibri" panose="020F0502020204030204" pitchFamily="34" charset="0"/>
              </a:rPr>
              <a:t>button on the formula bar and get a list of all the formulas.</a:t>
            </a:r>
          </a:p>
        </p:txBody>
      </p:sp>
      <p:pic>
        <p:nvPicPr>
          <p:cNvPr id="5" name="Picture 4">
            <a:extLst>
              <a:ext uri="{FF2B5EF4-FFF2-40B4-BE49-F238E27FC236}">
                <a16:creationId xmlns:a16="http://schemas.microsoft.com/office/drawing/2014/main" id="{14379B30-00FA-406A-9DB7-6745CC8F5291}"/>
              </a:ext>
            </a:extLst>
          </p:cNvPr>
          <p:cNvPicPr>
            <a:picLocks noChangeAspect="1"/>
          </p:cNvPicPr>
          <p:nvPr/>
        </p:nvPicPr>
        <p:blipFill rotWithShape="1">
          <a:blip r:embed="rId2"/>
          <a:srcRect t="3663" r="59756" b="52846"/>
          <a:stretch/>
        </p:blipFill>
        <p:spPr>
          <a:xfrm>
            <a:off x="6265191" y="893"/>
            <a:ext cx="5070083" cy="3080570"/>
          </a:xfrm>
          <a:prstGeom prst="rect">
            <a:avLst/>
          </a:prstGeom>
        </p:spPr>
      </p:pic>
      <p:pic>
        <p:nvPicPr>
          <p:cNvPr id="7" name="Picture 6">
            <a:extLst>
              <a:ext uri="{FF2B5EF4-FFF2-40B4-BE49-F238E27FC236}">
                <a16:creationId xmlns:a16="http://schemas.microsoft.com/office/drawing/2014/main" id="{8565F121-B424-47E1-9FCE-48C007CB6BF5}"/>
              </a:ext>
            </a:extLst>
          </p:cNvPr>
          <p:cNvPicPr>
            <a:picLocks noChangeAspect="1"/>
          </p:cNvPicPr>
          <p:nvPr/>
        </p:nvPicPr>
        <p:blipFill rotWithShape="1">
          <a:blip r:embed="rId3"/>
          <a:srcRect t="20408" r="50000" b="20409"/>
          <a:stretch/>
        </p:blipFill>
        <p:spPr>
          <a:xfrm>
            <a:off x="6094413" y="3255665"/>
            <a:ext cx="5411641" cy="3601442"/>
          </a:xfrm>
          <a:prstGeom prst="rect">
            <a:avLst/>
          </a:prstGeom>
        </p:spPr>
      </p:pic>
      <p:sp>
        <p:nvSpPr>
          <p:cNvPr id="8" name="Oval 7">
            <a:extLst>
              <a:ext uri="{FF2B5EF4-FFF2-40B4-BE49-F238E27FC236}">
                <a16:creationId xmlns:a16="http://schemas.microsoft.com/office/drawing/2014/main" id="{8B263D05-2CE1-4D13-BB1D-FCD28DC1809A}"/>
              </a:ext>
            </a:extLst>
          </p:cNvPr>
          <p:cNvSpPr/>
          <p:nvPr/>
        </p:nvSpPr>
        <p:spPr>
          <a:xfrm>
            <a:off x="7669664" y="3255666"/>
            <a:ext cx="464828" cy="52087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799"/>
          </a:p>
        </p:txBody>
      </p:sp>
      <p:sp>
        <p:nvSpPr>
          <p:cNvPr id="10" name="Arrow: Up 9">
            <a:extLst>
              <a:ext uri="{FF2B5EF4-FFF2-40B4-BE49-F238E27FC236}">
                <a16:creationId xmlns:a16="http://schemas.microsoft.com/office/drawing/2014/main" id="{FAB158AA-2E00-4879-AFC3-477805E5708F}"/>
              </a:ext>
            </a:extLst>
          </p:cNvPr>
          <p:cNvSpPr/>
          <p:nvPr/>
        </p:nvSpPr>
        <p:spPr>
          <a:xfrm rot="4274146">
            <a:off x="4986888" y="1704059"/>
            <a:ext cx="441751" cy="5277888"/>
          </a:xfrm>
          <a:prstGeom prst="up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799"/>
          </a:p>
        </p:txBody>
      </p:sp>
    </p:spTree>
    <p:extLst>
      <p:ext uri="{BB962C8B-B14F-4D97-AF65-F5344CB8AC3E}">
        <p14:creationId xmlns:p14="http://schemas.microsoft.com/office/powerpoint/2010/main" val="714202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CD3E406-891F-4DC0-AB14-3C496793FD30}"/>
              </a:ext>
            </a:extLst>
          </p:cNvPr>
          <p:cNvSpPr txBox="1"/>
          <p:nvPr/>
        </p:nvSpPr>
        <p:spPr>
          <a:xfrm>
            <a:off x="374333" y="199748"/>
            <a:ext cx="11061115" cy="1476943"/>
          </a:xfrm>
          <a:prstGeom prst="rect">
            <a:avLst/>
          </a:prstGeom>
          <a:noFill/>
        </p:spPr>
        <p:txBody>
          <a:bodyPr wrap="square" rtlCol="0">
            <a:spAutoFit/>
          </a:bodyPr>
          <a:lstStyle/>
          <a:p>
            <a:r>
              <a:rPr lang="en-AU" sz="1799" b="1" dirty="0"/>
              <a:t>Add an extra row of fruit into our table  </a:t>
            </a:r>
          </a:p>
          <a:p>
            <a:r>
              <a:rPr lang="en-AU" sz="1799" dirty="0"/>
              <a:t>I am going to add Grapes back into the table just above the Blueberries.  Click on row number 3 which highlights the entire row.  Then click on the “insert cells” icon on the “Home” section of the ribbon and add a new row. Now type in “Grapes” in the new cell add 15 as the quantity. </a:t>
            </a:r>
          </a:p>
          <a:p>
            <a:endParaRPr lang="en-AU" sz="1799" dirty="0"/>
          </a:p>
        </p:txBody>
      </p:sp>
      <p:sp>
        <p:nvSpPr>
          <p:cNvPr id="4" name="TextBox 3">
            <a:extLst>
              <a:ext uri="{FF2B5EF4-FFF2-40B4-BE49-F238E27FC236}">
                <a16:creationId xmlns:a16="http://schemas.microsoft.com/office/drawing/2014/main" id="{64043C62-3881-46B2-A570-C9E0285771E5}"/>
              </a:ext>
            </a:extLst>
          </p:cNvPr>
          <p:cNvSpPr txBox="1"/>
          <p:nvPr/>
        </p:nvSpPr>
        <p:spPr>
          <a:xfrm>
            <a:off x="374333" y="4960873"/>
            <a:ext cx="10192758" cy="646163"/>
          </a:xfrm>
          <a:prstGeom prst="rect">
            <a:avLst/>
          </a:prstGeom>
          <a:noFill/>
          <a:ln w="38100">
            <a:solidFill>
              <a:srgbClr val="FF0000"/>
            </a:solidFill>
          </a:ln>
        </p:spPr>
        <p:txBody>
          <a:bodyPr wrap="square" rtlCol="0">
            <a:spAutoFit/>
          </a:bodyPr>
          <a:lstStyle/>
          <a:p>
            <a:r>
              <a:rPr lang="en-AU" sz="1799" dirty="0"/>
              <a:t>Use this method to add a row above your table so you can add headings to your column such as “Fruit” and “Quantity”</a:t>
            </a:r>
          </a:p>
        </p:txBody>
      </p:sp>
      <p:pic>
        <p:nvPicPr>
          <p:cNvPr id="6" name="Picture 5">
            <a:extLst>
              <a:ext uri="{FF2B5EF4-FFF2-40B4-BE49-F238E27FC236}">
                <a16:creationId xmlns:a16="http://schemas.microsoft.com/office/drawing/2014/main" id="{87655B4F-72EC-48F1-9225-804BA4EFF24E}"/>
              </a:ext>
            </a:extLst>
          </p:cNvPr>
          <p:cNvPicPr>
            <a:picLocks noChangeAspect="1"/>
          </p:cNvPicPr>
          <p:nvPr/>
        </p:nvPicPr>
        <p:blipFill rotWithShape="1">
          <a:blip r:embed="rId4"/>
          <a:srcRect t="33469"/>
          <a:stretch/>
        </p:blipFill>
        <p:spPr>
          <a:xfrm>
            <a:off x="3716671" y="5663525"/>
            <a:ext cx="3508080" cy="1088560"/>
          </a:xfrm>
          <a:prstGeom prst="rect">
            <a:avLst/>
          </a:prstGeom>
        </p:spPr>
      </p:pic>
      <p:pic>
        <p:nvPicPr>
          <p:cNvPr id="7" name="Insert row 1">
            <a:hlinkClick r:id="" action="ppaction://media"/>
            <a:extLst>
              <a:ext uri="{FF2B5EF4-FFF2-40B4-BE49-F238E27FC236}">
                <a16:creationId xmlns:a16="http://schemas.microsoft.com/office/drawing/2014/main" id="{8A00645A-4A72-4493-B859-1B17D7BCE632}"/>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5"/>
          <a:srcRect t="-22" b="-22"/>
          <a:stretch/>
        </p:blipFill>
        <p:spPr>
          <a:xfrm>
            <a:off x="2250094" y="1496361"/>
            <a:ext cx="5818561" cy="3272941"/>
          </a:xfrm>
          <a:prstGeom prst="rect">
            <a:avLst/>
          </a:prstGeom>
        </p:spPr>
      </p:pic>
      <p:sp>
        <p:nvSpPr>
          <p:cNvPr id="8" name="TextBox 7">
            <a:extLst>
              <a:ext uri="{FF2B5EF4-FFF2-40B4-BE49-F238E27FC236}">
                <a16:creationId xmlns:a16="http://schemas.microsoft.com/office/drawing/2014/main" id="{5EE66544-DEDA-419D-9EF6-67DF8DEB0103}"/>
              </a:ext>
            </a:extLst>
          </p:cNvPr>
          <p:cNvSpPr txBox="1"/>
          <p:nvPr/>
        </p:nvSpPr>
        <p:spPr>
          <a:xfrm>
            <a:off x="8207172" y="2258562"/>
            <a:ext cx="3480037" cy="646163"/>
          </a:xfrm>
          <a:prstGeom prst="rect">
            <a:avLst/>
          </a:prstGeom>
          <a:noFill/>
        </p:spPr>
        <p:txBody>
          <a:bodyPr wrap="square">
            <a:spAutoFit/>
          </a:bodyPr>
          <a:lstStyle/>
          <a:p>
            <a:r>
              <a:rPr lang="en-AU" sz="1799" dirty="0"/>
              <a:t>You can also add and remove columns using the same process. </a:t>
            </a:r>
          </a:p>
        </p:txBody>
      </p:sp>
      <p:sp>
        <p:nvSpPr>
          <p:cNvPr id="9" name="TextBox 8">
            <a:extLst>
              <a:ext uri="{FF2B5EF4-FFF2-40B4-BE49-F238E27FC236}">
                <a16:creationId xmlns:a16="http://schemas.microsoft.com/office/drawing/2014/main" id="{B3D812D2-29EB-48C3-9C6E-145C2A236114}"/>
              </a:ext>
            </a:extLst>
          </p:cNvPr>
          <p:cNvSpPr txBox="1"/>
          <p:nvPr/>
        </p:nvSpPr>
        <p:spPr>
          <a:xfrm>
            <a:off x="8207172" y="3132832"/>
            <a:ext cx="3612087" cy="1200016"/>
          </a:xfrm>
          <a:prstGeom prst="rect">
            <a:avLst/>
          </a:prstGeom>
          <a:noFill/>
        </p:spPr>
        <p:txBody>
          <a:bodyPr wrap="square">
            <a:spAutoFit/>
          </a:bodyPr>
          <a:lstStyle/>
          <a:p>
            <a:r>
              <a:rPr lang="en-AU" sz="1799" dirty="0"/>
              <a:t>Notice that formula we added before automatically recalculates the new total with the new row included.</a:t>
            </a:r>
          </a:p>
        </p:txBody>
      </p:sp>
    </p:spTree>
    <p:extLst>
      <p:ext uri="{BB962C8B-B14F-4D97-AF65-F5344CB8AC3E}">
        <p14:creationId xmlns:p14="http://schemas.microsoft.com/office/powerpoint/2010/main" val="3861374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488"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par>
                          <p:cTn id="13" fill="hold">
                            <p:stCondLst>
                              <p:cond delay="0"/>
                            </p:stCondLst>
                            <p:childTnLst>
                              <p:par>
                                <p:cTn id="14" presetID="1" presetClass="entr" presetSubtype="0"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4"/>
                                        </p:tgtEl>
                                        <p:attrNameLst>
                                          <p:attrName>style.visibility</p:attrName>
                                        </p:attrNameLst>
                                      </p:cBhvr>
                                      <p:to>
                                        <p:strVal val="visible"/>
                                      </p:to>
                                    </p:set>
                                  </p:childTnLst>
                                </p:cTn>
                              </p:par>
                            </p:childTnLst>
                          </p:cTn>
                        </p:par>
                      </p:childTnLst>
                    </p:cTn>
                  </p:par>
                </p:childTnLst>
              </p:cTn>
              <p:nextCondLst>
                <p:cond evt="onClick" delay="0">
                  <p:tgtEl>
                    <p:spTgt spid="7"/>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C6E17-72CA-4F8E-816A-C4248176133A}"/>
              </a:ext>
            </a:extLst>
          </p:cNvPr>
          <p:cNvSpPr>
            <a:spLocks noGrp="1"/>
          </p:cNvSpPr>
          <p:nvPr>
            <p:ph type="title"/>
          </p:nvPr>
        </p:nvSpPr>
        <p:spPr/>
        <p:txBody>
          <a:bodyPr/>
          <a:lstStyle/>
          <a:p>
            <a:r>
              <a:rPr lang="en-AU" dirty="0"/>
              <a:t>Task – MS Excel Spreadsheet</a:t>
            </a:r>
          </a:p>
        </p:txBody>
      </p:sp>
      <p:sp>
        <p:nvSpPr>
          <p:cNvPr id="3" name="Content Placeholder 2">
            <a:extLst>
              <a:ext uri="{FF2B5EF4-FFF2-40B4-BE49-F238E27FC236}">
                <a16:creationId xmlns:a16="http://schemas.microsoft.com/office/drawing/2014/main" id="{5E61076B-717A-458F-AC69-D038B672EF10}"/>
              </a:ext>
            </a:extLst>
          </p:cNvPr>
          <p:cNvSpPr>
            <a:spLocks noGrp="1"/>
          </p:cNvSpPr>
          <p:nvPr>
            <p:ph idx="1"/>
          </p:nvPr>
        </p:nvSpPr>
        <p:spPr/>
        <p:txBody>
          <a:bodyPr/>
          <a:lstStyle/>
          <a:p>
            <a:r>
              <a:rPr lang="en-AU" dirty="0"/>
              <a:t>Login to Connect and you will find in Content that there has been a MS Excel Spreadsheet that I have started for you.</a:t>
            </a:r>
          </a:p>
          <a:p>
            <a:r>
              <a:rPr lang="en-AU" dirty="0"/>
              <a:t>You will need to complete it by:</a:t>
            </a:r>
          </a:p>
          <a:p>
            <a:pPr lvl="1"/>
            <a:r>
              <a:rPr lang="en-AU" dirty="0"/>
              <a:t>Determining how much food to buy</a:t>
            </a:r>
          </a:p>
          <a:p>
            <a:pPr lvl="1"/>
            <a:r>
              <a:rPr lang="en-AU" dirty="0"/>
              <a:t>Researching the prices of food for the week</a:t>
            </a:r>
          </a:p>
          <a:p>
            <a:pPr lvl="1"/>
            <a:r>
              <a:rPr lang="en-AU" dirty="0"/>
              <a:t>Using MS Excel to calculate how much money needs to be spent</a:t>
            </a:r>
          </a:p>
          <a:p>
            <a:r>
              <a:rPr lang="en-AU" dirty="0"/>
              <a:t>In the same area, you will also find the recipes that have been chosen by me for you to work out other information like nutritional value and cooking time as well as any other information you feel </a:t>
            </a:r>
            <a:r>
              <a:rPr lang="en-AU"/>
              <a:t>is important.</a:t>
            </a:r>
            <a:endParaRPr lang="en-AU" dirty="0"/>
          </a:p>
        </p:txBody>
      </p:sp>
    </p:spTree>
    <p:extLst>
      <p:ext uri="{BB962C8B-B14F-4D97-AF65-F5344CB8AC3E}">
        <p14:creationId xmlns:p14="http://schemas.microsoft.com/office/powerpoint/2010/main" val="194609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halkboard 16x9">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80000"/>
                <a:satMod val="300000"/>
              </a:schemeClr>
            </a:gs>
            <a:gs pos="100000">
              <a:schemeClr val="phClr">
                <a:shade val="30000"/>
                <a:satMod val="200000"/>
              </a:schemeClr>
            </a:gs>
          </a:gsLst>
          <a:path path="circle">
            <a:fillToRect l="50000" t="50000" r="50000" b="50000"/>
          </a:path>
        </a:gradFill>
        <a:blipFill rotWithShape="1">
          <a:blip xmlns:r="http://schemas.openxmlformats.org/officeDocument/2006/relationships" r:embed="rId1">
            <a:duotone>
              <a:schemeClr val="phClr">
                <a:shade val="12000"/>
                <a:satMod val="240000"/>
              </a:schemeClr>
              <a:schemeClr val="phClr">
                <a:tint val="65000"/>
              </a:schemeClr>
            </a:duotone>
          </a:blip>
          <a:stretch/>
        </a:blipFill>
      </a:bgFillStyleLst>
    </a:fmtScheme>
  </a:themeElements>
  <a:objectDefaults>
    <a:spDef>
      <a:spPr>
        <a:ln>
          <a:miter lim="800000"/>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miter lim="8000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nSpc>
            <a:spcPct val="90000"/>
          </a:lnSpc>
          <a:defRPr sz="2400"/>
        </a:defPPr>
      </a:lstStyle>
    </a:txDef>
  </a:objectDefaults>
  <a:extraClrSchemeLst/>
  <a:extLst>
    <a:ext uri="{05A4C25C-085E-4340-85A3-A5531E510DB2}">
      <thm15:themeFamily xmlns:thm15="http://schemas.microsoft.com/office/thememl/2012/main" name="TF00001018.potx" id="{D19C2884-2C55-4C1A-A5C2-5D03FF1F35A4}" vid="{5F7A9C6A-558C-4654-B762-2F22BC904FAE}"/>
    </a:ext>
  </a:extLst>
</a:theme>
</file>

<file path=ppt/theme/theme2.xml><?xml version="1.0" encoding="utf-8"?>
<a:theme xmlns:a="http://schemas.openxmlformats.org/drawingml/2006/main" name="Office Theme">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Chalkboard education presentation (widescreen)</Template>
  <TotalTime>525</TotalTime>
  <Words>1050</Words>
  <Application>Microsoft Office PowerPoint</Application>
  <PresentationFormat>Custom</PresentationFormat>
  <Paragraphs>110</Paragraphs>
  <Slides>14</Slides>
  <Notes>1</Notes>
  <HiddenSlides>0</HiddenSlides>
  <MMClips>2</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Consolas</vt:lpstr>
      <vt:lpstr>Corbel</vt:lpstr>
      <vt:lpstr>Chalkboard 16x9</vt:lpstr>
      <vt:lpstr>Topic: Mathematical Thinking Process EQ: How do I use the mathematical thinking process to solve a problem?</vt:lpstr>
      <vt:lpstr>Senior School Assessment Policy</vt:lpstr>
      <vt:lpstr>Mathematical Thinking Process</vt:lpstr>
      <vt:lpstr>PowerPoint Presentation</vt:lpstr>
      <vt:lpstr>Task (LHS) – Apply the Mathematical Knowledge and Strategies to Calculate Values</vt:lpstr>
      <vt:lpstr>Slide 2</vt:lpstr>
      <vt:lpstr>Slide 3</vt:lpstr>
      <vt:lpstr>Slide 4</vt:lpstr>
      <vt:lpstr>PowerPoint Presentation</vt:lpstr>
      <vt:lpstr>PowerPoint Presentation</vt:lpstr>
      <vt:lpstr>PowerPoint Presentation</vt:lpstr>
      <vt:lpstr>Other formulas </vt:lpstr>
      <vt:lpstr>PowerPoint Presentation</vt:lpstr>
      <vt:lpstr>Task – MS Excel Spreadsheet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Mathematical Thinking Process EQ: How do I use the mathematical thinking process to solve a problem?</dc:title>
  <dc:creator>Magdeline Lum</dc:creator>
  <cp:lastModifiedBy>Magdeline Lum</cp:lastModifiedBy>
  <cp:revision>12</cp:revision>
  <cp:lastPrinted>2021-03-03T04:56:39Z</cp:lastPrinted>
  <dcterms:created xsi:type="dcterms:W3CDTF">2021-03-01T06:50:29Z</dcterms:created>
  <dcterms:modified xsi:type="dcterms:W3CDTF">2021-03-03T04:56:40Z</dcterms:modified>
</cp:coreProperties>
</file>
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5"/>
  </p:notesMasterIdLst>
  <p:handoutMasterIdLst>
    <p:handoutMasterId r:id="rId16"/>
  </p:handoutMasterIdLst>
  <p:sldIdLst>
    <p:sldId id="258" r:id="rId5"/>
    <p:sldId id="272" r:id="rId6"/>
    <p:sldId id="270" r:id="rId7"/>
    <p:sldId id="280" r:id="rId8"/>
    <p:sldId id="281" r:id="rId9"/>
    <p:sldId id="282" r:id="rId10"/>
    <p:sldId id="273" r:id="rId11"/>
    <p:sldId id="274" r:id="rId12"/>
    <p:sldId id="275" r:id="rId13"/>
    <p:sldId id="2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8" autoAdjust="0"/>
    <p:restoredTop sz="94715"/>
  </p:normalViewPr>
  <p:slideViewPr>
    <p:cSldViewPr snapToGrid="0">
      <p:cViewPr varScale="1">
        <p:scale>
          <a:sx n="105" d="100"/>
          <a:sy n="105" d="100"/>
        </p:scale>
        <p:origin x="200" y="544"/>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10/24/18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10/24/18</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3608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4</a:t>
            </a:fld>
            <a:endParaRPr lang="uk-UA"/>
          </a:p>
        </p:txBody>
      </p:sp>
    </p:spTree>
    <p:extLst>
      <p:ext uri="{BB962C8B-B14F-4D97-AF65-F5344CB8AC3E}">
        <p14:creationId xmlns:p14="http://schemas.microsoft.com/office/powerpoint/2010/main" val="1242223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10/24/18</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10/24/18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10/24/18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6415368" y="2194560"/>
            <a:ext cx="449342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Date Placeholder 4"/>
          <p:cNvSpPr>
            <a:spLocks noGrp="1"/>
          </p:cNvSpPr>
          <p:nvPr>
            <p:ph type="dt" sz="half" idx="10"/>
          </p:nvPr>
        </p:nvSpPr>
        <p:spPr/>
        <p:txBody>
          <a:bodyPr/>
          <a:lstStyle/>
          <a:p>
            <a:fld id="{2CCFE9AC-F15C-4FA0-A6F1-298829FA691D}" type="datetimeFigureOut">
              <a:rPr lang="en-US"/>
              <a:t>10/24/18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7" name="Date Placeholder 6"/>
          <p:cNvSpPr>
            <a:spLocks noGrp="1"/>
          </p:cNvSpPr>
          <p:nvPr>
            <p:ph type="dt" sz="half" idx="10"/>
          </p:nvPr>
        </p:nvSpPr>
        <p:spPr/>
        <p:txBody>
          <a:bodyPr/>
          <a:lstStyle/>
          <a:p>
            <a:fld id="{2CCFE9AC-F15C-4FA0-A6F1-298829FA691D}" type="datetimeFigureOut">
              <a:rPr lang="en-US"/>
              <a:t>10/24/18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10/24/18</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10/24/18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10/24/18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10/24/18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10/24/18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10/24/18</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rP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a:t>Click to edit Master text styles</a:t>
            </a:r>
          </a:p>
          <a:p>
            <a:pPr lvl="1"/>
            <a:r>
              <a:rPr/>
              <a:t>Second level</a:t>
            </a:r>
          </a:p>
          <a:p>
            <a:pPr lvl="2"/>
            <a:r>
              <a:rPr/>
              <a:t>Third level</a:t>
            </a:r>
          </a:p>
          <a:p>
            <a:pPr lvl="3"/>
            <a:r>
              <a:rPr/>
              <a:t>Fourth level</a:t>
            </a:r>
          </a:p>
          <a:p>
            <a:pPr lvl="4"/>
            <a:r>
              <a:rPr/>
              <a:t>Fifth level</a:t>
            </a:r>
          </a:p>
          <a:p>
            <a:pPr lvl="5"/>
            <a:r>
              <a:rPr/>
              <a:t>Sixth</a:t>
            </a:r>
          </a:p>
          <a:p>
            <a:pPr lvl="6"/>
            <a:r>
              <a:rPr/>
              <a:t>Seventh</a:t>
            </a:r>
          </a:p>
          <a:p>
            <a:pPr lvl="7"/>
            <a:r>
              <a:rPr/>
              <a:t>Eighth</a:t>
            </a:r>
          </a:p>
          <a:p>
            <a:pPr lvl="8"/>
            <a:r>
              <a:rP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10/24/18</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Street Maps and Scales</a:t>
            </a:r>
            <a:endParaRPr lang="en-US" dirty="0"/>
          </a:p>
        </p:txBody>
      </p:sp>
      <p:sp>
        <p:nvSpPr>
          <p:cNvPr id="3" name="Subtitle 2"/>
          <p:cNvSpPr>
            <a:spLocks noGrp="1"/>
          </p:cNvSpPr>
          <p:nvPr>
            <p:ph type="subTitle" idx="1"/>
          </p:nvPr>
        </p:nvSpPr>
        <p:spPr>
          <a:xfrm>
            <a:off x="2921876" y="4508938"/>
            <a:ext cx="9270123" cy="945931"/>
          </a:xfrm>
        </p:spPr>
        <p:txBody>
          <a:bodyPr>
            <a:normAutofit/>
          </a:bodyPr>
          <a:lstStyle/>
          <a:p>
            <a:r>
              <a:rPr lang="en-US" dirty="0" smtClean="0"/>
              <a:t>Topic: </a:t>
            </a:r>
            <a:r>
              <a:rPr lang="en-US" dirty="0" smtClean="0"/>
              <a:t>Street Maps and Scales</a:t>
            </a:r>
            <a:endParaRPr lang="en-US" dirty="0" smtClean="0"/>
          </a:p>
          <a:p>
            <a:r>
              <a:rPr lang="en-US" dirty="0" smtClean="0"/>
              <a:t>EQ: How </a:t>
            </a:r>
            <a:r>
              <a:rPr lang="en-US" dirty="0" smtClean="0"/>
              <a:t>do we read street maps?</a:t>
            </a:r>
            <a:endParaRPr lang="en-US"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6343"/>
            <a:ext cx="12055366" cy="1278374"/>
          </a:xfrm>
        </p:spPr>
        <p:txBody>
          <a:bodyPr>
            <a:normAutofit/>
          </a:bodyPr>
          <a:lstStyle/>
          <a:p>
            <a:r>
              <a:rPr lang="en-US" dirty="0"/>
              <a:t>Topic: </a:t>
            </a:r>
            <a:r>
              <a:rPr lang="en-US" dirty="0" smtClean="0"/>
              <a:t>Street Maps and Scales</a:t>
            </a:r>
            <a:r>
              <a:rPr lang="en-US" dirty="0"/>
              <a:t/>
            </a:r>
            <a:br>
              <a:rPr lang="en-US" dirty="0"/>
            </a:br>
            <a:r>
              <a:rPr lang="en-US" dirty="0"/>
              <a:t>EQ: How </a:t>
            </a:r>
            <a:r>
              <a:rPr lang="en-US" dirty="0" smtClean="0"/>
              <a:t>do we read street maps?</a:t>
            </a:r>
            <a:endParaRPr lang="en-GB" u="sng" dirty="0">
              <a:solidFill>
                <a:schemeClr val="bg1"/>
              </a:solidFill>
            </a:endParaRPr>
          </a:p>
        </p:txBody>
      </p:sp>
      <p:sp>
        <p:nvSpPr>
          <p:cNvPr id="3" name="Content Placeholder 2"/>
          <p:cNvSpPr>
            <a:spLocks noGrp="1"/>
          </p:cNvSpPr>
          <p:nvPr>
            <p:ph idx="1"/>
          </p:nvPr>
        </p:nvSpPr>
        <p:spPr>
          <a:xfrm>
            <a:off x="214411" y="2169729"/>
            <a:ext cx="11626543" cy="1130520"/>
          </a:xfrm>
        </p:spPr>
        <p:txBody>
          <a:bodyPr/>
          <a:lstStyle/>
          <a:p>
            <a:pPr marL="0" indent="0">
              <a:buNone/>
            </a:pPr>
            <a:r>
              <a:rPr lang="en-GB" dirty="0" smtClean="0">
                <a:solidFill>
                  <a:schemeClr val="tx2"/>
                </a:solidFill>
              </a:rPr>
              <a:t>Most new cars today have a built in GPS. Our phones have multiple apps for directions. But what happens when we need to use an alternate route due to an accident or trusty Google Maps has given us a dodgy route?</a:t>
            </a:r>
          </a:p>
          <a:p>
            <a:pPr marL="0" indent="0">
              <a:buNone/>
            </a:pPr>
            <a:endParaRPr lang="en-GB" dirty="0">
              <a:solidFill>
                <a:schemeClr val="tx2"/>
              </a:solidFill>
            </a:endParaRPr>
          </a:p>
          <a:p>
            <a:pPr marL="0" indent="0">
              <a:buNone/>
            </a:pPr>
            <a:endParaRPr lang="en-GB" dirty="0">
              <a:solidFill>
                <a:schemeClr val="tx2"/>
              </a:solidFill>
            </a:endParaRPr>
          </a:p>
        </p:txBody>
      </p:sp>
      <p:sp>
        <p:nvSpPr>
          <p:cNvPr id="4" name="Content Placeholder 2"/>
          <p:cNvSpPr txBox="1">
            <a:spLocks/>
          </p:cNvSpPr>
          <p:nvPr/>
        </p:nvSpPr>
        <p:spPr>
          <a:xfrm>
            <a:off x="214411" y="3499288"/>
            <a:ext cx="11626543" cy="74689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a:lstStyle>
          <a:p>
            <a:pPr marL="0" indent="0">
              <a:buFont typeface="Wingdings" panose="05000000000000000000" pitchFamily="2" charset="2"/>
              <a:buNone/>
            </a:pPr>
            <a:r>
              <a:rPr lang="en-GB" dirty="0" smtClean="0">
                <a:solidFill>
                  <a:schemeClr val="tx2"/>
                </a:solidFill>
              </a:rPr>
              <a:t>We use what those of us born in the 90’s and below call a street directory. Street maps have a grid, coordinate system to help us locate features. We read coordinates by starting with:</a:t>
            </a:r>
          </a:p>
          <a:p>
            <a:pPr marL="0" indent="0">
              <a:buFont typeface="Wingdings" panose="05000000000000000000" pitchFamily="2" charset="2"/>
              <a:buNone/>
            </a:pPr>
            <a:endParaRPr lang="en-GB" dirty="0" smtClean="0">
              <a:solidFill>
                <a:schemeClr val="tx2"/>
              </a:solidFill>
            </a:endParaRPr>
          </a:p>
          <a:p>
            <a:pPr marL="0" indent="0">
              <a:buFont typeface="Wingdings" panose="05000000000000000000" pitchFamily="2" charset="2"/>
              <a:buNone/>
            </a:pPr>
            <a:endParaRPr lang="en-GB" dirty="0">
              <a:solidFill>
                <a:schemeClr val="tx2"/>
              </a:solidFill>
            </a:endParaRPr>
          </a:p>
        </p:txBody>
      </p:sp>
      <p:sp>
        <p:nvSpPr>
          <p:cNvPr id="6" name="TextBox 5"/>
          <p:cNvSpPr txBox="1"/>
          <p:nvPr/>
        </p:nvSpPr>
        <p:spPr>
          <a:xfrm>
            <a:off x="935420" y="4582511"/>
            <a:ext cx="9616966" cy="461665"/>
          </a:xfrm>
          <a:prstGeom prst="rect">
            <a:avLst/>
          </a:prstGeom>
          <a:noFill/>
        </p:spPr>
        <p:txBody>
          <a:bodyPr wrap="square" rtlCol="0">
            <a:spAutoFit/>
          </a:bodyPr>
          <a:lstStyle/>
          <a:p>
            <a:pPr marL="285750" indent="-285750">
              <a:buFont typeface="Arial" charset="0"/>
              <a:buChar char="•"/>
            </a:pPr>
            <a:r>
              <a:rPr lang="en-US" sz="2400" dirty="0" smtClean="0"/>
              <a:t>The horizontal (across) letters, then the vertical (up and down) letters</a:t>
            </a:r>
            <a:endParaRPr lang="en-US" sz="2400" dirty="0"/>
          </a:p>
        </p:txBody>
      </p:sp>
    </p:spTree>
    <p:extLst>
      <p:ext uri="{BB962C8B-B14F-4D97-AF65-F5344CB8AC3E}">
        <p14:creationId xmlns:p14="http://schemas.microsoft.com/office/powerpoint/2010/main" val="158125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9921" y="515007"/>
            <a:ext cx="1671145" cy="523220"/>
          </a:xfrm>
          <a:prstGeom prst="rect">
            <a:avLst/>
          </a:prstGeom>
          <a:noFill/>
        </p:spPr>
        <p:txBody>
          <a:bodyPr wrap="square" rtlCol="0">
            <a:spAutoFit/>
          </a:bodyPr>
          <a:lstStyle/>
          <a:p>
            <a:r>
              <a:rPr lang="en-US" sz="2800" smtClean="0">
                <a:solidFill>
                  <a:schemeClr val="bg2"/>
                </a:solidFill>
              </a:rPr>
              <a:t>Example</a:t>
            </a:r>
            <a:endParaRPr lang="en-US" sz="2800">
              <a:solidFill>
                <a:schemeClr val="bg2"/>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21" y="1038227"/>
            <a:ext cx="4903513" cy="579719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3694" y="2146300"/>
            <a:ext cx="6350000" cy="1016000"/>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93694" y="3959402"/>
            <a:ext cx="6210300" cy="1803400"/>
          </a:xfrm>
          <a:prstGeom prst="rect">
            <a:avLst/>
          </a:prstGeom>
        </p:spPr>
      </p:pic>
    </p:spTree>
    <p:extLst>
      <p:ext uri="{BB962C8B-B14F-4D97-AF65-F5344CB8AC3E}">
        <p14:creationId xmlns:p14="http://schemas.microsoft.com/office/powerpoint/2010/main" val="75866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9921" y="515007"/>
            <a:ext cx="1671145" cy="523220"/>
          </a:xfrm>
          <a:prstGeom prst="rect">
            <a:avLst/>
          </a:prstGeom>
          <a:noFill/>
        </p:spPr>
        <p:txBody>
          <a:bodyPr wrap="square" rtlCol="0">
            <a:spAutoFit/>
          </a:bodyPr>
          <a:lstStyle/>
          <a:p>
            <a:r>
              <a:rPr lang="en-US" sz="2800" dirty="0" smtClean="0">
                <a:solidFill>
                  <a:schemeClr val="bg2"/>
                </a:solidFill>
              </a:rPr>
              <a:t>Example</a:t>
            </a:r>
            <a:endParaRPr lang="en-US" sz="2800" dirty="0">
              <a:solidFill>
                <a:schemeClr val="bg2"/>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9718" y="2209800"/>
            <a:ext cx="7732282" cy="1776984"/>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921" y="2209800"/>
            <a:ext cx="4318000" cy="454660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317627"/>
            <a:ext cx="8509000" cy="711200"/>
          </a:xfrm>
          <a:prstGeom prst="rect">
            <a:avLst/>
          </a:prstGeom>
        </p:spPr>
      </p:pic>
    </p:spTree>
    <p:extLst>
      <p:ext uri="{BB962C8B-B14F-4D97-AF65-F5344CB8AC3E}">
        <p14:creationId xmlns:p14="http://schemas.microsoft.com/office/powerpoint/2010/main" val="186581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66343"/>
            <a:ext cx="12055366" cy="1278374"/>
          </a:xfrm>
        </p:spPr>
        <p:txBody>
          <a:bodyPr>
            <a:normAutofit/>
          </a:bodyPr>
          <a:lstStyle/>
          <a:p>
            <a:r>
              <a:rPr lang="en-US" dirty="0"/>
              <a:t>Topic: </a:t>
            </a:r>
            <a:r>
              <a:rPr lang="en-US" dirty="0" smtClean="0"/>
              <a:t>Street Maps and Scales</a:t>
            </a:r>
            <a:r>
              <a:rPr lang="en-US" dirty="0"/>
              <a:t/>
            </a:r>
            <a:br>
              <a:rPr lang="en-US" dirty="0"/>
            </a:br>
            <a:r>
              <a:rPr lang="en-US" dirty="0"/>
              <a:t>EQ: How </a:t>
            </a:r>
            <a:r>
              <a:rPr lang="en-US" dirty="0" smtClean="0"/>
              <a:t>do we read street maps?</a:t>
            </a:r>
            <a:endParaRPr lang="en-GB" u="sng" dirty="0">
              <a:solidFill>
                <a:schemeClr val="bg1"/>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1500" y="2993136"/>
            <a:ext cx="7886700" cy="2882900"/>
          </a:xfrm>
          <a:prstGeom prst="rect">
            <a:avLst/>
          </a:prstGeom>
        </p:spPr>
      </p:pic>
      <p:sp>
        <p:nvSpPr>
          <p:cNvPr id="8" name="TextBox 7"/>
          <p:cNvSpPr txBox="1"/>
          <p:nvPr/>
        </p:nvSpPr>
        <p:spPr>
          <a:xfrm>
            <a:off x="121920" y="2107316"/>
            <a:ext cx="1892185" cy="523220"/>
          </a:xfrm>
          <a:prstGeom prst="rect">
            <a:avLst/>
          </a:prstGeom>
          <a:noFill/>
        </p:spPr>
        <p:txBody>
          <a:bodyPr wrap="none" rtlCol="0">
            <a:spAutoFit/>
          </a:bodyPr>
          <a:lstStyle/>
          <a:p>
            <a:r>
              <a:rPr lang="en-US" sz="2800" dirty="0" smtClean="0"/>
              <a:t>Remember:</a:t>
            </a:r>
            <a:endParaRPr lang="en-US" sz="2800" dirty="0"/>
          </a:p>
        </p:txBody>
      </p:sp>
    </p:spTree>
    <p:extLst>
      <p:ext uri="{BB962C8B-B14F-4D97-AF65-F5344CB8AC3E}">
        <p14:creationId xmlns:p14="http://schemas.microsoft.com/office/powerpoint/2010/main" val="116366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60704" y="2474976"/>
            <a:ext cx="9095232" cy="954107"/>
          </a:xfrm>
          <a:prstGeom prst="rect">
            <a:avLst/>
          </a:prstGeom>
          <a:noFill/>
        </p:spPr>
        <p:txBody>
          <a:bodyPr wrap="square" rtlCol="0">
            <a:spAutoFit/>
          </a:bodyPr>
          <a:lstStyle/>
          <a:p>
            <a:r>
              <a:rPr lang="en-US" sz="2800" dirty="0" smtClean="0"/>
              <a:t>Complete Exercise 13.02 Worksheet (pg. 325/326 of Nelson 11 Essentials)</a:t>
            </a:r>
            <a:endParaRPr lang="en-US" sz="2800" dirty="0"/>
          </a:p>
        </p:txBody>
      </p:sp>
      <p:sp>
        <p:nvSpPr>
          <p:cNvPr id="7" name="Title 1"/>
          <p:cNvSpPr>
            <a:spLocks noGrp="1"/>
          </p:cNvSpPr>
          <p:nvPr>
            <p:ph type="title"/>
          </p:nvPr>
        </p:nvSpPr>
        <p:spPr>
          <a:xfrm>
            <a:off x="0" y="466343"/>
            <a:ext cx="12055366" cy="1278374"/>
          </a:xfrm>
        </p:spPr>
        <p:txBody>
          <a:bodyPr>
            <a:normAutofit/>
          </a:bodyPr>
          <a:lstStyle/>
          <a:p>
            <a:r>
              <a:rPr lang="en-US" dirty="0" smtClean="0"/>
              <a:t>     Your Turn</a:t>
            </a:r>
            <a:endParaRPr lang="en-GB" u="sng" dirty="0">
              <a:solidFill>
                <a:schemeClr val="bg1"/>
              </a:solidFill>
            </a:endParaRPr>
          </a:p>
        </p:txBody>
      </p:sp>
    </p:spTree>
    <p:extLst>
      <p:ext uri="{BB962C8B-B14F-4D97-AF65-F5344CB8AC3E}">
        <p14:creationId xmlns:p14="http://schemas.microsoft.com/office/powerpoint/2010/main" val="49874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black">
          <a:xfrm>
            <a:off x="0" y="466343"/>
            <a:ext cx="12055366" cy="1278374"/>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mtClean="0"/>
              <a:t>Topic: Street Maps and Scales</a:t>
            </a:r>
            <a:br>
              <a:rPr lang="en-US" smtClean="0"/>
            </a:br>
            <a:r>
              <a:rPr lang="en-US" smtClean="0"/>
              <a:t>EQ: How do we read street maps?</a:t>
            </a:r>
            <a:endParaRPr lang="en-GB" u="sng" dirty="0"/>
          </a:p>
        </p:txBody>
      </p:sp>
      <p:sp>
        <p:nvSpPr>
          <p:cNvPr id="8" name="Content Placeholder 2"/>
          <p:cNvSpPr>
            <a:spLocks noGrp="1"/>
          </p:cNvSpPr>
          <p:nvPr>
            <p:ph idx="1"/>
          </p:nvPr>
        </p:nvSpPr>
        <p:spPr>
          <a:xfrm>
            <a:off x="214411" y="2169729"/>
            <a:ext cx="11624021" cy="707583"/>
          </a:xfrm>
        </p:spPr>
        <p:txBody>
          <a:bodyPr>
            <a:normAutofit lnSpcReduction="10000"/>
          </a:bodyPr>
          <a:lstStyle/>
          <a:p>
            <a:pPr marL="0" indent="0">
              <a:buNone/>
            </a:pPr>
            <a:r>
              <a:rPr lang="en-GB" dirty="0" smtClean="0">
                <a:solidFill>
                  <a:schemeClr val="tx2"/>
                </a:solidFill>
              </a:rPr>
              <a:t>Maps are a common feature of every day life. A map’s scale is used to calculate lengths on a map. An example:</a:t>
            </a:r>
          </a:p>
          <a:p>
            <a:pPr marL="0" indent="0">
              <a:buNone/>
            </a:pPr>
            <a:endParaRPr lang="en-GB" dirty="0">
              <a:solidFill>
                <a:schemeClr val="tx2"/>
              </a:solidFill>
            </a:endParaRPr>
          </a:p>
          <a:p>
            <a:pPr marL="0" indent="0">
              <a:buNone/>
            </a:pPr>
            <a:endParaRPr lang="en-GB" dirty="0">
              <a:solidFill>
                <a:schemeClr val="tx2"/>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168" y="4211828"/>
            <a:ext cx="7797800" cy="229870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168" y="3140193"/>
            <a:ext cx="7658100" cy="546100"/>
          </a:xfrm>
          <a:prstGeom prst="rect">
            <a:avLst/>
          </a:prstGeom>
        </p:spPr>
      </p:pic>
    </p:spTree>
    <p:extLst>
      <p:ext uri="{BB962C8B-B14F-4D97-AF65-F5344CB8AC3E}">
        <p14:creationId xmlns:p14="http://schemas.microsoft.com/office/powerpoint/2010/main" val="108006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checkerboard(across)">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bwMode="black">
          <a:xfrm>
            <a:off x="0" y="466343"/>
            <a:ext cx="12055366" cy="1278374"/>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Guided Practice</a:t>
            </a:r>
            <a:endParaRPr lang="en-GB" u="sng"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930" y="518636"/>
            <a:ext cx="7804141" cy="6339364"/>
          </a:xfrm>
          <a:prstGeom prst="rect">
            <a:avLst/>
          </a:prstGeom>
        </p:spPr>
      </p:pic>
    </p:spTree>
    <p:extLst>
      <p:ext uri="{BB962C8B-B14F-4D97-AF65-F5344CB8AC3E}">
        <p14:creationId xmlns:p14="http://schemas.microsoft.com/office/powerpoint/2010/main" val="2133393455"/>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109728" y="452585"/>
            <a:ext cx="11930910" cy="1299665"/>
          </a:xfrm>
        </p:spPr>
        <p:txBody>
          <a:bodyPr>
            <a:normAutofit fontScale="90000"/>
          </a:bodyPr>
          <a:lstStyle/>
          <a:p>
            <a:r>
              <a:rPr lang="en-US" dirty="0" smtClean="0"/>
              <a:t/>
            </a:r>
            <a:br>
              <a:rPr lang="en-US" dirty="0" smtClean="0"/>
            </a:br>
            <a:r>
              <a:rPr lang="en-US" sz="3600" dirty="0" smtClean="0"/>
              <a:t>Your Turn</a:t>
            </a:r>
            <a:r>
              <a:rPr lang="en-US" dirty="0"/>
              <a:t/>
            </a:r>
            <a:br>
              <a:rPr lang="en-US" dirty="0"/>
            </a:br>
            <a:endParaRPr lang="en-GB" u="sng" dirty="0">
              <a:solidFill>
                <a:schemeClr val="bg1"/>
              </a:solidFill>
            </a:endParaRPr>
          </a:p>
        </p:txBody>
      </p:sp>
      <p:sp>
        <p:nvSpPr>
          <p:cNvPr id="16" name="Title 1"/>
          <p:cNvSpPr txBox="1">
            <a:spLocks/>
          </p:cNvSpPr>
          <p:nvPr/>
        </p:nvSpPr>
        <p:spPr bwMode="black">
          <a:xfrm>
            <a:off x="261090" y="2287481"/>
            <a:ext cx="11930910" cy="1299665"/>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solidFill>
                  <a:schemeClr val="tx2"/>
                </a:solidFill>
              </a:rPr>
              <a:t>Working with Scales Worksheet (just the first 2 pages)</a:t>
            </a:r>
            <a:r>
              <a:rPr lang="en-US" dirty="0" smtClean="0"/>
              <a:t/>
            </a:r>
            <a:br>
              <a:rPr lang="en-US" dirty="0" smtClean="0"/>
            </a:br>
            <a:endParaRPr lang="en-GB" u="sng" dirty="0"/>
          </a:p>
        </p:txBody>
      </p:sp>
    </p:spTree>
    <p:extLst>
      <p:ext uri="{BB962C8B-B14F-4D97-AF65-F5344CB8AC3E}">
        <p14:creationId xmlns:p14="http://schemas.microsoft.com/office/powerpoint/2010/main" val="155682787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9728" y="452585"/>
            <a:ext cx="11930910" cy="1299665"/>
          </a:xfrm>
        </p:spPr>
        <p:txBody>
          <a:bodyPr>
            <a:normAutofit fontScale="90000"/>
          </a:bodyPr>
          <a:lstStyle/>
          <a:p>
            <a:r>
              <a:rPr lang="en-US" dirty="0" smtClean="0"/>
              <a:t/>
            </a:r>
            <a:br>
              <a:rPr lang="en-US" dirty="0" smtClean="0"/>
            </a:br>
            <a:r>
              <a:rPr lang="en-US" sz="3600" dirty="0" err="1" smtClean="0"/>
              <a:t>Kahoot</a:t>
            </a:r>
            <a:r>
              <a:rPr lang="en-US" sz="3600" dirty="0" smtClean="0"/>
              <a:t> Time!</a:t>
            </a:r>
            <a:r>
              <a:rPr lang="en-US" dirty="0"/>
              <a:t/>
            </a:r>
            <a:br>
              <a:rPr lang="en-US" dirty="0"/>
            </a:br>
            <a:endParaRPr lang="en-GB" u="sng" dirty="0">
              <a:solidFill>
                <a:schemeClr val="bg1"/>
              </a:solidFill>
            </a:endParaRPr>
          </a:p>
        </p:txBody>
      </p:sp>
      <p:sp>
        <p:nvSpPr>
          <p:cNvPr id="5" name="Rectangle 4"/>
          <p:cNvSpPr/>
          <p:nvPr/>
        </p:nvSpPr>
        <p:spPr>
          <a:xfrm>
            <a:off x="1487424" y="2353057"/>
            <a:ext cx="9278112" cy="1384995"/>
          </a:xfrm>
          <a:prstGeom prst="rect">
            <a:avLst/>
          </a:prstGeom>
        </p:spPr>
        <p:txBody>
          <a:bodyPr wrap="square">
            <a:spAutoFit/>
          </a:bodyPr>
          <a:lstStyle/>
          <a:p>
            <a:r>
              <a:rPr lang="en-US" sz="2800" dirty="0"/>
              <a:t>https://</a:t>
            </a:r>
            <a:r>
              <a:rPr lang="en-US" sz="2800" dirty="0" err="1"/>
              <a:t>create.kahoot.it</a:t>
            </a:r>
            <a:r>
              <a:rPr lang="en-US" sz="2800" dirty="0"/>
              <a:t>/details/map-work-and-scale-and-compass-directions/dab6010a-938d-401b-b205-776863746592</a:t>
            </a:r>
          </a:p>
        </p:txBody>
      </p:sp>
    </p:spTree>
    <p:extLst>
      <p:ext uri="{BB962C8B-B14F-4D97-AF65-F5344CB8AC3E}">
        <p14:creationId xmlns:p14="http://schemas.microsoft.com/office/powerpoint/2010/main" val="1427088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1BC99BC-3A63-4255-9D4F-38C5B80A319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F7A874A-6E55-415B-9061-8B2D43DC2F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198</Words>
  <Application>Microsoft Macintosh PowerPoint</Application>
  <PresentationFormat>Widescreen</PresentationFormat>
  <Paragraphs>22</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Wingdings</vt:lpstr>
      <vt:lpstr>Arial</vt:lpstr>
      <vt:lpstr>Calibri</vt:lpstr>
      <vt:lpstr>Education 16x9</vt:lpstr>
      <vt:lpstr>Street Maps and Scales</vt:lpstr>
      <vt:lpstr>Topic: Street Maps and Scales EQ: How do we read street maps?</vt:lpstr>
      <vt:lpstr>PowerPoint Presentation</vt:lpstr>
      <vt:lpstr>PowerPoint Presentation</vt:lpstr>
      <vt:lpstr>Topic: Street Maps and Scales EQ: How do we read street maps?</vt:lpstr>
      <vt:lpstr>     Your Turn</vt:lpstr>
      <vt:lpstr>PowerPoint Presentation</vt:lpstr>
      <vt:lpstr>PowerPoint Presentation</vt:lpstr>
      <vt:lpstr> Your Turn </vt:lpstr>
      <vt:lpstr> Kahoot Time! </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2012-09-21T18:31:34Z</dcterms:created>
  <dcterms:modified xsi:type="dcterms:W3CDTF">2018-10-24T14:10:34Z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
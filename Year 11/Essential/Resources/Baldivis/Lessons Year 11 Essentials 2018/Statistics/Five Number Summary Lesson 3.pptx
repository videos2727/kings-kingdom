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sldIdLst>
    <p:sldId id="257" r:id="rId2"/>
    <p:sldId id="331" r:id="rId3"/>
    <p:sldId id="335" r:id="rId4"/>
    <p:sldId id="341" r:id="rId5"/>
    <p:sldId id="345" r:id="rId6"/>
    <p:sldId id="346" r:id="rId7"/>
    <p:sldId id="347" r:id="rId8"/>
    <p:sldId id="348" r:id="rId9"/>
    <p:sldId id="260" r:id="rId10"/>
    <p:sldId id="336" r:id="rId11"/>
    <p:sldId id="349" r:id="rId12"/>
    <p:sldId id="350" r:id="rId13"/>
    <p:sldId id="35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1"/>
            <p14:sldId id="335"/>
            <p14:sldId id="341"/>
            <p14:sldId id="345"/>
            <p14:sldId id="346"/>
            <p14:sldId id="347"/>
            <p14:sldId id="348"/>
            <p14:sldId id="260"/>
            <p14:sldId id="336"/>
            <p14:sldId id="349"/>
            <p14:sldId id="350"/>
            <p14:sldId id="35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7164" autoAdjust="0"/>
  </p:normalViewPr>
  <p:slideViewPr>
    <p:cSldViewPr snapToGrid="0">
      <p:cViewPr>
        <p:scale>
          <a:sx n="82" d="100"/>
          <a:sy n="82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08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6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2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86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Stand Up, Hands Up, Pair Up, or Think Pair Share: Allow students to discuss the maths that has occurred to write out the steps taken in the example to determine the outlier value. </a:t>
            </a:r>
          </a:p>
          <a:p>
            <a:endParaRPr lang="en-AU" dirty="0"/>
          </a:p>
          <a:p>
            <a:r>
              <a:rPr lang="en-AU" dirty="0"/>
              <a:t>Write down a class set of steps in the Steps column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23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884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016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02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25140-7458-4828-80E5-6CAE1A8C668C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7505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lot.ly/~ColleenYoung/138/box-plots-skew/#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Five Number Summary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Interquartile Range and Outliers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Mathematics Essentials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Lesson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OutComes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2.1.9 Calculate and interpret quartiles</a:t>
            </a:r>
          </a:p>
          <a:p>
            <a:pPr marL="0" indent="0">
              <a:buNone/>
            </a:pPr>
            <a:r>
              <a:rPr lang="en-AU" dirty="0"/>
              <a:t>2.1.16 complete a five number summary for different data sets </a:t>
            </a:r>
            <a:endParaRPr lang="en-GB" dirty="0"/>
          </a:p>
          <a:p>
            <a:pPr marL="0" indent="0">
              <a:buNone/>
            </a:pPr>
            <a:r>
              <a:rPr lang="en-GB"/>
              <a:t>2.1.17</a:t>
            </a:r>
            <a:r>
              <a:rPr lang="en-GB" dirty="0"/>
              <a:t> </a:t>
            </a:r>
            <a:r>
              <a:rPr lang="en-AU"/>
              <a:t>construct </a:t>
            </a:r>
            <a:r>
              <a:rPr lang="en-AU" dirty="0"/>
              <a:t>and interpret box plots using a five number summary</a:t>
            </a:r>
            <a:endParaRPr lang="en-GB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interpret a box and whisker plot? 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From our previous lesson, a box and whisker plot is a visual display of a 5 number summary of a set of data</a:t>
            </a:r>
          </a:p>
          <a:p>
            <a:pPr>
              <a:defRPr/>
            </a:pPr>
            <a:r>
              <a:rPr lang="en-US" sz="2800" b="1" dirty="0">
                <a:solidFill>
                  <a:srgbClr val="CC0099"/>
                </a:solidFill>
              </a:rPr>
              <a:t>This means that we can interpret and </a:t>
            </a:r>
            <a:r>
              <a:rPr lang="en-US" sz="2800" b="1" dirty="0" err="1">
                <a:solidFill>
                  <a:srgbClr val="CC0099"/>
                </a:solidFill>
              </a:rPr>
              <a:t>analyse</a:t>
            </a:r>
            <a:r>
              <a:rPr lang="en-US" sz="2800" b="1" dirty="0">
                <a:solidFill>
                  <a:srgbClr val="CC0099"/>
                </a:solidFill>
              </a:rPr>
              <a:t> the information displayed in a box and whisker plot</a:t>
            </a:r>
            <a:endParaRPr lang="en-US" sz="2600" b="1" dirty="0">
              <a:solidFill>
                <a:srgbClr val="CC0099"/>
              </a:solidFill>
            </a:endParaRPr>
          </a:p>
          <a:p>
            <a:pPr marL="0" indent="0">
              <a:buNone/>
              <a:defRPr/>
            </a:pPr>
            <a:endParaRPr lang="en-US" sz="2800" dirty="0"/>
          </a:p>
        </p:txBody>
      </p:sp>
      <p:grpSp>
        <p:nvGrpSpPr>
          <p:cNvPr id="15" name="Group 117">
            <a:extLst>
              <a:ext uri="{FF2B5EF4-FFF2-40B4-BE49-F238E27FC236}">
                <a16:creationId xmlns:a16="http://schemas.microsoft.com/office/drawing/2014/main" id="{D2C2625E-21E6-4FE9-96AA-02C62B15D728}"/>
              </a:ext>
            </a:extLst>
          </p:cNvPr>
          <p:cNvGrpSpPr>
            <a:grpSpLocks/>
          </p:cNvGrpSpPr>
          <p:nvPr/>
        </p:nvGrpSpPr>
        <p:grpSpPr bwMode="auto">
          <a:xfrm>
            <a:off x="6361574" y="3999260"/>
            <a:ext cx="1023937" cy="765175"/>
            <a:chOff x="2570" y="1846"/>
            <a:chExt cx="645" cy="482"/>
          </a:xfrm>
        </p:grpSpPr>
        <p:sp>
          <p:nvSpPr>
            <p:cNvPr id="16" name="Line 37">
              <a:extLst>
                <a:ext uri="{FF2B5EF4-FFF2-40B4-BE49-F238E27FC236}">
                  <a16:creationId xmlns:a16="http://schemas.microsoft.com/office/drawing/2014/main" id="{54BE5C8B-C5C1-419E-B794-CEB4C20F9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3" y="2082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 Box 98">
              <a:extLst>
                <a:ext uri="{FF2B5EF4-FFF2-40B4-BE49-F238E27FC236}">
                  <a16:creationId xmlns:a16="http://schemas.microsoft.com/office/drawing/2014/main" id="{2835156D-6FA9-455A-AAAF-F8609EC9F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184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latin typeface="Comic Sans MS" panose="030F0702030302020204" pitchFamily="66" charset="0"/>
                </a:rPr>
                <a:t>Median</a:t>
              </a:r>
            </a:p>
          </p:txBody>
        </p:sp>
      </p:grpSp>
      <p:sp>
        <p:nvSpPr>
          <p:cNvPr id="18" name="Text Box 99">
            <a:extLst>
              <a:ext uri="{FF2B5EF4-FFF2-40B4-BE49-F238E27FC236}">
                <a16:creationId xmlns:a16="http://schemas.microsoft.com/office/drawing/2014/main" id="{F670D75A-40B9-4A3B-9EA9-52A3FC857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021" y="3423602"/>
            <a:ext cx="1023937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Lower Quartile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(Q1)</a:t>
            </a:r>
          </a:p>
        </p:txBody>
      </p:sp>
      <p:sp>
        <p:nvSpPr>
          <p:cNvPr id="19" name="Text Box 100">
            <a:extLst>
              <a:ext uri="{FF2B5EF4-FFF2-40B4-BE49-F238E27FC236}">
                <a16:creationId xmlns:a16="http://schemas.microsoft.com/office/drawing/2014/main" id="{88DD772E-135B-4E98-8A2F-3C79A42FA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383" y="3547427"/>
            <a:ext cx="1023938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Upper Quartile (Q3)</a:t>
            </a:r>
          </a:p>
        </p:txBody>
      </p:sp>
      <p:sp>
        <p:nvSpPr>
          <p:cNvPr id="21" name="Text Box 101">
            <a:extLst>
              <a:ext uri="{FF2B5EF4-FFF2-40B4-BE49-F238E27FC236}">
                <a16:creationId xmlns:a16="http://schemas.microsoft.com/office/drawing/2014/main" id="{C574BF35-3464-451C-BEB8-237B6733B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096" y="3934777"/>
            <a:ext cx="10239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 dirty="0">
                <a:latin typeface="Comic Sans MS" panose="030F0702030302020204" pitchFamily="66" charset="0"/>
              </a:rPr>
              <a:t>Lowest Value</a:t>
            </a:r>
          </a:p>
        </p:txBody>
      </p:sp>
      <p:sp>
        <p:nvSpPr>
          <p:cNvPr id="22" name="Text Box 102">
            <a:extLst>
              <a:ext uri="{FF2B5EF4-FFF2-40B4-BE49-F238E27FC236}">
                <a16:creationId xmlns:a16="http://schemas.microsoft.com/office/drawing/2014/main" id="{D5C96C84-C915-4216-999C-5E51B9F05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9933" y="3947477"/>
            <a:ext cx="10239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Highest Value</a:t>
            </a:r>
          </a:p>
        </p:txBody>
      </p:sp>
      <p:grpSp>
        <p:nvGrpSpPr>
          <p:cNvPr id="23" name="Group 115">
            <a:extLst>
              <a:ext uri="{FF2B5EF4-FFF2-40B4-BE49-F238E27FC236}">
                <a16:creationId xmlns:a16="http://schemas.microsoft.com/office/drawing/2014/main" id="{177D97BF-94BB-4D47-9631-71D4208CC572}"/>
              </a:ext>
            </a:extLst>
          </p:cNvPr>
          <p:cNvGrpSpPr>
            <a:grpSpLocks/>
          </p:cNvGrpSpPr>
          <p:nvPr/>
        </p:nvGrpSpPr>
        <p:grpSpPr bwMode="auto">
          <a:xfrm>
            <a:off x="4895821" y="4377690"/>
            <a:ext cx="3065462" cy="390525"/>
            <a:chOff x="1521" y="2082"/>
            <a:chExt cx="1931" cy="246"/>
          </a:xfrm>
        </p:grpSpPr>
        <p:sp>
          <p:nvSpPr>
            <p:cNvPr id="24" name="Rectangle 38">
              <a:extLst>
                <a:ext uri="{FF2B5EF4-FFF2-40B4-BE49-F238E27FC236}">
                  <a16:creationId xmlns:a16="http://schemas.microsoft.com/office/drawing/2014/main" id="{614D9D58-8DE2-432F-B192-F5A9D4158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082"/>
              <a:ext cx="1931" cy="24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Text Box 104">
              <a:extLst>
                <a:ext uri="{FF2B5EF4-FFF2-40B4-BE49-F238E27FC236}">
                  <a16:creationId xmlns:a16="http://schemas.microsoft.com/office/drawing/2014/main" id="{D3B794AD-2733-4E50-82D6-1459B9752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" y="210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Box</a:t>
              </a:r>
            </a:p>
          </p:txBody>
        </p:sp>
      </p:grpSp>
      <p:grpSp>
        <p:nvGrpSpPr>
          <p:cNvPr id="26" name="Group 116">
            <a:extLst>
              <a:ext uri="{FF2B5EF4-FFF2-40B4-BE49-F238E27FC236}">
                <a16:creationId xmlns:a16="http://schemas.microsoft.com/office/drawing/2014/main" id="{DA4C17D1-C703-4564-9076-884EC8DB41DF}"/>
              </a:ext>
            </a:extLst>
          </p:cNvPr>
          <p:cNvGrpSpPr>
            <a:grpSpLocks/>
          </p:cNvGrpSpPr>
          <p:nvPr/>
        </p:nvGrpSpPr>
        <p:grpSpPr bwMode="auto">
          <a:xfrm>
            <a:off x="3398808" y="4291965"/>
            <a:ext cx="7051675" cy="454025"/>
            <a:chOff x="591" y="2016"/>
            <a:chExt cx="4442" cy="286"/>
          </a:xfrm>
        </p:grpSpPr>
        <p:grpSp>
          <p:nvGrpSpPr>
            <p:cNvPr id="27" name="Group 39">
              <a:extLst>
                <a:ext uri="{FF2B5EF4-FFF2-40B4-BE49-F238E27FC236}">
                  <a16:creationId xmlns:a16="http://schemas.microsoft.com/office/drawing/2014/main" id="{4A15FD93-5F26-429D-BA56-10899277D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1" y="2132"/>
              <a:ext cx="944" cy="152"/>
              <a:chOff x="1342" y="3458"/>
              <a:chExt cx="617" cy="152"/>
            </a:xfrm>
          </p:grpSpPr>
          <p:sp>
            <p:nvSpPr>
              <p:cNvPr id="34" name="Line 40">
                <a:extLst>
                  <a:ext uri="{FF2B5EF4-FFF2-40B4-BE49-F238E27FC236}">
                    <a16:creationId xmlns:a16="http://schemas.microsoft.com/office/drawing/2014/main" id="{83459878-CB29-4AA8-8624-60426D6A9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536"/>
                <a:ext cx="617" cy="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Line 41">
                <a:extLst>
                  <a:ext uri="{FF2B5EF4-FFF2-40B4-BE49-F238E27FC236}">
                    <a16:creationId xmlns:a16="http://schemas.microsoft.com/office/drawing/2014/main" id="{DD7EF0FA-232C-4A8E-9093-01612F488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458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8" name="Group 42">
              <a:extLst>
                <a:ext uri="{FF2B5EF4-FFF2-40B4-BE49-F238E27FC236}">
                  <a16:creationId xmlns:a16="http://schemas.microsoft.com/office/drawing/2014/main" id="{4C8376B3-CCF7-41C4-842D-F4FD170E4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2" y="2126"/>
              <a:ext cx="1581" cy="176"/>
              <a:chOff x="3140" y="3452"/>
              <a:chExt cx="990" cy="176"/>
            </a:xfrm>
          </p:grpSpPr>
          <p:sp>
            <p:nvSpPr>
              <p:cNvPr id="31" name="Line 43">
                <a:extLst>
                  <a:ext uri="{FF2B5EF4-FFF2-40B4-BE49-F238E27FC236}">
                    <a16:creationId xmlns:a16="http://schemas.microsoft.com/office/drawing/2014/main" id="{21ABBAE0-75A5-4FDF-867C-8D472EC4A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0" y="3540"/>
                <a:ext cx="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44">
                <a:extLst>
                  <a:ext uri="{FF2B5EF4-FFF2-40B4-BE49-F238E27FC236}">
                    <a16:creationId xmlns:a16="http://schemas.microsoft.com/office/drawing/2014/main" id="{2FAA7355-78CE-4B43-A924-C585BB18D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0" y="3452"/>
                <a:ext cx="0" cy="1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9" name="Text Box 105">
              <a:extLst>
                <a:ext uri="{FF2B5EF4-FFF2-40B4-BE49-F238E27FC236}">
                  <a16:creationId xmlns:a16="http://schemas.microsoft.com/office/drawing/2014/main" id="{01E26C8A-D329-4DFA-BA61-C41F5456D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" y="2028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  <p:sp>
          <p:nvSpPr>
            <p:cNvPr id="30" name="Text Box 106">
              <a:extLst>
                <a:ext uri="{FF2B5EF4-FFF2-40B4-BE49-F238E27FC236}">
                  <a16:creationId xmlns:a16="http://schemas.microsoft.com/office/drawing/2014/main" id="{92EE932B-6B8D-4A1D-B384-97A7F6AFD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" y="201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</p:grpSp>
      <p:grpSp>
        <p:nvGrpSpPr>
          <p:cNvPr id="36" name="Group 7">
            <a:extLst>
              <a:ext uri="{FF2B5EF4-FFF2-40B4-BE49-F238E27FC236}">
                <a16:creationId xmlns:a16="http://schemas.microsoft.com/office/drawing/2014/main" id="{FAA4D46D-97B8-414C-BC22-1587CB346A46}"/>
              </a:ext>
            </a:extLst>
          </p:cNvPr>
          <p:cNvGrpSpPr>
            <a:grpSpLocks/>
          </p:cNvGrpSpPr>
          <p:nvPr/>
        </p:nvGrpSpPr>
        <p:grpSpPr bwMode="auto">
          <a:xfrm>
            <a:off x="2982883" y="5020627"/>
            <a:ext cx="8237538" cy="679450"/>
            <a:chOff x="838200" y="4572000"/>
            <a:chExt cx="8237538" cy="679458"/>
          </a:xfrm>
        </p:grpSpPr>
        <p:grpSp>
          <p:nvGrpSpPr>
            <p:cNvPr id="37" name="Group 18">
              <a:extLst>
                <a:ext uri="{FF2B5EF4-FFF2-40B4-BE49-F238E27FC236}">
                  <a16:creationId xmlns:a16="http://schemas.microsoft.com/office/drawing/2014/main" id="{F7BA2FBF-BFBE-4F34-B1AC-2107BA4B3E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6638" y="4824420"/>
              <a:ext cx="8039100" cy="427038"/>
              <a:chOff x="1267" y="3867"/>
              <a:chExt cx="3171" cy="269"/>
            </a:xfrm>
          </p:grpSpPr>
          <p:sp>
            <p:nvSpPr>
              <p:cNvPr id="48" name="Text Box 28">
                <a:extLst>
                  <a:ext uri="{FF2B5EF4-FFF2-40B4-BE49-F238E27FC236}">
                    <a16:creationId xmlns:a16="http://schemas.microsoft.com/office/drawing/2014/main" id="{37232FAD-2A70-4F6F-A514-793D3AA6A8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7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49" name="Text Box 29">
                <a:extLst>
                  <a:ext uri="{FF2B5EF4-FFF2-40B4-BE49-F238E27FC236}">
                    <a16:creationId xmlns:a16="http://schemas.microsoft.com/office/drawing/2014/main" id="{0634E4CB-AD55-449D-A3D3-71E212AB73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3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5</a:t>
                </a:r>
              </a:p>
            </p:txBody>
          </p:sp>
          <p:sp>
            <p:nvSpPr>
              <p:cNvPr id="50" name="Text Box 30">
                <a:extLst>
                  <a:ext uri="{FF2B5EF4-FFF2-40B4-BE49-F238E27FC236}">
                    <a16:creationId xmlns:a16="http://schemas.microsoft.com/office/drawing/2014/main" id="{2005A7D6-5122-4AA5-A0D2-5C9E839A1D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6</a:t>
                </a:r>
              </a:p>
            </p:txBody>
          </p:sp>
          <p:sp>
            <p:nvSpPr>
              <p:cNvPr id="51" name="Text Box 31">
                <a:extLst>
                  <a:ext uri="{FF2B5EF4-FFF2-40B4-BE49-F238E27FC236}">
                    <a16:creationId xmlns:a16="http://schemas.microsoft.com/office/drawing/2014/main" id="{7C2B10B5-0F0E-4E37-BE08-C225F0E5E0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7</a:t>
                </a:r>
              </a:p>
            </p:txBody>
          </p:sp>
          <p:sp>
            <p:nvSpPr>
              <p:cNvPr id="52" name="Text Box 32">
                <a:extLst>
                  <a:ext uri="{FF2B5EF4-FFF2-40B4-BE49-F238E27FC236}">
                    <a16:creationId xmlns:a16="http://schemas.microsoft.com/office/drawing/2014/main" id="{01D5F5FE-89B8-4583-A7A5-6375380D4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8</a:t>
                </a:r>
              </a:p>
            </p:txBody>
          </p:sp>
          <p:sp>
            <p:nvSpPr>
              <p:cNvPr id="53" name="Text Box 33">
                <a:extLst>
                  <a:ext uri="{FF2B5EF4-FFF2-40B4-BE49-F238E27FC236}">
                    <a16:creationId xmlns:a16="http://schemas.microsoft.com/office/drawing/2014/main" id="{924ACF47-0F89-40EE-88F7-B9DDEA5340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9</a:t>
                </a:r>
              </a:p>
            </p:txBody>
          </p:sp>
          <p:sp>
            <p:nvSpPr>
              <p:cNvPr id="54" name="Text Box 34">
                <a:extLst>
                  <a:ext uri="{FF2B5EF4-FFF2-40B4-BE49-F238E27FC236}">
                    <a16:creationId xmlns:a16="http://schemas.microsoft.com/office/drawing/2014/main" id="{BF117991-FAA5-4BB4-BBAF-01285A0DC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1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10</a:t>
                </a:r>
              </a:p>
            </p:txBody>
          </p:sp>
          <p:sp>
            <p:nvSpPr>
              <p:cNvPr id="55" name="Text Box 35">
                <a:extLst>
                  <a:ext uri="{FF2B5EF4-FFF2-40B4-BE49-F238E27FC236}">
                    <a16:creationId xmlns:a16="http://schemas.microsoft.com/office/drawing/2014/main" id="{D762F924-8F73-4A85-8E4B-BD52D5EAB8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7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11</a:t>
                </a:r>
              </a:p>
            </p:txBody>
          </p:sp>
          <p:sp>
            <p:nvSpPr>
              <p:cNvPr id="56" name="Text Box 36">
                <a:extLst>
                  <a:ext uri="{FF2B5EF4-FFF2-40B4-BE49-F238E27FC236}">
                    <a16:creationId xmlns:a16="http://schemas.microsoft.com/office/drawing/2014/main" id="{2107892C-A4CF-458C-8A18-98CB75D86A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3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12</a:t>
                </a:r>
              </a:p>
            </p:txBody>
          </p:sp>
        </p:grpSp>
        <p:cxnSp>
          <p:nvCxnSpPr>
            <p:cNvPr id="38" name="Straight Connector 2">
              <a:extLst>
                <a:ext uri="{FF2B5EF4-FFF2-40B4-BE49-F238E27FC236}">
                  <a16:creationId xmlns:a16="http://schemas.microsoft.com/office/drawing/2014/main" id="{25D1FF46-CC57-42A0-B6C0-E923CA496E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8200" y="4724400"/>
              <a:ext cx="7875588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Straight Connector 6">
              <a:extLst>
                <a:ext uri="{FF2B5EF4-FFF2-40B4-BE49-F238E27FC236}">
                  <a16:creationId xmlns:a16="http://schemas.microsoft.com/office/drawing/2014/main" id="{5A262928-EAF8-4396-9AAD-5FC928D9A7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52857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Straight Connector 63">
              <a:extLst>
                <a:ext uri="{FF2B5EF4-FFF2-40B4-BE49-F238E27FC236}">
                  <a16:creationId xmlns:a16="http://schemas.microsoft.com/office/drawing/2014/main" id="{999CC3E1-54B9-45B6-A367-9D58899180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6606" y="4610125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Straight Connector 64">
              <a:extLst>
                <a:ext uri="{FF2B5EF4-FFF2-40B4-BE49-F238E27FC236}">
                  <a16:creationId xmlns:a16="http://schemas.microsoft.com/office/drawing/2014/main" id="{D01BA4CC-76F9-45BD-B613-C03D34BB9B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587106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Straight Connector 65">
              <a:extLst>
                <a:ext uri="{FF2B5EF4-FFF2-40B4-BE49-F238E27FC236}">
                  <a16:creationId xmlns:a16="http://schemas.microsoft.com/office/drawing/2014/main" id="{D1CA8FC3-E84A-44C4-AB92-D900A9B9F0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86200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Connector 66">
              <a:extLst>
                <a:ext uri="{FF2B5EF4-FFF2-40B4-BE49-F238E27FC236}">
                  <a16:creationId xmlns:a16="http://schemas.microsoft.com/office/drawing/2014/main" id="{E374063E-2A79-4F80-AC79-F47D110447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37100" y="457442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Straight Connector 67">
              <a:extLst>
                <a:ext uri="{FF2B5EF4-FFF2-40B4-BE49-F238E27FC236}">
                  <a16:creationId xmlns:a16="http://schemas.microsoft.com/office/drawing/2014/main" id="{3494B47C-9F2D-462B-B9BE-1FD6B0DC5E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38800" y="457200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Straight Connector 68">
              <a:extLst>
                <a:ext uri="{FF2B5EF4-FFF2-40B4-BE49-F238E27FC236}">
                  <a16:creationId xmlns:a16="http://schemas.microsoft.com/office/drawing/2014/main" id="{3D98154D-D7C3-4761-81BD-F379E1EA64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79488" y="459819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Connector 69">
              <a:extLst>
                <a:ext uri="{FF2B5EF4-FFF2-40B4-BE49-F238E27FC236}">
                  <a16:creationId xmlns:a16="http://schemas.microsoft.com/office/drawing/2014/main" id="{808D3456-607A-4DEA-8BFA-B7AB3505F8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91400" y="4611148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Connector 70">
              <a:extLst>
                <a:ext uri="{FF2B5EF4-FFF2-40B4-BE49-F238E27FC236}">
                  <a16:creationId xmlns:a16="http://schemas.microsoft.com/office/drawing/2014/main" id="{98DA47DC-A5D8-498F-A17E-976DFBE183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05800" y="458598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0224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  <p:bldP spid="21" grpId="0" autoUpdateAnimBg="0"/>
      <p:bldP spid="2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interpret a box and whisker plot?  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80752" y="1430144"/>
            <a:ext cx="1950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interquartile range?</a:t>
            </a:r>
            <a:endParaRPr lang="en-GB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666AE474-1BD9-49BA-BF6B-5428DDD7A1B5}"/>
              </a:ext>
            </a:extLst>
          </p:cNvPr>
          <p:cNvSpPr txBox="1">
            <a:spLocks noChangeArrowheads="1"/>
          </p:cNvSpPr>
          <p:nvPr/>
        </p:nvSpPr>
        <p:spPr>
          <a:xfrm>
            <a:off x="2752263" y="1430143"/>
            <a:ext cx="8458200" cy="29222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Interquartile Range, (IQR) – the difference between the upper and lower quartile of a set of data.</a:t>
            </a:r>
          </a:p>
          <a:p>
            <a:r>
              <a:rPr lang="en-US" altLang="en-US" sz="2400" dirty="0"/>
              <a:t>IQR = Upper Quartile – Lower Quartile</a:t>
            </a:r>
          </a:p>
          <a:p>
            <a:r>
              <a:rPr lang="en-US" altLang="en-US" sz="2400" dirty="0"/>
              <a:t>A small interquartile range means that the data is close together</a:t>
            </a:r>
          </a:p>
          <a:p>
            <a:r>
              <a:rPr lang="en-US" altLang="en-US" sz="2400" dirty="0"/>
              <a:t>A large interquartile range means that the data is spread out.</a:t>
            </a:r>
          </a:p>
        </p:txBody>
      </p:sp>
      <p:sp>
        <p:nvSpPr>
          <p:cNvPr id="35" name="Rectangle 13">
            <a:extLst>
              <a:ext uri="{FF2B5EF4-FFF2-40B4-BE49-F238E27FC236}">
                <a16:creationId xmlns:a16="http://schemas.microsoft.com/office/drawing/2014/main" id="{9030F200-F540-4C4E-9357-324FEF20E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711" y="4416065"/>
            <a:ext cx="8539752" cy="2023582"/>
          </a:xfrm>
          <a:prstGeom prst="rect">
            <a:avLst/>
          </a:prstGeom>
          <a:solidFill>
            <a:schemeClr val="accent3">
              <a:lumMod val="40000"/>
              <a:lumOff val="60000"/>
              <a:alpha val="52156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grpSp>
        <p:nvGrpSpPr>
          <p:cNvPr id="36" name="Group 14">
            <a:extLst>
              <a:ext uri="{FF2B5EF4-FFF2-40B4-BE49-F238E27FC236}">
                <a16:creationId xmlns:a16="http://schemas.microsoft.com/office/drawing/2014/main" id="{90EAAB54-D140-499B-9483-1D0A065F550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72349" y="5157771"/>
            <a:ext cx="7949930" cy="886320"/>
            <a:chOff x="2582" y="7472"/>
            <a:chExt cx="7027" cy="781"/>
          </a:xfrm>
        </p:grpSpPr>
        <p:sp>
          <p:nvSpPr>
            <p:cNvPr id="37" name="AutoShape 15">
              <a:extLst>
                <a:ext uri="{FF2B5EF4-FFF2-40B4-BE49-F238E27FC236}">
                  <a16:creationId xmlns:a16="http://schemas.microsoft.com/office/drawing/2014/main" id="{C8228A80-13A8-4C19-B1CD-E3E1E801E4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82" y="7472"/>
              <a:ext cx="7027" cy="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38" name="Line 16">
              <a:extLst>
                <a:ext uri="{FF2B5EF4-FFF2-40B4-BE49-F238E27FC236}">
                  <a16:creationId xmlns:a16="http://schemas.microsoft.com/office/drawing/2014/main" id="{6747FCCF-A47D-4599-89AD-CA7DC2DCD8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2" y="8252"/>
              <a:ext cx="702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Rectangle 17">
              <a:extLst>
                <a:ext uri="{FF2B5EF4-FFF2-40B4-BE49-F238E27FC236}">
                  <a16:creationId xmlns:a16="http://schemas.microsoft.com/office/drawing/2014/main" id="{D57C21A1-E287-49FF-ABF3-2DB31527D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7609"/>
              <a:ext cx="2074" cy="4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40" name="Line 18">
              <a:extLst>
                <a:ext uri="{FF2B5EF4-FFF2-40B4-BE49-F238E27FC236}">
                  <a16:creationId xmlns:a16="http://schemas.microsoft.com/office/drawing/2014/main" id="{2C6FF9C8-9B5D-4A0E-BBD9-3989F8D1E3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06" y="7600"/>
              <a:ext cx="0" cy="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Line 19">
              <a:extLst>
                <a:ext uri="{FF2B5EF4-FFF2-40B4-BE49-F238E27FC236}">
                  <a16:creationId xmlns:a16="http://schemas.microsoft.com/office/drawing/2014/main" id="{1608AF0B-46F4-4DB9-90BE-3BDFB26AB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8" y="7808"/>
              <a:ext cx="19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Line 20">
              <a:extLst>
                <a:ext uri="{FF2B5EF4-FFF2-40B4-BE49-F238E27FC236}">
                  <a16:creationId xmlns:a16="http://schemas.microsoft.com/office/drawing/2014/main" id="{B8FB2BD2-AEC4-40C8-A784-A961C1717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79" y="7663"/>
              <a:ext cx="1" cy="2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Line 21">
              <a:extLst>
                <a:ext uri="{FF2B5EF4-FFF2-40B4-BE49-F238E27FC236}">
                  <a16:creationId xmlns:a16="http://schemas.microsoft.com/office/drawing/2014/main" id="{08061522-5113-4F66-8EE4-05E7BF9D6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4" y="7799"/>
              <a:ext cx="13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Line 22">
              <a:extLst>
                <a:ext uri="{FF2B5EF4-FFF2-40B4-BE49-F238E27FC236}">
                  <a16:creationId xmlns:a16="http://schemas.microsoft.com/office/drawing/2014/main" id="{5C3A43C3-A1B8-47DE-9F01-4C93D9FF8A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7" y="7636"/>
              <a:ext cx="1" cy="3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6" name="AutoShape 36">
            <a:extLst>
              <a:ext uri="{FF2B5EF4-FFF2-40B4-BE49-F238E27FC236}">
                <a16:creationId xmlns:a16="http://schemas.microsoft.com/office/drawing/2014/main" id="{953D4C13-0490-4F9A-854C-BCB96244F2E3}"/>
              </a:ext>
            </a:extLst>
          </p:cNvPr>
          <p:cNvSpPr>
            <a:spLocks/>
          </p:cNvSpPr>
          <p:nvPr/>
        </p:nvSpPr>
        <p:spPr bwMode="auto">
          <a:xfrm rot="5400000">
            <a:off x="6881876" y="3905706"/>
            <a:ext cx="372741" cy="2314898"/>
          </a:xfrm>
          <a:prstGeom prst="leftBrace">
            <a:avLst>
              <a:gd name="adj1" fmla="val 48667"/>
              <a:gd name="adj2" fmla="val 50000"/>
            </a:avLst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47" name="Text Box 37">
            <a:extLst>
              <a:ext uri="{FF2B5EF4-FFF2-40B4-BE49-F238E27FC236}">
                <a16:creationId xmlns:a16="http://schemas.microsoft.com/office/drawing/2014/main" id="{472AAF3B-FEAF-4D69-968E-D32C3FEC0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310" y="4491866"/>
            <a:ext cx="2166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Kiwi School Handwriting" panose="00000500000000000000"/>
              </a:rPr>
              <a:t>Interquartile range</a:t>
            </a:r>
          </a:p>
        </p:txBody>
      </p:sp>
    </p:spTree>
    <p:extLst>
      <p:ext uri="{BB962C8B-B14F-4D97-AF65-F5344CB8AC3E}">
        <p14:creationId xmlns:p14="http://schemas.microsoft.com/office/powerpoint/2010/main" val="276461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6" grpId="0" animBg="1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16" descr="boxdata7">
            <a:extLst>
              <a:ext uri="{FF2B5EF4-FFF2-40B4-BE49-F238E27FC236}">
                <a16:creationId xmlns:a16="http://schemas.microsoft.com/office/drawing/2014/main" id="{2CDADF61-9C99-4C7A-AE35-7A36A51BE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353" y="2835331"/>
            <a:ext cx="91440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AutoShape 17">
            <a:extLst>
              <a:ext uri="{FF2B5EF4-FFF2-40B4-BE49-F238E27FC236}">
                <a16:creationId xmlns:a16="http://schemas.microsoft.com/office/drawing/2014/main" id="{92BAF4F4-ADC5-4CD4-8565-E65813CFE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6353" y="176853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1</a:t>
            </a:r>
          </a:p>
        </p:txBody>
      </p:sp>
      <p:sp>
        <p:nvSpPr>
          <p:cNvPr id="15365" name="AutoShape 18">
            <a:extLst>
              <a:ext uri="{FF2B5EF4-FFF2-40B4-BE49-F238E27FC236}">
                <a16:creationId xmlns:a16="http://schemas.microsoft.com/office/drawing/2014/main" id="{AFAB5756-9110-47DA-BF1F-381F0E880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753" y="176853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2</a:t>
            </a:r>
          </a:p>
        </p:txBody>
      </p:sp>
      <p:sp>
        <p:nvSpPr>
          <p:cNvPr id="15366" name="AutoShape 19">
            <a:extLst>
              <a:ext uri="{FF2B5EF4-FFF2-40B4-BE49-F238E27FC236}">
                <a16:creationId xmlns:a16="http://schemas.microsoft.com/office/drawing/2014/main" id="{DE447838-51CC-41FF-A6E9-CB025015A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3753" y="176853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3</a:t>
            </a:r>
          </a:p>
        </p:txBody>
      </p:sp>
      <p:sp>
        <p:nvSpPr>
          <p:cNvPr id="15367" name="AutoShape 20">
            <a:extLst>
              <a:ext uri="{FF2B5EF4-FFF2-40B4-BE49-F238E27FC236}">
                <a16:creationId xmlns:a16="http://schemas.microsoft.com/office/drawing/2014/main" id="{105F220E-CAF5-4131-93EA-6BECBE1AF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3953" y="222573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5</a:t>
            </a:r>
          </a:p>
        </p:txBody>
      </p:sp>
      <p:sp>
        <p:nvSpPr>
          <p:cNvPr id="15368" name="AutoShape 21">
            <a:extLst>
              <a:ext uri="{FF2B5EF4-FFF2-40B4-BE49-F238E27FC236}">
                <a16:creationId xmlns:a16="http://schemas.microsoft.com/office/drawing/2014/main" id="{A2657733-887D-4EFB-876A-6D2C2F820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3553" y="222573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4</a:t>
            </a:r>
          </a:p>
        </p:txBody>
      </p:sp>
      <p:sp>
        <p:nvSpPr>
          <p:cNvPr id="3095" name="Text Box 23">
            <a:extLst>
              <a:ext uri="{FF2B5EF4-FFF2-40B4-BE49-F238E27FC236}">
                <a16:creationId xmlns:a16="http://schemas.microsoft.com/office/drawing/2014/main" id="{7C6004AB-6244-46F4-BF66-45AD2A75C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067" y="1387530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Median</a:t>
            </a:r>
          </a:p>
        </p:txBody>
      </p:sp>
      <p:sp>
        <p:nvSpPr>
          <p:cNvPr id="3096" name="Text Box 24">
            <a:extLst>
              <a:ext uri="{FF2B5EF4-FFF2-40B4-BE49-F238E27FC236}">
                <a16:creationId xmlns:a16="http://schemas.microsoft.com/office/drawing/2014/main" id="{166AC219-E811-4FEE-ABCB-345C0582A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9354" y="1387530"/>
            <a:ext cx="2189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Upper Quartile</a:t>
            </a:r>
          </a:p>
        </p:txBody>
      </p:sp>
      <p:sp>
        <p:nvSpPr>
          <p:cNvPr id="3097" name="Text Box 25">
            <a:extLst>
              <a:ext uri="{FF2B5EF4-FFF2-40B4-BE49-F238E27FC236}">
                <a16:creationId xmlns:a16="http://schemas.microsoft.com/office/drawing/2014/main" id="{515FCA30-93E3-4F3F-8AED-F5371E473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6517" y="1311330"/>
            <a:ext cx="2205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Lower Quartile</a:t>
            </a:r>
          </a:p>
        </p:txBody>
      </p:sp>
      <p:sp>
        <p:nvSpPr>
          <p:cNvPr id="3098" name="Text Box 26">
            <a:extLst>
              <a:ext uri="{FF2B5EF4-FFF2-40B4-BE49-F238E27FC236}">
                <a16:creationId xmlns:a16="http://schemas.microsoft.com/office/drawing/2014/main" id="{EE30EDF2-1C56-4DDA-B8AE-FAA5E673E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353" y="1768530"/>
            <a:ext cx="2222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Lower Extreme</a:t>
            </a:r>
          </a:p>
        </p:txBody>
      </p:sp>
      <p:sp>
        <p:nvSpPr>
          <p:cNvPr id="3099" name="Text Box 27">
            <a:extLst>
              <a:ext uri="{FF2B5EF4-FFF2-40B4-BE49-F238E27FC236}">
                <a16:creationId xmlns:a16="http://schemas.microsoft.com/office/drawing/2014/main" id="{1C9A908F-A77F-4A88-8119-BD327CD2D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4354" y="1768530"/>
            <a:ext cx="220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Upper Extreme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8B083D-6B30-4712-A87C-B54693A79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444" y="246902"/>
            <a:ext cx="8610600" cy="1293028"/>
          </a:xfrm>
        </p:spPr>
        <p:txBody>
          <a:bodyPr/>
          <a:lstStyle/>
          <a:p>
            <a:pPr algn="l"/>
            <a:r>
              <a:rPr lang="en-AU" dirty="0"/>
              <a:t>From the Previous Lesson…</a:t>
            </a:r>
            <a:endParaRPr lang="en-GB" dirty="0"/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BDBAC806-6E08-467B-9975-009E3C03E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538" y="5710843"/>
            <a:ext cx="330041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5400" b="1" dirty="0">
                <a:latin typeface="Bradley Hand ITC" panose="03070402050302030203" pitchFamily="66" charset="0"/>
              </a:rPr>
              <a:t>14 – 8.5 =</a:t>
            </a: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99578CDF-5C93-40CD-B71C-F8E80D15A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138" y="5710843"/>
            <a:ext cx="11398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5400" b="1">
                <a:solidFill>
                  <a:srgbClr val="FF0000"/>
                </a:solidFill>
                <a:latin typeface="Bradley Hand ITC" panose="03070402050302030203" pitchFamily="66" charset="0"/>
              </a:rPr>
              <a:t>5.5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interpret a box and whisker plot? 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80752" y="1430144"/>
            <a:ext cx="1950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 skewed box and whisker plots look like?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85045-8F0F-48F5-8A48-3001FE60B4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07"/>
          <a:stretch/>
        </p:blipFill>
        <p:spPr>
          <a:xfrm>
            <a:off x="2366256" y="1356839"/>
            <a:ext cx="9256415" cy="5179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2CE451-880B-4B94-B0D2-EE753301354A}"/>
              </a:ext>
            </a:extLst>
          </p:cNvPr>
          <p:cNvSpPr txBox="1"/>
          <p:nvPr/>
        </p:nvSpPr>
        <p:spPr>
          <a:xfrm>
            <a:off x="7570123" y="1642251"/>
            <a:ext cx="21225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Positively Skewed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41F9D2-22C6-4406-A9BA-026609278FD3}"/>
              </a:ext>
            </a:extLst>
          </p:cNvPr>
          <p:cNvSpPr txBox="1"/>
          <p:nvPr/>
        </p:nvSpPr>
        <p:spPr>
          <a:xfrm>
            <a:off x="3546397" y="3161207"/>
            <a:ext cx="23999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Negatively Skewed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1A04F7-9E46-4223-A58F-DAC649551473}"/>
              </a:ext>
            </a:extLst>
          </p:cNvPr>
          <p:cNvSpPr txBox="1"/>
          <p:nvPr/>
        </p:nvSpPr>
        <p:spPr>
          <a:xfrm>
            <a:off x="6418520" y="5849402"/>
            <a:ext cx="15727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Symmetrical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C57143-9096-4E40-A3AF-2FDDF9689EEF}"/>
              </a:ext>
            </a:extLst>
          </p:cNvPr>
          <p:cNvSpPr txBox="1"/>
          <p:nvPr/>
        </p:nvSpPr>
        <p:spPr>
          <a:xfrm>
            <a:off x="38792" y="4408871"/>
            <a:ext cx="18965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symmetrical box and whisker plot look like?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B1FA0F-330B-41FB-AEC5-E0BCCFC9C593}"/>
              </a:ext>
            </a:extLst>
          </p:cNvPr>
          <p:cNvSpPr/>
          <p:nvPr/>
        </p:nvSpPr>
        <p:spPr>
          <a:xfrm>
            <a:off x="3592893" y="6525094"/>
            <a:ext cx="69975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Source: </a:t>
            </a:r>
            <a:r>
              <a:rPr lang="en-GB" dirty="0">
                <a:hlinkClick r:id="rId4"/>
              </a:rPr>
              <a:t>https://plot.ly/~ColleenYoung/138/box-plots-skew/#/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655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interpret a box and whisker plot? 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80752" y="1430144"/>
            <a:ext cx="195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outlier?</a:t>
            </a:r>
            <a:endParaRPr lang="en-GB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18D14AC-7129-4403-BAA3-B219D26141E0}"/>
              </a:ext>
            </a:extLst>
          </p:cNvPr>
          <p:cNvSpPr txBox="1">
            <a:spLocks/>
          </p:cNvSpPr>
          <p:nvPr/>
        </p:nvSpPr>
        <p:spPr>
          <a:xfrm>
            <a:off x="2164138" y="1315583"/>
            <a:ext cx="9836513" cy="54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An outlier is an extremely high or an extremely low value in a data set.</a:t>
            </a:r>
          </a:p>
          <a:p>
            <a:r>
              <a:rPr lang="en-AU" dirty="0"/>
              <a:t>We can identify an outlier if it is:</a:t>
            </a:r>
          </a:p>
          <a:p>
            <a:pPr lvl="1"/>
            <a:r>
              <a:rPr lang="en-AU" dirty="0"/>
              <a:t>Greater than Q</a:t>
            </a:r>
            <a:r>
              <a:rPr lang="en-AU" baseline="-25000" dirty="0"/>
              <a:t>3 </a:t>
            </a:r>
            <a:r>
              <a:rPr lang="en-AU" dirty="0"/>
              <a:t>+ 1.5 × IQR or</a:t>
            </a:r>
          </a:p>
          <a:p>
            <a:pPr lvl="1"/>
            <a:r>
              <a:rPr lang="en-AU" dirty="0"/>
              <a:t>Less than Q</a:t>
            </a:r>
            <a:r>
              <a:rPr lang="en-AU" baseline="-25000" dirty="0"/>
              <a:t>1 </a:t>
            </a:r>
            <a:r>
              <a:rPr lang="en-AU" dirty="0"/>
              <a:t>- 1.5 × IQR </a:t>
            </a:r>
          </a:p>
          <a:p>
            <a:r>
              <a:rPr lang="en-AU" dirty="0"/>
              <a:t>The graph below shows a distribution of a set of data with an extreme value of 9.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901BE46A-6943-4335-9DEE-E96B1A9DDE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80" t="66939" r="38546" b="25032"/>
          <a:stretch/>
        </p:blipFill>
        <p:spPr bwMode="auto">
          <a:xfrm>
            <a:off x="3974668" y="4015883"/>
            <a:ext cx="5326608" cy="215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793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interpret a box and whisker plot? 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80752" y="1430144"/>
            <a:ext cx="1950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tell whether a value is an outlier?</a:t>
            </a:r>
            <a:endParaRPr lang="en-GB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18D14AC-7129-4403-BAA3-B219D26141E0}"/>
              </a:ext>
            </a:extLst>
          </p:cNvPr>
          <p:cNvSpPr txBox="1">
            <a:spLocks/>
          </p:cNvSpPr>
          <p:nvPr/>
        </p:nvSpPr>
        <p:spPr>
          <a:xfrm>
            <a:off x="2164139" y="1315583"/>
            <a:ext cx="3931862" cy="54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6B5349-C3F1-40A6-9B71-B11AE3F9E6A1}"/>
              </a:ext>
            </a:extLst>
          </p:cNvPr>
          <p:cNvCxnSpPr>
            <a:cxnSpLocks/>
          </p:cNvCxnSpPr>
          <p:nvPr/>
        </p:nvCxnSpPr>
        <p:spPr>
          <a:xfrm>
            <a:off x="8362875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B7D5308-3806-4395-B9A5-B98594A13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816" y="2514729"/>
            <a:ext cx="6233503" cy="13847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B09C78-AC78-4817-93B6-645016E379E4}"/>
              </a:ext>
            </a:extLst>
          </p:cNvPr>
          <p:cNvSpPr txBox="1"/>
          <p:nvPr/>
        </p:nvSpPr>
        <p:spPr>
          <a:xfrm>
            <a:off x="2071606" y="1424059"/>
            <a:ext cx="595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For the following box and whisker plot determine </a:t>
            </a:r>
          </a:p>
          <a:p>
            <a:pPr marL="342900" indent="-342900">
              <a:buAutoNum type="alphaLcParenR"/>
            </a:pPr>
            <a:r>
              <a:rPr lang="en-AU" dirty="0"/>
              <a:t>the 5 number summary</a:t>
            </a:r>
          </a:p>
          <a:p>
            <a:pPr marL="342900" indent="-342900">
              <a:buAutoNum type="alphaLcParenR"/>
            </a:pPr>
            <a:r>
              <a:rPr lang="en-AU" dirty="0"/>
              <a:t>Interquartile range</a:t>
            </a:r>
          </a:p>
          <a:p>
            <a:r>
              <a:rPr lang="en-AU" dirty="0"/>
              <a:t>Identify any outliers in the data set.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5A6EB-6D8E-4B10-B386-73EB62488F91}"/>
              </a:ext>
            </a:extLst>
          </p:cNvPr>
          <p:cNvSpPr txBox="1"/>
          <p:nvPr/>
        </p:nvSpPr>
        <p:spPr>
          <a:xfrm>
            <a:off x="1996260" y="3865583"/>
            <a:ext cx="63000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dirty="0"/>
              <a:t>Min = 40					 1.5 × IQR = 1.5 × 9</a:t>
            </a:r>
            <a:br>
              <a:rPr lang="en-GB" dirty="0"/>
            </a:br>
            <a:r>
              <a:rPr lang="en-GB" dirty="0"/>
              <a:t>Q1 = 88							   = 13.5</a:t>
            </a:r>
            <a:br>
              <a:rPr lang="en-GB" dirty="0"/>
            </a:br>
            <a:r>
              <a:rPr lang="en-GB" dirty="0"/>
              <a:t>Median or Q2 = 90		 Q3 + 13.5 = 97 + 13.5</a:t>
            </a:r>
            <a:br>
              <a:rPr lang="en-GB" dirty="0"/>
            </a:br>
            <a:r>
              <a:rPr lang="en-GB" dirty="0"/>
              <a:t>Q3 = 97							    = 110.5</a:t>
            </a:r>
            <a:br>
              <a:rPr lang="en-GB" dirty="0"/>
            </a:br>
            <a:r>
              <a:rPr lang="en-GB" dirty="0"/>
              <a:t>Q4 = 98					 Q1 – 13.5 = 88 – 13.5</a:t>
            </a:r>
          </a:p>
          <a:p>
            <a:pPr marL="342900" indent="-342900">
              <a:buAutoNum type="alphaLcParenR"/>
            </a:pPr>
            <a:r>
              <a:rPr lang="en-AU" dirty="0"/>
              <a:t>I</a:t>
            </a:r>
            <a:r>
              <a:rPr lang="en-GB" dirty="0"/>
              <a:t>QR = Q3 – Q1					    = 74.5</a:t>
            </a:r>
            <a:br>
              <a:rPr lang="en-GB" dirty="0"/>
            </a:br>
            <a:r>
              <a:rPr lang="en-GB" dirty="0"/>
              <a:t>       = 97 – 88				Values greater than 110.5</a:t>
            </a:r>
            <a:br>
              <a:rPr lang="en-GB" dirty="0"/>
            </a:br>
            <a:r>
              <a:rPr lang="en-GB" dirty="0"/>
              <a:t>       = 9					and less than 74.5 are</a:t>
            </a:r>
          </a:p>
          <a:p>
            <a:r>
              <a:rPr lang="en-AU" dirty="0"/>
              <a:t>	</a:t>
            </a:r>
            <a:r>
              <a:rPr lang="en-GB" dirty="0"/>
              <a:t>						outliers. This means that</a:t>
            </a:r>
          </a:p>
          <a:p>
            <a:r>
              <a:rPr lang="en-AU" dirty="0"/>
              <a:t>	</a:t>
            </a:r>
            <a:r>
              <a:rPr lang="en-GB" dirty="0"/>
              <a:t>						40 is an outlier.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3AB74-5978-46EB-BABB-7EE4C0C0168C}"/>
              </a:ext>
            </a:extLst>
          </p:cNvPr>
          <p:cNvSpPr txBox="1"/>
          <p:nvPr/>
        </p:nvSpPr>
        <p:spPr>
          <a:xfrm>
            <a:off x="8509162" y="1434233"/>
            <a:ext cx="347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59310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Task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A7DBDB3-ABBA-47D8-9E8C-0DA3DE2D1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807"/>
          <a:stretch/>
        </p:blipFill>
        <p:spPr>
          <a:xfrm>
            <a:off x="233082" y="2255050"/>
            <a:ext cx="11725835" cy="361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0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Task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21FF15-FD1D-45C0-B293-562105D9F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3661" y="2193925"/>
            <a:ext cx="9684678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98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Task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274303-18B2-421B-9E67-F83028DBE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4278" y="2193924"/>
            <a:ext cx="11120429" cy="420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61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128018-0B25-455C-83AE-186459AB8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84094" y="37510"/>
            <a:ext cx="8023812" cy="68204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9E6B2C-69C0-466C-9FAC-082671059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867" y="1270090"/>
            <a:ext cx="1924627" cy="30984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1EB05D4-E8E3-42D4-8678-BD9A67A38350}"/>
              </a:ext>
            </a:extLst>
          </p:cNvPr>
          <p:cNvSpPr/>
          <p:nvPr/>
        </p:nvSpPr>
        <p:spPr>
          <a:xfrm>
            <a:off x="6808494" y="1327918"/>
            <a:ext cx="2405396" cy="1805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FC0FBC-43D9-42CB-B0C0-3EE3284F88D2}"/>
              </a:ext>
            </a:extLst>
          </p:cNvPr>
          <p:cNvSpPr/>
          <p:nvPr/>
        </p:nvSpPr>
        <p:spPr>
          <a:xfrm>
            <a:off x="7740367" y="4398244"/>
            <a:ext cx="2405396" cy="1805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509095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6729</TotalTime>
  <Words>508</Words>
  <Application>Microsoft Office PowerPoint</Application>
  <PresentationFormat>Widescreen</PresentationFormat>
  <Paragraphs>114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Bradley Hand ITC</vt:lpstr>
      <vt:lpstr>Calibri</vt:lpstr>
      <vt:lpstr>Century Gothic</vt:lpstr>
      <vt:lpstr>Comic Sans MS</vt:lpstr>
      <vt:lpstr>DJB Fancy Nancy</vt:lpstr>
      <vt:lpstr>Kiwi School Handwriting</vt:lpstr>
      <vt:lpstr>Times New Roman</vt:lpstr>
      <vt:lpstr>BSC Theme</vt:lpstr>
      <vt:lpstr>Five Number Summary Interquartile Range and Outliers</vt:lpstr>
      <vt:lpstr>Lesson OutComes</vt:lpstr>
      <vt:lpstr>PowerPoint Presentation</vt:lpstr>
      <vt:lpstr>PowerPoint Presentation</vt:lpstr>
      <vt:lpstr>From the Previous Lesson…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  <vt:lpstr>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Magdeline LUM</cp:lastModifiedBy>
  <cp:revision>75</cp:revision>
  <dcterms:created xsi:type="dcterms:W3CDTF">2017-10-15T23:31:24Z</dcterms:created>
  <dcterms:modified xsi:type="dcterms:W3CDTF">2018-07-19T16:20:14Z</dcterms:modified>
</cp:coreProperties>
</file>
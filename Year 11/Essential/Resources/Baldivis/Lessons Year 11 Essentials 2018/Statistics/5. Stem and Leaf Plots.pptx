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2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2515A-DFAF-40E3-8567-F47E61FD7ED1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1CD2A-0F54-4C9D-82B9-638A06DC2B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21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51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74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811E8398-A485-41ED-9FDA-C2D24B02DD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F537695-0D65-469B-B082-333A4A1B7EBB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5D5720A-9C22-4C48-92EB-7612D64016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1FCBFD1-8A8B-4961-A6BB-686A7417A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364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4FC85380-D288-4FD0-954A-59B7A1BD6B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5586FB5-E1F5-4D61-91EA-6DADCE63AA56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33FCF10-7848-4CDF-8466-A52A4AC4B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7129003-986F-4A92-BF60-52B033CC8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987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3CF2DA3D-DFF8-4318-A05B-757A6866B5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A144309-9043-46B8-BB2F-6571D77D72EE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B33A547-2381-429A-9B2A-A9110320E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2C7CB6D-2B5A-4D5A-9699-0E6430487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353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B10D5424-73B0-4829-95EA-E6EBA4A8BC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82646A0-C715-4763-A1C9-C510C2B5ECB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1992B5-2912-46FA-BF7B-13175B1D20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B8C0AFE5-763C-4B50-AE80-FF9BBD6B5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6258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E9DFC82-EEEF-4B29-A341-CA2FBC97C7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A19AB26-C777-4A8B-B3D3-3DD9C1BF04D6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26088423-FB9F-4201-8102-EBC19E997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4278FE8-DC91-485B-B54D-2B1AAB027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4420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6268948D-5BCC-4A58-9AFD-0057DFA14F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5879BE4-B8F9-42DB-A971-1EA48FF9E4D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00D2C28-17F6-4065-A42F-C5B92D84C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CDD128F-2A11-4770-8811-E81605D8B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3265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6BD8E22-69BF-4F99-8435-EE4B3CB44B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5962316-3852-48D0-959D-9A6BF8E653D1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6A9B4FC-DF04-4435-B345-B834CFC5959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C3BE263-8955-46DA-AB14-3DEF7AAF0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703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0E33983A-1DFA-4343-B1A2-C5C68196C2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AA3DC0-681E-40D6-A275-158765DEDDA5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2DB21B2-95C9-43DE-95E9-E27FA467346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4635DC6-1186-4226-BF29-52DD8AD8B7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0394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6C767FCD-DE81-4A74-BD32-67BBD8CF7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EF44413-EE5A-4FBF-8D19-225AD12DBC1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EF5EE88-BDBA-49A4-8541-3C3EC170BF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1654AFF-67AE-42E0-B792-01B5ABD8D1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51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83B3-7A31-4CDF-821D-895D2FEBA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99067-39DA-472A-945F-F6A43365D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2B49C-A783-4C8E-A516-9EF6B3ED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A79E2-5D64-4C46-8D38-B11CA422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10AA2-0CE3-4543-B790-4C3F0EB71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175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A78E-1CD7-4544-9F3B-100FC557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1B6B-B6C7-427F-829F-E2CCB1CE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C7398-8A3D-4EC7-8148-94661875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555D1-98B5-4B98-8FB0-FCDE44FBD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BDBC7-7C46-4F52-B904-9FC2269E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71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E068-6B69-4718-A616-FCEEC816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CF4A7-73E8-49D7-8A33-52711D79C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9F949-46DC-4284-834A-50413F0D5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B9BFA-77C5-41F9-A4AE-4BA60BC8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6DF34-FE3C-4041-AEE6-7A14FDF48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81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29AC-C35D-45FC-A948-F7F29CFA5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1279C-A468-44C1-814D-6E900553E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8F914-9646-4A18-B53A-327B097BE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D1891-071A-47C8-8CCC-407791A4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71105-21AC-4FB0-88C6-330A552A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DC331-4483-4373-98DF-E94FE1F2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41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F23AF-4C4E-4364-B601-88A9CABF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3C807-B403-4837-86CB-DCEBA86A8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BF060-6F9F-41A2-9206-5514AF701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AED02B-E339-4D6E-AB40-4ABD9DACF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D7380-D5F1-4831-9E7F-396D37679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98C46-092D-4F21-AC12-F8CFEE05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F37F2-433F-4671-92A4-093A8251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331B9-F88B-4052-A510-56A79BE7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66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FFD9-5237-4C24-B1AB-0FD82AA9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E51B7B-32D3-4DD3-9962-30A507C2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FE247-1ECF-4044-A11E-B74FB135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4B73A-CC3B-4C9F-869C-F1132F8F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97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772CD-2BE1-4849-A41C-70A1A05A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66E539-80AB-4B17-9886-32EEFCCD8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30AB1-1E8E-4586-AE1C-276F60E2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06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0889-7F14-4458-B93A-0B176D27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65E14-6082-4F36-B117-D3419728A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9604D-E44F-483D-BEDD-F6B68E617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1CD71-850B-4709-842B-FCA372E3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313E3-94A9-4427-AE57-544A878D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19878-2D44-47D3-9F84-2124D1B5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71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B74D-6EC5-4331-A873-1D7B3094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0F2B3-4238-45A7-827D-CA6A51AB0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46676-0BAC-4D3C-9CC4-971B03D3F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A37-7EED-431F-B68B-311DD316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83EAB-3A28-48EA-94EC-196895DAC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D606A-14EF-4CC3-B61E-F08F46D9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10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C7C5-1D20-465F-B263-F2CD292F4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A4B83-1969-4A36-B0AC-DD8333155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9C516-8324-40DB-BFA8-B5BD7706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6F517-DB26-4BD7-8300-CBBCBC78F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6C344-7336-4D18-9E46-870C4723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496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CBB34-4BCC-4FD3-BCCF-33E1EACF1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923B9-869D-46E4-A12F-7E6402F6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6CF7B-DC4D-4136-9DF4-FD230EEB9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C04A9-0878-4A10-AAEB-28B79822C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E5666-9C81-4EA6-925B-329E377D5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7074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0625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DC220-D32B-469B-9C7D-32BBDD82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CD4A6-E5CF-4AE1-98D3-4A08549B7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A737E-13C1-4C38-89E0-A44E89DC2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7B5BF-C052-4804-BF98-0EA404684109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F2DE0-86B8-4305-9757-99EAAC8AC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FA085-4FEE-44C0-B0D1-D11E25998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C6D7D-94E6-40FB-817E-71CB2D502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8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11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Stem and Leaf Plots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02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draw up the two types of Stem and Leaf Plots?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2">
            <a:extLst>
              <a:ext uri="{FF2B5EF4-FFF2-40B4-BE49-F238E27FC236}">
                <a16:creationId xmlns:a16="http://schemas.microsoft.com/office/drawing/2014/main" id="{025F01B5-995D-48DA-87D5-2C45A075C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1378" y="1676709"/>
            <a:ext cx="18459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AU" altLang="en-US" sz="2400" b="1" dirty="0">
                <a:latin typeface="Fragment Core" panose="02000504040000020003" pitchFamily="50" charset="0"/>
              </a:rPr>
              <a:t>What are Stem and </a:t>
            </a:r>
          </a:p>
          <a:p>
            <a:pPr algn="ctr" eaLnBrk="1" hangingPunct="1"/>
            <a:r>
              <a:rPr lang="en-AU" altLang="en-US" sz="2400" b="1" dirty="0">
                <a:latin typeface="Fragment Core" panose="02000504040000020003" pitchFamily="50" charset="0"/>
              </a:rPr>
              <a:t>Leaf Plots?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FA6412C4-40D4-4662-9C72-6D13E2B9B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315" y="1551505"/>
            <a:ext cx="8949401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 sz="2000" dirty="0"/>
              <a:t>A Stem and Leaf Plot is a plot where each data value is split into a "leaf" (usually the last digit) and a "stem" (the other digits). </a:t>
            </a:r>
            <a:br>
              <a:rPr lang="en-AU" altLang="en-US" sz="2000" dirty="0"/>
            </a:br>
            <a:br>
              <a:rPr lang="en-AU" altLang="en-US" sz="2000" dirty="0"/>
            </a:br>
            <a:r>
              <a:rPr lang="en-AU" altLang="en-US" sz="2000" dirty="0"/>
              <a:t>For example "32" is split into "3" (stem) and "2" (leaf).</a:t>
            </a:r>
            <a:br>
              <a:rPr lang="en-AU" altLang="en-US" sz="2000" dirty="0"/>
            </a:br>
            <a:br>
              <a:rPr lang="en-AU" altLang="en-US" sz="2000" dirty="0"/>
            </a:br>
            <a:r>
              <a:rPr lang="en-AU" altLang="en-US" sz="2000" dirty="0"/>
              <a:t>The "stem" values are listed down, and the "leaf" values are listed next to them.</a:t>
            </a:r>
            <a:br>
              <a:rPr lang="en-AU" altLang="en-US" sz="2000" dirty="0"/>
            </a:br>
            <a:br>
              <a:rPr lang="en-AU" altLang="en-US" sz="2000" dirty="0"/>
            </a:br>
            <a:r>
              <a:rPr lang="en-AU" altLang="en-US" sz="2000" dirty="0"/>
              <a:t>This way the "stem" groups the scores and each "leaf" indicates a score within that group.</a:t>
            </a:r>
          </a:p>
          <a:p>
            <a:pPr eaLnBrk="1" hangingPunct="1"/>
            <a:endParaRPr lang="en-AU" altLang="en-US" sz="2000" dirty="0"/>
          </a:p>
          <a:p>
            <a:pPr eaLnBrk="1" hangingPunct="1"/>
            <a:r>
              <a:rPr lang="en-AU" altLang="en-US" sz="2000" dirty="0"/>
              <a:t>They can also be used to compare data in a Back to Back Stem and Leaf Plot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51E587E-701B-458F-9941-DD9ADDFD7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476250"/>
            <a:ext cx="8229600" cy="5473700"/>
          </a:xfrm>
        </p:spPr>
        <p:txBody>
          <a:bodyPr>
            <a:normAutofit lnSpcReduction="10000"/>
          </a:bodyPr>
          <a:lstStyle/>
          <a:p>
            <a:pPr marL="609600" indent="-609600" algn="ctr">
              <a:lnSpc>
                <a:spcPct val="80000"/>
              </a:lnSpc>
              <a:buNone/>
            </a:pPr>
            <a:r>
              <a:rPr lang="en-GB" altLang="en-US" sz="2400" b="1" u="sng">
                <a:latin typeface="Comic Sans MS" panose="030F0702030302020204" pitchFamily="66" charset="0"/>
              </a:rPr>
              <a:t>Stem and Leaf Diagrams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000" b="1" u="sng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How to Draw One: 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000" b="1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000">
                <a:solidFill>
                  <a:srgbClr val="FF0000"/>
                </a:solidFill>
                <a:latin typeface="Comic Sans MS" panose="030F0702030302020204" pitchFamily="66" charset="0"/>
              </a:rPr>
              <a:t>	</a:t>
            </a:r>
            <a:r>
              <a:rPr lang="en-GB" altLang="en-US" sz="2000" b="1">
                <a:solidFill>
                  <a:schemeClr val="accent2"/>
                </a:solidFill>
                <a:latin typeface="Comic Sans MS" panose="030F0702030302020204" pitchFamily="66" charset="0"/>
              </a:rPr>
              <a:t>1.</a:t>
            </a:r>
            <a:r>
              <a:rPr lang="en-GB" altLang="en-US" sz="2000">
                <a:latin typeface="Comic Sans MS" panose="030F0702030302020204" pitchFamily="66" charset="0"/>
              </a:rPr>
              <a:t> Put the </a:t>
            </a:r>
            <a:r>
              <a:rPr lang="en-GB" altLang="en-US" sz="2000" b="1">
                <a:solidFill>
                  <a:srgbClr val="008000"/>
                </a:solidFill>
                <a:latin typeface="Comic Sans MS" panose="030F0702030302020204" pitchFamily="66" charset="0"/>
              </a:rPr>
              <a:t>first digits</a:t>
            </a:r>
            <a:r>
              <a:rPr lang="en-GB" altLang="en-US" sz="2000">
                <a:latin typeface="Comic Sans MS" panose="030F0702030302020204" pitchFamily="66" charset="0"/>
              </a:rPr>
              <a:t> of each piece of data in </a:t>
            </a:r>
            <a:r>
              <a:rPr lang="en-GB" altLang="en-US" sz="2000" b="1">
                <a:solidFill>
                  <a:srgbClr val="008000"/>
                </a:solidFill>
                <a:latin typeface="Comic Sans MS" panose="030F0702030302020204" pitchFamily="66" charset="0"/>
              </a:rPr>
              <a:t>numerical order</a:t>
            </a:r>
            <a:r>
              <a:rPr lang="en-GB" altLang="en-US" sz="2000">
                <a:latin typeface="Comic Sans MS" panose="030F0702030302020204" pitchFamily="66" charset="0"/>
              </a:rPr>
              <a:t> down the left-hand side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00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	</a:t>
            </a:r>
            <a:r>
              <a:rPr lang="en-GB" altLang="en-US" sz="2000" b="1">
                <a:solidFill>
                  <a:schemeClr val="accent2"/>
                </a:solidFill>
                <a:latin typeface="Comic Sans MS" panose="030F0702030302020204" pitchFamily="66" charset="0"/>
              </a:rPr>
              <a:t>2.</a:t>
            </a:r>
            <a:r>
              <a:rPr lang="en-GB" altLang="en-US" sz="2000">
                <a:latin typeface="Comic Sans MS" panose="030F0702030302020204" pitchFamily="66" charset="0"/>
              </a:rPr>
              <a:t> Go through each piece of data in turn and put the remaining digits in the proper row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00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	</a:t>
            </a:r>
            <a:r>
              <a:rPr lang="en-GB" altLang="en-US" sz="2000" b="1">
                <a:solidFill>
                  <a:schemeClr val="accent2"/>
                </a:solidFill>
                <a:latin typeface="Comic Sans MS" panose="030F0702030302020204" pitchFamily="66" charset="0"/>
              </a:rPr>
              <a:t>3.</a:t>
            </a:r>
            <a:r>
              <a:rPr lang="en-GB" altLang="en-US" sz="2000">
                <a:latin typeface="Comic Sans MS" panose="030F0702030302020204" pitchFamily="66" charset="0"/>
              </a:rPr>
              <a:t> Re-draw the diagram putting the pieces of data in the </a:t>
            </a:r>
            <a:r>
              <a:rPr lang="en-GB" altLang="en-US" sz="2000" b="1">
                <a:solidFill>
                  <a:srgbClr val="008000"/>
                </a:solidFill>
                <a:latin typeface="Comic Sans MS" panose="030F0702030302020204" pitchFamily="66" charset="0"/>
              </a:rPr>
              <a:t>right order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00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	</a:t>
            </a:r>
            <a:r>
              <a:rPr lang="en-GB" altLang="en-US" sz="2000" b="1">
                <a:solidFill>
                  <a:schemeClr val="accent2"/>
                </a:solidFill>
                <a:latin typeface="Comic Sans MS" panose="030F0702030302020204" pitchFamily="66" charset="0"/>
              </a:rPr>
              <a:t>4.</a:t>
            </a:r>
            <a:r>
              <a:rPr lang="en-GB" altLang="en-US" sz="2000">
                <a:latin typeface="Comic Sans MS" panose="030F0702030302020204" pitchFamily="66" charset="0"/>
              </a:rPr>
              <a:t> Add a </a:t>
            </a:r>
            <a:r>
              <a:rPr lang="en-GB" altLang="en-US" sz="2000" b="1">
                <a:solidFill>
                  <a:srgbClr val="008000"/>
                </a:solidFill>
                <a:latin typeface="Comic Sans MS" panose="030F0702030302020204" pitchFamily="66" charset="0"/>
              </a:rPr>
              <a:t>key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00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00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	</a:t>
            </a:r>
          </a:p>
        </p:txBody>
      </p:sp>
      <p:pic>
        <p:nvPicPr>
          <p:cNvPr id="21507" name="Picture 3" descr="j0219107">
            <a:extLst>
              <a:ext uri="{FF2B5EF4-FFF2-40B4-BE49-F238E27FC236}">
                <a16:creationId xmlns:a16="http://schemas.microsoft.com/office/drawing/2014/main" id="{4F8C5A57-864D-4013-8D67-3E45997B23A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60350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 descr="j0219107">
            <a:extLst>
              <a:ext uri="{FF2B5EF4-FFF2-40B4-BE49-F238E27FC236}">
                <a16:creationId xmlns:a16="http://schemas.microsoft.com/office/drawing/2014/main" id="{360BAF70-5407-4353-914B-DDEE6D06C11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188" y="260350"/>
            <a:ext cx="1122362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5" descr="j0219107">
            <a:extLst>
              <a:ext uri="{FF2B5EF4-FFF2-40B4-BE49-F238E27FC236}">
                <a16:creationId xmlns:a16="http://schemas.microsoft.com/office/drawing/2014/main" id="{DB045439-4349-429E-AE3C-5E9F57B5C37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188" y="5300664"/>
            <a:ext cx="1122362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6" descr="j0219107">
            <a:extLst>
              <a:ext uri="{FF2B5EF4-FFF2-40B4-BE49-F238E27FC236}">
                <a16:creationId xmlns:a16="http://schemas.microsoft.com/office/drawing/2014/main" id="{7CFB4D17-82A8-4FAF-A809-DE3D73C5F61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5589589"/>
            <a:ext cx="1122363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53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A1631605-4A76-444E-8605-FB7A5424E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CCCE3490-DF3A-41C2-97A9-B8BA559EC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708276"/>
            <a:ext cx="882015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Write the tens figures in the left hand column of a diagram.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These are the ‘STEMS’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004967AA-BC17-4649-AEDD-84A4D3428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23557" name="Picture 5" descr="j0219107">
            <a:extLst>
              <a:ext uri="{FF2B5EF4-FFF2-40B4-BE49-F238E27FC236}">
                <a16:creationId xmlns:a16="http://schemas.microsoft.com/office/drawing/2014/main" id="{64264D4C-7336-47E1-B8C0-F23403298B5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0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Line 6">
            <a:extLst>
              <a:ext uri="{FF2B5EF4-FFF2-40B4-BE49-F238E27FC236}">
                <a16:creationId xmlns:a16="http://schemas.microsoft.com/office/drawing/2014/main" id="{E16962D9-5167-4884-98A3-C2585B37C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D524D74A-F329-4F7E-8A52-29D4EC4E20D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88194" y="5043488"/>
            <a:ext cx="3200876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38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5" grpId="0"/>
      <p:bldP spid="33795" grpId="1"/>
      <p:bldP spid="3379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179B149-95DE-4C30-8742-C1AD33D5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3B698D6F-0F90-48DD-A782-602B7AA6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25604" name="Picture 4" descr="j0219107">
            <a:extLst>
              <a:ext uri="{FF2B5EF4-FFF2-40B4-BE49-F238E27FC236}">
                <a16:creationId xmlns:a16="http://schemas.microsoft.com/office/drawing/2014/main" id="{B9684A88-392E-4129-B111-C2E05C5717C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0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Line 5">
            <a:extLst>
              <a:ext uri="{FF2B5EF4-FFF2-40B4-BE49-F238E27FC236}">
                <a16:creationId xmlns:a16="http://schemas.microsoft.com/office/drawing/2014/main" id="{3AF22E10-BA0C-4A1E-9F4B-EBEE0966F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D2B8A832-9C63-465B-8DC8-A2151B9AD4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88194" y="5064126"/>
            <a:ext cx="3200876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3" name="Text Box 7">
            <a:extLst>
              <a:ext uri="{FF2B5EF4-FFF2-40B4-BE49-F238E27FC236}">
                <a16:creationId xmlns:a16="http://schemas.microsoft.com/office/drawing/2014/main" id="{35E87FB4-CD2B-45A3-950A-DEAF329F3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681288"/>
            <a:ext cx="88201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Go through the marks in turn and put in the units figures of each mark in the proper row.  These are the ‘LEAVES’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2E685DA1-AB05-44F8-A554-BD0988B2C5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31718" y="5054601"/>
            <a:ext cx="61555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3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5" name="AutoShape 9">
            <a:extLst>
              <a:ext uri="{FF2B5EF4-FFF2-40B4-BE49-F238E27FC236}">
                <a16:creationId xmlns:a16="http://schemas.microsoft.com/office/drawing/2014/main" id="{B1F0FC18-2833-4F7F-92CE-792AAFDA24C4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1862139" y="1619251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34826" name="Text Box 10">
            <a:extLst>
              <a:ext uri="{FF2B5EF4-FFF2-40B4-BE49-F238E27FC236}">
                <a16:creationId xmlns:a16="http://schemas.microsoft.com/office/drawing/2014/main" id="{3D67F1F1-5F02-4293-BAC8-4E35056F48A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06331" y="4410076"/>
            <a:ext cx="61555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7" name="AutoShape 11">
            <a:extLst>
              <a:ext uri="{FF2B5EF4-FFF2-40B4-BE49-F238E27FC236}">
                <a16:creationId xmlns:a16="http://schemas.microsoft.com/office/drawing/2014/main" id="{87B97F00-B752-422A-B622-6C33369639F8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2376489" y="1619251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34828" name="Text Box 12">
            <a:extLst>
              <a:ext uri="{FF2B5EF4-FFF2-40B4-BE49-F238E27FC236}">
                <a16:creationId xmlns:a16="http://schemas.microsoft.com/office/drawing/2014/main" id="{E8CA0968-9193-4225-8841-5ED9544F9C1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92106" y="5051426"/>
            <a:ext cx="61555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1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9" name="AutoShape 13">
            <a:extLst>
              <a:ext uri="{FF2B5EF4-FFF2-40B4-BE49-F238E27FC236}">
                <a16:creationId xmlns:a16="http://schemas.microsoft.com/office/drawing/2014/main" id="{A9768EBB-7667-48E8-B285-95897BCB9D0C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2922589" y="1616076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5582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/>
      <p:bldP spid="34824" grpId="0"/>
      <p:bldP spid="34826" grpId="0"/>
      <p:bldP spid="348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55AB2B7E-6A1F-49CA-BAAD-254E06F14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EF4EC08C-D4F8-4008-833B-B933D5A29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27652" name="Picture 4" descr="j0219107">
            <a:extLst>
              <a:ext uri="{FF2B5EF4-FFF2-40B4-BE49-F238E27FC236}">
                <a16:creationId xmlns:a16="http://schemas.microsoft.com/office/drawing/2014/main" id="{383C30EB-0773-4253-8E25-CAF8CF1B1E0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0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Line 5">
            <a:extLst>
              <a:ext uri="{FF2B5EF4-FFF2-40B4-BE49-F238E27FC236}">
                <a16:creationId xmlns:a16="http://schemas.microsoft.com/office/drawing/2014/main" id="{88BAF037-202A-451D-9F4B-724F6C4D3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ACA52E14-F1C3-44B4-B0A3-6566EBD1D8B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88194" y="5064126"/>
            <a:ext cx="3200876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AC92F2BD-0CC3-4163-9650-4D5EA922C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681289"/>
            <a:ext cx="8820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When all the marks are entered the diagram will look like this: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48" name="Text Box 8">
            <a:extLst>
              <a:ext uri="{FF2B5EF4-FFF2-40B4-BE49-F238E27FC236}">
                <a16:creationId xmlns:a16="http://schemas.microsoft.com/office/drawing/2014/main" id="{63FA24FD-F98E-4226-8FED-E8833611292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31718" y="5054601"/>
            <a:ext cx="61555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3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9190EB42-78B7-4637-B112-48ED9B6DA17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06331" y="4410076"/>
            <a:ext cx="61555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0" name="Text Box 10">
            <a:extLst>
              <a:ext uri="{FF2B5EF4-FFF2-40B4-BE49-F238E27FC236}">
                <a16:creationId xmlns:a16="http://schemas.microsoft.com/office/drawing/2014/main" id="{5461F249-BAE3-4547-B9AB-1F0AB00A340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92106" y="5051426"/>
            <a:ext cx="61555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1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1" name="Text Box 11">
            <a:extLst>
              <a:ext uri="{FF2B5EF4-FFF2-40B4-BE49-F238E27FC236}">
                <a16:creationId xmlns:a16="http://schemas.microsoft.com/office/drawing/2014/main" id="{3E146F23-D1B4-4AFA-8066-BC823165EC7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073976" y="2342357"/>
            <a:ext cx="615553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0   4   7   9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B74169E6-F2EB-4CC3-98E6-F0CA2A9720C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040763" y="2512219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2   9   4   7   9   3   7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3" name="Text Box 13">
            <a:extLst>
              <a:ext uri="{FF2B5EF4-FFF2-40B4-BE49-F238E27FC236}">
                <a16:creationId xmlns:a16="http://schemas.microsoft.com/office/drawing/2014/main" id="{175B351E-F2D6-41B5-9876-7F48D531062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556699" y="3151982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5   9   3   4   8   5   8   1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4" name="Text Box 14">
            <a:extLst>
              <a:ext uri="{FF2B5EF4-FFF2-40B4-BE49-F238E27FC236}">
                <a16:creationId xmlns:a16="http://schemas.microsoft.com/office/drawing/2014/main" id="{C03A0FA0-EE59-4BA7-B30E-86F703F49A6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02600" y="3788569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5   0   6   4   0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5" name="Text Box 15">
            <a:extLst>
              <a:ext uri="{FF2B5EF4-FFF2-40B4-BE49-F238E27FC236}">
                <a16:creationId xmlns:a16="http://schemas.microsoft.com/office/drawing/2014/main" id="{6970C6B1-769E-4F86-B0EF-D49D4E326C9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27999" y="4447382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1   0   1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44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/>
      <p:bldP spid="35851" grpId="0"/>
      <p:bldP spid="35852" grpId="0"/>
      <p:bldP spid="35853" grpId="0"/>
      <p:bldP spid="35854" grpId="0"/>
      <p:bldP spid="358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94BE140B-215D-4746-AC49-3B6B9B2FF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17E08894-2A1C-4E8D-9735-12E46FBE8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29700" name="Picture 4" descr="j0219107">
            <a:extLst>
              <a:ext uri="{FF2B5EF4-FFF2-40B4-BE49-F238E27FC236}">
                <a16:creationId xmlns:a16="http://schemas.microsoft.com/office/drawing/2014/main" id="{951AD8FD-297B-47DA-B6B4-06E6BB48AF9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0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Line 5">
            <a:extLst>
              <a:ext uri="{FF2B5EF4-FFF2-40B4-BE49-F238E27FC236}">
                <a16:creationId xmlns:a16="http://schemas.microsoft.com/office/drawing/2014/main" id="{B881617E-F3C4-4780-A5D6-7E4A2690C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BCAE7254-6F22-43F9-9F53-41637676188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88194" y="5064126"/>
            <a:ext cx="3200876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7484C1DA-3AB0-4D31-BEDE-3204A5C99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681288"/>
            <a:ext cx="88201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Rewrite the diagram so that the units figures in each row are in order: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2" name="Text Box 8">
            <a:extLst>
              <a:ext uri="{FF2B5EF4-FFF2-40B4-BE49-F238E27FC236}">
                <a16:creationId xmlns:a16="http://schemas.microsoft.com/office/drawing/2014/main" id="{BD991562-3E75-45EF-93A4-B9EBD242046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073976" y="2342357"/>
            <a:ext cx="615553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0   4   7   9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3" name="Text Box 9">
            <a:extLst>
              <a:ext uri="{FF2B5EF4-FFF2-40B4-BE49-F238E27FC236}">
                <a16:creationId xmlns:a16="http://schemas.microsoft.com/office/drawing/2014/main" id="{03A22F57-4BEF-44D9-827B-5F9C6E17AFD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50224" y="2482057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2   3   4   7   7   8   9   9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4" name="Text Box 10">
            <a:extLst>
              <a:ext uri="{FF2B5EF4-FFF2-40B4-BE49-F238E27FC236}">
                <a16:creationId xmlns:a16="http://schemas.microsoft.com/office/drawing/2014/main" id="{12947169-B443-40A6-A1D8-372B7A28738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069338" y="2601119"/>
            <a:ext cx="615553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1   1   3   3   4   5   5   8   8   9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5" name="Text Box 11">
            <a:extLst>
              <a:ext uri="{FF2B5EF4-FFF2-40B4-BE49-F238E27FC236}">
                <a16:creationId xmlns:a16="http://schemas.microsoft.com/office/drawing/2014/main" id="{A13089C3-F621-4996-AD17-8E98F55ADBC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02600" y="3788569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0   0   4   5   6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6" name="Text Box 12">
            <a:extLst>
              <a:ext uri="{FF2B5EF4-FFF2-40B4-BE49-F238E27FC236}">
                <a16:creationId xmlns:a16="http://schemas.microsoft.com/office/drawing/2014/main" id="{3B96E4E7-82CF-4B16-B65E-A32867BE99D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27999" y="4447382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0   1   1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4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412FD93C-D4A3-4447-876C-1C0759EB9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E6552E8D-AC73-45A2-9733-80CEF9EA7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31748" name="Picture 4" descr="j0219107">
            <a:extLst>
              <a:ext uri="{FF2B5EF4-FFF2-40B4-BE49-F238E27FC236}">
                <a16:creationId xmlns:a16="http://schemas.microsoft.com/office/drawing/2014/main" id="{D0B66B72-7E85-4FEC-B082-6C33CD0960D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0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Line 5">
            <a:extLst>
              <a:ext uri="{FF2B5EF4-FFF2-40B4-BE49-F238E27FC236}">
                <a16:creationId xmlns:a16="http://schemas.microsoft.com/office/drawing/2014/main" id="{E490E464-14D5-4FE5-86C5-27A022EA2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E6EA5937-F715-4362-8FFA-32EAC785A97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88194" y="5064126"/>
            <a:ext cx="3200876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43A36025-F0BE-47FA-8BC5-5FA36AD69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681289"/>
            <a:ext cx="8820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Add a KEY: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1A44BD82-9CAB-4BBE-BD24-16DB3D6A6F6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073976" y="2342357"/>
            <a:ext cx="615553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0   4   7   9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C933063F-E9B1-48C5-B3BD-1DDAE8C8DBD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50224" y="2482057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2   3   4   7   7   8   9   9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12648527-57AD-44EC-9251-10E2840D2DB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069338" y="2601119"/>
            <a:ext cx="615553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1   1   3   3   4   5   5   8   8   9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21ACEAC2-6D56-49FC-97BA-5E198B6E623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02600" y="3788569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0   0   4   5   6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58F8D7C7-AD48-468A-8117-7291938A3CF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27999" y="4447382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0   1   1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901" name="Rectangle 13">
            <a:extLst>
              <a:ext uri="{FF2B5EF4-FFF2-40B4-BE49-F238E27FC236}">
                <a16:creationId xmlns:a16="http://schemas.microsoft.com/office/drawing/2014/main" id="{C052970E-A650-459D-8B38-F8C2A0D7A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4083050"/>
            <a:ext cx="1874838" cy="838200"/>
          </a:xfrm>
          <a:prstGeom prst="rect">
            <a:avLst/>
          </a:prstGeom>
          <a:solidFill>
            <a:schemeClr val="bg1"/>
          </a:solidFill>
          <a:ln w="28575">
            <a:solidFill>
              <a:srgbClr val="66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GB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  <a:r>
              <a:rPr lang="en-US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|2 = 52</a:t>
            </a:r>
          </a:p>
        </p:txBody>
      </p:sp>
    </p:spTree>
    <p:extLst>
      <p:ext uri="{BB962C8B-B14F-4D97-AF65-F5344CB8AC3E}">
        <p14:creationId xmlns:p14="http://schemas.microsoft.com/office/powerpoint/2010/main" val="37646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  <p:bldP spid="379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179B149-95DE-4C30-8742-C1AD33D5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1076326"/>
            <a:ext cx="8972550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ages of patients on admission to a hospital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Males: 2  13  24  39  45  45  48  56  58  59  59  62  64  64  68  69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Females: 1  12 14  23 28  37 39  39  42 42  45 46  51 57 58  63  65  71  88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3B698D6F-0F90-48DD-A782-602B7AA6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225252"/>
            <a:ext cx="10221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GB" altLang="en-US" sz="36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Back to Back Stem and Leaf Diagrams</a:t>
            </a:r>
            <a:endParaRPr lang="en-US" altLang="en-US" sz="36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8196" name="Picture 4" descr="j0219107">
            <a:extLst>
              <a:ext uri="{FF2B5EF4-FFF2-40B4-BE49-F238E27FC236}">
                <a16:creationId xmlns:a16="http://schemas.microsoft.com/office/drawing/2014/main" id="{075879B6-34FC-4185-A798-A2E6680E2E5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21" y="166688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Line 5">
            <a:extLst>
              <a:ext uri="{FF2B5EF4-FFF2-40B4-BE49-F238E27FC236}">
                <a16:creationId xmlns:a16="http://schemas.microsoft.com/office/drawing/2014/main" id="{BD7DA7A7-28E0-4682-B48D-61531B6F6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2771775"/>
            <a:ext cx="0" cy="353695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D2B8A832-9C63-465B-8DC8-A2151B9AD4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580873" y="4510882"/>
            <a:ext cx="3785652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2E685DA1-AB05-44F8-A554-BD0988B2C5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14269" y="3154363"/>
            <a:ext cx="61555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8200" name="Line 5">
            <a:extLst>
              <a:ext uri="{FF2B5EF4-FFF2-40B4-BE49-F238E27FC236}">
                <a16:creationId xmlns:a16="http://schemas.microsoft.com/office/drawing/2014/main" id="{ECBD8C91-CE0E-4754-8CD5-57505F73F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2800351"/>
            <a:ext cx="0" cy="3508375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100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179B149-95DE-4C30-8742-C1AD33D5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1076326"/>
            <a:ext cx="8972550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ages of patients on admission to a hospital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Males: 2  13  24  39  45  45  48  56  58  59  59  62  64  64  68  69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Females: 1  12 14  23 28  37 39  39  42 42  45 46  51 57 58  63  65  71  88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10244" name="Picture 4" descr="j0219107">
            <a:extLst>
              <a:ext uri="{FF2B5EF4-FFF2-40B4-BE49-F238E27FC236}">
                <a16:creationId xmlns:a16="http://schemas.microsoft.com/office/drawing/2014/main" id="{F2FCB5DA-7D08-4939-BE99-88EBF6BE694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45" y="225252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Line 5">
            <a:extLst>
              <a:ext uri="{FF2B5EF4-FFF2-40B4-BE49-F238E27FC236}">
                <a16:creationId xmlns:a16="http://schemas.microsoft.com/office/drawing/2014/main" id="{E10E9836-F5AC-49D0-9F18-27AB885C0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2771775"/>
            <a:ext cx="0" cy="353695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D2B8A832-9C63-465B-8DC8-A2151B9AD4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580873" y="4510882"/>
            <a:ext cx="3785652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2E685DA1-AB05-44F8-A554-BD0988B2C5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14269" y="3154363"/>
            <a:ext cx="61555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5" name="AutoShape 9">
            <a:extLst>
              <a:ext uri="{FF2B5EF4-FFF2-40B4-BE49-F238E27FC236}">
                <a16:creationId xmlns:a16="http://schemas.microsoft.com/office/drawing/2014/main" id="{43A1F51A-D1D9-4193-9032-F386E39BDAF7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2935289" y="1514476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34827" name="AutoShape 11">
            <a:extLst>
              <a:ext uri="{FF2B5EF4-FFF2-40B4-BE49-F238E27FC236}">
                <a16:creationId xmlns:a16="http://schemas.microsoft.com/office/drawing/2014/main" id="{38F0990F-C2DE-49DF-88CB-393AD1081C5D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2620964" y="1658939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10250" name="Line 5">
            <a:extLst>
              <a:ext uri="{FF2B5EF4-FFF2-40B4-BE49-F238E27FC236}">
                <a16:creationId xmlns:a16="http://schemas.microsoft.com/office/drawing/2014/main" id="{D915C022-ED00-4B43-8B4A-D485CD36C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2800351"/>
            <a:ext cx="0" cy="3508375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A8C20FC9-5123-4D5F-9FE8-DA43075565C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629601" y="2582070"/>
            <a:ext cx="129266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2C0ECF84-24CC-430F-9A4C-D7BA2C85C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225252"/>
            <a:ext cx="10221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GB" altLang="en-US" sz="36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Back to Back Stem and Leaf Diagrams</a:t>
            </a:r>
            <a:endParaRPr lang="en-US" altLang="en-US" sz="36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42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179B149-95DE-4C30-8742-C1AD33D5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1076326"/>
            <a:ext cx="8972550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ages of patients on admission to a hospital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Males: 2  13  24  39  45  45  48  56  58  59  59  62  64  64  68  69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Females: 1  12 14  23 28  37 39  39  42 42  45 46  51 57 58  63  65  71  88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2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12292" name="Picture 4" descr="j0219107">
            <a:extLst>
              <a:ext uri="{FF2B5EF4-FFF2-40B4-BE49-F238E27FC236}">
                <a16:creationId xmlns:a16="http://schemas.microsoft.com/office/drawing/2014/main" id="{E6DB1D7F-703F-4D83-8578-2412055178E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29" y="166688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Line 5">
            <a:extLst>
              <a:ext uri="{FF2B5EF4-FFF2-40B4-BE49-F238E27FC236}">
                <a16:creationId xmlns:a16="http://schemas.microsoft.com/office/drawing/2014/main" id="{6EF1B577-914F-40C5-A6EE-9C5DD800A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2771775"/>
            <a:ext cx="0" cy="3536950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D2B8A832-9C63-465B-8DC8-A2151B9AD4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580873" y="4510882"/>
            <a:ext cx="3785652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2E685DA1-AB05-44F8-A554-BD0988B2C5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14269" y="3154363"/>
            <a:ext cx="61555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12296" name="Line 5">
            <a:extLst>
              <a:ext uri="{FF2B5EF4-FFF2-40B4-BE49-F238E27FC236}">
                <a16:creationId xmlns:a16="http://schemas.microsoft.com/office/drawing/2014/main" id="{F39F3646-34DA-4548-B02E-28C379027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2800351"/>
            <a:ext cx="0" cy="3508375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A8C20FC9-5123-4D5F-9FE8-DA43075565C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744631" y="3443288"/>
            <a:ext cx="295465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9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8 5 5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9 9 8 6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9 8 6 4 4 2 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F3302A92-3022-459E-92AB-6A74BACDB3B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08805" y="3829051"/>
            <a:ext cx="378565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3 8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7 9 9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2 2 5 6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1 7 8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3 5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 </a:t>
            </a:r>
            <a:endParaRPr lang="en-US" altLang="en-US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8E8855AD-EAB5-4BC2-A1D1-8F6E1A4F2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5705475"/>
            <a:ext cx="1874838" cy="838200"/>
          </a:xfrm>
          <a:prstGeom prst="rect">
            <a:avLst/>
          </a:prstGeom>
          <a:solidFill>
            <a:schemeClr val="bg1"/>
          </a:solidFill>
          <a:ln w="28575">
            <a:solidFill>
              <a:srgbClr val="66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GB" altLang="en-US" sz="3200" b="1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</a:t>
            </a:r>
            <a:r>
              <a:rPr lang="en-US" altLang="en-US" sz="3200" b="1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|2 = 52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68634E2F-9760-4B41-AE72-32BEF73A0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225252"/>
            <a:ext cx="102219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GB" altLang="en-US" sz="36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Back to Back Stem and Leaf Diagrams</a:t>
            </a:r>
            <a:endParaRPr lang="en-US" altLang="en-US" sz="36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73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/>
      <p:bldP spid="15" grpId="0"/>
      <p:bldP spid="25" grpId="0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771</Words>
  <Application>Microsoft Office PowerPoint</Application>
  <PresentationFormat>Widescreen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Fragment Core</vt:lpstr>
      <vt:lpstr>Kristen ITC</vt:lpstr>
      <vt:lpstr>Office Theme</vt:lpstr>
      <vt:lpstr>Stem and Leaf Plots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and Leaf Plots</dc:title>
  <dc:creator>LABUSCHAGNE Nine [Baldivis Secondary College]</dc:creator>
  <cp:lastModifiedBy>Nine LABUSCHAGNE</cp:lastModifiedBy>
  <cp:revision>5</cp:revision>
  <dcterms:created xsi:type="dcterms:W3CDTF">2018-06-19T06:58:41Z</dcterms:created>
  <dcterms:modified xsi:type="dcterms:W3CDTF">2018-06-19T07:05:09Z</dcterms:modified>
</cp:coreProperties>
</file>
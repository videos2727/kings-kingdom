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0066"/>
    <a:srgbClr val="FF66FF"/>
    <a:srgbClr val="FF9900"/>
    <a:srgbClr val="0000FF"/>
    <a:srgbClr val="006600"/>
    <a:srgbClr val="FFFF99"/>
    <a:srgbClr val="CC00CC"/>
    <a:srgbClr val="99FFCC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6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75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39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00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20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85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39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68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069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47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202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2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C1CCF-54F4-48A1-91B4-36CEC0695F0D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734B3-8087-44C5-94B5-9DDA9493364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36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solidFill>
                  <a:srgbClr val="CC0000"/>
                </a:solidFill>
                <a:latin typeface="AngryBirds" pitchFamily="2" charset="0"/>
              </a:rPr>
              <a:t>Types of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8470" y="3509963"/>
            <a:ext cx="9144000" cy="1655762"/>
          </a:xfrm>
        </p:spPr>
        <p:txBody>
          <a:bodyPr/>
          <a:lstStyle/>
          <a:p>
            <a:r>
              <a:rPr lang="en-AU" b="1" dirty="0"/>
              <a:t>Year 11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5" y="3398518"/>
            <a:ext cx="4976191" cy="3296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095" y="344740"/>
            <a:ext cx="2426470" cy="18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4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What are the different types of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15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Types of Data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99405" y="2345926"/>
            <a:ext cx="7593187" cy="304698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Data are observations or facts 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When collected, organised and evaluated, it becomes information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Data can either be: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98473" y="1509963"/>
            <a:ext cx="6595053" cy="646331"/>
          </a:xfrm>
          <a:prstGeom prst="rect">
            <a:avLst/>
          </a:prstGeom>
          <a:solidFill>
            <a:srgbClr val="CCFF66"/>
          </a:solidFill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What is Data?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31" y="5860485"/>
            <a:ext cx="3843844" cy="58477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Categorical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5621" y="5860484"/>
            <a:ext cx="3843844" cy="58477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Numerical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4108175" y="5392914"/>
            <a:ext cx="476457" cy="3055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8073499" y="5392914"/>
            <a:ext cx="262118" cy="3055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4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What are the different types of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15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Types of Data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73658" y="2505196"/>
            <a:ext cx="5911182" cy="403187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Is data whose values are categories</a:t>
            </a:r>
          </a:p>
          <a:p>
            <a:pPr algn="ctr"/>
            <a:endParaRPr lang="en-AU" sz="3200" b="1" dirty="0"/>
          </a:p>
          <a:p>
            <a:pPr algn="ctr"/>
            <a:r>
              <a:rPr lang="en-AU" sz="3200" dirty="0" err="1"/>
              <a:t>Eg</a:t>
            </a:r>
            <a:r>
              <a:rPr lang="en-AU" sz="3200" dirty="0"/>
              <a:t>: blood groups (A, B, AB, O), house constructions types (brick, timber, concrete)</a:t>
            </a:r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Two Types of Categorical Data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98473" y="1509963"/>
            <a:ext cx="6595053" cy="646331"/>
          </a:xfrm>
          <a:prstGeom prst="rect">
            <a:avLst/>
          </a:prstGeom>
          <a:solidFill>
            <a:srgbClr val="99FFCC"/>
          </a:solidFill>
          <a:ln w="57150">
            <a:solidFill>
              <a:srgbClr val="CC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Categorical Data</a:t>
            </a:r>
          </a:p>
        </p:txBody>
      </p:sp>
      <p:sp>
        <p:nvSpPr>
          <p:cNvPr id="18" name="TextBox 17"/>
          <p:cNvSpPr txBox="1"/>
          <p:nvPr/>
        </p:nvSpPr>
        <p:spPr>
          <a:xfrm rot="20622197">
            <a:off x="377217" y="4371419"/>
            <a:ext cx="2304148" cy="58263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Ordinal</a:t>
            </a:r>
            <a:endParaRPr lang="en-AU" sz="3200" i="1" dirty="0"/>
          </a:p>
        </p:txBody>
      </p:sp>
      <p:sp>
        <p:nvSpPr>
          <p:cNvPr id="19" name="TextBox 18"/>
          <p:cNvSpPr txBox="1"/>
          <p:nvPr/>
        </p:nvSpPr>
        <p:spPr>
          <a:xfrm rot="1451901">
            <a:off x="9559855" y="4371420"/>
            <a:ext cx="2304148" cy="58263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Nominal</a:t>
            </a:r>
            <a:endParaRPr lang="en-AU" sz="3200" i="1" dirty="0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1974574" y="5115339"/>
            <a:ext cx="1199084" cy="11661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9084840" y="5115339"/>
            <a:ext cx="1329922" cy="10469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88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What are the different types of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15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Types of Data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4330" y="2217862"/>
            <a:ext cx="5752156" cy="4524315"/>
          </a:xfrm>
          <a:prstGeom prst="rect">
            <a:avLst/>
          </a:prstGeom>
          <a:noFill/>
          <a:ln w="28575">
            <a:solidFill>
              <a:srgbClr val="CC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Ordinal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Takes values that can be logically ranked</a:t>
            </a:r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Income Level: high, medium, low</a:t>
            </a:r>
          </a:p>
          <a:p>
            <a:pPr algn="ctr"/>
            <a:endParaRPr lang="en-AU" sz="3200" i="1" dirty="0"/>
          </a:p>
          <a:p>
            <a:pPr algn="ctr"/>
            <a:r>
              <a:rPr lang="en-AU" sz="3200" i="1" dirty="0"/>
              <a:t>Customer Rating: Satisfied, Unsatisfied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018" y="2201513"/>
            <a:ext cx="5758070" cy="4524315"/>
          </a:xfrm>
          <a:prstGeom prst="rect">
            <a:avLst/>
          </a:prstGeom>
          <a:noFill/>
          <a:ln w="28575">
            <a:solidFill>
              <a:srgbClr val="CC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Nominal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Takes values which have no logical ranking</a:t>
            </a:r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Country of Birth: Australia, New Zealand, Africa, America</a:t>
            </a:r>
          </a:p>
          <a:p>
            <a:pPr algn="ctr"/>
            <a:endParaRPr lang="en-AU" sz="3200" i="1" dirty="0"/>
          </a:p>
          <a:p>
            <a:pPr algn="ctr"/>
            <a:r>
              <a:rPr lang="en-AU" sz="3200" i="1" dirty="0"/>
              <a:t>Favourite Colour: blue, red,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473" y="1427049"/>
            <a:ext cx="6595053" cy="646331"/>
          </a:xfrm>
          <a:prstGeom prst="rect">
            <a:avLst/>
          </a:prstGeom>
          <a:solidFill>
            <a:srgbClr val="99FFCC"/>
          </a:solidFill>
          <a:ln w="57150">
            <a:solidFill>
              <a:srgbClr val="CC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89813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What are the different types of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15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Types of Data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73658" y="2505196"/>
            <a:ext cx="5911182" cy="4031873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Have values that describe a measurable quantity as a number, like how many or how much</a:t>
            </a:r>
          </a:p>
          <a:p>
            <a:pPr algn="ctr"/>
            <a:endParaRPr lang="en-AU" sz="3200" b="1" dirty="0"/>
          </a:p>
          <a:p>
            <a:pPr algn="ctr"/>
            <a:endParaRPr lang="en-AU" sz="3200" dirty="0"/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Two Types of Numerical Data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98473" y="1509963"/>
            <a:ext cx="6595053" cy="646331"/>
          </a:xfrm>
          <a:prstGeom prst="rect">
            <a:avLst/>
          </a:prstGeom>
          <a:solidFill>
            <a:srgbClr val="FFFF99"/>
          </a:solidFill>
          <a:ln w="57150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Numerical Data</a:t>
            </a:r>
          </a:p>
        </p:txBody>
      </p:sp>
      <p:sp>
        <p:nvSpPr>
          <p:cNvPr id="18" name="TextBox 17"/>
          <p:cNvSpPr txBox="1"/>
          <p:nvPr/>
        </p:nvSpPr>
        <p:spPr>
          <a:xfrm rot="20622197">
            <a:off x="377217" y="4371419"/>
            <a:ext cx="2304148" cy="582633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Discrete</a:t>
            </a:r>
            <a:endParaRPr lang="en-AU" sz="3200" i="1" dirty="0"/>
          </a:p>
        </p:txBody>
      </p:sp>
      <p:sp>
        <p:nvSpPr>
          <p:cNvPr id="19" name="TextBox 18"/>
          <p:cNvSpPr txBox="1"/>
          <p:nvPr/>
        </p:nvSpPr>
        <p:spPr>
          <a:xfrm rot="1451901">
            <a:off x="9559855" y="4371420"/>
            <a:ext cx="2304148" cy="582633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Continuous</a:t>
            </a:r>
            <a:endParaRPr lang="en-AU" sz="3200" i="1" dirty="0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1974574" y="5115339"/>
            <a:ext cx="1199084" cy="116619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9084840" y="5115339"/>
            <a:ext cx="1329922" cy="104692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58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659017"/>
            <a:ext cx="12192000" cy="17975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2566"/>
            <a:ext cx="12192000" cy="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357" y="165539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330" y="770360"/>
            <a:ext cx="8640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EQ – What are the different types of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30" y="165539"/>
            <a:ext cx="3158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latin typeface="Chalkboard"/>
                <a:cs typeface="Chalkboard"/>
              </a:rPr>
              <a:t>Topic: Types of Data</a:t>
            </a:r>
            <a:endParaRPr lang="en-AU" sz="28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4330" y="2217862"/>
            <a:ext cx="5752156" cy="4031873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Discrete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Takes exact number values. Usually result of </a:t>
            </a:r>
            <a:r>
              <a:rPr lang="en-AU" sz="3200" u="sng" dirty="0"/>
              <a:t>counting</a:t>
            </a:r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Number of Apples: 0,1,2,3..</a:t>
            </a:r>
          </a:p>
          <a:p>
            <a:pPr algn="ctr"/>
            <a:endParaRPr lang="en-AU" sz="3200" i="1" dirty="0"/>
          </a:p>
          <a:p>
            <a:pPr algn="ctr"/>
            <a:r>
              <a:rPr lang="en-AU" sz="3200" i="1" dirty="0"/>
              <a:t>Number of tennis players: 2 or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018" y="2201513"/>
            <a:ext cx="5758070" cy="4524315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/>
              <a:t>Continuous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Can take any numerical value within a certain range. Usually result of </a:t>
            </a:r>
            <a:r>
              <a:rPr lang="en-AU" sz="3200" u="sng" dirty="0"/>
              <a:t>measuring</a:t>
            </a:r>
          </a:p>
          <a:p>
            <a:pPr algn="ctr"/>
            <a:endParaRPr lang="en-AU" sz="3200" dirty="0"/>
          </a:p>
          <a:p>
            <a:pPr algn="ctr"/>
            <a:r>
              <a:rPr lang="en-AU" sz="3200" i="1" dirty="0"/>
              <a:t>Time taken to run 100m: 9.8 – 25 seconds</a:t>
            </a:r>
          </a:p>
          <a:p>
            <a:pPr algn="ctr"/>
            <a:endParaRPr lang="en-AU" sz="32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2798473" y="1416207"/>
            <a:ext cx="6595053" cy="646331"/>
          </a:xfrm>
          <a:prstGeom prst="rect">
            <a:avLst/>
          </a:prstGeom>
          <a:solidFill>
            <a:srgbClr val="FFFF99"/>
          </a:solidFill>
          <a:ln w="57150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Numerical Data</a:t>
            </a:r>
          </a:p>
        </p:txBody>
      </p:sp>
    </p:spTree>
    <p:extLst>
      <p:ext uri="{BB962C8B-B14F-4D97-AF65-F5344CB8AC3E}">
        <p14:creationId xmlns:p14="http://schemas.microsoft.com/office/powerpoint/2010/main" val="238028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705708" y="157251"/>
            <a:ext cx="6595053" cy="646331"/>
          </a:xfrm>
          <a:prstGeom prst="rect">
            <a:avLst/>
          </a:prstGeom>
          <a:solidFill>
            <a:srgbClr val="FF66FF"/>
          </a:solidFill>
          <a:ln w="57150">
            <a:solidFill>
              <a:srgbClr val="66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36" y="1079748"/>
            <a:ext cx="8465518" cy="57782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66" y="2004325"/>
            <a:ext cx="4956989" cy="71621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265" y="2996710"/>
            <a:ext cx="5210700" cy="66284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2964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321" y="179286"/>
            <a:ext cx="11728887" cy="95410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State whether the data is numerical or categorical. If numerical, also state whether it is discrete or continuous.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21" y="1252062"/>
            <a:ext cx="10628957" cy="56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5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16" y="2517913"/>
            <a:ext cx="11588623" cy="11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93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300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AngryBirds</vt:lpstr>
      <vt:lpstr>Arial</vt:lpstr>
      <vt:lpstr>Calibri</vt:lpstr>
      <vt:lpstr>Calibri Light</vt:lpstr>
      <vt:lpstr>Chalkboard</vt:lpstr>
      <vt:lpstr>Office Theme</vt:lpstr>
      <vt:lpstr>Types of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Data</dc:title>
  <dc:creator>Nine Labuschagne</dc:creator>
  <cp:lastModifiedBy>Nine LABUSCHAGNE</cp:lastModifiedBy>
  <cp:revision>18</cp:revision>
  <dcterms:created xsi:type="dcterms:W3CDTF">2017-06-13T06:22:09Z</dcterms:created>
  <dcterms:modified xsi:type="dcterms:W3CDTF">2018-06-18T00:00:44Z</dcterms:modified>
</cp:coreProperties>
</file>
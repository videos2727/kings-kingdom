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7" r:id="rId2"/>
    <p:sldId id="331" r:id="rId3"/>
    <p:sldId id="335" r:id="rId4"/>
    <p:sldId id="341" r:id="rId5"/>
    <p:sldId id="336" r:id="rId6"/>
    <p:sldId id="262" r:id="rId7"/>
    <p:sldId id="263" r:id="rId8"/>
    <p:sldId id="264" r:id="rId9"/>
    <p:sldId id="265" r:id="rId10"/>
    <p:sldId id="266" r:id="rId11"/>
    <p:sldId id="343" r:id="rId12"/>
    <p:sldId id="344" r:id="rId13"/>
    <p:sldId id="342" r:id="rId14"/>
    <p:sldId id="337" r:id="rId15"/>
    <p:sldId id="260" r:id="rId16"/>
    <p:sldId id="338" r:id="rId17"/>
    <p:sldId id="34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1"/>
            <p14:sldId id="335"/>
            <p14:sldId id="341"/>
            <p14:sldId id="336"/>
            <p14:sldId id="262"/>
            <p14:sldId id="263"/>
            <p14:sldId id="264"/>
            <p14:sldId id="265"/>
            <p14:sldId id="266"/>
            <p14:sldId id="343"/>
            <p14:sldId id="344"/>
            <p14:sldId id="342"/>
            <p14:sldId id="337"/>
            <p14:sldId id="260"/>
            <p14:sldId id="338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8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6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0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Five Number Summary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Displaying the 5 number Summary 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Mathematics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Lesson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OutComes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2.1.9 Calculate and interpret quartiles</a:t>
            </a:r>
          </a:p>
          <a:p>
            <a:pPr marL="0" indent="0">
              <a:buNone/>
            </a:pPr>
            <a:r>
              <a:rPr lang="en-AU" dirty="0"/>
              <a:t>2.1.16 complete a five number summary for different data sets </a:t>
            </a:r>
            <a:endParaRPr lang="en-GB" dirty="0"/>
          </a:p>
          <a:p>
            <a:pPr marL="0" indent="0">
              <a:buNone/>
            </a:pPr>
            <a:r>
              <a:rPr lang="en-GB"/>
              <a:t>2.1.17</a:t>
            </a:r>
            <a:r>
              <a:rPr lang="en-GB" dirty="0"/>
              <a:t> </a:t>
            </a:r>
            <a:r>
              <a:rPr lang="en-AU"/>
              <a:t>construct </a:t>
            </a:r>
            <a:r>
              <a:rPr lang="en-AU" dirty="0"/>
              <a:t>and interpret box plots using a five number summary</a:t>
            </a:r>
            <a:endParaRPr lang="en-GB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display the 5 Number Summary? 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Displaying the 5 Number Summary Visually</a:t>
            </a:r>
          </a:p>
          <a:p>
            <a:pPr lvl="1">
              <a:defRPr/>
            </a:pPr>
            <a:r>
              <a:rPr lang="en-US" sz="2600" b="1" dirty="0">
                <a:solidFill>
                  <a:srgbClr val="CC0099"/>
                </a:solidFill>
              </a:rPr>
              <a:t>We use a Box and Whisker Plot</a:t>
            </a:r>
          </a:p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38798" y="2100349"/>
            <a:ext cx="19502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display the 5 number summary visually?</a:t>
            </a:r>
            <a:endParaRPr lang="en-GB" dirty="0"/>
          </a:p>
        </p:txBody>
      </p:sp>
      <p:grpSp>
        <p:nvGrpSpPr>
          <p:cNvPr id="15" name="Group 117">
            <a:extLst>
              <a:ext uri="{FF2B5EF4-FFF2-40B4-BE49-F238E27FC236}">
                <a16:creationId xmlns:a16="http://schemas.microsoft.com/office/drawing/2014/main" id="{D2C2625E-21E6-4FE9-96AA-02C62B15D728}"/>
              </a:ext>
            </a:extLst>
          </p:cNvPr>
          <p:cNvGrpSpPr>
            <a:grpSpLocks/>
          </p:cNvGrpSpPr>
          <p:nvPr/>
        </p:nvGrpSpPr>
        <p:grpSpPr bwMode="auto">
          <a:xfrm>
            <a:off x="6361574" y="3999260"/>
            <a:ext cx="1023937" cy="765175"/>
            <a:chOff x="2570" y="1846"/>
            <a:chExt cx="645" cy="482"/>
          </a:xfrm>
        </p:grpSpPr>
        <p:sp>
          <p:nvSpPr>
            <p:cNvPr id="16" name="Line 37">
              <a:extLst>
                <a:ext uri="{FF2B5EF4-FFF2-40B4-BE49-F238E27FC236}">
                  <a16:creationId xmlns:a16="http://schemas.microsoft.com/office/drawing/2014/main" id="{54BE5C8B-C5C1-419E-B794-CEB4C20F9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3" y="2082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Box 98">
              <a:extLst>
                <a:ext uri="{FF2B5EF4-FFF2-40B4-BE49-F238E27FC236}">
                  <a16:creationId xmlns:a16="http://schemas.microsoft.com/office/drawing/2014/main" id="{2835156D-6FA9-455A-AAAF-F8609EC9F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0" y="184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latin typeface="Comic Sans MS" panose="030F0702030302020204" pitchFamily="66" charset="0"/>
                </a:rPr>
                <a:t>Median</a:t>
              </a:r>
            </a:p>
          </p:txBody>
        </p:sp>
      </p:grpSp>
      <p:sp>
        <p:nvSpPr>
          <p:cNvPr id="18" name="Text Box 99">
            <a:extLst>
              <a:ext uri="{FF2B5EF4-FFF2-40B4-BE49-F238E27FC236}">
                <a16:creationId xmlns:a16="http://schemas.microsoft.com/office/drawing/2014/main" id="{F670D75A-40B9-4A3B-9EA9-52A3FC85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21" y="3423602"/>
            <a:ext cx="102393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Lower Quartile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(Q1)</a:t>
            </a:r>
          </a:p>
        </p:txBody>
      </p:sp>
      <p:sp>
        <p:nvSpPr>
          <p:cNvPr id="19" name="Text Box 100">
            <a:extLst>
              <a:ext uri="{FF2B5EF4-FFF2-40B4-BE49-F238E27FC236}">
                <a16:creationId xmlns:a16="http://schemas.microsoft.com/office/drawing/2014/main" id="{88DD772E-135B-4E98-8A2F-3C79A42FA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383" y="3547427"/>
            <a:ext cx="10239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Upper Quartile (Q3)</a:t>
            </a:r>
          </a:p>
        </p:txBody>
      </p:sp>
      <p:sp>
        <p:nvSpPr>
          <p:cNvPr id="21" name="Text Box 101">
            <a:extLst>
              <a:ext uri="{FF2B5EF4-FFF2-40B4-BE49-F238E27FC236}">
                <a16:creationId xmlns:a16="http://schemas.microsoft.com/office/drawing/2014/main" id="{C574BF35-3464-451C-BEB8-237B6733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096" y="3934777"/>
            <a:ext cx="102393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 dirty="0">
                <a:latin typeface="Comic Sans MS" panose="030F0702030302020204" pitchFamily="66" charset="0"/>
              </a:rPr>
              <a:t>Lowest Value</a:t>
            </a:r>
          </a:p>
        </p:txBody>
      </p:sp>
      <p:sp>
        <p:nvSpPr>
          <p:cNvPr id="22" name="Text Box 102">
            <a:extLst>
              <a:ext uri="{FF2B5EF4-FFF2-40B4-BE49-F238E27FC236}">
                <a16:creationId xmlns:a16="http://schemas.microsoft.com/office/drawing/2014/main" id="{D5C96C84-C915-4216-999C-5E51B9F0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9933" y="3947477"/>
            <a:ext cx="10239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b="1">
                <a:latin typeface="Comic Sans MS" panose="030F0702030302020204" pitchFamily="66" charset="0"/>
              </a:rPr>
              <a:t>Highest Value</a:t>
            </a:r>
          </a:p>
        </p:txBody>
      </p:sp>
      <p:grpSp>
        <p:nvGrpSpPr>
          <p:cNvPr id="23" name="Group 115">
            <a:extLst>
              <a:ext uri="{FF2B5EF4-FFF2-40B4-BE49-F238E27FC236}">
                <a16:creationId xmlns:a16="http://schemas.microsoft.com/office/drawing/2014/main" id="{177D97BF-94BB-4D47-9631-71D4208CC572}"/>
              </a:ext>
            </a:extLst>
          </p:cNvPr>
          <p:cNvGrpSpPr>
            <a:grpSpLocks/>
          </p:cNvGrpSpPr>
          <p:nvPr/>
        </p:nvGrpSpPr>
        <p:grpSpPr bwMode="auto">
          <a:xfrm>
            <a:off x="4895821" y="4377690"/>
            <a:ext cx="3065462" cy="390525"/>
            <a:chOff x="1521" y="2082"/>
            <a:chExt cx="1931" cy="246"/>
          </a:xfrm>
        </p:grpSpPr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614D9D58-8DE2-432F-B192-F5A9D4158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082"/>
              <a:ext cx="1931" cy="24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Text Box 104">
              <a:extLst>
                <a:ext uri="{FF2B5EF4-FFF2-40B4-BE49-F238E27FC236}">
                  <a16:creationId xmlns:a16="http://schemas.microsoft.com/office/drawing/2014/main" id="{D3B794AD-2733-4E50-82D6-1459B9752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210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Box</a:t>
              </a:r>
            </a:p>
          </p:txBody>
        </p:sp>
      </p:grpSp>
      <p:grpSp>
        <p:nvGrpSpPr>
          <p:cNvPr id="26" name="Group 116">
            <a:extLst>
              <a:ext uri="{FF2B5EF4-FFF2-40B4-BE49-F238E27FC236}">
                <a16:creationId xmlns:a16="http://schemas.microsoft.com/office/drawing/2014/main" id="{DA4C17D1-C703-4564-9076-884EC8DB41DF}"/>
              </a:ext>
            </a:extLst>
          </p:cNvPr>
          <p:cNvGrpSpPr>
            <a:grpSpLocks/>
          </p:cNvGrpSpPr>
          <p:nvPr/>
        </p:nvGrpSpPr>
        <p:grpSpPr bwMode="auto">
          <a:xfrm>
            <a:off x="3398808" y="4291965"/>
            <a:ext cx="7051675" cy="454025"/>
            <a:chOff x="591" y="2016"/>
            <a:chExt cx="4442" cy="286"/>
          </a:xfrm>
        </p:grpSpPr>
        <p:grpSp>
          <p:nvGrpSpPr>
            <p:cNvPr id="27" name="Group 39">
              <a:extLst>
                <a:ext uri="{FF2B5EF4-FFF2-40B4-BE49-F238E27FC236}">
                  <a16:creationId xmlns:a16="http://schemas.microsoft.com/office/drawing/2014/main" id="{4A15FD93-5F26-429D-BA56-10899277D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" y="2132"/>
              <a:ext cx="944" cy="152"/>
              <a:chOff x="1342" y="3458"/>
              <a:chExt cx="617" cy="152"/>
            </a:xfrm>
          </p:grpSpPr>
          <p:sp>
            <p:nvSpPr>
              <p:cNvPr id="34" name="Line 40">
                <a:extLst>
                  <a:ext uri="{FF2B5EF4-FFF2-40B4-BE49-F238E27FC236}">
                    <a16:creationId xmlns:a16="http://schemas.microsoft.com/office/drawing/2014/main" id="{83459878-CB29-4AA8-8624-60426D6A9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536"/>
                <a:ext cx="617" cy="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Line 41">
                <a:extLst>
                  <a:ext uri="{FF2B5EF4-FFF2-40B4-BE49-F238E27FC236}">
                    <a16:creationId xmlns:a16="http://schemas.microsoft.com/office/drawing/2014/main" id="{DD7EF0FA-232C-4A8E-9093-01612F488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2" y="3458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8" name="Group 42">
              <a:extLst>
                <a:ext uri="{FF2B5EF4-FFF2-40B4-BE49-F238E27FC236}">
                  <a16:creationId xmlns:a16="http://schemas.microsoft.com/office/drawing/2014/main" id="{4C8376B3-CCF7-41C4-842D-F4FD170E4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2" y="2126"/>
              <a:ext cx="1581" cy="176"/>
              <a:chOff x="3140" y="3452"/>
              <a:chExt cx="990" cy="176"/>
            </a:xfrm>
          </p:grpSpPr>
          <p:sp>
            <p:nvSpPr>
              <p:cNvPr id="31" name="Line 43">
                <a:extLst>
                  <a:ext uri="{FF2B5EF4-FFF2-40B4-BE49-F238E27FC236}">
                    <a16:creationId xmlns:a16="http://schemas.microsoft.com/office/drawing/2014/main" id="{21ABBAE0-75A5-4FDF-867C-8D472EC4A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0" y="3540"/>
                <a:ext cx="9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44">
                <a:extLst>
                  <a:ext uri="{FF2B5EF4-FFF2-40B4-BE49-F238E27FC236}">
                    <a16:creationId xmlns:a16="http://schemas.microsoft.com/office/drawing/2014/main" id="{2FAA7355-78CE-4B43-A924-C585BB18D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0" y="3452"/>
                <a:ext cx="0" cy="1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" name="Text Box 105">
              <a:extLst>
                <a:ext uri="{FF2B5EF4-FFF2-40B4-BE49-F238E27FC236}">
                  <a16:creationId xmlns:a16="http://schemas.microsoft.com/office/drawing/2014/main" id="{01E26C8A-D329-4DFA-BA61-C41F5456D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" y="2028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  <p:sp>
          <p:nvSpPr>
            <p:cNvPr id="30" name="Text Box 106">
              <a:extLst>
                <a:ext uri="{FF2B5EF4-FFF2-40B4-BE49-F238E27FC236}">
                  <a16:creationId xmlns:a16="http://schemas.microsoft.com/office/drawing/2014/main" id="{92EE932B-6B8D-4A1D-B384-97A7F6AFD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" y="2016"/>
              <a:ext cx="64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600" b="1">
                  <a:solidFill>
                    <a:srgbClr val="CC0099"/>
                  </a:solidFill>
                  <a:latin typeface="Comic Sans MS" panose="030F0702030302020204" pitchFamily="66" charset="0"/>
                </a:rPr>
                <a:t>Whisker</a:t>
              </a: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FAA4D46D-97B8-414C-BC22-1587CB346A46}"/>
              </a:ext>
            </a:extLst>
          </p:cNvPr>
          <p:cNvGrpSpPr>
            <a:grpSpLocks/>
          </p:cNvGrpSpPr>
          <p:nvPr/>
        </p:nvGrpSpPr>
        <p:grpSpPr bwMode="auto">
          <a:xfrm>
            <a:off x="2982883" y="5020627"/>
            <a:ext cx="8237538" cy="679450"/>
            <a:chOff x="838200" y="4572000"/>
            <a:chExt cx="8237538" cy="679458"/>
          </a:xfrm>
        </p:grpSpPr>
        <p:grpSp>
          <p:nvGrpSpPr>
            <p:cNvPr id="37" name="Group 18">
              <a:extLst>
                <a:ext uri="{FF2B5EF4-FFF2-40B4-BE49-F238E27FC236}">
                  <a16:creationId xmlns:a16="http://schemas.microsoft.com/office/drawing/2014/main" id="{F7BA2FBF-BFBE-4F34-B1AC-2107BA4B3E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6638" y="4824420"/>
              <a:ext cx="8039100" cy="427038"/>
              <a:chOff x="1267" y="3867"/>
              <a:chExt cx="3171" cy="269"/>
            </a:xfrm>
          </p:grpSpPr>
          <p:sp>
            <p:nvSpPr>
              <p:cNvPr id="48" name="Text Box 28">
                <a:extLst>
                  <a:ext uri="{FF2B5EF4-FFF2-40B4-BE49-F238E27FC236}">
                    <a16:creationId xmlns:a16="http://schemas.microsoft.com/office/drawing/2014/main" id="{37232FAD-2A70-4F6F-A514-793D3AA6A8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7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4</a:t>
                </a:r>
              </a:p>
            </p:txBody>
          </p:sp>
          <p:sp>
            <p:nvSpPr>
              <p:cNvPr id="49" name="Text Box 29">
                <a:extLst>
                  <a:ext uri="{FF2B5EF4-FFF2-40B4-BE49-F238E27FC236}">
                    <a16:creationId xmlns:a16="http://schemas.microsoft.com/office/drawing/2014/main" id="{0634E4CB-AD55-449D-A3D3-71E212AB73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3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5</a:t>
                </a:r>
              </a:p>
            </p:txBody>
          </p:sp>
          <p:sp>
            <p:nvSpPr>
              <p:cNvPr id="50" name="Text Box 30">
                <a:extLst>
                  <a:ext uri="{FF2B5EF4-FFF2-40B4-BE49-F238E27FC236}">
                    <a16:creationId xmlns:a16="http://schemas.microsoft.com/office/drawing/2014/main" id="{2005A7D6-5122-4AA5-A0D2-5C9E839A1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6</a:t>
                </a:r>
              </a:p>
            </p:txBody>
          </p:sp>
          <p:sp>
            <p:nvSpPr>
              <p:cNvPr id="51" name="Text Box 31">
                <a:extLst>
                  <a:ext uri="{FF2B5EF4-FFF2-40B4-BE49-F238E27FC236}">
                    <a16:creationId xmlns:a16="http://schemas.microsoft.com/office/drawing/2014/main" id="{7C2B10B5-0F0E-4E37-BE08-C225F0E5E0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7</a:t>
                </a:r>
              </a:p>
            </p:txBody>
          </p:sp>
          <p:sp>
            <p:nvSpPr>
              <p:cNvPr id="52" name="Text Box 32">
                <a:extLst>
                  <a:ext uri="{FF2B5EF4-FFF2-40B4-BE49-F238E27FC236}">
                    <a16:creationId xmlns:a16="http://schemas.microsoft.com/office/drawing/2014/main" id="{01D5F5FE-89B8-4583-A7A5-6375380D41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8</a:t>
                </a:r>
              </a:p>
            </p:txBody>
          </p:sp>
          <p:sp>
            <p:nvSpPr>
              <p:cNvPr id="53" name="Text Box 33">
                <a:extLst>
                  <a:ext uri="{FF2B5EF4-FFF2-40B4-BE49-F238E27FC236}">
                    <a16:creationId xmlns:a16="http://schemas.microsoft.com/office/drawing/2014/main" id="{924ACF47-0F89-40EE-88F7-B9DDEA534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9" y="386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9</a:t>
                </a:r>
              </a:p>
            </p:txBody>
          </p:sp>
          <p:sp>
            <p:nvSpPr>
              <p:cNvPr id="54" name="Text Box 34">
                <a:extLst>
                  <a:ext uri="{FF2B5EF4-FFF2-40B4-BE49-F238E27FC236}">
                    <a16:creationId xmlns:a16="http://schemas.microsoft.com/office/drawing/2014/main" id="{BF117991-FAA5-4BB4-BBAF-01285A0DC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1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10</a:t>
                </a:r>
              </a:p>
            </p:txBody>
          </p:sp>
          <p:sp>
            <p:nvSpPr>
              <p:cNvPr id="55" name="Text Box 35">
                <a:extLst>
                  <a:ext uri="{FF2B5EF4-FFF2-40B4-BE49-F238E27FC236}">
                    <a16:creationId xmlns:a16="http://schemas.microsoft.com/office/drawing/2014/main" id="{D762F924-8F73-4A85-8E4B-BD52D5EAB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11</a:t>
                </a:r>
              </a:p>
            </p:txBody>
          </p:sp>
          <p:sp>
            <p:nvSpPr>
              <p:cNvPr id="56" name="Text Box 36">
                <a:extLst>
                  <a:ext uri="{FF2B5EF4-FFF2-40B4-BE49-F238E27FC236}">
                    <a16:creationId xmlns:a16="http://schemas.microsoft.com/office/drawing/2014/main" id="{2107892C-A4CF-458C-8A18-98CB75D86A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3" y="3867"/>
                <a:ext cx="385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2200">
                    <a:latin typeface="Comic Sans MS" panose="030F0702030302020204" pitchFamily="66" charset="0"/>
                  </a:rPr>
                  <a:t>12</a:t>
                </a:r>
              </a:p>
            </p:txBody>
          </p:sp>
        </p:grpSp>
        <p:cxnSp>
          <p:nvCxnSpPr>
            <p:cNvPr id="38" name="Straight Connector 2">
              <a:extLst>
                <a:ext uri="{FF2B5EF4-FFF2-40B4-BE49-F238E27FC236}">
                  <a16:creationId xmlns:a16="http://schemas.microsoft.com/office/drawing/2014/main" id="{25D1FF46-CC57-42A0-B6C0-E923CA496E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200" y="4724400"/>
              <a:ext cx="7875588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6">
              <a:extLst>
                <a:ext uri="{FF2B5EF4-FFF2-40B4-BE49-F238E27FC236}">
                  <a16:creationId xmlns:a16="http://schemas.microsoft.com/office/drawing/2014/main" id="{5A262928-EAF8-4396-9AAD-5FC928D9A7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52857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63">
              <a:extLst>
                <a:ext uri="{FF2B5EF4-FFF2-40B4-BE49-F238E27FC236}">
                  <a16:creationId xmlns:a16="http://schemas.microsoft.com/office/drawing/2014/main" id="{999CC3E1-54B9-45B6-A367-9D5889918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6606" y="4610125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Straight Connector 64">
              <a:extLst>
                <a:ext uri="{FF2B5EF4-FFF2-40B4-BE49-F238E27FC236}">
                  <a16:creationId xmlns:a16="http://schemas.microsoft.com/office/drawing/2014/main" id="{D01BA4CC-76F9-45BD-B613-C03D34BB9B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71800" y="4587106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Straight Connector 65">
              <a:extLst>
                <a:ext uri="{FF2B5EF4-FFF2-40B4-BE49-F238E27FC236}">
                  <a16:creationId xmlns:a16="http://schemas.microsoft.com/office/drawing/2014/main" id="{D1CA8FC3-E84A-44C4-AB92-D900A9B9F0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6200" y="4606954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Straight Connector 66">
              <a:extLst>
                <a:ext uri="{FF2B5EF4-FFF2-40B4-BE49-F238E27FC236}">
                  <a16:creationId xmlns:a16="http://schemas.microsoft.com/office/drawing/2014/main" id="{E374063E-2A79-4F80-AC79-F47D110447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37100" y="457442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Straight Connector 67">
              <a:extLst>
                <a:ext uri="{FF2B5EF4-FFF2-40B4-BE49-F238E27FC236}">
                  <a16:creationId xmlns:a16="http://schemas.microsoft.com/office/drawing/2014/main" id="{3494B47C-9F2D-462B-B9BE-1FD6B0DC5E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38800" y="457200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Straight Connector 68">
              <a:extLst>
                <a:ext uri="{FF2B5EF4-FFF2-40B4-BE49-F238E27FC236}">
                  <a16:creationId xmlns:a16="http://schemas.microsoft.com/office/drawing/2014/main" id="{3D98154D-D7C3-4761-81BD-F379E1EA64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79488" y="4598190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Connector 69">
              <a:extLst>
                <a:ext uri="{FF2B5EF4-FFF2-40B4-BE49-F238E27FC236}">
                  <a16:creationId xmlns:a16="http://schemas.microsoft.com/office/drawing/2014/main" id="{808D3456-607A-4DEA-8BFA-B7AB3505F8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91400" y="4611148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Straight Connector 70">
              <a:extLst>
                <a:ext uri="{FF2B5EF4-FFF2-40B4-BE49-F238E27FC236}">
                  <a16:creationId xmlns:a16="http://schemas.microsoft.com/office/drawing/2014/main" id="{98DA47DC-A5D8-498F-A17E-976DFBE183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05800" y="4585981"/>
              <a:ext cx="0" cy="25242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0224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  <p:bldP spid="21" grpId="0" autoUpdateAnimBg="0"/>
      <p:bldP spid="2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display the 5 Number Summary? </a:t>
            </a: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12EF7CDC-A3A3-45B4-BCFD-2E0FBB5B1DB5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 err="1"/>
              <a:t>Analysing</a:t>
            </a:r>
            <a:r>
              <a:rPr lang="en-US" sz="2800" dirty="0"/>
              <a:t> a Box and Whisker Plot</a:t>
            </a:r>
            <a:endParaRPr lang="en-US" sz="2600" b="1" dirty="0">
              <a:solidFill>
                <a:srgbClr val="CC0099"/>
              </a:solidFill>
            </a:endParaRPr>
          </a:p>
          <a:p>
            <a:pPr marL="0" indent="0">
              <a:buNone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690C7-BE39-4323-A55D-D4BA5332F871}"/>
              </a:ext>
            </a:extLst>
          </p:cNvPr>
          <p:cNvSpPr txBox="1"/>
          <p:nvPr/>
        </p:nvSpPr>
        <p:spPr>
          <a:xfrm>
            <a:off x="38798" y="2100349"/>
            <a:ext cx="195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analyse a Box and Whisker Plot?</a:t>
            </a:r>
            <a:endParaRPr lang="en-GB" dirty="0"/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275242EA-9964-4024-A198-57821282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461" y="1934326"/>
            <a:ext cx="8391525" cy="4675188"/>
          </a:xfrm>
          <a:prstGeom prst="rect">
            <a:avLst/>
          </a:prstGeom>
          <a:solidFill>
            <a:schemeClr val="accent3">
              <a:lumMod val="20000"/>
              <a:lumOff val="80000"/>
              <a:alpha val="3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grpSp>
        <p:nvGrpSpPr>
          <p:cNvPr id="58" name="Group 18">
            <a:extLst>
              <a:ext uri="{FF2B5EF4-FFF2-40B4-BE49-F238E27FC236}">
                <a16:creationId xmlns:a16="http://schemas.microsoft.com/office/drawing/2014/main" id="{0CC1AE9A-FF5A-4C4A-BBA5-B6AC7DFBE5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69174" y="2940801"/>
            <a:ext cx="8021637" cy="1765300"/>
            <a:chOff x="2582" y="7082"/>
            <a:chExt cx="7027" cy="1171"/>
          </a:xfrm>
        </p:grpSpPr>
        <p:sp>
          <p:nvSpPr>
            <p:cNvPr id="59" name="AutoShape 19">
              <a:extLst>
                <a:ext uri="{FF2B5EF4-FFF2-40B4-BE49-F238E27FC236}">
                  <a16:creationId xmlns:a16="http://schemas.microsoft.com/office/drawing/2014/main" id="{CCA957CB-2937-4546-9A1D-95E2F78ED3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2" y="7082"/>
              <a:ext cx="7027" cy="1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60" name="Line 20">
              <a:extLst>
                <a:ext uri="{FF2B5EF4-FFF2-40B4-BE49-F238E27FC236}">
                  <a16:creationId xmlns:a16="http://schemas.microsoft.com/office/drawing/2014/main" id="{7EE9A90C-2150-483B-BDDB-DCB7AB7F5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2" y="8252"/>
              <a:ext cx="702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4F103B4C-5F62-4CE2-A5AB-13F1DEB2B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" y="7609"/>
              <a:ext cx="2074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sp>
          <p:nvSpPr>
            <p:cNvPr id="62" name="Line 22">
              <a:extLst>
                <a:ext uri="{FF2B5EF4-FFF2-40B4-BE49-F238E27FC236}">
                  <a16:creationId xmlns:a16="http://schemas.microsoft.com/office/drawing/2014/main" id="{54CBB22E-59C7-4FB4-BFA3-562041C16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6" y="7600"/>
              <a:ext cx="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Line 23">
              <a:extLst>
                <a:ext uri="{FF2B5EF4-FFF2-40B4-BE49-F238E27FC236}">
                  <a16:creationId xmlns:a16="http://schemas.microsoft.com/office/drawing/2014/main" id="{BBE4912B-9870-4069-954D-6A0F909C8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8" y="7808"/>
              <a:ext cx="19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Line 24">
              <a:extLst>
                <a:ext uri="{FF2B5EF4-FFF2-40B4-BE49-F238E27FC236}">
                  <a16:creationId xmlns:a16="http://schemas.microsoft.com/office/drawing/2014/main" id="{D9335EBF-DDB8-48CC-9462-BCC38F2775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79" y="7663"/>
              <a:ext cx="1" cy="2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Line 25">
              <a:extLst>
                <a:ext uri="{FF2B5EF4-FFF2-40B4-BE49-F238E27FC236}">
                  <a16:creationId xmlns:a16="http://schemas.microsoft.com/office/drawing/2014/main" id="{4132C035-BE4D-4956-B857-1CDB2844A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4" y="7799"/>
              <a:ext cx="139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Line 26">
              <a:extLst>
                <a:ext uri="{FF2B5EF4-FFF2-40B4-BE49-F238E27FC236}">
                  <a16:creationId xmlns:a16="http://schemas.microsoft.com/office/drawing/2014/main" id="{1001CA24-0D92-41B5-90D4-817BC27FA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77" y="7636"/>
              <a:ext cx="1" cy="3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7" name="Text Box 31">
            <a:extLst>
              <a:ext uri="{FF2B5EF4-FFF2-40B4-BE49-F238E27FC236}">
                <a16:creationId xmlns:a16="http://schemas.microsoft.com/office/drawing/2014/main" id="{8CAC389A-1AE8-4879-BF93-DB916C28D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699" y="2999539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68" name="Text Box 32">
            <a:extLst>
              <a:ext uri="{FF2B5EF4-FFF2-40B4-BE49-F238E27FC236}">
                <a16:creationId xmlns:a16="http://schemas.microsoft.com/office/drawing/2014/main" id="{9A54D0BA-0C8B-48F8-8193-2BA5D0751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886" y="3275764"/>
            <a:ext cx="898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69" name="Text Box 33">
            <a:extLst>
              <a:ext uri="{FF2B5EF4-FFF2-40B4-BE49-F238E27FC236}">
                <a16:creationId xmlns:a16="http://schemas.microsoft.com/office/drawing/2014/main" id="{AA435935-B385-43D6-89DA-E1A8C68B6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3849" y="3374189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70" name="Text Box 34">
            <a:extLst>
              <a:ext uri="{FF2B5EF4-FFF2-40B4-BE49-F238E27FC236}">
                <a16:creationId xmlns:a16="http://schemas.microsoft.com/office/drawing/2014/main" id="{27AC0F7D-6D16-48BC-8FF3-A9ABE53F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436" y="3094789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25%</a:t>
            </a:r>
          </a:p>
        </p:txBody>
      </p:sp>
      <p:sp>
        <p:nvSpPr>
          <p:cNvPr id="71" name="AutoShape 35">
            <a:extLst>
              <a:ext uri="{FF2B5EF4-FFF2-40B4-BE49-F238E27FC236}">
                <a16:creationId xmlns:a16="http://schemas.microsoft.com/office/drawing/2014/main" id="{929C1E3C-7CC4-4517-A2F3-9646AFC1D5F0}"/>
              </a:ext>
            </a:extLst>
          </p:cNvPr>
          <p:cNvSpPr>
            <a:spLocks/>
          </p:cNvSpPr>
          <p:nvPr/>
        </p:nvSpPr>
        <p:spPr bwMode="auto">
          <a:xfrm rot="16200000">
            <a:off x="7337973" y="3297989"/>
            <a:ext cx="1552575" cy="3397250"/>
          </a:xfrm>
          <a:prstGeom prst="leftBrace">
            <a:avLst>
              <a:gd name="adj1" fmla="val 18234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72" name="AutoShape 36">
            <a:extLst>
              <a:ext uri="{FF2B5EF4-FFF2-40B4-BE49-F238E27FC236}">
                <a16:creationId xmlns:a16="http://schemas.microsoft.com/office/drawing/2014/main" id="{92F8F9CB-7EB5-4417-86EA-CC3F7BE652F3}"/>
              </a:ext>
            </a:extLst>
          </p:cNvPr>
          <p:cNvSpPr>
            <a:spLocks/>
          </p:cNvSpPr>
          <p:nvPr/>
        </p:nvSpPr>
        <p:spPr bwMode="auto">
          <a:xfrm rot="16200000">
            <a:off x="4193930" y="3590882"/>
            <a:ext cx="1552575" cy="2881313"/>
          </a:xfrm>
          <a:prstGeom prst="leftBrace">
            <a:avLst>
              <a:gd name="adj1" fmla="val 15465"/>
              <a:gd name="adj2" fmla="val 51894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73" name="Text Box 37">
            <a:extLst>
              <a:ext uri="{FF2B5EF4-FFF2-40B4-BE49-F238E27FC236}">
                <a16:creationId xmlns:a16="http://schemas.microsoft.com/office/drawing/2014/main" id="{71BDF41A-7708-4B31-A067-049E2698A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561" y="5739564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74" name="Text Box 38">
            <a:extLst>
              <a:ext uri="{FF2B5EF4-FFF2-40B4-BE49-F238E27FC236}">
                <a16:creationId xmlns:a16="http://schemas.microsoft.com/office/drawing/2014/main" id="{F6AA83DA-303F-49E3-8D9B-01365AB89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611" y="5725276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6060A"/>
                </a:solidFill>
              </a:rPr>
              <a:t>50%</a:t>
            </a:r>
          </a:p>
        </p:txBody>
      </p:sp>
      <p:sp>
        <p:nvSpPr>
          <p:cNvPr id="75" name="Line 39">
            <a:extLst>
              <a:ext uri="{FF2B5EF4-FFF2-40B4-BE49-F238E27FC236}">
                <a16:creationId xmlns:a16="http://schemas.microsoft.com/office/drawing/2014/main" id="{0CFF392F-3AFC-4AC1-9041-23A1D98AA7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3149" y="3704389"/>
            <a:ext cx="103187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" name="Line 40">
            <a:extLst>
              <a:ext uri="{FF2B5EF4-FFF2-40B4-BE49-F238E27FC236}">
                <a16:creationId xmlns:a16="http://schemas.microsoft.com/office/drawing/2014/main" id="{328AB0DC-F1A5-4EEE-8677-4741B335B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5461" y="3723439"/>
            <a:ext cx="103188" cy="284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7" name="Line 41">
            <a:extLst>
              <a:ext uri="{FF2B5EF4-FFF2-40B4-BE49-F238E27FC236}">
                <a16:creationId xmlns:a16="http://schemas.microsoft.com/office/drawing/2014/main" id="{4683F68A-9A1C-420A-A99D-B73DF3E34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3399" y="3463089"/>
            <a:ext cx="103187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8" name="Line 42">
            <a:extLst>
              <a:ext uri="{FF2B5EF4-FFF2-40B4-BE49-F238E27FC236}">
                <a16:creationId xmlns:a16="http://schemas.microsoft.com/office/drawing/2014/main" id="{0892984A-2121-4C9A-84C7-D5CD5B761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2886" y="3350376"/>
            <a:ext cx="103188" cy="338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1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 animBg="1"/>
      <p:bldP spid="72" grpId="0" animBg="1"/>
      <p:bldP spid="73" grpId="0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Collaborative Study Group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What are the steps that you would take to display the information in a Box and Whisker Plot for this set of data?</a:t>
            </a:r>
            <a:endParaRPr lang="en-GB" sz="2800" dirty="0"/>
          </a:p>
        </p:txBody>
      </p:sp>
      <p:pic>
        <p:nvPicPr>
          <p:cNvPr id="7" name="Picture 7" descr="boxdata3">
            <a:extLst>
              <a:ext uri="{FF2B5EF4-FFF2-40B4-BE49-F238E27FC236}">
                <a16:creationId xmlns:a16="http://schemas.microsoft.com/office/drawing/2014/main" id="{C569D92F-2AFE-401F-8D42-36EE8F389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507" y="3309715"/>
            <a:ext cx="6296198" cy="246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120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D8FAF127-23B9-4214-BD5E-198F0A102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35083" y="0"/>
            <a:ext cx="8153400" cy="1143000"/>
          </a:xfrm>
          <a:noFill/>
        </p:spPr>
        <p:txBody>
          <a:bodyPr/>
          <a:lstStyle/>
          <a:p>
            <a:r>
              <a:rPr lang="en-US" altLang="en-US" dirty="0"/>
              <a:t>Step 1 – Draw a Number Line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1C300868-91A9-4F2F-A68E-3AC940D88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35083" y="1143000"/>
            <a:ext cx="9144000" cy="3200400"/>
          </a:xfrm>
        </p:spPr>
        <p:txBody>
          <a:bodyPr rtlCol="0">
            <a:norm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en-US" altLang="en-US" sz="2000" dirty="0"/>
              <a:t>	</a:t>
            </a:r>
            <a:r>
              <a:rPr lang="en-US" altLang="en-US" dirty="0"/>
              <a:t>Now you are ready to construct the actual box &amp; whisker graph. First you will need to draw an ordinary number line that extends far enough in both directions to include all the numbers in your data: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6390" name="Picture 6" descr="boxdata3b">
            <a:extLst>
              <a:ext uri="{FF2B5EF4-FFF2-40B4-BE49-F238E27FC236}">
                <a16:creationId xmlns:a16="http://schemas.microsoft.com/office/drawing/2014/main" id="{501207FB-DEA4-44B9-9B81-E9B1ADFEE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917" y="4457499"/>
            <a:ext cx="9144000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boxdata3">
            <a:extLst>
              <a:ext uri="{FF2B5EF4-FFF2-40B4-BE49-F238E27FC236}">
                <a16:creationId xmlns:a16="http://schemas.microsoft.com/office/drawing/2014/main" id="{1EC667C2-83ED-4D50-90DB-045588F29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23" y="2312187"/>
            <a:ext cx="5196840" cy="203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E8D6F9FF-D24C-4669-A566-86535C51F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Step 2 – Draw the Parts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EF6B234-5DA0-4BC3-8043-A71B8BF53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7371" y="1586345"/>
            <a:ext cx="6629400" cy="120673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Locate the main </a:t>
            </a:r>
            <a:r>
              <a:rPr lang="en-US" altLang="en-US" b="1" dirty="0"/>
              <a:t>median</a:t>
            </a:r>
            <a:r>
              <a:rPr lang="en-US" altLang="en-US" dirty="0"/>
              <a:t> </a:t>
            </a:r>
            <a:r>
              <a:rPr lang="en-US" altLang="en-US" b="1" dirty="0"/>
              <a:t>12</a:t>
            </a:r>
            <a:r>
              <a:rPr lang="en-US" altLang="en-US" dirty="0"/>
              <a:t> using a vertical line just above your number line: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7414" name="Picture 6" descr="boxdata4">
            <a:extLst>
              <a:ext uri="{FF2B5EF4-FFF2-40B4-BE49-F238E27FC236}">
                <a16:creationId xmlns:a16="http://schemas.microsoft.com/office/drawing/2014/main" id="{70AC10EC-4B06-4157-A200-F3F04EFAC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6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579EEB11-556E-45A9-A123-E0FE7453C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68880" y="1803862"/>
            <a:ext cx="5439295" cy="1905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	Locate the </a:t>
            </a:r>
            <a:r>
              <a:rPr lang="en-US" altLang="en-US" b="1" dirty="0"/>
              <a:t>lower quartile</a:t>
            </a:r>
            <a:r>
              <a:rPr lang="en-US" altLang="en-US" dirty="0"/>
              <a:t> </a:t>
            </a:r>
            <a:r>
              <a:rPr lang="en-US" altLang="en-US" b="1" dirty="0"/>
              <a:t>8.5</a:t>
            </a:r>
            <a:r>
              <a:rPr lang="en-US" altLang="en-US" dirty="0"/>
              <a:t> and the </a:t>
            </a:r>
            <a:r>
              <a:rPr lang="en-US" altLang="en-US" b="1" dirty="0"/>
              <a:t>upper quartile</a:t>
            </a:r>
            <a:r>
              <a:rPr lang="en-US" altLang="en-US" dirty="0"/>
              <a:t> </a:t>
            </a:r>
            <a:r>
              <a:rPr lang="en-US" altLang="en-US" b="1" dirty="0"/>
              <a:t>14</a:t>
            </a:r>
            <a:r>
              <a:rPr lang="en-US" altLang="en-US" dirty="0"/>
              <a:t> with similar vertical lines: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8437" name="Picture 5" descr="boxdata4">
            <a:extLst>
              <a:ext uri="{FF2B5EF4-FFF2-40B4-BE49-F238E27FC236}">
                <a16:creationId xmlns:a16="http://schemas.microsoft.com/office/drawing/2014/main" id="{E6E2BE5F-4080-4AE5-871E-765C8C366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43226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 descr="boxdata5">
            <a:extLst>
              <a:ext uri="{FF2B5EF4-FFF2-40B4-BE49-F238E27FC236}">
                <a16:creationId xmlns:a16="http://schemas.microsoft.com/office/drawing/2014/main" id="{246B833F-4C31-4C98-89D1-135C3AC3C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1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CD80902D-5D55-405A-941B-FB14ED558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629" y="-119149"/>
            <a:ext cx="6096000" cy="1143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Step 2 – Draw the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03E6DAA3-151A-4FBB-8F43-9250621DE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9786" y="1600200"/>
            <a:ext cx="6096000" cy="18288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Next, draw a box using the lower and upper median lines as endpoints: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9461" name="Picture 5" descr="boxdata5">
            <a:extLst>
              <a:ext uri="{FF2B5EF4-FFF2-40B4-BE49-F238E27FC236}">
                <a16:creationId xmlns:a16="http://schemas.microsoft.com/office/drawing/2014/main" id="{B9EEB252-E11B-46BB-9879-A41064C47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1"/>
            <a:ext cx="91440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 descr="boxdata6">
            <a:extLst>
              <a:ext uri="{FF2B5EF4-FFF2-40B4-BE49-F238E27FC236}">
                <a16:creationId xmlns:a16="http://schemas.microsoft.com/office/drawing/2014/main" id="{58960BE5-874D-4F40-A693-24E211974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3ADE561-97F7-4DC1-AA76-836AFC836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Step 2 – Draw the Parts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>
            <a:extLst>
              <a:ext uri="{FF2B5EF4-FFF2-40B4-BE49-F238E27FC236}">
                <a16:creationId xmlns:a16="http://schemas.microsoft.com/office/drawing/2014/main" id="{54EB8ED0-D8CA-4F00-A532-65D52F434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6096000" cy="1143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Step 2 – Draw the Parts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A17020E-D049-4F45-A6C8-B026582C3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42556" y="1668087"/>
            <a:ext cx="6629400" cy="2667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Finally, the </a:t>
            </a:r>
            <a:r>
              <a:rPr lang="en-US" altLang="en-US" b="1" dirty="0"/>
              <a:t>whiskers</a:t>
            </a:r>
            <a:r>
              <a:rPr lang="en-US" altLang="en-US" dirty="0"/>
              <a:t> extend out to the data's smallest number </a:t>
            </a:r>
            <a:r>
              <a:rPr lang="en-US" altLang="en-US" b="1" dirty="0"/>
              <a:t>5</a:t>
            </a:r>
            <a:r>
              <a:rPr lang="en-US" altLang="en-US" dirty="0"/>
              <a:t> and largest number </a:t>
            </a:r>
            <a:r>
              <a:rPr lang="en-US" altLang="en-US" b="1" dirty="0"/>
              <a:t>20</a:t>
            </a:r>
            <a:r>
              <a:rPr lang="en-US" altLang="en-US" dirty="0"/>
              <a:t>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20485" name="Picture 5" descr="boxdata6">
            <a:extLst>
              <a:ext uri="{FF2B5EF4-FFF2-40B4-BE49-F238E27FC236}">
                <a16:creationId xmlns:a16="http://schemas.microsoft.com/office/drawing/2014/main" id="{00EDBC70-A5AD-499D-B5D3-685F394E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7" descr="boxdata7">
            <a:extLst>
              <a:ext uri="{FF2B5EF4-FFF2-40B4-BE49-F238E27FC236}">
                <a16:creationId xmlns:a16="http://schemas.microsoft.com/office/drawing/2014/main" id="{4F29AF4D-508B-44FD-B459-8A2A45A7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65438"/>
            <a:ext cx="91440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1C4AFAA-4B16-448C-AD19-B68C6D6E7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3999" y="76200"/>
            <a:ext cx="10341033" cy="1143000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n-US" altLang="en-US" dirty="0"/>
              <a:t>Step 3 - </a:t>
            </a:r>
            <a:r>
              <a:rPr lang="en-US" altLang="en-US" b="1" dirty="0">
                <a:solidFill>
                  <a:srgbClr val="FF0000"/>
                </a:solidFill>
              </a:rPr>
              <a:t>Label</a:t>
            </a:r>
            <a:r>
              <a:rPr lang="en-US" altLang="en-US" dirty="0"/>
              <a:t> the Parts of a Box and Whisker Plot</a:t>
            </a:r>
          </a:p>
        </p:txBody>
      </p:sp>
      <p:pic>
        <p:nvPicPr>
          <p:cNvPr id="15363" name="Picture 16" descr="boxdata7">
            <a:extLst>
              <a:ext uri="{FF2B5EF4-FFF2-40B4-BE49-F238E27FC236}">
                <a16:creationId xmlns:a16="http://schemas.microsoft.com/office/drawing/2014/main" id="{B1523EFA-AFE5-47A4-AE0C-2AAF72CC3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76601"/>
            <a:ext cx="91440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AutoShape 17">
            <a:extLst>
              <a:ext uri="{FF2B5EF4-FFF2-40B4-BE49-F238E27FC236}">
                <a16:creationId xmlns:a16="http://schemas.microsoft.com/office/drawing/2014/main" id="{F897D628-E05D-42CC-9061-0F019C0D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1</a:t>
            </a:r>
          </a:p>
        </p:txBody>
      </p:sp>
      <p:sp>
        <p:nvSpPr>
          <p:cNvPr id="15365" name="AutoShape 18">
            <a:extLst>
              <a:ext uri="{FF2B5EF4-FFF2-40B4-BE49-F238E27FC236}">
                <a16:creationId xmlns:a16="http://schemas.microsoft.com/office/drawing/2014/main" id="{574E8A62-3A4A-4625-BEAB-1A1298B02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2</a:t>
            </a:r>
          </a:p>
        </p:txBody>
      </p:sp>
      <p:sp>
        <p:nvSpPr>
          <p:cNvPr id="15366" name="AutoShape 19">
            <a:extLst>
              <a:ext uri="{FF2B5EF4-FFF2-40B4-BE49-F238E27FC236}">
                <a16:creationId xmlns:a16="http://schemas.microsoft.com/office/drawing/2014/main" id="{24E143A3-2BB0-472B-8DC3-75D2A7B6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2098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3</a:t>
            </a:r>
          </a:p>
        </p:txBody>
      </p:sp>
      <p:sp>
        <p:nvSpPr>
          <p:cNvPr id="15367" name="AutoShape 20">
            <a:extLst>
              <a:ext uri="{FF2B5EF4-FFF2-40B4-BE49-F238E27FC236}">
                <a16:creationId xmlns:a16="http://schemas.microsoft.com/office/drawing/2014/main" id="{022C9AB6-C7A4-4B27-976F-A3C48AD6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6670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5</a:t>
            </a:r>
          </a:p>
        </p:txBody>
      </p:sp>
      <p:sp>
        <p:nvSpPr>
          <p:cNvPr id="15368" name="AutoShape 21">
            <a:extLst>
              <a:ext uri="{FF2B5EF4-FFF2-40B4-BE49-F238E27FC236}">
                <a16:creationId xmlns:a16="http://schemas.microsoft.com/office/drawing/2014/main" id="{5C42A919-64BF-4D16-94E3-1EAF62DC2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67000"/>
            <a:ext cx="685800" cy="1295400"/>
          </a:xfrm>
          <a:prstGeom prst="downArrow">
            <a:avLst>
              <a:gd name="adj1" fmla="val 50000"/>
              <a:gd name="adj2" fmla="val 47222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b="1"/>
              <a:t>4</a:t>
            </a:r>
          </a:p>
        </p:txBody>
      </p:sp>
      <p:sp>
        <p:nvSpPr>
          <p:cNvPr id="15369" name="Text Box 22">
            <a:extLst>
              <a:ext uri="{FF2B5EF4-FFF2-40B4-BE49-F238E27FC236}">
                <a16:creationId xmlns:a16="http://schemas.microsoft.com/office/drawing/2014/main" id="{501D0BDD-E613-4CC7-81C8-EBA7229F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6126164"/>
            <a:ext cx="8818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 b="1">
                <a:latin typeface="Tahoma" panose="020B0604030504040204" pitchFamily="34" charset="0"/>
              </a:rPr>
              <a:t>Name the parts of a Box-and-Whisker Plot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2C5209E7-06BC-4798-A6A7-F5C76ED6F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4" y="1828800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Median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7B10446B-2D32-4AC4-842B-6BF3260B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1" y="1828800"/>
            <a:ext cx="2189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Upper Quartile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CF483AE0-03A5-47FC-8B42-D2377DE6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4" y="1752600"/>
            <a:ext cx="2205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/>
              <a:t>Lower Quartile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0D8F3630-5C1F-4560-9F2A-44DD0C381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209800"/>
            <a:ext cx="1500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 dirty="0"/>
              <a:t>Minimum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0484A8BE-2FC6-4A52-AA21-28E26878D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2041" y="2205335"/>
            <a:ext cx="15520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b="1" dirty="0"/>
              <a:t>Maximum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5" grpId="0"/>
      <p:bldP spid="3096" grpId="0"/>
      <p:bldP spid="3097" grpId="0"/>
      <p:bldP spid="3098" grpId="0"/>
      <p:bldP spid="30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Total Physical Response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Let’s now use the data we collected from the previous lesson to construct two Box and Whisker Plots on the same number line.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86592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Total Physical Response </a:t>
            </a:r>
            <a:r>
              <a:rPr lang="en-AU" sz="4400" b="1" dirty="0" err="1">
                <a:solidFill>
                  <a:schemeClr val="accent1"/>
                </a:solidFill>
                <a:latin typeface="Kiwi School Handwriting"/>
              </a:rPr>
              <a:t>ACtivity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304905" cy="402412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Dominant Hand</a:t>
            </a:r>
            <a:br>
              <a:rPr lang="en-AU" sz="3000" dirty="0"/>
            </a:br>
            <a:r>
              <a:rPr lang="en-US" sz="2600" dirty="0"/>
              <a:t>Minimum:</a:t>
            </a:r>
            <a:br>
              <a:rPr lang="en-US" sz="2600" dirty="0"/>
            </a:br>
            <a:r>
              <a:rPr lang="en-US" sz="2600" dirty="0"/>
              <a:t>Maximum:</a:t>
            </a:r>
            <a:br>
              <a:rPr lang="en-US" sz="2600" dirty="0"/>
            </a:br>
            <a:r>
              <a:rPr lang="en-US" sz="2600" dirty="0"/>
              <a:t>Median:</a:t>
            </a:r>
            <a:br>
              <a:rPr lang="en-US" sz="2600" dirty="0"/>
            </a:br>
            <a:r>
              <a:rPr lang="en-US" sz="2600" dirty="0"/>
              <a:t>Lower Quartile (Q</a:t>
            </a:r>
            <a:r>
              <a:rPr lang="en-US" sz="2600" baseline="-25000" dirty="0"/>
              <a:t>1</a:t>
            </a:r>
            <a:r>
              <a:rPr lang="en-US" sz="2600" dirty="0"/>
              <a:t>):</a:t>
            </a:r>
            <a:br>
              <a:rPr lang="en-US" sz="2600" dirty="0"/>
            </a:br>
            <a:r>
              <a:rPr lang="en-US" sz="2600" dirty="0"/>
              <a:t>Upper Quartile (Q</a:t>
            </a:r>
            <a:r>
              <a:rPr lang="en-US" sz="2600" baseline="-25000" dirty="0"/>
              <a:t>3</a:t>
            </a:r>
            <a:r>
              <a:rPr lang="en-US" sz="2600" dirty="0"/>
              <a:t>):</a:t>
            </a:r>
            <a:br>
              <a:rPr lang="en-US" sz="2800" dirty="0"/>
            </a:br>
            <a:endParaRPr lang="en-US" sz="2800" dirty="0"/>
          </a:p>
          <a:p>
            <a:pPr>
              <a:buClr>
                <a:srgbClr val="CC0099"/>
              </a:buClr>
              <a:defRPr/>
            </a:pPr>
            <a:endParaRPr lang="en-US" sz="28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6096000" y="2192842"/>
            <a:ext cx="5304905" cy="4024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Non Dominant Hand</a:t>
            </a:r>
            <a:br>
              <a:rPr lang="en-AU" sz="3000" dirty="0"/>
            </a:br>
            <a:r>
              <a:rPr lang="en-US" sz="3000" dirty="0"/>
              <a:t>Minimum:</a:t>
            </a:r>
            <a:br>
              <a:rPr lang="en-US" sz="3000" dirty="0"/>
            </a:br>
            <a:r>
              <a:rPr lang="en-US" sz="3000" dirty="0"/>
              <a:t>Maximum:</a:t>
            </a:r>
            <a:br>
              <a:rPr lang="en-US" sz="3000" dirty="0"/>
            </a:br>
            <a:r>
              <a:rPr lang="en-US" sz="3000" dirty="0"/>
              <a:t>Median:</a:t>
            </a:r>
            <a:br>
              <a:rPr lang="en-US" sz="3000" dirty="0"/>
            </a:br>
            <a:r>
              <a:rPr lang="en-US" sz="2800" dirty="0"/>
              <a:t>Lower Quartile (Q</a:t>
            </a:r>
            <a:r>
              <a:rPr lang="en-US" sz="2800" baseline="-25000" dirty="0"/>
              <a:t>1</a:t>
            </a:r>
            <a:r>
              <a:rPr lang="en-US" sz="2800" dirty="0"/>
              <a:t>):</a:t>
            </a:r>
            <a:br>
              <a:rPr lang="en-US" sz="2800" dirty="0"/>
            </a:br>
            <a:r>
              <a:rPr lang="en-US" sz="2800" dirty="0"/>
              <a:t>Upper Quartile (Q</a:t>
            </a:r>
            <a:r>
              <a:rPr lang="en-US" sz="2800" baseline="-25000" dirty="0"/>
              <a:t>3</a:t>
            </a:r>
            <a:r>
              <a:rPr lang="en-US" sz="2800" dirty="0"/>
              <a:t>):</a:t>
            </a:r>
            <a:br>
              <a:rPr lang="en-US" sz="2800" dirty="0"/>
            </a:br>
            <a:endParaRPr lang="en-US" sz="2800" dirty="0"/>
          </a:p>
          <a:p>
            <a:pPr>
              <a:buClr>
                <a:srgbClr val="CC0099"/>
              </a:buCl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422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Problem Solving Write UP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3879273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Clr>
                <a:srgbClr val="CC0099"/>
              </a:buClr>
              <a:buNone/>
              <a:defRPr/>
            </a:pPr>
            <a:r>
              <a:rPr lang="en-US" sz="2800" dirty="0"/>
              <a:t>In your table groups, complete this Problem Solving Write Up</a:t>
            </a:r>
          </a:p>
          <a:p>
            <a:pPr marL="571500" indent="-571500">
              <a:buClr>
                <a:srgbClr val="CC0099"/>
              </a:buClr>
              <a:buAutoNum type="romanLcParenR"/>
              <a:defRPr/>
            </a:pPr>
            <a:r>
              <a:rPr lang="en-US" sz="2800" dirty="0"/>
              <a:t>We explored the differences in speed between dominant and non-dominant hands. Our study included ____ volunteers. The method used involved…</a:t>
            </a:r>
          </a:p>
          <a:p>
            <a:pPr marL="571500" indent="-571500">
              <a:buClr>
                <a:srgbClr val="CC0099"/>
              </a:buClr>
              <a:buAutoNum type="romanLcParenR"/>
              <a:defRPr/>
            </a:pPr>
            <a:r>
              <a:rPr lang="en-US" sz="2800" dirty="0"/>
              <a:t>We </a:t>
            </a:r>
            <a:r>
              <a:rPr lang="en-US" sz="2800" dirty="0" err="1"/>
              <a:t>analysed</a:t>
            </a:r>
            <a:r>
              <a:rPr lang="en-US" sz="2800" dirty="0"/>
              <a:t> the data by…(include mention of your box and whisker plot and explain all the calculations required)</a:t>
            </a:r>
          </a:p>
          <a:p>
            <a:pPr marL="571500" indent="-571500">
              <a:buClr>
                <a:srgbClr val="CC0099"/>
              </a:buClr>
              <a:buAutoNum type="romanLcParenR"/>
              <a:defRPr/>
            </a:pPr>
            <a:r>
              <a:rPr lang="en-US" sz="2800" dirty="0"/>
              <a:t>The data suggests that…</a:t>
            </a:r>
          </a:p>
          <a:p>
            <a:pPr marL="571500" indent="-571500">
              <a:buClr>
                <a:srgbClr val="CC0099"/>
              </a:buClr>
              <a:buAutoNum type="romanLcParenR"/>
              <a:defRPr/>
            </a:pPr>
            <a:r>
              <a:rPr lang="en-US" sz="2800" dirty="0"/>
              <a:t>These findings are important because…</a:t>
            </a:r>
          </a:p>
        </p:txBody>
      </p:sp>
    </p:spTree>
    <p:extLst>
      <p:ext uri="{BB962C8B-B14F-4D97-AF65-F5344CB8AC3E}">
        <p14:creationId xmlns:p14="http://schemas.microsoft.com/office/powerpoint/2010/main" val="2138527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16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display the 5 Number Summary?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2134984" y="1430144"/>
            <a:ext cx="9718961" cy="487087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Determining the 5 number summary</a:t>
            </a:r>
          </a:p>
          <a:p>
            <a:pPr lvl="1">
              <a:defRPr/>
            </a:pPr>
            <a:r>
              <a:rPr lang="en-US" sz="2600" dirty="0"/>
              <a:t>Minimum is the lowest value of the data set</a:t>
            </a:r>
          </a:p>
          <a:p>
            <a:pPr lvl="1">
              <a:defRPr/>
            </a:pPr>
            <a:r>
              <a:rPr lang="en-US" sz="2600" dirty="0"/>
              <a:t>Maximum is the highest value of the data set</a:t>
            </a:r>
          </a:p>
          <a:p>
            <a:pPr lvl="1">
              <a:defRPr/>
            </a:pPr>
            <a:r>
              <a:rPr lang="en-US" sz="2600" dirty="0"/>
              <a:t>Median</a:t>
            </a:r>
          </a:p>
          <a:p>
            <a:pPr lvl="2">
              <a:defRPr/>
            </a:pPr>
            <a:r>
              <a:rPr lang="en-US" sz="2400" dirty="0"/>
              <a:t>Order the data from smallest to largest</a:t>
            </a:r>
          </a:p>
          <a:p>
            <a:pPr lvl="2">
              <a:defRPr/>
            </a:pPr>
            <a:r>
              <a:rPr lang="en-US" sz="2400" dirty="0"/>
              <a:t>If there is an odd number of data points, the median is the middle value</a:t>
            </a:r>
          </a:p>
          <a:p>
            <a:pPr lvl="2">
              <a:defRPr/>
            </a:pPr>
            <a:r>
              <a:rPr lang="en-US" sz="2400" dirty="0"/>
              <a:t>If there is an even number of data points, the median is the average of the two middle values.</a:t>
            </a:r>
          </a:p>
          <a:p>
            <a:pPr lvl="1">
              <a:defRPr/>
            </a:pPr>
            <a:endParaRPr lang="en-US" sz="2600" dirty="0"/>
          </a:p>
          <a:p>
            <a:pPr lvl="1">
              <a:defRPr/>
            </a:pPr>
            <a:endParaRPr lang="en-US" sz="2600" dirty="0"/>
          </a:p>
          <a:p>
            <a:pPr lvl="1">
              <a:defRPr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3338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1"/>
                </a:solidFill>
                <a:latin typeface="Kiwi School Handwriting"/>
              </a:rPr>
              <a:t>Leave Your Mark</a:t>
            </a:r>
            <a:endParaRPr lang="en-GB" sz="4400" b="1" dirty="0">
              <a:solidFill>
                <a:schemeClr val="accent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You will be given a data set and you will need to determine the 5 number summary.</a:t>
            </a:r>
          </a:p>
          <a:p>
            <a:r>
              <a:rPr lang="en-AU" sz="2800" dirty="0"/>
              <a:t>Show your working out.</a:t>
            </a:r>
          </a:p>
          <a:p>
            <a:r>
              <a:rPr lang="en-AU" sz="2800" dirty="0"/>
              <a:t>You need to first choose your space in the classroom to work on before being given a data set and whiteboard marker to use. </a:t>
            </a:r>
            <a:br>
              <a:rPr lang="en-AU" sz="2800" dirty="0"/>
            </a:br>
            <a:r>
              <a:rPr lang="en-AU" sz="2800" dirty="0"/>
              <a:t>Will it be a window or a desk?</a:t>
            </a:r>
          </a:p>
        </p:txBody>
      </p:sp>
    </p:spTree>
    <p:extLst>
      <p:ext uri="{BB962C8B-B14F-4D97-AF65-F5344CB8AC3E}">
        <p14:creationId xmlns:p14="http://schemas.microsoft.com/office/powerpoint/2010/main" val="1042557171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6599</TotalTime>
  <Words>515</Words>
  <Application>Microsoft Office PowerPoint</Application>
  <PresentationFormat>Widescreen</PresentationFormat>
  <Paragraphs>105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Century Gothic</vt:lpstr>
      <vt:lpstr>Comic Sans MS</vt:lpstr>
      <vt:lpstr>DJB Fancy Nancy</vt:lpstr>
      <vt:lpstr>Kiwi School Handwriting</vt:lpstr>
      <vt:lpstr>Tahoma</vt:lpstr>
      <vt:lpstr>Times New Roman</vt:lpstr>
      <vt:lpstr>Wingdings</vt:lpstr>
      <vt:lpstr>BSC Theme</vt:lpstr>
      <vt:lpstr>Five Number Summary Displaying the 5 number Summary </vt:lpstr>
      <vt:lpstr>Lesson OutComes</vt:lpstr>
      <vt:lpstr>PowerPoint Presentation</vt:lpstr>
      <vt:lpstr>PowerPoint Presentation</vt:lpstr>
      <vt:lpstr>Collaborative Study Group</vt:lpstr>
      <vt:lpstr>Step 1 – Draw a Number Line</vt:lpstr>
      <vt:lpstr>Step 2 – Draw the Parts</vt:lpstr>
      <vt:lpstr>Step 2 – Draw the Parts</vt:lpstr>
      <vt:lpstr>Step 2 – Draw the Parts</vt:lpstr>
      <vt:lpstr>Step 2 – Draw the Parts</vt:lpstr>
      <vt:lpstr>Step 3 - Label the Parts of a Box and Whisker Plot</vt:lpstr>
      <vt:lpstr>Total Physical Response</vt:lpstr>
      <vt:lpstr>Total Physical Response ACtivity</vt:lpstr>
      <vt:lpstr>Problem Solving Write UP</vt:lpstr>
      <vt:lpstr>PowerPoint Presentation</vt:lpstr>
      <vt:lpstr>PowerPoint Presentation</vt:lpstr>
      <vt:lpstr>Leave Your 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Magdeline LUM</cp:lastModifiedBy>
  <cp:revision>58</cp:revision>
  <dcterms:created xsi:type="dcterms:W3CDTF">2017-10-15T23:31:24Z</dcterms:created>
  <dcterms:modified xsi:type="dcterms:W3CDTF">2018-07-17T15:54:29Z</dcterms:modified>
</cp:coreProperties>
</file>
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7" r:id="rId2"/>
    <p:sldId id="331" r:id="rId3"/>
    <p:sldId id="347" r:id="rId4"/>
    <p:sldId id="349" r:id="rId5"/>
    <p:sldId id="348" r:id="rId6"/>
    <p:sldId id="350" r:id="rId7"/>
    <p:sldId id="336" r:id="rId8"/>
    <p:sldId id="351" r:id="rId9"/>
    <p:sldId id="352" r:id="rId10"/>
    <p:sldId id="34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1"/>
            <p14:sldId id="347"/>
            <p14:sldId id="349"/>
            <p14:sldId id="348"/>
            <p14:sldId id="350"/>
            <p14:sldId id="336"/>
            <p14:sldId id="351"/>
            <p14:sldId id="352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22/07/2018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9elwVxjfeA" TargetMode="External"/><Relationship Id="rId4" Type="http://schemas.openxmlformats.org/officeDocument/2006/relationships/hyperlink" Target="https://www.youtube.com/watch?v=19elwVxjfeA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Five Number Summary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Comparing Box Plot Data 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Mathematics Essentials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Lesson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OutComes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2.1.9 Calculate and interpret quartiles</a:t>
            </a:r>
          </a:p>
          <a:p>
            <a:pPr marL="0" indent="0">
              <a:buNone/>
            </a:pPr>
            <a:r>
              <a:rPr lang="en-AU" dirty="0"/>
              <a:t>2.1.16 complete a five number summary for different data sets </a:t>
            </a:r>
            <a:endParaRPr lang="en-GB" dirty="0"/>
          </a:p>
          <a:p>
            <a:pPr marL="0" indent="0">
              <a:buNone/>
            </a:pPr>
            <a:r>
              <a:rPr lang="en-GB"/>
              <a:t>2.1.17</a:t>
            </a:r>
            <a:r>
              <a:rPr lang="en-GB" dirty="0"/>
              <a:t> </a:t>
            </a:r>
            <a:r>
              <a:rPr lang="en-AU"/>
              <a:t>construct </a:t>
            </a:r>
            <a:r>
              <a:rPr lang="en-AU" dirty="0"/>
              <a:t>and interpret box plots using a five number summary</a:t>
            </a:r>
            <a:endParaRPr lang="en-GB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9116-A12C-467A-AF25-B63B3894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Kiwi School Handwriting"/>
              </a:rPr>
              <a:t>Quick 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3CEDF-CDDD-448D-B796-8D27B880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/>
          <a:lstStyle/>
          <a:p>
            <a:r>
              <a:rPr lang="en-AU" dirty="0"/>
              <a:t>Features of a B</a:t>
            </a:r>
            <a:r>
              <a:rPr lang="en-GB" dirty="0"/>
              <a:t>ox and Whisker Plot</a:t>
            </a:r>
            <a:endParaRPr lang="en-AU" dirty="0"/>
          </a:p>
        </p:txBody>
      </p:sp>
      <p:grpSp>
        <p:nvGrpSpPr>
          <p:cNvPr id="4" name="Group 117">
            <a:extLst>
              <a:ext uri="{FF2B5EF4-FFF2-40B4-BE49-F238E27FC236}">
                <a16:creationId xmlns:a16="http://schemas.microsoft.com/office/drawing/2014/main" id="{7FE69C43-84F7-4A81-AE18-A2DCD1ADF5AF}"/>
              </a:ext>
            </a:extLst>
          </p:cNvPr>
          <p:cNvGrpSpPr>
            <a:grpSpLocks/>
          </p:cNvGrpSpPr>
          <p:nvPr/>
        </p:nvGrpSpPr>
        <p:grpSpPr bwMode="auto">
          <a:xfrm>
            <a:off x="5352963" y="3400744"/>
            <a:ext cx="1023937" cy="765175"/>
            <a:chOff x="2570" y="1846"/>
            <a:chExt cx="645" cy="482"/>
          </a:xfrm>
        </p:grpSpPr>
        <p:sp>
          <p:nvSpPr>
            <p:cNvPr id="5" name="Line 37">
              <a:extLst>
                <a:ext uri="{FF2B5EF4-FFF2-40B4-BE49-F238E27FC236}">
                  <a16:creationId xmlns:a16="http://schemas.microsoft.com/office/drawing/2014/main" id="{F22FF83C-7254-45C4-A752-B017997FA1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3" y="2082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 Box 98">
              <a:extLst>
                <a:ext uri="{FF2B5EF4-FFF2-40B4-BE49-F238E27FC236}">
                  <a16:creationId xmlns:a16="http://schemas.microsoft.com/office/drawing/2014/main" id="{F4E89570-20FF-4AB2-8F99-72BC86A2A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184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latin typeface="Comic Sans MS" panose="030F0702030302020204" pitchFamily="66" charset="0"/>
                </a:rPr>
                <a:t>Median</a:t>
              </a:r>
            </a:p>
          </p:txBody>
        </p:sp>
      </p:grpSp>
      <p:sp>
        <p:nvSpPr>
          <p:cNvPr id="7" name="Text Box 99">
            <a:extLst>
              <a:ext uri="{FF2B5EF4-FFF2-40B4-BE49-F238E27FC236}">
                <a16:creationId xmlns:a16="http://schemas.microsoft.com/office/drawing/2014/main" id="{65139A6F-300C-43F8-AC07-FD7CEBF3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8410" y="2825086"/>
            <a:ext cx="1023937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 dirty="0">
                <a:latin typeface="Comic Sans MS" panose="030F0702030302020204" pitchFamily="66" charset="0"/>
              </a:rPr>
              <a:t>Lower Quartile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sz="1600" b="1" dirty="0">
                <a:latin typeface="Comic Sans MS" panose="030F0702030302020204" pitchFamily="66" charset="0"/>
              </a:rPr>
              <a:t>(Q1)</a:t>
            </a:r>
          </a:p>
        </p:txBody>
      </p:sp>
      <p:sp>
        <p:nvSpPr>
          <p:cNvPr id="8" name="Text Box 100">
            <a:extLst>
              <a:ext uri="{FF2B5EF4-FFF2-40B4-BE49-F238E27FC236}">
                <a16:creationId xmlns:a16="http://schemas.microsoft.com/office/drawing/2014/main" id="{03AFB705-2845-4A81-BBFA-CF68FDA95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2772" y="2948911"/>
            <a:ext cx="1023938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Upper Quartile (Q3)</a:t>
            </a:r>
          </a:p>
        </p:txBody>
      </p:sp>
      <p:sp>
        <p:nvSpPr>
          <p:cNvPr id="9" name="Text Box 101">
            <a:extLst>
              <a:ext uri="{FF2B5EF4-FFF2-40B4-BE49-F238E27FC236}">
                <a16:creationId xmlns:a16="http://schemas.microsoft.com/office/drawing/2014/main" id="{3A28D760-2357-4E8E-958D-52647075D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6485" y="3336261"/>
            <a:ext cx="10239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 dirty="0">
                <a:latin typeface="Comic Sans MS" panose="030F0702030302020204" pitchFamily="66" charset="0"/>
              </a:rPr>
              <a:t>Lowest Value</a:t>
            </a:r>
          </a:p>
        </p:txBody>
      </p:sp>
      <p:sp>
        <p:nvSpPr>
          <p:cNvPr id="10" name="Text Box 102">
            <a:extLst>
              <a:ext uri="{FF2B5EF4-FFF2-40B4-BE49-F238E27FC236}">
                <a16:creationId xmlns:a16="http://schemas.microsoft.com/office/drawing/2014/main" id="{D9243735-A9FE-4BB5-82AF-FDA16C405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1322" y="3348961"/>
            <a:ext cx="10239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Highest Value</a:t>
            </a:r>
          </a:p>
        </p:txBody>
      </p:sp>
      <p:grpSp>
        <p:nvGrpSpPr>
          <p:cNvPr id="11" name="Group 115">
            <a:extLst>
              <a:ext uri="{FF2B5EF4-FFF2-40B4-BE49-F238E27FC236}">
                <a16:creationId xmlns:a16="http://schemas.microsoft.com/office/drawing/2014/main" id="{DD86EF71-CF45-4983-9C99-5DDD137D1360}"/>
              </a:ext>
            </a:extLst>
          </p:cNvPr>
          <p:cNvGrpSpPr>
            <a:grpSpLocks/>
          </p:cNvGrpSpPr>
          <p:nvPr/>
        </p:nvGrpSpPr>
        <p:grpSpPr bwMode="auto">
          <a:xfrm>
            <a:off x="3887210" y="3779174"/>
            <a:ext cx="3065462" cy="390525"/>
            <a:chOff x="1521" y="2082"/>
            <a:chExt cx="1931" cy="246"/>
          </a:xfrm>
        </p:grpSpPr>
        <p:sp>
          <p:nvSpPr>
            <p:cNvPr id="12" name="Rectangle 38">
              <a:extLst>
                <a:ext uri="{FF2B5EF4-FFF2-40B4-BE49-F238E27FC236}">
                  <a16:creationId xmlns:a16="http://schemas.microsoft.com/office/drawing/2014/main" id="{B0873A59-D317-420E-9C93-729454DCD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082"/>
              <a:ext cx="1931" cy="24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Text Box 104">
              <a:extLst>
                <a:ext uri="{FF2B5EF4-FFF2-40B4-BE49-F238E27FC236}">
                  <a16:creationId xmlns:a16="http://schemas.microsoft.com/office/drawing/2014/main" id="{B7406D09-26C6-4646-9A9D-3F27B0A69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" y="210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Box</a:t>
              </a:r>
            </a:p>
          </p:txBody>
        </p:sp>
      </p:grpSp>
      <p:grpSp>
        <p:nvGrpSpPr>
          <p:cNvPr id="14" name="Group 116">
            <a:extLst>
              <a:ext uri="{FF2B5EF4-FFF2-40B4-BE49-F238E27FC236}">
                <a16:creationId xmlns:a16="http://schemas.microsoft.com/office/drawing/2014/main" id="{89415D69-2CF2-4485-B2CB-D076910FF2AF}"/>
              </a:ext>
            </a:extLst>
          </p:cNvPr>
          <p:cNvGrpSpPr>
            <a:grpSpLocks/>
          </p:cNvGrpSpPr>
          <p:nvPr/>
        </p:nvGrpSpPr>
        <p:grpSpPr bwMode="auto">
          <a:xfrm>
            <a:off x="2390197" y="3693449"/>
            <a:ext cx="7051675" cy="454025"/>
            <a:chOff x="591" y="2016"/>
            <a:chExt cx="4442" cy="286"/>
          </a:xfrm>
        </p:grpSpPr>
        <p:grpSp>
          <p:nvGrpSpPr>
            <p:cNvPr id="15" name="Group 39">
              <a:extLst>
                <a:ext uri="{FF2B5EF4-FFF2-40B4-BE49-F238E27FC236}">
                  <a16:creationId xmlns:a16="http://schemas.microsoft.com/office/drawing/2014/main" id="{60E27946-561E-46B8-A10D-220A2D252A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1" y="2132"/>
              <a:ext cx="944" cy="152"/>
              <a:chOff x="1342" y="3458"/>
              <a:chExt cx="617" cy="152"/>
            </a:xfrm>
          </p:grpSpPr>
          <p:sp>
            <p:nvSpPr>
              <p:cNvPr id="21" name="Line 40">
                <a:extLst>
                  <a:ext uri="{FF2B5EF4-FFF2-40B4-BE49-F238E27FC236}">
                    <a16:creationId xmlns:a16="http://schemas.microsoft.com/office/drawing/2014/main" id="{401D4681-AFB8-4E58-AFC5-90E521E47F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536"/>
                <a:ext cx="617" cy="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Line 41">
                <a:extLst>
                  <a:ext uri="{FF2B5EF4-FFF2-40B4-BE49-F238E27FC236}">
                    <a16:creationId xmlns:a16="http://schemas.microsoft.com/office/drawing/2014/main" id="{C8BA67E6-C06B-4BDC-8E4F-611E4F4A1C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458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" name="Group 42">
              <a:extLst>
                <a:ext uri="{FF2B5EF4-FFF2-40B4-BE49-F238E27FC236}">
                  <a16:creationId xmlns:a16="http://schemas.microsoft.com/office/drawing/2014/main" id="{0E8212B8-125C-465A-9866-CD3004FE2D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2" y="2126"/>
              <a:ext cx="1581" cy="176"/>
              <a:chOff x="3140" y="3452"/>
              <a:chExt cx="990" cy="176"/>
            </a:xfrm>
          </p:grpSpPr>
          <p:sp>
            <p:nvSpPr>
              <p:cNvPr id="19" name="Line 43">
                <a:extLst>
                  <a:ext uri="{FF2B5EF4-FFF2-40B4-BE49-F238E27FC236}">
                    <a16:creationId xmlns:a16="http://schemas.microsoft.com/office/drawing/2014/main" id="{3E33960E-E1B6-4B35-83B8-37026183DE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0" y="3540"/>
                <a:ext cx="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Line 44">
                <a:extLst>
                  <a:ext uri="{FF2B5EF4-FFF2-40B4-BE49-F238E27FC236}">
                    <a16:creationId xmlns:a16="http://schemas.microsoft.com/office/drawing/2014/main" id="{A83CE02D-5C9D-4DB5-8752-A9A4E18DC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0" y="3452"/>
                <a:ext cx="0" cy="1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7" name="Text Box 105">
              <a:extLst>
                <a:ext uri="{FF2B5EF4-FFF2-40B4-BE49-F238E27FC236}">
                  <a16:creationId xmlns:a16="http://schemas.microsoft.com/office/drawing/2014/main" id="{4FAC28A6-1063-4B9C-A67B-1B582E767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" y="2028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  <p:sp>
          <p:nvSpPr>
            <p:cNvPr id="18" name="Text Box 106">
              <a:extLst>
                <a:ext uri="{FF2B5EF4-FFF2-40B4-BE49-F238E27FC236}">
                  <a16:creationId xmlns:a16="http://schemas.microsoft.com/office/drawing/2014/main" id="{7D645997-B3DB-4C62-938E-C3EEEF57E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" y="201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</p:grpSp>
      <p:grpSp>
        <p:nvGrpSpPr>
          <p:cNvPr id="23" name="Group 7">
            <a:extLst>
              <a:ext uri="{FF2B5EF4-FFF2-40B4-BE49-F238E27FC236}">
                <a16:creationId xmlns:a16="http://schemas.microsoft.com/office/drawing/2014/main" id="{EC7A9222-232F-4802-BCCC-12B64B015BBD}"/>
              </a:ext>
            </a:extLst>
          </p:cNvPr>
          <p:cNvGrpSpPr>
            <a:grpSpLocks/>
          </p:cNvGrpSpPr>
          <p:nvPr/>
        </p:nvGrpSpPr>
        <p:grpSpPr bwMode="auto">
          <a:xfrm>
            <a:off x="1974272" y="4422111"/>
            <a:ext cx="8237538" cy="679450"/>
            <a:chOff x="838200" y="4572000"/>
            <a:chExt cx="8237538" cy="679458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D9AE0A9D-9FBF-410A-A80F-AB8A86CA2F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6638" y="4824420"/>
              <a:ext cx="8039100" cy="427038"/>
              <a:chOff x="1267" y="3867"/>
              <a:chExt cx="3171" cy="269"/>
            </a:xfrm>
          </p:grpSpPr>
          <p:sp>
            <p:nvSpPr>
              <p:cNvPr id="35" name="Text Box 28">
                <a:extLst>
                  <a:ext uri="{FF2B5EF4-FFF2-40B4-BE49-F238E27FC236}">
                    <a16:creationId xmlns:a16="http://schemas.microsoft.com/office/drawing/2014/main" id="{4F06BE89-E5F3-43B2-86DB-575BBA0A55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7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36" name="Text Box 29">
                <a:extLst>
                  <a:ext uri="{FF2B5EF4-FFF2-40B4-BE49-F238E27FC236}">
                    <a16:creationId xmlns:a16="http://schemas.microsoft.com/office/drawing/2014/main" id="{C46558B7-085C-445F-AAC8-20BA6C650F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3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5</a:t>
                </a:r>
              </a:p>
            </p:txBody>
          </p:sp>
          <p:sp>
            <p:nvSpPr>
              <p:cNvPr id="37" name="Text Box 30">
                <a:extLst>
                  <a:ext uri="{FF2B5EF4-FFF2-40B4-BE49-F238E27FC236}">
                    <a16:creationId xmlns:a16="http://schemas.microsoft.com/office/drawing/2014/main" id="{9A6E719B-11E6-47D6-8A52-B776F17D37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6</a:t>
                </a:r>
              </a:p>
            </p:txBody>
          </p:sp>
          <p:sp>
            <p:nvSpPr>
              <p:cNvPr id="38" name="Text Box 31">
                <a:extLst>
                  <a:ext uri="{FF2B5EF4-FFF2-40B4-BE49-F238E27FC236}">
                    <a16:creationId xmlns:a16="http://schemas.microsoft.com/office/drawing/2014/main" id="{E1664C80-8429-4F7B-BAB1-DF8869F402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7</a:t>
                </a:r>
              </a:p>
            </p:txBody>
          </p:sp>
          <p:sp>
            <p:nvSpPr>
              <p:cNvPr id="39" name="Text Box 32">
                <a:extLst>
                  <a:ext uri="{FF2B5EF4-FFF2-40B4-BE49-F238E27FC236}">
                    <a16:creationId xmlns:a16="http://schemas.microsoft.com/office/drawing/2014/main" id="{0ED1F177-A9D5-407E-ABDF-BEAC78173E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8</a:t>
                </a:r>
              </a:p>
            </p:txBody>
          </p:sp>
          <p:sp>
            <p:nvSpPr>
              <p:cNvPr id="40" name="Text Box 33">
                <a:extLst>
                  <a:ext uri="{FF2B5EF4-FFF2-40B4-BE49-F238E27FC236}">
                    <a16:creationId xmlns:a16="http://schemas.microsoft.com/office/drawing/2014/main" id="{672BA132-54B6-40A0-97A4-5C69C37BFE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9</a:t>
                </a:r>
              </a:p>
            </p:txBody>
          </p:sp>
          <p:sp>
            <p:nvSpPr>
              <p:cNvPr id="41" name="Text Box 34">
                <a:extLst>
                  <a:ext uri="{FF2B5EF4-FFF2-40B4-BE49-F238E27FC236}">
                    <a16:creationId xmlns:a16="http://schemas.microsoft.com/office/drawing/2014/main" id="{F52E2D0E-6C1B-41C6-85C5-E11C6CD10F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1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10</a:t>
                </a:r>
              </a:p>
            </p:txBody>
          </p:sp>
          <p:sp>
            <p:nvSpPr>
              <p:cNvPr id="42" name="Text Box 35">
                <a:extLst>
                  <a:ext uri="{FF2B5EF4-FFF2-40B4-BE49-F238E27FC236}">
                    <a16:creationId xmlns:a16="http://schemas.microsoft.com/office/drawing/2014/main" id="{2C808E3C-BB9D-4DBE-B5BA-CD75122DFE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7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11</a:t>
                </a:r>
              </a:p>
            </p:txBody>
          </p:sp>
          <p:sp>
            <p:nvSpPr>
              <p:cNvPr id="43" name="Text Box 36">
                <a:extLst>
                  <a:ext uri="{FF2B5EF4-FFF2-40B4-BE49-F238E27FC236}">
                    <a16:creationId xmlns:a16="http://schemas.microsoft.com/office/drawing/2014/main" id="{2F6FF30E-F5E4-45D3-90A4-6A02D7A82E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3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12</a:t>
                </a:r>
              </a:p>
            </p:txBody>
          </p:sp>
        </p:grpSp>
        <p:cxnSp>
          <p:nvCxnSpPr>
            <p:cNvPr id="25" name="Straight Connector 2">
              <a:extLst>
                <a:ext uri="{FF2B5EF4-FFF2-40B4-BE49-F238E27FC236}">
                  <a16:creationId xmlns:a16="http://schemas.microsoft.com/office/drawing/2014/main" id="{5CCE7F31-7759-45C3-A1B7-A61F8F2133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8200" y="4724400"/>
              <a:ext cx="7875588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Straight Connector 6">
              <a:extLst>
                <a:ext uri="{FF2B5EF4-FFF2-40B4-BE49-F238E27FC236}">
                  <a16:creationId xmlns:a16="http://schemas.microsoft.com/office/drawing/2014/main" id="{DA92022D-84EF-4AE7-849B-2C9EE4A48D2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52857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Straight Connector 63">
              <a:extLst>
                <a:ext uri="{FF2B5EF4-FFF2-40B4-BE49-F238E27FC236}">
                  <a16:creationId xmlns:a16="http://schemas.microsoft.com/office/drawing/2014/main" id="{6F956144-3E4E-45E8-A422-DBA66F70FA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6606" y="4610125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Straight Connector 64">
              <a:extLst>
                <a:ext uri="{FF2B5EF4-FFF2-40B4-BE49-F238E27FC236}">
                  <a16:creationId xmlns:a16="http://schemas.microsoft.com/office/drawing/2014/main" id="{84B28B75-E3AB-4606-98E9-971F1BCA5C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587106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Straight Connector 65">
              <a:extLst>
                <a:ext uri="{FF2B5EF4-FFF2-40B4-BE49-F238E27FC236}">
                  <a16:creationId xmlns:a16="http://schemas.microsoft.com/office/drawing/2014/main" id="{124557AA-7F16-4DDE-983A-7CBBF7E44B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86200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Straight Connector 66">
              <a:extLst>
                <a:ext uri="{FF2B5EF4-FFF2-40B4-BE49-F238E27FC236}">
                  <a16:creationId xmlns:a16="http://schemas.microsoft.com/office/drawing/2014/main" id="{3BB816D5-593F-4A13-8B2F-6EADDEC5C0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37100" y="457442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Straight Connector 67">
              <a:extLst>
                <a:ext uri="{FF2B5EF4-FFF2-40B4-BE49-F238E27FC236}">
                  <a16:creationId xmlns:a16="http://schemas.microsoft.com/office/drawing/2014/main" id="{5F6F3336-C184-4EE6-86B5-B70E634DA9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38800" y="457200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Straight Connector 68">
              <a:extLst>
                <a:ext uri="{FF2B5EF4-FFF2-40B4-BE49-F238E27FC236}">
                  <a16:creationId xmlns:a16="http://schemas.microsoft.com/office/drawing/2014/main" id="{A69C9855-402B-4E50-B34E-1A03C0F751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79488" y="459819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Straight Connector 69">
              <a:extLst>
                <a:ext uri="{FF2B5EF4-FFF2-40B4-BE49-F238E27FC236}">
                  <a16:creationId xmlns:a16="http://schemas.microsoft.com/office/drawing/2014/main" id="{3EA36784-D19A-493C-9B59-19A2D37ECC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91400" y="4611148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Straight Connector 70">
              <a:extLst>
                <a:ext uri="{FF2B5EF4-FFF2-40B4-BE49-F238E27FC236}">
                  <a16:creationId xmlns:a16="http://schemas.microsoft.com/office/drawing/2014/main" id="{A332F9CA-9D4B-4B61-A5AF-1546B4304E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05800" y="458598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80855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9116-A12C-467A-AF25-B63B3894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Kiwi School Handwriting"/>
              </a:rPr>
              <a:t>Quick 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3CEDF-CDDD-448D-B796-8D27B880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386" y="1656935"/>
            <a:ext cx="10820400" cy="4024125"/>
          </a:xfrm>
        </p:spPr>
        <p:txBody>
          <a:bodyPr/>
          <a:lstStyle/>
          <a:p>
            <a:r>
              <a:rPr lang="en-AU" dirty="0"/>
              <a:t>Data Distribution of a B</a:t>
            </a:r>
            <a:r>
              <a:rPr lang="en-GB" dirty="0"/>
              <a:t>ox and Whisker Plot</a:t>
            </a:r>
            <a:endParaRPr lang="en-AU" dirty="0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C265F4EA-B30C-4C38-9B4C-2D553083E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7" y="2057401"/>
            <a:ext cx="8391525" cy="4675188"/>
          </a:xfrm>
          <a:prstGeom prst="rect">
            <a:avLst/>
          </a:prstGeom>
          <a:solidFill>
            <a:schemeClr val="accent3">
              <a:lumMod val="20000"/>
              <a:lumOff val="80000"/>
              <a:alpha val="3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grpSp>
        <p:nvGrpSpPr>
          <p:cNvPr id="10" name="Group 18">
            <a:extLst>
              <a:ext uri="{FF2B5EF4-FFF2-40B4-BE49-F238E27FC236}">
                <a16:creationId xmlns:a16="http://schemas.microsoft.com/office/drawing/2014/main" id="{EA6743D5-73C7-47B0-9389-1C25B2F57C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39950" y="3063876"/>
            <a:ext cx="8021637" cy="1765300"/>
            <a:chOff x="2582" y="7082"/>
            <a:chExt cx="7027" cy="1171"/>
          </a:xfrm>
        </p:grpSpPr>
        <p:sp>
          <p:nvSpPr>
            <p:cNvPr id="11" name="AutoShape 19">
              <a:extLst>
                <a:ext uri="{FF2B5EF4-FFF2-40B4-BE49-F238E27FC236}">
                  <a16:creationId xmlns:a16="http://schemas.microsoft.com/office/drawing/2014/main" id="{4CA94C0F-BCBB-4C0A-902E-E20CEF4A87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82" y="7082"/>
              <a:ext cx="7027" cy="1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12" name="Line 20">
              <a:extLst>
                <a:ext uri="{FF2B5EF4-FFF2-40B4-BE49-F238E27FC236}">
                  <a16:creationId xmlns:a16="http://schemas.microsoft.com/office/drawing/2014/main" id="{BCE2FBA1-2666-440B-A98C-F082858C5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2" y="8252"/>
              <a:ext cx="702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Rectangle 21">
              <a:extLst>
                <a:ext uri="{FF2B5EF4-FFF2-40B4-BE49-F238E27FC236}">
                  <a16:creationId xmlns:a16="http://schemas.microsoft.com/office/drawing/2014/main" id="{4AE91AE0-B0D3-40E6-B2EB-D47E737EC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7609"/>
              <a:ext cx="2074" cy="4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14" name="Line 22">
              <a:extLst>
                <a:ext uri="{FF2B5EF4-FFF2-40B4-BE49-F238E27FC236}">
                  <a16:creationId xmlns:a16="http://schemas.microsoft.com/office/drawing/2014/main" id="{AC0450F7-528E-44DD-AA20-6F769D9600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06" y="7600"/>
              <a:ext cx="0" cy="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29322EE1-35AA-49DD-9060-E886D710BC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8" y="7808"/>
              <a:ext cx="19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27D31E18-56AE-4118-86D6-69D801E35B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79" y="7663"/>
              <a:ext cx="1" cy="2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Line 25">
              <a:extLst>
                <a:ext uri="{FF2B5EF4-FFF2-40B4-BE49-F238E27FC236}">
                  <a16:creationId xmlns:a16="http://schemas.microsoft.com/office/drawing/2014/main" id="{93D1BE6C-26C5-48E0-80A1-BBB61430B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4" y="7799"/>
              <a:ext cx="13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Line 26">
              <a:extLst>
                <a:ext uri="{FF2B5EF4-FFF2-40B4-BE49-F238E27FC236}">
                  <a16:creationId xmlns:a16="http://schemas.microsoft.com/office/drawing/2014/main" id="{C534E82A-ACE9-4DF6-95C2-6AB7DD2B25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7" y="7636"/>
              <a:ext cx="1" cy="3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" name="Text Box 31">
            <a:extLst>
              <a:ext uri="{FF2B5EF4-FFF2-40B4-BE49-F238E27FC236}">
                <a16:creationId xmlns:a16="http://schemas.microsoft.com/office/drawing/2014/main" id="{1845C48E-7757-4A9F-B495-7A28AD92C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475" y="3122614"/>
            <a:ext cx="97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20" name="Text Box 32">
            <a:extLst>
              <a:ext uri="{FF2B5EF4-FFF2-40B4-BE49-F238E27FC236}">
                <a16:creationId xmlns:a16="http://schemas.microsoft.com/office/drawing/2014/main" id="{BE9D6BD6-D8D7-43C7-8663-09FA68067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662" y="3398839"/>
            <a:ext cx="898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21" name="Text Box 33">
            <a:extLst>
              <a:ext uri="{FF2B5EF4-FFF2-40B4-BE49-F238E27FC236}">
                <a16:creationId xmlns:a16="http://schemas.microsoft.com/office/drawing/2014/main" id="{267F9C33-E26D-4098-8402-9E64B572E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3497264"/>
            <a:ext cx="97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22" name="Text Box 34">
            <a:extLst>
              <a:ext uri="{FF2B5EF4-FFF2-40B4-BE49-F238E27FC236}">
                <a16:creationId xmlns:a16="http://schemas.microsoft.com/office/drawing/2014/main" id="{7BC1B140-AF28-4474-828E-874409958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6212" y="3217864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23" name="AutoShape 35">
            <a:extLst>
              <a:ext uri="{FF2B5EF4-FFF2-40B4-BE49-F238E27FC236}">
                <a16:creationId xmlns:a16="http://schemas.microsoft.com/office/drawing/2014/main" id="{94B12289-93C1-4298-A778-93CE071B7CBD}"/>
              </a:ext>
            </a:extLst>
          </p:cNvPr>
          <p:cNvSpPr>
            <a:spLocks/>
          </p:cNvSpPr>
          <p:nvPr/>
        </p:nvSpPr>
        <p:spPr bwMode="auto">
          <a:xfrm rot="16200000">
            <a:off x="6508749" y="3421064"/>
            <a:ext cx="1552575" cy="3397250"/>
          </a:xfrm>
          <a:prstGeom prst="leftBrace">
            <a:avLst>
              <a:gd name="adj1" fmla="val 18234"/>
              <a:gd name="adj2" fmla="val 51894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24" name="AutoShape 36">
            <a:extLst>
              <a:ext uri="{FF2B5EF4-FFF2-40B4-BE49-F238E27FC236}">
                <a16:creationId xmlns:a16="http://schemas.microsoft.com/office/drawing/2014/main" id="{194AE68A-327A-4063-B422-978573A5DA27}"/>
              </a:ext>
            </a:extLst>
          </p:cNvPr>
          <p:cNvSpPr>
            <a:spLocks/>
          </p:cNvSpPr>
          <p:nvPr/>
        </p:nvSpPr>
        <p:spPr bwMode="auto">
          <a:xfrm rot="16200000">
            <a:off x="3364706" y="3713957"/>
            <a:ext cx="1552575" cy="2881313"/>
          </a:xfrm>
          <a:prstGeom prst="leftBrace">
            <a:avLst>
              <a:gd name="adj1" fmla="val 15465"/>
              <a:gd name="adj2" fmla="val 51894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25" name="Text Box 37">
            <a:extLst>
              <a:ext uri="{FF2B5EF4-FFF2-40B4-BE49-F238E27FC236}">
                <a16:creationId xmlns:a16="http://schemas.microsoft.com/office/drawing/2014/main" id="{2369B7E0-CB0C-445D-AFAF-2B2F332A4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8337" y="5862639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50%</a:t>
            </a:r>
          </a:p>
        </p:txBody>
      </p:sp>
      <p:sp>
        <p:nvSpPr>
          <p:cNvPr id="26" name="Text Box 38">
            <a:extLst>
              <a:ext uri="{FF2B5EF4-FFF2-40B4-BE49-F238E27FC236}">
                <a16:creationId xmlns:a16="http://schemas.microsoft.com/office/drawing/2014/main" id="{C439E3D7-7B20-402D-A8F1-A873E3611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387" y="5848351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50%</a:t>
            </a:r>
          </a:p>
        </p:txBody>
      </p:sp>
      <p:sp>
        <p:nvSpPr>
          <p:cNvPr id="27" name="Line 39">
            <a:extLst>
              <a:ext uri="{FF2B5EF4-FFF2-40B4-BE49-F238E27FC236}">
                <a16:creationId xmlns:a16="http://schemas.microsoft.com/office/drawing/2014/main" id="{28EF0487-CCE7-4C9B-8500-D754B3A8E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3925" y="3827464"/>
            <a:ext cx="103187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" name="Line 40">
            <a:extLst>
              <a:ext uri="{FF2B5EF4-FFF2-40B4-BE49-F238E27FC236}">
                <a16:creationId xmlns:a16="http://schemas.microsoft.com/office/drawing/2014/main" id="{4CCCA1FA-2B8F-486B-ABBC-DA6781906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6237" y="3846514"/>
            <a:ext cx="103188" cy="284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" name="Line 41">
            <a:extLst>
              <a:ext uri="{FF2B5EF4-FFF2-40B4-BE49-F238E27FC236}">
                <a16:creationId xmlns:a16="http://schemas.microsoft.com/office/drawing/2014/main" id="{A2A55781-3666-4C2F-AFAC-3ECD7485A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4175" y="3586164"/>
            <a:ext cx="103187" cy="241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" name="Line 42">
            <a:extLst>
              <a:ext uri="{FF2B5EF4-FFF2-40B4-BE49-F238E27FC236}">
                <a16:creationId xmlns:a16="http://schemas.microsoft.com/office/drawing/2014/main" id="{3838E4B6-475D-437A-ABC5-90906412F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3662" y="3473451"/>
            <a:ext cx="103188" cy="338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19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 animBg="1"/>
      <p:bldP spid="24" grpId="0" animBg="1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9116-A12C-467A-AF25-B63B3894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Kiwi School Handwriting"/>
              </a:rPr>
              <a:t>Quick 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3CEDF-CDDD-448D-B796-8D27B880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386" y="1656935"/>
            <a:ext cx="10820400" cy="4024125"/>
          </a:xfrm>
        </p:spPr>
        <p:txBody>
          <a:bodyPr/>
          <a:lstStyle/>
          <a:p>
            <a:r>
              <a:rPr lang="en-AU" dirty="0"/>
              <a:t>Data Distribution of a B</a:t>
            </a:r>
            <a:r>
              <a:rPr lang="en-GB" dirty="0"/>
              <a:t>ox and Whisker Plot</a:t>
            </a:r>
            <a:endParaRPr lang="en-AU" dirty="0"/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8C82AE43-98A4-4009-9BE8-C0C73ECE1BD9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623810"/>
            <a:ext cx="10107265" cy="4677213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8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AC4DA7F-0C25-412C-B549-9D0E60CA7A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"/>
          <a:stretch/>
        </p:blipFill>
        <p:spPr>
          <a:xfrm>
            <a:off x="2044930" y="2090526"/>
            <a:ext cx="8102139" cy="453399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8AF78CB-DB60-4E0C-AC40-4719266D1642}"/>
              </a:ext>
            </a:extLst>
          </p:cNvPr>
          <p:cNvSpPr txBox="1"/>
          <p:nvPr/>
        </p:nvSpPr>
        <p:spPr>
          <a:xfrm>
            <a:off x="6539345" y="2306326"/>
            <a:ext cx="2207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Positively Skewed</a:t>
            </a:r>
            <a:endParaRPr lang="en-GB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74E38A-D444-4026-B2B1-0E22F27F5881}"/>
              </a:ext>
            </a:extLst>
          </p:cNvPr>
          <p:cNvSpPr txBox="1"/>
          <p:nvPr/>
        </p:nvSpPr>
        <p:spPr>
          <a:xfrm>
            <a:off x="2992214" y="3593084"/>
            <a:ext cx="24958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Negatively Skewed</a:t>
            </a:r>
            <a:endParaRPr lang="en-GB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780DDB-AA94-4FB8-AAC3-8D92F7E417A9}"/>
              </a:ext>
            </a:extLst>
          </p:cNvPr>
          <p:cNvSpPr txBox="1"/>
          <p:nvPr/>
        </p:nvSpPr>
        <p:spPr>
          <a:xfrm>
            <a:off x="5355776" y="5986384"/>
            <a:ext cx="1635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Symmetrical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89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30196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Philosophical Chairs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3" name="Online Media 2" title="PHILOSOPHICAL CHAIRS">
            <a:hlinkClick r:id="" action="ppaction://media"/>
            <a:extLst>
              <a:ext uri="{FF2B5EF4-FFF2-40B4-BE49-F238E27FC236}">
                <a16:creationId xmlns:a16="http://schemas.microsoft.com/office/drawing/2014/main" id="{DFD651F8-BA09-400A-BA72-1370A17B904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90243" y="1596043"/>
            <a:ext cx="8137853" cy="45775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849F28-0251-4D5D-86A7-3E53871F026C}"/>
              </a:ext>
            </a:extLst>
          </p:cNvPr>
          <p:cNvSpPr/>
          <p:nvPr/>
        </p:nvSpPr>
        <p:spPr>
          <a:xfrm>
            <a:off x="2293318" y="6220291"/>
            <a:ext cx="6646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Source: </a:t>
            </a:r>
            <a:r>
              <a:rPr lang="en-GB" dirty="0">
                <a:hlinkClick r:id="rId4"/>
              </a:rPr>
              <a:t>https://www.youtube.com/watch?v=19elwVxjfeA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189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30196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Philosophical Chairs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29296"/>
            <a:ext cx="10820400" cy="4893424"/>
          </a:xfrm>
        </p:spPr>
        <p:txBody>
          <a:bodyPr>
            <a:normAutofit/>
          </a:bodyPr>
          <a:lstStyle/>
          <a:p>
            <a:r>
              <a:rPr lang="en-AU" sz="2800" dirty="0"/>
              <a:t>A teacher was comparing the girls and the boys results on a recent test.</a:t>
            </a:r>
            <a:br>
              <a:rPr lang="en-AU" sz="2800" dirty="0"/>
            </a:br>
            <a:r>
              <a:rPr lang="en-AU" sz="2800" dirty="0"/>
              <a:t>By looking at the box and whisker plots, who did better?</a:t>
            </a:r>
            <a:endParaRPr lang="en-GB" sz="2800" dirty="0"/>
          </a:p>
        </p:txBody>
      </p:sp>
      <p:pic>
        <p:nvPicPr>
          <p:cNvPr id="8" name="Picture 2" descr="Image result for comparing box and whisker plots">
            <a:extLst>
              <a:ext uri="{FF2B5EF4-FFF2-40B4-BE49-F238E27FC236}">
                <a16:creationId xmlns:a16="http://schemas.microsoft.com/office/drawing/2014/main" id="{F3A4D355-D333-4643-B5CE-5C4F2CE2D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668" y="3098456"/>
            <a:ext cx="7965808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200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30196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Philosophical Chairs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29296"/>
            <a:ext cx="10820400" cy="4893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If you think boys did better, stand at the door side. </a:t>
            </a:r>
          </a:p>
          <a:p>
            <a:pPr marL="0" indent="0">
              <a:buNone/>
            </a:pPr>
            <a:r>
              <a:rPr lang="en-AU" sz="2400" dirty="0"/>
              <a:t>If you think the girls did better stand at the window side of the room.</a:t>
            </a:r>
          </a:p>
          <a:p>
            <a:pPr marL="0" indent="0">
              <a:buNone/>
            </a:pPr>
            <a:r>
              <a:rPr lang="en-AU" sz="2400" dirty="0"/>
              <a:t>The topic of discussion is who you think did better in the test. Remember, you must use mathematical reasoning or logic to explain your thoughts.</a:t>
            </a:r>
          </a:p>
          <a:p>
            <a:endParaRPr lang="en-GB" sz="28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90F42E6-A657-49CE-B137-3B1C12D62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5"/>
          <a:stretch/>
        </p:blipFill>
        <p:spPr bwMode="auto">
          <a:xfrm>
            <a:off x="1945179" y="3613266"/>
            <a:ext cx="7972036" cy="3143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466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30196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Philosophical Chairs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5B210BC-0E1D-4DA4-AA43-72621E0347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8"/>
          <a:stretch/>
        </p:blipFill>
        <p:spPr bwMode="auto">
          <a:xfrm>
            <a:off x="2063932" y="1425254"/>
            <a:ext cx="7491548" cy="2965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6FC15B-642D-4AA1-BD81-30ED41B37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776288"/>
              </p:ext>
            </p:extLst>
          </p:nvPr>
        </p:nvGraphicFramePr>
        <p:xfrm>
          <a:off x="2636520" y="4345934"/>
          <a:ext cx="677764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8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081">
                <a:tc>
                  <a:txBody>
                    <a:bodyPr/>
                    <a:lstStyle/>
                    <a:p>
                      <a:r>
                        <a:rPr lang="en-AU" sz="2400" dirty="0"/>
                        <a:t>Boys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Girls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389">
                <a:tc>
                  <a:txBody>
                    <a:bodyPr/>
                    <a:lstStyle/>
                    <a:p>
                      <a:r>
                        <a:rPr lang="en-AU" sz="2400" dirty="0"/>
                        <a:t>Lowest: 3</a:t>
                      </a:r>
                    </a:p>
                    <a:p>
                      <a:r>
                        <a:rPr lang="en-AU" sz="2400" dirty="0"/>
                        <a:t>Q1:</a:t>
                      </a:r>
                      <a:r>
                        <a:rPr lang="en-AU" sz="2400" baseline="0" dirty="0"/>
                        <a:t> 10</a:t>
                      </a:r>
                    </a:p>
                    <a:p>
                      <a:r>
                        <a:rPr lang="en-AU" sz="2400" baseline="0" dirty="0"/>
                        <a:t>Med: 11</a:t>
                      </a:r>
                    </a:p>
                    <a:p>
                      <a:r>
                        <a:rPr lang="en-AU" sz="2400" baseline="0" dirty="0"/>
                        <a:t>Q3: 14</a:t>
                      </a:r>
                    </a:p>
                    <a:p>
                      <a:r>
                        <a:rPr lang="en-AU" sz="2400" baseline="0" dirty="0"/>
                        <a:t>Highest: 18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Lowest:</a:t>
                      </a:r>
                      <a:r>
                        <a:rPr lang="en-AU" sz="2400" baseline="0" dirty="0"/>
                        <a:t> 0</a:t>
                      </a:r>
                    </a:p>
                    <a:p>
                      <a:r>
                        <a:rPr lang="en-AU" sz="2400" baseline="0" dirty="0"/>
                        <a:t>Q1: 12</a:t>
                      </a:r>
                    </a:p>
                    <a:p>
                      <a:r>
                        <a:rPr lang="en-AU" sz="2400" baseline="0" dirty="0"/>
                        <a:t>Med: 13</a:t>
                      </a:r>
                    </a:p>
                    <a:p>
                      <a:r>
                        <a:rPr lang="en-AU" sz="2400" baseline="0" dirty="0"/>
                        <a:t>Q3: 15.25</a:t>
                      </a:r>
                    </a:p>
                    <a:p>
                      <a:r>
                        <a:rPr lang="en-AU" sz="2400" baseline="0" dirty="0"/>
                        <a:t>Highest: 16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823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TASK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MAWA Essentials Unit 1 and 2 text</a:t>
            </a:r>
          </a:p>
          <a:p>
            <a:pPr lvl="1"/>
            <a:r>
              <a:rPr lang="en-AU" sz="2600" dirty="0"/>
              <a:t>Chapter 35</a:t>
            </a:r>
          </a:p>
          <a:p>
            <a:pPr lvl="1"/>
            <a:r>
              <a:rPr lang="en-AU" sz="2600" dirty="0"/>
              <a:t>Exercise 1- 6</a:t>
            </a:r>
          </a:p>
          <a:p>
            <a:pPr marL="457200" lvl="1" indent="0">
              <a:buNone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886592222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6729</TotalTime>
  <Words>252</Words>
  <Application>Microsoft Office PowerPoint</Application>
  <PresentationFormat>Widescreen</PresentationFormat>
  <Paragraphs>66</Paragraphs>
  <Slides>10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Century Gothic</vt:lpstr>
      <vt:lpstr>Comic Sans MS</vt:lpstr>
      <vt:lpstr>DJB Fancy Nancy</vt:lpstr>
      <vt:lpstr>Kiwi School Handwriting</vt:lpstr>
      <vt:lpstr>Times New Roman</vt:lpstr>
      <vt:lpstr>BSC Theme</vt:lpstr>
      <vt:lpstr>Five Number Summary Comparing Box Plot Data </vt:lpstr>
      <vt:lpstr>Lesson OutComes</vt:lpstr>
      <vt:lpstr>Quick Review</vt:lpstr>
      <vt:lpstr>Quick Review</vt:lpstr>
      <vt:lpstr>Quick Review</vt:lpstr>
      <vt:lpstr>Philosophical Chairs</vt:lpstr>
      <vt:lpstr>Philosophical Chairs</vt:lpstr>
      <vt:lpstr>Philosophical Chairs</vt:lpstr>
      <vt:lpstr>Philosophical Chairs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LUM Magdeline [Baldivis Secondary College]</cp:lastModifiedBy>
  <cp:revision>68</cp:revision>
  <dcterms:created xsi:type="dcterms:W3CDTF">2017-10-15T23:31:24Z</dcterms:created>
  <dcterms:modified xsi:type="dcterms:W3CDTF">2018-07-22T16:12:49Z</dcterms:modified>
</cp:coreProperties>
</file>
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7" r:id="rId2"/>
    <p:sldId id="267" r:id="rId3"/>
    <p:sldId id="269" r:id="rId4"/>
    <p:sldId id="260" r:id="rId5"/>
    <p:sldId id="271"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318" autoAdjust="0"/>
  </p:normalViewPr>
  <p:slideViewPr>
    <p:cSldViewPr snapToGrid="0">
      <p:cViewPr varScale="1">
        <p:scale>
          <a:sx n="49" d="100"/>
          <a:sy n="49" d="100"/>
        </p:scale>
        <p:origin x="133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DA9F0E-B735-4F59-AD2A-79B0996A9438}" type="datetimeFigureOut">
              <a:rPr lang="en-AU" smtClean="0"/>
              <a:t>11/05/2018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5DADE6-F0F0-4266-9857-2C0E76BE79BB}" type="slidenum">
              <a:rPr lang="en-AU" smtClean="0"/>
              <a:t>‹#›</a:t>
            </a:fld>
            <a:endParaRPr lang="en-AU"/>
          </a:p>
        </p:txBody>
      </p:sp>
    </p:spTree>
    <p:extLst>
      <p:ext uri="{BB962C8B-B14F-4D97-AF65-F5344CB8AC3E}">
        <p14:creationId xmlns:p14="http://schemas.microsoft.com/office/powerpoint/2010/main" val="3001336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2</a:t>
            </a:fld>
            <a:endParaRPr lang="en-GB"/>
          </a:p>
        </p:txBody>
      </p:sp>
    </p:spTree>
    <p:extLst>
      <p:ext uri="{BB962C8B-B14F-4D97-AF65-F5344CB8AC3E}">
        <p14:creationId xmlns:p14="http://schemas.microsoft.com/office/powerpoint/2010/main" val="2631456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phone call graph: </a:t>
            </a:r>
          </a:p>
          <a:p>
            <a:pPr marL="171450" indent="-171450">
              <a:buFont typeface="Arial" panose="020B0604020202020204" pitchFamily="34" charset="0"/>
              <a:buChar char="•"/>
            </a:pPr>
            <a:r>
              <a:rPr lang="en-US" dirty="0"/>
              <a:t>Only showing a small part of the vertical axis makes it appear Octas is by far the better option. On closer inspection the difference is not that great. Gives a misleading impression.</a:t>
            </a:r>
          </a:p>
          <a:p>
            <a:pPr marL="171450" indent="-171450">
              <a:buFontTx/>
              <a:buChar char="-"/>
            </a:pPr>
            <a:endParaRPr lang="en-US" dirty="0"/>
          </a:p>
          <a:p>
            <a:pPr marL="0" indent="0">
              <a:buFontTx/>
              <a:buNone/>
            </a:pPr>
            <a:r>
              <a:rPr lang="en-US" dirty="0"/>
              <a:t>Presidential race graph:</a:t>
            </a:r>
          </a:p>
          <a:p>
            <a:pPr marL="285750" indent="-285750" fontAlgn="base">
              <a:buFont typeface="Arial" panose="020B0604020202020204" pitchFamily="34" charset="0"/>
              <a:buChar char="•"/>
            </a:pPr>
            <a:r>
              <a:rPr lang="en-US" dirty="0"/>
              <a:t>- </a:t>
            </a:r>
            <a:r>
              <a:rPr lang="en-US" sz="1200" dirty="0">
                <a:solidFill>
                  <a:srgbClr val="333333"/>
                </a:solidFill>
              </a:rPr>
              <a:t>Oversized volumes of objects that are too big for the scale ( Obama vs McCain. Also Clinton vs Huckabee) . They are not the same yet the bars are equal)</a:t>
            </a:r>
          </a:p>
          <a:p>
            <a:pPr marL="285750" indent="-285750" fontAlgn="base">
              <a:buFont typeface="Arial" panose="020B0604020202020204" pitchFamily="34" charset="0"/>
              <a:buChar char="•"/>
            </a:pPr>
            <a:endParaRPr lang="en-US" sz="1200" dirty="0">
              <a:solidFill>
                <a:srgbClr val="333333"/>
              </a:solidFill>
            </a:endParaRPr>
          </a:p>
          <a:p>
            <a:pPr marL="285750" indent="-285750" fontAlgn="base">
              <a:buFont typeface="Arial" panose="020B0604020202020204" pitchFamily="34" charset="0"/>
              <a:buChar char="•"/>
            </a:pPr>
            <a:endParaRPr lang="en-AU" dirty="0"/>
          </a:p>
        </p:txBody>
      </p:sp>
      <p:sp>
        <p:nvSpPr>
          <p:cNvPr id="4" name="Slide Number Placeholder 3"/>
          <p:cNvSpPr>
            <a:spLocks noGrp="1"/>
          </p:cNvSpPr>
          <p:nvPr>
            <p:ph type="sldNum" sz="quarter" idx="10"/>
          </p:nvPr>
        </p:nvSpPr>
        <p:spPr/>
        <p:txBody>
          <a:bodyPr/>
          <a:lstStyle/>
          <a:p>
            <a:fld id="{BF5DADE6-F0F0-4266-9857-2C0E76BE79BB}" type="slidenum">
              <a:rPr lang="en-AU" smtClean="0"/>
              <a:t>5</a:t>
            </a:fld>
            <a:endParaRPr lang="en-AU"/>
          </a:p>
        </p:txBody>
      </p:sp>
    </p:spTree>
    <p:extLst>
      <p:ext uri="{BB962C8B-B14F-4D97-AF65-F5344CB8AC3E}">
        <p14:creationId xmlns:p14="http://schemas.microsoft.com/office/powerpoint/2010/main" val="3815511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610525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645733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573700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0C0877-357E-4A62-B251-CC5B7A9A4A62}" type="datetimeFigureOut">
              <a:rPr lang="en-AU" smtClean="0"/>
              <a:t>11/05/2018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1532095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0C0877-357E-4A62-B251-CC5B7A9A4A62}" type="datetimeFigureOut">
              <a:rPr lang="en-AU" smtClean="0"/>
              <a:t>11/05/2018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103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0C0877-357E-4A62-B251-CC5B7A9A4A62}" type="datetimeFigureOut">
              <a:rPr lang="en-AU" smtClean="0"/>
              <a:t>11/05/2018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858219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0C0877-357E-4A62-B251-CC5B7A9A4A62}" type="datetimeFigureOut">
              <a:rPr lang="en-AU" smtClean="0"/>
              <a:t>11/05/2018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877394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0C0877-357E-4A62-B251-CC5B7A9A4A62}" type="datetimeFigureOut">
              <a:rPr lang="en-AU" smtClean="0"/>
              <a:t>11/05/2018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4137004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0C0877-357E-4A62-B251-CC5B7A9A4A62}" type="datetimeFigureOut">
              <a:rPr lang="en-AU" smtClean="0"/>
              <a:t>11/05/2018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3990120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750413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50899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26045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96961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18449427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3108410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C0877-357E-4A62-B251-CC5B7A9A4A62}" type="datetimeFigureOut">
              <a:rPr lang="en-AU" smtClean="0"/>
              <a:t>11/05/2018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3CE5C69-6A00-46AC-B199-16AE1EAD8538}" type="slidenum">
              <a:rPr lang="en-AU" smtClean="0"/>
              <a:t>‹#›</a:t>
            </a:fld>
            <a:endParaRPr lang="en-AU"/>
          </a:p>
        </p:txBody>
      </p:sp>
    </p:spTree>
    <p:extLst>
      <p:ext uri="{BB962C8B-B14F-4D97-AF65-F5344CB8AC3E}">
        <p14:creationId xmlns:p14="http://schemas.microsoft.com/office/powerpoint/2010/main" val="1579382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0C0877-357E-4A62-B251-CC5B7A9A4A62}" type="datetimeFigureOut">
              <a:rPr lang="en-AU" smtClean="0"/>
              <a:t>11/05/2018</a:t>
            </a:fld>
            <a:endParaRPr lang="en-A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3CE5C69-6A00-46AC-B199-16AE1EAD8538}" type="slidenum">
              <a:rPr lang="en-AU" smtClean="0"/>
              <a:t>‹#›</a:t>
            </a:fld>
            <a:endParaRPr lang="en-AU"/>
          </a:p>
        </p:txBody>
      </p:sp>
    </p:spTree>
    <p:extLst>
      <p:ext uri="{BB962C8B-B14F-4D97-AF65-F5344CB8AC3E}">
        <p14:creationId xmlns:p14="http://schemas.microsoft.com/office/powerpoint/2010/main" val="11140230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E91bGT9BjYk" TargetMode="Externa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26009-BBC8-4473-9B83-9B5587D459F7}"/>
              </a:ext>
            </a:extLst>
          </p:cNvPr>
          <p:cNvSpPr>
            <a:spLocks noGrp="1"/>
          </p:cNvSpPr>
          <p:nvPr>
            <p:ph type="ctrTitle"/>
          </p:nvPr>
        </p:nvSpPr>
        <p:spPr/>
        <p:txBody>
          <a:bodyPr/>
          <a:lstStyle/>
          <a:p>
            <a:r>
              <a:rPr lang="en-US" dirty="0"/>
              <a:t>Graphs</a:t>
            </a:r>
            <a:endParaRPr lang="en-AU" dirty="0"/>
          </a:p>
        </p:txBody>
      </p:sp>
      <p:sp>
        <p:nvSpPr>
          <p:cNvPr id="3" name="Subtitle 2">
            <a:extLst>
              <a:ext uri="{FF2B5EF4-FFF2-40B4-BE49-F238E27FC236}">
                <a16:creationId xmlns:a16="http://schemas.microsoft.com/office/drawing/2014/main" id="{C5307C92-8CF7-47A0-AAC8-D1A902130B8C}"/>
              </a:ext>
            </a:extLst>
          </p:cNvPr>
          <p:cNvSpPr>
            <a:spLocks noGrp="1"/>
          </p:cNvSpPr>
          <p:nvPr>
            <p:ph type="subTitle" idx="1"/>
          </p:nvPr>
        </p:nvSpPr>
        <p:spPr>
          <a:xfrm>
            <a:off x="867266" y="4050833"/>
            <a:ext cx="8776355" cy="1096899"/>
          </a:xfrm>
        </p:spPr>
        <p:txBody>
          <a:bodyPr/>
          <a:lstStyle/>
          <a:p>
            <a:r>
              <a:rPr lang="en-US" dirty="0"/>
              <a:t>EQ: How do I </a:t>
            </a:r>
            <a:r>
              <a:rPr lang="en-AU" dirty="0"/>
              <a:t>determine which type of graph is the best one to display a dataset?</a:t>
            </a:r>
          </a:p>
        </p:txBody>
      </p:sp>
    </p:spTree>
    <p:extLst>
      <p:ext uri="{BB962C8B-B14F-4D97-AF65-F5344CB8AC3E}">
        <p14:creationId xmlns:p14="http://schemas.microsoft.com/office/powerpoint/2010/main" val="2290527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406D-1B0F-4A8E-9995-B02B2CB3CA2D}"/>
              </a:ext>
            </a:extLst>
          </p:cNvPr>
          <p:cNvSpPr>
            <a:spLocks noGrp="1"/>
          </p:cNvSpPr>
          <p:nvPr>
            <p:ph type="title"/>
          </p:nvPr>
        </p:nvSpPr>
        <p:spPr/>
        <p:txBody>
          <a:bodyPr>
            <a:normAutofit/>
          </a:bodyPr>
          <a:lstStyle/>
          <a:p>
            <a:r>
              <a:rPr lang="en-AU" sz="5400" b="1" dirty="0">
                <a:solidFill>
                  <a:schemeClr val="accent2">
                    <a:lumMod val="75000"/>
                  </a:schemeClr>
                </a:solidFill>
                <a:latin typeface="Kiwi School Handwriting"/>
              </a:rPr>
              <a:t>Learning Outcomes</a:t>
            </a:r>
            <a:endParaRPr lang="en-GB" sz="5400" b="1" dirty="0">
              <a:solidFill>
                <a:schemeClr val="accent2">
                  <a:lumMod val="75000"/>
                </a:schemeClr>
              </a:solidFill>
              <a:latin typeface="Kiwi School Handwriting"/>
            </a:endParaRPr>
          </a:p>
        </p:txBody>
      </p:sp>
      <p:sp>
        <p:nvSpPr>
          <p:cNvPr id="3" name="Content Placeholder 2">
            <a:extLst>
              <a:ext uri="{FF2B5EF4-FFF2-40B4-BE49-F238E27FC236}">
                <a16:creationId xmlns:a16="http://schemas.microsoft.com/office/drawing/2014/main" id="{7E691107-7794-4BDC-A667-DF76D18C9352}"/>
              </a:ext>
            </a:extLst>
          </p:cNvPr>
          <p:cNvSpPr>
            <a:spLocks noGrp="1"/>
          </p:cNvSpPr>
          <p:nvPr>
            <p:ph idx="1"/>
          </p:nvPr>
        </p:nvSpPr>
        <p:spPr>
          <a:xfrm>
            <a:off x="376237" y="2057401"/>
            <a:ext cx="11129963" cy="4434840"/>
          </a:xfrm>
        </p:spPr>
        <p:txBody>
          <a:bodyPr>
            <a:normAutofit/>
          </a:bodyPr>
          <a:lstStyle/>
          <a:p>
            <a:pPr marL="457200" lvl="1" indent="0">
              <a:buNone/>
            </a:pPr>
            <a:r>
              <a:rPr lang="en-AU" sz="2800" b="1" dirty="0"/>
              <a:t>Dot Points</a:t>
            </a:r>
            <a:endParaRPr lang="en-AU" sz="2800" dirty="0"/>
          </a:p>
          <a:p>
            <a:pPr lvl="2"/>
            <a:r>
              <a:rPr lang="en-AU" sz="2000" dirty="0"/>
              <a:t>1.4.3 discuss and interpret graphs found in the media and in factual texts </a:t>
            </a:r>
            <a:endParaRPr lang="en-AU" dirty="0"/>
          </a:p>
          <a:p>
            <a:pPr marL="457200" lvl="1" indent="0">
              <a:buNone/>
            </a:pPr>
            <a:endParaRPr lang="en-AU" sz="2800" b="1" dirty="0">
              <a:solidFill>
                <a:schemeClr val="accent1">
                  <a:lumMod val="75000"/>
                </a:schemeClr>
              </a:solidFill>
            </a:endParaRPr>
          </a:p>
          <a:p>
            <a:pPr marL="457200" lvl="1" indent="0">
              <a:buNone/>
            </a:pPr>
            <a:r>
              <a:rPr lang="en-AU" sz="2800" b="1" dirty="0"/>
              <a:t>Contexts</a:t>
            </a:r>
          </a:p>
          <a:p>
            <a:pPr lvl="1">
              <a:buFontTx/>
              <a:buChar char="-"/>
            </a:pPr>
            <a:r>
              <a:rPr lang="en-AU" sz="2000" dirty="0"/>
              <a:t>Determine whether the information displayed in a graph is a true representation of the data</a:t>
            </a:r>
            <a:endParaRPr lang="en-GB" sz="2000" dirty="0"/>
          </a:p>
        </p:txBody>
      </p:sp>
    </p:spTree>
    <p:extLst>
      <p:ext uri="{BB962C8B-B14F-4D97-AF65-F5344CB8AC3E}">
        <p14:creationId xmlns:p14="http://schemas.microsoft.com/office/powerpoint/2010/main" val="18188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98E42D-6240-476A-970E-2B030F380A6E}"/>
              </a:ext>
            </a:extLst>
          </p:cNvPr>
          <p:cNvSpPr txBox="1"/>
          <p:nvPr/>
        </p:nvSpPr>
        <p:spPr>
          <a:xfrm>
            <a:off x="1677971" y="990826"/>
            <a:ext cx="6100261" cy="2862322"/>
          </a:xfrm>
          <a:prstGeom prst="rect">
            <a:avLst/>
          </a:prstGeom>
          <a:noFill/>
        </p:spPr>
        <p:txBody>
          <a:bodyPr wrap="square" rtlCol="0">
            <a:spAutoFit/>
          </a:bodyPr>
          <a:lstStyle/>
          <a:p>
            <a:r>
              <a:rPr lang="en-US" dirty="0"/>
              <a:t>Opening Problem- Class Discussion:</a:t>
            </a:r>
          </a:p>
          <a:p>
            <a:endParaRPr lang="en-US" dirty="0"/>
          </a:p>
          <a:p>
            <a:r>
              <a:rPr lang="en-US" dirty="0"/>
              <a:t>When they’re used well, graphs can help us understand data. But as visual software has enabled more usage of graphs throughout all media, it has also made them easier to use in a careless or dishonest way.</a:t>
            </a:r>
          </a:p>
          <a:p>
            <a:endParaRPr lang="en-US" dirty="0"/>
          </a:p>
          <a:p>
            <a:r>
              <a:rPr lang="en-US" dirty="0">
                <a:hlinkClick r:id="rId2"/>
              </a:rPr>
              <a:t>https://www.youtube.com/watch?v=E91bGT9BjYk</a:t>
            </a:r>
            <a:endParaRPr lang="en-US" dirty="0"/>
          </a:p>
          <a:p>
            <a:endParaRPr lang="en-US" dirty="0"/>
          </a:p>
          <a:p>
            <a:endParaRPr lang="en-AU" dirty="0"/>
          </a:p>
        </p:txBody>
      </p:sp>
    </p:spTree>
    <p:extLst>
      <p:ext uri="{BB962C8B-B14F-4D97-AF65-F5344CB8AC3E}">
        <p14:creationId xmlns:p14="http://schemas.microsoft.com/office/powerpoint/2010/main" val="775883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524000" y="55340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105074"/>
            <a:ext cx="9144000" cy="0"/>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24001" y="-19245"/>
            <a:ext cx="516607" cy="600164"/>
          </a:xfrm>
          <a:prstGeom prst="rect">
            <a:avLst/>
          </a:prstGeom>
          <a:noFill/>
        </p:spPr>
        <p:txBody>
          <a:bodyPr wrap="square" rtlCol="0">
            <a:spAutoFit/>
          </a:bodyPr>
          <a:lstStyle/>
          <a:p>
            <a:r>
              <a:rPr lang="en-AU" sz="1100" dirty="0">
                <a:latin typeface="Chalkboard"/>
                <a:cs typeface="Chalkboard"/>
              </a:rPr>
              <a:t>24</a:t>
            </a:r>
          </a:p>
          <a:p>
            <a:r>
              <a:rPr lang="en-AU" sz="1100" dirty="0">
                <a:latin typeface="Chalkboard"/>
                <a:cs typeface="Chalkboard"/>
              </a:rPr>
              <a:t>7</a:t>
            </a:r>
          </a:p>
          <a:p>
            <a:r>
              <a:rPr lang="en-AU" sz="1100" dirty="0">
                <a:latin typeface="Chalkboard"/>
                <a:cs typeface="Chalkboard"/>
              </a:rPr>
              <a:t>30</a:t>
            </a:r>
          </a:p>
        </p:txBody>
      </p:sp>
      <p:cxnSp>
        <p:nvCxnSpPr>
          <p:cNvPr id="9" name="Straight Connector 8"/>
          <p:cNvCxnSpPr>
            <a:cxnSpLocks/>
          </p:cNvCxnSpPr>
          <p:nvPr/>
        </p:nvCxnSpPr>
        <p:spPr>
          <a:xfrm flipH="1">
            <a:off x="3713228" y="1109730"/>
            <a:ext cx="18714" cy="5748271"/>
          </a:xfrm>
          <a:prstGeom prst="line">
            <a:avLst/>
          </a:prstGeom>
          <a:ln w="28575"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9747413" y="80378"/>
            <a:ext cx="834382" cy="400110"/>
          </a:xfrm>
          <a:prstGeom prst="rect">
            <a:avLst/>
          </a:prstGeom>
          <a:noFill/>
        </p:spPr>
        <p:txBody>
          <a:bodyPr wrap="square" rtlCol="0">
            <a:spAutoFit/>
          </a:bodyPr>
          <a:lstStyle/>
          <a:p>
            <a:r>
              <a:rPr lang="en-AU" sz="2000" dirty="0">
                <a:latin typeface="Chalkboard"/>
                <a:cs typeface="Chalkboard"/>
              </a:rPr>
              <a:t>Date</a:t>
            </a:r>
          </a:p>
        </p:txBody>
      </p:sp>
      <p:sp>
        <p:nvSpPr>
          <p:cNvPr id="12" name="TextBox 11"/>
          <p:cNvSpPr txBox="1"/>
          <p:nvPr/>
        </p:nvSpPr>
        <p:spPr>
          <a:xfrm>
            <a:off x="1524000" y="644573"/>
            <a:ext cx="9916997" cy="369332"/>
          </a:xfrm>
          <a:prstGeom prst="rect">
            <a:avLst/>
          </a:prstGeom>
          <a:noFill/>
        </p:spPr>
        <p:txBody>
          <a:bodyPr wrap="square" rtlCol="0">
            <a:spAutoFit/>
          </a:bodyPr>
          <a:lstStyle/>
          <a:p>
            <a:r>
              <a:rPr lang="en-US" dirty="0"/>
              <a:t>EQ: How do I </a:t>
            </a:r>
            <a:r>
              <a:rPr lang="en-AU" dirty="0"/>
              <a:t>determine which type of graph is the best one to display a dataset?</a:t>
            </a:r>
          </a:p>
        </p:txBody>
      </p:sp>
      <p:sp>
        <p:nvSpPr>
          <p:cNvPr id="13" name="TextBox 12"/>
          <p:cNvSpPr txBox="1"/>
          <p:nvPr/>
        </p:nvSpPr>
        <p:spPr>
          <a:xfrm>
            <a:off x="2073352" y="45023"/>
            <a:ext cx="1901803" cy="461665"/>
          </a:xfrm>
          <a:prstGeom prst="rect">
            <a:avLst/>
          </a:prstGeom>
          <a:noFill/>
        </p:spPr>
        <p:txBody>
          <a:bodyPr wrap="none" rtlCol="0">
            <a:spAutoFit/>
          </a:bodyPr>
          <a:lstStyle/>
          <a:p>
            <a:r>
              <a:rPr lang="en-AU" sz="2400" b="1" dirty="0">
                <a:latin typeface="Chalkboard"/>
                <a:cs typeface="Chalkboard"/>
              </a:rPr>
              <a:t>Topic: Graphs</a:t>
            </a:r>
            <a:endParaRPr lang="en-AU" sz="2400" dirty="0">
              <a:latin typeface="Chalkboard"/>
              <a:cs typeface="Chalkboard"/>
            </a:endParaRPr>
          </a:p>
        </p:txBody>
      </p:sp>
      <p:sp>
        <p:nvSpPr>
          <p:cNvPr id="2" name="Rectangle 1">
            <a:extLst>
              <a:ext uri="{FF2B5EF4-FFF2-40B4-BE49-F238E27FC236}">
                <a16:creationId xmlns:a16="http://schemas.microsoft.com/office/drawing/2014/main" id="{80AB6172-85CC-41FA-A36D-8DB3CB74ABC9}"/>
              </a:ext>
            </a:extLst>
          </p:cNvPr>
          <p:cNvSpPr/>
          <p:nvPr/>
        </p:nvSpPr>
        <p:spPr>
          <a:xfrm>
            <a:off x="3921409" y="1376312"/>
            <a:ext cx="6589477" cy="5570756"/>
          </a:xfrm>
          <a:prstGeom prst="rect">
            <a:avLst/>
          </a:prstGeom>
        </p:spPr>
        <p:txBody>
          <a:bodyPr wrap="square">
            <a:spAutoFit/>
          </a:bodyPr>
          <a:lstStyle/>
          <a:p>
            <a:pPr fontAlgn="base"/>
            <a:r>
              <a:rPr lang="en-US" sz="1600" b="1" dirty="0">
                <a:solidFill>
                  <a:srgbClr val="333333"/>
                </a:solidFill>
              </a:rPr>
              <a:t>Ways to Make a Graph Misleading</a:t>
            </a:r>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Vertical scale is too big or too small</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Vertical axis skips numbers, or does not start at zero</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Graph is not labeled properly. </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Graph does not have a Title to explain what it is about.</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Scale not starting at zero</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Scale made in very small units to make graph look very big.</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Scale values or labels missing from the graph.</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Oversized volumes of objects that are too big for the vertical scale differences they represent.</a:t>
            </a:r>
          </a:p>
          <a:p>
            <a:pPr fontAlgn="base"/>
            <a:endParaRPr lang="en-US" sz="1600" dirty="0">
              <a:solidFill>
                <a:srgbClr val="333333"/>
              </a:solidFill>
            </a:endParaRPr>
          </a:p>
          <a:p>
            <a:pPr marL="285750" indent="-285750" fontAlgn="base">
              <a:buFont typeface="Arial" panose="020B0604020202020204" pitchFamily="34" charset="0"/>
              <a:buChar char="•"/>
            </a:pPr>
            <a:r>
              <a:rPr lang="en-US" sz="1600" dirty="0">
                <a:solidFill>
                  <a:srgbClr val="333333"/>
                </a:solidFill>
              </a:rPr>
              <a:t>Size of images used in picture graphs being different for the different categories being graphed</a:t>
            </a:r>
          </a:p>
          <a:p>
            <a:pPr fontAlgn="base"/>
            <a:endParaRPr lang="en-US" dirty="0">
              <a:solidFill>
                <a:srgbClr val="333333"/>
              </a:solidFill>
            </a:endParaRPr>
          </a:p>
          <a:p>
            <a:pPr marL="285750" indent="-285750" fontAlgn="base">
              <a:buFont typeface="Arial" panose="020B0604020202020204" pitchFamily="34" charset="0"/>
              <a:buChar char="•"/>
            </a:pPr>
            <a:r>
              <a:rPr lang="en-US" sz="1600" dirty="0">
                <a:solidFill>
                  <a:srgbClr val="333333"/>
                </a:solidFill>
              </a:rPr>
              <a:t>Graph being a non-standard size or shape.</a:t>
            </a:r>
            <a:endParaRPr lang="en-US" sz="1600" b="0" i="0" dirty="0">
              <a:solidFill>
                <a:srgbClr val="333333"/>
              </a:solidFill>
              <a:effectLst/>
            </a:endParaRPr>
          </a:p>
        </p:txBody>
      </p:sp>
    </p:spTree>
    <p:extLst>
      <p:ext uri="{BB962C8B-B14F-4D97-AF65-F5344CB8AC3E}">
        <p14:creationId xmlns:p14="http://schemas.microsoft.com/office/powerpoint/2010/main" val="1104828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48D7-7021-4E8F-898B-82ACE8611DF7}"/>
              </a:ext>
            </a:extLst>
          </p:cNvPr>
          <p:cNvSpPr>
            <a:spLocks noGrp="1"/>
          </p:cNvSpPr>
          <p:nvPr>
            <p:ph type="title"/>
          </p:nvPr>
        </p:nvSpPr>
        <p:spPr>
          <a:xfrm>
            <a:off x="677334" y="274320"/>
            <a:ext cx="8596668" cy="1656080"/>
          </a:xfrm>
        </p:spPr>
        <p:txBody>
          <a:bodyPr>
            <a:normAutofit/>
          </a:bodyPr>
          <a:lstStyle/>
          <a:p>
            <a:r>
              <a:rPr lang="en-US" dirty="0"/>
              <a:t>Examples</a:t>
            </a:r>
            <a:br>
              <a:rPr lang="en-US" dirty="0"/>
            </a:br>
            <a:r>
              <a:rPr lang="en-US" sz="1600" dirty="0">
                <a:latin typeface="+mn-lt"/>
              </a:rPr>
              <a:t>For each of these eight graphs answer the following three questions: </a:t>
            </a:r>
            <a:br>
              <a:rPr lang="en-US" sz="1600" dirty="0">
                <a:latin typeface="+mn-lt"/>
              </a:rPr>
            </a:br>
            <a:r>
              <a:rPr lang="en-US" sz="1600" dirty="0">
                <a:latin typeface="+mn-lt"/>
              </a:rPr>
              <a:t>(a) What is the main message that the graph is trying to tell you? </a:t>
            </a:r>
            <a:br>
              <a:rPr lang="en-US" sz="1600" dirty="0">
                <a:latin typeface="+mn-lt"/>
              </a:rPr>
            </a:br>
            <a:r>
              <a:rPr lang="en-US" sz="1600" dirty="0">
                <a:latin typeface="+mn-lt"/>
              </a:rPr>
              <a:t>(b) What is bad or misleading about the graph? </a:t>
            </a:r>
            <a:br>
              <a:rPr lang="en-US" sz="1600" dirty="0">
                <a:latin typeface="+mn-lt"/>
              </a:rPr>
            </a:br>
            <a:r>
              <a:rPr lang="en-US" sz="1600" dirty="0">
                <a:latin typeface="+mn-lt"/>
              </a:rPr>
              <a:t>(c) How could you improve it?</a:t>
            </a:r>
            <a:endParaRPr lang="en-AU" sz="1600" dirty="0">
              <a:latin typeface="+mn-lt"/>
            </a:endParaRPr>
          </a:p>
        </p:txBody>
      </p:sp>
      <p:pic>
        <p:nvPicPr>
          <p:cNvPr id="7" name="Content Placeholder 6">
            <a:extLst>
              <a:ext uri="{FF2B5EF4-FFF2-40B4-BE49-F238E27FC236}">
                <a16:creationId xmlns:a16="http://schemas.microsoft.com/office/drawing/2014/main" id="{0BCCD3EB-C24A-4835-BC38-F1F9DCEE23B1}"/>
              </a:ext>
            </a:extLst>
          </p:cNvPr>
          <p:cNvPicPr>
            <a:picLocks noGrp="1" noChangeAspect="1"/>
          </p:cNvPicPr>
          <p:nvPr>
            <p:ph sz="half" idx="2"/>
          </p:nvPr>
        </p:nvPicPr>
        <p:blipFill>
          <a:blip r:embed="rId3"/>
          <a:stretch>
            <a:fillRect/>
          </a:stretch>
        </p:blipFill>
        <p:spPr>
          <a:xfrm>
            <a:off x="224155" y="2727084"/>
            <a:ext cx="4158880" cy="3165715"/>
          </a:xfrm>
          <a:prstGeom prst="rect">
            <a:avLst/>
          </a:prstGeom>
        </p:spPr>
      </p:pic>
      <p:pic>
        <p:nvPicPr>
          <p:cNvPr id="8" name="Content Placeholder 7">
            <a:extLst>
              <a:ext uri="{FF2B5EF4-FFF2-40B4-BE49-F238E27FC236}">
                <a16:creationId xmlns:a16="http://schemas.microsoft.com/office/drawing/2014/main" id="{F0432202-E44C-4CD6-A83E-3E46ABCFFE02}"/>
              </a:ext>
            </a:extLst>
          </p:cNvPr>
          <p:cNvPicPr>
            <a:picLocks noGrp="1" noChangeAspect="1"/>
          </p:cNvPicPr>
          <p:nvPr>
            <p:ph sz="quarter" idx="4"/>
          </p:nvPr>
        </p:nvPicPr>
        <p:blipFill>
          <a:blip r:embed="rId4"/>
          <a:stretch>
            <a:fillRect/>
          </a:stretch>
        </p:blipFill>
        <p:spPr>
          <a:xfrm>
            <a:off x="4744576" y="2631441"/>
            <a:ext cx="5598749" cy="3708400"/>
          </a:xfrm>
          <a:prstGeom prst="rect">
            <a:avLst/>
          </a:prstGeom>
        </p:spPr>
      </p:pic>
    </p:spTree>
    <p:extLst>
      <p:ext uri="{BB962C8B-B14F-4D97-AF65-F5344CB8AC3E}">
        <p14:creationId xmlns:p14="http://schemas.microsoft.com/office/powerpoint/2010/main" val="87249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D5B75F-40D9-469A-946D-658A905322BE}"/>
              </a:ext>
            </a:extLst>
          </p:cNvPr>
          <p:cNvSpPr txBox="1"/>
          <p:nvPr/>
        </p:nvSpPr>
        <p:spPr>
          <a:xfrm>
            <a:off x="1859280" y="1981200"/>
            <a:ext cx="6634480" cy="369332"/>
          </a:xfrm>
          <a:prstGeom prst="rect">
            <a:avLst/>
          </a:prstGeom>
          <a:noFill/>
        </p:spPr>
        <p:txBody>
          <a:bodyPr wrap="square" rtlCol="0">
            <a:spAutoFit/>
          </a:bodyPr>
          <a:lstStyle/>
          <a:p>
            <a:r>
              <a:rPr lang="en-US" dirty="0"/>
              <a:t>Complete Graphs in Contexts worksheet</a:t>
            </a:r>
            <a:endParaRPr lang="en-AU" dirty="0"/>
          </a:p>
        </p:txBody>
      </p:sp>
      <p:sp>
        <p:nvSpPr>
          <p:cNvPr id="3" name="TextBox 2">
            <a:extLst>
              <a:ext uri="{FF2B5EF4-FFF2-40B4-BE49-F238E27FC236}">
                <a16:creationId xmlns:a16="http://schemas.microsoft.com/office/drawing/2014/main" id="{5CF2D550-5829-498E-9EF0-8A1C039CD61C}"/>
              </a:ext>
            </a:extLst>
          </p:cNvPr>
          <p:cNvSpPr txBox="1"/>
          <p:nvPr/>
        </p:nvSpPr>
        <p:spPr>
          <a:xfrm>
            <a:off x="1955119" y="2463538"/>
            <a:ext cx="6634480" cy="369332"/>
          </a:xfrm>
          <a:prstGeom prst="rect">
            <a:avLst/>
          </a:prstGeom>
          <a:noFill/>
        </p:spPr>
        <p:txBody>
          <a:bodyPr wrap="square" rtlCol="0">
            <a:spAutoFit/>
          </a:bodyPr>
          <a:lstStyle/>
          <a:p>
            <a:r>
              <a:rPr lang="en-US" dirty="0"/>
              <a:t>Complete Misleading Graphs worksheet</a:t>
            </a:r>
            <a:endParaRPr lang="en-AU" dirty="0"/>
          </a:p>
        </p:txBody>
      </p:sp>
      <p:sp>
        <p:nvSpPr>
          <p:cNvPr id="4" name="TextBox 3">
            <a:extLst>
              <a:ext uri="{FF2B5EF4-FFF2-40B4-BE49-F238E27FC236}">
                <a16:creationId xmlns:a16="http://schemas.microsoft.com/office/drawing/2014/main" id="{68FFF3B1-8ECD-42C4-BFD8-15A63B5C7140}"/>
              </a:ext>
            </a:extLst>
          </p:cNvPr>
          <p:cNvSpPr txBox="1"/>
          <p:nvPr/>
        </p:nvSpPr>
        <p:spPr>
          <a:xfrm>
            <a:off x="1859280" y="3053499"/>
            <a:ext cx="6634480" cy="646331"/>
          </a:xfrm>
          <a:prstGeom prst="rect">
            <a:avLst/>
          </a:prstGeom>
          <a:noFill/>
        </p:spPr>
        <p:txBody>
          <a:bodyPr wrap="square" rtlCol="0">
            <a:spAutoFit/>
          </a:bodyPr>
          <a:lstStyle/>
          <a:p>
            <a:r>
              <a:rPr lang="en-US" dirty="0"/>
              <a:t>- Option to complete these questions using the cooperative learning strategies like “</a:t>
            </a:r>
            <a:r>
              <a:rPr lang="en-AU" dirty="0"/>
              <a:t>Carouse</a:t>
            </a:r>
            <a:r>
              <a:rPr lang="en-US" dirty="0"/>
              <a:t>l” or “Gallery Walk”. </a:t>
            </a:r>
            <a:endParaRPr lang="en-AU" dirty="0"/>
          </a:p>
        </p:txBody>
      </p:sp>
    </p:spTree>
    <p:extLst>
      <p:ext uri="{BB962C8B-B14F-4D97-AF65-F5344CB8AC3E}">
        <p14:creationId xmlns:p14="http://schemas.microsoft.com/office/powerpoint/2010/main" val="152009511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97</TotalTime>
  <Words>281</Words>
  <Application>Microsoft Office PowerPoint</Application>
  <PresentationFormat>Widescreen</PresentationFormat>
  <Paragraphs>50</Paragraphs>
  <Slides>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Chalkboard</vt:lpstr>
      <vt:lpstr>Kiwi School Handwriting</vt:lpstr>
      <vt:lpstr>Trebuchet MS</vt:lpstr>
      <vt:lpstr>Wingdings 3</vt:lpstr>
      <vt:lpstr>Facet</vt:lpstr>
      <vt:lpstr>Graphs</vt:lpstr>
      <vt:lpstr>Learning Outcomes</vt:lpstr>
      <vt:lpstr>PowerPoint Presentation</vt:lpstr>
      <vt:lpstr>PowerPoint Presentation</vt:lpstr>
      <vt:lpstr>Examples For each of these eight graphs answer the following three questions:  (a) What is the main message that the graph is trying to tell you?  (b) What is bad or misleading about the graph?  (c) How could you improve 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Graphs</dc:title>
  <dc:creator>Sarah James</dc:creator>
  <cp:lastModifiedBy>Sarah James</cp:lastModifiedBy>
  <cp:revision>7</cp:revision>
  <dcterms:created xsi:type="dcterms:W3CDTF">2018-05-11T12:23:09Z</dcterms:created>
  <dcterms:modified xsi:type="dcterms:W3CDTF">2018-05-11T14:01:08Z</dcterms:modified>
</cp:coreProperties>
</file>
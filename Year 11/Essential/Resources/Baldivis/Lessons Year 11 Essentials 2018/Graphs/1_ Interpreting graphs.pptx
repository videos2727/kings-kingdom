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67" r:id="rId3"/>
    <p:sldId id="257" r:id="rId4"/>
    <p:sldId id="260" r:id="rId5"/>
    <p:sldId id="268"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1722" autoAdjust="0"/>
  </p:normalViewPr>
  <p:slideViewPr>
    <p:cSldViewPr snapToGrid="0">
      <p:cViewPr varScale="1">
        <p:scale>
          <a:sx n="42" d="100"/>
          <a:sy n="42" d="100"/>
        </p:scale>
        <p:origin x="160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James" userId="e5e3e68366f0feb3" providerId="LiveId" clId="{870750D3-F32F-455B-A17E-4CE543F9CB18}"/>
    <pc:docChg chg="undo custSel addSld delSld modSld">
      <pc:chgData name="Sarah James" userId="e5e3e68366f0feb3" providerId="LiveId" clId="{870750D3-F32F-455B-A17E-4CE543F9CB18}" dt="2018-05-14T06:44:46.848" v="150" actId="20577"/>
      <pc:docMkLst>
        <pc:docMk/>
      </pc:docMkLst>
      <pc:sldChg chg="modSp">
        <pc:chgData name="Sarah James" userId="e5e3e68366f0feb3" providerId="LiveId" clId="{870750D3-F32F-455B-A17E-4CE543F9CB18}" dt="2018-05-11T11:53:01.417" v="0" actId="20577"/>
        <pc:sldMkLst>
          <pc:docMk/>
          <pc:sldMk cId="2290527507" sldId="256"/>
        </pc:sldMkLst>
        <pc:spChg chg="mod">
          <ac:chgData name="Sarah James" userId="e5e3e68366f0feb3" providerId="LiveId" clId="{870750D3-F32F-455B-A17E-4CE543F9CB18}" dt="2018-05-11T11:53:01.417" v="0" actId="20577"/>
          <ac:spMkLst>
            <pc:docMk/>
            <pc:sldMk cId="2290527507" sldId="256"/>
            <ac:spMk id="3" creationId="{C5307C92-8CF7-47A0-AAC8-D1A902130B8C}"/>
          </ac:spMkLst>
        </pc:spChg>
      </pc:sldChg>
      <pc:sldChg chg="modSp">
        <pc:chgData name="Sarah James" userId="e5e3e68366f0feb3" providerId="LiveId" clId="{870750D3-F32F-455B-A17E-4CE543F9CB18}" dt="2018-05-11T11:54:55.179" v="1" actId="20577"/>
        <pc:sldMkLst>
          <pc:docMk/>
          <pc:sldMk cId="1104828575" sldId="260"/>
        </pc:sldMkLst>
        <pc:spChg chg="mod">
          <ac:chgData name="Sarah James" userId="e5e3e68366f0feb3" providerId="LiveId" clId="{870750D3-F32F-455B-A17E-4CE543F9CB18}" dt="2018-05-11T11:54:55.179" v="1" actId="20577"/>
          <ac:spMkLst>
            <pc:docMk/>
            <pc:sldMk cId="1104828575" sldId="260"/>
            <ac:spMk id="12" creationId="{00000000-0000-0000-0000-000000000000}"/>
          </ac:spMkLst>
        </pc:spChg>
      </pc:sldChg>
      <pc:sldChg chg="addSp delSp modSp add modNotesTx">
        <pc:chgData name="Sarah James" userId="e5e3e68366f0feb3" providerId="LiveId" clId="{870750D3-F32F-455B-A17E-4CE543F9CB18}" dt="2018-05-14T06:44:46.848" v="150" actId="20577"/>
        <pc:sldMkLst>
          <pc:docMk/>
          <pc:sldMk cId="1631952206" sldId="268"/>
        </pc:sldMkLst>
        <pc:spChg chg="add del mod">
          <ac:chgData name="Sarah James" userId="e5e3e68366f0feb3" providerId="LiveId" clId="{870750D3-F32F-455B-A17E-4CE543F9CB18}" dt="2018-05-14T06:39:12.552" v="68" actId="478"/>
          <ac:spMkLst>
            <pc:docMk/>
            <pc:sldMk cId="1631952206" sldId="268"/>
            <ac:spMk id="2" creationId="{AA5D058C-1315-4999-A447-E356E69B9B6D}"/>
          </ac:spMkLst>
        </pc:spChg>
        <pc:spChg chg="mod">
          <ac:chgData name="Sarah James" userId="e5e3e68366f0feb3" providerId="LiveId" clId="{870750D3-F32F-455B-A17E-4CE543F9CB18}" dt="2018-05-14T06:44:46.848" v="150" actId="20577"/>
          <ac:spMkLst>
            <pc:docMk/>
            <pc:sldMk cId="1631952206" sldId="268"/>
            <ac:spMk id="8" creationId="{240EFD53-BC50-47CF-A97F-C5AE51003D74}"/>
          </ac:spMkLst>
        </pc:spChg>
      </pc:sldChg>
      <pc:sldChg chg="add del">
        <pc:chgData name="Sarah James" userId="e5e3e68366f0feb3" providerId="LiveId" clId="{870750D3-F32F-455B-A17E-4CE543F9CB18}" dt="2018-05-14T06:34:23.011" v="3" actId="2696"/>
        <pc:sldMkLst>
          <pc:docMk/>
          <pc:sldMk cId="3868142916"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8C3626-4069-4A82-BC72-54FB76C8FEB5}" type="datetimeFigureOut">
              <a:rPr lang="en-AU" smtClean="0"/>
              <a:t>14/05/2018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1BB6D-BEA0-4744-AA2A-4CBA5A69501E}" type="slidenum">
              <a:rPr lang="en-AU" smtClean="0"/>
              <a:t>‹#›</a:t>
            </a:fld>
            <a:endParaRPr lang="en-AU"/>
          </a:p>
        </p:txBody>
      </p:sp>
    </p:spTree>
    <p:extLst>
      <p:ext uri="{BB962C8B-B14F-4D97-AF65-F5344CB8AC3E}">
        <p14:creationId xmlns:p14="http://schemas.microsoft.com/office/powerpoint/2010/main" val="1394695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2</a:t>
            </a:fld>
            <a:endParaRPr lang="en-GB"/>
          </a:p>
        </p:txBody>
      </p:sp>
    </p:spTree>
    <p:extLst>
      <p:ext uri="{BB962C8B-B14F-4D97-AF65-F5344CB8AC3E}">
        <p14:creationId xmlns:p14="http://schemas.microsoft.com/office/powerpoint/2010/main" val="3345527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b="1" dirty="0"/>
              <a:t>Identify what the graph represents.</a:t>
            </a:r>
            <a:r>
              <a:rPr lang="en-US" dirty="0"/>
              <a:t> </a:t>
            </a:r>
          </a:p>
          <a:p>
            <a:r>
              <a:rPr lang="en-US" dirty="0"/>
              <a:t>Most graphs will have a clearly labeled x-element, spaced along the graph's horizontal axis, and a clearly labeled y-element, spaced along the graph's vertical axis.</a:t>
            </a:r>
          </a:p>
          <a:p>
            <a:r>
              <a:rPr lang="en-US" dirty="0"/>
              <a:t>The graph's title should also tell you exactly what it's about.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 Check the scale for each graph element.</a:t>
            </a:r>
            <a:r>
              <a:rPr lang="en-US" dirty="0"/>
              <a:t> This applies to both line graphs and bar </a:t>
            </a:r>
            <a:r>
              <a:rPr lang="en-US" dirty="0" err="1"/>
              <a:t>graphs.For</a:t>
            </a:r>
            <a:r>
              <a:rPr lang="en-US" dirty="0"/>
              <a:t> example, if you're looking at a graph that shows how many salmon returned to a given stream over the period of a few months last year, each increment along the graph's y-axis might represent hundreds, thousands or tens of thousands of salmon returning; you won't know which scale numbers apply until you check the graph.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a:t>3. Locate the graph element you want information on. </a:t>
            </a:r>
            <a:r>
              <a:rPr lang="en-US" dirty="0"/>
              <a:t>For example, you might want to know how many salmon returned to the stream in question in August of last year. So you'd read across the graph's horizontal axis until you find "August."</a:t>
            </a:r>
          </a:p>
          <a:p>
            <a:r>
              <a:rPr lang="en-US" dirty="0"/>
              <a:t>Time elements, such as days, weeks, months or years, are almost always listed along the horizontal ("x") axis. Quantity measurements are almost always listed along the vertical ("y") axis.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AU" dirty="0"/>
          </a:p>
        </p:txBody>
      </p:sp>
      <p:sp>
        <p:nvSpPr>
          <p:cNvPr id="4" name="Slide Number Placeholder 3"/>
          <p:cNvSpPr>
            <a:spLocks noGrp="1"/>
          </p:cNvSpPr>
          <p:nvPr>
            <p:ph type="sldNum" sz="quarter" idx="10"/>
          </p:nvPr>
        </p:nvSpPr>
        <p:spPr/>
        <p:txBody>
          <a:bodyPr/>
          <a:lstStyle/>
          <a:p>
            <a:fld id="{C1D1BB6D-BEA0-4744-AA2A-4CBA5A69501E}" type="slidenum">
              <a:rPr lang="en-AU" smtClean="0"/>
              <a:t>5</a:t>
            </a:fld>
            <a:endParaRPr lang="en-AU"/>
          </a:p>
        </p:txBody>
      </p:sp>
    </p:spTree>
    <p:extLst>
      <p:ext uri="{BB962C8B-B14F-4D97-AF65-F5344CB8AC3E}">
        <p14:creationId xmlns:p14="http://schemas.microsoft.com/office/powerpoint/2010/main" val="1868938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1514293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3483891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4121979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4B6414-CF70-4A72-A408-434A44BB71AE}" type="datetimeFigureOut">
              <a:rPr lang="en-AU" smtClean="0"/>
              <a:t>14/05/2018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2816614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4B6414-CF70-4A72-A408-434A44BB71AE}" type="datetimeFigureOut">
              <a:rPr lang="en-AU" smtClean="0"/>
              <a:t>14/05/2018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706669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4B6414-CF70-4A72-A408-434A44BB71AE}" type="datetimeFigureOut">
              <a:rPr lang="en-AU" smtClean="0"/>
              <a:t>14/05/2018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3824694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4B6414-CF70-4A72-A408-434A44BB71AE}" type="datetimeFigureOut">
              <a:rPr lang="en-AU" smtClean="0"/>
              <a:t>14/05/2018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385906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84B6414-CF70-4A72-A408-434A44BB71AE}" type="datetimeFigureOut">
              <a:rPr lang="en-AU" smtClean="0"/>
              <a:t>14/05/2018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507538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84B6414-CF70-4A72-A408-434A44BB71AE}" type="datetimeFigureOut">
              <a:rPr lang="en-AU" smtClean="0"/>
              <a:t>14/05/2018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24856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1114802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3262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2713334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0707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1958460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3396154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4B6414-CF70-4A72-A408-434A44BB71AE}" type="datetimeFigureOut">
              <a:rPr lang="en-AU" smtClean="0"/>
              <a:t>14/05/2018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7A34F2C-7E80-4F50-B9B9-F0DAFE79CA42}" type="slidenum">
              <a:rPr lang="en-AU" smtClean="0"/>
              <a:t>‹#›</a:t>
            </a:fld>
            <a:endParaRPr lang="en-AU"/>
          </a:p>
        </p:txBody>
      </p:sp>
    </p:spTree>
    <p:extLst>
      <p:ext uri="{BB962C8B-B14F-4D97-AF65-F5344CB8AC3E}">
        <p14:creationId xmlns:p14="http://schemas.microsoft.com/office/powerpoint/2010/main" val="73057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4B6414-CF70-4A72-A408-434A44BB71AE}" type="datetimeFigureOut">
              <a:rPr lang="en-AU" smtClean="0"/>
              <a:t>14/05/2018</a:t>
            </a:fld>
            <a:endParaRPr lang="en-A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7A34F2C-7E80-4F50-B9B9-F0DAFE79CA42}" type="slidenum">
              <a:rPr lang="en-AU" smtClean="0"/>
              <a:t>‹#›</a:t>
            </a:fld>
            <a:endParaRPr lang="en-AU"/>
          </a:p>
        </p:txBody>
      </p:sp>
    </p:spTree>
    <p:extLst>
      <p:ext uri="{BB962C8B-B14F-4D97-AF65-F5344CB8AC3E}">
        <p14:creationId xmlns:p14="http://schemas.microsoft.com/office/powerpoint/2010/main" val="38829219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6009-BBC8-4473-9B83-9B5587D459F7}"/>
              </a:ext>
            </a:extLst>
          </p:cNvPr>
          <p:cNvSpPr>
            <a:spLocks noGrp="1"/>
          </p:cNvSpPr>
          <p:nvPr>
            <p:ph type="ctrTitle"/>
          </p:nvPr>
        </p:nvSpPr>
        <p:spPr/>
        <p:txBody>
          <a:bodyPr/>
          <a:lstStyle/>
          <a:p>
            <a:r>
              <a:rPr lang="en-US" dirty="0"/>
              <a:t>Graphs</a:t>
            </a:r>
            <a:endParaRPr lang="en-AU" dirty="0"/>
          </a:p>
        </p:txBody>
      </p:sp>
      <p:sp>
        <p:nvSpPr>
          <p:cNvPr id="3" name="Subtitle 2">
            <a:extLst>
              <a:ext uri="{FF2B5EF4-FFF2-40B4-BE49-F238E27FC236}">
                <a16:creationId xmlns:a16="http://schemas.microsoft.com/office/drawing/2014/main" id="{C5307C92-8CF7-47A0-AAC8-D1A902130B8C}"/>
              </a:ext>
            </a:extLst>
          </p:cNvPr>
          <p:cNvSpPr>
            <a:spLocks noGrp="1"/>
          </p:cNvSpPr>
          <p:nvPr>
            <p:ph type="subTitle" idx="1"/>
          </p:nvPr>
        </p:nvSpPr>
        <p:spPr/>
        <p:txBody>
          <a:bodyPr/>
          <a:lstStyle/>
          <a:p>
            <a:r>
              <a:rPr lang="en-US" dirty="0"/>
              <a:t>EQ: How do I interpret information presented </a:t>
            </a:r>
            <a:r>
              <a:rPr lang="en-US"/>
              <a:t>in graphs?</a:t>
            </a:r>
            <a:endParaRPr lang="en-AU" dirty="0"/>
          </a:p>
        </p:txBody>
      </p:sp>
    </p:spTree>
    <p:extLst>
      <p:ext uri="{BB962C8B-B14F-4D97-AF65-F5344CB8AC3E}">
        <p14:creationId xmlns:p14="http://schemas.microsoft.com/office/powerpoint/2010/main" val="229052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06D-1B0F-4A8E-9995-B02B2CB3CA2D}"/>
              </a:ext>
            </a:extLst>
          </p:cNvPr>
          <p:cNvSpPr>
            <a:spLocks noGrp="1"/>
          </p:cNvSpPr>
          <p:nvPr>
            <p:ph type="title"/>
          </p:nvPr>
        </p:nvSpPr>
        <p:spPr/>
        <p:txBody>
          <a:bodyPr>
            <a:normAutofit/>
          </a:bodyPr>
          <a:lstStyle/>
          <a:p>
            <a:r>
              <a:rPr lang="en-AU" sz="5400" b="1" dirty="0">
                <a:solidFill>
                  <a:schemeClr val="accent2">
                    <a:lumMod val="75000"/>
                  </a:schemeClr>
                </a:solidFill>
                <a:latin typeface="Kiwi School Handwriting"/>
              </a:rPr>
              <a:t>Learning Outcomes</a:t>
            </a:r>
            <a:endParaRPr lang="en-GB" sz="5400" b="1" dirty="0">
              <a:solidFill>
                <a:schemeClr val="accent2">
                  <a:lumMod val="75000"/>
                </a:schemeClr>
              </a:solidFill>
              <a:latin typeface="Kiwi School Handwriting"/>
            </a:endParaRPr>
          </a:p>
        </p:txBody>
      </p:sp>
      <p:sp>
        <p:nvSpPr>
          <p:cNvPr id="3" name="Content Placeholder 2">
            <a:extLst>
              <a:ext uri="{FF2B5EF4-FFF2-40B4-BE49-F238E27FC236}">
                <a16:creationId xmlns:a16="http://schemas.microsoft.com/office/drawing/2014/main" id="{7E691107-7794-4BDC-A667-DF76D18C9352}"/>
              </a:ext>
            </a:extLst>
          </p:cNvPr>
          <p:cNvSpPr>
            <a:spLocks noGrp="1"/>
          </p:cNvSpPr>
          <p:nvPr>
            <p:ph idx="1"/>
          </p:nvPr>
        </p:nvSpPr>
        <p:spPr>
          <a:xfrm>
            <a:off x="376237" y="2057401"/>
            <a:ext cx="11129963" cy="4434840"/>
          </a:xfrm>
        </p:spPr>
        <p:txBody>
          <a:bodyPr>
            <a:normAutofit/>
          </a:bodyPr>
          <a:lstStyle/>
          <a:p>
            <a:pPr marL="457200" lvl="1" indent="0">
              <a:buNone/>
            </a:pPr>
            <a:r>
              <a:rPr lang="en-AU" sz="2800" b="1" dirty="0"/>
              <a:t>Dot Points</a:t>
            </a:r>
            <a:endParaRPr lang="en-AU" sz="2800" dirty="0"/>
          </a:p>
          <a:p>
            <a:pPr lvl="2"/>
            <a:r>
              <a:rPr lang="en-AU" sz="2400" dirty="0"/>
              <a:t>1.4.1 interpret information presented in graphs, such as: conversion graphs, line graphs, step graphs, column graphs and picture graphs</a:t>
            </a:r>
          </a:p>
          <a:p>
            <a:pPr marL="457200" lvl="1" indent="0">
              <a:buNone/>
            </a:pPr>
            <a:endParaRPr lang="en-AU" sz="2800" b="1" dirty="0">
              <a:solidFill>
                <a:schemeClr val="accent1">
                  <a:lumMod val="75000"/>
                </a:schemeClr>
              </a:solidFill>
            </a:endParaRPr>
          </a:p>
          <a:p>
            <a:pPr marL="457200" lvl="1" indent="0">
              <a:buNone/>
            </a:pPr>
            <a:r>
              <a:rPr lang="en-AU" sz="2800" b="1" dirty="0"/>
              <a:t>Contexts</a:t>
            </a:r>
          </a:p>
          <a:p>
            <a:pPr lvl="1">
              <a:buFontTx/>
              <a:buChar char="-"/>
            </a:pPr>
            <a:r>
              <a:rPr lang="en-AU" sz="2800" dirty="0"/>
              <a:t>Understand the data that is presented in graphs in a range of situations</a:t>
            </a:r>
            <a:endParaRPr lang="en-GB" sz="2800" dirty="0"/>
          </a:p>
        </p:txBody>
      </p:sp>
    </p:spTree>
    <p:extLst>
      <p:ext uri="{BB962C8B-B14F-4D97-AF65-F5344CB8AC3E}">
        <p14:creationId xmlns:p14="http://schemas.microsoft.com/office/powerpoint/2010/main" val="18188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868454-E1E8-4C19-9851-04366F9BF82E}"/>
              </a:ext>
            </a:extLst>
          </p:cNvPr>
          <p:cNvPicPr>
            <a:picLocks noChangeAspect="1"/>
          </p:cNvPicPr>
          <p:nvPr/>
        </p:nvPicPr>
        <p:blipFill>
          <a:blip r:embed="rId2"/>
          <a:stretch>
            <a:fillRect/>
          </a:stretch>
        </p:blipFill>
        <p:spPr>
          <a:xfrm>
            <a:off x="2195512" y="2033587"/>
            <a:ext cx="7800975" cy="2790825"/>
          </a:xfrm>
          <a:prstGeom prst="rect">
            <a:avLst/>
          </a:prstGeom>
        </p:spPr>
      </p:pic>
      <p:sp>
        <p:nvSpPr>
          <p:cNvPr id="3" name="TextBox 2">
            <a:extLst>
              <a:ext uri="{FF2B5EF4-FFF2-40B4-BE49-F238E27FC236}">
                <a16:creationId xmlns:a16="http://schemas.microsoft.com/office/drawing/2014/main" id="{39E8E934-6195-4451-906A-50E116066290}"/>
              </a:ext>
            </a:extLst>
          </p:cNvPr>
          <p:cNvSpPr txBox="1"/>
          <p:nvPr/>
        </p:nvSpPr>
        <p:spPr>
          <a:xfrm>
            <a:off x="2326640" y="1016000"/>
            <a:ext cx="4267200" cy="369332"/>
          </a:xfrm>
          <a:prstGeom prst="rect">
            <a:avLst/>
          </a:prstGeom>
          <a:noFill/>
        </p:spPr>
        <p:txBody>
          <a:bodyPr wrap="square" rtlCol="0">
            <a:spAutoFit/>
          </a:bodyPr>
          <a:lstStyle/>
          <a:p>
            <a:r>
              <a:rPr lang="en-US" dirty="0"/>
              <a:t>Opening Problem- Class Discussion</a:t>
            </a:r>
            <a:endParaRPr lang="en-AU" dirty="0"/>
          </a:p>
        </p:txBody>
      </p:sp>
    </p:spTree>
    <p:extLst>
      <p:ext uri="{BB962C8B-B14F-4D97-AF65-F5344CB8AC3E}">
        <p14:creationId xmlns:p14="http://schemas.microsoft.com/office/powerpoint/2010/main" val="4221281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55340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10507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24001" y="-19245"/>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flipH="1">
            <a:off x="3713228" y="1109730"/>
            <a:ext cx="18714" cy="574827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dirty="0">
                <a:latin typeface="Chalkboard"/>
                <a:cs typeface="Chalkboard"/>
              </a:rPr>
              <a:t>Date</a:t>
            </a:r>
          </a:p>
        </p:txBody>
      </p:sp>
      <p:sp>
        <p:nvSpPr>
          <p:cNvPr id="12" name="TextBox 11"/>
          <p:cNvSpPr txBox="1"/>
          <p:nvPr/>
        </p:nvSpPr>
        <p:spPr>
          <a:xfrm>
            <a:off x="1690174" y="598894"/>
            <a:ext cx="8640604" cy="461665"/>
          </a:xfrm>
          <a:prstGeom prst="rect">
            <a:avLst/>
          </a:prstGeom>
          <a:noFill/>
        </p:spPr>
        <p:txBody>
          <a:bodyPr wrap="square" rtlCol="0">
            <a:spAutoFit/>
          </a:bodyPr>
          <a:lstStyle/>
          <a:p>
            <a:r>
              <a:rPr lang="en-US" sz="2400" dirty="0">
                <a:latin typeface="Chalkboard"/>
              </a:rPr>
              <a:t>EQ: How do I interpret information presented in graphs?</a:t>
            </a:r>
            <a:endParaRPr lang="en-AU" sz="2400" dirty="0">
              <a:latin typeface="Chalkboard"/>
            </a:endParaRPr>
          </a:p>
        </p:txBody>
      </p:sp>
      <p:sp>
        <p:nvSpPr>
          <p:cNvPr id="13" name="TextBox 12"/>
          <p:cNvSpPr txBox="1"/>
          <p:nvPr/>
        </p:nvSpPr>
        <p:spPr>
          <a:xfrm>
            <a:off x="2073352" y="45023"/>
            <a:ext cx="1901803" cy="461665"/>
          </a:xfrm>
          <a:prstGeom prst="rect">
            <a:avLst/>
          </a:prstGeom>
          <a:noFill/>
        </p:spPr>
        <p:txBody>
          <a:bodyPr wrap="none" rtlCol="0">
            <a:spAutoFit/>
          </a:bodyPr>
          <a:lstStyle/>
          <a:p>
            <a:r>
              <a:rPr lang="en-AU" sz="2400" b="1" dirty="0">
                <a:latin typeface="Chalkboard"/>
                <a:cs typeface="Chalkboard"/>
              </a:rPr>
              <a:t>Topic: Graphs</a:t>
            </a:r>
            <a:endParaRPr lang="en-AU" sz="2400" dirty="0">
              <a:latin typeface="Chalkboard"/>
              <a:cs typeface="Chalkboard"/>
            </a:endParaRPr>
          </a:p>
        </p:txBody>
      </p:sp>
      <p:sp>
        <p:nvSpPr>
          <p:cNvPr id="8" name="TextBox 7">
            <a:extLst>
              <a:ext uri="{FF2B5EF4-FFF2-40B4-BE49-F238E27FC236}">
                <a16:creationId xmlns:a16="http://schemas.microsoft.com/office/drawing/2014/main" id="{240EFD53-BC50-47CF-A97F-C5AE51003D74}"/>
              </a:ext>
            </a:extLst>
          </p:cNvPr>
          <p:cNvSpPr txBox="1"/>
          <p:nvPr/>
        </p:nvSpPr>
        <p:spPr>
          <a:xfrm>
            <a:off x="3826851" y="1602069"/>
            <a:ext cx="6746240" cy="2308324"/>
          </a:xfrm>
          <a:prstGeom prst="rect">
            <a:avLst/>
          </a:prstGeom>
          <a:noFill/>
        </p:spPr>
        <p:txBody>
          <a:bodyPr wrap="square" rtlCol="0">
            <a:spAutoFit/>
          </a:bodyPr>
          <a:lstStyle/>
          <a:p>
            <a:r>
              <a:rPr lang="en-US" dirty="0"/>
              <a:t>Tables and graphs are used to efficiently present information in news articles, advertising, business, sports and many other situations</a:t>
            </a:r>
          </a:p>
          <a:p>
            <a:endParaRPr lang="en-US" dirty="0"/>
          </a:p>
          <a:p>
            <a:r>
              <a:rPr lang="en-US" dirty="0"/>
              <a:t>It is important that we are able to correctly interpret what these tables and graphs are telling us.</a:t>
            </a:r>
          </a:p>
          <a:p>
            <a:endParaRPr lang="en-US" dirty="0"/>
          </a:p>
          <a:p>
            <a:r>
              <a:rPr lang="en-US" dirty="0"/>
              <a:t>Think-Pair- Share : Define “interpret”</a:t>
            </a:r>
          </a:p>
        </p:txBody>
      </p:sp>
    </p:spTree>
    <p:extLst>
      <p:ext uri="{BB962C8B-B14F-4D97-AF65-F5344CB8AC3E}">
        <p14:creationId xmlns:p14="http://schemas.microsoft.com/office/powerpoint/2010/main" val="110482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55340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10507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24001" y="-19245"/>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flipH="1">
            <a:off x="3713228" y="1109730"/>
            <a:ext cx="18714" cy="574827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dirty="0">
                <a:latin typeface="Chalkboard"/>
                <a:cs typeface="Chalkboard"/>
              </a:rPr>
              <a:t>Date</a:t>
            </a:r>
          </a:p>
        </p:txBody>
      </p:sp>
      <p:sp>
        <p:nvSpPr>
          <p:cNvPr id="12" name="TextBox 11"/>
          <p:cNvSpPr txBox="1"/>
          <p:nvPr/>
        </p:nvSpPr>
        <p:spPr>
          <a:xfrm>
            <a:off x="1690174" y="598894"/>
            <a:ext cx="8640604" cy="461665"/>
          </a:xfrm>
          <a:prstGeom prst="rect">
            <a:avLst/>
          </a:prstGeom>
          <a:noFill/>
        </p:spPr>
        <p:txBody>
          <a:bodyPr wrap="square" rtlCol="0">
            <a:spAutoFit/>
          </a:bodyPr>
          <a:lstStyle/>
          <a:p>
            <a:r>
              <a:rPr lang="en-US" sz="2400" dirty="0">
                <a:latin typeface="Chalkboard"/>
              </a:rPr>
              <a:t>EQ: How do I interpret information presented in graphs?</a:t>
            </a:r>
            <a:endParaRPr lang="en-AU" sz="2400" dirty="0">
              <a:latin typeface="Chalkboard"/>
            </a:endParaRPr>
          </a:p>
        </p:txBody>
      </p:sp>
      <p:sp>
        <p:nvSpPr>
          <p:cNvPr id="13" name="TextBox 12"/>
          <p:cNvSpPr txBox="1"/>
          <p:nvPr/>
        </p:nvSpPr>
        <p:spPr>
          <a:xfrm>
            <a:off x="2073352" y="45023"/>
            <a:ext cx="1901803" cy="461665"/>
          </a:xfrm>
          <a:prstGeom prst="rect">
            <a:avLst/>
          </a:prstGeom>
          <a:noFill/>
        </p:spPr>
        <p:txBody>
          <a:bodyPr wrap="none" rtlCol="0">
            <a:spAutoFit/>
          </a:bodyPr>
          <a:lstStyle/>
          <a:p>
            <a:r>
              <a:rPr lang="en-AU" sz="2400" b="1" dirty="0">
                <a:latin typeface="Chalkboard"/>
                <a:cs typeface="Chalkboard"/>
              </a:rPr>
              <a:t>Topic: Graphs</a:t>
            </a:r>
            <a:endParaRPr lang="en-AU" sz="2400" dirty="0">
              <a:latin typeface="Chalkboard"/>
              <a:cs typeface="Chalkboard"/>
            </a:endParaRPr>
          </a:p>
        </p:txBody>
      </p:sp>
      <p:sp>
        <p:nvSpPr>
          <p:cNvPr id="8" name="TextBox 7">
            <a:extLst>
              <a:ext uri="{FF2B5EF4-FFF2-40B4-BE49-F238E27FC236}">
                <a16:creationId xmlns:a16="http://schemas.microsoft.com/office/drawing/2014/main" id="{240EFD53-BC50-47CF-A97F-C5AE51003D74}"/>
              </a:ext>
            </a:extLst>
          </p:cNvPr>
          <p:cNvSpPr txBox="1"/>
          <p:nvPr/>
        </p:nvSpPr>
        <p:spPr>
          <a:xfrm>
            <a:off x="3826851" y="1602069"/>
            <a:ext cx="6746240" cy="2585323"/>
          </a:xfrm>
          <a:prstGeom prst="rect">
            <a:avLst/>
          </a:prstGeom>
          <a:noFill/>
        </p:spPr>
        <p:txBody>
          <a:bodyPr wrap="square" rtlCol="0">
            <a:spAutoFit/>
          </a:bodyPr>
          <a:lstStyle/>
          <a:p>
            <a:r>
              <a:rPr lang="en-US" b="1" dirty="0"/>
              <a:t>Class discussion on how to read and interpret graphs:</a:t>
            </a:r>
          </a:p>
          <a:p>
            <a:br>
              <a:rPr lang="en-US" b="1" dirty="0"/>
            </a:br>
            <a:r>
              <a:rPr lang="en-US" b="1" dirty="0"/>
              <a:t>1. Identify what the graph represents</a:t>
            </a:r>
            <a:r>
              <a:rPr lang="en-US" dirty="0"/>
              <a:t>- title, x- and y- axes</a:t>
            </a:r>
          </a:p>
          <a:p>
            <a:endParaRPr lang="en-US" dirty="0"/>
          </a:p>
          <a:p>
            <a:r>
              <a:rPr lang="en-US" b="1" dirty="0"/>
              <a:t>2. Check the scale for each graph element.</a:t>
            </a:r>
            <a:r>
              <a:rPr lang="en-US" dirty="0"/>
              <a:t> </a:t>
            </a:r>
          </a:p>
          <a:p>
            <a:endParaRPr lang="en-US" dirty="0"/>
          </a:p>
          <a:p>
            <a:r>
              <a:rPr lang="en-US" b="1" dirty="0"/>
              <a:t>3. Locate the graph element you want information on. </a:t>
            </a:r>
          </a:p>
          <a:p>
            <a:endParaRPr lang="en-US" dirty="0"/>
          </a:p>
          <a:p>
            <a:endParaRPr lang="en-US" dirty="0"/>
          </a:p>
        </p:txBody>
      </p:sp>
    </p:spTree>
    <p:extLst>
      <p:ext uri="{BB962C8B-B14F-4D97-AF65-F5344CB8AC3E}">
        <p14:creationId xmlns:p14="http://schemas.microsoft.com/office/powerpoint/2010/main" val="163195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5B75F-40D9-469A-946D-658A905322BE}"/>
              </a:ext>
            </a:extLst>
          </p:cNvPr>
          <p:cNvSpPr txBox="1"/>
          <p:nvPr/>
        </p:nvSpPr>
        <p:spPr>
          <a:xfrm>
            <a:off x="1859280" y="1981200"/>
            <a:ext cx="6634480" cy="369332"/>
          </a:xfrm>
          <a:prstGeom prst="rect">
            <a:avLst/>
          </a:prstGeom>
          <a:noFill/>
        </p:spPr>
        <p:txBody>
          <a:bodyPr wrap="square" rtlCol="0">
            <a:spAutoFit/>
          </a:bodyPr>
          <a:lstStyle/>
          <a:p>
            <a:r>
              <a:rPr lang="en-US" dirty="0"/>
              <a:t>Complete Interpreting Graphs worksheet</a:t>
            </a:r>
            <a:endParaRPr lang="en-AU" dirty="0"/>
          </a:p>
        </p:txBody>
      </p:sp>
    </p:spTree>
    <p:extLst>
      <p:ext uri="{BB962C8B-B14F-4D97-AF65-F5344CB8AC3E}">
        <p14:creationId xmlns:p14="http://schemas.microsoft.com/office/powerpoint/2010/main" val="152009511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707</TotalTime>
  <Words>166</Words>
  <Application>Microsoft Office PowerPoint</Application>
  <PresentationFormat>Widescreen</PresentationFormat>
  <Paragraphs>44</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Chalkboard</vt:lpstr>
      <vt:lpstr>Kiwi School Handwriting</vt:lpstr>
      <vt:lpstr>Trebuchet MS</vt:lpstr>
      <vt:lpstr>Wingdings 3</vt:lpstr>
      <vt:lpstr>Facet</vt:lpstr>
      <vt:lpstr>Graphs</vt:lpstr>
      <vt:lpstr>Learning Outcomes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James</dc:creator>
  <cp:lastModifiedBy>Sarah James</cp:lastModifiedBy>
  <cp:revision>5</cp:revision>
  <dcterms:created xsi:type="dcterms:W3CDTF">2018-05-11T06:19:14Z</dcterms:created>
  <dcterms:modified xsi:type="dcterms:W3CDTF">2018-05-14T06:44:54Z</dcterms:modified>
</cp:coreProperties>
</file>
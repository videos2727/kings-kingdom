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Work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Workbook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Work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Favourite Car</a:t>
            </a:r>
            <a:r>
              <a:rPr lang="en-US" baseline="0"/>
              <a:t> Brand</a:t>
            </a:r>
          </a:p>
          <a:p>
            <a:pPr>
              <a:defRPr/>
            </a:pPr>
            <a:r>
              <a:rPr lang="en-US" baseline="0"/>
              <a:t>Boys v. Girls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Boys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>
              <a:bevelT w="0" h="0"/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Toyota</c:v>
                </c:pt>
                <c:pt idx="1">
                  <c:v>Ford</c:v>
                </c:pt>
                <c:pt idx="2">
                  <c:v>Subaru</c:v>
                </c:pt>
                <c:pt idx="3">
                  <c:v>Nissan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22.0</c:v>
                </c:pt>
                <c:pt idx="2">
                  <c:v>10.0</c:v>
                </c:pt>
                <c:pt idx="3">
                  <c:v>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Girls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7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>
              <a:bevelT w="0" h="0"/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Toyota</c:v>
                </c:pt>
                <c:pt idx="1">
                  <c:v>Ford</c:v>
                </c:pt>
                <c:pt idx="2">
                  <c:v>Subaru</c:v>
                </c:pt>
                <c:pt idx="3">
                  <c:v>Nissan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18.0</c:v>
                </c:pt>
                <c:pt idx="1">
                  <c:v>13.0</c:v>
                </c:pt>
                <c:pt idx="2">
                  <c:v>9.0</c:v>
                </c:pt>
                <c:pt idx="3">
                  <c:v>10.0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-2139293136"/>
        <c:axId val="-2139282304"/>
      </c:barChart>
      <c:catAx>
        <c:axId val="-2139293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9282304"/>
        <c:crosses val="autoZero"/>
        <c:auto val="1"/>
        <c:lblAlgn val="ctr"/>
        <c:lblOffset val="100"/>
        <c:noMultiLvlLbl val="0"/>
      </c:catAx>
      <c:valAx>
        <c:axId val="-2139282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9293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Income</a:t>
            </a:r>
            <a:r>
              <a:rPr lang="en-US" baseline="0"/>
              <a:t> Spending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Sheet1!$A$1:$A$4</c:f>
              <c:strCache>
                <c:ptCount val="4"/>
                <c:pt idx="0">
                  <c:v>Rent</c:v>
                </c:pt>
                <c:pt idx="1">
                  <c:v>Car running cost</c:v>
                </c:pt>
                <c:pt idx="2">
                  <c:v>Savings</c:v>
                </c:pt>
                <c:pt idx="3">
                  <c:v>Clothing</c:v>
                </c:pt>
              </c:strCache>
            </c:strRef>
          </c:cat>
          <c:val>
            <c:numRef>
              <c:f>Sheet1!$B$1:$B$4</c:f>
              <c:numCache>
                <c:formatCode>General</c:formatCode>
                <c:ptCount val="4"/>
                <c:pt idx="0">
                  <c:v>400.0</c:v>
                </c:pt>
                <c:pt idx="1">
                  <c:v>150.0</c:v>
                </c:pt>
                <c:pt idx="2">
                  <c:v>350.0</c:v>
                </c:pt>
                <c:pt idx="3">
                  <c:v>100.0</c:v>
                </c:pt>
              </c:numCache>
            </c:numRef>
          </c:val>
        </c:ser>
        <c:dLbls>
          <c:dLblPos val="bestFit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6065724746229"/>
          <c:y val="0.288837730925947"/>
          <c:w val="0.264906637642725"/>
          <c:h val="0.5675951485376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sng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u="sng"/>
              <a:t>Expenses</a:t>
            </a:r>
            <a:r>
              <a:rPr lang="en-US" u="sng" baseline="0"/>
              <a:t> Pie Chart</a:t>
            </a:r>
            <a:endParaRPr lang="en-US" u="sng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sng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6618383814614"/>
          <c:y val="0.0920830730766843"/>
          <c:w val="0.618204392069724"/>
          <c:h val="0.624717438658502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7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8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9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Pt>
            <c:idx val="10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>
                <a:bevelT w="0" h="0"/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Sheet1!$A$12:$A$22</c:f>
              <c:strCache>
                <c:ptCount val="11"/>
                <c:pt idx="0">
                  <c:v>TAX</c:v>
                </c:pt>
                <c:pt idx="1">
                  <c:v>HEALTH INSURANCE</c:v>
                </c:pt>
                <c:pt idx="2">
                  <c:v>GIFTS</c:v>
                </c:pt>
                <c:pt idx="3">
                  <c:v>TRANSPORT</c:v>
                </c:pt>
                <c:pt idx="4">
                  <c:v>FOOD</c:v>
                </c:pt>
                <c:pt idx="5">
                  <c:v>RENT</c:v>
                </c:pt>
                <c:pt idx="6">
                  <c:v>PETROL</c:v>
                </c:pt>
                <c:pt idx="7">
                  <c:v>HECS</c:v>
                </c:pt>
                <c:pt idx="8">
                  <c:v>CLOTHING</c:v>
                </c:pt>
                <c:pt idx="9">
                  <c:v>GENERAL NEEDS</c:v>
                </c:pt>
                <c:pt idx="10">
                  <c:v>CAR REPAYMENT</c:v>
                </c:pt>
              </c:strCache>
            </c:strRef>
          </c:cat>
          <c:val>
            <c:numRef>
              <c:f>Sheet1!$F$12:$F$22</c:f>
              <c:numCache>
                <c:formatCode>_("$"* #,##0.00_);_("$"* \(#,##0.00\);_("$"* "-"??_);_(@_)</c:formatCode>
                <c:ptCount val="11"/>
                <c:pt idx="0">
                  <c:v>2233.2</c:v>
                </c:pt>
                <c:pt idx="1">
                  <c:v>400.0</c:v>
                </c:pt>
                <c:pt idx="2">
                  <c:v>200.0</c:v>
                </c:pt>
                <c:pt idx="3">
                  <c:v>340.0</c:v>
                </c:pt>
                <c:pt idx="4">
                  <c:v>1550.0</c:v>
                </c:pt>
                <c:pt idx="5">
                  <c:v>1120.0</c:v>
                </c:pt>
                <c:pt idx="6">
                  <c:v>200.0</c:v>
                </c:pt>
                <c:pt idx="7">
                  <c:v>148.4</c:v>
                </c:pt>
                <c:pt idx="8">
                  <c:v>800.0</c:v>
                </c:pt>
                <c:pt idx="9">
                  <c:v>1400.0</c:v>
                </c:pt>
                <c:pt idx="10">
                  <c:v>1340.0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00706727324429936"/>
          <c:y val="0.766432532935257"/>
          <c:w val="0.9902504266725"/>
          <c:h val="0.2335674670647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5/25/18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Graphing Practise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Lesson 2, week 4.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5190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is Data:</a:t>
            </a:r>
          </a:p>
          <a:p>
            <a:pPr lvl="1"/>
            <a:r>
              <a:rPr lang="en-AU" dirty="0"/>
              <a:t>Information gathered about the real world</a:t>
            </a:r>
          </a:p>
          <a:p>
            <a:pPr lvl="1"/>
            <a:r>
              <a:rPr lang="en-AU" dirty="0"/>
              <a:t>Commonly referred to as statistics</a:t>
            </a:r>
          </a:p>
          <a:p>
            <a:pPr lvl="1"/>
            <a:r>
              <a:rPr lang="en-AU" dirty="0"/>
              <a:t>Helps to classify and quantify the world</a:t>
            </a:r>
            <a:r>
              <a:rPr lang="en-AU" dirty="0" smtClean="0"/>
              <a:t>.</a:t>
            </a:r>
          </a:p>
          <a:p>
            <a:pPr lvl="1"/>
            <a:r>
              <a:rPr lang="en-AU" dirty="0" smtClean="0"/>
              <a:t>Two types- categorical and numerical</a:t>
            </a:r>
            <a:endParaRPr lang="en-AU" dirty="0"/>
          </a:p>
          <a:p>
            <a:r>
              <a:rPr lang="en-AU" dirty="0"/>
              <a:t>What are graphs?</a:t>
            </a:r>
          </a:p>
          <a:p>
            <a:pPr lvl="1"/>
            <a:r>
              <a:rPr lang="en-AU" dirty="0"/>
              <a:t>Graphs are used </a:t>
            </a:r>
            <a:r>
              <a:rPr lang="en-AU" dirty="0" smtClean="0"/>
              <a:t>to display data in easy to read formats</a:t>
            </a:r>
          </a:p>
          <a:p>
            <a:pPr lvl="1"/>
            <a:r>
              <a:rPr lang="en-AU" dirty="0" smtClean="0"/>
              <a:t>Many different graph formats, including pie, pictograph, line, column/bar and 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2752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Constructing graphs- clustered column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5" y="-442255"/>
            <a:ext cx="6281873" cy="5248622"/>
          </a:xfrm>
        </p:spPr>
        <p:txBody>
          <a:bodyPr/>
          <a:lstStyle/>
          <a:p>
            <a:r>
              <a:rPr lang="en-AU" dirty="0" smtClean="0"/>
              <a:t>A clustered column graph is used to demonstrate two different groups of results to the same question. </a:t>
            </a:r>
          </a:p>
          <a:p>
            <a:r>
              <a:rPr lang="en-AU" dirty="0" smtClean="0"/>
              <a:t>Columns are constructed next to each other above the same category- this makes it easy to compare. </a:t>
            </a:r>
          </a:p>
          <a:p>
            <a:r>
              <a:rPr lang="en-AU" dirty="0" smtClean="0"/>
              <a:t>Lets practise making a graph; A recent survey of 50 boys and 50 girls was conducted to determine their favourite car manufacturer from the brand listed. The results are listed below.</a:t>
            </a:r>
          </a:p>
          <a:p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86941"/>
              </p:ext>
            </p:extLst>
          </p:nvPr>
        </p:nvGraphicFramePr>
        <p:xfrm>
          <a:off x="5247045" y="3696387"/>
          <a:ext cx="6024672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224"/>
                <a:gridCol w="2008224"/>
                <a:gridCol w="2008224"/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Car brand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Boys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Girls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Toyota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18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Ford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13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Subaru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9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Nissan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10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Total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040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 does it look?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6232" y="-442255"/>
            <a:ext cx="6281873" cy="5248622"/>
          </a:xfrm>
        </p:spPr>
        <p:txBody>
          <a:bodyPr/>
          <a:lstStyle/>
          <a:p>
            <a:r>
              <a:rPr lang="en-AU" dirty="0" smtClean="0"/>
              <a:t>Looking at the graph, what can we see?</a:t>
            </a:r>
          </a:p>
          <a:p>
            <a:r>
              <a:rPr lang="en-AU" dirty="0" smtClean="0"/>
              <a:t>Does our graph have all of the require features to be a good graph? </a:t>
            </a:r>
            <a:endParaRPr lang="en-AU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4522304"/>
              </p:ext>
            </p:extLst>
          </p:nvPr>
        </p:nvGraphicFramePr>
        <p:xfrm>
          <a:off x="4936231" y="2875966"/>
          <a:ext cx="6281873" cy="3728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50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Other comparison graphs- 3.14(pi)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Another type of graph that is useful for easily comparing data is a pie chart/ circle graph. </a:t>
                </a:r>
              </a:p>
              <a:p>
                <a:r>
                  <a:rPr lang="en-AU" dirty="0" smtClean="0"/>
                  <a:t>It is made of sectors, each relating to a % of the total amount of data. </a:t>
                </a:r>
              </a:p>
              <a:p>
                <a:r>
                  <a:rPr lang="en-AU" dirty="0" smtClean="0"/>
                  <a:t>Each sector size is determined by using the formula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sz="20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charset="0"/>
                          </a:rPr>
                          <m:t>𝑥</m:t>
                        </m:r>
                      </m:num>
                      <m:den>
                        <m:r>
                          <a:rPr lang="en-AU" sz="2000" b="0" i="1" smtClean="0">
                            <a:latin typeface="Cambria Math" charset="0"/>
                          </a:rPr>
                          <m:t>𝑡</m:t>
                        </m:r>
                      </m:den>
                    </m:f>
                    <m:r>
                      <a:rPr lang="en-AU" sz="2000" b="0" i="1" smtClean="0">
                        <a:latin typeface="Cambria Math" charset="0"/>
                      </a:rPr>
                      <m:t> </m:t>
                    </m:r>
                    <m:r>
                      <a:rPr lang="en-AU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 360</m:t>
                    </m:r>
                    <m:r>
                      <a:rPr lang="it-IT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en-AU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AU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𝑠𝑒𝑐𝑡𝑜𝑟</m:t>
                    </m:r>
                    <m:r>
                      <a:rPr lang="en-AU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sz="20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𝑠𝑖𝑧𝑒</m:t>
                    </m:r>
                  </m:oMath>
                </a14:m>
                <a:endParaRPr lang="en-AU" sz="2000" b="0" dirty="0" smtClean="0">
                  <a:ea typeface="Cambria Math" charset="0"/>
                  <a:cs typeface="Cambria Math" charset="0"/>
                </a:endParaRPr>
              </a:p>
              <a:p>
                <a:r>
                  <a:rPr lang="en-AU" dirty="0" smtClean="0"/>
                  <a:t>X= portion amount  and T= total amount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37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Pie charts in practise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69791" y="881743"/>
                <a:ext cx="6281873" cy="6858000"/>
              </a:xfrm>
            </p:spPr>
            <p:txBody>
              <a:bodyPr/>
              <a:lstStyle/>
              <a:p>
                <a:r>
                  <a:rPr lang="en-AU" dirty="0" smtClean="0"/>
                  <a:t>Pie charts are often used in budgeting/ finances. Using the table below, lets work out how many degrees each sector would be. </a:t>
                </a:r>
              </a:p>
              <a:p>
                <a:r>
                  <a:rPr lang="en-AU" dirty="0" smtClean="0"/>
                  <a:t>Fill in the sector size below</a:t>
                </a:r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𝑥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𝑡</m:t>
                        </m:r>
                      </m:den>
                    </m:f>
                    <m:r>
                      <a:rPr lang="en-AU" i="1">
                        <a:latin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× 360</m:t>
                    </m:r>
                    <m:r>
                      <a:rPr lang="it-IT" i="1">
                        <a:latin typeface="Cambria Math" charset="0"/>
                        <a:ea typeface="Cambria Math" charset="0"/>
                        <a:cs typeface="Cambria Math" charset="0"/>
                      </a:rPr>
                      <m:t>°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𝑠𝑒𝑐𝑡𝑜𝑟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AU" i="1">
                        <a:latin typeface="Cambria Math" charset="0"/>
                        <a:ea typeface="Cambria Math" charset="0"/>
                        <a:cs typeface="Cambria Math" charset="0"/>
                      </a:rPr>
                      <m:t>𝑠𝑖𝑧𝑒</m:t>
                    </m:r>
                  </m:oMath>
                </a14:m>
                <a:endParaRPr lang="en-AU" dirty="0">
                  <a:ea typeface="Cambria Math" charset="0"/>
                  <a:cs typeface="Cambria Math" charset="0"/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9791" y="881743"/>
                <a:ext cx="6281873" cy="6858000"/>
              </a:xfrm>
              <a:blipFill rotWithShape="0">
                <a:blip r:embed="rId2"/>
                <a:stretch>
                  <a:fillRect l="-8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836626"/>
              </p:ext>
            </p:extLst>
          </p:nvPr>
        </p:nvGraphicFramePr>
        <p:xfrm>
          <a:off x="4521237" y="3474956"/>
          <a:ext cx="683042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35"/>
                <a:gridCol w="2069246"/>
                <a:gridCol w="2069246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Spending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Amount ($) </a:t>
                      </a:r>
                      <a:r>
                        <a:rPr lang="en-AU" i="1" dirty="0" smtClean="0"/>
                        <a:t>[x]</a:t>
                      </a:r>
                      <a:endParaRPr lang="en-AU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Sector size (</a:t>
                      </a:r>
                      <a:r>
                        <a:rPr lang="en-AU" baseline="30000" dirty="0" smtClean="0"/>
                        <a:t>o</a:t>
                      </a:r>
                      <a:r>
                        <a:rPr lang="en-AU" dirty="0" smtClean="0"/>
                        <a:t>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Rent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400.00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Car running cost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150.00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Savings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350.00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Clothing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100.00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b="1" dirty="0" smtClean="0"/>
                        <a:t>Total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 smtClean="0"/>
                        <a:t>$1000.00 [t]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75055"/>
              </p:ext>
            </p:extLst>
          </p:nvPr>
        </p:nvGraphicFramePr>
        <p:xfrm>
          <a:off x="9187125" y="3474956"/>
          <a:ext cx="284340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340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Sector size (</a:t>
                      </a:r>
                      <a:r>
                        <a:rPr lang="en-AU" baseline="30000" dirty="0" smtClean="0"/>
                        <a:t>o</a:t>
                      </a:r>
                      <a:r>
                        <a:rPr lang="en-AU" dirty="0" smtClean="0"/>
                        <a:t>)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400/1000x360 = </a:t>
                      </a:r>
                      <a:r>
                        <a:rPr lang="en-AU" b="1" dirty="0" smtClean="0"/>
                        <a:t>144</a:t>
                      </a:r>
                      <a:r>
                        <a:rPr lang="en-AU" b="1" baseline="30000" dirty="0" smtClean="0"/>
                        <a:t>o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150/1000x360 = </a:t>
                      </a:r>
                      <a:r>
                        <a:rPr lang="en-AU" b="1" dirty="0" smtClean="0"/>
                        <a:t>54</a:t>
                      </a:r>
                      <a:r>
                        <a:rPr lang="en-AU" b="1" baseline="30000" dirty="0" smtClean="0"/>
                        <a:t>o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350/1000x360 = </a:t>
                      </a:r>
                      <a:r>
                        <a:rPr lang="en-AU" b="1" dirty="0" smtClean="0"/>
                        <a:t>126</a:t>
                      </a:r>
                      <a:r>
                        <a:rPr lang="en-AU" b="1" baseline="30000" dirty="0" smtClean="0"/>
                        <a:t>o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100/1000x360 = </a:t>
                      </a:r>
                      <a:r>
                        <a:rPr lang="en-AU" b="1" dirty="0" smtClean="0"/>
                        <a:t>36</a:t>
                      </a:r>
                      <a:r>
                        <a:rPr lang="en-AU" b="1" baseline="30000" dirty="0" smtClean="0"/>
                        <a:t>o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144+54+126+36 = </a:t>
                      </a:r>
                      <a:r>
                        <a:rPr lang="en-AU" b="1" dirty="0" smtClean="0"/>
                        <a:t>360</a:t>
                      </a:r>
                      <a:r>
                        <a:rPr lang="en-AU" b="1" baseline="30000" dirty="0" smtClean="0"/>
                        <a:t>o</a:t>
                      </a:r>
                      <a:endParaRPr lang="en-AU" b="1" baseline="30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5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Pie Chart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-123740"/>
            <a:ext cx="6281873" cy="5248622"/>
          </a:xfrm>
        </p:spPr>
        <p:txBody>
          <a:bodyPr/>
          <a:lstStyle/>
          <a:p>
            <a:r>
              <a:rPr lang="en-AU" dirty="0" smtClean="0"/>
              <a:t>Putting it together:</a:t>
            </a:r>
          </a:p>
          <a:p>
            <a:r>
              <a:rPr lang="en-AU" dirty="0" smtClean="0"/>
              <a:t>Making a pie chart, we use the sector size and divide a circle into the degree amounts.</a:t>
            </a:r>
          </a:p>
          <a:p>
            <a:r>
              <a:rPr lang="en-AU" dirty="0" smtClean="0"/>
              <a:t> </a:t>
            </a:r>
            <a:r>
              <a:rPr lang="en-AU" i="1" dirty="0" smtClean="0"/>
              <a:t>NOTE- if the degree amounts do not come out as whole numbers, be careful rounding, you may end up with too many or too few degrees. </a:t>
            </a:r>
          </a:p>
          <a:p>
            <a:endParaRPr lang="en-AU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553533"/>
              </p:ext>
            </p:extLst>
          </p:nvPr>
        </p:nvGraphicFramePr>
        <p:xfrm>
          <a:off x="5118447" y="3434766"/>
          <a:ext cx="5303208" cy="3128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481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Spread sheets and Pie charts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Spread sheets are used to track spending's and income across multiple months and years.</a:t>
            </a:r>
          </a:p>
          <a:p>
            <a:r>
              <a:rPr lang="en-AU" dirty="0" smtClean="0"/>
              <a:t>Pie charts, as mentioned previously, are used to show quickly portions of each sector. </a:t>
            </a:r>
          </a:p>
          <a:p>
            <a:r>
              <a:rPr lang="en-AU" dirty="0" smtClean="0"/>
              <a:t>Lets look at a spreadsheet </a:t>
            </a:r>
            <a:r>
              <a:rPr lang="en-AU" dirty="0" smtClean="0"/>
              <a:t>example </a:t>
            </a:r>
            <a:r>
              <a:rPr lang="en-AU" dirty="0" smtClean="0"/>
              <a:t>and see how it can be used </a:t>
            </a:r>
            <a:r>
              <a:rPr lang="en-AU" dirty="0" smtClean="0"/>
              <a:t>long-term. </a:t>
            </a:r>
          </a:p>
        </p:txBody>
      </p:sp>
    </p:spTree>
    <p:extLst>
      <p:ext uri="{BB962C8B-B14F-4D97-AF65-F5344CB8AC3E}">
        <p14:creationId xmlns:p14="http://schemas.microsoft.com/office/powerpoint/2010/main" val="1262922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40876" y="325676"/>
            <a:ext cx="438411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Georgia’s Budget is listed left. </a:t>
            </a:r>
          </a:p>
          <a:p>
            <a:r>
              <a:rPr lang="en-AU" sz="2000" dirty="0" smtClean="0"/>
              <a:t>Using the information presented;</a:t>
            </a:r>
          </a:p>
          <a:p>
            <a:pPr marL="285750" indent="-285750">
              <a:buFontTx/>
              <a:buChar char="-"/>
            </a:pPr>
            <a:r>
              <a:rPr lang="en-AU" sz="2000" dirty="0" smtClean="0"/>
              <a:t>Fill in the grey squares with the missing values</a:t>
            </a:r>
          </a:p>
          <a:p>
            <a:pPr marL="285750" indent="-285750">
              <a:buFontTx/>
              <a:buChar char="-"/>
            </a:pPr>
            <a:r>
              <a:rPr lang="en-AU" sz="2000" u="sng" dirty="0" smtClean="0"/>
              <a:t>Answer the following:</a:t>
            </a:r>
          </a:p>
          <a:p>
            <a:pPr marL="742950" lvl="1" indent="-285750">
              <a:buFontTx/>
              <a:buChar char="-"/>
            </a:pPr>
            <a:r>
              <a:rPr lang="en-AU" sz="2000" dirty="0" smtClean="0"/>
              <a:t>How much did her savings increase by? </a:t>
            </a:r>
          </a:p>
          <a:p>
            <a:pPr marL="742950" lvl="1" indent="-285750">
              <a:buFontTx/>
              <a:buChar char="-"/>
            </a:pPr>
            <a:r>
              <a:rPr lang="en-AU" sz="2000" dirty="0" smtClean="0"/>
              <a:t>What Percentage of her total income was spent? </a:t>
            </a:r>
          </a:p>
          <a:p>
            <a:pPr marL="742950" lvl="1" indent="-285750">
              <a:buFontTx/>
              <a:buChar char="-"/>
            </a:pPr>
            <a:r>
              <a:rPr lang="en-AU" sz="2000" dirty="0" smtClean="0"/>
              <a:t>Which month did she spend the largest proportion of her income? </a:t>
            </a:r>
          </a:p>
          <a:p>
            <a:pPr marL="742950" lvl="1" indent="-285750">
              <a:buFontTx/>
              <a:buChar char="-"/>
            </a:pPr>
            <a:r>
              <a:rPr lang="en-AU" sz="2000" dirty="0" smtClean="0"/>
              <a:t>Which month had the lowest percentage of spending? </a:t>
            </a:r>
          </a:p>
          <a:p>
            <a:pPr marL="742950" lvl="1" indent="-285750">
              <a:buFontTx/>
              <a:buChar char="-"/>
            </a:pPr>
            <a:endParaRPr lang="en-AU" sz="2000" dirty="0"/>
          </a:p>
          <a:p>
            <a:pPr marL="285750" indent="-285750">
              <a:buFontTx/>
              <a:buChar char="-"/>
            </a:pPr>
            <a:r>
              <a:rPr lang="en-AU" sz="2000" dirty="0" smtClean="0"/>
              <a:t>Using this information, construct a pie chart for the month of May. </a:t>
            </a:r>
          </a:p>
          <a:p>
            <a:pPr marL="742950" lvl="1" indent="-285750">
              <a:buFontTx/>
              <a:buChar char="-"/>
            </a:pPr>
            <a:endParaRPr lang="en-AU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173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76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1874"/>
            <a:ext cx="6138138" cy="5842000"/>
          </a:xfrm>
        </p:spPr>
      </p:pic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623017"/>
              </p:ext>
            </p:extLst>
          </p:nvPr>
        </p:nvGraphicFramePr>
        <p:xfrm>
          <a:off x="6217277" y="0"/>
          <a:ext cx="5974723" cy="5912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785" y="217965"/>
            <a:ext cx="6000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Below is the spreadsheet filled in, and an example of the pie chart.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0170525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239</TotalTime>
  <Words>534</Words>
  <Application>Microsoft Macintosh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 Light</vt:lpstr>
      <vt:lpstr>Cambria Math</vt:lpstr>
      <vt:lpstr>Rockwell</vt:lpstr>
      <vt:lpstr>Wingdings</vt:lpstr>
      <vt:lpstr>Atlas</vt:lpstr>
      <vt:lpstr>Graphing Practise </vt:lpstr>
      <vt:lpstr>Quick review</vt:lpstr>
      <vt:lpstr>Constructing graphs- clustered column</vt:lpstr>
      <vt:lpstr>How does it look?</vt:lpstr>
      <vt:lpstr>Other comparison graphs- 3.14(pi)</vt:lpstr>
      <vt:lpstr>Pie charts in practise</vt:lpstr>
      <vt:lpstr>Pie Chart</vt:lpstr>
      <vt:lpstr>Spread sheets and Pie charts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Graphing Practise </dc:title>
  <dc:creator>POWER Travis [Baldivis Secondary College]</dc:creator>
  <cp:lastModifiedBy>POWER Travis [Baldivis Secondary College]</cp:lastModifiedBy>
  <cp:revision>14</cp:revision>
  <dcterms:created xsi:type="dcterms:W3CDTF">2018-05-24T11:53:12Z</dcterms:created>
  <dcterms:modified xsi:type="dcterms:W3CDTF">2018-05-25T06:30:39Z</dcterms:modified>
</cp:coreProperties>
</file>
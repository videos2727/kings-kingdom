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62" r:id="rId3"/>
    <p:sldId id="263" r:id="rId4"/>
    <p:sldId id="264" r:id="rId5"/>
    <p:sldId id="257" r:id="rId6"/>
    <p:sldId id="258" r:id="rId7"/>
    <p:sldId id="259" r:id="rId8"/>
    <p:sldId id="260" r:id="rId9"/>
    <p:sldId id="261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/>
    <p:restoredTop sz="91401"/>
  </p:normalViewPr>
  <p:slideViewPr>
    <p:cSldViewPr snapToGrid="0" snapToObjects="1">
      <p:cViewPr varScale="1">
        <p:scale>
          <a:sx n="98" d="100"/>
          <a:sy n="98" d="100"/>
        </p:scale>
        <p:origin x="4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charts/_rels/chart1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Workbook5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Boiling</a:t>
            </a:r>
            <a:r>
              <a:rPr lang="en-US" baseline="0"/>
              <a:t> Point of Water - Salt vs Distilled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salt water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5880" dist="15240" dir="5400000" algn="ctr" rotWithShape="0">
                <a:srgbClr val="000000">
                  <a:alpha val="45000"/>
                </a:srgbClr>
              </a:outerShdw>
            </a:effectLst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3.0</c:v>
                </c:pt>
                <c:pt idx="1">
                  <c:v>6.0</c:v>
                </c:pt>
                <c:pt idx="2">
                  <c:v>9.0</c:v>
                </c:pt>
                <c:pt idx="3">
                  <c:v>12.0</c:v>
                </c:pt>
                <c:pt idx="4">
                  <c:v>15.0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102.0</c:v>
                </c:pt>
                <c:pt idx="1">
                  <c:v>89.0</c:v>
                </c:pt>
                <c:pt idx="2">
                  <c:v>64.0</c:v>
                </c:pt>
                <c:pt idx="3">
                  <c:v>39.0</c:v>
                </c:pt>
                <c:pt idx="4">
                  <c:v>29.0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distilled water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5880" dist="15240" dir="5400000" algn="ctr" rotWithShape="0">
                <a:srgbClr val="000000">
                  <a:alpha val="45000"/>
                </a:srgbClr>
              </a:outerShdw>
            </a:effectLst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3.0</c:v>
                </c:pt>
                <c:pt idx="1">
                  <c:v>6.0</c:v>
                </c:pt>
                <c:pt idx="2">
                  <c:v>9.0</c:v>
                </c:pt>
                <c:pt idx="3">
                  <c:v>12.0</c:v>
                </c:pt>
                <c:pt idx="4">
                  <c:v>15.0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94.0</c:v>
                </c:pt>
                <c:pt idx="1">
                  <c:v>84.0</c:v>
                </c:pt>
                <c:pt idx="2">
                  <c:v>64.0</c:v>
                </c:pt>
                <c:pt idx="3">
                  <c:v>34.0</c:v>
                </c:pt>
                <c:pt idx="4">
                  <c:v>24.0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2122217872"/>
        <c:axId val="-2122255392"/>
      </c:lineChart>
      <c:catAx>
        <c:axId val="-21222178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/>
                  <a:t>Minutes</a:t>
                </a:r>
                <a:r>
                  <a:rPr lang="en-US" sz="1100" baseline="0"/>
                  <a:t> </a:t>
                </a:r>
                <a:endParaRPr lang="en-US" sz="11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22255392"/>
        <c:crosses val="autoZero"/>
        <c:auto val="1"/>
        <c:lblAlgn val="ctr"/>
        <c:lblOffset val="100"/>
        <c:noMultiLvlLbl val="0"/>
      </c:catAx>
      <c:valAx>
        <c:axId val="-2122255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/>
                  <a:t>Degrees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22217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Creating graphs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Year 11 Essentials 2018</a:t>
            </a:r>
          </a:p>
          <a:p>
            <a:r>
              <a:rPr lang="en-AU" dirty="0" smtClean="0"/>
              <a:t>Week4 lesson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8338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do we graph?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We create graphs to help us visually represent data</a:t>
            </a:r>
          </a:p>
          <a:p>
            <a:r>
              <a:rPr lang="en-AU" dirty="0" smtClean="0"/>
              <a:t>Data has two categories: NUMERICAL and CATEGORICAL</a:t>
            </a:r>
            <a:endParaRPr lang="en-AU" dirty="0"/>
          </a:p>
          <a:p>
            <a:r>
              <a:rPr lang="en-AU" dirty="0" smtClean="0"/>
              <a:t>Numerical data is numbers- statistics, temperatures, times, speeds </a:t>
            </a:r>
            <a:r>
              <a:rPr lang="en-AU" dirty="0" err="1" smtClean="0"/>
              <a:t>ect</a:t>
            </a:r>
            <a:r>
              <a:rPr lang="en-AU" dirty="0" smtClean="0"/>
              <a:t>.</a:t>
            </a:r>
          </a:p>
          <a:p>
            <a:r>
              <a:rPr lang="en-AU" dirty="0" smtClean="0"/>
              <a:t>Categorical data is category groups- colours, brands, flavours, states of matter </a:t>
            </a:r>
            <a:r>
              <a:rPr lang="en-AU" dirty="0" err="1" smtClean="0"/>
              <a:t>ect</a:t>
            </a:r>
            <a:r>
              <a:rPr lang="en-AU" dirty="0" smtClean="0"/>
              <a:t>. 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43172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Identifying data types:</a:t>
            </a:r>
            <a:br>
              <a:rPr lang="en-AU" dirty="0" smtClean="0"/>
            </a:br>
            <a:r>
              <a:rPr lang="en-AU" dirty="0" smtClean="0"/>
              <a:t>Categorical or Numerical?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 smtClean="0"/>
              <a:t>Have a go at identifying the type of data of the following data sets: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 smtClean="0"/>
              <a:t>HASS test results out of 20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 smtClean="0"/>
              <a:t>Hair colour of people in the class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 smtClean="0"/>
              <a:t>Favourite shoe brand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 smtClean="0"/>
              <a:t>Pineapple on a pizza?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 smtClean="0"/>
              <a:t>Kill death ratio on </a:t>
            </a:r>
            <a:r>
              <a:rPr lang="en-AU" dirty="0" err="1" smtClean="0"/>
              <a:t>Fortnite</a:t>
            </a: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ANSWERS:</a:t>
            </a:r>
          </a:p>
          <a:p>
            <a:pPr marL="0" indent="0">
              <a:buNone/>
            </a:pPr>
            <a:r>
              <a:rPr lang="en-AU" dirty="0" smtClean="0"/>
              <a:t>1: N, 2:C, 3:C, 4:C and yes, 5:N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155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Which and when?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Knowing about data, allows us to select the correct graph:</a:t>
            </a:r>
          </a:p>
          <a:p>
            <a:r>
              <a:rPr lang="en-AU" dirty="0" smtClean="0"/>
              <a:t>Copy this table to help you remember what graph is appropriate for which data type. </a:t>
            </a:r>
          </a:p>
          <a:p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198446"/>
              </p:ext>
            </p:extLst>
          </p:nvPr>
        </p:nvGraphicFramePr>
        <p:xfrm>
          <a:off x="2032000" y="3818195"/>
          <a:ext cx="8128000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Categorical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Numerical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Column/Bar</a:t>
                      </a:r>
                    </a:p>
                    <a:p>
                      <a:r>
                        <a:rPr lang="en-AU" dirty="0" smtClean="0"/>
                        <a:t>Pie</a:t>
                      </a: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Line</a:t>
                      </a:r>
                    </a:p>
                    <a:p>
                      <a:r>
                        <a:rPr lang="en-AU" dirty="0" smtClean="0"/>
                        <a:t>Pictograph</a:t>
                      </a:r>
                    </a:p>
                    <a:p>
                      <a:r>
                        <a:rPr lang="en-AU" dirty="0" smtClean="0"/>
                        <a:t>Conversion/Rates graph.</a:t>
                      </a:r>
                    </a:p>
                    <a:p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12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is a good graph?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There are </a:t>
            </a:r>
            <a:r>
              <a:rPr lang="en-AU" dirty="0" smtClean="0">
                <a:solidFill>
                  <a:srgbClr val="00B050"/>
                </a:solidFill>
              </a:rPr>
              <a:t>Good</a:t>
            </a:r>
            <a:r>
              <a:rPr lang="en-AU" dirty="0" smtClean="0"/>
              <a:t> and </a:t>
            </a:r>
            <a:r>
              <a:rPr lang="en-AU" dirty="0" smtClean="0">
                <a:solidFill>
                  <a:srgbClr val="FF0000"/>
                </a:solidFill>
              </a:rPr>
              <a:t>Bad</a:t>
            </a:r>
            <a:r>
              <a:rPr lang="en-AU" dirty="0" smtClean="0"/>
              <a:t> graphs</a:t>
            </a:r>
          </a:p>
          <a:p>
            <a:r>
              <a:rPr lang="en-AU" dirty="0" smtClean="0"/>
              <a:t>Good graphs have all of the following, while bad graphs are missing some of these;</a:t>
            </a:r>
          </a:p>
          <a:p>
            <a:pPr lvl="1"/>
            <a:r>
              <a:rPr lang="en-AU" dirty="0" smtClean="0"/>
              <a:t>Title</a:t>
            </a:r>
          </a:p>
          <a:p>
            <a:pPr lvl="1"/>
            <a:r>
              <a:rPr lang="en-AU" dirty="0" smtClean="0"/>
              <a:t>Labelled axes</a:t>
            </a:r>
          </a:p>
          <a:p>
            <a:pPr lvl="1"/>
            <a:r>
              <a:rPr lang="en-AU" dirty="0" smtClean="0"/>
              <a:t>Standard unitary amounts(1’s, 5’s,10s’ </a:t>
            </a:r>
            <a:r>
              <a:rPr lang="en-AU" dirty="0" err="1" smtClean="0"/>
              <a:t>ect</a:t>
            </a:r>
            <a:r>
              <a:rPr lang="en-AU" dirty="0" smtClean="0"/>
              <a:t>) that are appropriate for the application</a:t>
            </a:r>
          </a:p>
          <a:p>
            <a:pPr lvl="1"/>
            <a:r>
              <a:rPr lang="en-AU" dirty="0" smtClean="0"/>
              <a:t>A Key to show what different colours or sectors are.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491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makes a good graph?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5" y="2638044"/>
            <a:ext cx="2829379" cy="3101983"/>
          </a:xfrm>
        </p:spPr>
        <p:txBody>
          <a:bodyPr/>
          <a:lstStyle/>
          <a:p>
            <a:r>
              <a:rPr lang="en-AU" dirty="0" smtClean="0"/>
              <a:t>Is this a good graph? </a:t>
            </a:r>
          </a:p>
          <a:p>
            <a:r>
              <a:rPr lang="en-AU" dirty="0" smtClean="0"/>
              <a:t>Yes? No? Why is it a bad graph?</a:t>
            </a:r>
          </a:p>
          <a:p>
            <a:r>
              <a:rPr lang="en-AU" dirty="0" smtClean="0"/>
              <a:t>Discuss in your groups as to what makes this graph bad?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4366" y="2638044"/>
            <a:ext cx="4906633" cy="327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2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Making it better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556" y="2714625"/>
            <a:ext cx="4650488" cy="3101975"/>
          </a:xfrm>
        </p:spPr>
      </p:pic>
      <p:sp>
        <p:nvSpPr>
          <p:cNvPr id="5" name="TextBox 4"/>
          <p:cNvSpPr txBox="1"/>
          <p:nvPr/>
        </p:nvSpPr>
        <p:spPr>
          <a:xfrm>
            <a:off x="744583" y="2714625"/>
            <a:ext cx="51467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previous graph was poor, as it did not have;</a:t>
            </a:r>
          </a:p>
          <a:p>
            <a:pPr marL="285750" indent="-285750">
              <a:buFont typeface="Arial" charset="0"/>
              <a:buChar char="•"/>
            </a:pPr>
            <a:r>
              <a:rPr lang="en-AU" dirty="0" smtClean="0"/>
              <a:t>A Title</a:t>
            </a:r>
          </a:p>
          <a:p>
            <a:pPr marL="285750" indent="-285750">
              <a:buFont typeface="Arial" charset="0"/>
              <a:buChar char="•"/>
            </a:pPr>
            <a:r>
              <a:rPr lang="en-AU" dirty="0" smtClean="0"/>
              <a:t>A Scale</a:t>
            </a:r>
          </a:p>
          <a:p>
            <a:pPr marL="285750" indent="-285750">
              <a:buFont typeface="Arial" charset="0"/>
              <a:buChar char="•"/>
            </a:pPr>
            <a:r>
              <a:rPr lang="en-AU" dirty="0" smtClean="0"/>
              <a:t>Labelled Axes</a:t>
            </a:r>
          </a:p>
          <a:p>
            <a:pPr marL="285750" indent="-285750">
              <a:buFont typeface="Arial" charset="0"/>
              <a:buChar char="•"/>
            </a:pPr>
            <a:endParaRPr lang="en-AU" dirty="0"/>
          </a:p>
          <a:p>
            <a:pPr marL="285750" indent="-285750">
              <a:buFont typeface="Arial" charset="0"/>
              <a:buChar char="•"/>
            </a:pPr>
            <a:endParaRPr lang="en-AU" dirty="0" smtClean="0"/>
          </a:p>
          <a:p>
            <a:r>
              <a:rPr lang="en-AU" dirty="0" smtClean="0"/>
              <a:t>The previous graph was printed in the West Australian newspaper as it was before, and caused panic amongst people as the AUD was thought to be plummeting towards $0.00 instead of only $0.60.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06307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Other features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638044"/>
            <a:ext cx="3699401" cy="3733800"/>
          </a:xfrm>
        </p:spPr>
        <p:txBody>
          <a:bodyPr>
            <a:normAutofit lnSpcReduction="10000"/>
          </a:bodyPr>
          <a:lstStyle/>
          <a:p>
            <a:r>
              <a:rPr lang="en-AU" dirty="0" smtClean="0"/>
              <a:t>Keeping in a similar context, this graph shows a comparison of two similar data sets- what good features of the graph do you notice? </a:t>
            </a:r>
          </a:p>
          <a:p>
            <a:endParaRPr lang="en-AU" dirty="0"/>
          </a:p>
          <a:p>
            <a:r>
              <a:rPr lang="en-AU" dirty="0" smtClean="0"/>
              <a:t>Key?</a:t>
            </a:r>
          </a:p>
          <a:p>
            <a:r>
              <a:rPr lang="en-AU" dirty="0" smtClean="0"/>
              <a:t>Labelled Axes?</a:t>
            </a:r>
          </a:p>
          <a:p>
            <a:r>
              <a:rPr lang="en-AU" dirty="0" smtClean="0"/>
              <a:t>Title?</a:t>
            </a:r>
          </a:p>
          <a:p>
            <a:r>
              <a:rPr lang="en-AU" dirty="0" smtClean="0"/>
              <a:t>Standard units?</a:t>
            </a:r>
          </a:p>
          <a:p>
            <a:pPr marL="0" indent="0">
              <a:buNone/>
            </a:pPr>
            <a:r>
              <a:rPr lang="en-AU" dirty="0" smtClean="0"/>
              <a:t>✓ ✓ ✓ </a:t>
            </a:r>
            <a:r>
              <a:rPr lang="en-AU" dirty="0"/>
              <a:t>✓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38044"/>
            <a:ext cx="5597723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28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Recall: TED ED Graph Video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5" y="2638044"/>
            <a:ext cx="8291959" cy="3747766"/>
          </a:xfrm>
        </p:spPr>
        <p:txBody>
          <a:bodyPr>
            <a:normAutofit lnSpcReduction="10000"/>
          </a:bodyPr>
          <a:lstStyle/>
          <a:p>
            <a:r>
              <a:rPr lang="en-AU" dirty="0" smtClean="0"/>
              <a:t>Remembering what the TED ED Video said about graphs, determine the type of graph you would use  for the following data types: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AU" sz="1800" dirty="0" smtClean="0"/>
              <a:t>Peoples favourite ice cream flavours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AU" sz="1800" dirty="0" smtClean="0"/>
              <a:t>Male and Female shoe sixes being compared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AU" sz="1800" dirty="0" smtClean="0"/>
              <a:t>J.D. Power Car reliability score by Brand </a:t>
            </a:r>
            <a:r>
              <a:rPr lang="en-AU" sz="1800" b="1" dirty="0" smtClean="0"/>
              <a:t>and</a:t>
            </a:r>
            <a:r>
              <a:rPr lang="en-AU" sz="1800" dirty="0" smtClean="0"/>
              <a:t> Volume sold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AU" sz="1800" dirty="0" smtClean="0"/>
              <a:t>Average weather temperatures over the months of 2017 / 2018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ANSWERS (some may vary if you can argue your point)</a:t>
            </a:r>
          </a:p>
          <a:p>
            <a:r>
              <a:rPr lang="en-AU" dirty="0" smtClean="0"/>
              <a:t>1-pie chart/column. 2-clustered column. 3 Column Graph(axes labels), 4. Line graph</a:t>
            </a:r>
            <a:endParaRPr lang="en-AU" dirty="0"/>
          </a:p>
          <a:p>
            <a:pPr marL="342900" indent="-342900">
              <a:buFont typeface="+mj-lt"/>
              <a:buAutoNum type="arabicPeriod"/>
            </a:pPr>
            <a:endParaRPr lang="en-AU" dirty="0" smtClean="0"/>
          </a:p>
          <a:p>
            <a:pPr marL="342900" indent="-342900">
              <a:buFont typeface="+mj-lt"/>
              <a:buAutoNum type="arabicPeriod"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42959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Constructing a graph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364" y="2638044"/>
            <a:ext cx="4039035" cy="3101983"/>
          </a:xfrm>
        </p:spPr>
        <p:txBody>
          <a:bodyPr/>
          <a:lstStyle/>
          <a:p>
            <a:r>
              <a:rPr lang="en-AU" dirty="0" smtClean="0"/>
              <a:t>A science class recorded the temperatures of water at 3 minute intervals as it cooled from boiling. </a:t>
            </a:r>
          </a:p>
          <a:p>
            <a:r>
              <a:rPr lang="en-AU" dirty="0" smtClean="0"/>
              <a:t>On the graph paper provided, create a line graph for the following information:</a:t>
            </a:r>
          </a:p>
          <a:p>
            <a:r>
              <a:rPr lang="en-AU" dirty="0" smtClean="0"/>
              <a:t>Remember to include the key components of good graphs. </a:t>
            </a:r>
          </a:p>
          <a:p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938858"/>
              </p:ext>
            </p:extLst>
          </p:nvPr>
        </p:nvGraphicFramePr>
        <p:xfrm>
          <a:off x="5922229" y="2638044"/>
          <a:ext cx="5551315" cy="2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639"/>
                <a:gridCol w="1816833"/>
                <a:gridCol w="222184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Time</a:t>
                      </a:r>
                    </a:p>
                    <a:p>
                      <a:pPr algn="ctr"/>
                      <a:r>
                        <a:rPr lang="en-AU" dirty="0" smtClean="0"/>
                        <a:t>(Minute)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Salt Water (degrees C)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Distilled Water</a:t>
                      </a:r>
                      <a:r>
                        <a:rPr lang="en-AU" baseline="0" dirty="0" smtClean="0"/>
                        <a:t> </a:t>
                      </a:r>
                      <a:r>
                        <a:rPr lang="en-AU" dirty="0" smtClean="0"/>
                        <a:t>(degrees C)</a:t>
                      </a:r>
                    </a:p>
                    <a:p>
                      <a:pPr algn="ctr"/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102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94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89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84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64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64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34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24 (ambient)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2604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7593" y="860649"/>
            <a:ext cx="7729728" cy="1188720"/>
          </a:xfrm>
        </p:spPr>
        <p:txBody>
          <a:bodyPr/>
          <a:lstStyle/>
          <a:p>
            <a:r>
              <a:rPr lang="en-AU" dirty="0" smtClean="0"/>
              <a:t>Comparison- Yours and mine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850" y="2310626"/>
            <a:ext cx="3081093" cy="3101983"/>
          </a:xfrm>
        </p:spPr>
        <p:txBody>
          <a:bodyPr/>
          <a:lstStyle/>
          <a:p>
            <a:r>
              <a:rPr lang="en-AU" dirty="0" smtClean="0"/>
              <a:t>Does your graph look similar to this one? </a:t>
            </a:r>
          </a:p>
          <a:p>
            <a:r>
              <a:rPr lang="en-AU" dirty="0" smtClean="0"/>
              <a:t>Why or Why not? Is this a good graph?</a:t>
            </a:r>
            <a:endParaRPr lang="en-AU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9937446"/>
              </p:ext>
            </p:extLst>
          </p:nvPr>
        </p:nvGraphicFramePr>
        <p:xfrm>
          <a:off x="4396240" y="2310626"/>
          <a:ext cx="7403873" cy="4264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26150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333280"/>
            <a:ext cx="7729728" cy="1188720"/>
          </a:xfrm>
        </p:spPr>
        <p:txBody>
          <a:bodyPr/>
          <a:lstStyle/>
          <a:p>
            <a:r>
              <a:rPr lang="en-AU" dirty="0" smtClean="0"/>
              <a:t>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1662400"/>
            <a:ext cx="7729728" cy="3101983"/>
          </a:xfrm>
        </p:spPr>
        <p:txBody>
          <a:bodyPr/>
          <a:lstStyle/>
          <a:p>
            <a:r>
              <a:rPr lang="en-AU" dirty="0" smtClean="0"/>
              <a:t>Create a set of axes with the following values: “Kilometres” on the y axis, and “hours” on the x-axis.</a:t>
            </a:r>
          </a:p>
          <a:p>
            <a:r>
              <a:rPr lang="en-AU" dirty="0" smtClean="0"/>
              <a:t>Using the data below, graph a conversion line for each animal. (assuming each animal maintains a constant speed)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640383"/>
              </p:ext>
            </p:extLst>
          </p:nvPr>
        </p:nvGraphicFramePr>
        <p:xfrm>
          <a:off x="700272" y="3018520"/>
          <a:ext cx="983021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125"/>
                <a:gridCol w="1112270"/>
                <a:gridCol w="1112270"/>
                <a:gridCol w="1112270"/>
                <a:gridCol w="1112270"/>
                <a:gridCol w="1112270"/>
                <a:gridCol w="2525743"/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Distance (km)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Speed (km/</a:t>
                      </a:r>
                      <a:r>
                        <a:rPr lang="en-AU" dirty="0" err="1" smtClean="0"/>
                        <a:t>hr</a:t>
                      </a:r>
                      <a:r>
                        <a:rPr lang="en-AU" dirty="0" smtClean="0"/>
                        <a:t>)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Chicken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4hr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8hr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12hr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16hr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20hr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Pigeon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2hr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4hr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6hr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8hr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10hr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Squirrel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3hr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6hr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9hr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12hr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15hr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Cat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1.5hr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3hr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4.5hr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6hr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7.5hr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Dog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0.5hr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1hr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1.5hr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2hr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2.5hr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Fox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0.25hr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0.5hr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0.75hr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1.0hr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1.5hr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0272" y="5658838"/>
            <a:ext cx="90714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Using your graph and a ruler, estimate how long it would take each animal to run 3.25km, 2.75km and 4.33km.  </a:t>
            </a:r>
          </a:p>
          <a:p>
            <a:r>
              <a:rPr lang="en-AU" dirty="0" smtClean="0"/>
              <a:t>Next, using the other axis, estimate how far they run after 2.5hours, 4 hours and 3 hours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4518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947" y="324612"/>
            <a:ext cx="7729728" cy="1188720"/>
          </a:xfrm>
        </p:spPr>
        <p:txBody>
          <a:bodyPr/>
          <a:lstStyle/>
          <a:p>
            <a:r>
              <a:rPr lang="en-AU" dirty="0" smtClean="0"/>
              <a:t>GRAPH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291" y="1643961"/>
            <a:ext cx="7043040" cy="5017470"/>
          </a:xfrm>
        </p:spPr>
      </p:pic>
    </p:spTree>
    <p:extLst>
      <p:ext uri="{BB962C8B-B14F-4D97-AF65-F5344CB8AC3E}">
        <p14:creationId xmlns:p14="http://schemas.microsoft.com/office/powerpoint/2010/main" val="29262301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1333</TotalTime>
  <Words>699</Words>
  <Application>Microsoft Macintosh PowerPoint</Application>
  <PresentationFormat>Widescreen</PresentationFormat>
  <Paragraphs>142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Gill Sans MT</vt:lpstr>
      <vt:lpstr>Arial</vt:lpstr>
      <vt:lpstr>Parcel</vt:lpstr>
      <vt:lpstr>Creating graphs</vt:lpstr>
      <vt:lpstr>What do we graph?</vt:lpstr>
      <vt:lpstr>Identifying data types: Categorical or Numerical?</vt:lpstr>
      <vt:lpstr>Which and when?</vt:lpstr>
      <vt:lpstr>What is a good graph?</vt:lpstr>
      <vt:lpstr>What makes a good graph?</vt:lpstr>
      <vt:lpstr>Making it better</vt:lpstr>
      <vt:lpstr>Other features</vt:lpstr>
      <vt:lpstr>Recall: TED ED Graph Video</vt:lpstr>
      <vt:lpstr>Constructing a graph</vt:lpstr>
      <vt:lpstr>Comparison- Yours and mine</vt:lpstr>
      <vt:lpstr>Activity</vt:lpstr>
      <vt:lpstr>GRAPH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graphs</dc:title>
  <dc:creator>POWER Travis [Baldivis Secondary College]</dc:creator>
  <cp:lastModifiedBy>POWER Travis [Baldivis Secondary College]</cp:lastModifiedBy>
  <cp:revision>11</cp:revision>
  <dcterms:created xsi:type="dcterms:W3CDTF">2018-05-23T13:09:59Z</dcterms:created>
  <dcterms:modified xsi:type="dcterms:W3CDTF">2018-05-25T07:24:41Z</dcterms:modified>
</cp:coreProperties>
</file>
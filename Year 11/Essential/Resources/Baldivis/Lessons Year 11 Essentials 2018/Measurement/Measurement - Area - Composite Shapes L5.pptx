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8"/>
  </p:notesMasterIdLst>
  <p:sldIdLst>
    <p:sldId id="266" r:id="rId2"/>
    <p:sldId id="267" r:id="rId3"/>
    <p:sldId id="268" r:id="rId4"/>
    <p:sldId id="287" r:id="rId5"/>
    <p:sldId id="288" r:id="rId6"/>
    <p:sldId id="28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2798" autoAdjust="0"/>
  </p:normalViewPr>
  <p:slideViewPr>
    <p:cSldViewPr snapToGrid="0" snapToObjects="1">
      <p:cViewPr varScale="1">
        <p:scale>
          <a:sx n="67" d="100"/>
          <a:sy n="67" d="100"/>
        </p:scale>
        <p:origin x="22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Placemat Activity</a:t>
            </a:r>
          </a:p>
          <a:p>
            <a:pPr marL="171450" indent="-171450">
              <a:buFontTx/>
              <a:buChar char="-"/>
            </a:pPr>
            <a:r>
              <a:rPr lang="en-AU" sz="1400" dirty="0" err="1"/>
              <a:t>Strategise</a:t>
            </a:r>
            <a:r>
              <a:rPr lang="en-AU" sz="1400" dirty="0"/>
              <a:t> how to calculate the area of compound shapes in general.</a:t>
            </a:r>
          </a:p>
          <a:p>
            <a:pPr marL="171450" indent="-171450">
              <a:buFontTx/>
              <a:buChar char="-"/>
            </a:pPr>
            <a:r>
              <a:rPr lang="en-AU" sz="1400" dirty="0"/>
              <a:t>Allow students to develop strategies.</a:t>
            </a:r>
          </a:p>
          <a:p>
            <a:pPr marL="171450" indent="-171450">
              <a:buFontTx/>
              <a:buChar char="-"/>
            </a:pPr>
            <a:r>
              <a:rPr lang="en-AU" sz="1400" dirty="0"/>
              <a:t>Discuss different approaches. There can be more than one valid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83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11/03/2018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Hourglass_2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Measurement – Area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dirty="0"/>
              <a:t>1.3.5 Choose and use appropriate metric units of area, their abbreviations and conversions between them</a:t>
            </a:r>
          </a:p>
          <a:p>
            <a:pPr marL="457200" lvl="1" indent="0">
              <a:buNone/>
            </a:pPr>
            <a:r>
              <a:rPr lang="en-AU" sz="2800" dirty="0"/>
              <a:t>1.3.6 Estimate the areas of different shapes</a:t>
            </a:r>
          </a:p>
          <a:p>
            <a:pPr marL="457200" lvl="1" indent="0">
              <a:buNone/>
            </a:pPr>
            <a:r>
              <a:rPr lang="en-AU" sz="2800" dirty="0"/>
              <a:t>1.3.7 Convert between units of area and other area units</a:t>
            </a:r>
          </a:p>
          <a:p>
            <a:pPr marL="457200" lvl="1" indent="0">
              <a:buNone/>
            </a:pPr>
            <a:r>
              <a:rPr lang="en-AU" sz="2800" dirty="0"/>
              <a:t>1.3.8 Calculate areas of rectangles, triangles, and </a:t>
            </a:r>
            <a:r>
              <a:rPr lang="en-AU" sz="2800" b="1" dirty="0">
                <a:solidFill>
                  <a:schemeClr val="accent1">
                    <a:lumMod val="75000"/>
                  </a:schemeClr>
                </a:solidFill>
              </a:rPr>
              <a:t>composite shapes</a:t>
            </a:r>
            <a:endParaRPr lang="en-GB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8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find the area of compound shapes?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113523" y="1511224"/>
            <a:ext cx="9499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compound shape is a 2D shape made of more than one shape. </a:t>
            </a:r>
            <a:endParaRPr lang="en-AU" dirty="0"/>
          </a:p>
          <a:p>
            <a:r>
              <a:rPr lang="en-AU" sz="2400" b="1" u="sng" dirty="0"/>
              <a:t>Examples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4" name="Down Arrow 15">
            <a:extLst>
              <a:ext uri="{FF2B5EF4-FFF2-40B4-BE49-F238E27FC236}">
                <a16:creationId xmlns:a16="http://schemas.microsoft.com/office/drawing/2014/main" id="{4E7B0D1E-0B28-41ED-809A-1A957597E013}"/>
              </a:ext>
            </a:extLst>
          </p:cNvPr>
          <p:cNvSpPr/>
          <p:nvPr/>
        </p:nvSpPr>
        <p:spPr>
          <a:xfrm>
            <a:off x="3081805" y="2942705"/>
            <a:ext cx="1578864" cy="1696999"/>
          </a:xfrm>
          <a:prstGeom prst="downArrow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B352EFF-4E63-4911-96DA-47FA131D65F9}"/>
              </a:ext>
            </a:extLst>
          </p:cNvPr>
          <p:cNvSpPr/>
          <p:nvPr/>
        </p:nvSpPr>
        <p:spPr>
          <a:xfrm>
            <a:off x="7059062" y="2886297"/>
            <a:ext cx="2497830" cy="1435805"/>
          </a:xfrm>
          <a:prstGeom prst="plus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B26E79F0-A7E8-4CCF-A674-476964A07D93}"/>
              </a:ext>
            </a:extLst>
          </p:cNvPr>
          <p:cNvSpPr/>
          <p:nvPr/>
        </p:nvSpPr>
        <p:spPr>
          <a:xfrm>
            <a:off x="3226099" y="4792516"/>
            <a:ext cx="1749788" cy="1809317"/>
          </a:xfrm>
          <a:prstGeom prst="corne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ight Arrow Callout 18">
            <a:extLst>
              <a:ext uri="{FF2B5EF4-FFF2-40B4-BE49-F238E27FC236}">
                <a16:creationId xmlns:a16="http://schemas.microsoft.com/office/drawing/2014/main" id="{5853F59D-5D53-4139-80A4-14D1039B0045}"/>
              </a:ext>
            </a:extLst>
          </p:cNvPr>
          <p:cNvSpPr/>
          <p:nvPr/>
        </p:nvSpPr>
        <p:spPr>
          <a:xfrm>
            <a:off x="7711140" y="4743069"/>
            <a:ext cx="2160240" cy="1908212"/>
          </a:xfrm>
          <a:prstGeom prst="rightArrowCallou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0A8E41-47D3-4711-B7E0-7381642D2D5B}"/>
              </a:ext>
            </a:extLst>
          </p:cNvPr>
          <p:cNvSpPr txBox="1"/>
          <p:nvPr/>
        </p:nvSpPr>
        <p:spPr>
          <a:xfrm>
            <a:off x="95801" y="1411842"/>
            <a:ext cx="1823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are compound shapes?</a:t>
            </a:r>
          </a:p>
        </p:txBody>
      </p:sp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4834" y="184783"/>
            <a:ext cx="244827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find the area of composite shapes?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D7EBCC-B955-45F2-AEC7-7EBF80241215}"/>
              </a:ext>
            </a:extLst>
          </p:cNvPr>
          <p:cNvSpPr txBox="1"/>
          <p:nvPr/>
        </p:nvSpPr>
        <p:spPr>
          <a:xfrm>
            <a:off x="95801" y="1411842"/>
            <a:ext cx="1823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calculate the area of compound shapes?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C030456-D405-4118-9C81-35FF5AFD64B2}"/>
              </a:ext>
            </a:extLst>
          </p:cNvPr>
          <p:cNvSpPr txBox="1">
            <a:spLocks/>
          </p:cNvSpPr>
          <p:nvPr/>
        </p:nvSpPr>
        <p:spPr>
          <a:xfrm>
            <a:off x="1991544" y="1484784"/>
            <a:ext cx="9577049" cy="41651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r>
              <a:rPr lang="en-GB" sz="2000" dirty="0"/>
              <a:t>Find the area of each shape, then add them together</a:t>
            </a:r>
          </a:p>
        </p:txBody>
      </p:sp>
      <p:sp>
        <p:nvSpPr>
          <p:cNvPr id="15" name="Down Arrow 15">
            <a:extLst>
              <a:ext uri="{FF2B5EF4-FFF2-40B4-BE49-F238E27FC236}">
                <a16:creationId xmlns:a16="http://schemas.microsoft.com/office/drawing/2014/main" id="{231A13D1-2FFA-483A-9F72-6848174E2656}"/>
              </a:ext>
            </a:extLst>
          </p:cNvPr>
          <p:cNvSpPr/>
          <p:nvPr/>
        </p:nvSpPr>
        <p:spPr>
          <a:xfrm>
            <a:off x="3081805" y="2886297"/>
            <a:ext cx="1578864" cy="1696999"/>
          </a:xfrm>
          <a:prstGeom prst="downArrow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CFE20484-983A-4B3B-AD20-3AF9C95C0453}"/>
              </a:ext>
            </a:extLst>
          </p:cNvPr>
          <p:cNvSpPr/>
          <p:nvPr/>
        </p:nvSpPr>
        <p:spPr>
          <a:xfrm>
            <a:off x="7059062" y="2886297"/>
            <a:ext cx="2497830" cy="1435805"/>
          </a:xfrm>
          <a:prstGeom prst="plus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5E35ACB3-7810-4F18-8DEE-578194FCE782}"/>
              </a:ext>
            </a:extLst>
          </p:cNvPr>
          <p:cNvSpPr/>
          <p:nvPr/>
        </p:nvSpPr>
        <p:spPr>
          <a:xfrm>
            <a:off x="3226099" y="4792516"/>
            <a:ext cx="1749788" cy="1809317"/>
          </a:xfrm>
          <a:prstGeom prst="corne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ight Arrow Callout 18">
            <a:extLst>
              <a:ext uri="{FF2B5EF4-FFF2-40B4-BE49-F238E27FC236}">
                <a16:creationId xmlns:a16="http://schemas.microsoft.com/office/drawing/2014/main" id="{4BFF0820-0EB4-4035-AB00-0FF51FAC37E5}"/>
              </a:ext>
            </a:extLst>
          </p:cNvPr>
          <p:cNvSpPr/>
          <p:nvPr/>
        </p:nvSpPr>
        <p:spPr>
          <a:xfrm>
            <a:off x="7711140" y="4743069"/>
            <a:ext cx="2160240" cy="1908212"/>
          </a:xfrm>
          <a:prstGeom prst="rightArrowCallou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CB1F6E-501C-44F1-8ECA-2DADA61D204E}"/>
              </a:ext>
            </a:extLst>
          </p:cNvPr>
          <p:cNvCxnSpPr>
            <a:cxnSpLocks/>
          </p:cNvCxnSpPr>
          <p:nvPr/>
        </p:nvCxnSpPr>
        <p:spPr>
          <a:xfrm>
            <a:off x="3471863" y="3800475"/>
            <a:ext cx="857250" cy="0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AF0B636-1BD7-41CB-B826-8CED7F36C41F}"/>
              </a:ext>
            </a:extLst>
          </p:cNvPr>
          <p:cNvCxnSpPr>
            <a:cxnSpLocks/>
          </p:cNvCxnSpPr>
          <p:nvPr/>
        </p:nvCxnSpPr>
        <p:spPr>
          <a:xfrm>
            <a:off x="3226099" y="5706699"/>
            <a:ext cx="857250" cy="0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7F2A8E-A247-4F29-BC27-28FBFCF5F7CD}"/>
              </a:ext>
            </a:extLst>
          </p:cNvPr>
          <p:cNvCxnSpPr>
            <a:cxnSpLocks/>
          </p:cNvCxnSpPr>
          <p:nvPr/>
        </p:nvCxnSpPr>
        <p:spPr>
          <a:xfrm>
            <a:off x="7450727" y="3245644"/>
            <a:ext cx="1771854" cy="0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17234A-37C0-4E27-9582-5820B9177373}"/>
              </a:ext>
            </a:extLst>
          </p:cNvPr>
          <p:cNvCxnSpPr>
            <a:cxnSpLocks/>
          </p:cNvCxnSpPr>
          <p:nvPr/>
        </p:nvCxnSpPr>
        <p:spPr>
          <a:xfrm>
            <a:off x="7479404" y="3952875"/>
            <a:ext cx="1743177" cy="0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C00E30-C762-42D5-B62D-7AA147BCE27B}"/>
              </a:ext>
            </a:extLst>
          </p:cNvPr>
          <p:cNvCxnSpPr>
            <a:cxnSpLocks/>
          </p:cNvCxnSpPr>
          <p:nvPr/>
        </p:nvCxnSpPr>
        <p:spPr>
          <a:xfrm>
            <a:off x="9110663" y="5443571"/>
            <a:ext cx="0" cy="526256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27549A-D80A-43B5-8BE1-79AAE265162A}"/>
              </a:ext>
            </a:extLst>
          </p:cNvPr>
          <p:cNvCxnSpPr>
            <a:cxnSpLocks/>
          </p:cNvCxnSpPr>
          <p:nvPr/>
        </p:nvCxnSpPr>
        <p:spPr>
          <a:xfrm>
            <a:off x="9377363" y="5473712"/>
            <a:ext cx="0" cy="49611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16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  <p:bldP spid="15" grpId="0" animBg="1"/>
      <p:bldP spid="16" grpId="0" animBg="1"/>
      <p:bldP spid="17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G</a:t>
            </a:r>
            <a:r>
              <a:rPr lang="en-GB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uided</a:t>
            </a:r>
            <a:r>
              <a:rPr lang="en-GB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 Practice</a:t>
            </a:r>
          </a:p>
        </p:txBody>
      </p:sp>
      <p:sp>
        <p:nvSpPr>
          <p:cNvPr id="4" name="L-Shape 3"/>
          <p:cNvSpPr/>
          <p:nvPr/>
        </p:nvSpPr>
        <p:spPr>
          <a:xfrm rot="5400000">
            <a:off x="1415480" y="3204014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846553" y="2786775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9616" y="43561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0596" y="216163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7801" y="565228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2063552" y="3447748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39616" y="2555943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7801" y="4104115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4665" y="2107526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483" y="313464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482" y="4225328"/>
            <a:ext cx="4129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Complete the Composite Area worksheet. The area formulas that you need are these: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endParaRPr lang="en-GB" sz="2400" dirty="0"/>
          </a:p>
          <a:p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FA1C9-3742-4C36-87D1-B85B13043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07" y="3204551"/>
            <a:ext cx="2534732" cy="2421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12C15-A3A7-4DC7-AB56-8C8DFF7C8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550" y="3204551"/>
            <a:ext cx="2084944" cy="2396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147C41-71E8-48A0-A430-3E2AFEA61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552" y="3204551"/>
            <a:ext cx="2617973" cy="246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1086</TotalTime>
  <Words>238</Words>
  <Application>Microsoft Office PowerPoint</Application>
  <PresentationFormat>Widescreen</PresentationFormat>
  <Paragraphs>53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Kiwi School Handwriting</vt:lpstr>
      <vt:lpstr>BSC Theme</vt:lpstr>
      <vt:lpstr>Measurement – Area</vt:lpstr>
      <vt:lpstr>Learning Outcomes</vt:lpstr>
      <vt:lpstr>PowerPoint Presentation</vt:lpstr>
      <vt:lpstr>PowerPoint Presentation</vt:lpstr>
      <vt:lpstr>Guided Practice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51</cp:revision>
  <dcterms:created xsi:type="dcterms:W3CDTF">2018-02-13T05:48:53Z</dcterms:created>
  <dcterms:modified xsi:type="dcterms:W3CDTF">2018-03-11T10:26:16Z</dcterms:modified>
</cp:coreProperties>
</file>
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gif" ContentType="image/gif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08"/>
    <p:restoredTop sz="94666"/>
  </p:normalViewPr>
  <p:slideViewPr>
    <p:cSldViewPr snapToGrid="0" snapToObjects="1">
      <p:cViewPr varScale="1">
        <p:scale>
          <a:sx n="78" d="100"/>
          <a:sy n="78" d="100"/>
        </p:scale>
        <p:origin x="200" y="8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presProps" Target="presProps.xml"/><Relationship Id="rId1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0E82FD63-1921-4543-B2F3-D51AA6A3D917}" type="datetimeFigureOut">
              <a:rPr lang="en-AU" smtClean="0"/>
              <a:t>7/08/2018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F16CA864-0212-EE46-A0AE-46C59EB9BAE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257392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2FD63-1921-4543-B2F3-D51AA6A3D917}" type="datetimeFigureOut">
              <a:rPr lang="en-AU" smtClean="0"/>
              <a:t>7/08/2018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CA864-0212-EE46-A0AE-46C59EB9BAE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686278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2FD63-1921-4543-B2F3-D51AA6A3D917}" type="datetimeFigureOut">
              <a:rPr lang="en-AU" smtClean="0"/>
              <a:t>7/08/2018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CA864-0212-EE46-A0AE-46C59EB9BAE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026172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2FD63-1921-4543-B2F3-D51AA6A3D917}" type="datetimeFigureOut">
              <a:rPr lang="en-AU" smtClean="0"/>
              <a:t>7/08/2018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CA864-0212-EE46-A0AE-46C59EB9BAE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363293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2FD63-1921-4543-B2F3-D51AA6A3D917}" type="datetimeFigureOut">
              <a:rPr lang="en-AU" smtClean="0"/>
              <a:t>7/08/2018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CA864-0212-EE46-A0AE-46C59EB9BAE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0133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2FD63-1921-4543-B2F3-D51AA6A3D917}" type="datetimeFigureOut">
              <a:rPr lang="en-AU" smtClean="0"/>
              <a:t>7/08/2018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CA864-0212-EE46-A0AE-46C59EB9BAE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809346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2FD63-1921-4543-B2F3-D51AA6A3D917}" type="datetimeFigureOut">
              <a:rPr lang="en-AU" smtClean="0"/>
              <a:t>7/08/2018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CA864-0212-EE46-A0AE-46C59EB9BAE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016037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2FD63-1921-4543-B2F3-D51AA6A3D917}" type="datetimeFigureOut">
              <a:rPr lang="en-AU" smtClean="0"/>
              <a:t>7/08/2018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CA864-0212-EE46-A0AE-46C59EB9BAE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902638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2FD63-1921-4543-B2F3-D51AA6A3D917}" type="datetimeFigureOut">
              <a:rPr lang="en-AU" smtClean="0"/>
              <a:t>7/08/2018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CA864-0212-EE46-A0AE-46C59EB9BAE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595101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2FD63-1921-4543-B2F3-D51AA6A3D917}" type="datetimeFigureOut">
              <a:rPr lang="en-AU" smtClean="0"/>
              <a:t>7/08/2018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CA864-0212-EE46-A0AE-46C59EB9BAE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211504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2FD63-1921-4543-B2F3-D51AA6A3D917}" type="datetimeFigureOut">
              <a:rPr lang="en-AU" smtClean="0"/>
              <a:t>7/08/2018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CA864-0212-EE46-A0AE-46C59EB9BAE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506172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2FD63-1921-4543-B2F3-D51AA6A3D917}" type="datetimeFigureOut">
              <a:rPr lang="en-AU" smtClean="0"/>
              <a:t>7/08/2018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CA864-0212-EE46-A0AE-46C59EB9BAE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104845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2FD63-1921-4543-B2F3-D51AA6A3D917}" type="datetimeFigureOut">
              <a:rPr lang="en-AU" smtClean="0"/>
              <a:t>7/08/2018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CA864-0212-EE46-A0AE-46C59EB9BAE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1014487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2FD63-1921-4543-B2F3-D51AA6A3D917}" type="datetimeFigureOut">
              <a:rPr lang="en-AU" smtClean="0"/>
              <a:t>7/08/2018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CA864-0212-EE46-A0AE-46C59EB9BAE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550478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2FD63-1921-4543-B2F3-D51AA6A3D917}" type="datetimeFigureOut">
              <a:rPr lang="en-AU" smtClean="0"/>
              <a:t>7/08/2018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CA864-0212-EE46-A0AE-46C59EB9BAE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924223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2FD63-1921-4543-B2F3-D51AA6A3D917}" type="datetimeFigureOut">
              <a:rPr lang="en-AU" smtClean="0"/>
              <a:t>7/08/2018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CA864-0212-EE46-A0AE-46C59EB9BAE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0124434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2FD63-1921-4543-B2F3-D51AA6A3D917}" type="datetimeFigureOut">
              <a:rPr lang="en-AU" smtClean="0"/>
              <a:t>7/08/2018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CA864-0212-EE46-A0AE-46C59EB9BAE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044890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0E82FD63-1921-4543-B2F3-D51AA6A3D917}" type="datetimeFigureOut">
              <a:rPr lang="en-AU" smtClean="0"/>
              <a:t>7/08/2018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F16CA864-0212-EE46-A0AE-46C59EB9BAE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3438999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gif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8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 smtClean="0"/>
              <a:t>Standard Deviation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 smtClean="0"/>
              <a:t>What is standard deviation, and how does it relate to Measures of spread?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207638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567847"/>
          </a:xfrm>
        </p:spPr>
        <p:txBody>
          <a:bodyPr>
            <a:normAutofit fontScale="90000"/>
          </a:bodyPr>
          <a:lstStyle/>
          <a:p>
            <a:r>
              <a:rPr lang="en-AU" dirty="0" smtClean="0"/>
              <a:t>Standard Deviation</a:t>
            </a:r>
            <a:endParaRPr lang="en-AU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0" y="1177447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2116899" y="1177447"/>
            <a:ext cx="0" cy="568055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2116899" y="1177446"/>
            <a:ext cx="9489885" cy="6093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Standard Deviation is the Deviation from the mean, usual broken into three sections.</a:t>
            </a:r>
          </a:p>
          <a:p>
            <a:endParaRPr lang="en-AU" sz="2400" dirty="0"/>
          </a:p>
          <a:p>
            <a:r>
              <a:rPr lang="en-AU" sz="2400" dirty="0" smtClean="0"/>
              <a:t>The mean is represented by the symbol “ x̅ ”. The mean is the average of all scores. </a:t>
            </a:r>
          </a:p>
          <a:p>
            <a:r>
              <a:rPr lang="en-AU" sz="2400" dirty="0" smtClean="0"/>
              <a:t>To find the mean, we add all scores together, and divide the result by the number of scores. </a:t>
            </a:r>
          </a:p>
          <a:p>
            <a:endParaRPr lang="en-AU" sz="2400" dirty="0"/>
          </a:p>
          <a:p>
            <a:r>
              <a:rPr lang="en-AU" sz="2400" dirty="0" smtClean="0"/>
              <a:t>To find standard deviation;</a:t>
            </a:r>
          </a:p>
          <a:p>
            <a:pPr marL="342900" indent="-342900">
              <a:buAutoNum type="arabicParenR"/>
            </a:pPr>
            <a:r>
              <a:rPr lang="en-AU" sz="2400" dirty="0" smtClean="0"/>
              <a:t>we subtract  the mean from the result</a:t>
            </a:r>
          </a:p>
          <a:p>
            <a:pPr marL="342900" indent="-342900">
              <a:buAutoNum type="arabicParenR"/>
            </a:pPr>
            <a:r>
              <a:rPr lang="en-AU" sz="2400" dirty="0" smtClean="0"/>
              <a:t>Square the result</a:t>
            </a:r>
          </a:p>
          <a:p>
            <a:pPr marL="342900" indent="-342900">
              <a:buAutoNum type="arabicParenR"/>
            </a:pPr>
            <a:r>
              <a:rPr lang="en-AU" sz="2400" dirty="0" smtClean="0"/>
              <a:t>Add all the squared results together, and divide by the number of scores (mean of new scores)</a:t>
            </a:r>
          </a:p>
          <a:p>
            <a:pPr marL="342900" indent="-342900">
              <a:buAutoNum type="arabicParenR"/>
            </a:pPr>
            <a:r>
              <a:rPr lang="en-AU" sz="2400" dirty="0" smtClean="0"/>
              <a:t>Square root that result and you have the Standard Deviation</a:t>
            </a:r>
          </a:p>
          <a:p>
            <a:pPr marL="342900" indent="-342900">
              <a:buAutoNum type="arabicParenR"/>
            </a:pPr>
            <a:endParaRPr lang="en-AU" dirty="0" smtClean="0"/>
          </a:p>
          <a:p>
            <a:pPr marL="342900" indent="-342900">
              <a:buAutoNum type="arabicParenR"/>
            </a:pPr>
            <a:endParaRPr lang="en-AU" dirty="0" smtClean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580654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567847"/>
          </a:xfrm>
        </p:spPr>
        <p:txBody>
          <a:bodyPr>
            <a:normAutofit fontScale="90000"/>
          </a:bodyPr>
          <a:lstStyle/>
          <a:p>
            <a:r>
              <a:rPr lang="en-AU" dirty="0" smtClean="0"/>
              <a:t>Standard Deviation - Example</a:t>
            </a:r>
            <a:endParaRPr lang="en-AU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0" y="1177447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2116899" y="1177447"/>
            <a:ext cx="0" cy="568055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2116898" y="1177446"/>
                <a:ext cx="10075101" cy="56247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A set of test scores from 6 students are listed below:</a:t>
                </a:r>
              </a:p>
              <a:p>
                <a:r>
                  <a:rPr lang="en-AU" dirty="0" smtClean="0"/>
                  <a:t>59%, 62%, 68%, 71%, 74%, and 90%.</a:t>
                </a:r>
              </a:p>
              <a:p>
                <a:endParaRPr lang="en-AU" dirty="0"/>
              </a:p>
              <a:p>
                <a:r>
                  <a:rPr lang="en-AU" dirty="0" smtClean="0"/>
                  <a:t>Find the mean;</a:t>
                </a:r>
              </a:p>
              <a:p>
                <a:endParaRPr lang="en-AU" dirty="0"/>
              </a:p>
              <a:p>
                <a:r>
                  <a:rPr lang="en-AU" dirty="0" smtClean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bg-BG" i="1" smtClean="0"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charset="0"/>
                          </a:rPr>
                          <m:t>59+62+68+71+74+90</m:t>
                        </m:r>
                      </m:num>
                      <m:den>
                        <m:r>
                          <a:rPr lang="en-AU" b="0" i="1" smtClean="0">
                            <a:latin typeface="Cambria Math" charset="0"/>
                          </a:rPr>
                          <m:t>6</m:t>
                        </m:r>
                      </m:den>
                    </m:f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AU" b="0" i="1" smtClean="0"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charset="0"/>
                          </a:rPr>
                          <m:t>424</m:t>
                        </m:r>
                      </m:num>
                      <m:den>
                        <m:r>
                          <a:rPr lang="en-AU" b="0" i="1" smtClean="0">
                            <a:latin typeface="Cambria Math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lang="en-AU" dirty="0" smtClean="0"/>
                  <a:t> = 70.67%</a:t>
                </a:r>
              </a:p>
              <a:p>
                <a:r>
                  <a:rPr lang="en-AU" dirty="0" smtClean="0"/>
                  <a:t>Therefore  </a:t>
                </a:r>
                <a:r>
                  <a:rPr lang="en-AU" dirty="0"/>
                  <a:t>x</a:t>
                </a:r>
                <a:r>
                  <a:rPr lang="en-AU" dirty="0" smtClean="0"/>
                  <a:t>̅ = 70.67</a:t>
                </a:r>
              </a:p>
              <a:p>
                <a:endParaRPr lang="en-AU" dirty="0"/>
              </a:p>
              <a:p>
                <a:r>
                  <a:rPr lang="en-AU" dirty="0" smtClean="0"/>
                  <a:t>Subtract mean from results and square results</a:t>
                </a:r>
              </a:p>
              <a:p>
                <a:r>
                  <a:rPr lang="en-AU" dirty="0" smtClean="0"/>
                  <a:t>(59 – 70.67)</a:t>
                </a:r>
                <a:r>
                  <a:rPr lang="en-AU" baseline="30000" dirty="0" smtClean="0"/>
                  <a:t>2</a:t>
                </a:r>
                <a:r>
                  <a:rPr lang="en-AU" dirty="0" smtClean="0"/>
                  <a:t> + (62 - 70.67)</a:t>
                </a:r>
                <a:r>
                  <a:rPr lang="en-AU" baseline="30000" dirty="0" smtClean="0"/>
                  <a:t>2</a:t>
                </a:r>
                <a:r>
                  <a:rPr lang="en-AU" dirty="0" smtClean="0"/>
                  <a:t> + (68 – 70.67)</a:t>
                </a:r>
                <a:r>
                  <a:rPr lang="en-AU" baseline="30000" dirty="0" smtClean="0"/>
                  <a:t>2</a:t>
                </a:r>
                <a:r>
                  <a:rPr lang="en-AU" dirty="0" smtClean="0"/>
                  <a:t> + (71-70.67)</a:t>
                </a:r>
                <a:r>
                  <a:rPr lang="en-AU" baseline="30000" dirty="0" smtClean="0"/>
                  <a:t>2</a:t>
                </a:r>
                <a:r>
                  <a:rPr lang="en-AU" dirty="0" smtClean="0"/>
                  <a:t> + (74-70.67)</a:t>
                </a:r>
                <a:r>
                  <a:rPr lang="en-AU" baseline="30000" dirty="0" smtClean="0"/>
                  <a:t>2</a:t>
                </a:r>
                <a:r>
                  <a:rPr lang="en-AU" dirty="0" smtClean="0"/>
                  <a:t> + (90-70.67)</a:t>
                </a:r>
                <a:r>
                  <a:rPr lang="en-AU" baseline="30000" dirty="0" smtClean="0"/>
                  <a:t>2 </a:t>
                </a:r>
                <a:r>
                  <a:rPr lang="en-AU" dirty="0" smtClean="0"/>
                  <a:t>= </a:t>
                </a:r>
              </a:p>
              <a:p>
                <a:endParaRPr lang="en-AU" dirty="0" smtClean="0"/>
              </a:p>
              <a:p>
                <a:r>
                  <a:rPr lang="en-AU" dirty="0" smtClean="0"/>
                  <a:t>Find mean of these results:</a:t>
                </a:r>
                <a:endParaRPr lang="en-AU" dirty="0"/>
              </a:p>
              <a:p>
                <a:r>
                  <a:rPr lang="en-AU" dirty="0" smtClean="0"/>
                  <a:t>= 136.11 + 75.17 + 7.13 + 0.11 + 11.09 + 373.65 = </a:t>
                </a:r>
                <a:r>
                  <a:rPr lang="en-AU" b="1" dirty="0" smtClean="0"/>
                  <a:t>603.26 </a:t>
                </a:r>
                <a:r>
                  <a:rPr lang="en-AU" dirty="0" smtClean="0"/>
                  <a:t>/ 6 = 100.54</a:t>
                </a:r>
              </a:p>
              <a:p>
                <a:endParaRPr lang="en-AU" b="1" dirty="0"/>
              </a:p>
              <a:p>
                <a:r>
                  <a:rPr lang="en-AU" dirty="0" smtClean="0"/>
                  <a:t>Square root answer: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AU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</m:ctrlPr>
                        </m:radPr>
                        <m:deg/>
                        <m:e>
                          <m:r>
                            <a:rPr lang="en-AU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100.54</m:t>
                          </m:r>
                        </m:e>
                      </m:rad>
                      <m:r>
                        <a:rPr lang="en-AU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=10.03 </m:t>
                      </m:r>
                    </m:oMath>
                  </m:oMathPara>
                </a14:m>
                <a:endParaRPr lang="en-AU" b="0" dirty="0" smtClean="0">
                  <a:ea typeface="Cambria Math" charset="0"/>
                  <a:cs typeface="Cambria Math" charset="0"/>
                </a:endParaRPr>
              </a:p>
              <a:p>
                <a:r>
                  <a:rPr lang="en-AU" dirty="0" smtClean="0"/>
                  <a:t>- This is the standard deviation from the mean. </a:t>
                </a:r>
              </a:p>
              <a:p>
                <a:r>
                  <a:rPr lang="en-AU" dirty="0" smtClean="0"/>
                  <a:t> </a:t>
                </a: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6898" y="1177446"/>
                <a:ext cx="10075101" cy="5624745"/>
              </a:xfrm>
              <a:prstGeom prst="rect">
                <a:avLst/>
              </a:prstGeom>
              <a:blipFill rotWithShape="0">
                <a:blip r:embed="rId2"/>
                <a:stretch>
                  <a:fillRect l="-484" t="-54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2100" y="1745294"/>
            <a:ext cx="1905000" cy="190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4921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567847"/>
          </a:xfrm>
        </p:spPr>
        <p:txBody>
          <a:bodyPr>
            <a:normAutofit fontScale="90000"/>
          </a:bodyPr>
          <a:lstStyle/>
          <a:p>
            <a:r>
              <a:rPr lang="en-AU" dirty="0" smtClean="0"/>
              <a:t>Standard Deviation - Application. </a:t>
            </a:r>
            <a:endParaRPr lang="en-AU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0" y="1177447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2116899" y="1177447"/>
            <a:ext cx="0" cy="568055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2596896" y="1450848"/>
            <a:ext cx="925372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As we spoke previously about the Standard deviation and how to find it, now we can see the application of the Standard deviation. </a:t>
            </a:r>
          </a:p>
          <a:p>
            <a:endParaRPr lang="en-AU" dirty="0"/>
          </a:p>
          <a:p>
            <a:r>
              <a:rPr lang="en-AU" dirty="0" smtClean="0"/>
              <a:t>The standard deviation tells us that we should expect about 68% of all scores between 1 standard deviation from the mean.  We should also find 92.44% of all scores between 2 standard deviations. </a:t>
            </a:r>
          </a:p>
          <a:p>
            <a:endParaRPr lang="en-AU" dirty="0"/>
          </a:p>
          <a:p>
            <a:r>
              <a:rPr lang="en-AU" dirty="0" smtClean="0"/>
              <a:t> Looking at the last example- out mean was 70.67%, and out standard deviation was 10.03%,</a:t>
            </a:r>
          </a:p>
          <a:p>
            <a:r>
              <a:rPr lang="en-AU" dirty="0" smtClean="0"/>
              <a:t>So 68% of our scores would be between 60.64% and 80.7% </a:t>
            </a:r>
          </a:p>
          <a:p>
            <a:endParaRPr lang="en-AU" dirty="0"/>
          </a:p>
          <a:p>
            <a:r>
              <a:rPr lang="en-AU" dirty="0" smtClean="0"/>
              <a:t>This is 4/6 scores- 66% of all our scores are +/- 1 standard deviation from the mean. </a:t>
            </a:r>
            <a:endParaRPr lang="en-AU" dirty="0"/>
          </a:p>
          <a:p>
            <a:endParaRPr lang="en-AU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3799" y="4586570"/>
            <a:ext cx="5672201" cy="2174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78053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Practise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The price of 6 cars is listed below ($1000’s)</a:t>
            </a:r>
          </a:p>
          <a:p>
            <a:pPr marL="457200" lvl="1" indent="0" algn="ctr">
              <a:buNone/>
            </a:pPr>
            <a:r>
              <a:rPr lang="en-AU" dirty="0"/>
              <a:t>5,6,7,8,10,11</a:t>
            </a:r>
          </a:p>
          <a:p>
            <a:pPr marL="457200" lvl="1" indent="0">
              <a:buNone/>
            </a:pPr>
            <a:endParaRPr lang="en-AU" dirty="0"/>
          </a:p>
          <a:p>
            <a:pPr marL="457200" lvl="1" indent="0">
              <a:buNone/>
            </a:pPr>
            <a:r>
              <a:rPr lang="en-AU" dirty="0" smtClean="0"/>
              <a:t>Find the Mean and Standard deviation of the scores – Use the single digits, not the full number – 4 = 4000, but use 4. </a:t>
            </a:r>
          </a:p>
          <a:p>
            <a:pPr marL="457200" lvl="1" indent="0">
              <a:buNone/>
            </a:pPr>
            <a:endParaRPr lang="en-AU" dirty="0"/>
          </a:p>
          <a:p>
            <a:pPr marL="457200" lvl="1" indent="0">
              <a:buNone/>
            </a:pPr>
            <a:endParaRPr lang="en-AU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51800" y="941917"/>
            <a:ext cx="3606800" cy="2247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97912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97536"/>
            <a:ext cx="10131425" cy="1456267"/>
          </a:xfrm>
        </p:spPr>
        <p:txBody>
          <a:bodyPr/>
          <a:lstStyle/>
          <a:p>
            <a:r>
              <a:rPr lang="en-AU" dirty="0" smtClean="0"/>
              <a:t>Practise answers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85799" y="1434931"/>
                <a:ext cx="6605017" cy="5112173"/>
              </a:xfrm>
            </p:spPr>
            <p:txBody>
              <a:bodyPr>
                <a:normAutofit/>
              </a:bodyPr>
              <a:lstStyle/>
              <a:p>
                <a:r>
                  <a:rPr lang="en-AU" dirty="0" smtClean="0"/>
                  <a:t>The price of 6 </a:t>
                </a:r>
                <a:r>
                  <a:rPr lang="en-AU" dirty="0"/>
                  <a:t>cars is listed below ($1000’s)</a:t>
                </a:r>
              </a:p>
              <a:p>
                <a:pPr marL="457200" lvl="1" indent="0" algn="ctr">
                  <a:buNone/>
                </a:pPr>
                <a:r>
                  <a:rPr lang="en-AU" dirty="0" smtClean="0"/>
                  <a:t>5,6,7,8,10,11</a:t>
                </a:r>
              </a:p>
              <a:p>
                <a:pPr marL="0" indent="0">
                  <a:buNone/>
                </a:pPr>
                <a:r>
                  <a:rPr lang="en-AU" u="sng" dirty="0" smtClean="0"/>
                  <a:t>MEAN:</a:t>
                </a:r>
              </a:p>
              <a:p>
                <a:pPr marL="457200" lvl="1" indent="0">
                  <a:buNone/>
                </a:pPr>
                <a:r>
                  <a:rPr lang="en-AU" dirty="0" smtClean="0"/>
                  <a:t> 5+6+7+8+10+11 </a:t>
                </a:r>
              </a:p>
              <a:p>
                <a:pPr marL="457200" lvl="1" indent="0">
                  <a:buNone/>
                </a:pPr>
                <a:r>
                  <a:rPr lang="en-AU" dirty="0" smtClean="0"/>
                  <a:t>= 47 / 6 </a:t>
                </a:r>
              </a:p>
              <a:p>
                <a:pPr marL="457200" lvl="1" indent="0">
                  <a:buNone/>
                </a:pPr>
                <a:r>
                  <a:rPr lang="en-AU" dirty="0" smtClean="0"/>
                  <a:t>= </a:t>
                </a:r>
                <a:r>
                  <a:rPr lang="en-AU" b="1" dirty="0" smtClean="0"/>
                  <a:t>7.8</a:t>
                </a:r>
              </a:p>
              <a:p>
                <a:pPr marL="0" indent="0">
                  <a:buNone/>
                </a:pPr>
                <a:r>
                  <a:rPr lang="en-AU" u="sng" dirty="0" smtClean="0"/>
                  <a:t>Standard deviation:</a:t>
                </a:r>
              </a:p>
              <a:p>
                <a:pPr marL="457200" lvl="1" indent="0">
                  <a:buNone/>
                </a:pPr>
                <a:r>
                  <a:rPr lang="en-AU" dirty="0" smtClean="0"/>
                  <a:t> (5-7.8)</a:t>
                </a:r>
                <a:r>
                  <a:rPr lang="en-AU" baseline="30000" dirty="0" smtClean="0"/>
                  <a:t>2</a:t>
                </a:r>
                <a:r>
                  <a:rPr lang="en-AU" dirty="0" smtClean="0"/>
                  <a:t> + (6-7.8)</a:t>
                </a:r>
                <a:r>
                  <a:rPr lang="en-AU" baseline="30000" dirty="0" smtClean="0"/>
                  <a:t>2</a:t>
                </a:r>
                <a:r>
                  <a:rPr lang="en-AU" dirty="0" smtClean="0"/>
                  <a:t> + (7-7.8)</a:t>
                </a:r>
                <a:r>
                  <a:rPr lang="en-AU" baseline="30000" dirty="0" smtClean="0"/>
                  <a:t>2</a:t>
                </a:r>
                <a:r>
                  <a:rPr lang="en-AU" dirty="0" smtClean="0"/>
                  <a:t> + (8-7.8)</a:t>
                </a:r>
                <a:r>
                  <a:rPr lang="en-AU" baseline="30000" dirty="0" smtClean="0"/>
                  <a:t>2</a:t>
                </a:r>
                <a:r>
                  <a:rPr lang="en-AU" dirty="0" smtClean="0"/>
                  <a:t> + (10-7.8)</a:t>
                </a:r>
                <a:r>
                  <a:rPr lang="en-AU" baseline="30000" dirty="0" smtClean="0"/>
                  <a:t>2 </a:t>
                </a:r>
              </a:p>
              <a:p>
                <a:pPr marL="457200" lvl="1" indent="0">
                  <a:buNone/>
                </a:pPr>
                <a:r>
                  <a:rPr lang="en-AU" dirty="0" smtClean="0"/>
                  <a:t>= 16.6 / 6 = 2.77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AU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</m:ctrlPr>
                        </m:radPr>
                        <m:deg/>
                        <m:e>
                          <m:r>
                            <a:rPr lang="en-AU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2.77</m:t>
                          </m:r>
                        </m:e>
                      </m:rad>
                    </m:oMath>
                  </m:oMathPara>
                </a14:m>
                <a:endParaRPr lang="en-AU" b="0" i="1" dirty="0" smtClean="0">
                  <a:latin typeface="Cambria Math" charset="0"/>
                  <a:ea typeface="Cambria Math" charset="0"/>
                  <a:cs typeface="Cambria Math" charset="0"/>
                </a:endParaRP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=1.66</m:t>
                      </m:r>
                    </m:oMath>
                  </m:oMathPara>
                </a14:m>
                <a:endParaRPr lang="en-AU" dirty="0" smtClean="0"/>
              </a:p>
              <a:p>
                <a:pPr marL="457200" lvl="1" indent="0">
                  <a:buNone/>
                </a:pPr>
                <a:endParaRPr lang="en-AU" dirty="0"/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85799" y="1434931"/>
                <a:ext cx="6605017" cy="5112173"/>
              </a:xfrm>
              <a:blipFill rotWithShape="0">
                <a:blip r:embed="rId2"/>
                <a:stretch>
                  <a:fillRect l="-73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/>
          <p:cNvSpPr txBox="1"/>
          <p:nvPr/>
        </p:nvSpPr>
        <p:spPr>
          <a:xfrm>
            <a:off x="6156960" y="1719072"/>
            <a:ext cx="558956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/>
            <a:r>
              <a:rPr lang="en-AU" dirty="0"/>
              <a:t>So 68% of all $ amounts should be between 6.14k and 9.46k (+/- 1 SD</a:t>
            </a:r>
            <a:r>
              <a:rPr lang="en-AU" dirty="0" smtClean="0"/>
              <a:t>)</a:t>
            </a:r>
          </a:p>
          <a:p>
            <a:pPr marL="0" lvl="1"/>
            <a:endParaRPr lang="en-AU" dirty="0"/>
          </a:p>
          <a:p>
            <a:pPr marL="0" lvl="1"/>
            <a:r>
              <a:rPr lang="en-AU" dirty="0" smtClean="0"/>
              <a:t>and </a:t>
            </a:r>
            <a:r>
              <a:rPr lang="en-AU" dirty="0"/>
              <a:t>87% of all scores should be between 4.48k and 11.2k </a:t>
            </a:r>
          </a:p>
          <a:p>
            <a:endParaRPr lang="en-AU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1141" y="3638445"/>
            <a:ext cx="4521200" cy="179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3094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Luckily</a:t>
            </a:r>
            <a:r>
              <a:rPr lang="is-IS" dirty="0" smtClean="0"/>
              <a:t>…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We have calculators to do this work for us. </a:t>
            </a:r>
          </a:p>
          <a:p>
            <a:r>
              <a:rPr lang="en-AU" dirty="0" smtClean="0"/>
              <a:t>Statisticians use calculations and digital program to find the standard deviation of a set of results for them. </a:t>
            </a:r>
          </a:p>
          <a:p>
            <a:r>
              <a:rPr lang="en-AU" dirty="0" smtClean="0"/>
              <a:t>You will need to know how to use a calculator to find the Standard deviation on your calculator. </a:t>
            </a:r>
          </a:p>
          <a:p>
            <a:endParaRPr lang="en-AU" dirty="0"/>
          </a:p>
          <a:p>
            <a:r>
              <a:rPr lang="en-AU" dirty="0" smtClean="0"/>
              <a:t>The preferred calculator to own is the CASIO FX-82. If you can use one of these it would be the best. </a:t>
            </a:r>
          </a:p>
          <a:p>
            <a:r>
              <a:rPr lang="en-AU" dirty="0" smtClean="0"/>
              <a:t>If you need your teacher to email your parents about getting you one, please let them know. </a:t>
            </a:r>
            <a:endParaRPr lang="en-AU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04313" y="204410"/>
            <a:ext cx="1937657" cy="1937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012316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3F296A"/>
      </a:dk2>
      <a:lt2>
        <a:srgbClr val="EBEBEB"/>
      </a:lt2>
      <a:accent1>
        <a:srgbClr val="E84574"/>
      </a:accent1>
      <a:accent2>
        <a:srgbClr val="798FF2"/>
      </a:accent2>
      <a:accent3>
        <a:srgbClr val="95C369"/>
      </a:accent3>
      <a:accent4>
        <a:srgbClr val="EE875A"/>
      </a:accent4>
      <a:accent5>
        <a:srgbClr val="C363E8"/>
      </a:accent5>
      <a:accent6>
        <a:srgbClr val="6AADC8"/>
      </a:accent6>
      <a:hlink>
        <a:srgbClr val="FE80C7"/>
      </a:hlink>
      <a:folHlink>
        <a:srgbClr val="FBA3EC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2" id="{8A52E383-5B10-4447-AA10-8D7246AD3E7B}" vid="{D92C5A04-299F-6F48-B2A5-13D3E83A9D2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Cornell notes</Template>
  <TotalTime>7068</TotalTime>
  <Words>482</Words>
  <Application>Microsoft Macintosh PowerPoint</Application>
  <PresentationFormat>Widescreen</PresentationFormat>
  <Paragraphs>70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Calibri</vt:lpstr>
      <vt:lpstr>Calibri Light</vt:lpstr>
      <vt:lpstr>Cambria Math</vt:lpstr>
      <vt:lpstr>Arial</vt:lpstr>
      <vt:lpstr>Celestial</vt:lpstr>
      <vt:lpstr>Standard Deviation</vt:lpstr>
      <vt:lpstr>Standard Deviation</vt:lpstr>
      <vt:lpstr>Standard Deviation - Example</vt:lpstr>
      <vt:lpstr>Standard Deviation - Application. </vt:lpstr>
      <vt:lpstr>Practise</vt:lpstr>
      <vt:lpstr>Practise answers</vt:lpstr>
      <vt:lpstr>Luckily…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Standard Deviation</dc:title>
  <dc:creator>POWER Travis [Baldivis Secondary College]</dc:creator>
  <cp:lastModifiedBy>POWER Travis [Baldivis Secondary College]</cp:lastModifiedBy>
  <cp:revision>7</cp:revision>
  <dcterms:created xsi:type="dcterms:W3CDTF">2018-07-31T12:51:14Z</dcterms:created>
  <dcterms:modified xsi:type="dcterms:W3CDTF">2018-08-07T12:20:45Z</dcterms:modified>
</cp:coreProperties>
</file>
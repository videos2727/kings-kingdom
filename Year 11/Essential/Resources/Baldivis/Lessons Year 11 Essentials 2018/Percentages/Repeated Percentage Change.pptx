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1" r:id="rId1"/>
  </p:sldMasterIdLst>
  <p:notesMasterIdLst>
    <p:notesMasterId r:id="rId8"/>
  </p:notesMasterIdLst>
  <p:sldIdLst>
    <p:sldId id="314" r:id="rId2"/>
    <p:sldId id="259" r:id="rId3"/>
    <p:sldId id="315" r:id="rId4"/>
    <p:sldId id="303" r:id="rId5"/>
    <p:sldId id="316" r:id="rId6"/>
    <p:sldId id="30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RAIG Mason [Baldivis Secondary College]" initials="CM[SC" lastIdx="1" clrIdx="0">
    <p:extLst>
      <p:ext uri="{19B8F6BF-5375-455C-9EA6-DF929625EA0E}">
        <p15:presenceInfo xmlns:p15="http://schemas.microsoft.com/office/powerpoint/2012/main" userId="S-1-5-21-1784082018-1042323867-3467271631-10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" y="2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922E7E-1802-43B2-ABD2-4A6C3C4E962F}" type="datetimeFigureOut">
              <a:rPr lang="en-GB" smtClean="0"/>
              <a:t>28/08/2018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071DA5-31C3-4F80-971C-65D02A62EC1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572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220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8/28/2018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340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649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8/28/2018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873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3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517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05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798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550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255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189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8/28/2018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902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8/28/2018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042648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8/28/2018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756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2331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6321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853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t>8/28/2018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1604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66370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8/28/2018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105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174A7-A60D-4281-9070-7FA1793299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Repeated Percentage Change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3BCF9F-E394-4E8E-998D-E230CBF1C6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3840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711305"/>
            <a:ext cx="10820400" cy="4024125"/>
          </a:xfrm>
          <a:prstGeom prst="rect">
            <a:avLst/>
          </a:prstGeom>
          <a:noFill/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At the end of the lesson you should be able to</a:t>
            </a:r>
            <a:endParaRPr lang="en-AU" sz="3900" dirty="0">
              <a:latin typeface="Kiwi School Handwriting" panose="00000500000000000000" pitchFamily="2" charset="0"/>
            </a:endParaRPr>
          </a:p>
          <a:p>
            <a:pPr marL="571500" indent="-571500"/>
            <a:r>
              <a:rPr lang="en-AU" sz="3900" dirty="0">
                <a:latin typeface="Kiwi School Handwriting" panose="00000500000000000000" pitchFamily="2" charset="0"/>
              </a:rPr>
              <a:t>Calculate the final amount after repeated percentage changes.</a:t>
            </a:r>
          </a:p>
          <a:p>
            <a:pPr marL="571500" indent="-571500"/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0EA4F-3599-40E2-9DE1-F7A47E416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Let’s Start With a Question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23F9E-98CD-4F19-A42D-FF224935D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5333" y="1831570"/>
            <a:ext cx="7045036" cy="4993178"/>
          </a:xfrm>
        </p:spPr>
        <p:txBody>
          <a:bodyPr>
            <a:normAutofit/>
          </a:bodyPr>
          <a:lstStyle/>
          <a:p>
            <a:r>
              <a:rPr lang="en-AU" dirty="0"/>
              <a:t>In an unpublished Harry Potter manuscript*, Ron Weasley wins a bag of 1 million golden Galleons. He is given a choice by the Gringotts goblin banker when he deposits his winnings.</a:t>
            </a:r>
            <a:br>
              <a:rPr lang="en-AU" dirty="0"/>
            </a:br>
            <a:br>
              <a:rPr lang="en-AU" dirty="0"/>
            </a:br>
            <a:r>
              <a:rPr lang="en-AU" dirty="0"/>
              <a:t>Ron can choose to deposit his 1 million Galleons and pay a 20% handling fee to Gringotts Bank or he can pay his handling fee as two payments of 10%.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r>
              <a:rPr lang="en-AU" dirty="0"/>
              <a:t>What should Ron do? He is unable to send an OWL to Hermione or Harry.</a:t>
            </a:r>
          </a:p>
          <a:p>
            <a:endParaRPr lang="en-AU" dirty="0"/>
          </a:p>
          <a:p>
            <a:pPr marL="0" indent="0">
              <a:buNone/>
            </a:pPr>
            <a:r>
              <a:rPr lang="en-AU" sz="1400" dirty="0"/>
              <a:t>* May not reflect the true nature of the existence of an unpublished Harry Potter manuscript.</a:t>
            </a:r>
            <a:endParaRPr lang="en-GB" sz="1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AC4C43-40E9-4E40-99F9-EED4306C0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663" y="1831570"/>
            <a:ext cx="3180833" cy="3000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530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173682" y="1019690"/>
            <a:ext cx="11585181" cy="138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173682" y="1892569"/>
            <a:ext cx="1158518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3682" y="10041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87275" y="1892569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42737" y="224593"/>
            <a:ext cx="6421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Percentages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2724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28/08/2018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682" y="1033573"/>
            <a:ext cx="100622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find the value of items that are increased or decreased by percentage several times?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DCA67C-C3CD-47D4-90D4-FE6D9654DE41}"/>
              </a:ext>
            </a:extLst>
          </p:cNvPr>
          <p:cNvSpPr txBox="1"/>
          <p:nvPr/>
        </p:nvSpPr>
        <p:spPr>
          <a:xfrm>
            <a:off x="2600235" y="1966172"/>
            <a:ext cx="915862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Consider the following situation:</a:t>
            </a:r>
          </a:p>
          <a:p>
            <a:endParaRPr lang="en-AU" sz="2000" dirty="0"/>
          </a:p>
          <a:p>
            <a:r>
              <a:rPr lang="en-AU" sz="2000" dirty="0"/>
              <a:t>Ando </a:t>
            </a:r>
            <a:r>
              <a:rPr lang="en-AU" sz="2000" dirty="0" err="1"/>
              <a:t>Funtano</a:t>
            </a:r>
            <a:r>
              <a:rPr lang="en-AU" sz="2000" dirty="0"/>
              <a:t> is in his favourite surf shop because they are having an end of year sale with everything at 35% off. Surfboards have an additional 13% off if the board is over $500. How much is a $729.00 surfboard and a $40 pair of thongs going to cost Ando during this sale?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4AB4A2-217E-466F-B43C-7C683C2FEF80}"/>
              </a:ext>
            </a:extLst>
          </p:cNvPr>
          <p:cNvSpPr txBox="1"/>
          <p:nvPr/>
        </p:nvSpPr>
        <p:spPr>
          <a:xfrm>
            <a:off x="357809" y="4068417"/>
            <a:ext cx="2054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steps to solve multiple percentage problems?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173682" y="1019690"/>
            <a:ext cx="11585181" cy="1388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cxnSpLocks/>
          </p:cNvCxnSpPr>
          <p:nvPr/>
        </p:nvCxnSpPr>
        <p:spPr>
          <a:xfrm>
            <a:off x="173682" y="1892569"/>
            <a:ext cx="1158518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3682" y="100415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87275" y="1892569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42737" y="224593"/>
            <a:ext cx="64214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Title: Percentages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3175" y="106355"/>
            <a:ext cx="27245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Date: 28/08/2018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682" y="1033573"/>
            <a:ext cx="100622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we find the value of items that are increased or decreased by percentage several times?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4AB4A2-217E-466F-B43C-7C683C2FEF80}"/>
              </a:ext>
            </a:extLst>
          </p:cNvPr>
          <p:cNvSpPr txBox="1"/>
          <p:nvPr/>
        </p:nvSpPr>
        <p:spPr>
          <a:xfrm>
            <a:off x="357809" y="4068417"/>
            <a:ext cx="2054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steps to solve multiple percentage problems?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1E91FB-50DF-4C9A-9D3D-37E2146D977A}"/>
              </a:ext>
            </a:extLst>
          </p:cNvPr>
          <p:cNvSpPr/>
          <p:nvPr/>
        </p:nvSpPr>
        <p:spPr>
          <a:xfrm>
            <a:off x="2693325" y="2036356"/>
            <a:ext cx="87560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Step 1: </a:t>
            </a:r>
            <a:r>
              <a:rPr lang="en-AU" dirty="0"/>
              <a:t>Find 35% of the surfboard and thongs (this is your savings from the sale)</a:t>
            </a:r>
          </a:p>
          <a:p>
            <a:r>
              <a:rPr lang="en-AU" dirty="0"/>
              <a:t>Thongs								Surfboard</a:t>
            </a:r>
          </a:p>
          <a:p>
            <a:r>
              <a:rPr lang="en-AU" dirty="0"/>
              <a:t>0.35 X 40 = $14						0.35 X 729 = $255.15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7A84A3-3ABF-43E2-816C-A709E917D7F2}"/>
              </a:ext>
            </a:extLst>
          </p:cNvPr>
          <p:cNvSpPr/>
          <p:nvPr/>
        </p:nvSpPr>
        <p:spPr>
          <a:xfrm>
            <a:off x="2740486" y="3248524"/>
            <a:ext cx="873107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Step 2: </a:t>
            </a:r>
            <a:r>
              <a:rPr lang="en-AU" dirty="0"/>
              <a:t>Subtract the discount from the original price. (this will find the new price of items)</a:t>
            </a:r>
          </a:p>
          <a:p>
            <a:endParaRPr lang="en-AU" dirty="0"/>
          </a:p>
          <a:p>
            <a:r>
              <a:rPr lang="en-AU" dirty="0"/>
              <a:t>Thongs: $40 – $14 = $26				Surfboard: $729 – $255.15 = $473.85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AB0F25-3F7C-4E2F-BB3E-F750FB82166D}"/>
              </a:ext>
            </a:extLst>
          </p:cNvPr>
          <p:cNvSpPr/>
          <p:nvPr/>
        </p:nvSpPr>
        <p:spPr>
          <a:xfrm>
            <a:off x="2762655" y="4499264"/>
            <a:ext cx="79219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Step 3: </a:t>
            </a:r>
            <a:r>
              <a:rPr lang="en-AU" dirty="0"/>
              <a:t>Find 13% of the new surfboard price $473.85</a:t>
            </a:r>
          </a:p>
          <a:p>
            <a:r>
              <a:rPr lang="en-AU" dirty="0"/>
              <a:t>0.13 X 473.85= $61.60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3EC10C-8CE2-4CE9-8155-BEB4992DB444}"/>
              </a:ext>
            </a:extLst>
          </p:cNvPr>
          <p:cNvSpPr/>
          <p:nvPr/>
        </p:nvSpPr>
        <p:spPr>
          <a:xfrm>
            <a:off x="2762655" y="5149854"/>
            <a:ext cx="885299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Step 4: </a:t>
            </a:r>
            <a:r>
              <a:rPr lang="en-AU" dirty="0"/>
              <a:t>Subtract the discount from the surfboard price to find the final price.</a:t>
            </a:r>
          </a:p>
          <a:p>
            <a:r>
              <a:rPr lang="en-AU" dirty="0"/>
              <a:t>$473.85 – $61.60 = $412.25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A6E7C54-CA8D-4C45-A5F5-548DA5BB75F8}"/>
              </a:ext>
            </a:extLst>
          </p:cNvPr>
          <p:cNvSpPr/>
          <p:nvPr/>
        </p:nvSpPr>
        <p:spPr>
          <a:xfrm>
            <a:off x="2762655" y="5893476"/>
            <a:ext cx="84650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Step 5: </a:t>
            </a:r>
            <a:r>
              <a:rPr lang="en-AU" dirty="0"/>
              <a:t>Add the new thong price and surfboard prices together </a:t>
            </a:r>
          </a:p>
          <a:p>
            <a:r>
              <a:rPr lang="en-AU" dirty="0"/>
              <a:t>$26 + $412.25 = $438.25 (This is a saving of $769 – $438.25 = $330.75)</a:t>
            </a:r>
          </a:p>
        </p:txBody>
      </p:sp>
    </p:spTree>
    <p:extLst>
      <p:ext uri="{BB962C8B-B14F-4D97-AF65-F5344CB8AC3E}">
        <p14:creationId xmlns:p14="http://schemas.microsoft.com/office/powerpoint/2010/main" val="3614701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3" grpId="0"/>
      <p:bldP spid="14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64B3A6-61A3-4AC3-B959-E227A1D661F9}"/>
              </a:ext>
            </a:extLst>
          </p:cNvPr>
          <p:cNvSpPr txBox="1"/>
          <p:nvPr/>
        </p:nvSpPr>
        <p:spPr>
          <a:xfrm>
            <a:off x="1113183" y="304800"/>
            <a:ext cx="9541565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Jenny is buying shoes at the Rockingham shopping centre. The shoes that she is looking at cost $163. If Jenny buys two pairs of the same shoe the store will give her 15% off both pairs. If jenny buys three pairs of the same shoe the store will give 15% off each pair plus an additional 8% off each pair. How much will three pairs of shoes cost Jenny? What was her total saving?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Boxing bag cost $149. If I decrease the price by 17% then again by 24% what is the new price?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r>
              <a:rPr lang="en-AU" dirty="0"/>
              <a:t>3. </a:t>
            </a:r>
            <a:r>
              <a:rPr lang="en-AU" dirty="0" err="1"/>
              <a:t>Craigo</a:t>
            </a:r>
            <a:r>
              <a:rPr lang="en-AU" dirty="0"/>
              <a:t> </a:t>
            </a:r>
            <a:r>
              <a:rPr lang="en-AU" dirty="0" err="1"/>
              <a:t>Daymango</a:t>
            </a:r>
            <a:r>
              <a:rPr lang="en-AU" dirty="0"/>
              <a:t> is an expert painter. His latest masterpiece costs $1220. A local buyer called Ridley Barr wants to buy the painting, however </a:t>
            </a:r>
            <a:r>
              <a:rPr lang="en-AU" dirty="0" err="1"/>
              <a:t>Craigo</a:t>
            </a:r>
            <a:r>
              <a:rPr lang="en-AU" dirty="0"/>
              <a:t> increases the painting price by 61% and later by another 7%. What is the cost of the painting?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66319332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730</TotalTime>
  <Words>506</Words>
  <Application>Microsoft Office PowerPoint</Application>
  <PresentationFormat>Widescreen</PresentationFormat>
  <Paragraphs>58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Century Gothic</vt:lpstr>
      <vt:lpstr>Kiwi School Handwriting</vt:lpstr>
      <vt:lpstr>BSC Theme</vt:lpstr>
      <vt:lpstr>Repeated Percentage Change</vt:lpstr>
      <vt:lpstr>Learning Intentions</vt:lpstr>
      <vt:lpstr>Let’s Start With a Question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Percentages</dc:title>
  <dc:creator>E4092707</dc:creator>
  <cp:lastModifiedBy>LUM Magdeline [Baldivis Secondary College]</cp:lastModifiedBy>
  <cp:revision>26</cp:revision>
  <dcterms:created xsi:type="dcterms:W3CDTF">2018-05-20T02:10:51Z</dcterms:created>
  <dcterms:modified xsi:type="dcterms:W3CDTF">2018-08-28T01:31:10Z</dcterms:modified>
</cp:coreProperties>
</file>
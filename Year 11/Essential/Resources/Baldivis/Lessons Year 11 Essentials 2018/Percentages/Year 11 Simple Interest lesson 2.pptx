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14"/>
  </p:notesMasterIdLst>
  <p:sldIdLst>
    <p:sldId id="266" r:id="rId2"/>
    <p:sldId id="267" r:id="rId3"/>
    <p:sldId id="283" r:id="rId4"/>
    <p:sldId id="277" r:id="rId5"/>
    <p:sldId id="280" r:id="rId6"/>
    <p:sldId id="284" r:id="rId7"/>
    <p:sldId id="281" r:id="rId8"/>
    <p:sldId id="275" r:id="rId9"/>
    <p:sldId id="282" r:id="rId10"/>
    <p:sldId id="286" r:id="rId11"/>
    <p:sldId id="28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91188-AB50-4DA8-9700-D8F2E2E87015}" v="869" dt="2018-08-30T12:54:49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8303" autoAdjust="0"/>
  </p:normalViewPr>
  <p:slideViewPr>
    <p:cSldViewPr snapToGrid="0" snapToObjects="1">
      <p:cViewPr varScale="1">
        <p:scale>
          <a:sx n="83" d="100"/>
          <a:sy n="83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F2591188-AB50-4DA8-9700-D8F2E2E87015}"/>
    <pc:docChg chg="custSel addSld delSld modSld sldOrd">
      <pc:chgData name="Hamilton Stott" userId="e28223afab1f786a" providerId="LiveId" clId="{F2591188-AB50-4DA8-9700-D8F2E2E87015}" dt="2018-08-30T12:54:49.093" v="867"/>
      <pc:docMkLst>
        <pc:docMk/>
      </pc:docMkLst>
      <pc:sldChg chg="modSp ord">
        <pc:chgData name="Hamilton Stott" userId="e28223afab1f786a" providerId="LiveId" clId="{F2591188-AB50-4DA8-9700-D8F2E2E87015}" dt="2018-08-30T12:45:05.094" v="850" actId="20577"/>
        <pc:sldMkLst>
          <pc:docMk/>
          <pc:sldMk cId="1119915101" sldId="281"/>
        </pc:sldMkLst>
        <pc:spChg chg="mod">
          <ac:chgData name="Hamilton Stott" userId="e28223afab1f786a" providerId="LiveId" clId="{F2591188-AB50-4DA8-9700-D8F2E2E87015}" dt="2018-08-30T12:45:05.094" v="850" actId="20577"/>
          <ac:spMkLst>
            <pc:docMk/>
            <pc:sldMk cId="1119915101" sldId="281"/>
            <ac:spMk id="3" creationId="{D632CB56-690D-40F0-B2B8-AB21F6820A29}"/>
          </ac:spMkLst>
        </pc:spChg>
      </pc:sldChg>
      <pc:sldChg chg="addSp delSp modSp">
        <pc:chgData name="Hamilton Stott" userId="e28223afab1f786a" providerId="LiveId" clId="{F2591188-AB50-4DA8-9700-D8F2E2E87015}" dt="2018-08-30T12:51:13.227" v="854" actId="478"/>
        <pc:sldMkLst>
          <pc:docMk/>
          <pc:sldMk cId="258419355" sldId="282"/>
        </pc:sldMkLst>
        <pc:spChg chg="add del mod">
          <ac:chgData name="Hamilton Stott" userId="e28223afab1f786a" providerId="LiveId" clId="{F2591188-AB50-4DA8-9700-D8F2E2E87015}" dt="2018-08-30T12:51:13.227" v="854" actId="478"/>
          <ac:spMkLst>
            <pc:docMk/>
            <pc:sldMk cId="258419355" sldId="282"/>
            <ac:spMk id="5" creationId="{15A58425-4A5F-4131-BAFA-C3F90F713125}"/>
          </ac:spMkLst>
        </pc:spChg>
        <pc:picChg chg="del">
          <ac:chgData name="Hamilton Stott" userId="e28223afab1f786a" providerId="LiveId" clId="{F2591188-AB50-4DA8-9700-D8F2E2E87015}" dt="2018-08-30T12:50:59.538" v="851" actId="478"/>
          <ac:picMkLst>
            <pc:docMk/>
            <pc:sldMk cId="258419355" sldId="282"/>
            <ac:picMk id="4" creationId="{EA264FCD-6F1D-4C12-A6AE-6BB028CCAEB8}"/>
          </ac:picMkLst>
        </pc:picChg>
        <pc:picChg chg="add mod">
          <ac:chgData name="Hamilton Stott" userId="e28223afab1f786a" providerId="LiveId" clId="{F2591188-AB50-4DA8-9700-D8F2E2E87015}" dt="2018-08-30T12:51:02.270" v="853" actId="1076"/>
          <ac:picMkLst>
            <pc:docMk/>
            <pc:sldMk cId="258419355" sldId="282"/>
            <ac:picMk id="6" creationId="{D305D4CC-1139-4B92-ABDE-285A4F265D56}"/>
          </ac:picMkLst>
        </pc:picChg>
      </pc:sldChg>
      <pc:sldChg chg="modSp modAnim">
        <pc:chgData name="Hamilton Stott" userId="e28223afab1f786a" providerId="LiveId" clId="{F2591188-AB50-4DA8-9700-D8F2E2E87015}" dt="2018-08-30T12:37:43.705" v="465" actId="20577"/>
        <pc:sldMkLst>
          <pc:docMk/>
          <pc:sldMk cId="1827861618" sldId="284"/>
        </pc:sldMkLst>
        <pc:spChg chg="mod">
          <ac:chgData name="Hamilton Stott" userId="e28223afab1f786a" providerId="LiveId" clId="{F2591188-AB50-4DA8-9700-D8F2E2E87015}" dt="2018-08-30T12:37:43.705" v="465" actId="20577"/>
          <ac:spMkLst>
            <pc:docMk/>
            <pc:sldMk cId="1827861618" sldId="284"/>
            <ac:spMk id="3" creationId="{49BB99EA-2F34-42B5-B2A5-7292458D1193}"/>
          </ac:spMkLst>
        </pc:spChg>
      </pc:sldChg>
      <pc:sldChg chg="addSp delSp modSp">
        <pc:chgData name="Hamilton Stott" userId="e28223afab1f786a" providerId="LiveId" clId="{F2591188-AB50-4DA8-9700-D8F2E2E87015}" dt="2018-08-30T12:53:00.887" v="859" actId="14100"/>
        <pc:sldMkLst>
          <pc:docMk/>
          <pc:sldMk cId="3910844235" sldId="285"/>
        </pc:sldMkLst>
        <pc:spChg chg="add mod">
          <ac:chgData name="Hamilton Stott" userId="e28223afab1f786a" providerId="LiveId" clId="{F2591188-AB50-4DA8-9700-D8F2E2E87015}" dt="2018-08-30T12:52:51.223" v="855" actId="478"/>
          <ac:spMkLst>
            <pc:docMk/>
            <pc:sldMk cId="3910844235" sldId="285"/>
            <ac:spMk id="5" creationId="{300B9B68-5EFE-4D3E-8579-373A67959332}"/>
          </ac:spMkLst>
        </pc:spChg>
        <pc:picChg chg="del">
          <ac:chgData name="Hamilton Stott" userId="e28223afab1f786a" providerId="LiveId" clId="{F2591188-AB50-4DA8-9700-D8F2E2E87015}" dt="2018-08-30T12:52:51.223" v="855" actId="478"/>
          <ac:picMkLst>
            <pc:docMk/>
            <pc:sldMk cId="3910844235" sldId="285"/>
            <ac:picMk id="4" creationId="{8E40DD64-7A53-445E-B8B8-76E35EABF361}"/>
          </ac:picMkLst>
        </pc:picChg>
        <pc:picChg chg="add mod">
          <ac:chgData name="Hamilton Stott" userId="e28223afab1f786a" providerId="LiveId" clId="{F2591188-AB50-4DA8-9700-D8F2E2E87015}" dt="2018-08-30T12:53:00.887" v="859" actId="14100"/>
          <ac:picMkLst>
            <pc:docMk/>
            <pc:sldMk cId="3910844235" sldId="285"/>
            <ac:picMk id="6" creationId="{891DB945-1459-4A10-B9C0-2A915D40260D}"/>
          </ac:picMkLst>
        </pc:picChg>
      </pc:sldChg>
      <pc:sldChg chg="addSp delSp modSp ord">
        <pc:chgData name="Hamilton Stott" userId="e28223afab1f786a" providerId="LiveId" clId="{F2591188-AB50-4DA8-9700-D8F2E2E87015}" dt="2018-08-30T12:54:49.093" v="867"/>
        <pc:sldMkLst>
          <pc:docMk/>
          <pc:sldMk cId="468542214" sldId="286"/>
        </pc:sldMkLst>
        <pc:spChg chg="add mod">
          <ac:chgData name="Hamilton Stott" userId="e28223afab1f786a" providerId="LiveId" clId="{F2591188-AB50-4DA8-9700-D8F2E2E87015}" dt="2018-08-30T12:53:43.960" v="860" actId="478"/>
          <ac:spMkLst>
            <pc:docMk/>
            <pc:sldMk cId="468542214" sldId="286"/>
            <ac:spMk id="4" creationId="{035E386A-FD4D-48EA-AA57-28686284C17B}"/>
          </ac:spMkLst>
        </pc:spChg>
        <pc:picChg chg="add mod">
          <ac:chgData name="Hamilton Stott" userId="e28223afab1f786a" providerId="LiveId" clId="{F2591188-AB50-4DA8-9700-D8F2E2E87015}" dt="2018-08-30T12:53:54.512" v="864" actId="1076"/>
          <ac:picMkLst>
            <pc:docMk/>
            <pc:sldMk cId="468542214" sldId="286"/>
            <ac:picMk id="5" creationId="{541995C2-578A-4925-B046-ECF96CCD2B33}"/>
          </ac:picMkLst>
        </pc:picChg>
        <pc:picChg chg="del">
          <ac:chgData name="Hamilton Stott" userId="e28223afab1f786a" providerId="LiveId" clId="{F2591188-AB50-4DA8-9700-D8F2E2E87015}" dt="2018-08-30T12:53:43.960" v="860" actId="478"/>
          <ac:picMkLst>
            <pc:docMk/>
            <pc:sldMk cId="468542214" sldId="286"/>
            <ac:picMk id="7" creationId="{F8CDC78F-B413-4943-BD32-23859C74FD41}"/>
          </ac:picMkLst>
        </pc:picChg>
      </pc:sldChg>
      <pc:sldChg chg="add del">
        <pc:chgData name="Hamilton Stott" userId="e28223afab1f786a" providerId="LiveId" clId="{F2591188-AB50-4DA8-9700-D8F2E2E87015}" dt="2018-08-30T12:54:38.125" v="866" actId="2696"/>
        <pc:sldMkLst>
          <pc:docMk/>
          <pc:sldMk cId="2986126602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30/08/2018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a general discussion with the class about </a:t>
            </a:r>
            <a:r>
              <a:rPr lang="en-AU" dirty="0" err="1"/>
              <a:t>paypal</a:t>
            </a:r>
            <a:r>
              <a:rPr lang="en-AU" dirty="0"/>
              <a:t>, </a:t>
            </a:r>
            <a:r>
              <a:rPr lang="en-AU" dirty="0" err="1"/>
              <a:t>afterpay</a:t>
            </a:r>
            <a:r>
              <a:rPr lang="en-AU" dirty="0"/>
              <a:t>, credit cards, debit cards, google pay, apple pay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60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71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13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32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62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33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67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49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56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37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29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0894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527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3028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823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764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89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58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</a:t>
            </a:r>
            <a:b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Calculate Simple Interest (2.2.4)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(Application of percentages)</a:t>
            </a:r>
          </a:p>
          <a:p>
            <a:pPr marL="0" indent="0">
              <a:buNone/>
            </a:pPr>
            <a:endParaRPr lang="en-GB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Up – Talk – Down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95757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</a:p>
          <a:p>
            <a:pPr marL="533400" indent="-533400"/>
            <a:r>
              <a:rPr lang="en-US" sz="2400" dirty="0"/>
              <a:t>Spend 60 seconds writing down all of the ways you can pay for things (including all the electronic payment methods)</a:t>
            </a:r>
          </a:p>
          <a:p>
            <a:pPr marL="533400" indent="-533400"/>
            <a:r>
              <a:rPr lang="en-US" sz="2400" dirty="0"/>
              <a:t>When asked, everyone will stand up, take turns to say one of your items, and then sit down once you have had your turn to speak</a:t>
            </a:r>
          </a:p>
        </p:txBody>
      </p:sp>
    </p:spTree>
    <p:extLst>
      <p:ext uri="{BB962C8B-B14F-4D97-AF65-F5344CB8AC3E}">
        <p14:creationId xmlns:p14="http://schemas.microsoft.com/office/powerpoint/2010/main" val="320776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   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 if I don’t have a whole number of years?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569" y="1524454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6569" y="1524454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2791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4DBC823-20A0-453A-AECD-D54BF369D217}"/>
              </a:ext>
            </a:extLst>
          </p:cNvPr>
          <p:cNvSpPr/>
          <p:nvPr/>
        </p:nvSpPr>
        <p:spPr>
          <a:xfrm>
            <a:off x="5576792" y="1524454"/>
            <a:ext cx="6096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i="1" dirty="0">
                <a:solidFill>
                  <a:srgbClr val="006600"/>
                </a:solidFill>
                <a:latin typeface="Verdana" pitchFamily="34" charset="0"/>
              </a:rPr>
              <a:t>I</a:t>
            </a:r>
            <a:r>
              <a:rPr lang="en-US" sz="2000" dirty="0">
                <a:solidFill>
                  <a:srgbClr val="006600"/>
                </a:solidFill>
                <a:latin typeface="Verdana" pitchFamily="34" charset="0"/>
              </a:rPr>
              <a:t> </a:t>
            </a:r>
            <a:r>
              <a:rPr lang="en-US" sz="2000" dirty="0">
                <a:latin typeface="Verdana" pitchFamily="34" charset="0"/>
              </a:rPr>
              <a:t>= </a:t>
            </a:r>
            <a:r>
              <a:rPr lang="en-US" sz="2000" dirty="0">
                <a:solidFill>
                  <a:srgbClr val="006600"/>
                </a:solidFill>
                <a:latin typeface="Verdana" pitchFamily="34" charset="0"/>
              </a:rPr>
              <a:t>Simple interest </a:t>
            </a:r>
            <a:r>
              <a:rPr lang="en-US" sz="2000" dirty="0">
                <a:latin typeface="Verdana" pitchFamily="34" charset="0"/>
              </a:rPr>
              <a:t>is money paid only on the principal.</a:t>
            </a:r>
          </a:p>
          <a:p>
            <a:endParaRPr lang="en-US" sz="2000" i="1" dirty="0">
              <a:solidFill>
                <a:srgbClr val="006699"/>
              </a:solidFill>
              <a:latin typeface="Verdana" pitchFamily="34" charset="0"/>
            </a:endParaRPr>
          </a:p>
          <a:p>
            <a:r>
              <a:rPr lang="en-US" sz="2000" i="1" dirty="0">
                <a:solidFill>
                  <a:srgbClr val="006699"/>
                </a:solidFill>
                <a:latin typeface="Verdana" pitchFamily="34" charset="0"/>
              </a:rPr>
              <a:t>P</a:t>
            </a:r>
            <a:r>
              <a:rPr lang="en-US" sz="2000" dirty="0">
                <a:latin typeface="Verdana" pitchFamily="34" charset="0"/>
              </a:rPr>
              <a:t> = </a:t>
            </a:r>
            <a:r>
              <a:rPr lang="en-US" sz="2000" dirty="0">
                <a:solidFill>
                  <a:srgbClr val="006699"/>
                </a:solidFill>
                <a:latin typeface="Verdana" pitchFamily="34" charset="0"/>
              </a:rPr>
              <a:t>Principal</a:t>
            </a:r>
            <a:r>
              <a:rPr lang="en-US" sz="2000" dirty="0">
                <a:latin typeface="Verdana" pitchFamily="34" charset="0"/>
              </a:rPr>
              <a:t> is the amount of money borrowed or invested.</a:t>
            </a:r>
          </a:p>
          <a:p>
            <a:endParaRPr lang="en-US" sz="2000" dirty="0">
              <a:latin typeface="Verdana" pitchFamily="34" charset="0"/>
            </a:endParaRPr>
          </a:p>
          <a:p>
            <a:r>
              <a:rPr lang="en-US" sz="2000" i="1" dirty="0">
                <a:solidFill>
                  <a:srgbClr val="FF0000"/>
                </a:solidFill>
                <a:latin typeface="Verdana" pitchFamily="34" charset="0"/>
                <a:sym typeface="Webdings" charset="2"/>
              </a:rPr>
              <a:t>r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  <a:sym typeface="Webdings" charset="2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Rate of interest</a:t>
            </a:r>
            <a:r>
              <a:rPr lang="en-US" sz="2000" dirty="0">
                <a:latin typeface="Verdana" pitchFamily="34" charset="0"/>
              </a:rPr>
              <a:t> is the percent charged per year or earned as a decimal. This is sometimes called a flat rate</a:t>
            </a:r>
          </a:p>
          <a:p>
            <a:endParaRPr lang="en-US" sz="2000" dirty="0">
              <a:solidFill>
                <a:srgbClr val="FF0000"/>
              </a:solidFill>
              <a:latin typeface="Verdana" pitchFamily="34" charset="0"/>
              <a:sym typeface="Webdings" charset="2"/>
            </a:endParaRPr>
          </a:p>
          <a:p>
            <a:r>
              <a:rPr lang="en-US" sz="2000" i="1" dirty="0">
                <a:solidFill>
                  <a:srgbClr val="660066"/>
                </a:solidFill>
                <a:latin typeface="Verdana" pitchFamily="34" charset="0"/>
                <a:sym typeface="Webdings" charset="2"/>
              </a:rPr>
              <a:t>t =</a:t>
            </a:r>
            <a:r>
              <a:rPr lang="en-US" sz="2000" dirty="0">
                <a:solidFill>
                  <a:srgbClr val="660066"/>
                </a:solidFill>
                <a:latin typeface="Verdana" pitchFamily="34" charset="0"/>
              </a:rPr>
              <a:t>Time</a:t>
            </a:r>
            <a:r>
              <a:rPr lang="en-US" sz="2000" dirty="0">
                <a:latin typeface="Verdana" pitchFamily="34" charset="0"/>
              </a:rPr>
              <a:t> that the money is borrowed or invested (in years).</a:t>
            </a:r>
          </a:p>
          <a:p>
            <a:endParaRPr lang="en-US" i="1" dirty="0">
              <a:solidFill>
                <a:srgbClr val="660066"/>
              </a:solidFill>
              <a:latin typeface="Verdana" pitchFamily="34" charset="0"/>
              <a:sym typeface="Webdings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$2000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18 months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8% pa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/>
                  <a:t>R = 8% convert to decimal </a:t>
                </a:r>
                <a:r>
                  <a:rPr lang="en-AU" sz="2400" dirty="0">
                    <a:latin typeface="Century Gothic" panose="020B0502020202020204" pitchFamily="34" charset="0"/>
                  </a:rPr>
                  <a:t>→ 0.08</a:t>
                </a: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=2000×0.08×</m:t>
                    </m:r>
                    <m:f>
                      <m:fPr>
                        <m:ctrlPr>
                          <a:rPr lang="en-AU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=240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240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Tyler wants to buy a car in 2 years and 4 months time. He has $6500 saved at the moment and his bank pays a flat rate of 4% p.a. How much will Tyler be able to spend on his car? (Round to the nearest 1$)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$6500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2 years 4 months = 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2400" dirty="0"/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0.04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=6500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×0.04×</m:t>
                    </m:r>
                    <m:f>
                      <m:fPr>
                        <m:ctrlPr>
                          <a:rPr lang="en-AU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606.67</m:t>
                    </m:r>
                  </m:oMath>
                </a14:m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 (The interest earned is $606.67)</a:t>
                </a:r>
              </a:p>
              <a:p>
                <a:pPr>
                  <a:buNone/>
                </a:pP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The total value = principal + interest = 6500 + 606.67 = $7107</a:t>
                </a:r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  <a:blipFill>
                <a:blip r:embed="rId2"/>
                <a:stretch>
                  <a:fillRect l="-684" t="-22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8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One More To Be Sure</a:t>
            </a:r>
            <a:endParaRPr lang="en-GB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CB56-690D-40F0-B2B8-AB21F6820A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Janaya buys a scooter for $3000 on her credit card. It has a simple interest rate of 22% p.a. If she pays it off over 3.5 years</a:t>
                </a:r>
              </a:p>
              <a:p>
                <a:pPr>
                  <a:buAutoNum type="alphaLcParenR"/>
                </a:pPr>
                <a:r>
                  <a:rPr lang="en-US" dirty="0"/>
                  <a:t>How much interest will she pay?</a:t>
                </a:r>
              </a:p>
              <a:p>
                <a:pPr>
                  <a:buAutoNum type="alphaLcParenR"/>
                </a:pPr>
                <a:r>
                  <a:rPr lang="en-US" dirty="0"/>
                  <a:t>What will be her monthly payment?</a:t>
                </a:r>
              </a:p>
              <a:p>
                <a:pPr>
                  <a:buAutoNum type="alphaLcParenR"/>
                </a:pPr>
                <a:endParaRPr lang="en-US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=3000</m:t>
                    </m:r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×0.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3.5</m:t>
                    </m:r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2310</m:t>
                    </m:r>
                  </m:oMath>
                </a14:m>
                <a:r>
                  <a:rPr lang="en-AU" dirty="0">
                    <a:solidFill>
                      <a:schemeClr val="accent1">
                        <a:lumMod val="75000"/>
                      </a:schemeClr>
                    </a:solidFill>
                  </a:rPr>
                  <a:t> (The total interest paid will be $2310)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total value = principal + interest = 3000 + 2310 = $5310</a:t>
                </a:r>
              </a:p>
              <a:p>
                <a:pPr marL="0" indent="0">
                  <a:buNone/>
                </a:pPr>
                <a:r>
                  <a:rPr lang="en-GB" dirty="0"/>
                  <a:t>The monthly payments will be 5310 ÷ 42 = $126.43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CB56-690D-40F0-B2B8-AB21F6820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 r="-1026" b="-11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4A0D-DCEB-46C8-ADB3-BE6D3DA3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753" y="897376"/>
            <a:ext cx="9882447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Calculate the Simple Interest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5D4CC-1139-4B92-ABDE-285A4F26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927245"/>
            <a:ext cx="116490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E386A-FD4D-48EA-AA57-28686284C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995C2-578A-4925-B046-ECF96CCD2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8" y="1438274"/>
            <a:ext cx="11115338" cy="22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2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0B9B68-5EFE-4D3E-8579-373A6795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DB945-1459-4A10-B9C0-2A915D402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85" y="1393175"/>
            <a:ext cx="11218524" cy="47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Add new terms to your glossaries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2726</TotalTime>
  <Words>373</Words>
  <Application>Microsoft Office PowerPoint</Application>
  <PresentationFormat>Widescreen</PresentationFormat>
  <Paragraphs>66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Cambria Math</vt:lpstr>
      <vt:lpstr>Century Gothic</vt:lpstr>
      <vt:lpstr>Kiwi School Handwriting</vt:lpstr>
      <vt:lpstr>Verdana</vt:lpstr>
      <vt:lpstr>Webdings</vt:lpstr>
      <vt:lpstr>Wingdings</vt:lpstr>
      <vt:lpstr>Wingdings 3</vt:lpstr>
      <vt:lpstr>Wisp</vt:lpstr>
      <vt:lpstr>Simple Interest </vt:lpstr>
      <vt:lpstr>Learning Outcomes</vt:lpstr>
      <vt:lpstr>Up – Talk – Down</vt:lpstr>
      <vt:lpstr>PowerPoint Presentation</vt:lpstr>
      <vt:lpstr>Let’s Try It Out</vt:lpstr>
      <vt:lpstr>Let’s Try It Out</vt:lpstr>
      <vt:lpstr>One More To Be Sure</vt:lpstr>
      <vt:lpstr>Check our understanding</vt:lpstr>
      <vt:lpstr>Calculate the Simple Interest</vt:lpstr>
      <vt:lpstr>Task</vt:lpstr>
      <vt:lpstr>Task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Hamilton Stott</cp:lastModifiedBy>
  <cp:revision>40</cp:revision>
  <dcterms:created xsi:type="dcterms:W3CDTF">2018-02-13T05:48:53Z</dcterms:created>
  <dcterms:modified xsi:type="dcterms:W3CDTF">2018-08-30T12:54:56Z</dcterms:modified>
</cp:coreProperties>
</file>
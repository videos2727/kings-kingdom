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261" r:id="rId4"/>
    <p:sldId id="273" r:id="rId5"/>
    <p:sldId id="274" r:id="rId6"/>
    <p:sldId id="264" r:id="rId7"/>
    <p:sldId id="263" r:id="rId8"/>
    <p:sldId id="275" r:id="rId9"/>
    <p:sldId id="276" r:id="rId10"/>
    <p:sldId id="277" r:id="rId11"/>
    <p:sldId id="268" r:id="rId12"/>
    <p:sldId id="267" r:id="rId13"/>
    <p:sldId id="278" r:id="rId14"/>
    <p:sldId id="279" r:id="rId15"/>
    <p:sldId id="281" r:id="rId16"/>
    <p:sldId id="28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6" autoAdjust="0"/>
    <p:restoredTop sz="94660"/>
  </p:normalViewPr>
  <p:slideViewPr>
    <p:cSldViewPr snapToGrid="0">
      <p:cViewPr varScale="1">
        <p:scale>
          <a:sx n="69" d="100"/>
          <a:sy n="69" d="100"/>
        </p:scale>
        <p:origin x="22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DC4277-49F6-4AC5-9C81-4A71573D5323}" type="datetimeFigureOut">
              <a:rPr lang="en-AU" smtClean="0"/>
              <a:t>13/02/2018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823475-2933-4181-829F-6FF7D8D6EF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5457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7571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13127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4118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18120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39707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098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91284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59509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0308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31937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91070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CB3C2-734C-491E-897A-03FA68C354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3AC7D9-B1AC-4D7F-AA01-C8EEC4B5C0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E4CEF-9F3B-444F-A74C-824BF3833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73B78-4CA8-42DF-942C-0E8925027A7B}" type="datetimeFigureOut">
              <a:rPr lang="en-AU" smtClean="0"/>
              <a:t>13/02/2018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75ED4-14D7-44F7-A476-33119EFC4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54719-2B20-4CFA-8DE3-2C1D4FEF4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74CAB-4EC9-4E5D-994D-F28B18593F1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1305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EE8B3-F2C5-427D-9892-0AD5E4FBD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BF043-3126-44A3-9DD0-DAB72318EE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9BD9D5-CAC1-449C-ABFD-F5222480F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73B78-4CA8-42DF-942C-0E8925027A7B}" type="datetimeFigureOut">
              <a:rPr lang="en-AU" smtClean="0"/>
              <a:t>13/02/2018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66B21-3B1F-43B3-AB10-2ED76E2F5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3D283-11DD-4A7A-B408-5836C4843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74CAB-4EC9-4E5D-994D-F28B18593F1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730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83F94-6B18-4311-80BF-C63FAE9BA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DD2055-A57C-4622-A165-C7567C261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C3DF9-13C6-49B6-99B4-814BDBDE8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73B78-4CA8-42DF-942C-0E8925027A7B}" type="datetimeFigureOut">
              <a:rPr lang="en-AU" smtClean="0"/>
              <a:t>13/02/2018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7FBB9A-9C73-4EFC-8A9A-C946839B0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31E56-A496-466A-9760-E315A79B6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74CAB-4EC9-4E5D-994D-F28B18593F1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4200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06B91-6A6F-4616-AD73-6D3EBBB87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6B4DD-28B4-44EB-8802-8D7F80FA3F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20D209-A2D0-432A-A8A1-9C0417BC9D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513254-B0D2-43D9-8FF5-AAC422755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73B78-4CA8-42DF-942C-0E8925027A7B}" type="datetimeFigureOut">
              <a:rPr lang="en-AU" smtClean="0"/>
              <a:t>13/02/2018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274507-2BD0-40A8-8EE6-9918E76D6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79FFB1-9B90-4A62-AF0A-BC3AC369E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74CAB-4EC9-4E5D-994D-F28B18593F1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0015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6B37A-D9DB-4C2C-A296-493DF27FF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940DF3-0EA4-416A-9719-D38666C0F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DDAD81-96C3-47DF-BF5A-D5E55700C1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6573DB-4809-4494-A882-EE04A676AF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D82F3E-E266-416C-A597-66881CD4E2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F14BD4-A9E4-4F60-807E-53E42CD86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73B78-4CA8-42DF-942C-0E8925027A7B}" type="datetimeFigureOut">
              <a:rPr lang="en-AU" smtClean="0"/>
              <a:t>13/02/2018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2C9FC4-FFC1-4502-8F23-CE1D7EF5A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AC06BF-E743-460E-A2CE-224B6BC47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74CAB-4EC9-4E5D-994D-F28B18593F1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6125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F357A-66F2-49CE-94CB-112591309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911049-3178-458A-A605-B97FFECC1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73B78-4CA8-42DF-942C-0E8925027A7B}" type="datetimeFigureOut">
              <a:rPr lang="en-AU" smtClean="0"/>
              <a:t>13/02/2018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93DFA8-B3DB-4AB0-A7F0-2E122F8BD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5B2648-9FFD-4BBD-8928-91E811C91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74CAB-4EC9-4E5D-994D-F28B18593F1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8232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ADDBE4-6EC9-447C-913A-F0EDFF752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73B78-4CA8-42DF-942C-0E8925027A7B}" type="datetimeFigureOut">
              <a:rPr lang="en-AU" smtClean="0"/>
              <a:t>13/02/2018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355D07-4439-4552-BE46-7CDBEE57E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ACFBEB-625A-411A-A618-7E5BC1C2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74CAB-4EC9-4E5D-994D-F28B18593F1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09614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702EE-8FF2-4F6D-86D7-2510512CE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32B34-715D-4589-9D62-D480B0249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B17BF1-8835-49CD-A978-9D0F882991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B0B6E1-DDC4-494E-AB75-35BF85D35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73B78-4CA8-42DF-942C-0E8925027A7B}" type="datetimeFigureOut">
              <a:rPr lang="en-AU" smtClean="0"/>
              <a:t>13/02/2018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D7A77A-6EAC-4764-8F29-72B3CFDC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0995C2-F7B7-45A2-90EA-A29570EF8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74CAB-4EC9-4E5D-994D-F28B18593F1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7473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5D58C-4CE1-478E-B863-5C620BB3E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B0088E-1ABD-4799-BD8C-D121BA607B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2755FB-D841-4DCC-9836-9D67A8DFBF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7E9A2E-74FE-4472-9B8E-B99A306CB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73B78-4CA8-42DF-942C-0E8925027A7B}" type="datetimeFigureOut">
              <a:rPr lang="en-AU" smtClean="0"/>
              <a:t>13/02/2018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45E26E-2AF5-4790-A3D8-CC724B83C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7C2032-C701-4647-AABF-8339552D7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74CAB-4EC9-4E5D-994D-F28B18593F1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779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B830C-DD59-45D4-9846-04FAAA944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EB7E05-5CA7-4042-B0FB-5B1B85059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2B76E-58E5-4781-BA58-51A97C075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73B78-4CA8-42DF-942C-0E8925027A7B}" type="datetimeFigureOut">
              <a:rPr lang="en-AU" smtClean="0"/>
              <a:t>13/02/2018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EBA2E-DEE0-4748-BF75-D1DEF2138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A79D1-1FF3-4E03-A3DA-EF8DF0E23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74CAB-4EC9-4E5D-994D-F28B18593F1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7916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DC46B0-C543-4340-A621-8774B19658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129CAE-A6BC-4EDA-A932-1E7DC5F196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41D55-467B-4F4C-B5AF-BFAEE981E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73B78-4CA8-42DF-942C-0E8925027A7B}" type="datetimeFigureOut">
              <a:rPr lang="en-AU" smtClean="0"/>
              <a:t>13/02/2018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C51E6-C57C-4E5C-A438-E50FB18E1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D96CBD-43CC-425D-BA31-FE63B41B4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74CAB-4EC9-4E5D-994D-F28B18593F1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055232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2671003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132933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6640338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249282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EA725F-52E7-40BE-A5B3-5693C2408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B59053-E463-46BA-A808-1F72C99302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5A8C2-C7E1-4BEA-978D-179648693D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473B78-4CA8-42DF-942C-0E8925027A7B}" type="datetimeFigureOut">
              <a:rPr lang="en-AU" smtClean="0"/>
              <a:t>13/02/2018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89E7E6-98BB-4015-8BE1-96F671B6AB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63B94-E362-4568-9A98-872703122B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A74CAB-4EC9-4E5D-994D-F28B18593F1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7282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Kiwi School Handwriting" panose="00000500000000000000" pitchFamily="2" charset="0"/>
              </a:rPr>
              <a:t>Miss L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Kiwi School Handwriting" panose="00000500000000000000" pitchFamily="2" charset="0"/>
              </a:rPr>
              <a:t>Year 11 Essentials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Kiwi School Handwriting" panose="00000500000000000000" pitchFamily="2" charset="0"/>
              </a:rPr>
              <a:t>Percentage Increase and Decrease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85800" y="1956678"/>
            <a:ext cx="10820400" cy="40241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pPr marL="571500" indent="-571500"/>
            <a:r>
              <a:rPr lang="en-AU" sz="3200" dirty="0"/>
              <a:t>Find the percentage of a quantity</a:t>
            </a:r>
          </a:p>
          <a:p>
            <a:pPr marL="571500" indent="-571500"/>
            <a:r>
              <a:rPr lang="en-AU" sz="3200" dirty="0"/>
              <a:t>Express one quantity as a percentage of another</a:t>
            </a:r>
          </a:p>
          <a:p>
            <a:pPr marL="571500" indent="-571500"/>
            <a:r>
              <a:rPr lang="en-AU" sz="3200" dirty="0"/>
              <a:t>Solve problems relating to percentage increase/decrease and profit/loss</a:t>
            </a:r>
          </a:p>
          <a:p>
            <a:pPr marL="571500" indent="-571500"/>
            <a:r>
              <a:rPr lang="en-AU" sz="3200" dirty="0"/>
              <a:t>Apply this knowledge to real-life scenarios</a:t>
            </a:r>
          </a:p>
          <a:p>
            <a:pPr marL="135464" indent="0">
              <a:buNone/>
            </a:pPr>
            <a:endParaRPr lang="en-AU" sz="4400" dirty="0"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602759"/>
            <a:ext cx="1845938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does % increase mean?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1F6B0A8-4106-405A-B0B1-B31167D9FCB4}"/>
              </a:ext>
            </a:extLst>
          </p:cNvPr>
          <p:cNvSpPr txBox="1"/>
          <p:nvPr/>
        </p:nvSpPr>
        <p:spPr>
          <a:xfrm>
            <a:off x="592821" y="123165"/>
            <a:ext cx="64915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Understanding Percentages Further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E42DA8-8C09-47C1-B4CA-D2D14B2021F3}"/>
              </a:ext>
            </a:extLst>
          </p:cNvPr>
          <p:cNvSpPr txBox="1"/>
          <p:nvPr/>
        </p:nvSpPr>
        <p:spPr>
          <a:xfrm>
            <a:off x="191345" y="858948"/>
            <a:ext cx="1179046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How can we apply our knowledge of percentages to different contexts?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D03569-2847-424E-889C-BC2CB42FEC02}"/>
              </a:ext>
            </a:extLst>
          </p:cNvPr>
          <p:cNvSpPr txBox="1"/>
          <p:nvPr/>
        </p:nvSpPr>
        <p:spPr>
          <a:xfrm>
            <a:off x="1960512" y="1738377"/>
            <a:ext cx="1002128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defTabSz="914126">
              <a:buFont typeface="Arial" panose="020B0604020202020204" pitchFamily="34" charset="0"/>
              <a:buChar char="•"/>
            </a:pPr>
            <a:r>
              <a:rPr lang="en-AU" sz="2800" dirty="0"/>
              <a:t>Percentage increase means to make a quantity bigger by a given percentage</a:t>
            </a:r>
          </a:p>
          <a:p>
            <a:pPr marL="457200" indent="-457200" defTabSz="914126">
              <a:buFont typeface="Arial" panose="020B0604020202020204" pitchFamily="34" charset="0"/>
              <a:buChar char="•"/>
            </a:pPr>
            <a:endParaRPr lang="en-AU" sz="2800" dirty="0"/>
          </a:p>
          <a:p>
            <a:pPr marL="457200" indent="-457200" defTabSz="914126">
              <a:buFont typeface="Arial" panose="020B0604020202020204" pitchFamily="34" charset="0"/>
              <a:buChar char="•"/>
            </a:pPr>
            <a:r>
              <a:rPr lang="en-AU" sz="2800" dirty="0"/>
              <a:t>We use a percentage increase technique to calculate pay increases or to calculate GST inclusive prices.</a:t>
            </a:r>
          </a:p>
          <a:p>
            <a:pPr marL="457200" indent="-457200" defTabSz="914126">
              <a:buFont typeface="Arial" panose="020B0604020202020204" pitchFamily="34" charset="0"/>
              <a:buChar char="•"/>
            </a:pPr>
            <a:endParaRPr lang="en-AU" sz="2800" dirty="0"/>
          </a:p>
          <a:p>
            <a:pPr defTabSz="914126"/>
            <a:endParaRPr lang="en-AU" sz="2800" dirty="0"/>
          </a:p>
          <a:p>
            <a:pPr defTabSz="914126"/>
            <a:r>
              <a:rPr lang="en-AU" sz="2800" dirty="0"/>
              <a:t>Goods and services tax (GST) is a broad-based tax of 10% on most goods, services and other items sold or consumed in Australia.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0C3990-4651-4099-B7B4-5515699E1F20}"/>
              </a:ext>
            </a:extLst>
          </p:cNvPr>
          <p:cNvSpPr txBox="1"/>
          <p:nvPr/>
        </p:nvSpPr>
        <p:spPr>
          <a:xfrm>
            <a:off x="-54901" y="4359394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GST?</a:t>
            </a:r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1C9E9B5-E625-49BB-A391-306BE61CA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324" y="461962"/>
            <a:ext cx="11421065" cy="571716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9D9A27C-9B94-4273-B753-F7A9999D228B}"/>
              </a:ext>
            </a:extLst>
          </p:cNvPr>
          <p:cNvSpPr/>
          <p:nvPr/>
        </p:nvSpPr>
        <p:spPr>
          <a:xfrm>
            <a:off x="582324" y="1634836"/>
            <a:ext cx="10224221" cy="23829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6D7A00-ED05-4D60-95E3-A9E8B53C7D58}"/>
              </a:ext>
            </a:extLst>
          </p:cNvPr>
          <p:cNvSpPr/>
          <p:nvPr/>
        </p:nvSpPr>
        <p:spPr>
          <a:xfrm>
            <a:off x="429924" y="4094018"/>
            <a:ext cx="10224221" cy="23829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25143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E9EC5EA-518D-4E10-A319-2712373DB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54" y="327312"/>
            <a:ext cx="11655614" cy="56717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EF4EE70-7D78-42CC-9AA4-D02C003FC191}"/>
              </a:ext>
            </a:extLst>
          </p:cNvPr>
          <p:cNvSpPr/>
          <p:nvPr/>
        </p:nvSpPr>
        <p:spPr>
          <a:xfrm>
            <a:off x="318654" y="2015836"/>
            <a:ext cx="10861964" cy="23829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E1FA69-5BF9-49BF-8C8F-7CE273901D14}"/>
              </a:ext>
            </a:extLst>
          </p:cNvPr>
          <p:cNvSpPr/>
          <p:nvPr/>
        </p:nvSpPr>
        <p:spPr>
          <a:xfrm>
            <a:off x="318654" y="4312226"/>
            <a:ext cx="10861964" cy="23829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44513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97FACCC-33A6-4264-824A-300DB751B03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5811"/>
          <a:stretch/>
        </p:blipFill>
        <p:spPr>
          <a:xfrm>
            <a:off x="0" y="2012467"/>
            <a:ext cx="11824357" cy="177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631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602759"/>
            <a:ext cx="1845938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does % decrease mean?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1F6B0A8-4106-405A-B0B1-B31167D9FCB4}"/>
              </a:ext>
            </a:extLst>
          </p:cNvPr>
          <p:cNvSpPr txBox="1"/>
          <p:nvPr/>
        </p:nvSpPr>
        <p:spPr>
          <a:xfrm>
            <a:off x="592821" y="123165"/>
            <a:ext cx="64915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Understanding Percentages Further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E42DA8-8C09-47C1-B4CA-D2D14B2021F3}"/>
              </a:ext>
            </a:extLst>
          </p:cNvPr>
          <p:cNvSpPr txBox="1"/>
          <p:nvPr/>
        </p:nvSpPr>
        <p:spPr>
          <a:xfrm>
            <a:off x="191345" y="858948"/>
            <a:ext cx="1179046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How can we apply our knowledge of percentages to different contexts?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D03569-2847-424E-889C-BC2CB42FEC02}"/>
              </a:ext>
            </a:extLst>
          </p:cNvPr>
          <p:cNvSpPr txBox="1"/>
          <p:nvPr/>
        </p:nvSpPr>
        <p:spPr>
          <a:xfrm>
            <a:off x="1960512" y="1738377"/>
            <a:ext cx="1002128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defTabSz="914126">
              <a:buFont typeface="Arial" panose="020B0604020202020204" pitchFamily="34" charset="0"/>
              <a:buChar char="•"/>
            </a:pPr>
            <a:r>
              <a:rPr lang="en-AU" sz="2800" dirty="0"/>
              <a:t>Percentage decrease means to make a quantity smaller by a given percentage</a:t>
            </a:r>
          </a:p>
          <a:p>
            <a:pPr marL="457200" indent="-457200" defTabSz="914126">
              <a:buFont typeface="Arial" panose="020B0604020202020204" pitchFamily="34" charset="0"/>
              <a:buChar char="•"/>
            </a:pPr>
            <a:endParaRPr lang="en-AU" sz="2800" dirty="0"/>
          </a:p>
          <a:p>
            <a:pPr marL="457200" indent="-457200" defTabSz="914126">
              <a:buFont typeface="Arial" panose="020B0604020202020204" pitchFamily="34" charset="0"/>
              <a:buChar char="•"/>
            </a:pPr>
            <a:r>
              <a:rPr lang="en-AU" sz="2800" dirty="0"/>
              <a:t>We use this technique to calculate discounts and sale prices</a:t>
            </a:r>
          </a:p>
          <a:p>
            <a:pPr marL="457200" indent="-457200" defTabSz="914126">
              <a:buFont typeface="Arial" panose="020B0604020202020204" pitchFamily="34" charset="0"/>
              <a:buChar char="•"/>
            </a:pPr>
            <a:endParaRPr lang="en-AU" sz="2800" dirty="0"/>
          </a:p>
          <a:p>
            <a:pPr defTabSz="914126"/>
            <a:endParaRPr lang="en-AU" sz="28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627D5E3-17CD-432B-9194-87A4736B5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0472" y="3872947"/>
            <a:ext cx="3904658" cy="2733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561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643989A-59EA-4E45-B766-04B7FAFB07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4878"/>
          <a:stretch/>
        </p:blipFill>
        <p:spPr>
          <a:xfrm>
            <a:off x="280480" y="179920"/>
            <a:ext cx="10955556" cy="629013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3150CA8-304C-4C51-995D-09531CBA79A4}"/>
              </a:ext>
            </a:extLst>
          </p:cNvPr>
          <p:cNvSpPr/>
          <p:nvPr/>
        </p:nvSpPr>
        <p:spPr>
          <a:xfrm>
            <a:off x="374072" y="1544781"/>
            <a:ext cx="10861964" cy="23829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C2F0F0-976E-47E1-9ACD-DD345A5CB9DA}"/>
              </a:ext>
            </a:extLst>
          </p:cNvPr>
          <p:cNvSpPr/>
          <p:nvPr/>
        </p:nvSpPr>
        <p:spPr>
          <a:xfrm>
            <a:off x="280480" y="4087072"/>
            <a:ext cx="10861964" cy="23829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68340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4DE56E0-D747-4E41-A732-16DEC7FA7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926" y="141105"/>
            <a:ext cx="11931074" cy="168497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BE172EB-54AE-4AC8-B6EE-07634DAE53D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631" b="3482"/>
          <a:stretch/>
        </p:blipFill>
        <p:spPr>
          <a:xfrm>
            <a:off x="260926" y="1826075"/>
            <a:ext cx="11792529" cy="489082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4B9E6B8-866E-41AB-B264-B885B8B00502}"/>
              </a:ext>
            </a:extLst>
          </p:cNvPr>
          <p:cNvSpPr/>
          <p:nvPr/>
        </p:nvSpPr>
        <p:spPr>
          <a:xfrm>
            <a:off x="540327" y="2556163"/>
            <a:ext cx="10861964" cy="18357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CC3F91-E350-4476-983C-67177FBF5A70}"/>
              </a:ext>
            </a:extLst>
          </p:cNvPr>
          <p:cNvSpPr/>
          <p:nvPr/>
        </p:nvSpPr>
        <p:spPr>
          <a:xfrm>
            <a:off x="540327" y="4391891"/>
            <a:ext cx="10861964" cy="20227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29287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2848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58086D-C714-45F5-BE78-AEE0222F78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877" y="1458982"/>
            <a:ext cx="8149467" cy="431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602759"/>
            <a:ext cx="1845938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Profit and Loss?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1F6B0A8-4106-405A-B0B1-B31167D9FCB4}"/>
              </a:ext>
            </a:extLst>
          </p:cNvPr>
          <p:cNvSpPr txBox="1"/>
          <p:nvPr/>
        </p:nvSpPr>
        <p:spPr>
          <a:xfrm>
            <a:off x="592821" y="123165"/>
            <a:ext cx="64915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Understanding Percentages Further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E42DA8-8C09-47C1-B4CA-D2D14B2021F3}"/>
              </a:ext>
            </a:extLst>
          </p:cNvPr>
          <p:cNvSpPr txBox="1"/>
          <p:nvPr/>
        </p:nvSpPr>
        <p:spPr>
          <a:xfrm>
            <a:off x="191345" y="858948"/>
            <a:ext cx="1179046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How can we apply our knowledge of percentages to different contexts?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05A4B5-DAEE-400B-AC27-0DDDD9B9687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378"/>
          <a:stretch/>
        </p:blipFill>
        <p:spPr>
          <a:xfrm>
            <a:off x="1950291" y="1555138"/>
            <a:ext cx="10188302" cy="8302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73AE82-9018-4B51-91AD-D6DCC584B8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121" y="2802703"/>
            <a:ext cx="6498231" cy="3263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433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196D673-E313-466A-B94A-A916A5363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39" y="284300"/>
            <a:ext cx="10718736" cy="153124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3CBBB1A-7D46-4CDD-9BA5-C080B21B1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39" y="2114964"/>
            <a:ext cx="11246254" cy="307988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AD9762C-A956-4B79-B1E5-CA25715BC0DF}"/>
              </a:ext>
            </a:extLst>
          </p:cNvPr>
          <p:cNvSpPr/>
          <p:nvPr/>
        </p:nvSpPr>
        <p:spPr>
          <a:xfrm>
            <a:off x="496207" y="2715208"/>
            <a:ext cx="10861964" cy="7137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9738E4-C849-4DA8-BEB2-9F3B5C7BB186}"/>
              </a:ext>
            </a:extLst>
          </p:cNvPr>
          <p:cNvSpPr/>
          <p:nvPr/>
        </p:nvSpPr>
        <p:spPr>
          <a:xfrm>
            <a:off x="496207" y="3584127"/>
            <a:ext cx="10861964" cy="1685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87082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E99BE4-8079-4F60-B5A0-B8B42500E7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42" y="1427920"/>
            <a:ext cx="11771316" cy="483959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621A39A-29B8-445A-B8DA-1D6D317EB219}"/>
              </a:ext>
            </a:extLst>
          </p:cNvPr>
          <p:cNvSpPr/>
          <p:nvPr/>
        </p:nvSpPr>
        <p:spPr>
          <a:xfrm>
            <a:off x="665018" y="3004859"/>
            <a:ext cx="10861964" cy="7635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99F061-1729-4350-B1DF-D918F188C689}"/>
              </a:ext>
            </a:extLst>
          </p:cNvPr>
          <p:cNvSpPr/>
          <p:nvPr/>
        </p:nvSpPr>
        <p:spPr>
          <a:xfrm>
            <a:off x="540328" y="5430080"/>
            <a:ext cx="10861964" cy="7635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383897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407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218</Words>
  <Application>Microsoft Office PowerPoint</Application>
  <PresentationFormat>Widescreen</PresentationFormat>
  <Paragraphs>46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Kiwi School Handwriting</vt:lpstr>
      <vt:lpstr>Office Theme</vt:lpstr>
      <vt:lpstr>Percentage Increase and Decrease</vt:lpstr>
      <vt:lpstr>Learning Intentions</vt:lpstr>
      <vt:lpstr>PowerPoint Presentation</vt:lpstr>
      <vt:lpstr>PowerPoint Presentation</vt:lpstr>
      <vt:lpstr>PowerPoint Presentation</vt:lpstr>
      <vt:lpstr>PowerPoint Presentation</vt:lpstr>
      <vt:lpstr>Practice</vt:lpstr>
      <vt:lpstr>PowerPoint Presentation</vt:lpstr>
      <vt:lpstr>PowerPoint Presentation</vt:lpstr>
      <vt:lpstr>PowerPoint Presentation</vt:lpstr>
      <vt:lpstr>PowerPoint Presentation</vt:lpstr>
      <vt:lpstr>Practice</vt:lpstr>
      <vt:lpstr>PowerPoint Presentation</vt:lpstr>
      <vt:lpstr>PowerPoint Presentation</vt:lpstr>
      <vt:lpstr>Practice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Percentage Increase and Decrease</dc:title>
  <dc:creator>Nine Labuschagne</dc:creator>
  <cp:lastModifiedBy>Nine Labuschagne</cp:lastModifiedBy>
  <cp:revision>12</cp:revision>
  <dcterms:created xsi:type="dcterms:W3CDTF">2018-02-13T05:46:32Z</dcterms:created>
  <dcterms:modified xsi:type="dcterms:W3CDTF">2018-02-13T06:13:04Z</dcterms:modified>
</cp:coreProperties>
</file>
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8" r:id="rId2"/>
    <p:sldId id="259" r:id="rId3"/>
    <p:sldId id="264" r:id="rId4"/>
    <p:sldId id="265" r:id="rId5"/>
    <p:sldId id="260" r:id="rId6"/>
    <p:sldId id="266" r:id="rId7"/>
    <p:sldId id="261" r:id="rId8"/>
    <p:sldId id="263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CC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6" autoAdjust="0"/>
    <p:restoredTop sz="94660"/>
  </p:normalViewPr>
  <p:slideViewPr>
    <p:cSldViewPr snapToGrid="0">
      <p:cViewPr varScale="1">
        <p:scale>
          <a:sx n="72" d="100"/>
          <a:sy n="72" d="100"/>
        </p:scale>
        <p:origin x="10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A9DA2A-F27A-4B62-9D39-1BC3245EF823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5C39C3-EE39-4D53-9899-A6989D240C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5770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110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95838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81051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9712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767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53294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0458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5FB17-C24C-48A8-8A6E-182F0464BA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C52F46-3165-4084-A324-3CB9DC512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2D360-B399-4FB4-820F-7C1A09276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623F6-DADC-4F81-91D8-B30BFA930A13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36CF8-60A3-4203-8644-410581939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11B95-9761-470F-A71A-C5F6BC765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1367-2FB9-4D7B-802A-FDB7E802E1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9393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9743B-6603-4171-9796-393D8E663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E7FE7-4551-4115-A209-7DB5383B2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BA4C4-87D7-4B39-9DA2-60E97E873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623F6-DADC-4F81-91D8-B30BFA930A13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E2653-5C91-4F19-AD93-ECDC4361D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6B4FD-7448-4F09-913C-A55D36846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1367-2FB9-4D7B-802A-FDB7E802E1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0038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C9F05-96FF-482B-BD69-D4BF030BB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E2745-C755-432F-B84F-0E42CB555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03A90-0C8B-474E-85DE-AB64B7867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623F6-DADC-4F81-91D8-B30BFA930A13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2FD21-B71F-45AE-87EF-5019865C9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0B466-FE38-4EC3-94AD-5E55D6C9A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1367-2FB9-4D7B-802A-FDB7E802E1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6988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71C25-666E-4197-A554-F6D91D658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A134A-30D5-4379-9544-F7AAA07BFE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8816E2-14CB-4072-9E28-8C6DFF30C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3817DB-645D-40DC-871D-F1A2BA940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623F6-DADC-4F81-91D8-B30BFA930A13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47500B-4B24-4C47-BC13-F1FE88098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04224-9129-4CE5-B844-AC77C6F6C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1367-2FB9-4D7B-802A-FDB7E802E1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484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F1834-7D77-4004-A156-65D106162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C3DB04-3D9E-4D06-926A-8FF3318C94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6DC2F6-9CE2-430F-BC71-83D168F28E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7E21D7-A4F8-4806-B0C3-648AACEE75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64D203-F0C8-4779-A40F-204CFF93C5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3C3A38-4799-4E39-8AF8-841174F5D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623F6-DADC-4F81-91D8-B30BFA930A13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713CDA-EA7E-4366-942F-25C008FCE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EB1999-77FA-4E91-AA22-7DD359E5C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1367-2FB9-4D7B-802A-FDB7E802E1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8548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36E8D-9F3B-40D8-AF83-382F1B938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C54A69-412C-44CE-AA32-6363B52F4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623F6-DADC-4F81-91D8-B30BFA930A13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B98A51-E0A9-45E3-8DA7-E4D28A1B3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CFFD1D-B13C-4E4F-B480-21DA7F245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1367-2FB9-4D7B-802A-FDB7E802E1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1889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77C416-EF95-4B00-9B55-97C7DE825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623F6-DADC-4F81-91D8-B30BFA930A13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E2D847-FFF3-4A22-B770-9D8C64F0F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5FB8F-76F3-4B06-8E63-CB0293492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1367-2FB9-4D7B-802A-FDB7E802E1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0637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D6624-807E-4E5D-83F4-FB86DA251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A7A2C-944B-41BF-8B3C-5D55AA30D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5A5F02-0DAD-43A0-AB10-A4A2F5E633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DB9FBA-8F37-41D4-888D-BF88D7413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623F6-DADC-4F81-91D8-B30BFA930A13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4FC56C-68DA-49F2-B653-51FF69112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C02C96-9493-4899-ACB6-B2B201545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1367-2FB9-4D7B-802A-FDB7E802E1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5130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02D4A-C604-4EBC-9C2F-171D612D8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97B716-CC4A-487C-94B4-8280283190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FBE3E1-3B67-4C87-A680-8DA6773C65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2CE901-37F5-41BB-B6B4-04FE79327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623F6-DADC-4F81-91D8-B30BFA930A13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839BF5-771D-47FE-B29C-9B50548ED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BD7EA7-443E-459B-8794-00FD6376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1367-2FB9-4D7B-802A-FDB7E802E1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9544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C460F-0E58-4768-B797-651E312BE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959E39-DD3D-4AFF-BEC8-EF019EBE77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EB372-2FF5-476E-B4E5-3385DB643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623F6-DADC-4F81-91D8-B30BFA930A13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8D2E8-7113-44A5-BE27-1FB220566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49F23-50D9-4A25-96CF-C804972B3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1367-2FB9-4D7B-802A-FDB7E802E1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5132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6CE9DE-A451-4A43-9C1C-0F1079C620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36C568-E7E7-4E1B-8A52-058A8CF84F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B4F2B-4987-4B1A-870E-A3DB58A6E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623F6-DADC-4F81-91D8-B30BFA930A13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0BBF8-3175-4EE8-9365-32925B892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22771-7705-4263-811D-D1249BF1F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1367-2FB9-4D7B-802A-FDB7E802E1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31637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84206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814397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6811989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26560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E8537E-ADCD-4F8B-88C1-F198BBC3F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0A9EE9-BA5C-4FB1-9BCD-E998B7E59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A1513-9993-49BB-9F52-6DFFDB19FE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B623F6-DADC-4F81-91D8-B30BFA930A13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3D666-704C-48DB-A28E-6A5872A26F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5C194-D551-44AD-8F88-004075239F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FA1367-2FB9-4D7B-802A-FDB7E802E1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5496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Kiwi School Handwriting" panose="00000500000000000000" pitchFamily="2" charset="0"/>
              </a:rPr>
              <a:t>Miss L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Kiwi School Handwriting" panose="00000500000000000000" pitchFamily="2" charset="0"/>
              </a:rPr>
              <a:t>Year 11 Essentials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Kiwi School Handwriting" panose="00000500000000000000" pitchFamily="2" charset="0"/>
              </a:rPr>
              <a:t>BIMDAS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sz="3600" dirty="0"/>
              <a:t>Use BIMDAS to answer calculations</a:t>
            </a:r>
          </a:p>
        </p:txBody>
      </p:sp>
      <p:pic>
        <p:nvPicPr>
          <p:cNvPr id="6" name="Picture 2" descr="Image result for writing">
            <a:extLst>
              <a:ext uri="{FF2B5EF4-FFF2-40B4-BE49-F238E27FC236}">
                <a16:creationId xmlns:a16="http://schemas.microsoft.com/office/drawing/2014/main" id="{AAE6524C-6209-434B-B1BC-9D2346C028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7394" y="4530515"/>
            <a:ext cx="1785534" cy="1783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 fontScale="90000"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While Miss L does the role…..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AA4936-2596-4701-9207-95C427EEF500}"/>
              </a:ext>
            </a:extLst>
          </p:cNvPr>
          <p:cNvSpPr txBox="1"/>
          <p:nvPr/>
        </p:nvSpPr>
        <p:spPr>
          <a:xfrm>
            <a:off x="889926" y="2029888"/>
            <a:ext cx="811033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While you are waiting,</a:t>
            </a:r>
          </a:p>
          <a:p>
            <a:endParaRPr lang="en-AU" sz="2800" dirty="0"/>
          </a:p>
          <a:p>
            <a:r>
              <a:rPr lang="en-AU" sz="2800" dirty="0"/>
              <a:t>Use maths to estimate the number of light globes in W.A. homes given the population of W.A. is about 2.5 million.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8897CE-CA72-4ADB-9493-2C05E26165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1" y="4101548"/>
            <a:ext cx="5334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954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8BECA6E-A1D6-42A6-9C96-20BC6DC39865}"/>
              </a:ext>
            </a:extLst>
          </p:cNvPr>
          <p:cNvSpPr txBox="1"/>
          <p:nvPr/>
        </p:nvSpPr>
        <p:spPr>
          <a:xfrm>
            <a:off x="591376" y="1715727"/>
            <a:ext cx="1142834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Miss L’s logic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dirty="0"/>
              <a:t>WA has about 2.5 million people in it.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dirty="0"/>
              <a:t>There are about 4 people per family so 2.5 million ÷ 4 = 625,000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dirty="0"/>
              <a:t>Miss L’s home has about 50 lights (including fridge, oven and outside)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dirty="0"/>
              <a:t>625,000 x 50 = 31,250,000</a:t>
            </a:r>
          </a:p>
          <a:p>
            <a:endParaRPr lang="en-AU" sz="2800" dirty="0"/>
          </a:p>
          <a:p>
            <a:r>
              <a:rPr lang="en-AU" sz="2800" dirty="0"/>
              <a:t>What do you think – which assumptions could Miss L have wrong?</a:t>
            </a:r>
          </a:p>
        </p:txBody>
      </p:sp>
    </p:spTree>
    <p:extLst>
      <p:ext uri="{BB962C8B-B14F-4D97-AF65-F5344CB8AC3E}">
        <p14:creationId xmlns:p14="http://schemas.microsoft.com/office/powerpoint/2010/main" val="1483051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16898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BIMDAS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2553052"/>
            <a:ext cx="1720003" cy="1569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are the rules of BIMDAS?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do we use BIMDAS?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3F2954A-30D1-4837-B391-E825C18659E0}"/>
              </a:ext>
            </a:extLst>
          </p:cNvPr>
          <p:cNvSpPr txBox="1"/>
          <p:nvPr/>
        </p:nvSpPr>
        <p:spPr>
          <a:xfrm>
            <a:off x="2273053" y="1498737"/>
            <a:ext cx="494938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u="sng" dirty="0">
                <a:solidFill>
                  <a:srgbClr val="CC00CC"/>
                </a:solidFill>
              </a:rPr>
              <a:t>Order of Operations / BIMDAS</a:t>
            </a:r>
          </a:p>
          <a:p>
            <a:endParaRPr lang="en-AU" sz="2800" dirty="0"/>
          </a:p>
          <a:p>
            <a:r>
              <a:rPr lang="en-AU" sz="2800" dirty="0"/>
              <a:t>1. </a:t>
            </a:r>
            <a:r>
              <a:rPr lang="en-AU" sz="2800" b="1" u="sng" dirty="0">
                <a:solidFill>
                  <a:srgbClr val="CC00CC"/>
                </a:solidFill>
              </a:rPr>
              <a:t>B</a:t>
            </a:r>
            <a:r>
              <a:rPr lang="en-AU" sz="2800" dirty="0"/>
              <a:t>rackets First</a:t>
            </a:r>
          </a:p>
          <a:p>
            <a:endParaRPr lang="en-AU" sz="2800" dirty="0"/>
          </a:p>
          <a:p>
            <a:r>
              <a:rPr lang="en-AU" sz="2800" dirty="0"/>
              <a:t>2. </a:t>
            </a:r>
            <a:r>
              <a:rPr lang="en-AU" sz="2800" b="1" u="sng" dirty="0">
                <a:solidFill>
                  <a:srgbClr val="CC00CC"/>
                </a:solidFill>
              </a:rPr>
              <a:t>I</a:t>
            </a:r>
            <a:r>
              <a:rPr lang="en-AU" sz="2800" dirty="0"/>
              <a:t>ndices</a:t>
            </a:r>
          </a:p>
          <a:p>
            <a:endParaRPr lang="en-AU" sz="2800" dirty="0"/>
          </a:p>
          <a:p>
            <a:r>
              <a:rPr lang="en-AU" sz="2800" dirty="0"/>
              <a:t>3. </a:t>
            </a:r>
            <a:r>
              <a:rPr lang="en-AU" sz="2800" b="1" u="sng" dirty="0">
                <a:solidFill>
                  <a:srgbClr val="CC00CC"/>
                </a:solidFill>
              </a:rPr>
              <a:t>M</a:t>
            </a:r>
            <a:r>
              <a:rPr lang="en-AU" sz="2800" dirty="0"/>
              <a:t>ultiply and/or </a:t>
            </a:r>
            <a:r>
              <a:rPr lang="en-AU" sz="2800" b="1" u="sng" dirty="0">
                <a:solidFill>
                  <a:srgbClr val="CC00CC"/>
                </a:solidFill>
              </a:rPr>
              <a:t>D</a:t>
            </a:r>
            <a:r>
              <a:rPr lang="en-AU" sz="2800" dirty="0"/>
              <a:t>ivide </a:t>
            </a:r>
          </a:p>
          <a:p>
            <a:r>
              <a:rPr lang="en-AU" sz="2800" dirty="0"/>
              <a:t>                   (from left to right)</a:t>
            </a:r>
          </a:p>
          <a:p>
            <a:endParaRPr lang="en-AU" sz="2800" b="1" u="sng" dirty="0"/>
          </a:p>
          <a:p>
            <a:r>
              <a:rPr lang="en-AU" sz="2800" dirty="0"/>
              <a:t>4. </a:t>
            </a:r>
            <a:r>
              <a:rPr lang="en-AU" sz="2800" b="1" u="sng" dirty="0">
                <a:solidFill>
                  <a:srgbClr val="CC00CC"/>
                </a:solidFill>
              </a:rPr>
              <a:t>A</a:t>
            </a:r>
            <a:r>
              <a:rPr lang="en-AU" sz="2800" dirty="0"/>
              <a:t>dd or </a:t>
            </a:r>
            <a:r>
              <a:rPr lang="en-AU" sz="2800" b="1" u="sng" dirty="0">
                <a:solidFill>
                  <a:srgbClr val="CC00CC"/>
                </a:solidFill>
              </a:rPr>
              <a:t>S</a:t>
            </a:r>
            <a:r>
              <a:rPr lang="en-AU" sz="2800" dirty="0"/>
              <a:t>ubtract </a:t>
            </a:r>
          </a:p>
          <a:p>
            <a:r>
              <a:rPr lang="en-AU" sz="2800" dirty="0"/>
              <a:t>                    (from left to right)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4867BCD-185F-47BA-8119-A310EF3FF270}"/>
                  </a:ext>
                </a:extLst>
              </p:cNvPr>
              <p:cNvSpPr txBox="1"/>
              <p:nvPr/>
            </p:nvSpPr>
            <p:spPr>
              <a:xfrm>
                <a:off x="7711926" y="1805519"/>
                <a:ext cx="4269893" cy="4171655"/>
              </a:xfrm>
              <a:prstGeom prst="rect">
                <a:avLst/>
              </a:prstGeom>
              <a:noFill/>
              <a:ln w="38100">
                <a:solidFill>
                  <a:srgbClr val="FF00FF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Let’s Try…</a:t>
                </a:r>
              </a:p>
              <a:p>
                <a:endParaRPr lang="en-AU" sz="2400" dirty="0"/>
              </a:p>
              <a:p>
                <a:r>
                  <a:rPr lang="en-AU" sz="2400" b="0" dirty="0"/>
                  <a:t>2 + </a:t>
                </a:r>
                <a14:m>
                  <m:oMath xmlns:m="http://schemas.openxmlformats.org/officeDocument/2006/math">
                    <m:r>
                      <a:rPr lang="en-AU" sz="2400" b="0" i="1" smtClean="0"/>
                      <m:t>6 </m:t>
                    </m:r>
                    <m:r>
                      <a:rPr lang="en-AU" sz="2400" b="0" i="1" smtClean="0"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AU" sz="2400" b="0" i="1" smtClean="0"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ea typeface="Cambria Math" panose="02040503050406030204" pitchFamily="18" charset="0"/>
                          </a:rPr>
                          <m:t>4+2</m:t>
                        </m:r>
                      </m:e>
                    </m:d>
                    <m:r>
                      <a:rPr lang="en-AU" sz="2400" b="0" i="1" smtClean="0">
                        <a:ea typeface="Cambria Math" panose="02040503050406030204" pitchFamily="18" charset="0"/>
                      </a:rPr>
                      <m:t> ÷</m:t>
                    </m:r>
                    <m:sSup>
                      <m:sSupPr>
                        <m:ctrlPr>
                          <a:rPr lang="en-AU" sz="2400" b="0" i="1" smtClean="0"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sz="2400" b="0" i="1" smtClean="0"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b="0" i="1" smtClean="0"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endParaRPr lang="en-AU" sz="2400" b="0" dirty="0">
                  <a:ea typeface="Cambria Math" panose="02040503050406030204" pitchFamily="18" charset="0"/>
                </a:endParaRPr>
              </a:p>
              <a:p>
                <a:endParaRPr lang="en-AU" sz="2400" dirty="0"/>
              </a:p>
              <a:p>
                <a:r>
                  <a:rPr lang="en-AU" sz="2400" dirty="0"/>
                  <a:t>2 + </a:t>
                </a:r>
                <a14:m>
                  <m:oMath xmlns:m="http://schemas.openxmlformats.org/officeDocument/2006/math">
                    <m:r>
                      <a:rPr lang="en-AU" sz="2400" i="1"/>
                      <m:t>6 </m:t>
                    </m:r>
                    <m:r>
                      <a:rPr lang="en-AU" sz="2400" i="1"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ea typeface="Cambria Math" panose="02040503050406030204" pitchFamily="18" charset="0"/>
                      </a:rPr>
                      <m:t>6</m:t>
                    </m:r>
                    <m:r>
                      <a:rPr lang="en-AU" sz="2400" i="1">
                        <a:ea typeface="Cambria Math" panose="02040503050406030204" pitchFamily="18" charset="0"/>
                      </a:rPr>
                      <m:t> ÷</m:t>
                    </m:r>
                    <m:sSup>
                      <m:sSupPr>
                        <m:ctrlPr>
                          <a:rPr lang="en-AU" sz="2400" i="1"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i="1"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sz="2400" i="1"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i="1"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endParaRPr lang="en-AU" sz="2400" dirty="0">
                  <a:ea typeface="Cambria Math" panose="02040503050406030204" pitchFamily="18" charset="0"/>
                </a:endParaRPr>
              </a:p>
              <a:p>
                <a:endParaRPr lang="en-AU" sz="2400" dirty="0"/>
              </a:p>
              <a:p>
                <a:r>
                  <a:rPr lang="en-AU" sz="2400" dirty="0"/>
                  <a:t>2 + </a:t>
                </a:r>
                <a14:m>
                  <m:oMath xmlns:m="http://schemas.openxmlformats.org/officeDocument/2006/math">
                    <m:r>
                      <a:rPr lang="en-AU" sz="2400" i="1"/>
                      <m:t>6 </m:t>
                    </m:r>
                    <m:r>
                      <a:rPr lang="en-AU" sz="2400" i="1">
                        <a:ea typeface="Cambria Math" panose="02040503050406030204" pitchFamily="18" charset="0"/>
                      </a:rPr>
                      <m:t>×6 ÷</m:t>
                    </m:r>
                    <m:r>
                      <a:rPr lang="en-AU" sz="2400" b="0" i="1" smtClean="0">
                        <a:ea typeface="Cambria Math" panose="02040503050406030204" pitchFamily="18" charset="0"/>
                      </a:rPr>
                      <m:t>9</m:t>
                    </m:r>
                    <m:r>
                      <a:rPr lang="en-AU" sz="2400" i="1"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endParaRPr lang="en-AU" sz="2400" dirty="0">
                  <a:ea typeface="Cambria Math" panose="02040503050406030204" pitchFamily="18" charset="0"/>
                </a:endParaRPr>
              </a:p>
              <a:p>
                <a:endParaRPr lang="en-AU" sz="2400" dirty="0">
                  <a:ea typeface="Cambria Math" panose="02040503050406030204" pitchFamily="18" charset="0"/>
                </a:endParaRPr>
              </a:p>
              <a:p>
                <a:r>
                  <a:rPr lang="en-AU" sz="2400" dirty="0"/>
                  <a:t>2 + 4 =</a:t>
                </a:r>
              </a:p>
              <a:p>
                <a:endParaRPr lang="en-AU" sz="2400" dirty="0">
                  <a:ea typeface="Cambria Math" panose="02040503050406030204" pitchFamily="18" charset="0"/>
                </a:endParaRPr>
              </a:p>
              <a:p>
                <a:r>
                  <a:rPr lang="en-AU" sz="2400" dirty="0">
                    <a:ea typeface="Cambria Math" panose="02040503050406030204" pitchFamily="18" charset="0"/>
                  </a:rPr>
                  <a:t>6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4867BCD-185F-47BA-8119-A310EF3FF2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1926" y="1805519"/>
                <a:ext cx="4269893" cy="4171655"/>
              </a:xfrm>
              <a:prstGeom prst="rect">
                <a:avLst/>
              </a:prstGeom>
              <a:blipFill>
                <a:blip r:embed="rId3"/>
                <a:stretch>
                  <a:fillRect l="-1697" t="-724" b="-1881"/>
                </a:stretch>
              </a:blipFill>
              <a:ln w="38100">
                <a:solidFill>
                  <a:srgbClr val="FF00FF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16898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BIMDAS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2553052"/>
            <a:ext cx="1720003" cy="1569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are the rules of BIMDAS?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do we use BIMDAS?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3F2954A-30D1-4837-B391-E825C18659E0}"/>
              </a:ext>
            </a:extLst>
          </p:cNvPr>
          <p:cNvSpPr txBox="1"/>
          <p:nvPr/>
        </p:nvSpPr>
        <p:spPr>
          <a:xfrm>
            <a:off x="2273053" y="1498737"/>
            <a:ext cx="494938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u="sng" dirty="0">
                <a:solidFill>
                  <a:srgbClr val="CC00CC"/>
                </a:solidFill>
              </a:rPr>
              <a:t>Order of Operations / BIMDAS</a:t>
            </a:r>
          </a:p>
          <a:p>
            <a:endParaRPr lang="en-AU" sz="2800" dirty="0"/>
          </a:p>
          <a:p>
            <a:r>
              <a:rPr lang="en-AU" sz="2800" dirty="0"/>
              <a:t>1. </a:t>
            </a:r>
            <a:r>
              <a:rPr lang="en-AU" sz="2800" b="1" u="sng" dirty="0">
                <a:solidFill>
                  <a:srgbClr val="CC00CC"/>
                </a:solidFill>
              </a:rPr>
              <a:t>B</a:t>
            </a:r>
            <a:r>
              <a:rPr lang="en-AU" sz="2800" dirty="0"/>
              <a:t>rackets First</a:t>
            </a:r>
          </a:p>
          <a:p>
            <a:endParaRPr lang="en-AU" sz="2800" dirty="0"/>
          </a:p>
          <a:p>
            <a:r>
              <a:rPr lang="en-AU" sz="2800" dirty="0"/>
              <a:t>2. </a:t>
            </a:r>
            <a:r>
              <a:rPr lang="en-AU" sz="2800" b="1" u="sng" dirty="0">
                <a:solidFill>
                  <a:srgbClr val="CC00CC"/>
                </a:solidFill>
              </a:rPr>
              <a:t>I</a:t>
            </a:r>
            <a:r>
              <a:rPr lang="en-AU" sz="2800" dirty="0"/>
              <a:t>ndices</a:t>
            </a:r>
          </a:p>
          <a:p>
            <a:endParaRPr lang="en-AU" sz="2800" dirty="0"/>
          </a:p>
          <a:p>
            <a:r>
              <a:rPr lang="en-AU" sz="2800" dirty="0"/>
              <a:t>3. </a:t>
            </a:r>
            <a:r>
              <a:rPr lang="en-AU" sz="2800" b="1" u="sng" dirty="0">
                <a:solidFill>
                  <a:srgbClr val="CC00CC"/>
                </a:solidFill>
              </a:rPr>
              <a:t>M</a:t>
            </a:r>
            <a:r>
              <a:rPr lang="en-AU" sz="2800" dirty="0"/>
              <a:t>ultiply and/or </a:t>
            </a:r>
            <a:r>
              <a:rPr lang="en-AU" sz="2800" b="1" u="sng" dirty="0">
                <a:solidFill>
                  <a:srgbClr val="CC00CC"/>
                </a:solidFill>
              </a:rPr>
              <a:t>D</a:t>
            </a:r>
            <a:r>
              <a:rPr lang="en-AU" sz="2800" dirty="0"/>
              <a:t>ivide </a:t>
            </a:r>
          </a:p>
          <a:p>
            <a:r>
              <a:rPr lang="en-AU" sz="2800" dirty="0"/>
              <a:t>                   (from left to right)</a:t>
            </a:r>
          </a:p>
          <a:p>
            <a:endParaRPr lang="en-AU" sz="2800" b="1" u="sng" dirty="0"/>
          </a:p>
          <a:p>
            <a:r>
              <a:rPr lang="en-AU" sz="2800" dirty="0"/>
              <a:t>4. </a:t>
            </a:r>
            <a:r>
              <a:rPr lang="en-AU" sz="2800" b="1" u="sng" dirty="0">
                <a:solidFill>
                  <a:srgbClr val="CC00CC"/>
                </a:solidFill>
              </a:rPr>
              <a:t>A</a:t>
            </a:r>
            <a:r>
              <a:rPr lang="en-AU" sz="2800" dirty="0"/>
              <a:t>dd or </a:t>
            </a:r>
            <a:r>
              <a:rPr lang="en-AU" sz="2800" b="1" u="sng" dirty="0">
                <a:solidFill>
                  <a:srgbClr val="CC00CC"/>
                </a:solidFill>
              </a:rPr>
              <a:t>S</a:t>
            </a:r>
            <a:r>
              <a:rPr lang="en-AU" sz="2800" dirty="0"/>
              <a:t>ubtract </a:t>
            </a:r>
          </a:p>
          <a:p>
            <a:r>
              <a:rPr lang="en-AU" sz="2800" dirty="0"/>
              <a:t>                    (from left to right)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AC6B52E-4FEF-42F1-80A4-707EA98B9FFA}"/>
                  </a:ext>
                </a:extLst>
              </p:cNvPr>
              <p:cNvSpPr txBox="1"/>
              <p:nvPr/>
            </p:nvSpPr>
            <p:spPr>
              <a:xfrm>
                <a:off x="7075004" y="1678422"/>
                <a:ext cx="4949382" cy="4887556"/>
              </a:xfrm>
              <a:prstGeom prst="rect">
                <a:avLst/>
              </a:prstGeom>
              <a:noFill/>
              <a:ln w="38100">
                <a:solidFill>
                  <a:srgbClr val="FF00FF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AU" sz="2800" dirty="0"/>
                  <a:t>Let’s Try…</a:t>
                </a:r>
              </a:p>
              <a:p>
                <a:endParaRPr lang="en-AU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AU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AU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d>
                            <m:dPr>
                              <m:ctrlPr>
                                <a:rPr lang="en-AU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3−3+2</m:t>
                              </m:r>
                            </m:e>
                          </m:d>
                        </m:e>
                      </m:d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÷3 ×4=</m:t>
                      </m:r>
                    </m:oMath>
                  </m:oMathPara>
                </a14:m>
                <a:endParaRPr lang="en-AU" sz="2800" b="0" dirty="0">
                  <a:ea typeface="Cambria Math" panose="02040503050406030204" pitchFamily="18" charset="0"/>
                </a:endParaRPr>
              </a:p>
              <a:p>
                <a:endParaRPr lang="en-AU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AU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AU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÷3 ×4=</m:t>
                      </m:r>
                    </m:oMath>
                  </m:oMathPara>
                </a14:m>
                <a:endParaRPr lang="en-AU" sz="2800" dirty="0">
                  <a:ea typeface="Cambria Math" panose="02040503050406030204" pitchFamily="18" charset="0"/>
                </a:endParaRPr>
              </a:p>
              <a:p>
                <a:endParaRPr lang="en-AU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÷3 ×4=</m:t>
                      </m:r>
                    </m:oMath>
                  </m:oMathPara>
                </a14:m>
                <a:endParaRPr lang="en-AU" sz="2800" dirty="0">
                  <a:ea typeface="Cambria Math" panose="02040503050406030204" pitchFamily="18" charset="0"/>
                </a:endParaRPr>
              </a:p>
              <a:p>
                <a:endParaRPr lang="en-AU" sz="280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÷3 ×4=</m:t>
                      </m:r>
                    </m:oMath>
                  </m:oMathPara>
                </a14:m>
                <a:endParaRPr lang="en-AU" sz="2800" dirty="0">
                  <a:ea typeface="Cambria Math" panose="02040503050406030204" pitchFamily="18" charset="0"/>
                </a:endParaRPr>
              </a:p>
              <a:p>
                <a:endParaRPr lang="en-AU" sz="2800" dirty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sz="2800" dirty="0">
                    <a:ea typeface="Cambria Math" panose="02040503050406030204" pitchFamily="18" charset="0"/>
                  </a:rPr>
                  <a:t>8</a:t>
                </a: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AC6B52E-4FEF-42F1-80A4-707EA98B9F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5004" y="1678422"/>
                <a:ext cx="4949382" cy="4887556"/>
              </a:xfrm>
              <a:prstGeom prst="rect">
                <a:avLst/>
              </a:prstGeom>
              <a:blipFill>
                <a:blip r:embed="rId3"/>
                <a:stretch>
                  <a:fillRect l="-2200" t="-743" b="-2228"/>
                </a:stretch>
              </a:blipFill>
              <a:ln w="38100">
                <a:solidFill>
                  <a:srgbClr val="FF00FF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Arrow: Right 15">
            <a:extLst>
              <a:ext uri="{FF2B5EF4-FFF2-40B4-BE49-F238E27FC236}">
                <a16:creationId xmlns:a16="http://schemas.microsoft.com/office/drawing/2014/main" id="{A9EAE2E5-4901-476C-A9D1-8BBCF12778DD}"/>
              </a:ext>
            </a:extLst>
          </p:cNvPr>
          <p:cNvSpPr/>
          <p:nvPr/>
        </p:nvSpPr>
        <p:spPr>
          <a:xfrm>
            <a:off x="5116995" y="2224983"/>
            <a:ext cx="1958009" cy="13355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Inside brackets first</a:t>
            </a:r>
          </a:p>
        </p:txBody>
      </p:sp>
    </p:spTree>
    <p:extLst>
      <p:ext uri="{BB962C8B-B14F-4D97-AF65-F5344CB8AC3E}">
        <p14:creationId xmlns:p14="http://schemas.microsoft.com/office/powerpoint/2010/main" val="245039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0E5266-714E-446D-8D34-3A64733B7D05}"/>
              </a:ext>
            </a:extLst>
          </p:cNvPr>
          <p:cNvSpPr txBox="1"/>
          <p:nvPr/>
        </p:nvSpPr>
        <p:spPr>
          <a:xfrm>
            <a:off x="2571389" y="1985378"/>
            <a:ext cx="704922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srgbClr val="CC00CC"/>
                </a:solidFill>
              </a:rPr>
              <a:t>DOMINOS GAME</a:t>
            </a:r>
          </a:p>
          <a:p>
            <a:pPr marL="514350" indent="-514350">
              <a:buFont typeface="+mj-lt"/>
              <a:buAutoNum type="arabicPeriod"/>
            </a:pPr>
            <a:endParaRPr lang="en-AU" sz="2800" dirty="0">
              <a:solidFill>
                <a:srgbClr val="CC00CC"/>
              </a:solidFill>
            </a:endParaRPr>
          </a:p>
          <a:p>
            <a:endParaRPr lang="en-AU" sz="2800" dirty="0">
              <a:solidFill>
                <a:srgbClr val="CC00CC"/>
              </a:solidFill>
            </a:endParaRPr>
          </a:p>
          <a:p>
            <a:endParaRPr lang="en-AU" sz="2800" dirty="0">
              <a:solidFill>
                <a:srgbClr val="CC00CC"/>
              </a:solidFill>
            </a:endParaRPr>
          </a:p>
          <a:p>
            <a:endParaRPr lang="en-AU" sz="2800" dirty="0">
              <a:solidFill>
                <a:srgbClr val="CC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3B9F35E-E353-4678-B5EF-2F00D41A9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44" y="4713356"/>
            <a:ext cx="2844800" cy="177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73BC22F-42E3-4975-AAF9-7CE173477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5367" y="215901"/>
            <a:ext cx="2806700" cy="1943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BFA464-DD9C-45F9-8204-1838D1382B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594" y="215900"/>
            <a:ext cx="2476500" cy="337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5DC2C5-1BDE-4944-8BA6-055063A4CD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5517" y="2438400"/>
            <a:ext cx="4038600" cy="2311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A3396B-1A1A-4671-A6B8-4C9F39C4DD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5367" y="4881495"/>
            <a:ext cx="3898900" cy="16891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13E8154-067C-4025-980A-71F420CDC76A}"/>
              </a:ext>
            </a:extLst>
          </p:cNvPr>
          <p:cNvSpPr/>
          <p:nvPr/>
        </p:nvSpPr>
        <p:spPr>
          <a:xfrm>
            <a:off x="855593" y="597176"/>
            <a:ext cx="4293704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EDF930-4D59-4F85-80CD-1C57756C6B30}"/>
              </a:ext>
            </a:extLst>
          </p:cNvPr>
          <p:cNvSpPr/>
          <p:nvPr/>
        </p:nvSpPr>
        <p:spPr>
          <a:xfrm>
            <a:off x="979281" y="901976"/>
            <a:ext cx="4293704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A6F616-FAF7-40D8-8C82-AD1085AF1EA4}"/>
              </a:ext>
            </a:extLst>
          </p:cNvPr>
          <p:cNvSpPr/>
          <p:nvPr/>
        </p:nvSpPr>
        <p:spPr>
          <a:xfrm>
            <a:off x="855593" y="1309204"/>
            <a:ext cx="4293704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C14654-6D29-43E4-A48F-6910F6D4F88A}"/>
              </a:ext>
            </a:extLst>
          </p:cNvPr>
          <p:cNvSpPr/>
          <p:nvPr/>
        </p:nvSpPr>
        <p:spPr>
          <a:xfrm>
            <a:off x="497785" y="2858880"/>
            <a:ext cx="4293704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E1C659-D2D2-48DE-904F-0BA790D7B6DC}"/>
              </a:ext>
            </a:extLst>
          </p:cNvPr>
          <p:cNvSpPr/>
          <p:nvPr/>
        </p:nvSpPr>
        <p:spPr>
          <a:xfrm>
            <a:off x="497785" y="3266108"/>
            <a:ext cx="4293704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DAD415-BBAE-4783-8CF9-2E2B10B7C30D}"/>
              </a:ext>
            </a:extLst>
          </p:cNvPr>
          <p:cNvSpPr/>
          <p:nvPr/>
        </p:nvSpPr>
        <p:spPr>
          <a:xfrm>
            <a:off x="929309" y="5120584"/>
            <a:ext cx="4293704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0C960A-5C1B-4198-8E2F-E788145FB538}"/>
              </a:ext>
            </a:extLst>
          </p:cNvPr>
          <p:cNvSpPr/>
          <p:nvPr/>
        </p:nvSpPr>
        <p:spPr>
          <a:xfrm>
            <a:off x="671444" y="5505587"/>
            <a:ext cx="4293704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DA4694-720F-489A-BC66-87798A0ED7F5}"/>
              </a:ext>
            </a:extLst>
          </p:cNvPr>
          <p:cNvSpPr/>
          <p:nvPr/>
        </p:nvSpPr>
        <p:spPr>
          <a:xfrm>
            <a:off x="671444" y="5787265"/>
            <a:ext cx="4293704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E6D02A-4742-4594-8794-EDC429F18C18}"/>
              </a:ext>
            </a:extLst>
          </p:cNvPr>
          <p:cNvSpPr/>
          <p:nvPr/>
        </p:nvSpPr>
        <p:spPr>
          <a:xfrm>
            <a:off x="497785" y="6174996"/>
            <a:ext cx="4293704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9844677-0DC4-4D13-A635-979D93C15D2B}"/>
              </a:ext>
            </a:extLst>
          </p:cNvPr>
          <p:cNvSpPr/>
          <p:nvPr/>
        </p:nvSpPr>
        <p:spPr>
          <a:xfrm>
            <a:off x="7535517" y="597176"/>
            <a:ext cx="4293704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427112-0F56-44AD-8728-E398924BDE5A}"/>
              </a:ext>
            </a:extLst>
          </p:cNvPr>
          <p:cNvSpPr/>
          <p:nvPr/>
        </p:nvSpPr>
        <p:spPr>
          <a:xfrm>
            <a:off x="6554028" y="986251"/>
            <a:ext cx="4293704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96A5568-77A7-4059-A215-32ACFF5AC8B2}"/>
              </a:ext>
            </a:extLst>
          </p:cNvPr>
          <p:cNvSpPr/>
          <p:nvPr/>
        </p:nvSpPr>
        <p:spPr>
          <a:xfrm>
            <a:off x="7535517" y="1396032"/>
            <a:ext cx="4293704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6942C7C-DBB0-4696-8EF3-5E685DD691AF}"/>
              </a:ext>
            </a:extLst>
          </p:cNvPr>
          <p:cNvSpPr/>
          <p:nvPr/>
        </p:nvSpPr>
        <p:spPr>
          <a:xfrm>
            <a:off x="6554028" y="1723819"/>
            <a:ext cx="4293704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FDE8301-7D92-4F6C-9C54-CE1F439B6567}"/>
              </a:ext>
            </a:extLst>
          </p:cNvPr>
          <p:cNvSpPr/>
          <p:nvPr/>
        </p:nvSpPr>
        <p:spPr>
          <a:xfrm>
            <a:off x="7241900" y="2896568"/>
            <a:ext cx="4293704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8FB762-3377-4441-8B89-75DF673B026F}"/>
              </a:ext>
            </a:extLst>
          </p:cNvPr>
          <p:cNvSpPr/>
          <p:nvPr/>
        </p:nvSpPr>
        <p:spPr>
          <a:xfrm>
            <a:off x="7407964" y="3235133"/>
            <a:ext cx="4293704" cy="335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B83301-1858-47F2-9790-B2795B7C39F4}"/>
              </a:ext>
            </a:extLst>
          </p:cNvPr>
          <p:cNvSpPr/>
          <p:nvPr/>
        </p:nvSpPr>
        <p:spPr>
          <a:xfrm>
            <a:off x="7898296" y="3604179"/>
            <a:ext cx="4293704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550105D-8D1B-4157-880F-7072229F8197}"/>
              </a:ext>
            </a:extLst>
          </p:cNvPr>
          <p:cNvSpPr/>
          <p:nvPr/>
        </p:nvSpPr>
        <p:spPr>
          <a:xfrm>
            <a:off x="7407964" y="3985316"/>
            <a:ext cx="4293704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FE7CFE0-C0F4-494C-B397-1DCC8809C8EC}"/>
              </a:ext>
            </a:extLst>
          </p:cNvPr>
          <p:cNvSpPr/>
          <p:nvPr/>
        </p:nvSpPr>
        <p:spPr>
          <a:xfrm>
            <a:off x="7280413" y="4373908"/>
            <a:ext cx="4293704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FF20DF0-2A69-4126-AAA2-BEA4F98AD06F}"/>
              </a:ext>
            </a:extLst>
          </p:cNvPr>
          <p:cNvSpPr/>
          <p:nvPr/>
        </p:nvSpPr>
        <p:spPr>
          <a:xfrm>
            <a:off x="7746724" y="5219353"/>
            <a:ext cx="4293704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9EE852-A074-49CD-A159-6F49B36D4F44}"/>
              </a:ext>
            </a:extLst>
          </p:cNvPr>
          <p:cNvSpPr/>
          <p:nvPr/>
        </p:nvSpPr>
        <p:spPr>
          <a:xfrm>
            <a:off x="7605367" y="5634865"/>
            <a:ext cx="4293704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F9E2833-99B9-4DAA-8C0C-F728779A5E8F}"/>
              </a:ext>
            </a:extLst>
          </p:cNvPr>
          <p:cNvSpPr/>
          <p:nvPr/>
        </p:nvSpPr>
        <p:spPr>
          <a:xfrm>
            <a:off x="7735129" y="5950329"/>
            <a:ext cx="4293704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FD4B576-120A-4DAB-B1C4-183DD0533F4C}"/>
              </a:ext>
            </a:extLst>
          </p:cNvPr>
          <p:cNvSpPr/>
          <p:nvPr/>
        </p:nvSpPr>
        <p:spPr>
          <a:xfrm>
            <a:off x="7605367" y="6300991"/>
            <a:ext cx="4293704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80D055D9-8017-4E42-B551-B7D87834133C}"/>
              </a:ext>
            </a:extLst>
          </p:cNvPr>
          <p:cNvSpPr txBox="1">
            <a:spLocks/>
          </p:cNvSpPr>
          <p:nvPr/>
        </p:nvSpPr>
        <p:spPr>
          <a:xfrm>
            <a:off x="3346756" y="255404"/>
            <a:ext cx="3236783" cy="129302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2076AAA-AF3A-4107-8AD3-88E4893A3931}"/>
              </a:ext>
            </a:extLst>
          </p:cNvPr>
          <p:cNvSpPr txBox="1"/>
          <p:nvPr/>
        </p:nvSpPr>
        <p:spPr>
          <a:xfrm>
            <a:off x="3698677" y="3269697"/>
            <a:ext cx="357991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2400" dirty="0">
                <a:solidFill>
                  <a:srgbClr val="CC00CC"/>
                </a:solidFill>
              </a:rPr>
              <a:t>Complete task</a:t>
            </a:r>
          </a:p>
          <a:p>
            <a:pPr marL="514350" indent="-514350">
              <a:buFont typeface="+mj-lt"/>
              <a:buAutoNum type="arabicPeriod"/>
            </a:pPr>
            <a:endParaRPr lang="en-AU" sz="2400" dirty="0">
              <a:solidFill>
                <a:srgbClr val="CC00CC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AU" sz="2400" dirty="0">
                <a:solidFill>
                  <a:srgbClr val="CC00CC"/>
                </a:solidFill>
              </a:rPr>
              <a:t>We will go over answers together</a:t>
            </a:r>
          </a:p>
          <a:p>
            <a:pPr marL="514350" indent="-514350">
              <a:buFont typeface="+mj-lt"/>
              <a:buAutoNum type="arabicPeriod"/>
            </a:pPr>
            <a:endParaRPr lang="en-AU" sz="2400" dirty="0">
              <a:solidFill>
                <a:srgbClr val="CC00CC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AU" sz="2400" dirty="0">
                <a:solidFill>
                  <a:srgbClr val="CC00CC"/>
                </a:solidFill>
              </a:rPr>
              <a:t>Complete Exit Pass and give to you teacher</a:t>
            </a:r>
          </a:p>
          <a:p>
            <a:endParaRPr lang="en-AU" sz="2400" dirty="0">
              <a:solidFill>
                <a:srgbClr val="CC00CC"/>
              </a:solidFill>
            </a:endParaRPr>
          </a:p>
          <a:p>
            <a:endParaRPr lang="en-AU" sz="2400" dirty="0">
              <a:solidFill>
                <a:srgbClr val="CC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7202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317</Words>
  <Application>Microsoft Office PowerPoint</Application>
  <PresentationFormat>Widescreen</PresentationFormat>
  <Paragraphs>88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Kiwi School Handwriting</vt:lpstr>
      <vt:lpstr>Office Theme</vt:lpstr>
      <vt:lpstr>BIMDAS</vt:lpstr>
      <vt:lpstr>Learning Intentions</vt:lpstr>
      <vt:lpstr>While Miss L does the role…..</vt:lpstr>
      <vt:lpstr>PowerPoint Presentation</vt:lpstr>
      <vt:lpstr>PowerPoint Presentation</vt:lpstr>
      <vt:lpstr>PowerPoint Presentation</vt:lpstr>
      <vt:lpstr>PowerPoint Presentation</vt:lpstr>
      <vt:lpstr>Task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BIMDAS</dc:title>
  <dc:creator>Nine Labuschagne</dc:creator>
  <cp:lastModifiedBy>Nine Labuschagne</cp:lastModifiedBy>
  <cp:revision>9</cp:revision>
  <dcterms:created xsi:type="dcterms:W3CDTF">2018-02-04T06:51:25Z</dcterms:created>
  <dcterms:modified xsi:type="dcterms:W3CDTF">2018-02-04T07:11:25Z</dcterms:modified>
</cp:coreProperties>
</file>
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62" r:id="rId3"/>
    <p:sldId id="264" r:id="rId4"/>
    <p:sldId id="265" r:id="rId5"/>
    <p:sldId id="257" r:id="rId6"/>
    <p:sldId id="258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2"/>
    <p:restoredTop sz="94655"/>
  </p:normalViewPr>
  <p:slideViewPr>
    <p:cSldViewPr snapToGrid="0" snapToObjects="1">
      <p:cViewPr varScale="1">
        <p:scale>
          <a:sx n="86" d="100"/>
          <a:sy n="86" d="100"/>
        </p:scale>
        <p:origin x="9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6077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93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47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04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44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359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60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90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96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916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6102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018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2699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481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4607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430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38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BC23BB-2070-D146-BD10-A01B23AF686B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24933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7bUVjJWA6Vw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abs.gov.au/ausstats/abs@.nsf/94713ad445ff1425ca25682000192af2/1647509ef7e25faaca2568a900154b63!OpenDocu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Rates Continued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48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77091"/>
            <a:ext cx="10131425" cy="1456267"/>
          </a:xfrm>
        </p:spPr>
        <p:txBody>
          <a:bodyPr/>
          <a:lstStyle/>
          <a:p>
            <a:r>
              <a:rPr lang="en-AU" u="sng" dirty="0" smtClean="0"/>
              <a:t>METRIC Units</a:t>
            </a:r>
            <a:endParaRPr lang="en-AU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33358"/>
            <a:ext cx="10835639" cy="4458238"/>
          </a:xfrm>
        </p:spPr>
        <p:txBody>
          <a:bodyPr>
            <a:normAutofit fontScale="70000" lnSpcReduction="20000"/>
          </a:bodyPr>
          <a:lstStyle/>
          <a:p>
            <a:r>
              <a:rPr lang="en-AU" sz="2400" dirty="0" smtClean="0"/>
              <a:t>What units of measurement (time, weight, length) do we use in Australia? </a:t>
            </a:r>
          </a:p>
          <a:p>
            <a:r>
              <a:rPr lang="en-AU" sz="2400" dirty="0" smtClean="0"/>
              <a:t>If you had to pick the common </a:t>
            </a:r>
            <a:r>
              <a:rPr lang="en-AU" sz="2400" dirty="0" smtClean="0"/>
              <a:t>units we use, </a:t>
            </a:r>
            <a:r>
              <a:rPr lang="en-AU" sz="2400" dirty="0" smtClean="0"/>
              <a:t>what would you choose?</a:t>
            </a:r>
          </a:p>
          <a:p>
            <a:r>
              <a:rPr lang="en-AU" sz="2400" i="1" dirty="0" smtClean="0"/>
              <a:t> </a:t>
            </a:r>
            <a:r>
              <a:rPr lang="en-AU" sz="2400" dirty="0" smtClean="0"/>
              <a:t>There are </a:t>
            </a:r>
            <a:r>
              <a:rPr lang="en-AU" sz="2400" i="1" dirty="0" smtClean="0"/>
              <a:t>Base</a:t>
            </a:r>
            <a:r>
              <a:rPr lang="en-AU" sz="2400" dirty="0" smtClean="0"/>
              <a:t> </a:t>
            </a:r>
            <a:r>
              <a:rPr lang="en-AU" sz="2400" dirty="0" smtClean="0"/>
              <a:t>and </a:t>
            </a:r>
            <a:r>
              <a:rPr lang="en-AU" sz="2400" b="1" dirty="0" smtClean="0"/>
              <a:t>Common </a:t>
            </a:r>
            <a:r>
              <a:rPr lang="en-AU" sz="2400" dirty="0" smtClean="0"/>
              <a:t>units. </a:t>
            </a:r>
            <a:r>
              <a:rPr lang="en-AU" sz="2400" dirty="0" smtClean="0"/>
              <a:t>Base </a:t>
            </a:r>
            <a:r>
              <a:rPr lang="en-AU" sz="2400" dirty="0" smtClean="0"/>
              <a:t>units are the standards used for metric units, often having a prefix added to increase of decrease</a:t>
            </a:r>
            <a:r>
              <a:rPr lang="en-AU" sz="2400" dirty="0" smtClean="0"/>
              <a:t> their size.</a:t>
            </a:r>
            <a:r>
              <a:rPr lang="en-AU" sz="2400" dirty="0" smtClean="0"/>
              <a:t> Common units are the ones we use for descriptions most often.</a:t>
            </a:r>
            <a:endParaRPr lang="en-AU" sz="2400" b="1" dirty="0" smtClean="0"/>
          </a:p>
          <a:p>
            <a:r>
              <a:rPr lang="en-AU" sz="2800" dirty="0" smtClean="0"/>
              <a:t>Weight:</a:t>
            </a:r>
          </a:p>
          <a:p>
            <a:pPr lvl="1">
              <a:buFont typeface="Wingdings" charset="2"/>
              <a:buChar char="Ø"/>
            </a:pPr>
            <a:r>
              <a:rPr lang="en-AU" sz="2800" i="1" dirty="0" smtClean="0"/>
              <a:t>Gram</a:t>
            </a:r>
            <a:r>
              <a:rPr lang="en-AU" sz="2800" dirty="0" smtClean="0"/>
              <a:t>, </a:t>
            </a:r>
            <a:r>
              <a:rPr lang="en-AU" sz="2800" b="1" dirty="0" smtClean="0"/>
              <a:t>Kilogram</a:t>
            </a:r>
            <a:r>
              <a:rPr lang="en-AU" sz="2800" dirty="0" smtClean="0"/>
              <a:t>,  Tonne</a:t>
            </a:r>
          </a:p>
          <a:p>
            <a:r>
              <a:rPr lang="en-AU" sz="2800" dirty="0" smtClean="0"/>
              <a:t>Length:</a:t>
            </a:r>
          </a:p>
          <a:p>
            <a:pPr lvl="1">
              <a:buFont typeface="Wingdings" charset="2"/>
              <a:buChar char="Ø"/>
            </a:pPr>
            <a:r>
              <a:rPr lang="en-AU" sz="2800" dirty="0" smtClean="0"/>
              <a:t>Millimetre, Centimetre, </a:t>
            </a:r>
            <a:r>
              <a:rPr lang="en-AU" sz="2800" i="1" dirty="0" smtClean="0"/>
              <a:t>Metre</a:t>
            </a:r>
            <a:r>
              <a:rPr lang="en-AU" sz="2800" dirty="0" smtClean="0"/>
              <a:t>, </a:t>
            </a:r>
            <a:r>
              <a:rPr lang="en-AU" sz="2800" b="1" dirty="0" smtClean="0"/>
              <a:t>Kilometre</a:t>
            </a:r>
          </a:p>
          <a:p>
            <a:r>
              <a:rPr lang="en-AU" sz="2800" dirty="0"/>
              <a:t>T</a:t>
            </a:r>
            <a:r>
              <a:rPr lang="en-AU" sz="2800" dirty="0" smtClean="0"/>
              <a:t>ime</a:t>
            </a:r>
            <a:r>
              <a:rPr lang="en-AU" sz="2800" dirty="0" smtClean="0"/>
              <a:t>:</a:t>
            </a:r>
          </a:p>
          <a:p>
            <a:pPr lvl="1">
              <a:buFont typeface="Wingdings" charset="2"/>
              <a:buChar char="Ø"/>
            </a:pPr>
            <a:r>
              <a:rPr lang="en-AU" sz="2800" dirty="0" smtClean="0"/>
              <a:t>Seconds, Minutes, </a:t>
            </a:r>
            <a:r>
              <a:rPr lang="en-AU" sz="2800" b="1" i="1" dirty="0" smtClean="0"/>
              <a:t>Hours</a:t>
            </a:r>
            <a:r>
              <a:rPr lang="en-AU" sz="2800" dirty="0" smtClean="0"/>
              <a:t>, Days, Weeks, Fortnights, Months, Years, Decades, Centuries, </a:t>
            </a:r>
            <a:r>
              <a:rPr lang="en-AU" sz="2800" dirty="0" err="1" smtClean="0"/>
              <a:t>Millenium</a:t>
            </a:r>
            <a:r>
              <a:rPr lang="en-AU" sz="2800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AU" sz="3000" dirty="0" smtClean="0"/>
              <a:t>So where do we get our metric units from?</a:t>
            </a:r>
            <a:endParaRPr lang="en-AU" sz="3000" dirty="0" smtClean="0"/>
          </a:p>
          <a:p>
            <a:pPr lvl="1"/>
            <a:endParaRPr lang="en-AU" dirty="0" smtClean="0"/>
          </a:p>
          <a:p>
            <a:pPr lvl="1"/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630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36" y="644577"/>
            <a:ext cx="10131425" cy="3649133"/>
          </a:xfrm>
        </p:spPr>
        <p:txBody>
          <a:bodyPr/>
          <a:lstStyle/>
          <a:p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www.youtube.com/watch?v=7bUVjJWA6Vw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554636" y="644577"/>
            <a:ext cx="10131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Watch the video below to find out more about metric units.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35739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 how do we compare rates?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Brainstorm ways in which you would need to compare rates and how you would do it? </a:t>
            </a:r>
          </a:p>
          <a:p>
            <a:r>
              <a:rPr lang="en-AU" dirty="0" smtClean="0"/>
              <a:t>BE PREPARED TO SHARE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1245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u="sng" dirty="0" smtClean="0"/>
              <a:t>Unitary Method</a:t>
            </a:r>
            <a:endParaRPr lang="en-AU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07067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Imagine we go to the shop, and we want to buy Nutella. </a:t>
            </a:r>
          </a:p>
          <a:p>
            <a:r>
              <a:rPr lang="en-AU" sz="2400" dirty="0" smtClean="0"/>
              <a:t>Nutella comes in three sizes, 375g, 500g and 1kg. </a:t>
            </a:r>
          </a:p>
          <a:p>
            <a:r>
              <a:rPr lang="en-AU" sz="2400" dirty="0" smtClean="0"/>
              <a:t>The cost of each of these three items are</a:t>
            </a:r>
          </a:p>
          <a:p>
            <a:pPr marL="914400" lvl="2" indent="0">
              <a:buNone/>
            </a:pPr>
            <a:r>
              <a:rPr lang="en-AU" sz="2800" dirty="0" smtClean="0"/>
              <a:t>375g : $6.50</a:t>
            </a:r>
          </a:p>
          <a:p>
            <a:pPr marL="914400" lvl="2" indent="0">
              <a:buNone/>
            </a:pPr>
            <a:r>
              <a:rPr lang="en-AU" sz="2800" dirty="0" smtClean="0"/>
              <a:t>500g : $7.80</a:t>
            </a:r>
          </a:p>
          <a:p>
            <a:pPr marL="914400" lvl="2" indent="0">
              <a:buNone/>
            </a:pPr>
            <a:r>
              <a:rPr lang="en-AU" sz="2800" dirty="0" smtClean="0"/>
              <a:t>1kg : $13.90</a:t>
            </a:r>
          </a:p>
          <a:p>
            <a:pPr marL="0" indent="0">
              <a:buNone/>
            </a:pPr>
            <a:r>
              <a:rPr lang="en-AU" sz="2400" dirty="0" smtClean="0"/>
              <a:t>So what’s the best </a:t>
            </a:r>
            <a:r>
              <a:rPr lang="en-AU" sz="2400" dirty="0" smtClean="0"/>
              <a:t>buy for price per kilogram?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9027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1456267"/>
          </a:xfrm>
        </p:spPr>
        <p:txBody>
          <a:bodyPr/>
          <a:lstStyle/>
          <a:p>
            <a:r>
              <a:rPr lang="en-AU" dirty="0" smtClean="0"/>
              <a:t>Lets compare: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1" y="1278467"/>
            <a:ext cx="11506199" cy="4715933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lphaLcPeriod"/>
            </a:pPr>
            <a:r>
              <a:rPr lang="en-AU" sz="2600" dirty="0"/>
              <a:t>375g : </a:t>
            </a:r>
            <a:r>
              <a:rPr lang="en-AU" sz="2600" dirty="0" smtClean="0"/>
              <a:t>$</a:t>
            </a:r>
            <a:r>
              <a:rPr lang="en-AU" sz="2600" dirty="0"/>
              <a:t>6</a:t>
            </a:r>
            <a:r>
              <a:rPr lang="en-AU" sz="2600" dirty="0" smtClean="0"/>
              <a:t>.50</a:t>
            </a:r>
            <a:endParaRPr lang="en-AU" sz="2600" dirty="0"/>
          </a:p>
          <a:p>
            <a:pPr marL="457200" indent="-457200">
              <a:buFont typeface="+mj-lt"/>
              <a:buAutoNum type="alphaLcPeriod"/>
            </a:pPr>
            <a:r>
              <a:rPr lang="en-AU" sz="2600" dirty="0"/>
              <a:t>500g : $7.80</a:t>
            </a:r>
          </a:p>
          <a:p>
            <a:pPr marL="457200" indent="-457200">
              <a:buFont typeface="+mj-lt"/>
              <a:buAutoNum type="alphaLcPeriod"/>
            </a:pPr>
            <a:r>
              <a:rPr lang="en-AU" sz="2600" dirty="0"/>
              <a:t>1kg : $</a:t>
            </a:r>
            <a:r>
              <a:rPr lang="en-AU" sz="2600" dirty="0" smtClean="0"/>
              <a:t>13.90</a:t>
            </a:r>
          </a:p>
          <a:p>
            <a:r>
              <a:rPr lang="en-AU" sz="2600" dirty="0" smtClean="0"/>
              <a:t>These prices all vary according to weight, so which is the best option to buy?</a:t>
            </a:r>
          </a:p>
          <a:p>
            <a:r>
              <a:rPr lang="en-AU" sz="2600" dirty="0" smtClean="0"/>
              <a:t>If we divide the price of each jar, by the same weight unit- in this case we will use </a:t>
            </a:r>
            <a:r>
              <a:rPr lang="en-AU" sz="2600" i="1" dirty="0" smtClean="0"/>
              <a:t>kg </a:t>
            </a:r>
            <a:r>
              <a:rPr lang="en-AU" sz="2600" dirty="0" smtClean="0"/>
              <a:t>to find the cost of $/kg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600" dirty="0" smtClean="0"/>
              <a:t>Convert the weights to  the same units [We will use Kilograms, so 375g -&gt; 0.375kg, 500g -&gt; 0.5kg]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600" dirty="0" smtClean="0"/>
              <a:t>Then divide the prices by the weight in Kilograms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600" dirty="0" smtClean="0"/>
              <a:t>6.50 / 0.375 = $17.33 per/kg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600" dirty="0" smtClean="0"/>
              <a:t>7.80 / 0.500 = $15.60 per/kg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600" dirty="0" smtClean="0"/>
              <a:t>13.90 / 1.00 = $13.90 per/kg</a:t>
            </a:r>
          </a:p>
          <a:p>
            <a:pPr marL="0" indent="0">
              <a:buNone/>
            </a:pPr>
            <a:endParaRPr lang="en-AU" sz="2400" dirty="0" smtClean="0"/>
          </a:p>
        </p:txBody>
      </p:sp>
    </p:spTree>
    <p:extLst>
      <p:ext uri="{BB962C8B-B14F-4D97-AF65-F5344CB8AC3E}">
        <p14:creationId xmlns:p14="http://schemas.microsoft.com/office/powerpoint/2010/main" val="14996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Practise:</a:t>
            </a:r>
            <a:br>
              <a:rPr lang="en-AU" dirty="0" smtClean="0"/>
            </a:br>
            <a:r>
              <a:rPr lang="en-AU" dirty="0" smtClean="0"/>
              <a:t>Convert these rates to standard forms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90" y="1152716"/>
            <a:ext cx="10131425" cy="3649133"/>
          </a:xfrm>
        </p:spPr>
        <p:txBody>
          <a:bodyPr>
            <a:normAutofit/>
          </a:bodyPr>
          <a:lstStyle/>
          <a:p>
            <a:r>
              <a:rPr lang="en-AU" sz="2400" dirty="0" smtClean="0"/>
              <a:t>The price per kg, if it cost $7.50 for 50g</a:t>
            </a:r>
          </a:p>
          <a:p>
            <a:r>
              <a:rPr lang="en-AU" sz="2400" dirty="0" smtClean="0"/>
              <a:t>The km per hour if it takes 15 minutes to do 20km. </a:t>
            </a:r>
          </a:p>
          <a:p>
            <a:r>
              <a:rPr lang="en-AU" sz="2400" dirty="0" smtClean="0"/>
              <a:t>The BPM, if the heart beats 24 times in 20 seconds</a:t>
            </a:r>
          </a:p>
          <a:p>
            <a:r>
              <a:rPr lang="en-AU" sz="2400" dirty="0" smtClean="0"/>
              <a:t>The cost per meter if it is $3.75 for 30cm.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982" y="4103020"/>
            <a:ext cx="7375240" cy="248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8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01600"/>
            <a:ext cx="10131425" cy="1456267"/>
          </a:xfrm>
        </p:spPr>
        <p:txBody>
          <a:bodyPr/>
          <a:lstStyle/>
          <a:p>
            <a:r>
              <a:rPr lang="en-AU" u="sng" dirty="0" smtClean="0"/>
              <a:t>Lets find rates in real life</a:t>
            </a:r>
            <a:endParaRPr lang="en-AU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92" y="2217810"/>
            <a:ext cx="8135938" cy="4640190"/>
          </a:xfrm>
        </p:spPr>
      </p:pic>
      <p:sp>
        <p:nvSpPr>
          <p:cNvPr id="3" name="TextBox 2"/>
          <p:cNvSpPr txBox="1"/>
          <p:nvPr/>
        </p:nvSpPr>
        <p:spPr>
          <a:xfrm>
            <a:off x="544292" y="1328133"/>
            <a:ext cx="11252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your knowledge of rates to go to this website and see the estimated rates of births and deaths in Australia</a:t>
            </a:r>
          </a:p>
          <a:p>
            <a:r>
              <a:rPr lang="de-DE" dirty="0">
                <a:hlinkClick r:id="rId3"/>
              </a:rPr>
              <a:t>http://www.abs.gov.au/ausstats/abs@.</a:t>
            </a:r>
            <a:r>
              <a:rPr lang="de-DE" dirty="0" smtClean="0">
                <a:hlinkClick r:id="rId3"/>
              </a:rPr>
              <a:t>nsf/94713ad445ff1425ca25682000192af2/1647509ef7e25faaca2568a900154b63!OpenDocument</a:t>
            </a:r>
            <a:r>
              <a:rPr lang="de-DE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249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477</TotalTime>
  <Words>426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Wingdings</vt:lpstr>
      <vt:lpstr>Arial</vt:lpstr>
      <vt:lpstr>Celestial</vt:lpstr>
      <vt:lpstr>Rates Continued </vt:lpstr>
      <vt:lpstr>METRIC Units</vt:lpstr>
      <vt:lpstr>PowerPoint Presentation</vt:lpstr>
      <vt:lpstr>So how do we compare rates?</vt:lpstr>
      <vt:lpstr>Unitary Method</vt:lpstr>
      <vt:lpstr>Lets compare:</vt:lpstr>
      <vt:lpstr>Practise: Convert these rates to standard forms</vt:lpstr>
      <vt:lpstr>Lets find rates in real life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POWER Travis [Baldivis Secondary College]</cp:lastModifiedBy>
  <cp:revision>10</cp:revision>
  <dcterms:created xsi:type="dcterms:W3CDTF">2018-02-13T05:48:53Z</dcterms:created>
  <dcterms:modified xsi:type="dcterms:W3CDTF">2018-02-18T14:06:38Z</dcterms:modified>
</cp:coreProperties>
</file>
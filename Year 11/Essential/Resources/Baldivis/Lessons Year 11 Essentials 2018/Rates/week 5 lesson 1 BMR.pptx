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94664"/>
  </p:normalViewPr>
  <p:slideViewPr>
    <p:cSldViewPr snapToGrid="0" snapToObjects="1">
      <p:cViewPr varScale="1">
        <p:scale>
          <a:sx n="81" d="100"/>
          <a:sy n="81" d="100"/>
        </p:scale>
        <p:origin x="10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2/23/18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Rates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Week 5 Lesson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47308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Recap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So far we have looked at rates a measure of two variables in relation to each other.</a:t>
            </a:r>
          </a:p>
          <a:p>
            <a:r>
              <a:rPr lang="en-AU" dirty="0" smtClean="0"/>
              <a:t>We have established that we use rates in everyday life</a:t>
            </a:r>
          </a:p>
          <a:p>
            <a:r>
              <a:rPr lang="en-AU" dirty="0" smtClean="0"/>
              <a:t>We have also seen how we can apply rates to our personal selves in heart rates, measured as BPM. </a:t>
            </a:r>
          </a:p>
          <a:p>
            <a:r>
              <a:rPr lang="en-AU" dirty="0" smtClean="0"/>
              <a:t>Lastly, we learned how to convert rates to singular units using the unitary method.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171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Topic: Base Metabolic Rate (BMR)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Metabolism is the way in which our body processes kilojoules (the energy we receive from food.)</a:t>
            </a:r>
          </a:p>
          <a:p>
            <a:r>
              <a:rPr lang="en-AU" dirty="0" smtClean="0"/>
              <a:t>The Base Metabolic rate is the bare minimum amount of Kilojoules that your body needs to meet its requirements. </a:t>
            </a:r>
          </a:p>
          <a:p>
            <a:r>
              <a:rPr lang="en-AU" dirty="0" smtClean="0"/>
              <a:t>You also have a PAL- your physical activity level. BMR is needed to meet the </a:t>
            </a:r>
            <a:r>
              <a:rPr lang="en-AU" dirty="0" err="1" smtClean="0"/>
              <a:t>damandes</a:t>
            </a:r>
            <a:r>
              <a:rPr lang="en-AU" dirty="0" smtClean="0"/>
              <a:t> of your PAL and basic bodily functions. So how do we find out what our base input should be? 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40524" y="2222287"/>
            <a:ext cx="7263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EQ: </a:t>
            </a:r>
            <a:r>
              <a:rPr lang="en-AU" dirty="0"/>
              <a:t>W</a:t>
            </a:r>
            <a:r>
              <a:rPr lang="en-AU" dirty="0" smtClean="0"/>
              <a:t>hat is BMR, and how does it help us in relation to our PAL?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824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to find your BMR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932413"/>
            <a:ext cx="10554574" cy="5201632"/>
          </a:xfrm>
        </p:spPr>
        <p:txBody>
          <a:bodyPr/>
          <a:lstStyle/>
          <a:p>
            <a:r>
              <a:rPr lang="en-AU" dirty="0" smtClean="0"/>
              <a:t>Like most things in real life, we can use a formula to help us find out what our BMR should be. </a:t>
            </a:r>
            <a:endParaRPr lang="en-AU" dirty="0"/>
          </a:p>
          <a:p>
            <a:r>
              <a:rPr lang="en-AU" dirty="0" smtClean="0"/>
              <a:t>The initial formula derived in the early 1930’s has now been refined in the 1990’s to be read as </a:t>
            </a:r>
          </a:p>
          <a:p>
            <a:endParaRPr lang="en-AU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706986"/>
              </p:ext>
            </p:extLst>
          </p:nvPr>
        </p:nvGraphicFramePr>
        <p:xfrm>
          <a:off x="667735" y="3744705"/>
          <a:ext cx="10563224" cy="1280160"/>
        </p:xfrm>
        <a:graphic>
          <a:graphicData uri="http://schemas.openxmlformats.org/drawingml/2006/table">
            <a:tbl>
              <a:tblPr/>
              <a:tblGrid>
                <a:gridCol w="1460610"/>
                <a:gridCol w="9102614"/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Men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BMR = (10 × weight in kg) + (6.25 × height in cm) - (5 × age in years) + 5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Women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BMR = (10 × weight in kg) + (6.25 × height in cm) - (5 × age in years) - 161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735" y="5325424"/>
            <a:ext cx="10272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Note, the output is in calories- so we need to  multiply the value by 4.2 to obtain a </a:t>
            </a:r>
            <a:r>
              <a:rPr lang="en-AU" dirty="0" err="1" smtClean="0"/>
              <a:t>Kj</a:t>
            </a:r>
            <a:r>
              <a:rPr lang="en-AU" dirty="0" smtClean="0"/>
              <a:t> rating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209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BMR and PAL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126" y="1417638"/>
            <a:ext cx="11714874" cy="3636511"/>
          </a:xfrm>
        </p:spPr>
        <p:txBody>
          <a:bodyPr/>
          <a:lstStyle/>
          <a:p>
            <a:r>
              <a:rPr lang="en-AU" dirty="0"/>
              <a:t>We need to establish a persons PAL (Physical Activity Level) , to determine there TEE (</a:t>
            </a:r>
            <a:r>
              <a:rPr lang="en-AU" dirty="0" smtClean="0"/>
              <a:t>Total </a:t>
            </a:r>
            <a:r>
              <a:rPr lang="en-AU" dirty="0"/>
              <a:t>Energy </a:t>
            </a:r>
            <a:r>
              <a:rPr lang="en-AU" dirty="0" smtClean="0"/>
              <a:t>Expenditure) </a:t>
            </a:r>
          </a:p>
          <a:p>
            <a:r>
              <a:rPr lang="en-AU" dirty="0" smtClean="0"/>
              <a:t>PAL is a modifier assigned to the intensity of our actions- sleeping has a modifier of 1, sitting has a modifier of 1.5,  swimming is 2.5 </a:t>
            </a:r>
            <a:r>
              <a:rPr lang="en-AU" dirty="0" err="1" smtClean="0"/>
              <a:t>ect</a:t>
            </a:r>
            <a:r>
              <a:rPr lang="en-AU" dirty="0" smtClean="0"/>
              <a:t>, that we then multiply our BMR by. </a:t>
            </a:r>
          </a:p>
          <a:p>
            <a:r>
              <a:rPr lang="en-AU" dirty="0" smtClean="0"/>
              <a:t>Some examples are listed below:</a:t>
            </a:r>
            <a:endParaRPr lang="en-AU" dirty="0"/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205129"/>
              </p:ext>
            </p:extLst>
          </p:nvPr>
        </p:nvGraphicFramePr>
        <p:xfrm>
          <a:off x="810000" y="3966604"/>
          <a:ext cx="9244880" cy="2560320"/>
        </p:xfrm>
        <a:graphic>
          <a:graphicData uri="http://schemas.openxmlformats.org/drawingml/2006/table">
            <a:tbl>
              <a:tblPr/>
              <a:tblGrid>
                <a:gridCol w="2311220"/>
                <a:gridCol w="4136174"/>
                <a:gridCol w="1119352"/>
                <a:gridCol w="1678134"/>
              </a:tblGrid>
              <a:tr h="23778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Lifestyle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PAL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Calculation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</a:tr>
              <a:tr h="416117">
                <a:tc>
                  <a:txBody>
                    <a:bodyPr/>
                    <a:lstStyle/>
                    <a:p>
                      <a:r>
                        <a:rPr lang="en-US" u="none" dirty="0">
                          <a:solidFill>
                            <a:schemeClr val="bg1"/>
                          </a:solidFill>
                          <a:effectLst/>
                        </a:rPr>
                        <a:t>Sedentary or light activity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bg1"/>
                          </a:solidFill>
                          <a:effectLst/>
                        </a:rPr>
                        <a:t>Office worker getting little or no exercise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u="none" dirty="0">
                          <a:solidFill>
                            <a:schemeClr val="bg1"/>
                          </a:solidFill>
                          <a:effectLst/>
                        </a:rPr>
                        <a:t>1.53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u="none">
                          <a:solidFill>
                            <a:schemeClr val="bg1"/>
                          </a:solidFill>
                          <a:effectLst/>
                        </a:rPr>
                        <a:t>BMR x 1.53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94453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bg1"/>
                          </a:solidFill>
                          <a:effectLst/>
                        </a:rPr>
                        <a:t>Active or moderately active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none" dirty="0">
                          <a:solidFill>
                            <a:schemeClr val="bg1"/>
                          </a:solidFill>
                          <a:effectLst/>
                        </a:rPr>
                        <a:t>Construction worker or person </a:t>
                      </a:r>
                      <a:r>
                        <a:rPr lang="en-US" u="none" strike="noStrike" dirty="0">
                          <a:solidFill>
                            <a:schemeClr val="bg1"/>
                          </a:solidFill>
                          <a:effectLst/>
                        </a:rPr>
                        <a:t>running</a:t>
                      </a:r>
                      <a:r>
                        <a:rPr lang="en-US" u="none" dirty="0">
                          <a:solidFill>
                            <a:schemeClr val="bg1"/>
                          </a:solidFill>
                          <a:effectLst/>
                        </a:rPr>
                        <a:t> one hour daily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u="none" dirty="0">
                          <a:solidFill>
                            <a:schemeClr val="bg1"/>
                          </a:solidFill>
                          <a:effectLst/>
                        </a:rPr>
                        <a:t>1.76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u="none">
                          <a:solidFill>
                            <a:schemeClr val="bg1"/>
                          </a:solidFill>
                          <a:effectLst/>
                        </a:rPr>
                        <a:t>BMR x 1.76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772788">
                <a:tc>
                  <a:txBody>
                    <a:bodyPr/>
                    <a:lstStyle/>
                    <a:p>
                      <a:r>
                        <a:rPr lang="en-US" u="none">
                          <a:solidFill>
                            <a:schemeClr val="bg1"/>
                          </a:solidFill>
                          <a:effectLst/>
                        </a:rPr>
                        <a:t>Vigorously active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none" dirty="0">
                          <a:solidFill>
                            <a:schemeClr val="bg1"/>
                          </a:solidFill>
                          <a:effectLst/>
                        </a:rPr>
                        <a:t>Agricultural worker (non mechanized) or person </a:t>
                      </a:r>
                      <a:r>
                        <a:rPr lang="en-US" u="none" strike="noStrike" dirty="0">
                          <a:solidFill>
                            <a:schemeClr val="bg1"/>
                          </a:solidFill>
                          <a:effectLst/>
                        </a:rPr>
                        <a:t>swimming</a:t>
                      </a:r>
                      <a:r>
                        <a:rPr lang="en-US" u="none" dirty="0">
                          <a:solidFill>
                            <a:schemeClr val="bg1"/>
                          </a:solidFill>
                          <a:effectLst/>
                        </a:rPr>
                        <a:t> two hours daily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u="none">
                          <a:solidFill>
                            <a:schemeClr val="bg1"/>
                          </a:solidFill>
                          <a:effectLst/>
                        </a:rPr>
                        <a:t>2.25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u="none" dirty="0">
                          <a:solidFill>
                            <a:schemeClr val="bg1"/>
                          </a:solidFill>
                          <a:effectLst/>
                        </a:rPr>
                        <a:t>BMR x 2.25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30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Worked Example: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102" y="2127693"/>
            <a:ext cx="11933793" cy="4730307"/>
          </a:xfrm>
        </p:spPr>
        <p:txBody>
          <a:bodyPr>
            <a:normAutofit/>
          </a:bodyPr>
          <a:lstStyle/>
          <a:p>
            <a:r>
              <a:rPr lang="en-AU" sz="2000" dirty="0" smtClean="0"/>
              <a:t>John is 35 years old a fit runner, who runs an hour each day. He is 70kg and 180cm tall. What is his BMR, then his TEE?</a:t>
            </a:r>
          </a:p>
          <a:p>
            <a:r>
              <a:rPr lang="en-US" sz="2000" dirty="0"/>
              <a:t>BMR = (10 × weight in kg) + (6.25 × height in cm) - (5 × age in years) + </a:t>
            </a:r>
            <a:r>
              <a:rPr lang="en-US" sz="2000" dirty="0" smtClean="0"/>
              <a:t>5</a:t>
            </a:r>
          </a:p>
          <a:p>
            <a:r>
              <a:rPr lang="en-US" sz="2000" dirty="0" smtClean="0"/>
              <a:t>BMR= (10 x 75)+(6.25 x 180) – (5 x 35) + 5</a:t>
            </a:r>
          </a:p>
          <a:p>
            <a:r>
              <a:rPr lang="en-US" sz="2000" dirty="0" smtClean="0"/>
              <a:t>BMR = 1700.</a:t>
            </a:r>
          </a:p>
          <a:p>
            <a:r>
              <a:rPr lang="en-US" sz="2000" dirty="0" smtClean="0"/>
              <a:t>BMR as KJ= 1700x4.2 = 7,140kj per day. </a:t>
            </a:r>
          </a:p>
          <a:p>
            <a:r>
              <a:rPr lang="en-US" sz="2000" dirty="0" smtClean="0"/>
              <a:t>7140 BMR / 24 = 297.5 </a:t>
            </a:r>
            <a:r>
              <a:rPr lang="en-US" sz="2000" dirty="0" err="1" smtClean="0"/>
              <a:t>kj</a:t>
            </a:r>
            <a:r>
              <a:rPr lang="en-US" sz="2000" dirty="0" smtClean="0"/>
              <a:t> per hour.</a:t>
            </a:r>
          </a:p>
          <a:p>
            <a:r>
              <a:rPr lang="en-US" sz="2000" dirty="0" smtClean="0"/>
              <a:t>His TEE: one hour BMR(</a:t>
            </a:r>
            <a:r>
              <a:rPr lang="en-US" sz="2000" dirty="0" err="1" smtClean="0"/>
              <a:t>Kj</a:t>
            </a:r>
            <a:r>
              <a:rPr lang="en-US" sz="2000" dirty="0" smtClean="0"/>
              <a:t>) x 1.76 = 523.6kj for his one hour of running</a:t>
            </a:r>
          </a:p>
          <a:p>
            <a:r>
              <a:rPr lang="en-US" sz="2000" dirty="0" smtClean="0"/>
              <a:t>Total </a:t>
            </a:r>
            <a:r>
              <a:rPr lang="en-US" sz="2000" dirty="0" err="1" smtClean="0"/>
              <a:t>Kj</a:t>
            </a:r>
            <a:r>
              <a:rPr lang="en-US" sz="2000" dirty="0" smtClean="0"/>
              <a:t> = 297.5 x 23 hours of </a:t>
            </a:r>
            <a:r>
              <a:rPr lang="en-US" sz="2000" dirty="0" err="1" smtClean="0"/>
              <a:t>sedidentary</a:t>
            </a:r>
            <a:r>
              <a:rPr lang="en-US" sz="2000" dirty="0" smtClean="0"/>
              <a:t> work + 523.6 for the hour of running = 7366.1Kj per day.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44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We do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1" y="2222287"/>
            <a:ext cx="11100019" cy="3636511"/>
          </a:xfrm>
        </p:spPr>
        <p:txBody>
          <a:bodyPr/>
          <a:lstStyle/>
          <a:p>
            <a:r>
              <a:rPr lang="en-AU" dirty="0" smtClean="0"/>
              <a:t>Nina is a 19 year old karate master, who does 3 hours of intense training daily. She is 65kg and 170cm tall. </a:t>
            </a:r>
          </a:p>
          <a:p>
            <a:r>
              <a:rPr lang="en-AU" dirty="0" smtClean="0"/>
              <a:t>Calculate her BMR: </a:t>
            </a:r>
            <a:r>
              <a:rPr lang="en-US" dirty="0"/>
              <a:t>BMR = (10 × weight in kg) + (6.25 × height in cm) - (5 × age in years) </a:t>
            </a:r>
            <a:r>
              <a:rPr lang="en-US" dirty="0" smtClean="0"/>
              <a:t>– 161</a:t>
            </a:r>
          </a:p>
          <a:p>
            <a:endParaRPr lang="en-US" dirty="0"/>
          </a:p>
          <a:p>
            <a:r>
              <a:rPr lang="en-US" dirty="0" smtClean="0"/>
              <a:t>Karate has a PAL modifier of 4.5.</a:t>
            </a:r>
          </a:p>
          <a:p>
            <a:endParaRPr lang="en-US" dirty="0"/>
          </a:p>
          <a:p>
            <a:r>
              <a:rPr lang="en-US" dirty="0" smtClean="0"/>
              <a:t>What is Nina’s TEE:</a:t>
            </a:r>
            <a:endParaRPr lang="en-US" dirty="0"/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9553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2584894"/>
            <a:ext cx="10554574" cy="3636511"/>
          </a:xfrm>
        </p:spPr>
        <p:txBody>
          <a:bodyPr/>
          <a:lstStyle/>
          <a:p>
            <a:r>
              <a:rPr lang="en-AU" dirty="0"/>
              <a:t>Nina is a 19 year old karate master, who does 3 hours of intense training daily. She is 65kg and 170cm tall</a:t>
            </a:r>
            <a:r>
              <a:rPr lang="en-AU" dirty="0" smtClean="0"/>
              <a:t>.</a:t>
            </a:r>
          </a:p>
          <a:p>
            <a:r>
              <a:rPr lang="en-AU" dirty="0" smtClean="0"/>
              <a:t>BMR </a:t>
            </a:r>
            <a:r>
              <a:rPr lang="en-US" dirty="0"/>
              <a:t>= (10 </a:t>
            </a:r>
            <a:r>
              <a:rPr lang="en-US" dirty="0" smtClean="0"/>
              <a:t>×65) </a:t>
            </a:r>
            <a:r>
              <a:rPr lang="en-US" dirty="0"/>
              <a:t>+ (6.25 × </a:t>
            </a:r>
            <a:r>
              <a:rPr lang="en-US" dirty="0" smtClean="0"/>
              <a:t>170) </a:t>
            </a:r>
            <a:r>
              <a:rPr lang="en-US" dirty="0"/>
              <a:t>- (5 × </a:t>
            </a:r>
            <a:r>
              <a:rPr lang="en-US" dirty="0" smtClean="0"/>
              <a:t>19) </a:t>
            </a:r>
            <a:r>
              <a:rPr lang="en-US" dirty="0"/>
              <a:t>– </a:t>
            </a:r>
            <a:r>
              <a:rPr lang="en-US" dirty="0" smtClean="0"/>
              <a:t>161</a:t>
            </a:r>
          </a:p>
          <a:p>
            <a:r>
              <a:rPr lang="en-US" dirty="0" smtClean="0"/>
              <a:t>=1646.5cal x 4.2 </a:t>
            </a:r>
          </a:p>
          <a:p>
            <a:r>
              <a:rPr lang="en-US" u="sng" dirty="0" smtClean="0"/>
              <a:t>= </a:t>
            </a:r>
            <a:r>
              <a:rPr lang="en-US" b="1" u="sng" dirty="0" smtClean="0"/>
              <a:t>6915.3Kj </a:t>
            </a:r>
            <a:r>
              <a:rPr lang="en-US" u="sng" dirty="0" smtClean="0"/>
              <a:t>per day. </a:t>
            </a:r>
          </a:p>
          <a:p>
            <a:r>
              <a:rPr lang="en-US" dirty="0" smtClean="0"/>
              <a:t>6915.3/24 = </a:t>
            </a:r>
            <a:r>
              <a:rPr lang="en-US" b="1" dirty="0" smtClean="0"/>
              <a:t>288.1375</a:t>
            </a:r>
            <a:r>
              <a:rPr lang="en-US" dirty="0" smtClean="0"/>
              <a:t> </a:t>
            </a:r>
            <a:r>
              <a:rPr lang="en-US" dirty="0" err="1" smtClean="0"/>
              <a:t>Kj</a:t>
            </a:r>
            <a:r>
              <a:rPr lang="en-US" dirty="0" smtClean="0"/>
              <a:t> per hour. </a:t>
            </a:r>
          </a:p>
          <a:p>
            <a:r>
              <a:rPr lang="en-US" dirty="0" smtClean="0"/>
              <a:t>Total karate hours = 3 x 288.1375 = </a:t>
            </a:r>
            <a:r>
              <a:rPr lang="en-US" b="1" dirty="0" smtClean="0"/>
              <a:t>864.4125 </a:t>
            </a:r>
            <a:r>
              <a:rPr lang="en-US" b="1" dirty="0" err="1" smtClean="0"/>
              <a:t>Kj</a:t>
            </a:r>
            <a:r>
              <a:rPr lang="en-US" b="1" dirty="0" smtClean="0"/>
              <a:t> for three hours</a:t>
            </a:r>
          </a:p>
          <a:p>
            <a:r>
              <a:rPr lang="en-US" dirty="0" smtClean="0"/>
              <a:t>PAL = 4.5 x 864.4125 =  ~</a:t>
            </a:r>
            <a:r>
              <a:rPr lang="en-US" b="1" dirty="0" smtClean="0"/>
              <a:t>3889.86 </a:t>
            </a:r>
            <a:r>
              <a:rPr lang="en-US" b="1" dirty="0" err="1" smtClean="0"/>
              <a:t>Kj</a:t>
            </a:r>
            <a:r>
              <a:rPr lang="en-US" b="1" dirty="0" smtClean="0"/>
              <a:t> for Karate</a:t>
            </a:r>
          </a:p>
          <a:p>
            <a:r>
              <a:rPr lang="en-US" dirty="0" smtClean="0"/>
              <a:t>21 x 288.1375 = 6050.89Kj + 3889.86 </a:t>
            </a:r>
            <a:r>
              <a:rPr lang="en-US" dirty="0" err="1" smtClean="0"/>
              <a:t>kj</a:t>
            </a:r>
            <a:r>
              <a:rPr lang="en-US" dirty="0" smtClean="0"/>
              <a:t> = </a:t>
            </a:r>
            <a:r>
              <a:rPr lang="en-US" b="1" dirty="0" smtClean="0"/>
              <a:t>9940.75 </a:t>
            </a:r>
            <a:r>
              <a:rPr lang="en-US" b="1" dirty="0" err="1" smtClean="0"/>
              <a:t>Kj</a:t>
            </a:r>
            <a:r>
              <a:rPr lang="en-US" b="1" dirty="0" smtClean="0"/>
              <a:t> for TEE. </a:t>
            </a:r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05700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0"/>
            <a:ext cx="10571998" cy="970450"/>
          </a:xfrm>
        </p:spPr>
        <p:txBody>
          <a:bodyPr/>
          <a:lstStyle/>
          <a:p>
            <a:r>
              <a:rPr lang="en-AU" dirty="0" smtClean="0"/>
              <a:t>You do: BMR x TEE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48" y="1824788"/>
            <a:ext cx="7471437" cy="49070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216891"/>
            <a:ext cx="4811591" cy="45149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2248" y="970450"/>
            <a:ext cx="1182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find total daily expenditure using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28344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3311</TotalTime>
  <Words>739</Words>
  <Application>Microsoft Macintosh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2</vt:lpstr>
      <vt:lpstr>Quotable</vt:lpstr>
      <vt:lpstr>Rates</vt:lpstr>
      <vt:lpstr>Recap</vt:lpstr>
      <vt:lpstr>Topic: Base Metabolic Rate (BMR)</vt:lpstr>
      <vt:lpstr>How to find your BMR</vt:lpstr>
      <vt:lpstr>BMR and PAL</vt:lpstr>
      <vt:lpstr>Worked Example:</vt:lpstr>
      <vt:lpstr>We do</vt:lpstr>
      <vt:lpstr>Answers</vt:lpstr>
      <vt:lpstr>You do: BMR x TEE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</dc:title>
  <dc:creator>POWER Travis [Baldivis Secondary College]</dc:creator>
  <cp:lastModifiedBy>POWER Travis [Baldivis Secondary College]</cp:lastModifiedBy>
  <cp:revision>11</cp:revision>
  <dcterms:created xsi:type="dcterms:W3CDTF">2018-02-23T06:32:55Z</dcterms:created>
  <dcterms:modified xsi:type="dcterms:W3CDTF">2018-02-25T13:44:05Z</dcterms:modified>
</cp:coreProperties>
</file>
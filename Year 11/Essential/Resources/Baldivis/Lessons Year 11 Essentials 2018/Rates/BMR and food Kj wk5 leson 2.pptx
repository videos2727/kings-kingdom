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8"/>
    <p:restoredTop sz="94664"/>
  </p:normalViewPr>
  <p:slideViewPr>
    <p:cSldViewPr snapToGrid="0" snapToObjects="1">
      <p:cViewPr varScale="1">
        <p:scale>
          <a:sx n="74" d="100"/>
          <a:sy n="74" d="100"/>
        </p:scale>
        <p:origin x="208"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2/27/18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2/27/18</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8700.com.au/kj-explained/your-ideal-figur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Title: Food and Energy</a:t>
            </a:r>
            <a:endParaRPr lang="en-AU" dirty="0"/>
          </a:p>
        </p:txBody>
      </p:sp>
      <p:sp>
        <p:nvSpPr>
          <p:cNvPr id="3" name="Subtitle 2"/>
          <p:cNvSpPr>
            <a:spLocks noGrp="1"/>
          </p:cNvSpPr>
          <p:nvPr>
            <p:ph type="subTitle" idx="1"/>
          </p:nvPr>
        </p:nvSpPr>
        <p:spPr/>
        <p:txBody>
          <a:bodyPr/>
          <a:lstStyle/>
          <a:p>
            <a:r>
              <a:rPr lang="en-AU" dirty="0" smtClean="0"/>
              <a:t>EQ: Where do the energy numbers come from? </a:t>
            </a:r>
            <a:endParaRPr lang="en-AU" dirty="0"/>
          </a:p>
        </p:txBody>
      </p:sp>
    </p:spTree>
    <p:extLst>
      <p:ext uri="{BB962C8B-B14F-4D97-AF65-F5344CB8AC3E}">
        <p14:creationId xmlns:p14="http://schemas.microsoft.com/office/powerpoint/2010/main" val="12316720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is energy?</a:t>
            </a:r>
            <a:endParaRPr lang="en-AU" dirty="0"/>
          </a:p>
        </p:txBody>
      </p:sp>
      <p:sp>
        <p:nvSpPr>
          <p:cNvPr id="3" name="Content Placeholder 2"/>
          <p:cNvSpPr>
            <a:spLocks noGrp="1"/>
          </p:cNvSpPr>
          <p:nvPr>
            <p:ph idx="1"/>
          </p:nvPr>
        </p:nvSpPr>
        <p:spPr>
          <a:xfrm>
            <a:off x="461515" y="1583910"/>
            <a:ext cx="6414245" cy="3649133"/>
          </a:xfrm>
        </p:spPr>
        <p:txBody>
          <a:bodyPr/>
          <a:lstStyle/>
          <a:p>
            <a:r>
              <a:rPr lang="en-AU" dirty="0" smtClean="0"/>
              <a:t>We previously explored the total amount of Kilojoules (</a:t>
            </a:r>
            <a:r>
              <a:rPr lang="en-AU" dirty="0" err="1" smtClean="0"/>
              <a:t>Kj</a:t>
            </a:r>
            <a:r>
              <a:rPr lang="en-AU" dirty="0" smtClean="0"/>
              <a:t>) that our bodies need to satisfy our energy requirements. </a:t>
            </a:r>
          </a:p>
          <a:p>
            <a:r>
              <a:rPr lang="en-AU" dirty="0" smtClean="0"/>
              <a:t>Kilojoules are an a energy derived from food sources. </a:t>
            </a:r>
          </a:p>
          <a:p>
            <a:r>
              <a:rPr lang="en-AU" dirty="0"/>
              <a:t>Our bodies need many of the kJ we consume for healthy functioning. If we consume more kJ than our bodies use to keep going and for physical activity, the spare energy is stored as fat and we will put on weight. 1 kg of fat = </a:t>
            </a:r>
            <a:r>
              <a:rPr lang="en-AU" b="1" dirty="0"/>
              <a:t>37,000 kJ</a:t>
            </a:r>
            <a:r>
              <a:rPr lang="en-AU" dirty="0"/>
              <a:t> stored</a:t>
            </a:r>
            <a:r>
              <a:rPr lang="en-AU" dirty="0" smtClean="0"/>
              <a:t>.</a:t>
            </a:r>
          </a:p>
          <a:p>
            <a:endParaRPr lang="en-AU"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5109" y="609600"/>
            <a:ext cx="4334868" cy="4731433"/>
          </a:xfrm>
          <a:prstGeom prst="rect">
            <a:avLst/>
          </a:prstGeom>
        </p:spPr>
      </p:pic>
      <p:sp>
        <p:nvSpPr>
          <p:cNvPr id="5" name="TextBox 4"/>
          <p:cNvSpPr txBox="1"/>
          <p:nvPr/>
        </p:nvSpPr>
        <p:spPr>
          <a:xfrm>
            <a:off x="6875760" y="5392012"/>
            <a:ext cx="5045946" cy="1569660"/>
          </a:xfrm>
          <a:prstGeom prst="rect">
            <a:avLst/>
          </a:prstGeom>
          <a:noFill/>
        </p:spPr>
        <p:txBody>
          <a:bodyPr wrap="square" rtlCol="0">
            <a:spAutoFit/>
          </a:bodyPr>
          <a:lstStyle/>
          <a:p>
            <a:r>
              <a:rPr lang="en-AU" sz="2400" dirty="0" smtClean="0"/>
              <a:t>Fast food restaurants include </a:t>
            </a:r>
            <a:r>
              <a:rPr lang="en-AU" sz="2400" dirty="0" err="1" smtClean="0"/>
              <a:t>Kj</a:t>
            </a:r>
            <a:r>
              <a:rPr lang="en-AU" sz="2400" dirty="0" smtClean="0"/>
              <a:t> amounts in their menus to advise customers of how much energy is in their food. </a:t>
            </a:r>
            <a:endParaRPr lang="en-AU" sz="2400" dirty="0"/>
          </a:p>
        </p:txBody>
      </p:sp>
    </p:spTree>
    <p:extLst>
      <p:ext uri="{BB962C8B-B14F-4D97-AF65-F5344CB8AC3E}">
        <p14:creationId xmlns:p14="http://schemas.microsoft.com/office/powerpoint/2010/main" val="16941113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How do we find the kilojoules?</a:t>
            </a:r>
            <a:endParaRPr lang="en-AU" dirty="0"/>
          </a:p>
        </p:txBody>
      </p:sp>
      <p:sp>
        <p:nvSpPr>
          <p:cNvPr id="3" name="Content Placeholder 2"/>
          <p:cNvSpPr>
            <a:spLocks noGrp="1"/>
          </p:cNvSpPr>
          <p:nvPr>
            <p:ph idx="1"/>
          </p:nvPr>
        </p:nvSpPr>
        <p:spPr>
          <a:xfrm>
            <a:off x="685801" y="2142067"/>
            <a:ext cx="7726081" cy="4151157"/>
          </a:xfrm>
        </p:spPr>
        <p:txBody>
          <a:bodyPr>
            <a:normAutofit/>
          </a:bodyPr>
          <a:lstStyle/>
          <a:p>
            <a:r>
              <a:rPr lang="en-AU" dirty="0" smtClean="0"/>
              <a:t>There is a formula for finding the amount of kilojoules that a food source will give you. </a:t>
            </a:r>
          </a:p>
          <a:p>
            <a:r>
              <a:rPr lang="en-AU" dirty="0" smtClean="0"/>
              <a:t>The amount of Kilojoules is equal to (17 x Protein content) + (37 x fat content(grams)) + (17 x Carbohydrates)</a:t>
            </a:r>
          </a:p>
          <a:p>
            <a:r>
              <a:rPr lang="en-AU" dirty="0" smtClean="0"/>
              <a:t>A Dare iced coffee has 17 grams of protein, 50.5 grams of carbohydrates and 31g of fats. </a:t>
            </a:r>
          </a:p>
          <a:p>
            <a:r>
              <a:rPr lang="en-AU" dirty="0" smtClean="0"/>
              <a:t>The total Kilojoules would be 17x17 + 50.5x17 + 31 x17 = 289 + 858.5 + 527= ~1675Kj Per serve. </a:t>
            </a:r>
          </a:p>
          <a:p>
            <a:r>
              <a:rPr lang="en-AU" dirty="0" smtClean="0"/>
              <a:t>The value on the right is most likely an over estimation of the energy amount.</a:t>
            </a:r>
          </a:p>
          <a:p>
            <a:r>
              <a:rPr lang="en-AU" dirty="0" smtClean="0"/>
              <a:t>The serving size is important her, as these numbers are from a 750ml Dare, and have 1.5 servings in the bottle, so the total energy from the bottle is actually 2512.5Kj. </a:t>
            </a:r>
          </a:p>
          <a:p>
            <a:endParaRPr lang="en-AU" dirty="0" smtClean="0"/>
          </a:p>
          <a:p>
            <a:endParaRPr lang="en-AU"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1882" y="1492126"/>
            <a:ext cx="3547035" cy="3529300"/>
          </a:xfrm>
          <a:prstGeom prst="rect">
            <a:avLst/>
          </a:prstGeom>
        </p:spPr>
      </p:pic>
    </p:spTree>
    <p:extLst>
      <p:ext uri="{BB962C8B-B14F-4D97-AF65-F5344CB8AC3E}">
        <p14:creationId xmlns:p14="http://schemas.microsoft.com/office/powerpoint/2010/main" val="19015211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How many should you be having? </a:t>
            </a:r>
            <a:endParaRPr lang="en-AU" dirty="0"/>
          </a:p>
        </p:txBody>
      </p:sp>
      <p:sp>
        <p:nvSpPr>
          <p:cNvPr id="3" name="Content Placeholder 2"/>
          <p:cNvSpPr>
            <a:spLocks noGrp="1"/>
          </p:cNvSpPr>
          <p:nvPr>
            <p:ph idx="1"/>
          </p:nvPr>
        </p:nvSpPr>
        <p:spPr>
          <a:xfrm>
            <a:off x="685801" y="1658988"/>
            <a:ext cx="10131425" cy="3649133"/>
          </a:xfrm>
        </p:spPr>
        <p:txBody>
          <a:bodyPr>
            <a:normAutofit/>
          </a:bodyPr>
          <a:lstStyle/>
          <a:p>
            <a:r>
              <a:rPr lang="en-AU" sz="2400" dirty="0" smtClean="0"/>
              <a:t>Using BMR calculations we have found the total amount of energy our bodies need during different stages of exercise.  </a:t>
            </a:r>
          </a:p>
          <a:p>
            <a:r>
              <a:rPr lang="en-AU" sz="2400" dirty="0" smtClean="0"/>
              <a:t>There are also online calculators that take into account your height, weight and age to determine the amount of </a:t>
            </a:r>
            <a:r>
              <a:rPr lang="en-AU" sz="2400" dirty="0" err="1" smtClean="0"/>
              <a:t>Kj’s</a:t>
            </a:r>
            <a:r>
              <a:rPr lang="en-AU" sz="2400" dirty="0" smtClean="0"/>
              <a:t> you need for your lifestyle, </a:t>
            </a:r>
            <a:r>
              <a:rPr lang="en-AU" sz="2400" dirty="0"/>
              <a:t>such as this one: </a:t>
            </a:r>
            <a:r>
              <a:rPr lang="en-AU" sz="2400" dirty="0">
                <a:hlinkClick r:id="rId2"/>
              </a:rPr>
              <a:t>http://www.8700.com.au/kj-explained/your-ideal-figure</a:t>
            </a:r>
            <a:r>
              <a:rPr lang="en-AU" sz="2400" dirty="0" smtClean="0">
                <a:hlinkClick r:id="rId2"/>
              </a:rPr>
              <a:t>/</a:t>
            </a:r>
            <a:r>
              <a:rPr lang="en-AU" sz="2400" dirty="0" smtClean="0"/>
              <a:t> </a:t>
            </a:r>
          </a:p>
          <a:p>
            <a:r>
              <a:rPr lang="en-AU" sz="2400" dirty="0" smtClean="0"/>
              <a:t>Either is a good guide for your total energy consumptions daily. </a:t>
            </a:r>
            <a:endParaRPr lang="en-AU" sz="2400" dirty="0"/>
          </a:p>
        </p:txBody>
      </p:sp>
    </p:spTree>
    <p:extLst>
      <p:ext uri="{BB962C8B-B14F-4D97-AF65-F5344CB8AC3E}">
        <p14:creationId xmlns:p14="http://schemas.microsoft.com/office/powerpoint/2010/main" val="19897971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0"/>
            <a:ext cx="10131425" cy="1456267"/>
          </a:xfrm>
        </p:spPr>
        <p:txBody>
          <a:bodyPr/>
          <a:lstStyle/>
          <a:p>
            <a:r>
              <a:rPr lang="en-AU" dirty="0" smtClean="0"/>
              <a:t>Guided practise:</a:t>
            </a:r>
            <a:endParaRPr lang="en-AU" dirty="0"/>
          </a:p>
        </p:txBody>
      </p:sp>
      <p:sp>
        <p:nvSpPr>
          <p:cNvPr id="3" name="Content Placeholder 2"/>
          <p:cNvSpPr>
            <a:spLocks noGrp="1"/>
          </p:cNvSpPr>
          <p:nvPr>
            <p:ph idx="1"/>
          </p:nvPr>
        </p:nvSpPr>
        <p:spPr>
          <a:xfrm>
            <a:off x="685800" y="1003380"/>
            <a:ext cx="11506199" cy="5984016"/>
          </a:xfrm>
        </p:spPr>
        <p:txBody>
          <a:bodyPr>
            <a:normAutofit/>
          </a:bodyPr>
          <a:lstStyle/>
          <a:p>
            <a:r>
              <a:rPr lang="en-AU" sz="2400" dirty="0" smtClean="0"/>
              <a:t>A Big mac has 20g </a:t>
            </a:r>
            <a:r>
              <a:rPr lang="en-AU" sz="2400" dirty="0"/>
              <a:t>of carbohydrates, 29 grams of fat and 25 grams of protein</a:t>
            </a:r>
            <a:r>
              <a:rPr lang="en-AU" sz="2400" dirty="0" smtClean="0"/>
              <a:t>. What is the </a:t>
            </a:r>
            <a:r>
              <a:rPr lang="en-AU" sz="2400" dirty="0" err="1" smtClean="0"/>
              <a:t>Kj</a:t>
            </a:r>
            <a:r>
              <a:rPr lang="en-AU" sz="2400" dirty="0" smtClean="0"/>
              <a:t> of energy that this would give you? </a:t>
            </a:r>
          </a:p>
          <a:p>
            <a:r>
              <a:rPr lang="en-AU" sz="2400" dirty="0" smtClean="0"/>
              <a:t>Step 1: substitute the carbohydrates, proteins and fat into the formula. </a:t>
            </a:r>
          </a:p>
          <a:p>
            <a:pPr marL="342900" indent="-342900">
              <a:buFont typeface="+mj-lt"/>
              <a:buAutoNum type="arabicPeriod"/>
            </a:pPr>
            <a:r>
              <a:rPr lang="en-AU" sz="2400" dirty="0"/>
              <a:t>(17 </a:t>
            </a:r>
            <a:r>
              <a:rPr lang="en-AU" sz="2400" dirty="0" smtClean="0"/>
              <a:t>x25) </a:t>
            </a:r>
            <a:r>
              <a:rPr lang="en-AU" sz="2400" dirty="0"/>
              <a:t>+ (37 </a:t>
            </a:r>
            <a:r>
              <a:rPr lang="en-AU" sz="2400" dirty="0" smtClean="0"/>
              <a:t>x29) </a:t>
            </a:r>
            <a:r>
              <a:rPr lang="en-AU" sz="2400" dirty="0"/>
              <a:t>+ (17 x </a:t>
            </a:r>
            <a:r>
              <a:rPr lang="en-AU" sz="2400" dirty="0" smtClean="0"/>
              <a:t>20)</a:t>
            </a:r>
          </a:p>
          <a:p>
            <a:r>
              <a:rPr lang="en-AU" sz="2400" dirty="0" smtClean="0"/>
              <a:t>Add the answers together to find the total </a:t>
            </a:r>
            <a:r>
              <a:rPr lang="en-AU" sz="2400" dirty="0" err="1" smtClean="0"/>
              <a:t>Kj</a:t>
            </a:r>
            <a:r>
              <a:rPr lang="en-AU" sz="2400" dirty="0" smtClean="0"/>
              <a:t> amount. </a:t>
            </a:r>
          </a:p>
          <a:p>
            <a:pPr marL="342900" indent="-342900">
              <a:buFont typeface="+mj-lt"/>
              <a:buAutoNum type="arabicPeriod" startAt="2"/>
            </a:pPr>
            <a:r>
              <a:rPr lang="en-AU" sz="2400" dirty="0" smtClean="0"/>
              <a:t>425+ 1073+340</a:t>
            </a:r>
          </a:p>
          <a:p>
            <a:pPr marL="342900" indent="-342900">
              <a:buFont typeface="+mj-lt"/>
              <a:buAutoNum type="arabicPeriod" startAt="2"/>
            </a:pPr>
            <a:r>
              <a:rPr lang="en-AU" sz="2400" dirty="0" smtClean="0"/>
              <a:t> = 1838Kj</a:t>
            </a:r>
          </a:p>
          <a:p>
            <a:pPr marL="0" indent="0">
              <a:buNone/>
            </a:pPr>
            <a:r>
              <a:rPr lang="en-AU" sz="2400" u="sng" dirty="0" smtClean="0"/>
              <a:t>Find the Kilojoule value of a Whopper if it has 30g of protein, 26g of fat and 27g of Carbohydrates.</a:t>
            </a:r>
          </a:p>
          <a:p>
            <a:pPr marL="0" indent="0">
              <a:buNone/>
            </a:pPr>
            <a:r>
              <a:rPr lang="en-AU" sz="2400" i="1" dirty="0"/>
              <a:t>Remember : 17 x Protein content) + (37 x fat content(grams)) + (17 x Carbohydrates)</a:t>
            </a:r>
          </a:p>
          <a:p>
            <a:pPr marL="0" indent="0">
              <a:buNone/>
            </a:pPr>
            <a:endParaRPr lang="en-AU" dirty="0"/>
          </a:p>
          <a:p>
            <a:pPr marL="342900" indent="-342900">
              <a:buFont typeface="+mj-lt"/>
              <a:buAutoNum type="arabicPeriod" startAt="2"/>
            </a:pPr>
            <a:endParaRPr lang="en-AU" dirty="0" smtClean="0"/>
          </a:p>
          <a:p>
            <a:endParaRPr lang="en-AU" dirty="0"/>
          </a:p>
        </p:txBody>
      </p:sp>
    </p:spTree>
    <p:extLst>
      <p:ext uri="{BB962C8B-B14F-4D97-AF65-F5344CB8AC3E}">
        <p14:creationId xmlns:p14="http://schemas.microsoft.com/office/powerpoint/2010/main" val="402916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548" y="162746"/>
            <a:ext cx="10131425" cy="1456267"/>
          </a:xfrm>
        </p:spPr>
        <p:txBody>
          <a:bodyPr/>
          <a:lstStyle/>
          <a:p>
            <a:r>
              <a:rPr lang="en-AU" dirty="0" smtClean="0"/>
              <a:t>Dietary Intake</a:t>
            </a:r>
            <a:endParaRPr lang="en-AU" dirty="0"/>
          </a:p>
        </p:txBody>
      </p:sp>
      <p:sp>
        <p:nvSpPr>
          <p:cNvPr id="3" name="Content Placeholder 2"/>
          <p:cNvSpPr>
            <a:spLocks noGrp="1"/>
          </p:cNvSpPr>
          <p:nvPr>
            <p:ph idx="1"/>
          </p:nvPr>
        </p:nvSpPr>
        <p:spPr>
          <a:xfrm>
            <a:off x="513273" y="890879"/>
            <a:ext cx="11506199" cy="4517525"/>
          </a:xfrm>
        </p:spPr>
        <p:txBody>
          <a:bodyPr>
            <a:normAutofit/>
          </a:bodyPr>
          <a:lstStyle/>
          <a:p>
            <a:r>
              <a:rPr lang="en-AU" sz="2400" dirty="0" smtClean="0"/>
              <a:t>They estimate that the average adult requires 8700Kj of energy per day. </a:t>
            </a:r>
          </a:p>
          <a:p>
            <a:r>
              <a:rPr lang="en-AU" sz="2400" dirty="0" smtClean="0"/>
              <a:t>If a Big mac is 1838Kj, how much of our dietary intake per day would a Big mac be? </a:t>
            </a:r>
          </a:p>
          <a:p>
            <a:r>
              <a:rPr lang="en-AU" sz="2400" dirty="0" smtClean="0"/>
              <a:t>We can find it out by dividing the amount of </a:t>
            </a:r>
            <a:r>
              <a:rPr lang="en-AU" sz="2400" dirty="0" err="1" smtClean="0"/>
              <a:t>Kj’s</a:t>
            </a:r>
            <a:r>
              <a:rPr lang="en-AU" sz="2400" dirty="0" smtClean="0"/>
              <a:t> in the food by the 8700kj amount. </a:t>
            </a:r>
          </a:p>
          <a:p>
            <a:pPr lvl="1"/>
            <a:r>
              <a:rPr lang="en-AU" sz="2000" dirty="0" smtClean="0"/>
              <a:t>(1838Kj / 8700Kj) x 100. </a:t>
            </a:r>
          </a:p>
          <a:p>
            <a:pPr lvl="1"/>
            <a:r>
              <a:rPr lang="en-AU" sz="2000" dirty="0" smtClean="0"/>
              <a:t>21.13% of the total daily intake in one burger. </a:t>
            </a:r>
          </a:p>
          <a:p>
            <a:r>
              <a:rPr lang="en-AU" sz="2400" dirty="0" smtClean="0"/>
              <a:t>If the average Dominoes pizza is around 5500kj, how much of an average adults daily </a:t>
            </a:r>
            <a:r>
              <a:rPr lang="en-AU" sz="2400" dirty="0" err="1" smtClean="0"/>
              <a:t>Kj’s</a:t>
            </a:r>
            <a:r>
              <a:rPr lang="en-AU" sz="2400" dirty="0" smtClean="0"/>
              <a:t> would one pizza be?</a:t>
            </a:r>
          </a:p>
          <a:p>
            <a:endParaRPr lang="en-AU" dirty="0" smtClean="0"/>
          </a:p>
          <a:p>
            <a:endParaRPr lang="en-AU"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604" y="4410558"/>
            <a:ext cx="10390516" cy="2240894"/>
          </a:xfrm>
          <a:prstGeom prst="rect">
            <a:avLst/>
          </a:prstGeom>
        </p:spPr>
      </p:pic>
    </p:spTree>
    <p:extLst>
      <p:ext uri="{BB962C8B-B14F-4D97-AF65-F5344CB8AC3E}">
        <p14:creationId xmlns:p14="http://schemas.microsoft.com/office/powerpoint/2010/main" val="82612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4030"/>
            <a:ext cx="10131425" cy="1456267"/>
          </a:xfrm>
        </p:spPr>
        <p:txBody>
          <a:bodyPr/>
          <a:lstStyle/>
          <a:p>
            <a:r>
              <a:rPr lang="en-AU" dirty="0" smtClean="0"/>
              <a:t>Exercise: Nelson Essentials</a:t>
            </a:r>
            <a:endParaRPr lang="en-AU"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4644" y="891988"/>
            <a:ext cx="7437356" cy="5800912"/>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150" y="3034068"/>
            <a:ext cx="7153836" cy="3658832"/>
          </a:xfrm>
          <a:prstGeom prst="rect">
            <a:avLst/>
          </a:prstGeom>
        </p:spPr>
      </p:pic>
      <p:sp>
        <p:nvSpPr>
          <p:cNvPr id="6" name="TextBox 5"/>
          <p:cNvSpPr txBox="1"/>
          <p:nvPr/>
        </p:nvSpPr>
        <p:spPr>
          <a:xfrm>
            <a:off x="465826" y="1272237"/>
            <a:ext cx="2484408" cy="646331"/>
          </a:xfrm>
          <a:prstGeom prst="rect">
            <a:avLst/>
          </a:prstGeom>
          <a:noFill/>
        </p:spPr>
        <p:txBody>
          <a:bodyPr wrap="square" rtlCol="0">
            <a:spAutoFit/>
          </a:bodyPr>
          <a:lstStyle/>
          <a:p>
            <a:r>
              <a:rPr lang="en-AU" dirty="0" smtClean="0"/>
              <a:t>Use the table below </a:t>
            </a:r>
            <a:r>
              <a:rPr lang="en-AU" smtClean="0"/>
              <a:t>to answer the questions</a:t>
            </a:r>
            <a:endParaRPr lang="en-AU"/>
          </a:p>
        </p:txBody>
      </p:sp>
    </p:spTree>
    <p:extLst>
      <p:ext uri="{BB962C8B-B14F-4D97-AF65-F5344CB8AC3E}">
        <p14:creationId xmlns:p14="http://schemas.microsoft.com/office/powerpoint/2010/main" val="17915769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10131425" cy="1456267"/>
          </a:xfrm>
        </p:spPr>
        <p:txBody>
          <a:bodyPr/>
          <a:lstStyle/>
          <a:p>
            <a:r>
              <a:rPr lang="en-AU" dirty="0" smtClean="0"/>
              <a:t>Exercise: MAWA Book 1 and 2 - </a:t>
            </a:r>
            <a:r>
              <a:rPr lang="en-AU" dirty="0" err="1" smtClean="0"/>
              <a:t>p</a:t>
            </a:r>
            <a:r>
              <a:rPr lang="en-AU" cap="none" dirty="0" err="1" smtClean="0"/>
              <a:t>g</a:t>
            </a:r>
            <a:r>
              <a:rPr lang="en-AU" cap="none" dirty="0" smtClean="0"/>
              <a:t> </a:t>
            </a:r>
            <a:r>
              <a:rPr lang="en-AU" dirty="0" smtClean="0"/>
              <a:t>40</a:t>
            </a:r>
            <a:endParaRPr lang="en-AU"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581" y="1456267"/>
            <a:ext cx="7177681" cy="5268110"/>
          </a:xfrm>
          <a:prstGeom prst="rect">
            <a:avLst/>
          </a:prstGeom>
        </p:spPr>
      </p:pic>
      <p:sp>
        <p:nvSpPr>
          <p:cNvPr id="5" name="Rectangle 4"/>
          <p:cNvSpPr/>
          <p:nvPr/>
        </p:nvSpPr>
        <p:spPr>
          <a:xfrm>
            <a:off x="8243043" y="1456267"/>
            <a:ext cx="3651849" cy="923330"/>
          </a:xfrm>
          <a:prstGeom prst="rect">
            <a:avLst/>
          </a:prstGeom>
        </p:spPr>
        <p:txBody>
          <a:bodyPr wrap="square">
            <a:spAutoFit/>
          </a:bodyPr>
          <a:lstStyle/>
          <a:p>
            <a:r>
              <a:rPr lang="en-AU" i="1" dirty="0"/>
              <a:t>Remember : 17 x Protein content) + (37 x fat content(grams)) + (17 x Carbohydrates)</a:t>
            </a:r>
            <a:endParaRPr lang="en-AU" i="1" dirty="0"/>
          </a:p>
        </p:txBody>
      </p:sp>
    </p:spTree>
    <p:extLst>
      <p:ext uri="{BB962C8B-B14F-4D97-AF65-F5344CB8AC3E}">
        <p14:creationId xmlns:p14="http://schemas.microsoft.com/office/powerpoint/2010/main" val="34200721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409</TotalTime>
  <Words>602</Words>
  <Application>Microsoft Macintosh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Calibri</vt:lpstr>
      <vt:lpstr>Calibri Light</vt:lpstr>
      <vt:lpstr>Arial</vt:lpstr>
      <vt:lpstr>Celestial</vt:lpstr>
      <vt:lpstr>Title: Food and Energy</vt:lpstr>
      <vt:lpstr>What is energy?</vt:lpstr>
      <vt:lpstr>How do we find the kilojoules?</vt:lpstr>
      <vt:lpstr>How many should you be having? </vt:lpstr>
      <vt:lpstr>Guided practise:</vt:lpstr>
      <vt:lpstr>Dietary Intake</vt:lpstr>
      <vt:lpstr>Exercise: Nelson Essentials</vt:lpstr>
      <vt:lpstr>Exercise: MAWA Book 1 and 2 - pg 40</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and Energy</dc:title>
  <dc:creator>POWER Travis [Baldivis Secondary College]</dc:creator>
  <cp:lastModifiedBy>POWER Travis [Baldivis Secondary College]</cp:lastModifiedBy>
  <cp:revision>5</cp:revision>
  <dcterms:created xsi:type="dcterms:W3CDTF">2018-02-27T06:36:41Z</dcterms:created>
  <dcterms:modified xsi:type="dcterms:W3CDTF">2018-02-27T13:26:30Z</dcterms:modified>
</cp:coreProperties>
</file>
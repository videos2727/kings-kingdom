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8"/>
  </p:notesMasterIdLst>
  <p:sldIdLst>
    <p:sldId id="266" r:id="rId2"/>
    <p:sldId id="267" r:id="rId3"/>
    <p:sldId id="265" r:id="rId4"/>
    <p:sldId id="269" r:id="rId5"/>
    <p:sldId id="273" r:id="rId6"/>
    <p:sldId id="27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2"/>
    <p:restoredTop sz="94655"/>
  </p:normalViewPr>
  <p:slideViewPr>
    <p:cSldViewPr snapToGrid="0" snapToObjects="1">
      <p:cViewPr>
        <p:scale>
          <a:sx n="87" d="100"/>
          <a:sy n="87" d="100"/>
        </p:scale>
        <p:origin x="66" y="2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F2789E-5AC8-448E-8E6F-EC7423D7B148}" type="datetimeFigureOut">
              <a:rPr lang="en-GB" smtClean="0"/>
              <a:t>27/02/2018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85D6DF-A159-4F50-B9AF-8F30B100FF37}" type="slidenum">
              <a:rPr lang="en-GB" smtClean="0"/>
              <a:t>‹#›</a:t>
            </a:fld>
            <a:endParaRPr lang="en-GB"/>
          </a:p>
        </p:txBody>
      </p:sp>
    </p:spTree>
    <p:extLst>
      <p:ext uri="{BB962C8B-B14F-4D97-AF65-F5344CB8AC3E}">
        <p14:creationId xmlns:p14="http://schemas.microsoft.com/office/powerpoint/2010/main" val="342622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2029960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23779115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EBC23BB-2070-D146-BD10-A01B23AF686B}" type="datetimeFigureOut">
              <a:rPr lang="en-AU" smtClean="0"/>
              <a:t>27/02/2018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05780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27/02/2018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582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27/02/2018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210481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00099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27/02/2018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15044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BC23BB-2070-D146-BD10-A01B23AF686B}" type="datetimeFigureOut">
              <a:rPr lang="en-AU" smtClean="0"/>
              <a:t>27/02/2018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15877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C23BB-2070-D146-BD10-A01B23AF686B}" type="datetimeFigureOut">
              <a:rPr lang="en-AU" smtClean="0"/>
              <a:t>27/02/2018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63627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14019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81268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14634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967820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031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EBC23BB-2070-D146-BD10-A01B23AF686B}" type="datetimeFigureOut">
              <a:rPr lang="en-AU" smtClean="0"/>
              <a:t>27/02/2018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4124580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EBC23BB-2070-D146-BD10-A01B23AF686B}" type="datetimeFigureOut">
              <a:rPr lang="en-AU" smtClean="0"/>
              <a:t>27/02/2018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70242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EBC23BB-2070-D146-BD10-A01B23AF686B}" type="datetimeFigureOut">
              <a:rPr lang="en-AU" smtClean="0"/>
              <a:t>27/02/2018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453306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27/02/2018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776326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EBC23BB-2070-D146-BD10-A01B23AF686B}" type="datetimeFigureOut">
              <a:rPr lang="en-AU" smtClean="0"/>
              <a:t>27/02/2018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79609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EBC23BB-2070-D146-BD10-A01B23AF686B}" type="datetimeFigureOut">
              <a:rPr lang="en-AU" smtClean="0"/>
              <a:t>27/02/2018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89D79F-077F-204B-9403-1DA3DE99CFD3}" type="slidenum">
              <a:rPr lang="en-AU" smtClean="0"/>
              <a:t>‹#›</a:t>
            </a:fld>
            <a:endParaRPr lang="en-AU"/>
          </a:p>
        </p:txBody>
      </p:sp>
    </p:spTree>
    <p:extLst>
      <p:ext uri="{BB962C8B-B14F-4D97-AF65-F5344CB8AC3E}">
        <p14:creationId xmlns:p14="http://schemas.microsoft.com/office/powerpoint/2010/main" val="283675412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42744-6AE1-4460-BB81-220391B100E6}"/>
              </a:ext>
            </a:extLst>
          </p:cNvPr>
          <p:cNvSpPr>
            <a:spLocks noGrp="1"/>
          </p:cNvSpPr>
          <p:nvPr>
            <p:ph type="ctrTitle"/>
          </p:nvPr>
        </p:nvSpPr>
        <p:spPr/>
        <p:txBody>
          <a:bodyPr>
            <a:normAutofit/>
          </a:bodyPr>
          <a:lstStyle/>
          <a:p>
            <a:r>
              <a:rPr lang="en-US" sz="5400" b="1" dirty="0">
                <a:solidFill>
                  <a:srgbClr val="0070C0"/>
                </a:solidFill>
                <a:latin typeface="Kiwi School Handwriting" panose="00000500000000000000" pitchFamily="2" charset="0"/>
              </a:rPr>
              <a:t>Rates – Earning Money</a:t>
            </a:r>
            <a:endParaRPr lang="en-GB" sz="5400" dirty="0"/>
          </a:p>
        </p:txBody>
      </p:sp>
      <p:sp>
        <p:nvSpPr>
          <p:cNvPr id="3" name="Subtitle 2">
            <a:extLst>
              <a:ext uri="{FF2B5EF4-FFF2-40B4-BE49-F238E27FC236}">
                <a16:creationId xmlns:a16="http://schemas.microsoft.com/office/drawing/2014/main" id="{B1CE286F-EE8D-4E43-8AA7-04B4265BF31F}"/>
              </a:ext>
            </a:extLst>
          </p:cNvPr>
          <p:cNvSpPr>
            <a:spLocks noGrp="1"/>
          </p:cNvSpPr>
          <p:nvPr>
            <p:ph type="subTitle" idx="1"/>
          </p:nvPr>
        </p:nvSpPr>
        <p:spPr/>
        <p:txBody>
          <a:bodyPr>
            <a:normAutofit fontScale="92500" lnSpcReduction="10000"/>
          </a:bodyPr>
          <a:lstStyle/>
          <a:p>
            <a:r>
              <a:rPr lang="en-AU" sz="2000" b="1" dirty="0">
                <a:solidFill>
                  <a:schemeClr val="accent2">
                    <a:lumMod val="75000"/>
                  </a:schemeClr>
                </a:solidFill>
                <a:latin typeface="Kiwi School Handwriting" panose="00000500000000000000"/>
              </a:rPr>
              <a:t>Miss Lum </a:t>
            </a:r>
          </a:p>
          <a:p>
            <a:r>
              <a:rPr lang="en-AU" sz="2000" b="1" dirty="0">
                <a:solidFill>
                  <a:schemeClr val="accent2">
                    <a:lumMod val="75000"/>
                  </a:schemeClr>
                </a:solidFill>
                <a:latin typeface="Kiwi School Handwriting" panose="00000500000000000000"/>
              </a:rPr>
              <a:t>Year </a:t>
            </a:r>
            <a:r>
              <a:rPr lang="en-AU" b="1" dirty="0">
                <a:solidFill>
                  <a:schemeClr val="accent2">
                    <a:lumMod val="75000"/>
                  </a:schemeClr>
                </a:solidFill>
                <a:latin typeface="Kiwi School Handwriting" panose="00000500000000000000"/>
              </a:rPr>
              <a:t>11 Essentials</a:t>
            </a:r>
            <a:endParaRPr lang="en-GB" sz="2000" b="1" dirty="0">
              <a:solidFill>
                <a:schemeClr val="accent2">
                  <a:lumMod val="75000"/>
                </a:schemeClr>
              </a:solidFill>
              <a:latin typeface="Kiwi School Handwriting" panose="00000500000000000000"/>
            </a:endParaRPr>
          </a:p>
          <a:p>
            <a:endParaRPr lang="en-GB" dirty="0"/>
          </a:p>
        </p:txBody>
      </p:sp>
    </p:spTree>
    <p:extLst>
      <p:ext uri="{BB962C8B-B14F-4D97-AF65-F5344CB8AC3E}">
        <p14:creationId xmlns:p14="http://schemas.microsoft.com/office/powerpoint/2010/main" val="189286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06D-1B0F-4A8E-9995-B02B2CB3CA2D}"/>
              </a:ext>
            </a:extLst>
          </p:cNvPr>
          <p:cNvSpPr>
            <a:spLocks noGrp="1"/>
          </p:cNvSpPr>
          <p:nvPr>
            <p:ph type="title"/>
          </p:nvPr>
        </p:nvSpPr>
        <p:spPr/>
        <p:txBody>
          <a:bodyPr>
            <a:normAutofit/>
          </a:bodyPr>
          <a:lstStyle/>
          <a:p>
            <a:r>
              <a:rPr lang="en-AU" sz="5400" b="1" dirty="0">
                <a:solidFill>
                  <a:schemeClr val="accent2">
                    <a:lumMod val="75000"/>
                  </a:schemeClr>
                </a:solidFill>
                <a:latin typeface="Kiwi School Handwriting"/>
              </a:rPr>
              <a:t>Learning Outcomes</a:t>
            </a:r>
            <a:endParaRPr lang="en-GB" sz="5400" b="1" dirty="0">
              <a:solidFill>
                <a:schemeClr val="accent2">
                  <a:lumMod val="75000"/>
                </a:schemeClr>
              </a:solidFill>
              <a:latin typeface="Kiwi School Handwriting"/>
            </a:endParaRPr>
          </a:p>
        </p:txBody>
      </p:sp>
      <p:sp>
        <p:nvSpPr>
          <p:cNvPr id="3" name="Content Placeholder 2">
            <a:extLst>
              <a:ext uri="{FF2B5EF4-FFF2-40B4-BE49-F238E27FC236}">
                <a16:creationId xmlns:a16="http://schemas.microsoft.com/office/drawing/2014/main" id="{7E691107-7794-4BDC-A667-DF76D18C9352}"/>
              </a:ext>
            </a:extLst>
          </p:cNvPr>
          <p:cNvSpPr>
            <a:spLocks noGrp="1"/>
          </p:cNvSpPr>
          <p:nvPr>
            <p:ph idx="1"/>
          </p:nvPr>
        </p:nvSpPr>
        <p:spPr/>
        <p:txBody>
          <a:bodyPr/>
          <a:lstStyle/>
          <a:p>
            <a:pPr marL="0" indent="0">
              <a:buNone/>
            </a:pPr>
            <a:r>
              <a:rPr lang="en-AU" dirty="0"/>
              <a:t>1.2.2 Substitute values for the variables in a mathematical formula in given form to calculate the value of the subject of the formula</a:t>
            </a:r>
          </a:p>
          <a:p>
            <a:pPr marL="0" indent="0">
              <a:buNone/>
            </a:pPr>
            <a:endParaRPr lang="en-AU" dirty="0"/>
          </a:p>
          <a:p>
            <a:pPr marL="0" indent="0">
              <a:buNone/>
            </a:pPr>
            <a:r>
              <a:rPr lang="en-AU" dirty="0"/>
              <a:t>Context: Calculate weekly wage, (W), given base wage, (b), and overtime hours, (h), at 1.5 times rate, (r) W = b + 1.5 × h x r</a:t>
            </a:r>
            <a:endParaRPr lang="en-GB" dirty="0"/>
          </a:p>
        </p:txBody>
      </p:sp>
    </p:spTree>
    <p:extLst>
      <p:ext uri="{BB962C8B-B14F-4D97-AF65-F5344CB8AC3E}">
        <p14:creationId xmlns:p14="http://schemas.microsoft.com/office/powerpoint/2010/main" val="18188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7097" y="764373"/>
            <a:ext cx="9409103" cy="1293028"/>
          </a:xfrm>
        </p:spPr>
        <p:txBody>
          <a:bodyPr>
            <a:noAutofit/>
          </a:bodyPr>
          <a:lstStyle/>
          <a:p>
            <a:r>
              <a:rPr lang="en-AU" sz="5400" b="1" dirty="0">
                <a:solidFill>
                  <a:schemeClr val="accent1">
                    <a:lumMod val="75000"/>
                  </a:schemeClr>
                </a:solidFill>
                <a:latin typeface="Kiwi School Handwriting" panose="00000500000000000000"/>
              </a:rPr>
              <a:t>Working Life</a:t>
            </a:r>
          </a:p>
        </p:txBody>
      </p:sp>
      <p:sp>
        <p:nvSpPr>
          <p:cNvPr id="3" name="Content Placeholder 2"/>
          <p:cNvSpPr>
            <a:spLocks noGrp="1"/>
          </p:cNvSpPr>
          <p:nvPr>
            <p:ph idx="1"/>
          </p:nvPr>
        </p:nvSpPr>
        <p:spPr/>
        <p:txBody>
          <a:bodyPr/>
          <a:lstStyle/>
          <a:p>
            <a:pPr marL="0" indent="0">
              <a:buNone/>
            </a:pPr>
            <a:r>
              <a:rPr lang="en-AU" dirty="0"/>
              <a:t>When describing how people are paid, the words </a:t>
            </a:r>
            <a:r>
              <a:rPr lang="en-AU" b="1" dirty="0">
                <a:solidFill>
                  <a:schemeClr val="accent1"/>
                </a:solidFill>
              </a:rPr>
              <a:t>wage</a:t>
            </a:r>
            <a:r>
              <a:rPr lang="en-AU" dirty="0">
                <a:solidFill>
                  <a:schemeClr val="accent1">
                    <a:lumMod val="75000"/>
                  </a:schemeClr>
                </a:solidFill>
              </a:rPr>
              <a:t> </a:t>
            </a:r>
            <a:r>
              <a:rPr lang="en-AU" dirty="0"/>
              <a:t>and </a:t>
            </a:r>
            <a:r>
              <a:rPr lang="en-AU" b="1" dirty="0">
                <a:solidFill>
                  <a:schemeClr val="accent1"/>
                </a:solidFill>
              </a:rPr>
              <a:t>salary</a:t>
            </a:r>
            <a:r>
              <a:rPr lang="en-AU" dirty="0"/>
              <a:t> both refer to regular payments for set periods of time.</a:t>
            </a:r>
          </a:p>
          <a:p>
            <a:pPr marL="0" indent="0">
              <a:buNone/>
            </a:pPr>
            <a:endParaRPr lang="en-AU" dirty="0"/>
          </a:p>
          <a:p>
            <a:pPr marL="0" indent="0">
              <a:buNone/>
            </a:pPr>
            <a:r>
              <a:rPr lang="en-AU" dirty="0"/>
              <a:t>Reference may be made to an hourly, daily, weekly, or monthly wage. Salary usually refers to the amount received each year.</a:t>
            </a:r>
          </a:p>
        </p:txBody>
      </p:sp>
    </p:spTree>
    <p:extLst>
      <p:ext uri="{BB962C8B-B14F-4D97-AF65-F5344CB8AC3E}">
        <p14:creationId xmlns:p14="http://schemas.microsoft.com/office/powerpoint/2010/main" val="1961245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315827"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Working Life</a:t>
            </a:r>
          </a:p>
        </p:txBody>
      </p:sp>
      <p:sp>
        <p:nvSpPr>
          <p:cNvPr id="11" name="TextBox 10"/>
          <p:cNvSpPr txBox="1"/>
          <p:nvPr/>
        </p:nvSpPr>
        <p:spPr>
          <a:xfrm>
            <a:off x="9082292" y="20443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20/02/2018</a:t>
            </a:r>
          </a:p>
        </p:txBody>
      </p:sp>
      <p:sp>
        <p:nvSpPr>
          <p:cNvPr id="33" name="TextBox 32"/>
          <p:cNvSpPr txBox="1"/>
          <p:nvPr/>
        </p:nvSpPr>
        <p:spPr>
          <a:xfrm>
            <a:off x="191345" y="858948"/>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are people paid?</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2">
            <a:extLst>
              <a:ext uri="{FF2B5EF4-FFF2-40B4-BE49-F238E27FC236}">
                <a16:creationId xmlns:a16="http://schemas.microsoft.com/office/drawing/2014/main" id="{C39D29FE-4EEC-4C2C-8BC2-BA07C9301A6A}"/>
              </a:ext>
            </a:extLst>
          </p:cNvPr>
          <p:cNvSpPr txBox="1">
            <a:spLocks/>
          </p:cNvSpPr>
          <p:nvPr/>
        </p:nvSpPr>
        <p:spPr>
          <a:xfrm>
            <a:off x="1993062" y="1387628"/>
            <a:ext cx="9762724" cy="5308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Arial" panose="020B0604020202020204" pitchFamily="34" charset="0"/>
              <a:buNone/>
            </a:pPr>
            <a:r>
              <a:rPr lang="en-AU" dirty="0"/>
              <a:t>When describing how people are paid, the words </a:t>
            </a:r>
            <a:r>
              <a:rPr lang="en-AU" b="1" dirty="0">
                <a:solidFill>
                  <a:schemeClr val="accent1"/>
                </a:solidFill>
              </a:rPr>
              <a:t>wage</a:t>
            </a:r>
            <a:r>
              <a:rPr lang="en-AU" dirty="0">
                <a:solidFill>
                  <a:schemeClr val="accent1">
                    <a:lumMod val="75000"/>
                  </a:schemeClr>
                </a:solidFill>
              </a:rPr>
              <a:t> </a:t>
            </a:r>
            <a:r>
              <a:rPr lang="en-AU" dirty="0"/>
              <a:t>and </a:t>
            </a:r>
            <a:r>
              <a:rPr lang="en-AU" b="1" dirty="0">
                <a:solidFill>
                  <a:schemeClr val="accent1"/>
                </a:solidFill>
              </a:rPr>
              <a:t>salary</a:t>
            </a:r>
            <a:r>
              <a:rPr lang="en-AU" dirty="0"/>
              <a:t> both refer to regular payments for set periods of time. Reference may be made to an hourly, daily, weekly, or monthly wage. Salary usually refers to the amount received each year.</a:t>
            </a:r>
          </a:p>
          <a:p>
            <a:pPr marL="0" indent="0">
              <a:buFont typeface="Arial" panose="020B0604020202020204" pitchFamily="34" charset="0"/>
              <a:buNone/>
            </a:pPr>
            <a:endParaRPr lang="en-AU" dirty="0"/>
          </a:p>
          <a:p>
            <a:pPr marL="0" indent="0">
              <a:buFont typeface="Arial" panose="020B0604020202020204" pitchFamily="34" charset="0"/>
              <a:buNone/>
            </a:pPr>
            <a:r>
              <a:rPr lang="en-AU" dirty="0"/>
              <a:t>Some people get paid extra for working at night or on weekends. Rather than get an extra fixed amount their rate is changed. These new rates are called </a:t>
            </a:r>
            <a:r>
              <a:rPr lang="en-AU" b="1" dirty="0">
                <a:solidFill>
                  <a:schemeClr val="accent1">
                    <a:lumMod val="75000"/>
                  </a:schemeClr>
                </a:solidFill>
              </a:rPr>
              <a:t>penalty rates</a:t>
            </a:r>
            <a:r>
              <a:rPr lang="en-AU" dirty="0"/>
              <a:t>.</a:t>
            </a:r>
          </a:p>
          <a:p>
            <a:pPr marL="0" indent="0">
              <a:buFont typeface="Arial" panose="020B0604020202020204" pitchFamily="34" charset="0"/>
              <a:buNone/>
            </a:pPr>
            <a:endParaRPr lang="en-AU" dirty="0"/>
          </a:p>
          <a:p>
            <a:pPr marL="0" indent="0">
              <a:buFont typeface="Arial" panose="020B0604020202020204" pitchFamily="34" charset="0"/>
              <a:buNone/>
            </a:pPr>
            <a:r>
              <a:rPr lang="en-AU" dirty="0"/>
              <a:t>Two common penalty rates are </a:t>
            </a:r>
            <a:r>
              <a:rPr lang="en-AU" b="1" dirty="0">
                <a:solidFill>
                  <a:schemeClr val="accent1">
                    <a:lumMod val="75000"/>
                  </a:schemeClr>
                </a:solidFill>
              </a:rPr>
              <a:t>time and a half</a:t>
            </a:r>
            <a:r>
              <a:rPr lang="en-AU" dirty="0"/>
              <a:t> and </a:t>
            </a:r>
            <a:r>
              <a:rPr lang="en-AU" b="1" dirty="0">
                <a:solidFill>
                  <a:schemeClr val="accent1">
                    <a:lumMod val="75000"/>
                  </a:schemeClr>
                </a:solidFill>
              </a:rPr>
              <a:t>double time</a:t>
            </a:r>
            <a:r>
              <a:rPr lang="en-AU" dirty="0"/>
              <a:t>.</a:t>
            </a:r>
          </a:p>
          <a:p>
            <a:pPr>
              <a:buFontTx/>
              <a:buChar char="-"/>
            </a:pPr>
            <a:r>
              <a:rPr lang="en-AU" dirty="0"/>
              <a:t>Time and a half the standard rate is multiplied by 1.5</a:t>
            </a:r>
          </a:p>
          <a:p>
            <a:pPr>
              <a:buFontTx/>
              <a:buChar char="-"/>
            </a:pPr>
            <a:r>
              <a:rPr lang="en-AU" dirty="0"/>
              <a:t>Double time the standard rate is multiplied by 2.</a:t>
            </a:r>
          </a:p>
          <a:p>
            <a:pPr marL="0" indent="0">
              <a:buFont typeface="Arial" panose="020B0604020202020204" pitchFamily="34" charset="0"/>
              <a:buNone/>
            </a:pPr>
            <a:endParaRPr lang="en-AU" dirty="0"/>
          </a:p>
        </p:txBody>
      </p:sp>
    </p:spTree>
    <p:extLst>
      <p:ext uri="{BB962C8B-B14F-4D97-AF65-F5344CB8AC3E}">
        <p14:creationId xmlns:p14="http://schemas.microsoft.com/office/powerpoint/2010/main" val="365478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wipe(down)">
                                      <p:cBhvr>
                                        <p:cTn id="17" dur="500"/>
                                        <p:tgtEl>
                                          <p:spTgt spid="12">
                                            <p:txEl>
                                              <p:pRg st="4" end="4"/>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12">
                                            <p:txEl>
                                              <p:pRg st="5" end="5"/>
                                            </p:txEl>
                                          </p:spTgt>
                                        </p:tgtEl>
                                        <p:attrNameLst>
                                          <p:attrName>style.visibility</p:attrName>
                                        </p:attrNameLst>
                                      </p:cBhvr>
                                      <p:to>
                                        <p:strVal val="visible"/>
                                      </p:to>
                                    </p:set>
                                    <p:animEffect transition="in" filter="wipe(down)">
                                      <p:cBhvr>
                                        <p:cTn id="20" dur="500"/>
                                        <p:tgtEl>
                                          <p:spTgt spid="12">
                                            <p:txEl>
                                              <p:pRg st="5" end="5"/>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animEffect transition="in" filter="wipe(down)">
                                      <p:cBhvr>
                                        <p:cTn id="23"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315827"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Working Life</a:t>
            </a:r>
          </a:p>
        </p:txBody>
      </p:sp>
      <p:sp>
        <p:nvSpPr>
          <p:cNvPr id="11" name="TextBox 10"/>
          <p:cNvSpPr txBox="1"/>
          <p:nvPr/>
        </p:nvSpPr>
        <p:spPr>
          <a:xfrm>
            <a:off x="9082292" y="20443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20/02/2018</a:t>
            </a:r>
          </a:p>
        </p:txBody>
      </p:sp>
      <p:sp>
        <p:nvSpPr>
          <p:cNvPr id="33" name="TextBox 32"/>
          <p:cNvSpPr txBox="1"/>
          <p:nvPr/>
        </p:nvSpPr>
        <p:spPr>
          <a:xfrm>
            <a:off x="191345" y="858948"/>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are people paid?</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2">
            <a:extLst>
              <a:ext uri="{FF2B5EF4-FFF2-40B4-BE49-F238E27FC236}">
                <a16:creationId xmlns:a16="http://schemas.microsoft.com/office/drawing/2014/main" id="{C39D29FE-4EEC-4C2C-8BC2-BA07C9301A6A}"/>
              </a:ext>
            </a:extLst>
          </p:cNvPr>
          <p:cNvSpPr txBox="1">
            <a:spLocks/>
          </p:cNvSpPr>
          <p:nvPr/>
        </p:nvSpPr>
        <p:spPr>
          <a:xfrm>
            <a:off x="1993062" y="1387628"/>
            <a:ext cx="9762724" cy="5308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Arial" panose="020B0604020202020204" pitchFamily="34" charset="0"/>
              <a:buNone/>
            </a:pPr>
            <a:r>
              <a:rPr lang="en-AU" dirty="0"/>
              <a:t>If you know how much a person is paid weekly, then to find their yearly rate, (amount paid per year), you multiply the weekly rate by 52. It is often useful to changed the rate of pay so you can compare wages.</a:t>
            </a:r>
          </a:p>
          <a:p>
            <a:pPr marL="0" indent="0">
              <a:buFont typeface="Arial" panose="020B0604020202020204" pitchFamily="34" charset="0"/>
              <a:buNone/>
            </a:pPr>
            <a:endParaRPr lang="en-AU" dirty="0"/>
          </a:p>
          <a:p>
            <a:pPr marL="0" indent="0">
              <a:buFont typeface="Arial" panose="020B0604020202020204" pitchFamily="34" charset="0"/>
              <a:buNone/>
            </a:pPr>
            <a:endParaRPr lang="en-AU" dirty="0"/>
          </a:p>
        </p:txBody>
      </p:sp>
      <p:graphicFrame>
        <p:nvGraphicFramePr>
          <p:cNvPr id="2" name="Table 1">
            <a:extLst>
              <a:ext uri="{FF2B5EF4-FFF2-40B4-BE49-F238E27FC236}">
                <a16:creationId xmlns:a16="http://schemas.microsoft.com/office/drawing/2014/main" id="{E49013C7-C4B1-4F53-AFAC-C27086C241BC}"/>
              </a:ext>
            </a:extLst>
          </p:cNvPr>
          <p:cNvGraphicFramePr>
            <a:graphicFrameLocks noGrp="1"/>
          </p:cNvGraphicFramePr>
          <p:nvPr>
            <p:extLst>
              <p:ext uri="{D42A27DB-BD31-4B8C-83A1-F6EECF244321}">
                <p14:modId xmlns:p14="http://schemas.microsoft.com/office/powerpoint/2010/main" val="2373869169"/>
              </p:ext>
            </p:extLst>
          </p:nvPr>
        </p:nvGraphicFramePr>
        <p:xfrm>
          <a:off x="2461610" y="2406966"/>
          <a:ext cx="8825628" cy="4079240"/>
        </p:xfrm>
        <a:graphic>
          <a:graphicData uri="http://schemas.openxmlformats.org/drawingml/2006/table">
            <a:tbl>
              <a:tblPr firstRow="1" bandRow="1">
                <a:tableStyleId>{5C22544A-7EE6-4342-B048-85BDC9FD1C3A}</a:tableStyleId>
              </a:tblPr>
              <a:tblGrid>
                <a:gridCol w="2941876">
                  <a:extLst>
                    <a:ext uri="{9D8B030D-6E8A-4147-A177-3AD203B41FA5}">
                      <a16:colId xmlns:a16="http://schemas.microsoft.com/office/drawing/2014/main" val="763348872"/>
                    </a:ext>
                  </a:extLst>
                </a:gridCol>
                <a:gridCol w="3306661">
                  <a:extLst>
                    <a:ext uri="{9D8B030D-6E8A-4147-A177-3AD203B41FA5}">
                      <a16:colId xmlns:a16="http://schemas.microsoft.com/office/drawing/2014/main" val="3987877980"/>
                    </a:ext>
                  </a:extLst>
                </a:gridCol>
                <a:gridCol w="2577091">
                  <a:extLst>
                    <a:ext uri="{9D8B030D-6E8A-4147-A177-3AD203B41FA5}">
                      <a16:colId xmlns:a16="http://schemas.microsoft.com/office/drawing/2014/main" val="146542232"/>
                    </a:ext>
                  </a:extLst>
                </a:gridCol>
              </a:tblGrid>
              <a:tr h="370840">
                <a:tc gridSpan="2">
                  <a:txBody>
                    <a:bodyPr/>
                    <a:lstStyle/>
                    <a:p>
                      <a:pPr algn="ctr"/>
                      <a:r>
                        <a:rPr lang="en-AU" dirty="0">
                          <a:solidFill>
                            <a:schemeClr val="tx1"/>
                          </a:solidFill>
                        </a:rPr>
                        <a:t>Periodic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561813"/>
                  </a:ext>
                </a:extLst>
              </a:tr>
              <a:tr h="370840">
                <a:tc>
                  <a:txBody>
                    <a:bodyPr/>
                    <a:lstStyle/>
                    <a:p>
                      <a:pPr algn="l"/>
                      <a:r>
                        <a:rPr lang="en-AU" dirty="0">
                          <a:solidFill>
                            <a:schemeClr val="tx1"/>
                          </a:solidFill>
                        </a:rPr>
                        <a:t>Rate Given</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Rate to be calculated</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a:solidFill>
                            <a:schemeClr val="tx1"/>
                          </a:solidFill>
                        </a:rPr>
                        <a:t>Operation</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0176219"/>
                  </a:ext>
                </a:extLst>
              </a:tr>
              <a:tr h="370840">
                <a:tc>
                  <a:txBody>
                    <a:bodyPr/>
                    <a:lstStyle/>
                    <a:p>
                      <a:pPr algn="l"/>
                      <a:r>
                        <a:rPr lang="en-AU" dirty="0">
                          <a:solidFill>
                            <a:schemeClr val="tx1"/>
                          </a:solidFill>
                        </a:rPr>
                        <a:t>Weekly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8386053"/>
                  </a:ext>
                </a:extLst>
              </a:tr>
              <a:tr h="370840">
                <a:tc>
                  <a:txBody>
                    <a:bodyPr/>
                    <a:lstStyle/>
                    <a:p>
                      <a:pPr algn="l"/>
                      <a:r>
                        <a:rPr lang="en-AU" dirty="0">
                          <a:solidFill>
                            <a:schemeClr val="tx1"/>
                          </a:solidFill>
                        </a:rPr>
                        <a:t>Monthly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9329005"/>
                  </a:ext>
                </a:extLst>
              </a:tr>
              <a:tr h="370840">
                <a:tc>
                  <a:txBody>
                    <a:bodyPr/>
                    <a:lstStyle/>
                    <a:p>
                      <a:pPr algn="l"/>
                      <a:r>
                        <a:rPr lang="en-AU" dirty="0">
                          <a:solidFill>
                            <a:schemeClr val="tx1"/>
                          </a:solidFill>
                        </a:rPr>
                        <a:t>Fortnightly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1183519"/>
                  </a:ext>
                </a:extLst>
              </a:tr>
              <a:tr h="370840">
                <a:tc>
                  <a:txBody>
                    <a:bodyPr/>
                    <a:lstStyle/>
                    <a:p>
                      <a:pPr algn="l"/>
                      <a:r>
                        <a:rPr lang="en-AU" dirty="0">
                          <a:solidFill>
                            <a:schemeClr val="tx1"/>
                          </a:solidFill>
                        </a:rPr>
                        <a:t>Daily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365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6373976"/>
                  </a:ext>
                </a:extLst>
              </a:tr>
              <a:tr h="370840">
                <a:tc>
                  <a:txBody>
                    <a:bodyPr/>
                    <a:lstStyle/>
                    <a:p>
                      <a:pPr algn="l"/>
                      <a:r>
                        <a:rPr lang="en-AU" dirty="0">
                          <a:solidFill>
                            <a:schemeClr val="tx1"/>
                          </a:solidFill>
                        </a:rPr>
                        <a:t>Monthly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Weekly rate (approximate)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6327117"/>
                  </a:ext>
                </a:extLst>
              </a:tr>
              <a:tr h="370840">
                <a:tc>
                  <a:txBody>
                    <a:bodyPr/>
                    <a:lstStyle/>
                    <a:p>
                      <a:pPr algn="l"/>
                      <a:r>
                        <a:rPr lang="en-AU" dirty="0">
                          <a:solidFill>
                            <a:schemeClr val="tx1"/>
                          </a:solidFill>
                        </a:rPr>
                        <a:t>Weekly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Fortnightly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408266"/>
                  </a:ext>
                </a:extLst>
              </a:tr>
              <a:tr h="370840">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Weekly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3092571"/>
                  </a:ext>
                </a:extLst>
              </a:tr>
              <a:tr h="370840">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Fortnightly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3120210"/>
                  </a:ext>
                </a:extLst>
              </a:tr>
              <a:tr h="370840">
                <a:tc>
                  <a:txBody>
                    <a:bodyPr/>
                    <a:lstStyle/>
                    <a:p>
                      <a:pPr algn="l"/>
                      <a:r>
                        <a:rPr lang="en-AU" dirty="0">
                          <a:solidFill>
                            <a:schemeClr val="tx1"/>
                          </a:solidFill>
                        </a:rPr>
                        <a:t>Yearly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AU" dirty="0">
                          <a:solidFill>
                            <a:schemeClr val="tx1"/>
                          </a:solidFill>
                        </a:rPr>
                        <a:t>Monthly rate</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8731877"/>
                  </a:ext>
                </a:extLst>
              </a:tr>
            </a:tbl>
          </a:graphicData>
        </a:graphic>
      </p:graphicFrame>
    </p:spTree>
    <p:extLst>
      <p:ext uri="{BB962C8B-B14F-4D97-AF65-F5344CB8AC3E}">
        <p14:creationId xmlns:p14="http://schemas.microsoft.com/office/powerpoint/2010/main" val="110849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7097" y="764373"/>
            <a:ext cx="9409103" cy="1293028"/>
          </a:xfrm>
        </p:spPr>
        <p:txBody>
          <a:bodyPr>
            <a:noAutofit/>
          </a:bodyPr>
          <a:lstStyle/>
          <a:p>
            <a:r>
              <a:rPr lang="en-AU" sz="5400" b="1" dirty="0">
                <a:solidFill>
                  <a:schemeClr val="accent1">
                    <a:lumMod val="75000"/>
                  </a:schemeClr>
                </a:solidFill>
                <a:latin typeface="Kiwi School Handwriting" panose="00000500000000000000"/>
              </a:rPr>
              <a:t>Task</a:t>
            </a:r>
          </a:p>
        </p:txBody>
      </p:sp>
      <p:sp>
        <p:nvSpPr>
          <p:cNvPr id="3" name="Content Placeholder 2"/>
          <p:cNvSpPr>
            <a:spLocks noGrp="1"/>
          </p:cNvSpPr>
          <p:nvPr>
            <p:ph idx="1"/>
          </p:nvPr>
        </p:nvSpPr>
        <p:spPr/>
        <p:txBody>
          <a:bodyPr/>
          <a:lstStyle/>
          <a:p>
            <a:pPr marL="0" indent="0">
              <a:buNone/>
            </a:pPr>
            <a:r>
              <a:rPr lang="en-AU" dirty="0"/>
              <a:t>MAWA Mathematics Unit 1A</a:t>
            </a:r>
          </a:p>
          <a:p>
            <a:pPr marL="0" indent="0">
              <a:buNone/>
            </a:pPr>
            <a:endParaRPr lang="en-AU" dirty="0"/>
          </a:p>
          <a:p>
            <a:pPr marL="0" indent="0">
              <a:buNone/>
            </a:pPr>
            <a:r>
              <a:rPr lang="en-AU" dirty="0"/>
              <a:t>Finance Exercise, Questions 1 - 12, pp. 87 – 88</a:t>
            </a:r>
          </a:p>
          <a:p>
            <a:pPr marL="0" indent="0">
              <a:buNone/>
            </a:pPr>
            <a:endParaRPr lang="en-AU" dirty="0"/>
          </a:p>
        </p:txBody>
      </p:sp>
    </p:spTree>
    <p:extLst>
      <p:ext uri="{BB962C8B-B14F-4D97-AF65-F5344CB8AC3E}">
        <p14:creationId xmlns:p14="http://schemas.microsoft.com/office/powerpoint/2010/main" val="3117795047"/>
      </p:ext>
    </p:extLst>
  </p:cSld>
  <p:clrMapOvr>
    <a:masterClrMapping/>
  </p:clrMapOvr>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BSC Theme</Template>
  <TotalTime>656</TotalTime>
  <Words>405</Words>
  <Application>Microsoft Office PowerPoint</Application>
  <PresentationFormat>Widescreen</PresentationFormat>
  <Paragraphs>68</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Century Gothic</vt:lpstr>
      <vt:lpstr>Kiwi School Handwriting</vt:lpstr>
      <vt:lpstr>BSC Theme</vt:lpstr>
      <vt:lpstr>Rates – Earning Money</vt:lpstr>
      <vt:lpstr>Learning Outcomes</vt:lpstr>
      <vt:lpstr>Working Life</vt:lpstr>
      <vt:lpstr>PowerPoint Presentation</vt:lpstr>
      <vt:lpstr>PowerPoint Presentation</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Rates Continued </dc:title>
  <dc:creator>Travis Power</dc:creator>
  <cp:lastModifiedBy>LUM Magdeline [Baldivis Secondary College]</cp:lastModifiedBy>
  <cp:revision>23</cp:revision>
  <dcterms:created xsi:type="dcterms:W3CDTF">2018-02-13T05:48:53Z</dcterms:created>
  <dcterms:modified xsi:type="dcterms:W3CDTF">2018-02-27T11:24:11Z</dcterms:modified>
</cp:coreProperties>
</file>
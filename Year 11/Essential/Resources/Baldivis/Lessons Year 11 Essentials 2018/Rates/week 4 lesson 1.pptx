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94655"/>
  </p:normalViewPr>
  <p:slideViewPr>
    <p:cSldViewPr snapToGrid="0" snapToObjects="1">
      <p:cViewPr varScale="1">
        <p:scale>
          <a:sx n="94" d="100"/>
          <a:sy n="94" d="100"/>
        </p:scale>
        <p:origin x="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Work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7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Heart Rate after Exercise</a:t>
            </a:r>
          </a:p>
        </c:rich>
      </c:tx>
      <c:layout>
        <c:manualLayout>
          <c:xMode val="edge"/>
          <c:yMode val="edge"/>
          <c:x val="0.251159667541557"/>
          <c:y val="0.0370370370370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7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>
              <a:noFill/>
            </a:ln>
            <a:effectLst/>
          </c:spPr>
          <c:marker>
            <c:symbol val="circle"/>
            <c:size val="4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Sheet1!$A$1:$B$1</c:f>
              <c:numCache>
                <c:formatCode>General</c:formatCode>
                <c:ptCount val="2"/>
                <c:pt idx="0">
                  <c:v>0.0</c:v>
                </c:pt>
                <c:pt idx="1">
                  <c:v>1.0</c:v>
                </c:pt>
              </c:numCache>
            </c:numRef>
          </c:xVal>
          <c:yVal>
            <c:numRef>
              <c:f>Sheet1!$A$2:$B$2</c:f>
              <c:numCache>
                <c:formatCode>General</c:formatCode>
                <c:ptCount val="2"/>
                <c:pt idx="0">
                  <c:v>100.0</c:v>
                </c:pt>
                <c:pt idx="1">
                  <c:v>5.0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44181744"/>
        <c:axId val="-2044299120"/>
      </c:scatterChart>
      <c:valAx>
        <c:axId val="-2044181744"/>
        <c:scaling>
          <c:orientation val="minMax"/>
          <c:max val="10.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Minutes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44299120"/>
        <c:crosses val="autoZero"/>
        <c:crossBetween val="midCat"/>
      </c:valAx>
      <c:valAx>
        <c:axId val="-2044299120"/>
        <c:scaling>
          <c:orientation val="minMax"/>
          <c:max val="180.0"/>
          <c:min val="60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Heart Rate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441817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100000">
          <a:schemeClr val="lt1">
            <a:lumMod val="95000"/>
          </a:schemeClr>
        </a:gs>
        <a:gs pos="43000">
          <a:schemeClr val="lt1"/>
        </a:gs>
      </a:gsLst>
      <a:path path="circle">
        <a:fillToRect l="50000" t="50000" r="50000" b="50000"/>
      </a:path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4">
  <cs:axisTitle>
    <cs:lnRef idx="0"/>
    <cs:fillRef idx="0"/>
    <cs:effectRef idx="0"/>
    <cs:fontRef idx="minor">
      <a:schemeClr val="dk1">
        <a:lumMod val="50000"/>
        <a:lumOff val="50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100000">
            <a:schemeClr val="lt1">
              <a:lumMod val="95000"/>
            </a:schemeClr>
          </a:gs>
          <a:gs pos="43000">
            <a:schemeClr val="lt1"/>
          </a:gs>
        </a:gsLst>
        <a:path path="circle">
          <a:fillToRect l="50000" t="50000" r="50000" b="50000"/>
        </a:path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>
        <a:solidFill>
          <a:schemeClr val="phClr">
            <a:alpha val="20000"/>
          </a:schemeClr>
        </a:solidFill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rnd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600" b="0" kern="1200" spc="70" baseline="0"/>
  </cs:title>
  <cs:trendline>
    <cs:lnRef idx="0">
      <cs:styleClr val="0"/>
    </cs:lnRef>
    <cs:fillRef idx="0"/>
    <cs:effectRef idx="0"/>
    <cs:fontRef idx="minor">
      <a:schemeClr val="tx1"/>
    </cs:fontRef>
    <cs:spPr>
      <a:ln w="63500" cap="rnd" cmpd="sng" algn="ctr">
        <a:solidFill>
          <a:schemeClr val="phClr">
            <a:alpha val="25000"/>
          </a:schemeClr>
        </a:solidFill>
        <a:round/>
      </a:ln>
    </cs:spPr>
  </cs:trendline>
  <cs:trendlineLabel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58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0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8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82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86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8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47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01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30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08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39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2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5B5269-0920-BE45-ADB5-E8F4EF988A6C}" type="datetimeFigureOut">
              <a:rPr lang="en-US" smtClean="0"/>
              <a:t>2/13/18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F7B774-D078-9C4B-8136-8663C0329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571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Rates Introduction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Mr</a:t>
            </a:r>
            <a:r>
              <a:rPr lang="en-US" dirty="0" smtClean="0"/>
              <a:t> power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93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rates?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69660"/>
            <a:ext cx="10131425" cy="3649133"/>
          </a:xfrm>
        </p:spPr>
        <p:txBody>
          <a:bodyPr/>
          <a:lstStyle/>
          <a:p>
            <a:r>
              <a:rPr lang="en-US" dirty="0" smtClean="0"/>
              <a:t>Rates are a relationship between two measurements- the most common rate we use is kilometers per hour</a:t>
            </a:r>
          </a:p>
          <a:p>
            <a:r>
              <a:rPr lang="en-US" dirty="0" smtClean="0"/>
              <a:t>Kilometers is a measure of distance, while hours is a measure of time, so when compared to each other, we can find a measure of speed. </a:t>
            </a:r>
          </a:p>
          <a:p>
            <a:r>
              <a:rPr lang="en-US" dirty="0" smtClean="0"/>
              <a:t>Other rates include</a:t>
            </a:r>
          </a:p>
          <a:p>
            <a:pPr lvl="1"/>
            <a:r>
              <a:rPr lang="en-US" dirty="0" smtClean="0"/>
              <a:t> Liters per Minute for flow rates (plumbing)</a:t>
            </a:r>
          </a:p>
          <a:p>
            <a:pPr lvl="1"/>
            <a:r>
              <a:rPr lang="en-US" dirty="0" smtClean="0"/>
              <a:t>Kilowatts per Hour (electricians)</a:t>
            </a:r>
          </a:p>
          <a:p>
            <a:pPr lvl="1"/>
            <a:r>
              <a:rPr lang="en-US" dirty="0" err="1" smtClean="0"/>
              <a:t>Kilojules</a:t>
            </a:r>
            <a:r>
              <a:rPr lang="en-US" dirty="0" smtClean="0"/>
              <a:t> per Day (Personal Trainer/ Nutritionist)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79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Brainstorm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00622"/>
            <a:ext cx="10131425" cy="3649133"/>
          </a:xfrm>
        </p:spPr>
        <p:txBody>
          <a:bodyPr/>
          <a:lstStyle/>
          <a:p>
            <a:r>
              <a:rPr lang="en-AU" dirty="0" smtClean="0"/>
              <a:t>How many other rates can you think of? </a:t>
            </a:r>
          </a:p>
          <a:p>
            <a:r>
              <a:rPr lang="en-AU" dirty="0" smtClean="0"/>
              <a:t>Where can we use rates?</a:t>
            </a:r>
          </a:p>
          <a:p>
            <a:r>
              <a:rPr lang="en-AU" dirty="0" smtClean="0"/>
              <a:t>Are there any rates you use in real life?</a:t>
            </a:r>
          </a:p>
          <a:p>
            <a:r>
              <a:rPr lang="en-AU" dirty="0" smtClean="0"/>
              <a:t>Are rates a constant or fixed variable?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62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324" y="0"/>
            <a:ext cx="10131425" cy="1456267"/>
          </a:xfrm>
        </p:spPr>
        <p:txBody>
          <a:bodyPr/>
          <a:lstStyle/>
          <a:p>
            <a:r>
              <a:rPr lang="en-AU" smtClean="0"/>
              <a:t>Gym Time:</a:t>
            </a:r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385" y="234760"/>
            <a:ext cx="4490872" cy="6311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3735" y="1456266"/>
            <a:ext cx="589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Convert the following heart beats in 15 seconds to beats per minutes. Use the formula below to assist you.</a:t>
            </a:r>
            <a:endParaRPr lang="en-AU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8" y="4360412"/>
            <a:ext cx="6938653" cy="218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30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756" y="0"/>
            <a:ext cx="10131425" cy="1456267"/>
          </a:xfrm>
        </p:spPr>
        <p:txBody>
          <a:bodyPr/>
          <a:lstStyle/>
          <a:p>
            <a:r>
              <a:rPr lang="en-AU" u="sng" dirty="0" smtClean="0"/>
              <a:t>Heart rates:</a:t>
            </a:r>
            <a:endParaRPr lang="en-AU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56" y="4828084"/>
            <a:ext cx="8089900" cy="14732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56" y="3289929"/>
            <a:ext cx="8089900" cy="20449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5756" y="896101"/>
            <a:ext cx="95596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Heart rates are important for use to know when going to gym, as your heart rate dictates the way your body reacts to the exercise.</a:t>
            </a:r>
          </a:p>
          <a:p>
            <a:r>
              <a:rPr lang="en-AU" dirty="0" smtClean="0"/>
              <a:t>Human Respiratory systems have two state: </a:t>
            </a:r>
            <a:r>
              <a:rPr lang="en-AU" b="1" u="sng" dirty="0" smtClean="0"/>
              <a:t>Aerobic and Anaerobic</a:t>
            </a:r>
          </a:p>
          <a:p>
            <a:pPr marL="285750" indent="-285750">
              <a:buFont typeface="Arial" charset="0"/>
              <a:buChar char="•"/>
            </a:pPr>
            <a:r>
              <a:rPr lang="en-AU" u="sng" dirty="0" smtClean="0"/>
              <a:t>Aerobic </a:t>
            </a:r>
            <a:r>
              <a:rPr lang="en-AU" dirty="0" smtClean="0"/>
              <a:t> heart rates (70% to 80% of maximum) are good for stamina building</a:t>
            </a:r>
          </a:p>
          <a:p>
            <a:pPr marL="285750" indent="-285750">
              <a:buFont typeface="Arial" charset="0"/>
              <a:buChar char="•"/>
            </a:pPr>
            <a:r>
              <a:rPr lang="en-AU" u="sng" dirty="0" smtClean="0"/>
              <a:t>Anaerobic </a:t>
            </a:r>
            <a:r>
              <a:rPr lang="en-AU" dirty="0" smtClean="0"/>
              <a:t>heart rates (80% to 90% or maximum) is good for short burst high intensity recovery</a:t>
            </a:r>
          </a:p>
          <a:p>
            <a:pPr marL="285750" indent="-285750">
              <a:buFont typeface="Arial" charset="0"/>
              <a:buChar char="•"/>
            </a:pPr>
            <a:endParaRPr lang="en-AU" dirty="0"/>
          </a:p>
          <a:p>
            <a:r>
              <a:rPr lang="en-AU" dirty="0" smtClean="0"/>
              <a:t>When exercising, we have a target heart rate (</a:t>
            </a:r>
            <a:r>
              <a:rPr lang="en-AU" dirty="0" err="1" smtClean="0"/>
              <a:t>H</a:t>
            </a:r>
            <a:r>
              <a:rPr lang="en-AU" baseline="-25000" dirty="0" err="1" smtClean="0"/>
              <a:t>t</a:t>
            </a:r>
            <a:r>
              <a:rPr lang="en-AU" dirty="0" smtClean="0"/>
              <a:t>). This is our </a:t>
            </a:r>
            <a:r>
              <a:rPr lang="en-AU" u="sng" dirty="0" smtClean="0"/>
              <a:t>maximum heart rate </a:t>
            </a:r>
            <a:r>
              <a:rPr lang="en-AU" dirty="0" smtClean="0"/>
              <a:t>take our </a:t>
            </a:r>
            <a:r>
              <a:rPr lang="en-AU" u="sng" dirty="0" smtClean="0"/>
              <a:t>resting rate </a:t>
            </a:r>
            <a:r>
              <a:rPr lang="en-AU" dirty="0" smtClean="0"/>
              <a:t>multiplied by the heart rate % as a decimal (60%=0.6, 75% = 0.75 </a:t>
            </a:r>
            <a:r>
              <a:rPr lang="en-AU" dirty="0" err="1" smtClean="0"/>
              <a:t>ect</a:t>
            </a:r>
            <a:r>
              <a:rPr lang="en-AU" dirty="0" smtClean="0"/>
              <a:t>) + the </a:t>
            </a:r>
            <a:r>
              <a:rPr lang="en-AU" u="sng" dirty="0" smtClean="0"/>
              <a:t>resting rate. </a:t>
            </a:r>
          </a:p>
          <a:p>
            <a:pPr marL="285750" indent="-285750">
              <a:buFont typeface="Arial" charset="0"/>
              <a:buChar char="•"/>
            </a:pPr>
            <a:endParaRPr lang="en-AU" dirty="0"/>
          </a:p>
          <a:p>
            <a:pPr marL="285750" indent="-285750">
              <a:buFont typeface="Arial" charset="0"/>
              <a:buChar char="•"/>
            </a:pPr>
            <a:endParaRPr lang="en-AU" dirty="0" smtClean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402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95" y="-174694"/>
            <a:ext cx="10131425" cy="1456267"/>
          </a:xfrm>
        </p:spPr>
        <p:txBody>
          <a:bodyPr/>
          <a:lstStyle/>
          <a:p>
            <a:r>
              <a:rPr lang="en-AU" dirty="0" smtClean="0"/>
              <a:t>Putting it </a:t>
            </a:r>
            <a:r>
              <a:rPr lang="en-AU" smtClean="0"/>
              <a:t>into practise:</a:t>
            </a:r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275" y="853187"/>
            <a:ext cx="7711586" cy="490070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275" y="5753894"/>
            <a:ext cx="5644487" cy="10278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95" y="1610436"/>
            <a:ext cx="4029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Solve the two questions using your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7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989" y="507850"/>
            <a:ext cx="10131425" cy="1456267"/>
          </a:xfrm>
        </p:spPr>
        <p:txBody>
          <a:bodyPr/>
          <a:lstStyle/>
          <a:p>
            <a:r>
              <a:rPr lang="en-AU" smtClean="0"/>
              <a:t>Find your pulse:</a:t>
            </a:r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89" y="1964117"/>
            <a:ext cx="7784723" cy="4358316"/>
          </a:xfrm>
        </p:spPr>
      </p:pic>
      <p:sp>
        <p:nvSpPr>
          <p:cNvPr id="5" name="TextBox 4"/>
          <p:cNvSpPr txBox="1"/>
          <p:nvPr/>
        </p:nvSpPr>
        <p:spPr>
          <a:xfrm>
            <a:off x="8297839" y="1964116"/>
            <a:ext cx="3302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Find your pulse and record it for 15 seconds. Make sure you write down this value.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1592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Set up a table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09" y="3764686"/>
            <a:ext cx="10537608" cy="2058264"/>
          </a:xfrm>
        </p:spPr>
      </p:pic>
      <p:sp>
        <p:nvSpPr>
          <p:cNvPr id="5" name="TextBox 4"/>
          <p:cNvSpPr txBox="1"/>
          <p:nvPr/>
        </p:nvSpPr>
        <p:spPr>
          <a:xfrm>
            <a:off x="442616" y="2287358"/>
            <a:ext cx="110239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dirty="0" smtClean="0"/>
              <a:t>In your notebook, fill in the table with your name and then find two friends to group up with.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 smtClean="0"/>
              <a:t>Stick in your groups as you walk to the nearest stairs. 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 smtClean="0"/>
              <a:t>Walk up and down the stairs for two minutes, then measure your heart rate. Fill in column two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 smtClean="0"/>
              <a:t>Record your pulse at every interval after exercise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2894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Scatterplot construction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41300"/>
            <a:ext cx="10131425" cy="3649133"/>
          </a:xfrm>
        </p:spPr>
        <p:txBody>
          <a:bodyPr/>
          <a:lstStyle/>
          <a:p>
            <a:r>
              <a:rPr lang="en-AU" dirty="0" smtClean="0"/>
              <a:t>In your groups, construct a set axes with time on the bottom, and heart rate on the vertical like below.</a:t>
            </a:r>
          </a:p>
          <a:p>
            <a:r>
              <a:rPr lang="en-AU" dirty="0" smtClean="0"/>
              <a:t>Using different colours or symbols, plot your heart rates at the minute markers</a:t>
            </a:r>
            <a:endParaRPr lang="en-AU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88225"/>
              </p:ext>
            </p:extLst>
          </p:nvPr>
        </p:nvGraphicFramePr>
        <p:xfrm>
          <a:off x="1489881" y="2887132"/>
          <a:ext cx="5675194" cy="3540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54655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 discussion</a:t>
            </a:r>
            <a:endParaRPr lang="en-AU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34" y="2065866"/>
            <a:ext cx="9919932" cy="3993739"/>
          </a:xfrm>
        </p:spPr>
      </p:pic>
    </p:spTree>
    <p:extLst>
      <p:ext uri="{BB962C8B-B14F-4D97-AF65-F5344CB8AC3E}">
        <p14:creationId xmlns:p14="http://schemas.microsoft.com/office/powerpoint/2010/main" val="13213757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1404</TotalTime>
  <Words>412</Words>
  <Application>Microsoft Macintosh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Arial</vt:lpstr>
      <vt:lpstr>Celestial</vt:lpstr>
      <vt:lpstr>Rates Introduction</vt:lpstr>
      <vt:lpstr>What are rates?</vt:lpstr>
      <vt:lpstr>Brainstorm</vt:lpstr>
      <vt:lpstr>Gym Time:</vt:lpstr>
      <vt:lpstr>Heart rates:</vt:lpstr>
      <vt:lpstr>Putting it into practise:</vt:lpstr>
      <vt:lpstr>Find your pulse:</vt:lpstr>
      <vt:lpstr>Set up a table</vt:lpstr>
      <vt:lpstr>Scatterplot construction</vt:lpstr>
      <vt:lpstr>Class discussion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Introduction</dc:title>
  <dc:creator>Travis Power</dc:creator>
  <cp:lastModifiedBy>Travis Power</cp:lastModifiedBy>
  <cp:revision>8</cp:revision>
  <dcterms:created xsi:type="dcterms:W3CDTF">2018-02-08T01:04:37Z</dcterms:created>
  <dcterms:modified xsi:type="dcterms:W3CDTF">2018-02-13T23:52:32Z</dcterms:modified>
</cp:coreProperties>
</file>
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4"/>
  </p:notesMasterIdLst>
  <p:sldIdLst>
    <p:sldId id="298" r:id="rId2"/>
    <p:sldId id="266" r:id="rId3"/>
    <p:sldId id="267" r:id="rId4"/>
    <p:sldId id="268" r:id="rId5"/>
    <p:sldId id="290" r:id="rId6"/>
    <p:sldId id="286" r:id="rId7"/>
    <p:sldId id="291" r:id="rId8"/>
    <p:sldId id="292" r:id="rId9"/>
    <p:sldId id="293" r:id="rId10"/>
    <p:sldId id="294" r:id="rId11"/>
    <p:sldId id="295" r:id="rId12"/>
    <p:sldId id="29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72798" autoAdjust="0"/>
  </p:normalViewPr>
  <p:slideViewPr>
    <p:cSldViewPr snapToGrid="0" snapToObjects="1">
      <p:cViewPr varScale="1">
        <p:scale>
          <a:sx n="67" d="100"/>
          <a:sy n="67" d="100"/>
        </p:scale>
        <p:origin x="22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30/04/2018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775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357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965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T5jRdhvu4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>
            <a:hlinkClick r:id="" action="ppaction://media"/>
            <a:extLst>
              <a:ext uri="{FF2B5EF4-FFF2-40B4-BE49-F238E27FC236}">
                <a16:creationId xmlns:a16="http://schemas.microsoft.com/office/drawing/2014/main" id="{22753EEC-4894-4067-8CA0-15819C13D8A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76366" y="300039"/>
            <a:ext cx="10439267" cy="58720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49855F-21F8-4049-A170-EB24474579C6}"/>
              </a:ext>
            </a:extLst>
          </p:cNvPr>
          <p:cNvSpPr/>
          <p:nvPr/>
        </p:nvSpPr>
        <p:spPr>
          <a:xfrm>
            <a:off x="3222457" y="6240778"/>
            <a:ext cx="5747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https://www.youtube.com/watch?v=RT5jRdhvu4k</a:t>
            </a:r>
          </a:p>
        </p:txBody>
      </p:sp>
    </p:spTree>
    <p:extLst>
      <p:ext uri="{BB962C8B-B14F-4D97-AF65-F5344CB8AC3E}">
        <p14:creationId xmlns:p14="http://schemas.microsoft.com/office/powerpoint/2010/main" val="41865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Units of Energy – Joules, </a:t>
            </a:r>
            <a:r>
              <a:rPr lang="en-US" sz="5400" b="1" dirty="0" err="1">
                <a:solidFill>
                  <a:srgbClr val="0070C0"/>
                </a:solidFill>
                <a:latin typeface="Kiwi School Handwriting" panose="00000500000000000000" pitchFamily="2" charset="0"/>
              </a:rPr>
              <a:t>KiloJoules</a:t>
            </a:r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, and Calories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37" y="2057401"/>
            <a:ext cx="11129963" cy="443484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AU" sz="2800" b="1" dirty="0"/>
              <a:t>Dot Points</a:t>
            </a:r>
            <a:endParaRPr lang="en-AU" sz="2800" dirty="0"/>
          </a:p>
          <a:p>
            <a:pPr marL="457200" lvl="1" indent="0">
              <a:buNone/>
            </a:pPr>
            <a:r>
              <a:rPr lang="en-AU" sz="2800" dirty="0"/>
              <a:t>1.3.16 Use units of energy for foods, including kilojoules and calories</a:t>
            </a:r>
          </a:p>
          <a:p>
            <a:pPr marL="457200" lvl="1" indent="0">
              <a:buNone/>
            </a:pPr>
            <a:endParaRPr lang="en-AU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AU" sz="2800" b="1" dirty="0"/>
              <a:t>Contexts</a:t>
            </a:r>
          </a:p>
          <a:p>
            <a:pPr lvl="1">
              <a:buFontTx/>
              <a:buChar char="-"/>
            </a:pPr>
            <a:r>
              <a:rPr lang="en-AU" sz="2800" dirty="0"/>
              <a:t>Compare the nutritional energy between different types and amounts of foods and drinks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71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01/04/2018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Units of Energy?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957A-3F85-4204-8D9D-D1E88A4321E1}"/>
              </a:ext>
            </a:extLst>
          </p:cNvPr>
          <p:cNvSpPr txBox="1"/>
          <p:nvPr/>
        </p:nvSpPr>
        <p:spPr>
          <a:xfrm>
            <a:off x="2113523" y="1511224"/>
            <a:ext cx="94998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Energy is needed to maintain our bodies and allow us to perform physical activity. The food and drink we consume provides us with this energy.</a:t>
            </a:r>
          </a:p>
          <a:p>
            <a:endParaRPr lang="en-AU" sz="2400" b="1" u="sng" dirty="0"/>
          </a:p>
          <a:p>
            <a:r>
              <a:rPr lang="en-AU" sz="2400" dirty="0"/>
              <a:t>The energy provided by food is measured in joules, or kilojoules, (metric units) or in calories. </a:t>
            </a:r>
          </a:p>
          <a:p>
            <a:endParaRPr lang="en-AU" sz="2400" dirty="0"/>
          </a:p>
          <a:p>
            <a:r>
              <a:rPr lang="en-AU" sz="2400" dirty="0"/>
              <a:t>1 calorie ≈ 4.184 kilojoules, (kJ)</a:t>
            </a:r>
          </a:p>
          <a:p>
            <a:r>
              <a:rPr lang="en-AU" sz="2400" dirty="0"/>
              <a:t>1 kilojoule = 1kJ = 1000 joules ≈ 0.239 calories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0A8E41-47D3-4711-B7E0-7381642D2D5B}"/>
              </a:ext>
            </a:extLst>
          </p:cNvPr>
          <p:cNvSpPr txBox="1"/>
          <p:nvPr/>
        </p:nvSpPr>
        <p:spPr>
          <a:xfrm>
            <a:off x="95801" y="1511224"/>
            <a:ext cx="1823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energy?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92E299-88FB-41CD-B3A5-25AB4D27A961}"/>
              </a:ext>
            </a:extLst>
          </p:cNvPr>
          <p:cNvSpPr txBox="1"/>
          <p:nvPr/>
        </p:nvSpPr>
        <p:spPr>
          <a:xfrm>
            <a:off x="95800" y="3247334"/>
            <a:ext cx="18237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is energy from food measured?</a:t>
            </a:r>
          </a:p>
        </p:txBody>
      </p:sp>
    </p:spTree>
    <p:extLst>
      <p:ext uri="{BB962C8B-B14F-4D97-AF65-F5344CB8AC3E}">
        <p14:creationId xmlns:p14="http://schemas.microsoft.com/office/powerpoint/2010/main" val="365370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33FF-94B4-45B1-91A4-7D638650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G</a:t>
            </a:r>
            <a:r>
              <a:rPr lang="en-GB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uided</a:t>
            </a:r>
            <a:r>
              <a:rPr lang="en-GB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 Practice</a:t>
            </a:r>
            <a:endParaRPr lang="en-GB" sz="5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E90397-76AA-4688-8F2F-B4D422140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394" y="2193925"/>
            <a:ext cx="10067211" cy="4024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196D59-D11C-45A3-93DA-523C0019500B}"/>
              </a:ext>
            </a:extLst>
          </p:cNvPr>
          <p:cNvSpPr txBox="1"/>
          <p:nvPr/>
        </p:nvSpPr>
        <p:spPr>
          <a:xfrm>
            <a:off x="3456563" y="3027402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4 kJ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EC293-D5E8-4E07-8FE5-0F2635F32E88}"/>
              </a:ext>
            </a:extLst>
          </p:cNvPr>
          <p:cNvSpPr txBox="1"/>
          <p:nvPr/>
        </p:nvSpPr>
        <p:spPr>
          <a:xfrm>
            <a:off x="7200900" y="3029545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16 kJ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B5A4F-16AF-48BC-8BF7-9B91595C8743}"/>
              </a:ext>
            </a:extLst>
          </p:cNvPr>
          <p:cNvSpPr txBox="1"/>
          <p:nvPr/>
        </p:nvSpPr>
        <p:spPr>
          <a:xfrm>
            <a:off x="10454520" y="3027402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1 kJ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0439F-88A5-41C5-B5C5-139D12452A55}"/>
              </a:ext>
            </a:extLst>
          </p:cNvPr>
          <p:cNvSpPr txBox="1"/>
          <p:nvPr/>
        </p:nvSpPr>
        <p:spPr>
          <a:xfrm>
            <a:off x="3608963" y="3533258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4184 kJ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F72E1-79CE-4191-B0E6-C8277A8ADD62}"/>
              </a:ext>
            </a:extLst>
          </p:cNvPr>
          <p:cNvSpPr txBox="1"/>
          <p:nvPr/>
        </p:nvSpPr>
        <p:spPr>
          <a:xfrm>
            <a:off x="7200899" y="3533258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20 083 kJ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2ED14-232F-4C44-995C-B61AC2228ECE}"/>
              </a:ext>
            </a:extLst>
          </p:cNvPr>
          <p:cNvSpPr txBox="1"/>
          <p:nvPr/>
        </p:nvSpPr>
        <p:spPr>
          <a:xfrm>
            <a:off x="10792063" y="3533258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64 582 kJ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EE33A-541C-4FDE-BAE6-3A095E0B7F32}"/>
              </a:ext>
            </a:extLst>
          </p:cNvPr>
          <p:cNvSpPr txBox="1"/>
          <p:nvPr/>
        </p:nvSpPr>
        <p:spPr>
          <a:xfrm>
            <a:off x="3343513" y="5121035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1.2 </a:t>
            </a:r>
            <a:r>
              <a:rPr lang="en-AU" b="1" dirty="0" err="1">
                <a:solidFill>
                  <a:schemeClr val="accent1"/>
                </a:solidFill>
              </a:rPr>
              <a:t>cal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BD984C-3A7E-443E-BE6B-0840460B06B8}"/>
              </a:ext>
            </a:extLst>
          </p:cNvPr>
          <p:cNvSpPr txBox="1"/>
          <p:nvPr/>
        </p:nvSpPr>
        <p:spPr>
          <a:xfrm>
            <a:off x="7156489" y="5088769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5.3 </a:t>
            </a:r>
            <a:r>
              <a:rPr lang="en-AU" b="1" dirty="0" err="1">
                <a:solidFill>
                  <a:schemeClr val="accent1"/>
                </a:solidFill>
              </a:rPr>
              <a:t>cal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B73446-B34E-473D-8AA1-2D8EDEC2B7E3}"/>
              </a:ext>
            </a:extLst>
          </p:cNvPr>
          <p:cNvSpPr txBox="1"/>
          <p:nvPr/>
        </p:nvSpPr>
        <p:spPr>
          <a:xfrm>
            <a:off x="10559295" y="5088769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0.3 </a:t>
            </a:r>
            <a:r>
              <a:rPr lang="en-AU" b="1" dirty="0" err="1">
                <a:solidFill>
                  <a:schemeClr val="accent1"/>
                </a:solidFill>
              </a:rPr>
              <a:t>cal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9DC8DF-1CA1-42BA-8366-6D3199C002B9}"/>
              </a:ext>
            </a:extLst>
          </p:cNvPr>
          <p:cNvSpPr txBox="1"/>
          <p:nvPr/>
        </p:nvSpPr>
        <p:spPr>
          <a:xfrm>
            <a:off x="3544133" y="5610501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2.4 </a:t>
            </a:r>
            <a:r>
              <a:rPr lang="en-AU" b="1" dirty="0" err="1">
                <a:solidFill>
                  <a:schemeClr val="accent1"/>
                </a:solidFill>
              </a:rPr>
              <a:t>cal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AF36F3-A161-4CE1-8CC9-DED6CD4B9698}"/>
              </a:ext>
            </a:extLst>
          </p:cNvPr>
          <p:cNvSpPr txBox="1"/>
          <p:nvPr/>
        </p:nvSpPr>
        <p:spPr>
          <a:xfrm>
            <a:off x="7173752" y="5592482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0.4 </a:t>
            </a:r>
            <a:r>
              <a:rPr lang="en-AU" b="1" dirty="0" err="1">
                <a:solidFill>
                  <a:schemeClr val="accent1"/>
                </a:solidFill>
              </a:rPr>
              <a:t>cal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9CD2EE-55BA-4E1D-84CB-72B4A1DD1C09}"/>
              </a:ext>
            </a:extLst>
          </p:cNvPr>
          <p:cNvSpPr txBox="1"/>
          <p:nvPr/>
        </p:nvSpPr>
        <p:spPr>
          <a:xfrm>
            <a:off x="10774738" y="5560216"/>
            <a:ext cx="135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</a:rPr>
              <a:t>119.5 </a:t>
            </a:r>
            <a:r>
              <a:rPr lang="en-AU" b="1" dirty="0" err="1">
                <a:solidFill>
                  <a:schemeClr val="accent1"/>
                </a:solidFill>
              </a:rPr>
              <a:t>cal</a:t>
            </a:r>
            <a:endParaRPr lang="en-GB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35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D9BA69-BBE6-442D-87E9-A3BC3BD60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69" y="1965820"/>
            <a:ext cx="10077450" cy="448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1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13DA38-F126-464F-B839-4951C95FD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4" y="1945634"/>
            <a:ext cx="10263187" cy="427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6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09F45-EF34-47D0-ACD3-93B1FBBE6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9" y="2057401"/>
            <a:ext cx="9920286" cy="443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4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2362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0E44B-E504-4ED7-9DDB-93E4DB371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69" y="1160571"/>
            <a:ext cx="7250907" cy="565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7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2362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5A7DF-C707-4F39-8423-6474C5C0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68" y="1938532"/>
            <a:ext cx="10941844" cy="428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4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2362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17FE0B-7DF9-4638-8ADE-D7988E75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111" y="1256485"/>
            <a:ext cx="8167322" cy="53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6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2362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F62DF-182C-4969-83D5-A617D1A01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28" y="1463686"/>
            <a:ext cx="10606844" cy="507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84756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1228</TotalTime>
  <Words>195</Words>
  <Application>Microsoft Office PowerPoint</Application>
  <PresentationFormat>Widescreen</PresentationFormat>
  <Paragraphs>61</Paragraphs>
  <Slides>12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Kiwi School Handwriting</vt:lpstr>
      <vt:lpstr>BSC Theme</vt:lpstr>
      <vt:lpstr>PowerPoint Presentation</vt:lpstr>
      <vt:lpstr>Units of Energy – Joules, KiloJoules, and Calories</vt:lpstr>
      <vt:lpstr>Learning Outcomes</vt:lpstr>
      <vt:lpstr>PowerPoint Presentation</vt:lpstr>
      <vt:lpstr>Guided Practice</vt:lpstr>
      <vt:lpstr>Task</vt:lpstr>
      <vt:lpstr>Task</vt:lpstr>
      <vt:lpstr>Task</vt:lpstr>
      <vt:lpstr>Task</vt:lpstr>
      <vt:lpstr>Task</vt:lpstr>
      <vt:lpstr>Task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Magdeline LUM</cp:lastModifiedBy>
  <cp:revision>61</cp:revision>
  <dcterms:created xsi:type="dcterms:W3CDTF">2018-02-13T05:48:53Z</dcterms:created>
  <dcterms:modified xsi:type="dcterms:W3CDTF">2018-04-30T12:44:22Z</dcterms:modified>
</cp:coreProperties>
</file>
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notesMasterIdLst>
    <p:notesMasterId r:id="rId6"/>
  </p:notesMasterIdLst>
  <p:sldIdLst>
    <p:sldId id="266" r:id="rId2"/>
    <p:sldId id="267" r:id="rId3"/>
    <p:sldId id="286" r:id="rId4"/>
    <p:sldId id="293"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2"/>
    <p:restoredTop sz="72798" autoAdjust="0"/>
  </p:normalViewPr>
  <p:slideViewPr>
    <p:cSldViewPr snapToGrid="0" snapToObjects="1">
      <p:cViewPr>
        <p:scale>
          <a:sx n="67" d="100"/>
          <a:sy n="67" d="100"/>
        </p:scale>
        <p:origin x="780"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F2789E-5AC8-448E-8E6F-EC7423D7B148}" type="datetimeFigureOut">
              <a:rPr lang="en-GB" smtClean="0"/>
              <a:t>03/05/2018</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85D6DF-A159-4F50-B9AF-8F30B100FF37}" type="slidenum">
              <a:rPr lang="en-GB" smtClean="0"/>
              <a:t>‹#›</a:t>
            </a:fld>
            <a:endParaRPr lang="en-GB"/>
          </a:p>
        </p:txBody>
      </p:sp>
    </p:spTree>
    <p:extLst>
      <p:ext uri="{BB962C8B-B14F-4D97-AF65-F5344CB8AC3E}">
        <p14:creationId xmlns:p14="http://schemas.microsoft.com/office/powerpoint/2010/main" val="3426226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C85D6DF-A159-4F50-B9AF-8F30B100FF37}" type="slidenum">
              <a:rPr lang="en-GB" smtClean="0"/>
              <a:t>1</a:t>
            </a:fld>
            <a:endParaRPr lang="en-GB"/>
          </a:p>
        </p:txBody>
      </p:sp>
    </p:spTree>
    <p:extLst>
      <p:ext uri="{BB962C8B-B14F-4D97-AF65-F5344CB8AC3E}">
        <p14:creationId xmlns:p14="http://schemas.microsoft.com/office/powerpoint/2010/main" val="1986326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C85D6DF-A159-4F50-B9AF-8F30B100FF37}" type="slidenum">
              <a:rPr lang="en-GB" smtClean="0"/>
              <a:t>2</a:t>
            </a:fld>
            <a:endParaRPr lang="en-GB"/>
          </a:p>
        </p:txBody>
      </p:sp>
    </p:spTree>
    <p:extLst>
      <p:ext uri="{BB962C8B-B14F-4D97-AF65-F5344CB8AC3E}">
        <p14:creationId xmlns:p14="http://schemas.microsoft.com/office/powerpoint/2010/main" val="15467750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EEBC23BB-2070-D146-BD10-A01B23AF686B}" type="datetimeFigureOut">
              <a:rPr lang="en-AU" smtClean="0"/>
              <a:t>3/05/2018</a:t>
            </a:fld>
            <a:endParaRPr lang="en-AU"/>
          </a:p>
        </p:txBody>
      </p:sp>
      <p:sp>
        <p:nvSpPr>
          <p:cNvPr id="5" name="Footer Placeholder 4"/>
          <p:cNvSpPr>
            <a:spLocks noGrp="1"/>
          </p:cNvSpPr>
          <p:nvPr>
            <p:ph type="ftr" sz="quarter" idx="11"/>
          </p:nvPr>
        </p:nvSpPr>
        <p:spPr>
          <a:xfrm>
            <a:off x="1371600" y="4323845"/>
            <a:ext cx="6400800" cy="365125"/>
          </a:xfrm>
        </p:spPr>
        <p:txBody>
          <a:bodyPr/>
          <a:lstStyle/>
          <a:p>
            <a:endParaRPr lang="en-AU"/>
          </a:p>
        </p:txBody>
      </p:sp>
      <p:sp>
        <p:nvSpPr>
          <p:cNvPr id="6" name="Slide Number Placeholder 5"/>
          <p:cNvSpPr>
            <a:spLocks noGrp="1"/>
          </p:cNvSpPr>
          <p:nvPr>
            <p:ph type="sldNum" sz="quarter" idx="12"/>
          </p:nvPr>
        </p:nvSpPr>
        <p:spPr>
          <a:xfrm>
            <a:off x="8077200" y="1430866"/>
            <a:ext cx="2743200" cy="365125"/>
          </a:xfrm>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057807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BC23BB-2070-D146-BD10-A01B23AF686B}" type="datetimeFigureOut">
              <a:rPr lang="en-AU" smtClean="0"/>
              <a:t>3/05/2018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5821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EEBC23BB-2070-D146-BD10-A01B23AF686B}" type="datetimeFigureOut">
              <a:rPr lang="en-AU" smtClean="0"/>
              <a:t>3/05/2018</a:t>
            </a:fld>
            <a:endParaRPr lang="en-AU"/>
          </a:p>
        </p:txBody>
      </p:sp>
      <p:sp>
        <p:nvSpPr>
          <p:cNvPr id="5" name="Footer Placeholder 4"/>
          <p:cNvSpPr>
            <a:spLocks noGrp="1"/>
          </p:cNvSpPr>
          <p:nvPr>
            <p:ph type="ftr" sz="quarter" idx="11"/>
          </p:nvPr>
        </p:nvSpPr>
        <p:spPr>
          <a:xfrm>
            <a:off x="685800" y="381001"/>
            <a:ext cx="6991492" cy="364065"/>
          </a:xfrm>
        </p:spPr>
        <p:txBody>
          <a:bodyPr/>
          <a:lstStyle/>
          <a:p>
            <a:endParaRPr lang="en-AU"/>
          </a:p>
        </p:txBody>
      </p:sp>
      <p:sp>
        <p:nvSpPr>
          <p:cNvPr id="6" name="Slide Number Placeholder 5"/>
          <p:cNvSpPr>
            <a:spLocks noGrp="1"/>
          </p:cNvSpPr>
          <p:nvPr>
            <p:ph type="sldNum" sz="quarter" idx="12"/>
          </p:nvPr>
        </p:nvSpPr>
        <p:spPr>
          <a:xfrm>
            <a:off x="10862452" y="381000"/>
            <a:ext cx="643748" cy="365125"/>
          </a:xfrm>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210481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BC23BB-2070-D146-BD10-A01B23AF686B}" type="datetimeFigureOut">
              <a:rPr lang="en-AU" smtClean="0"/>
              <a:t>3/05/2018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500099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BC23BB-2070-D146-BD10-A01B23AF686B}" type="datetimeFigureOut">
              <a:rPr lang="en-AU" smtClean="0"/>
              <a:t>3/05/2018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1150447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BC23BB-2070-D146-BD10-A01B23AF686B}" type="datetimeFigureOut">
              <a:rPr lang="en-AU" smtClean="0"/>
              <a:t>3/05/2018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158774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BC23BB-2070-D146-BD10-A01B23AF686B}" type="datetimeFigureOut">
              <a:rPr lang="en-AU" smtClean="0"/>
              <a:t>3/05/2018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636279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BC23BB-2070-D146-BD10-A01B23AF686B}" type="datetimeFigureOut">
              <a:rPr lang="en-AU" smtClean="0"/>
              <a:t>3/05/2018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114019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BC23BB-2070-D146-BD10-A01B23AF686B}" type="datetimeFigureOut">
              <a:rPr lang="en-AU" smtClean="0"/>
              <a:t>3/05/2018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581268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BC23BB-2070-D146-BD10-A01B23AF686B}" type="datetimeFigureOut">
              <a:rPr lang="en-AU" smtClean="0"/>
              <a:t>3/05/2018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146349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EBC23BB-2070-D146-BD10-A01B23AF686B}" type="datetimeFigureOut">
              <a:rPr lang="en-AU" smtClean="0"/>
              <a:t>3/05/2018</a:t>
            </a:fld>
            <a:endParaRPr lang="en-AU"/>
          </a:p>
        </p:txBody>
      </p:sp>
      <p:sp>
        <p:nvSpPr>
          <p:cNvPr id="6" name="Footer Placeholder 5"/>
          <p:cNvSpPr>
            <a:spLocks noGrp="1"/>
          </p:cNvSpPr>
          <p:nvPr>
            <p:ph type="ftr" sz="quarter" idx="11"/>
          </p:nvPr>
        </p:nvSpPr>
        <p:spPr>
          <a:xfrm>
            <a:off x="685800" y="379941"/>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9678209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EBC23BB-2070-D146-BD10-A01B23AF686B}" type="datetimeFigureOut">
              <a:rPr lang="en-AU" smtClean="0"/>
              <a:t>3/05/2018</a:t>
            </a:fld>
            <a:endParaRPr lang="en-AU"/>
          </a:p>
        </p:txBody>
      </p:sp>
      <p:sp>
        <p:nvSpPr>
          <p:cNvPr id="6" name="Footer Placeholder 5"/>
          <p:cNvSpPr>
            <a:spLocks noGrp="1"/>
          </p:cNvSpPr>
          <p:nvPr>
            <p:ph type="ftr" sz="quarter" idx="11"/>
          </p:nvPr>
        </p:nvSpPr>
        <p:spPr>
          <a:xfrm>
            <a:off x="685800" y="379941"/>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9D89D79F-077F-204B-9403-1DA3DE99CFD3}" type="slidenum">
              <a:rPr lang="en-AU" smtClean="0"/>
              <a:t>‹#›</a:t>
            </a:fld>
            <a:endParaRPr lang="en-AU"/>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0310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EEBC23BB-2070-D146-BD10-A01B23AF686B}" type="datetimeFigureOut">
              <a:rPr lang="en-AU" smtClean="0"/>
              <a:t>3/05/2018</a:t>
            </a:fld>
            <a:endParaRPr lang="en-AU"/>
          </a:p>
        </p:txBody>
      </p:sp>
      <p:sp>
        <p:nvSpPr>
          <p:cNvPr id="6" name="Footer Placeholder 5"/>
          <p:cNvSpPr>
            <a:spLocks noGrp="1"/>
          </p:cNvSpPr>
          <p:nvPr>
            <p:ph type="ftr" sz="quarter" idx="11"/>
          </p:nvPr>
        </p:nvSpPr>
        <p:spPr>
          <a:xfrm>
            <a:off x="685800" y="378883"/>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41245804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EEBC23BB-2070-D146-BD10-A01B23AF686B}" type="datetimeFigureOut">
              <a:rPr lang="en-AU" smtClean="0"/>
              <a:t>3/05/2018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702425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EEBC23BB-2070-D146-BD10-A01B23AF686B}" type="datetimeFigureOut">
              <a:rPr lang="en-AU" smtClean="0"/>
              <a:t>3/05/2018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4533065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BC23BB-2070-D146-BD10-A01B23AF686B}" type="datetimeFigureOut">
              <a:rPr lang="en-AU" smtClean="0"/>
              <a:t>3/05/2018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776326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EEBC23BB-2070-D146-BD10-A01B23AF686B}" type="datetimeFigureOut">
              <a:rPr lang="en-AU" smtClean="0"/>
              <a:t>3/05/2018</a:t>
            </a:fld>
            <a:endParaRPr lang="en-AU"/>
          </a:p>
        </p:txBody>
      </p:sp>
      <p:sp>
        <p:nvSpPr>
          <p:cNvPr id="5" name="Footer Placeholder 4"/>
          <p:cNvSpPr>
            <a:spLocks noGrp="1"/>
          </p:cNvSpPr>
          <p:nvPr>
            <p:ph type="ftr" sz="quarter" idx="11"/>
          </p:nvPr>
        </p:nvSpPr>
        <p:spPr>
          <a:xfrm>
            <a:off x="685800" y="381000"/>
            <a:ext cx="6991492" cy="365125"/>
          </a:xfrm>
        </p:spPr>
        <p:txBody>
          <a:bodyPr/>
          <a:lstStyle/>
          <a:p>
            <a:endParaRPr lang="en-AU"/>
          </a:p>
        </p:txBody>
      </p:sp>
      <p:sp>
        <p:nvSpPr>
          <p:cNvPr id="6" name="Slide Number Placeholder 5"/>
          <p:cNvSpPr>
            <a:spLocks noGrp="1"/>
          </p:cNvSpPr>
          <p:nvPr>
            <p:ph type="sldNum" sz="quarter" idx="12"/>
          </p:nvPr>
        </p:nvSpPr>
        <p:spPr>
          <a:xfrm>
            <a:off x="10862452" y="381000"/>
            <a:ext cx="643748" cy="365125"/>
          </a:xfrm>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796092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EBC23BB-2070-D146-BD10-A01B23AF686B}" type="datetimeFigureOut">
              <a:rPr lang="en-AU" smtClean="0"/>
              <a:t>3/05/2018</a:t>
            </a:fld>
            <a:endParaRPr lang="en-AU"/>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89D79F-077F-204B-9403-1DA3DE99CFD3}" type="slidenum">
              <a:rPr lang="en-AU" smtClean="0"/>
              <a:t>‹#›</a:t>
            </a:fld>
            <a:endParaRPr lang="en-AU"/>
          </a:p>
        </p:txBody>
      </p:sp>
    </p:spTree>
    <p:extLst>
      <p:ext uri="{BB962C8B-B14F-4D97-AF65-F5344CB8AC3E}">
        <p14:creationId xmlns:p14="http://schemas.microsoft.com/office/powerpoint/2010/main" val="283675412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deconomiablog.blogspot.com/2014/02/el-indice-big-mac-y-una-cerveza-para.html" TargetMode="External"/><Relationship Id="rId7" Type="http://schemas.openxmlformats.org/officeDocument/2006/relationships/hyperlink" Target="https://creativecommons.org/licenses/by/2.0/" TargetMode="Externa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hyperlink" Target="http://ipkitten.blogspot.com/2015/09/breaking-news-full-decision-out-in.html" TargetMode="External"/><Relationship Id="rId5" Type="http://schemas.openxmlformats.org/officeDocument/2006/relationships/image" Target="../media/image5.jpg"/><Relationship Id="rId4" Type="http://schemas.openxmlformats.org/officeDocument/2006/relationships/hyperlink" Target="https://creativecommons.org/licenses/by-sa/3.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42744-6AE1-4460-BB81-220391B100E6}"/>
              </a:ext>
            </a:extLst>
          </p:cNvPr>
          <p:cNvSpPr>
            <a:spLocks noGrp="1"/>
          </p:cNvSpPr>
          <p:nvPr>
            <p:ph type="ctrTitle"/>
          </p:nvPr>
        </p:nvSpPr>
        <p:spPr/>
        <p:txBody>
          <a:bodyPr>
            <a:normAutofit/>
          </a:bodyPr>
          <a:lstStyle/>
          <a:p>
            <a:r>
              <a:rPr lang="en-US" sz="5400" b="1" dirty="0">
                <a:solidFill>
                  <a:srgbClr val="0070C0"/>
                </a:solidFill>
                <a:latin typeface="Kiwi School Handwriting" panose="00000500000000000000" pitchFamily="2" charset="0"/>
              </a:rPr>
              <a:t>Units of Energy – Which Burger is Better?</a:t>
            </a:r>
            <a:endParaRPr lang="en-GB" sz="5400" dirty="0"/>
          </a:p>
        </p:txBody>
      </p:sp>
      <p:sp>
        <p:nvSpPr>
          <p:cNvPr id="3" name="Subtitle 2">
            <a:extLst>
              <a:ext uri="{FF2B5EF4-FFF2-40B4-BE49-F238E27FC236}">
                <a16:creationId xmlns:a16="http://schemas.microsoft.com/office/drawing/2014/main" id="{B1CE286F-EE8D-4E43-8AA7-04B4265BF31F}"/>
              </a:ext>
            </a:extLst>
          </p:cNvPr>
          <p:cNvSpPr>
            <a:spLocks noGrp="1"/>
          </p:cNvSpPr>
          <p:nvPr>
            <p:ph type="subTitle" idx="1"/>
          </p:nvPr>
        </p:nvSpPr>
        <p:spPr/>
        <p:txBody>
          <a:bodyPr>
            <a:normAutofit fontScale="92500" lnSpcReduction="10000"/>
          </a:bodyPr>
          <a:lstStyle/>
          <a:p>
            <a:r>
              <a:rPr lang="en-AU" sz="2000" b="1" dirty="0">
                <a:solidFill>
                  <a:schemeClr val="accent2">
                    <a:lumMod val="75000"/>
                  </a:schemeClr>
                </a:solidFill>
                <a:latin typeface="Kiwi School Handwriting" panose="00000500000000000000"/>
              </a:rPr>
              <a:t>Miss Lum </a:t>
            </a:r>
          </a:p>
          <a:p>
            <a:r>
              <a:rPr lang="en-AU" sz="2000" b="1" dirty="0">
                <a:solidFill>
                  <a:schemeClr val="accent2">
                    <a:lumMod val="75000"/>
                  </a:schemeClr>
                </a:solidFill>
                <a:latin typeface="Kiwi School Handwriting" panose="00000500000000000000"/>
              </a:rPr>
              <a:t>Year </a:t>
            </a:r>
            <a:r>
              <a:rPr lang="en-AU" b="1" dirty="0">
                <a:solidFill>
                  <a:schemeClr val="accent2">
                    <a:lumMod val="75000"/>
                  </a:schemeClr>
                </a:solidFill>
                <a:latin typeface="Kiwi School Handwriting" panose="00000500000000000000"/>
              </a:rPr>
              <a:t>11 Essentials</a:t>
            </a:r>
            <a:endParaRPr lang="en-GB" sz="2000" b="1" dirty="0">
              <a:solidFill>
                <a:schemeClr val="accent2">
                  <a:lumMod val="75000"/>
                </a:schemeClr>
              </a:solidFill>
              <a:latin typeface="Kiwi School Handwriting" panose="00000500000000000000"/>
            </a:endParaRPr>
          </a:p>
          <a:p>
            <a:endParaRPr lang="en-GB" dirty="0"/>
          </a:p>
        </p:txBody>
      </p:sp>
    </p:spTree>
    <p:extLst>
      <p:ext uri="{BB962C8B-B14F-4D97-AF65-F5344CB8AC3E}">
        <p14:creationId xmlns:p14="http://schemas.microsoft.com/office/powerpoint/2010/main" val="1892862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6406D-1B0F-4A8E-9995-B02B2CB3CA2D}"/>
              </a:ext>
            </a:extLst>
          </p:cNvPr>
          <p:cNvSpPr>
            <a:spLocks noGrp="1"/>
          </p:cNvSpPr>
          <p:nvPr>
            <p:ph type="title"/>
          </p:nvPr>
        </p:nvSpPr>
        <p:spPr/>
        <p:txBody>
          <a:bodyPr>
            <a:normAutofit/>
          </a:bodyPr>
          <a:lstStyle/>
          <a:p>
            <a:r>
              <a:rPr lang="en-AU" sz="5400" b="1" dirty="0">
                <a:solidFill>
                  <a:schemeClr val="accent2">
                    <a:lumMod val="75000"/>
                  </a:schemeClr>
                </a:solidFill>
                <a:latin typeface="Kiwi School Handwriting"/>
              </a:rPr>
              <a:t>Learning Outcomes</a:t>
            </a:r>
            <a:endParaRPr lang="en-GB" sz="5400" b="1" dirty="0">
              <a:solidFill>
                <a:schemeClr val="accent2">
                  <a:lumMod val="75000"/>
                </a:schemeClr>
              </a:solidFill>
              <a:latin typeface="Kiwi School Handwriting"/>
            </a:endParaRPr>
          </a:p>
        </p:txBody>
      </p:sp>
      <p:sp>
        <p:nvSpPr>
          <p:cNvPr id="3" name="Content Placeholder 2">
            <a:extLst>
              <a:ext uri="{FF2B5EF4-FFF2-40B4-BE49-F238E27FC236}">
                <a16:creationId xmlns:a16="http://schemas.microsoft.com/office/drawing/2014/main" id="{7E691107-7794-4BDC-A667-DF76D18C9352}"/>
              </a:ext>
            </a:extLst>
          </p:cNvPr>
          <p:cNvSpPr>
            <a:spLocks noGrp="1"/>
          </p:cNvSpPr>
          <p:nvPr>
            <p:ph idx="1"/>
          </p:nvPr>
        </p:nvSpPr>
        <p:spPr>
          <a:xfrm>
            <a:off x="376237" y="2057401"/>
            <a:ext cx="11129963" cy="4434840"/>
          </a:xfrm>
        </p:spPr>
        <p:txBody>
          <a:bodyPr>
            <a:normAutofit/>
          </a:bodyPr>
          <a:lstStyle/>
          <a:p>
            <a:pPr marL="457200" lvl="1" indent="0">
              <a:buNone/>
            </a:pPr>
            <a:r>
              <a:rPr lang="en-AU" sz="2800" b="1" dirty="0"/>
              <a:t>Dot Points</a:t>
            </a:r>
            <a:endParaRPr lang="en-AU" sz="2800" dirty="0"/>
          </a:p>
          <a:p>
            <a:pPr marL="457200" lvl="1" indent="0">
              <a:buNone/>
            </a:pPr>
            <a:r>
              <a:rPr lang="en-AU" sz="2800" dirty="0"/>
              <a:t>1.3.16 Use units of energy for foods, including kilojoules and calories</a:t>
            </a:r>
          </a:p>
          <a:p>
            <a:pPr marL="457200" lvl="1" indent="0">
              <a:buNone/>
            </a:pPr>
            <a:endParaRPr lang="en-AU" sz="2800" b="1" dirty="0">
              <a:solidFill>
                <a:schemeClr val="accent1">
                  <a:lumMod val="75000"/>
                </a:schemeClr>
              </a:solidFill>
            </a:endParaRPr>
          </a:p>
          <a:p>
            <a:pPr marL="457200" lvl="1" indent="0">
              <a:buNone/>
            </a:pPr>
            <a:r>
              <a:rPr lang="en-AU" sz="2800" b="1" dirty="0"/>
              <a:t>Contexts</a:t>
            </a:r>
          </a:p>
          <a:p>
            <a:pPr lvl="1">
              <a:buFontTx/>
              <a:buChar char="-"/>
            </a:pPr>
            <a:r>
              <a:rPr lang="en-AU" sz="2800" dirty="0"/>
              <a:t>Compare the nutritional energy between different types and amounts of foods and drinks </a:t>
            </a:r>
            <a:endParaRPr lang="en-GB" sz="2800" dirty="0"/>
          </a:p>
        </p:txBody>
      </p:sp>
    </p:spTree>
    <p:extLst>
      <p:ext uri="{BB962C8B-B14F-4D97-AF65-F5344CB8AC3E}">
        <p14:creationId xmlns:p14="http://schemas.microsoft.com/office/powerpoint/2010/main" val="1818842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44EC2-D50D-4652-9305-AF7EC325976B}"/>
              </a:ext>
            </a:extLst>
          </p:cNvPr>
          <p:cNvSpPr>
            <a:spLocks noGrp="1"/>
          </p:cNvSpPr>
          <p:nvPr>
            <p:ph type="title"/>
          </p:nvPr>
        </p:nvSpPr>
        <p:spPr/>
        <p:txBody>
          <a:bodyPr>
            <a:normAutofit/>
          </a:bodyPr>
          <a:lstStyle/>
          <a:p>
            <a:r>
              <a:rPr lang="en-AU" sz="5400" b="1" dirty="0">
                <a:solidFill>
                  <a:schemeClr val="accent1">
                    <a:lumMod val="75000"/>
                  </a:schemeClr>
                </a:solidFill>
                <a:latin typeface="Kiwi School Handwriting"/>
              </a:rPr>
              <a:t>Task</a:t>
            </a:r>
            <a:endParaRPr lang="en-GB" sz="5400" b="1" dirty="0">
              <a:solidFill>
                <a:schemeClr val="accent1">
                  <a:lumMod val="75000"/>
                </a:schemeClr>
              </a:solidFill>
              <a:latin typeface="Kiwi School Handwriting"/>
            </a:endParaRPr>
          </a:p>
        </p:txBody>
      </p:sp>
      <p:sp>
        <p:nvSpPr>
          <p:cNvPr id="3" name="Content Placeholder 2">
            <a:extLst>
              <a:ext uri="{FF2B5EF4-FFF2-40B4-BE49-F238E27FC236}">
                <a16:creationId xmlns:a16="http://schemas.microsoft.com/office/drawing/2014/main" id="{AE03FB65-85C3-4D6E-9E99-A4600037F898}"/>
              </a:ext>
            </a:extLst>
          </p:cNvPr>
          <p:cNvSpPr>
            <a:spLocks noGrp="1"/>
          </p:cNvSpPr>
          <p:nvPr>
            <p:ph idx="1"/>
          </p:nvPr>
        </p:nvSpPr>
        <p:spPr/>
        <p:txBody>
          <a:bodyPr>
            <a:normAutofit/>
          </a:bodyPr>
          <a:lstStyle/>
          <a:p>
            <a:pPr marL="0" indent="0">
              <a:buNone/>
            </a:pPr>
            <a:r>
              <a:rPr lang="en-AU" sz="2400" dirty="0"/>
              <a:t>McDonald’s and Hungry Jack’s spend a lot of money on advertising to tell us why we should eat their burgers. They also have healthy options in their menu range. Your task is to investigate the burgers on offer.</a:t>
            </a:r>
          </a:p>
          <a:p>
            <a:pPr marL="0" indent="0">
              <a:buNone/>
            </a:pPr>
            <a:endParaRPr lang="en-AU" sz="2400" dirty="0"/>
          </a:p>
        </p:txBody>
      </p:sp>
      <p:pic>
        <p:nvPicPr>
          <p:cNvPr id="6" name="Picture 5" descr="A close up of a sandwich&#10;&#10;Description generated with very high confidence">
            <a:extLst>
              <a:ext uri="{FF2B5EF4-FFF2-40B4-BE49-F238E27FC236}">
                <a16:creationId xmlns:a16="http://schemas.microsoft.com/office/drawing/2014/main" id="{2A899A56-2491-4E65-A818-382C0E2096B8}"/>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40555" y="3258904"/>
            <a:ext cx="4260056" cy="3170482"/>
          </a:xfrm>
          <a:prstGeom prst="rect">
            <a:avLst/>
          </a:prstGeom>
        </p:spPr>
      </p:pic>
      <p:sp>
        <p:nvSpPr>
          <p:cNvPr id="8" name="TextBox 7">
            <a:extLst>
              <a:ext uri="{FF2B5EF4-FFF2-40B4-BE49-F238E27FC236}">
                <a16:creationId xmlns:a16="http://schemas.microsoft.com/office/drawing/2014/main" id="{D654C942-5B2D-4A72-995B-7140CA1E63E2}"/>
              </a:ext>
            </a:extLst>
          </p:cNvPr>
          <p:cNvSpPr txBox="1"/>
          <p:nvPr/>
        </p:nvSpPr>
        <p:spPr>
          <a:xfrm>
            <a:off x="640555" y="6450067"/>
            <a:ext cx="4260056" cy="230832"/>
          </a:xfrm>
          <a:prstGeom prst="rect">
            <a:avLst/>
          </a:prstGeom>
          <a:noFill/>
        </p:spPr>
        <p:txBody>
          <a:bodyPr wrap="square" rtlCol="0">
            <a:spAutoFit/>
          </a:bodyPr>
          <a:lstStyle/>
          <a:p>
            <a:r>
              <a:rPr lang="en-GB" sz="900" dirty="0">
                <a:hlinkClick r:id="rId3" tooltip="http://deconomiablog.blogspot.com/2014/02/el-indice-big-mac-y-una-cerveza-para.html"/>
              </a:rPr>
              <a:t>This Photo</a:t>
            </a:r>
            <a:r>
              <a:rPr lang="en-GB" sz="900" dirty="0"/>
              <a:t> by Unknown Author is licensed under </a:t>
            </a:r>
            <a:r>
              <a:rPr lang="en-GB" sz="900" dirty="0">
                <a:hlinkClick r:id="rId4" tooltip="https://creativecommons.org/licenses/by-sa/3.0/"/>
              </a:rPr>
              <a:t>CC BY-SA</a:t>
            </a:r>
            <a:endParaRPr lang="en-GB" sz="900" dirty="0"/>
          </a:p>
        </p:txBody>
      </p:sp>
      <p:pic>
        <p:nvPicPr>
          <p:cNvPr id="10" name="Picture 9" descr="A sandwich on a plate&#10;&#10;Description generated with very high confidence">
            <a:extLst>
              <a:ext uri="{FF2B5EF4-FFF2-40B4-BE49-F238E27FC236}">
                <a16:creationId xmlns:a16="http://schemas.microsoft.com/office/drawing/2014/main" id="{E11B6823-08A9-4A4B-AC6C-86EC22D84975}"/>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7158040" y="3335115"/>
            <a:ext cx="4069554" cy="2883570"/>
          </a:xfrm>
          <a:prstGeom prst="rect">
            <a:avLst/>
          </a:prstGeom>
        </p:spPr>
      </p:pic>
      <p:sp>
        <p:nvSpPr>
          <p:cNvPr id="11" name="TextBox 10">
            <a:extLst>
              <a:ext uri="{FF2B5EF4-FFF2-40B4-BE49-F238E27FC236}">
                <a16:creationId xmlns:a16="http://schemas.microsoft.com/office/drawing/2014/main" id="{8BDE4A8E-88C0-47DD-830B-0CC43F75025E}"/>
              </a:ext>
            </a:extLst>
          </p:cNvPr>
          <p:cNvSpPr txBox="1"/>
          <p:nvPr/>
        </p:nvSpPr>
        <p:spPr>
          <a:xfrm>
            <a:off x="7466831" y="6313970"/>
            <a:ext cx="3451971" cy="230832"/>
          </a:xfrm>
          <a:prstGeom prst="rect">
            <a:avLst/>
          </a:prstGeom>
          <a:noFill/>
        </p:spPr>
        <p:txBody>
          <a:bodyPr wrap="square" rtlCol="0">
            <a:spAutoFit/>
          </a:bodyPr>
          <a:lstStyle/>
          <a:p>
            <a:r>
              <a:rPr lang="en-GB" sz="900" dirty="0">
                <a:hlinkClick r:id="rId6" tooltip="http://ipkitten.blogspot.com/2015/09/breaking-news-full-decision-out-in.html"/>
              </a:rPr>
              <a:t>This Photo</a:t>
            </a:r>
            <a:r>
              <a:rPr lang="en-GB" sz="900" dirty="0"/>
              <a:t> by Unknown Author is licensed under </a:t>
            </a:r>
            <a:r>
              <a:rPr lang="en-GB" sz="900" dirty="0">
                <a:hlinkClick r:id="rId7" tooltip="https://creativecommons.org/licenses/by/2.0/"/>
              </a:rPr>
              <a:t>CC BY</a:t>
            </a:r>
            <a:endParaRPr lang="en-GB" sz="900" dirty="0"/>
          </a:p>
        </p:txBody>
      </p:sp>
      <p:sp>
        <p:nvSpPr>
          <p:cNvPr id="12" name="TextBox 11">
            <a:extLst>
              <a:ext uri="{FF2B5EF4-FFF2-40B4-BE49-F238E27FC236}">
                <a16:creationId xmlns:a16="http://schemas.microsoft.com/office/drawing/2014/main" id="{BE3CB060-897D-46A6-A5BC-EA72CF5ABFA9}"/>
              </a:ext>
            </a:extLst>
          </p:cNvPr>
          <p:cNvSpPr txBox="1"/>
          <p:nvPr/>
        </p:nvSpPr>
        <p:spPr>
          <a:xfrm>
            <a:off x="4786313" y="3900488"/>
            <a:ext cx="2093121" cy="1569660"/>
          </a:xfrm>
          <a:prstGeom prst="rect">
            <a:avLst/>
          </a:prstGeom>
          <a:noFill/>
        </p:spPr>
        <p:txBody>
          <a:bodyPr wrap="square" rtlCol="0">
            <a:spAutoFit/>
          </a:bodyPr>
          <a:lstStyle/>
          <a:p>
            <a:pPr algn="ctr"/>
            <a:r>
              <a:rPr lang="en-AU" sz="9600" b="1" dirty="0"/>
              <a:t>VS</a:t>
            </a:r>
            <a:endParaRPr lang="en-GB" sz="9600" b="1" dirty="0"/>
          </a:p>
        </p:txBody>
      </p:sp>
    </p:spTree>
    <p:extLst>
      <p:ext uri="{BB962C8B-B14F-4D97-AF65-F5344CB8AC3E}">
        <p14:creationId xmlns:p14="http://schemas.microsoft.com/office/powerpoint/2010/main" val="2307015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44EC2-D50D-4652-9305-AF7EC325976B}"/>
              </a:ext>
            </a:extLst>
          </p:cNvPr>
          <p:cNvSpPr>
            <a:spLocks noGrp="1"/>
          </p:cNvSpPr>
          <p:nvPr>
            <p:ph type="title"/>
          </p:nvPr>
        </p:nvSpPr>
        <p:spPr/>
        <p:txBody>
          <a:bodyPr>
            <a:normAutofit/>
          </a:bodyPr>
          <a:lstStyle/>
          <a:p>
            <a:r>
              <a:rPr lang="en-AU" sz="5400" b="1" dirty="0">
                <a:solidFill>
                  <a:schemeClr val="accent1">
                    <a:lumMod val="75000"/>
                  </a:schemeClr>
                </a:solidFill>
                <a:latin typeface="Kiwi School Handwriting"/>
              </a:rPr>
              <a:t>Task</a:t>
            </a:r>
            <a:endParaRPr lang="en-GB" sz="5400" b="1" dirty="0">
              <a:solidFill>
                <a:schemeClr val="accent1">
                  <a:lumMod val="75000"/>
                </a:schemeClr>
              </a:solidFill>
              <a:latin typeface="Kiwi School Handwriting"/>
            </a:endParaRPr>
          </a:p>
        </p:txBody>
      </p:sp>
      <p:sp>
        <p:nvSpPr>
          <p:cNvPr id="3" name="Content Placeholder 2">
            <a:extLst>
              <a:ext uri="{FF2B5EF4-FFF2-40B4-BE49-F238E27FC236}">
                <a16:creationId xmlns:a16="http://schemas.microsoft.com/office/drawing/2014/main" id="{AE03FB65-85C3-4D6E-9E99-A4600037F898}"/>
              </a:ext>
            </a:extLst>
          </p:cNvPr>
          <p:cNvSpPr>
            <a:spLocks noGrp="1"/>
          </p:cNvSpPr>
          <p:nvPr>
            <p:ph idx="1"/>
          </p:nvPr>
        </p:nvSpPr>
        <p:spPr/>
        <p:txBody>
          <a:bodyPr>
            <a:normAutofit/>
          </a:bodyPr>
          <a:lstStyle/>
          <a:p>
            <a:pPr marL="0" indent="0">
              <a:buNone/>
            </a:pPr>
            <a:r>
              <a:rPr lang="en-AU" sz="2400" dirty="0"/>
              <a:t>C</a:t>
            </a:r>
            <a:r>
              <a:rPr lang="en-GB" sz="2400" dirty="0" err="1"/>
              <a:t>omplete</a:t>
            </a:r>
            <a:r>
              <a:rPr lang="en-GB" sz="2400" dirty="0"/>
              <a:t> the worksheet.</a:t>
            </a:r>
          </a:p>
          <a:p>
            <a:pPr>
              <a:buFontTx/>
              <a:buChar char="-"/>
            </a:pPr>
            <a:r>
              <a:rPr lang="en-AU" sz="2400" dirty="0"/>
              <a:t>Tasks are not just about the numbers.</a:t>
            </a:r>
          </a:p>
          <a:p>
            <a:pPr>
              <a:buFontTx/>
              <a:buChar char="-"/>
            </a:pPr>
            <a:r>
              <a:rPr lang="en-AU" sz="2400" dirty="0"/>
              <a:t>Answer the questions and explain your conclusions.</a:t>
            </a:r>
          </a:p>
        </p:txBody>
      </p:sp>
    </p:spTree>
    <p:extLst>
      <p:ext uri="{BB962C8B-B14F-4D97-AF65-F5344CB8AC3E}">
        <p14:creationId xmlns:p14="http://schemas.microsoft.com/office/powerpoint/2010/main" val="189827041"/>
      </p:ext>
    </p:extLst>
  </p:cSld>
  <p:clrMapOvr>
    <a:masterClrMapping/>
  </p:clrMapOvr>
</p:sld>
</file>

<file path=ppt/theme/theme1.xml><?xml version="1.0" encoding="utf-8"?>
<a:theme xmlns:a="http://schemas.openxmlformats.org/drawingml/2006/main" name="BSC Theme">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SC Theme" id="{C1CBADD6-BB5F-440A-B968-1DF8E3AA1E88}" vid="{968D037D-C1E6-4504-B0AA-F343FEB667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7D25652-70A2-4111-A862-DCDB0F791EBA}">
  <we:reference id="wa104379997" version="2.0.0.0" store="en-US" storeType="OMEX"/>
  <we:alternateReferences>
    <we:reference id="wa104379997"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BSC Theme</Template>
  <TotalTime>1524</TotalTime>
  <Words>131</Words>
  <Application>Microsoft Office PowerPoint</Application>
  <PresentationFormat>Widescreen</PresentationFormat>
  <Paragraphs>20</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Century Gothic</vt:lpstr>
      <vt:lpstr>Kiwi School Handwriting</vt:lpstr>
      <vt:lpstr>BSC Theme</vt:lpstr>
      <vt:lpstr>Units of Energy – Which Burger is Better?</vt:lpstr>
      <vt:lpstr>Learning Outcomes</vt:lpstr>
      <vt:lpstr>Task</vt:lpstr>
      <vt:lpstr>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Rates Continued </dc:title>
  <dc:creator>Travis Power</dc:creator>
  <cp:lastModifiedBy>Magdeline LUM</cp:lastModifiedBy>
  <cp:revision>69</cp:revision>
  <dcterms:created xsi:type="dcterms:W3CDTF">2018-02-13T05:48:53Z</dcterms:created>
  <dcterms:modified xsi:type="dcterms:W3CDTF">2018-05-02T17:22:58Z</dcterms:modified>
</cp:coreProperties>
</file>
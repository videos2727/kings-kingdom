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7" r:id="rId2"/>
    <p:sldId id="314" r:id="rId3"/>
    <p:sldId id="302" r:id="rId4"/>
    <p:sldId id="303" r:id="rId5"/>
    <p:sldId id="304" r:id="rId6"/>
    <p:sldId id="305" r:id="rId7"/>
    <p:sldId id="306" r:id="rId8"/>
    <p:sldId id="307" r:id="rId9"/>
    <p:sldId id="308" r:id="rId10"/>
    <p:sldId id="309" r:id="rId11"/>
    <p:sldId id="310" r:id="rId12"/>
    <p:sldId id="311" r:id="rId13"/>
    <p:sldId id="312" r:id="rId14"/>
    <p:sldId id="313" r:id="rId15"/>
    <p:sldId id="263" r:id="rId16"/>
    <p:sldId id="264" r:id="rId17"/>
    <p:sldId id="265" r:id="rId18"/>
    <p:sldId id="268" r:id="rId19"/>
    <p:sldId id="271" r:id="rId20"/>
    <p:sldId id="270" r:id="rId21"/>
    <p:sldId id="284" r:id="rId22"/>
    <p:sldId id="273" r:id="rId23"/>
    <p:sldId id="285" r:id="rId24"/>
    <p:sldId id="286" r:id="rId25"/>
    <p:sldId id="287" r:id="rId26"/>
    <p:sldId id="289" r:id="rId27"/>
    <p:sldId id="282" r:id="rId28"/>
    <p:sldId id="283" r:id="rId29"/>
    <p:sldId id="275" r:id="rId30"/>
    <p:sldId id="276" r:id="rId31"/>
    <p:sldId id="298" r:id="rId32"/>
    <p:sldId id="29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858" autoAdjust="0"/>
    <p:restoredTop sz="94660"/>
  </p:normalViewPr>
  <p:slideViewPr>
    <p:cSldViewPr snapToGrid="0">
      <p:cViewPr varScale="1">
        <p:scale>
          <a:sx n="105" d="100"/>
          <a:sy n="105" d="100"/>
        </p:scale>
        <p:origin x="200" y="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microsoft.com/office/2015/10/relationships/revisionInfo" Target="revisionInfo.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FE7FAAC8-8D02-450D-B4DA-7A7EE7D7DFA0}" type="datetimeFigureOut">
              <a:rPr lang="en-AU" smtClean="0"/>
              <a:t>12/2/18</a:t>
            </a:fld>
            <a:endParaRPr lang="en-AU"/>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AU"/>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25AF27A3-6628-4079-AC6C-65456B0E6049}" type="slidenum">
              <a:rPr lang="en-AU" smtClean="0"/>
              <a:t>‹#›</a:t>
            </a:fld>
            <a:endParaRPr lang="en-AU"/>
          </a:p>
        </p:txBody>
      </p:sp>
    </p:spTree>
    <p:extLst>
      <p:ext uri="{BB962C8B-B14F-4D97-AF65-F5344CB8AC3E}">
        <p14:creationId xmlns:p14="http://schemas.microsoft.com/office/powerpoint/2010/main" val="1779434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FAAC8-8D02-450D-B4DA-7A7EE7D7DFA0}" type="datetimeFigureOut">
              <a:rPr lang="en-AU" smtClean="0"/>
              <a:t>12/2/18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10558300" y="5956137"/>
            <a:ext cx="1052508" cy="365125"/>
          </a:xfrm>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2925123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E7FAAC8-8D02-450D-B4DA-7A7EE7D7DFA0}" type="datetimeFigureOut">
              <a:rPr lang="en-AU" smtClean="0"/>
              <a:t>12/2/18</a:t>
            </a:fld>
            <a:endParaRPr lang="en-AU"/>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5AF27A3-6628-4079-AC6C-65456B0E6049}" type="slidenum">
              <a:rPr lang="en-AU" smtClean="0"/>
              <a:t>‹#›</a:t>
            </a:fld>
            <a:endParaRPr lang="en-AU"/>
          </a:p>
        </p:txBody>
      </p:sp>
    </p:spTree>
    <p:extLst>
      <p:ext uri="{BB962C8B-B14F-4D97-AF65-F5344CB8AC3E}">
        <p14:creationId xmlns:p14="http://schemas.microsoft.com/office/powerpoint/2010/main" val="915166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7FAAC8-8D02-450D-B4DA-7A7EE7D7DFA0}" type="datetimeFigureOut">
              <a:rPr lang="en-AU" smtClean="0"/>
              <a:t>12/2/18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63078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7FAAC8-8D02-450D-B4DA-7A7EE7D7DFA0}" type="datetimeFigureOut">
              <a:rPr lang="en-AU" smtClean="0"/>
              <a:t>12/2/18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2151867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7FAAC8-8D02-450D-B4DA-7A7EE7D7DFA0}" type="datetimeFigureOut">
              <a:rPr lang="en-AU" smtClean="0"/>
              <a:t>12/2/18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30859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7FAAC8-8D02-450D-B4DA-7A7EE7D7DFA0}" type="datetimeFigureOut">
              <a:rPr lang="en-AU" smtClean="0"/>
              <a:t>12/2/18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1830489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E7FAAC8-8D02-450D-B4DA-7A7EE7D7DFA0}" type="datetimeFigureOut">
              <a:rPr lang="en-AU" smtClean="0"/>
              <a:t>12/2/18</a:t>
            </a:fld>
            <a:endParaRPr lang="en-AU"/>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25AF27A3-6628-4079-AC6C-65456B0E6049}" type="slidenum">
              <a:rPr lang="en-AU" smtClean="0"/>
              <a:t>‹#›</a:t>
            </a:fld>
            <a:endParaRPr lang="en-AU"/>
          </a:p>
        </p:txBody>
      </p:sp>
    </p:spTree>
    <p:extLst>
      <p:ext uri="{BB962C8B-B14F-4D97-AF65-F5344CB8AC3E}">
        <p14:creationId xmlns:p14="http://schemas.microsoft.com/office/powerpoint/2010/main" val="2769144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E7FAAC8-8D02-450D-B4DA-7A7EE7D7DFA0}" type="datetimeFigureOut">
              <a:rPr lang="en-AU" smtClean="0"/>
              <a:t>12/2/18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3499690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7FAAC8-8D02-450D-B4DA-7A7EE7D7DFA0}" type="datetimeFigureOut">
              <a:rPr lang="en-AU" smtClean="0"/>
              <a:t>12/2/18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AF27A3-6628-4079-AC6C-65456B0E6049}" type="slidenum">
              <a:rPr lang="en-AU" smtClean="0"/>
              <a:t>‹#›</a:t>
            </a:fld>
            <a:endParaRPr lang="en-AU"/>
          </a:p>
        </p:txBody>
      </p:sp>
    </p:spTree>
    <p:extLst>
      <p:ext uri="{BB962C8B-B14F-4D97-AF65-F5344CB8AC3E}">
        <p14:creationId xmlns:p14="http://schemas.microsoft.com/office/powerpoint/2010/main" val="1834197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E7FAAC8-8D02-450D-B4DA-7A7EE7D7DFA0}" type="datetimeFigureOut">
              <a:rPr lang="en-AU" smtClean="0"/>
              <a:t>12/2/18</a:t>
            </a:fld>
            <a:endParaRPr lang="en-AU"/>
          </a:p>
        </p:txBody>
      </p:sp>
      <p:sp>
        <p:nvSpPr>
          <p:cNvPr id="5" name="Footer Placeholder 4"/>
          <p:cNvSpPr>
            <a:spLocks noGrp="1"/>
          </p:cNvSpPr>
          <p:nvPr>
            <p:ph type="ftr" sz="quarter" idx="11"/>
          </p:nvPr>
        </p:nvSpPr>
        <p:spPr>
          <a:xfrm>
            <a:off x="774923" y="5951811"/>
            <a:ext cx="7896279" cy="365125"/>
          </a:xfrm>
        </p:spPr>
        <p:txBody>
          <a:bodyPr/>
          <a:lstStyle/>
          <a:p>
            <a:endParaRPr lang="en-AU"/>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25AF27A3-6628-4079-AC6C-65456B0E6049}" type="slidenum">
              <a:rPr lang="en-AU" smtClean="0"/>
              <a:t>‹#›</a:t>
            </a:fld>
            <a:endParaRPr lang="en-AU"/>
          </a:p>
        </p:txBody>
      </p:sp>
    </p:spTree>
    <p:extLst>
      <p:ext uri="{BB962C8B-B14F-4D97-AF65-F5344CB8AC3E}">
        <p14:creationId xmlns:p14="http://schemas.microsoft.com/office/powerpoint/2010/main" val="28116169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E7FAAC8-8D02-450D-B4DA-7A7EE7D7DFA0}" type="datetimeFigureOut">
              <a:rPr lang="en-AU" smtClean="0"/>
              <a:t>12/2/18</a:t>
            </a:fld>
            <a:endParaRPr lang="en-AU"/>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AU"/>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25AF27A3-6628-4079-AC6C-65456B0E6049}" type="slidenum">
              <a:rPr lang="en-AU" smtClean="0"/>
              <a:t>‹#›</a:t>
            </a:fld>
            <a:endParaRPr lang="en-AU"/>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4141728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AU" sz="6000" b="1" dirty="0">
                <a:solidFill>
                  <a:schemeClr val="accent1">
                    <a:lumMod val="50000"/>
                  </a:schemeClr>
                </a:solidFill>
                <a:latin typeface="Courier New" panose="02070309020205020404" pitchFamily="49" charset="0"/>
                <a:cs typeface="Courier New" panose="02070309020205020404" pitchFamily="49" charset="0"/>
              </a:rPr>
              <a:t>Crumple and </a:t>
            </a:r>
            <a:r>
              <a:rPr lang="en-AU" sz="6000" b="1" dirty="0" smtClean="0">
                <a:solidFill>
                  <a:schemeClr val="accent1">
                    <a:lumMod val="50000"/>
                  </a:schemeClr>
                </a:solidFill>
                <a:latin typeface="Courier New" panose="02070309020205020404" pitchFamily="49" charset="0"/>
                <a:cs typeface="Courier New" panose="02070309020205020404" pitchFamily="49" charset="0"/>
              </a:rPr>
              <a:t>shoot</a:t>
            </a:r>
            <a:br>
              <a:rPr lang="en-AU" sz="6000" b="1" dirty="0" smtClean="0">
                <a:solidFill>
                  <a:schemeClr val="accent1">
                    <a:lumMod val="50000"/>
                  </a:schemeClr>
                </a:solidFill>
                <a:latin typeface="Courier New" panose="02070309020205020404" pitchFamily="49" charset="0"/>
                <a:cs typeface="Courier New" panose="02070309020205020404" pitchFamily="49" charset="0"/>
              </a:rPr>
            </a:br>
            <a:r>
              <a:rPr lang="en-AU" sz="6000" b="1" dirty="0" smtClean="0">
                <a:solidFill>
                  <a:schemeClr val="accent1">
                    <a:lumMod val="50000"/>
                  </a:schemeClr>
                </a:solidFill>
                <a:latin typeface="Courier New" panose="02070309020205020404" pitchFamily="49" charset="0"/>
                <a:cs typeface="Courier New" panose="02070309020205020404" pitchFamily="49" charset="0"/>
              </a:rPr>
              <a:t>-All credit to </a:t>
            </a:r>
            <a:r>
              <a:rPr lang="en-AU" sz="6000" b="1" dirty="0" err="1" smtClean="0">
                <a:solidFill>
                  <a:schemeClr val="accent1">
                    <a:lumMod val="50000"/>
                  </a:schemeClr>
                </a:solidFill>
                <a:latin typeface="Courier New" panose="02070309020205020404" pitchFamily="49" charset="0"/>
                <a:cs typeface="Courier New" panose="02070309020205020404" pitchFamily="49" charset="0"/>
              </a:rPr>
              <a:t>Ms.L</a:t>
            </a:r>
            <a:endParaRPr lang="en-AU" sz="6000" b="1" dirty="0">
              <a:solidFill>
                <a:schemeClr val="accent1">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504588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Rules</a:t>
            </a:r>
            <a:endParaRPr lang="en-US" dirty="0"/>
          </a:p>
        </p:txBody>
      </p:sp>
      <p:sp>
        <p:nvSpPr>
          <p:cNvPr id="3" name="Content Placeholder 2"/>
          <p:cNvSpPr>
            <a:spLocks noGrp="1"/>
          </p:cNvSpPr>
          <p:nvPr>
            <p:ph idx="1"/>
          </p:nvPr>
        </p:nvSpPr>
        <p:spPr>
          <a:xfrm>
            <a:off x="377952" y="1901952"/>
            <a:ext cx="11655552" cy="4657344"/>
          </a:xfrm>
        </p:spPr>
        <p:txBody>
          <a:bodyPr>
            <a:normAutofit/>
          </a:bodyPr>
          <a:lstStyle/>
          <a:p>
            <a:r>
              <a:rPr lang="en-US" dirty="0" smtClean="0"/>
              <a:t>-</a:t>
            </a:r>
            <a:r>
              <a:rPr lang="en-US" dirty="0"/>
              <a:t>Every group (approx. 4-5) gets a whiteboard, marker and eraser. </a:t>
            </a:r>
          </a:p>
          <a:p>
            <a:r>
              <a:rPr lang="en-US" dirty="0"/>
              <a:t>- </a:t>
            </a:r>
            <a:r>
              <a:rPr lang="en-US" dirty="0" smtClean="0"/>
              <a:t>Choose an appropriate team name or I’ll number you off</a:t>
            </a:r>
            <a:endParaRPr lang="en-US" dirty="0"/>
          </a:p>
          <a:p>
            <a:r>
              <a:rPr lang="en-US" dirty="0" smtClean="0"/>
              <a:t>-Choose a 1pt, 2pt, 3pt and potentially a 5pt line to shoot your crumpled paper from into the waste basket. </a:t>
            </a:r>
          </a:p>
          <a:p>
            <a:r>
              <a:rPr lang="en-US" dirty="0" smtClean="0"/>
              <a:t>- The question will show on the projector, you have 30sec-1min (possibly more) depending on the question</a:t>
            </a:r>
          </a:p>
          <a:p>
            <a:r>
              <a:rPr lang="en-US" dirty="0" smtClean="0"/>
              <a:t>- Respect the ‘board up’ call and show all answers at the same time. No cheating!</a:t>
            </a:r>
            <a:endParaRPr lang="en-US" dirty="0"/>
          </a:p>
          <a:p>
            <a:r>
              <a:rPr lang="en-US" dirty="0"/>
              <a:t>- </a:t>
            </a:r>
            <a:r>
              <a:rPr lang="en-US" dirty="0" smtClean="0"/>
              <a:t>The </a:t>
            </a:r>
            <a:r>
              <a:rPr lang="en-US" dirty="0"/>
              <a:t>groups that </a:t>
            </a:r>
            <a:r>
              <a:rPr lang="en-US" dirty="0" smtClean="0"/>
              <a:t>get </a:t>
            </a:r>
            <a:r>
              <a:rPr lang="en-US" dirty="0"/>
              <a:t>it correct get to pick ONE person to come up and </a:t>
            </a:r>
            <a:r>
              <a:rPr lang="en-US" dirty="0" smtClean="0"/>
              <a:t>shoot from wherever they want</a:t>
            </a:r>
          </a:p>
          <a:p>
            <a:r>
              <a:rPr lang="en-US" dirty="0" smtClean="0"/>
              <a:t>- </a:t>
            </a:r>
            <a:r>
              <a:rPr lang="en-US" dirty="0"/>
              <a:t>I</a:t>
            </a:r>
            <a:r>
              <a:rPr lang="en-US" dirty="0" smtClean="0"/>
              <a:t>f you </a:t>
            </a:r>
            <a:r>
              <a:rPr lang="en-US" dirty="0"/>
              <a:t>get the ball/paper ball in </a:t>
            </a:r>
            <a:r>
              <a:rPr lang="en-US" dirty="0" smtClean="0"/>
              <a:t>you </a:t>
            </a:r>
            <a:r>
              <a:rPr lang="en-US" dirty="0"/>
              <a:t>get the point(s). </a:t>
            </a:r>
            <a:r>
              <a:rPr lang="en-US" dirty="0" smtClean="0"/>
              <a:t>If not, sit </a:t>
            </a:r>
            <a:r>
              <a:rPr lang="en-US" dirty="0"/>
              <a:t>down and get no </a:t>
            </a:r>
            <a:r>
              <a:rPr lang="en-US" dirty="0" smtClean="0"/>
              <a:t>points.</a:t>
            </a:r>
            <a:endParaRPr lang="en-US" dirty="0"/>
          </a:p>
          <a:p>
            <a:r>
              <a:rPr lang="en-US" dirty="0"/>
              <a:t>- </a:t>
            </a:r>
            <a:r>
              <a:rPr lang="en-US" dirty="0" smtClean="0"/>
              <a:t>Team </a:t>
            </a:r>
            <a:r>
              <a:rPr lang="en-US" dirty="0"/>
              <a:t>with the most points </a:t>
            </a:r>
            <a:r>
              <a:rPr lang="en-US" dirty="0" smtClean="0"/>
              <a:t>win</a:t>
            </a:r>
            <a:r>
              <a:rPr lang="en-US" dirty="0"/>
              <a:t> </a:t>
            </a:r>
          </a:p>
          <a:p>
            <a:r>
              <a:rPr lang="en-US" dirty="0" smtClean="0"/>
              <a:t>Absolutely no malicious sledging or interfering </a:t>
            </a:r>
            <a:r>
              <a:rPr lang="en-US" dirty="0"/>
              <a:t>with the person throwing </a:t>
            </a:r>
            <a:r>
              <a:rPr lang="en-US" dirty="0" smtClean="0"/>
              <a:t>(points taken off </a:t>
            </a:r>
            <a:r>
              <a:rPr lang="en-US" dirty="0"/>
              <a:t>if </a:t>
            </a:r>
            <a:r>
              <a:rPr lang="en-US" dirty="0" smtClean="0"/>
              <a:t>this happens)</a:t>
            </a:r>
            <a:endParaRPr lang="en-US" dirty="0"/>
          </a:p>
          <a:p>
            <a:r>
              <a:rPr lang="en-US" dirty="0" smtClean="0"/>
              <a:t>Have fun!</a:t>
            </a:r>
            <a:endParaRPr lang="en-US" dirty="0"/>
          </a:p>
          <a:p>
            <a:endParaRPr lang="en-US" dirty="0"/>
          </a:p>
        </p:txBody>
      </p:sp>
    </p:spTree>
    <p:extLst>
      <p:ext uri="{BB962C8B-B14F-4D97-AF65-F5344CB8AC3E}">
        <p14:creationId xmlns:p14="http://schemas.microsoft.com/office/powerpoint/2010/main" val="1588824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Question 1</a:t>
            </a:r>
            <a:endParaRPr dirty="0"/>
          </a:p>
        </p:txBody>
      </p:sp>
      <p:sp>
        <p:nvSpPr>
          <p:cNvPr id="14" name="Content Placeholder 13"/>
          <p:cNvSpPr>
            <a:spLocks noGrp="1"/>
          </p:cNvSpPr>
          <p:nvPr>
            <p:ph idx="1"/>
          </p:nvPr>
        </p:nvSpPr>
        <p:spPr>
          <a:xfrm>
            <a:off x="947846" y="2080591"/>
            <a:ext cx="10662962" cy="4638261"/>
          </a:xfrm>
        </p:spPr>
        <p:txBody>
          <a:bodyPr>
            <a:normAutofit/>
          </a:bodyPr>
          <a:lstStyle/>
          <a:p>
            <a:pPr marL="0" indent="0">
              <a:buNone/>
            </a:pPr>
            <a:r>
              <a:rPr lang="en-US" sz="4400" dirty="0" smtClean="0"/>
              <a:t>Which of the following is the largest number?</a:t>
            </a:r>
            <a:endParaRPr lang="en-US" sz="4400" dirty="0"/>
          </a:p>
          <a:p>
            <a:pPr marL="0" indent="0">
              <a:buNone/>
            </a:pPr>
            <a:endParaRPr lang="en-US" sz="4400" dirty="0"/>
          </a:p>
          <a:p>
            <a:pPr marL="0" indent="0">
              <a:buNone/>
            </a:pPr>
            <a:r>
              <a:rPr lang="en-US" sz="4400" dirty="0"/>
              <a:t>A) </a:t>
            </a:r>
            <a:r>
              <a:rPr lang="en-US" sz="4400" dirty="0" smtClean="0"/>
              <a:t>16464</a:t>
            </a:r>
            <a:r>
              <a:rPr lang="en-US" sz="4400" dirty="0"/>
              <a:t/>
            </a:r>
            <a:br>
              <a:rPr lang="en-US" sz="4400" dirty="0"/>
            </a:br>
            <a:r>
              <a:rPr lang="en-US" sz="4400" dirty="0"/>
              <a:t>B) </a:t>
            </a:r>
            <a:r>
              <a:rPr lang="en-US" sz="4400" dirty="0" smtClean="0"/>
              <a:t>14664</a:t>
            </a:r>
            <a:r>
              <a:rPr lang="en-US" sz="4400" dirty="0"/>
              <a:t/>
            </a:r>
            <a:br>
              <a:rPr lang="en-US" sz="4400" dirty="0"/>
            </a:br>
            <a:r>
              <a:rPr lang="en-US" sz="4400" dirty="0"/>
              <a:t>C) </a:t>
            </a:r>
            <a:r>
              <a:rPr lang="en-US" sz="4400" dirty="0" smtClean="0"/>
              <a:t>16644</a:t>
            </a:r>
            <a:r>
              <a:rPr lang="en-US" sz="4400" dirty="0"/>
              <a:t/>
            </a:r>
            <a:br>
              <a:rPr lang="en-US" sz="4400" dirty="0"/>
            </a:br>
            <a:r>
              <a:rPr lang="en-US" sz="4400" dirty="0"/>
              <a:t>D) </a:t>
            </a:r>
            <a:r>
              <a:rPr lang="en-US" sz="4400" dirty="0" smtClean="0"/>
              <a:t>16446</a:t>
            </a:r>
            <a:endParaRPr lang="en-US" sz="4400" dirty="0"/>
          </a:p>
          <a:p>
            <a:endParaRPr sz="4400" dirty="0"/>
          </a:p>
        </p:txBody>
      </p:sp>
    </p:spTree>
    <p:extLst>
      <p:ext uri="{BB962C8B-B14F-4D97-AF65-F5344CB8AC3E}">
        <p14:creationId xmlns:p14="http://schemas.microsoft.com/office/powerpoint/2010/main" val="95849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9600" dirty="0"/>
              <a:t>c) </a:t>
            </a:r>
            <a:r>
              <a:rPr lang="en-US" sz="9600" dirty="0" smtClean="0"/>
              <a:t>16644</a:t>
            </a:r>
            <a:endParaRPr lang="en-US" sz="9600" dirty="0"/>
          </a:p>
        </p:txBody>
      </p:sp>
    </p:spTree>
    <p:extLst>
      <p:ext uri="{BB962C8B-B14F-4D97-AF65-F5344CB8AC3E}">
        <p14:creationId xmlns:p14="http://schemas.microsoft.com/office/powerpoint/2010/main" val="1105081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Question 2</a:t>
            </a:r>
            <a:endParaRPr dirty="0"/>
          </a:p>
        </p:txBody>
      </p:sp>
      <p:sp>
        <p:nvSpPr>
          <p:cNvPr id="14" name="Content Placeholder 13"/>
          <p:cNvSpPr>
            <a:spLocks noGrp="1"/>
          </p:cNvSpPr>
          <p:nvPr>
            <p:ph idx="1"/>
          </p:nvPr>
        </p:nvSpPr>
        <p:spPr>
          <a:xfrm>
            <a:off x="1066800" y="2057400"/>
            <a:ext cx="10058400" cy="4800600"/>
          </a:xfrm>
        </p:spPr>
        <p:txBody>
          <a:bodyPr>
            <a:normAutofit fontScale="92500" lnSpcReduction="10000"/>
          </a:bodyPr>
          <a:lstStyle/>
          <a:p>
            <a:pPr marL="0" indent="0" algn="ctr">
              <a:spcBef>
                <a:spcPct val="50000"/>
              </a:spcBef>
              <a:buNone/>
              <a:defRPr/>
            </a:pPr>
            <a:r>
              <a:rPr lang="en-US" sz="3600" dirty="0"/>
              <a:t> </a:t>
            </a:r>
            <a:r>
              <a:rPr lang="en-GB" altLang="zh-CN" sz="3600" dirty="0">
                <a:ea typeface="SimSun" charset="0"/>
                <a:cs typeface="SimSun" charset="0"/>
              </a:rPr>
              <a:t>I think of a number</a:t>
            </a:r>
          </a:p>
          <a:p>
            <a:pPr marL="0" indent="0" algn="ctr">
              <a:spcBef>
                <a:spcPct val="50000"/>
              </a:spcBef>
              <a:buNone/>
              <a:defRPr/>
            </a:pPr>
            <a:r>
              <a:rPr lang="en-GB" altLang="zh-CN" sz="3600" dirty="0">
                <a:ea typeface="SimSun" charset="0"/>
                <a:cs typeface="SimSun" charset="0"/>
              </a:rPr>
              <a:t>I double it</a:t>
            </a:r>
          </a:p>
          <a:p>
            <a:pPr marL="0" indent="0" algn="ctr">
              <a:spcBef>
                <a:spcPct val="50000"/>
              </a:spcBef>
              <a:buNone/>
              <a:defRPr/>
            </a:pPr>
            <a:r>
              <a:rPr lang="en-GB" altLang="zh-CN" sz="3600" dirty="0">
                <a:ea typeface="SimSun" charset="0"/>
                <a:cs typeface="SimSun" charset="0"/>
              </a:rPr>
              <a:t>I add 4</a:t>
            </a:r>
          </a:p>
          <a:p>
            <a:pPr marL="0" indent="0" algn="ctr">
              <a:spcBef>
                <a:spcPct val="50000"/>
              </a:spcBef>
              <a:buNone/>
              <a:defRPr/>
            </a:pPr>
            <a:r>
              <a:rPr lang="en-GB" altLang="zh-CN" sz="3600" dirty="0">
                <a:ea typeface="SimSun" charset="0"/>
                <a:cs typeface="SimSun" charset="0"/>
              </a:rPr>
              <a:t>I multiply it by 6</a:t>
            </a:r>
          </a:p>
          <a:p>
            <a:pPr marL="0" indent="0" algn="ctr">
              <a:spcBef>
                <a:spcPct val="50000"/>
              </a:spcBef>
              <a:buNone/>
              <a:defRPr/>
            </a:pPr>
            <a:r>
              <a:rPr lang="en-GB" altLang="zh-CN" sz="3600" dirty="0">
                <a:ea typeface="SimSun" charset="0"/>
                <a:cs typeface="SimSun" charset="0"/>
              </a:rPr>
              <a:t>My answer is 72</a:t>
            </a:r>
          </a:p>
          <a:p>
            <a:pPr marL="0" indent="0" algn="ctr">
              <a:spcBef>
                <a:spcPct val="50000"/>
              </a:spcBef>
              <a:buNone/>
              <a:defRPr/>
            </a:pPr>
            <a:r>
              <a:rPr lang="en-GB" altLang="zh-CN" sz="3600" dirty="0">
                <a:ea typeface="SimSun" charset="0"/>
                <a:cs typeface="SimSun" charset="0"/>
              </a:rPr>
              <a:t>What was the number?</a:t>
            </a:r>
          </a:p>
          <a:p>
            <a:endParaRPr sz="3600" dirty="0"/>
          </a:p>
        </p:txBody>
      </p:sp>
    </p:spTree>
    <p:extLst>
      <p:ext uri="{BB962C8B-B14F-4D97-AF65-F5344CB8AC3E}">
        <p14:creationId xmlns:p14="http://schemas.microsoft.com/office/powerpoint/2010/main" val="16726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ext Box 8"/>
          <p:cNvSpPr txBox="1">
            <a:spLocks noGrp="1" noChangeArrowheads="1"/>
          </p:cNvSpPr>
          <p:nvPr>
            <p:ph idx="1"/>
          </p:nvPr>
        </p:nvSpPr>
        <p:spPr bwMode="auto">
          <a:xfrm>
            <a:off x="1065214" y="1752600"/>
            <a:ext cx="10058400" cy="18620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marL="0" indent="0" eaLnBrk="1" hangingPunct="1">
              <a:spcBef>
                <a:spcPct val="50000"/>
              </a:spcBef>
              <a:buNone/>
              <a:defRPr/>
            </a:pPr>
            <a:r>
              <a:rPr lang="en-GB" sz="5400" b="1" dirty="0">
                <a:solidFill>
                  <a:schemeClr val="accent2"/>
                </a:solidFill>
              </a:rPr>
              <a:t>The number was </a:t>
            </a:r>
            <a:r>
              <a:rPr lang="en-GB" sz="11500" b="1" dirty="0">
                <a:solidFill>
                  <a:schemeClr val="accent2"/>
                </a:solidFill>
              </a:rPr>
              <a:t>4</a:t>
            </a:r>
            <a:r>
              <a:rPr lang="en-GB" sz="5400" b="1" dirty="0">
                <a:solidFill>
                  <a:schemeClr val="accent2"/>
                </a:solidFill>
              </a:rPr>
              <a:t>.</a:t>
            </a:r>
            <a:endParaRPr lang="en-GB" sz="11500" b="1" dirty="0">
              <a:solidFill>
                <a:schemeClr val="accent2"/>
              </a:solidFill>
            </a:endParaRPr>
          </a:p>
        </p:txBody>
      </p:sp>
    </p:spTree>
    <p:extLst>
      <p:ext uri="{BB962C8B-B14F-4D97-AF65-F5344CB8AC3E}">
        <p14:creationId xmlns:p14="http://schemas.microsoft.com/office/powerpoint/2010/main" val="1303319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Question 3</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a:xfrm>
                <a:off x="581193" y="1111903"/>
                <a:ext cx="11029615" cy="3678303"/>
              </a:xfrm>
            </p:spPr>
            <p:txBody>
              <a:bodyPr>
                <a:normAutofit/>
              </a:bodyPr>
              <a:lstStyle/>
              <a:p>
                <a:pPr marL="0" indent="0">
                  <a:buNone/>
                </a:pPr>
                <a:r>
                  <a:rPr lang="en-AU" altLang="x-none" sz="4000" dirty="0" smtClean="0"/>
                  <a:t>Arrange the following in ascending order:</a:t>
                </a:r>
              </a:p>
              <a:p>
                <a:pPr marL="0" indent="0">
                  <a:buNone/>
                </a:pPr>
                <a:r>
                  <a:rPr lang="en-AU" altLang="x-none" sz="4000" dirty="0" smtClean="0"/>
                  <a:t>5.6, 65%, 6.5%, 0.55, 115%, </a:t>
                </a:r>
                <a14:m>
                  <m:oMath xmlns:m="http://schemas.openxmlformats.org/officeDocument/2006/math">
                    <m:f>
                      <m:fPr>
                        <m:ctrlPr>
                          <a:rPr lang="mr-IN" altLang="x-none" sz="4000" i="1" smtClean="0">
                            <a:latin typeface="Cambria Math" charset="0"/>
                          </a:rPr>
                        </m:ctrlPr>
                      </m:fPr>
                      <m:num>
                        <m:r>
                          <a:rPr lang="en-CA" altLang="x-none" sz="4000" b="0" i="1" smtClean="0">
                            <a:latin typeface="Cambria Math" charset="0"/>
                          </a:rPr>
                          <m:t>4</m:t>
                        </m:r>
                      </m:num>
                      <m:den>
                        <m:r>
                          <a:rPr lang="en-CA" altLang="x-none" sz="4000" b="0" i="1" smtClean="0">
                            <a:latin typeface="Cambria Math" charset="0"/>
                          </a:rPr>
                          <m:t>5</m:t>
                        </m:r>
                      </m:den>
                    </m:f>
                  </m:oMath>
                </a14:m>
                <a:endParaRPr lang="en-AU" altLang="x-none" sz="4000" dirty="0"/>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xfrm>
                <a:off x="581193" y="1111903"/>
                <a:ext cx="11029615" cy="3678303"/>
              </a:xfrm>
              <a:blipFill rotWithShape="0">
                <a:blip r:embed="rId2"/>
                <a:stretch>
                  <a:fillRect l="-1934"/>
                </a:stretch>
              </a:blipFill>
            </p:spPr>
            <p:txBody>
              <a:bodyPr/>
              <a:lstStyle/>
              <a:p>
                <a:r>
                  <a:rPr lang="en-US">
                    <a:noFill/>
                  </a:rPr>
                  <a:t> </a:t>
                </a:r>
              </a:p>
            </p:txBody>
          </p:sp>
        </mc:Fallback>
      </mc:AlternateContent>
    </p:spTree>
    <p:extLst>
      <p:ext uri="{BB962C8B-B14F-4D97-AF65-F5344CB8AC3E}">
        <p14:creationId xmlns:p14="http://schemas.microsoft.com/office/powerpoint/2010/main" val="549989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4" name="Content Placeholder 3"/>
              <p:cNvSpPr txBox="1">
                <a:spLocks noGrp="1" noChangeArrowheads="1"/>
              </p:cNvSpPr>
              <p:nvPr>
                <p:ph idx="1"/>
              </p:nvPr>
            </p:nvSpPr>
            <p:spPr bwMode="auto">
              <a:xfrm>
                <a:off x="1444487" y="3420929"/>
                <a:ext cx="10058400" cy="11383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marL="0" indent="0">
                  <a:buNone/>
                </a:pPr>
                <a:r>
                  <a:rPr lang="en-AU" altLang="x-none" sz="4800" dirty="0" smtClean="0"/>
                  <a:t>6.5</a:t>
                </a:r>
                <a:r>
                  <a:rPr lang="en-AU" altLang="x-none" sz="4800" dirty="0"/>
                  <a:t>%, 0.55, 65%, </a:t>
                </a:r>
                <a14:m>
                  <m:oMath xmlns:m="http://schemas.openxmlformats.org/officeDocument/2006/math">
                    <m:f>
                      <m:fPr>
                        <m:ctrlPr>
                          <a:rPr lang="mr-IN" altLang="x-none" sz="4800" i="1">
                            <a:latin typeface="Cambria Math" charset="0"/>
                          </a:rPr>
                        </m:ctrlPr>
                      </m:fPr>
                      <m:num>
                        <m:r>
                          <a:rPr lang="en-CA" altLang="x-none" sz="4800" i="1">
                            <a:latin typeface="Cambria Math" charset="0"/>
                          </a:rPr>
                          <m:t>4</m:t>
                        </m:r>
                      </m:num>
                      <m:den>
                        <m:r>
                          <a:rPr lang="en-CA" altLang="x-none" sz="4800" i="1">
                            <a:latin typeface="Cambria Math" charset="0"/>
                          </a:rPr>
                          <m:t>5</m:t>
                        </m:r>
                      </m:den>
                    </m:f>
                    <m:r>
                      <a:rPr lang="en-CA" altLang="x-none" sz="4800" i="1">
                        <a:latin typeface="Cambria Math" charset="0"/>
                      </a:rPr>
                      <m:t> </m:t>
                    </m:r>
                  </m:oMath>
                </a14:m>
                <a:r>
                  <a:rPr lang="en-AU" altLang="x-none" sz="4800" dirty="0" smtClean="0"/>
                  <a:t>,115</a:t>
                </a:r>
                <a:r>
                  <a:rPr lang="en-AU" altLang="x-none" sz="4800" dirty="0"/>
                  <a:t>%, </a:t>
                </a:r>
                <a:r>
                  <a:rPr lang="en-AU" altLang="x-none" sz="4800" dirty="0" smtClean="0"/>
                  <a:t>5.6</a:t>
                </a:r>
                <a:endParaRPr lang="en-AU" altLang="x-none" sz="4800" dirty="0">
                  <a:solidFill>
                    <a:srgbClr val="FF0000"/>
                  </a:solidFill>
                </a:endParaRPr>
              </a:p>
            </p:txBody>
          </p:sp>
        </mc:Choice>
        <mc:Fallback>
          <p:sp>
            <p:nvSpPr>
              <p:cNvPr id="4" name="Content Placeholder 3"/>
              <p:cNvSpPr txBox="1">
                <a:spLocks noGrp="1" noRot="1" noChangeAspect="1" noMove="1" noResize="1" noEditPoints="1" noAdjustHandles="1" noChangeArrowheads="1" noChangeShapeType="1" noTextEdit="1"/>
              </p:cNvSpPr>
              <p:nvPr>
                <p:ph idx="1"/>
              </p:nvPr>
            </p:nvSpPr>
            <p:spPr bwMode="auto">
              <a:xfrm>
                <a:off x="1444487" y="3420929"/>
                <a:ext cx="10058400" cy="1138325"/>
              </a:xfrm>
              <a:prstGeom prst="rect">
                <a:avLst/>
              </a:prstGeom>
              <a:blipFill rotWithShape="0">
                <a:blip r:embed="rId2"/>
                <a:stretch>
                  <a:fillRect l="-2788" t="-535" b="-1229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910884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Question 4</a:t>
            </a:r>
            <a:endParaRPr dirty="0"/>
          </a:p>
        </p:txBody>
      </p:sp>
      <p:sp>
        <p:nvSpPr>
          <p:cNvPr id="14" name="Content Placeholder 13"/>
          <p:cNvSpPr>
            <a:spLocks noGrp="1"/>
          </p:cNvSpPr>
          <p:nvPr>
            <p:ph idx="1"/>
          </p:nvPr>
        </p:nvSpPr>
        <p:spPr/>
        <p:txBody>
          <a:bodyPr>
            <a:normAutofit/>
          </a:bodyPr>
          <a:lstStyle/>
          <a:p>
            <a:r>
              <a:rPr lang="en-US" sz="6000" dirty="0"/>
              <a:t>What is 10% of $350?</a:t>
            </a:r>
          </a:p>
          <a:p>
            <a:endParaRPr sz="6000" dirty="0"/>
          </a:p>
        </p:txBody>
      </p:sp>
    </p:spTree>
    <p:extLst>
      <p:ext uri="{BB962C8B-B14F-4D97-AF65-F5344CB8AC3E}">
        <p14:creationId xmlns:p14="http://schemas.microsoft.com/office/powerpoint/2010/main" val="197600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r>
              <a:rPr lang="en-US" sz="9600" dirty="0"/>
              <a:t>$35</a:t>
            </a:r>
          </a:p>
        </p:txBody>
      </p:sp>
    </p:spTree>
    <p:extLst>
      <p:ext uri="{BB962C8B-B14F-4D97-AF65-F5344CB8AC3E}">
        <p14:creationId xmlns:p14="http://schemas.microsoft.com/office/powerpoint/2010/main" val="199199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Question 5</a:t>
            </a:r>
            <a:endParaRPr dirty="0"/>
          </a:p>
        </p:txBody>
      </p:sp>
      <mc:AlternateContent xmlns:mc="http://schemas.openxmlformats.org/markup-compatibility/2006">
        <mc:Choice xmlns:a14="http://schemas.microsoft.com/office/drawing/2010/main" Requires="a14">
          <p:sp>
            <p:nvSpPr>
              <p:cNvPr id="14" name="Content Placeholder 13"/>
              <p:cNvSpPr>
                <a:spLocks noGrp="1"/>
              </p:cNvSpPr>
              <p:nvPr>
                <p:ph idx="1"/>
              </p:nvPr>
            </p:nvSpPr>
            <p:spPr/>
            <p:txBody>
              <a:bodyPr>
                <a:normAutofit/>
              </a:bodyPr>
              <a:lstStyle/>
              <a:p>
                <a:r>
                  <a:rPr lang="en-US" sz="5400" dirty="0" smtClean="0"/>
                  <a:t>Which is greater: </a:t>
                </a:r>
                <a14:m>
                  <m:oMath xmlns:m="http://schemas.openxmlformats.org/officeDocument/2006/math">
                    <m:f>
                      <m:fPr>
                        <m:ctrlPr>
                          <a:rPr lang="mr-IN" sz="5400" i="1" smtClean="0">
                            <a:latin typeface="Cambria Math" charset="0"/>
                          </a:rPr>
                        </m:ctrlPr>
                      </m:fPr>
                      <m:num>
                        <m:r>
                          <a:rPr lang="en-CA" sz="5400" b="0" i="1" smtClean="0">
                            <a:latin typeface="Cambria Math" charset="0"/>
                          </a:rPr>
                          <m:t>12</m:t>
                        </m:r>
                      </m:num>
                      <m:den>
                        <m:r>
                          <a:rPr lang="en-CA" sz="5400" b="0" i="1" smtClean="0">
                            <a:latin typeface="Cambria Math" charset="0"/>
                          </a:rPr>
                          <m:t>20</m:t>
                        </m:r>
                      </m:den>
                    </m:f>
                  </m:oMath>
                </a14:m>
                <a:r>
                  <a:rPr lang="en-CA" sz="5400" dirty="0" smtClean="0"/>
                  <a:t>, 0.6, 60%?</a:t>
                </a:r>
                <a:endParaRPr sz="5400" dirty="0"/>
              </a:p>
            </p:txBody>
          </p:sp>
        </mc:Choice>
        <mc:Fallback>
          <p:sp>
            <p:nvSpPr>
              <p:cNvPr id="14" name="Content Placeholder 13"/>
              <p:cNvSpPr>
                <a:spLocks noGrp="1" noRot="1" noChangeAspect="1" noMove="1" noResize="1" noEditPoints="1" noAdjustHandles="1" noChangeArrowheads="1" noChangeShapeType="1" noTextEdit="1"/>
              </p:cNvSpPr>
              <p:nvPr>
                <p:ph idx="1"/>
              </p:nvPr>
            </p:nvSpPr>
            <p:spPr>
              <a:blipFill rotWithShape="0">
                <a:blip r:embed="rId2"/>
                <a:stretch>
                  <a:fillRect l="-2210"/>
                </a:stretch>
              </a:blipFill>
            </p:spPr>
            <p:txBody>
              <a:bodyPr/>
              <a:lstStyle/>
              <a:p>
                <a:r>
                  <a:rPr lang="en-US">
                    <a:noFill/>
                  </a:rPr>
                  <a:t> </a:t>
                </a:r>
              </a:p>
            </p:txBody>
          </p:sp>
        </mc:Fallback>
      </mc:AlternateContent>
    </p:spTree>
    <p:extLst>
      <p:ext uri="{BB962C8B-B14F-4D97-AF65-F5344CB8AC3E}">
        <p14:creationId xmlns:p14="http://schemas.microsoft.com/office/powerpoint/2010/main" val="15315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r>
              <a:rPr lang="en-US" sz="9600" dirty="0" smtClean="0"/>
              <a:t>None. They are all equal</a:t>
            </a:r>
            <a:endParaRPr lang="en-US" sz="9600" dirty="0"/>
          </a:p>
        </p:txBody>
      </p:sp>
    </p:spTree>
    <p:extLst>
      <p:ext uri="{BB962C8B-B14F-4D97-AF65-F5344CB8AC3E}">
        <p14:creationId xmlns:p14="http://schemas.microsoft.com/office/powerpoint/2010/main" val="132951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786919" y="458441"/>
            <a:ext cx="10058402" cy="1219200"/>
          </a:xfrm>
        </p:spPr>
        <p:txBody>
          <a:bodyPr/>
          <a:lstStyle/>
          <a:p>
            <a:r>
              <a:rPr lang="en-US" dirty="0"/>
              <a:t>Question 6</a:t>
            </a:r>
            <a:endParaRPr dirty="0"/>
          </a:p>
        </p:txBody>
      </p:sp>
      <p:sp>
        <p:nvSpPr>
          <p:cNvPr id="14" name="Content Placeholder 13"/>
          <p:cNvSpPr>
            <a:spLocks noGrp="1"/>
          </p:cNvSpPr>
          <p:nvPr>
            <p:ph idx="1"/>
          </p:nvPr>
        </p:nvSpPr>
        <p:spPr>
          <a:xfrm>
            <a:off x="445676" y="2017227"/>
            <a:ext cx="10058400" cy="4229100"/>
          </a:xfrm>
        </p:spPr>
        <p:txBody>
          <a:bodyPr>
            <a:normAutofit/>
          </a:bodyPr>
          <a:lstStyle/>
          <a:p>
            <a:r>
              <a:rPr lang="en-GB" sz="3600" dirty="0" smtClean="0"/>
              <a:t>What is the word for the place value of the 7 in the following:</a:t>
            </a:r>
          </a:p>
          <a:p>
            <a:pPr marL="0" indent="0">
              <a:buNone/>
            </a:pPr>
            <a:r>
              <a:rPr lang="en-GB" sz="3600" dirty="0"/>
              <a:t>	</a:t>
            </a:r>
            <a:r>
              <a:rPr lang="en-GB" sz="3600" dirty="0" smtClean="0"/>
              <a:t>				0.1274</a:t>
            </a:r>
            <a:endParaRPr lang="en-GB" sz="3600" dirty="0"/>
          </a:p>
          <a:p>
            <a:endParaRPr sz="3600" dirty="0"/>
          </a:p>
        </p:txBody>
      </p:sp>
    </p:spTree>
    <p:extLst>
      <p:ext uri="{BB962C8B-B14F-4D97-AF65-F5344CB8AC3E}">
        <p14:creationId xmlns:p14="http://schemas.microsoft.com/office/powerpoint/2010/main" val="59497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65214" y="1898374"/>
            <a:ext cx="10058400" cy="4229100"/>
          </a:xfrm>
        </p:spPr>
        <p:txBody>
          <a:bodyPr>
            <a:normAutofit/>
          </a:bodyPr>
          <a:lstStyle/>
          <a:p>
            <a:pPr marL="0" indent="0" algn="ctr">
              <a:buNone/>
            </a:pPr>
            <a:r>
              <a:rPr lang="en-US" sz="9600" dirty="0" smtClean="0"/>
              <a:t>thousandth</a:t>
            </a:r>
            <a:endParaRPr lang="en-US" sz="9600" dirty="0"/>
          </a:p>
        </p:txBody>
      </p:sp>
    </p:spTree>
    <p:extLst>
      <p:ext uri="{BB962C8B-B14F-4D97-AF65-F5344CB8AC3E}">
        <p14:creationId xmlns:p14="http://schemas.microsoft.com/office/powerpoint/2010/main" val="101578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6</a:t>
            </a:r>
          </a:p>
        </p:txBody>
      </p:sp>
      <p:sp>
        <p:nvSpPr>
          <p:cNvPr id="4" name="Rectangle 3"/>
          <p:cNvSpPr/>
          <p:nvPr/>
        </p:nvSpPr>
        <p:spPr>
          <a:xfrm>
            <a:off x="3289568" y="2087498"/>
            <a:ext cx="5811313" cy="1446550"/>
          </a:xfrm>
          <a:prstGeom prst="rect">
            <a:avLst/>
          </a:prstGeom>
        </p:spPr>
        <p:txBody>
          <a:bodyPr wrap="square">
            <a:spAutoFit/>
          </a:bodyPr>
          <a:lstStyle/>
          <a:p>
            <a:pPr algn="ctr"/>
            <a:r>
              <a:rPr lang="en-AU" sz="4400" dirty="0"/>
              <a:t>	</a:t>
            </a:r>
            <a:r>
              <a:rPr lang="en-AU" sz="4400" dirty="0">
                <a:latin typeface="Century Gothic" panose="020B0502020202020204" pitchFamily="34" charset="0"/>
              </a:rPr>
              <a:t>What is this called?</a:t>
            </a:r>
          </a:p>
          <a:p>
            <a:pPr algn="ctr"/>
            <a:endParaRPr lang="en-AU" sz="4400" dirty="0">
              <a:latin typeface="Century Gothic" panose="020B0502020202020204" pitchFamily="34" charset="0"/>
            </a:endParaRPr>
          </a:p>
        </p:txBody>
      </p:sp>
      <p:sp>
        <p:nvSpPr>
          <p:cNvPr id="6" name="Rectangle 5"/>
          <p:cNvSpPr/>
          <p:nvPr/>
        </p:nvSpPr>
        <p:spPr>
          <a:xfrm>
            <a:off x="6547726" y="4556898"/>
            <a:ext cx="5598007" cy="769441"/>
          </a:xfrm>
          <a:prstGeom prst="rect">
            <a:avLst/>
          </a:prstGeom>
        </p:spPr>
        <p:txBody>
          <a:bodyPr wrap="none">
            <a:spAutoFit/>
          </a:bodyPr>
          <a:lstStyle/>
          <a:p>
            <a:r>
              <a:rPr lang="en-AU" sz="4400" dirty="0">
                <a:solidFill>
                  <a:schemeClr val="accent2">
                    <a:lumMod val="75000"/>
                  </a:schemeClr>
                </a:solidFill>
                <a:latin typeface="Century Gothic" panose="020B0502020202020204" pitchFamily="34" charset="0"/>
              </a:rPr>
              <a:t>Great Wall of China</a:t>
            </a:r>
          </a:p>
        </p:txBody>
      </p:sp>
      <p:pic>
        <p:nvPicPr>
          <p:cNvPr id="5" name="Picture 4">
            <a:extLst>
              <a:ext uri="{FF2B5EF4-FFF2-40B4-BE49-F238E27FC236}">
                <a16:creationId xmlns:a16="http://schemas.microsoft.com/office/drawing/2014/main" xmlns="" id="{06CC1491-3879-4856-9D54-A129DC4CAEF1}"/>
              </a:ext>
            </a:extLst>
          </p:cNvPr>
          <p:cNvPicPr>
            <a:picLocks noChangeAspect="1"/>
          </p:cNvPicPr>
          <p:nvPr/>
        </p:nvPicPr>
        <p:blipFill>
          <a:blip r:embed="rId2"/>
          <a:stretch>
            <a:fillRect/>
          </a:stretch>
        </p:blipFill>
        <p:spPr>
          <a:xfrm>
            <a:off x="198451" y="3200066"/>
            <a:ext cx="6182235" cy="3483107"/>
          </a:xfrm>
          <a:prstGeom prst="rect">
            <a:avLst/>
          </a:prstGeom>
        </p:spPr>
      </p:pic>
    </p:spTree>
    <p:extLst>
      <p:ext uri="{BB962C8B-B14F-4D97-AF65-F5344CB8AC3E}">
        <p14:creationId xmlns:p14="http://schemas.microsoft.com/office/powerpoint/2010/main" val="355155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7</a:t>
            </a:r>
          </a:p>
        </p:txBody>
      </p:sp>
      <mc:AlternateContent xmlns:mc="http://schemas.openxmlformats.org/markup-compatibility/2006">
        <mc:Choice xmlns:a14="http://schemas.microsoft.com/office/drawing/2010/main" Requires="a14">
          <p:sp>
            <p:nvSpPr>
              <p:cNvPr id="4" name="Rectangle 3"/>
              <p:cNvSpPr/>
              <p:nvPr/>
            </p:nvSpPr>
            <p:spPr>
              <a:xfrm>
                <a:off x="1516859" y="2217140"/>
                <a:ext cx="9158277" cy="769441"/>
              </a:xfrm>
              <a:prstGeom prst="rect">
                <a:avLst/>
              </a:prstGeom>
            </p:spPr>
            <p:txBody>
              <a:bodyPr wrap="square">
                <a:spAutoFit/>
              </a:bodyPr>
              <a:lstStyle/>
              <a:p>
                <a:pPr algn="ctr"/>
                <a:r>
                  <a:rPr lang="en-AU" sz="4400" dirty="0" smtClean="0"/>
                  <a:t>	</a:t>
                </a:r>
                <a:r>
                  <a:rPr lang="en-AU" sz="4400" dirty="0" smtClean="0">
                    <a:latin typeface="Century Gothic" panose="020B0502020202020204" pitchFamily="34" charset="0"/>
                  </a:rPr>
                  <a:t>What is 6.85 </a:t>
                </a:r>
                <a14:m>
                  <m:oMath xmlns:m="http://schemas.openxmlformats.org/officeDocument/2006/math">
                    <m:r>
                      <a:rPr lang="en-AU" sz="4400" i="1" smtClean="0">
                        <a:latin typeface="Cambria Math" charset="0"/>
                        <a:ea typeface="Cambria Math" charset="0"/>
                        <a:cs typeface="Cambria Math" charset="0"/>
                      </a:rPr>
                      <m:t>÷</m:t>
                    </m:r>
                    <m:r>
                      <a:rPr lang="en-CA" sz="4400" b="0" i="1" smtClean="0">
                        <a:latin typeface="Cambria Math" charset="0"/>
                        <a:ea typeface="Cambria Math" charset="0"/>
                        <a:cs typeface="Cambria Math" charset="0"/>
                      </a:rPr>
                      <m:t>5 ?</m:t>
                    </m:r>
                  </m:oMath>
                </a14:m>
                <a:endParaRPr lang="en-AU" sz="4400" dirty="0">
                  <a:latin typeface="Century Gothic" panose="020B0502020202020204" pitchFamily="34" charset="0"/>
                </a:endParaRPr>
              </a:p>
            </p:txBody>
          </p:sp>
        </mc:Choice>
        <mc:Fallback>
          <p:sp>
            <p:nvSpPr>
              <p:cNvPr id="4" name="Rectangle 3"/>
              <p:cNvSpPr>
                <a:spLocks noRot="1" noChangeAspect="1" noMove="1" noResize="1" noEditPoints="1" noAdjustHandles="1" noChangeArrowheads="1" noChangeShapeType="1" noTextEdit="1"/>
              </p:cNvSpPr>
              <p:nvPr/>
            </p:nvSpPr>
            <p:spPr>
              <a:xfrm>
                <a:off x="1516859" y="2217140"/>
                <a:ext cx="9158277" cy="769441"/>
              </a:xfrm>
              <a:prstGeom prst="rect">
                <a:avLst/>
              </a:prstGeom>
              <a:blipFill rotWithShape="0">
                <a:blip r:embed="rId2"/>
                <a:stretch>
                  <a:fillRect t="-18254" b="-35714"/>
                </a:stretch>
              </a:blipFill>
            </p:spPr>
            <p:txBody>
              <a:bodyPr/>
              <a:lstStyle/>
              <a:p>
                <a:r>
                  <a:rPr lang="en-US">
                    <a:noFill/>
                  </a:rPr>
                  <a:t> </a:t>
                </a:r>
              </a:p>
            </p:txBody>
          </p:sp>
        </mc:Fallback>
      </mc:AlternateContent>
      <p:sp>
        <p:nvSpPr>
          <p:cNvPr id="6" name="Rectangle 5"/>
          <p:cNvSpPr/>
          <p:nvPr/>
        </p:nvSpPr>
        <p:spPr>
          <a:xfrm>
            <a:off x="5457040" y="4705224"/>
            <a:ext cx="1277914" cy="769441"/>
          </a:xfrm>
          <a:prstGeom prst="rect">
            <a:avLst/>
          </a:prstGeom>
        </p:spPr>
        <p:txBody>
          <a:bodyPr wrap="none">
            <a:spAutoFit/>
          </a:bodyPr>
          <a:lstStyle/>
          <a:p>
            <a:r>
              <a:rPr lang="en-AU" sz="4400" dirty="0" smtClean="0">
                <a:solidFill>
                  <a:schemeClr val="accent2">
                    <a:lumMod val="75000"/>
                  </a:schemeClr>
                </a:solidFill>
                <a:latin typeface="Century Gothic" panose="020B0502020202020204" pitchFamily="34" charset="0"/>
              </a:rPr>
              <a:t>1.37</a:t>
            </a:r>
            <a:endParaRPr lang="en-AU" sz="4400" dirty="0">
              <a:solidFill>
                <a:schemeClr val="accent2">
                  <a:lumMod val="75000"/>
                </a:schemeClr>
              </a:solidFill>
              <a:latin typeface="Century Gothic" panose="020B0502020202020204" pitchFamily="34" charset="0"/>
            </a:endParaRPr>
          </a:p>
        </p:txBody>
      </p:sp>
    </p:spTree>
    <p:extLst>
      <p:ext uri="{BB962C8B-B14F-4D97-AF65-F5344CB8AC3E}">
        <p14:creationId xmlns:p14="http://schemas.microsoft.com/office/powerpoint/2010/main" val="171619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8</a:t>
            </a:r>
          </a:p>
        </p:txBody>
      </p:sp>
      <p:sp>
        <p:nvSpPr>
          <p:cNvPr id="6" name="Rectangle 5"/>
          <p:cNvSpPr/>
          <p:nvPr/>
        </p:nvSpPr>
        <p:spPr>
          <a:xfrm>
            <a:off x="5121842" y="5797649"/>
            <a:ext cx="1696298" cy="769441"/>
          </a:xfrm>
          <a:prstGeom prst="rect">
            <a:avLst/>
          </a:prstGeom>
        </p:spPr>
        <p:txBody>
          <a:bodyPr wrap="none">
            <a:spAutoFit/>
          </a:bodyPr>
          <a:lstStyle/>
          <a:p>
            <a:r>
              <a:rPr lang="en-AU" sz="4400" smtClean="0">
                <a:solidFill>
                  <a:schemeClr val="accent2">
                    <a:lumMod val="75000"/>
                  </a:schemeClr>
                </a:solidFill>
                <a:latin typeface="Century Gothic" panose="020B0502020202020204" pitchFamily="34" charset="0"/>
              </a:rPr>
              <a:t>c)300</a:t>
            </a:r>
            <a:endParaRPr lang="en-AU" sz="4400" dirty="0">
              <a:solidFill>
                <a:schemeClr val="accent2">
                  <a:lumMod val="75000"/>
                </a:schemeClr>
              </a:solidFill>
              <a:latin typeface="Century Gothic" panose="020B0502020202020204" pitchFamily="34" charset="0"/>
            </a:endParaRPr>
          </a:p>
        </p:txBody>
      </p:sp>
      <p:sp>
        <p:nvSpPr>
          <p:cNvPr id="5" name="Rectangle 4">
            <a:extLst>
              <a:ext uri="{FF2B5EF4-FFF2-40B4-BE49-F238E27FC236}">
                <a16:creationId xmlns:a16="http://schemas.microsoft.com/office/drawing/2014/main" xmlns="" id="{DDF7E701-EFF2-4EF0-86AC-79F0457C437A}"/>
              </a:ext>
            </a:extLst>
          </p:cNvPr>
          <p:cNvSpPr/>
          <p:nvPr/>
        </p:nvSpPr>
        <p:spPr>
          <a:xfrm>
            <a:off x="1390852" y="2024779"/>
            <a:ext cx="9158277" cy="3477875"/>
          </a:xfrm>
          <a:prstGeom prst="rect">
            <a:avLst/>
          </a:prstGeom>
        </p:spPr>
        <p:txBody>
          <a:bodyPr wrap="square">
            <a:spAutoFit/>
          </a:bodyPr>
          <a:lstStyle/>
          <a:p>
            <a:pPr algn="ctr"/>
            <a:r>
              <a:rPr lang="en-AU" sz="4400" dirty="0"/>
              <a:t>	</a:t>
            </a:r>
            <a:r>
              <a:rPr lang="en-AU" sz="4400" dirty="0" smtClean="0">
                <a:latin typeface="Century Gothic" panose="020B0502020202020204" pitchFamily="34" charset="0"/>
              </a:rPr>
              <a:t>Estimate (without a calculator) 15.2 x 19</a:t>
            </a:r>
          </a:p>
          <a:p>
            <a:pPr marL="742950" indent="-742950" algn="ctr">
              <a:buAutoNum type="alphaLcParenR"/>
            </a:pPr>
            <a:r>
              <a:rPr lang="en-AU" sz="4400" dirty="0" smtClean="0">
                <a:latin typeface="Century Gothic" panose="020B0502020202020204" pitchFamily="34" charset="0"/>
              </a:rPr>
              <a:t>150</a:t>
            </a:r>
          </a:p>
          <a:p>
            <a:pPr marL="742950" indent="-742950" algn="ctr">
              <a:buAutoNum type="alphaLcParenR"/>
            </a:pPr>
            <a:r>
              <a:rPr lang="en-AU" sz="4400" dirty="0" smtClean="0">
                <a:latin typeface="Century Gothic" panose="020B0502020202020204" pitchFamily="34" charset="0"/>
              </a:rPr>
              <a:t>250</a:t>
            </a:r>
          </a:p>
          <a:p>
            <a:pPr marL="742950" indent="-742950" algn="ctr">
              <a:buAutoNum type="alphaLcParenR"/>
            </a:pPr>
            <a:r>
              <a:rPr lang="en-AU" sz="4400" dirty="0" smtClean="0">
                <a:latin typeface="Century Gothic" panose="020B0502020202020204" pitchFamily="34" charset="0"/>
              </a:rPr>
              <a:t>300</a:t>
            </a:r>
            <a:endParaRPr lang="en-AU" sz="4400" dirty="0">
              <a:latin typeface="Century Gothic" panose="020B0502020202020204" pitchFamily="34" charset="0"/>
            </a:endParaRPr>
          </a:p>
        </p:txBody>
      </p:sp>
    </p:spTree>
    <p:extLst>
      <p:ext uri="{BB962C8B-B14F-4D97-AF65-F5344CB8AC3E}">
        <p14:creationId xmlns:p14="http://schemas.microsoft.com/office/powerpoint/2010/main" val="428072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11</a:t>
            </a:r>
          </a:p>
        </p:txBody>
      </p:sp>
      <p:sp>
        <p:nvSpPr>
          <p:cNvPr id="4" name="Rectangle 3"/>
          <p:cNvSpPr/>
          <p:nvPr/>
        </p:nvSpPr>
        <p:spPr>
          <a:xfrm>
            <a:off x="1745250" y="1802014"/>
            <a:ext cx="8701498" cy="4154984"/>
          </a:xfrm>
          <a:prstGeom prst="rect">
            <a:avLst/>
          </a:prstGeom>
        </p:spPr>
        <p:txBody>
          <a:bodyPr wrap="square">
            <a:spAutoFit/>
          </a:bodyPr>
          <a:lstStyle/>
          <a:p>
            <a:pPr algn="ctr"/>
            <a:r>
              <a:rPr lang="en-AU" sz="4400" dirty="0"/>
              <a:t>	</a:t>
            </a:r>
            <a:r>
              <a:rPr lang="en-AU" sz="4400" dirty="0" smtClean="0"/>
              <a:t>Estimate how many 20g Tim Tams are in a 250g pack:</a:t>
            </a:r>
          </a:p>
          <a:p>
            <a:pPr marL="742950" indent="-742950" algn="ctr">
              <a:buAutoNum type="alphaLcParenR"/>
            </a:pPr>
            <a:r>
              <a:rPr lang="en-AU" sz="4400" dirty="0" smtClean="0">
                <a:latin typeface="Century Gothic" panose="020B0502020202020204" pitchFamily="34" charset="0"/>
              </a:rPr>
              <a:t>15</a:t>
            </a:r>
          </a:p>
          <a:p>
            <a:pPr marL="742950" indent="-742950" algn="ctr">
              <a:buAutoNum type="alphaLcParenR"/>
            </a:pPr>
            <a:r>
              <a:rPr lang="en-AU" sz="4400" dirty="0">
                <a:latin typeface="Century Gothic" panose="020B0502020202020204" pitchFamily="34" charset="0"/>
              </a:rPr>
              <a:t> </a:t>
            </a:r>
            <a:r>
              <a:rPr lang="en-AU" sz="4400" dirty="0" smtClean="0">
                <a:latin typeface="Century Gothic" panose="020B0502020202020204" pitchFamily="34" charset="0"/>
              </a:rPr>
              <a:t>10</a:t>
            </a:r>
          </a:p>
          <a:p>
            <a:pPr marL="742950" indent="-742950" algn="ctr">
              <a:buAutoNum type="alphaLcParenR"/>
            </a:pPr>
            <a:r>
              <a:rPr lang="en-AU" sz="4400" dirty="0" smtClean="0">
                <a:latin typeface="Century Gothic" panose="020B0502020202020204" pitchFamily="34" charset="0"/>
              </a:rPr>
              <a:t>20</a:t>
            </a:r>
          </a:p>
          <a:p>
            <a:pPr marL="742950" indent="-742950" algn="ctr">
              <a:buAutoNum type="alphaLcParenR"/>
            </a:pPr>
            <a:r>
              <a:rPr lang="en-AU" sz="4400" dirty="0" smtClean="0">
                <a:latin typeface="Century Gothic" panose="020B0502020202020204" pitchFamily="34" charset="0"/>
              </a:rPr>
              <a:t>12</a:t>
            </a:r>
            <a:endParaRPr lang="en-AU" sz="4400" dirty="0">
              <a:latin typeface="Century Gothic" panose="020B0502020202020204" pitchFamily="34" charset="0"/>
            </a:endParaRPr>
          </a:p>
        </p:txBody>
      </p:sp>
      <p:sp>
        <p:nvSpPr>
          <p:cNvPr id="8" name="Rectangle 7">
            <a:extLst>
              <a:ext uri="{FF2B5EF4-FFF2-40B4-BE49-F238E27FC236}">
                <a16:creationId xmlns:a16="http://schemas.microsoft.com/office/drawing/2014/main" xmlns="" id="{468FF760-2C8B-4D54-8771-ED87AB4F7D82}"/>
              </a:ext>
            </a:extLst>
          </p:cNvPr>
          <p:cNvSpPr/>
          <p:nvPr/>
        </p:nvSpPr>
        <p:spPr>
          <a:xfrm>
            <a:off x="1865188" y="5187557"/>
            <a:ext cx="4835858" cy="769441"/>
          </a:xfrm>
          <a:prstGeom prst="rect">
            <a:avLst/>
          </a:prstGeom>
        </p:spPr>
        <p:txBody>
          <a:bodyPr wrap="square">
            <a:spAutoFit/>
          </a:bodyPr>
          <a:lstStyle/>
          <a:p>
            <a:r>
              <a:rPr lang="en-AU" sz="4400" dirty="0" smtClean="0">
                <a:solidFill>
                  <a:schemeClr val="accent2">
                    <a:lumMod val="75000"/>
                  </a:schemeClr>
                </a:solidFill>
                <a:latin typeface="Century Gothic" panose="020B0502020202020204" pitchFamily="34" charset="0"/>
              </a:rPr>
              <a:t>d) 12 </a:t>
            </a:r>
            <a:endParaRPr lang="en-AU" sz="4400" dirty="0">
              <a:solidFill>
                <a:schemeClr val="accent2">
                  <a:lumMod val="75000"/>
                </a:schemeClr>
              </a:solidFill>
              <a:latin typeface="Century Gothic" panose="020B0502020202020204" pitchFamily="34" charset="0"/>
            </a:endParaRPr>
          </a:p>
        </p:txBody>
      </p:sp>
    </p:spTree>
    <p:extLst>
      <p:ext uri="{BB962C8B-B14F-4D97-AF65-F5344CB8AC3E}">
        <p14:creationId xmlns:p14="http://schemas.microsoft.com/office/powerpoint/2010/main" val="279989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14</a:t>
            </a:r>
          </a:p>
        </p:txBody>
      </p:sp>
      <p:sp>
        <p:nvSpPr>
          <p:cNvPr id="4" name="Rectangle 3"/>
          <p:cNvSpPr/>
          <p:nvPr/>
        </p:nvSpPr>
        <p:spPr>
          <a:xfrm>
            <a:off x="1745250" y="2131567"/>
            <a:ext cx="8701498" cy="1754326"/>
          </a:xfrm>
          <a:prstGeom prst="rect">
            <a:avLst/>
          </a:prstGeom>
        </p:spPr>
        <p:txBody>
          <a:bodyPr wrap="square">
            <a:spAutoFit/>
          </a:bodyPr>
          <a:lstStyle/>
          <a:p>
            <a:pPr algn="ctr"/>
            <a:r>
              <a:rPr lang="en-AU" sz="5400" dirty="0" smtClean="0"/>
              <a:t>An octopus can fit though any hole larger than its what?</a:t>
            </a:r>
            <a:endParaRPr lang="en-AU" sz="5400" dirty="0">
              <a:latin typeface="Century Gothic" panose="020B0502020202020204" pitchFamily="34" charset="0"/>
            </a:endParaRPr>
          </a:p>
        </p:txBody>
      </p:sp>
      <p:sp>
        <p:nvSpPr>
          <p:cNvPr id="6" name="Rectangle 5"/>
          <p:cNvSpPr/>
          <p:nvPr/>
        </p:nvSpPr>
        <p:spPr>
          <a:xfrm>
            <a:off x="5101087" y="4772416"/>
            <a:ext cx="1544012" cy="769441"/>
          </a:xfrm>
          <a:prstGeom prst="rect">
            <a:avLst/>
          </a:prstGeom>
        </p:spPr>
        <p:txBody>
          <a:bodyPr wrap="none">
            <a:spAutoFit/>
          </a:bodyPr>
          <a:lstStyle/>
          <a:p>
            <a:r>
              <a:rPr lang="en-AU" sz="4400" dirty="0">
                <a:solidFill>
                  <a:schemeClr val="accent2">
                    <a:lumMod val="75000"/>
                  </a:schemeClr>
                </a:solidFill>
                <a:latin typeface="Century Gothic" panose="020B0502020202020204" pitchFamily="34" charset="0"/>
              </a:rPr>
              <a:t>Beak</a:t>
            </a:r>
          </a:p>
        </p:txBody>
      </p:sp>
    </p:spTree>
    <p:extLst>
      <p:ext uri="{BB962C8B-B14F-4D97-AF65-F5344CB8AC3E}">
        <p14:creationId xmlns:p14="http://schemas.microsoft.com/office/powerpoint/2010/main" val="112296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13</a:t>
            </a:r>
          </a:p>
        </p:txBody>
      </p:sp>
      <p:sp>
        <p:nvSpPr>
          <p:cNvPr id="4" name="Rectangle 3"/>
          <p:cNvSpPr/>
          <p:nvPr/>
        </p:nvSpPr>
        <p:spPr>
          <a:xfrm>
            <a:off x="1745250" y="2024027"/>
            <a:ext cx="8701498" cy="3170099"/>
          </a:xfrm>
          <a:prstGeom prst="rect">
            <a:avLst/>
          </a:prstGeom>
        </p:spPr>
        <p:txBody>
          <a:bodyPr wrap="square">
            <a:spAutoFit/>
          </a:bodyPr>
          <a:lstStyle/>
          <a:p>
            <a:pPr algn="ctr"/>
            <a:r>
              <a:rPr lang="en-AU" sz="4000" dirty="0" smtClean="0"/>
              <a:t>Estimate the following:</a:t>
            </a:r>
          </a:p>
          <a:p>
            <a:pPr algn="ctr"/>
            <a:r>
              <a:rPr lang="en-AU" sz="4000" dirty="0" smtClean="0">
                <a:latin typeface="Century Gothic" panose="020B0502020202020204" pitchFamily="34" charset="0"/>
              </a:rPr>
              <a:t>302 + 494 + 155</a:t>
            </a:r>
          </a:p>
          <a:p>
            <a:pPr marL="742950" indent="-742950" algn="ctr">
              <a:buAutoNum type="alphaLcParenR"/>
            </a:pPr>
            <a:r>
              <a:rPr lang="en-AU" sz="4000" dirty="0" smtClean="0">
                <a:latin typeface="Century Gothic" panose="020B0502020202020204" pitchFamily="34" charset="0"/>
              </a:rPr>
              <a:t>750</a:t>
            </a:r>
          </a:p>
          <a:p>
            <a:pPr marL="742950" indent="-742950" algn="ctr">
              <a:buAutoNum type="alphaLcParenR"/>
            </a:pPr>
            <a:r>
              <a:rPr lang="en-AU" sz="4000" dirty="0" smtClean="0">
                <a:latin typeface="Century Gothic" panose="020B0502020202020204" pitchFamily="34" charset="0"/>
              </a:rPr>
              <a:t>1200</a:t>
            </a:r>
          </a:p>
          <a:p>
            <a:pPr marL="742950" indent="-742950" algn="ctr">
              <a:buAutoNum type="alphaLcParenR"/>
            </a:pPr>
            <a:r>
              <a:rPr lang="en-AU" sz="4000" dirty="0" smtClean="0">
                <a:latin typeface="Century Gothic" panose="020B0502020202020204" pitchFamily="34" charset="0"/>
              </a:rPr>
              <a:t>950</a:t>
            </a:r>
            <a:endParaRPr lang="en-AU" sz="4000" dirty="0">
              <a:latin typeface="Century Gothic" panose="020B0502020202020204" pitchFamily="34" charset="0"/>
            </a:endParaRPr>
          </a:p>
        </p:txBody>
      </p:sp>
      <p:sp>
        <p:nvSpPr>
          <p:cNvPr id="6" name="Rectangle 5"/>
          <p:cNvSpPr/>
          <p:nvPr/>
        </p:nvSpPr>
        <p:spPr>
          <a:xfrm>
            <a:off x="5170104" y="5488368"/>
            <a:ext cx="1851789" cy="769441"/>
          </a:xfrm>
          <a:prstGeom prst="rect">
            <a:avLst/>
          </a:prstGeom>
        </p:spPr>
        <p:txBody>
          <a:bodyPr wrap="none">
            <a:spAutoFit/>
          </a:bodyPr>
          <a:lstStyle/>
          <a:p>
            <a:r>
              <a:rPr lang="en-AU" sz="4400" smtClean="0">
                <a:solidFill>
                  <a:schemeClr val="accent2">
                    <a:lumMod val="75000"/>
                  </a:schemeClr>
                </a:solidFill>
                <a:latin typeface="Century Gothic" panose="020B0502020202020204" pitchFamily="34" charset="0"/>
              </a:rPr>
              <a:t>c) 950</a:t>
            </a:r>
            <a:endParaRPr lang="en-AU" sz="4400" dirty="0">
              <a:solidFill>
                <a:schemeClr val="accent2">
                  <a:lumMod val="75000"/>
                </a:schemeClr>
              </a:solidFill>
              <a:latin typeface="Century Gothic" panose="020B0502020202020204" pitchFamily="34" charset="0"/>
            </a:endParaRPr>
          </a:p>
        </p:txBody>
      </p:sp>
    </p:spTree>
    <p:extLst>
      <p:ext uri="{BB962C8B-B14F-4D97-AF65-F5344CB8AC3E}">
        <p14:creationId xmlns:p14="http://schemas.microsoft.com/office/powerpoint/2010/main" val="36949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16</a:t>
            </a:r>
          </a:p>
        </p:txBody>
      </p:sp>
      <p:sp>
        <p:nvSpPr>
          <p:cNvPr id="4" name="Rectangle 3"/>
          <p:cNvSpPr/>
          <p:nvPr/>
        </p:nvSpPr>
        <p:spPr>
          <a:xfrm>
            <a:off x="1745250" y="1989826"/>
            <a:ext cx="8701498" cy="2800767"/>
          </a:xfrm>
          <a:prstGeom prst="rect">
            <a:avLst/>
          </a:prstGeom>
        </p:spPr>
        <p:txBody>
          <a:bodyPr wrap="square">
            <a:spAutoFit/>
          </a:bodyPr>
          <a:lstStyle/>
          <a:p>
            <a:pPr algn="ctr"/>
            <a:r>
              <a:rPr lang="en-AU" sz="4400" dirty="0"/>
              <a:t>	</a:t>
            </a:r>
            <a:r>
              <a:rPr lang="en-AU" sz="4400" dirty="0" smtClean="0">
                <a:latin typeface="Century Gothic" panose="020B0502020202020204" pitchFamily="34" charset="0"/>
              </a:rPr>
              <a:t>Round the following to 2 decimal places:</a:t>
            </a:r>
          </a:p>
          <a:p>
            <a:pPr algn="ctr"/>
            <a:r>
              <a:rPr lang="en-AU" sz="4400" dirty="0" smtClean="0">
                <a:latin typeface="Century Gothic" panose="020B0502020202020204" pitchFamily="34" charset="0"/>
              </a:rPr>
              <a:t>6.978</a:t>
            </a:r>
            <a:endParaRPr lang="en-AU" sz="4400" dirty="0">
              <a:latin typeface="Century Gothic" panose="020B0502020202020204" pitchFamily="34" charset="0"/>
            </a:endParaRPr>
          </a:p>
          <a:p>
            <a:pPr algn="ctr"/>
            <a:endParaRPr lang="en-AU" sz="4400" dirty="0">
              <a:latin typeface="Century Gothic" panose="020B0502020202020204" pitchFamily="34" charset="0"/>
            </a:endParaRPr>
          </a:p>
        </p:txBody>
      </p:sp>
      <p:sp>
        <p:nvSpPr>
          <p:cNvPr id="6" name="Rectangle 5"/>
          <p:cNvSpPr/>
          <p:nvPr/>
        </p:nvSpPr>
        <p:spPr>
          <a:xfrm>
            <a:off x="5526661" y="4901547"/>
            <a:ext cx="1301522" cy="769441"/>
          </a:xfrm>
          <a:prstGeom prst="rect">
            <a:avLst/>
          </a:prstGeom>
        </p:spPr>
        <p:txBody>
          <a:bodyPr wrap="square">
            <a:spAutoFit/>
          </a:bodyPr>
          <a:lstStyle/>
          <a:p>
            <a:r>
              <a:rPr lang="en-AU" sz="4400" smtClean="0">
                <a:solidFill>
                  <a:schemeClr val="accent2">
                    <a:lumMod val="75000"/>
                  </a:schemeClr>
                </a:solidFill>
                <a:latin typeface="Century Gothic" panose="020B0502020202020204" pitchFamily="34" charset="0"/>
              </a:rPr>
              <a:t>6.98</a:t>
            </a:r>
            <a:endParaRPr lang="en-AU" sz="4400" dirty="0">
              <a:solidFill>
                <a:schemeClr val="accent2">
                  <a:lumMod val="75000"/>
                </a:schemeClr>
              </a:solidFill>
              <a:latin typeface="Century Gothic" panose="020B0502020202020204" pitchFamily="34" charset="0"/>
            </a:endParaRPr>
          </a:p>
        </p:txBody>
      </p:sp>
    </p:spTree>
    <p:extLst>
      <p:ext uri="{BB962C8B-B14F-4D97-AF65-F5344CB8AC3E}">
        <p14:creationId xmlns:p14="http://schemas.microsoft.com/office/powerpoint/2010/main" val="178215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16</a:t>
            </a:r>
          </a:p>
        </p:txBody>
      </p:sp>
      <p:sp>
        <p:nvSpPr>
          <p:cNvPr id="4" name="Rectangle 3"/>
          <p:cNvSpPr/>
          <p:nvPr/>
        </p:nvSpPr>
        <p:spPr>
          <a:xfrm>
            <a:off x="1881728" y="2135461"/>
            <a:ext cx="8701498" cy="2123658"/>
          </a:xfrm>
          <a:prstGeom prst="rect">
            <a:avLst/>
          </a:prstGeom>
        </p:spPr>
        <p:txBody>
          <a:bodyPr wrap="square">
            <a:spAutoFit/>
          </a:bodyPr>
          <a:lstStyle/>
          <a:p>
            <a:pPr algn="ctr"/>
            <a:r>
              <a:rPr lang="en-AU" sz="4400" dirty="0">
                <a:latin typeface="Century Gothic" panose="020B0502020202020204" pitchFamily="34" charset="0"/>
              </a:rPr>
              <a:t>Each of a </a:t>
            </a:r>
            <a:r>
              <a:rPr lang="en-AU" sz="4400" dirty="0" err="1">
                <a:latin typeface="Century Gothic" panose="020B0502020202020204" pitchFamily="34" charset="0"/>
              </a:rPr>
              <a:t>Rubiks</a:t>
            </a:r>
            <a:r>
              <a:rPr lang="en-AU" sz="4400" dirty="0">
                <a:latin typeface="Century Gothic" panose="020B0502020202020204" pitchFamily="34" charset="0"/>
              </a:rPr>
              <a:t> cubes six faces is covered by how many stickers?</a:t>
            </a:r>
          </a:p>
        </p:txBody>
      </p:sp>
      <p:sp>
        <p:nvSpPr>
          <p:cNvPr id="6" name="Rectangle 5"/>
          <p:cNvSpPr/>
          <p:nvPr/>
        </p:nvSpPr>
        <p:spPr>
          <a:xfrm>
            <a:off x="6003174" y="4744310"/>
            <a:ext cx="1033731" cy="769441"/>
          </a:xfrm>
          <a:prstGeom prst="rect">
            <a:avLst/>
          </a:prstGeom>
        </p:spPr>
        <p:txBody>
          <a:bodyPr wrap="square">
            <a:spAutoFit/>
          </a:bodyPr>
          <a:lstStyle/>
          <a:p>
            <a:r>
              <a:rPr lang="en-AU" sz="4400" dirty="0">
                <a:solidFill>
                  <a:schemeClr val="accent2">
                    <a:lumMod val="75000"/>
                  </a:schemeClr>
                </a:solidFill>
                <a:latin typeface="Century Gothic" panose="020B0502020202020204" pitchFamily="34" charset="0"/>
              </a:rPr>
              <a:t>9</a:t>
            </a:r>
          </a:p>
        </p:txBody>
      </p:sp>
    </p:spTree>
    <p:extLst>
      <p:ext uri="{BB962C8B-B14F-4D97-AF65-F5344CB8AC3E}">
        <p14:creationId xmlns:p14="http://schemas.microsoft.com/office/powerpoint/2010/main" val="396342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17</a:t>
            </a:r>
          </a:p>
        </p:txBody>
      </p:sp>
      <p:sp>
        <p:nvSpPr>
          <p:cNvPr id="4" name="Rectangle 3"/>
          <p:cNvSpPr/>
          <p:nvPr/>
        </p:nvSpPr>
        <p:spPr>
          <a:xfrm>
            <a:off x="993913" y="1801641"/>
            <a:ext cx="9452835" cy="2800767"/>
          </a:xfrm>
          <a:prstGeom prst="rect">
            <a:avLst/>
          </a:prstGeom>
        </p:spPr>
        <p:txBody>
          <a:bodyPr wrap="square">
            <a:spAutoFit/>
          </a:bodyPr>
          <a:lstStyle/>
          <a:p>
            <a:pPr algn="ctr"/>
            <a:r>
              <a:rPr lang="en-AU" sz="4400" dirty="0"/>
              <a:t>	</a:t>
            </a:r>
            <a:r>
              <a:rPr lang="en-AU" sz="4400" dirty="0" smtClean="0">
                <a:latin typeface="Century Gothic" panose="020B0502020202020204" pitchFamily="34" charset="0"/>
              </a:rPr>
              <a:t>Write the following as a decimal:</a:t>
            </a:r>
            <a:endParaRPr lang="en-AU" sz="4400" dirty="0">
              <a:latin typeface="Century Gothic" panose="020B0502020202020204" pitchFamily="34" charset="0"/>
            </a:endParaRPr>
          </a:p>
          <a:p>
            <a:pPr algn="ctr"/>
            <a:endParaRPr lang="en-AU" sz="4400" dirty="0" smtClean="0">
              <a:latin typeface="Century Gothic" panose="020B0502020202020204" pitchFamily="34" charset="0"/>
            </a:endParaRPr>
          </a:p>
          <a:p>
            <a:pPr algn="ctr"/>
            <a:r>
              <a:rPr lang="en-AU" sz="4400" dirty="0" smtClean="0">
                <a:latin typeface="Century Gothic" panose="020B0502020202020204" pitchFamily="34" charset="0"/>
              </a:rPr>
              <a:t>22</a:t>
            </a:r>
            <a:r>
              <a:rPr lang="en-AU" sz="4400" dirty="0" smtClean="0">
                <a:latin typeface="Century Gothic" panose="020B0502020202020204" pitchFamily="34" charset="0"/>
              </a:rPr>
              <a:t>.45%</a:t>
            </a:r>
            <a:endParaRPr lang="en-AU" sz="4400" dirty="0">
              <a:latin typeface="Century Gothic" panose="020B0502020202020204" pitchFamily="34" charset="0"/>
            </a:endParaRPr>
          </a:p>
        </p:txBody>
      </p:sp>
      <mc:AlternateContent xmlns:mc="http://schemas.openxmlformats.org/markup-compatibility/2006">
        <mc:Choice xmlns:a14="http://schemas.microsoft.com/office/drawing/2010/main" Requires="a14">
          <p:sp>
            <p:nvSpPr>
              <p:cNvPr id="6" name="Rectangle 5"/>
              <p:cNvSpPr/>
              <p:nvPr/>
            </p:nvSpPr>
            <p:spPr>
              <a:xfrm>
                <a:off x="4711079" y="5129816"/>
                <a:ext cx="2018501" cy="7694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CA" sz="4400" i="1" dirty="0" smtClean="0">
                          <a:solidFill>
                            <a:schemeClr val="accent2">
                              <a:lumMod val="75000"/>
                            </a:schemeClr>
                          </a:solidFill>
                          <a:latin typeface="Cambria Math" charset="0"/>
                        </a:rPr>
                        <m:t>0</m:t>
                      </m:r>
                      <m:r>
                        <a:rPr lang="en-CA" sz="4400" b="0" i="1" dirty="0" smtClean="0">
                          <a:solidFill>
                            <a:schemeClr val="accent2">
                              <a:lumMod val="75000"/>
                            </a:schemeClr>
                          </a:solidFill>
                          <a:latin typeface="Cambria Math" charset="0"/>
                        </a:rPr>
                        <m:t>.2245</m:t>
                      </m:r>
                    </m:oMath>
                  </m:oMathPara>
                </a14:m>
                <a:endParaRPr lang="en-AU" sz="4400" dirty="0">
                  <a:solidFill>
                    <a:schemeClr val="accent2">
                      <a:lumMod val="75000"/>
                    </a:schemeClr>
                  </a:solidFill>
                  <a:latin typeface="Century Gothic" panose="020B0502020202020204" pitchFamily="34" charset="0"/>
                </a:endParaRPr>
              </a:p>
            </p:txBody>
          </p:sp>
        </mc:Choice>
        <mc:Fallback>
          <p:sp>
            <p:nvSpPr>
              <p:cNvPr id="6" name="Rectangle 5"/>
              <p:cNvSpPr>
                <a:spLocks noRot="1" noChangeAspect="1" noMove="1" noResize="1" noEditPoints="1" noAdjustHandles="1" noChangeArrowheads="1" noChangeShapeType="1" noTextEdit="1"/>
              </p:cNvSpPr>
              <p:nvPr/>
            </p:nvSpPr>
            <p:spPr>
              <a:xfrm>
                <a:off x="4711079" y="5129816"/>
                <a:ext cx="2018501" cy="769441"/>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8493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18</a:t>
            </a:r>
          </a:p>
        </p:txBody>
      </p:sp>
      <p:sp>
        <p:nvSpPr>
          <p:cNvPr id="6" name="Rectangle 5"/>
          <p:cNvSpPr/>
          <p:nvPr/>
        </p:nvSpPr>
        <p:spPr>
          <a:xfrm>
            <a:off x="5471210" y="4759692"/>
            <a:ext cx="1435008" cy="769441"/>
          </a:xfrm>
          <a:prstGeom prst="rect">
            <a:avLst/>
          </a:prstGeom>
        </p:spPr>
        <p:txBody>
          <a:bodyPr wrap="none">
            <a:spAutoFit/>
          </a:bodyPr>
          <a:lstStyle/>
          <a:p>
            <a:r>
              <a:rPr lang="en-AU" sz="4400" dirty="0" smtClean="0">
                <a:solidFill>
                  <a:schemeClr val="accent2">
                    <a:lumMod val="75000"/>
                  </a:schemeClr>
                </a:solidFill>
                <a:latin typeface="Century Gothic" panose="020B0502020202020204" pitchFamily="34" charset="0"/>
              </a:rPr>
              <a:t>$264</a:t>
            </a:r>
            <a:endParaRPr lang="en-AU" sz="4400" dirty="0">
              <a:solidFill>
                <a:schemeClr val="accent2">
                  <a:lumMod val="75000"/>
                </a:schemeClr>
              </a:solidFill>
              <a:latin typeface="Century Gothic" panose="020B0502020202020204" pitchFamily="34" charset="0"/>
            </a:endParaRPr>
          </a:p>
        </p:txBody>
      </p:sp>
      <p:sp>
        <p:nvSpPr>
          <p:cNvPr id="5" name="Rectangle 4"/>
          <p:cNvSpPr/>
          <p:nvPr/>
        </p:nvSpPr>
        <p:spPr>
          <a:xfrm>
            <a:off x="646043" y="1729785"/>
            <a:ext cx="10734260" cy="2800767"/>
          </a:xfrm>
          <a:prstGeom prst="rect">
            <a:avLst/>
          </a:prstGeom>
        </p:spPr>
        <p:txBody>
          <a:bodyPr wrap="square">
            <a:spAutoFit/>
          </a:bodyPr>
          <a:lstStyle/>
          <a:p>
            <a:pPr algn="ctr"/>
            <a:r>
              <a:rPr lang="en-AU" sz="4400" dirty="0"/>
              <a:t>	</a:t>
            </a:r>
            <a:r>
              <a:rPr lang="en-AU" sz="4400" dirty="0" smtClean="0">
                <a:latin typeface="Century Gothic" panose="020B0502020202020204" pitchFamily="34" charset="0"/>
              </a:rPr>
              <a:t>A pair of shoes cost $220. Their value suddenly increases by 20%. How much do they cost now?:</a:t>
            </a:r>
            <a:endParaRPr lang="en-AU" sz="4400" dirty="0">
              <a:latin typeface="Century Gothic" panose="020B0502020202020204" pitchFamily="34" charset="0"/>
            </a:endParaRPr>
          </a:p>
          <a:p>
            <a:pPr algn="ctr"/>
            <a:endParaRPr lang="en-AU" sz="4400" dirty="0">
              <a:latin typeface="Century Gothic" panose="020B0502020202020204" pitchFamily="34" charset="0"/>
            </a:endParaRPr>
          </a:p>
        </p:txBody>
      </p:sp>
    </p:spTree>
    <p:extLst>
      <p:ext uri="{BB962C8B-B14F-4D97-AF65-F5344CB8AC3E}">
        <p14:creationId xmlns:p14="http://schemas.microsoft.com/office/powerpoint/2010/main" val="87789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19</a:t>
            </a:r>
          </a:p>
        </p:txBody>
      </p:sp>
      <p:sp>
        <p:nvSpPr>
          <p:cNvPr id="6" name="Rectangle 5"/>
          <p:cNvSpPr/>
          <p:nvPr/>
        </p:nvSpPr>
        <p:spPr>
          <a:xfrm>
            <a:off x="4620474" y="4881932"/>
            <a:ext cx="1715534" cy="769441"/>
          </a:xfrm>
          <a:prstGeom prst="rect">
            <a:avLst/>
          </a:prstGeom>
        </p:spPr>
        <p:txBody>
          <a:bodyPr wrap="none">
            <a:spAutoFit/>
          </a:bodyPr>
          <a:lstStyle/>
          <a:p>
            <a:r>
              <a:rPr lang="en-AU" sz="4400" smtClean="0">
                <a:solidFill>
                  <a:schemeClr val="accent2">
                    <a:lumMod val="75000"/>
                  </a:schemeClr>
                </a:solidFill>
                <a:latin typeface="Century Gothic" panose="020B0502020202020204" pitchFamily="34" charset="0"/>
              </a:rPr>
              <a:t>12.8%</a:t>
            </a:r>
            <a:endParaRPr lang="en-AU" sz="4400" dirty="0">
              <a:solidFill>
                <a:schemeClr val="accent2">
                  <a:lumMod val="75000"/>
                </a:schemeClr>
              </a:solidFill>
              <a:latin typeface="Century Gothic" panose="020B0502020202020204" pitchFamily="34" charset="0"/>
            </a:endParaRPr>
          </a:p>
        </p:txBody>
      </p:sp>
      <mc:AlternateContent xmlns:mc="http://schemas.openxmlformats.org/markup-compatibility/2006">
        <mc:Choice xmlns:a14="http://schemas.microsoft.com/office/drawing/2010/main" Requires="a14">
          <p:sp>
            <p:nvSpPr>
              <p:cNvPr id="5" name="Rectangle 4"/>
              <p:cNvSpPr/>
              <p:nvPr/>
            </p:nvSpPr>
            <p:spPr>
              <a:xfrm>
                <a:off x="387626" y="1901030"/>
                <a:ext cx="11300791" cy="1054006"/>
              </a:xfrm>
              <a:prstGeom prst="rect">
                <a:avLst/>
              </a:prstGeom>
            </p:spPr>
            <p:txBody>
              <a:bodyPr wrap="square">
                <a:spAutoFit/>
              </a:bodyPr>
              <a:lstStyle/>
              <a:p>
                <a:pPr algn="ctr"/>
                <a:r>
                  <a:rPr lang="en-AU" sz="4400" dirty="0" smtClean="0"/>
                  <a:t>	</a:t>
                </a:r>
                <a:r>
                  <a:rPr lang="en-AU" sz="4400" dirty="0" smtClean="0">
                    <a:latin typeface="Century Gothic" panose="020B0502020202020204" pitchFamily="34" charset="0"/>
                  </a:rPr>
                  <a:t>Write </a:t>
                </a:r>
                <a14:m>
                  <m:oMath xmlns:m="http://schemas.openxmlformats.org/officeDocument/2006/math">
                    <m:f>
                      <m:fPr>
                        <m:ctrlPr>
                          <a:rPr lang="mr-IN" sz="4400" i="1" smtClean="0">
                            <a:latin typeface="Cambria Math" charset="0"/>
                          </a:rPr>
                        </m:ctrlPr>
                      </m:fPr>
                      <m:num>
                        <m:r>
                          <a:rPr lang="en-CA" sz="4400" b="0" i="1" smtClean="0">
                            <a:latin typeface="Cambria Math" charset="0"/>
                          </a:rPr>
                          <m:t>16</m:t>
                        </m:r>
                      </m:num>
                      <m:den>
                        <m:r>
                          <a:rPr lang="en-CA" sz="4400" b="0" i="1" smtClean="0">
                            <a:latin typeface="Cambria Math" charset="0"/>
                          </a:rPr>
                          <m:t>125</m:t>
                        </m:r>
                      </m:den>
                    </m:f>
                    <m:r>
                      <a:rPr lang="en-CA" sz="4400" b="0" i="1" smtClean="0">
                        <a:latin typeface="Cambria Math" charset="0"/>
                      </a:rPr>
                      <m:t> </m:t>
                    </m:r>
                    <m:r>
                      <a:rPr lang="en-CA" sz="4400" b="0" i="1" smtClean="0">
                        <a:latin typeface="Cambria Math" charset="0"/>
                      </a:rPr>
                      <m:t>𝑎𝑠</m:t>
                    </m:r>
                    <m:r>
                      <a:rPr lang="en-CA" sz="4400" b="0" i="1" smtClean="0">
                        <a:latin typeface="Cambria Math" charset="0"/>
                      </a:rPr>
                      <m:t> </m:t>
                    </m:r>
                    <m:r>
                      <a:rPr lang="en-CA" sz="4400" b="0" i="1" smtClean="0">
                        <a:latin typeface="Cambria Math" charset="0"/>
                      </a:rPr>
                      <m:t>𝑎</m:t>
                    </m:r>
                    <m:r>
                      <a:rPr lang="en-CA" sz="4400" b="0" i="1" smtClean="0">
                        <a:latin typeface="Cambria Math" charset="0"/>
                      </a:rPr>
                      <m:t> </m:t>
                    </m:r>
                    <m:r>
                      <a:rPr lang="en-CA" sz="4400" b="0" i="1" smtClean="0">
                        <a:latin typeface="Cambria Math" charset="0"/>
                      </a:rPr>
                      <m:t>𝑝𝑒𝑟𝑐𝑒𝑛𝑡𝑎𝑔𝑒</m:t>
                    </m:r>
                    <m:r>
                      <a:rPr lang="en-CA" sz="4400" b="0" i="1" smtClean="0">
                        <a:latin typeface="Cambria Math" charset="0"/>
                      </a:rPr>
                      <m:t> (</m:t>
                    </m:r>
                    <m:r>
                      <a:rPr lang="en-CA" sz="4400" b="0" i="1" smtClean="0">
                        <a:latin typeface="Cambria Math" charset="0"/>
                      </a:rPr>
                      <m:t>𝑐𝑎𝑙𝑐</m:t>
                    </m:r>
                    <m:r>
                      <a:rPr lang="en-CA" sz="4400" b="0" i="1" smtClean="0">
                        <a:latin typeface="Cambria Math" charset="0"/>
                      </a:rPr>
                      <m:t> </m:t>
                    </m:r>
                    <m:r>
                      <a:rPr lang="en-CA" sz="4400" b="0" i="1" smtClean="0">
                        <a:latin typeface="Cambria Math" charset="0"/>
                      </a:rPr>
                      <m:t>𝑎𝑙𝑙𝑜𝑤𝑒𝑑</m:t>
                    </m:r>
                    <m:r>
                      <a:rPr lang="en-CA" sz="4400" b="0" i="1" smtClean="0">
                        <a:latin typeface="Cambria Math" charset="0"/>
                      </a:rPr>
                      <m:t>)</m:t>
                    </m:r>
                  </m:oMath>
                </a14:m>
                <a:endParaRPr lang="en-AU" sz="4400" dirty="0">
                  <a:latin typeface="Century Gothic" panose="020B0502020202020204" pitchFamily="34" charset="0"/>
                </a:endParaRPr>
              </a:p>
            </p:txBody>
          </p:sp>
        </mc:Choice>
        <mc:Fallback>
          <p:sp>
            <p:nvSpPr>
              <p:cNvPr id="5" name="Rectangle 4"/>
              <p:cNvSpPr>
                <a:spLocks noRot="1" noChangeAspect="1" noMove="1" noResize="1" noEditPoints="1" noAdjustHandles="1" noChangeArrowheads="1" noChangeShapeType="1" noTextEdit="1"/>
              </p:cNvSpPr>
              <p:nvPr/>
            </p:nvSpPr>
            <p:spPr>
              <a:xfrm>
                <a:off x="387626" y="1901030"/>
                <a:ext cx="11300791" cy="1054006"/>
              </a:xfrm>
              <a:prstGeom prst="rect">
                <a:avLst/>
              </a:prstGeom>
              <a:blipFill rotWithShape="0">
                <a:blip r:embed="rId2"/>
                <a:stretch>
                  <a:fillRect t="-1734" b="-10405"/>
                </a:stretch>
              </a:blipFill>
            </p:spPr>
            <p:txBody>
              <a:bodyPr/>
              <a:lstStyle/>
              <a:p>
                <a:r>
                  <a:rPr lang="en-US">
                    <a:noFill/>
                  </a:rPr>
                  <a:t> </a:t>
                </a:r>
              </a:p>
            </p:txBody>
          </p:sp>
        </mc:Fallback>
      </mc:AlternateContent>
    </p:spTree>
    <p:extLst>
      <p:ext uri="{BB962C8B-B14F-4D97-AF65-F5344CB8AC3E}">
        <p14:creationId xmlns:p14="http://schemas.microsoft.com/office/powerpoint/2010/main" val="164390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21</a:t>
            </a:r>
          </a:p>
        </p:txBody>
      </p:sp>
      <p:sp>
        <p:nvSpPr>
          <p:cNvPr id="4" name="Rectangle 3"/>
          <p:cNvSpPr/>
          <p:nvPr/>
        </p:nvSpPr>
        <p:spPr>
          <a:xfrm>
            <a:off x="1414306" y="2270269"/>
            <a:ext cx="9363383" cy="1446550"/>
          </a:xfrm>
          <a:prstGeom prst="rect">
            <a:avLst/>
          </a:prstGeom>
        </p:spPr>
        <p:txBody>
          <a:bodyPr wrap="square">
            <a:spAutoFit/>
          </a:bodyPr>
          <a:lstStyle/>
          <a:p>
            <a:pPr algn="ctr"/>
            <a:r>
              <a:rPr lang="en-AU" sz="4400" dirty="0"/>
              <a:t>	</a:t>
            </a:r>
            <a:r>
              <a:rPr lang="en-AU" sz="4400" dirty="0">
                <a:latin typeface="Century Gothic" panose="020B0502020202020204" pitchFamily="34" charset="0"/>
              </a:rPr>
              <a:t>What was the name of the human boy in the Jungle Book?</a:t>
            </a:r>
          </a:p>
        </p:txBody>
      </p:sp>
      <p:sp>
        <p:nvSpPr>
          <p:cNvPr id="6" name="Rectangle 5"/>
          <p:cNvSpPr/>
          <p:nvPr/>
        </p:nvSpPr>
        <p:spPr>
          <a:xfrm>
            <a:off x="5023429" y="4586577"/>
            <a:ext cx="2145139" cy="769441"/>
          </a:xfrm>
          <a:prstGeom prst="rect">
            <a:avLst/>
          </a:prstGeom>
        </p:spPr>
        <p:txBody>
          <a:bodyPr wrap="none">
            <a:spAutoFit/>
          </a:bodyPr>
          <a:lstStyle/>
          <a:p>
            <a:r>
              <a:rPr lang="en-AU" sz="4400" dirty="0">
                <a:solidFill>
                  <a:schemeClr val="accent2">
                    <a:lumMod val="75000"/>
                  </a:schemeClr>
                </a:solidFill>
                <a:latin typeface="Century Gothic" panose="020B0502020202020204" pitchFamily="34" charset="0"/>
              </a:rPr>
              <a:t>Mowgli</a:t>
            </a:r>
          </a:p>
        </p:txBody>
      </p:sp>
    </p:spTree>
    <p:extLst>
      <p:ext uri="{BB962C8B-B14F-4D97-AF65-F5344CB8AC3E}">
        <p14:creationId xmlns:p14="http://schemas.microsoft.com/office/powerpoint/2010/main" val="94543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22</a:t>
            </a:r>
          </a:p>
        </p:txBody>
      </p:sp>
      <p:sp>
        <p:nvSpPr>
          <p:cNvPr id="4" name="Rectangle 3"/>
          <p:cNvSpPr/>
          <p:nvPr/>
        </p:nvSpPr>
        <p:spPr>
          <a:xfrm>
            <a:off x="1626222" y="2449619"/>
            <a:ext cx="8701498" cy="769441"/>
          </a:xfrm>
          <a:prstGeom prst="rect">
            <a:avLst/>
          </a:prstGeom>
        </p:spPr>
        <p:txBody>
          <a:bodyPr wrap="square">
            <a:spAutoFit/>
          </a:bodyPr>
          <a:lstStyle/>
          <a:p>
            <a:pPr algn="ctr"/>
            <a:r>
              <a:rPr lang="en-AU" sz="4400" dirty="0"/>
              <a:t>	</a:t>
            </a:r>
            <a:r>
              <a:rPr lang="en-AU" sz="4400" dirty="0">
                <a:latin typeface="Century Gothic" panose="020B0502020202020204" pitchFamily="34" charset="0"/>
              </a:rPr>
              <a:t>37% of $78</a:t>
            </a:r>
          </a:p>
        </p:txBody>
      </p:sp>
      <p:sp>
        <p:nvSpPr>
          <p:cNvPr id="6" name="Rectangle 5"/>
          <p:cNvSpPr/>
          <p:nvPr/>
        </p:nvSpPr>
        <p:spPr>
          <a:xfrm>
            <a:off x="5025428" y="4498424"/>
            <a:ext cx="1903085" cy="769441"/>
          </a:xfrm>
          <a:prstGeom prst="rect">
            <a:avLst/>
          </a:prstGeom>
        </p:spPr>
        <p:txBody>
          <a:bodyPr wrap="none">
            <a:spAutoFit/>
          </a:bodyPr>
          <a:lstStyle/>
          <a:p>
            <a:r>
              <a:rPr lang="en-AU" sz="4400" dirty="0">
                <a:solidFill>
                  <a:schemeClr val="accent2">
                    <a:lumMod val="75000"/>
                  </a:schemeClr>
                </a:solidFill>
                <a:latin typeface="Century Gothic" panose="020B0502020202020204" pitchFamily="34" charset="0"/>
              </a:rPr>
              <a:t>$28.86</a:t>
            </a:r>
          </a:p>
        </p:txBody>
      </p:sp>
    </p:spTree>
    <p:extLst>
      <p:ext uri="{BB962C8B-B14F-4D97-AF65-F5344CB8AC3E}">
        <p14:creationId xmlns:p14="http://schemas.microsoft.com/office/powerpoint/2010/main" val="257563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22</a:t>
            </a:r>
          </a:p>
        </p:txBody>
      </p:sp>
      <p:sp>
        <p:nvSpPr>
          <p:cNvPr id="4" name="Rectangle 3"/>
          <p:cNvSpPr/>
          <p:nvPr/>
        </p:nvSpPr>
        <p:spPr>
          <a:xfrm>
            <a:off x="1626222" y="2449619"/>
            <a:ext cx="8701498" cy="1446550"/>
          </a:xfrm>
          <a:prstGeom prst="rect">
            <a:avLst/>
          </a:prstGeom>
        </p:spPr>
        <p:txBody>
          <a:bodyPr wrap="square">
            <a:spAutoFit/>
          </a:bodyPr>
          <a:lstStyle/>
          <a:p>
            <a:pPr algn="ctr"/>
            <a:r>
              <a:rPr lang="en-AU" sz="4400" dirty="0"/>
              <a:t>	</a:t>
            </a:r>
            <a:r>
              <a:rPr lang="en-AU" sz="4400" dirty="0">
                <a:latin typeface="Century Gothic" panose="020B0502020202020204" pitchFamily="34" charset="0"/>
              </a:rPr>
              <a:t>$400 has a discount of 25%. What is the new price?</a:t>
            </a:r>
          </a:p>
        </p:txBody>
      </p:sp>
      <p:sp>
        <p:nvSpPr>
          <p:cNvPr id="6" name="Rectangle 5"/>
          <p:cNvSpPr/>
          <p:nvPr/>
        </p:nvSpPr>
        <p:spPr>
          <a:xfrm>
            <a:off x="5259467" y="4616003"/>
            <a:ext cx="1435008" cy="769441"/>
          </a:xfrm>
          <a:prstGeom prst="rect">
            <a:avLst/>
          </a:prstGeom>
        </p:spPr>
        <p:txBody>
          <a:bodyPr wrap="none">
            <a:spAutoFit/>
          </a:bodyPr>
          <a:lstStyle/>
          <a:p>
            <a:r>
              <a:rPr lang="en-AU" sz="4400" dirty="0">
                <a:solidFill>
                  <a:schemeClr val="accent2">
                    <a:lumMod val="75000"/>
                  </a:schemeClr>
                </a:solidFill>
                <a:latin typeface="Century Gothic" panose="020B0502020202020204" pitchFamily="34" charset="0"/>
              </a:rPr>
              <a:t>$300</a:t>
            </a:r>
          </a:p>
        </p:txBody>
      </p:sp>
    </p:spTree>
    <p:extLst>
      <p:ext uri="{BB962C8B-B14F-4D97-AF65-F5344CB8AC3E}">
        <p14:creationId xmlns:p14="http://schemas.microsoft.com/office/powerpoint/2010/main" val="390940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18</a:t>
            </a:r>
          </a:p>
        </p:txBody>
      </p:sp>
      <p:sp>
        <p:nvSpPr>
          <p:cNvPr id="6" name="Rectangle 5"/>
          <p:cNvSpPr/>
          <p:nvPr/>
        </p:nvSpPr>
        <p:spPr>
          <a:xfrm>
            <a:off x="5378495" y="5110467"/>
            <a:ext cx="1435008" cy="769441"/>
          </a:xfrm>
          <a:prstGeom prst="rect">
            <a:avLst/>
          </a:prstGeom>
        </p:spPr>
        <p:txBody>
          <a:bodyPr wrap="none">
            <a:spAutoFit/>
          </a:bodyPr>
          <a:lstStyle/>
          <a:p>
            <a:r>
              <a:rPr lang="en-AU" sz="4400" smtClean="0">
                <a:solidFill>
                  <a:schemeClr val="accent2">
                    <a:lumMod val="75000"/>
                  </a:schemeClr>
                </a:solidFill>
                <a:latin typeface="Century Gothic" panose="020B0502020202020204" pitchFamily="34" charset="0"/>
              </a:rPr>
              <a:t>$216</a:t>
            </a:r>
            <a:endParaRPr lang="en-AU" sz="4400" dirty="0">
              <a:solidFill>
                <a:schemeClr val="accent2">
                  <a:lumMod val="75000"/>
                </a:schemeClr>
              </a:solidFill>
              <a:latin typeface="Century Gothic" panose="020B0502020202020204" pitchFamily="34" charset="0"/>
            </a:endParaRPr>
          </a:p>
        </p:txBody>
      </p:sp>
      <p:sp>
        <p:nvSpPr>
          <p:cNvPr id="5" name="Rectangle 4"/>
          <p:cNvSpPr/>
          <p:nvPr/>
        </p:nvSpPr>
        <p:spPr>
          <a:xfrm>
            <a:off x="745435" y="1948071"/>
            <a:ext cx="10446025" cy="2800767"/>
          </a:xfrm>
          <a:prstGeom prst="rect">
            <a:avLst/>
          </a:prstGeom>
        </p:spPr>
        <p:txBody>
          <a:bodyPr wrap="square">
            <a:spAutoFit/>
          </a:bodyPr>
          <a:lstStyle/>
          <a:p>
            <a:pPr algn="ctr"/>
            <a:r>
              <a:rPr lang="en-AU" sz="4400" dirty="0"/>
              <a:t>	</a:t>
            </a:r>
            <a:r>
              <a:rPr lang="en-AU" sz="4400" dirty="0" err="1" smtClean="0"/>
              <a:t>Pepito</a:t>
            </a:r>
            <a:r>
              <a:rPr lang="en-AU" sz="4400" dirty="0" smtClean="0"/>
              <a:t> earns $18 an hour on weekdays and time and a half on weekends. If he worked a 12hr shift on Saturday, how much did he earn?</a:t>
            </a:r>
            <a:endParaRPr lang="en-AU" sz="4400" dirty="0">
              <a:latin typeface="Century Gothic" panose="020B0502020202020204" pitchFamily="34" charset="0"/>
            </a:endParaRPr>
          </a:p>
        </p:txBody>
      </p:sp>
    </p:spTree>
    <p:extLst>
      <p:ext uri="{BB962C8B-B14F-4D97-AF65-F5344CB8AC3E}">
        <p14:creationId xmlns:p14="http://schemas.microsoft.com/office/powerpoint/2010/main" val="2119774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133608"/>
            <a:ext cx="10364451" cy="1596177"/>
          </a:xfrm>
        </p:spPr>
        <p:txBody>
          <a:bodyPr>
            <a:normAutofit/>
          </a:bodyPr>
          <a:lstStyle/>
          <a:p>
            <a:r>
              <a:rPr lang="en-AU" sz="6600" b="1" dirty="0">
                <a:solidFill>
                  <a:schemeClr val="accent1">
                    <a:lumMod val="50000"/>
                  </a:schemeClr>
                </a:solidFill>
                <a:latin typeface="Courier New" panose="02070309020205020404" pitchFamily="49" charset="0"/>
                <a:cs typeface="Courier New" panose="02070309020205020404" pitchFamily="49" charset="0"/>
              </a:rPr>
              <a:t>Question 19</a:t>
            </a:r>
          </a:p>
        </p:txBody>
      </p:sp>
      <p:sp>
        <p:nvSpPr>
          <p:cNvPr id="6" name="Rectangle 5"/>
          <p:cNvSpPr/>
          <p:nvPr/>
        </p:nvSpPr>
        <p:spPr>
          <a:xfrm>
            <a:off x="2705751" y="4787486"/>
            <a:ext cx="7382466" cy="1464227"/>
          </a:xfrm>
          <a:prstGeom prst="rect">
            <a:avLst/>
          </a:prstGeom>
        </p:spPr>
        <p:txBody>
          <a:bodyPr wrap="square">
            <a:spAutoFit/>
          </a:bodyPr>
          <a:lstStyle/>
          <a:p>
            <a:r>
              <a:rPr lang="en-AU" sz="4400" dirty="0" smtClean="0">
                <a:solidFill>
                  <a:schemeClr val="accent2">
                    <a:lumMod val="75000"/>
                  </a:schemeClr>
                </a:solidFill>
                <a:latin typeface="Century Gothic" panose="020B0502020202020204" pitchFamily="34" charset="0"/>
              </a:rPr>
              <a:t>49km and Mr. Summers needs to buy his own car</a:t>
            </a:r>
            <a:endParaRPr lang="en-AU" sz="4400" dirty="0">
              <a:solidFill>
                <a:schemeClr val="accent2">
                  <a:lumMod val="75000"/>
                </a:schemeClr>
              </a:solidFill>
              <a:latin typeface="Century Gothic" panose="020B0502020202020204" pitchFamily="34" charset="0"/>
            </a:endParaRPr>
          </a:p>
        </p:txBody>
      </p:sp>
      <p:sp>
        <p:nvSpPr>
          <p:cNvPr id="5" name="Rectangle 4"/>
          <p:cNvSpPr/>
          <p:nvPr/>
        </p:nvSpPr>
        <p:spPr>
          <a:xfrm>
            <a:off x="556592" y="2126849"/>
            <a:ext cx="10982738" cy="2062103"/>
          </a:xfrm>
          <a:prstGeom prst="rect">
            <a:avLst/>
          </a:prstGeom>
        </p:spPr>
        <p:txBody>
          <a:bodyPr wrap="square">
            <a:spAutoFit/>
          </a:bodyPr>
          <a:lstStyle/>
          <a:p>
            <a:pPr algn="ctr"/>
            <a:r>
              <a:rPr lang="en-AU" sz="4400" dirty="0"/>
              <a:t>	</a:t>
            </a:r>
            <a:r>
              <a:rPr lang="en-AU" sz="2800" dirty="0" smtClean="0">
                <a:latin typeface="Century Gothic" panose="020B0502020202020204" pitchFamily="34" charset="0"/>
              </a:rPr>
              <a:t>Ms. L needs to drive 85 km to pick up Mr. Summers. She drives 14 km before stopping for gas, then another 22 km before grabbing coffee. How much farther does she has to travel?</a:t>
            </a:r>
            <a:endParaRPr lang="en-AU" sz="2800" dirty="0">
              <a:latin typeface="Century Gothic" panose="020B0502020202020204" pitchFamily="34" charset="0"/>
            </a:endParaRPr>
          </a:p>
        </p:txBody>
      </p:sp>
    </p:spTree>
    <p:extLst>
      <p:ext uri="{BB962C8B-B14F-4D97-AF65-F5344CB8AC3E}">
        <p14:creationId xmlns:p14="http://schemas.microsoft.com/office/powerpoint/2010/main" val="71963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CDFFCF-E633-45B4-A0F0-4FA9AA5A3794}"/>
              </a:ext>
            </a:extLst>
          </p:cNvPr>
          <p:cNvSpPr>
            <a:spLocks noGrp="1"/>
          </p:cNvSpPr>
          <p:nvPr>
            <p:ph type="title"/>
          </p:nvPr>
        </p:nvSpPr>
        <p:spPr>
          <a:xfrm>
            <a:off x="309838" y="132522"/>
            <a:ext cx="10058402" cy="1219200"/>
          </a:xfrm>
        </p:spPr>
        <p:txBody>
          <a:bodyPr>
            <a:normAutofit/>
          </a:bodyPr>
          <a:lstStyle/>
          <a:p>
            <a:r>
              <a:rPr lang="en-AU" sz="4400" dirty="0"/>
              <a:t>BONUS</a:t>
            </a:r>
          </a:p>
        </p:txBody>
      </p:sp>
      <p:sp>
        <p:nvSpPr>
          <p:cNvPr id="3" name="Content Placeholder 2">
            <a:extLst>
              <a:ext uri="{FF2B5EF4-FFF2-40B4-BE49-F238E27FC236}">
                <a16:creationId xmlns:a16="http://schemas.microsoft.com/office/drawing/2014/main" xmlns="" id="{F9A7F0F5-F3DF-4F6B-9094-6225199AB2F8}"/>
              </a:ext>
            </a:extLst>
          </p:cNvPr>
          <p:cNvSpPr>
            <a:spLocks noGrp="1"/>
          </p:cNvSpPr>
          <p:nvPr>
            <p:ph idx="1"/>
          </p:nvPr>
        </p:nvSpPr>
        <p:spPr>
          <a:xfrm>
            <a:off x="309840" y="1633330"/>
            <a:ext cx="10058400" cy="4229100"/>
          </a:xfrm>
        </p:spPr>
        <p:txBody>
          <a:bodyPr>
            <a:normAutofit/>
          </a:bodyPr>
          <a:lstStyle/>
          <a:p>
            <a:r>
              <a:rPr lang="en-AU" sz="4800" dirty="0"/>
              <a:t>Who is this?</a:t>
            </a:r>
          </a:p>
        </p:txBody>
      </p:sp>
      <p:pic>
        <p:nvPicPr>
          <p:cNvPr id="4" name="Picture 3">
            <a:extLst>
              <a:ext uri="{FF2B5EF4-FFF2-40B4-BE49-F238E27FC236}">
                <a16:creationId xmlns:a16="http://schemas.microsoft.com/office/drawing/2014/main" xmlns="" id="{2E68F8D0-57CF-445A-81CB-5D7F23F301A3}"/>
              </a:ext>
            </a:extLst>
          </p:cNvPr>
          <p:cNvPicPr>
            <a:picLocks noChangeAspect="1"/>
          </p:cNvPicPr>
          <p:nvPr/>
        </p:nvPicPr>
        <p:blipFill>
          <a:blip r:embed="rId2"/>
          <a:stretch>
            <a:fillRect/>
          </a:stretch>
        </p:blipFill>
        <p:spPr>
          <a:xfrm>
            <a:off x="4792681" y="2226365"/>
            <a:ext cx="7399319" cy="4631635"/>
          </a:xfrm>
          <a:prstGeom prst="rect">
            <a:avLst/>
          </a:prstGeom>
        </p:spPr>
      </p:pic>
    </p:spTree>
    <p:extLst>
      <p:ext uri="{BB962C8B-B14F-4D97-AF65-F5344CB8AC3E}">
        <p14:creationId xmlns:p14="http://schemas.microsoft.com/office/powerpoint/2010/main" val="1988350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959814-86B5-4E7D-B332-586E60547F9D}"/>
              </a:ext>
            </a:extLst>
          </p:cNvPr>
          <p:cNvSpPr>
            <a:spLocks noGrp="1"/>
          </p:cNvSpPr>
          <p:nvPr>
            <p:ph type="title"/>
          </p:nvPr>
        </p:nvSpPr>
        <p:spPr/>
        <p:txBody>
          <a:bodyPr/>
          <a:lstStyle/>
          <a:p>
            <a:endParaRPr lang="en-AU" dirty="0"/>
          </a:p>
        </p:txBody>
      </p:sp>
      <p:sp>
        <p:nvSpPr>
          <p:cNvPr id="3" name="Content Placeholder 2">
            <a:extLst>
              <a:ext uri="{FF2B5EF4-FFF2-40B4-BE49-F238E27FC236}">
                <a16:creationId xmlns:a16="http://schemas.microsoft.com/office/drawing/2014/main" xmlns="" id="{4C745F67-21A9-4D59-B5DC-3BE17BF091EF}"/>
              </a:ext>
            </a:extLst>
          </p:cNvPr>
          <p:cNvSpPr>
            <a:spLocks noGrp="1"/>
          </p:cNvSpPr>
          <p:nvPr>
            <p:ph idx="1"/>
          </p:nvPr>
        </p:nvSpPr>
        <p:spPr/>
        <p:txBody>
          <a:bodyPr>
            <a:normAutofit/>
          </a:bodyPr>
          <a:lstStyle/>
          <a:p>
            <a:r>
              <a:rPr lang="en-AU" sz="8000" dirty="0"/>
              <a:t>Baby Dory</a:t>
            </a:r>
          </a:p>
        </p:txBody>
      </p:sp>
    </p:spTree>
    <p:extLst>
      <p:ext uri="{BB962C8B-B14F-4D97-AF65-F5344CB8AC3E}">
        <p14:creationId xmlns:p14="http://schemas.microsoft.com/office/powerpoint/2010/main" val="1219452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65359"/>
      </a:accent1>
      <a:accent2>
        <a:srgbClr val="ED8428"/>
      </a:accent2>
      <a:accent3>
        <a:srgbClr val="E6C46D"/>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docProps/app.xml><?xml version="1.0" encoding="utf-8"?>
<Properties xmlns="http://schemas.openxmlformats.org/officeDocument/2006/extended-properties" xmlns:vt="http://schemas.openxmlformats.org/officeDocument/2006/docPropsVTypes">
  <Template>TM03457464[[fn=Dividend]]</Template>
  <TotalTime>1735</TotalTime>
  <Words>247</Words>
  <Application>Microsoft Macintosh PowerPoint</Application>
  <PresentationFormat>Widescreen</PresentationFormat>
  <Paragraphs>104</Paragraphs>
  <Slides>32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Cambria Math</vt:lpstr>
      <vt:lpstr>Century Gothic</vt:lpstr>
      <vt:lpstr>Courier New</vt:lpstr>
      <vt:lpstr>Gill Sans MT</vt:lpstr>
      <vt:lpstr>Mangal</vt:lpstr>
      <vt:lpstr>ＭＳ Ｐゴシック</vt:lpstr>
      <vt:lpstr>SimSun</vt:lpstr>
      <vt:lpstr>Wingdings 2</vt:lpstr>
      <vt:lpstr>Arial</vt:lpstr>
      <vt:lpstr>Dividend</vt:lpstr>
      <vt:lpstr>Crumple and shoot -All credit to Ms.L</vt:lpstr>
      <vt:lpstr>Rules</vt:lpstr>
      <vt:lpstr>Question 1</vt:lpstr>
      <vt:lpstr>PowerPoint Presentation</vt:lpstr>
      <vt:lpstr>Question 2</vt:lpstr>
      <vt:lpstr>PowerPoint Presentation</vt:lpstr>
      <vt:lpstr>Question 3</vt:lpstr>
      <vt:lpstr>PowerPoint Presentation</vt:lpstr>
      <vt:lpstr>Question 4</vt:lpstr>
      <vt:lpstr>PowerPoint Presentation</vt:lpstr>
      <vt:lpstr>Question 5</vt:lpstr>
      <vt:lpstr>PowerPoint Presentation</vt:lpstr>
      <vt:lpstr>Question 6</vt:lpstr>
      <vt:lpstr>PowerPoint Presentation</vt:lpstr>
      <vt:lpstr>Question 6</vt:lpstr>
      <vt:lpstr>Question 7</vt:lpstr>
      <vt:lpstr>Question 8</vt:lpstr>
      <vt:lpstr>Question 11</vt:lpstr>
      <vt:lpstr>Question 14</vt:lpstr>
      <vt:lpstr>Question 13</vt:lpstr>
      <vt:lpstr>Question 16</vt:lpstr>
      <vt:lpstr>Question 16</vt:lpstr>
      <vt:lpstr>Question 17</vt:lpstr>
      <vt:lpstr>Question 18</vt:lpstr>
      <vt:lpstr>Question 19</vt:lpstr>
      <vt:lpstr>Question 21</vt:lpstr>
      <vt:lpstr>Question 22</vt:lpstr>
      <vt:lpstr>Question 22</vt:lpstr>
      <vt:lpstr>Question 18</vt:lpstr>
      <vt:lpstr>Question 19</vt:lpstr>
      <vt:lpstr>BONUS</vt:lpstr>
      <vt:lpstr>PowerPoint Presentation</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Crumple and shoot</dc:title>
  <dc:creator>Nine Labuschagne</dc:creator>
  <cp:lastModifiedBy>SUMMERS Brad [Baldivis Secondary College]</cp:lastModifiedBy>
  <cp:revision>31</cp:revision>
  <dcterms:created xsi:type="dcterms:W3CDTF">2017-09-06T07:33:52Z</dcterms:created>
  <dcterms:modified xsi:type="dcterms:W3CDTF">2018-02-12T13:10:05Z</dcterms:modified>
</cp:coreProperties>
</file>
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1"/>
  </p:notesMasterIdLst>
  <p:sldIdLst>
    <p:sldId id="285" r:id="rId2"/>
    <p:sldId id="259" r:id="rId3"/>
    <p:sldId id="278" r:id="rId4"/>
    <p:sldId id="260" r:id="rId5"/>
    <p:sldId id="295" r:id="rId6"/>
    <p:sldId id="298" r:id="rId7"/>
    <p:sldId id="289" r:id="rId8"/>
    <p:sldId id="296" r:id="rId9"/>
    <p:sldId id="297" r:id="rId1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 autoAdjust="0"/>
    <p:restoredTop sz="84214" autoAdjust="0"/>
  </p:normalViewPr>
  <p:slideViewPr>
    <p:cSldViewPr snapToGrid="0">
      <p:cViewPr>
        <p:scale>
          <a:sx n="77" d="100"/>
          <a:sy n="77" d="100"/>
        </p:scale>
        <p:origin x="61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GST Free sales in Australia</a:t>
            </a:r>
            <a:br>
              <a:rPr lang="en-AU" dirty="0"/>
            </a:br>
            <a:r>
              <a:rPr lang="en-AU" dirty="0"/>
              <a:t>https://www.ato.gov.au/Business/GST/When-to-charge-GST-(and-when-not-to)/GST-free-sales/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6866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7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0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77AA-7CC8-43C9-8713-D5D8B1C37AB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306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77AA-7CC8-43C9-8713-D5D8B1C37AB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67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6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523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351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601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33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5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136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88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5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16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3527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738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896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079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46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5477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742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839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26/08/2018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109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2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363B-B81B-4E71-AD34-37FD6F0824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Percentage </a:t>
            </a:r>
            <a:r>
              <a:rPr lang="en-AU" dirty="0" err="1"/>
              <a:t>SkillS</a:t>
            </a:r>
            <a:r>
              <a:rPr lang="en-AU" dirty="0"/>
              <a:t> - GST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5514A-EC0A-4E4F-92A1-ADF5FB6A9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80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At the end of the lesson you should be able to</a:t>
            </a:r>
            <a:endParaRPr lang="en-AU" sz="3900" dirty="0">
              <a:latin typeface="Kiwi School Handwriting" panose="00000500000000000000" pitchFamily="2" charset="0"/>
            </a:endParaRP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Calculate the final price of a product of service with GST added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Calculate the GST component from a total price of a product of service</a:t>
            </a: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brainstorm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397796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With a partner:</a:t>
            </a:r>
          </a:p>
          <a:p>
            <a:pPr marL="571500" indent="-571500"/>
            <a:r>
              <a:rPr lang="en-AU" sz="4400" dirty="0">
                <a:latin typeface="Kiwi School Handwriting" panose="00000500000000000000" pitchFamily="2" charset="0"/>
              </a:rPr>
              <a:t>What is the GST?</a:t>
            </a:r>
          </a:p>
          <a:p>
            <a:pPr marL="571500" indent="-571500"/>
            <a:r>
              <a:rPr lang="en-AU" sz="4400" dirty="0">
                <a:latin typeface="Kiwi School Handwriting" panose="00000500000000000000" pitchFamily="2" charset="0"/>
              </a:rPr>
              <a:t>How much is GST in Australia?</a:t>
            </a:r>
          </a:p>
          <a:p>
            <a:pPr marL="571500" indent="-571500"/>
            <a:r>
              <a:rPr lang="en-AU" sz="4400" dirty="0">
                <a:latin typeface="Kiwi School Handwriting" panose="00000500000000000000" pitchFamily="2" charset="0"/>
              </a:rPr>
              <a:t>What is not charged GST?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59300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6" y="607956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82531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93529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502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Application of Percentage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27/08/2018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is GST applied in Australia?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A27FA5D-378D-46C2-BBF3-D54B5D4F08E9}"/>
              </a:ext>
            </a:extLst>
          </p:cNvPr>
          <p:cNvSpPr txBox="1"/>
          <p:nvPr/>
        </p:nvSpPr>
        <p:spPr>
          <a:xfrm>
            <a:off x="2175276" y="1387627"/>
            <a:ext cx="9664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Goods and Services Tax, (GST), in Australia is at a rate of 10% and is applied to all goods and services except for those categorised as essential items.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8D49D7-930D-4F38-B98A-8C53A86EF69D}"/>
              </a:ext>
            </a:extLst>
          </p:cNvPr>
          <p:cNvSpPr txBox="1"/>
          <p:nvPr/>
        </p:nvSpPr>
        <p:spPr>
          <a:xfrm>
            <a:off x="231035" y="145390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GST?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FFE85-DB67-4675-B613-C0FA9BD85B7E}"/>
              </a:ext>
            </a:extLst>
          </p:cNvPr>
          <p:cNvSpPr/>
          <p:nvPr/>
        </p:nvSpPr>
        <p:spPr>
          <a:xfrm>
            <a:off x="95826" y="3126753"/>
            <a:ext cx="17977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do we calculate the GST that needs to be added?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78142-094C-428E-A990-E258520913E4}"/>
              </a:ext>
            </a:extLst>
          </p:cNvPr>
          <p:cNvSpPr txBox="1"/>
          <p:nvPr/>
        </p:nvSpPr>
        <p:spPr>
          <a:xfrm>
            <a:off x="2264980" y="2674883"/>
            <a:ext cx="69052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Example</a:t>
            </a:r>
          </a:p>
          <a:p>
            <a:r>
              <a:rPr lang="en-AU" sz="2400" dirty="0"/>
              <a:t>Miss Lum has chosen the dress that her bridesmaids will be wearing. Its retail price is $199 excluding GST.</a:t>
            </a:r>
          </a:p>
          <a:p>
            <a:endParaRPr lang="en-AU" sz="2400" dirty="0"/>
          </a:p>
          <a:p>
            <a:r>
              <a:rPr lang="en-AU" sz="2400" dirty="0"/>
              <a:t>What will be the full price of the dress including GST?</a:t>
            </a:r>
          </a:p>
          <a:p>
            <a:endParaRPr lang="en-AU" sz="2400" dirty="0"/>
          </a:p>
          <a:p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157A9-77D8-4AB5-9046-618309EB0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700" y="2674883"/>
            <a:ext cx="2061821" cy="394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93529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502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Application of Percentage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27/08/2018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is GST applied in Australia?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FFE85-DB67-4675-B613-C0FA9BD85B7E}"/>
              </a:ext>
            </a:extLst>
          </p:cNvPr>
          <p:cNvSpPr/>
          <p:nvPr/>
        </p:nvSpPr>
        <p:spPr>
          <a:xfrm>
            <a:off x="95826" y="1387627"/>
            <a:ext cx="17977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do we calculate the GST component of a price?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FCBAF1-B5BE-458D-8577-D5D6722B3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676" y="2922193"/>
            <a:ext cx="4332110" cy="31114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34250C-8C4B-4EFC-89BF-BE92AE9F46F0}"/>
              </a:ext>
            </a:extLst>
          </p:cNvPr>
          <p:cNvSpPr txBox="1"/>
          <p:nvPr/>
        </p:nvSpPr>
        <p:spPr>
          <a:xfrm>
            <a:off x="2042508" y="1434461"/>
            <a:ext cx="99393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Example</a:t>
            </a:r>
          </a:p>
          <a:p>
            <a:r>
              <a:rPr lang="en-AU" dirty="0"/>
              <a:t>Miss Lum and her fiancé have decided on the flowers that will be used in the wedding. The bridal bouquet alone costs $80 including GST. </a:t>
            </a:r>
          </a:p>
          <a:p>
            <a:endParaRPr lang="en-AU" dirty="0"/>
          </a:p>
          <a:p>
            <a:r>
              <a:rPr lang="en-AU" dirty="0"/>
              <a:t>What is the GST component of the $80?</a:t>
            </a:r>
          </a:p>
          <a:p>
            <a:r>
              <a:rPr lang="en-AU" b="1" dirty="0">
                <a:solidFill>
                  <a:srgbClr val="FF0000"/>
                </a:solidFill>
              </a:rPr>
              <a:t>Warning: It’s not $8!</a:t>
            </a:r>
          </a:p>
          <a:p>
            <a:endParaRPr lang="en-AU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B74AB-9F4C-41F4-8C34-2A22F1C9B09D}"/>
              </a:ext>
            </a:extLst>
          </p:cNvPr>
          <p:cNvSpPr txBox="1"/>
          <p:nvPr/>
        </p:nvSpPr>
        <p:spPr>
          <a:xfrm>
            <a:off x="2177143" y="3321698"/>
            <a:ext cx="5262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Clue 1: Retail price of the product is equal to the price of that amount plus 10% GST.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006A2A-4427-4FBC-97C8-4AC2BEE2A477}"/>
              </a:ext>
            </a:extLst>
          </p:cNvPr>
          <p:cNvSpPr txBox="1"/>
          <p:nvPr/>
        </p:nvSpPr>
        <p:spPr>
          <a:xfrm>
            <a:off x="2177143" y="4078331"/>
            <a:ext cx="5293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Clue 2: Final amount of product with GST is 110% of the price of the product before GST is added.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22BED2-F967-46C5-8CF3-AAE929E8E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660" y="4937536"/>
            <a:ext cx="3674998" cy="3488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54CB7A-B366-4FD4-8DA9-395BB1E610D0}"/>
              </a:ext>
            </a:extLst>
          </p:cNvPr>
          <p:cNvSpPr txBox="1"/>
          <p:nvPr/>
        </p:nvSpPr>
        <p:spPr>
          <a:xfrm>
            <a:off x="2146039" y="5337207"/>
            <a:ext cx="529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the Before Tax Price can be found by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57722E-9A73-4C5A-B512-47D7A0F2E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5660" y="5730867"/>
            <a:ext cx="3470376" cy="31121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2B91D43-424A-44A2-A89A-FB08F721161C}"/>
              </a:ext>
            </a:extLst>
          </p:cNvPr>
          <p:cNvSpPr txBox="1"/>
          <p:nvPr/>
        </p:nvSpPr>
        <p:spPr>
          <a:xfrm>
            <a:off x="2096278" y="6133322"/>
            <a:ext cx="9311949" cy="650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difference between the retail price and the before tax price is the GST component.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84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0C5F-C1B7-408D-911F-C0D710B00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IS there A Quicker Way to Calculate The GST Component?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817B7-DB1B-4707-9F97-7A36E206C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Using the previous example.</a:t>
            </a:r>
          </a:p>
          <a:p>
            <a:pPr lvl="1"/>
            <a:r>
              <a:rPr lang="en-AU" sz="2800" dirty="0"/>
              <a:t>What happens when you divide $80 by 11?</a:t>
            </a:r>
          </a:p>
          <a:p>
            <a:pPr lvl="1"/>
            <a:endParaRPr lang="en-AU" sz="2800" dirty="0"/>
          </a:p>
          <a:p>
            <a:r>
              <a:rPr lang="en-AU" sz="3000" dirty="0"/>
              <a:t>See if you and your partner can work out an explanation as to why this seems to be a shortcut. You have 90 seconds.</a:t>
            </a:r>
          </a:p>
        </p:txBody>
      </p:sp>
    </p:spTree>
    <p:extLst>
      <p:ext uri="{BB962C8B-B14F-4D97-AF65-F5344CB8AC3E}">
        <p14:creationId xmlns:p14="http://schemas.microsoft.com/office/powerpoint/2010/main" val="159703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78D7-CED0-4171-8D2D-E74CC191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232" y="900897"/>
            <a:ext cx="8610600" cy="1293028"/>
          </a:xfrm>
        </p:spPr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985BD1-5651-4102-A5BC-CCC57382E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238" y="2357145"/>
            <a:ext cx="11531317" cy="344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5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78D7-CED0-4171-8D2D-E74CC191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232" y="900897"/>
            <a:ext cx="8610600" cy="1293028"/>
          </a:xfrm>
        </p:spPr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00F3F3-A9C6-40FC-8975-E4D80A002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083" y="2450840"/>
            <a:ext cx="11617834" cy="319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9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78D7-CED0-4171-8D2D-E74CC191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232" y="900897"/>
            <a:ext cx="8610600" cy="1293028"/>
          </a:xfrm>
        </p:spPr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D56998-2F88-437D-9B04-2C5AEA16F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7624" y="2013533"/>
            <a:ext cx="9616751" cy="457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13171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1779</TotalTime>
  <Words>384</Words>
  <Application>Microsoft Office PowerPoint</Application>
  <PresentationFormat>Widescreen</PresentationFormat>
  <Paragraphs>56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Kiwi School Handwriting</vt:lpstr>
      <vt:lpstr>BSC Theme</vt:lpstr>
      <vt:lpstr>Percentage SkillS - GST</vt:lpstr>
      <vt:lpstr>Learning Intentions</vt:lpstr>
      <vt:lpstr>brainstorm</vt:lpstr>
      <vt:lpstr>PowerPoint Presentation</vt:lpstr>
      <vt:lpstr>PowerPoint Presentation</vt:lpstr>
      <vt:lpstr>IS there A Quicker Way to Calculate The GST Component?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LUM Magdeline [Baldivis Secondary College]</cp:lastModifiedBy>
  <cp:revision>53</cp:revision>
  <dcterms:created xsi:type="dcterms:W3CDTF">2018-02-06T06:15:13Z</dcterms:created>
  <dcterms:modified xsi:type="dcterms:W3CDTF">2018-08-26T16:37:38Z</dcterms:modified>
</cp:coreProperties>
</file>
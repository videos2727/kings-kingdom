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9" r:id="rId1"/>
  </p:sldMasterIdLst>
  <p:sldIdLst>
    <p:sldId id="256" r:id="rId2"/>
    <p:sldId id="309" r:id="rId3"/>
    <p:sldId id="303" r:id="rId4"/>
    <p:sldId id="304" r:id="rId5"/>
    <p:sldId id="310" r:id="rId6"/>
    <p:sldId id="306" r:id="rId7"/>
    <p:sldId id="308" r:id="rId8"/>
    <p:sldId id="311" r:id="rId9"/>
    <p:sldId id="31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AIG Mason [Baldivis Secondary College]" initials="CM[SC" lastIdx="1" clrIdx="0">
    <p:extLst>
      <p:ext uri="{19B8F6BF-5375-455C-9EA6-DF929625EA0E}">
        <p15:presenceInfo xmlns:p15="http://schemas.microsoft.com/office/powerpoint/2012/main" userId="S-1-5-21-1784082018-1042323867-3467271631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A535-4162-42C6-B92E-58646EA09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CB0D1-FF05-48A0-8D5E-D0D963D1A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E1528-7604-4CC9-8947-73264C32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FB92-5225-48A6-ACAA-D9834BD2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95DEA-36A8-4C4A-836D-0E409A58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E6F0-8698-40F0-BDE4-C2B580C1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CEB9-068F-4CD9-AF6F-4E4DA5DB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C0EB-F2D9-4CAF-980A-E06E0F91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DBC7-DA35-4FA4-9959-56AA070F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B64B-42F8-4FE6-8655-85B96DFF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5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AB7E-794B-4A05-9B76-54FDBB99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61DB9-521B-4DF3-8688-070208CFD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2E5B-09A4-4B61-B5F1-33F51605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C3DE0-E066-4574-A54A-67722824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E27C-FBB5-4E77-BB07-87A4F417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7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43A4-1DA2-477F-A6EE-FDCBA82C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D1F3-C0AB-48E4-98A8-AB8D41BF1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DC2D1-ECF8-4F73-A179-F2275260C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E0423-52DC-433E-9EED-EED85601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1C0D9-42DB-48A3-AAB6-0AD967D8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0641E-280D-4735-87A8-E3CC5868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34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2372-3304-4870-AFE9-D3092EC3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8BE6-0A3E-48E0-813F-0F01D8543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828DC-316F-4D19-AAA5-89E315832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03983-ADF2-4EA8-BAC3-9FC268B40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8063F-7966-4FEF-BB5A-71AA7FE08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DD177-C419-4AB1-8F18-C7211899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0FA11-4F00-4816-B89B-4C768211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B05BA-5779-44CB-AF80-A45B463B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88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49A4-47F3-43D7-8BC5-5F3AD94A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D7D55-B051-4177-B481-E342766A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41ED4-B002-4EE5-919C-0FECEAB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C95E2-FA49-40A2-9860-2EF09351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7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5EC6A-41D3-4FD9-A9D4-AD368B3A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DDDE4-27DD-4201-A917-35F5CE6D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33A3-42C0-493D-97E3-74CFB5EE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1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DB26-A0C6-4322-8165-10966CD7A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BB704-100E-44E6-99F5-2241FFF6A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E4C1-C2CF-4B8C-A653-7B590CDB7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E6BFF-C113-4895-B22E-B66900AB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0D0F1-8286-4ED2-94B9-0132D47F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D17C-4985-48C2-973E-0CEEB59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2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CBC3-EECD-49E5-8837-FB2071F6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B3BE6-12F0-46B5-99EE-ED4D41D10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06863-C3C7-4E0E-9D61-6BBC6B569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7C799-2343-44D8-9C8A-5E994F2D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8DFBA-5B65-41D2-852B-0CDC7DEF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337FF-E7AA-4788-B10C-30C1707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8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5493-9A20-4DE7-80A6-806F3936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7BD87-3013-4F22-A133-7FC804702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64993-CC85-421F-B8B6-067D193D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F668F-19D9-41D7-90CB-576429C7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A40D0-3E5E-48B2-A51D-785951EA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80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3BF82-34A7-434E-9CE0-DD7384E7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4B2BE-6D07-4643-A0AA-A1F5F4337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7E18B-E1EC-4D0C-ABDD-E3232DA5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7F3F4-0049-4493-97E5-EEA5B300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C984-C82F-4D27-AA1D-5D0BE961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8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56305-F2B2-4A79-AEA3-37E55FF5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EA2AA-3410-4671-8F35-F0D539D0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C7837-8FC2-461B-803B-2BC4D2EC0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419A3-4B29-47E0-A5E8-90D89A812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270-3EA6-466A-970C-67118BF16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09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69C9-0604-4AF3-B29E-0EA1A2AF7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AU" dirty="0"/>
              <a:t>Topic: Percentages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7F932-C6D1-4403-BFC1-3FEFF087C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r>
              <a:rPr lang="en-AU" dirty="0"/>
              <a:t>EQ: How do we find the percentage of something?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F9722-464B-4B66-984F-16C83E7BB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444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0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513C5-35C9-4D34-BF6E-A6E3B7D4472F}"/>
              </a:ext>
            </a:extLst>
          </p:cNvPr>
          <p:cNvSpPr txBox="1"/>
          <p:nvPr/>
        </p:nvSpPr>
        <p:spPr>
          <a:xfrm>
            <a:off x="659567" y="299803"/>
            <a:ext cx="110327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1" dirty="0"/>
              <a:t>Always warm up so you don’t pull a braincell</a:t>
            </a:r>
          </a:p>
          <a:p>
            <a:endParaRPr lang="en-AU" sz="2400" b="1" i="1" dirty="0"/>
          </a:p>
          <a:p>
            <a:endParaRPr lang="en-AU" sz="2400" b="1" i="1" dirty="0"/>
          </a:p>
          <a:p>
            <a:endParaRPr lang="en-AU" sz="2400" b="1" i="1" dirty="0"/>
          </a:p>
          <a:p>
            <a:endParaRPr lang="en-AU" sz="2400" b="1" i="1" dirty="0"/>
          </a:p>
          <a:p>
            <a:r>
              <a:rPr lang="en-AU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B4B8F-EE85-47AD-9284-ABB543AC64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17" t="18783" r="26475" b="56506"/>
          <a:stretch/>
        </p:blipFill>
        <p:spPr>
          <a:xfrm>
            <a:off x="1" y="762476"/>
            <a:ext cx="12107920" cy="37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0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you find a percentage of an amount?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3BAAE-058E-4A47-B0A8-3C980FE9EE28}"/>
              </a:ext>
            </a:extLst>
          </p:cNvPr>
          <p:cNvSpPr txBox="1"/>
          <p:nvPr/>
        </p:nvSpPr>
        <p:spPr>
          <a:xfrm>
            <a:off x="183080" y="2272061"/>
            <a:ext cx="2595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are percentages used for?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D584F-C8E3-4D31-B807-EBBA4E6E53E8}"/>
              </a:ext>
            </a:extLst>
          </p:cNvPr>
          <p:cNvSpPr txBox="1"/>
          <p:nvPr/>
        </p:nvSpPr>
        <p:spPr>
          <a:xfrm>
            <a:off x="2803521" y="2213065"/>
            <a:ext cx="6982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Percentages are used everyday to compare and analyse.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F2275-6B1D-456F-8AE5-29AEF5355760}"/>
              </a:ext>
            </a:extLst>
          </p:cNvPr>
          <p:cNvSpPr txBox="1"/>
          <p:nvPr/>
        </p:nvSpPr>
        <p:spPr>
          <a:xfrm>
            <a:off x="173682" y="3397333"/>
            <a:ext cx="2450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find a percentage without a calculator?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24053" y="3140203"/>
            <a:ext cx="76116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There are three percentages that are easy to find without a calculator that can help you find any other amount. </a:t>
            </a:r>
          </a:p>
          <a:p>
            <a:endParaRPr lang="en-AU" sz="2000" dirty="0"/>
          </a:p>
          <a:p>
            <a:r>
              <a:rPr lang="en-AU" sz="2000" dirty="0"/>
              <a:t>10 % - Divide the number by 10 (or move the decimal place once to the left)</a:t>
            </a:r>
          </a:p>
          <a:p>
            <a:endParaRPr lang="en-AU" sz="2000" dirty="0"/>
          </a:p>
          <a:p>
            <a:r>
              <a:rPr lang="en-AU" sz="2000" dirty="0"/>
              <a:t>5% - half your 10% amount</a:t>
            </a:r>
          </a:p>
          <a:p>
            <a:endParaRPr lang="en-AU" sz="2000" dirty="0"/>
          </a:p>
          <a:p>
            <a:r>
              <a:rPr lang="en-AU" sz="2000" dirty="0"/>
              <a:t>1% - Divide the number by 100 ( or move the decimal place twice to the left)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5DC4F-D7EB-4AA5-97C4-714AB29E6FFB}"/>
              </a:ext>
            </a:extLst>
          </p:cNvPr>
          <p:cNvSpPr txBox="1"/>
          <p:nvPr/>
        </p:nvSpPr>
        <p:spPr>
          <a:xfrm>
            <a:off x="10341802" y="2979947"/>
            <a:ext cx="17967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Lets try it with $60</a:t>
            </a:r>
          </a:p>
          <a:p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dirty="0">
                <a:solidFill>
                  <a:srgbClr val="00B0F0"/>
                </a:solidFill>
              </a:rPr>
              <a:t>$6</a:t>
            </a:r>
          </a:p>
          <a:p>
            <a:endParaRPr lang="en-AU" sz="2000" b="1" dirty="0">
              <a:solidFill>
                <a:srgbClr val="00B0F0"/>
              </a:solidFill>
            </a:endParaRPr>
          </a:p>
          <a:p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dirty="0">
                <a:solidFill>
                  <a:srgbClr val="00B0F0"/>
                </a:solidFill>
              </a:rPr>
              <a:t>$3</a:t>
            </a:r>
          </a:p>
          <a:p>
            <a:endParaRPr lang="en-AU" sz="2000" b="1" dirty="0">
              <a:solidFill>
                <a:srgbClr val="00B0F0"/>
              </a:solidFill>
            </a:endParaRPr>
          </a:p>
          <a:p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dirty="0">
                <a:solidFill>
                  <a:srgbClr val="00B0F0"/>
                </a:solidFill>
              </a:rPr>
              <a:t>$0.60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5AD3E-784A-460B-BAFB-EC835CA42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428804"/>
              </p:ext>
            </p:extLst>
          </p:nvPr>
        </p:nvGraphicFramePr>
        <p:xfrm>
          <a:off x="1090863" y="689811"/>
          <a:ext cx="9240252" cy="495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84">
                  <a:extLst>
                    <a:ext uri="{9D8B030D-6E8A-4147-A177-3AD203B41FA5}">
                      <a16:colId xmlns:a16="http://schemas.microsoft.com/office/drawing/2014/main" val="3664981128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3998287909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2782762101"/>
                    </a:ext>
                  </a:extLst>
                </a:gridCol>
              </a:tblGrid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58979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15640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352745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00472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18%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570676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2695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D67014-45AA-4CFB-BA9B-B0D248FE724F}"/>
              </a:ext>
            </a:extLst>
          </p:cNvPr>
          <p:cNvSpPr txBox="1"/>
          <p:nvPr/>
        </p:nvSpPr>
        <p:spPr>
          <a:xfrm>
            <a:off x="417095" y="176462"/>
            <a:ext cx="282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on LHS</a:t>
            </a:r>
          </a:p>
        </p:txBody>
      </p:sp>
    </p:spTree>
    <p:extLst>
      <p:ext uri="{BB962C8B-B14F-4D97-AF65-F5344CB8AC3E}">
        <p14:creationId xmlns:p14="http://schemas.microsoft.com/office/powerpoint/2010/main" val="426631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53160-8EC9-4CF7-B435-A9A9B3C0AB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71" t="16595" r="30778" b="20204"/>
          <a:stretch/>
        </p:blipFill>
        <p:spPr>
          <a:xfrm>
            <a:off x="-1" y="-1"/>
            <a:ext cx="6242501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97785A-55F1-41C2-84A5-B8AC14C903E4}"/>
              </a:ext>
            </a:extLst>
          </p:cNvPr>
          <p:cNvSpPr txBox="1"/>
          <p:nvPr/>
        </p:nvSpPr>
        <p:spPr>
          <a:xfrm>
            <a:off x="7674964" y="554636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solving these without a calculator</a:t>
            </a:r>
          </a:p>
        </p:txBody>
      </p:sp>
    </p:spTree>
    <p:extLst>
      <p:ext uri="{BB962C8B-B14F-4D97-AF65-F5344CB8AC3E}">
        <p14:creationId xmlns:p14="http://schemas.microsoft.com/office/powerpoint/2010/main" val="1862297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5AD3E-784A-460B-BAFB-EC835CA42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023297"/>
              </p:ext>
            </p:extLst>
          </p:nvPr>
        </p:nvGraphicFramePr>
        <p:xfrm>
          <a:off x="1090863" y="689811"/>
          <a:ext cx="9240252" cy="495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84">
                  <a:extLst>
                    <a:ext uri="{9D8B030D-6E8A-4147-A177-3AD203B41FA5}">
                      <a16:colId xmlns:a16="http://schemas.microsoft.com/office/drawing/2014/main" val="3664981128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3998287909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2782762101"/>
                    </a:ext>
                  </a:extLst>
                </a:gridCol>
              </a:tblGrid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58979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15640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$4.75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352745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00472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18%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$17.10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570676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$27.50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$52.25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2695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D67014-45AA-4CFB-BA9B-B0D248FE724F}"/>
              </a:ext>
            </a:extLst>
          </p:cNvPr>
          <p:cNvSpPr txBox="1"/>
          <p:nvPr/>
        </p:nvSpPr>
        <p:spPr>
          <a:xfrm>
            <a:off x="417095" y="176462"/>
            <a:ext cx="282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on LHS</a:t>
            </a:r>
          </a:p>
        </p:txBody>
      </p:sp>
    </p:spTree>
    <p:extLst>
      <p:ext uri="{BB962C8B-B14F-4D97-AF65-F5344CB8AC3E}">
        <p14:creationId xmlns:p14="http://schemas.microsoft.com/office/powerpoint/2010/main" val="92750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you find a percentage of an amount?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F2275-6B1D-456F-8AE5-29AEF5355760}"/>
              </a:ext>
            </a:extLst>
          </p:cNvPr>
          <p:cNvSpPr txBox="1"/>
          <p:nvPr/>
        </p:nvSpPr>
        <p:spPr>
          <a:xfrm>
            <a:off x="173682" y="2124539"/>
            <a:ext cx="2450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find a percentage with a calculator?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24053" y="2120488"/>
            <a:ext cx="76116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Convert your percentage to a decimal (divide my 100 or move the decimal place twice to the left) and then multiply by the amount</a:t>
            </a:r>
          </a:p>
          <a:p>
            <a:endParaRPr lang="en-AU" sz="2000" dirty="0"/>
          </a:p>
          <a:p>
            <a:r>
              <a:rPr lang="en-AU" sz="2000" dirty="0"/>
              <a:t>Ex. Find 15% of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9AC1B-4C8C-4317-9FAF-6FD13A8CF968}"/>
              </a:ext>
            </a:extLst>
          </p:cNvPr>
          <p:cNvSpPr txBox="1"/>
          <p:nvPr/>
        </p:nvSpPr>
        <p:spPr>
          <a:xfrm>
            <a:off x="3031958" y="3443927"/>
            <a:ext cx="3785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15% as a decimal 	                0.15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AAAA9C-0C6E-415D-9234-9B3B459D46B4}"/>
              </a:ext>
            </a:extLst>
          </p:cNvPr>
          <p:cNvCxnSpPr/>
          <p:nvPr/>
        </p:nvCxnSpPr>
        <p:spPr>
          <a:xfrm>
            <a:off x="5093368" y="3654006"/>
            <a:ext cx="62564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EE1601-4CBC-471A-848C-98BF56958A30}"/>
              </a:ext>
            </a:extLst>
          </p:cNvPr>
          <p:cNvSpPr txBox="1"/>
          <p:nvPr/>
        </p:nvSpPr>
        <p:spPr>
          <a:xfrm>
            <a:off x="3031958" y="3829535"/>
            <a:ext cx="37859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0.15 × 70 = 10.5 </a:t>
            </a:r>
          </a:p>
          <a:p>
            <a:endParaRPr lang="en-AU" sz="2000" dirty="0"/>
          </a:p>
          <a:p>
            <a:r>
              <a:rPr lang="en-AU" sz="2000" dirty="0"/>
              <a:t>10.5 is 15% of 70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0F1068-8A31-4678-BCD1-01EA14FD3318}"/>
              </a:ext>
            </a:extLst>
          </p:cNvPr>
          <p:cNvSpPr txBox="1"/>
          <p:nvPr/>
        </p:nvSpPr>
        <p:spPr>
          <a:xfrm>
            <a:off x="2713009" y="5373778"/>
            <a:ext cx="6079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Try these on your left hand side: </a:t>
            </a:r>
          </a:p>
          <a:p>
            <a:r>
              <a:rPr lang="en-AU" dirty="0"/>
              <a:t>16% of 65</a:t>
            </a:r>
          </a:p>
          <a:p>
            <a:r>
              <a:rPr lang="en-AU" dirty="0"/>
              <a:t>88% of 98</a:t>
            </a:r>
          </a:p>
          <a:p>
            <a:r>
              <a:rPr lang="en-AU" dirty="0"/>
              <a:t>3% of 70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DD714-C8DD-4E35-855A-AB2D55CE2055}"/>
              </a:ext>
            </a:extLst>
          </p:cNvPr>
          <p:cNvSpPr txBox="1"/>
          <p:nvPr/>
        </p:nvSpPr>
        <p:spPr>
          <a:xfrm>
            <a:off x="7886699" y="3140202"/>
            <a:ext cx="3631223" cy="34163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A few tricky percentages to convert :</a:t>
            </a:r>
          </a:p>
          <a:p>
            <a:endParaRPr lang="en-AU" dirty="0"/>
          </a:p>
          <a:p>
            <a:r>
              <a:rPr lang="en-AU" dirty="0"/>
              <a:t>Less than 10% </a:t>
            </a:r>
          </a:p>
          <a:p>
            <a:r>
              <a:rPr lang="en-AU" dirty="0"/>
              <a:t>2%         	0.02</a:t>
            </a:r>
          </a:p>
          <a:p>
            <a:r>
              <a:rPr lang="en-AU" dirty="0"/>
              <a:t>6% 	0.06</a:t>
            </a:r>
          </a:p>
          <a:p>
            <a:endParaRPr lang="en-AU" dirty="0"/>
          </a:p>
          <a:p>
            <a:r>
              <a:rPr lang="en-AU" dirty="0"/>
              <a:t>More than 100% </a:t>
            </a:r>
          </a:p>
          <a:p>
            <a:endParaRPr lang="en-AU" dirty="0"/>
          </a:p>
          <a:p>
            <a:r>
              <a:rPr lang="en-AU" dirty="0"/>
              <a:t>115% 	   1.15</a:t>
            </a:r>
          </a:p>
          <a:p>
            <a:r>
              <a:rPr lang="en-AU" dirty="0"/>
              <a:t>180% 	   1.80</a:t>
            </a:r>
          </a:p>
          <a:p>
            <a:r>
              <a:rPr lang="en-AU" dirty="0"/>
              <a:t>200% 	   2.00</a:t>
            </a:r>
          </a:p>
          <a:p>
            <a:endParaRPr lang="en-AU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F5713F-C0CC-4CC6-A51A-F74431105F70}"/>
              </a:ext>
            </a:extLst>
          </p:cNvPr>
          <p:cNvCxnSpPr>
            <a:cxnSpLocks/>
          </p:cNvCxnSpPr>
          <p:nvPr/>
        </p:nvCxnSpPr>
        <p:spPr>
          <a:xfrm>
            <a:off x="8358245" y="4111206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D875B2-0394-468E-A3BB-4A01F21362A3}"/>
              </a:ext>
            </a:extLst>
          </p:cNvPr>
          <p:cNvCxnSpPr>
            <a:cxnSpLocks/>
          </p:cNvCxnSpPr>
          <p:nvPr/>
        </p:nvCxnSpPr>
        <p:spPr>
          <a:xfrm>
            <a:off x="8358245" y="4416006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85E90-79F5-473E-B0B0-9A857E86A260}"/>
              </a:ext>
            </a:extLst>
          </p:cNvPr>
          <p:cNvCxnSpPr>
            <a:cxnSpLocks/>
          </p:cNvCxnSpPr>
          <p:nvPr/>
        </p:nvCxnSpPr>
        <p:spPr>
          <a:xfrm>
            <a:off x="8607360" y="5529698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24C502-BE68-4526-8DDD-A8D362A6A920}"/>
              </a:ext>
            </a:extLst>
          </p:cNvPr>
          <p:cNvCxnSpPr>
            <a:cxnSpLocks/>
          </p:cNvCxnSpPr>
          <p:nvPr/>
        </p:nvCxnSpPr>
        <p:spPr>
          <a:xfrm>
            <a:off x="8575276" y="5778814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CA6641-61FB-4215-AC1A-AEE6717E5A98}"/>
              </a:ext>
            </a:extLst>
          </p:cNvPr>
          <p:cNvCxnSpPr>
            <a:cxnSpLocks/>
          </p:cNvCxnSpPr>
          <p:nvPr/>
        </p:nvCxnSpPr>
        <p:spPr>
          <a:xfrm>
            <a:off x="8575276" y="6060167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41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13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402D42-4C11-4B53-9AF0-C47BC58E5B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13315" r="9877" b="11894"/>
          <a:stretch/>
        </p:blipFill>
        <p:spPr>
          <a:xfrm>
            <a:off x="-124919" y="-1"/>
            <a:ext cx="6543843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49CF2B-62D5-4FCF-86F3-5588DFEE869F}"/>
              </a:ext>
            </a:extLst>
          </p:cNvPr>
          <p:cNvSpPr txBox="1"/>
          <p:nvPr/>
        </p:nvSpPr>
        <p:spPr>
          <a:xfrm>
            <a:off x="8259580" y="674557"/>
            <a:ext cx="3237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step it up and make it a bit more challenging. Time to practise using a calculator. </a:t>
            </a:r>
          </a:p>
        </p:txBody>
      </p:sp>
    </p:spTree>
    <p:extLst>
      <p:ext uri="{BB962C8B-B14F-4D97-AF65-F5344CB8AC3E}">
        <p14:creationId xmlns:p14="http://schemas.microsoft.com/office/powerpoint/2010/main" val="63417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162477-A15F-4ECE-B6BF-DEB4E6018154}"/>
              </a:ext>
            </a:extLst>
          </p:cNvPr>
          <p:cNvSpPr txBox="1"/>
          <p:nvPr/>
        </p:nvSpPr>
        <p:spPr>
          <a:xfrm>
            <a:off x="1214203" y="704538"/>
            <a:ext cx="9039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the worksheet for a tad more practise.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1C481-24A4-44CE-A23A-F7BBA30B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784" y="1490584"/>
            <a:ext cx="3769713" cy="42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82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360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Topic: Percentages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Percentages</dc:title>
  <dc:creator>E4092707</dc:creator>
  <cp:lastModifiedBy>CRAIG Mason [Baldivis Secondary College]</cp:lastModifiedBy>
  <cp:revision>13</cp:revision>
  <dcterms:created xsi:type="dcterms:W3CDTF">2018-05-20T02:10:51Z</dcterms:created>
  <dcterms:modified xsi:type="dcterms:W3CDTF">2018-08-20T12:20:53Z</dcterms:modified>
</cp:coreProperties>
</file>
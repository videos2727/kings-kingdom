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89" r:id="rId4"/>
    <p:sldId id="293" r:id="rId5"/>
    <p:sldId id="290" r:id="rId6"/>
    <p:sldId id="291" r:id="rId7"/>
    <p:sldId id="292" r:id="rId8"/>
    <p:sldId id="283" r:id="rId9"/>
    <p:sldId id="29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E6827-9307-438C-A352-72179CE90B93}" type="datetimeFigureOut">
              <a:rPr lang="en-GB" smtClean="0"/>
              <a:t>07/08/2018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67B3C-194D-4133-BE71-5C26571EA0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1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80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33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6710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869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491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70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9791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10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3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586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0827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711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768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5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19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54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F3C17-FC8B-49F7-9677-C93162179AB9}" type="datetimeFigureOut">
              <a:rPr lang="en-GB" smtClean="0"/>
              <a:t>06/08/2018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05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5143-DDA3-4AB1-B1E1-9ABABBBC51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Standard Deviation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8B0C1-BDFB-4FFD-8290-3CC28B1719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Year 11 Essentials</a:t>
            </a:r>
          </a:p>
          <a:p>
            <a:r>
              <a:rPr lang="en-AU" dirty="0"/>
              <a:t>Miss Lum</a:t>
            </a:r>
          </a:p>
        </p:txBody>
      </p:sp>
    </p:spTree>
    <p:extLst>
      <p:ext uri="{BB962C8B-B14F-4D97-AF65-F5344CB8AC3E}">
        <p14:creationId xmlns:p14="http://schemas.microsoft.com/office/powerpoint/2010/main" val="1378953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5371-E12A-42CE-A857-52B41890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1: Calculate the Mean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562B1-F195-4728-8026-63957D501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569" y="1768955"/>
            <a:ext cx="8088312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635B56-6989-4CE4-A2B7-DFF494787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693" y="5801205"/>
            <a:ext cx="7566025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D64154-E467-4764-A8F1-15FB62182FB4}"/>
              </a:ext>
            </a:extLst>
          </p:cNvPr>
          <p:cNvCxnSpPr/>
          <p:nvPr/>
        </p:nvCxnSpPr>
        <p:spPr bwMode="auto">
          <a:xfrm>
            <a:off x="2714131" y="3929543"/>
            <a:ext cx="6697663" cy="0"/>
          </a:xfrm>
          <a:prstGeom prst="line">
            <a:avLst/>
          </a:prstGeom>
          <a:ln>
            <a:solidFill>
              <a:srgbClr val="4FB800"/>
            </a:solidFill>
            <a:headEnd type="none" w="med" len="med"/>
            <a:tailEnd type="none" w="med" len="med"/>
          </a:ln>
          <a:extLst>
            <a:ext uri="{AF507438-7753-43e0-B8FC-AC1667EBCBE1}"/>
          </a:ex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06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5371-E12A-42CE-A857-52B41890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2: Calculate the distance</a:t>
            </a:r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4C6832-9F7D-452D-B4D4-6F5E60083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974641"/>
              </p:ext>
            </p:extLst>
          </p:nvPr>
        </p:nvGraphicFramePr>
        <p:xfrm>
          <a:off x="1905719" y="5833817"/>
          <a:ext cx="861060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7641">
                  <a:extLst>
                    <a:ext uri="{9D8B030D-6E8A-4147-A177-3AD203B41FA5}">
                      <a16:colId xmlns:a16="http://schemas.microsoft.com/office/drawing/2014/main" val="2362367345"/>
                    </a:ext>
                  </a:extLst>
                </a:gridCol>
                <a:gridCol w="1464775">
                  <a:extLst>
                    <a:ext uri="{9D8B030D-6E8A-4147-A177-3AD203B41FA5}">
                      <a16:colId xmlns:a16="http://schemas.microsoft.com/office/drawing/2014/main" val="1143438291"/>
                    </a:ext>
                  </a:extLst>
                </a:gridCol>
                <a:gridCol w="1327108">
                  <a:extLst>
                    <a:ext uri="{9D8B030D-6E8A-4147-A177-3AD203B41FA5}">
                      <a16:colId xmlns:a16="http://schemas.microsoft.com/office/drawing/2014/main" val="1837977782"/>
                    </a:ext>
                  </a:extLst>
                </a:gridCol>
                <a:gridCol w="1496219">
                  <a:extLst>
                    <a:ext uri="{9D8B030D-6E8A-4147-A177-3AD203B41FA5}">
                      <a16:colId xmlns:a16="http://schemas.microsoft.com/office/drawing/2014/main" val="1792400568"/>
                    </a:ext>
                  </a:extLst>
                </a:gridCol>
                <a:gridCol w="1322717">
                  <a:extLst>
                    <a:ext uri="{9D8B030D-6E8A-4147-A177-3AD203B41FA5}">
                      <a16:colId xmlns:a16="http://schemas.microsoft.com/office/drawing/2014/main" val="2954292873"/>
                    </a:ext>
                  </a:extLst>
                </a:gridCol>
                <a:gridCol w="1232140">
                  <a:extLst>
                    <a:ext uri="{9D8B030D-6E8A-4147-A177-3AD203B41FA5}">
                      <a16:colId xmlns:a16="http://schemas.microsoft.com/office/drawing/2014/main" val="1991400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Value - Mean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600 – 394  </a:t>
                      </a:r>
                    </a:p>
                    <a:p>
                      <a:r>
                        <a:rPr lang="en-AU" dirty="0"/>
                        <a:t>= 206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470 – 394</a:t>
                      </a:r>
                    </a:p>
                    <a:p>
                      <a:r>
                        <a:rPr lang="en-AU" dirty="0"/>
                        <a:t>= 76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170 – 394</a:t>
                      </a:r>
                    </a:p>
                    <a:p>
                      <a:r>
                        <a:rPr lang="en-AU" dirty="0"/>
                        <a:t>= -224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430 – 394</a:t>
                      </a:r>
                    </a:p>
                    <a:p>
                      <a:r>
                        <a:rPr lang="en-AU" dirty="0"/>
                        <a:t>= 36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 – 394</a:t>
                      </a:r>
                    </a:p>
                    <a:p>
                      <a:r>
                        <a:rPr lang="en-AU" dirty="0"/>
                        <a:t>= -94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03388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4B859B6-0CA4-4BB8-A156-B66733901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88" y="1780456"/>
            <a:ext cx="8088312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6A363A-D9A3-433E-9320-DED68BFD9F6C}"/>
              </a:ext>
            </a:extLst>
          </p:cNvPr>
          <p:cNvCxnSpPr/>
          <p:nvPr/>
        </p:nvCxnSpPr>
        <p:spPr bwMode="auto">
          <a:xfrm>
            <a:off x="3130550" y="3941044"/>
            <a:ext cx="6697663" cy="0"/>
          </a:xfrm>
          <a:prstGeom prst="line">
            <a:avLst/>
          </a:prstGeom>
          <a:ln>
            <a:solidFill>
              <a:srgbClr val="4FB800"/>
            </a:solidFill>
            <a:headEnd type="none" w="med" len="med"/>
            <a:tailEnd type="none" w="med" len="med"/>
          </a:ln>
          <a:extLst>
            <a:ext uri="{AF507438-7753-43e0-B8FC-AC1667EBCBE1}"/>
          </a:ex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9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5371-E12A-42CE-A857-52B41890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3: Square the distance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24C6832-9F7D-452D-B4D4-6F5E600838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7850" y="2362291"/>
              <a:ext cx="8610600" cy="12793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67641">
                      <a:extLst>
                        <a:ext uri="{9D8B030D-6E8A-4147-A177-3AD203B41FA5}">
                          <a16:colId xmlns:a16="http://schemas.microsoft.com/office/drawing/2014/main" val="2362367345"/>
                        </a:ext>
                      </a:extLst>
                    </a:gridCol>
                    <a:gridCol w="1464775">
                      <a:extLst>
                        <a:ext uri="{9D8B030D-6E8A-4147-A177-3AD203B41FA5}">
                          <a16:colId xmlns:a16="http://schemas.microsoft.com/office/drawing/2014/main" val="1143438291"/>
                        </a:ext>
                      </a:extLst>
                    </a:gridCol>
                    <a:gridCol w="1327108">
                      <a:extLst>
                        <a:ext uri="{9D8B030D-6E8A-4147-A177-3AD203B41FA5}">
                          <a16:colId xmlns:a16="http://schemas.microsoft.com/office/drawing/2014/main" val="1837977782"/>
                        </a:ext>
                      </a:extLst>
                    </a:gridCol>
                    <a:gridCol w="1496219">
                      <a:extLst>
                        <a:ext uri="{9D8B030D-6E8A-4147-A177-3AD203B41FA5}">
                          <a16:colId xmlns:a16="http://schemas.microsoft.com/office/drawing/2014/main" val="1792400568"/>
                        </a:ext>
                      </a:extLst>
                    </a:gridCol>
                    <a:gridCol w="1322717">
                      <a:extLst>
                        <a:ext uri="{9D8B030D-6E8A-4147-A177-3AD203B41FA5}">
                          <a16:colId xmlns:a16="http://schemas.microsoft.com/office/drawing/2014/main" val="2954292873"/>
                        </a:ext>
                      </a:extLst>
                    </a:gridCol>
                    <a:gridCol w="1232140">
                      <a:extLst>
                        <a:ext uri="{9D8B030D-6E8A-4147-A177-3AD203B41FA5}">
                          <a16:colId xmlns:a16="http://schemas.microsoft.com/office/drawing/2014/main" val="19914009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Value - Mean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600 – 394  </a:t>
                          </a:r>
                        </a:p>
                        <a:p>
                          <a:r>
                            <a:rPr lang="en-AU" dirty="0"/>
                            <a:t>= 206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470 – 394</a:t>
                          </a:r>
                        </a:p>
                        <a:p>
                          <a:r>
                            <a:rPr lang="en-AU" dirty="0"/>
                            <a:t>= 76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170 – 394</a:t>
                          </a:r>
                        </a:p>
                        <a:p>
                          <a:r>
                            <a:rPr lang="en-AU" dirty="0"/>
                            <a:t>= -224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430 – 394</a:t>
                          </a:r>
                        </a:p>
                        <a:p>
                          <a:r>
                            <a:rPr lang="en-AU" dirty="0"/>
                            <a:t>= 36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 – 394</a:t>
                          </a:r>
                        </a:p>
                        <a:p>
                          <a:r>
                            <a:rPr lang="en-AU" dirty="0"/>
                            <a:t>= -94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3033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Distance</a:t>
                          </a:r>
                          <a:r>
                            <a:rPr lang="en-AU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206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=42436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76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=5776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−224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=50176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=1296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−94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=8836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63577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24C6832-9F7D-452D-B4D4-6F5E600838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7850" y="2362291"/>
              <a:ext cx="8610600" cy="12793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67641">
                      <a:extLst>
                        <a:ext uri="{9D8B030D-6E8A-4147-A177-3AD203B41FA5}">
                          <a16:colId xmlns:a16="http://schemas.microsoft.com/office/drawing/2014/main" val="2362367345"/>
                        </a:ext>
                      </a:extLst>
                    </a:gridCol>
                    <a:gridCol w="1464775">
                      <a:extLst>
                        <a:ext uri="{9D8B030D-6E8A-4147-A177-3AD203B41FA5}">
                          <a16:colId xmlns:a16="http://schemas.microsoft.com/office/drawing/2014/main" val="1143438291"/>
                        </a:ext>
                      </a:extLst>
                    </a:gridCol>
                    <a:gridCol w="1327108">
                      <a:extLst>
                        <a:ext uri="{9D8B030D-6E8A-4147-A177-3AD203B41FA5}">
                          <a16:colId xmlns:a16="http://schemas.microsoft.com/office/drawing/2014/main" val="1837977782"/>
                        </a:ext>
                      </a:extLst>
                    </a:gridCol>
                    <a:gridCol w="1496219">
                      <a:extLst>
                        <a:ext uri="{9D8B030D-6E8A-4147-A177-3AD203B41FA5}">
                          <a16:colId xmlns:a16="http://schemas.microsoft.com/office/drawing/2014/main" val="1792400568"/>
                        </a:ext>
                      </a:extLst>
                    </a:gridCol>
                    <a:gridCol w="1322717">
                      <a:extLst>
                        <a:ext uri="{9D8B030D-6E8A-4147-A177-3AD203B41FA5}">
                          <a16:colId xmlns:a16="http://schemas.microsoft.com/office/drawing/2014/main" val="2954292873"/>
                        </a:ext>
                      </a:extLst>
                    </a:gridCol>
                    <a:gridCol w="1232140">
                      <a:extLst>
                        <a:ext uri="{9D8B030D-6E8A-4147-A177-3AD203B41FA5}">
                          <a16:colId xmlns:a16="http://schemas.microsoft.com/office/drawing/2014/main" val="199140094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Value - Mean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600 – 394  </a:t>
                          </a:r>
                        </a:p>
                        <a:p>
                          <a:r>
                            <a:rPr lang="en-AU" dirty="0"/>
                            <a:t>= 206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470 – 394</a:t>
                          </a:r>
                        </a:p>
                        <a:p>
                          <a:r>
                            <a:rPr lang="en-AU" dirty="0"/>
                            <a:t>= 76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170 – 394</a:t>
                          </a:r>
                        </a:p>
                        <a:p>
                          <a:r>
                            <a:rPr lang="en-AU" dirty="0"/>
                            <a:t>= -224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430 – 394</a:t>
                          </a:r>
                        </a:p>
                        <a:p>
                          <a:r>
                            <a:rPr lang="en-AU" dirty="0"/>
                            <a:t>= 36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 – 394</a:t>
                          </a:r>
                        </a:p>
                        <a:p>
                          <a:r>
                            <a:rPr lang="en-AU" dirty="0"/>
                            <a:t>= -94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3033882"/>
                      </a:ext>
                    </a:extLst>
                  </a:tr>
                  <a:tr h="639255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Distance</a:t>
                          </a:r>
                          <a:r>
                            <a:rPr lang="en-AU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250" t="-105714" r="-36875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578" t="-105714" r="-305963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4472" t="-105714" r="-171138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8525" t="-105714" r="-94009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105714" r="-990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63577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79242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5371-E12A-42CE-A857-52B41890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4: Calculate the mean of the square distances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24C6832-9F7D-452D-B4D4-6F5E600838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7850" y="2362291"/>
              <a:ext cx="8610600" cy="12793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67641">
                      <a:extLst>
                        <a:ext uri="{9D8B030D-6E8A-4147-A177-3AD203B41FA5}">
                          <a16:colId xmlns:a16="http://schemas.microsoft.com/office/drawing/2014/main" val="2362367345"/>
                        </a:ext>
                      </a:extLst>
                    </a:gridCol>
                    <a:gridCol w="1464775">
                      <a:extLst>
                        <a:ext uri="{9D8B030D-6E8A-4147-A177-3AD203B41FA5}">
                          <a16:colId xmlns:a16="http://schemas.microsoft.com/office/drawing/2014/main" val="1143438291"/>
                        </a:ext>
                      </a:extLst>
                    </a:gridCol>
                    <a:gridCol w="1327108">
                      <a:extLst>
                        <a:ext uri="{9D8B030D-6E8A-4147-A177-3AD203B41FA5}">
                          <a16:colId xmlns:a16="http://schemas.microsoft.com/office/drawing/2014/main" val="1837977782"/>
                        </a:ext>
                      </a:extLst>
                    </a:gridCol>
                    <a:gridCol w="1496219">
                      <a:extLst>
                        <a:ext uri="{9D8B030D-6E8A-4147-A177-3AD203B41FA5}">
                          <a16:colId xmlns:a16="http://schemas.microsoft.com/office/drawing/2014/main" val="1792400568"/>
                        </a:ext>
                      </a:extLst>
                    </a:gridCol>
                    <a:gridCol w="1322717">
                      <a:extLst>
                        <a:ext uri="{9D8B030D-6E8A-4147-A177-3AD203B41FA5}">
                          <a16:colId xmlns:a16="http://schemas.microsoft.com/office/drawing/2014/main" val="2954292873"/>
                        </a:ext>
                      </a:extLst>
                    </a:gridCol>
                    <a:gridCol w="1232140">
                      <a:extLst>
                        <a:ext uri="{9D8B030D-6E8A-4147-A177-3AD203B41FA5}">
                          <a16:colId xmlns:a16="http://schemas.microsoft.com/office/drawing/2014/main" val="19914009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Value - Mean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600 – 394  </a:t>
                          </a:r>
                        </a:p>
                        <a:p>
                          <a:r>
                            <a:rPr lang="en-AU" dirty="0"/>
                            <a:t>= 206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470 – 394</a:t>
                          </a:r>
                        </a:p>
                        <a:p>
                          <a:r>
                            <a:rPr lang="en-AU" dirty="0"/>
                            <a:t>= 76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170 – 394</a:t>
                          </a:r>
                        </a:p>
                        <a:p>
                          <a:r>
                            <a:rPr lang="en-AU" dirty="0"/>
                            <a:t>= -224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430 – 394</a:t>
                          </a:r>
                        </a:p>
                        <a:p>
                          <a:r>
                            <a:rPr lang="en-AU" dirty="0"/>
                            <a:t>= 36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 – 394</a:t>
                          </a:r>
                        </a:p>
                        <a:p>
                          <a:r>
                            <a:rPr lang="en-AU" dirty="0"/>
                            <a:t>= -94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3033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Distance</a:t>
                          </a:r>
                          <a:r>
                            <a:rPr lang="en-AU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206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=42436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76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=5776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−224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=50176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=1296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−94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=8836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63577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24C6832-9F7D-452D-B4D4-6F5E600838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7850" y="2362291"/>
              <a:ext cx="8610600" cy="12793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67641">
                      <a:extLst>
                        <a:ext uri="{9D8B030D-6E8A-4147-A177-3AD203B41FA5}">
                          <a16:colId xmlns:a16="http://schemas.microsoft.com/office/drawing/2014/main" val="2362367345"/>
                        </a:ext>
                      </a:extLst>
                    </a:gridCol>
                    <a:gridCol w="1464775">
                      <a:extLst>
                        <a:ext uri="{9D8B030D-6E8A-4147-A177-3AD203B41FA5}">
                          <a16:colId xmlns:a16="http://schemas.microsoft.com/office/drawing/2014/main" val="1143438291"/>
                        </a:ext>
                      </a:extLst>
                    </a:gridCol>
                    <a:gridCol w="1327108">
                      <a:extLst>
                        <a:ext uri="{9D8B030D-6E8A-4147-A177-3AD203B41FA5}">
                          <a16:colId xmlns:a16="http://schemas.microsoft.com/office/drawing/2014/main" val="1837977782"/>
                        </a:ext>
                      </a:extLst>
                    </a:gridCol>
                    <a:gridCol w="1496219">
                      <a:extLst>
                        <a:ext uri="{9D8B030D-6E8A-4147-A177-3AD203B41FA5}">
                          <a16:colId xmlns:a16="http://schemas.microsoft.com/office/drawing/2014/main" val="1792400568"/>
                        </a:ext>
                      </a:extLst>
                    </a:gridCol>
                    <a:gridCol w="1322717">
                      <a:extLst>
                        <a:ext uri="{9D8B030D-6E8A-4147-A177-3AD203B41FA5}">
                          <a16:colId xmlns:a16="http://schemas.microsoft.com/office/drawing/2014/main" val="2954292873"/>
                        </a:ext>
                      </a:extLst>
                    </a:gridCol>
                    <a:gridCol w="1232140">
                      <a:extLst>
                        <a:ext uri="{9D8B030D-6E8A-4147-A177-3AD203B41FA5}">
                          <a16:colId xmlns:a16="http://schemas.microsoft.com/office/drawing/2014/main" val="199140094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Value - Mean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600 – 394  </a:t>
                          </a:r>
                        </a:p>
                        <a:p>
                          <a:r>
                            <a:rPr lang="en-AU" dirty="0"/>
                            <a:t>= 206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470 – 394</a:t>
                          </a:r>
                        </a:p>
                        <a:p>
                          <a:r>
                            <a:rPr lang="en-AU" dirty="0"/>
                            <a:t>= 76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170 – 394</a:t>
                          </a:r>
                        </a:p>
                        <a:p>
                          <a:r>
                            <a:rPr lang="en-AU" dirty="0"/>
                            <a:t>= -224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430 – 394</a:t>
                          </a:r>
                        </a:p>
                        <a:p>
                          <a:r>
                            <a:rPr lang="en-AU" dirty="0"/>
                            <a:t>= 36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 – 394</a:t>
                          </a:r>
                        </a:p>
                        <a:p>
                          <a:r>
                            <a:rPr lang="en-AU" dirty="0"/>
                            <a:t>= -94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3033882"/>
                      </a:ext>
                    </a:extLst>
                  </a:tr>
                  <a:tr h="639255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Distance</a:t>
                          </a:r>
                          <a:r>
                            <a:rPr lang="en-AU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250" t="-105714" r="-36875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578" t="-105714" r="-305963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4472" t="-105714" r="-171138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8525" t="-105714" r="-94009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105714" r="-990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63577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45EFBC-18C0-40F8-BF82-0256B9D664CE}"/>
                  </a:ext>
                </a:extLst>
              </p:cNvPr>
              <p:cNvSpPr txBox="1"/>
              <p:nvPr/>
            </p:nvSpPr>
            <p:spPr>
              <a:xfrm>
                <a:off x="3326921" y="3946516"/>
                <a:ext cx="5230856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𝑉𝑎𝑟𝑖𝑎𝑛𝑐𝑒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42436+5776+50176+1296+8836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45EFBC-18C0-40F8-BF82-0256B9D66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921" y="3946516"/>
                <a:ext cx="5230856" cy="5241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BC0D81-2F67-4E05-A723-F98169DE7EC9}"/>
                  </a:ext>
                </a:extLst>
              </p:cNvPr>
              <p:cNvSpPr txBox="1"/>
              <p:nvPr/>
            </p:nvSpPr>
            <p:spPr>
              <a:xfrm>
                <a:off x="3378680" y="4587972"/>
                <a:ext cx="2127442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𝑉𝑎𝑟𝑖𝑎𝑛𝑐𝑒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108 520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BC0D81-2F67-4E05-A723-F98169DE7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680" y="4587972"/>
                <a:ext cx="2127442" cy="5260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7E5692-5112-48D8-9E0F-C62FF6112F89}"/>
                  </a:ext>
                </a:extLst>
              </p:cNvPr>
              <p:cNvSpPr txBox="1"/>
              <p:nvPr/>
            </p:nvSpPr>
            <p:spPr>
              <a:xfrm>
                <a:off x="3378680" y="5232711"/>
                <a:ext cx="19479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𝑉𝑎𝑟𝑖𝑎𝑛𝑐𝑒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=21704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7E5692-5112-48D8-9E0F-C62FF6112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680" y="5232711"/>
                <a:ext cx="1947906" cy="276999"/>
              </a:xfrm>
              <a:prstGeom prst="rect">
                <a:avLst/>
              </a:prstGeom>
              <a:blipFill>
                <a:blip r:embed="rId5"/>
                <a:stretch>
                  <a:fillRect l="-2188" r="-2500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1776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5371-E12A-42CE-A857-52B41890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5: Find the Square Root of the </a:t>
            </a:r>
            <a:r>
              <a:rPr lang="en-AU" dirty="0" err="1"/>
              <a:t>VAriance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24C6832-9F7D-452D-B4D4-6F5E600838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7850" y="2362291"/>
              <a:ext cx="8610600" cy="12793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67641">
                      <a:extLst>
                        <a:ext uri="{9D8B030D-6E8A-4147-A177-3AD203B41FA5}">
                          <a16:colId xmlns:a16="http://schemas.microsoft.com/office/drawing/2014/main" val="2362367345"/>
                        </a:ext>
                      </a:extLst>
                    </a:gridCol>
                    <a:gridCol w="1464775">
                      <a:extLst>
                        <a:ext uri="{9D8B030D-6E8A-4147-A177-3AD203B41FA5}">
                          <a16:colId xmlns:a16="http://schemas.microsoft.com/office/drawing/2014/main" val="1143438291"/>
                        </a:ext>
                      </a:extLst>
                    </a:gridCol>
                    <a:gridCol w="1327108">
                      <a:extLst>
                        <a:ext uri="{9D8B030D-6E8A-4147-A177-3AD203B41FA5}">
                          <a16:colId xmlns:a16="http://schemas.microsoft.com/office/drawing/2014/main" val="1837977782"/>
                        </a:ext>
                      </a:extLst>
                    </a:gridCol>
                    <a:gridCol w="1496219">
                      <a:extLst>
                        <a:ext uri="{9D8B030D-6E8A-4147-A177-3AD203B41FA5}">
                          <a16:colId xmlns:a16="http://schemas.microsoft.com/office/drawing/2014/main" val="1792400568"/>
                        </a:ext>
                      </a:extLst>
                    </a:gridCol>
                    <a:gridCol w="1322717">
                      <a:extLst>
                        <a:ext uri="{9D8B030D-6E8A-4147-A177-3AD203B41FA5}">
                          <a16:colId xmlns:a16="http://schemas.microsoft.com/office/drawing/2014/main" val="2954292873"/>
                        </a:ext>
                      </a:extLst>
                    </a:gridCol>
                    <a:gridCol w="1232140">
                      <a:extLst>
                        <a:ext uri="{9D8B030D-6E8A-4147-A177-3AD203B41FA5}">
                          <a16:colId xmlns:a16="http://schemas.microsoft.com/office/drawing/2014/main" val="19914009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Value - Mean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600 – 394  </a:t>
                          </a:r>
                        </a:p>
                        <a:p>
                          <a:r>
                            <a:rPr lang="en-AU" dirty="0"/>
                            <a:t>= 206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470 – 394</a:t>
                          </a:r>
                        </a:p>
                        <a:p>
                          <a:r>
                            <a:rPr lang="en-AU" dirty="0"/>
                            <a:t>= 76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170 – 394</a:t>
                          </a:r>
                        </a:p>
                        <a:p>
                          <a:r>
                            <a:rPr lang="en-AU" dirty="0"/>
                            <a:t>= -224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430 – 394</a:t>
                          </a:r>
                        </a:p>
                        <a:p>
                          <a:r>
                            <a:rPr lang="en-AU" dirty="0"/>
                            <a:t>= 36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 – 394</a:t>
                          </a:r>
                        </a:p>
                        <a:p>
                          <a:r>
                            <a:rPr lang="en-AU" dirty="0"/>
                            <a:t>= -94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3033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Distance</a:t>
                          </a:r>
                          <a:r>
                            <a:rPr lang="en-AU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206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=42436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76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=5776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−224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=50176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=1296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−94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=8836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63577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24C6832-9F7D-452D-B4D4-6F5E600838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7850" y="2362291"/>
              <a:ext cx="8610600" cy="12793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67641">
                      <a:extLst>
                        <a:ext uri="{9D8B030D-6E8A-4147-A177-3AD203B41FA5}">
                          <a16:colId xmlns:a16="http://schemas.microsoft.com/office/drawing/2014/main" val="2362367345"/>
                        </a:ext>
                      </a:extLst>
                    </a:gridCol>
                    <a:gridCol w="1464775">
                      <a:extLst>
                        <a:ext uri="{9D8B030D-6E8A-4147-A177-3AD203B41FA5}">
                          <a16:colId xmlns:a16="http://schemas.microsoft.com/office/drawing/2014/main" val="1143438291"/>
                        </a:ext>
                      </a:extLst>
                    </a:gridCol>
                    <a:gridCol w="1327108">
                      <a:extLst>
                        <a:ext uri="{9D8B030D-6E8A-4147-A177-3AD203B41FA5}">
                          <a16:colId xmlns:a16="http://schemas.microsoft.com/office/drawing/2014/main" val="1837977782"/>
                        </a:ext>
                      </a:extLst>
                    </a:gridCol>
                    <a:gridCol w="1496219">
                      <a:extLst>
                        <a:ext uri="{9D8B030D-6E8A-4147-A177-3AD203B41FA5}">
                          <a16:colId xmlns:a16="http://schemas.microsoft.com/office/drawing/2014/main" val="1792400568"/>
                        </a:ext>
                      </a:extLst>
                    </a:gridCol>
                    <a:gridCol w="1322717">
                      <a:extLst>
                        <a:ext uri="{9D8B030D-6E8A-4147-A177-3AD203B41FA5}">
                          <a16:colId xmlns:a16="http://schemas.microsoft.com/office/drawing/2014/main" val="2954292873"/>
                        </a:ext>
                      </a:extLst>
                    </a:gridCol>
                    <a:gridCol w="1232140">
                      <a:extLst>
                        <a:ext uri="{9D8B030D-6E8A-4147-A177-3AD203B41FA5}">
                          <a16:colId xmlns:a16="http://schemas.microsoft.com/office/drawing/2014/main" val="199140094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Value - Mean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600 – 394  </a:t>
                          </a:r>
                        </a:p>
                        <a:p>
                          <a:r>
                            <a:rPr lang="en-AU" dirty="0"/>
                            <a:t>= 206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470 – 394</a:t>
                          </a:r>
                        </a:p>
                        <a:p>
                          <a:r>
                            <a:rPr lang="en-AU" dirty="0"/>
                            <a:t>= 76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170 – 394</a:t>
                          </a:r>
                        </a:p>
                        <a:p>
                          <a:r>
                            <a:rPr lang="en-AU" dirty="0"/>
                            <a:t>= -224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430 – 394</a:t>
                          </a:r>
                        </a:p>
                        <a:p>
                          <a:r>
                            <a:rPr lang="en-AU" dirty="0"/>
                            <a:t>= 36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 – 394</a:t>
                          </a:r>
                        </a:p>
                        <a:p>
                          <a:r>
                            <a:rPr lang="en-AU" dirty="0"/>
                            <a:t>= -94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3033882"/>
                      </a:ext>
                    </a:extLst>
                  </a:tr>
                  <a:tr h="639255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Distance</a:t>
                          </a:r>
                          <a:r>
                            <a:rPr lang="en-AU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250" t="-105714" r="-36875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578" t="-105714" r="-305963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4472" t="-105714" r="-171138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8525" t="-105714" r="-94009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105714" r="-990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63577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7E5692-5112-48D8-9E0F-C62FF6112F89}"/>
                  </a:ext>
                </a:extLst>
              </p:cNvPr>
              <p:cNvSpPr txBox="1"/>
              <p:nvPr/>
            </p:nvSpPr>
            <p:spPr>
              <a:xfrm>
                <a:off x="3706483" y="4105029"/>
                <a:ext cx="19479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𝑉𝑎𝑟𝑖𝑎𝑛𝑐𝑒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=21704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7E5692-5112-48D8-9E0F-C62FF6112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483" y="4105029"/>
                <a:ext cx="1947906" cy="276999"/>
              </a:xfrm>
              <a:prstGeom prst="rect">
                <a:avLst/>
              </a:prstGeom>
              <a:blipFill>
                <a:blip r:embed="rId3"/>
                <a:stretch>
                  <a:fillRect l="-2188" r="-2500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4B890B-42DE-417A-9642-E2C162F184A0}"/>
                  </a:ext>
                </a:extLst>
              </p:cNvPr>
              <p:cNvSpPr txBox="1"/>
              <p:nvPr/>
            </p:nvSpPr>
            <p:spPr>
              <a:xfrm>
                <a:off x="4505864" y="4457448"/>
                <a:ext cx="1298561" cy="3096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21704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4B890B-42DE-417A-9642-E2C162F18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864" y="4457448"/>
                <a:ext cx="1298561" cy="309637"/>
              </a:xfrm>
              <a:prstGeom prst="rect">
                <a:avLst/>
              </a:prstGeom>
              <a:blipFill>
                <a:blip r:embed="rId4"/>
                <a:stretch>
                  <a:fillRect l="-1878" r="-4225" b="-98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89D30F-A07A-413B-9157-E2AC8DF9816F}"/>
                  </a:ext>
                </a:extLst>
              </p:cNvPr>
              <p:cNvSpPr txBox="1"/>
              <p:nvPr/>
            </p:nvSpPr>
            <p:spPr>
              <a:xfrm>
                <a:off x="4505863" y="4892572"/>
                <a:ext cx="129856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=147.32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89D30F-A07A-413B-9157-E2AC8DF98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863" y="4892572"/>
                <a:ext cx="1298561" cy="276999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0A1716B-B844-4824-A1EA-10A0C9D53549}"/>
                  </a:ext>
                </a:extLst>
              </p:cNvPr>
              <p:cNvSpPr txBox="1"/>
              <p:nvPr/>
            </p:nvSpPr>
            <p:spPr>
              <a:xfrm>
                <a:off x="4557621" y="5295058"/>
                <a:ext cx="414930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=147 </m:t>
                    </m:r>
                  </m:oMath>
                </a14:m>
                <a:r>
                  <a:rPr lang="en-GB" dirty="0"/>
                  <a:t>mm </a:t>
                </a:r>
              </a:p>
              <a:p>
                <a:r>
                  <a:rPr lang="en-GB" dirty="0"/>
                  <a:t>(round to the nearest whole number)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0A1716B-B844-4824-A1EA-10A0C9D53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621" y="5295058"/>
                <a:ext cx="4149307" cy="553998"/>
              </a:xfrm>
              <a:prstGeom prst="rect">
                <a:avLst/>
              </a:prstGeom>
              <a:blipFill>
                <a:blip r:embed="rId6"/>
                <a:stretch>
                  <a:fillRect l="-3529" t="-14444" r="-2794" b="-2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228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5371-E12A-42CE-A857-52B41890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dirty="0"/>
              <a:t>Step 5: What does the Standard Deviation Show?</a:t>
            </a:r>
            <a:endParaRPr lang="en-GB" dirty="0"/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CB854E38-6925-4100-8066-7AFC80E7D3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70"/>
          <a:stretch/>
        </p:blipFill>
        <p:spPr bwMode="auto">
          <a:xfrm>
            <a:off x="1086929" y="2146877"/>
            <a:ext cx="10188156" cy="448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5485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AE24D73-EC7D-4540-A48C-39AE66CFD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39064" y="766764"/>
            <a:ext cx="8666671" cy="11430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en-US" dirty="0"/>
              <a:t>Measures of Dispersion:</a:t>
            </a:r>
            <a:br>
              <a:rPr lang="en-US" altLang="en-US" dirty="0"/>
            </a:br>
            <a:r>
              <a:rPr lang="en-US" altLang="en-US" dirty="0"/>
              <a:t>Comparing Standard Deviations</a:t>
            </a:r>
          </a:p>
        </p:txBody>
      </p:sp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FB0F32D1-592D-4032-A579-C1A094805A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 rot="16200000">
            <a:off x="8234363" y="4168775"/>
            <a:ext cx="23685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524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524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524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524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524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524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524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524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524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00"/>
              <a:t>Chap 3-</a:t>
            </a:r>
            <a:fld id="{74D94F4F-8683-40E7-9FA9-4130BC2A7895}" type="slidenum">
              <a:rPr lang="en-US" altLang="en-US" sz="1000" smtClean="0"/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000"/>
          </a:p>
        </p:txBody>
      </p:sp>
      <p:pic>
        <p:nvPicPr>
          <p:cNvPr id="8196" name="Picture 3" descr="normalcurves">
            <a:extLst>
              <a:ext uri="{FF2B5EF4-FFF2-40B4-BE49-F238E27FC236}">
                <a16:creationId xmlns:a16="http://schemas.microsoft.com/office/drawing/2014/main" id="{44853020-4817-4FCA-ACB2-CE823D3BD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1947863"/>
            <a:ext cx="7179334" cy="466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Text Box 4">
            <a:extLst>
              <a:ext uri="{FF2B5EF4-FFF2-40B4-BE49-F238E27FC236}">
                <a16:creationId xmlns:a16="http://schemas.microsoft.com/office/drawing/2014/main" id="{F82F0EE1-4BA5-4042-A327-272982CE7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925" y="2252663"/>
            <a:ext cx="40386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Smaller standard deviation</a:t>
            </a:r>
          </a:p>
          <a:p>
            <a:pPr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Larger standard deviation</a:t>
            </a:r>
          </a:p>
        </p:txBody>
      </p:sp>
      <p:sp>
        <p:nvSpPr>
          <p:cNvPr id="8198" name="Line 5">
            <a:extLst>
              <a:ext uri="{FF2B5EF4-FFF2-40B4-BE49-F238E27FC236}">
                <a16:creationId xmlns:a16="http://schemas.microsoft.com/office/drawing/2014/main" id="{E2745B63-98D9-42B5-8528-15CB4D792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300" y="3776662"/>
            <a:ext cx="2249338" cy="112314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199" name="Line 6">
            <a:extLst>
              <a:ext uri="{FF2B5EF4-FFF2-40B4-BE49-F238E27FC236}">
                <a16:creationId xmlns:a16="http://schemas.microsoft.com/office/drawing/2014/main" id="{A92476F7-DEF8-49EC-A660-BE50B7DFF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299" y="2709862"/>
            <a:ext cx="3083225" cy="78671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AE24D73-EC7D-4540-A48C-39AE66CFD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39064" y="766764"/>
            <a:ext cx="8666671" cy="11430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en-US" dirty="0"/>
              <a:t>Measures of Dispersion:</a:t>
            </a:r>
            <a:br>
              <a:rPr lang="en-US" altLang="en-US" dirty="0"/>
            </a:br>
            <a:r>
              <a:rPr lang="en-US" altLang="en-US" dirty="0"/>
              <a:t>Comparing Standard Deviations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345FB59-EDC1-467C-83FA-D19E77077C67}"/>
              </a:ext>
            </a:extLst>
          </p:cNvPr>
          <p:cNvSpPr txBox="1">
            <a:spLocks noChangeArrowheads="1"/>
          </p:cNvSpPr>
          <p:nvPr/>
        </p:nvSpPr>
        <p:spPr>
          <a:xfrm>
            <a:off x="1870494" y="1972574"/>
            <a:ext cx="7772400" cy="13795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800" cap="none" dirty="0"/>
              <a:t>The </a:t>
            </a:r>
            <a:r>
              <a:rPr lang="en-US" altLang="en-US" sz="2800" cap="none" dirty="0">
                <a:solidFill>
                  <a:srgbClr val="FF0000"/>
                </a:solidFill>
              </a:rPr>
              <a:t>standard deviation</a:t>
            </a:r>
            <a:r>
              <a:rPr lang="en-US" altLang="en-US" sz="2800" cap="none" dirty="0"/>
              <a:t> is a number that measures how far away each number in a set of data is from their mean.</a:t>
            </a:r>
            <a:endParaRPr lang="en-US" altLang="en-US" sz="2000" cap="none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A7D1C85-D66A-4FB1-B387-79592FF9B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0493" y="3642714"/>
            <a:ext cx="8118895" cy="2579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MS PGothic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MS PGothic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 eaLnBrk="1" hangingPunct="1">
              <a:defRPr/>
            </a:pPr>
            <a:r>
              <a:rPr lang="en-US" altLang="en-US" sz="2800" kern="0" dirty="0"/>
              <a:t>If the </a:t>
            </a:r>
            <a:r>
              <a:rPr lang="en-US" altLang="en-US" sz="2800" kern="0" dirty="0">
                <a:solidFill>
                  <a:srgbClr val="FF0000"/>
                </a:solidFill>
              </a:rPr>
              <a:t>Standard Deviation</a:t>
            </a:r>
            <a:r>
              <a:rPr lang="en-US" altLang="en-US" sz="2800" kern="0" dirty="0"/>
              <a:t> is </a:t>
            </a:r>
            <a:r>
              <a:rPr lang="en-US" altLang="en-US" sz="2800" kern="0" dirty="0">
                <a:solidFill>
                  <a:schemeClr val="bg1"/>
                </a:solidFill>
              </a:rPr>
              <a:t>large,</a:t>
            </a:r>
            <a:r>
              <a:rPr lang="en-US" altLang="en-US" sz="2800" kern="0" dirty="0"/>
              <a:t> it means the numbers are spread out from their mean.</a:t>
            </a:r>
            <a:br>
              <a:rPr lang="en-US" altLang="en-US" sz="2800" kern="0" dirty="0"/>
            </a:br>
            <a:br>
              <a:rPr lang="en-US" altLang="en-US" sz="2800" kern="0" dirty="0"/>
            </a:br>
            <a:r>
              <a:rPr lang="en-US" altLang="en-US" sz="2800" kern="0" dirty="0"/>
              <a:t>If the </a:t>
            </a:r>
            <a:r>
              <a:rPr lang="en-US" altLang="en-US" sz="2800" kern="0" dirty="0">
                <a:solidFill>
                  <a:srgbClr val="FF0000"/>
                </a:solidFill>
              </a:rPr>
              <a:t>Standard Deviation</a:t>
            </a:r>
            <a:r>
              <a:rPr lang="en-US" altLang="en-US" sz="2800" kern="0" dirty="0"/>
              <a:t> is </a:t>
            </a:r>
            <a:r>
              <a:rPr lang="en-US" altLang="en-US" sz="2800" kern="0" dirty="0">
                <a:solidFill>
                  <a:schemeClr val="bg1"/>
                </a:solidFill>
              </a:rPr>
              <a:t>small,</a:t>
            </a:r>
            <a:r>
              <a:rPr lang="en-US" altLang="en-US" sz="2800" kern="0" dirty="0"/>
              <a:t> it means the numbers are close to their mean.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3D4A4C-FFC8-4DE0-A28E-40ED5C21E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904" y="5085062"/>
            <a:ext cx="1123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tx2"/>
                </a:solidFill>
              </a:rPr>
              <a:t>small,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E09BDA-B8C8-4E58-A059-147CBC35F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904" y="3792981"/>
            <a:ext cx="10858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tx2"/>
                </a:solidFill>
              </a:rPr>
              <a:t>large,</a:t>
            </a:r>
          </a:p>
        </p:txBody>
      </p:sp>
    </p:spTree>
    <p:extLst>
      <p:ext uri="{BB962C8B-B14F-4D97-AF65-F5344CB8AC3E}">
        <p14:creationId xmlns:p14="http://schemas.microsoft.com/office/powerpoint/2010/main" val="373620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47</TotalTime>
  <Words>314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MS PGothic</vt:lpstr>
      <vt:lpstr>Arial</vt:lpstr>
      <vt:lpstr>Calibri</vt:lpstr>
      <vt:lpstr>Cambria Math</vt:lpstr>
      <vt:lpstr>Century Gothic</vt:lpstr>
      <vt:lpstr>Times New Roman</vt:lpstr>
      <vt:lpstr>BSC Theme</vt:lpstr>
      <vt:lpstr>Standard Deviation</vt:lpstr>
      <vt:lpstr>Step 1: Calculate the Mean</vt:lpstr>
      <vt:lpstr>Step 2: Calculate the distance</vt:lpstr>
      <vt:lpstr>Step 3: Square the distance</vt:lpstr>
      <vt:lpstr>Step 4: Calculate the mean of the square distances</vt:lpstr>
      <vt:lpstr>Step 5: Find the Square Root of the VAriance</vt:lpstr>
      <vt:lpstr>Step 5: What does the Standard Deviation Show?</vt:lpstr>
      <vt:lpstr>Measures of Dispersion: Comparing Standard Deviations</vt:lpstr>
      <vt:lpstr>Measures of Dispersion: Comparing Standard Deviations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Deviation</dc:title>
  <dc:creator>LUM Magdeline [Baldivis Secondary College]</dc:creator>
  <cp:lastModifiedBy>LUM Magdeline [Baldivis Secondary College]</cp:lastModifiedBy>
  <cp:revision>6</cp:revision>
  <dcterms:created xsi:type="dcterms:W3CDTF">2018-08-06T15:46:13Z</dcterms:created>
  <dcterms:modified xsi:type="dcterms:W3CDTF">2018-08-06T16:33:56Z</dcterms:modified>
</cp:coreProperties>
</file>
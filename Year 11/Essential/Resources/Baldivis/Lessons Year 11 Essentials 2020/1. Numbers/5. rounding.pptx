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handoutMasterIdLst>
    <p:handoutMasterId r:id="rId12"/>
  </p:handoutMasterIdLst>
  <p:sldIdLst>
    <p:sldId id="283" r:id="rId2"/>
    <p:sldId id="263" r:id="rId3"/>
    <p:sldId id="264" r:id="rId4"/>
    <p:sldId id="287" r:id="rId5"/>
    <p:sldId id="296" r:id="rId6"/>
    <p:sldId id="289" r:id="rId7"/>
    <p:sldId id="290" r:id="rId8"/>
    <p:sldId id="297" r:id="rId9"/>
    <p:sldId id="291" r:id="rId10"/>
    <p:sldId id="298" r:id="rId11"/>
  </p:sldIdLst>
  <p:sldSz cx="12192000" cy="6858000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339933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63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BD0EE-C21D-4C0C-8528-7B1D2BB05D53}" type="datetimeFigureOut">
              <a:rPr lang="en-AU" smtClean="0"/>
              <a:t>10/02/2020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C8E80-13BA-4C34-92E6-CD6F5F954A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10979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711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91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548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2/10/2020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9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34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57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483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28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625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27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00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56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fd-E18EqSVk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Number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418" y="371764"/>
            <a:ext cx="4356100" cy="311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39272" y="4546601"/>
            <a:ext cx="31903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Term 1</a:t>
            </a:r>
          </a:p>
          <a:p>
            <a:pPr algn="ctr"/>
            <a:r>
              <a:rPr lang="en-US" sz="2400" dirty="0" smtClean="0"/>
              <a:t>Semester 1</a:t>
            </a:r>
          </a:p>
          <a:p>
            <a:r>
              <a:rPr lang="en-US" sz="2400" dirty="0" smtClean="0"/>
              <a:t>Teacher:</a:t>
            </a:r>
          </a:p>
          <a:p>
            <a:r>
              <a:rPr lang="en-US" sz="2400" dirty="0" smtClean="0"/>
              <a:t>Class: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99643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60682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66994" y="325976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" y="27520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897199" y="344357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6312" y="282134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2105" y="325976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0682" y="105927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6024081" y="62874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0" y="1196753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690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642225" y="6432302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724659"/>
            <a:ext cx="12192000" cy="55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-147782" y="1254942"/>
            <a:ext cx="12432146" cy="397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406886" y="1294643"/>
            <a:ext cx="14889" cy="55633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0520" y="47351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522" y="769906"/>
            <a:ext cx="12474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Essential </a:t>
            </a:r>
            <a:r>
              <a:rPr lang="en-AU" sz="1100" dirty="0" smtClean="0"/>
              <a:t>Question:</a:t>
            </a:r>
            <a:endParaRPr lang="en-AU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3036418" y="1324501"/>
            <a:ext cx="25829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Notes:</a:t>
            </a:r>
          </a:p>
          <a:p>
            <a:endParaRPr lang="en-AU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220520" y="1339890"/>
            <a:ext cx="1022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1651" y="805537"/>
            <a:ext cx="9068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</a:t>
            </a:r>
            <a:r>
              <a:rPr lang="en-AU" dirty="0" smtClean="0"/>
              <a:t>estimate and round whole numbers and decimals?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963031" y="150684"/>
            <a:ext cx="4393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</a:t>
            </a:r>
            <a:r>
              <a:rPr lang="en-AU" sz="2400" b="1" dirty="0" smtClean="0"/>
              <a:t>ESTIMATING &amp; ROUNDING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9390252" y="13968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7194498" y="1294643"/>
            <a:ext cx="14889" cy="55633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1106" y="1294643"/>
            <a:ext cx="25829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Example :</a:t>
            </a:r>
          </a:p>
          <a:p>
            <a:endParaRPr lang="en-US" sz="20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634836" y="2524644"/>
            <a:ext cx="9725891" cy="267765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REVISION QUESTIONS</a:t>
            </a:r>
          </a:p>
          <a:p>
            <a:pPr algn="ctr"/>
            <a:endParaRPr lang="en-US" sz="2800" dirty="0"/>
          </a:p>
          <a:p>
            <a:pPr algn="ctr"/>
            <a:endParaRPr lang="en-US" sz="2800" dirty="0" smtClean="0"/>
          </a:p>
          <a:p>
            <a:pPr algn="ctr"/>
            <a:endParaRPr lang="en-US" sz="2800" dirty="0"/>
          </a:p>
          <a:p>
            <a:pPr algn="ctr"/>
            <a:endParaRPr lang="en-US" sz="2800" dirty="0" smtClean="0"/>
          </a:p>
          <a:p>
            <a:pPr algn="ctr"/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8881474"/>
                  </p:ext>
                </p:extLst>
              </p:nvPr>
            </p:nvGraphicFramePr>
            <p:xfrm>
              <a:off x="1914840" y="3292295"/>
              <a:ext cx="6028433" cy="167895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929008">
                      <a:extLst>
                        <a:ext uri="{9D8B030D-6E8A-4147-A177-3AD203B41FA5}">
                          <a16:colId xmlns:a16="http://schemas.microsoft.com/office/drawing/2014/main" val="2449134096"/>
                        </a:ext>
                      </a:extLst>
                    </a:gridCol>
                    <a:gridCol w="1929008">
                      <a:extLst>
                        <a:ext uri="{9D8B030D-6E8A-4147-A177-3AD203B41FA5}">
                          <a16:colId xmlns:a16="http://schemas.microsoft.com/office/drawing/2014/main" val="2130743795"/>
                        </a:ext>
                      </a:extLst>
                    </a:gridCol>
                    <a:gridCol w="2170417">
                      <a:extLst>
                        <a:ext uri="{9D8B030D-6E8A-4147-A177-3AD203B41FA5}">
                          <a16:colId xmlns:a16="http://schemas.microsoft.com/office/drawing/2014/main" val="2170240053"/>
                        </a:ext>
                      </a:extLst>
                    </a:gridCol>
                  </a:tblGrid>
                  <a:tr h="167895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12 −10+3</m:t>
                                </m:r>
                              </m:oMath>
                            </m:oMathPara>
                          </a14:m>
                          <a:endParaRPr lang="en-AU" sz="1800" b="0" i="1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800" b="0" i="1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(14−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×2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+8)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54959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8881474"/>
                  </p:ext>
                </p:extLst>
              </p:nvPr>
            </p:nvGraphicFramePr>
            <p:xfrm>
              <a:off x="1914840" y="3292295"/>
              <a:ext cx="6028433" cy="167895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929008">
                      <a:extLst>
                        <a:ext uri="{9D8B030D-6E8A-4147-A177-3AD203B41FA5}">
                          <a16:colId xmlns:a16="http://schemas.microsoft.com/office/drawing/2014/main" val="2449134096"/>
                        </a:ext>
                      </a:extLst>
                    </a:gridCol>
                    <a:gridCol w="1929008">
                      <a:extLst>
                        <a:ext uri="{9D8B030D-6E8A-4147-A177-3AD203B41FA5}">
                          <a16:colId xmlns:a16="http://schemas.microsoft.com/office/drawing/2014/main" val="2130743795"/>
                        </a:ext>
                      </a:extLst>
                    </a:gridCol>
                    <a:gridCol w="2170417">
                      <a:extLst>
                        <a:ext uri="{9D8B030D-6E8A-4147-A177-3AD203B41FA5}">
                          <a16:colId xmlns:a16="http://schemas.microsoft.com/office/drawing/2014/main" val="2170240053"/>
                        </a:ext>
                      </a:extLst>
                    </a:gridCol>
                  </a:tblGrid>
                  <a:tr h="16789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15" t="-362" r="-212934" b="-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15" t="-362" r="-112934" b="-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371" t="-362" r="-562" b="-7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549599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8183418" y="3199158"/>
                <a:ext cx="293716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Estimate using leading digit</a:t>
                </a:r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47 + 129 + 82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39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 smtClean="0"/>
                  <a:t> 48</a:t>
                </a:r>
                <a:endParaRPr lang="en-AU" sz="24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418" y="3199158"/>
                <a:ext cx="2937164" cy="1754326"/>
              </a:xfrm>
              <a:prstGeom prst="rect">
                <a:avLst/>
              </a:prstGeom>
              <a:blipFill>
                <a:blip r:embed="rId3"/>
                <a:stretch>
                  <a:fillRect l="-2697" t="-2083" b="-69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33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d-E18EqSVk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03564" y="659823"/>
            <a:ext cx="10551007" cy="593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64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642225" y="6432302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724659"/>
            <a:ext cx="12192000" cy="55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0" y="1265985"/>
            <a:ext cx="12192000" cy="2854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406886" y="1294643"/>
            <a:ext cx="14889" cy="55633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0520" y="47351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522" y="769906"/>
            <a:ext cx="12474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Essential </a:t>
            </a:r>
            <a:r>
              <a:rPr lang="en-AU" sz="1100" dirty="0" smtClean="0"/>
              <a:t>Question:</a:t>
            </a:r>
            <a:endParaRPr lang="en-AU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2493222" y="1311024"/>
            <a:ext cx="25829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Notes:</a:t>
            </a:r>
          </a:p>
          <a:p>
            <a:endParaRPr lang="en-AU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220520" y="1339890"/>
            <a:ext cx="1022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1651" y="805537"/>
            <a:ext cx="9068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</a:t>
            </a:r>
            <a:r>
              <a:rPr lang="en-AU" dirty="0" smtClean="0"/>
              <a:t>estimate and round whole numbers and decimals?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963031" y="150684"/>
            <a:ext cx="4393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</a:t>
            </a:r>
            <a:r>
              <a:rPr lang="en-AU" sz="2400" b="1" dirty="0" smtClean="0"/>
              <a:t>ESTIMATING &amp; ROUNDING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9390252" y="13968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520" y="2002529"/>
            <a:ext cx="1774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rounding?</a:t>
            </a:r>
            <a:endParaRPr lang="en-AU" dirty="0"/>
          </a:p>
        </p:txBody>
      </p:sp>
      <p:sp>
        <p:nvSpPr>
          <p:cNvPr id="4" name="AutoShape 2" descr="Rel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3" y="4245695"/>
            <a:ext cx="3948363" cy="193716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3"/>
          <a:srcRect l="9220" t="28771" r="51525" b="51371"/>
          <a:stretch/>
        </p:blipFill>
        <p:spPr>
          <a:xfrm>
            <a:off x="3585810" y="1339890"/>
            <a:ext cx="8301643" cy="236225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736298" y="3122377"/>
            <a:ext cx="8912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8        </a:t>
            </a:r>
            <a:r>
              <a:rPr lang="en-US" sz="2800" dirty="0" smtClean="0"/>
              <a:t>0       </a:t>
            </a:r>
            <a:r>
              <a:rPr lang="en-US" sz="2800" dirty="0" smtClean="0"/>
              <a:t> </a:t>
            </a:r>
            <a:r>
              <a:rPr lang="en-US" sz="2800" dirty="0" smtClean="0"/>
              <a:t>2               </a:t>
            </a:r>
            <a:r>
              <a:rPr lang="en-US" sz="2800" dirty="0" smtClean="0"/>
              <a:t>  </a:t>
            </a:r>
            <a:r>
              <a:rPr lang="en-US" sz="2800" dirty="0" smtClean="0"/>
              <a:t>1        4       </a:t>
            </a:r>
            <a:r>
              <a:rPr lang="en-US" sz="2800" dirty="0" smtClean="0"/>
              <a:t>5        </a:t>
            </a:r>
            <a:r>
              <a:rPr lang="en-US" sz="2800" dirty="0" smtClean="0"/>
              <a:t>7</a:t>
            </a:r>
            <a:endParaRPr lang="en-AU" sz="2800" dirty="0"/>
          </a:p>
        </p:txBody>
      </p:sp>
      <p:sp>
        <p:nvSpPr>
          <p:cNvPr id="27" name="TextBox 26"/>
          <p:cNvSpPr txBox="1"/>
          <p:nvPr/>
        </p:nvSpPr>
        <p:spPr>
          <a:xfrm>
            <a:off x="4165502" y="3940536"/>
            <a:ext cx="437949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Whole number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Tenth</a:t>
            </a:r>
          </a:p>
          <a:p>
            <a:endParaRPr lang="en-US" dirty="0"/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Hundredth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4024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950138"/>
              </p:ext>
            </p:extLst>
          </p:nvPr>
        </p:nvGraphicFramePr>
        <p:xfrm>
          <a:off x="2623128" y="1236903"/>
          <a:ext cx="6345381" cy="4756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127">
                  <a:extLst>
                    <a:ext uri="{9D8B030D-6E8A-4147-A177-3AD203B41FA5}">
                      <a16:colId xmlns:a16="http://schemas.microsoft.com/office/drawing/2014/main" val="2934885989"/>
                    </a:ext>
                  </a:extLst>
                </a:gridCol>
                <a:gridCol w="2115127">
                  <a:extLst>
                    <a:ext uri="{9D8B030D-6E8A-4147-A177-3AD203B41FA5}">
                      <a16:colId xmlns:a16="http://schemas.microsoft.com/office/drawing/2014/main" val="2136800180"/>
                    </a:ext>
                  </a:extLst>
                </a:gridCol>
                <a:gridCol w="2115127">
                  <a:extLst>
                    <a:ext uri="{9D8B030D-6E8A-4147-A177-3AD203B41FA5}">
                      <a16:colId xmlns:a16="http://schemas.microsoft.com/office/drawing/2014/main" val="3631119177"/>
                    </a:ext>
                  </a:extLst>
                </a:gridCol>
              </a:tblGrid>
              <a:tr h="786759"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 decimal</a:t>
                      </a:r>
                      <a:r>
                        <a:rPr lang="en-US" sz="2400" baseline="0" dirty="0" smtClean="0"/>
                        <a:t> place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 decimal places</a:t>
                      </a: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603513"/>
                  </a:ext>
                </a:extLst>
              </a:tr>
              <a:tr h="7867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16.1256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089547"/>
                  </a:ext>
                </a:extLst>
              </a:tr>
              <a:tr h="7867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29.7681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004180"/>
                  </a:ext>
                </a:extLst>
              </a:tr>
              <a:tr h="7867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104.554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107664"/>
                  </a:ext>
                </a:extLst>
              </a:tr>
              <a:tr h="7867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124.727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941798"/>
                  </a:ext>
                </a:extLst>
              </a:tr>
              <a:tr h="7867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1972.989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08075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306429" y="168716"/>
            <a:ext cx="52096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YOUR TURN - LHS</a:t>
            </a:r>
            <a:endParaRPr lang="en-US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828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065356"/>
              </p:ext>
            </p:extLst>
          </p:nvPr>
        </p:nvGraphicFramePr>
        <p:xfrm>
          <a:off x="2623128" y="1236903"/>
          <a:ext cx="6345381" cy="4756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127">
                  <a:extLst>
                    <a:ext uri="{9D8B030D-6E8A-4147-A177-3AD203B41FA5}">
                      <a16:colId xmlns:a16="http://schemas.microsoft.com/office/drawing/2014/main" val="2934885989"/>
                    </a:ext>
                  </a:extLst>
                </a:gridCol>
                <a:gridCol w="2115127">
                  <a:extLst>
                    <a:ext uri="{9D8B030D-6E8A-4147-A177-3AD203B41FA5}">
                      <a16:colId xmlns:a16="http://schemas.microsoft.com/office/drawing/2014/main" val="2136800180"/>
                    </a:ext>
                  </a:extLst>
                </a:gridCol>
                <a:gridCol w="2115127">
                  <a:extLst>
                    <a:ext uri="{9D8B030D-6E8A-4147-A177-3AD203B41FA5}">
                      <a16:colId xmlns:a16="http://schemas.microsoft.com/office/drawing/2014/main" val="3631119177"/>
                    </a:ext>
                  </a:extLst>
                </a:gridCol>
              </a:tblGrid>
              <a:tr h="786759"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 decimal</a:t>
                      </a:r>
                      <a:r>
                        <a:rPr lang="en-US" sz="2400" baseline="0" dirty="0" smtClean="0"/>
                        <a:t> place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 decimal places</a:t>
                      </a: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603513"/>
                  </a:ext>
                </a:extLst>
              </a:tr>
              <a:tr h="7867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16.1256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16.1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16.13</a:t>
                      </a: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089547"/>
                  </a:ext>
                </a:extLst>
              </a:tr>
              <a:tr h="7867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29.7681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29.8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29.77</a:t>
                      </a: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004180"/>
                  </a:ext>
                </a:extLst>
              </a:tr>
              <a:tr h="7867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104.554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104.6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104.56</a:t>
                      </a: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107664"/>
                  </a:ext>
                </a:extLst>
              </a:tr>
              <a:tr h="7867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124.727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124.7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124.73</a:t>
                      </a: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941798"/>
                  </a:ext>
                </a:extLst>
              </a:tr>
              <a:tr h="7867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1972.989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1973.0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1972.99</a:t>
                      </a: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08075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306429" y="168716"/>
            <a:ext cx="52096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YOUR TURN - LHS</a:t>
            </a:r>
            <a:endParaRPr lang="en-US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1077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02905" y="565880"/>
            <a:ext cx="67115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Exercise 1.07 – page 21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54545" y="1939635"/>
            <a:ext cx="722283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Questions</a:t>
            </a:r>
            <a:r>
              <a:rPr lang="en-AU" sz="3200" dirty="0" smtClean="0"/>
              <a:t>: 5, 6, 8, 9, </a:t>
            </a:r>
          </a:p>
          <a:p>
            <a:r>
              <a:rPr lang="en-AU" sz="3200" dirty="0"/>
              <a:t>	</a:t>
            </a:r>
            <a:r>
              <a:rPr lang="en-AU" sz="3200" dirty="0" smtClean="0"/>
              <a:t>			11, 12, 13, </a:t>
            </a:r>
          </a:p>
          <a:p>
            <a:r>
              <a:rPr lang="en-AU" sz="3200" dirty="0"/>
              <a:t>	</a:t>
            </a:r>
            <a:r>
              <a:rPr lang="en-AU" sz="3200" dirty="0" smtClean="0"/>
              <a:t>			15, 17, 18</a:t>
            </a:r>
          </a:p>
          <a:p>
            <a:endParaRPr lang="en-US" sz="3200" dirty="0"/>
          </a:p>
          <a:p>
            <a:endParaRPr lang="en-US" sz="3200" dirty="0" smtClean="0"/>
          </a:p>
          <a:p>
            <a:endParaRPr lang="en-US" sz="3200" dirty="0"/>
          </a:p>
          <a:p>
            <a:endParaRPr lang="en-US" sz="3200" dirty="0" smtClean="0"/>
          </a:p>
          <a:p>
            <a:r>
              <a:rPr lang="en-US" sz="3200" dirty="0" smtClean="0"/>
              <a:t>Finished? …. Try question 19</a:t>
            </a:r>
          </a:p>
        </p:txBody>
      </p:sp>
    </p:spTree>
    <p:extLst>
      <p:ext uri="{BB962C8B-B14F-4D97-AF65-F5344CB8AC3E}">
        <p14:creationId xmlns:p14="http://schemas.microsoft.com/office/powerpoint/2010/main" val="1549294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0496" t="22240" r="27003" b="14266"/>
          <a:stretch/>
        </p:blipFill>
        <p:spPr>
          <a:xfrm>
            <a:off x="4716264" y="211755"/>
            <a:ext cx="3994600" cy="634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16263" y="2801973"/>
            <a:ext cx="3994601" cy="11058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4716265" y="4677103"/>
            <a:ext cx="3994600" cy="607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4716264" y="5515275"/>
            <a:ext cx="3994599" cy="250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6458552" y="1645919"/>
            <a:ext cx="2252311" cy="240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243699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284</TotalTime>
  <Words>177</Words>
  <Application>Microsoft Office PowerPoint</Application>
  <PresentationFormat>Widescreen</PresentationFormat>
  <Paragraphs>101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Retrospect</vt:lpstr>
      <vt:lpstr>Number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9</dc:title>
  <dc:creator>D'SOUZA Jillian [Baldivis Secondary College]</dc:creator>
  <cp:lastModifiedBy>D'SOUZA Jillian [Baldivis Secondary College]</cp:lastModifiedBy>
  <cp:revision>64</cp:revision>
  <cp:lastPrinted>2019-02-06T00:04:51Z</cp:lastPrinted>
  <dcterms:created xsi:type="dcterms:W3CDTF">2018-01-31T23:34:05Z</dcterms:created>
  <dcterms:modified xsi:type="dcterms:W3CDTF">2020-02-10T10:53:56Z</dcterms:modified>
</cp:coreProperties>
</file>
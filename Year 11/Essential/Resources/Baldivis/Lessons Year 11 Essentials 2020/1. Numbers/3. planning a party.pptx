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73" r:id="rId1"/>
  </p:sldMasterIdLst>
  <p:sldIdLst>
    <p:sldId id="257" r:id="rId2"/>
    <p:sldId id="262" r:id="rId3"/>
    <p:sldId id="263" r:id="rId4"/>
    <p:sldId id="264" r:id="rId5"/>
  </p:sldIdLst>
  <p:sldSz cx="12192000" cy="6858000"/>
  <p:notesSz cx="6794500" cy="9931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1" autoAdjust="0"/>
    <p:restoredTop sz="94660"/>
  </p:normalViewPr>
  <p:slideViewPr>
    <p:cSldViewPr snapToGrid="0">
      <p:cViewPr>
        <p:scale>
          <a:sx n="66" d="100"/>
          <a:sy n="66" d="100"/>
        </p:scale>
        <p:origin x="592" y="10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2/6/2020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770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2/6/2020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08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2/6/2020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071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2/6/2020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672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2/6/2020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960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2/6/2020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413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2/6/2020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247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2/6/2020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602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2/6/2020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8223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2/6/2020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29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2/6/2020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073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2/6/2020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77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65" r:id="rId5"/>
    <p:sldLayoutId id="2147483671" r:id="rId6"/>
    <p:sldLayoutId id="2147483672" r:id="rId7"/>
    <p:sldLayoutId id="2147483662" r:id="rId8"/>
    <p:sldLayoutId id="2147483663" r:id="rId9"/>
    <p:sldLayoutId id="2147483664" r:id="rId10"/>
    <p:sldLayoutId id="2147483666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fabric, table, red, covered&#10;&#10;Description automatically generated">
            <a:extLst>
              <a:ext uri="{FF2B5EF4-FFF2-40B4-BE49-F238E27FC236}">
                <a16:creationId xmlns:a16="http://schemas.microsoft.com/office/drawing/2014/main" id="{6D3BA21E-E6C8-4E14-8E53-C5DF567E9DF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64" name="Rectangle 59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329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65" name="Rectangle 61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3272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6055" y="2350017"/>
            <a:ext cx="4775075" cy="163090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tx1"/>
                </a:solidFill>
              </a:rPr>
              <a:t>Topic</a:t>
            </a:r>
            <a:r>
              <a:rPr lang="en-US" sz="4400" b="1" dirty="0" smtClean="0">
                <a:solidFill>
                  <a:schemeClr val="tx1"/>
                </a:solidFill>
              </a:rPr>
              <a:t>: practical lesson</a:t>
            </a:r>
            <a:endParaRPr lang="en-US" sz="4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66931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warm up…</a:t>
            </a:r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44222" t="52471" r="48008" b="36173"/>
          <a:stretch/>
        </p:blipFill>
        <p:spPr>
          <a:xfrm>
            <a:off x="3523674" y="451998"/>
            <a:ext cx="2923308" cy="240336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27411" t="51870" r="19064" b="17943"/>
          <a:stretch/>
        </p:blipFill>
        <p:spPr>
          <a:xfrm>
            <a:off x="724234" y="2960529"/>
            <a:ext cx="10779658" cy="3419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870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31667" t="12717" r="26944" b="18889"/>
          <a:stretch/>
        </p:blipFill>
        <p:spPr>
          <a:xfrm>
            <a:off x="2462463" y="179762"/>
            <a:ext cx="6931609" cy="6443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797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2839400"/>
              </p:ext>
            </p:extLst>
          </p:nvPr>
        </p:nvGraphicFramePr>
        <p:xfrm>
          <a:off x="349811" y="394624"/>
          <a:ext cx="11498888" cy="610961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45390">
                  <a:extLst>
                    <a:ext uri="{9D8B030D-6E8A-4147-A177-3AD203B41FA5}">
                      <a16:colId xmlns:a16="http://schemas.microsoft.com/office/drawing/2014/main" val="3182069517"/>
                    </a:ext>
                  </a:extLst>
                </a:gridCol>
                <a:gridCol w="9053498">
                  <a:extLst>
                    <a:ext uri="{9D8B030D-6E8A-4147-A177-3AD203B41FA5}">
                      <a16:colId xmlns:a16="http://schemas.microsoft.com/office/drawing/2014/main" val="3640743429"/>
                    </a:ext>
                  </a:extLst>
                </a:gridCol>
              </a:tblGrid>
              <a:tr h="89095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</a:rPr>
                        <a:t>Interpret the task</a:t>
                      </a:r>
                      <a:endParaRPr lang="en-AU" sz="11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882" marR="4088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882" marR="4088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4245987"/>
                  </a:ext>
                </a:extLst>
              </a:tr>
              <a:tr h="83695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</a:rPr>
                        <a:t>Identify the mathematics involved</a:t>
                      </a:r>
                      <a:endParaRPr lang="en-AU" sz="11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882" marR="4088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882" marR="4088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0957682"/>
                  </a:ext>
                </a:extLst>
              </a:tr>
              <a:tr h="151114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0" dirty="0" err="1">
                          <a:solidFill>
                            <a:schemeClr val="tx1"/>
                          </a:solidFill>
                          <a:effectLst/>
                        </a:rPr>
                        <a:t>Analyse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</a:rPr>
                        <a:t> information/data (you may need to use other sources)</a:t>
                      </a:r>
                      <a:endParaRPr lang="en-AU" sz="11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882" marR="4088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882" marR="4088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7601687"/>
                  </a:ext>
                </a:extLst>
              </a:tr>
              <a:tr h="151114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</a:rPr>
                        <a:t>Apply existing mathematical knowledge and strategies</a:t>
                      </a:r>
                      <a:endParaRPr lang="en-AU" sz="11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882" marR="4088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882" marR="4088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222686"/>
                  </a:ext>
                </a:extLst>
              </a:tr>
              <a:tr h="117404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</a:rPr>
                        <a:t>Verify the reasonableness of your answer</a:t>
                      </a:r>
                      <a:endParaRPr lang="en-AU" sz="11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882" marR="4088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1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0882" marR="4088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662502"/>
                  </a:ext>
                </a:extLst>
              </a:tr>
              <a:tr h="1781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</a:rPr>
                        <a:t>Communicate findings </a:t>
                      </a:r>
                      <a:endParaRPr lang="en-AU" sz="1100" b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882" marR="4088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</a:rPr>
                        <a:t>See back page</a:t>
                      </a:r>
                      <a:endParaRPr lang="en-AU" sz="11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882" marR="4088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69185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584563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Custom 38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E462D"/>
      </a:accent1>
      <a:accent2>
        <a:srgbClr val="595A85"/>
      </a:accent2>
      <a:accent3>
        <a:srgbClr val="8D6F5B"/>
      </a:accent3>
      <a:accent4>
        <a:srgbClr val="FABD2F"/>
      </a:accent4>
      <a:accent5>
        <a:srgbClr val="AF8073"/>
      </a:accent5>
      <a:accent6>
        <a:srgbClr val="787880"/>
      </a:accent6>
      <a:hlink>
        <a:srgbClr val="CC8D00"/>
      </a:hlink>
      <a:folHlink>
        <a:srgbClr val="82829E"/>
      </a:folHlink>
    </a:clrScheme>
    <a:fontScheme name="Savon">
      <a:majorFont>
        <a:latin typeface="Avenir Next LT Pro Ligh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venir Next LT Pro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NE.pptx" id="{5330A5D3-B581-4B4A-9313-9275B6EF2E52}" vid="{516C64E9-C0AA-46DA-9991-9C0EC881A8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Floral Flourish</Template>
  <TotalTime>0</TotalTime>
  <Words>42</Words>
  <Application>Microsoft Office PowerPoint</Application>
  <PresentationFormat>Widescreen</PresentationFormat>
  <Paragraphs>37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Avenir Next LT Pro</vt:lpstr>
      <vt:lpstr>Avenir Next LT Pro Light</vt:lpstr>
      <vt:lpstr>Calibri</vt:lpstr>
      <vt:lpstr>Garamond</vt:lpstr>
      <vt:lpstr>Times New Roman</vt:lpstr>
      <vt:lpstr>SavonVTI</vt:lpstr>
      <vt:lpstr>Topic: practical lesson</vt:lpstr>
      <vt:lpstr>warm up…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2020-02-03T07:28:36Z</dcterms:created>
  <dcterms:modified xsi:type="dcterms:W3CDTF">2020-02-06T07:53:11Z</dcterms:modified>
</cp:coreProperties>
</file>
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11"/>
  </p:notesMasterIdLst>
  <p:sldIdLst>
    <p:sldId id="257" r:id="rId2"/>
    <p:sldId id="259" r:id="rId3"/>
    <p:sldId id="260" r:id="rId4"/>
    <p:sldId id="265" r:id="rId5"/>
    <p:sldId id="262" r:id="rId6"/>
    <p:sldId id="263" r:id="rId7"/>
    <p:sldId id="264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F1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472E7-A552-4E71-B3DD-35A5ABF3FAE9}" type="datetimeFigureOut">
              <a:rPr lang="en-AU" smtClean="0"/>
              <a:t>2/02/2020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3E749-4B87-4FA2-AB1D-5E097EF6E7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95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Answer: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C3E749-4B87-4FA2-AB1D-5E097EF6E73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4476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167372"/>
            <a:ext cx="4775075" cy="163090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Topic: Number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4" y="3601736"/>
            <a:ext cx="4775075" cy="55965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EQ: How do we use the Order of Operations to work out equations?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FCFA3-CFAA-4F1E-80EA-490129733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82" y="366324"/>
            <a:ext cx="10058400" cy="1371600"/>
          </a:xfrm>
        </p:spPr>
        <p:txBody>
          <a:bodyPr/>
          <a:lstStyle/>
          <a:p>
            <a:r>
              <a:rPr lang="en-AU" b="1" dirty="0"/>
              <a:t>Work this equation out……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9A855-4B7C-4252-B815-BB54C4175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53" y="1565563"/>
            <a:ext cx="10058400" cy="3849624"/>
          </a:xfrm>
        </p:spPr>
        <p:txBody>
          <a:bodyPr>
            <a:normAutofit/>
          </a:bodyPr>
          <a:lstStyle/>
          <a:p>
            <a:r>
              <a:rPr lang="en-AU" sz="2000" dirty="0"/>
              <a:t>Don’t use a calculator and don’t look at anyone else’s answer…..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92BBED-CCDC-4F40-81C0-C8590C9F7E37}"/>
                  </a:ext>
                </a:extLst>
              </p:cNvPr>
              <p:cNvSpPr txBox="1"/>
              <p:nvPr/>
            </p:nvSpPr>
            <p:spPr>
              <a:xfrm>
                <a:off x="3185039" y="2478578"/>
                <a:ext cx="514762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AU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4000" b="0" i="1" smtClean="0">
                          <a:latin typeface="Cambria Math" panose="02040503050406030204" pitchFamily="18" charset="0"/>
                        </a:rPr>
                        <m:t>−3+(12−2 </m:t>
                      </m:r>
                      <m:r>
                        <a:rPr lang="en-AU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×4 )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92BBED-CCDC-4F40-81C0-C8590C9F7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039" y="2478578"/>
                <a:ext cx="5147628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3CF32682-3214-4FB5-9D60-0E6D9E1DCB88}"/>
              </a:ext>
            </a:extLst>
          </p:cNvPr>
          <p:cNvSpPr txBox="1">
            <a:spLocks/>
          </p:cNvSpPr>
          <p:nvPr/>
        </p:nvSpPr>
        <p:spPr>
          <a:xfrm>
            <a:off x="7049193" y="5524895"/>
            <a:ext cx="4926676" cy="884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rgbClr val="0070C0"/>
                </a:solidFill>
              </a:rPr>
              <a:t>What was your answer?</a:t>
            </a:r>
          </a:p>
        </p:txBody>
      </p:sp>
    </p:spTree>
    <p:extLst>
      <p:ext uri="{BB962C8B-B14F-4D97-AF65-F5344CB8AC3E}">
        <p14:creationId xmlns:p14="http://schemas.microsoft.com/office/powerpoint/2010/main" val="85516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59E8-750B-4D7F-9E2F-243CD93C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783" y="387671"/>
            <a:ext cx="10058400" cy="1371600"/>
          </a:xfrm>
        </p:spPr>
        <p:txBody>
          <a:bodyPr/>
          <a:lstStyle/>
          <a:p>
            <a:r>
              <a:rPr lang="en-AU" b="1" dirty="0"/>
              <a:t>Order of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E55DF-54EC-4FB7-945A-A99752B0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715192"/>
            <a:ext cx="10058400" cy="3849624"/>
          </a:xfrm>
        </p:spPr>
        <p:txBody>
          <a:bodyPr>
            <a:normAutofit/>
          </a:bodyPr>
          <a:lstStyle/>
          <a:p>
            <a:r>
              <a:rPr lang="en-AU" sz="2400" dirty="0"/>
              <a:t>We need to have a system so that we can all work out the same answer</a:t>
            </a:r>
          </a:p>
          <a:p>
            <a:r>
              <a:rPr lang="en-AU" sz="2400" b="1" dirty="0">
                <a:solidFill>
                  <a:schemeClr val="accent1">
                    <a:lumMod val="75000"/>
                  </a:schemeClr>
                </a:solidFill>
              </a:rPr>
              <a:t>BODMAS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3CD771-7E1B-4AD9-B5CA-608D2C9C3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604" y="2760653"/>
            <a:ext cx="8462359" cy="352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55CA0F-9348-487E-B252-D82D94B55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230"/>
            <a:ext cx="12192000" cy="36889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5F9348-A96F-49A5-A954-EF4198AF9CCE}"/>
              </a:ext>
            </a:extLst>
          </p:cNvPr>
          <p:cNvSpPr/>
          <p:nvPr/>
        </p:nvSpPr>
        <p:spPr>
          <a:xfrm>
            <a:off x="809105" y="2998124"/>
            <a:ext cx="9714808" cy="430876"/>
          </a:xfrm>
          <a:prstGeom prst="rect">
            <a:avLst/>
          </a:prstGeom>
          <a:solidFill>
            <a:srgbClr val="DBF1F0"/>
          </a:solidFill>
          <a:ln>
            <a:solidFill>
              <a:srgbClr val="DBF1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44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41C9-3CC6-4BCD-A4CA-D95A7BB8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Lets try some together….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C9B77518-D2DD-4F15-80E8-687641725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9804" y="1690571"/>
                <a:ext cx="3593870" cy="44012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GB" sz="2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Section A: Calculate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b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5+8×3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b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9÷3+4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b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4×</m:t>
                    </m:r>
                    <m:d>
                      <m:d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3+6</m:t>
                        </m:r>
                      </m:e>
                    </m:d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b="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3×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sz="2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9−4</m:t>
                            </m:r>
                          </m:e>
                        </m:d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÷4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C9B77518-D2DD-4F15-80E8-687641725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9804" y="1690571"/>
                <a:ext cx="3593870" cy="4401205"/>
              </a:xfrm>
              <a:prstGeom prst="rect">
                <a:avLst/>
              </a:prstGeom>
              <a:blipFill>
                <a:blip r:embed="rId2"/>
                <a:stretch>
                  <a:fillRect l="-3384" t="-1105" b="-2901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0872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941C9-3CC6-4BCD-A4CA-D95A7BB8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18464"/>
            <a:ext cx="10058400" cy="1371600"/>
          </a:xfrm>
        </p:spPr>
        <p:txBody>
          <a:bodyPr/>
          <a:lstStyle/>
          <a:p>
            <a:r>
              <a:rPr lang="en-AU" dirty="0"/>
              <a:t>Now you try….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C9B77518-D2DD-4F15-80E8-687641725E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119" y="1496607"/>
                <a:ext cx="4330931" cy="483209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en-GB" sz="2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Section A: Calculate</a:t>
                </a: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>
                  <a:spcAft>
                    <a:spcPts val="0"/>
                  </a:spcAft>
                </a:pPr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3+5×7−8</m:t>
                    </m:r>
                  </m:oMath>
                </a14:m>
                <a:r>
                  <a:rPr lang="en-AU" sz="2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9×3+</m:t>
                    </m:r>
                    <m:d>
                      <m:d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6−1</m:t>
                        </m:r>
                      </m:e>
                    </m:d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4×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−14÷7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÷9+4×3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8×6÷</m:t>
                    </m:r>
                    <m:d>
                      <m:d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8−6</m:t>
                        </m:r>
                      </m:e>
                    </m:d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×2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GB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12÷4+6×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(2+4)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(4+2)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÷9−(3−2)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0"/>
                  </a:spcAft>
                  <a:buFont typeface="+mj-lt"/>
                  <a:buAutoNum type="arabicPeriod"/>
                </a:pPr>
                <a:r>
                  <a:rPr lang="en-AU" sz="2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8−2</m:t>
                        </m:r>
                      </m:e>
                    </m:d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×7+</m:t>
                    </m:r>
                    <m:sSup>
                      <m:sSup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e>
                      <m:sup>
                        <m:r>
                          <a:rPr lang="en-GB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GB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÷12</m:t>
                    </m:r>
                  </m:oMath>
                </a14:m>
                <a:endParaRPr lang="en-AU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 Box 2">
                <a:extLst>
                  <a:ext uri="{FF2B5EF4-FFF2-40B4-BE49-F238E27FC236}">
                    <a16:creationId xmlns:a16="http://schemas.microsoft.com/office/drawing/2014/main" id="{C9B77518-D2DD-4F15-80E8-687641725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119" y="1496607"/>
                <a:ext cx="4330931" cy="4832092"/>
              </a:xfrm>
              <a:prstGeom prst="rect">
                <a:avLst/>
              </a:prstGeom>
              <a:blipFill>
                <a:blip r:embed="rId2"/>
                <a:stretch>
                  <a:fillRect l="-2809" t="-1134" b="-2519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24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8903-0CB3-4CF7-A485-21FBC22D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about roots?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8624-8A41-4307-983D-3B3E7B81D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22" y="1881447"/>
            <a:ext cx="10058400" cy="3849624"/>
          </a:xfrm>
        </p:spPr>
        <p:txBody>
          <a:bodyPr>
            <a:normAutofit/>
          </a:bodyPr>
          <a:lstStyle/>
          <a:p>
            <a:r>
              <a:rPr lang="en-AU" sz="2400" dirty="0"/>
              <a:t>Work out what’s underneath the square root first</a:t>
            </a:r>
          </a:p>
          <a:p>
            <a:r>
              <a:rPr lang="en-AU" sz="2400" dirty="0"/>
              <a:t>Then work out the root and power</a:t>
            </a:r>
          </a:p>
          <a:p>
            <a:r>
              <a:rPr lang="en-AU" sz="2400" dirty="0"/>
              <a:t>Then do the multiplication and division from left to right</a:t>
            </a:r>
          </a:p>
          <a:p>
            <a:r>
              <a:rPr lang="en-AU" sz="2400" dirty="0"/>
              <a:t>Finish with addition and subtraction from left to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F69EB-1A6A-476A-ABDB-39882CEA7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64" y="764857"/>
            <a:ext cx="5883254" cy="79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8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1DF6-B23F-4030-AAFD-6B1C29C33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20" y="396985"/>
            <a:ext cx="10058400" cy="1371600"/>
          </a:xfrm>
        </p:spPr>
        <p:txBody>
          <a:bodyPr/>
          <a:lstStyle/>
          <a:p>
            <a:r>
              <a:rPr lang="en-AU" dirty="0"/>
              <a:t>Try these…..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D353D3-D333-433A-9A03-8BF35D2F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5459"/>
            <a:ext cx="12192000" cy="18910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55C8A0-4835-4DAA-B504-F7B5EE7F8B94}"/>
              </a:ext>
            </a:extLst>
          </p:cNvPr>
          <p:cNvSpPr/>
          <p:nvPr/>
        </p:nvSpPr>
        <p:spPr>
          <a:xfrm>
            <a:off x="2914996" y="1756756"/>
            <a:ext cx="1729048" cy="45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520469-9F0E-48CD-8EBC-EA2CDB40A624}"/>
              </a:ext>
            </a:extLst>
          </p:cNvPr>
          <p:cNvSpPr/>
          <p:nvPr/>
        </p:nvSpPr>
        <p:spPr>
          <a:xfrm>
            <a:off x="5827220" y="2335373"/>
            <a:ext cx="2047703" cy="45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B9693-D9FF-46EE-968A-3E21E7E30DBF}"/>
              </a:ext>
            </a:extLst>
          </p:cNvPr>
          <p:cNvSpPr/>
          <p:nvPr/>
        </p:nvSpPr>
        <p:spPr>
          <a:xfrm>
            <a:off x="85898" y="2335373"/>
            <a:ext cx="1729048" cy="45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9F70E6-70DA-4FE4-AFFF-CD7A3CB1B3B1}"/>
              </a:ext>
            </a:extLst>
          </p:cNvPr>
          <p:cNvSpPr/>
          <p:nvPr/>
        </p:nvSpPr>
        <p:spPr>
          <a:xfrm>
            <a:off x="2831868" y="2969029"/>
            <a:ext cx="2371899" cy="45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84D89E-9955-4059-9DBE-A6B2D8476E42}"/>
              </a:ext>
            </a:extLst>
          </p:cNvPr>
          <p:cNvSpPr/>
          <p:nvPr/>
        </p:nvSpPr>
        <p:spPr>
          <a:xfrm>
            <a:off x="8977743" y="1756755"/>
            <a:ext cx="2047703" cy="45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4CA4BB-2A41-4DA6-B893-A36B1C4F2622}"/>
              </a:ext>
            </a:extLst>
          </p:cNvPr>
          <p:cNvSpPr/>
          <p:nvPr/>
        </p:nvSpPr>
        <p:spPr>
          <a:xfrm>
            <a:off x="2914996" y="2361562"/>
            <a:ext cx="1917469" cy="45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6718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4A70-ED8F-4AD2-8663-701DEAFD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C363-3B2D-4683-8A58-2931C1A38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000" dirty="0" err="1"/>
              <a:t>Haese</a:t>
            </a:r>
            <a:r>
              <a:rPr lang="en-AU" sz="2000" dirty="0"/>
              <a:t> </a:t>
            </a:r>
            <a:r>
              <a:rPr lang="en-AU" sz="2000" dirty="0" err="1"/>
              <a:t>Cht</a:t>
            </a:r>
            <a:r>
              <a:rPr lang="en-AU" sz="2000" dirty="0"/>
              <a:t> 1 c and e</a:t>
            </a:r>
          </a:p>
          <a:p>
            <a:r>
              <a:rPr lang="en-AU" sz="2000" dirty="0"/>
              <a:t>Nelson Ex 1.04</a:t>
            </a:r>
          </a:p>
        </p:txBody>
      </p:sp>
    </p:spTree>
    <p:extLst>
      <p:ext uri="{BB962C8B-B14F-4D97-AF65-F5344CB8AC3E}">
        <p14:creationId xmlns:p14="http://schemas.microsoft.com/office/powerpoint/2010/main" val="37994362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212</Words>
  <Application>Microsoft Office PowerPoint</Application>
  <PresentationFormat>Widescreen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Avenir Next LT Pro</vt:lpstr>
      <vt:lpstr>Avenir Next LT Pro Light</vt:lpstr>
      <vt:lpstr>Calibri</vt:lpstr>
      <vt:lpstr>Cambria Math</vt:lpstr>
      <vt:lpstr>Garamond</vt:lpstr>
      <vt:lpstr>SavonVTI</vt:lpstr>
      <vt:lpstr>Topic: Number</vt:lpstr>
      <vt:lpstr>Work this equation out……</vt:lpstr>
      <vt:lpstr>Order of Operations</vt:lpstr>
      <vt:lpstr>PowerPoint Presentation</vt:lpstr>
      <vt:lpstr>Lets try some together….</vt:lpstr>
      <vt:lpstr>Now you try….</vt:lpstr>
      <vt:lpstr>What about roots?</vt:lpstr>
      <vt:lpstr>Try these…..</vt:lpstr>
      <vt:lpstr>Exercise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2020-02-02T03:17:07Z</dcterms:created>
  <dcterms:modified xsi:type="dcterms:W3CDTF">2020-02-02T03:51:24Z</dcterms:modified>
</cp:coreProperties>
</file>
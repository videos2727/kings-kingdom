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4" r:id="rId2"/>
    <p:sldId id="301" r:id="rId3"/>
    <p:sldId id="283" r:id="rId4"/>
    <p:sldId id="297" r:id="rId5"/>
    <p:sldId id="293" r:id="rId6"/>
    <p:sldId id="300" r:id="rId7"/>
    <p:sldId id="294" r:id="rId8"/>
    <p:sldId id="296" r:id="rId9"/>
    <p:sldId id="256" r:id="rId10"/>
    <p:sldId id="25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65"/>
  </p:normalViewPr>
  <p:slideViewPr>
    <p:cSldViewPr>
      <p:cViewPr varScale="1">
        <p:scale>
          <a:sx n="68" d="100"/>
          <a:sy n="68" d="100"/>
        </p:scale>
        <p:origin x="57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14/10/2018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14/10/2018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abyss.uoregon.edu/~js/glossary/planck_time.html" TargetMode="External"/><Relationship Id="rId2" Type="http://schemas.openxmlformats.org/officeDocument/2006/relationships/hyperlink" Target="http://spacemath.gsfc.nasa.gov/earth/6Page58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visav.phys.uvic.ca/~babul/AstroCourses/P303/BB-slide.htm" TargetMode="External"/><Relationship Id="rId5" Type="http://schemas.openxmlformats.org/officeDocument/2006/relationships/hyperlink" Target="http://www.1728.org/reltivty.htm?" TargetMode="External"/><Relationship Id="rId4" Type="http://schemas.openxmlformats.org/officeDocument/2006/relationships/hyperlink" Target="http://www.enchantedlearning.com/subjects/astronomy/planets/mercury/mercuryday.s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/>
              <a:t>Time</a:t>
            </a:r>
            <a:br>
              <a:rPr lang="en-AU" dirty="0"/>
            </a:b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1052737"/>
            <a:ext cx="6400800" cy="1584176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AU" dirty="0"/>
              <a:t>EQ: How much time elapses from when you leave to go to school to arriving back home?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0F8A47-AB66-412F-A767-96AAC2FC8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396" y="2354582"/>
            <a:ext cx="3672408" cy="431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9992FB-204B-43FF-A502-29700058DA1A}"/>
              </a:ext>
            </a:extLst>
          </p:cNvPr>
          <p:cNvSpPr/>
          <p:nvPr/>
        </p:nvSpPr>
        <p:spPr>
          <a:xfrm>
            <a:off x="0" y="0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When the dinosaurs were alive, </a:t>
            </a:r>
            <a:r>
              <a:rPr lang="en-AU" dirty="0">
                <a:hlinkClick r:id="rId2"/>
              </a:rPr>
              <a:t>there were 370 days in a year</a:t>
            </a:r>
            <a:r>
              <a:rPr lang="en-AU" dirty="0"/>
              <a:t>. The Earth's spin is getting slower because the moon's gravity is acting as a drag, so days are getting longer, by about 1.7 milliseconds per century.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b="1" dirty="0"/>
              <a:t>5.</a:t>
            </a:r>
            <a:r>
              <a:rPr lang="en-AU" dirty="0"/>
              <a:t> The smallest standard scientific measure of time is the "</a:t>
            </a:r>
            <a:r>
              <a:rPr lang="en-AU" dirty="0">
                <a:hlinkClick r:id="rId3"/>
              </a:rPr>
              <a:t>Planck time</a:t>
            </a:r>
            <a:r>
              <a:rPr lang="en-AU" dirty="0"/>
              <a:t>". It takes you about five hundred and fifty thousand trillion </a:t>
            </a:r>
            <a:r>
              <a:rPr lang="en-AU" dirty="0" err="1"/>
              <a:t>trillion</a:t>
            </a:r>
            <a:r>
              <a:rPr lang="en-AU" dirty="0"/>
              <a:t> </a:t>
            </a:r>
            <a:r>
              <a:rPr lang="en-AU" dirty="0" err="1"/>
              <a:t>trillion</a:t>
            </a:r>
            <a:r>
              <a:rPr lang="en-AU" dirty="0"/>
              <a:t> Planck times to blink once, quickly.</a:t>
            </a:r>
          </a:p>
          <a:p>
            <a:endParaRPr lang="en-AU" dirty="0"/>
          </a:p>
          <a:p>
            <a:r>
              <a:rPr lang="en-AU" b="1" dirty="0"/>
              <a:t>6.</a:t>
            </a:r>
            <a:r>
              <a:rPr lang="en-AU" dirty="0"/>
              <a:t> On Mercury, a day is </a:t>
            </a:r>
            <a:r>
              <a:rPr lang="en-AU" dirty="0">
                <a:hlinkClick r:id="rId4"/>
              </a:rPr>
              <a:t>two years long</a:t>
            </a:r>
            <a:r>
              <a:rPr lang="en-AU" dirty="0"/>
              <a:t>.</a:t>
            </a:r>
            <a:endParaRPr lang="en-AU" dirty="0"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530B45-3F4F-4EA3-9CE4-382C5E633E78}"/>
              </a:ext>
            </a:extLst>
          </p:cNvPr>
          <p:cNvSpPr/>
          <p:nvPr/>
        </p:nvSpPr>
        <p:spPr>
          <a:xfrm>
            <a:off x="4545534" y="18405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Time passes slower the faster you move. If you flew to the star Sirius at 99% of the speed of light, then flew back again, the people you left behind on Earth would have aged more than 17 years. </a:t>
            </a:r>
            <a:r>
              <a:rPr lang="en-AU" dirty="0">
                <a:hlinkClick r:id="rId5"/>
              </a:rPr>
              <a:t>But you would have aged less than two and a half years</a:t>
            </a:r>
            <a:r>
              <a:rPr lang="en-AU" dirty="0"/>
              <a:t>.</a:t>
            </a:r>
          </a:p>
          <a:p>
            <a:br>
              <a:rPr lang="en-AU" b="1" dirty="0"/>
            </a:br>
            <a:r>
              <a:rPr lang="en-AU" b="1" dirty="0"/>
              <a:t>11.</a:t>
            </a:r>
            <a:r>
              <a:rPr lang="en-AU" dirty="0"/>
              <a:t> The universe is 13.8 billion years old, give or take. If </a:t>
            </a:r>
            <a:r>
              <a:rPr lang="en-AU" dirty="0">
                <a:hlinkClick r:id="rId6"/>
              </a:rPr>
              <a:t>we compressed that into a year</a:t>
            </a:r>
            <a:r>
              <a:rPr lang="en-AU" dirty="0"/>
              <a:t> – with the Big Bang happening at 00:00:01 on 1 January – then the dinosaurs would be wiped out on 29 December, and modern humans would appear at 11:54pm. Christopher Columbus would sail across the Atlantic one second before midnight.</a:t>
            </a:r>
            <a:endParaRPr lang="en-AU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47749-8E5F-4781-AF1F-D12388F52227}"/>
              </a:ext>
            </a:extLst>
          </p:cNvPr>
          <p:cNvSpPr txBox="1"/>
          <p:nvPr/>
        </p:nvSpPr>
        <p:spPr>
          <a:xfrm>
            <a:off x="395536" y="4797152"/>
            <a:ext cx="81369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dirty="0"/>
              <a:t>Just a few interesting Time Facts</a:t>
            </a:r>
          </a:p>
        </p:txBody>
      </p:sp>
    </p:spTree>
    <p:extLst>
      <p:ext uri="{BB962C8B-B14F-4D97-AF65-F5344CB8AC3E}">
        <p14:creationId xmlns:p14="http://schemas.microsoft.com/office/powerpoint/2010/main" val="1245992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437289"/>
            <a:ext cx="8229600" cy="5030275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 numCol="2">
            <a:normAutofit fontScale="92500" lnSpcReduction="10000"/>
          </a:bodyPr>
          <a:lstStyle/>
          <a:p>
            <a:pPr>
              <a:buNone/>
            </a:pPr>
            <a:r>
              <a:rPr lang="en-GB" dirty="0">
                <a:latin typeface="Comic Sans MS" pitchFamily="66" charset="0"/>
              </a:rPr>
              <a:t>Can you convert between 12 and 24hr time?</a:t>
            </a:r>
            <a:endParaRPr lang="en-GB" dirty="0"/>
          </a:p>
          <a:p>
            <a:pPr marL="514350" indent="-514350">
              <a:buAutoNum type="arabicParenR"/>
            </a:pPr>
            <a:r>
              <a:rPr lang="en-GB" dirty="0"/>
              <a:t>2pm=           hrs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             =  1730hrs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8am =             hrs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                  = 0001hrs</a:t>
            </a:r>
          </a:p>
          <a:p>
            <a:pPr marL="0" indent="0">
              <a:buNone/>
            </a:pPr>
            <a:r>
              <a:rPr lang="en-GB" dirty="0">
                <a:latin typeface="Comic Sans MS" pitchFamily="66" charset="0"/>
              </a:rPr>
              <a:t>Can you convert between the following time units?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 3hrs =                   mins</a:t>
            </a:r>
          </a:p>
          <a:p>
            <a:pPr marL="514350" indent="-514350">
              <a:buFont typeface="Arial" pitchFamily="34" charset="0"/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96hrs =                 days</a:t>
            </a:r>
          </a:p>
          <a:p>
            <a:pPr marL="514350" indent="-514350">
              <a:buAutoNum type="arabicParenR"/>
            </a:pPr>
            <a:endParaRPr lang="en-GB" dirty="0"/>
          </a:p>
          <a:p>
            <a:pPr marL="514350" indent="-514350">
              <a:buFont typeface="Arial" pitchFamily="34" charset="0"/>
              <a:buAutoNum type="arabicParenR"/>
            </a:pPr>
            <a:r>
              <a:rPr lang="en-GB" dirty="0"/>
              <a:t>52 fortnights =    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  <p:pic>
        <p:nvPicPr>
          <p:cNvPr id="1026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52320" y="197663"/>
            <a:ext cx="864096" cy="1176641"/>
          </a:xfrm>
          <a:prstGeom prst="rect">
            <a:avLst/>
          </a:prstGeom>
          <a:noFill/>
        </p:spPr>
      </p:pic>
      <p:pic>
        <p:nvPicPr>
          <p:cNvPr id="10" name="Picture 2" descr="C:\Users\Ben\AppData\Local\Microsoft\Windows\Temporary Internet Files\Content.IE5\W2NO9NUW\MM900236357[1]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60648"/>
            <a:ext cx="864096" cy="11766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19100" y="674408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2411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How much time elapses from when you leave to go to school to arriving back home?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6242" y="5504309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9367" y="1544879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add time?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4389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Adding and Subtracting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371" y="1494915"/>
            <a:ext cx="67808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Adding time is used to find a new time after the given time interval. </a:t>
            </a:r>
          </a:p>
          <a:p>
            <a:r>
              <a:rPr lang="en-US" sz="2000" dirty="0" err="1">
                <a:latin typeface="+mj-lt"/>
              </a:rPr>
              <a:t>Eg</a:t>
            </a:r>
            <a:r>
              <a:rPr lang="en-US" sz="2000" dirty="0">
                <a:latin typeface="+mj-lt"/>
              </a:rPr>
              <a:t>. 3:30 after 7:45 am is ____________________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21815" y="2607122"/>
            <a:ext cx="6712867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many methods to add time.</a:t>
            </a:r>
          </a:p>
          <a:p>
            <a:r>
              <a:rPr lang="en-US" sz="2000" dirty="0"/>
              <a:t>One method is shown below</a:t>
            </a:r>
          </a:p>
          <a:p>
            <a:r>
              <a:rPr lang="en-US" sz="2000" dirty="0"/>
              <a:t>Step 1) 	Add the hours</a:t>
            </a:r>
          </a:p>
          <a:p>
            <a:r>
              <a:rPr lang="en-US" sz="2000" dirty="0"/>
              <a:t>	</a:t>
            </a:r>
            <a:r>
              <a:rPr lang="en-US" sz="2000" i="1" dirty="0"/>
              <a:t>3+7 = 10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2) 	Add the minutes</a:t>
            </a:r>
          </a:p>
          <a:p>
            <a:r>
              <a:rPr lang="en-US" sz="2000" dirty="0"/>
              <a:t>	30 + 45 = 75 mins	     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Step 3) 	If </a:t>
            </a:r>
            <a:r>
              <a:rPr lang="en-AU" sz="2000" dirty="0"/>
              <a:t>the minutes are 60 or more, subtract 60 from the minutes and add 1 to hours</a:t>
            </a:r>
            <a:r>
              <a:rPr lang="en-US" sz="2000" dirty="0"/>
              <a:t>	</a:t>
            </a:r>
          </a:p>
          <a:p>
            <a:pPr>
              <a:spcBef>
                <a:spcPts val="600"/>
              </a:spcBef>
            </a:pPr>
            <a:r>
              <a:rPr lang="en-US" sz="2000" i="1" dirty="0"/>
              <a:t>	75 – 60 = 15 mins</a:t>
            </a:r>
          </a:p>
          <a:p>
            <a:pPr>
              <a:spcBef>
                <a:spcPts val="600"/>
              </a:spcBef>
            </a:pPr>
            <a:r>
              <a:rPr lang="en-US" sz="2000" i="1" dirty="0"/>
              <a:t>	Therefore 7:45 am + 3:30  = 11:15 am  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21551" y="6164317"/>
            <a:ext cx="636988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method do you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9367" y="2590768"/>
            <a:ext cx="2395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method to add time?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3222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202411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EQ: How much time elapses from when you leave to go to school to arriving back home?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9367" y="1544879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elapsed time?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4389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Adding and Subtracting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9371" y="1494915"/>
            <a:ext cx="67808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Elapsed time is the _____________ between two times. </a:t>
            </a:r>
          </a:p>
          <a:p>
            <a:r>
              <a:rPr lang="en-US" sz="2000" dirty="0" err="1">
                <a:latin typeface="+mj-lt"/>
              </a:rPr>
              <a:t>Eg</a:t>
            </a:r>
            <a:r>
              <a:rPr lang="en-US" sz="2000" dirty="0">
                <a:latin typeface="+mj-lt"/>
              </a:rPr>
              <a:t> For 3:50am and 9:30am, elapsed time is ____ </a:t>
            </a:r>
            <a:r>
              <a:rPr lang="en-US" sz="2000" dirty="0" err="1">
                <a:latin typeface="+mj-lt"/>
              </a:rPr>
              <a:t>hrs</a:t>
            </a:r>
            <a:r>
              <a:rPr lang="en-US" sz="2000" dirty="0">
                <a:latin typeface="+mj-lt"/>
              </a:rPr>
              <a:t>, ____ mins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51182" y="2351707"/>
            <a:ext cx="671286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There are many methods to working out elapsed time.</a:t>
            </a:r>
          </a:p>
          <a:p>
            <a:r>
              <a:rPr lang="en-US" sz="2000" dirty="0"/>
              <a:t>One method is shown below</a:t>
            </a:r>
          </a:p>
          <a:p>
            <a:r>
              <a:rPr lang="en-US" sz="2000" dirty="0"/>
              <a:t>Step 1) 	Calculate number of hours </a:t>
            </a:r>
            <a:r>
              <a:rPr lang="en-US" sz="2000" b="1" dirty="0"/>
              <a:t>without</a:t>
            </a:r>
            <a:r>
              <a:rPr lang="en-US" sz="2000" dirty="0"/>
              <a:t> going over.</a:t>
            </a:r>
          </a:p>
          <a:p>
            <a:r>
              <a:rPr lang="en-US" sz="2000" dirty="0"/>
              <a:t>	</a:t>
            </a:r>
            <a:r>
              <a:rPr lang="en-US" sz="2000" i="1" dirty="0" err="1"/>
              <a:t>Eg</a:t>
            </a:r>
            <a:r>
              <a:rPr lang="en-US" sz="2000" i="1" dirty="0"/>
              <a:t> There are </a:t>
            </a:r>
            <a:r>
              <a:rPr lang="en-US" sz="2000" b="1" i="1" dirty="0"/>
              <a:t>5 hours</a:t>
            </a:r>
            <a:r>
              <a:rPr lang="en-US" sz="2000" i="1" dirty="0"/>
              <a:t> from 3:50am until 8:50 am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2) 	Calculate number of minutes until the next hour.</a:t>
            </a:r>
          </a:p>
          <a:p>
            <a:r>
              <a:rPr lang="en-US" sz="2000" dirty="0"/>
              <a:t>	     </a:t>
            </a:r>
            <a:r>
              <a:rPr lang="en-US" sz="2000" i="1" dirty="0"/>
              <a:t>There are </a:t>
            </a:r>
            <a:r>
              <a:rPr lang="en-US" sz="2000" b="1" i="1" dirty="0"/>
              <a:t>10 minutes </a:t>
            </a:r>
            <a:r>
              <a:rPr lang="en-US" sz="2000" i="1" dirty="0"/>
              <a:t>from 8:50am until 9:00am</a:t>
            </a:r>
          </a:p>
          <a:p>
            <a:r>
              <a:rPr lang="en-US" sz="2000" i="1" dirty="0"/>
              <a:t>  	</a:t>
            </a:r>
            <a:r>
              <a:rPr lang="en-US" sz="2000" b="1" i="1" dirty="0"/>
              <a:t> +</a:t>
            </a:r>
            <a:r>
              <a:rPr lang="en-US" sz="2000" i="1" dirty="0"/>
              <a:t>  There are </a:t>
            </a:r>
            <a:r>
              <a:rPr lang="en-US" sz="2000" b="1" i="1" dirty="0"/>
              <a:t>30 minutes </a:t>
            </a:r>
            <a:r>
              <a:rPr lang="en-US" sz="2000" i="1" dirty="0"/>
              <a:t>from 9:00am until 9:30am</a:t>
            </a:r>
          </a:p>
          <a:p>
            <a:r>
              <a:rPr lang="en-US" sz="2000" i="1" dirty="0"/>
              <a:t>	</a:t>
            </a:r>
            <a:r>
              <a:rPr lang="en-US" sz="2000" b="1" i="1" dirty="0"/>
              <a:t>=</a:t>
            </a:r>
            <a:r>
              <a:rPr lang="en-US" sz="2000" i="1" dirty="0"/>
              <a:t>  There are </a:t>
            </a:r>
            <a:r>
              <a:rPr lang="en-US" sz="2000" b="1" i="1" dirty="0"/>
              <a:t>40 minutes </a:t>
            </a:r>
            <a:r>
              <a:rPr lang="en-US" sz="2000" i="1" dirty="0"/>
              <a:t>from 8:50am until 9:30am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Step 3) 	Put them together</a:t>
            </a:r>
          </a:p>
          <a:p>
            <a:r>
              <a:rPr lang="en-US" sz="2000" dirty="0"/>
              <a:t>	</a:t>
            </a:r>
            <a:r>
              <a:rPr lang="en-US" sz="2000" i="1" dirty="0"/>
              <a:t>There are </a:t>
            </a:r>
            <a:r>
              <a:rPr lang="en-US" sz="2000" b="1" i="1" dirty="0"/>
              <a:t>5hrs and 40 mins</a:t>
            </a:r>
            <a:r>
              <a:rPr lang="en-US" sz="2000" i="1" dirty="0"/>
              <a:t> from 3:50am until 9:30am</a:t>
            </a:r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2464868" y="6041158"/>
            <a:ext cx="636988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What method do you use?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2335353"/>
            <a:ext cx="2395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method can we use to calculate elapsed time?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5" t="18558" r="36852" b="33482"/>
          <a:stretch/>
        </p:blipFill>
        <p:spPr>
          <a:xfrm>
            <a:off x="6351512" y="1600201"/>
            <a:ext cx="2829000" cy="39890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Adding and Subtracting Time using your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03032" cy="4525963"/>
          </a:xfrm>
        </p:spPr>
        <p:txBody>
          <a:bodyPr/>
          <a:lstStyle/>
          <a:p>
            <a:r>
              <a:rPr lang="en-AU" dirty="0"/>
              <a:t>Convert times to 24 hours first</a:t>
            </a:r>
          </a:p>
          <a:p>
            <a:r>
              <a:rPr lang="en-AU" dirty="0"/>
              <a:t>Example 1 : What time will it be a 6 hours 20 minutes after 10:15 a.m.?</a:t>
            </a:r>
          </a:p>
          <a:p>
            <a:pPr marL="0" indent="0">
              <a:buNone/>
            </a:pPr>
            <a:r>
              <a:rPr lang="en-AU" dirty="0"/>
              <a:t>	10:15 am = 1015 </a:t>
            </a:r>
          </a:p>
          <a:p>
            <a:pPr marL="0" indent="0">
              <a:buNone/>
            </a:pPr>
            <a:r>
              <a:rPr lang="en-AU" dirty="0"/>
              <a:t>	1015 + 0620 =  </a:t>
            </a:r>
          </a:p>
          <a:p>
            <a:pPr marL="0" indent="0">
              <a:buNone/>
            </a:pPr>
            <a:r>
              <a:rPr lang="en-AU" dirty="0"/>
              <a:t>	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812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4218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46239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8687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9093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159085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+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63141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5846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07825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511881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4119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=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30370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6990855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cxnSp>
        <p:nvCxnSpPr>
          <p:cNvPr id="20" name="Straight Arrow Connector 19"/>
          <p:cNvCxnSpPr>
            <a:stCxn id="11" idx="0"/>
          </p:cNvCxnSpPr>
          <p:nvPr/>
        </p:nvCxnSpPr>
        <p:spPr>
          <a:xfrm flipV="1">
            <a:off x="5554512" y="4581128"/>
            <a:ext cx="1681784" cy="1105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75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833" y="116632"/>
            <a:ext cx="8229600" cy="1224136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GB" sz="6600" dirty="0">
                <a:latin typeface="Brandish" pitchFamily="2" charset="0"/>
              </a:rPr>
              <a:t>Let’s try these together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72" y="1844824"/>
            <a:ext cx="8571722" cy="7200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72" y="4555434"/>
            <a:ext cx="8571722" cy="43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3283" y="2607295"/>
            <a:ext cx="34786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10:30am          12:30pm = 2hrs</a:t>
            </a:r>
          </a:p>
          <a:p>
            <a:endParaRPr lang="en-US" dirty="0"/>
          </a:p>
          <a:p>
            <a:r>
              <a:rPr lang="en-US" dirty="0"/>
              <a:t>12:30pm           1:00pm = 30 mins</a:t>
            </a:r>
          </a:p>
          <a:p>
            <a:endParaRPr lang="en-US" dirty="0"/>
          </a:p>
          <a:p>
            <a:r>
              <a:rPr lang="en-US" dirty="0"/>
              <a:t>1:00pm             1:20pm = 20 mins</a:t>
            </a:r>
          </a:p>
          <a:p>
            <a:endParaRPr lang="en-US" dirty="0"/>
          </a:p>
          <a:p>
            <a:r>
              <a:rPr lang="en-US" dirty="0"/>
              <a:t>              Total  = 2 </a:t>
            </a:r>
            <a:r>
              <a:rPr lang="en-US" dirty="0" err="1"/>
              <a:t>hrs</a:t>
            </a:r>
            <a:r>
              <a:rPr lang="en-US" dirty="0"/>
              <a:t> and 50 mins </a:t>
            </a:r>
            <a:endParaRPr lang="en-AU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1356474" y="278092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356474" y="3356992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1356474" y="3861048"/>
            <a:ext cx="41518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49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3345" y="374073"/>
            <a:ext cx="3671455" cy="236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3345" y="346364"/>
            <a:ext cx="3671455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1</a:t>
            </a:r>
          </a:p>
          <a:p>
            <a:pPr algn="ctr"/>
            <a:endParaRPr lang="en-AU" sz="2400" dirty="0"/>
          </a:p>
          <a:p>
            <a:pPr>
              <a:lnSpc>
                <a:spcPct val="150000"/>
              </a:lnSpc>
            </a:pPr>
            <a:r>
              <a:rPr lang="en-AU" dirty="0"/>
              <a:t>What is a time difference between:</a:t>
            </a:r>
          </a:p>
          <a:p>
            <a:pPr algn="ctr">
              <a:lnSpc>
                <a:spcPct val="150000"/>
              </a:lnSpc>
            </a:pPr>
            <a:r>
              <a:rPr lang="en-AU" sz="2000" dirty="0"/>
              <a:t>10:30 am and 1:20pm</a:t>
            </a:r>
            <a:endParaRPr lang="en-AU" dirty="0"/>
          </a:p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15345" y="374073"/>
            <a:ext cx="3671455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2</a:t>
            </a:r>
          </a:p>
          <a:p>
            <a:pPr algn="ctr"/>
            <a:endParaRPr lang="en-AU" sz="2400" dirty="0"/>
          </a:p>
          <a:p>
            <a:pPr lvl="0" algn="ctr">
              <a:lnSpc>
                <a:spcPct val="150000"/>
              </a:lnSpc>
            </a:pPr>
            <a:r>
              <a:rPr lang="en-AU" dirty="0">
                <a:solidFill>
                  <a:prstClr val="black"/>
                </a:solidFill>
              </a:rPr>
              <a:t>What is a time difference between:</a:t>
            </a:r>
          </a:p>
          <a:p>
            <a:pPr lvl="0" algn="ctr">
              <a:lnSpc>
                <a:spcPct val="150000"/>
              </a:lnSpc>
            </a:pPr>
            <a:r>
              <a:rPr lang="en-AU" sz="2000" dirty="0">
                <a:solidFill>
                  <a:prstClr val="black"/>
                </a:solidFill>
              </a:rPr>
              <a:t>2:37 pm and 5:21pm</a:t>
            </a:r>
            <a:endParaRPr lang="en-AU" dirty="0">
              <a:solidFill>
                <a:prstClr val="black"/>
              </a:solidFill>
            </a:endParaRPr>
          </a:p>
          <a:p>
            <a:pPr algn="ctr"/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015345" y="3823855"/>
            <a:ext cx="3671455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4</a:t>
            </a:r>
          </a:p>
          <a:p>
            <a:pPr algn="ctr"/>
            <a:endParaRPr lang="en-AU" sz="2400" dirty="0"/>
          </a:p>
          <a:p>
            <a:pPr lvl="0" algn="ctr">
              <a:lnSpc>
                <a:spcPct val="150000"/>
              </a:lnSpc>
            </a:pPr>
            <a:r>
              <a:rPr lang="en-AU" dirty="0">
                <a:solidFill>
                  <a:prstClr val="black"/>
                </a:solidFill>
              </a:rPr>
              <a:t>What is a time difference between:</a:t>
            </a:r>
          </a:p>
          <a:p>
            <a:pPr lvl="0" algn="ctr">
              <a:lnSpc>
                <a:spcPct val="150000"/>
              </a:lnSpc>
            </a:pPr>
            <a:r>
              <a:rPr lang="en-AU" sz="2000" dirty="0">
                <a:solidFill>
                  <a:prstClr val="black"/>
                </a:solidFill>
              </a:rPr>
              <a:t>1451 and 2310</a:t>
            </a:r>
            <a:endParaRPr lang="en-AU" dirty="0">
              <a:solidFill>
                <a:prstClr val="black"/>
              </a:solidFill>
            </a:endParaRPr>
          </a:p>
          <a:p>
            <a:pPr algn="ctr"/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43345" y="3823855"/>
            <a:ext cx="3671455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3</a:t>
            </a:r>
          </a:p>
          <a:p>
            <a:pPr algn="ctr"/>
            <a:endParaRPr lang="en-AU" sz="2400" dirty="0"/>
          </a:p>
          <a:p>
            <a:pPr lvl="0" algn="ctr">
              <a:lnSpc>
                <a:spcPct val="150000"/>
              </a:lnSpc>
            </a:pPr>
            <a:r>
              <a:rPr lang="en-AU" dirty="0">
                <a:solidFill>
                  <a:prstClr val="black"/>
                </a:solidFill>
              </a:rPr>
              <a:t>What is a time difference between:</a:t>
            </a:r>
          </a:p>
          <a:p>
            <a:pPr lvl="0" algn="ctr">
              <a:lnSpc>
                <a:spcPct val="150000"/>
              </a:lnSpc>
            </a:pPr>
            <a:r>
              <a:rPr lang="en-AU" sz="2000" dirty="0">
                <a:solidFill>
                  <a:prstClr val="black"/>
                </a:solidFill>
              </a:rPr>
              <a:t>10:42 pm and 7:32 am (next day)</a:t>
            </a:r>
            <a:endParaRPr lang="en-AU" dirty="0">
              <a:solidFill>
                <a:prstClr val="black"/>
              </a:solidFill>
            </a:endParaRP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20243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3345" y="374073"/>
            <a:ext cx="3671455" cy="2369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91666" y="374073"/>
            <a:ext cx="3806399" cy="2707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5</a:t>
            </a:r>
          </a:p>
          <a:p>
            <a:pPr algn="ctr"/>
            <a:endParaRPr lang="en-AU" sz="1600" dirty="0"/>
          </a:p>
          <a:p>
            <a:pPr algn="just">
              <a:lnSpc>
                <a:spcPct val="114000"/>
              </a:lnSpc>
            </a:pPr>
            <a:r>
              <a:rPr lang="en-AU" sz="1900" dirty="0"/>
              <a:t>Three essays are marked by a teacher. The 1</a:t>
            </a:r>
            <a:r>
              <a:rPr lang="en-AU" sz="1900" baseline="30000" dirty="0"/>
              <a:t>st</a:t>
            </a:r>
            <a:r>
              <a:rPr lang="en-AU" sz="1900" dirty="0"/>
              <a:t>  takes 4 min and 32 sec to mark, the 2</a:t>
            </a:r>
            <a:r>
              <a:rPr lang="en-AU" sz="1900" baseline="30000" dirty="0"/>
              <a:t>nd</a:t>
            </a:r>
            <a:r>
              <a:rPr lang="en-AU" sz="1900" dirty="0"/>
              <a:t>  takes 7 min and 19 sec, and the 3</a:t>
            </a:r>
            <a:r>
              <a:rPr lang="en-AU" sz="1900" baseline="30000" dirty="0"/>
              <a:t>rd</a:t>
            </a:r>
            <a:r>
              <a:rPr lang="en-AU" sz="1900" dirty="0"/>
              <a:t>  takes 5 min and 37 sec. What is the total time taken to complete marking the essays?</a:t>
            </a:r>
            <a:endParaRPr lang="en-US" sz="1900" dirty="0"/>
          </a:p>
        </p:txBody>
      </p:sp>
      <p:sp>
        <p:nvSpPr>
          <p:cNvPr id="6" name="TextBox 5"/>
          <p:cNvSpPr txBox="1"/>
          <p:nvPr/>
        </p:nvSpPr>
        <p:spPr>
          <a:xfrm>
            <a:off x="5015345" y="374073"/>
            <a:ext cx="36714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6</a:t>
            </a:r>
          </a:p>
          <a:p>
            <a:pPr algn="ctr"/>
            <a:endParaRPr lang="en-AU" sz="1600" dirty="0"/>
          </a:p>
          <a:p>
            <a:pPr algn="ctr"/>
            <a:r>
              <a:rPr lang="en-AU" sz="2000" dirty="0"/>
              <a:t>Adrian arrives at school at 8:09 am and leaves at 3:37 pm. How many hours and minutes is Adrian at school?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5015345" y="3807229"/>
            <a:ext cx="367145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8</a:t>
            </a:r>
          </a:p>
          <a:p>
            <a:pPr algn="ctr"/>
            <a:endParaRPr lang="en-AU" sz="800" dirty="0"/>
          </a:p>
          <a:p>
            <a:pPr lvl="0"/>
            <a:r>
              <a:rPr lang="en-AU" dirty="0">
                <a:solidFill>
                  <a:prstClr val="black"/>
                </a:solidFill>
              </a:rPr>
              <a:t>A phone plan charges 11 cents per 30 seconds. The 11 cents are added to the bill at the beginning  of every 30-second block of time.</a:t>
            </a:r>
          </a:p>
          <a:p>
            <a:pPr lvl="0"/>
            <a:r>
              <a:rPr lang="en-AU" dirty="0">
                <a:solidFill>
                  <a:prstClr val="black"/>
                </a:solidFill>
              </a:rPr>
              <a:t>a) What is the cost of a 70-second call?</a:t>
            </a:r>
          </a:p>
          <a:p>
            <a:pPr lvl="0"/>
            <a:r>
              <a:rPr lang="en-AU" dirty="0">
                <a:solidFill>
                  <a:prstClr val="black"/>
                </a:solidFill>
              </a:rPr>
              <a:t>b) What is the cost of a call that lasts 6 minutes and 20 seconds?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443345" y="3807230"/>
            <a:ext cx="367145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Question 7</a:t>
            </a:r>
          </a:p>
          <a:p>
            <a:pPr algn="ctr"/>
            <a:endParaRPr lang="en-AU" sz="800" dirty="0"/>
          </a:p>
          <a:p>
            <a:pPr lvl="0" algn="ctr"/>
            <a:r>
              <a:rPr lang="en-AU" dirty="0">
                <a:solidFill>
                  <a:prstClr val="black"/>
                </a:solidFill>
              </a:rPr>
              <a:t>On a flight to Europe, Janelle spends 8 hours and 36 minutes on a flight from Melbourne to Kuala Lumpur, Malaysia, 2 hours and 20 minutes at the airport at Kuala Lumpur, and then 12 hours and 19 minutes on a flight to Geneva, Switzerland. What is Janelle’s total travel time?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9537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1453</TotalTime>
  <Words>738</Words>
  <Application>Microsoft Office PowerPoint</Application>
  <PresentationFormat>On-screen Show (4:3)</PresentationFormat>
  <Paragraphs>136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Brandish</vt:lpstr>
      <vt:lpstr>Calibri</vt:lpstr>
      <vt:lpstr>Comic Sans MS</vt:lpstr>
      <vt:lpstr>Martina</vt:lpstr>
      <vt:lpstr>Times New Roman</vt:lpstr>
      <vt:lpstr>Office Theme</vt:lpstr>
      <vt:lpstr>Time </vt:lpstr>
      <vt:lpstr>PowerPoint Presentation</vt:lpstr>
      <vt:lpstr>Warm up</vt:lpstr>
      <vt:lpstr>PowerPoint Presentation</vt:lpstr>
      <vt:lpstr>PowerPoint Presentation</vt:lpstr>
      <vt:lpstr>Adding and Subtracting Time using your calculator</vt:lpstr>
      <vt:lpstr>Let’s try these together</vt:lpstr>
      <vt:lpstr>Do you understand? Fists of Five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CRAIG Mason [Baldivis Secondary College]</cp:lastModifiedBy>
  <cp:revision>61</cp:revision>
  <dcterms:created xsi:type="dcterms:W3CDTF">2013-03-25T14:33:20Z</dcterms:created>
  <dcterms:modified xsi:type="dcterms:W3CDTF">2018-10-14T10:35:54Z</dcterms:modified>
</cp:coreProperties>
</file>
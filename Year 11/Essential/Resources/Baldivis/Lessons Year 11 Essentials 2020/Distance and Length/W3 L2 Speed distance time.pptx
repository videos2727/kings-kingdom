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9" r:id="rId1"/>
  </p:sldMasterIdLst>
  <p:notesMasterIdLst>
    <p:notesMasterId r:id="rId13"/>
  </p:notesMasterIdLst>
  <p:sldIdLst>
    <p:sldId id="256" r:id="rId2"/>
    <p:sldId id="427" r:id="rId3"/>
    <p:sldId id="426" r:id="rId4"/>
    <p:sldId id="429" r:id="rId5"/>
    <p:sldId id="428" r:id="rId6"/>
    <p:sldId id="431" r:id="rId7"/>
    <p:sldId id="430" r:id="rId8"/>
    <p:sldId id="432" r:id="rId9"/>
    <p:sldId id="433" r:id="rId10"/>
    <p:sldId id="421" r:id="rId11"/>
    <p:sldId id="434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85" autoAdjust="0"/>
    <p:restoredTop sz="88735" autoAdjust="0"/>
  </p:normalViewPr>
  <p:slideViewPr>
    <p:cSldViewPr snapToGrid="0">
      <p:cViewPr varScale="1">
        <p:scale>
          <a:sx n="55" d="100"/>
          <a:sy n="55" d="100"/>
        </p:scale>
        <p:origin x="1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11A251-35D4-4A6D-872A-2404D870FDC5}" type="datetimeFigureOut">
              <a:rPr lang="en-GB" smtClean="0"/>
              <a:t>23/10/2018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8B6B90-47C0-463A-9E32-F74A8B32D3B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394368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8B6B90-47C0-463A-9E32-F74A8B32D3BB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222546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8B6B90-47C0-463A-9E32-F74A8B32D3BB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811701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10/23/2018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74446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10/23/2018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62331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10/23/2018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95607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10/23/2018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81974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10/23/2018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93390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10/23/2018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5324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10/23/2018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26530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10/23/2018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15055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10/23/2018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58425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10/23/2018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12013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10/23/2018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234698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10/23/2018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56040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10/23/2018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209815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10/23/2018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911626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10/23/2018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384002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10/23/2018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16273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10/23/2018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81759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  <p:sldLayoutId id="2147483683" r:id="rId14"/>
    <p:sldLayoutId id="2147483684" r:id="rId15"/>
    <p:sldLayoutId id="2147483685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6A525E-747A-45EC-8DEB-8E43D30F9BA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/>
              <a:t>Speed Distance Time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057B6E-6E10-4100-BC88-BD9A8CC5C11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/>
              <a:t>Year 11 Mathematics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64430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 flipV="1">
            <a:off x="0" y="980729"/>
            <a:ext cx="12192000" cy="10667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 flipV="1">
            <a:off x="0" y="1892047"/>
            <a:ext cx="12192000" cy="24785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9336" y="9253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3392" y="274156"/>
            <a:ext cx="33073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Speed Distance Time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06805" y="183012"/>
            <a:ext cx="28083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Date: </a:t>
            </a:r>
            <a:fld id="{4369741B-9995-4025-BF95-9F45017F2C81}" type="datetime1">
              <a:rPr lang="en-AU" sz="2400" smtClean="0"/>
              <a:t>23/10/2018</a:t>
            </a:fld>
            <a:endParaRPr lang="en-AU" sz="24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1056EAC-9909-49F8-AF63-CB2D7280E01D}"/>
              </a:ext>
            </a:extLst>
          </p:cNvPr>
          <p:cNvSpPr txBox="1"/>
          <p:nvPr/>
        </p:nvSpPr>
        <p:spPr>
          <a:xfrm>
            <a:off x="119514" y="1075004"/>
            <a:ext cx="118091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/>
              <a:t>EQ – </a:t>
            </a:r>
            <a:r>
              <a:rPr lang="en-US" sz="2400" b="1" dirty="0"/>
              <a:t>How do Distance Time graphs tell a story?</a:t>
            </a:r>
            <a:endParaRPr lang="en-AU" sz="2400" b="1" dirty="0"/>
          </a:p>
        </p:txBody>
      </p:sp>
      <p:cxnSp>
        <p:nvCxnSpPr>
          <p:cNvPr id="491" name="Straight Connector 490">
            <a:extLst>
              <a:ext uri="{FF2B5EF4-FFF2-40B4-BE49-F238E27FC236}">
                <a16:creationId xmlns:a16="http://schemas.microsoft.com/office/drawing/2014/main" id="{E28B767C-FE5D-4452-8E42-523A8D5CCC3C}"/>
              </a:ext>
            </a:extLst>
          </p:cNvPr>
          <p:cNvCxnSpPr>
            <a:cxnSpLocks/>
          </p:cNvCxnSpPr>
          <p:nvPr/>
        </p:nvCxnSpPr>
        <p:spPr>
          <a:xfrm>
            <a:off x="2133291" y="1916832"/>
            <a:ext cx="0" cy="49411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343448B4-C1E2-438A-82AF-2751EDB361DD}"/>
              </a:ext>
            </a:extLst>
          </p:cNvPr>
          <p:cNvSpPr txBox="1"/>
          <p:nvPr/>
        </p:nvSpPr>
        <p:spPr>
          <a:xfrm>
            <a:off x="2747809" y="2221645"/>
            <a:ext cx="56400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In order to calculate Speed Distance or Time use the Triangle method</a:t>
            </a:r>
            <a:endParaRPr lang="en-GB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82AB596-E931-407D-85A6-B22C43A9A8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4861" y="1945193"/>
            <a:ext cx="3032198" cy="244222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FE9FABA-CDBC-466E-B7DF-BE997A9DA3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8886" y="4556761"/>
            <a:ext cx="3028950" cy="18573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299CB23-DFBE-46C6-B92C-AFA92C8678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87559" y="3996034"/>
            <a:ext cx="2305050" cy="24479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D5A810A-C6E2-4605-AA0F-E39033F52F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43464" y="4415777"/>
            <a:ext cx="2019300" cy="20574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0599760-850C-441B-9DE9-FFD7F5A022A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58230" y="3948626"/>
            <a:ext cx="2162175" cy="752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35437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Rounded Rectangle 90">
            <a:extLst>
              <a:ext uri="{FF2B5EF4-FFF2-40B4-BE49-F238E27FC236}">
                <a16:creationId xmlns:a16="http://schemas.microsoft.com/office/drawing/2014/main" id="{FBD7E3AE-BA80-493F-AF4B-ACD09FC97938}"/>
              </a:ext>
            </a:extLst>
          </p:cNvPr>
          <p:cNvSpPr/>
          <p:nvPr/>
        </p:nvSpPr>
        <p:spPr>
          <a:xfrm>
            <a:off x="1755259" y="4303207"/>
            <a:ext cx="8681483" cy="1888176"/>
          </a:xfrm>
          <a:prstGeom prst="roundRect">
            <a:avLst>
              <a:gd name="adj" fmla="val 1552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rial" pitchFamily="34" charset="0"/>
              <a:cs typeface="Arial" pitchFamily="34" charset="0"/>
            </a:endParaRPr>
          </a:p>
        </p:txBody>
      </p:sp>
      <p:sp>
        <p:nvSpPr>
          <p:cNvPr id="239" name="Rounded Rectangle 45">
            <a:extLst>
              <a:ext uri="{FF2B5EF4-FFF2-40B4-BE49-F238E27FC236}">
                <a16:creationId xmlns:a16="http://schemas.microsoft.com/office/drawing/2014/main" id="{43A3F736-D49B-4530-8C09-14248C55DB70}"/>
              </a:ext>
            </a:extLst>
          </p:cNvPr>
          <p:cNvSpPr/>
          <p:nvPr/>
        </p:nvSpPr>
        <p:spPr>
          <a:xfrm>
            <a:off x="1755259" y="1215623"/>
            <a:ext cx="8681483" cy="2897579"/>
          </a:xfrm>
          <a:prstGeom prst="roundRect">
            <a:avLst>
              <a:gd name="adj" fmla="val 986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rial" pitchFamily="34" charset="0"/>
              <a:cs typeface="Arial" pitchFamily="34" charset="0"/>
            </a:endParaRPr>
          </a:p>
        </p:txBody>
      </p:sp>
      <p:sp>
        <p:nvSpPr>
          <p:cNvPr id="240" name="TextBox 239">
            <a:extLst>
              <a:ext uri="{FF2B5EF4-FFF2-40B4-BE49-F238E27FC236}">
                <a16:creationId xmlns:a16="http://schemas.microsoft.com/office/drawing/2014/main" id="{0511C9C7-4ED9-40CF-A441-A1C73DBC5076}"/>
              </a:ext>
            </a:extLst>
          </p:cNvPr>
          <p:cNvSpPr txBox="1"/>
          <p:nvPr/>
        </p:nvSpPr>
        <p:spPr>
          <a:xfrm>
            <a:off x="2081554" y="313474"/>
            <a:ext cx="80288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>
                <a:latin typeface="Arial" pitchFamily="34" charset="0"/>
                <a:cs typeface="Arial" pitchFamily="34" charset="0"/>
              </a:rPr>
              <a:t>We have a formula which connects</a:t>
            </a:r>
          </a:p>
          <a:p>
            <a:pPr algn="ctr"/>
            <a:r>
              <a:rPr lang="en-GB" sz="2400" b="1" dirty="0">
                <a:latin typeface="Arial" pitchFamily="34" charset="0"/>
                <a:cs typeface="Arial" pitchFamily="34" charset="0"/>
              </a:rPr>
              <a:t>speed, distance and time:</a:t>
            </a:r>
          </a:p>
        </p:txBody>
      </p:sp>
      <p:grpSp>
        <p:nvGrpSpPr>
          <p:cNvPr id="241" name="Group 240">
            <a:extLst>
              <a:ext uri="{FF2B5EF4-FFF2-40B4-BE49-F238E27FC236}">
                <a16:creationId xmlns:a16="http://schemas.microsoft.com/office/drawing/2014/main" id="{C1B800DC-E396-4E12-8518-5EAA369E1509}"/>
              </a:ext>
            </a:extLst>
          </p:cNvPr>
          <p:cNvGrpSpPr/>
          <p:nvPr/>
        </p:nvGrpSpPr>
        <p:grpSpPr>
          <a:xfrm>
            <a:off x="3982193" y="1447641"/>
            <a:ext cx="4227615" cy="926275"/>
            <a:chOff x="2185060" y="1205798"/>
            <a:chExt cx="4322618" cy="926275"/>
          </a:xfrm>
        </p:grpSpPr>
        <p:sp>
          <p:nvSpPr>
            <p:cNvPr id="242" name="Rounded Rectangle 14">
              <a:extLst>
                <a:ext uri="{FF2B5EF4-FFF2-40B4-BE49-F238E27FC236}">
                  <a16:creationId xmlns:a16="http://schemas.microsoft.com/office/drawing/2014/main" id="{BBF89203-D24C-40C5-8C2C-6A58B40C5AB0}"/>
                </a:ext>
              </a:extLst>
            </p:cNvPr>
            <p:cNvSpPr/>
            <p:nvPr/>
          </p:nvSpPr>
          <p:spPr>
            <a:xfrm>
              <a:off x="2185060" y="1205798"/>
              <a:ext cx="4322618" cy="926275"/>
            </a:xfrm>
            <a:prstGeom prst="roundRect">
              <a:avLst>
                <a:gd name="adj" fmla="val 28082"/>
              </a:avLst>
            </a:prstGeom>
            <a:gradFill flip="none" rotWithShape="1">
              <a:gsLst>
                <a:gs pos="100000">
                  <a:srgbClr val="A50021">
                    <a:tint val="66000"/>
                    <a:satMod val="160000"/>
                  </a:srgbClr>
                </a:gs>
                <a:gs pos="50000">
                  <a:srgbClr val="A50021">
                    <a:tint val="44500"/>
                    <a:satMod val="160000"/>
                  </a:srgbClr>
                </a:gs>
                <a:gs pos="100000">
                  <a:srgbClr val="A50021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000">
                <a:latin typeface="Arial" pitchFamily="34" charset="0"/>
                <a:cs typeface="Arial" pitchFamily="34" charset="0"/>
              </a:endParaRPr>
            </a:p>
          </p:txBody>
        </p:sp>
        <p:grpSp>
          <p:nvGrpSpPr>
            <p:cNvPr id="243" name="Group 242">
              <a:extLst>
                <a:ext uri="{FF2B5EF4-FFF2-40B4-BE49-F238E27FC236}">
                  <a16:creationId xmlns:a16="http://schemas.microsoft.com/office/drawing/2014/main" id="{783506F4-AC2D-4DDF-8E1D-FED749927A18}"/>
                </a:ext>
              </a:extLst>
            </p:cNvPr>
            <p:cNvGrpSpPr/>
            <p:nvPr/>
          </p:nvGrpSpPr>
          <p:grpSpPr>
            <a:xfrm>
              <a:off x="2469535" y="1289062"/>
              <a:ext cx="3705100" cy="707886"/>
              <a:chOff x="2386408" y="1212187"/>
              <a:chExt cx="3705100" cy="707886"/>
            </a:xfrm>
          </p:grpSpPr>
          <p:grpSp>
            <p:nvGrpSpPr>
              <p:cNvPr id="244" name="Group 243">
                <a:extLst>
                  <a:ext uri="{FF2B5EF4-FFF2-40B4-BE49-F238E27FC236}">
                    <a16:creationId xmlns:a16="http://schemas.microsoft.com/office/drawing/2014/main" id="{A9CC8556-3F43-4F06-917F-55B3D2C52BFB}"/>
                  </a:ext>
                </a:extLst>
              </p:cNvPr>
              <p:cNvGrpSpPr/>
              <p:nvPr/>
            </p:nvGrpSpPr>
            <p:grpSpPr>
              <a:xfrm>
                <a:off x="4428963" y="1212187"/>
                <a:ext cx="1662545" cy="707886"/>
                <a:chOff x="4428963" y="1212187"/>
                <a:chExt cx="1662545" cy="707886"/>
              </a:xfrm>
            </p:grpSpPr>
            <p:sp>
              <p:nvSpPr>
                <p:cNvPr id="246" name="TextBox 245">
                  <a:extLst>
                    <a:ext uri="{FF2B5EF4-FFF2-40B4-BE49-F238E27FC236}">
                      <a16:creationId xmlns:a16="http://schemas.microsoft.com/office/drawing/2014/main" id="{334C0D21-6C07-4DA6-8675-7ED4EEDF05CF}"/>
                    </a:ext>
                  </a:extLst>
                </p:cNvPr>
                <p:cNvSpPr txBox="1"/>
                <p:nvPr/>
              </p:nvSpPr>
              <p:spPr>
                <a:xfrm>
                  <a:off x="4428963" y="1212187"/>
                  <a:ext cx="1662545" cy="70788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GB" sz="2000" b="1" dirty="0">
                      <a:latin typeface="Arial" pitchFamily="34" charset="0"/>
                      <a:cs typeface="Arial" pitchFamily="34" charset="0"/>
                    </a:rPr>
                    <a:t>Distance</a:t>
                  </a:r>
                </a:p>
                <a:p>
                  <a:pPr algn="ctr"/>
                  <a:r>
                    <a:rPr lang="en-GB" sz="2000" b="1" dirty="0">
                      <a:latin typeface="Arial" pitchFamily="34" charset="0"/>
                      <a:cs typeface="Arial" pitchFamily="34" charset="0"/>
                    </a:rPr>
                    <a:t>Time</a:t>
                  </a:r>
                </a:p>
              </p:txBody>
            </p:sp>
            <p:cxnSp>
              <p:nvCxnSpPr>
                <p:cNvPr id="247" name="Straight Connector 246">
                  <a:extLst>
                    <a:ext uri="{FF2B5EF4-FFF2-40B4-BE49-F238E27FC236}">
                      <a16:creationId xmlns:a16="http://schemas.microsoft.com/office/drawing/2014/main" id="{A555731B-ED41-46DD-A7F6-F4DD53FB9387}"/>
                    </a:ext>
                  </a:extLst>
                </p:cNvPr>
                <p:cNvCxnSpPr/>
                <p:nvPr/>
              </p:nvCxnSpPr>
              <p:spPr>
                <a:xfrm>
                  <a:off x="4654327" y="1567543"/>
                  <a:ext cx="1187533" cy="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45" name="TextBox 244">
                <a:extLst>
                  <a:ext uri="{FF2B5EF4-FFF2-40B4-BE49-F238E27FC236}">
                    <a16:creationId xmlns:a16="http://schemas.microsoft.com/office/drawing/2014/main" id="{C4E3AA82-2B7C-4EDE-BCD0-B0507309320D}"/>
                  </a:ext>
                </a:extLst>
              </p:cNvPr>
              <p:cNvSpPr txBox="1"/>
              <p:nvPr/>
            </p:nvSpPr>
            <p:spPr>
              <a:xfrm>
                <a:off x="2386408" y="1361228"/>
                <a:ext cx="190005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GB" sz="2000" b="1" dirty="0">
                    <a:latin typeface="Arial" pitchFamily="34" charset="0"/>
                    <a:cs typeface="Arial" pitchFamily="34" charset="0"/>
                  </a:rPr>
                  <a:t>Speed      =</a:t>
                </a:r>
              </a:p>
            </p:txBody>
          </p:sp>
        </p:grpSp>
      </p:grpSp>
      <p:sp>
        <p:nvSpPr>
          <p:cNvPr id="248" name="TextBox 247">
            <a:extLst>
              <a:ext uri="{FF2B5EF4-FFF2-40B4-BE49-F238E27FC236}">
                <a16:creationId xmlns:a16="http://schemas.microsoft.com/office/drawing/2014/main" id="{C72502EB-CEFA-482E-A524-21980A8D77D4}"/>
              </a:ext>
            </a:extLst>
          </p:cNvPr>
          <p:cNvSpPr txBox="1"/>
          <p:nvPr/>
        </p:nvSpPr>
        <p:spPr>
          <a:xfrm>
            <a:off x="2081554" y="2470828"/>
            <a:ext cx="80288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latin typeface="Arial" pitchFamily="34" charset="0"/>
                <a:cs typeface="Arial" pitchFamily="34" charset="0"/>
              </a:rPr>
              <a:t>This formula can be rearranged to give:</a:t>
            </a:r>
          </a:p>
        </p:txBody>
      </p:sp>
      <p:grpSp>
        <p:nvGrpSpPr>
          <p:cNvPr id="249" name="Group 248">
            <a:extLst>
              <a:ext uri="{FF2B5EF4-FFF2-40B4-BE49-F238E27FC236}">
                <a16:creationId xmlns:a16="http://schemas.microsoft.com/office/drawing/2014/main" id="{B805D97D-26F0-40A2-9C24-91534E5BDA61}"/>
              </a:ext>
            </a:extLst>
          </p:cNvPr>
          <p:cNvGrpSpPr/>
          <p:nvPr/>
        </p:nvGrpSpPr>
        <p:grpSpPr>
          <a:xfrm>
            <a:off x="1839685" y="2958793"/>
            <a:ext cx="4227615" cy="926275"/>
            <a:chOff x="2185060" y="1205798"/>
            <a:chExt cx="4322618" cy="926275"/>
          </a:xfrm>
        </p:grpSpPr>
        <p:sp>
          <p:nvSpPr>
            <p:cNvPr id="250" name="Rounded Rectangle 55">
              <a:extLst>
                <a:ext uri="{FF2B5EF4-FFF2-40B4-BE49-F238E27FC236}">
                  <a16:creationId xmlns:a16="http://schemas.microsoft.com/office/drawing/2014/main" id="{30999999-5A33-4D58-833F-4859307E18E0}"/>
                </a:ext>
              </a:extLst>
            </p:cNvPr>
            <p:cNvSpPr/>
            <p:nvPr/>
          </p:nvSpPr>
          <p:spPr>
            <a:xfrm>
              <a:off x="2185060" y="1205798"/>
              <a:ext cx="4322618" cy="926275"/>
            </a:xfrm>
            <a:prstGeom prst="roundRect">
              <a:avLst>
                <a:gd name="adj" fmla="val 28082"/>
              </a:avLst>
            </a:prstGeom>
            <a:gradFill flip="none" rotWithShape="1">
              <a:gsLst>
                <a:gs pos="100000">
                  <a:srgbClr val="A50021">
                    <a:tint val="66000"/>
                    <a:satMod val="160000"/>
                  </a:srgbClr>
                </a:gs>
                <a:gs pos="50000">
                  <a:srgbClr val="A50021">
                    <a:tint val="44500"/>
                    <a:satMod val="160000"/>
                  </a:srgbClr>
                </a:gs>
                <a:gs pos="100000">
                  <a:srgbClr val="A50021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000">
                <a:latin typeface="Arial" pitchFamily="34" charset="0"/>
                <a:cs typeface="Arial" pitchFamily="34" charset="0"/>
              </a:endParaRPr>
            </a:p>
          </p:txBody>
        </p:sp>
        <p:grpSp>
          <p:nvGrpSpPr>
            <p:cNvPr id="251" name="Group 42">
              <a:extLst>
                <a:ext uri="{FF2B5EF4-FFF2-40B4-BE49-F238E27FC236}">
                  <a16:creationId xmlns:a16="http://schemas.microsoft.com/office/drawing/2014/main" id="{6A531576-4D4E-40C7-B2B9-0E60568621AB}"/>
                </a:ext>
              </a:extLst>
            </p:cNvPr>
            <p:cNvGrpSpPr/>
            <p:nvPr/>
          </p:nvGrpSpPr>
          <p:grpSpPr>
            <a:xfrm>
              <a:off x="2469535" y="1289062"/>
              <a:ext cx="3595823" cy="707886"/>
              <a:chOff x="2386408" y="1212187"/>
              <a:chExt cx="3595823" cy="707886"/>
            </a:xfrm>
          </p:grpSpPr>
          <p:grpSp>
            <p:nvGrpSpPr>
              <p:cNvPr id="252" name="Group 40">
                <a:extLst>
                  <a:ext uri="{FF2B5EF4-FFF2-40B4-BE49-F238E27FC236}">
                    <a16:creationId xmlns:a16="http://schemas.microsoft.com/office/drawing/2014/main" id="{AF152255-7E09-4505-AC86-88333CDD5FB0}"/>
                  </a:ext>
                </a:extLst>
              </p:cNvPr>
              <p:cNvGrpSpPr/>
              <p:nvPr/>
            </p:nvGrpSpPr>
            <p:grpSpPr>
              <a:xfrm>
                <a:off x="4319687" y="1212187"/>
                <a:ext cx="1662544" cy="707886"/>
                <a:chOff x="4319687" y="1212187"/>
                <a:chExt cx="1662544" cy="707886"/>
              </a:xfrm>
            </p:grpSpPr>
            <p:sp>
              <p:nvSpPr>
                <p:cNvPr id="254" name="TextBox 253">
                  <a:extLst>
                    <a:ext uri="{FF2B5EF4-FFF2-40B4-BE49-F238E27FC236}">
                      <a16:creationId xmlns:a16="http://schemas.microsoft.com/office/drawing/2014/main" id="{B6C413F6-C874-48F7-A93C-48B2DDE689CB}"/>
                    </a:ext>
                  </a:extLst>
                </p:cNvPr>
                <p:cNvSpPr txBox="1"/>
                <p:nvPr/>
              </p:nvSpPr>
              <p:spPr>
                <a:xfrm>
                  <a:off x="4319687" y="1212187"/>
                  <a:ext cx="1662544" cy="70788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GB" sz="2000" b="1" dirty="0">
                      <a:latin typeface="Arial" pitchFamily="34" charset="0"/>
                      <a:cs typeface="Arial" pitchFamily="34" charset="0"/>
                    </a:rPr>
                    <a:t>Distance</a:t>
                  </a:r>
                </a:p>
                <a:p>
                  <a:pPr algn="ctr"/>
                  <a:r>
                    <a:rPr lang="en-GB" sz="2000" b="1" dirty="0">
                      <a:latin typeface="Arial" pitchFamily="34" charset="0"/>
                      <a:cs typeface="Arial" pitchFamily="34" charset="0"/>
                    </a:rPr>
                    <a:t>Speed</a:t>
                  </a:r>
                </a:p>
              </p:txBody>
            </p:sp>
            <p:cxnSp>
              <p:nvCxnSpPr>
                <p:cNvPr id="255" name="Straight Connector 254">
                  <a:extLst>
                    <a:ext uri="{FF2B5EF4-FFF2-40B4-BE49-F238E27FC236}">
                      <a16:creationId xmlns:a16="http://schemas.microsoft.com/office/drawing/2014/main" id="{1C395415-8EC1-4684-949F-7D7C6A872C74}"/>
                    </a:ext>
                  </a:extLst>
                </p:cNvPr>
                <p:cNvCxnSpPr/>
                <p:nvPr/>
              </p:nvCxnSpPr>
              <p:spPr>
                <a:xfrm>
                  <a:off x="4545051" y="1567543"/>
                  <a:ext cx="1187532" cy="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53" name="TextBox 252">
                <a:extLst>
                  <a:ext uri="{FF2B5EF4-FFF2-40B4-BE49-F238E27FC236}">
                    <a16:creationId xmlns:a16="http://schemas.microsoft.com/office/drawing/2014/main" id="{8B6C3F7E-FCDF-4263-B301-FED938C9E9B3}"/>
                  </a:ext>
                </a:extLst>
              </p:cNvPr>
              <p:cNvSpPr txBox="1"/>
              <p:nvPr/>
            </p:nvSpPr>
            <p:spPr>
              <a:xfrm>
                <a:off x="2386408" y="1361228"/>
                <a:ext cx="1663335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GB" sz="2000" b="1" dirty="0">
                    <a:latin typeface="Arial" pitchFamily="34" charset="0"/>
                    <a:cs typeface="Arial" pitchFamily="34" charset="0"/>
                  </a:rPr>
                  <a:t>Time      =</a:t>
                </a:r>
              </a:p>
            </p:txBody>
          </p:sp>
        </p:grpSp>
      </p:grpSp>
      <p:grpSp>
        <p:nvGrpSpPr>
          <p:cNvPr id="256" name="Group 255">
            <a:extLst>
              <a:ext uri="{FF2B5EF4-FFF2-40B4-BE49-F238E27FC236}">
                <a16:creationId xmlns:a16="http://schemas.microsoft.com/office/drawing/2014/main" id="{DB3FBFE5-821F-47BF-890D-853E13DC6B4A}"/>
              </a:ext>
            </a:extLst>
          </p:cNvPr>
          <p:cNvGrpSpPr/>
          <p:nvPr/>
        </p:nvGrpSpPr>
        <p:grpSpPr>
          <a:xfrm>
            <a:off x="6124701" y="2958793"/>
            <a:ext cx="4227615" cy="926275"/>
            <a:chOff x="2185060" y="1205798"/>
            <a:chExt cx="4322618" cy="926275"/>
          </a:xfrm>
        </p:grpSpPr>
        <p:sp>
          <p:nvSpPr>
            <p:cNvPr id="257" name="Rounded Rectangle 63">
              <a:extLst>
                <a:ext uri="{FF2B5EF4-FFF2-40B4-BE49-F238E27FC236}">
                  <a16:creationId xmlns:a16="http://schemas.microsoft.com/office/drawing/2014/main" id="{0353A3A4-0C85-4CD5-821B-D14048016910}"/>
                </a:ext>
              </a:extLst>
            </p:cNvPr>
            <p:cNvSpPr/>
            <p:nvPr/>
          </p:nvSpPr>
          <p:spPr>
            <a:xfrm>
              <a:off x="2185060" y="1205798"/>
              <a:ext cx="4322618" cy="926275"/>
            </a:xfrm>
            <a:prstGeom prst="roundRect">
              <a:avLst>
                <a:gd name="adj" fmla="val 28082"/>
              </a:avLst>
            </a:prstGeom>
            <a:gradFill flip="none" rotWithShape="1">
              <a:gsLst>
                <a:gs pos="100000">
                  <a:srgbClr val="A50021">
                    <a:tint val="66000"/>
                    <a:satMod val="160000"/>
                  </a:srgbClr>
                </a:gs>
                <a:gs pos="50000">
                  <a:srgbClr val="A50021">
                    <a:tint val="44500"/>
                    <a:satMod val="160000"/>
                  </a:srgbClr>
                </a:gs>
                <a:gs pos="100000">
                  <a:srgbClr val="A50021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000">
                <a:latin typeface="Arial" pitchFamily="34" charset="0"/>
                <a:cs typeface="Arial" pitchFamily="34" charset="0"/>
              </a:endParaRPr>
            </a:p>
          </p:txBody>
        </p:sp>
        <p:grpSp>
          <p:nvGrpSpPr>
            <p:cNvPr id="258" name="Group 42">
              <a:extLst>
                <a:ext uri="{FF2B5EF4-FFF2-40B4-BE49-F238E27FC236}">
                  <a16:creationId xmlns:a16="http://schemas.microsoft.com/office/drawing/2014/main" id="{872F607F-B1C9-4514-ABDD-4A2975A05C26}"/>
                </a:ext>
              </a:extLst>
            </p:cNvPr>
            <p:cNvGrpSpPr/>
            <p:nvPr/>
          </p:nvGrpSpPr>
          <p:grpSpPr>
            <a:xfrm>
              <a:off x="2192141" y="1438103"/>
              <a:ext cx="4176994" cy="400110"/>
              <a:chOff x="2109014" y="1361228"/>
              <a:chExt cx="4176994" cy="400110"/>
            </a:xfrm>
          </p:grpSpPr>
          <p:sp>
            <p:nvSpPr>
              <p:cNvPr id="259" name="TextBox 258">
                <a:extLst>
                  <a:ext uri="{FF2B5EF4-FFF2-40B4-BE49-F238E27FC236}">
                    <a16:creationId xmlns:a16="http://schemas.microsoft.com/office/drawing/2014/main" id="{97E57279-6088-411C-97E3-4FBD329FB4A0}"/>
                  </a:ext>
                </a:extLst>
              </p:cNvPr>
              <p:cNvSpPr txBox="1"/>
              <p:nvPr/>
            </p:nvSpPr>
            <p:spPr>
              <a:xfrm>
                <a:off x="3978911" y="1361228"/>
                <a:ext cx="230709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2000" b="1" dirty="0">
                    <a:latin typeface="Arial" pitchFamily="34" charset="0"/>
                    <a:cs typeface="Arial" pitchFamily="34" charset="0"/>
                  </a:rPr>
                  <a:t>Speed  x  Time</a:t>
                </a:r>
              </a:p>
            </p:txBody>
          </p:sp>
          <p:sp>
            <p:nvSpPr>
              <p:cNvPr id="260" name="TextBox 259">
                <a:extLst>
                  <a:ext uri="{FF2B5EF4-FFF2-40B4-BE49-F238E27FC236}">
                    <a16:creationId xmlns:a16="http://schemas.microsoft.com/office/drawing/2014/main" id="{5D1F9A33-5FDC-4E0E-8355-64E97FC24DD0}"/>
                  </a:ext>
                </a:extLst>
              </p:cNvPr>
              <p:cNvSpPr txBox="1"/>
              <p:nvPr/>
            </p:nvSpPr>
            <p:spPr>
              <a:xfrm>
                <a:off x="2109014" y="1361228"/>
                <a:ext cx="197917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GB" sz="2000" b="1" dirty="0">
                    <a:latin typeface="Arial" pitchFamily="34" charset="0"/>
                    <a:cs typeface="Arial" pitchFamily="34" charset="0"/>
                  </a:rPr>
                  <a:t>Distance    =</a:t>
                </a:r>
              </a:p>
            </p:txBody>
          </p:sp>
        </p:grpSp>
      </p:grpSp>
      <p:sp>
        <p:nvSpPr>
          <p:cNvPr id="261" name="TextBox 260">
            <a:extLst>
              <a:ext uri="{FF2B5EF4-FFF2-40B4-BE49-F238E27FC236}">
                <a16:creationId xmlns:a16="http://schemas.microsoft.com/office/drawing/2014/main" id="{8503CB08-F392-479A-BC5B-74A2B07E5957}"/>
              </a:ext>
            </a:extLst>
          </p:cNvPr>
          <p:cNvSpPr txBox="1"/>
          <p:nvPr/>
        </p:nvSpPr>
        <p:spPr>
          <a:xfrm>
            <a:off x="2081554" y="4801057"/>
            <a:ext cx="80288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latin typeface="Arial" pitchFamily="34" charset="0"/>
                <a:cs typeface="Arial" pitchFamily="34" charset="0"/>
              </a:rPr>
              <a:t>If we have the units of distance in </a:t>
            </a:r>
            <a:r>
              <a:rPr lang="en-GB" b="1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kilometres</a:t>
            </a:r>
            <a:r>
              <a:rPr lang="en-GB" b="1" dirty="0">
                <a:latin typeface="Arial" pitchFamily="34" charset="0"/>
                <a:cs typeface="Arial" pitchFamily="34" charset="0"/>
              </a:rPr>
              <a:t> (km) and the time in</a:t>
            </a:r>
          </a:p>
          <a:p>
            <a:pPr algn="ctr"/>
            <a:r>
              <a:rPr lang="en-GB" b="1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hours </a:t>
            </a:r>
            <a:r>
              <a:rPr lang="en-GB" b="1" dirty="0">
                <a:latin typeface="Arial" pitchFamily="34" charset="0"/>
                <a:cs typeface="Arial" pitchFamily="34" charset="0"/>
              </a:rPr>
              <a:t>(hr), the units for speed are </a:t>
            </a:r>
            <a:r>
              <a:rPr lang="en-GB" b="1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km/hr</a:t>
            </a:r>
            <a:r>
              <a:rPr lang="en-GB" b="1" dirty="0">
                <a:latin typeface="Arial" pitchFamily="34" charset="0"/>
                <a:cs typeface="Arial" pitchFamily="34" charset="0"/>
              </a:rPr>
              <a:t>.</a:t>
            </a:r>
          </a:p>
        </p:txBody>
      </p:sp>
      <p:sp>
        <p:nvSpPr>
          <p:cNvPr id="262" name="TextBox 261">
            <a:extLst>
              <a:ext uri="{FF2B5EF4-FFF2-40B4-BE49-F238E27FC236}">
                <a16:creationId xmlns:a16="http://schemas.microsoft.com/office/drawing/2014/main" id="{D192AB17-CBF2-484F-9153-CBA18D402EF3}"/>
              </a:ext>
            </a:extLst>
          </p:cNvPr>
          <p:cNvSpPr txBox="1"/>
          <p:nvPr/>
        </p:nvSpPr>
        <p:spPr>
          <a:xfrm>
            <a:off x="2081554" y="5508926"/>
            <a:ext cx="80288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latin typeface="Arial" pitchFamily="34" charset="0"/>
                <a:cs typeface="Arial" pitchFamily="34" charset="0"/>
              </a:rPr>
              <a:t>If we have the units of distance in </a:t>
            </a:r>
            <a:r>
              <a:rPr lang="en-GB" b="1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metres</a:t>
            </a:r>
            <a:r>
              <a:rPr lang="en-GB" b="1" dirty="0">
                <a:latin typeface="Arial" pitchFamily="34" charset="0"/>
                <a:cs typeface="Arial" pitchFamily="34" charset="0"/>
              </a:rPr>
              <a:t> (m) and the time in</a:t>
            </a:r>
          </a:p>
          <a:p>
            <a:pPr algn="ctr"/>
            <a:r>
              <a:rPr lang="en-GB" b="1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seconds </a:t>
            </a:r>
            <a:r>
              <a:rPr lang="en-GB" b="1" dirty="0">
                <a:latin typeface="Arial" pitchFamily="34" charset="0"/>
                <a:cs typeface="Arial" pitchFamily="34" charset="0"/>
              </a:rPr>
              <a:t>(s), the units for speed are </a:t>
            </a:r>
            <a:r>
              <a:rPr lang="en-GB" b="1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m/s</a:t>
            </a:r>
            <a:r>
              <a:rPr lang="en-GB" b="1" dirty="0">
                <a:latin typeface="Arial" pitchFamily="34" charset="0"/>
                <a:cs typeface="Arial" pitchFamily="34" charset="0"/>
              </a:rPr>
              <a:t>.</a:t>
            </a:r>
          </a:p>
        </p:txBody>
      </p:sp>
      <p:sp>
        <p:nvSpPr>
          <p:cNvPr id="263" name="TextBox 262">
            <a:extLst>
              <a:ext uri="{FF2B5EF4-FFF2-40B4-BE49-F238E27FC236}">
                <a16:creationId xmlns:a16="http://schemas.microsoft.com/office/drawing/2014/main" id="{84F65E77-5FFF-4745-B57C-615A79136508}"/>
              </a:ext>
            </a:extLst>
          </p:cNvPr>
          <p:cNvSpPr txBox="1"/>
          <p:nvPr/>
        </p:nvSpPr>
        <p:spPr>
          <a:xfrm>
            <a:off x="2081554" y="4277853"/>
            <a:ext cx="80288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Units for Speed:</a:t>
            </a:r>
          </a:p>
        </p:txBody>
      </p:sp>
    </p:spTree>
    <p:extLst>
      <p:ext uri="{BB962C8B-B14F-4D97-AF65-F5344CB8AC3E}">
        <p14:creationId xmlns:p14="http://schemas.microsoft.com/office/powerpoint/2010/main" val="35436372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000"/>
                                        <p:tgtEl>
                                          <p:spTgt spid="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2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2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8" grpId="0" animBg="1"/>
      <p:bldP spid="239" grpId="0" animBg="1"/>
      <p:bldP spid="240" grpId="0"/>
      <p:bldP spid="248" grpId="0"/>
      <p:bldP spid="261" grpId="0"/>
      <p:bldP spid="262" grpId="0"/>
      <p:bldP spid="26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Rounded Rectangle 45">
            <a:extLst>
              <a:ext uri="{FF2B5EF4-FFF2-40B4-BE49-F238E27FC236}">
                <a16:creationId xmlns:a16="http://schemas.microsoft.com/office/drawing/2014/main" id="{A84E93F7-86F8-4CEA-9750-5E396CAA83C6}"/>
              </a:ext>
            </a:extLst>
          </p:cNvPr>
          <p:cNvSpPr/>
          <p:nvPr/>
        </p:nvSpPr>
        <p:spPr>
          <a:xfrm>
            <a:off x="2206819" y="1185249"/>
            <a:ext cx="8598976" cy="4963885"/>
          </a:xfrm>
          <a:prstGeom prst="roundRect">
            <a:avLst>
              <a:gd name="adj" fmla="val 713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214" name="Group 15">
            <a:extLst>
              <a:ext uri="{FF2B5EF4-FFF2-40B4-BE49-F238E27FC236}">
                <a16:creationId xmlns:a16="http://schemas.microsoft.com/office/drawing/2014/main" id="{8EBFC924-A9E8-4A6C-AA47-9904FB3A6481}"/>
              </a:ext>
            </a:extLst>
          </p:cNvPr>
          <p:cNvGrpSpPr/>
          <p:nvPr/>
        </p:nvGrpSpPr>
        <p:grpSpPr>
          <a:xfrm>
            <a:off x="2516198" y="371308"/>
            <a:ext cx="7980218" cy="504056"/>
            <a:chOff x="395536" y="1409582"/>
            <a:chExt cx="5544616" cy="504056"/>
          </a:xfrm>
        </p:grpSpPr>
        <p:sp>
          <p:nvSpPr>
            <p:cNvPr id="215" name="Rounded Rectangle 14">
              <a:extLst>
                <a:ext uri="{FF2B5EF4-FFF2-40B4-BE49-F238E27FC236}">
                  <a16:creationId xmlns:a16="http://schemas.microsoft.com/office/drawing/2014/main" id="{54D824FA-5DD2-4994-A042-74CE8F66E4C7}"/>
                </a:ext>
              </a:extLst>
            </p:cNvPr>
            <p:cNvSpPr/>
            <p:nvPr/>
          </p:nvSpPr>
          <p:spPr>
            <a:xfrm>
              <a:off x="395536" y="1409582"/>
              <a:ext cx="5544616" cy="504056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100000">
                  <a:srgbClr val="A50021">
                    <a:tint val="66000"/>
                    <a:satMod val="160000"/>
                  </a:srgbClr>
                </a:gs>
                <a:gs pos="50000">
                  <a:srgbClr val="A50021">
                    <a:tint val="44500"/>
                    <a:satMod val="160000"/>
                  </a:srgbClr>
                </a:gs>
                <a:gs pos="100000">
                  <a:srgbClr val="A50021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16" name="TextBox 215">
              <a:extLst>
                <a:ext uri="{FF2B5EF4-FFF2-40B4-BE49-F238E27FC236}">
                  <a16:creationId xmlns:a16="http://schemas.microsoft.com/office/drawing/2014/main" id="{C2CF8AA6-E9D3-4DB7-905D-202EE58AD96C}"/>
                </a:ext>
              </a:extLst>
            </p:cNvPr>
            <p:cNvSpPr txBox="1"/>
            <p:nvPr/>
          </p:nvSpPr>
          <p:spPr>
            <a:xfrm>
              <a:off x="539551" y="1430778"/>
              <a:ext cx="525658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2400" b="1" dirty="0">
                  <a:latin typeface="Arial" pitchFamily="34" charset="0"/>
                  <a:cs typeface="Arial" pitchFamily="34" charset="0"/>
                </a:rPr>
                <a:t>Calculating the Speed</a:t>
              </a:r>
            </a:p>
          </p:txBody>
        </p:sp>
      </p:grpSp>
      <p:grpSp>
        <p:nvGrpSpPr>
          <p:cNvPr id="217" name="Group 15">
            <a:extLst>
              <a:ext uri="{FF2B5EF4-FFF2-40B4-BE49-F238E27FC236}">
                <a16:creationId xmlns:a16="http://schemas.microsoft.com/office/drawing/2014/main" id="{4FF9E74D-6992-426D-AC46-CA43A680A97F}"/>
              </a:ext>
            </a:extLst>
          </p:cNvPr>
          <p:cNvGrpSpPr/>
          <p:nvPr/>
        </p:nvGrpSpPr>
        <p:grpSpPr>
          <a:xfrm>
            <a:off x="5069389" y="5131972"/>
            <a:ext cx="5497618" cy="504056"/>
            <a:chOff x="395536" y="1409582"/>
            <a:chExt cx="5544616" cy="504056"/>
          </a:xfrm>
        </p:grpSpPr>
        <p:sp>
          <p:nvSpPr>
            <p:cNvPr id="218" name="Rounded Rectangle 80">
              <a:extLst>
                <a:ext uri="{FF2B5EF4-FFF2-40B4-BE49-F238E27FC236}">
                  <a16:creationId xmlns:a16="http://schemas.microsoft.com/office/drawing/2014/main" id="{D1FBFE01-60B6-41FE-81C2-83C98210BDFB}"/>
                </a:ext>
              </a:extLst>
            </p:cNvPr>
            <p:cNvSpPr/>
            <p:nvPr/>
          </p:nvSpPr>
          <p:spPr>
            <a:xfrm>
              <a:off x="395536" y="1409582"/>
              <a:ext cx="5544616" cy="504056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A50021">
                    <a:tint val="66000"/>
                    <a:satMod val="160000"/>
                  </a:srgbClr>
                </a:gs>
                <a:gs pos="50000">
                  <a:srgbClr val="A50021">
                    <a:tint val="44500"/>
                    <a:satMod val="160000"/>
                  </a:srgbClr>
                </a:gs>
                <a:gs pos="100000">
                  <a:srgbClr val="A50021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19" name="TextBox 218">
              <a:extLst>
                <a:ext uri="{FF2B5EF4-FFF2-40B4-BE49-F238E27FC236}">
                  <a16:creationId xmlns:a16="http://schemas.microsoft.com/office/drawing/2014/main" id="{0B2B6DC4-3776-454E-8F3F-272ADA3ECEFA}"/>
                </a:ext>
              </a:extLst>
            </p:cNvPr>
            <p:cNvSpPr txBox="1"/>
            <p:nvPr/>
          </p:nvSpPr>
          <p:spPr>
            <a:xfrm>
              <a:off x="539551" y="1430778"/>
              <a:ext cx="525658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2400" b="1" dirty="0">
                  <a:latin typeface="Arial" pitchFamily="34" charset="0"/>
                  <a:cs typeface="Arial" pitchFamily="34" charset="0"/>
                </a:rPr>
                <a:t>Speed   =   70 km/hr</a:t>
              </a:r>
            </a:p>
          </p:txBody>
        </p:sp>
      </p:grpSp>
      <p:grpSp>
        <p:nvGrpSpPr>
          <p:cNvPr id="220" name="Group 42">
            <a:extLst>
              <a:ext uri="{FF2B5EF4-FFF2-40B4-BE49-F238E27FC236}">
                <a16:creationId xmlns:a16="http://schemas.microsoft.com/office/drawing/2014/main" id="{754A4522-486C-48E0-B6C7-9680E78DE297}"/>
              </a:ext>
            </a:extLst>
          </p:cNvPr>
          <p:cNvGrpSpPr/>
          <p:nvPr/>
        </p:nvGrpSpPr>
        <p:grpSpPr>
          <a:xfrm>
            <a:off x="2494825" y="1315465"/>
            <a:ext cx="8022964" cy="584775"/>
            <a:chOff x="551020" y="1531494"/>
            <a:chExt cx="8022964" cy="584775"/>
          </a:xfrm>
        </p:grpSpPr>
        <p:sp>
          <p:nvSpPr>
            <p:cNvPr id="221" name="TextBox 220">
              <a:extLst>
                <a:ext uri="{FF2B5EF4-FFF2-40B4-BE49-F238E27FC236}">
                  <a16:creationId xmlns:a16="http://schemas.microsoft.com/office/drawing/2014/main" id="{9B0D8544-9C1A-406F-ACE2-BCA33F645F27}"/>
                </a:ext>
              </a:extLst>
            </p:cNvPr>
            <p:cNvSpPr txBox="1"/>
            <p:nvPr/>
          </p:nvSpPr>
          <p:spPr>
            <a:xfrm>
              <a:off x="551020" y="1531494"/>
              <a:ext cx="153903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600" dirty="0">
                  <a:latin typeface="Arial" pitchFamily="34" charset="0"/>
                  <a:cs typeface="Arial" pitchFamily="34" charset="0"/>
                </a:rPr>
                <a:t>Example 1:</a:t>
              </a:r>
              <a:endParaRPr lang="en-GB" sz="1600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22" name="TextBox 221">
              <a:extLst>
                <a:ext uri="{FF2B5EF4-FFF2-40B4-BE49-F238E27FC236}">
                  <a16:creationId xmlns:a16="http://schemas.microsoft.com/office/drawing/2014/main" id="{578E8006-F438-4D46-86D3-A313875E1497}"/>
                </a:ext>
              </a:extLst>
            </p:cNvPr>
            <p:cNvSpPr txBox="1"/>
            <p:nvPr/>
          </p:nvSpPr>
          <p:spPr>
            <a:xfrm>
              <a:off x="1890953" y="1531494"/>
              <a:ext cx="668303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600" b="1" dirty="0">
                  <a:latin typeface="Arial" pitchFamily="34" charset="0"/>
                  <a:cs typeface="Arial" pitchFamily="34" charset="0"/>
                </a:rPr>
                <a:t>A train travelled 210 kilometres in 3 hours.</a:t>
              </a:r>
            </a:p>
            <a:p>
              <a:r>
                <a:rPr lang="en-GB" sz="1600" b="1" dirty="0">
                  <a:latin typeface="Arial" pitchFamily="34" charset="0"/>
                  <a:cs typeface="Arial" pitchFamily="34" charset="0"/>
                </a:rPr>
                <a:t>Calculate the average speed for the journey.</a:t>
              </a:r>
            </a:p>
          </p:txBody>
        </p:sp>
      </p:grpSp>
      <p:grpSp>
        <p:nvGrpSpPr>
          <p:cNvPr id="223" name="Group 44">
            <a:extLst>
              <a:ext uri="{FF2B5EF4-FFF2-40B4-BE49-F238E27FC236}">
                <a16:creationId xmlns:a16="http://schemas.microsoft.com/office/drawing/2014/main" id="{07E8398D-1B6A-493E-AF99-A29375798A10}"/>
              </a:ext>
            </a:extLst>
          </p:cNvPr>
          <p:cNvGrpSpPr/>
          <p:nvPr/>
        </p:nvGrpSpPr>
        <p:grpSpPr>
          <a:xfrm>
            <a:off x="5698750" y="2319788"/>
            <a:ext cx="4227615" cy="926275"/>
            <a:chOff x="2185060" y="1205798"/>
            <a:chExt cx="4322618" cy="926275"/>
          </a:xfrm>
        </p:grpSpPr>
        <p:sp>
          <p:nvSpPr>
            <p:cNvPr id="224" name="Rounded Rectangle 46">
              <a:extLst>
                <a:ext uri="{FF2B5EF4-FFF2-40B4-BE49-F238E27FC236}">
                  <a16:creationId xmlns:a16="http://schemas.microsoft.com/office/drawing/2014/main" id="{CC444AD0-A7A5-4D66-8C1B-209F2C4119E2}"/>
                </a:ext>
              </a:extLst>
            </p:cNvPr>
            <p:cNvSpPr/>
            <p:nvPr/>
          </p:nvSpPr>
          <p:spPr>
            <a:xfrm>
              <a:off x="2185060" y="1205798"/>
              <a:ext cx="4322618" cy="926275"/>
            </a:xfrm>
            <a:prstGeom prst="roundRect">
              <a:avLst>
                <a:gd name="adj" fmla="val 28082"/>
              </a:avLst>
            </a:prstGeom>
            <a:gradFill flip="none" rotWithShape="1">
              <a:gsLst>
                <a:gs pos="0">
                  <a:srgbClr val="A50021">
                    <a:tint val="66000"/>
                    <a:satMod val="160000"/>
                  </a:srgbClr>
                </a:gs>
                <a:gs pos="50000">
                  <a:srgbClr val="A50021">
                    <a:tint val="44500"/>
                    <a:satMod val="160000"/>
                  </a:srgbClr>
                </a:gs>
                <a:gs pos="100000">
                  <a:srgbClr val="A50021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000">
                <a:latin typeface="Arial" pitchFamily="34" charset="0"/>
                <a:cs typeface="Arial" pitchFamily="34" charset="0"/>
              </a:endParaRPr>
            </a:p>
          </p:txBody>
        </p:sp>
        <p:grpSp>
          <p:nvGrpSpPr>
            <p:cNvPr id="225" name="Group 42">
              <a:extLst>
                <a:ext uri="{FF2B5EF4-FFF2-40B4-BE49-F238E27FC236}">
                  <a16:creationId xmlns:a16="http://schemas.microsoft.com/office/drawing/2014/main" id="{CF2D007B-D06F-47DB-A29B-DF27B1C1D09A}"/>
                </a:ext>
              </a:extLst>
            </p:cNvPr>
            <p:cNvGrpSpPr/>
            <p:nvPr/>
          </p:nvGrpSpPr>
          <p:grpSpPr>
            <a:xfrm>
              <a:off x="2469535" y="1300937"/>
              <a:ext cx="3705100" cy="707886"/>
              <a:chOff x="2386408" y="1224062"/>
              <a:chExt cx="3705100" cy="707886"/>
            </a:xfrm>
          </p:grpSpPr>
          <p:grpSp>
            <p:nvGrpSpPr>
              <p:cNvPr id="226" name="Group 40">
                <a:extLst>
                  <a:ext uri="{FF2B5EF4-FFF2-40B4-BE49-F238E27FC236}">
                    <a16:creationId xmlns:a16="http://schemas.microsoft.com/office/drawing/2014/main" id="{019B189C-0A61-46CB-B3FF-224FD8766796}"/>
                  </a:ext>
                </a:extLst>
              </p:cNvPr>
              <p:cNvGrpSpPr/>
              <p:nvPr/>
            </p:nvGrpSpPr>
            <p:grpSpPr>
              <a:xfrm>
                <a:off x="4428963" y="1224062"/>
                <a:ext cx="1662545" cy="707886"/>
                <a:chOff x="4428963" y="1224062"/>
                <a:chExt cx="1662545" cy="707886"/>
              </a:xfrm>
            </p:grpSpPr>
            <p:sp>
              <p:nvSpPr>
                <p:cNvPr id="228" name="TextBox 227">
                  <a:extLst>
                    <a:ext uri="{FF2B5EF4-FFF2-40B4-BE49-F238E27FC236}">
                      <a16:creationId xmlns:a16="http://schemas.microsoft.com/office/drawing/2014/main" id="{E70B9CBE-67F4-4A03-98F1-1F880D284743}"/>
                    </a:ext>
                  </a:extLst>
                </p:cNvPr>
                <p:cNvSpPr txBox="1"/>
                <p:nvPr/>
              </p:nvSpPr>
              <p:spPr>
                <a:xfrm>
                  <a:off x="4428963" y="1224062"/>
                  <a:ext cx="1662545" cy="70788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GB" sz="2000" b="1" dirty="0">
                      <a:latin typeface="Arial" pitchFamily="34" charset="0"/>
                      <a:cs typeface="Arial" pitchFamily="34" charset="0"/>
                    </a:rPr>
                    <a:t>Distance</a:t>
                  </a:r>
                </a:p>
                <a:p>
                  <a:pPr algn="ctr"/>
                  <a:r>
                    <a:rPr lang="en-GB" sz="2000" b="1" dirty="0">
                      <a:latin typeface="Arial" pitchFamily="34" charset="0"/>
                      <a:cs typeface="Arial" pitchFamily="34" charset="0"/>
                    </a:rPr>
                    <a:t>Time</a:t>
                  </a:r>
                </a:p>
              </p:txBody>
            </p:sp>
            <p:cxnSp>
              <p:nvCxnSpPr>
                <p:cNvPr id="229" name="Straight Connector 228">
                  <a:extLst>
                    <a:ext uri="{FF2B5EF4-FFF2-40B4-BE49-F238E27FC236}">
                      <a16:creationId xmlns:a16="http://schemas.microsoft.com/office/drawing/2014/main" id="{9C5E0D02-C9A0-41FD-9563-EFD36C0B4AC4}"/>
                    </a:ext>
                  </a:extLst>
                </p:cNvPr>
                <p:cNvCxnSpPr/>
                <p:nvPr/>
              </p:nvCxnSpPr>
              <p:spPr>
                <a:xfrm>
                  <a:off x="4654327" y="1567543"/>
                  <a:ext cx="1187533" cy="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27" name="TextBox 226">
                <a:extLst>
                  <a:ext uri="{FF2B5EF4-FFF2-40B4-BE49-F238E27FC236}">
                    <a16:creationId xmlns:a16="http://schemas.microsoft.com/office/drawing/2014/main" id="{C8736F9C-3DAF-4841-8F03-5D6D6F963593}"/>
                  </a:ext>
                </a:extLst>
              </p:cNvPr>
              <p:cNvSpPr txBox="1"/>
              <p:nvPr/>
            </p:nvSpPr>
            <p:spPr>
              <a:xfrm>
                <a:off x="2386408" y="1361228"/>
                <a:ext cx="190005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GB" sz="2000" b="1" dirty="0">
                    <a:latin typeface="Arial" pitchFamily="34" charset="0"/>
                    <a:cs typeface="Arial" pitchFamily="34" charset="0"/>
                  </a:rPr>
                  <a:t>Speed    =</a:t>
                </a:r>
              </a:p>
            </p:txBody>
          </p:sp>
        </p:grpSp>
      </p:grpSp>
      <p:grpSp>
        <p:nvGrpSpPr>
          <p:cNvPr id="230" name="Group 42">
            <a:extLst>
              <a:ext uri="{FF2B5EF4-FFF2-40B4-BE49-F238E27FC236}">
                <a16:creationId xmlns:a16="http://schemas.microsoft.com/office/drawing/2014/main" id="{64153AA7-2576-4C50-84E1-4344C80E324B}"/>
              </a:ext>
            </a:extLst>
          </p:cNvPr>
          <p:cNvGrpSpPr/>
          <p:nvPr/>
        </p:nvGrpSpPr>
        <p:grpSpPr>
          <a:xfrm>
            <a:off x="6095726" y="3744963"/>
            <a:ext cx="3623669" cy="707886"/>
            <a:chOff x="2386408" y="1224062"/>
            <a:chExt cx="3705100" cy="707886"/>
          </a:xfrm>
        </p:grpSpPr>
        <p:grpSp>
          <p:nvGrpSpPr>
            <p:cNvPr id="231" name="Group 40">
              <a:extLst>
                <a:ext uri="{FF2B5EF4-FFF2-40B4-BE49-F238E27FC236}">
                  <a16:creationId xmlns:a16="http://schemas.microsoft.com/office/drawing/2014/main" id="{6A611E42-8F6F-41A3-A01D-8AFBC45D1CB2}"/>
                </a:ext>
              </a:extLst>
            </p:cNvPr>
            <p:cNvGrpSpPr/>
            <p:nvPr/>
          </p:nvGrpSpPr>
          <p:grpSpPr>
            <a:xfrm>
              <a:off x="4428963" y="1224062"/>
              <a:ext cx="1662545" cy="707886"/>
              <a:chOff x="4428963" y="1224062"/>
              <a:chExt cx="1662545" cy="707886"/>
            </a:xfrm>
          </p:grpSpPr>
          <p:sp>
            <p:nvSpPr>
              <p:cNvPr id="233" name="TextBox 232">
                <a:extLst>
                  <a:ext uri="{FF2B5EF4-FFF2-40B4-BE49-F238E27FC236}">
                    <a16:creationId xmlns:a16="http://schemas.microsoft.com/office/drawing/2014/main" id="{2B38D6A9-5184-4F8B-BD7F-1FE731851168}"/>
                  </a:ext>
                </a:extLst>
              </p:cNvPr>
              <p:cNvSpPr txBox="1"/>
              <p:nvPr/>
            </p:nvSpPr>
            <p:spPr>
              <a:xfrm>
                <a:off x="4428963" y="1224062"/>
                <a:ext cx="1662545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2000" b="1" dirty="0">
                    <a:latin typeface="Arial" pitchFamily="34" charset="0"/>
                    <a:cs typeface="Arial" pitchFamily="34" charset="0"/>
                  </a:rPr>
                  <a:t>210</a:t>
                </a:r>
              </a:p>
              <a:p>
                <a:pPr algn="ctr"/>
                <a:r>
                  <a:rPr lang="en-GB" sz="2000" b="1" dirty="0">
                    <a:latin typeface="Arial" pitchFamily="34" charset="0"/>
                    <a:cs typeface="Arial" pitchFamily="34" charset="0"/>
                  </a:rPr>
                  <a:t>3</a:t>
                </a:r>
              </a:p>
            </p:txBody>
          </p:sp>
          <p:cxnSp>
            <p:nvCxnSpPr>
              <p:cNvPr id="234" name="Straight Connector 233">
                <a:extLst>
                  <a:ext uri="{FF2B5EF4-FFF2-40B4-BE49-F238E27FC236}">
                    <a16:creationId xmlns:a16="http://schemas.microsoft.com/office/drawing/2014/main" id="{26CD8C64-B88E-40BE-9ADC-ABA43938A713}"/>
                  </a:ext>
                </a:extLst>
              </p:cNvPr>
              <p:cNvCxnSpPr/>
              <p:nvPr/>
            </p:nvCxnSpPr>
            <p:spPr>
              <a:xfrm>
                <a:off x="4962752" y="1567543"/>
                <a:ext cx="594967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32" name="TextBox 231">
              <a:extLst>
                <a:ext uri="{FF2B5EF4-FFF2-40B4-BE49-F238E27FC236}">
                  <a16:creationId xmlns:a16="http://schemas.microsoft.com/office/drawing/2014/main" id="{BFF83658-DC79-45DB-AD5F-ADC7AA355290}"/>
                </a:ext>
              </a:extLst>
            </p:cNvPr>
            <p:cNvSpPr txBox="1"/>
            <p:nvPr/>
          </p:nvSpPr>
          <p:spPr>
            <a:xfrm>
              <a:off x="2386408" y="1361228"/>
              <a:ext cx="190005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GB" sz="2000" b="1" dirty="0">
                  <a:latin typeface="Arial" pitchFamily="34" charset="0"/>
                  <a:cs typeface="Arial" pitchFamily="34" charset="0"/>
                </a:rPr>
                <a:t>Speed     =</a:t>
              </a:r>
            </a:p>
          </p:txBody>
        </p:sp>
      </p:grpSp>
      <p:grpSp>
        <p:nvGrpSpPr>
          <p:cNvPr id="235" name="Group 90">
            <a:extLst>
              <a:ext uri="{FF2B5EF4-FFF2-40B4-BE49-F238E27FC236}">
                <a16:creationId xmlns:a16="http://schemas.microsoft.com/office/drawing/2014/main" id="{F8D92ED3-D59A-405F-94B1-9F3671900CC1}"/>
              </a:ext>
            </a:extLst>
          </p:cNvPr>
          <p:cNvGrpSpPr/>
          <p:nvPr/>
        </p:nvGrpSpPr>
        <p:grpSpPr>
          <a:xfrm rot="10800000">
            <a:off x="2515199" y="3756701"/>
            <a:ext cx="2208811" cy="712519"/>
            <a:chOff x="6531426" y="3740726"/>
            <a:chExt cx="2208811" cy="712519"/>
          </a:xfrm>
        </p:grpSpPr>
        <p:sp>
          <p:nvSpPr>
            <p:cNvPr id="236" name="Pentagon 91">
              <a:extLst>
                <a:ext uri="{FF2B5EF4-FFF2-40B4-BE49-F238E27FC236}">
                  <a16:creationId xmlns:a16="http://schemas.microsoft.com/office/drawing/2014/main" id="{697804FC-AA9B-4072-A397-DF307F0E1E60}"/>
                </a:ext>
              </a:extLst>
            </p:cNvPr>
            <p:cNvSpPr/>
            <p:nvPr/>
          </p:nvSpPr>
          <p:spPr>
            <a:xfrm rot="10800000">
              <a:off x="6531426" y="3740726"/>
              <a:ext cx="2208811" cy="712519"/>
            </a:xfrm>
            <a:prstGeom prst="homePlate">
              <a:avLst/>
            </a:prstGeom>
            <a:gradFill flip="none" rotWithShape="1">
              <a:gsLst>
                <a:gs pos="0">
                  <a:schemeClr val="accent2">
                    <a:tint val="66000"/>
                    <a:satMod val="160000"/>
                  </a:schemeClr>
                </a:gs>
                <a:gs pos="50000">
                  <a:schemeClr val="accent2">
                    <a:tint val="44500"/>
                    <a:satMod val="160000"/>
                  </a:schemeClr>
                </a:gs>
                <a:gs pos="100000">
                  <a:schemeClr val="accent2">
                    <a:tint val="23500"/>
                    <a:satMod val="1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0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37" name="TextBox 236">
              <a:extLst>
                <a:ext uri="{FF2B5EF4-FFF2-40B4-BE49-F238E27FC236}">
                  <a16:creationId xmlns:a16="http://schemas.microsoft.com/office/drawing/2014/main" id="{FB4E9A3D-BDC6-4395-9A6D-A5790ED888B6}"/>
                </a:ext>
              </a:extLst>
            </p:cNvPr>
            <p:cNvSpPr txBox="1"/>
            <p:nvPr/>
          </p:nvSpPr>
          <p:spPr>
            <a:xfrm rot="10800000">
              <a:off x="6777451" y="3804598"/>
              <a:ext cx="194482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600" b="1" dirty="0">
                  <a:solidFill>
                    <a:srgbClr val="800000"/>
                  </a:solidFill>
                  <a:latin typeface="Arial" pitchFamily="34" charset="0"/>
                  <a:cs typeface="Arial" pitchFamily="34" charset="0"/>
                </a:rPr>
                <a:t>Put numbers</a:t>
              </a:r>
            </a:p>
            <a:p>
              <a:pPr algn="ctr"/>
              <a:r>
                <a:rPr lang="en-GB" sz="1600" b="1" dirty="0">
                  <a:solidFill>
                    <a:srgbClr val="800000"/>
                  </a:solidFill>
                  <a:latin typeface="Arial" pitchFamily="34" charset="0"/>
                  <a:cs typeface="Arial" pitchFamily="34" charset="0"/>
                </a:rPr>
                <a:t>into formula</a:t>
              </a:r>
            </a:p>
          </p:txBody>
        </p:sp>
      </p:grpSp>
      <p:grpSp>
        <p:nvGrpSpPr>
          <p:cNvPr id="433" name="Group 96">
            <a:extLst>
              <a:ext uri="{FF2B5EF4-FFF2-40B4-BE49-F238E27FC236}">
                <a16:creationId xmlns:a16="http://schemas.microsoft.com/office/drawing/2014/main" id="{A82E3ED3-F41A-4DD8-BA26-E1CA8DACAB37}"/>
              </a:ext>
            </a:extLst>
          </p:cNvPr>
          <p:cNvGrpSpPr/>
          <p:nvPr/>
        </p:nvGrpSpPr>
        <p:grpSpPr>
          <a:xfrm rot="10800000">
            <a:off x="2515199" y="5027741"/>
            <a:ext cx="2208811" cy="712519"/>
            <a:chOff x="6531426" y="3740726"/>
            <a:chExt cx="2208811" cy="712519"/>
          </a:xfrm>
        </p:grpSpPr>
        <p:sp>
          <p:nvSpPr>
            <p:cNvPr id="434" name="Pentagon 97">
              <a:extLst>
                <a:ext uri="{FF2B5EF4-FFF2-40B4-BE49-F238E27FC236}">
                  <a16:creationId xmlns:a16="http://schemas.microsoft.com/office/drawing/2014/main" id="{547E9912-7183-4997-BFCF-D68F19BA352B}"/>
                </a:ext>
              </a:extLst>
            </p:cNvPr>
            <p:cNvSpPr/>
            <p:nvPr/>
          </p:nvSpPr>
          <p:spPr>
            <a:xfrm rot="10800000">
              <a:off x="6531426" y="3740726"/>
              <a:ext cx="2208811" cy="712519"/>
            </a:xfrm>
            <a:prstGeom prst="homePlate">
              <a:avLst/>
            </a:prstGeom>
            <a:gradFill flip="none" rotWithShape="1">
              <a:gsLst>
                <a:gs pos="0">
                  <a:schemeClr val="accent2">
                    <a:tint val="66000"/>
                    <a:satMod val="160000"/>
                  </a:schemeClr>
                </a:gs>
                <a:gs pos="50000">
                  <a:schemeClr val="accent2">
                    <a:tint val="44500"/>
                    <a:satMod val="160000"/>
                  </a:schemeClr>
                </a:gs>
                <a:gs pos="100000">
                  <a:schemeClr val="accent2">
                    <a:tint val="23500"/>
                    <a:satMod val="1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0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435" name="TextBox 434">
              <a:extLst>
                <a:ext uri="{FF2B5EF4-FFF2-40B4-BE49-F238E27FC236}">
                  <a16:creationId xmlns:a16="http://schemas.microsoft.com/office/drawing/2014/main" id="{A401BAA1-D80B-4D51-B191-BBDA549E30B3}"/>
                </a:ext>
              </a:extLst>
            </p:cNvPr>
            <p:cNvSpPr txBox="1"/>
            <p:nvPr/>
          </p:nvSpPr>
          <p:spPr>
            <a:xfrm rot="10800000">
              <a:off x="6777451" y="3804598"/>
              <a:ext cx="194482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600" b="1" dirty="0">
                  <a:solidFill>
                    <a:srgbClr val="800000"/>
                  </a:solidFill>
                  <a:latin typeface="Arial" pitchFamily="34" charset="0"/>
                  <a:cs typeface="Arial" pitchFamily="34" charset="0"/>
                </a:rPr>
                <a:t>Work out</a:t>
              </a:r>
            </a:p>
            <a:p>
              <a:pPr algn="ctr"/>
              <a:r>
                <a:rPr lang="en-GB" sz="1600" b="1" dirty="0">
                  <a:solidFill>
                    <a:srgbClr val="800000"/>
                  </a:solidFill>
                  <a:latin typeface="Arial" pitchFamily="34" charset="0"/>
                  <a:cs typeface="Arial" pitchFamily="34" charset="0"/>
                </a:rPr>
                <a:t>210   ÷   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060929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10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0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Rounded Rectangle 45">
            <a:extLst>
              <a:ext uri="{FF2B5EF4-FFF2-40B4-BE49-F238E27FC236}">
                <a16:creationId xmlns:a16="http://schemas.microsoft.com/office/drawing/2014/main" id="{0C0E013A-1A53-4172-83B8-C6CF3233FB51}"/>
              </a:ext>
            </a:extLst>
          </p:cNvPr>
          <p:cNvSpPr/>
          <p:nvPr/>
        </p:nvSpPr>
        <p:spPr>
          <a:xfrm>
            <a:off x="2083727" y="1273172"/>
            <a:ext cx="8598976" cy="4963885"/>
          </a:xfrm>
          <a:prstGeom prst="roundRect">
            <a:avLst>
              <a:gd name="adj" fmla="val 713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224" name="Group 15">
            <a:extLst>
              <a:ext uri="{FF2B5EF4-FFF2-40B4-BE49-F238E27FC236}">
                <a16:creationId xmlns:a16="http://schemas.microsoft.com/office/drawing/2014/main" id="{1344AF42-C897-4922-8B3C-6E95743CB741}"/>
              </a:ext>
            </a:extLst>
          </p:cNvPr>
          <p:cNvGrpSpPr/>
          <p:nvPr/>
        </p:nvGrpSpPr>
        <p:grpSpPr>
          <a:xfrm>
            <a:off x="2393106" y="459231"/>
            <a:ext cx="7980218" cy="504056"/>
            <a:chOff x="395536" y="1409582"/>
            <a:chExt cx="5544616" cy="504056"/>
          </a:xfrm>
        </p:grpSpPr>
        <p:sp>
          <p:nvSpPr>
            <p:cNvPr id="225" name="Rounded Rectangle 14">
              <a:extLst>
                <a:ext uri="{FF2B5EF4-FFF2-40B4-BE49-F238E27FC236}">
                  <a16:creationId xmlns:a16="http://schemas.microsoft.com/office/drawing/2014/main" id="{F02F8298-CF9D-48F9-95AF-DB388B25E696}"/>
                </a:ext>
              </a:extLst>
            </p:cNvPr>
            <p:cNvSpPr/>
            <p:nvPr/>
          </p:nvSpPr>
          <p:spPr>
            <a:xfrm>
              <a:off x="395536" y="1409582"/>
              <a:ext cx="5544616" cy="504056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100000">
                  <a:srgbClr val="A50021">
                    <a:tint val="66000"/>
                    <a:satMod val="160000"/>
                  </a:srgbClr>
                </a:gs>
                <a:gs pos="50000">
                  <a:srgbClr val="A50021">
                    <a:tint val="44500"/>
                    <a:satMod val="160000"/>
                  </a:srgbClr>
                </a:gs>
                <a:gs pos="100000">
                  <a:srgbClr val="A50021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26" name="TextBox 225">
              <a:extLst>
                <a:ext uri="{FF2B5EF4-FFF2-40B4-BE49-F238E27FC236}">
                  <a16:creationId xmlns:a16="http://schemas.microsoft.com/office/drawing/2014/main" id="{A03E0F28-6535-4E6D-BEA2-5A89BD85E1ED}"/>
                </a:ext>
              </a:extLst>
            </p:cNvPr>
            <p:cNvSpPr txBox="1"/>
            <p:nvPr/>
          </p:nvSpPr>
          <p:spPr>
            <a:xfrm>
              <a:off x="539551" y="1430778"/>
              <a:ext cx="525658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2400" b="1" dirty="0">
                  <a:latin typeface="Arial" pitchFamily="34" charset="0"/>
                  <a:cs typeface="Arial" pitchFamily="34" charset="0"/>
                </a:rPr>
                <a:t>Calculating the Speed</a:t>
              </a:r>
            </a:p>
          </p:txBody>
        </p:sp>
      </p:grpSp>
      <p:grpSp>
        <p:nvGrpSpPr>
          <p:cNvPr id="227" name="Group 15">
            <a:extLst>
              <a:ext uri="{FF2B5EF4-FFF2-40B4-BE49-F238E27FC236}">
                <a16:creationId xmlns:a16="http://schemas.microsoft.com/office/drawing/2014/main" id="{570972E0-125B-43A0-9FF5-5EB3AE79ABDA}"/>
              </a:ext>
            </a:extLst>
          </p:cNvPr>
          <p:cNvGrpSpPr/>
          <p:nvPr/>
        </p:nvGrpSpPr>
        <p:grpSpPr>
          <a:xfrm>
            <a:off x="4946297" y="5219895"/>
            <a:ext cx="5497618" cy="504056"/>
            <a:chOff x="395536" y="1409582"/>
            <a:chExt cx="5544616" cy="504056"/>
          </a:xfrm>
        </p:grpSpPr>
        <p:sp>
          <p:nvSpPr>
            <p:cNvPr id="228" name="Rounded Rectangle 80">
              <a:extLst>
                <a:ext uri="{FF2B5EF4-FFF2-40B4-BE49-F238E27FC236}">
                  <a16:creationId xmlns:a16="http://schemas.microsoft.com/office/drawing/2014/main" id="{FC8B2931-1E7D-4E7A-A7C8-53983CF93085}"/>
                </a:ext>
              </a:extLst>
            </p:cNvPr>
            <p:cNvSpPr/>
            <p:nvPr/>
          </p:nvSpPr>
          <p:spPr>
            <a:xfrm>
              <a:off x="395536" y="1409582"/>
              <a:ext cx="5544616" cy="504056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A50021">
                    <a:tint val="66000"/>
                    <a:satMod val="160000"/>
                  </a:srgbClr>
                </a:gs>
                <a:gs pos="50000">
                  <a:srgbClr val="A50021">
                    <a:tint val="44500"/>
                    <a:satMod val="160000"/>
                  </a:srgbClr>
                </a:gs>
                <a:gs pos="100000">
                  <a:srgbClr val="A50021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29" name="TextBox 228">
              <a:extLst>
                <a:ext uri="{FF2B5EF4-FFF2-40B4-BE49-F238E27FC236}">
                  <a16:creationId xmlns:a16="http://schemas.microsoft.com/office/drawing/2014/main" id="{FA0E8EB5-D094-4BA7-84EC-C2233182A711}"/>
                </a:ext>
              </a:extLst>
            </p:cNvPr>
            <p:cNvSpPr txBox="1"/>
            <p:nvPr/>
          </p:nvSpPr>
          <p:spPr>
            <a:xfrm>
              <a:off x="539551" y="1430778"/>
              <a:ext cx="525658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2400" b="1" dirty="0">
                  <a:latin typeface="Arial" pitchFamily="34" charset="0"/>
                  <a:cs typeface="Arial" pitchFamily="34" charset="0"/>
                </a:rPr>
                <a:t>Speed   =   4 m/s</a:t>
              </a:r>
            </a:p>
          </p:txBody>
        </p:sp>
      </p:grpSp>
      <p:grpSp>
        <p:nvGrpSpPr>
          <p:cNvPr id="230" name="Group 42">
            <a:extLst>
              <a:ext uri="{FF2B5EF4-FFF2-40B4-BE49-F238E27FC236}">
                <a16:creationId xmlns:a16="http://schemas.microsoft.com/office/drawing/2014/main" id="{C5FE576E-6D07-4475-8643-438679D4955D}"/>
              </a:ext>
            </a:extLst>
          </p:cNvPr>
          <p:cNvGrpSpPr/>
          <p:nvPr/>
        </p:nvGrpSpPr>
        <p:grpSpPr>
          <a:xfrm>
            <a:off x="2371733" y="1403388"/>
            <a:ext cx="8022964" cy="584775"/>
            <a:chOff x="551020" y="1531494"/>
            <a:chExt cx="8022964" cy="584775"/>
          </a:xfrm>
        </p:grpSpPr>
        <p:sp>
          <p:nvSpPr>
            <p:cNvPr id="231" name="TextBox 230">
              <a:extLst>
                <a:ext uri="{FF2B5EF4-FFF2-40B4-BE49-F238E27FC236}">
                  <a16:creationId xmlns:a16="http://schemas.microsoft.com/office/drawing/2014/main" id="{F32A90AF-CCC2-40BB-9AA6-FFC8FCB3E22C}"/>
                </a:ext>
              </a:extLst>
            </p:cNvPr>
            <p:cNvSpPr txBox="1"/>
            <p:nvPr/>
          </p:nvSpPr>
          <p:spPr>
            <a:xfrm>
              <a:off x="551020" y="1531494"/>
              <a:ext cx="153903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600" dirty="0">
                  <a:latin typeface="Arial" pitchFamily="34" charset="0"/>
                  <a:cs typeface="Arial" pitchFamily="34" charset="0"/>
                </a:rPr>
                <a:t>Example 2:</a:t>
              </a:r>
              <a:endParaRPr lang="en-GB" sz="1600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32" name="TextBox 231">
              <a:extLst>
                <a:ext uri="{FF2B5EF4-FFF2-40B4-BE49-F238E27FC236}">
                  <a16:creationId xmlns:a16="http://schemas.microsoft.com/office/drawing/2014/main" id="{88C161B6-4FE8-4FF1-81F8-945FB7518ABA}"/>
                </a:ext>
              </a:extLst>
            </p:cNvPr>
            <p:cNvSpPr txBox="1"/>
            <p:nvPr/>
          </p:nvSpPr>
          <p:spPr>
            <a:xfrm>
              <a:off x="1890953" y="1531494"/>
              <a:ext cx="668303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600" b="1" dirty="0">
                  <a:latin typeface="Arial" pitchFamily="34" charset="0"/>
                  <a:cs typeface="Arial" pitchFamily="34" charset="0"/>
                </a:rPr>
                <a:t>A runner ran a total distance of 500 metres in 125 seconds.  What was the average speed for the run?</a:t>
              </a:r>
            </a:p>
          </p:txBody>
        </p:sp>
      </p:grpSp>
      <p:grpSp>
        <p:nvGrpSpPr>
          <p:cNvPr id="233" name="Group 44">
            <a:extLst>
              <a:ext uri="{FF2B5EF4-FFF2-40B4-BE49-F238E27FC236}">
                <a16:creationId xmlns:a16="http://schemas.microsoft.com/office/drawing/2014/main" id="{AA81FB13-8676-46D1-B78A-3A8CB87B5D34}"/>
              </a:ext>
            </a:extLst>
          </p:cNvPr>
          <p:cNvGrpSpPr/>
          <p:nvPr/>
        </p:nvGrpSpPr>
        <p:grpSpPr>
          <a:xfrm>
            <a:off x="5575658" y="2407711"/>
            <a:ext cx="4227615" cy="926275"/>
            <a:chOff x="2185060" y="1205798"/>
            <a:chExt cx="4322618" cy="926275"/>
          </a:xfrm>
        </p:grpSpPr>
        <p:sp>
          <p:nvSpPr>
            <p:cNvPr id="234" name="Rounded Rectangle 46">
              <a:extLst>
                <a:ext uri="{FF2B5EF4-FFF2-40B4-BE49-F238E27FC236}">
                  <a16:creationId xmlns:a16="http://schemas.microsoft.com/office/drawing/2014/main" id="{F5CD5F42-3D08-4A17-8587-983781263720}"/>
                </a:ext>
              </a:extLst>
            </p:cNvPr>
            <p:cNvSpPr/>
            <p:nvPr/>
          </p:nvSpPr>
          <p:spPr>
            <a:xfrm>
              <a:off x="2185060" y="1205798"/>
              <a:ext cx="4322618" cy="926275"/>
            </a:xfrm>
            <a:prstGeom prst="roundRect">
              <a:avLst>
                <a:gd name="adj" fmla="val 28082"/>
              </a:avLst>
            </a:prstGeom>
            <a:gradFill flip="none" rotWithShape="1">
              <a:gsLst>
                <a:gs pos="0">
                  <a:srgbClr val="A50021">
                    <a:tint val="66000"/>
                    <a:satMod val="160000"/>
                  </a:srgbClr>
                </a:gs>
                <a:gs pos="50000">
                  <a:srgbClr val="A50021">
                    <a:tint val="44500"/>
                    <a:satMod val="160000"/>
                  </a:srgbClr>
                </a:gs>
                <a:gs pos="100000">
                  <a:srgbClr val="A50021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000">
                <a:latin typeface="Arial" pitchFamily="34" charset="0"/>
                <a:cs typeface="Arial" pitchFamily="34" charset="0"/>
              </a:endParaRPr>
            </a:p>
          </p:txBody>
        </p:sp>
        <p:grpSp>
          <p:nvGrpSpPr>
            <p:cNvPr id="235" name="Group 42">
              <a:extLst>
                <a:ext uri="{FF2B5EF4-FFF2-40B4-BE49-F238E27FC236}">
                  <a16:creationId xmlns:a16="http://schemas.microsoft.com/office/drawing/2014/main" id="{CEDD5051-5A29-4CB1-9E6F-6B5FE999AA70}"/>
                </a:ext>
              </a:extLst>
            </p:cNvPr>
            <p:cNvGrpSpPr/>
            <p:nvPr/>
          </p:nvGrpSpPr>
          <p:grpSpPr>
            <a:xfrm>
              <a:off x="2469535" y="1300937"/>
              <a:ext cx="3705100" cy="707886"/>
              <a:chOff x="2386408" y="1224062"/>
              <a:chExt cx="3705100" cy="707886"/>
            </a:xfrm>
          </p:grpSpPr>
          <p:grpSp>
            <p:nvGrpSpPr>
              <p:cNvPr id="236" name="Group 40">
                <a:extLst>
                  <a:ext uri="{FF2B5EF4-FFF2-40B4-BE49-F238E27FC236}">
                    <a16:creationId xmlns:a16="http://schemas.microsoft.com/office/drawing/2014/main" id="{71BBD2C0-BC57-43F8-AD98-DC7AE7AF7E7D}"/>
                  </a:ext>
                </a:extLst>
              </p:cNvPr>
              <p:cNvGrpSpPr/>
              <p:nvPr/>
            </p:nvGrpSpPr>
            <p:grpSpPr>
              <a:xfrm>
                <a:off x="4428963" y="1224062"/>
                <a:ext cx="1662545" cy="707886"/>
                <a:chOff x="4428963" y="1224062"/>
                <a:chExt cx="1662545" cy="707886"/>
              </a:xfrm>
            </p:grpSpPr>
            <p:sp>
              <p:nvSpPr>
                <p:cNvPr id="433" name="TextBox 432">
                  <a:extLst>
                    <a:ext uri="{FF2B5EF4-FFF2-40B4-BE49-F238E27FC236}">
                      <a16:creationId xmlns:a16="http://schemas.microsoft.com/office/drawing/2014/main" id="{02BAFB2F-14E4-4CC0-BB06-C83B4F6B4584}"/>
                    </a:ext>
                  </a:extLst>
                </p:cNvPr>
                <p:cNvSpPr txBox="1"/>
                <p:nvPr/>
              </p:nvSpPr>
              <p:spPr>
                <a:xfrm>
                  <a:off x="4428963" y="1224062"/>
                  <a:ext cx="1662545" cy="70788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GB" sz="2000" b="1" dirty="0">
                      <a:latin typeface="Arial" pitchFamily="34" charset="0"/>
                      <a:cs typeface="Arial" pitchFamily="34" charset="0"/>
                    </a:rPr>
                    <a:t>Distance</a:t>
                  </a:r>
                </a:p>
                <a:p>
                  <a:pPr algn="ctr"/>
                  <a:r>
                    <a:rPr lang="en-GB" sz="2000" b="1" dirty="0">
                      <a:latin typeface="Arial" pitchFamily="34" charset="0"/>
                      <a:cs typeface="Arial" pitchFamily="34" charset="0"/>
                    </a:rPr>
                    <a:t>Time</a:t>
                  </a:r>
                </a:p>
              </p:txBody>
            </p:sp>
            <p:cxnSp>
              <p:nvCxnSpPr>
                <p:cNvPr id="434" name="Straight Connector 433">
                  <a:extLst>
                    <a:ext uri="{FF2B5EF4-FFF2-40B4-BE49-F238E27FC236}">
                      <a16:creationId xmlns:a16="http://schemas.microsoft.com/office/drawing/2014/main" id="{001A9215-13EF-4987-B532-B4E4B5EDF7F8}"/>
                    </a:ext>
                  </a:extLst>
                </p:cNvPr>
                <p:cNvCxnSpPr/>
                <p:nvPr/>
              </p:nvCxnSpPr>
              <p:spPr>
                <a:xfrm>
                  <a:off x="4654327" y="1567543"/>
                  <a:ext cx="1187533" cy="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32" name="TextBox 431">
                <a:extLst>
                  <a:ext uri="{FF2B5EF4-FFF2-40B4-BE49-F238E27FC236}">
                    <a16:creationId xmlns:a16="http://schemas.microsoft.com/office/drawing/2014/main" id="{A57DD6E5-65CE-4EE7-B021-D0F338451681}"/>
                  </a:ext>
                </a:extLst>
              </p:cNvPr>
              <p:cNvSpPr txBox="1"/>
              <p:nvPr/>
            </p:nvSpPr>
            <p:spPr>
              <a:xfrm>
                <a:off x="2386408" y="1361228"/>
                <a:ext cx="190005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GB" sz="2000" b="1" dirty="0">
                    <a:latin typeface="Arial" pitchFamily="34" charset="0"/>
                    <a:cs typeface="Arial" pitchFamily="34" charset="0"/>
                  </a:rPr>
                  <a:t>Speed      =</a:t>
                </a:r>
              </a:p>
            </p:txBody>
          </p:sp>
        </p:grpSp>
      </p:grpSp>
      <p:grpSp>
        <p:nvGrpSpPr>
          <p:cNvPr id="435" name="Group 42">
            <a:extLst>
              <a:ext uri="{FF2B5EF4-FFF2-40B4-BE49-F238E27FC236}">
                <a16:creationId xmlns:a16="http://schemas.microsoft.com/office/drawing/2014/main" id="{EA2D3030-281C-4842-9250-5C207326451E}"/>
              </a:ext>
            </a:extLst>
          </p:cNvPr>
          <p:cNvGrpSpPr/>
          <p:nvPr/>
        </p:nvGrpSpPr>
        <p:grpSpPr>
          <a:xfrm>
            <a:off x="5972634" y="3832886"/>
            <a:ext cx="3623669" cy="707886"/>
            <a:chOff x="2386408" y="1224062"/>
            <a:chExt cx="3705100" cy="707886"/>
          </a:xfrm>
        </p:grpSpPr>
        <p:grpSp>
          <p:nvGrpSpPr>
            <p:cNvPr id="461" name="Group 40">
              <a:extLst>
                <a:ext uri="{FF2B5EF4-FFF2-40B4-BE49-F238E27FC236}">
                  <a16:creationId xmlns:a16="http://schemas.microsoft.com/office/drawing/2014/main" id="{7CAC62C6-DEBA-4177-87C5-F5E19F851CBE}"/>
                </a:ext>
              </a:extLst>
            </p:cNvPr>
            <p:cNvGrpSpPr/>
            <p:nvPr/>
          </p:nvGrpSpPr>
          <p:grpSpPr>
            <a:xfrm>
              <a:off x="4428963" y="1224062"/>
              <a:ext cx="1662545" cy="707886"/>
              <a:chOff x="4428963" y="1224062"/>
              <a:chExt cx="1662545" cy="707886"/>
            </a:xfrm>
          </p:grpSpPr>
          <p:sp>
            <p:nvSpPr>
              <p:cNvPr id="463" name="TextBox 462">
                <a:extLst>
                  <a:ext uri="{FF2B5EF4-FFF2-40B4-BE49-F238E27FC236}">
                    <a16:creationId xmlns:a16="http://schemas.microsoft.com/office/drawing/2014/main" id="{449F492C-5736-49EF-94FF-00CAC1EBEDA8}"/>
                  </a:ext>
                </a:extLst>
              </p:cNvPr>
              <p:cNvSpPr txBox="1"/>
              <p:nvPr/>
            </p:nvSpPr>
            <p:spPr>
              <a:xfrm>
                <a:off x="4428963" y="1224062"/>
                <a:ext cx="1662545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2000" b="1" dirty="0">
                    <a:latin typeface="Arial" pitchFamily="34" charset="0"/>
                    <a:cs typeface="Arial" pitchFamily="34" charset="0"/>
                  </a:rPr>
                  <a:t>500</a:t>
                </a:r>
              </a:p>
              <a:p>
                <a:pPr algn="ctr"/>
                <a:r>
                  <a:rPr lang="en-GB" sz="2000" b="1" dirty="0">
                    <a:latin typeface="Arial" pitchFamily="34" charset="0"/>
                    <a:cs typeface="Arial" pitchFamily="34" charset="0"/>
                  </a:rPr>
                  <a:t>125</a:t>
                </a:r>
              </a:p>
            </p:txBody>
          </p:sp>
          <p:cxnSp>
            <p:nvCxnSpPr>
              <p:cNvPr id="465" name="Straight Connector 464">
                <a:extLst>
                  <a:ext uri="{FF2B5EF4-FFF2-40B4-BE49-F238E27FC236}">
                    <a16:creationId xmlns:a16="http://schemas.microsoft.com/office/drawing/2014/main" id="{74D6DD88-9E3F-4D30-97EA-D17C607C5EB7}"/>
                  </a:ext>
                </a:extLst>
              </p:cNvPr>
              <p:cNvCxnSpPr/>
              <p:nvPr/>
            </p:nvCxnSpPr>
            <p:spPr>
              <a:xfrm>
                <a:off x="4962752" y="1567543"/>
                <a:ext cx="594967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62" name="TextBox 461">
              <a:extLst>
                <a:ext uri="{FF2B5EF4-FFF2-40B4-BE49-F238E27FC236}">
                  <a16:creationId xmlns:a16="http://schemas.microsoft.com/office/drawing/2014/main" id="{80159EA6-E957-458A-AB2F-5B89B6BFAFD3}"/>
                </a:ext>
              </a:extLst>
            </p:cNvPr>
            <p:cNvSpPr txBox="1"/>
            <p:nvPr/>
          </p:nvSpPr>
          <p:spPr>
            <a:xfrm>
              <a:off x="2386408" y="1361228"/>
              <a:ext cx="190005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GB" sz="2000" b="1" dirty="0">
                  <a:latin typeface="Arial" pitchFamily="34" charset="0"/>
                  <a:cs typeface="Arial" pitchFamily="34" charset="0"/>
                </a:rPr>
                <a:t>Speed      =</a:t>
              </a:r>
            </a:p>
          </p:txBody>
        </p:sp>
      </p:grpSp>
      <p:grpSp>
        <p:nvGrpSpPr>
          <p:cNvPr id="466" name="Group 90">
            <a:extLst>
              <a:ext uri="{FF2B5EF4-FFF2-40B4-BE49-F238E27FC236}">
                <a16:creationId xmlns:a16="http://schemas.microsoft.com/office/drawing/2014/main" id="{8B673DC9-C80F-4713-AC22-FF9E07870FBD}"/>
              </a:ext>
            </a:extLst>
          </p:cNvPr>
          <p:cNvGrpSpPr/>
          <p:nvPr/>
        </p:nvGrpSpPr>
        <p:grpSpPr>
          <a:xfrm rot="10800000">
            <a:off x="2392107" y="3844624"/>
            <a:ext cx="2208811" cy="712519"/>
            <a:chOff x="6531426" y="3740726"/>
            <a:chExt cx="2208811" cy="712519"/>
          </a:xfrm>
        </p:grpSpPr>
        <p:sp>
          <p:nvSpPr>
            <p:cNvPr id="467" name="Pentagon 91">
              <a:extLst>
                <a:ext uri="{FF2B5EF4-FFF2-40B4-BE49-F238E27FC236}">
                  <a16:creationId xmlns:a16="http://schemas.microsoft.com/office/drawing/2014/main" id="{064D11AD-E37A-41EC-B99F-6D857CF13BEB}"/>
                </a:ext>
              </a:extLst>
            </p:cNvPr>
            <p:cNvSpPr/>
            <p:nvPr/>
          </p:nvSpPr>
          <p:spPr>
            <a:xfrm rot="10800000">
              <a:off x="6531426" y="3740726"/>
              <a:ext cx="2208811" cy="712519"/>
            </a:xfrm>
            <a:prstGeom prst="homePlate">
              <a:avLst/>
            </a:prstGeom>
            <a:gradFill flip="none" rotWithShape="1">
              <a:gsLst>
                <a:gs pos="0">
                  <a:schemeClr val="accent2">
                    <a:tint val="66000"/>
                    <a:satMod val="160000"/>
                  </a:schemeClr>
                </a:gs>
                <a:gs pos="50000">
                  <a:schemeClr val="accent2">
                    <a:tint val="44500"/>
                    <a:satMod val="160000"/>
                  </a:schemeClr>
                </a:gs>
                <a:gs pos="100000">
                  <a:schemeClr val="accent2">
                    <a:tint val="23500"/>
                    <a:satMod val="1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0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468" name="TextBox 467">
              <a:extLst>
                <a:ext uri="{FF2B5EF4-FFF2-40B4-BE49-F238E27FC236}">
                  <a16:creationId xmlns:a16="http://schemas.microsoft.com/office/drawing/2014/main" id="{4279E9A1-F304-4B66-B678-D342B9BB2768}"/>
                </a:ext>
              </a:extLst>
            </p:cNvPr>
            <p:cNvSpPr txBox="1"/>
            <p:nvPr/>
          </p:nvSpPr>
          <p:spPr>
            <a:xfrm rot="10800000">
              <a:off x="6777451" y="3804598"/>
              <a:ext cx="194482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600" b="1" dirty="0">
                  <a:solidFill>
                    <a:srgbClr val="800000"/>
                  </a:solidFill>
                  <a:latin typeface="Arial" pitchFamily="34" charset="0"/>
                  <a:cs typeface="Arial" pitchFamily="34" charset="0"/>
                </a:rPr>
                <a:t>Put numbers</a:t>
              </a:r>
            </a:p>
            <a:p>
              <a:pPr algn="ctr"/>
              <a:r>
                <a:rPr lang="en-GB" sz="1600" b="1" dirty="0">
                  <a:solidFill>
                    <a:srgbClr val="800000"/>
                  </a:solidFill>
                  <a:latin typeface="Arial" pitchFamily="34" charset="0"/>
                  <a:cs typeface="Arial" pitchFamily="34" charset="0"/>
                </a:rPr>
                <a:t>into formula</a:t>
              </a:r>
            </a:p>
          </p:txBody>
        </p:sp>
      </p:grpSp>
      <p:grpSp>
        <p:nvGrpSpPr>
          <p:cNvPr id="469" name="Group 96">
            <a:extLst>
              <a:ext uri="{FF2B5EF4-FFF2-40B4-BE49-F238E27FC236}">
                <a16:creationId xmlns:a16="http://schemas.microsoft.com/office/drawing/2014/main" id="{B01F7DA5-8420-4C20-A141-7C0C168C4D43}"/>
              </a:ext>
            </a:extLst>
          </p:cNvPr>
          <p:cNvGrpSpPr/>
          <p:nvPr/>
        </p:nvGrpSpPr>
        <p:grpSpPr>
          <a:xfrm rot="10800000">
            <a:off x="2392107" y="5115664"/>
            <a:ext cx="2208811" cy="712519"/>
            <a:chOff x="6531426" y="3740726"/>
            <a:chExt cx="2208811" cy="712519"/>
          </a:xfrm>
        </p:grpSpPr>
        <p:sp>
          <p:nvSpPr>
            <p:cNvPr id="470" name="Pentagon 97">
              <a:extLst>
                <a:ext uri="{FF2B5EF4-FFF2-40B4-BE49-F238E27FC236}">
                  <a16:creationId xmlns:a16="http://schemas.microsoft.com/office/drawing/2014/main" id="{D8650645-DD8C-49BF-9123-769CE5003E56}"/>
                </a:ext>
              </a:extLst>
            </p:cNvPr>
            <p:cNvSpPr/>
            <p:nvPr/>
          </p:nvSpPr>
          <p:spPr>
            <a:xfrm rot="10800000">
              <a:off x="6531426" y="3740726"/>
              <a:ext cx="2208811" cy="712519"/>
            </a:xfrm>
            <a:prstGeom prst="homePlate">
              <a:avLst/>
            </a:prstGeom>
            <a:gradFill flip="none" rotWithShape="1">
              <a:gsLst>
                <a:gs pos="0">
                  <a:schemeClr val="accent2">
                    <a:tint val="66000"/>
                    <a:satMod val="160000"/>
                  </a:schemeClr>
                </a:gs>
                <a:gs pos="50000">
                  <a:schemeClr val="accent2">
                    <a:tint val="44500"/>
                    <a:satMod val="160000"/>
                  </a:schemeClr>
                </a:gs>
                <a:gs pos="100000">
                  <a:schemeClr val="accent2">
                    <a:tint val="23500"/>
                    <a:satMod val="1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0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471" name="TextBox 470">
              <a:extLst>
                <a:ext uri="{FF2B5EF4-FFF2-40B4-BE49-F238E27FC236}">
                  <a16:creationId xmlns:a16="http://schemas.microsoft.com/office/drawing/2014/main" id="{E37EAD41-EFA3-4271-996D-25BC61BA2501}"/>
                </a:ext>
              </a:extLst>
            </p:cNvPr>
            <p:cNvSpPr txBox="1"/>
            <p:nvPr/>
          </p:nvSpPr>
          <p:spPr>
            <a:xfrm rot="10800000">
              <a:off x="6777451" y="3804598"/>
              <a:ext cx="194482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600" b="1" dirty="0">
                  <a:solidFill>
                    <a:srgbClr val="800000"/>
                  </a:solidFill>
                  <a:latin typeface="Arial" pitchFamily="34" charset="0"/>
                  <a:cs typeface="Arial" pitchFamily="34" charset="0"/>
                </a:rPr>
                <a:t>Work out</a:t>
              </a:r>
            </a:p>
            <a:p>
              <a:pPr algn="ctr"/>
              <a:r>
                <a:rPr lang="en-GB" sz="1600" b="1" dirty="0">
                  <a:solidFill>
                    <a:srgbClr val="800000"/>
                  </a:solidFill>
                  <a:latin typeface="Arial" pitchFamily="34" charset="0"/>
                  <a:cs typeface="Arial" pitchFamily="34" charset="0"/>
                </a:rPr>
                <a:t>500   ÷   125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288207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1000"/>
                                        <p:tgtEl>
                                          <p:spTgt spid="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ounded Rectangle 45">
            <a:extLst>
              <a:ext uri="{FF2B5EF4-FFF2-40B4-BE49-F238E27FC236}">
                <a16:creationId xmlns:a16="http://schemas.microsoft.com/office/drawing/2014/main" id="{521AB952-9A4A-4805-885B-D24562E06715}"/>
              </a:ext>
            </a:extLst>
          </p:cNvPr>
          <p:cNvSpPr/>
          <p:nvPr/>
        </p:nvSpPr>
        <p:spPr>
          <a:xfrm>
            <a:off x="1644112" y="1167665"/>
            <a:ext cx="8598976" cy="4963885"/>
          </a:xfrm>
          <a:prstGeom prst="roundRect">
            <a:avLst>
              <a:gd name="adj" fmla="val 713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31" name="Group 15">
            <a:extLst>
              <a:ext uri="{FF2B5EF4-FFF2-40B4-BE49-F238E27FC236}">
                <a16:creationId xmlns:a16="http://schemas.microsoft.com/office/drawing/2014/main" id="{467E7B2D-4FE1-4367-A7EB-964ECFB6ADDC}"/>
              </a:ext>
            </a:extLst>
          </p:cNvPr>
          <p:cNvGrpSpPr/>
          <p:nvPr/>
        </p:nvGrpSpPr>
        <p:grpSpPr>
          <a:xfrm>
            <a:off x="1953491" y="353724"/>
            <a:ext cx="7980218" cy="504056"/>
            <a:chOff x="395536" y="1409582"/>
            <a:chExt cx="5544616" cy="504056"/>
          </a:xfrm>
        </p:grpSpPr>
        <p:sp>
          <p:nvSpPr>
            <p:cNvPr id="32" name="Rounded Rectangle 14">
              <a:extLst>
                <a:ext uri="{FF2B5EF4-FFF2-40B4-BE49-F238E27FC236}">
                  <a16:creationId xmlns:a16="http://schemas.microsoft.com/office/drawing/2014/main" id="{21449C5C-0291-49CE-83DD-B02406BE6A71}"/>
                </a:ext>
              </a:extLst>
            </p:cNvPr>
            <p:cNvSpPr/>
            <p:nvPr/>
          </p:nvSpPr>
          <p:spPr>
            <a:xfrm>
              <a:off x="395536" y="1409582"/>
              <a:ext cx="5544616" cy="504056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100000">
                  <a:srgbClr val="A50021">
                    <a:tint val="66000"/>
                    <a:satMod val="160000"/>
                  </a:srgbClr>
                </a:gs>
                <a:gs pos="50000">
                  <a:srgbClr val="A50021">
                    <a:tint val="44500"/>
                    <a:satMod val="160000"/>
                  </a:srgbClr>
                </a:gs>
                <a:gs pos="100000">
                  <a:srgbClr val="A50021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A184ACF0-A6D5-48E7-862C-A102CB39EA5E}"/>
                </a:ext>
              </a:extLst>
            </p:cNvPr>
            <p:cNvSpPr txBox="1"/>
            <p:nvPr/>
          </p:nvSpPr>
          <p:spPr>
            <a:xfrm>
              <a:off x="539551" y="1430778"/>
              <a:ext cx="525658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2400" b="1" dirty="0">
                  <a:latin typeface="Arial" pitchFamily="34" charset="0"/>
                  <a:cs typeface="Arial" pitchFamily="34" charset="0"/>
                </a:rPr>
                <a:t>Calculating the Time</a:t>
              </a:r>
            </a:p>
          </p:txBody>
        </p: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89B9E429-9693-4A42-A568-19AA72998CD2}"/>
              </a:ext>
            </a:extLst>
          </p:cNvPr>
          <p:cNvSpPr txBox="1"/>
          <p:nvPr/>
        </p:nvSpPr>
        <p:spPr>
          <a:xfrm>
            <a:off x="4649476" y="3827624"/>
            <a:ext cx="52120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b="1" dirty="0">
                <a:latin typeface="Arial" pitchFamily="34" charset="0"/>
                <a:cs typeface="Arial" pitchFamily="34" charset="0"/>
              </a:rPr>
              <a:t>Time   =   1.6 h</a:t>
            </a:r>
          </a:p>
        </p:txBody>
      </p:sp>
      <p:grpSp>
        <p:nvGrpSpPr>
          <p:cNvPr id="35" name="Group 42">
            <a:extLst>
              <a:ext uri="{FF2B5EF4-FFF2-40B4-BE49-F238E27FC236}">
                <a16:creationId xmlns:a16="http://schemas.microsoft.com/office/drawing/2014/main" id="{E8B9298F-4A64-4D66-9B0F-4AF283712165}"/>
              </a:ext>
            </a:extLst>
          </p:cNvPr>
          <p:cNvGrpSpPr/>
          <p:nvPr/>
        </p:nvGrpSpPr>
        <p:grpSpPr>
          <a:xfrm>
            <a:off x="1932118" y="1297881"/>
            <a:ext cx="8022964" cy="584775"/>
            <a:chOff x="551020" y="1531494"/>
            <a:chExt cx="8022964" cy="584775"/>
          </a:xfrm>
        </p:grpSpPr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CBC75EAC-CAEA-4A72-BA91-B0DB79DD07A5}"/>
                </a:ext>
              </a:extLst>
            </p:cNvPr>
            <p:cNvSpPr txBox="1"/>
            <p:nvPr/>
          </p:nvSpPr>
          <p:spPr>
            <a:xfrm>
              <a:off x="551020" y="1531494"/>
              <a:ext cx="153903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600" dirty="0">
                  <a:latin typeface="Arial" pitchFamily="34" charset="0"/>
                  <a:cs typeface="Arial" pitchFamily="34" charset="0"/>
                </a:rPr>
                <a:t>Example 1:</a:t>
              </a:r>
              <a:endParaRPr lang="en-GB" sz="1600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BB3524DA-B96A-499D-A0D3-CD6629613356}"/>
                </a:ext>
              </a:extLst>
            </p:cNvPr>
            <p:cNvSpPr txBox="1"/>
            <p:nvPr/>
          </p:nvSpPr>
          <p:spPr>
            <a:xfrm>
              <a:off x="1890953" y="1531494"/>
              <a:ext cx="668303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600" b="1" dirty="0">
                  <a:latin typeface="Arial" pitchFamily="34" charset="0"/>
                  <a:cs typeface="Arial" pitchFamily="34" charset="0"/>
                </a:rPr>
                <a:t>A car drove a distance of 80 kilometres at a constant speed of</a:t>
              </a:r>
            </a:p>
            <a:p>
              <a:r>
                <a:rPr lang="en-GB" sz="1600" b="1" dirty="0">
                  <a:latin typeface="Arial" pitchFamily="34" charset="0"/>
                  <a:cs typeface="Arial" pitchFamily="34" charset="0"/>
                </a:rPr>
                <a:t>50 kilometres per hour.  How long did the journey take?</a:t>
              </a:r>
            </a:p>
          </p:txBody>
        </p:sp>
      </p:grpSp>
      <p:grpSp>
        <p:nvGrpSpPr>
          <p:cNvPr id="38" name="Group 44">
            <a:extLst>
              <a:ext uri="{FF2B5EF4-FFF2-40B4-BE49-F238E27FC236}">
                <a16:creationId xmlns:a16="http://schemas.microsoft.com/office/drawing/2014/main" id="{068D3FBE-0C71-48BD-B862-F5408C176F38}"/>
              </a:ext>
            </a:extLst>
          </p:cNvPr>
          <p:cNvGrpSpPr/>
          <p:nvPr/>
        </p:nvGrpSpPr>
        <p:grpSpPr>
          <a:xfrm>
            <a:off x="5136043" y="1969704"/>
            <a:ext cx="4227615" cy="926275"/>
            <a:chOff x="2185060" y="1205798"/>
            <a:chExt cx="4322618" cy="926275"/>
          </a:xfrm>
        </p:grpSpPr>
        <p:sp>
          <p:nvSpPr>
            <p:cNvPr id="39" name="Rounded Rectangle 46">
              <a:extLst>
                <a:ext uri="{FF2B5EF4-FFF2-40B4-BE49-F238E27FC236}">
                  <a16:creationId xmlns:a16="http://schemas.microsoft.com/office/drawing/2014/main" id="{76798761-8987-402F-87D4-5C5CD844009D}"/>
                </a:ext>
              </a:extLst>
            </p:cNvPr>
            <p:cNvSpPr/>
            <p:nvPr/>
          </p:nvSpPr>
          <p:spPr>
            <a:xfrm>
              <a:off x="2185060" y="1205798"/>
              <a:ext cx="4322618" cy="926275"/>
            </a:xfrm>
            <a:prstGeom prst="roundRect">
              <a:avLst>
                <a:gd name="adj" fmla="val 28082"/>
              </a:avLst>
            </a:prstGeom>
            <a:gradFill flip="none" rotWithShape="1">
              <a:gsLst>
                <a:gs pos="0">
                  <a:srgbClr val="A50021">
                    <a:tint val="66000"/>
                    <a:satMod val="160000"/>
                  </a:srgbClr>
                </a:gs>
                <a:gs pos="50000">
                  <a:srgbClr val="A50021">
                    <a:tint val="44500"/>
                    <a:satMod val="160000"/>
                  </a:srgbClr>
                </a:gs>
                <a:gs pos="100000">
                  <a:srgbClr val="A50021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000">
                <a:latin typeface="Arial" pitchFamily="34" charset="0"/>
                <a:cs typeface="Arial" pitchFamily="34" charset="0"/>
              </a:endParaRPr>
            </a:p>
          </p:txBody>
        </p:sp>
        <p:grpSp>
          <p:nvGrpSpPr>
            <p:cNvPr id="40" name="Group 42">
              <a:extLst>
                <a:ext uri="{FF2B5EF4-FFF2-40B4-BE49-F238E27FC236}">
                  <a16:creationId xmlns:a16="http://schemas.microsoft.com/office/drawing/2014/main" id="{E25AC86A-1084-4A33-9346-5188B50AAA42}"/>
                </a:ext>
              </a:extLst>
            </p:cNvPr>
            <p:cNvGrpSpPr/>
            <p:nvPr/>
          </p:nvGrpSpPr>
          <p:grpSpPr>
            <a:xfrm>
              <a:off x="2469535" y="1300937"/>
              <a:ext cx="3705100" cy="707886"/>
              <a:chOff x="2386408" y="1224062"/>
              <a:chExt cx="3705100" cy="707886"/>
            </a:xfrm>
          </p:grpSpPr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1493BF7D-AFFF-4F02-8F20-9CD110360818}"/>
                  </a:ext>
                </a:extLst>
              </p:cNvPr>
              <p:cNvGrpSpPr/>
              <p:nvPr/>
            </p:nvGrpSpPr>
            <p:grpSpPr>
              <a:xfrm>
                <a:off x="4428963" y="1224062"/>
                <a:ext cx="1662545" cy="707886"/>
                <a:chOff x="4428963" y="1224062"/>
                <a:chExt cx="1662545" cy="707886"/>
              </a:xfrm>
            </p:grpSpPr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82F7452E-0022-4FCA-98BE-257830A3892B}"/>
                    </a:ext>
                  </a:extLst>
                </p:cNvPr>
                <p:cNvSpPr txBox="1"/>
                <p:nvPr/>
              </p:nvSpPr>
              <p:spPr>
                <a:xfrm>
                  <a:off x="4428963" y="1224062"/>
                  <a:ext cx="1662545" cy="70788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GB" sz="2000" b="1" dirty="0">
                      <a:latin typeface="Arial" pitchFamily="34" charset="0"/>
                      <a:cs typeface="Arial" pitchFamily="34" charset="0"/>
                    </a:rPr>
                    <a:t>Distance</a:t>
                  </a:r>
                </a:p>
                <a:p>
                  <a:pPr algn="ctr"/>
                  <a:r>
                    <a:rPr lang="en-GB" sz="2000" b="1" dirty="0">
                      <a:latin typeface="Arial" pitchFamily="34" charset="0"/>
                      <a:cs typeface="Arial" pitchFamily="34" charset="0"/>
                    </a:rPr>
                    <a:t>Speed</a:t>
                  </a:r>
                </a:p>
              </p:txBody>
            </p:sp>
            <p:cxnSp>
              <p:nvCxnSpPr>
                <p:cNvPr id="44" name="Straight Connector 43">
                  <a:extLst>
                    <a:ext uri="{FF2B5EF4-FFF2-40B4-BE49-F238E27FC236}">
                      <a16:creationId xmlns:a16="http://schemas.microsoft.com/office/drawing/2014/main" id="{50CA7025-361F-4AD0-9AF6-B2FC729C11AF}"/>
                    </a:ext>
                  </a:extLst>
                </p:cNvPr>
                <p:cNvCxnSpPr/>
                <p:nvPr/>
              </p:nvCxnSpPr>
              <p:spPr>
                <a:xfrm>
                  <a:off x="4690753" y="1567543"/>
                  <a:ext cx="1187533" cy="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94A975C8-E3E6-41DF-ACE0-5D83336E482A}"/>
                  </a:ext>
                </a:extLst>
              </p:cNvPr>
              <p:cNvSpPr txBox="1"/>
              <p:nvPr/>
            </p:nvSpPr>
            <p:spPr>
              <a:xfrm>
                <a:off x="2386408" y="1361228"/>
                <a:ext cx="190005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GB" sz="2000" b="1" dirty="0">
                    <a:latin typeface="Arial" pitchFamily="34" charset="0"/>
                    <a:cs typeface="Arial" pitchFamily="34" charset="0"/>
                  </a:rPr>
                  <a:t>Time      =</a:t>
                </a:r>
              </a:p>
            </p:txBody>
          </p:sp>
        </p:grpSp>
      </p:grpSp>
      <p:grpSp>
        <p:nvGrpSpPr>
          <p:cNvPr id="45" name="Group 42">
            <a:extLst>
              <a:ext uri="{FF2B5EF4-FFF2-40B4-BE49-F238E27FC236}">
                <a16:creationId xmlns:a16="http://schemas.microsoft.com/office/drawing/2014/main" id="{499EE301-2E04-4139-B56F-D1FC79B245E0}"/>
              </a:ext>
            </a:extLst>
          </p:cNvPr>
          <p:cNvGrpSpPr/>
          <p:nvPr/>
        </p:nvGrpSpPr>
        <p:grpSpPr>
          <a:xfrm>
            <a:off x="5533019" y="2884254"/>
            <a:ext cx="3623669" cy="707886"/>
            <a:chOff x="2386408" y="1224062"/>
            <a:chExt cx="3705100" cy="707886"/>
          </a:xfrm>
        </p:grpSpPr>
        <p:grpSp>
          <p:nvGrpSpPr>
            <p:cNvPr id="46" name="Group 40">
              <a:extLst>
                <a:ext uri="{FF2B5EF4-FFF2-40B4-BE49-F238E27FC236}">
                  <a16:creationId xmlns:a16="http://schemas.microsoft.com/office/drawing/2014/main" id="{76506E3E-A5B8-497E-A6B0-B6008E4517B9}"/>
                </a:ext>
              </a:extLst>
            </p:cNvPr>
            <p:cNvGrpSpPr/>
            <p:nvPr/>
          </p:nvGrpSpPr>
          <p:grpSpPr>
            <a:xfrm>
              <a:off x="4428963" y="1224062"/>
              <a:ext cx="1662545" cy="707886"/>
              <a:chOff x="4428963" y="1224062"/>
              <a:chExt cx="1662545" cy="707886"/>
            </a:xfrm>
          </p:grpSpPr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EB5CA044-CDAB-42A1-8FD1-672B3609A4C7}"/>
                  </a:ext>
                </a:extLst>
              </p:cNvPr>
              <p:cNvSpPr txBox="1"/>
              <p:nvPr/>
            </p:nvSpPr>
            <p:spPr>
              <a:xfrm>
                <a:off x="4428963" y="1224062"/>
                <a:ext cx="1662545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2000" b="1" dirty="0">
                    <a:latin typeface="Arial" pitchFamily="34" charset="0"/>
                    <a:cs typeface="Arial" pitchFamily="34" charset="0"/>
                  </a:rPr>
                  <a:t>80</a:t>
                </a:r>
              </a:p>
              <a:p>
                <a:pPr algn="ctr"/>
                <a:r>
                  <a:rPr lang="en-GB" sz="2000" b="1" dirty="0">
                    <a:latin typeface="Arial" pitchFamily="34" charset="0"/>
                    <a:cs typeface="Arial" pitchFamily="34" charset="0"/>
                  </a:rPr>
                  <a:t>50</a:t>
                </a:r>
              </a:p>
            </p:txBody>
          </p:sp>
          <p:cxnSp>
            <p:nvCxnSpPr>
              <p:cNvPr id="49" name="Straight Connector 48">
                <a:extLst>
                  <a:ext uri="{FF2B5EF4-FFF2-40B4-BE49-F238E27FC236}">
                    <a16:creationId xmlns:a16="http://schemas.microsoft.com/office/drawing/2014/main" id="{1B774840-7D6C-40D0-9243-98E9D2A5DFA9}"/>
                  </a:ext>
                </a:extLst>
              </p:cNvPr>
              <p:cNvCxnSpPr/>
              <p:nvPr/>
            </p:nvCxnSpPr>
            <p:spPr>
              <a:xfrm>
                <a:off x="4962752" y="1567543"/>
                <a:ext cx="594967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652A5EC3-52DF-4E6A-9872-13A33CBA4CFE}"/>
                </a:ext>
              </a:extLst>
            </p:cNvPr>
            <p:cNvSpPr txBox="1"/>
            <p:nvPr/>
          </p:nvSpPr>
          <p:spPr>
            <a:xfrm>
              <a:off x="2386408" y="1361228"/>
              <a:ext cx="190005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GB" sz="2000" b="1" dirty="0">
                  <a:latin typeface="Arial" pitchFamily="34" charset="0"/>
                  <a:cs typeface="Arial" pitchFamily="34" charset="0"/>
                </a:rPr>
                <a:t>Time      =</a:t>
              </a:r>
            </a:p>
          </p:txBody>
        </p:sp>
      </p:grpSp>
      <p:grpSp>
        <p:nvGrpSpPr>
          <p:cNvPr id="50" name="Group 90">
            <a:extLst>
              <a:ext uri="{FF2B5EF4-FFF2-40B4-BE49-F238E27FC236}">
                <a16:creationId xmlns:a16="http://schemas.microsoft.com/office/drawing/2014/main" id="{A4599D37-32E7-4A54-80B1-D2097D439F68}"/>
              </a:ext>
            </a:extLst>
          </p:cNvPr>
          <p:cNvGrpSpPr/>
          <p:nvPr/>
        </p:nvGrpSpPr>
        <p:grpSpPr>
          <a:xfrm rot="10800000">
            <a:off x="1950512" y="2895992"/>
            <a:ext cx="2208811" cy="712519"/>
            <a:chOff x="6531426" y="3740726"/>
            <a:chExt cx="2208811" cy="712519"/>
          </a:xfrm>
        </p:grpSpPr>
        <p:sp>
          <p:nvSpPr>
            <p:cNvPr id="51" name="Pentagon 91">
              <a:extLst>
                <a:ext uri="{FF2B5EF4-FFF2-40B4-BE49-F238E27FC236}">
                  <a16:creationId xmlns:a16="http://schemas.microsoft.com/office/drawing/2014/main" id="{40FE751C-B2D6-46BA-A94C-2F1C84063534}"/>
                </a:ext>
              </a:extLst>
            </p:cNvPr>
            <p:cNvSpPr/>
            <p:nvPr/>
          </p:nvSpPr>
          <p:spPr>
            <a:xfrm rot="10800000">
              <a:off x="6531426" y="3740726"/>
              <a:ext cx="2208811" cy="712519"/>
            </a:xfrm>
            <a:prstGeom prst="homePlate">
              <a:avLst/>
            </a:prstGeom>
            <a:gradFill flip="none" rotWithShape="1">
              <a:gsLst>
                <a:gs pos="0">
                  <a:schemeClr val="accent2">
                    <a:tint val="66000"/>
                    <a:satMod val="160000"/>
                  </a:schemeClr>
                </a:gs>
                <a:gs pos="50000">
                  <a:schemeClr val="accent2">
                    <a:tint val="44500"/>
                    <a:satMod val="160000"/>
                  </a:schemeClr>
                </a:gs>
                <a:gs pos="100000">
                  <a:schemeClr val="accent2">
                    <a:tint val="23500"/>
                    <a:satMod val="1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0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DA4B7E3F-8BF6-4380-8317-43179904BC5F}"/>
                </a:ext>
              </a:extLst>
            </p:cNvPr>
            <p:cNvSpPr txBox="1"/>
            <p:nvPr/>
          </p:nvSpPr>
          <p:spPr>
            <a:xfrm rot="10800000">
              <a:off x="6777451" y="3804598"/>
              <a:ext cx="194482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600" b="1" dirty="0">
                  <a:solidFill>
                    <a:srgbClr val="800000"/>
                  </a:solidFill>
                  <a:latin typeface="Arial" pitchFamily="34" charset="0"/>
                  <a:cs typeface="Arial" pitchFamily="34" charset="0"/>
                </a:rPr>
                <a:t>Put numbers</a:t>
              </a:r>
            </a:p>
            <a:p>
              <a:pPr algn="ctr"/>
              <a:r>
                <a:rPr lang="en-GB" sz="1600" b="1" dirty="0">
                  <a:solidFill>
                    <a:srgbClr val="800000"/>
                  </a:solidFill>
                  <a:latin typeface="Arial" pitchFamily="34" charset="0"/>
                  <a:cs typeface="Arial" pitchFamily="34" charset="0"/>
                </a:rPr>
                <a:t>into formula</a:t>
              </a:r>
            </a:p>
          </p:txBody>
        </p:sp>
      </p:grpSp>
      <p:grpSp>
        <p:nvGrpSpPr>
          <p:cNvPr id="53" name="Group 96">
            <a:extLst>
              <a:ext uri="{FF2B5EF4-FFF2-40B4-BE49-F238E27FC236}">
                <a16:creationId xmlns:a16="http://schemas.microsoft.com/office/drawing/2014/main" id="{B8D6C200-0BAC-43B1-ABC3-E35A96575C45}"/>
              </a:ext>
            </a:extLst>
          </p:cNvPr>
          <p:cNvGrpSpPr/>
          <p:nvPr/>
        </p:nvGrpSpPr>
        <p:grpSpPr>
          <a:xfrm rot="10800000">
            <a:off x="1950512" y="3702197"/>
            <a:ext cx="2208811" cy="712519"/>
            <a:chOff x="6531426" y="3740726"/>
            <a:chExt cx="2208811" cy="712519"/>
          </a:xfrm>
        </p:grpSpPr>
        <p:sp>
          <p:nvSpPr>
            <p:cNvPr id="54" name="Pentagon 97">
              <a:extLst>
                <a:ext uri="{FF2B5EF4-FFF2-40B4-BE49-F238E27FC236}">
                  <a16:creationId xmlns:a16="http://schemas.microsoft.com/office/drawing/2014/main" id="{2AA20BF9-6944-4042-B975-0216E6DB6311}"/>
                </a:ext>
              </a:extLst>
            </p:cNvPr>
            <p:cNvSpPr/>
            <p:nvPr/>
          </p:nvSpPr>
          <p:spPr>
            <a:xfrm rot="10800000">
              <a:off x="6531426" y="3740726"/>
              <a:ext cx="2208811" cy="712519"/>
            </a:xfrm>
            <a:prstGeom prst="homePlate">
              <a:avLst/>
            </a:prstGeom>
            <a:gradFill flip="none" rotWithShape="1">
              <a:gsLst>
                <a:gs pos="0">
                  <a:schemeClr val="accent2">
                    <a:tint val="66000"/>
                    <a:satMod val="160000"/>
                  </a:schemeClr>
                </a:gs>
                <a:gs pos="50000">
                  <a:schemeClr val="accent2">
                    <a:tint val="44500"/>
                    <a:satMod val="160000"/>
                  </a:schemeClr>
                </a:gs>
                <a:gs pos="100000">
                  <a:schemeClr val="accent2">
                    <a:tint val="23500"/>
                    <a:satMod val="1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0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AF3766C3-78EC-4A47-82E9-F36DFE09A7AB}"/>
                </a:ext>
              </a:extLst>
            </p:cNvPr>
            <p:cNvSpPr txBox="1"/>
            <p:nvPr/>
          </p:nvSpPr>
          <p:spPr>
            <a:xfrm rot="10800000">
              <a:off x="6777451" y="3804598"/>
              <a:ext cx="194482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600" b="1" dirty="0">
                  <a:solidFill>
                    <a:srgbClr val="800000"/>
                  </a:solidFill>
                  <a:latin typeface="Arial" pitchFamily="34" charset="0"/>
                  <a:cs typeface="Arial" pitchFamily="34" charset="0"/>
                </a:rPr>
                <a:t>Work out</a:t>
              </a:r>
            </a:p>
            <a:p>
              <a:pPr algn="ctr"/>
              <a:r>
                <a:rPr lang="en-GB" sz="1600" b="1" dirty="0">
                  <a:solidFill>
                    <a:srgbClr val="800000"/>
                  </a:solidFill>
                  <a:latin typeface="Arial" pitchFamily="34" charset="0"/>
                  <a:cs typeface="Arial" pitchFamily="34" charset="0"/>
                </a:rPr>
                <a:t>80   ÷   50</a:t>
              </a:r>
            </a:p>
          </p:txBody>
        </p:sp>
      </p:grpSp>
      <p:grpSp>
        <p:nvGrpSpPr>
          <p:cNvPr id="56" name="Group 15">
            <a:extLst>
              <a:ext uri="{FF2B5EF4-FFF2-40B4-BE49-F238E27FC236}">
                <a16:creationId xmlns:a16="http://schemas.microsoft.com/office/drawing/2014/main" id="{601922E6-44E4-472F-9503-E83CC96060DA}"/>
              </a:ext>
            </a:extLst>
          </p:cNvPr>
          <p:cNvGrpSpPr/>
          <p:nvPr/>
        </p:nvGrpSpPr>
        <p:grpSpPr>
          <a:xfrm>
            <a:off x="4507556" y="5418838"/>
            <a:ext cx="5497618" cy="504056"/>
            <a:chOff x="395536" y="1409582"/>
            <a:chExt cx="5544616" cy="504056"/>
          </a:xfrm>
        </p:grpSpPr>
        <p:sp>
          <p:nvSpPr>
            <p:cNvPr id="57" name="Rounded Rectangle 35">
              <a:extLst>
                <a:ext uri="{FF2B5EF4-FFF2-40B4-BE49-F238E27FC236}">
                  <a16:creationId xmlns:a16="http://schemas.microsoft.com/office/drawing/2014/main" id="{C9FF7D81-157C-489B-9DE7-92BCC626339D}"/>
                </a:ext>
              </a:extLst>
            </p:cNvPr>
            <p:cNvSpPr/>
            <p:nvPr/>
          </p:nvSpPr>
          <p:spPr>
            <a:xfrm>
              <a:off x="395536" y="1409582"/>
              <a:ext cx="5544616" cy="504056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A50021">
                    <a:tint val="66000"/>
                    <a:satMod val="160000"/>
                  </a:srgbClr>
                </a:gs>
                <a:gs pos="50000">
                  <a:srgbClr val="A50021">
                    <a:tint val="44500"/>
                    <a:satMod val="160000"/>
                  </a:srgbClr>
                </a:gs>
                <a:gs pos="100000">
                  <a:srgbClr val="A50021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4CDB5F69-DF28-4B22-A8D1-E4B0F30E1895}"/>
                </a:ext>
              </a:extLst>
            </p:cNvPr>
            <p:cNvSpPr txBox="1"/>
            <p:nvPr/>
          </p:nvSpPr>
          <p:spPr>
            <a:xfrm>
              <a:off x="539551" y="1430778"/>
              <a:ext cx="525658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2400" b="1" dirty="0">
                  <a:latin typeface="Arial" pitchFamily="34" charset="0"/>
                  <a:cs typeface="Arial" pitchFamily="34" charset="0"/>
                </a:rPr>
                <a:t>Time   =   1hour 36 minutes</a:t>
              </a:r>
            </a:p>
          </p:txBody>
        </p:sp>
      </p:grpSp>
      <p:grpSp>
        <p:nvGrpSpPr>
          <p:cNvPr id="59" name="Group 96">
            <a:extLst>
              <a:ext uri="{FF2B5EF4-FFF2-40B4-BE49-F238E27FC236}">
                <a16:creationId xmlns:a16="http://schemas.microsoft.com/office/drawing/2014/main" id="{09CEB4A6-1F03-457C-A9D3-77D407846137}"/>
              </a:ext>
            </a:extLst>
          </p:cNvPr>
          <p:cNvGrpSpPr/>
          <p:nvPr/>
        </p:nvGrpSpPr>
        <p:grpSpPr>
          <a:xfrm rot="10800000">
            <a:off x="1950512" y="5314607"/>
            <a:ext cx="2208811" cy="712519"/>
            <a:chOff x="6531426" y="3740726"/>
            <a:chExt cx="2208811" cy="712519"/>
          </a:xfrm>
        </p:grpSpPr>
        <p:sp>
          <p:nvSpPr>
            <p:cNvPr id="60" name="Pentagon 38">
              <a:extLst>
                <a:ext uri="{FF2B5EF4-FFF2-40B4-BE49-F238E27FC236}">
                  <a16:creationId xmlns:a16="http://schemas.microsoft.com/office/drawing/2014/main" id="{C1EB0830-7A5A-4A6A-8898-1FD4C272A685}"/>
                </a:ext>
              </a:extLst>
            </p:cNvPr>
            <p:cNvSpPr/>
            <p:nvPr/>
          </p:nvSpPr>
          <p:spPr>
            <a:xfrm rot="10800000">
              <a:off x="6531426" y="3740726"/>
              <a:ext cx="2208811" cy="712519"/>
            </a:xfrm>
            <a:prstGeom prst="homePlate">
              <a:avLst/>
            </a:prstGeom>
            <a:gradFill flip="none" rotWithShape="1">
              <a:gsLst>
                <a:gs pos="0">
                  <a:schemeClr val="accent2">
                    <a:tint val="66000"/>
                    <a:satMod val="160000"/>
                  </a:schemeClr>
                </a:gs>
                <a:gs pos="50000">
                  <a:schemeClr val="accent2">
                    <a:tint val="44500"/>
                    <a:satMod val="160000"/>
                  </a:schemeClr>
                </a:gs>
                <a:gs pos="100000">
                  <a:schemeClr val="accent2">
                    <a:tint val="23500"/>
                    <a:satMod val="1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0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89552F65-6FC3-487F-A4D1-CF28C36D3F36}"/>
                </a:ext>
              </a:extLst>
            </p:cNvPr>
            <p:cNvSpPr txBox="1"/>
            <p:nvPr/>
          </p:nvSpPr>
          <p:spPr>
            <a:xfrm rot="10800000">
              <a:off x="6685681" y="3804598"/>
              <a:ext cx="203659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600" b="1" dirty="0">
                  <a:solidFill>
                    <a:srgbClr val="800000"/>
                  </a:solidFill>
                  <a:latin typeface="Arial" pitchFamily="34" charset="0"/>
                  <a:cs typeface="Arial" pitchFamily="34" charset="0"/>
                </a:rPr>
                <a:t>Write time in hours and minutes</a:t>
              </a:r>
            </a:p>
          </p:txBody>
        </p:sp>
      </p:grpSp>
      <p:sp>
        <p:nvSpPr>
          <p:cNvPr id="62" name="TextBox 61">
            <a:extLst>
              <a:ext uri="{FF2B5EF4-FFF2-40B4-BE49-F238E27FC236}">
                <a16:creationId xmlns:a16="http://schemas.microsoft.com/office/drawing/2014/main" id="{312E7926-BB7F-437F-8916-17185CD01C0F}"/>
              </a:ext>
            </a:extLst>
          </p:cNvPr>
          <p:cNvSpPr txBox="1"/>
          <p:nvPr/>
        </p:nvSpPr>
        <p:spPr>
          <a:xfrm>
            <a:off x="4623746" y="4664606"/>
            <a:ext cx="52120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0.6  x  60   =   36</a:t>
            </a:r>
          </a:p>
        </p:txBody>
      </p:sp>
      <p:grpSp>
        <p:nvGrpSpPr>
          <p:cNvPr id="63" name="Group 96">
            <a:extLst>
              <a:ext uri="{FF2B5EF4-FFF2-40B4-BE49-F238E27FC236}">
                <a16:creationId xmlns:a16="http://schemas.microsoft.com/office/drawing/2014/main" id="{F59431A4-9215-4C7E-9E20-A903430C9882}"/>
              </a:ext>
            </a:extLst>
          </p:cNvPr>
          <p:cNvGrpSpPr/>
          <p:nvPr/>
        </p:nvGrpSpPr>
        <p:grpSpPr>
          <a:xfrm rot="10800000">
            <a:off x="1950512" y="4508402"/>
            <a:ext cx="2208811" cy="712519"/>
            <a:chOff x="6531426" y="3740726"/>
            <a:chExt cx="2208811" cy="712519"/>
          </a:xfrm>
        </p:grpSpPr>
        <p:sp>
          <p:nvSpPr>
            <p:cNvPr id="64" name="Pentagon 43">
              <a:extLst>
                <a:ext uri="{FF2B5EF4-FFF2-40B4-BE49-F238E27FC236}">
                  <a16:creationId xmlns:a16="http://schemas.microsoft.com/office/drawing/2014/main" id="{73E4FDD8-C181-4E7B-9DC6-37AA7820AB2B}"/>
                </a:ext>
              </a:extLst>
            </p:cNvPr>
            <p:cNvSpPr/>
            <p:nvPr/>
          </p:nvSpPr>
          <p:spPr>
            <a:xfrm rot="10800000">
              <a:off x="6531426" y="3740726"/>
              <a:ext cx="2208811" cy="712519"/>
            </a:xfrm>
            <a:prstGeom prst="homePlate">
              <a:avLst/>
            </a:prstGeom>
            <a:gradFill flip="none" rotWithShape="1">
              <a:gsLst>
                <a:gs pos="100000">
                  <a:schemeClr val="accent2">
                    <a:tint val="66000"/>
                    <a:satMod val="160000"/>
                  </a:schemeClr>
                </a:gs>
                <a:gs pos="50000">
                  <a:schemeClr val="accent2">
                    <a:tint val="44500"/>
                    <a:satMod val="160000"/>
                  </a:schemeClr>
                </a:gs>
                <a:gs pos="100000">
                  <a:schemeClr val="accent2">
                    <a:tint val="23500"/>
                    <a:satMod val="1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B7F72A0F-CF0A-4BF7-A7AD-7BC793D356BC}"/>
                </a:ext>
              </a:extLst>
            </p:cNvPr>
            <p:cNvSpPr txBox="1"/>
            <p:nvPr/>
          </p:nvSpPr>
          <p:spPr>
            <a:xfrm rot="10800000">
              <a:off x="6777451" y="3773820"/>
              <a:ext cx="194482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200" b="1" dirty="0">
                  <a:solidFill>
                    <a:srgbClr val="FF0000"/>
                  </a:solidFill>
                  <a:latin typeface="Arial" pitchFamily="34" charset="0"/>
                  <a:cs typeface="Arial" pitchFamily="34" charset="0"/>
                </a:rPr>
                <a:t>Change 0.6 hours into minutes by multiplying</a:t>
              </a:r>
            </a:p>
            <a:p>
              <a:pPr algn="ctr"/>
              <a:r>
                <a:rPr lang="en-GB" sz="1200" b="1" dirty="0">
                  <a:solidFill>
                    <a:srgbClr val="FF0000"/>
                  </a:solidFill>
                  <a:latin typeface="Arial" pitchFamily="34" charset="0"/>
                  <a:cs typeface="Arial" pitchFamily="34" charset="0"/>
                </a:rPr>
                <a:t>by 60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877745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34" grpId="0"/>
      <p:bldP spid="6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ounded Rectangle 45">
            <a:extLst>
              <a:ext uri="{FF2B5EF4-FFF2-40B4-BE49-F238E27FC236}">
                <a16:creationId xmlns:a16="http://schemas.microsoft.com/office/drawing/2014/main" id="{5EF5D9C1-67DD-486A-9A79-E7F8CB25A51E}"/>
              </a:ext>
            </a:extLst>
          </p:cNvPr>
          <p:cNvSpPr/>
          <p:nvPr/>
        </p:nvSpPr>
        <p:spPr>
          <a:xfrm>
            <a:off x="1796512" y="1185250"/>
            <a:ext cx="8598976" cy="4963885"/>
          </a:xfrm>
          <a:prstGeom prst="roundRect">
            <a:avLst>
              <a:gd name="adj" fmla="val 713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31" name="Group 15">
            <a:extLst>
              <a:ext uri="{FF2B5EF4-FFF2-40B4-BE49-F238E27FC236}">
                <a16:creationId xmlns:a16="http://schemas.microsoft.com/office/drawing/2014/main" id="{157B9CC9-8D73-497F-AFDF-65D414AD5DBF}"/>
              </a:ext>
            </a:extLst>
          </p:cNvPr>
          <p:cNvGrpSpPr/>
          <p:nvPr/>
        </p:nvGrpSpPr>
        <p:grpSpPr>
          <a:xfrm>
            <a:off x="2105891" y="371309"/>
            <a:ext cx="7980218" cy="504056"/>
            <a:chOff x="395536" y="1409582"/>
            <a:chExt cx="5544616" cy="504056"/>
          </a:xfrm>
        </p:grpSpPr>
        <p:sp>
          <p:nvSpPr>
            <p:cNvPr id="32" name="Rounded Rectangle 14">
              <a:extLst>
                <a:ext uri="{FF2B5EF4-FFF2-40B4-BE49-F238E27FC236}">
                  <a16:creationId xmlns:a16="http://schemas.microsoft.com/office/drawing/2014/main" id="{B02983FB-9D73-4314-B340-162179E90803}"/>
                </a:ext>
              </a:extLst>
            </p:cNvPr>
            <p:cNvSpPr/>
            <p:nvPr/>
          </p:nvSpPr>
          <p:spPr>
            <a:xfrm>
              <a:off x="395536" y="1409582"/>
              <a:ext cx="5544616" cy="504056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100000">
                  <a:srgbClr val="A50021">
                    <a:tint val="66000"/>
                    <a:satMod val="160000"/>
                  </a:srgbClr>
                </a:gs>
                <a:gs pos="50000">
                  <a:srgbClr val="A50021">
                    <a:tint val="44500"/>
                    <a:satMod val="160000"/>
                  </a:srgbClr>
                </a:gs>
                <a:gs pos="100000">
                  <a:srgbClr val="A50021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B6C8854A-794F-470B-924F-9BDA3047F3A2}"/>
                </a:ext>
              </a:extLst>
            </p:cNvPr>
            <p:cNvSpPr txBox="1"/>
            <p:nvPr/>
          </p:nvSpPr>
          <p:spPr>
            <a:xfrm>
              <a:off x="539551" y="1430778"/>
              <a:ext cx="525658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2400" b="1" dirty="0">
                  <a:latin typeface="Arial" pitchFamily="34" charset="0"/>
                  <a:cs typeface="Arial" pitchFamily="34" charset="0"/>
                </a:rPr>
                <a:t>Calculating the Time</a:t>
              </a:r>
            </a:p>
          </p:txBody>
        </p: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291F3B6C-70E5-4B81-8D1B-D08E557CD7E6}"/>
              </a:ext>
            </a:extLst>
          </p:cNvPr>
          <p:cNvSpPr txBox="1"/>
          <p:nvPr/>
        </p:nvSpPr>
        <p:spPr>
          <a:xfrm>
            <a:off x="4801876" y="3845209"/>
            <a:ext cx="52120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b="1" dirty="0">
                <a:latin typeface="Arial" pitchFamily="34" charset="0"/>
                <a:cs typeface="Arial" pitchFamily="34" charset="0"/>
              </a:rPr>
              <a:t>Time   =   1.25 h</a:t>
            </a:r>
          </a:p>
        </p:txBody>
      </p:sp>
      <p:grpSp>
        <p:nvGrpSpPr>
          <p:cNvPr id="35" name="Group 42">
            <a:extLst>
              <a:ext uri="{FF2B5EF4-FFF2-40B4-BE49-F238E27FC236}">
                <a16:creationId xmlns:a16="http://schemas.microsoft.com/office/drawing/2014/main" id="{005807C9-B64B-478D-940C-4A95170F552F}"/>
              </a:ext>
            </a:extLst>
          </p:cNvPr>
          <p:cNvGrpSpPr/>
          <p:nvPr/>
        </p:nvGrpSpPr>
        <p:grpSpPr>
          <a:xfrm>
            <a:off x="2084518" y="1315466"/>
            <a:ext cx="8022964" cy="584775"/>
            <a:chOff x="551020" y="1531494"/>
            <a:chExt cx="8022964" cy="584775"/>
          </a:xfrm>
        </p:grpSpPr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99B2F3E6-4452-4E1A-9D35-F0E7CD37D941}"/>
                </a:ext>
              </a:extLst>
            </p:cNvPr>
            <p:cNvSpPr txBox="1"/>
            <p:nvPr/>
          </p:nvSpPr>
          <p:spPr>
            <a:xfrm>
              <a:off x="551020" y="1531494"/>
              <a:ext cx="153903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600" dirty="0">
                  <a:latin typeface="Arial" pitchFamily="34" charset="0"/>
                  <a:cs typeface="Arial" pitchFamily="34" charset="0"/>
                </a:rPr>
                <a:t>Example 2:</a:t>
              </a:r>
              <a:endParaRPr lang="en-GB" sz="1600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DF57CFAB-42E2-4814-8F28-A819324B8F1D}"/>
                </a:ext>
              </a:extLst>
            </p:cNvPr>
            <p:cNvSpPr txBox="1"/>
            <p:nvPr/>
          </p:nvSpPr>
          <p:spPr>
            <a:xfrm>
              <a:off x="1890953" y="1531494"/>
              <a:ext cx="668303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600" b="1" dirty="0">
                  <a:latin typeface="Arial" pitchFamily="34" charset="0"/>
                  <a:cs typeface="Arial" pitchFamily="34" charset="0"/>
                </a:rPr>
                <a:t>A cyclist cycled for 15 kilometres at a constant speed of 12 kilometres per hour.  For how long was the cyclist cycling?</a:t>
              </a:r>
            </a:p>
          </p:txBody>
        </p:sp>
      </p:grpSp>
      <p:grpSp>
        <p:nvGrpSpPr>
          <p:cNvPr id="38" name="Group 44">
            <a:extLst>
              <a:ext uri="{FF2B5EF4-FFF2-40B4-BE49-F238E27FC236}">
                <a16:creationId xmlns:a16="http://schemas.microsoft.com/office/drawing/2014/main" id="{ABCF7C04-915C-4083-A96C-BE72C816DFB3}"/>
              </a:ext>
            </a:extLst>
          </p:cNvPr>
          <p:cNvGrpSpPr/>
          <p:nvPr/>
        </p:nvGrpSpPr>
        <p:grpSpPr>
          <a:xfrm>
            <a:off x="5288443" y="1987289"/>
            <a:ext cx="4227615" cy="926275"/>
            <a:chOff x="2185060" y="1205798"/>
            <a:chExt cx="4322618" cy="926275"/>
          </a:xfrm>
        </p:grpSpPr>
        <p:sp>
          <p:nvSpPr>
            <p:cNvPr id="39" name="Rounded Rectangle 46">
              <a:extLst>
                <a:ext uri="{FF2B5EF4-FFF2-40B4-BE49-F238E27FC236}">
                  <a16:creationId xmlns:a16="http://schemas.microsoft.com/office/drawing/2014/main" id="{4C7413F2-BFFB-4611-9A96-49CAD2720B0F}"/>
                </a:ext>
              </a:extLst>
            </p:cNvPr>
            <p:cNvSpPr/>
            <p:nvPr/>
          </p:nvSpPr>
          <p:spPr>
            <a:xfrm>
              <a:off x="2185060" y="1205798"/>
              <a:ext cx="4322618" cy="926275"/>
            </a:xfrm>
            <a:prstGeom prst="roundRect">
              <a:avLst>
                <a:gd name="adj" fmla="val 28082"/>
              </a:avLst>
            </a:prstGeom>
            <a:gradFill flip="none" rotWithShape="1">
              <a:gsLst>
                <a:gs pos="0">
                  <a:srgbClr val="A50021">
                    <a:tint val="66000"/>
                    <a:satMod val="160000"/>
                  </a:srgbClr>
                </a:gs>
                <a:gs pos="50000">
                  <a:srgbClr val="A50021">
                    <a:tint val="44500"/>
                    <a:satMod val="160000"/>
                  </a:srgbClr>
                </a:gs>
                <a:gs pos="100000">
                  <a:srgbClr val="A50021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000">
                <a:latin typeface="Arial" pitchFamily="34" charset="0"/>
                <a:cs typeface="Arial" pitchFamily="34" charset="0"/>
              </a:endParaRPr>
            </a:p>
          </p:txBody>
        </p:sp>
        <p:grpSp>
          <p:nvGrpSpPr>
            <p:cNvPr id="40" name="Group 42">
              <a:extLst>
                <a:ext uri="{FF2B5EF4-FFF2-40B4-BE49-F238E27FC236}">
                  <a16:creationId xmlns:a16="http://schemas.microsoft.com/office/drawing/2014/main" id="{25B77376-4458-415C-84D2-F1C6BA140311}"/>
                </a:ext>
              </a:extLst>
            </p:cNvPr>
            <p:cNvGrpSpPr/>
            <p:nvPr/>
          </p:nvGrpSpPr>
          <p:grpSpPr>
            <a:xfrm>
              <a:off x="2469535" y="1300937"/>
              <a:ext cx="3705100" cy="707886"/>
              <a:chOff x="2386408" y="1224062"/>
              <a:chExt cx="3705100" cy="707886"/>
            </a:xfrm>
          </p:grpSpPr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2CF4D842-605D-4397-8729-AEA51253FB94}"/>
                  </a:ext>
                </a:extLst>
              </p:cNvPr>
              <p:cNvGrpSpPr/>
              <p:nvPr/>
            </p:nvGrpSpPr>
            <p:grpSpPr>
              <a:xfrm>
                <a:off x="4428963" y="1224062"/>
                <a:ext cx="1662545" cy="707886"/>
                <a:chOff x="4428963" y="1224062"/>
                <a:chExt cx="1662545" cy="707886"/>
              </a:xfrm>
            </p:grpSpPr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D7EE84C3-225B-4373-BCFD-052519A0D85F}"/>
                    </a:ext>
                  </a:extLst>
                </p:cNvPr>
                <p:cNvSpPr txBox="1"/>
                <p:nvPr/>
              </p:nvSpPr>
              <p:spPr>
                <a:xfrm>
                  <a:off x="4428963" y="1224062"/>
                  <a:ext cx="1662545" cy="70788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GB" sz="2000" b="1" dirty="0">
                      <a:latin typeface="Arial" pitchFamily="34" charset="0"/>
                      <a:cs typeface="Arial" pitchFamily="34" charset="0"/>
                    </a:rPr>
                    <a:t>Distance</a:t>
                  </a:r>
                </a:p>
                <a:p>
                  <a:pPr algn="ctr"/>
                  <a:r>
                    <a:rPr lang="en-GB" sz="2000" b="1" dirty="0">
                      <a:latin typeface="Arial" pitchFamily="34" charset="0"/>
                      <a:cs typeface="Arial" pitchFamily="34" charset="0"/>
                    </a:rPr>
                    <a:t>Speed</a:t>
                  </a:r>
                </a:p>
              </p:txBody>
            </p:sp>
            <p:cxnSp>
              <p:nvCxnSpPr>
                <p:cNvPr id="44" name="Straight Connector 43">
                  <a:extLst>
                    <a:ext uri="{FF2B5EF4-FFF2-40B4-BE49-F238E27FC236}">
                      <a16:creationId xmlns:a16="http://schemas.microsoft.com/office/drawing/2014/main" id="{23391E3C-2729-4B0B-9117-9951F8860F61}"/>
                    </a:ext>
                  </a:extLst>
                </p:cNvPr>
                <p:cNvCxnSpPr/>
                <p:nvPr/>
              </p:nvCxnSpPr>
              <p:spPr>
                <a:xfrm>
                  <a:off x="4690753" y="1567543"/>
                  <a:ext cx="1187533" cy="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728EDF5E-E1B1-4066-80CD-3F3F751C4099}"/>
                  </a:ext>
                </a:extLst>
              </p:cNvPr>
              <p:cNvSpPr txBox="1"/>
              <p:nvPr/>
            </p:nvSpPr>
            <p:spPr>
              <a:xfrm>
                <a:off x="2386408" y="1361228"/>
                <a:ext cx="190005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GB" sz="2000" b="1" dirty="0">
                    <a:latin typeface="Arial" pitchFamily="34" charset="0"/>
                    <a:cs typeface="Arial" pitchFamily="34" charset="0"/>
                  </a:rPr>
                  <a:t>Time      =</a:t>
                </a:r>
              </a:p>
            </p:txBody>
          </p:sp>
        </p:grpSp>
      </p:grpSp>
      <p:grpSp>
        <p:nvGrpSpPr>
          <p:cNvPr id="45" name="Group 42">
            <a:extLst>
              <a:ext uri="{FF2B5EF4-FFF2-40B4-BE49-F238E27FC236}">
                <a16:creationId xmlns:a16="http://schemas.microsoft.com/office/drawing/2014/main" id="{F7FE00F1-A395-4906-94B4-E994CA33BF8C}"/>
              </a:ext>
            </a:extLst>
          </p:cNvPr>
          <p:cNvGrpSpPr/>
          <p:nvPr/>
        </p:nvGrpSpPr>
        <p:grpSpPr>
          <a:xfrm>
            <a:off x="5685419" y="2901839"/>
            <a:ext cx="3623669" cy="707886"/>
            <a:chOff x="2386408" y="1224062"/>
            <a:chExt cx="3705100" cy="707886"/>
          </a:xfrm>
        </p:grpSpPr>
        <p:grpSp>
          <p:nvGrpSpPr>
            <p:cNvPr id="46" name="Group 40">
              <a:extLst>
                <a:ext uri="{FF2B5EF4-FFF2-40B4-BE49-F238E27FC236}">
                  <a16:creationId xmlns:a16="http://schemas.microsoft.com/office/drawing/2014/main" id="{43366AC9-0B6F-4FE6-97AD-074A4768A191}"/>
                </a:ext>
              </a:extLst>
            </p:cNvPr>
            <p:cNvGrpSpPr/>
            <p:nvPr/>
          </p:nvGrpSpPr>
          <p:grpSpPr>
            <a:xfrm>
              <a:off x="4428963" y="1224062"/>
              <a:ext cx="1662545" cy="707886"/>
              <a:chOff x="4428963" y="1224062"/>
              <a:chExt cx="1662545" cy="707886"/>
            </a:xfrm>
          </p:grpSpPr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D49A2CDD-6385-40C7-A5F5-8BE2C9FEB29B}"/>
                  </a:ext>
                </a:extLst>
              </p:cNvPr>
              <p:cNvSpPr txBox="1"/>
              <p:nvPr/>
            </p:nvSpPr>
            <p:spPr>
              <a:xfrm>
                <a:off x="4428963" y="1224062"/>
                <a:ext cx="1662545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2000" b="1" dirty="0">
                    <a:latin typeface="Arial" pitchFamily="34" charset="0"/>
                    <a:cs typeface="Arial" pitchFamily="34" charset="0"/>
                  </a:rPr>
                  <a:t>15</a:t>
                </a:r>
              </a:p>
              <a:p>
                <a:pPr algn="ctr"/>
                <a:r>
                  <a:rPr lang="en-GB" sz="2000" b="1" dirty="0">
                    <a:latin typeface="Arial" pitchFamily="34" charset="0"/>
                    <a:cs typeface="Arial" pitchFamily="34" charset="0"/>
                  </a:rPr>
                  <a:t>12</a:t>
                </a:r>
              </a:p>
            </p:txBody>
          </p:sp>
          <p:cxnSp>
            <p:nvCxnSpPr>
              <p:cNvPr id="49" name="Straight Connector 48">
                <a:extLst>
                  <a:ext uri="{FF2B5EF4-FFF2-40B4-BE49-F238E27FC236}">
                    <a16:creationId xmlns:a16="http://schemas.microsoft.com/office/drawing/2014/main" id="{DE1BA3E1-C181-47C9-9CA4-7BB12D42A665}"/>
                  </a:ext>
                </a:extLst>
              </p:cNvPr>
              <p:cNvCxnSpPr/>
              <p:nvPr/>
            </p:nvCxnSpPr>
            <p:spPr>
              <a:xfrm>
                <a:off x="4962752" y="1567543"/>
                <a:ext cx="594967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E3FD8764-7A89-4A65-BDF0-A76FBA9FC055}"/>
                </a:ext>
              </a:extLst>
            </p:cNvPr>
            <p:cNvSpPr txBox="1"/>
            <p:nvPr/>
          </p:nvSpPr>
          <p:spPr>
            <a:xfrm>
              <a:off x="2386408" y="1361228"/>
              <a:ext cx="190005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GB" sz="2000" b="1" dirty="0">
                  <a:latin typeface="Arial" pitchFamily="34" charset="0"/>
                  <a:cs typeface="Arial" pitchFamily="34" charset="0"/>
                </a:rPr>
                <a:t>Time      =</a:t>
              </a:r>
            </a:p>
          </p:txBody>
        </p:sp>
      </p:grpSp>
      <p:grpSp>
        <p:nvGrpSpPr>
          <p:cNvPr id="50" name="Group 90">
            <a:extLst>
              <a:ext uri="{FF2B5EF4-FFF2-40B4-BE49-F238E27FC236}">
                <a16:creationId xmlns:a16="http://schemas.microsoft.com/office/drawing/2014/main" id="{9C48EC3D-2F75-46B7-ABA1-EB975697A886}"/>
              </a:ext>
            </a:extLst>
          </p:cNvPr>
          <p:cNvGrpSpPr/>
          <p:nvPr/>
        </p:nvGrpSpPr>
        <p:grpSpPr>
          <a:xfrm rot="10800000">
            <a:off x="2102912" y="2913577"/>
            <a:ext cx="2208811" cy="712519"/>
            <a:chOff x="6531426" y="3740726"/>
            <a:chExt cx="2208811" cy="712519"/>
          </a:xfrm>
        </p:grpSpPr>
        <p:sp>
          <p:nvSpPr>
            <p:cNvPr id="51" name="Pentagon 91">
              <a:extLst>
                <a:ext uri="{FF2B5EF4-FFF2-40B4-BE49-F238E27FC236}">
                  <a16:creationId xmlns:a16="http://schemas.microsoft.com/office/drawing/2014/main" id="{AADF2081-5B5B-407B-B1B4-D1D835E89960}"/>
                </a:ext>
              </a:extLst>
            </p:cNvPr>
            <p:cNvSpPr/>
            <p:nvPr/>
          </p:nvSpPr>
          <p:spPr>
            <a:xfrm rot="10800000">
              <a:off x="6531426" y="3740726"/>
              <a:ext cx="2208811" cy="712519"/>
            </a:xfrm>
            <a:prstGeom prst="homePlate">
              <a:avLst/>
            </a:prstGeom>
            <a:gradFill flip="none" rotWithShape="1">
              <a:gsLst>
                <a:gs pos="0">
                  <a:schemeClr val="accent2">
                    <a:tint val="66000"/>
                    <a:satMod val="160000"/>
                  </a:schemeClr>
                </a:gs>
                <a:gs pos="50000">
                  <a:schemeClr val="accent2">
                    <a:tint val="44500"/>
                    <a:satMod val="160000"/>
                  </a:schemeClr>
                </a:gs>
                <a:gs pos="100000">
                  <a:schemeClr val="accent2">
                    <a:tint val="23500"/>
                    <a:satMod val="1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0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D541DE6C-554B-4C8B-85E7-88015163A6FC}"/>
                </a:ext>
              </a:extLst>
            </p:cNvPr>
            <p:cNvSpPr txBox="1"/>
            <p:nvPr/>
          </p:nvSpPr>
          <p:spPr>
            <a:xfrm rot="10800000">
              <a:off x="6777451" y="3804598"/>
              <a:ext cx="194482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600" b="1" dirty="0">
                  <a:solidFill>
                    <a:srgbClr val="800000"/>
                  </a:solidFill>
                  <a:latin typeface="Arial" pitchFamily="34" charset="0"/>
                  <a:cs typeface="Arial" pitchFamily="34" charset="0"/>
                </a:rPr>
                <a:t>Put numbers</a:t>
              </a:r>
            </a:p>
            <a:p>
              <a:pPr algn="ctr"/>
              <a:r>
                <a:rPr lang="en-GB" sz="1600" b="1" dirty="0">
                  <a:solidFill>
                    <a:srgbClr val="800000"/>
                  </a:solidFill>
                  <a:latin typeface="Arial" pitchFamily="34" charset="0"/>
                  <a:cs typeface="Arial" pitchFamily="34" charset="0"/>
                </a:rPr>
                <a:t>into formula</a:t>
              </a:r>
            </a:p>
          </p:txBody>
        </p:sp>
      </p:grpSp>
      <p:grpSp>
        <p:nvGrpSpPr>
          <p:cNvPr id="53" name="Group 96">
            <a:extLst>
              <a:ext uri="{FF2B5EF4-FFF2-40B4-BE49-F238E27FC236}">
                <a16:creationId xmlns:a16="http://schemas.microsoft.com/office/drawing/2014/main" id="{66A1AD09-C7FC-436E-9085-C97A404D73B9}"/>
              </a:ext>
            </a:extLst>
          </p:cNvPr>
          <p:cNvGrpSpPr/>
          <p:nvPr/>
        </p:nvGrpSpPr>
        <p:grpSpPr>
          <a:xfrm rot="10800000">
            <a:off x="2102912" y="3719782"/>
            <a:ext cx="2208811" cy="712519"/>
            <a:chOff x="6531426" y="3740726"/>
            <a:chExt cx="2208811" cy="712519"/>
          </a:xfrm>
        </p:grpSpPr>
        <p:sp>
          <p:nvSpPr>
            <p:cNvPr id="54" name="Pentagon 97">
              <a:extLst>
                <a:ext uri="{FF2B5EF4-FFF2-40B4-BE49-F238E27FC236}">
                  <a16:creationId xmlns:a16="http://schemas.microsoft.com/office/drawing/2014/main" id="{1AB714EB-FBDA-4AD8-9967-545A49828A73}"/>
                </a:ext>
              </a:extLst>
            </p:cNvPr>
            <p:cNvSpPr/>
            <p:nvPr/>
          </p:nvSpPr>
          <p:spPr>
            <a:xfrm rot="10800000">
              <a:off x="6531426" y="3740726"/>
              <a:ext cx="2208811" cy="712519"/>
            </a:xfrm>
            <a:prstGeom prst="homePlate">
              <a:avLst/>
            </a:prstGeom>
            <a:gradFill flip="none" rotWithShape="1">
              <a:gsLst>
                <a:gs pos="0">
                  <a:schemeClr val="accent2">
                    <a:tint val="66000"/>
                    <a:satMod val="160000"/>
                  </a:schemeClr>
                </a:gs>
                <a:gs pos="50000">
                  <a:schemeClr val="accent2">
                    <a:tint val="44500"/>
                    <a:satMod val="160000"/>
                  </a:schemeClr>
                </a:gs>
                <a:gs pos="100000">
                  <a:schemeClr val="accent2">
                    <a:tint val="23500"/>
                    <a:satMod val="1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0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CE2FF753-E73C-4BBC-8374-205BC19F89A0}"/>
                </a:ext>
              </a:extLst>
            </p:cNvPr>
            <p:cNvSpPr txBox="1"/>
            <p:nvPr/>
          </p:nvSpPr>
          <p:spPr>
            <a:xfrm rot="10800000">
              <a:off x="6777451" y="3804598"/>
              <a:ext cx="194482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600" b="1" dirty="0">
                  <a:solidFill>
                    <a:srgbClr val="800000"/>
                  </a:solidFill>
                  <a:latin typeface="Arial" pitchFamily="34" charset="0"/>
                  <a:cs typeface="Arial" pitchFamily="34" charset="0"/>
                </a:rPr>
                <a:t>Work out</a:t>
              </a:r>
            </a:p>
            <a:p>
              <a:pPr algn="ctr"/>
              <a:r>
                <a:rPr lang="en-GB" sz="1600" b="1" dirty="0">
                  <a:solidFill>
                    <a:srgbClr val="800000"/>
                  </a:solidFill>
                  <a:latin typeface="Arial" pitchFamily="34" charset="0"/>
                  <a:cs typeface="Arial" pitchFamily="34" charset="0"/>
                </a:rPr>
                <a:t>15   ÷   12</a:t>
              </a:r>
            </a:p>
          </p:txBody>
        </p:sp>
      </p:grpSp>
      <p:grpSp>
        <p:nvGrpSpPr>
          <p:cNvPr id="56" name="Group 15">
            <a:extLst>
              <a:ext uri="{FF2B5EF4-FFF2-40B4-BE49-F238E27FC236}">
                <a16:creationId xmlns:a16="http://schemas.microsoft.com/office/drawing/2014/main" id="{DC34F5E4-C413-4A1D-AAAE-0B2E7EC31EF0}"/>
              </a:ext>
            </a:extLst>
          </p:cNvPr>
          <p:cNvGrpSpPr/>
          <p:nvPr/>
        </p:nvGrpSpPr>
        <p:grpSpPr>
          <a:xfrm>
            <a:off x="4659956" y="5436423"/>
            <a:ext cx="5497618" cy="504056"/>
            <a:chOff x="395536" y="1409582"/>
            <a:chExt cx="5544616" cy="504056"/>
          </a:xfrm>
        </p:grpSpPr>
        <p:sp>
          <p:nvSpPr>
            <p:cNvPr id="57" name="Rounded Rectangle 35">
              <a:extLst>
                <a:ext uri="{FF2B5EF4-FFF2-40B4-BE49-F238E27FC236}">
                  <a16:creationId xmlns:a16="http://schemas.microsoft.com/office/drawing/2014/main" id="{4318FDE9-60C9-4F3D-8AD5-1128F1DC80D2}"/>
                </a:ext>
              </a:extLst>
            </p:cNvPr>
            <p:cNvSpPr/>
            <p:nvPr/>
          </p:nvSpPr>
          <p:spPr>
            <a:xfrm>
              <a:off x="395536" y="1409582"/>
              <a:ext cx="5544616" cy="504056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A50021">
                    <a:tint val="66000"/>
                    <a:satMod val="160000"/>
                  </a:srgbClr>
                </a:gs>
                <a:gs pos="50000">
                  <a:srgbClr val="A50021">
                    <a:tint val="44500"/>
                    <a:satMod val="160000"/>
                  </a:srgbClr>
                </a:gs>
                <a:gs pos="100000">
                  <a:srgbClr val="A50021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FCA7017B-9E0E-407D-93FA-0BE26A00ADB2}"/>
                </a:ext>
              </a:extLst>
            </p:cNvPr>
            <p:cNvSpPr txBox="1"/>
            <p:nvPr/>
          </p:nvSpPr>
          <p:spPr>
            <a:xfrm>
              <a:off x="539551" y="1430778"/>
              <a:ext cx="525658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2400" b="1" dirty="0">
                  <a:latin typeface="Arial" pitchFamily="34" charset="0"/>
                  <a:cs typeface="Arial" pitchFamily="34" charset="0"/>
                </a:rPr>
                <a:t>Time   =   1hour 15 minutes</a:t>
              </a:r>
            </a:p>
          </p:txBody>
        </p:sp>
      </p:grpSp>
      <p:grpSp>
        <p:nvGrpSpPr>
          <p:cNvPr id="59" name="Group 96">
            <a:extLst>
              <a:ext uri="{FF2B5EF4-FFF2-40B4-BE49-F238E27FC236}">
                <a16:creationId xmlns:a16="http://schemas.microsoft.com/office/drawing/2014/main" id="{D538F3D2-8B44-4346-8A44-134E957F3936}"/>
              </a:ext>
            </a:extLst>
          </p:cNvPr>
          <p:cNvGrpSpPr/>
          <p:nvPr/>
        </p:nvGrpSpPr>
        <p:grpSpPr>
          <a:xfrm rot="10800000">
            <a:off x="2102912" y="5332192"/>
            <a:ext cx="2208811" cy="712519"/>
            <a:chOff x="6531426" y="3740726"/>
            <a:chExt cx="2208811" cy="712519"/>
          </a:xfrm>
        </p:grpSpPr>
        <p:sp>
          <p:nvSpPr>
            <p:cNvPr id="60" name="Pentagon 38">
              <a:extLst>
                <a:ext uri="{FF2B5EF4-FFF2-40B4-BE49-F238E27FC236}">
                  <a16:creationId xmlns:a16="http://schemas.microsoft.com/office/drawing/2014/main" id="{BB05D8CA-083B-4A27-9B21-54BDB90E41A7}"/>
                </a:ext>
              </a:extLst>
            </p:cNvPr>
            <p:cNvSpPr/>
            <p:nvPr/>
          </p:nvSpPr>
          <p:spPr>
            <a:xfrm rot="10800000">
              <a:off x="6531426" y="3740726"/>
              <a:ext cx="2208811" cy="712519"/>
            </a:xfrm>
            <a:prstGeom prst="homePlate">
              <a:avLst/>
            </a:prstGeom>
            <a:gradFill flip="none" rotWithShape="1">
              <a:gsLst>
                <a:gs pos="0">
                  <a:schemeClr val="accent2">
                    <a:tint val="66000"/>
                    <a:satMod val="160000"/>
                  </a:schemeClr>
                </a:gs>
                <a:gs pos="50000">
                  <a:schemeClr val="accent2">
                    <a:tint val="44500"/>
                    <a:satMod val="160000"/>
                  </a:schemeClr>
                </a:gs>
                <a:gs pos="100000">
                  <a:schemeClr val="accent2">
                    <a:tint val="23500"/>
                    <a:satMod val="1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0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94C5A775-D9D3-43A4-9EC3-4B745A602816}"/>
                </a:ext>
              </a:extLst>
            </p:cNvPr>
            <p:cNvSpPr txBox="1"/>
            <p:nvPr/>
          </p:nvSpPr>
          <p:spPr>
            <a:xfrm rot="10800000">
              <a:off x="6685681" y="3804598"/>
              <a:ext cx="203659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600" b="1" dirty="0">
                  <a:solidFill>
                    <a:srgbClr val="800000"/>
                  </a:solidFill>
                  <a:latin typeface="Arial" pitchFamily="34" charset="0"/>
                  <a:cs typeface="Arial" pitchFamily="34" charset="0"/>
                </a:rPr>
                <a:t>Write time in hours and minutes</a:t>
              </a:r>
            </a:p>
          </p:txBody>
        </p:sp>
      </p:grpSp>
      <p:sp>
        <p:nvSpPr>
          <p:cNvPr id="62" name="TextBox 61">
            <a:extLst>
              <a:ext uri="{FF2B5EF4-FFF2-40B4-BE49-F238E27FC236}">
                <a16:creationId xmlns:a16="http://schemas.microsoft.com/office/drawing/2014/main" id="{E12ED2E5-B604-4F1D-B4C8-1A0B26F39245}"/>
              </a:ext>
            </a:extLst>
          </p:cNvPr>
          <p:cNvSpPr txBox="1"/>
          <p:nvPr/>
        </p:nvSpPr>
        <p:spPr>
          <a:xfrm>
            <a:off x="4776146" y="4682191"/>
            <a:ext cx="52120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0.25  x  60   =   15</a:t>
            </a:r>
          </a:p>
        </p:txBody>
      </p:sp>
      <p:grpSp>
        <p:nvGrpSpPr>
          <p:cNvPr id="63" name="Group 96">
            <a:extLst>
              <a:ext uri="{FF2B5EF4-FFF2-40B4-BE49-F238E27FC236}">
                <a16:creationId xmlns:a16="http://schemas.microsoft.com/office/drawing/2014/main" id="{B1FF7493-DDEE-4805-B117-4B0AD8BDB195}"/>
              </a:ext>
            </a:extLst>
          </p:cNvPr>
          <p:cNvGrpSpPr/>
          <p:nvPr/>
        </p:nvGrpSpPr>
        <p:grpSpPr>
          <a:xfrm rot="10800000">
            <a:off x="2102912" y="4525987"/>
            <a:ext cx="2208811" cy="712519"/>
            <a:chOff x="6531426" y="3740726"/>
            <a:chExt cx="2208811" cy="712519"/>
          </a:xfrm>
        </p:grpSpPr>
        <p:sp>
          <p:nvSpPr>
            <p:cNvPr id="64" name="Pentagon 43">
              <a:extLst>
                <a:ext uri="{FF2B5EF4-FFF2-40B4-BE49-F238E27FC236}">
                  <a16:creationId xmlns:a16="http://schemas.microsoft.com/office/drawing/2014/main" id="{FBDA7FB2-3AFA-422C-BA83-8414E4D08EBE}"/>
                </a:ext>
              </a:extLst>
            </p:cNvPr>
            <p:cNvSpPr/>
            <p:nvPr/>
          </p:nvSpPr>
          <p:spPr>
            <a:xfrm rot="10800000">
              <a:off x="6531426" y="3740726"/>
              <a:ext cx="2208811" cy="712519"/>
            </a:xfrm>
            <a:prstGeom prst="homePlate">
              <a:avLst/>
            </a:prstGeom>
            <a:gradFill flip="none" rotWithShape="1">
              <a:gsLst>
                <a:gs pos="100000">
                  <a:schemeClr val="accent2">
                    <a:tint val="66000"/>
                    <a:satMod val="160000"/>
                  </a:schemeClr>
                </a:gs>
                <a:gs pos="50000">
                  <a:schemeClr val="accent2">
                    <a:tint val="44500"/>
                    <a:satMod val="160000"/>
                  </a:schemeClr>
                </a:gs>
                <a:gs pos="100000">
                  <a:schemeClr val="accent2">
                    <a:tint val="23500"/>
                    <a:satMod val="1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C2311CDB-CF04-4A93-8354-091234537537}"/>
                </a:ext>
              </a:extLst>
            </p:cNvPr>
            <p:cNvSpPr txBox="1"/>
            <p:nvPr/>
          </p:nvSpPr>
          <p:spPr>
            <a:xfrm rot="10800000">
              <a:off x="6777451" y="3773820"/>
              <a:ext cx="194482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200" b="1" dirty="0">
                  <a:solidFill>
                    <a:srgbClr val="FF0000"/>
                  </a:solidFill>
                  <a:latin typeface="Arial" pitchFamily="34" charset="0"/>
                  <a:cs typeface="Arial" pitchFamily="34" charset="0"/>
                </a:rPr>
                <a:t>Change 0.25 hours into minutes by multiplying</a:t>
              </a:r>
            </a:p>
            <a:p>
              <a:pPr algn="ctr"/>
              <a:r>
                <a:rPr lang="en-GB" sz="1200" b="1" dirty="0">
                  <a:solidFill>
                    <a:srgbClr val="FF0000"/>
                  </a:solidFill>
                  <a:latin typeface="Arial" pitchFamily="34" charset="0"/>
                  <a:cs typeface="Arial" pitchFamily="34" charset="0"/>
                </a:rPr>
                <a:t>by 60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20283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  <p:bldP spid="6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45">
            <a:extLst>
              <a:ext uri="{FF2B5EF4-FFF2-40B4-BE49-F238E27FC236}">
                <a16:creationId xmlns:a16="http://schemas.microsoft.com/office/drawing/2014/main" id="{D085BFAB-4AD5-41D2-B681-E269A866750A}"/>
              </a:ext>
            </a:extLst>
          </p:cNvPr>
          <p:cNvSpPr/>
          <p:nvPr/>
        </p:nvSpPr>
        <p:spPr>
          <a:xfrm>
            <a:off x="1978220" y="1167664"/>
            <a:ext cx="8598976" cy="4963885"/>
          </a:xfrm>
          <a:prstGeom prst="roundRect">
            <a:avLst>
              <a:gd name="adj" fmla="val 713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3" name="Group 15">
            <a:extLst>
              <a:ext uri="{FF2B5EF4-FFF2-40B4-BE49-F238E27FC236}">
                <a16:creationId xmlns:a16="http://schemas.microsoft.com/office/drawing/2014/main" id="{6944AB45-6465-4F0F-9899-867A8CC89750}"/>
              </a:ext>
            </a:extLst>
          </p:cNvPr>
          <p:cNvGrpSpPr/>
          <p:nvPr/>
        </p:nvGrpSpPr>
        <p:grpSpPr>
          <a:xfrm>
            <a:off x="2287599" y="353723"/>
            <a:ext cx="7980218" cy="504056"/>
            <a:chOff x="395536" y="1409582"/>
            <a:chExt cx="5544616" cy="504056"/>
          </a:xfrm>
        </p:grpSpPr>
        <p:sp>
          <p:nvSpPr>
            <p:cNvPr id="4" name="Rounded Rectangle 14">
              <a:extLst>
                <a:ext uri="{FF2B5EF4-FFF2-40B4-BE49-F238E27FC236}">
                  <a16:creationId xmlns:a16="http://schemas.microsoft.com/office/drawing/2014/main" id="{33BCC3BC-4BEA-43F1-8EC0-C64059F9ECFF}"/>
                </a:ext>
              </a:extLst>
            </p:cNvPr>
            <p:cNvSpPr/>
            <p:nvPr/>
          </p:nvSpPr>
          <p:spPr>
            <a:xfrm>
              <a:off x="395536" y="1409582"/>
              <a:ext cx="5544616" cy="504056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100000">
                  <a:srgbClr val="A50021">
                    <a:tint val="66000"/>
                    <a:satMod val="160000"/>
                  </a:srgbClr>
                </a:gs>
                <a:gs pos="50000">
                  <a:srgbClr val="A50021">
                    <a:tint val="44500"/>
                    <a:satMod val="160000"/>
                  </a:srgbClr>
                </a:gs>
                <a:gs pos="100000">
                  <a:srgbClr val="A50021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62DE8EE9-7126-488B-AB8B-0B78ABB86DC6}"/>
                </a:ext>
              </a:extLst>
            </p:cNvPr>
            <p:cNvSpPr txBox="1"/>
            <p:nvPr/>
          </p:nvSpPr>
          <p:spPr>
            <a:xfrm>
              <a:off x="539551" y="1430778"/>
              <a:ext cx="525658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2400" b="1" dirty="0">
                  <a:latin typeface="Arial" pitchFamily="34" charset="0"/>
                  <a:cs typeface="Arial" pitchFamily="34" charset="0"/>
                </a:rPr>
                <a:t>Calculating the Distance</a:t>
              </a:r>
            </a:p>
          </p:txBody>
        </p:sp>
      </p:grpSp>
      <p:grpSp>
        <p:nvGrpSpPr>
          <p:cNvPr id="6" name="Group 15">
            <a:extLst>
              <a:ext uri="{FF2B5EF4-FFF2-40B4-BE49-F238E27FC236}">
                <a16:creationId xmlns:a16="http://schemas.microsoft.com/office/drawing/2014/main" id="{A8C13505-D5AA-4408-B91A-BADE9C8BC442}"/>
              </a:ext>
            </a:extLst>
          </p:cNvPr>
          <p:cNvGrpSpPr/>
          <p:nvPr/>
        </p:nvGrpSpPr>
        <p:grpSpPr>
          <a:xfrm>
            <a:off x="4840790" y="5114387"/>
            <a:ext cx="5497618" cy="504056"/>
            <a:chOff x="395536" y="1409582"/>
            <a:chExt cx="5544616" cy="504056"/>
          </a:xfrm>
        </p:grpSpPr>
        <p:sp>
          <p:nvSpPr>
            <p:cNvPr id="7" name="Rounded Rectangle 80">
              <a:extLst>
                <a:ext uri="{FF2B5EF4-FFF2-40B4-BE49-F238E27FC236}">
                  <a16:creationId xmlns:a16="http://schemas.microsoft.com/office/drawing/2014/main" id="{46CCBCAB-7127-4D24-B5EB-08B64A4502AC}"/>
                </a:ext>
              </a:extLst>
            </p:cNvPr>
            <p:cNvSpPr/>
            <p:nvPr/>
          </p:nvSpPr>
          <p:spPr>
            <a:xfrm>
              <a:off x="395536" y="1409582"/>
              <a:ext cx="5544616" cy="504056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A50021">
                    <a:tint val="66000"/>
                    <a:satMod val="160000"/>
                  </a:srgbClr>
                </a:gs>
                <a:gs pos="50000">
                  <a:srgbClr val="A50021">
                    <a:tint val="44500"/>
                    <a:satMod val="160000"/>
                  </a:srgbClr>
                </a:gs>
                <a:gs pos="100000">
                  <a:srgbClr val="A50021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B785F13-8D28-4E42-ACDF-50E6E178995D}"/>
                </a:ext>
              </a:extLst>
            </p:cNvPr>
            <p:cNvSpPr txBox="1"/>
            <p:nvPr/>
          </p:nvSpPr>
          <p:spPr>
            <a:xfrm>
              <a:off x="539551" y="1430778"/>
              <a:ext cx="525658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2400" b="1" dirty="0">
                  <a:latin typeface="Arial" pitchFamily="34" charset="0"/>
                  <a:cs typeface="Arial" pitchFamily="34" charset="0"/>
                </a:rPr>
                <a:t>Distance   =   81 km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781B24CC-20C6-4068-BF41-4DA79BEED88F}"/>
              </a:ext>
            </a:extLst>
          </p:cNvPr>
          <p:cNvGrpSpPr/>
          <p:nvPr/>
        </p:nvGrpSpPr>
        <p:grpSpPr>
          <a:xfrm>
            <a:off x="2266226" y="1297880"/>
            <a:ext cx="8022964" cy="584775"/>
            <a:chOff x="551020" y="1531494"/>
            <a:chExt cx="8022964" cy="584775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50705FEE-1369-45D5-8F0C-0BD63F716DDD}"/>
                </a:ext>
              </a:extLst>
            </p:cNvPr>
            <p:cNvSpPr txBox="1"/>
            <p:nvPr/>
          </p:nvSpPr>
          <p:spPr>
            <a:xfrm>
              <a:off x="551020" y="1531494"/>
              <a:ext cx="153903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600" dirty="0">
                  <a:latin typeface="Arial" pitchFamily="34" charset="0"/>
                  <a:cs typeface="Arial" pitchFamily="34" charset="0"/>
                </a:rPr>
                <a:t>Example 1:</a:t>
              </a:r>
              <a:endParaRPr lang="en-GB" sz="1600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3B92D37-44FE-4053-8CFE-4D9459B453EB}"/>
                </a:ext>
              </a:extLst>
            </p:cNvPr>
            <p:cNvSpPr txBox="1"/>
            <p:nvPr/>
          </p:nvSpPr>
          <p:spPr>
            <a:xfrm>
              <a:off x="1890953" y="1531494"/>
              <a:ext cx="668303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600" b="1" dirty="0">
                  <a:latin typeface="Arial" pitchFamily="34" charset="0"/>
                  <a:cs typeface="Arial" pitchFamily="34" charset="0"/>
                </a:rPr>
                <a:t>A tram’s average speed was 36 km/hr over a journey which took two and a quarter hours.  What was the total distance travelled?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7FA9C3E-94FF-46B6-9E9D-E7F7F93EBBEC}"/>
              </a:ext>
            </a:extLst>
          </p:cNvPr>
          <p:cNvGrpSpPr/>
          <p:nvPr/>
        </p:nvGrpSpPr>
        <p:grpSpPr>
          <a:xfrm>
            <a:off x="5470151" y="2302203"/>
            <a:ext cx="4227615" cy="926275"/>
            <a:chOff x="2185060" y="1205798"/>
            <a:chExt cx="4322618" cy="926275"/>
          </a:xfrm>
        </p:grpSpPr>
        <p:sp>
          <p:nvSpPr>
            <p:cNvPr id="13" name="Rounded Rectangle 46">
              <a:extLst>
                <a:ext uri="{FF2B5EF4-FFF2-40B4-BE49-F238E27FC236}">
                  <a16:creationId xmlns:a16="http://schemas.microsoft.com/office/drawing/2014/main" id="{6D53AAB8-26EA-4C31-BB6C-C4E9FF8D6A53}"/>
                </a:ext>
              </a:extLst>
            </p:cNvPr>
            <p:cNvSpPr/>
            <p:nvPr/>
          </p:nvSpPr>
          <p:spPr>
            <a:xfrm>
              <a:off x="2185060" y="1205798"/>
              <a:ext cx="4322618" cy="926275"/>
            </a:xfrm>
            <a:prstGeom prst="roundRect">
              <a:avLst>
                <a:gd name="adj" fmla="val 28082"/>
              </a:avLst>
            </a:prstGeom>
            <a:gradFill flip="none" rotWithShape="1">
              <a:gsLst>
                <a:gs pos="0">
                  <a:srgbClr val="A50021">
                    <a:tint val="66000"/>
                    <a:satMod val="160000"/>
                  </a:srgbClr>
                </a:gs>
                <a:gs pos="50000">
                  <a:srgbClr val="A50021">
                    <a:tint val="44500"/>
                    <a:satMod val="160000"/>
                  </a:srgbClr>
                </a:gs>
                <a:gs pos="100000">
                  <a:srgbClr val="A50021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E13442E7-9480-4A09-AD08-99150997F5EC}"/>
                </a:ext>
              </a:extLst>
            </p:cNvPr>
            <p:cNvSpPr txBox="1"/>
            <p:nvPr/>
          </p:nvSpPr>
          <p:spPr>
            <a:xfrm>
              <a:off x="2306482" y="1468880"/>
              <a:ext cx="407977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2000" b="1" dirty="0">
                  <a:latin typeface="Arial" pitchFamily="34" charset="0"/>
                  <a:cs typeface="Arial" pitchFamily="34" charset="0"/>
                </a:rPr>
                <a:t>Distance   =   Speed  x  Time</a:t>
              </a:r>
            </a:p>
          </p:txBody>
        </p:sp>
      </p:grpSp>
      <p:grpSp>
        <p:nvGrpSpPr>
          <p:cNvPr id="15" name="Group 42">
            <a:extLst>
              <a:ext uri="{FF2B5EF4-FFF2-40B4-BE49-F238E27FC236}">
                <a16:creationId xmlns:a16="http://schemas.microsoft.com/office/drawing/2014/main" id="{16F1FDE6-23B9-46FB-8690-290A38EBB75B}"/>
              </a:ext>
            </a:extLst>
          </p:cNvPr>
          <p:cNvGrpSpPr/>
          <p:nvPr/>
        </p:nvGrpSpPr>
        <p:grpSpPr>
          <a:xfrm>
            <a:off x="4828918" y="3864544"/>
            <a:ext cx="4714512" cy="400110"/>
            <a:chOff x="1567705" y="1361228"/>
            <a:chExt cx="4820456" cy="400110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A858430D-776B-4FD5-9649-B3E8A959268E}"/>
                </a:ext>
              </a:extLst>
            </p:cNvPr>
            <p:cNvSpPr txBox="1"/>
            <p:nvPr/>
          </p:nvSpPr>
          <p:spPr>
            <a:xfrm>
              <a:off x="3984008" y="1361228"/>
              <a:ext cx="240415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2000" b="1" dirty="0">
                  <a:latin typeface="Arial" pitchFamily="34" charset="0"/>
                  <a:cs typeface="Arial" pitchFamily="34" charset="0"/>
                </a:rPr>
                <a:t>36  x  2.25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7C0856C5-D5DA-4340-8AD0-F815A85C77FC}"/>
                </a:ext>
              </a:extLst>
            </p:cNvPr>
            <p:cNvSpPr txBox="1"/>
            <p:nvPr/>
          </p:nvSpPr>
          <p:spPr>
            <a:xfrm>
              <a:off x="1567705" y="1361228"/>
              <a:ext cx="230702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GB" sz="2000" b="1" dirty="0">
                  <a:latin typeface="Arial" pitchFamily="34" charset="0"/>
                  <a:cs typeface="Arial" pitchFamily="34" charset="0"/>
                </a:rPr>
                <a:t>Distance   =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8DF50645-61C1-465A-BE76-B5D190FF300D}"/>
              </a:ext>
            </a:extLst>
          </p:cNvPr>
          <p:cNvGrpSpPr/>
          <p:nvPr/>
        </p:nvGrpSpPr>
        <p:grpSpPr>
          <a:xfrm rot="10800000">
            <a:off x="2286600" y="3739116"/>
            <a:ext cx="2208811" cy="712519"/>
            <a:chOff x="6531426" y="3740726"/>
            <a:chExt cx="2208811" cy="712519"/>
          </a:xfrm>
        </p:grpSpPr>
        <p:sp>
          <p:nvSpPr>
            <p:cNvPr id="19" name="Pentagon 91">
              <a:extLst>
                <a:ext uri="{FF2B5EF4-FFF2-40B4-BE49-F238E27FC236}">
                  <a16:creationId xmlns:a16="http://schemas.microsoft.com/office/drawing/2014/main" id="{B102C559-A2B2-47C5-AC29-0870D4562B20}"/>
                </a:ext>
              </a:extLst>
            </p:cNvPr>
            <p:cNvSpPr/>
            <p:nvPr/>
          </p:nvSpPr>
          <p:spPr>
            <a:xfrm rot="10800000">
              <a:off x="6531426" y="3740726"/>
              <a:ext cx="2208811" cy="712519"/>
            </a:xfrm>
            <a:prstGeom prst="homePlate">
              <a:avLst/>
            </a:prstGeom>
            <a:gradFill flip="none" rotWithShape="1">
              <a:gsLst>
                <a:gs pos="0">
                  <a:schemeClr val="accent2">
                    <a:tint val="66000"/>
                    <a:satMod val="160000"/>
                  </a:schemeClr>
                </a:gs>
                <a:gs pos="50000">
                  <a:schemeClr val="accent2">
                    <a:tint val="44500"/>
                    <a:satMod val="160000"/>
                  </a:schemeClr>
                </a:gs>
                <a:gs pos="100000">
                  <a:schemeClr val="accent2">
                    <a:tint val="23500"/>
                    <a:satMod val="1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0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7360B1F-C07D-40B7-A80A-A758406C17C9}"/>
                </a:ext>
              </a:extLst>
            </p:cNvPr>
            <p:cNvSpPr txBox="1"/>
            <p:nvPr/>
          </p:nvSpPr>
          <p:spPr>
            <a:xfrm rot="10800000">
              <a:off x="6777451" y="3804598"/>
              <a:ext cx="194482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600" b="1" dirty="0">
                  <a:solidFill>
                    <a:srgbClr val="800000"/>
                  </a:solidFill>
                  <a:latin typeface="Arial" pitchFamily="34" charset="0"/>
                  <a:cs typeface="Arial" pitchFamily="34" charset="0"/>
                </a:rPr>
                <a:t>Put numbers</a:t>
              </a:r>
            </a:p>
            <a:p>
              <a:pPr algn="ctr"/>
              <a:r>
                <a:rPr lang="en-GB" sz="1600" b="1" dirty="0">
                  <a:solidFill>
                    <a:srgbClr val="800000"/>
                  </a:solidFill>
                  <a:latin typeface="Arial" pitchFamily="34" charset="0"/>
                  <a:cs typeface="Arial" pitchFamily="34" charset="0"/>
                </a:rPr>
                <a:t>into formula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3081208D-436B-4E72-9150-762D74BF185D}"/>
              </a:ext>
            </a:extLst>
          </p:cNvPr>
          <p:cNvGrpSpPr/>
          <p:nvPr/>
        </p:nvGrpSpPr>
        <p:grpSpPr>
          <a:xfrm rot="10800000">
            <a:off x="2286600" y="5010156"/>
            <a:ext cx="2208811" cy="712519"/>
            <a:chOff x="6531426" y="3740726"/>
            <a:chExt cx="2208811" cy="712519"/>
          </a:xfrm>
        </p:grpSpPr>
        <p:sp>
          <p:nvSpPr>
            <p:cNvPr id="22" name="Pentagon 97">
              <a:extLst>
                <a:ext uri="{FF2B5EF4-FFF2-40B4-BE49-F238E27FC236}">
                  <a16:creationId xmlns:a16="http://schemas.microsoft.com/office/drawing/2014/main" id="{CF34C029-8CFD-4563-83E8-29A0EFD15646}"/>
                </a:ext>
              </a:extLst>
            </p:cNvPr>
            <p:cNvSpPr/>
            <p:nvPr/>
          </p:nvSpPr>
          <p:spPr>
            <a:xfrm rot="10800000">
              <a:off x="6531426" y="3740726"/>
              <a:ext cx="2208811" cy="712519"/>
            </a:xfrm>
            <a:prstGeom prst="homePlate">
              <a:avLst/>
            </a:prstGeom>
            <a:gradFill flip="none" rotWithShape="1">
              <a:gsLst>
                <a:gs pos="0">
                  <a:schemeClr val="accent2">
                    <a:tint val="66000"/>
                    <a:satMod val="160000"/>
                  </a:schemeClr>
                </a:gs>
                <a:gs pos="50000">
                  <a:schemeClr val="accent2">
                    <a:tint val="44500"/>
                    <a:satMod val="160000"/>
                  </a:schemeClr>
                </a:gs>
                <a:gs pos="100000">
                  <a:schemeClr val="accent2">
                    <a:tint val="23500"/>
                    <a:satMod val="1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0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8343F13E-7A5A-4537-9F25-762233E68F99}"/>
                </a:ext>
              </a:extLst>
            </p:cNvPr>
            <p:cNvSpPr txBox="1"/>
            <p:nvPr/>
          </p:nvSpPr>
          <p:spPr>
            <a:xfrm rot="10800000">
              <a:off x="6777451" y="3804598"/>
              <a:ext cx="194482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600" b="1" dirty="0">
                  <a:solidFill>
                    <a:srgbClr val="800000"/>
                  </a:solidFill>
                  <a:latin typeface="Arial" pitchFamily="34" charset="0"/>
                  <a:cs typeface="Arial" pitchFamily="34" charset="0"/>
                </a:rPr>
                <a:t>Work out</a:t>
              </a:r>
            </a:p>
            <a:p>
              <a:pPr algn="ctr"/>
              <a:r>
                <a:rPr lang="en-GB" sz="1600" b="1" dirty="0">
                  <a:solidFill>
                    <a:srgbClr val="800000"/>
                  </a:solidFill>
                  <a:latin typeface="Arial" pitchFamily="34" charset="0"/>
                  <a:cs typeface="Arial" pitchFamily="34" charset="0"/>
                </a:rPr>
                <a:t>36   x   2.25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E2F8887A-17FF-4E9C-A711-8B5A97A54604}"/>
              </a:ext>
            </a:extLst>
          </p:cNvPr>
          <p:cNvGrpSpPr/>
          <p:nvPr/>
        </p:nvGrpSpPr>
        <p:grpSpPr>
          <a:xfrm>
            <a:off x="2398434" y="1998936"/>
            <a:ext cx="1628892" cy="1567542"/>
            <a:chOff x="443351" y="1840675"/>
            <a:chExt cx="1628892" cy="1567542"/>
          </a:xfrm>
        </p:grpSpPr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BE14A99E-2A02-48E8-9CE8-51C61B11E4A9}"/>
                </a:ext>
              </a:extLst>
            </p:cNvPr>
            <p:cNvSpPr/>
            <p:nvPr/>
          </p:nvSpPr>
          <p:spPr>
            <a:xfrm>
              <a:off x="474026" y="1840675"/>
              <a:ext cx="1567542" cy="1567542"/>
            </a:xfrm>
            <a:prstGeom prst="ellipse">
              <a:avLst/>
            </a:prstGeom>
            <a:solidFill>
              <a:srgbClr val="FFCC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654CA901-9593-4F93-B808-958418AD3972}"/>
                </a:ext>
              </a:extLst>
            </p:cNvPr>
            <p:cNvSpPr txBox="1"/>
            <p:nvPr/>
          </p:nvSpPr>
          <p:spPr>
            <a:xfrm>
              <a:off x="443351" y="2147393"/>
              <a:ext cx="1628892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400" b="1" dirty="0">
                  <a:latin typeface="Arial" pitchFamily="34" charset="0"/>
                  <a:cs typeface="Arial" pitchFamily="34" charset="0"/>
                </a:rPr>
                <a:t>Note: </a:t>
              </a:r>
            </a:p>
            <a:p>
              <a:pPr algn="ctr"/>
              <a:r>
                <a:rPr lang="en-GB" sz="1400" b="1" dirty="0">
                  <a:latin typeface="Arial" pitchFamily="34" charset="0"/>
                  <a:cs typeface="Arial" pitchFamily="34" charset="0"/>
                </a:rPr>
                <a:t>two and a quarter hours is</a:t>
              </a:r>
            </a:p>
            <a:p>
              <a:pPr algn="ctr"/>
              <a:r>
                <a:rPr lang="en-GB" sz="1400" b="1" dirty="0">
                  <a:latin typeface="Arial" pitchFamily="34" charset="0"/>
                  <a:cs typeface="Arial" pitchFamily="34" charset="0"/>
                </a:rPr>
                <a:t>2.25 hours.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36368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ounded Rectangle 45">
            <a:extLst>
              <a:ext uri="{FF2B5EF4-FFF2-40B4-BE49-F238E27FC236}">
                <a16:creationId xmlns:a16="http://schemas.microsoft.com/office/drawing/2014/main" id="{FCB4DD0B-E6A6-4B35-BEC3-4B92AB8CCA46}"/>
              </a:ext>
            </a:extLst>
          </p:cNvPr>
          <p:cNvSpPr/>
          <p:nvPr/>
        </p:nvSpPr>
        <p:spPr>
          <a:xfrm>
            <a:off x="1796512" y="1185249"/>
            <a:ext cx="8598976" cy="4963885"/>
          </a:xfrm>
          <a:prstGeom prst="roundRect">
            <a:avLst>
              <a:gd name="adj" fmla="val 713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28" name="Group 15">
            <a:extLst>
              <a:ext uri="{FF2B5EF4-FFF2-40B4-BE49-F238E27FC236}">
                <a16:creationId xmlns:a16="http://schemas.microsoft.com/office/drawing/2014/main" id="{897AEC43-AC43-4150-A4C2-F4C3F6AFE148}"/>
              </a:ext>
            </a:extLst>
          </p:cNvPr>
          <p:cNvGrpSpPr/>
          <p:nvPr/>
        </p:nvGrpSpPr>
        <p:grpSpPr>
          <a:xfrm>
            <a:off x="2105891" y="371308"/>
            <a:ext cx="7980218" cy="504056"/>
            <a:chOff x="395536" y="1409582"/>
            <a:chExt cx="5544616" cy="504056"/>
          </a:xfrm>
        </p:grpSpPr>
        <p:sp>
          <p:nvSpPr>
            <p:cNvPr id="29" name="Rounded Rectangle 14">
              <a:extLst>
                <a:ext uri="{FF2B5EF4-FFF2-40B4-BE49-F238E27FC236}">
                  <a16:creationId xmlns:a16="http://schemas.microsoft.com/office/drawing/2014/main" id="{22D1A577-9793-469E-8859-FEF21446BE35}"/>
                </a:ext>
              </a:extLst>
            </p:cNvPr>
            <p:cNvSpPr/>
            <p:nvPr/>
          </p:nvSpPr>
          <p:spPr>
            <a:xfrm>
              <a:off x="395536" y="1409582"/>
              <a:ext cx="5544616" cy="504056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100000">
                  <a:srgbClr val="A50021">
                    <a:tint val="66000"/>
                    <a:satMod val="160000"/>
                  </a:srgbClr>
                </a:gs>
                <a:gs pos="50000">
                  <a:srgbClr val="A50021">
                    <a:tint val="44500"/>
                    <a:satMod val="160000"/>
                  </a:srgbClr>
                </a:gs>
                <a:gs pos="100000">
                  <a:srgbClr val="A50021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FEF55B42-5D0D-4593-AE3C-D6EAA430249A}"/>
                </a:ext>
              </a:extLst>
            </p:cNvPr>
            <p:cNvSpPr txBox="1"/>
            <p:nvPr/>
          </p:nvSpPr>
          <p:spPr>
            <a:xfrm>
              <a:off x="539551" y="1430778"/>
              <a:ext cx="525658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2400" b="1" dirty="0">
                  <a:latin typeface="Arial" pitchFamily="34" charset="0"/>
                  <a:cs typeface="Arial" pitchFamily="34" charset="0"/>
                </a:rPr>
                <a:t>Calculating the Distance</a:t>
              </a:r>
            </a:p>
          </p:txBody>
        </p:sp>
      </p:grpSp>
      <p:grpSp>
        <p:nvGrpSpPr>
          <p:cNvPr id="31" name="Group 15">
            <a:extLst>
              <a:ext uri="{FF2B5EF4-FFF2-40B4-BE49-F238E27FC236}">
                <a16:creationId xmlns:a16="http://schemas.microsoft.com/office/drawing/2014/main" id="{73292160-1AB4-4F7D-A9A4-22E835CE2679}"/>
              </a:ext>
            </a:extLst>
          </p:cNvPr>
          <p:cNvGrpSpPr/>
          <p:nvPr/>
        </p:nvGrpSpPr>
        <p:grpSpPr>
          <a:xfrm>
            <a:off x="4659082" y="5131972"/>
            <a:ext cx="5497618" cy="504056"/>
            <a:chOff x="395536" y="1409582"/>
            <a:chExt cx="5544616" cy="504056"/>
          </a:xfrm>
        </p:grpSpPr>
        <p:sp>
          <p:nvSpPr>
            <p:cNvPr id="32" name="Rounded Rectangle 80">
              <a:extLst>
                <a:ext uri="{FF2B5EF4-FFF2-40B4-BE49-F238E27FC236}">
                  <a16:creationId xmlns:a16="http://schemas.microsoft.com/office/drawing/2014/main" id="{C7C6D00C-852F-4416-90F1-6EE46A19C6DE}"/>
                </a:ext>
              </a:extLst>
            </p:cNvPr>
            <p:cNvSpPr/>
            <p:nvPr/>
          </p:nvSpPr>
          <p:spPr>
            <a:xfrm>
              <a:off x="395536" y="1409582"/>
              <a:ext cx="5544616" cy="504056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A50021">
                    <a:tint val="66000"/>
                    <a:satMod val="160000"/>
                  </a:srgbClr>
                </a:gs>
                <a:gs pos="50000">
                  <a:srgbClr val="A50021">
                    <a:tint val="44500"/>
                    <a:satMod val="160000"/>
                  </a:srgbClr>
                </a:gs>
                <a:gs pos="100000">
                  <a:srgbClr val="A50021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5A48FD80-7CD1-4F80-A3AD-AD969623A8F9}"/>
                </a:ext>
              </a:extLst>
            </p:cNvPr>
            <p:cNvSpPr txBox="1"/>
            <p:nvPr/>
          </p:nvSpPr>
          <p:spPr>
            <a:xfrm>
              <a:off x="539551" y="1430778"/>
              <a:ext cx="525658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2400" b="1" dirty="0">
                  <a:latin typeface="Arial" pitchFamily="34" charset="0"/>
                  <a:cs typeface="Arial" pitchFamily="34" charset="0"/>
                </a:rPr>
                <a:t>Distance   =   10.88 km</a:t>
              </a:r>
            </a:p>
          </p:txBody>
        </p:sp>
      </p:grpSp>
      <p:grpSp>
        <p:nvGrpSpPr>
          <p:cNvPr id="34" name="Group 42">
            <a:extLst>
              <a:ext uri="{FF2B5EF4-FFF2-40B4-BE49-F238E27FC236}">
                <a16:creationId xmlns:a16="http://schemas.microsoft.com/office/drawing/2014/main" id="{01CFFBDD-DBE7-4339-A0E9-AFBE24FCAD29}"/>
              </a:ext>
            </a:extLst>
          </p:cNvPr>
          <p:cNvGrpSpPr/>
          <p:nvPr/>
        </p:nvGrpSpPr>
        <p:grpSpPr>
          <a:xfrm>
            <a:off x="2084518" y="1315465"/>
            <a:ext cx="8022964" cy="830997"/>
            <a:chOff x="551020" y="1531494"/>
            <a:chExt cx="8022964" cy="830997"/>
          </a:xfrm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F447913B-9C8C-4FA6-8AE1-700985701C8B}"/>
                </a:ext>
              </a:extLst>
            </p:cNvPr>
            <p:cNvSpPr txBox="1"/>
            <p:nvPr/>
          </p:nvSpPr>
          <p:spPr>
            <a:xfrm>
              <a:off x="551020" y="1531494"/>
              <a:ext cx="153903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600" dirty="0">
                  <a:latin typeface="Arial" pitchFamily="34" charset="0"/>
                  <a:cs typeface="Arial" pitchFamily="34" charset="0"/>
                </a:rPr>
                <a:t>Example 2:</a:t>
              </a:r>
              <a:endParaRPr lang="en-GB" sz="1600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66DFB1C5-CDA4-4C8F-8BF7-C1B7A40A4164}"/>
                </a:ext>
              </a:extLst>
            </p:cNvPr>
            <p:cNvSpPr txBox="1"/>
            <p:nvPr/>
          </p:nvSpPr>
          <p:spPr>
            <a:xfrm>
              <a:off x="1890953" y="1531494"/>
              <a:ext cx="6683031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600" b="1" dirty="0">
                  <a:latin typeface="Arial" pitchFamily="34" charset="0"/>
                  <a:cs typeface="Arial" pitchFamily="34" charset="0"/>
                </a:rPr>
                <a:t>A walker’s average speed was 3.4 km/hr over walk which took three hours and 12 minutes.  What was the total distance travelled?</a:t>
              </a:r>
            </a:p>
          </p:txBody>
        </p:sp>
      </p:grpSp>
      <p:grpSp>
        <p:nvGrpSpPr>
          <p:cNvPr id="37" name="Group 44">
            <a:extLst>
              <a:ext uri="{FF2B5EF4-FFF2-40B4-BE49-F238E27FC236}">
                <a16:creationId xmlns:a16="http://schemas.microsoft.com/office/drawing/2014/main" id="{EF957DAF-2B5B-44C2-BAE6-E11903B62900}"/>
              </a:ext>
            </a:extLst>
          </p:cNvPr>
          <p:cNvGrpSpPr/>
          <p:nvPr/>
        </p:nvGrpSpPr>
        <p:grpSpPr>
          <a:xfrm>
            <a:off x="5288443" y="2319788"/>
            <a:ext cx="4227615" cy="926275"/>
            <a:chOff x="2185060" y="1205798"/>
            <a:chExt cx="4322618" cy="926275"/>
          </a:xfrm>
        </p:grpSpPr>
        <p:sp>
          <p:nvSpPr>
            <p:cNvPr id="38" name="Rounded Rectangle 46">
              <a:extLst>
                <a:ext uri="{FF2B5EF4-FFF2-40B4-BE49-F238E27FC236}">
                  <a16:creationId xmlns:a16="http://schemas.microsoft.com/office/drawing/2014/main" id="{FDD0C215-3F89-4E1A-9D62-456041E5B6B1}"/>
                </a:ext>
              </a:extLst>
            </p:cNvPr>
            <p:cNvSpPr/>
            <p:nvPr/>
          </p:nvSpPr>
          <p:spPr>
            <a:xfrm>
              <a:off x="2185060" y="1205798"/>
              <a:ext cx="4322618" cy="926275"/>
            </a:xfrm>
            <a:prstGeom prst="roundRect">
              <a:avLst>
                <a:gd name="adj" fmla="val 28082"/>
              </a:avLst>
            </a:prstGeom>
            <a:gradFill flip="none" rotWithShape="1">
              <a:gsLst>
                <a:gs pos="0">
                  <a:srgbClr val="A50021">
                    <a:tint val="66000"/>
                    <a:satMod val="160000"/>
                  </a:srgbClr>
                </a:gs>
                <a:gs pos="50000">
                  <a:srgbClr val="A50021">
                    <a:tint val="44500"/>
                    <a:satMod val="160000"/>
                  </a:srgbClr>
                </a:gs>
                <a:gs pos="100000">
                  <a:srgbClr val="A50021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00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A232D882-1068-46BB-BE4D-0B3E67525D14}"/>
                </a:ext>
              </a:extLst>
            </p:cNvPr>
            <p:cNvSpPr txBox="1"/>
            <p:nvPr/>
          </p:nvSpPr>
          <p:spPr>
            <a:xfrm>
              <a:off x="2306482" y="1468880"/>
              <a:ext cx="407977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2000" b="1" dirty="0">
                  <a:latin typeface="Arial" pitchFamily="34" charset="0"/>
                  <a:cs typeface="Arial" pitchFamily="34" charset="0"/>
                </a:rPr>
                <a:t>Distance   =   Speed  x  Time</a:t>
              </a:r>
            </a:p>
          </p:txBody>
        </p:sp>
      </p:grpSp>
      <p:grpSp>
        <p:nvGrpSpPr>
          <p:cNvPr id="40" name="Group 42">
            <a:extLst>
              <a:ext uri="{FF2B5EF4-FFF2-40B4-BE49-F238E27FC236}">
                <a16:creationId xmlns:a16="http://schemas.microsoft.com/office/drawing/2014/main" id="{95E98633-260E-4E6F-A676-E886E7807719}"/>
              </a:ext>
            </a:extLst>
          </p:cNvPr>
          <p:cNvGrpSpPr/>
          <p:nvPr/>
        </p:nvGrpSpPr>
        <p:grpSpPr>
          <a:xfrm>
            <a:off x="4647210" y="3882129"/>
            <a:ext cx="4714512" cy="400110"/>
            <a:chOff x="1567705" y="1361228"/>
            <a:chExt cx="4820456" cy="400110"/>
          </a:xfrm>
        </p:grpSpPr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924F51DE-2902-4685-B603-AC97D12CB0AE}"/>
                </a:ext>
              </a:extLst>
            </p:cNvPr>
            <p:cNvSpPr txBox="1"/>
            <p:nvPr/>
          </p:nvSpPr>
          <p:spPr>
            <a:xfrm>
              <a:off x="3984008" y="1361228"/>
              <a:ext cx="240415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2000" b="1" dirty="0">
                  <a:latin typeface="Arial" pitchFamily="34" charset="0"/>
                  <a:cs typeface="Arial" pitchFamily="34" charset="0"/>
                </a:rPr>
                <a:t>3.4  x  3.2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3BA17CF3-27F8-4D7D-82FF-CA67D1D2E25B}"/>
                </a:ext>
              </a:extLst>
            </p:cNvPr>
            <p:cNvSpPr txBox="1"/>
            <p:nvPr/>
          </p:nvSpPr>
          <p:spPr>
            <a:xfrm>
              <a:off x="1567705" y="1361228"/>
              <a:ext cx="230702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GB" sz="2000" b="1" dirty="0">
                  <a:latin typeface="Arial" pitchFamily="34" charset="0"/>
                  <a:cs typeface="Arial" pitchFamily="34" charset="0"/>
                </a:rPr>
                <a:t>Distance   =</a:t>
              </a:r>
            </a:p>
          </p:txBody>
        </p:sp>
      </p:grpSp>
      <p:grpSp>
        <p:nvGrpSpPr>
          <p:cNvPr id="43" name="Group 90">
            <a:extLst>
              <a:ext uri="{FF2B5EF4-FFF2-40B4-BE49-F238E27FC236}">
                <a16:creationId xmlns:a16="http://schemas.microsoft.com/office/drawing/2014/main" id="{5075773F-E4FA-4000-AE61-272E8CEADFC3}"/>
              </a:ext>
            </a:extLst>
          </p:cNvPr>
          <p:cNvGrpSpPr/>
          <p:nvPr/>
        </p:nvGrpSpPr>
        <p:grpSpPr>
          <a:xfrm rot="10800000">
            <a:off x="2104892" y="3756701"/>
            <a:ext cx="2208811" cy="712519"/>
            <a:chOff x="6531426" y="3740726"/>
            <a:chExt cx="2208811" cy="712519"/>
          </a:xfrm>
        </p:grpSpPr>
        <p:sp>
          <p:nvSpPr>
            <p:cNvPr id="44" name="Pentagon 91">
              <a:extLst>
                <a:ext uri="{FF2B5EF4-FFF2-40B4-BE49-F238E27FC236}">
                  <a16:creationId xmlns:a16="http://schemas.microsoft.com/office/drawing/2014/main" id="{8F7140B0-8227-48B5-BA78-46CCCF49B2A6}"/>
                </a:ext>
              </a:extLst>
            </p:cNvPr>
            <p:cNvSpPr/>
            <p:nvPr/>
          </p:nvSpPr>
          <p:spPr>
            <a:xfrm rot="10800000">
              <a:off x="6531426" y="3740726"/>
              <a:ext cx="2208811" cy="712519"/>
            </a:xfrm>
            <a:prstGeom prst="homePlate">
              <a:avLst/>
            </a:prstGeom>
            <a:gradFill flip="none" rotWithShape="1">
              <a:gsLst>
                <a:gs pos="0">
                  <a:schemeClr val="accent2">
                    <a:tint val="66000"/>
                    <a:satMod val="160000"/>
                  </a:schemeClr>
                </a:gs>
                <a:gs pos="50000">
                  <a:schemeClr val="accent2">
                    <a:tint val="44500"/>
                    <a:satMod val="160000"/>
                  </a:schemeClr>
                </a:gs>
                <a:gs pos="100000">
                  <a:schemeClr val="accent2">
                    <a:tint val="23500"/>
                    <a:satMod val="1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0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A3A7CB96-B77C-4F67-8D34-4AA125B50596}"/>
                </a:ext>
              </a:extLst>
            </p:cNvPr>
            <p:cNvSpPr txBox="1"/>
            <p:nvPr/>
          </p:nvSpPr>
          <p:spPr>
            <a:xfrm rot="10800000">
              <a:off x="6777451" y="3804598"/>
              <a:ext cx="194482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600" b="1" dirty="0">
                  <a:solidFill>
                    <a:srgbClr val="800000"/>
                  </a:solidFill>
                  <a:latin typeface="Arial" pitchFamily="34" charset="0"/>
                  <a:cs typeface="Arial" pitchFamily="34" charset="0"/>
                </a:rPr>
                <a:t>Put numbers</a:t>
              </a:r>
            </a:p>
            <a:p>
              <a:pPr algn="ctr"/>
              <a:r>
                <a:rPr lang="en-GB" sz="1600" b="1" dirty="0">
                  <a:solidFill>
                    <a:srgbClr val="800000"/>
                  </a:solidFill>
                  <a:latin typeface="Arial" pitchFamily="34" charset="0"/>
                  <a:cs typeface="Arial" pitchFamily="34" charset="0"/>
                </a:rPr>
                <a:t>into formula</a:t>
              </a:r>
            </a:p>
          </p:txBody>
        </p:sp>
      </p:grpSp>
      <p:grpSp>
        <p:nvGrpSpPr>
          <p:cNvPr id="46" name="Group 96">
            <a:extLst>
              <a:ext uri="{FF2B5EF4-FFF2-40B4-BE49-F238E27FC236}">
                <a16:creationId xmlns:a16="http://schemas.microsoft.com/office/drawing/2014/main" id="{69B14CE6-424A-4729-8CDE-B465849ECB53}"/>
              </a:ext>
            </a:extLst>
          </p:cNvPr>
          <p:cNvGrpSpPr/>
          <p:nvPr/>
        </p:nvGrpSpPr>
        <p:grpSpPr>
          <a:xfrm rot="10800000">
            <a:off x="2104892" y="5027741"/>
            <a:ext cx="2208811" cy="712519"/>
            <a:chOff x="6531426" y="3740726"/>
            <a:chExt cx="2208811" cy="712519"/>
          </a:xfrm>
        </p:grpSpPr>
        <p:sp>
          <p:nvSpPr>
            <p:cNvPr id="47" name="Pentagon 97">
              <a:extLst>
                <a:ext uri="{FF2B5EF4-FFF2-40B4-BE49-F238E27FC236}">
                  <a16:creationId xmlns:a16="http://schemas.microsoft.com/office/drawing/2014/main" id="{1612BBF9-E8AC-4385-9312-28A8E6ED4BFB}"/>
                </a:ext>
              </a:extLst>
            </p:cNvPr>
            <p:cNvSpPr/>
            <p:nvPr/>
          </p:nvSpPr>
          <p:spPr>
            <a:xfrm rot="10800000">
              <a:off x="6531426" y="3740726"/>
              <a:ext cx="2208811" cy="712519"/>
            </a:xfrm>
            <a:prstGeom prst="homePlate">
              <a:avLst/>
            </a:prstGeom>
            <a:gradFill flip="none" rotWithShape="1">
              <a:gsLst>
                <a:gs pos="0">
                  <a:schemeClr val="accent2">
                    <a:tint val="66000"/>
                    <a:satMod val="160000"/>
                  </a:schemeClr>
                </a:gs>
                <a:gs pos="50000">
                  <a:schemeClr val="accent2">
                    <a:tint val="44500"/>
                    <a:satMod val="160000"/>
                  </a:schemeClr>
                </a:gs>
                <a:gs pos="100000">
                  <a:schemeClr val="accent2">
                    <a:tint val="23500"/>
                    <a:satMod val="1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0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BF826E61-FDB8-42BA-8DDF-711FD1541F7D}"/>
                </a:ext>
              </a:extLst>
            </p:cNvPr>
            <p:cNvSpPr txBox="1"/>
            <p:nvPr/>
          </p:nvSpPr>
          <p:spPr>
            <a:xfrm rot="10800000">
              <a:off x="6777451" y="3804598"/>
              <a:ext cx="194482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600" b="1" dirty="0">
                  <a:solidFill>
                    <a:srgbClr val="800000"/>
                  </a:solidFill>
                  <a:latin typeface="Arial" pitchFamily="34" charset="0"/>
                  <a:cs typeface="Arial" pitchFamily="34" charset="0"/>
                </a:rPr>
                <a:t>Work out</a:t>
              </a:r>
            </a:p>
            <a:p>
              <a:pPr algn="ctr"/>
              <a:r>
                <a:rPr lang="en-GB" sz="1600" b="1" dirty="0">
                  <a:solidFill>
                    <a:srgbClr val="800000"/>
                  </a:solidFill>
                  <a:latin typeface="Arial" pitchFamily="34" charset="0"/>
                  <a:cs typeface="Arial" pitchFamily="34" charset="0"/>
                </a:rPr>
                <a:t>3.4   x   3.2</a:t>
              </a:r>
            </a:p>
          </p:txBody>
        </p:sp>
      </p:grpSp>
      <p:grpSp>
        <p:nvGrpSpPr>
          <p:cNvPr id="49" name="Group 30">
            <a:extLst>
              <a:ext uri="{FF2B5EF4-FFF2-40B4-BE49-F238E27FC236}">
                <a16:creationId xmlns:a16="http://schemas.microsoft.com/office/drawing/2014/main" id="{272855F6-5CCE-4918-AA87-07C03053E27E}"/>
              </a:ext>
            </a:extLst>
          </p:cNvPr>
          <p:cNvGrpSpPr/>
          <p:nvPr/>
        </p:nvGrpSpPr>
        <p:grpSpPr>
          <a:xfrm>
            <a:off x="2216726" y="2016521"/>
            <a:ext cx="1628892" cy="1567542"/>
            <a:chOff x="443351" y="1840675"/>
            <a:chExt cx="1628892" cy="1567542"/>
          </a:xfrm>
        </p:grpSpPr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AF678C70-7B2E-41D9-BE99-BC91155B445A}"/>
                </a:ext>
              </a:extLst>
            </p:cNvPr>
            <p:cNvSpPr/>
            <p:nvPr/>
          </p:nvSpPr>
          <p:spPr>
            <a:xfrm>
              <a:off x="474026" y="1840675"/>
              <a:ext cx="1567542" cy="1567542"/>
            </a:xfrm>
            <a:prstGeom prst="ellipse">
              <a:avLst/>
            </a:prstGeom>
            <a:solidFill>
              <a:srgbClr val="FFCC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7A61F7AA-BC47-4EF3-8DA7-75D0C93F6F30}"/>
                </a:ext>
              </a:extLst>
            </p:cNvPr>
            <p:cNvSpPr txBox="1"/>
            <p:nvPr/>
          </p:nvSpPr>
          <p:spPr>
            <a:xfrm>
              <a:off x="443351" y="2147393"/>
              <a:ext cx="1628892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400" b="1" dirty="0">
                  <a:latin typeface="Arial" pitchFamily="34" charset="0"/>
                  <a:cs typeface="Arial" pitchFamily="34" charset="0"/>
                </a:rPr>
                <a:t>Note: </a:t>
              </a:r>
            </a:p>
            <a:p>
              <a:pPr algn="ctr"/>
              <a:r>
                <a:rPr lang="en-GB" sz="1400" b="1" dirty="0">
                  <a:latin typeface="Arial" pitchFamily="34" charset="0"/>
                  <a:cs typeface="Arial" pitchFamily="34" charset="0"/>
                </a:rPr>
                <a:t>3 hours and 12 minutes is</a:t>
              </a:r>
            </a:p>
            <a:p>
              <a:pPr algn="ctr"/>
              <a:r>
                <a:rPr lang="en-GB" sz="1400" b="1" dirty="0">
                  <a:latin typeface="Arial" pitchFamily="34" charset="0"/>
                  <a:cs typeface="Arial" pitchFamily="34" charset="0"/>
                </a:rPr>
                <a:t>3.2 hours.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364229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430FF-65B9-44EE-A654-F513D120DB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Task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A46187-A84F-454A-829D-90A2324B91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487ADD8-2014-40CC-A10B-879E0B0661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987" y="1452339"/>
            <a:ext cx="11010976" cy="5209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03779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430FF-65B9-44EE-A654-F513D120DB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Task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A46187-A84F-454A-829D-90A2324B91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B9E4868-E715-4E64-952A-10667F9802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137" y="485775"/>
            <a:ext cx="9991725" cy="5886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5222844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4145</TotalTime>
  <Words>520</Words>
  <Application>Microsoft Office PowerPoint</Application>
  <PresentationFormat>Widescreen</PresentationFormat>
  <Paragraphs>125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Century Gothic</vt:lpstr>
      <vt:lpstr>Wingdings 3</vt:lpstr>
      <vt:lpstr>Wisp</vt:lpstr>
      <vt:lpstr>Speed Distance Time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Task</vt:lpstr>
      <vt:lpstr>Task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Trigonometry Ratios – Finding an Angle</dc:title>
  <dc:creator>LUM Magdeline [Baldivis Secondary College]</dc:creator>
  <cp:lastModifiedBy>Hamilton Stott</cp:lastModifiedBy>
  <cp:revision>18</cp:revision>
  <dcterms:created xsi:type="dcterms:W3CDTF">2018-09-09T05:47:58Z</dcterms:created>
  <dcterms:modified xsi:type="dcterms:W3CDTF">2018-10-23T14:39:41Z</dcterms:modified>
</cp:coreProperties>
</file>
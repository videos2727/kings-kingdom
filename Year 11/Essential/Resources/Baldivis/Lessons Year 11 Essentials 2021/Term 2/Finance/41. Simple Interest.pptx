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9"/>
  </p:notesMasterIdLst>
  <p:sldIdLst>
    <p:sldId id="256" r:id="rId2"/>
    <p:sldId id="257" r:id="rId3"/>
    <p:sldId id="367" r:id="rId4"/>
    <p:sldId id="376" r:id="rId5"/>
    <p:sldId id="311" r:id="rId6"/>
    <p:sldId id="335" r:id="rId7"/>
    <p:sldId id="337" r:id="rId8"/>
    <p:sldId id="371" r:id="rId9"/>
    <p:sldId id="370" r:id="rId10"/>
    <p:sldId id="372" r:id="rId11"/>
    <p:sldId id="373" r:id="rId12"/>
    <p:sldId id="347" r:id="rId13"/>
    <p:sldId id="342" r:id="rId14"/>
    <p:sldId id="353" r:id="rId15"/>
    <p:sldId id="374" r:id="rId16"/>
    <p:sldId id="375" r:id="rId17"/>
    <p:sldId id="32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1" autoAdjust="0"/>
    <p:restoredTop sz="94013" autoAdjust="0"/>
  </p:normalViewPr>
  <p:slideViewPr>
    <p:cSldViewPr snapToGrid="0">
      <p:cViewPr>
        <p:scale>
          <a:sx n="77" d="100"/>
          <a:sy n="77" d="100"/>
        </p:scale>
        <p:origin x="7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325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07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325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73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Simple Interest</a:t>
            </a:r>
            <a:br>
              <a:rPr lang="en-AU" sz="4000" dirty="0"/>
            </a:br>
            <a:r>
              <a:rPr lang="en-AU" sz="4000" dirty="0"/>
              <a:t>EQ: How do we calculate the total amount by using simple interest?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49665A-E30E-4BDA-8DF8-D8F976F2E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4" y="91113"/>
            <a:ext cx="7263920" cy="1135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AF8ADC-F940-4273-B422-F587E8D77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" y="1473594"/>
            <a:ext cx="6990382" cy="9772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D0F19C-DC30-469F-AAF3-BD1AC1EC1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3" y="4542809"/>
            <a:ext cx="4849359" cy="22276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1F4A6D-BEAB-43D6-9C08-7D9A9BD82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987" y="4407197"/>
            <a:ext cx="6733104" cy="21829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367C1B-6FCC-49B8-824A-5090F6B56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55" y="2812966"/>
            <a:ext cx="6468609" cy="1124551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FECAF45-5B5C-42BB-A3ED-6EAF62E5EF74}"/>
              </a:ext>
            </a:extLst>
          </p:cNvPr>
          <p:cNvSpPr txBox="1">
            <a:spLocks/>
          </p:cNvSpPr>
          <p:nvPr/>
        </p:nvSpPr>
        <p:spPr>
          <a:xfrm>
            <a:off x="7791440" y="742074"/>
            <a:ext cx="4195287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000"/>
              <a:t>Topic: Simple Interest</a:t>
            </a:r>
            <a:br>
              <a:rPr lang="en-AU" sz="4000"/>
            </a:br>
            <a:r>
              <a:rPr lang="en-AU" sz="4000"/>
              <a:t>EQ: How do we calculate the total amount by using simple interest?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4264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6076-BC60-4328-8C6B-F10793D31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698F-1A1E-4AB2-A9FC-92A34180A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1) 68%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2) 100km/hour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3) $15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4) 1 and 4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5) Spinner B</a:t>
            </a:r>
          </a:p>
        </p:txBody>
      </p:sp>
    </p:spTree>
    <p:extLst>
      <p:ext uri="{BB962C8B-B14F-4D97-AF65-F5344CB8AC3E}">
        <p14:creationId xmlns:p14="http://schemas.microsoft.com/office/powerpoint/2010/main" val="340265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we calculate the total amount by using Simple Interest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AU" sz="2400">
                <a:latin typeface="Calibri" panose="020F0502020204030204" pitchFamily="34" charset="0"/>
                <a:cs typeface="Calibri" panose="020F0502020204030204" pitchFamily="34" charset="0"/>
              </a:rPr>
              <a:t>/05/2021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012" y="1943587"/>
            <a:ext cx="4181482" cy="31361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</a:t>
            </a:r>
            <a:r>
              <a:rPr lang="en-AU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 Interest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</a:t>
            </a:r>
            <a:r>
              <a:rPr lang="en-AU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Simple Interest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195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Simple Interest?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1D7CD-EA3B-46D4-A012-C8208E7CF9A6}"/>
              </a:ext>
            </a:extLst>
          </p:cNvPr>
          <p:cNvSpPr txBox="1"/>
          <p:nvPr/>
        </p:nvSpPr>
        <p:spPr>
          <a:xfrm>
            <a:off x="2537915" y="1555592"/>
            <a:ext cx="8357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Simple Interest is interest that stays the same each year. It is always calculated on the original amount borrowed or saved.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C7A37E-3216-4EA7-84A7-1A113B259A87}"/>
                  </a:ext>
                </a:extLst>
              </p:cNvPr>
              <p:cNvSpPr txBox="1"/>
              <p:nvPr/>
            </p:nvSpPr>
            <p:spPr>
              <a:xfrm>
                <a:off x="2537915" y="2799101"/>
                <a:ext cx="7568739" cy="2428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Principal – amount initially invested (P)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Rate – Interest rate per year/per annum (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p.a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) shown as a fraction or decimal (r).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Eg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5%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num>
                      <m:den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or 0.05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Time – Shown in years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C7A37E-3216-4EA7-84A7-1A113B259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915" y="2799101"/>
                <a:ext cx="7568739" cy="2428678"/>
              </a:xfrm>
              <a:prstGeom prst="rect">
                <a:avLst/>
              </a:prstGeom>
              <a:blipFill>
                <a:blip r:embed="rId3"/>
                <a:stretch>
                  <a:fillRect l="-644" t="-1253" b="-30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BB5DFE0-599E-4714-AA74-B7778846F3DE}"/>
              </a:ext>
            </a:extLst>
          </p:cNvPr>
          <p:cNvSpPr txBox="1"/>
          <p:nvPr/>
        </p:nvSpPr>
        <p:spPr>
          <a:xfrm>
            <a:off x="2537915" y="5895538"/>
            <a:ext cx="443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Total amount paid back  = Principal + Interest</a:t>
            </a:r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2328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the formula?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31D7CD-EA3B-46D4-A012-C8208E7CF9A6}"/>
                  </a:ext>
                </a:extLst>
              </p:cNvPr>
              <p:cNvSpPr txBox="1"/>
              <p:nvPr/>
            </p:nvSpPr>
            <p:spPr>
              <a:xfrm>
                <a:off x="2537915" y="1555592"/>
                <a:ext cx="8357061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Simple Interest = </a:t>
                </a:r>
                <a14:m>
                  <m:oMath xmlns:m="http://schemas.openxmlformats.org/officeDocument/2006/math"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𝑃𝑟𝑖𝑛𝑐𝑖𝑝𝑎𝑙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𝑅𝑎𝑡𝑒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×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𝑇𝑖𝑚𝑒</m:t>
                    </m:r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= P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R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T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31D7CD-EA3B-46D4-A012-C8208E7CF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915" y="1555592"/>
                <a:ext cx="8357061" cy="1231106"/>
              </a:xfrm>
              <a:prstGeom prst="rect">
                <a:avLst/>
              </a:prstGeom>
              <a:blipFill>
                <a:blip r:embed="rId3"/>
                <a:stretch>
                  <a:fillRect l="-729" t="-2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76C781C-E18A-4F76-9A37-E8AA2AF9013E}"/>
              </a:ext>
            </a:extLst>
          </p:cNvPr>
          <p:cNvSpPr txBox="1"/>
          <p:nvPr/>
        </p:nvSpPr>
        <p:spPr>
          <a:xfrm>
            <a:off x="2408426" y="3185282"/>
            <a:ext cx="7870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Eg1) Calculate Simple Interest charged on a loan of $25000 at 9%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p.a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for 5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992E2A-E526-4056-BA0C-7EDD497B4ED1}"/>
                  </a:ext>
                </a:extLst>
              </p:cNvPr>
              <p:cNvSpPr txBox="1"/>
              <p:nvPr/>
            </p:nvSpPr>
            <p:spPr>
              <a:xfrm>
                <a:off x="2850311" y="3953198"/>
                <a:ext cx="2444900" cy="2253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SI = P </a:t>
                </a:r>
                <a14:m>
                  <m:oMath xmlns:m="http://schemas.openxmlformats.org/officeDocument/2006/math">
                    <m:r>
                      <a:rPr kumimoji="0" lang="en-GB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R </a:t>
                </a:r>
                <a14:m>
                  <m:oMath xmlns:m="http://schemas.openxmlformats.org/officeDocument/2006/math">
                    <m:r>
                      <a:rPr kumimoji="0" lang="en-GB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T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= $25,000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</m:num>
                      <m:den>
                        <m:r>
                          <a:rPr kumimoji="0" lang="en-AU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5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= $11250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992E2A-E526-4056-BA0C-7EDD497B4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311" y="3953198"/>
                <a:ext cx="2444900" cy="2253053"/>
              </a:xfrm>
              <a:prstGeom prst="rect">
                <a:avLst/>
              </a:prstGeom>
              <a:blipFill>
                <a:blip r:embed="rId4"/>
                <a:stretch>
                  <a:fillRect l="-2743" t="-1351" r="-17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930D2A-7BE4-45C5-B6AE-09407B82E703}"/>
                  </a:ext>
                </a:extLst>
              </p:cNvPr>
              <p:cNvSpPr txBox="1"/>
              <p:nvPr/>
            </p:nvSpPr>
            <p:spPr>
              <a:xfrm>
                <a:off x="7570123" y="4095739"/>
                <a:ext cx="1999265" cy="1593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P = $25000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</m:num>
                      <m:den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100 </m:t>
                        </m:r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   (9</a:t>
                </a:r>
                <a14:m>
                  <m:oMath xmlns:m="http://schemas.openxmlformats.org/officeDocument/2006/math">
                    <m:r>
                      <a:rPr kumimoji="0" lang="en-GB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100)</m:t>
                    </m:r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+mn-ea"/>
                    <a:cs typeface="+mn-cs"/>
                  </a:rPr>
                  <a:t>T = 5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930D2A-7BE4-45C5-B6AE-09407B82E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123" y="4095739"/>
                <a:ext cx="1999265" cy="1593770"/>
              </a:xfrm>
              <a:prstGeom prst="rect">
                <a:avLst/>
              </a:prstGeom>
              <a:blipFill>
                <a:blip r:embed="rId5"/>
                <a:stretch>
                  <a:fillRect l="-2744" t="-2299" r="-610" b="-5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694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AF86-365B-4716-AAE1-6954C446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E78B-35B2-45A5-BB22-F5D5F37BE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invested $100 at 10% interest rate for a single year how much do you think we should earn?</a:t>
            </a:r>
          </a:p>
          <a:p>
            <a:endParaRPr lang="en-GB" dirty="0"/>
          </a:p>
          <a:p>
            <a:r>
              <a:rPr lang="en-GB" dirty="0"/>
              <a:t>What would happen if we invested for 2 years instead? How much interest would we earn instead?</a:t>
            </a:r>
          </a:p>
        </p:txBody>
      </p:sp>
    </p:spTree>
    <p:extLst>
      <p:ext uri="{BB962C8B-B14F-4D97-AF65-F5344CB8AC3E}">
        <p14:creationId xmlns:p14="http://schemas.microsoft.com/office/powerpoint/2010/main" val="275977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2328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the formula?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88B245-26DD-4F88-8A6D-0BA35259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526" y="1609711"/>
            <a:ext cx="7267062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15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345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Principal, Percentage Rate and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195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find the Principal Amount?</a:t>
            </a: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25D3A2C5-1886-4E95-95BD-E2F05A6B4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9510" y="1524815"/>
            <a:ext cx="79581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If the simple interest on a 3.5 year loan at a rate of 8% pa is $784, what is the principal.</a:t>
            </a: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1DBDCF88-0711-424A-B31E-C0DD8F4D1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229" y="2348519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 = P x R x T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EBF943FA-1E29-4255-90FF-FF1F3DFB7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4231" y="2922383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784 = P x 8% x 3.5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6C2A2B7A-4A77-4064-9EFD-E68770F83153}"/>
              </a:ext>
            </a:extLst>
          </p:cNvPr>
          <p:cNvGrpSpPr>
            <a:grpSpLocks/>
          </p:cNvGrpSpPr>
          <p:nvPr/>
        </p:nvGrpSpPr>
        <p:grpSpPr bwMode="auto">
          <a:xfrm>
            <a:off x="5770039" y="3359366"/>
            <a:ext cx="4181233" cy="872568"/>
            <a:chOff x="3016" y="2115"/>
            <a:chExt cx="3043" cy="715"/>
          </a:xfrm>
        </p:grpSpPr>
        <p:sp>
          <p:nvSpPr>
            <p:cNvPr id="27" name="Line 13">
              <a:extLst>
                <a:ext uri="{FF2B5EF4-FFF2-40B4-BE49-F238E27FC236}">
                  <a16:creationId xmlns:a16="http://schemas.microsoft.com/office/drawing/2014/main" id="{88A7EB9F-23A0-49CA-B85E-FE558D947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211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BB3AEC79-89AC-4B5A-9D21-B8CADD2AE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2432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charset="0"/>
                <a:ea typeface="ＭＳ Ｐゴシック" charset="0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5">
                  <a:extLst>
                    <a:ext uri="{FF2B5EF4-FFF2-40B4-BE49-F238E27FC236}">
                      <a16:creationId xmlns:a16="http://schemas.microsoft.com/office/drawing/2014/main" id="{19DF1E48-D391-44BD-A852-30008E887C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33" y="2266"/>
                  <a:ext cx="2226" cy="5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AU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rPr>
                    <a:t>8 % needs to be changed 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AU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rPr>
                    <a:t>to a decimal number 0.08 or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kumimoji="0" lang="en-AU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charset="0"/>
                              <a:cs typeface="+mn-cs"/>
                            </a:rPr>
                            <m:t>8</m:t>
                          </m:r>
                        </m:num>
                        <m:den>
                          <m:r>
                            <a:rPr kumimoji="0" lang="en-AU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charset="0"/>
                              <a:cs typeface="+mn-cs"/>
                            </a:rPr>
                            <m:t>100</m:t>
                          </m:r>
                        </m:den>
                      </m:f>
                    </m:oMath>
                  </a14:m>
                  <a:endParaRPr kumimoji="0" lang="en-A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Text Box 15">
                  <a:extLst>
                    <a:ext uri="{FF2B5EF4-FFF2-40B4-BE49-F238E27FC236}">
                      <a16:creationId xmlns:a16="http://schemas.microsoft.com/office/drawing/2014/main" id="{19DF1E48-D391-44BD-A852-30008E887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33" y="2266"/>
                  <a:ext cx="2226" cy="564"/>
                </a:xfrm>
                <a:prstGeom prst="rect">
                  <a:avLst/>
                </a:prstGeom>
                <a:blipFill>
                  <a:blip r:embed="rId3"/>
                  <a:stretch>
                    <a:fillRect l="-1198" t="-2655" b="-265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 Box 11">
            <a:extLst>
              <a:ext uri="{FF2B5EF4-FFF2-40B4-BE49-F238E27FC236}">
                <a16:creationId xmlns:a16="http://schemas.microsoft.com/office/drawing/2014/main" id="{F28B5214-A2E6-4521-A7E6-5BF26FF16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4169" y="4150445"/>
            <a:ext cx="5976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$784 = P x 0.08 x 3.5    </a:t>
            </a: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(NOTE: 0.08 x 3.5 = 0.28)</a:t>
            </a:r>
          </a:p>
        </p:txBody>
      </p:sp>
      <p:sp>
        <p:nvSpPr>
          <p:cNvPr id="31" name="Text Box 20">
            <a:extLst>
              <a:ext uri="{FF2B5EF4-FFF2-40B4-BE49-F238E27FC236}">
                <a16:creationId xmlns:a16="http://schemas.microsoft.com/office/drawing/2014/main" id="{52D386DD-009D-4530-8493-4322E000D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4169" y="4875985"/>
            <a:ext cx="2951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charset="0"/>
                <a:ea typeface="ＭＳ Ｐゴシック" charset="0"/>
                <a:cs typeface="+mn-cs"/>
              </a:rPr>
              <a:t>$784 = P x 0.28</a:t>
            </a:r>
          </a:p>
        </p:txBody>
      </p:sp>
      <p:graphicFrame>
        <p:nvGraphicFramePr>
          <p:cNvPr id="32" name="Object 18">
            <a:extLst>
              <a:ext uri="{FF2B5EF4-FFF2-40B4-BE49-F238E27FC236}">
                <a16:creationId xmlns:a16="http://schemas.microsoft.com/office/drawing/2014/main" id="{566BEB50-4435-4FBC-950C-CEE4158B5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1572" y="5497591"/>
          <a:ext cx="13017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E400" r:id="rId4" imgW="686520" imgH="313920" progId="FXE300.Equation">
                  <p:embed/>
                </p:oleObj>
              </mc:Choice>
              <mc:Fallback>
                <p:oleObj name="FXE400" r:id="rId4" imgW="686520" imgH="313920" progId="FXE300.Equation">
                  <p:embed/>
                  <p:pic>
                    <p:nvPicPr>
                      <p:cNvPr id="32" name="Object 18">
                        <a:extLst>
                          <a:ext uri="{FF2B5EF4-FFF2-40B4-BE49-F238E27FC236}">
                            <a16:creationId xmlns:a16="http://schemas.microsoft.com/office/drawing/2014/main" id="{566BEB50-4435-4FBC-950C-CEE4158B5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1572" y="5497591"/>
                        <a:ext cx="13017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7">
            <a:extLst>
              <a:ext uri="{FF2B5EF4-FFF2-40B4-BE49-F238E27FC236}">
                <a16:creationId xmlns:a16="http://schemas.microsoft.com/office/drawing/2014/main" id="{321F8DF9-9FDF-428E-A41C-F3C559A1D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9510" y="6271903"/>
            <a:ext cx="806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Therefore P = $2800</a:t>
            </a:r>
          </a:p>
        </p:txBody>
      </p:sp>
    </p:spTree>
    <p:extLst>
      <p:ext uri="{BB962C8B-B14F-4D97-AF65-F5344CB8AC3E}">
        <p14:creationId xmlns:p14="http://schemas.microsoft.com/office/powerpoint/2010/main" val="215692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5" grpId="0"/>
      <p:bldP spid="30" grpId="0"/>
      <p:bldP spid="31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2328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find the percentage rate?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B113673D-C3CE-4211-8AF3-BAD09BE2F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038" y="1476077"/>
            <a:ext cx="79581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If the simple interest on $5400 over two years is $756, what is the interest rate?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3CDC5F1F-7CAC-4329-B1F4-A9CDFD4B1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9107" y="2183963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 = P x R x T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85582A43-7BA0-42AE-B363-753226494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30" y="2774777"/>
            <a:ext cx="3311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$756 = 5400 x R x 2</a:t>
            </a: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4CEF9AED-D345-478F-8FD3-9223F0AE3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444" y="3397424"/>
            <a:ext cx="5976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$756 = 10800 x R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Object 14">
            <a:extLst>
              <a:ext uri="{FF2B5EF4-FFF2-40B4-BE49-F238E27FC236}">
                <a16:creationId xmlns:a16="http://schemas.microsoft.com/office/drawing/2014/main" id="{7FE4150F-6D65-491D-B8BE-393955628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2460" y="4216458"/>
          <a:ext cx="20240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E400" r:id="rId3" imgW="849600" imgH="313920" progId="FXE300.Equation">
                  <p:embed/>
                </p:oleObj>
              </mc:Choice>
              <mc:Fallback>
                <p:oleObj name="FXE400" r:id="rId3" imgW="849600" imgH="313920" progId="FXE300.Equation">
                  <p:embed/>
                  <p:pic>
                    <p:nvPicPr>
                      <p:cNvPr id="21" name="Object 14">
                        <a:extLst>
                          <a:ext uri="{FF2B5EF4-FFF2-40B4-BE49-F238E27FC236}">
                            <a16:creationId xmlns:a16="http://schemas.microsoft.com/office/drawing/2014/main" id="{7FE4150F-6D65-491D-B8BE-393955628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2460" y="4216458"/>
                        <a:ext cx="20240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3">
            <a:extLst>
              <a:ext uri="{FF2B5EF4-FFF2-40B4-BE49-F238E27FC236}">
                <a16:creationId xmlns:a16="http://schemas.microsoft.com/office/drawing/2014/main" id="{CA989ACA-B8D3-4B74-B774-527B09D70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903" y="5163908"/>
            <a:ext cx="80660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Therefore R as a decimal = 0.07   which means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 as a percentage = 7%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I apply the Simple Interest formula?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2328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find the time?</a:t>
            </a: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954F1B74-0C3E-4CE9-96C6-15293061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222" y="1476077"/>
            <a:ext cx="79581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How long would it take for $6 200 to accrue $1395 in simple interest  at an interest rate of 9% pa?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33C0DA41-DCC9-4290-9499-5D4B9149B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322" y="2426104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 = P x R x T</a:t>
            </a:r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2D4E3E15-750F-4E82-BFD6-303F63599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066" y="2971800"/>
            <a:ext cx="3744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$1395 = $6200 x 9% x T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4A6BAC13-9C69-48C4-A113-4AA56F407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275" y="3705716"/>
            <a:ext cx="5976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$1395= $558 x T       </a:t>
            </a: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(Note:  $6200 x 0.09 = $558)</a:t>
            </a:r>
          </a:p>
        </p:txBody>
      </p:sp>
      <p:graphicFrame>
        <p:nvGraphicFramePr>
          <p:cNvPr id="27" name="Object 10">
            <a:extLst>
              <a:ext uri="{FF2B5EF4-FFF2-40B4-BE49-F238E27FC236}">
                <a16:creationId xmlns:a16="http://schemas.microsoft.com/office/drawing/2014/main" id="{0B123422-E7EE-43D9-A3EF-C5979BCE21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3209" y="4452992"/>
          <a:ext cx="18002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E400" r:id="rId3" imgW="756360" imgH="313920" progId="FXE300.Equation">
                  <p:embed/>
                </p:oleObj>
              </mc:Choice>
              <mc:Fallback>
                <p:oleObj name="FXE400" r:id="rId3" imgW="756360" imgH="313920" progId="FXE300.Equation">
                  <p:embed/>
                  <p:pic>
                    <p:nvPicPr>
                      <p:cNvPr id="27" name="Object 10">
                        <a:extLst>
                          <a:ext uri="{FF2B5EF4-FFF2-40B4-BE49-F238E27FC236}">
                            <a16:creationId xmlns:a16="http://schemas.microsoft.com/office/drawing/2014/main" id="{0B123422-E7EE-43D9-A3EF-C5979BCE21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209" y="4452992"/>
                        <a:ext cx="18002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9">
            <a:extLst>
              <a:ext uri="{FF2B5EF4-FFF2-40B4-BE49-F238E27FC236}">
                <a16:creationId xmlns:a16="http://schemas.microsoft.com/office/drawing/2014/main" id="{96C0CC73-D6D1-4E6D-AFDA-661F3F399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175" y="5635606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Therefore T = 2.5 years</a:t>
            </a:r>
          </a:p>
        </p:txBody>
      </p:sp>
    </p:spTree>
    <p:extLst>
      <p:ext uri="{BB962C8B-B14F-4D97-AF65-F5344CB8AC3E}">
        <p14:creationId xmlns:p14="http://schemas.microsoft.com/office/powerpoint/2010/main" val="405850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00B7-60A8-41F4-B4CB-1A3A40DA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the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396CD0-DBB2-4DBA-8749-D09581D36E74}"/>
              </a:ext>
            </a:extLst>
          </p:cNvPr>
          <p:cNvGraphicFramePr>
            <a:graphicFrameLocks noGrp="1"/>
          </p:cNvGraphicFramePr>
          <p:nvPr/>
        </p:nvGraphicFramePr>
        <p:xfrm>
          <a:off x="780940" y="2287731"/>
          <a:ext cx="10860075" cy="340265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8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Interest (%)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>
                          <a:solidFill>
                            <a:sysClr val="windowText" lastClr="000000"/>
                          </a:solidFill>
                        </a:rPr>
                        <a:t>Interest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1,250,000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780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F349-019B-4754-93EF-B765C507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4769C-C2BE-439A-A039-C9405F39A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529A5-9BC6-4D0C-8784-2668F020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09" y="2201120"/>
            <a:ext cx="11539182" cy="38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1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12A4E-9D59-49D1-8194-1B142DA3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Evaluate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738F-D584-473A-82C8-FA947AC49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your equation to work out the total amount you would have after the following investments were made.</a:t>
            </a:r>
          </a:p>
          <a:p>
            <a:endParaRPr lang="en-GB" dirty="0"/>
          </a:p>
          <a:p>
            <a:r>
              <a:rPr lang="en-GB" dirty="0"/>
              <a:t>1. P=$500   r=2.5%   t=5 years</a:t>
            </a:r>
          </a:p>
          <a:p>
            <a:endParaRPr lang="en-GB" dirty="0"/>
          </a:p>
          <a:p>
            <a:r>
              <a:rPr lang="en-GB" dirty="0"/>
              <a:t>2. P=$500   r=4%    t=5 years</a:t>
            </a:r>
          </a:p>
        </p:txBody>
      </p:sp>
    </p:spTree>
    <p:extLst>
      <p:ext uri="{BB962C8B-B14F-4D97-AF65-F5344CB8AC3E}">
        <p14:creationId xmlns:p14="http://schemas.microsoft.com/office/powerpoint/2010/main" val="307415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EFAC-8CEA-4B2C-A93F-A979A39A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3922B-F329-429C-A611-A976E7B5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 to page 54 of your Interleave Book and complete the Extend Question</a:t>
            </a:r>
          </a:p>
        </p:txBody>
      </p:sp>
    </p:spTree>
    <p:extLst>
      <p:ext uri="{BB962C8B-B14F-4D97-AF65-F5344CB8AC3E}">
        <p14:creationId xmlns:p14="http://schemas.microsoft.com/office/powerpoint/2010/main" val="3363690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 dirty="0"/>
              <a:t>“All our dreams can come true if we have the courage to pursue them.”</a:t>
            </a:r>
            <a:r>
              <a:rPr lang="en-AU" dirty="0"/>
              <a:t> </a:t>
            </a:r>
          </a:p>
          <a:p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11909</TotalTime>
  <Words>798</Words>
  <Application>Microsoft Office PowerPoint</Application>
  <PresentationFormat>Widescreen</PresentationFormat>
  <Paragraphs>155</Paragraphs>
  <Slides>17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 Unicode MS</vt:lpstr>
      <vt:lpstr>Calibri</vt:lpstr>
      <vt:lpstr>Cambria Math</vt:lpstr>
      <vt:lpstr>Tw Cen MT</vt:lpstr>
      <vt:lpstr>Tw Cen MT Condensed</vt:lpstr>
      <vt:lpstr>Verdana</vt:lpstr>
      <vt:lpstr>Wingdings</vt:lpstr>
      <vt:lpstr>Wingdings 3</vt:lpstr>
      <vt:lpstr>Integral</vt:lpstr>
      <vt:lpstr>FXE400</vt:lpstr>
      <vt:lpstr>Topic: Simple Interest EQ: How do we calculate the total amount by using simple interest?</vt:lpstr>
      <vt:lpstr>Things Required For This Lesson</vt:lpstr>
      <vt:lpstr>PowerPoint Presentation</vt:lpstr>
      <vt:lpstr>Answers</vt:lpstr>
      <vt:lpstr>PowerPoint Presentation</vt:lpstr>
      <vt:lpstr>PowerPoint Presentation</vt:lpstr>
      <vt:lpstr>PowerPoint Presentation</vt:lpstr>
      <vt:lpstr>Experiment (LHS)</vt:lpstr>
      <vt:lpstr>PowerPoint Presentation</vt:lpstr>
      <vt:lpstr>PowerPoint Presentation</vt:lpstr>
      <vt:lpstr>PowerPoint Presentation</vt:lpstr>
      <vt:lpstr>PowerPoint Presentation</vt:lpstr>
      <vt:lpstr>Complete the Table</vt:lpstr>
      <vt:lpstr>Solve:</vt:lpstr>
      <vt:lpstr>Evaluate (LHS)</vt:lpstr>
      <vt:lpstr>Extend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160</cp:revision>
  <dcterms:created xsi:type="dcterms:W3CDTF">2021-02-11T13:20:57Z</dcterms:created>
  <dcterms:modified xsi:type="dcterms:W3CDTF">2021-05-22T13:16:28Z</dcterms:modified>
</cp:coreProperties>
</file>
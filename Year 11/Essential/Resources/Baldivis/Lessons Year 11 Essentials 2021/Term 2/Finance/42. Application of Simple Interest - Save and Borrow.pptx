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3" r:id="rId1"/>
  </p:sldMasterIdLst>
  <p:notesMasterIdLst>
    <p:notesMasterId r:id="rId13"/>
  </p:notesMasterIdLst>
  <p:sldIdLst>
    <p:sldId id="256" r:id="rId2"/>
    <p:sldId id="257" r:id="rId3"/>
    <p:sldId id="367" r:id="rId4"/>
    <p:sldId id="380" r:id="rId5"/>
    <p:sldId id="311" r:id="rId6"/>
    <p:sldId id="335" r:id="rId7"/>
    <p:sldId id="376" r:id="rId8"/>
    <p:sldId id="378" r:id="rId9"/>
    <p:sldId id="379" r:id="rId10"/>
    <p:sldId id="371" r:id="rId11"/>
    <p:sldId id="32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2" autoAdjust="0"/>
    <p:restoredTop sz="94013" autoAdjust="0"/>
  </p:normalViewPr>
  <p:slideViewPr>
    <p:cSldViewPr snapToGrid="0">
      <p:cViewPr varScale="1">
        <p:scale>
          <a:sx n="83" d="100"/>
          <a:sy n="83" d="100"/>
        </p:scale>
        <p:origin x="45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EAEC40-FB91-4B4E-8615-59788947F0F0}" type="datetimeFigureOut">
              <a:rPr lang="en-AU" smtClean="0"/>
              <a:t>22/05/2021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5F8C66-E9D4-4BCD-9B84-1B952BD6C7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15560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02755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28BD033-8677-4794-8EA0-E5BD0D524802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2247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28BD033-8677-4794-8EA0-E5BD0D524802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37701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28BD033-8677-4794-8EA0-E5BD0D524802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96356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28BD033-8677-4794-8EA0-E5BD0D524802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81565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CD87294F-DEA6-4D3A-864A-E2E179377C11}" type="datetimeFigureOut">
              <a:rPr lang="en-AU" smtClean="0"/>
              <a:t>22/05/2021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blipFill dpi="0" rotWithShape="1"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0850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22/05/2021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4120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22/05/2021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0" y="0"/>
            <a:ext cx="12192000" cy="4572000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61104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22/05/2021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1133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22/05/2021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222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22/05/2021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0055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22/05/2021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1683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22/05/2021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75906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22/05/2021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2258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22/05/2021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5682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22/05/2021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5073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D87294F-DEA6-4D3A-864A-E2E179377C11}" type="datetimeFigureOut">
              <a:rPr lang="en-AU" smtClean="0"/>
              <a:t>22/05/2021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5121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11B51-FD68-4F9A-AF72-D0BD002045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795" y="4960137"/>
            <a:ext cx="8417010" cy="1463040"/>
          </a:xfrm>
        </p:spPr>
        <p:txBody>
          <a:bodyPr>
            <a:noAutofit/>
          </a:bodyPr>
          <a:lstStyle/>
          <a:p>
            <a:pPr algn="l"/>
            <a:r>
              <a:rPr lang="en-AU" sz="4000" dirty="0"/>
              <a:t>Topic: Application of Simple Interest</a:t>
            </a:r>
            <a:br>
              <a:rPr lang="en-AU" sz="4000" dirty="0"/>
            </a:br>
            <a:r>
              <a:rPr lang="en-AU" sz="4000" dirty="0"/>
              <a:t>EQ: How do we take borrowing money and apply it to interest and loans?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235905-0902-4C57-9CA6-37C142F28C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13805" y="4960137"/>
            <a:ext cx="3200400" cy="1463040"/>
          </a:xfrm>
        </p:spPr>
        <p:txBody>
          <a:bodyPr/>
          <a:lstStyle/>
          <a:p>
            <a:r>
              <a:rPr lang="en-AU" dirty="0"/>
              <a:t>Year 11 Essentials</a:t>
            </a:r>
          </a:p>
        </p:txBody>
      </p:sp>
    </p:spTree>
    <p:extLst>
      <p:ext uri="{BB962C8B-B14F-4D97-AF65-F5344CB8AC3E}">
        <p14:creationId xmlns:p14="http://schemas.microsoft.com/office/powerpoint/2010/main" val="1669176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42DAA-A945-4854-916B-03B00950B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Things Required For This Lesson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B46C1-2EC7-446D-84C7-06B86F228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Interactive Notebook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Textbook: </a:t>
            </a:r>
            <a:r>
              <a:rPr lang="en-AU" sz="2800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Interleaved Maths Essential Connections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Ruler, Red Pen, Pencil, Pens, Scientific Calculator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Growth mindset</a:t>
            </a:r>
          </a:p>
        </p:txBody>
      </p:sp>
    </p:spTree>
    <p:extLst>
      <p:ext uri="{BB962C8B-B14F-4D97-AF65-F5344CB8AC3E}">
        <p14:creationId xmlns:p14="http://schemas.microsoft.com/office/powerpoint/2010/main" val="2390803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D2345D65-2A74-491B-AC96-C66B2726A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689600" y="826324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D15D9FA9-26A2-4F4D-8F7C-658E5E382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5775" y="4150596"/>
            <a:ext cx="1038557" cy="2231807"/>
          </a:xfrm>
          <a:prstGeom prst="rect">
            <a:avLst/>
          </a:pr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EFECAF45-5B5C-42BB-A3ED-6EAF62E5EF74}"/>
              </a:ext>
            </a:extLst>
          </p:cNvPr>
          <p:cNvSpPr txBox="1">
            <a:spLocks/>
          </p:cNvSpPr>
          <p:nvPr/>
        </p:nvSpPr>
        <p:spPr>
          <a:xfrm>
            <a:off x="8150451" y="277684"/>
            <a:ext cx="4195287" cy="14630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2800" dirty="0"/>
              <a:t>Topic: Application of Simple Interest</a:t>
            </a:r>
            <a:br>
              <a:rPr lang="en-AU" sz="2800" dirty="0"/>
            </a:br>
            <a:r>
              <a:rPr lang="en-AU" sz="2800" dirty="0"/>
              <a:t>EQ: How do we take borrowing money and apply it to interest and loans?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43D4BB-6623-41BA-8B87-73AC514127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" y="229831"/>
            <a:ext cx="7748578" cy="11217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A146D41-D88A-4CBC-BFA7-6E6F116D53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372" y="1342436"/>
            <a:ext cx="7946569" cy="8983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1C9B184-837E-4ACB-AAA6-E46207C6E2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715" y="4051433"/>
            <a:ext cx="5773779" cy="243013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D606129-8C09-4B85-BEE9-F666285599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372" y="2518252"/>
            <a:ext cx="8069941" cy="103382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47BFA23-C718-43A7-995D-16782A7CB0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1123" y="4051433"/>
            <a:ext cx="5513162" cy="236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641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02DF5-5483-4394-AD7B-0BF7F6103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Answers: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DAA1CB-517B-403A-B4FB-B08F38F093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GB" b="1" dirty="0">
                    <a:solidFill>
                      <a:srgbClr val="FF0000"/>
                    </a:solidFill>
                  </a:rPr>
                  <a:t>1) $1920</a:t>
                </a:r>
              </a:p>
              <a:p>
                <a:endParaRPr lang="en-GB" b="1" dirty="0">
                  <a:solidFill>
                    <a:srgbClr val="FF0000"/>
                  </a:solidFill>
                </a:endParaRPr>
              </a:p>
              <a:p>
                <a:r>
                  <a:rPr lang="en-GB" b="1" dirty="0">
                    <a:solidFill>
                      <a:srgbClr val="FF0000"/>
                    </a:solidFill>
                  </a:rPr>
                  <a:t>2) 14 km</a:t>
                </a:r>
              </a:p>
              <a:p>
                <a:endParaRPr lang="en-GB" b="1" dirty="0">
                  <a:solidFill>
                    <a:srgbClr val="FF0000"/>
                  </a:solidFill>
                </a:endParaRPr>
              </a:p>
              <a:p>
                <a:r>
                  <a:rPr lang="en-GB" b="1" dirty="0">
                    <a:solidFill>
                      <a:srgbClr val="FF0000"/>
                    </a:solidFill>
                  </a:rPr>
                  <a:t>3)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num>
                      <m:den>
                        <m:r>
                          <a:rPr lang="en-AU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</m:oMath>
                </a14:m>
                <a:endParaRPr lang="en-AU" b="1" dirty="0">
                  <a:solidFill>
                    <a:srgbClr val="FF0000"/>
                  </a:solidFill>
                </a:endParaRPr>
              </a:p>
              <a:p>
                <a:endParaRPr lang="en-GB" b="1" dirty="0">
                  <a:solidFill>
                    <a:srgbClr val="FF0000"/>
                  </a:solidFill>
                </a:endParaRPr>
              </a:p>
              <a:p>
                <a:r>
                  <a:rPr lang="en-GB" b="1" dirty="0">
                    <a:solidFill>
                      <a:srgbClr val="FF0000"/>
                    </a:solidFill>
                  </a:rPr>
                  <a:t>4) 1: 1000</a:t>
                </a:r>
              </a:p>
              <a:p>
                <a:endParaRPr lang="en-GB" b="1" dirty="0">
                  <a:solidFill>
                    <a:srgbClr val="FF0000"/>
                  </a:solidFill>
                </a:endParaRPr>
              </a:p>
              <a:p>
                <a:r>
                  <a:rPr lang="en-GB" b="1" dirty="0">
                    <a:solidFill>
                      <a:srgbClr val="FF0000"/>
                    </a:solidFill>
                  </a:rPr>
                  <a:t>5) Ten minutes pass 10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DAA1CB-517B-403A-B4FB-B08F38F093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8" t="-21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4132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499408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54193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Application of Simple Interest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EQ: How do we take borrowing money and apply it to interest and loans?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0DFE82-329E-4213-9CF8-A8FD3DCF967B}"/>
              </a:ext>
            </a:extLst>
          </p:cNvPr>
          <p:cNvSpPr txBox="1"/>
          <p:nvPr/>
        </p:nvSpPr>
        <p:spPr>
          <a:xfrm>
            <a:off x="9568370" y="196208"/>
            <a:ext cx="2546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Date: /05/2021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DC1BC4-B66D-4429-8604-914BCDAFDC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93012" y="1943587"/>
            <a:ext cx="4181482" cy="3136111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37322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821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24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7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 flipH="1">
            <a:off x="2368731" y="1224621"/>
            <a:ext cx="13728" cy="574223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33075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Topic: </a:t>
            </a:r>
            <a:r>
              <a:rPr lang="en-AU" sz="28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Simple Interest</a:t>
            </a:r>
            <a:endParaRPr kumimoji="0" lang="en-A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178608" y="749378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EQ: </a:t>
            </a:r>
            <a:r>
              <a:rPr lang="en-AU" sz="2400" dirty="0"/>
              <a:t>How do we take borrowing money and apply it to interest and loans? 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-136979" y="6271903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3494BA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W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IC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O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</a:t>
            </a:r>
            <a:endParaRPr kumimoji="0" lang="en-GB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F7ED85-ABDD-4E73-A6A5-0967630E09A9}"/>
              </a:ext>
            </a:extLst>
          </p:cNvPr>
          <p:cNvSpPr txBox="1"/>
          <p:nvPr/>
        </p:nvSpPr>
        <p:spPr>
          <a:xfrm>
            <a:off x="93645" y="1555593"/>
            <a:ext cx="19528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Finding the Principal</a:t>
            </a: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88089DF7-AB0C-40C2-9E78-886BA9D473B5}"/>
              </a:ext>
            </a:extLst>
          </p:cNvPr>
          <p:cNvSpPr txBox="1">
            <a:spLocks noChangeArrowheads="1"/>
          </p:cNvSpPr>
          <p:nvPr/>
        </p:nvSpPr>
        <p:spPr>
          <a:xfrm>
            <a:off x="2523893" y="1246139"/>
            <a:ext cx="8686800" cy="12652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1. 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A savings account is set up so that the simple interest earned on the investment is moved into a separate account at the end of each year.  If an investment of $5,000 is invested at 4.5%, what is the total simple interest accumulated in the checking account after 2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years.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9CF0FD-7370-4D5F-871E-50884C8C91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8058" y="2832316"/>
            <a:ext cx="9238343" cy="314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663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24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7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 flipH="1">
            <a:off x="2368731" y="1224621"/>
            <a:ext cx="13728" cy="574223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33075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Topic: Simple Interest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EQ: How do we calculate the total amount by using Simple Interest?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-136979" y="6271903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3494BA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W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IC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O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</a:t>
            </a:r>
            <a:endParaRPr kumimoji="0" lang="en-GB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D7EB07C5-B056-433E-A0BD-45087ADB786B}"/>
              </a:ext>
            </a:extLst>
          </p:cNvPr>
          <p:cNvSpPr txBox="1">
            <a:spLocks noChangeArrowheads="1"/>
          </p:cNvSpPr>
          <p:nvPr/>
        </p:nvSpPr>
        <p:spPr>
          <a:xfrm>
            <a:off x="2569028" y="1218314"/>
            <a:ext cx="8686800" cy="12652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A savings account is set up so that the simple interest earned on the investment is moved into a separate account at the end of each year.  If an investment of $7,000 is invested at 7.5%, what is the total simple interest accumulated in the checking account after 3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years.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5749201-2097-4E22-8601-EE5048156C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9028" y="2841978"/>
            <a:ext cx="9390743" cy="2395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8991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24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7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 flipH="1">
            <a:off x="2368731" y="1224621"/>
            <a:ext cx="13728" cy="574223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33075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Topic: Simple Interest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EQ: How do we calculate the total amount by using Simple Interest?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-136979" y="6271903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3494BA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W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IC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O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</a:t>
            </a:r>
            <a:endParaRPr kumimoji="0" lang="en-GB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67D67553-D481-4BB2-829C-1C19417B32D5}"/>
              </a:ext>
            </a:extLst>
          </p:cNvPr>
          <p:cNvSpPr txBox="1">
            <a:spLocks noChangeArrowheads="1"/>
          </p:cNvSpPr>
          <p:nvPr/>
        </p:nvSpPr>
        <p:spPr>
          <a:xfrm>
            <a:off x="2569028" y="1239461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3.  When invested at an annual interest rate of 6% an account earned $180.00 of simple interest in one year.  How much money was originally invested in account?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5F5BB1-62EF-4707-9A53-01CFC8991C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3556" y="2815924"/>
            <a:ext cx="9609244" cy="32052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5A8FBF0-1AD7-4575-979C-3A593FBE5B51}"/>
              </a:ext>
            </a:extLst>
          </p:cNvPr>
          <p:cNvSpPr txBox="1"/>
          <p:nvPr/>
        </p:nvSpPr>
        <p:spPr>
          <a:xfrm>
            <a:off x="178609" y="1532910"/>
            <a:ext cx="20035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When the Principal is unknown</a:t>
            </a:r>
          </a:p>
        </p:txBody>
      </p:sp>
    </p:spTree>
    <p:extLst>
      <p:ext uri="{BB962C8B-B14F-4D97-AF65-F5344CB8AC3E}">
        <p14:creationId xmlns:p14="http://schemas.microsoft.com/office/powerpoint/2010/main" val="38621463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24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7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 flipH="1">
            <a:off x="2368731" y="1224621"/>
            <a:ext cx="13728" cy="574223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33075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Topic: Simple Interest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EQ: How do we calculate the total amount by using Simple Interest?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-136979" y="6271903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3494BA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W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IC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O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</a:t>
            </a:r>
            <a:endParaRPr kumimoji="0" lang="en-GB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A8FBF0-1AD7-4575-979C-3A593FBE5B51}"/>
              </a:ext>
            </a:extLst>
          </p:cNvPr>
          <p:cNvSpPr txBox="1"/>
          <p:nvPr/>
        </p:nvSpPr>
        <p:spPr>
          <a:xfrm>
            <a:off x="178609" y="1532910"/>
            <a:ext cx="20035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How do I find the rate?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FDAE57-A3A5-4620-9521-7120B10BEF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3235" y="1399319"/>
            <a:ext cx="9374604" cy="14337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C357509-4A32-4FE3-BB5D-FE302AF708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7229" y="2688019"/>
            <a:ext cx="7620000" cy="4169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7816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BAF86-365B-4716-AAE1-6954C446A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Investigate (LHS)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5CE78B-35B2-45A5-BB22-F5D5F37BEC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Turn to page 55 of your Interleave Math Book and complete the questions</a:t>
            </a:r>
          </a:p>
        </p:txBody>
      </p:sp>
    </p:spTree>
    <p:extLst>
      <p:ext uri="{BB962C8B-B14F-4D97-AF65-F5344CB8AC3E}">
        <p14:creationId xmlns:p14="http://schemas.microsoft.com/office/powerpoint/2010/main" val="27597711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91E209-E628-4C32-B571-BF00FB683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5902061" cy="1499616"/>
          </a:xfrm>
        </p:spPr>
        <p:txBody>
          <a:bodyPr>
            <a:normAutofit/>
          </a:bodyPr>
          <a:lstStyle/>
          <a:p>
            <a:r>
              <a:rPr lang="en-AU" dirty="0"/>
              <a:t>Thank you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2A5B7C2-6C39-4AFA-9B5D-C3F3C81B9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5902061" cy="3931920"/>
          </a:xfrm>
        </p:spPr>
        <p:txBody>
          <a:bodyPr>
            <a:normAutofit/>
          </a:bodyPr>
          <a:lstStyle/>
          <a:p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Keep up the good work!</a:t>
            </a:r>
          </a:p>
          <a:p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AU" i="1" dirty="0"/>
              <a:t>“The flower that blooms in adversity is the most rare </a:t>
            </a:r>
            <a:r>
              <a:rPr lang="en-AU" i="1"/>
              <a:t>and beautiful flower of all.”</a:t>
            </a:r>
            <a:r>
              <a:rPr lang="en-AU"/>
              <a:t> </a:t>
            </a:r>
            <a:endParaRPr lang="en-AU" dirty="0"/>
          </a:p>
          <a:p>
            <a:r>
              <a:rPr lang="en-US" dirty="0">
                <a:solidFill>
                  <a:srgbClr val="000000"/>
                </a:solidFill>
                <a:latin typeface="Charter"/>
              </a:rPr>
              <a:t>-A.A Milne</a:t>
            </a:r>
            <a:br>
              <a:rPr lang="en-US" dirty="0"/>
            </a:br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Graphic 8" descr="Smiling Face with No Fill">
            <a:extLst>
              <a:ext uri="{FF2B5EF4-FFF2-40B4-BE49-F238E27FC236}">
                <a16:creationId xmlns:a16="http://schemas.microsoft.com/office/drawing/2014/main" id="{10954B83-DCF2-4288-9017-12D8B7B8E4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52267" y="1429173"/>
            <a:ext cx="3999654" cy="3999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57304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C1C93EF2-4785-427F-84A5-F1666490E9C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11974</TotalTime>
  <Words>436</Words>
  <Application>Microsoft Office PowerPoint</Application>
  <PresentationFormat>Widescreen</PresentationFormat>
  <Paragraphs>67</Paragraphs>
  <Slides>11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Calibri</vt:lpstr>
      <vt:lpstr>Calibri Light</vt:lpstr>
      <vt:lpstr>Cambria Math</vt:lpstr>
      <vt:lpstr>Charter</vt:lpstr>
      <vt:lpstr>Tw Cen MT</vt:lpstr>
      <vt:lpstr>Tw Cen MT Condensed</vt:lpstr>
      <vt:lpstr>Wingdings</vt:lpstr>
      <vt:lpstr>Wingdings 3</vt:lpstr>
      <vt:lpstr>Integral</vt:lpstr>
      <vt:lpstr>Topic: Application of Simple Interest EQ: How do we take borrowing money and apply it to interest and loans?</vt:lpstr>
      <vt:lpstr>Things Required For This Lesson</vt:lpstr>
      <vt:lpstr>PowerPoint Presentation</vt:lpstr>
      <vt:lpstr>Answers: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Investigate (LHS)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Addition and Perimeter EQ: How do you use known and unknown information to find perimeter?</dc:title>
  <dc:creator>WATSON Justin [Baldivis Secondary College]</dc:creator>
  <cp:lastModifiedBy>Tony Nguyen</cp:lastModifiedBy>
  <cp:revision>167</cp:revision>
  <dcterms:created xsi:type="dcterms:W3CDTF">2021-02-11T13:20:57Z</dcterms:created>
  <dcterms:modified xsi:type="dcterms:W3CDTF">2021-05-22T13:17:47Z</dcterms:modified>
</cp:coreProperties>
</file>
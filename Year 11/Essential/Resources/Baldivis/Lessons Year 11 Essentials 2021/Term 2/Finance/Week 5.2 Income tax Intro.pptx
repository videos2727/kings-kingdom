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4"/>
  </p:notesMasterIdLst>
  <p:sldIdLst>
    <p:sldId id="256" r:id="rId2"/>
    <p:sldId id="257" r:id="rId3"/>
    <p:sldId id="367" r:id="rId4"/>
    <p:sldId id="311" r:id="rId5"/>
    <p:sldId id="363" r:id="rId6"/>
    <p:sldId id="365" r:id="rId7"/>
    <p:sldId id="356" r:id="rId8"/>
    <p:sldId id="364" r:id="rId9"/>
    <p:sldId id="366" r:id="rId10"/>
    <p:sldId id="359" r:id="rId11"/>
    <p:sldId id="354" r:id="rId12"/>
    <p:sldId id="32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1" autoAdjust="0"/>
    <p:restoredTop sz="94013" autoAdjust="0"/>
  </p:normalViewPr>
  <p:slideViewPr>
    <p:cSldViewPr snapToGrid="0">
      <p:cViewPr varScale="1">
        <p:scale>
          <a:sx n="108" d="100"/>
          <a:sy n="108" d="100"/>
        </p:scale>
        <p:origin x="13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6475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034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960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483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2394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295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18/05/2021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95" y="4960137"/>
            <a:ext cx="841701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</a:t>
            </a:r>
            <a:r>
              <a:rPr lang="en-AU" sz="4000" dirty="0" smtClean="0"/>
              <a:t>Finance</a:t>
            </a:r>
            <a:r>
              <a:rPr lang="en-AU" sz="4000" dirty="0"/>
              <a:t/>
            </a:r>
            <a:br>
              <a:rPr lang="en-AU" sz="4000" dirty="0"/>
            </a:br>
            <a:r>
              <a:rPr lang="en-AU" sz="4000" dirty="0"/>
              <a:t>EQ: </a:t>
            </a:r>
            <a:r>
              <a:rPr lang="en-AU" sz="4000" dirty="0" smtClean="0"/>
              <a:t>How do we account for income tax?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3805" y="4960137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 smtClean="0"/>
              <a:t>First 5</a:t>
            </a:r>
            <a:r>
              <a:rPr lang="en-AU" sz="3500" dirty="0"/>
              <a:t/>
            </a:r>
            <a:br>
              <a:rPr lang="en-AU" sz="3500" dirty="0"/>
            </a:br>
            <a:r>
              <a:rPr lang="en-AU" sz="3500" dirty="0"/>
              <a:t/>
            </a:r>
            <a:br>
              <a:rPr lang="en-AU" sz="3500" dirty="0"/>
            </a:br>
            <a:endParaRPr lang="en-AU" sz="3500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xmlns="" id="{D2345D65-2A74-491B-AC96-C66B2726A4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D15D9FA9-26A2-4F4D-8F7C-658E5E382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37719" y="1013014"/>
            <a:ext cx="8194876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 smtClean="0"/>
              <a:t>Divide a money prize of $2100 between Tony and Adam in the ration:</a:t>
            </a:r>
            <a:br>
              <a:rPr lang="en-AU" sz="2400" dirty="0" smtClean="0"/>
            </a:br>
            <a:r>
              <a:rPr lang="en-AU" sz="2400" dirty="0" smtClean="0"/>
              <a:t>a) 2:3				b) 1:5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 smtClean="0"/>
              <a:t>An electrician charged $160 for 21/2 hours work, what is the rate in $ per </a:t>
            </a:r>
            <a:r>
              <a:rPr lang="en-AU" sz="2400" dirty="0" err="1" smtClean="0"/>
              <a:t>hr</a:t>
            </a:r>
            <a:endParaRPr lang="en-AU" sz="24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/>
              <a:t> </a:t>
            </a:r>
            <a:r>
              <a:rPr lang="en-AU" sz="2400" dirty="0" smtClean="0"/>
              <a:t>Calculate the vale of 8x+2 when:</a:t>
            </a:r>
            <a:br>
              <a:rPr lang="en-AU" sz="2400" dirty="0" smtClean="0"/>
            </a:br>
            <a:r>
              <a:rPr lang="en-AU" sz="2400" dirty="0" smtClean="0"/>
              <a:t>a) x=2         	b) x=5 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 smtClean="0"/>
              <a:t>What is 17% of 300?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400" dirty="0" smtClean="0"/>
              <a:t>How can you use formulas to compare costs?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AU" sz="2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129943" y="305116"/>
            <a:ext cx="2912977" cy="4308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>
                <a:solidFill>
                  <a:srgbClr val="FF0000"/>
                </a:solidFill>
              </a:rPr>
              <a:t>Answers</a:t>
            </a:r>
          </a:p>
          <a:p>
            <a:pPr marL="342900" indent="-342900">
              <a:buAutoNum type="arabicPeriod"/>
            </a:pPr>
            <a:r>
              <a:rPr lang="en-AU" sz="3200" b="1" dirty="0" smtClean="0">
                <a:solidFill>
                  <a:srgbClr val="FF0000"/>
                </a:solidFill>
              </a:rPr>
              <a:t>a)840:1260</a:t>
            </a:r>
          </a:p>
          <a:p>
            <a:r>
              <a:rPr lang="en-AU" sz="3200" b="1" dirty="0" smtClean="0">
                <a:solidFill>
                  <a:srgbClr val="FF0000"/>
                </a:solidFill>
              </a:rPr>
              <a:t>   b)350:1750</a:t>
            </a:r>
            <a:endParaRPr lang="en-AU" sz="3200" b="1" dirty="0">
              <a:solidFill>
                <a:srgbClr val="FF0000"/>
              </a:solidFill>
            </a:endParaRPr>
          </a:p>
          <a:p>
            <a:r>
              <a:rPr lang="en-AU" sz="3200" b="1" dirty="0" smtClean="0">
                <a:solidFill>
                  <a:srgbClr val="FF0000"/>
                </a:solidFill>
              </a:rPr>
              <a:t>2. $64/</a:t>
            </a:r>
            <a:r>
              <a:rPr lang="en-AU" sz="3200" b="1" dirty="0" err="1" smtClean="0">
                <a:solidFill>
                  <a:srgbClr val="FF0000"/>
                </a:solidFill>
              </a:rPr>
              <a:t>hr</a:t>
            </a:r>
            <a:endParaRPr lang="en-AU" sz="3200" b="1" dirty="0" smtClean="0">
              <a:solidFill>
                <a:srgbClr val="FF0000"/>
              </a:solidFill>
            </a:endParaRPr>
          </a:p>
          <a:p>
            <a:r>
              <a:rPr lang="en-AU" sz="3200" b="1" dirty="0" smtClean="0">
                <a:solidFill>
                  <a:srgbClr val="FF0000"/>
                </a:solidFill>
              </a:rPr>
              <a:t>3.a) 18</a:t>
            </a:r>
            <a:br>
              <a:rPr lang="en-AU" sz="3200" b="1" dirty="0" smtClean="0">
                <a:solidFill>
                  <a:srgbClr val="FF0000"/>
                </a:solidFill>
              </a:rPr>
            </a:br>
            <a:r>
              <a:rPr lang="en-AU" sz="3200" b="1" dirty="0" smtClean="0">
                <a:solidFill>
                  <a:srgbClr val="FF0000"/>
                </a:solidFill>
              </a:rPr>
              <a:t>   b) 42</a:t>
            </a:r>
          </a:p>
          <a:p>
            <a:r>
              <a:rPr lang="en-AU" sz="3200" b="1" dirty="0" smtClean="0">
                <a:solidFill>
                  <a:srgbClr val="FF0000"/>
                </a:solidFill>
              </a:rPr>
              <a:t>4. 51</a:t>
            </a:r>
          </a:p>
          <a:p>
            <a:endParaRPr lang="en-AU" sz="3200" b="1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264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916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are rates used for different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/03/2021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3012" y="1943587"/>
            <a:ext cx="4181482" cy="313611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 smtClean="0"/>
              <a:t>How do we account for income tax?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0" y="1474838"/>
            <a:ext cx="20490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to use the partitioning strategy for 25% off $20?</a:t>
            </a:r>
          </a:p>
          <a:p>
            <a:endParaRPr lang="en-AU" sz="2000" dirty="0"/>
          </a:p>
          <a:p>
            <a:endParaRPr lang="en-AU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09578" y="1490915"/>
                <a:ext cx="7027886" cy="328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spcAft>
                    <a:spcPts val="120"/>
                  </a:spcAft>
                </a:pPr>
                <a:r>
                  <a:rPr lang="en-GB" sz="2000" b="1" dirty="0" smtClean="0"/>
                  <a:t>Review:</a:t>
                </a:r>
              </a:p>
              <a:p>
                <a:pPr>
                  <a:spcAft>
                    <a:spcPts val="120"/>
                  </a:spcAft>
                </a:pPr>
                <a:r>
                  <a:rPr lang="en-GB" sz="2000" b="1" dirty="0" smtClean="0"/>
                  <a:t>Method </a:t>
                </a:r>
                <a:r>
                  <a:rPr lang="en-GB" sz="2000" b="1" dirty="0"/>
                  <a:t>1</a:t>
                </a:r>
              </a:p>
              <a:p>
                <a:pPr>
                  <a:spcAft>
                    <a:spcPts val="120"/>
                  </a:spcAft>
                </a:pPr>
                <a:r>
                  <a:rPr lang="en-GB" sz="2000" dirty="0"/>
                  <a:t>Finding 25% of 20 </a:t>
                </a:r>
              </a:p>
              <a:p>
                <a:pPr>
                  <a:spcAft>
                    <a:spcPts val="120"/>
                  </a:spcAft>
                </a:pPr>
                <a:r>
                  <a:rPr lang="en-GB" sz="2000" dirty="0"/>
                  <a:t>E.g., 0.25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20=$5</m:t>
                    </m:r>
                  </m:oMath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pPr>
                  <a:spcAft>
                    <a:spcPts val="120"/>
                  </a:spcAft>
                </a:pPr>
                <a:r>
                  <a:rPr lang="en-AU" sz="2000" dirty="0"/>
                  <a:t>Then take $5 away from $20 to give the answer of $15</a:t>
                </a:r>
              </a:p>
              <a:p>
                <a:pPr>
                  <a:spcAft>
                    <a:spcPts val="120"/>
                  </a:spcAft>
                </a:pPr>
                <a:endParaRPr lang="en-AU" sz="2000" dirty="0"/>
              </a:p>
              <a:p>
                <a:pPr>
                  <a:spcAft>
                    <a:spcPts val="120"/>
                  </a:spcAft>
                </a:pPr>
                <a:r>
                  <a:rPr lang="en-AU" sz="2000" b="1" dirty="0"/>
                  <a:t>Method 2 – Partitioning Method</a:t>
                </a:r>
              </a:p>
              <a:p>
                <a:pPr>
                  <a:spcAft>
                    <a:spcPts val="120"/>
                  </a:spcAft>
                </a:pPr>
                <a:r>
                  <a:rPr lang="en-AU" sz="2000" dirty="0"/>
                  <a:t>We take 25% away from 100%</a:t>
                </a:r>
              </a:p>
              <a:p>
                <a:pPr>
                  <a:spcAft>
                    <a:spcPts val="120"/>
                  </a:spcAft>
                </a:pPr>
                <a:r>
                  <a:rPr lang="en-AU" sz="2000" dirty="0"/>
                  <a:t>100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sz="2000" dirty="0"/>
                  <a:t>25 = 75%</a:t>
                </a:r>
              </a:p>
              <a:p>
                <a:pPr>
                  <a:spcAft>
                    <a:spcPts val="120"/>
                  </a:spcAft>
                </a:pPr>
                <a:r>
                  <a:rPr lang="en-AU" sz="2000" dirty="0" smtClean="0"/>
                  <a:t>0.75 </a:t>
                </a:r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20=$15</m:t>
                    </m:r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78" y="1490915"/>
                <a:ext cx="7027886" cy="3285515"/>
              </a:xfrm>
              <a:prstGeom prst="rect">
                <a:avLst/>
              </a:prstGeom>
              <a:blipFill rotWithShape="0">
                <a:blip r:embed="rId3"/>
                <a:stretch>
                  <a:fillRect l="-954" t="-1113" r="-87" b="-24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269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8A6581-180C-41F0-AE43-7C289DAE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9C07D8-0A1C-4536-A9E9-C4AA7E8C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21118"/>
            <a:ext cx="9720073" cy="18649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 smtClean="0"/>
              <a:t>Complete practise set (table) on page 44 from your Interleaved Maths 11 book.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42804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0" y="1474838"/>
            <a:ext cx="204905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</a:t>
            </a:r>
            <a:r>
              <a:rPr lang="en-AU" sz="2800" dirty="0" smtClean="0"/>
              <a:t>is income tax? </a:t>
            </a:r>
            <a:endParaRPr lang="en-AU" sz="2800" dirty="0"/>
          </a:p>
          <a:p>
            <a:endParaRPr lang="en-A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83508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Income tax is an money that is paid from our earnings to the government.  In Australia our tax system is a progressive system – the more you earn, the greater the amount of tax you pay on those earnings. </a:t>
            </a:r>
          </a:p>
          <a:p>
            <a:endParaRPr lang="en-AU" sz="2800" i="1" dirty="0"/>
          </a:p>
          <a:p>
            <a:r>
              <a:rPr lang="en-AU" sz="2800" dirty="0" smtClean="0"/>
              <a:t>It is calculated on your total income, even if it is from different sources.</a:t>
            </a:r>
            <a:endParaRPr lang="en-AU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50403D9E-5A7E-6C42-AF1A-1564183B12FF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</a:t>
            </a:r>
            <a:r>
              <a:rPr lang="en-AU" sz="2400" dirty="0" smtClean="0"/>
              <a:t>do we account for income tax?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9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74645" y="1474838"/>
            <a:ext cx="230781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How is it determined? </a:t>
            </a:r>
            <a:endParaRPr lang="en-AU" sz="2800" dirty="0"/>
          </a:p>
          <a:p>
            <a:endParaRPr lang="en-A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83508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Taxable income can be worked out using the different “brackets”.</a:t>
            </a:r>
          </a:p>
          <a:p>
            <a:endParaRPr lang="en-AU" sz="2400" dirty="0"/>
          </a:p>
          <a:p>
            <a:r>
              <a:rPr lang="en-AU" sz="2400" dirty="0" smtClean="0"/>
              <a:t>e.g. Below $18000 income $0 tax payable</a:t>
            </a:r>
          </a:p>
          <a:p>
            <a:r>
              <a:rPr lang="en-AU" sz="2400" dirty="0" smtClean="0"/>
              <a:t>If I earned $19000 I would pay 19c per $1over that $18000.  $19000-$18000 = $1000.</a:t>
            </a:r>
            <a:br>
              <a:rPr lang="en-AU" sz="2400" dirty="0" smtClean="0"/>
            </a:br>
            <a:r>
              <a:rPr lang="en-AU" sz="2400" dirty="0" smtClean="0"/>
              <a:t>Tax paid = $1000 x 0.19 = $190</a:t>
            </a:r>
          </a:p>
          <a:p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50403D9E-5A7E-6C42-AF1A-1564183B12FF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</a:t>
            </a:r>
            <a:r>
              <a:rPr lang="en-AU" sz="2400" dirty="0" smtClean="0"/>
              <a:t>do we account for income tax?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989" y="4619235"/>
            <a:ext cx="7360022" cy="211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5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24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Finance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0" y="1474838"/>
            <a:ext cx="204905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How can we work out how much is being paid? </a:t>
            </a:r>
            <a:endParaRPr lang="en-AU" sz="2800" dirty="0"/>
          </a:p>
          <a:p>
            <a:endParaRPr lang="en-A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83508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 work out how much tax you need to pay, you need to break up your income into each of the tax brackets.</a:t>
            </a:r>
            <a:br>
              <a:rPr lang="en-AU" sz="2400" dirty="0" smtClean="0"/>
            </a:br>
            <a:r>
              <a:rPr lang="en-AU" sz="2400" dirty="0" smtClean="0"/>
              <a:t>Step 1: Split your pay into the different brackets</a:t>
            </a:r>
          </a:p>
          <a:p>
            <a:r>
              <a:rPr lang="en-AU" sz="2400" dirty="0" smtClean="0"/>
              <a:t>Step 2: Calculate the tax paid on the amount in each bracket at the different rates.</a:t>
            </a:r>
          </a:p>
          <a:p>
            <a:r>
              <a:rPr lang="en-AU" sz="2400" dirty="0" smtClean="0"/>
              <a:t>Step 3: Add the tax calculated to get the total for that year.</a:t>
            </a:r>
          </a:p>
          <a:p>
            <a:r>
              <a:rPr lang="en-AU" sz="2400" dirty="0" smtClean="0"/>
              <a:t>e.g. $43056 per year income = $5578.20 tax payable</a:t>
            </a:r>
            <a:endParaRPr lang="en-A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50403D9E-5A7E-6C42-AF1A-1564183B12FF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</a:t>
            </a:r>
            <a:r>
              <a:rPr lang="en-AU" sz="2400" dirty="0" smtClean="0"/>
              <a:t>do we account for income tax?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848755"/>
              </p:ext>
            </p:extLst>
          </p:nvPr>
        </p:nvGraphicFramePr>
        <p:xfrm>
          <a:off x="2509578" y="4460270"/>
          <a:ext cx="9191192" cy="2230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236"/>
                <a:gridCol w="1109967"/>
                <a:gridCol w="1410975"/>
                <a:gridCol w="1495633"/>
                <a:gridCol w="1721389"/>
                <a:gridCol w="1615992"/>
              </a:tblGrid>
              <a:tr h="889424">
                <a:tc>
                  <a:txBody>
                    <a:bodyPr/>
                    <a:lstStyle/>
                    <a:p>
                      <a:r>
                        <a:rPr lang="en-AU" sz="1600" dirty="0" smtClean="0"/>
                        <a:t>Tax Brackets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 smtClean="0"/>
                        <a:t>0-18k</a:t>
                      </a:r>
                      <a:br>
                        <a:rPr lang="en-AU" sz="1600" dirty="0" smtClean="0"/>
                      </a:br>
                      <a:r>
                        <a:rPr lang="en-AU" sz="1600" dirty="0" smtClean="0"/>
                        <a:t>No tax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 smtClean="0"/>
                        <a:t>18001-37k</a:t>
                      </a:r>
                    </a:p>
                    <a:p>
                      <a:r>
                        <a:rPr lang="en-AU" sz="1600" dirty="0" smtClean="0"/>
                        <a:t>19c per $1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 smtClean="0"/>
                        <a:t>37001-90k</a:t>
                      </a:r>
                    </a:p>
                    <a:p>
                      <a:r>
                        <a:rPr lang="en-AU" sz="1600" dirty="0" smtClean="0"/>
                        <a:t>32.5c</a:t>
                      </a:r>
                      <a:r>
                        <a:rPr lang="en-AU" sz="1600" baseline="0" dirty="0" smtClean="0"/>
                        <a:t> per $1</a:t>
                      </a:r>
                      <a:endParaRPr lang="en-AU" sz="1600" dirty="0" smtClean="0"/>
                    </a:p>
                    <a:p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 smtClean="0"/>
                        <a:t>180k+</a:t>
                      </a:r>
                    </a:p>
                    <a:p>
                      <a:r>
                        <a:rPr lang="en-AU" sz="1600" dirty="0" smtClean="0"/>
                        <a:t>45c per $1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/>
                </a:tc>
              </a:tr>
              <a:tr h="609891"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How much of my income is in this bracket?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19000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6056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  <a:tr h="609891">
                <a:tc>
                  <a:txBody>
                    <a:bodyPr/>
                    <a:lstStyle/>
                    <a:p>
                      <a:r>
                        <a:rPr lang="en-AU" sz="1600" dirty="0" smtClean="0"/>
                        <a:t>Tax payable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 smtClean="0"/>
                        <a:t>0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19000 x 0.19</a:t>
                      </a:r>
                    </a:p>
                    <a:p>
                      <a:r>
                        <a:rPr lang="en-AU" sz="1400" dirty="0" smtClean="0"/>
                        <a:t>=3610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 smtClean="0"/>
                        <a:t>6056 x 0.325</a:t>
                      </a:r>
                    </a:p>
                    <a:p>
                      <a:r>
                        <a:rPr lang="en-AU" sz="1400" dirty="0" smtClean="0"/>
                        <a:t>=1968.20</a:t>
                      </a:r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600" dirty="0" smtClean="0"/>
                        <a:t>0</a:t>
                      </a:r>
                      <a:endParaRPr lang="en-A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907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8A6581-180C-41F0-AE43-7C289DAE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pair share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9C07D8-0A1C-4536-A9E9-C4AA7E8C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21118"/>
            <a:ext cx="9720073" cy="9505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 smtClean="0"/>
              <a:t>Why might people have to pay a higher tax rate if they earn more?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9477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138444" cy="1244111"/>
          </a:xfrm>
        </p:spPr>
        <p:txBody>
          <a:bodyPr>
            <a:noAutofit/>
          </a:bodyPr>
          <a:lstStyle/>
          <a:p>
            <a:r>
              <a:rPr lang="en-GB" sz="4000" dirty="0"/>
              <a:t>Practice: (LSH)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0E3425E-88E4-3444-96DA-E7173F09C9B9}"/>
              </a:ext>
            </a:extLst>
          </p:cNvPr>
          <p:cNvSpPr txBox="1"/>
          <p:nvPr/>
        </p:nvSpPr>
        <p:spPr>
          <a:xfrm>
            <a:off x="899886" y="2844800"/>
            <a:ext cx="105083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800" dirty="0" smtClean="0"/>
              <a:t>Mrs W earned $28000 per year in her day job and $13000 per year working night-fill.  How much tax would she have to pay over the year?</a:t>
            </a:r>
            <a:br>
              <a:rPr lang="en-GB" sz="2800" dirty="0" smtClean="0"/>
            </a:br>
            <a:endParaRPr lang="en-GB" sz="2800" dirty="0" smtClean="0"/>
          </a:p>
          <a:p>
            <a:pPr marL="514350" indent="-514350">
              <a:buFontTx/>
              <a:buAutoNum type="arabicPeriod"/>
            </a:pPr>
            <a:r>
              <a:rPr lang="en-AU" sz="2800" dirty="0"/>
              <a:t>How much tax would be taken out if someone was earning $147000 annually in 1 </a:t>
            </a:r>
            <a:r>
              <a:rPr lang="en-AU" sz="2800" dirty="0" smtClean="0"/>
              <a:t>year?</a:t>
            </a:r>
            <a:br>
              <a:rPr lang="en-AU" sz="2800" dirty="0" smtClean="0"/>
            </a:br>
            <a:endParaRPr lang="en-AU" sz="2800" dirty="0" smtClean="0"/>
          </a:p>
          <a:p>
            <a:pPr marL="514350" indent="-514350">
              <a:buFontTx/>
              <a:buAutoNum type="arabicPeriod"/>
            </a:pPr>
            <a:r>
              <a:rPr lang="en-GB" sz="2800" dirty="0" smtClean="0"/>
              <a:t>Complete </a:t>
            </a:r>
            <a:r>
              <a:rPr lang="en-GB" sz="2800" dirty="0"/>
              <a:t>the i</a:t>
            </a:r>
            <a:r>
              <a:rPr lang="en-GB" sz="2800" dirty="0" smtClean="0"/>
              <a:t>nvestigate questions </a:t>
            </a:r>
            <a:r>
              <a:rPr lang="en-GB" sz="2800" dirty="0"/>
              <a:t>on Page </a:t>
            </a:r>
            <a:r>
              <a:rPr lang="en-GB" sz="2800" dirty="0" smtClean="0"/>
              <a:t>45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093498B-7A23-514D-85AD-E52CC02E0361}"/>
              </a:ext>
            </a:extLst>
          </p:cNvPr>
          <p:cNvSpPr txBox="1"/>
          <p:nvPr/>
        </p:nvSpPr>
        <p:spPr>
          <a:xfrm>
            <a:off x="791899" y="2191657"/>
            <a:ext cx="2604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i="1"/>
              <a:t>“You </a:t>
            </a:r>
            <a:r>
              <a:rPr lang="en-AU" i="1" dirty="0"/>
              <a:t>are braver than you believe, stronger than you seem and smarter than you think.”</a:t>
            </a:r>
            <a:r>
              <a:rPr lang="en-AU" dirty="0"/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Charter"/>
              </a:rPr>
              <a:t>-A.A Milne</a:t>
            </a:r>
            <a:r>
              <a:rPr lang="en-US" dirty="0"/>
              <a:t/>
            </a:r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=""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9570</TotalTime>
  <Words>524</Words>
  <Application>Microsoft Office PowerPoint</Application>
  <PresentationFormat>Widescreen</PresentationFormat>
  <Paragraphs>116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Cambria Math</vt:lpstr>
      <vt:lpstr>Charter</vt:lpstr>
      <vt:lpstr>Tw Cen MT</vt:lpstr>
      <vt:lpstr>Tw Cen MT Condensed</vt:lpstr>
      <vt:lpstr>Wingdings</vt:lpstr>
      <vt:lpstr>Wingdings 3</vt:lpstr>
      <vt:lpstr>Integral</vt:lpstr>
      <vt:lpstr>Topic: Finance EQ: How do we account for income tax?</vt:lpstr>
      <vt:lpstr>Things Required For This Lesson</vt:lpstr>
      <vt:lpstr>First 5  </vt:lpstr>
      <vt:lpstr>PowerPoint Presentation</vt:lpstr>
      <vt:lpstr>PowerPoint Presentation</vt:lpstr>
      <vt:lpstr>Practise</vt:lpstr>
      <vt:lpstr>PowerPoint Presentation</vt:lpstr>
      <vt:lpstr>PowerPoint Presentation</vt:lpstr>
      <vt:lpstr>PowerPoint Presentation</vt:lpstr>
      <vt:lpstr>Think pair share</vt:lpstr>
      <vt:lpstr>Practice: (LSH)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Coz W</cp:lastModifiedBy>
  <cp:revision>149</cp:revision>
  <dcterms:created xsi:type="dcterms:W3CDTF">2021-02-11T13:20:57Z</dcterms:created>
  <dcterms:modified xsi:type="dcterms:W3CDTF">2021-05-18T12:23:35Z</dcterms:modified>
</cp:coreProperties>
</file>
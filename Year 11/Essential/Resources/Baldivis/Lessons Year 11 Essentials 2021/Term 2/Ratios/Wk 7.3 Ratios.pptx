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2"/>
  </p:notesMasterIdLst>
  <p:sldIdLst>
    <p:sldId id="256" r:id="rId2"/>
    <p:sldId id="257" r:id="rId3"/>
    <p:sldId id="311" r:id="rId4"/>
    <p:sldId id="355" r:id="rId5"/>
    <p:sldId id="356" r:id="rId6"/>
    <p:sldId id="359" r:id="rId7"/>
    <p:sldId id="357" r:id="rId8"/>
    <p:sldId id="354" r:id="rId9"/>
    <p:sldId id="360" r:id="rId10"/>
    <p:sldId id="32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2792" autoAdjust="0"/>
  </p:normalViewPr>
  <p:slideViewPr>
    <p:cSldViewPr snapToGrid="0">
      <p:cViewPr varScale="1">
        <p:scale>
          <a:sx n="68" d="100"/>
          <a:sy n="68" d="100"/>
        </p:scale>
        <p:origin x="75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96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partitioning strategy – breaking up a rectangle into parts shows that the discount is 5 out of 50 which calculates to a 10% discount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3744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 the oil to a cup by multiplying by 10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229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Ratios</a:t>
            </a:r>
            <a:br>
              <a:rPr lang="en-AU" sz="4000" dirty="0"/>
            </a:br>
            <a:r>
              <a:rPr lang="en-AU" sz="4000" dirty="0"/>
              <a:t>EQ: How to use ratios to solve real world scenarios?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013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Ratios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to use ratios to solve real world scenarios?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/03/2021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A4B3F-316E-41BE-9AC0-7CDAA8A76988}"/>
              </a:ext>
            </a:extLst>
          </p:cNvPr>
          <p:cNvSpPr txBox="1"/>
          <p:nvPr/>
        </p:nvSpPr>
        <p:spPr>
          <a:xfrm>
            <a:off x="754672" y="196208"/>
            <a:ext cx="227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Topic: Ratios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30C58-9BD1-45ED-844E-00AC602EAE29}"/>
              </a:ext>
            </a:extLst>
          </p:cNvPr>
          <p:cNvSpPr txBox="1"/>
          <p:nvPr/>
        </p:nvSpPr>
        <p:spPr>
          <a:xfrm>
            <a:off x="754671" y="848881"/>
            <a:ext cx="10643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800" dirty="0"/>
              <a:t>How to use ratios to solve real world scenarios?</a:t>
            </a: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0A08F7-72C5-41DF-9684-F36AD1F11837}"/>
              </a:ext>
            </a:extLst>
          </p:cNvPr>
          <p:cNvSpPr/>
          <p:nvPr/>
        </p:nvSpPr>
        <p:spPr>
          <a:xfrm>
            <a:off x="929396" y="2403207"/>
            <a:ext cx="10874074" cy="1102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8BF082-B6A9-485F-ACB1-C6D9C9379DC8}"/>
              </a:ext>
            </a:extLst>
          </p:cNvPr>
          <p:cNvSpPr/>
          <p:nvPr/>
        </p:nvSpPr>
        <p:spPr>
          <a:xfrm>
            <a:off x="793945" y="2815125"/>
            <a:ext cx="10874074" cy="690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E8710D-5D38-4B01-9DB0-702EFD3D2447}"/>
              </a:ext>
            </a:extLst>
          </p:cNvPr>
          <p:cNvSpPr/>
          <p:nvPr/>
        </p:nvSpPr>
        <p:spPr>
          <a:xfrm>
            <a:off x="793945" y="3848561"/>
            <a:ext cx="10874074" cy="857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630B17-BC03-4EA8-BA02-75F0F897C0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658"/>
          <a:stretch/>
        </p:blipFill>
        <p:spPr>
          <a:xfrm rot="21447630">
            <a:off x="1308259" y="1507627"/>
            <a:ext cx="8428078" cy="6481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1A7DBE-9309-41D3-A249-0AAEDCF387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53" b="10034"/>
          <a:stretch/>
        </p:blipFill>
        <p:spPr>
          <a:xfrm rot="21437696">
            <a:off x="1575167" y="2256226"/>
            <a:ext cx="5795072" cy="36505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C7FE0E-D70D-4A15-9BE5-82DE4E2B42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584"/>
          <a:stretch/>
        </p:blipFill>
        <p:spPr>
          <a:xfrm rot="21432315">
            <a:off x="1498556" y="5883080"/>
            <a:ext cx="8410627" cy="4637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2F65B0D-6D2A-457E-8EDA-68E66516B01B}"/>
              </a:ext>
            </a:extLst>
          </p:cNvPr>
          <p:cNvSpPr/>
          <p:nvPr/>
        </p:nvSpPr>
        <p:spPr>
          <a:xfrm>
            <a:off x="2451089" y="1424410"/>
            <a:ext cx="7250545" cy="302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6DAA46-FB96-4B22-9B84-51E45FAB0D4A}"/>
              </a:ext>
            </a:extLst>
          </p:cNvPr>
          <p:cNvSpPr/>
          <p:nvPr/>
        </p:nvSpPr>
        <p:spPr>
          <a:xfrm>
            <a:off x="1627702" y="2048055"/>
            <a:ext cx="7250545" cy="302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2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013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Ratios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to use ratios to solve real world scenarios?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0" y="1474838"/>
            <a:ext cx="2049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to write ratios 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Key rules for ratios</a:t>
            </a:r>
          </a:p>
          <a:p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09578" y="1490915"/>
                <a:ext cx="9335294" cy="5398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Ratios can be used in cooking such as to cook rice we use a ratio to how much water needs to be added. For every 2 cups of rice, we add 3 cups of water. With 5 cups total.</a:t>
                </a:r>
              </a:p>
              <a:p>
                <a:r>
                  <a:rPr lang="en-US" sz="2000" dirty="0"/>
                  <a:t>The ratio is 2:3</a:t>
                </a:r>
              </a:p>
              <a:p>
                <a:r>
                  <a:rPr lang="en-US" sz="2000" dirty="0"/>
                  <a:t>The fraction of rice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000" dirty="0"/>
              </a:p>
              <a:p>
                <a:r>
                  <a:rPr lang="en-AU" sz="2000" dirty="0"/>
                  <a:t>The fraction for water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800" dirty="0"/>
              </a:p>
              <a:p>
                <a:endParaRPr lang="en-AU" sz="2800" dirty="0"/>
              </a:p>
              <a:p>
                <a:endParaRPr lang="en-AU" sz="2800" dirty="0"/>
              </a:p>
              <a:p>
                <a:endParaRPr lang="en-AU" sz="2800" dirty="0"/>
              </a:p>
              <a:p>
                <a:endParaRPr lang="en-AU" sz="2800" dirty="0"/>
              </a:p>
              <a:p>
                <a:endParaRPr lang="en-AU" sz="2400" dirty="0"/>
              </a:p>
              <a:p>
                <a:pPr marL="514350" indent="-514350">
                  <a:buAutoNum type="arabicPeriod"/>
                </a:pPr>
                <a:r>
                  <a:rPr lang="en-AU" sz="2400" dirty="0"/>
                  <a:t>Ratios must be written as whole numbers</a:t>
                </a:r>
              </a:p>
              <a:p>
                <a:pPr marL="514350" indent="-514350">
                  <a:buAutoNum type="arabicPeriod"/>
                </a:pPr>
                <a:r>
                  <a:rPr lang="en-AU" sz="2400" dirty="0"/>
                  <a:t>When we use ratios, they must be the same measuring unit (e.g. cups, litres)</a:t>
                </a:r>
              </a:p>
              <a:p>
                <a:pPr>
                  <a:spcAft>
                    <a:spcPts val="120"/>
                  </a:spcAft>
                </a:pPr>
                <a:endParaRPr lang="en-GB" sz="20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578" y="1490915"/>
                <a:ext cx="9335294" cy="5398657"/>
              </a:xfrm>
              <a:prstGeom prst="rect">
                <a:avLst/>
              </a:prstGeom>
              <a:blipFill>
                <a:blip r:embed="rId3"/>
                <a:stretch>
                  <a:fillRect l="-849" t="-678" r="-7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70D09641-CD50-41CA-BC4F-78C0FA4C2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848130"/>
              </p:ext>
            </p:extLst>
          </p:nvPr>
        </p:nvGraphicFramePr>
        <p:xfrm>
          <a:off x="2768365" y="3688696"/>
          <a:ext cx="8128002" cy="12801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639305">
                  <a:extLst>
                    <a:ext uri="{9D8B030D-6E8A-4147-A177-3AD203B41FA5}">
                      <a16:colId xmlns:a16="http://schemas.microsoft.com/office/drawing/2014/main" val="3223637656"/>
                    </a:ext>
                  </a:extLst>
                </a:gridCol>
                <a:gridCol w="1639305">
                  <a:extLst>
                    <a:ext uri="{9D8B030D-6E8A-4147-A177-3AD203B41FA5}">
                      <a16:colId xmlns:a16="http://schemas.microsoft.com/office/drawing/2014/main" val="3212695446"/>
                    </a:ext>
                  </a:extLst>
                </a:gridCol>
                <a:gridCol w="1639305">
                  <a:extLst>
                    <a:ext uri="{9D8B030D-6E8A-4147-A177-3AD203B41FA5}">
                      <a16:colId xmlns:a16="http://schemas.microsoft.com/office/drawing/2014/main" val="3206718116"/>
                    </a:ext>
                  </a:extLst>
                </a:gridCol>
                <a:gridCol w="1639305">
                  <a:extLst>
                    <a:ext uri="{9D8B030D-6E8A-4147-A177-3AD203B41FA5}">
                      <a16:colId xmlns:a16="http://schemas.microsoft.com/office/drawing/2014/main" val="4221287738"/>
                    </a:ext>
                  </a:extLst>
                </a:gridCol>
                <a:gridCol w="1570782">
                  <a:extLst>
                    <a:ext uri="{9D8B030D-6E8A-4147-A177-3AD203B41FA5}">
                      <a16:colId xmlns:a16="http://schemas.microsoft.com/office/drawing/2014/main" val="176244127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r>
                        <a:rPr lang="en-US" dirty="0"/>
                        <a:t>Whole: 5 parts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41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Rice: 2 parts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Water: 3 parts</a:t>
                      </a:r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61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09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6581-180C-41F0-AE43-7C289DAE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pair share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C07D8-0A1C-4536-A9E9-C4AA7E8C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44254"/>
            <a:ext cx="9720073" cy="1851602"/>
          </a:xfrm>
        </p:spPr>
        <p:txBody>
          <a:bodyPr>
            <a:normAutofit/>
          </a:bodyPr>
          <a:lstStyle/>
          <a:p>
            <a:endParaRPr lang="en-AU" dirty="0"/>
          </a:p>
          <a:p>
            <a:r>
              <a:rPr lang="en-AU" dirty="0"/>
              <a:t>Discuss similarities and differences between ratios and fractions.</a:t>
            </a:r>
          </a:p>
          <a:p>
            <a:r>
              <a:rPr lang="en-AU" dirty="0"/>
              <a:t>Using the previous example. What might you need to change if you needed 4 cups of rice?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01688F-2EA2-42C4-9C68-B04E7DBC8E57}"/>
              </a:ext>
            </a:extLst>
          </p:cNvPr>
          <p:cNvGrpSpPr/>
          <p:nvPr/>
        </p:nvGrpSpPr>
        <p:grpSpPr>
          <a:xfrm>
            <a:off x="3565003" y="4034505"/>
            <a:ext cx="4148880" cy="1477328"/>
            <a:chOff x="3565003" y="4034505"/>
            <a:chExt cx="4148880" cy="1477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90F61F5-58D0-425C-9407-B9D425E2F3F0}"/>
                    </a:ext>
                  </a:extLst>
                </p:cNvPr>
                <p:cNvSpPr txBox="1"/>
                <p:nvPr/>
              </p:nvSpPr>
              <p:spPr>
                <a:xfrm>
                  <a:off x="3565003" y="4034505"/>
                  <a:ext cx="368074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Original ratio          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:3</m:t>
                      </m:r>
                    </m:oMath>
                  </a14:m>
                  <a:endParaRPr lang="en-US" sz="2400" dirty="0"/>
                </a:p>
                <a:p>
                  <a:r>
                    <a:rPr lang="en-US" sz="2400" dirty="0"/>
                    <a:t>                                </a:t>
                  </a:r>
                </a:p>
                <a:p>
                  <a:r>
                    <a:rPr lang="en-US" sz="2400" dirty="0"/>
                    <a:t>                              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400" dirty="0"/>
                    <a:t> 6</a:t>
                  </a:r>
                </a:p>
                <a:p>
                  <a:r>
                    <a:rPr lang="en-US" dirty="0"/>
                    <a:t>                      </a:t>
                  </a:r>
                  <a:endParaRPr lang="en-AU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90F61F5-58D0-425C-9407-B9D425E2F3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5003" y="4034505"/>
                  <a:ext cx="3680749" cy="1477328"/>
                </a:xfrm>
                <a:prstGeom prst="rect">
                  <a:avLst/>
                </a:prstGeom>
                <a:blipFill>
                  <a:blip r:embed="rId3"/>
                  <a:stretch>
                    <a:fillRect l="-2649" t="-330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Arrow: Curved Up 11">
              <a:extLst>
                <a:ext uri="{FF2B5EF4-FFF2-40B4-BE49-F238E27FC236}">
                  <a16:creationId xmlns:a16="http://schemas.microsoft.com/office/drawing/2014/main" id="{75DD7AA4-3545-4308-BD84-259F6AA2FEFA}"/>
                </a:ext>
              </a:extLst>
            </p:cNvPr>
            <p:cNvSpPr/>
            <p:nvPr/>
          </p:nvSpPr>
          <p:spPr>
            <a:xfrm rot="5400000">
              <a:off x="5710253" y="4531820"/>
              <a:ext cx="771495" cy="205317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53D57A76-F0FA-47A7-9E9A-EBCEB2D10DBF}"/>
                </a:ext>
              </a:extLst>
            </p:cNvPr>
            <p:cNvSpPr/>
            <p:nvPr/>
          </p:nvSpPr>
          <p:spPr>
            <a:xfrm rot="5400000">
              <a:off x="6715336" y="4551187"/>
              <a:ext cx="810228" cy="205317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7D48448-8A24-426E-93B7-43168F70FCB2}"/>
                    </a:ext>
                  </a:extLst>
                </p:cNvPr>
                <p:cNvSpPr txBox="1"/>
                <p:nvPr/>
              </p:nvSpPr>
              <p:spPr>
                <a:xfrm>
                  <a:off x="5405377" y="4449812"/>
                  <a:ext cx="5934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7D48448-8A24-426E-93B7-43168F70FC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377" y="4449812"/>
                  <a:ext cx="59343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196CB13-13A9-4FD7-B12B-99D998B6023E}"/>
                    </a:ext>
                  </a:extLst>
                </p:cNvPr>
                <p:cNvSpPr txBox="1"/>
                <p:nvPr/>
              </p:nvSpPr>
              <p:spPr>
                <a:xfrm>
                  <a:off x="7120451" y="4469178"/>
                  <a:ext cx="5934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196CB13-13A9-4FD7-B12B-99D998B60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0451" y="4469178"/>
                  <a:ext cx="59343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7540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64" y="409725"/>
            <a:ext cx="9720072" cy="1499616"/>
          </a:xfrm>
        </p:spPr>
        <p:txBody>
          <a:bodyPr/>
          <a:lstStyle/>
          <a:p>
            <a:r>
              <a:rPr lang="en-GB" dirty="0"/>
              <a:t>Practice: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99F67-0252-471C-9E24-003EE8702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364" y="1756883"/>
            <a:ext cx="7016785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0" dirty="0">
                <a:ea typeface="Cambria Math" panose="02040503050406030204" pitchFamily="18" charset="0"/>
              </a:rPr>
              <a:t>Examine the recipe for playdough. You need to know that 1 cup holds 250mL</a:t>
            </a:r>
          </a:p>
          <a:p>
            <a:pPr marL="0" indent="0">
              <a:buNone/>
            </a:pPr>
            <a:r>
              <a:rPr lang="en-US" sz="2800" dirty="0">
                <a:ea typeface="Cambria Math" panose="02040503050406030204" pitchFamily="18" charset="0"/>
              </a:rPr>
              <a:t>Work out a ratios for the ingredients using the same base measurement</a:t>
            </a:r>
          </a:p>
          <a:p>
            <a:pPr marL="0" indent="0">
              <a:buNone/>
            </a:pPr>
            <a:r>
              <a:rPr lang="en-US" sz="2800" b="0" dirty="0">
                <a:ea typeface="Cambria Math" panose="02040503050406030204" pitchFamily="18" charset="0"/>
              </a:rPr>
              <a:t>Adjust your ratio so that the oil is 1. How do your other ingredients change?</a:t>
            </a:r>
            <a:endParaRPr lang="en-AU" sz="2800" b="0" dirty="0">
              <a:ea typeface="Cambria Math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2FE0CB-BC47-4AC1-8F99-781F938DC374}"/>
              </a:ext>
            </a:extLst>
          </p:cNvPr>
          <p:cNvSpPr txBox="1"/>
          <p:nvPr/>
        </p:nvSpPr>
        <p:spPr>
          <a:xfrm>
            <a:off x="8623139" y="793676"/>
            <a:ext cx="3055717" cy="4154984"/>
          </a:xfrm>
          <a:custGeom>
            <a:avLst/>
            <a:gdLst>
              <a:gd name="connsiteX0" fmla="*/ 0 w 3055717"/>
              <a:gd name="connsiteY0" fmla="*/ 0 h 4154984"/>
              <a:gd name="connsiteX1" fmla="*/ 3055717 w 3055717"/>
              <a:gd name="connsiteY1" fmla="*/ 0 h 4154984"/>
              <a:gd name="connsiteX2" fmla="*/ 3055717 w 3055717"/>
              <a:gd name="connsiteY2" fmla="*/ 4154984 h 4154984"/>
              <a:gd name="connsiteX3" fmla="*/ 0 w 3055717"/>
              <a:gd name="connsiteY3" fmla="*/ 4154984 h 4154984"/>
              <a:gd name="connsiteX4" fmla="*/ 0 w 3055717"/>
              <a:gd name="connsiteY4" fmla="*/ 0 h 4154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5717" h="4154984" extrusionOk="0">
                <a:moveTo>
                  <a:pt x="0" y="0"/>
                </a:moveTo>
                <a:cubicBezTo>
                  <a:pt x="1229818" y="-24588"/>
                  <a:pt x="1964061" y="-83012"/>
                  <a:pt x="3055717" y="0"/>
                </a:cubicBezTo>
                <a:cubicBezTo>
                  <a:pt x="2992536" y="812939"/>
                  <a:pt x="3091845" y="2865623"/>
                  <a:pt x="3055717" y="4154984"/>
                </a:cubicBezTo>
                <a:cubicBezTo>
                  <a:pt x="2395642" y="4284566"/>
                  <a:pt x="1256652" y="4066835"/>
                  <a:pt x="0" y="4154984"/>
                </a:cubicBezTo>
                <a:cubicBezTo>
                  <a:pt x="-157988" y="3412703"/>
                  <a:pt x="129324" y="1718465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4272511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Recipe for playdough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 cups plain flour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 cup salt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25mL oil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 cup cold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Food </a:t>
            </a:r>
            <a:r>
              <a:rPr lang="en-US" sz="2400" dirty="0" err="1"/>
              <a:t>colouring</a:t>
            </a:r>
            <a:r>
              <a:rPr lang="en-US" sz="2400" dirty="0"/>
              <a:t> if desired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Mix flour and salt. Add wet ingredients. Knead until combined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19002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720072" cy="2141358"/>
          </a:xfrm>
        </p:spPr>
        <p:txBody>
          <a:bodyPr>
            <a:noAutofit/>
          </a:bodyPr>
          <a:lstStyle/>
          <a:p>
            <a:r>
              <a:rPr lang="en-GB" sz="4000" dirty="0"/>
              <a:t>Practice:</a:t>
            </a:r>
            <a:br>
              <a:rPr lang="en-GB" sz="4000" dirty="0"/>
            </a:br>
            <a:r>
              <a:rPr lang="en-GB" sz="4000" dirty="0"/>
              <a:t>Complete questions on pages 30 and 31</a:t>
            </a:r>
          </a:p>
        </p:txBody>
      </p:sp>
    </p:spTree>
    <p:extLst>
      <p:ext uri="{BB962C8B-B14F-4D97-AF65-F5344CB8AC3E}">
        <p14:creationId xmlns:p14="http://schemas.microsoft.com/office/powerpoint/2010/main" val="3256411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9120-91FA-4869-8724-16DDAD41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Pass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E678BF-D677-48E7-8DF4-37AA9515E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1. Can I have </a:t>
                </a:r>
                <a:r>
                  <a:rPr lang="en-US" sz="2400" dirty="0"/>
                  <a:t>1:1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en-US" dirty="0"/>
                  <a:t>cups as a measurement? If not, what do you need to do to the ratio?</a:t>
                </a:r>
              </a:p>
              <a:p>
                <a:endParaRPr lang="en-US" dirty="0"/>
              </a:p>
              <a:p>
                <a:r>
                  <a:rPr lang="en-US" dirty="0"/>
                  <a:t>2. What are the 2 key points to remember when using ratios?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E678BF-D677-48E7-8DF4-37AA9515E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" t="-3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510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“Success is to be measured not so much by the position that one has reached in life as by the obstacles which he has overcome.”</a:t>
            </a:r>
          </a:p>
          <a:p>
            <a:r>
              <a:rPr lang="en-US" dirty="0">
                <a:solidFill>
                  <a:srgbClr val="333333"/>
                </a:solidFill>
                <a:latin typeface="helvetica neue"/>
              </a:rPr>
              <a:t>-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Booker T. Washington</a:t>
            </a:r>
            <a:br>
              <a:rPr lang="en-US" dirty="0"/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7089</TotalTime>
  <Words>482</Words>
  <Application>Microsoft Office PowerPoint</Application>
  <PresentationFormat>Widescreen</PresentationFormat>
  <Paragraphs>87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Cambria Math</vt:lpstr>
      <vt:lpstr>helvetica neue</vt:lpstr>
      <vt:lpstr>Tw Cen MT</vt:lpstr>
      <vt:lpstr>Tw Cen MT Condensed</vt:lpstr>
      <vt:lpstr>Wingdings</vt:lpstr>
      <vt:lpstr>Wingdings 3</vt:lpstr>
      <vt:lpstr>Integral</vt:lpstr>
      <vt:lpstr>Topic: Ratios EQ: How to use ratios to solve real world scenarios?</vt:lpstr>
      <vt:lpstr>Things Required For This Lesson</vt:lpstr>
      <vt:lpstr>PowerPoint Presentation</vt:lpstr>
      <vt:lpstr>PowerPoint Presentation</vt:lpstr>
      <vt:lpstr>PowerPoint Presentation</vt:lpstr>
      <vt:lpstr>Think pair share</vt:lpstr>
      <vt:lpstr>Practice: (LHS)</vt:lpstr>
      <vt:lpstr>Practice: Complete questions on pages 30 and 31</vt:lpstr>
      <vt:lpstr>Exit Pass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Jade Gregory</cp:lastModifiedBy>
  <cp:revision>83</cp:revision>
  <dcterms:created xsi:type="dcterms:W3CDTF">2021-02-11T13:20:57Z</dcterms:created>
  <dcterms:modified xsi:type="dcterms:W3CDTF">2021-03-18T03:58:34Z</dcterms:modified>
</cp:coreProperties>
</file>
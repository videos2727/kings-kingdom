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4"/>
  </p:notesMasterIdLst>
  <p:sldIdLst>
    <p:sldId id="256" r:id="rId2"/>
    <p:sldId id="257" r:id="rId3"/>
    <p:sldId id="311" r:id="rId4"/>
    <p:sldId id="355" r:id="rId5"/>
    <p:sldId id="902" r:id="rId6"/>
    <p:sldId id="356" r:id="rId7"/>
    <p:sldId id="359" r:id="rId8"/>
    <p:sldId id="903" r:id="rId9"/>
    <p:sldId id="901" r:id="rId10"/>
    <p:sldId id="354" r:id="rId11"/>
    <p:sldId id="360" r:id="rId12"/>
    <p:sldId id="32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17" autoAdjust="0"/>
    <p:restoredTop sz="95673" autoAdjust="0"/>
  </p:normalViewPr>
  <p:slideViewPr>
    <p:cSldViewPr snapToGrid="0">
      <p:cViewPr varScale="1">
        <p:scale>
          <a:sx n="88" d="100"/>
          <a:sy n="88" d="100"/>
        </p:scale>
        <p:origin x="200"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AEC40-FB91-4B4E-8615-59788947F0F0}" type="datetimeFigureOut">
              <a:rPr lang="en-AU" smtClean="0"/>
              <a:t>18/4/21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F8C66-E9D4-4BCD-9B84-1B952BD6C7CB}" type="slidenum">
              <a:rPr lang="en-AU" smtClean="0"/>
              <a:t>‹#›</a:t>
            </a:fld>
            <a:endParaRPr lang="en-AU"/>
          </a:p>
        </p:txBody>
      </p:sp>
    </p:spTree>
    <p:extLst>
      <p:ext uri="{BB962C8B-B14F-4D97-AF65-F5344CB8AC3E}">
        <p14:creationId xmlns:p14="http://schemas.microsoft.com/office/powerpoint/2010/main" val="171556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a:p>
        </p:txBody>
      </p:sp>
    </p:spTree>
    <p:extLst>
      <p:ext uri="{BB962C8B-B14F-4D97-AF65-F5344CB8AC3E}">
        <p14:creationId xmlns:p14="http://schemas.microsoft.com/office/powerpoint/2010/main" val="212027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the introductory lesson on ratios, the last question ask you to work out how many of each colour lolly there would be when you knew how many lollies were in the </a:t>
            </a:r>
            <a:r>
              <a:rPr lang="en-AU" dirty="0" err="1"/>
              <a:t>baf</a:t>
            </a:r>
            <a:r>
              <a:rPr lang="en-AU" dirty="0"/>
              <a:t> and the ratio of colours.</a:t>
            </a:r>
          </a:p>
        </p:txBody>
      </p:sp>
      <p:sp>
        <p:nvSpPr>
          <p:cNvPr id="4" name="Slide Number Placeholder 3"/>
          <p:cNvSpPr>
            <a:spLocks noGrp="1"/>
          </p:cNvSpPr>
          <p:nvPr>
            <p:ph type="sldNum" sz="quarter" idx="10"/>
          </p:nvPr>
        </p:nvSpPr>
        <p:spPr/>
        <p:txBody>
          <a:bodyPr/>
          <a:lstStyle/>
          <a:p>
            <a:fld id="{B28BD033-8677-4794-8EA0-E5BD0D524802}" type="slidenum">
              <a:rPr lang="en-AU" smtClean="0"/>
              <a:t>6</a:t>
            </a:fld>
            <a:endParaRPr lang="en-AU"/>
          </a:p>
        </p:txBody>
      </p:sp>
    </p:spTree>
    <p:extLst>
      <p:ext uri="{BB962C8B-B14F-4D97-AF65-F5344CB8AC3E}">
        <p14:creationId xmlns:p14="http://schemas.microsoft.com/office/powerpoint/2010/main" val="3229960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partitioning strategy – breaking up a rectangle into parts shows that the discount is 5 out of 50 which calculates to a 10% discount</a:t>
            </a:r>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7</a:t>
            </a:fld>
            <a:endParaRPr lang="en-AU"/>
          </a:p>
        </p:txBody>
      </p:sp>
    </p:spTree>
    <p:extLst>
      <p:ext uri="{BB962C8B-B14F-4D97-AF65-F5344CB8AC3E}">
        <p14:creationId xmlns:p14="http://schemas.microsoft.com/office/powerpoint/2010/main" val="1792295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8</a:t>
            </a:fld>
            <a:endParaRPr lang="en-AU"/>
          </a:p>
        </p:txBody>
      </p:sp>
    </p:spTree>
    <p:extLst>
      <p:ext uri="{BB962C8B-B14F-4D97-AF65-F5344CB8AC3E}">
        <p14:creationId xmlns:p14="http://schemas.microsoft.com/office/powerpoint/2010/main" val="2826957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D87294F-DEA6-4D3A-864A-E2E179377C11}" type="datetimeFigureOut">
              <a:rPr lang="en-AU" smtClean="0"/>
              <a:t>18/4/21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85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18/4/21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924120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87294F-DEA6-4D3A-864A-E2E179377C11}" type="datetimeFigureOut">
              <a:rPr lang="en-AU" smtClean="0"/>
              <a:t>18/4/21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110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87294F-DEA6-4D3A-864A-E2E179377C11}" type="datetimeFigureOut">
              <a:rPr lang="en-AU" smtClean="0"/>
              <a:t>18/4/21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061133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87294F-DEA6-4D3A-864A-E2E179377C11}" type="datetimeFigureOut">
              <a:rPr lang="en-AU" smtClean="0"/>
              <a:t>18/4/21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42522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87294F-DEA6-4D3A-864A-E2E179377C11}" type="datetimeFigureOut">
              <a:rPr lang="en-AU" smtClean="0"/>
              <a:t>18/4/21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89005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87294F-DEA6-4D3A-864A-E2E179377C11}" type="datetimeFigureOut">
              <a:rPr lang="en-AU" smtClean="0"/>
              <a:t>18/4/21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42168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18/4/21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17590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18/4/21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25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18/4/21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665682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18/4/21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07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D87294F-DEA6-4D3A-864A-E2E179377C11}" type="datetimeFigureOut">
              <a:rPr lang="en-AU" smtClean="0"/>
              <a:t>18/4/21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EE85469-5E97-4092-A190-A2DAADA27300}" type="slidenum">
              <a:rPr lang="en-AU" smtClean="0"/>
              <a:t>‹#›</a:t>
            </a:fld>
            <a:endParaRPr lang="en-AU"/>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12164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www.flickr.com/photos/128758398@N07/16606213985"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1B51-FD68-4F9A-AF72-D0BD0020458F}"/>
              </a:ext>
            </a:extLst>
          </p:cNvPr>
          <p:cNvSpPr>
            <a:spLocks noGrp="1"/>
          </p:cNvSpPr>
          <p:nvPr>
            <p:ph type="ctrTitle"/>
          </p:nvPr>
        </p:nvSpPr>
        <p:spPr>
          <a:xfrm>
            <a:off x="96795" y="4960137"/>
            <a:ext cx="8417010" cy="1463040"/>
          </a:xfrm>
        </p:spPr>
        <p:txBody>
          <a:bodyPr>
            <a:noAutofit/>
          </a:bodyPr>
          <a:lstStyle/>
          <a:p>
            <a:pPr algn="l"/>
            <a:r>
              <a:rPr lang="en-AU" sz="4000" dirty="0"/>
              <a:t>Topic: Ratios</a:t>
            </a:r>
            <a:br>
              <a:rPr lang="en-AU" sz="4000" dirty="0"/>
            </a:br>
            <a:r>
              <a:rPr lang="en-AU" sz="4000" dirty="0"/>
              <a:t>EQ: How do I divide quantities into ratios?</a:t>
            </a:r>
          </a:p>
        </p:txBody>
      </p:sp>
      <p:sp>
        <p:nvSpPr>
          <p:cNvPr id="3" name="Subtitle 2">
            <a:extLst>
              <a:ext uri="{FF2B5EF4-FFF2-40B4-BE49-F238E27FC236}">
                <a16:creationId xmlns:a16="http://schemas.microsoft.com/office/drawing/2014/main" id="{39235905-0902-4C57-9CA6-37C142F28CCF}"/>
              </a:ext>
            </a:extLst>
          </p:cNvPr>
          <p:cNvSpPr>
            <a:spLocks noGrp="1"/>
          </p:cNvSpPr>
          <p:nvPr>
            <p:ph type="subTitle" idx="1"/>
          </p:nvPr>
        </p:nvSpPr>
        <p:spPr>
          <a:xfrm>
            <a:off x="8513805" y="4960137"/>
            <a:ext cx="3200400" cy="1463040"/>
          </a:xfrm>
        </p:spPr>
        <p:txBody>
          <a:bodyPr/>
          <a:lstStyle/>
          <a:p>
            <a:r>
              <a:rPr lang="en-AU" dirty="0"/>
              <a:t>Year 11 Essentials</a:t>
            </a:r>
          </a:p>
        </p:txBody>
      </p:sp>
    </p:spTree>
    <p:extLst>
      <p:ext uri="{BB962C8B-B14F-4D97-AF65-F5344CB8AC3E}">
        <p14:creationId xmlns:p14="http://schemas.microsoft.com/office/powerpoint/2010/main" val="166917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2DAA-A945-4854-916B-03B00950BDA0}"/>
              </a:ext>
            </a:extLst>
          </p:cNvPr>
          <p:cNvSpPr>
            <a:spLocks noGrp="1"/>
          </p:cNvSpPr>
          <p:nvPr>
            <p:ph type="title"/>
          </p:nvPr>
        </p:nvSpPr>
        <p:spPr/>
        <p:txBody>
          <a:bodyPr/>
          <a:lstStyle/>
          <a:p>
            <a:r>
              <a:rPr lang="en-AU" dirty="0"/>
              <a:t>Things Required For This Lesson</a:t>
            </a:r>
          </a:p>
        </p:txBody>
      </p:sp>
      <p:sp>
        <p:nvSpPr>
          <p:cNvPr id="3" name="Content Placeholder 2">
            <a:extLst>
              <a:ext uri="{FF2B5EF4-FFF2-40B4-BE49-F238E27FC236}">
                <a16:creationId xmlns:a16="http://schemas.microsoft.com/office/drawing/2014/main" id="{C73B46C1-2EC7-446D-84C7-06B86F22835B}"/>
              </a:ext>
            </a:extLst>
          </p:cNvPr>
          <p:cNvSpPr>
            <a:spLocks noGrp="1"/>
          </p:cNvSpPr>
          <p:nvPr>
            <p:ph idx="1"/>
          </p:nvPr>
        </p:nvSpPr>
        <p:spPr/>
        <p:txBody>
          <a:bodyPr>
            <a:normAutofit/>
          </a:bodyPr>
          <a:lstStyle/>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Interactive Notebook</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Textbook: </a:t>
            </a:r>
            <a:r>
              <a:rPr lang="en-AU" sz="2800" dirty="0">
                <a:solidFill>
                  <a:srgbClr val="7030A0"/>
                </a:solidFill>
                <a:latin typeface="Calibri" panose="020F0502020204030204" pitchFamily="34" charset="0"/>
                <a:cs typeface="Calibri" panose="020F0502020204030204" pitchFamily="34" charset="0"/>
              </a:rPr>
              <a:t>Interleaved Maths Essential Connections</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Ruler, Red Pen, Pencil, Pens, Scientific Calculator</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Growth mindset</a:t>
            </a:r>
          </a:p>
        </p:txBody>
      </p:sp>
    </p:spTree>
    <p:extLst>
      <p:ext uri="{BB962C8B-B14F-4D97-AF65-F5344CB8AC3E}">
        <p14:creationId xmlns:p14="http://schemas.microsoft.com/office/powerpoint/2010/main" val="239080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2013693"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Ratios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AU" sz="2400" dirty="0"/>
              <a:t>How do I divide quantities into ratios?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/03/2021</a:t>
            </a:r>
          </a:p>
        </p:txBody>
      </p:sp>
      <p:pic>
        <p:nvPicPr>
          <p:cNvPr id="6" name="Picture 5" descr="A picture containing text, brick, outdoor, sign&#10;&#10;Description automatically generated">
            <a:extLst>
              <a:ext uri="{FF2B5EF4-FFF2-40B4-BE49-F238E27FC236}">
                <a16:creationId xmlns:a16="http://schemas.microsoft.com/office/drawing/2014/main" id="{04DC1BC4-B66D-4429-8604-914BCDAFDC2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81917" y="1449553"/>
            <a:ext cx="3257615" cy="4289864"/>
          </a:xfrm>
          <a:prstGeom prst="rect">
            <a:avLst/>
          </a:prstGeom>
        </p:spPr>
      </p:pic>
      <p:sp>
        <p:nvSpPr>
          <p:cNvPr id="7" name="TextBox 6">
            <a:extLst>
              <a:ext uri="{FF2B5EF4-FFF2-40B4-BE49-F238E27FC236}">
                <a16:creationId xmlns:a16="http://schemas.microsoft.com/office/drawing/2014/main" id="{F4EB01DF-9411-42CA-9351-FB3A2852305B}"/>
              </a:ext>
            </a:extLst>
          </p:cNvPr>
          <p:cNvSpPr txBox="1"/>
          <p:nvPr/>
        </p:nvSpPr>
        <p:spPr>
          <a:xfrm>
            <a:off x="5001187" y="5710872"/>
            <a:ext cx="2575263" cy="369332"/>
          </a:xfrm>
          <a:prstGeom prst="rect">
            <a:avLst/>
          </a:prstGeom>
          <a:noFill/>
        </p:spPr>
        <p:txBody>
          <a:bodyPr wrap="square" rtlCol="0">
            <a:spAutoFit/>
          </a:bodyPr>
          <a:lstStyle/>
          <a:p>
            <a:r>
              <a:rPr lang="en-AU" sz="900" dirty="0">
                <a:hlinkClick r:id="rId4" tooltip="https://www.flickr.com/photos/128758398@N07/16606213985"/>
              </a:rPr>
              <a:t>This Photo</a:t>
            </a:r>
            <a:r>
              <a:rPr lang="en-AU" sz="900" dirty="0"/>
              <a:t> by Unknown Author is licensed under </a:t>
            </a:r>
            <a:r>
              <a:rPr lang="en-AU" sz="900" dirty="0">
                <a:hlinkClick r:id="rId5" tooltip="https://creativecommons.org/licenses/by-sa/3.0/"/>
              </a:rPr>
              <a:t>CC BY-SA</a:t>
            </a:r>
            <a:endParaRPr lang="en-AU" sz="900" dirty="0"/>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682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AA4B3F-316E-41BE-9AC0-7CDAA8A76988}"/>
              </a:ext>
            </a:extLst>
          </p:cNvPr>
          <p:cNvSpPr txBox="1"/>
          <p:nvPr/>
        </p:nvSpPr>
        <p:spPr>
          <a:xfrm>
            <a:off x="754672" y="196208"/>
            <a:ext cx="2277996" cy="584775"/>
          </a:xfrm>
          <a:prstGeom prst="rect">
            <a:avLst/>
          </a:prstGeom>
          <a:noFill/>
        </p:spPr>
        <p:txBody>
          <a:bodyPr wrap="none" rtlCol="0">
            <a:spAutoFit/>
          </a:bodyPr>
          <a:lstStyle/>
          <a:p>
            <a:r>
              <a:rPr lang="en-AU" sz="3200" dirty="0">
                <a:latin typeface="Calibri" panose="020F0502020204030204" pitchFamily="34" charset="0"/>
                <a:cs typeface="Calibri" panose="020F0502020204030204" pitchFamily="34" charset="0"/>
              </a:rPr>
              <a:t>Topic: Ratios</a:t>
            </a:r>
          </a:p>
        </p:txBody>
      </p:sp>
      <p:sp>
        <p:nvSpPr>
          <p:cNvPr id="5" name="TextBox 4">
            <a:extLst>
              <a:ext uri="{FF2B5EF4-FFF2-40B4-BE49-F238E27FC236}">
                <a16:creationId xmlns:a16="http://schemas.microsoft.com/office/drawing/2014/main" id="{61730C58-9BD1-45ED-844E-00AC602EAE29}"/>
              </a:ext>
            </a:extLst>
          </p:cNvPr>
          <p:cNvSpPr txBox="1"/>
          <p:nvPr/>
        </p:nvSpPr>
        <p:spPr>
          <a:xfrm>
            <a:off x="754671" y="848881"/>
            <a:ext cx="10643384" cy="523220"/>
          </a:xfrm>
          <a:prstGeom prst="rect">
            <a:avLst/>
          </a:prstGeom>
          <a:noFill/>
        </p:spPr>
        <p:txBody>
          <a:bodyPr wrap="square" rtlCol="0">
            <a:spAutoFit/>
          </a:bodyPr>
          <a:lstStyle/>
          <a:p>
            <a:r>
              <a:rPr lang="en-AU" sz="2800" dirty="0">
                <a:latin typeface="Calibri" panose="020F0502020204030204" pitchFamily="34" charset="0"/>
                <a:cs typeface="Calibri" panose="020F0502020204030204" pitchFamily="34" charset="0"/>
              </a:rPr>
              <a:t>EQ: </a:t>
            </a:r>
            <a:r>
              <a:rPr lang="en-AU" sz="2800" dirty="0"/>
              <a:t>How do I divide quantities into ratios?</a:t>
            </a:r>
            <a:endParaRPr lang="en-GB" sz="280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6AB592F-0AF9-498E-A1F8-CE35F9BB3EBE}"/>
                  </a:ext>
                </a:extLst>
              </p:cNvPr>
              <p:cNvSpPr txBox="1"/>
              <p:nvPr/>
            </p:nvSpPr>
            <p:spPr>
              <a:xfrm>
                <a:off x="1165022" y="1664462"/>
                <a:ext cx="6819880" cy="4547207"/>
              </a:xfrm>
              <a:prstGeom prst="rect">
                <a:avLst/>
              </a:prstGeom>
              <a:noFill/>
            </p:spPr>
            <p:txBody>
              <a:bodyPr wrap="square" rtlCol="0">
                <a:spAutoFit/>
              </a:bodyPr>
              <a:lstStyle/>
              <a:p>
                <a:pPr marL="342900" indent="-342900">
                  <a:lnSpc>
                    <a:spcPct val="150000"/>
                  </a:lnSpc>
                  <a:buAutoNum type="arabicPeriod"/>
                </a:pPr>
                <a14:m>
                  <m:oMath xmlns:m="http://schemas.openxmlformats.org/officeDocument/2006/math">
                    <m:r>
                      <a:rPr lang="en-AU" sz="2800" b="0" i="0" smtClean="0">
                        <a:latin typeface="Cambria Math" panose="02040503050406030204" pitchFamily="18" charset="0"/>
                      </a:rPr>
                      <m:t>640 </m:t>
                    </m:r>
                    <m:r>
                      <a:rPr lang="en-AU" sz="2800" b="0" i="0" smtClean="0">
                        <a:latin typeface="Cambria Math" panose="02040503050406030204" pitchFamily="18" charset="0"/>
                        <a:ea typeface="Cambria Math" panose="02040503050406030204" pitchFamily="18" charset="0"/>
                      </a:rPr>
                      <m:t>÷5 </m:t>
                    </m:r>
                  </m:oMath>
                </a14:m>
                <a:endParaRPr lang="en-US" sz="2800" dirty="0"/>
              </a:p>
              <a:p>
                <a:pPr marL="342900" indent="-342900">
                  <a:lnSpc>
                    <a:spcPct val="150000"/>
                  </a:lnSpc>
                  <a:buAutoNum type="arabicPeriod"/>
                </a:pPr>
                <a:r>
                  <a:rPr lang="en-AU" sz="2800" dirty="0"/>
                  <a:t>This is a drawing of a coop I am building for my chickens. What is the length of chicken wire will I need to enclose it? </a:t>
                </a:r>
              </a:p>
              <a:p>
                <a:pPr marL="342900" indent="-342900">
                  <a:lnSpc>
                    <a:spcPct val="150000"/>
                  </a:lnSpc>
                  <a:buAutoNum type="arabicPeriod"/>
                </a:pPr>
                <a:r>
                  <a:rPr lang="en-AU" sz="2800" dirty="0"/>
                  <a:t>What is 25% of $80? What fraction of $80 does it represent? Write it as a Decimal.</a:t>
                </a:r>
              </a:p>
            </p:txBody>
          </p:sp>
        </mc:Choice>
        <mc:Fallback>
          <p:sp>
            <p:nvSpPr>
              <p:cNvPr id="18" name="TextBox 17">
                <a:extLst>
                  <a:ext uri="{FF2B5EF4-FFF2-40B4-BE49-F238E27FC236}">
                    <a16:creationId xmlns:a16="http://schemas.microsoft.com/office/drawing/2014/main" id="{06AB592F-0AF9-498E-A1F8-CE35F9BB3EBE}"/>
                  </a:ext>
                </a:extLst>
              </p:cNvPr>
              <p:cNvSpPr txBox="1">
                <a:spLocks noRot="1" noChangeAspect="1" noMove="1" noResize="1" noEditPoints="1" noAdjustHandles="1" noChangeArrowheads="1" noChangeShapeType="1" noTextEdit="1"/>
              </p:cNvSpPr>
              <p:nvPr/>
            </p:nvSpPr>
            <p:spPr>
              <a:xfrm>
                <a:off x="1165022" y="1664462"/>
                <a:ext cx="6819880" cy="4547207"/>
              </a:xfrm>
              <a:prstGeom prst="rect">
                <a:avLst/>
              </a:prstGeom>
              <a:blipFill>
                <a:blip r:embed="rId2"/>
                <a:stretch>
                  <a:fillRect l="-1487" b="-2507"/>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876F53D-7595-5241-AD3C-876DC4DD6AF4}"/>
              </a:ext>
            </a:extLst>
          </p:cNvPr>
          <p:cNvSpPr txBox="1"/>
          <p:nvPr/>
        </p:nvSpPr>
        <p:spPr>
          <a:xfrm>
            <a:off x="321972" y="1439999"/>
            <a:ext cx="2910625" cy="369332"/>
          </a:xfrm>
          <a:prstGeom prst="rect">
            <a:avLst/>
          </a:prstGeom>
          <a:noFill/>
        </p:spPr>
        <p:txBody>
          <a:bodyPr wrap="square" rtlCol="0">
            <a:spAutoFit/>
          </a:bodyPr>
          <a:lstStyle/>
          <a:p>
            <a:r>
              <a:rPr lang="en-US" dirty="0"/>
              <a:t>Interleaved Questions</a:t>
            </a:r>
          </a:p>
        </p:txBody>
      </p:sp>
      <p:cxnSp>
        <p:nvCxnSpPr>
          <p:cNvPr id="9" name="Straight Connector 8">
            <a:extLst>
              <a:ext uri="{FF2B5EF4-FFF2-40B4-BE49-F238E27FC236}">
                <a16:creationId xmlns:a16="http://schemas.microsoft.com/office/drawing/2014/main" id="{58586476-1238-B047-882A-34A98497D4A7}"/>
              </a:ext>
            </a:extLst>
          </p:cNvPr>
          <p:cNvCxnSpPr>
            <a:cxnSpLocks/>
          </p:cNvCxnSpPr>
          <p:nvPr/>
        </p:nvCxnSpPr>
        <p:spPr>
          <a:xfrm>
            <a:off x="8963948" y="2910625"/>
            <a:ext cx="243410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462166-C83E-6845-A095-1E763928C8F7}"/>
              </a:ext>
            </a:extLst>
          </p:cNvPr>
          <p:cNvCxnSpPr>
            <a:cxnSpLocks/>
          </p:cNvCxnSpPr>
          <p:nvPr/>
        </p:nvCxnSpPr>
        <p:spPr>
          <a:xfrm>
            <a:off x="11398055" y="2910625"/>
            <a:ext cx="0" cy="119820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89E4C8F-6185-0344-ABDA-96219E56EFD6}"/>
              </a:ext>
            </a:extLst>
          </p:cNvPr>
          <p:cNvCxnSpPr/>
          <p:nvPr/>
        </p:nvCxnSpPr>
        <p:spPr>
          <a:xfrm flipH="1">
            <a:off x="10058400" y="4108831"/>
            <a:ext cx="13117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A30A3DF-400C-D54D-B086-D9DF107F0FDA}"/>
              </a:ext>
            </a:extLst>
          </p:cNvPr>
          <p:cNvCxnSpPr>
            <a:cxnSpLocks/>
          </p:cNvCxnSpPr>
          <p:nvPr/>
        </p:nvCxnSpPr>
        <p:spPr>
          <a:xfrm>
            <a:off x="10058400" y="3509728"/>
            <a:ext cx="0" cy="59910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AB43ED4-B8D7-7641-AE36-3BBBE56EC2E1}"/>
              </a:ext>
            </a:extLst>
          </p:cNvPr>
          <p:cNvCxnSpPr>
            <a:cxnSpLocks/>
          </p:cNvCxnSpPr>
          <p:nvPr/>
        </p:nvCxnSpPr>
        <p:spPr>
          <a:xfrm>
            <a:off x="8963948" y="2910625"/>
            <a:ext cx="0" cy="59910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F8B9DA-899A-7D4B-A2D4-14EE88D12798}"/>
              </a:ext>
            </a:extLst>
          </p:cNvPr>
          <p:cNvCxnSpPr>
            <a:cxnSpLocks/>
          </p:cNvCxnSpPr>
          <p:nvPr/>
        </p:nvCxnSpPr>
        <p:spPr>
          <a:xfrm flipH="1">
            <a:off x="8963948" y="3509728"/>
            <a:ext cx="109445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E4417F0-074E-A245-82DE-AFBBF792E910}"/>
              </a:ext>
            </a:extLst>
          </p:cNvPr>
          <p:cNvSpPr txBox="1"/>
          <p:nvPr/>
        </p:nvSpPr>
        <p:spPr>
          <a:xfrm>
            <a:off x="8893240" y="3011372"/>
            <a:ext cx="656822" cy="369332"/>
          </a:xfrm>
          <a:prstGeom prst="rect">
            <a:avLst/>
          </a:prstGeom>
          <a:noFill/>
        </p:spPr>
        <p:txBody>
          <a:bodyPr wrap="square" rtlCol="0">
            <a:spAutoFit/>
          </a:bodyPr>
          <a:lstStyle/>
          <a:p>
            <a:r>
              <a:rPr lang="en-US" dirty="0"/>
              <a:t>3.5m</a:t>
            </a:r>
          </a:p>
        </p:txBody>
      </p:sp>
      <p:sp>
        <p:nvSpPr>
          <p:cNvPr id="24" name="TextBox 23">
            <a:extLst>
              <a:ext uri="{FF2B5EF4-FFF2-40B4-BE49-F238E27FC236}">
                <a16:creationId xmlns:a16="http://schemas.microsoft.com/office/drawing/2014/main" id="{8BA9CADC-2489-2B44-A9B7-86002A2C4BEB}"/>
              </a:ext>
            </a:extLst>
          </p:cNvPr>
          <p:cNvSpPr txBox="1"/>
          <p:nvPr/>
        </p:nvSpPr>
        <p:spPr>
          <a:xfrm>
            <a:off x="9768751" y="2476781"/>
            <a:ext cx="560105" cy="369332"/>
          </a:xfrm>
          <a:prstGeom prst="rect">
            <a:avLst/>
          </a:prstGeom>
          <a:noFill/>
        </p:spPr>
        <p:txBody>
          <a:bodyPr wrap="square" rtlCol="0">
            <a:spAutoFit/>
          </a:bodyPr>
          <a:lstStyle/>
          <a:p>
            <a:r>
              <a:rPr lang="en-US" dirty="0"/>
              <a:t>7m</a:t>
            </a:r>
          </a:p>
        </p:txBody>
      </p:sp>
      <p:sp>
        <p:nvSpPr>
          <p:cNvPr id="25" name="TextBox 24">
            <a:extLst>
              <a:ext uri="{FF2B5EF4-FFF2-40B4-BE49-F238E27FC236}">
                <a16:creationId xmlns:a16="http://schemas.microsoft.com/office/drawing/2014/main" id="{C9F99DC6-2F6E-7D47-84DB-98291BB4D159}"/>
              </a:ext>
            </a:extLst>
          </p:cNvPr>
          <p:cNvSpPr txBox="1"/>
          <p:nvPr/>
        </p:nvSpPr>
        <p:spPr>
          <a:xfrm>
            <a:off x="9296402" y="3610474"/>
            <a:ext cx="734095" cy="369332"/>
          </a:xfrm>
          <a:prstGeom prst="rect">
            <a:avLst/>
          </a:prstGeom>
          <a:noFill/>
        </p:spPr>
        <p:txBody>
          <a:bodyPr wrap="square" rtlCol="0">
            <a:spAutoFit/>
          </a:bodyPr>
          <a:lstStyle/>
          <a:p>
            <a:r>
              <a:rPr lang="en-US" dirty="0"/>
              <a:t>1.8m</a:t>
            </a:r>
          </a:p>
        </p:txBody>
      </p:sp>
      <p:sp>
        <p:nvSpPr>
          <p:cNvPr id="26" name="TextBox 25">
            <a:extLst>
              <a:ext uri="{FF2B5EF4-FFF2-40B4-BE49-F238E27FC236}">
                <a16:creationId xmlns:a16="http://schemas.microsoft.com/office/drawing/2014/main" id="{5BA2B63F-C602-F047-A587-042870E84C77}"/>
              </a:ext>
            </a:extLst>
          </p:cNvPr>
          <p:cNvSpPr txBox="1"/>
          <p:nvPr/>
        </p:nvSpPr>
        <p:spPr>
          <a:xfrm>
            <a:off x="11369901" y="3244334"/>
            <a:ext cx="652530" cy="369332"/>
          </a:xfrm>
          <a:prstGeom prst="rect">
            <a:avLst/>
          </a:prstGeom>
          <a:noFill/>
        </p:spPr>
        <p:txBody>
          <a:bodyPr wrap="square" rtlCol="0">
            <a:spAutoFit/>
          </a:bodyPr>
          <a:lstStyle/>
          <a:p>
            <a:r>
              <a:rPr lang="en-US" dirty="0"/>
              <a:t>3.6m</a:t>
            </a:r>
          </a:p>
        </p:txBody>
      </p:sp>
      <p:sp>
        <p:nvSpPr>
          <p:cNvPr id="27" name="TextBox 26">
            <a:extLst>
              <a:ext uri="{FF2B5EF4-FFF2-40B4-BE49-F238E27FC236}">
                <a16:creationId xmlns:a16="http://schemas.microsoft.com/office/drawing/2014/main" id="{327A962E-176A-D446-B05F-835E18C3ECE6}"/>
              </a:ext>
            </a:extLst>
          </p:cNvPr>
          <p:cNvSpPr txBox="1"/>
          <p:nvPr/>
        </p:nvSpPr>
        <p:spPr>
          <a:xfrm>
            <a:off x="9063948" y="1833627"/>
            <a:ext cx="2234105" cy="369332"/>
          </a:xfrm>
          <a:prstGeom prst="rect">
            <a:avLst/>
          </a:prstGeom>
          <a:noFill/>
        </p:spPr>
        <p:txBody>
          <a:bodyPr wrap="square" rtlCol="0">
            <a:spAutoFit/>
          </a:bodyPr>
          <a:lstStyle/>
          <a:p>
            <a:r>
              <a:rPr lang="en-US" dirty="0"/>
              <a:t>Q2. Not to scale.</a:t>
            </a:r>
          </a:p>
        </p:txBody>
      </p:sp>
    </p:spTree>
    <p:extLst>
      <p:ext uri="{BB962C8B-B14F-4D97-AF65-F5344CB8AC3E}">
        <p14:creationId xmlns:p14="http://schemas.microsoft.com/office/powerpoint/2010/main" val="2434020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AA4B3F-316E-41BE-9AC0-7CDAA8A76988}"/>
              </a:ext>
            </a:extLst>
          </p:cNvPr>
          <p:cNvSpPr txBox="1"/>
          <p:nvPr/>
        </p:nvSpPr>
        <p:spPr>
          <a:xfrm>
            <a:off x="754672" y="196208"/>
            <a:ext cx="2277996" cy="584775"/>
          </a:xfrm>
          <a:prstGeom prst="rect">
            <a:avLst/>
          </a:prstGeom>
          <a:noFill/>
        </p:spPr>
        <p:txBody>
          <a:bodyPr wrap="none" rtlCol="0">
            <a:spAutoFit/>
          </a:bodyPr>
          <a:lstStyle/>
          <a:p>
            <a:r>
              <a:rPr lang="en-AU" sz="3200" dirty="0">
                <a:latin typeface="Calibri" panose="020F0502020204030204" pitchFamily="34" charset="0"/>
                <a:cs typeface="Calibri" panose="020F0502020204030204" pitchFamily="34" charset="0"/>
              </a:rPr>
              <a:t>Topic: Ratios</a:t>
            </a:r>
          </a:p>
        </p:txBody>
      </p:sp>
      <p:sp>
        <p:nvSpPr>
          <p:cNvPr id="5" name="TextBox 4">
            <a:extLst>
              <a:ext uri="{FF2B5EF4-FFF2-40B4-BE49-F238E27FC236}">
                <a16:creationId xmlns:a16="http://schemas.microsoft.com/office/drawing/2014/main" id="{61730C58-9BD1-45ED-844E-00AC602EAE29}"/>
              </a:ext>
            </a:extLst>
          </p:cNvPr>
          <p:cNvSpPr txBox="1"/>
          <p:nvPr/>
        </p:nvSpPr>
        <p:spPr>
          <a:xfrm>
            <a:off x="754671" y="848881"/>
            <a:ext cx="10643384" cy="523220"/>
          </a:xfrm>
          <a:prstGeom prst="rect">
            <a:avLst/>
          </a:prstGeom>
          <a:noFill/>
        </p:spPr>
        <p:txBody>
          <a:bodyPr wrap="square" rtlCol="0">
            <a:spAutoFit/>
          </a:bodyPr>
          <a:lstStyle/>
          <a:p>
            <a:r>
              <a:rPr lang="en-AU" sz="2800" dirty="0">
                <a:latin typeface="Calibri" panose="020F0502020204030204" pitchFamily="34" charset="0"/>
                <a:cs typeface="Calibri" panose="020F0502020204030204" pitchFamily="34" charset="0"/>
              </a:rPr>
              <a:t>EQ: </a:t>
            </a:r>
            <a:r>
              <a:rPr lang="en-AU" sz="2800" dirty="0"/>
              <a:t>How do I divide quantities into ratios?</a:t>
            </a:r>
            <a:endParaRPr lang="en-GB" sz="280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6AB592F-0AF9-498E-A1F8-CE35F9BB3EBE}"/>
                  </a:ext>
                </a:extLst>
              </p:cNvPr>
              <p:cNvSpPr txBox="1"/>
              <p:nvPr/>
            </p:nvSpPr>
            <p:spPr>
              <a:xfrm>
                <a:off x="1165022" y="1664462"/>
                <a:ext cx="6819880" cy="5193538"/>
              </a:xfrm>
              <a:prstGeom prst="rect">
                <a:avLst/>
              </a:prstGeom>
              <a:noFill/>
            </p:spPr>
            <p:txBody>
              <a:bodyPr wrap="square" rtlCol="0">
                <a:spAutoFit/>
              </a:bodyPr>
              <a:lstStyle/>
              <a:p>
                <a:pPr marL="342900" indent="-342900">
                  <a:lnSpc>
                    <a:spcPct val="150000"/>
                  </a:lnSpc>
                  <a:buAutoNum type="arabicPeriod"/>
                </a:pPr>
                <a14:m>
                  <m:oMath xmlns:m="http://schemas.openxmlformats.org/officeDocument/2006/math">
                    <m:r>
                      <a:rPr lang="en-AU" sz="2800" b="0" i="0" smtClean="0">
                        <a:latin typeface="Cambria Math" panose="02040503050406030204" pitchFamily="18" charset="0"/>
                      </a:rPr>
                      <m:t>640 </m:t>
                    </m:r>
                    <m:r>
                      <a:rPr lang="en-AU" sz="2800" b="0" i="0" smtClean="0">
                        <a:latin typeface="Cambria Math" panose="02040503050406030204" pitchFamily="18" charset="0"/>
                        <a:ea typeface="Cambria Math" panose="02040503050406030204" pitchFamily="18" charset="0"/>
                      </a:rPr>
                      <m:t>÷5 </m:t>
                    </m:r>
                  </m:oMath>
                </a14:m>
                <a:endParaRPr lang="en-US" sz="2800" dirty="0"/>
              </a:p>
              <a:p>
                <a:pPr marL="342900" indent="-342900">
                  <a:lnSpc>
                    <a:spcPct val="150000"/>
                  </a:lnSpc>
                  <a:buAutoNum type="arabicPeriod"/>
                </a:pPr>
                <a:r>
                  <a:rPr lang="en-AU" sz="2800" dirty="0"/>
                  <a:t>This is a drawing of a coop I am building for my chickens. What is the length of chicken wire will I need to enclose it? </a:t>
                </a:r>
              </a:p>
              <a:p>
                <a:pPr marL="342900" indent="-342900">
                  <a:lnSpc>
                    <a:spcPct val="150000"/>
                  </a:lnSpc>
                  <a:buAutoNum type="arabicPeriod"/>
                </a:pPr>
                <a:endParaRPr lang="en-AU" sz="2800" dirty="0"/>
              </a:p>
              <a:p>
                <a:pPr marL="342900" indent="-342900">
                  <a:lnSpc>
                    <a:spcPct val="150000"/>
                  </a:lnSpc>
                  <a:buAutoNum type="arabicPeriod"/>
                </a:pPr>
                <a:r>
                  <a:rPr lang="en-AU" sz="2800" dirty="0"/>
                  <a:t>What is 25% of $80? What fraction of $80 does it represent? Write it as a Decimal.</a:t>
                </a:r>
              </a:p>
            </p:txBody>
          </p:sp>
        </mc:Choice>
        <mc:Fallback>
          <p:sp>
            <p:nvSpPr>
              <p:cNvPr id="18" name="TextBox 17">
                <a:extLst>
                  <a:ext uri="{FF2B5EF4-FFF2-40B4-BE49-F238E27FC236}">
                    <a16:creationId xmlns:a16="http://schemas.microsoft.com/office/drawing/2014/main" id="{06AB592F-0AF9-498E-A1F8-CE35F9BB3EBE}"/>
                  </a:ext>
                </a:extLst>
              </p:cNvPr>
              <p:cNvSpPr txBox="1">
                <a:spLocks noRot="1" noChangeAspect="1" noMove="1" noResize="1" noEditPoints="1" noAdjustHandles="1" noChangeArrowheads="1" noChangeShapeType="1" noTextEdit="1"/>
              </p:cNvSpPr>
              <p:nvPr/>
            </p:nvSpPr>
            <p:spPr>
              <a:xfrm>
                <a:off x="1165022" y="1664462"/>
                <a:ext cx="6819880" cy="5193538"/>
              </a:xfrm>
              <a:prstGeom prst="rect">
                <a:avLst/>
              </a:prstGeom>
              <a:blipFill>
                <a:blip r:embed="rId2"/>
                <a:stretch>
                  <a:fillRect l="-1487" b="-268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876F53D-7595-5241-AD3C-876DC4DD6AF4}"/>
              </a:ext>
            </a:extLst>
          </p:cNvPr>
          <p:cNvSpPr txBox="1"/>
          <p:nvPr/>
        </p:nvSpPr>
        <p:spPr>
          <a:xfrm>
            <a:off x="321972" y="1439999"/>
            <a:ext cx="2910625" cy="369332"/>
          </a:xfrm>
          <a:prstGeom prst="rect">
            <a:avLst/>
          </a:prstGeom>
          <a:noFill/>
        </p:spPr>
        <p:txBody>
          <a:bodyPr wrap="square" rtlCol="0">
            <a:spAutoFit/>
          </a:bodyPr>
          <a:lstStyle/>
          <a:p>
            <a:r>
              <a:rPr lang="en-US" dirty="0"/>
              <a:t>Interleaved Questions</a:t>
            </a:r>
          </a:p>
        </p:txBody>
      </p:sp>
      <p:cxnSp>
        <p:nvCxnSpPr>
          <p:cNvPr id="9" name="Straight Connector 8">
            <a:extLst>
              <a:ext uri="{FF2B5EF4-FFF2-40B4-BE49-F238E27FC236}">
                <a16:creationId xmlns:a16="http://schemas.microsoft.com/office/drawing/2014/main" id="{58586476-1238-B047-882A-34A98497D4A7}"/>
              </a:ext>
            </a:extLst>
          </p:cNvPr>
          <p:cNvCxnSpPr>
            <a:cxnSpLocks/>
          </p:cNvCxnSpPr>
          <p:nvPr/>
        </p:nvCxnSpPr>
        <p:spPr>
          <a:xfrm>
            <a:off x="8963948" y="2910625"/>
            <a:ext cx="243410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462166-C83E-6845-A095-1E763928C8F7}"/>
              </a:ext>
            </a:extLst>
          </p:cNvPr>
          <p:cNvCxnSpPr>
            <a:cxnSpLocks/>
          </p:cNvCxnSpPr>
          <p:nvPr/>
        </p:nvCxnSpPr>
        <p:spPr>
          <a:xfrm>
            <a:off x="11398055" y="2910625"/>
            <a:ext cx="0" cy="119820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89E4C8F-6185-0344-ABDA-96219E56EFD6}"/>
              </a:ext>
            </a:extLst>
          </p:cNvPr>
          <p:cNvCxnSpPr/>
          <p:nvPr/>
        </p:nvCxnSpPr>
        <p:spPr>
          <a:xfrm flipH="1">
            <a:off x="10058400" y="4108831"/>
            <a:ext cx="13117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A30A3DF-400C-D54D-B086-D9DF107F0FDA}"/>
              </a:ext>
            </a:extLst>
          </p:cNvPr>
          <p:cNvCxnSpPr>
            <a:cxnSpLocks/>
          </p:cNvCxnSpPr>
          <p:nvPr/>
        </p:nvCxnSpPr>
        <p:spPr>
          <a:xfrm>
            <a:off x="10058400" y="3509728"/>
            <a:ext cx="0" cy="59910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AB43ED4-B8D7-7641-AE36-3BBBE56EC2E1}"/>
              </a:ext>
            </a:extLst>
          </p:cNvPr>
          <p:cNvCxnSpPr>
            <a:cxnSpLocks/>
          </p:cNvCxnSpPr>
          <p:nvPr/>
        </p:nvCxnSpPr>
        <p:spPr>
          <a:xfrm>
            <a:off x="8963948" y="2910625"/>
            <a:ext cx="0" cy="59910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F8B9DA-899A-7D4B-A2D4-14EE88D12798}"/>
              </a:ext>
            </a:extLst>
          </p:cNvPr>
          <p:cNvCxnSpPr>
            <a:cxnSpLocks/>
          </p:cNvCxnSpPr>
          <p:nvPr/>
        </p:nvCxnSpPr>
        <p:spPr>
          <a:xfrm flipH="1">
            <a:off x="8963948" y="3509728"/>
            <a:ext cx="109445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E4417F0-074E-A245-82DE-AFBBF792E910}"/>
              </a:ext>
            </a:extLst>
          </p:cNvPr>
          <p:cNvSpPr txBox="1"/>
          <p:nvPr/>
        </p:nvSpPr>
        <p:spPr>
          <a:xfrm>
            <a:off x="8893240" y="3011372"/>
            <a:ext cx="656822" cy="369332"/>
          </a:xfrm>
          <a:prstGeom prst="rect">
            <a:avLst/>
          </a:prstGeom>
          <a:noFill/>
        </p:spPr>
        <p:txBody>
          <a:bodyPr wrap="square" rtlCol="0">
            <a:spAutoFit/>
          </a:bodyPr>
          <a:lstStyle/>
          <a:p>
            <a:r>
              <a:rPr lang="en-US" dirty="0"/>
              <a:t>3.5m</a:t>
            </a:r>
          </a:p>
        </p:txBody>
      </p:sp>
      <p:sp>
        <p:nvSpPr>
          <p:cNvPr id="24" name="TextBox 23">
            <a:extLst>
              <a:ext uri="{FF2B5EF4-FFF2-40B4-BE49-F238E27FC236}">
                <a16:creationId xmlns:a16="http://schemas.microsoft.com/office/drawing/2014/main" id="{8BA9CADC-2489-2B44-A9B7-86002A2C4BEB}"/>
              </a:ext>
            </a:extLst>
          </p:cNvPr>
          <p:cNvSpPr txBox="1"/>
          <p:nvPr/>
        </p:nvSpPr>
        <p:spPr>
          <a:xfrm>
            <a:off x="9768751" y="2476781"/>
            <a:ext cx="560105" cy="369332"/>
          </a:xfrm>
          <a:prstGeom prst="rect">
            <a:avLst/>
          </a:prstGeom>
          <a:noFill/>
        </p:spPr>
        <p:txBody>
          <a:bodyPr wrap="square" rtlCol="0">
            <a:spAutoFit/>
          </a:bodyPr>
          <a:lstStyle/>
          <a:p>
            <a:r>
              <a:rPr lang="en-US" dirty="0"/>
              <a:t>7m</a:t>
            </a:r>
          </a:p>
        </p:txBody>
      </p:sp>
      <p:sp>
        <p:nvSpPr>
          <p:cNvPr id="25" name="TextBox 24">
            <a:extLst>
              <a:ext uri="{FF2B5EF4-FFF2-40B4-BE49-F238E27FC236}">
                <a16:creationId xmlns:a16="http://schemas.microsoft.com/office/drawing/2014/main" id="{C9F99DC6-2F6E-7D47-84DB-98291BB4D159}"/>
              </a:ext>
            </a:extLst>
          </p:cNvPr>
          <p:cNvSpPr txBox="1"/>
          <p:nvPr/>
        </p:nvSpPr>
        <p:spPr>
          <a:xfrm>
            <a:off x="9296402" y="3610474"/>
            <a:ext cx="734095" cy="369332"/>
          </a:xfrm>
          <a:prstGeom prst="rect">
            <a:avLst/>
          </a:prstGeom>
          <a:noFill/>
        </p:spPr>
        <p:txBody>
          <a:bodyPr wrap="square" rtlCol="0">
            <a:spAutoFit/>
          </a:bodyPr>
          <a:lstStyle/>
          <a:p>
            <a:r>
              <a:rPr lang="en-US" dirty="0"/>
              <a:t>1.8m</a:t>
            </a:r>
          </a:p>
        </p:txBody>
      </p:sp>
      <p:sp>
        <p:nvSpPr>
          <p:cNvPr id="26" name="TextBox 25">
            <a:extLst>
              <a:ext uri="{FF2B5EF4-FFF2-40B4-BE49-F238E27FC236}">
                <a16:creationId xmlns:a16="http://schemas.microsoft.com/office/drawing/2014/main" id="{5BA2B63F-C602-F047-A587-042870E84C77}"/>
              </a:ext>
            </a:extLst>
          </p:cNvPr>
          <p:cNvSpPr txBox="1"/>
          <p:nvPr/>
        </p:nvSpPr>
        <p:spPr>
          <a:xfrm>
            <a:off x="11369901" y="3244334"/>
            <a:ext cx="652530" cy="369332"/>
          </a:xfrm>
          <a:prstGeom prst="rect">
            <a:avLst/>
          </a:prstGeom>
          <a:noFill/>
        </p:spPr>
        <p:txBody>
          <a:bodyPr wrap="square" rtlCol="0">
            <a:spAutoFit/>
          </a:bodyPr>
          <a:lstStyle/>
          <a:p>
            <a:r>
              <a:rPr lang="en-US" dirty="0"/>
              <a:t>3.6m</a:t>
            </a:r>
          </a:p>
        </p:txBody>
      </p:sp>
      <p:sp>
        <p:nvSpPr>
          <p:cNvPr id="27" name="TextBox 26">
            <a:extLst>
              <a:ext uri="{FF2B5EF4-FFF2-40B4-BE49-F238E27FC236}">
                <a16:creationId xmlns:a16="http://schemas.microsoft.com/office/drawing/2014/main" id="{327A962E-176A-D446-B05F-835E18C3ECE6}"/>
              </a:ext>
            </a:extLst>
          </p:cNvPr>
          <p:cNvSpPr txBox="1"/>
          <p:nvPr/>
        </p:nvSpPr>
        <p:spPr>
          <a:xfrm>
            <a:off x="9063948" y="1833627"/>
            <a:ext cx="2234105" cy="369332"/>
          </a:xfrm>
          <a:prstGeom prst="rect">
            <a:avLst/>
          </a:prstGeom>
          <a:noFill/>
        </p:spPr>
        <p:txBody>
          <a:bodyPr wrap="square" rtlCol="0">
            <a:spAutoFit/>
          </a:bodyPr>
          <a:lstStyle/>
          <a:p>
            <a:r>
              <a:rPr lang="en-US" dirty="0"/>
              <a:t>Q2. Not to scale.</a:t>
            </a:r>
          </a:p>
        </p:txBody>
      </p:sp>
      <p:sp>
        <p:nvSpPr>
          <p:cNvPr id="4" name="TextBox 3">
            <a:extLst>
              <a:ext uri="{FF2B5EF4-FFF2-40B4-BE49-F238E27FC236}">
                <a16:creationId xmlns:a16="http://schemas.microsoft.com/office/drawing/2014/main" id="{6EA805DD-D4C4-A341-8CA2-144402088B2B}"/>
              </a:ext>
            </a:extLst>
          </p:cNvPr>
          <p:cNvSpPr txBox="1"/>
          <p:nvPr/>
        </p:nvSpPr>
        <p:spPr>
          <a:xfrm>
            <a:off x="3493137" y="1809331"/>
            <a:ext cx="1081825" cy="523220"/>
          </a:xfrm>
          <a:prstGeom prst="rect">
            <a:avLst/>
          </a:prstGeom>
          <a:noFill/>
        </p:spPr>
        <p:txBody>
          <a:bodyPr wrap="square" rtlCol="0">
            <a:spAutoFit/>
          </a:bodyPr>
          <a:lstStyle/>
          <a:p>
            <a:r>
              <a:rPr lang="en-US" sz="2800" dirty="0">
                <a:solidFill>
                  <a:srgbClr val="C00000"/>
                </a:solidFill>
              </a:rPr>
              <a:t>=128</a:t>
            </a:r>
            <a:endParaRPr lang="en-US" dirty="0">
              <a:solidFill>
                <a:srgbClr val="C00000"/>
              </a:solidFill>
            </a:endParaRPr>
          </a:p>
        </p:txBody>
      </p:sp>
      <p:sp>
        <p:nvSpPr>
          <p:cNvPr id="19" name="TextBox 18">
            <a:extLst>
              <a:ext uri="{FF2B5EF4-FFF2-40B4-BE49-F238E27FC236}">
                <a16:creationId xmlns:a16="http://schemas.microsoft.com/office/drawing/2014/main" id="{CAE27D49-3C24-8444-B923-773F41C24D6E}"/>
              </a:ext>
            </a:extLst>
          </p:cNvPr>
          <p:cNvSpPr txBox="1"/>
          <p:nvPr/>
        </p:nvSpPr>
        <p:spPr>
          <a:xfrm>
            <a:off x="3903115" y="4138626"/>
            <a:ext cx="2192885" cy="523220"/>
          </a:xfrm>
          <a:prstGeom prst="rect">
            <a:avLst/>
          </a:prstGeom>
          <a:noFill/>
        </p:spPr>
        <p:txBody>
          <a:bodyPr wrap="square" rtlCol="0">
            <a:spAutoFit/>
          </a:bodyPr>
          <a:lstStyle/>
          <a:p>
            <a:r>
              <a:rPr lang="en-US" sz="2800" dirty="0">
                <a:solidFill>
                  <a:srgbClr val="C00000"/>
                </a:solidFill>
              </a:rPr>
              <a:t>=21.2m</a:t>
            </a:r>
            <a:endParaRPr lang="en-US" dirty="0">
              <a:solidFill>
                <a:srgbClr val="C00000"/>
              </a:solidFill>
            </a:endParaRP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FDD8F98C-7E6A-E04A-8E3F-403EBBC8EBBF}"/>
                  </a:ext>
                </a:extLst>
              </p:cNvPr>
              <p:cNvSpPr txBox="1"/>
              <p:nvPr/>
            </p:nvSpPr>
            <p:spPr>
              <a:xfrm>
                <a:off x="7103517" y="5888006"/>
                <a:ext cx="2665227" cy="700705"/>
              </a:xfrm>
              <a:prstGeom prst="rect">
                <a:avLst/>
              </a:prstGeom>
              <a:noFill/>
            </p:spPr>
            <p:txBody>
              <a:bodyPr wrap="square" rtlCol="0">
                <a:spAutoFit/>
              </a:bodyPr>
              <a:lstStyle/>
              <a:p>
                <a:r>
                  <a:rPr lang="en-US" sz="2800" dirty="0">
                    <a:solidFill>
                      <a:srgbClr val="C00000"/>
                    </a:solidFill>
                  </a:rPr>
                  <a:t>=$20, </a:t>
                </a:r>
                <a14:m>
                  <m:oMath xmlns:m="http://schemas.openxmlformats.org/officeDocument/2006/math">
                    <m:f>
                      <m:fPr>
                        <m:ctrlPr>
                          <a:rPr lang="en-US" sz="2800" i="1" smtClean="0">
                            <a:solidFill>
                              <a:srgbClr val="C00000"/>
                            </a:solidFill>
                            <a:latin typeface="Cambria Math" panose="02040503050406030204" pitchFamily="18" charset="0"/>
                          </a:rPr>
                        </m:ctrlPr>
                      </m:fPr>
                      <m:num>
                        <m:r>
                          <a:rPr lang="en-AU" sz="2800" b="0" i="1" smtClean="0">
                            <a:solidFill>
                              <a:srgbClr val="C00000"/>
                            </a:solidFill>
                            <a:latin typeface="Cambria Math" panose="02040503050406030204" pitchFamily="18" charset="0"/>
                          </a:rPr>
                          <m:t>1</m:t>
                        </m:r>
                      </m:num>
                      <m:den>
                        <m:r>
                          <a:rPr lang="en-AU" sz="2800" b="0" i="1" smtClean="0">
                            <a:solidFill>
                              <a:srgbClr val="C00000"/>
                            </a:solidFill>
                            <a:latin typeface="Cambria Math" panose="02040503050406030204" pitchFamily="18" charset="0"/>
                          </a:rPr>
                          <m:t>4</m:t>
                        </m:r>
                      </m:den>
                    </m:f>
                  </m:oMath>
                </a14:m>
                <a:r>
                  <a:rPr lang="en-US" sz="2800" dirty="0">
                    <a:solidFill>
                      <a:srgbClr val="C00000"/>
                    </a:solidFill>
                  </a:rPr>
                  <a:t> , 0.25</a:t>
                </a:r>
                <a:endParaRPr lang="en-US" dirty="0">
                  <a:solidFill>
                    <a:srgbClr val="C00000"/>
                  </a:solidFill>
                </a:endParaRPr>
              </a:p>
            </p:txBody>
          </p:sp>
        </mc:Choice>
        <mc:Fallback>
          <p:sp>
            <p:nvSpPr>
              <p:cNvPr id="22" name="TextBox 21">
                <a:extLst>
                  <a:ext uri="{FF2B5EF4-FFF2-40B4-BE49-F238E27FC236}">
                    <a16:creationId xmlns:a16="http://schemas.microsoft.com/office/drawing/2014/main" id="{FDD8F98C-7E6A-E04A-8E3F-403EBBC8EBBF}"/>
                  </a:ext>
                </a:extLst>
              </p:cNvPr>
              <p:cNvSpPr txBox="1">
                <a:spLocks noRot="1" noChangeAspect="1" noMove="1" noResize="1" noEditPoints="1" noAdjustHandles="1" noChangeArrowheads="1" noChangeShapeType="1" noTextEdit="1"/>
              </p:cNvSpPr>
              <p:nvPr/>
            </p:nvSpPr>
            <p:spPr>
              <a:xfrm>
                <a:off x="7103517" y="5888006"/>
                <a:ext cx="2665227" cy="700705"/>
              </a:xfrm>
              <a:prstGeom prst="rect">
                <a:avLst/>
              </a:prstGeom>
              <a:blipFill>
                <a:blip r:embed="rId3"/>
                <a:stretch>
                  <a:fillRect l="-4762" b="-10714"/>
                </a:stretch>
              </a:blipFill>
            </p:spPr>
            <p:txBody>
              <a:bodyPr/>
              <a:lstStyle/>
              <a:p>
                <a:r>
                  <a:rPr lang="en-US">
                    <a:noFill/>
                  </a:rPr>
                  <a:t> </a:t>
                </a:r>
              </a:p>
            </p:txBody>
          </p:sp>
        </mc:Fallback>
      </mc:AlternateContent>
    </p:spTree>
    <p:extLst>
      <p:ext uri="{BB962C8B-B14F-4D97-AF65-F5344CB8AC3E}">
        <p14:creationId xmlns:p14="http://schemas.microsoft.com/office/powerpoint/2010/main" val="3629673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flipH="1">
            <a:off x="2368731" y="1224621"/>
            <a:ext cx="13728" cy="5742236"/>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2013693"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Ratios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AU" sz="2400" dirty="0"/>
              <a:t>How do I divide quantities into ratios?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36979" y="6271903"/>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4" name="TextBox 3"/>
          <p:cNvSpPr txBox="1"/>
          <p:nvPr/>
        </p:nvSpPr>
        <p:spPr>
          <a:xfrm flipH="1">
            <a:off x="333400" y="1474838"/>
            <a:ext cx="2049058" cy="1692771"/>
          </a:xfrm>
          <a:prstGeom prst="rect">
            <a:avLst/>
          </a:prstGeom>
          <a:noFill/>
        </p:spPr>
        <p:txBody>
          <a:bodyPr wrap="square" rtlCol="0">
            <a:spAutoFit/>
          </a:bodyPr>
          <a:lstStyle/>
          <a:p>
            <a:r>
              <a:rPr lang="en-AU" sz="2800" dirty="0"/>
              <a:t>What is dividing quantities?</a:t>
            </a:r>
          </a:p>
          <a:p>
            <a:endParaRPr lang="en-AU" sz="2000" dirty="0"/>
          </a:p>
        </p:txBody>
      </p:sp>
      <p:sp>
        <p:nvSpPr>
          <p:cNvPr id="5" name="TextBox 4"/>
          <p:cNvSpPr txBox="1"/>
          <p:nvPr/>
        </p:nvSpPr>
        <p:spPr>
          <a:xfrm>
            <a:off x="2509578" y="1490915"/>
            <a:ext cx="8350801" cy="1384995"/>
          </a:xfrm>
          <a:prstGeom prst="rect">
            <a:avLst/>
          </a:prstGeom>
          <a:noFill/>
        </p:spPr>
        <p:txBody>
          <a:bodyPr wrap="square" rtlCol="0">
            <a:spAutoFit/>
          </a:bodyPr>
          <a:lstStyle/>
          <a:p>
            <a:r>
              <a:rPr lang="en-US" sz="2800" dirty="0"/>
              <a:t>Use the total number of items and a ratio to work out how many items there will be in each type. </a:t>
            </a:r>
            <a:r>
              <a:rPr lang="en-US" sz="2800" i="1" dirty="0"/>
              <a:t>This is called dividing quantities into ratios. </a:t>
            </a:r>
            <a:endParaRPr lang="en-US" sz="2800" dirty="0"/>
          </a:p>
        </p:txBody>
      </p:sp>
      <p:graphicFrame>
        <p:nvGraphicFramePr>
          <p:cNvPr id="6" name="Table 6">
            <a:extLst>
              <a:ext uri="{FF2B5EF4-FFF2-40B4-BE49-F238E27FC236}">
                <a16:creationId xmlns:a16="http://schemas.microsoft.com/office/drawing/2014/main" id="{A8AD0C80-0F5F-B84C-9B73-8BAD0D945AFB}"/>
              </a:ext>
            </a:extLst>
          </p:cNvPr>
          <p:cNvGraphicFramePr>
            <a:graphicFrameLocks noGrp="1"/>
          </p:cNvGraphicFramePr>
          <p:nvPr>
            <p:extLst>
              <p:ext uri="{D42A27DB-BD31-4B8C-83A1-F6EECF244321}">
                <p14:modId xmlns:p14="http://schemas.microsoft.com/office/powerpoint/2010/main" val="4003847201"/>
              </p:ext>
            </p:extLst>
          </p:nvPr>
        </p:nvGraphicFramePr>
        <p:xfrm>
          <a:off x="2620978" y="4523086"/>
          <a:ext cx="8128000" cy="87622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3856764"/>
                    </a:ext>
                  </a:extLst>
                </a:gridCol>
                <a:gridCol w="2032000">
                  <a:extLst>
                    <a:ext uri="{9D8B030D-6E8A-4147-A177-3AD203B41FA5}">
                      <a16:colId xmlns:a16="http://schemas.microsoft.com/office/drawing/2014/main" val="2387572838"/>
                    </a:ext>
                  </a:extLst>
                </a:gridCol>
                <a:gridCol w="2032000">
                  <a:extLst>
                    <a:ext uri="{9D8B030D-6E8A-4147-A177-3AD203B41FA5}">
                      <a16:colId xmlns:a16="http://schemas.microsoft.com/office/drawing/2014/main" val="1586270383"/>
                    </a:ext>
                  </a:extLst>
                </a:gridCol>
                <a:gridCol w="2032000">
                  <a:extLst>
                    <a:ext uri="{9D8B030D-6E8A-4147-A177-3AD203B41FA5}">
                      <a16:colId xmlns:a16="http://schemas.microsoft.com/office/drawing/2014/main" val="2860698828"/>
                    </a:ext>
                  </a:extLst>
                </a:gridCol>
              </a:tblGrid>
              <a:tr h="370840">
                <a:tc>
                  <a:txBody>
                    <a:bodyPr/>
                    <a:lstStyle/>
                    <a:p>
                      <a:r>
                        <a:rPr lang="en-US" dirty="0"/>
                        <a:t>Red</a:t>
                      </a:r>
                    </a:p>
                  </a:txBody>
                  <a:tcPr/>
                </a:tc>
                <a:tc>
                  <a:txBody>
                    <a:bodyPr/>
                    <a:lstStyle/>
                    <a:p>
                      <a:r>
                        <a:rPr lang="en-US" dirty="0"/>
                        <a:t>Yellow</a:t>
                      </a:r>
                    </a:p>
                  </a:txBody>
                  <a:tcPr/>
                </a:tc>
                <a:tc>
                  <a:txBody>
                    <a:bodyPr/>
                    <a:lstStyle/>
                    <a:p>
                      <a:r>
                        <a:rPr lang="en-US" dirty="0"/>
                        <a:t>Blue </a:t>
                      </a:r>
                    </a:p>
                  </a:txBody>
                  <a:tcPr/>
                </a:tc>
                <a:tc>
                  <a:txBody>
                    <a:bodyPr/>
                    <a:lstStyle/>
                    <a:p>
                      <a:r>
                        <a:rPr lang="en-US" dirty="0"/>
                        <a:t>Total</a:t>
                      </a:r>
                    </a:p>
                  </a:txBody>
                  <a:tcPr/>
                </a:tc>
                <a:extLst>
                  <a:ext uri="{0D108BD9-81ED-4DB2-BD59-A6C34878D82A}">
                    <a16:rowId xmlns:a16="http://schemas.microsoft.com/office/drawing/2014/main" val="2360310624"/>
                  </a:ext>
                </a:extLst>
              </a:tr>
              <a:tr h="505388">
                <a:tc>
                  <a:txBody>
                    <a:bodyPr/>
                    <a:lstStyle/>
                    <a:p>
                      <a:r>
                        <a:rPr lang="en-US" dirty="0"/>
                        <a:t>8</a:t>
                      </a:r>
                    </a:p>
                  </a:txBody>
                  <a:tcPr/>
                </a:tc>
                <a:tc>
                  <a:txBody>
                    <a:bodyPr/>
                    <a:lstStyle/>
                    <a:p>
                      <a:r>
                        <a:rPr lang="en-US" dirty="0"/>
                        <a:t>6</a:t>
                      </a:r>
                    </a:p>
                  </a:txBody>
                  <a:tcPr/>
                </a:tc>
                <a:tc>
                  <a:txBody>
                    <a:bodyPr/>
                    <a:lstStyle/>
                    <a:p>
                      <a:r>
                        <a:rPr lang="en-US" dirty="0"/>
                        <a:t>1</a:t>
                      </a:r>
                    </a:p>
                  </a:txBody>
                  <a:tcPr/>
                </a:tc>
                <a:tc>
                  <a:txBody>
                    <a:bodyPr/>
                    <a:lstStyle/>
                    <a:p>
                      <a:r>
                        <a:rPr lang="en-US" dirty="0"/>
                        <a:t>15</a:t>
                      </a:r>
                    </a:p>
                  </a:txBody>
                  <a:tcPr/>
                </a:tc>
                <a:extLst>
                  <a:ext uri="{0D108BD9-81ED-4DB2-BD59-A6C34878D82A}">
                    <a16:rowId xmlns:a16="http://schemas.microsoft.com/office/drawing/2014/main" val="1046822136"/>
                  </a:ext>
                </a:extLst>
              </a:tr>
            </a:tbl>
          </a:graphicData>
        </a:graphic>
      </p:graphicFrame>
      <p:sp>
        <p:nvSpPr>
          <p:cNvPr id="8" name="TextBox 7">
            <a:extLst>
              <a:ext uri="{FF2B5EF4-FFF2-40B4-BE49-F238E27FC236}">
                <a16:creationId xmlns:a16="http://schemas.microsoft.com/office/drawing/2014/main" id="{F5132A20-1FEF-6E40-9318-F16D350F0A1A}"/>
              </a:ext>
            </a:extLst>
          </p:cNvPr>
          <p:cNvSpPr txBox="1"/>
          <p:nvPr/>
        </p:nvSpPr>
        <p:spPr>
          <a:xfrm>
            <a:off x="3551525" y="3484054"/>
            <a:ext cx="3541486" cy="400110"/>
          </a:xfrm>
          <a:prstGeom prst="rect">
            <a:avLst/>
          </a:prstGeom>
          <a:noFill/>
        </p:spPr>
        <p:txBody>
          <a:bodyPr wrap="square" rtlCol="0">
            <a:spAutoFit/>
          </a:bodyPr>
          <a:lstStyle/>
          <a:p>
            <a:r>
              <a:rPr lang="en-US" sz="2000" dirty="0" err="1">
                <a:solidFill>
                  <a:srgbClr val="C00000"/>
                </a:solidFill>
              </a:rPr>
              <a:t>Red:Yellow:Blue</a:t>
            </a:r>
            <a:r>
              <a:rPr lang="en-US" sz="2000" dirty="0">
                <a:solidFill>
                  <a:srgbClr val="C00000"/>
                </a:solidFill>
              </a:rPr>
              <a:t> Ratio of  8:6:1</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CF0FC43-DC9B-5740-9F10-C92989BBC642}"/>
                  </a:ext>
                </a:extLst>
              </p:cNvPr>
              <p:cNvSpPr txBox="1"/>
              <p:nvPr/>
            </p:nvSpPr>
            <p:spPr>
              <a:xfrm>
                <a:off x="7666915" y="2901327"/>
                <a:ext cx="4312707" cy="400110"/>
              </a:xfrm>
              <a:prstGeom prst="rect">
                <a:avLst/>
              </a:prstGeom>
              <a:noFill/>
            </p:spPr>
            <p:txBody>
              <a:bodyPr wrap="square" rtlCol="0">
                <a:spAutoFit/>
              </a:bodyPr>
              <a:lstStyle/>
              <a:p>
                <a:r>
                  <a:rPr lang="en-US" sz="2000" dirty="0">
                    <a:solidFill>
                      <a:srgbClr val="C00000"/>
                    </a:solidFill>
                  </a:rPr>
                  <a:t>Total number of items (</a:t>
                </a:r>
                <a14:m>
                  <m:oMath xmlns:m="http://schemas.openxmlformats.org/officeDocument/2006/math">
                    <m:r>
                      <a:rPr lang="en-AU" sz="2000" i="1">
                        <a:solidFill>
                          <a:srgbClr val="C00000"/>
                        </a:solidFill>
                        <a:latin typeface="Cambria Math" panose="02040503050406030204" pitchFamily="18" charset="0"/>
                      </a:rPr>
                      <m:t>8</m:t>
                    </m:r>
                    <m:r>
                      <a:rPr lang="en-AU" sz="2000" b="0" i="1" smtClean="0">
                        <a:solidFill>
                          <a:srgbClr val="C00000"/>
                        </a:solidFill>
                        <a:latin typeface="Cambria Math" panose="02040503050406030204" pitchFamily="18" charset="0"/>
                      </a:rPr>
                      <m:t>+6+1=15</m:t>
                    </m:r>
                  </m:oMath>
                </a14:m>
                <a:r>
                  <a:rPr lang="en-US" sz="2000" dirty="0">
                    <a:solidFill>
                      <a:srgbClr val="C00000"/>
                    </a:solidFill>
                  </a:rPr>
                  <a:t>)</a:t>
                </a:r>
              </a:p>
            </p:txBody>
          </p:sp>
        </mc:Choice>
        <mc:Fallback>
          <p:sp>
            <p:nvSpPr>
              <p:cNvPr id="18" name="TextBox 17">
                <a:extLst>
                  <a:ext uri="{FF2B5EF4-FFF2-40B4-BE49-F238E27FC236}">
                    <a16:creationId xmlns:a16="http://schemas.microsoft.com/office/drawing/2014/main" id="{ACF0FC43-DC9B-5740-9F10-C92989BBC642}"/>
                  </a:ext>
                </a:extLst>
              </p:cNvPr>
              <p:cNvSpPr txBox="1">
                <a:spLocks noRot="1" noChangeAspect="1" noMove="1" noResize="1" noEditPoints="1" noAdjustHandles="1" noChangeArrowheads="1" noChangeShapeType="1" noTextEdit="1"/>
              </p:cNvSpPr>
              <p:nvPr/>
            </p:nvSpPr>
            <p:spPr>
              <a:xfrm>
                <a:off x="7666915" y="2901327"/>
                <a:ext cx="4312707" cy="400110"/>
              </a:xfrm>
              <a:prstGeom prst="rect">
                <a:avLst/>
              </a:prstGeom>
              <a:blipFill>
                <a:blip r:embed="rId3"/>
                <a:stretch>
                  <a:fillRect l="-1466" t="-9091" b="-24242"/>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7E0DAC8B-8B12-F24E-9C39-4D12B1EA302B}"/>
              </a:ext>
            </a:extLst>
          </p:cNvPr>
          <p:cNvSpPr/>
          <p:nvPr/>
        </p:nvSpPr>
        <p:spPr>
          <a:xfrm rot="5400000">
            <a:off x="5174794" y="1908557"/>
            <a:ext cx="369331" cy="4554826"/>
          </a:xfrm>
          <a:prstGeom prst="leftBrace">
            <a:avLst/>
          </a:prstGeom>
          <a:noFill/>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Down Arrow 10">
            <a:extLst>
              <a:ext uri="{FF2B5EF4-FFF2-40B4-BE49-F238E27FC236}">
                <a16:creationId xmlns:a16="http://schemas.microsoft.com/office/drawing/2014/main" id="{76DE979F-CC2D-5340-A474-171DDE486E28}"/>
              </a:ext>
            </a:extLst>
          </p:cNvPr>
          <p:cNvSpPr/>
          <p:nvPr/>
        </p:nvSpPr>
        <p:spPr>
          <a:xfrm>
            <a:off x="9564914" y="3541899"/>
            <a:ext cx="537029" cy="828737"/>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096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6581-180C-41F0-AE43-7C289DAE1165}"/>
              </a:ext>
            </a:extLst>
          </p:cNvPr>
          <p:cNvSpPr>
            <a:spLocks noGrp="1"/>
          </p:cNvSpPr>
          <p:nvPr>
            <p:ph type="title"/>
          </p:nvPr>
        </p:nvSpPr>
        <p:spPr/>
        <p:txBody>
          <a:bodyPr/>
          <a:lstStyle/>
          <a:p>
            <a:r>
              <a:rPr lang="en-US" dirty="0"/>
              <a:t>Think pair share</a:t>
            </a:r>
            <a:endParaRPr lang="en-AU" dirty="0"/>
          </a:p>
        </p:txBody>
      </p:sp>
      <p:sp>
        <p:nvSpPr>
          <p:cNvPr id="3" name="Content Placeholder 2">
            <a:extLst>
              <a:ext uri="{FF2B5EF4-FFF2-40B4-BE49-F238E27FC236}">
                <a16:creationId xmlns:a16="http://schemas.microsoft.com/office/drawing/2014/main" id="{F99C07D8-0A1C-4536-A9E9-C4AA7E8CCB38}"/>
              </a:ext>
            </a:extLst>
          </p:cNvPr>
          <p:cNvSpPr>
            <a:spLocks noGrp="1"/>
          </p:cNvSpPr>
          <p:nvPr>
            <p:ph idx="1"/>
          </p:nvPr>
        </p:nvSpPr>
        <p:spPr>
          <a:xfrm>
            <a:off x="1024127" y="1692946"/>
            <a:ext cx="9720073" cy="571282"/>
          </a:xfrm>
        </p:spPr>
        <p:txBody>
          <a:bodyPr>
            <a:noAutofit/>
          </a:bodyPr>
          <a:lstStyle/>
          <a:p>
            <a:pPr marL="0" indent="0">
              <a:buNone/>
            </a:pPr>
            <a:r>
              <a:rPr lang="en-AU" sz="2400" dirty="0"/>
              <a:t>Discuss similarities and differences between the question given and the table. </a:t>
            </a:r>
          </a:p>
        </p:txBody>
      </p:sp>
      <p:sp>
        <p:nvSpPr>
          <p:cNvPr id="4" name="TextBox 3">
            <a:extLst>
              <a:ext uri="{FF2B5EF4-FFF2-40B4-BE49-F238E27FC236}">
                <a16:creationId xmlns:a16="http://schemas.microsoft.com/office/drawing/2014/main" id="{7EB39D12-2CD4-E24C-9129-D431D02DE537}"/>
              </a:ext>
            </a:extLst>
          </p:cNvPr>
          <p:cNvSpPr txBox="1"/>
          <p:nvPr/>
        </p:nvSpPr>
        <p:spPr>
          <a:xfrm>
            <a:off x="1024127" y="2728686"/>
            <a:ext cx="10021244" cy="1200329"/>
          </a:xfrm>
          <a:prstGeom prst="rect">
            <a:avLst/>
          </a:prstGeom>
          <a:noFill/>
        </p:spPr>
        <p:txBody>
          <a:bodyPr wrap="square" rtlCol="0">
            <a:spAutoFit/>
          </a:bodyPr>
          <a:lstStyle/>
          <a:p>
            <a:r>
              <a:rPr lang="en-AU" sz="2400" dirty="0"/>
              <a:t>Q: In a cricket match, three batsmen A, B and C together scored 210 runs in one innings. If the runs scored by them be in the ratio 6 : 7 : 8 respectively then find the runs scored by B.</a:t>
            </a:r>
            <a:endParaRPr lang="en-US" sz="2400" dirty="0"/>
          </a:p>
        </p:txBody>
      </p:sp>
      <p:graphicFrame>
        <p:nvGraphicFramePr>
          <p:cNvPr id="5" name="Table 6">
            <a:extLst>
              <a:ext uri="{FF2B5EF4-FFF2-40B4-BE49-F238E27FC236}">
                <a16:creationId xmlns:a16="http://schemas.microsoft.com/office/drawing/2014/main" id="{8D6DFBFF-B2B1-F149-BDB8-59FBB3A8FA72}"/>
              </a:ext>
            </a:extLst>
          </p:cNvPr>
          <p:cNvGraphicFramePr>
            <a:graphicFrameLocks noGrp="1"/>
          </p:cNvGraphicFramePr>
          <p:nvPr>
            <p:extLst>
              <p:ext uri="{D42A27DB-BD31-4B8C-83A1-F6EECF244321}">
                <p14:modId xmlns:p14="http://schemas.microsoft.com/office/powerpoint/2010/main" val="3100360053"/>
              </p:ext>
            </p:extLst>
          </p:nvPr>
        </p:nvGraphicFramePr>
        <p:xfrm>
          <a:off x="1190171" y="4217609"/>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53727253"/>
                    </a:ext>
                  </a:extLst>
                </a:gridCol>
                <a:gridCol w="2032000">
                  <a:extLst>
                    <a:ext uri="{9D8B030D-6E8A-4147-A177-3AD203B41FA5}">
                      <a16:colId xmlns:a16="http://schemas.microsoft.com/office/drawing/2014/main" val="420607990"/>
                    </a:ext>
                  </a:extLst>
                </a:gridCol>
                <a:gridCol w="2032000">
                  <a:extLst>
                    <a:ext uri="{9D8B030D-6E8A-4147-A177-3AD203B41FA5}">
                      <a16:colId xmlns:a16="http://schemas.microsoft.com/office/drawing/2014/main" val="2699108373"/>
                    </a:ext>
                  </a:extLst>
                </a:gridCol>
                <a:gridCol w="2032000">
                  <a:extLst>
                    <a:ext uri="{9D8B030D-6E8A-4147-A177-3AD203B41FA5}">
                      <a16:colId xmlns:a16="http://schemas.microsoft.com/office/drawing/2014/main" val="398766348"/>
                    </a:ext>
                  </a:extLst>
                </a:gridCol>
              </a:tblGrid>
              <a:tr h="370840">
                <a:tc>
                  <a:txBody>
                    <a:bodyPr/>
                    <a:lstStyle/>
                    <a:p>
                      <a:r>
                        <a:rPr lang="en-US" dirty="0"/>
                        <a:t>A</a:t>
                      </a:r>
                    </a:p>
                  </a:txBody>
                  <a:tcPr/>
                </a:tc>
                <a:tc>
                  <a:txBody>
                    <a:bodyPr/>
                    <a:lstStyle/>
                    <a:p>
                      <a:r>
                        <a:rPr lang="en-US" dirty="0"/>
                        <a:t>B</a:t>
                      </a:r>
                    </a:p>
                  </a:txBody>
                  <a:tcPr/>
                </a:tc>
                <a:tc>
                  <a:txBody>
                    <a:bodyPr/>
                    <a:lstStyle/>
                    <a:p>
                      <a:r>
                        <a:rPr lang="en-US" dirty="0"/>
                        <a:t>C</a:t>
                      </a:r>
                    </a:p>
                  </a:txBody>
                  <a:tcPr/>
                </a:tc>
                <a:tc>
                  <a:txBody>
                    <a:bodyPr/>
                    <a:lstStyle/>
                    <a:p>
                      <a:r>
                        <a:rPr lang="en-US" dirty="0"/>
                        <a:t>Total</a:t>
                      </a:r>
                    </a:p>
                  </a:txBody>
                  <a:tcPr/>
                </a:tc>
                <a:extLst>
                  <a:ext uri="{0D108BD9-81ED-4DB2-BD59-A6C34878D82A}">
                    <a16:rowId xmlns:a16="http://schemas.microsoft.com/office/drawing/2014/main" val="3193534856"/>
                  </a:ext>
                </a:extLst>
              </a:tr>
              <a:tr h="370840">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endParaRPr lang="en-US"/>
                    </a:p>
                  </a:txBody>
                  <a:tcPr/>
                </a:tc>
                <a:extLst>
                  <a:ext uri="{0D108BD9-81ED-4DB2-BD59-A6C34878D82A}">
                    <a16:rowId xmlns:a16="http://schemas.microsoft.com/office/drawing/2014/main" val="402987787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r>
                        <a:rPr lang="en-US" dirty="0"/>
                        <a:t>210</a:t>
                      </a:r>
                    </a:p>
                  </a:txBody>
                  <a:tcPr/>
                </a:tc>
                <a:extLst>
                  <a:ext uri="{0D108BD9-81ED-4DB2-BD59-A6C34878D82A}">
                    <a16:rowId xmlns:a16="http://schemas.microsoft.com/office/drawing/2014/main" val="302687243"/>
                  </a:ext>
                </a:extLst>
              </a:tr>
            </a:tbl>
          </a:graphicData>
        </a:graphic>
      </p:graphicFrame>
    </p:spTree>
    <p:extLst>
      <p:ext uri="{BB962C8B-B14F-4D97-AF65-F5344CB8AC3E}">
        <p14:creationId xmlns:p14="http://schemas.microsoft.com/office/powerpoint/2010/main" val="2294771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flipH="1">
            <a:off x="2368731" y="1224621"/>
            <a:ext cx="13728" cy="5742236"/>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2013693"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Ratios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AU" sz="2400" dirty="0"/>
              <a:t>How do I divide quantities into ratios?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36979" y="6271903"/>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4" name="TextBox 3"/>
          <p:cNvSpPr txBox="1"/>
          <p:nvPr/>
        </p:nvSpPr>
        <p:spPr>
          <a:xfrm flipH="1">
            <a:off x="234895" y="1525256"/>
            <a:ext cx="2049058" cy="2123658"/>
          </a:xfrm>
          <a:prstGeom prst="rect">
            <a:avLst/>
          </a:prstGeom>
          <a:noFill/>
        </p:spPr>
        <p:txBody>
          <a:bodyPr wrap="square" rtlCol="0">
            <a:spAutoFit/>
          </a:bodyPr>
          <a:lstStyle/>
          <a:p>
            <a:r>
              <a:rPr lang="en-AU" sz="2800" dirty="0"/>
              <a:t>How to use a relationship table to solve ratios?</a:t>
            </a:r>
          </a:p>
          <a:p>
            <a:endParaRPr lang="en-AU" sz="2000" dirty="0"/>
          </a:p>
        </p:txBody>
      </p:sp>
      <p:graphicFrame>
        <p:nvGraphicFramePr>
          <p:cNvPr id="6" name="Table 6">
            <a:extLst>
              <a:ext uri="{FF2B5EF4-FFF2-40B4-BE49-F238E27FC236}">
                <a16:creationId xmlns:a16="http://schemas.microsoft.com/office/drawing/2014/main" id="{A8AD0C80-0F5F-B84C-9B73-8BAD0D945AFB}"/>
              </a:ext>
            </a:extLst>
          </p:cNvPr>
          <p:cNvGraphicFramePr>
            <a:graphicFrameLocks noGrp="1"/>
          </p:cNvGraphicFramePr>
          <p:nvPr>
            <p:extLst>
              <p:ext uri="{D42A27DB-BD31-4B8C-83A1-F6EECF244321}">
                <p14:modId xmlns:p14="http://schemas.microsoft.com/office/powerpoint/2010/main" val="1660003747"/>
              </p:ext>
            </p:extLst>
          </p:nvPr>
        </p:nvGraphicFramePr>
        <p:xfrm>
          <a:off x="2620978" y="2587085"/>
          <a:ext cx="8128000" cy="1107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3856764"/>
                    </a:ext>
                  </a:extLst>
                </a:gridCol>
                <a:gridCol w="2032000">
                  <a:extLst>
                    <a:ext uri="{9D8B030D-6E8A-4147-A177-3AD203B41FA5}">
                      <a16:colId xmlns:a16="http://schemas.microsoft.com/office/drawing/2014/main" val="2387572838"/>
                    </a:ext>
                  </a:extLst>
                </a:gridCol>
                <a:gridCol w="2032000">
                  <a:extLst>
                    <a:ext uri="{9D8B030D-6E8A-4147-A177-3AD203B41FA5}">
                      <a16:colId xmlns:a16="http://schemas.microsoft.com/office/drawing/2014/main" val="1586270383"/>
                    </a:ext>
                  </a:extLst>
                </a:gridCol>
                <a:gridCol w="2032000">
                  <a:extLst>
                    <a:ext uri="{9D8B030D-6E8A-4147-A177-3AD203B41FA5}">
                      <a16:colId xmlns:a16="http://schemas.microsoft.com/office/drawing/2014/main" val="2860698828"/>
                    </a:ext>
                  </a:extLst>
                </a:gridCol>
              </a:tblGrid>
              <a:tr h="195496">
                <a:tc>
                  <a:txBody>
                    <a:bodyPr/>
                    <a:lstStyle/>
                    <a:p>
                      <a:r>
                        <a:rPr lang="en-US" dirty="0"/>
                        <a:t>Red</a:t>
                      </a:r>
                    </a:p>
                  </a:txBody>
                  <a:tcPr/>
                </a:tc>
                <a:tc>
                  <a:txBody>
                    <a:bodyPr/>
                    <a:lstStyle/>
                    <a:p>
                      <a:r>
                        <a:rPr lang="en-US" dirty="0"/>
                        <a:t>Yellow</a:t>
                      </a:r>
                    </a:p>
                  </a:txBody>
                  <a:tcPr/>
                </a:tc>
                <a:tc>
                  <a:txBody>
                    <a:bodyPr/>
                    <a:lstStyle/>
                    <a:p>
                      <a:r>
                        <a:rPr lang="en-US" dirty="0"/>
                        <a:t>Blue </a:t>
                      </a:r>
                    </a:p>
                  </a:txBody>
                  <a:tcPr/>
                </a:tc>
                <a:tc>
                  <a:txBody>
                    <a:bodyPr/>
                    <a:lstStyle/>
                    <a:p>
                      <a:r>
                        <a:rPr lang="en-US" dirty="0"/>
                        <a:t>Total</a:t>
                      </a:r>
                    </a:p>
                  </a:txBody>
                  <a:tcPr/>
                </a:tc>
                <a:extLst>
                  <a:ext uri="{0D108BD9-81ED-4DB2-BD59-A6C34878D82A}">
                    <a16:rowId xmlns:a16="http://schemas.microsoft.com/office/drawing/2014/main" val="2360310624"/>
                  </a:ext>
                </a:extLst>
              </a:tr>
              <a:tr h="370840">
                <a:tc>
                  <a:txBody>
                    <a:bodyPr/>
                    <a:lstStyle/>
                    <a:p>
                      <a:r>
                        <a:rPr lang="en-US" dirty="0"/>
                        <a:t>4</a:t>
                      </a:r>
                    </a:p>
                  </a:txBody>
                  <a:tcPr/>
                </a:tc>
                <a:tc>
                  <a:txBody>
                    <a:bodyPr/>
                    <a:lstStyle/>
                    <a:p>
                      <a:r>
                        <a:rPr lang="en-US" dirty="0"/>
                        <a:t>3</a:t>
                      </a:r>
                    </a:p>
                  </a:txBody>
                  <a:tcPr/>
                </a:tc>
                <a:tc>
                  <a:txBody>
                    <a:bodyPr/>
                    <a:lstStyle/>
                    <a:p>
                      <a:r>
                        <a:rPr lang="en-US" dirty="0"/>
                        <a:t>2</a:t>
                      </a:r>
                    </a:p>
                  </a:txBody>
                  <a:tcPr/>
                </a:tc>
                <a:tc>
                  <a:txBody>
                    <a:bodyPr/>
                    <a:lstStyle/>
                    <a:p>
                      <a:endParaRPr lang="en-US" dirty="0"/>
                    </a:p>
                  </a:txBody>
                  <a:tcPr/>
                </a:tc>
                <a:extLst>
                  <a:ext uri="{0D108BD9-81ED-4DB2-BD59-A6C34878D82A}">
                    <a16:rowId xmlns:a16="http://schemas.microsoft.com/office/drawing/2014/main" val="104682213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r>
                        <a:rPr lang="en-US" dirty="0"/>
                        <a:t>36</a:t>
                      </a:r>
                    </a:p>
                  </a:txBody>
                  <a:tcPr/>
                </a:tc>
                <a:extLst>
                  <a:ext uri="{0D108BD9-81ED-4DB2-BD59-A6C34878D82A}">
                    <a16:rowId xmlns:a16="http://schemas.microsoft.com/office/drawing/2014/main" val="2574598718"/>
                  </a:ext>
                </a:extLst>
              </a:tr>
            </a:tbl>
          </a:graphicData>
        </a:graphic>
      </p:graphicFrame>
      <p:sp>
        <p:nvSpPr>
          <p:cNvPr id="7" name="TextBox 6">
            <a:extLst>
              <a:ext uri="{FF2B5EF4-FFF2-40B4-BE49-F238E27FC236}">
                <a16:creationId xmlns:a16="http://schemas.microsoft.com/office/drawing/2014/main" id="{4F454CD1-5BBC-4B4C-8C32-D29E9986710F}"/>
              </a:ext>
            </a:extLst>
          </p:cNvPr>
          <p:cNvSpPr txBox="1"/>
          <p:nvPr/>
        </p:nvSpPr>
        <p:spPr>
          <a:xfrm>
            <a:off x="2620978" y="1476077"/>
            <a:ext cx="8512460" cy="830997"/>
          </a:xfrm>
          <a:prstGeom prst="rect">
            <a:avLst/>
          </a:prstGeom>
          <a:noFill/>
        </p:spPr>
        <p:txBody>
          <a:bodyPr wrap="square" rtlCol="0">
            <a:spAutoFit/>
          </a:bodyPr>
          <a:lstStyle/>
          <a:p>
            <a:r>
              <a:rPr lang="en-US" sz="2400" dirty="0"/>
              <a:t>Q: A bag of lollies has a ratio of </a:t>
            </a:r>
            <a:r>
              <a:rPr lang="en-US" sz="2400" dirty="0" err="1"/>
              <a:t>red:yellow:blue</a:t>
            </a:r>
            <a:r>
              <a:rPr lang="en-US" sz="2400" dirty="0"/>
              <a:t> of 4:3:2. If there was 36 lollies altogether how many would there be of each </a:t>
            </a:r>
            <a:r>
              <a:rPr lang="en-US" sz="2400" dirty="0" err="1"/>
              <a:t>colour</a:t>
            </a:r>
            <a:r>
              <a:rPr lang="en-US" sz="2400" dirty="0"/>
              <a:t>? </a:t>
            </a:r>
          </a:p>
        </p:txBody>
      </p:sp>
      <p:sp>
        <p:nvSpPr>
          <p:cNvPr id="8" name="TextBox 7">
            <a:extLst>
              <a:ext uri="{FF2B5EF4-FFF2-40B4-BE49-F238E27FC236}">
                <a16:creationId xmlns:a16="http://schemas.microsoft.com/office/drawing/2014/main" id="{397FDA7A-404C-DB4D-94E3-303A178BE700}"/>
              </a:ext>
            </a:extLst>
          </p:cNvPr>
          <p:cNvSpPr txBox="1"/>
          <p:nvPr/>
        </p:nvSpPr>
        <p:spPr>
          <a:xfrm>
            <a:off x="2768365" y="4349578"/>
            <a:ext cx="8735776" cy="369332"/>
          </a:xfrm>
          <a:prstGeom prst="rect">
            <a:avLst/>
          </a:prstGeom>
          <a:noFill/>
        </p:spPr>
        <p:txBody>
          <a:bodyPr wrap="square" rtlCol="0">
            <a:spAutoFit/>
          </a:bodyPr>
          <a:lstStyle/>
          <a:p>
            <a:pPr marL="342900" indent="-342900">
              <a:buAutoNum type="arabicPeriod"/>
            </a:pPr>
            <a:r>
              <a:rPr lang="en-US" dirty="0"/>
              <a:t>Add up the numbers in the original ratio, what is the total? </a:t>
            </a:r>
          </a:p>
        </p:txBody>
      </p:sp>
      <p:sp>
        <p:nvSpPr>
          <p:cNvPr id="9" name="TextBox 8">
            <a:extLst>
              <a:ext uri="{FF2B5EF4-FFF2-40B4-BE49-F238E27FC236}">
                <a16:creationId xmlns:a16="http://schemas.microsoft.com/office/drawing/2014/main" id="{CCB2B5A8-7B4E-DC4D-ADAB-2E06698418CE}"/>
              </a:ext>
            </a:extLst>
          </p:cNvPr>
          <p:cNvSpPr txBox="1"/>
          <p:nvPr/>
        </p:nvSpPr>
        <p:spPr>
          <a:xfrm>
            <a:off x="8781143" y="2962127"/>
            <a:ext cx="441175" cy="369332"/>
          </a:xfrm>
          <a:prstGeom prst="rect">
            <a:avLst/>
          </a:prstGeom>
          <a:noFill/>
        </p:spPr>
        <p:txBody>
          <a:bodyPr wrap="square" rtlCol="0">
            <a:spAutoFit/>
          </a:bodyPr>
          <a:lstStyle/>
          <a:p>
            <a:r>
              <a:rPr lang="en-US" dirty="0"/>
              <a:t>9</a:t>
            </a:r>
          </a:p>
        </p:txBody>
      </p:sp>
      <p:sp>
        <p:nvSpPr>
          <p:cNvPr id="10" name="TextBox 9">
            <a:extLst>
              <a:ext uri="{FF2B5EF4-FFF2-40B4-BE49-F238E27FC236}">
                <a16:creationId xmlns:a16="http://schemas.microsoft.com/office/drawing/2014/main" id="{D947EBE2-73CC-5D47-8921-3986B65C2F8D}"/>
              </a:ext>
            </a:extLst>
          </p:cNvPr>
          <p:cNvSpPr txBox="1"/>
          <p:nvPr/>
        </p:nvSpPr>
        <p:spPr>
          <a:xfrm>
            <a:off x="2768365" y="4718910"/>
            <a:ext cx="6012778" cy="369332"/>
          </a:xfrm>
          <a:prstGeom prst="rect">
            <a:avLst/>
          </a:prstGeom>
          <a:noFill/>
        </p:spPr>
        <p:txBody>
          <a:bodyPr wrap="square" rtlCol="0">
            <a:spAutoFit/>
          </a:bodyPr>
          <a:lstStyle/>
          <a:p>
            <a:r>
              <a:rPr lang="en-US" dirty="0"/>
              <a:t>2. How is that number related to 36?  </a:t>
            </a:r>
          </a:p>
        </p:txBody>
      </p:sp>
      <p:sp>
        <p:nvSpPr>
          <p:cNvPr id="11" name="Curved Left Arrow 10">
            <a:extLst>
              <a:ext uri="{FF2B5EF4-FFF2-40B4-BE49-F238E27FC236}">
                <a16:creationId xmlns:a16="http://schemas.microsoft.com/office/drawing/2014/main" id="{38D843B8-4B7A-BC49-B16E-1AC2BE32DD2B}"/>
              </a:ext>
            </a:extLst>
          </p:cNvPr>
          <p:cNvSpPr/>
          <p:nvPr/>
        </p:nvSpPr>
        <p:spPr>
          <a:xfrm>
            <a:off x="10915291" y="3058402"/>
            <a:ext cx="218147" cy="40584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21FBFE0F-2354-6D4B-B4EF-289E2C7D2C1B}"/>
                  </a:ext>
                </a:extLst>
              </p:cNvPr>
              <p:cNvSpPr txBox="1"/>
              <p:nvPr/>
            </p:nvSpPr>
            <p:spPr>
              <a:xfrm>
                <a:off x="11266896" y="2993979"/>
                <a:ext cx="417103"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4</m:t>
                      </m:r>
                    </m:oMath>
                  </m:oMathPara>
                </a14:m>
                <a:endParaRPr lang="en-US" dirty="0"/>
              </a:p>
            </p:txBody>
          </p:sp>
        </mc:Choice>
        <mc:Fallback>
          <p:sp>
            <p:nvSpPr>
              <p:cNvPr id="18" name="TextBox 17">
                <a:extLst>
                  <a:ext uri="{FF2B5EF4-FFF2-40B4-BE49-F238E27FC236}">
                    <a16:creationId xmlns:a16="http://schemas.microsoft.com/office/drawing/2014/main" id="{21FBFE0F-2354-6D4B-B4EF-289E2C7D2C1B}"/>
                  </a:ext>
                </a:extLst>
              </p:cNvPr>
              <p:cNvSpPr txBox="1">
                <a:spLocks noRot="1" noChangeAspect="1" noMove="1" noResize="1" noEditPoints="1" noAdjustHandles="1" noChangeArrowheads="1" noChangeShapeType="1" noTextEdit="1"/>
              </p:cNvSpPr>
              <p:nvPr/>
            </p:nvSpPr>
            <p:spPr>
              <a:xfrm>
                <a:off x="11266896" y="2993979"/>
                <a:ext cx="417103" cy="276999"/>
              </a:xfrm>
              <a:prstGeom prst="rect">
                <a:avLst/>
              </a:prstGeom>
              <a:blipFill>
                <a:blip r:embed="rId3"/>
                <a:stretch>
                  <a:fillRect r="-2941"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DF7EB7BE-905C-4842-A6F9-C1A2AA456F3E}"/>
                  </a:ext>
                </a:extLst>
              </p:cNvPr>
              <p:cNvSpPr txBox="1"/>
              <p:nvPr/>
            </p:nvSpPr>
            <p:spPr>
              <a:xfrm>
                <a:off x="5828763" y="4718910"/>
                <a:ext cx="333828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36 </m:t>
                      </m:r>
                      <m:r>
                        <a:rPr lang="en-AU" b="0" i="1" smtClean="0">
                          <a:latin typeface="Cambria Math" panose="02040503050406030204" pitchFamily="18" charset="0"/>
                          <a:ea typeface="Cambria Math" panose="02040503050406030204" pitchFamily="18" charset="0"/>
                        </a:rPr>
                        <m:t>÷9=4</m:t>
                      </m:r>
                    </m:oMath>
                  </m:oMathPara>
                </a14:m>
                <a:endParaRPr lang="en-US" dirty="0"/>
              </a:p>
            </p:txBody>
          </p:sp>
        </mc:Choice>
        <mc:Fallback>
          <p:sp>
            <p:nvSpPr>
              <p:cNvPr id="19" name="TextBox 18">
                <a:extLst>
                  <a:ext uri="{FF2B5EF4-FFF2-40B4-BE49-F238E27FC236}">
                    <a16:creationId xmlns:a16="http://schemas.microsoft.com/office/drawing/2014/main" id="{DF7EB7BE-905C-4842-A6F9-C1A2AA456F3E}"/>
                  </a:ext>
                </a:extLst>
              </p:cNvPr>
              <p:cNvSpPr txBox="1">
                <a:spLocks noRot="1" noChangeAspect="1" noMove="1" noResize="1" noEditPoints="1" noAdjustHandles="1" noChangeArrowheads="1" noChangeShapeType="1" noTextEdit="1"/>
              </p:cNvSpPr>
              <p:nvPr/>
            </p:nvSpPr>
            <p:spPr>
              <a:xfrm>
                <a:off x="5828763" y="4718910"/>
                <a:ext cx="3338286" cy="369332"/>
              </a:xfrm>
              <a:prstGeom prst="rect">
                <a:avLst/>
              </a:prstGeom>
              <a:blipFill>
                <a:blip r:embed="rId4"/>
                <a:stretch>
                  <a:fillRect b="-16667"/>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7ED53497-0D73-504A-9441-689B4FB5C4B9}"/>
              </a:ext>
            </a:extLst>
          </p:cNvPr>
          <p:cNvSpPr txBox="1"/>
          <p:nvPr/>
        </p:nvSpPr>
        <p:spPr>
          <a:xfrm>
            <a:off x="2768365" y="5088242"/>
            <a:ext cx="6012778" cy="1200329"/>
          </a:xfrm>
          <a:prstGeom prst="rect">
            <a:avLst/>
          </a:prstGeom>
          <a:noFill/>
        </p:spPr>
        <p:txBody>
          <a:bodyPr wrap="square" rtlCol="0">
            <a:spAutoFit/>
          </a:bodyPr>
          <a:lstStyle/>
          <a:p>
            <a:r>
              <a:rPr lang="en-US" dirty="0"/>
              <a:t>3. Use that number to the other numbers in the ratio. </a:t>
            </a:r>
          </a:p>
          <a:p>
            <a:r>
              <a:rPr lang="en-US" dirty="0"/>
              <a:t>	</a:t>
            </a:r>
            <a:r>
              <a:rPr lang="en-US" dirty="0" err="1"/>
              <a:t>e.g</a:t>
            </a:r>
            <a:r>
              <a:rPr lang="en-US" dirty="0"/>
              <a:t> 	4x4= 16</a:t>
            </a:r>
          </a:p>
          <a:p>
            <a:r>
              <a:rPr lang="en-US" dirty="0"/>
              <a:t>		3x4= 12</a:t>
            </a:r>
          </a:p>
          <a:p>
            <a:r>
              <a:rPr lang="en-US" dirty="0"/>
              <a:t>		2x4= 8 </a:t>
            </a:r>
          </a:p>
        </p:txBody>
      </p:sp>
      <p:sp>
        <p:nvSpPr>
          <p:cNvPr id="21" name="TextBox 20">
            <a:extLst>
              <a:ext uri="{FF2B5EF4-FFF2-40B4-BE49-F238E27FC236}">
                <a16:creationId xmlns:a16="http://schemas.microsoft.com/office/drawing/2014/main" id="{01991396-9451-EF45-9E4F-C00149A567B7}"/>
              </a:ext>
            </a:extLst>
          </p:cNvPr>
          <p:cNvSpPr txBox="1"/>
          <p:nvPr/>
        </p:nvSpPr>
        <p:spPr>
          <a:xfrm>
            <a:off x="2644172" y="3352915"/>
            <a:ext cx="537029" cy="369332"/>
          </a:xfrm>
          <a:prstGeom prst="rect">
            <a:avLst/>
          </a:prstGeom>
          <a:noFill/>
        </p:spPr>
        <p:txBody>
          <a:bodyPr wrap="square" rtlCol="0">
            <a:spAutoFit/>
          </a:bodyPr>
          <a:lstStyle/>
          <a:p>
            <a:r>
              <a:rPr lang="en-US" dirty="0"/>
              <a:t>16</a:t>
            </a:r>
          </a:p>
        </p:txBody>
      </p:sp>
      <p:sp>
        <p:nvSpPr>
          <p:cNvPr id="23" name="TextBox 22">
            <a:extLst>
              <a:ext uri="{FF2B5EF4-FFF2-40B4-BE49-F238E27FC236}">
                <a16:creationId xmlns:a16="http://schemas.microsoft.com/office/drawing/2014/main" id="{42184778-B8DB-4A4E-963A-EB74299D411E}"/>
              </a:ext>
            </a:extLst>
          </p:cNvPr>
          <p:cNvSpPr txBox="1"/>
          <p:nvPr/>
        </p:nvSpPr>
        <p:spPr>
          <a:xfrm>
            <a:off x="4652684" y="3333915"/>
            <a:ext cx="614081" cy="369332"/>
          </a:xfrm>
          <a:prstGeom prst="rect">
            <a:avLst/>
          </a:prstGeom>
          <a:noFill/>
        </p:spPr>
        <p:txBody>
          <a:bodyPr wrap="square" rtlCol="0">
            <a:spAutoFit/>
          </a:bodyPr>
          <a:lstStyle/>
          <a:p>
            <a:r>
              <a:rPr lang="en-US" dirty="0"/>
              <a:t>12</a:t>
            </a:r>
          </a:p>
        </p:txBody>
      </p:sp>
      <p:sp>
        <p:nvSpPr>
          <p:cNvPr id="24" name="TextBox 23">
            <a:extLst>
              <a:ext uri="{FF2B5EF4-FFF2-40B4-BE49-F238E27FC236}">
                <a16:creationId xmlns:a16="http://schemas.microsoft.com/office/drawing/2014/main" id="{B0F5B657-78BA-9C42-B99F-0E927E66BD61}"/>
              </a:ext>
            </a:extLst>
          </p:cNvPr>
          <p:cNvSpPr txBox="1"/>
          <p:nvPr/>
        </p:nvSpPr>
        <p:spPr>
          <a:xfrm>
            <a:off x="6738781" y="3352915"/>
            <a:ext cx="449942" cy="369332"/>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376838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8" grpId="0"/>
      <p:bldP spid="19" grpId="0"/>
      <p:bldP spid="20" grpId="0"/>
      <p:bldP spid="21"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A964F4-A7BD-4FD5-8752-9AE32BEDB7B4}"/>
              </a:ext>
            </a:extLst>
          </p:cNvPr>
          <p:cNvSpPr>
            <a:spLocks noGrp="1"/>
          </p:cNvSpPr>
          <p:nvPr>
            <p:ph type="body" idx="1"/>
          </p:nvPr>
        </p:nvSpPr>
        <p:spPr>
          <a:xfrm>
            <a:off x="6095999" y="798286"/>
            <a:ext cx="5341257" cy="1286546"/>
          </a:xfrm>
        </p:spPr>
        <p:txBody>
          <a:bodyPr>
            <a:normAutofit fontScale="92500" lnSpcReduction="20000"/>
          </a:bodyPr>
          <a:lstStyle/>
          <a:p>
            <a:r>
              <a:rPr lang="en-AU" sz="2400" dirty="0"/>
              <a:t>Answer the following questions using the relationship table.</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84F99A95-C2F9-4AAE-BFF3-51AB3B9E251F}"/>
                  </a:ext>
                </a:extLst>
              </p:cNvPr>
              <p:cNvSpPr>
                <a:spLocks noGrp="1"/>
              </p:cNvSpPr>
              <p:nvPr>
                <p:ph sz="half" idx="2"/>
              </p:nvPr>
            </p:nvSpPr>
            <p:spPr>
              <a:xfrm>
                <a:off x="1024128" y="2565658"/>
                <a:ext cx="10413128" cy="3341572"/>
              </a:xfrm>
            </p:spPr>
            <p:txBody>
              <a:bodyPr/>
              <a:lstStyle/>
              <a:p>
                <a:pPr marL="457200" indent="-457200">
                  <a:buFont typeface="+mj-lt"/>
                  <a:buAutoNum type="arabicPeriod"/>
                </a:pPr>
                <a:r>
                  <a:rPr lang="en-AU" dirty="0"/>
                  <a:t>A bag has 30 lollies in the ratio of 2 red to 3 blue. How many were there of each?</a:t>
                </a:r>
              </a:p>
              <a:p>
                <a:pPr marL="457200" indent="-457200">
                  <a:buFont typeface="+mj-lt"/>
                  <a:buAutoNum type="arabicPeriod"/>
                </a:pPr>
                <a:endParaRPr lang="en-AU" dirty="0"/>
              </a:p>
              <a:p>
                <a:pPr marL="457200" indent="-457200">
                  <a:buFont typeface="+mj-lt"/>
                  <a:buAutoNum type="arabicPeriod"/>
                </a:pPr>
                <a:r>
                  <a:rPr lang="en-AU" dirty="0"/>
                  <a:t>The ratio of </a:t>
                </a:r>
                <a:r>
                  <a:rPr lang="en-AU" dirty="0" err="1"/>
                  <a:t>Red:Blue</a:t>
                </a:r>
                <a:r>
                  <a:rPr lang="en-AU" dirty="0"/>
                  <a:t> of </a:t>
                </a:r>
                <a14:m>
                  <m:oMath xmlns:m="http://schemas.openxmlformats.org/officeDocument/2006/math">
                    <m:r>
                      <a:rPr lang="en-AU" i="1" dirty="0" smtClean="0">
                        <a:latin typeface="Cambria Math" panose="02040503050406030204" pitchFamily="18" charset="0"/>
                      </a:rPr>
                      <m:t>2:1</m:t>
                    </m:r>
                  </m:oMath>
                </a14:m>
                <a:r>
                  <a:rPr lang="en-AU" dirty="0"/>
                  <a:t>. How many were there of each? </a:t>
                </a:r>
              </a:p>
              <a:p>
                <a:pPr marL="457200" indent="-457200">
                  <a:buFont typeface="+mj-lt"/>
                  <a:buAutoNum type="arabicPeriod"/>
                </a:pPr>
                <a:endParaRPr lang="en-AU" dirty="0"/>
              </a:p>
              <a:p>
                <a:pPr marL="457200" indent="-457200">
                  <a:buFont typeface="+mj-lt"/>
                  <a:buAutoNum type="arabicPeriod"/>
                </a:pPr>
                <a:r>
                  <a:rPr lang="en-AU" dirty="0"/>
                  <a:t>How well did the method work? </a:t>
                </a:r>
              </a:p>
              <a:p>
                <a:pPr marL="457200" indent="-457200">
                  <a:buFont typeface="+mj-lt"/>
                  <a:buAutoNum type="arabicPeriod"/>
                </a:pPr>
                <a:endParaRPr lang="en-AU" dirty="0"/>
              </a:p>
              <a:p>
                <a:pPr marL="457200" indent="-457200">
                  <a:buFont typeface="+mj-lt"/>
                  <a:buAutoNum type="arabicPeriod"/>
                </a:pPr>
                <a:endParaRPr lang="en-AU" dirty="0"/>
              </a:p>
            </p:txBody>
          </p:sp>
        </mc:Choice>
        <mc:Fallback>
          <p:sp>
            <p:nvSpPr>
              <p:cNvPr id="4" name="Content Placeholder 3">
                <a:extLst>
                  <a:ext uri="{FF2B5EF4-FFF2-40B4-BE49-F238E27FC236}">
                    <a16:creationId xmlns:a16="http://schemas.microsoft.com/office/drawing/2014/main" id="{84F99A95-C2F9-4AAE-BFF3-51AB3B9E251F}"/>
                  </a:ext>
                </a:extLst>
              </p:cNvPr>
              <p:cNvSpPr>
                <a:spLocks noGrp="1" noRot="1" noChangeAspect="1" noMove="1" noResize="1" noEditPoints="1" noAdjustHandles="1" noChangeArrowheads="1" noChangeShapeType="1" noTextEdit="1"/>
              </p:cNvSpPr>
              <p:nvPr>
                <p:ph sz="half" idx="2"/>
              </p:nvPr>
            </p:nvSpPr>
            <p:spPr>
              <a:xfrm>
                <a:off x="1024128" y="2565658"/>
                <a:ext cx="10413128" cy="3341572"/>
              </a:xfrm>
              <a:blipFill>
                <a:blip r:embed="rId2"/>
                <a:stretch>
                  <a:fillRect l="-974" t="-2652"/>
                </a:stretch>
              </a:blipFill>
            </p:spPr>
            <p:txBody>
              <a:bodyPr/>
              <a:lstStyle/>
              <a:p>
                <a:r>
                  <a:rPr lang="en-US">
                    <a:noFill/>
                  </a:rPr>
                  <a:t> </a:t>
                </a:r>
              </a:p>
            </p:txBody>
          </p:sp>
        </mc:Fallback>
      </mc:AlternateContent>
      <p:sp>
        <p:nvSpPr>
          <p:cNvPr id="8" name="Title 7">
            <a:extLst>
              <a:ext uri="{FF2B5EF4-FFF2-40B4-BE49-F238E27FC236}">
                <a16:creationId xmlns:a16="http://schemas.microsoft.com/office/drawing/2014/main" id="{87DB38C8-B727-431C-867B-7BCE9F9EB82E}"/>
              </a:ext>
            </a:extLst>
          </p:cNvPr>
          <p:cNvSpPr>
            <a:spLocks noGrp="1"/>
          </p:cNvSpPr>
          <p:nvPr>
            <p:ph type="title"/>
          </p:nvPr>
        </p:nvSpPr>
        <p:spPr/>
        <p:txBody>
          <a:bodyPr/>
          <a:lstStyle/>
          <a:p>
            <a:r>
              <a:rPr lang="en-US" dirty="0"/>
              <a:t>Practice: (LHS)</a:t>
            </a:r>
            <a:endParaRPr lang="en-AU" dirty="0"/>
          </a:p>
        </p:txBody>
      </p:sp>
    </p:spTree>
    <p:extLst>
      <p:ext uri="{BB962C8B-B14F-4D97-AF65-F5344CB8AC3E}">
        <p14:creationId xmlns:p14="http://schemas.microsoft.com/office/powerpoint/2010/main" val="1099338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1449-6149-4CD2-B65B-A340E1A42478}"/>
              </a:ext>
            </a:extLst>
          </p:cNvPr>
          <p:cNvSpPr>
            <a:spLocks noGrp="1"/>
          </p:cNvSpPr>
          <p:nvPr>
            <p:ph type="title"/>
          </p:nvPr>
        </p:nvSpPr>
        <p:spPr>
          <a:xfrm>
            <a:off x="1024128" y="657260"/>
            <a:ext cx="9138444" cy="1244111"/>
          </a:xfrm>
        </p:spPr>
        <p:txBody>
          <a:bodyPr>
            <a:noAutofit/>
          </a:bodyPr>
          <a:lstStyle/>
          <a:p>
            <a:r>
              <a:rPr lang="en-GB" sz="4000" dirty="0"/>
              <a:t>Practice: (LSH)</a:t>
            </a:r>
          </a:p>
        </p:txBody>
      </p:sp>
      <p:sp>
        <p:nvSpPr>
          <p:cNvPr id="3" name="TextBox 2">
            <a:extLst>
              <a:ext uri="{FF2B5EF4-FFF2-40B4-BE49-F238E27FC236}">
                <a16:creationId xmlns:a16="http://schemas.microsoft.com/office/drawing/2014/main" id="{90E3425E-88E4-3444-96DA-E7173F09C9B9}"/>
              </a:ext>
            </a:extLst>
          </p:cNvPr>
          <p:cNvSpPr txBox="1"/>
          <p:nvPr/>
        </p:nvSpPr>
        <p:spPr>
          <a:xfrm>
            <a:off x="899886" y="2844800"/>
            <a:ext cx="10508343" cy="1384995"/>
          </a:xfrm>
          <a:prstGeom prst="rect">
            <a:avLst/>
          </a:prstGeom>
          <a:noFill/>
        </p:spPr>
        <p:txBody>
          <a:bodyPr wrap="square" rtlCol="0">
            <a:spAutoFit/>
          </a:bodyPr>
          <a:lstStyle/>
          <a:p>
            <a:r>
              <a:rPr lang="en-GB" sz="2800" dirty="0"/>
              <a:t>1. Complete the Extend Question on page 33</a:t>
            </a:r>
          </a:p>
          <a:p>
            <a:endParaRPr lang="en-GB" sz="2800" dirty="0"/>
          </a:p>
          <a:p>
            <a:r>
              <a:rPr lang="en-GB" sz="2800" dirty="0"/>
              <a:t>2. Complete the Explain Question (in your own words) on page 33</a:t>
            </a:r>
            <a:endParaRPr lang="en-US" dirty="0"/>
          </a:p>
        </p:txBody>
      </p:sp>
      <p:sp>
        <p:nvSpPr>
          <p:cNvPr id="4" name="TextBox 3">
            <a:extLst>
              <a:ext uri="{FF2B5EF4-FFF2-40B4-BE49-F238E27FC236}">
                <a16:creationId xmlns:a16="http://schemas.microsoft.com/office/drawing/2014/main" id="{C093498B-7A23-514D-85AD-E52CC02E0361}"/>
              </a:ext>
            </a:extLst>
          </p:cNvPr>
          <p:cNvSpPr txBox="1"/>
          <p:nvPr/>
        </p:nvSpPr>
        <p:spPr>
          <a:xfrm>
            <a:off x="791899" y="2191657"/>
            <a:ext cx="2604443" cy="461665"/>
          </a:xfrm>
          <a:prstGeom prst="rect">
            <a:avLst/>
          </a:prstGeom>
          <a:noFill/>
        </p:spPr>
        <p:txBody>
          <a:bodyPr wrap="square" rtlCol="0">
            <a:spAutoFit/>
          </a:bodyPr>
          <a:lstStyle/>
          <a:p>
            <a:r>
              <a:rPr lang="en-US" sz="2400" dirty="0"/>
              <a:t>Task</a:t>
            </a:r>
          </a:p>
        </p:txBody>
      </p:sp>
    </p:spTree>
    <p:extLst>
      <p:ext uri="{BB962C8B-B14F-4D97-AF65-F5344CB8AC3E}">
        <p14:creationId xmlns:p14="http://schemas.microsoft.com/office/powerpoint/2010/main" val="3256411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9120-91FA-4869-8724-16DDAD41CB50}"/>
              </a:ext>
            </a:extLst>
          </p:cNvPr>
          <p:cNvSpPr>
            <a:spLocks noGrp="1"/>
          </p:cNvSpPr>
          <p:nvPr>
            <p:ph type="title"/>
          </p:nvPr>
        </p:nvSpPr>
        <p:spPr/>
        <p:txBody>
          <a:bodyPr/>
          <a:lstStyle/>
          <a:p>
            <a:r>
              <a:rPr lang="en-US" dirty="0"/>
              <a:t>Exit Pass</a:t>
            </a:r>
            <a:endParaRPr lang="en-AU"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EE678BF-D677-48E7-8DF4-37AA9515E4EC}"/>
                  </a:ext>
                </a:extLst>
              </p:cNvPr>
              <p:cNvSpPr>
                <a:spLocks noGrp="1"/>
              </p:cNvSpPr>
              <p:nvPr>
                <p:ph idx="1"/>
              </p:nvPr>
            </p:nvSpPr>
            <p:spPr/>
            <p:txBody>
              <a:bodyPr/>
              <a:lstStyle/>
              <a:p>
                <a:r>
                  <a:rPr lang="en-US" dirty="0"/>
                  <a:t>1.  Solve 14X23</a:t>
                </a:r>
              </a:p>
              <a:p>
                <a:endParaRPr lang="en-US" dirty="0"/>
              </a:p>
              <a:p>
                <a:r>
                  <a:rPr lang="en-US" dirty="0"/>
                  <a:t>2.  Which of the following is equivalent to 7:6 </a:t>
                </a:r>
              </a:p>
              <a:p>
                <a:pPr marL="0" indent="0">
                  <a:buNone/>
                </a:pPr>
                <a:r>
                  <a:rPr lang="en-US" dirty="0"/>
                  <a:t>	a. </a:t>
                </a:r>
                <a14:m>
                  <m:oMath xmlns:m="http://schemas.openxmlformats.org/officeDocument/2006/math">
                    <m:r>
                      <a:rPr lang="en-US" i="1" dirty="0" smtClean="0">
                        <a:latin typeface="Cambria Math" panose="02040503050406030204" pitchFamily="18" charset="0"/>
                      </a:rPr>
                      <m:t>12:14</m:t>
                    </m:r>
                    <m:r>
                      <a:rPr lang="en-US" i="1" dirty="0">
                        <a:latin typeface="Cambria Math" panose="02040503050406030204" pitchFamily="18" charset="0"/>
                      </a:rPr>
                      <m:t> </m:t>
                    </m:r>
                  </m:oMath>
                </a14:m>
                <a:r>
                  <a:rPr lang="en-US" dirty="0"/>
                  <a:t>		    b. </a:t>
                </a:r>
                <a14:m>
                  <m:oMath xmlns:m="http://schemas.openxmlformats.org/officeDocument/2006/math">
                    <m:r>
                      <a:rPr lang="en-US" i="1" dirty="0" smtClean="0">
                        <a:latin typeface="Cambria Math" panose="02040503050406030204" pitchFamily="18" charset="0"/>
                      </a:rPr>
                      <m:t>84:62</m:t>
                    </m:r>
                  </m:oMath>
                </a14:m>
                <a:r>
                  <a:rPr lang="en-US" dirty="0"/>
                  <a:t>			c. </a:t>
                </a:r>
                <a14:m>
                  <m:oMath xmlns:m="http://schemas.openxmlformats.org/officeDocument/2006/math">
                    <m:r>
                      <a:rPr lang="en-US" i="1" dirty="0" smtClean="0">
                        <a:latin typeface="Cambria Math" panose="02040503050406030204" pitchFamily="18" charset="0"/>
                      </a:rPr>
                      <m:t>21:18</m:t>
                    </m:r>
                  </m:oMath>
                </a14:m>
                <a:endParaRPr lang="en-US" dirty="0"/>
              </a:p>
              <a:p>
                <a:endParaRPr lang="en-US" dirty="0"/>
              </a:p>
              <a:p>
                <a:pPr fontAlgn="base"/>
                <a:r>
                  <a:rPr lang="en-US" dirty="0"/>
                  <a:t>3. </a:t>
                </a:r>
                <a:r>
                  <a:rPr lang="en-AU" dirty="0"/>
                  <a:t>Lucia is making invisibility potions. Each potion requires 2 eyes of newt.</a:t>
                </a:r>
              </a:p>
              <a:p>
                <a:pPr fontAlgn="base"/>
                <a:r>
                  <a:rPr lang="en-AU" b="1" dirty="0"/>
                  <a:t>How many invisibility potions can Lucia make with 16 eyes of newt?</a:t>
                </a:r>
                <a:br>
                  <a:rPr lang="en-AU" dirty="0"/>
                </a:br>
                <a:r>
                  <a:rPr lang="en-AU" i="1" dirty="0"/>
                  <a:t>Lucia has all the other ingredients she needs.</a:t>
                </a:r>
                <a:endParaRPr lang="en-AU" dirty="0"/>
              </a:p>
              <a:p>
                <a:endParaRPr lang="en-US" dirty="0"/>
              </a:p>
              <a:p>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EEE678BF-D677-48E7-8DF4-37AA9515E4EC}"/>
                  </a:ext>
                </a:extLst>
              </p:cNvPr>
              <p:cNvSpPr>
                <a:spLocks noGrp="1" noRot="1" noChangeAspect="1" noMove="1" noResize="1" noEditPoints="1" noAdjustHandles="1" noChangeArrowheads="1" noChangeShapeType="1" noTextEdit="1"/>
              </p:cNvSpPr>
              <p:nvPr>
                <p:ph idx="1"/>
              </p:nvPr>
            </p:nvSpPr>
            <p:spPr>
              <a:blipFill>
                <a:blip r:embed="rId2"/>
                <a:stretch>
                  <a:fillRect l="-261" t="-2208"/>
                </a:stretch>
              </a:blipFill>
            </p:spPr>
            <p:txBody>
              <a:bodyPr/>
              <a:lstStyle/>
              <a:p>
                <a:r>
                  <a:rPr lang="en-US">
                    <a:noFill/>
                  </a:rPr>
                  <a:t> </a:t>
                </a:r>
              </a:p>
            </p:txBody>
          </p:sp>
        </mc:Fallback>
      </mc:AlternateContent>
    </p:spTree>
    <p:extLst>
      <p:ext uri="{BB962C8B-B14F-4D97-AF65-F5344CB8AC3E}">
        <p14:creationId xmlns:p14="http://schemas.microsoft.com/office/powerpoint/2010/main" val="3186510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1E209-E628-4C32-B571-BF00FB683DFD}"/>
              </a:ext>
            </a:extLst>
          </p:cNvPr>
          <p:cNvSpPr>
            <a:spLocks noGrp="1"/>
          </p:cNvSpPr>
          <p:nvPr>
            <p:ph type="title"/>
          </p:nvPr>
        </p:nvSpPr>
        <p:spPr>
          <a:xfrm>
            <a:off x="1024128" y="585216"/>
            <a:ext cx="5902061" cy="1499616"/>
          </a:xfrm>
        </p:spPr>
        <p:txBody>
          <a:bodyPr>
            <a:normAutofit/>
          </a:bodyPr>
          <a:lstStyle/>
          <a:p>
            <a:r>
              <a:rPr lang="en-AU" dirty="0"/>
              <a:t>Thank you</a:t>
            </a:r>
          </a:p>
        </p:txBody>
      </p:sp>
      <p:sp>
        <p:nvSpPr>
          <p:cNvPr id="5" name="Content Placeholder 4">
            <a:extLst>
              <a:ext uri="{FF2B5EF4-FFF2-40B4-BE49-F238E27FC236}">
                <a16:creationId xmlns:a16="http://schemas.microsoft.com/office/drawing/2014/main" id="{F2A5B7C2-6C39-4AFA-9B5D-C3F3C81B941B}"/>
              </a:ext>
            </a:extLst>
          </p:cNvPr>
          <p:cNvSpPr>
            <a:spLocks noGrp="1"/>
          </p:cNvSpPr>
          <p:nvPr>
            <p:ph idx="1"/>
          </p:nvPr>
        </p:nvSpPr>
        <p:spPr>
          <a:xfrm>
            <a:off x="1024128" y="2286000"/>
            <a:ext cx="5902061" cy="3931920"/>
          </a:xfrm>
        </p:spPr>
        <p:txBody>
          <a:bodyPr>
            <a:normAutofit/>
          </a:bodyPr>
          <a:lstStyle/>
          <a:p>
            <a:r>
              <a:rPr lang="en-AU" dirty="0">
                <a:latin typeface="Calibri" panose="020F0502020204030204" pitchFamily="34" charset="0"/>
                <a:cs typeface="Calibri" panose="020F0502020204030204" pitchFamily="34" charset="0"/>
              </a:rPr>
              <a:t>Keep up the good work!</a:t>
            </a:r>
          </a:p>
          <a:p>
            <a:endParaRPr lang="en-AU" dirty="0">
              <a:latin typeface="Calibri" panose="020F0502020204030204" pitchFamily="34" charset="0"/>
              <a:cs typeface="Calibri" panose="020F0502020204030204" pitchFamily="34" charset="0"/>
            </a:endParaRPr>
          </a:p>
          <a:p>
            <a:r>
              <a:rPr lang="en-US" b="0" i="0" dirty="0">
                <a:solidFill>
                  <a:srgbClr val="000000"/>
                </a:solidFill>
                <a:effectLst/>
                <a:latin typeface="Charter"/>
              </a:rPr>
              <a:t>”Its up to you how far you go. If you don’t try, you’ll never know.</a:t>
            </a:r>
          </a:p>
          <a:p>
            <a:r>
              <a:rPr lang="en-US" dirty="0">
                <a:solidFill>
                  <a:srgbClr val="000000"/>
                </a:solidFill>
                <a:latin typeface="Charter"/>
              </a:rPr>
              <a:t>-Merlin the Sorcerer. </a:t>
            </a:r>
            <a:br>
              <a:rPr lang="en-US" dirty="0"/>
            </a:br>
            <a:endParaRPr lang="en-AU" dirty="0">
              <a:latin typeface="Calibri" panose="020F0502020204030204" pitchFamily="34" charset="0"/>
              <a:cs typeface="Calibri" panose="020F0502020204030204" pitchFamily="34" charset="0"/>
            </a:endParaRPr>
          </a:p>
        </p:txBody>
      </p:sp>
      <p:pic>
        <p:nvPicPr>
          <p:cNvPr id="9" name="Graphic 8" descr="Smiling Face with No Fill">
            <a:extLst>
              <a:ext uri="{FF2B5EF4-FFF2-40B4-BE49-F238E27FC236}">
                <a16:creationId xmlns:a16="http://schemas.microsoft.com/office/drawing/2014/main" id="{10954B83-DCF2-4288-9017-12D8B7B8E4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2267" y="1429173"/>
            <a:ext cx="3999654" cy="3999654"/>
          </a:xfrm>
          <a:prstGeom prst="rect">
            <a:avLst/>
          </a:prstGeom>
        </p:spPr>
      </p:pic>
    </p:spTree>
    <p:extLst>
      <p:ext uri="{BB962C8B-B14F-4D97-AF65-F5344CB8AC3E}">
        <p14:creationId xmlns:p14="http://schemas.microsoft.com/office/powerpoint/2010/main" val="3372573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7984</TotalTime>
  <Words>785</Words>
  <Application>Microsoft Macintosh PowerPoint</Application>
  <PresentationFormat>Widescreen</PresentationFormat>
  <Paragraphs>130</Paragraphs>
  <Slides>12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Calibri</vt:lpstr>
      <vt:lpstr>Cambria Math</vt:lpstr>
      <vt:lpstr>Charter</vt:lpstr>
      <vt:lpstr>Tw Cen MT</vt:lpstr>
      <vt:lpstr>Tw Cen MT Condensed</vt:lpstr>
      <vt:lpstr>Wingdings</vt:lpstr>
      <vt:lpstr>Wingdings 3</vt:lpstr>
      <vt:lpstr>Integral</vt:lpstr>
      <vt:lpstr>Topic: Ratios EQ: How do I divide quantities into ratios?</vt:lpstr>
      <vt:lpstr>Things Required For This Lesson</vt:lpstr>
      <vt:lpstr>PowerPoint Presentation</vt:lpstr>
      <vt:lpstr>PowerPoint Presentation</vt:lpstr>
      <vt:lpstr>PowerPoint Presentation</vt:lpstr>
      <vt:lpstr>PowerPoint Presentation</vt:lpstr>
      <vt:lpstr>Think pair share</vt:lpstr>
      <vt:lpstr>PowerPoint Presentation</vt:lpstr>
      <vt:lpstr>Practice: (LHS)</vt:lpstr>
      <vt:lpstr>Practice: (LSH)</vt:lpstr>
      <vt:lpstr>Exit Pass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Addition and Perimeter EQ: How do you use known and unknown information to find perimeter?</dc:title>
  <dc:creator>WATSON Justin [Baldivis Secondary College]</dc:creator>
  <cp:lastModifiedBy>DIXON Emily [Baldivis Secondary College]</cp:lastModifiedBy>
  <cp:revision>109</cp:revision>
  <dcterms:created xsi:type="dcterms:W3CDTF">2021-02-11T13:20:57Z</dcterms:created>
  <dcterms:modified xsi:type="dcterms:W3CDTF">2021-04-18T14:29:28Z</dcterms:modified>
</cp:coreProperties>
</file>
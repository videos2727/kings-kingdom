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3"/>
  </p:notesMasterIdLst>
  <p:sldIdLst>
    <p:sldId id="256" r:id="rId2"/>
    <p:sldId id="257" r:id="rId3"/>
    <p:sldId id="311" r:id="rId4"/>
    <p:sldId id="355" r:id="rId5"/>
    <p:sldId id="361" r:id="rId6"/>
    <p:sldId id="356" r:id="rId7"/>
    <p:sldId id="359" r:id="rId8"/>
    <p:sldId id="362" r:id="rId9"/>
    <p:sldId id="354" r:id="rId10"/>
    <p:sldId id="360" r:id="rId11"/>
    <p:sldId id="32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51" autoAdjust="0"/>
    <p:restoredTop sz="94013" autoAdjust="0"/>
  </p:normalViewPr>
  <p:slideViewPr>
    <p:cSldViewPr snapToGrid="0">
      <p:cViewPr varScale="1">
        <p:scale>
          <a:sx n="71" d="100"/>
          <a:sy n="71" d="100"/>
        </p:scale>
        <p:origin x="2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AEC40-FB91-4B4E-8615-59788947F0F0}" type="datetimeFigureOut">
              <a:rPr lang="en-AU" smtClean="0"/>
              <a:t>18/4/21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F8C66-E9D4-4BCD-9B84-1B952BD6C7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560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0275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99601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22956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2798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87294F-DEA6-4D3A-864A-E2E179377C11}" type="datetimeFigureOut">
              <a:rPr lang="en-AU" smtClean="0"/>
              <a:t>18/4/21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85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18/4/21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412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18/4/21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61104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18/4/21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13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18/4/21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22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18/4/21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05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18/4/21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1683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18/4/21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590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18/4/21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25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18/4/21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5682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18/4/21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07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87294F-DEA6-4D3A-864A-E2E179377C11}" type="datetimeFigureOut">
              <a:rPr lang="en-AU" smtClean="0"/>
              <a:t>18/4/21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12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1B51-FD68-4F9A-AF72-D0BD0020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795" y="4960137"/>
            <a:ext cx="8417010" cy="1463040"/>
          </a:xfrm>
        </p:spPr>
        <p:txBody>
          <a:bodyPr>
            <a:noAutofit/>
          </a:bodyPr>
          <a:lstStyle/>
          <a:p>
            <a:pPr algn="l"/>
            <a:r>
              <a:rPr lang="en-AU" sz="4000" dirty="0"/>
              <a:t>Topic: Ratios</a:t>
            </a:r>
            <a:br>
              <a:rPr lang="en-AU" sz="4000" dirty="0"/>
            </a:br>
            <a:r>
              <a:rPr lang="en-AU" sz="4000" dirty="0"/>
              <a:t>EQ: How to use ratios for a scale?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35905-0902-4C57-9CA6-37C142F28C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13805" y="4960137"/>
            <a:ext cx="3200400" cy="1463040"/>
          </a:xfrm>
        </p:spPr>
        <p:txBody>
          <a:bodyPr/>
          <a:lstStyle/>
          <a:p>
            <a:r>
              <a:rPr lang="en-AU" dirty="0"/>
              <a:t>Year 11 Essentials</a:t>
            </a:r>
          </a:p>
        </p:txBody>
      </p:sp>
    </p:spTree>
    <p:extLst>
      <p:ext uri="{BB962C8B-B14F-4D97-AF65-F5344CB8AC3E}">
        <p14:creationId xmlns:p14="http://schemas.microsoft.com/office/powerpoint/2010/main" val="1669176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Textbook: </a:t>
            </a:r>
            <a:r>
              <a:rPr lang="en-AU" sz="280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Interleaved Maths Essential Connections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 Growth mindset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19168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Rates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are rates used for different units of measurement?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/03/2021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DC1BC4-B66D-4429-8604-914BCDAFD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93012" y="1943587"/>
            <a:ext cx="4181482" cy="3136111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2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AA4B3F-316E-41BE-9AC0-7CDAA8A76988}"/>
              </a:ext>
            </a:extLst>
          </p:cNvPr>
          <p:cNvSpPr txBox="1"/>
          <p:nvPr/>
        </p:nvSpPr>
        <p:spPr>
          <a:xfrm>
            <a:off x="754672" y="196208"/>
            <a:ext cx="21661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>
                <a:latin typeface="Calibri" panose="020F0502020204030204" pitchFamily="34" charset="0"/>
                <a:cs typeface="Calibri" panose="020F0502020204030204" pitchFamily="34" charset="0"/>
              </a:rPr>
              <a:t>Topic: Rates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AB592F-0AF9-498E-A1F8-CE35F9BB3EBE}"/>
              </a:ext>
            </a:extLst>
          </p:cNvPr>
          <p:cNvSpPr txBox="1"/>
          <p:nvPr/>
        </p:nvSpPr>
        <p:spPr>
          <a:xfrm>
            <a:off x="1165022" y="1664462"/>
            <a:ext cx="10460921" cy="26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800" dirty="0"/>
              <a:t> leave at 8:55am and travel for 3.2 hours. When do I arrive?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800" dirty="0"/>
              <a:t>Perth Temperature data, 1994-2020 is provided in the table below. What was the mean minimum temperature across the whole year.?</a:t>
            </a:r>
          </a:p>
          <a:p>
            <a:pPr>
              <a:lnSpc>
                <a:spcPct val="150000"/>
              </a:lnSpc>
            </a:pPr>
            <a:endParaRPr lang="en-AU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76F53D-7595-5241-AD3C-876DC4DD6AF4}"/>
              </a:ext>
            </a:extLst>
          </p:cNvPr>
          <p:cNvSpPr txBox="1"/>
          <p:nvPr/>
        </p:nvSpPr>
        <p:spPr>
          <a:xfrm>
            <a:off x="321972" y="1439999"/>
            <a:ext cx="2910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Interleaved Questions</a:t>
            </a:r>
          </a:p>
        </p:txBody>
      </p:sp>
      <p:graphicFrame>
        <p:nvGraphicFramePr>
          <p:cNvPr id="28" name="Table 28">
            <a:extLst>
              <a:ext uri="{FF2B5EF4-FFF2-40B4-BE49-F238E27FC236}">
                <a16:creationId xmlns:a16="http://schemas.microsoft.com/office/drawing/2014/main" id="{8CAA7490-F358-BB46-AF60-6C8C2697FB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1565564"/>
              </p:ext>
            </p:extLst>
          </p:nvPr>
        </p:nvGraphicFramePr>
        <p:xfrm>
          <a:off x="566057" y="3905992"/>
          <a:ext cx="11464570" cy="25905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1890">
                  <a:extLst>
                    <a:ext uri="{9D8B030D-6E8A-4147-A177-3AD203B41FA5}">
                      <a16:colId xmlns:a16="http://schemas.microsoft.com/office/drawing/2014/main" val="1702112289"/>
                    </a:ext>
                  </a:extLst>
                </a:gridCol>
                <a:gridCol w="881890">
                  <a:extLst>
                    <a:ext uri="{9D8B030D-6E8A-4147-A177-3AD203B41FA5}">
                      <a16:colId xmlns:a16="http://schemas.microsoft.com/office/drawing/2014/main" val="1568802441"/>
                    </a:ext>
                  </a:extLst>
                </a:gridCol>
                <a:gridCol w="881890">
                  <a:extLst>
                    <a:ext uri="{9D8B030D-6E8A-4147-A177-3AD203B41FA5}">
                      <a16:colId xmlns:a16="http://schemas.microsoft.com/office/drawing/2014/main" val="72527715"/>
                    </a:ext>
                  </a:extLst>
                </a:gridCol>
                <a:gridCol w="881890">
                  <a:extLst>
                    <a:ext uri="{9D8B030D-6E8A-4147-A177-3AD203B41FA5}">
                      <a16:colId xmlns:a16="http://schemas.microsoft.com/office/drawing/2014/main" val="4182541012"/>
                    </a:ext>
                  </a:extLst>
                </a:gridCol>
                <a:gridCol w="881890">
                  <a:extLst>
                    <a:ext uri="{9D8B030D-6E8A-4147-A177-3AD203B41FA5}">
                      <a16:colId xmlns:a16="http://schemas.microsoft.com/office/drawing/2014/main" val="2906903323"/>
                    </a:ext>
                  </a:extLst>
                </a:gridCol>
                <a:gridCol w="881890">
                  <a:extLst>
                    <a:ext uri="{9D8B030D-6E8A-4147-A177-3AD203B41FA5}">
                      <a16:colId xmlns:a16="http://schemas.microsoft.com/office/drawing/2014/main" val="2315969874"/>
                    </a:ext>
                  </a:extLst>
                </a:gridCol>
                <a:gridCol w="881890">
                  <a:extLst>
                    <a:ext uri="{9D8B030D-6E8A-4147-A177-3AD203B41FA5}">
                      <a16:colId xmlns:a16="http://schemas.microsoft.com/office/drawing/2014/main" val="228001227"/>
                    </a:ext>
                  </a:extLst>
                </a:gridCol>
                <a:gridCol w="881890">
                  <a:extLst>
                    <a:ext uri="{9D8B030D-6E8A-4147-A177-3AD203B41FA5}">
                      <a16:colId xmlns:a16="http://schemas.microsoft.com/office/drawing/2014/main" val="3207854529"/>
                    </a:ext>
                  </a:extLst>
                </a:gridCol>
                <a:gridCol w="881890">
                  <a:extLst>
                    <a:ext uri="{9D8B030D-6E8A-4147-A177-3AD203B41FA5}">
                      <a16:colId xmlns:a16="http://schemas.microsoft.com/office/drawing/2014/main" val="3047630066"/>
                    </a:ext>
                  </a:extLst>
                </a:gridCol>
                <a:gridCol w="881890">
                  <a:extLst>
                    <a:ext uri="{9D8B030D-6E8A-4147-A177-3AD203B41FA5}">
                      <a16:colId xmlns:a16="http://schemas.microsoft.com/office/drawing/2014/main" val="1060352084"/>
                    </a:ext>
                  </a:extLst>
                </a:gridCol>
                <a:gridCol w="881890">
                  <a:extLst>
                    <a:ext uri="{9D8B030D-6E8A-4147-A177-3AD203B41FA5}">
                      <a16:colId xmlns:a16="http://schemas.microsoft.com/office/drawing/2014/main" val="4209433197"/>
                    </a:ext>
                  </a:extLst>
                </a:gridCol>
                <a:gridCol w="881890">
                  <a:extLst>
                    <a:ext uri="{9D8B030D-6E8A-4147-A177-3AD203B41FA5}">
                      <a16:colId xmlns:a16="http://schemas.microsoft.com/office/drawing/2014/main" val="1085873673"/>
                    </a:ext>
                  </a:extLst>
                </a:gridCol>
                <a:gridCol w="881890">
                  <a:extLst>
                    <a:ext uri="{9D8B030D-6E8A-4147-A177-3AD203B41FA5}">
                      <a16:colId xmlns:a16="http://schemas.microsoft.com/office/drawing/2014/main" val="860548925"/>
                    </a:ext>
                  </a:extLst>
                </a:gridCol>
              </a:tblGrid>
              <a:tr h="76178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458285"/>
                  </a:ext>
                </a:extLst>
              </a:tr>
              <a:tr h="761785">
                <a:tc>
                  <a:txBody>
                    <a:bodyPr/>
                    <a:lstStyle/>
                    <a:p>
                      <a:r>
                        <a:rPr lang="en-US" dirty="0"/>
                        <a:t>Mean Max Temp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62801"/>
                  </a:ext>
                </a:extLst>
              </a:tr>
              <a:tr h="761785">
                <a:tc>
                  <a:txBody>
                    <a:bodyPr/>
                    <a:lstStyle/>
                    <a:p>
                      <a:r>
                        <a:rPr lang="en-US" dirty="0"/>
                        <a:t>Mean Min Temp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380799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D352C54C-692F-FC45-BDCC-1EE4052D9FDD}"/>
              </a:ext>
            </a:extLst>
          </p:cNvPr>
          <p:cNvSpPr txBox="1"/>
          <p:nvPr/>
        </p:nvSpPr>
        <p:spPr>
          <a:xfrm>
            <a:off x="10650071" y="196208"/>
            <a:ext cx="975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Pg. 136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4E55CA6-9F5C-674E-83C9-37B88001A33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are rates used for different units of measurement?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020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AA4B3F-316E-41BE-9AC0-7CDAA8A76988}"/>
              </a:ext>
            </a:extLst>
          </p:cNvPr>
          <p:cNvSpPr txBox="1"/>
          <p:nvPr/>
        </p:nvSpPr>
        <p:spPr>
          <a:xfrm>
            <a:off x="754672" y="196208"/>
            <a:ext cx="21661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>
                <a:latin typeface="Calibri" panose="020F0502020204030204" pitchFamily="34" charset="0"/>
                <a:cs typeface="Calibri" panose="020F0502020204030204" pitchFamily="34" charset="0"/>
              </a:rPr>
              <a:t>Topic: Rates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AB592F-0AF9-498E-A1F8-CE35F9BB3EBE}"/>
              </a:ext>
            </a:extLst>
          </p:cNvPr>
          <p:cNvSpPr txBox="1"/>
          <p:nvPr/>
        </p:nvSpPr>
        <p:spPr>
          <a:xfrm>
            <a:off x="189150" y="1687155"/>
            <a:ext cx="10460921" cy="26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800" dirty="0"/>
              <a:t> leave at 8:55am and travel for 3.2 hours. When do I arrive?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sz="2800" dirty="0"/>
              <a:t>Perth Temperature data, 1994-2020 is provided in the table below. What was the mean minimum temperature across the whole year.?</a:t>
            </a:r>
          </a:p>
          <a:p>
            <a:pPr>
              <a:lnSpc>
                <a:spcPct val="150000"/>
              </a:lnSpc>
            </a:pPr>
            <a:endParaRPr lang="en-AU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76F53D-7595-5241-AD3C-876DC4DD6AF4}"/>
              </a:ext>
            </a:extLst>
          </p:cNvPr>
          <p:cNvSpPr txBox="1"/>
          <p:nvPr/>
        </p:nvSpPr>
        <p:spPr>
          <a:xfrm>
            <a:off x="321972" y="1439999"/>
            <a:ext cx="2910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Interleaved Questions</a:t>
            </a:r>
          </a:p>
        </p:txBody>
      </p:sp>
      <p:graphicFrame>
        <p:nvGraphicFramePr>
          <p:cNvPr id="28" name="Table 28">
            <a:extLst>
              <a:ext uri="{FF2B5EF4-FFF2-40B4-BE49-F238E27FC236}">
                <a16:creationId xmlns:a16="http://schemas.microsoft.com/office/drawing/2014/main" id="{8CAA7490-F358-BB46-AF60-6C8C2697FB9B}"/>
              </a:ext>
            </a:extLst>
          </p:cNvPr>
          <p:cNvGraphicFramePr>
            <a:graphicFrameLocks noGrp="1"/>
          </p:cNvGraphicFramePr>
          <p:nvPr/>
        </p:nvGraphicFramePr>
        <p:xfrm>
          <a:off x="566057" y="3905992"/>
          <a:ext cx="11464570" cy="25905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1890">
                  <a:extLst>
                    <a:ext uri="{9D8B030D-6E8A-4147-A177-3AD203B41FA5}">
                      <a16:colId xmlns:a16="http://schemas.microsoft.com/office/drawing/2014/main" val="1702112289"/>
                    </a:ext>
                  </a:extLst>
                </a:gridCol>
                <a:gridCol w="881890">
                  <a:extLst>
                    <a:ext uri="{9D8B030D-6E8A-4147-A177-3AD203B41FA5}">
                      <a16:colId xmlns:a16="http://schemas.microsoft.com/office/drawing/2014/main" val="1568802441"/>
                    </a:ext>
                  </a:extLst>
                </a:gridCol>
                <a:gridCol w="881890">
                  <a:extLst>
                    <a:ext uri="{9D8B030D-6E8A-4147-A177-3AD203B41FA5}">
                      <a16:colId xmlns:a16="http://schemas.microsoft.com/office/drawing/2014/main" val="72527715"/>
                    </a:ext>
                  </a:extLst>
                </a:gridCol>
                <a:gridCol w="881890">
                  <a:extLst>
                    <a:ext uri="{9D8B030D-6E8A-4147-A177-3AD203B41FA5}">
                      <a16:colId xmlns:a16="http://schemas.microsoft.com/office/drawing/2014/main" val="4182541012"/>
                    </a:ext>
                  </a:extLst>
                </a:gridCol>
                <a:gridCol w="881890">
                  <a:extLst>
                    <a:ext uri="{9D8B030D-6E8A-4147-A177-3AD203B41FA5}">
                      <a16:colId xmlns:a16="http://schemas.microsoft.com/office/drawing/2014/main" val="2906903323"/>
                    </a:ext>
                  </a:extLst>
                </a:gridCol>
                <a:gridCol w="881890">
                  <a:extLst>
                    <a:ext uri="{9D8B030D-6E8A-4147-A177-3AD203B41FA5}">
                      <a16:colId xmlns:a16="http://schemas.microsoft.com/office/drawing/2014/main" val="2315969874"/>
                    </a:ext>
                  </a:extLst>
                </a:gridCol>
                <a:gridCol w="881890">
                  <a:extLst>
                    <a:ext uri="{9D8B030D-6E8A-4147-A177-3AD203B41FA5}">
                      <a16:colId xmlns:a16="http://schemas.microsoft.com/office/drawing/2014/main" val="228001227"/>
                    </a:ext>
                  </a:extLst>
                </a:gridCol>
                <a:gridCol w="881890">
                  <a:extLst>
                    <a:ext uri="{9D8B030D-6E8A-4147-A177-3AD203B41FA5}">
                      <a16:colId xmlns:a16="http://schemas.microsoft.com/office/drawing/2014/main" val="3207854529"/>
                    </a:ext>
                  </a:extLst>
                </a:gridCol>
                <a:gridCol w="881890">
                  <a:extLst>
                    <a:ext uri="{9D8B030D-6E8A-4147-A177-3AD203B41FA5}">
                      <a16:colId xmlns:a16="http://schemas.microsoft.com/office/drawing/2014/main" val="3047630066"/>
                    </a:ext>
                  </a:extLst>
                </a:gridCol>
                <a:gridCol w="881890">
                  <a:extLst>
                    <a:ext uri="{9D8B030D-6E8A-4147-A177-3AD203B41FA5}">
                      <a16:colId xmlns:a16="http://schemas.microsoft.com/office/drawing/2014/main" val="1060352084"/>
                    </a:ext>
                  </a:extLst>
                </a:gridCol>
                <a:gridCol w="881890">
                  <a:extLst>
                    <a:ext uri="{9D8B030D-6E8A-4147-A177-3AD203B41FA5}">
                      <a16:colId xmlns:a16="http://schemas.microsoft.com/office/drawing/2014/main" val="4209433197"/>
                    </a:ext>
                  </a:extLst>
                </a:gridCol>
                <a:gridCol w="881890">
                  <a:extLst>
                    <a:ext uri="{9D8B030D-6E8A-4147-A177-3AD203B41FA5}">
                      <a16:colId xmlns:a16="http://schemas.microsoft.com/office/drawing/2014/main" val="1085873673"/>
                    </a:ext>
                  </a:extLst>
                </a:gridCol>
                <a:gridCol w="881890">
                  <a:extLst>
                    <a:ext uri="{9D8B030D-6E8A-4147-A177-3AD203B41FA5}">
                      <a16:colId xmlns:a16="http://schemas.microsoft.com/office/drawing/2014/main" val="860548925"/>
                    </a:ext>
                  </a:extLst>
                </a:gridCol>
              </a:tblGrid>
              <a:tr h="76178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458285"/>
                  </a:ext>
                </a:extLst>
              </a:tr>
              <a:tr h="761785">
                <a:tc>
                  <a:txBody>
                    <a:bodyPr/>
                    <a:lstStyle/>
                    <a:p>
                      <a:r>
                        <a:rPr lang="en-US" dirty="0"/>
                        <a:t>Mean Max Temp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362801"/>
                  </a:ext>
                </a:extLst>
              </a:tr>
              <a:tr h="761785">
                <a:tc>
                  <a:txBody>
                    <a:bodyPr/>
                    <a:lstStyle/>
                    <a:p>
                      <a:r>
                        <a:rPr lang="en-US" dirty="0"/>
                        <a:t>Mean Min Temp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380799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D352C54C-692F-FC45-BDCC-1EE4052D9FDD}"/>
              </a:ext>
            </a:extLst>
          </p:cNvPr>
          <p:cNvSpPr txBox="1"/>
          <p:nvPr/>
        </p:nvSpPr>
        <p:spPr>
          <a:xfrm>
            <a:off x="10650071" y="196208"/>
            <a:ext cx="975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Pg. 136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A4B1E7-9821-034E-88CB-FBCCDF1C793A}"/>
              </a:ext>
            </a:extLst>
          </p:cNvPr>
          <p:cNvSpPr txBox="1"/>
          <p:nvPr/>
        </p:nvSpPr>
        <p:spPr>
          <a:xfrm>
            <a:off x="9448800" y="1687155"/>
            <a:ext cx="152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12:07pm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16E156-2B4F-6F43-9691-FD2159329201}"/>
              </a:ext>
            </a:extLst>
          </p:cNvPr>
          <p:cNvSpPr txBox="1"/>
          <p:nvPr/>
        </p:nvSpPr>
        <p:spPr>
          <a:xfrm>
            <a:off x="10219765" y="2952008"/>
            <a:ext cx="18108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12.85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350372-6A51-3949-8B4A-A225686FE296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are rates used for different units of measurement?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1276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8731" y="1224621"/>
            <a:ext cx="13728" cy="5742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19168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Rates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-136979" y="6271903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 flipH="1">
            <a:off x="333400" y="1474838"/>
            <a:ext cx="204905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What are rates? </a:t>
            </a:r>
          </a:p>
          <a:p>
            <a:endParaRPr lang="en-AU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2509578" y="1490915"/>
            <a:ext cx="835080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Rates compare different units of measurement.</a:t>
            </a:r>
          </a:p>
          <a:p>
            <a:r>
              <a:rPr lang="en-AU" sz="2800" i="1" dirty="0"/>
              <a:t>For Example: A student typed 80 words in 2 minutes.</a:t>
            </a:r>
          </a:p>
          <a:p>
            <a:endParaRPr lang="en-AU" sz="2800" dirty="0"/>
          </a:p>
          <a:p>
            <a:r>
              <a:rPr lang="en-AU" sz="2800" dirty="0"/>
              <a:t>We usually express rates as “per one” of a measuring unit. </a:t>
            </a:r>
          </a:p>
          <a:p>
            <a:r>
              <a:rPr lang="en-AU" sz="2800" i="1" dirty="0"/>
              <a:t>For Example: This means that the typing speed would be described in </a:t>
            </a:r>
            <a:r>
              <a:rPr lang="en-AU" sz="2800" i="1" u="sng" dirty="0"/>
              <a:t>“words per minute”</a:t>
            </a:r>
            <a:r>
              <a:rPr lang="en-AU" sz="2800" i="1" dirty="0"/>
              <a:t> rather than words per two minutes. </a:t>
            </a:r>
          </a:p>
          <a:p>
            <a:endParaRPr lang="en-AU" sz="2800" i="1" dirty="0"/>
          </a:p>
          <a:p>
            <a:r>
              <a:rPr lang="en-AU" sz="2800" i="1" dirty="0"/>
              <a:t>Therefore: The students typing speed was 40 words per minute or 40wpm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403D9E-5A7E-6C42-AF1A-1564183B12FF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are rates used for different units of measurement?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096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A6581-180C-41F0-AE43-7C289DAE1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 pair share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C07D8-0A1C-4536-A9E9-C4AA7E8CC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7" y="2121118"/>
            <a:ext cx="9720073" cy="57128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2400" dirty="0"/>
              <a:t>What are some commonly used rates?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B39D12-2CD4-E24C-9129-D431D02DE537}"/>
              </a:ext>
            </a:extLst>
          </p:cNvPr>
          <p:cNvSpPr txBox="1"/>
          <p:nvPr/>
        </p:nvSpPr>
        <p:spPr>
          <a:xfrm>
            <a:off x="873541" y="3198167"/>
            <a:ext cx="1002124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400" dirty="0"/>
              <a:t>Car Speed: km per hour (kmph or km/h)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400" dirty="0"/>
              <a:t>Pay rates, penalty rates and charge out rates: $ per hour.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400" dirty="0"/>
              <a:t>Phones Charges: $ per minute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Motor speed: Revolutions per minute (rpm)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94771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 flipH="1">
            <a:off x="2368731" y="1224621"/>
            <a:ext cx="13728" cy="574223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19168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Rates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-136979" y="6271903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 flipH="1">
            <a:off x="333400" y="1474838"/>
            <a:ext cx="204905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How to find the “per one” </a:t>
            </a:r>
          </a:p>
          <a:p>
            <a:endParaRPr lang="en-AU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2509578" y="1490915"/>
            <a:ext cx="835080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1. A car travelled 120km in 2 hours. Write the cars speed in km/h.</a:t>
            </a:r>
          </a:p>
          <a:p>
            <a:endParaRPr lang="en-AU" sz="2800" dirty="0"/>
          </a:p>
          <a:p>
            <a:r>
              <a:rPr lang="en-AU" sz="2800" u="sng" dirty="0"/>
              <a:t>Relationship Table: </a:t>
            </a:r>
            <a:endParaRPr lang="en-AU" sz="2800" dirty="0"/>
          </a:p>
          <a:p>
            <a:pPr marL="514350" indent="-514350">
              <a:buAutoNum type="arabicPeriod"/>
            </a:pPr>
            <a:endParaRPr lang="en-AU" sz="2800" dirty="0"/>
          </a:p>
          <a:p>
            <a:endParaRPr lang="en-AU" sz="2800" dirty="0"/>
          </a:p>
          <a:p>
            <a:endParaRPr lang="en-AU" sz="2800" i="1" u="sng" dirty="0"/>
          </a:p>
          <a:p>
            <a:endParaRPr lang="en-AU" sz="2800" i="1" u="sng" dirty="0"/>
          </a:p>
          <a:p>
            <a:endParaRPr lang="en-AU" sz="2800" i="1" u="sng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403D9E-5A7E-6C42-AF1A-1564183B12FF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AU" sz="2400" dirty="0"/>
              <a:t>How are rates used for different units of measurement?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E1B3789C-4492-294D-998B-B151276A5E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571456"/>
              </p:ext>
            </p:extLst>
          </p:nvPr>
        </p:nvGraphicFramePr>
        <p:xfrm>
          <a:off x="2671543" y="3711388"/>
          <a:ext cx="4138322" cy="20161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9161">
                  <a:extLst>
                    <a:ext uri="{9D8B030D-6E8A-4147-A177-3AD203B41FA5}">
                      <a16:colId xmlns:a16="http://schemas.microsoft.com/office/drawing/2014/main" val="341997623"/>
                    </a:ext>
                  </a:extLst>
                </a:gridCol>
                <a:gridCol w="2069161">
                  <a:extLst>
                    <a:ext uri="{9D8B030D-6E8A-4147-A177-3AD203B41FA5}">
                      <a16:colId xmlns:a16="http://schemas.microsoft.com/office/drawing/2014/main" val="2577976433"/>
                    </a:ext>
                  </a:extLst>
                </a:gridCol>
              </a:tblGrid>
              <a:tr h="661261">
                <a:tc>
                  <a:txBody>
                    <a:bodyPr/>
                    <a:lstStyle/>
                    <a:p>
                      <a:r>
                        <a:rPr lang="en-US" sz="2800" dirty="0"/>
                        <a:t>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265867"/>
                  </a:ext>
                </a:extLst>
              </a:tr>
              <a:tr h="677438">
                <a:tc>
                  <a:txBody>
                    <a:bodyPr/>
                    <a:lstStyle/>
                    <a:p>
                      <a:r>
                        <a:rPr lang="en-US" sz="2800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3669992"/>
                  </a:ext>
                </a:extLst>
              </a:tr>
              <a:tr h="677438"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7083880"/>
                  </a:ext>
                </a:extLst>
              </a:tr>
            </a:tbl>
          </a:graphicData>
        </a:graphic>
      </p:graphicFrame>
      <p:sp>
        <p:nvSpPr>
          <p:cNvPr id="7" name="Curved Left Arrow 6">
            <a:extLst>
              <a:ext uri="{FF2B5EF4-FFF2-40B4-BE49-F238E27FC236}">
                <a16:creationId xmlns:a16="http://schemas.microsoft.com/office/drawing/2014/main" id="{52235E30-D504-2543-9A9A-720EA9F7C88C}"/>
              </a:ext>
            </a:extLst>
          </p:cNvPr>
          <p:cNvSpPr/>
          <p:nvPr/>
        </p:nvSpPr>
        <p:spPr>
          <a:xfrm>
            <a:off x="7045182" y="4464424"/>
            <a:ext cx="484094" cy="996809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85BB16-2C22-654C-80CA-CCB60426CA6F}"/>
                  </a:ext>
                </a:extLst>
              </p:cNvPr>
              <p:cNvSpPr txBox="1"/>
              <p:nvPr/>
            </p:nvSpPr>
            <p:spPr>
              <a:xfrm>
                <a:off x="7098949" y="2547667"/>
                <a:ext cx="177501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How is 2 related to 1?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÷2=1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85BB16-2C22-654C-80CA-CCB60426C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8949" y="2547667"/>
                <a:ext cx="1775012" cy="1200329"/>
              </a:xfrm>
              <a:prstGeom prst="rect">
                <a:avLst/>
              </a:prstGeom>
              <a:blipFill>
                <a:blip r:embed="rId3"/>
                <a:stretch>
                  <a:fillRect l="-5714" t="-4167" r="-9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F32570B-C03D-7E45-8E09-6754FBF0D4FF}"/>
                  </a:ext>
                </a:extLst>
              </p:cNvPr>
              <p:cNvSpPr txBox="1"/>
              <p:nvPr/>
            </p:nvSpPr>
            <p:spPr>
              <a:xfrm>
                <a:off x="7656395" y="4813124"/>
                <a:ext cx="87746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F32570B-C03D-7E45-8E09-6754FBF0D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6395" y="4813124"/>
                <a:ext cx="877468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C2446E4-D1B7-5B4A-891A-6FBA9B7D99E1}"/>
                  </a:ext>
                </a:extLst>
              </p:cNvPr>
              <p:cNvSpPr txBox="1"/>
              <p:nvPr/>
            </p:nvSpPr>
            <p:spPr>
              <a:xfrm>
                <a:off x="9163045" y="3476074"/>
                <a:ext cx="2581856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0" dirty="0">
                    <a:latin typeface="Cambria Math" panose="02040503050406030204" pitchFamily="18" charset="0"/>
                  </a:rPr>
                  <a:t>What you do to one number, you need to do to the other.</a:t>
                </a:r>
              </a:p>
              <a:p>
                <a:endParaRPr lang="en-AU" sz="2400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120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÷2=60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C2446E4-D1B7-5B4A-891A-6FBA9B7D99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3045" y="3476074"/>
                <a:ext cx="2581856" cy="2308324"/>
              </a:xfrm>
              <a:prstGeom prst="rect">
                <a:avLst/>
              </a:prstGeom>
              <a:blipFill>
                <a:blip r:embed="rId5"/>
                <a:stretch>
                  <a:fillRect l="-3922" t="-21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852B60F-D49C-E64F-A2EA-A67E519F753A}"/>
              </a:ext>
            </a:extLst>
          </p:cNvPr>
          <p:cNvSpPr txBox="1"/>
          <p:nvPr/>
        </p:nvSpPr>
        <p:spPr>
          <a:xfrm>
            <a:off x="2772255" y="5199623"/>
            <a:ext cx="854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60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59A6C1-C66E-C14B-B9AA-BBC9D7D966D8}"/>
              </a:ext>
            </a:extLst>
          </p:cNvPr>
          <p:cNvSpPr txBox="1"/>
          <p:nvPr/>
        </p:nvSpPr>
        <p:spPr>
          <a:xfrm>
            <a:off x="2598148" y="6074621"/>
            <a:ext cx="76580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= The cars was travelling at 60km/h</a:t>
            </a:r>
          </a:p>
        </p:txBody>
      </p:sp>
    </p:spTree>
    <p:extLst>
      <p:ext uri="{BB962C8B-B14F-4D97-AF65-F5344CB8AC3E}">
        <p14:creationId xmlns:p14="http://schemas.microsoft.com/office/powerpoint/2010/main" val="4171467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0" grpId="0"/>
      <p:bldP spid="11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41449-6149-4CD2-B65B-A340E1A42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657260"/>
            <a:ext cx="9138444" cy="1244111"/>
          </a:xfrm>
        </p:spPr>
        <p:txBody>
          <a:bodyPr>
            <a:noAutofit/>
          </a:bodyPr>
          <a:lstStyle/>
          <a:p>
            <a:r>
              <a:rPr lang="en-GB" sz="4000" dirty="0"/>
              <a:t>Practice: (LSH)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E3425E-88E4-3444-96DA-E7173F09C9B9}"/>
              </a:ext>
            </a:extLst>
          </p:cNvPr>
          <p:cNvSpPr txBox="1"/>
          <p:nvPr/>
        </p:nvSpPr>
        <p:spPr>
          <a:xfrm>
            <a:off x="899886" y="2844800"/>
            <a:ext cx="105083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GB" sz="2800" dirty="0"/>
              <a:t>Complete the Experiment, Explore and Evaluate section on page 35</a:t>
            </a:r>
          </a:p>
          <a:p>
            <a:pPr marL="514350" indent="-514350">
              <a:buAutoNum type="arabicPeriod"/>
            </a:pPr>
            <a:endParaRPr lang="en-GB" sz="2800" dirty="0"/>
          </a:p>
          <a:p>
            <a:pPr marL="514350" indent="-514350">
              <a:buAutoNum type="arabicPeriod"/>
            </a:pPr>
            <a:r>
              <a:rPr lang="en-GB" sz="2800" dirty="0"/>
              <a:t>Complete the Explore and Apply questions on Page 36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93498B-7A23-514D-85AD-E52CC02E0361}"/>
              </a:ext>
            </a:extLst>
          </p:cNvPr>
          <p:cNvSpPr txBox="1"/>
          <p:nvPr/>
        </p:nvSpPr>
        <p:spPr>
          <a:xfrm>
            <a:off x="791899" y="2191657"/>
            <a:ext cx="26044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Task</a:t>
            </a:r>
          </a:p>
        </p:txBody>
      </p:sp>
    </p:spTree>
    <p:extLst>
      <p:ext uri="{BB962C8B-B14F-4D97-AF65-F5344CB8AC3E}">
        <p14:creationId xmlns:p14="http://schemas.microsoft.com/office/powerpoint/2010/main" val="3256411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69120-91FA-4869-8724-16DDAD41C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Pass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E678BF-D677-48E7-8DF4-37AA9515E4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1.  Which of the following is equivalent to 7:6 </a:t>
                </a:r>
              </a:p>
              <a:p>
                <a:pPr marL="0" indent="0">
                  <a:buNone/>
                </a:pPr>
                <a:r>
                  <a:rPr lang="en-US" dirty="0"/>
                  <a:t>	a.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12:14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		    b.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84:62</m:t>
                    </m:r>
                  </m:oMath>
                </a14:m>
                <a:r>
                  <a:rPr lang="en-US" dirty="0"/>
                  <a:t>			c.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21:18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fontAlgn="base"/>
                <a:r>
                  <a:rPr lang="en-US" dirty="0"/>
                  <a:t>2. </a:t>
                </a:r>
                <a:r>
                  <a:rPr lang="en-AU" dirty="0"/>
                  <a:t>Lucia is making invisibility potions. Each potion requires 2 eyes of newt.</a:t>
                </a:r>
              </a:p>
              <a:p>
                <a:pPr fontAlgn="base"/>
                <a:r>
                  <a:rPr lang="en-AU" b="1" dirty="0"/>
                  <a:t>How many invisibility potions can Lucia make with 16 eyes of newt?</a:t>
                </a:r>
                <a:br>
                  <a:rPr lang="en-AU" dirty="0"/>
                </a:br>
                <a:r>
                  <a:rPr lang="en-AU" i="1" dirty="0"/>
                  <a:t>Lucia has all the other ingredients she needs.</a:t>
                </a:r>
                <a:endParaRPr lang="en-AU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E678BF-D677-48E7-8DF4-37AA9515E4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6510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91E209-E628-4C32-B571-BF00FB68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902061" cy="1499616"/>
          </a:xfrm>
        </p:spPr>
        <p:txBody>
          <a:bodyPr>
            <a:normAutofit/>
          </a:bodyPr>
          <a:lstStyle/>
          <a:p>
            <a:r>
              <a:rPr lang="en-AU" dirty="0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A5B7C2-6C39-4AFA-9B5D-C3F3C81B9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902061" cy="3931920"/>
          </a:xfrm>
        </p:spPr>
        <p:txBody>
          <a:bodyPr>
            <a:norm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Keep up the good work!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i="1"/>
              <a:t>“You </a:t>
            </a:r>
            <a:r>
              <a:rPr lang="en-AU" i="1" dirty="0"/>
              <a:t>are braver than you believe, stronger than you seem and smarter than you think.”</a:t>
            </a:r>
            <a:r>
              <a:rPr lang="en-AU" dirty="0"/>
              <a:t> </a:t>
            </a:r>
          </a:p>
          <a:p>
            <a:r>
              <a:rPr lang="en-US" dirty="0">
                <a:solidFill>
                  <a:srgbClr val="000000"/>
                </a:solidFill>
                <a:latin typeface="Charter"/>
              </a:rPr>
              <a:t>-A.A Milne</a:t>
            </a:r>
            <a:br>
              <a:rPr lang="en-US" dirty="0"/>
            </a:b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10954B83-DCF2-4288-9017-12D8B7B8E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2267" y="1429173"/>
            <a:ext cx="3999654" cy="399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5730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9376</TotalTime>
  <Words>637</Words>
  <Application>Microsoft Macintosh PowerPoint</Application>
  <PresentationFormat>Widescreen</PresentationFormat>
  <Paragraphs>172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Cambria Math</vt:lpstr>
      <vt:lpstr>Charter</vt:lpstr>
      <vt:lpstr>Tw Cen MT</vt:lpstr>
      <vt:lpstr>Tw Cen MT Condensed</vt:lpstr>
      <vt:lpstr>Wingdings</vt:lpstr>
      <vt:lpstr>Wingdings 3</vt:lpstr>
      <vt:lpstr>Integral</vt:lpstr>
      <vt:lpstr>Topic: Ratios EQ: How to use ratios for a scale?</vt:lpstr>
      <vt:lpstr>Things Required For This Lesson</vt:lpstr>
      <vt:lpstr>PowerPoint Presentation</vt:lpstr>
      <vt:lpstr>PowerPoint Presentation</vt:lpstr>
      <vt:lpstr>PowerPoint Presentation</vt:lpstr>
      <vt:lpstr>PowerPoint Presentation</vt:lpstr>
      <vt:lpstr>Think pair share</vt:lpstr>
      <vt:lpstr>PowerPoint Presentation</vt:lpstr>
      <vt:lpstr>Practice: (LSH)</vt:lpstr>
      <vt:lpstr>Exit Pass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Addition and Perimeter EQ: How do you use known and unknown information to find perimeter?</dc:title>
  <dc:creator>WATSON Justin [Baldivis Secondary College]</dc:creator>
  <cp:lastModifiedBy>DIXON Emily [Baldivis Secondary College]</cp:lastModifiedBy>
  <cp:revision>131</cp:revision>
  <dcterms:created xsi:type="dcterms:W3CDTF">2021-02-11T13:20:57Z</dcterms:created>
  <dcterms:modified xsi:type="dcterms:W3CDTF">2021-04-19T13:40:59Z</dcterms:modified>
</cp:coreProperties>
</file>
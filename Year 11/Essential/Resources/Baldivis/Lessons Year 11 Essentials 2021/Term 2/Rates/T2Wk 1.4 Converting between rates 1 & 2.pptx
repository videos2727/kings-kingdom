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3"/>
  </p:notesMasterIdLst>
  <p:sldIdLst>
    <p:sldId id="256" r:id="rId2"/>
    <p:sldId id="257" r:id="rId3"/>
    <p:sldId id="311" r:id="rId4"/>
    <p:sldId id="355" r:id="rId5"/>
    <p:sldId id="356" r:id="rId6"/>
    <p:sldId id="359" r:id="rId7"/>
    <p:sldId id="354" r:id="rId8"/>
    <p:sldId id="360" r:id="rId9"/>
    <p:sldId id="361" r:id="rId10"/>
    <p:sldId id="362" r:id="rId11"/>
    <p:sldId id="32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1" autoAdjust="0"/>
    <p:restoredTop sz="94013" autoAdjust="0"/>
  </p:normalViewPr>
  <p:slideViewPr>
    <p:cSldViewPr snapToGrid="0">
      <p:cViewPr varScale="1">
        <p:scale>
          <a:sx n="71" d="100"/>
          <a:sy n="71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18/4/21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295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8268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41701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Ratios</a:t>
            </a:r>
            <a:br>
              <a:rPr lang="en-AU" sz="4000" dirty="0"/>
            </a:br>
            <a:r>
              <a:rPr lang="en-AU" sz="4000" dirty="0"/>
              <a:t>EQ: Converting Between Rates?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91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to convert between rates?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/03/2021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3012" y="1943587"/>
            <a:ext cx="4181482" cy="313611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2166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B592F-0AF9-498E-A1F8-CE35F9BB3EBE}"/>
              </a:ext>
            </a:extLst>
          </p:cNvPr>
          <p:cNvSpPr txBox="1"/>
          <p:nvPr/>
        </p:nvSpPr>
        <p:spPr>
          <a:xfrm>
            <a:off x="1165022" y="1664462"/>
            <a:ext cx="10460921" cy="66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6F53D-7595-5241-AD3C-876DC4DD6AF4}"/>
              </a:ext>
            </a:extLst>
          </p:cNvPr>
          <p:cNvSpPr txBox="1"/>
          <p:nvPr/>
        </p:nvSpPr>
        <p:spPr>
          <a:xfrm>
            <a:off x="321972" y="1439999"/>
            <a:ext cx="2910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Interleaved Questions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52C54C-692F-FC45-BDCC-1EE4052D9FDD}"/>
              </a:ext>
            </a:extLst>
          </p:cNvPr>
          <p:cNvSpPr txBox="1"/>
          <p:nvPr/>
        </p:nvSpPr>
        <p:spPr>
          <a:xfrm>
            <a:off x="10650071" y="196208"/>
            <a:ext cx="97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Pg. 136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0456EE-50DD-924C-A9AB-3BEECE274B17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to convert between rates?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91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256114" y="1587646"/>
            <a:ext cx="20490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Why do we convert rates? </a:t>
            </a:r>
          </a:p>
          <a:p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83508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We convert between different rates to make comparisons.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27EAC9-8769-684D-B403-76AAE8C1BF18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to convert between rates?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1F7EFB-FE32-A043-81F5-5E0BE5432430}"/>
              </a:ext>
            </a:extLst>
          </p:cNvPr>
          <p:cNvSpPr txBox="1"/>
          <p:nvPr/>
        </p:nvSpPr>
        <p:spPr>
          <a:xfrm>
            <a:off x="80951" y="3089442"/>
            <a:ext cx="20490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to change between rates, one step process.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A203B3-C9F6-5047-B1DC-EAC5242C803A}"/>
              </a:ext>
            </a:extLst>
          </p:cNvPr>
          <p:cNvSpPr txBox="1"/>
          <p:nvPr/>
        </p:nvSpPr>
        <p:spPr>
          <a:xfrm>
            <a:off x="2482121" y="2447341"/>
            <a:ext cx="8405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America speed is expressed in miles per hour (mph) in Australia we use kilometers per hour (km/h).  In this case we only need to convert the distance, but not the time as they both are ‘per hour’. 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B144F9F7-3392-7B42-9AC9-1ACC7A0C8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499260"/>
              </p:ext>
            </p:extLst>
          </p:nvPr>
        </p:nvGraphicFramePr>
        <p:xfrm>
          <a:off x="1697412" y="4766580"/>
          <a:ext cx="4308564" cy="1306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82">
                  <a:extLst>
                    <a:ext uri="{9D8B030D-6E8A-4147-A177-3AD203B41FA5}">
                      <a16:colId xmlns:a16="http://schemas.microsoft.com/office/drawing/2014/main" val="1407455515"/>
                    </a:ext>
                  </a:extLst>
                </a:gridCol>
                <a:gridCol w="2154282">
                  <a:extLst>
                    <a:ext uri="{9D8B030D-6E8A-4147-A177-3AD203B41FA5}">
                      <a16:colId xmlns:a16="http://schemas.microsoft.com/office/drawing/2014/main" val="1278426346"/>
                    </a:ext>
                  </a:extLst>
                </a:gridCol>
              </a:tblGrid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353940"/>
                  </a:ext>
                </a:extLst>
              </a:tr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1 mile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79338"/>
                  </a:ext>
                </a:extLst>
              </a:tr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= 1.6km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38764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6B78700-9008-894B-BA28-28E6A5917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932129"/>
              </p:ext>
            </p:extLst>
          </p:nvPr>
        </p:nvGraphicFramePr>
        <p:xfrm>
          <a:off x="7216049" y="4766580"/>
          <a:ext cx="4308564" cy="1306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82">
                  <a:extLst>
                    <a:ext uri="{9D8B030D-6E8A-4147-A177-3AD203B41FA5}">
                      <a16:colId xmlns:a16="http://schemas.microsoft.com/office/drawing/2014/main" val="1407455515"/>
                    </a:ext>
                  </a:extLst>
                </a:gridCol>
                <a:gridCol w="2154282">
                  <a:extLst>
                    <a:ext uri="{9D8B030D-6E8A-4147-A177-3AD203B41FA5}">
                      <a16:colId xmlns:a16="http://schemas.microsoft.com/office/drawing/2014/main" val="1278426346"/>
                    </a:ext>
                  </a:extLst>
                </a:gridCol>
              </a:tblGrid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353940"/>
                  </a:ext>
                </a:extLst>
              </a:tr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60 miles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79338"/>
                  </a:ext>
                </a:extLst>
              </a:tr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    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387643"/>
                  </a:ext>
                </a:extLst>
              </a:tr>
            </a:tbl>
          </a:graphicData>
        </a:graphic>
      </p:graphicFrame>
      <p:sp>
        <p:nvSpPr>
          <p:cNvPr id="28" name="Curved Right Arrow 27">
            <a:extLst>
              <a:ext uri="{FF2B5EF4-FFF2-40B4-BE49-F238E27FC236}">
                <a16:creationId xmlns:a16="http://schemas.microsoft.com/office/drawing/2014/main" id="{F4112611-E082-AA4A-8714-6A13A2F3EFDD}"/>
              </a:ext>
            </a:extLst>
          </p:cNvPr>
          <p:cNvSpPr/>
          <p:nvPr/>
        </p:nvSpPr>
        <p:spPr>
          <a:xfrm>
            <a:off x="6865015" y="5318043"/>
            <a:ext cx="351034" cy="5675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8ACBE8-24FD-8947-99DF-3FA5B5040231}"/>
              </a:ext>
            </a:extLst>
          </p:cNvPr>
          <p:cNvSpPr txBox="1"/>
          <p:nvPr/>
        </p:nvSpPr>
        <p:spPr>
          <a:xfrm>
            <a:off x="2392126" y="4197437"/>
            <a:ext cx="2829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Relationship Table</a:t>
            </a:r>
          </a:p>
        </p:txBody>
      </p:sp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6581-180C-41F0-AE43-7C289DAE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pair share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07D8-0A1C-4536-A9E9-C4AA7E8C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21118"/>
            <a:ext cx="9720073" cy="5712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/>
              <a:t>Complete these sentences.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39D12-2CD4-E24C-9129-D431D02DE537}"/>
              </a:ext>
            </a:extLst>
          </p:cNvPr>
          <p:cNvSpPr txBox="1"/>
          <p:nvPr/>
        </p:nvSpPr>
        <p:spPr>
          <a:xfrm>
            <a:off x="873541" y="3198167"/>
            <a:ext cx="100212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To convert from 1 mile to 1km, we have to multiply by 1.6, so to convert from 60mph to kph we have to…… 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To convert from 1km to miles we have to… so to convert from kph to mph we have to…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0E958-3C32-0447-9218-2C57C3C36286}"/>
              </a:ext>
            </a:extLst>
          </p:cNvPr>
          <p:cNvSpPr txBox="1"/>
          <p:nvPr/>
        </p:nvSpPr>
        <p:spPr>
          <a:xfrm>
            <a:off x="10894785" y="179294"/>
            <a:ext cx="129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P.g.</a:t>
            </a:r>
            <a:r>
              <a:rPr lang="en-US" dirty="0"/>
              <a:t> 37</a:t>
            </a:r>
          </a:p>
        </p:txBody>
      </p:sp>
    </p:spTree>
    <p:extLst>
      <p:ext uri="{BB962C8B-B14F-4D97-AF65-F5344CB8AC3E}">
        <p14:creationId xmlns:p14="http://schemas.microsoft.com/office/powerpoint/2010/main" val="229477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138444" cy="1244111"/>
          </a:xfrm>
        </p:spPr>
        <p:txBody>
          <a:bodyPr>
            <a:noAutofit/>
          </a:bodyPr>
          <a:lstStyle/>
          <a:p>
            <a:r>
              <a:rPr lang="en-GB" sz="4000" dirty="0"/>
              <a:t>Practice: (LSH)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3425E-88E4-3444-96DA-E7173F09C9B9}"/>
              </a:ext>
            </a:extLst>
          </p:cNvPr>
          <p:cNvSpPr txBox="1"/>
          <p:nvPr/>
        </p:nvSpPr>
        <p:spPr>
          <a:xfrm>
            <a:off x="899886" y="2844800"/>
            <a:ext cx="105083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/>
              <a:t>Complete the Apply questions on page 37</a:t>
            </a:r>
          </a:p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3498B-7A23-514D-85AD-E52CC02E0361}"/>
              </a:ext>
            </a:extLst>
          </p:cNvPr>
          <p:cNvSpPr txBox="1"/>
          <p:nvPr/>
        </p:nvSpPr>
        <p:spPr>
          <a:xfrm>
            <a:off x="791899" y="2191657"/>
            <a:ext cx="2604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91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27EAC9-8769-684D-B403-76AAE8C1BF18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to convert between rates?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1F7EFB-FE32-A043-81F5-5E0BE5432430}"/>
              </a:ext>
            </a:extLst>
          </p:cNvPr>
          <p:cNvSpPr txBox="1"/>
          <p:nvPr/>
        </p:nvSpPr>
        <p:spPr>
          <a:xfrm>
            <a:off x="74645" y="1325792"/>
            <a:ext cx="20490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to change between rates, two step process.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A203B3-C9F6-5047-B1DC-EAC5242C803A}"/>
              </a:ext>
            </a:extLst>
          </p:cNvPr>
          <p:cNvSpPr txBox="1"/>
          <p:nvPr/>
        </p:nvSpPr>
        <p:spPr>
          <a:xfrm>
            <a:off x="2461292" y="1374798"/>
            <a:ext cx="84057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converting both units, you will have to complete a two step process. E.g. Changing meters per second to km/h. 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B144F9F7-3392-7B42-9AC9-1ACC7A0C8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483201"/>
              </p:ext>
            </p:extLst>
          </p:nvPr>
        </p:nvGraphicFramePr>
        <p:xfrm>
          <a:off x="2469455" y="3468335"/>
          <a:ext cx="4308564" cy="1306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82">
                  <a:extLst>
                    <a:ext uri="{9D8B030D-6E8A-4147-A177-3AD203B41FA5}">
                      <a16:colId xmlns:a16="http://schemas.microsoft.com/office/drawing/2014/main" val="1407455515"/>
                    </a:ext>
                  </a:extLst>
                </a:gridCol>
                <a:gridCol w="2154282">
                  <a:extLst>
                    <a:ext uri="{9D8B030D-6E8A-4147-A177-3AD203B41FA5}">
                      <a16:colId xmlns:a16="http://schemas.microsoft.com/office/drawing/2014/main" val="1278426346"/>
                    </a:ext>
                  </a:extLst>
                </a:gridCol>
              </a:tblGrid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353940"/>
                  </a:ext>
                </a:extLst>
              </a:tr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1km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79338"/>
                  </a:ext>
                </a:extLst>
              </a:tr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= 1000m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one </a:t>
                      </a:r>
                      <a:r>
                        <a:rPr lang="en-US" dirty="0" err="1"/>
                        <a:t>hor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38764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6B78700-9008-894B-BA28-28E6A5917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62718"/>
              </p:ext>
            </p:extLst>
          </p:nvPr>
        </p:nvGraphicFramePr>
        <p:xfrm>
          <a:off x="2461292" y="5355433"/>
          <a:ext cx="4308564" cy="1306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82">
                  <a:extLst>
                    <a:ext uri="{9D8B030D-6E8A-4147-A177-3AD203B41FA5}">
                      <a16:colId xmlns:a16="http://schemas.microsoft.com/office/drawing/2014/main" val="1407455515"/>
                    </a:ext>
                  </a:extLst>
                </a:gridCol>
                <a:gridCol w="2154282">
                  <a:extLst>
                    <a:ext uri="{9D8B030D-6E8A-4147-A177-3AD203B41FA5}">
                      <a16:colId xmlns:a16="http://schemas.microsoft.com/office/drawing/2014/main" val="1278426346"/>
                    </a:ext>
                  </a:extLst>
                </a:gridCol>
              </a:tblGrid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353940"/>
                  </a:ext>
                </a:extLst>
              </a:tr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1000m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3600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79338"/>
                  </a:ext>
                </a:extLst>
              </a:tr>
              <a:tr h="435453">
                <a:tc>
                  <a:txBody>
                    <a:bodyPr/>
                    <a:lstStyle/>
                    <a:p>
                      <a:r>
                        <a:rPr lang="en-US" dirty="0"/>
                        <a:t>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1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38764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3B8ACBE8-24FD-8947-99DF-3FA5B5040231}"/>
              </a:ext>
            </a:extLst>
          </p:cNvPr>
          <p:cNvSpPr txBox="1"/>
          <p:nvPr/>
        </p:nvSpPr>
        <p:spPr>
          <a:xfrm>
            <a:off x="2375595" y="2274821"/>
            <a:ext cx="2829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Relationship Table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2D3BF4-6CDD-6F41-852E-44DC76DE38A0}"/>
              </a:ext>
            </a:extLst>
          </p:cNvPr>
          <p:cNvSpPr txBox="1"/>
          <p:nvPr/>
        </p:nvSpPr>
        <p:spPr>
          <a:xfrm>
            <a:off x="4901456" y="3102096"/>
            <a:ext cx="208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Distance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FCB081-5EAF-9D4E-B8E5-21B3E387013C}"/>
              </a:ext>
            </a:extLst>
          </p:cNvPr>
          <p:cNvSpPr txBox="1"/>
          <p:nvPr/>
        </p:nvSpPr>
        <p:spPr>
          <a:xfrm>
            <a:off x="2469455" y="2736486"/>
            <a:ext cx="6011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Chaning</a:t>
            </a:r>
            <a:r>
              <a:rPr lang="en-US" sz="2000" dirty="0"/>
              <a:t> 1km/h to m/sec</a:t>
            </a:r>
          </a:p>
        </p:txBody>
      </p:sp>
      <p:sp>
        <p:nvSpPr>
          <p:cNvPr id="7" name="Curved Right Arrow 6">
            <a:extLst>
              <a:ext uri="{FF2B5EF4-FFF2-40B4-BE49-F238E27FC236}">
                <a16:creationId xmlns:a16="http://schemas.microsoft.com/office/drawing/2014/main" id="{0DC469F6-AF13-D14A-974E-566E220ECBC9}"/>
              </a:ext>
            </a:extLst>
          </p:cNvPr>
          <p:cNvSpPr/>
          <p:nvPr/>
        </p:nvSpPr>
        <p:spPr>
          <a:xfrm>
            <a:off x="2000043" y="3966966"/>
            <a:ext cx="477444" cy="64531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7F33EF-80EA-204C-B30C-92F6DE1ED223}"/>
              </a:ext>
            </a:extLst>
          </p:cNvPr>
          <p:cNvSpPr txBox="1"/>
          <p:nvPr/>
        </p:nvSpPr>
        <p:spPr>
          <a:xfrm>
            <a:off x="6778019" y="3531496"/>
            <a:ext cx="124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Rate</a:t>
            </a:r>
          </a:p>
        </p:txBody>
      </p:sp>
      <p:sp>
        <p:nvSpPr>
          <p:cNvPr id="8" name="Curved Left Arrow 7">
            <a:extLst>
              <a:ext uri="{FF2B5EF4-FFF2-40B4-BE49-F238E27FC236}">
                <a16:creationId xmlns:a16="http://schemas.microsoft.com/office/drawing/2014/main" id="{EA896AD9-DA42-7248-892A-65D6D7B387CC}"/>
              </a:ext>
            </a:extLst>
          </p:cNvPr>
          <p:cNvSpPr/>
          <p:nvPr/>
        </p:nvSpPr>
        <p:spPr>
          <a:xfrm>
            <a:off x="6778019" y="5856404"/>
            <a:ext cx="483393" cy="64633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2F8F6-8AD3-C041-84D1-43631DB30277}"/>
              </a:ext>
            </a:extLst>
          </p:cNvPr>
          <p:cNvSpPr txBox="1"/>
          <p:nvPr/>
        </p:nvSpPr>
        <p:spPr>
          <a:xfrm>
            <a:off x="6848689" y="5311389"/>
            <a:ext cx="1648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Rate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802263-2783-5F44-B5CE-EA0EAE5D82FD}"/>
              </a:ext>
            </a:extLst>
          </p:cNvPr>
          <p:cNvSpPr txBox="1"/>
          <p:nvPr/>
        </p:nvSpPr>
        <p:spPr>
          <a:xfrm>
            <a:off x="5101992" y="5140624"/>
            <a:ext cx="208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0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138444" cy="1244111"/>
          </a:xfrm>
        </p:spPr>
        <p:txBody>
          <a:bodyPr>
            <a:noAutofit/>
          </a:bodyPr>
          <a:lstStyle/>
          <a:p>
            <a:r>
              <a:rPr lang="en-GB" sz="4000" dirty="0"/>
              <a:t>Practice: (LSH)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3425E-88E4-3444-96DA-E7173F09C9B9}"/>
              </a:ext>
            </a:extLst>
          </p:cNvPr>
          <p:cNvSpPr txBox="1"/>
          <p:nvPr/>
        </p:nvSpPr>
        <p:spPr>
          <a:xfrm>
            <a:off x="899886" y="2844800"/>
            <a:ext cx="105083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/>
              <a:t>Convert 60km/h into m/sec. </a:t>
            </a:r>
          </a:p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3498B-7A23-514D-85AD-E52CC02E0361}"/>
              </a:ext>
            </a:extLst>
          </p:cNvPr>
          <p:cNvSpPr txBox="1"/>
          <p:nvPr/>
        </p:nvSpPr>
        <p:spPr>
          <a:xfrm>
            <a:off x="791899" y="2191657"/>
            <a:ext cx="2604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Pairs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860E5D0-7FB0-5B4A-BB1A-409611182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11414"/>
              </p:ext>
            </p:extLst>
          </p:nvPr>
        </p:nvGraphicFramePr>
        <p:xfrm>
          <a:off x="3050151" y="4186075"/>
          <a:ext cx="6685520" cy="20146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42760">
                  <a:extLst>
                    <a:ext uri="{9D8B030D-6E8A-4147-A177-3AD203B41FA5}">
                      <a16:colId xmlns:a16="http://schemas.microsoft.com/office/drawing/2014/main" val="3492867982"/>
                    </a:ext>
                  </a:extLst>
                </a:gridCol>
                <a:gridCol w="3342760">
                  <a:extLst>
                    <a:ext uri="{9D8B030D-6E8A-4147-A177-3AD203B41FA5}">
                      <a16:colId xmlns:a16="http://schemas.microsoft.com/office/drawing/2014/main" val="2987257947"/>
                    </a:ext>
                  </a:extLst>
                </a:gridCol>
              </a:tblGrid>
              <a:tr h="671555">
                <a:tc>
                  <a:txBody>
                    <a:bodyPr/>
                    <a:lstStyle/>
                    <a:p>
                      <a:r>
                        <a:rPr lang="en-US" sz="2400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84613"/>
                  </a:ext>
                </a:extLst>
              </a:tr>
              <a:tr h="6715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175838"/>
                  </a:ext>
                </a:extLst>
              </a:tr>
              <a:tr h="67155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5004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5F9203-45F5-504C-83D0-33C44B9835BE}"/>
              </a:ext>
            </a:extLst>
          </p:cNvPr>
          <p:cNvSpPr txBox="1"/>
          <p:nvPr/>
        </p:nvSpPr>
        <p:spPr>
          <a:xfrm>
            <a:off x="8068236" y="3798907"/>
            <a:ext cx="166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Table</a:t>
            </a:r>
          </a:p>
        </p:txBody>
      </p:sp>
    </p:spTree>
    <p:extLst>
      <p:ext uri="{BB962C8B-B14F-4D97-AF65-F5344CB8AC3E}">
        <p14:creationId xmlns:p14="http://schemas.microsoft.com/office/powerpoint/2010/main" val="131051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138444" cy="1244111"/>
          </a:xfrm>
        </p:spPr>
        <p:txBody>
          <a:bodyPr>
            <a:noAutofit/>
          </a:bodyPr>
          <a:lstStyle/>
          <a:p>
            <a:r>
              <a:rPr lang="en-GB" sz="4000" dirty="0"/>
              <a:t>Practice: (LSH)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3425E-88E4-3444-96DA-E7173F09C9B9}"/>
              </a:ext>
            </a:extLst>
          </p:cNvPr>
          <p:cNvSpPr txBox="1"/>
          <p:nvPr/>
        </p:nvSpPr>
        <p:spPr>
          <a:xfrm>
            <a:off x="899886" y="2844800"/>
            <a:ext cx="105083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/>
              <a:t>Complete the Evaluate questions on page 38.</a:t>
            </a:r>
          </a:p>
          <a:p>
            <a:pPr marL="514350" indent="-514350">
              <a:buAutoNum type="arabicPeriod"/>
            </a:pPr>
            <a:endParaRPr lang="en-GB" sz="2800" dirty="0"/>
          </a:p>
          <a:p>
            <a:pPr marL="514350" indent="-514350">
              <a:buAutoNum type="arabicPeriod"/>
            </a:pPr>
            <a:r>
              <a:rPr lang="en-GB" sz="2800" dirty="0"/>
              <a:t>Complete the Apply and Extend Questions on page 38. </a:t>
            </a:r>
          </a:p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3498B-7A23-514D-85AD-E52CC02E0361}"/>
              </a:ext>
            </a:extLst>
          </p:cNvPr>
          <p:cNvSpPr txBox="1"/>
          <p:nvPr/>
        </p:nvSpPr>
        <p:spPr>
          <a:xfrm>
            <a:off x="791899" y="2191657"/>
            <a:ext cx="2604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1323286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i="1" dirty="0"/>
              <a:t>“Learn from yesterday. Live for today. Hope for tomorrow.”</a:t>
            </a:r>
            <a:r>
              <a:rPr lang="en-AU" dirty="0"/>
              <a:t> </a:t>
            </a:r>
          </a:p>
          <a:p>
            <a:r>
              <a:rPr lang="en-AU" dirty="0"/>
              <a:t>– Albert Einstein</a:t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10148</TotalTime>
  <Words>423</Words>
  <Application>Microsoft Macintosh PowerPoint</Application>
  <PresentationFormat>Widescreen</PresentationFormat>
  <Paragraphs>97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Tw Cen MT</vt:lpstr>
      <vt:lpstr>Tw Cen MT Condensed</vt:lpstr>
      <vt:lpstr>Wingdings</vt:lpstr>
      <vt:lpstr>Wingdings 3</vt:lpstr>
      <vt:lpstr>Integral</vt:lpstr>
      <vt:lpstr>Topic: Ratios EQ: Converting Between Rates?</vt:lpstr>
      <vt:lpstr>Things Required For This Lesson</vt:lpstr>
      <vt:lpstr>PowerPoint Presentation</vt:lpstr>
      <vt:lpstr>PowerPoint Presentation</vt:lpstr>
      <vt:lpstr>PowerPoint Presentation</vt:lpstr>
      <vt:lpstr>Think pair share</vt:lpstr>
      <vt:lpstr>Practice: (LSH)</vt:lpstr>
      <vt:lpstr>PowerPoint Presentation</vt:lpstr>
      <vt:lpstr>Practice: (LSH)</vt:lpstr>
      <vt:lpstr>Practice: (LSH)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DIXON Emily [Baldivis Secondary College]</cp:lastModifiedBy>
  <cp:revision>144</cp:revision>
  <dcterms:created xsi:type="dcterms:W3CDTF">2021-02-11T13:20:57Z</dcterms:created>
  <dcterms:modified xsi:type="dcterms:W3CDTF">2021-04-20T02:33:17Z</dcterms:modified>
</cp:coreProperties>
</file>
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10"/>
  </p:notesMasterIdLst>
  <p:sldIdLst>
    <p:sldId id="355" r:id="rId2"/>
    <p:sldId id="356" r:id="rId3"/>
    <p:sldId id="256" r:id="rId4"/>
    <p:sldId id="352" r:id="rId5"/>
    <p:sldId id="357" r:id="rId6"/>
    <p:sldId id="358" r:id="rId7"/>
    <p:sldId id="359" r:id="rId8"/>
    <p:sldId id="34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09" autoAdjust="0"/>
    <p:restoredTop sz="95610" autoAdjust="0"/>
  </p:normalViewPr>
  <p:slideViewPr>
    <p:cSldViewPr snapToGrid="0">
      <p:cViewPr varScale="1">
        <p:scale>
          <a:sx n="81" d="100"/>
          <a:sy n="81" d="100"/>
        </p:scale>
        <p:origin x="126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AEC40-FB91-4B4E-8615-59788947F0F0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F8C66-E9D4-4BCD-9B84-1B952BD6C7C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560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718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76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5F8C66-E9D4-4BCD-9B84-1B952BD6C7CB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984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483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80291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1289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87294F-DEA6-4D3A-864A-E2E179377C11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85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4120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0" y="0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393700" ty="-82550" sx="35000" sy="3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11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13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222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055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1683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9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568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7294F-DEA6-4D3A-864A-E2E179377C11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5073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87294F-DEA6-4D3A-864A-E2E179377C11}" type="datetimeFigureOut">
              <a:rPr lang="en-AU" smtClean="0"/>
              <a:t>22/06/2021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EE85469-5E97-4092-A190-A2DAADA27300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512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70" y="9909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8C98A-E548-D646-997D-B1B20895D778}"/>
              </a:ext>
            </a:extLst>
          </p:cNvPr>
          <p:cNvSpPr txBox="1"/>
          <p:nvPr/>
        </p:nvSpPr>
        <p:spPr>
          <a:xfrm>
            <a:off x="1786850" y="1488756"/>
            <a:ext cx="76777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  <a:p>
            <a:pPr marL="342900" indent="-342900">
              <a:buAutoNum type="arabicParenR"/>
            </a:pPr>
            <a:r>
              <a:rPr lang="en-US" sz="2400" dirty="0"/>
              <a:t>Insert brackets to make this true: </a:t>
            </a:r>
          </a:p>
          <a:p>
            <a:r>
              <a:rPr lang="en-US" sz="2400" dirty="0"/>
              <a:t>                     9 + 7 × 2 – 12 ÷ 4 = 20</a:t>
            </a:r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90% of $1,400 =</a:t>
            </a:r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2 m</a:t>
            </a:r>
            <a:r>
              <a:rPr lang="en-US" sz="2400" baseline="30000" dirty="0"/>
              <a:t>2</a:t>
            </a:r>
            <a:r>
              <a:rPr lang="en-US" sz="2400" dirty="0"/>
              <a:t> = _________ cm</a:t>
            </a:r>
            <a:r>
              <a:rPr lang="en-US" sz="2400" baseline="30000" dirty="0"/>
              <a:t>2 </a:t>
            </a:r>
            <a:endParaRPr lang="en-US" sz="2400" dirty="0"/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A cube has a volume of 196 m</a:t>
            </a:r>
            <a:r>
              <a:rPr lang="en-US" sz="2400" baseline="30000" dirty="0"/>
              <a:t>3</a:t>
            </a:r>
            <a:r>
              <a:rPr lang="en-US" sz="2400" dirty="0"/>
              <a:t> , what is its side length ?</a:t>
            </a:r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 900 g = _________ kg</a:t>
            </a:r>
          </a:p>
        </p:txBody>
      </p:sp>
    </p:spTree>
    <p:extLst>
      <p:ext uri="{BB962C8B-B14F-4D97-AF65-F5344CB8AC3E}">
        <p14:creationId xmlns:p14="http://schemas.microsoft.com/office/powerpoint/2010/main" val="1896579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84058-F110-4341-AAE9-DF21C868F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70" y="990916"/>
            <a:ext cx="5740739" cy="1499616"/>
          </a:xfrm>
        </p:spPr>
        <p:txBody>
          <a:bodyPr>
            <a:normAutofit/>
          </a:bodyPr>
          <a:lstStyle/>
          <a:p>
            <a:r>
              <a:rPr lang="en-AU" sz="3500" dirty="0"/>
              <a:t>First 5 Answers</a:t>
            </a:r>
            <a:br>
              <a:rPr lang="en-AU" sz="3500" dirty="0"/>
            </a:br>
            <a:br>
              <a:rPr lang="en-AU" sz="3500" dirty="0"/>
            </a:br>
            <a:endParaRPr lang="en-AU" sz="35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8C98A-E548-D646-997D-B1B20895D778}"/>
              </a:ext>
            </a:extLst>
          </p:cNvPr>
          <p:cNvSpPr txBox="1"/>
          <p:nvPr/>
        </p:nvSpPr>
        <p:spPr>
          <a:xfrm>
            <a:off x="1786849" y="1488756"/>
            <a:ext cx="821217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 </a:t>
            </a:r>
          </a:p>
          <a:p>
            <a:pPr marL="342900" indent="-342900">
              <a:buAutoNum type="arabicParenR"/>
            </a:pPr>
            <a:r>
              <a:rPr lang="en-US" sz="2400" dirty="0"/>
              <a:t>Insert brackets to make this true: </a:t>
            </a:r>
          </a:p>
          <a:p>
            <a:r>
              <a:rPr lang="en-US" sz="2400" dirty="0"/>
              <a:t>                      9 + 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dirty="0"/>
              <a:t>7 × 2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 – </a:t>
            </a:r>
            <a:r>
              <a:rPr lang="en-US" sz="2400" dirty="0">
                <a:solidFill>
                  <a:srgbClr val="FF0000"/>
                </a:solidFill>
              </a:rPr>
              <a:t>(</a:t>
            </a:r>
            <a:r>
              <a:rPr lang="en-US" sz="2400" dirty="0"/>
              <a:t>12 ÷ 4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  <a:r>
              <a:rPr lang="en-US" sz="2400" dirty="0"/>
              <a:t> = 20</a:t>
            </a:r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90% of $1,400 =</a:t>
            </a:r>
            <a:r>
              <a:rPr lang="en-US" sz="2400" dirty="0">
                <a:solidFill>
                  <a:srgbClr val="FF0000"/>
                </a:solidFill>
              </a:rPr>
              <a:t> $1,260</a:t>
            </a:r>
            <a:endParaRPr lang="en-US" sz="2400" dirty="0"/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2 m</a:t>
            </a:r>
            <a:r>
              <a:rPr lang="en-US" sz="2400" baseline="30000" dirty="0"/>
              <a:t>2</a:t>
            </a:r>
            <a:r>
              <a:rPr lang="en-US" sz="2400" dirty="0"/>
              <a:t> = ____</a:t>
            </a:r>
            <a:r>
              <a:rPr lang="en-US" sz="2400" dirty="0">
                <a:solidFill>
                  <a:srgbClr val="FF0000"/>
                </a:solidFill>
              </a:rPr>
              <a:t> 20,000</a:t>
            </a:r>
            <a:r>
              <a:rPr lang="en-US" sz="2400" dirty="0"/>
              <a:t> cm</a:t>
            </a:r>
            <a:r>
              <a:rPr lang="en-US" sz="2400" baseline="30000" dirty="0"/>
              <a:t>2 </a:t>
            </a:r>
            <a:endParaRPr lang="en-US" sz="2400" dirty="0"/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A cube has a volume of 196 m</a:t>
            </a:r>
            <a:r>
              <a:rPr lang="en-US" sz="2400" baseline="30000" dirty="0"/>
              <a:t>3</a:t>
            </a:r>
            <a:r>
              <a:rPr lang="en-US" sz="2400" dirty="0"/>
              <a:t> , what is its side length ? </a:t>
            </a:r>
            <a:r>
              <a:rPr lang="en-US" sz="2400" dirty="0">
                <a:solidFill>
                  <a:srgbClr val="FF0000"/>
                </a:solidFill>
              </a:rPr>
              <a:t>14 m</a:t>
            </a:r>
            <a:endParaRPr lang="en-US" sz="2400" dirty="0"/>
          </a:p>
          <a:p>
            <a:pPr marL="342900" indent="-342900">
              <a:buAutoNum type="arabicParenR"/>
            </a:pPr>
            <a:endParaRPr lang="en-US" sz="2400" dirty="0"/>
          </a:p>
          <a:p>
            <a:pPr marL="342900" indent="-342900">
              <a:buAutoNum type="arabicParenR"/>
            </a:pPr>
            <a:r>
              <a:rPr lang="en-US" sz="2400" dirty="0"/>
              <a:t> 900 g = _____</a:t>
            </a:r>
            <a:r>
              <a:rPr lang="en-US" sz="2400" dirty="0">
                <a:solidFill>
                  <a:srgbClr val="FF0000"/>
                </a:solidFill>
              </a:rPr>
              <a:t> 0.9</a:t>
            </a:r>
            <a:r>
              <a:rPr lang="en-US" sz="2400" dirty="0"/>
              <a:t> kg</a:t>
            </a:r>
          </a:p>
        </p:txBody>
      </p:sp>
    </p:spTree>
    <p:extLst>
      <p:ext uri="{BB962C8B-B14F-4D97-AF65-F5344CB8AC3E}">
        <p14:creationId xmlns:p14="http://schemas.microsoft.com/office/powerpoint/2010/main" val="332136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1B51-FD68-4F9A-AF72-D0BD0020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960137"/>
            <a:ext cx="8045824" cy="1463040"/>
          </a:xfrm>
        </p:spPr>
        <p:txBody>
          <a:bodyPr>
            <a:noAutofit/>
          </a:bodyPr>
          <a:lstStyle/>
          <a:p>
            <a:pPr algn="l"/>
            <a:r>
              <a:rPr lang="en-AU" sz="4000" dirty="0"/>
              <a:t>Topic: metric units of mass</a:t>
            </a:r>
            <a:br>
              <a:rPr lang="en-AU" sz="4000" dirty="0"/>
            </a:br>
            <a:r>
              <a:rPr lang="en-AU" sz="4000" dirty="0">
                <a:cs typeface="Calibri" panose="020F0502020204030204" pitchFamily="34" charset="0"/>
              </a:rPr>
              <a:t>EQ: How to estimate mass?</a:t>
            </a:r>
            <a:endParaRPr lang="en-AU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35905-0902-4C57-9CA6-37C142F28C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</a:p>
        </p:txBody>
      </p:sp>
    </p:spTree>
    <p:extLst>
      <p:ext uri="{BB962C8B-B14F-4D97-AF65-F5344CB8AC3E}">
        <p14:creationId xmlns:p14="http://schemas.microsoft.com/office/powerpoint/2010/main" val="1669176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to estimate mass 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87C46E6-C1D8-4E29-8A4D-126F13978806}"/>
              </a:ext>
            </a:extLst>
          </p:cNvPr>
          <p:cNvSpPr txBox="1"/>
          <p:nvPr/>
        </p:nvSpPr>
        <p:spPr>
          <a:xfrm>
            <a:off x="74646" y="1350574"/>
            <a:ext cx="18119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are the weights of some typical objects?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BED54D-2C03-4FB4-8B32-515C9F3D8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159" y="1509099"/>
            <a:ext cx="7319110" cy="37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56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to estimate mass 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87C46E6-C1D8-4E29-8A4D-126F13978806}"/>
              </a:ext>
            </a:extLst>
          </p:cNvPr>
          <p:cNvSpPr txBox="1"/>
          <p:nvPr/>
        </p:nvSpPr>
        <p:spPr>
          <a:xfrm>
            <a:off x="74646" y="1350574"/>
            <a:ext cx="18119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are the weights of some typical objects? 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4CBE7E20-BD15-42BD-A3AE-008AABA01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397017"/>
              </p:ext>
            </p:extLst>
          </p:nvPr>
        </p:nvGraphicFramePr>
        <p:xfrm>
          <a:off x="1848780" y="1954398"/>
          <a:ext cx="9929941" cy="4596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1488">
                  <a:extLst>
                    <a:ext uri="{9D8B030D-6E8A-4147-A177-3AD203B41FA5}">
                      <a16:colId xmlns:a16="http://schemas.microsoft.com/office/drawing/2014/main" val="3596078283"/>
                    </a:ext>
                  </a:extLst>
                </a:gridCol>
                <a:gridCol w="3525821">
                  <a:extLst>
                    <a:ext uri="{9D8B030D-6E8A-4147-A177-3AD203B41FA5}">
                      <a16:colId xmlns:a16="http://schemas.microsoft.com/office/drawing/2014/main" val="3005560770"/>
                    </a:ext>
                  </a:extLst>
                </a:gridCol>
                <a:gridCol w="4892632">
                  <a:extLst>
                    <a:ext uri="{9D8B030D-6E8A-4147-A177-3AD203B41FA5}">
                      <a16:colId xmlns:a16="http://schemas.microsoft.com/office/drawing/2014/main" val="730588879"/>
                    </a:ext>
                  </a:extLst>
                </a:gridCol>
              </a:tblGrid>
              <a:tr h="552688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Items with this approximate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Your 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076616"/>
                  </a:ext>
                </a:extLst>
              </a:tr>
              <a:tr h="552688">
                <a:tc>
                  <a:txBody>
                    <a:bodyPr/>
                    <a:lstStyle/>
                    <a:p>
                      <a:r>
                        <a:rPr lang="en-AU" dirty="0"/>
                        <a:t>1 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 grain of sand</a:t>
                      </a:r>
                    </a:p>
                    <a:p>
                      <a:r>
                        <a:rPr lang="en-AU" dirty="0"/>
                        <a:t>A tiny insect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161506"/>
                  </a:ext>
                </a:extLst>
              </a:tr>
              <a:tr h="552688">
                <a:tc>
                  <a:txBody>
                    <a:bodyPr/>
                    <a:lstStyle/>
                    <a:p>
                      <a:r>
                        <a:rPr lang="en-AU" dirty="0"/>
                        <a:t>2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 5c coin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802654"/>
                  </a:ext>
                </a:extLst>
              </a:tr>
              <a:tr h="552688">
                <a:tc>
                  <a:txBody>
                    <a:bodyPr/>
                    <a:lstStyle/>
                    <a:p>
                      <a:r>
                        <a:rPr lang="en-AU" dirty="0"/>
                        <a:t>100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An </a:t>
                      </a:r>
                      <a:r>
                        <a:rPr lang="en-AU" dirty="0" err="1"/>
                        <a:t>Iphone</a:t>
                      </a:r>
                      <a:r>
                        <a:rPr lang="en-AU" dirty="0"/>
                        <a:t> without a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902193"/>
                  </a:ext>
                </a:extLst>
              </a:tr>
              <a:tr h="552688">
                <a:tc>
                  <a:txBody>
                    <a:bodyPr/>
                    <a:lstStyle/>
                    <a:p>
                      <a:r>
                        <a:rPr lang="en-AU" dirty="0"/>
                        <a:t>1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 litre of water or milk</a:t>
                      </a:r>
                    </a:p>
                    <a:p>
                      <a:r>
                        <a:rPr lang="en-AU" dirty="0"/>
                        <a:t>5 medium-sized oranges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538017"/>
                  </a:ext>
                </a:extLst>
              </a:tr>
              <a:tr h="552688">
                <a:tc>
                  <a:txBody>
                    <a:bodyPr/>
                    <a:lstStyle/>
                    <a:p>
                      <a:r>
                        <a:rPr lang="en-AU" dirty="0"/>
                        <a:t>50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 fashion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413814"/>
                  </a:ext>
                </a:extLst>
              </a:tr>
              <a:tr h="552688">
                <a:tc>
                  <a:txBody>
                    <a:bodyPr/>
                    <a:lstStyle/>
                    <a:p>
                      <a:r>
                        <a:rPr lang="en-AU" dirty="0"/>
                        <a:t>100 kg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 solid, muscular dude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128086"/>
                  </a:ext>
                </a:extLst>
              </a:tr>
              <a:tr h="552688">
                <a:tc>
                  <a:txBody>
                    <a:bodyPr/>
                    <a:lstStyle/>
                    <a:p>
                      <a:r>
                        <a:rPr lang="en-AU" dirty="0"/>
                        <a:t>1 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A small 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477211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776EB875-EF5B-4277-82EC-B74CC24450D3}"/>
              </a:ext>
            </a:extLst>
          </p:cNvPr>
          <p:cNvSpPr txBox="1"/>
          <p:nvPr/>
        </p:nvSpPr>
        <p:spPr>
          <a:xfrm>
            <a:off x="2083813" y="1424589"/>
            <a:ext cx="8765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Activity: with partner, come up with some other things that have the mass in the table:  </a:t>
            </a:r>
          </a:p>
        </p:txBody>
      </p:sp>
    </p:spTree>
    <p:extLst>
      <p:ext uri="{BB962C8B-B14F-4D97-AF65-F5344CB8AC3E}">
        <p14:creationId xmlns:p14="http://schemas.microsoft.com/office/powerpoint/2010/main" val="2615516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174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Measurement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How to estimate mass 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87C46E6-C1D8-4E29-8A4D-126F13978806}"/>
              </a:ext>
            </a:extLst>
          </p:cNvPr>
          <p:cNvSpPr txBox="1"/>
          <p:nvPr/>
        </p:nvSpPr>
        <p:spPr>
          <a:xfrm>
            <a:off x="74646" y="1350574"/>
            <a:ext cx="18119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How to estimate using water?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DDE5B8-7BCB-46E1-95A0-BA3DC92640BB}"/>
              </a:ext>
            </a:extLst>
          </p:cNvPr>
          <p:cNvSpPr txBox="1"/>
          <p:nvPr/>
        </p:nvSpPr>
        <p:spPr>
          <a:xfrm>
            <a:off x="1968662" y="1372963"/>
            <a:ext cx="83272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Milk has a very similar density (mass per volume) to water. The human body also have a density that is similar to water. </a:t>
            </a:r>
          </a:p>
          <a:p>
            <a:r>
              <a:rPr lang="en-US" sz="2000" dirty="0"/>
              <a:t>Female Babies weigh around 3.2 kg,  at six months they weigh 7.3 kg, at 1 year 9kg, and at 2 years they weigh around 11.5 kg. Use these numbers to roughly calculate the size of a baby to a 2L bottle of milk, and complete the table.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DD828D4-C10D-4F3C-8F3D-D515B6292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797155"/>
              </p:ext>
            </p:extLst>
          </p:nvPr>
        </p:nvGraphicFramePr>
        <p:xfrm>
          <a:off x="1886552" y="3152519"/>
          <a:ext cx="8931867" cy="30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920">
                  <a:extLst>
                    <a:ext uri="{9D8B030D-6E8A-4147-A177-3AD203B41FA5}">
                      <a16:colId xmlns:a16="http://schemas.microsoft.com/office/drawing/2014/main" val="1241941737"/>
                    </a:ext>
                  </a:extLst>
                </a:gridCol>
                <a:gridCol w="3381013">
                  <a:extLst>
                    <a:ext uri="{9D8B030D-6E8A-4147-A177-3AD203B41FA5}">
                      <a16:colId xmlns:a16="http://schemas.microsoft.com/office/drawing/2014/main" val="855212834"/>
                    </a:ext>
                  </a:extLst>
                </a:gridCol>
                <a:gridCol w="2232967">
                  <a:extLst>
                    <a:ext uri="{9D8B030D-6E8A-4147-A177-3AD203B41FA5}">
                      <a16:colId xmlns:a16="http://schemas.microsoft.com/office/drawing/2014/main" val="1593303869"/>
                    </a:ext>
                  </a:extLst>
                </a:gridCol>
                <a:gridCol w="2232967">
                  <a:extLst>
                    <a:ext uri="{9D8B030D-6E8A-4147-A177-3AD203B41FA5}">
                      <a16:colId xmlns:a16="http://schemas.microsoft.com/office/drawing/2014/main" val="3234799567"/>
                    </a:ext>
                  </a:extLst>
                </a:gridCol>
              </a:tblGrid>
              <a:tr h="60532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Weight (kg)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Estimated volume         (cm</a:t>
                      </a:r>
                      <a:r>
                        <a:rPr lang="en-AU" baseline="30000" dirty="0"/>
                        <a:t>3</a:t>
                      </a:r>
                      <a:r>
                        <a:rPr lang="en-AU" dirty="0"/>
                        <a:t> or 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How many 2L bottles of milk is this?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605023"/>
                  </a:ext>
                </a:extLst>
              </a:tr>
              <a:tr h="60532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Birth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276816"/>
                  </a:ext>
                </a:extLst>
              </a:tr>
              <a:tr h="605320">
                <a:tc>
                  <a:txBody>
                    <a:bodyPr/>
                    <a:lstStyle/>
                    <a:p>
                      <a:r>
                        <a:rPr lang="en-AU" dirty="0"/>
                        <a:t>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341404"/>
                  </a:ext>
                </a:extLst>
              </a:tr>
              <a:tr h="60532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971463"/>
                  </a:ext>
                </a:extLst>
              </a:tr>
              <a:tr h="60532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537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9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ED761A-0F18-499D-AB40-6AEAF5AA5D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13" b="8435"/>
          <a:stretch/>
        </p:blipFill>
        <p:spPr>
          <a:xfrm>
            <a:off x="3724139" y="3445"/>
            <a:ext cx="8424082" cy="64228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8F2037-1DB2-4B78-9281-DA4EF5F5B7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1976" t="5294" r="4610" b="9241"/>
          <a:stretch/>
        </p:blipFill>
        <p:spPr>
          <a:xfrm>
            <a:off x="473531" y="1892507"/>
            <a:ext cx="3513670" cy="2385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956C13-7FFE-402E-8C3A-0E07E066D9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2431" b="57701"/>
          <a:stretch/>
        </p:blipFill>
        <p:spPr>
          <a:xfrm>
            <a:off x="368599" y="345319"/>
            <a:ext cx="3513670" cy="1678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954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91E209-E628-4C32-B571-BF00FB68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5902061" cy="1499616"/>
          </a:xfrm>
        </p:spPr>
        <p:txBody>
          <a:bodyPr>
            <a:normAutofit/>
          </a:bodyPr>
          <a:lstStyle/>
          <a:p>
            <a:r>
              <a:rPr lang="en-AU"/>
              <a:t>Thank you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A5B7C2-6C39-4AFA-9B5D-C3F3C81B9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902061" cy="3931920"/>
          </a:xfrm>
        </p:spPr>
        <p:txBody>
          <a:bodyPr>
            <a:normAutofit/>
          </a:bodyPr>
          <a:lstStyle/>
          <a:p>
            <a:r>
              <a:rPr lang="en-AU" dirty="0">
                <a:latin typeface="Calibri" panose="020F0502020204030204" pitchFamily="34" charset="0"/>
                <a:cs typeface="Calibri" panose="020F0502020204030204" pitchFamily="34" charset="0"/>
              </a:rPr>
              <a:t>Keep up the good work!</a:t>
            </a: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8" descr="Smiling Face with No Fill">
            <a:extLst>
              <a:ext uri="{FF2B5EF4-FFF2-40B4-BE49-F238E27FC236}">
                <a16:creationId xmlns:a16="http://schemas.microsoft.com/office/drawing/2014/main" id="{10954B83-DCF2-4288-9017-12D8B7B8E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52267" y="1429173"/>
            <a:ext cx="3999654" cy="399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8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C1C93EF2-4785-427F-84A5-F1666490E9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11305</TotalTime>
  <Words>404</Words>
  <Application>Microsoft Office PowerPoint</Application>
  <PresentationFormat>Widescreen</PresentationFormat>
  <Paragraphs>88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Tw Cen MT</vt:lpstr>
      <vt:lpstr>Tw Cen MT Condensed</vt:lpstr>
      <vt:lpstr>Wingdings 3</vt:lpstr>
      <vt:lpstr>Integral</vt:lpstr>
      <vt:lpstr>First 5  </vt:lpstr>
      <vt:lpstr>First 5 Answers  </vt:lpstr>
      <vt:lpstr>Topic: metric units of mass EQ: How to estimate mass?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Addition and Perimeter EQ: How do you use known and unknown information to find perimeter?</dc:title>
  <dc:creator>WATSON Justin [Baldivis Secondary College]</dc:creator>
  <cp:lastModifiedBy>ron</cp:lastModifiedBy>
  <cp:revision>87</cp:revision>
  <dcterms:created xsi:type="dcterms:W3CDTF">2021-02-11T13:20:57Z</dcterms:created>
  <dcterms:modified xsi:type="dcterms:W3CDTF">2021-06-22T08:14:14Z</dcterms:modified>
</cp:coreProperties>
</file>
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0"/>
  </p:notesMasterIdLst>
  <p:sldIdLst>
    <p:sldId id="357" r:id="rId2"/>
    <p:sldId id="358" r:id="rId3"/>
    <p:sldId id="256" r:id="rId4"/>
    <p:sldId id="352" r:id="rId5"/>
    <p:sldId id="356" r:id="rId6"/>
    <p:sldId id="359" r:id="rId7"/>
    <p:sldId id="360" r:id="rId8"/>
    <p:sldId id="34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09" autoAdjust="0"/>
    <p:restoredTop sz="95610" autoAdjust="0"/>
  </p:normalViewPr>
  <p:slideViewPr>
    <p:cSldViewPr snapToGrid="0">
      <p:cViewPr varScale="1">
        <p:scale>
          <a:sx n="81" d="100"/>
          <a:sy n="81" d="100"/>
        </p:scale>
        <p:origin x="12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184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2953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984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483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61478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70" y="990916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/>
              <a:t>First 5</a:t>
            </a:r>
            <a:br>
              <a:rPr lang="en-AU" sz="3500" dirty="0"/>
            </a:br>
            <a:br>
              <a:rPr lang="en-AU" sz="3500" dirty="0"/>
            </a:br>
            <a:endParaRPr lang="en-AU" sz="3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8C98A-E548-D646-997D-B1B20895D778}"/>
              </a:ext>
            </a:extLst>
          </p:cNvPr>
          <p:cNvSpPr txBox="1"/>
          <p:nvPr/>
        </p:nvSpPr>
        <p:spPr>
          <a:xfrm>
            <a:off x="1786850" y="1488756"/>
            <a:ext cx="76777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  <a:p>
            <a:pPr marL="342900" indent="-342900">
              <a:buAutoNum type="arabicParenR"/>
            </a:pPr>
            <a:r>
              <a:rPr lang="en-US" sz="2400" dirty="0"/>
              <a:t>Simplify the ratio   27:18:12 =</a:t>
            </a:r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AutoNum type="arabicParenR"/>
            </a:pPr>
            <a:r>
              <a:rPr lang="en-US" sz="2400" dirty="0"/>
              <a:t>4% of $1,000,000 =</a:t>
            </a:r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AutoNum type="arabicParenR"/>
            </a:pPr>
            <a:r>
              <a:rPr lang="en-US" sz="2400" dirty="0"/>
              <a:t>200 mm</a:t>
            </a:r>
            <a:r>
              <a:rPr lang="en-US" sz="2400" baseline="30000" dirty="0"/>
              <a:t>2</a:t>
            </a:r>
            <a:r>
              <a:rPr lang="en-US" sz="2400" dirty="0"/>
              <a:t> = _________ cm</a:t>
            </a:r>
            <a:r>
              <a:rPr lang="en-US" sz="2400" baseline="30000" dirty="0"/>
              <a:t>2 </a:t>
            </a:r>
            <a:endParaRPr lang="en-US" sz="2400" dirty="0"/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AutoNum type="arabicParenR"/>
            </a:pPr>
            <a:r>
              <a:rPr lang="en-US" sz="2400" dirty="0"/>
              <a:t>A shoebox has dimensions 30cm x 15cm x 20cm, what is its volume ?</a:t>
            </a:r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AutoNum type="arabicParenR"/>
            </a:pPr>
            <a:r>
              <a:rPr lang="en-US" sz="2400" dirty="0"/>
              <a:t> 0.01 kg = _________ g</a:t>
            </a:r>
          </a:p>
        </p:txBody>
      </p:sp>
    </p:spTree>
    <p:extLst>
      <p:ext uri="{BB962C8B-B14F-4D97-AF65-F5344CB8AC3E}">
        <p14:creationId xmlns:p14="http://schemas.microsoft.com/office/powerpoint/2010/main" val="4066441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70" y="990916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/>
              <a:t>First 5</a:t>
            </a:r>
            <a:br>
              <a:rPr lang="en-AU" sz="3500" dirty="0"/>
            </a:br>
            <a:br>
              <a:rPr lang="en-AU" sz="3500" dirty="0"/>
            </a:br>
            <a:endParaRPr lang="en-AU" sz="3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8C98A-E548-D646-997D-B1B20895D778}"/>
              </a:ext>
            </a:extLst>
          </p:cNvPr>
          <p:cNvSpPr txBox="1"/>
          <p:nvPr/>
        </p:nvSpPr>
        <p:spPr>
          <a:xfrm>
            <a:off x="1786850" y="1488756"/>
            <a:ext cx="76777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  <a:p>
            <a:pPr marL="342900" indent="-342900">
              <a:buAutoNum type="arabicParenR"/>
            </a:pPr>
            <a:r>
              <a:rPr lang="en-US" sz="2400" dirty="0"/>
              <a:t>Simplify the ratio   27:18:12 = </a:t>
            </a:r>
            <a:r>
              <a:rPr lang="en-US" sz="2400" dirty="0">
                <a:solidFill>
                  <a:srgbClr val="FF0000"/>
                </a:solidFill>
              </a:rPr>
              <a:t>9:6:4</a:t>
            </a:r>
            <a:endParaRPr lang="en-US" sz="2400" dirty="0"/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AutoNum type="arabicParenR"/>
            </a:pPr>
            <a:r>
              <a:rPr lang="en-US" sz="2400" dirty="0"/>
              <a:t>4% of $1,000,000 = </a:t>
            </a:r>
            <a:r>
              <a:rPr lang="en-US" sz="2400" dirty="0">
                <a:solidFill>
                  <a:srgbClr val="FF0000"/>
                </a:solidFill>
              </a:rPr>
              <a:t>$40,000</a:t>
            </a:r>
            <a:endParaRPr lang="en-US" sz="2400" dirty="0"/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AutoNum type="arabicParenR"/>
            </a:pPr>
            <a:r>
              <a:rPr lang="en-US" sz="2400" dirty="0"/>
              <a:t>200 mm</a:t>
            </a:r>
            <a:r>
              <a:rPr lang="en-US" sz="2400" baseline="30000" dirty="0"/>
              <a:t>2</a:t>
            </a:r>
            <a:r>
              <a:rPr lang="en-US" sz="2400" dirty="0"/>
              <a:t> = ___</a:t>
            </a:r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 cm</a:t>
            </a:r>
            <a:r>
              <a:rPr lang="en-US" sz="2400" baseline="30000" dirty="0"/>
              <a:t>2 </a:t>
            </a:r>
            <a:endParaRPr lang="en-US" sz="2400" dirty="0"/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AutoNum type="arabicParenR"/>
            </a:pPr>
            <a:r>
              <a:rPr lang="en-US" sz="2400" dirty="0"/>
              <a:t>A shoebox has dimensions 30cm x 15cm x 20cm, what is its volume ?  </a:t>
            </a:r>
            <a:r>
              <a:rPr lang="en-US" sz="2400" dirty="0">
                <a:solidFill>
                  <a:srgbClr val="FF0000"/>
                </a:solidFill>
              </a:rPr>
              <a:t>9000 cm</a:t>
            </a:r>
            <a:r>
              <a:rPr lang="en-US" sz="2400" baseline="30000" dirty="0">
                <a:solidFill>
                  <a:srgbClr val="FF0000"/>
                </a:solidFill>
              </a:rPr>
              <a:t>3</a:t>
            </a: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AutoNum type="arabicParenR"/>
            </a:pPr>
            <a:r>
              <a:rPr lang="en-US" sz="2400" dirty="0"/>
              <a:t> 0.01 kg = _____</a:t>
            </a:r>
            <a:r>
              <a:rPr lang="en-US" sz="2400" dirty="0">
                <a:solidFill>
                  <a:srgbClr val="FF0000"/>
                </a:solidFill>
              </a:rPr>
              <a:t>10</a:t>
            </a:r>
            <a:r>
              <a:rPr lang="en-US" sz="2400" dirty="0"/>
              <a:t> g</a:t>
            </a:r>
          </a:p>
        </p:txBody>
      </p:sp>
    </p:spTree>
    <p:extLst>
      <p:ext uri="{BB962C8B-B14F-4D97-AF65-F5344CB8AC3E}">
        <p14:creationId xmlns:p14="http://schemas.microsoft.com/office/powerpoint/2010/main" val="880705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metric units of mass</a:t>
            </a:r>
            <a:br>
              <a:rPr lang="en-AU" sz="4000" dirty="0"/>
            </a:br>
            <a:r>
              <a:rPr lang="en-AU" sz="4000" dirty="0">
                <a:cs typeface="Calibri" panose="020F0502020204030204" pitchFamily="34" charset="0"/>
              </a:rPr>
              <a:t>EQ: what’s in our food?</a:t>
            </a: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148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Metric Units of Mass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What’s in our food?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4325C16-D3A0-AC4C-AB58-C4F1EDA0AF05}"/>
              </a:ext>
            </a:extLst>
          </p:cNvPr>
          <p:cNvSpPr txBox="1"/>
          <p:nvPr/>
        </p:nvSpPr>
        <p:spPr>
          <a:xfrm>
            <a:off x="1792705" y="1222394"/>
            <a:ext cx="7502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Australian law requires all food labels to give the following information: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87C46E6-C1D8-4E29-8A4D-126F13978806}"/>
              </a:ext>
            </a:extLst>
          </p:cNvPr>
          <p:cNvSpPr txBox="1"/>
          <p:nvPr/>
        </p:nvSpPr>
        <p:spPr>
          <a:xfrm>
            <a:off x="74646" y="1350574"/>
            <a:ext cx="18119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information is on a food label?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7834E7-40FF-4E1F-8D6A-B79BCE2E1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865" y="1566216"/>
            <a:ext cx="8072380" cy="533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56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148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Metric Units of Mass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What’s in our food?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4325C16-D3A0-AC4C-AB58-C4F1EDA0AF05}"/>
              </a:ext>
            </a:extLst>
          </p:cNvPr>
          <p:cNvSpPr txBox="1"/>
          <p:nvPr/>
        </p:nvSpPr>
        <p:spPr>
          <a:xfrm>
            <a:off x="1792705" y="1222394"/>
            <a:ext cx="7502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Example: on a can of evaporated milk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87C46E6-C1D8-4E29-8A4D-126F13978806}"/>
              </a:ext>
            </a:extLst>
          </p:cNvPr>
          <p:cNvSpPr txBox="1"/>
          <p:nvPr/>
        </p:nvSpPr>
        <p:spPr>
          <a:xfrm>
            <a:off x="74646" y="1350574"/>
            <a:ext cx="18119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information is on a food label?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C2000B-637C-41D5-9366-0EA6CBEFE3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829"/>
          <a:stretch/>
        </p:blipFill>
        <p:spPr>
          <a:xfrm>
            <a:off x="6682865" y="159661"/>
            <a:ext cx="4702446" cy="64683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1378316-EAA5-46E3-968D-C896501F94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720" t="13985" r="45310" b="81456"/>
          <a:stretch/>
        </p:blipFill>
        <p:spPr>
          <a:xfrm>
            <a:off x="1792705" y="1748455"/>
            <a:ext cx="4764361" cy="2328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3B455F2-8A43-4F84-8263-EDB0521EE5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596" r="44590" b="52631"/>
          <a:stretch/>
        </p:blipFill>
        <p:spPr>
          <a:xfrm>
            <a:off x="1902528" y="4336615"/>
            <a:ext cx="4764361" cy="9075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0C9C295-9A49-4CAA-B094-592C63FBD9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257" r="44590" b="69978"/>
          <a:stretch/>
        </p:blipFill>
        <p:spPr>
          <a:xfrm>
            <a:off x="1876606" y="2713434"/>
            <a:ext cx="4764361" cy="60072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B413A8B-3936-44CD-AFF2-8B98ED6B63F6}"/>
              </a:ext>
            </a:extLst>
          </p:cNvPr>
          <p:cNvSpPr txBox="1"/>
          <p:nvPr/>
        </p:nvSpPr>
        <p:spPr>
          <a:xfrm>
            <a:off x="2064613" y="1994046"/>
            <a:ext cx="7502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Amount in the can = 3.75 x 100</a:t>
            </a:r>
          </a:p>
          <a:p>
            <a:r>
              <a:rPr lang="en-US" dirty="0">
                <a:solidFill>
                  <a:schemeClr val="accent1"/>
                </a:solidFill>
              </a:rPr>
              <a:t>			     = 375 mL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1E148A-3893-49F3-BF79-D56A88E074DA}"/>
              </a:ext>
            </a:extLst>
          </p:cNvPr>
          <p:cNvSpPr txBox="1"/>
          <p:nvPr/>
        </p:nvSpPr>
        <p:spPr>
          <a:xfrm>
            <a:off x="2064613" y="3314158"/>
            <a:ext cx="7502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2% of the daily amount of fat = 1.6 g</a:t>
            </a:r>
          </a:p>
          <a:p>
            <a:r>
              <a:rPr lang="en-US" dirty="0">
                <a:solidFill>
                  <a:schemeClr val="accent1"/>
                </a:solidFill>
              </a:rPr>
              <a:t>Multiply by 50 to get</a:t>
            </a:r>
          </a:p>
          <a:p>
            <a:r>
              <a:rPr lang="en-US" dirty="0">
                <a:solidFill>
                  <a:schemeClr val="accent1"/>
                </a:solidFill>
              </a:rPr>
              <a:t>100% of the daily amount of fat = 80 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BB45BC-322F-4501-9491-3C7FA6F2F527}"/>
              </a:ext>
            </a:extLst>
          </p:cNvPr>
          <p:cNvSpPr txBox="1"/>
          <p:nvPr/>
        </p:nvSpPr>
        <p:spPr>
          <a:xfrm>
            <a:off x="2087676" y="5005622"/>
            <a:ext cx="7502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Each serving contains 240 mg of calcium</a:t>
            </a:r>
          </a:p>
          <a:p>
            <a:r>
              <a:rPr lang="en-US" dirty="0">
                <a:solidFill>
                  <a:schemeClr val="accent1"/>
                </a:solidFill>
              </a:rPr>
              <a:t>There are 1000 mg in 1 g</a:t>
            </a:r>
          </a:p>
          <a:p>
            <a:r>
              <a:rPr lang="en-US" dirty="0">
                <a:solidFill>
                  <a:schemeClr val="accent1"/>
                </a:solidFill>
              </a:rPr>
              <a:t>1000 ÷ 240 = 4.17 servings </a:t>
            </a:r>
          </a:p>
        </p:txBody>
      </p:sp>
    </p:spTree>
    <p:extLst>
      <p:ext uri="{BB962C8B-B14F-4D97-AF65-F5344CB8AC3E}">
        <p14:creationId xmlns:p14="http://schemas.microsoft.com/office/powerpoint/2010/main" val="221790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0DFEB0D3-48C2-4613-84F1-FD27BB417DFC}"/>
              </a:ext>
            </a:extLst>
          </p:cNvPr>
          <p:cNvSpPr txBox="1">
            <a:spLocks/>
          </p:cNvSpPr>
          <p:nvPr/>
        </p:nvSpPr>
        <p:spPr>
          <a:xfrm>
            <a:off x="608491" y="464563"/>
            <a:ext cx="8107172" cy="1253236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Do: Nutritional Information Worksheet</a:t>
            </a:r>
          </a:p>
          <a:p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850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0DFEB0D3-48C2-4613-84F1-FD27BB417DFC}"/>
              </a:ext>
            </a:extLst>
          </p:cNvPr>
          <p:cNvSpPr txBox="1">
            <a:spLocks/>
          </p:cNvSpPr>
          <p:nvPr/>
        </p:nvSpPr>
        <p:spPr>
          <a:xfrm>
            <a:off x="608491" y="464563"/>
            <a:ext cx="4083430" cy="250348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Answers to Nutritional Information Worksheet</a:t>
            </a:r>
          </a:p>
          <a:p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0C73B7-BBBB-4506-83AC-35D269BEA3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326"/>
          <a:stretch/>
        </p:blipFill>
        <p:spPr>
          <a:xfrm>
            <a:off x="4691921" y="795200"/>
            <a:ext cx="5672662" cy="511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359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340864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084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11427</TotalTime>
  <Words>263</Words>
  <Application>Microsoft Office PowerPoint</Application>
  <PresentationFormat>Widescreen</PresentationFormat>
  <Paragraphs>59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Tw Cen MT</vt:lpstr>
      <vt:lpstr>Tw Cen MT Condensed</vt:lpstr>
      <vt:lpstr>Wingdings 3</vt:lpstr>
      <vt:lpstr>Integral</vt:lpstr>
      <vt:lpstr>First 5  </vt:lpstr>
      <vt:lpstr>First 5  </vt:lpstr>
      <vt:lpstr>Topic: metric units of mass EQ: what’s in our food?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ron</cp:lastModifiedBy>
  <cp:revision>81</cp:revision>
  <dcterms:created xsi:type="dcterms:W3CDTF">2021-02-11T13:20:57Z</dcterms:created>
  <dcterms:modified xsi:type="dcterms:W3CDTF">2021-06-25T04:55:01Z</dcterms:modified>
</cp:coreProperties>
</file>
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1"/>
  </p:notesMasterIdLst>
  <p:sldIdLst>
    <p:sldId id="355" r:id="rId2"/>
    <p:sldId id="360" r:id="rId3"/>
    <p:sldId id="256" r:id="rId4"/>
    <p:sldId id="352" r:id="rId5"/>
    <p:sldId id="356" r:id="rId6"/>
    <p:sldId id="357" r:id="rId7"/>
    <p:sldId id="358" r:id="rId8"/>
    <p:sldId id="359" r:id="rId9"/>
    <p:sldId id="34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09" autoAdjust="0"/>
    <p:restoredTop sz="95610" autoAdjust="0"/>
  </p:normalViewPr>
  <p:slideViewPr>
    <p:cSldViewPr snapToGrid="0">
      <p:cViewPr varScale="1">
        <p:scale>
          <a:sx n="81" d="100"/>
          <a:sy n="81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18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5709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483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34093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8443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25/06/2021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70" y="9909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8C98A-E548-D646-997D-B1B20895D778}"/>
              </a:ext>
            </a:extLst>
          </p:cNvPr>
          <p:cNvSpPr txBox="1"/>
          <p:nvPr/>
        </p:nvSpPr>
        <p:spPr>
          <a:xfrm>
            <a:off x="1786850" y="1488756"/>
            <a:ext cx="64817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pPr marL="342900" indent="-342900">
              <a:buAutoNum type="arabicParenR"/>
            </a:pPr>
            <a:r>
              <a:rPr lang="en-US" sz="2400" dirty="0"/>
              <a:t>9 + 7 × 2 =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20% of $2,300 =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1.35 km = _________ m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A rectangular prism is 6cm x 2cm  x 100cm, what is its volume ?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Estimate 423 x 198</a:t>
            </a:r>
          </a:p>
          <a:p>
            <a:pPr marL="342900" indent="-342900">
              <a:buAutoNum type="arabicParenR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6579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70" y="9909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</a:t>
            </a:r>
            <a:r>
              <a:rPr lang="en-AU" sz="3500"/>
              <a:t>5 Answers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8C98A-E548-D646-997D-B1B20895D778}"/>
              </a:ext>
            </a:extLst>
          </p:cNvPr>
          <p:cNvSpPr txBox="1"/>
          <p:nvPr/>
        </p:nvSpPr>
        <p:spPr>
          <a:xfrm>
            <a:off x="1786850" y="1488756"/>
            <a:ext cx="64817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pPr marL="342900" indent="-342900">
              <a:buFontTx/>
              <a:buAutoNum type="arabicParenR"/>
            </a:pPr>
            <a:r>
              <a:rPr lang="en-US" sz="2400" dirty="0"/>
              <a:t>9 + 7 × 2 = </a:t>
            </a:r>
            <a:r>
              <a:rPr lang="en-US" sz="2400" dirty="0">
                <a:solidFill>
                  <a:srgbClr val="FF0000"/>
                </a:solidFill>
              </a:rPr>
              <a:t>23</a:t>
            </a:r>
            <a:endParaRPr lang="en-US" sz="2400" dirty="0"/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FontTx/>
              <a:buAutoNum type="arabicParenR"/>
            </a:pPr>
            <a:r>
              <a:rPr lang="en-US" sz="2400" dirty="0"/>
              <a:t>20% of $2,300 = </a:t>
            </a:r>
            <a:r>
              <a:rPr lang="en-US" sz="2400" dirty="0">
                <a:solidFill>
                  <a:srgbClr val="FF0000"/>
                </a:solidFill>
              </a:rPr>
              <a:t>$460</a:t>
            </a:r>
            <a:endParaRPr lang="en-US" sz="2400" dirty="0"/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FontTx/>
              <a:buAutoNum type="arabicParenR"/>
            </a:pPr>
            <a:r>
              <a:rPr lang="en-US" sz="2400" dirty="0"/>
              <a:t>1.35 km = ___</a:t>
            </a:r>
            <a:r>
              <a:rPr lang="en-US" sz="2400" dirty="0">
                <a:solidFill>
                  <a:srgbClr val="FF0000"/>
                </a:solidFill>
              </a:rPr>
              <a:t>1,350</a:t>
            </a:r>
            <a:r>
              <a:rPr lang="en-US" sz="2400" dirty="0"/>
              <a:t> m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FontTx/>
              <a:buAutoNum type="arabicParenR"/>
            </a:pPr>
            <a:r>
              <a:rPr lang="en-US" sz="2400" dirty="0"/>
              <a:t>A rectangular prism is 6cm x 2cm  x 100cm, what is its volume ?    </a:t>
            </a:r>
            <a:r>
              <a:rPr lang="en-US" sz="2400" dirty="0">
                <a:solidFill>
                  <a:srgbClr val="FF0000"/>
                </a:solidFill>
              </a:rPr>
              <a:t>1,200 cm</a:t>
            </a:r>
            <a:r>
              <a:rPr lang="en-US" sz="2400" baseline="30000" dirty="0">
                <a:solidFill>
                  <a:srgbClr val="FF0000"/>
                </a:solidFill>
              </a:rPr>
              <a:t>3</a:t>
            </a:r>
            <a:endParaRPr lang="en-US" sz="2400" baseline="30000" dirty="0"/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Estimate 423 x 198  </a:t>
            </a:r>
            <a:r>
              <a:rPr lang="en-US" sz="2400" dirty="0">
                <a:solidFill>
                  <a:srgbClr val="FF0000"/>
                </a:solidFill>
              </a:rPr>
              <a:t>400 × 200 = 80,000</a:t>
            </a:r>
            <a:endParaRPr lang="en-US" sz="2400" dirty="0"/>
          </a:p>
          <a:p>
            <a:pPr marL="342900" indent="-342900">
              <a:buAutoNum type="arabicParenR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342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metric units of mass</a:t>
            </a:r>
            <a:br>
              <a:rPr lang="en-AU" sz="4000" dirty="0"/>
            </a:br>
            <a:r>
              <a:rPr lang="en-AU" sz="4000" dirty="0">
                <a:cs typeface="Calibri" panose="020F0502020204030204" pitchFamily="34" charset="0"/>
              </a:rPr>
              <a:t>EQ: How to use units of mass?</a:t>
            </a: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to use units of mass?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325C16-D3A0-AC4C-AB58-C4F1EDA0AF05}"/>
              </a:ext>
            </a:extLst>
          </p:cNvPr>
          <p:cNvSpPr txBox="1"/>
          <p:nvPr/>
        </p:nvSpPr>
        <p:spPr>
          <a:xfrm>
            <a:off x="2083813" y="1442044"/>
            <a:ext cx="53933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I say my weight is 85 kg, it’s the same as saying my mass is 85 kg.</a:t>
            </a:r>
          </a:p>
          <a:p>
            <a:endParaRPr lang="en-US" sz="2000" dirty="0"/>
          </a:p>
          <a:p>
            <a:r>
              <a:rPr lang="en-US" sz="2000" dirty="0"/>
              <a:t>In the metric system, the gram is the basic unit of mass. All other mass units are based on the gram.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87C46E6-C1D8-4E29-8A4D-126F13978806}"/>
              </a:ext>
            </a:extLst>
          </p:cNvPr>
          <p:cNvSpPr txBox="1"/>
          <p:nvPr/>
        </p:nvSpPr>
        <p:spPr>
          <a:xfrm>
            <a:off x="74646" y="1350574"/>
            <a:ext cx="18119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are the units of mass?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0198E-EE40-4B18-B9D7-3C5E8F72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813" y="3284196"/>
            <a:ext cx="7801048" cy="248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56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to use units of mass?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325C16-D3A0-AC4C-AB58-C4F1EDA0AF05}"/>
              </a:ext>
            </a:extLst>
          </p:cNvPr>
          <p:cNvSpPr txBox="1"/>
          <p:nvPr/>
        </p:nvSpPr>
        <p:spPr>
          <a:xfrm>
            <a:off x="2083813" y="1476077"/>
            <a:ext cx="5393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Example: express 750 kg in</a:t>
            </a:r>
          </a:p>
          <a:p>
            <a:r>
              <a:rPr lang="en-US" sz="2000" dirty="0"/>
              <a:t>	a. grams					b. </a:t>
            </a:r>
            <a:r>
              <a:rPr lang="en-US" sz="2000" dirty="0" err="1"/>
              <a:t>tonnes</a:t>
            </a:r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87C46E6-C1D8-4E29-8A4D-126F13978806}"/>
              </a:ext>
            </a:extLst>
          </p:cNvPr>
          <p:cNvSpPr txBox="1"/>
          <p:nvPr/>
        </p:nvSpPr>
        <p:spPr>
          <a:xfrm>
            <a:off x="74646" y="1350574"/>
            <a:ext cx="18119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to convert between metric units of mass?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8E8DAB-62F4-48E4-92CC-9541A33E6A6A}"/>
              </a:ext>
            </a:extLst>
          </p:cNvPr>
          <p:cNvSpPr txBox="1"/>
          <p:nvPr/>
        </p:nvSpPr>
        <p:spPr>
          <a:xfrm>
            <a:off x="2083811" y="2729015"/>
            <a:ext cx="73914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eriod"/>
            </a:pPr>
            <a:r>
              <a:rPr lang="en-US" sz="2000" dirty="0"/>
              <a:t>The conversion factor between g and kg is 1000. Changing to a smaller unit, we multiply by the conversion factor:</a:t>
            </a:r>
          </a:p>
          <a:p>
            <a:r>
              <a:rPr lang="en-US" sz="2000" dirty="0"/>
              <a:t>			750 kg = 750 × 1000 g</a:t>
            </a:r>
          </a:p>
          <a:p>
            <a:pPr lvl="2"/>
            <a:r>
              <a:rPr lang="en-US" sz="2000" dirty="0"/>
              <a:t>     		     = 750,000 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0AD9C7-B92C-43C6-8F4C-90BF69596ED2}"/>
              </a:ext>
            </a:extLst>
          </p:cNvPr>
          <p:cNvSpPr txBox="1"/>
          <p:nvPr/>
        </p:nvSpPr>
        <p:spPr>
          <a:xfrm>
            <a:off x="2083811" y="4312167"/>
            <a:ext cx="73914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eriod" startAt="2"/>
            </a:pPr>
            <a:r>
              <a:rPr lang="en-US" sz="2000" dirty="0"/>
              <a:t>The conversion factor between kg and t is 1000. Changing to a </a:t>
            </a:r>
          </a:p>
          <a:p>
            <a:r>
              <a:rPr lang="en-US" sz="2000" dirty="0"/>
              <a:t>	bigger unit, we divide by the conversion factor:</a:t>
            </a:r>
          </a:p>
          <a:p>
            <a:r>
              <a:rPr lang="en-US" sz="2000" dirty="0"/>
              <a:t>			750 kg = 750 ÷ 1000 t</a:t>
            </a:r>
          </a:p>
          <a:p>
            <a:pPr lvl="2"/>
            <a:r>
              <a:rPr lang="en-US" sz="2000" dirty="0"/>
              <a:t>     		     = 0.75 t</a:t>
            </a:r>
          </a:p>
        </p:txBody>
      </p:sp>
    </p:spTree>
    <p:extLst>
      <p:ext uri="{BB962C8B-B14F-4D97-AF65-F5344CB8AC3E}">
        <p14:creationId xmlns:p14="http://schemas.microsoft.com/office/powerpoint/2010/main" val="396934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to use units of mass?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325C16-D3A0-AC4C-AB58-C4F1EDA0AF05}"/>
              </a:ext>
            </a:extLst>
          </p:cNvPr>
          <p:cNvSpPr txBox="1"/>
          <p:nvPr/>
        </p:nvSpPr>
        <p:spPr>
          <a:xfrm>
            <a:off x="2083813" y="1476077"/>
            <a:ext cx="59914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Example: American Airlines only allows strollers that have a mass of 20 pounds or less. Rachel’s stroller has a mass of 8.5 kg. Will she be able to take her stroller?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87C46E6-C1D8-4E29-8A4D-126F13978806}"/>
              </a:ext>
            </a:extLst>
          </p:cNvPr>
          <p:cNvSpPr txBox="1"/>
          <p:nvPr/>
        </p:nvSpPr>
        <p:spPr>
          <a:xfrm>
            <a:off x="74646" y="1350574"/>
            <a:ext cx="18119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to convert between metric and non-metric units of mass?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8E8DAB-62F4-48E4-92CC-9541A33E6A6A}"/>
              </a:ext>
            </a:extLst>
          </p:cNvPr>
          <p:cNvSpPr txBox="1"/>
          <p:nvPr/>
        </p:nvSpPr>
        <p:spPr>
          <a:xfrm>
            <a:off x="4678880" y="2729015"/>
            <a:ext cx="4796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1 kg = 2.2 pounds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0AD9C7-B92C-43C6-8F4C-90BF69596ED2}"/>
              </a:ext>
            </a:extLst>
          </p:cNvPr>
          <p:cNvSpPr txBox="1"/>
          <p:nvPr/>
        </p:nvSpPr>
        <p:spPr>
          <a:xfrm>
            <a:off x="2083813" y="3350474"/>
            <a:ext cx="73914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Pounds are smaller than kg, we could divide 20 pounds by the conversion factor to change it to kg:</a:t>
            </a:r>
          </a:p>
          <a:p>
            <a:r>
              <a:rPr lang="en-US" sz="2000" dirty="0"/>
              <a:t>				20 pounds = 20 ÷ 2.2 kg</a:t>
            </a:r>
          </a:p>
          <a:p>
            <a:r>
              <a:rPr lang="en-US" sz="2000" dirty="0"/>
              <a:t>		   				    = 9.09 kg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64EE8-DA6E-4773-9DB0-7169177902C8}"/>
              </a:ext>
            </a:extLst>
          </p:cNvPr>
          <p:cNvSpPr txBox="1"/>
          <p:nvPr/>
        </p:nvSpPr>
        <p:spPr>
          <a:xfrm>
            <a:off x="2083812" y="4748351"/>
            <a:ext cx="73914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maximum mass allowed is 9.09 kg. Rachel’s stroller is only 8.5 kg, so she can take her stroller. </a:t>
            </a:r>
          </a:p>
        </p:txBody>
      </p:sp>
    </p:spTree>
    <p:extLst>
      <p:ext uri="{BB962C8B-B14F-4D97-AF65-F5344CB8AC3E}">
        <p14:creationId xmlns:p14="http://schemas.microsoft.com/office/powerpoint/2010/main" val="3066005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D874D5-C610-4974-B16A-22EA84901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63" y="719528"/>
            <a:ext cx="9842735" cy="517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51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7AB7FC-84B9-4A12-A229-181D02D3B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36" y="764499"/>
            <a:ext cx="10115524" cy="523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31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11513</TotalTime>
  <Words>450</Words>
  <Application>Microsoft Office PowerPoint</Application>
  <PresentationFormat>Widescreen</PresentationFormat>
  <Paragraphs>74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Tw Cen MT</vt:lpstr>
      <vt:lpstr>Tw Cen MT Condensed</vt:lpstr>
      <vt:lpstr>Wingdings 3</vt:lpstr>
      <vt:lpstr>Integral</vt:lpstr>
      <vt:lpstr>First 5  </vt:lpstr>
      <vt:lpstr>First 5 Answers  </vt:lpstr>
      <vt:lpstr>Topic: metric units of mass EQ: How to use units of mass?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ron</cp:lastModifiedBy>
  <cp:revision>80</cp:revision>
  <dcterms:created xsi:type="dcterms:W3CDTF">2021-02-11T13:20:57Z</dcterms:created>
  <dcterms:modified xsi:type="dcterms:W3CDTF">2021-06-25T05:00:42Z</dcterms:modified>
</cp:coreProperties>
</file>
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1"/>
  </p:notesMasterIdLst>
  <p:sldIdLst>
    <p:sldId id="256" r:id="rId2"/>
    <p:sldId id="257" r:id="rId3"/>
    <p:sldId id="311" r:id="rId4"/>
    <p:sldId id="324" r:id="rId5"/>
    <p:sldId id="352" r:id="rId6"/>
    <p:sldId id="355" r:id="rId7"/>
    <p:sldId id="354" r:id="rId8"/>
    <p:sldId id="356" r:id="rId9"/>
    <p:sldId id="34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763" autoAdjust="0"/>
    <p:restoredTop sz="95610" autoAdjust="0"/>
  </p:normalViewPr>
  <p:slideViewPr>
    <p:cSldViewPr snapToGrid="0">
      <p:cViewPr varScale="1">
        <p:scale>
          <a:sx n="76" d="100"/>
          <a:sy n="76" d="100"/>
        </p:scale>
        <p:origin x="10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6/6/21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98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184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483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1013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6/6/21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Measurement</a:t>
            </a:r>
            <a:br>
              <a:rPr lang="en-AU" sz="4000" dirty="0"/>
            </a:br>
            <a:r>
              <a:rPr lang="en-AU" sz="4000" dirty="0">
                <a:cs typeface="Calibri" panose="020F0502020204030204" pitchFamily="34" charset="0"/>
              </a:rPr>
              <a:t>EQ: How do I find the perimeter and area of a square?</a:t>
            </a:r>
            <a:br>
              <a:rPr lang="en-GB" sz="4000" dirty="0">
                <a:cs typeface="Calibri" panose="020F0502020204030204" pitchFamily="34" charset="0"/>
              </a:rPr>
            </a:b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How do I find the perimeter of squares and rectangles?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332" y="3051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/>
              <a:t>First 5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345D65-2A74-491B-AC96-C66B2726A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15D9FA9-26A2-4F4D-8F7C-658E5E38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908171" y="305116"/>
            <a:ext cx="2662908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>
                <a:solidFill>
                  <a:srgbClr val="FF0000"/>
                </a:solidFill>
              </a:rPr>
              <a:t>Answers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1) 70km/h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2) 7(3+14-9)=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3) 1</a:t>
            </a:r>
          </a:p>
          <a:p>
            <a:endParaRPr lang="en-AU" sz="3200" b="1" dirty="0">
              <a:solidFill>
                <a:srgbClr val="FF0000"/>
              </a:solidFill>
            </a:endParaRPr>
          </a:p>
          <a:p>
            <a:r>
              <a:rPr lang="en-AU" sz="3200" b="1" dirty="0">
                <a:solidFill>
                  <a:srgbClr val="FF0000"/>
                </a:solidFill>
              </a:rPr>
              <a:t>5) $562.50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1BE92E-164C-6C45-981E-2EC223DEB82D}"/>
                  </a:ext>
                </a:extLst>
              </p:cNvPr>
              <p:cNvSpPr txBox="1"/>
              <p:nvPr/>
            </p:nvSpPr>
            <p:spPr>
              <a:xfrm>
                <a:off x="1524331" y="1153649"/>
                <a:ext cx="685963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R"/>
                </a:pPr>
                <a:r>
                  <a:rPr lang="en-US" dirty="0"/>
                  <a:t>I travel 210km in 3 hours. What is my speed? </a:t>
                </a:r>
              </a:p>
              <a:p>
                <a:pPr marL="342900" indent="-342900">
                  <a:buAutoNum type="arabicParenR"/>
                </a:pPr>
                <a:r>
                  <a:rPr lang="en-US" dirty="0"/>
                  <a:t>Add brackets to make this equation true.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×3+14−9=56</m:t>
                    </m:r>
                  </m:oMath>
                </a14:m>
                <a:endParaRPr lang="en-US" dirty="0"/>
              </a:p>
              <a:p>
                <a:pPr marL="342900" indent="-342900">
                  <a:buAutoNum type="arabicParenR"/>
                </a:pPr>
                <a:r>
                  <a:rPr lang="en-US" dirty="0"/>
                  <a:t>If y=2, g=3, calculate the value of: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dirty="0"/>
              </a:p>
              <a:p>
                <a:pPr marL="342900" indent="-342900">
                  <a:buAutoNum type="arabicParenR"/>
                </a:pPr>
                <a:r>
                  <a:rPr lang="en-US" dirty="0"/>
                  <a:t>A triangle has an area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12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What could its base and height be? </a:t>
                </a:r>
              </a:p>
              <a:p>
                <a:pPr marL="342900" indent="-342900">
                  <a:buAutoNum type="arabicParenR"/>
                </a:pPr>
                <a:r>
                  <a:rPr lang="en-US" dirty="0"/>
                  <a:t>I invest $500 for 5 years at a simple interest rate of 2.5%P per annum. How much do I have at the end of 5 years?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1BE92E-164C-6C45-981E-2EC223DEB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331" y="1153649"/>
                <a:ext cx="6859637" cy="1754326"/>
              </a:xfrm>
              <a:prstGeom prst="rect">
                <a:avLst/>
              </a:prstGeom>
              <a:blipFill>
                <a:blip r:embed="rId3"/>
                <a:stretch>
                  <a:fillRect l="-556" t="-1439" r="-1111" b="-5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41EE1F9-B1CB-054F-B960-2949876F567A}"/>
              </a:ext>
            </a:extLst>
          </p:cNvPr>
          <p:cNvSpPr txBox="1"/>
          <p:nvPr/>
        </p:nvSpPr>
        <p:spPr>
          <a:xfrm>
            <a:off x="2110867" y="4150596"/>
            <a:ext cx="91944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FF0000"/>
                </a:solidFill>
              </a:rPr>
              <a:t>Answers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4) base(b) 6m, height (h)4m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B:8 H:3, b:12 h:2, b:24 h:1, and in reverse. </a:t>
            </a:r>
          </a:p>
        </p:txBody>
      </p:sp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How do I find the perimeter and area of a square?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293619-384A-F94A-AC36-988D2B8F5C00}"/>
              </a:ext>
            </a:extLst>
          </p:cNvPr>
          <p:cNvSpPr txBox="1"/>
          <p:nvPr/>
        </p:nvSpPr>
        <p:spPr>
          <a:xfrm>
            <a:off x="183725" y="1517604"/>
            <a:ext cx="1549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Perimeter?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0CC5E51-722E-D843-B47D-8F3A5DB22F6A}"/>
              </a:ext>
            </a:extLst>
          </p:cNvPr>
          <p:cNvSpPr txBox="1"/>
          <p:nvPr/>
        </p:nvSpPr>
        <p:spPr>
          <a:xfrm>
            <a:off x="1911599" y="1389821"/>
            <a:ext cx="101561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Is the distance along the boundary of a shape</a:t>
            </a:r>
          </a:p>
          <a:p>
            <a:endParaRPr lang="en-US" sz="2000" dirty="0"/>
          </a:p>
          <a:p>
            <a:r>
              <a:rPr lang="en-US" dirty="0"/>
              <a:t>Some examples: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A fence is built along the perimeter of a property 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A soccer pitch has boundary lines along the perimeter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99E7ED-DB21-D24A-8464-2986EA3EA51F}"/>
              </a:ext>
            </a:extLst>
          </p:cNvPr>
          <p:cNvSpPr/>
          <p:nvPr/>
        </p:nvSpPr>
        <p:spPr>
          <a:xfrm>
            <a:off x="2697181" y="3917094"/>
            <a:ext cx="1776459" cy="1776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C9E3A0-D05F-8244-A2D4-5BC38F850F00}"/>
              </a:ext>
            </a:extLst>
          </p:cNvPr>
          <p:cNvSpPr txBox="1"/>
          <p:nvPr/>
        </p:nvSpPr>
        <p:spPr>
          <a:xfrm>
            <a:off x="3287417" y="3606131"/>
            <a:ext cx="97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6cm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153C62-3F28-924C-821B-2F8BF8149EF6}"/>
              </a:ext>
            </a:extLst>
          </p:cNvPr>
          <p:cNvSpPr txBox="1"/>
          <p:nvPr/>
        </p:nvSpPr>
        <p:spPr>
          <a:xfrm>
            <a:off x="3313504" y="5635605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6cm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BB6F8F-6C8E-1B4F-A4E5-745A137A7A64}"/>
              </a:ext>
            </a:extLst>
          </p:cNvPr>
          <p:cNvSpPr txBox="1"/>
          <p:nvPr/>
        </p:nvSpPr>
        <p:spPr>
          <a:xfrm>
            <a:off x="4618261" y="4620657"/>
            <a:ext cx="60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6cm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0E1476-7BFF-434F-B474-E703B8DB2913}"/>
              </a:ext>
            </a:extLst>
          </p:cNvPr>
          <p:cNvSpPr txBox="1"/>
          <p:nvPr/>
        </p:nvSpPr>
        <p:spPr>
          <a:xfrm>
            <a:off x="2088226" y="4606393"/>
            <a:ext cx="608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6cm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F85234-C25E-2F46-857B-1CD64DF31904}"/>
              </a:ext>
            </a:extLst>
          </p:cNvPr>
          <p:cNvSpPr txBox="1"/>
          <p:nvPr/>
        </p:nvSpPr>
        <p:spPr>
          <a:xfrm>
            <a:off x="6343650" y="3606131"/>
            <a:ext cx="53911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all the sides together:  6cm+6cm+6cm+6cm= 24cm</a:t>
            </a:r>
          </a:p>
          <a:p>
            <a:endParaRPr lang="en-US" dirty="0"/>
          </a:p>
          <a:p>
            <a:r>
              <a:rPr lang="en-US" dirty="0"/>
              <a:t>Or </a:t>
            </a:r>
          </a:p>
          <a:p>
            <a:r>
              <a:rPr lang="en-US" dirty="0"/>
              <a:t>A square has 4 equal sides. Multiply the amount of sides with the unit of measurement</a:t>
            </a:r>
          </a:p>
          <a:p>
            <a:endParaRPr lang="en-US" dirty="0"/>
          </a:p>
          <a:p>
            <a:r>
              <a:rPr lang="en-US" dirty="0"/>
              <a:t>4cm x 6cm = 24cm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756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96EA18-FD07-824F-95CD-9F6CC42D6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435" y="1607266"/>
            <a:ext cx="5414459" cy="225103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How do I find the perimeter and area of a square?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293619-384A-F94A-AC36-988D2B8F5C00}"/>
              </a:ext>
            </a:extLst>
          </p:cNvPr>
          <p:cNvSpPr txBox="1"/>
          <p:nvPr/>
        </p:nvSpPr>
        <p:spPr>
          <a:xfrm>
            <a:off x="183725" y="1517604"/>
            <a:ext cx="1549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Area?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0CC5E51-722E-D843-B47D-8F3A5DB22F6A}"/>
              </a:ext>
            </a:extLst>
          </p:cNvPr>
          <p:cNvSpPr txBox="1"/>
          <p:nvPr/>
        </p:nvSpPr>
        <p:spPr>
          <a:xfrm>
            <a:off x="1914293" y="1307248"/>
            <a:ext cx="10156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Area measures the surface of of 2D shape. </a:t>
            </a:r>
            <a:r>
              <a:rPr lang="en-AU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It is </a:t>
            </a:r>
            <a:r>
              <a:rPr lang="en-AU" dirty="0"/>
              <a:t>measured in square units.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99E7ED-DB21-D24A-8464-2986EA3EA51F}"/>
              </a:ext>
            </a:extLst>
          </p:cNvPr>
          <p:cNvSpPr/>
          <p:nvPr/>
        </p:nvSpPr>
        <p:spPr>
          <a:xfrm>
            <a:off x="2697181" y="3917094"/>
            <a:ext cx="1776459" cy="1776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C9E3A0-D05F-8244-A2D4-5BC38F850F00}"/>
              </a:ext>
            </a:extLst>
          </p:cNvPr>
          <p:cNvSpPr txBox="1"/>
          <p:nvPr/>
        </p:nvSpPr>
        <p:spPr>
          <a:xfrm>
            <a:off x="3287417" y="3606131"/>
            <a:ext cx="97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6cm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153C62-3F28-924C-821B-2F8BF8149EF6}"/>
              </a:ext>
            </a:extLst>
          </p:cNvPr>
          <p:cNvSpPr txBox="1"/>
          <p:nvPr/>
        </p:nvSpPr>
        <p:spPr>
          <a:xfrm>
            <a:off x="3313504" y="5635605"/>
            <a:ext cx="7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6cm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BB6F8F-6C8E-1B4F-A4E5-745A137A7A64}"/>
              </a:ext>
            </a:extLst>
          </p:cNvPr>
          <p:cNvSpPr txBox="1"/>
          <p:nvPr/>
        </p:nvSpPr>
        <p:spPr>
          <a:xfrm>
            <a:off x="4618261" y="4620657"/>
            <a:ext cx="60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6cm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0E1476-7BFF-434F-B474-E703B8DB2913}"/>
              </a:ext>
            </a:extLst>
          </p:cNvPr>
          <p:cNvSpPr txBox="1"/>
          <p:nvPr/>
        </p:nvSpPr>
        <p:spPr>
          <a:xfrm>
            <a:off x="2088226" y="4606393"/>
            <a:ext cx="608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F85234-C25E-2F46-857B-1CD64DF31904}"/>
                  </a:ext>
                </a:extLst>
              </p:cNvPr>
              <p:cNvSpPr txBox="1"/>
              <p:nvPr/>
            </p:nvSpPr>
            <p:spPr>
              <a:xfrm>
                <a:off x="5536004" y="3866604"/>
                <a:ext cx="6472271" cy="1846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Finding the Area of a square - </a:t>
                </a:r>
                <a:r>
                  <a:rPr lang="en-US" sz="2400" u="sng" dirty="0"/>
                  <a:t>Using the formula</a:t>
                </a:r>
                <a:endParaRPr lang="en-US" sz="2000" u="sng" dirty="0"/>
              </a:p>
              <a:p>
                <a:endParaRPr lang="en-AU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=36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F85234-C25E-2F46-857B-1CD64DF31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6004" y="3866604"/>
                <a:ext cx="6472271" cy="1846659"/>
              </a:xfrm>
              <a:prstGeom prst="rect">
                <a:avLst/>
              </a:prstGeom>
              <a:blipFill>
                <a:blip r:embed="rId4"/>
                <a:stretch>
                  <a:fillRect l="-1370" t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3024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771565"/>
            <a:ext cx="9720073" cy="62653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Using grid paper complete the experiment on page 64. 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5EDC7DA-86B3-414F-A7B3-84E471C46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473861"/>
              </p:ext>
            </p:extLst>
          </p:nvPr>
        </p:nvGraphicFramePr>
        <p:xfrm>
          <a:off x="558799" y="3584447"/>
          <a:ext cx="11142135" cy="2884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427">
                  <a:extLst>
                    <a:ext uri="{9D8B030D-6E8A-4147-A177-3AD203B41FA5}">
                      <a16:colId xmlns:a16="http://schemas.microsoft.com/office/drawing/2014/main" val="3635554550"/>
                    </a:ext>
                  </a:extLst>
                </a:gridCol>
                <a:gridCol w="2228427">
                  <a:extLst>
                    <a:ext uri="{9D8B030D-6E8A-4147-A177-3AD203B41FA5}">
                      <a16:colId xmlns:a16="http://schemas.microsoft.com/office/drawing/2014/main" val="2290610883"/>
                    </a:ext>
                  </a:extLst>
                </a:gridCol>
                <a:gridCol w="2228427">
                  <a:extLst>
                    <a:ext uri="{9D8B030D-6E8A-4147-A177-3AD203B41FA5}">
                      <a16:colId xmlns:a16="http://schemas.microsoft.com/office/drawing/2014/main" val="4262914007"/>
                    </a:ext>
                  </a:extLst>
                </a:gridCol>
                <a:gridCol w="2228427">
                  <a:extLst>
                    <a:ext uri="{9D8B030D-6E8A-4147-A177-3AD203B41FA5}">
                      <a16:colId xmlns:a16="http://schemas.microsoft.com/office/drawing/2014/main" val="3986841282"/>
                    </a:ext>
                  </a:extLst>
                </a:gridCol>
                <a:gridCol w="2228427">
                  <a:extLst>
                    <a:ext uri="{9D8B030D-6E8A-4147-A177-3AD203B41FA5}">
                      <a16:colId xmlns:a16="http://schemas.microsoft.com/office/drawing/2014/main" val="3781865237"/>
                    </a:ext>
                  </a:extLst>
                </a:gridCol>
              </a:tblGrid>
              <a:tr h="480681">
                <a:tc>
                  <a:txBody>
                    <a:bodyPr/>
                    <a:lstStyle/>
                    <a:p>
                      <a:r>
                        <a:rPr lang="en-US" dirty="0"/>
                        <a:t>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Area enclosed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Pattern or Formula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914967"/>
                  </a:ext>
                </a:extLst>
              </a:tr>
              <a:tr h="480681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986104"/>
                  </a:ext>
                </a:extLst>
              </a:tr>
              <a:tr h="480681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344439"/>
                  </a:ext>
                </a:extLst>
              </a:tr>
              <a:tr h="480681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356786"/>
                  </a:ext>
                </a:extLst>
              </a:tr>
              <a:tr h="480681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566024"/>
                  </a:ext>
                </a:extLst>
              </a:tr>
              <a:tr h="480681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311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689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Area of Squares worksheet.</a:t>
            </a:r>
          </a:p>
        </p:txBody>
      </p:sp>
    </p:spTree>
    <p:extLst>
      <p:ext uri="{BB962C8B-B14F-4D97-AF65-F5344CB8AC3E}">
        <p14:creationId xmlns:p14="http://schemas.microsoft.com/office/powerpoint/2010/main" val="4099794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Quote of the day – ”Make today awesome, so that yesterday gets jealous.”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4436</TotalTime>
  <Words>466</Words>
  <Application>Microsoft Macintosh PowerPoint</Application>
  <PresentationFormat>Widescreen</PresentationFormat>
  <Paragraphs>93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Cambria Math</vt:lpstr>
      <vt:lpstr>Tw Cen MT</vt:lpstr>
      <vt:lpstr>Tw Cen MT Condensed</vt:lpstr>
      <vt:lpstr>Wingdings</vt:lpstr>
      <vt:lpstr>Wingdings 3</vt:lpstr>
      <vt:lpstr>Integral</vt:lpstr>
      <vt:lpstr>Topic: Measurement EQ: How do I find the perimeter and area of a square? </vt:lpstr>
      <vt:lpstr>Things Required For This Lesson</vt:lpstr>
      <vt:lpstr>PowerPoint Presentation</vt:lpstr>
      <vt:lpstr>First 5  </vt:lpstr>
      <vt:lpstr>PowerPoint Presentation</vt:lpstr>
      <vt:lpstr>PowerPoint Presentation</vt:lpstr>
      <vt:lpstr>Practise </vt:lpstr>
      <vt:lpstr>Practise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DIXON Emily [Baldivis Secondary College]</cp:lastModifiedBy>
  <cp:revision>57</cp:revision>
  <dcterms:created xsi:type="dcterms:W3CDTF">2021-02-11T13:20:57Z</dcterms:created>
  <dcterms:modified xsi:type="dcterms:W3CDTF">2021-06-07T08:51:11Z</dcterms:modified>
</cp:coreProperties>
</file>
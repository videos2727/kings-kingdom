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24" r:id="rId4"/>
    <p:sldId id="352" r:id="rId5"/>
    <p:sldId id="351" r:id="rId6"/>
    <p:sldId id="353" r:id="rId7"/>
    <p:sldId id="350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74" d="100"/>
          <a:sy n="74" d="100"/>
        </p:scale>
        <p:origin x="3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383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apply area to hectares?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65071" y="305116"/>
                <a:ext cx="4997514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>
                    <a:solidFill>
                      <a:srgbClr val="FF0000"/>
                    </a:solidFill>
                  </a:rPr>
                  <a:t>Answers</a:t>
                </a:r>
              </a:p>
              <a:p>
                <a:r>
                  <a:rPr lang="en-AU" sz="3200" b="1" dirty="0">
                    <a:solidFill>
                      <a:srgbClr val="FF0000"/>
                    </a:solidFill>
                  </a:rPr>
                  <a:t>1) 39052</a:t>
                </a:r>
              </a:p>
              <a:p>
                <a:r>
                  <a:rPr lang="en-AU" sz="3200" b="1" dirty="0">
                    <a:solidFill>
                      <a:srgbClr val="FF0000"/>
                    </a:solidFill>
                  </a:rPr>
                  <a:t>2) 7.68</a:t>
                </a:r>
              </a:p>
              <a:p>
                <a:r>
                  <a:rPr lang="en-AU" sz="3200" b="1" dirty="0">
                    <a:solidFill>
                      <a:srgbClr val="FF0000"/>
                    </a:solidFill>
                  </a:rPr>
                  <a:t>3) 1008</a:t>
                </a:r>
              </a:p>
              <a:p>
                <a:r>
                  <a:rPr lang="en-AU" sz="3200" b="1" dirty="0">
                    <a:solidFill>
                      <a:srgbClr val="FF0000"/>
                    </a:solidFill>
                  </a:rPr>
                  <a:t>4) 145 – (24+17)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𝟐𝟐</m:t>
                    </m:r>
                  </m:oMath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r>
                  <a:rPr lang="en-AU" sz="3200" b="1" dirty="0">
                    <a:solidFill>
                      <a:srgbClr val="FF0000"/>
                    </a:solidFill>
                  </a:rPr>
                  <a:t>5) $34455 net, $662.60 per week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071" y="305116"/>
                <a:ext cx="4997514" cy="3816429"/>
              </a:xfrm>
              <a:prstGeom prst="rect">
                <a:avLst/>
              </a:prstGeom>
              <a:blipFill>
                <a:blip r:embed="rId3"/>
                <a:stretch>
                  <a:fillRect l="-3171" t="-1917" r="-15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1863338" y="1967109"/>
                <a:ext cx="5401733" cy="3940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sz="2400" dirty="0"/>
                  <a:t>23 417 = __________ - 15635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Write 7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2400" dirty="0"/>
                  <a:t> as a decimal.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36 </m:t>
                    </m:r>
                  </m:oMath>
                </a14:m>
                <a:r>
                  <a:rPr lang="en-US" sz="2400" dirty="0"/>
                  <a:t>  Work out the answer in more than one way.</a:t>
                </a:r>
              </a:p>
              <a:p>
                <a:pPr marL="342900" indent="-342900">
                  <a:buAutoNum type="arabicParenR"/>
                </a:pPr>
                <a:r>
                  <a:rPr lang="en-US" sz="2400" b="0" dirty="0"/>
                  <a:t>Add brackets to make this equation true.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145 −24+17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×3=22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5) You earn the national minimum wage of $38 521 Gross. After paying tax of $4066, how much do earn net? How much is this each week?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338" y="1967109"/>
                <a:ext cx="5401733" cy="3940951"/>
              </a:xfrm>
              <a:prstGeom prst="rect">
                <a:avLst/>
              </a:prstGeom>
              <a:blipFill>
                <a:blip r:embed="rId4"/>
                <a:stretch>
                  <a:fillRect l="-1806" t="-1238" r="-1467" b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apply area to hectares?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25C16-D3A0-AC4C-AB58-C4F1EDA0AF05}"/>
                  </a:ext>
                </a:extLst>
              </p:cNvPr>
              <p:cNvSpPr txBox="1"/>
              <p:nvPr/>
            </p:nvSpPr>
            <p:spPr>
              <a:xfrm>
                <a:off x="2470442" y="1290559"/>
                <a:ext cx="497935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1m = 1cm</a:t>
                </a:r>
              </a:p>
              <a:p>
                <a:r>
                  <a:rPr lang="en-US" sz="2000" u="sng" dirty="0"/>
                  <a:t>However, </a:t>
                </a:r>
                <a14:m>
                  <m:oMath xmlns:m="http://schemas.openxmlformats.org/officeDocument/2006/math">
                    <m:r>
                      <a:rPr lang="en-US" sz="2000" b="0" i="1" u="sng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u="sng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u="sng" dirty="0"/>
                  <a:t> is not the same as 100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u="sng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u="sng" dirty="0"/>
              </a:p>
              <a:p>
                <a:endParaRPr lang="en-US" sz="2000" u="sng" dirty="0"/>
              </a:p>
              <a:p>
                <a:r>
                  <a:rPr lang="en-US" sz="2000" dirty="0"/>
                  <a:t>Similarly, a hectare can be pictured as a square that in 100mm by 100m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25C16-D3A0-AC4C-AB58-C4F1EDA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442" y="1290559"/>
                <a:ext cx="4979350" cy="1631216"/>
              </a:xfrm>
              <a:prstGeom prst="rect">
                <a:avLst/>
              </a:prstGeom>
              <a:blipFill>
                <a:blip r:embed="rId3"/>
                <a:stretch>
                  <a:fillRect l="-1224" t="-2247" b="-59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2470442" y="3563093"/>
            <a:ext cx="4681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converting from or too hectares we divide or multiply by 1000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E0DFCF-EC1E-435C-91F6-7B516D314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10358"/>
              </p:ext>
            </p:extLst>
          </p:nvPr>
        </p:nvGraphicFramePr>
        <p:xfrm>
          <a:off x="7993263" y="1550449"/>
          <a:ext cx="1468372" cy="1296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72">
                  <a:extLst>
                    <a:ext uri="{9D8B030D-6E8A-4147-A177-3AD203B41FA5}">
                      <a16:colId xmlns:a16="http://schemas.microsoft.com/office/drawing/2014/main" val="1429421736"/>
                    </a:ext>
                  </a:extLst>
                </a:gridCol>
              </a:tblGrid>
              <a:tr h="129602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29690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54EE7FEA-1735-450F-AAD9-F472320A0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910091"/>
              </p:ext>
            </p:extLst>
          </p:nvPr>
        </p:nvGraphicFramePr>
        <p:xfrm>
          <a:off x="7993263" y="4788557"/>
          <a:ext cx="1511165" cy="1296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165">
                  <a:extLst>
                    <a:ext uri="{9D8B030D-6E8A-4147-A177-3AD203B41FA5}">
                      <a16:colId xmlns:a16="http://schemas.microsoft.com/office/drawing/2014/main" val="1429421736"/>
                    </a:ext>
                  </a:extLst>
                </a:gridCol>
              </a:tblGrid>
              <a:tr h="129602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296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B1AEDE-9A51-48E5-8AAA-C0F2850FE39F}"/>
                  </a:ext>
                </a:extLst>
              </p:cNvPr>
              <p:cNvSpPr txBox="1"/>
              <p:nvPr/>
            </p:nvSpPr>
            <p:spPr>
              <a:xfrm>
                <a:off x="7503145" y="1981098"/>
                <a:ext cx="57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B1AEDE-9A51-48E5-8AAA-C0F2850F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145" y="1981098"/>
                <a:ext cx="5749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CF554-D530-4EDC-ACA8-540B0F23A8C0}"/>
                  </a:ext>
                </a:extLst>
              </p:cNvPr>
              <p:cNvSpPr txBox="1"/>
              <p:nvPr/>
            </p:nvSpPr>
            <p:spPr>
              <a:xfrm>
                <a:off x="8376619" y="1213513"/>
                <a:ext cx="57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CF554-D530-4EDC-ACA8-540B0F23A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619" y="1213513"/>
                <a:ext cx="5749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EACF4E-7A1D-4851-B24A-0CE53BD3D619}"/>
                  </a:ext>
                </a:extLst>
              </p:cNvPr>
              <p:cNvSpPr txBox="1"/>
              <p:nvPr/>
            </p:nvSpPr>
            <p:spPr>
              <a:xfrm>
                <a:off x="8410040" y="1996605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EACF4E-7A1D-4851-B24A-0CE53BD3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40" y="1996605"/>
                <a:ext cx="508124" cy="369332"/>
              </a:xfrm>
              <a:prstGeom prst="rect">
                <a:avLst/>
              </a:prstGeom>
              <a:blipFill>
                <a:blip r:embed="rId6"/>
                <a:stretch>
                  <a:fillRect r="-132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0A89E8-15B1-4A98-BA8A-926367EC3333}"/>
                  </a:ext>
                </a:extLst>
              </p:cNvPr>
              <p:cNvSpPr txBox="1"/>
              <p:nvPr/>
            </p:nvSpPr>
            <p:spPr>
              <a:xfrm>
                <a:off x="8270962" y="5329206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1000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0A89E8-15B1-4A98-BA8A-926367EC3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962" y="5329206"/>
                <a:ext cx="508124" cy="369332"/>
              </a:xfrm>
              <a:prstGeom prst="rect">
                <a:avLst/>
              </a:prstGeom>
              <a:blipFill>
                <a:blip r:embed="rId7"/>
                <a:stretch>
                  <a:fillRect r="-87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17B066-7FA9-401A-8AA2-723E0137FE63}"/>
                  </a:ext>
                </a:extLst>
              </p:cNvPr>
              <p:cNvSpPr txBox="1"/>
              <p:nvPr/>
            </p:nvSpPr>
            <p:spPr>
              <a:xfrm>
                <a:off x="8374139" y="4487867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17B066-7FA9-401A-8AA2-723E0137F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139" y="4487867"/>
                <a:ext cx="508124" cy="369332"/>
              </a:xfrm>
              <a:prstGeom prst="rect">
                <a:avLst/>
              </a:prstGeom>
              <a:blipFill>
                <a:blip r:embed="rId8"/>
                <a:stretch>
                  <a:fillRect r="-481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1BEA8D-6761-4E75-BF72-B10F78501EB1}"/>
                  </a:ext>
                </a:extLst>
              </p:cNvPr>
              <p:cNvSpPr txBox="1"/>
              <p:nvPr/>
            </p:nvSpPr>
            <p:spPr>
              <a:xfrm>
                <a:off x="7292721" y="5198109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1BEA8D-6761-4E75-BF72-B10F78501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721" y="5198109"/>
                <a:ext cx="508124" cy="369332"/>
              </a:xfrm>
              <a:prstGeom prst="rect">
                <a:avLst/>
              </a:prstGeom>
              <a:blipFill>
                <a:blip r:embed="rId9"/>
                <a:stretch>
                  <a:fillRect r="-476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669D5DC7-237D-4F75-8597-30D37B9C2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195674"/>
              </p:ext>
            </p:extLst>
          </p:nvPr>
        </p:nvGraphicFramePr>
        <p:xfrm>
          <a:off x="9721559" y="3170514"/>
          <a:ext cx="1468372" cy="1317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72">
                  <a:extLst>
                    <a:ext uri="{9D8B030D-6E8A-4147-A177-3AD203B41FA5}">
                      <a16:colId xmlns:a16="http://schemas.microsoft.com/office/drawing/2014/main" val="1429421736"/>
                    </a:ext>
                  </a:extLst>
                </a:gridCol>
              </a:tblGrid>
              <a:tr h="131735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296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68E8E2-1499-4CB1-B5C6-87DB6B931E1F}"/>
                  </a:ext>
                </a:extLst>
              </p:cNvPr>
              <p:cNvSpPr txBox="1"/>
              <p:nvPr/>
            </p:nvSpPr>
            <p:spPr>
              <a:xfrm>
                <a:off x="10050886" y="2864287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68E8E2-1499-4CB1-B5C6-87DB6B931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0886" y="2864287"/>
                <a:ext cx="508124" cy="369332"/>
              </a:xfrm>
              <a:prstGeom prst="rect">
                <a:avLst/>
              </a:prstGeom>
              <a:blipFill>
                <a:blip r:embed="rId10"/>
                <a:stretch>
                  <a:fillRect r="-22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B9C9BC-1D80-4A61-9042-AC2EF00BAA46}"/>
                  </a:ext>
                </a:extLst>
              </p:cNvPr>
              <p:cNvSpPr txBox="1"/>
              <p:nvPr/>
            </p:nvSpPr>
            <p:spPr>
              <a:xfrm>
                <a:off x="9116189" y="3705101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B9C9BC-1D80-4A61-9042-AC2EF00BA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189" y="3705101"/>
                <a:ext cx="508124" cy="369332"/>
              </a:xfrm>
              <a:prstGeom prst="rect">
                <a:avLst/>
              </a:prstGeom>
              <a:blipFill>
                <a:blip r:embed="rId11"/>
                <a:stretch>
                  <a:fillRect r="-226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4D553F-0B8F-4CC6-86F2-74A3BD5FA478}"/>
                  </a:ext>
                </a:extLst>
              </p:cNvPr>
              <p:cNvSpPr txBox="1"/>
              <p:nvPr/>
            </p:nvSpPr>
            <p:spPr>
              <a:xfrm>
                <a:off x="10048177" y="3730569"/>
                <a:ext cx="508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4D553F-0B8F-4CC6-86F2-74A3BD5FA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177" y="3730569"/>
                <a:ext cx="508124" cy="369332"/>
              </a:xfrm>
              <a:prstGeom prst="rect">
                <a:avLst/>
              </a:prstGeom>
              <a:blipFill>
                <a:blip r:embed="rId12"/>
                <a:stretch>
                  <a:fillRect r="-630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6489960" y="231700"/>
            <a:ext cx="402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apply area to hectares?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pic>
        <p:nvPicPr>
          <p:cNvPr id="1026" name="Picture 2" descr="Converting Metric Units | Passy&amp;#39;s World of Mathematics">
            <a:extLst>
              <a:ext uri="{FF2B5EF4-FFF2-40B4-BE49-F238E27FC236}">
                <a16:creationId xmlns:a16="http://schemas.microsoft.com/office/drawing/2014/main" id="{5A8B9355-7A87-4808-B76A-26C684BD3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544" y="1304503"/>
            <a:ext cx="5827796" cy="42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70075-8B7D-47E6-B676-0F3CDA6524E7}"/>
              </a:ext>
            </a:extLst>
          </p:cNvPr>
          <p:cNvCxnSpPr>
            <a:cxnSpLocks/>
          </p:cNvCxnSpPr>
          <p:nvPr/>
        </p:nvCxnSpPr>
        <p:spPr>
          <a:xfrm>
            <a:off x="1725328" y="760729"/>
            <a:ext cx="0" cy="54579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8641B3-4A02-4DCB-AFA1-648D8FF3828D}"/>
              </a:ext>
            </a:extLst>
          </p:cNvPr>
          <p:cNvSpPr txBox="1"/>
          <p:nvPr/>
        </p:nvSpPr>
        <p:spPr>
          <a:xfrm>
            <a:off x="298383" y="1304709"/>
            <a:ext cx="122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convert to hectares?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3DFE486-1392-3141-93DF-C65CBCC826DA}"/>
              </a:ext>
            </a:extLst>
          </p:cNvPr>
          <p:cNvSpPr/>
          <p:nvPr/>
        </p:nvSpPr>
        <p:spPr>
          <a:xfrm>
            <a:off x="5913157" y="230832"/>
            <a:ext cx="478201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apply area to hectares?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54799-F0AC-4974-A37D-BFEEC14D7F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57350"/>
          <a:stretch/>
        </p:blipFill>
        <p:spPr>
          <a:xfrm>
            <a:off x="447134" y="1470751"/>
            <a:ext cx="4865127" cy="29284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3D83F-4BA4-4E22-B025-9DCF19111F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450"/>
          <a:stretch/>
        </p:blipFill>
        <p:spPr>
          <a:xfrm>
            <a:off x="5946826" y="4690593"/>
            <a:ext cx="4859186" cy="1066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FC8287-962B-4D08-8078-2229E4593822}"/>
              </a:ext>
            </a:extLst>
          </p:cNvPr>
          <p:cNvSpPr txBox="1"/>
          <p:nvPr/>
        </p:nvSpPr>
        <p:spPr>
          <a:xfrm>
            <a:off x="253871" y="15687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7697B-312B-4C05-A59D-BF2EA2A5E61C}"/>
              </a:ext>
            </a:extLst>
          </p:cNvPr>
          <p:cNvSpPr txBox="1"/>
          <p:nvPr/>
        </p:nvSpPr>
        <p:spPr>
          <a:xfrm>
            <a:off x="5534273" y="148287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94DF6-B5B2-4AC4-BB64-327690CF184A}"/>
              </a:ext>
            </a:extLst>
          </p:cNvPr>
          <p:cNvSpPr txBox="1"/>
          <p:nvPr/>
        </p:nvSpPr>
        <p:spPr>
          <a:xfrm>
            <a:off x="2698397" y="149722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A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997C90-1894-4FCA-96F1-95A27B346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799" b="15551"/>
          <a:stretch/>
        </p:blipFill>
        <p:spPr>
          <a:xfrm>
            <a:off x="5808077" y="1534334"/>
            <a:ext cx="4992174" cy="30049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8D47BE-2954-4F0D-A3D1-F9CD3079B184}"/>
              </a:ext>
            </a:extLst>
          </p:cNvPr>
          <p:cNvSpPr txBox="1"/>
          <p:nvPr/>
        </p:nvSpPr>
        <p:spPr>
          <a:xfrm>
            <a:off x="5896873" y="486197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49C88-284B-4355-A73B-AA41CDD44D59}"/>
              </a:ext>
            </a:extLst>
          </p:cNvPr>
          <p:cNvSpPr txBox="1"/>
          <p:nvPr/>
        </p:nvSpPr>
        <p:spPr>
          <a:xfrm>
            <a:off x="435171" y="955429"/>
            <a:ext cx="3129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Have a go at these questions</a:t>
            </a:r>
            <a:endParaRPr lang="en-AU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B7815-2236-43AB-885A-6B12019A5FF9}"/>
              </a:ext>
            </a:extLst>
          </p:cNvPr>
          <p:cNvSpPr txBox="1"/>
          <p:nvPr/>
        </p:nvSpPr>
        <p:spPr>
          <a:xfrm>
            <a:off x="7994729" y="144903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4571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laptops to complete questions on page 65, comparing land sizes.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Apply your </a:t>
            </a:r>
            <a:r>
              <a:rPr lang="en-AU" dirty="0" err="1"/>
              <a:t>knowloedge</a:t>
            </a:r>
            <a:endParaRPr lang="en-AU" dirty="0"/>
          </a:p>
          <a:p>
            <a:r>
              <a:rPr lang="en-AU" dirty="0"/>
              <a:t>Compare land sizes and prices between Perth, Baldivis and regional towns. Show the difference in the prices. Explain the reasoning behind why there is/isn’t price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1007" y="1296364"/>
            <a:ext cx="1755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/>
              <a:t>Page 65</a:t>
            </a:r>
          </a:p>
        </p:txBody>
      </p:sp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9849</TotalTime>
  <Words>353</Words>
  <Application>Microsoft Office PowerPoint</Application>
  <PresentationFormat>Widescreen</PresentationFormat>
  <Paragraphs>74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Measurement EQ: How do I apply area to hectares? </vt:lpstr>
      <vt:lpstr>Things Required For This Lesson</vt:lpstr>
      <vt:lpstr>First 5 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53</cp:revision>
  <dcterms:created xsi:type="dcterms:W3CDTF">2021-02-11T13:20:57Z</dcterms:created>
  <dcterms:modified xsi:type="dcterms:W3CDTF">2021-06-07T08:53:57Z</dcterms:modified>
</cp:coreProperties>
</file>
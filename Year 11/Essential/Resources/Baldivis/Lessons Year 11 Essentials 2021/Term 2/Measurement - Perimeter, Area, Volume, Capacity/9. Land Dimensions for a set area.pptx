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9"/>
  </p:notesMasterIdLst>
  <p:sldIdLst>
    <p:sldId id="256" r:id="rId2"/>
    <p:sldId id="257" r:id="rId3"/>
    <p:sldId id="324" r:id="rId4"/>
    <p:sldId id="352" r:id="rId5"/>
    <p:sldId id="354" r:id="rId6"/>
    <p:sldId id="350" r:id="rId7"/>
    <p:sldId id="34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09" autoAdjust="0"/>
    <p:restoredTop sz="80603" autoAdjust="0"/>
  </p:normalViewPr>
  <p:slideViewPr>
    <p:cSldViewPr snapToGrid="0">
      <p:cViewPr varScale="1">
        <p:scale>
          <a:sx n="59" d="100"/>
          <a:sy n="59" d="100"/>
        </p:scale>
        <p:origin x="967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Easiest way to compare costs is to calculate the cost per </a:t>
            </a:r>
            <a:r>
              <a:rPr lang="en-US" dirty="0" err="1"/>
              <a:t>metre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Graph paper</a:t>
            </a:r>
          </a:p>
          <a:p>
            <a:pPr marL="171450" indent="-171450">
              <a:buFontTx/>
              <a:buChar char="-"/>
            </a:pPr>
            <a:r>
              <a:rPr lang="en-US" dirty="0"/>
              <a:t>Important for year 12 to draw scaled diagrams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143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20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43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31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67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43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03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411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1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77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671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87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08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calculate land dimensions for a set area?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208" y="1009071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9416132" y="378291"/>
                <a:ext cx="3487610" cy="3318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>
                    <a:solidFill>
                      <a:srgbClr val="FF0000"/>
                    </a:solidFill>
                  </a:rPr>
                  <a:t>Answers</a:t>
                </a: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1) 67.6</a:t>
                </a:r>
                <a:endParaRPr lang="en-AU" sz="2400" b="1" dirty="0">
                  <a:solidFill>
                    <a:srgbClr val="FF0000"/>
                  </a:solidFill>
                </a:endParaRP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2)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= </a:t>
                </a:r>
                <a:r>
                  <a:rPr lang="en-AU" sz="2800" b="1" dirty="0">
                    <a:solidFill>
                      <a:srgbClr val="FF0000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3) Draw an array</a:t>
                </a: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4) 3 m</a:t>
                </a: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5) 44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/>
                    </m:sSup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132" y="378291"/>
                <a:ext cx="3487610" cy="3318024"/>
              </a:xfrm>
              <a:prstGeom prst="rect">
                <a:avLst/>
              </a:prstGeom>
              <a:blipFill>
                <a:blip r:embed="rId3"/>
                <a:stretch>
                  <a:fillRect l="-4545" t="-22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830408" y="1595100"/>
            <a:ext cx="83259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71.2 – 3.6</a:t>
            </a:r>
          </a:p>
          <a:p>
            <a:pPr marL="342900" indent="-342900">
              <a:buAutoNum type="arabicParenR"/>
            </a:pPr>
            <a:r>
              <a:rPr lang="en-US" sz="2400" dirty="0"/>
              <a:t>Write 3.25 as a fraction</a:t>
            </a:r>
          </a:p>
          <a:p>
            <a:pPr marL="342900" indent="-342900">
              <a:buAutoNum type="arabicParenR"/>
            </a:pPr>
            <a:r>
              <a:rPr lang="en-US" sz="2400" dirty="0"/>
              <a:t>How do you know for sure that 6 x 8 = 48? Demonstrate a way that you could prove it, without using a calculator or other technology?</a:t>
            </a:r>
          </a:p>
          <a:p>
            <a:pPr marL="342900" indent="-342900">
              <a:buAutoNum type="arabicParenR"/>
            </a:pPr>
            <a:r>
              <a:rPr lang="en-US" sz="2400" dirty="0"/>
              <a:t>I have 12 meters of fabric to us to make 4 curtains. I plan to use the leftover fabric to make some cushion for my bedroom. Each curtain requires 2.25 meters of fabric. How much fabric will I have left for my cushions?</a:t>
            </a:r>
          </a:p>
          <a:p>
            <a:pPr marL="342900" indent="-342900">
              <a:buAutoNum type="arabicParenR"/>
            </a:pPr>
            <a:r>
              <a:rPr lang="en-US" sz="2400" dirty="0"/>
              <a:t>Find the are for a triangle with a base of 11m and height of 8m.</a:t>
            </a:r>
          </a:p>
          <a:p>
            <a:pPr marL="342900" indent="-3429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42044"/>
            <a:ext cx="9757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Discuss – Think Pair Share</a:t>
            </a:r>
          </a:p>
          <a:p>
            <a:r>
              <a:rPr lang="en-US" sz="2800" dirty="0"/>
              <a:t>Discuss the relative cost of buying a block of land</a:t>
            </a:r>
          </a:p>
          <a:p>
            <a:r>
              <a:rPr lang="en-US" sz="2800" dirty="0"/>
              <a:t>What would be the easiest way to compare costs</a:t>
            </a:r>
            <a:r>
              <a:rPr lang="en-US" sz="2000" dirty="0"/>
              <a:t>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 flipH="1">
            <a:off x="1792704" y="1222394"/>
            <a:ext cx="1" cy="56356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A5E17-403F-4A9C-9909-D2D0E0684F85}"/>
              </a:ext>
            </a:extLst>
          </p:cNvPr>
          <p:cNvSpPr/>
          <p:nvPr/>
        </p:nvSpPr>
        <p:spPr>
          <a:xfrm>
            <a:off x="466640" y="758734"/>
            <a:ext cx="58849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land dimensions for a set area?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42044"/>
            <a:ext cx="97572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Experiment</a:t>
            </a:r>
          </a:p>
          <a:p>
            <a:r>
              <a:rPr lang="en-US" sz="2000" dirty="0"/>
              <a:t>The table below shows the median block size and advertised price for 5 Australian  locations in December 2019 from the UDIA State of the Land survey. Assuming that each block has a minimum street frontage of 8m, </a:t>
            </a:r>
            <a:r>
              <a:rPr lang="en-US" sz="2000" b="1" dirty="0"/>
              <a:t>draw scaled diagrams to show possible dimensions for each block.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 flipH="1">
            <a:off x="1792704" y="1222394"/>
            <a:ext cx="1" cy="56356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A5E17-403F-4A9C-9909-D2D0E0684F85}"/>
              </a:ext>
            </a:extLst>
          </p:cNvPr>
          <p:cNvSpPr/>
          <p:nvPr/>
        </p:nvSpPr>
        <p:spPr>
          <a:xfrm>
            <a:off x="466640" y="758734"/>
            <a:ext cx="58849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land dimensions for a set area?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4" name="Table 54">
                <a:extLst>
                  <a:ext uri="{FF2B5EF4-FFF2-40B4-BE49-F238E27FC236}">
                    <a16:creationId xmlns:a16="http://schemas.microsoft.com/office/drawing/2014/main" id="{09ECEA88-3478-4F2E-AA18-77860017B5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21527" y="3290681"/>
              <a:ext cx="8728365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6800">
                      <a:extLst>
                        <a:ext uri="{9D8B030D-6E8A-4147-A177-3AD203B41FA5}">
                          <a16:colId xmlns:a16="http://schemas.microsoft.com/office/drawing/2014/main" val="169369573"/>
                        </a:ext>
                      </a:extLst>
                    </a:gridCol>
                    <a:gridCol w="3066473">
                      <a:extLst>
                        <a:ext uri="{9D8B030D-6E8A-4147-A177-3AD203B41FA5}">
                          <a16:colId xmlns:a16="http://schemas.microsoft.com/office/drawing/2014/main" val="3861572699"/>
                        </a:ext>
                      </a:extLst>
                    </a:gridCol>
                    <a:gridCol w="3325092">
                      <a:extLst>
                        <a:ext uri="{9D8B030D-6E8A-4147-A177-3AD203B41FA5}">
                          <a16:colId xmlns:a16="http://schemas.microsoft.com/office/drawing/2014/main" val="40975476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City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block size,</a:t>
                          </a:r>
                        </a:p>
                        <a:p>
                          <a:r>
                            <a:rPr lang="en-US" dirty="0"/>
                            <a:t>December quarter 2019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advertised block price, December quarter 2019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029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Sydney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389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$459 000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870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Perth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375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$423 000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7697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Melbourne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395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$330 000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4409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Adelaide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450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$179 500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825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South east Queensland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428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$271 000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002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4" name="Table 54">
                <a:extLst>
                  <a:ext uri="{FF2B5EF4-FFF2-40B4-BE49-F238E27FC236}">
                    <a16:creationId xmlns:a16="http://schemas.microsoft.com/office/drawing/2014/main" id="{09ECEA88-3478-4F2E-AA18-77860017B5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21527" y="3290681"/>
              <a:ext cx="8728365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6800">
                      <a:extLst>
                        <a:ext uri="{9D8B030D-6E8A-4147-A177-3AD203B41FA5}">
                          <a16:colId xmlns:a16="http://schemas.microsoft.com/office/drawing/2014/main" val="169369573"/>
                        </a:ext>
                      </a:extLst>
                    </a:gridCol>
                    <a:gridCol w="3066473">
                      <a:extLst>
                        <a:ext uri="{9D8B030D-6E8A-4147-A177-3AD203B41FA5}">
                          <a16:colId xmlns:a16="http://schemas.microsoft.com/office/drawing/2014/main" val="3861572699"/>
                        </a:ext>
                      </a:extLst>
                    </a:gridCol>
                    <a:gridCol w="3325092">
                      <a:extLst>
                        <a:ext uri="{9D8B030D-6E8A-4147-A177-3AD203B41FA5}">
                          <a16:colId xmlns:a16="http://schemas.microsoft.com/office/drawing/2014/main" val="409754761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City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block size,</a:t>
                          </a:r>
                        </a:p>
                        <a:p>
                          <a:r>
                            <a:rPr lang="en-US" dirty="0"/>
                            <a:t>December quarter 2019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advertised block price, December quarter 2019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029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Sydney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541" t="-180328" r="-109344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$459 000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870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Perth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541" t="-280328" r="-10934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$423 000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7697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Melbourne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541" t="-380328" r="-109344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$330 000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4409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Adelaide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541" t="-480328" r="-109344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$179 500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825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South east Queensland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541" t="-580328" r="-109344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$271 000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0020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541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3655" y="740720"/>
            <a:ext cx="9720073" cy="4023360"/>
          </a:xfrm>
        </p:spPr>
        <p:txBody>
          <a:bodyPr/>
          <a:lstStyle/>
          <a:p>
            <a:r>
              <a:rPr lang="en-AU" sz="3600" dirty="0"/>
              <a:t>Complete Application questions on page 70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US" dirty="0">
                <a:latin typeface="Montserrat"/>
              </a:rPr>
              <a:t>Finished? Have a go at these:</a:t>
            </a:r>
            <a:endParaRPr lang="en-US" b="0" i="0" dirty="0">
              <a:effectLst/>
              <a:latin typeface="Montserrat"/>
            </a:endParaRPr>
          </a:p>
          <a:p>
            <a:endParaRPr lang="en-US" dirty="0">
              <a:latin typeface="Montserrat"/>
            </a:endParaRPr>
          </a:p>
          <a:p>
            <a:endParaRPr lang="en-A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0CCE5A-6D8F-4C1C-85C9-B86668C9F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94" b="96631" l="2018" r="98184">
                        <a14:foregroundMark x1="2725" y1="10260" x2="18063" y2="69985"/>
                        <a14:foregroundMark x1="18063" y1="69985" x2="26640" y2="39204"/>
                        <a14:foregroundMark x1="26640" y1="39204" x2="44702" y2="42573"/>
                        <a14:foregroundMark x1="44702" y1="42573" x2="54087" y2="52986"/>
                        <a14:foregroundMark x1="54087" y1="52986" x2="45510" y2="36600"/>
                        <a14:foregroundMark x1="45510" y1="36600" x2="60343" y2="28331"/>
                        <a14:foregroundMark x1="60343" y1="28331" x2="80222" y2="50536"/>
                        <a14:foregroundMark x1="80222" y1="50536" x2="58729" y2="57274"/>
                        <a14:foregroundMark x1="58729" y1="57274" x2="48638" y2="30781"/>
                        <a14:foregroundMark x1="48638" y1="30781" x2="61756" y2="15314"/>
                        <a14:foregroundMark x1="61756" y1="15314" x2="34410" y2="4900"/>
                        <a14:foregroundMark x1="34410" y1="4900" x2="40464" y2="5054"/>
                        <a14:foregroundMark x1="40464" y1="5054" x2="63875" y2="3828"/>
                        <a14:foregroundMark x1="63875" y1="3828" x2="91019" y2="6279"/>
                        <a14:foregroundMark x1="91019" y1="6279" x2="86478" y2="18377"/>
                        <a14:foregroundMark x1="86478" y1="18377" x2="92533" y2="8423"/>
                        <a14:foregroundMark x1="92533" y1="8423" x2="96468" y2="18070"/>
                        <a14:foregroundMark x1="96468" y1="18070" x2="94854" y2="26646"/>
                        <a14:foregroundMark x1="94854" y1="26646" x2="71645" y2="18070"/>
                        <a14:foregroundMark x1="71645" y1="18070" x2="63976" y2="7198"/>
                        <a14:foregroundMark x1="63976" y1="7198" x2="46620" y2="7963"/>
                        <a14:foregroundMark x1="46620" y1="7963" x2="37336" y2="13170"/>
                        <a14:foregroundMark x1="37336" y1="13170" x2="10192" y2="13323"/>
                        <a14:foregroundMark x1="10192" y1="13323" x2="24218" y2="27718"/>
                        <a14:foregroundMark x1="24218" y1="27718" x2="30272" y2="54058"/>
                        <a14:foregroundMark x1="30272" y1="54058" x2="21796" y2="62787"/>
                        <a14:foregroundMark x1="21796" y1="62787" x2="32795" y2="65544"/>
                        <a14:foregroundMark x1="32795" y1="65544" x2="41070" y2="78560"/>
                        <a14:foregroundMark x1="41070" y1="78560" x2="61655" y2="57274"/>
                        <a14:foregroundMark x1="61655" y1="57274" x2="61453" y2="90352"/>
                        <a14:foregroundMark x1="61453" y1="90352" x2="84460" y2="84686"/>
                        <a14:foregroundMark x1="84460" y1="84686" x2="86680" y2="76876"/>
                        <a14:foregroundMark x1="86680" y1="76876" x2="67508" y2="86217"/>
                        <a14:foregroundMark x1="67508" y1="86217" x2="50959" y2="81164"/>
                        <a14:foregroundMark x1="50959" y1="81164" x2="42886" y2="87289"/>
                        <a14:foregroundMark x1="42886" y1="87289" x2="35822" y2="84074"/>
                        <a14:foregroundMark x1="35822" y1="84074" x2="33741" y2="84594"/>
                        <a14:foregroundMark x1="3788" y1="74478" x2="908" y2="47933"/>
                        <a14:foregroundMark x1="908" y1="47933" x2="3330" y2="31547"/>
                        <a14:foregroundMark x1="3330" y1="31547" x2="9687" y2="66003"/>
                        <a14:foregroundMark x1="9687" y1="66003" x2="17255" y2="28943"/>
                        <a14:foregroundMark x1="17255" y1="28943" x2="31181" y2="50383"/>
                        <a14:foregroundMark x1="31181" y1="50383" x2="46418" y2="63093"/>
                        <a14:foregroundMark x1="46418" y1="63093" x2="57316" y2="45789"/>
                        <a14:foregroundMark x1="57316" y1="45789" x2="67508" y2="43185"/>
                        <a14:foregroundMark x1="67508" y1="43185" x2="70838" y2="91118"/>
                        <a14:foregroundMark x1="70838" y1="91118" x2="72351" y2="96784"/>
                        <a14:foregroundMark x1="98083" y1="94640" x2="94955" y2="19602"/>
                        <a14:foregroundMark x1="94955" y1="19602" x2="97175" y2="74579"/>
                        <a14:foregroundMark x1="97175" y1="74579" x2="93037" y2="86064"/>
                        <a14:foregroundMark x1="93037" y1="86064" x2="86882" y2="35375"/>
                        <a14:foregroundMark x1="86882" y1="35375" x2="94652" y2="71363"/>
                        <a14:foregroundMark x1="94652" y1="71363" x2="94854" y2="23277"/>
                        <a14:foregroundMark x1="94854" y1="23277" x2="97780" y2="61715"/>
                        <a14:foregroundMark x1="97780" y1="61715" x2="98184" y2="22052"/>
                        <a14:foregroundMark x1="98184" y1="1685" x2="8880" y2="4747"/>
                        <a14:foregroundMark x1="8880" y1="4747" x2="8880" y2="4747"/>
                        <a14:foregroundMark x1="5853" y1="2144" x2="2018" y2="23124"/>
                        <a14:foregroundMark x1="2118" y1="91586" x2="2119" y2="92190"/>
                        <a14:foregroundMark x1="2018" y1="23124" x2="2094" y2="74549"/>
                        <a14:backgroundMark x1="1009" y1="77335" x2="23915" y2="79939"/>
                        <a14:backgroundMark x1="23915" y1="79939" x2="31786" y2="78407"/>
                        <a14:backgroundMark x1="31786" y1="78407" x2="6458" y2="79020"/>
                        <a14:backgroundMark x1="6458" y1="79020" x2="10797" y2="86677"/>
                        <a14:backgroundMark x1="10797" y1="86677" x2="21191" y2="87596"/>
                        <a14:backgroundMark x1="21191" y1="87596" x2="18668" y2="81930"/>
                        <a14:backgroundMark x1="18063" y1="80245" x2="18063" y2="84074"/>
                        <a14:backgroundMark x1="31685" y1="78560" x2="31181" y2="87289"/>
                        <a14:backgroundMark x1="31181" y1="87289" x2="20787" y2="87749"/>
                        <a14:backgroundMark x1="20787" y1="87749" x2="27447" y2="85452"/>
                        <a14:backgroundMark x1="27447" y1="85452" x2="22704" y2="81011"/>
                        <a14:backgroundMark x1="22704" y1="81011" x2="28860" y2="79786"/>
                        <a14:backgroundMark x1="28860" y1="79786" x2="24016" y2="83767"/>
                        <a14:backgroundMark x1="24016" y1="83767" x2="25126" y2="86064"/>
                        <a14:backgroundMark x1="25631" y1="88668" x2="505" y2="88515"/>
                        <a14:backgroundMark x1="24521" y1="88055" x2="3330" y2="86524"/>
                        <a14:backgroundMark x1="3330" y1="86524" x2="14632" y2="89433"/>
                        <a14:backgroundMark x1="14632" y1="89433" x2="20585" y2="88974"/>
                        <a14:backgroundMark x1="20585" y1="88974" x2="5247" y2="87596"/>
                        <a14:backgroundMark x1="5247" y1="87596" x2="1009" y2="82389"/>
                        <a14:backgroundMark x1="1009" y1="82389" x2="7164" y2="78560"/>
                        <a14:backgroundMark x1="7164" y1="78560" x2="1715" y2="77335"/>
                        <a14:backgroundMark x1="1715" y1="77335" x2="6357" y2="82236"/>
                        <a14:backgroundMark x1="6357" y1="82236" x2="1514" y2="85911"/>
                        <a14:backgroundMark x1="1514" y1="85911" x2="12412" y2="88821"/>
                        <a14:backgroundMark x1="12412" y1="88821" x2="14228" y2="85452"/>
                        <a14:backgroundMark x1="505" y1="77335" x2="2220" y2="785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77666" y="1562583"/>
            <a:ext cx="7641153" cy="503498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7F4CAEF-8434-478B-AD43-40248E5D20FF}"/>
              </a:ext>
            </a:extLst>
          </p:cNvPr>
          <p:cNvSpPr/>
          <p:nvPr/>
        </p:nvSpPr>
        <p:spPr>
          <a:xfrm>
            <a:off x="3981691" y="5220182"/>
            <a:ext cx="2801074" cy="14352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B5F59F-8A79-40B2-911F-377471B989A6}"/>
              </a:ext>
            </a:extLst>
          </p:cNvPr>
          <p:cNvSpPr/>
          <p:nvPr/>
        </p:nvSpPr>
        <p:spPr>
          <a:xfrm>
            <a:off x="9413720" y="6342928"/>
            <a:ext cx="1408609" cy="1435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11855</TotalTime>
  <Words>397</Words>
  <Application>Microsoft Office PowerPoint</Application>
  <PresentationFormat>Widescreen</PresentationFormat>
  <Paragraphs>71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Cambria Math</vt:lpstr>
      <vt:lpstr>Montserrat</vt:lpstr>
      <vt:lpstr>Tw Cen MT</vt:lpstr>
      <vt:lpstr>Tw Cen MT Condensed</vt:lpstr>
      <vt:lpstr>Wingdings</vt:lpstr>
      <vt:lpstr>Wingdings 3</vt:lpstr>
      <vt:lpstr>Integral</vt:lpstr>
      <vt:lpstr>Topic: Measurement EQ: How do I calculate land dimensions for a set area? </vt:lpstr>
      <vt:lpstr>Things Required For This Lesson</vt:lpstr>
      <vt:lpstr>First 5  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GREGORY Jade [Baldivis Secondary College]</dc:creator>
  <cp:lastModifiedBy>Jade Gregory</cp:lastModifiedBy>
  <cp:revision>78</cp:revision>
  <dcterms:created xsi:type="dcterms:W3CDTF">2021-02-11T13:20:57Z</dcterms:created>
  <dcterms:modified xsi:type="dcterms:W3CDTF">2021-06-13T07:32:32Z</dcterms:modified>
</cp:coreProperties>
</file>
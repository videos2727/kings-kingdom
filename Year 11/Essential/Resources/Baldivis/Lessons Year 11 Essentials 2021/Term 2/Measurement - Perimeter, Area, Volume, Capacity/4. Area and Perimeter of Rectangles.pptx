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0"/>
  </p:notesMasterIdLst>
  <p:sldIdLst>
    <p:sldId id="256" r:id="rId2"/>
    <p:sldId id="257" r:id="rId3"/>
    <p:sldId id="357" r:id="rId4"/>
    <p:sldId id="352" r:id="rId5"/>
    <p:sldId id="355" r:id="rId6"/>
    <p:sldId id="354" r:id="rId7"/>
    <p:sldId id="356" r:id="rId8"/>
    <p:sldId id="34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763" autoAdjust="0"/>
    <p:restoredTop sz="95610" autoAdjust="0"/>
  </p:normalViewPr>
  <p:slideViewPr>
    <p:cSldViewPr snapToGrid="0">
      <p:cViewPr varScale="1">
        <p:scale>
          <a:sx n="76" d="100"/>
          <a:sy n="76" d="100"/>
        </p:scale>
        <p:origin x="10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6/6/21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98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483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1013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Measurement</a:t>
            </a:r>
            <a:br>
              <a:rPr lang="en-AU" sz="4000" dirty="0"/>
            </a:br>
            <a:r>
              <a:rPr lang="en-AU" sz="4000" dirty="0">
                <a:cs typeface="Calibri" panose="020F0502020204030204" pitchFamily="34" charset="0"/>
              </a:rPr>
              <a:t>EQ: How do I find the perimeter and area of a Rectangle?</a:t>
            </a:r>
            <a:br>
              <a:rPr lang="en-GB" sz="4000" dirty="0">
                <a:cs typeface="Calibri" panose="020F0502020204030204" pitchFamily="34" charset="0"/>
              </a:rPr>
            </a:b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First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458484-9FD7-7F49-985A-6E22F3FEB274}"/>
                  </a:ext>
                </a:extLst>
              </p:cNvPr>
              <p:cNvSpPr txBox="1"/>
              <p:nvPr/>
            </p:nvSpPr>
            <p:spPr>
              <a:xfrm>
                <a:off x="905251" y="1674674"/>
                <a:ext cx="6934882" cy="3570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+51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÷3=</m:t>
                    </m:r>
                  </m:oMath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I am placing a wooden edge around my new hexagonal garden. Each side is 1.45m long. What length of wood will I need to buy? 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en-US" sz="2400" dirty="0"/>
                  <a:t> as a decimal and a percentage. 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I need to score at least 75% on a test. How may marks do I need out of a possible 180? 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My care uses 1L of fuel for every 14km. If I used 5L of fuel how far did I drive?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458484-9FD7-7F49-985A-6E22F3FEB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1" y="1674674"/>
                <a:ext cx="6934882" cy="3570849"/>
              </a:xfrm>
              <a:prstGeom prst="rect">
                <a:avLst/>
              </a:prstGeom>
              <a:blipFill>
                <a:blip r:embed="rId2"/>
                <a:stretch>
                  <a:fillRect l="-1097" r="-914" b="-3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BD0EBC5-9AAF-064D-8746-E84941E7EEE1}"/>
              </a:ext>
            </a:extLst>
          </p:cNvPr>
          <p:cNvSpPr txBox="1"/>
          <p:nvPr/>
        </p:nvSpPr>
        <p:spPr>
          <a:xfrm>
            <a:off x="8925104" y="457516"/>
            <a:ext cx="244894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>
                <a:solidFill>
                  <a:srgbClr val="FF0000"/>
                </a:solidFill>
              </a:rPr>
              <a:t>Answers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1) 213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2) 8.7m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3) 0.05, 5%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4) 135 marks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5) 70km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5063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cs typeface="Calibri" panose="020F0502020204030204" pitchFamily="34" charset="0"/>
              </a:rPr>
              <a:t>EQ: How do I find the perimeter and area of a rectangle?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293619-384A-F94A-AC36-988D2B8F5C00}"/>
              </a:ext>
            </a:extLst>
          </p:cNvPr>
          <p:cNvSpPr txBox="1"/>
          <p:nvPr/>
        </p:nvSpPr>
        <p:spPr>
          <a:xfrm>
            <a:off x="183725" y="1517604"/>
            <a:ext cx="1549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Perimeter?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0CC5E51-722E-D843-B47D-8F3A5DB22F6A}"/>
              </a:ext>
            </a:extLst>
          </p:cNvPr>
          <p:cNvSpPr txBox="1"/>
          <p:nvPr/>
        </p:nvSpPr>
        <p:spPr>
          <a:xfrm>
            <a:off x="1911599" y="1389821"/>
            <a:ext cx="101561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Is the distance along the boundary of a shape</a:t>
            </a:r>
          </a:p>
          <a:p>
            <a:endParaRPr lang="en-US" sz="2000" dirty="0"/>
          </a:p>
          <a:p>
            <a:r>
              <a:rPr lang="en-US" dirty="0"/>
              <a:t>Some examples: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A fence is built along the perimeter of a property 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A soccer pitch has boundary lines along the perimeter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8B075D-25AF-3F4E-ABCC-9BE46F9BCB84}"/>
              </a:ext>
            </a:extLst>
          </p:cNvPr>
          <p:cNvSpPr txBox="1"/>
          <p:nvPr/>
        </p:nvSpPr>
        <p:spPr>
          <a:xfrm>
            <a:off x="183724" y="3732428"/>
            <a:ext cx="124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99E7ED-DB21-D24A-8464-2986EA3EA51F}"/>
              </a:ext>
            </a:extLst>
          </p:cNvPr>
          <p:cNvSpPr/>
          <p:nvPr/>
        </p:nvSpPr>
        <p:spPr>
          <a:xfrm>
            <a:off x="1997963" y="4312531"/>
            <a:ext cx="3305240" cy="14009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C9E3A0-D05F-8244-A2D4-5BC38F850F00}"/>
              </a:ext>
            </a:extLst>
          </p:cNvPr>
          <p:cNvSpPr txBox="1"/>
          <p:nvPr/>
        </p:nvSpPr>
        <p:spPr>
          <a:xfrm>
            <a:off x="3272758" y="3943199"/>
            <a:ext cx="97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5cm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0E1476-7BFF-434F-B474-E703B8DB2913}"/>
              </a:ext>
            </a:extLst>
          </p:cNvPr>
          <p:cNvSpPr txBox="1"/>
          <p:nvPr/>
        </p:nvSpPr>
        <p:spPr>
          <a:xfrm>
            <a:off x="5235288" y="4775422"/>
            <a:ext cx="613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F85234-C25E-2F46-857B-1CD64DF31904}"/>
                  </a:ext>
                </a:extLst>
              </p:cNvPr>
              <p:cNvSpPr txBox="1"/>
              <p:nvPr/>
            </p:nvSpPr>
            <p:spPr>
              <a:xfrm>
                <a:off x="6207009" y="3790797"/>
                <a:ext cx="5757333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Add all the sides together:  5cm + 5cm + 3cm + 3cm= 15cm</a:t>
                </a:r>
              </a:p>
              <a:p>
                <a:endParaRPr lang="en-US" dirty="0"/>
              </a:p>
              <a:p>
                <a:r>
                  <a:rPr lang="en-US" dirty="0"/>
                  <a:t>Or </a:t>
                </a:r>
              </a:p>
              <a:p>
                <a:r>
                  <a:rPr lang="en-US" dirty="0"/>
                  <a:t>A rectangle has opposite equal sides.  Multiply the amount of sides with the unit of measurement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×5+2×3=15</m:t>
                    </m:r>
                  </m:oMath>
                </a14:m>
                <a:r>
                  <a:rPr lang="en-US" dirty="0"/>
                  <a:t>cm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F85234-C25E-2F46-857B-1CD64DF31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7009" y="3790797"/>
                <a:ext cx="5757333" cy="2031325"/>
              </a:xfrm>
              <a:prstGeom prst="rect">
                <a:avLst/>
              </a:prstGeom>
              <a:blipFill>
                <a:blip r:embed="rId3"/>
                <a:stretch>
                  <a:fillRect l="-879" t="-1242" r="-22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2756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96EA18-FD07-824F-95CD-9F6CC42D6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435" y="1607266"/>
            <a:ext cx="5414459" cy="225103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cs typeface="Calibri" panose="020F0502020204030204" pitchFamily="34" charset="0"/>
              </a:rPr>
              <a:t>EQ: How do I find the perimeter and area of a rectangle?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293619-384A-F94A-AC36-988D2B8F5C00}"/>
              </a:ext>
            </a:extLst>
          </p:cNvPr>
          <p:cNvSpPr txBox="1"/>
          <p:nvPr/>
        </p:nvSpPr>
        <p:spPr>
          <a:xfrm>
            <a:off x="183725" y="1517604"/>
            <a:ext cx="1549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Area?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0CC5E51-722E-D843-B47D-8F3A5DB22F6A}"/>
              </a:ext>
            </a:extLst>
          </p:cNvPr>
          <p:cNvSpPr txBox="1"/>
          <p:nvPr/>
        </p:nvSpPr>
        <p:spPr>
          <a:xfrm>
            <a:off x="1914293" y="1307248"/>
            <a:ext cx="10156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Area measures the surface of of 2D shape. </a:t>
            </a:r>
            <a:r>
              <a:rPr lang="en-AU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It is </a:t>
            </a:r>
            <a:r>
              <a:rPr lang="en-AU" dirty="0"/>
              <a:t>measured in square units.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8B075D-25AF-3F4E-ABCC-9BE46F9BCB84}"/>
              </a:ext>
            </a:extLst>
          </p:cNvPr>
          <p:cNvSpPr txBox="1"/>
          <p:nvPr/>
        </p:nvSpPr>
        <p:spPr>
          <a:xfrm>
            <a:off x="183724" y="3732428"/>
            <a:ext cx="124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F85234-C25E-2F46-857B-1CD64DF31904}"/>
                  </a:ext>
                </a:extLst>
              </p:cNvPr>
              <p:cNvSpPr txBox="1"/>
              <p:nvPr/>
            </p:nvSpPr>
            <p:spPr>
              <a:xfrm>
                <a:off x="5536004" y="3866604"/>
                <a:ext cx="6472271" cy="1878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Finding the Area of a square - </a:t>
                </a:r>
                <a:r>
                  <a:rPr lang="en-US" sz="2400" u="sng" dirty="0"/>
                  <a:t>Using the formula</a:t>
                </a:r>
                <a:endParaRPr lang="en-US" sz="2000" u="sng" dirty="0"/>
              </a:p>
              <a:p>
                <a:endParaRPr lang="en-AU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𝑏h</m:t>
                      </m:r>
                    </m:oMath>
                  </m:oMathPara>
                </a14:m>
                <a:endParaRPr lang="en-US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=5×3</m:t>
                      </m:r>
                    </m:oMath>
                  </m:oMathPara>
                </a14:m>
                <a:endParaRPr lang="en-AU" sz="24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=15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F85234-C25E-2F46-857B-1CD64DF31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6004" y="3866604"/>
                <a:ext cx="6472271" cy="1878271"/>
              </a:xfrm>
              <a:prstGeom prst="rect">
                <a:avLst/>
              </a:prstGeom>
              <a:blipFill>
                <a:blip r:embed="rId4"/>
                <a:stretch>
                  <a:fillRect l="-1370" t="-2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F774BED3-E937-5E4B-8F34-BD9638BC5D86}"/>
              </a:ext>
            </a:extLst>
          </p:cNvPr>
          <p:cNvSpPr/>
          <p:nvPr/>
        </p:nvSpPr>
        <p:spPr>
          <a:xfrm>
            <a:off x="1997963" y="4312531"/>
            <a:ext cx="3305240" cy="14009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73C5D8-0DB5-7C47-90AD-934A9BF5CE0E}"/>
              </a:ext>
            </a:extLst>
          </p:cNvPr>
          <p:cNvSpPr txBox="1"/>
          <p:nvPr/>
        </p:nvSpPr>
        <p:spPr>
          <a:xfrm>
            <a:off x="3272758" y="3943199"/>
            <a:ext cx="97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5cm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0646E9-B970-7547-A066-94B7CB252866}"/>
              </a:ext>
            </a:extLst>
          </p:cNvPr>
          <p:cNvSpPr txBox="1"/>
          <p:nvPr/>
        </p:nvSpPr>
        <p:spPr>
          <a:xfrm>
            <a:off x="5235288" y="4775422"/>
            <a:ext cx="613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3cm</a:t>
            </a:r>
          </a:p>
        </p:txBody>
      </p:sp>
    </p:spTree>
    <p:extLst>
      <p:ext uri="{BB962C8B-B14F-4D97-AF65-F5344CB8AC3E}">
        <p14:creationId xmlns:p14="http://schemas.microsoft.com/office/powerpoint/2010/main" val="2123024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771565"/>
            <a:ext cx="9720073" cy="62653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Using grid paper complete the experiment on page 64. 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5EDC7DA-86B3-414F-A7B3-84E471C46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473861"/>
              </p:ext>
            </p:extLst>
          </p:nvPr>
        </p:nvGraphicFramePr>
        <p:xfrm>
          <a:off x="558799" y="3584447"/>
          <a:ext cx="11142135" cy="2884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427">
                  <a:extLst>
                    <a:ext uri="{9D8B030D-6E8A-4147-A177-3AD203B41FA5}">
                      <a16:colId xmlns:a16="http://schemas.microsoft.com/office/drawing/2014/main" val="3635554550"/>
                    </a:ext>
                  </a:extLst>
                </a:gridCol>
                <a:gridCol w="2228427">
                  <a:extLst>
                    <a:ext uri="{9D8B030D-6E8A-4147-A177-3AD203B41FA5}">
                      <a16:colId xmlns:a16="http://schemas.microsoft.com/office/drawing/2014/main" val="2290610883"/>
                    </a:ext>
                  </a:extLst>
                </a:gridCol>
                <a:gridCol w="2228427">
                  <a:extLst>
                    <a:ext uri="{9D8B030D-6E8A-4147-A177-3AD203B41FA5}">
                      <a16:colId xmlns:a16="http://schemas.microsoft.com/office/drawing/2014/main" val="4262914007"/>
                    </a:ext>
                  </a:extLst>
                </a:gridCol>
                <a:gridCol w="2228427">
                  <a:extLst>
                    <a:ext uri="{9D8B030D-6E8A-4147-A177-3AD203B41FA5}">
                      <a16:colId xmlns:a16="http://schemas.microsoft.com/office/drawing/2014/main" val="3986841282"/>
                    </a:ext>
                  </a:extLst>
                </a:gridCol>
                <a:gridCol w="2228427">
                  <a:extLst>
                    <a:ext uri="{9D8B030D-6E8A-4147-A177-3AD203B41FA5}">
                      <a16:colId xmlns:a16="http://schemas.microsoft.com/office/drawing/2014/main" val="3781865237"/>
                    </a:ext>
                  </a:extLst>
                </a:gridCol>
              </a:tblGrid>
              <a:tr h="480681">
                <a:tc>
                  <a:txBody>
                    <a:bodyPr/>
                    <a:lstStyle/>
                    <a:p>
                      <a:r>
                        <a:rPr lang="en-US" dirty="0"/>
                        <a:t>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Area enclosed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Pattern or Formula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914967"/>
                  </a:ext>
                </a:extLst>
              </a:tr>
              <a:tr h="480681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986104"/>
                  </a:ext>
                </a:extLst>
              </a:tr>
              <a:tr h="480681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344439"/>
                  </a:ext>
                </a:extLst>
              </a:tr>
              <a:tr h="480681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356786"/>
                  </a:ext>
                </a:extLst>
              </a:tr>
              <a:tr h="480681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566024"/>
                  </a:ext>
                </a:extLst>
              </a:tr>
              <a:tr h="480681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311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2689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32512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Area of Rectangles and Squares worksheet.</a:t>
            </a:r>
          </a:p>
          <a:p>
            <a:pPr>
              <a:buFont typeface="Wingdings" panose="05000000000000000000" pitchFamily="2" charset="2"/>
              <a:buChar char="v"/>
            </a:pP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Finished?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With a partner design a studio apartment using a rectangle and squares as a base for rooms and furniture. Include a scale for </a:t>
            </a:r>
          </a:p>
          <a:p>
            <a:pPr marL="0" indent="0">
              <a:buNone/>
            </a:pP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794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Quote of the day – ”Work hard and good things will come.”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084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4483</TotalTime>
  <Words>407</Words>
  <Application>Microsoft Macintosh PowerPoint</Application>
  <PresentationFormat>Widescreen</PresentationFormat>
  <Paragraphs>82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Cambria Math</vt:lpstr>
      <vt:lpstr>Tw Cen MT</vt:lpstr>
      <vt:lpstr>Tw Cen MT Condensed</vt:lpstr>
      <vt:lpstr>Wingdings</vt:lpstr>
      <vt:lpstr>Wingdings 3</vt:lpstr>
      <vt:lpstr>Integral</vt:lpstr>
      <vt:lpstr>Topic: Measurement EQ: How do I find the perimeter and area of a Rectangle? </vt:lpstr>
      <vt:lpstr>Things Required For This Lesson</vt:lpstr>
      <vt:lpstr>First 5</vt:lpstr>
      <vt:lpstr>PowerPoint Presentation</vt:lpstr>
      <vt:lpstr>PowerPoint Presentation</vt:lpstr>
      <vt:lpstr>Practise </vt:lpstr>
      <vt:lpstr>Practise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DIXON Emily [Baldivis Secondary College]</cp:lastModifiedBy>
  <cp:revision>67</cp:revision>
  <dcterms:created xsi:type="dcterms:W3CDTF">2021-02-11T13:20:57Z</dcterms:created>
  <dcterms:modified xsi:type="dcterms:W3CDTF">2021-06-07T09:38:04Z</dcterms:modified>
</cp:coreProperties>
</file>
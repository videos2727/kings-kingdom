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2"/>
  </p:notesMasterIdLst>
  <p:sldIdLst>
    <p:sldId id="256" r:id="rId2"/>
    <p:sldId id="257" r:id="rId3"/>
    <p:sldId id="311" r:id="rId4"/>
    <p:sldId id="324" r:id="rId5"/>
    <p:sldId id="351" r:id="rId6"/>
    <p:sldId id="353" r:id="rId7"/>
    <p:sldId id="352" r:id="rId8"/>
    <p:sldId id="354" r:id="rId9"/>
    <p:sldId id="350" r:id="rId10"/>
    <p:sldId id="34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9" autoAdjust="0"/>
    <p:restoredTop sz="95610" autoAdjust="0"/>
  </p:normalViewPr>
  <p:slideViewPr>
    <p:cSldViewPr snapToGrid="0">
      <p:cViewPr varScale="1">
        <p:scale>
          <a:sx n="108" d="100"/>
          <a:sy n="108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23/5/21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475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383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7597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23/5/21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Measurement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do I to convert units of measurement?</a:t>
            </a:r>
            <a:br>
              <a:rPr lang="en-GB" sz="4000" dirty="0"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to convert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537563" y="305116"/>
            <a:ext cx="1728358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1) 238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2) 4.8cm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3) 1/20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4) 130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5) 360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/>
              <p:nvPr/>
            </p:nvSpPr>
            <p:spPr>
              <a:xfrm>
                <a:off x="1778671" y="1402610"/>
                <a:ext cx="5401733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US" sz="2400" dirty="0"/>
                  <a:t>Without a calculator solve 34 X 7 =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Draw a rectangle that has a perimeter of 24cm and a length of 7.2cm. What is the width?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If a dam is 5% full, what fraction of the total dam capacity is it currently holing?</a:t>
                </a:r>
              </a:p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(5+6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−14+155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÷5=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5) 25% of students have a language background other than English. If there are 90 students in this group, how many students are there in the school?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D8C98A-E548-D646-997D-B1B20895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71" y="1402610"/>
                <a:ext cx="5401733" cy="4154984"/>
              </a:xfrm>
              <a:prstGeom prst="rect">
                <a:avLst/>
              </a:prstGeom>
              <a:blipFill>
                <a:blip r:embed="rId3"/>
                <a:stretch>
                  <a:fillRect l="-1878" t="-1220" r="-2582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C27137F-3008-9E4A-9D65-06AF4A7309D3}"/>
              </a:ext>
            </a:extLst>
          </p:cNvPr>
          <p:cNvSpPr txBox="1"/>
          <p:nvPr/>
        </p:nvSpPr>
        <p:spPr>
          <a:xfrm>
            <a:off x="288759" y="1062897"/>
            <a:ext cx="113939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Task:  </a:t>
            </a:r>
          </a:p>
          <a:p>
            <a:endParaRPr lang="en-US" sz="2400" dirty="0"/>
          </a:p>
          <a:p>
            <a:r>
              <a:rPr lang="en-US" sz="2400" dirty="0"/>
              <a:t>With a measuring tape, measure the lengths of the following objects. Record the lengths in cm, mm and m.</a:t>
            </a:r>
          </a:p>
          <a:p>
            <a:r>
              <a:rPr lang="en-US" sz="2400" dirty="0"/>
              <a:t>Describe any patterns that you can see.</a:t>
            </a:r>
          </a:p>
          <a:p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33DA806-7DBF-234F-A69F-80C9CF47E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201475"/>
              </p:ext>
            </p:extLst>
          </p:nvPr>
        </p:nvGraphicFramePr>
        <p:xfrm>
          <a:off x="509336" y="3450711"/>
          <a:ext cx="10872535" cy="2344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4507">
                  <a:extLst>
                    <a:ext uri="{9D8B030D-6E8A-4147-A177-3AD203B41FA5}">
                      <a16:colId xmlns:a16="http://schemas.microsoft.com/office/drawing/2014/main" val="3699880625"/>
                    </a:ext>
                  </a:extLst>
                </a:gridCol>
                <a:gridCol w="2174507">
                  <a:extLst>
                    <a:ext uri="{9D8B030D-6E8A-4147-A177-3AD203B41FA5}">
                      <a16:colId xmlns:a16="http://schemas.microsoft.com/office/drawing/2014/main" val="1797020246"/>
                    </a:ext>
                  </a:extLst>
                </a:gridCol>
                <a:gridCol w="2174507">
                  <a:extLst>
                    <a:ext uri="{9D8B030D-6E8A-4147-A177-3AD203B41FA5}">
                      <a16:colId xmlns:a16="http://schemas.microsoft.com/office/drawing/2014/main" val="3530583393"/>
                    </a:ext>
                  </a:extLst>
                </a:gridCol>
                <a:gridCol w="2174507">
                  <a:extLst>
                    <a:ext uri="{9D8B030D-6E8A-4147-A177-3AD203B41FA5}">
                      <a16:colId xmlns:a16="http://schemas.microsoft.com/office/drawing/2014/main" val="1844750507"/>
                    </a:ext>
                  </a:extLst>
                </a:gridCol>
                <a:gridCol w="2174507">
                  <a:extLst>
                    <a:ext uri="{9D8B030D-6E8A-4147-A177-3AD203B41FA5}">
                      <a16:colId xmlns:a16="http://schemas.microsoft.com/office/drawing/2014/main" val="704988073"/>
                    </a:ext>
                  </a:extLst>
                </a:gridCol>
              </a:tblGrid>
              <a:tr h="856212">
                <a:tc>
                  <a:txBody>
                    <a:bodyPr/>
                    <a:lstStyle/>
                    <a:p>
                      <a:r>
                        <a:rPr lang="en-US" sz="2400" b="1" dirty="0"/>
                        <a:t>Object</a:t>
                      </a:r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Meters</a:t>
                      </a:r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Centimeters</a:t>
                      </a:r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Millimeters </a:t>
                      </a:r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What pattern can you see? </a:t>
                      </a:r>
                    </a:p>
                  </a:txBody>
                  <a:tcPr marL="122316" marR="122316" marT="61158" marB="61158"/>
                </a:tc>
                <a:extLst>
                  <a:ext uri="{0D108BD9-81ED-4DB2-BD59-A6C34878D82A}">
                    <a16:rowId xmlns:a16="http://schemas.microsoft.com/office/drawing/2014/main" val="2631440617"/>
                  </a:ext>
                </a:extLst>
              </a:tr>
              <a:tr h="496060">
                <a:tc>
                  <a:txBody>
                    <a:bodyPr/>
                    <a:lstStyle/>
                    <a:p>
                      <a:r>
                        <a:rPr lang="en-US" sz="2400" b="1" dirty="0"/>
                        <a:t>Desk Length</a:t>
                      </a:r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2316" marR="122316" marT="61158" marB="61158"/>
                </a:tc>
                <a:extLst>
                  <a:ext uri="{0D108BD9-81ED-4DB2-BD59-A6C34878D82A}">
                    <a16:rowId xmlns:a16="http://schemas.microsoft.com/office/drawing/2014/main" val="2158092082"/>
                  </a:ext>
                </a:extLst>
              </a:tr>
              <a:tr h="496060">
                <a:tc>
                  <a:txBody>
                    <a:bodyPr/>
                    <a:lstStyle/>
                    <a:p>
                      <a:r>
                        <a:rPr lang="en-US" sz="2400" b="1" dirty="0"/>
                        <a:t>Room Length</a:t>
                      </a:r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2316" marR="122316" marT="61158" marB="61158"/>
                </a:tc>
                <a:extLst>
                  <a:ext uri="{0D108BD9-81ED-4DB2-BD59-A6C34878D82A}">
                    <a16:rowId xmlns:a16="http://schemas.microsoft.com/office/drawing/2014/main" val="3274946062"/>
                  </a:ext>
                </a:extLst>
              </a:tr>
              <a:tr h="496060">
                <a:tc>
                  <a:txBody>
                    <a:bodyPr/>
                    <a:lstStyle/>
                    <a:p>
                      <a:r>
                        <a:rPr lang="en-US" sz="2400" b="1" dirty="0"/>
                        <a:t>Pencil Length</a:t>
                      </a:r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2316" marR="122316" marT="61158" marB="6115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22316" marR="122316" marT="61158" marB="61158"/>
                </a:tc>
                <a:extLst>
                  <a:ext uri="{0D108BD9-81ED-4DB2-BD59-A6C34878D82A}">
                    <a16:rowId xmlns:a16="http://schemas.microsoft.com/office/drawing/2014/main" val="307079338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3934FCD-0533-5A41-A1DC-682988664D20}"/>
              </a:ext>
            </a:extLst>
          </p:cNvPr>
          <p:cNvSpPr/>
          <p:nvPr/>
        </p:nvSpPr>
        <p:spPr>
          <a:xfrm>
            <a:off x="6489960" y="231700"/>
            <a:ext cx="51927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EQ: How do I to convert units of measurement?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486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A1C416-3F7F-FC43-96C6-740872715086}"/>
                  </a:ext>
                </a:extLst>
              </p:cNvPr>
              <p:cNvSpPr txBox="1"/>
              <p:nvPr/>
            </p:nvSpPr>
            <p:spPr>
              <a:xfrm>
                <a:off x="288758" y="1179095"/>
                <a:ext cx="11393905" cy="1755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Evaluate: 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What would half a meter be in cm, mm and m? 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What would 5cm be in mm and m? </a:t>
                </a:r>
              </a:p>
              <a:p>
                <a:pPr marL="457200" indent="-457200">
                  <a:buAutoNum type="arabicParenR"/>
                </a:pPr>
                <a:r>
                  <a:rPr lang="en-US" sz="2400" dirty="0"/>
                  <a:t>What would 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meters be in mm and cm?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A1C416-3F7F-FC43-96C6-740872715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8" y="1179095"/>
                <a:ext cx="11393905" cy="1755352"/>
              </a:xfrm>
              <a:prstGeom prst="rect">
                <a:avLst/>
              </a:prstGeom>
              <a:blipFill>
                <a:blip r:embed="rId3"/>
                <a:stretch>
                  <a:fillRect l="-780" t="-2878"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25C8CA9-A078-E942-B52B-33BB44FCB986}"/>
              </a:ext>
            </a:extLst>
          </p:cNvPr>
          <p:cNvSpPr txBox="1"/>
          <p:nvPr/>
        </p:nvSpPr>
        <p:spPr>
          <a:xfrm>
            <a:off x="288758" y="3396112"/>
            <a:ext cx="979370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 err="1"/>
              <a:t>Quickwrite</a:t>
            </a:r>
            <a:r>
              <a:rPr lang="en-US" sz="3200" dirty="0"/>
              <a:t>: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Describe the relationship or pattern between meters, centimeters and millimeters.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DFE486-1392-3141-93DF-C65CBCC826DA}"/>
              </a:ext>
            </a:extLst>
          </p:cNvPr>
          <p:cNvSpPr/>
          <p:nvPr/>
        </p:nvSpPr>
        <p:spPr>
          <a:xfrm>
            <a:off x="5913157" y="230832"/>
            <a:ext cx="61836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to convert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57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to convert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2470441" y="1290559"/>
            <a:ext cx="86747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Measurements use the same base-ten system as place value. </a:t>
            </a:r>
          </a:p>
          <a:p>
            <a:r>
              <a:rPr lang="en-US" sz="2000" dirty="0"/>
              <a:t>	-We can use place value chart to help convert between units.</a:t>
            </a:r>
          </a:p>
          <a:p>
            <a:r>
              <a:rPr lang="en-US" sz="2000" dirty="0"/>
              <a:t>The base unit has no Prefix (ones). Prefixes tells “how many” </a:t>
            </a:r>
          </a:p>
          <a:p>
            <a:r>
              <a:rPr lang="en-US" sz="2000" u="sng" dirty="0"/>
              <a:t>The decimal shows where the ones are.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2470441" y="2995863"/>
            <a:ext cx="81414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prefixes for meter is kilo, </a:t>
            </a:r>
            <a:r>
              <a:rPr lang="en-US" dirty="0" err="1"/>
              <a:t>centi</a:t>
            </a:r>
            <a:r>
              <a:rPr lang="en-US" dirty="0"/>
              <a:t>, milli. </a:t>
            </a:r>
          </a:p>
          <a:p>
            <a:endParaRPr lang="en-US" dirty="0"/>
          </a:p>
          <a:p>
            <a:r>
              <a:rPr lang="en-US" dirty="0"/>
              <a:t>Review:  Meter is the base unit. </a:t>
            </a:r>
          </a:p>
          <a:p>
            <a:endParaRPr lang="en-US" dirty="0"/>
          </a:p>
          <a:p>
            <a:r>
              <a:rPr lang="en-US" dirty="0"/>
              <a:t>			1km = 1000m </a:t>
            </a:r>
          </a:p>
          <a:p>
            <a:r>
              <a:rPr lang="en-US" dirty="0"/>
              <a:t>			1m 	= 100cm</a:t>
            </a:r>
          </a:p>
          <a:p>
            <a:r>
              <a:rPr lang="en-US" dirty="0"/>
              <a:t>			1cm	= 10mm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to convert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1256216" y="1341479"/>
            <a:ext cx="86747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u="sng" dirty="0"/>
              <a:t>Place Value Chart</a:t>
            </a:r>
            <a:r>
              <a:rPr lang="en-US" sz="2000" dirty="0"/>
              <a:t> below shows 2m converted into cm, mm and km. </a:t>
            </a:r>
            <a:br>
              <a:rPr lang="en-US" sz="2000" dirty="0"/>
            </a:br>
            <a:r>
              <a:rPr lang="en-US" sz="2000" dirty="0"/>
              <a:t>The decimal point moves from the original unit (m) to the converted unit for each case. 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659F8CC5-8F02-3640-BAB9-FA436F26CF32}"/>
              </a:ext>
            </a:extLst>
          </p:cNvPr>
          <p:cNvGraphicFramePr>
            <a:graphicFrameLocks noGrp="1"/>
          </p:cNvGraphicFramePr>
          <p:nvPr/>
        </p:nvGraphicFramePr>
        <p:xfrm>
          <a:off x="184954" y="3107337"/>
          <a:ext cx="11882768" cy="314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346">
                  <a:extLst>
                    <a:ext uri="{9D8B030D-6E8A-4147-A177-3AD203B41FA5}">
                      <a16:colId xmlns:a16="http://schemas.microsoft.com/office/drawing/2014/main" val="2024623677"/>
                    </a:ext>
                  </a:extLst>
                </a:gridCol>
                <a:gridCol w="1485346">
                  <a:extLst>
                    <a:ext uri="{9D8B030D-6E8A-4147-A177-3AD203B41FA5}">
                      <a16:colId xmlns:a16="http://schemas.microsoft.com/office/drawing/2014/main" val="51759299"/>
                    </a:ext>
                  </a:extLst>
                </a:gridCol>
                <a:gridCol w="1485346">
                  <a:extLst>
                    <a:ext uri="{9D8B030D-6E8A-4147-A177-3AD203B41FA5}">
                      <a16:colId xmlns:a16="http://schemas.microsoft.com/office/drawing/2014/main" val="624274167"/>
                    </a:ext>
                  </a:extLst>
                </a:gridCol>
                <a:gridCol w="1485346">
                  <a:extLst>
                    <a:ext uri="{9D8B030D-6E8A-4147-A177-3AD203B41FA5}">
                      <a16:colId xmlns:a16="http://schemas.microsoft.com/office/drawing/2014/main" val="1436877700"/>
                    </a:ext>
                  </a:extLst>
                </a:gridCol>
                <a:gridCol w="1485346">
                  <a:extLst>
                    <a:ext uri="{9D8B030D-6E8A-4147-A177-3AD203B41FA5}">
                      <a16:colId xmlns:a16="http://schemas.microsoft.com/office/drawing/2014/main" val="4189088116"/>
                    </a:ext>
                  </a:extLst>
                </a:gridCol>
                <a:gridCol w="1485346">
                  <a:extLst>
                    <a:ext uri="{9D8B030D-6E8A-4147-A177-3AD203B41FA5}">
                      <a16:colId xmlns:a16="http://schemas.microsoft.com/office/drawing/2014/main" val="2399507476"/>
                    </a:ext>
                  </a:extLst>
                </a:gridCol>
                <a:gridCol w="1485346">
                  <a:extLst>
                    <a:ext uri="{9D8B030D-6E8A-4147-A177-3AD203B41FA5}">
                      <a16:colId xmlns:a16="http://schemas.microsoft.com/office/drawing/2014/main" val="2693874079"/>
                    </a:ext>
                  </a:extLst>
                </a:gridCol>
                <a:gridCol w="1485346">
                  <a:extLst>
                    <a:ext uri="{9D8B030D-6E8A-4147-A177-3AD203B41FA5}">
                      <a16:colId xmlns:a16="http://schemas.microsoft.com/office/drawing/2014/main" val="2578212861"/>
                    </a:ext>
                  </a:extLst>
                </a:gridCol>
              </a:tblGrid>
              <a:tr h="523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Thousands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Hundreds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Hundredths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Thousandths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115052"/>
                  </a:ext>
                </a:extLst>
              </a:tr>
              <a:tr h="523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Kilometers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Centimeters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Millimeters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962372"/>
                  </a:ext>
                </a:extLst>
              </a:tr>
              <a:tr h="523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02055"/>
                  </a:ext>
                </a:extLst>
              </a:tr>
              <a:tr h="523840">
                <a:tc>
                  <a:txBody>
                    <a:bodyPr/>
                    <a:lstStyle/>
                    <a:p>
                      <a:r>
                        <a:rPr lang="en-US" dirty="0"/>
                        <a:t>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153342"/>
                  </a:ext>
                </a:extLst>
              </a:tr>
              <a:tr h="523840">
                <a:tc>
                  <a:txBody>
                    <a:bodyPr/>
                    <a:lstStyle/>
                    <a:p>
                      <a:r>
                        <a:rPr lang="en-US" dirty="0"/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378683"/>
                  </a:ext>
                </a:extLst>
              </a:tr>
              <a:tr h="523840">
                <a:tc>
                  <a:txBody>
                    <a:bodyPr/>
                    <a:lstStyle/>
                    <a:p>
                      <a:r>
                        <a:rPr lang="en-US" dirty="0"/>
                        <a:t>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0551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05A1A0B-3B96-8E4F-B4D6-D2B962B276ED}"/>
              </a:ext>
            </a:extLst>
          </p:cNvPr>
          <p:cNvSpPr txBox="1"/>
          <p:nvPr/>
        </p:nvSpPr>
        <p:spPr>
          <a:xfrm>
            <a:off x="178608" y="2720839"/>
            <a:ext cx="3750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Length in a Place Value Chart</a:t>
            </a:r>
          </a:p>
        </p:txBody>
      </p:sp>
    </p:spTree>
    <p:extLst>
      <p:ext uri="{BB962C8B-B14F-4D97-AF65-F5344CB8AC3E}">
        <p14:creationId xmlns:p14="http://schemas.microsoft.com/office/powerpoint/2010/main" val="1475319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Set A, B and C in your text books. Using </a:t>
            </a:r>
            <a:r>
              <a:rPr lang="en-AU"/>
              <a:t>the Place Value Table.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551007" y="1296364"/>
            <a:ext cx="1755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/>
              <a:t>Page 61</a:t>
            </a:r>
          </a:p>
        </p:txBody>
      </p:sp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”Be like a postage stamp. Stick to a thing until you </a:t>
            </a:r>
            <a:r>
              <a:rPr lang="en-AU">
                <a:latin typeface="Calibri" panose="020F0502020204030204" pitchFamily="34" charset="0"/>
                <a:cs typeface="Calibri" panose="020F0502020204030204" pitchFamily="34" charset="0"/>
              </a:rPr>
              <a:t>get there.” 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2959</TotalTime>
  <Words>570</Words>
  <Application>Microsoft Macintosh PowerPoint</Application>
  <PresentationFormat>Widescreen</PresentationFormat>
  <Paragraphs>124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Measurement EQ: How do I to convert units of measurement? </vt:lpstr>
      <vt:lpstr>Things Required For This Lesson</vt:lpstr>
      <vt:lpstr>PowerPoint Presentation</vt:lpstr>
      <vt:lpstr>First 5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DIXON Emily [Baldivis Secondary College]</cp:lastModifiedBy>
  <cp:revision>40</cp:revision>
  <dcterms:created xsi:type="dcterms:W3CDTF">2021-02-11T13:20:57Z</dcterms:created>
  <dcterms:modified xsi:type="dcterms:W3CDTF">2021-05-23T07:52:42Z</dcterms:modified>
</cp:coreProperties>
</file>
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5" r:id="rId1"/>
  </p:sldMasterIdLst>
  <p:notesMasterIdLst>
    <p:notesMasterId r:id="rId8"/>
  </p:notesMasterIdLst>
  <p:sldIdLst>
    <p:sldId id="256" r:id="rId2"/>
    <p:sldId id="257" r:id="rId3"/>
    <p:sldId id="324" r:id="rId4"/>
    <p:sldId id="352" r:id="rId5"/>
    <p:sldId id="350" r:id="rId6"/>
    <p:sldId id="34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09" autoAdjust="0"/>
    <p:restoredTop sz="95610" autoAdjust="0"/>
  </p:normalViewPr>
  <p:slideViewPr>
    <p:cSldViewPr snapToGrid="0">
      <p:cViewPr varScale="1">
        <p:scale>
          <a:sx n="65" d="100"/>
          <a:sy n="65" d="100"/>
        </p:scale>
        <p:origin x="60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6-13T06:51:42.30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1,'0'4,"0"6,0 6,0 4,0 4,0 1,0 1,0-3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6-13T06:51:46.01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1,'0'4,"0"6,0 6,0 4,0 4,0 1,0 1,0 1,0 0,0 0,0-1,0-4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6-13T06:51:53.53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0,'5'0,"5"0,6 0,4 0,3 0,3 0,0 0,-4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6-13T06:51:58.14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0,'0'4,"0"7,0 4,0 6,0 2,0 2,0 2,0 0,0-1,0 1,5-5,1-6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6-13T06:52:00.76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0,'0'4,"0"7,0 4,0 6,0 2,4 2,2 2,-1 0,0-1,-2 1,-1-5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6-13T06:52:05.78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1,'5'0,"5"0,6 0,4 0,3 0,3 0,0 0,1 0,-5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6-13T06:52:08.08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1,'4'0,"6"0,6 0,4 0,4 0,1 0,1 0,1 0,0 0,0 0,-5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6-13T06:52:11.24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1,'0'4,"0"6,0 6,0 4,0 3,0 3,0 0,0 1,0 0,0 0,0-1,0 0,0 0,0 0,0 0,0-5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6-13T06:52:19.06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1,'2'29,"9"58,-5-57,2 55,-9 70,1-133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7984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7184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8483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3838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40822-E171-43A0-BF03-9AD832AA6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C3D33-C063-4657-80AD-F69CD1FFE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29325-1DF5-4365-BAC1-376C4BCE2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2DAA6-D153-4F49-8BBF-CB16BE2B7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FDF77-5CD8-4B33-8D22-45F0EB7A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2846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B5F9F-832C-41B9-ABC6-86EECBAAA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74FFA-B33F-48CD-90E4-ABBB087E0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B4B15-B35F-444B-834E-68FAC050E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73745-D636-4535-8260-CE10275D5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A6A6F-D457-4E16-B404-91D884791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7168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6F1DF-D517-461F-B7F3-E2AC691FA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E4C684-10B5-4EC8-959A-E424905C7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71C07-7F77-41B9-AA60-75A9EA3BF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697EE-391D-45BC-B199-2AD4EF917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96AC2-D1A3-4C0A-8004-D644457F7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1933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65CB6-DBF9-44C7-A50C-FCE20EB50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BE816-05D7-4745-8FC5-C9F9B46955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73727-02A3-4E33-A359-12369BB88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5FA74-F063-4727-A5A9-F202D35CF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4988C-BD14-4DFF-AD65-593B70DC4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9B1D4-8A1C-43A0-9B19-6BEEF6B53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6553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E2FFB-3591-4022-A0BC-71C4EA9CE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FBDC7-410F-4E76-AAD7-6E2A8D002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2DB5DC-45D2-480B-8E11-62AA85F19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B32DD-B816-445C-8C3B-183DFD7254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DD6B51-D2E0-417F-B72C-24D665D45F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80E46A-CFFC-4406-A896-2AD74E59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19E567-BE52-42E7-9206-4F668EBB5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9561DD-CF76-421B-8AB4-D29C90675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7544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FD6EC-C01B-45CF-B755-2838CDE24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3CF481-EB64-4834-A060-4B7DDB180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B80AD0-00D4-4990-8847-87B616D36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C7E42E-4C79-4600-8E2E-E609C182B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0637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EF2377-59B4-484E-8D07-52166B7B7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41BB66-3D15-493E-A387-C7255989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2249E-AB4F-448A-BB47-2AA4260F8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3709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B90F9-0C72-4D62-958A-059C1D65F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1DA33-946D-49B9-945B-DC333A8AF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99202-DB1F-412D-A14D-919284296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39F4D-A649-44E9-AFD1-E99CD791C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4AEBE6-511E-4744-8E75-9A07DBC6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95713-6E7C-42AB-828D-5EDFFF44D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0013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2828C-B3B8-4933-9AD1-9B5957FE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F4C291-1C96-4842-8DA0-049CF0745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D16562-8211-442A-9935-C0CC10078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04BF8-9FA3-4096-929D-13245A8EE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12DA2-2822-4EDE-B4AD-644D9AB90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C0109-A9EB-4909-AC00-F84810AEF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0968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70EB0-E000-4AF6-B0E1-3A9FDEB95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6D3011-A033-4BF4-8873-B944680B9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7C461-1425-4677-9E32-F0B465CB0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5CE46-8E3E-49C1-9DA3-E26386511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B05A4-8117-454E-85EC-B89DEBF1A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9776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7252B-DF8F-4C47-9E70-CC612BDD57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5B1BB5-709A-4765-9B4B-E08797D68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A1ED1-4EE2-4A1C-893E-95BD11DEB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481FB-899B-4D7A-A76D-0A6841C58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02016-06A9-4D9C-8911-009760525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8153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9965E9-1375-4C8D-AE7C-F977C69D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A73A2-508E-4D63-8377-A4742B06D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6C5E1-1F50-404B-8110-115B20B75E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7294F-DEA6-4D3A-864A-E2E179377C11}" type="datetimeFigureOut">
              <a:rPr lang="en-AU" smtClean="0"/>
              <a:t>12/06/2021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F94E8-C98F-4705-A151-C7117E8BA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2E670-9302-4715-A694-204E069894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0387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" Type="http://schemas.openxmlformats.org/officeDocument/2006/relationships/customXml" Target="../ink/ink1.xml"/><Relationship Id="rId21" Type="http://schemas.openxmlformats.org/officeDocument/2006/relationships/image" Target="../media/image11.png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Measurement</a:t>
            </a:r>
            <a:br>
              <a:rPr lang="en-AU" sz="4000" dirty="0"/>
            </a:br>
            <a:r>
              <a:rPr lang="en-AU" sz="4000" dirty="0">
                <a:cs typeface="Calibri" panose="020F0502020204030204" pitchFamily="34" charset="0"/>
              </a:rPr>
              <a:t>EQ: How do I calculate the area of Composite shapes?</a:t>
            </a:r>
            <a:br>
              <a:rPr lang="en-GB" sz="4000" dirty="0">
                <a:cs typeface="Calibri" panose="020F0502020204030204" pitchFamily="34" charset="0"/>
              </a:rPr>
            </a:br>
            <a:endParaRPr lang="en-AU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43" y="462533"/>
            <a:ext cx="5740739" cy="1499616"/>
          </a:xfrm>
        </p:spPr>
        <p:txBody>
          <a:bodyPr>
            <a:normAutofit fontScale="90000"/>
          </a:bodyPr>
          <a:lstStyle/>
          <a:p>
            <a:r>
              <a:rPr lang="en-AU" sz="3500" dirty="0"/>
              <a:t>First 5</a:t>
            </a:r>
            <a:br>
              <a:rPr lang="en-AU" sz="3500" dirty="0"/>
            </a:br>
            <a:br>
              <a:rPr lang="en-AU" sz="3500" dirty="0"/>
            </a:br>
            <a:endParaRPr lang="en-AU" sz="3500" dirty="0"/>
          </a:p>
        </p:txBody>
      </p:sp>
      <p:sp>
        <p:nvSpPr>
          <p:cNvPr id="5" name="TextBox 4"/>
          <p:cNvSpPr txBox="1"/>
          <p:nvPr/>
        </p:nvSpPr>
        <p:spPr>
          <a:xfrm>
            <a:off x="8704388" y="366576"/>
            <a:ext cx="348761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FF0000"/>
                </a:solidFill>
              </a:rPr>
              <a:t>Answers</a:t>
            </a:r>
          </a:p>
          <a:p>
            <a:r>
              <a:rPr lang="en-AU" sz="2800" b="1" dirty="0">
                <a:solidFill>
                  <a:srgbClr val="FF0000"/>
                </a:solidFill>
              </a:rPr>
              <a:t>1) </a:t>
            </a:r>
            <a:r>
              <a:rPr lang="en-AU" sz="2400" b="1" dirty="0">
                <a:solidFill>
                  <a:srgbClr val="FF0000"/>
                </a:solidFill>
              </a:rPr>
              <a:t>$50- ($14.70 + $23.90 + $4.75 x 2) = $1.90</a:t>
            </a:r>
          </a:p>
          <a:p>
            <a:r>
              <a:rPr lang="en-AU" sz="2800" b="1" dirty="0">
                <a:solidFill>
                  <a:srgbClr val="FF0000"/>
                </a:solidFill>
              </a:rPr>
              <a:t>2) </a:t>
            </a:r>
            <a:r>
              <a:rPr lang="en-AU" sz="2800" b="1" dirty="0" err="1">
                <a:solidFill>
                  <a:srgbClr val="FF0000"/>
                </a:solidFill>
              </a:rPr>
              <a:t>Approx</a:t>
            </a:r>
            <a:r>
              <a:rPr lang="en-AU" sz="2800" b="1" dirty="0">
                <a:solidFill>
                  <a:srgbClr val="FF0000"/>
                </a:solidFill>
              </a:rPr>
              <a:t> 15.6 mil</a:t>
            </a:r>
          </a:p>
          <a:p>
            <a:r>
              <a:rPr lang="en-AU" sz="2800" b="1" dirty="0">
                <a:solidFill>
                  <a:srgbClr val="FF0000"/>
                </a:solidFill>
              </a:rPr>
              <a:t>3) 5%</a:t>
            </a:r>
          </a:p>
          <a:p>
            <a:r>
              <a:rPr lang="en-AU" sz="2800" b="1" dirty="0">
                <a:solidFill>
                  <a:srgbClr val="FF0000"/>
                </a:solidFill>
              </a:rPr>
              <a:t>4) $18</a:t>
            </a:r>
          </a:p>
          <a:p>
            <a:r>
              <a:rPr lang="en-AU" sz="2800" b="1" dirty="0">
                <a:solidFill>
                  <a:srgbClr val="FF0000"/>
                </a:solidFill>
              </a:rPr>
              <a:t>5) -6</a:t>
            </a:r>
          </a:p>
          <a:p>
            <a:pPr marL="342900" indent="-342900">
              <a:buAutoNum type="arabicPeriod"/>
            </a:pP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D8C98A-E548-D646-997D-B1B20895D778}"/>
                  </a:ext>
                </a:extLst>
              </p:cNvPr>
              <p:cNvSpPr txBox="1"/>
              <p:nvPr/>
            </p:nvSpPr>
            <p:spPr>
              <a:xfrm>
                <a:off x="378464" y="1059073"/>
                <a:ext cx="8325924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</a:t>
                </a:r>
              </a:p>
              <a:p>
                <a:pPr marL="342900" indent="-342900">
                  <a:buAutoNum type="arabicParenR"/>
                </a:pPr>
                <a:r>
                  <a:rPr lang="en-US" sz="2400" dirty="0"/>
                  <a:t>Write an equation and solve the problem: I went shopping with $50. I spent $14.70 on lunch and $23.90 on a t-shirt. It cost $4.75 for bus fare each way. How much change did I have at the end of day?</a:t>
                </a:r>
              </a:p>
              <a:p>
                <a:pPr marL="342900" indent="-342900">
                  <a:buAutoNum type="arabicParenR"/>
                </a:pPr>
                <a:r>
                  <a:rPr lang="en-US" sz="2400" dirty="0"/>
                  <a:t>In December of 2013, the estimated resident population was 23.3 million. 19% of the population were less than 15 years old and 14% are over 65. Approximately how many people were aged between 15 and 65 years?</a:t>
                </a:r>
              </a:p>
              <a:p>
                <a:pPr marL="342900" indent="-342900">
                  <a:buAutoNum type="arabicParenR"/>
                </a:pPr>
                <a:r>
                  <a:rPr lang="en-US" sz="2400" dirty="0"/>
                  <a:t>At the start of the year, I invested $200. At the end of the year, I had $210. What was my interest rate?</a:t>
                </a:r>
              </a:p>
              <a:p>
                <a:pPr marL="342900" indent="-342900">
                  <a:buAutoNum type="arabicParenR"/>
                </a:pPr>
                <a:r>
                  <a:rPr lang="en-US" sz="2400" dirty="0"/>
                  <a:t>Find 30% off $60</a:t>
                </a:r>
              </a:p>
              <a:p>
                <a:pPr marL="342900" indent="-342900">
                  <a:buAutoNum type="arabicParenR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−7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=12 </m:t>
                    </m:r>
                  </m:oMath>
                </a14:m>
                <a:r>
                  <a:rPr lang="en-US" sz="2400" dirty="0"/>
                  <a:t>What is the value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pPr marL="342900" indent="-342900">
                  <a:buAutoNum type="arabicParenR"/>
                </a:pPr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D8C98A-E548-D646-997D-B1B20895D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64" y="1059073"/>
                <a:ext cx="8325924" cy="5262979"/>
              </a:xfrm>
              <a:prstGeom prst="rect">
                <a:avLst/>
              </a:prstGeom>
              <a:blipFill>
                <a:blip r:embed="rId3"/>
                <a:stretch>
                  <a:fillRect l="-1171" r="-139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058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325C16-D3A0-AC4C-AB58-C4F1EDA0AF05}"/>
              </a:ext>
            </a:extLst>
          </p:cNvPr>
          <p:cNvSpPr txBox="1"/>
          <p:nvPr/>
        </p:nvSpPr>
        <p:spPr>
          <a:xfrm>
            <a:off x="2083813" y="1442044"/>
            <a:ext cx="53933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composite shape is a combination of different shapes.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D1BB03-733E-D84B-8CDE-7CED498FF666}"/>
              </a:ext>
            </a:extLst>
          </p:cNvPr>
          <p:cNvCxnSpPr>
            <a:cxnSpLocks/>
          </p:cNvCxnSpPr>
          <p:nvPr/>
        </p:nvCxnSpPr>
        <p:spPr>
          <a:xfrm flipH="1">
            <a:off x="1792704" y="1222394"/>
            <a:ext cx="1" cy="563560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87C46E6-C1D8-4E29-8A4D-126F13978806}"/>
              </a:ext>
            </a:extLst>
          </p:cNvPr>
          <p:cNvSpPr txBox="1"/>
          <p:nvPr/>
        </p:nvSpPr>
        <p:spPr>
          <a:xfrm>
            <a:off x="74646" y="1350574"/>
            <a:ext cx="17180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What is  a composite shape?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90D236-55BC-4092-B267-A41CCCA42B09}"/>
              </a:ext>
            </a:extLst>
          </p:cNvPr>
          <p:cNvSpPr txBox="1"/>
          <p:nvPr/>
        </p:nvSpPr>
        <p:spPr>
          <a:xfrm>
            <a:off x="2098071" y="4350142"/>
            <a:ext cx="31055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 has a base of 2cm and a height of 0.8cm. ( 2cm -1.2cm)</a:t>
            </a:r>
          </a:p>
          <a:p>
            <a:endParaRPr lang="en-US" sz="1800" dirty="0"/>
          </a:p>
          <a:p>
            <a:endParaRPr lang="en-AU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8A5E17-403F-4A9C-9909-D2D0E0684F85}"/>
              </a:ext>
            </a:extLst>
          </p:cNvPr>
          <p:cNvSpPr/>
          <p:nvPr/>
        </p:nvSpPr>
        <p:spPr>
          <a:xfrm>
            <a:off x="466640" y="758734"/>
            <a:ext cx="575696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EQ: How do I calculate the area of composite shapes?</a:t>
            </a:r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4AABE8-442C-4E0A-AB00-F103ED9F762F}"/>
              </a:ext>
            </a:extLst>
          </p:cNvPr>
          <p:cNvSpPr txBox="1"/>
          <p:nvPr/>
        </p:nvSpPr>
        <p:spPr>
          <a:xfrm>
            <a:off x="91690" y="2906545"/>
            <a:ext cx="17180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How do I solve the area of a  composite shape?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FF3D25-DBF9-4300-96E9-1E1652777BB2}"/>
              </a:ext>
            </a:extLst>
          </p:cNvPr>
          <p:cNvSpPr/>
          <p:nvPr/>
        </p:nvSpPr>
        <p:spPr>
          <a:xfrm>
            <a:off x="2262909" y="2906545"/>
            <a:ext cx="1247854" cy="5487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6C1C64-78C7-4816-A5AF-DFB36C20C363}"/>
              </a:ext>
            </a:extLst>
          </p:cNvPr>
          <p:cNvSpPr/>
          <p:nvPr/>
        </p:nvSpPr>
        <p:spPr>
          <a:xfrm rot="5400000">
            <a:off x="3153886" y="3256075"/>
            <a:ext cx="1247854" cy="5487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DBDBF87-5B14-4E67-8706-7E13AA91A435}"/>
              </a:ext>
            </a:extLst>
          </p:cNvPr>
          <p:cNvCxnSpPr/>
          <p:nvPr/>
        </p:nvCxnSpPr>
        <p:spPr>
          <a:xfrm>
            <a:off x="2262909" y="3455339"/>
            <a:ext cx="1247854" cy="6833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788DA4E-5987-4C9B-B3FD-C2229D5253F0}"/>
              </a:ext>
            </a:extLst>
          </p:cNvPr>
          <p:cNvSpPr txBox="1"/>
          <p:nvPr/>
        </p:nvSpPr>
        <p:spPr>
          <a:xfrm>
            <a:off x="2644252" y="298836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en-A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429B99-3BE3-4AD8-A672-4E3C026F1851}"/>
              </a:ext>
            </a:extLst>
          </p:cNvPr>
          <p:cNvSpPr txBox="1"/>
          <p:nvPr/>
        </p:nvSpPr>
        <p:spPr>
          <a:xfrm>
            <a:off x="3633341" y="331358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en-AU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6D955B-1D85-4919-929C-D2B75390E594}"/>
              </a:ext>
            </a:extLst>
          </p:cNvPr>
          <p:cNvSpPr txBox="1"/>
          <p:nvPr/>
        </p:nvSpPr>
        <p:spPr>
          <a:xfrm>
            <a:off x="3050255" y="346123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endParaRPr lang="en-AU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E5B84F-1728-4BC3-B278-D7089FF02807}"/>
              </a:ext>
            </a:extLst>
          </p:cNvPr>
          <p:cNvSpPr txBox="1"/>
          <p:nvPr/>
        </p:nvSpPr>
        <p:spPr>
          <a:xfrm>
            <a:off x="2594929" y="2585961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2cm</a:t>
            </a:r>
            <a:endParaRPr lang="en-AU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9D3A61-2FD7-489B-8720-8C6300753764}"/>
              </a:ext>
            </a:extLst>
          </p:cNvPr>
          <p:cNvSpPr txBox="1"/>
          <p:nvPr/>
        </p:nvSpPr>
        <p:spPr>
          <a:xfrm>
            <a:off x="4052211" y="3286591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2cm</a:t>
            </a:r>
            <a:endParaRPr lang="en-AU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FD4290-080D-4053-AB87-4C5C14609883}"/>
              </a:ext>
            </a:extLst>
          </p:cNvPr>
          <p:cNvSpPr txBox="1"/>
          <p:nvPr/>
        </p:nvSpPr>
        <p:spPr>
          <a:xfrm>
            <a:off x="3493721" y="2627499"/>
            <a:ext cx="6303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1.2cm</a:t>
            </a:r>
            <a:endParaRPr lang="en-AU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E65AC2-1CEC-4B6D-9B78-BD93135B518F}"/>
              </a:ext>
            </a:extLst>
          </p:cNvPr>
          <p:cNvSpPr txBox="1"/>
          <p:nvPr/>
        </p:nvSpPr>
        <p:spPr>
          <a:xfrm>
            <a:off x="1714432" y="2983939"/>
            <a:ext cx="6303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1.2cm</a:t>
            </a:r>
            <a:endParaRPr lang="en-AU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9E44F6D-75D1-40C8-91EE-8F7210E9233E}"/>
                  </a:ext>
                </a:extLst>
              </p14:cNvPr>
              <p14:cNvContentPartPr/>
              <p14:nvPr/>
            </p14:nvContentPartPr>
            <p14:xfrm>
              <a:off x="2844215" y="2881360"/>
              <a:ext cx="360" cy="536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9E44F6D-75D1-40C8-91EE-8F7210E923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35575" y="2872720"/>
                <a:ext cx="1800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615813F3-6EAF-4D14-8FB6-F8AA9C93F2B5}"/>
                  </a:ext>
                </a:extLst>
              </p14:cNvPr>
              <p14:cNvContentPartPr/>
              <p14:nvPr/>
            </p14:nvContentPartPr>
            <p14:xfrm>
              <a:off x="2853575" y="3407680"/>
              <a:ext cx="360" cy="918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615813F3-6EAF-4D14-8FB6-F8AA9C93F2B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44935" y="3399040"/>
                <a:ext cx="1800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9B49820B-6304-42E1-879E-75D43DE2B5FD}"/>
                  </a:ext>
                </a:extLst>
              </p14:cNvPr>
              <p14:cNvContentPartPr/>
              <p14:nvPr/>
            </p14:nvContentPartPr>
            <p14:xfrm>
              <a:off x="4035815" y="3454120"/>
              <a:ext cx="53640" cy="3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9B49820B-6304-42E1-879E-75D43DE2B5F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26815" y="3445120"/>
                <a:ext cx="7128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B0F67C40-C977-44A0-90F7-6631A0B610DD}"/>
              </a:ext>
            </a:extLst>
          </p:cNvPr>
          <p:cNvGrpSpPr/>
          <p:nvPr/>
        </p:nvGrpSpPr>
        <p:grpSpPr>
          <a:xfrm>
            <a:off x="3731255" y="2872360"/>
            <a:ext cx="55080" cy="88200"/>
            <a:chOff x="3731255" y="2872360"/>
            <a:chExt cx="55080" cy="8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1CD85B7-0963-4E27-8D26-47261EEA034C}"/>
                    </a:ext>
                  </a:extLst>
                </p14:cNvPr>
                <p14:cNvContentPartPr/>
                <p14:nvPr/>
              </p14:nvContentPartPr>
              <p14:xfrm>
                <a:off x="3731255" y="2872360"/>
                <a:ext cx="3960" cy="882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1CD85B7-0963-4E27-8D26-47261EEA034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22255" y="2863360"/>
                  <a:ext cx="216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84D2129-2F08-4BF6-844B-DE19455D906D}"/>
                    </a:ext>
                  </a:extLst>
                </p14:cNvPr>
                <p14:cNvContentPartPr/>
                <p14:nvPr/>
              </p14:nvContentPartPr>
              <p14:xfrm>
                <a:off x="3776975" y="2872360"/>
                <a:ext cx="9360" cy="82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84D2129-2F08-4BF6-844B-DE19455D906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768335" y="2863360"/>
                  <a:ext cx="27000" cy="10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E151A84-02B4-4AA6-9969-B6C40524576F}"/>
              </a:ext>
            </a:extLst>
          </p:cNvPr>
          <p:cNvGrpSpPr/>
          <p:nvPr/>
        </p:nvGrpSpPr>
        <p:grpSpPr>
          <a:xfrm>
            <a:off x="2234735" y="3066040"/>
            <a:ext cx="82440" cy="28080"/>
            <a:chOff x="2234735" y="3066040"/>
            <a:chExt cx="82440" cy="2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7C02143-AAB6-4F88-BE4D-A55B37BF505E}"/>
                    </a:ext>
                  </a:extLst>
                </p14:cNvPr>
                <p14:cNvContentPartPr/>
                <p14:nvPr/>
              </p14:nvContentPartPr>
              <p14:xfrm>
                <a:off x="2244095" y="3066040"/>
                <a:ext cx="63360" cy="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7C02143-AAB6-4F88-BE4D-A55B37BF505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35095" y="3057400"/>
                  <a:ext cx="81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14E5ABC-3380-4208-A61B-0E649733720C}"/>
                    </a:ext>
                  </a:extLst>
                </p14:cNvPr>
                <p14:cNvContentPartPr/>
                <p14:nvPr/>
              </p14:nvContentPartPr>
              <p14:xfrm>
                <a:off x="2234735" y="3093760"/>
                <a:ext cx="82440" cy="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14E5ABC-3380-4208-A61B-0E649733720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226095" y="3085120"/>
                  <a:ext cx="10008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53BD601-C30C-430A-B2CD-D9746FEF746C}"/>
                  </a:ext>
                </a:extLst>
              </p14:cNvPr>
              <p14:cNvContentPartPr/>
              <p14:nvPr/>
            </p14:nvContentPartPr>
            <p14:xfrm>
              <a:off x="3740615" y="4063600"/>
              <a:ext cx="360" cy="1288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53BD601-C30C-430A-B2CD-D9746FEF746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731615" y="4054960"/>
                <a:ext cx="1800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FD6B67F-A27E-4569-BAD3-00AE86C1D7A4}"/>
                  </a:ext>
                </a:extLst>
              </p14:cNvPr>
              <p14:cNvContentPartPr/>
              <p14:nvPr/>
            </p14:nvContentPartPr>
            <p14:xfrm>
              <a:off x="3795695" y="4063600"/>
              <a:ext cx="10080" cy="14760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FD6B67F-A27E-4569-BAD3-00AE86C1D7A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786695" y="4054960"/>
                <a:ext cx="2772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3520522-C8E2-4D6F-8EB0-E3FD5F197672}"/>
                  </a:ext>
                </a:extLst>
              </p:cNvPr>
              <p:cNvSpPr txBox="1"/>
              <p:nvPr/>
            </p:nvSpPr>
            <p:spPr>
              <a:xfrm>
                <a:off x="5488635" y="2765516"/>
                <a:ext cx="3105560" cy="37240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Total area = A + B + C</a:t>
                </a:r>
              </a:p>
              <a:p>
                <a:r>
                  <a:rPr lang="en-US" sz="2000" dirty="0"/>
                  <a:t>Area A = Area B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Area A = length x width</a:t>
                </a:r>
              </a:p>
              <a:p>
                <a:r>
                  <a:rPr lang="en-US" sz="2000" dirty="0"/>
                  <a:t>             = 2 x 1.2</a:t>
                </a:r>
              </a:p>
              <a:p>
                <a:r>
                  <a:rPr lang="en-US" sz="2000" dirty="0"/>
                  <a:t>             = 2.4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/>
              </a:p>
              <a:p>
                <a:r>
                  <a:rPr lang="en-US" sz="2000" dirty="0"/>
                  <a:t>Area C = base x height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US" sz="2000" dirty="0"/>
                  <a:t> 2</a:t>
                </a:r>
              </a:p>
              <a:p>
                <a:r>
                  <a:rPr lang="en-US" sz="2000" dirty="0"/>
                  <a:t>             = 2 x 0.8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US" sz="2000" dirty="0"/>
                  <a:t> 2</a:t>
                </a:r>
              </a:p>
              <a:p>
                <a:r>
                  <a:rPr lang="en-US" sz="2000" dirty="0"/>
                  <a:t>             = 0.8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endParaRPr lang="en-US" sz="1800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3520522-C8E2-4D6F-8EB0-E3FD5F197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8635" y="2765516"/>
                <a:ext cx="3105560" cy="3724096"/>
              </a:xfrm>
              <a:prstGeom prst="rect">
                <a:avLst/>
              </a:prstGeom>
              <a:blipFill>
                <a:blip r:embed="rId21"/>
                <a:stretch>
                  <a:fillRect l="-1961" t="-9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CDA39AD-3936-4700-A3B6-DFDEAF03CA70}"/>
                  </a:ext>
                </a:extLst>
              </p:cNvPr>
              <p:cNvSpPr txBox="1"/>
              <p:nvPr/>
            </p:nvSpPr>
            <p:spPr>
              <a:xfrm>
                <a:off x="5508997" y="5757038"/>
                <a:ext cx="3105560" cy="1877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Total area = A + B + C</a:t>
                </a:r>
              </a:p>
              <a:p>
                <a:r>
                  <a:rPr lang="en-US" sz="2000" dirty="0"/>
                  <a:t>                   = 2.4 + 2.4 + 0.8</a:t>
                </a:r>
              </a:p>
              <a:p>
                <a:r>
                  <a:rPr lang="en-US" sz="2000" dirty="0"/>
                  <a:t>                   = 5.6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endParaRPr lang="en-US" sz="1800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CDA39AD-3936-4700-A3B6-DFDEAF03C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997" y="5757038"/>
                <a:ext cx="3105560" cy="1877437"/>
              </a:xfrm>
              <a:prstGeom prst="rect">
                <a:avLst/>
              </a:prstGeom>
              <a:blipFill>
                <a:blip r:embed="rId22"/>
                <a:stretch>
                  <a:fillRect l="-2161" t="-162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2756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9402" y="937490"/>
            <a:ext cx="9720073" cy="4023360"/>
          </a:xfrm>
        </p:spPr>
        <p:txBody>
          <a:bodyPr/>
          <a:lstStyle/>
          <a:p>
            <a:r>
              <a:rPr lang="en-AU" sz="3600"/>
              <a:t>Complete pages </a:t>
            </a:r>
            <a:r>
              <a:rPr lang="en-AU" sz="3600" dirty="0"/>
              <a:t>68 and 69 on </a:t>
            </a:r>
            <a:r>
              <a:rPr lang="en-AU" sz="3600"/>
              <a:t>the Textbook</a:t>
            </a:r>
            <a:endParaRPr lang="en-AU" sz="3600" dirty="0"/>
          </a:p>
          <a:p>
            <a:endParaRPr lang="en-AU" dirty="0"/>
          </a:p>
          <a:p>
            <a:pPr marL="0" indent="0">
              <a:buNone/>
            </a:pPr>
            <a:r>
              <a:rPr lang="en-AU" dirty="0"/>
              <a:t>  </a:t>
            </a:r>
            <a:r>
              <a:rPr lang="en-US" dirty="0">
                <a:latin typeface="Montserrat"/>
              </a:rPr>
              <a:t>Finished? Have a go at these:</a:t>
            </a:r>
            <a:endParaRPr lang="en-US" b="0" i="0" dirty="0">
              <a:effectLst/>
              <a:latin typeface="Montserrat"/>
            </a:endParaRPr>
          </a:p>
          <a:p>
            <a:endParaRPr lang="en-US" dirty="0">
              <a:latin typeface="Montserrat"/>
            </a:endParaRPr>
          </a:p>
          <a:p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9DF06E-4C1B-492B-A88F-12DC7BD5E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863" y="2585544"/>
            <a:ext cx="2760114" cy="44264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035368-7C32-436D-9735-8C3A0F315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1228" y="2785232"/>
            <a:ext cx="2985758" cy="40294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D57908-963D-4757-825B-39042ED7B4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847" y="2785232"/>
            <a:ext cx="2860440" cy="402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928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08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11824</TotalTime>
  <Words>401</Words>
  <Application>Microsoft Office PowerPoint</Application>
  <PresentationFormat>Widescreen</PresentationFormat>
  <Paragraphs>61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Montserrat</vt:lpstr>
      <vt:lpstr>Wingdings</vt:lpstr>
      <vt:lpstr>Office Theme</vt:lpstr>
      <vt:lpstr>Topic: Measurement EQ: How do I calculate the area of Composite shapes? </vt:lpstr>
      <vt:lpstr>Things Required For This Lesson</vt:lpstr>
      <vt:lpstr>First 5  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GREGORY Jade [Baldivis Secondary College]</dc:creator>
  <cp:lastModifiedBy>Jade Gregory</cp:lastModifiedBy>
  <cp:revision>74</cp:revision>
  <dcterms:created xsi:type="dcterms:W3CDTF">2021-02-11T13:20:57Z</dcterms:created>
  <dcterms:modified xsi:type="dcterms:W3CDTF">2021-06-13T07:01:04Z</dcterms:modified>
</cp:coreProperties>
</file>
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9"/>
  </p:notesMasterIdLst>
  <p:sldIdLst>
    <p:sldId id="263" r:id="rId2"/>
    <p:sldId id="269" r:id="rId3"/>
    <p:sldId id="257" r:id="rId4"/>
    <p:sldId id="311" r:id="rId5"/>
    <p:sldId id="324" r:id="rId6"/>
    <p:sldId id="262" r:id="rId7"/>
    <p:sldId id="32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6" d="100"/>
          <a:sy n="86" d="100"/>
        </p:scale>
        <p:origin x="6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40876B-92DC-40AC-B594-F3E0179F97F2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600F54-A9D3-476A-A811-2700FD0FCB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2305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Explaining this slide: Demonstrate the “</a:t>
            </a:r>
            <a:r>
              <a:rPr lang="en-US" b="1" dirty="0"/>
              <a:t>type of response</a:t>
            </a:r>
            <a:r>
              <a:rPr lang="en-US" dirty="0"/>
              <a:t>”: In 2 minutes (timed), you are going to share with your shoulder partner all of the formulas and examples you have written. You will get 2 mins (timed) to write down any formula/examples that your partners has that you haven’t and vice-versa. You and your partner then need to be prepared to share one formula and example on the board ( only choose 3 )</a:t>
            </a:r>
          </a:p>
          <a:p>
            <a:endParaRPr lang="en-US" dirty="0"/>
          </a:p>
          <a:p>
            <a:r>
              <a:rPr lang="en-US" dirty="0"/>
              <a:t>After marking the roll:</a:t>
            </a:r>
          </a:p>
          <a:p>
            <a:r>
              <a:rPr lang="en-US" dirty="0"/>
              <a:t>- Use </a:t>
            </a:r>
            <a:r>
              <a:rPr lang="en-US" b="1" dirty="0"/>
              <a:t>active scanning </a:t>
            </a:r>
            <a:r>
              <a:rPr lang="en-US" dirty="0"/>
              <a:t>and intervene if they are not. Use </a:t>
            </a:r>
            <a:r>
              <a:rPr lang="en-US" b="1" dirty="0"/>
              <a:t>Private dialogue </a:t>
            </a:r>
            <a:r>
              <a:rPr lang="en-US" dirty="0"/>
              <a:t>if needed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216D-CFF3-4986-8F74-1237429BE767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2428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524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714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33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12B8E0C-D3FD-41DA-A4C4-89E1D908131A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183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8532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703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9526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3135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7785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8452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0580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2612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3987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96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36329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2B8E0C-D3FD-41DA-A4C4-89E1D908131A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2850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flickr.com/photos/128758398@N07/16606213985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B711-EC04-4328-BA3C-D312B35E0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979026" y="4631121"/>
            <a:ext cx="9144000" cy="841191"/>
          </a:xfrm>
        </p:spPr>
        <p:txBody>
          <a:bodyPr>
            <a:normAutofit/>
          </a:bodyPr>
          <a:lstStyle/>
          <a:p>
            <a:r>
              <a:rPr lang="en-US" dirty="0"/>
              <a:t>Topic: Measurement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656DC-C7F4-4C74-A9D1-FED7285DB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43" y="5203163"/>
            <a:ext cx="9144000" cy="642703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EQ: How do I apply arrays to calculate volume?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17DF51D-0D32-49F8-9913-D887FA694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575" y="12096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015A4BA-22D2-4AEF-8F90-54ABC8656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CEA6FD-66F3-4DAA-B5C0-39FF5D8512B0}"/>
              </a:ext>
            </a:extLst>
          </p:cNvPr>
          <p:cNvSpPr txBox="1"/>
          <p:nvPr/>
        </p:nvSpPr>
        <p:spPr>
          <a:xfrm>
            <a:off x="8645236" y="5472312"/>
            <a:ext cx="3147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2324522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97540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50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800" dirty="0">
                <a:latin typeface="Kiwi School Handwriting" panose="00000500000000000000" pitchFamily="2" charset="0"/>
              </a:rPr>
              <a:t>Students will be able to</a:t>
            </a:r>
          </a:p>
          <a:p>
            <a:pPr marL="135464" indent="0">
              <a:buNone/>
            </a:pPr>
            <a:endParaRPr lang="en-AU" sz="2800" dirty="0"/>
          </a:p>
          <a:p>
            <a:r>
              <a:rPr lang="en-AU" sz="2800" dirty="0"/>
              <a:t>calculate the volume of a rectangular prism using arrays.</a:t>
            </a:r>
          </a:p>
        </p:txBody>
      </p:sp>
    </p:spTree>
    <p:extLst>
      <p:ext uri="{BB962C8B-B14F-4D97-AF65-F5344CB8AC3E}">
        <p14:creationId xmlns:p14="http://schemas.microsoft.com/office/powerpoint/2010/main" val="2503822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cs typeface="Calibri" panose="020F0502020204030204" pitchFamily="34" charset="0"/>
              </a:rPr>
              <a:t>EQ: Why is estimating and measuring accurately important?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picture containing text, brick, outdoor, sign&#10;&#10;Description automatically generated">
            <a:extLst>
              <a:ext uri="{FF2B5EF4-FFF2-40B4-BE49-F238E27FC236}">
                <a16:creationId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881917" y="1449553"/>
            <a:ext cx="3257615" cy="4289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B01DF-9411-42CA-9351-FB3A2852305B}"/>
              </a:ext>
            </a:extLst>
          </p:cNvPr>
          <p:cNvSpPr txBox="1"/>
          <p:nvPr/>
        </p:nvSpPr>
        <p:spPr>
          <a:xfrm>
            <a:off x="5001187" y="5710872"/>
            <a:ext cx="257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hlinkClick r:id="rId4" tooltip="https://www.flickr.com/photos/128758398@N07/16606213985"/>
              </a:rPr>
              <a:t>This Photo</a:t>
            </a:r>
            <a:r>
              <a:rPr lang="en-AU" sz="900" dirty="0"/>
              <a:t> by Unknown Author is licensed under </a:t>
            </a:r>
            <a:r>
              <a:rPr lang="en-AU" sz="900" dirty="0">
                <a:hlinkClick r:id="rId5" tooltip="https://creativecommons.org/licenses/by-sa/3.0/"/>
              </a:rPr>
              <a:t>CC BY-SA</a:t>
            </a:r>
            <a:endParaRPr lang="en-AU" sz="9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4058-F110-4341-AAE9-DF21C868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332" y="305116"/>
            <a:ext cx="5740739" cy="1499616"/>
          </a:xfrm>
        </p:spPr>
        <p:txBody>
          <a:bodyPr>
            <a:normAutofit/>
          </a:bodyPr>
          <a:lstStyle/>
          <a:p>
            <a:r>
              <a:rPr lang="en-AU" sz="3500" dirty="0"/>
              <a:t>First 5</a:t>
            </a:r>
            <a:br>
              <a:rPr lang="en-AU" sz="3500" dirty="0"/>
            </a:br>
            <a:br>
              <a:rPr lang="en-AU" sz="3500" dirty="0"/>
            </a:br>
            <a:endParaRPr lang="en-AU" sz="3500" dirty="0"/>
          </a:p>
        </p:txBody>
      </p:sp>
      <p:sp>
        <p:nvSpPr>
          <p:cNvPr id="4" name="TextBox 3"/>
          <p:cNvSpPr txBox="1"/>
          <p:nvPr/>
        </p:nvSpPr>
        <p:spPr>
          <a:xfrm>
            <a:off x="1955631" y="834637"/>
            <a:ext cx="9222216" cy="51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/>
              <a:t>How many cm in 15.25m?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/>
              <a:t>$15000 is invested for 7 years and Simple Interest of $6825 is accrued. What was the rate at which it was invested?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/>
              <a:t>What is 15% of $80?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4. If I have a 30% markup on my $50 item, what price will I sell it for?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5.Simplify the ratio 115:35?</a:t>
            </a:r>
          </a:p>
        </p:txBody>
      </p:sp>
    </p:spTree>
    <p:extLst>
      <p:ext uri="{BB962C8B-B14F-4D97-AF65-F5344CB8AC3E}">
        <p14:creationId xmlns:p14="http://schemas.microsoft.com/office/powerpoint/2010/main" val="2540581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582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How do I apply arrays to calculate volume?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-207006" y="132048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D180012-E0F9-4603-82D6-A5421EE561FC}"/>
              </a:ext>
            </a:extLst>
          </p:cNvPr>
          <p:cNvSpPr txBox="1"/>
          <p:nvPr/>
        </p:nvSpPr>
        <p:spPr>
          <a:xfrm>
            <a:off x="249382" y="1535084"/>
            <a:ext cx="11510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Use 60 cubes to build as many rectangular prisms as you can. Record the dimensions of 5 prisms using the table below to try and find a pattern that uses the area of the base rectangle and the prism height to get a volume of 60 cubes.</a:t>
            </a:r>
          </a:p>
        </p:txBody>
      </p: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3EE0A655-B46F-4722-8E12-783E2BBB2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077288"/>
              </p:ext>
            </p:extLst>
          </p:nvPr>
        </p:nvGraphicFramePr>
        <p:xfrm>
          <a:off x="289545" y="2337877"/>
          <a:ext cx="11176480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640">
                  <a:extLst>
                    <a:ext uri="{9D8B030D-6E8A-4147-A177-3AD203B41FA5}">
                      <a16:colId xmlns:a16="http://schemas.microsoft.com/office/drawing/2014/main" val="2834296578"/>
                    </a:ext>
                  </a:extLst>
                </a:gridCol>
                <a:gridCol w="1596640">
                  <a:extLst>
                    <a:ext uri="{9D8B030D-6E8A-4147-A177-3AD203B41FA5}">
                      <a16:colId xmlns:a16="http://schemas.microsoft.com/office/drawing/2014/main" val="492407224"/>
                    </a:ext>
                  </a:extLst>
                </a:gridCol>
                <a:gridCol w="1596640">
                  <a:extLst>
                    <a:ext uri="{9D8B030D-6E8A-4147-A177-3AD203B41FA5}">
                      <a16:colId xmlns:a16="http://schemas.microsoft.com/office/drawing/2014/main" val="2042642575"/>
                    </a:ext>
                  </a:extLst>
                </a:gridCol>
                <a:gridCol w="1596640">
                  <a:extLst>
                    <a:ext uri="{9D8B030D-6E8A-4147-A177-3AD203B41FA5}">
                      <a16:colId xmlns:a16="http://schemas.microsoft.com/office/drawing/2014/main" val="2784379585"/>
                    </a:ext>
                  </a:extLst>
                </a:gridCol>
                <a:gridCol w="1596640">
                  <a:extLst>
                    <a:ext uri="{9D8B030D-6E8A-4147-A177-3AD203B41FA5}">
                      <a16:colId xmlns:a16="http://schemas.microsoft.com/office/drawing/2014/main" val="1860308232"/>
                    </a:ext>
                  </a:extLst>
                </a:gridCol>
                <a:gridCol w="1596640">
                  <a:extLst>
                    <a:ext uri="{9D8B030D-6E8A-4147-A177-3AD203B41FA5}">
                      <a16:colId xmlns:a16="http://schemas.microsoft.com/office/drawing/2014/main" val="3693557658"/>
                    </a:ext>
                  </a:extLst>
                </a:gridCol>
                <a:gridCol w="1596640">
                  <a:extLst>
                    <a:ext uri="{9D8B030D-6E8A-4147-A177-3AD203B41FA5}">
                      <a16:colId xmlns:a16="http://schemas.microsoft.com/office/drawing/2014/main" val="7589274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Shape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For the rectangle of the base: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AU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AU" b="1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For the prism: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AU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A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198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Rect.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Rect. 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Area of the base (rectangle)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Prism 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Volume (no. of cubes)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Pattern for volume using Area and Height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541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960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07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683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378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20377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F52829-C6FD-466E-93B2-1E7D7B02F1DC}"/>
              </a:ext>
            </a:extLst>
          </p:cNvPr>
          <p:cNvSpPr txBox="1"/>
          <p:nvPr/>
        </p:nvSpPr>
        <p:spPr>
          <a:xfrm>
            <a:off x="299258" y="6066195"/>
            <a:ext cx="11249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pattern or formula have you found using the base and prism height? How does the Base by Height strategy still apply?</a:t>
            </a: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582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How do I apply arrays to calculate volume?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-207006" y="132048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D180012-E0F9-4603-82D6-A5421EE561FC}"/>
              </a:ext>
            </a:extLst>
          </p:cNvPr>
          <p:cNvSpPr txBox="1"/>
          <p:nvPr/>
        </p:nvSpPr>
        <p:spPr>
          <a:xfrm>
            <a:off x="249382" y="1535084"/>
            <a:ext cx="11510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Try changing the volume of your prism to 24 cubes. Try out the formula or pattern to see if it still works. Show that our pattern works for at least 2 prisms.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F52829-C6FD-466E-93B2-1E7D7B02F1DC}"/>
              </a:ext>
            </a:extLst>
          </p:cNvPr>
          <p:cNvSpPr txBox="1"/>
          <p:nvPr/>
        </p:nvSpPr>
        <p:spPr>
          <a:xfrm>
            <a:off x="191345" y="2519432"/>
            <a:ext cx="11249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Explain how to apply your pattern to find the volume of any rectangular prism if you know the dimensions.</a:t>
            </a:r>
          </a:p>
        </p:txBody>
      </p:sp>
    </p:spTree>
    <p:extLst>
      <p:ext uri="{BB962C8B-B14F-4D97-AF65-F5344CB8AC3E}">
        <p14:creationId xmlns:p14="http://schemas.microsoft.com/office/powerpoint/2010/main" val="1517623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114</TotalTime>
  <Words>482</Words>
  <Application>Microsoft Office PowerPoint</Application>
  <PresentationFormat>Widescreen</PresentationFormat>
  <Paragraphs>64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Calibri</vt:lpstr>
      <vt:lpstr>Kiwi School Handwriting</vt:lpstr>
      <vt:lpstr>Times New Roman</vt:lpstr>
      <vt:lpstr>Tw Cen MT</vt:lpstr>
      <vt:lpstr>Tw Cen MT Condensed</vt:lpstr>
      <vt:lpstr>Wingdings</vt:lpstr>
      <vt:lpstr>Wingdings 3</vt:lpstr>
      <vt:lpstr>Integral</vt:lpstr>
      <vt:lpstr>Topic: Measurement</vt:lpstr>
      <vt:lpstr>Learning Intentions</vt:lpstr>
      <vt:lpstr>Things Required For This Lesson</vt:lpstr>
      <vt:lpstr>PowerPoint Presentation</vt:lpstr>
      <vt:lpstr>First 5 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Measurement</dc:title>
  <dc:creator>Sarah JAMES</dc:creator>
  <cp:lastModifiedBy>EVANS Clem [Baldivis Secondary College]</cp:lastModifiedBy>
  <cp:revision>16</cp:revision>
  <dcterms:created xsi:type="dcterms:W3CDTF">2021-02-23T01:30:18Z</dcterms:created>
  <dcterms:modified xsi:type="dcterms:W3CDTF">2021-06-10T03:35:13Z</dcterms:modified>
</cp:coreProperties>
</file>
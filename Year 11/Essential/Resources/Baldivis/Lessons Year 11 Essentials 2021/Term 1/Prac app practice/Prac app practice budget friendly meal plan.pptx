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3" r:id="rId8"/>
    <p:sldId id="264" r:id="rId9"/>
    <p:sldId id="267" r:id="rId10"/>
    <p:sldId id="268" r:id="rId11"/>
    <p:sldId id="269" r:id="rId12"/>
    <p:sldId id="270" r:id="rId13"/>
    <p:sldId id="271" r:id="rId14"/>
    <p:sldId id="272" r:id="rId15"/>
    <p:sldId id="273" r:id="rId16"/>
    <p:sldId id="274" r:id="rId17"/>
    <p:sldId id="275" r:id="rId18"/>
    <p:sldId id="26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0344" autoAdjust="0"/>
  </p:normalViewPr>
  <p:slideViewPr>
    <p:cSldViewPr snapToGrid="0">
      <p:cViewPr varScale="1">
        <p:scale>
          <a:sx n="70" d="100"/>
          <a:sy n="70" d="100"/>
        </p:scale>
        <p:origin x="116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2D1159-8D9A-430D-BABC-F193C98B28A6}" type="datetimeFigureOut">
              <a:rPr lang="en-AU" smtClean="0"/>
              <a:t>26/02/2021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CCD879-E594-4D86-AEFA-F6636750C1CE}" type="slidenum">
              <a:rPr lang="en-AU" smtClean="0"/>
              <a:t>‹#›</a:t>
            </a:fld>
            <a:endParaRPr lang="en-AU"/>
          </a:p>
        </p:txBody>
      </p:sp>
    </p:spTree>
    <p:extLst>
      <p:ext uri="{BB962C8B-B14F-4D97-AF65-F5344CB8AC3E}">
        <p14:creationId xmlns:p14="http://schemas.microsoft.com/office/powerpoint/2010/main" val="2499690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Make sure you are clear about how lateness will affect their grades. </a:t>
            </a:r>
            <a:endParaRPr lang="en-AU" dirty="0"/>
          </a:p>
        </p:txBody>
      </p:sp>
      <p:sp>
        <p:nvSpPr>
          <p:cNvPr id="4" name="Slide Number Placeholder 3"/>
          <p:cNvSpPr>
            <a:spLocks noGrp="1"/>
          </p:cNvSpPr>
          <p:nvPr>
            <p:ph type="sldNum" sz="quarter" idx="10"/>
          </p:nvPr>
        </p:nvSpPr>
        <p:spPr/>
        <p:txBody>
          <a:bodyPr/>
          <a:lstStyle/>
          <a:p>
            <a:fld id="{4BCCD879-E594-4D86-AEFA-F6636750C1CE}" type="slidenum">
              <a:rPr lang="en-AU" smtClean="0"/>
              <a:t>2</a:t>
            </a:fld>
            <a:endParaRPr lang="en-AU"/>
          </a:p>
        </p:txBody>
      </p:sp>
    </p:spTree>
    <p:extLst>
      <p:ext uri="{BB962C8B-B14F-4D97-AF65-F5344CB8AC3E}">
        <p14:creationId xmlns:p14="http://schemas.microsoft.com/office/powerpoint/2010/main" val="3859386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Hand out planning sheet to students</a:t>
            </a:r>
            <a:endParaRPr lang="en-AU" dirty="0"/>
          </a:p>
        </p:txBody>
      </p:sp>
      <p:sp>
        <p:nvSpPr>
          <p:cNvPr id="4" name="Slide Number Placeholder 3"/>
          <p:cNvSpPr>
            <a:spLocks noGrp="1"/>
          </p:cNvSpPr>
          <p:nvPr>
            <p:ph type="sldNum" sz="quarter" idx="10"/>
          </p:nvPr>
        </p:nvSpPr>
        <p:spPr/>
        <p:txBody>
          <a:bodyPr/>
          <a:lstStyle/>
          <a:p>
            <a:fld id="{4BCCD879-E594-4D86-AEFA-F6636750C1CE}" type="slidenum">
              <a:rPr lang="en-AU" smtClean="0"/>
              <a:t>4</a:t>
            </a:fld>
            <a:endParaRPr lang="en-AU"/>
          </a:p>
        </p:txBody>
      </p:sp>
    </p:spTree>
    <p:extLst>
      <p:ext uri="{BB962C8B-B14F-4D97-AF65-F5344CB8AC3E}">
        <p14:creationId xmlns:p14="http://schemas.microsoft.com/office/powerpoint/2010/main" val="2214610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Hand out task sheet</a:t>
            </a:r>
            <a:endParaRPr lang="en-AU" dirty="0"/>
          </a:p>
        </p:txBody>
      </p:sp>
      <p:sp>
        <p:nvSpPr>
          <p:cNvPr id="4" name="Slide Number Placeholder 3"/>
          <p:cNvSpPr>
            <a:spLocks noGrp="1"/>
          </p:cNvSpPr>
          <p:nvPr>
            <p:ph type="sldNum" sz="quarter" idx="10"/>
          </p:nvPr>
        </p:nvSpPr>
        <p:spPr/>
        <p:txBody>
          <a:bodyPr/>
          <a:lstStyle/>
          <a:p>
            <a:fld id="{4BCCD879-E594-4D86-AEFA-F6636750C1CE}" type="slidenum">
              <a:rPr lang="en-AU" smtClean="0"/>
              <a:t>5</a:t>
            </a:fld>
            <a:endParaRPr lang="en-AU"/>
          </a:p>
        </p:txBody>
      </p:sp>
    </p:spTree>
    <p:extLst>
      <p:ext uri="{BB962C8B-B14F-4D97-AF65-F5344CB8AC3E}">
        <p14:creationId xmlns:p14="http://schemas.microsoft.com/office/powerpoint/2010/main" val="1002812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Go through the</a:t>
            </a:r>
            <a:r>
              <a:rPr lang="en-AU" baseline="0" dirty="0" smtClean="0"/>
              <a:t> planning stages with the </a:t>
            </a:r>
            <a:r>
              <a:rPr lang="en-AU" baseline="0" dirty="0" smtClean="0"/>
              <a:t>class this needs to be completed to move on to the computer lesson.</a:t>
            </a:r>
            <a:r>
              <a:rPr lang="en-AU" baseline="0" dirty="0" smtClean="0"/>
              <a:t/>
            </a:r>
            <a:br>
              <a:rPr lang="en-AU" baseline="0" dirty="0" smtClean="0"/>
            </a:br>
            <a:r>
              <a:rPr lang="en-AU" baseline="0" dirty="0" smtClean="0"/>
              <a:t>What are you being asked to do?</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smtClean="0"/>
              <a:t>What information do you need to find out? What information do you already know</a:t>
            </a:r>
            <a:r>
              <a:rPr lang="en-AU" baseline="0" dirty="0" smtClean="0"/>
              <a:t>?</a:t>
            </a:r>
            <a:r>
              <a:rPr lang="en-AU" b="1" baseline="0" dirty="0" smtClean="0"/>
              <a:t> Make a list of the information you need to find out</a:t>
            </a:r>
            <a:endParaRPr lang="en-AU" b="1" dirty="0" smtClean="0"/>
          </a:p>
          <a:p>
            <a:r>
              <a:rPr lang="en-AU" baseline="0" dirty="0" smtClean="0"/>
              <a:t>What </a:t>
            </a:r>
            <a:r>
              <a:rPr lang="en-AU" baseline="0" dirty="0" smtClean="0"/>
              <a:t>mathematics will be required to complete the task</a:t>
            </a:r>
            <a:r>
              <a:rPr lang="en-AU" baseline="0" dirty="0" smtClean="0"/>
              <a:t>?</a:t>
            </a:r>
          </a:p>
          <a:p>
            <a:endParaRPr lang="en-AU" baseline="0" dirty="0" smtClean="0"/>
          </a:p>
          <a:p>
            <a:endParaRPr lang="en-AU" baseline="0" dirty="0" smtClean="0"/>
          </a:p>
        </p:txBody>
      </p:sp>
      <p:sp>
        <p:nvSpPr>
          <p:cNvPr id="4" name="Slide Number Placeholder 3"/>
          <p:cNvSpPr>
            <a:spLocks noGrp="1"/>
          </p:cNvSpPr>
          <p:nvPr>
            <p:ph type="sldNum" sz="quarter" idx="10"/>
          </p:nvPr>
        </p:nvSpPr>
        <p:spPr/>
        <p:txBody>
          <a:bodyPr/>
          <a:lstStyle/>
          <a:p>
            <a:fld id="{4BCCD879-E594-4D86-AEFA-F6636750C1CE}" type="slidenum">
              <a:rPr lang="en-AU" smtClean="0"/>
              <a:t>6</a:t>
            </a:fld>
            <a:endParaRPr lang="en-AU"/>
          </a:p>
        </p:txBody>
      </p:sp>
    </p:spTree>
    <p:extLst>
      <p:ext uri="{BB962C8B-B14F-4D97-AF65-F5344CB8AC3E}">
        <p14:creationId xmlns:p14="http://schemas.microsoft.com/office/powerpoint/2010/main" val="2728307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Use</a:t>
            </a:r>
            <a:r>
              <a:rPr lang="en-AU" baseline="0" dirty="0" smtClean="0"/>
              <a:t> the internet to find the information required and fill in the analyse box</a:t>
            </a:r>
          </a:p>
          <a:p>
            <a:endParaRPr lang="en-AU" baseline="0" dirty="0" smtClean="0"/>
          </a:p>
          <a:p>
            <a:r>
              <a:rPr lang="en-AU" baseline="0" dirty="0" smtClean="0"/>
              <a:t>The Applying existing knowledge is when we start using excel.</a:t>
            </a:r>
            <a:endParaRPr lang="en-AU" dirty="0"/>
          </a:p>
        </p:txBody>
      </p:sp>
      <p:sp>
        <p:nvSpPr>
          <p:cNvPr id="4" name="Slide Number Placeholder 3"/>
          <p:cNvSpPr>
            <a:spLocks noGrp="1"/>
          </p:cNvSpPr>
          <p:nvPr>
            <p:ph type="sldNum" sz="quarter" idx="10"/>
          </p:nvPr>
        </p:nvSpPr>
        <p:spPr/>
        <p:txBody>
          <a:bodyPr/>
          <a:lstStyle/>
          <a:p>
            <a:fld id="{4BCCD879-E594-4D86-AEFA-F6636750C1CE}" type="slidenum">
              <a:rPr lang="en-AU" smtClean="0"/>
              <a:t>8</a:t>
            </a:fld>
            <a:endParaRPr lang="en-AU"/>
          </a:p>
        </p:txBody>
      </p:sp>
    </p:spTree>
    <p:extLst>
      <p:ext uri="{BB962C8B-B14F-4D97-AF65-F5344CB8AC3E}">
        <p14:creationId xmlns:p14="http://schemas.microsoft.com/office/powerpoint/2010/main" val="2856783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9F5CA24E-73DB-4853-9CB3-86DD1FD373C3}" type="datetimeFigureOut">
              <a:rPr lang="en-AU" smtClean="0"/>
              <a:t>26/02/2021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1370390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F5CA24E-73DB-4853-9CB3-86DD1FD373C3}" type="datetimeFigureOut">
              <a:rPr lang="en-AU" smtClean="0"/>
              <a:t>26/02/2021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3611270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F5CA24E-73DB-4853-9CB3-86DD1FD373C3}" type="datetimeFigureOut">
              <a:rPr lang="en-AU" smtClean="0"/>
              <a:t>26/02/2021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4018289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9F5CA24E-73DB-4853-9CB3-86DD1FD373C3}" type="datetimeFigureOut">
              <a:rPr lang="en-AU" smtClean="0"/>
              <a:t>26/02/2021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2162145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9F5CA24E-73DB-4853-9CB3-86DD1FD373C3}" type="datetimeFigureOut">
              <a:rPr lang="en-AU" smtClean="0"/>
              <a:t>26/02/2021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3802459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9F5CA24E-73DB-4853-9CB3-86DD1FD373C3}" type="datetimeFigureOut">
              <a:rPr lang="en-AU" smtClean="0"/>
              <a:t>26/02/2021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2430538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5CA24E-73DB-4853-9CB3-86DD1FD373C3}" type="datetimeFigureOut">
              <a:rPr lang="en-AU" smtClean="0"/>
              <a:t>26/02/2021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1177025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F5CA24E-73DB-4853-9CB3-86DD1FD373C3}" type="datetimeFigureOut">
              <a:rPr lang="en-AU" smtClean="0"/>
              <a:t>26/02/2021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280727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F5CA24E-73DB-4853-9CB3-86DD1FD373C3}" type="datetimeFigureOut">
              <a:rPr lang="en-AU" smtClean="0"/>
              <a:t>26/02/2021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3684571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F5CA24E-73DB-4853-9CB3-86DD1FD373C3}" type="datetimeFigureOut">
              <a:rPr lang="en-AU" smtClean="0"/>
              <a:t>26/02/2021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38664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F5CA24E-73DB-4853-9CB3-86DD1FD373C3}" type="datetimeFigureOut">
              <a:rPr lang="en-AU" smtClean="0"/>
              <a:t>26/02/2021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72B859F-16D7-462B-8F57-596921CC03C2}" type="slidenum">
              <a:rPr lang="en-AU" smtClean="0"/>
              <a:t>‹#›</a:t>
            </a:fld>
            <a:endParaRPr lang="en-AU"/>
          </a:p>
        </p:txBody>
      </p:sp>
    </p:spTree>
    <p:extLst>
      <p:ext uri="{BB962C8B-B14F-4D97-AF65-F5344CB8AC3E}">
        <p14:creationId xmlns:p14="http://schemas.microsoft.com/office/powerpoint/2010/main" val="1987488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5CA24E-73DB-4853-9CB3-86DD1FD373C3}" type="datetimeFigureOut">
              <a:rPr lang="en-AU" smtClean="0"/>
              <a:t>26/02/2021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2B859F-16D7-462B-8F57-596921CC03C2}" type="slidenum">
              <a:rPr lang="en-AU" smtClean="0"/>
              <a:t>‹#›</a:t>
            </a:fld>
            <a:endParaRPr lang="en-AU"/>
          </a:p>
        </p:txBody>
      </p:sp>
    </p:spTree>
    <p:extLst>
      <p:ext uri="{BB962C8B-B14F-4D97-AF65-F5344CB8AC3E}">
        <p14:creationId xmlns:p14="http://schemas.microsoft.com/office/powerpoint/2010/main" val="2800758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Practical Applications</a:t>
            </a:r>
            <a:endParaRPr lang="en-AU" dirty="0"/>
          </a:p>
        </p:txBody>
      </p:sp>
      <p:sp>
        <p:nvSpPr>
          <p:cNvPr id="3" name="Subtitle 2"/>
          <p:cNvSpPr>
            <a:spLocks noGrp="1"/>
          </p:cNvSpPr>
          <p:nvPr>
            <p:ph type="subTitle" idx="1"/>
          </p:nvPr>
        </p:nvSpPr>
        <p:spPr/>
        <p:txBody>
          <a:bodyPr/>
          <a:lstStyle/>
          <a:p>
            <a:r>
              <a:rPr lang="en-AU" dirty="0" smtClean="0"/>
              <a:t>Budget friendly meal plan</a:t>
            </a:r>
            <a:endParaRPr lang="en-AU" dirty="0"/>
          </a:p>
        </p:txBody>
      </p:sp>
    </p:spTree>
    <p:extLst>
      <p:ext uri="{BB962C8B-B14F-4D97-AF65-F5344CB8AC3E}">
        <p14:creationId xmlns:p14="http://schemas.microsoft.com/office/powerpoint/2010/main" val="2163514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1411" y="98967"/>
            <a:ext cx="10515600" cy="1325563"/>
          </a:xfrm>
        </p:spPr>
        <p:txBody>
          <a:bodyPr/>
          <a:lstStyle/>
          <a:p>
            <a:r>
              <a:rPr lang="en-AU" b="1" dirty="0" smtClean="0"/>
              <a:t>Assessment policy</a:t>
            </a:r>
            <a:endParaRPr lang="en-AU" b="1" dirty="0"/>
          </a:p>
        </p:txBody>
      </p:sp>
      <p:pic>
        <p:nvPicPr>
          <p:cNvPr id="4" name="Picture 3"/>
          <p:cNvPicPr>
            <a:picLocks noChangeAspect="1"/>
          </p:cNvPicPr>
          <p:nvPr/>
        </p:nvPicPr>
        <p:blipFill>
          <a:blip r:embed="rId3"/>
          <a:stretch>
            <a:fillRect/>
          </a:stretch>
        </p:blipFill>
        <p:spPr>
          <a:xfrm>
            <a:off x="1386495" y="1424530"/>
            <a:ext cx="9052905" cy="4377556"/>
          </a:xfrm>
          <a:prstGeom prst="rect">
            <a:avLst/>
          </a:prstGeom>
        </p:spPr>
      </p:pic>
    </p:spTree>
    <p:extLst>
      <p:ext uri="{BB962C8B-B14F-4D97-AF65-F5344CB8AC3E}">
        <p14:creationId xmlns:p14="http://schemas.microsoft.com/office/powerpoint/2010/main" val="277181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491" y="173536"/>
            <a:ext cx="10515600" cy="1325563"/>
          </a:xfrm>
        </p:spPr>
        <p:txBody>
          <a:bodyPr/>
          <a:lstStyle/>
          <a:p>
            <a:r>
              <a:rPr lang="en-AU" dirty="0" smtClean="0"/>
              <a:t>Mathematical Thinking Process</a:t>
            </a:r>
            <a:endParaRPr lang="en-AU" dirty="0"/>
          </a:p>
        </p:txBody>
      </p:sp>
    </p:spTree>
    <p:extLst>
      <p:ext uri="{BB962C8B-B14F-4D97-AF65-F5344CB8AC3E}">
        <p14:creationId xmlns:p14="http://schemas.microsoft.com/office/powerpoint/2010/main" val="3155042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Planning sheet</a:t>
            </a:r>
            <a:endParaRPr lang="en-AU" dirty="0"/>
          </a:p>
        </p:txBody>
      </p:sp>
      <p:pic>
        <p:nvPicPr>
          <p:cNvPr id="4" name="Content Placeholder 3"/>
          <p:cNvPicPr>
            <a:picLocks noGrp="1" noChangeAspect="1"/>
          </p:cNvPicPr>
          <p:nvPr>
            <p:ph idx="1"/>
          </p:nvPr>
        </p:nvPicPr>
        <p:blipFill>
          <a:blip r:embed="rId3"/>
          <a:stretch>
            <a:fillRect/>
          </a:stretch>
        </p:blipFill>
        <p:spPr>
          <a:xfrm>
            <a:off x="330927" y="1297577"/>
            <a:ext cx="11477896" cy="5399314"/>
          </a:xfrm>
          <a:prstGeom prst="rect">
            <a:avLst/>
          </a:prstGeom>
        </p:spPr>
      </p:pic>
    </p:spTree>
    <p:extLst>
      <p:ext uri="{BB962C8B-B14F-4D97-AF65-F5344CB8AC3E}">
        <p14:creationId xmlns:p14="http://schemas.microsoft.com/office/powerpoint/2010/main" val="214794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Task: Budget friendly meal plan</a:t>
            </a:r>
            <a:endParaRPr lang="en-AU" dirty="0"/>
          </a:p>
        </p:txBody>
      </p:sp>
      <p:sp>
        <p:nvSpPr>
          <p:cNvPr id="3" name="Content Placeholder 2"/>
          <p:cNvSpPr>
            <a:spLocks noGrp="1"/>
          </p:cNvSpPr>
          <p:nvPr>
            <p:ph idx="1"/>
          </p:nvPr>
        </p:nvSpPr>
        <p:spPr>
          <a:xfrm>
            <a:off x="838200" y="1825625"/>
            <a:ext cx="10515600" cy="3399518"/>
          </a:xfrm>
        </p:spPr>
        <p:txBody>
          <a:bodyPr>
            <a:normAutofit/>
          </a:bodyPr>
          <a:lstStyle/>
          <a:p>
            <a:pPr marL="0" indent="0">
              <a:buNone/>
            </a:pPr>
            <a:r>
              <a:rPr lang="en-AU" dirty="0" smtClean="0"/>
              <a:t>Plan 3 meals, with left overs, for a total of 6 dinners, for a few different scenarios. Combine recipes to make a class recipe book organised into weekly meals</a:t>
            </a:r>
            <a:r>
              <a:rPr lang="en-AU" dirty="0" smtClean="0"/>
              <a:t>.</a:t>
            </a:r>
          </a:p>
          <a:p>
            <a:pPr marL="0" indent="0">
              <a:buNone/>
            </a:pPr>
            <a:endParaRPr lang="en-AU" dirty="0"/>
          </a:p>
          <a:p>
            <a:pPr marL="0" indent="0">
              <a:buNone/>
            </a:pPr>
            <a:r>
              <a:rPr lang="en-AU" dirty="0" smtClean="0"/>
              <a:t>Task is in tex</a:t>
            </a:r>
            <a:r>
              <a:rPr lang="en-AU" dirty="0" smtClean="0"/>
              <a:t>t book on page 9</a:t>
            </a:r>
            <a:endParaRPr lang="en-AU" dirty="0"/>
          </a:p>
        </p:txBody>
      </p:sp>
    </p:spTree>
    <p:extLst>
      <p:ext uri="{BB962C8B-B14F-4D97-AF65-F5344CB8AC3E}">
        <p14:creationId xmlns:p14="http://schemas.microsoft.com/office/powerpoint/2010/main" val="359645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Mathematical thinking process Planning</a:t>
            </a:r>
            <a:endParaRPr lang="en-AU" dirty="0"/>
          </a:p>
        </p:txBody>
      </p:sp>
      <p:pic>
        <p:nvPicPr>
          <p:cNvPr id="4" name="Content Placeholder 3"/>
          <p:cNvPicPr>
            <a:picLocks noGrp="1" noChangeAspect="1"/>
          </p:cNvPicPr>
          <p:nvPr>
            <p:ph idx="1"/>
          </p:nvPr>
        </p:nvPicPr>
        <p:blipFill>
          <a:blip r:embed="rId3"/>
          <a:stretch>
            <a:fillRect/>
          </a:stretch>
        </p:blipFill>
        <p:spPr>
          <a:xfrm>
            <a:off x="452846" y="1515290"/>
            <a:ext cx="10900954" cy="4310743"/>
          </a:xfrm>
          <a:prstGeom prst="rect">
            <a:avLst/>
          </a:prstGeom>
        </p:spPr>
      </p:pic>
    </p:spTree>
    <p:extLst>
      <p:ext uri="{BB962C8B-B14F-4D97-AF65-F5344CB8AC3E}">
        <p14:creationId xmlns:p14="http://schemas.microsoft.com/office/powerpoint/2010/main" val="1087903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Computer lesson</a:t>
            </a:r>
            <a:endParaRPr lang="en-AU" dirty="0"/>
          </a:p>
        </p:txBody>
      </p:sp>
      <p:sp>
        <p:nvSpPr>
          <p:cNvPr id="3" name="Content Placeholder 2"/>
          <p:cNvSpPr>
            <a:spLocks noGrp="1"/>
          </p:cNvSpPr>
          <p:nvPr>
            <p:ph idx="1"/>
          </p:nvPr>
        </p:nvSpPr>
        <p:spPr/>
        <p:txBody>
          <a:bodyPr/>
          <a:lstStyle/>
          <a:p>
            <a:pPr marL="0" indent="0">
              <a:buNone/>
            </a:pPr>
            <a:r>
              <a:rPr lang="en-AU" dirty="0" smtClean="0"/>
              <a:t>Task for today.</a:t>
            </a:r>
          </a:p>
          <a:p>
            <a:pPr marL="0" indent="0">
              <a:buNone/>
            </a:pPr>
            <a:endParaRPr lang="en-AU" dirty="0"/>
          </a:p>
          <a:p>
            <a:pPr marL="0" indent="0">
              <a:buNone/>
            </a:pPr>
            <a:r>
              <a:rPr lang="en-AU" dirty="0" smtClean="0"/>
              <a:t>Find information that you need to find.</a:t>
            </a:r>
          </a:p>
          <a:p>
            <a:pPr marL="0" indent="0">
              <a:buNone/>
            </a:pPr>
            <a:endParaRPr lang="en-AU" dirty="0"/>
          </a:p>
          <a:p>
            <a:pPr marL="0" indent="0">
              <a:buNone/>
            </a:pPr>
            <a:r>
              <a:rPr lang="en-AU" dirty="0" smtClean="0"/>
              <a:t>Put it into a spread sheet on Microsoft excel</a:t>
            </a:r>
            <a:endParaRPr lang="en-AU" dirty="0"/>
          </a:p>
        </p:txBody>
      </p:sp>
    </p:spTree>
    <p:extLst>
      <p:ext uri="{BB962C8B-B14F-4D97-AF65-F5344CB8AC3E}">
        <p14:creationId xmlns:p14="http://schemas.microsoft.com/office/powerpoint/2010/main" val="2761331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206828" y="892629"/>
            <a:ext cx="12805713" cy="4299242"/>
          </a:xfrm>
          <a:prstGeom prst="rect">
            <a:avLst/>
          </a:prstGeom>
        </p:spPr>
      </p:pic>
    </p:spTree>
    <p:extLst>
      <p:ext uri="{BB962C8B-B14F-4D97-AF65-F5344CB8AC3E}">
        <p14:creationId xmlns:p14="http://schemas.microsoft.com/office/powerpoint/2010/main" val="461761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descr="A black and white photo of a city&#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9" name="Rectangle 18">
            <a:extLst>
              <a:ext uri="{C183D7F6-B498-43B3-948B-1728B52AA6E4}">
                <adec:decorative xmlns:adec="http://schemas.microsoft.com/office/drawing/2017/decorative" xmlns="" val="1"/>
              </a:ext>
            </a:extLst>
          </p:cNvPr>
          <p:cNvSpPr/>
          <p:nvPr/>
        </p:nvSpPr>
        <p:spPr>
          <a:xfrm>
            <a:off x="0" y="0"/>
            <a:ext cx="12192000" cy="6858000"/>
          </a:xfrm>
          <a:prstGeom prst="rect">
            <a:avLst/>
          </a:prstGeom>
          <a:gradFill flip="none" rotWithShape="0">
            <a:gsLst>
              <a:gs pos="100000">
                <a:srgbClr val="1F2229">
                  <a:alpha val="60000"/>
                </a:srgbClr>
              </a:gs>
              <a:gs pos="20000">
                <a:srgbClr val="1F2229">
                  <a:alpha val="91765"/>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3311586" y="3444079"/>
            <a:ext cx="5568832" cy="677108"/>
          </a:xfrm>
          <a:prstGeom prst="rect">
            <a:avLst/>
          </a:prstGeom>
          <a:noFill/>
        </p:spPr>
        <p:txBody>
          <a:bodyPr wrap="none" lIns="0" tIns="0" rIns="0" bIns="0" rtlCol="0">
            <a:spAutoFit/>
          </a:bodyPr>
          <a:lstStyle/>
          <a:p>
            <a:pPr algn="ctr">
              <a:tabLst>
                <a:tab pos="347663" algn="l"/>
              </a:tabLst>
            </a:pPr>
            <a:r>
              <a:rPr lang="en-US" sz="4400" b="1" dirty="0">
                <a:solidFill>
                  <a:schemeClr val="bg1"/>
                </a:solidFill>
                <a:latin typeface="+mj-lt"/>
              </a:rPr>
              <a:t>Using a Spreadsheet</a:t>
            </a:r>
          </a:p>
        </p:txBody>
      </p:sp>
      <p:sp>
        <p:nvSpPr>
          <p:cNvPr id="21" name="TextBox 20"/>
          <p:cNvSpPr txBox="1"/>
          <p:nvPr/>
        </p:nvSpPr>
        <p:spPr>
          <a:xfrm>
            <a:off x="5651165" y="4150067"/>
            <a:ext cx="889667" cy="307777"/>
          </a:xfrm>
          <a:prstGeom prst="rect">
            <a:avLst/>
          </a:prstGeom>
          <a:noFill/>
        </p:spPr>
        <p:txBody>
          <a:bodyPr wrap="none" lIns="0" tIns="0" rIns="0" bIns="0" rtlCol="0">
            <a:spAutoFit/>
          </a:bodyPr>
          <a:lstStyle/>
          <a:p>
            <a:pPr algn="ctr">
              <a:tabLst>
                <a:tab pos="347663" algn="l"/>
              </a:tabLst>
            </a:pPr>
            <a:r>
              <a:rPr lang="en-US" sz="2000" dirty="0">
                <a:solidFill>
                  <a:schemeClr val="bg1"/>
                </a:solidFill>
              </a:rPr>
              <a:t>Lesson 1</a:t>
            </a:r>
          </a:p>
        </p:txBody>
      </p:sp>
      <p:sp>
        <p:nvSpPr>
          <p:cNvPr id="2" name="Oval 1">
            <a:extLst>
              <a:ext uri="{C183D7F6-B498-43B3-948B-1728B52AA6E4}">
                <adec:decorative xmlns:adec="http://schemas.microsoft.com/office/drawing/2017/decorative" xmlns="" val="1"/>
              </a:ext>
            </a:extLst>
          </p:cNvPr>
          <p:cNvSpPr/>
          <p:nvPr/>
        </p:nvSpPr>
        <p:spPr>
          <a:xfrm>
            <a:off x="5657640" y="2479683"/>
            <a:ext cx="876722" cy="876720"/>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Oval 9">
            <a:extLst>
              <a:ext uri="{C183D7F6-B498-43B3-948B-1728B52AA6E4}">
                <adec:decorative xmlns:adec="http://schemas.microsoft.com/office/drawing/2017/decorative" xmlns="" val="1"/>
              </a:ext>
            </a:extLst>
          </p:cNvPr>
          <p:cNvSpPr/>
          <p:nvPr/>
        </p:nvSpPr>
        <p:spPr>
          <a:xfrm>
            <a:off x="6043971" y="2565407"/>
            <a:ext cx="705274" cy="705272"/>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C183D7F6-B498-43B3-948B-1728B52AA6E4}">
                <adec:decorative xmlns:adec="http://schemas.microsoft.com/office/drawing/2017/decorative" xmlns="" val="1"/>
              </a:ext>
            </a:extLst>
          </p:cNvPr>
          <p:cNvSpPr/>
          <p:nvPr/>
        </p:nvSpPr>
        <p:spPr>
          <a:xfrm>
            <a:off x="5442756" y="2565407"/>
            <a:ext cx="705274" cy="705272"/>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hidden="1">
            <a:extLst>
              <a:ext uri="{FF2B5EF4-FFF2-40B4-BE49-F238E27FC236}">
                <a16:creationId xmlns:a16="http://schemas.microsoft.com/office/drawing/2014/main" id="{80AA5C56-EC57-4914-8118-68854697E0F3}"/>
              </a:ext>
            </a:extLst>
          </p:cNvPr>
          <p:cNvSpPr>
            <a:spLocks noGrp="1"/>
          </p:cNvSpPr>
          <p:nvPr>
            <p:ph type="title"/>
          </p:nvPr>
        </p:nvSpPr>
        <p:spPr/>
        <p:txBody>
          <a:bodyPr/>
          <a:lstStyle/>
          <a:p>
            <a:r>
              <a:rPr lang="en-US" dirty="0"/>
              <a:t>Slide 1</a:t>
            </a:r>
          </a:p>
        </p:txBody>
      </p:sp>
    </p:spTree>
    <p:extLst>
      <p:ext uri="{BB962C8B-B14F-4D97-AF65-F5344CB8AC3E}">
        <p14:creationId xmlns:p14="http://schemas.microsoft.com/office/powerpoint/2010/main" val="4114331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xmlns=""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3" name="TextBox 2">
            <a:extLst>
              <a:ext uri="{FF2B5EF4-FFF2-40B4-BE49-F238E27FC236}">
                <a16:creationId xmlns:a16="http://schemas.microsoft.com/office/drawing/2014/main" id="{C0C08879-8105-4E1D-BEE8-44774A4E1582}"/>
              </a:ext>
            </a:extLst>
          </p:cNvPr>
          <p:cNvSpPr txBox="1"/>
          <p:nvPr/>
        </p:nvSpPr>
        <p:spPr>
          <a:xfrm>
            <a:off x="647114" y="520505"/>
            <a:ext cx="10691446" cy="5909310"/>
          </a:xfrm>
          <a:prstGeom prst="rect">
            <a:avLst/>
          </a:prstGeom>
          <a:noFill/>
        </p:spPr>
        <p:txBody>
          <a:bodyPr wrap="square" rtlCol="0">
            <a:spAutoFit/>
          </a:bodyPr>
          <a:lstStyle/>
          <a:p>
            <a:r>
              <a:rPr lang="en-AU" b="1" dirty="0"/>
              <a:t>What is a spreadsheet?</a:t>
            </a:r>
          </a:p>
          <a:p>
            <a:endParaRPr lang="en-AU" dirty="0"/>
          </a:p>
          <a:p>
            <a:r>
              <a:rPr lang="en-AU" dirty="0"/>
              <a:t>A spreadsheet is a digital file made of rows and columns that help sort, organize, and arrange data efficiently, and calculate numerical data.</a:t>
            </a:r>
          </a:p>
          <a:p>
            <a:endParaRPr lang="en-AU" dirty="0"/>
          </a:p>
          <a:p>
            <a:r>
              <a:rPr lang="en-AU" b="1" dirty="0"/>
              <a:t>There are many versions of spreadsheets.  </a:t>
            </a:r>
          </a:p>
          <a:p>
            <a:r>
              <a:rPr lang="en-AU" dirty="0"/>
              <a:t>	Microsoft Excel.</a:t>
            </a:r>
          </a:p>
          <a:p>
            <a:r>
              <a:rPr lang="en-AU" dirty="0"/>
              <a:t>	Apple Numbers.</a:t>
            </a:r>
          </a:p>
          <a:p>
            <a:r>
              <a:rPr lang="en-AU" dirty="0"/>
              <a:t>	Google Sheets.</a:t>
            </a:r>
          </a:p>
          <a:p>
            <a:r>
              <a:rPr lang="en-AU" dirty="0"/>
              <a:t>	Quip.</a:t>
            </a:r>
          </a:p>
          <a:p>
            <a:r>
              <a:rPr lang="en-AU" dirty="0"/>
              <a:t>	</a:t>
            </a:r>
            <a:r>
              <a:rPr lang="en-AU" dirty="0" err="1"/>
              <a:t>EtherCalc</a:t>
            </a:r>
            <a:r>
              <a:rPr lang="en-AU" dirty="0"/>
              <a:t>.</a:t>
            </a:r>
          </a:p>
          <a:p>
            <a:r>
              <a:rPr lang="en-AU" dirty="0"/>
              <a:t>	</a:t>
            </a:r>
            <a:r>
              <a:rPr lang="en-AU" dirty="0" err="1"/>
              <a:t>Zoho</a:t>
            </a:r>
            <a:r>
              <a:rPr lang="en-AU" dirty="0"/>
              <a:t> Sheets.</a:t>
            </a:r>
          </a:p>
          <a:p>
            <a:r>
              <a:rPr lang="en-AU" dirty="0"/>
              <a:t>	LibreOffice.</a:t>
            </a:r>
          </a:p>
          <a:p>
            <a:r>
              <a:rPr lang="en-AU" dirty="0"/>
              <a:t>	Apache OpenOffice Calc</a:t>
            </a:r>
          </a:p>
          <a:p>
            <a:endParaRPr lang="en-AU" dirty="0"/>
          </a:p>
          <a:p>
            <a:endParaRPr lang="en-AU" dirty="0"/>
          </a:p>
          <a:p>
            <a:endParaRPr lang="en-AU" dirty="0"/>
          </a:p>
          <a:p>
            <a:r>
              <a:rPr lang="en-AU" dirty="0"/>
              <a:t>We are just going to concentrate on using Microsoft office, but all spreadsheets are similar and use similar commands.</a:t>
            </a:r>
          </a:p>
          <a:p>
            <a:endParaRPr lang="en-AU" dirty="0"/>
          </a:p>
          <a:p>
            <a:r>
              <a:rPr lang="en-AU" dirty="0"/>
              <a:t>To start with we are going to look at some terminology.</a:t>
            </a:r>
          </a:p>
        </p:txBody>
      </p:sp>
      <p:pic>
        <p:nvPicPr>
          <p:cNvPr id="5" name="Picture 4">
            <a:extLst>
              <a:ext uri="{FF2B5EF4-FFF2-40B4-BE49-F238E27FC236}">
                <a16:creationId xmlns:a16="http://schemas.microsoft.com/office/drawing/2014/main" id="{835AB7E6-2421-4B8C-8B5A-390D7E281473}"/>
              </a:ext>
            </a:extLst>
          </p:cNvPr>
          <p:cNvPicPr>
            <a:picLocks noChangeAspect="1"/>
          </p:cNvPicPr>
          <p:nvPr/>
        </p:nvPicPr>
        <p:blipFill rotWithShape="1">
          <a:blip r:embed="rId2"/>
          <a:srcRect r="11330"/>
          <a:stretch/>
        </p:blipFill>
        <p:spPr>
          <a:xfrm>
            <a:off x="4812984" y="1911765"/>
            <a:ext cx="7136210" cy="2706729"/>
          </a:xfrm>
          <a:prstGeom prst="rect">
            <a:avLst/>
          </a:prstGeom>
        </p:spPr>
      </p:pic>
    </p:spTree>
    <p:extLst>
      <p:ext uri="{BB962C8B-B14F-4D97-AF65-F5344CB8AC3E}">
        <p14:creationId xmlns:p14="http://schemas.microsoft.com/office/powerpoint/2010/main" val="289164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Freeform 19">
            <a:extLst>
              <a:ext uri="{C183D7F6-B498-43B3-948B-1728B52AA6E4}">
                <adec:decorative xmlns:adec="http://schemas.microsoft.com/office/drawing/2017/decorative" xmlns=""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 name="Title 3" hidden="1">
            <a:extLst>
              <a:ext uri="{FF2B5EF4-FFF2-40B4-BE49-F238E27FC236}">
                <a16:creationId xmlns:a16="http://schemas.microsoft.com/office/drawing/2014/main" id="{19D7E498-2D9B-4F60-93FF-25DEC5873336}"/>
              </a:ext>
            </a:extLst>
          </p:cNvPr>
          <p:cNvSpPr>
            <a:spLocks noGrp="1"/>
          </p:cNvSpPr>
          <p:nvPr>
            <p:ph type="title"/>
          </p:nvPr>
        </p:nvSpPr>
        <p:spPr/>
        <p:txBody>
          <a:bodyPr/>
          <a:lstStyle/>
          <a:p>
            <a:r>
              <a:rPr lang="en-US" dirty="0"/>
              <a:t>Slide 3</a:t>
            </a:r>
          </a:p>
        </p:txBody>
      </p:sp>
      <p:sp>
        <p:nvSpPr>
          <p:cNvPr id="6" name="TextBox 5">
            <a:extLst>
              <a:ext uri="{FF2B5EF4-FFF2-40B4-BE49-F238E27FC236}">
                <a16:creationId xmlns:a16="http://schemas.microsoft.com/office/drawing/2014/main" id="{A9AF7485-F62B-45FD-8AC4-F50043F982AC}"/>
              </a:ext>
            </a:extLst>
          </p:cNvPr>
          <p:cNvSpPr txBox="1"/>
          <p:nvPr/>
        </p:nvSpPr>
        <p:spPr>
          <a:xfrm>
            <a:off x="464949" y="511444"/>
            <a:ext cx="11065790" cy="2031325"/>
          </a:xfrm>
          <a:prstGeom prst="rect">
            <a:avLst/>
          </a:prstGeom>
          <a:noFill/>
        </p:spPr>
        <p:txBody>
          <a:bodyPr wrap="square" rtlCol="0">
            <a:spAutoFit/>
          </a:bodyPr>
          <a:lstStyle/>
          <a:p>
            <a:r>
              <a:rPr lang="en-AU" dirty="0"/>
              <a:t>A spreadsheet page is organised into a grid made up of lots of rectangles called “cells”</a:t>
            </a:r>
          </a:p>
          <a:p>
            <a:endParaRPr lang="en-AU" dirty="0"/>
          </a:p>
          <a:p>
            <a:r>
              <a:rPr lang="en-AU" dirty="0"/>
              <a:t>These cells are organised horizontally into rows and vertically into columns</a:t>
            </a:r>
          </a:p>
          <a:p>
            <a:endParaRPr lang="en-AU" dirty="0"/>
          </a:p>
          <a:p>
            <a:endParaRPr lang="en-AU" dirty="0"/>
          </a:p>
          <a:p>
            <a:endParaRPr lang="en-AU" dirty="0"/>
          </a:p>
          <a:p>
            <a:endParaRPr lang="en-AU" dirty="0"/>
          </a:p>
        </p:txBody>
      </p:sp>
      <p:pic>
        <p:nvPicPr>
          <p:cNvPr id="7" name="Picture 6">
            <a:extLst>
              <a:ext uri="{FF2B5EF4-FFF2-40B4-BE49-F238E27FC236}">
                <a16:creationId xmlns:a16="http://schemas.microsoft.com/office/drawing/2014/main" id="{9002B797-EDCA-4975-99A4-7403C76396E7}"/>
              </a:ext>
            </a:extLst>
          </p:cNvPr>
          <p:cNvPicPr>
            <a:picLocks noChangeAspect="1"/>
          </p:cNvPicPr>
          <p:nvPr/>
        </p:nvPicPr>
        <p:blipFill rotWithShape="1">
          <a:blip r:embed="rId2"/>
          <a:srcRect t="44346"/>
          <a:stretch/>
        </p:blipFill>
        <p:spPr>
          <a:xfrm>
            <a:off x="1548038" y="1629030"/>
            <a:ext cx="8462074" cy="2686202"/>
          </a:xfrm>
          <a:prstGeom prst="rect">
            <a:avLst/>
          </a:prstGeom>
        </p:spPr>
      </p:pic>
      <p:sp>
        <p:nvSpPr>
          <p:cNvPr id="9" name="TextBox 8">
            <a:extLst>
              <a:ext uri="{FF2B5EF4-FFF2-40B4-BE49-F238E27FC236}">
                <a16:creationId xmlns:a16="http://schemas.microsoft.com/office/drawing/2014/main" id="{CE4CB960-7C55-4EA4-8394-568EB1E25E00}"/>
              </a:ext>
            </a:extLst>
          </p:cNvPr>
          <p:cNvSpPr txBox="1"/>
          <p:nvPr/>
        </p:nvSpPr>
        <p:spPr>
          <a:xfrm>
            <a:off x="635431" y="4832653"/>
            <a:ext cx="9374681" cy="1200329"/>
          </a:xfrm>
          <a:prstGeom prst="rect">
            <a:avLst/>
          </a:prstGeom>
          <a:noFill/>
        </p:spPr>
        <p:txBody>
          <a:bodyPr wrap="square" rtlCol="0">
            <a:spAutoFit/>
          </a:bodyPr>
          <a:lstStyle/>
          <a:p>
            <a:r>
              <a:rPr lang="en-AU" dirty="0"/>
              <a:t>In the picture above, the “C” column  and row “2” are both highlighted. </a:t>
            </a:r>
          </a:p>
          <a:p>
            <a:endParaRPr lang="en-AU" dirty="0"/>
          </a:p>
          <a:p>
            <a:r>
              <a:rPr lang="en-AU" dirty="0"/>
              <a:t>When we name a cell, we always mention the column, then the row., So we can say that the word “Cell” was written in cell “E4”.</a:t>
            </a:r>
          </a:p>
        </p:txBody>
      </p:sp>
    </p:spTree>
    <p:extLst>
      <p:ext uri="{BB962C8B-B14F-4D97-AF65-F5344CB8AC3E}">
        <p14:creationId xmlns:p14="http://schemas.microsoft.com/office/powerpoint/2010/main" val="435413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reeform 37">
            <a:extLst>
              <a:ext uri="{C183D7F6-B498-43B3-948B-1728B52AA6E4}">
                <adec:decorative xmlns:adec="http://schemas.microsoft.com/office/drawing/2017/decorative" xmlns=""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2" name="TextBox 41"/>
          <p:cNvSpPr txBox="1"/>
          <p:nvPr/>
        </p:nvSpPr>
        <p:spPr>
          <a:xfrm>
            <a:off x="11907454" y="6481180"/>
            <a:ext cx="290464" cy="307777"/>
          </a:xfrm>
          <a:prstGeom prst="rect">
            <a:avLst/>
          </a:prstGeom>
          <a:noFill/>
        </p:spPr>
        <p:txBody>
          <a:bodyPr wrap="none" rtlCol="0">
            <a:spAutoFit/>
          </a:bodyPr>
          <a:lstStyle/>
          <a:p>
            <a:r>
              <a:rPr lang="en-US" sz="1400" b="1" dirty="0">
                <a:solidFill>
                  <a:schemeClr val="bg1"/>
                </a:solidFill>
              </a:rPr>
              <a:t>4</a:t>
            </a:r>
          </a:p>
        </p:txBody>
      </p:sp>
      <p:sp>
        <p:nvSpPr>
          <p:cNvPr id="40" name="TextBox 39">
            <a:extLst>
              <a:ext uri="{FF2B5EF4-FFF2-40B4-BE49-F238E27FC236}">
                <a16:creationId xmlns:a16="http://schemas.microsoft.com/office/drawing/2014/main" id="{FFAEF1C8-817C-4EBC-A4FB-3ED2DB7FCBF8}"/>
              </a:ext>
            </a:extLst>
          </p:cNvPr>
          <p:cNvSpPr txBox="1"/>
          <p:nvPr/>
        </p:nvSpPr>
        <p:spPr>
          <a:xfrm>
            <a:off x="2349001" y="165381"/>
            <a:ext cx="7494039" cy="492443"/>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Open Excel – it’s time to try it together</a:t>
            </a:r>
          </a:p>
        </p:txBody>
      </p:sp>
      <p:sp>
        <p:nvSpPr>
          <p:cNvPr id="2" name="Title 1" hidden="1">
            <a:extLst>
              <a:ext uri="{FF2B5EF4-FFF2-40B4-BE49-F238E27FC236}">
                <a16:creationId xmlns:a16="http://schemas.microsoft.com/office/drawing/2014/main" id="{8BD7D413-936A-4A2D-83E0-6714C8DB077C}"/>
              </a:ext>
            </a:extLst>
          </p:cNvPr>
          <p:cNvSpPr>
            <a:spLocks noGrp="1"/>
          </p:cNvSpPr>
          <p:nvPr>
            <p:ph type="title"/>
          </p:nvPr>
        </p:nvSpPr>
        <p:spPr/>
        <p:txBody>
          <a:bodyPr/>
          <a:lstStyle/>
          <a:p>
            <a:r>
              <a:rPr lang="en-US" dirty="0"/>
              <a:t>Slide 4</a:t>
            </a:r>
          </a:p>
        </p:txBody>
      </p:sp>
      <p:sp>
        <p:nvSpPr>
          <p:cNvPr id="3" name="TextBox 2">
            <a:extLst>
              <a:ext uri="{FF2B5EF4-FFF2-40B4-BE49-F238E27FC236}">
                <a16:creationId xmlns:a16="http://schemas.microsoft.com/office/drawing/2014/main" id="{243C864D-EE8A-483F-9D43-908D8CC201CF}"/>
              </a:ext>
            </a:extLst>
          </p:cNvPr>
          <p:cNvSpPr txBox="1"/>
          <p:nvPr/>
        </p:nvSpPr>
        <p:spPr>
          <a:xfrm>
            <a:off x="588936" y="991892"/>
            <a:ext cx="11063996" cy="2862322"/>
          </a:xfrm>
          <a:prstGeom prst="rect">
            <a:avLst/>
          </a:prstGeom>
          <a:noFill/>
        </p:spPr>
        <p:txBody>
          <a:bodyPr wrap="square" rtlCol="0">
            <a:spAutoFit/>
          </a:bodyPr>
          <a:lstStyle/>
          <a:p>
            <a:r>
              <a:rPr lang="en-AU" dirty="0"/>
              <a:t>Open excel – click on the “Excel” logo.  It should be somewhere in your Windows menu or you can type “Excel” into your Search </a:t>
            </a:r>
            <a:r>
              <a:rPr lang="en-AU" dirty="0" err="1"/>
              <a:t>toolba</a:t>
            </a:r>
            <a:r>
              <a:rPr lang="en-AU" dirty="0"/>
              <a:t>,.  Once Excel loads, double click onto “blank workbook”</a:t>
            </a:r>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pPr marL="342900" indent="-342900">
              <a:buAutoNum type="arabicPeriod"/>
            </a:pPr>
            <a:endParaRPr lang="en-AU" dirty="0"/>
          </a:p>
          <a:p>
            <a:r>
              <a:rPr lang="en-AU" dirty="0"/>
              <a:t>You should now have a blank spreadsheet</a:t>
            </a:r>
          </a:p>
        </p:txBody>
      </p:sp>
      <p:pic>
        <p:nvPicPr>
          <p:cNvPr id="4" name="Picture 3">
            <a:extLst>
              <a:ext uri="{FF2B5EF4-FFF2-40B4-BE49-F238E27FC236}">
                <a16:creationId xmlns:a16="http://schemas.microsoft.com/office/drawing/2014/main" id="{8ED1D00B-2428-4AE5-AE65-FD41A2024D64}"/>
              </a:ext>
            </a:extLst>
          </p:cNvPr>
          <p:cNvPicPr>
            <a:picLocks noChangeAspect="1"/>
          </p:cNvPicPr>
          <p:nvPr/>
        </p:nvPicPr>
        <p:blipFill rotWithShape="1">
          <a:blip r:embed="rId2"/>
          <a:srcRect l="41567" t="20325" r="51568" b="67013"/>
          <a:stretch/>
        </p:blipFill>
        <p:spPr>
          <a:xfrm>
            <a:off x="2709317" y="1709260"/>
            <a:ext cx="1658318" cy="1719740"/>
          </a:xfrm>
          <a:prstGeom prst="rect">
            <a:avLst/>
          </a:prstGeom>
        </p:spPr>
      </p:pic>
      <p:pic>
        <p:nvPicPr>
          <p:cNvPr id="11" name="Picture 10">
            <a:extLst>
              <a:ext uri="{FF2B5EF4-FFF2-40B4-BE49-F238E27FC236}">
                <a16:creationId xmlns:a16="http://schemas.microsoft.com/office/drawing/2014/main" id="{F2860F55-ACB0-40B0-A049-9274D6E6AF85}"/>
              </a:ext>
            </a:extLst>
          </p:cNvPr>
          <p:cNvPicPr>
            <a:picLocks noChangeAspect="1"/>
          </p:cNvPicPr>
          <p:nvPr/>
        </p:nvPicPr>
        <p:blipFill>
          <a:blip r:embed="rId3"/>
          <a:stretch>
            <a:fillRect/>
          </a:stretch>
        </p:blipFill>
        <p:spPr>
          <a:xfrm>
            <a:off x="2709317" y="3854214"/>
            <a:ext cx="5635116" cy="2878568"/>
          </a:xfrm>
          <a:prstGeom prst="rect">
            <a:avLst/>
          </a:prstGeom>
        </p:spPr>
      </p:pic>
      <p:pic>
        <p:nvPicPr>
          <p:cNvPr id="49" name="Picture 48">
            <a:extLst>
              <a:ext uri="{FF2B5EF4-FFF2-40B4-BE49-F238E27FC236}">
                <a16:creationId xmlns:a16="http://schemas.microsoft.com/office/drawing/2014/main" id="{ED09E47F-D4EA-4383-8149-2AC14217AF07}"/>
              </a:ext>
            </a:extLst>
          </p:cNvPr>
          <p:cNvPicPr>
            <a:picLocks noChangeAspect="1"/>
          </p:cNvPicPr>
          <p:nvPr/>
        </p:nvPicPr>
        <p:blipFill>
          <a:blip r:embed="rId4"/>
          <a:stretch>
            <a:fillRect/>
          </a:stretch>
        </p:blipFill>
        <p:spPr>
          <a:xfrm>
            <a:off x="5842862" y="1616044"/>
            <a:ext cx="2676525" cy="1847850"/>
          </a:xfrm>
          <a:prstGeom prst="rect">
            <a:avLst/>
          </a:prstGeom>
        </p:spPr>
      </p:pic>
    </p:spTree>
    <p:extLst>
      <p:ext uri="{BB962C8B-B14F-4D97-AF65-F5344CB8AC3E}">
        <p14:creationId xmlns:p14="http://schemas.microsoft.com/office/powerpoint/2010/main" val="2475759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219E145-B183-48DB-AC65-02D855AF568A}"/>
              </a:ext>
            </a:extLst>
          </p:cNvPr>
          <p:cNvPicPr>
            <a:picLocks noChangeAspect="1"/>
          </p:cNvPicPr>
          <p:nvPr/>
        </p:nvPicPr>
        <p:blipFill>
          <a:blip r:embed="rId2"/>
          <a:stretch>
            <a:fillRect/>
          </a:stretch>
        </p:blipFill>
        <p:spPr>
          <a:xfrm>
            <a:off x="1766486" y="4160008"/>
            <a:ext cx="7446523" cy="2426603"/>
          </a:xfrm>
          <a:prstGeom prst="rect">
            <a:avLst/>
          </a:prstGeom>
        </p:spPr>
      </p:pic>
      <p:pic>
        <p:nvPicPr>
          <p:cNvPr id="4" name="Picture 3">
            <a:extLst>
              <a:ext uri="{FF2B5EF4-FFF2-40B4-BE49-F238E27FC236}">
                <a16:creationId xmlns:a16="http://schemas.microsoft.com/office/drawing/2014/main" id="{A30BC088-BCD6-4307-899C-BD602CCBDBD8}"/>
              </a:ext>
            </a:extLst>
          </p:cNvPr>
          <p:cNvPicPr>
            <a:picLocks noChangeAspect="1"/>
          </p:cNvPicPr>
          <p:nvPr/>
        </p:nvPicPr>
        <p:blipFill>
          <a:blip r:embed="rId3"/>
          <a:stretch>
            <a:fillRect/>
          </a:stretch>
        </p:blipFill>
        <p:spPr>
          <a:xfrm>
            <a:off x="2665708" y="1721067"/>
            <a:ext cx="2824039" cy="1678286"/>
          </a:xfrm>
          <a:prstGeom prst="rect">
            <a:avLst/>
          </a:prstGeom>
        </p:spPr>
      </p:pic>
      <p:sp>
        <p:nvSpPr>
          <p:cNvPr id="5" name="TextBox 4">
            <a:extLst>
              <a:ext uri="{FF2B5EF4-FFF2-40B4-BE49-F238E27FC236}">
                <a16:creationId xmlns:a16="http://schemas.microsoft.com/office/drawing/2014/main" id="{306B21EC-3D52-48EF-90BD-A869FDA94412}"/>
              </a:ext>
            </a:extLst>
          </p:cNvPr>
          <p:cNvSpPr txBox="1"/>
          <p:nvPr/>
        </p:nvSpPr>
        <p:spPr>
          <a:xfrm>
            <a:off x="564002" y="826277"/>
            <a:ext cx="11063996" cy="923330"/>
          </a:xfrm>
          <a:prstGeom prst="rect">
            <a:avLst/>
          </a:prstGeom>
          <a:noFill/>
        </p:spPr>
        <p:txBody>
          <a:bodyPr wrap="square" rtlCol="0">
            <a:spAutoFit/>
          </a:bodyPr>
          <a:lstStyle/>
          <a:p>
            <a:r>
              <a:rPr lang="en-AU" dirty="0"/>
              <a:t>Click on cell “A1 and type “Apples” then press enter.  It should take you down to cell A2. Type “Bananas” and press enter.  Then type “Grapes” and press enter again.  Now click on cell B1 and type 5, press enter, type 3, press enter and type 12.  Your table should look like this: </a:t>
            </a:r>
          </a:p>
        </p:txBody>
      </p:sp>
      <p:sp>
        <p:nvSpPr>
          <p:cNvPr id="6" name="TextBox 5">
            <a:extLst>
              <a:ext uri="{FF2B5EF4-FFF2-40B4-BE49-F238E27FC236}">
                <a16:creationId xmlns:a16="http://schemas.microsoft.com/office/drawing/2014/main" id="{BF7DD968-DEE9-4CFE-8C65-4F3B4348B9C9}"/>
              </a:ext>
            </a:extLst>
          </p:cNvPr>
          <p:cNvSpPr txBox="1"/>
          <p:nvPr/>
        </p:nvSpPr>
        <p:spPr>
          <a:xfrm>
            <a:off x="564002" y="3446509"/>
            <a:ext cx="11063996" cy="646331"/>
          </a:xfrm>
          <a:prstGeom prst="rect">
            <a:avLst/>
          </a:prstGeom>
          <a:noFill/>
        </p:spPr>
        <p:txBody>
          <a:bodyPr wrap="square" rtlCol="0">
            <a:spAutoFit/>
          </a:bodyPr>
          <a:lstStyle/>
          <a:p>
            <a:r>
              <a:rPr lang="en-AU" dirty="0"/>
              <a:t>If you make a mistake, click on the cell that has the mistake and type the changes into the </a:t>
            </a:r>
            <a:r>
              <a:rPr lang="en-AU" dirty="0">
                <a:solidFill>
                  <a:srgbClr val="FF0000"/>
                </a:solidFill>
              </a:rPr>
              <a:t>formula bar</a:t>
            </a:r>
            <a:r>
              <a:rPr lang="en-AU" dirty="0"/>
              <a:t>.  Try using the formula bar to change Grapes to Blueberries so that the spreadsheet now looks like this: </a:t>
            </a:r>
          </a:p>
        </p:txBody>
      </p:sp>
      <p:sp>
        <p:nvSpPr>
          <p:cNvPr id="9" name="Rectangle 8">
            <a:extLst>
              <a:ext uri="{FF2B5EF4-FFF2-40B4-BE49-F238E27FC236}">
                <a16:creationId xmlns:a16="http://schemas.microsoft.com/office/drawing/2014/main" id="{BE5D2E46-6548-46BD-B5DF-98742732A2FA}"/>
              </a:ext>
            </a:extLst>
          </p:cNvPr>
          <p:cNvSpPr/>
          <p:nvPr/>
        </p:nvSpPr>
        <p:spPr>
          <a:xfrm>
            <a:off x="6274191" y="4294344"/>
            <a:ext cx="4151323" cy="7184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Arrow: Down 9">
            <a:extLst>
              <a:ext uri="{FF2B5EF4-FFF2-40B4-BE49-F238E27FC236}">
                <a16:creationId xmlns:a16="http://schemas.microsoft.com/office/drawing/2014/main" id="{50C1F648-7FB9-4AA9-9EC9-9CF0FFBBADD0}"/>
              </a:ext>
            </a:extLst>
          </p:cNvPr>
          <p:cNvSpPr/>
          <p:nvPr/>
        </p:nvSpPr>
        <p:spPr>
          <a:xfrm rot="787038">
            <a:off x="9291633" y="3681504"/>
            <a:ext cx="379828" cy="736551"/>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Box 1">
            <a:extLst>
              <a:ext uri="{FF2B5EF4-FFF2-40B4-BE49-F238E27FC236}">
                <a16:creationId xmlns:a16="http://schemas.microsoft.com/office/drawing/2014/main" id="{52DCE1C2-9501-40A0-8F31-A42C090A3A1C}"/>
              </a:ext>
            </a:extLst>
          </p:cNvPr>
          <p:cNvSpPr txBox="1"/>
          <p:nvPr/>
        </p:nvSpPr>
        <p:spPr>
          <a:xfrm>
            <a:off x="263472" y="440107"/>
            <a:ext cx="7206711" cy="369332"/>
          </a:xfrm>
          <a:prstGeom prst="rect">
            <a:avLst/>
          </a:prstGeom>
          <a:noFill/>
        </p:spPr>
        <p:txBody>
          <a:bodyPr wrap="square" rtlCol="0">
            <a:spAutoFit/>
          </a:bodyPr>
          <a:lstStyle/>
          <a:p>
            <a:r>
              <a:rPr lang="en-AU" b="1" dirty="0"/>
              <a:t>Let’s insert some data</a:t>
            </a:r>
          </a:p>
        </p:txBody>
      </p:sp>
    </p:spTree>
    <p:extLst>
      <p:ext uri="{BB962C8B-B14F-4D97-AF65-F5344CB8AC3E}">
        <p14:creationId xmlns:p14="http://schemas.microsoft.com/office/powerpoint/2010/main" val="4011750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9274CD-879D-49CF-B930-A1E35DE409D8}"/>
              </a:ext>
            </a:extLst>
          </p:cNvPr>
          <p:cNvSpPr txBox="1"/>
          <p:nvPr/>
        </p:nvSpPr>
        <p:spPr>
          <a:xfrm>
            <a:off x="564002" y="758799"/>
            <a:ext cx="11063996" cy="1200329"/>
          </a:xfrm>
          <a:prstGeom prst="rect">
            <a:avLst/>
          </a:prstGeom>
          <a:noFill/>
        </p:spPr>
        <p:txBody>
          <a:bodyPr wrap="square" rtlCol="0">
            <a:spAutoFit/>
          </a:bodyPr>
          <a:lstStyle/>
          <a:p>
            <a:r>
              <a:rPr lang="en-AU" dirty="0"/>
              <a:t>You will notice that the word Blueberries doesn’t fit into the column correctly.  You can resize the column by grabbing the line between column A and B and dragging the column to the size that you want.  (you can do the same with rows).</a:t>
            </a:r>
          </a:p>
          <a:p>
            <a:endParaRPr lang="en-AU" dirty="0"/>
          </a:p>
        </p:txBody>
      </p:sp>
      <p:pic>
        <p:nvPicPr>
          <p:cNvPr id="4" name="Column resize 1">
            <a:hlinkClick r:id="" action="ppaction://media"/>
            <a:extLst>
              <a:ext uri="{FF2B5EF4-FFF2-40B4-BE49-F238E27FC236}">
                <a16:creationId xmlns:a16="http://schemas.microsoft.com/office/drawing/2014/main" id="{E8A58494-E37B-4CA0-9148-56874B71995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642102" y="1863060"/>
            <a:ext cx="5703375" cy="4666397"/>
          </a:xfrm>
          <a:prstGeom prst="rect">
            <a:avLst/>
          </a:prstGeom>
        </p:spPr>
      </p:pic>
      <p:sp>
        <p:nvSpPr>
          <p:cNvPr id="2" name="TextBox 1">
            <a:extLst>
              <a:ext uri="{FF2B5EF4-FFF2-40B4-BE49-F238E27FC236}">
                <a16:creationId xmlns:a16="http://schemas.microsoft.com/office/drawing/2014/main" id="{304229E8-36CE-49FE-8C6B-230C057CF0D8}"/>
              </a:ext>
            </a:extLst>
          </p:cNvPr>
          <p:cNvSpPr txBox="1"/>
          <p:nvPr/>
        </p:nvSpPr>
        <p:spPr>
          <a:xfrm>
            <a:off x="294468" y="232475"/>
            <a:ext cx="5801532" cy="369332"/>
          </a:xfrm>
          <a:prstGeom prst="rect">
            <a:avLst/>
          </a:prstGeom>
          <a:noFill/>
        </p:spPr>
        <p:txBody>
          <a:bodyPr wrap="square" rtlCol="0">
            <a:spAutoFit/>
          </a:bodyPr>
          <a:lstStyle/>
          <a:p>
            <a:r>
              <a:rPr lang="en-AU" b="1" dirty="0"/>
              <a:t>Resize the column</a:t>
            </a:r>
          </a:p>
        </p:txBody>
      </p:sp>
    </p:spTree>
    <p:extLst>
      <p:ext uri="{BB962C8B-B14F-4D97-AF65-F5344CB8AC3E}">
        <p14:creationId xmlns:p14="http://schemas.microsoft.com/office/powerpoint/2010/main" val="2954929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4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4"/>
                </p:tgtEl>
              </p:cMediaNode>
            </p:vide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7148CB7-F662-410E-AFE7-6EB6CE680E2F}"/>
              </a:ext>
            </a:extLst>
          </p:cNvPr>
          <p:cNvSpPr txBox="1"/>
          <p:nvPr/>
        </p:nvSpPr>
        <p:spPr>
          <a:xfrm>
            <a:off x="319166" y="183409"/>
            <a:ext cx="11063996" cy="2308324"/>
          </a:xfrm>
          <a:prstGeom prst="rect">
            <a:avLst/>
          </a:prstGeom>
          <a:noFill/>
        </p:spPr>
        <p:txBody>
          <a:bodyPr wrap="square" rtlCol="0">
            <a:spAutoFit/>
          </a:bodyPr>
          <a:lstStyle/>
          <a:p>
            <a:r>
              <a:rPr lang="en-AU" b="1" dirty="0"/>
              <a:t>Now we are going to add a formula.</a:t>
            </a:r>
          </a:p>
          <a:p>
            <a:pPr lvl="1"/>
            <a:r>
              <a:rPr lang="en-AU" dirty="0"/>
              <a:t>Formulas can be used to do calculations for us.</a:t>
            </a:r>
          </a:p>
          <a:p>
            <a:pPr lvl="1"/>
            <a:endParaRPr lang="en-AU" dirty="0"/>
          </a:p>
          <a:p>
            <a:pPr lvl="1"/>
            <a:r>
              <a:rPr lang="en-AU" dirty="0"/>
              <a:t>Click on the cell “b4”and enter the following </a:t>
            </a:r>
          </a:p>
          <a:p>
            <a:pPr lvl="1"/>
            <a:r>
              <a:rPr lang="en-AU" dirty="0"/>
              <a:t>	</a:t>
            </a:r>
            <a:r>
              <a:rPr lang="en-AU" b="1" dirty="0"/>
              <a:t>=sum(b1:b3)</a:t>
            </a:r>
          </a:p>
          <a:p>
            <a:pPr lvl="1"/>
            <a:endParaRPr lang="en-AU" dirty="0"/>
          </a:p>
          <a:p>
            <a:pPr lvl="1"/>
            <a:r>
              <a:rPr lang="en-AU" dirty="0"/>
              <a:t>This will add all the values in cells in the region starting from cell b1 and continuing to cell b3 </a:t>
            </a:r>
          </a:p>
          <a:p>
            <a:endParaRPr lang="en-AU" dirty="0"/>
          </a:p>
        </p:txBody>
      </p:sp>
      <p:pic>
        <p:nvPicPr>
          <p:cNvPr id="3" name="Picture 2">
            <a:extLst>
              <a:ext uri="{FF2B5EF4-FFF2-40B4-BE49-F238E27FC236}">
                <a16:creationId xmlns:a16="http://schemas.microsoft.com/office/drawing/2014/main" id="{85CC70D9-EC30-4FE3-8394-57DC79CB5663}"/>
              </a:ext>
            </a:extLst>
          </p:cNvPr>
          <p:cNvPicPr>
            <a:picLocks noChangeAspect="1"/>
          </p:cNvPicPr>
          <p:nvPr/>
        </p:nvPicPr>
        <p:blipFill>
          <a:blip r:embed="rId2"/>
          <a:stretch>
            <a:fillRect/>
          </a:stretch>
        </p:blipFill>
        <p:spPr>
          <a:xfrm>
            <a:off x="808838" y="2407443"/>
            <a:ext cx="4489643" cy="2043113"/>
          </a:xfrm>
          <a:prstGeom prst="rect">
            <a:avLst/>
          </a:prstGeom>
        </p:spPr>
      </p:pic>
      <p:pic>
        <p:nvPicPr>
          <p:cNvPr id="11" name="Picture 10">
            <a:extLst>
              <a:ext uri="{FF2B5EF4-FFF2-40B4-BE49-F238E27FC236}">
                <a16:creationId xmlns:a16="http://schemas.microsoft.com/office/drawing/2014/main" id="{73976D5B-EA0B-40EC-BB21-7EAAA325713B}"/>
              </a:ext>
            </a:extLst>
          </p:cNvPr>
          <p:cNvPicPr>
            <a:picLocks noChangeAspect="1"/>
          </p:cNvPicPr>
          <p:nvPr/>
        </p:nvPicPr>
        <p:blipFill>
          <a:blip r:embed="rId3"/>
          <a:stretch>
            <a:fillRect/>
          </a:stretch>
        </p:blipFill>
        <p:spPr>
          <a:xfrm>
            <a:off x="6480322" y="2321001"/>
            <a:ext cx="2612664" cy="2045267"/>
          </a:xfrm>
          <a:prstGeom prst="rect">
            <a:avLst/>
          </a:prstGeom>
        </p:spPr>
      </p:pic>
      <p:sp>
        <p:nvSpPr>
          <p:cNvPr id="13" name="TextBox 12">
            <a:extLst>
              <a:ext uri="{FF2B5EF4-FFF2-40B4-BE49-F238E27FC236}">
                <a16:creationId xmlns:a16="http://schemas.microsoft.com/office/drawing/2014/main" id="{A938708A-B925-4424-98D4-ED4A47AAAEC3}"/>
              </a:ext>
            </a:extLst>
          </p:cNvPr>
          <p:cNvSpPr txBox="1"/>
          <p:nvPr/>
        </p:nvSpPr>
        <p:spPr>
          <a:xfrm>
            <a:off x="319166" y="5072228"/>
            <a:ext cx="11063996" cy="646331"/>
          </a:xfrm>
          <a:prstGeom prst="rect">
            <a:avLst/>
          </a:prstGeom>
          <a:noFill/>
          <a:ln w="28575">
            <a:solidFill>
              <a:srgbClr val="FF0000"/>
            </a:solidFill>
          </a:ln>
        </p:spPr>
        <p:txBody>
          <a:bodyPr wrap="square" rtlCol="0">
            <a:spAutoFit/>
          </a:bodyPr>
          <a:lstStyle/>
          <a:p>
            <a:r>
              <a:rPr lang="en-AU" dirty="0"/>
              <a:t>Now change the number of bananas to 7 and the number of apples to 9, you will see that the spreadsheet immediately recalculates the total for you.</a:t>
            </a:r>
          </a:p>
        </p:txBody>
      </p:sp>
    </p:spTree>
    <p:extLst>
      <p:ext uri="{BB962C8B-B14F-4D97-AF65-F5344CB8AC3E}">
        <p14:creationId xmlns:p14="http://schemas.microsoft.com/office/powerpoint/2010/main" val="265212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14F88-258D-4D8A-BD7E-CD27A9092A9B}"/>
              </a:ext>
            </a:extLst>
          </p:cNvPr>
          <p:cNvSpPr>
            <a:spLocks noGrp="1"/>
          </p:cNvSpPr>
          <p:nvPr>
            <p:ph type="title"/>
          </p:nvPr>
        </p:nvSpPr>
        <p:spPr>
          <a:xfrm>
            <a:off x="418454" y="520109"/>
            <a:ext cx="10873353" cy="580271"/>
          </a:xfrm>
        </p:spPr>
        <p:txBody>
          <a:bodyPr>
            <a:normAutofit fontScale="90000"/>
          </a:bodyPr>
          <a:lstStyle/>
          <a:p>
            <a:r>
              <a:rPr lang="en-AU" dirty="0"/>
              <a:t>Other formulas</a:t>
            </a:r>
            <a:br>
              <a:rPr lang="en-AU" dirty="0"/>
            </a:br>
            <a:endParaRPr lang="en-AU" dirty="0"/>
          </a:p>
        </p:txBody>
      </p:sp>
      <p:sp>
        <p:nvSpPr>
          <p:cNvPr id="3" name="TextBox 2">
            <a:extLst>
              <a:ext uri="{FF2B5EF4-FFF2-40B4-BE49-F238E27FC236}">
                <a16:creationId xmlns:a16="http://schemas.microsoft.com/office/drawing/2014/main" id="{DB77955D-1259-4C99-B7AF-32F03AAE5A7D}"/>
              </a:ext>
            </a:extLst>
          </p:cNvPr>
          <p:cNvSpPr txBox="1"/>
          <p:nvPr/>
        </p:nvSpPr>
        <p:spPr>
          <a:xfrm>
            <a:off x="0" y="1400559"/>
            <a:ext cx="5413051" cy="4247317"/>
          </a:xfrm>
          <a:prstGeom prst="rect">
            <a:avLst/>
          </a:prstGeom>
          <a:noFill/>
        </p:spPr>
        <p:txBody>
          <a:bodyPr wrap="square" rtlCol="0">
            <a:spAutoFit/>
          </a:bodyPr>
          <a:lstStyle/>
          <a:p>
            <a:r>
              <a:rPr lang="en-AU" dirty="0"/>
              <a:t>There are many formulas in excel that you can use.  </a:t>
            </a:r>
          </a:p>
          <a:p>
            <a:endParaRPr lang="en-AU" dirty="0"/>
          </a:p>
          <a:p>
            <a:r>
              <a:rPr lang="en-AU" dirty="0"/>
              <a:t>To find them all, click on a cell and go to the Formula’s tab.  Here they are grouped into categories. </a:t>
            </a:r>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r>
              <a:rPr lang="en-AU" dirty="0"/>
              <a:t>You can also click the</a:t>
            </a:r>
            <a:r>
              <a:rPr lang="en-AU" dirty="0">
                <a:solidFill>
                  <a:srgbClr val="FF0000"/>
                </a:solidFill>
              </a:rPr>
              <a:t> </a:t>
            </a:r>
            <a:r>
              <a:rPr lang="en-AU" dirty="0" err="1">
                <a:solidFill>
                  <a:srgbClr val="FF0000"/>
                </a:solidFill>
              </a:rPr>
              <a:t>fx</a:t>
            </a:r>
            <a:r>
              <a:rPr lang="en-AU" dirty="0">
                <a:solidFill>
                  <a:srgbClr val="FF0000"/>
                </a:solidFill>
              </a:rPr>
              <a:t> </a:t>
            </a:r>
            <a:r>
              <a:rPr lang="en-AU" dirty="0"/>
              <a:t>button on the formula bar and get a list of all the formulas.</a:t>
            </a:r>
          </a:p>
        </p:txBody>
      </p:sp>
      <p:pic>
        <p:nvPicPr>
          <p:cNvPr id="5" name="Picture 4">
            <a:extLst>
              <a:ext uri="{FF2B5EF4-FFF2-40B4-BE49-F238E27FC236}">
                <a16:creationId xmlns:a16="http://schemas.microsoft.com/office/drawing/2014/main" id="{14379B30-00FA-406A-9DB7-6745CC8F5291}"/>
              </a:ext>
            </a:extLst>
          </p:cNvPr>
          <p:cNvPicPr>
            <a:picLocks noChangeAspect="1"/>
          </p:cNvPicPr>
          <p:nvPr/>
        </p:nvPicPr>
        <p:blipFill rotWithShape="1">
          <a:blip r:embed="rId2"/>
          <a:srcRect t="3663" r="59756" b="52846"/>
          <a:stretch/>
        </p:blipFill>
        <p:spPr>
          <a:xfrm>
            <a:off x="6266823" y="0"/>
            <a:ext cx="5071404" cy="3081372"/>
          </a:xfrm>
          <a:prstGeom prst="rect">
            <a:avLst/>
          </a:prstGeom>
        </p:spPr>
      </p:pic>
      <p:pic>
        <p:nvPicPr>
          <p:cNvPr id="7" name="Picture 6">
            <a:extLst>
              <a:ext uri="{FF2B5EF4-FFF2-40B4-BE49-F238E27FC236}">
                <a16:creationId xmlns:a16="http://schemas.microsoft.com/office/drawing/2014/main" id="{8565F121-B424-47E1-9FCE-48C007CB6BF5}"/>
              </a:ext>
            </a:extLst>
          </p:cNvPr>
          <p:cNvPicPr>
            <a:picLocks noChangeAspect="1"/>
          </p:cNvPicPr>
          <p:nvPr/>
        </p:nvPicPr>
        <p:blipFill rotWithShape="1">
          <a:blip r:embed="rId3"/>
          <a:srcRect t="20408" r="50000" b="20409"/>
          <a:stretch/>
        </p:blipFill>
        <p:spPr>
          <a:xfrm>
            <a:off x="6096000" y="3255620"/>
            <a:ext cx="5413051" cy="3602380"/>
          </a:xfrm>
          <a:prstGeom prst="rect">
            <a:avLst/>
          </a:prstGeom>
        </p:spPr>
      </p:pic>
      <p:sp>
        <p:nvSpPr>
          <p:cNvPr id="8" name="Oval 7">
            <a:extLst>
              <a:ext uri="{FF2B5EF4-FFF2-40B4-BE49-F238E27FC236}">
                <a16:creationId xmlns:a16="http://schemas.microsoft.com/office/drawing/2014/main" id="{8B263D05-2CE1-4D13-BB1D-FCD28DC1809A}"/>
              </a:ext>
            </a:extLst>
          </p:cNvPr>
          <p:cNvSpPr/>
          <p:nvPr/>
        </p:nvSpPr>
        <p:spPr>
          <a:xfrm>
            <a:off x="7671662" y="3255620"/>
            <a:ext cx="464949" cy="52100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Arrow: Up 9">
            <a:extLst>
              <a:ext uri="{FF2B5EF4-FFF2-40B4-BE49-F238E27FC236}">
                <a16:creationId xmlns:a16="http://schemas.microsoft.com/office/drawing/2014/main" id="{FAB158AA-2E00-4879-AFC3-477805E5708F}"/>
              </a:ext>
            </a:extLst>
          </p:cNvPr>
          <p:cNvSpPr/>
          <p:nvPr/>
        </p:nvSpPr>
        <p:spPr>
          <a:xfrm rot="4541992">
            <a:off x="4810445" y="1662450"/>
            <a:ext cx="402956" cy="5254295"/>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14202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D3E406-891F-4DC0-AB14-3C496793FD30}"/>
              </a:ext>
            </a:extLst>
          </p:cNvPr>
          <p:cNvSpPr txBox="1"/>
          <p:nvPr/>
        </p:nvSpPr>
        <p:spPr>
          <a:xfrm>
            <a:off x="374431" y="198907"/>
            <a:ext cx="11063996" cy="1477328"/>
          </a:xfrm>
          <a:prstGeom prst="rect">
            <a:avLst/>
          </a:prstGeom>
          <a:noFill/>
        </p:spPr>
        <p:txBody>
          <a:bodyPr wrap="square" rtlCol="0">
            <a:spAutoFit/>
          </a:bodyPr>
          <a:lstStyle/>
          <a:p>
            <a:r>
              <a:rPr lang="en-AU" b="1" dirty="0"/>
              <a:t>Add an extra row of fruit into our table  </a:t>
            </a:r>
          </a:p>
          <a:p>
            <a:r>
              <a:rPr lang="en-AU" dirty="0"/>
              <a:t>I am going to add Grapes back into the table just above the Blueberries.  Click on row number 3 which highlights the entire row.  Then click on the “insert cells” icon on the “Home” section of the ribbon and add a new row. Now type in “Grapes” in the new cell add 15 as the quantity. </a:t>
            </a:r>
          </a:p>
          <a:p>
            <a:endParaRPr lang="en-AU" dirty="0"/>
          </a:p>
        </p:txBody>
      </p:sp>
      <p:sp>
        <p:nvSpPr>
          <p:cNvPr id="4" name="TextBox 3">
            <a:extLst>
              <a:ext uri="{FF2B5EF4-FFF2-40B4-BE49-F238E27FC236}">
                <a16:creationId xmlns:a16="http://schemas.microsoft.com/office/drawing/2014/main" id="{64043C62-3881-46B2-A570-C9E0285771E5}"/>
              </a:ext>
            </a:extLst>
          </p:cNvPr>
          <p:cNvSpPr txBox="1"/>
          <p:nvPr/>
        </p:nvSpPr>
        <p:spPr>
          <a:xfrm>
            <a:off x="374431" y="4961272"/>
            <a:ext cx="10195413" cy="646331"/>
          </a:xfrm>
          <a:prstGeom prst="rect">
            <a:avLst/>
          </a:prstGeom>
          <a:noFill/>
          <a:ln w="38100">
            <a:solidFill>
              <a:srgbClr val="FF0000"/>
            </a:solidFill>
          </a:ln>
        </p:spPr>
        <p:txBody>
          <a:bodyPr wrap="square" rtlCol="0">
            <a:spAutoFit/>
          </a:bodyPr>
          <a:lstStyle/>
          <a:p>
            <a:r>
              <a:rPr lang="en-AU" dirty="0"/>
              <a:t>Use this method to add a row above your table so you can add headings to your column such as “Fruit” and “Quantity”</a:t>
            </a:r>
          </a:p>
        </p:txBody>
      </p:sp>
      <p:pic>
        <p:nvPicPr>
          <p:cNvPr id="6" name="Picture 5">
            <a:extLst>
              <a:ext uri="{FF2B5EF4-FFF2-40B4-BE49-F238E27FC236}">
                <a16:creationId xmlns:a16="http://schemas.microsoft.com/office/drawing/2014/main" id="{87655B4F-72EC-48F1-9225-804BA4EFF24E}"/>
              </a:ext>
            </a:extLst>
          </p:cNvPr>
          <p:cNvPicPr>
            <a:picLocks noChangeAspect="1"/>
          </p:cNvPicPr>
          <p:nvPr/>
        </p:nvPicPr>
        <p:blipFill rotWithShape="1">
          <a:blip r:embed="rId4"/>
          <a:srcRect t="33469"/>
          <a:stretch/>
        </p:blipFill>
        <p:spPr>
          <a:xfrm>
            <a:off x="3717640" y="5664107"/>
            <a:ext cx="3508994" cy="1088844"/>
          </a:xfrm>
          <a:prstGeom prst="rect">
            <a:avLst/>
          </a:prstGeom>
        </p:spPr>
      </p:pic>
      <p:pic>
        <p:nvPicPr>
          <p:cNvPr id="7" name="Insert row 1">
            <a:hlinkClick r:id="" action="ppaction://media"/>
            <a:extLst>
              <a:ext uri="{FF2B5EF4-FFF2-40B4-BE49-F238E27FC236}">
                <a16:creationId xmlns:a16="http://schemas.microsoft.com/office/drawing/2014/main" id="{8A00645A-4A72-4493-B859-1B17D7BCE632}"/>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5"/>
          <a:srcRect t="-22" b="-22"/>
          <a:stretch/>
        </p:blipFill>
        <p:spPr>
          <a:xfrm>
            <a:off x="2250680" y="1495857"/>
            <a:ext cx="5820077" cy="3273794"/>
          </a:xfrm>
          <a:prstGeom prst="rect">
            <a:avLst/>
          </a:prstGeom>
        </p:spPr>
      </p:pic>
      <p:sp>
        <p:nvSpPr>
          <p:cNvPr id="8" name="TextBox 7">
            <a:extLst>
              <a:ext uri="{FF2B5EF4-FFF2-40B4-BE49-F238E27FC236}">
                <a16:creationId xmlns:a16="http://schemas.microsoft.com/office/drawing/2014/main" id="{5EE66544-DEDA-419D-9EF6-67DF8DEB0103}"/>
              </a:ext>
            </a:extLst>
          </p:cNvPr>
          <p:cNvSpPr txBox="1"/>
          <p:nvPr/>
        </p:nvSpPr>
        <p:spPr>
          <a:xfrm>
            <a:off x="8209310" y="2258257"/>
            <a:ext cx="3480943" cy="646331"/>
          </a:xfrm>
          <a:prstGeom prst="rect">
            <a:avLst/>
          </a:prstGeom>
          <a:noFill/>
        </p:spPr>
        <p:txBody>
          <a:bodyPr wrap="square">
            <a:spAutoFit/>
          </a:bodyPr>
          <a:lstStyle/>
          <a:p>
            <a:r>
              <a:rPr lang="en-AU" dirty="0"/>
              <a:t>You can also add and remove columns using the same process. </a:t>
            </a:r>
          </a:p>
        </p:txBody>
      </p:sp>
      <p:sp>
        <p:nvSpPr>
          <p:cNvPr id="9" name="TextBox 8">
            <a:extLst>
              <a:ext uri="{FF2B5EF4-FFF2-40B4-BE49-F238E27FC236}">
                <a16:creationId xmlns:a16="http://schemas.microsoft.com/office/drawing/2014/main" id="{B3D812D2-29EB-48C3-9C6E-145C2A236114}"/>
              </a:ext>
            </a:extLst>
          </p:cNvPr>
          <p:cNvSpPr txBox="1"/>
          <p:nvPr/>
        </p:nvSpPr>
        <p:spPr>
          <a:xfrm>
            <a:off x="8209310" y="3132754"/>
            <a:ext cx="3613028" cy="1200329"/>
          </a:xfrm>
          <a:prstGeom prst="rect">
            <a:avLst/>
          </a:prstGeom>
          <a:noFill/>
        </p:spPr>
        <p:txBody>
          <a:bodyPr wrap="square">
            <a:spAutoFit/>
          </a:bodyPr>
          <a:lstStyle/>
          <a:p>
            <a:r>
              <a:rPr lang="en-AU" dirty="0"/>
              <a:t>Notice that formula we added before automatically recalculates the new total with the new row included.</a:t>
            </a:r>
          </a:p>
        </p:txBody>
      </p:sp>
    </p:spTree>
    <p:extLst>
      <p:ext uri="{BB962C8B-B14F-4D97-AF65-F5344CB8AC3E}">
        <p14:creationId xmlns:p14="http://schemas.microsoft.com/office/powerpoint/2010/main" val="3861374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48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nextCondLst>
                <p:cond evt="onClick" delay="0">
                  <p:tgtEl>
                    <p:spTgt spid="7"/>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Communicating findings.</a:t>
            </a:r>
            <a:endParaRPr lang="en-AU" dirty="0"/>
          </a:p>
        </p:txBody>
      </p:sp>
      <p:sp>
        <p:nvSpPr>
          <p:cNvPr id="3" name="Content Placeholder 2"/>
          <p:cNvSpPr>
            <a:spLocks noGrp="1"/>
          </p:cNvSpPr>
          <p:nvPr>
            <p:ph idx="1"/>
          </p:nvPr>
        </p:nvSpPr>
        <p:spPr>
          <a:xfrm>
            <a:off x="838200" y="1393371"/>
            <a:ext cx="10515600" cy="4833258"/>
          </a:xfrm>
        </p:spPr>
        <p:txBody>
          <a:bodyPr>
            <a:normAutofit fontScale="62500" lnSpcReduction="20000"/>
          </a:bodyPr>
          <a:lstStyle/>
          <a:p>
            <a:pPr marL="0" indent="0">
              <a:buNone/>
            </a:pPr>
            <a:r>
              <a:rPr lang="en-AU" b="1" dirty="0" smtClean="0"/>
              <a:t>Report:</a:t>
            </a:r>
          </a:p>
          <a:p>
            <a:pPr marL="0" indent="0">
              <a:buNone/>
            </a:pPr>
            <a:r>
              <a:rPr lang="en-AU" dirty="0" smtClean="0"/>
              <a:t>Introduction:</a:t>
            </a:r>
          </a:p>
          <a:p>
            <a:r>
              <a:rPr lang="en-AU" dirty="0" smtClean="0"/>
              <a:t> Restate the question in your own words (What is the task you are doing)</a:t>
            </a:r>
          </a:p>
          <a:p>
            <a:r>
              <a:rPr lang="en-AU" dirty="0" smtClean="0"/>
              <a:t>State how you are going to complete the task</a:t>
            </a:r>
          </a:p>
          <a:p>
            <a:pPr lvl="2"/>
            <a:r>
              <a:rPr lang="en-AU" dirty="0" smtClean="0"/>
              <a:t>Information you need</a:t>
            </a:r>
          </a:p>
          <a:p>
            <a:pPr lvl="2"/>
            <a:r>
              <a:rPr lang="en-AU" dirty="0" smtClean="0"/>
              <a:t>Mathematics involved</a:t>
            </a:r>
          </a:p>
          <a:p>
            <a:pPr marL="914400" lvl="2" indent="0">
              <a:buNone/>
            </a:pPr>
            <a:endParaRPr lang="en-AU" dirty="0" smtClean="0"/>
          </a:p>
          <a:p>
            <a:pPr marL="0" indent="0">
              <a:buNone/>
            </a:pPr>
            <a:r>
              <a:rPr lang="en-AU" b="1" dirty="0" smtClean="0"/>
              <a:t>Body:</a:t>
            </a:r>
          </a:p>
          <a:p>
            <a:r>
              <a:rPr lang="en-AU" dirty="0" smtClean="0"/>
              <a:t>Show how you completed the task</a:t>
            </a:r>
          </a:p>
          <a:p>
            <a:r>
              <a:rPr lang="en-AU" dirty="0" smtClean="0"/>
              <a:t>Explain why and how you completed the task</a:t>
            </a:r>
          </a:p>
          <a:p>
            <a:r>
              <a:rPr lang="en-AU" dirty="0" smtClean="0"/>
              <a:t>Use diagrams, graphs, tables or calculations (explain why/how it relates to the task</a:t>
            </a:r>
          </a:p>
          <a:p>
            <a:endParaRPr lang="en-AU" dirty="0"/>
          </a:p>
          <a:p>
            <a:pPr marL="0" indent="0">
              <a:buNone/>
            </a:pPr>
            <a:r>
              <a:rPr lang="en-AU" b="1" dirty="0" smtClean="0"/>
              <a:t>Conclusion:</a:t>
            </a:r>
          </a:p>
          <a:p>
            <a:r>
              <a:rPr lang="en-AU" dirty="0" smtClean="0"/>
              <a:t>Restate question</a:t>
            </a:r>
          </a:p>
          <a:p>
            <a:r>
              <a:rPr lang="en-AU" dirty="0" smtClean="0"/>
              <a:t>Give solution to task</a:t>
            </a:r>
          </a:p>
          <a:p>
            <a:r>
              <a:rPr lang="en-AU" dirty="0" smtClean="0"/>
              <a:t>State any limitations/how could you could improve the results of the task</a:t>
            </a:r>
          </a:p>
          <a:p>
            <a:pPr marL="0" indent="0">
              <a:buNone/>
            </a:pPr>
            <a:endParaRPr lang="en-AU" dirty="0" smtClean="0"/>
          </a:p>
          <a:p>
            <a:pPr marL="0" indent="0">
              <a:buNone/>
            </a:pPr>
            <a:endParaRPr lang="en-AU" dirty="0"/>
          </a:p>
        </p:txBody>
      </p:sp>
    </p:spTree>
    <p:extLst>
      <p:ext uri="{BB962C8B-B14F-4D97-AF65-F5344CB8AC3E}">
        <p14:creationId xmlns:p14="http://schemas.microsoft.com/office/powerpoint/2010/main" val="39881558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5176</TotalTime>
  <Words>987</Words>
  <Application>Microsoft Office PowerPoint</Application>
  <PresentationFormat>Widescreen</PresentationFormat>
  <Paragraphs>123</Paragraphs>
  <Slides>18</Slides>
  <Notes>5</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Calibri Light</vt:lpstr>
      <vt:lpstr>Office Theme</vt:lpstr>
      <vt:lpstr>Practical Applications</vt:lpstr>
      <vt:lpstr>Assessment policy</vt:lpstr>
      <vt:lpstr>Mathematical Thinking Process</vt:lpstr>
      <vt:lpstr>Planning sheet</vt:lpstr>
      <vt:lpstr>Task: Budget friendly meal plan</vt:lpstr>
      <vt:lpstr>Mathematical thinking process Planning</vt:lpstr>
      <vt:lpstr>Computer lesson</vt:lpstr>
      <vt:lpstr>PowerPoint Presentation</vt:lpstr>
      <vt:lpstr>Slide 1</vt:lpstr>
      <vt:lpstr>Slide 2</vt:lpstr>
      <vt:lpstr>Slide 3</vt:lpstr>
      <vt:lpstr>Slide 4</vt:lpstr>
      <vt:lpstr>PowerPoint Presentation</vt:lpstr>
      <vt:lpstr>PowerPoint Presentation</vt:lpstr>
      <vt:lpstr>PowerPoint Presentation</vt:lpstr>
      <vt:lpstr>Other formulas </vt:lpstr>
      <vt:lpstr>PowerPoint Presentation</vt:lpstr>
      <vt:lpstr>Communicating findings.</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Practical Application</dc:title>
  <dc:creator>MORGAN Adam [Baldivis Secondary College]</dc:creator>
  <cp:lastModifiedBy>MORGAN Adam [Baldivis Secondary College]</cp:lastModifiedBy>
  <cp:revision>17</cp:revision>
  <dcterms:created xsi:type="dcterms:W3CDTF">2021-02-25T00:56:13Z</dcterms:created>
  <dcterms:modified xsi:type="dcterms:W3CDTF">2021-03-01T11:00:54Z</dcterms:modified>
</cp:coreProperties>
</file>
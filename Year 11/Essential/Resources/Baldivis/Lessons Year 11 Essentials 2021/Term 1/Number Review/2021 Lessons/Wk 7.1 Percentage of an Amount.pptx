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11" r:id="rId4"/>
    <p:sldId id="355" r:id="rId5"/>
    <p:sldId id="356" r:id="rId6"/>
    <p:sldId id="357" r:id="rId7"/>
    <p:sldId id="335" r:id="rId8"/>
    <p:sldId id="348" r:id="rId9"/>
    <p:sldId id="354" r:id="rId10"/>
    <p:sldId id="358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74" d="100"/>
          <a:sy n="74" d="100"/>
        </p:scale>
        <p:origin x="5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Percentage of an Amount</a:t>
            </a:r>
            <a:br>
              <a:rPr lang="en-AU" sz="4000" dirty="0"/>
            </a:br>
            <a:r>
              <a:rPr lang="en-AU" sz="4000" dirty="0"/>
              <a:t>EQ: How do I calculate a percentage of an amount?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2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 an Amount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a percentage of an amount?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482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 an Amount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74308" y="1021192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a percentage of an amount?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A5624-2AA5-468D-BB49-D44E237F5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5" b="89503" l="330" r="99670">
                        <a14:foregroundMark x1="2475" y1="7182" x2="25558" y2="5374"/>
                        <a14:foregroundMark x1="39034" y1="10010" x2="72772" y2="30387"/>
                        <a14:foregroundMark x1="72772" y1="30387" x2="82178" y2="29834"/>
                        <a14:foregroundMark x1="82178" y1="29834" x2="91584" y2="32597"/>
                        <a14:foregroundMark x1="91584" y1="32597" x2="58911" y2="30387"/>
                        <a14:foregroundMark x1="58911" y1="30387" x2="26073" y2="50829"/>
                        <a14:foregroundMark x1="26073" y1="50829" x2="8581" y2="44199"/>
                        <a14:foregroundMark x1="8581" y1="44199" x2="72277" y2="87845"/>
                        <a14:foregroundMark x1="72277" y1="87845" x2="80693" y2="81768"/>
                        <a14:foregroundMark x1="80693" y1="81768" x2="32606" y2="86948"/>
                        <a14:foregroundMark x1="15982" y1="84283" x2="10231" y2="76796"/>
                        <a14:foregroundMark x1="10231" y1="76796" x2="22277" y2="54144"/>
                        <a14:foregroundMark x1="22277" y1="54144" x2="55611" y2="58564"/>
                        <a14:foregroundMark x1="55611" y1="58564" x2="99670" y2="84530"/>
                        <a14:foregroundMark x1="3465" y1="6630" x2="2805" y2="49171"/>
                        <a14:foregroundMark x1="2805" y1="49171" x2="5223" y2="82559"/>
                        <a14:foregroundMark x1="5572" y1="82615" x2="7756" y2="30387"/>
                        <a14:foregroundMark x1="7756" y1="30387" x2="7756" y2="69613"/>
                        <a14:foregroundMark x1="7756" y1="69613" x2="8959" y2="83158"/>
                        <a14:foregroundMark x1="5611" y1="7735" x2="7591" y2="37569"/>
                        <a14:foregroundMark x1="7591" y1="37569" x2="330" y2="20994"/>
                        <a14:foregroundMark x1="330" y1="20994" x2="3300" y2="38674"/>
                        <a14:foregroundMark x1="74587" y1="68508" x2="97690" y2="59116"/>
                        <a14:foregroundMark x1="97690" y1="59116" x2="97360" y2="17127"/>
                        <a14:foregroundMark x1="97360" y1="17127" x2="77228" y2="52486"/>
                        <a14:foregroundMark x1="77228" y1="52486" x2="83828" y2="77901"/>
                        <a14:foregroundMark x1="83828" y1="77901" x2="95545" y2="77348"/>
                        <a14:foregroundMark x1="95545" y1="77348" x2="89439" y2="39779"/>
                        <a14:foregroundMark x1="89439" y1="39779" x2="81353" y2="56906"/>
                        <a14:foregroundMark x1="81353" y1="56906" x2="94059" y2="65746"/>
                        <a14:foregroundMark x1="94059" y1="65746" x2="88944" y2="39779"/>
                        <a14:foregroundMark x1="88944" y1="39779" x2="77393" y2="38674"/>
                        <a14:foregroundMark x1="77393" y1="38674" x2="68647" y2="54144"/>
                        <a14:foregroundMark x1="68647" y1="54144" x2="80693" y2="72928"/>
                        <a14:foregroundMark x1="80693" y1="72928" x2="77558" y2="46961"/>
                        <a14:foregroundMark x1="77558" y1="46961" x2="66502" y2="47514"/>
                        <a14:foregroundMark x1="66502" y1="47514" x2="94059" y2="49171"/>
                        <a14:foregroundMark x1="94059" y1="49171" x2="96700" y2="22099"/>
                        <a14:foregroundMark x1="96700" y1="22099" x2="95215" y2="38674"/>
                        <a14:foregroundMark x1="22937" y1="22099" x2="40099" y2="31492"/>
                        <a14:foregroundMark x1="40099" y1="31492" x2="31023" y2="35912"/>
                        <a14:foregroundMark x1="31023" y1="35912" x2="22607" y2="32044"/>
                        <a14:foregroundMark x1="22607" y1="32044" x2="31353" y2="27624"/>
                        <a14:foregroundMark x1="31353" y1="27624" x2="35479" y2="29834"/>
                        <a14:foregroundMark x1="32673" y1="85635" x2="9241" y2="82873"/>
                        <a14:backgroundMark x1="35644" y1="2210" x2="35644" y2="2210"/>
                        <a14:backgroundMark x1="37459" y1="1657" x2="24752" y2="1105"/>
                        <a14:backgroundMark x1="38944" y1="97790" x2="38944" y2="97790"/>
                        <a14:backgroundMark x1="41254" y1="97790" x2="49835" y2="97790"/>
                        <a14:backgroundMark x1="49835" y1="97790" x2="53630" y2="98895"/>
                        <a14:backgroundMark x1="36139" y1="98343" x2="5116" y2="93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90705">
            <a:off x="1937671" y="2186991"/>
            <a:ext cx="8316657" cy="24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2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 an Amount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a percentage of an amount?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 flipH="1">
                <a:off x="333400" y="1474838"/>
                <a:ext cx="204905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What is leading digit approximation?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How do you calculate </a:t>
                </a:r>
              </a:p>
              <a:p>
                <a:r>
                  <a:rPr lang="en-AU" sz="2000" dirty="0"/>
                  <a:t>23 432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558</m:t>
                    </m:r>
                  </m:oMath>
                </a14:m>
                <a:r>
                  <a:rPr lang="en-AU" sz="2000" dirty="0"/>
                  <a:t>?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3400" y="1474838"/>
                <a:ext cx="2049058" cy="2554545"/>
              </a:xfrm>
              <a:prstGeom prst="rect">
                <a:avLst/>
              </a:prstGeom>
              <a:blipFill>
                <a:blip r:embed="rId3"/>
                <a:stretch>
                  <a:fillRect l="-3274" t="-1432" b="-33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7985391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Requires you to round/approximate to the first digit, hence the leading digit.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Round off to the leading digit;</a:t>
                </a:r>
              </a:p>
              <a:p>
                <a:r>
                  <a:rPr lang="en-AU" sz="2000" dirty="0"/>
                  <a:t>23 432 = 20 000</a:t>
                </a:r>
              </a:p>
              <a:p>
                <a:r>
                  <a:rPr lang="en-GB" sz="2000" dirty="0"/>
                  <a:t>558 = 600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Therefore, 20 000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000" dirty="0"/>
                  <a:t> 600</a:t>
                </a:r>
              </a:p>
              <a:p>
                <a:r>
                  <a:rPr lang="en-GB" sz="2000" dirty="0"/>
                  <a:t>                = 12 000 000</a:t>
                </a:r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7985391" cy="3785652"/>
              </a:xfrm>
              <a:prstGeom prst="rect">
                <a:avLst/>
              </a:prstGeom>
              <a:blipFill>
                <a:blip r:embed="rId4"/>
                <a:stretch>
                  <a:fillRect l="-840" t="-9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Approximation using leading digits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2674" y="2572327"/>
                <a:ext cx="9720073" cy="402336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40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×467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84 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÷23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67 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×32+12.6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2674" y="2572327"/>
                <a:ext cx="9720073" cy="40233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00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2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 an Amount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a percentage of an amount?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Turning a percentage into a decimal</a:t>
            </a:r>
          </a:p>
          <a:p>
            <a:endParaRPr lang="en-AU" sz="2000" dirty="0"/>
          </a:p>
          <a:p>
            <a:r>
              <a:rPr lang="en-AU" sz="2000" dirty="0"/>
              <a:t>What does of mean? E.g. 30% of 40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Find 10% of 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9078960" cy="4708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If you are given 75%, to turn it into a decimal you must divide by 100 to give you 0.75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‘Of’ means to multiply</a:t>
                </a:r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1. Turn the percentage to a decimal</a:t>
                </a:r>
              </a:p>
              <a:p>
                <a:r>
                  <a:rPr lang="en-GB" sz="2000" dirty="0"/>
                  <a:t>            10%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AU" sz="2000" dirty="0"/>
                  <a:t> = 0.1</a:t>
                </a:r>
              </a:p>
              <a:p>
                <a:endParaRPr lang="en-AU" sz="2000" dirty="0"/>
              </a:p>
              <a:p>
                <a:r>
                  <a:rPr lang="en-AU" sz="2000" dirty="0"/>
                  <a:t>2. Multiply the decimal and the amount</a:t>
                </a:r>
              </a:p>
              <a:p>
                <a:r>
                  <a:rPr lang="en-AU" sz="2000" dirty="0"/>
                  <a:t>             0.1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/>
                  <a:t> 30 </a:t>
                </a:r>
              </a:p>
              <a:p>
                <a:r>
                  <a:rPr lang="en-AU" sz="2000" dirty="0"/>
                  <a:t>               = 3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9078960" cy="4708981"/>
              </a:xfrm>
              <a:prstGeom prst="rect">
                <a:avLst/>
              </a:prstGeom>
              <a:blipFill>
                <a:blip r:embed="rId3"/>
                <a:stretch>
                  <a:fillRect l="-739" t="-777" b="-14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40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%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35=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0%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84=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5%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135=</m:t>
                    </m:r>
                  </m:oMath>
                </a14:m>
                <a:endParaRPr lang="en-AU" sz="40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5%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5=</m:t>
                    </m:r>
                  </m:oMath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5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720072" cy="2141358"/>
          </a:xfrm>
        </p:spPr>
        <p:txBody>
          <a:bodyPr>
            <a:noAutofit/>
          </a:bodyPr>
          <a:lstStyle/>
          <a:p>
            <a:r>
              <a:rPr lang="en-GB" sz="4000" dirty="0"/>
              <a:t>Practice:</a:t>
            </a:r>
            <a:br>
              <a:rPr lang="en-GB" sz="4000" dirty="0"/>
            </a:br>
            <a:r>
              <a:rPr lang="en-GB" sz="4000" dirty="0"/>
              <a:t>Complete SET A-d ON PAGE 27</a:t>
            </a:r>
            <a:br>
              <a:rPr lang="en-GB" sz="4000" dirty="0"/>
            </a:br>
            <a:r>
              <a:rPr lang="en-GB" sz="4000" dirty="0"/>
              <a:t>                       &amp;</a:t>
            </a:r>
            <a:br>
              <a:rPr lang="en-GB" sz="4000" dirty="0"/>
            </a:br>
            <a:r>
              <a:rPr lang="en-GB" sz="4000" dirty="0"/>
              <a:t>Set A on Page 18        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7373-B3E5-41E6-9EC8-6B6375CE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3D679-F17C-4679-8A89-E051DE9E5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59" y="2450422"/>
            <a:ext cx="8485676" cy="340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9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"Success is no accident. It is hard work, perseverance, learning, studying, sacrifice and most of all, love of what you are doing or learning to do.“</a:t>
            </a:r>
            <a:endParaRPr lang="en-GB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GB" dirty="0">
                <a:solidFill>
                  <a:srgbClr val="000000"/>
                </a:solidFill>
                <a:latin typeface="Charter"/>
                <a:cs typeface="Calibri" panose="020F0502020204030204" pitchFamily="34" charset="0"/>
              </a:rPr>
              <a:t>-PELE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407</Words>
  <Application>Microsoft Office PowerPoint</Application>
  <PresentationFormat>Widescreen</PresentationFormat>
  <Paragraphs>85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Percentage of an Amount EQ: How do I calculate a percentage of an amount?</vt:lpstr>
      <vt:lpstr>Things Required For This Lesson</vt:lpstr>
      <vt:lpstr>PowerPoint Presentation</vt:lpstr>
      <vt:lpstr>PowerPoint Presentation</vt:lpstr>
      <vt:lpstr>PowerPoint Presentation</vt:lpstr>
      <vt:lpstr>Practice: Approximation using leading digits (LHS)</vt:lpstr>
      <vt:lpstr>PowerPoint Presentation</vt:lpstr>
      <vt:lpstr>Practice: (LHS)</vt:lpstr>
      <vt:lpstr>Practice: Complete SET A-d ON PAGE 27                        &amp; Set A on Page 18        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61</cp:revision>
  <dcterms:created xsi:type="dcterms:W3CDTF">2021-02-11T13:20:57Z</dcterms:created>
  <dcterms:modified xsi:type="dcterms:W3CDTF">2021-03-15T08:40:26Z</dcterms:modified>
</cp:coreProperties>
</file>
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16"/>
  </p:notesMasterIdLst>
  <p:sldIdLst>
    <p:sldId id="256" r:id="rId2"/>
    <p:sldId id="257" r:id="rId3"/>
    <p:sldId id="311" r:id="rId4"/>
    <p:sldId id="324" r:id="rId5"/>
    <p:sldId id="333" r:id="rId6"/>
    <p:sldId id="334" r:id="rId7"/>
    <p:sldId id="329" r:id="rId8"/>
    <p:sldId id="331" r:id="rId9"/>
    <p:sldId id="330" r:id="rId10"/>
    <p:sldId id="340" r:id="rId11"/>
    <p:sldId id="312" r:id="rId12"/>
    <p:sldId id="332" r:id="rId13"/>
    <p:sldId id="335" r:id="rId14"/>
    <p:sldId id="34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2271FE-FCED-425C-85E0-3013CA7487A4}" v="12" dt="2021-02-14T00:37:03.9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1" autoAdjust="0"/>
    <p:restoredTop sz="75396" autoAdjust="0"/>
  </p:normalViewPr>
  <p:slideViewPr>
    <p:cSldViewPr snapToGrid="0">
      <p:cViewPr varScale="1">
        <p:scale>
          <a:sx n="51" d="100"/>
          <a:sy n="51" d="100"/>
        </p:scale>
        <p:origin x="6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stin.watson@education.wa.edu.au" userId="0bb701940c9d40d5" providerId="LiveId" clId="{212271FE-FCED-425C-85E0-3013CA7487A4}"/>
    <pc:docChg chg="undo custSel addSld delSld modSld">
      <pc:chgData name="justin.watson@education.wa.edu.au" userId="0bb701940c9d40d5" providerId="LiveId" clId="{212271FE-FCED-425C-85E0-3013CA7487A4}" dt="2021-02-14T00:38:11.328" v="408" actId="313"/>
      <pc:docMkLst>
        <pc:docMk/>
      </pc:docMkLst>
      <pc:sldChg chg="del">
        <pc:chgData name="justin.watson@education.wa.edu.au" userId="0bb701940c9d40d5" providerId="LiveId" clId="{212271FE-FCED-425C-85E0-3013CA7487A4}" dt="2021-02-14T00:37:06.036" v="318" actId="47"/>
        <pc:sldMkLst>
          <pc:docMk/>
          <pc:sldMk cId="3372573047" sldId="327"/>
        </pc:sldMkLst>
      </pc:sldChg>
      <pc:sldChg chg="addSp delSp modSp mod">
        <pc:chgData name="justin.watson@education.wa.edu.au" userId="0bb701940c9d40d5" providerId="LiveId" clId="{212271FE-FCED-425C-85E0-3013CA7487A4}" dt="2021-02-13T03:53:21.259" v="15" actId="20577"/>
        <pc:sldMkLst>
          <pc:docMk/>
          <pc:sldMk cId="3579800331" sldId="329"/>
        </pc:sldMkLst>
        <pc:spChg chg="mod">
          <ac:chgData name="justin.watson@education.wa.edu.au" userId="0bb701940c9d40d5" providerId="LiveId" clId="{212271FE-FCED-425C-85E0-3013CA7487A4}" dt="2021-02-13T03:52:33.900" v="4" actId="26606"/>
          <ac:spMkLst>
            <pc:docMk/>
            <pc:sldMk cId="3579800331" sldId="329"/>
            <ac:spMk id="2" creationId="{7FE10D1C-C52F-4092-B107-E88E506EF141}"/>
          </ac:spMkLst>
        </pc:spChg>
        <pc:spChg chg="mod">
          <ac:chgData name="justin.watson@education.wa.edu.au" userId="0bb701940c9d40d5" providerId="LiveId" clId="{212271FE-FCED-425C-85E0-3013CA7487A4}" dt="2021-02-13T03:53:21.259" v="15" actId="20577"/>
          <ac:spMkLst>
            <pc:docMk/>
            <pc:sldMk cId="3579800331" sldId="329"/>
            <ac:spMk id="3" creationId="{D46BA030-F0A1-43A2-A797-43A1FF6BDAE7}"/>
          </ac:spMkLst>
        </pc:spChg>
        <pc:spChg chg="add">
          <ac:chgData name="justin.watson@education.wa.edu.au" userId="0bb701940c9d40d5" providerId="LiveId" clId="{212271FE-FCED-425C-85E0-3013CA7487A4}" dt="2021-02-13T03:52:33.900" v="4" actId="26606"/>
          <ac:spMkLst>
            <pc:docMk/>
            <pc:sldMk cId="3579800331" sldId="329"/>
            <ac:spMk id="74" creationId="{D316878B-F1BE-45C7-ABD4-E3C2E8FD9320}"/>
          </ac:spMkLst>
        </pc:spChg>
        <pc:spChg chg="add">
          <ac:chgData name="justin.watson@education.wa.edu.au" userId="0bb701940c9d40d5" providerId="LiveId" clId="{212271FE-FCED-425C-85E0-3013CA7487A4}" dt="2021-02-13T03:52:33.900" v="4" actId="26606"/>
          <ac:spMkLst>
            <pc:docMk/>
            <pc:sldMk cId="3579800331" sldId="329"/>
            <ac:spMk id="78" creationId="{B5C38167-7F19-4BB8-B175-6DDF47E3C84D}"/>
          </ac:spMkLst>
        </pc:spChg>
        <pc:spChg chg="add">
          <ac:chgData name="justin.watson@education.wa.edu.au" userId="0bb701940c9d40d5" providerId="LiveId" clId="{212271FE-FCED-425C-85E0-3013CA7487A4}" dt="2021-02-13T03:52:33.900" v="4" actId="26606"/>
          <ac:spMkLst>
            <pc:docMk/>
            <pc:sldMk cId="3579800331" sldId="329"/>
            <ac:spMk id="80" creationId="{8A13BB8D-26EA-4C3B-8AE1-A09579A9359D}"/>
          </ac:spMkLst>
        </pc:spChg>
        <pc:spChg chg="add del">
          <ac:chgData name="justin.watson@education.wa.edu.au" userId="0bb701940c9d40d5" providerId="LiveId" clId="{212271FE-FCED-425C-85E0-3013CA7487A4}" dt="2021-02-13T03:52:33.900" v="4" actId="26606"/>
          <ac:spMkLst>
            <pc:docMk/>
            <pc:sldMk cId="3579800331" sldId="329"/>
            <ac:spMk id="1028" creationId="{9DF330DE-344E-4F40-A47D-23B08D3A9287}"/>
          </ac:spMkLst>
        </pc:spChg>
        <pc:picChg chg="add del mod">
          <ac:chgData name="justin.watson@education.wa.edu.au" userId="0bb701940c9d40d5" providerId="LiveId" clId="{212271FE-FCED-425C-85E0-3013CA7487A4}" dt="2021-02-13T03:53:06.601" v="13" actId="14100"/>
          <ac:picMkLst>
            <pc:docMk/>
            <pc:sldMk cId="3579800331" sldId="329"/>
            <ac:picMk id="4" creationId="{37DC4FF1-636B-444D-83F2-B132ED76314E}"/>
          </ac:picMkLst>
        </pc:picChg>
        <pc:picChg chg="del mod ord">
          <ac:chgData name="justin.watson@education.wa.edu.au" userId="0bb701940c9d40d5" providerId="LiveId" clId="{212271FE-FCED-425C-85E0-3013CA7487A4}" dt="2021-02-13T03:52:39.218" v="7" actId="478"/>
          <ac:picMkLst>
            <pc:docMk/>
            <pc:sldMk cId="3579800331" sldId="329"/>
            <ac:picMk id="1026" creationId="{6790B311-3B3D-47CE-8960-B68A7966A198}"/>
          </ac:picMkLst>
        </pc:picChg>
        <pc:cxnChg chg="add">
          <ac:chgData name="justin.watson@education.wa.edu.au" userId="0bb701940c9d40d5" providerId="LiveId" clId="{212271FE-FCED-425C-85E0-3013CA7487A4}" dt="2021-02-13T03:52:33.900" v="4" actId="26606"/>
          <ac:cxnSpMkLst>
            <pc:docMk/>
            <pc:sldMk cId="3579800331" sldId="329"/>
            <ac:cxnSpMk id="76" creationId="{63FDB2A6-69DD-4B0C-B060-D25627361CA6}"/>
          </ac:cxnSpMkLst>
        </pc:cxnChg>
        <pc:cxnChg chg="add del">
          <ac:chgData name="justin.watson@education.wa.edu.au" userId="0bb701940c9d40d5" providerId="LiveId" clId="{212271FE-FCED-425C-85E0-3013CA7487A4}" dt="2021-02-13T03:52:33.900" v="4" actId="26606"/>
          <ac:cxnSpMkLst>
            <pc:docMk/>
            <pc:sldMk cId="3579800331" sldId="329"/>
            <ac:cxnSpMk id="1029" creationId="{1F9A6F53-5F68-47E7-A15D-7301CCB6A666}"/>
          </ac:cxnSpMkLst>
        </pc:cxnChg>
      </pc:sldChg>
      <pc:sldChg chg="modNotesTx">
        <pc:chgData name="justin.watson@education.wa.edu.au" userId="0bb701940c9d40d5" providerId="LiveId" clId="{212271FE-FCED-425C-85E0-3013CA7487A4}" dt="2021-02-14T00:20:22.512" v="181" actId="20577"/>
        <pc:sldMkLst>
          <pc:docMk/>
          <pc:sldMk cId="524833664" sldId="330"/>
        </pc:sldMkLst>
      </pc:sldChg>
      <pc:sldChg chg="modNotesTx">
        <pc:chgData name="justin.watson@education.wa.edu.au" userId="0bb701940c9d40d5" providerId="LiveId" clId="{212271FE-FCED-425C-85E0-3013CA7487A4}" dt="2021-02-14T00:25:28.893" v="316" actId="20577"/>
        <pc:sldMkLst>
          <pc:docMk/>
          <pc:sldMk cId="3682400855" sldId="331"/>
        </pc:sldMkLst>
      </pc:sldChg>
      <pc:sldChg chg="modSp add mod setBg">
        <pc:chgData name="justin.watson@education.wa.edu.au" userId="0bb701940c9d40d5" providerId="LiveId" clId="{212271FE-FCED-425C-85E0-3013CA7487A4}" dt="2021-02-14T00:38:11.328" v="408" actId="313"/>
        <pc:sldMkLst>
          <pc:docMk/>
          <pc:sldMk cId="1634238951" sldId="341"/>
        </pc:sldMkLst>
        <pc:spChg chg="mod">
          <ac:chgData name="justin.watson@education.wa.edu.au" userId="0bb701940c9d40d5" providerId="LiveId" clId="{212271FE-FCED-425C-85E0-3013CA7487A4}" dt="2021-02-14T00:38:11.328" v="408" actId="313"/>
          <ac:spMkLst>
            <pc:docMk/>
            <pc:sldMk cId="1634238951" sldId="341"/>
            <ac:spMk id="5" creationId="{F2A5B7C2-6C39-4AFA-9B5D-C3F3C81B941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EAEC40-FB91-4B4E-8615-59788947F0F0}" type="datetimeFigureOut">
              <a:rPr lang="en-AU" smtClean="0"/>
              <a:t>13/02/2021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5F8C66-E9D4-4BCD-9B84-1B952BD6C7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5560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9062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02755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13159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994727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Have post-it notes pre-prepared with -50, 25, 0, -75, 50, 75 for whole class display on the board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3158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e.g.  Football Oval, House plans, School Boundary, Rocks around a garden, Desk, 2D Shapes, Basketball Court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40011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Have students lead the conversation. This summary they develop can be part of their summary at the end of the lesson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0255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79265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06636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Solve this live with students with them doing all the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03584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Create a similar question to extend.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0150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D87294F-DEA6-4D3A-864A-E2E179377C11}" type="datetimeFigureOut">
              <a:rPr lang="en-AU" smtClean="0"/>
              <a:t>13/02/2021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850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13/02/2021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4120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13/02/2021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61104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13/02/2021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1133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13/02/2021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222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13/02/2021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0055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13/02/2021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1683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13/02/2021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5906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13/02/2021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258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13/02/2021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5682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13/02/2021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507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D87294F-DEA6-4D3A-864A-E2E179377C11}" type="datetimeFigureOut">
              <a:rPr lang="en-AU" smtClean="0"/>
              <a:t>13/02/2021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5121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www.flickr.com/photos/128758398@N07/16606213985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gif"/><Relationship Id="rId4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1B51-FD68-4F9A-AF72-D0BD00204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4960137"/>
            <a:ext cx="8655424" cy="1463040"/>
          </a:xfrm>
        </p:spPr>
        <p:txBody>
          <a:bodyPr>
            <a:noAutofit/>
          </a:bodyPr>
          <a:lstStyle/>
          <a:p>
            <a:pPr algn="l"/>
            <a:r>
              <a:rPr lang="en-AU" sz="4000" dirty="0"/>
              <a:t>Topic: application of addition to perimeter</a:t>
            </a:r>
            <a:br>
              <a:rPr lang="en-AU" sz="4000" dirty="0"/>
            </a:br>
            <a:r>
              <a:rPr lang="en-AU" sz="4000" dirty="0"/>
              <a:t>EQ: </a:t>
            </a:r>
            <a:r>
              <a:rPr lang="en-AU" sz="3200" dirty="0"/>
              <a:t>How do you use known and unknown information to find perimeter?</a:t>
            </a:r>
            <a:endParaRPr lang="en-AU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235905-0902-4C57-9CA6-37C142F28C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02270" y="4744984"/>
            <a:ext cx="3200400" cy="1463040"/>
          </a:xfrm>
        </p:spPr>
        <p:txBody>
          <a:bodyPr/>
          <a:lstStyle/>
          <a:p>
            <a:r>
              <a:rPr lang="en-AU" dirty="0"/>
              <a:t>Year 11 Essentials</a:t>
            </a:r>
          </a:p>
        </p:txBody>
      </p:sp>
    </p:spTree>
    <p:extLst>
      <p:ext uri="{BB962C8B-B14F-4D97-AF65-F5344CB8AC3E}">
        <p14:creationId xmlns:p14="http://schemas.microsoft.com/office/powerpoint/2010/main" val="1669176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42DAA-A945-4854-916B-03B00950B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Things Required For This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B46C1-2EC7-446D-84C7-06B86F228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Interactive Notebook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Textbook: </a:t>
            </a:r>
            <a:r>
              <a:rPr lang="en-AU" sz="28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Interleaved Maths Essential Connections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Ruler, Red Pen, Pencil, Pens, Scientific Calculator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Growth mindset</a:t>
            </a:r>
          </a:p>
        </p:txBody>
      </p:sp>
    </p:spTree>
    <p:extLst>
      <p:ext uri="{BB962C8B-B14F-4D97-AF65-F5344CB8AC3E}">
        <p14:creationId xmlns:p14="http://schemas.microsoft.com/office/powerpoint/2010/main" val="2390803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60701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Relative Size of Negative Numbers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How do you use known and unknown information to find perimeter?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0DFE82-329E-4213-9CF8-A8FD3DCF967B}"/>
              </a:ext>
            </a:extLst>
          </p:cNvPr>
          <p:cNvSpPr txBox="1"/>
          <p:nvPr/>
        </p:nvSpPr>
        <p:spPr>
          <a:xfrm>
            <a:off x="9568370" y="196208"/>
            <a:ext cx="2546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Date: 12/02/2021</a:t>
            </a:r>
          </a:p>
        </p:txBody>
      </p:sp>
      <p:pic>
        <p:nvPicPr>
          <p:cNvPr id="6" name="Picture 5" descr="A picture containing text, brick, outdoor, sign&#10;&#10;Description automatically generated">
            <a:extLst>
              <a:ext uri="{FF2B5EF4-FFF2-40B4-BE49-F238E27FC236}">
                <a16:creationId xmlns:a16="http://schemas.microsoft.com/office/drawing/2014/main" id="{04DC1BC4-B66D-4429-8604-914BCDAFDC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881917" y="1449553"/>
            <a:ext cx="3257615" cy="42898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EB01DF-9411-42CA-9351-FB3A2852305B}"/>
              </a:ext>
            </a:extLst>
          </p:cNvPr>
          <p:cNvSpPr txBox="1"/>
          <p:nvPr/>
        </p:nvSpPr>
        <p:spPr>
          <a:xfrm>
            <a:off x="5001187" y="5710872"/>
            <a:ext cx="2575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00" dirty="0">
                <a:hlinkClick r:id="rId4" tooltip="https://www.flickr.com/photos/128758398@N07/16606213985"/>
              </a:rPr>
              <a:t>This Photo</a:t>
            </a:r>
            <a:r>
              <a:rPr lang="en-AU" sz="900" dirty="0"/>
              <a:t> by Unknown Author is licensed under </a:t>
            </a:r>
            <a:r>
              <a:rPr lang="en-AU" sz="900" dirty="0">
                <a:hlinkClick r:id="rId5" tooltip="https://creativecommons.org/licenses/by-sa/3.0/"/>
              </a:rPr>
              <a:t>CC BY-SA</a:t>
            </a:r>
            <a:endParaRPr lang="en-AU" sz="9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82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84058-F110-4341-AAE9-DF21C868F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6066818" cy="1279443"/>
          </a:xfrm>
        </p:spPr>
        <p:txBody>
          <a:bodyPr>
            <a:normAutofit/>
          </a:bodyPr>
          <a:lstStyle/>
          <a:p>
            <a:r>
              <a:rPr lang="en-AU" sz="3500" dirty="0"/>
              <a:t>Interleave Questions set 2</a:t>
            </a:r>
            <a:br>
              <a:rPr lang="en-AU" sz="3500" dirty="0"/>
            </a:br>
            <a:r>
              <a:rPr lang="en-AU" sz="3500" dirty="0"/>
              <a:t>Q1-3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B20C0-639D-4900-99CF-7D5985912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447" y="1864659"/>
            <a:ext cx="7745506" cy="44447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1700" dirty="0">
                <a:latin typeface="Calibri" panose="020F0502020204030204" pitchFamily="34" charset="0"/>
                <a:cs typeface="Calibri" panose="020F0502020204030204" pitchFamily="34" charset="0"/>
              </a:rPr>
              <a:t>         </a:t>
            </a:r>
            <a:r>
              <a:rPr lang="en-AU" sz="1700" b="1" dirty="0">
                <a:latin typeface="Calibri" panose="020F0502020204030204" pitchFamily="34" charset="0"/>
                <a:cs typeface="Calibri" panose="020F0502020204030204" pitchFamily="34" charset="0"/>
              </a:rPr>
              <a:t>COPY AND SOLVE – UNDERLINE KEY WORDS</a:t>
            </a:r>
          </a:p>
          <a:p>
            <a:pPr marL="514350" indent="-514350">
              <a:buFont typeface="+mj-lt"/>
              <a:buAutoNum type="arabicPeriod"/>
            </a:pPr>
            <a:endParaRPr lang="en-AU" sz="1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Add 9.2 metres to 12,150 millimetres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Use leading digit approximation to estimate the answer to 746 – 428, then calculate the answer. 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What fraction of $1 is 45 cents? Simplify your answer is possible. </a:t>
            </a:r>
            <a:endParaRPr lang="en-AU" sz="20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What is half of $24.12? What about 1/4 of $24.12?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If I need to place even amounts of stars on the wall and there were 1250 stars and 5 walls, how many stars should I place on each wall?</a:t>
            </a:r>
          </a:p>
          <a:p>
            <a:pPr marL="0" indent="0">
              <a:buNone/>
            </a:pPr>
            <a:r>
              <a:rPr lang="en-AU" sz="17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1. 21.35m or 21,350mm        2. </a:t>
            </a:r>
            <a:r>
              <a:rPr lang="en-AU" sz="170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Approx</a:t>
            </a:r>
            <a:r>
              <a:rPr lang="en-AU" sz="17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300, exact 318      3. 45/100 – 9/20</a:t>
            </a:r>
          </a:p>
          <a:p>
            <a:pPr marL="0" indent="0">
              <a:buNone/>
            </a:pPr>
            <a:r>
              <a:rPr lang="en-AU" sz="17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4.  $12.06 and $6.03             5. 250 stars</a:t>
            </a:r>
          </a:p>
        </p:txBody>
      </p:sp>
      <p:pic>
        <p:nvPicPr>
          <p:cNvPr id="9" name="Picture 8" descr="Toy plastic numbers">
            <a:extLst>
              <a:ext uri="{FF2B5EF4-FFF2-40B4-BE49-F238E27FC236}">
                <a16:creationId xmlns:a16="http://schemas.microsoft.com/office/drawing/2014/main" id="{52FEC1ED-9D5D-4D09-AE41-D945ECB782A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91" r="30349" b="-1"/>
          <a:stretch/>
        </p:blipFill>
        <p:spPr>
          <a:xfrm>
            <a:off x="8265459" y="10"/>
            <a:ext cx="392654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581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greek perimeter famous">
            <a:extLst>
              <a:ext uri="{FF2B5EF4-FFF2-40B4-BE49-F238E27FC236}">
                <a16:creationId xmlns:a16="http://schemas.microsoft.com/office/drawing/2014/main" id="{6790B311-3B3D-47CE-8960-B68A7966A1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50" r="9091" b="16169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8" name="Rectangle 70">
            <a:extLst>
              <a:ext uri="{FF2B5EF4-FFF2-40B4-BE49-F238E27FC236}">
                <a16:creationId xmlns:a16="http://schemas.microsoft.com/office/drawing/2014/main" id="{9DF330DE-344E-4F40-A47D-23B08D3A92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552265" cy="6858000"/>
          </a:xfrm>
          <a:prstGeom prst="rect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E10D1C-C52F-4092-B107-E88E506EF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6066816" cy="1499616"/>
          </a:xfrm>
        </p:spPr>
        <p:txBody>
          <a:bodyPr>
            <a:normAutofit/>
          </a:bodyPr>
          <a:lstStyle/>
          <a:p>
            <a:r>
              <a:rPr lang="en-AU" dirty="0"/>
              <a:t>Task (LHS) </a:t>
            </a:r>
            <a:r>
              <a:rPr lang="en-AU" dirty="0">
                <a:solidFill>
                  <a:schemeClr val="accent1">
                    <a:lumMod val="75000"/>
                  </a:schemeClr>
                </a:solidFill>
              </a:rPr>
              <a:t>Think</a:t>
            </a:r>
            <a:r>
              <a:rPr lang="en-AU" dirty="0"/>
              <a:t> </a:t>
            </a:r>
            <a:r>
              <a:rPr lang="en-AU" dirty="0">
                <a:solidFill>
                  <a:schemeClr val="accent2">
                    <a:lumMod val="75000"/>
                  </a:schemeClr>
                </a:solidFill>
              </a:rPr>
              <a:t>Pair</a:t>
            </a:r>
            <a:r>
              <a:rPr lang="en-AU" dirty="0"/>
              <a:t> </a:t>
            </a:r>
            <a:r>
              <a:rPr lang="en-AU" dirty="0">
                <a:solidFill>
                  <a:schemeClr val="accent3">
                    <a:lumMod val="50000"/>
                  </a:schemeClr>
                </a:solidFill>
              </a:rPr>
              <a:t>Share</a:t>
            </a:r>
            <a:endParaRPr lang="en-AU" dirty="0">
              <a:solidFill>
                <a:srgbClr val="000000"/>
              </a:solidFill>
            </a:endParaRPr>
          </a:p>
        </p:txBody>
      </p:sp>
      <p:cxnSp>
        <p:nvCxnSpPr>
          <p:cNvPr id="1029" name="Straight Connector 72">
            <a:extLst>
              <a:ext uri="{FF2B5EF4-FFF2-40B4-BE49-F238E27FC236}">
                <a16:creationId xmlns:a16="http://schemas.microsoft.com/office/drawing/2014/main" id="{1F9A6F53-5F68-47E7-A15D-7301CCB6A6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D1CCCB6-F8AD-4849-8EA5-D155D0A485C7}"/>
              </a:ext>
            </a:extLst>
          </p:cNvPr>
          <p:cNvSpPr txBox="1"/>
          <p:nvPr/>
        </p:nvSpPr>
        <p:spPr>
          <a:xfrm>
            <a:off x="2766359" y="1778329"/>
            <a:ext cx="43732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perimeter of this shape is 49cm. What was the process?</a:t>
            </a:r>
          </a:p>
        </p:txBody>
      </p:sp>
      <p:pic>
        <p:nvPicPr>
          <p:cNvPr id="2050" name="Picture 2" descr="Image result for perimeter">
            <a:extLst>
              <a:ext uri="{FF2B5EF4-FFF2-40B4-BE49-F238E27FC236}">
                <a16:creationId xmlns:a16="http://schemas.microsoft.com/office/drawing/2014/main" id="{26640F3B-F751-4322-AACB-53A199337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28" y="3024829"/>
            <a:ext cx="5414463" cy="3778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0903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id="{84DAF2E9-3D88-4759-B4FC-7688C7B98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6ADA00DF-825B-4D57-98D5-5A221ED9DF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C1F741F2-E766-4B79-975E-B88C30460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59968"/>
            <a:ext cx="12192000" cy="22980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E10D1C-C52F-4092-B107-E88E506EF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960137"/>
            <a:ext cx="10838329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pc="200" dirty="0">
                <a:solidFill>
                  <a:srgbClr val="FFFFFF"/>
                </a:solidFill>
              </a:rPr>
              <a:t>Complete these questions – draw them too!</a:t>
            </a:r>
          </a:p>
        </p:txBody>
      </p:sp>
      <p:sp useBgFill="1">
        <p:nvSpPr>
          <p:cNvPr id="79" name="Rectangle 78">
            <a:extLst>
              <a:ext uri="{FF2B5EF4-FFF2-40B4-BE49-F238E27FC236}">
                <a16:creationId xmlns:a16="http://schemas.microsoft.com/office/drawing/2014/main" id="{C8856B9A-BEED-4D80-B2EE-E365024DB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Image result for perimeter">
            <a:extLst>
              <a:ext uri="{FF2B5EF4-FFF2-40B4-BE49-F238E27FC236}">
                <a16:creationId xmlns:a16="http://schemas.microsoft.com/office/drawing/2014/main" id="{A1AFC489-A71C-4F01-A9F3-C43E18EC76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4632" y="1090829"/>
            <a:ext cx="5369052" cy="2389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9A8B615B-5846-4F88-99D1-3E781C5F1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60141" y="822682"/>
            <a:ext cx="0" cy="2926080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6" name="Picture 4" descr="Image result for perimeter">
            <a:extLst>
              <a:ext uri="{FF2B5EF4-FFF2-40B4-BE49-F238E27FC236}">
                <a16:creationId xmlns:a16="http://schemas.microsoft.com/office/drawing/2014/main" id="{A766606D-0B64-43B0-BEDA-0B2CF5251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38316" y="677836"/>
            <a:ext cx="5341140" cy="3215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3E014195-1A85-4E21-9F88-654F38A46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0198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>
            <a:extLst>
              <a:ext uri="{FF2B5EF4-FFF2-40B4-BE49-F238E27FC236}">
                <a16:creationId xmlns:a16="http://schemas.microsoft.com/office/drawing/2014/main" id="{D316878B-F1BE-45C7-ABD4-E3C2E8FD93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6854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E10D1C-C52F-4092-B107-E88E506EF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3779085" cy="1499616"/>
          </a:xfrm>
        </p:spPr>
        <p:txBody>
          <a:bodyPr>
            <a:normAutofit/>
          </a:bodyPr>
          <a:lstStyle/>
          <a:p>
            <a:r>
              <a:rPr lang="en-AU">
                <a:solidFill>
                  <a:srgbClr val="FFFFFF"/>
                </a:solidFill>
              </a:rPr>
              <a:t>Origin of the word perimeter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63FDB2A6-69DD-4B0C-B060-D25627361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BA030-F0A1-43A2-A797-43A1FF6BD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3791711" cy="3931920"/>
          </a:xfrm>
        </p:spPr>
        <p:txBody>
          <a:bodyPr>
            <a:normAutofit/>
          </a:bodyPr>
          <a:lstStyle/>
          <a:p>
            <a:r>
              <a:rPr lang="en-AU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>
                <a:solidFill>
                  <a:srgbClr val="FFFFFF"/>
                </a:solidFill>
                <a:latin typeface="Georgia" panose="02040502050405020303" pitchFamily="18" charset="0"/>
                <a:cs typeface="Calibri" panose="020F0502020204030204" pitchFamily="34" charset="0"/>
              </a:rPr>
              <a:t>P</a:t>
            </a:r>
            <a:r>
              <a:rPr lang="en-US" b="1" i="0" dirty="0">
                <a:solidFill>
                  <a:srgbClr val="FFFFFF"/>
                </a:solidFill>
                <a:effectLst/>
                <a:latin typeface="Georgia" panose="02040502050405020303" pitchFamily="18" charset="0"/>
              </a:rPr>
              <a:t>erimeter (n.)</a:t>
            </a:r>
          </a:p>
          <a:p>
            <a:r>
              <a:rPr lang="en-US" b="0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The word '</a:t>
            </a:r>
            <a:r>
              <a:rPr lang="en-US" b="1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perimeter</a:t>
            </a:r>
            <a:r>
              <a:rPr lang="en-US" b="0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' comes from two </a:t>
            </a:r>
            <a:r>
              <a:rPr lang="en-US" b="1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Greek</a:t>
            </a:r>
            <a:r>
              <a:rPr lang="en-US" b="0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 words; peri, meaning 'around', and </a:t>
            </a:r>
            <a:r>
              <a:rPr lang="en-US" b="0" i="0" dirty="0" err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metron</a:t>
            </a:r>
            <a:r>
              <a:rPr lang="en-US" b="0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, meaning 'measure'. So </a:t>
            </a:r>
            <a:r>
              <a:rPr lang="en-US" b="1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perimeter</a:t>
            </a:r>
            <a:r>
              <a:rPr lang="en-US" b="0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 means the measure or distance around something.</a:t>
            </a:r>
            <a:endParaRPr lang="en-AU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5C38167-7F19-4BB8-B175-6DDF47E3C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1732"/>
            <a:ext cx="2286920" cy="2717032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A13BB8D-26EA-4C3B-8AE1-A09579A935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26825" y="4157448"/>
            <a:ext cx="3798245" cy="23026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Image result for perimeter funny">
            <a:extLst>
              <a:ext uri="{FF2B5EF4-FFF2-40B4-BE49-F238E27FC236}">
                <a16:creationId xmlns:a16="http://schemas.microsoft.com/office/drawing/2014/main" id="{37DC4FF1-636B-444D-83F2-B132ED7631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560"/>
          <a:stretch/>
        </p:blipFill>
        <p:spPr bwMode="auto">
          <a:xfrm>
            <a:off x="5989293" y="711464"/>
            <a:ext cx="5650257" cy="5506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9800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BF2ABC8-4FD6-4B60-92A7-BB3BEE3C1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E10D1C-C52F-4092-B107-E88E506EF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r>
              <a:rPr lang="en-AU" dirty="0"/>
              <a:t>Task (LHS) </a:t>
            </a:r>
            <a:r>
              <a:rPr lang="en-AU" dirty="0">
                <a:solidFill>
                  <a:schemeClr val="accent1">
                    <a:lumMod val="75000"/>
                  </a:schemeClr>
                </a:solidFill>
              </a:rPr>
              <a:t>Think</a:t>
            </a:r>
            <a:r>
              <a:rPr lang="en-AU" dirty="0"/>
              <a:t> </a:t>
            </a:r>
            <a:r>
              <a:rPr lang="en-AU" dirty="0">
                <a:solidFill>
                  <a:schemeClr val="accent2">
                    <a:lumMod val="75000"/>
                  </a:schemeClr>
                </a:solidFill>
              </a:rPr>
              <a:t>Pair</a:t>
            </a:r>
            <a:r>
              <a:rPr lang="en-AU" dirty="0"/>
              <a:t> </a:t>
            </a:r>
            <a:r>
              <a:rPr lang="en-AU" dirty="0">
                <a:solidFill>
                  <a:schemeClr val="accent3">
                    <a:lumMod val="50000"/>
                  </a:schemeClr>
                </a:solidFill>
              </a:rPr>
              <a:t>Share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D479D3-536C-4161-A6F8-813D30719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BA030-F0A1-43A2-A797-43A1FF6BD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8018271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 As a class come up with 5 different things in the real world where Perimeter is used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1				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2				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3				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4				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5					</a:t>
            </a:r>
          </a:p>
          <a:p>
            <a:pPr marL="0" indent="0">
              <a:buNone/>
            </a:pPr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endParaRPr lang="en-AU" dirty="0">
              <a:solidFill>
                <a:schemeClr val="accent3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94885D-0915-47B1-B11A-A9CA53475905}"/>
              </a:ext>
            </a:extLst>
          </p:cNvPr>
          <p:cNvSpPr txBox="1"/>
          <p:nvPr/>
        </p:nvSpPr>
        <p:spPr>
          <a:xfrm>
            <a:off x="1501627" y="5724585"/>
            <a:ext cx="32900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Was this easy?</a:t>
            </a:r>
            <a:endParaRPr lang="en-GH" sz="3200" dirty="0"/>
          </a:p>
        </p:txBody>
      </p:sp>
    </p:spTree>
    <p:extLst>
      <p:ext uri="{BB962C8B-B14F-4D97-AF65-F5344CB8AC3E}">
        <p14:creationId xmlns:p14="http://schemas.microsoft.com/office/powerpoint/2010/main" val="3682400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greek perimeter famous">
            <a:extLst>
              <a:ext uri="{FF2B5EF4-FFF2-40B4-BE49-F238E27FC236}">
                <a16:creationId xmlns:a16="http://schemas.microsoft.com/office/drawing/2014/main" id="{6790B311-3B3D-47CE-8960-B68A7966A1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50" r="9091" b="16169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8" name="Rectangle 70">
            <a:extLst>
              <a:ext uri="{FF2B5EF4-FFF2-40B4-BE49-F238E27FC236}">
                <a16:creationId xmlns:a16="http://schemas.microsoft.com/office/drawing/2014/main" id="{9DF330DE-344E-4F40-A47D-23B08D3A92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552265" cy="6858000"/>
          </a:xfrm>
          <a:prstGeom prst="rect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E10D1C-C52F-4092-B107-E88E506EF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6066816" cy="1499616"/>
          </a:xfrm>
        </p:spPr>
        <p:txBody>
          <a:bodyPr>
            <a:normAutofit/>
          </a:bodyPr>
          <a:lstStyle/>
          <a:p>
            <a:r>
              <a:rPr lang="en-AU" dirty="0"/>
              <a:t>Task (LHS) </a:t>
            </a:r>
            <a:r>
              <a:rPr lang="en-AU" dirty="0">
                <a:solidFill>
                  <a:schemeClr val="accent1">
                    <a:lumMod val="75000"/>
                  </a:schemeClr>
                </a:solidFill>
              </a:rPr>
              <a:t>Think</a:t>
            </a:r>
            <a:r>
              <a:rPr lang="en-AU" dirty="0"/>
              <a:t> </a:t>
            </a:r>
            <a:r>
              <a:rPr lang="en-AU" dirty="0">
                <a:solidFill>
                  <a:schemeClr val="accent2">
                    <a:lumMod val="75000"/>
                  </a:schemeClr>
                </a:solidFill>
              </a:rPr>
              <a:t>Pair</a:t>
            </a:r>
            <a:r>
              <a:rPr lang="en-AU" dirty="0"/>
              <a:t> </a:t>
            </a:r>
            <a:r>
              <a:rPr lang="en-AU" dirty="0">
                <a:solidFill>
                  <a:schemeClr val="accent3">
                    <a:lumMod val="50000"/>
                  </a:schemeClr>
                </a:solidFill>
              </a:rPr>
              <a:t>Share</a:t>
            </a:r>
            <a:endParaRPr lang="en-AU" dirty="0">
              <a:solidFill>
                <a:srgbClr val="000000"/>
              </a:solidFill>
            </a:endParaRPr>
          </a:p>
        </p:txBody>
      </p:sp>
      <p:cxnSp>
        <p:nvCxnSpPr>
          <p:cNvPr id="1029" name="Straight Connector 72">
            <a:extLst>
              <a:ext uri="{FF2B5EF4-FFF2-40B4-BE49-F238E27FC236}">
                <a16:creationId xmlns:a16="http://schemas.microsoft.com/office/drawing/2014/main" id="{1F9A6F53-5F68-47E7-A15D-7301CCB6A6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 descr="Image result for perimeter example">
            <a:extLst>
              <a:ext uri="{FF2B5EF4-FFF2-40B4-BE49-F238E27FC236}">
                <a16:creationId xmlns:a16="http://schemas.microsoft.com/office/drawing/2014/main" id="{A9271C2C-8C47-4856-B09A-E3F5A4B65B9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304" y="1873396"/>
            <a:ext cx="4139682" cy="4012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D1CCCB6-F8AD-4849-8EA5-D155D0A485C7}"/>
              </a:ext>
            </a:extLst>
          </p:cNvPr>
          <p:cNvSpPr txBox="1"/>
          <p:nvPr/>
        </p:nvSpPr>
        <p:spPr>
          <a:xfrm>
            <a:off x="3178996" y="1738097"/>
            <a:ext cx="43732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What do you need to consider to consider when solving a question like this? What language would you use to describe the process? </a:t>
            </a:r>
          </a:p>
        </p:txBody>
      </p:sp>
    </p:spTree>
    <p:extLst>
      <p:ext uri="{BB962C8B-B14F-4D97-AF65-F5344CB8AC3E}">
        <p14:creationId xmlns:p14="http://schemas.microsoft.com/office/powerpoint/2010/main" val="524833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78">
            <a:extLst>
              <a:ext uri="{FF2B5EF4-FFF2-40B4-BE49-F238E27FC236}">
                <a16:creationId xmlns:a16="http://schemas.microsoft.com/office/drawing/2014/main" id="{84DAF2E9-3D88-4759-B4FC-7688C7B98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6ADA00DF-825B-4D57-98D5-5A221ED9DF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6726B7E5-72EE-4020-A625-10AC5521C2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A4E1AEB1-4AE9-41B7-8B3B-6DF6C3E3B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96613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E10D1C-C52F-4092-B107-E88E506EF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366" y="640080"/>
            <a:ext cx="3481752" cy="31242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400" spc="200" dirty="0">
                <a:solidFill>
                  <a:srgbClr val="FFFFFF"/>
                </a:solidFill>
              </a:rPr>
              <a:t>Complete these questions – draw them too!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639A1C41-2381-4ABE-96E9-14BDF440C0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8749" y="3765314"/>
            <a:ext cx="283464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 descr="Image result for unknown side perimeter">
            <a:extLst>
              <a:ext uri="{FF2B5EF4-FFF2-40B4-BE49-F238E27FC236}">
                <a16:creationId xmlns:a16="http://schemas.microsoft.com/office/drawing/2014/main" id="{2FB94F28-AC82-4B39-906D-539DCFCF1A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66899" y="727646"/>
            <a:ext cx="3659111" cy="2668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A4AB6BF6-B991-43B1-8F9D-2E9159EFE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5130" y="1963779"/>
            <a:ext cx="0" cy="2926080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4" name="Picture 4" descr="Image result for unknown side perimeter">
            <a:extLst>
              <a:ext uri="{FF2B5EF4-FFF2-40B4-BE49-F238E27FC236}">
                <a16:creationId xmlns:a16="http://schemas.microsoft.com/office/drawing/2014/main" id="{232A7371-FDEA-49CB-9AED-026B2DC796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26059" y="377767"/>
            <a:ext cx="3644400" cy="3094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C4D0157E-B2D1-4A78-BD70-0DB3460F2A35}"/>
              </a:ext>
            </a:extLst>
          </p:cNvPr>
          <p:cNvSpPr txBox="1">
            <a:spLocks/>
          </p:cNvSpPr>
          <p:nvPr/>
        </p:nvSpPr>
        <p:spPr>
          <a:xfrm>
            <a:off x="4219802" y="804998"/>
            <a:ext cx="7150608" cy="2871216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  <a:spcAft>
                <a:spcPts val="600"/>
              </a:spcAft>
              <a:buClr>
                <a:schemeClr val="accent2"/>
              </a:buClr>
            </a:pPr>
            <a:endParaRPr lang="en-US" spc="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2302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BF2ABC8-4FD6-4B60-92A7-BB3BEE3C1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E10D1C-C52F-4092-B107-E88E506EF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 fontScale="90000"/>
          </a:bodyPr>
          <a:lstStyle/>
          <a:p>
            <a:r>
              <a:rPr lang="en-AU" dirty="0"/>
              <a:t>Task (LHS) </a:t>
            </a:r>
            <a:r>
              <a:rPr lang="en-AU" dirty="0">
                <a:solidFill>
                  <a:schemeClr val="accent1">
                    <a:lumMod val="75000"/>
                  </a:schemeClr>
                </a:solidFill>
              </a:rPr>
              <a:t>Think</a:t>
            </a:r>
            <a:r>
              <a:rPr lang="en-AU" dirty="0"/>
              <a:t> </a:t>
            </a:r>
            <a:r>
              <a:rPr lang="en-AU" dirty="0">
                <a:solidFill>
                  <a:schemeClr val="accent2">
                    <a:lumMod val="75000"/>
                  </a:schemeClr>
                </a:solidFill>
              </a:rPr>
              <a:t>Pair</a:t>
            </a:r>
            <a:r>
              <a:rPr lang="en-AU" dirty="0"/>
              <a:t> </a:t>
            </a:r>
            <a:r>
              <a:rPr lang="en-AU" dirty="0">
                <a:solidFill>
                  <a:schemeClr val="accent3">
                    <a:lumMod val="50000"/>
                  </a:schemeClr>
                </a:solidFill>
              </a:rPr>
              <a:t>Share</a:t>
            </a:r>
            <a:br>
              <a:rPr lang="en-AU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AU" dirty="0">
                <a:solidFill>
                  <a:schemeClr val="accent3">
                    <a:lumMod val="50000"/>
                  </a:schemeClr>
                </a:solidFill>
              </a:rPr>
              <a:t>report writing</a:t>
            </a:r>
            <a:br>
              <a:rPr lang="en-AU" dirty="0">
                <a:solidFill>
                  <a:schemeClr val="accent3">
                    <a:lumMod val="50000"/>
                  </a:schemeClr>
                </a:solidFill>
              </a:rPr>
            </a:br>
            <a:endParaRPr lang="en-AU" dirty="0">
              <a:solidFill>
                <a:schemeClr val="accent3">
                  <a:lumMod val="50000"/>
                </a:schemeClr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D479D3-536C-4161-A6F8-813D30719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BA030-F0A1-43A2-A797-43A1FF6BD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8018271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AU" dirty="0">
              <a:solidFill>
                <a:schemeClr val="accent3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DAF9F3-FFA8-4571-BF7E-9F52F04F64A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233" t="19593" r="17433" b="15016"/>
          <a:stretch/>
        </p:blipFill>
        <p:spPr>
          <a:xfrm>
            <a:off x="1708435" y="1671337"/>
            <a:ext cx="6649656" cy="50580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42EA878-2374-4284-B480-B37ED2453892}"/>
              </a:ext>
            </a:extLst>
          </p:cNvPr>
          <p:cNvSpPr txBox="1"/>
          <p:nvPr/>
        </p:nvSpPr>
        <p:spPr>
          <a:xfrm>
            <a:off x="9583348" y="1335024"/>
            <a:ext cx="22869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Copy into your books and think about what the process would be to complete this question? What steps are needed to consider?</a:t>
            </a:r>
          </a:p>
          <a:p>
            <a:endParaRPr lang="en-US" sz="2000" b="1" dirty="0"/>
          </a:p>
          <a:p>
            <a:r>
              <a:rPr lang="en-US" sz="2000" b="1" dirty="0"/>
              <a:t>Be prepared to share your answers </a:t>
            </a:r>
          </a:p>
        </p:txBody>
      </p:sp>
    </p:spTree>
    <p:extLst>
      <p:ext uri="{BB962C8B-B14F-4D97-AF65-F5344CB8AC3E}">
        <p14:creationId xmlns:p14="http://schemas.microsoft.com/office/powerpoint/2010/main" val="1717092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BF2ABC8-4FD6-4B60-92A7-BB3BEE3C1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E10D1C-C52F-4092-B107-E88E506EF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 fontScale="90000"/>
          </a:bodyPr>
          <a:lstStyle/>
          <a:p>
            <a:r>
              <a:rPr lang="en-AU" dirty="0"/>
              <a:t>Task (LHS) </a:t>
            </a:r>
            <a:r>
              <a:rPr lang="en-AU" dirty="0">
                <a:solidFill>
                  <a:schemeClr val="accent1">
                    <a:lumMod val="75000"/>
                  </a:schemeClr>
                </a:solidFill>
              </a:rPr>
              <a:t>Think</a:t>
            </a:r>
            <a:r>
              <a:rPr lang="en-AU" dirty="0"/>
              <a:t> </a:t>
            </a:r>
            <a:r>
              <a:rPr lang="en-AU" dirty="0">
                <a:solidFill>
                  <a:schemeClr val="accent2">
                    <a:lumMod val="75000"/>
                  </a:schemeClr>
                </a:solidFill>
              </a:rPr>
              <a:t>Pair</a:t>
            </a:r>
            <a:r>
              <a:rPr lang="en-AU" dirty="0"/>
              <a:t> </a:t>
            </a:r>
            <a:r>
              <a:rPr lang="en-AU" dirty="0">
                <a:solidFill>
                  <a:schemeClr val="accent3">
                    <a:lumMod val="50000"/>
                  </a:schemeClr>
                </a:solidFill>
              </a:rPr>
              <a:t>Share</a:t>
            </a:r>
            <a:br>
              <a:rPr lang="en-AU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AU" dirty="0">
                <a:solidFill>
                  <a:schemeClr val="accent3">
                    <a:lumMod val="50000"/>
                  </a:schemeClr>
                </a:solidFill>
              </a:rPr>
              <a:t>report writing</a:t>
            </a:r>
            <a:br>
              <a:rPr lang="en-AU" dirty="0">
                <a:solidFill>
                  <a:schemeClr val="accent3">
                    <a:lumMod val="50000"/>
                  </a:schemeClr>
                </a:solidFill>
              </a:rPr>
            </a:br>
            <a:endParaRPr lang="en-AU" dirty="0">
              <a:solidFill>
                <a:schemeClr val="accent3">
                  <a:lumMod val="50000"/>
                </a:schemeClr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D479D3-536C-4161-A6F8-813D30719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BA030-F0A1-43A2-A797-43A1FF6BD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4012680"/>
            <a:ext cx="8018271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/>
              <a:t>a) What is the perimeter of the Monica’s garden?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b) How many 5m strings must Monica buy?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c) How much will the bunting cost Monica?</a:t>
            </a:r>
          </a:p>
          <a:p>
            <a:pPr>
              <a:buFont typeface="Wingdings" panose="05000000000000000000" pitchFamily="2" charset="2"/>
              <a:buChar char="v"/>
            </a:pPr>
            <a:endParaRPr lang="en-AU" dirty="0">
              <a:solidFill>
                <a:schemeClr val="accent3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DAF9F3-FFA8-4571-BF7E-9F52F04F64A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233" t="19593" r="17433" b="15016"/>
          <a:stretch/>
        </p:blipFill>
        <p:spPr>
          <a:xfrm>
            <a:off x="5145443" y="1048463"/>
            <a:ext cx="3896956" cy="29642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42EA878-2374-4284-B480-B37ED2453892}"/>
              </a:ext>
            </a:extLst>
          </p:cNvPr>
          <p:cNvSpPr txBox="1"/>
          <p:nvPr/>
        </p:nvSpPr>
        <p:spPr>
          <a:xfrm>
            <a:off x="9583348" y="1335024"/>
            <a:ext cx="22869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Copy into your books and think about what the process would be to complete this question? What steps are needed to consider?</a:t>
            </a:r>
          </a:p>
          <a:p>
            <a:endParaRPr lang="en-US" sz="2000" b="1" dirty="0"/>
          </a:p>
          <a:p>
            <a:r>
              <a:rPr lang="en-US" sz="2000" b="1" dirty="0"/>
              <a:t>Be prepared to share your answers </a:t>
            </a:r>
          </a:p>
        </p:txBody>
      </p:sp>
    </p:spTree>
    <p:extLst>
      <p:ext uri="{BB962C8B-B14F-4D97-AF65-F5344CB8AC3E}">
        <p14:creationId xmlns:p14="http://schemas.microsoft.com/office/powerpoint/2010/main" val="3639054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10D1C-C52F-4092-B107-E88E506EF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4732244" cy="1499616"/>
          </a:xfrm>
        </p:spPr>
        <p:txBody>
          <a:bodyPr>
            <a:normAutofit/>
          </a:bodyPr>
          <a:lstStyle/>
          <a:p>
            <a:r>
              <a:rPr lang="en-AU" dirty="0"/>
              <a:t>CHALLENGE TIME!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BA030-F0A1-43A2-A797-43A1FF6BD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4656236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/>
              <a:t>What is the process to find x?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Hint: What do you know?</a:t>
            </a:r>
          </a:p>
          <a:p>
            <a:pPr>
              <a:buFont typeface="Wingdings" panose="05000000000000000000" pitchFamily="2" charset="2"/>
              <a:buChar char="v"/>
            </a:pPr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60E76B6-34F8-4E6C-92B8-6F8C71DE3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3275" y="0"/>
            <a:ext cx="610545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99ED165-830E-4E68-AB64-C96EA50B1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5009" y="321731"/>
            <a:ext cx="3932506" cy="36622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Image result for perimeter">
            <a:extLst>
              <a:ext uri="{FF2B5EF4-FFF2-40B4-BE49-F238E27FC236}">
                <a16:creationId xmlns:a16="http://schemas.microsoft.com/office/drawing/2014/main" id="{9D78CB10-A8E2-4816-ACC1-8F33E3F8F2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69894" y="803561"/>
            <a:ext cx="3602736" cy="2698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7" name="Rectangle 76">
            <a:extLst>
              <a:ext uri="{FF2B5EF4-FFF2-40B4-BE49-F238E27FC236}">
                <a16:creationId xmlns:a16="http://schemas.microsoft.com/office/drawing/2014/main" id="{51FF5BD5-2504-4FF6-B6AC-D06DBDFB7D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09128" y="321732"/>
            <a:ext cx="1352695" cy="3668542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88E98F08-4E7B-411E-AC2A-0419B8E76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5008" y="4157447"/>
            <a:ext cx="2104750" cy="2312282"/>
          </a:xfrm>
          <a:prstGeom prst="rect">
            <a:avLst/>
          </a:prstGeom>
          <a:solidFill>
            <a:schemeClr val="accent2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AD1333C-075B-4963-A1F6-A5D1E1002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0625" y="4157447"/>
            <a:ext cx="3206709" cy="23122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 descr="Image result for challenge accepted barney stinson">
            <a:extLst>
              <a:ext uri="{FF2B5EF4-FFF2-40B4-BE49-F238E27FC236}">
                <a16:creationId xmlns:a16="http://schemas.microsoft.com/office/drawing/2014/main" id="{9FE22959-40E5-4402-B207-F55DB9C44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949442" y="4321464"/>
            <a:ext cx="2649073" cy="1984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4346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91E209-E628-4C32-B571-BF00FB68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5902061" cy="1499616"/>
          </a:xfrm>
        </p:spPr>
        <p:txBody>
          <a:bodyPr>
            <a:normAutofit/>
          </a:bodyPr>
          <a:lstStyle/>
          <a:p>
            <a:r>
              <a:rPr lang="en-AU"/>
              <a:t>Thank you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A5B7C2-6C39-4AFA-9B5D-C3F3C81B9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5902061" cy="3931920"/>
          </a:xfrm>
        </p:spPr>
        <p:txBody>
          <a:bodyPr>
            <a:normAutofit lnSpcReduction="10000"/>
          </a:bodyPr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Keep up the good work!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Quote of the day – 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sz="4000">
                <a:latin typeface="Calibri" panose="020F0502020204030204" pitchFamily="34" charset="0"/>
                <a:cs typeface="Calibri" panose="020F0502020204030204" pitchFamily="34" charset="0"/>
              </a:rPr>
              <a:t>“THE WAY I SEE IT, IF YOU WANT A RAINBOW, YOU HAVE TO PUT UP WITH THE RAIN”</a:t>
            </a:r>
            <a:endParaRPr lang="en-AU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raphic 8" descr="Smiling Face with No Fill">
            <a:extLst>
              <a:ext uri="{FF2B5EF4-FFF2-40B4-BE49-F238E27FC236}">
                <a16:creationId xmlns:a16="http://schemas.microsoft.com/office/drawing/2014/main" id="{10954B83-DCF2-4288-9017-12D8B7B8E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2267" y="1429173"/>
            <a:ext cx="3999654" cy="399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2389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1367</TotalTime>
  <Words>657</Words>
  <Application>Microsoft Office PowerPoint</Application>
  <PresentationFormat>Widescreen</PresentationFormat>
  <Paragraphs>80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Georgia</vt:lpstr>
      <vt:lpstr>Tw Cen MT</vt:lpstr>
      <vt:lpstr>Tw Cen MT Condensed</vt:lpstr>
      <vt:lpstr>Wingdings</vt:lpstr>
      <vt:lpstr>Wingdings 3</vt:lpstr>
      <vt:lpstr>Integral</vt:lpstr>
      <vt:lpstr>Topic: application of addition to perimeter EQ: How do you use known and unknown information to find perimeter?</vt:lpstr>
      <vt:lpstr>Things Required For This Lesson</vt:lpstr>
      <vt:lpstr>PowerPoint Presentation</vt:lpstr>
      <vt:lpstr>Interleave Questions set 2 Q1-3</vt:lpstr>
      <vt:lpstr>Task (LHS) Think Pair Share</vt:lpstr>
      <vt:lpstr>Complete these questions – draw them too!</vt:lpstr>
      <vt:lpstr>Origin of the word perimeter</vt:lpstr>
      <vt:lpstr>Task (LHS) Think Pair Share</vt:lpstr>
      <vt:lpstr>Task (LHS) Think Pair Share</vt:lpstr>
      <vt:lpstr>Complete these questions – draw them too!</vt:lpstr>
      <vt:lpstr>Task (LHS) Think Pair Share report writing </vt:lpstr>
      <vt:lpstr>Task (LHS) Think Pair Share report writing </vt:lpstr>
      <vt:lpstr>CHALLENGE TIME!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application of addition to perimeter EQ: How do you use known and unknown information to find perimeter?</dc:title>
  <dc:creator>WATSON Justin [Baldivis Secondary College]</dc:creator>
  <cp:lastModifiedBy>WATSON Justin [Baldivis Secondary College]</cp:lastModifiedBy>
  <cp:revision>2</cp:revision>
  <dcterms:created xsi:type="dcterms:W3CDTF">2021-02-12T01:35:17Z</dcterms:created>
  <dcterms:modified xsi:type="dcterms:W3CDTF">2021-02-14T00:38:24Z</dcterms:modified>
</cp:coreProperties>
</file>
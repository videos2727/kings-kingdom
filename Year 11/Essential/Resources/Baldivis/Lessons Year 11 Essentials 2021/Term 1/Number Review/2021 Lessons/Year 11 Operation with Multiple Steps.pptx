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3"/>
  </p:notesMasterIdLst>
  <p:sldIdLst>
    <p:sldId id="256" r:id="rId2"/>
    <p:sldId id="257" r:id="rId3"/>
    <p:sldId id="311" r:id="rId4"/>
    <p:sldId id="335" r:id="rId5"/>
    <p:sldId id="350" r:id="rId6"/>
    <p:sldId id="343" r:id="rId7"/>
    <p:sldId id="354" r:id="rId8"/>
    <p:sldId id="356" r:id="rId9"/>
    <p:sldId id="360" r:id="rId10"/>
    <p:sldId id="358" r:id="rId11"/>
    <p:sldId id="32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75396" autoAdjust="0"/>
  </p:normalViewPr>
  <p:slideViewPr>
    <p:cSldViewPr snapToGrid="0">
      <p:cViewPr varScale="1">
        <p:scale>
          <a:sx n="86" d="100"/>
          <a:sy n="86" d="100"/>
        </p:scale>
        <p:origin x="63" y="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373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472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1810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13/03/2021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Operations with multiple steps</a:t>
            </a:r>
            <a:br>
              <a:rPr lang="en-AU" sz="4000" dirty="0"/>
            </a:br>
            <a:r>
              <a:rPr lang="en-AU" sz="4000" dirty="0"/>
              <a:t>EQ: How do I apply BIMDAS?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590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Operations with multiple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apply BIMDAS?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449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Operation with multiple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apply BIMDAS?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BIMDAS stand for?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621F2B6-EC05-4AA3-9807-D7D3B0E29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215413"/>
              </p:ext>
            </p:extLst>
          </p:nvPr>
        </p:nvGraphicFramePr>
        <p:xfrm>
          <a:off x="2651320" y="1555593"/>
          <a:ext cx="891436" cy="3787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36">
                  <a:extLst>
                    <a:ext uri="{9D8B030D-6E8A-4147-A177-3AD203B41FA5}">
                      <a16:colId xmlns:a16="http://schemas.microsoft.com/office/drawing/2014/main" val="3702910183"/>
                    </a:ext>
                  </a:extLst>
                </a:gridCol>
              </a:tblGrid>
              <a:tr h="63133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55943"/>
                  </a:ext>
                </a:extLst>
              </a:tr>
              <a:tr h="631332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145279"/>
                  </a:ext>
                </a:extLst>
              </a:tr>
              <a:tr h="631332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681216"/>
                  </a:ext>
                </a:extLst>
              </a:tr>
              <a:tr h="631332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91624"/>
                  </a:ext>
                </a:extLst>
              </a:tr>
              <a:tr h="631332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108514"/>
                  </a:ext>
                </a:extLst>
              </a:tr>
              <a:tr h="631332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763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C0758BF-8EB2-43CB-B62F-425E3CFE3876}"/>
              </a:ext>
            </a:extLst>
          </p:cNvPr>
          <p:cNvSpPr txBox="1"/>
          <p:nvPr/>
        </p:nvSpPr>
        <p:spPr>
          <a:xfrm>
            <a:off x="3638566" y="1626777"/>
            <a:ext cx="159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rackets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278F98-16E5-4A38-8862-38791D72C0B9}"/>
              </a:ext>
            </a:extLst>
          </p:cNvPr>
          <p:cNvSpPr txBox="1"/>
          <p:nvPr/>
        </p:nvSpPr>
        <p:spPr>
          <a:xfrm>
            <a:off x="3638566" y="2349984"/>
            <a:ext cx="159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ndices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8F7F99-CB5F-4175-9DD7-1B80E3CF46DB}"/>
              </a:ext>
            </a:extLst>
          </p:cNvPr>
          <p:cNvSpPr txBox="1"/>
          <p:nvPr/>
        </p:nvSpPr>
        <p:spPr>
          <a:xfrm>
            <a:off x="3682828" y="2956416"/>
            <a:ext cx="159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ultiplication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378DF2-1201-417F-9F85-B56D968C9A98}"/>
              </a:ext>
            </a:extLst>
          </p:cNvPr>
          <p:cNvSpPr txBox="1"/>
          <p:nvPr/>
        </p:nvSpPr>
        <p:spPr>
          <a:xfrm>
            <a:off x="3682828" y="3589402"/>
            <a:ext cx="159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ivision</a:t>
            </a:r>
            <a:endParaRPr lang="en-GB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73BE95-EE98-442C-8B9A-F15150539AF4}"/>
              </a:ext>
            </a:extLst>
          </p:cNvPr>
          <p:cNvSpPr txBox="1"/>
          <p:nvPr/>
        </p:nvSpPr>
        <p:spPr>
          <a:xfrm>
            <a:off x="3682828" y="4218896"/>
            <a:ext cx="159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ddition</a:t>
            </a:r>
            <a:endParaRPr lang="en-GB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1B2239-B3C6-434F-A5D5-7F4299F6E0B7}"/>
              </a:ext>
            </a:extLst>
          </p:cNvPr>
          <p:cNvSpPr txBox="1"/>
          <p:nvPr/>
        </p:nvSpPr>
        <p:spPr>
          <a:xfrm>
            <a:off x="3682828" y="4769131"/>
            <a:ext cx="159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ubtraction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449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Operation with multiple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apply BIMDAS?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you apply BIMDAS?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9389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BIMDAS is the order in which mathematic operations should be done. To do the calculations we go down in the order describe below (from left to right).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>
              <a:solidFill>
                <a:prstClr val="black"/>
              </a:solidFill>
              <a:latin typeface="Tw Cen MT" panose="020B06020201040206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We can think of this as a “staircase”.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0A639DD8-085B-405A-8E38-7AEBB9501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36977"/>
              </p:ext>
            </p:extLst>
          </p:nvPr>
        </p:nvGraphicFramePr>
        <p:xfrm>
          <a:off x="2935390" y="2691244"/>
          <a:ext cx="8902440" cy="3653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740">
                  <a:extLst>
                    <a:ext uri="{9D8B030D-6E8A-4147-A177-3AD203B41FA5}">
                      <a16:colId xmlns:a16="http://schemas.microsoft.com/office/drawing/2014/main" val="1999325906"/>
                    </a:ext>
                  </a:extLst>
                </a:gridCol>
                <a:gridCol w="934266">
                  <a:extLst>
                    <a:ext uri="{9D8B030D-6E8A-4147-A177-3AD203B41FA5}">
                      <a16:colId xmlns:a16="http://schemas.microsoft.com/office/drawing/2014/main" val="1085253384"/>
                    </a:ext>
                  </a:extLst>
                </a:gridCol>
                <a:gridCol w="2443942">
                  <a:extLst>
                    <a:ext uri="{9D8B030D-6E8A-4147-A177-3AD203B41FA5}">
                      <a16:colId xmlns:a16="http://schemas.microsoft.com/office/drawing/2014/main" val="2999283037"/>
                    </a:ext>
                  </a:extLst>
                </a:gridCol>
                <a:gridCol w="2328627">
                  <a:extLst>
                    <a:ext uri="{9D8B030D-6E8A-4147-A177-3AD203B41FA5}">
                      <a16:colId xmlns:a16="http://schemas.microsoft.com/office/drawing/2014/main" val="34419957"/>
                    </a:ext>
                  </a:extLst>
                </a:gridCol>
                <a:gridCol w="228125">
                  <a:extLst>
                    <a:ext uri="{9D8B030D-6E8A-4147-A177-3AD203B41FA5}">
                      <a16:colId xmlns:a16="http://schemas.microsoft.com/office/drawing/2014/main" val="4020057611"/>
                    </a:ext>
                  </a:extLst>
                </a:gridCol>
                <a:gridCol w="1483740">
                  <a:extLst>
                    <a:ext uri="{9D8B030D-6E8A-4147-A177-3AD203B41FA5}">
                      <a16:colId xmlns:a16="http://schemas.microsoft.com/office/drawing/2014/main" val="2030791443"/>
                    </a:ext>
                  </a:extLst>
                </a:gridCol>
              </a:tblGrid>
              <a:tr h="543241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940457"/>
                  </a:ext>
                </a:extLst>
              </a:tr>
              <a:tr h="543241"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082375"/>
                  </a:ext>
                </a:extLst>
              </a:tr>
              <a:tr h="543241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Addition/Subtraction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311705"/>
                  </a:ext>
                </a:extLst>
              </a:tr>
              <a:tr h="937649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Multiplication/Division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44672"/>
                  </a:ext>
                </a:extLst>
              </a:tr>
              <a:tr h="543241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Indices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125272"/>
                  </a:ext>
                </a:extLst>
              </a:tr>
              <a:tr h="543241">
                <a:tc>
                  <a:txBody>
                    <a:bodyPr/>
                    <a:lstStyle/>
                    <a:p>
                      <a:r>
                        <a:rPr lang="en-GB" b="1" dirty="0"/>
                        <a:t>Brackets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99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19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55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Division with arrays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apply BIMDAS?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Applying BIMDAS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32329" y="1584276"/>
                <a:ext cx="28357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−6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329" y="1584276"/>
                <a:ext cx="283571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E1D8279-6C76-4B64-8B56-4348B30FDD98}"/>
              </a:ext>
            </a:extLst>
          </p:cNvPr>
          <p:cNvSpPr txBox="1"/>
          <p:nvPr/>
        </p:nvSpPr>
        <p:spPr>
          <a:xfrm>
            <a:off x="6824171" y="3825079"/>
            <a:ext cx="50158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Steps:</a:t>
            </a:r>
          </a:p>
          <a:p>
            <a:pPr marL="342900" indent="-342900">
              <a:buAutoNum type="arabicParenR"/>
            </a:pPr>
            <a:r>
              <a:rPr lang="en-GB" sz="2400" dirty="0"/>
              <a:t>Equation has no bracket and indices so move to multiplication</a:t>
            </a:r>
          </a:p>
          <a:p>
            <a:pPr marL="342900" indent="-342900">
              <a:buAutoNum type="arabicParenR"/>
            </a:pPr>
            <a:r>
              <a:rPr lang="en-GB" sz="2400" dirty="0"/>
              <a:t>Once you solve the multiplication, answer it from left to right</a:t>
            </a:r>
          </a:p>
          <a:p>
            <a:pPr marL="342900" indent="-342900">
              <a:buAutoNum type="arabicParenR"/>
            </a:pPr>
            <a:r>
              <a:rPr lang="en-GB" sz="2400" dirty="0"/>
              <a:t>Do the addition before the subtraction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3B6C49-3948-496F-9559-5C1320CB996B}"/>
                  </a:ext>
                </a:extLst>
              </p:cNvPr>
              <p:cNvSpPr txBox="1"/>
              <p:nvPr/>
            </p:nvSpPr>
            <p:spPr>
              <a:xfrm>
                <a:off x="2757886" y="3067325"/>
                <a:ext cx="24197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highlight>
                            <a:srgbClr val="00FFFF"/>
                          </a:highligh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highlight>
                            <a:srgbClr val="00FFFF"/>
                          </a:highlight>
                          <a:latin typeface="Cambria Math" panose="02040503050406030204" pitchFamily="18" charset="0"/>
                        </a:rPr>
                        <m:t>2+10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−6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3B6C49-3948-496F-9559-5C1320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886" y="3067325"/>
                <a:ext cx="241970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6D92AE-C976-4D55-861D-AA807E2A242A}"/>
                  </a:ext>
                </a:extLst>
              </p:cNvPr>
              <p:cNvSpPr txBox="1"/>
              <p:nvPr/>
            </p:nvSpPr>
            <p:spPr>
              <a:xfrm>
                <a:off x="2859903" y="4494344"/>
                <a:ext cx="17748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−6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0" lang="en-AU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6D92AE-C976-4D55-861D-AA807E2A2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03" y="4494344"/>
                <a:ext cx="177484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27766AA6-0EF0-46E0-8799-CE1E18820C9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417"/>
          <a:stretch/>
        </p:blipFill>
        <p:spPr>
          <a:xfrm>
            <a:off x="5643947" y="1388302"/>
            <a:ext cx="6465531" cy="226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6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F9D0-812A-43FA-A3E7-77304E32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93BF23-46CE-46D6-A767-A6C4EB4D6A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×3−16=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endParaRPr lang="en-AU" sz="28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÷4−2+12=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endParaRPr lang="en-AU" sz="28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×5−15+3−2=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93BF23-46CE-46D6-A767-A6C4EB4D6A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29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449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Operation with multiple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apply BIMDAS?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Applying BIMDAS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32329" y="1584276"/>
                <a:ext cx="31238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800" b="0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0" lang="en-AU" sz="2800" b="0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 </m:t>
                      </m:r>
                      <m:r>
                        <a:rPr kumimoji="0" lang="en-AU" sz="2800" b="0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(4−10÷2)</m:t>
                      </m:r>
                    </m:oMath>
                  </m:oMathPara>
                </a14:m>
                <a:endParaRPr kumimoji="0" lang="en-AU" sz="2800" b="0" i="0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329" y="1584276"/>
                <a:ext cx="312386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E1D8279-6C76-4B64-8B56-4348B30FDD98}"/>
              </a:ext>
            </a:extLst>
          </p:cNvPr>
          <p:cNvSpPr txBox="1"/>
          <p:nvPr/>
        </p:nvSpPr>
        <p:spPr>
          <a:xfrm>
            <a:off x="6504661" y="4150820"/>
            <a:ext cx="55560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Steps: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Look at the bracket equation first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Tw Cen MT" panose="020B0602020104020603"/>
              </a:rPr>
              <a:t>Solve the division next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Tw Cen MT" panose="020B0602020104020603"/>
              </a:rPr>
              <a:t>Once you solve, find the answer for the bracket.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Multiply </a:t>
            </a:r>
            <a:r>
              <a:rPr lang="en-GB" sz="2400" dirty="0">
                <a:solidFill>
                  <a:prstClr val="black"/>
                </a:solidFill>
                <a:latin typeface="Tw Cen MT" panose="020B0602020104020603"/>
              </a:rPr>
              <a:t>to finish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CF7611-CC9E-4EEA-9613-56AF0E1C4E24}"/>
                  </a:ext>
                </a:extLst>
              </p:cNvPr>
              <p:cNvSpPr txBox="1"/>
              <p:nvPr/>
            </p:nvSpPr>
            <p:spPr>
              <a:xfrm>
                <a:off x="2784976" y="2612283"/>
                <a:ext cx="31238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 (4−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10÷2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CF7611-CC9E-4EEA-9613-56AF0E1C4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976" y="2612283"/>
                <a:ext cx="312386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66FC82-48CB-4164-B3D5-086DE3F997FC}"/>
                  </a:ext>
                </a:extLst>
              </p:cNvPr>
              <p:cNvSpPr txBox="1"/>
              <p:nvPr/>
            </p:nvSpPr>
            <p:spPr>
              <a:xfrm>
                <a:off x="2784976" y="3566211"/>
                <a:ext cx="22990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 (4−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66FC82-48CB-4164-B3D5-086DE3F99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976" y="3566211"/>
                <a:ext cx="229909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B27458-1B88-4E72-BFFE-75647B060448}"/>
                  </a:ext>
                </a:extLst>
              </p:cNvPr>
              <p:cNvSpPr txBox="1"/>
              <p:nvPr/>
            </p:nvSpPr>
            <p:spPr>
              <a:xfrm>
                <a:off x="2784976" y="4520139"/>
                <a:ext cx="19407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 (−1)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B27458-1B88-4E72-BFFE-75647B060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976" y="4520139"/>
                <a:ext cx="194078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DBADA1-6EBE-41F9-95ED-E15F0A1C5759}"/>
                  </a:ext>
                </a:extLst>
              </p:cNvPr>
              <p:cNvSpPr txBox="1"/>
              <p:nvPr/>
            </p:nvSpPr>
            <p:spPr>
              <a:xfrm>
                <a:off x="2808637" y="5474067"/>
                <a:ext cx="30731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=−10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DBADA1-6EBE-41F9-95ED-E15F0A1C5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637" y="5474067"/>
                <a:ext cx="30731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AA3E9F6B-137C-4912-9EE6-9924A32552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1786" y="1369607"/>
            <a:ext cx="6178927" cy="246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64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AECF-ABBA-469C-AFBA-029B739C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02C50-04A6-48E4-B0DB-427C9326E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BEF88-4E64-4847-80C1-103D078C6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35" y="2206744"/>
            <a:ext cx="10314208" cy="410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7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9210-AB36-4514-A827-B2E55873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(LHS)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8F32-92BE-4C2D-8EDB-585403AF0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 Set A and B in your interleaved books (page 26)</a:t>
            </a:r>
          </a:p>
        </p:txBody>
      </p:sp>
    </p:spTree>
    <p:extLst>
      <p:ext uri="{BB962C8B-B14F-4D97-AF65-F5344CB8AC3E}">
        <p14:creationId xmlns:p14="http://schemas.microsoft.com/office/powerpoint/2010/main" val="337718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“Good, better, best.</a:t>
            </a: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Never let it rest,</a:t>
            </a: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until your good is better,</a:t>
            </a: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and your better is best”</a:t>
            </a: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3427</TotalTime>
  <Words>403</Words>
  <Application>Microsoft Office PowerPoint</Application>
  <PresentationFormat>Widescreen</PresentationFormat>
  <Paragraphs>101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Operations with multiple steps EQ: How do I apply BIMDAS?</vt:lpstr>
      <vt:lpstr>Things Required For This Lesson</vt:lpstr>
      <vt:lpstr>PowerPoint Presentation</vt:lpstr>
      <vt:lpstr>PowerPoint Presentation</vt:lpstr>
      <vt:lpstr>PowerPoint Presentation</vt:lpstr>
      <vt:lpstr>PowerPoint Presentation</vt:lpstr>
      <vt:lpstr>PRACTICE (LHS)</vt:lpstr>
      <vt:lpstr>PowerPoint Presentation</vt:lpstr>
      <vt:lpstr>Practice (LHS)</vt:lpstr>
      <vt:lpstr>Practice (LHS)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Tony Nguyen</cp:lastModifiedBy>
  <cp:revision>50</cp:revision>
  <dcterms:created xsi:type="dcterms:W3CDTF">2021-02-11T13:20:57Z</dcterms:created>
  <dcterms:modified xsi:type="dcterms:W3CDTF">2021-03-13T03:52:00Z</dcterms:modified>
</cp:coreProperties>
</file>
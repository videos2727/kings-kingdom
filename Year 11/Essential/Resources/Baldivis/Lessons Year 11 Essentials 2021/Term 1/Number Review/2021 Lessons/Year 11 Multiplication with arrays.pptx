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22"/>
  </p:notesMasterIdLst>
  <p:sldIdLst>
    <p:sldId id="256" r:id="rId2"/>
    <p:sldId id="257" r:id="rId3"/>
    <p:sldId id="311" r:id="rId4"/>
    <p:sldId id="355" r:id="rId5"/>
    <p:sldId id="335" r:id="rId6"/>
    <p:sldId id="356" r:id="rId7"/>
    <p:sldId id="337" r:id="rId8"/>
    <p:sldId id="329" r:id="rId9"/>
    <p:sldId id="341" r:id="rId10"/>
    <p:sldId id="339" r:id="rId11"/>
    <p:sldId id="340" r:id="rId12"/>
    <p:sldId id="338" r:id="rId13"/>
    <p:sldId id="361" r:id="rId14"/>
    <p:sldId id="363" r:id="rId15"/>
    <p:sldId id="362" r:id="rId16"/>
    <p:sldId id="358" r:id="rId17"/>
    <p:sldId id="364" r:id="rId18"/>
    <p:sldId id="312" r:id="rId19"/>
    <p:sldId id="359" r:id="rId20"/>
    <p:sldId id="32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8" autoAdjust="0"/>
    <p:restoredTop sz="75396" autoAdjust="0"/>
  </p:normalViewPr>
  <p:slideViewPr>
    <p:cSldViewPr snapToGrid="0">
      <p:cViewPr varScale="1">
        <p:scale>
          <a:sx n="65" d="100"/>
          <a:sy n="65" d="100"/>
        </p:scale>
        <p:origin x="78" y="6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24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975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315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post-it notes pre-prepared with -50, 25, 0, -75, 50, 75 for whole class display on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0663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Multiplication with arrays</a:t>
            </a:r>
            <a:br>
              <a:rPr lang="en-AU" sz="4000" dirty="0"/>
            </a:br>
            <a:r>
              <a:rPr lang="en-AU" sz="4000" dirty="0"/>
              <a:t>EQ: How do you apply the array strategy?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8386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Multiplication with arrays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you apply the array strategy?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>
                <a:latin typeface="Calibri" panose="020F0502020204030204" pitchFamily="34" charset="0"/>
                <a:cs typeface="Calibri" panose="020F0502020204030204" pitchFamily="34" charset="0"/>
              </a:rPr>
              <a:t>Date: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587F-E6D0-4D12-B0C1-40AFFF211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7456" y="1163229"/>
            <a:ext cx="3340333" cy="1499616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Topic: Division with array</a:t>
            </a:r>
            <a:br>
              <a:rPr lang="en-GB" sz="3200" dirty="0"/>
            </a:br>
            <a:br>
              <a:rPr lang="en-GB" sz="3200" dirty="0"/>
            </a:br>
            <a:r>
              <a:rPr lang="en-GB" sz="3200" dirty="0"/>
              <a:t>EQ:</a:t>
            </a:r>
            <a:r>
              <a:rPr lang="en-AU" sz="3200" dirty="0"/>
              <a:t> How do I apply the division with array strategy?</a:t>
            </a: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92691-ACFD-4AC6-BD4C-F9B8852D8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2628" y="5037511"/>
            <a:ext cx="2000597" cy="1415935"/>
          </a:xfrm>
        </p:spPr>
        <p:txBody>
          <a:bodyPr/>
          <a:lstStyle/>
          <a:p>
            <a:r>
              <a:rPr lang="en-GB" dirty="0"/>
              <a:t>Interleaved Questions: Set 4 page 134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35FE10-9E77-4466-B36D-B2309C0E8E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000"/>
          <a:stretch/>
        </p:blipFill>
        <p:spPr>
          <a:xfrm>
            <a:off x="188422" y="821575"/>
            <a:ext cx="8279079" cy="318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67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8386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Multiplication with arrays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you apply the array strategy?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1" y="1474838"/>
            <a:ext cx="1766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an array?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0181" y="1474839"/>
            <a:ext cx="4427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set of objects or numbers arranged in order,</a:t>
            </a:r>
            <a:br>
              <a:rPr lang="en-GB" dirty="0"/>
            </a:br>
            <a:r>
              <a:rPr lang="en-GB" dirty="0"/>
              <a:t>often in rows and columns.</a:t>
            </a:r>
            <a:endParaRPr lang="en-A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031CAA-F6E1-48BB-8DDD-0CDFDEC0F48C}"/>
              </a:ext>
            </a:extLst>
          </p:cNvPr>
          <p:cNvSpPr txBox="1"/>
          <p:nvPr/>
        </p:nvSpPr>
        <p:spPr>
          <a:xfrm flipH="1">
            <a:off x="333401" y="3002582"/>
            <a:ext cx="1766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product mean?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7C05F3-12D9-4C91-B029-266217C4F63D}"/>
              </a:ext>
            </a:extLst>
          </p:cNvPr>
          <p:cNvSpPr txBox="1"/>
          <p:nvPr/>
        </p:nvSpPr>
        <p:spPr>
          <a:xfrm>
            <a:off x="2651320" y="3244334"/>
            <a:ext cx="6168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result when two numbers are multiplied.</a:t>
            </a:r>
          </a:p>
        </p:txBody>
      </p:sp>
    </p:spTree>
    <p:extLst>
      <p:ext uri="{BB962C8B-B14F-4D97-AF65-F5344CB8AC3E}">
        <p14:creationId xmlns:p14="http://schemas.microsoft.com/office/powerpoint/2010/main" val="3029663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8386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Multiplication with arrays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you apply the array strategy?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1" y="1474838"/>
            <a:ext cx="1766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What is an multiplication array?</a:t>
            </a:r>
          </a:p>
        </p:txBody>
      </p:sp>
      <p:pic>
        <p:nvPicPr>
          <p:cNvPr id="7" name="Picture 6" descr="A picture containing text, shoji&#10;&#10;Description automatically generated">
            <a:extLst>
              <a:ext uri="{FF2B5EF4-FFF2-40B4-BE49-F238E27FC236}">
                <a16:creationId xmlns:a16="http://schemas.microsoft.com/office/drawing/2014/main" id="{228B03AE-697E-43E4-9890-C360C8203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464" y="3647590"/>
            <a:ext cx="7580019" cy="25847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F74ED7-E4A7-44F7-8685-B13647AB5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320" y="1555593"/>
            <a:ext cx="8585290" cy="7709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105F20-2F68-46BC-A958-485D7FDDEB11}"/>
              </a:ext>
            </a:extLst>
          </p:cNvPr>
          <p:cNvSpPr txBox="1"/>
          <p:nvPr/>
        </p:nvSpPr>
        <p:spPr>
          <a:xfrm>
            <a:off x="2651320" y="2689070"/>
            <a:ext cx="5608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Factors are the rows and columns, multiple is the area</a:t>
            </a:r>
          </a:p>
        </p:txBody>
      </p:sp>
    </p:spTree>
    <p:extLst>
      <p:ext uri="{BB962C8B-B14F-4D97-AF65-F5344CB8AC3E}">
        <p14:creationId xmlns:p14="http://schemas.microsoft.com/office/powerpoint/2010/main" val="38528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E3F14CD-16A9-427C-94CA-49FFD066C3AD}"/>
              </a:ext>
            </a:extLst>
          </p:cNvPr>
          <p:cNvSpPr txBox="1">
            <a:spLocks/>
          </p:cNvSpPr>
          <p:nvPr/>
        </p:nvSpPr>
        <p:spPr>
          <a:xfrm>
            <a:off x="359110" y="358002"/>
            <a:ext cx="8018272" cy="149961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Examples of arrays:</a:t>
            </a:r>
            <a:endParaRPr lang="en-AU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184ED7-5015-4BA6-95E5-3C4FBA2D0550}"/>
              </a:ext>
            </a:extLst>
          </p:cNvPr>
          <p:cNvSpPr txBox="1"/>
          <p:nvPr/>
        </p:nvSpPr>
        <p:spPr>
          <a:xfrm>
            <a:off x="2953789" y="131171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This array has 4 rows and 3 columns. It can also be described as a 4 by 3 array. The equation could represented as: 4 × 3.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D254A3-1032-4A40-A01F-1088B5776F21}"/>
              </a:ext>
            </a:extLst>
          </p:cNvPr>
          <p:cNvSpPr txBox="1"/>
          <p:nvPr/>
        </p:nvSpPr>
        <p:spPr>
          <a:xfrm>
            <a:off x="3203170" y="38608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This array has 5 rows and 4 columns. It is a 5 by 4 array. The equation would be represented as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9EF3143-5A6F-48DD-875D-7B2908492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700654"/>
              </p:ext>
            </p:extLst>
          </p:nvPr>
        </p:nvGraphicFramePr>
        <p:xfrm>
          <a:off x="359110" y="1258593"/>
          <a:ext cx="2301702" cy="2982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234">
                  <a:extLst>
                    <a:ext uri="{9D8B030D-6E8A-4147-A177-3AD203B41FA5}">
                      <a16:colId xmlns:a16="http://schemas.microsoft.com/office/drawing/2014/main" val="3674044229"/>
                    </a:ext>
                  </a:extLst>
                </a:gridCol>
                <a:gridCol w="767234">
                  <a:extLst>
                    <a:ext uri="{9D8B030D-6E8A-4147-A177-3AD203B41FA5}">
                      <a16:colId xmlns:a16="http://schemas.microsoft.com/office/drawing/2014/main" val="286419371"/>
                    </a:ext>
                  </a:extLst>
                </a:gridCol>
                <a:gridCol w="767234">
                  <a:extLst>
                    <a:ext uri="{9D8B030D-6E8A-4147-A177-3AD203B41FA5}">
                      <a16:colId xmlns:a16="http://schemas.microsoft.com/office/drawing/2014/main" val="2980109410"/>
                    </a:ext>
                  </a:extLst>
                </a:gridCol>
              </a:tblGrid>
              <a:tr h="74556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045755"/>
                  </a:ext>
                </a:extLst>
              </a:tr>
              <a:tr h="74556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913829"/>
                  </a:ext>
                </a:extLst>
              </a:tr>
              <a:tr h="74556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23441"/>
                  </a:ext>
                </a:extLst>
              </a:tr>
              <a:tr h="745567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912220"/>
                  </a:ext>
                </a:extLst>
              </a:tr>
            </a:tbl>
          </a:graphicData>
        </a:graphic>
      </p:graphicFrame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D80293A-E9EE-4D85-AF1C-C71FF60B6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874404"/>
              </p:ext>
            </p:extLst>
          </p:nvPr>
        </p:nvGraphicFramePr>
        <p:xfrm>
          <a:off x="9299170" y="3429000"/>
          <a:ext cx="2589876" cy="3192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469">
                  <a:extLst>
                    <a:ext uri="{9D8B030D-6E8A-4147-A177-3AD203B41FA5}">
                      <a16:colId xmlns:a16="http://schemas.microsoft.com/office/drawing/2014/main" val="3013897777"/>
                    </a:ext>
                  </a:extLst>
                </a:gridCol>
                <a:gridCol w="647469">
                  <a:extLst>
                    <a:ext uri="{9D8B030D-6E8A-4147-A177-3AD203B41FA5}">
                      <a16:colId xmlns:a16="http://schemas.microsoft.com/office/drawing/2014/main" val="2292540066"/>
                    </a:ext>
                  </a:extLst>
                </a:gridCol>
                <a:gridCol w="647469">
                  <a:extLst>
                    <a:ext uri="{9D8B030D-6E8A-4147-A177-3AD203B41FA5}">
                      <a16:colId xmlns:a16="http://schemas.microsoft.com/office/drawing/2014/main" val="583520253"/>
                    </a:ext>
                  </a:extLst>
                </a:gridCol>
                <a:gridCol w="647469">
                  <a:extLst>
                    <a:ext uri="{9D8B030D-6E8A-4147-A177-3AD203B41FA5}">
                      <a16:colId xmlns:a16="http://schemas.microsoft.com/office/drawing/2014/main" val="1856625781"/>
                    </a:ext>
                  </a:extLst>
                </a:gridCol>
              </a:tblGrid>
              <a:tr h="63857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342198"/>
                  </a:ext>
                </a:extLst>
              </a:tr>
              <a:tr h="63857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109844"/>
                  </a:ext>
                </a:extLst>
              </a:tr>
              <a:tr h="63857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344528"/>
                  </a:ext>
                </a:extLst>
              </a:tr>
              <a:tr h="63857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669272"/>
                  </a:ext>
                </a:extLst>
              </a:tr>
              <a:tr h="63857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853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2896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6" cy="1499616"/>
          </a:xfrm>
        </p:spPr>
        <p:txBody>
          <a:bodyPr>
            <a:normAutofit/>
          </a:bodyPr>
          <a:lstStyle/>
          <a:p>
            <a:r>
              <a:rPr lang="en-AU" dirty="0"/>
              <a:t>Experiment (LHS)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954" y="1643149"/>
            <a:ext cx="10114926" cy="402336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Count each of the rectangles below to determine how many squares make up the area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965E720-9061-45E4-BD92-5D11C5FB9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009199"/>
              </p:ext>
            </p:extLst>
          </p:nvPr>
        </p:nvGraphicFramePr>
        <p:xfrm>
          <a:off x="580783" y="2737659"/>
          <a:ext cx="11140155" cy="2970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77">
                  <a:extLst>
                    <a:ext uri="{9D8B030D-6E8A-4147-A177-3AD203B41FA5}">
                      <a16:colId xmlns:a16="http://schemas.microsoft.com/office/drawing/2014/main" val="2063660257"/>
                    </a:ext>
                  </a:extLst>
                </a:gridCol>
                <a:gridCol w="742677">
                  <a:extLst>
                    <a:ext uri="{9D8B030D-6E8A-4147-A177-3AD203B41FA5}">
                      <a16:colId xmlns:a16="http://schemas.microsoft.com/office/drawing/2014/main" val="2460114125"/>
                    </a:ext>
                  </a:extLst>
                </a:gridCol>
                <a:gridCol w="742677">
                  <a:extLst>
                    <a:ext uri="{9D8B030D-6E8A-4147-A177-3AD203B41FA5}">
                      <a16:colId xmlns:a16="http://schemas.microsoft.com/office/drawing/2014/main" val="1172270074"/>
                    </a:ext>
                  </a:extLst>
                </a:gridCol>
                <a:gridCol w="742677">
                  <a:extLst>
                    <a:ext uri="{9D8B030D-6E8A-4147-A177-3AD203B41FA5}">
                      <a16:colId xmlns:a16="http://schemas.microsoft.com/office/drawing/2014/main" val="2833527826"/>
                    </a:ext>
                  </a:extLst>
                </a:gridCol>
                <a:gridCol w="742677">
                  <a:extLst>
                    <a:ext uri="{9D8B030D-6E8A-4147-A177-3AD203B41FA5}">
                      <a16:colId xmlns:a16="http://schemas.microsoft.com/office/drawing/2014/main" val="529211680"/>
                    </a:ext>
                  </a:extLst>
                </a:gridCol>
                <a:gridCol w="742677">
                  <a:extLst>
                    <a:ext uri="{9D8B030D-6E8A-4147-A177-3AD203B41FA5}">
                      <a16:colId xmlns:a16="http://schemas.microsoft.com/office/drawing/2014/main" val="2134903145"/>
                    </a:ext>
                  </a:extLst>
                </a:gridCol>
                <a:gridCol w="742677">
                  <a:extLst>
                    <a:ext uri="{9D8B030D-6E8A-4147-A177-3AD203B41FA5}">
                      <a16:colId xmlns:a16="http://schemas.microsoft.com/office/drawing/2014/main" val="159644892"/>
                    </a:ext>
                  </a:extLst>
                </a:gridCol>
                <a:gridCol w="742677">
                  <a:extLst>
                    <a:ext uri="{9D8B030D-6E8A-4147-A177-3AD203B41FA5}">
                      <a16:colId xmlns:a16="http://schemas.microsoft.com/office/drawing/2014/main" val="722029662"/>
                    </a:ext>
                  </a:extLst>
                </a:gridCol>
                <a:gridCol w="742677">
                  <a:extLst>
                    <a:ext uri="{9D8B030D-6E8A-4147-A177-3AD203B41FA5}">
                      <a16:colId xmlns:a16="http://schemas.microsoft.com/office/drawing/2014/main" val="1230764473"/>
                    </a:ext>
                  </a:extLst>
                </a:gridCol>
                <a:gridCol w="742677">
                  <a:extLst>
                    <a:ext uri="{9D8B030D-6E8A-4147-A177-3AD203B41FA5}">
                      <a16:colId xmlns:a16="http://schemas.microsoft.com/office/drawing/2014/main" val="3330139228"/>
                    </a:ext>
                  </a:extLst>
                </a:gridCol>
                <a:gridCol w="742677">
                  <a:extLst>
                    <a:ext uri="{9D8B030D-6E8A-4147-A177-3AD203B41FA5}">
                      <a16:colId xmlns:a16="http://schemas.microsoft.com/office/drawing/2014/main" val="613322652"/>
                    </a:ext>
                  </a:extLst>
                </a:gridCol>
                <a:gridCol w="742677">
                  <a:extLst>
                    <a:ext uri="{9D8B030D-6E8A-4147-A177-3AD203B41FA5}">
                      <a16:colId xmlns:a16="http://schemas.microsoft.com/office/drawing/2014/main" val="3225148556"/>
                    </a:ext>
                  </a:extLst>
                </a:gridCol>
                <a:gridCol w="742677">
                  <a:extLst>
                    <a:ext uri="{9D8B030D-6E8A-4147-A177-3AD203B41FA5}">
                      <a16:colId xmlns:a16="http://schemas.microsoft.com/office/drawing/2014/main" val="357342601"/>
                    </a:ext>
                  </a:extLst>
                </a:gridCol>
                <a:gridCol w="742677">
                  <a:extLst>
                    <a:ext uri="{9D8B030D-6E8A-4147-A177-3AD203B41FA5}">
                      <a16:colId xmlns:a16="http://schemas.microsoft.com/office/drawing/2014/main" val="891740177"/>
                    </a:ext>
                  </a:extLst>
                </a:gridCol>
                <a:gridCol w="742677">
                  <a:extLst>
                    <a:ext uri="{9D8B030D-6E8A-4147-A177-3AD203B41FA5}">
                      <a16:colId xmlns:a16="http://schemas.microsoft.com/office/drawing/2014/main" val="1406525726"/>
                    </a:ext>
                  </a:extLst>
                </a:gridCol>
              </a:tblGrid>
              <a:tr h="7426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239589"/>
                  </a:ext>
                </a:extLst>
              </a:tr>
              <a:tr h="7426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097679"/>
                  </a:ext>
                </a:extLst>
              </a:tr>
              <a:tr h="74260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390059"/>
                  </a:ext>
                </a:extLst>
              </a:tr>
              <a:tr h="74260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633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9800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C8445-DF4A-4B1A-A5B8-03288B6E2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(LHS)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E0CE8-6EA8-4118-BC02-B52256E6C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3315755" cy="4023360"/>
          </a:xfrm>
        </p:spPr>
        <p:txBody>
          <a:bodyPr/>
          <a:lstStyle/>
          <a:p>
            <a:r>
              <a:rPr lang="en-GB" dirty="0"/>
              <a:t>Look at these arrays and change them into multiplication sentences.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C8AA2-EF4D-4499-BEDE-94A010C51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257175"/>
            <a:ext cx="7410450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905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AF0EFA-A1AA-4F4F-A988-5596045BC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77393" cy="25902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E22CCD-43CA-4D2E-A562-86825CB9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094" y="4525155"/>
            <a:ext cx="3495906" cy="2332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C3B091-CFD4-4892-B30B-275EA8D01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8032" y="2286000"/>
            <a:ext cx="3621355" cy="2416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201253-0490-4A76-89AA-B9FD785BBB07}"/>
              </a:ext>
            </a:extLst>
          </p:cNvPr>
          <p:cNvSpPr txBox="1"/>
          <p:nvPr/>
        </p:nvSpPr>
        <p:spPr>
          <a:xfrm>
            <a:off x="3596640" y="925799"/>
            <a:ext cx="7370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avoid having to count every square, the array model of multiplication uses the number of rows and number of columns in an array to illustrate the </a:t>
            </a:r>
            <a:r>
              <a:rPr lang="en-GB" dirty="0">
                <a:solidFill>
                  <a:srgbClr val="FF0000"/>
                </a:solidFill>
              </a:rPr>
              <a:t>product</a:t>
            </a:r>
            <a:r>
              <a:rPr lang="en-GB" dirty="0"/>
              <a:t> of two numbers.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3D2CCC-870A-4A55-A603-03DB7849A1FD}"/>
              </a:ext>
            </a:extLst>
          </p:cNvPr>
          <p:cNvSpPr txBox="1"/>
          <p:nvPr/>
        </p:nvSpPr>
        <p:spPr>
          <a:xfrm>
            <a:off x="322723" y="3601825"/>
            <a:ext cx="3911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product of an array can be multiplied by counting the rows and columns</a:t>
            </a:r>
          </a:p>
        </p:txBody>
      </p:sp>
    </p:spTree>
    <p:extLst>
      <p:ext uri="{BB962C8B-B14F-4D97-AF65-F5344CB8AC3E}">
        <p14:creationId xmlns:p14="http://schemas.microsoft.com/office/powerpoint/2010/main" val="137598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9A55CE-CD26-42BE-86BA-C8BC8B220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44" y="1263534"/>
            <a:ext cx="11089858" cy="475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56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4447B9B-86DA-44D8-A47F-C1EEAD234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592B85-3A67-4F07-9315-79065B1DB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26">
            <a:extLst>
              <a:ext uri="{FF2B5EF4-FFF2-40B4-BE49-F238E27FC236}">
                <a16:creationId xmlns:a16="http://schemas.microsoft.com/office/drawing/2014/main" id="{AE446995-A354-4D26-890E-44EFDA534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8">
            <a:extLst>
              <a:ext uri="{FF2B5EF4-FFF2-40B4-BE49-F238E27FC236}">
                <a16:creationId xmlns:a16="http://schemas.microsoft.com/office/drawing/2014/main" id="{84C6697E-A1CB-4B45-93E6-A6425AFD5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AB7B09-B6F2-4D48-AE6B-7F2722DC6955}"/>
              </a:ext>
            </a:extLst>
          </p:cNvPr>
          <p:cNvSpPr txBox="1">
            <a:spLocks/>
          </p:cNvSpPr>
          <p:nvPr/>
        </p:nvSpPr>
        <p:spPr>
          <a:xfrm>
            <a:off x="634276" y="640080"/>
            <a:ext cx="4208656" cy="30348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4400" spc="200" dirty="0">
                <a:solidFill>
                  <a:srgbClr val="FFFFFF"/>
                </a:solidFill>
              </a:rPr>
              <a:t>Find the area of these arrays: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00556F-1AA2-4751-A6E2-82164CC43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6679" y="3765314"/>
            <a:ext cx="3931920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Table&#10;&#10;Description automatically generated with medium confidence">
            <a:extLst>
              <a:ext uri="{FF2B5EF4-FFF2-40B4-BE49-F238E27FC236}">
                <a16:creationId xmlns:a16="http://schemas.microsoft.com/office/drawing/2014/main" id="{3CCB3D20-5350-4C9E-83FF-E69E1F77CB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7114"/>
          <a:stretch/>
        </p:blipFill>
        <p:spPr>
          <a:xfrm>
            <a:off x="6051665" y="427679"/>
            <a:ext cx="2887288" cy="26341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EF3468-FF4B-4A27-B711-8A9D37730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373" y="3651229"/>
            <a:ext cx="4953000" cy="25336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1152D2C-8D9C-4801-A101-0CB1E3E36817}"/>
              </a:ext>
            </a:extLst>
          </p:cNvPr>
          <p:cNvSpPr/>
          <p:nvPr/>
        </p:nvSpPr>
        <p:spPr>
          <a:xfrm>
            <a:off x="8872451" y="4655127"/>
            <a:ext cx="315884" cy="293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465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842F9-5281-4308-A7A0-59F96ABA3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11025304" cy="1499616"/>
          </a:xfrm>
        </p:spPr>
        <p:txBody>
          <a:bodyPr/>
          <a:lstStyle/>
          <a:p>
            <a:r>
              <a:rPr lang="en-GB" dirty="0"/>
              <a:t>Fun Fact – used to solve large multiplication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99C60-584A-42F7-8FCA-CE2C37F4A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360" y="1889984"/>
            <a:ext cx="8741014" cy="444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760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1B2D5-E34C-41DC-B6EF-42738C1B9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(LHS)- Solve this without counting all the squares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2E4BDAC-B03A-4E2A-82E9-6FC543F990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9826910"/>
              </p:ext>
            </p:extLst>
          </p:nvPr>
        </p:nvGraphicFramePr>
        <p:xfrm>
          <a:off x="736582" y="2452778"/>
          <a:ext cx="7020182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14">
                  <a:extLst>
                    <a:ext uri="{9D8B030D-6E8A-4147-A177-3AD203B41FA5}">
                      <a16:colId xmlns:a16="http://schemas.microsoft.com/office/drawing/2014/main" val="1727742952"/>
                    </a:ext>
                  </a:extLst>
                </a:gridCol>
                <a:gridCol w="540014">
                  <a:extLst>
                    <a:ext uri="{9D8B030D-6E8A-4147-A177-3AD203B41FA5}">
                      <a16:colId xmlns:a16="http://schemas.microsoft.com/office/drawing/2014/main" val="325697111"/>
                    </a:ext>
                  </a:extLst>
                </a:gridCol>
                <a:gridCol w="540014">
                  <a:extLst>
                    <a:ext uri="{9D8B030D-6E8A-4147-A177-3AD203B41FA5}">
                      <a16:colId xmlns:a16="http://schemas.microsoft.com/office/drawing/2014/main" val="349195562"/>
                    </a:ext>
                  </a:extLst>
                </a:gridCol>
                <a:gridCol w="540014">
                  <a:extLst>
                    <a:ext uri="{9D8B030D-6E8A-4147-A177-3AD203B41FA5}">
                      <a16:colId xmlns:a16="http://schemas.microsoft.com/office/drawing/2014/main" val="2879189396"/>
                    </a:ext>
                  </a:extLst>
                </a:gridCol>
                <a:gridCol w="540014">
                  <a:extLst>
                    <a:ext uri="{9D8B030D-6E8A-4147-A177-3AD203B41FA5}">
                      <a16:colId xmlns:a16="http://schemas.microsoft.com/office/drawing/2014/main" val="3498422801"/>
                    </a:ext>
                  </a:extLst>
                </a:gridCol>
                <a:gridCol w="540014">
                  <a:extLst>
                    <a:ext uri="{9D8B030D-6E8A-4147-A177-3AD203B41FA5}">
                      <a16:colId xmlns:a16="http://schemas.microsoft.com/office/drawing/2014/main" val="2920709813"/>
                    </a:ext>
                  </a:extLst>
                </a:gridCol>
                <a:gridCol w="540014">
                  <a:extLst>
                    <a:ext uri="{9D8B030D-6E8A-4147-A177-3AD203B41FA5}">
                      <a16:colId xmlns:a16="http://schemas.microsoft.com/office/drawing/2014/main" val="3730060594"/>
                    </a:ext>
                  </a:extLst>
                </a:gridCol>
                <a:gridCol w="540014">
                  <a:extLst>
                    <a:ext uri="{9D8B030D-6E8A-4147-A177-3AD203B41FA5}">
                      <a16:colId xmlns:a16="http://schemas.microsoft.com/office/drawing/2014/main" val="308879265"/>
                    </a:ext>
                  </a:extLst>
                </a:gridCol>
                <a:gridCol w="540014">
                  <a:extLst>
                    <a:ext uri="{9D8B030D-6E8A-4147-A177-3AD203B41FA5}">
                      <a16:colId xmlns:a16="http://schemas.microsoft.com/office/drawing/2014/main" val="2635693664"/>
                    </a:ext>
                  </a:extLst>
                </a:gridCol>
                <a:gridCol w="540014">
                  <a:extLst>
                    <a:ext uri="{9D8B030D-6E8A-4147-A177-3AD203B41FA5}">
                      <a16:colId xmlns:a16="http://schemas.microsoft.com/office/drawing/2014/main" val="355508274"/>
                    </a:ext>
                  </a:extLst>
                </a:gridCol>
                <a:gridCol w="540014">
                  <a:extLst>
                    <a:ext uri="{9D8B030D-6E8A-4147-A177-3AD203B41FA5}">
                      <a16:colId xmlns:a16="http://schemas.microsoft.com/office/drawing/2014/main" val="681953336"/>
                    </a:ext>
                  </a:extLst>
                </a:gridCol>
                <a:gridCol w="540014">
                  <a:extLst>
                    <a:ext uri="{9D8B030D-6E8A-4147-A177-3AD203B41FA5}">
                      <a16:colId xmlns:a16="http://schemas.microsoft.com/office/drawing/2014/main" val="1718970655"/>
                    </a:ext>
                  </a:extLst>
                </a:gridCol>
                <a:gridCol w="540014">
                  <a:extLst>
                    <a:ext uri="{9D8B030D-6E8A-4147-A177-3AD203B41FA5}">
                      <a16:colId xmlns:a16="http://schemas.microsoft.com/office/drawing/2014/main" val="39063293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037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341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33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921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592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99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82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751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9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038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2481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C489-B172-4DA8-85A3-5AF64BF6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521" y="223880"/>
            <a:ext cx="9720072" cy="1499616"/>
          </a:xfrm>
        </p:spPr>
        <p:txBody>
          <a:bodyPr>
            <a:normAutofit/>
          </a:bodyPr>
          <a:lstStyle/>
          <a:p>
            <a:r>
              <a:rPr lang="en-GB" sz="4400" dirty="0"/>
              <a:t>Practice (LHS) try and not count all the squares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CB6EF-69FE-4626-B933-EF1C44629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704" y="2204884"/>
            <a:ext cx="2721962" cy="4023360"/>
          </a:xfrm>
        </p:spPr>
        <p:txBody>
          <a:bodyPr/>
          <a:lstStyle/>
          <a:p>
            <a:r>
              <a:rPr lang="en-GB" dirty="0"/>
              <a:t>Think about how you find the area of a rectangle: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6049B-5975-41DD-A80C-270ECB03E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506" y="1348568"/>
            <a:ext cx="9551494" cy="545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0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D01A7-2464-46D7-A160-8DF7B015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17167-2CD5-4BAC-8909-B046A6B73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2555887" cy="4023360"/>
          </a:xfrm>
        </p:spPr>
        <p:txBody>
          <a:bodyPr/>
          <a:lstStyle/>
          <a:p>
            <a:r>
              <a:rPr lang="en-GB" dirty="0"/>
              <a:t>You will need grid paper: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89C9E5-322F-4FDE-B7AD-83D7DA9DF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078" y="0"/>
            <a:ext cx="59140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164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E2FD3-C30F-4909-8C44-4A835D855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3466756" cy="1499616"/>
          </a:xfrm>
        </p:spPr>
        <p:txBody>
          <a:bodyPr/>
          <a:lstStyle/>
          <a:p>
            <a:r>
              <a:rPr lang="en-GB" dirty="0"/>
              <a:t>Find the area of each room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860C8-E6A4-412E-848A-837138086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7" y="2084832"/>
            <a:ext cx="1843549" cy="4394134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MBR:</a:t>
            </a:r>
          </a:p>
          <a:p>
            <a:r>
              <a:rPr lang="en-GB" sz="2400" dirty="0" err="1"/>
              <a:t>Ensuite</a:t>
            </a:r>
            <a:r>
              <a:rPr lang="en-GB" sz="2400" dirty="0"/>
              <a:t>:</a:t>
            </a:r>
          </a:p>
          <a:p>
            <a:r>
              <a:rPr lang="en-GB" sz="2400" dirty="0"/>
              <a:t>BR2:</a:t>
            </a:r>
          </a:p>
          <a:p>
            <a:r>
              <a:rPr lang="en-GB" sz="2400" dirty="0"/>
              <a:t>BR3:</a:t>
            </a:r>
          </a:p>
          <a:p>
            <a:r>
              <a:rPr lang="en-GB" sz="2400" dirty="0"/>
              <a:t>Hall:</a:t>
            </a:r>
          </a:p>
          <a:p>
            <a:r>
              <a:rPr lang="en-GB" sz="2400" dirty="0"/>
              <a:t>L/R:</a:t>
            </a:r>
          </a:p>
          <a:p>
            <a:r>
              <a:rPr lang="en-GB" sz="2400" dirty="0"/>
              <a:t>D/R”</a:t>
            </a:r>
          </a:p>
          <a:p>
            <a:r>
              <a:rPr lang="en-GB" sz="2400" dirty="0"/>
              <a:t>KN:</a:t>
            </a:r>
          </a:p>
          <a:p>
            <a:r>
              <a:rPr lang="en-GB" sz="2400" dirty="0"/>
              <a:t>Bath: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1415F-33D5-46E1-A4B6-BDBEDC741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972" y="0"/>
            <a:ext cx="6931028" cy="68580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6D303D-36A0-4D28-A052-7598751F6681}"/>
              </a:ext>
            </a:extLst>
          </p:cNvPr>
          <p:cNvSpPr txBox="1">
            <a:spLocks/>
          </p:cNvSpPr>
          <p:nvPr/>
        </p:nvSpPr>
        <p:spPr>
          <a:xfrm>
            <a:off x="2392925" y="2084832"/>
            <a:ext cx="1843549" cy="439413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LDY:</a:t>
            </a:r>
          </a:p>
          <a:p>
            <a:r>
              <a:rPr lang="en-GB" sz="2400" dirty="0"/>
              <a:t>GRG: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025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F2ABC8-4FD6-4B60-92A7-BB3BEE3C1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AU" dirty="0"/>
              <a:t>explain</a:t>
            </a:r>
            <a:endParaRPr lang="en-AU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D479D3-536C-4161-A6F8-813D30719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857903-F94E-4E32-8034-80D041704398}"/>
                  </a:ext>
                </a:extLst>
              </p:cNvPr>
              <p:cNvSpPr txBox="1"/>
              <p:nvPr/>
            </p:nvSpPr>
            <p:spPr>
              <a:xfrm>
                <a:off x="762000" y="2316480"/>
                <a:ext cx="8280398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Explain how you would use your formula and your ideas so far to calculate the area of the following rectangle:</a:t>
                </a:r>
              </a:p>
              <a:p>
                <a:endParaRPr lang="en-GB" dirty="0"/>
              </a:p>
              <a:p>
                <a:pPr marL="342900" indent="-342900">
                  <a:buAutoNum type="arabicPeriod"/>
                </a:pPr>
                <a:r>
                  <a:rPr lang="en-GB" dirty="0"/>
                  <a:t>Your desk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  <a:p>
                <a:pPr marL="342900" indent="-342900">
                  <a:buAutoNum type="arabicPeriod"/>
                </a:pPr>
                <a:r>
                  <a:rPr lang="en-GB" dirty="0"/>
                  <a:t>Your classroom floor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  <a:p>
                <a:pPr marL="342900" indent="-342900">
                  <a:buAutoNum type="arabicPeriod"/>
                </a:pPr>
                <a:r>
                  <a:rPr lang="en-GB" dirty="0"/>
                  <a:t>A rectangle that was twice as long as it was high. The height was 5cm</a:t>
                </a:r>
              </a:p>
              <a:p>
                <a:pPr marL="342900" indent="-342900">
                  <a:buAutoNum type="arabicPeriod"/>
                </a:pPr>
                <a:endParaRPr lang="en-GB" dirty="0"/>
              </a:p>
              <a:p>
                <a:r>
                  <a:rPr lang="en-GB" dirty="0"/>
                  <a:t>Do the rest of the questions on page 23 of your Interleaved Math Book</a:t>
                </a:r>
              </a:p>
              <a:p>
                <a:pPr marL="342900" indent="-342900">
                  <a:buAutoNum type="arabicPeriod"/>
                </a:pPr>
                <a:endParaRPr lang="en-GB" dirty="0"/>
              </a:p>
              <a:p>
                <a:pPr marL="342900" indent="-342900">
                  <a:buAutoNum type="arabicPeriod"/>
                </a:pPr>
                <a:endParaRPr lang="en-GB" dirty="0"/>
              </a:p>
              <a:p>
                <a:pPr marL="342900" indent="-342900">
                  <a:buAutoNum type="arabicPeriod"/>
                </a:pPr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857903-F94E-4E32-8034-80D041704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316480"/>
                <a:ext cx="8280398" cy="3139321"/>
              </a:xfrm>
              <a:prstGeom prst="rect">
                <a:avLst/>
              </a:prstGeom>
              <a:blipFill>
                <a:blip r:embed="rId3"/>
                <a:stretch>
                  <a:fillRect l="-589" t="-9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7092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C545-222E-4643-AE33-6EA58E809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Exit Ticket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D0270-C38E-45EF-BDB3-43D165549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8" y="1849900"/>
            <a:ext cx="9720073" cy="4740813"/>
          </a:xfrm>
        </p:spPr>
        <p:txBody>
          <a:bodyPr>
            <a:normAutofit/>
          </a:bodyPr>
          <a:lstStyle/>
          <a:p>
            <a:r>
              <a:rPr lang="en-GB"/>
              <a:t>Write a multiplication sentence and find the area of each section</a:t>
            </a:r>
          </a:p>
          <a:p>
            <a:r>
              <a:rPr lang="en-GB"/>
              <a:t>Yellow: </a:t>
            </a:r>
          </a:p>
          <a:p>
            <a:endParaRPr lang="en-GB"/>
          </a:p>
          <a:p>
            <a:r>
              <a:rPr lang="en-GB"/>
              <a:t>Blue: </a:t>
            </a:r>
            <a:br>
              <a:rPr lang="en-GB"/>
            </a:br>
            <a:endParaRPr lang="en-GB"/>
          </a:p>
          <a:p>
            <a:r>
              <a:rPr lang="en-GB"/>
              <a:t>Brown:</a:t>
            </a:r>
          </a:p>
          <a:p>
            <a:br>
              <a:rPr lang="en-GB"/>
            </a:br>
            <a:br>
              <a:rPr lang="en-GB"/>
            </a:br>
            <a:r>
              <a:rPr lang="en-GB"/>
              <a:t>Green:</a:t>
            </a:r>
          </a:p>
          <a:p>
            <a:endParaRPr lang="en-GB"/>
          </a:p>
          <a:p>
            <a:r>
              <a:rPr lang="en-GB"/>
              <a:t>What is the combined area? Write a multiplication sentence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5FC45-B029-4DED-BCA7-5AF480624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440" y="2268707"/>
            <a:ext cx="4452861" cy="413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071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229E8B-4FB0-48D6-8232-07D18C9B7311}"/>
              </a:ext>
            </a:extLst>
          </p:cNvPr>
          <p:cNvSpPr txBox="1"/>
          <p:nvPr/>
        </p:nvSpPr>
        <p:spPr>
          <a:xfrm>
            <a:off x="730370" y="3774857"/>
            <a:ext cx="41464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“The very things that hold you down are going to lift you up.”</a:t>
            </a:r>
          </a:p>
        </p:txBody>
      </p:sp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2743</TotalTime>
  <Words>571</Words>
  <Application>Microsoft Office PowerPoint</Application>
  <PresentationFormat>Widescreen</PresentationFormat>
  <Paragraphs>90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Calibri</vt:lpstr>
      <vt:lpstr>Cambria Math</vt:lpstr>
      <vt:lpstr>Tw Cen MT</vt:lpstr>
      <vt:lpstr>Tw Cen MT Condensed</vt:lpstr>
      <vt:lpstr>Wingdings</vt:lpstr>
      <vt:lpstr>Wingdings 3</vt:lpstr>
      <vt:lpstr>Integral</vt:lpstr>
      <vt:lpstr>Topic: Multiplication with arrays EQ: How do you apply the array strategy?</vt:lpstr>
      <vt:lpstr>Things Required For This Lesson</vt:lpstr>
      <vt:lpstr>PowerPoint Presentation</vt:lpstr>
      <vt:lpstr>Topic: Division with array  EQ: How do I apply the division with array strategy?</vt:lpstr>
      <vt:lpstr>PowerPoint Presentation</vt:lpstr>
      <vt:lpstr>PowerPoint Presentation</vt:lpstr>
      <vt:lpstr>PowerPoint Presentation</vt:lpstr>
      <vt:lpstr>Experiment (LHS)</vt:lpstr>
      <vt:lpstr>Practice (LHS)</vt:lpstr>
      <vt:lpstr>PowerPoint Presentation</vt:lpstr>
      <vt:lpstr>PowerPoint Presentation</vt:lpstr>
      <vt:lpstr>PowerPoint Presentation</vt:lpstr>
      <vt:lpstr>Fun Fact – used to solve large multiplication</vt:lpstr>
      <vt:lpstr>Practice (LHS)- Solve this without counting all the squares</vt:lpstr>
      <vt:lpstr>Practice (LHS) try and not count all the squares</vt:lpstr>
      <vt:lpstr>Practice</vt:lpstr>
      <vt:lpstr>Find the area of each room</vt:lpstr>
      <vt:lpstr>explain</vt:lpstr>
      <vt:lpstr>Exit Ticket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Tony Nguyen</cp:lastModifiedBy>
  <cp:revision>37</cp:revision>
  <dcterms:created xsi:type="dcterms:W3CDTF">2021-02-11T13:20:57Z</dcterms:created>
  <dcterms:modified xsi:type="dcterms:W3CDTF">2021-03-13T04:08:34Z</dcterms:modified>
</cp:coreProperties>
</file>
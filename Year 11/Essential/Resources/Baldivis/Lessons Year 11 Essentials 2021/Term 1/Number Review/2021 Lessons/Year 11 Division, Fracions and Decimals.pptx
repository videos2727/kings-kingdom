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3" r:id="rId1"/>
    <p:sldMasterId id="2147483815" r:id="rId2"/>
  </p:sldMasterIdLst>
  <p:notesMasterIdLst>
    <p:notesMasterId r:id="rId18"/>
  </p:notesMasterIdLst>
  <p:sldIdLst>
    <p:sldId id="256" r:id="rId3"/>
    <p:sldId id="257" r:id="rId4"/>
    <p:sldId id="311" r:id="rId5"/>
    <p:sldId id="335" r:id="rId6"/>
    <p:sldId id="1076" r:id="rId7"/>
    <p:sldId id="1078" r:id="rId8"/>
    <p:sldId id="1080" r:id="rId9"/>
    <p:sldId id="1085" r:id="rId10"/>
    <p:sldId id="1082" r:id="rId11"/>
    <p:sldId id="1083" r:id="rId12"/>
    <p:sldId id="612" r:id="rId13"/>
    <p:sldId id="615" r:id="rId14"/>
    <p:sldId id="618" r:id="rId15"/>
    <p:sldId id="1086" r:id="rId16"/>
    <p:sldId id="327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04" autoAdjust="0"/>
    <p:restoredTop sz="75396" autoAdjust="0"/>
  </p:normalViewPr>
  <p:slideViewPr>
    <p:cSldViewPr snapToGrid="0">
      <p:cViewPr varScale="1">
        <p:scale>
          <a:sx n="86" d="100"/>
          <a:sy n="86" d="100"/>
        </p:scale>
        <p:origin x="48" y="2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EAEC40-FB91-4B4E-8615-59788947F0F0}" type="datetimeFigureOut">
              <a:rPr lang="en-AU" smtClean="0"/>
              <a:t>12/03/2021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5F8C66-E9D4-4BCD-9B84-1B952BD6C7C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155604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8BD033-8677-4794-8EA0-E5BD0D524802}" type="slidenum">
              <a:rPr lang="en-AU" smtClean="0"/>
              <a:t>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202755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8BD033-8677-4794-8EA0-E5BD0D524802}" type="slidenum">
              <a:rPr lang="en-AU" smtClean="0"/>
              <a:t>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52247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7">
            <a:extLst>
              <a:ext uri="{FF2B5EF4-FFF2-40B4-BE49-F238E27FC236}">
                <a16:creationId xmlns:a16="http://schemas.microsoft.com/office/drawing/2014/main" id="{E6B042B9-AABC-4C3E-8C8C-7F63294BD1C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7F5B6-BF1D-445A-A573-2D6793CBC78A}" type="slidenum">
              <a:rPr kumimoji="0" lang="en-GB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GB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0482" name="Rectangle 2">
            <a:extLst>
              <a:ext uri="{FF2B5EF4-FFF2-40B4-BE49-F238E27FC236}">
                <a16:creationId xmlns:a16="http://schemas.microsoft.com/office/drawing/2014/main" id="{BD10FF97-0ED7-43B9-A43C-B90B8F9FA27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20483" name="Rectangle 3">
            <a:extLst>
              <a:ext uri="{FF2B5EF4-FFF2-40B4-BE49-F238E27FC236}">
                <a16:creationId xmlns:a16="http://schemas.microsoft.com/office/drawing/2014/main" id="{DF4E346A-9AC3-4D71-9325-C35614C534B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r>
              <a:rPr lang="en-GB" altLang="en-US">
                <a:cs typeface="Arial" panose="020B0604020202020204" pitchFamily="34" charset="0"/>
              </a:rPr>
              <a:t>Point out that we could also cancel before multiplying.</a:t>
            </a:r>
          </a:p>
        </p:txBody>
      </p:sp>
    </p:spTree>
    <p:extLst>
      <p:ext uri="{BB962C8B-B14F-4D97-AF65-F5344CB8AC3E}">
        <p14:creationId xmlns:p14="http://schemas.microsoft.com/office/powerpoint/2010/main" val="32442193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28BD033-8677-4794-8EA0-E5BD0D524802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A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0094748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28BD033-8677-4794-8EA0-E5BD0D524802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A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2814943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28BD033-8677-4794-8EA0-E5BD0D524802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A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150279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CD87294F-DEA6-4D3A-864A-E2E179377C11}" type="datetimeFigureOut">
              <a:rPr lang="en-AU" smtClean="0"/>
              <a:t>12/03/2021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  <p:sp>
        <p:nvSpPr>
          <p:cNvPr id="13" name="Rectangle 12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blipFill dpi="0" rotWithShape="1">
            <a:blip r:embed="rId2"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rcRect/>
            <a:tile tx="-393700" ty="-82550" sx="35000" sy="3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4" name="Straight Connector 13"/>
          <p:cNvCxnSpPr/>
          <p:nvPr/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608503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294F-DEA6-4D3A-864A-E2E179377C11}" type="datetimeFigureOut">
              <a:rPr lang="en-AU" smtClean="0"/>
              <a:t>12/03/2021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241205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294F-DEA6-4D3A-864A-E2E179377C11}" type="datetimeFigureOut">
              <a:rPr lang="en-AU" smtClean="0"/>
              <a:t>12/03/2021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0" y="0"/>
            <a:ext cx="12192000" cy="4572000"/>
          </a:xfrm>
          <a:prstGeom prst="rect">
            <a:avLst/>
          </a:prstGeom>
          <a:blipFill dpi="0" rotWithShape="1">
            <a:blip r:embed="rId2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393700" ty="-82550" sx="35000" sy="3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261104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294F-DEA6-4D3A-864A-E2E179377C11}" type="datetimeFigureOut">
              <a:rPr lang="en-AU" smtClean="0"/>
              <a:t>12/03/2021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611336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2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294F-DEA6-4D3A-864A-E2E179377C11}" type="datetimeFigureOut">
              <a:rPr lang="en-AU" smtClean="0"/>
              <a:t>12/03/2021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52228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294F-DEA6-4D3A-864A-E2E179377C11}" type="datetimeFigureOut">
              <a:rPr lang="en-AU" smtClean="0"/>
              <a:t>12/03/2021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900554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294F-DEA6-4D3A-864A-E2E179377C11}" type="datetimeFigureOut">
              <a:rPr lang="en-AU" smtClean="0"/>
              <a:t>12/03/2021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216838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294F-DEA6-4D3A-864A-E2E179377C11}" type="datetimeFigureOut">
              <a:rPr lang="en-AU" smtClean="0"/>
              <a:t>12/03/2021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759065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2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294F-DEA6-4D3A-864A-E2E179377C11}" type="datetimeFigureOut">
              <a:rPr lang="en-AU" smtClean="0"/>
              <a:t>12/03/2021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022581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294F-DEA6-4D3A-864A-E2E179377C11}" type="datetimeFigureOut">
              <a:rPr lang="en-AU" smtClean="0"/>
              <a:t>12/03/2021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656824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294F-DEA6-4D3A-864A-E2E179377C11}" type="datetimeFigureOut">
              <a:rPr lang="en-AU" smtClean="0"/>
              <a:t>12/03/2021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  <p:cxnSp>
        <p:nvCxnSpPr>
          <p:cNvPr id="8" name="Straight Connector 7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5507348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9C243D-43D2-4258-A540-A55B4C4BEBF8}" type="datetimeFigureOut">
              <a:rPr lang="en-AU" smtClean="0"/>
              <a:t>12/03/2021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CC211-C402-45A3-908D-CE7E9F9A5B0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7421278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9C243D-43D2-4258-A540-A55B4C4BEBF8}" type="datetimeFigureOut">
              <a:rPr lang="en-AU" smtClean="0"/>
              <a:t>12/03/2021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CC211-C402-45A3-908D-CE7E9F9A5B0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0434365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9C243D-43D2-4258-A540-A55B4C4BEBF8}" type="datetimeFigureOut">
              <a:rPr lang="en-AU" smtClean="0"/>
              <a:t>12/03/2021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CC211-C402-45A3-908D-CE7E9F9A5B0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6557190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9C243D-43D2-4258-A540-A55B4C4BEBF8}" type="datetimeFigureOut">
              <a:rPr lang="en-AU" smtClean="0"/>
              <a:t>12/03/2021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CC211-C402-45A3-908D-CE7E9F9A5B0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5927015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9C243D-43D2-4258-A540-A55B4C4BEBF8}" type="datetimeFigureOut">
              <a:rPr lang="en-AU" smtClean="0"/>
              <a:t>12/03/2021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CC211-C402-45A3-908D-CE7E9F9A5B0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5621240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9C243D-43D2-4258-A540-A55B4C4BEBF8}" type="datetimeFigureOut">
              <a:rPr lang="en-AU" smtClean="0"/>
              <a:t>12/03/2021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CC211-C402-45A3-908D-CE7E9F9A5B0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8827412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9C243D-43D2-4258-A540-A55B4C4BEBF8}" type="datetimeFigureOut">
              <a:rPr lang="en-AU" smtClean="0"/>
              <a:t>12/03/2021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CC211-C402-45A3-908D-CE7E9F9A5B0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1741504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9C243D-43D2-4258-A540-A55B4C4BEBF8}" type="datetimeFigureOut">
              <a:rPr lang="en-AU" smtClean="0"/>
              <a:t>12/03/2021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CC211-C402-45A3-908D-CE7E9F9A5B0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6630652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9C243D-43D2-4258-A540-A55B4C4BEBF8}" type="datetimeFigureOut">
              <a:rPr lang="en-AU" smtClean="0"/>
              <a:t>12/03/2021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CC211-C402-45A3-908D-CE7E9F9A5B0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1406247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9C243D-43D2-4258-A540-A55B4C4BEBF8}" type="datetimeFigureOut">
              <a:rPr lang="en-AU" smtClean="0"/>
              <a:t>12/03/2021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CC211-C402-45A3-908D-CE7E9F9A5B0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9267525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9C243D-43D2-4258-A540-A55B4C4BEBF8}" type="datetimeFigureOut">
              <a:rPr lang="en-AU" smtClean="0"/>
              <a:t>12/03/2021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CC211-C402-45A3-908D-CE7E9F9A5B0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048311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3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CD87294F-DEA6-4D3A-864A-E2E179377C11}" type="datetimeFigureOut">
              <a:rPr lang="en-AU" smtClean="0"/>
              <a:t>12/03/2021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051216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4" r:id="rId1"/>
    <p:sldLayoutId id="2147483805" r:id="rId2"/>
    <p:sldLayoutId id="2147483806" r:id="rId3"/>
    <p:sldLayoutId id="2147483807" r:id="rId4"/>
    <p:sldLayoutId id="2147483808" r:id="rId5"/>
    <p:sldLayoutId id="2147483809" r:id="rId6"/>
    <p:sldLayoutId id="2147483810" r:id="rId7"/>
    <p:sldLayoutId id="2147483811" r:id="rId8"/>
    <p:sldLayoutId id="2147483812" r:id="rId9"/>
    <p:sldLayoutId id="2147483813" r:id="rId10"/>
    <p:sldLayoutId id="2147483814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2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alphaModFix amt="20000"/>
            <a:lum/>
          </a:blip>
          <a:srcRect/>
          <a:stretch>
            <a:fillRect t="-12000" b="-1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9C243D-43D2-4258-A540-A55B4C4BEBF8}" type="datetimeFigureOut">
              <a:rPr lang="en-AU" smtClean="0"/>
              <a:t>12/03/2021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3CC211-C402-45A3-908D-CE7E9F9A5B0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598474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6" r:id="rId1"/>
    <p:sldLayoutId id="2147483817" r:id="rId2"/>
    <p:sldLayoutId id="2147483818" r:id="rId3"/>
    <p:sldLayoutId id="2147483819" r:id="rId4"/>
    <p:sldLayoutId id="2147483820" r:id="rId5"/>
    <p:sldLayoutId id="2147483821" r:id="rId6"/>
    <p:sldLayoutId id="2147483822" r:id="rId7"/>
    <p:sldLayoutId id="2147483823" r:id="rId8"/>
    <p:sldLayoutId id="2147483824" r:id="rId9"/>
    <p:sldLayoutId id="2147483825" r:id="rId10"/>
    <p:sldLayoutId id="2147483826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creativecommons.org/licenses/by-sa/3.0/" TargetMode="External"/><Relationship Id="rId4" Type="http://schemas.openxmlformats.org/officeDocument/2006/relationships/hyperlink" Target="https://www.flickr.com/photos/128758398@N07/16606213985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511B51-FD68-4F9A-AF72-D0BD002045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1000" y="4960137"/>
            <a:ext cx="8045824" cy="1463040"/>
          </a:xfrm>
        </p:spPr>
        <p:txBody>
          <a:bodyPr>
            <a:noAutofit/>
          </a:bodyPr>
          <a:lstStyle/>
          <a:p>
            <a:pPr algn="l"/>
            <a:r>
              <a:rPr lang="en-AU" sz="4000" dirty="0"/>
              <a:t>Topic: Division, Fractions and Decimals</a:t>
            </a:r>
            <a:br>
              <a:rPr lang="en-AU" sz="4000" dirty="0"/>
            </a:br>
            <a:r>
              <a:rPr lang="en-AU" sz="4000" dirty="0"/>
              <a:t>EQ: What is the connection between reminders, fractions and decimals?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9235905-0902-4C57-9CA6-37C142F28CC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AU" dirty="0"/>
              <a:t>Year 11 Essentials</a:t>
            </a:r>
          </a:p>
        </p:txBody>
      </p:sp>
    </p:spTree>
    <p:extLst>
      <p:ext uri="{BB962C8B-B14F-4D97-AF65-F5344CB8AC3E}">
        <p14:creationId xmlns:p14="http://schemas.microsoft.com/office/powerpoint/2010/main" val="16691769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842DAA-A945-4854-916B-03B00950B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Things Required For This Lesson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3B46C1-2EC7-446D-84C7-06B86F2283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AU" sz="2800" dirty="0">
                <a:latin typeface="Calibri" panose="020F0502020204030204" pitchFamily="34" charset="0"/>
                <a:cs typeface="Calibri" panose="020F0502020204030204" pitchFamily="34" charset="0"/>
              </a:rPr>
              <a:t> Interactive Notebook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AU" sz="2800" dirty="0">
                <a:latin typeface="Calibri" panose="020F0502020204030204" pitchFamily="34" charset="0"/>
                <a:cs typeface="Calibri" panose="020F0502020204030204" pitchFamily="34" charset="0"/>
              </a:rPr>
              <a:t> Textbook: </a:t>
            </a:r>
            <a:r>
              <a:rPr lang="en-AU" sz="2800" dirty="0">
                <a:solidFill>
                  <a:srgbClr val="7030A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Interleaved Maths Essential Connections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AU" sz="2800" dirty="0">
                <a:latin typeface="Calibri" panose="020F0502020204030204" pitchFamily="34" charset="0"/>
                <a:cs typeface="Calibri" panose="020F0502020204030204" pitchFamily="34" charset="0"/>
              </a:rPr>
              <a:t> Ruler, Red Pen, Pencil, Pens, Scientific Calculator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AU" sz="2800" dirty="0">
                <a:latin typeface="Calibri" panose="020F0502020204030204" pitchFamily="34" charset="0"/>
                <a:cs typeface="Calibri" panose="020F0502020204030204" pitchFamily="34" charset="0"/>
              </a:rPr>
              <a:t> Growth mindset</a:t>
            </a:r>
          </a:p>
        </p:txBody>
      </p:sp>
    </p:spTree>
    <p:extLst>
      <p:ext uri="{BB962C8B-B14F-4D97-AF65-F5344CB8AC3E}">
        <p14:creationId xmlns:p14="http://schemas.microsoft.com/office/powerpoint/2010/main" val="23908037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82E708C-71E9-4394-B264-F716CFD18F17}"/>
              </a:ext>
            </a:extLst>
          </p:cNvPr>
          <p:cNvCxnSpPr>
            <a:cxnSpLocks/>
          </p:cNvCxnSpPr>
          <p:nvPr/>
        </p:nvCxnSpPr>
        <p:spPr>
          <a:xfrm>
            <a:off x="74645" y="777796"/>
            <a:ext cx="12117355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C740D6E-7B99-4DDB-9DE0-A5B61E8C3072}"/>
              </a:ext>
            </a:extLst>
          </p:cNvPr>
          <p:cNvCxnSpPr>
            <a:cxnSpLocks/>
          </p:cNvCxnSpPr>
          <p:nvPr/>
        </p:nvCxnSpPr>
        <p:spPr>
          <a:xfrm flipV="1">
            <a:off x="0" y="1222394"/>
            <a:ext cx="12192000" cy="222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B9F519F3-0A4A-4CE2-A029-D8462460B133}"/>
              </a:ext>
            </a:extLst>
          </p:cNvPr>
          <p:cNvSpPr txBox="1"/>
          <p:nvPr/>
        </p:nvSpPr>
        <p:spPr>
          <a:xfrm>
            <a:off x="178608" y="0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24</a:t>
            </a:r>
          </a:p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7</a:t>
            </a:r>
          </a:p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30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BA2B774-B760-43E5-9BF4-42AEF5DA72EC}"/>
              </a:ext>
            </a:extLst>
          </p:cNvPr>
          <p:cNvCxnSpPr>
            <a:cxnSpLocks/>
          </p:cNvCxnSpPr>
          <p:nvPr/>
        </p:nvCxnSpPr>
        <p:spPr>
          <a:xfrm>
            <a:off x="2382459" y="1224621"/>
            <a:ext cx="0" cy="4994082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EC05745E-D2A7-4A30-B812-5738EFA91614}"/>
              </a:ext>
            </a:extLst>
          </p:cNvPr>
          <p:cNvSpPr txBox="1"/>
          <p:nvPr/>
        </p:nvSpPr>
        <p:spPr>
          <a:xfrm>
            <a:off x="754672" y="196208"/>
            <a:ext cx="57927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>
                <a:latin typeface="Calibri" panose="020F0502020204030204" pitchFamily="34" charset="0"/>
                <a:cs typeface="Calibri" panose="020F0502020204030204" pitchFamily="34" charset="0"/>
              </a:rPr>
              <a:t>Topic: Division, Fractions and Decimals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AEB9F17-FE97-4A80-AD23-AA0696B2CA65}"/>
              </a:ext>
            </a:extLst>
          </p:cNvPr>
          <p:cNvSpPr txBox="1"/>
          <p:nvPr/>
        </p:nvSpPr>
        <p:spPr>
          <a:xfrm>
            <a:off x="271907" y="756649"/>
            <a:ext cx="106433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EQ: </a:t>
            </a:r>
            <a:r>
              <a:rPr lang="en-AU" sz="2400" dirty="0"/>
              <a:t>How do I divide simple numbers</a:t>
            </a:r>
            <a:endParaRPr lang="en-GB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728AC80-0291-455D-BC3B-60AF60B7DB39}"/>
              </a:ext>
            </a:extLst>
          </p:cNvPr>
          <p:cNvSpPr txBox="1"/>
          <p:nvPr/>
        </p:nvSpPr>
        <p:spPr>
          <a:xfrm>
            <a:off x="124278" y="5757038"/>
            <a:ext cx="20282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</a:t>
            </a:r>
            <a:r>
              <a:rPr lang="en-AU" sz="2400" b="1" dirty="0">
                <a:latin typeface="Calibri" panose="020F0502020204030204" pitchFamily="34" charset="0"/>
                <a:cs typeface="Calibri" panose="020F0502020204030204" pitchFamily="34" charset="0"/>
              </a:rPr>
              <a:t>IC</a:t>
            </a:r>
            <a:r>
              <a:rPr lang="en-AU" sz="24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</a:t>
            </a:r>
            <a:r>
              <a:rPr lang="en-AU" sz="2400" b="1" dirty="0">
                <a:latin typeface="Calibri" panose="020F0502020204030204" pitchFamily="34" charset="0"/>
                <a:cs typeface="Calibri" panose="020F0502020204030204" pitchFamily="34" charset="0"/>
              </a:rPr>
              <a:t>R</a:t>
            </a:r>
            <a:endParaRPr lang="en-GB" sz="24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6" name="Picture 5" descr="A picture containing text, brick, outdoor, sign&#10;&#10;Description automatically generated">
            <a:extLst>
              <a:ext uri="{FF2B5EF4-FFF2-40B4-BE49-F238E27FC236}">
                <a16:creationId xmlns:a16="http://schemas.microsoft.com/office/drawing/2014/main" id="{04DC1BC4-B66D-4429-8604-914BCDAFDC2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4881917" y="1449553"/>
            <a:ext cx="3257615" cy="428986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4EB01DF-9411-42CA-9351-FB3A2852305B}"/>
              </a:ext>
            </a:extLst>
          </p:cNvPr>
          <p:cNvSpPr txBox="1"/>
          <p:nvPr/>
        </p:nvSpPr>
        <p:spPr>
          <a:xfrm>
            <a:off x="5001187" y="5710872"/>
            <a:ext cx="25752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900" dirty="0">
                <a:hlinkClick r:id="rId4" tooltip="https://www.flickr.com/photos/128758398@N07/16606213985"/>
              </a:rPr>
              <a:t>This Photo</a:t>
            </a:r>
            <a:r>
              <a:rPr lang="en-AU" sz="900" dirty="0"/>
              <a:t> by Unknown Author is licensed under </a:t>
            </a:r>
            <a:r>
              <a:rPr lang="en-AU" sz="900" dirty="0">
                <a:hlinkClick r:id="rId5" tooltip="https://creativecommons.org/licenses/by-sa/3.0/"/>
              </a:rPr>
              <a:t>CC BY-SA</a:t>
            </a:r>
            <a:endParaRPr lang="en-AU" sz="900" dirty="0"/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B2CDAD20-C34B-4CAB-9BA2-2A1DCC9E489F}"/>
              </a:ext>
            </a:extLst>
          </p:cNvPr>
          <p:cNvCxnSpPr>
            <a:cxnSpLocks/>
          </p:cNvCxnSpPr>
          <p:nvPr/>
        </p:nvCxnSpPr>
        <p:spPr>
          <a:xfrm flipV="1">
            <a:off x="37322" y="6218703"/>
            <a:ext cx="12192000" cy="222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6821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9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82E708C-71E9-4394-B264-F716CFD18F17}"/>
              </a:ext>
            </a:extLst>
          </p:cNvPr>
          <p:cNvCxnSpPr>
            <a:cxnSpLocks/>
          </p:cNvCxnSpPr>
          <p:nvPr/>
        </p:nvCxnSpPr>
        <p:spPr>
          <a:xfrm>
            <a:off x="74645" y="777796"/>
            <a:ext cx="12117355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C740D6E-7B99-4DDB-9DE0-A5B61E8C3072}"/>
              </a:ext>
            </a:extLst>
          </p:cNvPr>
          <p:cNvCxnSpPr>
            <a:cxnSpLocks/>
          </p:cNvCxnSpPr>
          <p:nvPr/>
        </p:nvCxnSpPr>
        <p:spPr>
          <a:xfrm flipV="1">
            <a:off x="0" y="1222394"/>
            <a:ext cx="12192000" cy="222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B9F519F3-0A4A-4CE2-A029-D8462460B133}"/>
              </a:ext>
            </a:extLst>
          </p:cNvPr>
          <p:cNvSpPr txBox="1"/>
          <p:nvPr/>
        </p:nvSpPr>
        <p:spPr>
          <a:xfrm>
            <a:off x="178608" y="0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24</a:t>
            </a:r>
          </a:p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7</a:t>
            </a:r>
          </a:p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30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BA2B774-B760-43E5-9BF4-42AEF5DA72EC}"/>
              </a:ext>
            </a:extLst>
          </p:cNvPr>
          <p:cNvCxnSpPr>
            <a:cxnSpLocks/>
          </p:cNvCxnSpPr>
          <p:nvPr/>
        </p:nvCxnSpPr>
        <p:spPr>
          <a:xfrm flipH="1">
            <a:off x="2368731" y="1224621"/>
            <a:ext cx="13728" cy="5742236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EC05745E-D2A7-4A30-B812-5738EFA91614}"/>
              </a:ext>
            </a:extLst>
          </p:cNvPr>
          <p:cNvSpPr txBox="1"/>
          <p:nvPr/>
        </p:nvSpPr>
        <p:spPr>
          <a:xfrm>
            <a:off x="754672" y="196208"/>
            <a:ext cx="57927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>
                <a:latin typeface="Calibri" panose="020F0502020204030204" pitchFamily="34" charset="0"/>
                <a:cs typeface="Calibri" panose="020F0502020204030204" pitchFamily="34" charset="0"/>
              </a:rPr>
              <a:t>Topic: Division, Fractions and Decimals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AEB9F17-FE97-4A80-AD23-AA0696B2CA65}"/>
              </a:ext>
            </a:extLst>
          </p:cNvPr>
          <p:cNvSpPr txBox="1"/>
          <p:nvPr/>
        </p:nvSpPr>
        <p:spPr>
          <a:xfrm>
            <a:off x="271907" y="756649"/>
            <a:ext cx="106433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EQ: </a:t>
            </a:r>
            <a:r>
              <a:rPr lang="en-AU" sz="2400" dirty="0"/>
              <a:t>What is the connection between reminders, fractions and decimals?</a:t>
            </a:r>
            <a:endParaRPr lang="en-GB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728AC80-0291-455D-BC3B-60AF60B7DB39}"/>
              </a:ext>
            </a:extLst>
          </p:cNvPr>
          <p:cNvSpPr txBox="1"/>
          <p:nvPr/>
        </p:nvSpPr>
        <p:spPr>
          <a:xfrm>
            <a:off x="-136979" y="6271903"/>
            <a:ext cx="20282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</a:t>
            </a:r>
            <a:r>
              <a:rPr lang="en-AU" sz="2400" b="1" dirty="0">
                <a:latin typeface="Calibri" panose="020F0502020204030204" pitchFamily="34" charset="0"/>
                <a:cs typeface="Calibri" panose="020F0502020204030204" pitchFamily="34" charset="0"/>
              </a:rPr>
              <a:t>IC</a:t>
            </a:r>
            <a:r>
              <a:rPr lang="en-AU" sz="24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</a:t>
            </a:r>
            <a:r>
              <a:rPr lang="en-AU" sz="2400" b="1" dirty="0">
                <a:latin typeface="Calibri" panose="020F0502020204030204" pitchFamily="34" charset="0"/>
                <a:cs typeface="Calibri" panose="020F0502020204030204" pitchFamily="34" charset="0"/>
              </a:rPr>
              <a:t>R</a:t>
            </a:r>
            <a:endParaRPr lang="en-GB" sz="24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 flipH="1">
            <a:off x="333401" y="1474838"/>
            <a:ext cx="17664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How do I do short division?</a:t>
            </a:r>
          </a:p>
        </p:txBody>
      </p:sp>
      <p:sp>
        <p:nvSpPr>
          <p:cNvPr id="16" name="Text Box 5">
            <a:extLst>
              <a:ext uri="{FF2B5EF4-FFF2-40B4-BE49-F238E27FC236}">
                <a16:creationId xmlns:a16="http://schemas.microsoft.com/office/drawing/2014/main" id="{18E9C6FF-CD88-40CF-A39C-1439EFFB54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73240" y="1555593"/>
            <a:ext cx="917635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>
              <a:spcBef>
                <a:spcPct val="0"/>
              </a:spcBef>
              <a:buFontTx/>
              <a:buNone/>
              <a:defRPr sz="2400">
                <a:solidFill>
                  <a:srgbClr val="01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latin typeface="Comic Sans MS" panose="030F0702030302020204" pitchFamily="66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latin typeface="Comic Sans MS" panose="030F0702030302020204" pitchFamily="66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latin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latin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 pitchFamily="34" charset="0"/>
                <a:cs typeface="Arial" panose="020B0604020202020204" pitchFamily="34" charset="0"/>
              </a:rPr>
              <a:t>Simple division without remainder: 248</a:t>
            </a:r>
            <a:r>
              <a:rPr kumimoji="0" lang="en-GB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10066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GB" alt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 pitchFamily="34" charset="0"/>
                <a:cs typeface="Arial" panose="020B0604020202020204" pitchFamily="34" charset="0"/>
              </a:rPr>
              <a:t>÷ 4</a:t>
            </a:r>
            <a:r>
              <a:rPr kumimoji="0" lang="en-GB" sz="2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 pitchFamily="34" charset="0"/>
                <a:cs typeface="Arial" panose="020B0604020202020204" pitchFamily="34" charset="0"/>
              </a:rPr>
              <a:t>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3420D78-80FA-47D2-8206-7DF49348F9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2280" y="2283571"/>
            <a:ext cx="7507339" cy="99346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2788D6D-AA1A-4E10-AA41-656A544ECD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52334" y="3744161"/>
            <a:ext cx="7290252" cy="811214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A7709C80-BFAB-4DC4-8CAE-19FBD8A52B3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11340" y="4940091"/>
            <a:ext cx="5962236" cy="1391029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C9C5F61B-CDF1-4CF4-9723-A81935320DAE}"/>
              </a:ext>
            </a:extLst>
          </p:cNvPr>
          <p:cNvSpPr/>
          <p:nvPr/>
        </p:nvSpPr>
        <p:spPr>
          <a:xfrm>
            <a:off x="4366953" y="5120640"/>
            <a:ext cx="446243" cy="36021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296634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19">
            <a:extLst>
              <a:ext uri="{FF2B5EF4-FFF2-40B4-BE49-F238E27FC236}">
                <a16:creationId xmlns:a16="http://schemas.microsoft.com/office/drawing/2014/main" id="{7F1F88C7-BB89-46B2-A22B-B1330CA954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62125" y="188913"/>
            <a:ext cx="8566150" cy="590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Comic Sans MS" panose="030F0702030302020204" pitchFamily="66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Comic Sans MS" panose="030F0702030302020204" pitchFamily="66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Comic Sans MS" panose="030F0702030302020204" pitchFamily="66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alt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opperplate Gothic Bold" panose="020E0705020206020404" pitchFamily="34" charset="0"/>
                <a:ea typeface="+mn-ea"/>
                <a:cs typeface="Arial" panose="020B0604020202020204" pitchFamily="34" charset="0"/>
              </a:rPr>
              <a:t>Revision Division (LHS)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1B3D740-E188-4841-B439-A0ACF1D5EA3E}"/>
              </a:ext>
            </a:extLst>
          </p:cNvPr>
          <p:cNvSpPr/>
          <p:nvPr/>
        </p:nvSpPr>
        <p:spPr>
          <a:xfrm>
            <a:off x="1367891" y="1310857"/>
            <a:ext cx="201850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t>Divide following: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+mn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C2F637E-2379-40A7-82A5-39E19310E9C4}"/>
              </a:ext>
            </a:extLst>
          </p:cNvPr>
          <p:cNvSpPr/>
          <p:nvPr/>
        </p:nvSpPr>
        <p:spPr>
          <a:xfrm>
            <a:off x="5079023" y="1590774"/>
            <a:ext cx="6096000" cy="5078313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t>  248</a:t>
            </a:r>
            <a:r>
              <a:rPr kumimoji="0" lang="en-GB" alt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GB" alt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t>÷ 4 =</a:t>
            </a:r>
            <a:br>
              <a:rPr kumimoji="0" lang="en-GB" alt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</a:br>
            <a:endParaRPr kumimoji="0" lang="en-GB" alt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t>  660 </a:t>
            </a:r>
            <a:r>
              <a:rPr kumimoji="0" lang="en-GB" alt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t>÷ 3 =</a:t>
            </a:r>
            <a:br>
              <a:rPr kumimoji="0" lang="en-GB" alt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</a:br>
            <a:endParaRPr kumimoji="0" lang="en-AU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t>8040</a:t>
            </a:r>
            <a:r>
              <a:rPr kumimoji="0" lang="en-GB" alt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GB" alt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t>÷ 4 =</a:t>
            </a:r>
            <a:br>
              <a:rPr kumimoji="0" lang="en-GB" alt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</a:br>
            <a:endParaRPr kumimoji="0" lang="en-AU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t>  123 </a:t>
            </a:r>
            <a:r>
              <a:rPr kumimoji="0" lang="en-GB" alt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t>÷ 3 =</a:t>
            </a:r>
            <a:br>
              <a:rPr kumimoji="0" lang="en-GB" alt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</a:br>
            <a:endParaRPr kumimoji="0" lang="en-AU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t>  284 </a:t>
            </a:r>
            <a:r>
              <a:rPr kumimoji="0" lang="en-GB" alt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t>÷ 4 =</a:t>
            </a:r>
            <a:endParaRPr kumimoji="0" lang="en-AU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495306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82E708C-71E9-4394-B264-F716CFD18F17}"/>
              </a:ext>
            </a:extLst>
          </p:cNvPr>
          <p:cNvCxnSpPr>
            <a:cxnSpLocks/>
          </p:cNvCxnSpPr>
          <p:nvPr/>
        </p:nvCxnSpPr>
        <p:spPr>
          <a:xfrm>
            <a:off x="74645" y="777796"/>
            <a:ext cx="12117355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C740D6E-7B99-4DDB-9DE0-A5B61E8C3072}"/>
              </a:ext>
            </a:extLst>
          </p:cNvPr>
          <p:cNvCxnSpPr>
            <a:cxnSpLocks/>
          </p:cNvCxnSpPr>
          <p:nvPr/>
        </p:nvCxnSpPr>
        <p:spPr>
          <a:xfrm flipV="1">
            <a:off x="0" y="1222394"/>
            <a:ext cx="12192000" cy="222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B9F519F3-0A4A-4CE2-A029-D8462460B133}"/>
              </a:ext>
            </a:extLst>
          </p:cNvPr>
          <p:cNvSpPr txBox="1"/>
          <p:nvPr/>
        </p:nvSpPr>
        <p:spPr>
          <a:xfrm>
            <a:off x="178608" y="0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24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7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30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BA2B774-B760-43E5-9BF4-42AEF5DA72EC}"/>
              </a:ext>
            </a:extLst>
          </p:cNvPr>
          <p:cNvCxnSpPr>
            <a:cxnSpLocks/>
          </p:cNvCxnSpPr>
          <p:nvPr/>
        </p:nvCxnSpPr>
        <p:spPr>
          <a:xfrm flipH="1">
            <a:off x="2368731" y="1224621"/>
            <a:ext cx="13728" cy="5742236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EC05745E-D2A7-4A30-B812-5738EFA91614}"/>
              </a:ext>
            </a:extLst>
          </p:cNvPr>
          <p:cNvSpPr txBox="1"/>
          <p:nvPr/>
        </p:nvSpPr>
        <p:spPr>
          <a:xfrm>
            <a:off x="754672" y="196208"/>
            <a:ext cx="57927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Topic: Division, Fractions and Decimals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AEB9F17-FE97-4A80-AD23-AA0696B2CA65}"/>
              </a:ext>
            </a:extLst>
          </p:cNvPr>
          <p:cNvSpPr txBox="1"/>
          <p:nvPr/>
        </p:nvSpPr>
        <p:spPr>
          <a:xfrm>
            <a:off x="271907" y="756649"/>
            <a:ext cx="106433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EQ: </a:t>
            </a: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What is the connection between reminders, fractions and decimals?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728AC80-0291-455D-BC3B-60AF60B7DB39}"/>
              </a:ext>
            </a:extLst>
          </p:cNvPr>
          <p:cNvSpPr txBox="1"/>
          <p:nvPr/>
        </p:nvSpPr>
        <p:spPr>
          <a:xfrm>
            <a:off x="-136979" y="6271903"/>
            <a:ext cx="20282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3494BA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W</a:t>
            </a: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IC</a:t>
            </a: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O</a:t>
            </a: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R</a:t>
            </a:r>
            <a:endParaRPr kumimoji="0" lang="en-GB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19" name="Text Box 5">
            <a:extLst>
              <a:ext uri="{FF2B5EF4-FFF2-40B4-BE49-F238E27FC236}">
                <a16:creationId xmlns:a16="http://schemas.microsoft.com/office/drawing/2014/main" id="{10BA20AC-BA47-4531-B421-4C9C976AF5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43411" y="1355538"/>
            <a:ext cx="917635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>
              <a:spcBef>
                <a:spcPct val="0"/>
              </a:spcBef>
              <a:buFontTx/>
              <a:buNone/>
              <a:defRPr sz="2400">
                <a:solidFill>
                  <a:srgbClr val="01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latin typeface="Comic Sans MS" panose="030F0702030302020204" pitchFamily="66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latin typeface="Comic Sans MS" panose="030F0702030302020204" pitchFamily="66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latin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latin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r>
              <a:rPr lang="en-GB" sz="2000" b="1" dirty="0">
                <a:solidFill>
                  <a:schemeClr val="tx1"/>
                </a:solidFill>
                <a:latin typeface="Century Gothic" panose="020B0502020202020204" pitchFamily="34" charset="0"/>
                <a:cs typeface="+mn-cs"/>
              </a:rPr>
              <a:t>More complicated division: 58</a:t>
            </a:r>
            <a:r>
              <a:rPr lang="en-GB" altLang="en-US" sz="2000" dirty="0"/>
              <a:t> </a:t>
            </a:r>
            <a:r>
              <a:rPr lang="en-GB" altLang="en-US" sz="2000" b="1" dirty="0">
                <a:solidFill>
                  <a:schemeClr val="tx1"/>
                </a:solidFill>
                <a:latin typeface="Century Gothic" panose="020B0502020202020204" pitchFamily="34" charset="0"/>
                <a:cs typeface="+mn-cs"/>
              </a:rPr>
              <a:t>÷ 2</a:t>
            </a:r>
            <a:r>
              <a:rPr lang="en-GB" sz="2000" b="1" dirty="0">
                <a:solidFill>
                  <a:schemeClr val="tx1"/>
                </a:solidFill>
                <a:latin typeface="Century Gothic" panose="020B0502020202020204" pitchFamily="34" charset="0"/>
                <a:cs typeface="+mn-cs"/>
              </a:rPr>
              <a:t> 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4E3B41AB-AE56-44F2-8034-E8DFA701C2C4}"/>
              </a:ext>
            </a:extLst>
          </p:cNvPr>
          <p:cNvGrpSpPr/>
          <p:nvPr/>
        </p:nvGrpSpPr>
        <p:grpSpPr>
          <a:xfrm>
            <a:off x="2727577" y="1996110"/>
            <a:ext cx="1022877" cy="885274"/>
            <a:chOff x="855252" y="1794329"/>
            <a:chExt cx="1022877" cy="885274"/>
          </a:xfrm>
        </p:grpSpPr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1A92CA9B-D9D3-4AC4-9D02-8224B354FE3F}"/>
                </a:ext>
              </a:extLst>
            </p:cNvPr>
            <p:cNvGrpSpPr/>
            <p:nvPr/>
          </p:nvGrpSpPr>
          <p:grpSpPr>
            <a:xfrm>
              <a:off x="855252" y="1794330"/>
              <a:ext cx="1022877" cy="885273"/>
              <a:chOff x="1108443" y="3248455"/>
              <a:chExt cx="1022877" cy="885273"/>
            </a:xfrm>
          </p:grpSpPr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BC83A176-E75D-4DFD-BD89-5C779766C5ED}"/>
                  </a:ext>
                </a:extLst>
              </p:cNvPr>
              <p:cNvSpPr/>
              <p:nvPr/>
            </p:nvSpPr>
            <p:spPr>
              <a:xfrm>
                <a:off x="1108443" y="3666656"/>
                <a:ext cx="356188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GB" altLang="en-US" sz="2400" dirty="0">
                    <a:solidFill>
                      <a:srgbClr val="C00000"/>
                    </a:solidFill>
                    <a:latin typeface="Arial" panose="020B0604020202020204" pitchFamily="34" charset="0"/>
                  </a:rPr>
                  <a:t>2</a:t>
                </a:r>
                <a:endParaRPr lang="en-AU" sz="2400" dirty="0">
                  <a:solidFill>
                    <a:srgbClr val="C00000"/>
                  </a:solidFill>
                </a:endParaRPr>
              </a:p>
            </p:txBody>
          </p:sp>
          <p:grpSp>
            <p:nvGrpSpPr>
              <p:cNvPr id="24" name="Group 23">
                <a:extLst>
                  <a:ext uri="{FF2B5EF4-FFF2-40B4-BE49-F238E27FC236}">
                    <a16:creationId xmlns:a16="http://schemas.microsoft.com/office/drawing/2014/main" id="{EB283D78-0BAB-4F73-9F74-DFCBE42D57C1}"/>
                  </a:ext>
                </a:extLst>
              </p:cNvPr>
              <p:cNvGrpSpPr/>
              <p:nvPr/>
            </p:nvGrpSpPr>
            <p:grpSpPr>
              <a:xfrm>
                <a:off x="1305824" y="3543546"/>
                <a:ext cx="825496" cy="584775"/>
                <a:chOff x="1804670" y="5714672"/>
                <a:chExt cx="825496" cy="584775"/>
              </a:xfrm>
            </p:grpSpPr>
            <p:sp>
              <p:nvSpPr>
                <p:cNvPr id="27" name="Rectangle 26">
                  <a:extLst>
                    <a:ext uri="{FF2B5EF4-FFF2-40B4-BE49-F238E27FC236}">
                      <a16:creationId xmlns:a16="http://schemas.microsoft.com/office/drawing/2014/main" id="{F363E57C-5231-4199-8413-ECA6855F3D2B}"/>
                    </a:ext>
                  </a:extLst>
                </p:cNvPr>
                <p:cNvSpPr/>
                <p:nvPr/>
              </p:nvSpPr>
              <p:spPr>
                <a:xfrm>
                  <a:off x="1804670" y="5714672"/>
                  <a:ext cx="320922" cy="58477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en-GB" altLang="en-US" sz="3200" dirty="0">
                      <a:solidFill>
                        <a:srgbClr val="010066"/>
                      </a:solidFill>
                      <a:latin typeface="Arial" panose="020B0604020202020204" pitchFamily="34" charset="0"/>
                    </a:rPr>
                    <a:t>)</a:t>
                  </a:r>
                  <a:endParaRPr lang="en-AU" sz="3200" dirty="0"/>
                </a:p>
              </p:txBody>
            </p:sp>
            <p:sp>
              <p:nvSpPr>
                <p:cNvPr id="28" name="Line 8">
                  <a:extLst>
                    <a:ext uri="{FF2B5EF4-FFF2-40B4-BE49-F238E27FC236}">
                      <a16:creationId xmlns:a16="http://schemas.microsoft.com/office/drawing/2014/main" id="{2DCC706F-7642-4CE5-BB7E-6E6AB38C1A3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930936" y="5852264"/>
                  <a:ext cx="699230" cy="0"/>
                </a:xfrm>
                <a:prstGeom prst="line">
                  <a:avLst/>
                </a:prstGeom>
                <a:noFill/>
                <a:ln w="28575">
                  <a:solidFill>
                    <a:srgbClr val="010066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AU"/>
                </a:p>
              </p:txBody>
            </p:sp>
          </p:grp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5981FABA-FE73-43F4-B7D3-BE1D81298778}"/>
                  </a:ext>
                </a:extLst>
              </p:cNvPr>
              <p:cNvSpPr/>
              <p:nvPr/>
            </p:nvSpPr>
            <p:spPr>
              <a:xfrm>
                <a:off x="1491197" y="3672063"/>
                <a:ext cx="527709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GB" altLang="en-US" sz="2400" dirty="0">
                    <a:solidFill>
                      <a:srgbClr val="C00000"/>
                    </a:solidFill>
                    <a:latin typeface="Arial" panose="020B0604020202020204" pitchFamily="34" charset="0"/>
                  </a:rPr>
                  <a:t>5</a:t>
                </a:r>
                <a:r>
                  <a:rPr lang="en-GB" altLang="en-US" sz="2400" dirty="0">
                    <a:solidFill>
                      <a:srgbClr val="002060"/>
                    </a:solidFill>
                    <a:latin typeface="Arial" panose="020B0604020202020204" pitchFamily="34" charset="0"/>
                  </a:rPr>
                  <a:t>8</a:t>
                </a:r>
                <a:endParaRPr lang="en-AU" sz="2400" dirty="0">
                  <a:solidFill>
                    <a:srgbClr val="002060"/>
                  </a:solidFill>
                </a:endParaRPr>
              </a:p>
            </p:txBody>
          </p: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776237FF-12CD-45EB-BD43-F55164554E63}"/>
                  </a:ext>
                </a:extLst>
              </p:cNvPr>
              <p:cNvSpPr/>
              <p:nvPr/>
            </p:nvSpPr>
            <p:spPr>
              <a:xfrm>
                <a:off x="1477575" y="3248455"/>
                <a:ext cx="184731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endParaRPr lang="en-AU" sz="2400" dirty="0"/>
              </a:p>
            </p:txBody>
          </p:sp>
        </p:grp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CF918486-0E05-4A87-8022-4F011E228300}"/>
                </a:ext>
              </a:extLst>
            </p:cNvPr>
            <p:cNvSpPr/>
            <p:nvPr/>
          </p:nvSpPr>
          <p:spPr>
            <a:xfrm>
              <a:off x="1224678" y="1794329"/>
              <a:ext cx="356188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AU" sz="2400" dirty="0">
                  <a:solidFill>
                    <a:srgbClr val="010066"/>
                  </a:solidFill>
                  <a:latin typeface="Arial" panose="020B0604020202020204" pitchFamily="34" charset="0"/>
                </a:rPr>
                <a:t>2</a:t>
              </a:r>
            </a:p>
          </p:txBody>
        </p:sp>
      </p:grpSp>
      <p:sp>
        <p:nvSpPr>
          <p:cNvPr id="29" name="Rectangle 28">
            <a:extLst>
              <a:ext uri="{FF2B5EF4-FFF2-40B4-BE49-F238E27FC236}">
                <a16:creationId xmlns:a16="http://schemas.microsoft.com/office/drawing/2014/main" id="{9233E071-BF1A-4797-9CD4-9C79842ADECD}"/>
              </a:ext>
            </a:extLst>
          </p:cNvPr>
          <p:cNvSpPr/>
          <p:nvPr/>
        </p:nvSpPr>
        <p:spPr>
          <a:xfrm>
            <a:off x="4083586" y="2229646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Two goes into 5 two times, or 5 tens ÷ 2 = 2 whole tens -- but there is a remainder!</a:t>
            </a: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D14C5568-CCBB-4B69-B3A8-B16E892359FE}"/>
              </a:ext>
            </a:extLst>
          </p:cNvPr>
          <p:cNvGrpSpPr/>
          <p:nvPr/>
        </p:nvGrpSpPr>
        <p:grpSpPr>
          <a:xfrm>
            <a:off x="3453191" y="3178675"/>
            <a:ext cx="1022877" cy="1030916"/>
            <a:chOff x="1560901" y="2929293"/>
            <a:chExt cx="1022877" cy="1030916"/>
          </a:xfrm>
        </p:grpSpPr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F57DF044-9B85-4E53-BB5D-2E5B791F3123}"/>
                </a:ext>
              </a:extLst>
            </p:cNvPr>
            <p:cNvGrpSpPr/>
            <p:nvPr/>
          </p:nvGrpSpPr>
          <p:grpSpPr>
            <a:xfrm>
              <a:off x="1560901" y="2929294"/>
              <a:ext cx="1022877" cy="885273"/>
              <a:chOff x="1108443" y="3248455"/>
              <a:chExt cx="1022877" cy="885273"/>
            </a:xfrm>
          </p:grpSpPr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2B219976-C149-40D8-A33E-0608571CF6B0}"/>
                  </a:ext>
                </a:extLst>
              </p:cNvPr>
              <p:cNvSpPr/>
              <p:nvPr/>
            </p:nvSpPr>
            <p:spPr>
              <a:xfrm>
                <a:off x="1108443" y="3666656"/>
                <a:ext cx="356188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defTabSz="914400"/>
                <a:r>
                  <a:rPr lang="en-GB" altLang="en-US" sz="2400" dirty="0">
                    <a:solidFill>
                      <a:srgbClr val="C00000"/>
                    </a:solidFill>
                    <a:latin typeface="Arial" panose="020B0604020202020204" pitchFamily="34" charset="0"/>
                  </a:rPr>
                  <a:t>2</a:t>
                </a:r>
                <a:endParaRPr lang="en-AU" sz="2400" dirty="0">
                  <a:solidFill>
                    <a:srgbClr val="C00000"/>
                  </a:solidFill>
                  <a:latin typeface="Calibri" panose="020F0502020204030204"/>
                </a:endParaRPr>
              </a:p>
            </p:txBody>
          </p:sp>
          <p:grpSp>
            <p:nvGrpSpPr>
              <p:cNvPr id="35" name="Group 34">
                <a:extLst>
                  <a:ext uri="{FF2B5EF4-FFF2-40B4-BE49-F238E27FC236}">
                    <a16:creationId xmlns:a16="http://schemas.microsoft.com/office/drawing/2014/main" id="{C44E227A-A0DC-4B9C-A54F-9CFE3BBA98CB}"/>
                  </a:ext>
                </a:extLst>
              </p:cNvPr>
              <p:cNvGrpSpPr/>
              <p:nvPr/>
            </p:nvGrpSpPr>
            <p:grpSpPr>
              <a:xfrm>
                <a:off x="1305824" y="3543546"/>
                <a:ext cx="825496" cy="584775"/>
                <a:chOff x="1804670" y="5714672"/>
                <a:chExt cx="825496" cy="584775"/>
              </a:xfrm>
            </p:grpSpPr>
            <p:sp>
              <p:nvSpPr>
                <p:cNvPr id="38" name="Rectangle 37">
                  <a:extLst>
                    <a:ext uri="{FF2B5EF4-FFF2-40B4-BE49-F238E27FC236}">
                      <a16:creationId xmlns:a16="http://schemas.microsoft.com/office/drawing/2014/main" id="{6AAE4328-6564-4179-B6AF-B72B338E1B13}"/>
                    </a:ext>
                  </a:extLst>
                </p:cNvPr>
                <p:cNvSpPr/>
                <p:nvPr/>
              </p:nvSpPr>
              <p:spPr>
                <a:xfrm>
                  <a:off x="1804670" y="5714672"/>
                  <a:ext cx="320922" cy="58477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defTabSz="914400"/>
                  <a:r>
                    <a:rPr lang="en-GB" altLang="en-US" sz="3200" dirty="0">
                      <a:solidFill>
                        <a:srgbClr val="010066"/>
                      </a:solidFill>
                      <a:latin typeface="Arial" panose="020B0604020202020204" pitchFamily="34" charset="0"/>
                    </a:rPr>
                    <a:t>)</a:t>
                  </a:r>
                  <a:endParaRPr lang="en-AU" sz="3200" dirty="0">
                    <a:solidFill>
                      <a:prstClr val="black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39" name="Line 8">
                  <a:extLst>
                    <a:ext uri="{FF2B5EF4-FFF2-40B4-BE49-F238E27FC236}">
                      <a16:creationId xmlns:a16="http://schemas.microsoft.com/office/drawing/2014/main" id="{711D5174-A33E-488B-B257-B2DCD6135AC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930936" y="5852264"/>
                  <a:ext cx="699230" cy="0"/>
                </a:xfrm>
                <a:prstGeom prst="line">
                  <a:avLst/>
                </a:prstGeom>
                <a:noFill/>
                <a:ln w="28575">
                  <a:solidFill>
                    <a:srgbClr val="010066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defTabSz="914400"/>
                  <a:endParaRPr lang="en-AU">
                    <a:solidFill>
                      <a:prstClr val="black"/>
                    </a:solidFill>
                    <a:latin typeface="Calibri" panose="020F0502020204030204"/>
                  </a:endParaRPr>
                </a:p>
              </p:txBody>
            </p:sp>
          </p:grpSp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3A529CFB-C1A2-4B1C-B232-34399FE38523}"/>
                  </a:ext>
                </a:extLst>
              </p:cNvPr>
              <p:cNvSpPr/>
              <p:nvPr/>
            </p:nvSpPr>
            <p:spPr>
              <a:xfrm>
                <a:off x="1491197" y="3672063"/>
                <a:ext cx="527709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defTabSz="914400"/>
                <a:r>
                  <a:rPr lang="en-GB" altLang="en-US" sz="2400" dirty="0">
                    <a:solidFill>
                      <a:srgbClr val="C00000"/>
                    </a:solidFill>
                    <a:latin typeface="Arial" panose="020B0604020202020204" pitchFamily="34" charset="0"/>
                  </a:rPr>
                  <a:t>5</a:t>
                </a:r>
                <a:r>
                  <a:rPr lang="en-GB" altLang="en-US" sz="2400" dirty="0">
                    <a:solidFill>
                      <a:srgbClr val="002060"/>
                    </a:solidFill>
                    <a:latin typeface="Arial" panose="020B0604020202020204" pitchFamily="34" charset="0"/>
                  </a:rPr>
                  <a:t>8</a:t>
                </a:r>
                <a:endParaRPr lang="en-AU" sz="2400" dirty="0">
                  <a:solidFill>
                    <a:srgbClr val="002060"/>
                  </a:solidFill>
                  <a:latin typeface="Calibri" panose="020F0502020204030204"/>
                </a:endParaRPr>
              </a:p>
            </p:txBody>
          </p: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6AE33B2D-E2E3-4A57-8615-21B988DACB73}"/>
                  </a:ext>
                </a:extLst>
              </p:cNvPr>
              <p:cNvSpPr/>
              <p:nvPr/>
            </p:nvSpPr>
            <p:spPr>
              <a:xfrm>
                <a:off x="1477575" y="3248455"/>
                <a:ext cx="184731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defTabSz="914400"/>
                <a:endParaRPr lang="en-AU" sz="24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p:grp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0F34B5A5-0B9B-4A98-AE8D-80080393A237}"/>
                </a:ext>
              </a:extLst>
            </p:cNvPr>
            <p:cNvSpPr/>
            <p:nvPr/>
          </p:nvSpPr>
          <p:spPr>
            <a:xfrm>
              <a:off x="1930327" y="2929293"/>
              <a:ext cx="356188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defTabSz="914400"/>
              <a:r>
                <a:rPr lang="en-AU" sz="2400" dirty="0">
                  <a:solidFill>
                    <a:srgbClr val="010066"/>
                  </a:solidFill>
                  <a:latin typeface="Arial" panose="020B0604020202020204" pitchFamily="34" charset="0"/>
                </a:rPr>
                <a:t>2</a:t>
              </a:r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F41BA585-6C4F-4B59-8DA3-A161BE2891A1}"/>
                </a:ext>
              </a:extLst>
            </p:cNvPr>
            <p:cNvSpPr/>
            <p:nvPr/>
          </p:nvSpPr>
          <p:spPr>
            <a:xfrm>
              <a:off x="2033620" y="3621655"/>
              <a:ext cx="298480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defTabSz="914400"/>
              <a:r>
                <a:rPr lang="en-GB" altLang="en-US" sz="1600" b="1" dirty="0">
                  <a:solidFill>
                    <a:srgbClr val="7030A0"/>
                  </a:solidFill>
                  <a:latin typeface="Arial" panose="020B0604020202020204" pitchFamily="34" charset="0"/>
                </a:rPr>
                <a:t>1</a:t>
              </a:r>
              <a:endParaRPr lang="en-AU" sz="1600" b="1" dirty="0">
                <a:solidFill>
                  <a:srgbClr val="7030A0"/>
                </a:solidFill>
                <a:latin typeface="Calibri" panose="020F0502020204030204"/>
              </a:endParaRPr>
            </a:p>
          </p:txBody>
        </p:sp>
      </p:grpSp>
      <p:sp>
        <p:nvSpPr>
          <p:cNvPr id="40" name="Rectangle 39">
            <a:extLst>
              <a:ext uri="{FF2B5EF4-FFF2-40B4-BE49-F238E27FC236}">
                <a16:creationId xmlns:a16="http://schemas.microsoft.com/office/drawing/2014/main" id="{F923427E-5D2E-4E27-A44A-4A1F83A566BD}"/>
              </a:ext>
            </a:extLst>
          </p:cNvPr>
          <p:cNvSpPr/>
          <p:nvPr/>
        </p:nvSpPr>
        <p:spPr>
          <a:xfrm>
            <a:off x="4751190" y="3504064"/>
            <a:ext cx="6096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2 × 2 = 4, subtract from 5 and you have a remainder of 1</a:t>
            </a: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FDDBC2DE-B111-47D1-BB9B-71554FB91591}"/>
              </a:ext>
            </a:extLst>
          </p:cNvPr>
          <p:cNvGrpSpPr/>
          <p:nvPr/>
        </p:nvGrpSpPr>
        <p:grpSpPr>
          <a:xfrm>
            <a:off x="4363654" y="4297004"/>
            <a:ext cx="1022877" cy="1072638"/>
            <a:chOff x="1599288" y="4782101"/>
            <a:chExt cx="1022877" cy="1072638"/>
          </a:xfrm>
        </p:grpSpPr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0149A924-FCD7-44C9-8094-A903CA68F76A}"/>
                </a:ext>
              </a:extLst>
            </p:cNvPr>
            <p:cNvGrpSpPr/>
            <p:nvPr/>
          </p:nvGrpSpPr>
          <p:grpSpPr>
            <a:xfrm>
              <a:off x="1599288" y="4782101"/>
              <a:ext cx="1022877" cy="885273"/>
              <a:chOff x="1108443" y="3248455"/>
              <a:chExt cx="1022877" cy="885273"/>
            </a:xfrm>
          </p:grpSpPr>
          <p:sp>
            <p:nvSpPr>
              <p:cNvPr id="46" name="Rectangle 45">
                <a:extLst>
                  <a:ext uri="{FF2B5EF4-FFF2-40B4-BE49-F238E27FC236}">
                    <a16:creationId xmlns:a16="http://schemas.microsoft.com/office/drawing/2014/main" id="{308F3B6C-465C-444A-AA47-50CCE7893AAA}"/>
                  </a:ext>
                </a:extLst>
              </p:cNvPr>
              <p:cNvSpPr/>
              <p:nvPr/>
            </p:nvSpPr>
            <p:spPr>
              <a:xfrm>
                <a:off x="1108443" y="3666656"/>
                <a:ext cx="356188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defTabSz="914400"/>
                <a:r>
                  <a:rPr lang="en-GB" altLang="en-US" sz="2400" dirty="0">
                    <a:solidFill>
                      <a:srgbClr val="C00000"/>
                    </a:solidFill>
                    <a:latin typeface="Arial" panose="020B0604020202020204" pitchFamily="34" charset="0"/>
                  </a:rPr>
                  <a:t>2</a:t>
                </a:r>
                <a:endParaRPr lang="en-AU" sz="2400" dirty="0">
                  <a:solidFill>
                    <a:srgbClr val="C00000"/>
                  </a:solidFill>
                  <a:latin typeface="Calibri" panose="020F0502020204030204"/>
                </a:endParaRPr>
              </a:p>
            </p:txBody>
          </p:sp>
          <p:grpSp>
            <p:nvGrpSpPr>
              <p:cNvPr id="47" name="Group 46">
                <a:extLst>
                  <a:ext uri="{FF2B5EF4-FFF2-40B4-BE49-F238E27FC236}">
                    <a16:creationId xmlns:a16="http://schemas.microsoft.com/office/drawing/2014/main" id="{3906EFF7-A431-418C-A5A4-BF06BD85E02E}"/>
                  </a:ext>
                </a:extLst>
              </p:cNvPr>
              <p:cNvGrpSpPr/>
              <p:nvPr/>
            </p:nvGrpSpPr>
            <p:grpSpPr>
              <a:xfrm>
                <a:off x="1305824" y="3543546"/>
                <a:ext cx="825496" cy="584775"/>
                <a:chOff x="1804670" y="5714672"/>
                <a:chExt cx="825496" cy="584775"/>
              </a:xfrm>
            </p:grpSpPr>
            <p:sp>
              <p:nvSpPr>
                <p:cNvPr id="50" name="Rectangle 49">
                  <a:extLst>
                    <a:ext uri="{FF2B5EF4-FFF2-40B4-BE49-F238E27FC236}">
                      <a16:creationId xmlns:a16="http://schemas.microsoft.com/office/drawing/2014/main" id="{0AE11933-BC10-4F3C-B900-9C2D66AA92EC}"/>
                    </a:ext>
                  </a:extLst>
                </p:cNvPr>
                <p:cNvSpPr/>
                <p:nvPr/>
              </p:nvSpPr>
              <p:spPr>
                <a:xfrm>
                  <a:off x="1804670" y="5714672"/>
                  <a:ext cx="320922" cy="58477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defTabSz="914400"/>
                  <a:r>
                    <a:rPr lang="en-GB" altLang="en-US" sz="3200" dirty="0">
                      <a:solidFill>
                        <a:srgbClr val="010066"/>
                      </a:solidFill>
                      <a:latin typeface="Arial" panose="020B0604020202020204" pitchFamily="34" charset="0"/>
                    </a:rPr>
                    <a:t>)</a:t>
                  </a:r>
                  <a:endParaRPr lang="en-AU" sz="3200" dirty="0">
                    <a:solidFill>
                      <a:prstClr val="black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51" name="Line 8">
                  <a:extLst>
                    <a:ext uri="{FF2B5EF4-FFF2-40B4-BE49-F238E27FC236}">
                      <a16:creationId xmlns:a16="http://schemas.microsoft.com/office/drawing/2014/main" id="{55AD36D7-1263-4FD6-ACF0-137184CD088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930936" y="5852264"/>
                  <a:ext cx="699230" cy="0"/>
                </a:xfrm>
                <a:prstGeom prst="line">
                  <a:avLst/>
                </a:prstGeom>
                <a:noFill/>
                <a:ln w="28575">
                  <a:solidFill>
                    <a:srgbClr val="010066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defTabSz="914400"/>
                  <a:endParaRPr lang="en-AU">
                    <a:solidFill>
                      <a:prstClr val="black"/>
                    </a:solidFill>
                    <a:latin typeface="Calibri" panose="020F0502020204030204"/>
                  </a:endParaRPr>
                </a:p>
              </p:txBody>
            </p:sp>
          </p:grpSp>
          <p:sp>
            <p:nvSpPr>
              <p:cNvPr id="48" name="Rectangle 47">
                <a:extLst>
                  <a:ext uri="{FF2B5EF4-FFF2-40B4-BE49-F238E27FC236}">
                    <a16:creationId xmlns:a16="http://schemas.microsoft.com/office/drawing/2014/main" id="{E921A8DB-C9BB-4FAD-81B0-94D041068E6F}"/>
                  </a:ext>
                </a:extLst>
              </p:cNvPr>
              <p:cNvSpPr/>
              <p:nvPr/>
            </p:nvSpPr>
            <p:spPr>
              <a:xfrm>
                <a:off x="1491197" y="3672063"/>
                <a:ext cx="527709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defTabSz="914400"/>
                <a:r>
                  <a:rPr lang="en-GB" altLang="en-US" sz="2400" dirty="0">
                    <a:solidFill>
                      <a:srgbClr val="C00000"/>
                    </a:solidFill>
                    <a:latin typeface="Arial" panose="020B0604020202020204" pitchFamily="34" charset="0"/>
                  </a:rPr>
                  <a:t>5</a:t>
                </a:r>
                <a:r>
                  <a:rPr lang="en-GB" altLang="en-US" sz="2400" dirty="0">
                    <a:solidFill>
                      <a:srgbClr val="002060"/>
                    </a:solidFill>
                    <a:latin typeface="Arial" panose="020B0604020202020204" pitchFamily="34" charset="0"/>
                  </a:rPr>
                  <a:t>8</a:t>
                </a:r>
                <a:endParaRPr lang="en-AU" sz="2400" dirty="0">
                  <a:solidFill>
                    <a:srgbClr val="002060"/>
                  </a:solidFill>
                  <a:latin typeface="Calibri" panose="020F0502020204030204"/>
                </a:endParaRPr>
              </a:p>
            </p:txBody>
          </p:sp>
          <p:sp>
            <p:nvSpPr>
              <p:cNvPr id="49" name="Rectangle 48">
                <a:extLst>
                  <a:ext uri="{FF2B5EF4-FFF2-40B4-BE49-F238E27FC236}">
                    <a16:creationId xmlns:a16="http://schemas.microsoft.com/office/drawing/2014/main" id="{481A131C-E9DE-4984-960C-529647225128}"/>
                  </a:ext>
                </a:extLst>
              </p:cNvPr>
              <p:cNvSpPr/>
              <p:nvPr/>
            </p:nvSpPr>
            <p:spPr>
              <a:xfrm>
                <a:off x="1477575" y="3248455"/>
                <a:ext cx="184731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defTabSz="914400"/>
                <a:endParaRPr lang="en-AU" sz="24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p:grp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96270071-03A0-46D9-8D56-69BB4A9E7833}"/>
                </a:ext>
              </a:extLst>
            </p:cNvPr>
            <p:cNvSpPr/>
            <p:nvPr/>
          </p:nvSpPr>
          <p:spPr>
            <a:xfrm>
              <a:off x="2166993" y="5485407"/>
              <a:ext cx="31290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defTabSz="914400"/>
              <a:r>
                <a:rPr lang="en-GB" altLang="en-US" dirty="0">
                  <a:solidFill>
                    <a:srgbClr val="002060"/>
                  </a:solidFill>
                  <a:latin typeface="Arial" panose="020B0604020202020204" pitchFamily="34" charset="0"/>
                </a:rPr>
                <a:t>8</a:t>
              </a:r>
              <a:endParaRPr lang="en-AU" dirty="0">
                <a:solidFill>
                  <a:srgbClr val="002060"/>
                </a:solidFill>
                <a:latin typeface="Calibri" panose="020F0502020204030204"/>
              </a:endParaRPr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ECC539DC-99E8-4DB1-B0FC-D49C56039366}"/>
                </a:ext>
              </a:extLst>
            </p:cNvPr>
            <p:cNvSpPr/>
            <p:nvPr/>
          </p:nvSpPr>
          <p:spPr>
            <a:xfrm>
              <a:off x="1966063" y="4797471"/>
              <a:ext cx="356188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defTabSz="914400"/>
              <a:r>
                <a:rPr lang="en-AU" sz="2400" dirty="0">
                  <a:solidFill>
                    <a:srgbClr val="010066"/>
                  </a:solidFill>
                  <a:latin typeface="Arial" panose="020B0604020202020204" pitchFamily="34" charset="0"/>
                </a:rPr>
                <a:t>2</a:t>
              </a:r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6DB94E53-5CCA-4D58-8C76-32338F2A620F}"/>
                </a:ext>
              </a:extLst>
            </p:cNvPr>
            <p:cNvSpPr/>
            <p:nvPr/>
          </p:nvSpPr>
          <p:spPr>
            <a:xfrm>
              <a:off x="2068748" y="5516185"/>
              <a:ext cx="298480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defTabSz="914400"/>
              <a:r>
                <a:rPr lang="en-GB" altLang="en-US" sz="1600" b="1" dirty="0">
                  <a:solidFill>
                    <a:srgbClr val="7030A0"/>
                  </a:solidFill>
                  <a:latin typeface="Arial" panose="020B0604020202020204" pitchFamily="34" charset="0"/>
                </a:rPr>
                <a:t>1</a:t>
              </a:r>
              <a:endParaRPr lang="en-AU" sz="1600" b="1" dirty="0">
                <a:solidFill>
                  <a:srgbClr val="7030A0"/>
                </a:solidFill>
                <a:latin typeface="Calibri" panose="020F0502020204030204"/>
              </a:endParaRPr>
            </a:p>
          </p:txBody>
        </p:sp>
      </p:grpSp>
      <p:sp>
        <p:nvSpPr>
          <p:cNvPr id="52" name="Rectangle 51">
            <a:extLst>
              <a:ext uri="{FF2B5EF4-FFF2-40B4-BE49-F238E27FC236}">
                <a16:creationId xmlns:a16="http://schemas.microsoft.com/office/drawing/2014/main" id="{0CB6734F-5A05-4E6F-8C7E-BCE85AE312FA}"/>
              </a:ext>
            </a:extLst>
          </p:cNvPr>
          <p:cNvSpPr/>
          <p:nvPr/>
        </p:nvSpPr>
        <p:spPr>
          <a:xfrm>
            <a:off x="5571904" y="4606209"/>
            <a:ext cx="6096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You combine the remainder with the next number (8 here)</a:t>
            </a:r>
            <a:endParaRPr lang="en-AU" dirty="0"/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23A42EEB-00D2-4260-BB14-03D3F7E4B0B7}"/>
              </a:ext>
            </a:extLst>
          </p:cNvPr>
          <p:cNvGrpSpPr/>
          <p:nvPr/>
        </p:nvGrpSpPr>
        <p:grpSpPr>
          <a:xfrm>
            <a:off x="5274117" y="5430097"/>
            <a:ext cx="1022877" cy="1072638"/>
            <a:chOff x="1959368" y="5493251"/>
            <a:chExt cx="1022877" cy="1072638"/>
          </a:xfrm>
        </p:grpSpPr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FD6DE36D-7ADA-4654-A430-5D7025882817}"/>
                </a:ext>
              </a:extLst>
            </p:cNvPr>
            <p:cNvGrpSpPr/>
            <p:nvPr/>
          </p:nvGrpSpPr>
          <p:grpSpPr>
            <a:xfrm>
              <a:off x="1959368" y="5493251"/>
              <a:ext cx="1022877" cy="885273"/>
              <a:chOff x="1108443" y="3248455"/>
              <a:chExt cx="1022877" cy="885273"/>
            </a:xfrm>
          </p:grpSpPr>
          <p:sp>
            <p:nvSpPr>
              <p:cNvPr id="58" name="Rectangle 57">
                <a:extLst>
                  <a:ext uri="{FF2B5EF4-FFF2-40B4-BE49-F238E27FC236}">
                    <a16:creationId xmlns:a16="http://schemas.microsoft.com/office/drawing/2014/main" id="{D8D6D4D7-2810-450B-926E-48FEAB5B2BAF}"/>
                  </a:ext>
                </a:extLst>
              </p:cNvPr>
              <p:cNvSpPr/>
              <p:nvPr/>
            </p:nvSpPr>
            <p:spPr>
              <a:xfrm>
                <a:off x="1108443" y="3666656"/>
                <a:ext cx="356188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GB" altLang="en-US" sz="2400" dirty="0">
                    <a:solidFill>
                      <a:srgbClr val="C00000"/>
                    </a:solidFill>
                    <a:latin typeface="Arial" panose="020B0604020202020204" pitchFamily="34" charset="0"/>
                  </a:rPr>
                  <a:t>2</a:t>
                </a:r>
                <a:endParaRPr lang="en-AU" sz="2400" dirty="0">
                  <a:solidFill>
                    <a:srgbClr val="C00000"/>
                  </a:solidFill>
                </a:endParaRPr>
              </a:p>
            </p:txBody>
          </p:sp>
          <p:grpSp>
            <p:nvGrpSpPr>
              <p:cNvPr id="59" name="Group 58">
                <a:extLst>
                  <a:ext uri="{FF2B5EF4-FFF2-40B4-BE49-F238E27FC236}">
                    <a16:creationId xmlns:a16="http://schemas.microsoft.com/office/drawing/2014/main" id="{D2204C5F-D8E4-44C8-87F8-4C2C4D2117AE}"/>
                  </a:ext>
                </a:extLst>
              </p:cNvPr>
              <p:cNvGrpSpPr/>
              <p:nvPr/>
            </p:nvGrpSpPr>
            <p:grpSpPr>
              <a:xfrm>
                <a:off x="1305824" y="3543546"/>
                <a:ext cx="825496" cy="584775"/>
                <a:chOff x="1804670" y="5714672"/>
                <a:chExt cx="825496" cy="584775"/>
              </a:xfrm>
            </p:grpSpPr>
            <p:sp>
              <p:nvSpPr>
                <p:cNvPr id="62" name="Rectangle 61">
                  <a:extLst>
                    <a:ext uri="{FF2B5EF4-FFF2-40B4-BE49-F238E27FC236}">
                      <a16:creationId xmlns:a16="http://schemas.microsoft.com/office/drawing/2014/main" id="{67CD4262-8D92-4B87-822F-7E3A71118910}"/>
                    </a:ext>
                  </a:extLst>
                </p:cNvPr>
                <p:cNvSpPr/>
                <p:nvPr/>
              </p:nvSpPr>
              <p:spPr>
                <a:xfrm>
                  <a:off x="1804670" y="5714672"/>
                  <a:ext cx="320922" cy="58477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en-GB" altLang="en-US" sz="3200" dirty="0">
                      <a:solidFill>
                        <a:srgbClr val="010066"/>
                      </a:solidFill>
                      <a:latin typeface="Arial" panose="020B0604020202020204" pitchFamily="34" charset="0"/>
                    </a:rPr>
                    <a:t>)</a:t>
                  </a:r>
                  <a:endParaRPr lang="en-AU" sz="3200" dirty="0"/>
                </a:p>
              </p:txBody>
            </p:sp>
            <p:sp>
              <p:nvSpPr>
                <p:cNvPr id="63" name="Line 8">
                  <a:extLst>
                    <a:ext uri="{FF2B5EF4-FFF2-40B4-BE49-F238E27FC236}">
                      <a16:creationId xmlns:a16="http://schemas.microsoft.com/office/drawing/2014/main" id="{A8FF4854-C799-43B1-97A3-ECBE7C7F1FF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930936" y="5852264"/>
                  <a:ext cx="699230" cy="0"/>
                </a:xfrm>
                <a:prstGeom prst="line">
                  <a:avLst/>
                </a:prstGeom>
                <a:noFill/>
                <a:ln w="28575">
                  <a:solidFill>
                    <a:srgbClr val="010066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AU"/>
                </a:p>
              </p:txBody>
            </p:sp>
          </p:grpSp>
          <p:sp>
            <p:nvSpPr>
              <p:cNvPr id="60" name="Rectangle 59">
                <a:extLst>
                  <a:ext uri="{FF2B5EF4-FFF2-40B4-BE49-F238E27FC236}">
                    <a16:creationId xmlns:a16="http://schemas.microsoft.com/office/drawing/2014/main" id="{04CE0ADE-20EE-4FF8-A9BD-54FE3D5A58FE}"/>
                  </a:ext>
                </a:extLst>
              </p:cNvPr>
              <p:cNvSpPr/>
              <p:nvPr/>
            </p:nvSpPr>
            <p:spPr>
              <a:xfrm>
                <a:off x="1491197" y="3672063"/>
                <a:ext cx="527709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GB" altLang="en-US" sz="2400" dirty="0">
                    <a:solidFill>
                      <a:srgbClr val="C00000"/>
                    </a:solidFill>
                    <a:latin typeface="Arial" panose="020B0604020202020204" pitchFamily="34" charset="0"/>
                  </a:rPr>
                  <a:t>5</a:t>
                </a:r>
                <a:r>
                  <a:rPr lang="en-GB" altLang="en-US" sz="2400" dirty="0">
                    <a:solidFill>
                      <a:srgbClr val="002060"/>
                    </a:solidFill>
                    <a:latin typeface="Arial" panose="020B0604020202020204" pitchFamily="34" charset="0"/>
                  </a:rPr>
                  <a:t>8</a:t>
                </a:r>
                <a:endParaRPr lang="en-AU" sz="2400" dirty="0">
                  <a:solidFill>
                    <a:srgbClr val="002060"/>
                  </a:solidFill>
                </a:endParaRPr>
              </a:p>
            </p:txBody>
          </p:sp>
          <p:sp>
            <p:nvSpPr>
              <p:cNvPr id="61" name="Rectangle 60">
                <a:extLst>
                  <a:ext uri="{FF2B5EF4-FFF2-40B4-BE49-F238E27FC236}">
                    <a16:creationId xmlns:a16="http://schemas.microsoft.com/office/drawing/2014/main" id="{B5160187-163E-44E6-9E9A-80BB65E0FB61}"/>
                  </a:ext>
                </a:extLst>
              </p:cNvPr>
              <p:cNvSpPr/>
              <p:nvPr/>
            </p:nvSpPr>
            <p:spPr>
              <a:xfrm>
                <a:off x="1477575" y="3248455"/>
                <a:ext cx="184731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endParaRPr lang="en-AU" sz="2400" dirty="0"/>
              </a:p>
            </p:txBody>
          </p:sp>
        </p:grp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89DF828B-DF5B-4704-AC1B-23031D6FDD89}"/>
                </a:ext>
              </a:extLst>
            </p:cNvPr>
            <p:cNvSpPr/>
            <p:nvPr/>
          </p:nvSpPr>
          <p:spPr>
            <a:xfrm>
              <a:off x="2527073" y="6196557"/>
              <a:ext cx="31290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GB" altLang="en-US" dirty="0">
                  <a:solidFill>
                    <a:srgbClr val="002060"/>
                  </a:solidFill>
                  <a:latin typeface="Arial" panose="020B0604020202020204" pitchFamily="34" charset="0"/>
                </a:rPr>
                <a:t>8</a:t>
              </a:r>
              <a:endParaRPr lang="en-AU" dirty="0">
                <a:solidFill>
                  <a:srgbClr val="002060"/>
                </a:solidFill>
              </a:endParaRPr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0074F2CF-57BD-47F7-A7EF-694153EEC496}"/>
                </a:ext>
              </a:extLst>
            </p:cNvPr>
            <p:cNvSpPr/>
            <p:nvPr/>
          </p:nvSpPr>
          <p:spPr>
            <a:xfrm>
              <a:off x="2326143" y="5508621"/>
              <a:ext cx="527709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AU" sz="2400" dirty="0">
                  <a:solidFill>
                    <a:srgbClr val="010066"/>
                  </a:solidFill>
                  <a:latin typeface="Arial" panose="020B0604020202020204" pitchFamily="34" charset="0"/>
                </a:rPr>
                <a:t>29</a:t>
              </a:r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60137E2D-EE85-4C91-92E8-75B35822687E}"/>
                </a:ext>
              </a:extLst>
            </p:cNvPr>
            <p:cNvSpPr/>
            <p:nvPr/>
          </p:nvSpPr>
          <p:spPr>
            <a:xfrm>
              <a:off x="2428828" y="6227335"/>
              <a:ext cx="298480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GB" altLang="en-US" sz="1600" b="1" dirty="0">
                  <a:solidFill>
                    <a:srgbClr val="7030A0"/>
                  </a:solidFill>
                  <a:latin typeface="Arial" panose="020B0604020202020204" pitchFamily="34" charset="0"/>
                </a:rPr>
                <a:t>1</a:t>
              </a:r>
              <a:endParaRPr lang="en-AU" sz="1600" b="1" dirty="0">
                <a:solidFill>
                  <a:srgbClr val="7030A0"/>
                </a:solidFill>
              </a:endParaRPr>
            </a:p>
          </p:txBody>
        </p:sp>
      </p:grpSp>
      <p:sp>
        <p:nvSpPr>
          <p:cNvPr id="64" name="Rectangle 63">
            <a:extLst>
              <a:ext uri="{FF2B5EF4-FFF2-40B4-BE49-F238E27FC236}">
                <a16:creationId xmlns:a16="http://schemas.microsoft.com/office/drawing/2014/main" id="{5941E3C5-0B01-4B86-8864-30FC0FDF0C3F}"/>
              </a:ext>
            </a:extLst>
          </p:cNvPr>
          <p:cNvSpPr/>
          <p:nvPr/>
        </p:nvSpPr>
        <p:spPr>
          <a:xfrm>
            <a:off x="6706176" y="5636415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Two goes into 18 nine times. Put 9 in the quotient</a:t>
            </a:r>
            <a:endParaRPr lang="en-AU" dirty="0"/>
          </a:p>
          <a:p>
            <a:endParaRPr lang="en-US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8066ECFE-AF5F-439B-A0ED-51102302D39E}"/>
              </a:ext>
            </a:extLst>
          </p:cNvPr>
          <p:cNvSpPr/>
          <p:nvPr/>
        </p:nvSpPr>
        <p:spPr>
          <a:xfrm>
            <a:off x="9347442" y="6162844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Check the final answer: </a:t>
            </a:r>
          </a:p>
          <a:p>
            <a:r>
              <a:rPr lang="en-US" dirty="0">
                <a:solidFill>
                  <a:srgbClr val="C00000"/>
                </a:solidFill>
                <a:latin typeface="Arial" panose="020B0604020202020204" pitchFamily="34" charset="0"/>
              </a:rPr>
              <a:t>2 × 29 = 58</a:t>
            </a:r>
            <a:endParaRPr lang="en-AU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833252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40" grpId="0"/>
      <p:bldP spid="52" grpId="0"/>
      <p:bldP spid="64" grpId="0"/>
      <p:bldP spid="6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A4442D16-BF77-45FD-817C-9099FADDF3E2}"/>
              </a:ext>
            </a:extLst>
          </p:cNvPr>
          <p:cNvGrpSpPr/>
          <p:nvPr/>
        </p:nvGrpSpPr>
        <p:grpSpPr>
          <a:xfrm>
            <a:off x="371450" y="967891"/>
            <a:ext cx="3313230" cy="2602522"/>
            <a:chOff x="263770" y="202224"/>
            <a:chExt cx="2224453" cy="2602522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3DABF5DD-B977-4B97-B451-E46475CDC216}"/>
                </a:ext>
              </a:extLst>
            </p:cNvPr>
            <p:cNvSpPr/>
            <p:nvPr/>
          </p:nvSpPr>
          <p:spPr>
            <a:xfrm>
              <a:off x="263770" y="202224"/>
              <a:ext cx="2224453" cy="2602522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268AE2A9-CFD6-4B33-9155-A952A15892A2}"/>
                </a:ext>
              </a:extLst>
            </p:cNvPr>
            <p:cNvSpPr/>
            <p:nvPr/>
          </p:nvSpPr>
          <p:spPr>
            <a:xfrm>
              <a:off x="512883" y="476935"/>
              <a:ext cx="1263161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 pitchFamily="34" charset="0"/>
                  <a:ea typeface="+mn-ea"/>
                  <a:cs typeface="+mn-cs"/>
                </a:rPr>
                <a:t> 304</a:t>
              </a:r>
              <a:r>
                <a:rPr kumimoji="0" lang="en-GB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</a:t>
              </a:r>
              <a:r>
                <a:rPr kumimoji="0" lang="en-GB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 pitchFamily="34" charset="0"/>
                  <a:ea typeface="+mn-ea"/>
                  <a:cs typeface="+mn-cs"/>
                </a:rPr>
                <a:t>÷ 8 = </a:t>
              </a:r>
              <a:endPara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88DCAD11-73D4-4D2C-8EC5-AC2EDC4CAEE0}"/>
                </a:ext>
              </a:extLst>
            </p:cNvPr>
            <p:cNvSpPr/>
            <p:nvPr/>
          </p:nvSpPr>
          <p:spPr>
            <a:xfrm>
              <a:off x="649166" y="936312"/>
              <a:ext cx="1263161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 pitchFamily="34" charset="0"/>
                  <a:ea typeface="+mn-ea"/>
                  <a:cs typeface="+mn-cs"/>
                </a:rPr>
                <a:t>72 </a:t>
              </a:r>
              <a:r>
                <a:rPr kumimoji="0" lang="en-GB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 pitchFamily="34" charset="0"/>
                  <a:ea typeface="+mn-ea"/>
                  <a:cs typeface="+mn-cs"/>
                </a:rPr>
                <a:t>÷ 6 = </a:t>
              </a:r>
              <a:endPara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94EA8ED6-C2D1-47FF-B5C8-CED3D5144303}"/>
                </a:ext>
              </a:extLst>
            </p:cNvPr>
            <p:cNvSpPr/>
            <p:nvPr/>
          </p:nvSpPr>
          <p:spPr>
            <a:xfrm>
              <a:off x="649165" y="1395689"/>
              <a:ext cx="1263161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 pitchFamily="34" charset="0"/>
                  <a:ea typeface="+mn-ea"/>
                  <a:cs typeface="+mn-cs"/>
                </a:rPr>
                <a:t>58 </a:t>
              </a:r>
              <a:r>
                <a:rPr kumimoji="0" lang="en-GB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 pitchFamily="34" charset="0"/>
                  <a:ea typeface="+mn-ea"/>
                  <a:cs typeface="+mn-cs"/>
                </a:rPr>
                <a:t>÷ 2 = </a:t>
              </a:r>
              <a:endPara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C73193B-53E0-408E-8E1E-7EC44D4CC22C}"/>
                </a:ext>
              </a:extLst>
            </p:cNvPr>
            <p:cNvSpPr/>
            <p:nvPr/>
          </p:nvSpPr>
          <p:spPr>
            <a:xfrm>
              <a:off x="512884" y="1855066"/>
              <a:ext cx="1263161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 pitchFamily="34" charset="0"/>
                  <a:ea typeface="+mn-ea"/>
                  <a:cs typeface="+mn-cs"/>
                </a:rPr>
                <a:t>161 </a:t>
              </a:r>
              <a:r>
                <a:rPr kumimoji="0" lang="en-GB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 pitchFamily="34" charset="0"/>
                  <a:ea typeface="+mn-ea"/>
                  <a:cs typeface="+mn-cs"/>
                </a:rPr>
                <a:t>÷ 7 = </a:t>
              </a:r>
              <a:endPara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B255A6BE-654A-4970-8C64-5A62219947AA}"/>
                </a:ext>
              </a:extLst>
            </p:cNvPr>
            <p:cNvSpPr/>
            <p:nvPr/>
          </p:nvSpPr>
          <p:spPr>
            <a:xfrm>
              <a:off x="512883" y="2335279"/>
              <a:ext cx="1263161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 pitchFamily="34" charset="0"/>
                  <a:ea typeface="+mn-ea"/>
                  <a:cs typeface="+mn-cs"/>
                </a:rPr>
                <a:t>231 </a:t>
              </a:r>
              <a:r>
                <a:rPr kumimoji="0" lang="en-GB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 pitchFamily="34" charset="0"/>
                  <a:ea typeface="+mn-ea"/>
                  <a:cs typeface="+mn-cs"/>
                </a:rPr>
                <a:t>÷ 7 = </a:t>
              </a:r>
              <a:endPara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87395DE2-4B98-47EF-BD57-7AF5FF8FEAC5}"/>
              </a:ext>
            </a:extLst>
          </p:cNvPr>
          <p:cNvGrpSpPr/>
          <p:nvPr/>
        </p:nvGrpSpPr>
        <p:grpSpPr>
          <a:xfrm>
            <a:off x="4236474" y="960997"/>
            <a:ext cx="3851213" cy="2602522"/>
            <a:chOff x="263770" y="202224"/>
            <a:chExt cx="2224453" cy="2602522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C3A0CBE-70BC-412B-B858-1A97230A8D62}"/>
                </a:ext>
              </a:extLst>
            </p:cNvPr>
            <p:cNvSpPr/>
            <p:nvPr/>
          </p:nvSpPr>
          <p:spPr>
            <a:xfrm>
              <a:off x="263770" y="202224"/>
              <a:ext cx="2224453" cy="2602522"/>
            </a:xfrm>
            <a:prstGeom prst="rect">
              <a:avLst/>
            </a:prstGeom>
            <a:noFill/>
            <a:ln w="38100"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10FCB956-D0E8-4F6A-8565-E42CE99E08D6}"/>
                </a:ext>
              </a:extLst>
            </p:cNvPr>
            <p:cNvSpPr/>
            <p:nvPr/>
          </p:nvSpPr>
          <p:spPr>
            <a:xfrm>
              <a:off x="488698" y="524704"/>
              <a:ext cx="1399443" cy="369332"/>
            </a:xfrm>
            <a:prstGeom prst="rect">
              <a:avLst/>
            </a:prstGeom>
            <a:ln>
              <a:noFill/>
            </a:ln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 pitchFamily="34" charset="0"/>
                  <a:ea typeface="+mn-ea"/>
                  <a:cs typeface="+mn-cs"/>
                </a:rPr>
                <a:t> 627</a:t>
              </a:r>
              <a:r>
                <a:rPr kumimoji="0" lang="en-GB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</a:t>
              </a:r>
              <a:r>
                <a:rPr kumimoji="0" lang="en-GB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 pitchFamily="34" charset="0"/>
                  <a:ea typeface="+mn-ea"/>
                  <a:cs typeface="+mn-cs"/>
                </a:rPr>
                <a:t>÷ 11 = </a:t>
              </a:r>
              <a:endPara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1C961765-A51C-4B84-9E9D-EC43BCC12506}"/>
                </a:ext>
              </a:extLst>
            </p:cNvPr>
            <p:cNvSpPr/>
            <p:nvPr/>
          </p:nvSpPr>
          <p:spPr>
            <a:xfrm>
              <a:off x="581023" y="967926"/>
              <a:ext cx="1263161" cy="369332"/>
            </a:xfrm>
            <a:prstGeom prst="rect">
              <a:avLst/>
            </a:prstGeom>
            <a:ln>
              <a:noFill/>
            </a:ln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 pitchFamily="34" charset="0"/>
                  <a:ea typeface="+mn-ea"/>
                  <a:cs typeface="+mn-cs"/>
                </a:rPr>
                <a:t>288 </a:t>
              </a:r>
              <a:r>
                <a:rPr kumimoji="0" lang="en-GB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 pitchFamily="34" charset="0"/>
                  <a:ea typeface="+mn-ea"/>
                  <a:cs typeface="+mn-cs"/>
                </a:rPr>
                <a:t>÷ 6 = </a:t>
              </a:r>
              <a:endPara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62D91E97-93BC-406A-AC50-1B57FC8CACAE}"/>
                </a:ext>
              </a:extLst>
            </p:cNvPr>
            <p:cNvSpPr/>
            <p:nvPr/>
          </p:nvSpPr>
          <p:spPr>
            <a:xfrm>
              <a:off x="581023" y="1406107"/>
              <a:ext cx="1263161" cy="369332"/>
            </a:xfrm>
            <a:prstGeom prst="rect">
              <a:avLst/>
            </a:prstGeom>
            <a:ln>
              <a:noFill/>
            </a:ln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 pitchFamily="34" charset="0"/>
                  <a:ea typeface="+mn-ea"/>
                  <a:cs typeface="+mn-cs"/>
                </a:rPr>
                <a:t>268 </a:t>
              </a:r>
              <a:r>
                <a:rPr kumimoji="0" lang="en-GB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 pitchFamily="34" charset="0"/>
                  <a:ea typeface="+mn-ea"/>
                  <a:cs typeface="+mn-cs"/>
                </a:rPr>
                <a:t>÷ 6 = </a:t>
              </a:r>
              <a:endPara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BC2C88A6-1BE8-43EF-8AA5-0EB98EF6C37C}"/>
                </a:ext>
              </a:extLst>
            </p:cNvPr>
            <p:cNvSpPr/>
            <p:nvPr/>
          </p:nvSpPr>
          <p:spPr>
            <a:xfrm>
              <a:off x="512883" y="1913137"/>
              <a:ext cx="1263161" cy="369332"/>
            </a:xfrm>
            <a:prstGeom prst="rect">
              <a:avLst/>
            </a:prstGeom>
            <a:ln>
              <a:noFill/>
            </a:ln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 pitchFamily="34" charset="0"/>
                  <a:ea typeface="+mn-ea"/>
                  <a:cs typeface="+mn-cs"/>
                </a:rPr>
                <a:t>288 </a:t>
              </a:r>
              <a:r>
                <a:rPr kumimoji="0" lang="en-GB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 pitchFamily="34" charset="0"/>
                  <a:ea typeface="+mn-ea"/>
                  <a:cs typeface="+mn-cs"/>
                </a:rPr>
                <a:t>÷  8 = </a:t>
              </a:r>
              <a:endPara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BEB51E6A-5067-4774-B291-DF44E1ECA69C}"/>
                </a:ext>
              </a:extLst>
            </p:cNvPr>
            <p:cNvSpPr/>
            <p:nvPr/>
          </p:nvSpPr>
          <p:spPr>
            <a:xfrm>
              <a:off x="512883" y="2335279"/>
              <a:ext cx="1589946" cy="369332"/>
            </a:xfrm>
            <a:prstGeom prst="rect">
              <a:avLst/>
            </a:prstGeom>
            <a:ln>
              <a:noFill/>
            </a:ln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 pitchFamily="34" charset="0"/>
                  <a:ea typeface="+mn-ea"/>
                  <a:cs typeface="+mn-cs"/>
                </a:rPr>
                <a:t>520 </a:t>
              </a:r>
              <a:r>
                <a:rPr kumimoji="0" lang="en-GB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 pitchFamily="34" charset="0"/>
                  <a:ea typeface="+mn-ea"/>
                  <a:cs typeface="+mn-cs"/>
                </a:rPr>
                <a:t>÷ 10 = </a:t>
              </a:r>
              <a:endPara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9531EAD1-EC74-4232-8935-91F0B034A7F5}"/>
              </a:ext>
            </a:extLst>
          </p:cNvPr>
          <p:cNvGrpSpPr/>
          <p:nvPr/>
        </p:nvGrpSpPr>
        <p:grpSpPr>
          <a:xfrm>
            <a:off x="8627052" y="960997"/>
            <a:ext cx="3140313" cy="2602522"/>
            <a:chOff x="263770" y="202224"/>
            <a:chExt cx="2224453" cy="2602522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C8121642-2F7B-4210-A327-DFD47140F196}"/>
                </a:ext>
              </a:extLst>
            </p:cNvPr>
            <p:cNvSpPr/>
            <p:nvPr/>
          </p:nvSpPr>
          <p:spPr>
            <a:xfrm>
              <a:off x="263770" y="202224"/>
              <a:ext cx="2224453" cy="2602522"/>
            </a:xfrm>
            <a:prstGeom prst="rect">
              <a:avLst/>
            </a:prstGeom>
            <a:noFill/>
            <a:ln w="38100"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09FF4526-CB01-4B7A-8276-4537F94F8551}"/>
                </a:ext>
              </a:extLst>
            </p:cNvPr>
            <p:cNvSpPr/>
            <p:nvPr/>
          </p:nvSpPr>
          <p:spPr>
            <a:xfrm>
              <a:off x="488698" y="524704"/>
              <a:ext cx="1614131" cy="369332"/>
            </a:xfrm>
            <a:prstGeom prst="rect">
              <a:avLst/>
            </a:prstGeom>
            <a:ln>
              <a:noFill/>
            </a:ln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 pitchFamily="34" charset="0"/>
                  <a:ea typeface="+mn-ea"/>
                  <a:cs typeface="+mn-cs"/>
                </a:rPr>
                <a:t> 1692</a:t>
              </a:r>
              <a:r>
                <a:rPr kumimoji="0" lang="en-GB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</a:t>
              </a:r>
              <a:r>
                <a:rPr kumimoji="0" lang="en-GB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 pitchFamily="34" charset="0"/>
                  <a:ea typeface="+mn-ea"/>
                  <a:cs typeface="+mn-cs"/>
                </a:rPr>
                <a:t>÷ 18 = </a:t>
              </a:r>
              <a:endPara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D1EF82CB-0DBD-44FC-A675-FD3B9B181B3B}"/>
                </a:ext>
              </a:extLst>
            </p:cNvPr>
            <p:cNvSpPr/>
            <p:nvPr/>
          </p:nvSpPr>
          <p:spPr>
            <a:xfrm>
              <a:off x="581023" y="967926"/>
              <a:ext cx="1444143" cy="369332"/>
            </a:xfrm>
            <a:prstGeom prst="rect">
              <a:avLst/>
            </a:prstGeom>
            <a:ln>
              <a:noFill/>
            </a:ln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 pitchFamily="34" charset="0"/>
                  <a:ea typeface="+mn-ea"/>
                  <a:cs typeface="+mn-cs"/>
                </a:rPr>
                <a:t>704 </a:t>
              </a:r>
              <a:r>
                <a:rPr kumimoji="0" lang="en-GB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 pitchFamily="34" charset="0"/>
                  <a:ea typeface="+mn-ea"/>
                  <a:cs typeface="+mn-cs"/>
                </a:rPr>
                <a:t>÷ 16 = </a:t>
              </a:r>
              <a:endPara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C590954F-56F5-46EB-898B-75EC8F5B04CF}"/>
                </a:ext>
              </a:extLst>
            </p:cNvPr>
            <p:cNvSpPr/>
            <p:nvPr/>
          </p:nvSpPr>
          <p:spPr>
            <a:xfrm>
              <a:off x="581023" y="1406107"/>
              <a:ext cx="1580416" cy="369332"/>
            </a:xfrm>
            <a:prstGeom prst="rect">
              <a:avLst/>
            </a:prstGeom>
            <a:ln>
              <a:noFill/>
            </a:ln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 pitchFamily="34" charset="0"/>
                  <a:ea typeface="+mn-ea"/>
                  <a:cs typeface="+mn-cs"/>
                </a:rPr>
                <a:t>770 </a:t>
              </a:r>
              <a:r>
                <a:rPr kumimoji="0" lang="en-GB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 pitchFamily="34" charset="0"/>
                  <a:ea typeface="+mn-ea"/>
                  <a:cs typeface="+mn-cs"/>
                </a:rPr>
                <a:t>÷ 10 = </a:t>
              </a:r>
              <a:endPara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0DFE9805-7150-4F7E-8B9B-E0A3D3257139}"/>
                </a:ext>
              </a:extLst>
            </p:cNvPr>
            <p:cNvSpPr/>
            <p:nvPr/>
          </p:nvSpPr>
          <p:spPr>
            <a:xfrm>
              <a:off x="512883" y="1913137"/>
              <a:ext cx="1580416" cy="369332"/>
            </a:xfrm>
            <a:prstGeom prst="rect">
              <a:avLst/>
            </a:prstGeom>
            <a:ln>
              <a:noFill/>
            </a:ln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 pitchFamily="34" charset="0"/>
                  <a:ea typeface="+mn-ea"/>
                  <a:cs typeface="+mn-cs"/>
                </a:rPr>
                <a:t>1428 </a:t>
              </a:r>
              <a:r>
                <a:rPr kumimoji="0" lang="en-GB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 pitchFamily="34" charset="0"/>
                  <a:ea typeface="+mn-ea"/>
                  <a:cs typeface="+mn-cs"/>
                </a:rPr>
                <a:t>÷  17 = </a:t>
              </a:r>
              <a:endPara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5523A39C-1BE4-4FB1-9F70-0AB4166D095D}"/>
                </a:ext>
              </a:extLst>
            </p:cNvPr>
            <p:cNvSpPr/>
            <p:nvPr/>
          </p:nvSpPr>
          <p:spPr>
            <a:xfrm>
              <a:off x="671145" y="2319597"/>
              <a:ext cx="1589946" cy="369332"/>
            </a:xfrm>
            <a:prstGeom prst="rect">
              <a:avLst/>
            </a:prstGeom>
            <a:ln>
              <a:noFill/>
            </a:ln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 pitchFamily="34" charset="0"/>
                  <a:ea typeface="+mn-ea"/>
                  <a:cs typeface="+mn-cs"/>
                </a:rPr>
                <a:t>935 </a:t>
              </a:r>
              <a:r>
                <a:rPr kumimoji="0" lang="en-GB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 pitchFamily="34" charset="0"/>
                  <a:ea typeface="+mn-ea"/>
                  <a:cs typeface="+mn-cs"/>
                </a:rPr>
                <a:t>÷ 11 = </a:t>
              </a:r>
              <a:endPara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6BA50B04-50AD-42D0-B03E-B89F16EA729E}"/>
              </a:ext>
            </a:extLst>
          </p:cNvPr>
          <p:cNvGrpSpPr/>
          <p:nvPr/>
        </p:nvGrpSpPr>
        <p:grpSpPr>
          <a:xfrm>
            <a:off x="1037669" y="3778543"/>
            <a:ext cx="4916366" cy="2602522"/>
            <a:chOff x="263770" y="202224"/>
            <a:chExt cx="2224453" cy="2602522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D14376AA-023E-49C7-8C28-04B5E42A0D1F}"/>
                </a:ext>
              </a:extLst>
            </p:cNvPr>
            <p:cNvSpPr/>
            <p:nvPr/>
          </p:nvSpPr>
          <p:spPr>
            <a:xfrm>
              <a:off x="263770" y="202224"/>
              <a:ext cx="2224453" cy="2602522"/>
            </a:xfrm>
            <a:prstGeom prst="rect">
              <a:avLst/>
            </a:prstGeom>
            <a:noFill/>
            <a:ln w="38100">
              <a:solidFill>
                <a:srgbClr val="B41E9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E4081C75-F3AC-4FDF-A246-342A5ED9E28A}"/>
                </a:ext>
              </a:extLst>
            </p:cNvPr>
            <p:cNvSpPr/>
            <p:nvPr/>
          </p:nvSpPr>
          <p:spPr>
            <a:xfrm>
              <a:off x="488698" y="524704"/>
              <a:ext cx="1614131" cy="369332"/>
            </a:xfrm>
            <a:prstGeom prst="rect">
              <a:avLst/>
            </a:prstGeom>
            <a:ln>
              <a:noFill/>
            </a:ln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 pitchFamily="34" charset="0"/>
                  <a:ea typeface="+mn-ea"/>
                  <a:cs typeface="+mn-cs"/>
                </a:rPr>
                <a:t> 9160</a:t>
              </a:r>
              <a:r>
                <a:rPr kumimoji="0" lang="en-GB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</a:t>
              </a:r>
              <a:r>
                <a:rPr kumimoji="0" lang="en-GB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 pitchFamily="34" charset="0"/>
                  <a:ea typeface="+mn-ea"/>
                  <a:cs typeface="+mn-cs"/>
                </a:rPr>
                <a:t>÷ 44 = </a:t>
              </a:r>
              <a:endPara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DCF7AD70-9BAD-4B32-A058-2048A1349228}"/>
                </a:ext>
              </a:extLst>
            </p:cNvPr>
            <p:cNvSpPr/>
            <p:nvPr/>
          </p:nvSpPr>
          <p:spPr>
            <a:xfrm>
              <a:off x="581023" y="967926"/>
              <a:ext cx="1444143" cy="369332"/>
            </a:xfrm>
            <a:prstGeom prst="rect">
              <a:avLst/>
            </a:prstGeom>
            <a:ln>
              <a:noFill/>
            </a:ln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 pitchFamily="34" charset="0"/>
                  <a:ea typeface="+mn-ea"/>
                  <a:cs typeface="+mn-cs"/>
                </a:rPr>
                <a:t>3382 </a:t>
              </a:r>
              <a:r>
                <a:rPr kumimoji="0" lang="en-GB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 pitchFamily="34" charset="0"/>
                  <a:ea typeface="+mn-ea"/>
                  <a:cs typeface="+mn-cs"/>
                </a:rPr>
                <a:t>÷ 38 = </a:t>
              </a:r>
              <a:endPara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415F92E8-4B62-44FF-B915-D4AA88309FF6}"/>
                </a:ext>
              </a:extLst>
            </p:cNvPr>
            <p:cNvSpPr/>
            <p:nvPr/>
          </p:nvSpPr>
          <p:spPr>
            <a:xfrm>
              <a:off x="581023" y="1406107"/>
              <a:ext cx="1580416" cy="369332"/>
            </a:xfrm>
            <a:prstGeom prst="rect">
              <a:avLst/>
            </a:prstGeom>
            <a:ln>
              <a:noFill/>
            </a:ln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 pitchFamily="34" charset="0"/>
                  <a:ea typeface="+mn-ea"/>
                  <a:cs typeface="+mn-cs"/>
                </a:rPr>
                <a:t>3806 </a:t>
              </a:r>
              <a:r>
                <a:rPr kumimoji="0" lang="en-GB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 pitchFamily="34" charset="0"/>
                  <a:ea typeface="+mn-ea"/>
                  <a:cs typeface="+mn-cs"/>
                </a:rPr>
                <a:t>÷ 22 = </a:t>
              </a:r>
              <a:endPara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A018276C-27AE-471D-ADD8-83616F76318B}"/>
                </a:ext>
              </a:extLst>
            </p:cNvPr>
            <p:cNvSpPr/>
            <p:nvPr/>
          </p:nvSpPr>
          <p:spPr>
            <a:xfrm>
              <a:off x="512883" y="1913137"/>
              <a:ext cx="1580416" cy="369332"/>
            </a:xfrm>
            <a:prstGeom prst="rect">
              <a:avLst/>
            </a:prstGeom>
            <a:ln>
              <a:noFill/>
            </a:ln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 pitchFamily="34" charset="0"/>
                  <a:ea typeface="+mn-ea"/>
                  <a:cs typeface="+mn-cs"/>
                </a:rPr>
                <a:t>3441 </a:t>
              </a:r>
              <a:r>
                <a:rPr kumimoji="0" lang="en-GB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 pitchFamily="34" charset="0"/>
                  <a:ea typeface="+mn-ea"/>
                  <a:cs typeface="+mn-cs"/>
                </a:rPr>
                <a:t>÷  31 = </a:t>
              </a:r>
              <a:endPara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7E15521F-8FF9-4D25-89D9-E074711749AB}"/>
                </a:ext>
              </a:extLst>
            </p:cNvPr>
            <p:cNvSpPr/>
            <p:nvPr/>
          </p:nvSpPr>
          <p:spPr>
            <a:xfrm>
              <a:off x="576258" y="2335279"/>
              <a:ext cx="1589946" cy="369332"/>
            </a:xfrm>
            <a:prstGeom prst="rect">
              <a:avLst/>
            </a:prstGeom>
            <a:ln>
              <a:noFill/>
            </a:ln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 pitchFamily="34" charset="0"/>
                  <a:ea typeface="+mn-ea"/>
                  <a:cs typeface="+mn-cs"/>
                </a:rPr>
                <a:t>6048 </a:t>
              </a:r>
              <a:r>
                <a:rPr kumimoji="0" lang="en-GB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 pitchFamily="34" charset="0"/>
                  <a:ea typeface="+mn-ea"/>
                  <a:cs typeface="+mn-cs"/>
                </a:rPr>
                <a:t>÷ 42 = </a:t>
              </a:r>
              <a:endPara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101AFC1A-CAFD-4042-87A5-23990F44C2BD}"/>
              </a:ext>
            </a:extLst>
          </p:cNvPr>
          <p:cNvGrpSpPr/>
          <p:nvPr/>
        </p:nvGrpSpPr>
        <p:grpSpPr>
          <a:xfrm>
            <a:off x="6297166" y="3776653"/>
            <a:ext cx="4756639" cy="2602522"/>
            <a:chOff x="263770" y="202224"/>
            <a:chExt cx="2224453" cy="2602522"/>
          </a:xfrm>
        </p:grpSpPr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9D30CBE9-43D1-4475-A883-11309BBBF61F}"/>
                </a:ext>
              </a:extLst>
            </p:cNvPr>
            <p:cNvSpPr/>
            <p:nvPr/>
          </p:nvSpPr>
          <p:spPr>
            <a:xfrm>
              <a:off x="263770" y="202224"/>
              <a:ext cx="2224453" cy="2602522"/>
            </a:xfrm>
            <a:prstGeom prst="rect">
              <a:avLst/>
            </a:prstGeom>
            <a:noFill/>
            <a:ln w="3810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80D7FE60-A86B-4507-B695-66476DB223C8}"/>
                </a:ext>
              </a:extLst>
            </p:cNvPr>
            <p:cNvSpPr/>
            <p:nvPr/>
          </p:nvSpPr>
          <p:spPr>
            <a:xfrm>
              <a:off x="488698" y="524704"/>
              <a:ext cx="1614131" cy="369332"/>
            </a:xfrm>
            <a:prstGeom prst="rect">
              <a:avLst/>
            </a:prstGeom>
            <a:ln>
              <a:noFill/>
            </a:ln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 pitchFamily="34" charset="0"/>
                  <a:ea typeface="+mn-ea"/>
                  <a:cs typeface="+mn-cs"/>
                </a:rPr>
                <a:t>78247</a:t>
              </a:r>
              <a:r>
                <a:rPr kumimoji="0" lang="en-GB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 pitchFamily="34" charset="0"/>
                  <a:ea typeface="+mn-ea"/>
                  <a:cs typeface="+mn-cs"/>
                </a:rPr>
                <a:t>÷ 169 = </a:t>
              </a:r>
              <a:endPara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C460176A-ADA7-4705-B26A-A7BB3A8D16F7}"/>
                </a:ext>
              </a:extLst>
            </p:cNvPr>
            <p:cNvSpPr/>
            <p:nvPr/>
          </p:nvSpPr>
          <p:spPr>
            <a:xfrm>
              <a:off x="581023" y="967926"/>
              <a:ext cx="1822953" cy="369332"/>
            </a:xfrm>
            <a:prstGeom prst="rect">
              <a:avLst/>
            </a:prstGeom>
            <a:ln>
              <a:noFill/>
            </a:ln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 pitchFamily="34" charset="0"/>
                  <a:ea typeface="+mn-ea"/>
                  <a:cs typeface="+mn-cs"/>
                </a:rPr>
                <a:t>18084 </a:t>
              </a:r>
              <a:r>
                <a:rPr kumimoji="0" lang="en-GB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 pitchFamily="34" charset="0"/>
                  <a:ea typeface="+mn-ea"/>
                  <a:cs typeface="+mn-cs"/>
                </a:rPr>
                <a:t>÷ 137 = </a:t>
              </a:r>
              <a:endPara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F09E5BF6-2D41-4E39-AF4D-10E743DD71BC}"/>
                </a:ext>
              </a:extLst>
            </p:cNvPr>
            <p:cNvSpPr/>
            <p:nvPr/>
          </p:nvSpPr>
          <p:spPr>
            <a:xfrm>
              <a:off x="581023" y="1406107"/>
              <a:ext cx="1580416" cy="369332"/>
            </a:xfrm>
            <a:prstGeom prst="rect">
              <a:avLst/>
            </a:prstGeom>
            <a:ln>
              <a:noFill/>
            </a:ln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 pitchFamily="34" charset="0"/>
                  <a:ea typeface="+mn-ea"/>
                  <a:cs typeface="+mn-cs"/>
                </a:rPr>
                <a:t>21411 </a:t>
              </a:r>
              <a:r>
                <a:rPr kumimoji="0" lang="en-GB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 pitchFamily="34" charset="0"/>
                  <a:ea typeface="+mn-ea"/>
                  <a:cs typeface="+mn-cs"/>
                </a:rPr>
                <a:t>÷ 61 = </a:t>
              </a:r>
              <a:endPara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9D4682F7-64B5-4E2E-BDA3-DD7EE6A64CC0}"/>
                </a:ext>
              </a:extLst>
            </p:cNvPr>
            <p:cNvSpPr/>
            <p:nvPr/>
          </p:nvSpPr>
          <p:spPr>
            <a:xfrm>
              <a:off x="512882" y="1913137"/>
              <a:ext cx="1822953" cy="369332"/>
            </a:xfrm>
            <a:prstGeom prst="rect">
              <a:avLst/>
            </a:prstGeom>
            <a:ln>
              <a:noFill/>
            </a:ln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 pitchFamily="34" charset="0"/>
                  <a:ea typeface="+mn-ea"/>
                  <a:cs typeface="+mn-cs"/>
                </a:rPr>
                <a:t>17050 </a:t>
              </a:r>
              <a:r>
                <a:rPr kumimoji="0" lang="en-GB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 pitchFamily="34" charset="0"/>
                  <a:ea typeface="+mn-ea"/>
                  <a:cs typeface="+mn-cs"/>
                </a:rPr>
                <a:t>÷  62 = </a:t>
              </a:r>
              <a:endPara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C583C2E5-F99C-4AC8-ABC5-4B531E02EEB0}"/>
                </a:ext>
              </a:extLst>
            </p:cNvPr>
            <p:cNvSpPr/>
            <p:nvPr/>
          </p:nvSpPr>
          <p:spPr>
            <a:xfrm>
              <a:off x="576257" y="2335279"/>
              <a:ext cx="1687037" cy="369332"/>
            </a:xfrm>
            <a:prstGeom prst="rect">
              <a:avLst/>
            </a:prstGeom>
            <a:ln>
              <a:noFill/>
            </a:ln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 pitchFamily="34" charset="0"/>
                  <a:ea typeface="+mn-ea"/>
                  <a:cs typeface="+mn-cs"/>
                </a:rPr>
                <a:t>20034 </a:t>
              </a:r>
              <a:r>
                <a:rPr kumimoji="0" lang="en-GB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 pitchFamily="34" charset="0"/>
                  <a:ea typeface="+mn-ea"/>
                  <a:cs typeface="+mn-cs"/>
                </a:rPr>
                <a:t>÷ 106 = </a:t>
              </a:r>
              <a:endPara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38" name="Rectangle 19">
            <a:extLst>
              <a:ext uri="{FF2B5EF4-FFF2-40B4-BE49-F238E27FC236}">
                <a16:creationId xmlns:a16="http://schemas.microsoft.com/office/drawing/2014/main" id="{5FAD3421-F825-49A6-9F55-0B6E9AC92D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62125" y="188913"/>
            <a:ext cx="9351532" cy="590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Comic Sans MS" panose="030F0702030302020204" pitchFamily="66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Comic Sans MS" panose="030F0702030302020204" pitchFamily="66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Comic Sans MS" panose="030F0702030302020204" pitchFamily="66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alt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opperplate Gothic Bold" panose="020E0705020206020404" pitchFamily="34" charset="0"/>
                <a:ea typeface="+mn-ea"/>
                <a:cs typeface="Arial" panose="020B0604020202020204" pitchFamily="34" charset="0"/>
              </a:rPr>
              <a:t>Revision Division (LHS)</a:t>
            </a:r>
          </a:p>
        </p:txBody>
      </p:sp>
    </p:spTree>
    <p:extLst>
      <p:ext uri="{BB962C8B-B14F-4D97-AF65-F5344CB8AC3E}">
        <p14:creationId xmlns:p14="http://schemas.microsoft.com/office/powerpoint/2010/main" val="38796852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82E708C-71E9-4394-B264-F716CFD18F17}"/>
              </a:ext>
            </a:extLst>
          </p:cNvPr>
          <p:cNvCxnSpPr>
            <a:cxnSpLocks/>
          </p:cNvCxnSpPr>
          <p:nvPr/>
        </p:nvCxnSpPr>
        <p:spPr>
          <a:xfrm>
            <a:off x="74645" y="777796"/>
            <a:ext cx="12117355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C740D6E-7B99-4DDB-9DE0-A5B61E8C3072}"/>
              </a:ext>
            </a:extLst>
          </p:cNvPr>
          <p:cNvCxnSpPr>
            <a:cxnSpLocks/>
          </p:cNvCxnSpPr>
          <p:nvPr/>
        </p:nvCxnSpPr>
        <p:spPr>
          <a:xfrm flipV="1">
            <a:off x="0" y="1222394"/>
            <a:ext cx="12192000" cy="222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B9F519F3-0A4A-4CE2-A029-D8462460B133}"/>
              </a:ext>
            </a:extLst>
          </p:cNvPr>
          <p:cNvSpPr txBox="1"/>
          <p:nvPr/>
        </p:nvSpPr>
        <p:spPr>
          <a:xfrm>
            <a:off x="178608" y="0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24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7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30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BA2B774-B760-43E5-9BF4-42AEF5DA72EC}"/>
              </a:ext>
            </a:extLst>
          </p:cNvPr>
          <p:cNvCxnSpPr>
            <a:cxnSpLocks/>
          </p:cNvCxnSpPr>
          <p:nvPr/>
        </p:nvCxnSpPr>
        <p:spPr>
          <a:xfrm>
            <a:off x="2382459" y="1224621"/>
            <a:ext cx="0" cy="4994082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EC05745E-D2A7-4A30-B812-5738EFA91614}"/>
              </a:ext>
            </a:extLst>
          </p:cNvPr>
          <p:cNvSpPr txBox="1"/>
          <p:nvPr/>
        </p:nvSpPr>
        <p:spPr>
          <a:xfrm>
            <a:off x="754672" y="196208"/>
            <a:ext cx="57927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Topic: Division, Fractions and Decimals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AEB9F17-FE97-4A80-AD23-AA0696B2CA65}"/>
              </a:ext>
            </a:extLst>
          </p:cNvPr>
          <p:cNvSpPr txBox="1"/>
          <p:nvPr/>
        </p:nvSpPr>
        <p:spPr>
          <a:xfrm>
            <a:off x="271907" y="756649"/>
            <a:ext cx="106433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EQ: </a:t>
            </a: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How do I divide simple numbers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728AC80-0291-455D-BC3B-60AF60B7DB39}"/>
              </a:ext>
            </a:extLst>
          </p:cNvPr>
          <p:cNvSpPr txBox="1"/>
          <p:nvPr/>
        </p:nvSpPr>
        <p:spPr>
          <a:xfrm>
            <a:off x="124278" y="5757038"/>
            <a:ext cx="20282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3494BA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W</a:t>
            </a: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IC</a:t>
            </a: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O</a:t>
            </a: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R</a:t>
            </a:r>
            <a:endParaRPr kumimoji="0" lang="en-GB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90DFE82-329E-4213-9CF8-A8FD3DCF967B}"/>
              </a:ext>
            </a:extLst>
          </p:cNvPr>
          <p:cNvSpPr txBox="1"/>
          <p:nvPr/>
        </p:nvSpPr>
        <p:spPr>
          <a:xfrm>
            <a:off x="9568370" y="196208"/>
            <a:ext cx="25460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Date: 12/02/2021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B2CDAD20-C34B-4CAB-9BA2-2A1DCC9E489F}"/>
              </a:ext>
            </a:extLst>
          </p:cNvPr>
          <p:cNvCxnSpPr>
            <a:cxnSpLocks/>
          </p:cNvCxnSpPr>
          <p:nvPr/>
        </p:nvCxnSpPr>
        <p:spPr>
          <a:xfrm flipV="1">
            <a:off x="37322" y="6218703"/>
            <a:ext cx="12192000" cy="222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332485AD-43BC-4876-81AE-4E1B4EE48B91}"/>
              </a:ext>
            </a:extLst>
          </p:cNvPr>
          <p:cNvSpPr txBox="1"/>
          <p:nvPr/>
        </p:nvSpPr>
        <p:spPr>
          <a:xfrm>
            <a:off x="178609" y="1555593"/>
            <a:ext cx="20282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Remainders and fractions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B0724746-E088-4D2F-AAC9-095B078A0D43}"/>
                  </a:ext>
                </a:extLst>
              </p:cNvPr>
              <p:cNvSpPr txBox="1"/>
              <p:nvPr/>
            </p:nvSpPr>
            <p:spPr>
              <a:xfrm>
                <a:off x="2841125" y="1609711"/>
                <a:ext cx="1476302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AU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8</m:t>
                      </m:r>
                      <m:r>
                        <a:rPr kumimoji="0" lang="en-AU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÷3=</m:t>
                      </m:r>
                    </m:oMath>
                  </m:oMathPara>
                </a14:m>
                <a:endParaRPr kumimoji="0" lang="en-AU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w Cen MT" panose="020B0602020104020603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B0724746-E088-4D2F-AAC9-095B078A0D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41125" y="1609711"/>
                <a:ext cx="1476302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8" name="Group 17">
            <a:extLst>
              <a:ext uri="{FF2B5EF4-FFF2-40B4-BE49-F238E27FC236}">
                <a16:creationId xmlns:a16="http://schemas.microsoft.com/office/drawing/2014/main" id="{5F1546F6-ED08-4692-8688-BD50E4BF7F5A}"/>
              </a:ext>
            </a:extLst>
          </p:cNvPr>
          <p:cNvGrpSpPr/>
          <p:nvPr/>
        </p:nvGrpSpPr>
        <p:grpSpPr>
          <a:xfrm>
            <a:off x="2892812" y="2379332"/>
            <a:ext cx="1190201" cy="890681"/>
            <a:chOff x="6180331" y="2088706"/>
            <a:chExt cx="1190201" cy="890681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664BCD02-58D0-4E8E-A356-450EE5AB61F1}"/>
                </a:ext>
              </a:extLst>
            </p:cNvPr>
            <p:cNvSpPr/>
            <p:nvPr/>
          </p:nvSpPr>
          <p:spPr>
            <a:xfrm>
              <a:off x="6180331" y="2517722"/>
              <a:ext cx="356188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GB" sz="2400" dirty="0">
                  <a:solidFill>
                    <a:srgbClr val="010066"/>
                  </a:solidFill>
                  <a:latin typeface="Arial" panose="020B0604020202020204" pitchFamily="34" charset="0"/>
                </a:rPr>
                <a:t>3</a:t>
              </a:r>
              <a:endParaRPr lang="en-AU" sz="2400" dirty="0"/>
            </a:p>
          </p:txBody>
        </p: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8968BB66-9715-44F6-8CFE-E9602706A8E0}"/>
                </a:ext>
              </a:extLst>
            </p:cNvPr>
            <p:cNvGrpSpPr/>
            <p:nvPr/>
          </p:nvGrpSpPr>
          <p:grpSpPr>
            <a:xfrm>
              <a:off x="6400970" y="2383797"/>
              <a:ext cx="969562" cy="584775"/>
              <a:chOff x="1804670" y="5714672"/>
              <a:chExt cx="969562" cy="584775"/>
            </a:xfrm>
          </p:grpSpPr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3707C9A9-F3E3-41B9-B971-FF44A2A09095}"/>
                  </a:ext>
                </a:extLst>
              </p:cNvPr>
              <p:cNvSpPr/>
              <p:nvPr/>
            </p:nvSpPr>
            <p:spPr>
              <a:xfrm>
                <a:off x="1804670" y="5714672"/>
                <a:ext cx="320922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GB" altLang="en-US" sz="3200" dirty="0">
                    <a:solidFill>
                      <a:srgbClr val="010066"/>
                    </a:solidFill>
                    <a:latin typeface="Arial" panose="020B0604020202020204" pitchFamily="34" charset="0"/>
                  </a:rPr>
                  <a:t>)</a:t>
                </a:r>
                <a:endParaRPr lang="en-AU" sz="3200" dirty="0"/>
              </a:p>
            </p:txBody>
          </p:sp>
          <p:sp>
            <p:nvSpPr>
              <p:cNvPr id="26" name="Line 8">
                <a:extLst>
                  <a:ext uri="{FF2B5EF4-FFF2-40B4-BE49-F238E27FC236}">
                    <a16:creationId xmlns:a16="http://schemas.microsoft.com/office/drawing/2014/main" id="{39B5B483-A973-46FF-AE96-E9AF9FFEC04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30936" y="5852263"/>
                <a:ext cx="843296" cy="18569"/>
              </a:xfrm>
              <a:prstGeom prst="line">
                <a:avLst/>
              </a:prstGeom>
              <a:noFill/>
              <a:ln w="28575">
                <a:solidFill>
                  <a:srgbClr val="010066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</p:grp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BAD9E900-1BC9-466E-A677-350AA25A2B3D}"/>
                </a:ext>
              </a:extLst>
            </p:cNvPr>
            <p:cNvSpPr/>
            <p:nvPr/>
          </p:nvSpPr>
          <p:spPr>
            <a:xfrm>
              <a:off x="6586343" y="2512314"/>
              <a:ext cx="356188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GB" altLang="en-US" sz="2400" dirty="0">
                  <a:solidFill>
                    <a:srgbClr val="010066"/>
                  </a:solidFill>
                  <a:latin typeface="Arial" panose="020B0604020202020204" pitchFamily="34" charset="0"/>
                </a:rPr>
                <a:t>8</a:t>
              </a:r>
              <a:endParaRPr lang="en-AU" sz="2400" dirty="0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5FC34581-6E49-4F44-9878-094F4B3A6C07}"/>
                </a:ext>
              </a:extLst>
            </p:cNvPr>
            <p:cNvSpPr/>
            <p:nvPr/>
          </p:nvSpPr>
          <p:spPr>
            <a:xfrm>
              <a:off x="6572721" y="2088706"/>
              <a:ext cx="184731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endParaRPr lang="en-AU" sz="2400" dirty="0"/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7D4D0C3A-57F1-4C22-9BA4-8796D5C5B639}"/>
              </a:ext>
            </a:extLst>
          </p:cNvPr>
          <p:cNvSpPr txBox="1"/>
          <p:nvPr/>
        </p:nvSpPr>
        <p:spPr>
          <a:xfrm>
            <a:off x="4466487" y="2702050"/>
            <a:ext cx="35244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How many times does 3 go into 8? 2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6F0A576-14A9-4FBF-AC14-2F578EC3A714}"/>
              </a:ext>
            </a:extLst>
          </p:cNvPr>
          <p:cNvSpPr/>
          <p:nvPr/>
        </p:nvSpPr>
        <p:spPr>
          <a:xfrm>
            <a:off x="3318206" y="2379332"/>
            <a:ext cx="35618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400" dirty="0">
                <a:solidFill>
                  <a:srgbClr val="010066"/>
                </a:solidFill>
                <a:latin typeface="Arial" panose="020B0604020202020204" pitchFamily="34" charset="0"/>
              </a:rPr>
              <a:t>2</a:t>
            </a:r>
            <a:endParaRPr lang="en-AU" sz="2400" dirty="0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23BEBA3E-FE61-46B6-8522-81CDF1A99967}"/>
              </a:ext>
            </a:extLst>
          </p:cNvPr>
          <p:cNvGrpSpPr/>
          <p:nvPr/>
        </p:nvGrpSpPr>
        <p:grpSpPr>
          <a:xfrm>
            <a:off x="2881817" y="3668118"/>
            <a:ext cx="1190201" cy="890681"/>
            <a:chOff x="6180331" y="2088706"/>
            <a:chExt cx="1190201" cy="890681"/>
          </a:xfrm>
        </p:grpSpPr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4DEE292D-731A-4EE8-ADC0-93A177BE1A77}"/>
                </a:ext>
              </a:extLst>
            </p:cNvPr>
            <p:cNvSpPr/>
            <p:nvPr/>
          </p:nvSpPr>
          <p:spPr>
            <a:xfrm>
              <a:off x="6180331" y="2517722"/>
              <a:ext cx="356188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GB" sz="2400" dirty="0">
                  <a:solidFill>
                    <a:srgbClr val="010066"/>
                  </a:solidFill>
                  <a:latin typeface="Arial" panose="020B0604020202020204" pitchFamily="34" charset="0"/>
                </a:rPr>
                <a:t>3</a:t>
              </a:r>
              <a:endParaRPr lang="en-AU" sz="2400" dirty="0"/>
            </a:p>
          </p:txBody>
        </p:sp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E2F73B03-F7CC-4198-BA3F-D2AEB8943CB8}"/>
                </a:ext>
              </a:extLst>
            </p:cNvPr>
            <p:cNvGrpSpPr/>
            <p:nvPr/>
          </p:nvGrpSpPr>
          <p:grpSpPr>
            <a:xfrm>
              <a:off x="6400970" y="2383797"/>
              <a:ext cx="969562" cy="584775"/>
              <a:chOff x="1804670" y="5714672"/>
              <a:chExt cx="969562" cy="584775"/>
            </a:xfrm>
          </p:grpSpPr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CDC4CC73-EA6F-47E9-AEE4-CC9367FA74B7}"/>
                  </a:ext>
                </a:extLst>
              </p:cNvPr>
              <p:cNvSpPr/>
              <p:nvPr/>
            </p:nvSpPr>
            <p:spPr>
              <a:xfrm>
                <a:off x="1804670" y="5714672"/>
                <a:ext cx="320922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GB" altLang="en-US" sz="3200" dirty="0">
                    <a:solidFill>
                      <a:srgbClr val="010066"/>
                    </a:solidFill>
                    <a:latin typeface="Arial" panose="020B0604020202020204" pitchFamily="34" charset="0"/>
                  </a:rPr>
                  <a:t>)</a:t>
                </a:r>
                <a:endParaRPr lang="en-AU" sz="3200" dirty="0"/>
              </a:p>
            </p:txBody>
          </p:sp>
          <p:sp>
            <p:nvSpPr>
              <p:cNvPr id="34" name="Line 8">
                <a:extLst>
                  <a:ext uri="{FF2B5EF4-FFF2-40B4-BE49-F238E27FC236}">
                    <a16:creationId xmlns:a16="http://schemas.microsoft.com/office/drawing/2014/main" id="{1632ED24-B5F3-4D87-ADAD-5FB86D6D07C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30936" y="5852263"/>
                <a:ext cx="843296" cy="18569"/>
              </a:xfrm>
              <a:prstGeom prst="line">
                <a:avLst/>
              </a:prstGeom>
              <a:noFill/>
              <a:ln w="28575">
                <a:solidFill>
                  <a:srgbClr val="010066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</p:grp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B298D37B-C204-463E-AE55-984CFE3D0872}"/>
                </a:ext>
              </a:extLst>
            </p:cNvPr>
            <p:cNvSpPr/>
            <p:nvPr/>
          </p:nvSpPr>
          <p:spPr>
            <a:xfrm>
              <a:off x="6586343" y="2512314"/>
              <a:ext cx="356188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GB" altLang="en-US" sz="2400" dirty="0">
                  <a:solidFill>
                    <a:srgbClr val="010066"/>
                  </a:solidFill>
                  <a:latin typeface="Arial" panose="020B0604020202020204" pitchFamily="34" charset="0"/>
                </a:rPr>
                <a:t>8</a:t>
              </a:r>
              <a:endParaRPr lang="en-AU" sz="2400" dirty="0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A3C86D8E-5F01-40A3-9E0C-B8874FD2724D}"/>
                </a:ext>
              </a:extLst>
            </p:cNvPr>
            <p:cNvSpPr/>
            <p:nvPr/>
          </p:nvSpPr>
          <p:spPr>
            <a:xfrm>
              <a:off x="6572721" y="2088706"/>
              <a:ext cx="184731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endParaRPr lang="en-AU" sz="2400" dirty="0"/>
            </a:p>
          </p:txBody>
        </p:sp>
      </p:grpSp>
      <p:sp>
        <p:nvSpPr>
          <p:cNvPr id="35" name="Rectangle 34">
            <a:extLst>
              <a:ext uri="{FF2B5EF4-FFF2-40B4-BE49-F238E27FC236}">
                <a16:creationId xmlns:a16="http://schemas.microsoft.com/office/drawing/2014/main" id="{A2DE1EE5-D560-481B-B5CE-D696945B3F80}"/>
              </a:ext>
            </a:extLst>
          </p:cNvPr>
          <p:cNvSpPr/>
          <p:nvPr/>
        </p:nvSpPr>
        <p:spPr>
          <a:xfrm>
            <a:off x="3337653" y="3618999"/>
            <a:ext cx="80021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400" dirty="0">
                <a:solidFill>
                  <a:srgbClr val="010066"/>
                </a:solidFill>
                <a:latin typeface="Arial" panose="020B0604020202020204" pitchFamily="34" charset="0"/>
              </a:rPr>
              <a:t>2  r2</a:t>
            </a:r>
            <a:endParaRPr lang="en-AU" sz="2400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E26967F-A2A4-4BF4-BDA2-CA8F263ACD69}"/>
              </a:ext>
            </a:extLst>
          </p:cNvPr>
          <p:cNvSpPr txBox="1"/>
          <p:nvPr/>
        </p:nvSpPr>
        <p:spPr>
          <a:xfrm>
            <a:off x="4595558" y="3907060"/>
            <a:ext cx="23878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How many reminding? 2</a:t>
            </a:r>
          </a:p>
        </p:txBody>
      </p:sp>
    </p:spTree>
    <p:extLst>
      <p:ext uri="{BB962C8B-B14F-4D97-AF65-F5344CB8AC3E}">
        <p14:creationId xmlns:p14="http://schemas.microsoft.com/office/powerpoint/2010/main" val="1132801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82E708C-71E9-4394-B264-F716CFD18F17}"/>
              </a:ext>
            </a:extLst>
          </p:cNvPr>
          <p:cNvCxnSpPr>
            <a:cxnSpLocks/>
          </p:cNvCxnSpPr>
          <p:nvPr/>
        </p:nvCxnSpPr>
        <p:spPr>
          <a:xfrm>
            <a:off x="74645" y="777796"/>
            <a:ext cx="12117355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C740D6E-7B99-4DDB-9DE0-A5B61E8C3072}"/>
              </a:ext>
            </a:extLst>
          </p:cNvPr>
          <p:cNvCxnSpPr>
            <a:cxnSpLocks/>
          </p:cNvCxnSpPr>
          <p:nvPr/>
        </p:nvCxnSpPr>
        <p:spPr>
          <a:xfrm flipV="1">
            <a:off x="0" y="1222394"/>
            <a:ext cx="12192000" cy="222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B9F519F3-0A4A-4CE2-A029-D8462460B133}"/>
              </a:ext>
            </a:extLst>
          </p:cNvPr>
          <p:cNvSpPr txBox="1"/>
          <p:nvPr/>
        </p:nvSpPr>
        <p:spPr>
          <a:xfrm>
            <a:off x="178608" y="0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24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7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30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BA2B774-B760-43E5-9BF4-42AEF5DA72EC}"/>
              </a:ext>
            </a:extLst>
          </p:cNvPr>
          <p:cNvCxnSpPr>
            <a:cxnSpLocks/>
          </p:cNvCxnSpPr>
          <p:nvPr/>
        </p:nvCxnSpPr>
        <p:spPr>
          <a:xfrm>
            <a:off x="2382459" y="1224621"/>
            <a:ext cx="0" cy="4994082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EC05745E-D2A7-4A30-B812-5738EFA91614}"/>
              </a:ext>
            </a:extLst>
          </p:cNvPr>
          <p:cNvSpPr txBox="1"/>
          <p:nvPr/>
        </p:nvSpPr>
        <p:spPr>
          <a:xfrm>
            <a:off x="754672" y="196208"/>
            <a:ext cx="57927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Topic: Division, Fractions and Decimals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AEB9F17-FE97-4A80-AD23-AA0696B2CA65}"/>
              </a:ext>
            </a:extLst>
          </p:cNvPr>
          <p:cNvSpPr txBox="1"/>
          <p:nvPr/>
        </p:nvSpPr>
        <p:spPr>
          <a:xfrm>
            <a:off x="271907" y="756649"/>
            <a:ext cx="106433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EQ: </a:t>
            </a: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What is the connection between reminders, fractions and decimals?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728AC80-0291-455D-BC3B-60AF60B7DB39}"/>
              </a:ext>
            </a:extLst>
          </p:cNvPr>
          <p:cNvSpPr txBox="1"/>
          <p:nvPr/>
        </p:nvSpPr>
        <p:spPr>
          <a:xfrm>
            <a:off x="124278" y="5757038"/>
            <a:ext cx="20282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3494BA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W</a:t>
            </a: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IC</a:t>
            </a: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O</a:t>
            </a: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R</a:t>
            </a:r>
            <a:endParaRPr kumimoji="0" lang="en-GB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90DFE82-329E-4213-9CF8-A8FD3DCF967B}"/>
              </a:ext>
            </a:extLst>
          </p:cNvPr>
          <p:cNvSpPr txBox="1"/>
          <p:nvPr/>
        </p:nvSpPr>
        <p:spPr>
          <a:xfrm>
            <a:off x="9568370" y="196208"/>
            <a:ext cx="25460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Date: 12/02/2021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B2CDAD20-C34B-4CAB-9BA2-2A1DCC9E489F}"/>
              </a:ext>
            </a:extLst>
          </p:cNvPr>
          <p:cNvCxnSpPr>
            <a:cxnSpLocks/>
          </p:cNvCxnSpPr>
          <p:nvPr/>
        </p:nvCxnSpPr>
        <p:spPr>
          <a:xfrm flipV="1">
            <a:off x="37322" y="6218703"/>
            <a:ext cx="12192000" cy="222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99A19930-2148-4A04-AF77-9B8AD5DF6D05}"/>
              </a:ext>
            </a:extLst>
          </p:cNvPr>
          <p:cNvSpPr txBox="1"/>
          <p:nvPr/>
        </p:nvSpPr>
        <p:spPr>
          <a:xfrm>
            <a:off x="178608" y="1356813"/>
            <a:ext cx="170035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How do fractions link with division?</a:t>
            </a:r>
          </a:p>
        </p:txBody>
      </p:sp>
      <p:grpSp>
        <p:nvGrpSpPr>
          <p:cNvPr id="16" name="Group 5">
            <a:extLst>
              <a:ext uri="{FF2B5EF4-FFF2-40B4-BE49-F238E27FC236}">
                <a16:creationId xmlns:a16="http://schemas.microsoft.com/office/drawing/2014/main" id="{5977735F-7F46-46DC-B578-D5651E0D7D29}"/>
              </a:ext>
            </a:extLst>
          </p:cNvPr>
          <p:cNvGrpSpPr>
            <a:grpSpLocks/>
          </p:cNvGrpSpPr>
          <p:nvPr/>
        </p:nvGrpSpPr>
        <p:grpSpPr bwMode="auto">
          <a:xfrm>
            <a:off x="2793875" y="1537606"/>
            <a:ext cx="1467544" cy="874713"/>
            <a:chOff x="2784" y="841"/>
            <a:chExt cx="924" cy="551"/>
          </a:xfrm>
        </p:grpSpPr>
        <p:grpSp>
          <p:nvGrpSpPr>
            <p:cNvPr id="18" name="Group 6">
              <a:extLst>
                <a:ext uri="{FF2B5EF4-FFF2-40B4-BE49-F238E27FC236}">
                  <a16:creationId xmlns:a16="http://schemas.microsoft.com/office/drawing/2014/main" id="{BC07D086-3DF5-4771-AC24-4D20414487B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784" y="841"/>
              <a:ext cx="224" cy="551"/>
              <a:chOff x="2851" y="899"/>
              <a:chExt cx="224" cy="551"/>
            </a:xfrm>
          </p:grpSpPr>
          <p:sp>
            <p:nvSpPr>
              <p:cNvPr id="24" name="Text Box 7">
                <a:extLst>
                  <a:ext uri="{FF2B5EF4-FFF2-40B4-BE49-F238E27FC236}">
                    <a16:creationId xmlns:a16="http://schemas.microsoft.com/office/drawing/2014/main" id="{C1EB0D20-80EA-456F-83BF-3B4C2998F08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852" y="899"/>
                <a:ext cx="22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Comic Sans MS" panose="030F0702030302020204" pitchFamily="66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defTabSz="914400">
                  <a:spcBef>
                    <a:spcPct val="0"/>
                  </a:spcBef>
                  <a:buFontTx/>
                  <a:buNone/>
                </a:pPr>
                <a:r>
                  <a:rPr lang="en-GB" altLang="en-US" sz="2400" dirty="0">
                    <a:solidFill>
                      <a:srgbClr val="010066"/>
                    </a:solidFill>
                    <a:latin typeface="Arial" panose="020B0604020202020204" pitchFamily="34" charset="0"/>
                  </a:rPr>
                  <a:t>3</a:t>
                </a:r>
              </a:p>
            </p:txBody>
          </p:sp>
          <p:sp>
            <p:nvSpPr>
              <p:cNvPr id="26" name="Line 8">
                <a:extLst>
                  <a:ext uri="{FF2B5EF4-FFF2-40B4-BE49-F238E27FC236}">
                    <a16:creationId xmlns:a16="http://schemas.microsoft.com/office/drawing/2014/main" id="{B9123FE8-18F8-4BA0-AA00-7297F8F7172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61" y="1175"/>
                <a:ext cx="204" cy="0"/>
              </a:xfrm>
              <a:prstGeom prst="line">
                <a:avLst/>
              </a:prstGeom>
              <a:noFill/>
              <a:ln w="28575">
                <a:solidFill>
                  <a:srgbClr val="010066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defTabSz="914400"/>
                <a:endParaRPr lang="en-AU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27" name="Text Box 9">
                <a:extLst>
                  <a:ext uri="{FF2B5EF4-FFF2-40B4-BE49-F238E27FC236}">
                    <a16:creationId xmlns:a16="http://schemas.microsoft.com/office/drawing/2014/main" id="{3553A295-A848-437D-8277-54294D37076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851" y="1162"/>
                <a:ext cx="22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Comic Sans MS" panose="030F0702030302020204" pitchFamily="66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defTabSz="914400">
                  <a:spcBef>
                    <a:spcPct val="0"/>
                  </a:spcBef>
                  <a:buFontTx/>
                  <a:buNone/>
                </a:pPr>
                <a:r>
                  <a:rPr lang="en-GB" altLang="en-US" sz="2400" dirty="0">
                    <a:solidFill>
                      <a:srgbClr val="010066"/>
                    </a:solidFill>
                    <a:latin typeface="Arial" panose="020B0604020202020204" pitchFamily="34" charset="0"/>
                  </a:rPr>
                  <a:t>4</a:t>
                </a:r>
              </a:p>
            </p:txBody>
          </p:sp>
        </p:grpSp>
        <p:sp>
          <p:nvSpPr>
            <p:cNvPr id="19" name="Text Box 10">
              <a:extLst>
                <a:ext uri="{FF2B5EF4-FFF2-40B4-BE49-F238E27FC236}">
                  <a16:creationId xmlns:a16="http://schemas.microsoft.com/office/drawing/2014/main" id="{D6C071C5-8B46-4A13-A262-5347E3A6315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75" y="969"/>
              <a:ext cx="229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Comic Sans MS" panose="030F0702030302020204" pitchFamily="66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defTabSz="914400">
                <a:spcBef>
                  <a:spcPct val="0"/>
                </a:spcBef>
                <a:buFontTx/>
                <a:buNone/>
              </a:pPr>
              <a:r>
                <a:rPr lang="en-GB" altLang="en-US" sz="2400" dirty="0">
                  <a:solidFill>
                    <a:srgbClr val="010066"/>
                  </a:solidFill>
                  <a:latin typeface="Arial" panose="020B0604020202020204" pitchFamily="34" charset="0"/>
                </a:rPr>
                <a:t>=</a:t>
              </a:r>
            </a:p>
          </p:txBody>
        </p:sp>
        <p:grpSp>
          <p:nvGrpSpPr>
            <p:cNvPr id="20" name="Group 11">
              <a:extLst>
                <a:ext uri="{FF2B5EF4-FFF2-40B4-BE49-F238E27FC236}">
                  <a16:creationId xmlns:a16="http://schemas.microsoft.com/office/drawing/2014/main" id="{2F87B3C1-A82A-4103-9E62-09F9C08D189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66" y="969"/>
              <a:ext cx="542" cy="291"/>
              <a:chOff x="3112" y="969"/>
              <a:chExt cx="542" cy="291"/>
            </a:xfrm>
          </p:grpSpPr>
          <p:sp>
            <p:nvSpPr>
              <p:cNvPr id="21" name="Text Box 12">
                <a:extLst>
                  <a:ext uri="{FF2B5EF4-FFF2-40B4-BE49-F238E27FC236}">
                    <a16:creationId xmlns:a16="http://schemas.microsoft.com/office/drawing/2014/main" id="{B313C734-EE33-4096-A70F-09A629BA642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12" y="969"/>
                <a:ext cx="384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Comic Sans MS" panose="030F0702030302020204" pitchFamily="66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defTabSz="914400">
                  <a:spcBef>
                    <a:spcPct val="0"/>
                  </a:spcBef>
                  <a:buFontTx/>
                  <a:buNone/>
                </a:pPr>
                <a:r>
                  <a:rPr lang="en-GB" altLang="en-US" sz="2400" dirty="0">
                    <a:solidFill>
                      <a:srgbClr val="010066"/>
                    </a:solidFill>
                    <a:latin typeface="Arial" panose="020B0604020202020204" pitchFamily="34" charset="0"/>
                  </a:rPr>
                  <a:t>3 ÷</a:t>
                </a:r>
              </a:p>
            </p:txBody>
          </p:sp>
          <p:sp>
            <p:nvSpPr>
              <p:cNvPr id="22" name="Text Box 14">
                <a:extLst>
                  <a:ext uri="{FF2B5EF4-FFF2-40B4-BE49-F238E27FC236}">
                    <a16:creationId xmlns:a16="http://schemas.microsoft.com/office/drawing/2014/main" id="{7B5322D4-646D-4A0B-B3A7-35091E0A9D5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430" y="969"/>
                <a:ext cx="224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Comic Sans MS" panose="030F0702030302020204" pitchFamily="66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defTabSz="914400">
                  <a:spcBef>
                    <a:spcPct val="0"/>
                  </a:spcBef>
                  <a:buFontTx/>
                  <a:buNone/>
                </a:pPr>
                <a:r>
                  <a:rPr lang="en-GB" altLang="en-US" sz="2400" dirty="0">
                    <a:solidFill>
                      <a:srgbClr val="010066"/>
                    </a:solidFill>
                    <a:latin typeface="Arial" panose="020B0604020202020204" pitchFamily="34" charset="0"/>
                  </a:rPr>
                  <a:t>4</a:t>
                </a:r>
              </a:p>
            </p:txBody>
          </p:sp>
        </p:grp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06667DDE-344E-4EEB-AEA9-B2D6CDB78ACE}"/>
              </a:ext>
            </a:extLst>
          </p:cNvPr>
          <p:cNvGrpSpPr/>
          <p:nvPr/>
        </p:nvGrpSpPr>
        <p:grpSpPr>
          <a:xfrm>
            <a:off x="5458674" y="1478342"/>
            <a:ext cx="1190201" cy="890681"/>
            <a:chOff x="6180331" y="2088706"/>
            <a:chExt cx="1190201" cy="890681"/>
          </a:xfrm>
        </p:grpSpPr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1FFD863B-DF2D-4D33-ABF1-BAE8BAA79F5A}"/>
                </a:ext>
              </a:extLst>
            </p:cNvPr>
            <p:cNvSpPr/>
            <p:nvPr/>
          </p:nvSpPr>
          <p:spPr>
            <a:xfrm>
              <a:off x="6180331" y="2517722"/>
              <a:ext cx="356188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GB" altLang="en-US" sz="2400" dirty="0">
                  <a:solidFill>
                    <a:srgbClr val="010066"/>
                  </a:solidFill>
                  <a:latin typeface="Arial" panose="020B0604020202020204" pitchFamily="34" charset="0"/>
                </a:rPr>
                <a:t>4</a:t>
              </a:r>
              <a:endParaRPr lang="en-AU" sz="2400" dirty="0"/>
            </a:p>
          </p:txBody>
        </p:sp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652BBC79-1571-4E67-A530-AF5B186B1E10}"/>
                </a:ext>
              </a:extLst>
            </p:cNvPr>
            <p:cNvGrpSpPr/>
            <p:nvPr/>
          </p:nvGrpSpPr>
          <p:grpSpPr>
            <a:xfrm>
              <a:off x="6400970" y="2383797"/>
              <a:ext cx="969562" cy="584775"/>
              <a:chOff x="1804670" y="5714672"/>
              <a:chExt cx="969562" cy="584775"/>
            </a:xfrm>
          </p:grpSpPr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A07E1C5F-3C8A-4153-8D46-C5A0B832639E}"/>
                  </a:ext>
                </a:extLst>
              </p:cNvPr>
              <p:cNvSpPr/>
              <p:nvPr/>
            </p:nvSpPr>
            <p:spPr>
              <a:xfrm>
                <a:off x="1804670" y="5714672"/>
                <a:ext cx="320922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GB" altLang="en-US" sz="3200" dirty="0">
                    <a:solidFill>
                      <a:srgbClr val="010066"/>
                    </a:solidFill>
                    <a:latin typeface="Arial" panose="020B0604020202020204" pitchFamily="34" charset="0"/>
                  </a:rPr>
                  <a:t>)</a:t>
                </a:r>
                <a:endParaRPr lang="en-AU" sz="3200" dirty="0"/>
              </a:p>
            </p:txBody>
          </p:sp>
          <p:sp>
            <p:nvSpPr>
              <p:cNvPr id="34" name="Line 8">
                <a:extLst>
                  <a:ext uri="{FF2B5EF4-FFF2-40B4-BE49-F238E27FC236}">
                    <a16:creationId xmlns:a16="http://schemas.microsoft.com/office/drawing/2014/main" id="{72220F74-D3CB-4D87-BDBB-79792A3457C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30936" y="5852263"/>
                <a:ext cx="843296" cy="18569"/>
              </a:xfrm>
              <a:prstGeom prst="line">
                <a:avLst/>
              </a:prstGeom>
              <a:noFill/>
              <a:ln w="28575">
                <a:solidFill>
                  <a:srgbClr val="010066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</p:grp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4F658EE2-5453-4CC9-A658-01AFA357C453}"/>
                </a:ext>
              </a:extLst>
            </p:cNvPr>
            <p:cNvSpPr/>
            <p:nvPr/>
          </p:nvSpPr>
          <p:spPr>
            <a:xfrm>
              <a:off x="6586343" y="2512314"/>
              <a:ext cx="784189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GB" altLang="en-US" sz="2400" dirty="0">
                  <a:solidFill>
                    <a:srgbClr val="010066"/>
                  </a:solidFill>
                  <a:latin typeface="Arial" panose="020B0604020202020204" pitchFamily="34" charset="0"/>
                </a:rPr>
                <a:t>3.00</a:t>
              </a:r>
              <a:endParaRPr lang="en-AU" sz="2400" dirty="0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D85C5092-DE66-4381-9C28-2A69CD2FF46D}"/>
                </a:ext>
              </a:extLst>
            </p:cNvPr>
            <p:cNvSpPr/>
            <p:nvPr/>
          </p:nvSpPr>
          <p:spPr>
            <a:xfrm>
              <a:off x="6572721" y="2088706"/>
              <a:ext cx="441146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GB" altLang="en-US" sz="2400" dirty="0">
                  <a:solidFill>
                    <a:srgbClr val="010066"/>
                  </a:solidFill>
                  <a:latin typeface="Arial" panose="020B0604020202020204" pitchFamily="34" charset="0"/>
                </a:rPr>
                <a:t>0.</a:t>
              </a:r>
              <a:endParaRPr lang="en-AU" sz="2400" dirty="0"/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D7C8CDC4-F350-472A-AC8C-D2EC0F6E1E14}"/>
              </a:ext>
            </a:extLst>
          </p:cNvPr>
          <p:cNvSpPr txBox="1"/>
          <p:nvPr/>
        </p:nvSpPr>
        <p:spPr>
          <a:xfrm>
            <a:off x="7589881" y="1740806"/>
            <a:ext cx="32109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4 cannot go into 3. Put zero followed with a decimal place</a:t>
            </a: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4405FC92-A97E-461C-8684-F5EA56695B89}"/>
              </a:ext>
            </a:extLst>
          </p:cNvPr>
          <p:cNvGrpSpPr/>
          <p:nvPr/>
        </p:nvGrpSpPr>
        <p:grpSpPr>
          <a:xfrm>
            <a:off x="5510985" y="2874715"/>
            <a:ext cx="1190201" cy="890681"/>
            <a:chOff x="6180331" y="2088706"/>
            <a:chExt cx="1190201" cy="890681"/>
          </a:xfrm>
        </p:grpSpPr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0B099889-F873-40D4-A318-B0E9AE7362DC}"/>
                </a:ext>
              </a:extLst>
            </p:cNvPr>
            <p:cNvSpPr/>
            <p:nvPr/>
          </p:nvSpPr>
          <p:spPr>
            <a:xfrm>
              <a:off x="6180331" y="2517722"/>
              <a:ext cx="356188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GB" altLang="en-US" sz="2400" dirty="0">
                  <a:solidFill>
                    <a:srgbClr val="010066"/>
                  </a:solidFill>
                  <a:latin typeface="Arial" panose="020B0604020202020204" pitchFamily="34" charset="0"/>
                </a:rPr>
                <a:t>4</a:t>
              </a:r>
              <a:endParaRPr lang="en-AU" sz="2400" dirty="0"/>
            </a:p>
          </p:txBody>
        </p:sp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9BA57DE1-D268-4DAA-BAFB-05CAA6414F94}"/>
                </a:ext>
              </a:extLst>
            </p:cNvPr>
            <p:cNvGrpSpPr/>
            <p:nvPr/>
          </p:nvGrpSpPr>
          <p:grpSpPr>
            <a:xfrm>
              <a:off x="6400970" y="2383797"/>
              <a:ext cx="969562" cy="584775"/>
              <a:chOff x="1804670" y="5714672"/>
              <a:chExt cx="969562" cy="584775"/>
            </a:xfrm>
          </p:grpSpPr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DD4F9ABA-69E4-4227-B823-98874DC8EC18}"/>
                  </a:ext>
                </a:extLst>
              </p:cNvPr>
              <p:cNvSpPr/>
              <p:nvPr/>
            </p:nvSpPr>
            <p:spPr>
              <a:xfrm>
                <a:off x="1804670" y="5714672"/>
                <a:ext cx="320922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GB" altLang="en-US" sz="3200" dirty="0">
                    <a:solidFill>
                      <a:srgbClr val="010066"/>
                    </a:solidFill>
                    <a:latin typeface="Arial" panose="020B0604020202020204" pitchFamily="34" charset="0"/>
                  </a:rPr>
                  <a:t>)</a:t>
                </a:r>
                <a:endParaRPr lang="en-AU" sz="3200" dirty="0"/>
              </a:p>
            </p:txBody>
          </p:sp>
          <p:sp>
            <p:nvSpPr>
              <p:cNvPr id="41" name="Line 8">
                <a:extLst>
                  <a:ext uri="{FF2B5EF4-FFF2-40B4-BE49-F238E27FC236}">
                    <a16:creationId xmlns:a16="http://schemas.microsoft.com/office/drawing/2014/main" id="{EE8AF5BC-FE32-4BCA-8333-31864BED054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30936" y="5852263"/>
                <a:ext cx="843296" cy="18569"/>
              </a:xfrm>
              <a:prstGeom prst="line">
                <a:avLst/>
              </a:prstGeom>
              <a:noFill/>
              <a:ln w="28575">
                <a:solidFill>
                  <a:srgbClr val="010066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</p:grp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8C0E3B3A-E5CD-405B-AE81-58CF8F01701B}"/>
                </a:ext>
              </a:extLst>
            </p:cNvPr>
            <p:cNvSpPr/>
            <p:nvPr/>
          </p:nvSpPr>
          <p:spPr>
            <a:xfrm>
              <a:off x="6586343" y="2512314"/>
              <a:ext cx="784189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GB" altLang="en-US" sz="2400" dirty="0">
                  <a:solidFill>
                    <a:srgbClr val="010066"/>
                  </a:solidFill>
                  <a:latin typeface="Arial" panose="020B0604020202020204" pitchFamily="34" charset="0"/>
                </a:rPr>
                <a:t>3.00</a:t>
              </a:r>
              <a:endParaRPr lang="en-AU" sz="2400" dirty="0"/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9F78ADBD-DC77-47DD-AB24-B0881B3434D9}"/>
                </a:ext>
              </a:extLst>
            </p:cNvPr>
            <p:cNvSpPr/>
            <p:nvPr/>
          </p:nvSpPr>
          <p:spPr>
            <a:xfrm>
              <a:off x="6572721" y="2088706"/>
              <a:ext cx="612668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GB" altLang="en-US" sz="2400" dirty="0">
                  <a:solidFill>
                    <a:srgbClr val="010066"/>
                  </a:solidFill>
                  <a:latin typeface="Arial" panose="020B0604020202020204" pitchFamily="34" charset="0"/>
                </a:rPr>
                <a:t>0.7</a:t>
              </a:r>
              <a:endParaRPr lang="en-AU" sz="2400" dirty="0"/>
            </a:p>
          </p:txBody>
        </p:sp>
      </p:grpSp>
      <p:sp>
        <p:nvSpPr>
          <p:cNvPr id="42" name="Text Box 14">
            <a:extLst>
              <a:ext uri="{FF2B5EF4-FFF2-40B4-BE49-F238E27FC236}">
                <a16:creationId xmlns:a16="http://schemas.microsoft.com/office/drawing/2014/main" id="{150E6321-4550-4DC6-B713-31D18B9F19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52546" y="3215364"/>
            <a:ext cx="35618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Comic Sans MS" panose="030F0702030302020204" pitchFamily="66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Comic Sans MS" panose="030F0702030302020204" pitchFamily="66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Comic Sans MS" panose="030F0702030302020204" pitchFamily="66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defTabSz="914400">
              <a:spcBef>
                <a:spcPct val="0"/>
              </a:spcBef>
              <a:buFontTx/>
              <a:buNone/>
            </a:pPr>
            <a:r>
              <a:rPr lang="en-GB" altLang="en-US" sz="2400" dirty="0">
                <a:solidFill>
                  <a:srgbClr val="FF0000"/>
                </a:solidFill>
                <a:latin typeface="Arial" panose="020B0604020202020204" pitchFamily="34" charset="0"/>
              </a:rPr>
              <a:t>3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E86D17A-5DEF-49D2-9B49-72880E0781E8}"/>
              </a:ext>
            </a:extLst>
          </p:cNvPr>
          <p:cNvSpPr txBox="1"/>
          <p:nvPr/>
        </p:nvSpPr>
        <p:spPr>
          <a:xfrm>
            <a:off x="7691806" y="2882824"/>
            <a:ext cx="321091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How many times does 4 go into 30? 7 times. How many remaining? 2</a:t>
            </a:r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87E35ABD-6EDB-4539-918C-EF6E0AAD4202}"/>
              </a:ext>
            </a:extLst>
          </p:cNvPr>
          <p:cNvGrpSpPr/>
          <p:nvPr/>
        </p:nvGrpSpPr>
        <p:grpSpPr>
          <a:xfrm>
            <a:off x="5500899" y="4003293"/>
            <a:ext cx="1190201" cy="890681"/>
            <a:chOff x="6180331" y="2088706"/>
            <a:chExt cx="1190201" cy="890681"/>
          </a:xfrm>
        </p:grpSpPr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446D13CE-58CD-43BB-AE90-9C16EE5F27DE}"/>
                </a:ext>
              </a:extLst>
            </p:cNvPr>
            <p:cNvSpPr/>
            <p:nvPr/>
          </p:nvSpPr>
          <p:spPr>
            <a:xfrm>
              <a:off x="6180331" y="2517722"/>
              <a:ext cx="356188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GB" altLang="en-US" sz="2400" dirty="0">
                  <a:solidFill>
                    <a:srgbClr val="010066"/>
                  </a:solidFill>
                  <a:latin typeface="Arial" panose="020B0604020202020204" pitchFamily="34" charset="0"/>
                </a:rPr>
                <a:t>4</a:t>
              </a:r>
              <a:endParaRPr lang="en-AU" sz="2400" dirty="0"/>
            </a:p>
          </p:txBody>
        </p:sp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6E74A3D5-9527-4D7C-8090-700BB48C70F9}"/>
                </a:ext>
              </a:extLst>
            </p:cNvPr>
            <p:cNvGrpSpPr/>
            <p:nvPr/>
          </p:nvGrpSpPr>
          <p:grpSpPr>
            <a:xfrm>
              <a:off x="6400970" y="2383797"/>
              <a:ext cx="969562" cy="584775"/>
              <a:chOff x="1804670" y="5714672"/>
              <a:chExt cx="969562" cy="584775"/>
            </a:xfrm>
          </p:grpSpPr>
          <p:sp>
            <p:nvSpPr>
              <p:cNvPr id="49" name="Rectangle 48">
                <a:extLst>
                  <a:ext uri="{FF2B5EF4-FFF2-40B4-BE49-F238E27FC236}">
                    <a16:creationId xmlns:a16="http://schemas.microsoft.com/office/drawing/2014/main" id="{F65DDDE0-6DA7-400C-B98E-895BE140FA91}"/>
                  </a:ext>
                </a:extLst>
              </p:cNvPr>
              <p:cNvSpPr/>
              <p:nvPr/>
            </p:nvSpPr>
            <p:spPr>
              <a:xfrm>
                <a:off x="1804670" y="5714672"/>
                <a:ext cx="320922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GB" altLang="en-US" sz="3200" dirty="0">
                    <a:solidFill>
                      <a:srgbClr val="010066"/>
                    </a:solidFill>
                    <a:latin typeface="Arial" panose="020B0604020202020204" pitchFamily="34" charset="0"/>
                  </a:rPr>
                  <a:t>)</a:t>
                </a:r>
                <a:endParaRPr lang="en-AU" sz="3200" dirty="0"/>
              </a:p>
            </p:txBody>
          </p:sp>
          <p:sp>
            <p:nvSpPr>
              <p:cNvPr id="50" name="Line 8">
                <a:extLst>
                  <a:ext uri="{FF2B5EF4-FFF2-40B4-BE49-F238E27FC236}">
                    <a16:creationId xmlns:a16="http://schemas.microsoft.com/office/drawing/2014/main" id="{DEED95C0-DB12-49EE-9F44-8809AEB6530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30936" y="5852263"/>
                <a:ext cx="843296" cy="18569"/>
              </a:xfrm>
              <a:prstGeom prst="line">
                <a:avLst/>
              </a:prstGeom>
              <a:noFill/>
              <a:ln w="28575">
                <a:solidFill>
                  <a:srgbClr val="010066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</p:grp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E6D4FEBF-3B95-490A-BD67-B5B5650D0AB9}"/>
                </a:ext>
              </a:extLst>
            </p:cNvPr>
            <p:cNvSpPr/>
            <p:nvPr/>
          </p:nvSpPr>
          <p:spPr>
            <a:xfrm>
              <a:off x="6586343" y="2512314"/>
              <a:ext cx="784189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GB" altLang="en-US" sz="2400" dirty="0">
                  <a:solidFill>
                    <a:srgbClr val="010066"/>
                  </a:solidFill>
                  <a:latin typeface="Arial" panose="020B0604020202020204" pitchFamily="34" charset="0"/>
                </a:rPr>
                <a:t>3.00</a:t>
              </a:r>
              <a:endParaRPr lang="en-AU" sz="2400" dirty="0"/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94EDBB39-B78B-420E-8639-300AD15B34BD}"/>
                </a:ext>
              </a:extLst>
            </p:cNvPr>
            <p:cNvSpPr/>
            <p:nvPr/>
          </p:nvSpPr>
          <p:spPr>
            <a:xfrm>
              <a:off x="6572721" y="2088706"/>
              <a:ext cx="784189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GB" altLang="en-US" sz="2400" dirty="0">
                  <a:solidFill>
                    <a:srgbClr val="010066"/>
                  </a:solidFill>
                  <a:latin typeface="Arial" panose="020B0604020202020204" pitchFamily="34" charset="0"/>
                </a:rPr>
                <a:t>0.75</a:t>
              </a:r>
              <a:endParaRPr lang="en-AU" sz="2400" dirty="0"/>
            </a:p>
          </p:txBody>
        </p:sp>
      </p:grpSp>
      <p:sp>
        <p:nvSpPr>
          <p:cNvPr id="51" name="Text Box 14">
            <a:extLst>
              <a:ext uri="{FF2B5EF4-FFF2-40B4-BE49-F238E27FC236}">
                <a16:creationId xmlns:a16="http://schemas.microsoft.com/office/drawing/2014/main" id="{0F1EC52A-2A4B-42F8-A6F5-7D13B3D52A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30640" y="4302074"/>
            <a:ext cx="35618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Comic Sans MS" panose="030F0702030302020204" pitchFamily="66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Comic Sans MS" panose="030F0702030302020204" pitchFamily="66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Comic Sans MS" panose="030F0702030302020204" pitchFamily="66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defTabSz="914400">
              <a:spcBef>
                <a:spcPct val="0"/>
              </a:spcBef>
              <a:buFontTx/>
              <a:buNone/>
            </a:pPr>
            <a:r>
              <a:rPr lang="en-GB" altLang="en-US" sz="2400" dirty="0">
                <a:solidFill>
                  <a:srgbClr val="FF0000"/>
                </a:solidFill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BAC90FF-E487-4FAE-A9F9-B74173F51B71}"/>
              </a:ext>
            </a:extLst>
          </p:cNvPr>
          <p:cNvSpPr txBox="1"/>
          <p:nvPr/>
        </p:nvSpPr>
        <p:spPr>
          <a:xfrm>
            <a:off x="7704381" y="4101368"/>
            <a:ext cx="32109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How many times does 4 go into 20? 5</a:t>
            </a:r>
          </a:p>
        </p:txBody>
      </p:sp>
    </p:spTree>
    <p:extLst>
      <p:ext uri="{BB962C8B-B14F-4D97-AF65-F5344CB8AC3E}">
        <p14:creationId xmlns:p14="http://schemas.microsoft.com/office/powerpoint/2010/main" val="33356112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5">
            <a:extLst>
              <a:ext uri="{FF2B5EF4-FFF2-40B4-BE49-F238E27FC236}">
                <a16:creationId xmlns:a16="http://schemas.microsoft.com/office/drawing/2014/main" id="{87D4B94D-90BA-4DCD-A960-B25823695F0A}"/>
              </a:ext>
            </a:extLst>
          </p:cNvPr>
          <p:cNvGrpSpPr>
            <a:grpSpLocks/>
          </p:cNvGrpSpPr>
          <p:nvPr/>
        </p:nvGrpSpPr>
        <p:grpSpPr bwMode="auto">
          <a:xfrm>
            <a:off x="1300613" y="2459313"/>
            <a:ext cx="1467544" cy="874713"/>
            <a:chOff x="2784" y="841"/>
            <a:chExt cx="924" cy="551"/>
          </a:xfrm>
        </p:grpSpPr>
        <p:grpSp>
          <p:nvGrpSpPr>
            <p:cNvPr id="3" name="Group 6">
              <a:extLst>
                <a:ext uri="{FF2B5EF4-FFF2-40B4-BE49-F238E27FC236}">
                  <a16:creationId xmlns:a16="http://schemas.microsoft.com/office/drawing/2014/main" id="{3FF27A6A-D825-4057-BE82-7F939C9262C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784" y="841"/>
              <a:ext cx="224" cy="551"/>
              <a:chOff x="2851" y="899"/>
              <a:chExt cx="224" cy="551"/>
            </a:xfrm>
          </p:grpSpPr>
          <p:sp>
            <p:nvSpPr>
              <p:cNvPr id="8" name="Text Box 7">
                <a:extLst>
                  <a:ext uri="{FF2B5EF4-FFF2-40B4-BE49-F238E27FC236}">
                    <a16:creationId xmlns:a16="http://schemas.microsoft.com/office/drawing/2014/main" id="{177DAD37-1ABC-4F53-B1DD-24F0BCD9A11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852" y="899"/>
                <a:ext cx="22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Comic Sans MS" panose="030F0702030302020204" pitchFamily="66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defTabSz="914400">
                  <a:spcBef>
                    <a:spcPct val="0"/>
                  </a:spcBef>
                  <a:buFontTx/>
                  <a:buNone/>
                </a:pPr>
                <a:r>
                  <a:rPr lang="en-GB" altLang="en-US" sz="2400" dirty="0">
                    <a:solidFill>
                      <a:srgbClr val="010066"/>
                    </a:solidFill>
                    <a:latin typeface="Arial" panose="020B0604020202020204" pitchFamily="34" charset="0"/>
                  </a:rPr>
                  <a:t>3</a:t>
                </a:r>
              </a:p>
            </p:txBody>
          </p:sp>
          <p:sp>
            <p:nvSpPr>
              <p:cNvPr id="9" name="Line 8">
                <a:extLst>
                  <a:ext uri="{FF2B5EF4-FFF2-40B4-BE49-F238E27FC236}">
                    <a16:creationId xmlns:a16="http://schemas.microsoft.com/office/drawing/2014/main" id="{9AEBAE95-6A87-4A1B-80B9-B84AC7A38B1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61" y="1175"/>
                <a:ext cx="204" cy="0"/>
              </a:xfrm>
              <a:prstGeom prst="line">
                <a:avLst/>
              </a:prstGeom>
              <a:noFill/>
              <a:ln w="28575">
                <a:solidFill>
                  <a:srgbClr val="010066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defTabSz="914400"/>
                <a:endParaRPr lang="en-AU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10" name="Text Box 9">
                <a:extLst>
                  <a:ext uri="{FF2B5EF4-FFF2-40B4-BE49-F238E27FC236}">
                    <a16:creationId xmlns:a16="http://schemas.microsoft.com/office/drawing/2014/main" id="{41B1FEA1-37A0-4873-A9B7-69653809C75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851" y="1162"/>
                <a:ext cx="22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Comic Sans MS" panose="030F0702030302020204" pitchFamily="66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defTabSz="914400">
                  <a:spcBef>
                    <a:spcPct val="0"/>
                  </a:spcBef>
                  <a:buFontTx/>
                  <a:buNone/>
                </a:pPr>
                <a:r>
                  <a:rPr lang="en-GB" altLang="en-US" sz="2400" dirty="0">
                    <a:solidFill>
                      <a:srgbClr val="010066"/>
                    </a:solidFill>
                    <a:latin typeface="Arial" panose="020B0604020202020204" pitchFamily="34" charset="0"/>
                  </a:rPr>
                  <a:t>8</a:t>
                </a:r>
              </a:p>
            </p:txBody>
          </p:sp>
        </p:grpSp>
        <p:sp>
          <p:nvSpPr>
            <p:cNvPr id="4" name="Text Box 10">
              <a:extLst>
                <a:ext uri="{FF2B5EF4-FFF2-40B4-BE49-F238E27FC236}">
                  <a16:creationId xmlns:a16="http://schemas.microsoft.com/office/drawing/2014/main" id="{29490C8A-516E-43F7-ACF2-A884FE4584B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75" y="969"/>
              <a:ext cx="229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Comic Sans MS" panose="030F0702030302020204" pitchFamily="66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defTabSz="914400">
                <a:spcBef>
                  <a:spcPct val="0"/>
                </a:spcBef>
                <a:buFontTx/>
                <a:buNone/>
              </a:pPr>
              <a:r>
                <a:rPr lang="en-GB" altLang="en-US" sz="2400" dirty="0">
                  <a:solidFill>
                    <a:srgbClr val="010066"/>
                  </a:solidFill>
                  <a:latin typeface="Arial" panose="020B0604020202020204" pitchFamily="34" charset="0"/>
                </a:rPr>
                <a:t>=</a:t>
              </a:r>
            </a:p>
          </p:txBody>
        </p:sp>
        <p:grpSp>
          <p:nvGrpSpPr>
            <p:cNvPr id="5" name="Group 11">
              <a:extLst>
                <a:ext uri="{FF2B5EF4-FFF2-40B4-BE49-F238E27FC236}">
                  <a16:creationId xmlns:a16="http://schemas.microsoft.com/office/drawing/2014/main" id="{0E4694F3-7956-4C69-9DB5-D337E78F6C7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66" y="969"/>
              <a:ext cx="542" cy="291"/>
              <a:chOff x="3112" y="969"/>
              <a:chExt cx="542" cy="291"/>
            </a:xfrm>
          </p:grpSpPr>
          <p:sp>
            <p:nvSpPr>
              <p:cNvPr id="6" name="Text Box 12">
                <a:extLst>
                  <a:ext uri="{FF2B5EF4-FFF2-40B4-BE49-F238E27FC236}">
                    <a16:creationId xmlns:a16="http://schemas.microsoft.com/office/drawing/2014/main" id="{F8FB2A1F-D13A-4F2B-A74C-00AD8C1D5F3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12" y="969"/>
                <a:ext cx="384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Comic Sans MS" panose="030F0702030302020204" pitchFamily="66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defTabSz="914400">
                  <a:spcBef>
                    <a:spcPct val="0"/>
                  </a:spcBef>
                  <a:buFontTx/>
                  <a:buNone/>
                </a:pPr>
                <a:r>
                  <a:rPr lang="en-GB" altLang="en-US" sz="2400" dirty="0">
                    <a:solidFill>
                      <a:srgbClr val="010066"/>
                    </a:solidFill>
                    <a:latin typeface="Arial" panose="020B0604020202020204" pitchFamily="34" charset="0"/>
                  </a:rPr>
                  <a:t>3 ÷</a:t>
                </a:r>
              </a:p>
            </p:txBody>
          </p:sp>
          <p:sp>
            <p:nvSpPr>
              <p:cNvPr id="7" name="Text Box 14">
                <a:extLst>
                  <a:ext uri="{FF2B5EF4-FFF2-40B4-BE49-F238E27FC236}">
                    <a16:creationId xmlns:a16="http://schemas.microsoft.com/office/drawing/2014/main" id="{11FBB581-65A4-4A5E-AC67-EA3C2B18196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430" y="969"/>
                <a:ext cx="224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Comic Sans MS" panose="030F0702030302020204" pitchFamily="66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defTabSz="914400">
                  <a:spcBef>
                    <a:spcPct val="0"/>
                  </a:spcBef>
                  <a:buFontTx/>
                  <a:buNone/>
                </a:pPr>
                <a:r>
                  <a:rPr lang="en-GB" altLang="en-US" sz="2400" dirty="0">
                    <a:solidFill>
                      <a:srgbClr val="010066"/>
                    </a:solidFill>
                    <a:latin typeface="Arial" panose="020B0604020202020204" pitchFamily="34" charset="0"/>
                  </a:rPr>
                  <a:t>8</a:t>
                </a:r>
              </a:p>
            </p:txBody>
          </p:sp>
        </p:grpSp>
      </p:grpSp>
      <p:sp>
        <p:nvSpPr>
          <p:cNvPr id="11" name="Rectangle 19">
            <a:extLst>
              <a:ext uri="{FF2B5EF4-FFF2-40B4-BE49-F238E27FC236}">
                <a16:creationId xmlns:a16="http://schemas.microsoft.com/office/drawing/2014/main" id="{FF0E4EB3-F208-4433-A5DF-F5C1B81410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640224" y="582383"/>
            <a:ext cx="8566150" cy="590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Comic Sans MS" panose="030F0702030302020204" pitchFamily="66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Comic Sans MS" panose="030F0702030302020204" pitchFamily="66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Comic Sans MS" panose="030F0702030302020204" pitchFamily="66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alt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opperplate Gothic Bold" panose="020E0705020206020404" pitchFamily="34" charset="0"/>
                <a:ea typeface="+mn-ea"/>
                <a:cs typeface="Arial" panose="020B0604020202020204" pitchFamily="34" charset="0"/>
              </a:rPr>
              <a:t>PRACTICE TIME (LHS):</a:t>
            </a:r>
          </a:p>
        </p:txBody>
      </p:sp>
      <p:grpSp>
        <p:nvGrpSpPr>
          <p:cNvPr id="19" name="Group 5">
            <a:extLst>
              <a:ext uri="{FF2B5EF4-FFF2-40B4-BE49-F238E27FC236}">
                <a16:creationId xmlns:a16="http://schemas.microsoft.com/office/drawing/2014/main" id="{D0D9670D-5AEF-47D0-A585-32D884188FD2}"/>
              </a:ext>
            </a:extLst>
          </p:cNvPr>
          <p:cNvGrpSpPr>
            <a:grpSpLocks/>
          </p:cNvGrpSpPr>
          <p:nvPr/>
        </p:nvGrpSpPr>
        <p:grpSpPr bwMode="auto">
          <a:xfrm>
            <a:off x="7173094" y="2551072"/>
            <a:ext cx="1724841" cy="919163"/>
            <a:chOff x="2730" y="841"/>
            <a:chExt cx="1086" cy="579"/>
          </a:xfrm>
        </p:grpSpPr>
        <p:grpSp>
          <p:nvGrpSpPr>
            <p:cNvPr id="20" name="Group 6">
              <a:extLst>
                <a:ext uri="{FF2B5EF4-FFF2-40B4-BE49-F238E27FC236}">
                  <a16:creationId xmlns:a16="http://schemas.microsoft.com/office/drawing/2014/main" id="{77C71A6A-0C50-4737-8E9C-E1F7299C586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730" y="841"/>
              <a:ext cx="332" cy="579"/>
              <a:chOff x="2797" y="899"/>
              <a:chExt cx="332" cy="579"/>
            </a:xfrm>
          </p:grpSpPr>
          <p:sp>
            <p:nvSpPr>
              <p:cNvPr id="25" name="Text Box 7">
                <a:extLst>
                  <a:ext uri="{FF2B5EF4-FFF2-40B4-BE49-F238E27FC236}">
                    <a16:creationId xmlns:a16="http://schemas.microsoft.com/office/drawing/2014/main" id="{B5D247F7-A952-432A-AB21-5AC84B4D4CA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852" y="899"/>
                <a:ext cx="22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Comic Sans MS" panose="030F0702030302020204" pitchFamily="66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GB" altLang="en-US" sz="2400">
                    <a:solidFill>
                      <a:srgbClr val="010066"/>
                    </a:solidFill>
                    <a:latin typeface="Arial" panose="020B0604020202020204" pitchFamily="34" charset="0"/>
                  </a:rPr>
                  <a:t>5</a:t>
                </a:r>
              </a:p>
            </p:txBody>
          </p:sp>
          <p:sp>
            <p:nvSpPr>
              <p:cNvPr id="26" name="Line 8">
                <a:extLst>
                  <a:ext uri="{FF2B5EF4-FFF2-40B4-BE49-F238E27FC236}">
                    <a16:creationId xmlns:a16="http://schemas.microsoft.com/office/drawing/2014/main" id="{9DDC5746-846C-4209-9F44-EFD29F20FDD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61" y="1175"/>
                <a:ext cx="204" cy="0"/>
              </a:xfrm>
              <a:prstGeom prst="line">
                <a:avLst/>
              </a:prstGeom>
              <a:noFill/>
              <a:ln w="28575">
                <a:solidFill>
                  <a:srgbClr val="010066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AU"/>
              </a:p>
            </p:txBody>
          </p:sp>
          <p:sp>
            <p:nvSpPr>
              <p:cNvPr id="27" name="Text Box 9">
                <a:extLst>
                  <a:ext uri="{FF2B5EF4-FFF2-40B4-BE49-F238E27FC236}">
                    <a16:creationId xmlns:a16="http://schemas.microsoft.com/office/drawing/2014/main" id="{3B3CC232-A65A-4033-97D8-EED5134784A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797" y="1187"/>
                <a:ext cx="332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Comic Sans MS" panose="030F0702030302020204" pitchFamily="66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GB" altLang="en-US" sz="2400" dirty="0">
                    <a:solidFill>
                      <a:srgbClr val="010066"/>
                    </a:solidFill>
                    <a:latin typeface="Arial" panose="020B0604020202020204" pitchFamily="34" charset="0"/>
                  </a:rPr>
                  <a:t>12</a:t>
                </a:r>
              </a:p>
            </p:txBody>
          </p:sp>
        </p:grpSp>
        <p:sp>
          <p:nvSpPr>
            <p:cNvPr id="21" name="Text Box 10">
              <a:extLst>
                <a:ext uri="{FF2B5EF4-FFF2-40B4-BE49-F238E27FC236}">
                  <a16:creationId xmlns:a16="http://schemas.microsoft.com/office/drawing/2014/main" id="{804EAA28-3693-449A-82DB-BA32669BEDF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75" y="969"/>
              <a:ext cx="229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Comic Sans MS" panose="030F0702030302020204" pitchFamily="66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GB" altLang="en-US" sz="2400" dirty="0">
                  <a:solidFill>
                    <a:srgbClr val="010066"/>
                  </a:solidFill>
                  <a:latin typeface="Arial" panose="020B0604020202020204" pitchFamily="34" charset="0"/>
                </a:rPr>
                <a:t>=</a:t>
              </a:r>
            </a:p>
          </p:txBody>
        </p:sp>
        <p:grpSp>
          <p:nvGrpSpPr>
            <p:cNvPr id="22" name="Group 11">
              <a:extLst>
                <a:ext uri="{FF2B5EF4-FFF2-40B4-BE49-F238E27FC236}">
                  <a16:creationId xmlns:a16="http://schemas.microsoft.com/office/drawing/2014/main" id="{65C4F680-2140-4C93-9232-215D71572D5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66" y="969"/>
              <a:ext cx="650" cy="291"/>
              <a:chOff x="3112" y="969"/>
              <a:chExt cx="650" cy="291"/>
            </a:xfrm>
          </p:grpSpPr>
          <p:sp>
            <p:nvSpPr>
              <p:cNvPr id="23" name="Text Box 12">
                <a:extLst>
                  <a:ext uri="{FF2B5EF4-FFF2-40B4-BE49-F238E27FC236}">
                    <a16:creationId xmlns:a16="http://schemas.microsoft.com/office/drawing/2014/main" id="{EA30A2D3-82B1-48C5-A4EE-9A28867D437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12" y="969"/>
                <a:ext cx="384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Comic Sans MS" panose="030F0702030302020204" pitchFamily="66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GB" altLang="en-US" sz="2400" dirty="0">
                    <a:solidFill>
                      <a:srgbClr val="010066"/>
                    </a:solidFill>
                    <a:latin typeface="Arial" panose="020B0604020202020204" pitchFamily="34" charset="0"/>
                  </a:rPr>
                  <a:t>5 ÷</a:t>
                </a:r>
              </a:p>
            </p:txBody>
          </p:sp>
          <p:sp>
            <p:nvSpPr>
              <p:cNvPr id="24" name="Text Box 14">
                <a:extLst>
                  <a:ext uri="{FF2B5EF4-FFF2-40B4-BE49-F238E27FC236}">
                    <a16:creationId xmlns:a16="http://schemas.microsoft.com/office/drawing/2014/main" id="{B32734F6-0721-4C2C-A503-034DA1065BC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430" y="969"/>
                <a:ext cx="332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Comic Sans MS" panose="030F0702030302020204" pitchFamily="66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Comic Sans MS" panose="030F0702030302020204" pitchFamily="66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GB" altLang="en-US" sz="2400" dirty="0">
                    <a:solidFill>
                      <a:srgbClr val="010066"/>
                    </a:solidFill>
                    <a:latin typeface="Arial" panose="020B0604020202020204" pitchFamily="34" charset="0"/>
                  </a:rPr>
                  <a:t>12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0756589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631504" y="1090909"/>
            <a:ext cx="11521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Keywords</a:t>
            </a: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</a:p>
        </p:txBody>
      </p:sp>
      <p:sp>
        <p:nvSpPr>
          <p:cNvPr id="5" name="Rectangle 4"/>
          <p:cNvSpPr/>
          <p:nvPr/>
        </p:nvSpPr>
        <p:spPr>
          <a:xfrm>
            <a:off x="1631504" y="1162917"/>
            <a:ext cx="8928992" cy="514996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610910" y="1162917"/>
            <a:ext cx="8928992" cy="523220"/>
          </a:xfrm>
          <a:prstGeom prst="rect">
            <a:avLst/>
          </a:prstGeom>
          <a:solidFill>
            <a:schemeClr val="tx2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Example - Fractions to Decimal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/>
              <p:cNvSpPr txBox="1"/>
              <p:nvPr/>
            </p:nvSpPr>
            <p:spPr>
              <a:xfrm>
                <a:off x="4151784" y="2531069"/>
                <a:ext cx="1440160" cy="1359988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0" lang="en-GB" sz="44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r>
                            <a:rPr kumimoji="0" lang="en-GB" sz="44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𝟏</m:t>
                          </m:r>
                        </m:num>
                        <m:den>
                          <m:r>
                            <a:rPr kumimoji="0" lang="en-GB" sz="44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𝟐</m:t>
                          </m:r>
                        </m:den>
                      </m:f>
                    </m:oMath>
                  </m:oMathPara>
                </a14:m>
                <a:endParaRPr kumimoji="0" lang="en-GB" sz="44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30" name="TextBox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1784" y="2531069"/>
                <a:ext cx="1440160" cy="135998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TextBox 30"/>
          <p:cNvSpPr txBox="1"/>
          <p:nvPr/>
        </p:nvSpPr>
        <p:spPr>
          <a:xfrm>
            <a:off x="1919536" y="1864413"/>
            <a:ext cx="1800200" cy="369332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Shaded fraction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983757" y="1857597"/>
            <a:ext cx="1800200" cy="36933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Fraction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96000" y="1873705"/>
            <a:ext cx="1800200" cy="369332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Calculation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184232" y="1873705"/>
            <a:ext cx="1800200" cy="369332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Decimal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2135560" y="2531069"/>
            <a:ext cx="1359988" cy="1359988"/>
            <a:chOff x="611560" y="1484784"/>
            <a:chExt cx="1359988" cy="1359988"/>
          </a:xfrm>
        </p:grpSpPr>
        <p:sp>
          <p:nvSpPr>
            <p:cNvPr id="3" name="Rectangle 2"/>
            <p:cNvSpPr/>
            <p:nvPr/>
          </p:nvSpPr>
          <p:spPr>
            <a:xfrm>
              <a:off x="611560" y="1484784"/>
              <a:ext cx="1359988" cy="135998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8" name="Rectangle 37"/>
            <p:cNvSpPr/>
            <p:nvPr/>
          </p:nvSpPr>
          <p:spPr>
            <a:xfrm>
              <a:off x="615642" y="1484784"/>
              <a:ext cx="679994" cy="1359988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39" name="TextBox 38"/>
          <p:cNvSpPr txBox="1"/>
          <p:nvPr/>
        </p:nvSpPr>
        <p:spPr>
          <a:xfrm>
            <a:off x="6246896" y="2820843"/>
            <a:ext cx="1440160" cy="646331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 ÷ 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00256" y="2820842"/>
            <a:ext cx="1440160" cy="646331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0.5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/>
              <p:cNvSpPr txBox="1"/>
              <p:nvPr/>
            </p:nvSpPr>
            <p:spPr>
              <a:xfrm>
                <a:off x="4151784" y="4555457"/>
                <a:ext cx="1440160" cy="1359988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0" lang="en-GB" sz="44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r>
                            <a:rPr kumimoji="0" lang="en-GB" sz="44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𝟏</m:t>
                          </m:r>
                        </m:num>
                        <m:den>
                          <m:r>
                            <a:rPr kumimoji="0" lang="en-GB" sz="44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𝟒</m:t>
                          </m:r>
                        </m:den>
                      </m:f>
                    </m:oMath>
                  </m:oMathPara>
                </a14:m>
                <a:endParaRPr kumimoji="0" lang="en-GB" sz="44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43" name="TextBox 4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1784" y="4555457"/>
                <a:ext cx="1440160" cy="135998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8" name="TextBox 47"/>
          <p:cNvSpPr txBox="1"/>
          <p:nvPr/>
        </p:nvSpPr>
        <p:spPr>
          <a:xfrm>
            <a:off x="6246896" y="4845231"/>
            <a:ext cx="1440160" cy="646331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 ÷ 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400256" y="4845230"/>
            <a:ext cx="1440160" cy="646331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0.25</a:t>
            </a:r>
          </a:p>
        </p:txBody>
      </p:sp>
      <p:grpSp>
        <p:nvGrpSpPr>
          <p:cNvPr id="11" name="Group 10"/>
          <p:cNvGrpSpPr/>
          <p:nvPr/>
        </p:nvGrpSpPr>
        <p:grpSpPr>
          <a:xfrm>
            <a:off x="2135561" y="4555457"/>
            <a:ext cx="1377673" cy="1359988"/>
            <a:chOff x="611560" y="3509172"/>
            <a:chExt cx="1377673" cy="1359988"/>
          </a:xfrm>
        </p:grpSpPr>
        <p:grpSp>
          <p:nvGrpSpPr>
            <p:cNvPr id="44" name="Group 43"/>
            <p:cNvGrpSpPr/>
            <p:nvPr/>
          </p:nvGrpSpPr>
          <p:grpSpPr>
            <a:xfrm>
              <a:off x="611560" y="3509172"/>
              <a:ext cx="1359988" cy="1359988"/>
              <a:chOff x="611560" y="1484784"/>
              <a:chExt cx="1359988" cy="1359988"/>
            </a:xfrm>
          </p:grpSpPr>
          <p:sp>
            <p:nvSpPr>
              <p:cNvPr id="46" name="Rectangle 45"/>
              <p:cNvSpPr/>
              <p:nvPr/>
            </p:nvSpPr>
            <p:spPr>
              <a:xfrm>
                <a:off x="611560" y="1484784"/>
                <a:ext cx="1359988" cy="1359988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7" name="Rectangle 46"/>
              <p:cNvSpPr/>
              <p:nvPr/>
            </p:nvSpPr>
            <p:spPr>
              <a:xfrm>
                <a:off x="615642" y="1484784"/>
                <a:ext cx="679994" cy="1359988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50" name="Rectangle 49"/>
            <p:cNvSpPr/>
            <p:nvPr/>
          </p:nvSpPr>
          <p:spPr>
            <a:xfrm>
              <a:off x="629245" y="3509172"/>
              <a:ext cx="679994" cy="67999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1" name="Rectangle 50"/>
            <p:cNvSpPr/>
            <p:nvPr/>
          </p:nvSpPr>
          <p:spPr>
            <a:xfrm>
              <a:off x="1307480" y="3509172"/>
              <a:ext cx="679994" cy="67999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2" name="Rectangle 51"/>
            <p:cNvSpPr/>
            <p:nvPr/>
          </p:nvSpPr>
          <p:spPr>
            <a:xfrm>
              <a:off x="1309239" y="4189166"/>
              <a:ext cx="679994" cy="67999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53" name="Rectangle 19">
            <a:extLst>
              <a:ext uri="{FF2B5EF4-FFF2-40B4-BE49-F238E27FC236}">
                <a16:creationId xmlns:a16="http://schemas.microsoft.com/office/drawing/2014/main" id="{F48AF0E0-E0DF-4ECC-AA08-09FD02D7B6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62125" y="188913"/>
            <a:ext cx="8566150" cy="590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Comic Sans MS" panose="030F0702030302020204" pitchFamily="66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Comic Sans MS" panose="030F0702030302020204" pitchFamily="66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Comic Sans MS" panose="030F0702030302020204" pitchFamily="66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alt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opperplate Gothic Bold" panose="020E0705020206020404" pitchFamily="34" charset="0"/>
                <a:ea typeface="+mn-ea"/>
                <a:cs typeface="Arial" panose="020B0604020202020204" pitchFamily="34" charset="0"/>
              </a:rPr>
              <a:t>Fractions and Decimals</a:t>
            </a:r>
          </a:p>
        </p:txBody>
      </p:sp>
    </p:spTree>
    <p:extLst>
      <p:ext uri="{BB962C8B-B14F-4D97-AF65-F5344CB8AC3E}">
        <p14:creationId xmlns:p14="http://schemas.microsoft.com/office/powerpoint/2010/main" val="35154451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39" grpId="0" animBg="1"/>
      <p:bldP spid="40" grpId="0" animBg="1"/>
      <p:bldP spid="43" grpId="0" animBg="1"/>
      <p:bldP spid="48" grpId="0" animBg="1"/>
      <p:bldP spid="49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631504" y="1249170"/>
            <a:ext cx="11521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Keywords</a:t>
            </a: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</a:p>
        </p:txBody>
      </p:sp>
      <p:sp>
        <p:nvSpPr>
          <p:cNvPr id="5" name="Rectangle 4"/>
          <p:cNvSpPr/>
          <p:nvPr/>
        </p:nvSpPr>
        <p:spPr>
          <a:xfrm>
            <a:off x="1631504" y="1321178"/>
            <a:ext cx="8928992" cy="513237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610910" y="1321178"/>
            <a:ext cx="8928992" cy="523220"/>
          </a:xfrm>
          <a:prstGeom prst="rect">
            <a:avLst/>
          </a:prstGeom>
          <a:solidFill>
            <a:schemeClr val="tx2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Example - Fractions to Decimal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/>
              <p:cNvSpPr txBox="1"/>
              <p:nvPr/>
            </p:nvSpPr>
            <p:spPr>
              <a:xfrm>
                <a:off x="4151784" y="2689330"/>
                <a:ext cx="1440160" cy="1359988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0" lang="en-GB" sz="44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r>
                            <a:rPr kumimoji="0" lang="en-GB" sz="44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𝟏</m:t>
                          </m:r>
                        </m:num>
                        <m:den>
                          <m:r>
                            <a:rPr kumimoji="0" lang="en-GB" sz="44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𝟑</m:t>
                          </m:r>
                        </m:den>
                      </m:f>
                    </m:oMath>
                  </m:oMathPara>
                </a14:m>
                <a:endParaRPr kumimoji="0" lang="en-GB" sz="44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30" name="TextBox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1784" y="2689330"/>
                <a:ext cx="1440160" cy="135998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TextBox 30"/>
          <p:cNvSpPr txBox="1"/>
          <p:nvPr/>
        </p:nvSpPr>
        <p:spPr>
          <a:xfrm>
            <a:off x="1919536" y="2022674"/>
            <a:ext cx="1800200" cy="369332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Shaded fraction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983757" y="2015858"/>
            <a:ext cx="1800200" cy="36933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Fraction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96000" y="2031966"/>
            <a:ext cx="1800200" cy="369332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Calculation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184232" y="2031966"/>
            <a:ext cx="1800200" cy="369332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Decimal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46896" y="2979104"/>
            <a:ext cx="1440160" cy="646331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 ÷ 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00256" y="2979103"/>
            <a:ext cx="1440160" cy="646331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0.333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/>
              <p:cNvSpPr txBox="1"/>
              <p:nvPr/>
            </p:nvSpPr>
            <p:spPr>
              <a:xfrm>
                <a:off x="4151784" y="4713718"/>
                <a:ext cx="1440160" cy="1359988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0" lang="en-GB" sz="44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r>
                            <a:rPr kumimoji="0" lang="en-GB" sz="44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𝟏</m:t>
                          </m:r>
                        </m:num>
                        <m:den>
                          <m:r>
                            <a:rPr kumimoji="0" lang="en-GB" sz="44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𝟖</m:t>
                          </m:r>
                        </m:den>
                      </m:f>
                    </m:oMath>
                  </m:oMathPara>
                </a14:m>
                <a:endParaRPr kumimoji="0" lang="en-GB" sz="44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43" name="TextBox 4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1784" y="4713718"/>
                <a:ext cx="1440160" cy="135998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8" name="TextBox 47"/>
          <p:cNvSpPr txBox="1"/>
          <p:nvPr/>
        </p:nvSpPr>
        <p:spPr>
          <a:xfrm>
            <a:off x="6246896" y="4995328"/>
            <a:ext cx="1440160" cy="646331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 ÷ 8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400256" y="5003491"/>
            <a:ext cx="1440160" cy="646331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0.125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2135561" y="4713718"/>
            <a:ext cx="1377673" cy="1359988"/>
            <a:chOff x="611560" y="3509172"/>
            <a:chExt cx="1377673" cy="1359988"/>
          </a:xfrm>
        </p:grpSpPr>
        <p:grpSp>
          <p:nvGrpSpPr>
            <p:cNvPr id="44" name="Group 43"/>
            <p:cNvGrpSpPr/>
            <p:nvPr/>
          </p:nvGrpSpPr>
          <p:grpSpPr>
            <a:xfrm>
              <a:off x="611560" y="3509172"/>
              <a:ext cx="1359988" cy="1359988"/>
              <a:chOff x="611560" y="1484784"/>
              <a:chExt cx="1359988" cy="1359988"/>
            </a:xfrm>
          </p:grpSpPr>
          <p:sp>
            <p:nvSpPr>
              <p:cNvPr id="46" name="Rectangle 45"/>
              <p:cNvSpPr/>
              <p:nvPr/>
            </p:nvSpPr>
            <p:spPr>
              <a:xfrm>
                <a:off x="611560" y="1484784"/>
                <a:ext cx="1359988" cy="1359988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7" name="Rectangle 46"/>
              <p:cNvSpPr/>
              <p:nvPr/>
            </p:nvSpPr>
            <p:spPr>
              <a:xfrm>
                <a:off x="615642" y="1484784"/>
                <a:ext cx="679994" cy="1359988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50" name="Rectangle 49"/>
            <p:cNvSpPr/>
            <p:nvPr/>
          </p:nvSpPr>
          <p:spPr>
            <a:xfrm>
              <a:off x="629245" y="3509172"/>
              <a:ext cx="679994" cy="67999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1" name="Rectangle 50"/>
            <p:cNvSpPr/>
            <p:nvPr/>
          </p:nvSpPr>
          <p:spPr>
            <a:xfrm>
              <a:off x="1307480" y="3509172"/>
              <a:ext cx="679994" cy="67999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2" name="Rectangle 51"/>
            <p:cNvSpPr/>
            <p:nvPr/>
          </p:nvSpPr>
          <p:spPr>
            <a:xfrm>
              <a:off x="1309239" y="4189166"/>
              <a:ext cx="679994" cy="67999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3" name="Rectangle 52"/>
            <p:cNvSpPr/>
            <p:nvPr/>
          </p:nvSpPr>
          <p:spPr>
            <a:xfrm>
              <a:off x="629245" y="3509172"/>
              <a:ext cx="679994" cy="339997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1" name="Rectangle 60"/>
            <p:cNvSpPr/>
            <p:nvPr/>
          </p:nvSpPr>
          <p:spPr>
            <a:xfrm>
              <a:off x="1291554" y="3509172"/>
              <a:ext cx="679994" cy="339997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2" name="Rectangle 61"/>
            <p:cNvSpPr/>
            <p:nvPr/>
          </p:nvSpPr>
          <p:spPr>
            <a:xfrm>
              <a:off x="615642" y="4189166"/>
              <a:ext cx="679994" cy="339997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3" name="Rectangle 62"/>
            <p:cNvSpPr/>
            <p:nvPr/>
          </p:nvSpPr>
          <p:spPr>
            <a:xfrm>
              <a:off x="1309239" y="4179530"/>
              <a:ext cx="679994" cy="339997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2063552" y="2689330"/>
            <a:ext cx="1509340" cy="1359988"/>
            <a:chOff x="539552" y="1484784"/>
            <a:chExt cx="1509340" cy="1359988"/>
          </a:xfrm>
        </p:grpSpPr>
        <p:grpSp>
          <p:nvGrpSpPr>
            <p:cNvPr id="4" name="Group 3"/>
            <p:cNvGrpSpPr/>
            <p:nvPr/>
          </p:nvGrpSpPr>
          <p:grpSpPr>
            <a:xfrm>
              <a:off x="539552" y="1484784"/>
              <a:ext cx="1509340" cy="1359988"/>
              <a:chOff x="611560" y="1484784"/>
              <a:chExt cx="1295743" cy="1359988"/>
            </a:xfrm>
          </p:grpSpPr>
          <p:sp>
            <p:nvSpPr>
              <p:cNvPr id="3" name="Rectangle 2"/>
              <p:cNvSpPr/>
              <p:nvPr/>
            </p:nvSpPr>
            <p:spPr>
              <a:xfrm>
                <a:off x="611560" y="1484784"/>
                <a:ext cx="1295743" cy="1359988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8" name="Rectangle 37"/>
              <p:cNvSpPr/>
              <p:nvPr/>
            </p:nvSpPr>
            <p:spPr>
              <a:xfrm>
                <a:off x="615642" y="1484784"/>
                <a:ext cx="499974" cy="1359988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64" name="Rectangle 63"/>
            <p:cNvSpPr/>
            <p:nvPr/>
          </p:nvSpPr>
          <p:spPr>
            <a:xfrm>
              <a:off x="1047690" y="1484784"/>
              <a:ext cx="499974" cy="1359988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65" name="Rectangle 19">
            <a:extLst>
              <a:ext uri="{FF2B5EF4-FFF2-40B4-BE49-F238E27FC236}">
                <a16:creationId xmlns:a16="http://schemas.microsoft.com/office/drawing/2014/main" id="{101235D9-5DCC-41CF-92A0-A004C1BBE7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62125" y="188913"/>
            <a:ext cx="8566150" cy="590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Comic Sans MS" panose="030F0702030302020204" pitchFamily="66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Comic Sans MS" panose="030F0702030302020204" pitchFamily="66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Comic Sans MS" panose="030F0702030302020204" pitchFamily="66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alt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opperplate Gothic Bold" panose="020E0705020206020404" pitchFamily="34" charset="0"/>
                <a:ea typeface="+mn-ea"/>
                <a:cs typeface="Arial" panose="020B0604020202020204" pitchFamily="34" charset="0"/>
              </a:rPr>
              <a:t>Fractions and Decimals</a:t>
            </a:r>
          </a:p>
        </p:txBody>
      </p:sp>
    </p:spTree>
    <p:extLst>
      <p:ext uri="{BB962C8B-B14F-4D97-AF65-F5344CB8AC3E}">
        <p14:creationId xmlns:p14="http://schemas.microsoft.com/office/powerpoint/2010/main" val="42073716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39" grpId="0" animBg="1"/>
      <p:bldP spid="40" grpId="0" animBg="1"/>
      <p:bldP spid="43" grpId="0" animBg="1"/>
      <p:bldP spid="48" grpId="0" animBg="1"/>
      <p:bldP spid="49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69958" y="1170039"/>
            <a:ext cx="11521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Keywords</a:t>
            </a: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</a:p>
        </p:txBody>
      </p:sp>
      <p:sp>
        <p:nvSpPr>
          <p:cNvPr id="5" name="Rectangle 4"/>
          <p:cNvSpPr/>
          <p:nvPr/>
        </p:nvSpPr>
        <p:spPr>
          <a:xfrm>
            <a:off x="1569958" y="1242047"/>
            <a:ext cx="8928992" cy="507083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549364" y="1242047"/>
            <a:ext cx="8928992" cy="523220"/>
          </a:xfrm>
          <a:prstGeom prst="rect">
            <a:avLst/>
          </a:prstGeom>
          <a:solidFill>
            <a:schemeClr val="tx2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Example - Fractions to Decimal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/>
              <p:cNvSpPr txBox="1"/>
              <p:nvPr/>
            </p:nvSpPr>
            <p:spPr>
              <a:xfrm>
                <a:off x="4090238" y="2610199"/>
                <a:ext cx="1440160" cy="1359988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0" lang="en-GB" sz="44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r>
                            <a:rPr kumimoji="0" lang="en-GB" sz="44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𝟏</m:t>
                          </m:r>
                        </m:num>
                        <m:den>
                          <m:r>
                            <a:rPr kumimoji="0" lang="en-GB" sz="44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𝟔</m:t>
                          </m:r>
                        </m:den>
                      </m:f>
                    </m:oMath>
                  </m:oMathPara>
                </a14:m>
                <a:endParaRPr kumimoji="0" lang="en-GB" sz="44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30" name="TextBox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90238" y="2610199"/>
                <a:ext cx="1440160" cy="135998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TextBox 30"/>
          <p:cNvSpPr txBox="1"/>
          <p:nvPr/>
        </p:nvSpPr>
        <p:spPr>
          <a:xfrm>
            <a:off x="1857990" y="1943543"/>
            <a:ext cx="1800200" cy="369332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Shaded fraction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922211" y="1936727"/>
            <a:ext cx="1800200" cy="36933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Fraction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34454" y="1952835"/>
            <a:ext cx="1800200" cy="369332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Calculation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122686" y="1952835"/>
            <a:ext cx="1800200" cy="369332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Decimal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185350" y="2899973"/>
            <a:ext cx="1440160" cy="646331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 ÷ 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38710" y="2899972"/>
            <a:ext cx="1440160" cy="646331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/>
              <p:cNvSpPr txBox="1"/>
              <p:nvPr/>
            </p:nvSpPr>
            <p:spPr>
              <a:xfrm>
                <a:off x="4090238" y="4634587"/>
                <a:ext cx="1440160" cy="1359988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0" lang="en-GB" sz="44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r>
                            <a:rPr kumimoji="0" lang="en-GB" sz="44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𝟑</m:t>
                          </m:r>
                        </m:num>
                        <m:den>
                          <m:r>
                            <a:rPr kumimoji="0" lang="en-GB" sz="44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𝟖</m:t>
                          </m:r>
                        </m:den>
                      </m:f>
                    </m:oMath>
                  </m:oMathPara>
                </a14:m>
                <a:endParaRPr kumimoji="0" lang="en-GB" sz="44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43" name="TextBox 4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90238" y="4634587"/>
                <a:ext cx="1440160" cy="135998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8" name="TextBox 47"/>
          <p:cNvSpPr txBox="1"/>
          <p:nvPr/>
        </p:nvSpPr>
        <p:spPr>
          <a:xfrm>
            <a:off x="6185350" y="4916197"/>
            <a:ext cx="1440160" cy="646331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 ÷ 8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338710" y="4924360"/>
            <a:ext cx="1440160" cy="646331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2" name="Group 11"/>
          <p:cNvGrpSpPr/>
          <p:nvPr/>
        </p:nvGrpSpPr>
        <p:grpSpPr>
          <a:xfrm>
            <a:off x="2074015" y="4634587"/>
            <a:ext cx="1377673" cy="1359988"/>
            <a:chOff x="611560" y="3509172"/>
            <a:chExt cx="1377673" cy="1359988"/>
          </a:xfrm>
        </p:grpSpPr>
        <p:grpSp>
          <p:nvGrpSpPr>
            <p:cNvPr id="44" name="Group 43"/>
            <p:cNvGrpSpPr/>
            <p:nvPr/>
          </p:nvGrpSpPr>
          <p:grpSpPr>
            <a:xfrm>
              <a:off x="611560" y="3509172"/>
              <a:ext cx="1359988" cy="1359988"/>
              <a:chOff x="611560" y="1484784"/>
              <a:chExt cx="1359988" cy="1359988"/>
            </a:xfrm>
          </p:grpSpPr>
          <p:sp>
            <p:nvSpPr>
              <p:cNvPr id="46" name="Rectangle 45"/>
              <p:cNvSpPr/>
              <p:nvPr/>
            </p:nvSpPr>
            <p:spPr>
              <a:xfrm>
                <a:off x="611560" y="1484784"/>
                <a:ext cx="1359988" cy="1359988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7" name="Rectangle 46"/>
              <p:cNvSpPr/>
              <p:nvPr/>
            </p:nvSpPr>
            <p:spPr>
              <a:xfrm>
                <a:off x="615642" y="1484784"/>
                <a:ext cx="679994" cy="1359988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50" name="Rectangle 49"/>
            <p:cNvSpPr/>
            <p:nvPr/>
          </p:nvSpPr>
          <p:spPr>
            <a:xfrm>
              <a:off x="629245" y="3509172"/>
              <a:ext cx="679994" cy="67999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1" name="Rectangle 50"/>
            <p:cNvSpPr/>
            <p:nvPr/>
          </p:nvSpPr>
          <p:spPr>
            <a:xfrm>
              <a:off x="1307480" y="3509172"/>
              <a:ext cx="679994" cy="67999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2" name="Rectangle 51"/>
            <p:cNvSpPr/>
            <p:nvPr/>
          </p:nvSpPr>
          <p:spPr>
            <a:xfrm>
              <a:off x="1309239" y="4189166"/>
              <a:ext cx="679994" cy="67999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3" name="Rectangle 52"/>
            <p:cNvSpPr/>
            <p:nvPr/>
          </p:nvSpPr>
          <p:spPr>
            <a:xfrm>
              <a:off x="629245" y="3509172"/>
              <a:ext cx="679994" cy="339997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1" name="Rectangle 60"/>
            <p:cNvSpPr/>
            <p:nvPr/>
          </p:nvSpPr>
          <p:spPr>
            <a:xfrm>
              <a:off x="1291554" y="3509172"/>
              <a:ext cx="679994" cy="339997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2" name="Rectangle 61"/>
            <p:cNvSpPr/>
            <p:nvPr/>
          </p:nvSpPr>
          <p:spPr>
            <a:xfrm>
              <a:off x="615642" y="4189166"/>
              <a:ext cx="679994" cy="339997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3" name="Rectangle 62"/>
            <p:cNvSpPr/>
            <p:nvPr/>
          </p:nvSpPr>
          <p:spPr>
            <a:xfrm>
              <a:off x="1309239" y="4179530"/>
              <a:ext cx="679994" cy="339997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68" name="Rectangle 67"/>
          <p:cNvSpPr/>
          <p:nvPr/>
        </p:nvSpPr>
        <p:spPr>
          <a:xfrm>
            <a:off x="2762172" y="4986464"/>
            <a:ext cx="679994" cy="33999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9" name="Rectangle 68"/>
          <p:cNvSpPr/>
          <p:nvPr/>
        </p:nvSpPr>
        <p:spPr>
          <a:xfrm>
            <a:off x="2774603" y="5654578"/>
            <a:ext cx="679994" cy="33999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0" name="Rectangle 19">
            <a:extLst>
              <a:ext uri="{FF2B5EF4-FFF2-40B4-BE49-F238E27FC236}">
                <a16:creationId xmlns:a16="http://schemas.microsoft.com/office/drawing/2014/main" id="{761A51CE-CBB4-4ADA-B47E-2689A564A0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62125" y="188913"/>
            <a:ext cx="8566150" cy="590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Comic Sans MS" panose="030F0702030302020204" pitchFamily="66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Comic Sans MS" panose="030F0702030302020204" pitchFamily="66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Comic Sans MS" panose="030F0702030302020204" pitchFamily="66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alt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opperplate Gothic Bold" panose="020E0705020206020404" pitchFamily="34" charset="0"/>
                <a:ea typeface="+mn-ea"/>
                <a:cs typeface="Arial" panose="020B0604020202020204" pitchFamily="34" charset="0"/>
              </a:rPr>
              <a:t>Fractions and Decimals</a:t>
            </a:r>
          </a:p>
        </p:txBody>
      </p:sp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60C8910E-6110-4081-8A82-F55641E4B3D8}"/>
              </a:ext>
            </a:extLst>
          </p:cNvPr>
          <p:cNvGraphicFramePr>
            <a:graphicFrameLocks noGrp="1"/>
          </p:cNvGraphicFramePr>
          <p:nvPr/>
        </p:nvGraphicFramePr>
        <p:xfrm>
          <a:off x="2032000" y="2899972"/>
          <a:ext cx="1482174" cy="12621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7029">
                  <a:extLst>
                    <a:ext uri="{9D8B030D-6E8A-4147-A177-3AD203B41FA5}">
                      <a16:colId xmlns:a16="http://schemas.microsoft.com/office/drawing/2014/main" val="2447946622"/>
                    </a:ext>
                  </a:extLst>
                </a:gridCol>
                <a:gridCol w="247029">
                  <a:extLst>
                    <a:ext uri="{9D8B030D-6E8A-4147-A177-3AD203B41FA5}">
                      <a16:colId xmlns:a16="http://schemas.microsoft.com/office/drawing/2014/main" val="3270978858"/>
                    </a:ext>
                  </a:extLst>
                </a:gridCol>
                <a:gridCol w="247029">
                  <a:extLst>
                    <a:ext uri="{9D8B030D-6E8A-4147-A177-3AD203B41FA5}">
                      <a16:colId xmlns:a16="http://schemas.microsoft.com/office/drawing/2014/main" val="3131742024"/>
                    </a:ext>
                  </a:extLst>
                </a:gridCol>
                <a:gridCol w="247029">
                  <a:extLst>
                    <a:ext uri="{9D8B030D-6E8A-4147-A177-3AD203B41FA5}">
                      <a16:colId xmlns:a16="http://schemas.microsoft.com/office/drawing/2014/main" val="3007409356"/>
                    </a:ext>
                  </a:extLst>
                </a:gridCol>
                <a:gridCol w="247029">
                  <a:extLst>
                    <a:ext uri="{9D8B030D-6E8A-4147-A177-3AD203B41FA5}">
                      <a16:colId xmlns:a16="http://schemas.microsoft.com/office/drawing/2014/main" val="715784695"/>
                    </a:ext>
                  </a:extLst>
                </a:gridCol>
                <a:gridCol w="247029">
                  <a:extLst>
                    <a:ext uri="{9D8B030D-6E8A-4147-A177-3AD203B41FA5}">
                      <a16:colId xmlns:a16="http://schemas.microsoft.com/office/drawing/2014/main" val="1719365482"/>
                    </a:ext>
                  </a:extLst>
                </a:gridCol>
              </a:tblGrid>
              <a:tr h="1262124"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14559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045733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39" grpId="0" animBg="1"/>
      <p:bldP spid="40" grpId="0" animBg="1"/>
      <p:bldP spid="43" grpId="0" animBg="1"/>
      <p:bldP spid="48" grpId="0" animBg="1"/>
      <p:bldP spid="49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7F9D0C-A24C-4B47-A454-6ECDDEE09C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tabLst/>
              <a:defRPr/>
            </a:pPr>
            <a:r>
              <a:rPr kumimoji="0" lang="en-GB" alt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opperplate Gothic Bold" panose="020E0705020206020404" pitchFamily="34" charset="0"/>
                <a:ea typeface="+mn-ea"/>
                <a:cs typeface="Arial" panose="020B0604020202020204" pitchFamily="34" charset="0"/>
              </a:rPr>
              <a:t>PRACTICE TIME (LHS):</a:t>
            </a:r>
            <a:br>
              <a:rPr kumimoji="0" lang="en-GB" alt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opperplate Gothic Bold" panose="020E0705020206020404" pitchFamily="34" charset="0"/>
                <a:ea typeface="+mn-ea"/>
                <a:cs typeface="Arial" panose="020B0604020202020204" pitchFamily="34" charset="0"/>
              </a:rPr>
            </a:b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135A45-473B-4576-AE29-55D5A56D9E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Complete Set A on page 25 of your Interleave Books</a:t>
            </a:r>
          </a:p>
        </p:txBody>
      </p:sp>
    </p:spTree>
    <p:extLst>
      <p:ext uri="{BB962C8B-B14F-4D97-AF65-F5344CB8AC3E}">
        <p14:creationId xmlns:p14="http://schemas.microsoft.com/office/powerpoint/2010/main" val="33976149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791E209-E628-4C32-B571-BF00FB683D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585216"/>
            <a:ext cx="5902061" cy="1499616"/>
          </a:xfrm>
        </p:spPr>
        <p:txBody>
          <a:bodyPr>
            <a:normAutofit/>
          </a:bodyPr>
          <a:lstStyle/>
          <a:p>
            <a:r>
              <a:rPr lang="en-AU"/>
              <a:t>Thank you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2A5B7C2-6C39-4AFA-9B5D-C3F3C81B94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8" y="2286000"/>
            <a:ext cx="5902061" cy="3931920"/>
          </a:xfrm>
        </p:spPr>
        <p:txBody>
          <a:bodyPr>
            <a:normAutofit/>
          </a:bodyPr>
          <a:lstStyle/>
          <a:p>
            <a:r>
              <a:rPr lang="en-AU" dirty="0">
                <a:latin typeface="Calibri" panose="020F0502020204030204" pitchFamily="34" charset="0"/>
                <a:cs typeface="Calibri" panose="020F0502020204030204" pitchFamily="34" charset="0"/>
              </a:rPr>
              <a:t>Keep up the good work!</a:t>
            </a:r>
          </a:p>
          <a:p>
            <a:endParaRPr lang="en-AU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9" name="Graphic 8" descr="Smiling Face with No Fill">
            <a:extLst>
              <a:ext uri="{FF2B5EF4-FFF2-40B4-BE49-F238E27FC236}">
                <a16:creationId xmlns:a16="http://schemas.microsoft.com/office/drawing/2014/main" id="{10954B83-DCF2-4288-9017-12D8B7B8E4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52267" y="1429173"/>
            <a:ext cx="3999654" cy="3999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257304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C1C93EF2-4785-427F-84A5-F1666490E9C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3746</TotalTime>
  <Words>665</Words>
  <Application>Microsoft Office PowerPoint</Application>
  <PresentationFormat>Widescreen</PresentationFormat>
  <Paragraphs>197</Paragraphs>
  <Slides>15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15</vt:i4>
      </vt:variant>
    </vt:vector>
  </HeadingPairs>
  <TitlesOfParts>
    <vt:vector size="27" baseType="lpstr">
      <vt:lpstr>Arial</vt:lpstr>
      <vt:lpstr>Calibri</vt:lpstr>
      <vt:lpstr>Calibri Light</vt:lpstr>
      <vt:lpstr>Cambria Math</vt:lpstr>
      <vt:lpstr>Century Gothic</vt:lpstr>
      <vt:lpstr>Copperplate Gothic Bold</vt:lpstr>
      <vt:lpstr>Tw Cen MT</vt:lpstr>
      <vt:lpstr>Tw Cen MT Condensed</vt:lpstr>
      <vt:lpstr>Wingdings</vt:lpstr>
      <vt:lpstr>Wingdings 3</vt:lpstr>
      <vt:lpstr>Integral</vt:lpstr>
      <vt:lpstr>Office Theme</vt:lpstr>
      <vt:lpstr>Topic: Division, Fractions and Decimals EQ: What is the connection between reminders, fractions and decimals?</vt:lpstr>
      <vt:lpstr>Things Required For This Lesson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PRACTICE TIME (LHS): 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Topic: Addition and Perimeter EQ: How do you use known and unknown information to find perimeter?</dc:title>
  <dc:creator>WATSON Justin [Baldivis Secondary College]</dc:creator>
  <cp:lastModifiedBy>Tony Nguyen</cp:lastModifiedBy>
  <cp:revision>50</cp:revision>
  <dcterms:created xsi:type="dcterms:W3CDTF">2021-02-11T13:20:57Z</dcterms:created>
  <dcterms:modified xsi:type="dcterms:W3CDTF">2021-03-12T12:52:37Z</dcterms:modified>
</cp:coreProperties>
</file>
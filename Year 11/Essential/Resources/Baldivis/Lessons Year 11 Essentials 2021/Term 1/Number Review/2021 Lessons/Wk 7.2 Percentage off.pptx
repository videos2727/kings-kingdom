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11" r:id="rId4"/>
    <p:sldId id="355" r:id="rId5"/>
    <p:sldId id="356" r:id="rId6"/>
    <p:sldId id="359" r:id="rId7"/>
    <p:sldId id="357" r:id="rId8"/>
    <p:sldId id="361" r:id="rId9"/>
    <p:sldId id="354" r:id="rId10"/>
    <p:sldId id="360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495" autoAdjust="0"/>
  </p:normalViewPr>
  <p:slideViewPr>
    <p:cSldViewPr snapToGrid="0">
      <p:cViewPr varScale="1">
        <p:scale>
          <a:sx n="74" d="100"/>
          <a:sy n="74" d="100"/>
        </p:scale>
        <p:origin x="5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partitioning strategy – breaking up a rectangle into parts shows that the discount is 5 out of 50 which calculates to a 10% discount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74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Percentage off </a:t>
            </a:r>
            <a:br>
              <a:rPr lang="en-AU" sz="4000" dirty="0"/>
            </a:br>
            <a:r>
              <a:rPr lang="en-AU" sz="4000" dirty="0"/>
              <a:t>EQ: How do I calculate percentage off?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02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percentage off?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3665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0C58-9BD1-45ED-844E-00AC602EAE29}"/>
              </a:ext>
            </a:extLst>
          </p:cNvPr>
          <p:cNvSpPr txBox="1"/>
          <p:nvPr/>
        </p:nvSpPr>
        <p:spPr>
          <a:xfrm>
            <a:off x="754671" y="848881"/>
            <a:ext cx="1064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800" dirty="0"/>
              <a:t>How do I calculate a percentage off?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B997F-DF3B-44BB-A6ED-A5B086FEFC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7" b="82520" l="3142" r="98238">
                        <a14:foregroundMark x1="7280" y1="34553" x2="73640" y2="70325"/>
                        <a14:foregroundMark x1="73640" y1="70325" x2="73410" y2="34553"/>
                        <a14:foregroundMark x1="73410" y1="34553" x2="65977" y2="16667"/>
                        <a14:foregroundMark x1="65977" y1="16667" x2="48506" y2="12602"/>
                        <a14:foregroundMark x1="48506" y1="12602" x2="27050" y2="50000"/>
                        <a14:foregroundMark x1="27050" y1="50000" x2="21916" y2="68293"/>
                        <a14:foregroundMark x1="21916" y1="68293" x2="38314" y2="80081"/>
                        <a14:foregroundMark x1="38314" y1="80081" x2="79157" y2="61382"/>
                        <a14:foregroundMark x1="79157" y1="61382" x2="74866" y2="13008"/>
                        <a14:foregroundMark x1="74866" y1="13008" x2="27893" y2="17886"/>
                        <a14:foregroundMark x1="27893" y1="17886" x2="22605" y2="47967"/>
                        <a14:foregroundMark x1="22605" y1="47967" x2="37165" y2="53252"/>
                        <a14:foregroundMark x1="37165" y1="53252" x2="89962" y2="28862"/>
                        <a14:foregroundMark x1="89962" y1="28862" x2="95632" y2="10569"/>
                        <a14:foregroundMark x1="95632" y1="10569" x2="68352" y2="27642"/>
                        <a14:foregroundMark x1="68352" y1="27642" x2="96398" y2="11382"/>
                        <a14:foregroundMark x1="96398" y1="11382" x2="89885" y2="19512"/>
                        <a14:foregroundMark x1="89885" y1="19512" x2="80307" y2="50813"/>
                        <a14:foregroundMark x1="80307" y1="50813" x2="78161" y2="71138"/>
                        <a14:foregroundMark x1="78161" y1="71138" x2="96398" y2="82520"/>
                        <a14:foregroundMark x1="96398" y1="82520" x2="93487" y2="39837"/>
                        <a14:foregroundMark x1="93487" y1="39837" x2="74789" y2="11789"/>
                        <a14:foregroundMark x1="74789" y1="11789" x2="59004" y2="35772"/>
                        <a14:foregroundMark x1="59004" y1="35772" x2="52720" y2="70325"/>
                        <a14:foregroundMark x1="52720" y1="70325" x2="54713" y2="90244"/>
                        <a14:foregroundMark x1="54713" y1="90244" x2="64444" y2="76016"/>
                        <a14:foregroundMark x1="64444" y1="76016" x2="73410" y2="34553"/>
                        <a14:foregroundMark x1="73410" y1="34553" x2="75019" y2="13821"/>
                        <a14:foregroundMark x1="75019" y1="13821" x2="28966" y2="51220"/>
                        <a14:foregroundMark x1="28966" y1="51220" x2="23642" y2="79205"/>
                        <a14:foregroundMark x1="31854" y1="85293" x2="46973" y2="70732"/>
                        <a14:foregroundMark x1="46973" y1="70732" x2="48659" y2="34146"/>
                        <a14:foregroundMark x1="48659" y1="34146" x2="29885" y2="9756"/>
                        <a14:foregroundMark x1="29885" y1="9756" x2="11571" y2="30081"/>
                        <a14:foregroundMark x1="11571" y1="30081" x2="7203" y2="53252"/>
                        <a14:foregroundMark x1="7203" y1="53252" x2="20766" y2="56911"/>
                        <a14:foregroundMark x1="20766" y1="56911" x2="30651" y2="24797"/>
                        <a14:foregroundMark x1="30651" y1="24797" x2="30345" y2="2439"/>
                        <a14:foregroundMark x1="30345" y1="2439" x2="10805" y2="15041"/>
                        <a14:foregroundMark x1="10805" y1="15041" x2="3218" y2="45528"/>
                        <a14:foregroundMark x1="3218" y1="45528" x2="1839" y2="23577"/>
                        <a14:foregroundMark x1="1839" y1="23577" x2="1609" y2="76829"/>
                        <a14:foregroundMark x1="1609" y1="76829" x2="4291" y2="30894"/>
                        <a14:foregroundMark x1="4291" y1="30894" x2="1303" y2="13415"/>
                        <a14:foregroundMark x1="1303" y1="13415" x2="536" y2="50407"/>
                        <a14:foregroundMark x1="536" y1="50407" x2="2682" y2="72358"/>
                        <a14:foregroundMark x1="2682" y1="72358" x2="4138" y2="50813"/>
                        <a14:foregroundMark x1="4138" y1="50813" x2="4215" y2="43089"/>
                        <a14:foregroundMark x1="3142" y1="15041" x2="3142" y2="15041"/>
                        <a14:foregroundMark x1="67586" y1="78455" x2="76552" y2="72358"/>
                        <a14:foregroundMark x1="76552" y1="72358" x2="85594" y2="80081"/>
                        <a14:foregroundMark x1="85594" y1="80081" x2="95172" y2="78049"/>
                        <a14:foregroundMark x1="95172" y1="78049" x2="97471" y2="54472"/>
                        <a14:foregroundMark x1="97471" y1="54472" x2="96935" y2="33333"/>
                        <a14:foregroundMark x1="96935" y1="33333" x2="98238" y2="407"/>
                        <a14:foregroundMark x1="92567" y1="82520" x2="66820" y2="80488"/>
                        <a14:backgroundMark x1="2989" y1="80894" x2="2989" y2="80894"/>
                        <a14:backgroundMark x1="2452" y1="80894" x2="2452" y2="80894"/>
                        <a14:backgroundMark x1="2299" y1="80488" x2="2912" y2="80488"/>
                        <a14:backgroundMark x1="3065" y1="80488" x2="3065" y2="81707"/>
                        <a14:backgroundMark x1="1762" y1="84553" x2="4138" y2="86585"/>
                        <a14:backgroundMark x1="2912" y1="81301" x2="2605" y2="87805"/>
                        <a14:backgroundMark x1="8123" y1="84553" x2="8123" y2="84553"/>
                        <a14:backgroundMark x1="8123" y1="84553" x2="7893" y2="82520"/>
                        <a14:backgroundMark x1="10038" y1="87398" x2="14636" y2="86992"/>
                        <a14:backgroundMark x1="14636" y1="86992" x2="26743" y2="90244"/>
                        <a14:backgroundMark x1="26743" y1="90244" x2="30728" y2="89431"/>
                        <a14:backgroundMark x1="30728" y1="89431" x2="12950" y2="91463"/>
                        <a14:backgroundMark x1="12950" y1="91463" x2="6897" y2="87805"/>
                        <a14:backgroundMark x1="26054" y1="88618" x2="22146" y2="85772"/>
                        <a14:backgroundMark x1="22146" y1="85772" x2="21839" y2="84959"/>
                        <a14:backgroundMark x1="38774" y1="88211" x2="42835" y2="89431"/>
                        <a14:backgroundMark x1="42835" y1="89431" x2="45900" y2="89024"/>
                        <a14:backgroundMark x1="8046" y1="83333" x2="8736" y2="91463"/>
                        <a14:backgroundMark x1="8046" y1="83333" x2="7433" y2="88618"/>
                        <a14:backgroundMark x1="14100" y1="89837" x2="10038" y2="88618"/>
                        <a14:backgroundMark x1="10038" y1="88618" x2="13870" y2="83333"/>
                        <a14:backgroundMark x1="13870" y1="83333" x2="11188" y2="84959"/>
                        <a14:backgroundMark x1="13870" y1="87398" x2="9885" y2="83740"/>
                        <a14:backgroundMark x1="9885" y1="83740" x2="9885" y2="91870"/>
                        <a14:backgroundMark x1="14100" y1="88618" x2="18391" y2="88211"/>
                        <a14:backgroundMark x1="18391" y1="88211" x2="14253" y2="86585"/>
                        <a14:backgroundMark x1="14253" y1="86585" x2="13487" y2="84146"/>
                        <a14:backgroundMark x1="19540" y1="82114" x2="19540" y2="91870"/>
                        <a14:backgroundMark x1="24521" y1="89024" x2="22146" y2="83333"/>
                        <a14:backgroundMark x1="21533" y1="85772" x2="20613" y2="89431"/>
                        <a14:backgroundMark x1="19693" y1="85366" x2="13257" y2="83740"/>
                        <a14:backgroundMark x1="22146" y1="84553" x2="17931" y2="85366"/>
                        <a14:backgroundMark x1="17931" y1="85366" x2="19157" y2="88211"/>
                        <a14:backgroundMark x1="19157" y1="87805" x2="19004" y2="84959"/>
                        <a14:backgroundMark x1="2299" y1="80081" x2="2529" y2="90244"/>
                        <a14:backgroundMark x1="25134" y1="87805" x2="31341" y2="89431"/>
                      </a14:backgroundRemoval>
                    </a14:imgEffect>
                  </a14:imgLayer>
                </a14:imgProps>
              </a:ext>
            </a:extLst>
          </a:blip>
          <a:srcRect t="11720" b="10716"/>
          <a:stretch/>
        </p:blipFill>
        <p:spPr>
          <a:xfrm rot="21431901">
            <a:off x="787755" y="1782456"/>
            <a:ext cx="11118082" cy="1625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8CE353-162A-4DC2-9433-B2F3ADF52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7" b="82520" l="3142" r="98238">
                        <a14:foregroundMark x1="7280" y1="34553" x2="73640" y2="70325"/>
                        <a14:foregroundMark x1="73640" y1="70325" x2="73410" y2="34553"/>
                        <a14:foregroundMark x1="73410" y1="34553" x2="65977" y2="16667"/>
                        <a14:foregroundMark x1="65977" y1="16667" x2="48506" y2="12602"/>
                        <a14:foregroundMark x1="48506" y1="12602" x2="27050" y2="50000"/>
                        <a14:foregroundMark x1="27050" y1="50000" x2="21916" y2="68293"/>
                        <a14:foregroundMark x1="21916" y1="68293" x2="38314" y2="80081"/>
                        <a14:foregroundMark x1="38314" y1="80081" x2="79157" y2="61382"/>
                        <a14:foregroundMark x1="79157" y1="61382" x2="74866" y2="13008"/>
                        <a14:foregroundMark x1="74866" y1="13008" x2="27893" y2="17886"/>
                        <a14:foregroundMark x1="27893" y1="17886" x2="22605" y2="47967"/>
                        <a14:foregroundMark x1="22605" y1="47967" x2="37165" y2="53252"/>
                        <a14:foregroundMark x1="37165" y1="53252" x2="89962" y2="28862"/>
                        <a14:foregroundMark x1="89962" y1="28862" x2="95632" y2="10569"/>
                        <a14:foregroundMark x1="95632" y1="10569" x2="68352" y2="27642"/>
                        <a14:foregroundMark x1="68352" y1="27642" x2="96398" y2="11382"/>
                        <a14:foregroundMark x1="96398" y1="11382" x2="89885" y2="19512"/>
                        <a14:foregroundMark x1="89885" y1="19512" x2="80307" y2="50813"/>
                        <a14:foregroundMark x1="80307" y1="50813" x2="78161" y2="71138"/>
                        <a14:foregroundMark x1="78161" y1="71138" x2="96398" y2="82520"/>
                        <a14:foregroundMark x1="96398" y1="82520" x2="93487" y2="39837"/>
                        <a14:foregroundMark x1="93487" y1="39837" x2="74789" y2="11789"/>
                        <a14:foregroundMark x1="74789" y1="11789" x2="59004" y2="35772"/>
                        <a14:foregroundMark x1="59004" y1="35772" x2="52720" y2="70325"/>
                        <a14:foregroundMark x1="52720" y1="70325" x2="54713" y2="90244"/>
                        <a14:foregroundMark x1="54713" y1="90244" x2="64444" y2="76016"/>
                        <a14:foregroundMark x1="64444" y1="76016" x2="73410" y2="34553"/>
                        <a14:foregroundMark x1="73410" y1="34553" x2="75019" y2="13821"/>
                        <a14:foregroundMark x1="75019" y1="13821" x2="28966" y2="51220"/>
                        <a14:foregroundMark x1="28966" y1="51220" x2="23642" y2="79205"/>
                        <a14:foregroundMark x1="31854" y1="85293" x2="46973" y2="70732"/>
                        <a14:foregroundMark x1="46973" y1="70732" x2="48659" y2="34146"/>
                        <a14:foregroundMark x1="48659" y1="34146" x2="29885" y2="9756"/>
                        <a14:foregroundMark x1="29885" y1="9756" x2="11571" y2="30081"/>
                        <a14:foregroundMark x1="11571" y1="30081" x2="7203" y2="53252"/>
                        <a14:foregroundMark x1="7203" y1="53252" x2="20766" y2="56911"/>
                        <a14:foregroundMark x1="20766" y1="56911" x2="30651" y2="24797"/>
                        <a14:foregroundMark x1="30651" y1="24797" x2="30345" y2="2439"/>
                        <a14:foregroundMark x1="30345" y1="2439" x2="10805" y2="15041"/>
                        <a14:foregroundMark x1="10805" y1="15041" x2="3218" y2="45528"/>
                        <a14:foregroundMark x1="3218" y1="45528" x2="1839" y2="23577"/>
                        <a14:foregroundMark x1="1839" y1="23577" x2="1609" y2="76829"/>
                        <a14:foregroundMark x1="1609" y1="76829" x2="4291" y2="30894"/>
                        <a14:foregroundMark x1="4291" y1="30894" x2="1303" y2="13415"/>
                        <a14:foregroundMark x1="1303" y1="13415" x2="536" y2="50407"/>
                        <a14:foregroundMark x1="536" y1="50407" x2="2682" y2="72358"/>
                        <a14:foregroundMark x1="2682" y1="72358" x2="4138" y2="50813"/>
                        <a14:foregroundMark x1="4138" y1="50813" x2="4215" y2="43089"/>
                        <a14:foregroundMark x1="3142" y1="15041" x2="3142" y2="15041"/>
                        <a14:foregroundMark x1="67586" y1="78455" x2="76552" y2="72358"/>
                        <a14:foregroundMark x1="76552" y1="72358" x2="85594" y2="80081"/>
                        <a14:foregroundMark x1="85594" y1="80081" x2="95172" y2="78049"/>
                        <a14:foregroundMark x1="95172" y1="78049" x2="97471" y2="54472"/>
                        <a14:foregroundMark x1="97471" y1="54472" x2="96935" y2="33333"/>
                        <a14:foregroundMark x1="96935" y1="33333" x2="98238" y2="407"/>
                        <a14:foregroundMark x1="92567" y1="82520" x2="66820" y2="80488"/>
                        <a14:backgroundMark x1="2989" y1="80894" x2="2989" y2="80894"/>
                        <a14:backgroundMark x1="2452" y1="80894" x2="2452" y2="80894"/>
                        <a14:backgroundMark x1="2299" y1="80488" x2="2912" y2="80488"/>
                        <a14:backgroundMark x1="3065" y1="80488" x2="3065" y2="81707"/>
                        <a14:backgroundMark x1="1762" y1="84553" x2="4138" y2="86585"/>
                        <a14:backgroundMark x1="2912" y1="81301" x2="2605" y2="87805"/>
                        <a14:backgroundMark x1="8123" y1="84553" x2="8123" y2="84553"/>
                        <a14:backgroundMark x1="8123" y1="84553" x2="7893" y2="82520"/>
                        <a14:backgroundMark x1="10038" y1="87398" x2="14636" y2="86992"/>
                        <a14:backgroundMark x1="14636" y1="86992" x2="26743" y2="90244"/>
                        <a14:backgroundMark x1="26743" y1="90244" x2="30728" y2="89431"/>
                        <a14:backgroundMark x1="30728" y1="89431" x2="12950" y2="91463"/>
                        <a14:backgroundMark x1="12950" y1="91463" x2="6897" y2="87805"/>
                        <a14:backgroundMark x1="26054" y1="88618" x2="22146" y2="85772"/>
                        <a14:backgroundMark x1="22146" y1="85772" x2="21839" y2="84959"/>
                        <a14:backgroundMark x1="38774" y1="88211" x2="42835" y2="89431"/>
                        <a14:backgroundMark x1="42835" y1="89431" x2="45900" y2="89024"/>
                        <a14:backgroundMark x1="8046" y1="83333" x2="8736" y2="91463"/>
                        <a14:backgroundMark x1="8046" y1="83333" x2="7433" y2="88618"/>
                        <a14:backgroundMark x1="14100" y1="89837" x2="10038" y2="88618"/>
                        <a14:backgroundMark x1="10038" y1="88618" x2="13870" y2="83333"/>
                        <a14:backgroundMark x1="13870" y1="83333" x2="11188" y2="84959"/>
                        <a14:backgroundMark x1="13870" y1="87398" x2="9885" y2="83740"/>
                        <a14:backgroundMark x1="9885" y1="83740" x2="9885" y2="91870"/>
                        <a14:backgroundMark x1="14100" y1="88618" x2="18391" y2="88211"/>
                        <a14:backgroundMark x1="18391" y1="88211" x2="14253" y2="86585"/>
                        <a14:backgroundMark x1="14253" y1="86585" x2="13487" y2="84146"/>
                        <a14:backgroundMark x1="19540" y1="82114" x2="19540" y2="91870"/>
                        <a14:backgroundMark x1="24521" y1="89024" x2="22146" y2="83333"/>
                        <a14:backgroundMark x1="21533" y1="85772" x2="20613" y2="89431"/>
                        <a14:backgroundMark x1="19693" y1="85366" x2="13257" y2="83740"/>
                        <a14:backgroundMark x1="22146" y1="84553" x2="17931" y2="85366"/>
                        <a14:backgroundMark x1="17931" y1="85366" x2="19157" y2="88211"/>
                        <a14:backgroundMark x1="19157" y1="87805" x2="19004" y2="84959"/>
                        <a14:backgroundMark x1="2299" y1="80081" x2="2529" y2="90244"/>
                        <a14:backgroundMark x1="25134" y1="87805" x2="31341" y2="89431"/>
                      </a14:backgroundRemoval>
                    </a14:imgEffect>
                  </a14:imgLayer>
                </a14:imgProps>
              </a:ext>
            </a:extLst>
          </a:blip>
          <a:srcRect t="11720" b="10716"/>
          <a:stretch/>
        </p:blipFill>
        <p:spPr>
          <a:xfrm rot="21431901">
            <a:off x="787756" y="3584221"/>
            <a:ext cx="11118082" cy="1625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0A08F7-72C5-41DF-9684-F36AD1F11837}"/>
              </a:ext>
            </a:extLst>
          </p:cNvPr>
          <p:cNvSpPr/>
          <p:nvPr/>
        </p:nvSpPr>
        <p:spPr>
          <a:xfrm>
            <a:off x="929396" y="2403207"/>
            <a:ext cx="10874074" cy="1102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5CE9A-8F26-4F69-8A2C-BAA5B7383C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7" b="82520" l="3142" r="98238">
                        <a14:foregroundMark x1="7280" y1="34553" x2="73640" y2="70325"/>
                        <a14:foregroundMark x1="73640" y1="70325" x2="73410" y2="34553"/>
                        <a14:foregroundMark x1="73410" y1="34553" x2="65977" y2="16667"/>
                        <a14:foregroundMark x1="65977" y1="16667" x2="48506" y2="12602"/>
                        <a14:foregroundMark x1="48506" y1="12602" x2="27050" y2="50000"/>
                        <a14:foregroundMark x1="27050" y1="50000" x2="21916" y2="68293"/>
                        <a14:foregroundMark x1="21916" y1="68293" x2="38314" y2="80081"/>
                        <a14:foregroundMark x1="38314" y1="80081" x2="79157" y2="61382"/>
                        <a14:foregroundMark x1="79157" y1="61382" x2="74866" y2="13008"/>
                        <a14:foregroundMark x1="74866" y1="13008" x2="27893" y2="17886"/>
                        <a14:foregroundMark x1="27893" y1="17886" x2="22605" y2="47967"/>
                        <a14:foregroundMark x1="22605" y1="47967" x2="37165" y2="53252"/>
                        <a14:foregroundMark x1="37165" y1="53252" x2="89962" y2="28862"/>
                        <a14:foregroundMark x1="89962" y1="28862" x2="95632" y2="10569"/>
                        <a14:foregroundMark x1="95632" y1="10569" x2="68352" y2="27642"/>
                        <a14:foregroundMark x1="68352" y1="27642" x2="96398" y2="11382"/>
                        <a14:foregroundMark x1="96398" y1="11382" x2="89885" y2="19512"/>
                        <a14:foregroundMark x1="89885" y1="19512" x2="80307" y2="50813"/>
                        <a14:foregroundMark x1="80307" y1="50813" x2="78161" y2="71138"/>
                        <a14:foregroundMark x1="78161" y1="71138" x2="96398" y2="82520"/>
                        <a14:foregroundMark x1="96398" y1="82520" x2="93487" y2="39837"/>
                        <a14:foregroundMark x1="93487" y1="39837" x2="74789" y2="11789"/>
                        <a14:foregroundMark x1="74789" y1="11789" x2="59004" y2="35772"/>
                        <a14:foregroundMark x1="59004" y1="35772" x2="52720" y2="70325"/>
                        <a14:foregroundMark x1="52720" y1="70325" x2="54713" y2="90244"/>
                        <a14:foregroundMark x1="54713" y1="90244" x2="64444" y2="76016"/>
                        <a14:foregroundMark x1="64444" y1="76016" x2="73410" y2="34553"/>
                        <a14:foregroundMark x1="73410" y1="34553" x2="75019" y2="13821"/>
                        <a14:foregroundMark x1="75019" y1="13821" x2="28966" y2="51220"/>
                        <a14:foregroundMark x1="28966" y1="51220" x2="23642" y2="79205"/>
                        <a14:foregroundMark x1="31854" y1="85293" x2="46973" y2="70732"/>
                        <a14:foregroundMark x1="46973" y1="70732" x2="48659" y2="34146"/>
                        <a14:foregroundMark x1="48659" y1="34146" x2="29885" y2="9756"/>
                        <a14:foregroundMark x1="29885" y1="9756" x2="11571" y2="30081"/>
                        <a14:foregroundMark x1="11571" y1="30081" x2="7203" y2="53252"/>
                        <a14:foregroundMark x1="7203" y1="53252" x2="20766" y2="56911"/>
                        <a14:foregroundMark x1="20766" y1="56911" x2="30651" y2="24797"/>
                        <a14:foregroundMark x1="30651" y1="24797" x2="30345" y2="2439"/>
                        <a14:foregroundMark x1="30345" y1="2439" x2="10805" y2="15041"/>
                        <a14:foregroundMark x1="10805" y1="15041" x2="3218" y2="45528"/>
                        <a14:foregroundMark x1="3218" y1="45528" x2="1839" y2="23577"/>
                        <a14:foregroundMark x1="1839" y1="23577" x2="1609" y2="76829"/>
                        <a14:foregroundMark x1="1609" y1="76829" x2="4291" y2="30894"/>
                        <a14:foregroundMark x1="4291" y1="30894" x2="1303" y2="13415"/>
                        <a14:foregroundMark x1="1303" y1="13415" x2="536" y2="50407"/>
                        <a14:foregroundMark x1="536" y1="50407" x2="2682" y2="72358"/>
                        <a14:foregroundMark x1="2682" y1="72358" x2="4138" y2="50813"/>
                        <a14:foregroundMark x1="4138" y1="50813" x2="4215" y2="43089"/>
                        <a14:foregroundMark x1="3142" y1="15041" x2="3142" y2="15041"/>
                        <a14:foregroundMark x1="67586" y1="78455" x2="76552" y2="72358"/>
                        <a14:foregroundMark x1="76552" y1="72358" x2="85594" y2="80081"/>
                        <a14:foregroundMark x1="85594" y1="80081" x2="95172" y2="78049"/>
                        <a14:foregroundMark x1="95172" y1="78049" x2="97471" y2="54472"/>
                        <a14:foregroundMark x1="97471" y1="54472" x2="96935" y2="33333"/>
                        <a14:foregroundMark x1="96935" y1="33333" x2="98238" y2="407"/>
                        <a14:foregroundMark x1="92567" y1="82520" x2="66820" y2="80488"/>
                        <a14:backgroundMark x1="2989" y1="80894" x2="2989" y2="80894"/>
                        <a14:backgroundMark x1="2452" y1="80894" x2="2452" y2="80894"/>
                        <a14:backgroundMark x1="2299" y1="80488" x2="2912" y2="80488"/>
                        <a14:backgroundMark x1="3065" y1="80488" x2="3065" y2="81707"/>
                        <a14:backgroundMark x1="1762" y1="84553" x2="4138" y2="86585"/>
                        <a14:backgroundMark x1="2912" y1="81301" x2="2605" y2="87805"/>
                        <a14:backgroundMark x1="8123" y1="84553" x2="8123" y2="84553"/>
                        <a14:backgroundMark x1="8123" y1="84553" x2="7893" y2="82520"/>
                        <a14:backgroundMark x1="10038" y1="87398" x2="14636" y2="86992"/>
                        <a14:backgroundMark x1="14636" y1="86992" x2="26743" y2="90244"/>
                        <a14:backgroundMark x1="26743" y1="90244" x2="30728" y2="89431"/>
                        <a14:backgroundMark x1="30728" y1="89431" x2="12950" y2="91463"/>
                        <a14:backgroundMark x1="12950" y1="91463" x2="6897" y2="87805"/>
                        <a14:backgroundMark x1="26054" y1="88618" x2="22146" y2="85772"/>
                        <a14:backgroundMark x1="22146" y1="85772" x2="21839" y2="84959"/>
                        <a14:backgroundMark x1="38774" y1="88211" x2="42835" y2="89431"/>
                        <a14:backgroundMark x1="42835" y1="89431" x2="45900" y2="89024"/>
                        <a14:backgroundMark x1="8046" y1="83333" x2="8736" y2="91463"/>
                        <a14:backgroundMark x1="8046" y1="83333" x2="7433" y2="88618"/>
                        <a14:backgroundMark x1="14100" y1="89837" x2="10038" y2="88618"/>
                        <a14:backgroundMark x1="10038" y1="88618" x2="13870" y2="83333"/>
                        <a14:backgroundMark x1="13870" y1="83333" x2="11188" y2="84959"/>
                        <a14:backgroundMark x1="13870" y1="87398" x2="9885" y2="83740"/>
                        <a14:backgroundMark x1="9885" y1="83740" x2="9885" y2="91870"/>
                        <a14:backgroundMark x1="14100" y1="88618" x2="18391" y2="88211"/>
                        <a14:backgroundMark x1="18391" y1="88211" x2="14253" y2="86585"/>
                        <a14:backgroundMark x1="14253" y1="86585" x2="13487" y2="84146"/>
                        <a14:backgroundMark x1="19540" y1="82114" x2="19540" y2="91870"/>
                        <a14:backgroundMark x1="24521" y1="89024" x2="22146" y2="83333"/>
                        <a14:backgroundMark x1="21533" y1="85772" x2="20613" y2="89431"/>
                        <a14:backgroundMark x1="19693" y1="85366" x2="13257" y2="83740"/>
                        <a14:backgroundMark x1="22146" y1="84553" x2="17931" y2="85366"/>
                        <a14:backgroundMark x1="17931" y1="85366" x2="19157" y2="88211"/>
                        <a14:backgroundMark x1="19157" y1="87805" x2="19004" y2="84959"/>
                        <a14:backgroundMark x1="2299" y1="80081" x2="2529" y2="90244"/>
                        <a14:backgroundMark x1="25134" y1="87805" x2="31341" y2="89431"/>
                      </a14:backgroundRemoval>
                    </a14:imgEffect>
                  </a14:imgLayer>
                </a14:imgProps>
              </a:ext>
            </a:extLst>
          </a:blip>
          <a:srcRect t="11720" b="10716"/>
          <a:stretch/>
        </p:blipFill>
        <p:spPr>
          <a:xfrm rot="21431901">
            <a:off x="787755" y="2800474"/>
            <a:ext cx="11118082" cy="1625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8BF082-B6A9-485F-ACB1-C6D9C9379DC8}"/>
              </a:ext>
            </a:extLst>
          </p:cNvPr>
          <p:cNvSpPr/>
          <p:nvPr/>
        </p:nvSpPr>
        <p:spPr>
          <a:xfrm>
            <a:off x="793945" y="2815125"/>
            <a:ext cx="10874074" cy="690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8710D-5D38-4B01-9DB0-702EFD3D2447}"/>
              </a:ext>
            </a:extLst>
          </p:cNvPr>
          <p:cNvSpPr/>
          <p:nvPr/>
        </p:nvSpPr>
        <p:spPr>
          <a:xfrm>
            <a:off x="793945" y="3848561"/>
            <a:ext cx="10874074" cy="857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02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Percentage off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calculate a percentage off?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use the partitioning strategy for 25% off $20?</a:t>
            </a:r>
          </a:p>
          <a:p>
            <a:endParaRPr lang="en-AU" sz="2000" dirty="0"/>
          </a:p>
          <a:p>
            <a:endParaRPr lang="en-A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5905463" cy="296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"/>
                  </a:spcAft>
                </a:pPr>
                <a:r>
                  <a:rPr lang="en-GB" sz="2000" b="1" dirty="0"/>
                  <a:t>Method 1</a:t>
                </a:r>
              </a:p>
              <a:p>
                <a:pPr>
                  <a:spcAft>
                    <a:spcPts val="120"/>
                  </a:spcAft>
                </a:pPr>
                <a:r>
                  <a:rPr lang="en-GB" sz="2000" dirty="0"/>
                  <a:t>Finding 25% of 20 </a:t>
                </a:r>
              </a:p>
              <a:p>
                <a:pPr>
                  <a:spcAft>
                    <a:spcPts val="120"/>
                  </a:spcAft>
                </a:pPr>
                <a:r>
                  <a:rPr lang="en-GB" sz="2000" dirty="0"/>
                  <a:t>E.g., 0.25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20=$5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Then take $5 away from $20 to give the answer of $15</a:t>
                </a:r>
              </a:p>
              <a:p>
                <a:pPr>
                  <a:spcAft>
                    <a:spcPts val="120"/>
                  </a:spcAft>
                </a:pPr>
                <a:endParaRPr lang="en-AU" sz="2000" dirty="0"/>
              </a:p>
              <a:p>
                <a:pPr>
                  <a:spcAft>
                    <a:spcPts val="120"/>
                  </a:spcAft>
                </a:pPr>
                <a:r>
                  <a:rPr lang="en-AU" sz="2000" b="1" dirty="0"/>
                  <a:t>Method 2 – Partitioning Method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We take 25% away from 100%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100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000" dirty="0"/>
                  <a:t>25 = 75%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0.25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20=$15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5905463" cy="2964914"/>
              </a:xfrm>
              <a:prstGeom prst="rect">
                <a:avLst/>
              </a:prstGeom>
              <a:blipFill>
                <a:blip r:embed="rId3"/>
                <a:stretch>
                  <a:fillRect l="-1136" t="-1235" r="-207" b="-28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percentage discount was given  if a shirt now costs $45, reduced from $50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8FB56D2-74F2-4D3D-91FA-39E0C3236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54523"/>
              </p:ext>
            </p:extLst>
          </p:nvPr>
        </p:nvGraphicFramePr>
        <p:xfrm>
          <a:off x="2032000" y="3204247"/>
          <a:ext cx="8128000" cy="21031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557218">
                  <a:extLst>
                    <a:ext uri="{9D8B030D-6E8A-4147-A177-3AD203B41FA5}">
                      <a16:colId xmlns:a16="http://schemas.microsoft.com/office/drawing/2014/main" val="3223637656"/>
                    </a:ext>
                  </a:extLst>
                </a:gridCol>
                <a:gridCol w="1570782">
                  <a:extLst>
                    <a:ext uri="{9D8B030D-6E8A-4147-A177-3AD203B41FA5}">
                      <a16:colId xmlns:a16="http://schemas.microsoft.com/office/drawing/2014/main" val="17624412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Whole: 100% of the cost was 50</a:t>
                      </a:r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41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Part: Sale price is $45</a:t>
                      </a:r>
                    </a:p>
                    <a:p>
                      <a:r>
                        <a:rPr lang="en-US" dirty="0"/>
                        <a:t>What percentage is this?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Discount: $____? What percentage is this?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6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40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64" y="409725"/>
            <a:ext cx="9720072" cy="1499616"/>
          </a:xfrm>
        </p:spPr>
        <p:txBody>
          <a:bodyPr/>
          <a:lstStyle/>
          <a:p>
            <a:r>
              <a:rPr lang="en-GB" dirty="0"/>
              <a:t>Practice: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5964" y="1780032"/>
                <a:ext cx="7880327" cy="40233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5% </m:t>
                    </m:r>
                  </m:oMath>
                </a14:m>
                <a:r>
                  <a:rPr lang="en-US" sz="3200" b="0" i="0" dirty="0">
                    <a:latin typeface="+mj-lt"/>
                  </a:rPr>
                  <a:t>off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345=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0% </m:t>
                    </m:r>
                  </m:oMath>
                </a14:m>
                <a:r>
                  <a:rPr lang="en-US" sz="3200" b="0" i="0" dirty="0">
                    <a:latin typeface="+mj-lt"/>
                  </a:rPr>
                  <a:t>off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$210=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0% </m:t>
                    </m:r>
                  </m:oMath>
                </a14:m>
                <a:r>
                  <a:rPr lang="en-US" sz="3200" b="0" i="0" dirty="0">
                    <a:latin typeface="+mj-lt"/>
                  </a:rPr>
                  <a:t>off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55=</m:t>
                    </m:r>
                  </m:oMath>
                </a14:m>
                <a:endParaRPr lang="en-AU" sz="320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3200" dirty="0"/>
                  <a:t>The dress will go on sale with a 22.5% discount. How do we calculate the discount in dollars? What is the price of the dress after the discount?</a:t>
                </a:r>
              </a:p>
              <a:p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D99F67-0252-471C-9E24-003EE870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5964" y="1780032"/>
                <a:ext cx="7880327" cy="4023360"/>
              </a:xfrm>
              <a:blipFill>
                <a:blip r:embed="rId2"/>
                <a:stretch>
                  <a:fillRect l="-2322" t="-3030" r="-32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46331F-A827-43EA-AE5B-2DEB675E7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218" y="2885532"/>
            <a:ext cx="2164522" cy="314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0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ercent Discounts - Mrs Russell's Classroom">
            <a:extLst>
              <a:ext uri="{FF2B5EF4-FFF2-40B4-BE49-F238E27FC236}">
                <a16:creationId xmlns:a16="http://schemas.microsoft.com/office/drawing/2014/main" id="{03C6C43A-D914-443F-B4BF-E53381A18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36"/>
          <a:stretch/>
        </p:blipFill>
        <p:spPr bwMode="auto">
          <a:xfrm>
            <a:off x="1779730" y="1164982"/>
            <a:ext cx="7901133" cy="452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52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720072" cy="2141358"/>
          </a:xfrm>
        </p:spPr>
        <p:txBody>
          <a:bodyPr>
            <a:noAutofit/>
          </a:bodyPr>
          <a:lstStyle/>
          <a:p>
            <a:r>
              <a:rPr lang="en-GB" sz="4000" dirty="0"/>
              <a:t>Practice:</a:t>
            </a:r>
            <a:br>
              <a:rPr lang="en-GB" sz="4000" dirty="0"/>
            </a:br>
            <a:r>
              <a:rPr lang="en-GB" sz="4000" dirty="0"/>
              <a:t>Complete SET A and B on Page 29 of the textbook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9120-91FA-4869-8724-16DDAD4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678BF-D677-48E7-8DF4-37AA9515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percentage of and percentage off?</a:t>
            </a:r>
          </a:p>
          <a:p>
            <a:r>
              <a:rPr lang="en-US" dirty="0"/>
              <a:t>Use the following example: 45% of $90 and 45% off $90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651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harter"/>
              </a:rPr>
              <a:t>"Success is no accident. It is hard work, perseverance, learning, studying, sacrifice and most of all, love of what you are doing or learning to do.“</a:t>
            </a:r>
            <a:endParaRPr lang="en-GB" b="0" i="0" dirty="0">
              <a:solidFill>
                <a:srgbClr val="000000"/>
              </a:solidFill>
              <a:effectLst/>
              <a:latin typeface="Charter"/>
            </a:endParaRPr>
          </a:p>
          <a:p>
            <a:r>
              <a:rPr lang="en-GB" dirty="0">
                <a:solidFill>
                  <a:srgbClr val="000000"/>
                </a:solidFill>
                <a:latin typeface="Charter"/>
                <a:cs typeface="Calibri" panose="020F0502020204030204" pitchFamily="34" charset="0"/>
              </a:rPr>
              <a:t>-PELE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7026</TotalTime>
  <Words>394</Words>
  <Application>Microsoft Office PowerPoint</Application>
  <PresentationFormat>Widescreen</PresentationFormat>
  <Paragraphs>57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Percentage off  EQ: How do I calculate percentage off?</vt:lpstr>
      <vt:lpstr>Things Required For This Lesson</vt:lpstr>
      <vt:lpstr>PowerPoint Presentation</vt:lpstr>
      <vt:lpstr>PowerPoint Presentation</vt:lpstr>
      <vt:lpstr>PowerPoint Presentation</vt:lpstr>
      <vt:lpstr>Think pair share</vt:lpstr>
      <vt:lpstr>Practice:</vt:lpstr>
      <vt:lpstr>PowerPoint Presentation</vt:lpstr>
      <vt:lpstr>Practice: Complete SET A and B on Page 29 of the textbook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Jade Gregory</cp:lastModifiedBy>
  <cp:revision>72</cp:revision>
  <dcterms:created xsi:type="dcterms:W3CDTF">2021-02-11T13:20:57Z</dcterms:created>
  <dcterms:modified xsi:type="dcterms:W3CDTF">2021-03-18T03:58:27Z</dcterms:modified>
</cp:coreProperties>
</file>
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15"/>
  </p:notesMasterIdLst>
  <p:sldIdLst>
    <p:sldId id="256" r:id="rId2"/>
    <p:sldId id="257" r:id="rId3"/>
    <p:sldId id="311" r:id="rId4"/>
    <p:sldId id="324" r:id="rId5"/>
    <p:sldId id="329" r:id="rId6"/>
    <p:sldId id="312" r:id="rId7"/>
    <p:sldId id="330" r:id="rId8"/>
    <p:sldId id="331" r:id="rId9"/>
    <p:sldId id="332" r:id="rId10"/>
    <p:sldId id="333" r:id="rId11"/>
    <p:sldId id="334" r:id="rId12"/>
    <p:sldId id="325" r:id="rId13"/>
    <p:sldId id="32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1A5937-ADAA-4287-94FF-0E690BA2A119}" v="9" dt="2021-02-13T15:09:40.0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4" autoAdjust="0"/>
    <p:restoredTop sz="75396" autoAdjust="0"/>
  </p:normalViewPr>
  <p:slideViewPr>
    <p:cSldViewPr snapToGrid="0">
      <p:cViewPr varScale="1">
        <p:scale>
          <a:sx n="68" d="100"/>
          <a:sy n="68" d="100"/>
        </p:scale>
        <p:origin x="73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stin.watson@education.wa.edu.au" userId="0bb701940c9d40d5" providerId="LiveId" clId="{E81A5937-ADAA-4287-94FF-0E690BA2A119}"/>
    <pc:docChg chg="undo custSel addSld delSld modSld sldOrd">
      <pc:chgData name="justin.watson@education.wa.edu.au" userId="0bb701940c9d40d5" providerId="LiveId" clId="{E81A5937-ADAA-4287-94FF-0E690BA2A119}" dt="2021-02-14T00:34:56.679" v="933" actId="403"/>
      <pc:docMkLst>
        <pc:docMk/>
      </pc:docMkLst>
      <pc:sldChg chg="modSp mod">
        <pc:chgData name="justin.watson@education.wa.edu.au" userId="0bb701940c9d40d5" providerId="LiveId" clId="{E81A5937-ADAA-4287-94FF-0E690BA2A119}" dt="2021-02-13T15:05:02.645" v="167" actId="20577"/>
        <pc:sldMkLst>
          <pc:docMk/>
          <pc:sldMk cId="1669176996" sldId="256"/>
        </pc:sldMkLst>
        <pc:spChg chg="mod">
          <ac:chgData name="justin.watson@education.wa.edu.au" userId="0bb701940c9d40d5" providerId="LiveId" clId="{E81A5937-ADAA-4287-94FF-0E690BA2A119}" dt="2021-02-13T15:05:02.645" v="167" actId="20577"/>
          <ac:spMkLst>
            <pc:docMk/>
            <pc:sldMk cId="1669176996" sldId="256"/>
            <ac:spMk id="2" creationId="{11511B51-FD68-4F9A-AF72-D0BD0020458F}"/>
          </ac:spMkLst>
        </pc:spChg>
      </pc:sldChg>
      <pc:sldChg chg="delSp modSp add del mod">
        <pc:chgData name="justin.watson@education.wa.edu.au" userId="0bb701940c9d40d5" providerId="LiveId" clId="{E81A5937-ADAA-4287-94FF-0E690BA2A119}" dt="2021-02-13T15:11:03.018" v="330" actId="20577"/>
        <pc:sldMkLst>
          <pc:docMk/>
          <pc:sldMk cId="1717092601" sldId="312"/>
        </pc:sldMkLst>
        <pc:spChg chg="mod">
          <ac:chgData name="justin.watson@education.wa.edu.au" userId="0bb701940c9d40d5" providerId="LiveId" clId="{E81A5937-ADAA-4287-94FF-0E690BA2A119}" dt="2021-02-13T15:11:03.018" v="330" actId="20577"/>
          <ac:spMkLst>
            <pc:docMk/>
            <pc:sldMk cId="1717092601" sldId="312"/>
            <ac:spMk id="2" creationId="{7FE10D1C-C52F-4092-B107-E88E506EF141}"/>
          </ac:spMkLst>
        </pc:spChg>
        <pc:spChg chg="mod">
          <ac:chgData name="justin.watson@education.wa.edu.au" userId="0bb701940c9d40d5" providerId="LiveId" clId="{E81A5937-ADAA-4287-94FF-0E690BA2A119}" dt="2021-02-13T15:10:21.012" v="322" actId="20577"/>
          <ac:spMkLst>
            <pc:docMk/>
            <pc:sldMk cId="1717092601" sldId="312"/>
            <ac:spMk id="3" creationId="{D46BA030-F0A1-43A2-A797-43A1FF6BDAE7}"/>
          </ac:spMkLst>
        </pc:spChg>
        <pc:picChg chg="del">
          <ac:chgData name="justin.watson@education.wa.edu.au" userId="0bb701940c9d40d5" providerId="LiveId" clId="{E81A5937-ADAA-4287-94FF-0E690BA2A119}" dt="2021-02-13T15:07:48.090" v="174" actId="478"/>
          <ac:picMkLst>
            <pc:docMk/>
            <pc:sldMk cId="1717092601" sldId="312"/>
            <ac:picMk id="5" creationId="{7CDAF9F3-FFA8-4571-BF7E-9F52F04F64A9}"/>
          </ac:picMkLst>
        </pc:picChg>
      </pc:sldChg>
      <pc:sldChg chg="del">
        <pc:chgData name="justin.watson@education.wa.edu.au" userId="0bb701940c9d40d5" providerId="LiveId" clId="{E81A5937-ADAA-4287-94FF-0E690BA2A119}" dt="2021-02-14T00:25:56.238" v="742" actId="47"/>
        <pc:sldMkLst>
          <pc:docMk/>
          <pc:sldMk cId="3032103121" sldId="313"/>
        </pc:sldMkLst>
      </pc:sldChg>
      <pc:sldChg chg="del">
        <pc:chgData name="justin.watson@education.wa.edu.au" userId="0bb701940c9d40d5" providerId="LiveId" clId="{E81A5937-ADAA-4287-94FF-0E690BA2A119}" dt="2021-02-14T00:25:58.942" v="743" actId="47"/>
        <pc:sldMkLst>
          <pc:docMk/>
          <pc:sldMk cId="825816745" sldId="318"/>
        </pc:sldMkLst>
      </pc:sldChg>
      <pc:sldChg chg="addSp delSp modSp mod">
        <pc:chgData name="justin.watson@education.wa.edu.au" userId="0bb701940c9d40d5" providerId="LiveId" clId="{E81A5937-ADAA-4287-94FF-0E690BA2A119}" dt="2021-02-14T00:30:00.253" v="761" actId="14100"/>
        <pc:sldMkLst>
          <pc:docMk/>
          <pc:sldMk cId="1628318043" sldId="325"/>
        </pc:sldMkLst>
        <pc:spChg chg="mod">
          <ac:chgData name="justin.watson@education.wa.edu.au" userId="0bb701940c9d40d5" providerId="LiveId" clId="{E81A5937-ADAA-4287-94FF-0E690BA2A119}" dt="2021-02-14T00:29:48.804" v="758" actId="6549"/>
          <ac:spMkLst>
            <pc:docMk/>
            <pc:sldMk cId="1628318043" sldId="325"/>
            <ac:spMk id="2" creationId="{7FE10D1C-C52F-4092-B107-E88E506EF141}"/>
          </ac:spMkLst>
        </pc:spChg>
        <pc:spChg chg="del">
          <ac:chgData name="justin.watson@education.wa.edu.au" userId="0bb701940c9d40d5" providerId="LiveId" clId="{E81A5937-ADAA-4287-94FF-0E690BA2A119}" dt="2021-02-14T00:29:18.594" v="753" actId="478"/>
          <ac:spMkLst>
            <pc:docMk/>
            <pc:sldMk cId="1628318043" sldId="325"/>
            <ac:spMk id="3" creationId="{D46BA030-F0A1-43A2-A797-43A1FF6BDAE7}"/>
          </ac:spMkLst>
        </pc:spChg>
        <pc:spChg chg="add mod">
          <ac:chgData name="justin.watson@education.wa.edu.au" userId="0bb701940c9d40d5" providerId="LiveId" clId="{E81A5937-ADAA-4287-94FF-0E690BA2A119}" dt="2021-02-14T00:29:18.594" v="753" actId="478"/>
          <ac:spMkLst>
            <pc:docMk/>
            <pc:sldMk cId="1628318043" sldId="325"/>
            <ac:spMk id="5" creationId="{E947B9E2-CA76-4652-B6B9-B5704FD065E3}"/>
          </ac:spMkLst>
        </pc:spChg>
        <pc:picChg chg="add mod modCrop">
          <ac:chgData name="justin.watson@education.wa.edu.au" userId="0bb701940c9d40d5" providerId="LiveId" clId="{E81A5937-ADAA-4287-94FF-0E690BA2A119}" dt="2021-02-14T00:30:00.253" v="761" actId="14100"/>
          <ac:picMkLst>
            <pc:docMk/>
            <pc:sldMk cId="1628318043" sldId="325"/>
            <ac:picMk id="7" creationId="{EA54CD3B-68EE-4910-9CDB-4F38852F6B91}"/>
          </ac:picMkLst>
        </pc:picChg>
      </pc:sldChg>
      <pc:sldChg chg="del">
        <pc:chgData name="justin.watson@education.wa.edu.au" userId="0bb701940c9d40d5" providerId="LiveId" clId="{E81A5937-ADAA-4287-94FF-0E690BA2A119}" dt="2021-02-14T00:25:54.431" v="741" actId="47"/>
        <pc:sldMkLst>
          <pc:docMk/>
          <pc:sldMk cId="3718335312" sldId="326"/>
        </pc:sldMkLst>
      </pc:sldChg>
      <pc:sldChg chg="modSp mod">
        <pc:chgData name="justin.watson@education.wa.edu.au" userId="0bb701940c9d40d5" providerId="LiveId" clId="{E81A5937-ADAA-4287-94FF-0E690BA2A119}" dt="2021-02-14T00:34:56.679" v="933" actId="403"/>
        <pc:sldMkLst>
          <pc:docMk/>
          <pc:sldMk cId="3372573047" sldId="327"/>
        </pc:sldMkLst>
        <pc:spChg chg="mod">
          <ac:chgData name="justin.watson@education.wa.edu.au" userId="0bb701940c9d40d5" providerId="LiveId" clId="{E81A5937-ADAA-4287-94FF-0E690BA2A119}" dt="2021-02-14T00:34:56.679" v="933" actId="403"/>
          <ac:spMkLst>
            <pc:docMk/>
            <pc:sldMk cId="3372573047" sldId="327"/>
            <ac:spMk id="5" creationId="{F2A5B7C2-6C39-4AFA-9B5D-C3F3C81B941B}"/>
          </ac:spMkLst>
        </pc:spChg>
      </pc:sldChg>
      <pc:sldChg chg="add del ord setBg">
        <pc:chgData name="justin.watson@education.wa.edu.au" userId="0bb701940c9d40d5" providerId="LiveId" clId="{E81A5937-ADAA-4287-94FF-0E690BA2A119}" dt="2021-02-13T15:16:20.517" v="376"/>
        <pc:sldMkLst>
          <pc:docMk/>
          <pc:sldMk cId="3579800331" sldId="329"/>
        </pc:sldMkLst>
      </pc:sldChg>
      <pc:sldChg chg="modSp add mod">
        <pc:chgData name="justin.watson@education.wa.edu.au" userId="0bb701940c9d40d5" providerId="LiveId" clId="{E81A5937-ADAA-4287-94FF-0E690BA2A119}" dt="2021-02-14T00:26:57.059" v="752" actId="20577"/>
        <pc:sldMkLst>
          <pc:docMk/>
          <pc:sldMk cId="501886735" sldId="330"/>
        </pc:sldMkLst>
        <pc:spChg chg="mod">
          <ac:chgData name="justin.watson@education.wa.edu.au" userId="0bb701940c9d40d5" providerId="LiveId" clId="{E81A5937-ADAA-4287-94FF-0E690BA2A119}" dt="2021-02-14T00:26:57.059" v="752" actId="20577"/>
          <ac:spMkLst>
            <pc:docMk/>
            <pc:sldMk cId="501886735" sldId="330"/>
            <ac:spMk id="3" creationId="{D46BA030-F0A1-43A2-A797-43A1FF6BDAE7}"/>
          </ac:spMkLst>
        </pc:spChg>
      </pc:sldChg>
      <pc:sldChg chg="add del">
        <pc:chgData name="justin.watson@education.wa.edu.au" userId="0bb701940c9d40d5" providerId="LiveId" clId="{E81A5937-ADAA-4287-94FF-0E690BA2A119}" dt="2021-02-13T15:06:14.462" v="172" actId="2890"/>
        <pc:sldMkLst>
          <pc:docMk/>
          <pc:sldMk cId="2502344541" sldId="330"/>
        </pc:sldMkLst>
      </pc:sldChg>
      <pc:sldChg chg="modSp add mod">
        <pc:chgData name="justin.watson@education.wa.edu.au" userId="0bb701940c9d40d5" providerId="LiveId" clId="{E81A5937-ADAA-4287-94FF-0E690BA2A119}" dt="2021-02-13T15:14:18.814" v="374" actId="20577"/>
        <pc:sldMkLst>
          <pc:docMk/>
          <pc:sldMk cId="24780093" sldId="331"/>
        </pc:sldMkLst>
        <pc:spChg chg="mod">
          <ac:chgData name="justin.watson@education.wa.edu.au" userId="0bb701940c9d40d5" providerId="LiveId" clId="{E81A5937-ADAA-4287-94FF-0E690BA2A119}" dt="2021-02-13T15:14:18.814" v="374" actId="20577"/>
          <ac:spMkLst>
            <pc:docMk/>
            <pc:sldMk cId="24780093" sldId="331"/>
            <ac:spMk id="3" creationId="{D46BA030-F0A1-43A2-A797-43A1FF6BDAE7}"/>
          </ac:spMkLst>
        </pc:spChg>
      </pc:sldChg>
      <pc:sldChg chg="modSp add mod">
        <pc:chgData name="justin.watson@education.wa.edu.au" userId="0bb701940c9d40d5" providerId="LiveId" clId="{E81A5937-ADAA-4287-94FF-0E690BA2A119}" dt="2021-02-13T15:30:21.047" v="738" actId="207"/>
        <pc:sldMkLst>
          <pc:docMk/>
          <pc:sldMk cId="4125169928" sldId="332"/>
        </pc:sldMkLst>
        <pc:spChg chg="mod">
          <ac:chgData name="justin.watson@education.wa.edu.au" userId="0bb701940c9d40d5" providerId="LiveId" clId="{E81A5937-ADAA-4287-94FF-0E690BA2A119}" dt="2021-02-13T15:30:21.047" v="738" actId="207"/>
          <ac:spMkLst>
            <pc:docMk/>
            <pc:sldMk cId="4125169928" sldId="332"/>
            <ac:spMk id="3" creationId="{D46BA030-F0A1-43A2-A797-43A1FF6BDAE7}"/>
          </ac:spMkLst>
        </pc:spChg>
      </pc:sldChg>
      <pc:sldChg chg="modSp add mod">
        <pc:chgData name="justin.watson@education.wa.edu.au" userId="0bb701940c9d40d5" providerId="LiveId" clId="{E81A5937-ADAA-4287-94FF-0E690BA2A119}" dt="2021-02-13T15:25:49.709" v="647" actId="20577"/>
        <pc:sldMkLst>
          <pc:docMk/>
          <pc:sldMk cId="2007102231" sldId="333"/>
        </pc:sldMkLst>
        <pc:spChg chg="mod">
          <ac:chgData name="justin.watson@education.wa.edu.au" userId="0bb701940c9d40d5" providerId="LiveId" clId="{E81A5937-ADAA-4287-94FF-0E690BA2A119}" dt="2021-02-13T15:25:49.709" v="647" actId="20577"/>
          <ac:spMkLst>
            <pc:docMk/>
            <pc:sldMk cId="2007102231" sldId="333"/>
            <ac:spMk id="3" creationId="{D46BA030-F0A1-43A2-A797-43A1FF6BDAE7}"/>
          </ac:spMkLst>
        </pc:spChg>
      </pc:sldChg>
      <pc:sldChg chg="addSp modSp add mod">
        <pc:chgData name="justin.watson@education.wa.edu.au" userId="0bb701940c9d40d5" providerId="LiveId" clId="{E81A5937-ADAA-4287-94FF-0E690BA2A119}" dt="2021-02-13T15:28:08.992" v="735" actId="20577"/>
        <pc:sldMkLst>
          <pc:docMk/>
          <pc:sldMk cId="1160826736" sldId="334"/>
        </pc:sldMkLst>
        <pc:spChg chg="mod">
          <ac:chgData name="justin.watson@education.wa.edu.au" userId="0bb701940c9d40d5" providerId="LiveId" clId="{E81A5937-ADAA-4287-94FF-0E690BA2A119}" dt="2021-02-13T15:24:23.433" v="535" actId="20577"/>
          <ac:spMkLst>
            <pc:docMk/>
            <pc:sldMk cId="1160826736" sldId="334"/>
            <ac:spMk id="3" creationId="{D46BA030-F0A1-43A2-A797-43A1FF6BDAE7}"/>
          </ac:spMkLst>
        </pc:spChg>
        <pc:graphicFrameChg chg="add mod modGraphic">
          <ac:chgData name="justin.watson@education.wa.edu.au" userId="0bb701940c9d40d5" providerId="LiveId" clId="{E81A5937-ADAA-4287-94FF-0E690BA2A119}" dt="2021-02-13T15:28:08.992" v="735" actId="20577"/>
          <ac:graphicFrameMkLst>
            <pc:docMk/>
            <pc:sldMk cId="1160826736" sldId="334"/>
            <ac:graphicFrameMk id="4" creationId="{94198B29-C62D-45E7-8DD9-A0D05632F97C}"/>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EAEC40-FB91-4B4E-8615-59788947F0F0}" type="datetimeFigureOut">
              <a:rPr lang="en-AU" smtClean="0"/>
              <a:t>13/02/2021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5F8C66-E9D4-4BCD-9B84-1B952BD6C7CB}" type="slidenum">
              <a:rPr lang="en-AU" smtClean="0"/>
              <a:t>‹#›</a:t>
            </a:fld>
            <a:endParaRPr lang="en-AU"/>
          </a:p>
        </p:txBody>
      </p:sp>
    </p:spTree>
    <p:extLst>
      <p:ext uri="{BB962C8B-B14F-4D97-AF65-F5344CB8AC3E}">
        <p14:creationId xmlns:p14="http://schemas.microsoft.com/office/powerpoint/2010/main" val="1715560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3</a:t>
            </a:fld>
            <a:endParaRPr lang="en-AU"/>
          </a:p>
        </p:txBody>
      </p:sp>
    </p:spTree>
    <p:extLst>
      <p:ext uri="{BB962C8B-B14F-4D97-AF65-F5344CB8AC3E}">
        <p14:creationId xmlns:p14="http://schemas.microsoft.com/office/powerpoint/2010/main" val="2120275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F05F8C66-E9D4-4BCD-9B84-1B952BD6C7CB}" type="slidenum">
              <a:rPr lang="en-AU" smtClean="0"/>
              <a:t>5</a:t>
            </a:fld>
            <a:endParaRPr lang="en-AU"/>
          </a:p>
        </p:txBody>
      </p:sp>
    </p:spTree>
    <p:extLst>
      <p:ext uri="{BB962C8B-B14F-4D97-AF65-F5344CB8AC3E}">
        <p14:creationId xmlns:p14="http://schemas.microsoft.com/office/powerpoint/2010/main" val="155315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Have post-it notes pre-prepared with -50, 25, 0, -75, 50, 75 for whole class display on the board</a:t>
            </a:r>
          </a:p>
        </p:txBody>
      </p:sp>
      <p:sp>
        <p:nvSpPr>
          <p:cNvPr id="4" name="Slide Number Placeholder 3"/>
          <p:cNvSpPr>
            <a:spLocks noGrp="1"/>
          </p:cNvSpPr>
          <p:nvPr>
            <p:ph type="sldNum" sz="quarter" idx="5"/>
          </p:nvPr>
        </p:nvSpPr>
        <p:spPr/>
        <p:txBody>
          <a:bodyPr/>
          <a:lstStyle/>
          <a:p>
            <a:fld id="{F05F8C66-E9D4-4BCD-9B84-1B952BD6C7CB}" type="slidenum">
              <a:rPr lang="en-AU" smtClean="0"/>
              <a:t>6</a:t>
            </a:fld>
            <a:endParaRPr lang="en-AU"/>
          </a:p>
        </p:txBody>
      </p:sp>
    </p:spTree>
    <p:extLst>
      <p:ext uri="{BB962C8B-B14F-4D97-AF65-F5344CB8AC3E}">
        <p14:creationId xmlns:p14="http://schemas.microsoft.com/office/powerpoint/2010/main" val="4220663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Have post-it notes pre-prepared with -50, 25, 0, -75, 50, 75 for whole class display on the board</a:t>
            </a:r>
          </a:p>
        </p:txBody>
      </p:sp>
      <p:sp>
        <p:nvSpPr>
          <p:cNvPr id="4" name="Slide Number Placeholder 3"/>
          <p:cNvSpPr>
            <a:spLocks noGrp="1"/>
          </p:cNvSpPr>
          <p:nvPr>
            <p:ph type="sldNum" sz="quarter" idx="5"/>
          </p:nvPr>
        </p:nvSpPr>
        <p:spPr/>
        <p:txBody>
          <a:bodyPr/>
          <a:lstStyle/>
          <a:p>
            <a:fld id="{F05F8C66-E9D4-4BCD-9B84-1B952BD6C7CB}" type="slidenum">
              <a:rPr lang="en-AU" smtClean="0"/>
              <a:t>7</a:t>
            </a:fld>
            <a:endParaRPr lang="en-AU"/>
          </a:p>
        </p:txBody>
      </p:sp>
    </p:spTree>
    <p:extLst>
      <p:ext uri="{BB962C8B-B14F-4D97-AF65-F5344CB8AC3E}">
        <p14:creationId xmlns:p14="http://schemas.microsoft.com/office/powerpoint/2010/main" val="2543275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Have post-it notes pre-prepared with -50, 25, 0, -75, 50, 75 for whole class display on the board</a:t>
            </a:r>
          </a:p>
        </p:txBody>
      </p:sp>
      <p:sp>
        <p:nvSpPr>
          <p:cNvPr id="4" name="Slide Number Placeholder 3"/>
          <p:cNvSpPr>
            <a:spLocks noGrp="1"/>
          </p:cNvSpPr>
          <p:nvPr>
            <p:ph type="sldNum" sz="quarter" idx="5"/>
          </p:nvPr>
        </p:nvSpPr>
        <p:spPr/>
        <p:txBody>
          <a:bodyPr/>
          <a:lstStyle/>
          <a:p>
            <a:fld id="{F05F8C66-E9D4-4BCD-9B84-1B952BD6C7CB}" type="slidenum">
              <a:rPr lang="en-AU" smtClean="0"/>
              <a:t>8</a:t>
            </a:fld>
            <a:endParaRPr lang="en-AU"/>
          </a:p>
        </p:txBody>
      </p:sp>
    </p:spTree>
    <p:extLst>
      <p:ext uri="{BB962C8B-B14F-4D97-AF65-F5344CB8AC3E}">
        <p14:creationId xmlns:p14="http://schemas.microsoft.com/office/powerpoint/2010/main" val="4080190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Have post-it notes pre-prepared with -50, 25, 0, -75, 50, 75 for whole class display on the board</a:t>
            </a:r>
          </a:p>
        </p:txBody>
      </p:sp>
      <p:sp>
        <p:nvSpPr>
          <p:cNvPr id="4" name="Slide Number Placeholder 3"/>
          <p:cNvSpPr>
            <a:spLocks noGrp="1"/>
          </p:cNvSpPr>
          <p:nvPr>
            <p:ph type="sldNum" sz="quarter" idx="5"/>
          </p:nvPr>
        </p:nvSpPr>
        <p:spPr/>
        <p:txBody>
          <a:bodyPr/>
          <a:lstStyle/>
          <a:p>
            <a:fld id="{F05F8C66-E9D4-4BCD-9B84-1B952BD6C7CB}" type="slidenum">
              <a:rPr lang="en-AU" smtClean="0"/>
              <a:t>9</a:t>
            </a:fld>
            <a:endParaRPr lang="en-AU"/>
          </a:p>
        </p:txBody>
      </p:sp>
    </p:spTree>
    <p:extLst>
      <p:ext uri="{BB962C8B-B14F-4D97-AF65-F5344CB8AC3E}">
        <p14:creationId xmlns:p14="http://schemas.microsoft.com/office/powerpoint/2010/main" val="2501939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Have post-it notes pre-prepared with -50, 25, 0, -75, 50, 75 for whole class display on the board</a:t>
            </a:r>
          </a:p>
        </p:txBody>
      </p:sp>
      <p:sp>
        <p:nvSpPr>
          <p:cNvPr id="4" name="Slide Number Placeholder 3"/>
          <p:cNvSpPr>
            <a:spLocks noGrp="1"/>
          </p:cNvSpPr>
          <p:nvPr>
            <p:ph type="sldNum" sz="quarter" idx="5"/>
          </p:nvPr>
        </p:nvSpPr>
        <p:spPr/>
        <p:txBody>
          <a:bodyPr/>
          <a:lstStyle/>
          <a:p>
            <a:fld id="{F05F8C66-E9D4-4BCD-9B84-1B952BD6C7CB}" type="slidenum">
              <a:rPr lang="en-AU" smtClean="0"/>
              <a:t>10</a:t>
            </a:fld>
            <a:endParaRPr lang="en-AU"/>
          </a:p>
        </p:txBody>
      </p:sp>
    </p:spTree>
    <p:extLst>
      <p:ext uri="{BB962C8B-B14F-4D97-AF65-F5344CB8AC3E}">
        <p14:creationId xmlns:p14="http://schemas.microsoft.com/office/powerpoint/2010/main" val="2672152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Have post-it notes pre-prepared with -50, 25, 0, -75, 50, 75 for whole class display on the board</a:t>
            </a:r>
          </a:p>
        </p:txBody>
      </p:sp>
      <p:sp>
        <p:nvSpPr>
          <p:cNvPr id="4" name="Slide Number Placeholder 3"/>
          <p:cNvSpPr>
            <a:spLocks noGrp="1"/>
          </p:cNvSpPr>
          <p:nvPr>
            <p:ph type="sldNum" sz="quarter" idx="5"/>
          </p:nvPr>
        </p:nvSpPr>
        <p:spPr/>
        <p:txBody>
          <a:bodyPr/>
          <a:lstStyle/>
          <a:p>
            <a:fld id="{F05F8C66-E9D4-4BCD-9B84-1B952BD6C7CB}" type="slidenum">
              <a:rPr lang="en-AU" smtClean="0"/>
              <a:t>11</a:t>
            </a:fld>
            <a:endParaRPr lang="en-AU"/>
          </a:p>
        </p:txBody>
      </p:sp>
    </p:spTree>
    <p:extLst>
      <p:ext uri="{BB962C8B-B14F-4D97-AF65-F5344CB8AC3E}">
        <p14:creationId xmlns:p14="http://schemas.microsoft.com/office/powerpoint/2010/main" val="537095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Review understanding of equations.</a:t>
            </a:r>
          </a:p>
          <a:p>
            <a:r>
              <a:rPr lang="en-AU" dirty="0"/>
              <a:t>Use CUBES strategy to break down question.</a:t>
            </a:r>
          </a:p>
          <a:p>
            <a:endParaRPr lang="en-AU" dirty="0"/>
          </a:p>
          <a:p>
            <a:r>
              <a:rPr lang="en-AU" b="1" dirty="0"/>
              <a:t>Circle the numbers</a:t>
            </a:r>
          </a:p>
          <a:p>
            <a:r>
              <a:rPr lang="en-AU" b="1" dirty="0"/>
              <a:t>Underline the question</a:t>
            </a:r>
          </a:p>
          <a:p>
            <a:r>
              <a:rPr lang="en-AU" b="1" dirty="0"/>
              <a:t>Box math keywords</a:t>
            </a:r>
          </a:p>
          <a:p>
            <a:r>
              <a:rPr lang="en-AU" b="1" dirty="0"/>
              <a:t>Eliminate unnecessary information</a:t>
            </a:r>
          </a:p>
          <a:p>
            <a:r>
              <a:rPr lang="en-AU" b="1" dirty="0"/>
              <a:t>Solve and check whether your answer is reasonable</a:t>
            </a:r>
          </a:p>
          <a:p>
            <a:endParaRPr lang="en-AU" dirty="0"/>
          </a:p>
        </p:txBody>
      </p:sp>
      <p:sp>
        <p:nvSpPr>
          <p:cNvPr id="4" name="Slide Number Placeholder 3"/>
          <p:cNvSpPr>
            <a:spLocks noGrp="1"/>
          </p:cNvSpPr>
          <p:nvPr>
            <p:ph type="sldNum" sz="quarter" idx="5"/>
          </p:nvPr>
        </p:nvSpPr>
        <p:spPr/>
        <p:txBody>
          <a:bodyPr/>
          <a:lstStyle/>
          <a:p>
            <a:fld id="{F05F8C66-E9D4-4BCD-9B84-1B952BD6C7CB}" type="slidenum">
              <a:rPr lang="en-AU" smtClean="0"/>
              <a:t>12</a:t>
            </a:fld>
            <a:endParaRPr lang="en-AU"/>
          </a:p>
        </p:txBody>
      </p:sp>
    </p:spTree>
    <p:extLst>
      <p:ext uri="{BB962C8B-B14F-4D97-AF65-F5344CB8AC3E}">
        <p14:creationId xmlns:p14="http://schemas.microsoft.com/office/powerpoint/2010/main" val="1630386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D87294F-DEA6-4D3A-864A-E2E179377C11}" type="datetimeFigureOut">
              <a:rPr lang="en-AU" smtClean="0"/>
              <a:t>13/02/2021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
        <p:nvSpPr>
          <p:cNvPr id="13" name="Rectangle 12"/>
          <p:cNvSpPr/>
          <p:nvPr/>
        </p:nvSpPr>
        <p:spPr>
          <a:xfrm>
            <a:off x="0" y="0"/>
            <a:ext cx="12192000" cy="4572001"/>
          </a:xfrm>
          <a:prstGeom prst="rect">
            <a:avLst/>
          </a:prstGeom>
          <a:blipFill dpi="0" rotWithShape="1">
            <a:blip r:embed="rId2">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0850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13/02/2021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3924120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87294F-DEA6-4D3A-864A-E2E179377C11}" type="datetimeFigureOut">
              <a:rPr lang="en-AU" smtClean="0"/>
              <a:t>13/02/2021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0"/>
            <a:ext cx="12192000" cy="4572000"/>
          </a:xfrm>
          <a:prstGeom prst="rect">
            <a:avLst/>
          </a:prstGeom>
          <a:blipFill dpi="0" rotWithShape="1">
            <a:blip r:embed="rId2">
              <a:duotone>
                <a:schemeClr val="accent1">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61104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87294F-DEA6-4D3A-864A-E2E179377C11}" type="datetimeFigureOut">
              <a:rPr lang="en-AU" smtClean="0"/>
              <a:t>13/02/2021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3061133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87294F-DEA6-4D3A-864A-E2E179377C11}" type="datetimeFigureOut">
              <a:rPr lang="en-AU" smtClean="0"/>
              <a:t>13/02/2021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425222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87294F-DEA6-4D3A-864A-E2E179377C11}" type="datetimeFigureOut">
              <a:rPr lang="en-AU" smtClean="0"/>
              <a:t>13/02/2021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890055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87294F-DEA6-4D3A-864A-E2E179377C11}" type="datetimeFigureOut">
              <a:rPr lang="en-AU" smtClean="0"/>
              <a:t>13/02/2021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2421683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87294F-DEA6-4D3A-864A-E2E179377C11}" type="datetimeFigureOut">
              <a:rPr lang="en-AU" smtClean="0"/>
              <a:t>13/02/2021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3175906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87294F-DEA6-4D3A-864A-E2E179377C11}" type="datetimeFigureOut">
              <a:rPr lang="en-AU" smtClean="0"/>
              <a:t>13/02/2021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258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13/02/2021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2665682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13/02/2021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507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D87294F-DEA6-4D3A-864A-E2E179377C11}" type="datetimeFigureOut">
              <a:rPr lang="en-AU" smtClean="0"/>
              <a:t>13/02/2021</a:t>
            </a:fld>
            <a:endParaRPr lang="en-AU"/>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AU"/>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EE85469-5E97-4092-A190-A2DAADA27300}" type="slidenum">
              <a:rPr lang="en-AU" smtClean="0"/>
              <a:t>‹#›</a:t>
            </a:fld>
            <a:endParaRPr lang="en-AU"/>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5121646"/>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creativecommons.org/licenses/by-sa/3.0/" TargetMode="External"/><Relationship Id="rId4" Type="http://schemas.openxmlformats.org/officeDocument/2006/relationships/hyperlink" Target="https://www.flickr.com/photos/128758398@N07/16606213985"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11B51-FD68-4F9A-AF72-D0BD0020458F}"/>
              </a:ext>
            </a:extLst>
          </p:cNvPr>
          <p:cNvSpPr>
            <a:spLocks noGrp="1"/>
          </p:cNvSpPr>
          <p:nvPr>
            <p:ph type="ctrTitle"/>
          </p:nvPr>
        </p:nvSpPr>
        <p:spPr>
          <a:xfrm>
            <a:off x="381000" y="4960137"/>
            <a:ext cx="8045824" cy="1463040"/>
          </a:xfrm>
        </p:spPr>
        <p:txBody>
          <a:bodyPr>
            <a:noAutofit/>
          </a:bodyPr>
          <a:lstStyle/>
          <a:p>
            <a:pPr algn="l"/>
            <a:r>
              <a:rPr lang="en-AU" sz="4000" dirty="0"/>
              <a:t>Topic: Apply Relative Decimals </a:t>
            </a:r>
            <a:br>
              <a:rPr lang="en-AU" sz="4000" dirty="0"/>
            </a:br>
            <a:r>
              <a:rPr lang="en-AU" sz="4000" dirty="0"/>
              <a:t>EQ: How do you round and estimate with decimals?</a:t>
            </a:r>
          </a:p>
        </p:txBody>
      </p:sp>
      <p:sp>
        <p:nvSpPr>
          <p:cNvPr id="3" name="Subtitle 2">
            <a:extLst>
              <a:ext uri="{FF2B5EF4-FFF2-40B4-BE49-F238E27FC236}">
                <a16:creationId xmlns:a16="http://schemas.microsoft.com/office/drawing/2014/main" id="{39235905-0902-4C57-9CA6-37C142F28CCF}"/>
              </a:ext>
            </a:extLst>
          </p:cNvPr>
          <p:cNvSpPr>
            <a:spLocks noGrp="1"/>
          </p:cNvSpPr>
          <p:nvPr>
            <p:ph type="subTitle" idx="1"/>
          </p:nvPr>
        </p:nvSpPr>
        <p:spPr/>
        <p:txBody>
          <a:bodyPr/>
          <a:lstStyle/>
          <a:p>
            <a:r>
              <a:rPr lang="en-AU" dirty="0"/>
              <a:t>Year 11 Essentials</a:t>
            </a:r>
          </a:p>
        </p:txBody>
      </p:sp>
    </p:spTree>
    <p:extLst>
      <p:ext uri="{BB962C8B-B14F-4D97-AF65-F5344CB8AC3E}">
        <p14:creationId xmlns:p14="http://schemas.microsoft.com/office/powerpoint/2010/main" val="1669176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42DAA-A945-4854-916B-03B00950BDA0}"/>
              </a:ext>
            </a:extLst>
          </p:cNvPr>
          <p:cNvSpPr>
            <a:spLocks noGrp="1"/>
          </p:cNvSpPr>
          <p:nvPr>
            <p:ph type="title"/>
          </p:nvPr>
        </p:nvSpPr>
        <p:spPr/>
        <p:txBody>
          <a:bodyPr/>
          <a:lstStyle/>
          <a:p>
            <a:r>
              <a:rPr lang="en-AU" dirty="0"/>
              <a:t>Things Required For This Lesson</a:t>
            </a:r>
          </a:p>
        </p:txBody>
      </p:sp>
      <p:sp>
        <p:nvSpPr>
          <p:cNvPr id="3" name="Content Placeholder 2">
            <a:extLst>
              <a:ext uri="{FF2B5EF4-FFF2-40B4-BE49-F238E27FC236}">
                <a16:creationId xmlns:a16="http://schemas.microsoft.com/office/drawing/2014/main" id="{C73B46C1-2EC7-446D-84C7-06B86F22835B}"/>
              </a:ext>
            </a:extLst>
          </p:cNvPr>
          <p:cNvSpPr>
            <a:spLocks noGrp="1"/>
          </p:cNvSpPr>
          <p:nvPr>
            <p:ph idx="1"/>
          </p:nvPr>
        </p:nvSpPr>
        <p:spPr/>
        <p:txBody>
          <a:bodyPr>
            <a:normAutofit/>
          </a:bodyPr>
          <a:lstStyle/>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Interactive Notebook</a:t>
            </a:r>
          </a:p>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Textbook: </a:t>
            </a:r>
            <a:r>
              <a:rPr lang="en-AU" sz="2800" dirty="0">
                <a:solidFill>
                  <a:srgbClr val="7030A0"/>
                </a:solidFill>
                <a:latin typeface="Calibri" panose="020F0502020204030204" pitchFamily="34" charset="0"/>
                <a:cs typeface="Calibri" panose="020F0502020204030204" pitchFamily="34" charset="0"/>
              </a:rPr>
              <a:t>Interleaved Maths Essential Connections</a:t>
            </a:r>
          </a:p>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Ruler, Red Pen, Pencil, Pens, Scientific Calculator</a:t>
            </a:r>
          </a:p>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Growth mindset</a:t>
            </a:r>
          </a:p>
        </p:txBody>
      </p:sp>
    </p:spTree>
    <p:extLst>
      <p:ext uri="{BB962C8B-B14F-4D97-AF65-F5344CB8AC3E}">
        <p14:creationId xmlns:p14="http://schemas.microsoft.com/office/powerpoint/2010/main" val="2390803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4994082"/>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6070188"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Relative Size of Negative Numbers</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a:t>
            </a:r>
            <a:r>
              <a:rPr lang="en-US" sz="2400" dirty="0">
                <a:latin typeface="Calibri" panose="020F0502020204030204" pitchFamily="34" charset="0"/>
                <a:cs typeface="Calibri" panose="020F0502020204030204" pitchFamily="34" charset="0"/>
              </a:rPr>
              <a:t>How do you use known and unknown information to find perimeter?</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8370" y="196208"/>
            <a:ext cx="2546009"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Date: 12/02/2021</a:t>
            </a:r>
          </a:p>
        </p:txBody>
      </p:sp>
      <p:pic>
        <p:nvPicPr>
          <p:cNvPr id="6" name="Picture 5" descr="A picture containing text, brick, outdoor, sign&#10;&#10;Description automatically generated">
            <a:extLst>
              <a:ext uri="{FF2B5EF4-FFF2-40B4-BE49-F238E27FC236}">
                <a16:creationId xmlns:a16="http://schemas.microsoft.com/office/drawing/2014/main" id="{04DC1BC4-B66D-4429-8604-914BCDAFDC2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881917" y="1449553"/>
            <a:ext cx="3257615" cy="4289864"/>
          </a:xfrm>
          <a:prstGeom prst="rect">
            <a:avLst/>
          </a:prstGeom>
        </p:spPr>
      </p:pic>
      <p:sp>
        <p:nvSpPr>
          <p:cNvPr id="7" name="TextBox 6">
            <a:extLst>
              <a:ext uri="{FF2B5EF4-FFF2-40B4-BE49-F238E27FC236}">
                <a16:creationId xmlns:a16="http://schemas.microsoft.com/office/drawing/2014/main" id="{F4EB01DF-9411-42CA-9351-FB3A2852305B}"/>
              </a:ext>
            </a:extLst>
          </p:cNvPr>
          <p:cNvSpPr txBox="1"/>
          <p:nvPr/>
        </p:nvSpPr>
        <p:spPr>
          <a:xfrm>
            <a:off x="5001187" y="5710872"/>
            <a:ext cx="2575263" cy="369332"/>
          </a:xfrm>
          <a:prstGeom prst="rect">
            <a:avLst/>
          </a:prstGeom>
          <a:noFill/>
        </p:spPr>
        <p:txBody>
          <a:bodyPr wrap="square" rtlCol="0">
            <a:spAutoFit/>
          </a:bodyPr>
          <a:lstStyle/>
          <a:p>
            <a:r>
              <a:rPr lang="en-AU" sz="900" dirty="0">
                <a:hlinkClick r:id="rId4" tooltip="https://www.flickr.com/photos/128758398@N07/16606213985"/>
              </a:rPr>
              <a:t>This Photo</a:t>
            </a:r>
            <a:r>
              <a:rPr lang="en-AU" sz="900" dirty="0"/>
              <a:t> by Unknown Author is licensed under </a:t>
            </a:r>
            <a:r>
              <a:rPr lang="en-AU" sz="900" dirty="0">
                <a:hlinkClick r:id="rId5" tooltip="https://creativecommons.org/licenses/by-sa/3.0/"/>
              </a:rPr>
              <a:t>CC BY-SA</a:t>
            </a:r>
            <a:endParaRPr lang="en-AU" sz="900" dirty="0"/>
          </a:p>
        </p:txBody>
      </p:sp>
      <p:cxnSp>
        <p:nvCxnSpPr>
          <p:cNvPr id="25" name="Straight Connector 24">
            <a:extLst>
              <a:ext uri="{FF2B5EF4-FFF2-40B4-BE49-F238E27FC236}">
                <a16:creationId xmlns:a16="http://schemas.microsoft.com/office/drawing/2014/main" id="{B2CDAD20-C34B-4CAB-9BA2-2A1DCC9E489F}"/>
              </a:ext>
            </a:extLst>
          </p:cNvPr>
          <p:cNvCxnSpPr>
            <a:cxnSpLocks/>
          </p:cNvCxnSpPr>
          <p:nvPr/>
        </p:nvCxnSpPr>
        <p:spPr>
          <a:xfrm flipV="1">
            <a:off x="37322" y="6218703"/>
            <a:ext cx="12192000" cy="2229"/>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682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84058-F110-4341-AAE9-DF21C868FC90}"/>
              </a:ext>
            </a:extLst>
          </p:cNvPr>
          <p:cNvSpPr>
            <a:spLocks noGrp="1"/>
          </p:cNvSpPr>
          <p:nvPr>
            <p:ph type="title"/>
          </p:nvPr>
        </p:nvSpPr>
        <p:spPr>
          <a:xfrm>
            <a:off x="5951728" y="585216"/>
            <a:ext cx="5740739" cy="1499616"/>
          </a:xfrm>
        </p:spPr>
        <p:txBody>
          <a:bodyPr>
            <a:normAutofit/>
          </a:bodyPr>
          <a:lstStyle/>
          <a:p>
            <a:r>
              <a:rPr lang="en-AU" sz="2400" dirty="0"/>
              <a:t>Interleave Questions set 2</a:t>
            </a:r>
            <a:br>
              <a:rPr lang="en-AU" sz="2400" dirty="0"/>
            </a:br>
            <a:br>
              <a:rPr lang="en-AU" sz="2400" dirty="0"/>
            </a:br>
            <a:r>
              <a:rPr lang="en-AU" sz="2400" dirty="0"/>
              <a:t>Q7 -9</a:t>
            </a:r>
            <a:br>
              <a:rPr lang="en-AU" sz="1600" dirty="0"/>
            </a:br>
            <a:endParaRPr lang="en-AU" sz="1600" dirty="0"/>
          </a:p>
        </p:txBody>
      </p:sp>
      <p:pic>
        <p:nvPicPr>
          <p:cNvPr id="9" name="Picture 8" descr="Toy plastic numbers">
            <a:extLst>
              <a:ext uri="{FF2B5EF4-FFF2-40B4-BE49-F238E27FC236}">
                <a16:creationId xmlns:a16="http://schemas.microsoft.com/office/drawing/2014/main" id="{52FEC1ED-9D5D-4D09-AE41-D945ECB782A9}"/>
              </a:ext>
            </a:extLst>
          </p:cNvPr>
          <p:cNvPicPr>
            <a:picLocks noChangeAspect="1"/>
          </p:cNvPicPr>
          <p:nvPr/>
        </p:nvPicPr>
        <p:blipFill rotWithShape="1">
          <a:blip r:embed="rId2">
            <a:extLst>
              <a:ext uri="{28A0092B-C50C-407E-A947-70E740481C1C}">
                <a14:useLocalDpi xmlns:a14="http://schemas.microsoft.com/office/drawing/2010/main" val="0"/>
              </a:ext>
            </a:extLst>
          </a:blip>
          <a:srcRect l="4346" r="10202" b="-3"/>
          <a:stretch/>
        </p:blipFill>
        <p:spPr>
          <a:xfrm>
            <a:off x="484632" y="484631"/>
            <a:ext cx="5204964" cy="3853905"/>
          </a:xfrm>
          <a:prstGeom prst="rect">
            <a:avLst/>
          </a:prstGeom>
        </p:spPr>
      </p:pic>
      <p:cxnSp>
        <p:nvCxnSpPr>
          <p:cNvPr id="71" name="Straight Connector 70">
            <a:extLst>
              <a:ext uri="{FF2B5EF4-FFF2-40B4-BE49-F238E27FC236}">
                <a16:creationId xmlns:a16="http://schemas.microsoft.com/office/drawing/2014/main" id="{D2345D65-2A74-491B-AC96-C66B2726A4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896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D15D9FA9-26A2-4F4D-8F7C-658E5E382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775" y="4150596"/>
            <a:ext cx="1038557" cy="2231807"/>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1CB20C0-639D-4900-99CF-7D598591216D}"/>
              </a:ext>
            </a:extLst>
          </p:cNvPr>
          <p:cNvSpPr>
            <a:spLocks noGrp="1"/>
          </p:cNvSpPr>
          <p:nvPr>
            <p:ph idx="1"/>
          </p:nvPr>
        </p:nvSpPr>
        <p:spPr>
          <a:xfrm>
            <a:off x="5951728" y="1740724"/>
            <a:ext cx="5740739" cy="4568636"/>
          </a:xfrm>
        </p:spPr>
        <p:txBody>
          <a:bodyPr>
            <a:normAutofit/>
          </a:bodyPr>
          <a:lstStyle/>
          <a:p>
            <a:pPr marL="0" indent="0">
              <a:buNone/>
            </a:pPr>
            <a:r>
              <a:rPr lang="en-AU" sz="1500" dirty="0">
                <a:latin typeface="Calibri" panose="020F0502020204030204" pitchFamily="34" charset="0"/>
                <a:cs typeface="Calibri" panose="020F0502020204030204" pitchFamily="34" charset="0"/>
              </a:rPr>
              <a:t>         </a:t>
            </a:r>
            <a:r>
              <a:rPr lang="en-AU" sz="1500" b="1" dirty="0">
                <a:latin typeface="Calibri" panose="020F0502020204030204" pitchFamily="34" charset="0"/>
                <a:cs typeface="Calibri" panose="020F0502020204030204" pitchFamily="34" charset="0"/>
              </a:rPr>
              <a:t>COPY AND SOLVE – UNDERLINE KEY WORDS</a:t>
            </a:r>
          </a:p>
          <a:p>
            <a:pPr marL="514350" indent="-514350">
              <a:buFont typeface="+mj-lt"/>
              <a:buAutoNum type="arabicPeriod"/>
            </a:pPr>
            <a:endParaRPr lang="en-AU" sz="1500" dirty="0">
              <a:latin typeface="Calibri" panose="020F0502020204030204" pitchFamily="34" charset="0"/>
              <a:cs typeface="Calibri" panose="020F0502020204030204" pitchFamily="34" charset="0"/>
            </a:endParaRPr>
          </a:p>
          <a:p>
            <a:pPr marL="514350" indent="-514350">
              <a:buFont typeface="+mj-lt"/>
              <a:buAutoNum type="arabicPeriod"/>
            </a:pPr>
            <a:r>
              <a:rPr lang="en-AU" sz="1800" dirty="0">
                <a:latin typeface="Calibri" panose="020F0502020204030204" pitchFamily="34" charset="0"/>
                <a:cs typeface="Calibri" panose="020F0502020204030204" pitchFamily="34" charset="0"/>
              </a:rPr>
              <a:t>If the Australian Population is 25.18 million (2018), roughly fraction or percentage lived in QLD – 5,052,800.</a:t>
            </a:r>
          </a:p>
          <a:p>
            <a:pPr marL="514350" indent="-514350">
              <a:buFont typeface="+mj-lt"/>
              <a:buAutoNum type="arabicPeriod"/>
            </a:pPr>
            <a:r>
              <a:rPr lang="en-AU" sz="1800" dirty="0">
                <a:latin typeface="Calibri" panose="020F0502020204030204" pitchFamily="34" charset="0"/>
                <a:cs typeface="Calibri" panose="020F0502020204030204" pitchFamily="34" charset="0"/>
              </a:rPr>
              <a:t>According to the ABS, Australia's population grows by 1.6% every year. With this information and from the above question, what will the 2019 population be?</a:t>
            </a:r>
          </a:p>
          <a:p>
            <a:pPr marL="514350" indent="-514350">
              <a:buFont typeface="+mj-lt"/>
              <a:buAutoNum type="arabicPeriod"/>
            </a:pPr>
            <a:r>
              <a:rPr lang="en-AU" sz="1800" dirty="0">
                <a:latin typeface="Calibri" panose="020F0502020204030204" pitchFamily="34" charset="0"/>
                <a:cs typeface="Calibri" panose="020F0502020204030204" pitchFamily="34" charset="0"/>
              </a:rPr>
              <a:t>The time is 2:45pm. I start work at 5:20pm. How long until I start work?</a:t>
            </a:r>
          </a:p>
          <a:p>
            <a:pPr marL="514350" indent="-514350">
              <a:buFont typeface="+mj-lt"/>
              <a:buAutoNum type="arabicPeriod"/>
            </a:pPr>
            <a:r>
              <a:rPr lang="en-AU" sz="1800" dirty="0">
                <a:latin typeface="Calibri" panose="020F0502020204030204" pitchFamily="34" charset="0"/>
                <a:cs typeface="Calibri" panose="020F0502020204030204" pitchFamily="34" charset="0"/>
              </a:rPr>
              <a:t>If I earn $21 an hour and I work 30 hours, what is my gross pay that week?</a:t>
            </a:r>
          </a:p>
          <a:p>
            <a:pPr marL="514350" indent="-514350">
              <a:buFont typeface="+mj-lt"/>
              <a:buAutoNum type="arabicPeriod"/>
            </a:pPr>
            <a:r>
              <a:rPr lang="en-AU" sz="1800" dirty="0">
                <a:latin typeface="Calibri" panose="020F0502020204030204" pitchFamily="34" charset="0"/>
                <a:cs typeface="Calibri" panose="020F0502020204030204" pitchFamily="34" charset="0"/>
              </a:rPr>
              <a:t>If I am taxed at 10% tax for question 4, how much would my net pay be?</a:t>
            </a:r>
          </a:p>
        </p:txBody>
      </p:sp>
      <p:sp>
        <p:nvSpPr>
          <p:cNvPr id="4" name="TextBox 3">
            <a:extLst>
              <a:ext uri="{FF2B5EF4-FFF2-40B4-BE49-F238E27FC236}">
                <a16:creationId xmlns:a16="http://schemas.microsoft.com/office/drawing/2014/main" id="{10AC7447-DB0A-4B81-AE03-DFA98075600B}"/>
              </a:ext>
            </a:extLst>
          </p:cNvPr>
          <p:cNvSpPr txBox="1"/>
          <p:nvPr/>
        </p:nvSpPr>
        <p:spPr>
          <a:xfrm>
            <a:off x="1524332" y="5097294"/>
            <a:ext cx="3290837" cy="923330"/>
          </a:xfrm>
          <a:prstGeom prst="rect">
            <a:avLst/>
          </a:prstGeom>
          <a:noFill/>
        </p:spPr>
        <p:txBody>
          <a:bodyPr wrap="none" rtlCol="0">
            <a:spAutoFit/>
          </a:bodyPr>
          <a:lstStyle/>
          <a:p>
            <a:br>
              <a:rPr lang="en-AU" sz="1800" dirty="0"/>
            </a:br>
            <a:r>
              <a:rPr lang="en-AU" sz="1800" dirty="0"/>
              <a:t>Gross pay – Total amount pre tax</a:t>
            </a:r>
            <a:br>
              <a:rPr lang="en-AU" sz="1800" dirty="0"/>
            </a:br>
            <a:r>
              <a:rPr lang="en-AU" sz="1800" dirty="0"/>
              <a:t>Net pay – Total amount after tax</a:t>
            </a:r>
            <a:endParaRPr lang="en-GH" dirty="0"/>
          </a:p>
        </p:txBody>
      </p:sp>
    </p:spTree>
    <p:extLst>
      <p:ext uri="{BB962C8B-B14F-4D97-AF65-F5344CB8AC3E}">
        <p14:creationId xmlns:p14="http://schemas.microsoft.com/office/powerpoint/2010/main" val="2540581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585216"/>
            <a:ext cx="6066816" cy="1499616"/>
          </a:xfrm>
        </p:spPr>
        <p:txBody>
          <a:bodyPr>
            <a:normAutofit/>
          </a:bodyPr>
          <a:lstStyle/>
          <a:p>
            <a:r>
              <a:rPr lang="en-AU"/>
              <a:t>Origin of the word Decimal</a:t>
            </a:r>
          </a:p>
        </p:txBody>
      </p: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1024128" y="2286000"/>
            <a:ext cx="6066816" cy="4023360"/>
          </a:xfrm>
        </p:spPr>
        <p:txBody>
          <a:bodyPr>
            <a:normAutofit/>
          </a:bodyPr>
          <a:lstStyle/>
          <a:p>
            <a:r>
              <a:rPr lang="en-AU">
                <a:latin typeface="Calibri" panose="020F0502020204030204" pitchFamily="34" charset="0"/>
                <a:cs typeface="Calibri" panose="020F0502020204030204" pitchFamily="34" charset="0"/>
              </a:rPr>
              <a:t> </a:t>
            </a:r>
            <a:r>
              <a:rPr lang="en-US" b="1">
                <a:latin typeface="Georgia" panose="02040502050405020303" pitchFamily="18" charset="0"/>
                <a:cs typeface="Calibri" panose="020F0502020204030204" pitchFamily="34" charset="0"/>
              </a:rPr>
              <a:t>Decimal</a:t>
            </a:r>
            <a:r>
              <a:rPr lang="en-US" b="1" i="0">
                <a:effectLst/>
                <a:latin typeface="Georgia" panose="02040502050405020303" pitchFamily="18" charset="0"/>
              </a:rPr>
              <a:t> (n.)</a:t>
            </a:r>
          </a:p>
          <a:p>
            <a:r>
              <a:rPr lang="en-US" b="0" i="0">
                <a:effectLst/>
                <a:latin typeface="arial" panose="020B0604020202020204" pitchFamily="34" charset="0"/>
              </a:rPr>
              <a:t>Deci is </a:t>
            </a:r>
            <a:r>
              <a:rPr lang="en-US">
                <a:latin typeface="arial" panose="020B0604020202020204" pitchFamily="34" charset="0"/>
              </a:rPr>
              <a:t>Latin for </a:t>
            </a:r>
            <a:r>
              <a:rPr lang="en-US" b="0" i="0">
                <a:effectLst/>
                <a:latin typeface="arial" panose="020B0604020202020204" pitchFamily="34" charset="0"/>
              </a:rPr>
              <a:t>‘</a:t>
            </a:r>
            <a:r>
              <a:rPr lang="en-US" b="1" i="0">
                <a:effectLst/>
                <a:latin typeface="arial" panose="020B0604020202020204" pitchFamily="34" charset="0"/>
              </a:rPr>
              <a:t>tenth</a:t>
            </a:r>
            <a:r>
              <a:rPr lang="en-US" b="0" i="0">
                <a:effectLst/>
                <a:latin typeface="arial" panose="020B0604020202020204" pitchFamily="34" charset="0"/>
              </a:rPr>
              <a:t>’ </a:t>
            </a:r>
          </a:p>
          <a:p>
            <a:r>
              <a:rPr lang="en-US" b="1">
                <a:latin typeface="arial" panose="020B0604020202020204" pitchFamily="34" charset="0"/>
              </a:rPr>
              <a:t>Decimal </a:t>
            </a:r>
            <a:r>
              <a:rPr lang="en-US">
                <a:latin typeface="arial" panose="020B0604020202020204" pitchFamily="34" charset="0"/>
              </a:rPr>
              <a:t>numbers are therefore “</a:t>
            </a:r>
            <a:r>
              <a:rPr lang="en-US" b="1">
                <a:latin typeface="arial" panose="020B0604020202020204" pitchFamily="34" charset="0"/>
              </a:rPr>
              <a:t>Base Ten”, </a:t>
            </a:r>
            <a:r>
              <a:rPr lang="en-US">
                <a:latin typeface="arial" panose="020B0604020202020204" pitchFamily="34" charset="0"/>
              </a:rPr>
              <a:t> </a:t>
            </a:r>
            <a:r>
              <a:rPr lang="en-US" b="0" i="0">
                <a:effectLst/>
                <a:latin typeface="arial" panose="020B0604020202020204" pitchFamily="34" charset="0"/>
              </a:rPr>
              <a:t>So we can use it to understand converting fractions to </a:t>
            </a:r>
            <a:r>
              <a:rPr lang="en-AU">
                <a:latin typeface="arial" panose="020B0604020202020204" pitchFamily="34" charset="0"/>
              </a:rPr>
              <a:t>decimals.</a:t>
            </a:r>
          </a:p>
          <a:p>
            <a:endParaRPr lang="en-AU">
              <a:latin typeface="arial" panose="020B0604020202020204" pitchFamily="34" charset="0"/>
              <a:cs typeface="Calibri" panose="020F0502020204030204" pitchFamily="34" charset="0"/>
            </a:endParaRPr>
          </a:p>
          <a:p>
            <a:endParaRPr lang="en-AU">
              <a:latin typeface="arial" panose="020B0604020202020204" pitchFamily="34" charset="0"/>
              <a:cs typeface="Calibri" panose="020F0502020204030204" pitchFamily="34" charset="0"/>
            </a:endParaRPr>
          </a:p>
          <a:p>
            <a:r>
              <a:rPr lang="en-AU" b="1">
                <a:latin typeface="arial" panose="020B0604020202020204" pitchFamily="34" charset="0"/>
                <a:cs typeface="Calibri" panose="020F0502020204030204" pitchFamily="34" charset="0"/>
              </a:rPr>
              <a:t>Copy into your books</a:t>
            </a:r>
            <a:endParaRPr lang="en-AU" b="1">
              <a:latin typeface="Calibri" panose="020F0502020204030204" pitchFamily="34" charset="0"/>
              <a:cs typeface="Calibri" panose="020F0502020204030204" pitchFamily="34" charset="0"/>
            </a:endParaRPr>
          </a:p>
        </p:txBody>
      </p:sp>
      <p:pic>
        <p:nvPicPr>
          <p:cNvPr id="7170" name="Picture 2" descr="Image result for decimal  funny">
            <a:extLst>
              <a:ext uri="{FF2B5EF4-FFF2-40B4-BE49-F238E27FC236}">
                <a16:creationId xmlns:a16="http://schemas.microsoft.com/office/drawing/2014/main" id="{FDB95EDE-E0AF-4CE1-B4CD-B5B9B782A2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824" t="5962" r="8824"/>
          <a:stretch/>
        </p:blipFill>
        <p:spPr bwMode="auto">
          <a:xfrm>
            <a:off x="7346127" y="280335"/>
            <a:ext cx="4413484" cy="6577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9800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F2ABC8-4FD6-4B60-92A7-BB3BEE3C1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585216"/>
            <a:ext cx="8018272" cy="1499616"/>
          </a:xfrm>
        </p:spPr>
        <p:txBody>
          <a:bodyPr>
            <a:normAutofit/>
          </a:bodyPr>
          <a:lstStyle/>
          <a:p>
            <a:r>
              <a:rPr lang="en-AU" dirty="0"/>
              <a:t>Decimals</a:t>
            </a:r>
            <a:endParaRPr lang="en-AU" dirty="0">
              <a:solidFill>
                <a:schemeClr val="accent3">
                  <a:lumMod val="50000"/>
                </a:schemeClr>
              </a:solidFill>
            </a:endParaRPr>
          </a:p>
        </p:txBody>
      </p:sp>
      <p:cxnSp>
        <p:nvCxnSpPr>
          <p:cNvPr id="10" name="Straight Connector 9">
            <a:extLst>
              <a:ext uri="{FF2B5EF4-FFF2-40B4-BE49-F238E27FC236}">
                <a16:creationId xmlns:a16="http://schemas.microsoft.com/office/drawing/2014/main" id="{DCD479D3-536C-4161-A6F8-813D30719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1024128" y="2286000"/>
            <a:ext cx="8018271" cy="4023360"/>
          </a:xfrm>
        </p:spPr>
        <p:txBody>
          <a:bodyPr>
            <a:normAutofit/>
          </a:bodyPr>
          <a:lstStyle/>
          <a:p>
            <a:pPr>
              <a:buFont typeface="Wingdings" panose="05000000000000000000" pitchFamily="2" charset="2"/>
              <a:buChar char="v"/>
            </a:pPr>
            <a:r>
              <a:rPr lang="en-US" dirty="0"/>
              <a:t>Draw a </a:t>
            </a:r>
            <a:r>
              <a:rPr lang="en-US" dirty="0" err="1"/>
              <a:t>Numberline</a:t>
            </a:r>
            <a:r>
              <a:rPr lang="en-US" dirty="0"/>
              <a:t> 0-1</a:t>
            </a:r>
          </a:p>
          <a:p>
            <a:pPr>
              <a:buFont typeface="Wingdings" panose="05000000000000000000" pitchFamily="2" charset="2"/>
              <a:buChar char="v"/>
            </a:pPr>
            <a:r>
              <a:rPr lang="en-US" dirty="0"/>
              <a:t>Consider what decimal number is close to the amount you are given and what fraction is roughly the same. Mark them on your line and explain how you worked out where each should be placed. </a:t>
            </a:r>
          </a:p>
          <a:p>
            <a:pPr>
              <a:buFont typeface="Wingdings" panose="05000000000000000000" pitchFamily="2" charset="2"/>
              <a:buChar char="v"/>
            </a:pPr>
            <a:r>
              <a:rPr lang="en-US" dirty="0"/>
              <a:t>1. 0.496     Close to:               Nearby fraction: </a:t>
            </a:r>
          </a:p>
          <a:p>
            <a:pPr>
              <a:buFont typeface="Wingdings" panose="05000000000000000000" pitchFamily="2" charset="2"/>
              <a:buChar char="v"/>
            </a:pPr>
            <a:r>
              <a:rPr lang="en-US" dirty="0"/>
              <a:t>2. 0.102     Close to:               Nearby fraction</a:t>
            </a:r>
          </a:p>
          <a:p>
            <a:pPr>
              <a:buFont typeface="Wingdings" panose="05000000000000000000" pitchFamily="2" charset="2"/>
              <a:buChar char="v"/>
            </a:pPr>
            <a:r>
              <a:rPr lang="en-US" dirty="0"/>
              <a:t>3. 0.253     Close to:               Nearby fraction: </a:t>
            </a:r>
          </a:p>
          <a:p>
            <a:pPr>
              <a:buFont typeface="Wingdings" panose="05000000000000000000" pitchFamily="2" charset="2"/>
              <a:buChar char="v"/>
            </a:pPr>
            <a:r>
              <a:rPr lang="en-US" dirty="0"/>
              <a:t>4. 0.989     Close to:               Nearby fraction: </a:t>
            </a:r>
          </a:p>
          <a:p>
            <a:pPr>
              <a:buFont typeface="Wingdings" panose="05000000000000000000" pitchFamily="2" charset="2"/>
              <a:buChar char="v"/>
            </a:pPr>
            <a:r>
              <a:rPr lang="en-US" dirty="0"/>
              <a:t>5. 0.81       Close to: :             Nearby fraction:</a:t>
            </a:r>
            <a:endParaRPr lang="en-AU" dirty="0">
              <a:solidFill>
                <a:schemeClr val="accent3">
                  <a:lumMod val="50000"/>
                </a:schemeClr>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7092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F2ABC8-4FD6-4B60-92A7-BB3BEE3C1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585216"/>
            <a:ext cx="8018272" cy="1499616"/>
          </a:xfrm>
        </p:spPr>
        <p:txBody>
          <a:bodyPr>
            <a:normAutofit/>
          </a:bodyPr>
          <a:lstStyle/>
          <a:p>
            <a:r>
              <a:rPr lang="en-AU" dirty="0"/>
              <a:t>Decimals</a:t>
            </a:r>
            <a:endParaRPr lang="en-AU" dirty="0">
              <a:solidFill>
                <a:schemeClr val="accent3">
                  <a:lumMod val="50000"/>
                </a:schemeClr>
              </a:solidFill>
            </a:endParaRPr>
          </a:p>
        </p:txBody>
      </p:sp>
      <p:cxnSp>
        <p:nvCxnSpPr>
          <p:cNvPr id="10" name="Straight Connector 9">
            <a:extLst>
              <a:ext uri="{FF2B5EF4-FFF2-40B4-BE49-F238E27FC236}">
                <a16:creationId xmlns:a16="http://schemas.microsoft.com/office/drawing/2014/main" id="{DCD479D3-536C-4161-A6F8-813D30719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321732" y="1740725"/>
            <a:ext cx="8991064" cy="4415178"/>
          </a:xfrm>
        </p:spPr>
        <p:txBody>
          <a:bodyPr>
            <a:normAutofit/>
          </a:bodyPr>
          <a:lstStyle/>
          <a:p>
            <a:pPr>
              <a:buFont typeface="Wingdings" panose="05000000000000000000" pitchFamily="2" charset="2"/>
              <a:buChar char="v"/>
            </a:pPr>
            <a:r>
              <a:rPr lang="en-US" dirty="0"/>
              <a:t>When converting between measurements it is helpful to think about whether you need more or less. For example, consider 1m. </a:t>
            </a:r>
          </a:p>
          <a:p>
            <a:pPr>
              <a:buFont typeface="Wingdings" panose="05000000000000000000" pitchFamily="2" charset="2"/>
              <a:buChar char="v"/>
            </a:pPr>
            <a:r>
              <a:rPr lang="en-US" dirty="0"/>
              <a:t>There are more cm in a m, because cm are smaller so more fit into the same space. </a:t>
            </a:r>
          </a:p>
          <a:p>
            <a:pPr>
              <a:buFont typeface="Wingdings" panose="05000000000000000000" pitchFamily="2" charset="2"/>
              <a:buChar char="v"/>
            </a:pPr>
            <a:endParaRPr lang="en-US" dirty="0"/>
          </a:p>
          <a:p>
            <a:pPr>
              <a:buFont typeface="Wingdings" panose="05000000000000000000" pitchFamily="2" charset="2"/>
              <a:buChar char="v"/>
            </a:pPr>
            <a:r>
              <a:rPr lang="en-US" dirty="0"/>
              <a:t>That means that after converting from </a:t>
            </a:r>
            <a:r>
              <a:rPr lang="en-US" dirty="0" err="1"/>
              <a:t>metres</a:t>
            </a:r>
            <a:r>
              <a:rPr lang="en-US" dirty="0"/>
              <a:t> into to centimeters, you should have a larger number. m to cm: you should have more</a:t>
            </a:r>
          </a:p>
          <a:p>
            <a:pPr>
              <a:buFont typeface="Wingdings" panose="05000000000000000000" pitchFamily="2" charset="2"/>
              <a:buChar char="v"/>
            </a:pPr>
            <a:r>
              <a:rPr lang="en-US" dirty="0"/>
              <a:t>1m = 1 (sets of 100) = 100cm 2m = 2 (sets of 100) = 200cm cm to m: you should have less 500cm = 500 (split into sets of 100) = 5m 250cm = 250 (split into sets of 100) = 2.5m</a:t>
            </a:r>
          </a:p>
        </p:txBody>
      </p:sp>
      <p:sp>
        <p:nvSpPr>
          <p:cNvPr id="12" name="Rectangle 11">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1886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F2ABC8-4FD6-4B60-92A7-BB3BEE3C1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585216"/>
            <a:ext cx="8018272" cy="1499616"/>
          </a:xfrm>
        </p:spPr>
        <p:txBody>
          <a:bodyPr>
            <a:normAutofit/>
          </a:bodyPr>
          <a:lstStyle/>
          <a:p>
            <a:r>
              <a:rPr lang="en-AU" dirty="0"/>
              <a:t>Decimals</a:t>
            </a:r>
            <a:endParaRPr lang="en-AU" dirty="0">
              <a:solidFill>
                <a:schemeClr val="accent3">
                  <a:lumMod val="50000"/>
                </a:schemeClr>
              </a:solidFill>
            </a:endParaRPr>
          </a:p>
        </p:txBody>
      </p:sp>
      <p:cxnSp>
        <p:nvCxnSpPr>
          <p:cNvPr id="10" name="Straight Connector 9">
            <a:extLst>
              <a:ext uri="{FF2B5EF4-FFF2-40B4-BE49-F238E27FC236}">
                <a16:creationId xmlns:a16="http://schemas.microsoft.com/office/drawing/2014/main" id="{DCD479D3-536C-4161-A6F8-813D30719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321732" y="2247831"/>
            <a:ext cx="9047350" cy="3376553"/>
          </a:xfrm>
        </p:spPr>
        <p:txBody>
          <a:bodyPr>
            <a:normAutofit/>
          </a:bodyPr>
          <a:lstStyle/>
          <a:p>
            <a:pPr>
              <a:buFont typeface="Wingdings" panose="05000000000000000000" pitchFamily="2" charset="2"/>
              <a:buChar char="v"/>
            </a:pPr>
            <a:r>
              <a:rPr lang="en-US" dirty="0"/>
              <a:t>Set B: Ordering and comparing lengths Compare the following sets of measurements. Use the box on the right to help you to convert them into </a:t>
            </a:r>
            <a:r>
              <a:rPr lang="en-US" dirty="0" err="1"/>
              <a:t>metres</a:t>
            </a:r>
            <a:r>
              <a:rPr lang="en-US" dirty="0"/>
              <a:t> so that you can compare them. Rewrite each set in ascending order (smallest to largest), including explaining if any numbers are equal. </a:t>
            </a:r>
          </a:p>
          <a:p>
            <a:pPr>
              <a:buFont typeface="Wingdings" panose="05000000000000000000" pitchFamily="2" charset="2"/>
              <a:buChar char="v"/>
            </a:pPr>
            <a:r>
              <a:rPr lang="en-US" dirty="0"/>
              <a:t>6. 0.5m, 0.50m, 0.05m </a:t>
            </a:r>
          </a:p>
          <a:p>
            <a:pPr>
              <a:buFont typeface="Wingdings" panose="05000000000000000000" pitchFamily="2" charset="2"/>
              <a:buChar char="v"/>
            </a:pPr>
            <a:r>
              <a:rPr lang="en-US" dirty="0"/>
              <a:t>7. 49mm, 4.9m, 49cm </a:t>
            </a:r>
          </a:p>
          <a:p>
            <a:pPr>
              <a:buFont typeface="Wingdings" panose="05000000000000000000" pitchFamily="2" charset="2"/>
              <a:buChar char="v"/>
            </a:pPr>
            <a:r>
              <a:rPr lang="en-US" dirty="0"/>
              <a:t>8. 2.5cm, 250mm, 0.0025m </a:t>
            </a:r>
          </a:p>
          <a:p>
            <a:pPr>
              <a:buFont typeface="Wingdings" panose="05000000000000000000" pitchFamily="2" charset="2"/>
              <a:buChar char="v"/>
            </a:pPr>
            <a:r>
              <a:rPr lang="en-US" dirty="0"/>
              <a:t>9. 0.5m, 5cm, 0.50cm</a:t>
            </a:r>
          </a:p>
        </p:txBody>
      </p:sp>
      <p:sp>
        <p:nvSpPr>
          <p:cNvPr id="12" name="Rectangle 11">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80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F2ABC8-4FD6-4B60-92A7-BB3BEE3C1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585216"/>
            <a:ext cx="8018272" cy="1499616"/>
          </a:xfrm>
        </p:spPr>
        <p:txBody>
          <a:bodyPr>
            <a:normAutofit/>
          </a:bodyPr>
          <a:lstStyle/>
          <a:p>
            <a:r>
              <a:rPr lang="en-AU" dirty="0"/>
              <a:t>Decimals</a:t>
            </a:r>
            <a:endParaRPr lang="en-AU" dirty="0">
              <a:solidFill>
                <a:schemeClr val="accent3">
                  <a:lumMod val="50000"/>
                </a:schemeClr>
              </a:solidFill>
            </a:endParaRPr>
          </a:p>
        </p:txBody>
      </p:sp>
      <p:cxnSp>
        <p:nvCxnSpPr>
          <p:cNvPr id="10" name="Straight Connector 9">
            <a:extLst>
              <a:ext uri="{FF2B5EF4-FFF2-40B4-BE49-F238E27FC236}">
                <a16:creationId xmlns:a16="http://schemas.microsoft.com/office/drawing/2014/main" id="{DCD479D3-536C-4161-A6F8-813D30719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321731" y="1941343"/>
            <a:ext cx="9061411" cy="3683042"/>
          </a:xfrm>
        </p:spPr>
        <p:txBody>
          <a:bodyPr>
            <a:normAutofit/>
          </a:bodyPr>
          <a:lstStyle/>
          <a:p>
            <a:pPr>
              <a:buFont typeface="Wingdings" panose="05000000000000000000" pitchFamily="2" charset="2"/>
              <a:buChar char="v"/>
            </a:pPr>
            <a:r>
              <a:rPr lang="en-US" dirty="0"/>
              <a:t>Ordering – More practice</a:t>
            </a:r>
          </a:p>
          <a:p>
            <a:pPr>
              <a:buFont typeface="Wingdings" panose="05000000000000000000" pitchFamily="2" charset="2"/>
              <a:buChar char="v"/>
            </a:pPr>
            <a:r>
              <a:rPr lang="en-US" dirty="0"/>
              <a:t>Write these numbers in order of size. Start with the smallest number.           </a:t>
            </a:r>
          </a:p>
          <a:p>
            <a:pPr>
              <a:buFont typeface="Wingdings" panose="05000000000000000000" pitchFamily="2" charset="2"/>
              <a:buChar char="v"/>
            </a:pPr>
            <a:r>
              <a:rPr lang="en-US" dirty="0">
                <a:solidFill>
                  <a:srgbClr val="00B050"/>
                </a:solidFill>
              </a:rPr>
              <a:t>1. 0.92, 0.901,0.99, 0.099, 0.909</a:t>
            </a:r>
          </a:p>
          <a:p>
            <a:pPr>
              <a:buFont typeface="Wingdings" panose="05000000000000000000" pitchFamily="2" charset="2"/>
              <a:buChar char="v"/>
            </a:pPr>
            <a:r>
              <a:rPr lang="en-US" dirty="0">
                <a:solidFill>
                  <a:srgbClr val="00B050"/>
                </a:solidFill>
              </a:rPr>
              <a:t>2. </a:t>
            </a:r>
            <a:r>
              <a:rPr lang="en-GH" dirty="0">
                <a:solidFill>
                  <a:srgbClr val="00B050"/>
                </a:solidFill>
              </a:rPr>
              <a:t>4.2</a:t>
            </a:r>
            <a:r>
              <a:rPr lang="en-US" dirty="0">
                <a:solidFill>
                  <a:srgbClr val="00B050"/>
                </a:solidFill>
              </a:rPr>
              <a:t>, </a:t>
            </a:r>
            <a:r>
              <a:rPr lang="en-GH" dirty="0">
                <a:solidFill>
                  <a:srgbClr val="00B050"/>
                </a:solidFill>
              </a:rPr>
              <a:t>0.42</a:t>
            </a:r>
            <a:r>
              <a:rPr lang="en-US" dirty="0">
                <a:solidFill>
                  <a:srgbClr val="00B050"/>
                </a:solidFill>
              </a:rPr>
              <a:t>,</a:t>
            </a:r>
            <a:r>
              <a:rPr lang="en-GH" dirty="0">
                <a:solidFill>
                  <a:srgbClr val="00B050"/>
                </a:solidFill>
              </a:rPr>
              <a:t> 0.024</a:t>
            </a:r>
            <a:r>
              <a:rPr lang="en-US" dirty="0">
                <a:solidFill>
                  <a:srgbClr val="00B050"/>
                </a:solidFill>
              </a:rPr>
              <a:t>,</a:t>
            </a:r>
            <a:r>
              <a:rPr lang="en-GH" dirty="0">
                <a:solidFill>
                  <a:srgbClr val="00B050"/>
                </a:solidFill>
              </a:rPr>
              <a:t> 0.93</a:t>
            </a:r>
            <a:r>
              <a:rPr lang="en-US" dirty="0">
                <a:solidFill>
                  <a:srgbClr val="00B050"/>
                </a:solidFill>
              </a:rPr>
              <a:t>,</a:t>
            </a:r>
            <a:r>
              <a:rPr lang="en-GH" dirty="0">
                <a:solidFill>
                  <a:srgbClr val="00B050"/>
                </a:solidFill>
              </a:rPr>
              <a:t> 0.039</a:t>
            </a:r>
            <a:endParaRPr lang="en-US" dirty="0">
              <a:solidFill>
                <a:srgbClr val="00B050"/>
              </a:solidFill>
            </a:endParaRPr>
          </a:p>
          <a:p>
            <a:pPr>
              <a:buFont typeface="Wingdings" panose="05000000000000000000" pitchFamily="2" charset="2"/>
              <a:buChar char="v"/>
            </a:pPr>
            <a:r>
              <a:rPr lang="en-US" dirty="0">
                <a:solidFill>
                  <a:srgbClr val="00B050"/>
                </a:solidFill>
              </a:rPr>
              <a:t>3. Five boys take part in a long jump competition. The distances jumped were: 4.31m, 4.08m, 4.1m, 4.093m, 4.51m </a:t>
            </a:r>
          </a:p>
          <a:p>
            <a:pPr>
              <a:buFont typeface="Wingdings" panose="05000000000000000000" pitchFamily="2" charset="2"/>
              <a:buChar char="v"/>
            </a:pPr>
            <a:r>
              <a:rPr lang="en-US" dirty="0">
                <a:solidFill>
                  <a:srgbClr val="00B050"/>
                </a:solidFill>
              </a:rPr>
              <a:t>(a) Write down the distance of the longest jump             </a:t>
            </a:r>
          </a:p>
          <a:p>
            <a:pPr>
              <a:buFont typeface="Wingdings" panose="05000000000000000000" pitchFamily="2" charset="2"/>
              <a:buChar char="v"/>
            </a:pPr>
            <a:r>
              <a:rPr lang="en-US" dirty="0">
                <a:solidFill>
                  <a:srgbClr val="00B050"/>
                </a:solidFill>
              </a:rPr>
              <a:t>(b) Put the jumps in order, starting with the shortest.</a:t>
            </a:r>
          </a:p>
          <a:p>
            <a:pPr>
              <a:buFont typeface="Wingdings" panose="05000000000000000000" pitchFamily="2" charset="2"/>
              <a:buChar char="v"/>
            </a:pPr>
            <a:endParaRPr lang="en-US" dirty="0"/>
          </a:p>
        </p:txBody>
      </p:sp>
      <p:sp>
        <p:nvSpPr>
          <p:cNvPr id="12" name="Rectangle 11">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5169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F2ABC8-4FD6-4B60-92A7-BB3BEE3C1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585216"/>
            <a:ext cx="8018272" cy="1499616"/>
          </a:xfrm>
        </p:spPr>
        <p:txBody>
          <a:bodyPr>
            <a:normAutofit/>
          </a:bodyPr>
          <a:lstStyle/>
          <a:p>
            <a:r>
              <a:rPr lang="en-AU" dirty="0"/>
              <a:t>Decimals</a:t>
            </a:r>
            <a:endParaRPr lang="en-AU" dirty="0">
              <a:solidFill>
                <a:schemeClr val="accent3">
                  <a:lumMod val="50000"/>
                </a:schemeClr>
              </a:solidFill>
            </a:endParaRPr>
          </a:p>
        </p:txBody>
      </p:sp>
      <p:cxnSp>
        <p:nvCxnSpPr>
          <p:cNvPr id="10" name="Straight Connector 9">
            <a:extLst>
              <a:ext uri="{FF2B5EF4-FFF2-40B4-BE49-F238E27FC236}">
                <a16:creationId xmlns:a16="http://schemas.microsoft.com/office/drawing/2014/main" id="{DCD479D3-536C-4161-A6F8-813D30719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321731" y="1941343"/>
            <a:ext cx="9061411" cy="3683042"/>
          </a:xfrm>
        </p:spPr>
        <p:txBody>
          <a:bodyPr>
            <a:normAutofit/>
          </a:bodyPr>
          <a:lstStyle/>
          <a:p>
            <a:pPr>
              <a:buFont typeface="Wingdings" panose="05000000000000000000" pitchFamily="2" charset="2"/>
              <a:buChar char="v"/>
            </a:pPr>
            <a:r>
              <a:rPr lang="en-US" dirty="0"/>
              <a:t>Set C: Rounding decimal numbers In Set A above you considered what decimal number was close to the one you were given. </a:t>
            </a:r>
          </a:p>
          <a:p>
            <a:pPr>
              <a:buFont typeface="Wingdings" panose="05000000000000000000" pitchFamily="2" charset="2"/>
              <a:buChar char="v"/>
            </a:pPr>
            <a:r>
              <a:rPr lang="en-US" dirty="0"/>
              <a:t>This is an informal way of rounding. When we are rounding numbers, we consider which number on either side is closest to our amount. </a:t>
            </a:r>
          </a:p>
          <a:p>
            <a:pPr>
              <a:buFont typeface="Wingdings" panose="05000000000000000000" pitchFamily="2" charset="2"/>
              <a:buChar char="v"/>
            </a:pPr>
            <a:r>
              <a:rPr lang="en-US" dirty="0"/>
              <a:t>For example, if rounding 0.463 to the nearest one we would consider if it was closer to 0 or 1; if rounding it to the nearest tenth we would consider if it was closer to 0.4 or 0.5; if rounding it to the nearest hundredth we would consider if it was closer to 0.46 or 0.47. </a:t>
            </a:r>
          </a:p>
          <a:p>
            <a:pPr>
              <a:buFont typeface="Wingdings" panose="05000000000000000000" pitchFamily="2" charset="2"/>
              <a:buChar char="v"/>
            </a:pPr>
            <a:r>
              <a:rPr lang="en-US" dirty="0"/>
              <a:t>What’s the important number when it comes to rounding? When you decide if you round up or down.</a:t>
            </a:r>
          </a:p>
        </p:txBody>
      </p:sp>
      <p:sp>
        <p:nvSpPr>
          <p:cNvPr id="12" name="Rectangle 11">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7102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F2ABC8-4FD6-4B60-92A7-BB3BEE3C1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585216"/>
            <a:ext cx="8018272" cy="1499616"/>
          </a:xfrm>
        </p:spPr>
        <p:txBody>
          <a:bodyPr>
            <a:normAutofit/>
          </a:bodyPr>
          <a:lstStyle/>
          <a:p>
            <a:r>
              <a:rPr lang="en-AU" dirty="0"/>
              <a:t>Decimals</a:t>
            </a:r>
            <a:endParaRPr lang="en-AU" dirty="0">
              <a:solidFill>
                <a:schemeClr val="accent3">
                  <a:lumMod val="50000"/>
                </a:schemeClr>
              </a:solidFill>
            </a:endParaRPr>
          </a:p>
        </p:txBody>
      </p:sp>
      <p:cxnSp>
        <p:nvCxnSpPr>
          <p:cNvPr id="10" name="Straight Connector 9">
            <a:extLst>
              <a:ext uri="{FF2B5EF4-FFF2-40B4-BE49-F238E27FC236}">
                <a16:creationId xmlns:a16="http://schemas.microsoft.com/office/drawing/2014/main" id="{DCD479D3-536C-4161-A6F8-813D30719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321731" y="1941343"/>
            <a:ext cx="9061411" cy="3683042"/>
          </a:xfrm>
        </p:spPr>
        <p:txBody>
          <a:bodyPr>
            <a:normAutofit/>
          </a:bodyPr>
          <a:lstStyle/>
          <a:p>
            <a:pPr>
              <a:buFont typeface="Wingdings" panose="05000000000000000000" pitchFamily="2" charset="2"/>
              <a:buChar char="v"/>
            </a:pPr>
            <a:r>
              <a:rPr lang="en-US" dirty="0"/>
              <a:t>Complete the table to round the following numbers. </a:t>
            </a:r>
          </a:p>
        </p:txBody>
      </p:sp>
      <p:sp>
        <p:nvSpPr>
          <p:cNvPr id="12" name="Rectangle 11">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4">
            <a:extLst>
              <a:ext uri="{FF2B5EF4-FFF2-40B4-BE49-F238E27FC236}">
                <a16:creationId xmlns:a16="http://schemas.microsoft.com/office/drawing/2014/main" id="{94198B29-C62D-45E7-8DD9-A0D05632F97C}"/>
              </a:ext>
            </a:extLst>
          </p:cNvPr>
          <p:cNvGraphicFramePr>
            <a:graphicFrameLocks noGrp="1"/>
          </p:cNvGraphicFramePr>
          <p:nvPr>
            <p:extLst>
              <p:ext uri="{D42A27DB-BD31-4B8C-83A1-F6EECF244321}">
                <p14:modId xmlns:p14="http://schemas.microsoft.com/office/powerpoint/2010/main" val="1702323795"/>
              </p:ext>
            </p:extLst>
          </p:nvPr>
        </p:nvGraphicFramePr>
        <p:xfrm>
          <a:off x="788436" y="2918969"/>
          <a:ext cx="8128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172396767"/>
                    </a:ext>
                  </a:extLst>
                </a:gridCol>
                <a:gridCol w="2032000">
                  <a:extLst>
                    <a:ext uri="{9D8B030D-6E8A-4147-A177-3AD203B41FA5}">
                      <a16:colId xmlns:a16="http://schemas.microsoft.com/office/drawing/2014/main" val="3756491822"/>
                    </a:ext>
                  </a:extLst>
                </a:gridCol>
                <a:gridCol w="2032000">
                  <a:extLst>
                    <a:ext uri="{9D8B030D-6E8A-4147-A177-3AD203B41FA5}">
                      <a16:colId xmlns:a16="http://schemas.microsoft.com/office/drawing/2014/main" val="572604265"/>
                    </a:ext>
                  </a:extLst>
                </a:gridCol>
                <a:gridCol w="2032000">
                  <a:extLst>
                    <a:ext uri="{9D8B030D-6E8A-4147-A177-3AD203B41FA5}">
                      <a16:colId xmlns:a16="http://schemas.microsoft.com/office/drawing/2014/main" val="1197917946"/>
                    </a:ext>
                  </a:extLst>
                </a:gridCol>
              </a:tblGrid>
              <a:tr h="370840">
                <a:tc>
                  <a:txBody>
                    <a:bodyPr/>
                    <a:lstStyle/>
                    <a:p>
                      <a:r>
                        <a:rPr lang="en-AU" dirty="0"/>
                        <a:t>Original Number</a:t>
                      </a:r>
                    </a:p>
                  </a:txBody>
                  <a:tcPr/>
                </a:tc>
                <a:tc>
                  <a:txBody>
                    <a:bodyPr/>
                    <a:lstStyle/>
                    <a:p>
                      <a:r>
                        <a:rPr lang="en-AU" dirty="0"/>
                        <a:t>Nearest one</a:t>
                      </a:r>
                    </a:p>
                  </a:txBody>
                  <a:tcPr/>
                </a:tc>
                <a:tc>
                  <a:txBody>
                    <a:bodyPr/>
                    <a:lstStyle/>
                    <a:p>
                      <a:r>
                        <a:rPr lang="en-AU" dirty="0"/>
                        <a:t>Nearest tenth</a:t>
                      </a:r>
                    </a:p>
                  </a:txBody>
                  <a:tcPr/>
                </a:tc>
                <a:tc>
                  <a:txBody>
                    <a:bodyPr/>
                    <a:lstStyle/>
                    <a:p>
                      <a:r>
                        <a:rPr lang="en-AU" dirty="0"/>
                        <a:t>Nearest hundredth</a:t>
                      </a:r>
                    </a:p>
                  </a:txBody>
                  <a:tcPr/>
                </a:tc>
                <a:extLst>
                  <a:ext uri="{0D108BD9-81ED-4DB2-BD59-A6C34878D82A}">
                    <a16:rowId xmlns:a16="http://schemas.microsoft.com/office/drawing/2014/main" val="3368631857"/>
                  </a:ext>
                </a:extLst>
              </a:tr>
              <a:tr h="370840">
                <a:tc>
                  <a:txBody>
                    <a:bodyPr/>
                    <a:lstStyle/>
                    <a:p>
                      <a:r>
                        <a:rPr lang="en-AU" dirty="0"/>
                        <a:t>0.463</a:t>
                      </a:r>
                    </a:p>
                  </a:txBody>
                  <a:tcPr/>
                </a:tc>
                <a:tc>
                  <a:txBody>
                    <a:bodyPr/>
                    <a:lstStyle/>
                    <a:p>
                      <a:endParaRPr lang="en-AU" dirty="0"/>
                    </a:p>
                  </a:txBody>
                  <a:tcPr/>
                </a:tc>
                <a:tc>
                  <a:txBody>
                    <a:bodyPr/>
                    <a:lstStyle/>
                    <a:p>
                      <a:endParaRPr lang="en-AU"/>
                    </a:p>
                  </a:txBody>
                  <a:tcPr/>
                </a:tc>
                <a:tc>
                  <a:txBody>
                    <a:bodyPr/>
                    <a:lstStyle/>
                    <a:p>
                      <a:endParaRPr lang="en-AU"/>
                    </a:p>
                  </a:txBody>
                  <a:tcPr/>
                </a:tc>
                <a:extLst>
                  <a:ext uri="{0D108BD9-81ED-4DB2-BD59-A6C34878D82A}">
                    <a16:rowId xmlns:a16="http://schemas.microsoft.com/office/drawing/2014/main" val="712994350"/>
                  </a:ext>
                </a:extLst>
              </a:tr>
              <a:tr h="370840">
                <a:tc>
                  <a:txBody>
                    <a:bodyPr/>
                    <a:lstStyle/>
                    <a:p>
                      <a:r>
                        <a:rPr lang="en-AU" dirty="0"/>
                        <a:t>0.555</a:t>
                      </a:r>
                    </a:p>
                  </a:txBody>
                  <a:tcPr/>
                </a:tc>
                <a:tc>
                  <a:txBody>
                    <a:bodyPr/>
                    <a:lstStyle/>
                    <a:p>
                      <a:endParaRPr lang="en-AU"/>
                    </a:p>
                  </a:txBody>
                  <a:tcPr/>
                </a:tc>
                <a:tc>
                  <a:txBody>
                    <a:bodyPr/>
                    <a:lstStyle/>
                    <a:p>
                      <a:endParaRPr lang="en-AU"/>
                    </a:p>
                  </a:txBody>
                  <a:tcPr/>
                </a:tc>
                <a:tc>
                  <a:txBody>
                    <a:bodyPr/>
                    <a:lstStyle/>
                    <a:p>
                      <a:endParaRPr lang="en-AU"/>
                    </a:p>
                  </a:txBody>
                  <a:tcPr/>
                </a:tc>
                <a:extLst>
                  <a:ext uri="{0D108BD9-81ED-4DB2-BD59-A6C34878D82A}">
                    <a16:rowId xmlns:a16="http://schemas.microsoft.com/office/drawing/2014/main" val="1112299765"/>
                  </a:ext>
                </a:extLst>
              </a:tr>
              <a:tr h="370840">
                <a:tc>
                  <a:txBody>
                    <a:bodyPr/>
                    <a:lstStyle/>
                    <a:p>
                      <a:r>
                        <a:rPr lang="en-AU" dirty="0"/>
                        <a:t>0.494</a:t>
                      </a:r>
                    </a:p>
                  </a:txBody>
                  <a:tcPr/>
                </a:tc>
                <a:tc>
                  <a:txBody>
                    <a:bodyPr/>
                    <a:lstStyle/>
                    <a:p>
                      <a:endParaRPr lang="en-AU"/>
                    </a:p>
                  </a:txBody>
                  <a:tcPr/>
                </a:tc>
                <a:tc>
                  <a:txBody>
                    <a:bodyPr/>
                    <a:lstStyle/>
                    <a:p>
                      <a:endParaRPr lang="en-AU"/>
                    </a:p>
                  </a:txBody>
                  <a:tcPr/>
                </a:tc>
                <a:tc>
                  <a:txBody>
                    <a:bodyPr/>
                    <a:lstStyle/>
                    <a:p>
                      <a:endParaRPr lang="en-AU"/>
                    </a:p>
                  </a:txBody>
                  <a:tcPr/>
                </a:tc>
                <a:extLst>
                  <a:ext uri="{0D108BD9-81ED-4DB2-BD59-A6C34878D82A}">
                    <a16:rowId xmlns:a16="http://schemas.microsoft.com/office/drawing/2014/main" val="2084255602"/>
                  </a:ext>
                </a:extLst>
              </a:tr>
              <a:tr h="370840">
                <a:tc>
                  <a:txBody>
                    <a:bodyPr/>
                    <a:lstStyle/>
                    <a:p>
                      <a:r>
                        <a:rPr lang="en-AU" dirty="0"/>
                        <a:t>0.209</a:t>
                      </a:r>
                    </a:p>
                  </a:txBody>
                  <a:tcPr/>
                </a:tc>
                <a:tc>
                  <a:txBody>
                    <a:bodyPr/>
                    <a:lstStyle/>
                    <a:p>
                      <a:endParaRPr lang="en-AU"/>
                    </a:p>
                  </a:txBody>
                  <a:tcPr/>
                </a:tc>
                <a:tc>
                  <a:txBody>
                    <a:bodyPr/>
                    <a:lstStyle/>
                    <a:p>
                      <a:endParaRPr lang="en-AU"/>
                    </a:p>
                  </a:txBody>
                  <a:tcPr/>
                </a:tc>
                <a:tc>
                  <a:txBody>
                    <a:bodyPr/>
                    <a:lstStyle/>
                    <a:p>
                      <a:endParaRPr lang="en-AU" dirty="0"/>
                    </a:p>
                  </a:txBody>
                  <a:tcPr/>
                </a:tc>
                <a:extLst>
                  <a:ext uri="{0D108BD9-81ED-4DB2-BD59-A6C34878D82A}">
                    <a16:rowId xmlns:a16="http://schemas.microsoft.com/office/drawing/2014/main" val="1694808163"/>
                  </a:ext>
                </a:extLst>
              </a:tr>
            </a:tbl>
          </a:graphicData>
        </a:graphic>
      </p:graphicFrame>
    </p:spTree>
    <p:extLst>
      <p:ext uri="{BB962C8B-B14F-4D97-AF65-F5344CB8AC3E}">
        <p14:creationId xmlns:p14="http://schemas.microsoft.com/office/powerpoint/2010/main" val="1160826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7" y="585216"/>
            <a:ext cx="9871399" cy="1499616"/>
          </a:xfrm>
        </p:spPr>
        <p:txBody>
          <a:bodyPr>
            <a:normAutofit/>
          </a:bodyPr>
          <a:lstStyle/>
          <a:p>
            <a:endParaRPr lang="en-AU" dirty="0">
              <a:solidFill>
                <a:schemeClr val="accent3">
                  <a:lumMod val="50000"/>
                </a:schemeClr>
              </a:solidFill>
            </a:endParaRPr>
          </a:p>
        </p:txBody>
      </p:sp>
      <p:sp>
        <p:nvSpPr>
          <p:cNvPr id="5" name="Content Placeholder 4">
            <a:extLst>
              <a:ext uri="{FF2B5EF4-FFF2-40B4-BE49-F238E27FC236}">
                <a16:creationId xmlns:a16="http://schemas.microsoft.com/office/drawing/2014/main" id="{E947B9E2-CA76-4652-B6B9-B5704FD065E3}"/>
              </a:ext>
            </a:extLst>
          </p:cNvPr>
          <p:cNvSpPr>
            <a:spLocks noGrp="1"/>
          </p:cNvSpPr>
          <p:nvPr>
            <p:ph idx="1"/>
          </p:nvPr>
        </p:nvSpPr>
        <p:spPr/>
        <p:txBody>
          <a:bodyPr/>
          <a:lstStyle/>
          <a:p>
            <a:endParaRPr lang="en-AU"/>
          </a:p>
        </p:txBody>
      </p:sp>
      <p:pic>
        <p:nvPicPr>
          <p:cNvPr id="7" name="Picture 6">
            <a:extLst>
              <a:ext uri="{FF2B5EF4-FFF2-40B4-BE49-F238E27FC236}">
                <a16:creationId xmlns:a16="http://schemas.microsoft.com/office/drawing/2014/main" id="{EA54CD3B-68EE-4910-9CDB-4F38852F6B91}"/>
              </a:ext>
            </a:extLst>
          </p:cNvPr>
          <p:cNvPicPr>
            <a:picLocks noChangeAspect="1"/>
          </p:cNvPicPr>
          <p:nvPr/>
        </p:nvPicPr>
        <p:blipFill rotWithShape="1">
          <a:blip r:embed="rId3"/>
          <a:srcRect l="11875" t="17550" r="52738" b="10669"/>
          <a:stretch/>
        </p:blipFill>
        <p:spPr>
          <a:xfrm>
            <a:off x="2598057" y="101601"/>
            <a:ext cx="7315199" cy="6473372"/>
          </a:xfrm>
          <a:prstGeom prst="rect">
            <a:avLst/>
          </a:prstGeom>
        </p:spPr>
      </p:pic>
    </p:spTree>
    <p:extLst>
      <p:ext uri="{BB962C8B-B14F-4D97-AF65-F5344CB8AC3E}">
        <p14:creationId xmlns:p14="http://schemas.microsoft.com/office/powerpoint/2010/main" val="1628318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91E209-E628-4C32-B571-BF00FB683DFD}"/>
              </a:ext>
            </a:extLst>
          </p:cNvPr>
          <p:cNvSpPr>
            <a:spLocks noGrp="1"/>
          </p:cNvSpPr>
          <p:nvPr>
            <p:ph type="title"/>
          </p:nvPr>
        </p:nvSpPr>
        <p:spPr>
          <a:xfrm>
            <a:off x="1024128" y="585216"/>
            <a:ext cx="5902061" cy="1499616"/>
          </a:xfrm>
        </p:spPr>
        <p:txBody>
          <a:bodyPr>
            <a:normAutofit/>
          </a:bodyPr>
          <a:lstStyle/>
          <a:p>
            <a:r>
              <a:rPr lang="en-AU"/>
              <a:t>Thank you</a:t>
            </a:r>
          </a:p>
        </p:txBody>
      </p:sp>
      <p:sp>
        <p:nvSpPr>
          <p:cNvPr id="5" name="Content Placeholder 4">
            <a:extLst>
              <a:ext uri="{FF2B5EF4-FFF2-40B4-BE49-F238E27FC236}">
                <a16:creationId xmlns:a16="http://schemas.microsoft.com/office/drawing/2014/main" id="{F2A5B7C2-6C39-4AFA-9B5D-C3F3C81B941B}"/>
              </a:ext>
            </a:extLst>
          </p:cNvPr>
          <p:cNvSpPr>
            <a:spLocks noGrp="1"/>
          </p:cNvSpPr>
          <p:nvPr>
            <p:ph idx="1"/>
          </p:nvPr>
        </p:nvSpPr>
        <p:spPr>
          <a:xfrm>
            <a:off x="1024128" y="2286000"/>
            <a:ext cx="5902061" cy="3931920"/>
          </a:xfrm>
        </p:spPr>
        <p:txBody>
          <a:bodyPr>
            <a:normAutofit lnSpcReduction="10000"/>
          </a:bodyPr>
          <a:lstStyle/>
          <a:p>
            <a:r>
              <a:rPr lang="en-AU" dirty="0">
                <a:latin typeface="Calibri" panose="020F0502020204030204" pitchFamily="34" charset="0"/>
                <a:cs typeface="Calibri" panose="020F0502020204030204" pitchFamily="34" charset="0"/>
              </a:rPr>
              <a:t>Keep up the good work!</a:t>
            </a:r>
          </a:p>
          <a:p>
            <a:endParaRPr lang="en-AU" dirty="0">
              <a:latin typeface="Calibri" panose="020F0502020204030204" pitchFamily="34" charset="0"/>
              <a:cs typeface="Calibri" panose="020F0502020204030204" pitchFamily="34" charset="0"/>
            </a:endParaRPr>
          </a:p>
          <a:p>
            <a:r>
              <a:rPr lang="en-AU" dirty="0">
                <a:latin typeface="Calibri" panose="020F0502020204030204" pitchFamily="34" charset="0"/>
                <a:cs typeface="Calibri" panose="020F0502020204030204" pitchFamily="34" charset="0"/>
              </a:rPr>
              <a:t>Quote of the day – </a:t>
            </a:r>
          </a:p>
          <a:p>
            <a:endParaRPr lang="en-AU" dirty="0">
              <a:latin typeface="Calibri" panose="020F0502020204030204" pitchFamily="34" charset="0"/>
              <a:cs typeface="Calibri" panose="020F0502020204030204" pitchFamily="34" charset="0"/>
            </a:endParaRPr>
          </a:p>
          <a:p>
            <a:r>
              <a:rPr lang="en-AU" sz="4000" dirty="0">
                <a:latin typeface="Calibri" panose="020F0502020204030204" pitchFamily="34" charset="0"/>
                <a:cs typeface="Calibri" panose="020F0502020204030204" pitchFamily="34" charset="0"/>
              </a:rPr>
              <a:t>IF YOU ALWAYS DO WHAT YOU’VE ALWAYS DONE, YOU’LL ALWAYS GET WHAT YOU’VE ALWAYS GOT</a:t>
            </a:r>
          </a:p>
          <a:p>
            <a:endParaRPr lang="en-AU" dirty="0">
              <a:latin typeface="Calibri" panose="020F0502020204030204" pitchFamily="34" charset="0"/>
              <a:cs typeface="Calibri" panose="020F0502020204030204" pitchFamily="34" charset="0"/>
            </a:endParaRPr>
          </a:p>
        </p:txBody>
      </p:sp>
      <p:pic>
        <p:nvPicPr>
          <p:cNvPr id="9" name="Graphic 8" descr="Smiling Face with No Fill">
            <a:extLst>
              <a:ext uri="{FF2B5EF4-FFF2-40B4-BE49-F238E27FC236}">
                <a16:creationId xmlns:a16="http://schemas.microsoft.com/office/drawing/2014/main" id="{10954B83-DCF2-4288-9017-12D8B7B8E4D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52267" y="1429173"/>
            <a:ext cx="3999654" cy="3999654"/>
          </a:xfrm>
          <a:prstGeom prst="rect">
            <a:avLst/>
          </a:prstGeom>
        </p:spPr>
      </p:pic>
    </p:spTree>
    <p:extLst>
      <p:ext uri="{BB962C8B-B14F-4D97-AF65-F5344CB8AC3E}">
        <p14:creationId xmlns:p14="http://schemas.microsoft.com/office/powerpoint/2010/main" val="33725730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C1C93EF2-4785-427F-84A5-F1666490E9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1950</TotalTime>
  <Words>1029</Words>
  <Application>Microsoft Office PowerPoint</Application>
  <PresentationFormat>Widescreen</PresentationFormat>
  <Paragraphs>103</Paragraphs>
  <Slides>13</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Georgia</vt:lpstr>
      <vt:lpstr>Tw Cen MT</vt:lpstr>
      <vt:lpstr>Tw Cen MT Condensed</vt:lpstr>
      <vt:lpstr>Wingdings</vt:lpstr>
      <vt:lpstr>Wingdings 3</vt:lpstr>
      <vt:lpstr>Integral</vt:lpstr>
      <vt:lpstr>Topic: Apply Relative Decimals  EQ: How do you round and estimate with decimals?</vt:lpstr>
      <vt:lpstr>Things Required For This Lesson</vt:lpstr>
      <vt:lpstr>PowerPoint Presentation</vt:lpstr>
      <vt:lpstr>Interleave Questions set 2  Q7 -9 </vt:lpstr>
      <vt:lpstr>Origin of the word Decimal</vt:lpstr>
      <vt:lpstr>Decimals</vt:lpstr>
      <vt:lpstr>Decimals</vt:lpstr>
      <vt:lpstr>Decimals</vt:lpstr>
      <vt:lpstr>Decimals</vt:lpstr>
      <vt:lpstr>Decimals</vt:lpstr>
      <vt:lpstr>Decimals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Addition and Perimeter EQ: How do you use known and unknown information to find perimeter?</dc:title>
  <dc:creator>WATSON Justin [Baldivis Secondary College]</dc:creator>
  <cp:lastModifiedBy>WATSON Justin [Baldivis Secondary College]</cp:lastModifiedBy>
  <cp:revision>7</cp:revision>
  <dcterms:created xsi:type="dcterms:W3CDTF">2021-02-11T13:20:57Z</dcterms:created>
  <dcterms:modified xsi:type="dcterms:W3CDTF">2021-02-14T00:35:19Z</dcterms:modified>
</cp:coreProperties>
</file>
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5"/>
  </p:notesMasterIdLst>
  <p:sldIdLst>
    <p:sldId id="256" r:id="rId2"/>
    <p:sldId id="257" r:id="rId3"/>
    <p:sldId id="311" r:id="rId4"/>
    <p:sldId id="355" r:id="rId5"/>
    <p:sldId id="335" r:id="rId6"/>
    <p:sldId id="350" r:id="rId7"/>
    <p:sldId id="343" r:id="rId8"/>
    <p:sldId id="348" r:id="rId9"/>
    <p:sldId id="346" r:id="rId10"/>
    <p:sldId id="352" r:id="rId11"/>
    <p:sldId id="354" r:id="rId12"/>
    <p:sldId id="358" r:id="rId13"/>
    <p:sldId id="32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4" autoAdjust="0"/>
    <p:restoredTop sz="75396" autoAdjust="0"/>
  </p:normalViewPr>
  <p:slideViewPr>
    <p:cSldViewPr snapToGrid="0">
      <p:cViewPr varScale="1">
        <p:scale>
          <a:sx n="86" d="100"/>
          <a:sy n="86" d="100"/>
        </p:scale>
        <p:origin x="63" y="2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24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373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9472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3026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9227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Division with array</a:t>
            </a:r>
            <a:br>
              <a:rPr lang="en-AU" sz="4000" dirty="0"/>
            </a:br>
            <a:r>
              <a:rPr lang="en-AU" sz="4000" dirty="0"/>
              <a:t>EQ: How do I apply the division with array strategy?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817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Division with array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apply the division with array strategy?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12/02/2021</a:t>
            </a: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8B7D4F-A74D-4F1F-94DF-747E9C4A30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998"/>
          <a:stretch/>
        </p:blipFill>
        <p:spPr>
          <a:xfrm>
            <a:off x="0" y="2307101"/>
            <a:ext cx="11801398" cy="28979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AA4B3F-316E-41BE-9AC0-7CDAA8A76988}"/>
              </a:ext>
            </a:extLst>
          </p:cNvPr>
          <p:cNvSpPr txBox="1"/>
          <p:nvPr/>
        </p:nvSpPr>
        <p:spPr>
          <a:xfrm>
            <a:off x="754672" y="196208"/>
            <a:ext cx="3817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Division with array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30C58-9BD1-45ED-844E-00AC602EAE29}"/>
              </a:ext>
            </a:extLst>
          </p:cNvPr>
          <p:cNvSpPr txBox="1"/>
          <p:nvPr/>
        </p:nvSpPr>
        <p:spPr>
          <a:xfrm>
            <a:off x="774308" y="1021192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apply the division with array strategy?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02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955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Division with arrays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apply the division with array strategy?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1" y="1474838"/>
            <a:ext cx="1766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Difference between a row and column?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09578" y="1490915"/>
            <a:ext cx="4500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row is horizontal and moves from left to right</a:t>
            </a:r>
            <a:endParaRPr lang="en-A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7C05F3-12D9-4C91-B029-266217C4F63D}"/>
              </a:ext>
            </a:extLst>
          </p:cNvPr>
          <p:cNvSpPr txBox="1"/>
          <p:nvPr/>
        </p:nvSpPr>
        <p:spPr>
          <a:xfrm>
            <a:off x="2509578" y="3986937"/>
            <a:ext cx="6168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 column goes up and down (vertical)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ECBF0ED1-8886-4A16-9EAC-49E2CD384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47286"/>
              </p:ext>
            </p:extLst>
          </p:nvPr>
        </p:nvGraphicFramePr>
        <p:xfrm>
          <a:off x="2787747" y="2227689"/>
          <a:ext cx="4147965" cy="618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593">
                  <a:extLst>
                    <a:ext uri="{9D8B030D-6E8A-4147-A177-3AD203B41FA5}">
                      <a16:colId xmlns:a16="http://schemas.microsoft.com/office/drawing/2014/main" val="4122474401"/>
                    </a:ext>
                  </a:extLst>
                </a:gridCol>
                <a:gridCol w="829593">
                  <a:extLst>
                    <a:ext uri="{9D8B030D-6E8A-4147-A177-3AD203B41FA5}">
                      <a16:colId xmlns:a16="http://schemas.microsoft.com/office/drawing/2014/main" val="3742175257"/>
                    </a:ext>
                  </a:extLst>
                </a:gridCol>
                <a:gridCol w="829593">
                  <a:extLst>
                    <a:ext uri="{9D8B030D-6E8A-4147-A177-3AD203B41FA5}">
                      <a16:colId xmlns:a16="http://schemas.microsoft.com/office/drawing/2014/main" val="1181168615"/>
                    </a:ext>
                  </a:extLst>
                </a:gridCol>
                <a:gridCol w="829593">
                  <a:extLst>
                    <a:ext uri="{9D8B030D-6E8A-4147-A177-3AD203B41FA5}">
                      <a16:colId xmlns:a16="http://schemas.microsoft.com/office/drawing/2014/main" val="3689255629"/>
                    </a:ext>
                  </a:extLst>
                </a:gridCol>
                <a:gridCol w="829593">
                  <a:extLst>
                    <a:ext uri="{9D8B030D-6E8A-4147-A177-3AD203B41FA5}">
                      <a16:colId xmlns:a16="http://schemas.microsoft.com/office/drawing/2014/main" val="206753586"/>
                    </a:ext>
                  </a:extLst>
                </a:gridCol>
              </a:tblGrid>
              <a:tr h="61842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413534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F2A67DDE-2266-48F6-BFD6-E9761D6ED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 flipV="1">
            <a:off x="5160858" y="4633940"/>
            <a:ext cx="3181088" cy="107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63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955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Division with arrays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I apply the division with array strategy?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1" y="1474838"/>
            <a:ext cx="1766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What is division?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09578" y="1490915"/>
            <a:ext cx="9389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Division can be thought of making arrays when you know the total amount of squares and the number of rows, and you have to find the missing number of columns.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98B0655-D1E8-4072-9060-310148BEC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031666"/>
              </p:ext>
            </p:extLst>
          </p:nvPr>
        </p:nvGraphicFramePr>
        <p:xfrm>
          <a:off x="3273367" y="2871682"/>
          <a:ext cx="3612468" cy="2127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7">
                  <a:extLst>
                    <a:ext uri="{9D8B030D-6E8A-4147-A177-3AD203B41FA5}">
                      <a16:colId xmlns:a16="http://schemas.microsoft.com/office/drawing/2014/main" val="2400223794"/>
                    </a:ext>
                  </a:extLst>
                </a:gridCol>
                <a:gridCol w="903117">
                  <a:extLst>
                    <a:ext uri="{9D8B030D-6E8A-4147-A177-3AD203B41FA5}">
                      <a16:colId xmlns:a16="http://schemas.microsoft.com/office/drawing/2014/main" val="3198583630"/>
                    </a:ext>
                  </a:extLst>
                </a:gridCol>
                <a:gridCol w="903117">
                  <a:extLst>
                    <a:ext uri="{9D8B030D-6E8A-4147-A177-3AD203B41FA5}">
                      <a16:colId xmlns:a16="http://schemas.microsoft.com/office/drawing/2014/main" val="2509183877"/>
                    </a:ext>
                  </a:extLst>
                </a:gridCol>
                <a:gridCol w="903117">
                  <a:extLst>
                    <a:ext uri="{9D8B030D-6E8A-4147-A177-3AD203B41FA5}">
                      <a16:colId xmlns:a16="http://schemas.microsoft.com/office/drawing/2014/main" val="1347021378"/>
                    </a:ext>
                  </a:extLst>
                </a:gridCol>
              </a:tblGrid>
              <a:tr h="70907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834516"/>
                  </a:ext>
                </a:extLst>
              </a:tr>
              <a:tr h="70907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949798"/>
                  </a:ext>
                </a:extLst>
              </a:tr>
              <a:tr h="70907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86431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67BF42C-137C-4D26-A9A2-03A8D49F695D}"/>
              </a:ext>
            </a:extLst>
          </p:cNvPr>
          <p:cNvSpPr txBox="1"/>
          <p:nvPr/>
        </p:nvSpPr>
        <p:spPr>
          <a:xfrm>
            <a:off x="4641340" y="3480344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5A4FF5-22DE-4B16-ABC2-23497EB609A1}"/>
              </a:ext>
            </a:extLst>
          </p:cNvPr>
          <p:cNvSpPr txBox="1"/>
          <p:nvPr/>
        </p:nvSpPr>
        <p:spPr>
          <a:xfrm>
            <a:off x="2815759" y="348034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3C5EC8-0C38-4F35-8C35-E5C2FCC349FA}"/>
              </a:ext>
            </a:extLst>
          </p:cNvPr>
          <p:cNvSpPr txBox="1"/>
          <p:nvPr/>
        </p:nvSpPr>
        <p:spPr>
          <a:xfrm>
            <a:off x="4891889" y="234846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4C35A8-9C87-408C-B439-8238B5A00A39}"/>
              </a:ext>
            </a:extLst>
          </p:cNvPr>
          <p:cNvCxnSpPr/>
          <p:nvPr/>
        </p:nvCxnSpPr>
        <p:spPr>
          <a:xfrm>
            <a:off x="8445731" y="3219796"/>
            <a:ext cx="0" cy="151291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CD22FED-9E2C-4FA4-AB18-F57378065D25}"/>
              </a:ext>
            </a:extLst>
          </p:cNvPr>
          <p:cNvCxnSpPr>
            <a:cxnSpLocks/>
          </p:cNvCxnSpPr>
          <p:nvPr/>
        </p:nvCxnSpPr>
        <p:spPr>
          <a:xfrm flipH="1">
            <a:off x="8445732" y="3200400"/>
            <a:ext cx="208372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F67EAE0-514B-420C-ADAE-0A8DF9299B8C}"/>
              </a:ext>
            </a:extLst>
          </p:cNvPr>
          <p:cNvSpPr txBox="1"/>
          <p:nvPr/>
        </p:nvSpPr>
        <p:spPr>
          <a:xfrm>
            <a:off x="9049857" y="3673684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94BCD9-CB5C-4419-9D25-3698BF33764E}"/>
              </a:ext>
            </a:extLst>
          </p:cNvPr>
          <p:cNvSpPr txBox="1"/>
          <p:nvPr/>
        </p:nvSpPr>
        <p:spPr>
          <a:xfrm>
            <a:off x="7880993" y="367368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F19571-8100-46AD-B7B1-440ACA99D416}"/>
              </a:ext>
            </a:extLst>
          </p:cNvPr>
          <p:cNvSpPr txBox="1"/>
          <p:nvPr/>
        </p:nvSpPr>
        <p:spPr>
          <a:xfrm>
            <a:off x="9207553" y="2547185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12193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955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Division with arrays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I apply the division with array strategy?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1" y="1474838"/>
            <a:ext cx="1766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I apply the division array strategy?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47978" y="1734500"/>
                <a:ext cx="14763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÷2=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978" y="1734500"/>
                <a:ext cx="147630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07C05F3-12D9-4C91-B029-266217C4F63D}"/>
              </a:ext>
            </a:extLst>
          </p:cNvPr>
          <p:cNvSpPr txBox="1"/>
          <p:nvPr/>
        </p:nvSpPr>
        <p:spPr>
          <a:xfrm>
            <a:off x="3049301" y="2689070"/>
            <a:ext cx="1429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Div</a:t>
            </a:r>
            <a:r>
              <a:rPr lang="en-GB" dirty="0" err="1">
                <a:solidFill>
                  <a:prstClr val="black"/>
                </a:solidFill>
                <a:latin typeface="Tw Cen MT" panose="020B0602020104020603"/>
              </a:rPr>
              <a:t>idend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EAA263-9A51-4535-A17F-A564290BD689}"/>
              </a:ext>
            </a:extLst>
          </p:cNvPr>
          <p:cNvCxnSpPr>
            <a:endCxn id="5" idx="1"/>
          </p:cNvCxnSpPr>
          <p:nvPr/>
        </p:nvCxnSpPr>
        <p:spPr>
          <a:xfrm flipV="1">
            <a:off x="3718560" y="1996110"/>
            <a:ext cx="1229418" cy="652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B3700B9-5554-4EFB-BF97-30622EFB5AA7}"/>
              </a:ext>
            </a:extLst>
          </p:cNvPr>
          <p:cNvSpPr txBox="1"/>
          <p:nvPr/>
        </p:nvSpPr>
        <p:spPr>
          <a:xfrm>
            <a:off x="5468800" y="1240379"/>
            <a:ext cx="6044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Div</a:t>
            </a:r>
            <a:r>
              <a:rPr lang="en-GB" dirty="0" err="1">
                <a:solidFill>
                  <a:prstClr val="black"/>
                </a:solidFill>
                <a:latin typeface="Tw Cen MT" panose="020B0602020104020603"/>
              </a:rPr>
              <a:t>isor</a:t>
            </a:r>
            <a:r>
              <a:rPr lang="en-GB" dirty="0">
                <a:solidFill>
                  <a:prstClr val="black"/>
                </a:solidFill>
                <a:latin typeface="Tw Cen MT" panose="020B0602020104020603"/>
              </a:rPr>
              <a:t> – tells you how many needs to be in each group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4EF62E-362B-4558-A740-71D201892749}"/>
              </a:ext>
            </a:extLst>
          </p:cNvPr>
          <p:cNvCxnSpPr/>
          <p:nvPr/>
        </p:nvCxnSpPr>
        <p:spPr>
          <a:xfrm>
            <a:off x="5824451" y="1571104"/>
            <a:ext cx="0" cy="326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39A7B39-343B-4A2E-846D-FD6213D906E7}"/>
              </a:ext>
            </a:extLst>
          </p:cNvPr>
          <p:cNvSpPr txBox="1"/>
          <p:nvPr/>
        </p:nvSpPr>
        <p:spPr>
          <a:xfrm>
            <a:off x="6331187" y="1811444"/>
            <a:ext cx="1516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Quotient</a:t>
            </a:r>
          </a:p>
        </p:txBody>
      </p:sp>
      <p:graphicFrame>
        <p:nvGraphicFramePr>
          <p:cNvPr id="18" name="Table 19">
            <a:extLst>
              <a:ext uri="{FF2B5EF4-FFF2-40B4-BE49-F238E27FC236}">
                <a16:creationId xmlns:a16="http://schemas.microsoft.com/office/drawing/2014/main" id="{1EFADCB7-04DF-4A47-8143-C14316E5B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396377"/>
              </p:ext>
            </p:extLst>
          </p:nvPr>
        </p:nvGraphicFramePr>
        <p:xfrm>
          <a:off x="2732329" y="3360802"/>
          <a:ext cx="4479892" cy="1644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973">
                  <a:extLst>
                    <a:ext uri="{9D8B030D-6E8A-4147-A177-3AD203B41FA5}">
                      <a16:colId xmlns:a16="http://schemas.microsoft.com/office/drawing/2014/main" val="3472869119"/>
                    </a:ext>
                  </a:extLst>
                </a:gridCol>
                <a:gridCol w="1119973">
                  <a:extLst>
                    <a:ext uri="{9D8B030D-6E8A-4147-A177-3AD203B41FA5}">
                      <a16:colId xmlns:a16="http://schemas.microsoft.com/office/drawing/2014/main" val="739633960"/>
                    </a:ext>
                  </a:extLst>
                </a:gridCol>
                <a:gridCol w="1119973">
                  <a:extLst>
                    <a:ext uri="{9D8B030D-6E8A-4147-A177-3AD203B41FA5}">
                      <a16:colId xmlns:a16="http://schemas.microsoft.com/office/drawing/2014/main" val="612706569"/>
                    </a:ext>
                  </a:extLst>
                </a:gridCol>
                <a:gridCol w="1119973">
                  <a:extLst>
                    <a:ext uri="{9D8B030D-6E8A-4147-A177-3AD203B41FA5}">
                      <a16:colId xmlns:a16="http://schemas.microsoft.com/office/drawing/2014/main" val="4032028188"/>
                    </a:ext>
                  </a:extLst>
                </a:gridCol>
              </a:tblGrid>
              <a:tr h="82229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612152"/>
                  </a:ext>
                </a:extLst>
              </a:tr>
              <a:tr h="82229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30043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59CC20B-DE4B-491E-B4F8-E11A137F086D}"/>
              </a:ext>
            </a:extLst>
          </p:cNvPr>
          <p:cNvSpPr txBox="1"/>
          <p:nvPr/>
        </p:nvSpPr>
        <p:spPr>
          <a:xfrm>
            <a:off x="7309659" y="3360802"/>
            <a:ext cx="4479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 you have divided 8 into columns of 2. To get the quotient you count the number of columns.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B13B557-B7BF-4806-A411-67B1F1F12D0A}"/>
              </a:ext>
            </a:extLst>
          </p:cNvPr>
          <p:cNvSpPr/>
          <p:nvPr/>
        </p:nvSpPr>
        <p:spPr>
          <a:xfrm>
            <a:off x="2582700" y="3058402"/>
            <a:ext cx="1135860" cy="236406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A55B961-5A3D-48CD-8FC3-279851255776}"/>
              </a:ext>
            </a:extLst>
          </p:cNvPr>
          <p:cNvSpPr/>
          <p:nvPr/>
        </p:nvSpPr>
        <p:spPr>
          <a:xfrm>
            <a:off x="3810319" y="3087198"/>
            <a:ext cx="1135860" cy="236406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DE18850-2913-4EAB-BBEC-A84B33308381}"/>
              </a:ext>
            </a:extLst>
          </p:cNvPr>
          <p:cNvSpPr/>
          <p:nvPr/>
        </p:nvSpPr>
        <p:spPr>
          <a:xfrm>
            <a:off x="4945884" y="3058402"/>
            <a:ext cx="1135860" cy="236406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3B45B23-F079-4296-BAAD-CEC8E6C540E0}"/>
              </a:ext>
            </a:extLst>
          </p:cNvPr>
          <p:cNvSpPr/>
          <p:nvPr/>
        </p:nvSpPr>
        <p:spPr>
          <a:xfrm>
            <a:off x="6096000" y="3087198"/>
            <a:ext cx="1135860" cy="236406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1521025-9917-42A4-85E2-29B1FDBB927A}"/>
                  </a:ext>
                </a:extLst>
              </p:cNvPr>
              <p:cNvSpPr txBox="1"/>
              <p:nvPr/>
            </p:nvSpPr>
            <p:spPr>
              <a:xfrm>
                <a:off x="4013691" y="5899117"/>
                <a:ext cx="17748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÷2=4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1521025-9917-42A4-85E2-29B1FDBB9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691" y="5899117"/>
                <a:ext cx="177484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4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 animBg="1"/>
      <p:bldP spid="23" grpId="0" animBg="1"/>
      <p:bldP spid="24" grpId="0" animBg="1"/>
      <p:bldP spid="25" grpId="0" animBg="1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Practice: Use the division array strategy (LHS)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D99F67-0252-471C-9E24-003EE8702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÷4=</m:t>
                    </m:r>
                  </m:oMath>
                </a14:m>
                <a:endParaRPr lang="en-AU" sz="40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36</m:t>
                    </m:r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÷6=</m:t>
                    </m:r>
                  </m:oMath>
                </a14:m>
                <a:endParaRPr lang="en-AU" sz="40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÷3=</m:t>
                    </m:r>
                  </m:oMath>
                </a14:m>
                <a:endParaRPr lang="en-AU" sz="40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÷5=</m:t>
                    </m:r>
                  </m:oMath>
                </a14:m>
                <a:endParaRPr lang="en-GB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D99F67-0252-471C-9E24-003EE8702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657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955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Division with arrays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I apply the division with array strategy?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1" y="1474838"/>
            <a:ext cx="17664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What to do when the divisor is not a factor of the dividend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47978" y="1734500"/>
                <a:ext cx="14763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8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÷3=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978" y="1734500"/>
                <a:ext cx="147630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07C05F3-12D9-4C91-B029-266217C4F63D}"/>
              </a:ext>
            </a:extLst>
          </p:cNvPr>
          <p:cNvSpPr txBox="1"/>
          <p:nvPr/>
        </p:nvSpPr>
        <p:spPr>
          <a:xfrm>
            <a:off x="3049301" y="2689070"/>
            <a:ext cx="1429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Dividend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EAA263-9A51-4535-A17F-A564290BD689}"/>
              </a:ext>
            </a:extLst>
          </p:cNvPr>
          <p:cNvCxnSpPr>
            <a:endCxn id="5" idx="1"/>
          </p:cNvCxnSpPr>
          <p:nvPr/>
        </p:nvCxnSpPr>
        <p:spPr>
          <a:xfrm flipV="1">
            <a:off x="3718560" y="1996110"/>
            <a:ext cx="1229418" cy="652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B3700B9-5554-4EFB-BF97-30622EFB5AA7}"/>
              </a:ext>
            </a:extLst>
          </p:cNvPr>
          <p:cNvSpPr txBox="1"/>
          <p:nvPr/>
        </p:nvSpPr>
        <p:spPr>
          <a:xfrm>
            <a:off x="5468800" y="1240379"/>
            <a:ext cx="6044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Divisor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– tells you how many needs to be in each group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4EF62E-362B-4558-A740-71D201892749}"/>
              </a:ext>
            </a:extLst>
          </p:cNvPr>
          <p:cNvCxnSpPr/>
          <p:nvPr/>
        </p:nvCxnSpPr>
        <p:spPr>
          <a:xfrm>
            <a:off x="5824451" y="1571104"/>
            <a:ext cx="0" cy="326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39A7B39-343B-4A2E-846D-FD6213D906E7}"/>
              </a:ext>
            </a:extLst>
          </p:cNvPr>
          <p:cNvSpPr txBox="1"/>
          <p:nvPr/>
        </p:nvSpPr>
        <p:spPr>
          <a:xfrm>
            <a:off x="6331187" y="1811444"/>
            <a:ext cx="1516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Quotient</a:t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A54B4D29-A3A4-44A3-BFB0-CA75267BD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956611"/>
              </p:ext>
            </p:extLst>
          </p:nvPr>
        </p:nvGraphicFramePr>
        <p:xfrm>
          <a:off x="4571928" y="3177572"/>
          <a:ext cx="3518517" cy="2386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839">
                  <a:extLst>
                    <a:ext uri="{9D8B030D-6E8A-4147-A177-3AD203B41FA5}">
                      <a16:colId xmlns:a16="http://schemas.microsoft.com/office/drawing/2014/main" val="1631914171"/>
                    </a:ext>
                  </a:extLst>
                </a:gridCol>
                <a:gridCol w="1172839">
                  <a:extLst>
                    <a:ext uri="{9D8B030D-6E8A-4147-A177-3AD203B41FA5}">
                      <a16:colId xmlns:a16="http://schemas.microsoft.com/office/drawing/2014/main" val="3964376121"/>
                    </a:ext>
                  </a:extLst>
                </a:gridCol>
                <a:gridCol w="1172839">
                  <a:extLst>
                    <a:ext uri="{9D8B030D-6E8A-4147-A177-3AD203B41FA5}">
                      <a16:colId xmlns:a16="http://schemas.microsoft.com/office/drawing/2014/main" val="3486953288"/>
                    </a:ext>
                  </a:extLst>
                </a:gridCol>
              </a:tblGrid>
              <a:tr h="79547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469418"/>
                  </a:ext>
                </a:extLst>
              </a:tr>
              <a:tr h="79547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048002"/>
                  </a:ext>
                </a:extLst>
              </a:tr>
              <a:tr h="795471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67548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B7518B3-893C-40A6-ACF6-3FFCCE4EC954}"/>
              </a:ext>
            </a:extLst>
          </p:cNvPr>
          <p:cNvSpPr txBox="1"/>
          <p:nvPr/>
        </p:nvSpPr>
        <p:spPr>
          <a:xfrm>
            <a:off x="8291437" y="3177572"/>
            <a:ext cx="30636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Count the number of columns for the quotient. There needs to be 3 in each column. 2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How many are remaining? 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CA46CD9-41B0-4B75-98BA-2C43CA007102}"/>
              </a:ext>
            </a:extLst>
          </p:cNvPr>
          <p:cNvSpPr/>
          <p:nvPr/>
        </p:nvSpPr>
        <p:spPr>
          <a:xfrm>
            <a:off x="4480546" y="2898371"/>
            <a:ext cx="1279615" cy="292053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B999282-D6F4-4E9F-B3FC-B703E6670E0D}"/>
              </a:ext>
            </a:extLst>
          </p:cNvPr>
          <p:cNvSpPr/>
          <p:nvPr/>
        </p:nvSpPr>
        <p:spPr>
          <a:xfrm>
            <a:off x="5742562" y="2898371"/>
            <a:ext cx="1279615" cy="292053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9B68670-F9C3-4FDF-ACAC-0DF905561CE9}"/>
                  </a:ext>
                </a:extLst>
              </p:cNvPr>
              <p:cNvSpPr txBox="1"/>
              <p:nvPr/>
            </p:nvSpPr>
            <p:spPr>
              <a:xfrm>
                <a:off x="5004411" y="5979515"/>
                <a:ext cx="231012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8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÷3=2 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𝑟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2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9B68670-F9C3-4FDF-ACAC-0DF905561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411" y="5979515"/>
                <a:ext cx="231012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5622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955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Division with arrays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I apply the division with array strategy?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1" y="1474838"/>
            <a:ext cx="1766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Tw Cen MT" panose="020B0602020104020603"/>
              </a:rPr>
              <a:t>How to form a fraction?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47978" y="1734500"/>
                <a:ext cx="167507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÷5=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978" y="1734500"/>
                <a:ext cx="167507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07C05F3-12D9-4C91-B029-266217C4F63D}"/>
              </a:ext>
            </a:extLst>
          </p:cNvPr>
          <p:cNvSpPr txBox="1"/>
          <p:nvPr/>
        </p:nvSpPr>
        <p:spPr>
          <a:xfrm>
            <a:off x="3049301" y="2689070"/>
            <a:ext cx="1429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Dividend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EAA263-9A51-4535-A17F-A564290BD689}"/>
              </a:ext>
            </a:extLst>
          </p:cNvPr>
          <p:cNvCxnSpPr>
            <a:endCxn id="5" idx="1"/>
          </p:cNvCxnSpPr>
          <p:nvPr/>
        </p:nvCxnSpPr>
        <p:spPr>
          <a:xfrm flipV="1">
            <a:off x="3718560" y="1996110"/>
            <a:ext cx="1229418" cy="652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B3700B9-5554-4EFB-BF97-30622EFB5AA7}"/>
              </a:ext>
            </a:extLst>
          </p:cNvPr>
          <p:cNvSpPr txBox="1"/>
          <p:nvPr/>
        </p:nvSpPr>
        <p:spPr>
          <a:xfrm>
            <a:off x="5468800" y="1240379"/>
            <a:ext cx="6044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Divisor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– tells you how many needs to be in each group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4EF62E-362B-4558-A740-71D201892749}"/>
              </a:ext>
            </a:extLst>
          </p:cNvPr>
          <p:cNvCxnSpPr/>
          <p:nvPr/>
        </p:nvCxnSpPr>
        <p:spPr>
          <a:xfrm>
            <a:off x="5824451" y="1571104"/>
            <a:ext cx="0" cy="326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39A7B39-343B-4A2E-846D-FD6213D906E7}"/>
              </a:ext>
            </a:extLst>
          </p:cNvPr>
          <p:cNvSpPr txBox="1"/>
          <p:nvPr/>
        </p:nvSpPr>
        <p:spPr>
          <a:xfrm>
            <a:off x="6486013" y="1790297"/>
            <a:ext cx="1516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Quotient</a:t>
            </a:r>
          </a:p>
        </p:txBody>
      </p:sp>
      <p:graphicFrame>
        <p:nvGraphicFramePr>
          <p:cNvPr id="6" name="Table 17">
            <a:extLst>
              <a:ext uri="{FF2B5EF4-FFF2-40B4-BE49-F238E27FC236}">
                <a16:creationId xmlns:a16="http://schemas.microsoft.com/office/drawing/2014/main" id="{1E026D59-863B-49C3-B565-8BD2F284D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042699"/>
              </p:ext>
            </p:extLst>
          </p:nvPr>
        </p:nvGraphicFramePr>
        <p:xfrm>
          <a:off x="3999927" y="3247563"/>
          <a:ext cx="4063415" cy="3070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683">
                  <a:extLst>
                    <a:ext uri="{9D8B030D-6E8A-4147-A177-3AD203B41FA5}">
                      <a16:colId xmlns:a16="http://schemas.microsoft.com/office/drawing/2014/main" val="1927217666"/>
                    </a:ext>
                  </a:extLst>
                </a:gridCol>
                <a:gridCol w="812683">
                  <a:extLst>
                    <a:ext uri="{9D8B030D-6E8A-4147-A177-3AD203B41FA5}">
                      <a16:colId xmlns:a16="http://schemas.microsoft.com/office/drawing/2014/main" val="1645203089"/>
                    </a:ext>
                  </a:extLst>
                </a:gridCol>
                <a:gridCol w="812683">
                  <a:extLst>
                    <a:ext uri="{9D8B030D-6E8A-4147-A177-3AD203B41FA5}">
                      <a16:colId xmlns:a16="http://schemas.microsoft.com/office/drawing/2014/main" val="682489024"/>
                    </a:ext>
                  </a:extLst>
                </a:gridCol>
                <a:gridCol w="812683">
                  <a:extLst>
                    <a:ext uri="{9D8B030D-6E8A-4147-A177-3AD203B41FA5}">
                      <a16:colId xmlns:a16="http://schemas.microsoft.com/office/drawing/2014/main" val="562581621"/>
                    </a:ext>
                  </a:extLst>
                </a:gridCol>
                <a:gridCol w="812683">
                  <a:extLst>
                    <a:ext uri="{9D8B030D-6E8A-4147-A177-3AD203B41FA5}">
                      <a16:colId xmlns:a16="http://schemas.microsoft.com/office/drawing/2014/main" val="1388138535"/>
                    </a:ext>
                  </a:extLst>
                </a:gridCol>
              </a:tblGrid>
              <a:tr h="61402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769009"/>
                  </a:ext>
                </a:extLst>
              </a:tr>
              <a:tr h="61402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66615"/>
                  </a:ext>
                </a:extLst>
              </a:tr>
              <a:tr h="61402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087325"/>
                  </a:ext>
                </a:extLst>
              </a:tr>
              <a:tr h="61402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313332"/>
                  </a:ext>
                </a:extLst>
              </a:tr>
              <a:tr h="61402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483132"/>
                  </a:ext>
                </a:extLst>
              </a:tr>
            </a:tbl>
          </a:graphicData>
        </a:graphic>
      </p:graphicFrame>
      <p:sp>
        <p:nvSpPr>
          <p:cNvPr id="18" name="Oval 17">
            <a:extLst>
              <a:ext uri="{FF2B5EF4-FFF2-40B4-BE49-F238E27FC236}">
                <a16:creationId xmlns:a16="http://schemas.microsoft.com/office/drawing/2014/main" id="{A0392FB4-4A9E-47C3-A504-85265F8AE549}"/>
              </a:ext>
            </a:extLst>
          </p:cNvPr>
          <p:cNvSpPr/>
          <p:nvPr/>
        </p:nvSpPr>
        <p:spPr>
          <a:xfrm>
            <a:off x="3912780" y="3100676"/>
            <a:ext cx="840977" cy="33638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ED29DEE-19D8-463F-8254-F30AAC29D817}"/>
              </a:ext>
            </a:extLst>
          </p:cNvPr>
          <p:cNvSpPr/>
          <p:nvPr/>
        </p:nvSpPr>
        <p:spPr>
          <a:xfrm>
            <a:off x="4765557" y="3101203"/>
            <a:ext cx="840977" cy="33638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86294C0-F76C-43AD-83E0-73276ECB2AC4}"/>
              </a:ext>
            </a:extLst>
          </p:cNvPr>
          <p:cNvSpPr/>
          <p:nvPr/>
        </p:nvSpPr>
        <p:spPr>
          <a:xfrm>
            <a:off x="5593599" y="3138851"/>
            <a:ext cx="840977" cy="33638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1399672-22A1-41B0-881D-AF635EE1C87A}"/>
              </a:ext>
            </a:extLst>
          </p:cNvPr>
          <p:cNvSpPr/>
          <p:nvPr/>
        </p:nvSpPr>
        <p:spPr>
          <a:xfrm>
            <a:off x="6446252" y="3138851"/>
            <a:ext cx="840977" cy="33638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219745D-BE74-4B4B-8602-8708FE5218CD}"/>
                  </a:ext>
                </a:extLst>
              </p:cNvPr>
              <p:cNvSpPr txBox="1"/>
              <p:nvPr/>
            </p:nvSpPr>
            <p:spPr>
              <a:xfrm>
                <a:off x="8150489" y="3312833"/>
                <a:ext cx="3847547" cy="2209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There are </a:t>
                </a:r>
                <a:r>
                  <a:rPr lang="en-GB" b="1" dirty="0"/>
                  <a:t>4</a:t>
                </a:r>
                <a:r>
                  <a:rPr lang="en-GB" dirty="0"/>
                  <a:t> full columns</a:t>
                </a:r>
              </a:p>
              <a:p>
                <a:endParaRPr lang="en-GB" dirty="0"/>
              </a:p>
              <a:p>
                <a:r>
                  <a:rPr lang="en-GB" dirty="0"/>
                  <a:t>On the 5</a:t>
                </a:r>
                <a:r>
                  <a:rPr lang="en-GB" baseline="30000" dirty="0"/>
                  <a:t>th</a:t>
                </a:r>
                <a:r>
                  <a:rPr lang="en-GB" dirty="0"/>
                  <a:t> column there’s only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AU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𝑟𝑒𝑝𝑟𝑒𝑠𝑒𝑛𝑡𝑒𝑑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Answer: </a:t>
                </a:r>
                <a14:m>
                  <m:oMath xmlns:m="http://schemas.openxmlformats.org/officeDocument/2006/math"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4</m:t>
                    </m:r>
                    <m:f>
                      <m:f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219745D-BE74-4B4B-8602-8708FE521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489" y="3312833"/>
                <a:ext cx="3847547" cy="2209900"/>
              </a:xfrm>
              <a:prstGeom prst="rect">
                <a:avLst/>
              </a:prstGeom>
              <a:blipFill>
                <a:blip r:embed="rId4"/>
                <a:stretch>
                  <a:fillRect l="-1268" t="-1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267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657260"/>
            <a:ext cx="9720072" cy="1499616"/>
          </a:xfrm>
        </p:spPr>
        <p:txBody>
          <a:bodyPr>
            <a:noAutofit/>
          </a:bodyPr>
          <a:lstStyle/>
          <a:p>
            <a:r>
              <a:rPr lang="en-GB" sz="4000" dirty="0"/>
              <a:t>Practice: Use the division array strategy (LHS)</a:t>
            </a:r>
            <a:br>
              <a:rPr lang="en-GB" sz="4000" dirty="0"/>
            </a:br>
            <a:br>
              <a:rPr lang="en-GB" sz="4000" dirty="0"/>
            </a:br>
            <a:r>
              <a:rPr lang="en-GB" sz="4000" dirty="0"/>
              <a:t>Represent the answer as fractions and reminders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D99F67-0252-471C-9E24-003EE8702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992581"/>
                <a:ext cx="9720073" cy="282355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AU" sz="40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÷5=</m:t>
                    </m:r>
                  </m:oMath>
                </a14:m>
                <a:endParaRPr lang="en-AU" sz="40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sz="400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÷4=</m:t>
                    </m:r>
                  </m:oMath>
                </a14:m>
                <a:endParaRPr lang="en-AU" sz="40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sz="40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÷6=</m:t>
                    </m:r>
                  </m:oMath>
                </a14:m>
                <a:endParaRPr lang="en-AU" sz="40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sz="40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÷7=</m:t>
                    </m:r>
                  </m:oMath>
                </a14:m>
                <a:endParaRPr lang="en-GB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D99F67-0252-471C-9E24-003EE8702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992581"/>
                <a:ext cx="9720073" cy="282355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411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FC778-43E3-4613-8D79-A90615C3E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(LHS)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8E2E2-D7C4-4485-807C-354B5CA5C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362604" cy="4023360"/>
          </a:xfrm>
        </p:spPr>
        <p:txBody>
          <a:bodyPr/>
          <a:lstStyle/>
          <a:p>
            <a:r>
              <a:rPr lang="en-GB" dirty="0"/>
              <a:t>Solve these by drawing the division array. You may need grid paper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B8683C-1BFB-4FC1-A2D9-BDA29C89A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345" y="14944"/>
            <a:ext cx="1609483" cy="682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11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/>
              <a:t>"</a:t>
            </a:r>
            <a:r>
              <a:rPr lang="en-GB" i="1" dirty="0"/>
              <a:t>Happiness</a:t>
            </a:r>
            <a:r>
              <a:rPr lang="en-GB" dirty="0"/>
              <a:t> can be found, even in the darkest of times, if one only remembers to turn on the light."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3466</TotalTime>
  <Words>517</Words>
  <Application>Microsoft Office PowerPoint</Application>
  <PresentationFormat>Widescreen</PresentationFormat>
  <Paragraphs>107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Cambria Math</vt:lpstr>
      <vt:lpstr>Tw Cen MT</vt:lpstr>
      <vt:lpstr>Tw Cen MT Condensed</vt:lpstr>
      <vt:lpstr>Wingdings</vt:lpstr>
      <vt:lpstr>Wingdings 3</vt:lpstr>
      <vt:lpstr>Integral</vt:lpstr>
      <vt:lpstr>Topic: Division with array EQ: How do I apply the division with array strategy?</vt:lpstr>
      <vt:lpstr>Things Required For This Lesson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Practice: Use the division array strategy (LHS)</vt:lpstr>
      <vt:lpstr>PowerPoint Presentation</vt:lpstr>
      <vt:lpstr>PowerPoint Presentation</vt:lpstr>
      <vt:lpstr>Practice: Use the division array strategy (LHS)  Represent the answer as fractions and reminders</vt:lpstr>
      <vt:lpstr>Practice (LHS)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Tony Nguyen</cp:lastModifiedBy>
  <cp:revision>52</cp:revision>
  <dcterms:created xsi:type="dcterms:W3CDTF">2021-02-11T13:20:57Z</dcterms:created>
  <dcterms:modified xsi:type="dcterms:W3CDTF">2021-03-16T01:19:42Z</dcterms:modified>
</cp:coreProperties>
</file>
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73" r:id="rId1"/>
  </p:sldMasterIdLst>
  <p:notesMasterIdLst>
    <p:notesMasterId r:id="rId8"/>
  </p:notesMasterIdLst>
  <p:sldIdLst>
    <p:sldId id="256" r:id="rId2"/>
    <p:sldId id="301" r:id="rId3"/>
    <p:sldId id="307" r:id="rId4"/>
    <p:sldId id="303" r:id="rId5"/>
    <p:sldId id="308" r:id="rId6"/>
    <p:sldId id="304"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885" autoAdjust="0"/>
    <p:restoredTop sz="79087" autoAdjust="0"/>
  </p:normalViewPr>
  <p:slideViewPr>
    <p:cSldViewPr snapToGrid="0">
      <p:cViewPr varScale="1">
        <p:scale>
          <a:sx n="83" d="100"/>
          <a:sy n="83" d="100"/>
        </p:scale>
        <p:origin x="1512" y="2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A10772-5EEF-4CF9-A1B3-9A5B753FBA4D}" type="datetimeFigureOut">
              <a:rPr lang="en-AU" smtClean="0"/>
              <a:t>11/10/21</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76E7107-940C-4618-81D1-D3CF499832C2}" type="slidenum">
              <a:rPr lang="en-AU" smtClean="0"/>
              <a:t>‹#›</a:t>
            </a:fld>
            <a:endParaRPr lang="en-AU"/>
          </a:p>
        </p:txBody>
      </p:sp>
    </p:spTree>
    <p:extLst>
      <p:ext uri="{BB962C8B-B14F-4D97-AF65-F5344CB8AC3E}">
        <p14:creationId xmlns:p14="http://schemas.microsoft.com/office/powerpoint/2010/main" val="755061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76E7107-940C-4618-81D1-D3CF499832C2}" type="slidenum">
              <a:rPr lang="en-AU" smtClean="0"/>
              <a:t>1</a:t>
            </a:fld>
            <a:endParaRPr lang="en-AU"/>
          </a:p>
        </p:txBody>
      </p:sp>
    </p:spTree>
    <p:extLst>
      <p:ext uri="{BB962C8B-B14F-4D97-AF65-F5344CB8AC3E}">
        <p14:creationId xmlns:p14="http://schemas.microsoft.com/office/powerpoint/2010/main" val="17248643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AU" dirty="0"/>
          </a:p>
        </p:txBody>
      </p:sp>
    </p:spTree>
    <p:extLst>
      <p:ext uri="{BB962C8B-B14F-4D97-AF65-F5344CB8AC3E}">
        <p14:creationId xmlns:p14="http://schemas.microsoft.com/office/powerpoint/2010/main" val="31219264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sz="1400" dirty="0"/>
          </a:p>
        </p:txBody>
      </p:sp>
    </p:spTree>
    <p:extLst>
      <p:ext uri="{BB962C8B-B14F-4D97-AF65-F5344CB8AC3E}">
        <p14:creationId xmlns:p14="http://schemas.microsoft.com/office/powerpoint/2010/main" val="7579747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sz="1400" dirty="0"/>
          </a:p>
        </p:txBody>
      </p:sp>
    </p:spTree>
    <p:extLst>
      <p:ext uri="{BB962C8B-B14F-4D97-AF65-F5344CB8AC3E}">
        <p14:creationId xmlns:p14="http://schemas.microsoft.com/office/powerpoint/2010/main" val="4561678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sz="1400" dirty="0"/>
          </a:p>
        </p:txBody>
      </p:sp>
    </p:spTree>
    <p:extLst>
      <p:ext uri="{BB962C8B-B14F-4D97-AF65-F5344CB8AC3E}">
        <p14:creationId xmlns:p14="http://schemas.microsoft.com/office/powerpoint/2010/main" val="17196896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need an extra lesson, there are worksheets available on connect.</a:t>
            </a:r>
          </a:p>
        </p:txBody>
      </p:sp>
      <p:sp>
        <p:nvSpPr>
          <p:cNvPr id="4" name="Slide Number Placeholder 3"/>
          <p:cNvSpPr>
            <a:spLocks noGrp="1"/>
          </p:cNvSpPr>
          <p:nvPr>
            <p:ph type="sldNum" sz="quarter" idx="5"/>
          </p:nvPr>
        </p:nvSpPr>
        <p:spPr/>
        <p:txBody>
          <a:bodyPr/>
          <a:lstStyle/>
          <a:p>
            <a:fld id="{A76E7107-940C-4618-81D1-D3CF499832C2}" type="slidenum">
              <a:rPr lang="en-AU" smtClean="0"/>
              <a:t>6</a:t>
            </a:fld>
            <a:endParaRPr lang="en-AU"/>
          </a:p>
        </p:txBody>
      </p:sp>
    </p:spTree>
    <p:extLst>
      <p:ext uri="{BB962C8B-B14F-4D97-AF65-F5344CB8AC3E}">
        <p14:creationId xmlns:p14="http://schemas.microsoft.com/office/powerpoint/2010/main" val="35960850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GB"/>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6AD6EE87-EBD5-4F12-A48A-63ACA297AC8F}" type="datetimeFigureOut">
              <a:rPr lang="en-US" smtClean="0"/>
              <a:t>10/11/21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85322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A5D3794B-289A-4A80-97D7-111025398D45}" type="datetimeFigureOut">
              <a:rPr lang="en-US" smtClean="0"/>
              <a:t>10/11/21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2917907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GB"/>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5A61015F-7CC6-4D0A-9D87-873EA4C304CC}" type="datetimeFigureOut">
              <a:rPr lang="en-US" smtClean="0"/>
              <a:t>10/11/21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989978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GB"/>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93C6A301-0538-44EC-B09D-202E1042A48B}" type="datetimeFigureOut">
              <a:rPr lang="en-US" smtClean="0"/>
              <a:t>10/11/21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15918390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GB"/>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GB"/>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D789574A-8875-45EF-8EA2-3CAA0F7ABC4C}" type="datetimeFigureOut">
              <a:rPr lang="en-US" smtClean="0"/>
              <a:t>10/11/21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4369781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67EF4D4C-5367-4C26-9E2B-D8088D7FCA81}" type="datetimeFigureOut">
              <a:rPr lang="en-US" smtClean="0"/>
              <a:t>10/11/21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18912736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6E91E96-98B0-4413-9547-46F3504108EF}" type="datetimeFigureOut">
              <a:rPr lang="en-US" smtClean="0"/>
              <a:t>10/11/21</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9721452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GB"/>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05C68B11-C5A8-448C-8CE9-B1A273C79CFC}" type="datetimeFigureOut">
              <a:rPr lang="en-US" smtClean="0"/>
              <a:t>10/11/21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4986237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GB"/>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C7616CA0-919D-4A49-9C8A-62FDFB3A5183}" type="datetimeFigureOut">
              <a:rPr lang="en-US" smtClean="0"/>
              <a:t>10/11/21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67E5644-1E61-4311-A31E-84CB9C7AA8A9}" type="slidenum">
              <a:rPr lang="en-US" smtClean="0"/>
              <a:t>‹#›</a:t>
            </a:fld>
            <a:endParaRPr lang="en-US" dirty="0"/>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637926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4CD73815-2707-4475-8F1A-B873CB631BB4}" type="datetimeFigureOut">
              <a:rPr lang="en-US" smtClean="0"/>
              <a:t>10/11/21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0170804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GB"/>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2A4AFB99-0EAB-4182-AFF8-E214C82A68F6}" type="datetimeFigureOut">
              <a:rPr lang="en-US" smtClean="0"/>
              <a:t>10/11/21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347730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90298CD5-6C1E-4009-B41F-6DF62E31D3BE}" type="datetimeFigureOut">
              <a:rPr lang="en-US" smtClean="0"/>
              <a:pPr/>
              <a:t>10/11/21</a:t>
            </a:fld>
            <a:endParaRPr lang="en-US" dirty="0"/>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dirty="0"/>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4FAB73BC-B049-4115-A692-8D63A059BFB8}" type="slidenum">
              <a:rPr lang="en-US" smtClean="0"/>
              <a:pPr/>
              <a:t>‹#›</a:t>
            </a:fld>
            <a:endParaRPr lang="en-US" dirty="0"/>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51025627"/>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CAC823-B532-4688-9E8F-9ECF5722D011}"/>
              </a:ext>
            </a:extLst>
          </p:cNvPr>
          <p:cNvSpPr>
            <a:spLocks noGrp="1"/>
          </p:cNvSpPr>
          <p:nvPr>
            <p:ph type="ctrTitle"/>
          </p:nvPr>
        </p:nvSpPr>
        <p:spPr/>
        <p:txBody>
          <a:bodyPr>
            <a:noAutofit/>
          </a:bodyPr>
          <a:lstStyle/>
          <a:p>
            <a:r>
              <a:rPr lang="en-AU" sz="4000" dirty="0"/>
              <a:t>Topic: Geometry and Mapping</a:t>
            </a:r>
            <a:br>
              <a:rPr lang="en-AU" sz="4000" dirty="0"/>
            </a:br>
            <a:r>
              <a:rPr lang="en-AU" sz="4000" dirty="0"/>
              <a:t>EQ: </a:t>
            </a:r>
            <a:r>
              <a:rPr lang="en-US" sz="4000" dirty="0"/>
              <a:t>How can we use map scales to figure out real life distances</a:t>
            </a:r>
            <a:r>
              <a:rPr lang="en-AU" sz="4000" dirty="0"/>
              <a:t>? </a:t>
            </a:r>
          </a:p>
        </p:txBody>
      </p:sp>
      <p:sp>
        <p:nvSpPr>
          <p:cNvPr id="3" name="Subtitle 2">
            <a:extLst>
              <a:ext uri="{FF2B5EF4-FFF2-40B4-BE49-F238E27FC236}">
                <a16:creationId xmlns:a16="http://schemas.microsoft.com/office/drawing/2014/main" id="{A587B186-3400-4A4B-B6A6-D265D5ED5F59}"/>
              </a:ext>
            </a:extLst>
          </p:cNvPr>
          <p:cNvSpPr>
            <a:spLocks noGrp="1"/>
          </p:cNvSpPr>
          <p:nvPr>
            <p:ph type="subTitle" idx="1"/>
          </p:nvPr>
        </p:nvSpPr>
        <p:spPr/>
        <p:txBody>
          <a:bodyPr/>
          <a:lstStyle/>
          <a:p>
            <a:r>
              <a:rPr lang="en-AU" dirty="0"/>
              <a:t>Year 11 Mathematics Essentials</a:t>
            </a:r>
          </a:p>
          <a:p>
            <a:endParaRPr lang="en-AU" dirty="0"/>
          </a:p>
        </p:txBody>
      </p:sp>
    </p:spTree>
    <p:extLst>
      <p:ext uri="{BB962C8B-B14F-4D97-AF65-F5344CB8AC3E}">
        <p14:creationId xmlns:p14="http://schemas.microsoft.com/office/powerpoint/2010/main" val="27560944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2A3C03-BF03-48EF-A72A-CE11494FF168}"/>
              </a:ext>
            </a:extLst>
          </p:cNvPr>
          <p:cNvSpPr>
            <a:spLocks noGrp="1"/>
          </p:cNvSpPr>
          <p:nvPr>
            <p:ph type="title"/>
          </p:nvPr>
        </p:nvSpPr>
        <p:spPr>
          <a:xfrm>
            <a:off x="857872" y="570392"/>
            <a:ext cx="10058400" cy="1371600"/>
          </a:xfrm>
        </p:spPr>
        <p:txBody>
          <a:bodyPr/>
          <a:lstStyle/>
          <a:p>
            <a:r>
              <a:rPr lang="en-AU" dirty="0"/>
              <a:t>Five Questions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5C9BC97-E084-4305-8742-02C144E0C26A}"/>
                  </a:ext>
                </a:extLst>
              </p:cNvPr>
              <p:cNvSpPr>
                <a:spLocks noGrp="1"/>
              </p:cNvSpPr>
              <p:nvPr>
                <p:ph idx="1"/>
              </p:nvPr>
            </p:nvSpPr>
            <p:spPr>
              <a:xfrm>
                <a:off x="857872" y="1631749"/>
                <a:ext cx="7208442" cy="4453722"/>
              </a:xfrm>
            </p:spPr>
            <p:txBody>
              <a:bodyPr>
                <a:normAutofit/>
              </a:bodyPr>
              <a:lstStyle/>
              <a:p>
                <a:pPr marL="457200" indent="-457200">
                  <a:buFont typeface="+mj-lt"/>
                  <a:buAutoNum type="arabicPeriod"/>
                </a:pPr>
                <a14:m>
                  <m:oMath xmlns:m="http://schemas.openxmlformats.org/officeDocument/2006/math">
                    <m:r>
                      <a:rPr lang="en-AU" sz="2400" b="0" i="1" smtClean="0">
                        <a:latin typeface="Cambria Math" panose="02040503050406030204" pitchFamily="18" charset="0"/>
                        <a:cs typeface="Calibri" panose="020F0502020204030204" pitchFamily="34" charset="0"/>
                      </a:rPr>
                      <m:t>3.2 </m:t>
                    </m:r>
                    <m:r>
                      <a:rPr lang="en-AU" sz="2400" b="0" i="1" smtClean="0">
                        <a:latin typeface="Cambria Math" panose="02040503050406030204" pitchFamily="18" charset="0"/>
                        <a:ea typeface="Cambria Math" panose="02040503050406030204" pitchFamily="18" charset="0"/>
                        <a:cs typeface="Calibri" panose="020F0502020204030204" pitchFamily="34" charset="0"/>
                      </a:rPr>
                      <m:t>×8=</m:t>
                    </m:r>
                  </m:oMath>
                </a14:m>
                <a:endParaRPr lang="en-AU" sz="2400" b="0" dirty="0">
                  <a:latin typeface="Calibri" panose="020F0502020204030204" pitchFamily="34" charset="0"/>
                  <a:ea typeface="Cambria Math" panose="02040503050406030204" pitchFamily="18" charset="0"/>
                  <a:cs typeface="Calibri" panose="020F0502020204030204" pitchFamily="34" charset="0"/>
                </a:endParaRPr>
              </a:p>
              <a:p>
                <a:pPr marL="457200" indent="-457200">
                  <a:buFont typeface="+mj-lt"/>
                  <a:buAutoNum type="arabicPeriod"/>
                </a:pPr>
                <a:r>
                  <a:rPr lang="en-AU" sz="2400" dirty="0">
                    <a:latin typeface="Calibri" panose="020F0502020204030204" pitchFamily="34" charset="0"/>
                    <a:cs typeface="Calibri" panose="020F0502020204030204" pitchFamily="34" charset="0"/>
                  </a:rPr>
                  <a:t>Brisbane Bullets scored points against  Adelaide 36ers to the ratio of 15:13. What score did Adelaide achieve if Brisbane’s score was 105?</a:t>
                </a:r>
              </a:p>
              <a:p>
                <a:pPr marL="457200" indent="-457200">
                  <a:buFont typeface="+mj-lt"/>
                  <a:buAutoNum type="arabicPeriod"/>
                </a:pPr>
                <a:r>
                  <a:rPr lang="en-AU" sz="2400" dirty="0">
                    <a:latin typeface="Calibri" panose="020F0502020204030204" pitchFamily="34" charset="0"/>
                    <a:cs typeface="Calibri" panose="020F0502020204030204" pitchFamily="34" charset="0"/>
                  </a:rPr>
                  <a:t>Convert 80km/h to m/sec</a:t>
                </a:r>
              </a:p>
              <a:p>
                <a:pPr marL="457200" indent="-457200">
                  <a:buFont typeface="+mj-lt"/>
                  <a:buAutoNum type="arabicPeriod"/>
                </a:pPr>
                <a:r>
                  <a:rPr lang="en-AU" sz="2400" dirty="0">
                    <a:latin typeface="Calibri" panose="020F0502020204030204" pitchFamily="34" charset="0"/>
                    <a:cs typeface="Calibri" panose="020F0502020204030204" pitchFamily="34" charset="0"/>
                  </a:rPr>
                  <a:t>Energy = </a:t>
                </a:r>
                <a14:m>
                  <m:oMath xmlns:m="http://schemas.openxmlformats.org/officeDocument/2006/math">
                    <m:r>
                      <a:rPr lang="en-AU" sz="2400" b="0" i="1" smtClean="0">
                        <a:latin typeface="Cambria Math" panose="02040503050406030204" pitchFamily="18" charset="0"/>
                        <a:cs typeface="Calibri" panose="020F0502020204030204" pitchFamily="34" charset="0"/>
                      </a:rPr>
                      <m:t>𝑝𝑜𝑤𝑒𝑟</m:t>
                    </m:r>
                    <m:r>
                      <a:rPr lang="en-AU" sz="2400" b="0" i="1" smtClean="0">
                        <a:latin typeface="Cambria Math" panose="02040503050406030204" pitchFamily="18" charset="0"/>
                        <a:cs typeface="Calibri" panose="020F0502020204030204" pitchFamily="34" charset="0"/>
                      </a:rPr>
                      <m:t> × </m:t>
                    </m:r>
                    <m:r>
                      <a:rPr lang="en-AU" sz="2400" b="0" i="1" smtClean="0">
                        <a:latin typeface="Cambria Math" panose="02040503050406030204" pitchFamily="18" charset="0"/>
                        <a:ea typeface="Cambria Math" panose="02040503050406030204" pitchFamily="18" charset="0"/>
                        <a:cs typeface="Calibri" panose="020F0502020204030204" pitchFamily="34" charset="0"/>
                      </a:rPr>
                      <m:t>𝑡𝑖𝑚𝑒</m:t>
                    </m:r>
                    <m:r>
                      <a:rPr lang="en-AU" sz="2400" b="0" i="1" smtClean="0">
                        <a:latin typeface="Cambria Math" panose="02040503050406030204" pitchFamily="18" charset="0"/>
                        <a:ea typeface="Cambria Math" panose="02040503050406030204" pitchFamily="18" charset="0"/>
                        <a:cs typeface="Calibri" panose="020F0502020204030204" pitchFamily="34" charset="0"/>
                      </a:rPr>
                      <m:t>.</m:t>
                    </m:r>
                  </m:oMath>
                </a14:m>
                <a:r>
                  <a:rPr lang="en-AU" sz="2400" dirty="0">
                    <a:latin typeface="Calibri" panose="020F0502020204030204" pitchFamily="34" charset="0"/>
                    <a:cs typeface="Calibri" panose="020F0502020204030204" pitchFamily="34" charset="0"/>
                  </a:rPr>
                  <a:t> A heater uses 1800watt of power. If I use the heater for 2 hours per night for 80 days of the year, how much energy do I use? </a:t>
                </a:r>
              </a:p>
              <a:p>
                <a:pPr marL="457200" indent="-457200">
                  <a:buFont typeface="+mj-lt"/>
                  <a:buAutoNum type="arabicPeriod"/>
                </a:pPr>
                <a:r>
                  <a:rPr lang="en-AU" sz="2400" dirty="0">
                    <a:latin typeface="Calibri" panose="020F0502020204030204" pitchFamily="34" charset="0"/>
                    <a:cs typeface="Calibri" panose="020F0502020204030204" pitchFamily="34" charset="0"/>
                  </a:rPr>
                  <a:t>If </a:t>
                </a:r>
                <a14:m>
                  <m:oMath xmlns:m="http://schemas.openxmlformats.org/officeDocument/2006/math">
                    <m:r>
                      <a:rPr lang="en-AU" sz="2400" b="0" i="1" smtClean="0">
                        <a:latin typeface="Cambria Math" panose="02040503050406030204" pitchFamily="18" charset="0"/>
                        <a:cs typeface="Calibri" panose="020F0502020204030204" pitchFamily="34" charset="0"/>
                      </a:rPr>
                      <m:t>𝑦</m:t>
                    </m:r>
                    <m:r>
                      <a:rPr lang="en-AU" sz="2400" b="0" i="1" smtClean="0">
                        <a:latin typeface="Cambria Math" panose="02040503050406030204" pitchFamily="18" charset="0"/>
                        <a:cs typeface="Calibri" panose="020F0502020204030204" pitchFamily="34" charset="0"/>
                      </a:rPr>
                      <m:t>=2,  </m:t>
                    </m:r>
                    <m:r>
                      <a:rPr lang="en-AU" sz="2400" b="0" i="1" smtClean="0">
                        <a:latin typeface="Cambria Math" panose="02040503050406030204" pitchFamily="18" charset="0"/>
                        <a:cs typeface="Calibri" panose="020F0502020204030204" pitchFamily="34" charset="0"/>
                      </a:rPr>
                      <m:t>𝑥</m:t>
                    </m:r>
                    <m:r>
                      <a:rPr lang="en-AU" sz="2400" b="0" i="1" smtClean="0">
                        <a:latin typeface="Cambria Math" panose="02040503050406030204" pitchFamily="18" charset="0"/>
                        <a:cs typeface="Calibri" panose="020F0502020204030204" pitchFamily="34" charset="0"/>
                      </a:rPr>
                      <m:t>=−1.</m:t>
                    </m:r>
                  </m:oMath>
                </a14:m>
                <a:r>
                  <a:rPr lang="en-AU" sz="2400" dirty="0">
                    <a:latin typeface="Calibri" panose="020F0502020204030204" pitchFamily="34" charset="0"/>
                    <a:cs typeface="Calibri" panose="020F0502020204030204" pitchFamily="34" charset="0"/>
                  </a:rPr>
                  <a:t> Calculate the value of:</a:t>
                </a:r>
              </a:p>
              <a:p>
                <a:pPr marL="0" indent="0">
                  <a:buNone/>
                </a:pPr>
                <a:r>
                  <a:rPr lang="en-AU" sz="2400" dirty="0">
                    <a:latin typeface="Calibri" panose="020F0502020204030204" pitchFamily="34" charset="0"/>
                    <a:cs typeface="Calibri" panose="020F0502020204030204" pitchFamily="34" charset="0"/>
                  </a:rPr>
                  <a:t>	 </a:t>
                </a:r>
                <a14:m>
                  <m:oMath xmlns:m="http://schemas.openxmlformats.org/officeDocument/2006/math">
                    <m:r>
                      <a:rPr lang="en-AU" sz="2400" b="0" i="1" smtClean="0">
                        <a:latin typeface="Cambria Math" panose="02040503050406030204" pitchFamily="18" charset="0"/>
                        <a:cs typeface="Calibri" panose="020F0502020204030204" pitchFamily="34" charset="0"/>
                      </a:rPr>
                      <m:t>−2</m:t>
                    </m:r>
                    <m:r>
                      <a:rPr lang="en-AU" sz="2400" b="0" i="1" smtClean="0">
                        <a:latin typeface="Cambria Math" panose="02040503050406030204" pitchFamily="18" charset="0"/>
                        <a:cs typeface="Calibri" panose="020F0502020204030204" pitchFamily="34" charset="0"/>
                      </a:rPr>
                      <m:t>𝑦</m:t>
                    </m:r>
                    <m:r>
                      <a:rPr lang="en-AU" sz="2400" b="0" i="1" smtClean="0">
                        <a:latin typeface="Cambria Math" panose="02040503050406030204" pitchFamily="18" charset="0"/>
                        <a:cs typeface="Calibri" panose="020F0502020204030204" pitchFamily="34" charset="0"/>
                      </a:rPr>
                      <m:t> −2</m:t>
                    </m:r>
                    <m:r>
                      <a:rPr lang="en-AU" sz="2400" b="0" i="1" smtClean="0">
                        <a:latin typeface="Cambria Math" panose="02040503050406030204" pitchFamily="18" charset="0"/>
                        <a:cs typeface="Calibri" panose="020F0502020204030204" pitchFamily="34" charset="0"/>
                      </a:rPr>
                      <m:t>𝑥</m:t>
                    </m:r>
                    <m:r>
                      <a:rPr lang="en-AU" sz="2400" b="0" i="1" smtClean="0">
                        <a:latin typeface="Cambria Math" panose="02040503050406030204" pitchFamily="18" charset="0"/>
                        <a:cs typeface="Calibri" panose="020F0502020204030204" pitchFamily="34" charset="0"/>
                      </a:rPr>
                      <m:t>+4</m:t>
                    </m:r>
                    <m:r>
                      <a:rPr lang="en-AU" sz="2400" b="0" i="1" smtClean="0">
                        <a:latin typeface="Cambria Math" panose="02040503050406030204" pitchFamily="18" charset="0"/>
                        <a:cs typeface="Calibri" panose="020F0502020204030204" pitchFamily="34" charset="0"/>
                      </a:rPr>
                      <m:t>𝑦</m:t>
                    </m:r>
                    <m:r>
                      <a:rPr lang="en-AU" sz="2400" b="0" i="1" smtClean="0">
                        <a:latin typeface="Cambria Math" panose="02040503050406030204" pitchFamily="18" charset="0"/>
                        <a:cs typeface="Calibri" panose="020F0502020204030204" pitchFamily="34" charset="0"/>
                      </a:rPr>
                      <m:t>+3</m:t>
                    </m:r>
                    <m:r>
                      <a:rPr lang="en-AU" sz="2400" b="0" i="1" smtClean="0">
                        <a:latin typeface="Cambria Math" panose="02040503050406030204" pitchFamily="18" charset="0"/>
                        <a:cs typeface="Calibri" panose="020F0502020204030204" pitchFamily="34" charset="0"/>
                      </a:rPr>
                      <m:t>𝑥</m:t>
                    </m:r>
                  </m:oMath>
                </a14:m>
                <a:endParaRPr lang="en-AU" sz="2400" dirty="0">
                  <a:latin typeface="Calibri" panose="020F0502020204030204" pitchFamily="34" charset="0"/>
                  <a:cs typeface="Calibri" panose="020F0502020204030204" pitchFamily="34" charset="0"/>
                </a:endParaRPr>
              </a:p>
            </p:txBody>
          </p:sp>
        </mc:Choice>
        <mc:Fallback xmlns="">
          <p:sp>
            <p:nvSpPr>
              <p:cNvPr id="3" name="Content Placeholder 2">
                <a:extLst>
                  <a:ext uri="{FF2B5EF4-FFF2-40B4-BE49-F238E27FC236}">
                    <a16:creationId xmlns:a16="http://schemas.microsoft.com/office/drawing/2014/main" id="{F5C9BC97-E084-4305-8742-02C144E0C26A}"/>
                  </a:ext>
                </a:extLst>
              </p:cNvPr>
              <p:cNvSpPr>
                <a:spLocks noGrp="1" noRot="1" noChangeAspect="1" noMove="1" noResize="1" noEditPoints="1" noAdjustHandles="1" noChangeArrowheads="1" noChangeShapeType="1" noTextEdit="1"/>
              </p:cNvSpPr>
              <p:nvPr>
                <p:ph idx="1"/>
              </p:nvPr>
            </p:nvSpPr>
            <p:spPr>
              <a:xfrm>
                <a:off x="857872" y="1631749"/>
                <a:ext cx="7208442" cy="4453722"/>
              </a:xfrm>
              <a:blipFill>
                <a:blip r:embed="rId3"/>
                <a:stretch>
                  <a:fillRect l="-1933" t="-568" r="-2636"/>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AF8740F4-4E29-46F0-AE17-D5002ED9BE37}"/>
              </a:ext>
            </a:extLst>
          </p:cNvPr>
          <p:cNvSpPr txBox="1"/>
          <p:nvPr/>
        </p:nvSpPr>
        <p:spPr>
          <a:xfrm>
            <a:off x="5657717" y="48839"/>
            <a:ext cx="5258555" cy="584775"/>
          </a:xfrm>
          <a:prstGeom prst="rect">
            <a:avLst/>
          </a:prstGeom>
          <a:noFill/>
        </p:spPr>
        <p:txBody>
          <a:bodyPr wrap="none" rtlCol="0">
            <a:spAutoFit/>
          </a:bodyPr>
          <a:lstStyle/>
          <a:p>
            <a:pPr defTabSz="914126"/>
            <a:r>
              <a:rPr lang="en-AU" sz="3200" dirty="0">
                <a:solidFill>
                  <a:prstClr val="black"/>
                </a:solidFill>
                <a:latin typeface="Calibri" panose="020F0502020204030204" pitchFamily="34" charset="0"/>
                <a:cs typeface="Calibri" panose="020F0502020204030204" pitchFamily="34" charset="0"/>
              </a:rPr>
              <a:t>Topic: </a:t>
            </a:r>
            <a:r>
              <a:rPr lang="en-AU" sz="3200" dirty="0">
                <a:latin typeface="Calibri" panose="020F0502020204030204" pitchFamily="34" charset="0"/>
                <a:cs typeface="Calibri" panose="020F0502020204030204" pitchFamily="34" charset="0"/>
              </a:rPr>
              <a:t>Geometry and Mapping</a:t>
            </a:r>
            <a:endParaRPr lang="en-AU" sz="3200" dirty="0">
              <a:solidFill>
                <a:prstClr val="black"/>
              </a:solidFill>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8ACED037-8382-4B21-A2F7-E1E36A739063}"/>
              </a:ext>
            </a:extLst>
          </p:cNvPr>
          <p:cNvSpPr txBox="1"/>
          <p:nvPr/>
        </p:nvSpPr>
        <p:spPr>
          <a:xfrm>
            <a:off x="4901025" y="570392"/>
            <a:ext cx="6815487" cy="830997"/>
          </a:xfrm>
          <a:prstGeom prst="rect">
            <a:avLst/>
          </a:prstGeom>
          <a:noFill/>
        </p:spPr>
        <p:txBody>
          <a:bodyPr wrap="square" rtlCol="0">
            <a:spAutoFit/>
          </a:bodyPr>
          <a:lstStyle/>
          <a:p>
            <a:pPr defTabSz="914126"/>
            <a:r>
              <a:rPr lang="en-AU" sz="2399" dirty="0">
                <a:solidFill>
                  <a:prstClr val="black"/>
                </a:solidFill>
                <a:latin typeface="Calibri" panose="020F0502020204030204" pitchFamily="34" charset="0"/>
                <a:cs typeface="Calibri" panose="020F0502020204030204" pitchFamily="34" charset="0"/>
              </a:rPr>
              <a:t>EQ – </a:t>
            </a:r>
            <a:r>
              <a:rPr lang="en-US" sz="2400" dirty="0">
                <a:latin typeface="Calibri" panose="020F0502020204030204" pitchFamily="34" charset="0"/>
                <a:cs typeface="Calibri" panose="020F0502020204030204" pitchFamily="34" charset="0"/>
              </a:rPr>
              <a:t>How can we apply our knowledge of scale ratios to figure out real life distances</a:t>
            </a:r>
            <a:r>
              <a:rPr lang="en-AU" sz="2400" dirty="0">
                <a:latin typeface="Calibri" panose="020F0502020204030204" pitchFamily="34" charset="0"/>
                <a:cs typeface="Calibri" panose="020F0502020204030204" pitchFamily="34" charset="0"/>
              </a:rPr>
              <a:t>?</a:t>
            </a:r>
            <a:endParaRPr lang="en-AU" sz="2399" dirty="0">
              <a:solidFill>
                <a:prstClr val="black"/>
              </a:solidFill>
              <a:latin typeface="Calibri" panose="020F0502020204030204" pitchFamily="34" charset="0"/>
              <a:cs typeface="Calibri" panose="020F0502020204030204" pitchFamily="34" charset="0"/>
            </a:endParaRPr>
          </a:p>
        </p:txBody>
      </p:sp>
      <p:sp>
        <p:nvSpPr>
          <p:cNvPr id="6" name="Content Placeholder 2">
            <a:extLst>
              <a:ext uri="{FF2B5EF4-FFF2-40B4-BE49-F238E27FC236}">
                <a16:creationId xmlns:a16="http://schemas.microsoft.com/office/drawing/2014/main" id="{D3B1C2A0-750D-AF4B-AA40-02BE835E824F}"/>
              </a:ext>
            </a:extLst>
          </p:cNvPr>
          <p:cNvSpPr txBox="1">
            <a:spLocks/>
          </p:cNvSpPr>
          <p:nvPr/>
        </p:nvSpPr>
        <p:spPr>
          <a:xfrm>
            <a:off x="8286994" y="1631749"/>
            <a:ext cx="3765213" cy="4453722"/>
          </a:xfrm>
          <a:prstGeom prst="rect">
            <a:avLst/>
          </a:prstGeom>
        </p:spPr>
        <p:txBody>
          <a:bodyPr vert="horz" lIns="45720" tIns="45720" rIns="45720" bIns="45720" rtlCol="0">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pPr marL="457200" indent="-457200">
              <a:buFont typeface="+mj-lt"/>
              <a:buAutoNum type="arabicPeriod"/>
            </a:pPr>
            <a:r>
              <a:rPr lang="en-AU" sz="2400" dirty="0">
                <a:solidFill>
                  <a:srgbClr val="FF0000"/>
                </a:solidFill>
                <a:latin typeface="Calibri" panose="020F0502020204030204" pitchFamily="34" charset="0"/>
                <a:ea typeface="Cambria Math" panose="02040503050406030204" pitchFamily="18" charset="0"/>
                <a:cs typeface="Calibri" panose="020F0502020204030204" pitchFamily="34" charset="0"/>
              </a:rPr>
              <a:t>25.6</a:t>
            </a:r>
          </a:p>
          <a:p>
            <a:pPr marL="457200" indent="-457200">
              <a:buFont typeface="+mj-lt"/>
              <a:buAutoNum type="arabicPeriod"/>
            </a:pPr>
            <a:r>
              <a:rPr lang="en-AU" sz="2400" dirty="0">
                <a:solidFill>
                  <a:srgbClr val="FF0000"/>
                </a:solidFill>
                <a:latin typeface="Calibri" panose="020F0502020204030204" pitchFamily="34" charset="0"/>
                <a:ea typeface="Cambria Math" panose="02040503050406030204" pitchFamily="18" charset="0"/>
                <a:cs typeface="Calibri" panose="020F0502020204030204" pitchFamily="34" charset="0"/>
              </a:rPr>
              <a:t>91</a:t>
            </a:r>
          </a:p>
          <a:p>
            <a:pPr marL="457200" indent="-457200">
              <a:buFont typeface="+mj-lt"/>
              <a:buAutoNum type="arabicPeriod"/>
            </a:pPr>
            <a:r>
              <a:rPr lang="en-AU" sz="2400" dirty="0">
                <a:solidFill>
                  <a:srgbClr val="FF0000"/>
                </a:solidFill>
                <a:latin typeface="Calibri" panose="020F0502020204030204" pitchFamily="34" charset="0"/>
                <a:ea typeface="Cambria Math" panose="02040503050406030204" pitchFamily="18" charset="0"/>
                <a:cs typeface="Calibri" panose="020F0502020204030204" pitchFamily="34" charset="0"/>
              </a:rPr>
              <a:t>1 334m/sec (rounded)</a:t>
            </a:r>
          </a:p>
          <a:p>
            <a:pPr marL="457200" indent="-457200">
              <a:buFont typeface="+mj-lt"/>
              <a:buAutoNum type="arabicPeriod"/>
            </a:pPr>
            <a:r>
              <a:rPr lang="en-AU" sz="2400" dirty="0">
                <a:solidFill>
                  <a:srgbClr val="FF0000"/>
                </a:solidFill>
                <a:latin typeface="Calibri" panose="020F0502020204030204" pitchFamily="34" charset="0"/>
                <a:ea typeface="Cambria Math" panose="02040503050406030204" pitchFamily="18" charset="0"/>
                <a:cs typeface="Calibri" panose="020F0502020204030204" pitchFamily="34" charset="0"/>
              </a:rPr>
              <a:t>1.8kw x 2h x 80 days.</a:t>
            </a:r>
            <a:br>
              <a:rPr lang="en-AU" sz="2400" dirty="0">
                <a:solidFill>
                  <a:srgbClr val="FF0000"/>
                </a:solidFill>
                <a:latin typeface="Calibri" panose="020F0502020204030204" pitchFamily="34" charset="0"/>
                <a:ea typeface="Cambria Math" panose="02040503050406030204" pitchFamily="18" charset="0"/>
                <a:cs typeface="Calibri" panose="020F0502020204030204" pitchFamily="34" charset="0"/>
              </a:rPr>
            </a:br>
            <a:r>
              <a:rPr lang="en-AU" sz="2400" dirty="0">
                <a:solidFill>
                  <a:srgbClr val="FF0000"/>
                </a:solidFill>
                <a:latin typeface="Calibri" panose="020F0502020204030204" pitchFamily="34" charset="0"/>
                <a:ea typeface="Cambria Math" panose="02040503050406030204" pitchFamily="18" charset="0"/>
                <a:cs typeface="Calibri" panose="020F0502020204030204" pitchFamily="34" charset="0"/>
              </a:rPr>
              <a:t>=288kwh </a:t>
            </a:r>
          </a:p>
          <a:p>
            <a:pPr marL="457200" indent="-457200">
              <a:buFont typeface="+mj-lt"/>
              <a:buAutoNum type="arabicPeriod"/>
            </a:pPr>
            <a:r>
              <a:rPr lang="en-AU" sz="2400" dirty="0">
                <a:solidFill>
                  <a:srgbClr val="FF0000"/>
                </a:solidFill>
                <a:latin typeface="Calibri" panose="020F0502020204030204" pitchFamily="34" charset="0"/>
                <a:ea typeface="Cambria Math" panose="02040503050406030204" pitchFamily="18" charset="0"/>
                <a:cs typeface="Calibri" panose="020F0502020204030204" pitchFamily="34" charset="0"/>
              </a:rPr>
              <a:t>3</a:t>
            </a:r>
          </a:p>
          <a:p>
            <a:pPr marL="457200" indent="-457200">
              <a:buFont typeface="+mj-lt"/>
              <a:buAutoNum type="arabicPeriod"/>
            </a:pPr>
            <a:endParaRPr lang="en-AU" sz="2400" dirty="0">
              <a:solidFill>
                <a:srgbClr val="FF0000"/>
              </a:solidFill>
              <a:latin typeface="Calibri" panose="020F0502020204030204" pitchFamily="34" charset="0"/>
              <a:ea typeface="Cambria Math" panose="02040503050406030204" pitchFamily="18" charset="0"/>
              <a:cs typeface="Calibri" panose="020F0502020204030204" pitchFamily="34" charset="0"/>
            </a:endParaRPr>
          </a:p>
        </p:txBody>
      </p:sp>
    </p:spTree>
    <p:extLst>
      <p:ext uri="{BB962C8B-B14F-4D97-AF65-F5344CB8AC3E}">
        <p14:creationId xmlns:p14="http://schemas.microsoft.com/office/powerpoint/2010/main" val="42690193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a:cxnSpLocks/>
          </p:cNvCxnSpPr>
          <p:nvPr/>
        </p:nvCxnSpPr>
        <p:spPr>
          <a:xfrm>
            <a:off x="1589" y="791805"/>
            <a:ext cx="12188825"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1588" y="-46627"/>
            <a:ext cx="575914" cy="830781"/>
          </a:xfrm>
          <a:prstGeom prst="rect">
            <a:avLst/>
          </a:prstGeom>
          <a:noFill/>
        </p:spPr>
        <p:txBody>
          <a:bodyPr wrap="square" rtlCol="0">
            <a:spAutoFit/>
          </a:bodyPr>
          <a:lstStyle/>
          <a:p>
            <a:pPr defTabSz="914126"/>
            <a:r>
              <a:rPr lang="en-AU" sz="1600" dirty="0">
                <a:solidFill>
                  <a:prstClr val="black"/>
                </a:solidFill>
                <a:latin typeface="Calibri" panose="020F0502020204030204" pitchFamily="34" charset="0"/>
                <a:cs typeface="Calibri" panose="020F0502020204030204" pitchFamily="34" charset="0"/>
              </a:rPr>
              <a:t>24</a:t>
            </a:r>
          </a:p>
          <a:p>
            <a:pPr defTabSz="914126"/>
            <a:r>
              <a:rPr lang="en-AU" sz="1600" dirty="0">
                <a:solidFill>
                  <a:prstClr val="black"/>
                </a:solidFill>
                <a:latin typeface="Calibri" panose="020F0502020204030204" pitchFamily="34" charset="0"/>
                <a:cs typeface="Calibri" panose="020F0502020204030204" pitchFamily="34" charset="0"/>
              </a:rPr>
              <a:t>7</a:t>
            </a:r>
          </a:p>
          <a:p>
            <a:pPr defTabSz="914126"/>
            <a:r>
              <a:rPr lang="en-AU" sz="1600" dirty="0">
                <a:solidFill>
                  <a:prstClr val="black"/>
                </a:solidFill>
                <a:latin typeface="Calibri" panose="020F0502020204030204" pitchFamily="34" charset="0"/>
                <a:cs typeface="Calibri" panose="020F0502020204030204" pitchFamily="34" charset="0"/>
              </a:rPr>
              <a:t>30</a:t>
            </a:r>
          </a:p>
        </p:txBody>
      </p:sp>
      <p:cxnSp>
        <p:nvCxnSpPr>
          <p:cNvPr id="9" name="Straight Connector 8"/>
          <p:cNvCxnSpPr>
            <a:cxnSpLocks/>
          </p:cNvCxnSpPr>
          <p:nvPr/>
        </p:nvCxnSpPr>
        <p:spPr>
          <a:xfrm>
            <a:off x="2151983" y="1298661"/>
            <a:ext cx="0" cy="5559338"/>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592821" y="123165"/>
            <a:ext cx="5232715" cy="584775"/>
          </a:xfrm>
          <a:prstGeom prst="rect">
            <a:avLst/>
          </a:prstGeom>
          <a:noFill/>
        </p:spPr>
        <p:txBody>
          <a:bodyPr wrap="none" rtlCol="0">
            <a:spAutoFit/>
          </a:bodyPr>
          <a:lstStyle/>
          <a:p>
            <a:pPr defTabSz="914126"/>
            <a:r>
              <a:rPr lang="en-AU" sz="3200" dirty="0">
                <a:solidFill>
                  <a:prstClr val="black"/>
                </a:solidFill>
                <a:latin typeface="Calibri" panose="020F0502020204030204" pitchFamily="34" charset="0"/>
                <a:cs typeface="Calibri" panose="020F0502020204030204" pitchFamily="34" charset="0"/>
              </a:rPr>
              <a:t>Topic: </a:t>
            </a:r>
            <a:r>
              <a:rPr lang="en-AU" sz="3200" dirty="0">
                <a:latin typeface="Calibri" panose="020F0502020204030204" pitchFamily="34" charset="0"/>
                <a:cs typeface="Calibri" panose="020F0502020204030204" pitchFamily="34" charset="0"/>
              </a:rPr>
              <a:t>Geometry and Mapping</a:t>
            </a:r>
            <a:endParaRPr lang="en-AU" sz="3200" dirty="0">
              <a:solidFill>
                <a:prstClr val="black"/>
              </a:solidFill>
              <a:latin typeface="Calibri" panose="020F0502020204030204" pitchFamily="34" charset="0"/>
              <a:cs typeface="Calibri" panose="020F0502020204030204" pitchFamily="34" charset="0"/>
            </a:endParaRPr>
          </a:p>
        </p:txBody>
      </p:sp>
      <p:sp>
        <p:nvSpPr>
          <p:cNvPr id="33" name="TextBox 32"/>
          <p:cNvSpPr txBox="1"/>
          <p:nvPr/>
        </p:nvSpPr>
        <p:spPr>
          <a:xfrm>
            <a:off x="289544" y="849986"/>
            <a:ext cx="11434347" cy="461665"/>
          </a:xfrm>
          <a:prstGeom prst="rect">
            <a:avLst/>
          </a:prstGeom>
          <a:noFill/>
        </p:spPr>
        <p:txBody>
          <a:bodyPr wrap="square" rtlCol="0">
            <a:spAutoFit/>
          </a:bodyPr>
          <a:lstStyle/>
          <a:p>
            <a:pPr defTabSz="914126"/>
            <a:r>
              <a:rPr lang="en-AU" sz="2399" dirty="0">
                <a:solidFill>
                  <a:prstClr val="black"/>
                </a:solidFill>
                <a:latin typeface="Calibri" panose="020F0502020204030204" pitchFamily="34" charset="0"/>
                <a:cs typeface="Calibri" panose="020F0502020204030204" pitchFamily="34" charset="0"/>
              </a:rPr>
              <a:t>EQ – </a:t>
            </a:r>
            <a:r>
              <a:rPr lang="en-US" sz="2400" dirty="0">
                <a:latin typeface="Calibri" panose="020F0502020204030204" pitchFamily="34" charset="0"/>
                <a:cs typeface="Calibri" panose="020F0502020204030204" pitchFamily="34" charset="0"/>
              </a:rPr>
              <a:t>How can we apply our knowledge of scale ratios to figure out real life distances</a:t>
            </a:r>
            <a:r>
              <a:rPr lang="en-AU" sz="2400" dirty="0">
                <a:latin typeface="Calibri" panose="020F0502020204030204" pitchFamily="34" charset="0"/>
                <a:cs typeface="Calibri" panose="020F0502020204030204" pitchFamily="34" charset="0"/>
              </a:rPr>
              <a:t>?</a:t>
            </a:r>
            <a:endParaRPr lang="en-AU" sz="2399" dirty="0">
              <a:solidFill>
                <a:prstClr val="black"/>
              </a:solidFill>
              <a:latin typeface="Calibri" panose="020F0502020204030204" pitchFamily="34" charset="0"/>
              <a:cs typeface="Calibri" panose="020F0502020204030204" pitchFamily="34" charset="0"/>
            </a:endParaRPr>
          </a:p>
        </p:txBody>
      </p:sp>
      <p:cxnSp>
        <p:nvCxnSpPr>
          <p:cNvPr id="20" name="Straight Connector 19">
            <a:extLst>
              <a:ext uri="{FF2B5EF4-FFF2-40B4-BE49-F238E27FC236}">
                <a16:creationId xmlns:a16="http://schemas.microsoft.com/office/drawing/2014/main" id="{7B753F7B-0DF6-4B46-B9CC-2218E2961FD5}"/>
              </a:ext>
            </a:extLst>
          </p:cNvPr>
          <p:cNvCxnSpPr>
            <a:cxnSpLocks/>
          </p:cNvCxnSpPr>
          <p:nvPr/>
        </p:nvCxnSpPr>
        <p:spPr>
          <a:xfrm>
            <a:off x="1589" y="1298662"/>
            <a:ext cx="12188825"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96A9E84E-8513-465B-8CA9-D1DD4FAC2317}"/>
              </a:ext>
            </a:extLst>
          </p:cNvPr>
          <p:cNvSpPr txBox="1"/>
          <p:nvPr/>
        </p:nvSpPr>
        <p:spPr>
          <a:xfrm>
            <a:off x="124245" y="5756432"/>
            <a:ext cx="2027738" cy="461545"/>
          </a:xfrm>
          <a:prstGeom prst="rect">
            <a:avLst/>
          </a:prstGeom>
          <a:noFill/>
        </p:spPr>
        <p:txBody>
          <a:bodyPr wrap="square" rtlCol="0">
            <a:spAutoFit/>
          </a:bodyPr>
          <a:lstStyle/>
          <a:p>
            <a:pPr algn="ctr"/>
            <a:r>
              <a:rPr lang="en-AU" sz="2399" b="1" dirty="0">
                <a:solidFill>
                  <a:schemeClr val="accent1"/>
                </a:solidFill>
                <a:latin typeface="Calibri" panose="020F0502020204030204" pitchFamily="34" charset="0"/>
                <a:cs typeface="Calibri" panose="020F0502020204030204" pitchFamily="34" charset="0"/>
              </a:rPr>
              <a:t>W</a:t>
            </a:r>
            <a:r>
              <a:rPr lang="en-AU" sz="2399" b="1" dirty="0">
                <a:latin typeface="Calibri" panose="020F0502020204030204" pitchFamily="34" charset="0"/>
                <a:cs typeface="Calibri" panose="020F0502020204030204" pitchFamily="34" charset="0"/>
              </a:rPr>
              <a:t>IC</a:t>
            </a:r>
            <a:r>
              <a:rPr lang="en-AU" sz="2399" b="1" dirty="0">
                <a:solidFill>
                  <a:srgbClr val="FF0000"/>
                </a:solidFill>
                <a:latin typeface="Calibri" panose="020F0502020204030204" pitchFamily="34" charset="0"/>
                <a:cs typeface="Calibri" panose="020F0502020204030204" pitchFamily="34" charset="0"/>
              </a:rPr>
              <a:t>O</a:t>
            </a:r>
            <a:r>
              <a:rPr lang="en-AU" sz="2399" b="1" dirty="0">
                <a:latin typeface="Calibri" panose="020F0502020204030204" pitchFamily="34" charset="0"/>
                <a:cs typeface="Calibri" panose="020F0502020204030204" pitchFamily="34" charset="0"/>
              </a:rPr>
              <a:t>R</a:t>
            </a:r>
            <a:endParaRPr lang="en-GB" sz="2399" b="1" dirty="0">
              <a:latin typeface="Calibri" panose="020F0502020204030204" pitchFamily="34" charset="0"/>
              <a:cs typeface="Calibri" panose="020F0502020204030204" pitchFamily="34" charset="0"/>
            </a:endParaRPr>
          </a:p>
        </p:txBody>
      </p:sp>
      <p:sp>
        <p:nvSpPr>
          <p:cNvPr id="16" name="TextBox 15">
            <a:extLst>
              <a:ext uri="{FF2B5EF4-FFF2-40B4-BE49-F238E27FC236}">
                <a16:creationId xmlns:a16="http://schemas.microsoft.com/office/drawing/2014/main" id="{11747037-0930-4608-9244-6EA1A615E4D2}"/>
              </a:ext>
            </a:extLst>
          </p:cNvPr>
          <p:cNvSpPr txBox="1"/>
          <p:nvPr/>
        </p:nvSpPr>
        <p:spPr>
          <a:xfrm>
            <a:off x="9461016" y="65433"/>
            <a:ext cx="2414308" cy="461537"/>
          </a:xfrm>
          <a:prstGeom prst="rect">
            <a:avLst/>
          </a:prstGeom>
          <a:noFill/>
        </p:spPr>
        <p:txBody>
          <a:bodyPr wrap="square" rtlCol="0">
            <a:spAutoFit/>
          </a:bodyPr>
          <a:lstStyle/>
          <a:p>
            <a:pPr defTabSz="914126"/>
            <a:r>
              <a:rPr lang="en-AU" sz="2399" dirty="0">
                <a:solidFill>
                  <a:prstClr val="black"/>
                </a:solidFill>
                <a:latin typeface="Calibri" panose="020F0502020204030204" pitchFamily="34" charset="0"/>
                <a:cs typeface="Calibri" panose="020F0502020204030204" pitchFamily="34" charset="0"/>
              </a:rPr>
              <a:t>Date: XX/XX/2021</a:t>
            </a:r>
          </a:p>
        </p:txBody>
      </p:sp>
      <p:sp>
        <p:nvSpPr>
          <p:cNvPr id="37" name="Content Placeholder 2">
            <a:extLst>
              <a:ext uri="{FF2B5EF4-FFF2-40B4-BE49-F238E27FC236}">
                <a16:creationId xmlns:a16="http://schemas.microsoft.com/office/drawing/2014/main" id="{81796017-ECD0-B347-80C8-1C89A86A6B7F}"/>
              </a:ext>
            </a:extLst>
          </p:cNvPr>
          <p:cNvSpPr txBox="1">
            <a:spLocks/>
          </p:cNvSpPr>
          <p:nvPr/>
        </p:nvSpPr>
        <p:spPr>
          <a:xfrm>
            <a:off x="2324124" y="1685465"/>
            <a:ext cx="9516830" cy="1223100"/>
          </a:xfrm>
          <a:prstGeom prst="rect">
            <a:avLst/>
          </a:prstGeom>
        </p:spPr>
        <p:txBody>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pPr marL="0" indent="0">
              <a:buFont typeface="Tw Cen MT" panose="020B0602020104020603" pitchFamily="34" charset="0"/>
              <a:buNone/>
            </a:pPr>
            <a:r>
              <a:rPr lang="en-GB" dirty="0">
                <a:solidFill>
                  <a:schemeClr val="tx2"/>
                </a:solidFill>
                <a:latin typeface="Calibri" panose="020F0502020204030204" pitchFamily="34" charset="0"/>
                <a:cs typeface="Calibri" panose="020F0502020204030204" pitchFamily="34" charset="0"/>
              </a:rPr>
              <a:t>Most new cars today have a built in GPS. Our phones have multiple apps for directions. But what happens when we need to use an alternate route due to an accident or trusty Google Maps has given us a dodgy route?</a:t>
            </a:r>
          </a:p>
        </p:txBody>
      </p:sp>
      <p:sp>
        <p:nvSpPr>
          <p:cNvPr id="38" name="Content Placeholder 2">
            <a:extLst>
              <a:ext uri="{FF2B5EF4-FFF2-40B4-BE49-F238E27FC236}">
                <a16:creationId xmlns:a16="http://schemas.microsoft.com/office/drawing/2014/main" id="{49BF86FA-DDC3-714C-8CA4-3CA2715E5B6D}"/>
              </a:ext>
            </a:extLst>
          </p:cNvPr>
          <p:cNvSpPr txBox="1">
            <a:spLocks/>
          </p:cNvSpPr>
          <p:nvPr/>
        </p:nvSpPr>
        <p:spPr>
          <a:xfrm>
            <a:off x="2324124" y="3499288"/>
            <a:ext cx="9516830" cy="746891"/>
          </a:xfrm>
          <a:prstGeom prst="rect">
            <a:avLst/>
          </a:prstGeom>
        </p:spPr>
        <p:txBody>
          <a:bodyPr vert="horz" lIns="91440" tIns="45720" rIns="91440" bIns="45720" rtlCol="0">
            <a:noAutofit/>
          </a:bodyPr>
          <a:lstStyle>
            <a:lvl1pPr marL="228600" indent="-228600" algn="l" defTabSz="914400" rtl="0" eaLnBrk="1" latinLnBrk="0" hangingPunct="1">
              <a:lnSpc>
                <a:spcPct val="100000"/>
              </a:lnSpc>
              <a:spcBef>
                <a:spcPts val="1500"/>
              </a:spcBef>
              <a:buFont typeface="Wingdings" panose="05000000000000000000" pitchFamily="2" charset="2"/>
              <a:buChar char="§"/>
              <a:defRPr sz="2200" kern="1200">
                <a:solidFill>
                  <a:schemeClr val="tx1"/>
                </a:solidFill>
                <a:latin typeface="+mn-lt"/>
                <a:ea typeface="+mn-ea"/>
                <a:cs typeface="+mn-cs"/>
              </a:defRPr>
            </a:lvl1pPr>
            <a:lvl2pPr marL="685800" indent="-228600" algn="l" defTabSz="914400" rtl="0" eaLnBrk="1" latinLnBrk="0" hangingPunct="1">
              <a:lnSpc>
                <a:spcPct val="100000"/>
              </a:lnSpc>
              <a:spcBef>
                <a:spcPts val="300"/>
              </a:spcBef>
              <a:buFont typeface="Wingdings" panose="05000000000000000000" pitchFamily="2" charset="2"/>
              <a:buChar char="§"/>
              <a:defRPr sz="2000" kern="1200">
                <a:solidFill>
                  <a:schemeClr val="tx1"/>
                </a:solidFill>
                <a:latin typeface="+mn-lt"/>
                <a:ea typeface="+mn-ea"/>
                <a:cs typeface="+mn-cs"/>
              </a:defRPr>
            </a:lvl2pPr>
            <a:lvl3pPr marL="1143000" indent="-228600" algn="l" defTabSz="914400" rtl="0" eaLnBrk="1" latinLnBrk="0" hangingPunct="1">
              <a:lnSpc>
                <a:spcPct val="100000"/>
              </a:lnSpc>
              <a:spcBef>
                <a:spcPts val="300"/>
              </a:spcBef>
              <a:buFont typeface="Wingdings" panose="05000000000000000000" pitchFamily="2" charset="2"/>
              <a:buChar char="§"/>
              <a:defRPr sz="1800" kern="1200">
                <a:solidFill>
                  <a:schemeClr val="tx1"/>
                </a:solidFill>
                <a:latin typeface="+mn-lt"/>
                <a:ea typeface="+mn-ea"/>
                <a:cs typeface="+mn-cs"/>
              </a:defRPr>
            </a:lvl3pPr>
            <a:lvl4pPr marL="16002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5pPr>
            <a:lvl6pPr marL="25146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6pPr>
            <a:lvl7pPr marL="29718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7pPr>
            <a:lvl8pPr marL="34290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8pPr>
            <a:lvl9pPr marL="38862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9pPr>
          </a:lstStyle>
          <a:p>
            <a:pPr marL="0" indent="0">
              <a:buFont typeface="Wingdings" panose="05000000000000000000" pitchFamily="2" charset="2"/>
              <a:buNone/>
            </a:pPr>
            <a:r>
              <a:rPr lang="en-GB" dirty="0">
                <a:solidFill>
                  <a:schemeClr val="tx2"/>
                </a:solidFill>
                <a:latin typeface="Calibri" panose="020F0502020204030204" pitchFamily="34" charset="0"/>
                <a:cs typeface="Calibri" panose="020F0502020204030204" pitchFamily="34" charset="0"/>
              </a:rPr>
              <a:t>We use what those of us born in the 90’s and below call a street directory. Street maps have a grid, coordinate system to help us locate features. We read coordinates by starting with:</a:t>
            </a:r>
          </a:p>
          <a:p>
            <a:pPr marL="0" indent="0">
              <a:buFont typeface="Wingdings" panose="05000000000000000000" pitchFamily="2" charset="2"/>
              <a:buNone/>
            </a:pPr>
            <a:endParaRPr lang="en-GB" dirty="0">
              <a:solidFill>
                <a:schemeClr val="tx2"/>
              </a:solidFill>
              <a:latin typeface="Calibri" panose="020F0502020204030204" pitchFamily="34" charset="0"/>
              <a:cs typeface="Calibri" panose="020F0502020204030204" pitchFamily="34" charset="0"/>
            </a:endParaRPr>
          </a:p>
          <a:p>
            <a:pPr marL="0" indent="0">
              <a:buFont typeface="Wingdings" panose="05000000000000000000" pitchFamily="2" charset="2"/>
              <a:buNone/>
            </a:pPr>
            <a:endParaRPr lang="en-GB" dirty="0">
              <a:solidFill>
                <a:schemeClr val="tx2"/>
              </a:solidFill>
              <a:latin typeface="Calibri" panose="020F0502020204030204" pitchFamily="34" charset="0"/>
              <a:cs typeface="Calibri" panose="020F0502020204030204" pitchFamily="34" charset="0"/>
            </a:endParaRPr>
          </a:p>
        </p:txBody>
      </p:sp>
      <p:sp>
        <p:nvSpPr>
          <p:cNvPr id="39" name="TextBox 38">
            <a:extLst>
              <a:ext uri="{FF2B5EF4-FFF2-40B4-BE49-F238E27FC236}">
                <a16:creationId xmlns:a16="http://schemas.microsoft.com/office/drawing/2014/main" id="{AD0FFD11-8B47-B246-9E1B-C7EFD5E69493}"/>
              </a:ext>
            </a:extLst>
          </p:cNvPr>
          <p:cNvSpPr txBox="1"/>
          <p:nvPr/>
        </p:nvSpPr>
        <p:spPr>
          <a:xfrm>
            <a:off x="2836032" y="5275709"/>
            <a:ext cx="8493014" cy="830997"/>
          </a:xfrm>
          <a:prstGeom prst="rect">
            <a:avLst/>
          </a:prstGeom>
          <a:noFill/>
        </p:spPr>
        <p:txBody>
          <a:bodyPr wrap="square" rtlCol="0">
            <a:spAutoFit/>
          </a:bodyPr>
          <a:lstStyle/>
          <a:p>
            <a:pPr marL="285750" indent="-285750">
              <a:buFont typeface="Arial" charset="0"/>
              <a:buChar char="•"/>
            </a:pPr>
            <a:r>
              <a:rPr lang="en-US" sz="2400" dirty="0">
                <a:latin typeface="Calibri" panose="020F0502020204030204" pitchFamily="34" charset="0"/>
                <a:cs typeface="Calibri" panose="020F0502020204030204" pitchFamily="34" charset="0"/>
              </a:rPr>
              <a:t>The horizontal (across) letters, then the vertical (up and down) letters</a:t>
            </a:r>
          </a:p>
        </p:txBody>
      </p:sp>
    </p:spTree>
    <p:extLst>
      <p:ext uri="{BB962C8B-B14F-4D97-AF65-F5344CB8AC3E}">
        <p14:creationId xmlns:p14="http://schemas.microsoft.com/office/powerpoint/2010/main" val="28009016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a:cxnSpLocks/>
          </p:cNvCxnSpPr>
          <p:nvPr/>
        </p:nvCxnSpPr>
        <p:spPr>
          <a:xfrm>
            <a:off x="1589" y="791805"/>
            <a:ext cx="12188825"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1588" y="-46627"/>
            <a:ext cx="575914" cy="830781"/>
          </a:xfrm>
          <a:prstGeom prst="rect">
            <a:avLst/>
          </a:prstGeom>
          <a:noFill/>
        </p:spPr>
        <p:txBody>
          <a:bodyPr wrap="square" rtlCol="0">
            <a:spAutoFit/>
          </a:bodyPr>
          <a:lstStyle/>
          <a:p>
            <a:pPr defTabSz="914126"/>
            <a:r>
              <a:rPr lang="en-AU" sz="1600" dirty="0">
                <a:solidFill>
                  <a:prstClr val="black"/>
                </a:solidFill>
                <a:latin typeface="Calibri" panose="020F0502020204030204" pitchFamily="34" charset="0"/>
                <a:cs typeface="Calibri" panose="020F0502020204030204" pitchFamily="34" charset="0"/>
              </a:rPr>
              <a:t>24</a:t>
            </a:r>
          </a:p>
          <a:p>
            <a:pPr defTabSz="914126"/>
            <a:r>
              <a:rPr lang="en-AU" sz="1600" dirty="0">
                <a:solidFill>
                  <a:prstClr val="black"/>
                </a:solidFill>
                <a:latin typeface="Calibri" panose="020F0502020204030204" pitchFamily="34" charset="0"/>
                <a:cs typeface="Calibri" panose="020F0502020204030204" pitchFamily="34" charset="0"/>
              </a:rPr>
              <a:t>7</a:t>
            </a:r>
          </a:p>
          <a:p>
            <a:pPr defTabSz="914126"/>
            <a:r>
              <a:rPr lang="en-AU" sz="1600" dirty="0">
                <a:solidFill>
                  <a:prstClr val="black"/>
                </a:solidFill>
                <a:latin typeface="Calibri" panose="020F0502020204030204" pitchFamily="34" charset="0"/>
                <a:cs typeface="Calibri" panose="020F0502020204030204" pitchFamily="34" charset="0"/>
              </a:rPr>
              <a:t>30</a:t>
            </a:r>
          </a:p>
        </p:txBody>
      </p:sp>
      <p:cxnSp>
        <p:nvCxnSpPr>
          <p:cNvPr id="20" name="Straight Connector 19">
            <a:extLst>
              <a:ext uri="{FF2B5EF4-FFF2-40B4-BE49-F238E27FC236}">
                <a16:creationId xmlns:a16="http://schemas.microsoft.com/office/drawing/2014/main" id="{7B753F7B-0DF6-4B46-B9CC-2218E2961FD5}"/>
              </a:ext>
            </a:extLst>
          </p:cNvPr>
          <p:cNvCxnSpPr>
            <a:cxnSpLocks/>
          </p:cNvCxnSpPr>
          <p:nvPr/>
        </p:nvCxnSpPr>
        <p:spPr>
          <a:xfrm>
            <a:off x="3175" y="1832062"/>
            <a:ext cx="12188825"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96A9E84E-8513-465B-8CA9-D1DD4FAC2317}"/>
              </a:ext>
            </a:extLst>
          </p:cNvPr>
          <p:cNvSpPr txBox="1"/>
          <p:nvPr/>
        </p:nvSpPr>
        <p:spPr>
          <a:xfrm>
            <a:off x="124245" y="5756432"/>
            <a:ext cx="2027738" cy="461545"/>
          </a:xfrm>
          <a:prstGeom prst="rect">
            <a:avLst/>
          </a:prstGeom>
          <a:noFill/>
        </p:spPr>
        <p:txBody>
          <a:bodyPr wrap="square" rtlCol="0">
            <a:spAutoFit/>
          </a:bodyPr>
          <a:lstStyle/>
          <a:p>
            <a:pPr algn="ctr"/>
            <a:r>
              <a:rPr lang="en-AU" sz="2399" b="1" dirty="0">
                <a:solidFill>
                  <a:schemeClr val="accent1"/>
                </a:solidFill>
                <a:latin typeface="Calibri" panose="020F0502020204030204" pitchFamily="34" charset="0"/>
                <a:cs typeface="Calibri" panose="020F0502020204030204" pitchFamily="34" charset="0"/>
              </a:rPr>
              <a:t>W</a:t>
            </a:r>
            <a:r>
              <a:rPr lang="en-AU" sz="2399" b="1" dirty="0">
                <a:latin typeface="Calibri" panose="020F0502020204030204" pitchFamily="34" charset="0"/>
                <a:cs typeface="Calibri" panose="020F0502020204030204" pitchFamily="34" charset="0"/>
              </a:rPr>
              <a:t>IC</a:t>
            </a:r>
            <a:r>
              <a:rPr lang="en-AU" sz="2399" b="1" dirty="0">
                <a:solidFill>
                  <a:srgbClr val="FF0000"/>
                </a:solidFill>
                <a:latin typeface="Calibri" panose="020F0502020204030204" pitchFamily="34" charset="0"/>
                <a:cs typeface="Calibri" panose="020F0502020204030204" pitchFamily="34" charset="0"/>
              </a:rPr>
              <a:t>O</a:t>
            </a:r>
            <a:r>
              <a:rPr lang="en-AU" sz="2399" b="1" dirty="0">
                <a:latin typeface="Calibri" panose="020F0502020204030204" pitchFamily="34" charset="0"/>
                <a:cs typeface="Calibri" panose="020F0502020204030204" pitchFamily="34" charset="0"/>
              </a:rPr>
              <a:t>R</a:t>
            </a:r>
            <a:endParaRPr lang="en-GB" sz="2399" b="1" dirty="0">
              <a:latin typeface="Calibri" panose="020F0502020204030204" pitchFamily="34" charset="0"/>
              <a:cs typeface="Calibri" panose="020F0502020204030204" pitchFamily="34" charset="0"/>
            </a:endParaRPr>
          </a:p>
        </p:txBody>
      </p:sp>
      <p:sp>
        <p:nvSpPr>
          <p:cNvPr id="15" name="TextBox 14">
            <a:extLst>
              <a:ext uri="{FF2B5EF4-FFF2-40B4-BE49-F238E27FC236}">
                <a16:creationId xmlns:a16="http://schemas.microsoft.com/office/drawing/2014/main" id="{D8778F4F-03E6-DA49-8047-0CE7ACBB4A6F}"/>
              </a:ext>
            </a:extLst>
          </p:cNvPr>
          <p:cNvSpPr txBox="1"/>
          <p:nvPr/>
        </p:nvSpPr>
        <p:spPr>
          <a:xfrm>
            <a:off x="6418260" y="76375"/>
            <a:ext cx="5232715" cy="584775"/>
          </a:xfrm>
          <a:prstGeom prst="rect">
            <a:avLst/>
          </a:prstGeom>
          <a:noFill/>
        </p:spPr>
        <p:txBody>
          <a:bodyPr wrap="none" rtlCol="0">
            <a:spAutoFit/>
          </a:bodyPr>
          <a:lstStyle/>
          <a:p>
            <a:pPr defTabSz="914126"/>
            <a:r>
              <a:rPr lang="en-AU" sz="3200" dirty="0">
                <a:solidFill>
                  <a:prstClr val="black"/>
                </a:solidFill>
                <a:latin typeface="Calibri" panose="020F0502020204030204" pitchFamily="34" charset="0"/>
                <a:cs typeface="Calibri" panose="020F0502020204030204" pitchFamily="34" charset="0"/>
              </a:rPr>
              <a:t>Topic: </a:t>
            </a:r>
            <a:r>
              <a:rPr lang="en-AU" sz="3200" dirty="0">
                <a:latin typeface="Calibri" panose="020F0502020204030204" pitchFamily="34" charset="0"/>
                <a:cs typeface="Calibri" panose="020F0502020204030204" pitchFamily="34" charset="0"/>
              </a:rPr>
              <a:t>Geometry and Mapping</a:t>
            </a:r>
            <a:endParaRPr lang="en-AU" sz="3200" dirty="0">
              <a:solidFill>
                <a:prstClr val="black"/>
              </a:solidFill>
              <a:latin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6C22FAE8-A50A-0740-A68A-EFF3B85A6430}"/>
              </a:ext>
            </a:extLst>
          </p:cNvPr>
          <p:cNvSpPr txBox="1"/>
          <p:nvPr/>
        </p:nvSpPr>
        <p:spPr>
          <a:xfrm>
            <a:off x="6311557" y="839118"/>
            <a:ext cx="5806455" cy="830997"/>
          </a:xfrm>
          <a:prstGeom prst="rect">
            <a:avLst/>
          </a:prstGeom>
          <a:noFill/>
        </p:spPr>
        <p:txBody>
          <a:bodyPr wrap="square" rtlCol="0">
            <a:spAutoFit/>
          </a:bodyPr>
          <a:lstStyle/>
          <a:p>
            <a:pPr defTabSz="914126"/>
            <a:r>
              <a:rPr lang="en-AU" sz="2399" dirty="0">
                <a:solidFill>
                  <a:prstClr val="black"/>
                </a:solidFill>
                <a:latin typeface="Calibri" panose="020F0502020204030204" pitchFamily="34" charset="0"/>
                <a:cs typeface="Calibri" panose="020F0502020204030204" pitchFamily="34" charset="0"/>
              </a:rPr>
              <a:t>EQ – </a:t>
            </a:r>
            <a:r>
              <a:rPr lang="en-US" sz="2400" dirty="0">
                <a:latin typeface="Calibri" panose="020F0502020204030204" pitchFamily="34" charset="0"/>
                <a:cs typeface="Calibri" panose="020F0502020204030204" pitchFamily="34" charset="0"/>
              </a:rPr>
              <a:t>How can we apply our knowledge of scale ratios to figure out real life distances</a:t>
            </a:r>
            <a:r>
              <a:rPr lang="en-AU" sz="2400" dirty="0">
                <a:latin typeface="Calibri" panose="020F0502020204030204" pitchFamily="34" charset="0"/>
                <a:cs typeface="Calibri" panose="020F0502020204030204" pitchFamily="34" charset="0"/>
              </a:rPr>
              <a:t>?</a:t>
            </a:r>
            <a:endParaRPr lang="en-AU" sz="2399" dirty="0">
              <a:solidFill>
                <a:prstClr val="black"/>
              </a:solidFill>
              <a:latin typeface="Calibri" panose="020F0502020204030204" pitchFamily="34" charset="0"/>
              <a:cs typeface="Calibri" panose="020F0502020204030204" pitchFamily="34" charset="0"/>
            </a:endParaRPr>
          </a:p>
        </p:txBody>
      </p:sp>
      <p:pic>
        <p:nvPicPr>
          <p:cNvPr id="21" name="Picture 20">
            <a:extLst>
              <a:ext uri="{FF2B5EF4-FFF2-40B4-BE49-F238E27FC236}">
                <a16:creationId xmlns:a16="http://schemas.microsoft.com/office/drawing/2014/main" id="{2F163D75-AA31-8348-8336-15F7BF4CECF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9921" y="361958"/>
            <a:ext cx="5475530" cy="6473467"/>
          </a:xfrm>
          <a:prstGeom prst="rect">
            <a:avLst/>
          </a:prstGeom>
        </p:spPr>
      </p:pic>
      <p:pic>
        <p:nvPicPr>
          <p:cNvPr id="22" name="Picture 21">
            <a:extLst>
              <a:ext uri="{FF2B5EF4-FFF2-40B4-BE49-F238E27FC236}">
                <a16:creationId xmlns:a16="http://schemas.microsoft.com/office/drawing/2014/main" id="{E4B07DF8-9748-1448-9F4E-C91F6AFA7E3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82782" y="2375495"/>
            <a:ext cx="6210300" cy="993648"/>
          </a:xfrm>
          <a:prstGeom prst="rect">
            <a:avLst/>
          </a:prstGeom>
        </p:spPr>
      </p:pic>
      <p:pic>
        <p:nvPicPr>
          <p:cNvPr id="23" name="Picture 22">
            <a:extLst>
              <a:ext uri="{FF2B5EF4-FFF2-40B4-BE49-F238E27FC236}">
                <a16:creationId xmlns:a16="http://schemas.microsoft.com/office/drawing/2014/main" id="{298CEF58-99F6-9F40-9BBA-D3113AB1EF6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782782" y="3953032"/>
            <a:ext cx="6210300" cy="1803400"/>
          </a:xfrm>
          <a:prstGeom prst="rect">
            <a:avLst/>
          </a:prstGeom>
        </p:spPr>
      </p:pic>
      <p:sp>
        <p:nvSpPr>
          <p:cNvPr id="2" name="TextBox 1">
            <a:extLst>
              <a:ext uri="{FF2B5EF4-FFF2-40B4-BE49-F238E27FC236}">
                <a16:creationId xmlns:a16="http://schemas.microsoft.com/office/drawing/2014/main" id="{1753D70F-6709-A94A-A0BE-F884FC07F12B}"/>
              </a:ext>
            </a:extLst>
          </p:cNvPr>
          <p:cNvSpPr txBox="1"/>
          <p:nvPr/>
        </p:nvSpPr>
        <p:spPr>
          <a:xfrm>
            <a:off x="1040431" y="-20710"/>
            <a:ext cx="1638300" cy="584775"/>
          </a:xfrm>
          <a:prstGeom prst="rect">
            <a:avLst/>
          </a:prstGeom>
          <a:noFill/>
        </p:spPr>
        <p:txBody>
          <a:bodyPr wrap="square" rtlCol="0">
            <a:spAutoFit/>
          </a:bodyPr>
          <a:lstStyle/>
          <a:p>
            <a:r>
              <a:rPr lang="en-US" sz="3200" b="1" dirty="0"/>
              <a:t>Practice</a:t>
            </a:r>
          </a:p>
        </p:txBody>
      </p:sp>
    </p:spTree>
    <p:extLst>
      <p:ext uri="{BB962C8B-B14F-4D97-AF65-F5344CB8AC3E}">
        <p14:creationId xmlns:p14="http://schemas.microsoft.com/office/powerpoint/2010/main" val="19313335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additive="base">
                                        <p:cTn id="7" dur="500" fill="hold"/>
                                        <p:tgtEl>
                                          <p:spTgt spid="22"/>
                                        </p:tgtEl>
                                        <p:attrNameLst>
                                          <p:attrName>ppt_x</p:attrName>
                                        </p:attrNameLst>
                                      </p:cBhvr>
                                      <p:tavLst>
                                        <p:tav tm="0">
                                          <p:val>
                                            <p:strVal val="#ppt_x"/>
                                          </p:val>
                                        </p:tav>
                                        <p:tav tm="100000">
                                          <p:val>
                                            <p:strVal val="#ppt_x"/>
                                          </p:val>
                                        </p:tav>
                                      </p:tavLst>
                                    </p:anim>
                                    <p:anim calcmode="lin" valueType="num">
                                      <p:cBhvr additive="base">
                                        <p:cTn id="8"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3" presetClass="entr" presetSubtype="10" fill="hold" nodeType="clickEffect">
                                  <p:stCondLst>
                                    <p:cond delay="0"/>
                                  </p:stCondLst>
                                  <p:childTnLst>
                                    <p:set>
                                      <p:cBhvr>
                                        <p:cTn id="12" dur="1" fill="hold">
                                          <p:stCondLst>
                                            <p:cond delay="0"/>
                                          </p:stCondLst>
                                        </p:cTn>
                                        <p:tgtEl>
                                          <p:spTgt spid="23"/>
                                        </p:tgtEl>
                                        <p:attrNameLst>
                                          <p:attrName>style.visibility</p:attrName>
                                        </p:attrNameLst>
                                      </p:cBhvr>
                                      <p:to>
                                        <p:strVal val="visible"/>
                                      </p:to>
                                    </p:set>
                                    <p:animEffect transition="in" filter="blinds(horizontal)">
                                      <p:cBhvr>
                                        <p:cTn id="13"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a:cxnSpLocks/>
          </p:cNvCxnSpPr>
          <p:nvPr/>
        </p:nvCxnSpPr>
        <p:spPr>
          <a:xfrm>
            <a:off x="1589" y="791805"/>
            <a:ext cx="12188825"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1588" y="-46627"/>
            <a:ext cx="575914" cy="830781"/>
          </a:xfrm>
          <a:prstGeom prst="rect">
            <a:avLst/>
          </a:prstGeom>
          <a:noFill/>
        </p:spPr>
        <p:txBody>
          <a:bodyPr wrap="square" rtlCol="0">
            <a:spAutoFit/>
          </a:bodyPr>
          <a:lstStyle/>
          <a:p>
            <a:pPr defTabSz="914126"/>
            <a:r>
              <a:rPr lang="en-AU" sz="1600" dirty="0">
                <a:solidFill>
                  <a:prstClr val="black"/>
                </a:solidFill>
                <a:latin typeface="Calibri" panose="020F0502020204030204" pitchFamily="34" charset="0"/>
                <a:cs typeface="Calibri" panose="020F0502020204030204" pitchFamily="34" charset="0"/>
              </a:rPr>
              <a:t>24</a:t>
            </a:r>
          </a:p>
          <a:p>
            <a:pPr defTabSz="914126"/>
            <a:r>
              <a:rPr lang="en-AU" sz="1600" dirty="0">
                <a:solidFill>
                  <a:prstClr val="black"/>
                </a:solidFill>
                <a:latin typeface="Calibri" panose="020F0502020204030204" pitchFamily="34" charset="0"/>
                <a:cs typeface="Calibri" panose="020F0502020204030204" pitchFamily="34" charset="0"/>
              </a:rPr>
              <a:t>7</a:t>
            </a:r>
          </a:p>
          <a:p>
            <a:pPr defTabSz="914126"/>
            <a:r>
              <a:rPr lang="en-AU" sz="1600" dirty="0">
                <a:solidFill>
                  <a:prstClr val="black"/>
                </a:solidFill>
                <a:latin typeface="Calibri" panose="020F0502020204030204" pitchFamily="34" charset="0"/>
                <a:cs typeface="Calibri" panose="020F0502020204030204" pitchFamily="34" charset="0"/>
              </a:rPr>
              <a:t>30</a:t>
            </a:r>
          </a:p>
        </p:txBody>
      </p:sp>
      <p:cxnSp>
        <p:nvCxnSpPr>
          <p:cNvPr id="20" name="Straight Connector 19">
            <a:extLst>
              <a:ext uri="{FF2B5EF4-FFF2-40B4-BE49-F238E27FC236}">
                <a16:creationId xmlns:a16="http://schemas.microsoft.com/office/drawing/2014/main" id="{7B753F7B-0DF6-4B46-B9CC-2218E2961FD5}"/>
              </a:ext>
            </a:extLst>
          </p:cNvPr>
          <p:cNvCxnSpPr>
            <a:cxnSpLocks/>
          </p:cNvCxnSpPr>
          <p:nvPr/>
        </p:nvCxnSpPr>
        <p:spPr>
          <a:xfrm>
            <a:off x="3175" y="1832062"/>
            <a:ext cx="12188825" cy="0"/>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96A9E84E-8513-465B-8CA9-D1DD4FAC2317}"/>
              </a:ext>
            </a:extLst>
          </p:cNvPr>
          <p:cNvSpPr txBox="1"/>
          <p:nvPr/>
        </p:nvSpPr>
        <p:spPr>
          <a:xfrm>
            <a:off x="124245" y="5756432"/>
            <a:ext cx="2027738" cy="461545"/>
          </a:xfrm>
          <a:prstGeom prst="rect">
            <a:avLst/>
          </a:prstGeom>
          <a:noFill/>
        </p:spPr>
        <p:txBody>
          <a:bodyPr wrap="square" rtlCol="0">
            <a:spAutoFit/>
          </a:bodyPr>
          <a:lstStyle/>
          <a:p>
            <a:pPr algn="ctr"/>
            <a:r>
              <a:rPr lang="en-AU" sz="2399" b="1" dirty="0">
                <a:solidFill>
                  <a:schemeClr val="accent1"/>
                </a:solidFill>
                <a:latin typeface="Calibri" panose="020F0502020204030204" pitchFamily="34" charset="0"/>
                <a:cs typeface="Calibri" panose="020F0502020204030204" pitchFamily="34" charset="0"/>
              </a:rPr>
              <a:t>W</a:t>
            </a:r>
            <a:r>
              <a:rPr lang="en-AU" sz="2399" b="1" dirty="0">
                <a:latin typeface="Calibri" panose="020F0502020204030204" pitchFamily="34" charset="0"/>
                <a:cs typeface="Calibri" panose="020F0502020204030204" pitchFamily="34" charset="0"/>
              </a:rPr>
              <a:t>IC</a:t>
            </a:r>
            <a:r>
              <a:rPr lang="en-AU" sz="2399" b="1" dirty="0">
                <a:solidFill>
                  <a:srgbClr val="FF0000"/>
                </a:solidFill>
                <a:latin typeface="Calibri" panose="020F0502020204030204" pitchFamily="34" charset="0"/>
                <a:cs typeface="Calibri" panose="020F0502020204030204" pitchFamily="34" charset="0"/>
              </a:rPr>
              <a:t>O</a:t>
            </a:r>
            <a:r>
              <a:rPr lang="en-AU" sz="2399" b="1" dirty="0">
                <a:latin typeface="Calibri" panose="020F0502020204030204" pitchFamily="34" charset="0"/>
                <a:cs typeface="Calibri" panose="020F0502020204030204" pitchFamily="34" charset="0"/>
              </a:rPr>
              <a:t>R</a:t>
            </a:r>
            <a:endParaRPr lang="en-GB" sz="2399" b="1" dirty="0">
              <a:latin typeface="Calibri" panose="020F0502020204030204" pitchFamily="34" charset="0"/>
              <a:cs typeface="Calibri" panose="020F0502020204030204" pitchFamily="34" charset="0"/>
            </a:endParaRPr>
          </a:p>
        </p:txBody>
      </p:sp>
      <p:sp>
        <p:nvSpPr>
          <p:cNvPr id="15" name="TextBox 14">
            <a:extLst>
              <a:ext uri="{FF2B5EF4-FFF2-40B4-BE49-F238E27FC236}">
                <a16:creationId xmlns:a16="http://schemas.microsoft.com/office/drawing/2014/main" id="{D8778F4F-03E6-DA49-8047-0CE7ACBB4A6F}"/>
              </a:ext>
            </a:extLst>
          </p:cNvPr>
          <p:cNvSpPr txBox="1"/>
          <p:nvPr/>
        </p:nvSpPr>
        <p:spPr>
          <a:xfrm>
            <a:off x="6418260" y="76375"/>
            <a:ext cx="5232715" cy="584775"/>
          </a:xfrm>
          <a:prstGeom prst="rect">
            <a:avLst/>
          </a:prstGeom>
          <a:noFill/>
        </p:spPr>
        <p:txBody>
          <a:bodyPr wrap="none" rtlCol="0">
            <a:spAutoFit/>
          </a:bodyPr>
          <a:lstStyle/>
          <a:p>
            <a:pPr defTabSz="914126"/>
            <a:r>
              <a:rPr lang="en-AU" sz="3200" dirty="0">
                <a:solidFill>
                  <a:prstClr val="black"/>
                </a:solidFill>
                <a:latin typeface="Calibri" panose="020F0502020204030204" pitchFamily="34" charset="0"/>
                <a:cs typeface="Calibri" panose="020F0502020204030204" pitchFamily="34" charset="0"/>
              </a:rPr>
              <a:t>Topic: </a:t>
            </a:r>
            <a:r>
              <a:rPr lang="en-AU" sz="3200" dirty="0">
                <a:latin typeface="Calibri" panose="020F0502020204030204" pitchFamily="34" charset="0"/>
                <a:cs typeface="Calibri" panose="020F0502020204030204" pitchFamily="34" charset="0"/>
              </a:rPr>
              <a:t>Geometry and Mapping</a:t>
            </a:r>
            <a:endParaRPr lang="en-AU" sz="3200" dirty="0">
              <a:solidFill>
                <a:prstClr val="black"/>
              </a:solidFill>
              <a:latin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6C22FAE8-A50A-0740-A68A-EFF3B85A6430}"/>
              </a:ext>
            </a:extLst>
          </p:cNvPr>
          <p:cNvSpPr txBox="1"/>
          <p:nvPr/>
        </p:nvSpPr>
        <p:spPr>
          <a:xfrm>
            <a:off x="6311557" y="839118"/>
            <a:ext cx="5806455" cy="830997"/>
          </a:xfrm>
          <a:prstGeom prst="rect">
            <a:avLst/>
          </a:prstGeom>
          <a:noFill/>
        </p:spPr>
        <p:txBody>
          <a:bodyPr wrap="square" rtlCol="0">
            <a:spAutoFit/>
          </a:bodyPr>
          <a:lstStyle/>
          <a:p>
            <a:pPr defTabSz="914126"/>
            <a:r>
              <a:rPr lang="en-AU" sz="2399" dirty="0">
                <a:solidFill>
                  <a:prstClr val="black"/>
                </a:solidFill>
                <a:latin typeface="Calibri" panose="020F0502020204030204" pitchFamily="34" charset="0"/>
                <a:cs typeface="Calibri" panose="020F0502020204030204" pitchFamily="34" charset="0"/>
              </a:rPr>
              <a:t>EQ – </a:t>
            </a:r>
            <a:r>
              <a:rPr lang="en-US" sz="2400" dirty="0">
                <a:latin typeface="Calibri" panose="020F0502020204030204" pitchFamily="34" charset="0"/>
                <a:cs typeface="Calibri" panose="020F0502020204030204" pitchFamily="34" charset="0"/>
              </a:rPr>
              <a:t>How can we apply our knowledge of scale ratios to figure out real life distances</a:t>
            </a:r>
            <a:r>
              <a:rPr lang="en-AU" sz="2400" dirty="0">
                <a:latin typeface="Calibri" panose="020F0502020204030204" pitchFamily="34" charset="0"/>
                <a:cs typeface="Calibri" panose="020F0502020204030204" pitchFamily="34" charset="0"/>
              </a:rPr>
              <a:t>?</a:t>
            </a:r>
            <a:endParaRPr lang="en-AU" sz="2399" dirty="0">
              <a:solidFill>
                <a:prstClr val="black"/>
              </a:solidFill>
              <a:latin typeface="Calibri" panose="020F0502020204030204" pitchFamily="34" charset="0"/>
              <a:cs typeface="Calibri" panose="020F0502020204030204" pitchFamily="34" charset="0"/>
            </a:endParaRPr>
          </a:p>
        </p:txBody>
      </p:sp>
      <p:pic>
        <p:nvPicPr>
          <p:cNvPr id="11" name="Picture 10">
            <a:extLst>
              <a:ext uri="{FF2B5EF4-FFF2-40B4-BE49-F238E27FC236}">
                <a16:creationId xmlns:a16="http://schemas.microsoft.com/office/drawing/2014/main" id="{DF5A505D-7AE2-2F4F-9F92-7C435181489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3714" y="534260"/>
            <a:ext cx="5829545" cy="6138168"/>
          </a:xfrm>
          <a:prstGeom prst="rect">
            <a:avLst/>
          </a:prstGeom>
        </p:spPr>
      </p:pic>
      <p:sp>
        <p:nvSpPr>
          <p:cNvPr id="14" name="TextBox 13">
            <a:extLst>
              <a:ext uri="{FF2B5EF4-FFF2-40B4-BE49-F238E27FC236}">
                <a16:creationId xmlns:a16="http://schemas.microsoft.com/office/drawing/2014/main" id="{942D6569-DBD4-6446-BC1C-4EB218591715}"/>
              </a:ext>
            </a:extLst>
          </p:cNvPr>
          <p:cNvSpPr txBox="1"/>
          <p:nvPr/>
        </p:nvSpPr>
        <p:spPr>
          <a:xfrm>
            <a:off x="1040431" y="-20710"/>
            <a:ext cx="1638300" cy="584775"/>
          </a:xfrm>
          <a:prstGeom prst="rect">
            <a:avLst/>
          </a:prstGeom>
          <a:noFill/>
        </p:spPr>
        <p:txBody>
          <a:bodyPr wrap="square" rtlCol="0">
            <a:spAutoFit/>
          </a:bodyPr>
          <a:lstStyle/>
          <a:p>
            <a:r>
              <a:rPr lang="en-US" sz="3200" b="1" dirty="0"/>
              <a:t>Practice</a:t>
            </a:r>
          </a:p>
        </p:txBody>
      </p:sp>
      <p:sp>
        <p:nvSpPr>
          <p:cNvPr id="2" name="TextBox 1">
            <a:extLst>
              <a:ext uri="{FF2B5EF4-FFF2-40B4-BE49-F238E27FC236}">
                <a16:creationId xmlns:a16="http://schemas.microsoft.com/office/drawing/2014/main" id="{1512CB9B-4DBC-6749-8E51-BB8975E2D370}"/>
              </a:ext>
            </a:extLst>
          </p:cNvPr>
          <p:cNvSpPr txBox="1"/>
          <p:nvPr/>
        </p:nvSpPr>
        <p:spPr>
          <a:xfrm>
            <a:off x="6573798" y="1994010"/>
            <a:ext cx="4703802" cy="1200329"/>
          </a:xfrm>
          <a:prstGeom prst="rect">
            <a:avLst/>
          </a:prstGeom>
          <a:noFill/>
        </p:spPr>
        <p:txBody>
          <a:bodyPr wrap="square" rtlCol="0">
            <a:spAutoFit/>
          </a:bodyPr>
          <a:lstStyle/>
          <a:p>
            <a:r>
              <a:rPr lang="en-US" dirty="0">
                <a:latin typeface="Calibri" panose="020F0502020204030204" pitchFamily="34" charset="0"/>
                <a:cs typeface="Calibri" panose="020F0502020204030204" pitchFamily="34" charset="0"/>
              </a:rPr>
              <a:t>What direction, </a:t>
            </a:r>
            <a:r>
              <a:rPr lang="en-US" b="1" dirty="0">
                <a:latin typeface="Calibri" panose="020F0502020204030204" pitchFamily="34" charset="0"/>
                <a:cs typeface="Calibri" panose="020F0502020204030204" pitchFamily="34" charset="0"/>
              </a:rPr>
              <a:t>as the crow flies,</a:t>
            </a:r>
            <a:r>
              <a:rPr lang="en-US" dirty="0">
                <a:latin typeface="Calibri" panose="020F0502020204030204" pitchFamily="34" charset="0"/>
                <a:cs typeface="Calibri" panose="020F0502020204030204" pitchFamily="34" charset="0"/>
              </a:rPr>
              <a:t> is it from Manly Oval to Manly wharf? </a:t>
            </a:r>
          </a:p>
          <a:p>
            <a:r>
              <a:rPr lang="en-US" dirty="0">
                <a:latin typeface="Calibri" panose="020F0502020204030204" pitchFamily="34" charset="0"/>
                <a:cs typeface="Calibri" panose="020F0502020204030204" pitchFamily="34" charset="0"/>
              </a:rPr>
              <a:t>(The expression ‘as the crow flies’ means ‘in a straight line’). </a:t>
            </a:r>
          </a:p>
        </p:txBody>
      </p:sp>
      <p:pic>
        <p:nvPicPr>
          <p:cNvPr id="16" name="Picture 15">
            <a:extLst>
              <a:ext uri="{FF2B5EF4-FFF2-40B4-BE49-F238E27FC236}">
                <a16:creationId xmlns:a16="http://schemas.microsoft.com/office/drawing/2014/main" id="{26D7630F-41DB-BC49-BC71-9F362D00862A}"/>
              </a:ext>
            </a:extLst>
          </p:cNvPr>
          <p:cNvPicPr>
            <a:picLocks noChangeAspect="1"/>
          </p:cNvPicPr>
          <p:nvPr/>
        </p:nvPicPr>
        <p:blipFill rotWithShape="1">
          <a:blip r:embed="rId4">
            <a:extLst>
              <a:ext uri="{28A0092B-C50C-407E-A947-70E740481C1C}">
                <a14:useLocalDpi xmlns:a14="http://schemas.microsoft.com/office/drawing/2010/main" val="0"/>
              </a:ext>
            </a:extLst>
          </a:blip>
          <a:srcRect r="44347"/>
          <a:stretch/>
        </p:blipFill>
        <p:spPr>
          <a:xfrm>
            <a:off x="6774058" y="3363753"/>
            <a:ext cx="4303282" cy="1776984"/>
          </a:xfrm>
          <a:prstGeom prst="rect">
            <a:avLst/>
          </a:prstGeom>
        </p:spPr>
      </p:pic>
      <p:pic>
        <p:nvPicPr>
          <p:cNvPr id="18" name="Picture 17">
            <a:extLst>
              <a:ext uri="{FF2B5EF4-FFF2-40B4-BE49-F238E27FC236}">
                <a16:creationId xmlns:a16="http://schemas.microsoft.com/office/drawing/2014/main" id="{41507EFC-6046-AC41-9832-587852A56CC3}"/>
              </a:ext>
            </a:extLst>
          </p:cNvPr>
          <p:cNvPicPr>
            <a:picLocks noChangeAspect="1"/>
          </p:cNvPicPr>
          <p:nvPr/>
        </p:nvPicPr>
        <p:blipFill rotWithShape="1">
          <a:blip r:embed="rId4">
            <a:extLst>
              <a:ext uri="{28A0092B-C50C-407E-A947-70E740481C1C}">
                <a14:useLocalDpi xmlns:a14="http://schemas.microsoft.com/office/drawing/2010/main" val="0"/>
              </a:ext>
            </a:extLst>
          </a:blip>
          <a:srcRect l="54787"/>
          <a:stretch/>
        </p:blipFill>
        <p:spPr>
          <a:xfrm>
            <a:off x="7286608" y="5329485"/>
            <a:ext cx="3496018" cy="1776984"/>
          </a:xfrm>
          <a:prstGeom prst="rect">
            <a:avLst/>
          </a:prstGeom>
        </p:spPr>
      </p:pic>
    </p:spTree>
    <p:extLst>
      <p:ext uri="{BB962C8B-B14F-4D97-AF65-F5344CB8AC3E}">
        <p14:creationId xmlns:p14="http://schemas.microsoft.com/office/powerpoint/2010/main" val="10311332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checkerboard(across)">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checkerboard(across)">
                                      <p:cBhvr>
                                        <p:cTn id="12"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4B18C8-BBDF-4251-BCC0-7B44E0B1C797}"/>
              </a:ext>
            </a:extLst>
          </p:cNvPr>
          <p:cNvSpPr>
            <a:spLocks noGrp="1"/>
          </p:cNvSpPr>
          <p:nvPr>
            <p:ph type="title"/>
          </p:nvPr>
        </p:nvSpPr>
        <p:spPr/>
        <p:txBody>
          <a:bodyPr/>
          <a:lstStyle/>
          <a:p>
            <a:r>
              <a:rPr lang="en-AU" dirty="0"/>
              <a:t>Further Practice:</a:t>
            </a:r>
          </a:p>
        </p:txBody>
      </p:sp>
      <p:sp>
        <p:nvSpPr>
          <p:cNvPr id="3" name="Content Placeholder 2">
            <a:extLst>
              <a:ext uri="{FF2B5EF4-FFF2-40B4-BE49-F238E27FC236}">
                <a16:creationId xmlns:a16="http://schemas.microsoft.com/office/drawing/2014/main" id="{070EBC00-1CF9-4478-A84B-AC6C23A63988}"/>
              </a:ext>
            </a:extLst>
          </p:cNvPr>
          <p:cNvSpPr>
            <a:spLocks noGrp="1"/>
          </p:cNvSpPr>
          <p:nvPr>
            <p:ph idx="1"/>
          </p:nvPr>
        </p:nvSpPr>
        <p:spPr/>
        <p:txBody>
          <a:bodyPr/>
          <a:lstStyle/>
          <a:p>
            <a:r>
              <a:rPr lang="en-AU" dirty="0">
                <a:latin typeface="Calibri" panose="020F0502020204030204" pitchFamily="34" charset="0"/>
                <a:cs typeface="Calibri" panose="020F0502020204030204" pitchFamily="34" charset="0"/>
              </a:rPr>
              <a:t>Complete the worksheet on reading maps</a:t>
            </a:r>
          </a:p>
        </p:txBody>
      </p:sp>
    </p:spTree>
    <p:extLst>
      <p:ext uri="{BB962C8B-B14F-4D97-AF65-F5344CB8AC3E}">
        <p14:creationId xmlns:p14="http://schemas.microsoft.com/office/powerpoint/2010/main" val="60750505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Violet II">
      <a:dk1>
        <a:sysClr val="windowText" lastClr="000000"/>
      </a:dk1>
      <a:lt1>
        <a:sysClr val="window" lastClr="FFFFFF"/>
      </a:lt1>
      <a:dk2>
        <a:srgbClr val="632E62"/>
      </a:dk2>
      <a:lt2>
        <a:srgbClr val="EAE5EB"/>
      </a:lt2>
      <a:accent1>
        <a:srgbClr val="92278F"/>
      </a:accent1>
      <a:accent2>
        <a:srgbClr val="9B57D3"/>
      </a:accent2>
      <a:accent3>
        <a:srgbClr val="755DD9"/>
      </a:accent3>
      <a:accent4>
        <a:srgbClr val="665EB8"/>
      </a:accent4>
      <a:accent5>
        <a:srgbClr val="45A5ED"/>
      </a:accent5>
      <a:accent6>
        <a:srgbClr val="5982DB"/>
      </a:accent6>
      <a:hlink>
        <a:srgbClr val="0066FF"/>
      </a:hlink>
      <a:folHlink>
        <a:srgbClr val="666699"/>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{5B429BC5-86D0-6A4D-967B-B643D1BC31EF}tf10001061</Template>
  <TotalTime>365</TotalTime>
  <Words>418</Words>
  <Application>Microsoft Macintosh PowerPoint</Application>
  <PresentationFormat>Widescreen</PresentationFormat>
  <Paragraphs>47</Paragraphs>
  <Slides>6</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vt:i4>
      </vt:variant>
    </vt:vector>
  </HeadingPairs>
  <TitlesOfParts>
    <vt:vector size="14" baseType="lpstr">
      <vt:lpstr>Arial</vt:lpstr>
      <vt:lpstr>Calibri</vt:lpstr>
      <vt:lpstr>Cambria Math</vt:lpstr>
      <vt:lpstr>Tw Cen MT</vt:lpstr>
      <vt:lpstr>Tw Cen MT Condensed</vt:lpstr>
      <vt:lpstr>Wingdings</vt:lpstr>
      <vt:lpstr>Wingdings 3</vt:lpstr>
      <vt:lpstr>Integral</vt:lpstr>
      <vt:lpstr>Topic: Geometry and Mapping EQ: How can we use map scales to figure out real life distances? </vt:lpstr>
      <vt:lpstr>Five Questions</vt:lpstr>
      <vt:lpstr>PowerPoint Presentation</vt:lpstr>
      <vt:lpstr>PowerPoint Presentation</vt:lpstr>
      <vt:lpstr>PowerPoint Presentation</vt:lpstr>
      <vt:lpstr>Further Practice: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Topic: Time EQ: How do I convert between Hours, Minutes, and Seconds? </dc:title>
  <dc:creator>PARLEVLIET Magdeline [Baldivis Secondary College]</dc:creator>
  <cp:lastModifiedBy>DIXON Emily [Baldivis Secondary College]</cp:lastModifiedBy>
  <cp:revision>10</cp:revision>
  <cp:lastPrinted>2021-09-21T01:50:02Z</cp:lastPrinted>
  <dcterms:created xsi:type="dcterms:W3CDTF">2021-09-13T16:02:36Z</dcterms:created>
  <dcterms:modified xsi:type="dcterms:W3CDTF">2021-10-11T08:39:15Z</dcterms:modified>
</cp:coreProperties>
</file>
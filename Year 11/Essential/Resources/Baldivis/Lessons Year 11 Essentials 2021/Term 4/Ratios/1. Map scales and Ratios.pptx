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9"/>
  </p:notesMasterIdLst>
  <p:sldIdLst>
    <p:sldId id="256" r:id="rId2"/>
    <p:sldId id="301" r:id="rId3"/>
    <p:sldId id="302" r:id="rId4"/>
    <p:sldId id="289" r:id="rId5"/>
    <p:sldId id="307" r:id="rId6"/>
    <p:sldId id="303" r:id="rId7"/>
    <p:sldId id="30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8" autoAdjust="0"/>
    <p:restoredTop sz="79087" autoAdjust="0"/>
  </p:normalViewPr>
  <p:slideViewPr>
    <p:cSldViewPr snapToGrid="0">
      <p:cViewPr varScale="1">
        <p:scale>
          <a:sx n="83" d="100"/>
          <a:sy n="83" d="100"/>
        </p:scale>
        <p:origin x="3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10/10/21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7107-940C-4618-81D1-D3CF499832C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86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in with students for their examples, go through the provided ones.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7107-940C-4618-81D1-D3CF499832C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06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757974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56167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3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0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99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3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7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2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8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7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2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ocities.com/firefly1002000/pz4e.jpg" TargetMode="External"/><Relationship Id="rId3" Type="http://schemas.openxmlformats.org/officeDocument/2006/relationships/hyperlink" Target="http://ritter.tea.state.tx.us/student.assessment/resources/online/2006/grade8/science/images/7graphicaa.gif" TargetMode="External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home.comcast.net/~d_salyers/parker/Figure12.jp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Geometry and Mapping</a:t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US" sz="4000" dirty="0"/>
              <a:t>How can we use map scales to figure out real life distances</a:t>
            </a:r>
            <a:r>
              <a:rPr lang="en-AU" sz="4000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398455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616527"/>
                <a:ext cx="7991660" cy="4815269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 have 2900 cans of soft drink to sell at a festival. I sold 639 on the first day and 806 on the second day and</a:t>
                </a: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742 on the  third day. Using rounding to work out approximately how many can I have left.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measuring cup  hold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L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liquid. I use 5 jugs to fill my bucket. What is the capacity of my bucket in millilitres?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 18 year old student rode a bike for an hour. If she burned kJ at the rate of 130kJ per 5 minutes, how much did she burn in an hour?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rectangular prism had a volume of 36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𝑐𝑚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Give 2 sets of dimensions that could make that volume.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How many minutes of your week are spent at school?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616527"/>
                <a:ext cx="7991660" cy="4815269"/>
              </a:xfrm>
              <a:blipFill>
                <a:blip r:embed="rId3"/>
                <a:stretch>
                  <a:fillRect l="-1746" t="-2632" r="-2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5657717" y="48839"/>
            <a:ext cx="5258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570392"/>
            <a:ext cx="6815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1BE8A0-51F6-7147-89D3-34F3799DBCD2}"/>
              </a:ext>
            </a:extLst>
          </p:cNvPr>
          <p:cNvSpPr txBox="1">
            <a:spLocks/>
          </p:cNvSpPr>
          <p:nvPr/>
        </p:nvSpPr>
        <p:spPr>
          <a:xfrm>
            <a:off x="8849532" y="1833886"/>
            <a:ext cx="3130658" cy="445372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900 using rounding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6250mL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130kJ x 60 / 5</a:t>
            </a:r>
            <a:b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1560kJ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 x 1 x 2</a:t>
            </a:r>
            <a:b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x 3 x 6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1800 minutes,</a:t>
            </a:r>
            <a:b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assuming a 6 hour day 5 days a week.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003F-0D4F-4D7E-B8CC-9B9125F3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9" y="-116194"/>
            <a:ext cx="9720072" cy="1499616"/>
          </a:xfrm>
        </p:spPr>
        <p:txBody>
          <a:bodyPr/>
          <a:lstStyle/>
          <a:p>
            <a:r>
              <a:rPr lang="en-AU" dirty="0"/>
              <a:t>Think Pair Write Share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179B5-D28B-7642-A1AD-45351D2A471F}"/>
              </a:ext>
            </a:extLst>
          </p:cNvPr>
          <p:cNvSpPr txBox="1"/>
          <p:nvPr/>
        </p:nvSpPr>
        <p:spPr>
          <a:xfrm>
            <a:off x="1208314" y="2204357"/>
            <a:ext cx="8899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as many examples as you can, of where we would use a scale.</a:t>
            </a: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7C11E52E-588E-BF4B-920E-5A8B1B8D40A0}"/>
              </a:ext>
            </a:extLst>
          </p:cNvPr>
          <p:cNvGrpSpPr>
            <a:grpSpLocks/>
          </p:cNvGrpSpPr>
          <p:nvPr/>
        </p:nvGrpSpPr>
        <p:grpSpPr bwMode="auto">
          <a:xfrm>
            <a:off x="9690352" y="3034895"/>
            <a:ext cx="1630015" cy="2979879"/>
            <a:chOff x="3643306" y="1857364"/>
            <a:chExt cx="2370537" cy="1302170"/>
          </a:xfrm>
        </p:grpSpPr>
        <p:pic>
          <p:nvPicPr>
            <p:cNvPr id="11" name="Picture 8" descr="See full size image">
              <a:hlinkClick r:id="rId3"/>
              <a:extLst>
                <a:ext uri="{FF2B5EF4-FFF2-40B4-BE49-F238E27FC236}">
                  <a16:creationId xmlns:a16="http://schemas.microsoft.com/office/drawing/2014/main" id="{CEA00AB7-1896-144F-8E55-B2E06A0F2B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306" y="1857364"/>
              <a:ext cx="2370537" cy="527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967EFC-3E54-6048-A80B-55E0195CB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5598" y="2790202"/>
              <a:ext cx="17859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dirty="0">
                  <a:latin typeface="Trebuchet MS" pitchFamily="34" charset="0"/>
                </a:rPr>
                <a:t>Scale Drawings</a:t>
              </a:r>
              <a:endParaRPr lang="en-US" dirty="0">
                <a:latin typeface="Trebuchet MS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78620A6-6047-4B44-9946-72F82D7E04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6906" y="2384853"/>
              <a:ext cx="1" cy="30397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25FE5C78-7FA8-B04F-8FE8-EE7F133D62C6}"/>
              </a:ext>
            </a:extLst>
          </p:cNvPr>
          <p:cNvGrpSpPr>
            <a:grpSpLocks/>
          </p:cNvGrpSpPr>
          <p:nvPr/>
        </p:nvGrpSpPr>
        <p:grpSpPr bwMode="auto">
          <a:xfrm>
            <a:off x="303550" y="3004457"/>
            <a:ext cx="2871426" cy="3135994"/>
            <a:chOff x="0" y="1000108"/>
            <a:chExt cx="2857488" cy="286966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90D46AC3-1A70-AE4E-8630-46231B2A70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786" y="1000108"/>
              <a:ext cx="2071702" cy="178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52FE1CF-67E3-5141-AC26-42104BC6314B}"/>
                </a:ext>
              </a:extLst>
            </p:cNvPr>
            <p:cNvCxnSpPr/>
            <p:nvPr/>
          </p:nvCxnSpPr>
          <p:spPr>
            <a:xfrm rot="5400000" flipH="1" flipV="1">
              <a:off x="357265" y="2714221"/>
              <a:ext cx="857089" cy="7143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82AFA3B7-FBD0-5B41-ACC6-F83C26800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500438"/>
              <a:ext cx="10715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On Maps</a:t>
              </a:r>
              <a:endParaRPr lang="en-US">
                <a:latin typeface="Trebuchet MS" pitchFamily="34" charset="0"/>
              </a:endParaRPr>
            </a:p>
          </p:txBody>
        </p:sp>
      </p:grpSp>
      <p:grpSp>
        <p:nvGrpSpPr>
          <p:cNvPr id="18" name="Group 29">
            <a:extLst>
              <a:ext uri="{FF2B5EF4-FFF2-40B4-BE49-F238E27FC236}">
                <a16:creationId xmlns:a16="http://schemas.microsoft.com/office/drawing/2014/main" id="{BE02AE3F-6EB6-064A-8996-41492B4EE2D8}"/>
              </a:ext>
            </a:extLst>
          </p:cNvPr>
          <p:cNvGrpSpPr>
            <a:grpSpLocks/>
          </p:cNvGrpSpPr>
          <p:nvPr/>
        </p:nvGrpSpPr>
        <p:grpSpPr bwMode="auto">
          <a:xfrm>
            <a:off x="3475365" y="3429001"/>
            <a:ext cx="3484411" cy="2739768"/>
            <a:chOff x="714348" y="4214818"/>
            <a:chExt cx="2903163" cy="2283553"/>
          </a:xfrm>
        </p:grpSpPr>
        <p:pic>
          <p:nvPicPr>
            <p:cNvPr id="19" name="Picture 4" descr="See full size image">
              <a:hlinkClick r:id="rId6"/>
              <a:extLst>
                <a:ext uri="{FF2B5EF4-FFF2-40B4-BE49-F238E27FC236}">
                  <a16:creationId xmlns:a16="http://schemas.microsoft.com/office/drawing/2014/main" id="{2B3B9283-C0E7-DA44-96B2-D24173178A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348" y="4214818"/>
              <a:ext cx="1655576" cy="2283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6">
              <a:extLst>
                <a:ext uri="{FF2B5EF4-FFF2-40B4-BE49-F238E27FC236}">
                  <a16:creationId xmlns:a16="http://schemas.microsoft.com/office/drawing/2014/main" id="{FA2EA3C3-4632-994D-BC8D-0E35ED350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7815" y="4745464"/>
              <a:ext cx="1039696" cy="538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dirty="0">
                  <a:latin typeface="Trebuchet MS" pitchFamily="34" charset="0"/>
                </a:rPr>
                <a:t>Footprints of houses</a:t>
              </a:r>
              <a:endParaRPr lang="en-US" dirty="0">
                <a:latin typeface="Trebuchet MS" pitchFamily="34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13ED025-FCD3-BF49-A4FF-2796942A507D}"/>
                </a:ext>
              </a:extLst>
            </p:cNvPr>
            <p:cNvCxnSpPr/>
            <p:nvPr/>
          </p:nvCxnSpPr>
          <p:spPr>
            <a:xfrm rot="10800000" flipV="1">
              <a:off x="1982119" y="5454378"/>
              <a:ext cx="714348" cy="2429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6">
            <a:extLst>
              <a:ext uri="{FF2B5EF4-FFF2-40B4-BE49-F238E27FC236}">
                <a16:creationId xmlns:a16="http://schemas.microsoft.com/office/drawing/2014/main" id="{538EE792-A10F-9F4B-AB18-5FB00AC16D57}"/>
              </a:ext>
            </a:extLst>
          </p:cNvPr>
          <p:cNvGrpSpPr>
            <a:grpSpLocks/>
          </p:cNvGrpSpPr>
          <p:nvPr/>
        </p:nvGrpSpPr>
        <p:grpSpPr bwMode="auto">
          <a:xfrm>
            <a:off x="6335848" y="2939982"/>
            <a:ext cx="2808679" cy="1997637"/>
            <a:chOff x="3702037" y="3343033"/>
            <a:chExt cx="4084673" cy="2905952"/>
          </a:xfrm>
        </p:grpSpPr>
        <p:pic>
          <p:nvPicPr>
            <p:cNvPr id="23" name="Picture 6" descr="See full size image">
              <a:hlinkClick r:id="rId8"/>
              <a:extLst>
                <a:ext uri="{FF2B5EF4-FFF2-40B4-BE49-F238E27FC236}">
                  <a16:creationId xmlns:a16="http://schemas.microsoft.com/office/drawing/2014/main" id="{AF923CC0-1F81-FC4C-AC3F-0CF30AB833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3571" y="3343033"/>
              <a:ext cx="2143139" cy="2905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TextBox 21">
              <a:extLst>
                <a:ext uri="{FF2B5EF4-FFF2-40B4-BE49-F238E27FC236}">
                  <a16:creationId xmlns:a16="http://schemas.microsoft.com/office/drawing/2014/main" id="{70BCB0E1-70BC-CF48-B820-819D259AC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2037" y="3524364"/>
              <a:ext cx="17859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dirty="0">
                  <a:latin typeface="Trebuchet MS" pitchFamily="34" charset="0"/>
                </a:rPr>
                <a:t>Vehicle design</a:t>
              </a:r>
              <a:endParaRPr lang="en-US" dirty="0">
                <a:latin typeface="Trebuchet MS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1DF9DA-1BEB-E24C-83E8-270F52805F1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315697" y="3409009"/>
              <a:ext cx="344584" cy="16081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C0EF89C-1869-634D-BA0C-202FFC91E236}"/>
              </a:ext>
            </a:extLst>
          </p:cNvPr>
          <p:cNvSpPr txBox="1"/>
          <p:nvPr/>
        </p:nvSpPr>
        <p:spPr>
          <a:xfrm>
            <a:off x="5657717" y="48839"/>
            <a:ext cx="5258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4121C-2B74-0D49-9E73-84789A577AB8}"/>
              </a:ext>
            </a:extLst>
          </p:cNvPr>
          <p:cNvSpPr txBox="1"/>
          <p:nvPr/>
        </p:nvSpPr>
        <p:spPr>
          <a:xfrm>
            <a:off x="5667692" y="610381"/>
            <a:ext cx="5652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07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1912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What information does scales provide?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3179B-673F-BA47-B06D-632CE462A440}"/>
              </a:ext>
            </a:extLst>
          </p:cNvPr>
          <p:cNvSpPr txBox="1"/>
          <p:nvPr/>
        </p:nvSpPr>
        <p:spPr>
          <a:xfrm>
            <a:off x="2672620" y="1649187"/>
            <a:ext cx="905127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dirty="0"/>
              <a:t>Scale drawing allows us to draw large objects on a smaller scale while keeping them accurate.</a:t>
            </a:r>
          </a:p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400" dirty="0"/>
              <a:t>All scale drawings  </a:t>
            </a:r>
            <a:r>
              <a:rPr lang="en-GB" sz="2400" u="sng" dirty="0"/>
              <a:t>must </a:t>
            </a:r>
            <a:r>
              <a:rPr lang="en-GB" sz="2400" dirty="0"/>
              <a:t> have a scale written on them.  Scales are usually expressed as ratios (which we just learned about!).</a:t>
            </a:r>
          </a:p>
          <a:p>
            <a:endParaRPr lang="en-GB" sz="2400" dirty="0"/>
          </a:p>
          <a:p>
            <a:pPr>
              <a:defRPr/>
            </a:pPr>
            <a:r>
              <a:rPr lang="en-GB" sz="2400" u="sng" dirty="0"/>
              <a:t>Example: 1cm : 100cm</a:t>
            </a:r>
          </a:p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400" dirty="0"/>
              <a:t>The ratio 1cm:100cm means that for every 1cm on the scale drawing the length will be 100cm in real life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191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A2A7AFE4-4EB8-DC41-9B79-321229F70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383" y="1717610"/>
            <a:ext cx="288319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 scale of </a:t>
            </a:r>
          </a:p>
          <a:p>
            <a:pPr algn="ctr">
              <a:defRPr/>
            </a:pPr>
            <a:endParaRPr lang="en-GB" sz="2800" dirty="0">
              <a:effectLst>
                <a:outerShdw blurRad="38100" dist="38100" dir="2700000" algn="tl">
                  <a:srgbClr val="000000"/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1 cm = 2m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336DD90F-C655-8648-A5B5-FA6C79EDD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976" y="1717610"/>
            <a:ext cx="578453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…means for every 1cm measured on a</a:t>
            </a:r>
          </a:p>
          <a:p>
            <a:pPr algn="ctr" eaLnBrk="1" hangingPunct="1"/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drawing this represents 2m in real-life.</a:t>
            </a:r>
          </a:p>
        </p:txBody>
      </p:sp>
      <p:pic>
        <p:nvPicPr>
          <p:cNvPr id="27" name="Picture 10" descr="PlasmaTV">
            <a:extLst>
              <a:ext uri="{FF2B5EF4-FFF2-40B4-BE49-F238E27FC236}">
                <a16:creationId xmlns:a16="http://schemas.microsoft.com/office/drawing/2014/main" id="{5173FE47-8DDB-C747-B185-3920676B4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341" y="3796048"/>
            <a:ext cx="2795520" cy="1751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Line 11">
            <a:extLst>
              <a:ext uri="{FF2B5EF4-FFF2-40B4-BE49-F238E27FC236}">
                <a16:creationId xmlns:a16="http://schemas.microsoft.com/office/drawing/2014/main" id="{C2B8E61C-2A69-584A-96E6-06F75DF9DC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92329" y="3648954"/>
            <a:ext cx="1831283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931B309-7EA9-C34A-AFA6-818E84B82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240" y="3141550"/>
            <a:ext cx="1104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4cm</a:t>
            </a:r>
            <a:endParaRPr lang="en-GB" sz="2800" dirty="0"/>
          </a:p>
        </p:txBody>
      </p:sp>
      <p:sp>
        <p:nvSpPr>
          <p:cNvPr id="30" name="Line 13">
            <a:extLst>
              <a:ext uri="{FF2B5EF4-FFF2-40B4-BE49-F238E27FC236}">
                <a16:creationId xmlns:a16="http://schemas.microsoft.com/office/drawing/2014/main" id="{F8AA8FE6-4560-7B4B-9AAE-9E70535058A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869309" y="4542201"/>
            <a:ext cx="1433086" cy="1075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7E821EB8-5520-4846-9039-3175213D8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607" y="4362911"/>
            <a:ext cx="1104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2cm</a:t>
            </a:r>
            <a:endParaRPr lang="en-GB" sz="2800" dirty="0"/>
          </a:p>
        </p:txBody>
      </p:sp>
      <p:sp>
        <p:nvSpPr>
          <p:cNvPr id="32" name="Text Box 15">
            <a:extLst>
              <a:ext uri="{FF2B5EF4-FFF2-40B4-BE49-F238E27FC236}">
                <a16:creationId xmlns:a16="http://schemas.microsoft.com/office/drawing/2014/main" id="{0F58BE66-D7AE-B748-A595-90DE1430B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425" y="5688067"/>
            <a:ext cx="5424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The scale of this drawing is 1cm = 25cm</a:t>
            </a:r>
          </a:p>
        </p:txBody>
      </p:sp>
      <p:sp>
        <p:nvSpPr>
          <p:cNvPr id="34" name="Text Box 16">
            <a:extLst>
              <a:ext uri="{FF2B5EF4-FFF2-40B4-BE49-F238E27FC236}">
                <a16:creationId xmlns:a16="http://schemas.microsoft.com/office/drawing/2014/main" id="{5296F934-3F86-D847-AAEC-0EE770E7D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077" y="6205154"/>
            <a:ext cx="68572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000" dirty="0"/>
              <a:t>What is the actual width and height of the TV ?</a:t>
            </a:r>
          </a:p>
        </p:txBody>
      </p:sp>
      <p:sp>
        <p:nvSpPr>
          <p:cNvPr id="35" name="AutoShape 17">
            <a:extLst>
              <a:ext uri="{FF2B5EF4-FFF2-40B4-BE49-F238E27FC236}">
                <a16:creationId xmlns:a16="http://schemas.microsoft.com/office/drawing/2014/main" id="{01DFCD6E-FABB-FB46-8808-8A44B3E7A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878" y="3076025"/>
            <a:ext cx="3190272" cy="841728"/>
          </a:xfrm>
          <a:prstGeom prst="cloudCallout">
            <a:avLst>
              <a:gd name="adj1" fmla="val -81778"/>
              <a:gd name="adj2" fmla="val 21532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400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4x25= 100cm</a:t>
            </a:r>
          </a:p>
        </p:txBody>
      </p:sp>
      <p:sp>
        <p:nvSpPr>
          <p:cNvPr id="36" name="AutoShape 18">
            <a:extLst>
              <a:ext uri="{FF2B5EF4-FFF2-40B4-BE49-F238E27FC236}">
                <a16:creationId xmlns:a16="http://schemas.microsoft.com/office/drawing/2014/main" id="{04513ECA-B17B-8B43-889F-953DEA803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341" y="5290807"/>
            <a:ext cx="3497474" cy="852480"/>
          </a:xfrm>
          <a:prstGeom prst="cloudCallout">
            <a:avLst>
              <a:gd name="adj1" fmla="val -93094"/>
              <a:gd name="adj2" fmla="val -40913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800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2x25 = 50cm</a:t>
            </a:r>
          </a:p>
        </p:txBody>
      </p:sp>
    </p:spTree>
    <p:extLst>
      <p:ext uri="{BB962C8B-B14F-4D97-AF65-F5344CB8AC3E}">
        <p14:creationId xmlns:p14="http://schemas.microsoft.com/office/powerpoint/2010/main" val="280090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4" grpId="0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78F4F-03E6-DA49-8047-0CE7ACBB4A6F}"/>
              </a:ext>
            </a:extLst>
          </p:cNvPr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2FAE8-A50A-0740-A68A-EFF3B85A6430}"/>
              </a:ext>
            </a:extLst>
          </p:cNvPr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BD610C-E684-2942-973F-2BEF1E6EA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42" y="1529391"/>
            <a:ext cx="11659914" cy="15510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4A3BD6-ED24-5742-A557-268ED2E83C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42" y="3067492"/>
            <a:ext cx="11706915" cy="336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3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18C8-BBDF-4251-BCC0-7B44E0B1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BC00-1CF9-4478-A84B-AC6C23A6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Complete the worksheet on converting ratios. </a:t>
            </a:r>
          </a:p>
        </p:txBody>
      </p:sp>
    </p:spTree>
    <p:extLst>
      <p:ext uri="{BB962C8B-B14F-4D97-AF65-F5344CB8AC3E}">
        <p14:creationId xmlns:p14="http://schemas.microsoft.com/office/powerpoint/2010/main" val="607505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{5B429BC5-86D0-6A4D-967B-B643D1BC31EF}tf10001061</Template>
  <TotalTime>296</TotalTime>
  <Words>533</Words>
  <Application>Microsoft Macintosh PowerPoint</Application>
  <PresentationFormat>Widescreen</PresentationFormat>
  <Paragraphs>69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Cambria Math</vt:lpstr>
      <vt:lpstr>Comic Sans MS</vt:lpstr>
      <vt:lpstr>Trebuchet MS</vt:lpstr>
      <vt:lpstr>Tw Cen MT</vt:lpstr>
      <vt:lpstr>Tw Cen MT Condensed</vt:lpstr>
      <vt:lpstr>Wingdings 3</vt:lpstr>
      <vt:lpstr>Integral</vt:lpstr>
      <vt:lpstr>Topic: Geometry and Mapping EQ: How can we use map scales to figure out real life distances? </vt:lpstr>
      <vt:lpstr>Five Questions</vt:lpstr>
      <vt:lpstr>Think Pair Write Share</vt:lpstr>
      <vt:lpstr>PowerPoint Presentation</vt:lpstr>
      <vt:lpstr>PowerPoint Presentation</vt:lpstr>
      <vt:lpstr>PowerPoint Presentation</vt:lpstr>
      <vt:lpstr>TASK: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DIXON Emily [Baldivis Secondary College]</cp:lastModifiedBy>
  <cp:revision>8</cp:revision>
  <cp:lastPrinted>2021-09-21T01:50:02Z</cp:lastPrinted>
  <dcterms:created xsi:type="dcterms:W3CDTF">2021-09-13T16:02:36Z</dcterms:created>
  <dcterms:modified xsi:type="dcterms:W3CDTF">2021-10-10T10:00:27Z</dcterms:modified>
</cp:coreProperties>
</file>
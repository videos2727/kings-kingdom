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50" r:id="rId1"/>
  </p:sldMasterIdLst>
  <p:notesMasterIdLst>
    <p:notesMasterId r:id="rId17"/>
  </p:notesMasterIdLst>
  <p:sldIdLst>
    <p:sldId id="266" r:id="rId2"/>
    <p:sldId id="301" r:id="rId3"/>
    <p:sldId id="289" r:id="rId4"/>
    <p:sldId id="290" r:id="rId5"/>
    <p:sldId id="308" r:id="rId6"/>
    <p:sldId id="310" r:id="rId7"/>
    <p:sldId id="286" r:id="rId8"/>
    <p:sldId id="291" r:id="rId9"/>
    <p:sldId id="292" r:id="rId10"/>
    <p:sldId id="309" r:id="rId11"/>
    <p:sldId id="311" r:id="rId12"/>
    <p:sldId id="312" r:id="rId13"/>
    <p:sldId id="307" r:id="rId14"/>
    <p:sldId id="294" r:id="rId15"/>
    <p:sldId id="295" r:id="rId16"/>
  </p:sldIdLst>
  <p:sldSz cx="12192000" cy="6858000"/>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2"/>
    <p:restoredTop sz="67753" autoAdjust="0"/>
  </p:normalViewPr>
  <p:slideViewPr>
    <p:cSldViewPr snapToGrid="0" snapToObjects="1">
      <p:cViewPr varScale="1">
        <p:scale>
          <a:sx n="81" d="100"/>
          <a:sy n="81" d="100"/>
        </p:scale>
        <p:origin x="1716"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7DF2789E-5AC8-448E-8E6F-EC7423D7B148}" type="datetimeFigureOut">
              <a:rPr lang="en-GB" smtClean="0"/>
              <a:t>24/07/2021</a:t>
            </a:fld>
            <a:endParaRPr lang="en-GB"/>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0C85D6DF-A159-4F50-B9AF-8F30B100FF37}" type="slidenum">
              <a:rPr lang="en-GB" smtClean="0"/>
              <a:t>‹#›</a:t>
            </a:fld>
            <a:endParaRPr lang="en-GB"/>
          </a:p>
        </p:txBody>
      </p:sp>
    </p:spTree>
    <p:extLst>
      <p:ext uri="{BB962C8B-B14F-4D97-AF65-F5344CB8AC3E}">
        <p14:creationId xmlns:p14="http://schemas.microsoft.com/office/powerpoint/2010/main" val="34262269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0C85D6DF-A159-4F50-B9AF-8F30B100FF37}" type="slidenum">
              <a:rPr lang="en-GB" smtClean="0"/>
              <a:t>1</a:t>
            </a:fld>
            <a:endParaRPr lang="en-GB"/>
          </a:p>
        </p:txBody>
      </p:sp>
    </p:spTree>
    <p:extLst>
      <p:ext uri="{BB962C8B-B14F-4D97-AF65-F5344CB8AC3E}">
        <p14:creationId xmlns:p14="http://schemas.microsoft.com/office/powerpoint/2010/main" val="19863265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sz="1400"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3</a:t>
            </a:fld>
            <a:endParaRPr lang="en-US"/>
          </a:p>
        </p:txBody>
      </p:sp>
    </p:spTree>
    <p:extLst>
      <p:ext uri="{BB962C8B-B14F-4D97-AF65-F5344CB8AC3E}">
        <p14:creationId xmlns:p14="http://schemas.microsoft.com/office/powerpoint/2010/main" val="9339680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sz="1400"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5</a:t>
            </a:fld>
            <a:endParaRPr lang="en-US"/>
          </a:p>
        </p:txBody>
      </p:sp>
    </p:spTree>
    <p:extLst>
      <p:ext uri="{BB962C8B-B14F-4D97-AF65-F5344CB8AC3E}">
        <p14:creationId xmlns:p14="http://schemas.microsoft.com/office/powerpoint/2010/main" val="39925305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sz="1400"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10</a:t>
            </a:fld>
            <a:endParaRPr lang="en-US"/>
          </a:p>
        </p:txBody>
      </p:sp>
    </p:spTree>
    <p:extLst>
      <p:ext uri="{BB962C8B-B14F-4D97-AF65-F5344CB8AC3E}">
        <p14:creationId xmlns:p14="http://schemas.microsoft.com/office/powerpoint/2010/main" val="439091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sz="1400"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11</a:t>
            </a:fld>
            <a:endParaRPr lang="en-US"/>
          </a:p>
        </p:txBody>
      </p:sp>
    </p:spTree>
    <p:extLst>
      <p:ext uri="{BB962C8B-B14F-4D97-AF65-F5344CB8AC3E}">
        <p14:creationId xmlns:p14="http://schemas.microsoft.com/office/powerpoint/2010/main" val="23590486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0C85D6DF-A159-4F50-B9AF-8F30B100FF37}" type="slidenum">
              <a:rPr lang="en-GB" smtClean="0"/>
              <a:t>15</a:t>
            </a:fld>
            <a:endParaRPr lang="en-GB"/>
          </a:p>
        </p:txBody>
      </p:sp>
    </p:spTree>
    <p:extLst>
      <p:ext uri="{BB962C8B-B14F-4D97-AF65-F5344CB8AC3E}">
        <p14:creationId xmlns:p14="http://schemas.microsoft.com/office/powerpoint/2010/main" val="37043574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EEBC23BB-2070-D146-BD10-A01B23AF686B}" type="datetimeFigureOut">
              <a:rPr lang="en-AU" smtClean="0"/>
              <a:t>24/07/2021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D89D79F-077F-204B-9403-1DA3DE99CFD3}" type="slidenum">
              <a:rPr lang="en-AU" smtClean="0"/>
              <a:t>‹#›</a:t>
            </a:fld>
            <a:endParaRPr lang="en-AU"/>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58962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EBC23BB-2070-D146-BD10-A01B23AF686B}" type="datetimeFigureOut">
              <a:rPr lang="en-AU" smtClean="0"/>
              <a:t>24/07/2021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D89D79F-077F-204B-9403-1DA3DE99CFD3}" type="slidenum">
              <a:rPr lang="en-AU" smtClean="0"/>
              <a:t>‹#›</a:t>
            </a:fld>
            <a:endParaRPr lang="en-AU"/>
          </a:p>
        </p:txBody>
      </p:sp>
    </p:spTree>
    <p:extLst>
      <p:ext uri="{BB962C8B-B14F-4D97-AF65-F5344CB8AC3E}">
        <p14:creationId xmlns:p14="http://schemas.microsoft.com/office/powerpoint/2010/main" val="19161415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EBC23BB-2070-D146-BD10-A01B23AF686B}" type="datetimeFigureOut">
              <a:rPr lang="en-AU" smtClean="0"/>
              <a:t>24/07/2021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D89D79F-077F-204B-9403-1DA3DE99CFD3}" type="slidenum">
              <a:rPr lang="en-AU" smtClean="0"/>
              <a:t>‹#›</a:t>
            </a:fld>
            <a:endParaRPr lang="en-AU"/>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338379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EBC23BB-2070-D146-BD10-A01B23AF686B}" type="datetimeFigureOut">
              <a:rPr lang="en-AU" smtClean="0"/>
              <a:t>24/07/2021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D89D79F-077F-204B-9403-1DA3DE99CFD3}" type="slidenum">
              <a:rPr lang="en-AU" smtClean="0"/>
              <a:t>‹#›</a:t>
            </a:fld>
            <a:endParaRPr lang="en-AU"/>
          </a:p>
        </p:txBody>
      </p:sp>
    </p:spTree>
    <p:extLst>
      <p:ext uri="{BB962C8B-B14F-4D97-AF65-F5344CB8AC3E}">
        <p14:creationId xmlns:p14="http://schemas.microsoft.com/office/powerpoint/2010/main" val="27007570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EBC23BB-2070-D146-BD10-A01B23AF686B}" type="datetimeFigureOut">
              <a:rPr lang="en-AU" smtClean="0"/>
              <a:t>24/07/2021</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9D89D79F-077F-204B-9403-1DA3DE99CFD3}" type="slidenum">
              <a:rPr lang="en-AU" smtClean="0"/>
              <a:t>‹#›</a:t>
            </a:fld>
            <a:endParaRPr lang="en-AU"/>
          </a:p>
        </p:txBody>
      </p:sp>
    </p:spTree>
    <p:extLst>
      <p:ext uri="{BB962C8B-B14F-4D97-AF65-F5344CB8AC3E}">
        <p14:creationId xmlns:p14="http://schemas.microsoft.com/office/powerpoint/2010/main" val="39151121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EBC23BB-2070-D146-BD10-A01B23AF686B}" type="datetimeFigureOut">
              <a:rPr lang="en-AU" smtClean="0"/>
              <a:t>24/07/2021</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9D89D79F-077F-204B-9403-1DA3DE99CFD3}" type="slidenum">
              <a:rPr lang="en-AU" smtClean="0"/>
              <a:t>‹#›</a:t>
            </a:fld>
            <a:endParaRPr lang="en-AU"/>
          </a:p>
        </p:txBody>
      </p:sp>
    </p:spTree>
    <p:extLst>
      <p:ext uri="{BB962C8B-B14F-4D97-AF65-F5344CB8AC3E}">
        <p14:creationId xmlns:p14="http://schemas.microsoft.com/office/powerpoint/2010/main" val="13655243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EBC23BB-2070-D146-BD10-A01B23AF686B}" type="datetimeFigureOut">
              <a:rPr lang="en-AU" smtClean="0"/>
              <a:t>24/07/2021</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9D89D79F-077F-204B-9403-1DA3DE99CFD3}" type="slidenum">
              <a:rPr lang="en-AU" smtClean="0"/>
              <a:t>‹#›</a:t>
            </a:fld>
            <a:endParaRPr lang="en-AU"/>
          </a:p>
        </p:txBody>
      </p:sp>
    </p:spTree>
    <p:extLst>
      <p:ext uri="{BB962C8B-B14F-4D97-AF65-F5344CB8AC3E}">
        <p14:creationId xmlns:p14="http://schemas.microsoft.com/office/powerpoint/2010/main" val="7628267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EBC23BB-2070-D146-BD10-A01B23AF686B}" type="datetimeFigureOut">
              <a:rPr lang="en-AU" smtClean="0"/>
              <a:t>24/07/2021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D89D79F-077F-204B-9403-1DA3DE99CFD3}" type="slidenum">
              <a:rPr lang="en-AU" smtClean="0"/>
              <a:t>‹#›</a:t>
            </a:fld>
            <a:endParaRPr lang="en-AU"/>
          </a:p>
        </p:txBody>
      </p:sp>
    </p:spTree>
    <p:extLst>
      <p:ext uri="{BB962C8B-B14F-4D97-AF65-F5344CB8AC3E}">
        <p14:creationId xmlns:p14="http://schemas.microsoft.com/office/powerpoint/2010/main" val="10809523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EBC23BB-2070-D146-BD10-A01B23AF686B}" type="datetimeFigureOut">
              <a:rPr lang="en-AU" smtClean="0"/>
              <a:t>24/07/2021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D89D79F-077F-204B-9403-1DA3DE99CFD3}" type="slidenum">
              <a:rPr lang="en-AU" smtClean="0"/>
              <a:t>‹#›</a:t>
            </a:fld>
            <a:endParaRPr lang="en-AU"/>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54531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EBC23BB-2070-D146-BD10-A01B23AF686B}" type="datetimeFigureOut">
              <a:rPr lang="en-AU" smtClean="0"/>
              <a:t>24/07/2021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D89D79F-077F-204B-9403-1DA3DE99CFD3}" type="slidenum">
              <a:rPr lang="en-AU" smtClean="0"/>
              <a:t>‹#›</a:t>
            </a:fld>
            <a:endParaRPr lang="en-AU"/>
          </a:p>
        </p:txBody>
      </p:sp>
    </p:spTree>
    <p:extLst>
      <p:ext uri="{BB962C8B-B14F-4D97-AF65-F5344CB8AC3E}">
        <p14:creationId xmlns:p14="http://schemas.microsoft.com/office/powerpoint/2010/main" val="28636694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EBC23BB-2070-D146-BD10-A01B23AF686B}" type="datetimeFigureOut">
              <a:rPr lang="en-AU" smtClean="0"/>
              <a:t>24/07/2021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D89D79F-077F-204B-9403-1DA3DE99CFD3}" type="slidenum">
              <a:rPr lang="en-AU" smtClean="0"/>
              <a:t>‹#›</a:t>
            </a:fld>
            <a:endParaRPr lang="en-AU"/>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86307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EEBC23BB-2070-D146-BD10-A01B23AF686B}" type="datetimeFigureOut">
              <a:rPr lang="en-AU" smtClean="0"/>
              <a:t>24/07/2021</a:t>
            </a:fld>
            <a:endParaRPr lang="en-AU"/>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AU"/>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9D89D79F-077F-204B-9403-1DA3DE99CFD3}" type="slidenum">
              <a:rPr lang="en-AU" smtClean="0"/>
              <a:t>‹#›</a:t>
            </a:fld>
            <a:endParaRPr lang="en-AU"/>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83517673"/>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42744-6AE1-4460-BB81-220391B100E6}"/>
              </a:ext>
            </a:extLst>
          </p:cNvPr>
          <p:cNvSpPr>
            <a:spLocks noGrp="1"/>
          </p:cNvSpPr>
          <p:nvPr>
            <p:ph type="ctrTitle"/>
          </p:nvPr>
        </p:nvSpPr>
        <p:spPr/>
        <p:txBody>
          <a:bodyPr>
            <a:noAutofit/>
          </a:bodyPr>
          <a:lstStyle/>
          <a:p>
            <a:r>
              <a:rPr lang="en-US" sz="4000" dirty="0">
                <a:solidFill>
                  <a:schemeClr val="tx1"/>
                </a:solidFill>
                <a:latin typeface="Tw Cen MT Condensed" panose="020B0606020104020203" pitchFamily="34" charset="0"/>
              </a:rPr>
              <a:t>Topic: Energy</a:t>
            </a:r>
            <a:br>
              <a:rPr lang="en-US" sz="4000" dirty="0">
                <a:solidFill>
                  <a:schemeClr val="tx1"/>
                </a:solidFill>
                <a:latin typeface="Tw Cen MT Condensed" panose="020B0606020104020203" pitchFamily="34" charset="0"/>
              </a:rPr>
            </a:br>
            <a:r>
              <a:rPr lang="en-US" sz="4000" dirty="0">
                <a:solidFill>
                  <a:schemeClr val="tx1"/>
                </a:solidFill>
                <a:latin typeface="Tw Cen MT Condensed" panose="020B0606020104020203" pitchFamily="34" charset="0"/>
              </a:rPr>
              <a:t>EQ: How is energy in food and exercise measured? </a:t>
            </a:r>
            <a:endParaRPr lang="en-GB" sz="4000" dirty="0">
              <a:solidFill>
                <a:schemeClr val="tx1"/>
              </a:solidFill>
              <a:latin typeface="Tw Cen MT Condensed" panose="020B0606020104020203" pitchFamily="34" charset="0"/>
            </a:endParaRPr>
          </a:p>
        </p:txBody>
      </p:sp>
      <p:sp>
        <p:nvSpPr>
          <p:cNvPr id="3" name="Subtitle 2">
            <a:extLst>
              <a:ext uri="{FF2B5EF4-FFF2-40B4-BE49-F238E27FC236}">
                <a16:creationId xmlns:a16="http://schemas.microsoft.com/office/drawing/2014/main" id="{B1CE286F-EE8D-4E43-8AA7-04B4265BF31F}"/>
              </a:ext>
            </a:extLst>
          </p:cNvPr>
          <p:cNvSpPr>
            <a:spLocks noGrp="1"/>
          </p:cNvSpPr>
          <p:nvPr>
            <p:ph type="subTitle" idx="1"/>
          </p:nvPr>
        </p:nvSpPr>
        <p:spPr/>
        <p:txBody>
          <a:bodyPr>
            <a:normAutofit/>
          </a:bodyPr>
          <a:lstStyle/>
          <a:p>
            <a:r>
              <a:rPr lang="en-AU" sz="2000" dirty="0">
                <a:solidFill>
                  <a:schemeClr val="tx1"/>
                </a:solidFill>
                <a:latin typeface="Tw Cen MT" panose="020B0602020104020603" pitchFamily="34" charset="0"/>
              </a:rPr>
              <a:t>Mrs Parlevliet</a:t>
            </a:r>
          </a:p>
          <a:p>
            <a:r>
              <a:rPr lang="en-AU" sz="2000" dirty="0">
                <a:solidFill>
                  <a:schemeClr val="tx1"/>
                </a:solidFill>
                <a:latin typeface="Tw Cen MT" panose="020B0602020104020603" pitchFamily="34" charset="0"/>
              </a:rPr>
              <a:t>Year </a:t>
            </a:r>
            <a:r>
              <a:rPr lang="en-AU" dirty="0">
                <a:solidFill>
                  <a:schemeClr val="tx1"/>
                </a:solidFill>
                <a:latin typeface="Tw Cen MT" panose="020B0602020104020603" pitchFamily="34" charset="0"/>
              </a:rPr>
              <a:t>11 Essentials</a:t>
            </a:r>
            <a:endParaRPr lang="en-GB" sz="2000" dirty="0">
              <a:solidFill>
                <a:schemeClr val="tx1"/>
              </a:solidFill>
              <a:latin typeface="Tw Cen MT" panose="020B0602020104020603" pitchFamily="34" charset="0"/>
            </a:endParaRPr>
          </a:p>
        </p:txBody>
      </p:sp>
    </p:spTree>
    <p:extLst>
      <p:ext uri="{BB962C8B-B14F-4D97-AF65-F5344CB8AC3E}">
        <p14:creationId xmlns:p14="http://schemas.microsoft.com/office/powerpoint/2010/main" val="18928627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A3C03-BF03-48EF-A72A-CE11494FF168}"/>
              </a:ext>
            </a:extLst>
          </p:cNvPr>
          <p:cNvSpPr>
            <a:spLocks noGrp="1"/>
          </p:cNvSpPr>
          <p:nvPr>
            <p:ph type="title"/>
          </p:nvPr>
        </p:nvSpPr>
        <p:spPr/>
        <p:txBody>
          <a:bodyPr/>
          <a:lstStyle/>
          <a:p>
            <a:r>
              <a:rPr lang="en-AU" dirty="0" err="1"/>
              <a:t>FiVe</a:t>
            </a:r>
            <a:r>
              <a:rPr lang="en-AU" dirty="0"/>
              <a:t> Questions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5C9BC97-E084-4305-8742-02C144E0C26A}"/>
                  </a:ext>
                </a:extLst>
              </p:cNvPr>
              <p:cNvSpPr>
                <a:spLocks noGrp="1"/>
              </p:cNvSpPr>
              <p:nvPr>
                <p:ph idx="1"/>
              </p:nvPr>
            </p:nvSpPr>
            <p:spPr>
              <a:xfrm>
                <a:off x="857872" y="1710048"/>
                <a:ext cx="11017452" cy="5011386"/>
              </a:xfrm>
            </p:spPr>
            <p:txBody>
              <a:bodyPr>
                <a:normAutofit/>
              </a:bodyPr>
              <a:lstStyle/>
              <a:p>
                <a:pPr marL="457200" indent="-457200">
                  <a:buFont typeface="+mj-lt"/>
                  <a:buAutoNum type="arabicPeriod"/>
                </a:pPr>
                <a:r>
                  <a:rPr lang="en-AU" sz="2400" dirty="0">
                    <a:latin typeface="Calibri" panose="020F0502020204030204" pitchFamily="34" charset="0"/>
                    <a:cs typeface="Calibri" panose="020F0502020204030204" pitchFamily="34" charset="0"/>
                  </a:rPr>
                  <a:t>A teller machine only has $50 note available. How much money will I need to take out of my account to cover the costs of the following purchases: lunch and a drink $18.50, shoes $129, headphones $249 and bus fare $27.80?</a:t>
                </a:r>
              </a:p>
              <a:p>
                <a:pPr marL="457200" indent="-457200">
                  <a:buFont typeface="+mj-lt"/>
                  <a:buAutoNum type="arabicPeriod"/>
                </a:pPr>
                <a:r>
                  <a:rPr lang="en-AU" sz="2400" dirty="0">
                    <a:latin typeface="Calibri" panose="020F0502020204030204" pitchFamily="34" charset="0"/>
                    <a:cs typeface="Calibri" panose="020F0502020204030204" pitchFamily="34" charset="0"/>
                  </a:rPr>
                  <a:t> </a:t>
                </a:r>
                <a14:m>
                  <m:oMath xmlns:m="http://schemas.openxmlformats.org/officeDocument/2006/math">
                    <m:r>
                      <a:rPr lang="en-AU" sz="2400" b="0" i="1" smtClean="0">
                        <a:latin typeface="Cambria Math" panose="02040503050406030204" pitchFamily="18" charset="0"/>
                        <a:cs typeface="Calibri" panose="020F0502020204030204" pitchFamily="34" charset="0"/>
                      </a:rPr>
                      <m:t>43</m:t>
                    </m:r>
                    <m:r>
                      <a:rPr lang="en-AU" sz="2400" b="0" i="1" smtClean="0">
                        <a:latin typeface="Cambria Math" panose="02040503050406030204" pitchFamily="18" charset="0"/>
                        <a:ea typeface="Cambria Math" panose="02040503050406030204" pitchFamily="18" charset="0"/>
                        <a:cs typeface="Calibri" panose="020F0502020204030204" pitchFamily="34" charset="0"/>
                      </a:rPr>
                      <m:t>×270</m:t>
                    </m:r>
                  </m:oMath>
                </a14:m>
                <a:endParaRPr lang="en-AU" sz="2400" b="0" dirty="0">
                  <a:latin typeface="Calibri" panose="020F0502020204030204" pitchFamily="34" charset="0"/>
                  <a:ea typeface="Cambria Math" panose="02040503050406030204" pitchFamily="18" charset="0"/>
                  <a:cs typeface="Calibri" panose="020F0502020204030204" pitchFamily="34" charset="0"/>
                </a:endParaRPr>
              </a:p>
              <a:p>
                <a:pPr marL="457200" indent="-457200">
                  <a:buFont typeface="+mj-lt"/>
                  <a:buAutoNum type="arabicPeriod"/>
                </a:pPr>
                <a:r>
                  <a:rPr lang="en-AU" sz="2400" dirty="0">
                    <a:latin typeface="Calibri" panose="020F0502020204030204" pitchFamily="34" charset="0"/>
                    <a:cs typeface="Calibri" panose="020F0502020204030204" pitchFamily="34" charset="0"/>
                  </a:rPr>
                  <a:t> </a:t>
                </a:r>
                <a14:m>
                  <m:oMath xmlns:m="http://schemas.openxmlformats.org/officeDocument/2006/math">
                    <m:r>
                      <a:rPr lang="en-AU" sz="2400" b="0" i="1" smtClean="0">
                        <a:latin typeface="Cambria Math" panose="02040503050406030204" pitchFamily="18" charset="0"/>
                        <a:cs typeface="Calibri" panose="020F0502020204030204" pitchFamily="34" charset="0"/>
                      </a:rPr>
                      <m:t>980</m:t>
                    </m:r>
                    <m:r>
                      <a:rPr lang="en-AU" sz="2400" b="0" i="1" smtClean="0">
                        <a:latin typeface="Cambria Math" panose="02040503050406030204" pitchFamily="18" charset="0"/>
                        <a:ea typeface="Cambria Math" panose="02040503050406030204" pitchFamily="18" charset="0"/>
                        <a:cs typeface="Calibri" panose="020F0502020204030204" pitchFamily="34" charset="0"/>
                      </a:rPr>
                      <m:t>÷70</m:t>
                    </m:r>
                  </m:oMath>
                </a14:m>
                <a:endParaRPr lang="en-AU" sz="2400" dirty="0">
                  <a:latin typeface="Calibri" panose="020F0502020204030204" pitchFamily="34" charset="0"/>
                  <a:cs typeface="Calibri" panose="020F0502020204030204" pitchFamily="34" charset="0"/>
                </a:endParaRPr>
              </a:p>
              <a:p>
                <a:pPr marL="457200" indent="-457200">
                  <a:buFont typeface="+mj-lt"/>
                  <a:buAutoNum type="arabicPeriod"/>
                </a:pPr>
                <a:r>
                  <a:rPr lang="en-AU" sz="2400" dirty="0">
                    <a:latin typeface="Calibri" panose="020F0502020204030204" pitchFamily="34" charset="0"/>
                    <a:cs typeface="Calibri" panose="020F0502020204030204" pitchFamily="34" charset="0"/>
                  </a:rPr>
                  <a:t>The score for an NBL basketball game was Melbourne United 120, Sydney Kings 80. Write the scores as a ratio.</a:t>
                </a:r>
              </a:p>
              <a:p>
                <a:pPr marL="457200" indent="-457200">
                  <a:buFont typeface="+mj-lt"/>
                  <a:buAutoNum type="arabicPeriod"/>
                </a:pPr>
                <a:r>
                  <a:rPr lang="en-AU" sz="2400" dirty="0">
                    <a:latin typeface="Calibri" panose="020F0502020204030204" pitchFamily="34" charset="0"/>
                    <a:cs typeface="Calibri" panose="020F0502020204030204" pitchFamily="34" charset="0"/>
                  </a:rPr>
                  <a:t>The next time Melbourne United played the Sydney Kings, Melbourne scored 150 points. If the ration was the same in Question 4, what score did Sydney achieve?</a:t>
                </a:r>
              </a:p>
            </p:txBody>
          </p:sp>
        </mc:Choice>
        <mc:Fallback>
          <p:sp>
            <p:nvSpPr>
              <p:cNvPr id="3" name="Content Placeholder 2">
                <a:extLst>
                  <a:ext uri="{FF2B5EF4-FFF2-40B4-BE49-F238E27FC236}">
                    <a16:creationId xmlns:a16="http://schemas.microsoft.com/office/drawing/2014/main" id="{F5C9BC97-E084-4305-8742-02C144E0C26A}"/>
                  </a:ext>
                </a:extLst>
              </p:cNvPr>
              <p:cNvSpPr>
                <a:spLocks noGrp="1" noRot="1" noChangeAspect="1" noMove="1" noResize="1" noEditPoints="1" noAdjustHandles="1" noChangeArrowheads="1" noChangeShapeType="1" noTextEdit="1"/>
              </p:cNvSpPr>
              <p:nvPr>
                <p:ph idx="1"/>
              </p:nvPr>
            </p:nvSpPr>
            <p:spPr>
              <a:xfrm>
                <a:off x="857872" y="1710048"/>
                <a:ext cx="11017452" cy="5011386"/>
              </a:xfrm>
              <a:blipFill>
                <a:blip r:embed="rId2"/>
                <a:stretch>
                  <a:fillRect l="-1328" t="-1946"/>
                </a:stretch>
              </a:blipFill>
            </p:spPr>
            <p:txBody>
              <a:bodyPr/>
              <a:lstStyle/>
              <a:p>
                <a:r>
                  <a:rPr lang="en-AU">
                    <a:noFill/>
                  </a:rPr>
                  <a:t> </a:t>
                </a:r>
              </a:p>
            </p:txBody>
          </p:sp>
        </mc:Fallback>
      </mc:AlternateContent>
      <p:sp>
        <p:nvSpPr>
          <p:cNvPr id="4" name="TextBox 3">
            <a:extLst>
              <a:ext uri="{FF2B5EF4-FFF2-40B4-BE49-F238E27FC236}">
                <a16:creationId xmlns:a16="http://schemas.microsoft.com/office/drawing/2014/main" id="{AF8740F4-4E29-46F0-AE17-D5002ED9BE37}"/>
              </a:ext>
            </a:extLst>
          </p:cNvPr>
          <p:cNvSpPr txBox="1"/>
          <p:nvPr/>
        </p:nvSpPr>
        <p:spPr>
          <a:xfrm>
            <a:off x="4901025" y="40479"/>
            <a:ext cx="2389950" cy="584775"/>
          </a:xfrm>
          <a:prstGeom prst="rect">
            <a:avLst/>
          </a:prstGeom>
          <a:noFill/>
        </p:spPr>
        <p:txBody>
          <a:bodyPr wrap="none" rtlCol="0">
            <a:spAutoFit/>
          </a:bodyPr>
          <a:lstStyle/>
          <a:p>
            <a:pPr defTabSz="914126"/>
            <a:r>
              <a:rPr lang="en-AU" sz="3200" dirty="0">
                <a:solidFill>
                  <a:prstClr val="black"/>
                </a:solidFill>
                <a:latin typeface="Calibri" panose="020F0502020204030204" pitchFamily="34" charset="0"/>
                <a:cs typeface="Calibri" panose="020F0502020204030204" pitchFamily="34" charset="0"/>
              </a:rPr>
              <a:t>Topic: Energy</a:t>
            </a:r>
          </a:p>
        </p:txBody>
      </p:sp>
      <p:sp>
        <p:nvSpPr>
          <p:cNvPr id="5" name="TextBox 4">
            <a:extLst>
              <a:ext uri="{FF2B5EF4-FFF2-40B4-BE49-F238E27FC236}">
                <a16:creationId xmlns:a16="http://schemas.microsoft.com/office/drawing/2014/main" id="{8ACED037-8382-4B21-A2F7-E1E36A739063}"/>
              </a:ext>
            </a:extLst>
          </p:cNvPr>
          <p:cNvSpPr txBox="1"/>
          <p:nvPr/>
        </p:nvSpPr>
        <p:spPr>
          <a:xfrm>
            <a:off x="4901025" y="579192"/>
            <a:ext cx="6672593" cy="461537"/>
          </a:xfrm>
          <a:prstGeom prst="rect">
            <a:avLst/>
          </a:prstGeom>
          <a:noFill/>
        </p:spPr>
        <p:txBody>
          <a:bodyPr wrap="square" rtlCol="0">
            <a:spAutoFit/>
          </a:bodyPr>
          <a:lstStyle/>
          <a:p>
            <a:pPr defTabSz="914126"/>
            <a:r>
              <a:rPr lang="en-AU" sz="2399" dirty="0">
                <a:solidFill>
                  <a:prstClr val="black"/>
                </a:solidFill>
                <a:latin typeface="Calibri" panose="020F0502020204030204" pitchFamily="34" charset="0"/>
                <a:cs typeface="Calibri" panose="020F0502020204030204" pitchFamily="34" charset="0"/>
              </a:rPr>
              <a:t>EQ – How is energy in food and exercise measured?</a:t>
            </a:r>
          </a:p>
        </p:txBody>
      </p:sp>
      <p:sp>
        <p:nvSpPr>
          <p:cNvPr id="6" name="TextBox 5">
            <a:extLst>
              <a:ext uri="{FF2B5EF4-FFF2-40B4-BE49-F238E27FC236}">
                <a16:creationId xmlns:a16="http://schemas.microsoft.com/office/drawing/2014/main" id="{DB63EF86-F88E-4651-A0D0-6F8AFC411E31}"/>
              </a:ext>
            </a:extLst>
          </p:cNvPr>
          <p:cNvSpPr txBox="1"/>
          <p:nvPr/>
        </p:nvSpPr>
        <p:spPr>
          <a:xfrm>
            <a:off x="9537046" y="103382"/>
            <a:ext cx="2414308" cy="461537"/>
          </a:xfrm>
          <a:prstGeom prst="rect">
            <a:avLst/>
          </a:prstGeom>
          <a:noFill/>
        </p:spPr>
        <p:txBody>
          <a:bodyPr wrap="square" rtlCol="0">
            <a:spAutoFit/>
          </a:bodyPr>
          <a:lstStyle/>
          <a:p>
            <a:pPr defTabSz="914126"/>
            <a:r>
              <a:rPr lang="en-AU" sz="2399" dirty="0">
                <a:solidFill>
                  <a:prstClr val="black"/>
                </a:solidFill>
                <a:latin typeface="Calibri" panose="020F0502020204030204" pitchFamily="34" charset="0"/>
                <a:cs typeface="Calibri" panose="020F0502020204030204" pitchFamily="34" charset="0"/>
              </a:rPr>
              <a:t>Date: XX/XX/2021</a:t>
            </a:r>
          </a:p>
        </p:txBody>
      </p:sp>
    </p:spTree>
    <p:extLst>
      <p:ext uri="{BB962C8B-B14F-4D97-AF65-F5344CB8AC3E}">
        <p14:creationId xmlns:p14="http://schemas.microsoft.com/office/powerpoint/2010/main" val="42690193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4" name="Straight Connector 3"/>
          <p:cNvCxnSpPr>
            <a:cxnSpLocks/>
          </p:cNvCxnSpPr>
          <p:nvPr/>
        </p:nvCxnSpPr>
        <p:spPr>
          <a:xfrm>
            <a:off x="1589" y="791805"/>
            <a:ext cx="12188825"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pitchFamily="34" charset="0"/>
                <a:cs typeface="Calibri" panose="020F0502020204030204" pitchFamily="34" charset="0"/>
              </a:rPr>
              <a:t>24</a:t>
            </a:r>
          </a:p>
          <a:p>
            <a:pPr defTabSz="914126"/>
            <a:r>
              <a:rPr lang="en-AU" sz="1600" dirty="0">
                <a:solidFill>
                  <a:prstClr val="black"/>
                </a:solidFill>
                <a:latin typeface="Calibri" panose="020F0502020204030204" pitchFamily="34" charset="0"/>
                <a:cs typeface="Calibri" panose="020F0502020204030204" pitchFamily="34" charset="0"/>
              </a:rPr>
              <a:t>7</a:t>
            </a:r>
          </a:p>
          <a:p>
            <a:pPr defTabSz="914126"/>
            <a:r>
              <a:rPr lang="en-AU" sz="1600" dirty="0">
                <a:solidFill>
                  <a:prstClr val="black"/>
                </a:solidFill>
                <a:latin typeface="Calibri" panose="020F0502020204030204" pitchFamily="34" charset="0"/>
                <a:cs typeface="Calibri" panose="020F0502020204030204" pitchFamily="34" charset="0"/>
              </a:rPr>
              <a:t>30</a:t>
            </a:r>
          </a:p>
        </p:txBody>
      </p:sp>
      <p:cxnSp>
        <p:nvCxnSpPr>
          <p:cNvPr id="9" name="Straight Connector 8"/>
          <p:cNvCxnSpPr>
            <a:cxnSpLocks/>
          </p:cNvCxnSpPr>
          <p:nvPr/>
        </p:nvCxnSpPr>
        <p:spPr>
          <a:xfrm>
            <a:off x="2151983" y="1298661"/>
            <a:ext cx="0" cy="5559338"/>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592821" y="123165"/>
            <a:ext cx="2389950" cy="584775"/>
          </a:xfrm>
          <a:prstGeom prst="rect">
            <a:avLst/>
          </a:prstGeom>
          <a:noFill/>
        </p:spPr>
        <p:txBody>
          <a:bodyPr wrap="none" rtlCol="0">
            <a:spAutoFit/>
          </a:bodyPr>
          <a:lstStyle/>
          <a:p>
            <a:pPr defTabSz="914126"/>
            <a:r>
              <a:rPr lang="en-AU" sz="3200" dirty="0">
                <a:solidFill>
                  <a:prstClr val="black"/>
                </a:solidFill>
                <a:latin typeface="Calibri" panose="020F0502020204030204" pitchFamily="34" charset="0"/>
                <a:cs typeface="Calibri" panose="020F0502020204030204" pitchFamily="34" charset="0"/>
              </a:rPr>
              <a:t>Topic: Energy</a:t>
            </a:r>
          </a:p>
        </p:txBody>
      </p:sp>
      <p:sp>
        <p:nvSpPr>
          <p:cNvPr id="11" name="TextBox 10"/>
          <p:cNvSpPr txBox="1"/>
          <p:nvPr/>
        </p:nvSpPr>
        <p:spPr>
          <a:xfrm>
            <a:off x="9493720" y="211358"/>
            <a:ext cx="2414308" cy="461537"/>
          </a:xfrm>
          <a:prstGeom prst="rect">
            <a:avLst/>
          </a:prstGeom>
          <a:noFill/>
        </p:spPr>
        <p:txBody>
          <a:bodyPr wrap="square" rtlCol="0">
            <a:spAutoFit/>
          </a:bodyPr>
          <a:lstStyle/>
          <a:p>
            <a:pPr defTabSz="914126"/>
            <a:r>
              <a:rPr lang="en-AU" sz="2399" dirty="0">
                <a:solidFill>
                  <a:prstClr val="black"/>
                </a:solidFill>
                <a:latin typeface="Calibri" panose="020F0502020204030204" pitchFamily="34" charset="0"/>
                <a:cs typeface="Calibri" panose="020F0502020204030204" pitchFamily="34" charset="0"/>
              </a:rPr>
              <a:t>Date: XX/XX/2021</a:t>
            </a:r>
          </a:p>
        </p:txBody>
      </p:sp>
      <p:sp>
        <p:nvSpPr>
          <p:cNvPr id="33" name="TextBox 32"/>
          <p:cNvSpPr txBox="1"/>
          <p:nvPr/>
        </p:nvSpPr>
        <p:spPr>
          <a:xfrm>
            <a:off x="191345" y="837124"/>
            <a:ext cx="6672593" cy="461537"/>
          </a:xfrm>
          <a:prstGeom prst="rect">
            <a:avLst/>
          </a:prstGeom>
          <a:noFill/>
        </p:spPr>
        <p:txBody>
          <a:bodyPr wrap="square" rtlCol="0">
            <a:spAutoFit/>
          </a:bodyPr>
          <a:lstStyle/>
          <a:p>
            <a:pPr defTabSz="914126"/>
            <a:r>
              <a:rPr lang="en-AU" sz="2399" dirty="0">
                <a:solidFill>
                  <a:prstClr val="black"/>
                </a:solidFill>
                <a:latin typeface="Calibri" panose="020F0502020204030204" pitchFamily="34" charset="0"/>
                <a:cs typeface="Calibri" panose="020F0502020204030204" pitchFamily="34" charset="0"/>
              </a:rPr>
              <a:t>EQ – How is energy in food and exercise measured?</a:t>
            </a:r>
          </a:p>
        </p:txBody>
      </p:sp>
      <p:cxnSp>
        <p:nvCxnSpPr>
          <p:cNvPr id="20" name="Straight Connector 19">
            <a:extLst>
              <a:ext uri="{FF2B5EF4-FFF2-40B4-BE49-F238E27FC236}">
                <a16:creationId xmlns:a16="http://schemas.microsoft.com/office/drawing/2014/main" id="{7B753F7B-0DF6-4B46-B9CC-2218E2961FD5}"/>
              </a:ext>
            </a:extLst>
          </p:cNvPr>
          <p:cNvCxnSpPr>
            <a:cxnSpLocks/>
          </p:cNvCxnSpPr>
          <p:nvPr/>
        </p:nvCxnSpPr>
        <p:spPr>
          <a:xfrm>
            <a:off x="1589" y="1298662"/>
            <a:ext cx="12188825"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96A9E84E-8513-465B-8CA9-D1DD4FAC2317}"/>
              </a:ext>
            </a:extLst>
          </p:cNvPr>
          <p:cNvSpPr txBox="1"/>
          <p:nvPr/>
        </p:nvSpPr>
        <p:spPr>
          <a:xfrm>
            <a:off x="124245" y="5756432"/>
            <a:ext cx="2027738" cy="461545"/>
          </a:xfrm>
          <a:prstGeom prst="rect">
            <a:avLst/>
          </a:prstGeom>
          <a:noFill/>
        </p:spPr>
        <p:txBody>
          <a:bodyPr wrap="square" rtlCol="0">
            <a:spAutoFit/>
          </a:bodyPr>
          <a:lstStyle/>
          <a:p>
            <a:pPr algn="ctr"/>
            <a:r>
              <a:rPr lang="en-AU" sz="2399" b="1" dirty="0">
                <a:solidFill>
                  <a:schemeClr val="accent1"/>
                </a:solidFill>
                <a:latin typeface="Calibri" panose="020F0502020204030204" pitchFamily="34" charset="0"/>
                <a:cs typeface="Calibri" panose="020F0502020204030204" pitchFamily="34" charset="0"/>
              </a:rPr>
              <a:t>W</a:t>
            </a:r>
            <a:r>
              <a:rPr lang="en-AU" sz="2399" b="1" dirty="0">
                <a:latin typeface="Calibri" panose="020F0502020204030204" pitchFamily="34" charset="0"/>
                <a:cs typeface="Calibri" panose="020F0502020204030204" pitchFamily="34" charset="0"/>
              </a:rPr>
              <a:t>IC</a:t>
            </a:r>
            <a:r>
              <a:rPr lang="en-AU" sz="2399" b="1" dirty="0">
                <a:solidFill>
                  <a:srgbClr val="FF0000"/>
                </a:solidFill>
                <a:latin typeface="Calibri" panose="020F0502020204030204" pitchFamily="34" charset="0"/>
                <a:cs typeface="Calibri" panose="020F0502020204030204" pitchFamily="34" charset="0"/>
              </a:rPr>
              <a:t>O</a:t>
            </a:r>
            <a:r>
              <a:rPr lang="en-AU" sz="2399" b="1" dirty="0">
                <a:latin typeface="Calibri" panose="020F0502020204030204" pitchFamily="34" charset="0"/>
                <a:cs typeface="Calibri" panose="020F0502020204030204" pitchFamily="34" charset="0"/>
              </a:rPr>
              <a:t>R</a:t>
            </a:r>
            <a:endParaRPr lang="en-GB" sz="2399" b="1" dirty="0">
              <a:latin typeface="Calibri" panose="020F0502020204030204" pitchFamily="34" charset="0"/>
              <a:cs typeface="Calibri" panose="020F0502020204030204" pitchFamily="34" charset="0"/>
            </a:endParaRPr>
          </a:p>
        </p:txBody>
      </p:sp>
      <p:sp>
        <p:nvSpPr>
          <p:cNvPr id="14" name="TextBox 13">
            <a:extLst>
              <a:ext uri="{FF2B5EF4-FFF2-40B4-BE49-F238E27FC236}">
                <a16:creationId xmlns:a16="http://schemas.microsoft.com/office/drawing/2014/main" id="{29070ED6-4BED-4D32-94DD-D50FBBDA7771}"/>
              </a:ext>
            </a:extLst>
          </p:cNvPr>
          <p:cNvSpPr txBox="1"/>
          <p:nvPr/>
        </p:nvSpPr>
        <p:spPr>
          <a:xfrm>
            <a:off x="74626" y="1340506"/>
            <a:ext cx="2166798" cy="830997"/>
          </a:xfrm>
          <a:prstGeom prst="rect">
            <a:avLst/>
          </a:prstGeom>
          <a:noFill/>
        </p:spPr>
        <p:txBody>
          <a:bodyPr wrap="square" rtlCol="0">
            <a:spAutoFit/>
          </a:bodyPr>
          <a:lstStyle/>
          <a:p>
            <a:r>
              <a:rPr lang="en-AU" sz="2400" dirty="0">
                <a:latin typeface="Calibri" panose="020F0502020204030204" pitchFamily="34" charset="0"/>
                <a:cs typeface="Calibri" panose="020F0502020204030204" pitchFamily="34" charset="0"/>
              </a:rPr>
              <a:t>What are kilojoules?</a:t>
            </a:r>
          </a:p>
        </p:txBody>
      </p:sp>
      <p:sp>
        <p:nvSpPr>
          <p:cNvPr id="15" name="TextBox 14">
            <a:extLst>
              <a:ext uri="{FF2B5EF4-FFF2-40B4-BE49-F238E27FC236}">
                <a16:creationId xmlns:a16="http://schemas.microsoft.com/office/drawing/2014/main" id="{61B98AF6-C845-4C3F-804D-986DB17E48F9}"/>
              </a:ext>
            </a:extLst>
          </p:cNvPr>
          <p:cNvSpPr txBox="1"/>
          <p:nvPr/>
        </p:nvSpPr>
        <p:spPr>
          <a:xfrm>
            <a:off x="2509374" y="1256093"/>
            <a:ext cx="9044747" cy="4097725"/>
          </a:xfrm>
          <a:prstGeom prst="rect">
            <a:avLst/>
          </a:prstGeom>
          <a:noFill/>
        </p:spPr>
        <p:txBody>
          <a:bodyPr wrap="square" rtlCol="0">
            <a:spAutoFit/>
          </a:bodyPr>
          <a:lstStyle/>
          <a:p>
            <a:pPr>
              <a:lnSpc>
                <a:spcPct val="150000"/>
              </a:lnSpc>
            </a:pPr>
            <a:r>
              <a:rPr lang="en-AU" sz="2400" dirty="0">
                <a:latin typeface="Calibri" panose="020F0502020204030204" pitchFamily="34" charset="0"/>
                <a:cs typeface="Calibri" panose="020F0502020204030204" pitchFamily="34" charset="0"/>
              </a:rPr>
              <a:t>In Australia, the amount of energy in food and exercise is measured in kilojoules, (kJ). In some countries, this is still measured in calories, (</a:t>
            </a:r>
            <a:r>
              <a:rPr lang="en-AU" sz="2400" dirty="0" err="1">
                <a:latin typeface="Calibri" panose="020F0502020204030204" pitchFamily="34" charset="0"/>
                <a:cs typeface="Calibri" panose="020F0502020204030204" pitchFamily="34" charset="0"/>
              </a:rPr>
              <a:t>cal</a:t>
            </a:r>
            <a:r>
              <a:rPr lang="en-AU" sz="2400" dirty="0">
                <a:latin typeface="Calibri" panose="020F0502020204030204" pitchFamily="34" charset="0"/>
                <a:cs typeface="Calibri" panose="020F0502020204030204" pitchFamily="34" charset="0"/>
              </a:rPr>
              <a:t>), so many recipes and exercise activities so we need to understand both. </a:t>
            </a:r>
          </a:p>
          <a:p>
            <a:pPr>
              <a:lnSpc>
                <a:spcPct val="150000"/>
              </a:lnSpc>
            </a:pPr>
            <a:endParaRPr lang="en-AU" sz="2400" dirty="0">
              <a:latin typeface="Calibri" panose="020F0502020204030204" pitchFamily="34" charset="0"/>
              <a:cs typeface="Calibri" panose="020F0502020204030204" pitchFamily="34" charset="0"/>
            </a:endParaRPr>
          </a:p>
          <a:p>
            <a:pPr>
              <a:lnSpc>
                <a:spcPct val="150000"/>
              </a:lnSpc>
            </a:pPr>
            <a:r>
              <a:rPr lang="en-AU" sz="2400" b="1" dirty="0">
                <a:solidFill>
                  <a:srgbClr val="FF0000"/>
                </a:solidFill>
                <a:latin typeface="Calibri" panose="020F0502020204030204" pitchFamily="34" charset="0"/>
                <a:cs typeface="Calibri" panose="020F0502020204030204" pitchFamily="34" charset="0"/>
              </a:rPr>
              <a:t>Conversion between calories and kilojoules</a:t>
            </a:r>
          </a:p>
          <a:p>
            <a:r>
              <a:rPr lang="en-AU" sz="2400" dirty="0">
                <a:latin typeface="Calibri" panose="020F0502020204030204" pitchFamily="34" charset="0"/>
                <a:cs typeface="Calibri" panose="020F0502020204030204" pitchFamily="34" charset="0"/>
              </a:rPr>
              <a:t>1 calorie ≈ 4.184 kilojoules</a:t>
            </a:r>
          </a:p>
          <a:p>
            <a:r>
              <a:rPr lang="en-AU" sz="2400" dirty="0">
                <a:latin typeface="Calibri" panose="020F0502020204030204" pitchFamily="34" charset="0"/>
                <a:cs typeface="Calibri" panose="020F0502020204030204" pitchFamily="34" charset="0"/>
              </a:rPr>
              <a:t>1 kilojoule = 1kJ = 1000 joules ≈ 239 calories</a:t>
            </a:r>
          </a:p>
          <a:p>
            <a:pPr>
              <a:lnSpc>
                <a:spcPct val="150000"/>
              </a:lnSpc>
            </a:pPr>
            <a:endParaRPr lang="en-AU"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430378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xEl>
                                              <p:pRg st="0" end="0"/>
                                            </p:txEl>
                                          </p:spTgt>
                                        </p:tgtEl>
                                        <p:attrNameLst>
                                          <p:attrName>style.visibility</p:attrName>
                                        </p:attrNameLst>
                                      </p:cBhvr>
                                      <p:to>
                                        <p:strVal val="visible"/>
                                      </p:to>
                                    </p:set>
                                    <p:animEffect transition="in" filter="fade">
                                      <p:cBhvr>
                                        <p:cTn id="12" dur="500"/>
                                        <p:tgtEl>
                                          <p:spTgt spid="1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xEl>
                                              <p:pRg st="2" end="2"/>
                                            </p:txEl>
                                          </p:spTgt>
                                        </p:tgtEl>
                                        <p:attrNameLst>
                                          <p:attrName>style.visibility</p:attrName>
                                        </p:attrNameLst>
                                      </p:cBhvr>
                                      <p:to>
                                        <p:strVal val="visible"/>
                                      </p:to>
                                    </p:set>
                                    <p:animEffect transition="in" filter="fade">
                                      <p:cBhvr>
                                        <p:cTn id="17" dur="500"/>
                                        <p:tgtEl>
                                          <p:spTgt spid="1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5">
                                            <p:txEl>
                                              <p:pRg st="3" end="3"/>
                                            </p:txEl>
                                          </p:spTgt>
                                        </p:tgtEl>
                                        <p:attrNameLst>
                                          <p:attrName>style.visibility</p:attrName>
                                        </p:attrNameLst>
                                      </p:cBhvr>
                                      <p:to>
                                        <p:strVal val="visible"/>
                                      </p:to>
                                    </p:set>
                                    <p:animEffect transition="in" filter="fade">
                                      <p:cBhvr>
                                        <p:cTn id="22" dur="500"/>
                                        <p:tgtEl>
                                          <p:spTgt spid="1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5">
                                            <p:txEl>
                                              <p:pRg st="4" end="4"/>
                                            </p:txEl>
                                          </p:spTgt>
                                        </p:tgtEl>
                                        <p:attrNameLst>
                                          <p:attrName>style.visibility</p:attrName>
                                        </p:attrNameLst>
                                      </p:cBhvr>
                                      <p:to>
                                        <p:strVal val="visible"/>
                                      </p:to>
                                    </p:set>
                                    <p:animEffect transition="in" filter="fade">
                                      <p:cBhvr>
                                        <p:cTn id="27" dur="500"/>
                                        <p:tgtEl>
                                          <p:spTgt spid="1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A633FF-94B4-45B1-91A4-7D638650E3E9}"/>
              </a:ext>
            </a:extLst>
          </p:cNvPr>
          <p:cNvSpPr>
            <a:spLocks noGrp="1"/>
          </p:cNvSpPr>
          <p:nvPr>
            <p:ph type="title"/>
          </p:nvPr>
        </p:nvSpPr>
        <p:spPr/>
        <p:txBody>
          <a:bodyPr>
            <a:normAutofit/>
          </a:bodyPr>
          <a:lstStyle/>
          <a:p>
            <a:r>
              <a:rPr lang="en-AU" sz="5400" b="1" dirty="0">
                <a:solidFill>
                  <a:schemeClr val="accent1">
                    <a:lumMod val="75000"/>
                  </a:schemeClr>
                </a:solidFill>
                <a:latin typeface="Kiwi School Handwriting" panose="00000500000000000000"/>
              </a:rPr>
              <a:t>G</a:t>
            </a:r>
            <a:r>
              <a:rPr lang="en-GB" sz="5400" b="1" dirty="0" err="1">
                <a:solidFill>
                  <a:schemeClr val="accent1">
                    <a:lumMod val="75000"/>
                  </a:schemeClr>
                </a:solidFill>
                <a:latin typeface="Kiwi School Handwriting" panose="00000500000000000000"/>
              </a:rPr>
              <a:t>uided</a:t>
            </a:r>
            <a:r>
              <a:rPr lang="en-GB" sz="5400" b="1" dirty="0">
                <a:solidFill>
                  <a:schemeClr val="accent1">
                    <a:lumMod val="75000"/>
                  </a:schemeClr>
                </a:solidFill>
                <a:latin typeface="Kiwi School Handwriting" panose="00000500000000000000"/>
              </a:rPr>
              <a:t> Practice (LHS)</a:t>
            </a:r>
            <a:endParaRPr lang="en-GB" sz="5400" dirty="0"/>
          </a:p>
        </p:txBody>
      </p:sp>
      <p:pic>
        <p:nvPicPr>
          <p:cNvPr id="4" name="Content Placeholder 3">
            <a:extLst>
              <a:ext uri="{FF2B5EF4-FFF2-40B4-BE49-F238E27FC236}">
                <a16:creationId xmlns:a16="http://schemas.microsoft.com/office/drawing/2014/main" id="{0BE90397-76AA-4688-8F2F-B4D422140B82}"/>
              </a:ext>
            </a:extLst>
          </p:cNvPr>
          <p:cNvPicPr>
            <a:picLocks noGrp="1" noChangeAspect="1"/>
          </p:cNvPicPr>
          <p:nvPr>
            <p:ph idx="1"/>
          </p:nvPr>
        </p:nvPicPr>
        <p:blipFill>
          <a:blip r:embed="rId2"/>
          <a:stretch>
            <a:fillRect/>
          </a:stretch>
        </p:blipFill>
        <p:spPr>
          <a:xfrm>
            <a:off x="1062394" y="2193925"/>
            <a:ext cx="10067211" cy="4024313"/>
          </a:xfrm>
          <a:prstGeom prst="rect">
            <a:avLst/>
          </a:prstGeom>
        </p:spPr>
      </p:pic>
      <p:sp>
        <p:nvSpPr>
          <p:cNvPr id="5" name="TextBox 4">
            <a:extLst>
              <a:ext uri="{FF2B5EF4-FFF2-40B4-BE49-F238E27FC236}">
                <a16:creationId xmlns:a16="http://schemas.microsoft.com/office/drawing/2014/main" id="{E6196D59-D11C-45A3-93DA-523C0019500B}"/>
              </a:ext>
            </a:extLst>
          </p:cNvPr>
          <p:cNvSpPr txBox="1"/>
          <p:nvPr/>
        </p:nvSpPr>
        <p:spPr>
          <a:xfrm>
            <a:off x="3456563" y="3027402"/>
            <a:ext cx="1350169" cy="369332"/>
          </a:xfrm>
          <a:prstGeom prst="rect">
            <a:avLst/>
          </a:prstGeom>
          <a:noFill/>
        </p:spPr>
        <p:txBody>
          <a:bodyPr wrap="square" rtlCol="0">
            <a:spAutoFit/>
          </a:bodyPr>
          <a:lstStyle/>
          <a:p>
            <a:r>
              <a:rPr lang="en-AU" b="1" dirty="0">
                <a:solidFill>
                  <a:schemeClr val="accent1"/>
                </a:solidFill>
              </a:rPr>
              <a:t>4 kJ</a:t>
            </a:r>
            <a:endParaRPr lang="en-GB" b="1" dirty="0">
              <a:solidFill>
                <a:schemeClr val="accent1"/>
              </a:solidFill>
            </a:endParaRPr>
          </a:p>
        </p:txBody>
      </p:sp>
      <p:sp>
        <p:nvSpPr>
          <p:cNvPr id="6" name="TextBox 5">
            <a:extLst>
              <a:ext uri="{FF2B5EF4-FFF2-40B4-BE49-F238E27FC236}">
                <a16:creationId xmlns:a16="http://schemas.microsoft.com/office/drawing/2014/main" id="{98FEC293-D5E8-4E07-8FE5-0F2635F32E88}"/>
              </a:ext>
            </a:extLst>
          </p:cNvPr>
          <p:cNvSpPr txBox="1"/>
          <p:nvPr/>
        </p:nvSpPr>
        <p:spPr>
          <a:xfrm>
            <a:off x="7200900" y="3029545"/>
            <a:ext cx="1350169" cy="369332"/>
          </a:xfrm>
          <a:prstGeom prst="rect">
            <a:avLst/>
          </a:prstGeom>
          <a:noFill/>
        </p:spPr>
        <p:txBody>
          <a:bodyPr wrap="square" rtlCol="0">
            <a:spAutoFit/>
          </a:bodyPr>
          <a:lstStyle/>
          <a:p>
            <a:r>
              <a:rPr lang="en-AU" b="1" dirty="0">
                <a:solidFill>
                  <a:schemeClr val="accent1"/>
                </a:solidFill>
              </a:rPr>
              <a:t>16 kJ</a:t>
            </a:r>
            <a:endParaRPr lang="en-GB" b="1" dirty="0">
              <a:solidFill>
                <a:schemeClr val="accent1"/>
              </a:solidFill>
            </a:endParaRPr>
          </a:p>
        </p:txBody>
      </p:sp>
      <p:sp>
        <p:nvSpPr>
          <p:cNvPr id="7" name="TextBox 6">
            <a:extLst>
              <a:ext uri="{FF2B5EF4-FFF2-40B4-BE49-F238E27FC236}">
                <a16:creationId xmlns:a16="http://schemas.microsoft.com/office/drawing/2014/main" id="{9E7B5A4F-16AF-48BC-8BF7-9B91595C8743}"/>
              </a:ext>
            </a:extLst>
          </p:cNvPr>
          <p:cNvSpPr txBox="1"/>
          <p:nvPr/>
        </p:nvSpPr>
        <p:spPr>
          <a:xfrm>
            <a:off x="10454520" y="3027402"/>
            <a:ext cx="1350169" cy="369332"/>
          </a:xfrm>
          <a:prstGeom prst="rect">
            <a:avLst/>
          </a:prstGeom>
          <a:noFill/>
        </p:spPr>
        <p:txBody>
          <a:bodyPr wrap="square" rtlCol="0">
            <a:spAutoFit/>
          </a:bodyPr>
          <a:lstStyle/>
          <a:p>
            <a:r>
              <a:rPr lang="en-AU" b="1" dirty="0">
                <a:solidFill>
                  <a:schemeClr val="accent1"/>
                </a:solidFill>
              </a:rPr>
              <a:t>1 kJ</a:t>
            </a:r>
            <a:endParaRPr lang="en-GB" b="1" dirty="0">
              <a:solidFill>
                <a:schemeClr val="accent1"/>
              </a:solidFill>
            </a:endParaRPr>
          </a:p>
        </p:txBody>
      </p:sp>
      <p:sp>
        <p:nvSpPr>
          <p:cNvPr id="8" name="TextBox 7">
            <a:extLst>
              <a:ext uri="{FF2B5EF4-FFF2-40B4-BE49-F238E27FC236}">
                <a16:creationId xmlns:a16="http://schemas.microsoft.com/office/drawing/2014/main" id="{FC60439F-88A5-41C5-B5C5-139D12452A55}"/>
              </a:ext>
            </a:extLst>
          </p:cNvPr>
          <p:cNvSpPr txBox="1"/>
          <p:nvPr/>
        </p:nvSpPr>
        <p:spPr>
          <a:xfrm>
            <a:off x="3608963" y="3533258"/>
            <a:ext cx="1350169" cy="369332"/>
          </a:xfrm>
          <a:prstGeom prst="rect">
            <a:avLst/>
          </a:prstGeom>
          <a:noFill/>
        </p:spPr>
        <p:txBody>
          <a:bodyPr wrap="square" rtlCol="0">
            <a:spAutoFit/>
          </a:bodyPr>
          <a:lstStyle/>
          <a:p>
            <a:r>
              <a:rPr lang="en-AU" b="1" dirty="0">
                <a:solidFill>
                  <a:schemeClr val="accent1"/>
                </a:solidFill>
              </a:rPr>
              <a:t>4184 kJ</a:t>
            </a:r>
            <a:endParaRPr lang="en-GB" b="1" dirty="0">
              <a:solidFill>
                <a:schemeClr val="accent1"/>
              </a:solidFill>
            </a:endParaRPr>
          </a:p>
        </p:txBody>
      </p:sp>
      <p:sp>
        <p:nvSpPr>
          <p:cNvPr id="9" name="TextBox 8">
            <a:extLst>
              <a:ext uri="{FF2B5EF4-FFF2-40B4-BE49-F238E27FC236}">
                <a16:creationId xmlns:a16="http://schemas.microsoft.com/office/drawing/2014/main" id="{7AAF72E1-79CE-4191-B0E6-C8277A8ADD62}"/>
              </a:ext>
            </a:extLst>
          </p:cNvPr>
          <p:cNvSpPr txBox="1"/>
          <p:nvPr/>
        </p:nvSpPr>
        <p:spPr>
          <a:xfrm>
            <a:off x="7200899" y="3533258"/>
            <a:ext cx="1350169" cy="369332"/>
          </a:xfrm>
          <a:prstGeom prst="rect">
            <a:avLst/>
          </a:prstGeom>
          <a:noFill/>
        </p:spPr>
        <p:txBody>
          <a:bodyPr wrap="square" rtlCol="0">
            <a:spAutoFit/>
          </a:bodyPr>
          <a:lstStyle/>
          <a:p>
            <a:r>
              <a:rPr lang="en-AU" b="1" dirty="0">
                <a:solidFill>
                  <a:schemeClr val="accent1"/>
                </a:solidFill>
              </a:rPr>
              <a:t>20 083 kJ</a:t>
            </a:r>
            <a:endParaRPr lang="en-GB" b="1" dirty="0">
              <a:solidFill>
                <a:schemeClr val="accent1"/>
              </a:solidFill>
            </a:endParaRPr>
          </a:p>
        </p:txBody>
      </p:sp>
      <p:sp>
        <p:nvSpPr>
          <p:cNvPr id="10" name="TextBox 9">
            <a:extLst>
              <a:ext uri="{FF2B5EF4-FFF2-40B4-BE49-F238E27FC236}">
                <a16:creationId xmlns:a16="http://schemas.microsoft.com/office/drawing/2014/main" id="{E6D2ED14-232F-4C44-995C-B61AC2228ECE}"/>
              </a:ext>
            </a:extLst>
          </p:cNvPr>
          <p:cNvSpPr txBox="1"/>
          <p:nvPr/>
        </p:nvSpPr>
        <p:spPr>
          <a:xfrm>
            <a:off x="10792063" y="3533258"/>
            <a:ext cx="1350169" cy="369332"/>
          </a:xfrm>
          <a:prstGeom prst="rect">
            <a:avLst/>
          </a:prstGeom>
          <a:noFill/>
        </p:spPr>
        <p:txBody>
          <a:bodyPr wrap="square" rtlCol="0">
            <a:spAutoFit/>
          </a:bodyPr>
          <a:lstStyle/>
          <a:p>
            <a:r>
              <a:rPr lang="en-AU" b="1" dirty="0">
                <a:solidFill>
                  <a:schemeClr val="accent1"/>
                </a:solidFill>
              </a:rPr>
              <a:t>64 582 kJ</a:t>
            </a:r>
            <a:endParaRPr lang="en-GB" b="1" dirty="0">
              <a:solidFill>
                <a:schemeClr val="accent1"/>
              </a:solidFill>
            </a:endParaRPr>
          </a:p>
        </p:txBody>
      </p:sp>
      <p:sp>
        <p:nvSpPr>
          <p:cNvPr id="12" name="TextBox 11">
            <a:extLst>
              <a:ext uri="{FF2B5EF4-FFF2-40B4-BE49-F238E27FC236}">
                <a16:creationId xmlns:a16="http://schemas.microsoft.com/office/drawing/2014/main" id="{D85EE33A-541C-4FDE-BAE6-3A095E0B7F32}"/>
              </a:ext>
            </a:extLst>
          </p:cNvPr>
          <p:cNvSpPr txBox="1"/>
          <p:nvPr/>
        </p:nvSpPr>
        <p:spPr>
          <a:xfrm>
            <a:off x="3343513" y="5121035"/>
            <a:ext cx="1350169" cy="369332"/>
          </a:xfrm>
          <a:prstGeom prst="rect">
            <a:avLst/>
          </a:prstGeom>
          <a:noFill/>
        </p:spPr>
        <p:txBody>
          <a:bodyPr wrap="square" rtlCol="0">
            <a:spAutoFit/>
          </a:bodyPr>
          <a:lstStyle/>
          <a:p>
            <a:r>
              <a:rPr lang="en-AU" b="1" dirty="0">
                <a:solidFill>
                  <a:schemeClr val="accent1"/>
                </a:solidFill>
              </a:rPr>
              <a:t>1.2 </a:t>
            </a:r>
            <a:r>
              <a:rPr lang="en-AU" b="1" dirty="0" err="1">
                <a:solidFill>
                  <a:schemeClr val="accent1"/>
                </a:solidFill>
              </a:rPr>
              <a:t>cal</a:t>
            </a:r>
            <a:endParaRPr lang="en-GB" b="1" dirty="0">
              <a:solidFill>
                <a:schemeClr val="accent1"/>
              </a:solidFill>
            </a:endParaRPr>
          </a:p>
        </p:txBody>
      </p:sp>
      <p:sp>
        <p:nvSpPr>
          <p:cNvPr id="13" name="TextBox 12">
            <a:extLst>
              <a:ext uri="{FF2B5EF4-FFF2-40B4-BE49-F238E27FC236}">
                <a16:creationId xmlns:a16="http://schemas.microsoft.com/office/drawing/2014/main" id="{E4BD984C-3A7E-443E-BE6B-0840460B06B8}"/>
              </a:ext>
            </a:extLst>
          </p:cNvPr>
          <p:cNvSpPr txBox="1"/>
          <p:nvPr/>
        </p:nvSpPr>
        <p:spPr>
          <a:xfrm>
            <a:off x="7156489" y="5088769"/>
            <a:ext cx="1350169" cy="369332"/>
          </a:xfrm>
          <a:prstGeom prst="rect">
            <a:avLst/>
          </a:prstGeom>
          <a:noFill/>
        </p:spPr>
        <p:txBody>
          <a:bodyPr wrap="square" rtlCol="0">
            <a:spAutoFit/>
          </a:bodyPr>
          <a:lstStyle/>
          <a:p>
            <a:r>
              <a:rPr lang="en-AU" b="1" dirty="0">
                <a:solidFill>
                  <a:schemeClr val="accent1"/>
                </a:solidFill>
              </a:rPr>
              <a:t>5.3 </a:t>
            </a:r>
            <a:r>
              <a:rPr lang="en-AU" b="1" dirty="0" err="1">
                <a:solidFill>
                  <a:schemeClr val="accent1"/>
                </a:solidFill>
              </a:rPr>
              <a:t>cal</a:t>
            </a:r>
            <a:endParaRPr lang="en-GB" b="1" dirty="0">
              <a:solidFill>
                <a:schemeClr val="accent1"/>
              </a:solidFill>
            </a:endParaRPr>
          </a:p>
        </p:txBody>
      </p:sp>
      <p:sp>
        <p:nvSpPr>
          <p:cNvPr id="14" name="TextBox 13">
            <a:extLst>
              <a:ext uri="{FF2B5EF4-FFF2-40B4-BE49-F238E27FC236}">
                <a16:creationId xmlns:a16="http://schemas.microsoft.com/office/drawing/2014/main" id="{82B73446-B34E-473D-8AA1-2D8EDEC2B7E3}"/>
              </a:ext>
            </a:extLst>
          </p:cNvPr>
          <p:cNvSpPr txBox="1"/>
          <p:nvPr/>
        </p:nvSpPr>
        <p:spPr>
          <a:xfrm>
            <a:off x="10559295" y="5088769"/>
            <a:ext cx="1350169" cy="369332"/>
          </a:xfrm>
          <a:prstGeom prst="rect">
            <a:avLst/>
          </a:prstGeom>
          <a:noFill/>
        </p:spPr>
        <p:txBody>
          <a:bodyPr wrap="square" rtlCol="0">
            <a:spAutoFit/>
          </a:bodyPr>
          <a:lstStyle/>
          <a:p>
            <a:r>
              <a:rPr lang="en-AU" b="1" dirty="0">
                <a:solidFill>
                  <a:schemeClr val="accent1"/>
                </a:solidFill>
              </a:rPr>
              <a:t>0.3 </a:t>
            </a:r>
            <a:r>
              <a:rPr lang="en-AU" b="1" dirty="0" err="1">
                <a:solidFill>
                  <a:schemeClr val="accent1"/>
                </a:solidFill>
              </a:rPr>
              <a:t>cal</a:t>
            </a:r>
            <a:endParaRPr lang="en-GB" b="1" dirty="0">
              <a:solidFill>
                <a:schemeClr val="accent1"/>
              </a:solidFill>
            </a:endParaRPr>
          </a:p>
        </p:txBody>
      </p:sp>
      <p:sp>
        <p:nvSpPr>
          <p:cNvPr id="15" name="TextBox 14">
            <a:extLst>
              <a:ext uri="{FF2B5EF4-FFF2-40B4-BE49-F238E27FC236}">
                <a16:creationId xmlns:a16="http://schemas.microsoft.com/office/drawing/2014/main" id="{449DC8DF-1CA1-42BA-8366-6D3199C002B9}"/>
              </a:ext>
            </a:extLst>
          </p:cNvPr>
          <p:cNvSpPr txBox="1"/>
          <p:nvPr/>
        </p:nvSpPr>
        <p:spPr>
          <a:xfrm>
            <a:off x="3544133" y="5610501"/>
            <a:ext cx="1350169" cy="369332"/>
          </a:xfrm>
          <a:prstGeom prst="rect">
            <a:avLst/>
          </a:prstGeom>
          <a:noFill/>
        </p:spPr>
        <p:txBody>
          <a:bodyPr wrap="square" rtlCol="0">
            <a:spAutoFit/>
          </a:bodyPr>
          <a:lstStyle/>
          <a:p>
            <a:r>
              <a:rPr lang="en-AU" b="1" dirty="0">
                <a:solidFill>
                  <a:schemeClr val="accent1"/>
                </a:solidFill>
              </a:rPr>
              <a:t>2.4 </a:t>
            </a:r>
            <a:r>
              <a:rPr lang="en-AU" b="1" dirty="0" err="1">
                <a:solidFill>
                  <a:schemeClr val="accent1"/>
                </a:solidFill>
              </a:rPr>
              <a:t>cal</a:t>
            </a:r>
            <a:endParaRPr lang="en-GB" b="1" dirty="0">
              <a:solidFill>
                <a:schemeClr val="accent1"/>
              </a:solidFill>
            </a:endParaRPr>
          </a:p>
        </p:txBody>
      </p:sp>
      <p:sp>
        <p:nvSpPr>
          <p:cNvPr id="16" name="TextBox 15">
            <a:extLst>
              <a:ext uri="{FF2B5EF4-FFF2-40B4-BE49-F238E27FC236}">
                <a16:creationId xmlns:a16="http://schemas.microsoft.com/office/drawing/2014/main" id="{29AF36F3-A161-4CE1-8CC9-DED6CD4B9698}"/>
              </a:ext>
            </a:extLst>
          </p:cNvPr>
          <p:cNvSpPr txBox="1"/>
          <p:nvPr/>
        </p:nvSpPr>
        <p:spPr>
          <a:xfrm>
            <a:off x="7173752" y="5592482"/>
            <a:ext cx="1350169" cy="369332"/>
          </a:xfrm>
          <a:prstGeom prst="rect">
            <a:avLst/>
          </a:prstGeom>
          <a:noFill/>
        </p:spPr>
        <p:txBody>
          <a:bodyPr wrap="square" rtlCol="0">
            <a:spAutoFit/>
          </a:bodyPr>
          <a:lstStyle/>
          <a:p>
            <a:r>
              <a:rPr lang="en-AU" b="1" dirty="0">
                <a:solidFill>
                  <a:schemeClr val="accent1"/>
                </a:solidFill>
              </a:rPr>
              <a:t>0.4 </a:t>
            </a:r>
            <a:r>
              <a:rPr lang="en-AU" b="1" dirty="0" err="1">
                <a:solidFill>
                  <a:schemeClr val="accent1"/>
                </a:solidFill>
              </a:rPr>
              <a:t>cal</a:t>
            </a:r>
            <a:endParaRPr lang="en-GB" b="1" dirty="0">
              <a:solidFill>
                <a:schemeClr val="accent1"/>
              </a:solidFill>
            </a:endParaRPr>
          </a:p>
        </p:txBody>
      </p:sp>
      <p:sp>
        <p:nvSpPr>
          <p:cNvPr id="17" name="TextBox 16">
            <a:extLst>
              <a:ext uri="{FF2B5EF4-FFF2-40B4-BE49-F238E27FC236}">
                <a16:creationId xmlns:a16="http://schemas.microsoft.com/office/drawing/2014/main" id="{839CD2EE-55BA-4E1D-84CB-72B4A1DD1C09}"/>
              </a:ext>
            </a:extLst>
          </p:cNvPr>
          <p:cNvSpPr txBox="1"/>
          <p:nvPr/>
        </p:nvSpPr>
        <p:spPr>
          <a:xfrm>
            <a:off x="10774738" y="5560216"/>
            <a:ext cx="1350169" cy="369332"/>
          </a:xfrm>
          <a:prstGeom prst="rect">
            <a:avLst/>
          </a:prstGeom>
          <a:noFill/>
        </p:spPr>
        <p:txBody>
          <a:bodyPr wrap="square" rtlCol="0">
            <a:spAutoFit/>
          </a:bodyPr>
          <a:lstStyle/>
          <a:p>
            <a:r>
              <a:rPr lang="en-AU" b="1" dirty="0">
                <a:solidFill>
                  <a:schemeClr val="accent1"/>
                </a:solidFill>
              </a:rPr>
              <a:t>119.5 </a:t>
            </a:r>
            <a:r>
              <a:rPr lang="en-AU" b="1" dirty="0" err="1">
                <a:solidFill>
                  <a:schemeClr val="accent1"/>
                </a:solidFill>
              </a:rPr>
              <a:t>cal</a:t>
            </a:r>
            <a:endParaRPr lang="en-GB" b="1" dirty="0">
              <a:solidFill>
                <a:schemeClr val="accent1"/>
              </a:solidFill>
            </a:endParaRPr>
          </a:p>
        </p:txBody>
      </p:sp>
    </p:spTree>
    <p:extLst>
      <p:ext uri="{BB962C8B-B14F-4D97-AF65-F5344CB8AC3E}">
        <p14:creationId xmlns:p14="http://schemas.microsoft.com/office/powerpoint/2010/main" val="3727357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6" presetClass="entr" presetSubtype="21"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barn(inVertical)">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down)">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barn(inVertical)">
                                      <p:cBhvr>
                                        <p:cTn id="21" dur="5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barn(inVertical)">
                                      <p:cBhvr>
                                        <p:cTn id="26" dur="500"/>
                                        <p:tgtEl>
                                          <p:spTgt spid="8"/>
                                        </p:tgtEl>
                                      </p:cBhvr>
                                    </p:animEffect>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barn(inVertical)">
                                      <p:cBhvr>
                                        <p:cTn id="31" dur="500"/>
                                        <p:tgtEl>
                                          <p:spTgt spid="9"/>
                                        </p:tgtEl>
                                      </p:cBhvr>
                                    </p:animEffect>
                                  </p:childTnLst>
                                </p:cTn>
                              </p:par>
                            </p:childTnLst>
                          </p:cTn>
                        </p:par>
                      </p:childTnLst>
                    </p:cTn>
                  </p:par>
                  <p:par>
                    <p:cTn id="32" fill="hold">
                      <p:stCondLst>
                        <p:cond delay="indefinite"/>
                      </p:stCondLst>
                      <p:childTnLst>
                        <p:par>
                          <p:cTn id="33" fill="hold">
                            <p:stCondLst>
                              <p:cond delay="0"/>
                            </p:stCondLst>
                            <p:childTnLst>
                              <p:par>
                                <p:cTn id="34" presetID="16" presetClass="entr" presetSubtype="21" fill="hold" grpId="0" nodeType="click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barn(inVertical)">
                                      <p:cBhvr>
                                        <p:cTn id="36" dur="500"/>
                                        <p:tgtEl>
                                          <p:spTgt spid="10"/>
                                        </p:tgtEl>
                                      </p:cBhvr>
                                    </p:animEffect>
                                  </p:childTnLst>
                                </p:cTn>
                              </p:par>
                            </p:childTnLst>
                          </p:cTn>
                        </p:par>
                      </p:childTnLst>
                    </p:cTn>
                  </p:par>
                  <p:par>
                    <p:cTn id="37" fill="hold">
                      <p:stCondLst>
                        <p:cond delay="indefinite"/>
                      </p:stCondLst>
                      <p:childTnLst>
                        <p:par>
                          <p:cTn id="38" fill="hold">
                            <p:stCondLst>
                              <p:cond delay="0"/>
                            </p:stCondLst>
                            <p:childTnLst>
                              <p:par>
                                <p:cTn id="39" presetID="16" presetClass="entr" presetSubtype="21" fill="hold" grpId="0" nodeType="click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barn(inVertical)">
                                      <p:cBhvr>
                                        <p:cTn id="41" dur="500"/>
                                        <p:tgtEl>
                                          <p:spTgt spid="12"/>
                                        </p:tgtEl>
                                      </p:cBhvr>
                                    </p:animEffect>
                                  </p:childTnLst>
                                </p:cTn>
                              </p:par>
                            </p:childTnLst>
                          </p:cTn>
                        </p:par>
                      </p:childTnLst>
                    </p:cTn>
                  </p:par>
                  <p:par>
                    <p:cTn id="42" fill="hold">
                      <p:stCondLst>
                        <p:cond delay="indefinite"/>
                      </p:stCondLst>
                      <p:childTnLst>
                        <p:par>
                          <p:cTn id="43" fill="hold">
                            <p:stCondLst>
                              <p:cond delay="0"/>
                            </p:stCondLst>
                            <p:childTnLst>
                              <p:par>
                                <p:cTn id="44" presetID="16" presetClass="entr" presetSubtype="21" fill="hold" grpId="0" nodeType="click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barn(inVertical)">
                                      <p:cBhvr>
                                        <p:cTn id="46" dur="500"/>
                                        <p:tgtEl>
                                          <p:spTgt spid="13"/>
                                        </p:tgtEl>
                                      </p:cBhvr>
                                    </p:animEffect>
                                  </p:childTnLst>
                                </p:cTn>
                              </p:par>
                            </p:childTnLst>
                          </p:cTn>
                        </p:par>
                      </p:childTnLst>
                    </p:cTn>
                  </p:par>
                  <p:par>
                    <p:cTn id="47" fill="hold">
                      <p:stCondLst>
                        <p:cond delay="indefinite"/>
                      </p:stCondLst>
                      <p:childTnLst>
                        <p:par>
                          <p:cTn id="48" fill="hold">
                            <p:stCondLst>
                              <p:cond delay="0"/>
                            </p:stCondLst>
                            <p:childTnLst>
                              <p:par>
                                <p:cTn id="49" presetID="16" presetClass="entr" presetSubtype="21" fill="hold" grpId="0" nodeType="clickEffect">
                                  <p:stCondLst>
                                    <p:cond delay="0"/>
                                  </p:stCondLst>
                                  <p:childTnLst>
                                    <p:set>
                                      <p:cBhvr>
                                        <p:cTn id="50" dur="1" fill="hold">
                                          <p:stCondLst>
                                            <p:cond delay="0"/>
                                          </p:stCondLst>
                                        </p:cTn>
                                        <p:tgtEl>
                                          <p:spTgt spid="14"/>
                                        </p:tgtEl>
                                        <p:attrNameLst>
                                          <p:attrName>style.visibility</p:attrName>
                                        </p:attrNameLst>
                                      </p:cBhvr>
                                      <p:to>
                                        <p:strVal val="visible"/>
                                      </p:to>
                                    </p:set>
                                    <p:animEffect transition="in" filter="barn(inVertical)">
                                      <p:cBhvr>
                                        <p:cTn id="51" dur="500"/>
                                        <p:tgtEl>
                                          <p:spTgt spid="14"/>
                                        </p:tgtEl>
                                      </p:cBhvr>
                                    </p:animEffect>
                                  </p:childTnLst>
                                </p:cTn>
                              </p:par>
                            </p:childTnLst>
                          </p:cTn>
                        </p:par>
                      </p:childTnLst>
                    </p:cTn>
                  </p:par>
                  <p:par>
                    <p:cTn id="52" fill="hold">
                      <p:stCondLst>
                        <p:cond delay="indefinite"/>
                      </p:stCondLst>
                      <p:childTnLst>
                        <p:par>
                          <p:cTn id="53" fill="hold">
                            <p:stCondLst>
                              <p:cond delay="0"/>
                            </p:stCondLst>
                            <p:childTnLst>
                              <p:par>
                                <p:cTn id="54" presetID="16" presetClass="entr" presetSubtype="21" fill="hold" grpId="0" nodeType="clickEffect">
                                  <p:stCondLst>
                                    <p:cond delay="0"/>
                                  </p:stCondLst>
                                  <p:childTnLst>
                                    <p:set>
                                      <p:cBhvr>
                                        <p:cTn id="55" dur="1" fill="hold">
                                          <p:stCondLst>
                                            <p:cond delay="0"/>
                                          </p:stCondLst>
                                        </p:cTn>
                                        <p:tgtEl>
                                          <p:spTgt spid="15"/>
                                        </p:tgtEl>
                                        <p:attrNameLst>
                                          <p:attrName>style.visibility</p:attrName>
                                        </p:attrNameLst>
                                      </p:cBhvr>
                                      <p:to>
                                        <p:strVal val="visible"/>
                                      </p:to>
                                    </p:set>
                                    <p:animEffect transition="in" filter="barn(inVertical)">
                                      <p:cBhvr>
                                        <p:cTn id="56" dur="500"/>
                                        <p:tgtEl>
                                          <p:spTgt spid="15"/>
                                        </p:tgtEl>
                                      </p:cBhvr>
                                    </p:animEffect>
                                  </p:childTnLst>
                                </p:cTn>
                              </p:par>
                            </p:childTnLst>
                          </p:cTn>
                        </p:par>
                      </p:childTnLst>
                    </p:cTn>
                  </p:par>
                  <p:par>
                    <p:cTn id="57" fill="hold">
                      <p:stCondLst>
                        <p:cond delay="indefinite"/>
                      </p:stCondLst>
                      <p:childTnLst>
                        <p:par>
                          <p:cTn id="58" fill="hold">
                            <p:stCondLst>
                              <p:cond delay="0"/>
                            </p:stCondLst>
                            <p:childTnLst>
                              <p:par>
                                <p:cTn id="59" presetID="16" presetClass="entr" presetSubtype="21" fill="hold" grpId="0" nodeType="clickEffect">
                                  <p:stCondLst>
                                    <p:cond delay="0"/>
                                  </p:stCondLst>
                                  <p:childTnLst>
                                    <p:set>
                                      <p:cBhvr>
                                        <p:cTn id="60" dur="1" fill="hold">
                                          <p:stCondLst>
                                            <p:cond delay="0"/>
                                          </p:stCondLst>
                                        </p:cTn>
                                        <p:tgtEl>
                                          <p:spTgt spid="16"/>
                                        </p:tgtEl>
                                        <p:attrNameLst>
                                          <p:attrName>style.visibility</p:attrName>
                                        </p:attrNameLst>
                                      </p:cBhvr>
                                      <p:to>
                                        <p:strVal val="visible"/>
                                      </p:to>
                                    </p:set>
                                    <p:animEffect transition="in" filter="barn(inVertical)">
                                      <p:cBhvr>
                                        <p:cTn id="61" dur="500"/>
                                        <p:tgtEl>
                                          <p:spTgt spid="16"/>
                                        </p:tgtEl>
                                      </p:cBhvr>
                                    </p:animEffect>
                                  </p:childTnLst>
                                </p:cTn>
                              </p:par>
                            </p:childTnLst>
                          </p:cTn>
                        </p:par>
                      </p:childTnLst>
                    </p:cTn>
                  </p:par>
                  <p:par>
                    <p:cTn id="62" fill="hold">
                      <p:stCondLst>
                        <p:cond delay="indefinite"/>
                      </p:stCondLst>
                      <p:childTnLst>
                        <p:par>
                          <p:cTn id="63" fill="hold">
                            <p:stCondLst>
                              <p:cond delay="0"/>
                            </p:stCondLst>
                            <p:childTnLst>
                              <p:par>
                                <p:cTn id="64" presetID="16" presetClass="entr" presetSubtype="21" fill="hold" grpId="0" nodeType="clickEffect">
                                  <p:stCondLst>
                                    <p:cond delay="0"/>
                                  </p:stCondLst>
                                  <p:childTnLst>
                                    <p:set>
                                      <p:cBhvr>
                                        <p:cTn id="65" dur="1" fill="hold">
                                          <p:stCondLst>
                                            <p:cond delay="0"/>
                                          </p:stCondLst>
                                        </p:cTn>
                                        <p:tgtEl>
                                          <p:spTgt spid="17"/>
                                        </p:tgtEl>
                                        <p:attrNameLst>
                                          <p:attrName>style.visibility</p:attrName>
                                        </p:attrNameLst>
                                      </p:cBhvr>
                                      <p:to>
                                        <p:strVal val="visible"/>
                                      </p:to>
                                    </p:set>
                                    <p:animEffect transition="in" filter="barn(inVertical)">
                                      <p:cBhvr>
                                        <p:cTn id="66"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2" grpId="0"/>
      <p:bldP spid="13" grpId="0"/>
      <p:bldP spid="14" grpId="0"/>
      <p:bldP spid="15" grpId="0"/>
      <p:bldP spid="16" grpId="0"/>
      <p:bldP spid="17"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4" name="Straight Connector 3"/>
          <p:cNvCxnSpPr>
            <a:cxnSpLocks/>
          </p:cNvCxnSpPr>
          <p:nvPr/>
        </p:nvCxnSpPr>
        <p:spPr>
          <a:xfrm>
            <a:off x="1589" y="791805"/>
            <a:ext cx="12188825"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pitchFamily="34" charset="0"/>
                <a:cs typeface="Calibri" panose="020F0502020204030204" pitchFamily="34" charset="0"/>
              </a:rPr>
              <a:t>24</a:t>
            </a:r>
          </a:p>
          <a:p>
            <a:pPr defTabSz="914126"/>
            <a:r>
              <a:rPr lang="en-AU" sz="1600" dirty="0">
                <a:solidFill>
                  <a:prstClr val="black"/>
                </a:solidFill>
                <a:latin typeface="Calibri" panose="020F0502020204030204" pitchFamily="34" charset="0"/>
                <a:cs typeface="Calibri" panose="020F0502020204030204" pitchFamily="34" charset="0"/>
              </a:rPr>
              <a:t>7</a:t>
            </a:r>
          </a:p>
          <a:p>
            <a:pPr defTabSz="914126"/>
            <a:r>
              <a:rPr lang="en-AU" sz="1600" dirty="0">
                <a:solidFill>
                  <a:prstClr val="black"/>
                </a:solidFill>
                <a:latin typeface="Calibri" panose="020F0502020204030204" pitchFamily="34" charset="0"/>
                <a:cs typeface="Calibri" panose="020F0502020204030204" pitchFamily="34" charset="0"/>
              </a:rPr>
              <a:t>30</a:t>
            </a:r>
          </a:p>
        </p:txBody>
      </p:sp>
      <p:cxnSp>
        <p:nvCxnSpPr>
          <p:cNvPr id="9" name="Straight Connector 8"/>
          <p:cNvCxnSpPr>
            <a:cxnSpLocks/>
          </p:cNvCxnSpPr>
          <p:nvPr/>
        </p:nvCxnSpPr>
        <p:spPr>
          <a:xfrm>
            <a:off x="2151983" y="1298661"/>
            <a:ext cx="0" cy="5559338"/>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592821" y="123165"/>
            <a:ext cx="2389950" cy="584775"/>
          </a:xfrm>
          <a:prstGeom prst="rect">
            <a:avLst/>
          </a:prstGeom>
          <a:noFill/>
        </p:spPr>
        <p:txBody>
          <a:bodyPr wrap="none" rtlCol="0">
            <a:spAutoFit/>
          </a:bodyPr>
          <a:lstStyle/>
          <a:p>
            <a:pPr defTabSz="914126"/>
            <a:r>
              <a:rPr lang="en-AU" sz="3200" dirty="0">
                <a:solidFill>
                  <a:prstClr val="black"/>
                </a:solidFill>
                <a:latin typeface="Calibri" panose="020F0502020204030204" pitchFamily="34" charset="0"/>
                <a:cs typeface="Calibri" panose="020F0502020204030204" pitchFamily="34" charset="0"/>
              </a:rPr>
              <a:t>Topic: Energy</a:t>
            </a:r>
          </a:p>
        </p:txBody>
      </p:sp>
      <p:sp>
        <p:nvSpPr>
          <p:cNvPr id="11" name="TextBox 10"/>
          <p:cNvSpPr txBox="1"/>
          <p:nvPr/>
        </p:nvSpPr>
        <p:spPr>
          <a:xfrm>
            <a:off x="9493720" y="211358"/>
            <a:ext cx="2414308" cy="461537"/>
          </a:xfrm>
          <a:prstGeom prst="rect">
            <a:avLst/>
          </a:prstGeom>
          <a:noFill/>
        </p:spPr>
        <p:txBody>
          <a:bodyPr wrap="square" rtlCol="0">
            <a:spAutoFit/>
          </a:bodyPr>
          <a:lstStyle/>
          <a:p>
            <a:pPr defTabSz="914126"/>
            <a:r>
              <a:rPr lang="en-AU" sz="2399" dirty="0">
                <a:solidFill>
                  <a:prstClr val="black"/>
                </a:solidFill>
                <a:latin typeface="Calibri" panose="020F0502020204030204" pitchFamily="34" charset="0"/>
                <a:cs typeface="Calibri" panose="020F0502020204030204" pitchFamily="34" charset="0"/>
              </a:rPr>
              <a:t>Date: XX/XX/2021</a:t>
            </a:r>
          </a:p>
        </p:txBody>
      </p:sp>
      <p:sp>
        <p:nvSpPr>
          <p:cNvPr id="33" name="TextBox 32"/>
          <p:cNvSpPr txBox="1"/>
          <p:nvPr/>
        </p:nvSpPr>
        <p:spPr>
          <a:xfrm>
            <a:off x="191345" y="837124"/>
            <a:ext cx="6672593" cy="461537"/>
          </a:xfrm>
          <a:prstGeom prst="rect">
            <a:avLst/>
          </a:prstGeom>
          <a:noFill/>
        </p:spPr>
        <p:txBody>
          <a:bodyPr wrap="square" rtlCol="0">
            <a:spAutoFit/>
          </a:bodyPr>
          <a:lstStyle/>
          <a:p>
            <a:pPr defTabSz="914126"/>
            <a:r>
              <a:rPr lang="en-AU" sz="2399" dirty="0">
                <a:solidFill>
                  <a:prstClr val="black"/>
                </a:solidFill>
                <a:latin typeface="Calibri" panose="020F0502020204030204" pitchFamily="34" charset="0"/>
                <a:cs typeface="Calibri" panose="020F0502020204030204" pitchFamily="34" charset="0"/>
              </a:rPr>
              <a:t>EQ – How is energy in food and exercise measured?</a:t>
            </a:r>
          </a:p>
        </p:txBody>
      </p:sp>
      <p:cxnSp>
        <p:nvCxnSpPr>
          <p:cNvPr id="20" name="Straight Connector 19">
            <a:extLst>
              <a:ext uri="{FF2B5EF4-FFF2-40B4-BE49-F238E27FC236}">
                <a16:creationId xmlns:a16="http://schemas.microsoft.com/office/drawing/2014/main" id="{7B753F7B-0DF6-4B46-B9CC-2218E2961FD5}"/>
              </a:ext>
            </a:extLst>
          </p:cNvPr>
          <p:cNvCxnSpPr>
            <a:cxnSpLocks/>
          </p:cNvCxnSpPr>
          <p:nvPr/>
        </p:nvCxnSpPr>
        <p:spPr>
          <a:xfrm>
            <a:off x="1589" y="1298662"/>
            <a:ext cx="12188825"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96A9E84E-8513-465B-8CA9-D1DD4FAC2317}"/>
              </a:ext>
            </a:extLst>
          </p:cNvPr>
          <p:cNvSpPr txBox="1"/>
          <p:nvPr/>
        </p:nvSpPr>
        <p:spPr>
          <a:xfrm>
            <a:off x="124245" y="5756432"/>
            <a:ext cx="2027738" cy="461545"/>
          </a:xfrm>
          <a:prstGeom prst="rect">
            <a:avLst/>
          </a:prstGeom>
          <a:noFill/>
        </p:spPr>
        <p:txBody>
          <a:bodyPr wrap="square" rtlCol="0">
            <a:spAutoFit/>
          </a:bodyPr>
          <a:lstStyle/>
          <a:p>
            <a:pPr algn="ctr"/>
            <a:r>
              <a:rPr lang="en-AU" sz="2399" b="1" dirty="0">
                <a:solidFill>
                  <a:schemeClr val="accent1"/>
                </a:solidFill>
                <a:latin typeface="Calibri" panose="020F0502020204030204" pitchFamily="34" charset="0"/>
                <a:cs typeface="Calibri" panose="020F0502020204030204" pitchFamily="34" charset="0"/>
              </a:rPr>
              <a:t>W</a:t>
            </a:r>
            <a:r>
              <a:rPr lang="en-AU" sz="2399" b="1" dirty="0">
                <a:latin typeface="Calibri" panose="020F0502020204030204" pitchFamily="34" charset="0"/>
                <a:cs typeface="Calibri" panose="020F0502020204030204" pitchFamily="34" charset="0"/>
              </a:rPr>
              <a:t>IC</a:t>
            </a:r>
            <a:r>
              <a:rPr lang="en-AU" sz="2399" b="1" dirty="0">
                <a:solidFill>
                  <a:srgbClr val="FF0000"/>
                </a:solidFill>
                <a:latin typeface="Calibri" panose="020F0502020204030204" pitchFamily="34" charset="0"/>
                <a:cs typeface="Calibri" panose="020F0502020204030204" pitchFamily="34" charset="0"/>
              </a:rPr>
              <a:t>O</a:t>
            </a:r>
            <a:r>
              <a:rPr lang="en-AU" sz="2399" b="1" dirty="0">
                <a:latin typeface="Calibri" panose="020F0502020204030204" pitchFamily="34" charset="0"/>
                <a:cs typeface="Calibri" panose="020F0502020204030204" pitchFamily="34" charset="0"/>
              </a:rPr>
              <a:t>R</a:t>
            </a:r>
            <a:endParaRPr lang="en-GB" sz="2399" b="1" dirty="0">
              <a:latin typeface="Calibri" panose="020F0502020204030204" pitchFamily="34" charset="0"/>
              <a:cs typeface="Calibri" panose="020F0502020204030204" pitchFamily="34" charset="0"/>
            </a:endParaRPr>
          </a:p>
        </p:txBody>
      </p:sp>
      <p:sp>
        <p:nvSpPr>
          <p:cNvPr id="14" name="TextBox 13">
            <a:extLst>
              <a:ext uri="{FF2B5EF4-FFF2-40B4-BE49-F238E27FC236}">
                <a16:creationId xmlns:a16="http://schemas.microsoft.com/office/drawing/2014/main" id="{29070ED6-4BED-4D32-94DD-D50FBBDA7771}"/>
              </a:ext>
            </a:extLst>
          </p:cNvPr>
          <p:cNvSpPr txBox="1"/>
          <p:nvPr/>
        </p:nvSpPr>
        <p:spPr>
          <a:xfrm>
            <a:off x="74626" y="1340506"/>
            <a:ext cx="2166798" cy="830997"/>
          </a:xfrm>
          <a:prstGeom prst="rect">
            <a:avLst/>
          </a:prstGeom>
          <a:noFill/>
        </p:spPr>
        <p:txBody>
          <a:bodyPr wrap="square" rtlCol="0">
            <a:spAutoFit/>
          </a:bodyPr>
          <a:lstStyle/>
          <a:p>
            <a:r>
              <a:rPr lang="en-AU" sz="2400" dirty="0">
                <a:latin typeface="Calibri" panose="020F0502020204030204" pitchFamily="34" charset="0"/>
                <a:cs typeface="Calibri" panose="020F0502020204030204" pitchFamily="34" charset="0"/>
              </a:rPr>
              <a:t>What are daily requirements?</a:t>
            </a:r>
          </a:p>
        </p:txBody>
      </p:sp>
      <p:sp>
        <p:nvSpPr>
          <p:cNvPr id="15" name="TextBox 14">
            <a:extLst>
              <a:ext uri="{FF2B5EF4-FFF2-40B4-BE49-F238E27FC236}">
                <a16:creationId xmlns:a16="http://schemas.microsoft.com/office/drawing/2014/main" id="{61B98AF6-C845-4C3F-804D-986DB17E48F9}"/>
              </a:ext>
            </a:extLst>
          </p:cNvPr>
          <p:cNvSpPr txBox="1"/>
          <p:nvPr/>
        </p:nvSpPr>
        <p:spPr>
          <a:xfrm>
            <a:off x="2509374" y="1343472"/>
            <a:ext cx="9044747" cy="3913059"/>
          </a:xfrm>
          <a:prstGeom prst="rect">
            <a:avLst/>
          </a:prstGeom>
          <a:noFill/>
        </p:spPr>
        <p:txBody>
          <a:bodyPr wrap="square" rtlCol="0">
            <a:spAutoFit/>
          </a:bodyPr>
          <a:lstStyle/>
          <a:p>
            <a:pPr>
              <a:lnSpc>
                <a:spcPct val="150000"/>
              </a:lnSpc>
            </a:pPr>
            <a:r>
              <a:rPr lang="en-AU" sz="2400" dirty="0">
                <a:latin typeface="Calibri" panose="020F0502020204030204" pitchFamily="34" charset="0"/>
                <a:cs typeface="Calibri" panose="020F0502020204030204" pitchFamily="34" charset="0"/>
              </a:rPr>
              <a:t>In Australia, there are recommended daily energy requirements that vary with age, size, and activity levels.</a:t>
            </a:r>
          </a:p>
          <a:p>
            <a:pPr>
              <a:lnSpc>
                <a:spcPct val="150000"/>
              </a:lnSpc>
            </a:pPr>
            <a:r>
              <a:rPr lang="en-AU" sz="2400" dirty="0">
                <a:latin typeface="Calibri" panose="020F0502020204030204" pitchFamily="34" charset="0"/>
                <a:cs typeface="Calibri" panose="020F0502020204030204" pitchFamily="34" charset="0"/>
              </a:rPr>
              <a:t>For example:</a:t>
            </a:r>
          </a:p>
          <a:p>
            <a:pPr marL="342900" indent="-342900">
              <a:lnSpc>
                <a:spcPct val="150000"/>
              </a:lnSpc>
              <a:buFont typeface="Arial" panose="020B0604020202020204" pitchFamily="34" charset="0"/>
              <a:buChar char="•"/>
            </a:pPr>
            <a:r>
              <a:rPr lang="en-AU" sz="2400" dirty="0">
                <a:latin typeface="Calibri" panose="020F0502020204030204" pitchFamily="34" charset="0"/>
                <a:cs typeface="Calibri" panose="020F0502020204030204" pitchFamily="34" charset="0"/>
              </a:rPr>
              <a:t>A female 18 year old student weighing 60kg would need 11413 kJ per day and by age 40 would only need 8925kJ.</a:t>
            </a:r>
          </a:p>
          <a:p>
            <a:pPr marL="342900" indent="-342900">
              <a:lnSpc>
                <a:spcPct val="150000"/>
              </a:lnSpc>
              <a:buFont typeface="Arial" panose="020B0604020202020204" pitchFamily="34" charset="0"/>
              <a:buChar char="•"/>
            </a:pPr>
            <a:r>
              <a:rPr lang="en-AU" sz="2400" dirty="0">
                <a:latin typeface="Calibri" panose="020F0502020204030204" pitchFamily="34" charset="0"/>
                <a:cs typeface="Calibri" panose="020F0502020204030204" pitchFamily="34" charset="0"/>
              </a:rPr>
              <a:t>A male 18 student old student weighing 60kg would need 12496 kJ per day and by age 40 would only need 10453 kJ.  </a:t>
            </a:r>
          </a:p>
        </p:txBody>
      </p:sp>
    </p:spTree>
    <p:extLst>
      <p:ext uri="{BB962C8B-B14F-4D97-AF65-F5344CB8AC3E}">
        <p14:creationId xmlns:p14="http://schemas.microsoft.com/office/powerpoint/2010/main" val="280081149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xEl>
                                              <p:pRg st="0" end="0"/>
                                            </p:txEl>
                                          </p:spTgt>
                                        </p:tgtEl>
                                        <p:attrNameLst>
                                          <p:attrName>style.visibility</p:attrName>
                                        </p:attrNameLst>
                                      </p:cBhvr>
                                      <p:to>
                                        <p:strVal val="visible"/>
                                      </p:to>
                                    </p:set>
                                    <p:animEffect transition="in" filter="fade">
                                      <p:cBhvr>
                                        <p:cTn id="12" dur="500"/>
                                        <p:tgtEl>
                                          <p:spTgt spid="1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xEl>
                                              <p:pRg st="1" end="1"/>
                                            </p:txEl>
                                          </p:spTgt>
                                        </p:tgtEl>
                                        <p:attrNameLst>
                                          <p:attrName>style.visibility</p:attrName>
                                        </p:attrNameLst>
                                      </p:cBhvr>
                                      <p:to>
                                        <p:strVal val="visible"/>
                                      </p:to>
                                    </p:set>
                                    <p:animEffect transition="in" filter="fade">
                                      <p:cBhvr>
                                        <p:cTn id="17" dur="500"/>
                                        <p:tgtEl>
                                          <p:spTgt spid="1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5">
                                            <p:txEl>
                                              <p:pRg st="2" end="2"/>
                                            </p:txEl>
                                          </p:spTgt>
                                        </p:tgtEl>
                                        <p:attrNameLst>
                                          <p:attrName>style.visibility</p:attrName>
                                        </p:attrNameLst>
                                      </p:cBhvr>
                                      <p:to>
                                        <p:strVal val="visible"/>
                                      </p:to>
                                    </p:set>
                                    <p:animEffect transition="in" filter="fade">
                                      <p:cBhvr>
                                        <p:cTn id="22" dur="500"/>
                                        <p:tgtEl>
                                          <p:spTgt spid="1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5">
                                            <p:txEl>
                                              <p:pRg st="3" end="3"/>
                                            </p:txEl>
                                          </p:spTgt>
                                        </p:tgtEl>
                                        <p:attrNameLst>
                                          <p:attrName>style.visibility</p:attrName>
                                        </p:attrNameLst>
                                      </p:cBhvr>
                                      <p:to>
                                        <p:strVal val="visible"/>
                                      </p:to>
                                    </p:set>
                                    <p:animEffect transition="in" filter="fade">
                                      <p:cBhvr>
                                        <p:cTn id="27" dur="500"/>
                                        <p:tgtEl>
                                          <p:spTgt spid="1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9DE04-7BDB-4E3E-B3FA-C546EA8A44BD}"/>
              </a:ext>
            </a:extLst>
          </p:cNvPr>
          <p:cNvSpPr>
            <a:spLocks noGrp="1"/>
          </p:cNvSpPr>
          <p:nvPr>
            <p:ph type="title"/>
          </p:nvPr>
        </p:nvSpPr>
        <p:spPr/>
        <p:txBody>
          <a:bodyPr/>
          <a:lstStyle/>
          <a:p>
            <a:r>
              <a:rPr lang="en-AU" dirty="0"/>
              <a:t>Task (LHS)</a:t>
            </a:r>
          </a:p>
        </p:txBody>
      </p:sp>
      <p:sp>
        <p:nvSpPr>
          <p:cNvPr id="3" name="Content Placeholder 2">
            <a:extLst>
              <a:ext uri="{FF2B5EF4-FFF2-40B4-BE49-F238E27FC236}">
                <a16:creationId xmlns:a16="http://schemas.microsoft.com/office/drawing/2014/main" id="{C0922486-0A67-4985-A97E-71999FCF3D09}"/>
              </a:ext>
            </a:extLst>
          </p:cNvPr>
          <p:cNvSpPr>
            <a:spLocks noGrp="1"/>
          </p:cNvSpPr>
          <p:nvPr>
            <p:ph idx="1"/>
          </p:nvPr>
        </p:nvSpPr>
        <p:spPr>
          <a:xfrm>
            <a:off x="1024128" y="1715984"/>
            <a:ext cx="9720073" cy="4023360"/>
          </a:xfrm>
        </p:spPr>
        <p:txBody>
          <a:bodyPr>
            <a:normAutofit/>
          </a:bodyPr>
          <a:lstStyle/>
          <a:p>
            <a:r>
              <a:rPr lang="en-AU" sz="2400" dirty="0">
                <a:latin typeface="Calibri" panose="020F0502020204030204" pitchFamily="34" charset="0"/>
                <a:cs typeface="Calibri" panose="020F0502020204030204" pitchFamily="34" charset="0"/>
              </a:rPr>
              <a:t>These are typical take away meals. Use the provided RDI figures to answer the following questions.</a:t>
            </a:r>
          </a:p>
          <a:p>
            <a:pPr lvl="1"/>
            <a:r>
              <a:rPr lang="en-AU" sz="2000" dirty="0">
                <a:latin typeface="Calibri" panose="020F0502020204030204" pitchFamily="34" charset="0"/>
                <a:cs typeface="Calibri" panose="020F0502020204030204" pitchFamily="34" charset="0"/>
              </a:rPr>
              <a:t>How many kilojoules are in each serving (if the meal does not feed one person)?</a:t>
            </a:r>
          </a:p>
          <a:p>
            <a:pPr lvl="1"/>
            <a:r>
              <a:rPr lang="en-AU" sz="2000" dirty="0">
                <a:latin typeface="Calibri" panose="020F0502020204030204" pitchFamily="34" charset="0"/>
                <a:cs typeface="Calibri" panose="020F0502020204030204" pitchFamily="34" charset="0"/>
              </a:rPr>
              <a:t>What percentage of the recommended daily intake, (RDI), this would make up?</a:t>
            </a:r>
          </a:p>
          <a:p>
            <a:pPr marL="128016" lvl="1" indent="0">
              <a:buNone/>
            </a:pPr>
            <a:endParaRPr lang="en-AU" sz="2000" dirty="0">
              <a:latin typeface="Calibri" panose="020F0502020204030204" pitchFamily="34" charset="0"/>
              <a:cs typeface="Calibri" panose="020F0502020204030204" pitchFamily="34" charset="0"/>
            </a:endParaRPr>
          </a:p>
        </p:txBody>
      </p:sp>
      <p:graphicFrame>
        <p:nvGraphicFramePr>
          <p:cNvPr id="4" name="Table 4">
            <a:extLst>
              <a:ext uri="{FF2B5EF4-FFF2-40B4-BE49-F238E27FC236}">
                <a16:creationId xmlns:a16="http://schemas.microsoft.com/office/drawing/2014/main" id="{C852E40C-CFB0-4DF8-A573-1A75DDD4AB8E}"/>
              </a:ext>
            </a:extLst>
          </p:cNvPr>
          <p:cNvGraphicFramePr>
            <a:graphicFrameLocks noGrp="1"/>
          </p:cNvGraphicFramePr>
          <p:nvPr>
            <p:extLst>
              <p:ext uri="{D42A27DB-BD31-4B8C-83A1-F6EECF244321}">
                <p14:modId xmlns:p14="http://schemas.microsoft.com/office/powerpoint/2010/main" val="2337992109"/>
              </p:ext>
            </p:extLst>
          </p:nvPr>
        </p:nvGraphicFramePr>
        <p:xfrm>
          <a:off x="1178502" y="3201112"/>
          <a:ext cx="9989370" cy="3281726"/>
        </p:xfrm>
        <a:graphic>
          <a:graphicData uri="http://schemas.openxmlformats.org/drawingml/2006/table">
            <a:tbl>
              <a:tblPr firstRow="1" bandRow="1">
                <a:tableStyleId>{5C22544A-7EE6-4342-B048-85BDC9FD1C3A}</a:tableStyleId>
              </a:tblPr>
              <a:tblGrid>
                <a:gridCol w="1997874">
                  <a:extLst>
                    <a:ext uri="{9D8B030D-6E8A-4147-A177-3AD203B41FA5}">
                      <a16:colId xmlns:a16="http://schemas.microsoft.com/office/drawing/2014/main" val="941686431"/>
                    </a:ext>
                  </a:extLst>
                </a:gridCol>
                <a:gridCol w="1086863">
                  <a:extLst>
                    <a:ext uri="{9D8B030D-6E8A-4147-A177-3AD203B41FA5}">
                      <a16:colId xmlns:a16="http://schemas.microsoft.com/office/drawing/2014/main" val="635941341"/>
                    </a:ext>
                  </a:extLst>
                </a:gridCol>
                <a:gridCol w="1828800">
                  <a:extLst>
                    <a:ext uri="{9D8B030D-6E8A-4147-A177-3AD203B41FA5}">
                      <a16:colId xmlns:a16="http://schemas.microsoft.com/office/drawing/2014/main" val="4232926977"/>
                    </a:ext>
                  </a:extLst>
                </a:gridCol>
                <a:gridCol w="1816924">
                  <a:extLst>
                    <a:ext uri="{9D8B030D-6E8A-4147-A177-3AD203B41FA5}">
                      <a16:colId xmlns:a16="http://schemas.microsoft.com/office/drawing/2014/main" val="617809494"/>
                    </a:ext>
                  </a:extLst>
                </a:gridCol>
                <a:gridCol w="3258909">
                  <a:extLst>
                    <a:ext uri="{9D8B030D-6E8A-4147-A177-3AD203B41FA5}">
                      <a16:colId xmlns:a16="http://schemas.microsoft.com/office/drawing/2014/main" val="2395892657"/>
                    </a:ext>
                  </a:extLst>
                </a:gridCol>
              </a:tblGrid>
              <a:tr h="447086">
                <a:tc>
                  <a:txBody>
                    <a:bodyPr/>
                    <a:lstStyle/>
                    <a:p>
                      <a:r>
                        <a:rPr lang="en-AU" dirty="0"/>
                        <a:t>Meal</a:t>
                      </a:r>
                    </a:p>
                  </a:txBody>
                  <a:tcPr/>
                </a:tc>
                <a:tc>
                  <a:txBody>
                    <a:bodyPr/>
                    <a:lstStyle/>
                    <a:p>
                      <a:r>
                        <a:rPr lang="en-AU" dirty="0"/>
                        <a:t>Servings</a:t>
                      </a:r>
                    </a:p>
                  </a:txBody>
                  <a:tcPr/>
                </a:tc>
                <a:tc>
                  <a:txBody>
                    <a:bodyPr/>
                    <a:lstStyle/>
                    <a:p>
                      <a:r>
                        <a:rPr lang="en-AU" dirty="0"/>
                        <a:t>Total kJ for meal</a:t>
                      </a:r>
                    </a:p>
                  </a:txBody>
                  <a:tcPr/>
                </a:tc>
                <a:tc>
                  <a:txBody>
                    <a:bodyPr/>
                    <a:lstStyle/>
                    <a:p>
                      <a:r>
                        <a:rPr lang="en-AU" dirty="0"/>
                        <a:t>kJ/person</a:t>
                      </a:r>
                    </a:p>
                  </a:txBody>
                  <a:tcPr/>
                </a:tc>
                <a:tc>
                  <a:txBody>
                    <a:bodyPr/>
                    <a:lstStyle/>
                    <a:p>
                      <a:r>
                        <a:rPr lang="en-AU" dirty="0"/>
                        <a:t>%RDI</a:t>
                      </a:r>
                    </a:p>
                  </a:txBody>
                  <a:tcPr/>
                </a:tc>
                <a:extLst>
                  <a:ext uri="{0D108BD9-81ED-4DB2-BD59-A6C34878D82A}">
                    <a16:rowId xmlns:a16="http://schemas.microsoft.com/office/drawing/2014/main" val="2435829711"/>
                  </a:ext>
                </a:extLst>
              </a:tr>
              <a:tr h="472124">
                <a:tc>
                  <a:txBody>
                    <a:bodyPr/>
                    <a:lstStyle/>
                    <a:p>
                      <a:r>
                        <a:rPr lang="en-AU" dirty="0"/>
                        <a:t>Rogan Josh with naan bread</a:t>
                      </a:r>
                    </a:p>
                  </a:txBody>
                  <a:tcPr/>
                </a:tc>
                <a:tc>
                  <a:txBody>
                    <a:bodyPr/>
                    <a:lstStyle/>
                    <a:p>
                      <a:pPr algn="ctr"/>
                      <a:r>
                        <a:rPr lang="en-AU" dirty="0"/>
                        <a:t>2</a:t>
                      </a:r>
                    </a:p>
                  </a:txBody>
                  <a:tcPr/>
                </a:tc>
                <a:tc>
                  <a:txBody>
                    <a:bodyPr/>
                    <a:lstStyle/>
                    <a:p>
                      <a:pPr algn="ctr"/>
                      <a:r>
                        <a:rPr lang="en-AU" dirty="0"/>
                        <a:t>6474</a:t>
                      </a:r>
                    </a:p>
                  </a:txBody>
                  <a:tcPr/>
                </a:tc>
                <a:tc>
                  <a:txBody>
                    <a:bodyPr/>
                    <a:lstStyle/>
                    <a:p>
                      <a:endParaRPr lang="en-AU" dirty="0"/>
                    </a:p>
                  </a:txBody>
                  <a:tcPr/>
                </a:tc>
                <a:tc>
                  <a:txBody>
                    <a:bodyPr/>
                    <a:lstStyle/>
                    <a:p>
                      <a:r>
                        <a:rPr lang="en-AU" dirty="0"/>
                        <a:t>Female 18 year old</a:t>
                      </a:r>
                    </a:p>
                    <a:p>
                      <a:r>
                        <a:rPr lang="en-AU" dirty="0"/>
                        <a:t>Male 18 year old</a:t>
                      </a:r>
                    </a:p>
                  </a:txBody>
                  <a:tcPr/>
                </a:tc>
                <a:extLst>
                  <a:ext uri="{0D108BD9-81ED-4DB2-BD59-A6C34878D82A}">
                    <a16:rowId xmlns:a16="http://schemas.microsoft.com/office/drawing/2014/main" val="832989787"/>
                  </a:ext>
                </a:extLst>
              </a:tr>
              <a:tr h="472124">
                <a:tc>
                  <a:txBody>
                    <a:bodyPr/>
                    <a:lstStyle/>
                    <a:p>
                      <a:r>
                        <a:rPr lang="en-AU" dirty="0"/>
                        <a:t>Fish and chips (battered)</a:t>
                      </a:r>
                    </a:p>
                  </a:txBody>
                  <a:tcPr/>
                </a:tc>
                <a:tc>
                  <a:txBody>
                    <a:bodyPr/>
                    <a:lstStyle/>
                    <a:p>
                      <a:pPr algn="ctr"/>
                      <a:r>
                        <a:rPr lang="en-AU" dirty="0"/>
                        <a:t>4</a:t>
                      </a:r>
                    </a:p>
                  </a:txBody>
                  <a:tcPr/>
                </a:tc>
                <a:tc>
                  <a:txBody>
                    <a:bodyPr/>
                    <a:lstStyle/>
                    <a:p>
                      <a:pPr algn="ctr"/>
                      <a:r>
                        <a:rPr lang="en-AU" dirty="0"/>
                        <a:t>10132</a:t>
                      </a:r>
                    </a:p>
                  </a:txBody>
                  <a:tcPr/>
                </a:tc>
                <a:tc>
                  <a:txBody>
                    <a:bodyPr/>
                    <a:lstStyle/>
                    <a:p>
                      <a:endParaRPr lang="en-AU"/>
                    </a:p>
                  </a:txBody>
                  <a:tcPr/>
                </a:tc>
                <a:tc>
                  <a:txBody>
                    <a:bodyPr/>
                    <a:lstStyle/>
                    <a:p>
                      <a:r>
                        <a:rPr lang="en-AU" dirty="0"/>
                        <a:t>Female 18 year old</a:t>
                      </a:r>
                    </a:p>
                    <a:p>
                      <a:r>
                        <a:rPr lang="en-AU" dirty="0"/>
                        <a:t>Male 18 year old</a:t>
                      </a:r>
                    </a:p>
                  </a:txBody>
                  <a:tcPr/>
                </a:tc>
                <a:extLst>
                  <a:ext uri="{0D108BD9-81ED-4DB2-BD59-A6C34878D82A}">
                    <a16:rowId xmlns:a16="http://schemas.microsoft.com/office/drawing/2014/main" val="2025524089"/>
                  </a:ext>
                </a:extLst>
              </a:tr>
              <a:tr h="472124">
                <a:tc>
                  <a:txBody>
                    <a:bodyPr/>
                    <a:lstStyle/>
                    <a:p>
                      <a:r>
                        <a:rPr lang="en-AU" dirty="0"/>
                        <a:t>Beef and black bean stir fry with fried rice</a:t>
                      </a:r>
                    </a:p>
                  </a:txBody>
                  <a:tcPr/>
                </a:tc>
                <a:tc>
                  <a:txBody>
                    <a:bodyPr/>
                    <a:lstStyle/>
                    <a:p>
                      <a:pPr algn="ctr"/>
                      <a:r>
                        <a:rPr lang="en-AU" dirty="0"/>
                        <a:t>2</a:t>
                      </a:r>
                    </a:p>
                  </a:txBody>
                  <a:tcPr/>
                </a:tc>
                <a:tc>
                  <a:txBody>
                    <a:bodyPr/>
                    <a:lstStyle/>
                    <a:p>
                      <a:pPr algn="ctr"/>
                      <a:r>
                        <a:rPr lang="en-AU" dirty="0"/>
                        <a:t>4912</a:t>
                      </a:r>
                    </a:p>
                  </a:txBody>
                  <a:tcPr/>
                </a:tc>
                <a:tc>
                  <a:txBody>
                    <a:bodyPr/>
                    <a:lstStyle/>
                    <a:p>
                      <a:endParaRPr lang="en-AU"/>
                    </a:p>
                  </a:txBody>
                  <a:tcPr/>
                </a:tc>
                <a:tc>
                  <a:txBody>
                    <a:bodyPr/>
                    <a:lstStyle/>
                    <a:p>
                      <a:r>
                        <a:rPr lang="en-AU" dirty="0"/>
                        <a:t>Female 18 year old</a:t>
                      </a:r>
                    </a:p>
                    <a:p>
                      <a:r>
                        <a:rPr lang="en-AU" dirty="0"/>
                        <a:t>Male 18 year old</a:t>
                      </a:r>
                    </a:p>
                  </a:txBody>
                  <a:tcPr/>
                </a:tc>
                <a:extLst>
                  <a:ext uri="{0D108BD9-81ED-4DB2-BD59-A6C34878D82A}">
                    <a16:rowId xmlns:a16="http://schemas.microsoft.com/office/drawing/2014/main" val="1701581230"/>
                  </a:ext>
                </a:extLst>
              </a:tr>
              <a:tr h="472124">
                <a:tc>
                  <a:txBody>
                    <a:bodyPr/>
                    <a:lstStyle/>
                    <a:p>
                      <a:r>
                        <a:rPr lang="en-AU" dirty="0"/>
                        <a:t>Sushi: 2 x Californian Rolls</a:t>
                      </a:r>
                    </a:p>
                  </a:txBody>
                  <a:tcPr/>
                </a:tc>
                <a:tc>
                  <a:txBody>
                    <a:bodyPr/>
                    <a:lstStyle/>
                    <a:p>
                      <a:pPr algn="ctr"/>
                      <a:r>
                        <a:rPr lang="en-AU" dirty="0"/>
                        <a:t>1</a:t>
                      </a:r>
                    </a:p>
                  </a:txBody>
                  <a:tcPr/>
                </a:tc>
                <a:tc>
                  <a:txBody>
                    <a:bodyPr/>
                    <a:lstStyle/>
                    <a:p>
                      <a:pPr algn="ctr"/>
                      <a:r>
                        <a:rPr lang="en-AU" dirty="0"/>
                        <a:t>1280</a:t>
                      </a:r>
                    </a:p>
                  </a:txBody>
                  <a:tcPr/>
                </a:tc>
                <a:tc>
                  <a:txBody>
                    <a:bodyPr/>
                    <a:lstStyle/>
                    <a:p>
                      <a:endParaRPr lang="en-AU" dirty="0"/>
                    </a:p>
                  </a:txBody>
                  <a:tcPr/>
                </a:tc>
                <a:tc>
                  <a:txBody>
                    <a:bodyPr/>
                    <a:lstStyle/>
                    <a:p>
                      <a:r>
                        <a:rPr lang="en-AU" dirty="0"/>
                        <a:t>Female 18 year old</a:t>
                      </a:r>
                    </a:p>
                    <a:p>
                      <a:r>
                        <a:rPr lang="en-AU" dirty="0"/>
                        <a:t>Male 18 year old</a:t>
                      </a:r>
                    </a:p>
                  </a:txBody>
                  <a:tcPr/>
                </a:tc>
                <a:extLst>
                  <a:ext uri="{0D108BD9-81ED-4DB2-BD59-A6C34878D82A}">
                    <a16:rowId xmlns:a16="http://schemas.microsoft.com/office/drawing/2014/main" val="44078081"/>
                  </a:ext>
                </a:extLst>
              </a:tr>
            </a:tbl>
          </a:graphicData>
        </a:graphic>
      </p:graphicFrame>
    </p:spTree>
    <p:extLst>
      <p:ext uri="{BB962C8B-B14F-4D97-AF65-F5344CB8AC3E}">
        <p14:creationId xmlns:p14="http://schemas.microsoft.com/office/powerpoint/2010/main" val="35275808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44EC2-D50D-4652-9305-AF7EC325976B}"/>
              </a:ext>
            </a:extLst>
          </p:cNvPr>
          <p:cNvSpPr>
            <a:spLocks noGrp="1"/>
          </p:cNvSpPr>
          <p:nvPr>
            <p:ph type="title"/>
          </p:nvPr>
        </p:nvSpPr>
        <p:spPr/>
        <p:txBody>
          <a:bodyPr>
            <a:normAutofit/>
          </a:bodyPr>
          <a:lstStyle/>
          <a:p>
            <a:r>
              <a:rPr lang="en-AU" sz="5400" b="1" dirty="0">
                <a:solidFill>
                  <a:schemeClr val="accent1">
                    <a:lumMod val="75000"/>
                  </a:schemeClr>
                </a:solidFill>
                <a:latin typeface="Kiwi School Handwriting"/>
              </a:rPr>
              <a:t>Task</a:t>
            </a:r>
            <a:endParaRPr lang="en-GB" sz="5400" b="1" dirty="0">
              <a:solidFill>
                <a:schemeClr val="accent1">
                  <a:lumMod val="75000"/>
                </a:schemeClr>
              </a:solidFill>
              <a:latin typeface="Kiwi School Handwriting"/>
            </a:endParaRPr>
          </a:p>
        </p:txBody>
      </p:sp>
      <p:sp>
        <p:nvSpPr>
          <p:cNvPr id="3" name="Content Placeholder 2">
            <a:extLst>
              <a:ext uri="{FF2B5EF4-FFF2-40B4-BE49-F238E27FC236}">
                <a16:creationId xmlns:a16="http://schemas.microsoft.com/office/drawing/2014/main" id="{AE03FB65-85C3-4D6E-9E99-A4600037F898}"/>
              </a:ext>
            </a:extLst>
          </p:cNvPr>
          <p:cNvSpPr>
            <a:spLocks noGrp="1"/>
          </p:cNvSpPr>
          <p:nvPr>
            <p:ph idx="1"/>
          </p:nvPr>
        </p:nvSpPr>
        <p:spPr/>
        <p:txBody>
          <a:bodyPr>
            <a:normAutofit/>
          </a:bodyPr>
          <a:lstStyle/>
          <a:p>
            <a:pPr marL="0" indent="0">
              <a:buNone/>
            </a:pPr>
            <a:endParaRPr lang="en-AU" sz="2400" dirty="0"/>
          </a:p>
          <a:p>
            <a:pPr marL="0" indent="0">
              <a:buNone/>
            </a:pPr>
            <a:endParaRPr lang="en-GB" sz="2400" dirty="0"/>
          </a:p>
          <a:p>
            <a:endParaRPr lang="en-AU" sz="2400" dirty="0"/>
          </a:p>
        </p:txBody>
      </p:sp>
      <p:pic>
        <p:nvPicPr>
          <p:cNvPr id="7" name="Picture 6">
            <a:extLst>
              <a:ext uri="{FF2B5EF4-FFF2-40B4-BE49-F238E27FC236}">
                <a16:creationId xmlns:a16="http://schemas.microsoft.com/office/drawing/2014/main" id="{18D9BA69-BBE6-442D-87E9-A3BC3BD60CED}"/>
              </a:ext>
            </a:extLst>
          </p:cNvPr>
          <p:cNvPicPr>
            <a:picLocks noChangeAspect="1"/>
          </p:cNvPicPr>
          <p:nvPr/>
        </p:nvPicPr>
        <p:blipFill>
          <a:blip r:embed="rId2"/>
          <a:stretch>
            <a:fillRect/>
          </a:stretch>
        </p:blipFill>
        <p:spPr>
          <a:xfrm>
            <a:off x="1121569" y="1965820"/>
            <a:ext cx="10077450" cy="4481603"/>
          </a:xfrm>
          <a:prstGeom prst="rect">
            <a:avLst/>
          </a:prstGeom>
        </p:spPr>
      </p:pic>
    </p:spTree>
    <p:extLst>
      <p:ext uri="{BB962C8B-B14F-4D97-AF65-F5344CB8AC3E}">
        <p14:creationId xmlns:p14="http://schemas.microsoft.com/office/powerpoint/2010/main" val="23070153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44EC2-D50D-4652-9305-AF7EC325976B}"/>
              </a:ext>
            </a:extLst>
          </p:cNvPr>
          <p:cNvSpPr>
            <a:spLocks noGrp="1"/>
          </p:cNvSpPr>
          <p:nvPr>
            <p:ph type="title"/>
          </p:nvPr>
        </p:nvSpPr>
        <p:spPr/>
        <p:txBody>
          <a:bodyPr>
            <a:normAutofit/>
          </a:bodyPr>
          <a:lstStyle/>
          <a:p>
            <a:r>
              <a:rPr lang="en-AU" sz="5400" b="1" dirty="0">
                <a:solidFill>
                  <a:schemeClr val="accent1">
                    <a:lumMod val="75000"/>
                  </a:schemeClr>
                </a:solidFill>
                <a:latin typeface="Kiwi School Handwriting"/>
              </a:rPr>
              <a:t>Task</a:t>
            </a:r>
            <a:endParaRPr lang="en-GB" sz="5400" b="1" dirty="0">
              <a:solidFill>
                <a:schemeClr val="accent1">
                  <a:lumMod val="75000"/>
                </a:schemeClr>
              </a:solidFill>
              <a:latin typeface="Kiwi School Handwriting"/>
            </a:endParaRPr>
          </a:p>
        </p:txBody>
      </p:sp>
      <p:sp>
        <p:nvSpPr>
          <p:cNvPr id="3" name="Content Placeholder 2">
            <a:extLst>
              <a:ext uri="{FF2B5EF4-FFF2-40B4-BE49-F238E27FC236}">
                <a16:creationId xmlns:a16="http://schemas.microsoft.com/office/drawing/2014/main" id="{AE03FB65-85C3-4D6E-9E99-A4600037F898}"/>
              </a:ext>
            </a:extLst>
          </p:cNvPr>
          <p:cNvSpPr>
            <a:spLocks noGrp="1"/>
          </p:cNvSpPr>
          <p:nvPr>
            <p:ph idx="1"/>
          </p:nvPr>
        </p:nvSpPr>
        <p:spPr/>
        <p:txBody>
          <a:bodyPr>
            <a:normAutofit/>
          </a:bodyPr>
          <a:lstStyle/>
          <a:p>
            <a:pPr marL="0" indent="0">
              <a:buNone/>
            </a:pPr>
            <a:endParaRPr lang="en-AU" sz="2400" dirty="0"/>
          </a:p>
          <a:p>
            <a:pPr marL="0" indent="0">
              <a:buNone/>
            </a:pPr>
            <a:endParaRPr lang="en-GB" sz="2400" dirty="0"/>
          </a:p>
          <a:p>
            <a:endParaRPr lang="en-AU" sz="2400" dirty="0"/>
          </a:p>
        </p:txBody>
      </p:sp>
      <p:pic>
        <p:nvPicPr>
          <p:cNvPr id="4" name="Picture 3">
            <a:extLst>
              <a:ext uri="{FF2B5EF4-FFF2-40B4-BE49-F238E27FC236}">
                <a16:creationId xmlns:a16="http://schemas.microsoft.com/office/drawing/2014/main" id="{3813DA38-F126-464F-B839-4951C95FD869}"/>
              </a:ext>
            </a:extLst>
          </p:cNvPr>
          <p:cNvPicPr>
            <a:picLocks noChangeAspect="1"/>
          </p:cNvPicPr>
          <p:nvPr/>
        </p:nvPicPr>
        <p:blipFill>
          <a:blip r:embed="rId2"/>
          <a:stretch>
            <a:fillRect/>
          </a:stretch>
        </p:blipFill>
        <p:spPr>
          <a:xfrm>
            <a:off x="1400174" y="1945634"/>
            <a:ext cx="10263187" cy="4273051"/>
          </a:xfrm>
          <a:prstGeom prst="rect">
            <a:avLst/>
          </a:prstGeom>
        </p:spPr>
      </p:pic>
    </p:spTree>
    <p:extLst>
      <p:ext uri="{BB962C8B-B14F-4D97-AF65-F5344CB8AC3E}">
        <p14:creationId xmlns:p14="http://schemas.microsoft.com/office/powerpoint/2010/main" val="9886651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44EC2-D50D-4652-9305-AF7EC325976B}"/>
              </a:ext>
            </a:extLst>
          </p:cNvPr>
          <p:cNvSpPr>
            <a:spLocks noGrp="1"/>
          </p:cNvSpPr>
          <p:nvPr>
            <p:ph type="title"/>
          </p:nvPr>
        </p:nvSpPr>
        <p:spPr/>
        <p:txBody>
          <a:bodyPr>
            <a:normAutofit/>
          </a:bodyPr>
          <a:lstStyle/>
          <a:p>
            <a:r>
              <a:rPr lang="en-AU" sz="5400" b="1" dirty="0">
                <a:solidFill>
                  <a:schemeClr val="accent1">
                    <a:lumMod val="75000"/>
                  </a:schemeClr>
                </a:solidFill>
                <a:latin typeface="Kiwi School Handwriting"/>
              </a:rPr>
              <a:t>Task</a:t>
            </a:r>
            <a:endParaRPr lang="en-GB" sz="5400" b="1" dirty="0">
              <a:solidFill>
                <a:schemeClr val="accent1">
                  <a:lumMod val="75000"/>
                </a:schemeClr>
              </a:solidFill>
              <a:latin typeface="Kiwi School Handwriting"/>
            </a:endParaRPr>
          </a:p>
        </p:txBody>
      </p:sp>
      <p:sp>
        <p:nvSpPr>
          <p:cNvPr id="3" name="Content Placeholder 2">
            <a:extLst>
              <a:ext uri="{FF2B5EF4-FFF2-40B4-BE49-F238E27FC236}">
                <a16:creationId xmlns:a16="http://schemas.microsoft.com/office/drawing/2014/main" id="{AE03FB65-85C3-4D6E-9E99-A4600037F898}"/>
              </a:ext>
            </a:extLst>
          </p:cNvPr>
          <p:cNvSpPr>
            <a:spLocks noGrp="1"/>
          </p:cNvSpPr>
          <p:nvPr>
            <p:ph idx="1"/>
          </p:nvPr>
        </p:nvSpPr>
        <p:spPr/>
        <p:txBody>
          <a:bodyPr>
            <a:normAutofit/>
          </a:bodyPr>
          <a:lstStyle/>
          <a:p>
            <a:pPr marL="0" indent="0">
              <a:buNone/>
            </a:pPr>
            <a:endParaRPr lang="en-AU" sz="2400" dirty="0"/>
          </a:p>
          <a:p>
            <a:pPr marL="0" indent="0">
              <a:buNone/>
            </a:pPr>
            <a:endParaRPr lang="en-GB" sz="2400" dirty="0"/>
          </a:p>
          <a:p>
            <a:endParaRPr lang="en-AU" sz="2400" dirty="0"/>
          </a:p>
        </p:txBody>
      </p:sp>
      <p:pic>
        <p:nvPicPr>
          <p:cNvPr id="5" name="Picture 4">
            <a:extLst>
              <a:ext uri="{FF2B5EF4-FFF2-40B4-BE49-F238E27FC236}">
                <a16:creationId xmlns:a16="http://schemas.microsoft.com/office/drawing/2014/main" id="{4E809F45-EF34-47D0-ACD3-93B1FBBE6FC8}"/>
              </a:ext>
            </a:extLst>
          </p:cNvPr>
          <p:cNvPicPr>
            <a:picLocks noChangeAspect="1"/>
          </p:cNvPicPr>
          <p:nvPr/>
        </p:nvPicPr>
        <p:blipFill>
          <a:blip r:embed="rId2"/>
          <a:stretch>
            <a:fillRect/>
          </a:stretch>
        </p:blipFill>
        <p:spPr>
          <a:xfrm>
            <a:off x="1328739" y="2057401"/>
            <a:ext cx="9920286" cy="4431398"/>
          </a:xfrm>
          <a:prstGeom prst="rect">
            <a:avLst/>
          </a:prstGeom>
        </p:spPr>
      </p:pic>
    </p:spTree>
    <p:extLst>
      <p:ext uri="{BB962C8B-B14F-4D97-AF65-F5344CB8AC3E}">
        <p14:creationId xmlns:p14="http://schemas.microsoft.com/office/powerpoint/2010/main" val="31816489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4" name="Straight Connector 3"/>
          <p:cNvCxnSpPr>
            <a:cxnSpLocks/>
          </p:cNvCxnSpPr>
          <p:nvPr/>
        </p:nvCxnSpPr>
        <p:spPr>
          <a:xfrm>
            <a:off x="1589" y="791805"/>
            <a:ext cx="12188825"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pitchFamily="34" charset="0"/>
                <a:cs typeface="Calibri" panose="020F0502020204030204" pitchFamily="34" charset="0"/>
              </a:rPr>
              <a:t>24</a:t>
            </a:r>
          </a:p>
          <a:p>
            <a:pPr defTabSz="914126"/>
            <a:r>
              <a:rPr lang="en-AU" sz="1600" dirty="0">
                <a:solidFill>
                  <a:prstClr val="black"/>
                </a:solidFill>
                <a:latin typeface="Calibri" panose="020F0502020204030204" pitchFamily="34" charset="0"/>
                <a:cs typeface="Calibri" panose="020F0502020204030204" pitchFamily="34" charset="0"/>
              </a:rPr>
              <a:t>7</a:t>
            </a:r>
          </a:p>
          <a:p>
            <a:pPr defTabSz="914126"/>
            <a:r>
              <a:rPr lang="en-AU" sz="1600" dirty="0">
                <a:solidFill>
                  <a:prstClr val="black"/>
                </a:solidFill>
                <a:latin typeface="Calibri" panose="020F0502020204030204" pitchFamily="34" charset="0"/>
                <a:cs typeface="Calibri" panose="020F0502020204030204" pitchFamily="34" charset="0"/>
              </a:rPr>
              <a:t>30</a:t>
            </a:r>
          </a:p>
        </p:txBody>
      </p:sp>
      <p:cxnSp>
        <p:nvCxnSpPr>
          <p:cNvPr id="9" name="Straight Connector 8"/>
          <p:cNvCxnSpPr>
            <a:cxnSpLocks/>
          </p:cNvCxnSpPr>
          <p:nvPr/>
        </p:nvCxnSpPr>
        <p:spPr>
          <a:xfrm>
            <a:off x="2151983" y="1298661"/>
            <a:ext cx="0" cy="5559338"/>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592821" y="123165"/>
            <a:ext cx="2389950" cy="584775"/>
          </a:xfrm>
          <a:prstGeom prst="rect">
            <a:avLst/>
          </a:prstGeom>
          <a:noFill/>
        </p:spPr>
        <p:txBody>
          <a:bodyPr wrap="none" rtlCol="0">
            <a:spAutoFit/>
          </a:bodyPr>
          <a:lstStyle/>
          <a:p>
            <a:pPr defTabSz="914126"/>
            <a:r>
              <a:rPr lang="en-AU" sz="3200" dirty="0">
                <a:solidFill>
                  <a:prstClr val="black"/>
                </a:solidFill>
                <a:latin typeface="Calibri" panose="020F0502020204030204" pitchFamily="34" charset="0"/>
                <a:cs typeface="Calibri" panose="020F0502020204030204" pitchFamily="34" charset="0"/>
              </a:rPr>
              <a:t>Topic: Energy</a:t>
            </a:r>
          </a:p>
        </p:txBody>
      </p:sp>
      <p:sp>
        <p:nvSpPr>
          <p:cNvPr id="11" name="TextBox 10"/>
          <p:cNvSpPr txBox="1"/>
          <p:nvPr/>
        </p:nvSpPr>
        <p:spPr>
          <a:xfrm>
            <a:off x="9493720" y="211358"/>
            <a:ext cx="2414308" cy="461537"/>
          </a:xfrm>
          <a:prstGeom prst="rect">
            <a:avLst/>
          </a:prstGeom>
          <a:noFill/>
        </p:spPr>
        <p:txBody>
          <a:bodyPr wrap="square" rtlCol="0">
            <a:spAutoFit/>
          </a:bodyPr>
          <a:lstStyle/>
          <a:p>
            <a:pPr defTabSz="914126"/>
            <a:r>
              <a:rPr lang="en-AU" sz="2399" dirty="0">
                <a:solidFill>
                  <a:prstClr val="black"/>
                </a:solidFill>
                <a:latin typeface="Calibri" panose="020F0502020204030204" pitchFamily="34" charset="0"/>
                <a:cs typeface="Calibri" panose="020F0502020204030204" pitchFamily="34" charset="0"/>
              </a:rPr>
              <a:t>Date: XX/XX/2021</a:t>
            </a:r>
          </a:p>
        </p:txBody>
      </p:sp>
      <p:sp>
        <p:nvSpPr>
          <p:cNvPr id="33" name="TextBox 32"/>
          <p:cNvSpPr txBox="1"/>
          <p:nvPr/>
        </p:nvSpPr>
        <p:spPr>
          <a:xfrm>
            <a:off x="191345" y="837124"/>
            <a:ext cx="6672593" cy="461537"/>
          </a:xfrm>
          <a:prstGeom prst="rect">
            <a:avLst/>
          </a:prstGeom>
          <a:noFill/>
        </p:spPr>
        <p:txBody>
          <a:bodyPr wrap="square" rtlCol="0">
            <a:spAutoFit/>
          </a:bodyPr>
          <a:lstStyle/>
          <a:p>
            <a:pPr defTabSz="914126"/>
            <a:r>
              <a:rPr lang="en-AU" sz="2399" dirty="0">
                <a:solidFill>
                  <a:prstClr val="black"/>
                </a:solidFill>
                <a:latin typeface="Calibri" panose="020F0502020204030204" pitchFamily="34" charset="0"/>
                <a:cs typeface="Calibri" panose="020F0502020204030204" pitchFamily="34" charset="0"/>
              </a:rPr>
              <a:t>EQ – How is energy in food and exercise measured?</a:t>
            </a:r>
          </a:p>
        </p:txBody>
      </p:sp>
      <p:cxnSp>
        <p:nvCxnSpPr>
          <p:cNvPr id="20" name="Straight Connector 19">
            <a:extLst>
              <a:ext uri="{FF2B5EF4-FFF2-40B4-BE49-F238E27FC236}">
                <a16:creationId xmlns:a16="http://schemas.microsoft.com/office/drawing/2014/main" id="{7B753F7B-0DF6-4B46-B9CC-2218E2961FD5}"/>
              </a:ext>
            </a:extLst>
          </p:cNvPr>
          <p:cNvCxnSpPr>
            <a:cxnSpLocks/>
          </p:cNvCxnSpPr>
          <p:nvPr/>
        </p:nvCxnSpPr>
        <p:spPr>
          <a:xfrm>
            <a:off x="1589" y="1298662"/>
            <a:ext cx="12188825"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96A9E84E-8513-465B-8CA9-D1DD4FAC2317}"/>
              </a:ext>
            </a:extLst>
          </p:cNvPr>
          <p:cNvSpPr txBox="1"/>
          <p:nvPr/>
        </p:nvSpPr>
        <p:spPr>
          <a:xfrm>
            <a:off x="124245" y="5756432"/>
            <a:ext cx="2027738" cy="461545"/>
          </a:xfrm>
          <a:prstGeom prst="rect">
            <a:avLst/>
          </a:prstGeom>
          <a:noFill/>
        </p:spPr>
        <p:txBody>
          <a:bodyPr wrap="square" rtlCol="0">
            <a:spAutoFit/>
          </a:bodyPr>
          <a:lstStyle/>
          <a:p>
            <a:pPr algn="ctr"/>
            <a:r>
              <a:rPr lang="en-AU" sz="2399" b="1" dirty="0">
                <a:solidFill>
                  <a:schemeClr val="accent1"/>
                </a:solidFill>
                <a:latin typeface="Calibri" panose="020F0502020204030204" pitchFamily="34" charset="0"/>
                <a:cs typeface="Calibri" panose="020F0502020204030204" pitchFamily="34" charset="0"/>
              </a:rPr>
              <a:t>W</a:t>
            </a:r>
            <a:r>
              <a:rPr lang="en-AU" sz="2399" b="1" dirty="0">
                <a:latin typeface="Calibri" panose="020F0502020204030204" pitchFamily="34" charset="0"/>
                <a:cs typeface="Calibri" panose="020F0502020204030204" pitchFamily="34" charset="0"/>
              </a:rPr>
              <a:t>IC</a:t>
            </a:r>
            <a:r>
              <a:rPr lang="en-AU" sz="2399" b="1" dirty="0">
                <a:solidFill>
                  <a:srgbClr val="FF0000"/>
                </a:solidFill>
                <a:latin typeface="Calibri" panose="020F0502020204030204" pitchFamily="34" charset="0"/>
                <a:cs typeface="Calibri" panose="020F0502020204030204" pitchFamily="34" charset="0"/>
              </a:rPr>
              <a:t>O</a:t>
            </a:r>
            <a:r>
              <a:rPr lang="en-AU" sz="2399" b="1" dirty="0">
                <a:latin typeface="Calibri" panose="020F0502020204030204" pitchFamily="34" charset="0"/>
                <a:cs typeface="Calibri" panose="020F0502020204030204" pitchFamily="34" charset="0"/>
              </a:rPr>
              <a:t>R</a:t>
            </a:r>
            <a:endParaRPr lang="en-GB" sz="2399" b="1" dirty="0">
              <a:latin typeface="Calibri" panose="020F0502020204030204" pitchFamily="34" charset="0"/>
              <a:cs typeface="Calibri" panose="020F0502020204030204" pitchFamily="34" charset="0"/>
            </a:endParaRPr>
          </a:p>
        </p:txBody>
      </p:sp>
      <p:sp>
        <p:nvSpPr>
          <p:cNvPr id="14" name="TextBox 13">
            <a:extLst>
              <a:ext uri="{FF2B5EF4-FFF2-40B4-BE49-F238E27FC236}">
                <a16:creationId xmlns:a16="http://schemas.microsoft.com/office/drawing/2014/main" id="{29070ED6-4BED-4D32-94DD-D50FBBDA7771}"/>
              </a:ext>
            </a:extLst>
          </p:cNvPr>
          <p:cNvSpPr txBox="1"/>
          <p:nvPr/>
        </p:nvSpPr>
        <p:spPr>
          <a:xfrm>
            <a:off x="74626" y="1340506"/>
            <a:ext cx="2166798" cy="1200329"/>
          </a:xfrm>
          <a:prstGeom prst="rect">
            <a:avLst/>
          </a:prstGeom>
          <a:noFill/>
        </p:spPr>
        <p:txBody>
          <a:bodyPr wrap="square" rtlCol="0">
            <a:spAutoFit/>
          </a:bodyPr>
          <a:lstStyle/>
          <a:p>
            <a:r>
              <a:rPr lang="en-AU" sz="2400" dirty="0">
                <a:latin typeface="Calibri" panose="020F0502020204030204" pitchFamily="34" charset="0"/>
                <a:cs typeface="Calibri" panose="020F0502020204030204" pitchFamily="34" charset="0"/>
              </a:rPr>
              <a:t>How is exercise and energy related?</a:t>
            </a:r>
          </a:p>
        </p:txBody>
      </p:sp>
      <p:sp>
        <p:nvSpPr>
          <p:cNvPr id="15" name="TextBox 14">
            <a:extLst>
              <a:ext uri="{FF2B5EF4-FFF2-40B4-BE49-F238E27FC236}">
                <a16:creationId xmlns:a16="http://schemas.microsoft.com/office/drawing/2014/main" id="{61B98AF6-C845-4C3F-804D-986DB17E48F9}"/>
              </a:ext>
            </a:extLst>
          </p:cNvPr>
          <p:cNvSpPr txBox="1"/>
          <p:nvPr/>
        </p:nvSpPr>
        <p:spPr>
          <a:xfrm>
            <a:off x="2241424" y="1340506"/>
            <a:ext cx="9044747" cy="2251065"/>
          </a:xfrm>
          <a:prstGeom prst="rect">
            <a:avLst/>
          </a:prstGeom>
          <a:noFill/>
        </p:spPr>
        <p:txBody>
          <a:bodyPr wrap="square" rtlCol="0">
            <a:spAutoFit/>
          </a:bodyPr>
          <a:lstStyle/>
          <a:p>
            <a:pPr>
              <a:lnSpc>
                <a:spcPct val="150000"/>
              </a:lnSpc>
            </a:pPr>
            <a:r>
              <a:rPr lang="en-AU" sz="2400" dirty="0">
                <a:latin typeface="Calibri" panose="020F0502020204030204" pitchFamily="34" charset="0"/>
                <a:cs typeface="Calibri" panose="020F0502020204030204" pitchFamily="34" charset="0"/>
              </a:rPr>
              <a:t>When we exercise, the rate of which energy is used will depend on the age, weight, and height of a person. If you are into fitness apps and wearable fitness devices you will know that they ask you to enter these details for tracking your progress.</a:t>
            </a:r>
          </a:p>
        </p:txBody>
      </p:sp>
    </p:spTree>
    <p:extLst>
      <p:ext uri="{BB962C8B-B14F-4D97-AF65-F5344CB8AC3E}">
        <p14:creationId xmlns:p14="http://schemas.microsoft.com/office/powerpoint/2010/main" val="149118156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xEl>
                                              <p:pRg st="0" end="0"/>
                                            </p:txEl>
                                          </p:spTgt>
                                        </p:tgtEl>
                                        <p:attrNameLst>
                                          <p:attrName>style.visibility</p:attrName>
                                        </p:attrNameLst>
                                      </p:cBhvr>
                                      <p:to>
                                        <p:strVal val="visible"/>
                                      </p:to>
                                    </p:set>
                                    <p:animEffect transition="in" filter="fade">
                                      <p:cBhvr>
                                        <p:cTn id="12" dur="5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4" name="Straight Connector 3"/>
          <p:cNvCxnSpPr>
            <a:cxnSpLocks/>
          </p:cNvCxnSpPr>
          <p:nvPr/>
        </p:nvCxnSpPr>
        <p:spPr>
          <a:xfrm>
            <a:off x="1589" y="791805"/>
            <a:ext cx="12188825"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pitchFamily="34" charset="0"/>
                <a:cs typeface="Calibri" panose="020F0502020204030204" pitchFamily="34" charset="0"/>
              </a:rPr>
              <a:t>24</a:t>
            </a:r>
          </a:p>
          <a:p>
            <a:pPr defTabSz="914126"/>
            <a:r>
              <a:rPr lang="en-AU" sz="1600" dirty="0">
                <a:solidFill>
                  <a:prstClr val="black"/>
                </a:solidFill>
                <a:latin typeface="Calibri" panose="020F0502020204030204" pitchFamily="34" charset="0"/>
                <a:cs typeface="Calibri" panose="020F0502020204030204" pitchFamily="34" charset="0"/>
              </a:rPr>
              <a:t>7</a:t>
            </a:r>
          </a:p>
          <a:p>
            <a:pPr defTabSz="914126"/>
            <a:r>
              <a:rPr lang="en-AU" sz="1600" dirty="0">
                <a:solidFill>
                  <a:prstClr val="black"/>
                </a:solidFill>
                <a:latin typeface="Calibri" panose="020F0502020204030204" pitchFamily="34" charset="0"/>
                <a:cs typeface="Calibri" panose="020F0502020204030204" pitchFamily="34" charset="0"/>
              </a:rPr>
              <a:t>30</a:t>
            </a:r>
          </a:p>
        </p:txBody>
      </p:sp>
      <p:cxnSp>
        <p:nvCxnSpPr>
          <p:cNvPr id="9" name="Straight Connector 8"/>
          <p:cNvCxnSpPr>
            <a:cxnSpLocks/>
          </p:cNvCxnSpPr>
          <p:nvPr/>
        </p:nvCxnSpPr>
        <p:spPr>
          <a:xfrm>
            <a:off x="2151983" y="1298661"/>
            <a:ext cx="0" cy="5559338"/>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592821" y="123165"/>
            <a:ext cx="2389950" cy="584775"/>
          </a:xfrm>
          <a:prstGeom prst="rect">
            <a:avLst/>
          </a:prstGeom>
          <a:noFill/>
        </p:spPr>
        <p:txBody>
          <a:bodyPr wrap="none" rtlCol="0">
            <a:spAutoFit/>
          </a:bodyPr>
          <a:lstStyle/>
          <a:p>
            <a:pPr defTabSz="914126"/>
            <a:r>
              <a:rPr lang="en-AU" sz="3200" dirty="0">
                <a:solidFill>
                  <a:prstClr val="black"/>
                </a:solidFill>
                <a:latin typeface="Calibri" panose="020F0502020204030204" pitchFamily="34" charset="0"/>
                <a:cs typeface="Calibri" panose="020F0502020204030204" pitchFamily="34" charset="0"/>
              </a:rPr>
              <a:t>Topic: Energy</a:t>
            </a:r>
          </a:p>
        </p:txBody>
      </p:sp>
      <p:sp>
        <p:nvSpPr>
          <p:cNvPr id="11" name="TextBox 10"/>
          <p:cNvSpPr txBox="1"/>
          <p:nvPr/>
        </p:nvSpPr>
        <p:spPr>
          <a:xfrm>
            <a:off x="9493720" y="211358"/>
            <a:ext cx="2414308" cy="461537"/>
          </a:xfrm>
          <a:prstGeom prst="rect">
            <a:avLst/>
          </a:prstGeom>
          <a:noFill/>
        </p:spPr>
        <p:txBody>
          <a:bodyPr wrap="square" rtlCol="0">
            <a:spAutoFit/>
          </a:bodyPr>
          <a:lstStyle/>
          <a:p>
            <a:pPr defTabSz="914126"/>
            <a:r>
              <a:rPr lang="en-AU" sz="2399" dirty="0">
                <a:solidFill>
                  <a:prstClr val="black"/>
                </a:solidFill>
                <a:latin typeface="Calibri" panose="020F0502020204030204" pitchFamily="34" charset="0"/>
                <a:cs typeface="Calibri" panose="020F0502020204030204" pitchFamily="34" charset="0"/>
              </a:rPr>
              <a:t>Date: XX/XX/2021</a:t>
            </a:r>
          </a:p>
        </p:txBody>
      </p:sp>
      <p:sp>
        <p:nvSpPr>
          <p:cNvPr id="33" name="TextBox 32"/>
          <p:cNvSpPr txBox="1"/>
          <p:nvPr/>
        </p:nvSpPr>
        <p:spPr>
          <a:xfrm>
            <a:off x="191345" y="837124"/>
            <a:ext cx="6672593" cy="461537"/>
          </a:xfrm>
          <a:prstGeom prst="rect">
            <a:avLst/>
          </a:prstGeom>
          <a:noFill/>
        </p:spPr>
        <p:txBody>
          <a:bodyPr wrap="square" rtlCol="0">
            <a:spAutoFit/>
          </a:bodyPr>
          <a:lstStyle/>
          <a:p>
            <a:pPr defTabSz="914126"/>
            <a:r>
              <a:rPr lang="en-AU" sz="2399" dirty="0">
                <a:solidFill>
                  <a:prstClr val="black"/>
                </a:solidFill>
                <a:latin typeface="Calibri" panose="020F0502020204030204" pitchFamily="34" charset="0"/>
                <a:cs typeface="Calibri" panose="020F0502020204030204" pitchFamily="34" charset="0"/>
              </a:rPr>
              <a:t>EQ – How is energy in food and exercise measured?</a:t>
            </a:r>
          </a:p>
        </p:txBody>
      </p:sp>
      <p:cxnSp>
        <p:nvCxnSpPr>
          <p:cNvPr id="20" name="Straight Connector 19">
            <a:extLst>
              <a:ext uri="{FF2B5EF4-FFF2-40B4-BE49-F238E27FC236}">
                <a16:creationId xmlns:a16="http://schemas.microsoft.com/office/drawing/2014/main" id="{7B753F7B-0DF6-4B46-B9CC-2218E2961FD5}"/>
              </a:ext>
            </a:extLst>
          </p:cNvPr>
          <p:cNvCxnSpPr>
            <a:cxnSpLocks/>
          </p:cNvCxnSpPr>
          <p:nvPr/>
        </p:nvCxnSpPr>
        <p:spPr>
          <a:xfrm>
            <a:off x="1589" y="1298662"/>
            <a:ext cx="12188825"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96A9E84E-8513-465B-8CA9-D1DD4FAC2317}"/>
              </a:ext>
            </a:extLst>
          </p:cNvPr>
          <p:cNvSpPr txBox="1"/>
          <p:nvPr/>
        </p:nvSpPr>
        <p:spPr>
          <a:xfrm>
            <a:off x="124245" y="5756432"/>
            <a:ext cx="2027738" cy="461545"/>
          </a:xfrm>
          <a:prstGeom prst="rect">
            <a:avLst/>
          </a:prstGeom>
          <a:noFill/>
        </p:spPr>
        <p:txBody>
          <a:bodyPr wrap="square" rtlCol="0">
            <a:spAutoFit/>
          </a:bodyPr>
          <a:lstStyle/>
          <a:p>
            <a:pPr algn="ctr"/>
            <a:r>
              <a:rPr lang="en-AU" sz="2399" b="1" dirty="0">
                <a:solidFill>
                  <a:schemeClr val="accent1"/>
                </a:solidFill>
                <a:latin typeface="Calibri" panose="020F0502020204030204" pitchFamily="34" charset="0"/>
                <a:cs typeface="Calibri" panose="020F0502020204030204" pitchFamily="34" charset="0"/>
              </a:rPr>
              <a:t>W</a:t>
            </a:r>
            <a:r>
              <a:rPr lang="en-AU" sz="2399" b="1" dirty="0">
                <a:latin typeface="Calibri" panose="020F0502020204030204" pitchFamily="34" charset="0"/>
                <a:cs typeface="Calibri" panose="020F0502020204030204" pitchFamily="34" charset="0"/>
              </a:rPr>
              <a:t>IC</a:t>
            </a:r>
            <a:r>
              <a:rPr lang="en-AU" sz="2399" b="1" dirty="0">
                <a:solidFill>
                  <a:srgbClr val="FF0000"/>
                </a:solidFill>
                <a:latin typeface="Calibri" panose="020F0502020204030204" pitchFamily="34" charset="0"/>
                <a:cs typeface="Calibri" panose="020F0502020204030204" pitchFamily="34" charset="0"/>
              </a:rPr>
              <a:t>O</a:t>
            </a:r>
            <a:r>
              <a:rPr lang="en-AU" sz="2399" b="1" dirty="0">
                <a:latin typeface="Calibri" panose="020F0502020204030204" pitchFamily="34" charset="0"/>
                <a:cs typeface="Calibri" panose="020F0502020204030204" pitchFamily="34" charset="0"/>
              </a:rPr>
              <a:t>R</a:t>
            </a:r>
            <a:endParaRPr lang="en-GB" sz="2399" b="1" dirty="0">
              <a:latin typeface="Calibri" panose="020F0502020204030204" pitchFamily="34" charset="0"/>
              <a:cs typeface="Calibri" panose="020F0502020204030204" pitchFamily="34" charset="0"/>
            </a:endParaRPr>
          </a:p>
        </p:txBody>
      </p:sp>
      <p:sp>
        <p:nvSpPr>
          <p:cNvPr id="14" name="TextBox 13">
            <a:extLst>
              <a:ext uri="{FF2B5EF4-FFF2-40B4-BE49-F238E27FC236}">
                <a16:creationId xmlns:a16="http://schemas.microsoft.com/office/drawing/2014/main" id="{29070ED6-4BED-4D32-94DD-D50FBBDA7771}"/>
              </a:ext>
            </a:extLst>
          </p:cNvPr>
          <p:cNvSpPr txBox="1"/>
          <p:nvPr/>
        </p:nvSpPr>
        <p:spPr>
          <a:xfrm>
            <a:off x="74626" y="1340506"/>
            <a:ext cx="2166798" cy="1200329"/>
          </a:xfrm>
          <a:prstGeom prst="rect">
            <a:avLst/>
          </a:prstGeom>
          <a:noFill/>
        </p:spPr>
        <p:txBody>
          <a:bodyPr wrap="square" rtlCol="0">
            <a:spAutoFit/>
          </a:bodyPr>
          <a:lstStyle/>
          <a:p>
            <a:r>
              <a:rPr lang="en-AU" sz="2400" dirty="0">
                <a:latin typeface="Calibri" panose="020F0502020204030204" pitchFamily="34" charset="0"/>
                <a:cs typeface="Calibri" panose="020F0502020204030204" pitchFamily="34" charset="0"/>
              </a:rPr>
              <a:t>How is exercise and energy related?</a:t>
            </a:r>
          </a:p>
        </p:txBody>
      </p:sp>
      <p:sp>
        <p:nvSpPr>
          <p:cNvPr id="15" name="TextBox 14">
            <a:extLst>
              <a:ext uri="{FF2B5EF4-FFF2-40B4-BE49-F238E27FC236}">
                <a16:creationId xmlns:a16="http://schemas.microsoft.com/office/drawing/2014/main" id="{61B98AF6-C845-4C3F-804D-986DB17E48F9}"/>
              </a:ext>
            </a:extLst>
          </p:cNvPr>
          <p:cNvSpPr txBox="1"/>
          <p:nvPr/>
        </p:nvSpPr>
        <p:spPr>
          <a:xfrm>
            <a:off x="2241424" y="1340506"/>
            <a:ext cx="9044747" cy="3359061"/>
          </a:xfrm>
          <a:prstGeom prst="rect">
            <a:avLst/>
          </a:prstGeom>
          <a:noFill/>
        </p:spPr>
        <p:txBody>
          <a:bodyPr wrap="square" rtlCol="0">
            <a:spAutoFit/>
          </a:bodyPr>
          <a:lstStyle/>
          <a:p>
            <a:pPr>
              <a:lnSpc>
                <a:spcPct val="150000"/>
              </a:lnSpc>
            </a:pPr>
            <a:r>
              <a:rPr lang="en-AU" sz="2400" dirty="0">
                <a:latin typeface="Calibri" panose="020F0502020204030204" pitchFamily="34" charset="0"/>
                <a:cs typeface="Calibri" panose="020F0502020204030204" pitchFamily="34" charset="0"/>
              </a:rPr>
              <a:t>Examples of the amount of energy burned in 5 minutes of different exercises for an 18 year old weighing 60kg and with a height of 165cm</a:t>
            </a:r>
          </a:p>
          <a:p>
            <a:pPr marL="342900" indent="-342900">
              <a:lnSpc>
                <a:spcPct val="150000"/>
              </a:lnSpc>
              <a:buFont typeface="Arial" panose="020B0604020202020204" pitchFamily="34" charset="0"/>
              <a:buChar char="•"/>
            </a:pPr>
            <a:r>
              <a:rPr lang="en-AU" sz="2400" dirty="0">
                <a:latin typeface="Calibri" panose="020F0502020204030204" pitchFamily="34" charset="0"/>
                <a:cs typeface="Calibri" panose="020F0502020204030204" pitchFamily="34" charset="0"/>
              </a:rPr>
              <a:t>Brisk walk: 80kJ for females, 70kJ for males</a:t>
            </a:r>
          </a:p>
          <a:p>
            <a:pPr marL="342900" indent="-342900">
              <a:lnSpc>
                <a:spcPct val="150000"/>
              </a:lnSpc>
              <a:buFont typeface="Arial" panose="020B0604020202020204" pitchFamily="34" charset="0"/>
              <a:buChar char="•"/>
            </a:pPr>
            <a:r>
              <a:rPr lang="en-AU" sz="2400" dirty="0">
                <a:latin typeface="Calibri" panose="020F0502020204030204" pitchFamily="34" charset="0"/>
                <a:cs typeface="Calibri" panose="020F0502020204030204" pitchFamily="34" charset="0"/>
              </a:rPr>
              <a:t>Gentle bike ride: 130 kJ for females, 110kJ males</a:t>
            </a:r>
          </a:p>
          <a:p>
            <a:pPr marL="342900" indent="-342900">
              <a:lnSpc>
                <a:spcPct val="150000"/>
              </a:lnSpc>
              <a:buFont typeface="Arial" panose="020B0604020202020204" pitchFamily="34" charset="0"/>
              <a:buChar char="•"/>
            </a:pPr>
            <a:r>
              <a:rPr lang="en-AU" sz="2400" dirty="0">
                <a:latin typeface="Calibri" panose="020F0502020204030204" pitchFamily="34" charset="0"/>
                <a:cs typeface="Calibri" panose="020F0502020204030204" pitchFamily="34" charset="0"/>
              </a:rPr>
              <a:t>Jogging: 170kJ for females, 150kJ for males</a:t>
            </a:r>
          </a:p>
          <a:p>
            <a:pPr marL="342900" indent="-342900">
              <a:lnSpc>
                <a:spcPct val="150000"/>
              </a:lnSpc>
              <a:buFont typeface="Arial" panose="020B0604020202020204" pitchFamily="34" charset="0"/>
              <a:buChar char="•"/>
            </a:pPr>
            <a:r>
              <a:rPr lang="en-AU" sz="2400" dirty="0">
                <a:latin typeface="Calibri" panose="020F0502020204030204" pitchFamily="34" charset="0"/>
                <a:cs typeface="Calibri" panose="020F0502020204030204" pitchFamily="34" charset="0"/>
              </a:rPr>
              <a:t>Soccer: 150kJ for females, 130 kJ for males</a:t>
            </a:r>
          </a:p>
        </p:txBody>
      </p:sp>
    </p:spTree>
    <p:extLst>
      <p:ext uri="{BB962C8B-B14F-4D97-AF65-F5344CB8AC3E}">
        <p14:creationId xmlns:p14="http://schemas.microsoft.com/office/powerpoint/2010/main" val="262059171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xEl>
                                              <p:pRg st="0" end="0"/>
                                            </p:txEl>
                                          </p:spTgt>
                                        </p:tgtEl>
                                        <p:attrNameLst>
                                          <p:attrName>style.visibility</p:attrName>
                                        </p:attrNameLst>
                                      </p:cBhvr>
                                      <p:to>
                                        <p:strVal val="visible"/>
                                      </p:to>
                                    </p:set>
                                    <p:animEffect transition="in" filter="fade">
                                      <p:cBhvr>
                                        <p:cTn id="12" dur="500"/>
                                        <p:tgtEl>
                                          <p:spTgt spid="1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xEl>
                                              <p:pRg st="1" end="1"/>
                                            </p:txEl>
                                          </p:spTgt>
                                        </p:tgtEl>
                                        <p:attrNameLst>
                                          <p:attrName>style.visibility</p:attrName>
                                        </p:attrNameLst>
                                      </p:cBhvr>
                                      <p:to>
                                        <p:strVal val="visible"/>
                                      </p:to>
                                    </p:set>
                                    <p:animEffect transition="in" filter="fade">
                                      <p:cBhvr>
                                        <p:cTn id="17" dur="500"/>
                                        <p:tgtEl>
                                          <p:spTgt spid="1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5">
                                            <p:txEl>
                                              <p:pRg st="2" end="2"/>
                                            </p:txEl>
                                          </p:spTgt>
                                        </p:tgtEl>
                                        <p:attrNameLst>
                                          <p:attrName>style.visibility</p:attrName>
                                        </p:attrNameLst>
                                      </p:cBhvr>
                                      <p:to>
                                        <p:strVal val="visible"/>
                                      </p:to>
                                    </p:set>
                                    <p:animEffect transition="in" filter="fade">
                                      <p:cBhvr>
                                        <p:cTn id="22" dur="500"/>
                                        <p:tgtEl>
                                          <p:spTgt spid="1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5">
                                            <p:txEl>
                                              <p:pRg st="3" end="3"/>
                                            </p:txEl>
                                          </p:spTgt>
                                        </p:tgtEl>
                                        <p:attrNameLst>
                                          <p:attrName>style.visibility</p:attrName>
                                        </p:attrNameLst>
                                      </p:cBhvr>
                                      <p:to>
                                        <p:strVal val="visible"/>
                                      </p:to>
                                    </p:set>
                                    <p:animEffect transition="in" filter="fade">
                                      <p:cBhvr>
                                        <p:cTn id="27" dur="500"/>
                                        <p:tgtEl>
                                          <p:spTgt spid="15">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5">
                                            <p:txEl>
                                              <p:pRg st="4" end="4"/>
                                            </p:txEl>
                                          </p:spTgt>
                                        </p:tgtEl>
                                        <p:attrNameLst>
                                          <p:attrName>style.visibility</p:attrName>
                                        </p:attrNameLst>
                                      </p:cBhvr>
                                      <p:to>
                                        <p:strVal val="visible"/>
                                      </p:to>
                                    </p:set>
                                    <p:animEffect transition="in" filter="fade">
                                      <p:cBhvr>
                                        <p:cTn id="32" dur="500"/>
                                        <p:tgtEl>
                                          <p:spTgt spid="1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9DC29-0346-4538-B0F5-ACBB6EA0FF3E}"/>
              </a:ext>
            </a:extLst>
          </p:cNvPr>
          <p:cNvSpPr>
            <a:spLocks noGrp="1"/>
          </p:cNvSpPr>
          <p:nvPr>
            <p:ph type="title"/>
          </p:nvPr>
        </p:nvSpPr>
        <p:spPr/>
        <p:txBody>
          <a:bodyPr/>
          <a:lstStyle/>
          <a:p>
            <a:r>
              <a:rPr lang="en-AU" dirty="0"/>
              <a:t>Questions (LHS)</a:t>
            </a:r>
          </a:p>
        </p:txBody>
      </p:sp>
      <p:sp>
        <p:nvSpPr>
          <p:cNvPr id="3" name="Content Placeholder 2">
            <a:extLst>
              <a:ext uri="{FF2B5EF4-FFF2-40B4-BE49-F238E27FC236}">
                <a16:creationId xmlns:a16="http://schemas.microsoft.com/office/drawing/2014/main" id="{E73272A4-622B-43AC-B38E-6072E353A9B4}"/>
              </a:ext>
            </a:extLst>
          </p:cNvPr>
          <p:cNvSpPr>
            <a:spLocks noGrp="1"/>
          </p:cNvSpPr>
          <p:nvPr>
            <p:ph idx="1"/>
          </p:nvPr>
        </p:nvSpPr>
        <p:spPr/>
        <p:txBody>
          <a:bodyPr>
            <a:normAutofit/>
          </a:bodyPr>
          <a:lstStyle/>
          <a:p>
            <a:pPr marL="457200" indent="-457200">
              <a:buFont typeface="+mj-lt"/>
              <a:buAutoNum type="arabicPeriod"/>
            </a:pPr>
            <a:r>
              <a:rPr lang="en-AU" sz="2400" dirty="0">
                <a:latin typeface="Calibri" panose="020F0502020204030204" pitchFamily="34" charset="0"/>
                <a:cs typeface="Calibri" panose="020F0502020204030204" pitchFamily="34" charset="0"/>
              </a:rPr>
              <a:t>Order the activities from the most energy used to the least energy used</a:t>
            </a:r>
          </a:p>
          <a:p>
            <a:pPr marL="457200" indent="-457200">
              <a:buFont typeface="+mj-lt"/>
              <a:buAutoNum type="arabicPeriod"/>
            </a:pPr>
            <a:r>
              <a:rPr lang="en-AU" sz="2400" dirty="0">
                <a:latin typeface="Calibri" panose="020F0502020204030204" pitchFamily="34" charset="0"/>
                <a:cs typeface="Calibri" panose="020F0502020204030204" pitchFamily="34" charset="0"/>
              </a:rPr>
              <a:t>How much energy would be used in 30 minutes of each activity for females?</a:t>
            </a:r>
          </a:p>
          <a:p>
            <a:pPr marL="457200" indent="-457200">
              <a:buFont typeface="+mj-lt"/>
              <a:buAutoNum type="arabicPeriod"/>
            </a:pPr>
            <a:r>
              <a:rPr lang="en-AU" sz="2400" dirty="0">
                <a:latin typeface="Calibri" panose="020F0502020204030204" pitchFamily="34" charset="0"/>
                <a:cs typeface="Calibri" panose="020F0502020204030204" pitchFamily="34" charset="0"/>
              </a:rPr>
              <a:t>How much energy would be used in 30 minutes of each activity for males?</a:t>
            </a:r>
          </a:p>
          <a:p>
            <a:pPr marL="457200" indent="-457200">
              <a:buFont typeface="+mj-lt"/>
              <a:buAutoNum type="arabicPeriod"/>
            </a:pPr>
            <a:r>
              <a:rPr lang="en-AU" sz="2400" dirty="0">
                <a:latin typeface="Calibri" panose="020F0502020204030204" pitchFamily="34" charset="0"/>
                <a:cs typeface="Calibri" panose="020F0502020204030204" pitchFamily="34" charset="0"/>
              </a:rPr>
              <a:t>What would the energy be in calories instead of kilojoules?</a:t>
            </a:r>
          </a:p>
          <a:p>
            <a:pPr marL="457200" indent="-457200">
              <a:buFont typeface="+mj-lt"/>
              <a:buAutoNum type="arabicPeriod"/>
            </a:pPr>
            <a:endParaRPr lang="en-AU"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28476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E2481-6499-4C1C-8540-861F3FCFBDCC}"/>
              </a:ext>
            </a:extLst>
          </p:cNvPr>
          <p:cNvSpPr>
            <a:spLocks noGrp="1"/>
          </p:cNvSpPr>
          <p:nvPr>
            <p:ph type="title"/>
          </p:nvPr>
        </p:nvSpPr>
        <p:spPr/>
        <p:txBody>
          <a:bodyPr/>
          <a:lstStyle/>
          <a:p>
            <a:r>
              <a:rPr lang="en-AU" dirty="0"/>
              <a:t>Task, (p. 81 of text)</a:t>
            </a:r>
          </a:p>
        </p:txBody>
      </p:sp>
      <p:sp>
        <p:nvSpPr>
          <p:cNvPr id="3" name="Content Placeholder 2">
            <a:extLst>
              <a:ext uri="{FF2B5EF4-FFF2-40B4-BE49-F238E27FC236}">
                <a16:creationId xmlns:a16="http://schemas.microsoft.com/office/drawing/2014/main" id="{EB5AC24A-4E9E-4E6B-B086-C453F23B81A3}"/>
              </a:ext>
            </a:extLst>
          </p:cNvPr>
          <p:cNvSpPr>
            <a:spLocks noGrp="1"/>
          </p:cNvSpPr>
          <p:nvPr>
            <p:ph idx="1"/>
          </p:nvPr>
        </p:nvSpPr>
        <p:spPr>
          <a:xfrm>
            <a:off x="1024128" y="1653996"/>
            <a:ext cx="9972423" cy="1098467"/>
          </a:xfrm>
        </p:spPr>
        <p:txBody>
          <a:bodyPr>
            <a:normAutofit fontScale="92500"/>
          </a:bodyPr>
          <a:lstStyle/>
          <a:p>
            <a:r>
              <a:rPr lang="en-AU" dirty="0">
                <a:latin typeface="Calibri" panose="020F0502020204030204" pitchFamily="34" charset="0"/>
                <a:cs typeface="Calibri" panose="020F0502020204030204" pitchFamily="34" charset="0"/>
              </a:rPr>
              <a:t>Find out how much energy is used in each of the following exercise options. Complete the table using an 18 year old student from the list above as an example. Add your thoughts about how achievable this is in a day and whether you like the form of exercise.</a:t>
            </a:r>
          </a:p>
        </p:txBody>
      </p:sp>
      <p:graphicFrame>
        <p:nvGraphicFramePr>
          <p:cNvPr id="4" name="Table 4">
            <a:extLst>
              <a:ext uri="{FF2B5EF4-FFF2-40B4-BE49-F238E27FC236}">
                <a16:creationId xmlns:a16="http://schemas.microsoft.com/office/drawing/2014/main" id="{B28824F6-D8CD-45B7-AD33-3C6DFC7E47D2}"/>
              </a:ext>
            </a:extLst>
          </p:cNvPr>
          <p:cNvGraphicFramePr>
            <a:graphicFrameLocks noGrp="1"/>
          </p:cNvGraphicFramePr>
          <p:nvPr>
            <p:extLst>
              <p:ext uri="{D42A27DB-BD31-4B8C-83A1-F6EECF244321}">
                <p14:modId xmlns:p14="http://schemas.microsoft.com/office/powerpoint/2010/main" val="2665015856"/>
              </p:ext>
            </p:extLst>
          </p:nvPr>
        </p:nvGraphicFramePr>
        <p:xfrm>
          <a:off x="831274" y="2621834"/>
          <a:ext cx="10747167" cy="3779520"/>
        </p:xfrm>
        <a:graphic>
          <a:graphicData uri="http://schemas.openxmlformats.org/drawingml/2006/table">
            <a:tbl>
              <a:tblPr firstRow="1" bandRow="1">
                <a:tableStyleId>{5C22544A-7EE6-4342-B048-85BDC9FD1C3A}</a:tableStyleId>
              </a:tblPr>
              <a:tblGrid>
                <a:gridCol w="2001066">
                  <a:extLst>
                    <a:ext uri="{9D8B030D-6E8A-4147-A177-3AD203B41FA5}">
                      <a16:colId xmlns:a16="http://schemas.microsoft.com/office/drawing/2014/main" val="1538661424"/>
                    </a:ext>
                  </a:extLst>
                </a:gridCol>
                <a:gridCol w="1395110">
                  <a:extLst>
                    <a:ext uri="{9D8B030D-6E8A-4147-A177-3AD203B41FA5}">
                      <a16:colId xmlns:a16="http://schemas.microsoft.com/office/drawing/2014/main" val="293826605"/>
                    </a:ext>
                  </a:extLst>
                </a:gridCol>
                <a:gridCol w="2015159">
                  <a:extLst>
                    <a:ext uri="{9D8B030D-6E8A-4147-A177-3AD203B41FA5}">
                      <a16:colId xmlns:a16="http://schemas.microsoft.com/office/drawing/2014/main" val="926642463"/>
                    </a:ext>
                  </a:extLst>
                </a:gridCol>
                <a:gridCol w="5335832">
                  <a:extLst>
                    <a:ext uri="{9D8B030D-6E8A-4147-A177-3AD203B41FA5}">
                      <a16:colId xmlns:a16="http://schemas.microsoft.com/office/drawing/2014/main" val="380465082"/>
                    </a:ext>
                  </a:extLst>
                </a:gridCol>
              </a:tblGrid>
              <a:tr h="370840">
                <a:tc>
                  <a:txBody>
                    <a:bodyPr/>
                    <a:lstStyle/>
                    <a:p>
                      <a:r>
                        <a:rPr lang="en-AU" sz="2000" dirty="0">
                          <a:latin typeface="Calibri" panose="020F0502020204030204" pitchFamily="34" charset="0"/>
                          <a:cs typeface="Calibri" panose="020F0502020204030204" pitchFamily="34" charset="0"/>
                        </a:rPr>
                        <a:t>Exercise</a:t>
                      </a:r>
                    </a:p>
                  </a:txBody>
                  <a:tcPr/>
                </a:tc>
                <a:tc>
                  <a:txBody>
                    <a:bodyPr/>
                    <a:lstStyle/>
                    <a:p>
                      <a:r>
                        <a:rPr lang="en-AU" sz="2000" dirty="0">
                          <a:latin typeface="Calibri" panose="020F0502020204030204" pitchFamily="34" charset="0"/>
                          <a:cs typeface="Calibri" panose="020F0502020204030204" pitchFamily="34" charset="0"/>
                        </a:rPr>
                        <a:t>kJ in 30 minutes</a:t>
                      </a:r>
                    </a:p>
                  </a:txBody>
                  <a:tcPr/>
                </a:tc>
                <a:tc>
                  <a:txBody>
                    <a:bodyPr/>
                    <a:lstStyle/>
                    <a:p>
                      <a:r>
                        <a:rPr lang="en-AU" sz="2000" dirty="0">
                          <a:latin typeface="Calibri" panose="020F0502020204030204" pitchFamily="34" charset="0"/>
                          <a:cs typeface="Calibri" panose="020F0502020204030204" pitchFamily="34" charset="0"/>
                        </a:rPr>
                        <a:t>Convert to calories</a:t>
                      </a:r>
                    </a:p>
                  </a:txBody>
                  <a:tcPr/>
                </a:tc>
                <a:tc>
                  <a:txBody>
                    <a:bodyPr/>
                    <a:lstStyle/>
                    <a:p>
                      <a:r>
                        <a:rPr lang="en-AU" sz="2000" dirty="0">
                          <a:latin typeface="Calibri" panose="020F0502020204030204" pitchFamily="34" charset="0"/>
                          <a:cs typeface="Calibri" panose="020F0502020204030204" pitchFamily="34" charset="0"/>
                        </a:rPr>
                        <a:t>What I think about the option</a:t>
                      </a:r>
                    </a:p>
                  </a:txBody>
                  <a:tcPr/>
                </a:tc>
                <a:extLst>
                  <a:ext uri="{0D108BD9-81ED-4DB2-BD59-A6C34878D82A}">
                    <a16:rowId xmlns:a16="http://schemas.microsoft.com/office/drawing/2014/main" val="250553379"/>
                  </a:ext>
                </a:extLst>
              </a:tr>
              <a:tr h="370840">
                <a:tc>
                  <a:txBody>
                    <a:bodyPr/>
                    <a:lstStyle/>
                    <a:p>
                      <a:pPr algn="ctr"/>
                      <a:r>
                        <a:rPr lang="en-AU" sz="2000" dirty="0">
                          <a:latin typeface="Calibri" panose="020F0502020204030204" pitchFamily="34" charset="0"/>
                          <a:cs typeface="Calibri" panose="020F0502020204030204" pitchFamily="34" charset="0"/>
                        </a:rPr>
                        <a:t>Brisk walking</a:t>
                      </a:r>
                    </a:p>
                  </a:txBody>
                  <a:tcPr/>
                </a:tc>
                <a:tc>
                  <a:txBody>
                    <a:bodyPr/>
                    <a:lstStyle/>
                    <a:p>
                      <a:pPr algn="ctr"/>
                      <a:endParaRPr lang="en-AU" sz="2000" dirty="0">
                        <a:latin typeface="Calibri" panose="020F0502020204030204" pitchFamily="34" charset="0"/>
                        <a:cs typeface="Calibri" panose="020F0502020204030204" pitchFamily="34" charset="0"/>
                      </a:endParaRPr>
                    </a:p>
                  </a:txBody>
                  <a:tcPr anchor="ctr"/>
                </a:tc>
                <a:tc>
                  <a:txBody>
                    <a:bodyPr/>
                    <a:lstStyle/>
                    <a:p>
                      <a:pPr algn="ctr"/>
                      <a:endParaRPr lang="en-AU" sz="2000" dirty="0">
                        <a:latin typeface="Calibri" panose="020F0502020204030204" pitchFamily="34" charset="0"/>
                        <a:cs typeface="Calibri" panose="020F0502020204030204" pitchFamily="34" charset="0"/>
                      </a:endParaRPr>
                    </a:p>
                  </a:txBody>
                  <a:tcPr anchor="ctr"/>
                </a:tc>
                <a:tc>
                  <a:txBody>
                    <a:bodyPr/>
                    <a:lstStyle/>
                    <a:p>
                      <a:endParaRPr lang="en-AU" sz="20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780219322"/>
                  </a:ext>
                </a:extLst>
              </a:tr>
              <a:tr h="370840">
                <a:tc>
                  <a:txBody>
                    <a:bodyPr/>
                    <a:lstStyle/>
                    <a:p>
                      <a:pPr algn="ctr"/>
                      <a:r>
                        <a:rPr lang="en-AU" sz="2000" dirty="0">
                          <a:latin typeface="Calibri" panose="020F0502020204030204" pitchFamily="34" charset="0"/>
                          <a:cs typeface="Calibri" panose="020F0502020204030204" pitchFamily="34" charset="0"/>
                        </a:rPr>
                        <a:t>Gentle bike ride</a:t>
                      </a:r>
                    </a:p>
                  </a:txBody>
                  <a:tcPr/>
                </a:tc>
                <a:tc>
                  <a:txBody>
                    <a:bodyPr/>
                    <a:lstStyle/>
                    <a:p>
                      <a:pPr algn="ctr"/>
                      <a:endParaRPr lang="en-AU" sz="2000" dirty="0">
                        <a:latin typeface="Calibri" panose="020F0502020204030204" pitchFamily="34" charset="0"/>
                        <a:cs typeface="Calibri" panose="020F0502020204030204" pitchFamily="34" charset="0"/>
                      </a:endParaRPr>
                    </a:p>
                  </a:txBody>
                  <a:tcPr anchor="ctr"/>
                </a:tc>
                <a:tc>
                  <a:txBody>
                    <a:bodyPr/>
                    <a:lstStyle/>
                    <a:p>
                      <a:pPr algn="ctr"/>
                      <a:endParaRPr lang="en-AU" sz="2000" dirty="0">
                        <a:latin typeface="Calibri" panose="020F0502020204030204" pitchFamily="34" charset="0"/>
                        <a:cs typeface="Calibri" panose="020F0502020204030204" pitchFamily="34" charset="0"/>
                      </a:endParaRPr>
                    </a:p>
                  </a:txBody>
                  <a:tcPr anchor="ctr"/>
                </a:tc>
                <a:tc>
                  <a:txBody>
                    <a:bodyPr/>
                    <a:lstStyle/>
                    <a:p>
                      <a:endParaRPr lang="en-AU" sz="200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365316144"/>
                  </a:ext>
                </a:extLst>
              </a:tr>
              <a:tr h="370840">
                <a:tc>
                  <a:txBody>
                    <a:bodyPr/>
                    <a:lstStyle/>
                    <a:p>
                      <a:pPr algn="ctr"/>
                      <a:r>
                        <a:rPr lang="en-AU" sz="2000" dirty="0">
                          <a:latin typeface="Calibri" panose="020F0502020204030204" pitchFamily="34" charset="0"/>
                          <a:cs typeface="Calibri" panose="020F0502020204030204" pitchFamily="34" charset="0"/>
                        </a:rPr>
                        <a:t>Jogging</a:t>
                      </a:r>
                    </a:p>
                  </a:txBody>
                  <a:tcPr/>
                </a:tc>
                <a:tc>
                  <a:txBody>
                    <a:bodyPr/>
                    <a:lstStyle/>
                    <a:p>
                      <a:pPr algn="ctr"/>
                      <a:endParaRPr lang="en-AU" sz="2000" dirty="0">
                        <a:latin typeface="Calibri" panose="020F0502020204030204" pitchFamily="34" charset="0"/>
                        <a:cs typeface="Calibri" panose="020F0502020204030204" pitchFamily="34" charset="0"/>
                      </a:endParaRPr>
                    </a:p>
                  </a:txBody>
                  <a:tcPr anchor="ctr"/>
                </a:tc>
                <a:tc>
                  <a:txBody>
                    <a:bodyPr/>
                    <a:lstStyle/>
                    <a:p>
                      <a:pPr algn="ctr"/>
                      <a:endParaRPr lang="en-AU" sz="2000" dirty="0">
                        <a:latin typeface="Calibri" panose="020F0502020204030204" pitchFamily="34" charset="0"/>
                        <a:cs typeface="Calibri" panose="020F0502020204030204" pitchFamily="34" charset="0"/>
                      </a:endParaRPr>
                    </a:p>
                  </a:txBody>
                  <a:tcPr anchor="ctr"/>
                </a:tc>
                <a:tc>
                  <a:txBody>
                    <a:bodyPr/>
                    <a:lstStyle/>
                    <a:p>
                      <a:endParaRPr lang="en-AU" sz="200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96630431"/>
                  </a:ext>
                </a:extLst>
              </a:tr>
              <a:tr h="370840">
                <a:tc>
                  <a:txBody>
                    <a:bodyPr/>
                    <a:lstStyle/>
                    <a:p>
                      <a:pPr algn="ctr"/>
                      <a:r>
                        <a:rPr lang="en-AU" sz="2000" dirty="0">
                          <a:latin typeface="Calibri" panose="020F0502020204030204" pitchFamily="34" charset="0"/>
                          <a:cs typeface="Calibri" panose="020F0502020204030204" pitchFamily="34" charset="0"/>
                        </a:rPr>
                        <a:t>Pilates</a:t>
                      </a:r>
                    </a:p>
                  </a:txBody>
                  <a:tcPr/>
                </a:tc>
                <a:tc>
                  <a:txBody>
                    <a:bodyPr/>
                    <a:lstStyle/>
                    <a:p>
                      <a:pPr algn="ctr"/>
                      <a:endParaRPr lang="en-AU" sz="2000" dirty="0">
                        <a:latin typeface="Calibri" panose="020F0502020204030204" pitchFamily="34" charset="0"/>
                        <a:cs typeface="Calibri" panose="020F0502020204030204" pitchFamily="34" charset="0"/>
                      </a:endParaRPr>
                    </a:p>
                  </a:txBody>
                  <a:tcPr anchor="ctr"/>
                </a:tc>
                <a:tc>
                  <a:txBody>
                    <a:bodyPr/>
                    <a:lstStyle/>
                    <a:p>
                      <a:pPr algn="ctr"/>
                      <a:endParaRPr lang="en-AU" sz="2000" dirty="0">
                        <a:latin typeface="Calibri" panose="020F0502020204030204" pitchFamily="34" charset="0"/>
                        <a:cs typeface="Calibri" panose="020F0502020204030204" pitchFamily="34" charset="0"/>
                      </a:endParaRPr>
                    </a:p>
                  </a:txBody>
                  <a:tcPr anchor="ctr"/>
                </a:tc>
                <a:tc>
                  <a:txBody>
                    <a:bodyPr/>
                    <a:lstStyle/>
                    <a:p>
                      <a:endParaRPr lang="en-AU" sz="20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695602615"/>
                  </a:ext>
                </a:extLst>
              </a:tr>
              <a:tr h="370840">
                <a:tc>
                  <a:txBody>
                    <a:bodyPr/>
                    <a:lstStyle/>
                    <a:p>
                      <a:pPr algn="ctr"/>
                      <a:r>
                        <a:rPr lang="en-AU" sz="2000" dirty="0">
                          <a:latin typeface="Calibri" panose="020F0502020204030204" pitchFamily="34" charset="0"/>
                          <a:cs typeface="Calibri" panose="020F0502020204030204" pitchFamily="34" charset="0"/>
                        </a:rPr>
                        <a:t>Dancing</a:t>
                      </a:r>
                    </a:p>
                  </a:txBody>
                  <a:tcPr/>
                </a:tc>
                <a:tc>
                  <a:txBody>
                    <a:bodyPr/>
                    <a:lstStyle/>
                    <a:p>
                      <a:pPr algn="ctr"/>
                      <a:endParaRPr lang="en-AU" sz="2000" dirty="0">
                        <a:latin typeface="Calibri" panose="020F0502020204030204" pitchFamily="34" charset="0"/>
                        <a:cs typeface="Calibri" panose="020F0502020204030204" pitchFamily="34" charset="0"/>
                      </a:endParaRPr>
                    </a:p>
                  </a:txBody>
                  <a:tcPr anchor="ctr"/>
                </a:tc>
                <a:tc>
                  <a:txBody>
                    <a:bodyPr/>
                    <a:lstStyle/>
                    <a:p>
                      <a:pPr algn="ctr"/>
                      <a:endParaRPr lang="en-AU" sz="2000" dirty="0">
                        <a:latin typeface="Calibri" panose="020F0502020204030204" pitchFamily="34" charset="0"/>
                        <a:cs typeface="Calibri" panose="020F0502020204030204" pitchFamily="34" charset="0"/>
                      </a:endParaRPr>
                    </a:p>
                  </a:txBody>
                  <a:tcPr anchor="ctr"/>
                </a:tc>
                <a:tc>
                  <a:txBody>
                    <a:bodyPr/>
                    <a:lstStyle/>
                    <a:p>
                      <a:endParaRPr lang="en-AU" sz="20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269183918"/>
                  </a:ext>
                </a:extLst>
              </a:tr>
              <a:tr h="370840">
                <a:tc>
                  <a:txBody>
                    <a:bodyPr/>
                    <a:lstStyle/>
                    <a:p>
                      <a:pPr algn="ctr"/>
                      <a:r>
                        <a:rPr lang="en-AU" sz="2000" dirty="0">
                          <a:latin typeface="Calibri" panose="020F0502020204030204" pitchFamily="34" charset="0"/>
                          <a:cs typeface="Calibri" panose="020F0502020204030204" pitchFamily="34" charset="0"/>
                        </a:rPr>
                        <a:t>Fishing</a:t>
                      </a:r>
                    </a:p>
                  </a:txBody>
                  <a:tcPr/>
                </a:tc>
                <a:tc>
                  <a:txBody>
                    <a:bodyPr/>
                    <a:lstStyle/>
                    <a:p>
                      <a:pPr algn="ctr"/>
                      <a:endParaRPr lang="en-AU" sz="2000" dirty="0">
                        <a:latin typeface="Calibri" panose="020F0502020204030204" pitchFamily="34" charset="0"/>
                        <a:cs typeface="Calibri" panose="020F0502020204030204" pitchFamily="34" charset="0"/>
                      </a:endParaRPr>
                    </a:p>
                  </a:txBody>
                  <a:tcPr anchor="ctr"/>
                </a:tc>
                <a:tc>
                  <a:txBody>
                    <a:bodyPr/>
                    <a:lstStyle/>
                    <a:p>
                      <a:pPr algn="ctr"/>
                      <a:endParaRPr lang="en-AU" sz="2000" dirty="0">
                        <a:latin typeface="Calibri" panose="020F0502020204030204" pitchFamily="34" charset="0"/>
                        <a:cs typeface="Calibri" panose="020F0502020204030204" pitchFamily="34" charset="0"/>
                      </a:endParaRPr>
                    </a:p>
                  </a:txBody>
                  <a:tcPr anchor="ctr"/>
                </a:tc>
                <a:tc>
                  <a:txBody>
                    <a:bodyPr/>
                    <a:lstStyle/>
                    <a:p>
                      <a:endParaRPr lang="en-AU" sz="20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313674347"/>
                  </a:ext>
                </a:extLst>
              </a:tr>
              <a:tr h="370840">
                <a:tc>
                  <a:txBody>
                    <a:bodyPr/>
                    <a:lstStyle/>
                    <a:p>
                      <a:pPr algn="ctr"/>
                      <a:r>
                        <a:rPr lang="en-AU" sz="2000" dirty="0">
                          <a:latin typeface="Calibri" panose="020F0502020204030204" pitchFamily="34" charset="0"/>
                          <a:cs typeface="Calibri" panose="020F0502020204030204" pitchFamily="34" charset="0"/>
                        </a:rPr>
                        <a:t>Gardening or Housework</a:t>
                      </a:r>
                    </a:p>
                  </a:txBody>
                  <a:tcPr/>
                </a:tc>
                <a:tc>
                  <a:txBody>
                    <a:bodyPr/>
                    <a:lstStyle/>
                    <a:p>
                      <a:pPr algn="ctr"/>
                      <a:endParaRPr lang="en-AU" sz="2000" dirty="0">
                        <a:latin typeface="Calibri" panose="020F0502020204030204" pitchFamily="34" charset="0"/>
                        <a:cs typeface="Calibri" panose="020F0502020204030204" pitchFamily="34" charset="0"/>
                      </a:endParaRPr>
                    </a:p>
                  </a:txBody>
                  <a:tcPr anchor="ctr"/>
                </a:tc>
                <a:tc>
                  <a:txBody>
                    <a:bodyPr/>
                    <a:lstStyle/>
                    <a:p>
                      <a:pPr algn="ctr"/>
                      <a:endParaRPr lang="en-AU" sz="2000" dirty="0">
                        <a:latin typeface="Calibri" panose="020F0502020204030204" pitchFamily="34" charset="0"/>
                        <a:cs typeface="Calibri" panose="020F0502020204030204" pitchFamily="34" charset="0"/>
                      </a:endParaRPr>
                    </a:p>
                  </a:txBody>
                  <a:tcPr anchor="ctr"/>
                </a:tc>
                <a:tc>
                  <a:txBody>
                    <a:bodyPr/>
                    <a:lstStyle/>
                    <a:p>
                      <a:endParaRPr lang="en-AU" sz="20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199990687"/>
                  </a:ext>
                </a:extLst>
              </a:tr>
            </a:tbl>
          </a:graphicData>
        </a:graphic>
      </p:graphicFrame>
    </p:spTree>
    <p:extLst>
      <p:ext uri="{BB962C8B-B14F-4D97-AF65-F5344CB8AC3E}">
        <p14:creationId xmlns:p14="http://schemas.microsoft.com/office/powerpoint/2010/main" val="34181933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44EC2-D50D-4652-9305-AF7EC325976B}"/>
              </a:ext>
            </a:extLst>
          </p:cNvPr>
          <p:cNvSpPr>
            <a:spLocks noGrp="1"/>
          </p:cNvSpPr>
          <p:nvPr>
            <p:ph type="title"/>
          </p:nvPr>
        </p:nvSpPr>
        <p:spPr>
          <a:xfrm>
            <a:off x="2895600" y="322362"/>
            <a:ext cx="8610600" cy="1293028"/>
          </a:xfrm>
        </p:spPr>
        <p:txBody>
          <a:bodyPr>
            <a:normAutofit/>
          </a:bodyPr>
          <a:lstStyle/>
          <a:p>
            <a:r>
              <a:rPr lang="en-AU" sz="5400" b="1" dirty="0">
                <a:solidFill>
                  <a:schemeClr val="accent1">
                    <a:lumMod val="75000"/>
                  </a:schemeClr>
                </a:solidFill>
                <a:latin typeface="Kiwi School Handwriting"/>
              </a:rPr>
              <a:t>Task</a:t>
            </a:r>
            <a:endParaRPr lang="en-GB" sz="5400" b="1" dirty="0">
              <a:solidFill>
                <a:schemeClr val="accent1">
                  <a:lumMod val="75000"/>
                </a:schemeClr>
              </a:solidFill>
              <a:latin typeface="Kiwi School Handwriting"/>
            </a:endParaRPr>
          </a:p>
        </p:txBody>
      </p:sp>
      <p:sp>
        <p:nvSpPr>
          <p:cNvPr id="3" name="Content Placeholder 2">
            <a:extLst>
              <a:ext uri="{FF2B5EF4-FFF2-40B4-BE49-F238E27FC236}">
                <a16:creationId xmlns:a16="http://schemas.microsoft.com/office/drawing/2014/main" id="{AE03FB65-85C3-4D6E-9E99-A4600037F898}"/>
              </a:ext>
            </a:extLst>
          </p:cNvPr>
          <p:cNvSpPr>
            <a:spLocks noGrp="1"/>
          </p:cNvSpPr>
          <p:nvPr>
            <p:ph idx="1"/>
          </p:nvPr>
        </p:nvSpPr>
        <p:spPr/>
        <p:txBody>
          <a:bodyPr>
            <a:normAutofit/>
          </a:bodyPr>
          <a:lstStyle/>
          <a:p>
            <a:pPr marL="0" indent="0">
              <a:buNone/>
            </a:pPr>
            <a:endParaRPr lang="en-AU" sz="2400" dirty="0"/>
          </a:p>
          <a:p>
            <a:pPr marL="0" indent="0">
              <a:buNone/>
            </a:pPr>
            <a:endParaRPr lang="en-GB" sz="2400" dirty="0"/>
          </a:p>
          <a:p>
            <a:endParaRPr lang="en-AU" sz="2400" dirty="0"/>
          </a:p>
        </p:txBody>
      </p:sp>
      <p:pic>
        <p:nvPicPr>
          <p:cNvPr id="5" name="Picture 4">
            <a:extLst>
              <a:ext uri="{FF2B5EF4-FFF2-40B4-BE49-F238E27FC236}">
                <a16:creationId xmlns:a16="http://schemas.microsoft.com/office/drawing/2014/main" id="{6015A7DF-C707-4F39-8423-6474C5C0179A}"/>
              </a:ext>
            </a:extLst>
          </p:cNvPr>
          <p:cNvPicPr>
            <a:picLocks noChangeAspect="1"/>
          </p:cNvPicPr>
          <p:nvPr/>
        </p:nvPicPr>
        <p:blipFill>
          <a:blip r:embed="rId2"/>
          <a:stretch>
            <a:fillRect/>
          </a:stretch>
        </p:blipFill>
        <p:spPr>
          <a:xfrm>
            <a:off x="778668" y="1938532"/>
            <a:ext cx="10941844" cy="4280153"/>
          </a:xfrm>
          <a:prstGeom prst="rect">
            <a:avLst/>
          </a:prstGeom>
        </p:spPr>
      </p:pic>
    </p:spTree>
    <p:extLst>
      <p:ext uri="{BB962C8B-B14F-4D97-AF65-F5344CB8AC3E}">
        <p14:creationId xmlns:p14="http://schemas.microsoft.com/office/powerpoint/2010/main" val="7031452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44EC2-D50D-4652-9305-AF7EC325976B}"/>
              </a:ext>
            </a:extLst>
          </p:cNvPr>
          <p:cNvSpPr>
            <a:spLocks noGrp="1"/>
          </p:cNvSpPr>
          <p:nvPr>
            <p:ph type="title"/>
          </p:nvPr>
        </p:nvSpPr>
        <p:spPr>
          <a:xfrm>
            <a:off x="2895600" y="322362"/>
            <a:ext cx="8610600" cy="1293028"/>
          </a:xfrm>
        </p:spPr>
        <p:txBody>
          <a:bodyPr>
            <a:normAutofit/>
          </a:bodyPr>
          <a:lstStyle/>
          <a:p>
            <a:r>
              <a:rPr lang="en-AU" sz="5400" b="1" dirty="0">
                <a:solidFill>
                  <a:schemeClr val="accent1">
                    <a:lumMod val="75000"/>
                  </a:schemeClr>
                </a:solidFill>
                <a:latin typeface="Kiwi School Handwriting"/>
              </a:rPr>
              <a:t>Task</a:t>
            </a:r>
            <a:endParaRPr lang="en-GB" sz="5400" b="1" dirty="0">
              <a:solidFill>
                <a:schemeClr val="accent1">
                  <a:lumMod val="75000"/>
                </a:schemeClr>
              </a:solidFill>
              <a:latin typeface="Kiwi School Handwriting"/>
            </a:endParaRPr>
          </a:p>
        </p:txBody>
      </p:sp>
      <p:sp>
        <p:nvSpPr>
          <p:cNvPr id="3" name="Content Placeholder 2">
            <a:extLst>
              <a:ext uri="{FF2B5EF4-FFF2-40B4-BE49-F238E27FC236}">
                <a16:creationId xmlns:a16="http://schemas.microsoft.com/office/drawing/2014/main" id="{AE03FB65-85C3-4D6E-9E99-A4600037F898}"/>
              </a:ext>
            </a:extLst>
          </p:cNvPr>
          <p:cNvSpPr>
            <a:spLocks noGrp="1"/>
          </p:cNvSpPr>
          <p:nvPr>
            <p:ph idx="1"/>
          </p:nvPr>
        </p:nvSpPr>
        <p:spPr/>
        <p:txBody>
          <a:bodyPr>
            <a:normAutofit/>
          </a:bodyPr>
          <a:lstStyle/>
          <a:p>
            <a:pPr marL="0" indent="0">
              <a:buNone/>
            </a:pPr>
            <a:endParaRPr lang="en-AU" sz="2400" dirty="0"/>
          </a:p>
          <a:p>
            <a:pPr marL="0" indent="0">
              <a:buNone/>
            </a:pPr>
            <a:endParaRPr lang="en-GB" sz="2400" dirty="0"/>
          </a:p>
          <a:p>
            <a:endParaRPr lang="en-AU" sz="2400" dirty="0"/>
          </a:p>
        </p:txBody>
      </p:sp>
      <p:pic>
        <p:nvPicPr>
          <p:cNvPr id="4" name="Picture 3">
            <a:extLst>
              <a:ext uri="{FF2B5EF4-FFF2-40B4-BE49-F238E27FC236}">
                <a16:creationId xmlns:a16="http://schemas.microsoft.com/office/drawing/2014/main" id="{D617FE0B-7DF9-4638-8ADE-D7988E75F422}"/>
              </a:ext>
            </a:extLst>
          </p:cNvPr>
          <p:cNvPicPr>
            <a:picLocks noChangeAspect="1"/>
          </p:cNvPicPr>
          <p:nvPr/>
        </p:nvPicPr>
        <p:blipFill>
          <a:blip r:embed="rId3"/>
          <a:stretch>
            <a:fillRect/>
          </a:stretch>
        </p:blipFill>
        <p:spPr>
          <a:xfrm>
            <a:off x="2141111" y="1256485"/>
            <a:ext cx="8167322" cy="5365771"/>
          </a:xfrm>
          <a:prstGeom prst="rect">
            <a:avLst/>
          </a:prstGeom>
        </p:spPr>
      </p:pic>
    </p:spTree>
    <p:extLst>
      <p:ext uri="{BB962C8B-B14F-4D97-AF65-F5344CB8AC3E}">
        <p14:creationId xmlns:p14="http://schemas.microsoft.com/office/powerpoint/2010/main" val="241816405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700" row="7">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67D25652-70A2-4111-A862-DCDB0F791EBA}">
  <we:reference id="wa104379997" version="2.0.0.0" store="en-US" storeType="OMEX"/>
  <we:alternateReferences>
    <we:reference id="wa104379997" version="2.0.0.0"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Integral</Template>
  <TotalTime>3136</TotalTime>
  <Words>848</Words>
  <Application>Microsoft Office PowerPoint</Application>
  <PresentationFormat>Widescreen</PresentationFormat>
  <Paragraphs>135</Paragraphs>
  <Slides>15</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Kiwi School Handwriting</vt:lpstr>
      <vt:lpstr>Arial</vt:lpstr>
      <vt:lpstr>Calibri</vt:lpstr>
      <vt:lpstr>Cambria Math</vt:lpstr>
      <vt:lpstr>Tw Cen MT</vt:lpstr>
      <vt:lpstr>Tw Cen MT Condensed</vt:lpstr>
      <vt:lpstr>Wingdings 3</vt:lpstr>
      <vt:lpstr>Integral</vt:lpstr>
      <vt:lpstr>Topic: Energy EQ: How is energy in food and exercise measured? </vt:lpstr>
      <vt:lpstr>FiVe Questions</vt:lpstr>
      <vt:lpstr>PowerPoint Presentation</vt:lpstr>
      <vt:lpstr>Guided Practice (LHS)</vt:lpstr>
      <vt:lpstr>PowerPoint Presentation</vt:lpstr>
      <vt:lpstr>Task (LHS)</vt:lpstr>
      <vt:lpstr>Task</vt:lpstr>
      <vt:lpstr>Task</vt:lpstr>
      <vt:lpstr>Task</vt:lpstr>
      <vt:lpstr>PowerPoint Presentation</vt:lpstr>
      <vt:lpstr>PowerPoint Presentation</vt:lpstr>
      <vt:lpstr>Questions (LHS)</vt:lpstr>
      <vt:lpstr>Task, (p. 81 of text)</vt:lpstr>
      <vt:lpstr>Task</vt:lpstr>
      <vt:lpstr>Task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Rates Continued </dc:title>
  <dc:creator>Travis Power</dc:creator>
  <cp:lastModifiedBy>PARLEVLIET Magdeline [Baldivis Secondary College]</cp:lastModifiedBy>
  <cp:revision>87</cp:revision>
  <cp:lastPrinted>2018-05-03T00:24:35Z</cp:lastPrinted>
  <dcterms:created xsi:type="dcterms:W3CDTF">2018-02-13T05:48:53Z</dcterms:created>
  <dcterms:modified xsi:type="dcterms:W3CDTF">2021-07-24T07:31:01Z</dcterms:modified>
</cp:coreProperties>
</file>
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3" r:id="rId1"/>
  </p:sldMasterIdLst>
  <p:notesMasterIdLst>
    <p:notesMasterId r:id="rId7"/>
  </p:notesMasterIdLst>
  <p:sldIdLst>
    <p:sldId id="256" r:id="rId2"/>
    <p:sldId id="258" r:id="rId3"/>
    <p:sldId id="257" r:id="rId4"/>
    <p:sldId id="261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53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08"/>
    <p:restoredTop sz="80529"/>
  </p:normalViewPr>
  <p:slideViewPr>
    <p:cSldViewPr snapToGrid="0" snapToObjects="1">
      <p:cViewPr varScale="1">
        <p:scale>
          <a:sx n="59" d="100"/>
          <a:sy n="59" d="100"/>
        </p:scale>
        <p:origin x="1414" y="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318165-0170-2941-991B-18A2212B78B3}" type="datetimeFigureOut">
              <a:rPr lang="en-US" smtClean="0"/>
              <a:t>8/7/2021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F85900-6D8D-764D-B313-5085C2977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888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85900-6D8D-764D-B313-5085C29772C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62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85900-6D8D-764D-B313-5085C29772C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969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85900-6D8D-764D-B313-5085C29772C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519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261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160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472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863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820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051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114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731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213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224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083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4891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22" r:id="rId6"/>
    <p:sldLayoutId id="2147483717" r:id="rId7"/>
    <p:sldLayoutId id="2147483718" r:id="rId8"/>
    <p:sldLayoutId id="2147483719" r:id="rId9"/>
    <p:sldLayoutId id="2147483721" r:id="rId10"/>
    <p:sldLayoutId id="214748372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AF4F2BA-3C03-4E2C-8ABC-0949B61B3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esthetic liquid watercolor and ink">
            <a:extLst>
              <a:ext uri="{FF2B5EF4-FFF2-40B4-BE49-F238E27FC236}">
                <a16:creationId xmlns:a16="http://schemas.microsoft.com/office/drawing/2014/main" id="{78499B07-4D31-4680-AC43-C75F508789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t="2755" b="5782"/>
          <a:stretch/>
        </p:blipFill>
        <p:spPr>
          <a:xfrm>
            <a:off x="-3155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D2AB57-C5EC-7F44-AAAE-A5DE89B569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Topic: Categorical and Numerical Data</a:t>
            </a:r>
            <a:br>
              <a:rPr lang="en-US" sz="60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EQ: How do you compare categorical and numerical data?</a:t>
            </a:r>
            <a:endParaRPr lang="en-US" sz="60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490636-D7CC-4142-B16F-C7D948EA8A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Year 11 Essentials </a:t>
            </a:r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07787ED-5EDC-4C54-AD87-55B60D0FE3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!!footer rectangle">
            <a:extLst>
              <a:ext uri="{FF2B5EF4-FFF2-40B4-BE49-F238E27FC236}">
                <a16:creationId xmlns:a16="http://schemas.microsoft.com/office/drawing/2014/main" id="{B40A8CA7-7D5A-43B0-A1A0-B558ECA9E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391547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296FE8-0203-054B-9CB6-B1921BF0D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612D277-6DA9-734F-9E88-92F088FC9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7808" y="2140858"/>
                <a:ext cx="6805749" cy="4248367"/>
              </a:xfrm>
            </p:spPr>
            <p:txBody>
              <a:bodyPr>
                <a:normAutofit fontScale="92500"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Which of these temperatures is the coldest? Which is the hottest? 38</a:t>
                </a:r>
                <a:r>
                  <a:rPr lang="en-AU" sz="2000" b="0" i="0" dirty="0">
                    <a:solidFill>
                      <a:srgbClr val="202124"/>
                    </a:solidFill>
                    <a:effectLst/>
                    <a:latin typeface="arial" panose="020B0604020202020204" pitchFamily="34" charset="0"/>
                  </a:rPr>
                  <a:t>°, -11</a:t>
                </a:r>
                <a:r>
                  <a:rPr lang="en-AU" sz="2400" b="0" i="0" dirty="0">
                    <a:solidFill>
                      <a:srgbClr val="202124"/>
                    </a:solidFill>
                    <a:effectLst/>
                    <a:latin typeface="arial" panose="020B0604020202020204" pitchFamily="34" charset="0"/>
                  </a:rPr>
                  <a:t>°, -24°, 0°, 5°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400" dirty="0">
                    <a:solidFill>
                      <a:srgbClr val="202124"/>
                    </a:solidFill>
                  </a:rPr>
                  <a:t>A 1L bottle of milk costs $1.29. If I use one bottle a day, how much will I pay for milk per week?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400" dirty="0">
                    <a:solidFill>
                      <a:srgbClr val="202124"/>
                    </a:solidFill>
                  </a:rPr>
                  <a:t>91 </a:t>
                </a:r>
                <a14:m>
                  <m:oMath xmlns:m="http://schemas.openxmlformats.org/officeDocument/2006/math">
                    <m:r>
                      <a:rPr lang="en-AU" sz="2400" i="1" smtClean="0">
                        <a:solidFill>
                          <a:srgbClr val="202124"/>
                        </a:solidFill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US" sz="2400" dirty="0"/>
                  <a:t> 4 = ______  Write your answer using a decimal number.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12L – 347mL = _______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How much is 25% of these amounts?   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  $130            2400mL           38m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612D277-6DA9-734F-9E88-92F088FC9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7808" y="2140858"/>
                <a:ext cx="6805749" cy="4248367"/>
              </a:xfrm>
              <a:blipFill>
                <a:blip r:embed="rId2"/>
                <a:stretch>
                  <a:fillRect l="-2507" t="-1148" r="-17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F627B8D2-1912-EA4C-AA3A-C91C760B9AE8}"/>
              </a:ext>
            </a:extLst>
          </p:cNvPr>
          <p:cNvSpPr txBox="1">
            <a:spLocks/>
          </p:cNvSpPr>
          <p:nvPr/>
        </p:nvSpPr>
        <p:spPr>
          <a:xfrm>
            <a:off x="4449297" y="146793"/>
            <a:ext cx="10058400" cy="8651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1"/>
                </a:solidFill>
              </a:rPr>
              <a:t>Topic: Categorical and Numerical Data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EQ: How do you compare categorical and numerical data?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4710A5-9B30-4105-8109-585541EF0B5B}"/>
              </a:ext>
            </a:extLst>
          </p:cNvPr>
          <p:cNvSpPr txBox="1"/>
          <p:nvPr/>
        </p:nvSpPr>
        <p:spPr>
          <a:xfrm>
            <a:off x="7349924" y="2257063"/>
            <a:ext cx="4488023" cy="32571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C00000"/>
                </a:solidFill>
              </a:rPr>
              <a:t> 1. coldest: -24</a:t>
            </a:r>
            <a:r>
              <a:rPr lang="en-AU" sz="2800" b="0" i="0" dirty="0">
                <a:solidFill>
                  <a:srgbClr val="C00000"/>
                </a:solidFill>
                <a:effectLst/>
              </a:rPr>
              <a:t> °, hottest: 38 °</a:t>
            </a:r>
          </a:p>
          <a:p>
            <a:pPr>
              <a:lnSpc>
                <a:spcPct val="150000"/>
              </a:lnSpc>
            </a:pPr>
            <a:r>
              <a:rPr lang="en-AU" sz="2800" dirty="0">
                <a:solidFill>
                  <a:srgbClr val="C00000"/>
                </a:solidFill>
              </a:rPr>
              <a:t>2. $9.03 0r $9.05 cash</a:t>
            </a:r>
          </a:p>
          <a:p>
            <a:pPr>
              <a:lnSpc>
                <a:spcPct val="150000"/>
              </a:lnSpc>
            </a:pPr>
            <a:r>
              <a:rPr lang="en-AU" sz="2800" b="0" i="0" dirty="0">
                <a:solidFill>
                  <a:srgbClr val="C00000"/>
                </a:solidFill>
                <a:effectLst/>
              </a:rPr>
              <a:t>3. 22.75</a:t>
            </a:r>
          </a:p>
          <a:p>
            <a:pPr>
              <a:lnSpc>
                <a:spcPct val="150000"/>
              </a:lnSpc>
            </a:pPr>
            <a:r>
              <a:rPr lang="en-AU" sz="2800" dirty="0">
                <a:solidFill>
                  <a:srgbClr val="C00000"/>
                </a:solidFill>
              </a:rPr>
              <a:t>4. 11 653 mL</a:t>
            </a:r>
          </a:p>
          <a:p>
            <a:pPr>
              <a:lnSpc>
                <a:spcPct val="150000"/>
              </a:lnSpc>
            </a:pPr>
            <a:r>
              <a:rPr lang="en-AU" sz="2800" b="0" i="0" dirty="0">
                <a:solidFill>
                  <a:srgbClr val="C00000"/>
                </a:solidFill>
                <a:effectLst/>
              </a:rPr>
              <a:t>5. $32.50, 600mL, 9.5m</a:t>
            </a:r>
          </a:p>
        </p:txBody>
      </p:sp>
    </p:spTree>
    <p:extLst>
      <p:ext uri="{BB962C8B-B14F-4D97-AF65-F5344CB8AC3E}">
        <p14:creationId xmlns:p14="http://schemas.microsoft.com/office/powerpoint/2010/main" val="2906026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2509CC4-A1C6-4B41-9ACF-0532BA2E743A}"/>
              </a:ext>
            </a:extLst>
          </p:cNvPr>
          <p:cNvCxnSpPr>
            <a:cxnSpLocks/>
          </p:cNvCxnSpPr>
          <p:nvPr/>
        </p:nvCxnSpPr>
        <p:spPr>
          <a:xfrm>
            <a:off x="1800782" y="0"/>
            <a:ext cx="0" cy="6412675"/>
          </a:xfrm>
          <a:prstGeom prst="line">
            <a:avLst/>
          </a:prstGeom>
          <a:ln>
            <a:solidFill>
              <a:srgbClr val="F553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DBB6050-B565-6C4D-B5D8-73AE5094423F}"/>
              </a:ext>
            </a:extLst>
          </p:cNvPr>
          <p:cNvCxnSpPr>
            <a:cxnSpLocks/>
          </p:cNvCxnSpPr>
          <p:nvPr/>
        </p:nvCxnSpPr>
        <p:spPr>
          <a:xfrm>
            <a:off x="0" y="977138"/>
            <a:ext cx="12326587" cy="0"/>
          </a:xfrm>
          <a:prstGeom prst="line">
            <a:avLst/>
          </a:prstGeom>
          <a:ln>
            <a:solidFill>
              <a:srgbClr val="F553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2CFE38-DA7D-4E47-BAD0-DCBA8769E3CF}"/>
              </a:ext>
            </a:extLst>
          </p:cNvPr>
          <p:cNvSpPr txBox="1"/>
          <p:nvPr/>
        </p:nvSpPr>
        <p:spPr>
          <a:xfrm>
            <a:off x="104402" y="1161107"/>
            <a:ext cx="169638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What is a back-to-back stem and leaf plot?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What is an example of a stem and leaf plot?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0E38AA-D4DA-AE47-9B13-28F3DCF39763}"/>
              </a:ext>
            </a:extLst>
          </p:cNvPr>
          <p:cNvSpPr txBox="1"/>
          <p:nvPr/>
        </p:nvSpPr>
        <p:spPr>
          <a:xfrm>
            <a:off x="1854312" y="1161107"/>
            <a:ext cx="978857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202124"/>
                </a:solidFill>
                <a:latin typeface="arial" panose="020B0604020202020204" pitchFamily="34" charset="0"/>
              </a:rPr>
              <a:t>When we collect, </a:t>
            </a:r>
            <a:r>
              <a:rPr lang="en-US" sz="2400" dirty="0" err="1">
                <a:solidFill>
                  <a:srgbClr val="202124"/>
                </a:solidFill>
                <a:latin typeface="arial" panose="020B0604020202020204" pitchFamily="34" charset="0"/>
              </a:rPr>
              <a:t>analyse</a:t>
            </a:r>
            <a:r>
              <a:rPr lang="en-US" sz="2400" dirty="0">
                <a:solidFill>
                  <a:srgbClr val="202124"/>
                </a:solidFill>
                <a:latin typeface="arial" panose="020B0604020202020204" pitchFamily="34" charset="0"/>
              </a:rPr>
              <a:t> or display data, it is good to be able to group and organize data. Sometimes, data is best to be grouped in </a:t>
            </a:r>
            <a:r>
              <a:rPr lang="en-US" sz="2400" dirty="0" err="1">
                <a:solidFill>
                  <a:srgbClr val="202124"/>
                </a:solidFill>
                <a:latin typeface="arial" panose="020B0604020202020204" pitchFamily="34" charset="0"/>
              </a:rPr>
              <a:t>categoried</a:t>
            </a:r>
            <a:r>
              <a:rPr lang="en-US" sz="2400" dirty="0">
                <a:solidFill>
                  <a:srgbClr val="202124"/>
                </a:solidFill>
                <a:latin typeface="arial" panose="020B0604020202020204" pitchFamily="34" charset="0"/>
              </a:rPr>
              <a:t> and other time grouped numerically.</a:t>
            </a:r>
            <a:endParaRPr lang="en-US" sz="2400" b="1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endParaRPr lang="en-US" sz="2400" b="1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endParaRPr lang="en-US" sz="2400" b="1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endParaRPr lang="en-US" sz="2400" b="1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endParaRPr lang="en-US" sz="2400" b="1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r>
              <a:rPr lang="en-US" sz="2400" dirty="0">
                <a:solidFill>
                  <a:srgbClr val="202124"/>
                </a:solidFill>
                <a:latin typeface="arial" panose="020B0604020202020204" pitchFamily="34" charset="0"/>
              </a:rPr>
              <a:t>Age of shoppers entering office supplies store</a:t>
            </a:r>
            <a:r>
              <a:rPr lang="en-US" sz="2400" dirty="0"/>
              <a:t> </a:t>
            </a:r>
          </a:p>
          <a:p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A6EACF-CD74-4690-B5C0-47A53BCD3654}"/>
              </a:ext>
            </a:extLst>
          </p:cNvPr>
          <p:cNvCxnSpPr/>
          <p:nvPr/>
        </p:nvCxnSpPr>
        <p:spPr>
          <a:xfrm>
            <a:off x="4896091" y="4213185"/>
            <a:ext cx="0" cy="18172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2288107-425C-42AE-817D-CEC015AABBB9}"/>
              </a:ext>
            </a:extLst>
          </p:cNvPr>
          <p:cNvCxnSpPr/>
          <p:nvPr/>
        </p:nvCxnSpPr>
        <p:spPr>
          <a:xfrm>
            <a:off x="5766122" y="4213185"/>
            <a:ext cx="0" cy="18172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76E566-E1B8-4874-9D8C-52FFC4664438}"/>
              </a:ext>
            </a:extLst>
          </p:cNvPr>
          <p:cNvCxnSpPr>
            <a:cxnSpLocks/>
          </p:cNvCxnSpPr>
          <p:nvPr/>
        </p:nvCxnSpPr>
        <p:spPr>
          <a:xfrm flipH="1">
            <a:off x="3838875" y="4517987"/>
            <a:ext cx="29727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2483322-2547-483C-934B-3BE0A0B5F493}"/>
              </a:ext>
            </a:extLst>
          </p:cNvPr>
          <p:cNvSpPr txBox="1"/>
          <p:nvPr/>
        </p:nvSpPr>
        <p:spPr>
          <a:xfrm>
            <a:off x="3724355" y="4213185"/>
            <a:ext cx="3259226" cy="1572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 Females    Stem       Males</a:t>
            </a:r>
          </a:p>
          <a:p>
            <a:pPr>
              <a:lnSpc>
                <a:spcPct val="150000"/>
              </a:lnSpc>
            </a:pPr>
            <a:r>
              <a:rPr lang="en-US" dirty="0"/>
              <a:t>8  7  5  5  2         2         6  8</a:t>
            </a:r>
          </a:p>
          <a:p>
            <a:pPr>
              <a:lnSpc>
                <a:spcPct val="150000"/>
              </a:lnSpc>
            </a:pPr>
            <a:r>
              <a:rPr lang="en-US" dirty="0"/>
              <a:t>    6  4  4  3         3         0  1  7  8  9</a:t>
            </a:r>
          </a:p>
          <a:p>
            <a:pPr>
              <a:lnSpc>
                <a:spcPct val="150000"/>
              </a:lnSpc>
            </a:pPr>
            <a:r>
              <a:rPr lang="en-US" dirty="0"/>
              <a:t>                 1         4         1  4  5</a:t>
            </a:r>
            <a:endParaRPr lang="en-AU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4A3EE18-49D1-4E1D-8995-A9E923F1AF24}"/>
              </a:ext>
            </a:extLst>
          </p:cNvPr>
          <p:cNvSpPr txBox="1">
            <a:spLocks/>
          </p:cNvSpPr>
          <p:nvPr/>
        </p:nvSpPr>
        <p:spPr>
          <a:xfrm>
            <a:off x="1800782" y="42621"/>
            <a:ext cx="10058400" cy="8651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1"/>
                </a:solidFill>
              </a:rPr>
              <a:t>Topic: Categorical and Numerical Data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EQ: How do you compare categorical and numerical data?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7951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DBB6050-B565-6C4D-B5D8-73AE5094423F}"/>
              </a:ext>
            </a:extLst>
          </p:cNvPr>
          <p:cNvCxnSpPr>
            <a:cxnSpLocks/>
          </p:cNvCxnSpPr>
          <p:nvPr/>
        </p:nvCxnSpPr>
        <p:spPr>
          <a:xfrm>
            <a:off x="0" y="977138"/>
            <a:ext cx="12326587" cy="0"/>
          </a:xfrm>
          <a:prstGeom prst="line">
            <a:avLst/>
          </a:prstGeom>
          <a:ln>
            <a:solidFill>
              <a:srgbClr val="F553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60E38AA-D4DA-AE47-9B13-28F3DCF39763}"/>
              </a:ext>
            </a:extLst>
          </p:cNvPr>
          <p:cNvSpPr txBox="1"/>
          <p:nvPr/>
        </p:nvSpPr>
        <p:spPr>
          <a:xfrm>
            <a:off x="550193" y="1369451"/>
            <a:ext cx="1122620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202124"/>
                </a:solidFill>
                <a:latin typeface="arial" panose="020B0604020202020204" pitchFamily="34" charset="0"/>
              </a:rPr>
              <a:t>Think - Pair - Share (Page 98)</a:t>
            </a:r>
          </a:p>
          <a:p>
            <a:endParaRPr lang="en-US" sz="2400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r>
              <a:rPr lang="en-US" sz="2400" dirty="0">
                <a:solidFill>
                  <a:srgbClr val="202124"/>
                </a:solidFill>
                <a:latin typeface="arial" panose="020B0604020202020204" pitchFamily="34" charset="0"/>
              </a:rPr>
              <a:t>Consider each of the topics below and decide whether the data would be categorical, numerical or a mix of both. Discuss what types of graphs or tables would be appropriate for each data set.</a:t>
            </a:r>
          </a:p>
          <a:p>
            <a:endParaRPr lang="en-US" sz="2400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solidFill>
                  <a:srgbClr val="202124"/>
                </a:solidFill>
                <a:latin typeface="arial" panose="020B0604020202020204" pitchFamily="34" charset="0"/>
              </a:rPr>
              <a:t>Age of parents at the birth of their first child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solidFill>
                  <a:srgbClr val="202124"/>
                </a:solidFill>
                <a:latin typeface="arial" panose="020B0604020202020204" pitchFamily="34" charset="0"/>
              </a:rPr>
              <a:t>Meals consumed by diners at a restaurant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solidFill>
                  <a:srgbClr val="202124"/>
                </a:solidFill>
                <a:latin typeface="arial" panose="020B0604020202020204" pitchFamily="34" charset="0"/>
              </a:rPr>
              <a:t>Health content of meals consumed by diners at a restaurant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solidFill>
                  <a:srgbClr val="202124"/>
                </a:solidFill>
                <a:latin typeface="arial" panose="020B0604020202020204" pitchFamily="34" charset="0"/>
              </a:rPr>
              <a:t>Fitness of members of a sporting club</a:t>
            </a:r>
            <a:endParaRPr lang="en-US" sz="2400" dirty="0"/>
          </a:p>
          <a:p>
            <a:endParaRPr lang="en-US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4A3EE18-49D1-4E1D-8995-A9E923F1AF24}"/>
              </a:ext>
            </a:extLst>
          </p:cNvPr>
          <p:cNvSpPr txBox="1">
            <a:spLocks/>
          </p:cNvSpPr>
          <p:nvPr/>
        </p:nvSpPr>
        <p:spPr>
          <a:xfrm>
            <a:off x="1800782" y="42621"/>
            <a:ext cx="10058400" cy="8651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1"/>
                </a:solidFill>
              </a:rPr>
              <a:t>Topic: Categorical and Numerical Data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EQ: How do you compare categorical and numerical data?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405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2F46A-D685-504A-BFDB-28529B911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8111" y="1100562"/>
            <a:ext cx="6466356" cy="5572556"/>
          </a:xfrm>
        </p:spPr>
        <p:txBody>
          <a:bodyPr>
            <a:normAutofit/>
          </a:bodyPr>
          <a:lstStyle/>
          <a:p>
            <a:r>
              <a:rPr lang="en-AU" dirty="0"/>
              <a:t>You need to gather data on the following aspects of fitness. Consider each aspect in turn and brainstorm what aspects you could gather data on. </a:t>
            </a:r>
          </a:p>
          <a:p>
            <a:r>
              <a:rPr lang="en-AU" dirty="0"/>
              <a:t>Would this data categorical or numerical? </a:t>
            </a:r>
          </a:p>
          <a:p>
            <a:r>
              <a:rPr lang="en-AU" dirty="0"/>
              <a:t>What sorts of displays do you think would be appropriate to show the initial data?</a:t>
            </a:r>
          </a:p>
          <a:p>
            <a:r>
              <a:rPr lang="en-AU" dirty="0"/>
              <a:t>Consider the following: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1800" dirty="0"/>
              <a:t>Flexibility (for example, stretching towards toes with knees straight)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1800" dirty="0"/>
              <a:t>Strength (for example, lifting weight with legs or arms)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1800" dirty="0"/>
              <a:t>Endurance (for example, time holding a standing squat or plank)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1800" dirty="0"/>
              <a:t>Cardiovascular fitness (for example, heart rate after set exercise then checked again at given intervals after completing the exercise.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2CFE38-DA7D-4E47-BAD0-DCBA8769E3CF}"/>
              </a:ext>
            </a:extLst>
          </p:cNvPr>
          <p:cNvSpPr txBox="1"/>
          <p:nvPr/>
        </p:nvSpPr>
        <p:spPr>
          <a:xfrm>
            <a:off x="5598562" y="288779"/>
            <a:ext cx="38152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TASK: Investigate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BA0E38-D971-9E4D-82D9-8F0DF458E478}"/>
              </a:ext>
            </a:extLst>
          </p:cNvPr>
          <p:cNvSpPr txBox="1"/>
          <p:nvPr/>
        </p:nvSpPr>
        <p:spPr>
          <a:xfrm>
            <a:off x="10143081" y="288779"/>
            <a:ext cx="18940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Page 98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61DEB14-CA79-4F0B-8AF8-E187E3121773}"/>
              </a:ext>
            </a:extLst>
          </p:cNvPr>
          <p:cNvSpPr txBox="1">
            <a:spLocks/>
          </p:cNvSpPr>
          <p:nvPr/>
        </p:nvSpPr>
        <p:spPr>
          <a:xfrm>
            <a:off x="578556" y="862641"/>
            <a:ext cx="3379986" cy="27711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 spc="-5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Topic: Categorical and Numerical Data</a:t>
            </a:r>
          </a:p>
          <a:p>
            <a:br>
              <a:rPr lang="en-US" dirty="0"/>
            </a:br>
            <a:r>
              <a:rPr lang="en-US" sz="2800" dirty="0"/>
              <a:t>EQ: How do you compare categorical and numerical data?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98479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7472</TotalTime>
  <Words>509</Words>
  <Application>Microsoft Office PowerPoint</Application>
  <PresentationFormat>Widescreen</PresentationFormat>
  <Paragraphs>55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</vt:lpstr>
      <vt:lpstr>Calibri</vt:lpstr>
      <vt:lpstr>Calibri Light</vt:lpstr>
      <vt:lpstr>RetrospectVTI</vt:lpstr>
      <vt:lpstr>Topic: Categorical and Numerical Data EQ: How do you compare categorical and numerical data?</vt:lpstr>
      <vt:lpstr>First 5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Conversion graphs for continuous data EQ:</dc:title>
  <dc:creator>DIXON Emily [Baldivis Secondary College]</dc:creator>
  <cp:lastModifiedBy>Jade Gregory</cp:lastModifiedBy>
  <cp:revision>38</cp:revision>
  <dcterms:created xsi:type="dcterms:W3CDTF">2021-07-26T09:22:31Z</dcterms:created>
  <dcterms:modified xsi:type="dcterms:W3CDTF">2021-08-08T07:31:09Z</dcterms:modified>
</cp:coreProperties>
</file>
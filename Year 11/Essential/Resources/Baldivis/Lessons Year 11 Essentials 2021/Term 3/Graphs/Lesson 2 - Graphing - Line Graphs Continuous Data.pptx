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0" r:id="rId1"/>
  </p:sldMasterIdLst>
  <p:notesMasterIdLst>
    <p:notesMasterId r:id="rId8"/>
  </p:notesMasterIdLst>
  <p:sldIdLst>
    <p:sldId id="266" r:id="rId2"/>
    <p:sldId id="301" r:id="rId3"/>
    <p:sldId id="289" r:id="rId4"/>
    <p:sldId id="321" r:id="rId5"/>
    <p:sldId id="322" r:id="rId6"/>
    <p:sldId id="323" r:id="rId7"/>
  </p:sldIdLst>
  <p:sldSz cx="12192000" cy="6858000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2"/>
    <p:restoredTop sz="67753" autoAdjust="0"/>
  </p:normalViewPr>
  <p:slideViewPr>
    <p:cSldViewPr snapToGrid="0" snapToObjects="1">
      <p:cViewPr varScale="1">
        <p:scale>
          <a:sx n="81" d="100"/>
          <a:sy n="81" d="100"/>
        </p:scale>
        <p:origin x="171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AU" sz="2000" baseline="0"/>
              <a:t>Mean monthly maximum and minimum temperatures, Perth Metro Weather Station 1994 - 2020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Sheet1!$A$3</c:f>
              <c:strCache>
                <c:ptCount val="1"/>
                <c:pt idx="0">
                  <c:v>Mean Maximum Temp (˚C)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Sheet1!$B$2:$M$2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Sheet1!$B$3:$M$3</c:f>
              <c:numCache>
                <c:formatCode>General</c:formatCode>
                <c:ptCount val="12"/>
                <c:pt idx="0">
                  <c:v>31.2</c:v>
                </c:pt>
                <c:pt idx="1">
                  <c:v>31.6</c:v>
                </c:pt>
                <c:pt idx="2">
                  <c:v>29.6</c:v>
                </c:pt>
                <c:pt idx="3">
                  <c:v>25.9</c:v>
                </c:pt>
                <c:pt idx="4">
                  <c:v>22.3</c:v>
                </c:pt>
                <c:pt idx="5">
                  <c:v>19.5</c:v>
                </c:pt>
                <c:pt idx="6">
                  <c:v>18.399999999999999</c:v>
                </c:pt>
                <c:pt idx="7">
                  <c:v>19.100000000000001</c:v>
                </c:pt>
                <c:pt idx="8">
                  <c:v>20.399999999999999</c:v>
                </c:pt>
                <c:pt idx="9">
                  <c:v>23.4</c:v>
                </c:pt>
                <c:pt idx="10">
                  <c:v>26.8</c:v>
                </c:pt>
                <c:pt idx="11">
                  <c:v>29.3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F27-431B-B08E-0EF756B6CF1C}"/>
            </c:ext>
          </c:extLst>
        </c:ser>
        <c:ser>
          <c:idx val="1"/>
          <c:order val="1"/>
          <c:tx>
            <c:strRef>
              <c:f>Sheet1!$A$4</c:f>
              <c:strCache>
                <c:ptCount val="1"/>
                <c:pt idx="0">
                  <c:v>Mean Minimum Temp (˚C)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Sheet1!$B$2:$M$2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Sheet1!$B$4:$M$4</c:f>
              <c:numCache>
                <c:formatCode>General</c:formatCode>
                <c:ptCount val="12"/>
                <c:pt idx="0">
                  <c:v>18.100000000000001</c:v>
                </c:pt>
                <c:pt idx="1">
                  <c:v>18.399999999999999</c:v>
                </c:pt>
                <c:pt idx="2">
                  <c:v>16.8</c:v>
                </c:pt>
                <c:pt idx="3">
                  <c:v>13.8</c:v>
                </c:pt>
                <c:pt idx="4">
                  <c:v>10.4</c:v>
                </c:pt>
                <c:pt idx="5">
                  <c:v>8.6</c:v>
                </c:pt>
                <c:pt idx="6">
                  <c:v>7.9</c:v>
                </c:pt>
                <c:pt idx="7">
                  <c:v>8.3000000000000007</c:v>
                </c:pt>
                <c:pt idx="8">
                  <c:v>9.5</c:v>
                </c:pt>
                <c:pt idx="9">
                  <c:v>11.6</c:v>
                </c:pt>
                <c:pt idx="10">
                  <c:v>14.4</c:v>
                </c:pt>
                <c:pt idx="11">
                  <c:v>16.399999999999999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F27-431B-B08E-0EF756B6CF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306385535"/>
        <c:axId val="1306384703"/>
      </c:lineChart>
      <c:catAx>
        <c:axId val="1306385535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AU" sz="1400" baseline="0"/>
                  <a:t>Month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06384703"/>
        <c:crosses val="autoZero"/>
        <c:auto val="1"/>
        <c:lblAlgn val="ctr"/>
        <c:lblOffset val="100"/>
        <c:noMultiLvlLbl val="0"/>
      </c:catAx>
      <c:valAx>
        <c:axId val="13063847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AU" sz="1800" baseline="0"/>
                  <a:t>Temperature  (˚C)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0638553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F2789E-5AC8-448E-8E6F-EC7423D7B148}" type="datetimeFigureOut">
              <a:rPr lang="en-GB" smtClean="0"/>
              <a:t>25/07/2021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85D6DF-A159-4F50-B9AF-8F30B100FF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6226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85D6DF-A159-4F50-B9AF-8F30B100FF37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63265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85D6DF-A159-4F50-B9AF-8F30B100FF37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19264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sz="1400" dirty="0"/>
              <a:t>Check for understanding!</a:t>
            </a:r>
          </a:p>
          <a:p>
            <a:endParaRPr lang="en-AU" sz="1400" dirty="0"/>
          </a:p>
          <a:p>
            <a:r>
              <a:rPr lang="en-AU" sz="1400" dirty="0"/>
              <a:t>What is numerical data?</a:t>
            </a:r>
          </a:p>
          <a:p>
            <a:r>
              <a:rPr lang="en-AU" sz="1400" dirty="0"/>
              <a:t>What is categorical data?</a:t>
            </a:r>
          </a:p>
          <a:p>
            <a:r>
              <a:rPr lang="en-AU" sz="1400" dirty="0"/>
              <a:t>What is discrete data?</a:t>
            </a:r>
          </a:p>
          <a:p>
            <a:r>
              <a:rPr lang="en-AU" sz="1400" dirty="0"/>
              <a:t>What makes data continuous?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9680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EEBC23BB-2070-D146-BD10-A01B23AF686B}" type="datetimeFigureOut">
              <a:rPr lang="en-AU" smtClean="0"/>
              <a:t>25/07/2021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5896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25/07/2021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6141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25/07/2021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3837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25/07/2021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007570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25/07/2021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151121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25/07/2021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65524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25/07/2021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62826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25/07/2021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809523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25/07/2021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5453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25/07/2021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63669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25/07/2021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8630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EEBC23BB-2070-D146-BD10-A01B23AF686B}" type="datetimeFigureOut">
              <a:rPr lang="en-AU" smtClean="0"/>
              <a:t>25/07/2021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3517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42744-6AE1-4460-BB81-220391B100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4000" dirty="0">
                <a:solidFill>
                  <a:schemeClr val="tx1"/>
                </a:solidFill>
                <a:latin typeface="Tw Cen MT Condensed" panose="020B0606020104020203" pitchFamily="34" charset="0"/>
              </a:rPr>
              <a:t>Topic: Graphing</a:t>
            </a:r>
            <a:br>
              <a:rPr lang="en-US" sz="4000" dirty="0">
                <a:solidFill>
                  <a:schemeClr val="tx1"/>
                </a:solidFill>
                <a:latin typeface="Tw Cen MT Condensed" panose="020B0606020104020203" pitchFamily="34" charset="0"/>
              </a:rPr>
            </a:br>
            <a:r>
              <a:rPr lang="en-US" sz="4000" dirty="0">
                <a:solidFill>
                  <a:schemeClr val="tx1"/>
                </a:solidFill>
                <a:latin typeface="Tw Cen MT Condensed" panose="020B0606020104020203" pitchFamily="34" charset="0"/>
              </a:rPr>
              <a:t>EQ: When do I use Line Graphs? </a:t>
            </a:r>
            <a:endParaRPr lang="en-GB" sz="4000" dirty="0">
              <a:solidFill>
                <a:schemeClr val="tx1"/>
              </a:solidFill>
              <a:latin typeface="Tw Cen MT Condensed" panose="020B0606020104020203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CE286F-EE8D-4E43-8AA7-04B4265BF3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AU" sz="2000" dirty="0">
                <a:solidFill>
                  <a:schemeClr val="tx1"/>
                </a:solidFill>
                <a:latin typeface="Tw Cen MT" panose="020B0602020104020603" pitchFamily="34" charset="0"/>
              </a:rPr>
              <a:t>Mrs Parlevliet</a:t>
            </a:r>
          </a:p>
          <a:p>
            <a:r>
              <a:rPr lang="en-AU" sz="2000" dirty="0">
                <a:solidFill>
                  <a:schemeClr val="tx1"/>
                </a:solidFill>
                <a:latin typeface="Tw Cen MT" panose="020B0602020104020603" pitchFamily="34" charset="0"/>
              </a:rPr>
              <a:t>Year </a:t>
            </a:r>
            <a:r>
              <a:rPr lang="en-AU" dirty="0">
                <a:solidFill>
                  <a:schemeClr val="tx1"/>
                </a:solidFill>
                <a:latin typeface="Tw Cen MT" panose="020B0602020104020603" pitchFamily="34" charset="0"/>
              </a:rPr>
              <a:t>11 Essentials</a:t>
            </a:r>
            <a:endParaRPr lang="en-GB" sz="2000" dirty="0">
              <a:solidFill>
                <a:schemeClr val="tx1"/>
              </a:solidFill>
              <a:latin typeface="Tw Cen MT" panose="020B06020201040206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28627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A3C03-BF03-48EF-A72A-CE11494FF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err="1"/>
              <a:t>FiVe</a:t>
            </a:r>
            <a:r>
              <a:rPr lang="en-AU" dirty="0"/>
              <a:t> Questions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C9BC97-E084-4305-8742-02C144E0C2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57872" y="1710048"/>
                <a:ext cx="11017452" cy="5011386"/>
              </a:xfrm>
            </p:spPr>
            <p:txBody>
              <a:bodyPr>
                <a:norm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AU" sz="2400" b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Write these number</a:t>
                </a:r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 in descending order: 47, -31, 9, -12, -1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AU" sz="2400" b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8236−3408=</m:t>
                    </m:r>
                  </m:oMath>
                </a14:m>
                <a:endParaRPr lang="en-AU" sz="2400" b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AU" sz="2400" b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Fill in the missing numbers:</a:t>
                </a:r>
                <a:br>
                  <a:rPr lang="en-AU" sz="2400" b="0" dirty="0"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AU" sz="2400" b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1.35kg = ______ g    ______ L = 2450 mL    35.7 cm = ______mm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What is the area of a rectangle with length 45 m and a width of 9 m?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AU" sz="2400" b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Write your answer to the following as a deci</a:t>
                </a:r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mal.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81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÷4=</m:t>
                    </m:r>
                  </m:oMath>
                </a14:m>
                <a:endParaRPr lang="en-AU" sz="2400" b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C9BC97-E084-4305-8742-02C144E0C2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57872" y="1710048"/>
                <a:ext cx="11017452" cy="5011386"/>
              </a:xfrm>
              <a:blipFill>
                <a:blip r:embed="rId3"/>
                <a:stretch>
                  <a:fillRect l="-1328" t="-194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AF8740F4-4E29-46F0-AE17-D5002ED9BE37}"/>
              </a:ext>
            </a:extLst>
          </p:cNvPr>
          <p:cNvSpPr txBox="1"/>
          <p:nvPr/>
        </p:nvSpPr>
        <p:spPr>
          <a:xfrm>
            <a:off x="4901025" y="40479"/>
            <a:ext cx="27815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Topic: Graphing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CED037-8382-4B21-A2F7-E1E36A739063}"/>
              </a:ext>
            </a:extLst>
          </p:cNvPr>
          <p:cNvSpPr txBox="1"/>
          <p:nvPr/>
        </p:nvSpPr>
        <p:spPr>
          <a:xfrm>
            <a:off x="4901025" y="579192"/>
            <a:ext cx="6672593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EQ – When do I use a line graph?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63EF86-F88E-4651-A0D0-6F8AFC411E31}"/>
              </a:ext>
            </a:extLst>
          </p:cNvPr>
          <p:cNvSpPr txBox="1"/>
          <p:nvPr/>
        </p:nvSpPr>
        <p:spPr>
          <a:xfrm>
            <a:off x="9537046" y="103382"/>
            <a:ext cx="241430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Date: XX/XX/2021</a:t>
            </a:r>
          </a:p>
        </p:txBody>
      </p:sp>
    </p:spTree>
    <p:extLst>
      <p:ext uri="{BB962C8B-B14F-4D97-AF65-F5344CB8AC3E}">
        <p14:creationId xmlns:p14="http://schemas.microsoft.com/office/powerpoint/2010/main" val="42690193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51983" y="1298661"/>
            <a:ext cx="0" cy="555933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27815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Topic: Graphing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93720" y="211358"/>
            <a:ext cx="241430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Date: XX/XX/2021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37124"/>
            <a:ext cx="7788873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EQ – What do I use line graphs?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6A9E84E-8513-465B-8CA9-D1DD4FAC2317}"/>
              </a:ext>
            </a:extLst>
          </p:cNvPr>
          <p:cNvSpPr txBox="1"/>
          <p:nvPr/>
        </p:nvSpPr>
        <p:spPr>
          <a:xfrm>
            <a:off x="124245" y="5756432"/>
            <a:ext cx="2027738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399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399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399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399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399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9070ED6-4BED-4D32-94DD-D50FBBDA7771}"/>
              </a:ext>
            </a:extLst>
          </p:cNvPr>
          <p:cNvSpPr txBox="1"/>
          <p:nvPr/>
        </p:nvSpPr>
        <p:spPr>
          <a:xfrm>
            <a:off x="54715" y="1490008"/>
            <a:ext cx="21667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What are line graphs?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B98AF6-C845-4C3F-804D-986DB17E48F9}"/>
              </a:ext>
            </a:extLst>
          </p:cNvPr>
          <p:cNvSpPr txBox="1"/>
          <p:nvPr/>
        </p:nvSpPr>
        <p:spPr>
          <a:xfrm>
            <a:off x="2336426" y="1350976"/>
            <a:ext cx="9044747" cy="39130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Line graphs are used to show trends in </a:t>
            </a:r>
            <a:r>
              <a:rPr lang="en-AU" sz="2400" b="1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continuous data</a:t>
            </a:r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. Continuous data is data that can be measured.</a:t>
            </a:r>
          </a:p>
          <a:p>
            <a:pPr>
              <a:lnSpc>
                <a:spcPct val="150000"/>
              </a:lnSpc>
            </a:pPr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Examples include: Time, height, weight, length, wind speed, temperature, voltage</a:t>
            </a:r>
          </a:p>
          <a:p>
            <a:pPr>
              <a:lnSpc>
                <a:spcPct val="150000"/>
              </a:lnSpc>
            </a:pPr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When line graphs are used correctly they generally show smooth curves or a straight line. If a line graph appears jagged, you need to check whether the line graph is appropriate to use.</a:t>
            </a:r>
          </a:p>
        </p:txBody>
      </p:sp>
    </p:spTree>
    <p:extLst>
      <p:ext uri="{BB962C8B-B14F-4D97-AF65-F5344CB8AC3E}">
        <p14:creationId xmlns:p14="http://schemas.microsoft.com/office/powerpoint/2010/main" val="2043037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D30D8-FE56-40C4-B983-D0C8B332F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Text, p. 86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1BE6736-104D-48C8-84D4-2E0A42D3B5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30548995"/>
              </p:ext>
            </p:extLst>
          </p:nvPr>
        </p:nvGraphicFramePr>
        <p:xfrm>
          <a:off x="827525" y="2446168"/>
          <a:ext cx="10432421" cy="3114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0031">
                  <a:extLst>
                    <a:ext uri="{9D8B030D-6E8A-4147-A177-3AD203B41FA5}">
                      <a16:colId xmlns:a16="http://schemas.microsoft.com/office/drawing/2014/main" val="3534786255"/>
                    </a:ext>
                  </a:extLst>
                </a:gridCol>
                <a:gridCol w="673417">
                  <a:extLst>
                    <a:ext uri="{9D8B030D-6E8A-4147-A177-3AD203B41FA5}">
                      <a16:colId xmlns:a16="http://schemas.microsoft.com/office/drawing/2014/main" val="1045616585"/>
                    </a:ext>
                  </a:extLst>
                </a:gridCol>
                <a:gridCol w="783543">
                  <a:extLst>
                    <a:ext uri="{9D8B030D-6E8A-4147-A177-3AD203B41FA5}">
                      <a16:colId xmlns:a16="http://schemas.microsoft.com/office/drawing/2014/main" val="3968626932"/>
                    </a:ext>
                  </a:extLst>
                </a:gridCol>
                <a:gridCol w="783543">
                  <a:extLst>
                    <a:ext uri="{9D8B030D-6E8A-4147-A177-3AD203B41FA5}">
                      <a16:colId xmlns:a16="http://schemas.microsoft.com/office/drawing/2014/main" val="2092158311"/>
                    </a:ext>
                  </a:extLst>
                </a:gridCol>
                <a:gridCol w="783543">
                  <a:extLst>
                    <a:ext uri="{9D8B030D-6E8A-4147-A177-3AD203B41FA5}">
                      <a16:colId xmlns:a16="http://schemas.microsoft.com/office/drawing/2014/main" val="1228179323"/>
                    </a:ext>
                  </a:extLst>
                </a:gridCol>
                <a:gridCol w="783543">
                  <a:extLst>
                    <a:ext uri="{9D8B030D-6E8A-4147-A177-3AD203B41FA5}">
                      <a16:colId xmlns:a16="http://schemas.microsoft.com/office/drawing/2014/main" val="4154848996"/>
                    </a:ext>
                  </a:extLst>
                </a:gridCol>
                <a:gridCol w="783543">
                  <a:extLst>
                    <a:ext uri="{9D8B030D-6E8A-4147-A177-3AD203B41FA5}">
                      <a16:colId xmlns:a16="http://schemas.microsoft.com/office/drawing/2014/main" val="72686623"/>
                    </a:ext>
                  </a:extLst>
                </a:gridCol>
                <a:gridCol w="783543">
                  <a:extLst>
                    <a:ext uri="{9D8B030D-6E8A-4147-A177-3AD203B41FA5}">
                      <a16:colId xmlns:a16="http://schemas.microsoft.com/office/drawing/2014/main" val="3557433075"/>
                    </a:ext>
                  </a:extLst>
                </a:gridCol>
                <a:gridCol w="783543">
                  <a:extLst>
                    <a:ext uri="{9D8B030D-6E8A-4147-A177-3AD203B41FA5}">
                      <a16:colId xmlns:a16="http://schemas.microsoft.com/office/drawing/2014/main" val="879115108"/>
                    </a:ext>
                  </a:extLst>
                </a:gridCol>
                <a:gridCol w="783543">
                  <a:extLst>
                    <a:ext uri="{9D8B030D-6E8A-4147-A177-3AD203B41FA5}">
                      <a16:colId xmlns:a16="http://schemas.microsoft.com/office/drawing/2014/main" val="1367463900"/>
                    </a:ext>
                  </a:extLst>
                </a:gridCol>
                <a:gridCol w="783543">
                  <a:extLst>
                    <a:ext uri="{9D8B030D-6E8A-4147-A177-3AD203B41FA5}">
                      <a16:colId xmlns:a16="http://schemas.microsoft.com/office/drawing/2014/main" val="2659295164"/>
                    </a:ext>
                  </a:extLst>
                </a:gridCol>
                <a:gridCol w="783543">
                  <a:extLst>
                    <a:ext uri="{9D8B030D-6E8A-4147-A177-3AD203B41FA5}">
                      <a16:colId xmlns:a16="http://schemas.microsoft.com/office/drawing/2014/main" val="320816261"/>
                    </a:ext>
                  </a:extLst>
                </a:gridCol>
                <a:gridCol w="783543">
                  <a:extLst>
                    <a:ext uri="{9D8B030D-6E8A-4147-A177-3AD203B41FA5}">
                      <a16:colId xmlns:a16="http://schemas.microsoft.com/office/drawing/2014/main" val="35217006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AU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Jun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Jul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Aug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Nov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6174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Mean Maximum Temp (˚C)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31.6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29.6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25.9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19.5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18.4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19.1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23.4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26.8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29.3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313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Mean Minimum Temp (˚C)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18.1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18.4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13.8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11.6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14.4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77150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Mean rainfall (mm)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19.1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13.4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19.7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87.7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127.3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144.5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125.5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82.8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38.8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21.7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10.6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023261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7E78D31-91AD-4D5C-88AB-D10229C2CCC2}"/>
              </a:ext>
            </a:extLst>
          </p:cNvPr>
          <p:cNvSpPr txBox="1"/>
          <p:nvPr/>
        </p:nvSpPr>
        <p:spPr>
          <a:xfrm>
            <a:off x="932054" y="1888177"/>
            <a:ext cx="86750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Perth Temperature and Rainfall data, (1994-2020)</a:t>
            </a:r>
          </a:p>
        </p:txBody>
      </p:sp>
    </p:spTree>
    <p:extLst>
      <p:ext uri="{BB962C8B-B14F-4D97-AF65-F5344CB8AC3E}">
        <p14:creationId xmlns:p14="http://schemas.microsoft.com/office/powerpoint/2010/main" val="23490037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D30D8-FE56-40C4-B983-D0C8B332F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Text, p. 86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70DA8BC8-FE4A-401E-B2AB-2344A7D767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64430970"/>
              </p:ext>
            </p:extLst>
          </p:nvPr>
        </p:nvGraphicFramePr>
        <p:xfrm>
          <a:off x="1023938" y="1674421"/>
          <a:ext cx="9616353" cy="48807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916936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89B43-6600-440B-86BA-D5B72B36C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1FFD49-0CB8-4FCF-A88F-9FF0D6533B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Complete Questions 1 -4 on page 87 of your text.</a:t>
            </a:r>
          </a:p>
        </p:txBody>
      </p:sp>
    </p:spTree>
    <p:extLst>
      <p:ext uri="{BB962C8B-B14F-4D97-AF65-F5344CB8AC3E}">
        <p14:creationId xmlns:p14="http://schemas.microsoft.com/office/powerpoint/2010/main" val="205054257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7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7D25652-70A2-4111-A862-DCDB0F791EBA}">
  <we:reference id="wa104379997" version="2.0.0.0" store="en-US" storeType="OMEX"/>
  <we:alternateReferences>
    <we:reference id="wa104379997" version="2.0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3248</TotalTime>
  <Words>362</Words>
  <Application>Microsoft Office PowerPoint</Application>
  <PresentationFormat>Widescreen</PresentationFormat>
  <Paragraphs>91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Calibri</vt:lpstr>
      <vt:lpstr>Cambria Math</vt:lpstr>
      <vt:lpstr>Tw Cen MT</vt:lpstr>
      <vt:lpstr>Tw Cen MT Condensed</vt:lpstr>
      <vt:lpstr>Wingdings 3</vt:lpstr>
      <vt:lpstr>Integral</vt:lpstr>
      <vt:lpstr>Topic: Graphing EQ: When do I use Line Graphs? </vt:lpstr>
      <vt:lpstr>FiVe Questions</vt:lpstr>
      <vt:lpstr>PowerPoint Presentation</vt:lpstr>
      <vt:lpstr>Text, p. 86</vt:lpstr>
      <vt:lpstr>Text, p. 86</vt:lpstr>
      <vt:lpstr>Task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Rates Continued </dc:title>
  <dc:creator>Travis Power</dc:creator>
  <cp:lastModifiedBy>PARLEVLIET Magdeline [Baldivis Secondary College]</cp:lastModifiedBy>
  <cp:revision>92</cp:revision>
  <cp:lastPrinted>2018-05-03T00:24:35Z</cp:lastPrinted>
  <dcterms:created xsi:type="dcterms:W3CDTF">2018-02-13T05:48:53Z</dcterms:created>
  <dcterms:modified xsi:type="dcterms:W3CDTF">2021-07-25T05:12:34Z</dcterms:modified>
</cp:coreProperties>
</file>
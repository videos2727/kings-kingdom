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6"/>
  </p:notesMasterIdLst>
  <p:sldIdLst>
    <p:sldId id="256" r:id="rId2"/>
    <p:sldId id="258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5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08"/>
    <p:restoredTop sz="80529"/>
  </p:normalViewPr>
  <p:slideViewPr>
    <p:cSldViewPr snapToGrid="0" snapToObjects="1">
      <p:cViewPr varScale="1">
        <p:scale>
          <a:sx n="59" d="100"/>
          <a:sy n="59" d="100"/>
        </p:scale>
        <p:origin x="1414" y="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18165-0170-2941-991B-18A2212B78B3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85900-6D8D-764D-B313-5085C29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88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62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1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26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6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47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6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82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5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11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3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21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22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8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89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22" r:id="rId6"/>
    <p:sldLayoutId id="2147483717" r:id="rId7"/>
    <p:sldLayoutId id="2147483718" r:id="rId8"/>
    <p:sldLayoutId id="2147483719" r:id="rId9"/>
    <p:sldLayoutId id="2147483721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78499B07-4D31-4680-AC43-C75F508789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755" b="578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D2AB57-C5EC-7F44-AAAE-A5DE89B56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Topic: Stem and Leaf Plots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EQ: How do you compare data using back-to-back stem and leaf plots?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90636-D7CC-4142-B16F-C7D948EA8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Year 11 Essentials 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9154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296FE8-0203-054B-9CB6-B1921BF0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612D277-6DA9-734F-9E88-92F088FC9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7807" y="2140858"/>
                <a:ext cx="7651322" cy="3760891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What discount did I receive if I paid $200 for an item that usually sells for $250? What percentage is this of the original?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What is the chance of drawing a spade from a deck of 52 card?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32.8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sz="2400" dirty="0"/>
                  <a:t>4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 pay $12.50 per week for a magazine subscription. On average, how much does it cost me each month?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2342 - _______ = 1127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612D277-6DA9-734F-9E88-92F088FC9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7807" y="2140858"/>
                <a:ext cx="7651322" cy="3760891"/>
              </a:xfrm>
              <a:blipFill>
                <a:blip r:embed="rId2"/>
                <a:stretch>
                  <a:fillRect l="-2470" t="-1459" r="-1275" b="-126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4D2EA8-5BB9-429B-B2FA-E1A7B811A115}"/>
                  </a:ext>
                </a:extLst>
              </p:cNvPr>
              <p:cNvSpPr txBox="1"/>
              <p:nvPr/>
            </p:nvSpPr>
            <p:spPr>
              <a:xfrm>
                <a:off x="8264323" y="2048719"/>
                <a:ext cx="3680749" cy="2855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2800" dirty="0">
                    <a:solidFill>
                      <a:srgbClr val="C00000"/>
                    </a:solidFill>
                  </a:rPr>
                  <a:t>20% discount, 80% of original price</a:t>
                </a: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dirty="0">
                    <a:solidFill>
                      <a:srgbClr val="C00000"/>
                    </a:solidFill>
                  </a:rPr>
                  <a:t>or 0.25 or 25%</a:t>
                </a:r>
              </a:p>
              <a:p>
                <a:pPr marL="342900" indent="-342900">
                  <a:buAutoNum type="arabicPeriod"/>
                </a:pPr>
                <a:r>
                  <a:rPr lang="en-AU" sz="2800" dirty="0">
                    <a:solidFill>
                      <a:srgbClr val="C00000"/>
                    </a:solidFill>
                  </a:rPr>
                  <a:t>8.2</a:t>
                </a:r>
              </a:p>
              <a:p>
                <a:pPr marL="342900" indent="-342900">
                  <a:buAutoNum type="arabicPeriod"/>
                </a:pPr>
                <a:r>
                  <a:rPr lang="en-AU" sz="2800" dirty="0">
                    <a:solidFill>
                      <a:srgbClr val="C00000"/>
                    </a:solidFill>
                  </a:rPr>
                  <a:t>$50</a:t>
                </a:r>
              </a:p>
              <a:p>
                <a:pPr marL="342900" indent="-342900">
                  <a:buAutoNum type="arabicPeriod"/>
                </a:pPr>
                <a:r>
                  <a:rPr lang="en-AU" sz="2800" dirty="0">
                    <a:solidFill>
                      <a:srgbClr val="C00000"/>
                    </a:solidFill>
                  </a:rPr>
                  <a:t>1 215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4D2EA8-5BB9-429B-B2FA-E1A7B811A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323" y="2048719"/>
                <a:ext cx="3680749" cy="2855141"/>
              </a:xfrm>
              <a:prstGeom prst="rect">
                <a:avLst/>
              </a:prstGeom>
              <a:blipFill>
                <a:blip r:embed="rId3"/>
                <a:stretch>
                  <a:fillRect l="-3483" t="-2350" r="-3980" b="-53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EA7127A-60EC-4C69-B5CA-D2D180A43D4A}"/>
              </a:ext>
            </a:extLst>
          </p:cNvPr>
          <p:cNvSpPr txBox="1"/>
          <p:nvPr/>
        </p:nvSpPr>
        <p:spPr>
          <a:xfrm>
            <a:off x="5385122" y="43305"/>
            <a:ext cx="68068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Topic: Stem and Leaf Plots</a:t>
            </a:r>
            <a:br>
              <a:rPr lang="en-US" sz="3200" dirty="0"/>
            </a:br>
            <a:r>
              <a:rPr lang="en-US" sz="2400" dirty="0"/>
              <a:t>EQ: How do you compare data using back-to-back stem and leaf plots?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0602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509CC4-A1C6-4B41-9ACF-0532BA2E743A}"/>
              </a:ext>
            </a:extLst>
          </p:cNvPr>
          <p:cNvCxnSpPr>
            <a:cxnSpLocks/>
          </p:cNvCxnSpPr>
          <p:nvPr/>
        </p:nvCxnSpPr>
        <p:spPr>
          <a:xfrm>
            <a:off x="1800782" y="0"/>
            <a:ext cx="0" cy="6412675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BB6050-B565-6C4D-B5D8-73AE5094423F}"/>
              </a:ext>
            </a:extLst>
          </p:cNvPr>
          <p:cNvCxnSpPr>
            <a:cxnSpLocks/>
          </p:cNvCxnSpPr>
          <p:nvPr/>
        </p:nvCxnSpPr>
        <p:spPr>
          <a:xfrm>
            <a:off x="0" y="977138"/>
            <a:ext cx="12326587" cy="0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104402" y="1161107"/>
            <a:ext cx="169638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What is a back-to-back stem and leaf plot?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What is an example of a stem and leaf plot?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20A70FD-D807-7A49-8E74-0CE0048E0A71}"/>
              </a:ext>
            </a:extLst>
          </p:cNvPr>
          <p:cNvSpPr txBox="1">
            <a:spLocks/>
          </p:cNvSpPr>
          <p:nvPr/>
        </p:nvSpPr>
        <p:spPr>
          <a:xfrm>
            <a:off x="1854312" y="111950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Topic: Stem and Leaf Plots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EQ: How do you compare data using back-to-back stem and leaf plots?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E38AA-D4DA-AE47-9B13-28F3DCF39763}"/>
              </a:ext>
            </a:extLst>
          </p:cNvPr>
          <p:cNvSpPr txBox="1"/>
          <p:nvPr/>
        </p:nvSpPr>
        <p:spPr>
          <a:xfrm>
            <a:off x="1854312" y="1161107"/>
            <a:ext cx="978857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back-to-back stem-and-leaf plot is </a:t>
            </a:r>
            <a:r>
              <a:rPr lang="en-US" sz="240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method for comparing two data distributions by attaching two sets of 'leaves' to the same 'stem’.</a:t>
            </a: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Age of shoppers entering office supplies store</a:t>
            </a:r>
            <a:r>
              <a:rPr lang="en-US" sz="2400" dirty="0"/>
              <a:t> </a:t>
            </a: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A6EACF-CD74-4690-B5C0-47A53BCD3654}"/>
              </a:ext>
            </a:extLst>
          </p:cNvPr>
          <p:cNvCxnSpPr/>
          <p:nvPr/>
        </p:nvCxnSpPr>
        <p:spPr>
          <a:xfrm>
            <a:off x="4896091" y="4213185"/>
            <a:ext cx="0" cy="1817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288107-425C-42AE-817D-CEC015AABBB9}"/>
              </a:ext>
            </a:extLst>
          </p:cNvPr>
          <p:cNvCxnSpPr/>
          <p:nvPr/>
        </p:nvCxnSpPr>
        <p:spPr>
          <a:xfrm>
            <a:off x="5766122" y="4213185"/>
            <a:ext cx="0" cy="1817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76E566-E1B8-4874-9D8C-52FFC4664438}"/>
              </a:ext>
            </a:extLst>
          </p:cNvPr>
          <p:cNvCxnSpPr>
            <a:cxnSpLocks/>
          </p:cNvCxnSpPr>
          <p:nvPr/>
        </p:nvCxnSpPr>
        <p:spPr>
          <a:xfrm flipH="1">
            <a:off x="3838875" y="4517987"/>
            <a:ext cx="2972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2483322-2547-483C-934B-3BE0A0B5F493}"/>
              </a:ext>
            </a:extLst>
          </p:cNvPr>
          <p:cNvSpPr txBox="1"/>
          <p:nvPr/>
        </p:nvSpPr>
        <p:spPr>
          <a:xfrm>
            <a:off x="3724355" y="4213185"/>
            <a:ext cx="3259226" cy="1572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Females    Stem       Males</a:t>
            </a:r>
          </a:p>
          <a:p>
            <a:pPr>
              <a:lnSpc>
                <a:spcPct val="150000"/>
              </a:lnSpc>
            </a:pPr>
            <a:r>
              <a:rPr lang="en-US" dirty="0"/>
              <a:t>8  7  5  5  2         2         6  8</a:t>
            </a:r>
          </a:p>
          <a:p>
            <a:pPr>
              <a:lnSpc>
                <a:spcPct val="150000"/>
              </a:lnSpc>
            </a:pPr>
            <a:r>
              <a:rPr lang="en-US" dirty="0"/>
              <a:t>    6  4  4  3         3         0  1  7  8  9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        1         4         1  4  5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795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2F46A-D685-504A-BFDB-28529B911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8111" y="1100562"/>
            <a:ext cx="6466356" cy="5572556"/>
          </a:xfrm>
        </p:spPr>
        <p:txBody>
          <a:bodyPr>
            <a:normAutofit/>
          </a:bodyPr>
          <a:lstStyle/>
          <a:p>
            <a:r>
              <a:rPr lang="en-AU" dirty="0"/>
              <a:t>Using the data you collected yesterday to create a stem and leaf plot that shows the height of students by gender or by age.</a:t>
            </a:r>
          </a:p>
          <a:p>
            <a:endParaRPr lang="en-AU" dirty="0"/>
          </a:p>
          <a:p>
            <a:r>
              <a:rPr lang="en-AU" b="1" dirty="0"/>
              <a:t>Experiment</a:t>
            </a:r>
          </a:p>
          <a:p>
            <a:r>
              <a:rPr lang="en-AU" dirty="0"/>
              <a:t>Organise the data you collected in the previous lesson on height by age, genders or some other factors. Use this data to create back to back stem plot.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AU" sz="1800" dirty="0"/>
              <a:t>What impact does this reorganisation have on other trends that you found on your analysis yesterday?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AU" sz="1800" dirty="0"/>
              <a:t>How do you think reorganising the data in a different way would change the shape of the data?</a:t>
            </a:r>
          </a:p>
          <a:p>
            <a:pPr marL="292608" lvl="1">
              <a:buNone/>
            </a:pPr>
            <a:r>
              <a:rPr lang="en-AU" sz="2200" dirty="0"/>
              <a:t>Complete the Apply section</a:t>
            </a:r>
          </a:p>
          <a:p>
            <a:pPr marL="292608" lvl="1">
              <a:buNone/>
            </a:pPr>
            <a:r>
              <a:rPr lang="en-AU" sz="2200" dirty="0"/>
              <a:t>Complete the worksheet on back to back stem and </a:t>
            </a:r>
            <a:r>
              <a:rPr lang="en-AU" sz="2200"/>
              <a:t>leaf plots.</a:t>
            </a:r>
            <a:endParaRPr lang="en-AU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5598562" y="288779"/>
            <a:ext cx="3815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TASK: Experiment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AC35E60-EB3E-4C49-B78B-7B9A5B3B5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33" y="92597"/>
            <a:ext cx="3517567" cy="3030589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Topic: Stem and Leaf Plots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EQ: How do you compare data using back-to-back stem and leaf plots?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BA0E38-D971-9E4D-82D9-8F0DF458E478}"/>
              </a:ext>
            </a:extLst>
          </p:cNvPr>
          <p:cNvSpPr txBox="1"/>
          <p:nvPr/>
        </p:nvSpPr>
        <p:spPr>
          <a:xfrm>
            <a:off x="10143081" y="288779"/>
            <a:ext cx="1894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Page 95</a:t>
            </a:r>
          </a:p>
        </p:txBody>
      </p:sp>
    </p:spTree>
    <p:extLst>
      <p:ext uri="{BB962C8B-B14F-4D97-AF65-F5344CB8AC3E}">
        <p14:creationId xmlns:p14="http://schemas.microsoft.com/office/powerpoint/2010/main" val="33409847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5808</TotalTime>
  <Words>378</Words>
  <Application>Microsoft Office PowerPoint</Application>
  <PresentationFormat>Widescreen</PresentationFormat>
  <Paragraphs>44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Wingdings</vt:lpstr>
      <vt:lpstr>RetrospectVTI</vt:lpstr>
      <vt:lpstr>Topic: Stem and Leaf Plots EQ: How do you compare data using back-to-back stem and leaf plots?</vt:lpstr>
      <vt:lpstr>First 5</vt:lpstr>
      <vt:lpstr>PowerPoint Presentation</vt:lpstr>
      <vt:lpstr>Topic: Stem and Leaf Plots EQ: How do you compare data using back-to-back stem and leaf plots?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Conversion graphs for continuous data EQ:</dc:title>
  <dc:creator>DIXON Emily [Baldivis Secondary College]</dc:creator>
  <cp:lastModifiedBy>Jade Gregory</cp:lastModifiedBy>
  <cp:revision>36</cp:revision>
  <dcterms:created xsi:type="dcterms:W3CDTF">2021-07-26T09:22:31Z</dcterms:created>
  <dcterms:modified xsi:type="dcterms:W3CDTF">2021-08-07T04:06:10Z</dcterms:modified>
</cp:coreProperties>
</file>
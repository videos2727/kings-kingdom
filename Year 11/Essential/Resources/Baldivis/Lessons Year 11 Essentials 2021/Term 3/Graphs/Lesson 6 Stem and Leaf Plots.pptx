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  <p:sldMasterId id="2147483789" r:id="rId2"/>
  </p:sldMasterIdLst>
  <p:notesMasterIdLst>
    <p:notesMasterId r:id="rId19"/>
  </p:notesMasterIdLst>
  <p:sldIdLst>
    <p:sldId id="266" r:id="rId3"/>
    <p:sldId id="301" r:id="rId4"/>
    <p:sldId id="289" r:id="rId5"/>
    <p:sldId id="269" r:id="rId6"/>
    <p:sldId id="322" r:id="rId7"/>
    <p:sldId id="325" r:id="rId8"/>
    <p:sldId id="324" r:id="rId9"/>
    <p:sldId id="321" r:id="rId10"/>
    <p:sldId id="260" r:id="rId11"/>
    <p:sldId id="263" r:id="rId12"/>
    <p:sldId id="264" r:id="rId13"/>
    <p:sldId id="327" r:id="rId14"/>
    <p:sldId id="270" r:id="rId15"/>
    <p:sldId id="328" r:id="rId16"/>
    <p:sldId id="315" r:id="rId17"/>
    <p:sldId id="326" r:id="rId1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70" autoAdjust="0"/>
    <p:restoredTop sz="67753" autoAdjust="0"/>
  </p:normalViewPr>
  <p:slideViewPr>
    <p:cSldViewPr snapToGrid="0" snapToObjects="1">
      <p:cViewPr>
        <p:scale>
          <a:sx n="63" d="100"/>
          <a:sy n="63" d="100"/>
        </p:scale>
        <p:origin x="63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05/08/2021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039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6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6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Non</a:t>
            </a:r>
            <a:r>
              <a:rPr lang="en-AU" baseline="0" dirty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73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44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25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9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50-3732-4085-B821-8D95A00F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0BD6-6C9C-4833-9C63-B891AD18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128D-1623-4AEF-AECF-EB8E55B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3EDC-EE94-4B13-8A27-214BAB2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79F2-7893-415D-A8A0-75A37F21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54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F2F0-C214-41D2-BD58-32CDEFDA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21D6-464D-4370-8B02-00648399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1945-0A49-411A-84DE-D6F6005D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97DB-066A-4014-B1DA-E3AD50C4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7C1F-6DC3-4ACA-A4E1-2D63BA5D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62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08AC-4D77-4A34-8EC7-6718E90C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D3A0-E6A2-41FA-BA9B-3C72FDB2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9D8D-4329-4415-8FFA-B4C65D6A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4E7A-EC8F-403D-BD54-C43E09A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44CE-EC5F-4D67-9156-409DC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87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3291-6B4A-40E1-965A-9F52B65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CE14-0E47-4FF0-97F4-F958EF254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4ADE8-A415-4ED3-815A-B3046964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BF39-40C2-4AA2-9593-4D5A7EAE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EC1A-D690-4139-BC8A-A98F481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25EF-989E-40E3-87FD-7C1F531D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13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1F21-BC11-4D58-A25F-4BBF302E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7BF0-8788-42B7-BE9F-F0A5CB64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2C53-1B52-415D-88AD-13E607F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3210F-8DEE-45E2-9564-D4A9265B8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7D54-7A56-4AEF-9EEB-873A665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73C-8EE2-4EF4-949E-84625D6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43CBE-6F86-4734-8FDC-4F87514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9D28C-EBEC-4EC4-B676-1BE626E1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23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5C6-6F59-4998-8C3F-E2B471B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98C3D-356A-48C0-B089-3CFD4446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B696-EAAF-4B81-A5E2-1F1B439C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76CBE-872B-4FD9-A1F3-508A335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966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2263-F22D-44F8-B7AF-40C10D7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B70E-10DC-4B06-98EF-BCE97075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1CCE-16F8-4D26-91C6-70E5C3A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94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DC1-2E9B-4A14-BD73-6F8E2D6B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4EF-1EC0-4C5C-8F29-AD16A6D7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F0E-AE3E-4B9E-B436-7CE63F9E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20B9-9F67-4639-9992-8E981A2E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BF8E-D080-4E30-9349-F01380E3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87-BEFB-4DA0-A0AA-40251E81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09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E759-B9F7-4813-AC0F-4582054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FE92-0FF9-4019-83F9-ECEB93D0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61FC7-0F94-436C-ACCE-814A5DB03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793AC-B347-43B3-80BC-E5788BE9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E25E-318E-440D-B7DA-65C56F03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3471-31EF-40AC-A6C9-8C52E01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68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D67-6F35-4EC6-A514-49D6EB41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B34B-E6B4-43EA-A2E2-612A682C7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D5E0E-9C96-4B56-B4FC-D5C75CA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AE32-8507-4F8B-81F3-4260154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3A7-7F91-43C9-A92C-A58188B1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63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D1BEF-B6AC-48BA-B79A-0D1D323BC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BD0A-4B8D-4F79-84F1-91A399A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98A1-4684-4891-87D0-395CF42A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A216-BEA2-4419-B9BD-BAFCD52A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55D5-87AC-47AE-A6B0-E1D4CEC2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2608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426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54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465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567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9216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359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796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244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555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205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289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4266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53CEB-9FEF-4D18-A854-87CF83AE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C417-8E46-4DA7-9FF1-7C6116A9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904E-587C-4460-8F8C-5D75BB5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8683-03E8-4534-A2C0-79BDE979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344E-039B-410F-8421-AF33DFB5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51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994A4E0-DE82-4E5B-BEF7-C95428A639BA}" type="datetimeFigureOut">
              <a:rPr lang="en-AU" smtClean="0"/>
              <a:t>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58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Stem and leaf plots</a:t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How do we draw and </a:t>
            </a:r>
            <a:r>
              <a:rPr lang="en-US" sz="4000" dirty="0" err="1">
                <a:solidFill>
                  <a:schemeClr val="tx1"/>
                </a:solidFill>
                <a:latin typeface="Tw Cen MT Condensed" panose="020B0606020104020203" pitchFamily="34" charset="0"/>
              </a:rPr>
              <a:t>analyse</a:t>
            </a: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 stem and leaf plots?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0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26" y="80482"/>
            <a:ext cx="9720072" cy="1499616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" y="1150620"/>
            <a:ext cx="11425744" cy="594360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buAutoNum type="arabicParenR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Jenny wants to paint a wall in her house, which is 80 square metres in area. If paint comes in 4 L tins and each tin covers 7 square metres, how many cans will Jenny need to buy?</a:t>
            </a:r>
          </a:p>
          <a:p>
            <a:pPr marL="0" lvl="0" indent="0">
              <a:buNone/>
            </a:pP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>
              <a:buNone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2) </a:t>
            </a:r>
            <a:r>
              <a:rPr lang="en-A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Robbie’s weekly pay of $1600 is increased by 17%.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Approximately what is his new pay?</a:t>
            </a:r>
          </a:p>
          <a:p>
            <a:pPr marL="0" lvl="0" indent="0" algn="l">
              <a:buNone/>
            </a:pP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3) 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Mrs Green starts to summarize her Algebra lesson for the day at 8 minutes past 10. Which clock shows the correct time?</a:t>
            </a:r>
          </a:p>
          <a:p>
            <a:endParaRPr lang="en-AU" sz="2400" dirty="0"/>
          </a:p>
          <a:p>
            <a:endParaRPr lang="en-AU" sz="2400" dirty="0"/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/>
          </a:p>
          <a:p>
            <a:pPr marL="0" lvl="0" indent="0" algn="l">
              <a:buNone/>
            </a:pPr>
            <a:r>
              <a:rPr lang="en-AU" sz="2000" dirty="0"/>
              <a:t>4) </a:t>
            </a:r>
            <a:r>
              <a:rPr lang="en-AU" sz="2000" dirty="0">
                <a:solidFill>
                  <a:schemeClr val="tx1"/>
                </a:solidFill>
              </a:rPr>
              <a:t>99800, 99820, 99840, 99860, _______</a:t>
            </a:r>
          </a:p>
          <a:p>
            <a:pPr marL="0" indent="0" algn="l">
              <a:buNone/>
            </a:pPr>
            <a:r>
              <a:rPr lang="en-AU" sz="2000" dirty="0">
                <a:solidFill>
                  <a:schemeClr val="tx1"/>
                </a:solidFill>
              </a:rPr>
              <a:t>Write the number next in the sequence.</a:t>
            </a:r>
          </a:p>
          <a:p>
            <a:pPr marL="0" indent="0" algn="l">
              <a:buNone/>
            </a:pPr>
            <a:endParaRPr lang="en-AU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sz="2000" dirty="0">
                <a:solidFill>
                  <a:schemeClr val="tx1"/>
                </a:solidFill>
              </a:rPr>
              <a:t>5) </a:t>
            </a:r>
            <a:r>
              <a:rPr kumimoji="0" lang="en-A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price of a refrigerator is marked as $1500. What would be the sale price after a discount of 20%?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indent="0" algn="l">
              <a:buNone/>
            </a:pPr>
            <a:endParaRPr lang="en-AU" sz="20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A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40479"/>
            <a:ext cx="2903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Stem and Leaf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414920"/>
            <a:ext cx="6672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draw and analyse stem and leaf plots?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9F4CF-75A4-4B37-8E71-5FD566597B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08114" y="3429000"/>
            <a:ext cx="5689436" cy="158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53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analyse and draw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Stem and Leaf 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5698B7-812B-45B4-9845-5749A28CC9C7}"/>
              </a:ext>
            </a:extLst>
          </p:cNvPr>
          <p:cNvSpPr txBox="1"/>
          <p:nvPr/>
        </p:nvSpPr>
        <p:spPr>
          <a:xfrm>
            <a:off x="2363102" y="1490008"/>
            <a:ext cx="9544926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Stem and Leaf plots are used to display a single data set or two related data sets.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They help to show distribution like histograms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and mode can easily be read as the data is in order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77754"/>
            <a:ext cx="1218882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7345"/>
            <a:ext cx="453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Topic: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gment Core" panose="02000504040000020003" pitchFamily="50" charset="0"/>
                <a:ea typeface="+mn-ea"/>
                <a:cs typeface="+mn-cs"/>
              </a:rPr>
              <a:t>How do we draw Stem and Leaf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545" y="739753"/>
            <a:ext cx="1060762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EQ – How do we draw and analyse Stem and Leaf Plots?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7608" y="1423916"/>
            <a:ext cx="9544926" cy="458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Data is shows in two parts: the Stem and the Leaf</a:t>
            </a:r>
          </a:p>
          <a:p>
            <a:pPr marL="1257300" marR="0" lvl="2" indent="-3429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Stem is the tens part of the number (left side)</a:t>
            </a:r>
          </a:p>
          <a:p>
            <a:pPr marL="1257300" marR="0" lvl="2" indent="-3429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Leaf is the units part of the number (right side)</a:t>
            </a:r>
          </a:p>
          <a:p>
            <a:pPr marL="1257300" marR="0" lvl="2" indent="-3429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Eg</a:t>
            </a: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457200" marR="0" lvl="0" indent="-4572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AU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Look at your data set and see how many numbers you will need in the stem section</a:t>
            </a:r>
          </a:p>
          <a:p>
            <a:pPr marL="457200" marR="0" lvl="1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Eg</a:t>
            </a: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10, 12, 14, 26, 28, 39, 40, 50, 57, 68</a:t>
            </a:r>
          </a:p>
          <a:p>
            <a:pPr marL="457200" marR="0" lvl="1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Fill in the leaf section of the plot</a:t>
            </a:r>
          </a:p>
          <a:p>
            <a:pPr marL="742950" marR="0" lvl="0" indent="-74295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180984-3FEB-4630-950B-789EE419265C}"/>
              </a:ext>
            </a:extLst>
          </p:cNvPr>
          <p:cNvCxnSpPr/>
          <p:nvPr/>
        </p:nvCxnSpPr>
        <p:spPr>
          <a:xfrm>
            <a:off x="10115155" y="1929699"/>
            <a:ext cx="0" cy="11981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B2EBE-FA0D-4A22-AA6F-BD8C3A4C7648}"/>
              </a:ext>
            </a:extLst>
          </p:cNvPr>
          <p:cNvCxnSpPr/>
          <p:nvPr/>
        </p:nvCxnSpPr>
        <p:spPr>
          <a:xfrm>
            <a:off x="9680028" y="1929699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D8E8DE-DE2C-417B-A810-F7371BA038D4}"/>
              </a:ext>
            </a:extLst>
          </p:cNvPr>
          <p:cNvSpPr txBox="1"/>
          <p:nvPr/>
        </p:nvSpPr>
        <p:spPr>
          <a:xfrm flipH="1">
            <a:off x="9696959" y="1929698"/>
            <a:ext cx="110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2  6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C4914-6A71-46AC-8E93-D36EBFEAF06D}"/>
              </a:ext>
            </a:extLst>
          </p:cNvPr>
          <p:cNvCxnSpPr>
            <a:cxnSpLocks/>
          </p:cNvCxnSpPr>
          <p:nvPr/>
        </p:nvCxnSpPr>
        <p:spPr>
          <a:xfrm flipH="1">
            <a:off x="1011515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04E29-DC43-4E1A-8DDB-961F5A845E5A}"/>
              </a:ext>
            </a:extLst>
          </p:cNvPr>
          <p:cNvCxnSpPr>
            <a:cxnSpLocks/>
          </p:cNvCxnSpPr>
          <p:nvPr/>
        </p:nvCxnSpPr>
        <p:spPr>
          <a:xfrm>
            <a:off x="969695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4900A4-65CD-4D98-A086-99633586765D}"/>
              </a:ext>
            </a:extLst>
          </p:cNvPr>
          <p:cNvSpPr txBox="1"/>
          <p:nvPr/>
        </p:nvSpPr>
        <p:spPr>
          <a:xfrm flipH="1">
            <a:off x="968002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  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D019FD-5B5D-4C95-9748-3FC1E4A4211C}"/>
              </a:ext>
            </a:extLst>
          </p:cNvPr>
          <p:cNvCxnSpPr>
            <a:cxnSpLocks/>
          </p:cNvCxnSpPr>
          <p:nvPr/>
        </p:nvCxnSpPr>
        <p:spPr>
          <a:xfrm flipH="1">
            <a:off x="813804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FECFE4-72DB-4B5F-B7C5-670AFE6C3057}"/>
              </a:ext>
            </a:extLst>
          </p:cNvPr>
          <p:cNvCxnSpPr>
            <a:cxnSpLocks/>
          </p:cNvCxnSpPr>
          <p:nvPr/>
        </p:nvCxnSpPr>
        <p:spPr>
          <a:xfrm>
            <a:off x="771984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D30988-B21E-429E-867C-51E4FA50F543}"/>
              </a:ext>
            </a:extLst>
          </p:cNvPr>
          <p:cNvSpPr txBox="1"/>
          <p:nvPr/>
        </p:nvSpPr>
        <p:spPr>
          <a:xfrm flipH="1">
            <a:off x="770291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1    0, 2, 4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2    6, 8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3    9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4    0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5    0, 7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6    8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13BEB1-965D-4F41-80AE-29EDA47FBD70}"/>
              </a:ext>
            </a:extLst>
          </p:cNvPr>
          <p:cNvSpPr txBox="1"/>
          <p:nvPr/>
        </p:nvSpPr>
        <p:spPr>
          <a:xfrm>
            <a:off x="-95169" y="5962300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19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BEEDEC4-7AC0-4B53-8BED-C44832B3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2887"/>
            <a:ext cx="12192000" cy="692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9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53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analyse and draw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9AC9E6-E36C-40A8-AB3A-1E20E84FE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660" y="1581184"/>
            <a:ext cx="5726279" cy="515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1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0033C54-7E12-4AB6-89F3-BB135C57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4" y="53340"/>
            <a:ext cx="7542171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9DEE7CD-BB25-48CD-B6E1-93457FB4532D}"/>
              </a:ext>
            </a:extLst>
          </p:cNvPr>
          <p:cNvSpPr/>
          <p:nvPr/>
        </p:nvSpPr>
        <p:spPr>
          <a:xfrm>
            <a:off x="1828800" y="6042660"/>
            <a:ext cx="2689860" cy="70866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088A68-DAA3-405A-9AFD-94A1B2466820}"/>
              </a:ext>
            </a:extLst>
          </p:cNvPr>
          <p:cNvCxnSpPr/>
          <p:nvPr/>
        </p:nvCxnSpPr>
        <p:spPr>
          <a:xfrm flipV="1">
            <a:off x="4572000" y="5585460"/>
            <a:ext cx="4274820" cy="906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3CBC60-30BD-4FB0-B939-90CE2D574473}"/>
              </a:ext>
            </a:extLst>
          </p:cNvPr>
          <p:cNvSpPr txBox="1"/>
          <p:nvPr/>
        </p:nvSpPr>
        <p:spPr>
          <a:xfrm>
            <a:off x="9052560" y="4861560"/>
            <a:ext cx="2423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key shows us which place value the digit represents</a:t>
            </a:r>
          </a:p>
        </p:txBody>
      </p:sp>
    </p:spTree>
    <p:extLst>
      <p:ext uri="{BB962C8B-B14F-4D97-AF65-F5344CB8AC3E}">
        <p14:creationId xmlns:p14="http://schemas.microsoft.com/office/powerpoint/2010/main" val="317750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7648" y="404665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AU" sz="4000" b="1" dirty="0">
                <a:solidFill>
                  <a:prstClr val="black"/>
                </a:solidFill>
                <a:latin typeface="Calibri" panose="020F0502020204030204"/>
              </a:rPr>
              <a:t>What does the circled numbers represent?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1720642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55841" y="5445225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2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b="1" dirty="0">
                <a:solidFill>
                  <a:srgbClr val="FF0000"/>
                </a:solidFill>
                <a:latin typeface="Calibri" panose="020F0502020204030204"/>
              </a:rPr>
              <a:t>Key: 5|2=52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AU" dirty="0">
                <a:solidFill>
                  <a:srgbClr val="000000"/>
                </a:solidFill>
                <a:latin typeface="Calibri"/>
              </a:rPr>
              <a:t>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705" y="476779"/>
            <a:ext cx="8620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AU" sz="3200" b="1" dirty="0">
                <a:solidFill>
                  <a:srgbClr val="000000"/>
                </a:solidFill>
                <a:latin typeface="Calibri"/>
              </a:rPr>
              <a:t>LETS DO ONE TOGETHER: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29886" y="3241740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301585" y="3674353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3014" y="1379474"/>
            <a:ext cx="70167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sz="2800" dirty="0">
                <a:solidFill>
                  <a:srgbClr val="000000"/>
                </a:solidFill>
                <a:latin typeface="Calibri"/>
              </a:rPr>
              <a:t>Put the following data into a stem and leaf plot</a:t>
            </a:r>
          </a:p>
          <a:p>
            <a:pPr defTabSz="914400"/>
            <a:r>
              <a:rPr lang="en-AU" sz="2800" dirty="0">
                <a:solidFill>
                  <a:srgbClr val="000000"/>
                </a:solidFill>
                <a:latin typeface="Calibri"/>
              </a:rPr>
              <a:t>5, 6, 7, 8, 8, 10, 11, 11, 12, 15, 16, 17, 21, 23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4021" y="3680745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AU" dirty="0">
                <a:solidFill>
                  <a:srgbClr val="000000"/>
                </a:solidFill>
                <a:latin typeface="Calibri"/>
              </a:rPr>
              <a:t>0</a:t>
            </a:r>
          </a:p>
          <a:p>
            <a:pPr defTabSz="914400">
              <a:lnSpc>
                <a:spcPct val="150000"/>
              </a:lnSpc>
            </a:pPr>
            <a:r>
              <a:rPr lang="en-AU" dirty="0">
                <a:solidFill>
                  <a:srgbClr val="000000"/>
                </a:solidFill>
                <a:latin typeface="Calibri"/>
              </a:rPr>
              <a:t>1</a:t>
            </a:r>
          </a:p>
          <a:p>
            <a:pPr defTabSz="914400">
              <a:lnSpc>
                <a:spcPct val="150000"/>
              </a:lnSpc>
            </a:pPr>
            <a:r>
              <a:rPr lang="en-AU" dirty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5325" y="3638203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AU" dirty="0">
                <a:solidFill>
                  <a:srgbClr val="000000"/>
                </a:solidFill>
                <a:latin typeface="Calibri"/>
              </a:rPr>
              <a:t>5    6    7    8    8</a:t>
            </a:r>
            <a:br>
              <a:rPr lang="en-AU" dirty="0">
                <a:solidFill>
                  <a:srgbClr val="000000"/>
                </a:solidFill>
                <a:latin typeface="Calibri"/>
              </a:rPr>
            </a:br>
            <a:r>
              <a:rPr lang="en-AU" dirty="0">
                <a:solidFill>
                  <a:srgbClr val="000000"/>
                </a:solidFill>
                <a:latin typeface="Calibri"/>
              </a:rPr>
              <a:t>0    1    1    2    5    6    7</a:t>
            </a:r>
          </a:p>
          <a:p>
            <a:pPr defTabSz="914400">
              <a:lnSpc>
                <a:spcPct val="150000"/>
              </a:lnSpc>
            </a:pPr>
            <a:r>
              <a:rPr lang="en-AU" dirty="0">
                <a:solidFill>
                  <a:srgbClr val="000000"/>
                </a:solidFill>
                <a:latin typeface="Calibri"/>
              </a:rPr>
              <a:t>1    3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047" y="3268871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dirty="0">
                <a:solidFill>
                  <a:srgbClr val="000000"/>
                </a:solidFill>
                <a:latin typeface="Calibri"/>
              </a:rPr>
              <a:t>Key: 2|3 =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3902" y="3311413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dirty="0">
                <a:solidFill>
                  <a:srgbClr val="434342"/>
                </a:solidFill>
                <a:latin typeface="Calibri"/>
              </a:rPr>
              <a:t>Leaves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8623" y="3311413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dirty="0">
                <a:solidFill>
                  <a:srgbClr val="434342"/>
                </a:solidFill>
                <a:latin typeface="Calibri"/>
              </a:rPr>
              <a:t>Stem</a:t>
            </a: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324" y="3690043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174" y="370354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068" y="370738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221" y="370738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031" y="367435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40" y="4144013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3" y="414785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331" y="456473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3" y="455061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20" y="410147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910" y="411943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100" y="412899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981" y="414785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386" y="4132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3498214" y="4212339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048" y="2778881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4805708" y="294503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AU" dirty="0">
                <a:solidFill>
                  <a:srgbClr val="000000"/>
                </a:solidFill>
                <a:latin typeface="Calibri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330A7-DAAC-4566-B088-B22DDC9B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1" y="484348"/>
            <a:ext cx="9727324" cy="1150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823" y="253315"/>
            <a:ext cx="8608358" cy="806128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B13B7-961B-44A1-9324-EA19BDA4E0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22"/>
          <a:stretch/>
        </p:blipFill>
        <p:spPr>
          <a:xfrm>
            <a:off x="0" y="1708982"/>
            <a:ext cx="12192000" cy="5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1201708"/>
            <a:ext cx="12115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9502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2051" y="23379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575720" y="1916832"/>
            <a:ext cx="1" cy="48421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w Cen MT" panose="020B0602020104020603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9539" y="2347133"/>
            <a:ext cx="3376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Look to the leaf data and identify the most frequently occurring number.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Bring the stem and leaf together for the answer.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Remember to check if there is ore than one mode.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7093527" y="1916832"/>
            <a:ext cx="18863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7112391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Explanations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1556229" y="2355948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How do I find the mode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1552156" y="193817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3575721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4511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3791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4072949" y="3122187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0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1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5420506" y="2703257"/>
            <a:ext cx="1566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4223793" y="235004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4655840" y="3140969"/>
            <a:ext cx="18774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5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2     8       8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2      3      6      </a:t>
            </a:r>
          </a:p>
          <a:p>
            <a:pPr marL="342900" indent="-342900">
              <a:buFontTx/>
              <a:buAutoNum type="arabicPlain" startAt="3"/>
            </a:pPr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5087888" y="3679386"/>
            <a:ext cx="934802" cy="61337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5072075" y="5466063"/>
            <a:ext cx="159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Tw Cen MT" panose="020B0602020104020603"/>
              </a:rPr>
              <a:t>Mode = 18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FF65C6-B3BC-4387-893A-64C9110B62CA}"/>
              </a:ext>
            </a:extLst>
          </p:cNvPr>
          <p:cNvSpPr txBox="1"/>
          <p:nvPr/>
        </p:nvSpPr>
        <p:spPr>
          <a:xfrm>
            <a:off x="962051" y="396076"/>
            <a:ext cx="453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Stem and Leaf Plots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655B5-98CC-4D13-95E5-813C7B47E56D}"/>
              </a:ext>
            </a:extLst>
          </p:cNvPr>
          <p:cNvSpPr txBox="1"/>
          <p:nvPr/>
        </p:nvSpPr>
        <p:spPr>
          <a:xfrm>
            <a:off x="329356" y="132678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analyse and draw stem and leaf plots?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14CE67-21C4-410E-A1DD-21AF4097D4D0}"/>
              </a:ext>
            </a:extLst>
          </p:cNvPr>
          <p:cNvSpPr txBox="1"/>
          <p:nvPr/>
        </p:nvSpPr>
        <p:spPr>
          <a:xfrm>
            <a:off x="802948" y="6000379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27884"/>
            <a:ext cx="12100560" cy="528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916832"/>
            <a:ext cx="12100560" cy="213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5560" y="15252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575720" y="1916832"/>
            <a:ext cx="0" cy="48878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51669" y="322417"/>
            <a:ext cx="3171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w Cen MT" panose="020B0602020104020603"/>
              </a:rPr>
              <a:t>Topic: 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w Cen MT" panose="020B0602020104020603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9539" y="2420888"/>
            <a:ext cx="33769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Count the number of data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Add one and divide by 2. This is the position of the median.</a:t>
            </a:r>
            <a:br>
              <a:rPr lang="en-AU" sz="2000" dirty="0">
                <a:solidFill>
                  <a:prstClr val="black"/>
                </a:solidFill>
                <a:latin typeface="Tw Cen MT" panose="020B0602020104020603"/>
              </a:rPr>
            </a:b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If you get a remainder (e.g. 4.5) the median will be the average of the numbers at the two places either side of that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Count the leaves from the top.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7112390" y="1916832"/>
            <a:ext cx="27148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7112391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Explanations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1556229" y="2355948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How do I find the median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1552156" y="193817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3575721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4511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3791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4072949" y="3122187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0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1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5420506" y="2703257"/>
            <a:ext cx="1566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4223793" y="235004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4655840" y="3140969"/>
            <a:ext cx="18774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5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2     8       8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2      3      6      </a:t>
            </a:r>
          </a:p>
          <a:p>
            <a:pPr marL="342900" indent="-342900">
              <a:buFontTx/>
              <a:buAutoNum type="arabicPlain" startAt="3"/>
            </a:pPr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4538973" y="4316272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5072074" y="5466063"/>
            <a:ext cx="1840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Tw Cen MT" panose="020B0602020104020603"/>
              </a:rPr>
              <a:t>Median = 22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C37FC8-D77C-4CD5-82C0-53F3F1EB4FB3}"/>
              </a:ext>
            </a:extLst>
          </p:cNvPr>
          <p:cNvSpPr txBox="1"/>
          <p:nvPr/>
        </p:nvSpPr>
        <p:spPr>
          <a:xfrm>
            <a:off x="951669" y="119609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analyse and draw stem and leaf plots?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4A79EB-5ADD-4A7F-B014-57472DBB67A0}"/>
              </a:ext>
            </a:extLst>
          </p:cNvPr>
          <p:cNvSpPr txBox="1"/>
          <p:nvPr/>
        </p:nvSpPr>
        <p:spPr>
          <a:xfrm>
            <a:off x="802948" y="6015619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83820" y="956824"/>
            <a:ext cx="12176760" cy="239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83820" y="1938179"/>
            <a:ext cx="12108180" cy="120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575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w Cen MT" panose="020B0602020104020603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9539" y="2420889"/>
            <a:ext cx="33769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The first leaf is the minimum.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The last leaf is the maximum.</a:t>
            </a:r>
            <a:br>
              <a:rPr lang="en-AU" sz="2000" dirty="0">
                <a:solidFill>
                  <a:prstClr val="black"/>
                </a:solidFill>
                <a:latin typeface="Tw Cen MT" panose="020B0602020104020603"/>
              </a:rPr>
            </a:b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(Make sure you include the stem).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The range is the maximum subtract the minimum.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7107790" y="1916832"/>
            <a:ext cx="4600" cy="475650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7112391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Explanations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1556229" y="2355948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How do I find the range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1552156" y="193817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3575721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white">
                    <a:lumMod val="50000"/>
                  </a:prstClr>
                </a:solidFill>
                <a:latin typeface="Tw Cen MT" panose="020B0602020104020603"/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4511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3791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4072949" y="3122187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0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1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5420506" y="2703257"/>
            <a:ext cx="1566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4223793" y="235004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4655840" y="3140969"/>
            <a:ext cx="18774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5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2     8       8</a:t>
            </a:r>
          </a:p>
          <a:p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2      3      6      </a:t>
            </a:r>
          </a:p>
          <a:p>
            <a:pPr marL="342900" indent="-342900">
              <a:buFontTx/>
              <a:buAutoNum type="arabicPlain" startAt="3"/>
            </a:pPr>
            <a:endParaRPr lang="en-AU" sz="2000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AU" sz="2000" dirty="0">
                <a:solidFill>
                  <a:prstClr val="black"/>
                </a:solidFill>
                <a:latin typeface="Tw Cen MT" panose="020B0602020104020603"/>
              </a:rPr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4526447" y="3072184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967406" y="5725313"/>
            <a:ext cx="302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Tw Cen MT" panose="020B0602020104020603"/>
              </a:rPr>
              <a:t>Range = 35 – 05 = 30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0AB3F5-4B31-43B7-A61A-E20CED8F9049}"/>
              </a:ext>
            </a:extLst>
          </p:cNvPr>
          <p:cNvSpPr/>
          <p:nvPr/>
        </p:nvSpPr>
        <p:spPr>
          <a:xfrm>
            <a:off x="4991326" y="4854668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191DBD-B631-4291-B8A9-49945CF11CBA}"/>
              </a:ext>
            </a:extLst>
          </p:cNvPr>
          <p:cNvSpPr txBox="1"/>
          <p:nvPr/>
        </p:nvSpPr>
        <p:spPr>
          <a:xfrm>
            <a:off x="2206149" y="229938"/>
            <a:ext cx="3171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w Cen MT" panose="020B0602020104020603"/>
              </a:rPr>
              <a:t>Topic: Stem and Leaf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4BFA66-4351-46AC-A30A-9A3AF86A9630}"/>
              </a:ext>
            </a:extLst>
          </p:cNvPr>
          <p:cNvSpPr txBox="1"/>
          <p:nvPr/>
        </p:nvSpPr>
        <p:spPr>
          <a:xfrm>
            <a:off x="2309328" y="1241282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we analyse and draw stem and leaf plots?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4C414-6477-41D7-B0C8-286E15B15B32}"/>
              </a:ext>
            </a:extLst>
          </p:cNvPr>
          <p:cNvSpPr txBox="1"/>
          <p:nvPr/>
        </p:nvSpPr>
        <p:spPr>
          <a:xfrm>
            <a:off x="802948" y="6015619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F6B2-3228-49CA-BDE0-E4584E4C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</a:t>
            </a:r>
          </a:p>
        </p:txBody>
      </p:sp>
      <p:pic>
        <p:nvPicPr>
          <p:cNvPr id="4" name="Picture 3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12ED5A7E-550D-440A-90F1-5BC2929FC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" y="3451860"/>
            <a:ext cx="10648950" cy="2247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B4006-93DC-4112-BF7E-9FB426D17765}"/>
              </a:ext>
            </a:extLst>
          </p:cNvPr>
          <p:cNvSpPr txBox="1"/>
          <p:nvPr/>
        </p:nvSpPr>
        <p:spPr>
          <a:xfrm>
            <a:off x="1024128" y="2291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effectLst/>
                <a:latin typeface="Calibri" panose="020F0502020204030204" pitchFamily="34" charset="0"/>
              </a:rPr>
              <a:t>Find the median and range of each data set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656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1DFC-D6B2-4A37-81EA-7079A839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Stem and leaf plot representation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E5EE1-BDF5-4BBD-A5EF-4C243D046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060" y="1795582"/>
            <a:ext cx="11864340" cy="753820"/>
          </a:xfrm>
        </p:spPr>
        <p:txBody>
          <a:bodyPr>
            <a:normAutofit/>
          </a:bodyPr>
          <a:lstStyle/>
          <a:p>
            <a:r>
              <a:rPr lang="en-GB" dirty="0"/>
              <a:t>Ten students read the following number of books: 6, 7, 10, 12, 12, 15, 19, 21, 23, 25. Each number is represented on the stem and leaf plot below.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4B6AB-15EA-4DD6-A5A7-C9E6018FAABD}"/>
              </a:ext>
            </a:extLst>
          </p:cNvPr>
          <p:cNvSpPr txBox="1"/>
          <p:nvPr/>
        </p:nvSpPr>
        <p:spPr>
          <a:xfrm>
            <a:off x="502920" y="2644170"/>
            <a:ext cx="5219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Stem    Leaf</a:t>
            </a:r>
          </a:p>
          <a:p>
            <a:r>
              <a:rPr lang="en-GB" sz="2400" dirty="0"/>
              <a:t>0          6  7</a:t>
            </a:r>
          </a:p>
          <a:p>
            <a:r>
              <a:rPr lang="en-GB" sz="2400" dirty="0"/>
              <a:t>1          0 2 2 5 9</a:t>
            </a:r>
          </a:p>
          <a:p>
            <a:r>
              <a:rPr lang="en-GB" sz="2400" dirty="0"/>
              <a:t>2          1 3 5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7C7CDC-AECA-4591-A9EB-5B30472D07E9}"/>
              </a:ext>
            </a:extLst>
          </p:cNvPr>
          <p:cNvCxnSpPr>
            <a:cxnSpLocks/>
          </p:cNvCxnSpPr>
          <p:nvPr/>
        </p:nvCxnSpPr>
        <p:spPr>
          <a:xfrm>
            <a:off x="350520" y="3078480"/>
            <a:ext cx="27622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FAA48A-86F6-4905-BADF-64EF2B5AE7D9}"/>
              </a:ext>
            </a:extLst>
          </p:cNvPr>
          <p:cNvCxnSpPr/>
          <p:nvPr/>
        </p:nvCxnSpPr>
        <p:spPr>
          <a:xfrm>
            <a:off x="1306068" y="2644170"/>
            <a:ext cx="0" cy="17449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669399-FE34-4BE8-BD7A-2285F7A3F0A6}"/>
              </a:ext>
            </a:extLst>
          </p:cNvPr>
          <p:cNvSpPr txBox="1"/>
          <p:nvPr/>
        </p:nvSpPr>
        <p:spPr>
          <a:xfrm>
            <a:off x="99060" y="4381560"/>
            <a:ext cx="11971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Explore:</a:t>
            </a:r>
          </a:p>
          <a:p>
            <a:pPr marL="342900" indent="-342900">
              <a:buAutoNum type="arabicParenR"/>
            </a:pPr>
            <a:r>
              <a:rPr lang="en-GB" sz="2400" dirty="0"/>
              <a:t>How do you think the stem and leaf plot was made from he raw data? What are the stems? What are the leaves?</a:t>
            </a:r>
          </a:p>
          <a:p>
            <a:pPr marL="342900" indent="-342900">
              <a:buAutoNum type="arabicParenR"/>
            </a:pPr>
            <a:r>
              <a:rPr lang="en-GB" sz="2400" dirty="0"/>
              <a:t>Which “stem” had the most leaves?</a:t>
            </a:r>
          </a:p>
          <a:p>
            <a:pPr marL="342900" indent="-342900">
              <a:buAutoNum type="arabicParenR"/>
            </a:pPr>
            <a:r>
              <a:rPr lang="en-GB" sz="2400" dirty="0"/>
              <a:t>Where is 21 on the stem and leaf plot? How did you know?</a:t>
            </a:r>
          </a:p>
          <a:p>
            <a:pPr marL="342900" indent="-342900">
              <a:buAutoNum type="arabicParenR"/>
            </a:pPr>
            <a:r>
              <a:rPr lang="en-GB" sz="2400" dirty="0"/>
              <a:t>Examine the order of the digits in the Leaf section. What do you notice</a:t>
            </a:r>
          </a:p>
        </p:txBody>
      </p:sp>
    </p:spTree>
    <p:extLst>
      <p:ext uri="{BB962C8B-B14F-4D97-AF65-F5344CB8AC3E}">
        <p14:creationId xmlns:p14="http://schemas.microsoft.com/office/powerpoint/2010/main" val="358230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AC4-7363-4108-806E-F3E8EFC2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241D-BF01-45AC-BE7C-749D746B2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Collect height data for the students in your class in centimetres. Write the data in order from smallest to largest. Use the data to create a stem and leaf plot for height, with stem for the first two digits of the number and leaf from the final digit</a:t>
            </a:r>
          </a:p>
        </p:txBody>
      </p:sp>
    </p:spTree>
    <p:extLst>
      <p:ext uri="{BB962C8B-B14F-4D97-AF65-F5344CB8AC3E}">
        <p14:creationId xmlns:p14="http://schemas.microsoft.com/office/powerpoint/2010/main" val="259950591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4614</TotalTime>
  <Words>1046</Words>
  <Application>Microsoft Office PowerPoint</Application>
  <PresentationFormat>Widescreen</PresentationFormat>
  <Paragraphs>213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Fragment Core</vt:lpstr>
      <vt:lpstr>Tw Cen MT</vt:lpstr>
      <vt:lpstr>Tw Cen MT Condensed</vt:lpstr>
      <vt:lpstr>Wingdings 3</vt:lpstr>
      <vt:lpstr>1_Office Theme</vt:lpstr>
      <vt:lpstr>Integral</vt:lpstr>
      <vt:lpstr>Topic: Stem and leaf plots EQ: How do we draw and analyse stem and leaf plots? </vt:lpstr>
      <vt:lpstr>Five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LHS</vt:lpstr>
      <vt:lpstr>Stem and leaf plot representation</vt:lpstr>
      <vt:lpstr>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Tony Nguyen</cp:lastModifiedBy>
  <cp:revision>94</cp:revision>
  <cp:lastPrinted>2018-05-03T00:24:35Z</cp:lastPrinted>
  <dcterms:created xsi:type="dcterms:W3CDTF">2018-02-13T05:48:53Z</dcterms:created>
  <dcterms:modified xsi:type="dcterms:W3CDTF">2021-08-06T00:23:34Z</dcterms:modified>
</cp:coreProperties>
</file>
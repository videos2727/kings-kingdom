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3" r:id="rId1"/>
  </p:sldMasterIdLst>
  <p:notesMasterIdLst>
    <p:notesMasterId r:id="rId7"/>
  </p:notesMasterIdLst>
  <p:sldIdLst>
    <p:sldId id="256" r:id="rId2"/>
    <p:sldId id="258" r:id="rId3"/>
    <p:sldId id="257"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53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08"/>
    <p:restoredTop sz="80529"/>
  </p:normalViewPr>
  <p:slideViewPr>
    <p:cSldViewPr snapToGrid="0" snapToObjects="1">
      <p:cViewPr>
        <p:scale>
          <a:sx n="79" d="100"/>
          <a:sy n="79" d="100"/>
        </p:scale>
        <p:origin x="2216" y="3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318165-0170-2941-991B-18A2212B78B3}" type="datetimeFigureOut">
              <a:rPr lang="en-US" smtClean="0"/>
              <a:t>7/31/21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F85900-6D8D-764D-B313-5085C29772C0}" type="slidenum">
              <a:rPr lang="en-US" smtClean="0"/>
              <a:t>‹#›</a:t>
            </a:fld>
            <a:endParaRPr lang="en-US"/>
          </a:p>
        </p:txBody>
      </p:sp>
    </p:spTree>
    <p:extLst>
      <p:ext uri="{BB962C8B-B14F-4D97-AF65-F5344CB8AC3E}">
        <p14:creationId xmlns:p14="http://schemas.microsoft.com/office/powerpoint/2010/main" val="1970888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F85900-6D8D-764D-B313-5085C29772C0}" type="slidenum">
              <a:rPr lang="en-US" smtClean="0"/>
              <a:t>3</a:t>
            </a:fld>
            <a:endParaRPr lang="en-US"/>
          </a:p>
        </p:txBody>
      </p:sp>
    </p:spTree>
    <p:extLst>
      <p:ext uri="{BB962C8B-B14F-4D97-AF65-F5344CB8AC3E}">
        <p14:creationId xmlns:p14="http://schemas.microsoft.com/office/powerpoint/2010/main" val="17209620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5F85900-6D8D-764D-B313-5085C29772C0}" type="slidenum">
              <a:rPr lang="en-US" smtClean="0"/>
              <a:t>4</a:t>
            </a:fld>
            <a:endParaRPr lang="en-US"/>
          </a:p>
        </p:txBody>
      </p:sp>
    </p:spTree>
    <p:extLst>
      <p:ext uri="{BB962C8B-B14F-4D97-AF65-F5344CB8AC3E}">
        <p14:creationId xmlns:p14="http://schemas.microsoft.com/office/powerpoint/2010/main" val="2652425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fill in the blank two-way tables on connect.  </a:t>
            </a:r>
          </a:p>
        </p:txBody>
      </p:sp>
      <p:sp>
        <p:nvSpPr>
          <p:cNvPr id="4" name="Slide Number Placeholder 3"/>
          <p:cNvSpPr>
            <a:spLocks noGrp="1"/>
          </p:cNvSpPr>
          <p:nvPr>
            <p:ph type="sldNum" sz="quarter" idx="5"/>
          </p:nvPr>
        </p:nvSpPr>
        <p:spPr/>
        <p:txBody>
          <a:bodyPr/>
          <a:lstStyle/>
          <a:p>
            <a:fld id="{E5F85900-6D8D-764D-B313-5085C29772C0}" type="slidenum">
              <a:rPr lang="en-US" smtClean="0"/>
              <a:t>5</a:t>
            </a:fld>
            <a:endParaRPr lang="en-US"/>
          </a:p>
        </p:txBody>
      </p:sp>
    </p:spTree>
    <p:extLst>
      <p:ext uri="{BB962C8B-B14F-4D97-AF65-F5344CB8AC3E}">
        <p14:creationId xmlns:p14="http://schemas.microsoft.com/office/powerpoint/2010/main" val="3611519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7/31/21</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152611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7/31/21</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90160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7/31/21</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8472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7/31/21</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18638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7/31/21</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56820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7/31/21</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7505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7/31/21</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01143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7/31/21</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427318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7/31/21</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9213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7/31/21</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96224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7/31/21</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39083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7/31/21</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489158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22" r:id="rId6"/>
    <p:sldLayoutId id="2147483717" r:id="rId7"/>
    <p:sldLayoutId id="2147483718" r:id="rId8"/>
    <p:sldLayoutId id="2147483719" r:id="rId9"/>
    <p:sldLayoutId id="2147483721" r:id="rId10"/>
    <p:sldLayoutId id="2147483720" r:id="rId11"/>
  </p:sldLayoutIdLst>
  <p:hf sldNum="0" hdr="0" ftr="0" dt="0"/>
  <p:txStyles>
    <p:title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0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AF4F2BA-3C03-4E2C-8ABC-0949B61B3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esthetic liquid watercolor and ink">
            <a:extLst>
              <a:ext uri="{FF2B5EF4-FFF2-40B4-BE49-F238E27FC236}">
                <a16:creationId xmlns:a16="http://schemas.microsoft.com/office/drawing/2014/main" id="{78499B07-4D31-4680-AC43-C75F508789CF}"/>
              </a:ext>
            </a:extLst>
          </p:cNvPr>
          <p:cNvPicPr>
            <a:picLocks noChangeAspect="1"/>
          </p:cNvPicPr>
          <p:nvPr/>
        </p:nvPicPr>
        <p:blipFill rotWithShape="1">
          <a:blip r:embed="rId2">
            <a:alphaModFix amt="35000"/>
          </a:blip>
          <a:srcRect t="2755" b="5782"/>
          <a:stretch/>
        </p:blipFill>
        <p:spPr>
          <a:xfrm>
            <a:off x="20" y="10"/>
            <a:ext cx="12191980" cy="6857990"/>
          </a:xfrm>
          <a:prstGeom prst="rect">
            <a:avLst/>
          </a:prstGeom>
        </p:spPr>
      </p:pic>
      <p:sp>
        <p:nvSpPr>
          <p:cNvPr id="2" name="Title 1">
            <a:extLst>
              <a:ext uri="{FF2B5EF4-FFF2-40B4-BE49-F238E27FC236}">
                <a16:creationId xmlns:a16="http://schemas.microsoft.com/office/drawing/2014/main" id="{B3D2AB57-C5EC-7F44-AAAE-A5DE89B569D4}"/>
              </a:ext>
            </a:extLst>
          </p:cNvPr>
          <p:cNvSpPr>
            <a:spLocks noGrp="1"/>
          </p:cNvSpPr>
          <p:nvPr>
            <p:ph type="ctrTitle"/>
          </p:nvPr>
        </p:nvSpPr>
        <p:spPr>
          <a:xfrm>
            <a:off x="1097280" y="758952"/>
            <a:ext cx="10058400" cy="3566160"/>
          </a:xfrm>
        </p:spPr>
        <p:txBody>
          <a:bodyPr>
            <a:normAutofit/>
          </a:bodyPr>
          <a:lstStyle/>
          <a:p>
            <a:r>
              <a:rPr lang="en-US" sz="6000" dirty="0">
                <a:solidFill>
                  <a:srgbClr val="FFFFFF"/>
                </a:solidFill>
              </a:rPr>
              <a:t>Topic: Two-Way Tables</a:t>
            </a:r>
            <a:br>
              <a:rPr lang="en-US" sz="6000" dirty="0">
                <a:solidFill>
                  <a:srgbClr val="FFFFFF"/>
                </a:solidFill>
              </a:rPr>
            </a:br>
            <a:r>
              <a:rPr lang="en-US" sz="4800" dirty="0">
                <a:solidFill>
                  <a:srgbClr val="FFFFFF"/>
                </a:solidFill>
              </a:rPr>
              <a:t>EQ: What are Two-Way tables and how do I read them? </a:t>
            </a:r>
            <a:endParaRPr lang="en-US" sz="6000" dirty="0">
              <a:solidFill>
                <a:srgbClr val="FFFFFF"/>
              </a:solidFill>
            </a:endParaRPr>
          </a:p>
        </p:txBody>
      </p:sp>
      <p:sp>
        <p:nvSpPr>
          <p:cNvPr id="3" name="Subtitle 2">
            <a:extLst>
              <a:ext uri="{FF2B5EF4-FFF2-40B4-BE49-F238E27FC236}">
                <a16:creationId xmlns:a16="http://schemas.microsoft.com/office/drawing/2014/main" id="{DE490636-D7CC-4142-B16F-C7D948EA8A95}"/>
              </a:ext>
            </a:extLst>
          </p:cNvPr>
          <p:cNvSpPr>
            <a:spLocks noGrp="1"/>
          </p:cNvSpPr>
          <p:nvPr>
            <p:ph type="subTitle" idx="1"/>
          </p:nvPr>
        </p:nvSpPr>
        <p:spPr>
          <a:xfrm>
            <a:off x="1100051" y="4645152"/>
            <a:ext cx="10058400" cy="1143000"/>
          </a:xfrm>
        </p:spPr>
        <p:txBody>
          <a:bodyPr>
            <a:normAutofit/>
          </a:bodyPr>
          <a:lstStyle/>
          <a:p>
            <a:r>
              <a:rPr lang="en-US">
                <a:solidFill>
                  <a:srgbClr val="FFFFFF"/>
                </a:solidFill>
              </a:rPr>
              <a:t>Year 11 Essentials </a:t>
            </a:r>
            <a:endParaRPr lang="en-US" dirty="0">
              <a:solidFill>
                <a:srgbClr val="FFFFFF"/>
              </a:solidFill>
            </a:endParaRPr>
          </a:p>
        </p:txBody>
      </p:sp>
      <p:cxnSp>
        <p:nvCxnSpPr>
          <p:cNvPr id="22" name="Straight Connector 21">
            <a:extLst>
              <a:ext uri="{FF2B5EF4-FFF2-40B4-BE49-F238E27FC236}">
                <a16:creationId xmlns:a16="http://schemas.microsoft.com/office/drawing/2014/main" id="{A07787ED-5EDC-4C54-AD87-55B60D0FE3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474741"/>
            <a:ext cx="987552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4" name="!!footer rectangle">
            <a:extLst>
              <a:ext uri="{FF2B5EF4-FFF2-40B4-BE49-F238E27FC236}">
                <a16:creationId xmlns:a16="http://schemas.microsoft.com/office/drawing/2014/main" id="{B40A8CA7-7D5A-43B0-A1A0-B558ECA9E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3915477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D296FE8-0203-054B-9CB6-B1921BF0DFC2}"/>
              </a:ext>
            </a:extLst>
          </p:cNvPr>
          <p:cNvSpPr>
            <a:spLocks noGrp="1"/>
          </p:cNvSpPr>
          <p:nvPr>
            <p:ph type="title"/>
          </p:nvPr>
        </p:nvSpPr>
        <p:spPr/>
        <p:txBody>
          <a:bodyPr/>
          <a:lstStyle/>
          <a:p>
            <a:r>
              <a:rPr lang="en-US" dirty="0"/>
              <a:t>First 5</a:t>
            </a:r>
          </a:p>
        </p:txBody>
      </p:sp>
      <p:sp>
        <p:nvSpPr>
          <p:cNvPr id="4" name="Content Placeholder 3">
            <a:extLst>
              <a:ext uri="{FF2B5EF4-FFF2-40B4-BE49-F238E27FC236}">
                <a16:creationId xmlns:a16="http://schemas.microsoft.com/office/drawing/2014/main" id="{E612D277-6DA9-734F-9E88-92F088FC919C}"/>
              </a:ext>
            </a:extLst>
          </p:cNvPr>
          <p:cNvSpPr>
            <a:spLocks noGrp="1"/>
          </p:cNvSpPr>
          <p:nvPr>
            <p:ph idx="1"/>
          </p:nvPr>
        </p:nvSpPr>
        <p:spPr>
          <a:xfrm>
            <a:off x="427808" y="2140858"/>
            <a:ext cx="6805749" cy="3760891"/>
          </a:xfrm>
        </p:spPr>
        <p:txBody>
          <a:bodyPr>
            <a:normAutofit fontScale="92500"/>
          </a:bodyPr>
          <a:lstStyle/>
          <a:p>
            <a:pPr marL="457200" indent="-457200">
              <a:buFont typeface="+mj-lt"/>
              <a:buAutoNum type="arabicPeriod"/>
            </a:pPr>
            <a:r>
              <a:rPr lang="en-US" sz="2400" dirty="0"/>
              <a:t>32 160 – 11 435 = </a:t>
            </a:r>
          </a:p>
          <a:p>
            <a:pPr marL="457200" indent="-457200">
              <a:buFont typeface="+mj-lt"/>
              <a:buAutoNum type="arabicPeriod"/>
            </a:pPr>
            <a:r>
              <a:rPr lang="en-US" sz="2400" dirty="0"/>
              <a:t>Write 0.6 as a fraction. How much would 0.6 of $2 be? </a:t>
            </a:r>
          </a:p>
          <a:p>
            <a:pPr marL="457200" indent="-457200">
              <a:buFont typeface="+mj-lt"/>
              <a:buAutoNum type="arabicPeriod"/>
            </a:pPr>
            <a:r>
              <a:rPr lang="en-US" sz="2400" dirty="0"/>
              <a:t>How much will I pay for a $358 item that is marked 45% off? </a:t>
            </a:r>
          </a:p>
          <a:p>
            <a:pPr marL="457200" indent="-457200">
              <a:buFont typeface="+mj-lt"/>
              <a:buAutoNum type="arabicPeriod"/>
            </a:pPr>
            <a:r>
              <a:rPr lang="en-US" sz="2400" dirty="0"/>
              <a:t>What time will it be when the hour hand on a clock is at 135˚? </a:t>
            </a:r>
          </a:p>
          <a:p>
            <a:pPr marL="457200" indent="-457200">
              <a:buFont typeface="+mj-lt"/>
              <a:buAutoNum type="arabicPeriod"/>
            </a:pPr>
            <a:r>
              <a:rPr lang="en-US" sz="2400" dirty="0"/>
              <a:t>Write these numbers in order from largest to smallest; </a:t>
            </a:r>
            <a:br>
              <a:rPr lang="en-US" sz="2400" dirty="0"/>
            </a:br>
            <a:r>
              <a:rPr lang="en-US" sz="2400" dirty="0"/>
              <a:t>47, -31, 9, -12, -1</a:t>
            </a:r>
          </a:p>
        </p:txBody>
      </p:sp>
      <p:sp>
        <p:nvSpPr>
          <p:cNvPr id="9" name="Title 1">
            <a:extLst>
              <a:ext uri="{FF2B5EF4-FFF2-40B4-BE49-F238E27FC236}">
                <a16:creationId xmlns:a16="http://schemas.microsoft.com/office/drawing/2014/main" id="{F627B8D2-1912-EA4C-AA3A-C91C760B9AE8}"/>
              </a:ext>
            </a:extLst>
          </p:cNvPr>
          <p:cNvSpPr txBox="1">
            <a:spLocks/>
          </p:cNvSpPr>
          <p:nvPr/>
        </p:nvSpPr>
        <p:spPr>
          <a:xfrm>
            <a:off x="4449297" y="146793"/>
            <a:ext cx="10058400" cy="86518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solidFill>
                  <a:schemeClr val="tx1"/>
                </a:solidFill>
              </a:rPr>
              <a:t>Topic: Two-Way Tables</a:t>
            </a:r>
            <a:br>
              <a:rPr lang="en-US" sz="3600" dirty="0">
                <a:solidFill>
                  <a:schemeClr val="tx1"/>
                </a:solidFill>
              </a:rPr>
            </a:br>
            <a:r>
              <a:rPr lang="en-US" sz="2800" dirty="0">
                <a:solidFill>
                  <a:schemeClr val="tx1"/>
                </a:solidFill>
              </a:rPr>
              <a:t>EQ: What are Two-Way tables and how do I read them? </a:t>
            </a:r>
            <a:endParaRPr lang="en-US" sz="2000" dirty="0">
              <a:solidFill>
                <a:schemeClr val="tx1"/>
              </a:solidFill>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64F39DA-0A69-F649-A555-D6994EDA4447}"/>
                  </a:ext>
                </a:extLst>
              </p:cNvPr>
              <p:cNvSpPr txBox="1"/>
              <p:nvPr/>
            </p:nvSpPr>
            <p:spPr>
              <a:xfrm>
                <a:off x="7690757" y="2140858"/>
                <a:ext cx="4278086" cy="2832955"/>
              </a:xfrm>
              <a:prstGeom prst="rect">
                <a:avLst/>
              </a:prstGeom>
              <a:noFill/>
            </p:spPr>
            <p:txBody>
              <a:bodyPr wrap="square" rtlCol="0">
                <a:spAutoFit/>
              </a:bodyPr>
              <a:lstStyle/>
              <a:p>
                <a:pPr marL="342900" indent="-342900">
                  <a:buFont typeface="+mj-lt"/>
                  <a:buAutoNum type="arabicPeriod"/>
                </a:pPr>
                <a:r>
                  <a:rPr lang="en-US" sz="2400" dirty="0">
                    <a:solidFill>
                      <a:srgbClr val="FF0000"/>
                    </a:solidFill>
                  </a:rPr>
                  <a:t>20 725</a:t>
                </a:r>
              </a:p>
              <a:p>
                <a:pPr marL="342900" indent="-342900">
                  <a:buFont typeface="+mj-lt"/>
                  <a:buAutoNum type="arabicPeriod"/>
                </a:pPr>
                <a14:m>
                  <m:oMath xmlns:m="http://schemas.openxmlformats.org/officeDocument/2006/math">
                    <m:f>
                      <m:fPr>
                        <m:ctrlPr>
                          <a:rPr lang="en-US" sz="2400" i="1" smtClean="0">
                            <a:solidFill>
                              <a:srgbClr val="FF0000"/>
                            </a:solidFill>
                            <a:latin typeface="Cambria Math" panose="02040503050406030204" pitchFamily="18" charset="0"/>
                          </a:rPr>
                        </m:ctrlPr>
                      </m:fPr>
                      <m:num>
                        <m:r>
                          <a:rPr lang="en-AU" sz="2400" b="0" i="1" smtClean="0">
                            <a:solidFill>
                              <a:srgbClr val="FF0000"/>
                            </a:solidFill>
                            <a:latin typeface="Cambria Math" panose="02040503050406030204" pitchFamily="18" charset="0"/>
                          </a:rPr>
                          <m:t>3</m:t>
                        </m:r>
                      </m:num>
                      <m:den>
                        <m:r>
                          <a:rPr lang="en-AU" sz="2400" b="0" i="1" smtClean="0">
                            <a:solidFill>
                              <a:srgbClr val="FF0000"/>
                            </a:solidFill>
                            <a:latin typeface="Cambria Math" panose="02040503050406030204" pitchFamily="18" charset="0"/>
                          </a:rPr>
                          <m:t>5 </m:t>
                        </m:r>
                      </m:den>
                    </m:f>
                    <m:r>
                      <a:rPr lang="en-AU" sz="2400" b="0" i="1" smtClean="0">
                        <a:solidFill>
                          <a:srgbClr val="FF0000"/>
                        </a:solidFill>
                        <a:latin typeface="Cambria Math" panose="02040503050406030204" pitchFamily="18" charset="0"/>
                      </a:rPr>
                      <m:t>, $1.20</m:t>
                    </m:r>
                  </m:oMath>
                </a14:m>
                <a:endParaRPr lang="en-US" sz="2400" dirty="0">
                  <a:solidFill>
                    <a:srgbClr val="FF0000"/>
                  </a:solidFill>
                </a:endParaRPr>
              </a:p>
              <a:p>
                <a:pPr marL="342900" indent="-342900">
                  <a:buFont typeface="+mj-lt"/>
                  <a:buAutoNum type="arabicPeriod"/>
                </a:pPr>
                <a:r>
                  <a:rPr lang="en-US" sz="2400" dirty="0">
                    <a:solidFill>
                      <a:srgbClr val="FF0000"/>
                    </a:solidFill>
                  </a:rPr>
                  <a:t>$196.90</a:t>
                </a:r>
              </a:p>
              <a:p>
                <a:pPr marL="342900" indent="-342900">
                  <a:buFont typeface="+mj-lt"/>
                  <a:buAutoNum type="arabicPeriod"/>
                </a:pPr>
                <a:r>
                  <a:rPr lang="en-US" sz="2400" dirty="0">
                    <a:solidFill>
                      <a:srgbClr val="FF0000"/>
                    </a:solidFill>
                  </a:rPr>
                  <a:t>If 12 is 0˚, then 135 will have the hour hand half way between the 4 and 5, so 4:30</a:t>
                </a:r>
              </a:p>
              <a:p>
                <a:pPr marL="342900" indent="-342900">
                  <a:buFont typeface="+mj-lt"/>
                  <a:buAutoNum type="arabicPeriod"/>
                </a:pPr>
                <a:r>
                  <a:rPr lang="en-US" sz="2400" dirty="0">
                    <a:solidFill>
                      <a:srgbClr val="FF0000"/>
                    </a:solidFill>
                  </a:rPr>
                  <a:t>47, 9, -1, -12, -31</a:t>
                </a:r>
              </a:p>
            </p:txBody>
          </p:sp>
        </mc:Choice>
        <mc:Fallback>
          <p:sp>
            <p:nvSpPr>
              <p:cNvPr id="6" name="TextBox 5">
                <a:extLst>
                  <a:ext uri="{FF2B5EF4-FFF2-40B4-BE49-F238E27FC236}">
                    <a16:creationId xmlns:a16="http://schemas.microsoft.com/office/drawing/2014/main" id="{964F39DA-0A69-F649-A555-D6994EDA4447}"/>
                  </a:ext>
                </a:extLst>
              </p:cNvPr>
              <p:cNvSpPr txBox="1">
                <a:spLocks noRot="1" noChangeAspect="1" noMove="1" noResize="1" noEditPoints="1" noAdjustHandles="1" noChangeArrowheads="1" noChangeShapeType="1" noTextEdit="1"/>
              </p:cNvSpPr>
              <p:nvPr/>
            </p:nvSpPr>
            <p:spPr>
              <a:xfrm>
                <a:off x="7690757" y="2140858"/>
                <a:ext cx="4278086" cy="2832955"/>
              </a:xfrm>
              <a:prstGeom prst="rect">
                <a:avLst/>
              </a:prstGeom>
              <a:blipFill>
                <a:blip r:embed="rId2"/>
                <a:stretch>
                  <a:fillRect l="-2071" t="-2232" b="-3571"/>
                </a:stretch>
              </a:blipFill>
            </p:spPr>
            <p:txBody>
              <a:bodyPr/>
              <a:lstStyle/>
              <a:p>
                <a:r>
                  <a:rPr lang="en-US">
                    <a:noFill/>
                  </a:rPr>
                  <a:t> </a:t>
                </a:r>
              </a:p>
            </p:txBody>
          </p:sp>
        </mc:Fallback>
      </mc:AlternateContent>
    </p:spTree>
    <p:extLst>
      <p:ext uri="{BB962C8B-B14F-4D97-AF65-F5344CB8AC3E}">
        <p14:creationId xmlns:p14="http://schemas.microsoft.com/office/powerpoint/2010/main" val="2906026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2509CC4-A1C6-4B41-9ACF-0532BA2E743A}"/>
              </a:ext>
            </a:extLst>
          </p:cNvPr>
          <p:cNvCxnSpPr>
            <a:cxnSpLocks/>
          </p:cNvCxnSpPr>
          <p:nvPr/>
        </p:nvCxnSpPr>
        <p:spPr>
          <a:xfrm>
            <a:off x="1800782" y="0"/>
            <a:ext cx="0" cy="6412675"/>
          </a:xfrm>
          <a:prstGeom prst="line">
            <a:avLst/>
          </a:prstGeom>
          <a:ln>
            <a:solidFill>
              <a:srgbClr val="F5535F"/>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DBB6050-B565-6C4D-B5D8-73AE5094423F}"/>
              </a:ext>
            </a:extLst>
          </p:cNvPr>
          <p:cNvCxnSpPr>
            <a:cxnSpLocks/>
          </p:cNvCxnSpPr>
          <p:nvPr/>
        </p:nvCxnSpPr>
        <p:spPr>
          <a:xfrm>
            <a:off x="0" y="977138"/>
            <a:ext cx="12326587" cy="0"/>
          </a:xfrm>
          <a:prstGeom prst="line">
            <a:avLst/>
          </a:prstGeom>
          <a:ln>
            <a:solidFill>
              <a:srgbClr val="F5535F"/>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12CFE38-DA7D-4E47-BAD0-DCBA8769E3CF}"/>
              </a:ext>
            </a:extLst>
          </p:cNvPr>
          <p:cNvSpPr txBox="1"/>
          <p:nvPr/>
        </p:nvSpPr>
        <p:spPr>
          <a:xfrm>
            <a:off x="104402" y="1161107"/>
            <a:ext cx="1696380" cy="707886"/>
          </a:xfrm>
          <a:prstGeom prst="rect">
            <a:avLst/>
          </a:prstGeom>
          <a:noFill/>
        </p:spPr>
        <p:txBody>
          <a:bodyPr wrap="square" rtlCol="0">
            <a:spAutoFit/>
          </a:bodyPr>
          <a:lstStyle/>
          <a:p>
            <a:r>
              <a:rPr lang="en-US" sz="2000" dirty="0"/>
              <a:t>What is a two-way table? </a:t>
            </a:r>
          </a:p>
        </p:txBody>
      </p:sp>
      <p:sp>
        <p:nvSpPr>
          <p:cNvPr id="12" name="Title 1">
            <a:extLst>
              <a:ext uri="{FF2B5EF4-FFF2-40B4-BE49-F238E27FC236}">
                <a16:creationId xmlns:a16="http://schemas.microsoft.com/office/drawing/2014/main" id="{020A70FD-D807-7A49-8E74-0CE0048E0A71}"/>
              </a:ext>
            </a:extLst>
          </p:cNvPr>
          <p:cNvSpPr txBox="1">
            <a:spLocks/>
          </p:cNvSpPr>
          <p:nvPr/>
        </p:nvSpPr>
        <p:spPr>
          <a:xfrm>
            <a:off x="1854312" y="111950"/>
            <a:ext cx="10058400" cy="86518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solidFill>
                  <a:schemeClr val="tx1"/>
                </a:solidFill>
              </a:rPr>
              <a:t>Topic: Two-Way Tables</a:t>
            </a:r>
            <a:br>
              <a:rPr lang="en-US" sz="3600" dirty="0">
                <a:solidFill>
                  <a:schemeClr val="tx1"/>
                </a:solidFill>
              </a:rPr>
            </a:br>
            <a:r>
              <a:rPr lang="en-US" sz="2800" dirty="0">
                <a:solidFill>
                  <a:schemeClr val="tx1"/>
                </a:solidFill>
              </a:rPr>
              <a:t>EQ: What are Two-Way tables and how do I read them? </a:t>
            </a:r>
            <a:endParaRPr lang="en-US" sz="2000" dirty="0">
              <a:solidFill>
                <a:schemeClr val="tx1"/>
              </a:solidFill>
            </a:endParaRPr>
          </a:p>
        </p:txBody>
      </p:sp>
      <p:sp>
        <p:nvSpPr>
          <p:cNvPr id="3" name="TextBox 2">
            <a:extLst>
              <a:ext uri="{FF2B5EF4-FFF2-40B4-BE49-F238E27FC236}">
                <a16:creationId xmlns:a16="http://schemas.microsoft.com/office/drawing/2014/main" id="{260E38AA-D4DA-AE47-9B13-28F3DCF39763}"/>
              </a:ext>
            </a:extLst>
          </p:cNvPr>
          <p:cNvSpPr txBox="1"/>
          <p:nvPr/>
        </p:nvSpPr>
        <p:spPr>
          <a:xfrm>
            <a:off x="1993692" y="1161107"/>
            <a:ext cx="9788577" cy="1846659"/>
          </a:xfrm>
          <a:prstGeom prst="rect">
            <a:avLst/>
          </a:prstGeom>
          <a:noFill/>
        </p:spPr>
        <p:txBody>
          <a:bodyPr wrap="square" rtlCol="0">
            <a:spAutoFit/>
          </a:bodyPr>
          <a:lstStyle/>
          <a:p>
            <a:r>
              <a:rPr lang="en-US" sz="2400" dirty="0"/>
              <a:t>Two-way tables are a simple way of showing multi-faceted data. </a:t>
            </a:r>
          </a:p>
          <a:p>
            <a:endParaRPr lang="en-US" sz="2400" dirty="0"/>
          </a:p>
          <a:p>
            <a:r>
              <a:rPr lang="en-US" sz="2400" dirty="0"/>
              <a:t>They are commonly used in information reports and it is important to know how to interpret them. </a:t>
            </a:r>
          </a:p>
          <a:p>
            <a:endParaRPr lang="en-US" dirty="0"/>
          </a:p>
        </p:txBody>
      </p:sp>
    </p:spTree>
    <p:extLst>
      <p:ext uri="{BB962C8B-B14F-4D97-AF65-F5344CB8AC3E}">
        <p14:creationId xmlns:p14="http://schemas.microsoft.com/office/powerpoint/2010/main" val="4147951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0DBB6050-B565-6C4D-B5D8-73AE5094423F}"/>
              </a:ext>
            </a:extLst>
          </p:cNvPr>
          <p:cNvCxnSpPr>
            <a:cxnSpLocks/>
          </p:cNvCxnSpPr>
          <p:nvPr/>
        </p:nvCxnSpPr>
        <p:spPr>
          <a:xfrm>
            <a:off x="0" y="977138"/>
            <a:ext cx="12326587" cy="0"/>
          </a:xfrm>
          <a:prstGeom prst="line">
            <a:avLst/>
          </a:prstGeom>
          <a:ln>
            <a:solidFill>
              <a:srgbClr val="F5535F"/>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F6DDDFD4-15CC-6A4B-BBA4-8A1B80981D44}"/>
              </a:ext>
            </a:extLst>
          </p:cNvPr>
          <p:cNvSpPr txBox="1">
            <a:spLocks/>
          </p:cNvSpPr>
          <p:nvPr/>
        </p:nvSpPr>
        <p:spPr>
          <a:xfrm>
            <a:off x="90428" y="36999"/>
            <a:ext cx="10058400" cy="86518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800" kern="1200" spc="-50" baseline="0">
                <a:solidFill>
                  <a:schemeClr val="tx1">
                    <a:lumMod val="75000"/>
                    <a:lumOff val="25000"/>
                  </a:schemeClr>
                </a:solidFill>
                <a:latin typeface="+mj-lt"/>
                <a:ea typeface="+mj-ea"/>
                <a:cs typeface="+mj-cs"/>
              </a:defRPr>
            </a:lvl1pPr>
          </a:lstStyle>
          <a:p>
            <a:r>
              <a:rPr lang="en-US" sz="3600" dirty="0">
                <a:solidFill>
                  <a:schemeClr val="tx1"/>
                </a:solidFill>
              </a:rPr>
              <a:t>Topic: Two-Way Tables</a:t>
            </a:r>
            <a:br>
              <a:rPr lang="en-US" sz="3600" dirty="0">
                <a:solidFill>
                  <a:schemeClr val="tx1"/>
                </a:solidFill>
              </a:rPr>
            </a:br>
            <a:r>
              <a:rPr lang="en-US" sz="2800" dirty="0">
                <a:solidFill>
                  <a:schemeClr val="tx1"/>
                </a:solidFill>
              </a:rPr>
              <a:t>EQ: What are Two-Way tables and how do I read them? </a:t>
            </a:r>
            <a:endParaRPr lang="en-US" sz="2000" dirty="0">
              <a:solidFill>
                <a:schemeClr val="tx1"/>
              </a:solidFill>
            </a:endParaRPr>
          </a:p>
        </p:txBody>
      </p:sp>
      <p:graphicFrame>
        <p:nvGraphicFramePr>
          <p:cNvPr id="3" name="Table 3">
            <a:extLst>
              <a:ext uri="{FF2B5EF4-FFF2-40B4-BE49-F238E27FC236}">
                <a16:creationId xmlns:a16="http://schemas.microsoft.com/office/drawing/2014/main" id="{46A14A5F-E17E-1542-8773-E63C53810F7C}"/>
              </a:ext>
            </a:extLst>
          </p:cNvPr>
          <p:cNvGraphicFramePr>
            <a:graphicFrameLocks noGrp="1"/>
          </p:cNvGraphicFramePr>
          <p:nvPr>
            <p:extLst>
              <p:ext uri="{D42A27DB-BD31-4B8C-83A1-F6EECF244321}">
                <p14:modId xmlns:p14="http://schemas.microsoft.com/office/powerpoint/2010/main" val="2338469264"/>
              </p:ext>
            </p:extLst>
          </p:nvPr>
        </p:nvGraphicFramePr>
        <p:xfrm>
          <a:off x="90428" y="1496373"/>
          <a:ext cx="6295382" cy="3236177"/>
        </p:xfrm>
        <a:graphic>
          <a:graphicData uri="http://schemas.openxmlformats.org/drawingml/2006/table">
            <a:tbl>
              <a:tblPr firstRow="1" bandRow="1">
                <a:tableStyleId>{5C22544A-7EE6-4342-B048-85BDC9FD1C3A}</a:tableStyleId>
              </a:tblPr>
              <a:tblGrid>
                <a:gridCol w="1463634">
                  <a:extLst>
                    <a:ext uri="{9D8B030D-6E8A-4147-A177-3AD203B41FA5}">
                      <a16:colId xmlns:a16="http://schemas.microsoft.com/office/drawing/2014/main" val="1673711579"/>
                    </a:ext>
                  </a:extLst>
                </a:gridCol>
                <a:gridCol w="690785">
                  <a:extLst>
                    <a:ext uri="{9D8B030D-6E8A-4147-A177-3AD203B41FA5}">
                      <a16:colId xmlns:a16="http://schemas.microsoft.com/office/drawing/2014/main" val="3750699274"/>
                    </a:ext>
                  </a:extLst>
                </a:gridCol>
                <a:gridCol w="824459">
                  <a:extLst>
                    <a:ext uri="{9D8B030D-6E8A-4147-A177-3AD203B41FA5}">
                      <a16:colId xmlns:a16="http://schemas.microsoft.com/office/drawing/2014/main" val="154857518"/>
                    </a:ext>
                  </a:extLst>
                </a:gridCol>
                <a:gridCol w="603284">
                  <a:extLst>
                    <a:ext uri="{9D8B030D-6E8A-4147-A177-3AD203B41FA5}">
                      <a16:colId xmlns:a16="http://schemas.microsoft.com/office/drawing/2014/main" val="1311081666"/>
                    </a:ext>
                  </a:extLst>
                </a:gridCol>
                <a:gridCol w="974361">
                  <a:extLst>
                    <a:ext uri="{9D8B030D-6E8A-4147-A177-3AD203B41FA5}">
                      <a16:colId xmlns:a16="http://schemas.microsoft.com/office/drawing/2014/main" val="2938548181"/>
                    </a:ext>
                  </a:extLst>
                </a:gridCol>
                <a:gridCol w="959370">
                  <a:extLst>
                    <a:ext uri="{9D8B030D-6E8A-4147-A177-3AD203B41FA5}">
                      <a16:colId xmlns:a16="http://schemas.microsoft.com/office/drawing/2014/main" val="3226131286"/>
                    </a:ext>
                  </a:extLst>
                </a:gridCol>
                <a:gridCol w="779489">
                  <a:extLst>
                    <a:ext uri="{9D8B030D-6E8A-4147-A177-3AD203B41FA5}">
                      <a16:colId xmlns:a16="http://schemas.microsoft.com/office/drawing/2014/main" val="1497909551"/>
                    </a:ext>
                  </a:extLst>
                </a:gridCol>
              </a:tblGrid>
              <a:tr h="722975">
                <a:tc>
                  <a:txBody>
                    <a:bodyPr/>
                    <a:lstStyle/>
                    <a:p>
                      <a:endParaRPr lang="en-US" sz="2000" dirty="0"/>
                    </a:p>
                  </a:txBody>
                  <a:tcPr marL="103282" marR="103282" marT="51641" marB="51641"/>
                </a:tc>
                <a:tc>
                  <a:txBody>
                    <a:bodyPr/>
                    <a:lstStyle/>
                    <a:p>
                      <a:r>
                        <a:rPr lang="en-US" sz="2000" dirty="0"/>
                        <a:t>Car</a:t>
                      </a:r>
                    </a:p>
                  </a:txBody>
                  <a:tcPr marL="103282" marR="103282" marT="51641" marB="51641"/>
                </a:tc>
                <a:tc>
                  <a:txBody>
                    <a:bodyPr/>
                    <a:lstStyle/>
                    <a:p>
                      <a:r>
                        <a:rPr lang="en-US" sz="2000" dirty="0"/>
                        <a:t>Truck</a:t>
                      </a:r>
                    </a:p>
                  </a:txBody>
                  <a:tcPr marL="103282" marR="103282" marT="51641" marB="51641"/>
                </a:tc>
                <a:tc>
                  <a:txBody>
                    <a:bodyPr/>
                    <a:lstStyle/>
                    <a:p>
                      <a:r>
                        <a:rPr lang="en-US" sz="2000" dirty="0"/>
                        <a:t>Bus</a:t>
                      </a:r>
                    </a:p>
                  </a:txBody>
                  <a:tcPr marL="103282" marR="103282" marT="51641" marB="51641"/>
                </a:tc>
                <a:tc>
                  <a:txBody>
                    <a:bodyPr/>
                    <a:lstStyle/>
                    <a:p>
                      <a:r>
                        <a:rPr lang="en-US" sz="2000" dirty="0"/>
                        <a:t>Motor-bike</a:t>
                      </a:r>
                    </a:p>
                  </a:txBody>
                  <a:tcPr marL="103282" marR="103282" marT="51641" marB="51641"/>
                </a:tc>
                <a:tc>
                  <a:txBody>
                    <a:bodyPr/>
                    <a:lstStyle/>
                    <a:p>
                      <a:r>
                        <a:rPr lang="en-US" sz="2000" dirty="0"/>
                        <a:t>Bicycle </a:t>
                      </a:r>
                    </a:p>
                  </a:txBody>
                  <a:tcPr marL="103282" marR="103282" marT="51641" marB="51641"/>
                </a:tc>
                <a:tc>
                  <a:txBody>
                    <a:bodyPr/>
                    <a:lstStyle/>
                    <a:p>
                      <a:r>
                        <a:rPr lang="en-US" sz="2000" dirty="0"/>
                        <a:t>Total</a:t>
                      </a:r>
                    </a:p>
                  </a:txBody>
                  <a:tcPr marL="103282" marR="103282" marT="51641" marB="51641"/>
                </a:tc>
                <a:extLst>
                  <a:ext uri="{0D108BD9-81ED-4DB2-BD59-A6C34878D82A}">
                    <a16:rowId xmlns:a16="http://schemas.microsoft.com/office/drawing/2014/main" val="2200638579"/>
                  </a:ext>
                </a:extLst>
              </a:tr>
              <a:tr h="418867">
                <a:tc>
                  <a:txBody>
                    <a:bodyPr/>
                    <a:lstStyle/>
                    <a:p>
                      <a:r>
                        <a:rPr lang="en-US" sz="2000" dirty="0"/>
                        <a:t>Monday</a:t>
                      </a:r>
                    </a:p>
                  </a:txBody>
                  <a:tcPr marL="103282" marR="103282" marT="51641" marB="51641"/>
                </a:tc>
                <a:tc>
                  <a:txBody>
                    <a:bodyPr/>
                    <a:lstStyle/>
                    <a:p>
                      <a:pPr algn="ctr"/>
                      <a:r>
                        <a:rPr lang="en-US" sz="2000" dirty="0"/>
                        <a:t>34</a:t>
                      </a:r>
                    </a:p>
                  </a:txBody>
                  <a:tcPr marL="103282" marR="103282" marT="51641" marB="51641"/>
                </a:tc>
                <a:tc>
                  <a:txBody>
                    <a:bodyPr/>
                    <a:lstStyle/>
                    <a:p>
                      <a:pPr algn="ctr"/>
                      <a:r>
                        <a:rPr lang="en-US" sz="2000" dirty="0"/>
                        <a:t>2</a:t>
                      </a:r>
                    </a:p>
                  </a:txBody>
                  <a:tcPr marL="103282" marR="103282" marT="51641" marB="51641"/>
                </a:tc>
                <a:tc>
                  <a:txBody>
                    <a:bodyPr/>
                    <a:lstStyle/>
                    <a:p>
                      <a:pPr algn="ctr"/>
                      <a:r>
                        <a:rPr lang="en-US" sz="2000" dirty="0"/>
                        <a:t>1</a:t>
                      </a:r>
                    </a:p>
                  </a:txBody>
                  <a:tcPr marL="103282" marR="103282" marT="51641" marB="51641"/>
                </a:tc>
                <a:tc>
                  <a:txBody>
                    <a:bodyPr/>
                    <a:lstStyle/>
                    <a:p>
                      <a:pPr algn="ctr"/>
                      <a:r>
                        <a:rPr lang="en-US" sz="2000" dirty="0"/>
                        <a:t>6</a:t>
                      </a:r>
                    </a:p>
                  </a:txBody>
                  <a:tcPr marL="103282" marR="103282" marT="51641" marB="51641"/>
                </a:tc>
                <a:tc>
                  <a:txBody>
                    <a:bodyPr/>
                    <a:lstStyle/>
                    <a:p>
                      <a:pPr algn="ctr"/>
                      <a:r>
                        <a:rPr lang="en-US" sz="2000" dirty="0"/>
                        <a:t>17</a:t>
                      </a:r>
                    </a:p>
                  </a:txBody>
                  <a:tcPr marL="103282" marR="103282" marT="51641" marB="51641"/>
                </a:tc>
                <a:tc>
                  <a:txBody>
                    <a:bodyPr/>
                    <a:lstStyle/>
                    <a:p>
                      <a:pPr algn="ctr"/>
                      <a:r>
                        <a:rPr lang="en-US" sz="2000" dirty="0"/>
                        <a:t>60</a:t>
                      </a:r>
                    </a:p>
                  </a:txBody>
                  <a:tcPr marL="103282" marR="103282" marT="51641" marB="51641"/>
                </a:tc>
                <a:extLst>
                  <a:ext uri="{0D108BD9-81ED-4DB2-BD59-A6C34878D82A}">
                    <a16:rowId xmlns:a16="http://schemas.microsoft.com/office/drawing/2014/main" val="3382170856"/>
                  </a:ext>
                </a:extLst>
              </a:tr>
              <a:tr h="418867">
                <a:tc>
                  <a:txBody>
                    <a:bodyPr/>
                    <a:lstStyle/>
                    <a:p>
                      <a:r>
                        <a:rPr lang="en-US" sz="2000" dirty="0"/>
                        <a:t>Tuesday</a:t>
                      </a:r>
                    </a:p>
                  </a:txBody>
                  <a:tcPr marL="103282" marR="103282" marT="51641" marB="51641"/>
                </a:tc>
                <a:tc>
                  <a:txBody>
                    <a:bodyPr/>
                    <a:lstStyle/>
                    <a:p>
                      <a:pPr algn="ctr"/>
                      <a:r>
                        <a:rPr lang="en-US" sz="2000" dirty="0"/>
                        <a:t>36</a:t>
                      </a:r>
                    </a:p>
                  </a:txBody>
                  <a:tcPr marL="103282" marR="103282" marT="51641" marB="51641"/>
                </a:tc>
                <a:tc>
                  <a:txBody>
                    <a:bodyPr/>
                    <a:lstStyle/>
                    <a:p>
                      <a:pPr algn="ctr"/>
                      <a:r>
                        <a:rPr lang="en-US" sz="2000" dirty="0"/>
                        <a:t>1</a:t>
                      </a:r>
                    </a:p>
                  </a:txBody>
                  <a:tcPr marL="103282" marR="103282" marT="51641" marB="51641"/>
                </a:tc>
                <a:tc>
                  <a:txBody>
                    <a:bodyPr/>
                    <a:lstStyle/>
                    <a:p>
                      <a:pPr algn="ctr"/>
                      <a:r>
                        <a:rPr lang="en-US" sz="2000" dirty="0"/>
                        <a:t>1</a:t>
                      </a:r>
                    </a:p>
                  </a:txBody>
                  <a:tcPr marL="103282" marR="103282" marT="51641" marB="51641"/>
                </a:tc>
                <a:tc>
                  <a:txBody>
                    <a:bodyPr/>
                    <a:lstStyle/>
                    <a:p>
                      <a:pPr algn="ctr"/>
                      <a:r>
                        <a:rPr lang="en-US" sz="2000" dirty="0"/>
                        <a:t>5</a:t>
                      </a:r>
                    </a:p>
                  </a:txBody>
                  <a:tcPr marL="103282" marR="103282" marT="51641" marB="51641"/>
                </a:tc>
                <a:tc>
                  <a:txBody>
                    <a:bodyPr/>
                    <a:lstStyle/>
                    <a:p>
                      <a:pPr algn="ctr"/>
                      <a:r>
                        <a:rPr lang="en-US" sz="2000" dirty="0"/>
                        <a:t>18</a:t>
                      </a:r>
                    </a:p>
                  </a:txBody>
                  <a:tcPr marL="103282" marR="103282" marT="51641" marB="51641"/>
                </a:tc>
                <a:tc>
                  <a:txBody>
                    <a:bodyPr/>
                    <a:lstStyle/>
                    <a:p>
                      <a:pPr algn="ctr"/>
                      <a:r>
                        <a:rPr lang="en-US" sz="2000" dirty="0"/>
                        <a:t>61</a:t>
                      </a:r>
                    </a:p>
                  </a:txBody>
                  <a:tcPr marL="103282" marR="103282" marT="51641" marB="51641"/>
                </a:tc>
                <a:extLst>
                  <a:ext uri="{0D108BD9-81ED-4DB2-BD59-A6C34878D82A}">
                    <a16:rowId xmlns:a16="http://schemas.microsoft.com/office/drawing/2014/main" val="43682809"/>
                  </a:ext>
                </a:extLst>
              </a:tr>
              <a:tr h="418867">
                <a:tc>
                  <a:txBody>
                    <a:bodyPr/>
                    <a:lstStyle/>
                    <a:p>
                      <a:r>
                        <a:rPr lang="en-US" sz="2000" dirty="0"/>
                        <a:t>Wednesday</a:t>
                      </a:r>
                    </a:p>
                  </a:txBody>
                  <a:tcPr marL="103282" marR="103282" marT="51641" marB="51641"/>
                </a:tc>
                <a:tc>
                  <a:txBody>
                    <a:bodyPr/>
                    <a:lstStyle/>
                    <a:p>
                      <a:pPr algn="ctr"/>
                      <a:r>
                        <a:rPr lang="en-US" sz="2000" dirty="0"/>
                        <a:t>33</a:t>
                      </a:r>
                    </a:p>
                  </a:txBody>
                  <a:tcPr marL="103282" marR="103282" marT="51641" marB="51641"/>
                </a:tc>
                <a:tc>
                  <a:txBody>
                    <a:bodyPr/>
                    <a:lstStyle/>
                    <a:p>
                      <a:pPr algn="ctr"/>
                      <a:r>
                        <a:rPr lang="en-US" sz="2000" dirty="0"/>
                        <a:t>3</a:t>
                      </a:r>
                    </a:p>
                  </a:txBody>
                  <a:tcPr marL="103282" marR="103282" marT="51641" marB="51641"/>
                </a:tc>
                <a:tc>
                  <a:txBody>
                    <a:bodyPr/>
                    <a:lstStyle/>
                    <a:p>
                      <a:pPr algn="ctr"/>
                      <a:r>
                        <a:rPr lang="en-US" sz="2000" dirty="0"/>
                        <a:t>1</a:t>
                      </a:r>
                    </a:p>
                  </a:txBody>
                  <a:tcPr marL="103282" marR="103282" marT="51641" marB="51641"/>
                </a:tc>
                <a:tc>
                  <a:txBody>
                    <a:bodyPr/>
                    <a:lstStyle/>
                    <a:p>
                      <a:pPr algn="ctr"/>
                      <a:r>
                        <a:rPr lang="en-US" sz="2000" dirty="0"/>
                        <a:t>6</a:t>
                      </a:r>
                    </a:p>
                  </a:txBody>
                  <a:tcPr marL="103282" marR="103282" marT="51641" marB="51641"/>
                </a:tc>
                <a:tc>
                  <a:txBody>
                    <a:bodyPr/>
                    <a:lstStyle/>
                    <a:p>
                      <a:pPr algn="ctr"/>
                      <a:r>
                        <a:rPr lang="en-US" sz="2000" dirty="0"/>
                        <a:t>16</a:t>
                      </a:r>
                    </a:p>
                  </a:txBody>
                  <a:tcPr marL="103282" marR="103282" marT="51641" marB="51641"/>
                </a:tc>
                <a:tc>
                  <a:txBody>
                    <a:bodyPr/>
                    <a:lstStyle/>
                    <a:p>
                      <a:pPr algn="ctr"/>
                      <a:r>
                        <a:rPr lang="en-US" sz="2000" dirty="0"/>
                        <a:t>59</a:t>
                      </a:r>
                    </a:p>
                  </a:txBody>
                  <a:tcPr marL="103282" marR="103282" marT="51641" marB="51641"/>
                </a:tc>
                <a:extLst>
                  <a:ext uri="{0D108BD9-81ED-4DB2-BD59-A6C34878D82A}">
                    <a16:rowId xmlns:a16="http://schemas.microsoft.com/office/drawing/2014/main" val="1746144757"/>
                  </a:ext>
                </a:extLst>
              </a:tr>
              <a:tr h="418867">
                <a:tc>
                  <a:txBody>
                    <a:bodyPr/>
                    <a:lstStyle/>
                    <a:p>
                      <a:r>
                        <a:rPr lang="en-US" sz="2000" dirty="0"/>
                        <a:t>Thursday</a:t>
                      </a:r>
                    </a:p>
                  </a:txBody>
                  <a:tcPr marL="103282" marR="103282" marT="51641" marB="51641"/>
                </a:tc>
                <a:tc>
                  <a:txBody>
                    <a:bodyPr/>
                    <a:lstStyle/>
                    <a:p>
                      <a:pPr algn="ctr"/>
                      <a:r>
                        <a:rPr lang="en-US" sz="2000" dirty="0"/>
                        <a:t>40</a:t>
                      </a:r>
                    </a:p>
                  </a:txBody>
                  <a:tcPr marL="103282" marR="103282" marT="51641" marB="51641"/>
                </a:tc>
                <a:tc>
                  <a:txBody>
                    <a:bodyPr/>
                    <a:lstStyle/>
                    <a:p>
                      <a:pPr algn="ctr"/>
                      <a:r>
                        <a:rPr lang="en-US" sz="2000" dirty="0"/>
                        <a:t>0</a:t>
                      </a:r>
                    </a:p>
                  </a:txBody>
                  <a:tcPr marL="103282" marR="103282" marT="51641" marB="51641"/>
                </a:tc>
                <a:tc>
                  <a:txBody>
                    <a:bodyPr/>
                    <a:lstStyle/>
                    <a:p>
                      <a:pPr algn="ctr"/>
                      <a:r>
                        <a:rPr lang="en-US" sz="2000" dirty="0"/>
                        <a:t>1</a:t>
                      </a:r>
                    </a:p>
                  </a:txBody>
                  <a:tcPr marL="103282" marR="103282" marT="51641" marB="51641"/>
                </a:tc>
                <a:tc>
                  <a:txBody>
                    <a:bodyPr/>
                    <a:lstStyle/>
                    <a:p>
                      <a:pPr algn="ctr"/>
                      <a:r>
                        <a:rPr lang="en-US" sz="2000" dirty="0"/>
                        <a:t>2</a:t>
                      </a:r>
                    </a:p>
                  </a:txBody>
                  <a:tcPr marL="103282" marR="103282" marT="51641" marB="51641"/>
                </a:tc>
                <a:tc>
                  <a:txBody>
                    <a:bodyPr/>
                    <a:lstStyle/>
                    <a:p>
                      <a:pPr algn="ctr"/>
                      <a:r>
                        <a:rPr lang="en-US" sz="2000" dirty="0"/>
                        <a:t>15</a:t>
                      </a:r>
                    </a:p>
                  </a:txBody>
                  <a:tcPr marL="103282" marR="103282" marT="51641" marB="51641"/>
                </a:tc>
                <a:tc>
                  <a:txBody>
                    <a:bodyPr/>
                    <a:lstStyle/>
                    <a:p>
                      <a:pPr algn="ctr"/>
                      <a:r>
                        <a:rPr lang="en-US" sz="2000" dirty="0"/>
                        <a:t>58</a:t>
                      </a:r>
                    </a:p>
                  </a:txBody>
                  <a:tcPr marL="103282" marR="103282" marT="51641" marB="51641"/>
                </a:tc>
                <a:extLst>
                  <a:ext uri="{0D108BD9-81ED-4DB2-BD59-A6C34878D82A}">
                    <a16:rowId xmlns:a16="http://schemas.microsoft.com/office/drawing/2014/main" val="4281603487"/>
                  </a:ext>
                </a:extLst>
              </a:tr>
              <a:tr h="418867">
                <a:tc>
                  <a:txBody>
                    <a:bodyPr/>
                    <a:lstStyle/>
                    <a:p>
                      <a:r>
                        <a:rPr lang="en-US" sz="2000" dirty="0"/>
                        <a:t>Friday</a:t>
                      </a:r>
                    </a:p>
                  </a:txBody>
                  <a:tcPr marL="103282" marR="103282" marT="51641" marB="51641"/>
                </a:tc>
                <a:tc>
                  <a:txBody>
                    <a:bodyPr/>
                    <a:lstStyle/>
                    <a:p>
                      <a:pPr algn="ctr"/>
                      <a:r>
                        <a:rPr lang="en-US" sz="2000" dirty="0"/>
                        <a:t>34</a:t>
                      </a:r>
                    </a:p>
                  </a:txBody>
                  <a:tcPr marL="103282" marR="103282" marT="51641" marB="51641"/>
                </a:tc>
                <a:tc>
                  <a:txBody>
                    <a:bodyPr/>
                    <a:lstStyle/>
                    <a:p>
                      <a:pPr algn="ctr"/>
                      <a:r>
                        <a:rPr lang="en-US" sz="2000" dirty="0"/>
                        <a:t>2</a:t>
                      </a:r>
                    </a:p>
                  </a:txBody>
                  <a:tcPr marL="103282" marR="103282" marT="51641" marB="51641"/>
                </a:tc>
                <a:tc>
                  <a:txBody>
                    <a:bodyPr/>
                    <a:lstStyle/>
                    <a:p>
                      <a:pPr algn="ctr"/>
                      <a:r>
                        <a:rPr lang="en-US" sz="2000" dirty="0"/>
                        <a:t>0</a:t>
                      </a:r>
                    </a:p>
                  </a:txBody>
                  <a:tcPr marL="103282" marR="103282" marT="51641" marB="51641"/>
                </a:tc>
                <a:tc>
                  <a:txBody>
                    <a:bodyPr/>
                    <a:lstStyle/>
                    <a:p>
                      <a:pPr algn="ctr"/>
                      <a:r>
                        <a:rPr lang="en-US" sz="2000" dirty="0"/>
                        <a:t>4</a:t>
                      </a:r>
                    </a:p>
                  </a:txBody>
                  <a:tcPr marL="103282" marR="103282" marT="51641" marB="51641"/>
                </a:tc>
                <a:tc>
                  <a:txBody>
                    <a:bodyPr/>
                    <a:lstStyle/>
                    <a:p>
                      <a:pPr algn="ctr"/>
                      <a:r>
                        <a:rPr lang="en-US" sz="2000" dirty="0"/>
                        <a:t>16</a:t>
                      </a:r>
                    </a:p>
                  </a:txBody>
                  <a:tcPr marL="103282" marR="103282" marT="51641" marB="51641"/>
                </a:tc>
                <a:tc>
                  <a:txBody>
                    <a:bodyPr/>
                    <a:lstStyle/>
                    <a:p>
                      <a:pPr algn="ctr"/>
                      <a:r>
                        <a:rPr lang="en-US" sz="2000" dirty="0"/>
                        <a:t>56</a:t>
                      </a:r>
                    </a:p>
                  </a:txBody>
                  <a:tcPr marL="103282" marR="103282" marT="51641" marB="51641"/>
                </a:tc>
                <a:extLst>
                  <a:ext uri="{0D108BD9-81ED-4DB2-BD59-A6C34878D82A}">
                    <a16:rowId xmlns:a16="http://schemas.microsoft.com/office/drawing/2014/main" val="2249454675"/>
                  </a:ext>
                </a:extLst>
              </a:tr>
              <a:tr h="418867">
                <a:tc>
                  <a:txBody>
                    <a:bodyPr/>
                    <a:lstStyle/>
                    <a:p>
                      <a:r>
                        <a:rPr lang="en-US" sz="2000" dirty="0"/>
                        <a:t>Total</a:t>
                      </a:r>
                    </a:p>
                  </a:txBody>
                  <a:tcPr marL="103282" marR="103282" marT="51641" marB="51641"/>
                </a:tc>
                <a:tc>
                  <a:txBody>
                    <a:bodyPr/>
                    <a:lstStyle/>
                    <a:p>
                      <a:pPr algn="ctr"/>
                      <a:r>
                        <a:rPr lang="en-US" sz="2000" dirty="0"/>
                        <a:t>177</a:t>
                      </a:r>
                    </a:p>
                  </a:txBody>
                  <a:tcPr marL="103282" marR="103282" marT="51641" marB="51641"/>
                </a:tc>
                <a:tc>
                  <a:txBody>
                    <a:bodyPr/>
                    <a:lstStyle/>
                    <a:p>
                      <a:pPr algn="ctr"/>
                      <a:r>
                        <a:rPr lang="en-US" sz="2000" dirty="0"/>
                        <a:t>8</a:t>
                      </a:r>
                    </a:p>
                  </a:txBody>
                  <a:tcPr marL="103282" marR="103282" marT="51641" marB="51641"/>
                </a:tc>
                <a:tc>
                  <a:txBody>
                    <a:bodyPr/>
                    <a:lstStyle/>
                    <a:p>
                      <a:pPr algn="ctr"/>
                      <a:r>
                        <a:rPr lang="en-US" sz="2000" dirty="0"/>
                        <a:t>4</a:t>
                      </a:r>
                    </a:p>
                  </a:txBody>
                  <a:tcPr marL="103282" marR="103282" marT="51641" marB="51641"/>
                </a:tc>
                <a:tc>
                  <a:txBody>
                    <a:bodyPr/>
                    <a:lstStyle/>
                    <a:p>
                      <a:pPr algn="ctr"/>
                      <a:r>
                        <a:rPr lang="en-US" sz="2000" dirty="0"/>
                        <a:t>23</a:t>
                      </a:r>
                    </a:p>
                  </a:txBody>
                  <a:tcPr marL="103282" marR="103282" marT="51641" marB="51641"/>
                </a:tc>
                <a:tc>
                  <a:txBody>
                    <a:bodyPr/>
                    <a:lstStyle/>
                    <a:p>
                      <a:pPr algn="ctr"/>
                      <a:r>
                        <a:rPr lang="en-US" sz="2000" dirty="0"/>
                        <a:t>82</a:t>
                      </a:r>
                    </a:p>
                  </a:txBody>
                  <a:tcPr marL="103282" marR="103282" marT="51641" marB="51641"/>
                </a:tc>
                <a:tc>
                  <a:txBody>
                    <a:bodyPr/>
                    <a:lstStyle/>
                    <a:p>
                      <a:pPr algn="ctr"/>
                      <a:r>
                        <a:rPr lang="en-US" sz="2000" dirty="0"/>
                        <a:t>294</a:t>
                      </a:r>
                    </a:p>
                  </a:txBody>
                  <a:tcPr marL="103282" marR="103282" marT="51641" marB="51641"/>
                </a:tc>
                <a:extLst>
                  <a:ext uri="{0D108BD9-81ED-4DB2-BD59-A6C34878D82A}">
                    <a16:rowId xmlns:a16="http://schemas.microsoft.com/office/drawing/2014/main" val="3357165154"/>
                  </a:ext>
                </a:extLst>
              </a:tr>
            </a:tbl>
          </a:graphicData>
        </a:graphic>
      </p:graphicFrame>
      <p:sp>
        <p:nvSpPr>
          <p:cNvPr id="4" name="TextBox 3">
            <a:extLst>
              <a:ext uri="{FF2B5EF4-FFF2-40B4-BE49-F238E27FC236}">
                <a16:creationId xmlns:a16="http://schemas.microsoft.com/office/drawing/2014/main" id="{6B129B0D-1C61-1E48-85AA-DF6D597CA86D}"/>
              </a:ext>
            </a:extLst>
          </p:cNvPr>
          <p:cNvSpPr txBox="1"/>
          <p:nvPr/>
        </p:nvSpPr>
        <p:spPr>
          <a:xfrm>
            <a:off x="229017" y="1052090"/>
            <a:ext cx="11493291" cy="369332"/>
          </a:xfrm>
          <a:prstGeom prst="rect">
            <a:avLst/>
          </a:prstGeom>
          <a:noFill/>
        </p:spPr>
        <p:txBody>
          <a:bodyPr wrap="square" rtlCol="0">
            <a:spAutoFit/>
          </a:bodyPr>
          <a:lstStyle/>
          <a:p>
            <a:r>
              <a:rPr lang="en-US" dirty="0"/>
              <a:t>The table below shows vehicles that were recorded going past a school over the course of one hour each day for a week. </a:t>
            </a:r>
          </a:p>
        </p:txBody>
      </p:sp>
      <p:sp>
        <p:nvSpPr>
          <p:cNvPr id="5" name="TextBox 4">
            <a:extLst>
              <a:ext uri="{FF2B5EF4-FFF2-40B4-BE49-F238E27FC236}">
                <a16:creationId xmlns:a16="http://schemas.microsoft.com/office/drawing/2014/main" id="{87189EB8-6F5B-C54E-A174-9C6B5F544311}"/>
              </a:ext>
            </a:extLst>
          </p:cNvPr>
          <p:cNvSpPr txBox="1"/>
          <p:nvPr/>
        </p:nvSpPr>
        <p:spPr>
          <a:xfrm>
            <a:off x="6685613" y="1693889"/>
            <a:ext cx="5336498" cy="4154984"/>
          </a:xfrm>
          <a:prstGeom prst="rect">
            <a:avLst/>
          </a:prstGeom>
          <a:noFill/>
        </p:spPr>
        <p:txBody>
          <a:bodyPr wrap="square" rtlCol="0">
            <a:spAutoFit/>
          </a:bodyPr>
          <a:lstStyle/>
          <a:p>
            <a:pPr marL="342900" indent="-342900">
              <a:buAutoNum type="arabicPeriod"/>
            </a:pPr>
            <a:r>
              <a:rPr lang="en-US" sz="2400" dirty="0"/>
              <a:t>On which day where their the most trucks observed? On which day was the least trucks observed?  </a:t>
            </a:r>
          </a:p>
          <a:p>
            <a:pPr marL="342900" indent="-342900">
              <a:buAutoNum type="arabicPeriod"/>
            </a:pPr>
            <a:endParaRPr lang="en-US" sz="2400" dirty="0"/>
          </a:p>
          <a:p>
            <a:pPr marL="342900" indent="-342900">
              <a:buAutoNum type="arabicPeriod"/>
            </a:pPr>
            <a:r>
              <a:rPr lang="en-US" sz="2400" dirty="0"/>
              <a:t>Which vehicles were the most common over the course of the week?</a:t>
            </a:r>
          </a:p>
          <a:p>
            <a:pPr marL="342900" indent="-342900">
              <a:buAutoNum type="arabicPeriod"/>
            </a:pPr>
            <a:endParaRPr lang="en-US" sz="2400" dirty="0"/>
          </a:p>
          <a:p>
            <a:pPr marL="342900" indent="-342900">
              <a:buAutoNum type="arabicPeriod"/>
            </a:pPr>
            <a:r>
              <a:rPr lang="en-US" sz="2400" dirty="0"/>
              <a:t>What can you tell about how the table is constructed? What do the numbers in each cell refer to? How about the totals for each rows or columns?</a:t>
            </a:r>
          </a:p>
        </p:txBody>
      </p:sp>
    </p:spTree>
    <p:extLst>
      <p:ext uri="{BB962C8B-B14F-4D97-AF65-F5344CB8AC3E}">
        <p14:creationId xmlns:p14="http://schemas.microsoft.com/office/powerpoint/2010/main" val="426474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2F46A-D685-504A-BFDB-28529B91132C}"/>
              </a:ext>
            </a:extLst>
          </p:cNvPr>
          <p:cNvSpPr>
            <a:spLocks noGrp="1"/>
          </p:cNvSpPr>
          <p:nvPr>
            <p:ph idx="1"/>
          </p:nvPr>
        </p:nvSpPr>
        <p:spPr>
          <a:xfrm>
            <a:off x="5443993" y="891734"/>
            <a:ext cx="5928344" cy="5572556"/>
          </a:xfrm>
        </p:spPr>
        <p:txBody>
          <a:bodyPr>
            <a:normAutofit lnSpcReduction="10000"/>
          </a:bodyPr>
          <a:lstStyle/>
          <a:p>
            <a:r>
              <a:rPr lang="en-AU" dirty="0"/>
              <a:t>Using the table above as a reference point. </a:t>
            </a:r>
          </a:p>
          <a:p>
            <a:r>
              <a:rPr lang="en-AU" dirty="0"/>
              <a:t>Survey your class to find out how much study or homework each person did for each weekday over the past week did. </a:t>
            </a:r>
          </a:p>
          <a:p>
            <a:endParaRPr lang="en-US" dirty="0"/>
          </a:p>
          <a:p>
            <a:r>
              <a:rPr lang="en-US" dirty="0"/>
              <a:t>Use the data to create a two-way table with the days of the week and the amount of time spent on study or homework. Make sure that you consider how to categorise the amount of time spent.</a:t>
            </a:r>
          </a:p>
          <a:p>
            <a:pPr marL="457200" indent="-457200">
              <a:buFont typeface="+mj-lt"/>
              <a:buAutoNum type="arabicPeriod"/>
            </a:pPr>
            <a:r>
              <a:rPr lang="en-US" dirty="0"/>
              <a:t>What does it tell you about the study or homework habits of your class over the past week? </a:t>
            </a:r>
          </a:p>
          <a:p>
            <a:pPr marL="457200" indent="-457200">
              <a:buFont typeface="+mj-lt"/>
              <a:buAutoNum type="arabicPeriod"/>
            </a:pPr>
            <a:r>
              <a:rPr lang="en-AU" dirty="0"/>
              <a:t>What questions could you ask about the data? </a:t>
            </a:r>
          </a:p>
          <a:p>
            <a:pPr marL="457200" indent="-457200">
              <a:buFont typeface="+mj-lt"/>
              <a:buAutoNum type="arabicPeriod"/>
            </a:pPr>
            <a:endParaRPr lang="en-AU" dirty="0"/>
          </a:p>
          <a:p>
            <a:pPr marL="0" indent="0">
              <a:buNone/>
            </a:pPr>
            <a:r>
              <a:rPr lang="en-AU" i="1" dirty="0"/>
              <a:t>Finished? Complete apply on page 92 and 93. </a:t>
            </a:r>
          </a:p>
        </p:txBody>
      </p:sp>
      <p:sp>
        <p:nvSpPr>
          <p:cNvPr id="16" name="TextBox 15">
            <a:extLst>
              <a:ext uri="{FF2B5EF4-FFF2-40B4-BE49-F238E27FC236}">
                <a16:creationId xmlns:a16="http://schemas.microsoft.com/office/drawing/2014/main" id="{112CFE38-DA7D-4E47-BAD0-DCBA8769E3CF}"/>
              </a:ext>
            </a:extLst>
          </p:cNvPr>
          <p:cNvSpPr txBox="1"/>
          <p:nvPr/>
        </p:nvSpPr>
        <p:spPr>
          <a:xfrm>
            <a:off x="5598562" y="288779"/>
            <a:ext cx="3815261" cy="707886"/>
          </a:xfrm>
          <a:prstGeom prst="rect">
            <a:avLst/>
          </a:prstGeom>
          <a:noFill/>
        </p:spPr>
        <p:txBody>
          <a:bodyPr wrap="square" rtlCol="0">
            <a:spAutoFit/>
          </a:bodyPr>
          <a:lstStyle/>
          <a:p>
            <a:r>
              <a:rPr lang="en-US" sz="4000" dirty="0"/>
              <a:t>TASK: Experiment </a:t>
            </a:r>
          </a:p>
        </p:txBody>
      </p:sp>
      <p:sp>
        <p:nvSpPr>
          <p:cNvPr id="7" name="Title 6">
            <a:extLst>
              <a:ext uri="{FF2B5EF4-FFF2-40B4-BE49-F238E27FC236}">
                <a16:creationId xmlns:a16="http://schemas.microsoft.com/office/drawing/2014/main" id="{FAC35E60-EB3E-4C49-B78B-7B9A5B3B5BF2}"/>
              </a:ext>
            </a:extLst>
          </p:cNvPr>
          <p:cNvSpPr>
            <a:spLocks noGrp="1"/>
          </p:cNvSpPr>
          <p:nvPr>
            <p:ph type="title"/>
          </p:nvPr>
        </p:nvSpPr>
        <p:spPr>
          <a:xfrm>
            <a:off x="497533" y="1688968"/>
            <a:ext cx="3517567" cy="2093975"/>
          </a:xfrm>
        </p:spPr>
        <p:txBody>
          <a:bodyPr>
            <a:normAutofit fontScale="90000"/>
          </a:bodyPr>
          <a:lstStyle/>
          <a:p>
            <a:r>
              <a:rPr lang="en-US" sz="4400" dirty="0">
                <a:solidFill>
                  <a:schemeClr val="bg1"/>
                </a:solidFill>
              </a:rPr>
              <a:t>Topic: Two-Way Tables</a:t>
            </a:r>
            <a:br>
              <a:rPr lang="en-US" sz="4400" dirty="0">
                <a:solidFill>
                  <a:schemeClr val="bg1"/>
                </a:solidFill>
              </a:rPr>
            </a:br>
            <a:r>
              <a:rPr lang="en-US" dirty="0">
                <a:solidFill>
                  <a:schemeClr val="bg1"/>
                </a:solidFill>
              </a:rPr>
              <a:t>EQ: What are Two-Way tables and how do I read them? </a:t>
            </a:r>
            <a:br>
              <a:rPr lang="en-US" sz="2800" dirty="0">
                <a:solidFill>
                  <a:schemeClr val="bg1"/>
                </a:solidFill>
              </a:rPr>
            </a:br>
            <a:endParaRPr lang="en-US" dirty="0">
              <a:solidFill>
                <a:schemeClr val="bg1"/>
              </a:solidFill>
            </a:endParaRPr>
          </a:p>
        </p:txBody>
      </p:sp>
      <p:sp>
        <p:nvSpPr>
          <p:cNvPr id="9" name="TextBox 8">
            <a:extLst>
              <a:ext uri="{FF2B5EF4-FFF2-40B4-BE49-F238E27FC236}">
                <a16:creationId xmlns:a16="http://schemas.microsoft.com/office/drawing/2014/main" id="{3CBA0E38-D971-9E4D-82D9-8F0DF458E478}"/>
              </a:ext>
            </a:extLst>
          </p:cNvPr>
          <p:cNvSpPr txBox="1"/>
          <p:nvPr/>
        </p:nvSpPr>
        <p:spPr>
          <a:xfrm>
            <a:off x="10143081" y="288779"/>
            <a:ext cx="1894022" cy="707886"/>
          </a:xfrm>
          <a:prstGeom prst="rect">
            <a:avLst/>
          </a:prstGeom>
          <a:noFill/>
        </p:spPr>
        <p:txBody>
          <a:bodyPr wrap="square" rtlCol="0">
            <a:spAutoFit/>
          </a:bodyPr>
          <a:lstStyle/>
          <a:p>
            <a:r>
              <a:rPr lang="en-US" sz="4000" dirty="0"/>
              <a:t>Page 92</a:t>
            </a:r>
          </a:p>
        </p:txBody>
      </p:sp>
    </p:spTree>
    <p:extLst>
      <p:ext uri="{BB962C8B-B14F-4D97-AF65-F5344CB8AC3E}">
        <p14:creationId xmlns:p14="http://schemas.microsoft.com/office/powerpoint/2010/main" val="3340984795"/>
      </p:ext>
    </p:extLst>
  </p:cSld>
  <p:clrMapOvr>
    <a:masterClrMapping/>
  </p:clrMapOvr>
</p:sld>
</file>

<file path=ppt/theme/theme1.xml><?xml version="1.0" encoding="utf-8"?>
<a:theme xmlns:a="http://schemas.openxmlformats.org/drawingml/2006/main" name="RetrospectVTI">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5746</TotalTime>
  <Words>516</Words>
  <Application>Microsoft Macintosh PowerPoint</Application>
  <PresentationFormat>Widescreen</PresentationFormat>
  <Paragraphs>89</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Calibri</vt:lpstr>
      <vt:lpstr>Calibri Light</vt:lpstr>
      <vt:lpstr>Cambria Math</vt:lpstr>
      <vt:lpstr>RetrospectVTI</vt:lpstr>
      <vt:lpstr>Topic: Two-Way Tables EQ: What are Two-Way tables and how do I read them? </vt:lpstr>
      <vt:lpstr>First 5</vt:lpstr>
      <vt:lpstr>PowerPoint Presentation</vt:lpstr>
      <vt:lpstr>PowerPoint Presentation</vt:lpstr>
      <vt:lpstr>Topic: Two-Way Tables EQ: What are Two-Way tables and how do I read them?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Conversion graphs for continuous data EQ: </dc:title>
  <dc:creator>DIXON Emily [Baldivis Secondary College]</dc:creator>
  <cp:lastModifiedBy>DIXON Emily [Baldivis Secondary College]</cp:lastModifiedBy>
  <cp:revision>31</cp:revision>
  <dcterms:created xsi:type="dcterms:W3CDTF">2021-07-26T09:22:31Z</dcterms:created>
  <dcterms:modified xsi:type="dcterms:W3CDTF">2021-07-31T10:11:22Z</dcterms:modified>
</cp:coreProperties>
</file>
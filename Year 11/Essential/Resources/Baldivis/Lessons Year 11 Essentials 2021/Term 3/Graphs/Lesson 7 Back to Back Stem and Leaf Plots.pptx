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4" r:id="rId1"/>
    <p:sldMasterId id="2147483826" r:id="rId2"/>
    <p:sldMasterId id="2147483838" r:id="rId3"/>
    <p:sldMasterId id="2147483850" r:id="rId4"/>
  </p:sldMasterIdLst>
  <p:notesMasterIdLst>
    <p:notesMasterId r:id="rId17"/>
  </p:notesMasterIdLst>
  <p:sldIdLst>
    <p:sldId id="361" r:id="rId5"/>
    <p:sldId id="301" r:id="rId6"/>
    <p:sldId id="289" r:id="rId7"/>
    <p:sldId id="348" r:id="rId8"/>
    <p:sldId id="345" r:id="rId9"/>
    <p:sldId id="347" r:id="rId10"/>
    <p:sldId id="302" r:id="rId11"/>
    <p:sldId id="346" r:id="rId12"/>
    <p:sldId id="350" r:id="rId13"/>
    <p:sldId id="299" r:id="rId14"/>
    <p:sldId id="286" r:id="rId15"/>
    <p:sldId id="360" r:id="rId16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70" autoAdjust="0"/>
    <p:restoredTop sz="67753" autoAdjust="0"/>
  </p:normalViewPr>
  <p:slideViewPr>
    <p:cSldViewPr snapToGrid="0" snapToObjects="1">
      <p:cViewPr varScale="1">
        <p:scale>
          <a:sx n="63" d="100"/>
          <a:sy n="63" d="100"/>
        </p:scale>
        <p:origin x="63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05/08/2021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5D6DF-A159-4F50-B9AF-8F30B100FF3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632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55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11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E8DC4EB5-DE8D-4CEA-AEE6-8FFBEA94F1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FFBF05-F124-47AB-A8DC-C88CBD50BA0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D406F69B-6490-44F1-ABBA-112D7C747C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17DC2D4A-4EEA-40B1-B58A-893A4D8D0E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A5D9CF79-DF08-4898-88DB-64C1598219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27A9ED-EBB9-42A1-A2C6-10512541810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08528CE9-31D1-4A01-892F-6FF1D579F4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CDF58183-FE75-4645-B38A-3206448B0D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1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741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16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830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480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726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314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2214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20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538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2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63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60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08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63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535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360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9077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085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2228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48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750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65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90F7C-432E-4A39-BFD1-DB1A776D5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83A201-E931-42CD-BDD7-3C0E23DEC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7B4ABC-5C2A-4B36-8CEE-F17E92DC97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856256-6C46-4BB4-A564-C046187A73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5DE9DC-949F-406A-AFA5-C6CFC694D6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10F627-EC21-4160-84DC-CDBE6902D74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388746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CCBC-0C04-448D-A0B3-429951134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5C485-5B87-4649-8430-2521F3139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AD7513-1399-4E01-949F-301FB2AF5E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29B292-5D24-42B3-A068-DD4161BB2D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15C019-FF8D-4684-9CD5-1A58E7C198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3D08E-5945-49FD-97B0-04776B1A2D3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570520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ACBCE-4CE6-44BF-A60F-0BD157880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8809B-1665-4518-AE82-D45EACEA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542603-A845-42A1-B660-BEC8915753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01B83-6105-4093-9076-777DE4DE4B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60D1A2-ED3C-46E5-9DCC-B8B91A6DD9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EB2B4-4E8C-4260-ABE3-AFB1B11D114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369041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C06DB-655C-4629-80A3-B2F933103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9F7B0-743F-45AD-BBEB-7386B9C6C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FD4D0-26E6-4EBB-880B-484780D5E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BDAF3A-997A-4C96-9664-C81A5580C2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56451-517A-454E-B76A-41FDFC56F9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6206E6-E941-4A66-A645-138E97B0EC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B06799-351F-4F90-AAE0-A09A57801FC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198362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A061A-910B-4669-ADA7-C69F6F6F8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BE029-5FBE-48A0-B1E8-7E1E748BB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9EE35-FBFA-434F-ACD2-DF7AFD5D5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88520-0B78-40D8-BAEB-A70EB6B11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CEDD3-8780-4D83-A8A0-72950D9B1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9FF72B2-19DB-4727-871C-62A063483E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1E44D6F-704E-4191-904F-903D373911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E2970D3-A9B7-42E8-9783-0F81CEEC1E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230F1F-4624-4BAD-A9C0-B250E112EB3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157774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1410E-6DAD-4211-9EE1-BE0727717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7792546-81DD-4B96-B635-72C2DED58A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CA33B8-FD4A-43D6-9884-641A8B195D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9B514D5-FC32-4EDC-B3D6-5D4C3CF582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E9D26B-226A-44A8-8C77-116AD6C4126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979043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8C53144-7EA1-4B44-823E-AEDBE84B37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4862B6D-BE41-473F-A976-AD133EEF68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2C635B-AE18-476A-B46E-0A6930511E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22097C-1800-4144-8CFD-D58ECC914F2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229801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31A8-6205-43BA-847F-CBAC5308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4EE6A-47BA-477C-BD92-D051AB924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4803F-F487-4ED5-964E-7189E7864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2C0D28-C6A6-48A9-9090-32D23C40AD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E436F0-BA1A-4965-A54E-AEF6A8E8CF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091592-F67E-4975-B04C-F3BCCA62D6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B61808-7F6D-4845-9207-DC8750A6F05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041459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923E-F32E-4004-AA5A-B63D2F3ED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24B0AF-3CF1-4956-972F-3475815E3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32031-79CE-4A2E-BA7B-6E77E76D7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115068-77AA-42BE-B7AE-BD184A771B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439796-694C-4B80-BEFB-06097DD403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175C6F-7D79-4ED6-9DD8-ADA077166C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C20599-0BAF-424F-96CC-81EF0784E82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729042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08BB6-D558-46E8-8C98-8C3C13ABC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8FAC3-F9A7-4FA9-97CB-4A2F6C9B0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C1500D-AC50-4403-ABF7-8BEA6F960C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0D1D7A-1771-4DC0-B6D7-1FBBEF4581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06A432-CBAA-4ED9-BE33-478A0609D0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4F1204-A34E-4BCF-8198-8D98BB322CE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69450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6DA8D4-78F7-4BE1-BF80-C2211B05C7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820B7-59FD-43D4-87CF-8A86CB22F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5FE34E-2956-475B-9AF2-E5D8ADD60F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C9F2EF-1185-4ADD-9659-D401B3F217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518FB4-2A33-413A-80A8-06C56C3273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8EF14F-E398-41A1-A9F2-6BBC1BAC32A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138905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1992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99468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7652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49244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63582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95356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48184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9782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6194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09796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353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98054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9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C4A4A59-2E88-40EC-923F-F42DF0963BBE}" type="slidenum">
              <a:rPr lang="en-GB" altLang="en-US" smtClean="0"/>
              <a:pPr/>
              <a:t>‹#›</a:t>
            </a:fld>
            <a:endParaRPr lang="en-GB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533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CCFE9AC-F15C-4FA0-A6F1-298829FA69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29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8020217-595E-4149-9629-CD1F0A711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7A2C506-19AE-4E5B-8E2B-594EABB6A4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7105D8B-9DA6-46E3-ADC2-A5C730651EA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1B6F7E3-6963-495B-8820-2E852A51285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B1F66DC-57E9-482D-97F6-67E9ADA4EA3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EC4A4A59-2E88-40EC-923F-F42DF0963BB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54680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500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Topic: Back to Back Stem and leaf plots</a:t>
            </a:r>
            <a:b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</a:br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EQ: </a:t>
            </a:r>
            <a:r>
              <a:rPr kumimoji="0" lang="en-A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How can I use Stem and Leaf Plots to compare two sets of data ?</a:t>
            </a:r>
            <a:endParaRPr lang="en-GB" sz="4000" dirty="0">
              <a:solidFill>
                <a:schemeClr val="tx1"/>
              </a:solidFill>
              <a:latin typeface="Tw Cen MT Condensed" panose="020B06060201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2000" dirty="0">
                <a:solidFill>
                  <a:schemeClr val="tx1"/>
                </a:solidFill>
                <a:latin typeface="Tw Cen MT" panose="020B0602020104020603" pitchFamily="34" charset="0"/>
              </a:rPr>
              <a:t>Year </a:t>
            </a:r>
            <a:r>
              <a:rPr lang="en-AU" dirty="0">
                <a:solidFill>
                  <a:schemeClr val="tx1"/>
                </a:solidFill>
                <a:latin typeface="Tw Cen MT" panose="020B0602020104020603" pitchFamily="34" charset="0"/>
              </a:rPr>
              <a:t>11 Essentials</a:t>
            </a:r>
            <a:endParaRPr lang="en-GB" sz="2000" dirty="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36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91110" y="-334888"/>
            <a:ext cx="9720072" cy="1499616"/>
          </a:xfrm>
        </p:spPr>
        <p:txBody>
          <a:bodyPr/>
          <a:lstStyle/>
          <a:p>
            <a:r>
              <a:rPr lang="en-AU" sz="3200" dirty="0"/>
              <a:t>Five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9BC97-E084-4305-8742-02C144E0C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" y="2205905"/>
            <a:ext cx="12016740" cy="62331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800" dirty="0"/>
          </a:p>
          <a:p>
            <a:pPr marL="457200" indent="-457200">
              <a:buAutoNum type="arabicParenR"/>
            </a:pPr>
            <a:endParaRPr lang="en-AU" sz="800" dirty="0">
              <a:solidFill>
                <a:schemeClr val="tx1"/>
              </a:solidFill>
            </a:endParaRPr>
          </a:p>
          <a:p>
            <a:pPr marL="457200" indent="-457200">
              <a:buAutoNum type="arabicParenR"/>
            </a:pPr>
            <a:endParaRPr lang="en-AU" sz="800" dirty="0"/>
          </a:p>
          <a:p>
            <a:pPr marL="457200" indent="-457200">
              <a:buAutoNum type="arabicParenR"/>
            </a:pPr>
            <a:endParaRPr lang="en-AU" sz="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AU" sz="800" dirty="0"/>
          </a:p>
          <a:p>
            <a:pPr marL="457200" indent="-457200">
              <a:buAutoNum type="arabicParenR"/>
            </a:pPr>
            <a:endParaRPr lang="en-AU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AU" sz="2000" dirty="0">
                <a:solidFill>
                  <a:schemeClr val="tx1"/>
                </a:solidFill>
              </a:rPr>
              <a:t>2) Peter’s mum is driving 400 km down South to visit his Grandma. If the trip takes her 4 hours, what was her average speed for the journey?</a:t>
            </a:r>
          </a:p>
          <a:p>
            <a:pPr marL="0" indent="0">
              <a:buNone/>
            </a:pPr>
            <a:endParaRPr lang="en-A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3) 3 tennis racquets cost $360 in total. How much would 5 racquets cost?</a:t>
            </a:r>
          </a:p>
          <a:p>
            <a:pPr marL="457200" indent="-457200">
              <a:buAutoNum type="arabicParenR"/>
            </a:pPr>
            <a:endParaRPr lang="en-GB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4) </a:t>
            </a:r>
            <a:r>
              <a:rPr lang="en-AU" sz="2000" dirty="0">
                <a:solidFill>
                  <a:schemeClr val="tx1"/>
                </a:solidFill>
              </a:rPr>
              <a:t>Sacha wants to paint her garden fence of area 60 m</a:t>
            </a:r>
            <a:r>
              <a:rPr lang="en-AU" sz="2000" baseline="30000" dirty="0">
                <a:solidFill>
                  <a:schemeClr val="tx1"/>
                </a:solidFill>
              </a:rPr>
              <a:t>2</a:t>
            </a:r>
            <a:r>
              <a:rPr lang="en-AU" sz="2000" dirty="0">
                <a:solidFill>
                  <a:schemeClr val="tx1"/>
                </a:solidFill>
              </a:rPr>
              <a:t>. A 5 litre can of paint can cover 12 m</a:t>
            </a:r>
            <a:r>
              <a:rPr lang="en-AU" sz="2000" baseline="30000" dirty="0">
                <a:solidFill>
                  <a:schemeClr val="tx1"/>
                </a:solidFill>
              </a:rPr>
              <a:t>2</a:t>
            </a:r>
            <a:r>
              <a:rPr lang="en-AU" sz="2000" dirty="0">
                <a:solidFill>
                  <a:schemeClr val="tx1"/>
                </a:solidFill>
              </a:rPr>
              <a:t>. How many litres of paint does she require?</a:t>
            </a:r>
          </a:p>
          <a:p>
            <a:pPr marL="0" lvl="0" indent="0" algn="l">
              <a:buNone/>
            </a:pPr>
            <a:endParaRPr lang="en-GB" sz="2000" dirty="0"/>
          </a:p>
          <a:p>
            <a:pPr marL="0" lvl="0" indent="0" algn="l">
              <a:buNone/>
            </a:pPr>
            <a:r>
              <a:rPr lang="en-GB" sz="2000" dirty="0"/>
              <a:t>5) </a:t>
            </a:r>
            <a:r>
              <a:rPr lang="en-AU" sz="2000" dirty="0">
                <a:solidFill>
                  <a:schemeClr val="tx1"/>
                </a:solidFill>
              </a:rPr>
              <a:t>A swimming pool is 5000 cm long, 2000 cm wide and 1500 cm in depth. Calculate the volume of the swimming pool in litres.</a:t>
            </a:r>
          </a:p>
          <a:p>
            <a:pPr marL="0" indent="0" algn="l">
              <a:buNone/>
            </a:pPr>
            <a:r>
              <a:rPr lang="en-AU" sz="800" dirty="0">
                <a:solidFill>
                  <a:schemeClr val="tx1"/>
                </a:solidFill>
              </a:rPr>
              <a:t> </a:t>
            </a:r>
          </a:p>
          <a:p>
            <a:pPr marL="0" indent="0">
              <a:buNone/>
            </a:pPr>
            <a:endParaRPr lang="en-GB" sz="800" dirty="0">
              <a:solidFill>
                <a:schemeClr val="tx1"/>
              </a:solidFill>
            </a:endParaRPr>
          </a:p>
          <a:p>
            <a:pPr marL="457200" indent="-457200">
              <a:buAutoNum type="arabicParenR"/>
            </a:pPr>
            <a:endParaRPr lang="en-AU" sz="800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kumimoji="0" lang="en-AU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indent="0" algn="l">
              <a:buNone/>
            </a:pPr>
            <a:endParaRPr lang="en-AU" sz="8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AU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740F4-4E29-46F0-AE17-D5002ED9BE37}"/>
              </a:ext>
            </a:extLst>
          </p:cNvPr>
          <p:cNvSpPr txBox="1"/>
          <p:nvPr/>
        </p:nvSpPr>
        <p:spPr>
          <a:xfrm>
            <a:off x="4759570" y="52012"/>
            <a:ext cx="4273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Back to Back Stem and Leaf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ED037-8382-4B21-A2F7-E1E36A739063}"/>
              </a:ext>
            </a:extLst>
          </p:cNvPr>
          <p:cNvSpPr txBox="1"/>
          <p:nvPr/>
        </p:nvSpPr>
        <p:spPr>
          <a:xfrm>
            <a:off x="4759570" y="408315"/>
            <a:ext cx="800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can I use Stem and Leaf Plots to compare two sets of data 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DF8E49-A9E7-4917-AFFD-C5F06F95C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545" y="718044"/>
            <a:ext cx="3154680" cy="25431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AB1DB7-8987-4B04-AFBD-945961F2AE0D}"/>
              </a:ext>
            </a:extLst>
          </p:cNvPr>
          <p:cNvSpPr txBox="1"/>
          <p:nvPr/>
        </p:nvSpPr>
        <p:spPr>
          <a:xfrm>
            <a:off x="275747" y="1114794"/>
            <a:ext cx="3154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1) Read the scale to estimate the real life distance between the Shops and the School</a:t>
            </a:r>
          </a:p>
        </p:txBody>
      </p:sp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6718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altLang="en-US" sz="3200" dirty="0"/>
              <a:t>Back to Back Stem and Leaf Plots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10568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altLang="en-US" sz="2400" dirty="0"/>
              <a:t>How can I use a stem and leaf plot to compare two sets of data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21667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AU" altLang="en-US" sz="2400" dirty="0"/>
              <a:t>What are back to back</a:t>
            </a:r>
          </a:p>
          <a:p>
            <a:pPr>
              <a:spcBef>
                <a:spcPct val="0"/>
              </a:spcBef>
            </a:pPr>
            <a:r>
              <a:rPr lang="en-AU" altLang="en-US" sz="2400" dirty="0"/>
              <a:t>Stem and Leaf Plots?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5B1659DD-4FF0-4AD6-BA01-27CDFD003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1490008"/>
            <a:ext cx="920432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Back to back stem and leaf plots are used to display two different groups of data together in the one plot.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groups are displayed separately but share a common stem.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One group is displayed on the left hand side, the other on the right hand side.</a:t>
            </a:r>
          </a:p>
        </p:txBody>
      </p: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6718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altLang="en-US" sz="3200" dirty="0"/>
              <a:t>Back to Back Stem and Leaf Plots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10568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altLang="en-US" sz="2400" dirty="0"/>
              <a:t>How can I use a stem and leaf plot to compare two sets of data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21667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AU" altLang="en-US" sz="2400" dirty="0"/>
              <a:t>What are back to back</a:t>
            </a:r>
          </a:p>
          <a:p>
            <a:pPr>
              <a:spcBef>
                <a:spcPct val="0"/>
              </a:spcBef>
            </a:pPr>
            <a:r>
              <a:rPr lang="en-AU" altLang="en-US" sz="2400" dirty="0"/>
              <a:t>Stem and Leaf Plots?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5B1659DD-4FF0-4AD6-BA01-27CDFD003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1490008"/>
            <a:ext cx="985043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groups are displayed separately but share a common stem.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One group is displayed on the left hand side, the other on the right hand side.</a:t>
            </a:r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CE80EDFE-8125-4DD7-99FA-88A81D4EF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470" y="2696890"/>
            <a:ext cx="5734050" cy="398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163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44880" y="720595"/>
            <a:ext cx="938303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28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Say we have the times for 20 male runners in the 100m:</a:t>
            </a:r>
          </a:p>
          <a:p>
            <a:pPr defTabSz="685800"/>
            <a:r>
              <a:rPr lang="en-GB" sz="20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10.8, 10.5, 11.3, 12.6, 13.1, 11.1, 11.2, 11.7, 11.2, 13.0, 12.3, 11.8, 11.5, 10.9, 10.7, 11.0, 11.1, 11.1, 12.1, 14.3</a:t>
            </a:r>
          </a:p>
          <a:p>
            <a:pPr defTabSz="685800"/>
            <a:endParaRPr lang="en-GB" sz="2000" dirty="0">
              <a:solidFill>
                <a:srgbClr val="3C4743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defTabSz="685800"/>
            <a:r>
              <a:rPr lang="en-GB" sz="28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When we put this data in a stem and leaf plot, it looks like this</a:t>
            </a:r>
            <a:r>
              <a:rPr lang="en-GB" sz="20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2110976" y="3127264"/>
            <a:ext cx="0" cy="3131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411792" y="3387635"/>
            <a:ext cx="2430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11792" y="3018468"/>
            <a:ext cx="69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9556" y="3018468"/>
            <a:ext cx="999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Leaf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9751" y="3387800"/>
            <a:ext cx="39014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20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10      8  5  9  7		</a:t>
            </a:r>
          </a:p>
          <a:p>
            <a:pPr defTabSz="685800"/>
            <a:endParaRPr lang="en-GB" sz="2000" dirty="0">
              <a:solidFill>
                <a:srgbClr val="3C4743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marL="257175" indent="-257175" defTabSz="685800">
              <a:buFontTx/>
              <a:buAutoNum type="arabicPlain" startAt="11"/>
            </a:pPr>
            <a:r>
              <a:rPr lang="en-GB" sz="20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    3  1  2  7  2  8  5  0  1  1</a:t>
            </a:r>
          </a:p>
          <a:p>
            <a:pPr marL="257175" indent="-257175" defTabSz="685800">
              <a:buFontTx/>
              <a:buAutoNum type="arabicPlain" startAt="11"/>
            </a:pPr>
            <a:endParaRPr lang="en-GB" sz="2000" dirty="0">
              <a:solidFill>
                <a:srgbClr val="3C4743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defTabSz="685800"/>
            <a:r>
              <a:rPr lang="en-GB" sz="20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12      6  3  1		</a:t>
            </a:r>
          </a:p>
          <a:p>
            <a:pPr defTabSz="685800"/>
            <a:endParaRPr lang="en-GB" sz="2000" dirty="0">
              <a:solidFill>
                <a:srgbClr val="3C4743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defTabSz="685800"/>
            <a:r>
              <a:rPr lang="en-GB" sz="20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13      1  0			</a:t>
            </a:r>
          </a:p>
          <a:p>
            <a:pPr defTabSz="685800"/>
            <a:endParaRPr lang="en-GB" sz="2000" dirty="0">
              <a:solidFill>
                <a:srgbClr val="3C4743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defTabSz="685800"/>
            <a:r>
              <a:rPr lang="en-GB" sz="20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14      3		</a:t>
            </a:r>
            <a:r>
              <a:rPr lang="en-GB" sz="16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	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7317107" y="3116501"/>
            <a:ext cx="0" cy="3133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680657" y="3391215"/>
            <a:ext cx="2430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08777" y="3003635"/>
            <a:ext cx="70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2242" y="2998177"/>
            <a:ext cx="8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Leaf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6924" y="3382516"/>
            <a:ext cx="44704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20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10      5  7  8  9		</a:t>
            </a:r>
          </a:p>
          <a:p>
            <a:pPr defTabSz="685800"/>
            <a:endParaRPr lang="en-GB" sz="2000" dirty="0">
              <a:solidFill>
                <a:srgbClr val="3C4743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marL="257175" indent="-257175" defTabSz="685800">
              <a:buFontTx/>
              <a:buAutoNum type="arabicPlain" startAt="11"/>
            </a:pPr>
            <a:r>
              <a:rPr lang="en-GB" sz="20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    0  1  1  1  2  2  3  5  7  8</a:t>
            </a:r>
          </a:p>
          <a:p>
            <a:pPr marL="257175" indent="-257175" defTabSz="685800">
              <a:buFontTx/>
              <a:buAutoNum type="arabicPlain" startAt="11"/>
            </a:pPr>
            <a:endParaRPr lang="en-GB" sz="2000" dirty="0">
              <a:solidFill>
                <a:srgbClr val="3C4743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defTabSz="685800"/>
            <a:r>
              <a:rPr lang="en-GB" sz="20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12      1  3  6		</a:t>
            </a:r>
          </a:p>
          <a:p>
            <a:pPr defTabSz="685800"/>
            <a:endParaRPr lang="en-GB" sz="2000" dirty="0">
              <a:solidFill>
                <a:srgbClr val="3C4743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defTabSz="685800"/>
            <a:r>
              <a:rPr lang="en-GB" sz="20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13      0  1			</a:t>
            </a:r>
          </a:p>
          <a:p>
            <a:pPr defTabSz="685800"/>
            <a:endParaRPr lang="en-GB" sz="2000" dirty="0">
              <a:solidFill>
                <a:srgbClr val="3C4743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defTabSz="685800"/>
            <a:r>
              <a:rPr lang="en-GB" sz="20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14      3	</a:t>
            </a:r>
            <a:r>
              <a:rPr lang="en-GB" sz="16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6911" y="5845088"/>
            <a:ext cx="2310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2000" u="sng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KEY</a:t>
            </a:r>
          </a:p>
          <a:p>
            <a:pPr defTabSz="685800"/>
            <a:r>
              <a:rPr lang="en-GB" sz="20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10|5 = 10.5 </a:t>
            </a:r>
            <a:r>
              <a:rPr lang="en-GB" sz="2000" dirty="0" err="1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secs</a:t>
            </a:r>
            <a:endParaRPr lang="en-GB" sz="2000" dirty="0">
              <a:solidFill>
                <a:srgbClr val="3C4743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5164444" y="5544705"/>
            <a:ext cx="655825" cy="300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srgbClr val="E5E6DA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37992" y="5002399"/>
            <a:ext cx="1226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srgbClr val="3C4743"/>
                </a:solidFill>
                <a:latin typeface="Calibri" panose="020F0502020204030204"/>
                <a:cs typeface="Arial" panose="020B0604020202020204" pitchFamily="34" charset="0"/>
              </a:rPr>
              <a:t>Ordered</a:t>
            </a:r>
          </a:p>
        </p:txBody>
      </p:sp>
    </p:spTree>
    <p:extLst>
      <p:ext uri="{BB962C8B-B14F-4D97-AF65-F5344CB8AC3E}">
        <p14:creationId xmlns:p14="http://schemas.microsoft.com/office/powerpoint/2010/main" val="43429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6" grpId="0"/>
      <p:bldP spid="17" grpId="0"/>
      <p:bldP spid="18" grpId="0"/>
      <p:bldP spid="2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329184" y="1934717"/>
            <a:ext cx="11679936" cy="40715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20 women also ran 100m and their results are shown in the stem &amp; leaf diagram below.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1040388" y="4158412"/>
            <a:ext cx="3096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084504" y="2970280"/>
            <a:ext cx="3240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868480" y="261024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0568" y="261024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Leaf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504" y="2970281"/>
            <a:ext cx="3600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11      5  9	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12      3  5  5  5  6  7  9  9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13      0  0  1  3  4  8  8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14      4  7	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15      0			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3344" y="6006274"/>
            <a:ext cx="1835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KEY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11|9 = 11.9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secs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5288860" y="4158412"/>
            <a:ext cx="3096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332976" y="2970280"/>
            <a:ext cx="3240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16952" y="261024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9040" y="261024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Leaf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2976" y="2970281"/>
            <a:ext cx="3600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10      5  7  8  9		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11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   0  1  1  1  2  2  3  5  7  8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11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12      1  3  6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13      0  1	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14      3			</a:t>
            </a:r>
          </a:p>
        </p:txBody>
      </p:sp>
    </p:spTree>
    <p:extLst>
      <p:ext uri="{BB962C8B-B14F-4D97-AF65-F5344CB8AC3E}">
        <p14:creationId xmlns:p14="http://schemas.microsoft.com/office/powerpoint/2010/main" val="147977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  <p:bldP spid="9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6718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altLang="en-US" sz="3200" dirty="0"/>
              <a:t>Back to Back Stem and Leaf Plots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10568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altLang="en-US" sz="2400" dirty="0"/>
              <a:t>How can I use a stem and leaf plot to compare two sets of data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3B697A-13B5-4520-834F-879D6B176393}"/>
              </a:ext>
            </a:extLst>
          </p:cNvPr>
          <p:cNvSpPr txBox="1"/>
          <p:nvPr/>
        </p:nvSpPr>
        <p:spPr>
          <a:xfrm>
            <a:off x="2151983" y="1390020"/>
            <a:ext cx="98342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dirty="0">
                <a:solidFill>
                  <a:srgbClr val="3C4743"/>
                </a:solidFill>
                <a:latin typeface="Calibri" panose="020F0502020204030204"/>
              </a:rPr>
              <a:t>Individually, it can be hard to compare the two data sets; it is just a bunch of numbers. That is where back-to-back stem and leaf plots are useful.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15F83E5-B0C5-4EDC-B3AF-E4888AC5112F}"/>
              </a:ext>
            </a:extLst>
          </p:cNvPr>
          <p:cNvSpPr txBox="1">
            <a:spLocks/>
          </p:cNvSpPr>
          <p:nvPr/>
        </p:nvSpPr>
        <p:spPr>
          <a:xfrm>
            <a:off x="2357627" y="2843696"/>
            <a:ext cx="9628632" cy="3222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srgbClr val="3C474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comparing two sets of data, it is often more useful to draw a back-to-back stem &amp; leaf plot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GB" sz="2200" b="0" i="0" u="none" strike="noStrike" kern="1200" cap="none" spc="0" normalizeH="0" baseline="0" noProof="0">
              <a:ln>
                <a:noFill/>
              </a:ln>
              <a:solidFill>
                <a:srgbClr val="3C474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srgbClr val="3C474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Back-to-Back stem &amp; leaf diagrams share the same ‘stem’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GB" sz="2200" b="0" i="0" u="none" strike="noStrike" kern="1200" cap="none" spc="0" normalizeH="0" baseline="0" noProof="0">
              <a:ln>
                <a:noFill/>
              </a:ln>
              <a:solidFill>
                <a:srgbClr val="3C474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srgbClr val="3C474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Numbers closest to the ‘stem’ are smaller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3C474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0511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925365" y="881424"/>
            <a:ext cx="10382716" cy="7258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Comparing the performances of the 20 men and women runners with a back to back stem and leaf gives us a better visual comparison.</a:t>
            </a:r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4630260" y="4952442"/>
            <a:ext cx="33843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774319" y="3536470"/>
            <a:ext cx="5688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92256" y="32136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4997" y="3199217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Leaf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5475" y="3656731"/>
            <a:ext cx="49582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10      5  7  8  9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11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   0  1  1  1  2  2  3  5  7  8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11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12      1  3  6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13      0  1	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14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   3			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14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14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655" y="4550685"/>
            <a:ext cx="1835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KEY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11|9 = 11.9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secs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4027504" y="4952442"/>
            <a:ext cx="33843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58319" y="3656731"/>
            <a:ext cx="29523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   		        9  5</a:t>
            </a: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	9  9  7  6  5  5  5  3</a:t>
            </a: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	    8  8  4  3  1  0  0</a:t>
            </a: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 startAt="7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		        7  4</a:t>
            </a: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 startAt="2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	            0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2952" y="32122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Leaf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0345" y="284436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4483" y="2741703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WOMEN</a:t>
            </a:r>
          </a:p>
        </p:txBody>
      </p:sp>
    </p:spTree>
    <p:extLst>
      <p:ext uri="{BB962C8B-B14F-4D97-AF65-F5344CB8AC3E}">
        <p14:creationId xmlns:p14="http://schemas.microsoft.com/office/powerpoint/2010/main" val="121827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rot="5400000">
            <a:off x="2404488" y="4829779"/>
            <a:ext cx="33843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1548547" y="3413807"/>
            <a:ext cx="5688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66484" y="309103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9225" y="307655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Leaf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9704" y="3534068"/>
            <a:ext cx="3600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10      5  7  8  9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11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   0  1  1  1  2  2  3  5  7  8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11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12      1  3  6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13      0  1	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14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   3			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14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14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01" y="2735318"/>
            <a:ext cx="1835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KEY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11|9 = 11.9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secs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1801732" y="4829779"/>
            <a:ext cx="33843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547" y="3534068"/>
            <a:ext cx="29523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   		        9  5</a:t>
            </a: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	9  9  7  6  5  5  5  3</a:t>
            </a: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	    8  8  4  3  1  0  0</a:t>
            </a: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 startAt="7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		        7  4</a:t>
            </a: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 startAt="2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 		            0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180" y="308963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Leaf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4573" y="2721701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8711" y="261904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WOMEN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62010" y="811105"/>
            <a:ext cx="10095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Looking at our 100m data sets, how can we find the median, mode and range of two data sets?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451866" y="1999575"/>
                <a:ext cx="4460489" cy="4522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The median is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mr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0" lang="mr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kumimoji="0" lang="en-CA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charset="0"/>
                                <a:ea typeface="+mn-ea"/>
                                <a:cs typeface="+mn-cs"/>
                              </a:rPr>
                              <m:t>𝑛</m:t>
                            </m:r>
                            <m:r>
                              <a:rPr kumimoji="0" lang="en-CA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charset="0"/>
                                <a:ea typeface="+mn-ea"/>
                                <a:cs typeface="+mn-cs"/>
                              </a:rPr>
                              <m:t>+1</m:t>
                            </m:r>
                          </m:num>
                          <m:den>
                            <m:r>
                              <a:rPr kumimoji="0" lang="en-CA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charset="0"/>
                                <a:ea typeface="+mn-ea"/>
                                <a:cs typeface="+mn-cs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kumimoji="0" lang="en-US" sz="1800" b="0" i="1" u="none" strike="noStrike" kern="1200" cap="none" spc="0" normalizeH="0" baseline="30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th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piece of data. Since there are 20 pieces of data, the median is 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mr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0" lang="mr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kumimoji="0" lang="en-CA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charset="0"/>
                                <a:ea typeface="+mn-ea"/>
                                <a:cs typeface="+mn-cs"/>
                              </a:rPr>
                              <m:t>20</m:t>
                            </m:r>
                            <m:r>
                              <a:rPr kumimoji="0" lang="en-CA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charset="0"/>
                                <a:ea typeface="+mn-ea"/>
                                <a:cs typeface="+mn-cs"/>
                              </a:rPr>
                              <m:t>+1</m:t>
                            </m:r>
                          </m:num>
                          <m:den>
                            <m:r>
                              <a:rPr kumimoji="0" lang="en-CA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charset="0"/>
                                <a:ea typeface="+mn-ea"/>
                                <a:cs typeface="+mn-cs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kumimoji="0" lang="en-US" sz="1800" b="0" i="1" u="none" strike="noStrike" kern="1200" cap="none" spc="0" normalizeH="0" baseline="30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th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or 10.5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th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data point (between 10 and 11). </a:t>
                </a:r>
              </a:p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Char char="•"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For the women, the median is between 12.9 and 13.0 secs = 12.95 secs</a:t>
                </a:r>
              </a:p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For the men, the median is between 11.2 and 11.3 secs = 11.25secs.</a:t>
                </a:r>
              </a:p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Char char="•"/>
                  <a:tabLst/>
                  <a:defRPr/>
                </a:pPr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The modal time for the women is 12.5 secs and for men it is 11.1 secs.</a:t>
                </a:r>
              </a:p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Char char="•"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The range for the women is 15.0-11.5 = 3.5 secs. For the men it is 14.3-10.5 = 2.8 secs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866" y="1999575"/>
                <a:ext cx="4460489" cy="4522392"/>
              </a:xfrm>
              <a:prstGeom prst="rect">
                <a:avLst/>
              </a:prstGeom>
              <a:blipFill>
                <a:blip r:embed="rId2"/>
                <a:stretch>
                  <a:fillRect l="-820" r="-2049" b="-72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Left Arrow 27"/>
          <p:cNvSpPr/>
          <p:nvPr/>
        </p:nvSpPr>
        <p:spPr>
          <a:xfrm rot="8382296">
            <a:off x="1241015" y="4981907"/>
            <a:ext cx="375485" cy="17181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9" name="Left Arrow 28"/>
          <p:cNvSpPr/>
          <p:nvPr/>
        </p:nvSpPr>
        <p:spPr>
          <a:xfrm rot="8826351">
            <a:off x="2806047" y="5540453"/>
            <a:ext cx="375485" cy="17181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9187" y="514518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10th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9856" y="555967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11th</a:t>
            </a:r>
          </a:p>
        </p:txBody>
      </p:sp>
      <p:sp>
        <p:nvSpPr>
          <p:cNvPr id="32" name="Left Arrow 31"/>
          <p:cNvSpPr/>
          <p:nvPr/>
        </p:nvSpPr>
        <p:spPr>
          <a:xfrm rot="5668139">
            <a:off x="5243457" y="4501631"/>
            <a:ext cx="375485" cy="17181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09164" y="478409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10th</a:t>
            </a:r>
          </a:p>
        </p:txBody>
      </p:sp>
      <p:sp>
        <p:nvSpPr>
          <p:cNvPr id="34" name="Left Arrow 33"/>
          <p:cNvSpPr/>
          <p:nvPr/>
        </p:nvSpPr>
        <p:spPr>
          <a:xfrm rot="2788896">
            <a:off x="5655997" y="4481592"/>
            <a:ext cx="375485" cy="17181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23242" y="473011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11th</a:t>
            </a:r>
          </a:p>
        </p:txBody>
      </p:sp>
    </p:spTree>
    <p:extLst>
      <p:ext uri="{BB962C8B-B14F-4D97-AF65-F5344CB8AC3E}">
        <p14:creationId xmlns:p14="http://schemas.microsoft.com/office/powerpoint/2010/main" val="35231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28" grpId="0" animBg="1"/>
      <p:bldP spid="29" grpId="0" animBg="1"/>
      <p:bldP spid="30" grpId="0"/>
      <p:bldP spid="31" grpId="0"/>
      <p:bldP spid="32" grpId="0" animBg="1"/>
      <p:bldP spid="33" grpId="0"/>
      <p:bldP spid="34" grpId="0" animBg="1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179B149-95DE-4C30-8742-C1AD33D53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1076326"/>
            <a:ext cx="8972550" cy="195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2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ages of patients on admission to a hospital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Males: 2  13  24  39  45  45  48  56  58  59  59  62  64  64  68  69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Females: 1  12 14  23 28  37 39  39  42 42  45 46  51 57 58  63  65  71  88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altLang="en-US" sz="22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19" name="Text Box 3">
            <a:extLst>
              <a:ext uri="{FF2B5EF4-FFF2-40B4-BE49-F238E27FC236}">
                <a16:creationId xmlns:a16="http://schemas.microsoft.com/office/drawing/2014/main" id="{3B698D6F-0F90-48DD-A782-602B7AA67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819" y="140694"/>
            <a:ext cx="68595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n-US" sz="36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LHS:</a:t>
            </a:r>
            <a:endParaRPr lang="en-US" altLang="en-US" sz="36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40D8B934-B0CD-4D4D-929D-164038C0D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8" y="2771775"/>
            <a:ext cx="0" cy="353695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D2B8A832-9C63-465B-8DC8-A2151B9AD48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580873" y="4510882"/>
            <a:ext cx="3785652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0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1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2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3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4 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5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6 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7 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8</a:t>
            </a:r>
            <a:endParaRPr lang="en-US" altLang="en-US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sp>
        <p:nvSpPr>
          <p:cNvPr id="34824" name="Text Box 8">
            <a:extLst>
              <a:ext uri="{FF2B5EF4-FFF2-40B4-BE49-F238E27FC236}">
                <a16:creationId xmlns:a16="http://schemas.microsoft.com/office/drawing/2014/main" id="{2E685DA1-AB05-44F8-A554-BD0988B2C54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614269" y="3154363"/>
            <a:ext cx="61555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  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sp>
        <p:nvSpPr>
          <p:cNvPr id="8200" name="Line 5">
            <a:extLst>
              <a:ext uri="{FF2B5EF4-FFF2-40B4-BE49-F238E27FC236}">
                <a16:creationId xmlns:a16="http://schemas.microsoft.com/office/drawing/2014/main" id="{91E7BB59-7231-4F9F-9A9A-B462E04DF2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0813" y="2800351"/>
            <a:ext cx="0" cy="3508375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3452EC-9279-4993-A28D-602FB69F5CD0}"/>
              </a:ext>
            </a:extLst>
          </p:cNvPr>
          <p:cNvSpPr txBox="1"/>
          <p:nvPr/>
        </p:nvSpPr>
        <p:spPr>
          <a:xfrm>
            <a:off x="289561" y="2955489"/>
            <a:ext cx="23393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1) Sort the data into a back-to-back Stem and Leaf Plot. Remember to include a key!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179B149-95DE-4C30-8742-C1AD33D53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1076326"/>
            <a:ext cx="8972550" cy="195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2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ages of patients on admission to a hospital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Males: 2  13  24  39  45  45  48  56  58  59  59  62  64  64  68  69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Females: 1  12 14  23 28  37 39  39  42 42  45 46  51 57 58  63  65  71  88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altLang="en-US" sz="22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19" name="Text Box 3">
            <a:extLst>
              <a:ext uri="{FF2B5EF4-FFF2-40B4-BE49-F238E27FC236}">
                <a16:creationId xmlns:a16="http://schemas.microsoft.com/office/drawing/2014/main" id="{3B698D6F-0F90-48DD-A782-602B7AA67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589" y="158750"/>
            <a:ext cx="68595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n-US" sz="3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Stem and Leaf Diagrams</a:t>
            </a:r>
            <a:endParaRPr lang="en-US" altLang="en-US" sz="36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pic>
        <p:nvPicPr>
          <p:cNvPr id="12292" name="Picture 4" descr="j0219107">
            <a:extLst>
              <a:ext uri="{FF2B5EF4-FFF2-40B4-BE49-F238E27FC236}">
                <a16:creationId xmlns:a16="http://schemas.microsoft.com/office/drawing/2014/main" id="{85A0E97E-71BF-4537-B80D-5D5997D0D67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0"/>
            <a:ext cx="112236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Line 5">
            <a:extLst>
              <a:ext uri="{FF2B5EF4-FFF2-40B4-BE49-F238E27FC236}">
                <a16:creationId xmlns:a16="http://schemas.microsoft.com/office/drawing/2014/main" id="{455ACE42-9475-46F1-B40C-1E997E001B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8" y="2771775"/>
            <a:ext cx="0" cy="353695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D2B8A832-9C63-465B-8DC8-A2151B9AD48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580873" y="4510882"/>
            <a:ext cx="3785652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0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1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2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3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4 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5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6 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7 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8</a:t>
            </a:r>
            <a:endParaRPr lang="en-US" altLang="en-US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sp>
        <p:nvSpPr>
          <p:cNvPr id="34824" name="Text Box 8">
            <a:extLst>
              <a:ext uri="{FF2B5EF4-FFF2-40B4-BE49-F238E27FC236}">
                <a16:creationId xmlns:a16="http://schemas.microsoft.com/office/drawing/2014/main" id="{2E685DA1-AB05-44F8-A554-BD0988B2C54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614269" y="3154363"/>
            <a:ext cx="61555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  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sp>
        <p:nvSpPr>
          <p:cNvPr id="12296" name="Line 5">
            <a:extLst>
              <a:ext uri="{FF2B5EF4-FFF2-40B4-BE49-F238E27FC236}">
                <a16:creationId xmlns:a16="http://schemas.microsoft.com/office/drawing/2014/main" id="{AD2053A9-2DB9-4179-9A2D-E3844D10C1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0813" y="2800351"/>
            <a:ext cx="0" cy="3508375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A8C20FC9-5123-4D5F-9FE8-DA43075565C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744631" y="3443288"/>
            <a:ext cx="2954655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r"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2</a:t>
            </a:r>
          </a:p>
          <a:p>
            <a:pPr algn="r"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3</a:t>
            </a:r>
          </a:p>
          <a:p>
            <a:pPr algn="r"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4</a:t>
            </a:r>
          </a:p>
          <a:p>
            <a:pPr algn="r"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9</a:t>
            </a:r>
          </a:p>
          <a:p>
            <a:pPr algn="r"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8 5 5</a:t>
            </a:r>
          </a:p>
          <a:p>
            <a:pPr algn="r"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9 9 8 6</a:t>
            </a:r>
          </a:p>
          <a:p>
            <a:pPr algn="r"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9 8 6 4 4 2 </a:t>
            </a:r>
            <a:endParaRPr lang="en-US" altLang="en-US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F3302A92-3022-459E-92AB-6A74BACDB3B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808805" y="3829051"/>
            <a:ext cx="3785652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1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2 4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3 8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7 9 9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2 2 5 6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1 7 8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3 5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1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8 </a:t>
            </a:r>
            <a:endParaRPr lang="en-US" altLang="en-US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8E8855AD-EAB5-4BC2-A1D1-8F6E1A4F2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5705475"/>
            <a:ext cx="1874838" cy="838200"/>
          </a:xfrm>
          <a:prstGeom prst="rect">
            <a:avLst/>
          </a:prstGeom>
          <a:solidFill>
            <a:schemeClr val="bg1"/>
          </a:solidFill>
          <a:ln w="28575">
            <a:solidFill>
              <a:srgbClr val="66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n-US" sz="3200" b="1" dirty="0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4</a:t>
            </a:r>
            <a:r>
              <a:rPr lang="en-US" altLang="en-US" sz="3200" b="1" dirty="0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|2 = 52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4" grpId="0"/>
      <p:bldP spid="15" grpId="0"/>
      <p:bldP spid="25" grpId="0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63" y="1993900"/>
            <a:ext cx="10058400" cy="23648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2163" y="4659496"/>
            <a:ext cx="87929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Display this data in a back to back stem and leaf plot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many males spent less than 30 mins at the gym?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Find the median time spent at the gym for both males and females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In general, did males or females spend longer at the gym?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F54A9A-9387-4F46-A4D2-A98AA3183CD4}"/>
              </a:ext>
            </a:extLst>
          </p:cNvPr>
          <p:cNvSpPr txBox="1"/>
          <p:nvPr/>
        </p:nvSpPr>
        <p:spPr>
          <a:xfrm>
            <a:off x="1074420" y="769834"/>
            <a:ext cx="4526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/>
              <a:t>LHS:</a:t>
            </a:r>
          </a:p>
        </p:txBody>
      </p:sp>
    </p:spTree>
    <p:extLst>
      <p:ext uri="{BB962C8B-B14F-4D97-AF65-F5344CB8AC3E}">
        <p14:creationId xmlns:p14="http://schemas.microsoft.com/office/powerpoint/2010/main" val="161298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2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D25652-70A2-4111-A862-DCDB0F791EBA}">
  <we:reference id="wa104379997" version="2.0.0.0" store="en-US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5412</TotalTime>
  <Words>1283</Words>
  <Application>Microsoft Office PowerPoint</Application>
  <PresentationFormat>Widescreen</PresentationFormat>
  <Paragraphs>246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Arial</vt:lpstr>
      <vt:lpstr>Calibri</vt:lpstr>
      <vt:lpstr>Cambria Math</vt:lpstr>
      <vt:lpstr>Kristen ITC</vt:lpstr>
      <vt:lpstr>Tw Cen MT</vt:lpstr>
      <vt:lpstr>Tw Cen MT Condensed</vt:lpstr>
      <vt:lpstr>Wingdings</vt:lpstr>
      <vt:lpstr>Wingdings 3</vt:lpstr>
      <vt:lpstr>1_Integral</vt:lpstr>
      <vt:lpstr>2_Integral</vt:lpstr>
      <vt:lpstr>Default Design</vt:lpstr>
      <vt:lpstr>Integral</vt:lpstr>
      <vt:lpstr>Topic: Back to Back Stem and leaf plots EQ: How can I use Stem and Leaf Plots to compare two sets of data ?</vt:lpstr>
      <vt:lpstr>Five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</dc:title>
  <dc:creator>Travis Power</dc:creator>
  <cp:lastModifiedBy>Tony Nguyen</cp:lastModifiedBy>
  <cp:revision>96</cp:revision>
  <cp:lastPrinted>2018-05-03T00:24:35Z</cp:lastPrinted>
  <dcterms:created xsi:type="dcterms:W3CDTF">2018-02-13T05:48:53Z</dcterms:created>
  <dcterms:modified xsi:type="dcterms:W3CDTF">2021-08-06T00:25:53Z</dcterms:modified>
</cp:coreProperties>
</file>
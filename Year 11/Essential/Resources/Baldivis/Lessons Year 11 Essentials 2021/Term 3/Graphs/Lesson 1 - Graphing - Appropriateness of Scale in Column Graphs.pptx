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0" r:id="rId1"/>
  </p:sldMasterIdLst>
  <p:notesMasterIdLst>
    <p:notesMasterId r:id="rId11"/>
  </p:notesMasterIdLst>
  <p:sldIdLst>
    <p:sldId id="266" r:id="rId2"/>
    <p:sldId id="301" r:id="rId3"/>
    <p:sldId id="313" r:id="rId4"/>
    <p:sldId id="314" r:id="rId5"/>
    <p:sldId id="289" r:id="rId6"/>
    <p:sldId id="315" r:id="rId7"/>
    <p:sldId id="319" r:id="rId8"/>
    <p:sldId id="317" r:id="rId9"/>
    <p:sldId id="320" r:id="rId10"/>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2"/>
    <p:restoredTop sz="67753" autoAdjust="0"/>
  </p:normalViewPr>
  <p:slideViewPr>
    <p:cSldViewPr snapToGrid="0" snapToObjects="1">
      <p:cViewPr varScale="1">
        <p:scale>
          <a:sx n="81" d="100"/>
          <a:sy n="81" d="100"/>
        </p:scale>
        <p:origin x="171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Book1"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AU"/>
              <a:t>Confirmed COVID-19 Cases (at 25/07/2021) in 10 Most Affected Countries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Sheet1!$A$4:$A$13</c:f>
              <c:strCache>
                <c:ptCount val="10"/>
                <c:pt idx="0">
                  <c:v>USA</c:v>
                </c:pt>
                <c:pt idx="1">
                  <c:v>Brazil</c:v>
                </c:pt>
                <c:pt idx="2">
                  <c:v>UK</c:v>
                </c:pt>
                <c:pt idx="3">
                  <c:v>Indonesia</c:v>
                </c:pt>
                <c:pt idx="4">
                  <c:v>India</c:v>
                </c:pt>
                <c:pt idx="5">
                  <c:v>Spain</c:v>
                </c:pt>
                <c:pt idx="6">
                  <c:v>Russia</c:v>
                </c:pt>
                <c:pt idx="7">
                  <c:v>Iran</c:v>
                </c:pt>
                <c:pt idx="8">
                  <c:v>France</c:v>
                </c:pt>
                <c:pt idx="9">
                  <c:v>Colombia</c:v>
                </c:pt>
              </c:strCache>
            </c:strRef>
          </c:cat>
          <c:val>
            <c:numRef>
              <c:f>Sheet1!$B$4:$B$13</c:f>
              <c:numCache>
                <c:formatCode>General</c:formatCode>
                <c:ptCount val="10"/>
                <c:pt idx="0">
                  <c:v>34400655</c:v>
                </c:pt>
                <c:pt idx="1">
                  <c:v>19632443</c:v>
                </c:pt>
                <c:pt idx="2">
                  <c:v>5662838</c:v>
                </c:pt>
                <c:pt idx="3">
                  <c:v>3082410</c:v>
                </c:pt>
                <c:pt idx="4">
                  <c:v>31293062</c:v>
                </c:pt>
                <c:pt idx="5">
                  <c:v>4280429</c:v>
                </c:pt>
                <c:pt idx="6">
                  <c:v>6002303</c:v>
                </c:pt>
                <c:pt idx="7">
                  <c:v>3603527</c:v>
                </c:pt>
                <c:pt idx="8">
                  <c:v>6015469</c:v>
                </c:pt>
                <c:pt idx="9">
                  <c:v>4705734</c:v>
                </c:pt>
              </c:numCache>
            </c:numRef>
          </c:val>
          <c:extLst>
            <c:ext xmlns:c16="http://schemas.microsoft.com/office/drawing/2014/chart" uri="{C3380CC4-5D6E-409C-BE32-E72D297353CC}">
              <c16:uniqueId val="{00000000-1FEB-4B53-A312-7F06F6086D6E}"/>
            </c:ext>
          </c:extLst>
        </c:ser>
        <c:dLbls>
          <c:dLblPos val="outEnd"/>
          <c:showLegendKey val="0"/>
          <c:showVal val="1"/>
          <c:showCatName val="0"/>
          <c:showSerName val="0"/>
          <c:showPercent val="0"/>
          <c:showBubbleSize val="0"/>
        </c:dLbls>
        <c:gapWidth val="100"/>
        <c:overlap val="-24"/>
        <c:axId val="1938111200"/>
        <c:axId val="1938111616"/>
      </c:barChart>
      <c:catAx>
        <c:axId val="1938111200"/>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AU"/>
                  <a:t>Country</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8111616"/>
        <c:crosses val="autoZero"/>
        <c:auto val="1"/>
        <c:lblAlgn val="ctr"/>
        <c:lblOffset val="100"/>
        <c:noMultiLvlLbl val="0"/>
      </c:catAx>
      <c:valAx>
        <c:axId val="1938111616"/>
        <c:scaling>
          <c:logBase val="10"/>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AU"/>
                  <a:t>Number of Cases (Logarithmic Scale)</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38111200"/>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r>
              <a:rPr lang="en-AU"/>
              <a:t>Confirmed COVID-19 Cases (at 25/07/2021) in 10 Most Affected Countries</a:t>
            </a:r>
          </a:p>
        </c:rich>
      </c:tx>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flat" dir="t">
                <a:rot lat="0" lon="0" rev="3600000"/>
              </a:lightRig>
            </a:scene3d>
            <a:sp3d contourW="12700" prstMaterial="flat">
              <a:bevelT w="38100" h="44450" prst="angle"/>
              <a:contourClr>
                <a:scrgbClr r="0" g="0" b="0">
                  <a:shade val="35000"/>
                  <a:satMod val="160000"/>
                </a:scrgb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Sheet1!$A$4:$A$13</c:f>
              <c:strCache>
                <c:ptCount val="10"/>
                <c:pt idx="0">
                  <c:v>USA</c:v>
                </c:pt>
                <c:pt idx="1">
                  <c:v>Brazil</c:v>
                </c:pt>
                <c:pt idx="2">
                  <c:v>UK</c:v>
                </c:pt>
                <c:pt idx="3">
                  <c:v>Indonesia</c:v>
                </c:pt>
                <c:pt idx="4">
                  <c:v>India</c:v>
                </c:pt>
                <c:pt idx="5">
                  <c:v>Spain</c:v>
                </c:pt>
                <c:pt idx="6">
                  <c:v>Russia</c:v>
                </c:pt>
                <c:pt idx="7">
                  <c:v>Iran</c:v>
                </c:pt>
                <c:pt idx="8">
                  <c:v>France</c:v>
                </c:pt>
                <c:pt idx="9">
                  <c:v>Colombia</c:v>
                </c:pt>
              </c:strCache>
            </c:strRef>
          </c:cat>
          <c:val>
            <c:numRef>
              <c:f>Sheet1!$B$4:$B$13</c:f>
              <c:numCache>
                <c:formatCode>General</c:formatCode>
                <c:ptCount val="10"/>
                <c:pt idx="0">
                  <c:v>34400655</c:v>
                </c:pt>
                <c:pt idx="1">
                  <c:v>19632443</c:v>
                </c:pt>
                <c:pt idx="2">
                  <c:v>5662838</c:v>
                </c:pt>
                <c:pt idx="3">
                  <c:v>3082410</c:v>
                </c:pt>
                <c:pt idx="4">
                  <c:v>31293062</c:v>
                </c:pt>
                <c:pt idx="5">
                  <c:v>4280429</c:v>
                </c:pt>
                <c:pt idx="6">
                  <c:v>6002303</c:v>
                </c:pt>
                <c:pt idx="7">
                  <c:v>3603527</c:v>
                </c:pt>
                <c:pt idx="8">
                  <c:v>6015469</c:v>
                </c:pt>
                <c:pt idx="9">
                  <c:v>4705734</c:v>
                </c:pt>
              </c:numCache>
            </c:numRef>
          </c:val>
          <c:extLst>
            <c:ext xmlns:c16="http://schemas.microsoft.com/office/drawing/2014/chart" uri="{C3380CC4-5D6E-409C-BE32-E72D297353CC}">
              <c16:uniqueId val="{00000000-816E-4B18-ABD0-EBB6EAD3DF24}"/>
            </c:ext>
          </c:extLst>
        </c:ser>
        <c:dLbls>
          <c:dLblPos val="outEnd"/>
          <c:showLegendKey val="0"/>
          <c:showVal val="1"/>
          <c:showCatName val="0"/>
          <c:showSerName val="0"/>
          <c:showPercent val="0"/>
          <c:showBubbleSize val="0"/>
        </c:dLbls>
        <c:gapWidth val="100"/>
        <c:overlap val="-24"/>
        <c:axId val="1916121888"/>
        <c:axId val="1916119392"/>
      </c:barChart>
      <c:catAx>
        <c:axId val="1916121888"/>
        <c:scaling>
          <c:orientation val="minMax"/>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AU"/>
                  <a:t>Country</a:t>
                </a:r>
              </a:p>
            </c:rich>
          </c:tx>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6119392"/>
        <c:crosses val="autoZero"/>
        <c:auto val="1"/>
        <c:lblAlgn val="ctr"/>
        <c:lblOffset val="100"/>
        <c:noMultiLvlLbl val="0"/>
      </c:catAx>
      <c:valAx>
        <c:axId val="1916119392"/>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r>
                  <a:rPr lang="en-AU"/>
                  <a:t>Number of Cases (Linear Scale)</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916121888"/>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charts/style2.xml><?xml version="1.0" encoding="utf-8"?>
<cs:chartStyle xmlns:cs="http://schemas.microsoft.com/office/drawing/2012/chartStyle" xmlns:a="http://schemas.openxmlformats.org/drawingml/2006/main" id="340">
  <cs:axisTitle>
    <cs:lnRef idx="0"/>
    <cs:fillRef idx="0"/>
    <cs:effectRef idx="0"/>
    <cs:fontRef idx="minor">
      <a:schemeClr val="tx1">
        <a:lumMod val="65000"/>
        <a:lumOff val="35000"/>
      </a:schemeClr>
    </cs:fontRef>
    <cs:defRPr sz="900"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lt1"/>
    </cs:fontRef>
  </cs:dataPoint>
  <cs:dataPoint3D>
    <cs:lnRef idx="0"/>
    <cs:fillRef idx="3">
      <cs:styleClr val="auto"/>
    </cs:fillRef>
    <cs:effectRef idx="3"/>
    <cs:fontRef idx="minor">
      <a:schemeClr val="lt1"/>
    </cs:fontRef>
  </cs:dataPoint3D>
  <cs:dataPointLine>
    <cs:lnRef idx="0">
      <cs:styleClr val="auto"/>
    </cs:lnRef>
    <cs:fillRef idx="3"/>
    <cs:effectRef idx="3"/>
    <cs:fontRef idx="minor">
      <a:schemeClr val="lt1"/>
    </cs:fontRef>
    <cs:spPr>
      <a:ln w="34925" cap="rnd">
        <a:solidFill>
          <a:schemeClr val="phClr"/>
        </a:solidFill>
        <a:round/>
      </a:ln>
    </cs:spPr>
  </cs:dataPointLine>
  <cs:dataPointMarker>
    <cs:lnRef idx="0">
      <cs:styleClr val="auto"/>
    </cs:lnRef>
    <cs:fillRef idx="3">
      <cs:styleClr val="auto"/>
    </cs:fillRef>
    <cs:effectRef idx="3"/>
    <cs:fontRef idx="minor">
      <a:schemeClr val="lt1"/>
    </cs:fontRef>
    <cs:spPr>
      <a:ln w="9525">
        <a:solidFill>
          <a:schemeClr val="phClr"/>
        </a:solidFill>
        <a:round/>
      </a:ln>
    </cs:spPr>
  </cs:dataPointMarker>
  <cs:dataPointMarkerLayout symbol="circle" size="6"/>
  <cs:dataPointWireframe>
    <cs:lnRef idx="0">
      <cs:styleClr val="auto"/>
    </cs:lnRef>
    <cs:fillRef idx="3"/>
    <cs:effectRef idx="3"/>
    <cs:fontRef idx="minor">
      <a:schemeClr val="lt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lt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7DF2789E-5AC8-448E-8E6F-EC7423D7B148}" type="datetimeFigureOut">
              <a:rPr lang="en-GB" smtClean="0"/>
              <a:t>25/07/2021</a:t>
            </a:fld>
            <a:endParaRPr lang="en-GB"/>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0C85D6DF-A159-4F50-B9AF-8F30B100FF37}" type="slidenum">
              <a:rPr lang="en-GB" smtClean="0"/>
              <a:t>‹#›</a:t>
            </a:fld>
            <a:endParaRPr lang="en-GB"/>
          </a:p>
        </p:txBody>
      </p:sp>
    </p:spTree>
    <p:extLst>
      <p:ext uri="{BB962C8B-B14F-4D97-AF65-F5344CB8AC3E}">
        <p14:creationId xmlns:p14="http://schemas.microsoft.com/office/powerpoint/2010/main" val="34262269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0C85D6DF-A159-4F50-B9AF-8F30B100FF37}" type="slidenum">
              <a:rPr lang="en-GB" smtClean="0"/>
              <a:t>1</a:t>
            </a:fld>
            <a:endParaRPr lang="en-GB"/>
          </a:p>
        </p:txBody>
      </p:sp>
    </p:spTree>
    <p:extLst>
      <p:ext uri="{BB962C8B-B14F-4D97-AF65-F5344CB8AC3E}">
        <p14:creationId xmlns:p14="http://schemas.microsoft.com/office/powerpoint/2010/main" val="19863265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400" dirty="0"/>
          </a:p>
        </p:txBody>
      </p:sp>
      <p:sp>
        <p:nvSpPr>
          <p:cNvPr id="4" name="Slide Number Placeholder 3"/>
          <p:cNvSpPr>
            <a:spLocks noGrp="1"/>
          </p:cNvSpPr>
          <p:nvPr>
            <p:ph type="sldNum" sz="quarter" idx="10"/>
          </p:nvPr>
        </p:nvSpPr>
        <p:spPr/>
        <p:txBody>
          <a:bodyPr/>
          <a:lstStyle/>
          <a:p>
            <a:fld id="{841221E5-7225-48EB-A4EE-420E7BFCF705}" type="slidenum">
              <a:rPr lang="en-US" smtClean="0"/>
              <a:pPr/>
              <a:t>5</a:t>
            </a:fld>
            <a:endParaRPr lang="en-US"/>
          </a:p>
        </p:txBody>
      </p:sp>
    </p:spTree>
    <p:extLst>
      <p:ext uri="{BB962C8B-B14F-4D97-AF65-F5344CB8AC3E}">
        <p14:creationId xmlns:p14="http://schemas.microsoft.com/office/powerpoint/2010/main" val="93396805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AU" dirty="0"/>
              <a:t>Number of confirmed COVID-19 cases in the 10 most affected countries as at 25</a:t>
            </a:r>
            <a:r>
              <a:rPr lang="en-AU" baseline="30000" dirty="0"/>
              <a:t>th</a:t>
            </a:r>
            <a:r>
              <a:rPr lang="en-AU" dirty="0"/>
              <a:t> of July 2021</a:t>
            </a:r>
          </a:p>
          <a:p>
            <a:pPr marL="228600" indent="-228600">
              <a:buAutoNum type="arabicParenR"/>
            </a:pPr>
            <a:r>
              <a:rPr lang="en-AU" dirty="0"/>
              <a:t>The graph with the linear scale</a:t>
            </a:r>
          </a:p>
          <a:p>
            <a:pPr marL="685800" lvl="1" indent="-228600">
              <a:buFont typeface="+mj-lt"/>
              <a:buAutoNum type="alphaLcParenR"/>
            </a:pPr>
            <a:r>
              <a:rPr lang="en-AU" dirty="0"/>
              <a:t>Differences between millions and 10s of millions can easily be seen</a:t>
            </a:r>
          </a:p>
          <a:p>
            <a:pPr marL="685800" lvl="1" indent="-228600">
              <a:buFont typeface="+mj-lt"/>
              <a:buAutoNum type="alphaLcParenR"/>
            </a:pPr>
            <a:r>
              <a:rPr lang="en-AU" dirty="0"/>
              <a:t>Any other reasonable answer</a:t>
            </a:r>
          </a:p>
          <a:p>
            <a:pPr marL="228600" lvl="0" indent="-228600">
              <a:buFont typeface="+mj-lt"/>
              <a:buAutoNum type="arabicParenR"/>
            </a:pPr>
            <a:r>
              <a:rPr lang="en-AU" dirty="0"/>
              <a:t>Linear allows for the visual representation of the difference between millions and 10s of millions and displays the difference in the number of cases between countries clearly. The logarithmic scale implies that the number of cases in each of the 10 most affected countries are similar when they are not.</a:t>
            </a:r>
          </a:p>
        </p:txBody>
      </p:sp>
      <p:sp>
        <p:nvSpPr>
          <p:cNvPr id="4" name="Slide Number Placeholder 3"/>
          <p:cNvSpPr>
            <a:spLocks noGrp="1"/>
          </p:cNvSpPr>
          <p:nvPr>
            <p:ph type="sldNum" sz="quarter" idx="5"/>
          </p:nvPr>
        </p:nvSpPr>
        <p:spPr/>
        <p:txBody>
          <a:bodyPr/>
          <a:lstStyle/>
          <a:p>
            <a:fld id="{0C85D6DF-A159-4F50-B9AF-8F30B100FF37}" type="slidenum">
              <a:rPr lang="en-GB" smtClean="0"/>
              <a:t>6</a:t>
            </a:fld>
            <a:endParaRPr lang="en-GB"/>
          </a:p>
        </p:txBody>
      </p:sp>
    </p:spTree>
    <p:extLst>
      <p:ext uri="{BB962C8B-B14F-4D97-AF65-F5344CB8AC3E}">
        <p14:creationId xmlns:p14="http://schemas.microsoft.com/office/powerpoint/2010/main" val="11485990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EBC23BB-2070-D146-BD10-A01B23AF686B}" type="datetimeFigureOut">
              <a:rPr lang="en-AU" smtClean="0"/>
              <a:t>25/07/2021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5896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BC23BB-2070-D146-BD10-A01B23AF686B}" type="datetimeFigureOut">
              <a:rPr lang="en-AU" smtClean="0"/>
              <a:t>25/07/2021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19161415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BC23BB-2070-D146-BD10-A01B23AF686B}" type="datetimeFigureOut">
              <a:rPr lang="en-AU" smtClean="0"/>
              <a:t>25/07/2021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33837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BC23BB-2070-D146-BD10-A01B23AF686B}" type="datetimeFigureOut">
              <a:rPr lang="en-AU" smtClean="0"/>
              <a:t>25/07/2021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700757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BC23BB-2070-D146-BD10-A01B23AF686B}" type="datetimeFigureOut">
              <a:rPr lang="en-AU" smtClean="0"/>
              <a:t>25/07/2021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3915112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BC23BB-2070-D146-BD10-A01B23AF686B}" type="datetimeFigureOut">
              <a:rPr lang="en-AU" smtClean="0"/>
              <a:t>25/07/2021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1365524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BC23BB-2070-D146-BD10-A01B23AF686B}" type="datetimeFigureOut">
              <a:rPr lang="en-AU" smtClean="0"/>
              <a:t>25/07/2021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7628267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BC23BB-2070-D146-BD10-A01B23AF686B}" type="datetimeFigureOut">
              <a:rPr lang="en-AU" smtClean="0"/>
              <a:t>25/07/2021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10809523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BC23BB-2070-D146-BD10-A01B23AF686B}" type="datetimeFigureOut">
              <a:rPr lang="en-AU" smtClean="0"/>
              <a:t>25/07/2021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9D89D79F-077F-204B-9403-1DA3DE99CFD3}" type="slidenum">
              <a:rPr lang="en-AU" smtClean="0"/>
              <a:t>‹#›</a:t>
            </a:fld>
            <a:endParaRPr lang="en-AU"/>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5453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BC23BB-2070-D146-BD10-A01B23AF686B}" type="datetimeFigureOut">
              <a:rPr lang="en-AU" smtClean="0"/>
              <a:t>25/07/2021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spTree>
    <p:extLst>
      <p:ext uri="{BB962C8B-B14F-4D97-AF65-F5344CB8AC3E}">
        <p14:creationId xmlns:p14="http://schemas.microsoft.com/office/powerpoint/2010/main" val="28636694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BC23BB-2070-D146-BD10-A01B23AF686B}" type="datetimeFigureOut">
              <a:rPr lang="en-AU" smtClean="0"/>
              <a:t>25/07/2021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9D89D79F-077F-204B-9403-1DA3DE99CFD3}" type="slidenum">
              <a:rPr lang="en-AU" smtClean="0"/>
              <a:t>‹#›</a:t>
            </a:fld>
            <a:endParaRPr lang="en-AU"/>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86307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EEBC23BB-2070-D146-BD10-A01B23AF686B}" type="datetimeFigureOut">
              <a:rPr lang="en-AU" smtClean="0"/>
              <a:t>25/07/2021</a:t>
            </a:fld>
            <a:endParaRPr lang="en-AU"/>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AU"/>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D89D79F-077F-204B-9403-1DA3DE99CFD3}" type="slidenum">
              <a:rPr lang="en-AU" smtClean="0"/>
              <a:t>‹#›</a:t>
            </a:fld>
            <a:endParaRPr lang="en-AU"/>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3517673"/>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hyperlink" Target="https://www.youtube.com/watch?v=E91bGT9BjYk" TargetMode="Externa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chart" Target="../charts/char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D42744-6AE1-4460-BB81-220391B100E6}"/>
              </a:ext>
            </a:extLst>
          </p:cNvPr>
          <p:cNvSpPr>
            <a:spLocks noGrp="1"/>
          </p:cNvSpPr>
          <p:nvPr>
            <p:ph type="ctrTitle"/>
          </p:nvPr>
        </p:nvSpPr>
        <p:spPr/>
        <p:txBody>
          <a:bodyPr>
            <a:noAutofit/>
          </a:bodyPr>
          <a:lstStyle/>
          <a:p>
            <a:r>
              <a:rPr lang="en-US" sz="4000" dirty="0">
                <a:solidFill>
                  <a:schemeClr val="tx1"/>
                </a:solidFill>
                <a:latin typeface="Tw Cen MT Condensed" panose="020B0606020104020203" pitchFamily="34" charset="0"/>
              </a:rPr>
              <a:t>Topic: Graphing</a:t>
            </a:r>
            <a:br>
              <a:rPr lang="en-US" sz="4000" dirty="0">
                <a:solidFill>
                  <a:schemeClr val="tx1"/>
                </a:solidFill>
                <a:latin typeface="Tw Cen MT Condensed" panose="020B0606020104020203" pitchFamily="34" charset="0"/>
              </a:rPr>
            </a:br>
            <a:r>
              <a:rPr lang="en-US" sz="4000" dirty="0">
                <a:solidFill>
                  <a:schemeClr val="tx1"/>
                </a:solidFill>
                <a:latin typeface="Tw Cen MT Condensed" panose="020B0606020104020203" pitchFamily="34" charset="0"/>
              </a:rPr>
              <a:t>EQ: What is appropriateness of scale in column Graphs? </a:t>
            </a:r>
            <a:endParaRPr lang="en-GB" sz="4000" dirty="0">
              <a:solidFill>
                <a:schemeClr val="tx1"/>
              </a:solidFill>
              <a:latin typeface="Tw Cen MT Condensed" panose="020B0606020104020203" pitchFamily="34" charset="0"/>
            </a:endParaRPr>
          </a:p>
        </p:txBody>
      </p:sp>
      <p:sp>
        <p:nvSpPr>
          <p:cNvPr id="3" name="Subtitle 2">
            <a:extLst>
              <a:ext uri="{FF2B5EF4-FFF2-40B4-BE49-F238E27FC236}">
                <a16:creationId xmlns:a16="http://schemas.microsoft.com/office/drawing/2014/main" id="{B1CE286F-EE8D-4E43-8AA7-04B4265BF31F}"/>
              </a:ext>
            </a:extLst>
          </p:cNvPr>
          <p:cNvSpPr>
            <a:spLocks noGrp="1"/>
          </p:cNvSpPr>
          <p:nvPr>
            <p:ph type="subTitle" idx="1"/>
          </p:nvPr>
        </p:nvSpPr>
        <p:spPr/>
        <p:txBody>
          <a:bodyPr>
            <a:normAutofit/>
          </a:bodyPr>
          <a:lstStyle/>
          <a:p>
            <a:r>
              <a:rPr lang="en-AU" sz="2000" dirty="0">
                <a:solidFill>
                  <a:schemeClr val="tx1"/>
                </a:solidFill>
                <a:latin typeface="Tw Cen MT" panose="020B0602020104020603" pitchFamily="34" charset="0"/>
              </a:rPr>
              <a:t>Mrs Parlevliet</a:t>
            </a:r>
          </a:p>
          <a:p>
            <a:r>
              <a:rPr lang="en-AU" sz="2000" dirty="0">
                <a:solidFill>
                  <a:schemeClr val="tx1"/>
                </a:solidFill>
                <a:latin typeface="Tw Cen MT" panose="020B0602020104020603" pitchFamily="34" charset="0"/>
              </a:rPr>
              <a:t>Year </a:t>
            </a:r>
            <a:r>
              <a:rPr lang="en-AU" dirty="0">
                <a:solidFill>
                  <a:schemeClr val="tx1"/>
                </a:solidFill>
                <a:latin typeface="Tw Cen MT" panose="020B0602020104020603" pitchFamily="34" charset="0"/>
              </a:rPr>
              <a:t>11 Essentials</a:t>
            </a:r>
            <a:endParaRPr lang="en-GB" sz="2000" dirty="0">
              <a:solidFill>
                <a:schemeClr val="tx1"/>
              </a:solidFill>
              <a:latin typeface="Tw Cen MT" panose="020B0602020104020603" pitchFamily="34" charset="0"/>
            </a:endParaRPr>
          </a:p>
        </p:txBody>
      </p:sp>
    </p:spTree>
    <p:extLst>
      <p:ext uri="{BB962C8B-B14F-4D97-AF65-F5344CB8AC3E}">
        <p14:creationId xmlns:p14="http://schemas.microsoft.com/office/powerpoint/2010/main" val="18928627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A3C03-BF03-48EF-A72A-CE11494FF168}"/>
              </a:ext>
            </a:extLst>
          </p:cNvPr>
          <p:cNvSpPr>
            <a:spLocks noGrp="1"/>
          </p:cNvSpPr>
          <p:nvPr>
            <p:ph type="title"/>
          </p:nvPr>
        </p:nvSpPr>
        <p:spPr/>
        <p:txBody>
          <a:bodyPr/>
          <a:lstStyle/>
          <a:p>
            <a:r>
              <a:rPr lang="en-AU" dirty="0" err="1"/>
              <a:t>FiVe</a:t>
            </a:r>
            <a:r>
              <a:rPr lang="en-AU" dirty="0"/>
              <a:t> Questions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5C9BC97-E084-4305-8742-02C144E0C26A}"/>
                  </a:ext>
                </a:extLst>
              </p:cNvPr>
              <p:cNvSpPr>
                <a:spLocks noGrp="1"/>
              </p:cNvSpPr>
              <p:nvPr>
                <p:ph idx="1"/>
              </p:nvPr>
            </p:nvSpPr>
            <p:spPr>
              <a:xfrm>
                <a:off x="857872" y="1710048"/>
                <a:ext cx="11017452" cy="5011386"/>
              </a:xfrm>
            </p:spPr>
            <p:txBody>
              <a:bodyPr>
                <a:normAutofit/>
              </a:bodyPr>
              <a:lstStyle/>
              <a:p>
                <a:pPr marL="457200" indent="-457200">
                  <a:buFont typeface="+mj-lt"/>
                  <a:buAutoNum type="arabicPeriod"/>
                </a:pPr>
                <a:r>
                  <a:rPr lang="en-AU" sz="2400" dirty="0">
                    <a:latin typeface="Calibri" panose="020F0502020204030204" pitchFamily="34" charset="0"/>
                    <a:cs typeface="Calibri" panose="020F0502020204030204" pitchFamily="34" charset="0"/>
                  </a:rPr>
                  <a:t> </a:t>
                </a:r>
                <a14:m>
                  <m:oMath xmlns:m="http://schemas.openxmlformats.org/officeDocument/2006/math">
                    <m:r>
                      <a:rPr lang="en-AU" sz="2400" b="0" i="1" smtClean="0">
                        <a:latin typeface="Cambria Math" panose="02040503050406030204" pitchFamily="18" charset="0"/>
                        <a:cs typeface="Calibri" panose="020F0502020204030204" pitchFamily="34" charset="0"/>
                      </a:rPr>
                      <m:t>71.2−3.6</m:t>
                    </m:r>
                  </m:oMath>
                </a14:m>
                <a:endParaRPr lang="en-AU" sz="2400" b="0" dirty="0">
                  <a:latin typeface="Calibri" panose="020F0502020204030204" pitchFamily="34" charset="0"/>
                  <a:cs typeface="Calibri" panose="020F0502020204030204" pitchFamily="34" charset="0"/>
                </a:endParaRPr>
              </a:p>
              <a:p>
                <a:pPr marL="457200" indent="-457200">
                  <a:buFont typeface="+mj-lt"/>
                  <a:buAutoNum type="arabicPeriod"/>
                </a:pPr>
                <a:r>
                  <a:rPr lang="en-AU" sz="2400" dirty="0">
                    <a:latin typeface="Calibri" panose="020F0502020204030204" pitchFamily="34" charset="0"/>
                    <a:cs typeface="Calibri" panose="020F0502020204030204" pitchFamily="34" charset="0"/>
                  </a:rPr>
                  <a:t>Write 3.25 as a fraction</a:t>
                </a:r>
              </a:p>
              <a:p>
                <a:pPr marL="457200" indent="-457200">
                  <a:buFont typeface="+mj-lt"/>
                  <a:buAutoNum type="arabicPeriod"/>
                </a:pPr>
                <a:r>
                  <a:rPr lang="en-AU" sz="2400" dirty="0">
                    <a:latin typeface="Calibri" panose="020F0502020204030204" pitchFamily="34" charset="0"/>
                    <a:cs typeface="Calibri" panose="020F0502020204030204" pitchFamily="34" charset="0"/>
                  </a:rPr>
                  <a:t>How do you know for sure that </a:t>
                </a:r>
                <a14:m>
                  <m:oMath xmlns:m="http://schemas.openxmlformats.org/officeDocument/2006/math">
                    <m:r>
                      <a:rPr lang="en-AU" sz="2400" b="0" i="1" smtClean="0">
                        <a:latin typeface="Cambria Math" panose="02040503050406030204" pitchFamily="18" charset="0"/>
                        <a:cs typeface="Calibri" panose="020F0502020204030204" pitchFamily="34" charset="0"/>
                      </a:rPr>
                      <m:t>6</m:t>
                    </m:r>
                    <m:r>
                      <a:rPr lang="en-AU" sz="2400" b="0" i="1" smtClean="0">
                        <a:latin typeface="Cambria Math" panose="02040503050406030204" pitchFamily="18" charset="0"/>
                        <a:ea typeface="Cambria Math" panose="02040503050406030204" pitchFamily="18" charset="0"/>
                        <a:cs typeface="Calibri" panose="020F0502020204030204" pitchFamily="34" charset="0"/>
                      </a:rPr>
                      <m:t>×8=48</m:t>
                    </m:r>
                  </m:oMath>
                </a14:m>
                <a:r>
                  <a:rPr lang="en-AU" sz="2400" dirty="0">
                    <a:latin typeface="Calibri" panose="020F0502020204030204" pitchFamily="34" charset="0"/>
                    <a:cs typeface="Calibri" panose="020F0502020204030204" pitchFamily="34" charset="0"/>
                  </a:rPr>
                  <a:t>? Demonstrate a way that you could prove it without a calculator or any other technology.</a:t>
                </a:r>
              </a:p>
              <a:p>
                <a:pPr marL="457200" indent="-457200">
                  <a:buFont typeface="+mj-lt"/>
                  <a:buAutoNum type="arabicPeriod"/>
                </a:pPr>
                <a:r>
                  <a:rPr lang="en-AU" sz="2400" dirty="0">
                    <a:latin typeface="Calibri" panose="020F0502020204030204" pitchFamily="34" charset="0"/>
                    <a:cs typeface="Calibri" panose="020F0502020204030204" pitchFamily="34" charset="0"/>
                  </a:rPr>
                  <a:t>I have 12 metres of fabric to make 4 curtains. I plan to use the leftover fabric to make some cushions for my bedroom. Each curtain requires 2.25m of fabric. How much fabric will I have for my cushions?</a:t>
                </a:r>
              </a:p>
              <a:p>
                <a:pPr marL="457200" indent="-457200">
                  <a:buFont typeface="+mj-lt"/>
                  <a:buAutoNum type="arabicPeriod"/>
                </a:pPr>
                <a:r>
                  <a:rPr lang="en-AU" sz="2400" dirty="0">
                    <a:latin typeface="Calibri" panose="020F0502020204030204" pitchFamily="34" charset="0"/>
                    <a:cs typeface="Calibri" panose="020F0502020204030204" pitchFamily="34" charset="0"/>
                  </a:rPr>
                  <a:t>Write an equation and solve this problem.</a:t>
                </a:r>
                <a:br>
                  <a:rPr lang="en-AU" sz="2400" dirty="0">
                    <a:latin typeface="Calibri" panose="020F0502020204030204" pitchFamily="34" charset="0"/>
                    <a:cs typeface="Calibri" panose="020F0502020204030204" pitchFamily="34" charset="0"/>
                  </a:rPr>
                </a:br>
                <a:r>
                  <a:rPr lang="en-AU" sz="2400" dirty="0">
                    <a:latin typeface="Calibri" panose="020F0502020204030204" pitchFamily="34" charset="0"/>
                    <a:cs typeface="Calibri" panose="020F0502020204030204" pitchFamily="34" charset="0"/>
                  </a:rPr>
                  <a:t>How many weeks would it take to save up for a new bike that costs $359 if you already have $119 and </a:t>
                </a:r>
                <a:r>
                  <a:rPr lang="en-AU" sz="2400">
                    <a:latin typeface="Calibri" panose="020F0502020204030204" pitchFamily="34" charset="0"/>
                    <a:cs typeface="Calibri" panose="020F0502020204030204" pitchFamily="34" charset="0"/>
                  </a:rPr>
                  <a:t>can save $15 per week</a:t>
                </a:r>
                <a:r>
                  <a:rPr lang="en-AU" sz="2400" dirty="0">
                    <a:latin typeface="Calibri" panose="020F0502020204030204" pitchFamily="34" charset="0"/>
                    <a:cs typeface="Calibri" panose="020F0502020204030204" pitchFamily="34" charset="0"/>
                  </a:rPr>
                  <a:t>.</a:t>
                </a:r>
                <a:endParaRPr lang="en-AU" sz="2400">
                  <a:latin typeface="Calibri" panose="020F0502020204030204" pitchFamily="34" charset="0"/>
                  <a:cs typeface="Calibri" panose="020F0502020204030204" pitchFamily="34" charset="0"/>
                </a:endParaRPr>
              </a:p>
            </p:txBody>
          </p:sp>
        </mc:Choice>
        <mc:Fallback>
          <p:sp>
            <p:nvSpPr>
              <p:cNvPr id="3" name="Content Placeholder 2">
                <a:extLst>
                  <a:ext uri="{FF2B5EF4-FFF2-40B4-BE49-F238E27FC236}">
                    <a16:creationId xmlns:a16="http://schemas.microsoft.com/office/drawing/2014/main" id="{F5C9BC97-E084-4305-8742-02C144E0C26A}"/>
                  </a:ext>
                </a:extLst>
              </p:cNvPr>
              <p:cNvSpPr>
                <a:spLocks noGrp="1" noRot="1" noChangeAspect="1" noMove="1" noResize="1" noEditPoints="1" noAdjustHandles="1" noChangeArrowheads="1" noChangeShapeType="1" noTextEdit="1"/>
              </p:cNvSpPr>
              <p:nvPr>
                <p:ph idx="1"/>
              </p:nvPr>
            </p:nvSpPr>
            <p:spPr>
              <a:xfrm>
                <a:off x="857872" y="1710048"/>
                <a:ext cx="11017452" cy="5011386"/>
              </a:xfrm>
              <a:blipFill>
                <a:blip r:embed="rId2"/>
                <a:stretch>
                  <a:fillRect l="-1328" t="-1946"/>
                </a:stretch>
              </a:blipFill>
            </p:spPr>
            <p:txBody>
              <a:bodyPr/>
              <a:lstStyle/>
              <a:p>
                <a:r>
                  <a:rPr lang="en-AU">
                    <a:noFill/>
                  </a:rPr>
                  <a:t> </a:t>
                </a:r>
              </a:p>
            </p:txBody>
          </p:sp>
        </mc:Fallback>
      </mc:AlternateContent>
      <p:sp>
        <p:nvSpPr>
          <p:cNvPr id="4" name="TextBox 3">
            <a:extLst>
              <a:ext uri="{FF2B5EF4-FFF2-40B4-BE49-F238E27FC236}">
                <a16:creationId xmlns:a16="http://schemas.microsoft.com/office/drawing/2014/main" id="{AF8740F4-4E29-46F0-AE17-D5002ED9BE37}"/>
              </a:ext>
            </a:extLst>
          </p:cNvPr>
          <p:cNvSpPr txBox="1"/>
          <p:nvPr/>
        </p:nvSpPr>
        <p:spPr>
          <a:xfrm>
            <a:off x="4901025" y="40479"/>
            <a:ext cx="2781531"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Graphing</a:t>
            </a:r>
          </a:p>
        </p:txBody>
      </p:sp>
      <p:sp>
        <p:nvSpPr>
          <p:cNvPr id="5" name="TextBox 4">
            <a:extLst>
              <a:ext uri="{FF2B5EF4-FFF2-40B4-BE49-F238E27FC236}">
                <a16:creationId xmlns:a16="http://schemas.microsoft.com/office/drawing/2014/main" id="{8ACED037-8382-4B21-A2F7-E1E36A739063}"/>
              </a:ext>
            </a:extLst>
          </p:cNvPr>
          <p:cNvSpPr txBox="1"/>
          <p:nvPr/>
        </p:nvSpPr>
        <p:spPr>
          <a:xfrm>
            <a:off x="4901025" y="579192"/>
            <a:ext cx="6672593" cy="830740"/>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What is appropriateness of scale in column graphs?</a:t>
            </a:r>
          </a:p>
        </p:txBody>
      </p:sp>
      <p:sp>
        <p:nvSpPr>
          <p:cNvPr id="6" name="TextBox 5">
            <a:extLst>
              <a:ext uri="{FF2B5EF4-FFF2-40B4-BE49-F238E27FC236}">
                <a16:creationId xmlns:a16="http://schemas.microsoft.com/office/drawing/2014/main" id="{DB63EF86-F88E-4651-A0D0-6F8AFC411E31}"/>
              </a:ext>
            </a:extLst>
          </p:cNvPr>
          <p:cNvSpPr txBox="1"/>
          <p:nvPr/>
        </p:nvSpPr>
        <p:spPr>
          <a:xfrm>
            <a:off x="9537046" y="103382"/>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 XX/XX/2021</a:t>
            </a:r>
          </a:p>
        </p:txBody>
      </p:sp>
    </p:spTree>
    <p:extLst>
      <p:ext uri="{BB962C8B-B14F-4D97-AF65-F5344CB8AC3E}">
        <p14:creationId xmlns:p14="http://schemas.microsoft.com/office/powerpoint/2010/main" val="4269019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D30F8-24A5-44BA-99A7-E429F6BC752B}"/>
              </a:ext>
            </a:extLst>
          </p:cNvPr>
          <p:cNvSpPr>
            <a:spLocks noGrp="1"/>
          </p:cNvSpPr>
          <p:nvPr>
            <p:ph type="title"/>
          </p:nvPr>
        </p:nvSpPr>
        <p:spPr/>
        <p:txBody>
          <a:bodyPr/>
          <a:lstStyle/>
          <a:p>
            <a:r>
              <a:rPr lang="en-AU" dirty="0"/>
              <a:t>Misleading graphs video</a:t>
            </a:r>
          </a:p>
        </p:txBody>
      </p:sp>
      <p:sp>
        <p:nvSpPr>
          <p:cNvPr id="3" name="Content Placeholder 2">
            <a:extLst>
              <a:ext uri="{FF2B5EF4-FFF2-40B4-BE49-F238E27FC236}">
                <a16:creationId xmlns:a16="http://schemas.microsoft.com/office/drawing/2014/main" id="{E2B48C82-EF8A-46AE-8709-4658C4C7E689}"/>
              </a:ext>
            </a:extLst>
          </p:cNvPr>
          <p:cNvSpPr>
            <a:spLocks noGrp="1"/>
          </p:cNvSpPr>
          <p:nvPr>
            <p:ph idx="1"/>
          </p:nvPr>
        </p:nvSpPr>
        <p:spPr/>
        <p:txBody>
          <a:bodyPr>
            <a:normAutofit/>
          </a:bodyPr>
          <a:lstStyle/>
          <a:p>
            <a:r>
              <a:rPr lang="en-AU" sz="2800" dirty="0"/>
              <a:t>While watching the video:</a:t>
            </a:r>
          </a:p>
          <a:p>
            <a:pPr marL="457200" indent="-457200">
              <a:buFont typeface="+mj-lt"/>
              <a:buAutoNum type="arabicPeriod"/>
            </a:pPr>
            <a:r>
              <a:rPr lang="en-AU" sz="2800" dirty="0"/>
              <a:t>List the features that help interpreting information from a graph</a:t>
            </a:r>
          </a:p>
          <a:p>
            <a:pPr marL="457200" indent="-457200">
              <a:buFont typeface="+mj-lt"/>
              <a:buAutoNum type="arabicPeriod"/>
            </a:pPr>
            <a:r>
              <a:rPr lang="en-AU" sz="2800" dirty="0"/>
              <a:t>When might a graph show misleading information?</a:t>
            </a:r>
          </a:p>
          <a:p>
            <a:pPr marL="630936" lvl="1" indent="-457200">
              <a:buFont typeface="+mj-lt"/>
              <a:buAutoNum type="alphaLcParenR"/>
            </a:pPr>
            <a:r>
              <a:rPr lang="en-AU" sz="2400" dirty="0"/>
              <a:t>List as many of these examples</a:t>
            </a:r>
          </a:p>
          <a:p>
            <a:pPr marL="0" indent="0">
              <a:buNone/>
            </a:pPr>
            <a:r>
              <a:rPr lang="en-AU" sz="2800" dirty="0"/>
              <a:t>After watching the video be prepared to share your answers with the people around you in preparation for a whole class discussion</a:t>
            </a:r>
          </a:p>
        </p:txBody>
      </p:sp>
    </p:spTree>
    <p:extLst>
      <p:ext uri="{BB962C8B-B14F-4D97-AF65-F5344CB8AC3E}">
        <p14:creationId xmlns:p14="http://schemas.microsoft.com/office/powerpoint/2010/main" val="9928279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Misleading Graphs - Ted Ed">
            <a:hlinkClick r:id="" action="ppaction://media"/>
            <a:extLst>
              <a:ext uri="{FF2B5EF4-FFF2-40B4-BE49-F238E27FC236}">
                <a16:creationId xmlns:a16="http://schemas.microsoft.com/office/drawing/2014/main" id="{BCC86DFD-AFBF-41DB-9765-A8ED6A12EE50}"/>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876795" y="177261"/>
            <a:ext cx="10438410" cy="5871460"/>
          </a:xfrm>
        </p:spPr>
      </p:pic>
      <p:sp>
        <p:nvSpPr>
          <p:cNvPr id="6" name="TextBox 5">
            <a:extLst>
              <a:ext uri="{FF2B5EF4-FFF2-40B4-BE49-F238E27FC236}">
                <a16:creationId xmlns:a16="http://schemas.microsoft.com/office/drawing/2014/main" id="{81CC03C7-77ED-4CA6-A565-CBF6E9AE723F}"/>
              </a:ext>
            </a:extLst>
          </p:cNvPr>
          <p:cNvSpPr txBox="1"/>
          <p:nvPr/>
        </p:nvSpPr>
        <p:spPr>
          <a:xfrm>
            <a:off x="3880263" y="6488668"/>
            <a:ext cx="4919353" cy="369332"/>
          </a:xfrm>
          <a:prstGeom prst="rect">
            <a:avLst/>
          </a:prstGeom>
          <a:noFill/>
        </p:spPr>
        <p:txBody>
          <a:bodyPr wrap="square">
            <a:spAutoFit/>
          </a:bodyPr>
          <a:lstStyle/>
          <a:p>
            <a:r>
              <a:rPr lang="en-GB" dirty="0">
                <a:hlinkClick r:id="rId5"/>
              </a:rPr>
              <a:t>https://www.youtube.com/watch?v=E91bGT9BjYk</a:t>
            </a:r>
            <a:endParaRPr lang="en-AU" dirty="0"/>
          </a:p>
        </p:txBody>
      </p:sp>
    </p:spTree>
    <p:extLst>
      <p:ext uri="{BB962C8B-B14F-4D97-AF65-F5344CB8AC3E}">
        <p14:creationId xmlns:p14="http://schemas.microsoft.com/office/powerpoint/2010/main" val="1413957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9637"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pitchFamily="34" charset="0"/>
                <a:cs typeface="Calibri" panose="020F0502020204030204" pitchFamily="34" charset="0"/>
              </a:rPr>
              <a:t>24</a:t>
            </a:r>
          </a:p>
          <a:p>
            <a:pPr defTabSz="914126"/>
            <a:r>
              <a:rPr lang="en-AU" sz="1600" dirty="0">
                <a:solidFill>
                  <a:prstClr val="black"/>
                </a:solidFill>
                <a:latin typeface="Calibri" panose="020F0502020204030204" pitchFamily="34" charset="0"/>
                <a:cs typeface="Calibri" panose="020F0502020204030204" pitchFamily="34" charset="0"/>
              </a:rPr>
              <a:t>7</a:t>
            </a:r>
          </a:p>
          <a:p>
            <a:pPr defTabSz="914126"/>
            <a:r>
              <a:rPr lang="en-AU" sz="1600" dirty="0">
                <a:solidFill>
                  <a:prstClr val="black"/>
                </a:solidFill>
                <a:latin typeface="Calibri" panose="020F0502020204030204" pitchFamily="34" charset="0"/>
                <a:cs typeface="Calibri" panose="020F0502020204030204" pitchFamily="34" charset="0"/>
              </a:rPr>
              <a:t>30</a:t>
            </a:r>
          </a:p>
        </p:txBody>
      </p:sp>
      <p:cxnSp>
        <p:nvCxnSpPr>
          <p:cNvPr id="9" name="Straight Connector 8"/>
          <p:cNvCxnSpPr>
            <a:cxnSpLocks/>
          </p:cNvCxnSpPr>
          <p:nvPr/>
        </p:nvCxnSpPr>
        <p:spPr>
          <a:xfrm>
            <a:off x="2151983" y="1298661"/>
            <a:ext cx="0" cy="555933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92821" y="123165"/>
            <a:ext cx="2781531"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Graphing</a:t>
            </a:r>
          </a:p>
        </p:txBody>
      </p:sp>
      <p:sp>
        <p:nvSpPr>
          <p:cNvPr id="11" name="TextBox 10"/>
          <p:cNvSpPr txBox="1"/>
          <p:nvPr/>
        </p:nvSpPr>
        <p:spPr>
          <a:xfrm>
            <a:off x="9493720" y="211358"/>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 XX/XX/2021</a:t>
            </a:r>
          </a:p>
        </p:txBody>
      </p:sp>
      <p:sp>
        <p:nvSpPr>
          <p:cNvPr id="33" name="TextBox 32"/>
          <p:cNvSpPr txBox="1"/>
          <p:nvPr/>
        </p:nvSpPr>
        <p:spPr>
          <a:xfrm>
            <a:off x="191345" y="837124"/>
            <a:ext cx="7788873"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What is appropriateness of scale in column graphs?</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6A9E84E-8513-465B-8CA9-D1DD4FAC2317}"/>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29070ED6-4BED-4D32-94DD-D50FBBDA7771}"/>
              </a:ext>
            </a:extLst>
          </p:cNvPr>
          <p:cNvSpPr txBox="1"/>
          <p:nvPr/>
        </p:nvSpPr>
        <p:spPr>
          <a:xfrm>
            <a:off x="54715" y="1490008"/>
            <a:ext cx="2166798" cy="1938992"/>
          </a:xfrm>
          <a:prstGeom prst="rect">
            <a:avLst/>
          </a:prstGeom>
          <a:noFill/>
        </p:spPr>
        <p:txBody>
          <a:bodyPr wrap="square" rtlCol="0">
            <a:spAutoFit/>
          </a:bodyPr>
          <a:lstStyle/>
          <a:p>
            <a:r>
              <a:rPr lang="en-AU" sz="2400" dirty="0">
                <a:latin typeface="Calibri" panose="020F0502020204030204" pitchFamily="34" charset="0"/>
                <a:cs typeface="Calibri" panose="020F0502020204030204" pitchFamily="34" charset="0"/>
              </a:rPr>
              <a:t>What do I need to consider when constructing graphs?</a:t>
            </a:r>
          </a:p>
        </p:txBody>
      </p:sp>
      <p:sp>
        <p:nvSpPr>
          <p:cNvPr id="15" name="TextBox 14">
            <a:extLst>
              <a:ext uri="{FF2B5EF4-FFF2-40B4-BE49-F238E27FC236}">
                <a16:creationId xmlns:a16="http://schemas.microsoft.com/office/drawing/2014/main" id="{61B98AF6-C845-4C3F-804D-986DB17E48F9}"/>
              </a:ext>
            </a:extLst>
          </p:cNvPr>
          <p:cNvSpPr txBox="1"/>
          <p:nvPr/>
        </p:nvSpPr>
        <p:spPr>
          <a:xfrm>
            <a:off x="2336426" y="1350976"/>
            <a:ext cx="9044747" cy="2805063"/>
          </a:xfrm>
          <a:prstGeom prst="rect">
            <a:avLst/>
          </a:prstGeom>
          <a:noFill/>
        </p:spPr>
        <p:txBody>
          <a:bodyPr wrap="square" rtlCol="0">
            <a:spAutoFit/>
          </a:bodyPr>
          <a:lstStyle/>
          <a:p>
            <a:pPr>
              <a:lnSpc>
                <a:spcPct val="150000"/>
              </a:lnSpc>
            </a:pPr>
            <a:r>
              <a:rPr lang="en-AU" sz="2400" dirty="0">
                <a:latin typeface="Calibri" panose="020F0502020204030204" pitchFamily="34" charset="0"/>
                <a:cs typeface="Calibri" panose="020F0502020204030204" pitchFamily="34" charset="0"/>
              </a:rPr>
              <a:t>When graphs are being constructed we need to consider:</a:t>
            </a:r>
          </a:p>
          <a:p>
            <a:pPr marL="342900" indent="-342900">
              <a:lnSpc>
                <a:spcPct val="150000"/>
              </a:lnSpc>
              <a:buFont typeface="Arial" panose="020B0604020202020204" pitchFamily="34" charset="0"/>
              <a:buChar char="•"/>
            </a:pPr>
            <a:r>
              <a:rPr lang="en-AU" sz="2400" dirty="0">
                <a:latin typeface="Calibri" panose="020F0502020204030204" pitchFamily="34" charset="0"/>
                <a:cs typeface="Calibri" panose="020F0502020204030204" pitchFamily="34" charset="0"/>
              </a:rPr>
              <a:t>The type of data, (Is it </a:t>
            </a:r>
            <a:r>
              <a:rPr lang="en-AU" sz="2400" b="1" dirty="0">
                <a:solidFill>
                  <a:schemeClr val="accent2"/>
                </a:solidFill>
                <a:latin typeface="Calibri" panose="020F0502020204030204" pitchFamily="34" charset="0"/>
                <a:cs typeface="Calibri" panose="020F0502020204030204" pitchFamily="34" charset="0"/>
              </a:rPr>
              <a:t>numerical data </a:t>
            </a:r>
            <a:r>
              <a:rPr lang="en-AU" sz="2400" dirty="0">
                <a:latin typeface="Calibri" panose="020F0502020204030204" pitchFamily="34" charset="0"/>
                <a:cs typeface="Calibri" panose="020F0502020204030204" pitchFamily="34" charset="0"/>
              </a:rPr>
              <a:t>or is it </a:t>
            </a:r>
            <a:r>
              <a:rPr lang="en-AU" sz="2400" b="1" dirty="0">
                <a:solidFill>
                  <a:schemeClr val="accent2"/>
                </a:solidFill>
                <a:latin typeface="Calibri" panose="020F0502020204030204" pitchFamily="34" charset="0"/>
                <a:cs typeface="Calibri" panose="020F0502020204030204" pitchFamily="34" charset="0"/>
              </a:rPr>
              <a:t>categorical data</a:t>
            </a:r>
            <a:r>
              <a:rPr lang="en-AU" sz="2400" dirty="0">
                <a:latin typeface="Calibri" panose="020F0502020204030204" pitchFamily="34" charset="0"/>
                <a:cs typeface="Calibri" panose="020F0502020204030204" pitchFamily="34" charset="0"/>
              </a:rPr>
              <a:t>?)</a:t>
            </a:r>
          </a:p>
          <a:p>
            <a:pPr marL="800100" lvl="1" indent="-342900">
              <a:lnSpc>
                <a:spcPct val="150000"/>
              </a:lnSpc>
              <a:buFont typeface="Arial" panose="020B0604020202020204" pitchFamily="34" charset="0"/>
              <a:buChar char="•"/>
            </a:pPr>
            <a:r>
              <a:rPr lang="en-AU" sz="2400" dirty="0">
                <a:latin typeface="Calibri" panose="020F0502020204030204" pitchFamily="34" charset="0"/>
                <a:cs typeface="Calibri" panose="020F0502020204030204" pitchFamily="34" charset="0"/>
              </a:rPr>
              <a:t>If numerical data is the data </a:t>
            </a:r>
            <a:r>
              <a:rPr lang="en-AU" sz="2400" b="1" dirty="0">
                <a:solidFill>
                  <a:schemeClr val="accent2"/>
                </a:solidFill>
                <a:latin typeface="Calibri" panose="020F0502020204030204" pitchFamily="34" charset="0"/>
                <a:cs typeface="Calibri" panose="020F0502020204030204" pitchFamily="34" charset="0"/>
              </a:rPr>
              <a:t>discrete data </a:t>
            </a:r>
            <a:r>
              <a:rPr lang="en-AU" sz="2400" dirty="0">
                <a:latin typeface="Calibri" panose="020F0502020204030204" pitchFamily="34" charset="0"/>
                <a:cs typeface="Calibri" panose="020F0502020204030204" pitchFamily="34" charset="0"/>
              </a:rPr>
              <a:t>or </a:t>
            </a:r>
            <a:r>
              <a:rPr lang="en-AU" sz="2400" b="1" dirty="0">
                <a:solidFill>
                  <a:schemeClr val="accent2"/>
                </a:solidFill>
                <a:latin typeface="Calibri" panose="020F0502020204030204" pitchFamily="34" charset="0"/>
                <a:cs typeface="Calibri" panose="020F0502020204030204" pitchFamily="34" charset="0"/>
              </a:rPr>
              <a:t>continuous data</a:t>
            </a:r>
            <a:r>
              <a:rPr lang="en-AU" sz="2400" dirty="0">
                <a:latin typeface="Calibri" panose="020F0502020204030204" pitchFamily="34" charset="0"/>
                <a:cs typeface="Calibri" panose="020F0502020204030204" pitchFamily="34" charset="0"/>
              </a:rPr>
              <a:t>?</a:t>
            </a:r>
          </a:p>
          <a:p>
            <a:pPr marL="342900" indent="-342900">
              <a:lnSpc>
                <a:spcPct val="150000"/>
              </a:lnSpc>
              <a:buFont typeface="Arial" panose="020B0604020202020204" pitchFamily="34" charset="0"/>
              <a:buChar char="•"/>
            </a:pPr>
            <a:r>
              <a:rPr lang="en-AU" sz="2400" dirty="0">
                <a:latin typeface="Calibri" panose="020F0502020204030204" pitchFamily="34" charset="0"/>
                <a:cs typeface="Calibri" panose="020F0502020204030204" pitchFamily="34" charset="0"/>
              </a:rPr>
              <a:t>The type of scale used to depict the information</a:t>
            </a:r>
          </a:p>
          <a:p>
            <a:pPr>
              <a:lnSpc>
                <a:spcPct val="150000"/>
              </a:lnSpc>
            </a:pPr>
            <a:endParaRPr lang="en-AU"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43037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xEl>
                                              <p:pRg st="0" end="0"/>
                                            </p:txEl>
                                          </p:spTgt>
                                        </p:tgtEl>
                                        <p:attrNameLst>
                                          <p:attrName>style.visibility</p:attrName>
                                        </p:attrNameLst>
                                      </p:cBhvr>
                                      <p:to>
                                        <p:strVal val="visible"/>
                                      </p:to>
                                    </p:set>
                                    <p:animEffect transition="in" filter="fade">
                                      <p:cBhvr>
                                        <p:cTn id="12" dur="500"/>
                                        <p:tgtEl>
                                          <p:spTgt spid="1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xEl>
                                              <p:pRg st="1" end="1"/>
                                            </p:txEl>
                                          </p:spTgt>
                                        </p:tgtEl>
                                        <p:attrNameLst>
                                          <p:attrName>style.visibility</p:attrName>
                                        </p:attrNameLst>
                                      </p:cBhvr>
                                      <p:to>
                                        <p:strVal val="visible"/>
                                      </p:to>
                                    </p:set>
                                    <p:animEffect transition="in" filter="fade">
                                      <p:cBhvr>
                                        <p:cTn id="17" dur="500"/>
                                        <p:tgtEl>
                                          <p:spTgt spid="15">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5">
                                            <p:txEl>
                                              <p:pRg st="2" end="2"/>
                                            </p:txEl>
                                          </p:spTgt>
                                        </p:tgtEl>
                                        <p:attrNameLst>
                                          <p:attrName>style.visibility</p:attrName>
                                        </p:attrNameLst>
                                      </p:cBhvr>
                                      <p:to>
                                        <p:strVal val="visible"/>
                                      </p:to>
                                    </p:set>
                                    <p:animEffect transition="in" filter="fade">
                                      <p:cBhvr>
                                        <p:cTn id="22" dur="500"/>
                                        <p:tgtEl>
                                          <p:spTgt spid="15">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5">
                                            <p:txEl>
                                              <p:pRg st="3" end="3"/>
                                            </p:txEl>
                                          </p:spTgt>
                                        </p:tgtEl>
                                        <p:attrNameLst>
                                          <p:attrName>style.visibility</p:attrName>
                                        </p:attrNameLst>
                                      </p:cBhvr>
                                      <p:to>
                                        <p:strVal val="visible"/>
                                      </p:to>
                                    </p:set>
                                    <p:animEffect transition="in" filter="fade">
                                      <p:cBhvr>
                                        <p:cTn id="27" dur="500"/>
                                        <p:tgtEl>
                                          <p:spTgt spid="1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51DFC-D6B2-4A37-81EA-7079A8393A1B}"/>
              </a:ext>
            </a:extLst>
          </p:cNvPr>
          <p:cNvSpPr>
            <a:spLocks noGrp="1"/>
          </p:cNvSpPr>
          <p:nvPr>
            <p:ph type="title"/>
          </p:nvPr>
        </p:nvSpPr>
        <p:spPr/>
        <p:txBody>
          <a:bodyPr/>
          <a:lstStyle/>
          <a:p>
            <a:r>
              <a:rPr lang="en-AU" dirty="0"/>
              <a:t>Comparison of Two Graphs</a:t>
            </a:r>
          </a:p>
        </p:txBody>
      </p:sp>
      <p:graphicFrame>
        <p:nvGraphicFramePr>
          <p:cNvPr id="9" name="Content Placeholder 8">
            <a:extLst>
              <a:ext uri="{FF2B5EF4-FFF2-40B4-BE49-F238E27FC236}">
                <a16:creationId xmlns:a16="http://schemas.microsoft.com/office/drawing/2014/main" id="{D07AA1D6-F983-428E-A830-FF31E9E2CD19}"/>
              </a:ext>
            </a:extLst>
          </p:cNvPr>
          <p:cNvGraphicFramePr>
            <a:graphicFrameLocks noGrp="1"/>
          </p:cNvGraphicFramePr>
          <p:nvPr>
            <p:ph sz="quarter" idx="4"/>
            <p:extLst>
              <p:ext uri="{D42A27DB-BD31-4B8C-83A1-F6EECF244321}">
                <p14:modId xmlns:p14="http://schemas.microsoft.com/office/powerpoint/2010/main" val="2501422827"/>
              </p:ext>
            </p:extLst>
          </p:nvPr>
        </p:nvGraphicFramePr>
        <p:xfrm>
          <a:off x="5991224" y="2084832"/>
          <a:ext cx="5907851" cy="334168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ontent Placeholder 12">
            <a:extLst>
              <a:ext uri="{FF2B5EF4-FFF2-40B4-BE49-F238E27FC236}">
                <a16:creationId xmlns:a16="http://schemas.microsoft.com/office/drawing/2014/main" id="{3259735C-0770-4E45-8428-E7261CD95995}"/>
              </a:ext>
            </a:extLst>
          </p:cNvPr>
          <p:cNvGraphicFramePr>
            <a:graphicFrameLocks noGrp="1"/>
          </p:cNvGraphicFramePr>
          <p:nvPr>
            <p:ph sz="half" idx="2"/>
            <p:extLst>
              <p:ext uri="{D42A27DB-BD31-4B8C-83A1-F6EECF244321}">
                <p14:modId xmlns:p14="http://schemas.microsoft.com/office/powerpoint/2010/main" val="531301830"/>
              </p:ext>
            </p:extLst>
          </p:nvPr>
        </p:nvGraphicFramePr>
        <p:xfrm>
          <a:off x="292925" y="2084832"/>
          <a:ext cx="5431963" cy="3211325"/>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Box 13">
            <a:extLst>
              <a:ext uri="{FF2B5EF4-FFF2-40B4-BE49-F238E27FC236}">
                <a16:creationId xmlns:a16="http://schemas.microsoft.com/office/drawing/2014/main" id="{8817776F-759A-4451-93C6-DC2A85BEC847}"/>
              </a:ext>
            </a:extLst>
          </p:cNvPr>
          <p:cNvSpPr txBox="1"/>
          <p:nvPr/>
        </p:nvSpPr>
        <p:spPr>
          <a:xfrm>
            <a:off x="463138" y="5164557"/>
            <a:ext cx="11435937" cy="1631216"/>
          </a:xfrm>
          <a:prstGeom prst="rect">
            <a:avLst/>
          </a:prstGeom>
          <a:noFill/>
        </p:spPr>
        <p:txBody>
          <a:bodyPr wrap="square" rtlCol="0">
            <a:spAutoFit/>
          </a:bodyPr>
          <a:lstStyle/>
          <a:p>
            <a:r>
              <a:rPr lang="en-AU" sz="2000" dirty="0">
                <a:latin typeface="Calibri" panose="020F0502020204030204" pitchFamily="34" charset="0"/>
                <a:cs typeface="Calibri" panose="020F0502020204030204" pitchFamily="34" charset="0"/>
              </a:rPr>
              <a:t>Questions</a:t>
            </a:r>
          </a:p>
          <a:p>
            <a:pPr marL="342900" indent="-342900">
              <a:buFont typeface="+mj-lt"/>
              <a:buAutoNum type="arabicPeriod"/>
            </a:pPr>
            <a:r>
              <a:rPr lang="en-AU" sz="2000" dirty="0">
                <a:latin typeface="Calibri" panose="020F0502020204030204" pitchFamily="34" charset="0"/>
                <a:cs typeface="Calibri" panose="020F0502020204030204" pitchFamily="34" charset="0"/>
              </a:rPr>
              <a:t>What information does each graph show?</a:t>
            </a:r>
          </a:p>
          <a:p>
            <a:pPr marL="342900" indent="-342900">
              <a:buFont typeface="+mj-lt"/>
              <a:buAutoNum type="arabicPeriod"/>
            </a:pPr>
            <a:r>
              <a:rPr lang="en-AU" sz="2000" dirty="0">
                <a:latin typeface="Calibri" panose="020F0502020204030204" pitchFamily="34" charset="0"/>
                <a:cs typeface="Calibri" panose="020F0502020204030204" pitchFamily="34" charset="0"/>
              </a:rPr>
              <a:t>Which graph is depicts the number of cases better for comparing number of cases in each country and why?</a:t>
            </a:r>
          </a:p>
          <a:p>
            <a:pPr marL="342900" indent="-342900">
              <a:buFont typeface="+mj-lt"/>
              <a:buAutoNum type="arabicPeriod"/>
            </a:pPr>
            <a:r>
              <a:rPr lang="en-AU" sz="2000" dirty="0">
                <a:latin typeface="Calibri" panose="020F0502020204030204" pitchFamily="34" charset="0"/>
                <a:cs typeface="Calibri" panose="020F0502020204030204" pitchFamily="34" charset="0"/>
              </a:rPr>
              <a:t>How have the different scales affected the display of data?</a:t>
            </a:r>
          </a:p>
        </p:txBody>
      </p:sp>
    </p:spTree>
    <p:extLst>
      <p:ext uri="{BB962C8B-B14F-4D97-AF65-F5344CB8AC3E}">
        <p14:creationId xmlns:p14="http://schemas.microsoft.com/office/powerpoint/2010/main" val="35823074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BEE1B-357F-4CDE-9A4D-EFBE59C3AF24}"/>
              </a:ext>
            </a:extLst>
          </p:cNvPr>
          <p:cNvSpPr>
            <a:spLocks noGrp="1"/>
          </p:cNvSpPr>
          <p:nvPr>
            <p:ph type="title"/>
          </p:nvPr>
        </p:nvSpPr>
        <p:spPr>
          <a:xfrm>
            <a:off x="1024128" y="585216"/>
            <a:ext cx="3133581" cy="1499616"/>
          </a:xfrm>
        </p:spPr>
        <p:txBody>
          <a:bodyPr vert="horz" lIns="91440" tIns="45720" rIns="91440" bIns="45720" rtlCol="0" anchor="ctr">
            <a:normAutofit/>
          </a:bodyPr>
          <a:lstStyle/>
          <a:p>
            <a:r>
              <a:rPr lang="en-US" sz="3700"/>
              <a:t>TASK – Appropriate scale worksheet</a:t>
            </a:r>
          </a:p>
        </p:txBody>
      </p:sp>
      <p:sp>
        <p:nvSpPr>
          <p:cNvPr id="6" name="TextBox 5">
            <a:extLst>
              <a:ext uri="{FF2B5EF4-FFF2-40B4-BE49-F238E27FC236}">
                <a16:creationId xmlns:a16="http://schemas.microsoft.com/office/drawing/2014/main" id="{80A5F9C6-7CC7-4517-9DC4-2D3A41669574}"/>
              </a:ext>
            </a:extLst>
          </p:cNvPr>
          <p:cNvSpPr txBox="1"/>
          <p:nvPr/>
        </p:nvSpPr>
        <p:spPr>
          <a:xfrm>
            <a:off x="1024128" y="2286000"/>
            <a:ext cx="3133580" cy="3931920"/>
          </a:xfrm>
          <a:prstGeom prst="rect">
            <a:avLst/>
          </a:prstGeom>
        </p:spPr>
        <p:txBody>
          <a:bodyPr vert="horz" lIns="45720" tIns="45720" rIns="45720" bIns="45720" rtlCol="0">
            <a:normAutofit/>
          </a:bodyPr>
          <a:lstStyle/>
          <a:p>
            <a:pPr defTabSz="914400">
              <a:lnSpc>
                <a:spcPct val="90000"/>
              </a:lnSpc>
              <a:spcAft>
                <a:spcPts val="800"/>
              </a:spcAft>
              <a:buClr>
                <a:schemeClr val="accent1"/>
              </a:buClr>
            </a:pPr>
            <a:r>
              <a:rPr lang="en-US" sz="2400" b="1" dirty="0">
                <a:effectLst/>
                <a:latin typeface="Calibri" panose="020F0502020204030204" pitchFamily="34" charset="0"/>
                <a:cs typeface="Calibri" panose="020F0502020204030204" pitchFamily="34" charset="0"/>
              </a:rPr>
              <a:t>Question 1</a:t>
            </a:r>
          </a:p>
          <a:p>
            <a:pPr defTabSz="914400">
              <a:lnSpc>
                <a:spcPct val="90000"/>
              </a:lnSpc>
              <a:spcAft>
                <a:spcPts val="800"/>
              </a:spcAft>
              <a:buClr>
                <a:schemeClr val="accent1"/>
              </a:buClr>
            </a:pPr>
            <a:r>
              <a:rPr lang="en-US" sz="2400" b="1" dirty="0">
                <a:effectLst/>
                <a:latin typeface="Calibri" panose="020F0502020204030204" pitchFamily="34" charset="0"/>
                <a:cs typeface="Calibri" panose="020F0502020204030204" pitchFamily="34" charset="0"/>
              </a:rPr>
              <a:t>David drew a column graph to show the average cost of petrol in six capital cities.</a:t>
            </a:r>
          </a:p>
        </p:txBody>
      </p:sp>
      <p:pic>
        <p:nvPicPr>
          <p:cNvPr id="4" name="Content Placeholder 3" descr="Chart&#10;&#10;Description automatically generated">
            <a:extLst>
              <a:ext uri="{FF2B5EF4-FFF2-40B4-BE49-F238E27FC236}">
                <a16:creationId xmlns:a16="http://schemas.microsoft.com/office/drawing/2014/main" id="{2869B05F-0873-4DF1-9CFF-732F5AC90AC0}"/>
              </a:ext>
            </a:extLst>
          </p:cNvPr>
          <p:cNvPicPr>
            <a:picLocks noGrp="1"/>
          </p:cNvPicPr>
          <p:nvPr>
            <p:ph idx="1"/>
          </p:nvPr>
        </p:nvPicPr>
        <p:blipFill>
          <a:blip r:embed="rId2"/>
          <a:stretch>
            <a:fillRect/>
          </a:stretch>
        </p:blipFill>
        <p:spPr>
          <a:xfrm>
            <a:off x="4642342" y="1692969"/>
            <a:ext cx="6909577" cy="3472061"/>
          </a:xfrm>
          <a:prstGeom prst="rect">
            <a:avLst/>
          </a:prstGeom>
        </p:spPr>
      </p:pic>
    </p:spTree>
    <p:extLst>
      <p:ext uri="{BB962C8B-B14F-4D97-AF65-F5344CB8AC3E}">
        <p14:creationId xmlns:p14="http://schemas.microsoft.com/office/powerpoint/2010/main" val="3589909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BEE1B-357F-4CDE-9A4D-EFBE59C3AF24}"/>
              </a:ext>
            </a:extLst>
          </p:cNvPr>
          <p:cNvSpPr>
            <a:spLocks noGrp="1"/>
          </p:cNvSpPr>
          <p:nvPr>
            <p:ph type="title"/>
          </p:nvPr>
        </p:nvSpPr>
        <p:spPr>
          <a:xfrm>
            <a:off x="1024128" y="585216"/>
            <a:ext cx="3133581" cy="1499616"/>
          </a:xfrm>
        </p:spPr>
        <p:txBody>
          <a:bodyPr vert="horz" lIns="91440" tIns="45720" rIns="91440" bIns="45720" rtlCol="0" anchor="ctr">
            <a:normAutofit/>
          </a:bodyPr>
          <a:lstStyle/>
          <a:p>
            <a:r>
              <a:rPr lang="en-US" sz="3700"/>
              <a:t>TASK – Appropriate scale worksheet</a:t>
            </a:r>
          </a:p>
        </p:txBody>
      </p:sp>
      <p:sp>
        <p:nvSpPr>
          <p:cNvPr id="6" name="TextBox 5">
            <a:extLst>
              <a:ext uri="{FF2B5EF4-FFF2-40B4-BE49-F238E27FC236}">
                <a16:creationId xmlns:a16="http://schemas.microsoft.com/office/drawing/2014/main" id="{80A5F9C6-7CC7-4517-9DC4-2D3A41669574}"/>
              </a:ext>
            </a:extLst>
          </p:cNvPr>
          <p:cNvSpPr txBox="1"/>
          <p:nvPr/>
        </p:nvSpPr>
        <p:spPr>
          <a:xfrm>
            <a:off x="1024128" y="2286000"/>
            <a:ext cx="3133580" cy="3931920"/>
          </a:xfrm>
          <a:prstGeom prst="rect">
            <a:avLst/>
          </a:prstGeom>
        </p:spPr>
        <p:txBody>
          <a:bodyPr vert="horz" lIns="45720" tIns="45720" rIns="45720" bIns="45720" rtlCol="0">
            <a:normAutofit/>
          </a:bodyPr>
          <a:lstStyle/>
          <a:p>
            <a:pPr>
              <a:lnSpc>
                <a:spcPct val="107000"/>
              </a:lnSpc>
              <a:spcAft>
                <a:spcPts val="800"/>
              </a:spcAft>
            </a:pPr>
            <a:r>
              <a:rPr lang="en-AU" sz="2000" b="1" dirty="0">
                <a:effectLst/>
                <a:latin typeface="Calibri" panose="020F0502020204030204" pitchFamily="34" charset="0"/>
                <a:ea typeface="Calibri" panose="020F0502020204030204" pitchFamily="34" charset="0"/>
                <a:cs typeface="Cordia New" panose="020B0304020202020204" pitchFamily="34" charset="-34"/>
              </a:rPr>
              <a:t>Question 2</a:t>
            </a:r>
          </a:p>
          <a:p>
            <a:pPr>
              <a:lnSpc>
                <a:spcPct val="107000"/>
              </a:lnSpc>
              <a:spcAft>
                <a:spcPts val="800"/>
              </a:spcAft>
            </a:pPr>
            <a:r>
              <a:rPr lang="en-AU" sz="2000" b="1" dirty="0">
                <a:effectLst/>
                <a:latin typeface="Calibri" panose="020F0502020204030204" pitchFamily="34" charset="0"/>
                <a:ea typeface="Calibri" panose="020F0502020204030204" pitchFamily="34" charset="0"/>
                <a:cs typeface="Cordia New" panose="020B0304020202020204" pitchFamily="34" charset="-34"/>
              </a:rPr>
              <a:t>Scott thinks that oil companies are ripping people off. He decided to investigate the price of petrol and the cost of crude oil. </a:t>
            </a:r>
          </a:p>
          <a:p>
            <a:pPr>
              <a:lnSpc>
                <a:spcPct val="107000"/>
              </a:lnSpc>
              <a:spcAft>
                <a:spcPts val="800"/>
              </a:spcAft>
            </a:pPr>
            <a:r>
              <a:rPr lang="en-AU" sz="2000" b="1" dirty="0">
                <a:effectLst/>
                <a:latin typeface="Calibri" panose="020F0502020204030204" pitchFamily="34" charset="0"/>
                <a:ea typeface="Calibri" panose="020F0502020204030204" pitchFamily="34" charset="0"/>
                <a:cs typeface="Cordia New" panose="020B0304020202020204" pitchFamily="34" charset="-34"/>
              </a:rPr>
              <a:t>Scott displayed his information on a graph.</a:t>
            </a:r>
          </a:p>
        </p:txBody>
      </p:sp>
      <p:pic>
        <p:nvPicPr>
          <p:cNvPr id="8" name="Content Placeholder 7">
            <a:extLst>
              <a:ext uri="{FF2B5EF4-FFF2-40B4-BE49-F238E27FC236}">
                <a16:creationId xmlns:a16="http://schemas.microsoft.com/office/drawing/2014/main" id="{3EC25677-586F-4931-BE14-F2C6E4583265}"/>
              </a:ext>
            </a:extLst>
          </p:cNvPr>
          <p:cNvPicPr>
            <a:picLocks noGrp="1"/>
          </p:cNvPicPr>
          <p:nvPr>
            <p:ph idx="1"/>
          </p:nvPr>
        </p:nvPicPr>
        <p:blipFill>
          <a:blip r:embed="rId2"/>
          <a:stretch>
            <a:fillRect/>
          </a:stretch>
        </p:blipFill>
        <p:spPr>
          <a:xfrm>
            <a:off x="5322427" y="1073984"/>
            <a:ext cx="6149135" cy="4710031"/>
          </a:xfrm>
          <a:prstGeom prst="rect">
            <a:avLst/>
          </a:prstGeom>
        </p:spPr>
      </p:pic>
    </p:spTree>
    <p:extLst>
      <p:ext uri="{BB962C8B-B14F-4D97-AF65-F5344CB8AC3E}">
        <p14:creationId xmlns:p14="http://schemas.microsoft.com/office/powerpoint/2010/main" val="1281335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DBEE1B-357F-4CDE-9A4D-EFBE59C3AF24}"/>
              </a:ext>
            </a:extLst>
          </p:cNvPr>
          <p:cNvSpPr>
            <a:spLocks noGrp="1"/>
          </p:cNvSpPr>
          <p:nvPr>
            <p:ph type="title"/>
          </p:nvPr>
        </p:nvSpPr>
        <p:spPr>
          <a:xfrm>
            <a:off x="1024128" y="585216"/>
            <a:ext cx="3133581" cy="1499616"/>
          </a:xfrm>
        </p:spPr>
        <p:txBody>
          <a:bodyPr vert="horz" lIns="91440" tIns="45720" rIns="91440" bIns="45720" rtlCol="0" anchor="ctr">
            <a:normAutofit/>
          </a:bodyPr>
          <a:lstStyle/>
          <a:p>
            <a:r>
              <a:rPr lang="en-US" sz="3700"/>
              <a:t>TASK – Appropriate scale worksheet</a:t>
            </a:r>
          </a:p>
        </p:txBody>
      </p:sp>
      <p:sp>
        <p:nvSpPr>
          <p:cNvPr id="6" name="TextBox 5">
            <a:extLst>
              <a:ext uri="{FF2B5EF4-FFF2-40B4-BE49-F238E27FC236}">
                <a16:creationId xmlns:a16="http://schemas.microsoft.com/office/drawing/2014/main" id="{80A5F9C6-7CC7-4517-9DC4-2D3A41669574}"/>
              </a:ext>
            </a:extLst>
          </p:cNvPr>
          <p:cNvSpPr txBox="1"/>
          <p:nvPr/>
        </p:nvSpPr>
        <p:spPr>
          <a:xfrm>
            <a:off x="1024128" y="2286000"/>
            <a:ext cx="3133580" cy="3931920"/>
          </a:xfrm>
          <a:prstGeom prst="rect">
            <a:avLst/>
          </a:prstGeom>
        </p:spPr>
        <p:txBody>
          <a:bodyPr vert="horz" lIns="45720" tIns="45720" rIns="45720" bIns="45720" rtlCol="0">
            <a:normAutofit/>
          </a:bodyPr>
          <a:lstStyle/>
          <a:p>
            <a:pPr>
              <a:lnSpc>
                <a:spcPct val="107000"/>
              </a:lnSpc>
              <a:spcAft>
                <a:spcPts val="800"/>
              </a:spcAft>
            </a:pPr>
            <a:r>
              <a:rPr lang="en-AU" sz="2000" b="1" dirty="0">
                <a:effectLst/>
                <a:latin typeface="Calibri" panose="020F0502020204030204" pitchFamily="34" charset="0"/>
                <a:ea typeface="Calibri" panose="020F0502020204030204" pitchFamily="34" charset="0"/>
                <a:cs typeface="Cordia New" panose="020B0304020202020204" pitchFamily="34" charset="-34"/>
              </a:rPr>
              <a:t>Question 3</a:t>
            </a:r>
          </a:p>
          <a:p>
            <a:pPr>
              <a:lnSpc>
                <a:spcPct val="107000"/>
              </a:lnSpc>
              <a:spcAft>
                <a:spcPts val="800"/>
              </a:spcAft>
            </a:pPr>
            <a:r>
              <a:rPr lang="en-AU" sz="2000" b="1" dirty="0">
                <a:effectLst/>
                <a:latin typeface="Calibri" panose="020F0502020204030204" pitchFamily="34" charset="0"/>
                <a:ea typeface="Calibri" panose="020F0502020204030204" pitchFamily="34" charset="0"/>
                <a:cs typeface="Cordia New" panose="020B0304020202020204" pitchFamily="34" charset="-34"/>
              </a:rPr>
              <a:t>This graph compares the average weekly wages in </a:t>
            </a:r>
            <a:r>
              <a:rPr lang="en-AU" sz="2000" b="1" dirty="0" err="1">
                <a:effectLst/>
                <a:latin typeface="Calibri" panose="020F0502020204030204" pitchFamily="34" charset="0"/>
                <a:ea typeface="Calibri" panose="020F0502020204030204" pitchFamily="34" charset="0"/>
                <a:cs typeface="Cordia New" panose="020B0304020202020204" pitchFamily="34" charset="-34"/>
              </a:rPr>
              <a:t>Malvolia</a:t>
            </a:r>
            <a:r>
              <a:rPr lang="en-AU" sz="2000" b="1" dirty="0">
                <a:effectLst/>
                <a:latin typeface="Calibri" panose="020F0502020204030204" pitchFamily="34" charset="0"/>
                <a:ea typeface="Calibri" panose="020F0502020204030204" pitchFamily="34" charset="0"/>
                <a:cs typeface="Cordia New" panose="020B0304020202020204" pitchFamily="34" charset="-34"/>
              </a:rPr>
              <a:t> ($700) and Australia ( $1400)</a:t>
            </a:r>
          </a:p>
        </p:txBody>
      </p:sp>
      <p:pic>
        <p:nvPicPr>
          <p:cNvPr id="9" name="Content Placeholder 8">
            <a:extLst>
              <a:ext uri="{FF2B5EF4-FFF2-40B4-BE49-F238E27FC236}">
                <a16:creationId xmlns:a16="http://schemas.microsoft.com/office/drawing/2014/main" id="{44A6917C-A74E-4329-922E-53D88B2B4684}"/>
              </a:ext>
            </a:extLst>
          </p:cNvPr>
          <p:cNvPicPr>
            <a:picLocks noGrp="1"/>
          </p:cNvPicPr>
          <p:nvPr>
            <p:ph idx="1"/>
          </p:nvPr>
        </p:nvPicPr>
        <p:blipFill>
          <a:blip r:embed="rId2"/>
          <a:stretch>
            <a:fillRect/>
          </a:stretch>
        </p:blipFill>
        <p:spPr>
          <a:xfrm>
            <a:off x="6096000" y="1190857"/>
            <a:ext cx="2685462" cy="2190285"/>
          </a:xfrm>
          <a:prstGeom prst="rect">
            <a:avLst/>
          </a:prstGeom>
        </p:spPr>
      </p:pic>
      <p:pic>
        <p:nvPicPr>
          <p:cNvPr id="10" name="Picture 9">
            <a:extLst>
              <a:ext uri="{FF2B5EF4-FFF2-40B4-BE49-F238E27FC236}">
                <a16:creationId xmlns:a16="http://schemas.microsoft.com/office/drawing/2014/main" id="{0FFFB02C-D2DA-4D59-A079-A39A13F4CAFB}"/>
              </a:ext>
            </a:extLst>
          </p:cNvPr>
          <p:cNvPicPr/>
          <p:nvPr/>
        </p:nvPicPr>
        <p:blipFill>
          <a:blip r:embed="rId3"/>
          <a:stretch>
            <a:fillRect/>
          </a:stretch>
        </p:blipFill>
        <p:spPr>
          <a:xfrm>
            <a:off x="5931250" y="3702132"/>
            <a:ext cx="5725099" cy="1405181"/>
          </a:xfrm>
          <a:prstGeom prst="rect">
            <a:avLst/>
          </a:prstGeom>
        </p:spPr>
      </p:pic>
    </p:spTree>
    <p:extLst>
      <p:ext uri="{BB962C8B-B14F-4D97-AF65-F5344CB8AC3E}">
        <p14:creationId xmlns:p14="http://schemas.microsoft.com/office/powerpoint/2010/main" val="208662325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7D25652-70A2-4111-A862-DCDB0F791EBA}">
  <we:reference id="wa104379997" version="2.0.0.0" store="en-US" storeType="OMEX"/>
  <we:alternateReferences>
    <we:reference id="wa104379997" version="2.0.0.0"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Integral</Template>
  <TotalTime>3216</TotalTime>
  <Words>574</Words>
  <Application>Microsoft Office PowerPoint</Application>
  <PresentationFormat>Widescreen</PresentationFormat>
  <Paragraphs>60</Paragraphs>
  <Slides>9</Slides>
  <Notes>3</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Calibri</vt:lpstr>
      <vt:lpstr>Cambria Math</vt:lpstr>
      <vt:lpstr>Tw Cen MT</vt:lpstr>
      <vt:lpstr>Tw Cen MT Condensed</vt:lpstr>
      <vt:lpstr>Wingdings 3</vt:lpstr>
      <vt:lpstr>Integral</vt:lpstr>
      <vt:lpstr>Topic: Graphing EQ: What is appropriateness of scale in column Graphs? </vt:lpstr>
      <vt:lpstr>FiVe Questions</vt:lpstr>
      <vt:lpstr>Misleading graphs video</vt:lpstr>
      <vt:lpstr>PowerPoint Presentation</vt:lpstr>
      <vt:lpstr>PowerPoint Presentation</vt:lpstr>
      <vt:lpstr>Comparison of Two Graphs</vt:lpstr>
      <vt:lpstr>TASK – Appropriate scale worksheet</vt:lpstr>
      <vt:lpstr>TASK – Appropriate scale worksheet</vt:lpstr>
      <vt:lpstr>TASK – Appropriate scale worksheet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Rates Continued </dc:title>
  <dc:creator>Travis Power</dc:creator>
  <cp:lastModifiedBy>PARLEVLIET Magdeline [Baldivis Secondary College]</cp:lastModifiedBy>
  <cp:revision>90</cp:revision>
  <cp:lastPrinted>2018-05-03T00:24:35Z</cp:lastPrinted>
  <dcterms:created xsi:type="dcterms:W3CDTF">2018-02-13T05:48:53Z</dcterms:created>
  <dcterms:modified xsi:type="dcterms:W3CDTF">2021-07-25T04:40:53Z</dcterms:modified>
</cp:coreProperties>
</file>
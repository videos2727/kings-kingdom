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0" r:id="rId1"/>
  </p:sldMasterIdLst>
  <p:notesMasterIdLst>
    <p:notesMasterId r:id="rId13"/>
  </p:notesMasterIdLst>
  <p:sldIdLst>
    <p:sldId id="266" r:id="rId2"/>
    <p:sldId id="301" r:id="rId3"/>
    <p:sldId id="289" r:id="rId4"/>
    <p:sldId id="290" r:id="rId5"/>
    <p:sldId id="299" r:id="rId6"/>
    <p:sldId id="300" r:id="rId7"/>
    <p:sldId id="286" r:id="rId8"/>
    <p:sldId id="291" r:id="rId9"/>
    <p:sldId id="292" r:id="rId10"/>
    <p:sldId id="293" r:id="rId11"/>
    <p:sldId id="294" r:id="rId12"/>
  </p:sldIdLst>
  <p:sldSz cx="12192000" cy="6858000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2"/>
    <p:restoredTop sz="67753" autoAdjust="0"/>
  </p:normalViewPr>
  <p:slideViewPr>
    <p:cSldViewPr snapToGrid="0" snapToObjects="1">
      <p:cViewPr varScale="1">
        <p:scale>
          <a:sx n="81" d="100"/>
          <a:sy n="81" d="100"/>
        </p:scale>
        <p:origin x="171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F2789E-5AC8-448E-8E6F-EC7423D7B148}" type="datetimeFigureOut">
              <a:rPr lang="en-GB" smtClean="0"/>
              <a:t>05/07/2021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85D6DF-A159-4F50-B9AF-8F30B100FF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6226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85D6DF-A159-4F50-B9AF-8F30B100FF37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63265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9680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8215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8757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85D6DF-A159-4F50-B9AF-8F30B100FF37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87778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85D6DF-A159-4F50-B9AF-8F30B100FF37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46514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EEBC23BB-2070-D146-BD10-A01B23AF686B}" type="datetimeFigureOut">
              <a:rPr lang="en-AU" smtClean="0"/>
              <a:t>5/07/2021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5896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5/07/2021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6141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5/07/2021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3837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5/07/2021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0757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5/07/2021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15112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5/07/2021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552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5/07/2021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62826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5/07/2021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0952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5/07/2021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5453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5/07/2021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63669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5/07/2021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8630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EEBC23BB-2070-D146-BD10-A01B23AF686B}" type="datetimeFigureOut">
              <a:rPr lang="en-AU" smtClean="0"/>
              <a:t>5/07/2021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3517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42744-6AE1-4460-BB81-220391B100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000" dirty="0">
                <a:solidFill>
                  <a:schemeClr val="tx1"/>
                </a:solidFill>
                <a:latin typeface="Tw Cen MT Condensed" panose="020B0606020104020203" pitchFamily="34" charset="0"/>
              </a:rPr>
              <a:t>Topic: Electricity</a:t>
            </a:r>
            <a:br>
              <a:rPr lang="en-US" sz="4000" dirty="0">
                <a:solidFill>
                  <a:schemeClr val="tx1"/>
                </a:solidFill>
                <a:latin typeface="Tw Cen MT Condensed" panose="020B0606020104020203" pitchFamily="34" charset="0"/>
              </a:rPr>
            </a:br>
            <a:r>
              <a:rPr lang="en-US" sz="4000" dirty="0">
                <a:solidFill>
                  <a:schemeClr val="tx1"/>
                </a:solidFill>
                <a:latin typeface="Tw Cen MT Condensed" panose="020B0606020104020203" pitchFamily="34" charset="0"/>
              </a:rPr>
              <a:t>EQ: What are the units of electricity? </a:t>
            </a:r>
            <a:endParaRPr lang="en-GB" sz="4000" dirty="0">
              <a:solidFill>
                <a:schemeClr val="tx1"/>
              </a:solidFill>
              <a:latin typeface="Tw Cen MT Condensed" panose="020B060602010402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CE286F-EE8D-4E43-8AA7-04B4265BF3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AU" sz="2000" dirty="0">
                <a:solidFill>
                  <a:schemeClr val="tx1"/>
                </a:solidFill>
                <a:latin typeface="Tw Cen MT" panose="020B0602020104020603" pitchFamily="34" charset="0"/>
              </a:rPr>
              <a:t>Mrs Parlevliet</a:t>
            </a:r>
          </a:p>
          <a:p>
            <a:r>
              <a:rPr lang="en-AU" sz="2000" dirty="0">
                <a:solidFill>
                  <a:schemeClr val="tx1"/>
                </a:solidFill>
                <a:latin typeface="Tw Cen MT" panose="020B0602020104020603" pitchFamily="34" charset="0"/>
              </a:rPr>
              <a:t>Year </a:t>
            </a:r>
            <a:r>
              <a:rPr lang="en-AU" dirty="0">
                <a:solidFill>
                  <a:schemeClr val="tx1"/>
                </a:solidFill>
                <a:latin typeface="Tw Cen MT" panose="020B0602020104020603" pitchFamily="34" charset="0"/>
              </a:rPr>
              <a:t>11 Essentials</a:t>
            </a:r>
            <a:endParaRPr lang="en-GB" sz="2000" dirty="0">
              <a:solidFill>
                <a:schemeClr val="tx1"/>
              </a:solidFill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2862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A3C03-BF03-48EF-A72A-CE11494FF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err="1"/>
              <a:t>FiVe</a:t>
            </a:r>
            <a:r>
              <a:rPr lang="en-AU" dirty="0"/>
              <a:t> Questions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C9BC97-E084-4305-8742-02C144E0C2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57872" y="1710048"/>
                <a:ext cx="11017452" cy="5011386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Convert the following into kilograms</a:t>
                </a:r>
              </a:p>
              <a:p>
                <a:pPr marL="630936" lvl="1" indent="-457200">
                  <a:buFont typeface="+mj-lt"/>
                  <a:buAutoNum type="alphaLcParenR"/>
                </a:pPr>
                <a:r>
                  <a:rPr lang="en-AU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3.5t</a:t>
                </a:r>
              </a:p>
              <a:p>
                <a:pPr marL="630936" lvl="1" indent="-457200">
                  <a:buFont typeface="+mj-lt"/>
                  <a:buAutoNum type="alphaLcParenR"/>
                </a:pPr>
                <a:r>
                  <a:rPr lang="en-AU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4000g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How many minutes are there in 2.5 hours?</a:t>
                </a: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15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÷3×2−4+5=</m:t>
                    </m:r>
                  </m:oMath>
                </a14:m>
                <a:endParaRPr lang="en-AU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𝑎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=3</m:t>
                    </m:r>
                  </m:oMath>
                </a14:m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𝑏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=6</m:t>
                    </m:r>
                  </m:oMath>
                </a14:m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𝑐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=5</m:t>
                    </m:r>
                  </m:oMath>
                </a14:m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calculate the value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𝑏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×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𝑐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 square field has an area of 8000 m2. The length of one side is between:</a:t>
                </a:r>
              </a:p>
              <a:p>
                <a:pPr marL="630936" lvl="1" indent="-457200">
                  <a:buFont typeface="+mj-lt"/>
                  <a:buAutoNum type="alphaLcParenR"/>
                </a:pPr>
                <a:r>
                  <a:rPr lang="en-AU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40 – 44 m</a:t>
                </a:r>
              </a:p>
              <a:p>
                <a:pPr marL="630936" lvl="1" indent="-457200">
                  <a:buFont typeface="+mj-lt"/>
                  <a:buAutoNum type="alphaLcParenR"/>
                </a:pPr>
                <a:r>
                  <a:rPr lang="en-AU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80 – 84 m</a:t>
                </a:r>
              </a:p>
              <a:p>
                <a:pPr marL="630936" lvl="1" indent="-457200">
                  <a:buFont typeface="+mj-lt"/>
                  <a:buAutoNum type="alphaLcParenR"/>
                </a:pPr>
                <a:r>
                  <a:rPr lang="en-AU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85 – 90 m</a:t>
                </a:r>
              </a:p>
              <a:p>
                <a:pPr marL="630936" lvl="1" indent="-457200">
                  <a:buFont typeface="+mj-lt"/>
                  <a:buAutoNum type="alphaLcParenR"/>
                </a:pPr>
                <a:r>
                  <a:rPr lang="en-AU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400 – 404 m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C9BC97-E084-4305-8742-02C144E0C2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7872" y="1710048"/>
                <a:ext cx="11017452" cy="5011386"/>
              </a:xfrm>
              <a:blipFill>
                <a:blip r:embed="rId2"/>
                <a:stretch>
                  <a:fillRect l="-1328" t="-194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9019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9512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Topic: Electricity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93720" y="211358"/>
            <a:ext cx="241430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Date: XX/XX/2021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EQ – What are the units of electricity?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AA13946-086C-4E06-B07A-BEFFA7E1A326}"/>
              </a:ext>
            </a:extLst>
          </p:cNvPr>
          <p:cNvSpPr txBox="1"/>
          <p:nvPr/>
        </p:nvSpPr>
        <p:spPr>
          <a:xfrm>
            <a:off x="1943784" y="1449573"/>
            <a:ext cx="998174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93957A-3F85-4204-8D9D-D1E88A4321E1}"/>
              </a:ext>
            </a:extLst>
          </p:cNvPr>
          <p:cNvSpPr txBox="1"/>
          <p:nvPr/>
        </p:nvSpPr>
        <p:spPr>
          <a:xfrm>
            <a:off x="1978777" y="1405409"/>
            <a:ext cx="94998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The energy used to run electrical appliances is measured in watts or kilowatts.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92E299-88FB-41CD-B3A5-25AB4D27A961}"/>
              </a:ext>
            </a:extLst>
          </p:cNvPr>
          <p:cNvSpPr txBox="1"/>
          <p:nvPr/>
        </p:nvSpPr>
        <p:spPr>
          <a:xfrm>
            <a:off x="35180" y="1327877"/>
            <a:ext cx="181234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How is energy used in electricity measured?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E31BC3-6751-4692-AFE2-70176C3CB03E}"/>
              </a:ext>
            </a:extLst>
          </p:cNvPr>
          <p:cNvSpPr txBox="1"/>
          <p:nvPr/>
        </p:nvSpPr>
        <p:spPr>
          <a:xfrm>
            <a:off x="0" y="2768811"/>
            <a:ext cx="18237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What is a kilowatt hour?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B8F2EE-61BE-4689-B3EE-366D516FD042}"/>
              </a:ext>
            </a:extLst>
          </p:cNvPr>
          <p:cNvSpPr txBox="1"/>
          <p:nvPr/>
        </p:nvSpPr>
        <p:spPr>
          <a:xfrm>
            <a:off x="1978776" y="2922699"/>
            <a:ext cx="82054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An electricity account measures the use of electrical energy in kilowatt hours.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6C4EF8-7D94-445D-BF89-20A54E5993C4}"/>
              </a:ext>
            </a:extLst>
          </p:cNvPr>
          <p:cNvSpPr txBox="1"/>
          <p:nvPr/>
        </p:nvSpPr>
        <p:spPr>
          <a:xfrm>
            <a:off x="1961280" y="3643616"/>
            <a:ext cx="994674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000" u="sng" dirty="0">
                <a:latin typeface="Calibri" panose="020F0502020204030204" pitchFamily="34" charset="0"/>
                <a:cs typeface="Calibri" panose="020F0502020204030204" pitchFamily="34" charset="0"/>
              </a:rPr>
              <a:t>Examples: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A heater rated at 1 kilowatt or 1000 watts means that when it is in use for one hour, 1 kilowatt of energy will be used.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A 40 watt light globe uses 0.04 kilowatt hours of energy per hour</a:t>
            </a:r>
          </a:p>
          <a:p>
            <a:endParaRPr lang="en-AU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1 kilowatt = 1kW = 1000 watts</a:t>
            </a:r>
          </a:p>
          <a:p>
            <a:endParaRPr lang="en-AU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1 kilowatt hour = 1kWh (A unit of energy equivalent to 1kW of power used in one hour)</a:t>
            </a:r>
          </a:p>
        </p:txBody>
      </p:sp>
    </p:spTree>
    <p:extLst>
      <p:ext uri="{BB962C8B-B14F-4D97-AF65-F5344CB8AC3E}">
        <p14:creationId xmlns:p14="http://schemas.microsoft.com/office/powerpoint/2010/main" val="2043037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633FF-94B4-45B1-91A4-7D638650E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 panose="00000500000000000000"/>
              </a:rPr>
              <a:t>G</a:t>
            </a:r>
            <a:r>
              <a:rPr lang="en-GB" sz="5400" b="1" dirty="0" err="1">
                <a:solidFill>
                  <a:schemeClr val="accent1">
                    <a:lumMod val="75000"/>
                  </a:schemeClr>
                </a:solidFill>
                <a:latin typeface="Kiwi School Handwriting" panose="00000500000000000000"/>
              </a:rPr>
              <a:t>uided</a:t>
            </a:r>
            <a:r>
              <a:rPr lang="en-GB" sz="5400" b="1" dirty="0">
                <a:solidFill>
                  <a:schemeClr val="accent1">
                    <a:lumMod val="75000"/>
                  </a:schemeClr>
                </a:solidFill>
                <a:latin typeface="Kiwi School Handwriting" panose="00000500000000000000"/>
              </a:rPr>
              <a:t> Practice</a:t>
            </a:r>
            <a:endParaRPr lang="en-GB" sz="54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D75CDB4-98D3-47F3-B150-AE6DDAF900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57401"/>
            <a:ext cx="10437019" cy="356978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1F595D2-70A8-4559-97F6-DC414F82879D}"/>
              </a:ext>
            </a:extLst>
          </p:cNvPr>
          <p:cNvSpPr txBox="1"/>
          <p:nvPr/>
        </p:nvSpPr>
        <p:spPr>
          <a:xfrm>
            <a:off x="2066143" y="2688777"/>
            <a:ext cx="11527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4000 W</a:t>
            </a:r>
            <a:endParaRPr lang="en-GB" sz="24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C5B511D-FDDC-4B0A-AEDC-980B1C8DFF72}"/>
              </a:ext>
            </a:extLst>
          </p:cNvPr>
          <p:cNvSpPr txBox="1"/>
          <p:nvPr/>
        </p:nvSpPr>
        <p:spPr>
          <a:xfrm>
            <a:off x="10603705" y="2703405"/>
            <a:ext cx="12163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348 W</a:t>
            </a:r>
            <a:endParaRPr lang="en-GB" sz="24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BD75CB7-B48A-4363-9CAC-0D6F73044098}"/>
              </a:ext>
            </a:extLst>
          </p:cNvPr>
          <p:cNvSpPr txBox="1"/>
          <p:nvPr/>
        </p:nvSpPr>
        <p:spPr>
          <a:xfrm>
            <a:off x="6394846" y="2688777"/>
            <a:ext cx="20645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2760 W</a:t>
            </a:r>
            <a:endParaRPr lang="en-GB" sz="24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833B873-7C48-423C-8364-52AC03157298}"/>
              </a:ext>
            </a:extLst>
          </p:cNvPr>
          <p:cNvSpPr txBox="1"/>
          <p:nvPr/>
        </p:nvSpPr>
        <p:spPr>
          <a:xfrm>
            <a:off x="6622256" y="4751180"/>
            <a:ext cx="12466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0.95 kW</a:t>
            </a:r>
            <a:endParaRPr lang="en-GB" sz="24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730ADB5-492D-47BA-B6DF-0D91A4B705B1}"/>
              </a:ext>
            </a:extLst>
          </p:cNvPr>
          <p:cNvSpPr txBox="1"/>
          <p:nvPr/>
        </p:nvSpPr>
        <p:spPr>
          <a:xfrm>
            <a:off x="2763441" y="4773169"/>
            <a:ext cx="910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8 kW</a:t>
            </a:r>
            <a:endParaRPr lang="en-GB" sz="24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3F98482-774C-4510-B433-878286BB823C}"/>
              </a:ext>
            </a:extLst>
          </p:cNvPr>
          <p:cNvSpPr txBox="1"/>
          <p:nvPr/>
        </p:nvSpPr>
        <p:spPr>
          <a:xfrm>
            <a:off x="10757483" y="4751181"/>
            <a:ext cx="14345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1.275 kW</a:t>
            </a:r>
            <a:endParaRPr lang="en-GB" sz="24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7357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4" grpId="0"/>
      <p:bldP spid="25" grpId="0"/>
      <p:bldP spid="2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2944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Units of Electricity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91816" y="215966"/>
            <a:ext cx="241430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Date: XX/XX/2021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EQ – What are the units of electricity?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AA13946-086C-4E06-B07A-BEFFA7E1A326}"/>
              </a:ext>
            </a:extLst>
          </p:cNvPr>
          <p:cNvSpPr txBox="1"/>
          <p:nvPr/>
        </p:nvSpPr>
        <p:spPr>
          <a:xfrm>
            <a:off x="1943784" y="1449573"/>
            <a:ext cx="998174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193957A-3F85-4204-8D9D-D1E88A4321E1}"/>
                  </a:ext>
                </a:extLst>
              </p:cNvPr>
              <p:cNvSpPr txBox="1"/>
              <p:nvPr/>
            </p:nvSpPr>
            <p:spPr>
              <a:xfrm>
                <a:off x="1978777" y="1419461"/>
                <a:ext cx="9499899" cy="18996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The energy, (E), used by an appliance can be calculated by using this formula: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AU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AU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AU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					where 		P = Power in watts</a:t>
                </a:r>
              </a:p>
              <a:p>
                <a:r>
                  <a:rPr lang="en-AU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								t = time in hours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193957A-3F85-4204-8D9D-D1E88A4321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8777" y="1419461"/>
                <a:ext cx="9499899" cy="1899687"/>
              </a:xfrm>
              <a:prstGeom prst="rect">
                <a:avLst/>
              </a:prstGeom>
              <a:blipFill>
                <a:blip r:embed="rId3"/>
                <a:stretch>
                  <a:fillRect l="-706" t="-1929" b="-514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9392E299-88FB-41CD-B3A5-25AB4D27A961}"/>
              </a:ext>
            </a:extLst>
          </p:cNvPr>
          <p:cNvSpPr txBox="1"/>
          <p:nvPr/>
        </p:nvSpPr>
        <p:spPr>
          <a:xfrm>
            <a:off x="35179" y="1327876"/>
            <a:ext cx="182373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What is the formula for calculating Energy used by appliances?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E31BC3-6751-4692-AFE2-70176C3CB03E}"/>
              </a:ext>
            </a:extLst>
          </p:cNvPr>
          <p:cNvSpPr txBox="1"/>
          <p:nvPr/>
        </p:nvSpPr>
        <p:spPr>
          <a:xfrm>
            <a:off x="32719" y="3591133"/>
            <a:ext cx="182373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How do we use the formula to calculate energy?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EE38AD-7B6C-45DF-BA4F-C4D6B6A30084}"/>
              </a:ext>
            </a:extLst>
          </p:cNvPr>
          <p:cNvSpPr txBox="1"/>
          <p:nvPr/>
        </p:nvSpPr>
        <p:spPr>
          <a:xfrm>
            <a:off x="2087606" y="3766982"/>
            <a:ext cx="611976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000" b="1" u="sng" dirty="0">
                <a:latin typeface="Calibri" panose="020F0502020204030204" pitchFamily="34" charset="0"/>
                <a:cs typeface="Calibri" panose="020F0502020204030204" pitchFamily="34" charset="0"/>
              </a:rPr>
              <a:t>Example</a:t>
            </a:r>
          </a:p>
          <a:p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Find the energy used by a 60 W light globe in 5 hours.</a:t>
            </a:r>
          </a:p>
        </p:txBody>
      </p:sp>
      <p:pic>
        <p:nvPicPr>
          <p:cNvPr id="8" name="Picture 7" descr="Five bulbs and one of them is glowing">
            <a:extLst>
              <a:ext uri="{FF2B5EF4-FFF2-40B4-BE49-F238E27FC236}">
                <a16:creationId xmlns:a16="http://schemas.microsoft.com/office/drawing/2014/main" id="{0D31878A-F23D-473B-BE11-42192B6378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9601" y="4275928"/>
            <a:ext cx="3389595" cy="226083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7982C6F-A272-42AF-BEB0-97C4D9ED5164}"/>
                  </a:ext>
                </a:extLst>
              </p:cNvPr>
              <p:cNvSpPr txBox="1"/>
              <p:nvPr/>
            </p:nvSpPr>
            <p:spPr>
              <a:xfrm>
                <a:off x="3195302" y="4477061"/>
                <a:ext cx="3907531" cy="22467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AU" sz="20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A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A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num>
                        <m:den>
                          <m:r>
                            <a:rPr lang="en-AU" sz="2000" i="1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AU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AU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60</m:t>
                          </m:r>
                          <m:r>
                            <a:rPr lang="en-A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AU" sz="2000" i="1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AU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AU" sz="20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AU" sz="2000" i="1">
                        <a:latin typeface="Cambria Math" panose="02040503050406030204" pitchFamily="18" charset="0"/>
                      </a:rPr>
                      <m:t>=0.3</m:t>
                    </m:r>
                  </m:oMath>
                </a14:m>
                <a:r>
                  <a:rPr lang="en-AU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kWh</a:t>
                </a: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7982C6F-A272-42AF-BEB0-97C4D9ED51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5302" y="4477061"/>
                <a:ext cx="3907531" cy="2246705"/>
              </a:xfrm>
              <a:prstGeom prst="rect">
                <a:avLst/>
              </a:prstGeom>
              <a:blipFill>
                <a:blip r:embed="rId5"/>
                <a:stretch>
                  <a:fillRect b="-379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8242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5" grpId="0"/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2944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Units of Electricity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744" y="174956"/>
            <a:ext cx="241430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Date: XX/XX/2021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EQ – What are the units of electricity?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AA13946-086C-4E06-B07A-BEFFA7E1A326}"/>
              </a:ext>
            </a:extLst>
          </p:cNvPr>
          <p:cNvSpPr txBox="1"/>
          <p:nvPr/>
        </p:nvSpPr>
        <p:spPr>
          <a:xfrm>
            <a:off x="1943784" y="1449573"/>
            <a:ext cx="998174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193957A-3F85-4204-8D9D-D1E88A4321E1}"/>
                  </a:ext>
                </a:extLst>
              </p:cNvPr>
              <p:cNvSpPr txBox="1"/>
              <p:nvPr/>
            </p:nvSpPr>
            <p:spPr>
              <a:xfrm>
                <a:off x="2113523" y="1471395"/>
                <a:ext cx="9499899" cy="18996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The energy, (E), used by an appliance can be calculated by using this formula: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AU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AU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AU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					where 		P = Power in watts</a:t>
                </a:r>
              </a:p>
              <a:p>
                <a:r>
                  <a:rPr lang="en-AU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								t = time in hours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193957A-3F85-4204-8D9D-D1E88A4321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3523" y="1471395"/>
                <a:ext cx="9499899" cy="1899687"/>
              </a:xfrm>
              <a:prstGeom prst="rect">
                <a:avLst/>
              </a:prstGeom>
              <a:blipFill>
                <a:blip r:embed="rId3"/>
                <a:stretch>
                  <a:fillRect l="-706" t="-1603" b="-480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83E31BC3-6751-4692-AFE2-70176C3CB03E}"/>
              </a:ext>
            </a:extLst>
          </p:cNvPr>
          <p:cNvSpPr txBox="1"/>
          <p:nvPr/>
        </p:nvSpPr>
        <p:spPr>
          <a:xfrm>
            <a:off x="23793" y="3800277"/>
            <a:ext cx="208973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How do we calculate Energy when we have kW?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DDA7DE-953E-460D-A616-86A26973641E}"/>
              </a:ext>
            </a:extLst>
          </p:cNvPr>
          <p:cNvSpPr txBox="1"/>
          <p:nvPr/>
        </p:nvSpPr>
        <p:spPr>
          <a:xfrm>
            <a:off x="-24335" y="1417532"/>
            <a:ext cx="19681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How do we use the formula to calculate energy?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E2264B-4B3A-455A-9F57-57820E2F6763}"/>
              </a:ext>
            </a:extLst>
          </p:cNvPr>
          <p:cNvSpPr txBox="1"/>
          <p:nvPr/>
        </p:nvSpPr>
        <p:spPr>
          <a:xfrm>
            <a:off x="8484524" y="509293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304FF8-6DEA-46F7-A8E8-59DDEF313BD1}"/>
              </a:ext>
            </a:extLst>
          </p:cNvPr>
          <p:cNvSpPr txBox="1"/>
          <p:nvPr/>
        </p:nvSpPr>
        <p:spPr>
          <a:xfrm>
            <a:off x="2278188" y="3822411"/>
            <a:ext cx="933523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000" b="1" u="sng" dirty="0">
                <a:latin typeface="Calibri" panose="020F0502020204030204" pitchFamily="34" charset="0"/>
                <a:cs typeface="Calibri" panose="020F0502020204030204" pitchFamily="34" charset="0"/>
              </a:rPr>
              <a:t>Example</a:t>
            </a:r>
          </a:p>
          <a:p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Find the energy used by a 6kW heater that is used for 4 hours and 15 minutes to heat a room.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CF08772-0ED4-4420-B6C0-1FED3824F15C}"/>
                  </a:ext>
                </a:extLst>
              </p:cNvPr>
              <p:cNvSpPr txBox="1"/>
              <p:nvPr/>
            </p:nvSpPr>
            <p:spPr>
              <a:xfrm>
                <a:off x="3769706" y="4911756"/>
                <a:ext cx="6155356" cy="14288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AU" sz="20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AU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AU" sz="2000" i="1">
                          <a:latin typeface="Cambria Math" panose="02040503050406030204" pitchFamily="18" charset="0"/>
                        </a:rPr>
                        <m:t>=6×4.25</m:t>
                      </m:r>
                    </m:oMath>
                  </m:oMathPara>
                </a14:m>
                <a:endParaRPr lang="en-AU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AU" sz="20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AU" sz="2000" i="1">
                        <a:latin typeface="Cambria Math" panose="02040503050406030204" pitchFamily="18" charset="0"/>
                      </a:rPr>
                      <m:t>=25.5</m:t>
                    </m:r>
                  </m:oMath>
                </a14:m>
                <a:r>
                  <a:rPr lang="en-AU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kWh</a:t>
                </a: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CF08772-0ED4-4420-B6C0-1FED3824F1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9706" y="4911756"/>
                <a:ext cx="6155356" cy="1428853"/>
              </a:xfrm>
              <a:prstGeom prst="rect">
                <a:avLst/>
              </a:prstGeom>
              <a:blipFill>
                <a:blip r:embed="rId4"/>
                <a:stretch>
                  <a:fillRect b="-683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4204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44EC2-D50D-4652-9305-AF7EC3259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/>
              </a:rPr>
              <a:t>Task</a:t>
            </a:r>
            <a:endParaRPr lang="en-GB" sz="5400" b="1" dirty="0">
              <a:solidFill>
                <a:schemeClr val="accent1">
                  <a:lumMod val="75000"/>
                </a:schemeClr>
              </a:solidFill>
              <a:latin typeface="Kiwi School Handwriting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3FB65-85C3-4D6E-9E99-A4600037F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AU" sz="2400" dirty="0"/>
          </a:p>
          <a:p>
            <a:pPr marL="0" indent="0">
              <a:buNone/>
            </a:pPr>
            <a:endParaRPr lang="en-GB" sz="2400" dirty="0"/>
          </a:p>
          <a:p>
            <a:endParaRPr lang="en-AU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2924629-BE72-452B-8DFB-99ABA76C3D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1789632"/>
            <a:ext cx="11506200" cy="3019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0153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44EC2-D50D-4652-9305-AF7EC3259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/>
              </a:rPr>
              <a:t>Task</a:t>
            </a:r>
            <a:endParaRPr lang="en-GB" sz="5400" b="1" dirty="0">
              <a:solidFill>
                <a:schemeClr val="accent1">
                  <a:lumMod val="75000"/>
                </a:schemeClr>
              </a:solidFill>
              <a:latin typeface="Kiwi School Handwriting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3FB65-85C3-4D6E-9E99-A4600037F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AU" sz="2400" dirty="0"/>
          </a:p>
          <a:p>
            <a:pPr marL="0" indent="0">
              <a:buNone/>
            </a:pPr>
            <a:endParaRPr lang="en-GB" sz="2400" dirty="0"/>
          </a:p>
          <a:p>
            <a:endParaRPr lang="en-AU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2F075B-B0DD-4787-8A62-DECA719525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219" y="1866573"/>
            <a:ext cx="11083775" cy="3869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6651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44EC2-D50D-4652-9305-AF7EC3259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/>
              </a:rPr>
              <a:t>Task</a:t>
            </a:r>
            <a:endParaRPr lang="en-GB" sz="5400" b="1" dirty="0">
              <a:solidFill>
                <a:schemeClr val="accent1">
                  <a:lumMod val="75000"/>
                </a:schemeClr>
              </a:solidFill>
              <a:latin typeface="Kiwi School Handwriting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3FB65-85C3-4D6E-9E99-A4600037F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AU" sz="2400" dirty="0"/>
          </a:p>
          <a:p>
            <a:pPr marL="0" indent="0">
              <a:buNone/>
            </a:pPr>
            <a:endParaRPr lang="en-GB" sz="2400" dirty="0"/>
          </a:p>
          <a:p>
            <a:endParaRPr lang="en-AU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A8B9CB-04DB-42A7-B481-B98E8DDEDA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356" y="2084832"/>
            <a:ext cx="11063287" cy="4063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6489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44EC2-D50D-4652-9305-AF7EC3259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322362"/>
            <a:ext cx="8610600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/>
              </a:rPr>
              <a:t>Task</a:t>
            </a:r>
            <a:endParaRPr lang="en-GB" sz="5400" b="1" dirty="0">
              <a:solidFill>
                <a:schemeClr val="accent1">
                  <a:lumMod val="75000"/>
                </a:schemeClr>
              </a:solidFill>
              <a:latin typeface="Kiwi School Handwriting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3FB65-85C3-4D6E-9E99-A4600037F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AU" sz="2400" dirty="0"/>
          </a:p>
          <a:p>
            <a:pPr marL="0" indent="0">
              <a:buNone/>
            </a:pPr>
            <a:endParaRPr lang="en-GB" sz="2400" dirty="0"/>
          </a:p>
          <a:p>
            <a:endParaRPr lang="en-AU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8E1607-BD82-437C-8695-78506FB83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994" y="1615390"/>
            <a:ext cx="10006012" cy="521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270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44EC2-D50D-4652-9305-AF7EC3259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801" y="367887"/>
            <a:ext cx="8610600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/>
              </a:rPr>
              <a:t>Task</a:t>
            </a:r>
            <a:endParaRPr lang="en-GB" sz="5400" b="1" dirty="0">
              <a:solidFill>
                <a:schemeClr val="accent1">
                  <a:lumMod val="75000"/>
                </a:schemeClr>
              </a:solidFill>
              <a:latin typeface="Kiwi School Handwriting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3FB65-85C3-4D6E-9E99-A4600037F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AU" sz="2400" dirty="0"/>
          </a:p>
          <a:p>
            <a:pPr marL="0" indent="0">
              <a:buNone/>
            </a:pPr>
            <a:endParaRPr lang="en-GB" sz="2400" dirty="0"/>
          </a:p>
          <a:p>
            <a:endParaRPr lang="en-AU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9ADD52-0DAE-4201-8A56-C551E6F0E72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735"/>
          <a:stretch/>
        </p:blipFill>
        <p:spPr>
          <a:xfrm>
            <a:off x="1131093" y="1757161"/>
            <a:ext cx="9929813" cy="5081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14525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7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7D25652-70A2-4111-A862-DCDB0F791EBA}">
  <we:reference id="wa104379997" version="2.0.0.0" store="en-US" storeType="OMEX"/>
  <we:alternateReferences>
    <we:reference id="wa104379997" version="2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1371</TotalTime>
  <Words>491</Words>
  <Application>Microsoft Office PowerPoint</Application>
  <PresentationFormat>Widescreen</PresentationFormat>
  <Paragraphs>103</Paragraphs>
  <Slides>11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Kiwi School Handwriting</vt:lpstr>
      <vt:lpstr>Arial</vt:lpstr>
      <vt:lpstr>Calibri</vt:lpstr>
      <vt:lpstr>Cambria Math</vt:lpstr>
      <vt:lpstr>Tw Cen MT</vt:lpstr>
      <vt:lpstr>Tw Cen MT Condensed</vt:lpstr>
      <vt:lpstr>Wingdings 3</vt:lpstr>
      <vt:lpstr>Integral</vt:lpstr>
      <vt:lpstr>Topic: Electricity EQ: What are the units of electricity? </vt:lpstr>
      <vt:lpstr>FiVe Questions</vt:lpstr>
      <vt:lpstr>PowerPoint Presentation</vt:lpstr>
      <vt:lpstr>Guided Practice</vt:lpstr>
      <vt:lpstr>PowerPoint Presentation</vt:lpstr>
      <vt:lpstr>PowerPoint Presentation</vt:lpstr>
      <vt:lpstr>Task</vt:lpstr>
      <vt:lpstr>Task</vt:lpstr>
      <vt:lpstr>Task</vt:lpstr>
      <vt:lpstr>Task</vt:lpstr>
      <vt:lpstr>Task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Rates Continued </dc:title>
  <dc:creator>Travis Power</dc:creator>
  <cp:lastModifiedBy>PARLEVLIET Magdeline [Baldivis Secondary College]</cp:lastModifiedBy>
  <cp:revision>80</cp:revision>
  <cp:lastPrinted>2018-05-03T00:24:35Z</cp:lastPrinted>
  <dcterms:created xsi:type="dcterms:W3CDTF">2018-02-13T05:48:53Z</dcterms:created>
  <dcterms:modified xsi:type="dcterms:W3CDTF">2021-07-05T07:54:32Z</dcterms:modified>
</cp:coreProperties>
</file>
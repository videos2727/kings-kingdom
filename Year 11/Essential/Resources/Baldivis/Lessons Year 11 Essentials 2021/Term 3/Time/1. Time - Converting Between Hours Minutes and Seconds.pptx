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301" r:id="rId3"/>
    <p:sldId id="302" r:id="rId4"/>
    <p:sldId id="289" r:id="rId5"/>
    <p:sldId id="303" r:id="rId6"/>
    <p:sldId id="304" r:id="rId7"/>
    <p:sldId id="306" r:id="rId8"/>
    <p:sldId id="30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9101" autoAdjust="0"/>
  </p:normalViewPr>
  <p:slideViewPr>
    <p:cSldViewPr snapToGrid="0">
      <p:cViewPr varScale="1">
        <p:scale>
          <a:sx n="94" d="100"/>
          <a:sy n="94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14/09/2021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/>
              <a:t> 13m</a:t>
            </a:r>
          </a:p>
          <a:p>
            <a:pPr marL="228600" indent="-228600">
              <a:buAutoNum type="arabicPeriod"/>
            </a:pPr>
            <a:r>
              <a:rPr lang="en-AU" dirty="0"/>
              <a:t>24.75 L</a:t>
            </a:r>
          </a:p>
          <a:p>
            <a:pPr marL="228600" indent="-228600">
              <a:buAutoNum type="arabicPeriod"/>
            </a:pPr>
            <a:r>
              <a:rPr lang="en-AU" dirty="0"/>
              <a:t>6.75 m, 6750 mm</a:t>
            </a:r>
          </a:p>
          <a:p>
            <a:pPr marL="228600" indent="-228600">
              <a:buAutoNum type="arabicPeriod"/>
            </a:pPr>
            <a:r>
              <a:rPr lang="en-AU" dirty="0"/>
              <a:t>1.2kg = 1200g = 1 200 000 mg</a:t>
            </a:r>
          </a:p>
          <a:p>
            <a:pPr marL="228600" indent="-228600">
              <a:buAutoNum type="arabicPeriod"/>
            </a:pPr>
            <a:r>
              <a:rPr lang="en-AU" dirty="0"/>
              <a:t>$285</a:t>
            </a:r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 in with students that they can read the time on an analogue clockface before going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7107-940C-4618-81D1-D3CF499832C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064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56167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340645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openclipart.org/detail/13433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tag.com/delorean-back-to-the-future-wallpap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Time</a:t>
            </a:r>
            <a:br>
              <a:rPr lang="en-AU" dirty="0"/>
            </a:br>
            <a:r>
              <a:rPr lang="en-AU" dirty="0"/>
              <a:t>EQ: How do I convert between Hours, Minutes, and Seconds?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570392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BC97-E084-4305-8742-02C144E0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72" y="1941992"/>
            <a:ext cx="11017452" cy="445372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A rectangle has a perimeter of 86 metres and a length of 30 metres.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long is the width?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many litres of water will I have to take on a camping trip to allow for 90 cups of water if my cups hold 275 mL?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My house plan has a scale of 1:50. what length would a line that is 13.5 cm long represent? Write your answer in metres and millimetres?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Convert 1.2kg into mg.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An electrician charges a call out fee of $45, plus $80 per hour. What will you pay for 3 hours of work?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22010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570392"/>
            <a:ext cx="6815487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convert between hours, minutes, and seconds?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003F-0D4F-4D7E-B8CC-9B9125F3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Think Pair Write Share</a:t>
            </a:r>
          </a:p>
        </p:txBody>
      </p:sp>
      <p:pic>
        <p:nvPicPr>
          <p:cNvPr id="7" name="Content Placeholder 6" descr="A picture containing circle&#10;&#10;Description automatically generated">
            <a:extLst>
              <a:ext uri="{FF2B5EF4-FFF2-40B4-BE49-F238E27FC236}">
                <a16:creationId xmlns:a16="http://schemas.microsoft.com/office/drawing/2014/main" id="{B82711CB-518B-4585-87AC-D82406591D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b="27693"/>
          <a:stretch/>
        </p:blipFill>
        <p:spPr>
          <a:xfrm>
            <a:off x="7203440" y="1335024"/>
            <a:ext cx="4292060" cy="4389120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A0487F-56E7-46E4-8C21-E3B8AFD74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8" y="1983232"/>
            <a:ext cx="5064760" cy="4389120"/>
          </a:xfrm>
        </p:spPr>
        <p:txBody>
          <a:bodyPr>
            <a:normAutofit/>
          </a:bodyPr>
          <a:lstStyle/>
          <a:p>
            <a:r>
              <a:rPr lang="en-AU" dirty="0"/>
              <a:t>The hour hand takes 12 hours to go around the clock.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How long does it take for the minute hand to go around the clock?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How far does the minute hand move in:</a:t>
            </a:r>
          </a:p>
          <a:p>
            <a:pPr marL="630936" lvl="1" indent="-457200">
              <a:buFont typeface="+mj-lt"/>
              <a:buAutoNum type="alphaLcParenR"/>
            </a:pPr>
            <a:r>
              <a:rPr lang="en-AU" dirty="0"/>
              <a:t>A quarter of an hour</a:t>
            </a:r>
          </a:p>
          <a:p>
            <a:pPr marL="630936" lvl="1" indent="-457200">
              <a:buFont typeface="+mj-lt"/>
              <a:buAutoNum type="alphaLcParenR"/>
            </a:pPr>
            <a:r>
              <a:rPr lang="en-AU" dirty="0"/>
              <a:t>5 minutes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How do the marks between each number relate to the movement of the minute hand?</a:t>
            </a:r>
          </a:p>
        </p:txBody>
      </p:sp>
    </p:spTree>
    <p:extLst>
      <p:ext uri="{BB962C8B-B14F-4D97-AF65-F5344CB8AC3E}">
        <p14:creationId xmlns:p14="http://schemas.microsoft.com/office/powerpoint/2010/main" val="232307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are the fractions of an hour and minutes?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19128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convert between hours, minutes, and seconds?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2664B-DA38-406B-B582-55E703E7AB10}"/>
              </a:ext>
            </a:extLst>
          </p:cNvPr>
          <p:cNvSpPr txBox="1"/>
          <p:nvPr/>
        </p:nvSpPr>
        <p:spPr>
          <a:xfrm>
            <a:off x="2672621" y="1561905"/>
            <a:ext cx="761763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The standard unit of time is seconds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Time Conversion Caterpillar 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0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 defTabSz="685595"/>
            <a:r>
              <a:rPr lang="en-AU" sz="2000" b="1" dirty="0">
                <a:solidFill>
                  <a:srgbClr val="00B050"/>
                </a:solidFill>
                <a:latin typeface="Calibri" panose="020F0502020204030204"/>
              </a:rPr>
              <a:t>Hour                           Minutes		    Second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B429DD-B88A-4D2A-A857-4824D5364A7C}"/>
              </a:ext>
            </a:extLst>
          </p:cNvPr>
          <p:cNvGrpSpPr/>
          <p:nvPr/>
        </p:nvGrpSpPr>
        <p:grpSpPr>
          <a:xfrm>
            <a:off x="2962178" y="2769772"/>
            <a:ext cx="2435087" cy="457200"/>
            <a:chOff x="2372139" y="1974574"/>
            <a:chExt cx="3246783" cy="609600"/>
          </a:xfrm>
        </p:grpSpPr>
        <p:sp>
          <p:nvSpPr>
            <p:cNvPr id="23" name="Arrow: Curved Down 22">
              <a:extLst>
                <a:ext uri="{FF2B5EF4-FFF2-40B4-BE49-F238E27FC236}">
                  <a16:creationId xmlns:a16="http://schemas.microsoft.com/office/drawing/2014/main" id="{B22B585F-1588-43B0-BAED-C777818B1E61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3F8C05-915D-4EBC-BC13-51D11323918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992327-CF8F-452D-A1F9-25805A812C47}"/>
              </a:ext>
            </a:extLst>
          </p:cNvPr>
          <p:cNvGrpSpPr/>
          <p:nvPr/>
        </p:nvGrpSpPr>
        <p:grpSpPr>
          <a:xfrm>
            <a:off x="5185195" y="2754125"/>
            <a:ext cx="2435087" cy="457200"/>
            <a:chOff x="2372139" y="1974574"/>
            <a:chExt cx="3246783" cy="609600"/>
          </a:xfrm>
        </p:grpSpPr>
        <p:sp>
          <p:nvSpPr>
            <p:cNvPr id="26" name="Arrow: Curved Down 25">
              <a:extLst>
                <a:ext uri="{FF2B5EF4-FFF2-40B4-BE49-F238E27FC236}">
                  <a16:creationId xmlns:a16="http://schemas.microsoft.com/office/drawing/2014/main" id="{872E6A03-2C25-466E-8254-077A16962643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7AB1B1-7395-4153-8AEB-358592A030DC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0BA767-7457-4429-81F1-F6D4917AFEB8}"/>
              </a:ext>
            </a:extLst>
          </p:cNvPr>
          <p:cNvGrpSpPr/>
          <p:nvPr/>
        </p:nvGrpSpPr>
        <p:grpSpPr>
          <a:xfrm>
            <a:off x="5119310" y="3585307"/>
            <a:ext cx="2435087" cy="457200"/>
            <a:chOff x="8057322" y="2950963"/>
            <a:chExt cx="3246783" cy="609600"/>
          </a:xfrm>
        </p:grpSpPr>
        <p:sp>
          <p:nvSpPr>
            <p:cNvPr id="29" name="Arrow: Curved Down 28">
              <a:extLst>
                <a:ext uri="{FF2B5EF4-FFF2-40B4-BE49-F238E27FC236}">
                  <a16:creationId xmlns:a16="http://schemas.microsoft.com/office/drawing/2014/main" id="{6D43F891-AF57-4609-A630-D8D8BF06A9C5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691C96-B77E-4798-9806-6E7DAFE4444E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007087-6025-4CFD-B5F1-3FCC3F305165}"/>
              </a:ext>
            </a:extLst>
          </p:cNvPr>
          <p:cNvGrpSpPr/>
          <p:nvPr/>
        </p:nvGrpSpPr>
        <p:grpSpPr>
          <a:xfrm>
            <a:off x="2868237" y="3569732"/>
            <a:ext cx="2435087" cy="457200"/>
            <a:chOff x="8057322" y="2950963"/>
            <a:chExt cx="3246783" cy="609600"/>
          </a:xfrm>
        </p:grpSpPr>
        <p:sp>
          <p:nvSpPr>
            <p:cNvPr id="32" name="Arrow: Curved Down 31">
              <a:extLst>
                <a:ext uri="{FF2B5EF4-FFF2-40B4-BE49-F238E27FC236}">
                  <a16:creationId xmlns:a16="http://schemas.microsoft.com/office/drawing/2014/main" id="{0862FBF1-596E-429D-AC19-2BDBD3BA910C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CE59BF6-C476-428D-A7E5-3C9D640D78AC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are the fractions of an hour and minutes?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191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61DFC69-A129-4586-AC0D-F45309ACC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369"/>
              </p:ext>
            </p:extLst>
          </p:nvPr>
        </p:nvGraphicFramePr>
        <p:xfrm>
          <a:off x="4444049" y="2061276"/>
          <a:ext cx="4392487" cy="331236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87731">
                  <a:extLst>
                    <a:ext uri="{9D8B030D-6E8A-4147-A177-3AD203B41FA5}">
                      <a16:colId xmlns:a16="http://schemas.microsoft.com/office/drawing/2014/main" val="1981285039"/>
                    </a:ext>
                  </a:extLst>
                </a:gridCol>
                <a:gridCol w="1452378">
                  <a:extLst>
                    <a:ext uri="{9D8B030D-6E8A-4147-A177-3AD203B41FA5}">
                      <a16:colId xmlns:a16="http://schemas.microsoft.com/office/drawing/2014/main" val="3110992549"/>
                    </a:ext>
                  </a:extLst>
                </a:gridCol>
                <a:gridCol w="1452378">
                  <a:extLst>
                    <a:ext uri="{9D8B030D-6E8A-4147-A177-3AD203B41FA5}">
                      <a16:colId xmlns:a16="http://schemas.microsoft.com/office/drawing/2014/main" val="2832310460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2123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23612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4855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2382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60657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57515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20983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22961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1F3678E-87D7-4AD9-BC20-E8181132C975}"/>
              </a:ext>
            </a:extLst>
          </p:cNvPr>
          <p:cNvSpPr txBox="1"/>
          <p:nvPr/>
        </p:nvSpPr>
        <p:spPr>
          <a:xfrm>
            <a:off x="2296269" y="1340109"/>
            <a:ext cx="974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Convert the following time units to fill in the blanks in the table</a:t>
            </a:r>
          </a:p>
        </p:txBody>
      </p:sp>
    </p:spTree>
    <p:extLst>
      <p:ext uri="{BB962C8B-B14F-4D97-AF65-F5344CB8AC3E}">
        <p14:creationId xmlns:p14="http://schemas.microsoft.com/office/powerpoint/2010/main" val="1931333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18C8-BBDF-4251-BCC0-7B44E0B1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EBC00-1CF9-4478-A84B-AC6C23A6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Complete the Apply questions on p.119 in the Interleaved Maths Essential Connections 11 text.</a:t>
            </a:r>
          </a:p>
        </p:txBody>
      </p:sp>
    </p:spTree>
    <p:extLst>
      <p:ext uri="{BB962C8B-B14F-4D97-AF65-F5344CB8AC3E}">
        <p14:creationId xmlns:p14="http://schemas.microsoft.com/office/powerpoint/2010/main" val="60750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are the fractions of an hour and minutes?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191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61DFC69-A129-4586-AC0D-F45309ACCBA1}"/>
              </a:ext>
            </a:extLst>
          </p:cNvPr>
          <p:cNvGraphicFramePr>
            <a:graphicFrameLocks noGrp="1"/>
          </p:cNvGraphicFramePr>
          <p:nvPr/>
        </p:nvGraphicFramePr>
        <p:xfrm>
          <a:off x="4444049" y="2061276"/>
          <a:ext cx="4392487" cy="331236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87731">
                  <a:extLst>
                    <a:ext uri="{9D8B030D-6E8A-4147-A177-3AD203B41FA5}">
                      <a16:colId xmlns:a16="http://schemas.microsoft.com/office/drawing/2014/main" val="1981285039"/>
                    </a:ext>
                  </a:extLst>
                </a:gridCol>
                <a:gridCol w="1452378">
                  <a:extLst>
                    <a:ext uri="{9D8B030D-6E8A-4147-A177-3AD203B41FA5}">
                      <a16:colId xmlns:a16="http://schemas.microsoft.com/office/drawing/2014/main" val="3110992549"/>
                    </a:ext>
                  </a:extLst>
                </a:gridCol>
                <a:gridCol w="1452378">
                  <a:extLst>
                    <a:ext uri="{9D8B030D-6E8A-4147-A177-3AD203B41FA5}">
                      <a16:colId xmlns:a16="http://schemas.microsoft.com/office/drawing/2014/main" val="2832310460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2123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23612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4855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2382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60657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57515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20983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22961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1F3678E-87D7-4AD9-BC20-E8181132C975}"/>
              </a:ext>
            </a:extLst>
          </p:cNvPr>
          <p:cNvSpPr txBox="1"/>
          <p:nvPr/>
        </p:nvSpPr>
        <p:spPr>
          <a:xfrm>
            <a:off x="2296269" y="1340109"/>
            <a:ext cx="974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Convert the following time units to fill in the blanks in the table</a:t>
            </a:r>
          </a:p>
        </p:txBody>
      </p:sp>
    </p:spTree>
    <p:extLst>
      <p:ext uri="{BB962C8B-B14F-4D97-AF65-F5344CB8AC3E}">
        <p14:creationId xmlns:p14="http://schemas.microsoft.com/office/powerpoint/2010/main" val="2911119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en-AU" sz="4000"/>
              <a:t>Additional Practice</a:t>
            </a:r>
          </a:p>
        </p:txBody>
      </p:sp>
      <p:pic>
        <p:nvPicPr>
          <p:cNvPr id="7" name="Content Placeholder 6" descr="A person lying on a car&#10;&#10;Description automatically generated with medium confidence">
            <a:extLst>
              <a:ext uri="{FF2B5EF4-FFF2-40B4-BE49-F238E27FC236}">
                <a16:creationId xmlns:a16="http://schemas.microsoft.com/office/drawing/2014/main" id="{83CF5D05-4415-4FE8-8FF6-7FFBDBF8E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5692" y="2345620"/>
            <a:ext cx="3852017" cy="2166759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D7E2E-22DF-491E-8B31-A8EFB1A1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789" y="672122"/>
            <a:ext cx="7820932" cy="551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48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40</TotalTime>
  <Words>445</Words>
  <Application>Microsoft Office PowerPoint</Application>
  <PresentationFormat>Widescreen</PresentationFormat>
  <Paragraphs>85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Century Gothic</vt:lpstr>
      <vt:lpstr>Tw Cen MT</vt:lpstr>
      <vt:lpstr>Tw Cen MT Condensed</vt:lpstr>
      <vt:lpstr>Wingdings 3</vt:lpstr>
      <vt:lpstr>Integral</vt:lpstr>
      <vt:lpstr>Topic: Time EQ: How do I convert between Hours, Minutes, and Seconds? </vt:lpstr>
      <vt:lpstr>Five Questions</vt:lpstr>
      <vt:lpstr>Think Pair Write Share</vt:lpstr>
      <vt:lpstr>PowerPoint Presentation</vt:lpstr>
      <vt:lpstr>PowerPoint Presentation</vt:lpstr>
      <vt:lpstr>TASK:</vt:lpstr>
      <vt:lpstr>PowerPoint Presentation</vt:lpstr>
      <vt:lpstr>Additional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 </dc:title>
  <dc:creator>PARLEVLIET Magdeline [Baldivis Secondary College]</dc:creator>
  <cp:lastModifiedBy>PARLEVLIET Magdeline [Baldivis Secondary College]</cp:lastModifiedBy>
  <cp:revision>1</cp:revision>
  <dcterms:created xsi:type="dcterms:W3CDTF">2021-09-13T16:02:36Z</dcterms:created>
  <dcterms:modified xsi:type="dcterms:W3CDTF">2021-09-13T16:42:38Z</dcterms:modified>
</cp:coreProperties>
</file>
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1" r:id="rId2"/>
  </p:sldMasterIdLst>
  <p:notesMasterIdLst>
    <p:notesMasterId r:id="rId13"/>
  </p:notesMasterIdLst>
  <p:sldIdLst>
    <p:sldId id="256" r:id="rId3"/>
    <p:sldId id="301" r:id="rId4"/>
    <p:sldId id="289" r:id="rId5"/>
    <p:sldId id="303" r:id="rId6"/>
    <p:sldId id="304" r:id="rId7"/>
    <p:sldId id="305" r:id="rId8"/>
    <p:sldId id="306" r:id="rId9"/>
    <p:sldId id="307" r:id="rId10"/>
    <p:sldId id="308" r:id="rId11"/>
    <p:sldId id="30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9101" autoAdjust="0"/>
  </p:normalViewPr>
  <p:slideViewPr>
    <p:cSldViewPr snapToGrid="0">
      <p:cViewPr varScale="1">
        <p:scale>
          <a:sx n="74" d="100"/>
          <a:sy n="74" d="100"/>
        </p:scale>
        <p:origin x="552"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A10772-5EEF-4CF9-A1B3-9A5B753FBA4D}" type="datetimeFigureOut">
              <a:rPr lang="en-AU" smtClean="0"/>
              <a:t>20/09/2021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E7107-940C-4618-81D1-D3CF499832C2}" type="slidenum">
              <a:rPr lang="en-AU" smtClean="0"/>
              <a:t>‹#›</a:t>
            </a:fld>
            <a:endParaRPr lang="en-AU"/>
          </a:p>
        </p:txBody>
      </p:sp>
    </p:spTree>
    <p:extLst>
      <p:ext uri="{BB962C8B-B14F-4D97-AF65-F5344CB8AC3E}">
        <p14:creationId xmlns:p14="http://schemas.microsoft.com/office/powerpoint/2010/main" val="75506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AU" dirty="0"/>
              <a:t> $450</a:t>
            </a:r>
          </a:p>
          <a:p>
            <a:pPr marL="228600" indent="-228600">
              <a:buAutoNum type="arabicPeriod"/>
            </a:pPr>
            <a:r>
              <a:rPr lang="en-AU" dirty="0"/>
              <a:t>13201</a:t>
            </a:r>
          </a:p>
          <a:p>
            <a:pPr marL="228600" indent="-228600">
              <a:buAutoNum type="arabicPeriod"/>
            </a:pPr>
            <a:r>
              <a:rPr lang="en-AU" dirty="0"/>
              <a:t>140</a:t>
            </a:r>
          </a:p>
          <a:p>
            <a:pPr marL="228600" indent="-228600">
              <a:buAutoNum type="arabicPeriod"/>
            </a:pPr>
            <a:r>
              <a:rPr lang="en-AU" dirty="0"/>
              <a:t>120:80 or 3:2</a:t>
            </a:r>
          </a:p>
          <a:p>
            <a:pPr marL="228600" indent="-228600">
              <a:buAutoNum type="arabicPeriod"/>
            </a:pPr>
            <a:r>
              <a:rPr lang="en-AU"/>
              <a:t>100</a:t>
            </a:r>
            <a:endParaRPr lang="en-AU" dirty="0"/>
          </a:p>
        </p:txBody>
      </p:sp>
    </p:spTree>
    <p:extLst>
      <p:ext uri="{BB962C8B-B14F-4D97-AF65-F5344CB8AC3E}">
        <p14:creationId xmlns:p14="http://schemas.microsoft.com/office/powerpoint/2010/main" val="31219264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Tree>
    <p:extLst>
      <p:ext uri="{BB962C8B-B14F-4D97-AF65-F5344CB8AC3E}">
        <p14:creationId xmlns:p14="http://schemas.microsoft.com/office/powerpoint/2010/main" val="933968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Tree>
    <p:extLst>
      <p:ext uri="{BB962C8B-B14F-4D97-AF65-F5344CB8AC3E}">
        <p14:creationId xmlns:p14="http://schemas.microsoft.com/office/powerpoint/2010/main" val="615258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76E7107-940C-4618-81D1-D3CF499832C2}" type="slidenum">
              <a:rPr lang="en-AU" smtClean="0"/>
              <a:t>7</a:t>
            </a:fld>
            <a:endParaRPr lang="en-AU"/>
          </a:p>
        </p:txBody>
      </p:sp>
    </p:spTree>
    <p:extLst>
      <p:ext uri="{BB962C8B-B14F-4D97-AF65-F5344CB8AC3E}">
        <p14:creationId xmlns:p14="http://schemas.microsoft.com/office/powerpoint/2010/main" val="2781149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76E7107-940C-4618-81D1-D3CF499832C2}" type="slidenum">
              <a:rPr lang="en-AU" smtClean="0"/>
              <a:t>8</a:t>
            </a:fld>
            <a:endParaRPr lang="en-AU"/>
          </a:p>
        </p:txBody>
      </p:sp>
    </p:spTree>
    <p:extLst>
      <p:ext uri="{BB962C8B-B14F-4D97-AF65-F5344CB8AC3E}">
        <p14:creationId xmlns:p14="http://schemas.microsoft.com/office/powerpoint/2010/main" val="1752844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Tree>
    <p:extLst>
      <p:ext uri="{BB962C8B-B14F-4D97-AF65-F5344CB8AC3E}">
        <p14:creationId xmlns:p14="http://schemas.microsoft.com/office/powerpoint/2010/main" val="3615687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9/20/2021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9/20/2021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9/20/2021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9/20/2021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9/20/2021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9/20/2021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9/20/2021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9/20/2021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9/20/2021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9/20/2021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9/20/2021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EB336-E704-9144-B172-0E552A4FB02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D106644-9A5D-BA4E-B38B-BC830F28D5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716485-5F7D-C547-B7FA-1D8BE2FEA613}"/>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5" name="Footer Placeholder 4">
            <a:extLst>
              <a:ext uri="{FF2B5EF4-FFF2-40B4-BE49-F238E27FC236}">
                <a16:creationId xmlns:a16="http://schemas.microsoft.com/office/drawing/2014/main" id="{D8A69717-F79F-8442-AF13-BA93BE3E15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97B947-3F26-F94E-BF65-074906105786}"/>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336331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85A36-4933-9B4F-AF7D-D13F34FCFF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D578D5-E5B5-8E4B-9950-5F2F8AC9957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A40190-607C-474F-9992-389780A0BFC7}"/>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5" name="Footer Placeholder 4">
            <a:extLst>
              <a:ext uri="{FF2B5EF4-FFF2-40B4-BE49-F238E27FC236}">
                <a16:creationId xmlns:a16="http://schemas.microsoft.com/office/drawing/2014/main" id="{5F4AD800-FF87-C842-9B9C-FD3963C9DE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18C0A7-0CA3-6546-A1A9-B9184E54FAA7}"/>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7333109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892A8-1C62-6C4E-B686-22A8D9B989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D56179-9006-D543-9E1A-C683DE6C17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9F71144-0986-8648-BE73-F3E17950B84D}"/>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5" name="Footer Placeholder 4">
            <a:extLst>
              <a:ext uri="{FF2B5EF4-FFF2-40B4-BE49-F238E27FC236}">
                <a16:creationId xmlns:a16="http://schemas.microsoft.com/office/drawing/2014/main" id="{B32E1BF5-BE51-C148-9424-A64E279E8D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45E9F-A08A-3944-BC30-0E6DE3788518}"/>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40957678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61A7E-D96D-134A-82C6-50B2D95787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F5EB0F-20BF-D34B-A403-F5EB8C4BD7C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959401-EBF6-3B40-A980-35FA467829B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678865-DCC1-0F4F-A5D4-6D25656A05FB}"/>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6" name="Footer Placeholder 5">
            <a:extLst>
              <a:ext uri="{FF2B5EF4-FFF2-40B4-BE49-F238E27FC236}">
                <a16:creationId xmlns:a16="http://schemas.microsoft.com/office/drawing/2014/main" id="{1924CA52-DB84-0940-906B-5A44B7BE88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070A-FB9B-AD41-B71D-8AAC771A9D0C}"/>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32854564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BEE4E-FD5D-6544-A16A-793C12C717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F53694-2E39-EC48-92BA-C663E98A7B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60E25F7-82C2-7542-BFEF-293FC040092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B06DE1-7F12-5D44-ABE3-9A3A4F3915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FDACDAD-DB41-DC41-867F-68AD64D535E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A45116-394A-0E43-ADD9-B620A6569587}"/>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8" name="Footer Placeholder 7">
            <a:extLst>
              <a:ext uri="{FF2B5EF4-FFF2-40B4-BE49-F238E27FC236}">
                <a16:creationId xmlns:a16="http://schemas.microsoft.com/office/drawing/2014/main" id="{6BD42C14-377C-1D46-8743-3249107384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E8ADB1-CA80-0449-BACB-5CF9B7F8BE82}"/>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511581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5A1DD-DC5D-7C4F-A0AF-8DC241F2D7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248B39-C96B-994D-88B4-E94FA9E6FD27}"/>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4" name="Footer Placeholder 3">
            <a:extLst>
              <a:ext uri="{FF2B5EF4-FFF2-40B4-BE49-F238E27FC236}">
                <a16:creationId xmlns:a16="http://schemas.microsoft.com/office/drawing/2014/main" id="{9331F599-25B9-8448-90B1-D8175E3108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77E3E34-3D97-F141-9102-E57CA24B986F}"/>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27203263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7D16B8-5635-8840-BA94-D2BE29D7DC4A}"/>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3" name="Footer Placeholder 2">
            <a:extLst>
              <a:ext uri="{FF2B5EF4-FFF2-40B4-BE49-F238E27FC236}">
                <a16:creationId xmlns:a16="http://schemas.microsoft.com/office/drawing/2014/main" id="{075EED50-2D96-014C-8C2D-297F7C2E01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A4BB1E-F8FF-6F4B-B059-7C58E6262C91}"/>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1375600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651D0-24AF-7445-9D72-D2160ADB08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F3690A-8125-B343-AF3E-D312539C18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94CF6C-2985-5A49-9293-9905F16B98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DE1E6FB-2EF9-1B4D-BA5C-1859955E9333}"/>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6" name="Footer Placeholder 5">
            <a:extLst>
              <a:ext uri="{FF2B5EF4-FFF2-40B4-BE49-F238E27FC236}">
                <a16:creationId xmlns:a16="http://schemas.microsoft.com/office/drawing/2014/main" id="{16978EA0-8D88-1C4E-B0F7-00A9AEC532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6F69F6-CFC1-BC48-9EFF-4D457D4E236C}"/>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433969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65CE8-9467-1D4B-942C-4A0B3A8FA0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AC2041-438F-BE41-B15B-F16557A81E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DB62C2-C1C9-844E-82B9-0D615C7E15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47B7B91-E521-404C-BE24-335728FA901A}"/>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6" name="Footer Placeholder 5">
            <a:extLst>
              <a:ext uri="{FF2B5EF4-FFF2-40B4-BE49-F238E27FC236}">
                <a16:creationId xmlns:a16="http://schemas.microsoft.com/office/drawing/2014/main" id="{1745A222-CC7B-774F-9848-279ED0F520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AEE8FC-E748-4A4E-953A-911CDA02C06C}"/>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29330818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D820A-32A7-B545-BF55-DF14AD9E20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7FA161-434E-9845-A87D-1274BD50DE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FC9F1A-F78E-5142-A6C5-E6BC166B3CBB}"/>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5" name="Footer Placeholder 4">
            <a:extLst>
              <a:ext uri="{FF2B5EF4-FFF2-40B4-BE49-F238E27FC236}">
                <a16:creationId xmlns:a16="http://schemas.microsoft.com/office/drawing/2014/main" id="{18673636-41BA-A54B-A7A0-35E3EEBB26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E2E7DC-9618-7A40-8973-6BE36F76DFFB}"/>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8195625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0AB3AE-4AA2-9246-A7FA-42826440D7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9D8789-BA10-ED4D-8887-1EF46A316AE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6DF40-4C2C-C242-B764-72326A18262B}"/>
              </a:ext>
            </a:extLst>
          </p:cNvPr>
          <p:cNvSpPr>
            <a:spLocks noGrp="1"/>
          </p:cNvSpPr>
          <p:nvPr>
            <p:ph type="dt" sz="half" idx="10"/>
          </p:nvPr>
        </p:nvSpPr>
        <p:spPr/>
        <p:txBody>
          <a:bodyPr/>
          <a:lstStyle/>
          <a:p>
            <a:fld id="{39771BDA-2DAE-E548-BEC0-6AC87B5E8323}" type="datetimeFigureOut">
              <a:rPr lang="en-US" smtClean="0"/>
              <a:t>9/20/2021</a:t>
            </a:fld>
            <a:endParaRPr lang="en-US"/>
          </a:p>
        </p:txBody>
      </p:sp>
      <p:sp>
        <p:nvSpPr>
          <p:cNvPr id="5" name="Footer Placeholder 4">
            <a:extLst>
              <a:ext uri="{FF2B5EF4-FFF2-40B4-BE49-F238E27FC236}">
                <a16:creationId xmlns:a16="http://schemas.microsoft.com/office/drawing/2014/main" id="{97572883-7958-AE49-BA5B-4F5AA7D6F8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B8BF02-FC52-8D47-AF92-6AD7964F4E8F}"/>
              </a:ext>
            </a:extLst>
          </p:cNvPr>
          <p:cNvSpPr>
            <a:spLocks noGrp="1"/>
          </p:cNvSpPr>
          <p:nvPr>
            <p:ph type="sldNum" sz="quarter" idx="12"/>
          </p:nvPr>
        </p:nvSpPr>
        <p:spPr/>
        <p:txBody>
          <a:bodyPr/>
          <a:lstStyle/>
          <a:p>
            <a:fld id="{2ABB178B-F383-2E41-A9A1-862D6822EC79}" type="slidenum">
              <a:rPr lang="en-US" smtClean="0"/>
              <a:t>‹#›</a:t>
            </a:fld>
            <a:endParaRPr lang="en-US"/>
          </a:p>
        </p:txBody>
      </p:sp>
    </p:spTree>
    <p:extLst>
      <p:ext uri="{BB962C8B-B14F-4D97-AF65-F5344CB8AC3E}">
        <p14:creationId xmlns:p14="http://schemas.microsoft.com/office/powerpoint/2010/main" val="3493340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9/20/2021</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4BA4B0-95BD-E74E-8B49-11E33D42A2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4DC70A-3AE3-B44F-9DEC-E2AEA6463B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5D95DB-FB34-D841-8937-3D0074D0F2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771BDA-2DAE-E548-BEC0-6AC87B5E8323}" type="datetimeFigureOut">
              <a:rPr lang="en-US" smtClean="0"/>
              <a:t>9/20/2021</a:t>
            </a:fld>
            <a:endParaRPr lang="en-US"/>
          </a:p>
        </p:txBody>
      </p:sp>
      <p:sp>
        <p:nvSpPr>
          <p:cNvPr id="5" name="Footer Placeholder 4">
            <a:extLst>
              <a:ext uri="{FF2B5EF4-FFF2-40B4-BE49-F238E27FC236}">
                <a16:creationId xmlns:a16="http://schemas.microsoft.com/office/drawing/2014/main" id="{976FE24A-13A4-8242-A08D-85D4B4BDF1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337374-6C51-BE49-85E6-CF17546E35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BB178B-F383-2E41-A9A1-862D6822EC79}" type="slidenum">
              <a:rPr lang="en-US" smtClean="0"/>
              <a:t>‹#›</a:t>
            </a:fld>
            <a:endParaRPr lang="en-US"/>
          </a:p>
        </p:txBody>
      </p:sp>
    </p:spTree>
    <p:extLst>
      <p:ext uri="{BB962C8B-B14F-4D97-AF65-F5344CB8AC3E}">
        <p14:creationId xmlns:p14="http://schemas.microsoft.com/office/powerpoint/2010/main" val="338454204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AC823-B532-4688-9E8F-9ECF5722D011}"/>
              </a:ext>
            </a:extLst>
          </p:cNvPr>
          <p:cNvSpPr>
            <a:spLocks noGrp="1"/>
          </p:cNvSpPr>
          <p:nvPr>
            <p:ph type="ctrTitle"/>
          </p:nvPr>
        </p:nvSpPr>
        <p:spPr/>
        <p:txBody>
          <a:bodyPr>
            <a:noAutofit/>
          </a:bodyPr>
          <a:lstStyle/>
          <a:p>
            <a:r>
              <a:rPr lang="en-AU" sz="4000" dirty="0"/>
              <a:t>Topic: interpreting Timetables</a:t>
            </a:r>
            <a:br>
              <a:rPr lang="en-AU" sz="4000" dirty="0"/>
            </a:br>
            <a:r>
              <a:rPr lang="en-AU" sz="4000" dirty="0"/>
              <a:t>EQ: How do I read, interpret and use a train timetable ? </a:t>
            </a:r>
          </a:p>
        </p:txBody>
      </p:sp>
      <p:sp>
        <p:nvSpPr>
          <p:cNvPr id="3" name="Subtitle 2">
            <a:extLst>
              <a:ext uri="{FF2B5EF4-FFF2-40B4-BE49-F238E27FC236}">
                <a16:creationId xmlns:a16="http://schemas.microsoft.com/office/drawing/2014/main" id="{A587B186-3400-4A4B-B6A6-D265D5ED5F59}"/>
              </a:ext>
            </a:extLst>
          </p:cNvPr>
          <p:cNvSpPr>
            <a:spLocks noGrp="1"/>
          </p:cNvSpPr>
          <p:nvPr>
            <p:ph type="subTitle" idx="1"/>
          </p:nvPr>
        </p:nvSpPr>
        <p:spPr/>
        <p:txBody>
          <a:bodyPr/>
          <a:lstStyle/>
          <a:p>
            <a:r>
              <a:rPr lang="en-AU" dirty="0"/>
              <a:t>Year 11 Mathematics Essentials</a:t>
            </a:r>
          </a:p>
          <a:p>
            <a:endParaRPr lang="en-AU" dirty="0"/>
          </a:p>
        </p:txBody>
      </p:sp>
    </p:spTree>
    <p:extLst>
      <p:ext uri="{BB962C8B-B14F-4D97-AF65-F5344CB8AC3E}">
        <p14:creationId xmlns:p14="http://schemas.microsoft.com/office/powerpoint/2010/main" val="2756094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A3C03-BF03-48EF-A72A-CE11494FF168}"/>
              </a:ext>
            </a:extLst>
          </p:cNvPr>
          <p:cNvSpPr>
            <a:spLocks noGrp="1"/>
          </p:cNvSpPr>
          <p:nvPr>
            <p:ph type="title"/>
          </p:nvPr>
        </p:nvSpPr>
        <p:spPr>
          <a:xfrm>
            <a:off x="857872" y="570392"/>
            <a:ext cx="10058400" cy="1371600"/>
          </a:xfrm>
        </p:spPr>
        <p:txBody>
          <a:bodyPr/>
          <a:lstStyle/>
          <a:p>
            <a:r>
              <a:rPr lang="en-AU" dirty="0"/>
              <a:t>Five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C9BC97-E084-4305-8742-02C144E0C26A}"/>
                  </a:ext>
                </a:extLst>
              </p:cNvPr>
              <p:cNvSpPr>
                <a:spLocks noGrp="1"/>
              </p:cNvSpPr>
              <p:nvPr>
                <p:ph idx="1"/>
              </p:nvPr>
            </p:nvSpPr>
            <p:spPr>
              <a:xfrm>
                <a:off x="857872" y="1941992"/>
                <a:ext cx="11017452" cy="4453722"/>
              </a:xfrm>
            </p:spPr>
            <p:txBody>
              <a:bodyPr>
                <a:normAutofit/>
              </a:bodyPr>
              <a:lstStyle/>
              <a:p>
                <a:pPr marL="457200" indent="-457200">
                  <a:buFont typeface="+mj-lt"/>
                  <a:buAutoNum type="arabicPeriod"/>
                </a:pPr>
                <a:r>
                  <a:rPr lang="en-AU" sz="2400" b="0" dirty="0">
                    <a:latin typeface="Calibri" panose="020F0502020204030204" pitchFamily="34" charset="0"/>
                    <a:cs typeface="Calibri" panose="020F0502020204030204" pitchFamily="34" charset="0"/>
                  </a:rPr>
                  <a:t>A teller machine only has $50 notes available. How much money will I need to take out of my account to cover the cost of the following purchases: lunch and a drink $18.50, shoes $129, headphones $249 and bus fare $27.80?</a:t>
                </a:r>
              </a:p>
              <a:p>
                <a:pPr marL="457200" indent="-457200">
                  <a:buFont typeface="+mj-lt"/>
                  <a:buAutoNum type="arabicPeriod"/>
                </a:pPr>
                <a14:m>
                  <m:oMath xmlns:m="http://schemas.openxmlformats.org/officeDocument/2006/math">
                    <m:r>
                      <a:rPr lang="en-AU" sz="2400" b="0" i="1" smtClean="0">
                        <a:latin typeface="Cambria Math" panose="02040503050406030204" pitchFamily="18" charset="0"/>
                        <a:cs typeface="Calibri" panose="020F0502020204030204" pitchFamily="34" charset="0"/>
                      </a:rPr>
                      <m:t>43</m:t>
                    </m:r>
                    <m:r>
                      <a:rPr lang="en-AU" sz="2400" b="0" i="1" smtClean="0">
                        <a:latin typeface="Cambria Math" panose="02040503050406030204" pitchFamily="18" charset="0"/>
                        <a:ea typeface="Cambria Math" panose="02040503050406030204" pitchFamily="18" charset="0"/>
                        <a:cs typeface="Calibri" panose="020F0502020204030204" pitchFamily="34" charset="0"/>
                      </a:rPr>
                      <m:t>×307</m:t>
                    </m:r>
                  </m:oMath>
                </a14:m>
                <a:endParaRPr lang="en-AU" sz="24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rabicPeriod"/>
                </a:pPr>
                <a14:m>
                  <m:oMath xmlns:m="http://schemas.openxmlformats.org/officeDocument/2006/math">
                    <m:r>
                      <a:rPr lang="en-AU" sz="2400" b="0" i="1" smtClean="0">
                        <a:latin typeface="Cambria Math" panose="02040503050406030204" pitchFamily="18" charset="0"/>
                        <a:cs typeface="Calibri" panose="020F0502020204030204" pitchFamily="34" charset="0"/>
                      </a:rPr>
                      <m:t>980</m:t>
                    </m:r>
                    <m:r>
                      <a:rPr lang="en-AU" sz="2400" b="0" i="1" smtClean="0">
                        <a:latin typeface="Cambria Math" panose="02040503050406030204" pitchFamily="18" charset="0"/>
                        <a:ea typeface="Cambria Math" panose="02040503050406030204" pitchFamily="18" charset="0"/>
                        <a:cs typeface="Calibri" panose="020F0502020204030204" pitchFamily="34" charset="0"/>
                      </a:rPr>
                      <m:t>÷70</m:t>
                    </m:r>
                  </m:oMath>
                </a14:m>
                <a:endParaRPr lang="en-AU" sz="24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rabicPeriod"/>
                </a:pPr>
                <a:r>
                  <a:rPr lang="en-AU" sz="2400" dirty="0">
                    <a:latin typeface="Calibri" panose="020F0502020204030204" pitchFamily="34" charset="0"/>
                    <a:cs typeface="Calibri" panose="020F0502020204030204" pitchFamily="34" charset="0"/>
                  </a:rPr>
                  <a:t>The scores for an NBA basketball game was Melbourne United 120, Sydney Kings 80. Write the score as a ratio</a:t>
                </a:r>
              </a:p>
              <a:p>
                <a:pPr marL="457200" indent="-457200">
                  <a:buFont typeface="+mj-lt"/>
                  <a:buAutoNum type="arabicPeriod"/>
                </a:pPr>
                <a:r>
                  <a:rPr lang="en-AU" sz="2400" dirty="0">
                    <a:latin typeface="Calibri" panose="020F0502020204030204" pitchFamily="34" charset="0"/>
                    <a:cs typeface="Calibri" panose="020F0502020204030204" pitchFamily="34" charset="0"/>
                  </a:rPr>
                  <a:t>The next time that Melbourne United played the Sydney Kings, Melbourne scored 150 points. If the ratio was the same as in question 4, what score did Sydney achieve?</a:t>
                </a:r>
              </a:p>
            </p:txBody>
          </p:sp>
        </mc:Choice>
        <mc:Fallback xmlns="">
          <p:sp>
            <p:nvSpPr>
              <p:cNvPr id="3" name="Content Placeholder 2">
                <a:extLst>
                  <a:ext uri="{FF2B5EF4-FFF2-40B4-BE49-F238E27FC236}">
                    <a16:creationId xmlns:a16="http://schemas.microsoft.com/office/drawing/2014/main" id="{F5C9BC97-E084-4305-8742-02C144E0C26A}"/>
                  </a:ext>
                </a:extLst>
              </p:cNvPr>
              <p:cNvSpPr>
                <a:spLocks noGrp="1" noRot="1" noChangeAspect="1" noMove="1" noResize="1" noEditPoints="1" noAdjustHandles="1" noChangeArrowheads="1" noChangeShapeType="1" noTextEdit="1"/>
              </p:cNvSpPr>
              <p:nvPr>
                <p:ph idx="1"/>
              </p:nvPr>
            </p:nvSpPr>
            <p:spPr>
              <a:xfrm>
                <a:off x="857872" y="1941992"/>
                <a:ext cx="11017452" cy="4453722"/>
              </a:xfrm>
              <a:blipFill>
                <a:blip r:embed="rId3"/>
                <a:stretch>
                  <a:fillRect l="-1328" t="-2192" r="-1328"/>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AF8740F4-4E29-46F0-AE17-D5002ED9BE37}"/>
              </a:ext>
            </a:extLst>
          </p:cNvPr>
          <p:cNvSpPr txBox="1"/>
          <p:nvPr/>
        </p:nvSpPr>
        <p:spPr>
          <a:xfrm>
            <a:off x="4153437" y="-14383"/>
            <a:ext cx="5228446" cy="584775"/>
          </a:xfrm>
          <a:prstGeom prst="rect">
            <a:avLst/>
          </a:prstGeom>
          <a:noFill/>
        </p:spPr>
        <p:txBody>
          <a:bodyPr wrap="squar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Interpreting Timetables</a:t>
            </a:r>
          </a:p>
        </p:txBody>
      </p:sp>
      <p:sp>
        <p:nvSpPr>
          <p:cNvPr id="5" name="TextBox 4">
            <a:extLst>
              <a:ext uri="{FF2B5EF4-FFF2-40B4-BE49-F238E27FC236}">
                <a16:creationId xmlns:a16="http://schemas.microsoft.com/office/drawing/2014/main" id="{8ACED037-8382-4B21-A2F7-E1E36A739063}"/>
              </a:ext>
            </a:extLst>
          </p:cNvPr>
          <p:cNvSpPr txBox="1"/>
          <p:nvPr/>
        </p:nvSpPr>
        <p:spPr>
          <a:xfrm>
            <a:off x="4901025" y="570392"/>
            <a:ext cx="6815487" cy="830740"/>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How do I read, interpret and use a train timetable </a:t>
            </a:r>
          </a:p>
        </p:txBody>
      </p:sp>
      <p:sp>
        <p:nvSpPr>
          <p:cNvPr id="6" name="TextBox 5">
            <a:extLst>
              <a:ext uri="{FF2B5EF4-FFF2-40B4-BE49-F238E27FC236}">
                <a16:creationId xmlns:a16="http://schemas.microsoft.com/office/drawing/2014/main" id="{DB63EF86-F88E-4651-A0D0-6F8AFC411E31}"/>
              </a:ext>
            </a:extLst>
          </p:cNvPr>
          <p:cNvSpPr txBox="1"/>
          <p:nvPr/>
        </p:nvSpPr>
        <p:spPr>
          <a:xfrm>
            <a:off x="9461016" y="65433"/>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Tree>
    <p:extLst>
      <p:ext uri="{BB962C8B-B14F-4D97-AF65-F5344CB8AC3E}">
        <p14:creationId xmlns:p14="http://schemas.microsoft.com/office/powerpoint/2010/main" val="4269019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3082511"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Timetables</a:t>
            </a:r>
          </a:p>
        </p:txBody>
      </p:sp>
      <p:sp>
        <p:nvSpPr>
          <p:cNvPr id="33" name="TextBox 32"/>
          <p:cNvSpPr txBox="1"/>
          <p:nvPr/>
        </p:nvSpPr>
        <p:spPr>
          <a:xfrm>
            <a:off x="191345" y="837124"/>
            <a:ext cx="778887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How do I read, interpret and use a train timetable?</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11747037-0930-4608-9244-6EA1A615E4D2}"/>
              </a:ext>
            </a:extLst>
          </p:cNvPr>
          <p:cNvSpPr txBox="1"/>
          <p:nvPr/>
        </p:nvSpPr>
        <p:spPr>
          <a:xfrm>
            <a:off x="9461016" y="65433"/>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
        <p:nvSpPr>
          <p:cNvPr id="35" name="TextBox 34">
            <a:extLst>
              <a:ext uri="{FF2B5EF4-FFF2-40B4-BE49-F238E27FC236}">
                <a16:creationId xmlns:a16="http://schemas.microsoft.com/office/drawing/2014/main" id="{88DD20A7-0724-436C-A4A8-7D12DF95B6D5}"/>
              </a:ext>
            </a:extLst>
          </p:cNvPr>
          <p:cNvSpPr txBox="1"/>
          <p:nvPr/>
        </p:nvSpPr>
        <p:spPr>
          <a:xfrm>
            <a:off x="2333466" y="1523394"/>
            <a:ext cx="9172733" cy="1938992"/>
          </a:xfrm>
          <a:prstGeom prst="rect">
            <a:avLst/>
          </a:prstGeom>
          <a:noFill/>
        </p:spPr>
        <p:txBody>
          <a:bodyPr wrap="square">
            <a:spAutoFit/>
          </a:bodyPr>
          <a:lstStyle/>
          <a:p>
            <a:r>
              <a:rPr lang="en-AU" sz="2400" dirty="0">
                <a:latin typeface="Calibri" panose="020F0502020204030204" pitchFamily="34" charset="0"/>
                <a:cs typeface="Calibri" panose="020F0502020204030204" pitchFamily="34" charset="0"/>
              </a:rPr>
              <a:t>Timetables help us organise schedules. There are many different types of timetables in our everyday lives such as bus, TV, movie and even class timetables.</a:t>
            </a:r>
          </a:p>
          <a:p>
            <a:endParaRPr lang="en-AU" sz="2400" dirty="0">
              <a:latin typeface="Calibri" panose="020F0502020204030204" pitchFamily="34" charset="0"/>
              <a:cs typeface="Calibri" panose="020F0502020204030204" pitchFamily="34" charset="0"/>
            </a:endParaRPr>
          </a:p>
          <a:p>
            <a:r>
              <a:rPr lang="en-AU" sz="2400" dirty="0">
                <a:latin typeface="Calibri" panose="020F0502020204030204" pitchFamily="34" charset="0"/>
                <a:cs typeface="Calibri" panose="020F0502020204030204" pitchFamily="34" charset="0"/>
              </a:rPr>
              <a:t>We need to calculate elapsed time in order to work out timetables.</a:t>
            </a:r>
          </a:p>
        </p:txBody>
      </p:sp>
    </p:spTree>
    <p:extLst>
      <p:ext uri="{BB962C8B-B14F-4D97-AF65-F5344CB8AC3E}">
        <p14:creationId xmlns:p14="http://schemas.microsoft.com/office/powerpoint/2010/main" val="2043037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831D39-1E0A-4294-917D-434E86DB236C}"/>
              </a:ext>
            </a:extLst>
          </p:cNvPr>
          <p:cNvPicPr>
            <a:picLocks noChangeAspect="1"/>
          </p:cNvPicPr>
          <p:nvPr/>
        </p:nvPicPr>
        <p:blipFill>
          <a:blip r:embed="rId2"/>
          <a:stretch>
            <a:fillRect/>
          </a:stretch>
        </p:blipFill>
        <p:spPr>
          <a:xfrm>
            <a:off x="0" y="718504"/>
            <a:ext cx="12192000" cy="6072156"/>
          </a:xfrm>
          <a:prstGeom prst="rect">
            <a:avLst/>
          </a:prstGeom>
        </p:spPr>
      </p:pic>
      <p:sp>
        <p:nvSpPr>
          <p:cNvPr id="5" name="TextBox 4">
            <a:extLst>
              <a:ext uri="{FF2B5EF4-FFF2-40B4-BE49-F238E27FC236}">
                <a16:creationId xmlns:a16="http://schemas.microsoft.com/office/drawing/2014/main" id="{403F8C33-090E-419B-9535-C9E312368515}"/>
              </a:ext>
            </a:extLst>
          </p:cNvPr>
          <p:cNvSpPr txBox="1"/>
          <p:nvPr/>
        </p:nvSpPr>
        <p:spPr>
          <a:xfrm>
            <a:off x="296214" y="283335"/>
            <a:ext cx="7834709" cy="369332"/>
          </a:xfrm>
          <a:prstGeom prst="rect">
            <a:avLst/>
          </a:prstGeom>
          <a:noFill/>
        </p:spPr>
        <p:txBody>
          <a:bodyPr wrap="none" rtlCol="0">
            <a:spAutoFit/>
          </a:bodyPr>
          <a:lstStyle/>
          <a:p>
            <a:r>
              <a:rPr lang="en-GB" dirty="0"/>
              <a:t>How long is the journey from Perth Underground to Mandurah if I leave at 5:30 am?</a:t>
            </a:r>
          </a:p>
        </p:txBody>
      </p:sp>
    </p:spTree>
    <p:extLst>
      <p:ext uri="{BB962C8B-B14F-4D97-AF65-F5344CB8AC3E}">
        <p14:creationId xmlns:p14="http://schemas.microsoft.com/office/powerpoint/2010/main" val="3738863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831D39-1E0A-4294-917D-434E86DB236C}"/>
              </a:ext>
            </a:extLst>
          </p:cNvPr>
          <p:cNvPicPr>
            <a:picLocks noChangeAspect="1"/>
          </p:cNvPicPr>
          <p:nvPr/>
        </p:nvPicPr>
        <p:blipFill>
          <a:blip r:embed="rId2"/>
          <a:stretch>
            <a:fillRect/>
          </a:stretch>
        </p:blipFill>
        <p:spPr>
          <a:xfrm>
            <a:off x="-77274" y="785844"/>
            <a:ext cx="12192000" cy="6072156"/>
          </a:xfrm>
          <a:prstGeom prst="rect">
            <a:avLst/>
          </a:prstGeom>
        </p:spPr>
      </p:pic>
      <p:sp>
        <p:nvSpPr>
          <p:cNvPr id="5" name="TextBox 4">
            <a:extLst>
              <a:ext uri="{FF2B5EF4-FFF2-40B4-BE49-F238E27FC236}">
                <a16:creationId xmlns:a16="http://schemas.microsoft.com/office/drawing/2014/main" id="{403F8C33-090E-419B-9535-C9E312368515}"/>
              </a:ext>
            </a:extLst>
          </p:cNvPr>
          <p:cNvSpPr txBox="1"/>
          <p:nvPr/>
        </p:nvSpPr>
        <p:spPr>
          <a:xfrm>
            <a:off x="296214" y="283335"/>
            <a:ext cx="7860357" cy="369332"/>
          </a:xfrm>
          <a:prstGeom prst="rect">
            <a:avLst/>
          </a:prstGeom>
          <a:noFill/>
        </p:spPr>
        <p:txBody>
          <a:bodyPr wrap="none" rtlCol="0">
            <a:spAutoFit/>
          </a:bodyPr>
          <a:lstStyle/>
          <a:p>
            <a:r>
              <a:rPr lang="en-GB" dirty="0"/>
              <a:t>How long is the journey from Perth Underground to Mandurah if I leave at 5:30 am?</a:t>
            </a:r>
          </a:p>
        </p:txBody>
      </p:sp>
      <p:sp>
        <p:nvSpPr>
          <p:cNvPr id="2" name="Oval 1">
            <a:extLst>
              <a:ext uri="{FF2B5EF4-FFF2-40B4-BE49-F238E27FC236}">
                <a16:creationId xmlns:a16="http://schemas.microsoft.com/office/drawing/2014/main" id="{16A1F0FE-B416-4815-8C9E-894513532473}"/>
              </a:ext>
            </a:extLst>
          </p:cNvPr>
          <p:cNvSpPr/>
          <p:nvPr/>
        </p:nvSpPr>
        <p:spPr>
          <a:xfrm>
            <a:off x="594965" y="2285998"/>
            <a:ext cx="914400" cy="382211"/>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6" name="Oval 5">
            <a:extLst>
              <a:ext uri="{FF2B5EF4-FFF2-40B4-BE49-F238E27FC236}">
                <a16:creationId xmlns:a16="http://schemas.microsoft.com/office/drawing/2014/main" id="{BD40DF15-4E7A-4ADC-8A09-432046400353}"/>
              </a:ext>
            </a:extLst>
          </p:cNvPr>
          <p:cNvSpPr/>
          <p:nvPr/>
        </p:nvSpPr>
        <p:spPr>
          <a:xfrm>
            <a:off x="11050463" y="2225897"/>
            <a:ext cx="914400" cy="382211"/>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9" name="Arrow: Curved Down 8">
            <a:extLst>
              <a:ext uri="{FF2B5EF4-FFF2-40B4-BE49-F238E27FC236}">
                <a16:creationId xmlns:a16="http://schemas.microsoft.com/office/drawing/2014/main" id="{D1DB5963-9013-4B96-9821-6FE30A54C520}"/>
              </a:ext>
            </a:extLst>
          </p:cNvPr>
          <p:cNvSpPr/>
          <p:nvPr/>
        </p:nvSpPr>
        <p:spPr>
          <a:xfrm>
            <a:off x="1423115" y="1474631"/>
            <a:ext cx="9916733" cy="81136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65422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3082511"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Timetables</a:t>
            </a:r>
          </a:p>
        </p:txBody>
      </p:sp>
      <p:sp>
        <p:nvSpPr>
          <p:cNvPr id="33" name="TextBox 32"/>
          <p:cNvSpPr txBox="1"/>
          <p:nvPr/>
        </p:nvSpPr>
        <p:spPr>
          <a:xfrm>
            <a:off x="191345" y="837124"/>
            <a:ext cx="778887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How do I read, interpret and use a timetable?</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11747037-0930-4608-9244-6EA1A615E4D2}"/>
              </a:ext>
            </a:extLst>
          </p:cNvPr>
          <p:cNvSpPr txBox="1"/>
          <p:nvPr/>
        </p:nvSpPr>
        <p:spPr>
          <a:xfrm>
            <a:off x="9461016" y="65433"/>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
        <p:nvSpPr>
          <p:cNvPr id="2" name="TextBox 1">
            <a:extLst>
              <a:ext uri="{FF2B5EF4-FFF2-40B4-BE49-F238E27FC236}">
                <a16:creationId xmlns:a16="http://schemas.microsoft.com/office/drawing/2014/main" id="{D2529BD8-695D-4598-BBDF-1031C5F25E5E}"/>
              </a:ext>
            </a:extLst>
          </p:cNvPr>
          <p:cNvSpPr txBox="1"/>
          <p:nvPr/>
        </p:nvSpPr>
        <p:spPr>
          <a:xfrm>
            <a:off x="2292440" y="1620851"/>
            <a:ext cx="9646275" cy="707886"/>
          </a:xfrm>
          <a:prstGeom prst="rect">
            <a:avLst/>
          </a:prstGeom>
          <a:noFill/>
        </p:spPr>
        <p:txBody>
          <a:bodyPr wrap="square" rtlCol="0">
            <a:spAutoFit/>
          </a:bodyPr>
          <a:lstStyle/>
          <a:p>
            <a:r>
              <a:rPr lang="en-GB" sz="2000" dirty="0">
                <a:latin typeface="Calibri" panose="020F0502020204030204" pitchFamily="34" charset="0"/>
                <a:cs typeface="Calibri" panose="020F0502020204030204" pitchFamily="34" charset="0"/>
              </a:rPr>
              <a:t>The Mandurah train line leaves Perth Underground at 5:30 am and arrives in Mandurah at 6:21 am. How long is the trip? </a:t>
            </a:r>
          </a:p>
        </p:txBody>
      </p:sp>
      <p:graphicFrame>
        <p:nvGraphicFramePr>
          <p:cNvPr id="3" name="Table 4">
            <a:extLst>
              <a:ext uri="{FF2B5EF4-FFF2-40B4-BE49-F238E27FC236}">
                <a16:creationId xmlns:a16="http://schemas.microsoft.com/office/drawing/2014/main" id="{FDDA958D-0F63-4B63-B293-19E909C24966}"/>
              </a:ext>
            </a:extLst>
          </p:cNvPr>
          <p:cNvGraphicFramePr>
            <a:graphicFrameLocks noGrp="1"/>
          </p:cNvGraphicFramePr>
          <p:nvPr>
            <p:extLst>
              <p:ext uri="{D42A27DB-BD31-4B8C-83A1-F6EECF244321}">
                <p14:modId xmlns:p14="http://schemas.microsoft.com/office/powerpoint/2010/main" val="1872879464"/>
              </p:ext>
            </p:extLst>
          </p:nvPr>
        </p:nvGraphicFramePr>
        <p:xfrm>
          <a:off x="2356834" y="3843626"/>
          <a:ext cx="8128000" cy="18338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971333690"/>
                    </a:ext>
                  </a:extLst>
                </a:gridCol>
                <a:gridCol w="4064000">
                  <a:extLst>
                    <a:ext uri="{9D8B030D-6E8A-4147-A177-3AD203B41FA5}">
                      <a16:colId xmlns:a16="http://schemas.microsoft.com/office/drawing/2014/main" val="766249399"/>
                    </a:ext>
                  </a:extLst>
                </a:gridCol>
              </a:tblGrid>
              <a:tr h="370840">
                <a:tc>
                  <a:txBody>
                    <a:bodyPr/>
                    <a:lstStyle/>
                    <a:p>
                      <a:r>
                        <a:rPr lang="en-GB" dirty="0"/>
                        <a:t>5:30 am</a:t>
                      </a:r>
                    </a:p>
                  </a:txBody>
                  <a:tcPr/>
                </a:tc>
                <a:tc>
                  <a:txBody>
                    <a:bodyPr/>
                    <a:lstStyle/>
                    <a:p>
                      <a:r>
                        <a:rPr lang="en-GB" dirty="0"/>
                        <a:t>6:21 am</a:t>
                      </a:r>
                    </a:p>
                  </a:txBody>
                  <a:tcPr/>
                </a:tc>
                <a:extLst>
                  <a:ext uri="{0D108BD9-81ED-4DB2-BD59-A6C34878D82A}">
                    <a16:rowId xmlns:a16="http://schemas.microsoft.com/office/drawing/2014/main" val="3382595533"/>
                  </a:ext>
                </a:extLst>
              </a:tr>
              <a:tr h="370840">
                <a:tc>
                  <a:txBody>
                    <a:bodyPr/>
                    <a:lstStyle/>
                    <a:p>
                      <a:r>
                        <a:rPr lang="en-GB" dirty="0"/>
                        <a:t>6:00 am</a:t>
                      </a:r>
                    </a:p>
                    <a:p>
                      <a:endParaRPr lang="en-GB" dirty="0"/>
                    </a:p>
                    <a:p>
                      <a:r>
                        <a:rPr lang="en-GB" dirty="0"/>
                        <a:t>6:20 am</a:t>
                      </a:r>
                    </a:p>
                    <a:p>
                      <a:endParaRPr lang="en-GB" dirty="0"/>
                    </a:p>
                    <a:p>
                      <a:r>
                        <a:rPr lang="en-GB" dirty="0"/>
                        <a:t>6:21 am</a:t>
                      </a:r>
                    </a:p>
                  </a:txBody>
                  <a:tcPr/>
                </a:tc>
                <a:tc>
                  <a:txBody>
                    <a:bodyPr/>
                    <a:lstStyle/>
                    <a:p>
                      <a:r>
                        <a:rPr lang="en-GB" dirty="0"/>
                        <a:t>+ 30 mins</a:t>
                      </a:r>
                    </a:p>
                    <a:p>
                      <a:endParaRPr lang="en-GB" dirty="0"/>
                    </a:p>
                    <a:p>
                      <a:r>
                        <a:rPr lang="en-GB" dirty="0"/>
                        <a:t>+ 20 mins</a:t>
                      </a:r>
                    </a:p>
                    <a:p>
                      <a:endParaRPr lang="en-GB" dirty="0"/>
                    </a:p>
                    <a:p>
                      <a:r>
                        <a:rPr lang="en-GB" dirty="0"/>
                        <a:t>+ 1 min</a:t>
                      </a:r>
                    </a:p>
                  </a:txBody>
                  <a:tcPr/>
                </a:tc>
                <a:extLst>
                  <a:ext uri="{0D108BD9-81ED-4DB2-BD59-A6C34878D82A}">
                    <a16:rowId xmlns:a16="http://schemas.microsoft.com/office/drawing/2014/main" val="3907349158"/>
                  </a:ext>
                </a:extLst>
              </a:tr>
            </a:tbl>
          </a:graphicData>
        </a:graphic>
      </p:graphicFrame>
      <p:sp>
        <p:nvSpPr>
          <p:cNvPr id="8" name="TextBox 7">
            <a:extLst>
              <a:ext uri="{FF2B5EF4-FFF2-40B4-BE49-F238E27FC236}">
                <a16:creationId xmlns:a16="http://schemas.microsoft.com/office/drawing/2014/main" id="{D1452ECF-29E6-4B2D-AB23-F14C4BE7DEA1}"/>
              </a:ext>
            </a:extLst>
          </p:cNvPr>
          <p:cNvSpPr txBox="1"/>
          <p:nvPr/>
        </p:nvSpPr>
        <p:spPr>
          <a:xfrm>
            <a:off x="2356834" y="2836024"/>
            <a:ext cx="9581880" cy="707886"/>
          </a:xfrm>
          <a:prstGeom prst="rect">
            <a:avLst/>
          </a:prstGeom>
          <a:noFill/>
        </p:spPr>
        <p:txBody>
          <a:bodyPr wrap="square" rtlCol="0">
            <a:spAutoFit/>
          </a:bodyPr>
          <a:lstStyle/>
          <a:p>
            <a:r>
              <a:rPr lang="en-GB" sz="2000" dirty="0">
                <a:latin typeface="Calibri" panose="020F0502020204030204" pitchFamily="34" charset="0"/>
                <a:cs typeface="Calibri" panose="020F0502020204030204" pitchFamily="34" charset="0"/>
              </a:rPr>
              <a:t>We need to work out the elapsed time. This means we keep adding chunks of time to 5:30 until we arrive at 6:21 am</a:t>
            </a:r>
          </a:p>
        </p:txBody>
      </p:sp>
      <p:sp>
        <p:nvSpPr>
          <p:cNvPr id="11" name="TextBox 10">
            <a:extLst>
              <a:ext uri="{FF2B5EF4-FFF2-40B4-BE49-F238E27FC236}">
                <a16:creationId xmlns:a16="http://schemas.microsoft.com/office/drawing/2014/main" id="{7EA6C003-617A-4CB1-9A03-3468194C376A}"/>
              </a:ext>
            </a:extLst>
          </p:cNvPr>
          <p:cNvSpPr txBox="1"/>
          <p:nvPr/>
        </p:nvSpPr>
        <p:spPr>
          <a:xfrm>
            <a:off x="6478074" y="5987204"/>
            <a:ext cx="1164101" cy="369332"/>
          </a:xfrm>
          <a:prstGeom prst="rect">
            <a:avLst/>
          </a:prstGeom>
          <a:noFill/>
        </p:spPr>
        <p:txBody>
          <a:bodyPr wrap="none" rtlCol="0">
            <a:spAutoFit/>
          </a:bodyPr>
          <a:lstStyle/>
          <a:p>
            <a:r>
              <a:rPr lang="en-GB" dirty="0"/>
              <a:t>51 minutes</a:t>
            </a:r>
          </a:p>
        </p:txBody>
      </p:sp>
    </p:spTree>
    <p:extLst>
      <p:ext uri="{BB962C8B-B14F-4D97-AF65-F5344CB8AC3E}">
        <p14:creationId xmlns:p14="http://schemas.microsoft.com/office/powerpoint/2010/main" val="3098481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DD07E5-0CD0-4832-A2F1-E758E1462E1C}"/>
              </a:ext>
            </a:extLst>
          </p:cNvPr>
          <p:cNvSpPr txBox="1"/>
          <p:nvPr/>
        </p:nvSpPr>
        <p:spPr>
          <a:xfrm>
            <a:off x="-1" y="0"/>
            <a:ext cx="11603865" cy="923330"/>
          </a:xfrm>
          <a:prstGeom prst="rect">
            <a:avLst/>
          </a:prstGeom>
          <a:noFill/>
        </p:spPr>
        <p:txBody>
          <a:bodyPr wrap="square">
            <a:spAutoFit/>
          </a:bodyPr>
          <a:lstStyle/>
          <a:p>
            <a:r>
              <a:rPr lang="en-US" dirty="0"/>
              <a:t>When leaving Mandurah, I want to get the train that will get me to Bull Creek by Midnight as I’m being picked up then.</a:t>
            </a:r>
          </a:p>
          <a:p>
            <a:r>
              <a:rPr lang="en-US" dirty="0"/>
              <a:t>What is the latest train I can get?</a:t>
            </a:r>
          </a:p>
          <a:p>
            <a:r>
              <a:rPr lang="en-US" dirty="0"/>
              <a:t>How long will the trip take?</a:t>
            </a:r>
          </a:p>
        </p:txBody>
      </p:sp>
      <p:pic>
        <p:nvPicPr>
          <p:cNvPr id="7" name="Picture 6">
            <a:extLst>
              <a:ext uri="{FF2B5EF4-FFF2-40B4-BE49-F238E27FC236}">
                <a16:creationId xmlns:a16="http://schemas.microsoft.com/office/drawing/2014/main" id="{B0D7370C-64A6-4DA5-9A63-0430732B560D}"/>
              </a:ext>
            </a:extLst>
          </p:cNvPr>
          <p:cNvPicPr>
            <a:picLocks noChangeAspect="1"/>
          </p:cNvPicPr>
          <p:nvPr/>
        </p:nvPicPr>
        <p:blipFill>
          <a:blip r:embed="rId3"/>
          <a:stretch>
            <a:fillRect/>
          </a:stretch>
        </p:blipFill>
        <p:spPr>
          <a:xfrm>
            <a:off x="-141668" y="868937"/>
            <a:ext cx="12192000" cy="6214830"/>
          </a:xfrm>
          <a:prstGeom prst="rect">
            <a:avLst/>
          </a:prstGeom>
        </p:spPr>
      </p:pic>
    </p:spTree>
    <p:extLst>
      <p:ext uri="{BB962C8B-B14F-4D97-AF65-F5344CB8AC3E}">
        <p14:creationId xmlns:p14="http://schemas.microsoft.com/office/powerpoint/2010/main" val="1392672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DD07E5-0CD0-4832-A2F1-E758E1462E1C}"/>
              </a:ext>
            </a:extLst>
          </p:cNvPr>
          <p:cNvSpPr txBox="1"/>
          <p:nvPr/>
        </p:nvSpPr>
        <p:spPr>
          <a:xfrm>
            <a:off x="-1" y="0"/>
            <a:ext cx="11603865" cy="923330"/>
          </a:xfrm>
          <a:prstGeom prst="rect">
            <a:avLst/>
          </a:prstGeom>
          <a:noFill/>
        </p:spPr>
        <p:txBody>
          <a:bodyPr wrap="square">
            <a:spAutoFit/>
          </a:bodyPr>
          <a:lstStyle/>
          <a:p>
            <a:r>
              <a:rPr lang="en-US" dirty="0"/>
              <a:t>When leaving Mandurah, I want to get the train that will get me to Bull Creek by Midnight as I’m being picked up then.</a:t>
            </a:r>
          </a:p>
          <a:p>
            <a:r>
              <a:rPr lang="en-US" dirty="0"/>
              <a:t>What is the latest train I can get?</a:t>
            </a:r>
          </a:p>
          <a:p>
            <a:r>
              <a:rPr lang="en-US" dirty="0"/>
              <a:t>How long will the trip take?</a:t>
            </a:r>
          </a:p>
        </p:txBody>
      </p:sp>
      <p:pic>
        <p:nvPicPr>
          <p:cNvPr id="7" name="Picture 6">
            <a:extLst>
              <a:ext uri="{FF2B5EF4-FFF2-40B4-BE49-F238E27FC236}">
                <a16:creationId xmlns:a16="http://schemas.microsoft.com/office/drawing/2014/main" id="{B0D7370C-64A6-4DA5-9A63-0430732B560D}"/>
              </a:ext>
            </a:extLst>
          </p:cNvPr>
          <p:cNvPicPr>
            <a:picLocks noChangeAspect="1"/>
          </p:cNvPicPr>
          <p:nvPr/>
        </p:nvPicPr>
        <p:blipFill>
          <a:blip r:embed="rId3"/>
          <a:stretch>
            <a:fillRect/>
          </a:stretch>
        </p:blipFill>
        <p:spPr>
          <a:xfrm>
            <a:off x="-141668" y="868937"/>
            <a:ext cx="12192000" cy="6214830"/>
          </a:xfrm>
          <a:prstGeom prst="rect">
            <a:avLst/>
          </a:prstGeom>
        </p:spPr>
      </p:pic>
      <p:sp>
        <p:nvSpPr>
          <p:cNvPr id="4" name="Oval 3">
            <a:extLst>
              <a:ext uri="{FF2B5EF4-FFF2-40B4-BE49-F238E27FC236}">
                <a16:creationId xmlns:a16="http://schemas.microsoft.com/office/drawing/2014/main" id="{650DD41D-78B5-4A98-B4AA-C06FE985AD25}"/>
              </a:ext>
            </a:extLst>
          </p:cNvPr>
          <p:cNvSpPr/>
          <p:nvPr/>
        </p:nvSpPr>
        <p:spPr>
          <a:xfrm>
            <a:off x="502276" y="6310648"/>
            <a:ext cx="910498" cy="285617"/>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6" name="Oval 5">
            <a:extLst>
              <a:ext uri="{FF2B5EF4-FFF2-40B4-BE49-F238E27FC236}">
                <a16:creationId xmlns:a16="http://schemas.microsoft.com/office/drawing/2014/main" id="{7827E308-1D0F-4A27-BE9D-E12CCD3B4914}"/>
              </a:ext>
            </a:extLst>
          </p:cNvPr>
          <p:cNvSpPr/>
          <p:nvPr/>
        </p:nvSpPr>
        <p:spPr>
          <a:xfrm>
            <a:off x="8163059" y="6263426"/>
            <a:ext cx="910498" cy="285617"/>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 name="Arrow: Curved Down 2">
            <a:extLst>
              <a:ext uri="{FF2B5EF4-FFF2-40B4-BE49-F238E27FC236}">
                <a16:creationId xmlns:a16="http://schemas.microsoft.com/office/drawing/2014/main" id="{CC89A24D-4E64-430C-9D2D-4E03B2D2315A}"/>
              </a:ext>
            </a:extLst>
          </p:cNvPr>
          <p:cNvSpPr/>
          <p:nvPr/>
        </p:nvSpPr>
        <p:spPr>
          <a:xfrm>
            <a:off x="1332963" y="5286777"/>
            <a:ext cx="7134896" cy="976649"/>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251735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3082511"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Timetables</a:t>
            </a:r>
          </a:p>
        </p:txBody>
      </p:sp>
      <p:sp>
        <p:nvSpPr>
          <p:cNvPr id="33" name="TextBox 32"/>
          <p:cNvSpPr txBox="1"/>
          <p:nvPr/>
        </p:nvSpPr>
        <p:spPr>
          <a:xfrm>
            <a:off x="191345" y="837124"/>
            <a:ext cx="778887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How do I read, interpret and use a timetable?</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11747037-0930-4608-9244-6EA1A615E4D2}"/>
              </a:ext>
            </a:extLst>
          </p:cNvPr>
          <p:cNvSpPr txBox="1"/>
          <p:nvPr/>
        </p:nvSpPr>
        <p:spPr>
          <a:xfrm>
            <a:off x="9461016" y="65433"/>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
        <p:nvSpPr>
          <p:cNvPr id="2" name="TextBox 1">
            <a:extLst>
              <a:ext uri="{FF2B5EF4-FFF2-40B4-BE49-F238E27FC236}">
                <a16:creationId xmlns:a16="http://schemas.microsoft.com/office/drawing/2014/main" id="{D2529BD8-695D-4598-BBDF-1031C5F25E5E}"/>
              </a:ext>
            </a:extLst>
          </p:cNvPr>
          <p:cNvSpPr txBox="1"/>
          <p:nvPr/>
        </p:nvSpPr>
        <p:spPr>
          <a:xfrm>
            <a:off x="2292440" y="1620851"/>
            <a:ext cx="9646275" cy="707886"/>
          </a:xfrm>
          <a:prstGeom prst="rect">
            <a:avLst/>
          </a:prstGeom>
          <a:noFill/>
        </p:spPr>
        <p:txBody>
          <a:bodyPr wrap="square" rtlCol="0">
            <a:spAutoFit/>
          </a:bodyPr>
          <a:lstStyle/>
          <a:p>
            <a:r>
              <a:rPr lang="en-GB" sz="2000" dirty="0">
                <a:latin typeface="Calibri" panose="020F0502020204030204" pitchFamily="34" charset="0"/>
                <a:cs typeface="Calibri" panose="020F0502020204030204" pitchFamily="34" charset="0"/>
              </a:rPr>
              <a:t>The Mandurah train line leaves Mandurah at 11:19 pm and arrives in Bulls Creek at 11:59 pm. How long is the trip? </a:t>
            </a:r>
          </a:p>
        </p:txBody>
      </p:sp>
      <p:graphicFrame>
        <p:nvGraphicFramePr>
          <p:cNvPr id="3" name="Table 4">
            <a:extLst>
              <a:ext uri="{FF2B5EF4-FFF2-40B4-BE49-F238E27FC236}">
                <a16:creationId xmlns:a16="http://schemas.microsoft.com/office/drawing/2014/main" id="{FDDA958D-0F63-4B63-B293-19E909C24966}"/>
              </a:ext>
            </a:extLst>
          </p:cNvPr>
          <p:cNvGraphicFramePr>
            <a:graphicFrameLocks noGrp="1"/>
          </p:cNvGraphicFramePr>
          <p:nvPr>
            <p:extLst>
              <p:ext uri="{D42A27DB-BD31-4B8C-83A1-F6EECF244321}">
                <p14:modId xmlns:p14="http://schemas.microsoft.com/office/powerpoint/2010/main" val="2162363066"/>
              </p:ext>
            </p:extLst>
          </p:nvPr>
        </p:nvGraphicFramePr>
        <p:xfrm>
          <a:off x="2356834" y="3843626"/>
          <a:ext cx="8128000" cy="15595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971333690"/>
                    </a:ext>
                  </a:extLst>
                </a:gridCol>
                <a:gridCol w="4064000">
                  <a:extLst>
                    <a:ext uri="{9D8B030D-6E8A-4147-A177-3AD203B41FA5}">
                      <a16:colId xmlns:a16="http://schemas.microsoft.com/office/drawing/2014/main" val="766249399"/>
                    </a:ext>
                  </a:extLst>
                </a:gridCol>
              </a:tblGrid>
              <a:tr h="370840">
                <a:tc>
                  <a:txBody>
                    <a:bodyPr/>
                    <a:lstStyle/>
                    <a:p>
                      <a:r>
                        <a:rPr lang="en-GB" dirty="0"/>
                        <a:t>11:19 pm</a:t>
                      </a:r>
                    </a:p>
                  </a:txBody>
                  <a:tcPr/>
                </a:tc>
                <a:tc>
                  <a:txBody>
                    <a:bodyPr/>
                    <a:lstStyle/>
                    <a:p>
                      <a:r>
                        <a:rPr lang="en-GB" dirty="0"/>
                        <a:t>11:59 pm</a:t>
                      </a:r>
                    </a:p>
                  </a:txBody>
                  <a:tcPr/>
                </a:tc>
                <a:extLst>
                  <a:ext uri="{0D108BD9-81ED-4DB2-BD59-A6C34878D82A}">
                    <a16:rowId xmlns:a16="http://schemas.microsoft.com/office/drawing/2014/main" val="3382595533"/>
                  </a:ext>
                </a:extLst>
              </a:tr>
              <a:tr h="370840">
                <a:tc>
                  <a:txBody>
                    <a:bodyPr/>
                    <a:lstStyle/>
                    <a:p>
                      <a:r>
                        <a:rPr lang="en-GB" dirty="0"/>
                        <a:t>11:49 pm</a:t>
                      </a:r>
                    </a:p>
                    <a:p>
                      <a:endParaRPr lang="en-GB" dirty="0"/>
                    </a:p>
                    <a:p>
                      <a:r>
                        <a:rPr lang="en-GB" dirty="0"/>
                        <a:t>11:59 am</a:t>
                      </a:r>
                    </a:p>
                    <a:p>
                      <a:endParaRPr lang="en-GB" dirty="0"/>
                    </a:p>
                  </a:txBody>
                  <a:tcPr/>
                </a:tc>
                <a:tc>
                  <a:txBody>
                    <a:bodyPr/>
                    <a:lstStyle/>
                    <a:p>
                      <a:r>
                        <a:rPr lang="en-GB" dirty="0"/>
                        <a:t>+ 30 mins</a:t>
                      </a:r>
                    </a:p>
                    <a:p>
                      <a:endParaRPr lang="en-GB" dirty="0"/>
                    </a:p>
                    <a:p>
                      <a:r>
                        <a:rPr lang="en-GB" dirty="0"/>
                        <a:t>+ 10 mins</a:t>
                      </a:r>
                    </a:p>
                  </a:txBody>
                  <a:tcPr/>
                </a:tc>
                <a:extLst>
                  <a:ext uri="{0D108BD9-81ED-4DB2-BD59-A6C34878D82A}">
                    <a16:rowId xmlns:a16="http://schemas.microsoft.com/office/drawing/2014/main" val="3907349158"/>
                  </a:ext>
                </a:extLst>
              </a:tr>
            </a:tbl>
          </a:graphicData>
        </a:graphic>
      </p:graphicFrame>
      <p:sp>
        <p:nvSpPr>
          <p:cNvPr id="8" name="TextBox 7">
            <a:extLst>
              <a:ext uri="{FF2B5EF4-FFF2-40B4-BE49-F238E27FC236}">
                <a16:creationId xmlns:a16="http://schemas.microsoft.com/office/drawing/2014/main" id="{D1452ECF-29E6-4B2D-AB23-F14C4BE7DEA1}"/>
              </a:ext>
            </a:extLst>
          </p:cNvPr>
          <p:cNvSpPr txBox="1"/>
          <p:nvPr/>
        </p:nvSpPr>
        <p:spPr>
          <a:xfrm>
            <a:off x="2356834" y="2836024"/>
            <a:ext cx="9581880" cy="707886"/>
          </a:xfrm>
          <a:prstGeom prst="rect">
            <a:avLst/>
          </a:prstGeom>
          <a:noFill/>
        </p:spPr>
        <p:txBody>
          <a:bodyPr wrap="square" rtlCol="0">
            <a:spAutoFit/>
          </a:bodyPr>
          <a:lstStyle/>
          <a:p>
            <a:r>
              <a:rPr lang="en-GB" sz="2000" dirty="0">
                <a:latin typeface="Calibri" panose="020F0502020204030204" pitchFamily="34" charset="0"/>
                <a:cs typeface="Calibri" panose="020F0502020204030204" pitchFamily="34" charset="0"/>
              </a:rPr>
              <a:t>We need to work out the elapsed time. This means we keep adding chunks of time to 11:19 pm until we arrive at 11:59 pm</a:t>
            </a:r>
          </a:p>
        </p:txBody>
      </p:sp>
      <p:sp>
        <p:nvSpPr>
          <p:cNvPr id="5" name="TextBox 4">
            <a:extLst>
              <a:ext uri="{FF2B5EF4-FFF2-40B4-BE49-F238E27FC236}">
                <a16:creationId xmlns:a16="http://schemas.microsoft.com/office/drawing/2014/main" id="{30EDD5FA-7E4C-46FA-8E59-88FDD56F6F33}"/>
              </a:ext>
            </a:extLst>
          </p:cNvPr>
          <p:cNvSpPr txBox="1"/>
          <p:nvPr/>
        </p:nvSpPr>
        <p:spPr>
          <a:xfrm>
            <a:off x="6606862" y="5595456"/>
            <a:ext cx="885179" cy="369332"/>
          </a:xfrm>
          <a:prstGeom prst="rect">
            <a:avLst/>
          </a:prstGeom>
          <a:noFill/>
        </p:spPr>
        <p:txBody>
          <a:bodyPr wrap="none" rtlCol="0">
            <a:spAutoFit/>
          </a:bodyPr>
          <a:lstStyle/>
          <a:p>
            <a:r>
              <a:rPr lang="en-GB" dirty="0"/>
              <a:t>40 mins</a:t>
            </a:r>
          </a:p>
        </p:txBody>
      </p:sp>
    </p:spTree>
    <p:extLst>
      <p:ext uri="{BB962C8B-B14F-4D97-AF65-F5344CB8AC3E}">
        <p14:creationId xmlns:p14="http://schemas.microsoft.com/office/powerpoint/2010/main" val="1255828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B9D67-3443-CB45-8736-BB562C6F0397}"/>
              </a:ext>
            </a:extLst>
          </p:cNvPr>
          <p:cNvSpPr>
            <a:spLocks noGrp="1"/>
          </p:cNvSpPr>
          <p:nvPr>
            <p:ph type="title"/>
          </p:nvPr>
        </p:nvSpPr>
        <p:spPr/>
        <p:txBody>
          <a:bodyPr/>
          <a:lstStyle/>
          <a:p>
            <a:r>
              <a:rPr lang="en-US" dirty="0"/>
              <a:t>Extension Question.</a:t>
            </a:r>
          </a:p>
        </p:txBody>
      </p:sp>
      <p:sp>
        <p:nvSpPr>
          <p:cNvPr id="3" name="Content Placeholder 2">
            <a:extLst>
              <a:ext uri="{FF2B5EF4-FFF2-40B4-BE49-F238E27FC236}">
                <a16:creationId xmlns:a16="http://schemas.microsoft.com/office/drawing/2014/main" id="{526D86D9-57CF-5045-8A7A-C0DC202BF82D}"/>
              </a:ext>
            </a:extLst>
          </p:cNvPr>
          <p:cNvSpPr>
            <a:spLocks noGrp="1"/>
          </p:cNvSpPr>
          <p:nvPr>
            <p:ph idx="1"/>
          </p:nvPr>
        </p:nvSpPr>
        <p:spPr/>
        <p:txBody>
          <a:bodyPr/>
          <a:lstStyle/>
          <a:p>
            <a:r>
              <a:rPr lang="en-AU" dirty="0"/>
              <a:t>Three trains travel from City Station to Farmland Station on the same morning. The Express leaves City 10 minutes after the All Stations train, but arrives at Farmland 10 minutes before it.</a:t>
            </a:r>
          </a:p>
          <a:p>
            <a:r>
              <a:rPr lang="en-AU" dirty="0"/>
              <a:t>The All Stations takes 50 minutes to reach Farmland and arrives at 10:30.</a:t>
            </a:r>
          </a:p>
          <a:p>
            <a:r>
              <a:rPr lang="en-AU" dirty="0"/>
              <a:t>The Goods train leaves 20 minutes before the All Stations and arrives at Farmland 20 minutes after the Express.</a:t>
            </a:r>
          </a:p>
          <a:p>
            <a:r>
              <a:rPr lang="en-AU" dirty="0"/>
              <a:t>Work out the timetable. That is; what time does each train leave City Station and what time does each train arrive at Farmland Station?</a:t>
            </a:r>
          </a:p>
          <a:p>
            <a:pPr marL="0" indent="0">
              <a:buNone/>
            </a:pPr>
            <a:endParaRPr lang="en-US" dirty="0"/>
          </a:p>
        </p:txBody>
      </p:sp>
    </p:spTree>
    <p:extLst>
      <p:ext uri="{BB962C8B-B14F-4D97-AF65-F5344CB8AC3E}">
        <p14:creationId xmlns:p14="http://schemas.microsoft.com/office/powerpoint/2010/main" val="25373676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4231</TotalTime>
  <Words>645</Words>
  <Application>Microsoft Office PowerPoint</Application>
  <PresentationFormat>Widescreen</PresentationFormat>
  <Paragraphs>81</Paragraphs>
  <Slides>10</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10</vt:i4>
      </vt:variant>
    </vt:vector>
  </HeadingPairs>
  <TitlesOfParts>
    <vt:vector size="19" baseType="lpstr">
      <vt:lpstr>Arial</vt:lpstr>
      <vt:lpstr>Calibri</vt:lpstr>
      <vt:lpstr>Calibri Light</vt:lpstr>
      <vt:lpstr>Cambria Math</vt:lpstr>
      <vt:lpstr>Tw Cen MT</vt:lpstr>
      <vt:lpstr>Tw Cen MT Condensed</vt:lpstr>
      <vt:lpstr>Wingdings 3</vt:lpstr>
      <vt:lpstr>Integral</vt:lpstr>
      <vt:lpstr>Office Theme</vt:lpstr>
      <vt:lpstr>Topic: interpreting Timetables EQ: How do I read, interpret and use a train timetable ? </vt:lpstr>
      <vt:lpstr>Five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Extension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Timetables</dc:title>
  <dc:creator>NGUYEN Tony [Baldivis Secondary College]</dc:creator>
  <cp:lastModifiedBy>Tony Nguyen</cp:lastModifiedBy>
  <cp:revision>9</cp:revision>
  <dcterms:created xsi:type="dcterms:W3CDTF">2021-09-13T16:02:36Z</dcterms:created>
  <dcterms:modified xsi:type="dcterms:W3CDTF">2021-09-20T00:12:41Z</dcterms:modified>
</cp:coreProperties>
</file>
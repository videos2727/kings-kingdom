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4" r:id="rId4"/>
    <p:sldId id="258" r:id="rId5"/>
    <p:sldId id="265" r:id="rId6"/>
    <p:sldId id="260" r:id="rId7"/>
    <p:sldId id="266" r:id="rId8"/>
    <p:sldId id="267" r:id="rId9"/>
    <p:sldId id="259" r:id="rId10"/>
    <p:sldId id="268" r:id="rId11"/>
    <p:sldId id="270" r:id="rId12"/>
    <p:sldId id="262" r:id="rId13"/>
    <p:sldId id="263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DA3FC-00DD-4126-8F82-DD1FC27D2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DBF10-33C1-47F6-974A-7D69A8C271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B26F8-DC9F-440B-9519-3F5C032F2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1354-9022-4CDA-B2D8-DAEC52FE95CF}" type="datetimeFigureOut">
              <a:rPr lang="en-AU" smtClean="0"/>
              <a:t>2/09/2021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AFABF-7C47-4AC5-9882-D7C530E75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71F1E-2F27-4468-90D5-6A3B1FAC8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D603F-5A29-4794-B235-9AFB295035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7826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AA797-97D9-4D4D-8C6C-15AD09382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E35B0-B364-4151-9F54-F84B5AD47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C4EC0-3CD6-4C5F-878A-908F3136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1354-9022-4CDA-B2D8-DAEC52FE95CF}" type="datetimeFigureOut">
              <a:rPr lang="en-AU" smtClean="0"/>
              <a:t>2/09/2021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8E7A5-0412-48BD-8ED2-AA72C4EDC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C98FE-C9CE-4EDA-AC7A-CFA2A6A53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D603F-5A29-4794-B235-9AFB295035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5906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26F57-5BB5-4BFD-ABD7-832158C14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B10B7-0D0F-4093-B149-E543004B8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2CE21-C945-462C-9377-28E8B7D76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1354-9022-4CDA-B2D8-DAEC52FE95CF}" type="datetimeFigureOut">
              <a:rPr lang="en-AU" smtClean="0"/>
              <a:t>2/09/2021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08799-06D6-4453-BA92-C70CC8D6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E4C71-8837-44A3-81DC-506958C7F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D603F-5A29-4794-B235-9AFB295035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8293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BFC6C-6F3E-4F19-B983-7C0326F00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500C1-65F3-4808-AA73-C614F3432D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EE3B9F-5268-467A-93A9-CFB03F022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1485F-3B0D-4DD6-A4F5-717617503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1354-9022-4CDA-B2D8-DAEC52FE95CF}" type="datetimeFigureOut">
              <a:rPr lang="en-AU" smtClean="0"/>
              <a:t>2/09/2021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40CD0-84F0-4C6F-860C-A51BB2595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86D3A-D790-4086-B17E-434889C0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D603F-5A29-4794-B235-9AFB295035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2883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EB7E9-BC71-4596-889C-BF103DF49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3BE6E-8F98-4EED-8B63-D1713926D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B1F14-812A-4689-80F7-3167243E6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CC4AB4-37F9-46A2-B1CD-34CA9ED4B4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270128-AA3F-4746-80A1-F68BA08489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93BE74-F8AF-4E35-9D34-EE3C6DC9F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1354-9022-4CDA-B2D8-DAEC52FE95CF}" type="datetimeFigureOut">
              <a:rPr lang="en-AU" smtClean="0"/>
              <a:t>2/09/2021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CC241B-3B6E-4BB2-84B6-75E0B4AD6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D4601-B60A-40CA-8E1D-255508D6F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D603F-5A29-4794-B235-9AFB295035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181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82F4E-FB4A-4451-AA95-4ED5845BD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B75222-3289-4A80-AF3F-C27ABEA60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1354-9022-4CDA-B2D8-DAEC52FE95CF}" type="datetimeFigureOut">
              <a:rPr lang="en-AU" smtClean="0"/>
              <a:t>2/09/2021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525030-401E-4FD8-824F-8DB6A9E5C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9A6FF1-BC84-41A7-A6AC-86EE22042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D603F-5A29-4794-B235-9AFB295035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0828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5CB867-AA9F-4B63-BC35-86FEDCFAF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1354-9022-4CDA-B2D8-DAEC52FE95CF}" type="datetimeFigureOut">
              <a:rPr lang="en-AU" smtClean="0"/>
              <a:t>2/09/2021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2EABC5-3468-4119-B6C9-A7E02C365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0F764-DA14-4953-932F-57695C849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D603F-5A29-4794-B235-9AFB295035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6536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484BB-ED0D-439F-A3E1-F6EEA3A1A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5058E-0A2F-417C-95F5-990126F68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2BB98-C429-40AB-8282-B16462555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7BC173-15B6-48AD-A716-63DCFBC44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1354-9022-4CDA-B2D8-DAEC52FE95CF}" type="datetimeFigureOut">
              <a:rPr lang="en-AU" smtClean="0"/>
              <a:t>2/09/2021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422D5-E23C-42E0-9B6A-B26C8F9D6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DA99E-8461-4CCF-BCAF-B6E9B39D0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D603F-5A29-4794-B235-9AFB295035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261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DD3A3-8263-4FBE-AF31-6E3F9BDF5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ABB09-04FC-443E-A8E9-AEF1C77CB9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426B6-5711-421E-8715-FDEFF62C0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AC391-D563-4E3E-8C9E-32D7434F7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1354-9022-4CDA-B2D8-DAEC52FE95CF}" type="datetimeFigureOut">
              <a:rPr lang="en-AU" smtClean="0"/>
              <a:t>2/09/2021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56F323-7E66-4EE0-B7BF-CE7654C14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D4104-C19A-4D22-BC93-23D2985C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D603F-5A29-4794-B235-9AFB295035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1189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478B-CA55-4AE2-9450-BF9B9079E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41D619-C54A-4936-81DB-8DD9B70F9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740F0-9637-4687-A56B-FC1D4FD1C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1354-9022-4CDA-B2D8-DAEC52FE95CF}" type="datetimeFigureOut">
              <a:rPr lang="en-AU" smtClean="0"/>
              <a:t>2/09/2021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09E9D-FCA1-46D5-B102-28AA78081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49FA5-6DEB-49AB-A819-D4E3E38BE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D603F-5A29-4794-B235-9AFB295035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584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1E895E-C0D9-49EF-A356-D9CA6F618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AF9933-8DB4-45F5-A8E8-16CA8A798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FB5C4-34AB-4EB9-9784-C5C9EF1A9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1354-9022-4CDA-B2D8-DAEC52FE95CF}" type="datetimeFigureOut">
              <a:rPr lang="en-AU" smtClean="0"/>
              <a:t>2/09/2021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F538E-39B5-4E66-996C-347027D60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5A427-1EB3-41AE-830F-6C01A6B6C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D603F-5A29-4794-B235-9AFB295035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1970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56EF27-9FAA-41BC-9C6E-53E70C6A5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5D04A-DB49-4110-8D64-F544A8EE5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6A0AB-2382-48C2-BFB3-D9363326FB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71354-9022-4CDA-B2D8-DAEC52FE95CF}" type="datetimeFigureOut">
              <a:rPr lang="en-AU" smtClean="0"/>
              <a:t>2/09/2021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30AEF-BAD8-457D-9D7A-554B95826D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FB4E1-55C8-4241-A963-5355EA792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D603F-5A29-4794-B235-9AFB295035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15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06B5D-6824-478F-AF09-FEB8B5FFFD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Yr11 Revision Lesson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E26C0-86BC-41DC-97F0-339AB54699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Topic: Statistics</a:t>
            </a:r>
          </a:p>
          <a:p>
            <a:r>
              <a:rPr lang="en-AU" dirty="0"/>
              <a:t>EQ: What do I need to know for the test?</a:t>
            </a:r>
          </a:p>
        </p:txBody>
      </p:sp>
    </p:spTree>
    <p:extLst>
      <p:ext uri="{BB962C8B-B14F-4D97-AF65-F5344CB8AC3E}">
        <p14:creationId xmlns:p14="http://schemas.microsoft.com/office/powerpoint/2010/main" val="803291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FA870-EDEF-44CF-BA77-6FFAD7D61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Types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1C4DD-8D00-435D-B4EC-2C98289D0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b="1" dirty="0" err="1"/>
              <a:t>Catergorical</a:t>
            </a:r>
            <a:r>
              <a:rPr lang="en-AU" b="1" dirty="0"/>
              <a:t>: </a:t>
            </a:r>
            <a:r>
              <a:rPr lang="en-AU" dirty="0"/>
              <a:t>data that can be sorted into categories (favourite shoe brand, types of cars etc)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b="1" dirty="0"/>
              <a:t>Numerical: </a:t>
            </a:r>
            <a:r>
              <a:rPr lang="en-AU" dirty="0"/>
              <a:t>data that is measured in numbers. Two types of numerical data; Discrete and Continuous.</a:t>
            </a:r>
          </a:p>
          <a:p>
            <a:pPr marL="0" indent="0">
              <a:buNone/>
            </a:pPr>
            <a:endParaRPr lang="en-AU" dirty="0"/>
          </a:p>
          <a:p>
            <a:pPr lvl="1"/>
            <a:r>
              <a:rPr lang="en-AU" b="1" dirty="0"/>
              <a:t>Discrete: </a:t>
            </a:r>
            <a:r>
              <a:rPr lang="en-AU" dirty="0"/>
              <a:t>data that take on specific values (shoe size, amount of burgers eaten etc)</a:t>
            </a:r>
          </a:p>
          <a:p>
            <a:pPr lvl="1"/>
            <a:r>
              <a:rPr lang="en-AU" b="1" dirty="0"/>
              <a:t>Continuous: </a:t>
            </a:r>
            <a:r>
              <a:rPr lang="en-AU" dirty="0"/>
              <a:t>Data that is measured (length of your shoe, time taken etc)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24938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DB45A-E207-4610-9999-7878131BD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Types of data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93194-F668-45B3-8E27-E2834BFA2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State what type of data the following are:</a:t>
            </a:r>
          </a:p>
          <a:p>
            <a:pPr marL="514350" indent="-514350">
              <a:buAutoNum type="arabicPeriod"/>
            </a:pPr>
            <a:r>
              <a:rPr lang="en-AU" dirty="0"/>
              <a:t>Favourite animal</a:t>
            </a:r>
          </a:p>
          <a:p>
            <a:pPr marL="514350" indent="-514350">
              <a:buAutoNum type="arabicPeriod"/>
            </a:pPr>
            <a:r>
              <a:rPr lang="en-AU" dirty="0"/>
              <a:t>Heights of buildings</a:t>
            </a:r>
          </a:p>
          <a:p>
            <a:pPr marL="514350" indent="-514350">
              <a:buAutoNum type="arabicPeriod"/>
            </a:pPr>
            <a:r>
              <a:rPr lang="en-AU" dirty="0"/>
              <a:t>Colours of cars</a:t>
            </a:r>
          </a:p>
          <a:p>
            <a:pPr marL="514350" indent="-514350">
              <a:buAutoNum type="arabicPeriod"/>
            </a:pPr>
            <a:r>
              <a:rPr lang="en-AU" dirty="0"/>
              <a:t>Number of cars</a:t>
            </a:r>
          </a:p>
          <a:p>
            <a:pPr marL="514350" indent="-514350">
              <a:buAutoNum type="arabicPeriod"/>
            </a:pP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19F4AB-5EEE-4479-9920-AE3E67573C59}"/>
              </a:ext>
            </a:extLst>
          </p:cNvPr>
          <p:cNvSpPr txBox="1"/>
          <p:nvPr/>
        </p:nvSpPr>
        <p:spPr>
          <a:xfrm>
            <a:off x="5042517" y="2274838"/>
            <a:ext cx="23703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Categorical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Numerical Continuous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Categorical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Discrete numerical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9946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8D812-28B1-4661-9048-4DAF5EB1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Measures of average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8D47F-076B-4198-A85F-CA2E5FAE9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/>
              <a:t>Mean: </a:t>
            </a:r>
            <a:r>
              <a:rPr lang="en-AU" dirty="0"/>
              <a:t>sum of all scores divided by the number of scores</a:t>
            </a:r>
          </a:p>
          <a:p>
            <a:r>
              <a:rPr lang="en-AU" b="1" dirty="0"/>
              <a:t>Median: </a:t>
            </a:r>
            <a:r>
              <a:rPr lang="en-AU" dirty="0"/>
              <a:t>The middle number in a data set (put numbers in order and find the middle, if two numbers are in the middle add together and divide by 2)</a:t>
            </a:r>
          </a:p>
          <a:p>
            <a:r>
              <a:rPr lang="en-AU" b="1" dirty="0"/>
              <a:t>Mode: </a:t>
            </a:r>
            <a:r>
              <a:rPr lang="en-AU" dirty="0"/>
              <a:t>The most common score, you can have 2 modes (bimodal) or one mode (unimodal)</a:t>
            </a:r>
          </a:p>
        </p:txBody>
      </p:sp>
    </p:spTree>
    <p:extLst>
      <p:ext uri="{BB962C8B-B14F-4D97-AF65-F5344CB8AC3E}">
        <p14:creationId xmlns:p14="http://schemas.microsoft.com/office/powerpoint/2010/main" val="277426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DF120-80DE-4E4D-8BE2-EBA4D298E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Find the mean, median and mode for the following data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C6FE3-9952-43BA-8B67-0EC61F9B6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AU" sz="3600" dirty="0"/>
          </a:p>
          <a:p>
            <a:pPr marL="0" indent="0" algn="ctr">
              <a:buNone/>
            </a:pPr>
            <a:r>
              <a:rPr lang="en-AU" sz="3600" dirty="0"/>
              <a:t>12, 34, 15, 19, 21, 9, 14, 15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99FD62-17E6-4F4C-810B-289D2B16E246}"/>
                  </a:ext>
                </a:extLst>
              </p:cNvPr>
              <p:cNvSpPr txBox="1"/>
              <p:nvPr/>
            </p:nvSpPr>
            <p:spPr>
              <a:xfrm>
                <a:off x="3346881" y="3429000"/>
                <a:ext cx="7217546" cy="27896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>
                    <a:solidFill>
                      <a:schemeClr val="accent1"/>
                    </a:solidFill>
                  </a:rPr>
                  <a:t>9, 12, 14, 15, 15, 19, 21, 34</a:t>
                </a:r>
              </a:p>
              <a:p>
                <a:endParaRPr lang="en-AU" sz="2000" dirty="0">
                  <a:solidFill>
                    <a:schemeClr val="accent1"/>
                  </a:solidFill>
                </a:endParaRPr>
              </a:p>
              <a:p>
                <a:r>
                  <a:rPr lang="en-AU" sz="2000" dirty="0">
                    <a:solidFill>
                      <a:schemeClr val="accent1"/>
                    </a:solidFill>
                  </a:rPr>
                  <a:t>Mean: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9+12+14+15+15+19+21+34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=17.375</m:t>
                    </m:r>
                  </m:oMath>
                </a14:m>
                <a:endParaRPr lang="en-AU" sz="2000" b="0" dirty="0">
                  <a:solidFill>
                    <a:schemeClr val="accent1"/>
                  </a:solidFill>
                </a:endParaRPr>
              </a:p>
              <a:p>
                <a:endParaRPr lang="en-AU" sz="2000" dirty="0">
                  <a:solidFill>
                    <a:schemeClr val="accent1"/>
                  </a:solidFill>
                </a:endParaRPr>
              </a:p>
              <a:p>
                <a:r>
                  <a:rPr lang="en-AU" sz="2000" dirty="0">
                    <a:solidFill>
                      <a:schemeClr val="accent1"/>
                    </a:solidFill>
                  </a:rPr>
                  <a:t>Median: 9, 12, 14, 15, 15, 19, 21, 34;  2 in the middle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15+15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=15 </m:t>
                    </m:r>
                  </m:oMath>
                </a14:m>
                <a:endParaRPr lang="en-AU" sz="2000" b="0" dirty="0">
                  <a:solidFill>
                    <a:schemeClr val="accent1"/>
                  </a:solidFill>
                </a:endParaRPr>
              </a:p>
              <a:p>
                <a:endParaRPr lang="en-AU" sz="2000" dirty="0">
                  <a:solidFill>
                    <a:schemeClr val="accent1"/>
                  </a:solidFill>
                </a:endParaRPr>
              </a:p>
              <a:p>
                <a:r>
                  <a:rPr lang="en-AU" sz="2000" dirty="0">
                    <a:solidFill>
                      <a:schemeClr val="accent1"/>
                    </a:solidFill>
                  </a:rPr>
                  <a:t>Mode: most common is 15</a:t>
                </a:r>
              </a:p>
              <a:p>
                <a:endParaRPr lang="en-AU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99FD62-17E6-4F4C-810B-289D2B16E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881" y="3429000"/>
                <a:ext cx="7217546" cy="2789674"/>
              </a:xfrm>
              <a:prstGeom prst="rect">
                <a:avLst/>
              </a:prstGeom>
              <a:blipFill>
                <a:blip r:embed="rId2"/>
                <a:stretch>
                  <a:fillRect l="-845" t="-13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9A0AC8-5416-4A13-BDDD-F7C98F10A606}"/>
              </a:ext>
            </a:extLst>
          </p:cNvPr>
          <p:cNvCxnSpPr/>
          <p:nvPr/>
        </p:nvCxnSpPr>
        <p:spPr>
          <a:xfrm>
            <a:off x="5468645" y="4625266"/>
            <a:ext cx="0" cy="4172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541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D0D02-13FF-4B6B-B779-B7E5F8898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5 number summaries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E6738-B01C-4C9D-8EA5-BEB72818B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5 number summary: lowest score, lower quartile (Q1), median (Q2), Upper quartile (Q3), and largest score.</a:t>
            </a:r>
          </a:p>
          <a:p>
            <a:pPr lvl="1"/>
            <a:r>
              <a:rPr lang="en-AU" dirty="0"/>
              <a:t>Step 1, put the scores in ascending order</a:t>
            </a:r>
          </a:p>
          <a:p>
            <a:pPr lvl="1"/>
            <a:r>
              <a:rPr lang="en-AU" dirty="0"/>
              <a:t>Step 2, find the lowest and highest</a:t>
            </a:r>
          </a:p>
          <a:p>
            <a:pPr lvl="1"/>
            <a:r>
              <a:rPr lang="en-AU" dirty="0"/>
              <a:t>Step 3, find the median</a:t>
            </a:r>
          </a:p>
          <a:p>
            <a:pPr lvl="1"/>
            <a:r>
              <a:rPr lang="en-AU" dirty="0"/>
              <a:t>Step 4, find the lower and upper quartiles (middle of the bottom half and middle of the top half)</a:t>
            </a:r>
          </a:p>
          <a:p>
            <a:pPr marL="457200" lvl="1" indent="0">
              <a:buNone/>
            </a:pPr>
            <a:endParaRPr lang="en-AU" dirty="0"/>
          </a:p>
          <a:p>
            <a:pPr lvl="1"/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  <p:sp>
        <p:nvSpPr>
          <p:cNvPr id="4" name="AutoShape 2" descr="Box Plot | Simply Psychology">
            <a:extLst>
              <a:ext uri="{FF2B5EF4-FFF2-40B4-BE49-F238E27FC236}">
                <a16:creationId xmlns:a16="http://schemas.microsoft.com/office/drawing/2014/main" id="{9FD816EF-A552-4791-8CCE-169CE73781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230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CDFD1-EAC5-4E0C-8DDE-C945FAA63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Box and whisker plots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CF0DE5-8931-4B6E-86F0-487ADF658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779" y="1441417"/>
            <a:ext cx="8718971" cy="447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022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3531-A5A4-4ABF-8792-588BF0CC3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Find the 5 number summary and draw the box and whisker plot for the following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E1056-AC72-4278-ABBE-F11671CA0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AU" sz="4000" dirty="0"/>
          </a:p>
          <a:p>
            <a:pPr marL="0" indent="0" algn="ctr">
              <a:buNone/>
            </a:pPr>
            <a:r>
              <a:rPr lang="en-AU" sz="4000" dirty="0"/>
              <a:t>12, 34, 15, 19, 21, 9, 14, 15</a:t>
            </a:r>
          </a:p>
          <a:p>
            <a:pPr marL="0" indent="0" algn="ctr">
              <a:buNone/>
            </a:pPr>
            <a:r>
              <a:rPr lang="en-AU" sz="4000" dirty="0">
                <a:solidFill>
                  <a:schemeClr val="accent1"/>
                </a:solidFill>
              </a:rPr>
              <a:t>9, 12, 14, 15, 15, 19, 21, 34</a:t>
            </a:r>
          </a:p>
          <a:p>
            <a:pPr marL="0" indent="0" algn="ctr">
              <a:buNone/>
            </a:pPr>
            <a:r>
              <a:rPr lang="en-AU" sz="4000" dirty="0"/>
              <a:t>Low: 9, Q1: 13, Med: 15, Q3:20, Max:34</a:t>
            </a:r>
          </a:p>
          <a:p>
            <a:pPr marL="0" indent="0" algn="ctr">
              <a:buNone/>
            </a:pPr>
            <a:endParaRPr lang="en-AU" sz="4000" dirty="0"/>
          </a:p>
          <a:p>
            <a:pPr marL="0" indent="0" algn="ctr">
              <a:buNone/>
            </a:pPr>
            <a:endParaRPr lang="en-AU" sz="4000" dirty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907593-1D31-4844-8521-B9874D69D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063" y="4623986"/>
            <a:ext cx="4807996" cy="186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95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668D8-2E34-4382-8125-217E1FA6A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Measures of spread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C2542-5424-4902-BD6A-D4ECEC390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/>
              <a:t>Range: </a:t>
            </a:r>
            <a:r>
              <a:rPr lang="en-AU" dirty="0"/>
              <a:t>Highest score take the lowest score</a:t>
            </a:r>
          </a:p>
          <a:p>
            <a:r>
              <a:rPr lang="en-AU" b="1" dirty="0"/>
              <a:t>IQR: </a:t>
            </a:r>
            <a:r>
              <a:rPr lang="en-AU" dirty="0"/>
              <a:t>upper quartile take lower quartile</a:t>
            </a:r>
          </a:p>
          <a:p>
            <a:r>
              <a:rPr lang="en-AU" b="1" dirty="0"/>
              <a:t>Standard Deviation: </a:t>
            </a:r>
            <a:r>
              <a:rPr lang="en-AU" dirty="0"/>
              <a:t>the average distance from the mean. (you don’t need to know how to calculate, but you need to know what it shows.</a:t>
            </a:r>
          </a:p>
          <a:p>
            <a:endParaRPr lang="en-AU" dirty="0"/>
          </a:p>
          <a:p>
            <a:pPr marL="0" indent="0">
              <a:buNone/>
            </a:pPr>
            <a:r>
              <a:rPr lang="en-AU" dirty="0"/>
              <a:t>Basically the bigger your measure of spread is, the more spread out/ less consistent your data is.</a:t>
            </a:r>
          </a:p>
        </p:txBody>
      </p:sp>
    </p:spTree>
    <p:extLst>
      <p:ext uri="{BB962C8B-B14F-4D97-AF65-F5344CB8AC3E}">
        <p14:creationId xmlns:p14="http://schemas.microsoft.com/office/powerpoint/2010/main" val="2811261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A4ED2-CAEC-41B0-9785-DBEAE0F02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 the following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518861-A631-494A-8AC5-867B796A45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3273" y="1581150"/>
            <a:ext cx="9993831" cy="45958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4DB1CD-9AE3-4A6D-8323-798089158090}"/>
              </a:ext>
            </a:extLst>
          </p:cNvPr>
          <p:cNvSpPr txBox="1"/>
          <p:nvPr/>
        </p:nvSpPr>
        <p:spPr>
          <a:xfrm>
            <a:off x="417251" y="5992297"/>
            <a:ext cx="11937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 Which of the farms do you think has the larger standard deviation? Explain your answer using the other measures of spread</a:t>
            </a:r>
          </a:p>
        </p:txBody>
      </p:sp>
    </p:spTree>
    <p:extLst>
      <p:ext uri="{BB962C8B-B14F-4D97-AF65-F5344CB8AC3E}">
        <p14:creationId xmlns:p14="http://schemas.microsoft.com/office/powerpoint/2010/main" val="2934487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A4ED2-CAEC-41B0-9785-DBEAE0F02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273" y="131414"/>
            <a:ext cx="10515600" cy="1325563"/>
          </a:xfrm>
        </p:spPr>
        <p:txBody>
          <a:bodyPr/>
          <a:lstStyle/>
          <a:p>
            <a:r>
              <a:rPr lang="en-AU" dirty="0"/>
              <a:t>Answer the following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518861-A631-494A-8AC5-867B796A45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555" y="1131093"/>
            <a:ext cx="9993831" cy="45958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4DB1CD-9AE3-4A6D-8323-798089158090}"/>
              </a:ext>
            </a:extLst>
          </p:cNvPr>
          <p:cNvSpPr txBox="1"/>
          <p:nvPr/>
        </p:nvSpPr>
        <p:spPr>
          <a:xfrm>
            <a:off x="201923" y="5713332"/>
            <a:ext cx="11990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  Which of the farms do you think has the larger standard deviation? Explain your answer using the other measures of spread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7FA3D-8CDF-4866-8ECB-25A82B847445}"/>
              </a:ext>
            </a:extLst>
          </p:cNvPr>
          <p:cNvSpPr txBox="1"/>
          <p:nvPr/>
        </p:nvSpPr>
        <p:spPr>
          <a:xfrm>
            <a:off x="5628443" y="3022103"/>
            <a:ext cx="66631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>
                <a:solidFill>
                  <a:schemeClr val="accent1"/>
                </a:solidFill>
              </a:rPr>
              <a:t>Mcdonalds</a:t>
            </a:r>
            <a:r>
              <a:rPr lang="en-AU" dirty="0">
                <a:solidFill>
                  <a:schemeClr val="accent1"/>
                </a:solidFill>
              </a:rPr>
              <a:t>, 16 years old</a:t>
            </a:r>
          </a:p>
          <a:p>
            <a:endParaRPr lang="en-AU" dirty="0">
              <a:solidFill>
                <a:schemeClr val="accent1"/>
              </a:solidFill>
            </a:endParaRPr>
          </a:p>
          <a:p>
            <a:r>
              <a:rPr lang="en-AU" dirty="0">
                <a:solidFill>
                  <a:schemeClr val="accent1"/>
                </a:solidFill>
              </a:rPr>
              <a:t>Lower quartile</a:t>
            </a:r>
          </a:p>
          <a:p>
            <a:endParaRPr lang="en-AU" dirty="0">
              <a:solidFill>
                <a:schemeClr val="accent1"/>
              </a:solidFill>
            </a:endParaRPr>
          </a:p>
          <a:p>
            <a:endParaRPr lang="en-AU" dirty="0">
              <a:solidFill>
                <a:schemeClr val="accent1"/>
              </a:solidFill>
            </a:endParaRPr>
          </a:p>
          <a:p>
            <a:r>
              <a:rPr lang="en-AU" dirty="0" err="1">
                <a:solidFill>
                  <a:schemeClr val="accent1"/>
                </a:solidFill>
              </a:rPr>
              <a:t>Mcdonalds</a:t>
            </a:r>
            <a:r>
              <a:rPr lang="en-AU" dirty="0">
                <a:solidFill>
                  <a:schemeClr val="accent1"/>
                </a:solidFill>
              </a:rPr>
              <a:t>, positive skew</a:t>
            </a:r>
          </a:p>
          <a:p>
            <a:endParaRPr lang="en-AU" dirty="0">
              <a:solidFill>
                <a:schemeClr val="accent1"/>
              </a:solidFill>
            </a:endParaRPr>
          </a:p>
          <a:p>
            <a:endParaRPr lang="en-AU" dirty="0">
              <a:solidFill>
                <a:schemeClr val="accent1"/>
              </a:solidFill>
            </a:endParaRPr>
          </a:p>
          <a:p>
            <a:r>
              <a:rPr lang="en-AU" dirty="0">
                <a:solidFill>
                  <a:schemeClr val="accent1"/>
                </a:solidFill>
              </a:rPr>
              <a:t>25% of 180= 45 cows</a:t>
            </a:r>
          </a:p>
          <a:p>
            <a:endParaRPr lang="en-AU" dirty="0">
              <a:solidFill>
                <a:schemeClr val="accent1"/>
              </a:solidFill>
            </a:endParaRPr>
          </a:p>
          <a:p>
            <a:endParaRPr lang="en-AU" dirty="0">
              <a:solidFill>
                <a:schemeClr val="accent1"/>
              </a:solidFill>
            </a:endParaRPr>
          </a:p>
          <a:p>
            <a:r>
              <a:rPr lang="en-AU" dirty="0" err="1">
                <a:solidFill>
                  <a:schemeClr val="accent1"/>
                </a:solidFill>
              </a:rPr>
              <a:t>Mcdonalds</a:t>
            </a:r>
            <a:r>
              <a:rPr lang="en-AU" dirty="0">
                <a:solidFill>
                  <a:schemeClr val="accent1"/>
                </a:solidFill>
              </a:rPr>
              <a:t>, the graph is more spread out and has a bigger range</a:t>
            </a:r>
          </a:p>
        </p:txBody>
      </p:sp>
    </p:spTree>
    <p:extLst>
      <p:ext uri="{BB962C8B-B14F-4D97-AF65-F5344CB8AC3E}">
        <p14:creationId xmlns:p14="http://schemas.microsoft.com/office/powerpoint/2010/main" val="1469194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D0C49-B11B-42D1-BAF8-3F05A3062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Outliers!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E7D74-ABAE-4483-9D0F-CDE97E74F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An outlier is a piece of data that is really small or really big and doesn’t fit with the rest of the data. </a:t>
            </a:r>
          </a:p>
          <a:p>
            <a:pPr marL="0" indent="0" algn="ctr">
              <a:buNone/>
            </a:pPr>
            <a:r>
              <a:rPr lang="en-AU" dirty="0"/>
              <a:t>12, 34, 15, 19, 21, 9, 14, 15</a:t>
            </a:r>
          </a:p>
          <a:p>
            <a:pPr marL="0" indent="0">
              <a:buNone/>
            </a:pPr>
            <a:r>
              <a:rPr lang="en-AU" dirty="0"/>
              <a:t>Outlier is</a:t>
            </a:r>
            <a:r>
              <a:rPr lang="en-AU" u="sng" dirty="0"/>
              <a:t> 35 .</a:t>
            </a:r>
            <a:endParaRPr lang="en-AU" dirty="0"/>
          </a:p>
          <a:p>
            <a:pPr marL="0" indent="0">
              <a:buNone/>
            </a:pPr>
            <a:r>
              <a:rPr lang="en-AU" dirty="0"/>
              <a:t>Calculate the mean and median with and without the outlier and comment on the effect.</a:t>
            </a:r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45CC9A8-2A6E-4022-A1FE-D0E4CD1B7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944381"/>
              </p:ext>
            </p:extLst>
          </p:nvPr>
        </p:nvGraphicFramePr>
        <p:xfrm>
          <a:off x="1925468" y="4767761"/>
          <a:ext cx="8372628" cy="1544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0876">
                  <a:extLst>
                    <a:ext uri="{9D8B030D-6E8A-4147-A177-3AD203B41FA5}">
                      <a16:colId xmlns:a16="http://schemas.microsoft.com/office/drawing/2014/main" val="1782744116"/>
                    </a:ext>
                  </a:extLst>
                </a:gridCol>
                <a:gridCol w="2790876">
                  <a:extLst>
                    <a:ext uri="{9D8B030D-6E8A-4147-A177-3AD203B41FA5}">
                      <a16:colId xmlns:a16="http://schemas.microsoft.com/office/drawing/2014/main" val="3507271404"/>
                    </a:ext>
                  </a:extLst>
                </a:gridCol>
                <a:gridCol w="2790876">
                  <a:extLst>
                    <a:ext uri="{9D8B030D-6E8A-4147-A177-3AD203B41FA5}">
                      <a16:colId xmlns:a16="http://schemas.microsoft.com/office/drawing/2014/main" val="3292921390"/>
                    </a:ext>
                  </a:extLst>
                </a:gridCol>
              </a:tblGrid>
              <a:tr h="514713">
                <a:tc>
                  <a:txBody>
                    <a:bodyPr/>
                    <a:lstStyle/>
                    <a:p>
                      <a:r>
                        <a:rPr lang="en-AU" dirty="0"/>
                        <a:t>With the outlier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Outlier removed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effect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024626"/>
                  </a:ext>
                </a:extLst>
              </a:tr>
              <a:tr h="514713">
                <a:tc>
                  <a:txBody>
                    <a:bodyPr/>
                    <a:lstStyle/>
                    <a:p>
                      <a:r>
                        <a:rPr lang="en-AU" dirty="0"/>
                        <a:t>Mean: 17.375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Mean:15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715764"/>
                  </a:ext>
                </a:extLst>
              </a:tr>
              <a:tr h="514713">
                <a:tc>
                  <a:txBody>
                    <a:bodyPr/>
                    <a:lstStyle/>
                    <a:p>
                      <a:r>
                        <a:rPr lang="en-AU" dirty="0"/>
                        <a:t>Median: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Median: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62734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801C7E9-FDF3-4A88-94F5-06CEEAF2CC33}"/>
              </a:ext>
            </a:extLst>
          </p:cNvPr>
          <p:cNvSpPr/>
          <p:nvPr/>
        </p:nvSpPr>
        <p:spPr>
          <a:xfrm>
            <a:off x="2308194" y="3222594"/>
            <a:ext cx="399495" cy="355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2BC0D0-2B88-4643-BDAB-A22559C7ADAC}"/>
              </a:ext>
            </a:extLst>
          </p:cNvPr>
          <p:cNvSpPr txBox="1"/>
          <p:nvPr/>
        </p:nvSpPr>
        <p:spPr>
          <a:xfrm>
            <a:off x="2574524" y="61769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707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00913-14D5-40D7-AFB3-96D5D5448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Shape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54FF7-6820-4E20-837B-B6CC57212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143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Shape of data can be described using symmetrical, positive skew, negative skew or bimodal. Bimodal has 2 peaks, 1 peak is unimodal.</a:t>
            </a:r>
          </a:p>
          <a:p>
            <a:pPr marL="0" indent="0">
              <a:buNone/>
            </a:pPr>
            <a:r>
              <a:rPr lang="en-AU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A71410-3CB1-4F85-A9AF-3A8213C19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925" y="2609063"/>
            <a:ext cx="944880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713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DE256-BF62-4E03-870E-06EB05E84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Describe the shape of the following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BC5090-02D4-4A95-8703-350735940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73" y="1837970"/>
            <a:ext cx="4807996" cy="18688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CD210C-F571-45A9-86CE-E71DD03A0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762" y="1690688"/>
            <a:ext cx="4600575" cy="38385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0FA0504-CDE6-4708-84CE-AD01F6AF3C49}"/>
              </a:ext>
            </a:extLst>
          </p:cNvPr>
          <p:cNvSpPr/>
          <p:nvPr/>
        </p:nvSpPr>
        <p:spPr>
          <a:xfrm>
            <a:off x="8715375" y="3609975"/>
            <a:ext cx="1228725" cy="247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D876ED-A033-4F7C-B5FD-6C72C802E3AD}"/>
              </a:ext>
            </a:extLst>
          </p:cNvPr>
          <p:cNvSpPr txBox="1"/>
          <p:nvPr/>
        </p:nvSpPr>
        <p:spPr>
          <a:xfrm>
            <a:off x="8852683" y="1495672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Bimodal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D92F14-A021-4719-ADFB-F5497F1E24A4}"/>
              </a:ext>
            </a:extLst>
          </p:cNvPr>
          <p:cNvSpPr txBox="1"/>
          <p:nvPr/>
        </p:nvSpPr>
        <p:spPr>
          <a:xfrm>
            <a:off x="2352583" y="4119239"/>
            <a:ext cx="1429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Positive skew</a:t>
            </a:r>
          </a:p>
        </p:txBody>
      </p:sp>
    </p:spTree>
    <p:extLst>
      <p:ext uri="{BB962C8B-B14F-4D97-AF65-F5344CB8AC3E}">
        <p14:creationId xmlns:p14="http://schemas.microsoft.com/office/powerpoint/2010/main" val="1571347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678</Words>
  <Application>Microsoft Office PowerPoint</Application>
  <PresentationFormat>Widescreen</PresentationFormat>
  <Paragraphs>93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Yr11 Revision Lesson</vt:lpstr>
      <vt:lpstr>Types of Data</vt:lpstr>
      <vt:lpstr>Types of data questions</vt:lpstr>
      <vt:lpstr>Measures of average</vt:lpstr>
      <vt:lpstr>Find the mean, median and mode for the following data set</vt:lpstr>
      <vt:lpstr>5 number summaries</vt:lpstr>
      <vt:lpstr>Box and whisker plots</vt:lpstr>
      <vt:lpstr>Find the 5 number summary and draw the box and whisker plot for the following</vt:lpstr>
      <vt:lpstr>Measures of spread</vt:lpstr>
      <vt:lpstr>Answer the following</vt:lpstr>
      <vt:lpstr>Answer the following</vt:lpstr>
      <vt:lpstr>Outliers!</vt:lpstr>
      <vt:lpstr>Shape of data</vt:lpstr>
      <vt:lpstr>Describe the shape of the following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Yr11 revision Quiz</dc:title>
  <dc:creator>MORGAN Adam [Baldivis Secondary College]</dc:creator>
  <cp:lastModifiedBy>MORGAN Adam [Baldivis Secondary College]</cp:lastModifiedBy>
  <cp:revision>16</cp:revision>
  <dcterms:created xsi:type="dcterms:W3CDTF">2021-09-02T01:35:01Z</dcterms:created>
  <dcterms:modified xsi:type="dcterms:W3CDTF">2021-09-02T06:48:55Z</dcterms:modified>
</cp:coreProperties>
</file>
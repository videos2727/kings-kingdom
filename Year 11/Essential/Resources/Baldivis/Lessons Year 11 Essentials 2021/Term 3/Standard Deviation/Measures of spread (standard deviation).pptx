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1ACF3-6295-4983-9E5A-AACC098659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09680-407D-4F7C-AC09-E91C4EAA8B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FCC31-6693-4B6F-81E1-9F9669243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25424-3475-4F16-A3BD-3A7FF8E37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4E02A-ABBA-4B73-BF2E-AEEF6273F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394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B7FCD-E951-469D-8236-7DEA26F39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A6970-1B9F-4C16-981D-771B45736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27047-93FA-49DF-BE91-3E28E1A4D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D3C6E-B2E4-4C08-9E62-5CD38081B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F9D4D-8639-4A5E-8539-8987B51F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235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51AEA-1BEE-4F6F-9B7B-4EF612327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EF548-D62B-4678-9FF7-30D86FCCD8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A8B76-9C35-4293-94D7-D762DBE84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776A3-231F-40FF-958C-D4FA24F0B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9FC03-1381-487F-97DB-11ACFDE2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0361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58260-8A39-4037-8676-DD0F59DC0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F5D84-4A88-4B5B-A819-209409C2F2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BF88B8-D85E-44FE-A584-AE348A4EE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45985-48CF-48CB-8FCD-7A7B255B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01FF64-739F-4C17-8DFE-403FA50A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9A224-8944-4C0D-AADE-115C91BE7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669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B45B-09E1-4DCF-AA3F-D6A0DFA56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C5745-DBCD-444D-AE08-55300CD6B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BBFF99-0C30-49DB-B6DE-AE21C4C3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E53143-A27C-4D56-9A6A-E398BA37F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2F08A2-73CD-4C7F-B2C5-AD7FC1E6E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A5A7A6-F39E-46C2-B323-E7D87DBC1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28BA17-132D-4BEB-B996-F9C230AC4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02EBCA-0DC9-4040-A14D-4F3AA0FF6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4906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1EEC0-7113-4B50-9960-EB33150B6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5DA04D-6120-46E9-B992-5911A2CEE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7990D-CF97-495B-B0A7-C70481457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BBD6E2-F698-4B62-B807-3091938F8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1671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862CBD-98C5-437C-9409-89D4286C6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D090C1-7605-48A6-95AC-A40BCD0C4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C9D8E-BA52-40F2-998A-392E6DED6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798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132C5-E356-46ED-86A7-284D86434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3ABE5-9ABC-45EA-A644-7ED39FDAC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DB275-539B-4BD1-82A5-999545915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30309-29C5-4B5E-A951-5029319FE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5838F7-1294-443B-9B97-3D228680C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E7421-D84A-4D94-9FB6-BF4203B1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008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14C4E-79E4-4EFB-80A9-9324B78E1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718825E-2E5B-49BB-8D97-951670833E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9FFCF-3415-42E6-B1E3-357A74D084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A8A091-8541-486D-AA60-56985728D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E349C6-E2B0-4EAF-983B-E9F1FC7D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157063-1FCE-4041-B83E-D6848456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33515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F81F5-F38F-497E-82EA-D8A403CA4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E90D5A-8757-4467-8F77-F8F75B5AD0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4C325-234B-4EB5-BCA5-58B062B00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88622D-EB29-40BB-9F7B-62CE4814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2A9CA-272E-449C-9A68-EBD9BCDFC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8963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50EDFB-BD73-4E8D-A4EA-A22427F679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520A37-BE78-4902-B1C7-7C91A32EDB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716031-C73B-45A8-B930-D9B99FEAE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4C2686-1672-4DB2-A6C1-E212F70AD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BC0B0-9990-4123-9CA8-CA6436126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3517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F5676D-D7A9-4726-B864-3D8EA201B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CE8683-3A72-4532-B225-5877CAD0D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0FFD6B-524D-4CAE-8C96-2D15DB9AE8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1A9146-A32E-4E0E-91F8-578F6472F162}" type="datetimeFigureOut">
              <a:rPr lang="en-AU" smtClean="0"/>
              <a:t>31/08/2021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4B08C-75F2-41DD-B14F-7602BBD50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98DEA2-6FCE-4CF8-BE59-0D1BA2E948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AF0A-1D30-4884-B845-327F4C1D4F0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4545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2DD9D-C9BF-4C5A-9532-1F3D4CC171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Measures of spread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BE8651-AF5F-4F9D-A79B-69F784CD17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AU" dirty="0"/>
              <a:t>EQ: How can we use different measures of spread?</a:t>
            </a:r>
          </a:p>
          <a:p>
            <a:endParaRPr lang="en-AU" dirty="0"/>
          </a:p>
          <a:p>
            <a:r>
              <a:rPr lang="en-AU" dirty="0"/>
              <a:t>Syllabus point: 2.1.12 interpret statistical measures of spread, such as: the range, interquartile range and standard deviation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299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46C60-D975-4632-9E94-59D10ED99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First 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D6E09-7C3D-4A22-B479-7456BA47C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925" y="1585118"/>
            <a:ext cx="13721576" cy="5787562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For the following dot plot</a:t>
            </a:r>
          </a:p>
          <a:p>
            <a:pPr marL="0" indent="0">
              <a:buNone/>
            </a:pPr>
            <a:endParaRPr lang="en-AU" dirty="0"/>
          </a:p>
        </p:txBody>
      </p:sp>
      <p:pic>
        <p:nvPicPr>
          <p:cNvPr id="1026" name="Picture 2" descr="IXL | Dot plots">
            <a:extLst>
              <a:ext uri="{FF2B5EF4-FFF2-40B4-BE49-F238E27FC236}">
                <a16:creationId xmlns:a16="http://schemas.microsoft.com/office/drawing/2014/main" id="{C1C67CEF-6F8E-4BE8-A6DF-D039D7FC3B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460" y="2265867"/>
            <a:ext cx="4155389" cy="19383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BDD968-9351-4638-886F-73B795A04208}"/>
              </a:ext>
            </a:extLst>
          </p:cNvPr>
          <p:cNvSpPr txBox="1"/>
          <p:nvPr/>
        </p:nvSpPr>
        <p:spPr>
          <a:xfrm>
            <a:off x="5180145" y="2265867"/>
            <a:ext cx="45535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Calculate the Mean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Calculate the Mode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Calculate the Median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Calculate the Range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AU" dirty="0"/>
              <a:t>Challenge: Calculate the interquartile range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39736B-FA18-4C15-909C-17126EBC8424}"/>
              </a:ext>
            </a:extLst>
          </p:cNvPr>
          <p:cNvSpPr txBox="1"/>
          <p:nvPr/>
        </p:nvSpPr>
        <p:spPr>
          <a:xfrm>
            <a:off x="5180145" y="178942"/>
            <a:ext cx="652441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Measures of spread</a:t>
            </a:r>
          </a:p>
          <a:p>
            <a:r>
              <a:rPr lang="en-AU" sz="2400" dirty="0"/>
              <a:t>EQ: How can we use different measures of spread?</a:t>
            </a:r>
          </a:p>
        </p:txBody>
      </p:sp>
    </p:spTree>
    <p:extLst>
      <p:ext uri="{BB962C8B-B14F-4D97-AF65-F5344CB8AC3E}">
        <p14:creationId xmlns:p14="http://schemas.microsoft.com/office/powerpoint/2010/main" val="35048855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5C81-8CF6-44ED-8965-97CB46972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err="1"/>
              <a:t>Quickwrite</a:t>
            </a:r>
            <a:r>
              <a:rPr lang="en-AU" dirty="0"/>
              <a:t> 2mins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894F1-9DF1-4656-B56B-003CC9EF7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423" y="147361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Write down what you think a measure of spread and/or list all the measures of spread you know</a:t>
            </a:r>
          </a:p>
        </p:txBody>
      </p:sp>
      <p:pic>
        <p:nvPicPr>
          <p:cNvPr id="2050" name="Picture 2" descr="Nutella Hazelnut Chocolate Spread Spread 220g | Woolworths">
            <a:extLst>
              <a:ext uri="{FF2B5EF4-FFF2-40B4-BE49-F238E27FC236}">
                <a16:creationId xmlns:a16="http://schemas.microsoft.com/office/drawing/2014/main" id="{B231DAB7-36A5-4ABD-8142-7F9A9C289C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466" y="5321558"/>
            <a:ext cx="975064" cy="97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rrow: Right 3">
            <a:extLst>
              <a:ext uri="{FF2B5EF4-FFF2-40B4-BE49-F238E27FC236}">
                <a16:creationId xmlns:a16="http://schemas.microsoft.com/office/drawing/2014/main" id="{BCBC3FB7-78D6-417C-8C6F-1A2E44B61F52}"/>
              </a:ext>
            </a:extLst>
          </p:cNvPr>
          <p:cNvSpPr/>
          <p:nvPr/>
        </p:nvSpPr>
        <p:spPr>
          <a:xfrm>
            <a:off x="5114925" y="4001294"/>
            <a:ext cx="2819400" cy="18565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This is </a:t>
            </a:r>
            <a:r>
              <a:rPr lang="en-AU" b="1" u="sng" dirty="0"/>
              <a:t>not</a:t>
            </a:r>
            <a:r>
              <a:rPr lang="en-AU" dirty="0"/>
              <a:t> a measure of spread!</a:t>
            </a:r>
          </a:p>
        </p:txBody>
      </p:sp>
      <p:pic>
        <p:nvPicPr>
          <p:cNvPr id="6" name="Picture 2" descr="Nutella Hazelnut Chocolate Spread Spread 220g | Woolworths">
            <a:extLst>
              <a:ext uri="{FF2B5EF4-FFF2-40B4-BE49-F238E27FC236}">
                <a16:creationId xmlns:a16="http://schemas.microsoft.com/office/drawing/2014/main" id="{EDC19EF8-56CE-4C9D-8867-DF8D23CFD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466" y="3371430"/>
            <a:ext cx="975064" cy="97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Nutella Hazelnut Chocolate Spread Spread 220g | Woolworths">
            <a:extLst>
              <a:ext uri="{FF2B5EF4-FFF2-40B4-BE49-F238E27FC236}">
                <a16:creationId xmlns:a16="http://schemas.microsoft.com/office/drawing/2014/main" id="{BAB548E4-5F82-4588-8A83-43FB8F1027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466" y="4346494"/>
            <a:ext cx="975064" cy="975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abby cat sitting photo | Tabby cat, Cat pose, Cat anatomy">
            <a:extLst>
              <a:ext uri="{FF2B5EF4-FFF2-40B4-BE49-F238E27FC236}">
                <a16:creationId xmlns:a16="http://schemas.microsoft.com/office/drawing/2014/main" id="{E3787780-3114-44DC-A154-635524C60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9411" y="3295319"/>
            <a:ext cx="2482328" cy="3001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A5B337FE-BA4E-4086-8045-DF2019DE15B3}"/>
              </a:ext>
            </a:extLst>
          </p:cNvPr>
          <p:cNvSpPr/>
          <p:nvPr/>
        </p:nvSpPr>
        <p:spPr>
          <a:xfrm>
            <a:off x="9499107" y="2361460"/>
            <a:ext cx="1651246" cy="1067540"/>
          </a:xfrm>
          <a:prstGeom prst="wedgeRoundRectCallo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My cat is 3 </a:t>
            </a:r>
            <a:r>
              <a:rPr lang="en-AU" dirty="0" err="1"/>
              <a:t>nutellas</a:t>
            </a:r>
            <a:r>
              <a:rPr lang="en-AU" dirty="0"/>
              <a:t> high!</a:t>
            </a:r>
          </a:p>
        </p:txBody>
      </p:sp>
    </p:spTree>
    <p:extLst>
      <p:ext uri="{BB962C8B-B14F-4D97-AF65-F5344CB8AC3E}">
        <p14:creationId xmlns:p14="http://schemas.microsoft.com/office/powerpoint/2010/main" val="3399914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8CC0A-73BD-4C24-B0A7-0818C3CC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91270" y="1825625"/>
            <a:ext cx="7962530" cy="4351338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Measures of spread measure how spread out your data is.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The 3 measures of spread we will be using are Range, Interquartile and Standard deviation.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The bigger you range, IQR and Standard deviation are the more spread out your data is. (less consistent)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409BC-FF01-423F-8BE6-F21618A2853C}"/>
              </a:ext>
            </a:extLst>
          </p:cNvPr>
          <p:cNvSpPr txBox="1"/>
          <p:nvPr/>
        </p:nvSpPr>
        <p:spPr>
          <a:xfrm>
            <a:off x="612559" y="230819"/>
            <a:ext cx="92911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Measures of Spread | EQ: How can we use different measures of spread?</a:t>
            </a:r>
          </a:p>
          <a:p>
            <a:endParaRPr lang="en-AU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9D902D-CAA0-4C74-991D-D3FB3C5CCD11}"/>
              </a:ext>
            </a:extLst>
          </p:cNvPr>
          <p:cNvCxnSpPr/>
          <p:nvPr/>
        </p:nvCxnSpPr>
        <p:spPr>
          <a:xfrm>
            <a:off x="133165" y="1154097"/>
            <a:ext cx="119138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75AFB0-00CE-4794-BCD7-DCB884F54312}"/>
              </a:ext>
            </a:extLst>
          </p:cNvPr>
          <p:cNvCxnSpPr/>
          <p:nvPr/>
        </p:nvCxnSpPr>
        <p:spPr>
          <a:xfrm flipH="1">
            <a:off x="2530136" y="1154097"/>
            <a:ext cx="71021" cy="58326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240AC8-7859-42D1-9709-CDF48088234B}"/>
              </a:ext>
            </a:extLst>
          </p:cNvPr>
          <p:cNvSpPr txBox="1"/>
          <p:nvPr/>
        </p:nvSpPr>
        <p:spPr>
          <a:xfrm>
            <a:off x="284086" y="1615734"/>
            <a:ext cx="2281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are measures of spread?</a:t>
            </a:r>
          </a:p>
        </p:txBody>
      </p:sp>
    </p:spTree>
    <p:extLst>
      <p:ext uri="{BB962C8B-B14F-4D97-AF65-F5344CB8AC3E}">
        <p14:creationId xmlns:p14="http://schemas.microsoft.com/office/powerpoint/2010/main" val="3023730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8CC0A-73BD-4C24-B0A7-0818C3CC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1472" y="1352565"/>
            <a:ext cx="796253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/>
              <a:t>Standard deviation: </a:t>
            </a:r>
          </a:p>
          <a:p>
            <a:pPr marL="0" indent="0">
              <a:buNone/>
            </a:pPr>
            <a:r>
              <a:rPr lang="en-AU" sz="2400" dirty="0"/>
              <a:t>The average distance each data point is from the mean.</a:t>
            </a:r>
          </a:p>
          <a:p>
            <a:pPr marL="0" indent="0">
              <a:buNone/>
            </a:pPr>
            <a:r>
              <a:rPr lang="en-AU" sz="2400" dirty="0"/>
              <a:t>To calculate is we use this formula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409BC-FF01-423F-8BE6-F21618A2853C}"/>
              </a:ext>
            </a:extLst>
          </p:cNvPr>
          <p:cNvSpPr txBox="1"/>
          <p:nvPr/>
        </p:nvSpPr>
        <p:spPr>
          <a:xfrm>
            <a:off x="612559" y="230819"/>
            <a:ext cx="92911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Measures of Spread | EQ: How can we use different measures of spread?</a:t>
            </a:r>
          </a:p>
          <a:p>
            <a:endParaRPr lang="en-AU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09D902D-CAA0-4C74-991D-D3FB3C5CCD11}"/>
              </a:ext>
            </a:extLst>
          </p:cNvPr>
          <p:cNvCxnSpPr/>
          <p:nvPr/>
        </p:nvCxnSpPr>
        <p:spPr>
          <a:xfrm>
            <a:off x="133165" y="1154097"/>
            <a:ext cx="1191383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75AFB0-00CE-4794-BCD7-DCB884F54312}"/>
              </a:ext>
            </a:extLst>
          </p:cNvPr>
          <p:cNvCxnSpPr>
            <a:cxnSpLocks/>
          </p:cNvCxnSpPr>
          <p:nvPr/>
        </p:nvCxnSpPr>
        <p:spPr>
          <a:xfrm flipH="1">
            <a:off x="2565646" y="1154097"/>
            <a:ext cx="35512" cy="560692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F240AC8-7859-42D1-9709-CDF48088234B}"/>
              </a:ext>
            </a:extLst>
          </p:cNvPr>
          <p:cNvSpPr txBox="1"/>
          <p:nvPr/>
        </p:nvSpPr>
        <p:spPr>
          <a:xfrm>
            <a:off x="284086" y="1615734"/>
            <a:ext cx="2281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What is standard deviation?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D655B30-FDF6-40E0-BB89-DA679D031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9642" y="2665937"/>
            <a:ext cx="4194112" cy="130238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3F3C70E-C957-4493-912F-0C711941012F}"/>
              </a:ext>
            </a:extLst>
          </p:cNvPr>
          <p:cNvSpPr txBox="1"/>
          <p:nvPr/>
        </p:nvSpPr>
        <p:spPr>
          <a:xfrm>
            <a:off x="8765488" y="2828835"/>
            <a:ext cx="284462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Luckily calculators and excel can calculate this for you, you just need to understand what it shows</a:t>
            </a:r>
          </a:p>
        </p:txBody>
      </p:sp>
    </p:spTree>
    <p:extLst>
      <p:ext uri="{BB962C8B-B14F-4D97-AF65-F5344CB8AC3E}">
        <p14:creationId xmlns:p14="http://schemas.microsoft.com/office/powerpoint/2010/main" val="813768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00CD-75A8-43E8-9C6E-6ACDB1DB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1" y="365125"/>
            <a:ext cx="11478828" cy="1325563"/>
          </a:xfrm>
        </p:spPr>
        <p:txBody>
          <a:bodyPr>
            <a:normAutofit/>
          </a:bodyPr>
          <a:lstStyle/>
          <a:p>
            <a:r>
              <a:rPr lang="en-AU" b="1" dirty="0"/>
              <a:t>Calculate the mean for the following 3 sets of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F17C8-2F28-466B-BF10-1B6A7FACC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121894" cy="4351338"/>
          </a:xfrm>
        </p:spPr>
        <p:txBody>
          <a:bodyPr>
            <a:normAutofit/>
          </a:bodyPr>
          <a:lstStyle/>
          <a:p>
            <a:pPr marL="914400" indent="-914400">
              <a:buFont typeface="+mj-lt"/>
              <a:buAutoNum type="alphaLcParenR"/>
            </a:pPr>
            <a:r>
              <a:rPr lang="en-AU" sz="4800" dirty="0"/>
              <a:t>8, 9, 10, 11, 12</a:t>
            </a:r>
          </a:p>
          <a:p>
            <a:pPr marL="914400" indent="-914400">
              <a:buFont typeface="+mj-lt"/>
              <a:buAutoNum type="alphaLcParenR"/>
            </a:pPr>
            <a:endParaRPr lang="en-AU" sz="4800" dirty="0"/>
          </a:p>
          <a:p>
            <a:pPr marL="914400" indent="-914400">
              <a:buFont typeface="+mj-lt"/>
              <a:buAutoNum type="alphaLcParenR"/>
            </a:pPr>
            <a:r>
              <a:rPr lang="en-AU" sz="4800" dirty="0"/>
              <a:t>9, 10, 10, 10, 11</a:t>
            </a:r>
          </a:p>
          <a:p>
            <a:pPr marL="914400" indent="-914400">
              <a:buFont typeface="+mj-lt"/>
              <a:buAutoNum type="alphaLcParenR"/>
            </a:pPr>
            <a:endParaRPr lang="en-AU" sz="4800" dirty="0"/>
          </a:p>
          <a:p>
            <a:pPr marL="914400" indent="-914400">
              <a:buFont typeface="+mj-lt"/>
              <a:buAutoNum type="alphaLcParenR"/>
            </a:pPr>
            <a:r>
              <a:rPr lang="en-AU" sz="4800" dirty="0"/>
              <a:t>10, 10, 10, 10, 10</a:t>
            </a:r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3016C0-2B7E-4C47-8653-110E728D2379}"/>
              </a:ext>
            </a:extLst>
          </p:cNvPr>
          <p:cNvSpPr/>
          <p:nvPr/>
        </p:nvSpPr>
        <p:spPr>
          <a:xfrm>
            <a:off x="7830105" y="2681056"/>
            <a:ext cx="3400147" cy="22549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Answer:</a:t>
            </a:r>
          </a:p>
          <a:p>
            <a:pPr algn="ctr"/>
            <a:r>
              <a:rPr lang="en-AU" dirty="0"/>
              <a:t>All the means are 10</a:t>
            </a:r>
          </a:p>
        </p:txBody>
      </p:sp>
    </p:spTree>
    <p:extLst>
      <p:ext uri="{BB962C8B-B14F-4D97-AF65-F5344CB8AC3E}">
        <p14:creationId xmlns:p14="http://schemas.microsoft.com/office/powerpoint/2010/main" val="2456351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00CD-75A8-43E8-9C6E-6ACDB1DB3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51" y="365125"/>
            <a:ext cx="11478828" cy="1325563"/>
          </a:xfrm>
        </p:spPr>
        <p:txBody>
          <a:bodyPr>
            <a:normAutofit/>
          </a:bodyPr>
          <a:lstStyle/>
          <a:p>
            <a:r>
              <a:rPr lang="en-AU" b="1" dirty="0"/>
              <a:t>Rank them in ascending order according to their standard deviation.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F17C8-2F28-466B-BF10-1B6A7FACC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6246181" cy="4351338"/>
          </a:xfrm>
        </p:spPr>
        <p:txBody>
          <a:bodyPr>
            <a:normAutofit/>
          </a:bodyPr>
          <a:lstStyle/>
          <a:p>
            <a:pPr marL="914400" indent="-914400">
              <a:buFont typeface="+mj-lt"/>
              <a:buAutoNum type="alphaLcParenR"/>
            </a:pPr>
            <a:r>
              <a:rPr lang="en-AU" sz="4800" dirty="0"/>
              <a:t>8, 9, 10, 11, 12</a:t>
            </a:r>
          </a:p>
          <a:p>
            <a:pPr marL="914400" indent="-914400">
              <a:buFont typeface="+mj-lt"/>
              <a:buAutoNum type="alphaLcParenR"/>
            </a:pPr>
            <a:endParaRPr lang="en-AU" sz="4800" dirty="0"/>
          </a:p>
          <a:p>
            <a:pPr marL="914400" indent="-914400">
              <a:buFont typeface="+mj-lt"/>
              <a:buAutoNum type="alphaLcParenR"/>
            </a:pPr>
            <a:r>
              <a:rPr lang="en-AU" sz="4800" dirty="0"/>
              <a:t>9, 10, 10, 10, 11</a:t>
            </a:r>
          </a:p>
          <a:p>
            <a:pPr marL="914400" indent="-914400">
              <a:buFont typeface="+mj-lt"/>
              <a:buAutoNum type="alphaLcParenR"/>
            </a:pPr>
            <a:endParaRPr lang="en-AU" sz="4800" dirty="0"/>
          </a:p>
          <a:p>
            <a:pPr marL="914400" indent="-914400">
              <a:buFont typeface="+mj-lt"/>
              <a:buAutoNum type="alphaLcParenR"/>
            </a:pPr>
            <a:r>
              <a:rPr lang="en-AU" sz="4800" dirty="0"/>
              <a:t>10, 10, 10, 10, 10</a:t>
            </a:r>
          </a:p>
          <a:p>
            <a:pPr marL="0" indent="0">
              <a:buNone/>
            </a:pPr>
            <a:endParaRPr lang="en-AU" sz="4800" dirty="0"/>
          </a:p>
          <a:p>
            <a:pPr marL="914400" indent="-914400">
              <a:buFont typeface="+mj-lt"/>
              <a:buAutoNum type="alphaLcParenR"/>
            </a:pPr>
            <a:endParaRPr lang="en-AU" sz="4800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E4511B5-DDE2-4134-AF5D-1E8029E1E6EC}"/>
              </a:ext>
            </a:extLst>
          </p:cNvPr>
          <p:cNvSpPr/>
          <p:nvPr/>
        </p:nvSpPr>
        <p:spPr>
          <a:xfrm>
            <a:off x="7359588" y="1917577"/>
            <a:ext cx="4341181" cy="302728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Correct order</a:t>
            </a:r>
          </a:p>
          <a:p>
            <a:pPr algn="ctr"/>
            <a:r>
              <a:rPr lang="en-AU" dirty="0"/>
              <a:t>C, B, A</a:t>
            </a:r>
          </a:p>
          <a:p>
            <a:pPr algn="ctr"/>
            <a:endParaRPr lang="en-AU" dirty="0"/>
          </a:p>
          <a:p>
            <a:pPr algn="ctr"/>
            <a:r>
              <a:rPr lang="en-AU" dirty="0"/>
              <a:t>c) Has a standard deviation of 0 as all the scores are the same.</a:t>
            </a:r>
          </a:p>
        </p:txBody>
      </p:sp>
    </p:spTree>
    <p:extLst>
      <p:ext uri="{BB962C8B-B14F-4D97-AF65-F5344CB8AC3E}">
        <p14:creationId xmlns:p14="http://schemas.microsoft.com/office/powerpoint/2010/main" val="332295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59DD267-B117-46CE-BF46-ED36F28B3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75" y="334900"/>
            <a:ext cx="7439025" cy="25622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F9DE65-C7C5-4936-8F4B-7FF949D69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975" y="3692371"/>
            <a:ext cx="73818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307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59B98D6-D97D-496C-8593-C13DE339E8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64" y="236571"/>
            <a:ext cx="6982611" cy="43852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7B4151-0CCE-477B-A9A3-30CEC74F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3711" y="4621829"/>
            <a:ext cx="7591425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377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99731-F8BD-4091-8813-976705E21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Closure summary sentence 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FF124-5B38-4D83-9D95-657B6340E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049" y="1825625"/>
            <a:ext cx="10776751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en-AU" dirty="0"/>
          </a:p>
          <a:p>
            <a:pPr marL="0" indent="0">
              <a:lnSpc>
                <a:spcPct val="150000"/>
              </a:lnSpc>
              <a:buNone/>
            </a:pPr>
            <a:r>
              <a:rPr lang="en-AU" sz="3200" dirty="0"/>
              <a:t>Measures of spread tell us how spread out the data is. The common ones we use are range, interquartile range and standard deviation.</a:t>
            </a:r>
          </a:p>
          <a:p>
            <a:pPr marL="0" indent="0">
              <a:lnSpc>
                <a:spcPct val="150000"/>
              </a:lnSpc>
              <a:buNone/>
            </a:pPr>
            <a:endParaRPr lang="en-AU" sz="3200" dirty="0"/>
          </a:p>
          <a:p>
            <a:pPr marL="0" indent="0">
              <a:lnSpc>
                <a:spcPct val="150000"/>
              </a:lnSpc>
              <a:buNone/>
            </a:pPr>
            <a:r>
              <a:rPr lang="en-AU" sz="3200" dirty="0"/>
              <a:t>The larger the measure of spread is the more spread out the data is.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4C3D8C-6F87-4B19-B0C6-0E8AFB98027E}"/>
              </a:ext>
            </a:extLst>
          </p:cNvPr>
          <p:cNvSpPr/>
          <p:nvPr/>
        </p:nvSpPr>
        <p:spPr>
          <a:xfrm>
            <a:off x="9321552" y="3263569"/>
            <a:ext cx="1544715" cy="316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10FF96-6CF0-4307-B7AE-C669C17D6C3F}"/>
              </a:ext>
            </a:extLst>
          </p:cNvPr>
          <p:cNvSpPr/>
          <p:nvPr/>
        </p:nvSpPr>
        <p:spPr>
          <a:xfrm>
            <a:off x="1242873" y="4900474"/>
            <a:ext cx="1065320" cy="316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7F1E84-96C9-4716-8164-A180361304AE}"/>
              </a:ext>
            </a:extLst>
          </p:cNvPr>
          <p:cNvSpPr/>
          <p:nvPr/>
        </p:nvSpPr>
        <p:spPr>
          <a:xfrm>
            <a:off x="7723203" y="4900474"/>
            <a:ext cx="1065320" cy="316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7A501B-A4E1-4BBA-98DB-794387AF97CC}"/>
              </a:ext>
            </a:extLst>
          </p:cNvPr>
          <p:cNvSpPr/>
          <p:nvPr/>
        </p:nvSpPr>
        <p:spPr>
          <a:xfrm>
            <a:off x="2627047" y="2603698"/>
            <a:ext cx="1065320" cy="316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DBB18-4B34-48C4-8A7B-C41A02E6DFB5}"/>
              </a:ext>
            </a:extLst>
          </p:cNvPr>
          <p:cNvSpPr/>
          <p:nvPr/>
        </p:nvSpPr>
        <p:spPr>
          <a:xfrm>
            <a:off x="3253661" y="3263569"/>
            <a:ext cx="877411" cy="3601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2779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391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Measures of spread</vt:lpstr>
      <vt:lpstr>First 5</vt:lpstr>
      <vt:lpstr>Quickwrite 2mins</vt:lpstr>
      <vt:lpstr>PowerPoint Presentation</vt:lpstr>
      <vt:lpstr>PowerPoint Presentation</vt:lpstr>
      <vt:lpstr>Calculate the mean for the following 3 sets of data </vt:lpstr>
      <vt:lpstr>Rank them in ascending order according to their standard deviation.</vt:lpstr>
      <vt:lpstr>PowerPoint Presentation</vt:lpstr>
      <vt:lpstr>PowerPoint Presentation</vt:lpstr>
      <vt:lpstr>Closure summary sentence frame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Measures of spread</dc:title>
  <dc:creator>MORGAN Adam [Baldivis Secondary College]</dc:creator>
  <cp:lastModifiedBy>MORGAN Adam [Baldivis Secondary College]</cp:lastModifiedBy>
  <cp:revision>9</cp:revision>
  <dcterms:created xsi:type="dcterms:W3CDTF">2021-08-31T06:12:50Z</dcterms:created>
  <dcterms:modified xsi:type="dcterms:W3CDTF">2021-08-31T07:12:22Z</dcterms:modified>
</cp:coreProperties>
</file>
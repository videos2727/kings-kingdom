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74" r:id="rId3"/>
    <p:sldId id="276" r:id="rId4"/>
    <p:sldId id="267" r:id="rId5"/>
    <p:sldId id="262" r:id="rId6"/>
    <p:sldId id="268" r:id="rId7"/>
    <p:sldId id="269" r:id="rId8"/>
    <p:sldId id="27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055"/>
    <p:restoredTop sz="96208"/>
  </p:normalViewPr>
  <p:slideViewPr>
    <p:cSldViewPr snapToGrid="0" snapToObjects="1">
      <p:cViewPr varScale="1">
        <p:scale>
          <a:sx n="54" d="100"/>
          <a:sy n="54" d="100"/>
        </p:scale>
        <p:origin x="108" y="1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75BCB6-9767-3F44-8B49-26DF87AB14AD}" type="datetimeFigureOut">
              <a:rPr lang="en-US" smtClean="0"/>
              <a:t>8/21/2021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5741B9-9A14-7647-AC60-E7CC6BF86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34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724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65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5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068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8789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A441A-5DEC-904D-BE01-369FD11E03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BDE863-B729-AF48-B12B-9EC9BFCB79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6ECD1-B8C1-984D-897A-F7489004B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18271-2440-F948-B7C8-EEE922F234D1}" type="datetimeFigureOut">
              <a:rPr lang="en-US" smtClean="0"/>
              <a:t>8/21/2021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55337-AC05-7143-AE06-49B42007C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6CBAA-3E1F-9F4C-93BA-D4ADD1176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14F2-3979-A142-B261-C39CC3BA7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847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8F5E6-19C0-4346-8A33-D5A4E5242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20C23-E10C-114B-B089-3252AD78B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4EBA5-E0A1-3E4E-A78C-11B249D5B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18271-2440-F948-B7C8-EEE922F234D1}" type="datetimeFigureOut">
              <a:rPr lang="en-US" smtClean="0"/>
              <a:t>8/21/2021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6717B-5B23-CC45-A21D-A2DAE9A6B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9D5A2-6A3F-3F44-B5E3-0EF7D512F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14F2-3979-A142-B261-C39CC3BA7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168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72510-FFF9-BB42-A708-3D02E20B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33251-2EF2-8845-BD71-3F198A2AF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18F37-E5CC-B842-BA64-034CCEB04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18271-2440-F948-B7C8-EEE922F234D1}" type="datetimeFigureOut">
              <a:rPr lang="en-US" smtClean="0"/>
              <a:t>8/21/2021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3873E-9CCC-AD4D-B9F9-8BC7BC035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8A279-84FD-9343-934D-87790D60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14F2-3979-A142-B261-C39CC3BA7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740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4446B-BC87-384F-9763-DA43629E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87E0E-EFE0-E34F-9EBA-C0BC4F87AD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5A1CEC-229C-284B-8B7F-03EB50308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3B965-E441-F04E-9781-E92792A53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18271-2440-F948-B7C8-EEE922F234D1}" type="datetimeFigureOut">
              <a:rPr lang="en-US" smtClean="0"/>
              <a:t>8/21/2021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FE1B4-48B2-E143-A6AD-139B99474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830BEB-A8EE-954C-8040-82B77CCF9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14F2-3979-A142-B261-C39CC3BA7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727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8C9A7-B22F-064D-90CC-0F6195337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88244-BDE4-6F4A-9709-FF2490429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87D78-ABEB-0E4C-80E6-B0D70236EF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4DFE33-F27F-4645-96F7-E7443FE83C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0721-8FB4-DA44-AC15-D139089D95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E87710-59DC-6247-BA46-1E83E9270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18271-2440-F948-B7C8-EEE922F234D1}" type="datetimeFigureOut">
              <a:rPr lang="en-US" smtClean="0"/>
              <a:t>8/21/2021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B975F-2EE1-844D-A497-493AA805D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33F2BF-74FE-0C4A-A7D5-2597A95EF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14F2-3979-A142-B261-C39CC3BA7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155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385EE-E38A-934A-9E05-597FE62B3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C53D68-DAEC-1F45-ABC5-6DA76824A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18271-2440-F948-B7C8-EEE922F234D1}" type="datetimeFigureOut">
              <a:rPr lang="en-US" smtClean="0"/>
              <a:t>8/21/2021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0677D4-14BE-D649-B88C-F9CEBFB19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1830C-631F-A64C-AA94-FD7343EBE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14F2-3979-A142-B261-C39CC3BA7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721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002B96-6B5B-D343-9A16-EFBB35C9B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18271-2440-F948-B7C8-EEE922F234D1}" type="datetimeFigureOut">
              <a:rPr lang="en-US" smtClean="0"/>
              <a:t>8/21/2021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9A7EE7-669C-1A46-9B20-DB71ED37C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02C75-7E09-1949-9C6F-051C24966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14F2-3979-A142-B261-C39CC3BA7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965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CDC0-0FDD-D34F-9320-C9C20CA6A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D936B-0331-2E4D-8150-52A938D06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0C474-A9C7-8B4A-A3C0-5A23A88CD5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F01C47-4EEC-7E42-968A-4C46C6515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18271-2440-F948-B7C8-EEE922F234D1}" type="datetimeFigureOut">
              <a:rPr lang="en-US" smtClean="0"/>
              <a:t>8/21/2021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96839-C2B7-904E-AA4B-5B94EBA4D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2FB4E-D3AD-584D-A448-92EFFCFCE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14F2-3979-A142-B261-C39CC3BA7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6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ADC2B-619C-A24D-943C-2484422A1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217D6D-3184-994F-99EA-98770210CA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C97C3B-355E-444A-A631-E471C1A0B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226B82-999D-5D42-81E8-0C54EEBE9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18271-2440-F948-B7C8-EEE922F234D1}" type="datetimeFigureOut">
              <a:rPr lang="en-US" smtClean="0"/>
              <a:t>8/21/2021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3145A-F977-BA4F-B737-C91C6A8B0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A4FB59-E940-1A45-AAE5-F305762E3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14F2-3979-A142-B261-C39CC3BA7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54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81D14-97F1-1B43-A3B5-DB4F07EFD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B13975-EBE6-644A-A0EE-74938FA8C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1E857-0792-9D47-A89A-D8023C490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18271-2440-F948-B7C8-EEE922F234D1}" type="datetimeFigureOut">
              <a:rPr lang="en-US" smtClean="0"/>
              <a:t>8/21/2021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F644F-FF4C-0D4B-AF9C-BCD04A629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01C14-73A5-E046-B672-87F7D6746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14F2-3979-A142-B261-C39CC3BA7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75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DBF60C-9AD8-984A-8923-471117F514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8A9F6C-749B-6A47-ABDE-901549CCED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23B94-6655-B84B-BF94-AAC544BFD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18271-2440-F948-B7C8-EEE922F234D1}" type="datetimeFigureOut">
              <a:rPr lang="en-US" smtClean="0"/>
              <a:t>8/21/2021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2E80C-997A-6D44-B4AF-11E57FA0E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90007-7A6F-7143-8103-B9F4065AE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14F2-3979-A142-B261-C39CC3BA7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868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17614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AED074-847E-6543-9A97-585B6432E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823ED-12F5-EA41-96C6-1D1CFBE4E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48684-B3AA-B74D-BFBA-A0593B2E32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18271-2440-F948-B7C8-EEE922F234D1}" type="datetimeFigureOut">
              <a:rPr lang="en-US" smtClean="0"/>
              <a:t>8/21/2021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923C6-2524-A746-8F4E-F07ED5DBBF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B16F6-AD62-7044-B9AC-38CD616320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B14F2-3979-A142-B261-C39CC3BA7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35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798661-52EA-4ED4-B4D5-5FEE6A2E64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Freeform 5">
            <a:extLst>
              <a:ext uri="{FF2B5EF4-FFF2-40B4-BE49-F238E27FC236}">
                <a16:creationId xmlns:a16="http://schemas.microsoft.com/office/drawing/2014/main" id="{87CC2527-562A-4F69-B487-4371E5B24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7488621" y="2277613"/>
            <a:ext cx="4703379" cy="4580387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C9C589-03F9-7346-A8B5-0483C94A1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2021" y="3231931"/>
            <a:ext cx="3852041" cy="1834056"/>
          </a:xfrm>
        </p:spPr>
        <p:txBody>
          <a:bodyPr>
            <a:normAutofit/>
          </a:bodyPr>
          <a:lstStyle/>
          <a:p>
            <a:r>
              <a:rPr lang="en-US" sz="4000" dirty="0"/>
              <a:t>Measures of Spread – What and When?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11A78-D88D-564D-BB0F-FE5E646C2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2910" y="5242675"/>
            <a:ext cx="4330262" cy="683284"/>
          </a:xfrm>
        </p:spPr>
        <p:txBody>
          <a:bodyPr>
            <a:normAutofit/>
          </a:bodyPr>
          <a:lstStyle/>
          <a:p>
            <a:endParaRPr lang="en-US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CDAEC91-5BCE-4B55-9CC0-43EF94CB7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80331" y="5123793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327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5719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Measuring the Centre of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measure the centre of the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DE18B10-35DC-4162-9897-1D0E23064AB1}"/>
              </a:ext>
            </a:extLst>
          </p:cNvPr>
          <p:cNvSpPr txBox="1"/>
          <p:nvPr/>
        </p:nvSpPr>
        <p:spPr>
          <a:xfrm>
            <a:off x="0" y="1556611"/>
            <a:ext cx="1845938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Choosing the correct measure of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EFDF29-BBD5-4166-9EA2-1946F4968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0309" y="4455843"/>
            <a:ext cx="4140105" cy="23925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98EEA51-ED2C-4156-A9ED-F426F93A426D}"/>
              </a:ext>
            </a:extLst>
          </p:cNvPr>
          <p:cNvSpPr txBox="1"/>
          <p:nvPr/>
        </p:nvSpPr>
        <p:spPr>
          <a:xfrm>
            <a:off x="1973464" y="1574750"/>
            <a:ext cx="9544926" cy="3784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There  </a:t>
            </a:r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three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 measures that are used previously were: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marL="914400" lvl="1" indent="-457200" defTabSz="914126">
              <a:buFont typeface="+mj-lt"/>
              <a:buAutoNum type="arabicPeriod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Mode – Most Common</a:t>
            </a:r>
          </a:p>
          <a:p>
            <a:pPr marL="914400" lvl="1" indent="-457200" defTabSz="914126">
              <a:buFont typeface="+mj-lt"/>
              <a:buAutoNum type="arabicPeriod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Mean – The Average</a:t>
            </a:r>
          </a:p>
          <a:p>
            <a:pPr marL="914400" lvl="1" indent="-457200" defTabSz="914126">
              <a:buFont typeface="+mj-lt"/>
              <a:buAutoNum type="arabicPeriod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Median – The Middle</a:t>
            </a:r>
          </a:p>
          <a:p>
            <a:pPr marL="914400" lvl="1" indent="-457200" defTabSz="914126">
              <a:buFont typeface="+mj-lt"/>
              <a:buAutoNum type="arabicPeriod"/>
            </a:pP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lvl="1"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Review with the questions on the next slide.</a:t>
            </a:r>
          </a:p>
          <a:p>
            <a:pPr marL="914400" lvl="1" indent="-457200" defTabSz="914126">
              <a:buFont typeface="+mj-lt"/>
              <a:buAutoNum type="arabicPeriod"/>
            </a:pP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lvl="1" defTabSz="914126"/>
            <a:r>
              <a:rPr lang="en-AU" sz="2399" dirty="0">
                <a:solidFill>
                  <a:prstClr val="black"/>
                </a:solidFill>
              </a:rPr>
              <a:t>.</a:t>
            </a:r>
          </a:p>
          <a:p>
            <a:pPr lvl="1"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20155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945E40-E080-4D84-BF8F-6F63230D6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801"/>
            <a:ext cx="12192000" cy="30729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5A4231-34F6-4864-8DF0-D0FEC318A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63048"/>
            <a:ext cx="12192000" cy="327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17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65556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Measuring the Spread of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I work out the range of the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11B3FBF-AAB4-4FF1-8DE3-9885B0AEFAFC}"/>
              </a:ext>
            </a:extLst>
          </p:cNvPr>
          <p:cNvSpPr txBox="1"/>
          <p:nvPr/>
        </p:nvSpPr>
        <p:spPr>
          <a:xfrm>
            <a:off x="880130" y="1508672"/>
            <a:ext cx="954492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There fourth measure we can use is range, this relates to the spread of data (from the smallest unit in the data set to the biggest).</a:t>
            </a:r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8519C8B4-1737-4B41-903B-DB8A51048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7990" y="2402490"/>
            <a:ext cx="6109206" cy="442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185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5556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Measuring the Spread of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the Range?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I work out the range of the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5DC1162-94CC-4B8E-85AD-F95109768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465" y="1423916"/>
            <a:ext cx="10301831" cy="1340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73EF26-EE6B-4A80-9C74-F773F8127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381" y="2886933"/>
            <a:ext cx="3929734" cy="392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5556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Measuring the Spread of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93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are Quartiles and the Interquartile Range?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I work out the range of the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57F6C65-DB60-49E1-A2BA-2ADE941A59E7}"/>
              </a:ext>
            </a:extLst>
          </p:cNvPr>
          <p:cNvSpPr txBox="1"/>
          <p:nvPr/>
        </p:nvSpPr>
        <p:spPr>
          <a:xfrm>
            <a:off x="2011837" y="1457431"/>
            <a:ext cx="982491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 median divides the data into two half’s. These half’s are divided in half again by the </a:t>
            </a:r>
            <a:r>
              <a:rPr lang="en-AU" sz="2400" b="1" dirty="0"/>
              <a:t>quartiles.</a:t>
            </a:r>
          </a:p>
          <a:p>
            <a:endParaRPr lang="en-AU" sz="2400" dirty="0"/>
          </a:p>
          <a:p>
            <a:r>
              <a:rPr lang="en-AU" sz="2400" dirty="0"/>
              <a:t>The middle value of the lower half of the data is called the </a:t>
            </a:r>
            <a:r>
              <a:rPr lang="en-AU" sz="2400" b="1" dirty="0"/>
              <a:t>lower quartile</a:t>
            </a:r>
            <a:r>
              <a:rPr lang="en-AU" sz="2400" dirty="0"/>
              <a:t> or </a:t>
            </a:r>
            <a:r>
              <a:rPr lang="en-AU" sz="2400" b="1" dirty="0"/>
              <a:t>25</a:t>
            </a:r>
            <a:r>
              <a:rPr lang="en-AU" sz="2400" b="1" baseline="30000" dirty="0"/>
              <a:t>th</a:t>
            </a:r>
            <a:r>
              <a:rPr lang="en-AU" sz="2400" b="1" dirty="0"/>
              <a:t> percentile. </a:t>
            </a:r>
          </a:p>
          <a:p>
            <a:endParaRPr lang="en-AU" sz="2400" b="1" dirty="0"/>
          </a:p>
          <a:p>
            <a:r>
              <a:rPr lang="en-AU" sz="2400" dirty="0"/>
              <a:t>The middle value of the top half of the data is called the </a:t>
            </a:r>
            <a:r>
              <a:rPr lang="en-AU" sz="2400" b="1" dirty="0"/>
              <a:t>upper quartile</a:t>
            </a:r>
            <a:r>
              <a:rPr lang="en-AU" sz="2400" dirty="0"/>
              <a:t> or </a:t>
            </a:r>
            <a:r>
              <a:rPr lang="en-AU" sz="2400" b="1" dirty="0"/>
              <a:t>75</a:t>
            </a:r>
            <a:r>
              <a:rPr lang="en-AU" sz="2400" b="1" baseline="30000" dirty="0"/>
              <a:t>th</a:t>
            </a:r>
            <a:r>
              <a:rPr lang="en-AU" sz="2400" b="1" dirty="0"/>
              <a:t> percentile. </a:t>
            </a:r>
          </a:p>
          <a:p>
            <a:endParaRPr lang="en-AU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76AED-FFCE-4ED1-BD60-B4E655B66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128" y="5017419"/>
            <a:ext cx="9877623" cy="178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130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650EF7-596A-467E-9C41-2D2430ACE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842962"/>
            <a:ext cx="10934700" cy="517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783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F8DDD5E-7D89-4C40-82EE-51B5238646F3}"/>
              </a:ext>
            </a:extLst>
          </p:cNvPr>
          <p:cNvSpPr txBox="1">
            <a:spLocks/>
          </p:cNvSpPr>
          <p:nvPr/>
        </p:nvSpPr>
        <p:spPr>
          <a:xfrm>
            <a:off x="1024128" y="569086"/>
            <a:ext cx="10310622" cy="149961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 sz="4400" kern="1200">
                <a:solidFill>
                  <a:srgbClr val="C9E4B4"/>
                </a:solidFill>
                <a:latin typeface="+mj-lt"/>
                <a:ea typeface="+mj-ea"/>
                <a:cs typeface="+mj-c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r>
              <a:rPr lang="en-AU" sz="4800" dirty="0">
                <a:solidFill>
                  <a:schemeClr val="tx1"/>
                </a:solidFill>
              </a:rPr>
              <a:t>Task – Complete Questions on Page 104</a:t>
            </a:r>
          </a:p>
        </p:txBody>
      </p:sp>
    </p:spTree>
    <p:extLst>
      <p:ext uri="{BB962C8B-B14F-4D97-AF65-F5344CB8AC3E}">
        <p14:creationId xmlns:p14="http://schemas.microsoft.com/office/powerpoint/2010/main" val="3200805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243</Words>
  <Application>Microsoft Office PowerPoint</Application>
  <PresentationFormat>Widescreen</PresentationFormat>
  <Paragraphs>48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Fragment Core</vt:lpstr>
      <vt:lpstr>Office Theme</vt:lpstr>
      <vt:lpstr>Measures of Spread – What and When?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Measures of Spread – What and When?</dc:title>
  <dc:creator>POWER Travis [Baldivis Secondary College]</dc:creator>
  <cp:lastModifiedBy>Umberto Gargaro</cp:lastModifiedBy>
  <cp:revision>3</cp:revision>
  <dcterms:created xsi:type="dcterms:W3CDTF">2021-08-12T00:54:47Z</dcterms:created>
  <dcterms:modified xsi:type="dcterms:W3CDTF">2021-08-21T15:10:53Z</dcterms:modified>
</cp:coreProperties>
</file>
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15"/>
  </p:notesMasterIdLst>
  <p:sldIdLst>
    <p:sldId id="266" r:id="rId2"/>
    <p:sldId id="301" r:id="rId3"/>
    <p:sldId id="289" r:id="rId4"/>
    <p:sldId id="321" r:id="rId5"/>
    <p:sldId id="322" r:id="rId6"/>
    <p:sldId id="323" r:id="rId7"/>
    <p:sldId id="325" r:id="rId8"/>
    <p:sldId id="326" r:id="rId9"/>
    <p:sldId id="327" r:id="rId10"/>
    <p:sldId id="328" r:id="rId11"/>
    <p:sldId id="329" r:id="rId12"/>
    <p:sldId id="330" r:id="rId13"/>
    <p:sldId id="331" r:id="rId1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67753" autoAdjust="0"/>
  </p:normalViewPr>
  <p:slideViewPr>
    <p:cSldViewPr snapToGrid="0" snapToObjects="1">
      <p:cViewPr varScale="1">
        <p:scale>
          <a:sx n="79" d="100"/>
          <a:sy n="79" d="100"/>
        </p:scale>
        <p:origin x="17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23/08/2021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AU" dirty="0" smtClean="0"/>
              <a:t>$42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AU" sz="12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145 – (24 + 17) x 3 = 22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AU" sz="12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1350mm 3500mL 4700g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AU" sz="12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en-AU" sz="1200" b="0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days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AU" sz="1200" b="0" baseline="0" smtClean="0">
                <a:latin typeface="Calibri" panose="020F0502020204030204" pitchFamily="34" charset="0"/>
                <a:cs typeface="Calibri" panose="020F0502020204030204" pitchFamily="34" charset="0"/>
              </a:rPr>
              <a:t>18 3/10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AU" sz="1200" b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AutoNum type="arabicPeriod"/>
            </a:pPr>
            <a:endParaRPr lang="en-AU" dirty="0" smtClean="0"/>
          </a:p>
          <a:p>
            <a:pPr marL="228600" indent="-228600">
              <a:buAutoNum type="arabicPeriod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Check for understanding!</a:t>
            </a:r>
          </a:p>
          <a:p>
            <a:endParaRPr lang="en-AU" sz="1400" dirty="0"/>
          </a:p>
          <a:p>
            <a:r>
              <a:rPr lang="en-AU" sz="1400" dirty="0"/>
              <a:t>What is numerical data?</a:t>
            </a:r>
          </a:p>
          <a:p>
            <a:r>
              <a:rPr lang="en-AU" sz="1400" dirty="0"/>
              <a:t>What is categorical data?</a:t>
            </a:r>
          </a:p>
          <a:p>
            <a:r>
              <a:rPr lang="en-AU" sz="1400" dirty="0"/>
              <a:t>What is discrete data?</a:t>
            </a:r>
          </a:p>
          <a:p>
            <a:r>
              <a:rPr lang="en-AU" sz="1400" dirty="0"/>
              <a:t>What makes data continuous?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Check for understanding!</a:t>
            </a:r>
          </a:p>
          <a:p>
            <a:endParaRPr lang="en-AU" sz="1400" dirty="0"/>
          </a:p>
          <a:p>
            <a:r>
              <a:rPr lang="en-AU" sz="1400" dirty="0"/>
              <a:t>What is numerical data?</a:t>
            </a:r>
          </a:p>
          <a:p>
            <a:r>
              <a:rPr lang="en-AU" sz="1400" dirty="0"/>
              <a:t>What is categorical data?</a:t>
            </a:r>
          </a:p>
          <a:p>
            <a:r>
              <a:rPr lang="en-AU" sz="1400" dirty="0"/>
              <a:t>What is discrete data?</a:t>
            </a:r>
          </a:p>
          <a:p>
            <a:r>
              <a:rPr lang="en-AU" sz="1400" dirty="0"/>
              <a:t>What makes data continuous?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4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Check for understanding!</a:t>
            </a:r>
          </a:p>
          <a:p>
            <a:endParaRPr lang="en-AU" sz="1400" dirty="0"/>
          </a:p>
          <a:p>
            <a:r>
              <a:rPr lang="en-AU" sz="1400" dirty="0"/>
              <a:t>What is numerical data?</a:t>
            </a:r>
          </a:p>
          <a:p>
            <a:r>
              <a:rPr lang="en-AU" sz="1400" dirty="0"/>
              <a:t>What is categorical data?</a:t>
            </a:r>
          </a:p>
          <a:p>
            <a:r>
              <a:rPr lang="en-AU" sz="1400" dirty="0"/>
              <a:t>What is discrete data?</a:t>
            </a:r>
          </a:p>
          <a:p>
            <a:r>
              <a:rPr lang="en-AU" sz="1400" dirty="0"/>
              <a:t>What makes data continuous?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57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Check for understanding!</a:t>
            </a:r>
          </a:p>
          <a:p>
            <a:endParaRPr lang="en-AU" sz="1400" dirty="0"/>
          </a:p>
          <a:p>
            <a:r>
              <a:rPr lang="en-AU" sz="1400" dirty="0"/>
              <a:t>What is numerical data?</a:t>
            </a:r>
          </a:p>
          <a:p>
            <a:r>
              <a:rPr lang="en-AU" sz="1400" dirty="0"/>
              <a:t>What is categorical data?</a:t>
            </a:r>
          </a:p>
          <a:p>
            <a:r>
              <a:rPr lang="en-AU" sz="1400" dirty="0"/>
              <a:t>What is discrete data?</a:t>
            </a:r>
          </a:p>
          <a:p>
            <a:r>
              <a:rPr lang="en-AU" sz="1400" dirty="0"/>
              <a:t>What makes data continuous?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23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Check for understanding!</a:t>
            </a:r>
          </a:p>
          <a:p>
            <a:endParaRPr lang="en-AU" sz="1400" dirty="0"/>
          </a:p>
          <a:p>
            <a:r>
              <a:rPr lang="en-AU" sz="1400" dirty="0"/>
              <a:t>What is numerical data?</a:t>
            </a:r>
          </a:p>
          <a:p>
            <a:r>
              <a:rPr lang="en-AU" sz="1400" dirty="0"/>
              <a:t>What is categorical data?</a:t>
            </a:r>
          </a:p>
          <a:p>
            <a:r>
              <a:rPr lang="en-AU" sz="1400" dirty="0"/>
              <a:t>What is discrete data?</a:t>
            </a:r>
          </a:p>
          <a:p>
            <a:r>
              <a:rPr lang="en-AU" sz="1400" dirty="0"/>
              <a:t>What makes data continuous?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97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2668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25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7406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325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5569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347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05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0470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025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895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641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6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Topic: </a:t>
            </a:r>
            <a:r>
              <a:rPr lang="en-US" sz="4000" dirty="0" smtClean="0">
                <a:solidFill>
                  <a:schemeClr val="tx1"/>
                </a:solidFill>
                <a:latin typeface="Tw Cen MT Condensed" panose="020B0606020104020203" pitchFamily="34" charset="0"/>
              </a:rPr>
              <a:t>Data</a:t>
            </a: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/>
            </a:r>
            <a:b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EQ: </a:t>
            </a:r>
            <a:r>
              <a:rPr lang="en-US" sz="4000" dirty="0" smtClean="0">
                <a:solidFill>
                  <a:schemeClr val="tx1"/>
                </a:solidFill>
                <a:latin typeface="Tw Cen MT Condensed" panose="020B0606020104020203" pitchFamily="34" charset="0"/>
              </a:rPr>
              <a:t>How do dot plots represent frequency distribution? </a:t>
            </a:r>
            <a:endParaRPr lang="en-GB" sz="4000" dirty="0">
              <a:solidFill>
                <a:schemeClr val="tx1"/>
              </a:solidFill>
              <a:latin typeface="Tw Cen MT Condensed" panose="020B0606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AU" sz="28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Year </a:t>
            </a:r>
            <a:r>
              <a:rPr lang="en-AU" sz="2800" dirty="0">
                <a:solidFill>
                  <a:schemeClr val="tx1"/>
                </a:solidFill>
                <a:latin typeface="Tw Cen MT" panose="020B0602020104020603" pitchFamily="34" charset="0"/>
              </a:rPr>
              <a:t>11 Essentials</a:t>
            </a:r>
            <a:endParaRPr lang="en-GB" sz="2800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94" y="1000105"/>
            <a:ext cx="10058400" cy="1371600"/>
          </a:xfrm>
        </p:spPr>
        <p:txBody>
          <a:bodyPr/>
          <a:lstStyle/>
          <a:p>
            <a:r>
              <a:rPr lang="en-AU" b="1" dirty="0" smtClean="0">
                <a:latin typeface="Bradley Hand ITC" panose="03070402050302030203" pitchFamily="66" charset="0"/>
              </a:rPr>
              <a:t>Five </a:t>
            </a:r>
            <a:r>
              <a:rPr lang="en-AU" b="1" dirty="0">
                <a:latin typeface="Bradley Hand ITC" panose="03070402050302030203" pitchFamily="66" charset="0"/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F5C9BC97-E084-4305-8742-02C144E0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872" y="2267712"/>
            <a:ext cx="11017452" cy="445372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Find 30% </a:t>
            </a: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off </a:t>
            </a: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$60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Add brackets to make this equation true: 145 – 24 + 17 x 3 = 22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Fill </a:t>
            </a: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in the missing numbers:</a:t>
            </a:r>
            <a:b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1.35m </a:t>
            </a: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______ mm    </a:t>
            </a: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______ </a:t>
            </a: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mL </a:t>
            </a: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3.5L    4.7 kg </a:t>
            </a:r>
            <a:r>
              <a:rPr lang="en-AU" sz="2400" b="0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_____ g</a:t>
            </a:r>
            <a:endParaRPr lang="en-AU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average volunteer performed 128 hours of unpaid work during 2014. How many days does this equate to if a normal working day is 8 hours?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Write 18.3 as a fraction</a:t>
            </a:r>
            <a:endParaRPr lang="en-AU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F8740F4-4E29-46F0-AE17-D5002ED9BE37}"/>
              </a:ext>
            </a:extLst>
          </p:cNvPr>
          <p:cNvSpPr txBox="1"/>
          <p:nvPr/>
        </p:nvSpPr>
        <p:spPr>
          <a:xfrm>
            <a:off x="4901025" y="272531"/>
            <a:ext cx="2029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CED037-8382-4B21-A2F7-E1E36A739063}"/>
              </a:ext>
            </a:extLst>
          </p:cNvPr>
          <p:cNvSpPr txBox="1"/>
          <p:nvPr/>
        </p:nvSpPr>
        <p:spPr>
          <a:xfrm>
            <a:off x="4901025" y="859252"/>
            <a:ext cx="6815487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dot plots represent frequency distribution?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B63EF86-F88E-4651-A0D0-6F8AFC411E31}"/>
              </a:ext>
            </a:extLst>
          </p:cNvPr>
          <p:cNvSpPr txBox="1"/>
          <p:nvPr/>
        </p:nvSpPr>
        <p:spPr>
          <a:xfrm>
            <a:off x="9537046" y="339624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29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dot plots represent frequency distribution?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dot plots?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1B98AF6-C845-4C3F-804D-986DB17E48F9}"/>
              </a:ext>
            </a:extLst>
          </p:cNvPr>
          <p:cNvSpPr txBox="1"/>
          <p:nvPr/>
        </p:nvSpPr>
        <p:spPr>
          <a:xfrm>
            <a:off x="2336426" y="1350976"/>
            <a:ext cx="90447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Dot plots are a simple way of representing a data set.  They are constructed by putting a dot for each data value above a scale.</a:t>
            </a:r>
          </a:p>
          <a:p>
            <a:pPr>
              <a:lnSpc>
                <a:spcPct val="150000"/>
              </a:lnSpc>
            </a:pP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To create a dot plot: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Determine the range and construct a number line from the lowest value to the highest value.  Leave space above the line for the dots.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Put dots for each number above the scale.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Label your graph with a title and axis labels (units).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DD30D8-FE56-40C4-B983-D0C8B332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14" y="642593"/>
            <a:ext cx="10162679" cy="1371600"/>
          </a:xfrm>
        </p:spPr>
        <p:txBody>
          <a:bodyPr/>
          <a:lstStyle/>
          <a:p>
            <a:r>
              <a:rPr lang="en-AU" dirty="0"/>
              <a:t>Interleaved Textbook </a:t>
            </a:r>
            <a:r>
              <a:rPr lang="en-AU" dirty="0" smtClean="0"/>
              <a:t>pg. </a:t>
            </a:r>
            <a:r>
              <a:rPr lang="en-AU" dirty="0"/>
              <a:t>107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7E78D31-91AD-4D5C-88AB-D10229C2CCC2}"/>
              </a:ext>
            </a:extLst>
          </p:cNvPr>
          <p:cNvSpPr txBox="1"/>
          <p:nvPr/>
        </p:nvSpPr>
        <p:spPr>
          <a:xfrm>
            <a:off x="383414" y="1783361"/>
            <a:ext cx="8675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Flexibility measurements from Yr. 11 class (pg. 106)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662082"/>
              </p:ext>
            </p:extLst>
          </p:nvPr>
        </p:nvGraphicFramePr>
        <p:xfrm>
          <a:off x="487693" y="2510156"/>
          <a:ext cx="11163277" cy="1341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750"/>
                <a:gridCol w="470218"/>
                <a:gridCol w="470218"/>
                <a:gridCol w="470218"/>
                <a:gridCol w="439199"/>
                <a:gridCol w="451104"/>
                <a:gridCol w="470218"/>
                <a:gridCol w="470218"/>
                <a:gridCol w="470218"/>
                <a:gridCol w="485690"/>
                <a:gridCol w="533494"/>
                <a:gridCol w="533494"/>
                <a:gridCol w="533494"/>
                <a:gridCol w="533494"/>
                <a:gridCol w="533494"/>
                <a:gridCol w="533494"/>
                <a:gridCol w="533494"/>
                <a:gridCol w="533494"/>
                <a:gridCol w="520562"/>
                <a:gridCol w="524256"/>
                <a:gridCol w="479456"/>
              </a:tblGrid>
              <a:tr h="670909">
                <a:tc>
                  <a:txBody>
                    <a:bodyPr/>
                    <a:lstStyle/>
                    <a:p>
                      <a:r>
                        <a:rPr lang="en-AU" dirty="0" smtClean="0"/>
                        <a:t>Baseline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-5</a:t>
                      </a:r>
                    </a:p>
                    <a:p>
                      <a:endParaRPr lang="en-A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-6</a:t>
                      </a:r>
                    </a:p>
                  </a:txBody>
                  <a:tcPr/>
                </a:tc>
              </a:tr>
              <a:tr h="670909">
                <a:tc>
                  <a:txBody>
                    <a:bodyPr/>
                    <a:lstStyle/>
                    <a:p>
                      <a:r>
                        <a:rPr lang="en-AU" dirty="0" smtClean="0"/>
                        <a:t>4 wks.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-5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7693" y="4448294"/>
            <a:ext cx="1108188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 smtClean="0"/>
              <a:t>Using the data provided create a set of 2 dot plots – one for each row and leave plenty</a:t>
            </a:r>
          </a:p>
          <a:p>
            <a:r>
              <a:rPr lang="en-AU" sz="2000" dirty="0"/>
              <a:t>o</a:t>
            </a:r>
            <a:r>
              <a:rPr lang="en-AU" sz="2000" dirty="0" smtClean="0"/>
              <a:t>f space above the number line.</a:t>
            </a:r>
          </a:p>
          <a:p>
            <a:endParaRPr lang="en-AU" sz="2000" dirty="0"/>
          </a:p>
          <a:p>
            <a:r>
              <a:rPr lang="en-AU" sz="2000" dirty="0" smtClean="0"/>
              <a:t>Compare the two dot plots?  What do you notice?  How are they similar?  </a:t>
            </a:r>
          </a:p>
          <a:p>
            <a:r>
              <a:rPr lang="en-AU" sz="2000" dirty="0" smtClean="0"/>
              <a:t>How are they different?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34900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DD30D8-FE56-40C4-B983-D0C8B332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Interleaved Textbook pg. 107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 smtClean="0"/>
              <a:t>Sketch a box plot from the same data above the each dot plot. </a:t>
            </a:r>
          </a:p>
          <a:p>
            <a:pPr marL="457200" indent="-457200">
              <a:buAutoNum type="arabicParenR"/>
            </a:pPr>
            <a:r>
              <a:rPr lang="en-AU" sz="2400" dirty="0" smtClean="0"/>
              <a:t>How is each box plot similar to the matching dot plot?</a:t>
            </a:r>
          </a:p>
          <a:p>
            <a:pPr marL="457200" indent="-457200">
              <a:buAutoNum type="arabicParenR"/>
            </a:pPr>
            <a:r>
              <a:rPr lang="en-AU" sz="2400" dirty="0" smtClean="0"/>
              <a:t>What information is provided in the dot plot that is not provided in the box plot?</a:t>
            </a:r>
          </a:p>
          <a:p>
            <a:pPr marL="457200" indent="-457200">
              <a:buAutoNum type="arabicParenR"/>
            </a:pPr>
            <a:r>
              <a:rPr lang="en-AU" sz="2400" dirty="0" smtClean="0"/>
              <a:t>What information is provided in the box plot that is not provided in the dot plot?</a:t>
            </a:r>
          </a:p>
          <a:p>
            <a:pPr marL="457200" indent="-457200">
              <a:buAutoNum type="arabicParenR"/>
            </a:pPr>
            <a:r>
              <a:rPr lang="en-AU" sz="2400" dirty="0" smtClean="0"/>
              <a:t>With your shoulder buddy discuss and write down a situation when you think each graph would be more appropriate.  Give reasons for your answers.</a:t>
            </a:r>
          </a:p>
          <a:p>
            <a:pPr marL="0" indent="0"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9169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289B43-6600-440B-86BA-D5B72B36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1FFD49-0CB8-4FCF-A88F-9FF0D6533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 smtClean="0"/>
              <a:t>Find the mean, median, mode and range from both dot plots.  Describe how you find it as your notes.  If you need to, check with someone on your table group.</a:t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5054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29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dot plots represent frequency distribution?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find the mean, median and mode from dot plots?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1B98AF6-C845-4C3F-804D-986DB17E48F9}"/>
              </a:ext>
            </a:extLst>
          </p:cNvPr>
          <p:cNvSpPr txBox="1"/>
          <p:nvPr/>
        </p:nvSpPr>
        <p:spPr>
          <a:xfrm>
            <a:off x="2336426" y="1350976"/>
            <a:ext cx="9044747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To find the mean, median and mode from a dot plot, it helps to write out your data set from the graph in ascending order. From the dot plot below, the data set is {0,1,1,1,2,2,3,3,3,3,4,4,4,5,5,5,6,6,6,7}</a:t>
            </a:r>
          </a:p>
          <a:p>
            <a:pPr>
              <a:lnSpc>
                <a:spcPct val="150000"/>
              </a:lnSpc>
            </a:pP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621" y="3703320"/>
            <a:ext cx="4876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0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29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dot plots represent frequency distribution?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find the mean, median and mode from dot plots?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1B98AF6-C845-4C3F-804D-986DB17E48F9}"/>
              </a:ext>
            </a:extLst>
          </p:cNvPr>
          <p:cNvSpPr txBox="1"/>
          <p:nvPr/>
        </p:nvSpPr>
        <p:spPr>
          <a:xfrm>
            <a:off x="2336426" y="1350976"/>
            <a:ext cx="90447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0,1,1,1,2,2,3,3,3,3,4,4,4,5,5,5,6,6,6,7}</a:t>
            </a:r>
          </a:p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Using the values above, the mean can be calculated by using:</a:t>
            </a:r>
          </a:p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Mean = </a:t>
            </a:r>
            <a:r>
              <a:rPr lang="en-AU" sz="2400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Sum of all data points</a:t>
            </a:r>
            <a:endParaRPr lang="en-AU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	 Number of data points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621" y="3703320"/>
            <a:ext cx="4876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1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29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dot plots represent frequency distribution?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find the mean, median and mode from dot plots?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1B98AF6-C845-4C3F-804D-986DB17E48F9}"/>
              </a:ext>
            </a:extLst>
          </p:cNvPr>
          <p:cNvSpPr txBox="1"/>
          <p:nvPr/>
        </p:nvSpPr>
        <p:spPr>
          <a:xfrm>
            <a:off x="2336426" y="1350976"/>
            <a:ext cx="90447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0,1,1,1,2,2,3,3,3,</a:t>
            </a: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,4,4,5,5,5,6,6,6,7}</a:t>
            </a:r>
          </a:p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median is the middle number. As we have an even number of values, we add the 2 middle numbers and divide by 2.</a:t>
            </a:r>
          </a:p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Median = 3.5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621" y="3703320"/>
            <a:ext cx="4876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3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29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dot plots represent frequency distribution?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find the mean, median and mode from dot plots?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1B98AF6-C845-4C3F-804D-986DB17E48F9}"/>
              </a:ext>
            </a:extLst>
          </p:cNvPr>
          <p:cNvSpPr txBox="1"/>
          <p:nvPr/>
        </p:nvSpPr>
        <p:spPr>
          <a:xfrm>
            <a:off x="2336426" y="1350976"/>
            <a:ext cx="90447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0,1,1,1,2,2,3,3,3,3,4,4,4,5,5,5,6,6,6,7}</a:t>
            </a:r>
          </a:p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mode is the number or category with the most dots (the most frequent value).  Mode = 3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721" y="3703320"/>
            <a:ext cx="4876800" cy="27432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096001" y="3938016"/>
            <a:ext cx="426719" cy="18184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254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289B43-6600-440B-86BA-D5B72B36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1FFD49-0CB8-4FCF-A88F-9FF0D6533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82318"/>
            <a:ext cx="1005840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866900"/>
            <a:ext cx="4995324" cy="31562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838" y="1866900"/>
            <a:ext cx="48036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For the dot plots pictured: Find the mean, median, mode and range for Exercise and Video games.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8210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Additional practise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782547"/>
            <a:ext cx="4920465" cy="177751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779697"/>
            <a:ext cx="4920465" cy="1924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43453" y="1782547"/>
            <a:ext cx="49499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mean, median, mode and range for each dot plot and describe the shape of the data (symmetry, skew and outliers).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10612" y="1829528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86814" y="377969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7165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Additional practise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533" y="1782546"/>
            <a:ext cx="4756998" cy="192458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533" y="3779697"/>
            <a:ext cx="4756998" cy="1924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43453" y="1782547"/>
            <a:ext cx="49499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mean, median, mode and range for each dot plot and describe the shape of the data (symmetry, skew and outliers).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10612" y="18295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814" y="3779697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53937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4050</TotalTime>
  <Words>905</Words>
  <Application>Microsoft Office PowerPoint</Application>
  <PresentationFormat>Widescreen</PresentationFormat>
  <Paragraphs>178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Bradley Hand ITC</vt:lpstr>
      <vt:lpstr>Calibri</vt:lpstr>
      <vt:lpstr>Century Gothic</vt:lpstr>
      <vt:lpstr>Garamond</vt:lpstr>
      <vt:lpstr>Tw Cen MT</vt:lpstr>
      <vt:lpstr>Tw Cen MT Condensed</vt:lpstr>
      <vt:lpstr>Savon</vt:lpstr>
      <vt:lpstr>Topic: Data EQ: How do dot plots represent frequency distribution? </vt:lpstr>
      <vt:lpstr>Five Questions</vt:lpstr>
      <vt:lpstr>PowerPoint Presentation</vt:lpstr>
      <vt:lpstr>Interleaved Textbook pg. 107</vt:lpstr>
      <vt:lpstr>Interleaved Textbook pg. 107</vt:lpstr>
      <vt:lpstr>Task</vt:lpstr>
      <vt:lpstr>PowerPoint Presentation</vt:lpstr>
      <vt:lpstr>PowerPoint Presentation</vt:lpstr>
      <vt:lpstr>PowerPoint Presentation</vt:lpstr>
      <vt:lpstr>PowerPoint Presentation</vt:lpstr>
      <vt:lpstr>Task</vt:lpstr>
      <vt:lpstr>Additional practise</vt:lpstr>
      <vt:lpstr>Additional practise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Coz W</cp:lastModifiedBy>
  <cp:revision>114</cp:revision>
  <cp:lastPrinted>2018-05-03T00:24:35Z</cp:lastPrinted>
  <dcterms:created xsi:type="dcterms:W3CDTF">2018-02-13T05:48:53Z</dcterms:created>
  <dcterms:modified xsi:type="dcterms:W3CDTF">2021-08-23T13:59:13Z</dcterms:modified>
</cp:coreProperties>
</file>
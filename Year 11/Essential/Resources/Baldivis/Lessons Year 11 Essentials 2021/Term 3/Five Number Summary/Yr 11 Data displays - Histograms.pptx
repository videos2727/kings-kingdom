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14"/>
  </p:notesMasterIdLst>
  <p:sldIdLst>
    <p:sldId id="266" r:id="rId2"/>
    <p:sldId id="301" r:id="rId3"/>
    <p:sldId id="289" r:id="rId4"/>
    <p:sldId id="325" r:id="rId5"/>
    <p:sldId id="333" r:id="rId6"/>
    <p:sldId id="328" r:id="rId7"/>
    <p:sldId id="329" r:id="rId8"/>
    <p:sldId id="326" r:id="rId9"/>
    <p:sldId id="322" r:id="rId10"/>
    <p:sldId id="323" r:id="rId11"/>
    <p:sldId id="330" r:id="rId12"/>
    <p:sldId id="324" r:id="rId13"/>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2"/>
    <p:restoredTop sz="67753" autoAdjust="0"/>
  </p:normalViewPr>
  <p:slideViewPr>
    <p:cSldViewPr snapToGrid="0" snapToObjects="1">
      <p:cViewPr varScale="1">
        <p:scale>
          <a:sx n="79" d="100"/>
          <a:sy n="79" d="100"/>
        </p:scale>
        <p:origin x="17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DF2789E-5AC8-448E-8E6F-EC7423D7B148}" type="datetimeFigureOut">
              <a:rPr lang="en-GB" smtClean="0"/>
              <a:t>23/08/2021</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0C85D6DF-A159-4F50-B9AF-8F30B100FF37}" type="slidenum">
              <a:rPr lang="en-GB" smtClean="0"/>
              <a:t>‹#›</a:t>
            </a:fld>
            <a:endParaRPr lang="en-GB"/>
          </a:p>
        </p:txBody>
      </p:sp>
    </p:spTree>
    <p:extLst>
      <p:ext uri="{BB962C8B-B14F-4D97-AF65-F5344CB8AC3E}">
        <p14:creationId xmlns:p14="http://schemas.microsoft.com/office/powerpoint/2010/main" val="342622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1</a:t>
            </a:fld>
            <a:endParaRPr lang="en-GB"/>
          </a:p>
        </p:txBody>
      </p:sp>
    </p:spTree>
    <p:extLst>
      <p:ext uri="{BB962C8B-B14F-4D97-AF65-F5344CB8AC3E}">
        <p14:creationId xmlns:p14="http://schemas.microsoft.com/office/powerpoint/2010/main" val="1986326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AU" dirty="0" smtClean="0"/>
              <a:t>3/5 and 60%</a:t>
            </a:r>
          </a:p>
          <a:p>
            <a:pPr marL="228600" indent="-228600">
              <a:buAutoNum type="arabicPeriod"/>
            </a:pPr>
            <a:r>
              <a:rPr lang="en-AU" dirty="0" smtClean="0"/>
              <a:t>3</a:t>
            </a:r>
          </a:p>
          <a:p>
            <a:pPr marL="228600" indent="-228600">
              <a:buAutoNum type="arabicPeriod"/>
            </a:pPr>
            <a:r>
              <a:rPr lang="en-AU" dirty="0" smtClean="0"/>
              <a:t>58.4</a:t>
            </a:r>
          </a:p>
          <a:p>
            <a:pPr marL="228600" indent="-228600">
              <a:buAutoNum type="arabicPeriod"/>
            </a:pPr>
            <a:r>
              <a:rPr lang="en-AU" dirty="0" smtClean="0"/>
              <a:t>13.86</a:t>
            </a:r>
          </a:p>
          <a:p>
            <a:pPr marL="228600" indent="-228600">
              <a:buAutoNum type="arabicPeriod"/>
            </a:pPr>
            <a:r>
              <a:rPr lang="en-AU" dirty="0" smtClean="0"/>
              <a:t>Mode</a:t>
            </a:r>
            <a:r>
              <a:rPr lang="en-AU" baseline="0" dirty="0" smtClean="0"/>
              <a:t> = 12</a:t>
            </a:r>
          </a:p>
          <a:p>
            <a:pPr marL="228600" indent="-228600">
              <a:buAutoNum type="arabicPeriod"/>
            </a:pPr>
            <a:r>
              <a:rPr lang="en-AU" baseline="0" dirty="0" smtClean="0"/>
              <a:t>Median = 17</a:t>
            </a:r>
          </a:p>
          <a:p>
            <a:pPr marL="228600" indent="-228600">
              <a:buAutoNum type="arabicPeriod"/>
            </a:pPr>
            <a:r>
              <a:rPr lang="en-AU" baseline="0" dirty="0" smtClean="0"/>
              <a:t>Range = 19</a:t>
            </a:r>
            <a:endParaRPr lang="en-AU" dirty="0" smtClean="0"/>
          </a:p>
          <a:p>
            <a:pPr marL="228600" indent="-228600">
              <a:buAutoNum type="arabicPeriod"/>
            </a:pPr>
            <a:r>
              <a:rPr lang="en-AU" dirty="0" smtClean="0"/>
              <a:t>Q1 = 12</a:t>
            </a:r>
          </a:p>
          <a:p>
            <a:pPr marL="228600" indent="-228600">
              <a:buAutoNum type="arabicPeriod"/>
            </a:pPr>
            <a:r>
              <a:rPr lang="en-AU" dirty="0" smtClean="0"/>
              <a:t>Q3 = 20.5</a:t>
            </a:r>
            <a:endParaRPr lang="en-AU" dirty="0"/>
          </a:p>
        </p:txBody>
      </p:sp>
      <p:sp>
        <p:nvSpPr>
          <p:cNvPr id="4" name="Slide Number Placeholder 3"/>
          <p:cNvSpPr>
            <a:spLocks noGrp="1"/>
          </p:cNvSpPr>
          <p:nvPr>
            <p:ph type="sldNum" sz="quarter" idx="5"/>
          </p:nvPr>
        </p:nvSpPr>
        <p:spPr/>
        <p:txBody>
          <a:bodyPr/>
          <a:lstStyle/>
          <a:p>
            <a:fld id="{0C85D6DF-A159-4F50-B9AF-8F30B100FF37}" type="slidenum">
              <a:rPr lang="en-GB" smtClean="0"/>
              <a:t>2</a:t>
            </a:fld>
            <a:endParaRPr lang="en-GB"/>
          </a:p>
        </p:txBody>
      </p:sp>
    </p:spTree>
    <p:extLst>
      <p:ext uri="{BB962C8B-B14F-4D97-AF65-F5344CB8AC3E}">
        <p14:creationId xmlns:p14="http://schemas.microsoft.com/office/powerpoint/2010/main" val="3121926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400" dirty="0"/>
              <a:t>Check for understanding!</a:t>
            </a:r>
          </a:p>
          <a:p>
            <a:endParaRPr lang="en-AU" sz="1400" dirty="0"/>
          </a:p>
          <a:p>
            <a:r>
              <a:rPr lang="en-AU" sz="1400" dirty="0"/>
              <a:t>What is numerical data?</a:t>
            </a:r>
          </a:p>
          <a:p>
            <a:r>
              <a:rPr lang="en-AU" sz="1400" dirty="0"/>
              <a:t>What is categorical data?</a:t>
            </a:r>
          </a:p>
          <a:p>
            <a:r>
              <a:rPr lang="en-AU" sz="1400" dirty="0"/>
              <a:t>What is discrete data?</a:t>
            </a:r>
          </a:p>
          <a:p>
            <a:r>
              <a:rPr lang="en-AU" sz="1400" dirty="0"/>
              <a:t>What makes data continuous?</a:t>
            </a:r>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933968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400" dirty="0"/>
              <a:t>Check for understanding!</a:t>
            </a:r>
          </a:p>
          <a:p>
            <a:endParaRPr lang="en-AU" sz="1400" dirty="0"/>
          </a:p>
          <a:p>
            <a:r>
              <a:rPr lang="en-AU" sz="1400" dirty="0"/>
              <a:t>What is numerical data?</a:t>
            </a:r>
          </a:p>
          <a:p>
            <a:r>
              <a:rPr lang="en-AU" sz="1400" dirty="0"/>
              <a:t>What is categorical data?</a:t>
            </a:r>
          </a:p>
          <a:p>
            <a:r>
              <a:rPr lang="en-AU" sz="1400" dirty="0"/>
              <a:t>What is discrete data?</a:t>
            </a:r>
          </a:p>
          <a:p>
            <a:r>
              <a:rPr lang="en-AU" sz="1400" dirty="0"/>
              <a:t>What makes data continuous?</a:t>
            </a:r>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979660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400" dirty="0"/>
              <a:t>Check for understanding!</a:t>
            </a:r>
          </a:p>
          <a:p>
            <a:endParaRPr lang="en-AU" sz="1400" dirty="0"/>
          </a:p>
          <a:p>
            <a:r>
              <a:rPr lang="en-AU" sz="1400" dirty="0"/>
              <a:t>What is numerical data?</a:t>
            </a:r>
          </a:p>
          <a:p>
            <a:r>
              <a:rPr lang="en-AU" sz="1400" dirty="0"/>
              <a:t>What is categorical data?</a:t>
            </a:r>
          </a:p>
          <a:p>
            <a:r>
              <a:rPr lang="en-AU" sz="1400" dirty="0"/>
              <a:t>What is discrete data?</a:t>
            </a:r>
          </a:p>
          <a:p>
            <a:r>
              <a:rPr lang="en-AU" sz="1400" dirty="0"/>
              <a:t>What makes data continuous?</a:t>
            </a:r>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40694542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EEBC23BB-2070-D146-BD10-A01B23AF686B}" type="datetimeFigureOut">
              <a:rPr lang="en-AU" smtClean="0"/>
              <a:t>23/08/2021</a:t>
            </a:fld>
            <a:endParaRPr lang="en-AU"/>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AU"/>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9D89D79F-077F-204B-9403-1DA3DE99CFD3}" type="slidenum">
              <a:rPr lang="en-AU" smtClean="0"/>
              <a:t>‹#›</a:t>
            </a:fld>
            <a:endParaRPr lang="en-AU"/>
          </a:p>
        </p:txBody>
      </p:sp>
    </p:spTree>
    <p:extLst>
      <p:ext uri="{BB962C8B-B14F-4D97-AF65-F5344CB8AC3E}">
        <p14:creationId xmlns:p14="http://schemas.microsoft.com/office/powerpoint/2010/main" val="75266879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EBC23BB-2070-D146-BD10-A01B23AF686B}" type="datetimeFigureOut">
              <a:rPr lang="en-AU" smtClean="0"/>
              <a:t>23/08/2021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4081255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EEBC23BB-2070-D146-BD10-A01B23AF686B}" type="datetimeFigureOut">
              <a:rPr lang="en-AU" smtClean="0"/>
              <a:t>23/08/2021</a:t>
            </a:fld>
            <a:endParaRPr lang="en-AU"/>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AU"/>
          </a:p>
        </p:txBody>
      </p:sp>
      <p:sp>
        <p:nvSpPr>
          <p:cNvPr id="6" name="Slide Number Placeholder 5"/>
          <p:cNvSpPr>
            <a:spLocks noGrp="1"/>
          </p:cNvSpPr>
          <p:nvPr>
            <p:ph type="sldNum" sz="quarter" idx="12"/>
          </p:nvPr>
        </p:nvSpPr>
        <p:spPr>
          <a:xfrm>
            <a:off x="8604504" y="5211060"/>
            <a:ext cx="2112264" cy="228600"/>
          </a:xfrm>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24740670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EBC23BB-2070-D146-BD10-A01B23AF686B}" type="datetimeFigureOut">
              <a:rPr lang="en-AU" smtClean="0"/>
              <a:t>23/08/2021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773259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EBC23BB-2070-D146-BD10-A01B23AF686B}" type="datetimeFigureOut">
              <a:rPr lang="en-AU" smtClean="0"/>
              <a:t>23/08/2021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505569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EBC23BB-2070-D146-BD10-A01B23AF686B}" type="datetimeFigureOut">
              <a:rPr lang="en-AU" smtClean="0"/>
              <a:t>23/08/2021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403479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C23BB-2070-D146-BD10-A01B23AF686B}" type="datetimeFigureOut">
              <a:rPr lang="en-AU" smtClean="0"/>
              <a:t>23/08/2021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400052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EEBC23BB-2070-D146-BD10-A01B23AF686B}" type="datetimeFigureOut">
              <a:rPr lang="en-AU" smtClean="0"/>
              <a:t>23/08/2021</a:t>
            </a:fld>
            <a:endParaRPr lang="en-AU"/>
          </a:p>
        </p:txBody>
      </p:sp>
      <p:sp>
        <p:nvSpPr>
          <p:cNvPr id="9" name="Footer Placeholder 8"/>
          <p:cNvSpPr>
            <a:spLocks noGrp="1"/>
          </p:cNvSpPr>
          <p:nvPr>
            <p:ph type="ftr" sz="quarter" idx="11"/>
          </p:nvPr>
        </p:nvSpPr>
        <p:spPr/>
        <p:txBody>
          <a:bodyPr/>
          <a:lstStyle>
            <a:lvl1pPr algn="r">
              <a:defRPr/>
            </a:lvl1pPr>
          </a:lstStyle>
          <a:p>
            <a:endParaRPr lang="en-AU"/>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9D89D79F-077F-204B-9403-1DA3DE99CFD3}" type="slidenum">
              <a:rPr lang="en-AU" smtClean="0"/>
              <a:t>‹#›</a:t>
            </a:fld>
            <a:endParaRPr lang="en-AU"/>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20470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EEBC23BB-2070-D146-BD10-A01B23AF686B}" type="datetimeFigureOut">
              <a:rPr lang="en-AU" smtClean="0"/>
              <a:t>23/08/2021</a:t>
            </a:fld>
            <a:endParaRPr lang="en-AU"/>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AU"/>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9D89D79F-077F-204B-9403-1DA3DE99CFD3}" type="slidenum">
              <a:rPr lang="en-AU" smtClean="0"/>
              <a:t>‹#›</a:t>
            </a:fld>
            <a:endParaRPr lang="en-AU"/>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40257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23/08/2021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414895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23/08/2021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516417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EEBC23BB-2070-D146-BD10-A01B23AF686B}" type="datetimeFigureOut">
              <a:rPr lang="en-AU" smtClean="0"/>
              <a:t>23/08/2021</a:t>
            </a:fld>
            <a:endParaRPr lang="en-AU"/>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AU"/>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9D89D79F-077F-204B-9403-1DA3DE99CFD3}" type="slidenum">
              <a:rPr lang="en-AU" smtClean="0"/>
              <a:t>‹#›</a:t>
            </a:fld>
            <a:endParaRPr lang="en-AU"/>
          </a:p>
        </p:txBody>
      </p:sp>
    </p:spTree>
    <p:extLst>
      <p:ext uri="{BB962C8B-B14F-4D97-AF65-F5344CB8AC3E}">
        <p14:creationId xmlns:p14="http://schemas.microsoft.com/office/powerpoint/2010/main" val="1214564713"/>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D42744-6AE1-4460-BB81-220391B100E6}"/>
              </a:ext>
            </a:extLst>
          </p:cNvPr>
          <p:cNvSpPr>
            <a:spLocks noGrp="1"/>
          </p:cNvSpPr>
          <p:nvPr>
            <p:ph type="ctrTitle"/>
          </p:nvPr>
        </p:nvSpPr>
        <p:spPr/>
        <p:txBody>
          <a:bodyPr>
            <a:noAutofit/>
          </a:bodyPr>
          <a:lstStyle/>
          <a:p>
            <a:r>
              <a:rPr lang="en-US" sz="4000" dirty="0">
                <a:solidFill>
                  <a:schemeClr val="tx1"/>
                </a:solidFill>
                <a:latin typeface="Tw Cen MT Condensed" panose="020B0606020104020203" pitchFamily="34" charset="0"/>
              </a:rPr>
              <a:t>Topic: </a:t>
            </a:r>
            <a:r>
              <a:rPr lang="en-US" sz="4000" dirty="0" smtClean="0">
                <a:solidFill>
                  <a:schemeClr val="tx1"/>
                </a:solidFill>
                <a:latin typeface="Tw Cen MT Condensed" panose="020B0606020104020203" pitchFamily="34" charset="0"/>
              </a:rPr>
              <a:t>Data</a:t>
            </a:r>
            <a:r>
              <a:rPr lang="en-US" sz="4000" dirty="0">
                <a:solidFill>
                  <a:schemeClr val="tx1"/>
                </a:solidFill>
                <a:latin typeface="Tw Cen MT Condensed" panose="020B0606020104020203" pitchFamily="34" charset="0"/>
              </a:rPr>
              <a:t/>
            </a:r>
            <a:br>
              <a:rPr lang="en-US" sz="4000" dirty="0">
                <a:solidFill>
                  <a:schemeClr val="tx1"/>
                </a:solidFill>
                <a:latin typeface="Tw Cen MT Condensed" panose="020B0606020104020203" pitchFamily="34" charset="0"/>
              </a:rPr>
            </a:br>
            <a:r>
              <a:rPr lang="en-US" sz="4000" dirty="0">
                <a:solidFill>
                  <a:schemeClr val="tx1"/>
                </a:solidFill>
                <a:latin typeface="Tw Cen MT Condensed" panose="020B0606020104020203" pitchFamily="34" charset="0"/>
              </a:rPr>
              <a:t>EQ: </a:t>
            </a:r>
            <a:r>
              <a:rPr lang="en-US" sz="4000" dirty="0" smtClean="0">
                <a:solidFill>
                  <a:schemeClr val="tx1"/>
                </a:solidFill>
                <a:latin typeface="Tw Cen MT Condensed" panose="020B0606020104020203" pitchFamily="34" charset="0"/>
              </a:rPr>
              <a:t>When is it better to use a histogram to display data? </a:t>
            </a:r>
            <a:endParaRPr lang="en-GB" sz="4000" dirty="0">
              <a:solidFill>
                <a:schemeClr val="tx1"/>
              </a:solidFill>
              <a:latin typeface="Tw Cen MT Condensed" panose="020B0606020104020203" pitchFamily="34" charset="0"/>
            </a:endParaRPr>
          </a:p>
        </p:txBody>
      </p:sp>
      <p:sp>
        <p:nvSpPr>
          <p:cNvPr id="3" name="Subtitle 2">
            <a:extLst>
              <a:ext uri="{FF2B5EF4-FFF2-40B4-BE49-F238E27FC236}">
                <a16:creationId xmlns="" xmlns:a16="http://schemas.microsoft.com/office/drawing/2014/main" id="{B1CE286F-EE8D-4E43-8AA7-04B4265BF31F}"/>
              </a:ext>
            </a:extLst>
          </p:cNvPr>
          <p:cNvSpPr>
            <a:spLocks noGrp="1"/>
          </p:cNvSpPr>
          <p:nvPr>
            <p:ph type="subTitle" idx="1"/>
          </p:nvPr>
        </p:nvSpPr>
        <p:spPr/>
        <p:txBody>
          <a:bodyPr>
            <a:noAutofit/>
          </a:bodyPr>
          <a:lstStyle/>
          <a:p>
            <a:r>
              <a:rPr lang="en-AU" sz="2800" dirty="0" smtClean="0">
                <a:solidFill>
                  <a:schemeClr val="tx1"/>
                </a:solidFill>
                <a:latin typeface="Tw Cen MT" panose="020B0602020104020603" pitchFamily="34" charset="0"/>
              </a:rPr>
              <a:t>Year </a:t>
            </a:r>
            <a:r>
              <a:rPr lang="en-AU" sz="2800" dirty="0">
                <a:solidFill>
                  <a:schemeClr val="tx1"/>
                </a:solidFill>
                <a:latin typeface="Tw Cen MT" panose="020B0602020104020603" pitchFamily="34" charset="0"/>
              </a:rPr>
              <a:t>11 Essentials</a:t>
            </a:r>
            <a:endParaRPr lang="en-GB" sz="2800" dirty="0">
              <a:solidFill>
                <a:schemeClr val="tx1"/>
              </a:solidFill>
              <a:latin typeface="Tw Cen MT" panose="020B0602020104020603" pitchFamily="34" charset="0"/>
            </a:endParaRPr>
          </a:p>
        </p:txBody>
      </p:sp>
    </p:spTree>
    <p:extLst>
      <p:ext uri="{BB962C8B-B14F-4D97-AF65-F5344CB8AC3E}">
        <p14:creationId xmlns:p14="http://schemas.microsoft.com/office/powerpoint/2010/main" val="18928627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2A3C03-BF03-48EF-A72A-CE11494FF168}"/>
              </a:ext>
            </a:extLst>
          </p:cNvPr>
          <p:cNvSpPr>
            <a:spLocks noGrp="1"/>
          </p:cNvSpPr>
          <p:nvPr>
            <p:ph type="title"/>
          </p:nvPr>
        </p:nvSpPr>
        <p:spPr>
          <a:xfrm>
            <a:off x="886494" y="1000105"/>
            <a:ext cx="10058400" cy="1371600"/>
          </a:xfrm>
        </p:spPr>
        <p:txBody>
          <a:bodyPr/>
          <a:lstStyle/>
          <a:p>
            <a:r>
              <a:rPr lang="en-AU" b="1" dirty="0" smtClean="0">
                <a:latin typeface="Bradley Hand ITC" panose="03070402050302030203" pitchFamily="66" charset="0"/>
              </a:rPr>
              <a:t>Five </a:t>
            </a:r>
            <a:r>
              <a:rPr lang="en-AU" b="1" dirty="0">
                <a:latin typeface="Bradley Hand ITC" panose="03070402050302030203" pitchFamily="66" charset="0"/>
              </a:rPr>
              <a:t>Questions</a:t>
            </a:r>
          </a:p>
        </p:txBody>
      </p:sp>
      <p:sp>
        <p:nvSpPr>
          <p:cNvPr id="3" name="Content Placeholder 2">
            <a:extLst>
              <a:ext uri="{FF2B5EF4-FFF2-40B4-BE49-F238E27FC236}">
                <a16:creationId xmlns="" xmlns:mc="http://schemas.openxmlformats.org/markup-compatibility/2006" xmlns:a14="http://schemas.microsoft.com/office/drawing/2010/main" xmlns:a16="http://schemas.microsoft.com/office/drawing/2014/main" id="{F5C9BC97-E084-4305-8742-02C144E0C26A}"/>
              </a:ext>
            </a:extLst>
          </p:cNvPr>
          <p:cNvSpPr>
            <a:spLocks noGrp="1"/>
          </p:cNvSpPr>
          <p:nvPr>
            <p:ph idx="1"/>
          </p:nvPr>
        </p:nvSpPr>
        <p:spPr>
          <a:xfrm>
            <a:off x="857872" y="2267712"/>
            <a:ext cx="11017452" cy="4453722"/>
          </a:xfrm>
        </p:spPr>
        <p:txBody>
          <a:bodyPr>
            <a:normAutofit/>
          </a:bodyPr>
          <a:lstStyle/>
          <a:p>
            <a:pPr marL="457200" indent="-457200">
              <a:buFont typeface="+mj-lt"/>
              <a:buAutoNum type="arabicPeriod"/>
            </a:pPr>
            <a:r>
              <a:rPr lang="en-AU" sz="2400" b="0" dirty="0" smtClean="0">
                <a:latin typeface="Calibri" panose="020F0502020204030204" pitchFamily="34" charset="0"/>
                <a:cs typeface="Calibri" panose="020F0502020204030204" pitchFamily="34" charset="0"/>
              </a:rPr>
              <a:t>Write 0.6 as a fraction and a percentage?</a:t>
            </a:r>
            <a:endParaRPr lang="en-AU" sz="2400" dirty="0">
              <a:latin typeface="Calibri" panose="020F0502020204030204" pitchFamily="34" charset="0"/>
              <a:cs typeface="Calibri" panose="020F0502020204030204" pitchFamily="34" charset="0"/>
            </a:endParaRPr>
          </a:p>
          <a:p>
            <a:pPr marL="457200" indent="-457200">
              <a:buFont typeface="+mj-lt"/>
              <a:buAutoNum type="arabicPeriod"/>
            </a:pPr>
            <a:r>
              <a:rPr lang="en-AU" sz="2400" b="0" dirty="0" smtClean="0">
                <a:latin typeface="Calibri" panose="020F0502020204030204" pitchFamily="34" charset="0"/>
                <a:cs typeface="Calibri" panose="020F0502020204030204" pitchFamily="34" charset="0"/>
              </a:rPr>
              <a:t>If w</a:t>
            </a:r>
            <a:r>
              <a:rPr lang="en-AU" sz="2400" b="0" baseline="30000" dirty="0" smtClean="0">
                <a:latin typeface="Calibri" panose="020F0502020204030204" pitchFamily="34" charset="0"/>
                <a:cs typeface="Calibri" panose="020F0502020204030204" pitchFamily="34" charset="0"/>
              </a:rPr>
              <a:t>3</a:t>
            </a:r>
            <a:r>
              <a:rPr lang="en-AU" sz="2400" b="0" dirty="0" smtClean="0">
                <a:latin typeface="Calibri" panose="020F0502020204030204" pitchFamily="34" charset="0"/>
                <a:cs typeface="Calibri" panose="020F0502020204030204" pitchFamily="34" charset="0"/>
              </a:rPr>
              <a:t> = 27, what is w?</a:t>
            </a:r>
            <a:endParaRPr lang="en-AU" sz="2400" b="0" dirty="0" smtClean="0">
              <a:latin typeface="Calibri" panose="020F0502020204030204" pitchFamily="34" charset="0"/>
              <a:cs typeface="Calibri" panose="020F0502020204030204" pitchFamily="34" charset="0"/>
            </a:endParaRPr>
          </a:p>
          <a:p>
            <a:pPr marL="457200" indent="-457200">
              <a:buFont typeface="+mj-lt"/>
              <a:buAutoNum type="arabicPeriod"/>
            </a:pPr>
            <a:r>
              <a:rPr lang="en-AU" sz="2400" dirty="0" smtClean="0">
                <a:latin typeface="Calibri" panose="020F0502020204030204" pitchFamily="34" charset="0"/>
                <a:cs typeface="Calibri" panose="020F0502020204030204" pitchFamily="34" charset="0"/>
              </a:rPr>
              <a:t>Use an appropriate strategy to calculate 14.6</a:t>
            </a:r>
            <a:r>
              <a:rPr lang="en-AU" sz="2400" dirty="0" smtClean="0">
                <a:latin typeface="Calibri" panose="020F0502020204030204" pitchFamily="34" charset="0"/>
                <a:cs typeface="Calibri" panose="020F0502020204030204" pitchFamily="34" charset="0"/>
              </a:rPr>
              <a:t> x 4</a:t>
            </a:r>
            <a:endParaRPr lang="en-AU" sz="2400" dirty="0" smtClean="0">
              <a:latin typeface="Calibri" panose="020F0502020204030204" pitchFamily="34" charset="0"/>
              <a:cs typeface="Calibri" panose="020F0502020204030204" pitchFamily="34" charset="0"/>
            </a:endParaRPr>
          </a:p>
          <a:p>
            <a:pPr marL="457200" indent="-457200">
              <a:buFont typeface="+mj-lt"/>
              <a:buAutoNum type="arabicPeriod"/>
            </a:pPr>
            <a:r>
              <a:rPr lang="en-AU" sz="2400" dirty="0" smtClean="0">
                <a:latin typeface="Calibri" panose="020F0502020204030204" pitchFamily="34" charset="0"/>
                <a:cs typeface="Calibri" panose="020F0502020204030204" pitchFamily="34" charset="0"/>
              </a:rPr>
              <a:t>A 1Lbottle of milk costs $1.98. If I use 1 bottle per day, how much would I pay for milk per week?</a:t>
            </a:r>
          </a:p>
          <a:p>
            <a:pPr marL="457200" indent="-457200">
              <a:buFont typeface="+mj-lt"/>
              <a:buAutoNum type="arabicPeriod"/>
            </a:pPr>
            <a:r>
              <a:rPr lang="en-AU" sz="2400" dirty="0" smtClean="0">
                <a:latin typeface="Calibri" panose="020F0502020204030204" pitchFamily="34" charset="0"/>
                <a:cs typeface="Calibri" panose="020F0502020204030204" pitchFamily="34" charset="0"/>
              </a:rPr>
              <a:t>Give the mode, median, Q1, Q3 and the range for the following data:</a:t>
            </a:r>
          </a:p>
          <a:p>
            <a:pPr marL="0" indent="0">
              <a:buNone/>
            </a:pPr>
            <a:r>
              <a:rPr lang="en-AU" sz="2400" dirty="0" smtClean="0">
                <a:latin typeface="Calibri" panose="020F0502020204030204" pitchFamily="34" charset="0"/>
                <a:cs typeface="Calibri" panose="020F0502020204030204" pitchFamily="34" charset="0"/>
              </a:rPr>
              <a:t>	{6, 7, 20, 12, 12, 12, 19, 21, 23, 25, 17, 19, 14}</a:t>
            </a:r>
          </a:p>
        </p:txBody>
      </p:sp>
      <p:sp>
        <p:nvSpPr>
          <p:cNvPr id="4" name="TextBox 3">
            <a:extLst>
              <a:ext uri="{FF2B5EF4-FFF2-40B4-BE49-F238E27FC236}">
                <a16:creationId xmlns="" xmlns:a16="http://schemas.microsoft.com/office/drawing/2014/main" id="{AF8740F4-4E29-46F0-AE17-D5002ED9BE37}"/>
              </a:ext>
            </a:extLst>
          </p:cNvPr>
          <p:cNvSpPr txBox="1"/>
          <p:nvPr/>
        </p:nvSpPr>
        <p:spPr>
          <a:xfrm>
            <a:off x="4901025" y="272531"/>
            <a:ext cx="2029338"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a:t>
            </a:r>
            <a:r>
              <a:rPr lang="en-AU" sz="3200" dirty="0" smtClean="0">
                <a:solidFill>
                  <a:prstClr val="black"/>
                </a:solidFill>
                <a:latin typeface="Calibri" panose="020F0502020204030204" pitchFamily="34" charset="0"/>
                <a:cs typeface="Calibri" panose="020F0502020204030204" pitchFamily="34" charset="0"/>
              </a:rPr>
              <a:t>Data</a:t>
            </a:r>
            <a:endParaRPr lang="en-AU" sz="3200" dirty="0">
              <a:solidFill>
                <a:prstClr val="black"/>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 xmlns:a16="http://schemas.microsoft.com/office/drawing/2014/main" id="{8ACED037-8382-4B21-A2F7-E1E36A739063}"/>
              </a:ext>
            </a:extLst>
          </p:cNvPr>
          <p:cNvSpPr txBox="1"/>
          <p:nvPr/>
        </p:nvSpPr>
        <p:spPr>
          <a:xfrm>
            <a:off x="4901025" y="859252"/>
            <a:ext cx="6815487" cy="830740"/>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a:t>
            </a:r>
            <a:r>
              <a:rPr lang="en-AU" sz="2399" dirty="0" smtClean="0">
                <a:solidFill>
                  <a:prstClr val="black"/>
                </a:solidFill>
                <a:latin typeface="Calibri" panose="020F0502020204030204" pitchFamily="34" charset="0"/>
                <a:cs typeface="Calibri" panose="020F0502020204030204" pitchFamily="34" charset="0"/>
              </a:rPr>
              <a:t>Explain how frequency distribution tables can be used?</a:t>
            </a:r>
            <a:endParaRPr lang="en-AU" sz="2399" dirty="0">
              <a:solidFill>
                <a:prstClr val="black"/>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 xmlns:a16="http://schemas.microsoft.com/office/drawing/2014/main" id="{DB63EF86-F88E-4651-A0D0-6F8AFC411E31}"/>
              </a:ext>
            </a:extLst>
          </p:cNvPr>
          <p:cNvSpPr txBox="1"/>
          <p:nvPr/>
        </p:nvSpPr>
        <p:spPr>
          <a:xfrm>
            <a:off x="9537046" y="339624"/>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a:t>
            </a:r>
            <a:r>
              <a:rPr lang="en-AU" sz="2399" dirty="0" smtClean="0">
                <a:solidFill>
                  <a:prstClr val="black"/>
                </a:solidFill>
                <a:latin typeface="Calibri" panose="020F0502020204030204" pitchFamily="34" charset="0"/>
                <a:cs typeface="Calibri" panose="020F0502020204030204" pitchFamily="34" charset="0"/>
              </a:rPr>
              <a:t>:</a:t>
            </a:r>
            <a:endParaRPr lang="en-AU" sz="2399"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90193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2029338"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a:t>
            </a:r>
            <a:r>
              <a:rPr lang="en-AU" sz="3200" dirty="0" smtClean="0">
                <a:solidFill>
                  <a:prstClr val="black"/>
                </a:solidFill>
                <a:latin typeface="Calibri" panose="020F0502020204030204" pitchFamily="34" charset="0"/>
                <a:cs typeface="Calibri" panose="020F0502020204030204" pitchFamily="34" charset="0"/>
              </a:rPr>
              <a:t>Data</a:t>
            </a:r>
            <a:endParaRPr lang="en-AU" sz="3200" dirty="0">
              <a:solidFill>
                <a:prstClr val="black"/>
              </a:solidFill>
              <a:latin typeface="Calibri" panose="020F0502020204030204" pitchFamily="34" charset="0"/>
              <a:cs typeface="Calibri" panose="020F0502020204030204" pitchFamily="34" charset="0"/>
            </a:endParaRPr>
          </a:p>
        </p:txBody>
      </p:sp>
      <p:sp>
        <p:nvSpPr>
          <p:cNvPr id="11" name="TextBox 10"/>
          <p:cNvSpPr txBox="1"/>
          <p:nvPr/>
        </p:nvSpPr>
        <p:spPr>
          <a:xfrm>
            <a:off x="9493720" y="21135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a:t>
            </a:r>
            <a:r>
              <a:rPr lang="en-AU" sz="2399" dirty="0" smtClean="0">
                <a:solidFill>
                  <a:prstClr val="black"/>
                </a:solidFill>
                <a:latin typeface="Calibri" panose="020F0502020204030204" pitchFamily="34" charset="0"/>
                <a:cs typeface="Calibri" panose="020F0502020204030204" pitchFamily="34" charset="0"/>
              </a:rPr>
              <a:t>:</a:t>
            </a:r>
            <a:endParaRPr lang="en-AU" sz="2399" dirty="0">
              <a:solidFill>
                <a:prstClr val="black"/>
              </a:solidFill>
              <a:latin typeface="Calibri" panose="020F0502020204030204" pitchFamily="34" charset="0"/>
              <a:cs typeface="Calibri" panose="020F0502020204030204" pitchFamily="34" charset="0"/>
            </a:endParaRPr>
          </a:p>
        </p:txBody>
      </p:sp>
      <p:sp>
        <p:nvSpPr>
          <p:cNvPr id="33" name="TextBox 32"/>
          <p:cNvSpPr txBox="1"/>
          <p:nvPr/>
        </p:nvSpPr>
        <p:spPr>
          <a:xfrm>
            <a:off x="191345" y="837124"/>
            <a:ext cx="778887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a:t>
            </a:r>
            <a:r>
              <a:rPr lang="en-AU" sz="2399" dirty="0" smtClean="0">
                <a:solidFill>
                  <a:prstClr val="black"/>
                </a:solidFill>
                <a:latin typeface="Calibri" panose="020F0502020204030204" pitchFamily="34" charset="0"/>
                <a:cs typeface="Calibri" panose="020F0502020204030204" pitchFamily="34" charset="0"/>
              </a:rPr>
              <a:t>Explain how frequency distribution tables can be used?</a:t>
            </a:r>
            <a:endParaRPr lang="en-AU" sz="2399" dirty="0">
              <a:solidFill>
                <a:prstClr val="black"/>
              </a:solidFill>
              <a:latin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 xmlns:a16="http://schemas.microsoft.com/office/drawing/2014/main" id="{29070ED6-4BED-4D32-94DD-D50FBBDA7771}"/>
              </a:ext>
            </a:extLst>
          </p:cNvPr>
          <p:cNvSpPr txBox="1"/>
          <p:nvPr/>
        </p:nvSpPr>
        <p:spPr>
          <a:xfrm>
            <a:off x="54715" y="1490008"/>
            <a:ext cx="2166798" cy="830997"/>
          </a:xfrm>
          <a:prstGeom prst="rect">
            <a:avLst/>
          </a:prstGeom>
          <a:noFill/>
        </p:spPr>
        <p:txBody>
          <a:bodyPr wrap="square" rtlCol="0">
            <a:spAutoFit/>
          </a:bodyPr>
          <a:lstStyle/>
          <a:p>
            <a:r>
              <a:rPr lang="en-AU" sz="2400" dirty="0" smtClean="0">
                <a:latin typeface="Calibri" panose="020F0502020204030204" pitchFamily="34" charset="0"/>
                <a:cs typeface="Calibri" panose="020F0502020204030204" pitchFamily="34" charset="0"/>
              </a:rPr>
              <a:t>What is a histogram?</a:t>
            </a:r>
            <a:endParaRPr lang="en-AU" sz="24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 xmlns:a16="http://schemas.microsoft.com/office/drawing/2014/main" id="{61B98AF6-C845-4C3F-804D-986DB17E48F9}"/>
              </a:ext>
            </a:extLst>
          </p:cNvPr>
          <p:cNvSpPr txBox="1"/>
          <p:nvPr/>
        </p:nvSpPr>
        <p:spPr>
          <a:xfrm>
            <a:off x="2336426" y="1350976"/>
            <a:ext cx="9044747" cy="2862322"/>
          </a:xfrm>
          <a:prstGeom prst="rect">
            <a:avLst/>
          </a:prstGeom>
          <a:noFill/>
        </p:spPr>
        <p:txBody>
          <a:bodyPr wrap="square" rtlCol="0">
            <a:spAutoFit/>
          </a:bodyPr>
          <a:lstStyle/>
          <a:p>
            <a:pPr>
              <a:lnSpc>
                <a:spcPct val="150000"/>
              </a:lnSpc>
            </a:pPr>
            <a:r>
              <a:rPr lang="en-AU" sz="2400" dirty="0" smtClean="0">
                <a:latin typeface="Calibri" panose="020F0502020204030204" pitchFamily="34" charset="0"/>
                <a:cs typeface="Calibri" panose="020F0502020204030204" pitchFamily="34" charset="0"/>
              </a:rPr>
              <a:t>Histograms are used when there are too many data points to display using a dot plot.  They are used to show frequency distribution for larger sets of continuous numerical data, with the x axis displaying continuous numerical data and the y showing the frequency.</a:t>
            </a:r>
            <a:endParaRPr lang="en-AU" sz="2400" dirty="0" smtClean="0">
              <a:latin typeface="Calibri" panose="020F0502020204030204" pitchFamily="34" charset="0"/>
              <a:cs typeface="Calibri" panose="020F0502020204030204" pitchFamily="34" charset="0"/>
            </a:endParaRPr>
          </a:p>
          <a:p>
            <a:pPr marL="457200" indent="-457200">
              <a:lnSpc>
                <a:spcPct val="150000"/>
              </a:lnSpc>
              <a:buAutoNum type="arabicPeriod"/>
            </a:pPr>
            <a:endParaRPr lang="en-AU" sz="2400" dirty="0">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1095" y="3621786"/>
            <a:ext cx="5762625" cy="3028950"/>
          </a:xfrm>
          <a:prstGeom prst="rect">
            <a:avLst/>
          </a:prstGeom>
        </p:spPr>
      </p:pic>
    </p:spTree>
    <p:extLst>
      <p:ext uri="{BB962C8B-B14F-4D97-AF65-F5344CB8AC3E}">
        <p14:creationId xmlns:p14="http://schemas.microsoft.com/office/powerpoint/2010/main" val="2043037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40A4DFAF-EE34-4E1D-8CDC-6A592D2B9812}"/>
              </a:ext>
            </a:extLst>
          </p:cNvPr>
          <p:cNvSpPr txBox="1"/>
          <p:nvPr/>
        </p:nvSpPr>
        <p:spPr>
          <a:xfrm>
            <a:off x="1602701" y="231845"/>
            <a:ext cx="8640960" cy="1200329"/>
          </a:xfrm>
          <a:prstGeom prst="rect">
            <a:avLst/>
          </a:prstGeom>
          <a:noFill/>
        </p:spPr>
        <p:txBody>
          <a:bodyPr wrap="square" rtlCol="0">
            <a:spAutoFit/>
          </a:bodyPr>
          <a:lstStyle/>
          <a:p>
            <a:r>
              <a:rPr lang="en-AU" sz="2400" u="sng" dirty="0" smtClean="0"/>
              <a:t> </a:t>
            </a:r>
            <a:endParaRPr lang="en-AU" sz="2400" u="sng" dirty="0"/>
          </a:p>
          <a:p>
            <a:r>
              <a:rPr lang="en-AU" sz="2400" dirty="0"/>
              <a:t>A histogram looks a lot like a column graph but there are a couple of key differences.  </a:t>
            </a:r>
          </a:p>
        </p:txBody>
      </p:sp>
      <p:pic>
        <p:nvPicPr>
          <p:cNvPr id="6" name="Picture 5">
            <a:extLst>
              <a:ext uri="{FF2B5EF4-FFF2-40B4-BE49-F238E27FC236}">
                <a16:creationId xmlns:a16="http://schemas.microsoft.com/office/drawing/2014/main" xmlns="" id="{5572DB47-FDB8-4991-9DB1-FCD6AEC5E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1158" y="2232920"/>
            <a:ext cx="6858000" cy="3006090"/>
          </a:xfrm>
          <a:prstGeom prst="rect">
            <a:avLst/>
          </a:prstGeom>
        </p:spPr>
      </p:pic>
      <p:sp>
        <p:nvSpPr>
          <p:cNvPr id="7" name="TextBox 6">
            <a:extLst>
              <a:ext uri="{FF2B5EF4-FFF2-40B4-BE49-F238E27FC236}">
                <a16:creationId xmlns:a16="http://schemas.microsoft.com/office/drawing/2014/main" xmlns="" id="{35196950-21A1-4981-B121-593AF8F184D6}"/>
              </a:ext>
            </a:extLst>
          </p:cNvPr>
          <p:cNvSpPr txBox="1"/>
          <p:nvPr/>
        </p:nvSpPr>
        <p:spPr>
          <a:xfrm>
            <a:off x="3598752" y="1641066"/>
            <a:ext cx="1641782" cy="424732"/>
          </a:xfrm>
          <a:prstGeom prst="rect">
            <a:avLst/>
          </a:prstGeom>
          <a:noFill/>
        </p:spPr>
        <p:txBody>
          <a:bodyPr wrap="square" rtlCol="0">
            <a:spAutoFit/>
          </a:bodyPr>
          <a:lstStyle/>
          <a:p>
            <a:r>
              <a:rPr lang="en-AU" sz="2160" dirty="0"/>
              <a:t>Gaps</a:t>
            </a:r>
          </a:p>
        </p:txBody>
      </p:sp>
      <p:cxnSp>
        <p:nvCxnSpPr>
          <p:cNvPr id="9" name="Straight Arrow Connector 8">
            <a:extLst>
              <a:ext uri="{FF2B5EF4-FFF2-40B4-BE49-F238E27FC236}">
                <a16:creationId xmlns:a16="http://schemas.microsoft.com/office/drawing/2014/main" xmlns="" id="{E96C9F9D-4778-4F15-BFF3-018F0B6C98B5}"/>
              </a:ext>
            </a:extLst>
          </p:cNvPr>
          <p:cNvCxnSpPr>
            <a:cxnSpLocks/>
          </p:cNvCxnSpPr>
          <p:nvPr/>
        </p:nvCxnSpPr>
        <p:spPr>
          <a:xfrm flipH="1">
            <a:off x="3330893" y="2046447"/>
            <a:ext cx="518458" cy="1689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xmlns="" id="{A5E4782A-1ECE-433F-9EAD-F782B4F19E9A}"/>
              </a:ext>
            </a:extLst>
          </p:cNvPr>
          <p:cNvCxnSpPr>
            <a:cxnSpLocks/>
          </p:cNvCxnSpPr>
          <p:nvPr/>
        </p:nvCxnSpPr>
        <p:spPr>
          <a:xfrm flipH="1">
            <a:off x="3762941" y="2046447"/>
            <a:ext cx="172819" cy="1689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xmlns="" id="{C33173A9-9740-4309-8291-929D4C3E141D}"/>
              </a:ext>
            </a:extLst>
          </p:cNvPr>
          <p:cNvCxnSpPr>
            <a:cxnSpLocks/>
          </p:cNvCxnSpPr>
          <p:nvPr/>
        </p:nvCxnSpPr>
        <p:spPr>
          <a:xfrm>
            <a:off x="4108579" y="2046447"/>
            <a:ext cx="86410" cy="1869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xmlns="" id="{2BB2E56C-C26A-4E45-AA7C-9B606C8E1D02}"/>
              </a:ext>
            </a:extLst>
          </p:cNvPr>
          <p:cNvCxnSpPr>
            <a:cxnSpLocks/>
          </p:cNvCxnSpPr>
          <p:nvPr/>
        </p:nvCxnSpPr>
        <p:spPr>
          <a:xfrm>
            <a:off x="4241052" y="2075916"/>
            <a:ext cx="357184" cy="1839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517F285C-32AC-4C8D-A5B8-EB29BF242B55}"/>
              </a:ext>
            </a:extLst>
          </p:cNvPr>
          <p:cNvSpPr txBox="1"/>
          <p:nvPr/>
        </p:nvSpPr>
        <p:spPr>
          <a:xfrm>
            <a:off x="7337376" y="1647022"/>
            <a:ext cx="1641782" cy="424732"/>
          </a:xfrm>
          <a:prstGeom prst="rect">
            <a:avLst/>
          </a:prstGeom>
          <a:noFill/>
        </p:spPr>
        <p:txBody>
          <a:bodyPr wrap="square" rtlCol="0">
            <a:spAutoFit/>
          </a:bodyPr>
          <a:lstStyle/>
          <a:p>
            <a:r>
              <a:rPr lang="en-AU" sz="2160" dirty="0"/>
              <a:t>No Gaps</a:t>
            </a:r>
          </a:p>
        </p:txBody>
      </p:sp>
      <p:cxnSp>
        <p:nvCxnSpPr>
          <p:cNvPr id="22" name="Straight Arrow Connector 21">
            <a:extLst>
              <a:ext uri="{FF2B5EF4-FFF2-40B4-BE49-F238E27FC236}">
                <a16:creationId xmlns:a16="http://schemas.microsoft.com/office/drawing/2014/main" xmlns="" id="{974435E1-E549-44F4-804F-720ED0B5807D}"/>
              </a:ext>
            </a:extLst>
          </p:cNvPr>
          <p:cNvCxnSpPr>
            <a:cxnSpLocks/>
          </p:cNvCxnSpPr>
          <p:nvPr/>
        </p:nvCxnSpPr>
        <p:spPr>
          <a:xfrm flipH="1">
            <a:off x="6784989" y="1925363"/>
            <a:ext cx="732418" cy="2285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xmlns="" id="{7638B4E3-F41E-469B-9491-1A375A0C8C02}"/>
              </a:ext>
            </a:extLst>
          </p:cNvPr>
          <p:cNvCxnSpPr>
            <a:cxnSpLocks/>
          </p:cNvCxnSpPr>
          <p:nvPr/>
        </p:nvCxnSpPr>
        <p:spPr>
          <a:xfrm flipH="1">
            <a:off x="7227955" y="1925364"/>
            <a:ext cx="375859" cy="2108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xmlns="" id="{76453929-9E9B-4D8E-A0BE-E7E09773BD5D}"/>
              </a:ext>
            </a:extLst>
          </p:cNvPr>
          <p:cNvCxnSpPr>
            <a:cxnSpLocks/>
          </p:cNvCxnSpPr>
          <p:nvPr/>
        </p:nvCxnSpPr>
        <p:spPr>
          <a:xfrm flipH="1">
            <a:off x="7651373" y="1925363"/>
            <a:ext cx="125261" cy="1990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xmlns="" id="{1EDC82D8-FE53-473E-9505-1A33000A5EBE}"/>
              </a:ext>
            </a:extLst>
          </p:cNvPr>
          <p:cNvCxnSpPr>
            <a:cxnSpLocks/>
          </p:cNvCxnSpPr>
          <p:nvPr/>
        </p:nvCxnSpPr>
        <p:spPr>
          <a:xfrm>
            <a:off x="7909106" y="1954833"/>
            <a:ext cx="190068" cy="2051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xmlns="" id="{3D8DD201-1894-44CC-99A0-DC2485EAA718}"/>
              </a:ext>
            </a:extLst>
          </p:cNvPr>
          <p:cNvSpPr txBox="1"/>
          <p:nvPr/>
        </p:nvSpPr>
        <p:spPr>
          <a:xfrm>
            <a:off x="2527509" y="5239010"/>
            <a:ext cx="3427086" cy="1089529"/>
          </a:xfrm>
          <a:prstGeom prst="rect">
            <a:avLst/>
          </a:prstGeom>
          <a:noFill/>
        </p:spPr>
        <p:txBody>
          <a:bodyPr wrap="square" rtlCol="0">
            <a:spAutoFit/>
          </a:bodyPr>
          <a:lstStyle/>
          <a:p>
            <a:r>
              <a:rPr lang="en-AU" sz="2160" dirty="0"/>
              <a:t>Data is categorical and bars can be swapped around </a:t>
            </a:r>
          </a:p>
        </p:txBody>
      </p:sp>
      <p:sp>
        <p:nvSpPr>
          <p:cNvPr id="47" name="TextBox 46">
            <a:extLst>
              <a:ext uri="{FF2B5EF4-FFF2-40B4-BE49-F238E27FC236}">
                <a16:creationId xmlns:a16="http://schemas.microsoft.com/office/drawing/2014/main" xmlns="" id="{AB965DE4-BCFF-4D00-A813-EBCA57861DE2}"/>
              </a:ext>
            </a:extLst>
          </p:cNvPr>
          <p:cNvSpPr txBox="1"/>
          <p:nvPr/>
        </p:nvSpPr>
        <p:spPr>
          <a:xfrm>
            <a:off x="6336749" y="5239007"/>
            <a:ext cx="4677072" cy="1089529"/>
          </a:xfrm>
          <a:prstGeom prst="rect">
            <a:avLst/>
          </a:prstGeom>
          <a:noFill/>
        </p:spPr>
        <p:txBody>
          <a:bodyPr wrap="square" rtlCol="0">
            <a:spAutoFit/>
          </a:bodyPr>
          <a:lstStyle/>
          <a:p>
            <a:r>
              <a:rPr lang="en-AU" sz="2160" dirty="0"/>
              <a:t>Data is continuous numerical and columns cannot be swapped around</a:t>
            </a:r>
          </a:p>
        </p:txBody>
      </p:sp>
      <p:cxnSp>
        <p:nvCxnSpPr>
          <p:cNvPr id="49" name="Straight Arrow Connector 48">
            <a:extLst>
              <a:ext uri="{FF2B5EF4-FFF2-40B4-BE49-F238E27FC236}">
                <a16:creationId xmlns:a16="http://schemas.microsoft.com/office/drawing/2014/main" xmlns="" id="{D95F3A5B-1E5E-43F7-9E28-723C67031D0A}"/>
              </a:ext>
            </a:extLst>
          </p:cNvPr>
          <p:cNvCxnSpPr/>
          <p:nvPr/>
        </p:nvCxnSpPr>
        <p:spPr>
          <a:xfrm flipV="1">
            <a:off x="2985255" y="4685216"/>
            <a:ext cx="345638" cy="5537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xmlns="" id="{462EAE95-B781-4B46-B723-3309BF460727}"/>
              </a:ext>
            </a:extLst>
          </p:cNvPr>
          <p:cNvCxnSpPr>
            <a:cxnSpLocks/>
          </p:cNvCxnSpPr>
          <p:nvPr/>
        </p:nvCxnSpPr>
        <p:spPr>
          <a:xfrm flipH="1" flipV="1">
            <a:off x="8152906" y="4685216"/>
            <a:ext cx="621792" cy="553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7481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1" grpId="0"/>
      <p:bldP spid="46" grpId="0"/>
      <p:bldP spid="47"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2029338"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a:t>
            </a:r>
            <a:r>
              <a:rPr lang="en-AU" sz="3200" dirty="0" smtClean="0">
                <a:solidFill>
                  <a:prstClr val="black"/>
                </a:solidFill>
                <a:latin typeface="Calibri" panose="020F0502020204030204" pitchFamily="34" charset="0"/>
                <a:cs typeface="Calibri" panose="020F0502020204030204" pitchFamily="34" charset="0"/>
              </a:rPr>
              <a:t>Data</a:t>
            </a:r>
            <a:endParaRPr lang="en-AU" sz="3200" dirty="0">
              <a:solidFill>
                <a:prstClr val="black"/>
              </a:solidFill>
              <a:latin typeface="Calibri" panose="020F0502020204030204" pitchFamily="34" charset="0"/>
              <a:cs typeface="Calibri" panose="020F0502020204030204" pitchFamily="34" charset="0"/>
            </a:endParaRPr>
          </a:p>
        </p:txBody>
      </p:sp>
      <p:sp>
        <p:nvSpPr>
          <p:cNvPr id="11" name="TextBox 10"/>
          <p:cNvSpPr txBox="1"/>
          <p:nvPr/>
        </p:nvSpPr>
        <p:spPr>
          <a:xfrm>
            <a:off x="9493720" y="21135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a:t>
            </a:r>
            <a:r>
              <a:rPr lang="en-AU" sz="2399" dirty="0" smtClean="0">
                <a:solidFill>
                  <a:prstClr val="black"/>
                </a:solidFill>
                <a:latin typeface="Calibri" panose="020F0502020204030204" pitchFamily="34" charset="0"/>
                <a:cs typeface="Calibri" panose="020F0502020204030204" pitchFamily="34" charset="0"/>
              </a:rPr>
              <a:t>:</a:t>
            </a:r>
            <a:endParaRPr lang="en-AU" sz="2399" dirty="0">
              <a:solidFill>
                <a:prstClr val="black"/>
              </a:solidFill>
              <a:latin typeface="Calibri" panose="020F0502020204030204" pitchFamily="34" charset="0"/>
              <a:cs typeface="Calibri" panose="020F0502020204030204" pitchFamily="34" charset="0"/>
            </a:endParaRPr>
          </a:p>
        </p:txBody>
      </p:sp>
      <p:sp>
        <p:nvSpPr>
          <p:cNvPr id="33" name="TextBox 32"/>
          <p:cNvSpPr txBox="1"/>
          <p:nvPr/>
        </p:nvSpPr>
        <p:spPr>
          <a:xfrm>
            <a:off x="191345" y="837124"/>
            <a:ext cx="778887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a:t>
            </a:r>
            <a:r>
              <a:rPr lang="en-AU" sz="2399" dirty="0" smtClean="0">
                <a:solidFill>
                  <a:prstClr val="black"/>
                </a:solidFill>
                <a:latin typeface="Calibri" panose="020F0502020204030204" pitchFamily="34" charset="0"/>
                <a:cs typeface="Calibri" panose="020F0502020204030204" pitchFamily="34" charset="0"/>
              </a:rPr>
              <a:t>Explain how frequency distribution tables can be used?</a:t>
            </a:r>
            <a:endParaRPr lang="en-AU" sz="2399" dirty="0">
              <a:solidFill>
                <a:prstClr val="black"/>
              </a:solidFill>
              <a:latin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 xmlns:a16="http://schemas.microsoft.com/office/drawing/2014/main" id="{29070ED6-4BED-4D32-94DD-D50FBBDA7771}"/>
              </a:ext>
            </a:extLst>
          </p:cNvPr>
          <p:cNvSpPr txBox="1"/>
          <p:nvPr/>
        </p:nvSpPr>
        <p:spPr>
          <a:xfrm>
            <a:off x="54715" y="1490008"/>
            <a:ext cx="2166798" cy="1200329"/>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List the steps to create a histogram?</a:t>
            </a:r>
            <a:endParaRPr lang="en-AU" sz="24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 xmlns:a16="http://schemas.microsoft.com/office/drawing/2014/main" id="{61B98AF6-C845-4C3F-804D-986DB17E48F9}"/>
              </a:ext>
            </a:extLst>
          </p:cNvPr>
          <p:cNvSpPr txBox="1"/>
          <p:nvPr/>
        </p:nvSpPr>
        <p:spPr>
          <a:xfrm>
            <a:off x="2336426" y="1490008"/>
            <a:ext cx="9044747" cy="2308324"/>
          </a:xfrm>
          <a:prstGeom prst="rect">
            <a:avLst/>
          </a:prstGeom>
          <a:noFill/>
        </p:spPr>
        <p:txBody>
          <a:bodyPr wrap="square" rtlCol="0">
            <a:spAutoFit/>
          </a:bodyPr>
          <a:lstStyle/>
          <a:p>
            <a:pPr marL="411480" indent="-411480">
              <a:buAutoNum type="arabicPeriod"/>
            </a:pPr>
            <a:r>
              <a:rPr lang="en-AU" sz="2400" dirty="0">
                <a:latin typeface="Calibri" panose="020F0502020204030204" pitchFamily="34" charset="0"/>
                <a:cs typeface="Calibri" panose="020F0502020204030204" pitchFamily="34" charset="0"/>
              </a:rPr>
              <a:t>Look at the range of the data to help decide on a “class width”.</a:t>
            </a:r>
          </a:p>
          <a:p>
            <a:pPr marL="411480" indent="-411480">
              <a:buAutoNum type="arabicPeriod"/>
            </a:pPr>
            <a:r>
              <a:rPr lang="en-AU" sz="2400" dirty="0">
                <a:latin typeface="Calibri" panose="020F0502020204030204" pitchFamily="34" charset="0"/>
                <a:cs typeface="Calibri" panose="020F0502020204030204" pitchFamily="34" charset="0"/>
              </a:rPr>
              <a:t>Use the class width to create a frequency table.</a:t>
            </a:r>
          </a:p>
          <a:p>
            <a:pPr marL="411480" indent="-411480">
              <a:buAutoNum type="arabicPeriod"/>
            </a:pPr>
            <a:r>
              <a:rPr lang="en-AU" sz="2400" dirty="0">
                <a:latin typeface="Calibri" panose="020F0502020204030204" pitchFamily="34" charset="0"/>
                <a:cs typeface="Calibri" panose="020F0502020204030204" pitchFamily="34" charset="0"/>
              </a:rPr>
              <a:t>Create a set of Axis that will accommodate all the data we wish to show.</a:t>
            </a:r>
          </a:p>
          <a:p>
            <a:pPr marL="411480" indent="-411480">
              <a:buAutoNum type="arabicPeriod"/>
            </a:pPr>
            <a:r>
              <a:rPr lang="en-AU" sz="2400" dirty="0">
                <a:latin typeface="Calibri" panose="020F0502020204030204" pitchFamily="34" charset="0"/>
                <a:cs typeface="Calibri" panose="020F0502020204030204" pitchFamily="34" charset="0"/>
              </a:rPr>
              <a:t>Use the frequency data from the frequency table to complete the graph and add a title.</a:t>
            </a:r>
            <a:endParaRPr lang="en-AU" sz="2400" dirty="0">
              <a:latin typeface="Calibri" panose="020F0502020204030204" pitchFamily="34" charset="0"/>
              <a:cs typeface="Calibri" panose="020F0502020204030204" pitchFamily="34" charset="0"/>
            </a:endParaRPr>
          </a:p>
        </p:txBody>
      </p:sp>
      <p:pic>
        <p:nvPicPr>
          <p:cNvPr id="16" name="Picture 2">
            <a:extLst>
              <a:ext uri="{FF2B5EF4-FFF2-40B4-BE49-F238E27FC236}">
                <a16:creationId xmlns:a16="http://schemas.microsoft.com/office/drawing/2014/main" xmlns="" id="{B6797062-D970-463E-A9A0-01134D541C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0711" y="4180598"/>
            <a:ext cx="4710580" cy="2044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6">
            <a:extLst>
              <a:ext uri="{FF2B5EF4-FFF2-40B4-BE49-F238E27FC236}">
                <a16:creationId xmlns:a16="http://schemas.microsoft.com/office/drawing/2014/main" xmlns="" id="{88316CA8-FC41-4E09-BDF6-35AACDFDA112}"/>
              </a:ext>
            </a:extLst>
          </p:cNvPr>
          <p:cNvPicPr>
            <a:picLocks noChangeAspect="1"/>
          </p:cNvPicPr>
          <p:nvPr/>
        </p:nvPicPr>
        <p:blipFill>
          <a:blip r:embed="rId4"/>
          <a:stretch>
            <a:fillRect/>
          </a:stretch>
        </p:blipFill>
        <p:spPr>
          <a:xfrm>
            <a:off x="9493720" y="3970500"/>
            <a:ext cx="2316391" cy="1938403"/>
          </a:xfrm>
          <a:prstGeom prst="rect">
            <a:avLst/>
          </a:prstGeom>
          <a:ln>
            <a:solidFill>
              <a:schemeClr val="tx1"/>
            </a:solidFill>
          </a:ln>
        </p:spPr>
      </p:pic>
      <p:sp>
        <p:nvSpPr>
          <p:cNvPr id="18" name="TextBox 17">
            <a:extLst>
              <a:ext uri="{FF2B5EF4-FFF2-40B4-BE49-F238E27FC236}">
                <a16:creationId xmlns:a16="http://schemas.microsoft.com/office/drawing/2014/main" xmlns="" id="{442DCC1A-FBE9-41A1-8957-601AE6E4B0AD}"/>
              </a:ext>
            </a:extLst>
          </p:cNvPr>
          <p:cNvSpPr txBox="1"/>
          <p:nvPr/>
        </p:nvSpPr>
        <p:spPr>
          <a:xfrm>
            <a:off x="5251461" y="3798332"/>
            <a:ext cx="1142782" cy="369332"/>
          </a:xfrm>
          <a:prstGeom prst="rect">
            <a:avLst/>
          </a:prstGeom>
          <a:noFill/>
        </p:spPr>
        <p:txBody>
          <a:bodyPr wrap="square" rtlCol="0">
            <a:spAutoFit/>
          </a:bodyPr>
          <a:lstStyle/>
          <a:p>
            <a:r>
              <a:rPr lang="en-AU" dirty="0">
                <a:solidFill>
                  <a:srgbClr val="FF0000"/>
                </a:solidFill>
              </a:rPr>
              <a:t>Title</a:t>
            </a:r>
          </a:p>
        </p:txBody>
      </p:sp>
      <p:sp>
        <p:nvSpPr>
          <p:cNvPr id="19" name="TextBox 18">
            <a:extLst>
              <a:ext uri="{FF2B5EF4-FFF2-40B4-BE49-F238E27FC236}">
                <a16:creationId xmlns:a16="http://schemas.microsoft.com/office/drawing/2014/main" xmlns="" id="{EA847EA3-3D54-4F54-A015-8FCEA326685D}"/>
              </a:ext>
            </a:extLst>
          </p:cNvPr>
          <p:cNvSpPr txBox="1"/>
          <p:nvPr/>
        </p:nvSpPr>
        <p:spPr>
          <a:xfrm>
            <a:off x="6872323" y="3982998"/>
            <a:ext cx="1400122" cy="1200329"/>
          </a:xfrm>
          <a:prstGeom prst="rect">
            <a:avLst/>
          </a:prstGeom>
          <a:noFill/>
          <a:ln>
            <a:solidFill>
              <a:srgbClr val="FF0000"/>
            </a:solidFill>
          </a:ln>
        </p:spPr>
        <p:txBody>
          <a:bodyPr wrap="square" rtlCol="0">
            <a:spAutoFit/>
          </a:bodyPr>
          <a:lstStyle/>
          <a:p>
            <a:r>
              <a:rPr lang="en-AU" dirty="0">
                <a:solidFill>
                  <a:srgbClr val="FF0000"/>
                </a:solidFill>
              </a:rPr>
              <a:t>No Gaps between the columns</a:t>
            </a:r>
          </a:p>
        </p:txBody>
      </p:sp>
      <p:sp>
        <p:nvSpPr>
          <p:cNvPr id="21" name="TextBox 20">
            <a:extLst>
              <a:ext uri="{FF2B5EF4-FFF2-40B4-BE49-F238E27FC236}">
                <a16:creationId xmlns:a16="http://schemas.microsoft.com/office/drawing/2014/main" xmlns="" id="{2AE78180-0117-4B80-B864-F2DE71D43093}"/>
              </a:ext>
            </a:extLst>
          </p:cNvPr>
          <p:cNvSpPr txBox="1"/>
          <p:nvPr/>
        </p:nvSpPr>
        <p:spPr>
          <a:xfrm>
            <a:off x="2503575" y="6374973"/>
            <a:ext cx="1175075" cy="369332"/>
          </a:xfrm>
          <a:prstGeom prst="rect">
            <a:avLst/>
          </a:prstGeom>
          <a:noFill/>
        </p:spPr>
        <p:txBody>
          <a:bodyPr wrap="square" rtlCol="0">
            <a:spAutoFit/>
          </a:bodyPr>
          <a:lstStyle/>
          <a:p>
            <a:r>
              <a:rPr lang="en-AU" dirty="0">
                <a:solidFill>
                  <a:srgbClr val="FF0000"/>
                </a:solidFill>
              </a:rPr>
              <a:t>Labels</a:t>
            </a:r>
          </a:p>
        </p:txBody>
      </p:sp>
      <p:cxnSp>
        <p:nvCxnSpPr>
          <p:cNvPr id="22" name="Straight Arrow Connector 21">
            <a:extLst>
              <a:ext uri="{FF2B5EF4-FFF2-40B4-BE49-F238E27FC236}">
                <a16:creationId xmlns:a16="http://schemas.microsoft.com/office/drawing/2014/main" xmlns="" id="{E7B8019A-854D-4083-9754-FA38D6602FEB}"/>
              </a:ext>
            </a:extLst>
          </p:cNvPr>
          <p:cNvCxnSpPr>
            <a:cxnSpLocks/>
          </p:cNvCxnSpPr>
          <p:nvPr/>
        </p:nvCxnSpPr>
        <p:spPr>
          <a:xfrm flipV="1">
            <a:off x="3457409" y="6406307"/>
            <a:ext cx="1689937" cy="5439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xmlns="" id="{CFACF6A3-09C4-4BE7-B90A-D83868A07B24}"/>
              </a:ext>
            </a:extLst>
          </p:cNvPr>
          <p:cNvSpPr txBox="1"/>
          <p:nvPr/>
        </p:nvSpPr>
        <p:spPr>
          <a:xfrm>
            <a:off x="5977069" y="6260139"/>
            <a:ext cx="981236" cy="261610"/>
          </a:xfrm>
          <a:prstGeom prst="rect">
            <a:avLst/>
          </a:prstGeom>
          <a:noFill/>
        </p:spPr>
        <p:txBody>
          <a:bodyPr wrap="square" rtlCol="0">
            <a:spAutoFit/>
          </a:bodyPr>
          <a:lstStyle/>
          <a:p>
            <a:r>
              <a:rPr lang="en-AU" sz="1100" dirty="0"/>
              <a:t>Height(cm)</a:t>
            </a:r>
          </a:p>
        </p:txBody>
      </p:sp>
      <p:cxnSp>
        <p:nvCxnSpPr>
          <p:cNvPr id="24" name="Straight Arrow Connector 23">
            <a:extLst>
              <a:ext uri="{FF2B5EF4-FFF2-40B4-BE49-F238E27FC236}">
                <a16:creationId xmlns:a16="http://schemas.microsoft.com/office/drawing/2014/main" xmlns="" id="{659AD65F-1CCD-4704-9B79-87E736022E8A}"/>
              </a:ext>
            </a:extLst>
          </p:cNvPr>
          <p:cNvCxnSpPr>
            <a:cxnSpLocks/>
          </p:cNvCxnSpPr>
          <p:nvPr/>
        </p:nvCxnSpPr>
        <p:spPr>
          <a:xfrm flipV="1">
            <a:off x="2922626" y="4713889"/>
            <a:ext cx="403223" cy="172672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9789F6EB-1312-4B73-A189-09CF4C7C4C39}"/>
              </a:ext>
            </a:extLst>
          </p:cNvPr>
          <p:cNvSpPr txBox="1"/>
          <p:nvPr/>
        </p:nvSpPr>
        <p:spPr>
          <a:xfrm>
            <a:off x="2790510" y="4470654"/>
            <a:ext cx="1096670" cy="261610"/>
          </a:xfrm>
          <a:prstGeom prst="rect">
            <a:avLst/>
          </a:prstGeom>
          <a:noFill/>
        </p:spPr>
        <p:txBody>
          <a:bodyPr wrap="square" rtlCol="0">
            <a:spAutoFit/>
          </a:bodyPr>
          <a:lstStyle/>
          <a:p>
            <a:r>
              <a:rPr lang="en-AU" sz="1100" dirty="0"/>
              <a:t>Frequency</a:t>
            </a:r>
          </a:p>
        </p:txBody>
      </p:sp>
      <p:sp>
        <p:nvSpPr>
          <p:cNvPr id="26" name="TextBox 25">
            <a:extLst>
              <a:ext uri="{FF2B5EF4-FFF2-40B4-BE49-F238E27FC236}">
                <a16:creationId xmlns:a16="http://schemas.microsoft.com/office/drawing/2014/main" xmlns="" id="{85E2AEDB-5599-4C42-B4B2-279CB559AADA}"/>
              </a:ext>
            </a:extLst>
          </p:cNvPr>
          <p:cNvSpPr txBox="1"/>
          <p:nvPr/>
        </p:nvSpPr>
        <p:spPr>
          <a:xfrm>
            <a:off x="2790510" y="3767504"/>
            <a:ext cx="2418492" cy="646331"/>
          </a:xfrm>
          <a:prstGeom prst="rect">
            <a:avLst/>
          </a:prstGeom>
          <a:noFill/>
        </p:spPr>
        <p:txBody>
          <a:bodyPr wrap="square" rtlCol="0">
            <a:spAutoFit/>
          </a:bodyPr>
          <a:lstStyle/>
          <a:p>
            <a:r>
              <a:rPr lang="en-AU" u="sng" dirty="0"/>
              <a:t>Heights of students in 8-7</a:t>
            </a:r>
          </a:p>
        </p:txBody>
      </p:sp>
    </p:spTree>
    <p:extLst>
      <p:ext uri="{BB962C8B-B14F-4D97-AF65-F5344CB8AC3E}">
        <p14:creationId xmlns:p14="http://schemas.microsoft.com/office/powerpoint/2010/main" val="3928247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fade">
                                      <p:cBhvr>
                                        <p:cTn id="17" dur="500"/>
                                        <p:tgtEl>
                                          <p:spTgt spid="1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2" end="2"/>
                                            </p:txEl>
                                          </p:spTgt>
                                        </p:tgtEl>
                                        <p:attrNameLst>
                                          <p:attrName>style.visibility</p:attrName>
                                        </p:attrNameLst>
                                      </p:cBhvr>
                                      <p:to>
                                        <p:strVal val="visible"/>
                                      </p:to>
                                    </p:set>
                                    <p:animEffect transition="in" filter="fade">
                                      <p:cBhvr>
                                        <p:cTn id="22" dur="500"/>
                                        <p:tgtEl>
                                          <p:spTgt spid="1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animEffect transition="in" filter="fade">
                                      <p:cBhvr>
                                        <p:cTn id="27"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2029338"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a:t>
            </a:r>
            <a:r>
              <a:rPr lang="en-AU" sz="3200" dirty="0" smtClean="0">
                <a:solidFill>
                  <a:prstClr val="black"/>
                </a:solidFill>
                <a:latin typeface="Calibri" panose="020F0502020204030204" pitchFamily="34" charset="0"/>
                <a:cs typeface="Calibri" panose="020F0502020204030204" pitchFamily="34" charset="0"/>
              </a:rPr>
              <a:t>Data</a:t>
            </a:r>
            <a:endParaRPr lang="en-AU" sz="3200" dirty="0">
              <a:solidFill>
                <a:prstClr val="black"/>
              </a:solidFill>
              <a:latin typeface="Calibri" panose="020F0502020204030204" pitchFamily="34" charset="0"/>
              <a:cs typeface="Calibri" panose="020F0502020204030204" pitchFamily="34" charset="0"/>
            </a:endParaRPr>
          </a:p>
        </p:txBody>
      </p:sp>
      <p:sp>
        <p:nvSpPr>
          <p:cNvPr id="11" name="TextBox 10"/>
          <p:cNvSpPr txBox="1"/>
          <p:nvPr/>
        </p:nvSpPr>
        <p:spPr>
          <a:xfrm>
            <a:off x="9493720" y="21135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a:t>
            </a:r>
            <a:r>
              <a:rPr lang="en-AU" sz="2399" dirty="0" smtClean="0">
                <a:solidFill>
                  <a:prstClr val="black"/>
                </a:solidFill>
                <a:latin typeface="Calibri" panose="020F0502020204030204" pitchFamily="34" charset="0"/>
                <a:cs typeface="Calibri" panose="020F0502020204030204" pitchFamily="34" charset="0"/>
              </a:rPr>
              <a:t>:</a:t>
            </a:r>
            <a:endParaRPr lang="en-AU" sz="2399" dirty="0">
              <a:solidFill>
                <a:prstClr val="black"/>
              </a:solidFill>
              <a:latin typeface="Calibri" panose="020F0502020204030204" pitchFamily="34" charset="0"/>
              <a:cs typeface="Calibri" panose="020F0502020204030204" pitchFamily="34" charset="0"/>
            </a:endParaRPr>
          </a:p>
        </p:txBody>
      </p:sp>
      <p:sp>
        <p:nvSpPr>
          <p:cNvPr id="33" name="TextBox 32"/>
          <p:cNvSpPr txBox="1"/>
          <p:nvPr/>
        </p:nvSpPr>
        <p:spPr>
          <a:xfrm>
            <a:off x="191345" y="837124"/>
            <a:ext cx="778887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a:t>
            </a:r>
            <a:r>
              <a:rPr lang="en-AU" sz="2399" dirty="0" smtClean="0">
                <a:solidFill>
                  <a:prstClr val="black"/>
                </a:solidFill>
                <a:latin typeface="Calibri" panose="020F0502020204030204" pitchFamily="34" charset="0"/>
                <a:cs typeface="Calibri" panose="020F0502020204030204" pitchFamily="34" charset="0"/>
              </a:rPr>
              <a:t>Explain how frequency distribution tables can be used?</a:t>
            </a:r>
            <a:endParaRPr lang="en-AU" sz="2399" dirty="0">
              <a:solidFill>
                <a:prstClr val="black"/>
              </a:solidFill>
              <a:latin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 xmlns:a16="http://schemas.microsoft.com/office/drawing/2014/main" id="{29070ED6-4BED-4D32-94DD-D50FBBDA7771}"/>
              </a:ext>
            </a:extLst>
          </p:cNvPr>
          <p:cNvSpPr txBox="1"/>
          <p:nvPr/>
        </p:nvSpPr>
        <p:spPr>
          <a:xfrm>
            <a:off x="54715" y="1490008"/>
            <a:ext cx="2166798" cy="1200329"/>
          </a:xfrm>
          <a:prstGeom prst="rect">
            <a:avLst/>
          </a:prstGeom>
          <a:noFill/>
        </p:spPr>
        <p:txBody>
          <a:bodyPr wrap="square" rtlCol="0">
            <a:spAutoFit/>
          </a:bodyPr>
          <a:lstStyle/>
          <a:p>
            <a:r>
              <a:rPr lang="en-AU" sz="2400" dirty="0" smtClean="0">
                <a:latin typeface="Calibri" panose="020F0502020204030204" pitchFamily="34" charset="0"/>
                <a:cs typeface="Calibri" panose="020F0502020204030204" pitchFamily="34" charset="0"/>
              </a:rPr>
              <a:t>What </a:t>
            </a:r>
            <a:r>
              <a:rPr lang="en-AU" sz="2400" dirty="0" smtClean="0">
                <a:latin typeface="Calibri" panose="020F0502020204030204" pitchFamily="34" charset="0"/>
                <a:cs typeface="Calibri" panose="020F0502020204030204" pitchFamily="34" charset="0"/>
              </a:rPr>
              <a:t>does skew look like on a histogram?</a:t>
            </a:r>
            <a:endParaRPr lang="en-AU" sz="24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 xmlns:a16="http://schemas.microsoft.com/office/drawing/2014/main" id="{61B98AF6-C845-4C3F-804D-986DB17E48F9}"/>
              </a:ext>
            </a:extLst>
          </p:cNvPr>
          <p:cNvSpPr txBox="1"/>
          <p:nvPr/>
        </p:nvSpPr>
        <p:spPr>
          <a:xfrm>
            <a:off x="2336426" y="1490008"/>
            <a:ext cx="9044747" cy="1200329"/>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A distribution is symmetrical if a vertical line can be drawn at some point in the histogram such that the shape to the left and the right of the vertical line are mirror images of each other.</a:t>
            </a:r>
            <a:endParaRPr lang="en-AU" sz="2400" dirty="0">
              <a:latin typeface="Calibri" panose="020F0502020204030204" pitchFamily="34" charset="0"/>
              <a:cs typeface="Calibri" panose="020F0502020204030204" pitchFamily="34" charset="0"/>
            </a:endParaRPr>
          </a:p>
        </p:txBody>
      </p:sp>
      <p:pic>
        <p:nvPicPr>
          <p:cNvPr id="12" name="Content Placeholder 3">
            <a:extLst>
              <a:ext uri="{FF2B5EF4-FFF2-40B4-BE49-F238E27FC236}">
                <a16:creationId xmlns="" xmlns:a16="http://schemas.microsoft.com/office/drawing/2014/main" xmlns:lc="http://schemas.openxmlformats.org/drawingml/2006/lockedCanvas" id="{05BB7640-0BB5-4606-957A-3739AB76BB4E}"/>
              </a:ext>
            </a:extLst>
          </p:cNvPr>
          <p:cNvPicPr>
            <a:picLocks noChangeAspect="1"/>
          </p:cNvPicPr>
          <p:nvPr/>
        </p:nvPicPr>
        <p:blipFill>
          <a:blip r:embed="rId3"/>
          <a:stretch>
            <a:fillRect/>
          </a:stretch>
        </p:blipFill>
        <p:spPr>
          <a:xfrm>
            <a:off x="2493797" y="2881681"/>
            <a:ext cx="8911761" cy="3336295"/>
          </a:xfrm>
          <a:prstGeom prst="rect">
            <a:avLst/>
          </a:prstGeom>
        </p:spPr>
      </p:pic>
    </p:spTree>
    <p:extLst>
      <p:ext uri="{BB962C8B-B14F-4D97-AF65-F5344CB8AC3E}">
        <p14:creationId xmlns:p14="http://schemas.microsoft.com/office/powerpoint/2010/main" val="3502516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xmlns:lc="http://schemas.openxmlformats.org/drawingml/2006/lockedCanvas" id="{9C1CAEFB-FEF9-4AAA-BAFD-8E3D1FEA8D94}"/>
              </a:ext>
            </a:extLst>
          </p:cNvPr>
          <p:cNvPicPr>
            <a:picLocks noChangeAspect="1"/>
          </p:cNvPicPr>
          <p:nvPr/>
        </p:nvPicPr>
        <p:blipFill>
          <a:blip r:embed="rId2"/>
          <a:stretch>
            <a:fillRect/>
          </a:stretch>
        </p:blipFill>
        <p:spPr>
          <a:xfrm>
            <a:off x="1432646" y="745280"/>
            <a:ext cx="9619316" cy="5367441"/>
          </a:xfrm>
          <a:prstGeom prst="rect">
            <a:avLst/>
          </a:prstGeom>
        </p:spPr>
      </p:pic>
    </p:spTree>
    <p:extLst>
      <p:ext uri="{BB962C8B-B14F-4D97-AF65-F5344CB8AC3E}">
        <p14:creationId xmlns:p14="http://schemas.microsoft.com/office/powerpoint/2010/main" val="3797429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3920" y="286512"/>
            <a:ext cx="10058400" cy="1371600"/>
          </a:xfrm>
        </p:spPr>
        <p:txBody>
          <a:bodyPr>
            <a:normAutofit/>
          </a:bodyPr>
          <a:lstStyle/>
          <a:p>
            <a:r>
              <a:rPr lang="en-AU" sz="2800" dirty="0" smtClean="0"/>
              <a:t>See the histogram made from the previous lesson:</a:t>
            </a:r>
            <a:endParaRPr lang="en-AU" sz="2800" dirty="0"/>
          </a:p>
        </p:txBody>
      </p:sp>
      <p:pic>
        <p:nvPicPr>
          <p:cNvPr id="4" name="Chart 1">
            <a:extLst>
              <a:ext uri="{FF2B5EF4-FFF2-40B4-BE49-F238E27FC236}">
                <a16:creationId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6="http://schemas.microsoft.com/office/drawing/2014/main" xmlns:lc="http://schemas.openxmlformats.org/drawingml/2006/lockedCanvas" id="{110A12A4-7FFE-4002-AAE3-BBE620A3AF5A}"/>
              </a:ext>
            </a:extLst>
          </p:cNvPr>
          <p:cNvPicPr>
            <a:picLocks noGrp="1"/>
          </p:cNvPicPr>
          <p:nvPr>
            <p:ph idx="1"/>
          </p:nvPr>
        </p:nvPicPr>
        <p:blipFill>
          <a:blip r:embed="rId2"/>
          <a:stretch>
            <a:fillRect/>
          </a:stretch>
        </p:blipFill>
        <p:spPr>
          <a:xfrm>
            <a:off x="4042155" y="1658112"/>
            <a:ext cx="6692394" cy="3787999"/>
          </a:xfrm>
          <a:prstGeom prst="rect">
            <a:avLst/>
          </a:prstGeom>
        </p:spPr>
      </p:pic>
      <p:sp>
        <p:nvSpPr>
          <p:cNvPr id="5" name="TextBox 4"/>
          <p:cNvSpPr txBox="1"/>
          <p:nvPr/>
        </p:nvSpPr>
        <p:spPr>
          <a:xfrm>
            <a:off x="755905" y="5606534"/>
            <a:ext cx="10631424" cy="461665"/>
          </a:xfrm>
          <a:prstGeom prst="rect">
            <a:avLst/>
          </a:prstGeom>
          <a:noFill/>
        </p:spPr>
        <p:txBody>
          <a:bodyPr wrap="square" rtlCol="0">
            <a:spAutoFit/>
          </a:bodyPr>
          <a:lstStyle/>
          <a:p>
            <a:r>
              <a:rPr lang="en-AU" sz="2400" dirty="0" smtClean="0"/>
              <a:t>Complete the following questions:</a:t>
            </a:r>
            <a:endParaRPr lang="en-AU" sz="2400" dirty="0"/>
          </a:p>
        </p:txBody>
      </p:sp>
      <p:graphicFrame>
        <p:nvGraphicFramePr>
          <p:cNvPr id="6" name="Table 5"/>
          <p:cNvGraphicFramePr>
            <a:graphicFrameLocks noGrp="1"/>
          </p:cNvGraphicFramePr>
          <p:nvPr>
            <p:extLst>
              <p:ext uri="{D42A27DB-BD31-4B8C-83A1-F6EECF244321}">
                <p14:modId xmlns:p14="http://schemas.microsoft.com/office/powerpoint/2010/main" val="3176899080"/>
              </p:ext>
            </p:extLst>
          </p:nvPr>
        </p:nvGraphicFramePr>
        <p:xfrm>
          <a:off x="755905" y="1403272"/>
          <a:ext cx="2798064" cy="4023360"/>
        </p:xfrm>
        <a:graphic>
          <a:graphicData uri="http://schemas.openxmlformats.org/drawingml/2006/table">
            <a:tbl>
              <a:tblPr firstRow="1" bandRow="1">
                <a:tableStyleId>{5C22544A-7EE6-4342-B048-85BDC9FD1C3A}</a:tableStyleId>
              </a:tblPr>
              <a:tblGrid>
                <a:gridCol w="1365503"/>
                <a:gridCol w="1432561"/>
              </a:tblGrid>
              <a:tr h="0">
                <a:tc>
                  <a:txBody>
                    <a:bodyPr/>
                    <a:lstStyle/>
                    <a:p>
                      <a:r>
                        <a:rPr lang="en-AU" dirty="0" smtClean="0"/>
                        <a:t>Bin</a:t>
                      </a:r>
                      <a:endParaRPr lang="en-AU" dirty="0"/>
                    </a:p>
                  </a:txBody>
                  <a:tcPr/>
                </a:tc>
                <a:tc>
                  <a:txBody>
                    <a:bodyPr/>
                    <a:lstStyle/>
                    <a:p>
                      <a:r>
                        <a:rPr lang="en-AU" dirty="0" smtClean="0"/>
                        <a:t>Frequency</a:t>
                      </a:r>
                      <a:endParaRPr lang="en-AU" dirty="0"/>
                    </a:p>
                  </a:txBody>
                  <a:tcPr/>
                </a:tc>
              </a:tr>
              <a:tr h="334209">
                <a:tc>
                  <a:txBody>
                    <a:bodyPr/>
                    <a:lstStyle/>
                    <a:p>
                      <a:r>
                        <a:rPr lang="en-AU" dirty="0" smtClean="0"/>
                        <a:t>110 - &lt;115</a:t>
                      </a:r>
                    </a:p>
                  </a:txBody>
                  <a:tcPr/>
                </a:tc>
                <a:tc>
                  <a:txBody>
                    <a:bodyPr/>
                    <a:lstStyle/>
                    <a:p>
                      <a:r>
                        <a:rPr lang="en-AU" dirty="0" smtClean="0"/>
                        <a:t>1</a:t>
                      </a:r>
                      <a:endParaRPr lang="en-AU" dirty="0"/>
                    </a:p>
                  </a:txBody>
                  <a:tcPr/>
                </a:tc>
              </a:tr>
              <a:tr h="334209">
                <a:tc>
                  <a:txBody>
                    <a:bodyPr/>
                    <a:lstStyle/>
                    <a:p>
                      <a:r>
                        <a:rPr lang="en-AU" dirty="0" smtClean="0"/>
                        <a:t>115 - &lt;120</a:t>
                      </a:r>
                      <a:endParaRPr lang="en-AU" dirty="0"/>
                    </a:p>
                  </a:txBody>
                  <a:tcPr/>
                </a:tc>
                <a:tc>
                  <a:txBody>
                    <a:bodyPr/>
                    <a:lstStyle/>
                    <a:p>
                      <a:r>
                        <a:rPr lang="en-AU" dirty="0" smtClean="0"/>
                        <a:t>8</a:t>
                      </a:r>
                      <a:endParaRPr lang="en-AU" dirty="0"/>
                    </a:p>
                  </a:txBody>
                  <a:tcPr/>
                </a:tc>
              </a:tr>
              <a:tr h="334209">
                <a:tc>
                  <a:txBody>
                    <a:bodyPr/>
                    <a:lstStyle/>
                    <a:p>
                      <a:r>
                        <a:rPr lang="en-AU" dirty="0" smtClean="0"/>
                        <a:t>120 - &lt;125</a:t>
                      </a:r>
                      <a:endParaRPr lang="en-AU" dirty="0"/>
                    </a:p>
                  </a:txBody>
                  <a:tcPr/>
                </a:tc>
                <a:tc>
                  <a:txBody>
                    <a:bodyPr/>
                    <a:lstStyle/>
                    <a:p>
                      <a:r>
                        <a:rPr lang="en-AU" dirty="0" smtClean="0"/>
                        <a:t>25</a:t>
                      </a:r>
                      <a:endParaRPr lang="en-AU" dirty="0"/>
                    </a:p>
                  </a:txBody>
                  <a:tcPr/>
                </a:tc>
              </a:tr>
              <a:tr h="334209">
                <a:tc>
                  <a:txBody>
                    <a:bodyPr/>
                    <a:lstStyle/>
                    <a:p>
                      <a:r>
                        <a:rPr lang="en-AU" dirty="0" smtClean="0"/>
                        <a:t>125 - &lt;130</a:t>
                      </a:r>
                    </a:p>
                  </a:txBody>
                  <a:tcPr/>
                </a:tc>
                <a:tc>
                  <a:txBody>
                    <a:bodyPr/>
                    <a:lstStyle/>
                    <a:p>
                      <a:r>
                        <a:rPr lang="en-AU" dirty="0" smtClean="0"/>
                        <a:t>35</a:t>
                      </a:r>
                      <a:endParaRPr lang="en-AU" dirty="0"/>
                    </a:p>
                  </a:txBody>
                  <a:tcPr/>
                </a:tc>
              </a:tr>
              <a:tr h="334209">
                <a:tc>
                  <a:txBody>
                    <a:bodyPr/>
                    <a:lstStyle/>
                    <a:p>
                      <a:r>
                        <a:rPr lang="en-AU" dirty="0" smtClean="0"/>
                        <a:t>130 - &lt;135</a:t>
                      </a:r>
                      <a:endParaRPr lang="en-AU" dirty="0"/>
                    </a:p>
                  </a:txBody>
                  <a:tcPr/>
                </a:tc>
                <a:tc>
                  <a:txBody>
                    <a:bodyPr/>
                    <a:lstStyle/>
                    <a:p>
                      <a:r>
                        <a:rPr lang="en-AU" dirty="0" smtClean="0"/>
                        <a:t>21</a:t>
                      </a:r>
                      <a:endParaRPr lang="en-AU" dirty="0"/>
                    </a:p>
                  </a:txBody>
                  <a:tcPr/>
                </a:tc>
              </a:tr>
              <a:tr h="334209">
                <a:tc>
                  <a:txBody>
                    <a:bodyPr/>
                    <a:lstStyle/>
                    <a:p>
                      <a:r>
                        <a:rPr lang="en-AU" dirty="0" smtClean="0"/>
                        <a:t>135 - &lt;140</a:t>
                      </a:r>
                      <a:endParaRPr lang="en-AU" dirty="0"/>
                    </a:p>
                  </a:txBody>
                  <a:tcPr/>
                </a:tc>
                <a:tc>
                  <a:txBody>
                    <a:bodyPr/>
                    <a:lstStyle/>
                    <a:p>
                      <a:r>
                        <a:rPr lang="en-AU" dirty="0" smtClean="0"/>
                        <a:t>9</a:t>
                      </a:r>
                      <a:endParaRPr lang="en-AU" dirty="0"/>
                    </a:p>
                  </a:txBody>
                  <a:tcPr/>
                </a:tc>
              </a:tr>
              <a:tr h="334209">
                <a:tc>
                  <a:txBody>
                    <a:bodyPr/>
                    <a:lstStyle/>
                    <a:p>
                      <a:r>
                        <a:rPr lang="en-AU" dirty="0" smtClean="0"/>
                        <a:t>140 - &lt;145</a:t>
                      </a:r>
                      <a:endParaRPr lang="en-AU" dirty="0"/>
                    </a:p>
                  </a:txBody>
                  <a:tcPr/>
                </a:tc>
                <a:tc>
                  <a:txBody>
                    <a:bodyPr/>
                    <a:lstStyle/>
                    <a:p>
                      <a:r>
                        <a:rPr lang="en-AU" dirty="0" smtClean="0"/>
                        <a:t>5</a:t>
                      </a:r>
                      <a:endParaRPr lang="en-AU" dirty="0"/>
                    </a:p>
                  </a:txBody>
                  <a:tcPr/>
                </a:tc>
              </a:tr>
              <a:tr h="334209">
                <a:tc>
                  <a:txBody>
                    <a:bodyPr/>
                    <a:lstStyle/>
                    <a:p>
                      <a:r>
                        <a:rPr lang="en-AU" dirty="0" smtClean="0"/>
                        <a:t>145 - &lt;150</a:t>
                      </a:r>
                      <a:endParaRPr lang="en-AU" dirty="0"/>
                    </a:p>
                  </a:txBody>
                  <a:tcPr/>
                </a:tc>
                <a:tc>
                  <a:txBody>
                    <a:bodyPr/>
                    <a:lstStyle/>
                    <a:p>
                      <a:r>
                        <a:rPr lang="en-AU" dirty="0" smtClean="0"/>
                        <a:t>3</a:t>
                      </a:r>
                      <a:endParaRPr lang="en-AU" dirty="0"/>
                    </a:p>
                  </a:txBody>
                  <a:tcPr/>
                </a:tc>
              </a:tr>
              <a:tr h="334209">
                <a:tc>
                  <a:txBody>
                    <a:bodyPr/>
                    <a:lstStyle/>
                    <a:p>
                      <a:r>
                        <a:rPr lang="en-AU" dirty="0" smtClean="0"/>
                        <a:t>&gt;150</a:t>
                      </a:r>
                      <a:endParaRPr lang="en-AU" dirty="0"/>
                    </a:p>
                  </a:txBody>
                  <a:tcPr/>
                </a:tc>
                <a:tc>
                  <a:txBody>
                    <a:bodyPr/>
                    <a:lstStyle/>
                    <a:p>
                      <a:r>
                        <a:rPr lang="en-AU" dirty="0" smtClean="0"/>
                        <a:t>0</a:t>
                      </a:r>
                      <a:endParaRPr lang="en-AU" dirty="0"/>
                    </a:p>
                  </a:txBody>
                  <a:tcPr/>
                </a:tc>
              </a:tr>
              <a:tr h="334209">
                <a:tc>
                  <a:txBody>
                    <a:bodyPr/>
                    <a:lstStyle/>
                    <a:p>
                      <a:r>
                        <a:rPr lang="en-AU" dirty="0" smtClean="0"/>
                        <a:t>Total (∑)</a:t>
                      </a:r>
                      <a:endParaRPr lang="en-AU" dirty="0"/>
                    </a:p>
                  </a:txBody>
                  <a:tcPr/>
                </a:tc>
                <a:tc>
                  <a:txBody>
                    <a:bodyPr/>
                    <a:lstStyle/>
                    <a:p>
                      <a:r>
                        <a:rPr lang="en-AU" dirty="0" smtClean="0"/>
                        <a:t>107</a:t>
                      </a:r>
                      <a:endParaRPr lang="en-AU" dirty="0"/>
                    </a:p>
                  </a:txBody>
                  <a:tcPr/>
                </a:tc>
              </a:tr>
            </a:tbl>
          </a:graphicData>
        </a:graphic>
      </p:graphicFrame>
    </p:spTree>
    <p:extLst>
      <p:ext uri="{BB962C8B-B14F-4D97-AF65-F5344CB8AC3E}">
        <p14:creationId xmlns:p14="http://schemas.microsoft.com/office/powerpoint/2010/main" val="3909009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DD30D8-FE56-40C4-B983-D0C8B332F5F8}"/>
              </a:ext>
            </a:extLst>
          </p:cNvPr>
          <p:cNvSpPr>
            <a:spLocks noGrp="1"/>
          </p:cNvSpPr>
          <p:nvPr>
            <p:ph type="title"/>
          </p:nvPr>
        </p:nvSpPr>
        <p:spPr/>
        <p:txBody>
          <a:bodyPr/>
          <a:lstStyle/>
          <a:p>
            <a:r>
              <a:rPr lang="en-AU" dirty="0" smtClean="0"/>
              <a:t>Interleaved Textbook pg. </a:t>
            </a:r>
            <a:r>
              <a:rPr lang="en-AU" dirty="0" smtClean="0"/>
              <a:t>110</a:t>
            </a:r>
            <a:endParaRPr lang="en-AU" dirty="0"/>
          </a:p>
        </p:txBody>
      </p:sp>
      <p:sp>
        <p:nvSpPr>
          <p:cNvPr id="3" name="Content Placeholder 2"/>
          <p:cNvSpPr>
            <a:spLocks noGrp="1"/>
          </p:cNvSpPr>
          <p:nvPr>
            <p:ph idx="1"/>
          </p:nvPr>
        </p:nvSpPr>
        <p:spPr>
          <a:xfrm>
            <a:off x="1066800" y="1889760"/>
            <a:ext cx="10058400" cy="4425696"/>
          </a:xfrm>
        </p:spPr>
        <p:txBody>
          <a:bodyPr>
            <a:normAutofit/>
          </a:bodyPr>
          <a:lstStyle/>
          <a:p>
            <a:pPr marL="0" indent="0">
              <a:buNone/>
            </a:pPr>
            <a:r>
              <a:rPr lang="en-AU" sz="2400" dirty="0" smtClean="0"/>
              <a:t>Examine the frequency table and histogram on the previous page and answer the following questions:</a:t>
            </a:r>
            <a:br>
              <a:rPr lang="en-AU" sz="2400" dirty="0" smtClean="0"/>
            </a:br>
            <a:r>
              <a:rPr lang="en-AU" sz="2400" dirty="0" smtClean="0"/>
              <a:t>1. Looking at the x axis, why do the columns need to touch?</a:t>
            </a:r>
          </a:p>
          <a:p>
            <a:pPr marL="0" indent="0">
              <a:buNone/>
            </a:pPr>
            <a:r>
              <a:rPr lang="en-AU" sz="2400" dirty="0" smtClean="0"/>
              <a:t>2. Looking at the brackets on the X axis, why is the left bracket rounded and the right square?</a:t>
            </a:r>
          </a:p>
          <a:p>
            <a:pPr marL="0" indent="0">
              <a:buNone/>
            </a:pPr>
            <a:r>
              <a:rPr lang="en-AU" sz="2400" dirty="0" smtClean="0"/>
              <a:t>3. The numbers on the X axis could be written as a scale, instead of brackets. Where would the columns touch if there was a scale?</a:t>
            </a:r>
          </a:p>
          <a:p>
            <a:pPr marL="0" indent="0">
              <a:buNone/>
            </a:pPr>
            <a:r>
              <a:rPr lang="en-AU" sz="2400" dirty="0" smtClean="0"/>
              <a:t>4. Describe the shape and skew of the data.</a:t>
            </a:r>
          </a:p>
          <a:p>
            <a:pPr marL="0" indent="0">
              <a:buNone/>
            </a:pPr>
            <a:r>
              <a:rPr lang="en-AU" sz="2400" dirty="0" smtClean="0"/>
              <a:t>5. How would you calculate the MMMR and Q1 and Q3 from this data?</a:t>
            </a:r>
            <a:endParaRPr lang="en-AU" sz="2400" dirty="0" smtClean="0"/>
          </a:p>
          <a:p>
            <a:pPr marL="0" indent="0">
              <a:buNone/>
            </a:pPr>
            <a:endParaRPr lang="en-AU" sz="2400" dirty="0"/>
          </a:p>
        </p:txBody>
      </p:sp>
    </p:spTree>
    <p:extLst>
      <p:ext uri="{BB962C8B-B14F-4D97-AF65-F5344CB8AC3E}">
        <p14:creationId xmlns:p14="http://schemas.microsoft.com/office/powerpoint/2010/main" val="491693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289B43-6600-440B-86BA-D5B72B36C798}"/>
              </a:ext>
            </a:extLst>
          </p:cNvPr>
          <p:cNvSpPr>
            <a:spLocks noGrp="1"/>
          </p:cNvSpPr>
          <p:nvPr>
            <p:ph type="title"/>
          </p:nvPr>
        </p:nvSpPr>
        <p:spPr/>
        <p:txBody>
          <a:bodyPr/>
          <a:lstStyle/>
          <a:p>
            <a:r>
              <a:rPr lang="en-AU" dirty="0"/>
              <a:t>Task</a:t>
            </a:r>
          </a:p>
        </p:txBody>
      </p:sp>
      <p:sp>
        <p:nvSpPr>
          <p:cNvPr id="3" name="Content Placeholder 2">
            <a:extLst>
              <a:ext uri="{FF2B5EF4-FFF2-40B4-BE49-F238E27FC236}">
                <a16:creationId xmlns="" xmlns:a16="http://schemas.microsoft.com/office/drawing/2014/main" id="{371FFD49-0CB8-4FCF-A88F-9FF0D6533BC8}"/>
              </a:ext>
            </a:extLst>
          </p:cNvPr>
          <p:cNvSpPr>
            <a:spLocks noGrp="1"/>
          </p:cNvSpPr>
          <p:nvPr>
            <p:ph idx="1"/>
          </p:nvPr>
        </p:nvSpPr>
        <p:spPr/>
        <p:txBody>
          <a:bodyPr>
            <a:normAutofit/>
          </a:bodyPr>
          <a:lstStyle/>
          <a:p>
            <a:pPr marL="0" indent="0">
              <a:buNone/>
            </a:pPr>
            <a:r>
              <a:rPr lang="en-AU" sz="2400" dirty="0" smtClean="0"/>
              <a:t>Complete Apply Q4-13 from your </a:t>
            </a:r>
            <a:r>
              <a:rPr lang="en-AU" sz="2400" dirty="0" smtClean="0"/>
              <a:t>Interleaved Textbook pg. 110</a:t>
            </a:r>
            <a:r>
              <a:rPr lang="en-AU" sz="2400" dirty="0" smtClean="0"/>
              <a:t/>
            </a:r>
            <a:br>
              <a:rPr lang="en-AU" sz="2400" dirty="0" smtClean="0"/>
            </a:br>
            <a:r>
              <a:rPr lang="en-AU" sz="2400" dirty="0" smtClean="0"/>
              <a:t/>
            </a:r>
            <a:br>
              <a:rPr lang="en-AU" sz="2400" dirty="0" smtClean="0"/>
            </a:br>
            <a:endParaRPr lang="en-AU" sz="2400" dirty="0"/>
          </a:p>
        </p:txBody>
      </p:sp>
    </p:spTree>
    <p:extLst>
      <p:ext uri="{BB962C8B-B14F-4D97-AF65-F5344CB8AC3E}">
        <p14:creationId xmlns:p14="http://schemas.microsoft.com/office/powerpoint/2010/main" val="2050542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161822"/>
          </a:xfrm>
        </p:spPr>
        <p:txBody>
          <a:bodyPr/>
          <a:lstStyle/>
          <a:p>
            <a:r>
              <a:rPr lang="en-AU" dirty="0" smtClean="0"/>
              <a:t>Further application</a:t>
            </a:r>
            <a:endParaRPr lang="en-AU" dirty="0"/>
          </a:p>
        </p:txBody>
      </p:sp>
      <p:pic>
        <p:nvPicPr>
          <p:cNvPr id="4" name="Content Placeholder 3">
            <a:extLst>
              <a:ext uri="{FF2B5EF4-FFF2-40B4-BE49-F238E27FC236}">
                <a16:creationId xmlns="" xmlns:a16="http://schemas.microsoft.com/office/drawing/2014/main" xmlns:lc="http://schemas.openxmlformats.org/drawingml/2006/lockedCanvas" id="{807E49CA-94DC-4E1B-A4BE-B266AA59E071}"/>
              </a:ext>
            </a:extLst>
          </p:cNvPr>
          <p:cNvPicPr>
            <a:picLocks noGrp="1" noChangeAspect="1"/>
          </p:cNvPicPr>
          <p:nvPr>
            <p:ph idx="1"/>
          </p:nvPr>
        </p:nvPicPr>
        <p:blipFill>
          <a:blip r:embed="rId2"/>
          <a:stretch>
            <a:fillRect/>
          </a:stretch>
        </p:blipFill>
        <p:spPr>
          <a:xfrm>
            <a:off x="1099050" y="1719072"/>
            <a:ext cx="10026150" cy="4450080"/>
          </a:xfrm>
          <a:prstGeom prst="rect">
            <a:avLst/>
          </a:prstGeom>
        </p:spPr>
      </p:pic>
    </p:spTree>
    <p:extLst>
      <p:ext uri="{BB962C8B-B14F-4D97-AF65-F5344CB8AC3E}">
        <p14:creationId xmlns:p14="http://schemas.microsoft.com/office/powerpoint/2010/main" val="2276539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Further application</a:t>
            </a:r>
            <a:endParaRPr lang="en-AU" dirty="0"/>
          </a:p>
        </p:txBody>
      </p:sp>
      <p:pic>
        <p:nvPicPr>
          <p:cNvPr id="4" name="Content Placeholder 3">
            <a:extLst>
              <a:ext uri="{FF2B5EF4-FFF2-40B4-BE49-F238E27FC236}">
                <a16:creationId xmlns="" xmlns:a16="http://schemas.microsoft.com/office/drawing/2014/main" xmlns:lc="http://schemas.openxmlformats.org/drawingml/2006/lockedCanvas" id="{4C1D075A-D245-4277-BA9D-978E92A12511}"/>
              </a:ext>
            </a:extLst>
          </p:cNvPr>
          <p:cNvPicPr>
            <a:picLocks noGrp="1" noChangeAspect="1"/>
          </p:cNvPicPr>
          <p:nvPr>
            <p:ph idx="1"/>
          </p:nvPr>
        </p:nvPicPr>
        <p:blipFill>
          <a:blip r:embed="rId2"/>
          <a:stretch>
            <a:fillRect/>
          </a:stretch>
        </p:blipFill>
        <p:spPr>
          <a:xfrm>
            <a:off x="1066800" y="1889760"/>
            <a:ext cx="9826242" cy="4267200"/>
          </a:xfrm>
          <a:prstGeom prst="rect">
            <a:avLst/>
          </a:prstGeom>
        </p:spPr>
      </p:pic>
    </p:spTree>
    <p:extLst>
      <p:ext uri="{BB962C8B-B14F-4D97-AF65-F5344CB8AC3E}">
        <p14:creationId xmlns:p14="http://schemas.microsoft.com/office/powerpoint/2010/main" val="3785310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D25652-70A2-4111-A862-DCDB0F791EBA}">
  <we:reference id="wa104379997" version="2.0.0.0" store="en-US" storeType="OMEX"/>
  <we:alternateReferences>
    <we:reference id="wa104379997"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TM03457510[[fn=Savon]]</Template>
  <TotalTime>12773</TotalTime>
  <Words>575</Words>
  <Application>Microsoft Office PowerPoint</Application>
  <PresentationFormat>Widescreen</PresentationFormat>
  <Paragraphs>120</Paragraphs>
  <Slides>12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Bradley Hand ITC</vt:lpstr>
      <vt:lpstr>Calibri</vt:lpstr>
      <vt:lpstr>Century Gothic</vt:lpstr>
      <vt:lpstr>Garamond</vt:lpstr>
      <vt:lpstr>Tw Cen MT</vt:lpstr>
      <vt:lpstr>Tw Cen MT Condensed</vt:lpstr>
      <vt:lpstr>Savon</vt:lpstr>
      <vt:lpstr>Topic: Data EQ: When is it better to use a histogram to display data? </vt:lpstr>
      <vt:lpstr>Five Questions</vt:lpstr>
      <vt:lpstr>PowerPoint Presentation</vt:lpstr>
      <vt:lpstr>PowerPoint Presentation</vt:lpstr>
      <vt:lpstr>PowerPoint Presentation</vt:lpstr>
      <vt:lpstr>PowerPoint Presentation</vt:lpstr>
      <vt:lpstr>PowerPoint Presentation</vt:lpstr>
      <vt:lpstr>See the histogram made from the previous lesson:</vt:lpstr>
      <vt:lpstr>Interleaved Textbook pg. 110</vt:lpstr>
      <vt:lpstr>Task</vt:lpstr>
      <vt:lpstr>Further application</vt:lpstr>
      <vt:lpstr>Further application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Rates Continued</dc:title>
  <dc:creator>Travis Power</dc:creator>
  <cp:lastModifiedBy>Coz W</cp:lastModifiedBy>
  <cp:revision>133</cp:revision>
  <cp:lastPrinted>2018-05-03T00:24:35Z</cp:lastPrinted>
  <dcterms:created xsi:type="dcterms:W3CDTF">2018-02-13T05:48:53Z</dcterms:created>
  <dcterms:modified xsi:type="dcterms:W3CDTF">2021-08-29T15:11:49Z</dcterms:modified>
</cp:coreProperties>
</file>
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8"/>
  </p:notesMasterIdLst>
  <p:sldIdLst>
    <p:sldId id="266" r:id="rId2"/>
    <p:sldId id="301" r:id="rId3"/>
    <p:sldId id="289" r:id="rId4"/>
    <p:sldId id="322" r:id="rId5"/>
    <p:sldId id="321" r:id="rId6"/>
    <p:sldId id="323" r:id="rId7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67753" autoAdjust="0"/>
  </p:normalViewPr>
  <p:slideViewPr>
    <p:cSldViewPr snapToGrid="0" snapToObjects="1">
      <p:cViewPr varScale="1">
        <p:scale>
          <a:sx n="79" d="100"/>
          <a:sy n="79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23/08/2021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326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AU" dirty="0" smtClean="0"/>
              <a:t>2kWh</a:t>
            </a:r>
          </a:p>
          <a:p>
            <a:pPr marL="228600" indent="-228600">
              <a:buAutoNum type="arabicPeriod"/>
            </a:pPr>
            <a:r>
              <a:rPr lang="en-AU" dirty="0" smtClean="0"/>
              <a:t>$5900 rounding to the nearest $100</a:t>
            </a:r>
          </a:p>
          <a:p>
            <a:pPr marL="228600" indent="-228600">
              <a:buAutoNum type="arabicPeriod"/>
            </a:pPr>
            <a:r>
              <a:rPr lang="en-AU" dirty="0" smtClean="0"/>
              <a:t>8km/h</a:t>
            </a:r>
          </a:p>
          <a:p>
            <a:pPr marL="228600" indent="-228600">
              <a:buAutoNum type="arabicPeriod"/>
            </a:pPr>
            <a:r>
              <a:rPr lang="en-AU" dirty="0" smtClean="0"/>
              <a:t>269</a:t>
            </a:r>
          </a:p>
          <a:p>
            <a:pPr marL="228600" indent="-228600">
              <a:buAutoNum type="arabicPeriod"/>
            </a:pPr>
            <a:r>
              <a:rPr lang="en-AU" dirty="0" smtClean="0"/>
              <a:t>-1</a:t>
            </a:r>
          </a:p>
          <a:p>
            <a:pPr marL="228600" indent="-228600">
              <a:buAutoNum type="arabicPeriod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926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1400" dirty="0"/>
              <a:t>Check for understanding!</a:t>
            </a:r>
          </a:p>
          <a:p>
            <a:endParaRPr lang="en-AU" sz="1400" dirty="0"/>
          </a:p>
          <a:p>
            <a:r>
              <a:rPr lang="en-AU" sz="1400" dirty="0"/>
              <a:t>What is numerical data?</a:t>
            </a:r>
          </a:p>
          <a:p>
            <a:r>
              <a:rPr lang="en-AU" sz="1400" dirty="0"/>
              <a:t>What is categorical data?</a:t>
            </a:r>
          </a:p>
          <a:p>
            <a:r>
              <a:rPr lang="en-AU" sz="1400" dirty="0"/>
              <a:t>What is discrete data?</a:t>
            </a:r>
          </a:p>
          <a:p>
            <a:r>
              <a:rPr lang="en-AU" sz="1400" dirty="0"/>
              <a:t>What makes data continuous?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8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03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2668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25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7406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25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5569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47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0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2047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025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489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41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23/08/2021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64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Topic: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Data</a:t>
            </a: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/>
            </a:r>
            <a:b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</a:br>
            <a:r>
              <a:rPr lang="en-US" sz="4000" dirty="0">
                <a:solidFill>
                  <a:schemeClr val="tx1"/>
                </a:solidFill>
                <a:latin typeface="Tw Cen MT Condensed" panose="020B0606020104020203" pitchFamily="34" charset="0"/>
              </a:rPr>
              <a:t>EQ: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Explain how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frequency </a:t>
            </a:r>
            <a:r>
              <a:rPr lang="en-US" sz="4000" dirty="0" smtClean="0">
                <a:solidFill>
                  <a:schemeClr val="tx1"/>
                </a:solidFill>
                <a:latin typeface="Tw Cen MT Condensed" panose="020B0606020104020203" pitchFamily="34" charset="0"/>
              </a:rPr>
              <a:t>distribution tables can be used? </a:t>
            </a:r>
            <a:endParaRPr lang="en-GB" sz="4000" dirty="0">
              <a:solidFill>
                <a:schemeClr val="tx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AU" sz="2800" dirty="0" smtClean="0">
                <a:solidFill>
                  <a:schemeClr val="tx1"/>
                </a:solidFill>
                <a:latin typeface="Tw Cen MT" panose="020B0602020104020603" pitchFamily="34" charset="0"/>
              </a:rPr>
              <a:t>Year </a:t>
            </a:r>
            <a:r>
              <a:rPr lang="en-AU" sz="2800" dirty="0">
                <a:solidFill>
                  <a:schemeClr val="tx1"/>
                </a:solidFill>
                <a:latin typeface="Tw Cen MT" panose="020B0602020104020603" pitchFamily="34" charset="0"/>
              </a:rPr>
              <a:t>11 Essentials</a:t>
            </a:r>
            <a:endParaRPr lang="en-GB" sz="2800" dirty="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2A3C03-BF03-48EF-A72A-CE11494F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494" y="1000105"/>
            <a:ext cx="10058400" cy="1371600"/>
          </a:xfrm>
        </p:spPr>
        <p:txBody>
          <a:bodyPr/>
          <a:lstStyle/>
          <a:p>
            <a:r>
              <a:rPr lang="en-AU" b="1" dirty="0" smtClean="0">
                <a:latin typeface="Bradley Hand ITC" panose="03070402050302030203" pitchFamily="66" charset="0"/>
              </a:rPr>
              <a:t>Five </a:t>
            </a:r>
            <a:r>
              <a:rPr lang="en-AU" b="1" dirty="0">
                <a:latin typeface="Bradley Hand ITC" panose="03070402050302030203" pitchFamily="66" charset="0"/>
              </a:rPr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F5C9BC97-E084-4305-8742-02C144E0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72" y="2267712"/>
            <a:ext cx="11017452" cy="445372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A heater used 6kW of power in 3 hours, write the energy consumption rate in kWh?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Use rounding to work out approximately how much money you have if you had $5375 in your savings account and $482 in your wallet</a:t>
            </a:r>
            <a:endParaRPr lang="en-AU" sz="2400" b="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If a </a:t>
            </a: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narwhal moves at 5 miles per hour, convert its speed to km/h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478 + 253 + _____ = 1000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b="0" dirty="0" smtClean="0">
                <a:latin typeface="Calibri" panose="020F0502020204030204" pitchFamily="34" charset="0"/>
                <a:cs typeface="Calibri" panose="020F0502020204030204" pitchFamily="34" charset="0"/>
              </a:rPr>
              <a:t>If y = 1, g = 2 and w = 5, calculate the value of -2y + 2 + 4y - w</a:t>
            </a:r>
            <a:endParaRPr lang="en-AU" sz="2400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F8740F4-4E29-46F0-AE17-D5002ED9BE37}"/>
              </a:ext>
            </a:extLst>
          </p:cNvPr>
          <p:cNvSpPr txBox="1"/>
          <p:nvPr/>
        </p:nvSpPr>
        <p:spPr>
          <a:xfrm>
            <a:off x="4901025" y="272531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8ACED037-8382-4B21-A2F7-E1E36A739063}"/>
              </a:ext>
            </a:extLst>
          </p:cNvPr>
          <p:cNvSpPr txBox="1"/>
          <p:nvPr/>
        </p:nvSpPr>
        <p:spPr>
          <a:xfrm>
            <a:off x="4901025" y="859252"/>
            <a:ext cx="6815487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 how frequency distribution tables can be used?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B63EF86-F88E-4651-A0D0-6F8AFC411E31}"/>
              </a:ext>
            </a:extLst>
          </p:cNvPr>
          <p:cNvSpPr txBox="1"/>
          <p:nvPr/>
        </p:nvSpPr>
        <p:spPr>
          <a:xfrm>
            <a:off x="9537046" y="339624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019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51983" y="1298661"/>
            <a:ext cx="0" cy="555933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0293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3200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en-AU" sz="3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93720" y="21135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Date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37124"/>
            <a:ext cx="7788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</a:t>
            </a:r>
            <a:r>
              <a:rPr lang="en-AU" sz="2399" dirty="0" smtClea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 how frequency distribution tables can be used?</a:t>
            </a:r>
            <a:endParaRPr lang="en-AU" sz="2399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96A9E84E-8513-465B-8CA9-D1DD4FAC2317}"/>
              </a:ext>
            </a:extLst>
          </p:cNvPr>
          <p:cNvSpPr txBox="1"/>
          <p:nvPr/>
        </p:nvSpPr>
        <p:spPr>
          <a:xfrm>
            <a:off x="124245" y="5756432"/>
            <a:ext cx="2027738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399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399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9070ED6-4BED-4D32-94DD-D50FBBDA7771}"/>
              </a:ext>
            </a:extLst>
          </p:cNvPr>
          <p:cNvSpPr txBox="1"/>
          <p:nvPr/>
        </p:nvSpPr>
        <p:spPr>
          <a:xfrm>
            <a:off x="54715" y="1490008"/>
            <a:ext cx="21667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a frequency table?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1B98AF6-C845-4C3F-804D-986DB17E48F9}"/>
              </a:ext>
            </a:extLst>
          </p:cNvPr>
          <p:cNvSpPr txBox="1"/>
          <p:nvPr/>
        </p:nvSpPr>
        <p:spPr>
          <a:xfrm>
            <a:off x="2336426" y="1350976"/>
            <a:ext cx="90447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Frequency tables display information in a way that can be easily understood.  It can contain one or more data sets that fit into the same categories.  They are related to 2 way tables, but use continuous numerical data.</a:t>
            </a:r>
            <a:endParaRPr lang="en-AU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0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Interleaved Textbook pg. </a:t>
            </a:r>
            <a:r>
              <a:rPr lang="en-AU" dirty="0" smtClean="0"/>
              <a:t>108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2123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400" dirty="0" smtClean="0"/>
              <a:t>Examine the frequency table on the next page and answer the following questions:</a:t>
            </a:r>
            <a:br>
              <a:rPr lang="en-AU" sz="2400" dirty="0" smtClean="0"/>
            </a:br>
            <a:r>
              <a:rPr lang="en-AU" sz="2400" dirty="0" smtClean="0"/>
              <a:t>1. How is it constructed?</a:t>
            </a:r>
          </a:p>
          <a:p>
            <a:pPr marL="0" indent="0">
              <a:buNone/>
            </a:pPr>
            <a:r>
              <a:rPr lang="en-AU" sz="2400" dirty="0" smtClean="0"/>
              <a:t>2. What do the columns titled “frequency” show?</a:t>
            </a:r>
          </a:p>
          <a:p>
            <a:pPr marL="0" indent="0">
              <a:buNone/>
            </a:pPr>
            <a:r>
              <a:rPr lang="en-AU" sz="2400" dirty="0" smtClean="0"/>
              <a:t>3. A zero or positive number indicates that people could reach their toes or beyond.  What fraction of people across the study could reach their toes?</a:t>
            </a:r>
          </a:p>
          <a:p>
            <a:pPr marL="0" indent="0">
              <a:buNone/>
            </a:pPr>
            <a:r>
              <a:rPr lang="en-AU" sz="2400" dirty="0" smtClean="0"/>
              <a:t>4. What fraction could reach their toes originally?  How did this change after 4 weeks?</a:t>
            </a:r>
          </a:p>
          <a:p>
            <a:pPr marL="0" indent="0">
              <a:buNone/>
            </a:pPr>
            <a:r>
              <a:rPr lang="en-AU" sz="2400" dirty="0" smtClean="0"/>
              <a:t>5. What fraction were 5cm or more away from reaching their toes across the whole study? How did this change from the baseline data collection to the end of the study?</a:t>
            </a:r>
            <a:endParaRPr lang="en-AU" sz="2400" dirty="0" smtClean="0"/>
          </a:p>
          <a:p>
            <a:pPr marL="0" indent="0">
              <a:buNone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91693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DD30D8-FE56-40C4-B983-D0C8B332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14" y="642593"/>
            <a:ext cx="10162679" cy="1371600"/>
          </a:xfrm>
        </p:spPr>
        <p:txBody>
          <a:bodyPr/>
          <a:lstStyle/>
          <a:p>
            <a:r>
              <a:rPr lang="en-AU" dirty="0"/>
              <a:t>Interleaved Textbook </a:t>
            </a:r>
            <a:r>
              <a:rPr lang="en-AU" dirty="0" smtClean="0"/>
              <a:t>pg. </a:t>
            </a:r>
            <a:r>
              <a:rPr lang="en-AU" dirty="0" smtClean="0"/>
              <a:t>108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7E78D31-91AD-4D5C-88AB-D10229C2CCC2}"/>
              </a:ext>
            </a:extLst>
          </p:cNvPr>
          <p:cNvSpPr txBox="1"/>
          <p:nvPr/>
        </p:nvSpPr>
        <p:spPr>
          <a:xfrm>
            <a:off x="383414" y="1783361"/>
            <a:ext cx="8675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Flexibility measurements from Yr. 11 class (pg. 106)</a:t>
            </a:r>
            <a:endParaRPr lang="en-AU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417668"/>
              </p:ext>
            </p:extLst>
          </p:nvPr>
        </p:nvGraphicFramePr>
        <p:xfrm>
          <a:off x="871728" y="2396046"/>
          <a:ext cx="100584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Class of flexibility</a:t>
                      </a:r>
                      <a:r>
                        <a:rPr lang="en-AU" baseline="0" dirty="0" smtClean="0"/>
                        <a:t> (cm from toes)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Frequency</a:t>
                      </a:r>
                      <a:br>
                        <a:rPr lang="en-AU" dirty="0" smtClean="0"/>
                      </a:br>
                      <a:r>
                        <a:rPr lang="en-AU" dirty="0" smtClean="0"/>
                        <a:t>(baseline) (f</a:t>
                      </a:r>
                      <a:r>
                        <a:rPr lang="en-AU" baseline="-25000" dirty="0" smtClean="0"/>
                        <a:t>1</a:t>
                      </a:r>
                      <a:r>
                        <a:rPr lang="en-AU" dirty="0" smtClean="0"/>
                        <a:t>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Frequency</a:t>
                      </a:r>
                      <a:br>
                        <a:rPr lang="en-AU" dirty="0" smtClean="0"/>
                      </a:br>
                      <a:r>
                        <a:rPr lang="en-AU" dirty="0" smtClean="0"/>
                        <a:t>(4 weeks) (f</a:t>
                      </a:r>
                      <a:r>
                        <a:rPr lang="en-AU" baseline="-25000" dirty="0" smtClean="0"/>
                        <a:t>2</a:t>
                      </a:r>
                      <a:r>
                        <a:rPr lang="en-AU" dirty="0" smtClean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Total (∑)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&lt;-6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-6 to &lt;-4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7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-4 to &lt;-2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14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-2 to &lt;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0 to &lt;2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5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2 to &lt;4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5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4 to &lt;6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0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Total (∑)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 dirty="0" smtClean="0"/>
                        <a:t>∑(f</a:t>
                      </a:r>
                      <a:r>
                        <a:rPr lang="en-AU" b="1" baseline="-25000" dirty="0" smtClean="0"/>
                        <a:t>1</a:t>
                      </a:r>
                      <a:r>
                        <a:rPr lang="en-AU" b="1" dirty="0" smtClean="0"/>
                        <a:t>)                       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b="1" dirty="0" smtClean="0"/>
                        <a:t>∑(f</a:t>
                      </a:r>
                      <a:r>
                        <a:rPr lang="en-AU" b="1" baseline="-25000" dirty="0" smtClean="0"/>
                        <a:t>2</a:t>
                      </a:r>
                      <a:r>
                        <a:rPr lang="en-AU" b="1" dirty="0" smtClean="0"/>
                        <a:t>)                       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AU" b="1" dirty="0" smtClean="0"/>
                        <a:t>40</a:t>
                      </a:r>
                      <a:endParaRPr lang="en-AU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9003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2289B43-6600-440B-86BA-D5B72B36C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71FFD49-0CB8-4FCF-A88F-9FF0D6533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Complete Apply Q4-7 from your </a:t>
            </a:r>
            <a:r>
              <a:rPr lang="en-AU" sz="2400" dirty="0" smtClean="0"/>
              <a:t>Interleaved Textbook pg. 109</a:t>
            </a: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505425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4084</TotalTime>
  <Words>350</Words>
  <Application>Microsoft Office PowerPoint</Application>
  <PresentationFormat>Widescreen</PresentationFormat>
  <Paragraphs>81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Bradley Hand ITC</vt:lpstr>
      <vt:lpstr>Calibri</vt:lpstr>
      <vt:lpstr>Century Gothic</vt:lpstr>
      <vt:lpstr>Garamond</vt:lpstr>
      <vt:lpstr>Tw Cen MT</vt:lpstr>
      <vt:lpstr>Tw Cen MT Condensed</vt:lpstr>
      <vt:lpstr>Savon</vt:lpstr>
      <vt:lpstr>Topic: Data EQ: Explain how frequency distribution tables can be used? </vt:lpstr>
      <vt:lpstr>Five Questions</vt:lpstr>
      <vt:lpstr>PowerPoint Presentation</vt:lpstr>
      <vt:lpstr>Interleaved Textbook pg. 108</vt:lpstr>
      <vt:lpstr>Interleaved Textbook pg. 108</vt:lpstr>
      <vt:lpstr>Task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Coz W</cp:lastModifiedBy>
  <cp:revision>120</cp:revision>
  <cp:lastPrinted>2018-05-03T00:24:35Z</cp:lastPrinted>
  <dcterms:created xsi:type="dcterms:W3CDTF">2018-02-13T05:48:53Z</dcterms:created>
  <dcterms:modified xsi:type="dcterms:W3CDTF">2021-08-23T14:23:02Z</dcterms:modified>
</cp:coreProperties>
</file>
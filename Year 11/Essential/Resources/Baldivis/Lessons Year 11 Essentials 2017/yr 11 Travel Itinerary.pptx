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906000" type="A4"/>
  <p:notesSz cx="9926638"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20" d="100"/>
          <a:sy n="120" d="100"/>
        </p:scale>
        <p:origin x="-318" y="-16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3860443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210994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2504302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4266947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1059927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797641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3975061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3957284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2375322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1398011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3A8134-ACE9-4C82-9AEE-A3130B4BE79C}" type="datetimeFigureOut">
              <a:rPr lang="en-AU" smtClean="0"/>
              <a:t>14/09/2017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71F1D01-AF10-4A6F-8A0F-C4E2EA70F4C5}" type="slidenum">
              <a:rPr lang="en-AU" smtClean="0"/>
              <a:t>‹#›</a:t>
            </a:fld>
            <a:endParaRPr lang="en-AU" dirty="0"/>
          </a:p>
        </p:txBody>
      </p:sp>
    </p:spTree>
    <p:extLst>
      <p:ext uri="{BB962C8B-B14F-4D97-AF65-F5344CB8AC3E}">
        <p14:creationId xmlns:p14="http://schemas.microsoft.com/office/powerpoint/2010/main" val="333929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FC3A8134-ACE9-4C82-9AEE-A3130B4BE79C}" type="datetimeFigureOut">
              <a:rPr lang="en-AU" smtClean="0"/>
              <a:t>14/09/2017</a:t>
            </a:fld>
            <a:endParaRPr lang="en-AU"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F71F1D01-AF10-4A6F-8A0F-C4E2EA70F4C5}" type="slidenum">
              <a:rPr lang="en-AU" smtClean="0"/>
              <a:t>‹#›</a:t>
            </a:fld>
            <a:endParaRPr lang="en-AU" dirty="0"/>
          </a:p>
        </p:txBody>
      </p:sp>
    </p:spTree>
    <p:extLst>
      <p:ext uri="{BB962C8B-B14F-4D97-AF65-F5344CB8AC3E}">
        <p14:creationId xmlns:p14="http://schemas.microsoft.com/office/powerpoint/2010/main" val="32761779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66700"/>
            <a:ext cx="5829300" cy="342900"/>
          </a:xfrm>
        </p:spPr>
        <p:txBody>
          <a:bodyPr>
            <a:normAutofit fontScale="90000"/>
          </a:bodyPr>
          <a:lstStyle/>
          <a:p>
            <a:r>
              <a:rPr lang="en-AU" dirty="0"/>
              <a:t>Travel Itinerary</a:t>
            </a:r>
          </a:p>
        </p:txBody>
      </p:sp>
      <p:sp>
        <p:nvSpPr>
          <p:cNvPr id="3" name="Subtitle 2"/>
          <p:cNvSpPr>
            <a:spLocks noGrp="1"/>
          </p:cNvSpPr>
          <p:nvPr>
            <p:ph type="subTitle" idx="1"/>
          </p:nvPr>
        </p:nvSpPr>
        <p:spPr>
          <a:xfrm>
            <a:off x="209550" y="609600"/>
            <a:ext cx="6438900" cy="8852452"/>
          </a:xfrm>
        </p:spPr>
        <p:txBody>
          <a:bodyPr>
            <a:normAutofit fontScale="70000" lnSpcReduction="20000"/>
          </a:bodyPr>
          <a:lstStyle/>
          <a:p>
            <a:pPr algn="l"/>
            <a:r>
              <a:rPr lang="en-AU" dirty="0"/>
              <a:t>Mandy is an executive at Retail Extravaganza Incorporated, a company that pays door to door salespersons to sell clothing. She is visiting the WA branch offices to showcase the new season catalogue.  Mandy wants to visit every WA branch office once over the next 2 weeks, spending at least 4 hrs at each office (which are not open on Saturdays or Sundays).</a:t>
            </a:r>
          </a:p>
          <a:p>
            <a:pPr algn="l"/>
            <a:endParaRPr lang="en-AU" dirty="0"/>
          </a:p>
          <a:p>
            <a:pPr algn="l"/>
            <a:r>
              <a:rPr lang="en-AU" dirty="0"/>
              <a:t>The company has offices in Perth, Esperance, Bunbury, Geraldton, Kalgoorlie, Karratha, Broome and Carnarvon. As Mandy has flown in from interstate, she needs to start and finish in Perth.</a:t>
            </a:r>
          </a:p>
          <a:p>
            <a:pPr algn="l"/>
            <a:endParaRPr lang="en-AU" dirty="0"/>
          </a:p>
          <a:p>
            <a:pPr algn="l"/>
            <a:r>
              <a:rPr lang="en-AU" dirty="0"/>
              <a:t>Mandy wants to fly from city to city for the northern cities but wants to drive around the south of the state and doesn’t want to travel late at night.  </a:t>
            </a:r>
          </a:p>
          <a:p>
            <a:pPr marL="685800" lvl="1" indent="-342900" algn="l">
              <a:buFont typeface="+mj-lt"/>
              <a:buAutoNum type="arabicPeriod"/>
            </a:pPr>
            <a:r>
              <a:rPr lang="en-AU" dirty="0"/>
              <a:t>Each night she stops in a city, it costs $250 in accommodation</a:t>
            </a:r>
          </a:p>
          <a:p>
            <a:pPr marL="685800" lvl="1" indent="-342900" algn="l">
              <a:buFont typeface="+mj-lt"/>
              <a:buAutoNum type="arabicPeriod"/>
            </a:pPr>
            <a:r>
              <a:rPr lang="en-AU" dirty="0"/>
              <a:t>The cost of travelling by car is $75 per day (car rental) and 7c each kilometre for fuel.</a:t>
            </a:r>
          </a:p>
          <a:p>
            <a:pPr marL="685800" lvl="1" indent="-342900" algn="l">
              <a:buFont typeface="+mj-lt"/>
              <a:buAutoNum type="arabicPeriod"/>
            </a:pPr>
            <a:r>
              <a:rPr lang="en-AU" dirty="0"/>
              <a:t>Assume cars can travel at an average of 100km/hr and airplanes can travel at an average of 350km/hr (this will allow extra time for embarking, sorting luggage and checking in etc).</a:t>
            </a:r>
          </a:p>
          <a:p>
            <a:pPr marL="685800" lvl="1" indent="-342900" algn="l">
              <a:buFont typeface="+mj-lt"/>
              <a:buAutoNum type="arabicPeriod"/>
            </a:pPr>
            <a:r>
              <a:rPr lang="en-AU" dirty="0"/>
              <a:t>If she flies to each city, she will need an additional $50 per city for a taxi or Uber fares while in the city</a:t>
            </a:r>
          </a:p>
          <a:p>
            <a:pPr algn="l"/>
            <a:endParaRPr lang="en-AU" dirty="0"/>
          </a:p>
          <a:p>
            <a:pPr algn="l"/>
            <a:r>
              <a:rPr lang="en-AU" dirty="0"/>
              <a:t>1. Work out the route for her to travel.</a:t>
            </a:r>
          </a:p>
          <a:p>
            <a:pPr algn="l"/>
            <a:endParaRPr lang="en-AU" dirty="0"/>
          </a:p>
          <a:p>
            <a:pPr algn="l"/>
            <a:r>
              <a:rPr lang="en-AU" dirty="0"/>
              <a:t>2. Find the cost of flying your chosen route.</a:t>
            </a:r>
          </a:p>
          <a:p>
            <a:pPr algn="l"/>
            <a:endParaRPr lang="en-AU" dirty="0"/>
          </a:p>
          <a:p>
            <a:pPr algn="l"/>
            <a:r>
              <a:rPr lang="en-AU" dirty="0"/>
              <a:t>3. Calculate the distance she will drive.</a:t>
            </a:r>
          </a:p>
          <a:p>
            <a:pPr algn="l"/>
            <a:endParaRPr lang="en-AU" dirty="0"/>
          </a:p>
          <a:p>
            <a:pPr algn="l"/>
            <a:r>
              <a:rPr lang="en-AU" dirty="0"/>
              <a:t>4. Calculate the time it will take to drive and the cost of petrol for the driven part of her journey.</a:t>
            </a:r>
          </a:p>
          <a:p>
            <a:pPr algn="l"/>
            <a:endParaRPr lang="en-AU" dirty="0"/>
          </a:p>
          <a:p>
            <a:pPr algn="l"/>
            <a:r>
              <a:rPr lang="en-AU" dirty="0"/>
              <a:t>5. Create the schedule for the driven part of her journey and from that calculate the total cost of driving (including accommodation).</a:t>
            </a:r>
          </a:p>
          <a:p>
            <a:pPr algn="l"/>
            <a:endParaRPr lang="en-AU" dirty="0"/>
          </a:p>
          <a:p>
            <a:pPr algn="l"/>
            <a:r>
              <a:rPr lang="en-AU" dirty="0"/>
              <a:t>6. What is the cost of all the flights she will take?</a:t>
            </a:r>
          </a:p>
          <a:p>
            <a:pPr algn="l"/>
            <a:endParaRPr lang="en-AU" dirty="0"/>
          </a:p>
          <a:p>
            <a:pPr algn="l"/>
            <a:r>
              <a:rPr lang="en-AU" dirty="0"/>
              <a:t>8. Use the scale to calculate the distances of the flights and therefore the travel times.</a:t>
            </a:r>
          </a:p>
          <a:p>
            <a:pPr algn="l"/>
            <a:endParaRPr lang="en-AU" dirty="0"/>
          </a:p>
          <a:p>
            <a:pPr algn="l"/>
            <a:r>
              <a:rPr lang="en-AU" dirty="0"/>
              <a:t>9. Create a schedule for her to follow to visit all the cities (she can travel on Saturdays and Sundays but cannot visit a Branch office on a weekend)?.</a:t>
            </a:r>
          </a:p>
          <a:p>
            <a:pPr marL="342900" indent="-342900" algn="l">
              <a:buAutoNum type="arabicPeriod" startAt="5"/>
            </a:pPr>
            <a:endParaRPr lang="en-AU" dirty="0"/>
          </a:p>
          <a:p>
            <a:pPr algn="l"/>
            <a:r>
              <a:rPr lang="en-AU" dirty="0"/>
              <a:t>7. Will 2 weeks be enough time for her to visit each branch office?</a:t>
            </a:r>
          </a:p>
          <a:p>
            <a:pPr algn="l"/>
            <a:endParaRPr lang="en-AU" dirty="0"/>
          </a:p>
          <a:p>
            <a:pPr algn="l"/>
            <a:r>
              <a:rPr lang="en-AU" dirty="0"/>
              <a:t>Draw a table to show the daily schedule she will need to keep.</a:t>
            </a:r>
          </a:p>
        </p:txBody>
      </p:sp>
    </p:spTree>
    <p:extLst>
      <p:ext uri="{BB962C8B-B14F-4D97-AF65-F5344CB8AC3E}">
        <p14:creationId xmlns:p14="http://schemas.microsoft.com/office/powerpoint/2010/main" val="1425734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59BEF4-B382-4D7B-8ED9-615A086FD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1137" y="254000"/>
            <a:ext cx="3895725" cy="5194300"/>
          </a:xfrm>
          <a:prstGeom prst="rect">
            <a:avLst/>
          </a:prstGeom>
        </p:spPr>
      </p:pic>
      <p:graphicFrame>
        <p:nvGraphicFramePr>
          <p:cNvPr id="5" name="Table 4">
            <a:extLst>
              <a:ext uri="{FF2B5EF4-FFF2-40B4-BE49-F238E27FC236}">
                <a16:creationId xmlns:a16="http://schemas.microsoft.com/office/drawing/2014/main" id="{49DFA87A-77F5-4D51-A2D9-C9105B95FB7A}"/>
              </a:ext>
            </a:extLst>
          </p:cNvPr>
          <p:cNvGraphicFramePr>
            <a:graphicFrameLocks noGrp="1"/>
          </p:cNvGraphicFramePr>
          <p:nvPr>
            <p:extLst>
              <p:ext uri="{D42A27DB-BD31-4B8C-83A1-F6EECF244321}">
                <p14:modId xmlns:p14="http://schemas.microsoft.com/office/powerpoint/2010/main" val="1264686918"/>
              </p:ext>
            </p:extLst>
          </p:nvPr>
        </p:nvGraphicFramePr>
        <p:xfrm>
          <a:off x="333954" y="5780598"/>
          <a:ext cx="6408749" cy="2242260"/>
        </p:xfrm>
        <a:graphic>
          <a:graphicData uri="http://schemas.openxmlformats.org/drawingml/2006/table">
            <a:tbl>
              <a:tblPr/>
              <a:tblGrid>
                <a:gridCol w="781695">
                  <a:extLst>
                    <a:ext uri="{9D8B030D-6E8A-4147-A177-3AD203B41FA5}">
                      <a16:colId xmlns:a16="http://schemas.microsoft.com/office/drawing/2014/main" val="3074391757"/>
                    </a:ext>
                  </a:extLst>
                </a:gridCol>
                <a:gridCol w="367856">
                  <a:extLst>
                    <a:ext uri="{9D8B030D-6E8A-4147-A177-3AD203B41FA5}">
                      <a16:colId xmlns:a16="http://schemas.microsoft.com/office/drawing/2014/main" val="1934389795"/>
                    </a:ext>
                  </a:extLst>
                </a:gridCol>
                <a:gridCol w="367856">
                  <a:extLst>
                    <a:ext uri="{9D8B030D-6E8A-4147-A177-3AD203B41FA5}">
                      <a16:colId xmlns:a16="http://schemas.microsoft.com/office/drawing/2014/main" val="1728369093"/>
                    </a:ext>
                  </a:extLst>
                </a:gridCol>
                <a:gridCol w="950296">
                  <a:extLst>
                    <a:ext uri="{9D8B030D-6E8A-4147-A177-3AD203B41FA5}">
                      <a16:colId xmlns:a16="http://schemas.microsoft.com/office/drawing/2014/main" val="2005640844"/>
                    </a:ext>
                  </a:extLst>
                </a:gridCol>
                <a:gridCol w="367856">
                  <a:extLst>
                    <a:ext uri="{9D8B030D-6E8A-4147-A177-3AD203B41FA5}">
                      <a16:colId xmlns:a16="http://schemas.microsoft.com/office/drawing/2014/main" val="63646892"/>
                    </a:ext>
                  </a:extLst>
                </a:gridCol>
                <a:gridCol w="367856">
                  <a:extLst>
                    <a:ext uri="{9D8B030D-6E8A-4147-A177-3AD203B41FA5}">
                      <a16:colId xmlns:a16="http://schemas.microsoft.com/office/drawing/2014/main" val="3891798228"/>
                    </a:ext>
                  </a:extLst>
                </a:gridCol>
                <a:gridCol w="1012325">
                  <a:extLst>
                    <a:ext uri="{9D8B030D-6E8A-4147-A177-3AD203B41FA5}">
                      <a16:colId xmlns:a16="http://schemas.microsoft.com/office/drawing/2014/main" val="3716673667"/>
                    </a:ext>
                  </a:extLst>
                </a:gridCol>
                <a:gridCol w="407373">
                  <a:extLst>
                    <a:ext uri="{9D8B030D-6E8A-4147-A177-3AD203B41FA5}">
                      <a16:colId xmlns:a16="http://schemas.microsoft.com/office/drawing/2014/main" val="4086429487"/>
                    </a:ext>
                  </a:extLst>
                </a:gridCol>
                <a:gridCol w="367856">
                  <a:extLst>
                    <a:ext uri="{9D8B030D-6E8A-4147-A177-3AD203B41FA5}">
                      <a16:colId xmlns:a16="http://schemas.microsoft.com/office/drawing/2014/main" val="2913820518"/>
                    </a:ext>
                  </a:extLst>
                </a:gridCol>
                <a:gridCol w="1049924">
                  <a:extLst>
                    <a:ext uri="{9D8B030D-6E8A-4147-A177-3AD203B41FA5}">
                      <a16:colId xmlns:a16="http://schemas.microsoft.com/office/drawing/2014/main" val="1329934592"/>
                    </a:ext>
                  </a:extLst>
                </a:gridCol>
                <a:gridCol w="367856">
                  <a:extLst>
                    <a:ext uri="{9D8B030D-6E8A-4147-A177-3AD203B41FA5}">
                      <a16:colId xmlns:a16="http://schemas.microsoft.com/office/drawing/2014/main" val="163286546"/>
                    </a:ext>
                  </a:extLst>
                </a:gridCol>
              </a:tblGrid>
              <a:tr h="124570">
                <a:tc>
                  <a:txBody>
                    <a:bodyPr/>
                    <a:lstStyle/>
                    <a:p>
                      <a:pPr algn="l" fontAlgn="b"/>
                      <a:r>
                        <a:rPr lang="en-AU" sz="600" b="0" i="0" u="none" strike="noStrike">
                          <a:solidFill>
                            <a:srgbClr val="000000"/>
                          </a:solidFill>
                          <a:effectLst/>
                          <a:latin typeface="Calibri" panose="020F0502020204030204" pitchFamily="34" charset="0"/>
                        </a:rPr>
                        <a:t>Cost of Flights</a:t>
                      </a: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2258585"/>
                  </a:ext>
                </a:extLst>
              </a:tr>
              <a:tr h="124570">
                <a:tc>
                  <a:txBody>
                    <a:bodyPr/>
                    <a:lstStyle/>
                    <a:p>
                      <a:pPr algn="r" fontAlgn="b"/>
                      <a:r>
                        <a:rPr lang="en-AU" sz="600" b="0" i="0" u="none" strike="noStrike">
                          <a:solidFill>
                            <a:srgbClr val="000000"/>
                          </a:solidFill>
                          <a:effectLst/>
                          <a:latin typeface="Calibri" panose="020F0502020204030204" pitchFamily="34" charset="0"/>
                        </a:rPr>
                        <a:t>Perth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0819020"/>
                  </a:ext>
                </a:extLst>
              </a:tr>
              <a:tr h="124570">
                <a:tc>
                  <a:txBody>
                    <a:bodyPr/>
                    <a:lstStyle/>
                    <a:p>
                      <a:pPr algn="r" fontAlgn="b"/>
                      <a:r>
                        <a:rPr lang="en-AU" sz="600" b="0" i="0" u="none" strike="noStrike">
                          <a:solidFill>
                            <a:srgbClr val="000000"/>
                          </a:solidFill>
                          <a:effectLst/>
                          <a:latin typeface="Calibri" panose="020F0502020204030204" pitchFamily="34" charset="0"/>
                        </a:rPr>
                        <a:t>Perth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920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420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5269665"/>
                  </a:ext>
                </a:extLst>
              </a:tr>
              <a:tr h="124570">
                <a:tc>
                  <a:txBody>
                    <a:bodyPr/>
                    <a:lstStyle/>
                    <a:p>
                      <a:pPr algn="r" fontAlgn="b"/>
                      <a:r>
                        <a:rPr lang="en-AU" sz="600" b="0" i="0" u="none" strike="noStrike">
                          <a:solidFill>
                            <a:srgbClr val="000000"/>
                          </a:solidFill>
                          <a:effectLst/>
                          <a:latin typeface="Calibri" panose="020F0502020204030204" pitchFamily="34" charset="0"/>
                        </a:rPr>
                        <a:t>Perth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280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dirty="0">
                          <a:solidFill>
                            <a:srgbClr val="000000"/>
                          </a:solidFill>
                          <a:effectLst/>
                          <a:latin typeface="Calibri" panose="020F0502020204030204" pitchFamily="34" charset="0"/>
                        </a:rPr>
                        <a:t>250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33375862"/>
                  </a:ext>
                </a:extLst>
              </a:tr>
              <a:tr h="124570">
                <a:tc>
                  <a:txBody>
                    <a:bodyPr/>
                    <a:lstStyle/>
                    <a:p>
                      <a:pPr algn="r" fontAlgn="b"/>
                      <a:r>
                        <a:rPr lang="en-AU" sz="600" b="0" i="0" u="none" strike="noStrike">
                          <a:solidFill>
                            <a:srgbClr val="000000"/>
                          </a:solidFill>
                          <a:effectLst/>
                          <a:latin typeface="Calibri" panose="020F0502020204030204" pitchFamily="34" charset="0"/>
                        </a:rPr>
                        <a:t>Perth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270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8982160"/>
                  </a:ext>
                </a:extLst>
              </a:tr>
              <a:tr h="124570">
                <a:tc>
                  <a:txBody>
                    <a:bodyPr/>
                    <a:lstStyle/>
                    <a:p>
                      <a:pPr algn="r" fontAlgn="b"/>
                      <a:r>
                        <a:rPr lang="en-AU" sz="600" b="0" i="0" u="none" strike="noStrike">
                          <a:solidFill>
                            <a:srgbClr val="000000"/>
                          </a:solidFill>
                          <a:effectLst/>
                          <a:latin typeface="Calibri" panose="020F0502020204030204" pitchFamily="34" charset="0"/>
                        </a:rPr>
                        <a:t>Perth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7733260"/>
                  </a:ext>
                </a:extLst>
              </a:tr>
              <a:tr h="124570">
                <a:tc>
                  <a:txBody>
                    <a:bodyPr/>
                    <a:lstStyle/>
                    <a:p>
                      <a:pPr algn="r" fontAlgn="b"/>
                      <a:r>
                        <a:rPr lang="en-AU" sz="600" b="0" i="0" u="none" strike="noStrike">
                          <a:solidFill>
                            <a:srgbClr val="000000"/>
                          </a:solidFill>
                          <a:effectLst/>
                          <a:latin typeface="Calibri" panose="020F0502020204030204" pitchFamily="34" charset="0"/>
                        </a:rPr>
                        <a:t>Perth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260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31091"/>
                  </a:ext>
                </a:extLst>
              </a:tr>
              <a:tr h="124570">
                <a:tc>
                  <a:txBody>
                    <a:bodyPr/>
                    <a:lstStyle/>
                    <a:p>
                      <a:pPr algn="r" fontAlgn="b"/>
                      <a:r>
                        <a:rPr lang="en-AU" sz="600" b="0" i="0" u="none" strike="noStrike">
                          <a:solidFill>
                            <a:srgbClr val="000000"/>
                          </a:solidFill>
                          <a:effectLst/>
                          <a:latin typeface="Calibri" panose="020F0502020204030204" pitchFamily="34" charset="0"/>
                        </a:rPr>
                        <a:t>Perth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Carnarvon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550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Geraldton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430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Bunbury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330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9919899"/>
                  </a:ext>
                </a:extLst>
              </a:tr>
              <a:tr h="124570">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553166297"/>
                  </a:ext>
                </a:extLst>
              </a:tr>
              <a:tr h="124570">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extLst>
                  <a:ext uri="{0D108BD9-81ED-4DB2-BD59-A6C34878D82A}">
                    <a16:rowId xmlns:a16="http://schemas.microsoft.com/office/drawing/2014/main" val="1258951389"/>
                  </a:ext>
                </a:extLst>
              </a:tr>
              <a:tr h="124570">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a:noFill/>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8627862"/>
                  </a:ext>
                </a:extLst>
              </a:tr>
              <a:tr h="124570">
                <a:tc>
                  <a:txBody>
                    <a:bodyPr/>
                    <a:lstStyle/>
                    <a:p>
                      <a:pPr algn="r" fontAlgn="b"/>
                      <a:r>
                        <a:rPr lang="en-AU" sz="600" b="0" i="0" u="none" strike="noStrike">
                          <a:solidFill>
                            <a:srgbClr val="000000"/>
                          </a:solidFill>
                          <a:effectLst/>
                          <a:latin typeface="Calibri" panose="020F0502020204030204" pitchFamily="34" charset="0"/>
                        </a:rPr>
                        <a:t>Broome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480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380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Broome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890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4980811"/>
                  </a:ext>
                </a:extLst>
              </a:tr>
              <a:tr h="124570">
                <a:tc>
                  <a:txBody>
                    <a:bodyPr/>
                    <a:lstStyle/>
                    <a:p>
                      <a:pPr algn="r" fontAlgn="b"/>
                      <a:r>
                        <a:rPr lang="en-AU" sz="600" b="0" i="0" u="none" strike="noStrike">
                          <a:solidFill>
                            <a:srgbClr val="000000"/>
                          </a:solidFill>
                          <a:effectLst/>
                          <a:latin typeface="Calibri" panose="020F0502020204030204" pitchFamily="34" charset="0"/>
                        </a:rPr>
                        <a:t>Broome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560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Karratha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880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075382"/>
                  </a:ext>
                </a:extLst>
              </a:tr>
              <a:tr h="124570">
                <a:tc>
                  <a:txBody>
                    <a:bodyPr/>
                    <a:lstStyle/>
                    <a:p>
                      <a:pPr algn="r" fontAlgn="b"/>
                      <a:r>
                        <a:rPr lang="en-AU" sz="600" b="0" i="0" u="none" strike="noStrike">
                          <a:solidFill>
                            <a:srgbClr val="000000"/>
                          </a:solidFill>
                          <a:effectLst/>
                          <a:latin typeface="Calibri" panose="020F0502020204030204" pitchFamily="34" charset="0"/>
                        </a:rPr>
                        <a:t>Broome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610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650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6787794"/>
                  </a:ext>
                </a:extLst>
              </a:tr>
              <a:tr h="124570">
                <a:tc>
                  <a:txBody>
                    <a:bodyPr/>
                    <a:lstStyle/>
                    <a:p>
                      <a:pPr algn="r" fontAlgn="b"/>
                      <a:r>
                        <a:rPr lang="en-AU" sz="600" b="0" i="0" u="none" strike="noStrike">
                          <a:solidFill>
                            <a:srgbClr val="000000"/>
                          </a:solidFill>
                          <a:effectLst/>
                          <a:latin typeface="Calibri" panose="020F0502020204030204" pitchFamily="34" charset="0"/>
                        </a:rPr>
                        <a:t>Broome to Perth </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510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890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440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Perth</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0900016"/>
                  </a:ext>
                </a:extLst>
              </a:tr>
              <a:tr h="124570">
                <a:tc>
                  <a:txBody>
                    <a:bodyPr/>
                    <a:lstStyle/>
                    <a:p>
                      <a:pPr algn="r" fontAlgn="b"/>
                      <a:r>
                        <a:rPr lang="en-AU" sz="600" b="0" i="0" u="none" strike="noStrike">
                          <a:solidFill>
                            <a:srgbClr val="000000"/>
                          </a:solidFill>
                          <a:effectLst/>
                          <a:latin typeface="Calibri" panose="020F0502020204030204" pitchFamily="34" charset="0"/>
                        </a:rPr>
                        <a:t>Broome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Carnarvon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360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5954447"/>
                  </a:ext>
                </a:extLst>
              </a:tr>
              <a:tr h="124570">
                <a:tc>
                  <a:txBody>
                    <a:bodyPr/>
                    <a:lstStyle/>
                    <a:p>
                      <a:pPr algn="r" fontAlgn="b"/>
                      <a:r>
                        <a:rPr lang="en-AU" sz="600" b="0" i="0" u="none" strike="noStrike">
                          <a:solidFill>
                            <a:srgbClr val="000000"/>
                          </a:solidFill>
                          <a:effectLst/>
                          <a:latin typeface="Calibri" panose="020F0502020204030204" pitchFamily="34" charset="0"/>
                        </a:rPr>
                        <a:t>Broome to Esperance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NA</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420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Bunbury</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0764081"/>
                  </a:ext>
                </a:extLst>
              </a:tr>
              <a:tr h="124570">
                <a:tc>
                  <a:txBody>
                    <a:bodyPr/>
                    <a:lstStyle/>
                    <a:p>
                      <a:pPr algn="r" fontAlgn="b"/>
                      <a:r>
                        <a:rPr lang="en-AU" sz="600" b="0" i="0" u="none" strike="noStrike">
                          <a:solidFill>
                            <a:srgbClr val="000000"/>
                          </a:solidFill>
                          <a:effectLst/>
                          <a:latin typeface="Calibri" panose="020F0502020204030204" pitchFamily="34" charset="0"/>
                        </a:rPr>
                        <a:t>Broome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910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Karratha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950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Esperance to Kalgoorlie</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a:solidFill>
                            <a:srgbClr val="000000"/>
                          </a:solidFill>
                          <a:effectLst/>
                          <a:latin typeface="Calibri" panose="020F0502020204030204" pitchFamily="34" charset="0"/>
                        </a:rPr>
                        <a:t>310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endParaRPr lang="en-AU" sz="600" b="0" i="0" u="none" strike="noStrike">
                        <a:solidFill>
                          <a:srgbClr val="000000"/>
                        </a:solidFill>
                        <a:effectLst/>
                        <a:latin typeface="Calibri" panose="020F0502020204030204" pitchFamily="34" charset="0"/>
                      </a:endParaRP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r" fontAlgn="b"/>
                      <a:r>
                        <a:rPr lang="en-AU" sz="600" b="0" i="0" u="none" strike="noStrike">
                          <a:solidFill>
                            <a:srgbClr val="000000"/>
                          </a:solidFill>
                          <a:effectLst/>
                          <a:latin typeface="Calibri" panose="020F0502020204030204" pitchFamily="34" charset="0"/>
                        </a:rPr>
                        <a:t>Kalgoorlie to Geraldton</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b"/>
                      <a:r>
                        <a:rPr lang="en-AU" sz="600" b="0" i="0" u="none" strike="noStrike" dirty="0">
                          <a:solidFill>
                            <a:srgbClr val="000000"/>
                          </a:solidFill>
                          <a:effectLst/>
                          <a:latin typeface="Calibri" panose="020F0502020204030204" pitchFamily="34" charset="0"/>
                        </a:rPr>
                        <a:t>490</a:t>
                      </a:r>
                    </a:p>
                  </a:txBody>
                  <a:tcPr marL="5307" marR="5307" marT="530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2583420"/>
                  </a:ext>
                </a:extLst>
              </a:tr>
            </a:tbl>
          </a:graphicData>
        </a:graphic>
      </p:graphicFrame>
    </p:spTree>
    <p:extLst>
      <p:ext uri="{BB962C8B-B14F-4D97-AF65-F5344CB8AC3E}">
        <p14:creationId xmlns:p14="http://schemas.microsoft.com/office/powerpoint/2010/main" val="6699333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70BBAA3C-9D81-4AE0-B0EC-849C77416BF0}" vid="{E8D99B90-D19E-41B6-80DB-BB3144E3368F}"/>
    </a:ext>
  </a:extLst>
</a:theme>
</file>

<file path=docProps/app.xml><?xml version="1.0" encoding="utf-8"?>
<Properties xmlns="http://schemas.openxmlformats.org/officeDocument/2006/extended-properties" xmlns:vt="http://schemas.openxmlformats.org/officeDocument/2006/docPropsVTypes">
  <Template>A4 page</Template>
  <TotalTime>844</TotalTime>
  <Words>639</Words>
  <Application>Microsoft Office PowerPoint</Application>
  <PresentationFormat>A4 Paper (210x297 mm)</PresentationFormat>
  <Paragraphs>143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Travel Itinerary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James [Baldivis Secondary College]</dc:creator>
  <cp:lastModifiedBy>WILSON James [Baldivis Secondary College]</cp:lastModifiedBy>
  <cp:revision>13</cp:revision>
  <cp:lastPrinted>2017-09-15T03:35:19Z</cp:lastPrinted>
  <dcterms:created xsi:type="dcterms:W3CDTF">2017-09-14T13:46:18Z</dcterms:created>
  <dcterms:modified xsi:type="dcterms:W3CDTF">2017-09-15T03:51:03Z</dcterms:modified>
</cp:coreProperties>
</file>
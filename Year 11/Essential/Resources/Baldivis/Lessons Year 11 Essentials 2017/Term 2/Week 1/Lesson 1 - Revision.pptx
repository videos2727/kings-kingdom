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52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2F79-97F0-4C77-A3C8-820B3CAF7B1B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8A18-255D-43AA-A9F9-857ED25BE1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2510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2F79-97F0-4C77-A3C8-820B3CAF7B1B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8A18-255D-43AA-A9F9-857ED25BE1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0717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2F79-97F0-4C77-A3C8-820B3CAF7B1B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8A18-255D-43AA-A9F9-857ED25BE1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0169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2F79-97F0-4C77-A3C8-820B3CAF7B1B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8A18-255D-43AA-A9F9-857ED25BE1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1380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2F79-97F0-4C77-A3C8-820B3CAF7B1B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8A18-255D-43AA-A9F9-857ED25BE1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6113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2F79-97F0-4C77-A3C8-820B3CAF7B1B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8A18-255D-43AA-A9F9-857ED25BE1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9679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2F79-97F0-4C77-A3C8-820B3CAF7B1B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8A18-255D-43AA-A9F9-857ED25BE1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0712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2F79-97F0-4C77-A3C8-820B3CAF7B1B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8A18-255D-43AA-A9F9-857ED25BE1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1272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2F79-97F0-4C77-A3C8-820B3CAF7B1B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8A18-255D-43AA-A9F9-857ED25BE1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5109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2F79-97F0-4C77-A3C8-820B3CAF7B1B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8A18-255D-43AA-A9F9-857ED25BE1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8878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2F79-97F0-4C77-A3C8-820B3CAF7B1B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8A18-255D-43AA-A9F9-857ED25BE1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5967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A2F79-97F0-4C77-A3C8-820B3CAF7B1B}" type="datetimeFigureOut">
              <a:rPr lang="en-AU" smtClean="0"/>
              <a:t>26/04/2017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F8A18-255D-43AA-A9F9-857ED25BE1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7988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9600" dirty="0">
                <a:solidFill>
                  <a:srgbClr val="00B050"/>
                </a:solidFill>
                <a:latin typeface="Batman Beat the hell Outta Me" panose="00000400000000000000" pitchFamily="2" charset="0"/>
              </a:rPr>
              <a:t>Revision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b="1" dirty="0"/>
              <a:t>Year 11</a:t>
            </a:r>
          </a:p>
          <a:p>
            <a:r>
              <a:rPr lang="en-AU" dirty="0"/>
              <a:t>Week 1</a:t>
            </a:r>
          </a:p>
          <a:p>
            <a:r>
              <a:rPr lang="en-AU" dirty="0"/>
              <a:t>Lesson 1</a:t>
            </a:r>
          </a:p>
        </p:txBody>
      </p:sp>
    </p:spTree>
    <p:extLst>
      <p:ext uri="{BB962C8B-B14F-4D97-AF65-F5344CB8AC3E}">
        <p14:creationId xmlns:p14="http://schemas.microsoft.com/office/powerpoint/2010/main" val="187373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580919"/>
            <a:ext cx="12192000" cy="17975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0174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What are the different types of payment?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0174" y="32261"/>
            <a:ext cx="3356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Earning an Income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0779" y="1317689"/>
            <a:ext cx="1105547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Salary</a:t>
            </a:r>
            <a:r>
              <a:rPr lang="en-AU" sz="2800" dirty="0"/>
              <a:t>: A fixed regular payment for professional or office work</a:t>
            </a:r>
          </a:p>
          <a:p>
            <a:endParaRPr lang="en-AU" sz="2800" dirty="0"/>
          </a:p>
          <a:p>
            <a:r>
              <a:rPr lang="en-AU" sz="2800" b="1" dirty="0"/>
              <a:t>Wages</a:t>
            </a:r>
            <a:r>
              <a:rPr lang="en-AU" sz="2800" dirty="0"/>
              <a:t>: A fixed hourly, daily or weekly payment for manual or unskilled labourers. </a:t>
            </a:r>
          </a:p>
          <a:p>
            <a:endParaRPr lang="en-AU" sz="2800" dirty="0"/>
          </a:p>
          <a:p>
            <a:r>
              <a:rPr lang="en-AU" sz="2800" b="1" dirty="0"/>
              <a:t>Contract: </a:t>
            </a:r>
            <a:r>
              <a:rPr lang="en-AU" sz="2800" dirty="0"/>
              <a:t>A contract of employment is an agreement between an employer and employee about the terms and conditions of employment.</a:t>
            </a:r>
          </a:p>
          <a:p>
            <a:endParaRPr lang="en-AU" sz="2800" dirty="0"/>
          </a:p>
          <a:p>
            <a:r>
              <a:rPr lang="en-AU" sz="2800" b="1" dirty="0"/>
              <a:t>Minimum wage: </a:t>
            </a:r>
            <a:r>
              <a:rPr lang="en-AU" sz="2800" dirty="0"/>
              <a:t>an employee’s basic rate of pay depends on such things as their age, job classification and the industrial award they are covered by. </a:t>
            </a:r>
          </a:p>
        </p:txBody>
      </p:sp>
      <p:sp>
        <p:nvSpPr>
          <p:cNvPr id="2" name="Rectangle 1"/>
          <p:cNvSpPr/>
          <p:nvPr/>
        </p:nvSpPr>
        <p:spPr>
          <a:xfrm>
            <a:off x="640080" y="1950720"/>
            <a:ext cx="11206177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640080" y="3352800"/>
            <a:ext cx="11206177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640079" y="4754880"/>
            <a:ext cx="11206177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40443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0174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What are the different types of payment?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0174" y="32261"/>
            <a:ext cx="3356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Earning an Income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8261" y="1423706"/>
            <a:ext cx="110554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Commission: </a:t>
            </a:r>
            <a:r>
              <a:rPr lang="en-AU" sz="2800" dirty="0"/>
              <a:t>is the sum of money that is paid to an employee once they have completed a task like selling car or house.</a:t>
            </a:r>
          </a:p>
          <a:p>
            <a:endParaRPr lang="en-AU" sz="2800" dirty="0"/>
          </a:p>
          <a:p>
            <a:r>
              <a:rPr lang="en-AU" sz="2800" b="1" dirty="0"/>
              <a:t>Fees: </a:t>
            </a:r>
            <a:r>
              <a:rPr lang="en-AU" sz="2800" dirty="0"/>
              <a:t>A fixed charge for a professional service for example  a doctor or dentist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261" y="2631541"/>
            <a:ext cx="11206177" cy="1402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" name="Straight Connector 7"/>
          <p:cNvCxnSpPr>
            <a:cxnSpLocks/>
          </p:cNvCxnSpPr>
          <p:nvPr/>
        </p:nvCxnSpPr>
        <p:spPr>
          <a:xfrm flipV="1">
            <a:off x="0" y="580919"/>
            <a:ext cx="12192000" cy="17975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54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580919"/>
            <a:ext cx="12192000" cy="17975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0174" y="32261"/>
            <a:ext cx="3356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Earning an Income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8261" y="1423706"/>
            <a:ext cx="1105547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AU" sz="3200" dirty="0"/>
              <a:t>Daniel receives $3240 per month. Find his:</a:t>
            </a:r>
          </a:p>
          <a:p>
            <a:pPr lvl="1"/>
            <a:r>
              <a:rPr lang="en-AU" sz="3200" dirty="0"/>
              <a:t>Annual salary</a:t>
            </a:r>
          </a:p>
          <a:p>
            <a:r>
              <a:rPr lang="en-AU" sz="3200" dirty="0"/>
              <a:t> </a:t>
            </a:r>
          </a:p>
          <a:p>
            <a:endParaRPr lang="en-AU" sz="3200" dirty="0"/>
          </a:p>
          <a:p>
            <a:endParaRPr lang="en-AU" sz="3200" dirty="0"/>
          </a:p>
          <a:p>
            <a:endParaRPr lang="en-AU" sz="3200" dirty="0"/>
          </a:p>
          <a:p>
            <a:pPr lvl="1"/>
            <a:r>
              <a:rPr lang="en-AU" sz="3200" dirty="0"/>
              <a:t>Weekly pay </a:t>
            </a:r>
          </a:p>
        </p:txBody>
      </p:sp>
    </p:spTree>
    <p:extLst>
      <p:ext uri="{BB962C8B-B14F-4D97-AF65-F5344CB8AC3E}">
        <p14:creationId xmlns:p14="http://schemas.microsoft.com/office/powerpoint/2010/main" val="3488294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580919"/>
            <a:ext cx="12192000" cy="17975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0174" y="32261"/>
            <a:ext cx="3356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Earning an Income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4298" y="1078533"/>
            <a:ext cx="1176139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AU" sz="3200" dirty="0"/>
              <a:t>For each of the following wage earning employees, calculate their hourly rate. Who earns the best rate per hour?</a:t>
            </a:r>
          </a:p>
          <a:p>
            <a:pPr lvl="1"/>
            <a:r>
              <a:rPr lang="en-AU" sz="3200" dirty="0"/>
              <a:t>Tylor earned $5020 last month working 8 hours a day for 25 days</a:t>
            </a:r>
          </a:p>
          <a:p>
            <a:r>
              <a:rPr lang="en-AU" sz="3200" dirty="0"/>
              <a:t> </a:t>
            </a:r>
          </a:p>
          <a:p>
            <a:r>
              <a:rPr lang="en-AU" sz="3200" dirty="0"/>
              <a:t> </a:t>
            </a:r>
          </a:p>
          <a:p>
            <a:pPr lvl="1"/>
            <a:r>
              <a:rPr lang="en-AU" sz="3200" dirty="0"/>
              <a:t>Alyssa earns $928 per week working 5 days a week from 9am to 5pm</a:t>
            </a:r>
          </a:p>
          <a:p>
            <a:r>
              <a:rPr lang="en-AU" sz="3200" dirty="0"/>
              <a:t> </a:t>
            </a:r>
          </a:p>
          <a:p>
            <a:r>
              <a:rPr lang="en-AU" sz="3200" dirty="0"/>
              <a:t> </a:t>
            </a:r>
          </a:p>
          <a:p>
            <a:pPr lvl="1"/>
            <a:r>
              <a:rPr lang="en-AU" sz="3200" dirty="0"/>
              <a:t>Paris earns $826 for 35 hours of work</a:t>
            </a:r>
          </a:p>
        </p:txBody>
      </p:sp>
    </p:spTree>
    <p:extLst>
      <p:ext uri="{BB962C8B-B14F-4D97-AF65-F5344CB8AC3E}">
        <p14:creationId xmlns:p14="http://schemas.microsoft.com/office/powerpoint/2010/main" val="3394083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580919"/>
            <a:ext cx="12192000" cy="17975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0174" y="32261"/>
            <a:ext cx="3356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Earning an Income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5304" y="1196520"/>
            <a:ext cx="117613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AU" sz="3200" dirty="0"/>
              <a:t>George works in a shop and is paid $12.40 per hour. Calculate George’s wage in a week when he works 40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304" y="3782404"/>
            <a:ext cx="117613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AU" sz="3200" dirty="0"/>
              <a:t>Caitlin is paid $1845.90 per fortnight. If she works 35 hours per week, what is her hourly rate of pay?</a:t>
            </a:r>
          </a:p>
        </p:txBody>
      </p:sp>
    </p:spTree>
    <p:extLst>
      <p:ext uri="{BB962C8B-B14F-4D97-AF65-F5344CB8AC3E}">
        <p14:creationId xmlns:p14="http://schemas.microsoft.com/office/powerpoint/2010/main" val="3228772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580919"/>
            <a:ext cx="12192000" cy="17975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0174" y="32261"/>
            <a:ext cx="4080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Measurement Contracts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5304" y="1196520"/>
            <a:ext cx="117613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AU" sz="3200" dirty="0"/>
              <a:t>The basketball court at school needs to be remodelled. This involves replacing the bitumen and painting new boundary lines. Three different contractors charge the following rates: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0174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does one get payment by contract?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11371" t="35907" r="16290" b="41716"/>
          <a:stretch/>
        </p:blipFill>
        <p:spPr>
          <a:xfrm>
            <a:off x="215304" y="3031651"/>
            <a:ext cx="11909918" cy="207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436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sketball court template, basketball court, basketball court diagram, basketball court layout,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674216" y="1213577"/>
            <a:ext cx="6440834" cy="449404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4980039" y="381236"/>
            <a:ext cx="6464710" cy="37809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0"/>
              </a:spcAft>
            </a:pPr>
            <a:r>
              <a:rPr lang="en-AU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Calculate the area and perimeter of the basketball court.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AU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 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AU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AU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AU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389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sketball court template, basketball court, basketball court diagram, basketball court layout,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674216" y="1213577"/>
            <a:ext cx="6440834" cy="449404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4926580" y="1426572"/>
            <a:ext cx="6821728" cy="3122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0"/>
              </a:spcAft>
            </a:pPr>
            <a:r>
              <a:rPr lang="en-AU" sz="2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Calculate the amount that will be charged by each contractor.</a:t>
            </a:r>
            <a:endParaRPr lang="en-A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AU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AU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11371" t="35907" r="16290" b="41716"/>
          <a:stretch/>
        </p:blipFill>
        <p:spPr>
          <a:xfrm>
            <a:off x="4926580" y="240184"/>
            <a:ext cx="6821728" cy="118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450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2801</TotalTime>
  <Words>336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Batman Beat the hell Outta Me</vt:lpstr>
      <vt:lpstr>Calibri</vt:lpstr>
      <vt:lpstr>Calibri Light</vt:lpstr>
      <vt:lpstr>Chalkboard</vt:lpstr>
      <vt:lpstr>Times New Roman</vt:lpstr>
      <vt:lpstr>Office Theme</vt:lpstr>
      <vt:lpstr>Revision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</dc:title>
  <dc:creator>Nine Labuschagne</dc:creator>
  <cp:lastModifiedBy>Nine Labuschagne</cp:lastModifiedBy>
  <cp:revision>11</cp:revision>
  <dcterms:created xsi:type="dcterms:W3CDTF">2017-04-21T07:40:05Z</dcterms:created>
  <dcterms:modified xsi:type="dcterms:W3CDTF">2017-04-26T01:31:28Z</dcterms:modified>
</cp:coreProperties>
</file>
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8" r:id="rId4"/>
    <p:sldId id="266" r:id="rId5"/>
    <p:sldId id="260" r:id="rId6"/>
    <p:sldId id="262" r:id="rId7"/>
    <p:sldId id="2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-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800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2431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5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9597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0453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7766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1591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4285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068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9193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1043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5342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2" Type="http://schemas.openxmlformats.org/officeDocument/2006/relationships/hyperlink" Target="https://www.mathsisfun.com/geometry/cross-section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43994" y="2967335"/>
            <a:ext cx="53040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Week 4 – lesson 1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3008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67" y="647554"/>
            <a:ext cx="11206788" cy="530424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chemeClr val="tx1"/>
                </a:solidFill>
              </a:rPr>
              <a:t>EQ: </a:t>
            </a:r>
            <a:r>
              <a:rPr lang="en-AU" sz="3600" dirty="0"/>
              <a:t>what are the different types of graphs?</a:t>
            </a:r>
            <a:endParaRPr lang="en-AU" sz="20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55203"/>
            <a:ext cx="12192000" cy="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85627"/>
            <a:ext cx="12256655" cy="9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684655" y="1185627"/>
            <a:ext cx="8678" cy="56723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35467" y="124334"/>
            <a:ext cx="22884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TOPIC: </a:t>
            </a:r>
            <a:r>
              <a:rPr lang="en-US" sz="2800" dirty="0" smtClean="0"/>
              <a:t>Graphs</a:t>
            </a:r>
            <a:endParaRPr lang="en-AU" sz="2800" dirty="0"/>
          </a:p>
        </p:txBody>
      </p:sp>
      <p:pic>
        <p:nvPicPr>
          <p:cNvPr id="23" name="Picture 2" descr="Create FREE Brainstorming Templates | 3 Ways to Create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4970" y="1209683"/>
            <a:ext cx="5066904" cy="5663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8580582" y="1939637"/>
            <a:ext cx="29094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 smtClean="0"/>
              <a:t>Picture graph</a:t>
            </a: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/>
              <a:t>Column graph </a:t>
            </a: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/>
              <a:t>Clustered column graph </a:t>
            </a: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/>
              <a:t>Line graph </a:t>
            </a: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/>
              <a:t>Conversion </a:t>
            </a: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/>
              <a:t>Step graph </a:t>
            </a: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/>
              <a:t>Pie graph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78137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43994" y="2967335"/>
            <a:ext cx="53040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Week 4 – lesson 2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10043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67" y="647554"/>
            <a:ext cx="11206788" cy="530424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</a:rPr>
              <a:t>EQ: </a:t>
            </a:r>
            <a:r>
              <a:rPr lang="en-US" sz="3200" dirty="0">
                <a:solidFill>
                  <a:schemeClr val="tx1"/>
                </a:solidFill>
              </a:rPr>
              <a:t>how do we </a:t>
            </a:r>
            <a:r>
              <a:rPr lang="en-US" sz="3200" dirty="0" smtClean="0"/>
              <a:t>calculate the </a:t>
            </a:r>
            <a:r>
              <a:rPr lang="en-US" sz="3200" dirty="0"/>
              <a:t>v</a:t>
            </a:r>
            <a:r>
              <a:rPr lang="en-US" sz="3200" dirty="0" smtClean="0"/>
              <a:t>olume of rectangular prisms</a:t>
            </a:r>
            <a:r>
              <a:rPr lang="en-US" sz="3200" dirty="0" smtClean="0">
                <a:solidFill>
                  <a:schemeClr val="tx1"/>
                </a:solidFill>
              </a:rPr>
              <a:t>?</a:t>
            </a:r>
            <a:endParaRPr lang="en-AU" sz="28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55203"/>
            <a:ext cx="12192000" cy="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8380"/>
            <a:ext cx="12256655" cy="9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684655" y="1185627"/>
            <a:ext cx="8678" cy="56723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35467" y="124334"/>
            <a:ext cx="3361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TOPIC: </a:t>
            </a:r>
            <a:r>
              <a:rPr lang="en-US" sz="2800" dirty="0"/>
              <a:t>measurement</a:t>
            </a:r>
            <a:endParaRPr lang="en-AU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221673" y="1366982"/>
            <a:ext cx="132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a prism?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1937739" y="1325922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Verdana" panose="020B0604030504040204" pitchFamily="34" charset="0"/>
              </a:rPr>
              <a:t> </a:t>
            </a:r>
            <a:r>
              <a:rPr lang="en-US" dirty="0" smtClean="0">
                <a:latin typeface="Verdana" panose="020B0604030504040204" pitchFamily="34" charset="0"/>
              </a:rPr>
              <a:t>A prism </a:t>
            </a:r>
            <a:r>
              <a:rPr lang="en-US" dirty="0">
                <a:latin typeface="Verdana" panose="020B0604030504040204" pitchFamily="34" charset="0"/>
              </a:rPr>
              <a:t>is a solid object with</a:t>
            </a:r>
            <a:r>
              <a:rPr lang="en-US" dirty="0" smtClean="0">
                <a:latin typeface="Verdana" panose="020B0604030504040204" pitchFamily="34" charset="0"/>
              </a:rPr>
              <a:t>:</a:t>
            </a:r>
          </a:p>
          <a:p>
            <a:endParaRPr lang="en-US" dirty="0">
              <a:latin typeface="Verdana" panose="020B060403050404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dirty="0" smtClean="0">
                <a:solidFill>
                  <a:srgbClr val="333333"/>
                </a:solidFill>
                <a:latin typeface="Verdana" panose="020B0604030504040204" pitchFamily="34" charset="0"/>
              </a:rPr>
              <a:t>identical ends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rgbClr val="333333"/>
              </a:solidFill>
              <a:latin typeface="Verdana" panose="020B060403050404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dirty="0" smtClean="0">
                <a:solidFill>
                  <a:srgbClr val="333333"/>
                </a:solidFill>
                <a:latin typeface="Verdana" panose="020B0604030504040204" pitchFamily="34" charset="0"/>
              </a:rPr>
              <a:t>All faces are flat (no curves)</a:t>
            </a:r>
            <a:endParaRPr lang="en-US" dirty="0">
              <a:solidFill>
                <a:srgbClr val="333333"/>
              </a:solidFill>
              <a:latin typeface="Verdan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 smtClean="0">
              <a:solidFill>
                <a:srgbClr val="333333"/>
              </a:solidFill>
              <a:latin typeface="Verdana" panose="020B0604030504040204" pitchFamily="34" charset="0"/>
            </a:endParaRPr>
          </a:p>
          <a:p>
            <a:r>
              <a:rPr lang="en-US" dirty="0" smtClean="0">
                <a:solidFill>
                  <a:srgbClr val="333333"/>
                </a:solidFill>
                <a:latin typeface="Verdana" panose="020B0604030504040204" pitchFamily="34" charset="0"/>
              </a:rPr>
              <a:t>- the </a:t>
            </a:r>
            <a:r>
              <a:rPr lang="en-US" dirty="0">
                <a:solidFill>
                  <a:srgbClr val="333333"/>
                </a:solidFill>
                <a:latin typeface="Verdana" panose="020B0604030504040204" pitchFamily="34" charset="0"/>
              </a:rPr>
              <a:t>same </a:t>
            </a:r>
            <a:r>
              <a:rPr lang="en-US" b="1" dirty="0">
                <a:solidFill>
                  <a:srgbClr val="333333"/>
                </a:solidFill>
                <a:latin typeface="Verdana" panose="020B0604030504040204" pitchFamily="34" charset="0"/>
                <a:hlinkClick r:id="rId2"/>
              </a:rPr>
              <a:t>cross section</a:t>
            </a:r>
            <a:r>
              <a:rPr lang="en-US" dirty="0">
                <a:solidFill>
                  <a:srgbClr val="333333"/>
                </a:solidFill>
                <a:latin typeface="Verdana" panose="020B0604030504040204" pitchFamily="34" charset="0"/>
              </a:rPr>
              <a:t> all along its length </a:t>
            </a:r>
            <a:endParaRPr lang="en-US" b="0" i="0" dirty="0">
              <a:solidFill>
                <a:srgbClr val="333333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96635" y="3808212"/>
            <a:ext cx="2889104" cy="5847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16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Rectangular Prims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72849FF-BBC9-4931-90E5-6A7CDCCC7435}"/>
                  </a:ext>
                </a:extLst>
              </p:cNvPr>
              <p:cNvSpPr/>
              <p:nvPr/>
            </p:nvSpPr>
            <p:spPr>
              <a:xfrm>
                <a:off x="495607" y="4474620"/>
                <a:ext cx="583990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AU" dirty="0" smtClean="0">
                    <a:solidFill>
                      <a:srgbClr val="000000"/>
                    </a:solidFill>
                  </a:rPr>
                  <a:t>Volume =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𝑙𝑤h</m:t>
                    </m:r>
                  </m:oMath>
                </a14:m>
                <a:endParaRPr lang="en-AU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72849FF-BBC9-4931-90E5-6A7CDCCC7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07" y="4474620"/>
                <a:ext cx="5839902" cy="369332"/>
              </a:xfrm>
              <a:prstGeom prst="rect">
                <a:avLst/>
              </a:prstGeom>
              <a:blipFill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5389041" y="3808212"/>
            <a:ext cx="2889104" cy="5847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1600" b="1" dirty="0" smtClean="0">
                <a:solidFill>
                  <a:prstClr val="black"/>
                </a:solidFill>
                <a:latin typeface="Kiwi School Handwriting" panose="00000500000000000000" pitchFamily="2" charset="0"/>
              </a:rPr>
              <a:t>Cube</a:t>
            </a:r>
          </a:p>
          <a:p>
            <a:pPr algn="ctr" defTabSz="914126"/>
            <a:r>
              <a:rPr lang="en-US" sz="1600" b="1" dirty="0" smtClean="0">
                <a:solidFill>
                  <a:prstClr val="black"/>
                </a:solidFill>
                <a:latin typeface="Kiwi School Handwriting" panose="00000500000000000000" pitchFamily="2" charset="0"/>
              </a:rPr>
              <a:t>Formula</a:t>
            </a:r>
            <a:endParaRPr lang="en-US" sz="16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72849FF-BBC9-4931-90E5-6A7CDCCC7435}"/>
                  </a:ext>
                </a:extLst>
              </p:cNvPr>
              <p:cNvSpPr/>
              <p:nvPr/>
            </p:nvSpPr>
            <p:spPr>
              <a:xfrm>
                <a:off x="3913642" y="4414063"/>
                <a:ext cx="583990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AU" dirty="0" smtClean="0">
                    <a:solidFill>
                      <a:srgbClr val="000000"/>
                    </a:solidFill>
                  </a:rPr>
                  <a:t>Volume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72849FF-BBC9-4931-90E5-6A7CDCCC7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3642" y="4414063"/>
                <a:ext cx="5839902" cy="369332"/>
              </a:xfrm>
              <a:prstGeom prst="rect">
                <a:avLst/>
              </a:prstGeom>
              <a:blipFill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8748715" y="3808212"/>
            <a:ext cx="2889104" cy="5847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1600" b="1" dirty="0" smtClean="0">
                <a:solidFill>
                  <a:prstClr val="black"/>
                </a:solidFill>
                <a:latin typeface="Kiwi School Handwriting" panose="00000500000000000000" pitchFamily="2" charset="0"/>
              </a:rPr>
              <a:t>Triangular prism</a:t>
            </a:r>
          </a:p>
          <a:p>
            <a:pPr algn="ctr" defTabSz="914126"/>
            <a:r>
              <a:rPr lang="en-US" sz="1600" b="1" dirty="0" smtClean="0">
                <a:solidFill>
                  <a:prstClr val="black"/>
                </a:solidFill>
                <a:latin typeface="Kiwi School Handwriting" panose="00000500000000000000" pitchFamily="2" charset="0"/>
              </a:rPr>
              <a:t>Formula</a:t>
            </a:r>
            <a:endParaRPr lang="en-US" sz="16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72849FF-BBC9-4931-90E5-6A7CDCCC7435}"/>
                  </a:ext>
                </a:extLst>
              </p:cNvPr>
              <p:cNvSpPr/>
              <p:nvPr/>
            </p:nvSpPr>
            <p:spPr>
              <a:xfrm>
                <a:off x="7206048" y="4392987"/>
                <a:ext cx="5839902" cy="483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AU" dirty="0" smtClean="0">
                    <a:solidFill>
                      <a:srgbClr val="000000"/>
                    </a:solidFill>
                  </a:rPr>
                  <a:t>Volume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𝑏h</m:t>
                    </m:r>
                  </m:oMath>
                </a14:m>
                <a:endParaRPr lang="en-AU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72849FF-BBC9-4931-90E5-6A7CDCCC7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6048" y="4392987"/>
                <a:ext cx="5839902" cy="483466"/>
              </a:xfrm>
              <a:prstGeom prst="rect">
                <a:avLst/>
              </a:prstGeom>
              <a:blipFill>
                <a:blip r:embed="rId5"/>
                <a:stretch>
                  <a:fillRect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6"/>
          <a:srcRect l="72638" t="31482" r="15417" b="45061"/>
          <a:stretch/>
        </p:blipFill>
        <p:spPr>
          <a:xfrm>
            <a:off x="2762364" y="4876453"/>
            <a:ext cx="1557646" cy="172065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6"/>
          <a:srcRect l="72638" t="57799" r="15417" b="18744"/>
          <a:stretch/>
        </p:blipFill>
        <p:spPr>
          <a:xfrm>
            <a:off x="6054770" y="4876453"/>
            <a:ext cx="1557646" cy="17206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7"/>
          <a:srcRect l="41250" t="43580" r="44444" b="35185"/>
          <a:stretch/>
        </p:blipFill>
        <p:spPr>
          <a:xfrm>
            <a:off x="9021083" y="5007900"/>
            <a:ext cx="2002517" cy="167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064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43994" y="2967335"/>
            <a:ext cx="53040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Week 4 – lesson 3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51255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43994" y="2967335"/>
            <a:ext cx="53040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Week 4 – lesson 4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42434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67" y="647554"/>
            <a:ext cx="11206788" cy="530424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chemeClr val="tx1"/>
                </a:solidFill>
              </a:rPr>
              <a:t>EQ: </a:t>
            </a:r>
            <a:r>
              <a:rPr lang="en-AU" sz="3200" dirty="0" smtClean="0"/>
              <a:t>How do we represent information in a 2-way table?</a:t>
            </a:r>
            <a:endParaRPr lang="en-AU" sz="18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55203"/>
            <a:ext cx="12192000" cy="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85627"/>
            <a:ext cx="12256655" cy="9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684655" y="1185627"/>
            <a:ext cx="8678" cy="56723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35467" y="124334"/>
            <a:ext cx="22884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TOPIC: </a:t>
            </a:r>
            <a:r>
              <a:rPr lang="en-US" sz="2800" dirty="0" smtClean="0"/>
              <a:t>Graphs</a:t>
            </a:r>
            <a:endParaRPr lang="en-AU" sz="2800" dirty="0"/>
          </a:p>
        </p:txBody>
      </p:sp>
      <p:sp>
        <p:nvSpPr>
          <p:cNvPr id="3" name="Rectangle 2"/>
          <p:cNvSpPr/>
          <p:nvPr/>
        </p:nvSpPr>
        <p:spPr>
          <a:xfrm>
            <a:off x="1939636" y="1393248"/>
            <a:ext cx="93379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1242C"/>
                </a:solidFill>
                <a:latin typeface="Lato"/>
              </a:rPr>
              <a:t>Two-way tables </a:t>
            </a:r>
            <a:r>
              <a:rPr lang="en-US" dirty="0" smtClean="0">
                <a:solidFill>
                  <a:srgbClr val="21242C"/>
                </a:solidFill>
                <a:latin typeface="Lato"/>
              </a:rPr>
              <a:t>organise </a:t>
            </a:r>
            <a:r>
              <a:rPr lang="en-US" dirty="0">
                <a:solidFill>
                  <a:srgbClr val="21242C"/>
                </a:solidFill>
                <a:latin typeface="Lato"/>
              </a:rPr>
              <a:t>data based on two categorical variables.</a:t>
            </a:r>
            <a:endParaRPr lang="en-AU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852476"/>
              </p:ext>
            </p:extLst>
          </p:nvPr>
        </p:nvGraphicFramePr>
        <p:xfrm>
          <a:off x="2345266" y="2604987"/>
          <a:ext cx="8017935" cy="1628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3587">
                  <a:extLst>
                    <a:ext uri="{9D8B030D-6E8A-4147-A177-3AD203B41FA5}">
                      <a16:colId xmlns:a16="http://schemas.microsoft.com/office/drawing/2014/main" val="923682147"/>
                    </a:ext>
                  </a:extLst>
                </a:gridCol>
                <a:gridCol w="1603587">
                  <a:extLst>
                    <a:ext uri="{9D8B030D-6E8A-4147-A177-3AD203B41FA5}">
                      <a16:colId xmlns:a16="http://schemas.microsoft.com/office/drawing/2014/main" val="146764566"/>
                    </a:ext>
                  </a:extLst>
                </a:gridCol>
                <a:gridCol w="1603587">
                  <a:extLst>
                    <a:ext uri="{9D8B030D-6E8A-4147-A177-3AD203B41FA5}">
                      <a16:colId xmlns:a16="http://schemas.microsoft.com/office/drawing/2014/main" val="4233111877"/>
                    </a:ext>
                  </a:extLst>
                </a:gridCol>
                <a:gridCol w="1603587">
                  <a:extLst>
                    <a:ext uri="{9D8B030D-6E8A-4147-A177-3AD203B41FA5}">
                      <a16:colId xmlns:a16="http://schemas.microsoft.com/office/drawing/2014/main" val="3857119721"/>
                    </a:ext>
                  </a:extLst>
                </a:gridCol>
                <a:gridCol w="1603587">
                  <a:extLst>
                    <a:ext uri="{9D8B030D-6E8A-4147-A177-3AD203B41FA5}">
                      <a16:colId xmlns:a16="http://schemas.microsoft.com/office/drawing/2014/main" val="4202505601"/>
                    </a:ext>
                  </a:extLst>
                </a:gridCol>
              </a:tblGrid>
              <a:tr h="407087">
                <a:tc>
                  <a:txBody>
                    <a:bodyPr/>
                    <a:lstStyle/>
                    <a:p>
                      <a:pPr algn="ctr"/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Science 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Humanities 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Arts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003264"/>
                  </a:ext>
                </a:extLst>
              </a:tr>
              <a:tr h="407087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Women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74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553330"/>
                  </a:ext>
                </a:extLst>
              </a:tr>
              <a:tr h="407087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Men 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686043"/>
                  </a:ext>
                </a:extLst>
              </a:tr>
              <a:tr h="407087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162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54982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167467" y="4597400"/>
            <a:ext cx="82380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percentage of people are </a:t>
            </a:r>
            <a:r>
              <a:rPr lang="en-US" smtClean="0"/>
              <a:t>men?   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What percentage are women that like humanities?</a:t>
            </a:r>
          </a:p>
          <a:p>
            <a:endParaRPr lang="en-US" dirty="0"/>
          </a:p>
          <a:p>
            <a:r>
              <a:rPr lang="en-US" dirty="0" smtClean="0"/>
              <a:t>What percentage like science?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31290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141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Kiwi School Handwriting</vt:lpstr>
      <vt:lpstr>Lato</vt:lpstr>
      <vt:lpstr>Verdana</vt:lpstr>
      <vt:lpstr>Office Theme</vt:lpstr>
      <vt:lpstr>PowerPoint Presentation</vt:lpstr>
      <vt:lpstr>EQ: what are the different types of graphs?</vt:lpstr>
      <vt:lpstr>PowerPoint Presentation</vt:lpstr>
      <vt:lpstr>EQ: how do we calculate the volume of rectangular prisms?</vt:lpstr>
      <vt:lpstr>PowerPoint Presentation</vt:lpstr>
      <vt:lpstr>PowerPoint Presentation</vt:lpstr>
      <vt:lpstr>EQ: How do we represent information in a 2-way table?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D'SOUZA Jillian [Baldivis Secondary College]</dc:creator>
  <cp:lastModifiedBy>D'SOUZA Jillian [Baldivis Secondary College]</cp:lastModifiedBy>
  <cp:revision>20</cp:revision>
  <dcterms:created xsi:type="dcterms:W3CDTF">2020-03-30T02:45:39Z</dcterms:created>
  <dcterms:modified xsi:type="dcterms:W3CDTF">2020-03-31T03:35:29Z</dcterms:modified>
</cp:coreProperties>
</file>
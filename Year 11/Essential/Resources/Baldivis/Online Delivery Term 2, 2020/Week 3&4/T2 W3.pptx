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244" y="9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www.mathsisfun.com/geometry/cross-section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>
                <a:solidFill>
                  <a:schemeClr val="tx1"/>
                </a:solidFill>
              </a:rPr>
              <a:t>how do we </a:t>
            </a:r>
            <a:r>
              <a:rPr lang="en-US" sz="3200" dirty="0" smtClean="0"/>
              <a:t>calculate the </a:t>
            </a:r>
            <a:r>
              <a:rPr lang="en-US" sz="3200" dirty="0"/>
              <a:t>v</a:t>
            </a:r>
            <a:r>
              <a:rPr lang="en-US" sz="3200" dirty="0" smtClean="0"/>
              <a:t>olume of rectangular prisms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673" y="1366982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</a:t>
            </a:r>
            <a:r>
              <a:rPr lang="en-US" dirty="0" smtClean="0"/>
              <a:t>a prism?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937739" y="132592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Verdana" panose="020B0604030504040204" pitchFamily="34" charset="0"/>
              </a:rPr>
              <a:t> </a:t>
            </a:r>
            <a:r>
              <a:rPr lang="en-US" dirty="0" smtClean="0">
                <a:latin typeface="Verdana" panose="020B0604030504040204" pitchFamily="34" charset="0"/>
              </a:rPr>
              <a:t>A prism </a:t>
            </a:r>
            <a:r>
              <a:rPr lang="en-US" dirty="0">
                <a:latin typeface="Verdana" panose="020B0604030504040204" pitchFamily="34" charset="0"/>
              </a:rPr>
              <a:t>is a solid object with</a:t>
            </a:r>
            <a:r>
              <a:rPr lang="en-US" dirty="0" smtClean="0">
                <a:latin typeface="Verdana" panose="020B0604030504040204" pitchFamily="34" charset="0"/>
              </a:rPr>
              <a:t>:</a:t>
            </a:r>
          </a:p>
          <a:p>
            <a:endParaRPr lang="en-US" dirty="0">
              <a:latin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identical ends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All faces are flat (no curves)</a:t>
            </a:r>
            <a:endParaRPr lang="en-US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r>
              <a:rPr lang="en-US" dirty="0" smtClean="0">
                <a:solidFill>
                  <a:srgbClr val="333333"/>
                </a:solidFill>
                <a:latin typeface="Verdana" panose="020B0604030504040204" pitchFamily="34" charset="0"/>
              </a:rPr>
              <a:t>- the </a:t>
            </a: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same </a:t>
            </a:r>
            <a:r>
              <a:rPr lang="en-US" b="1" dirty="0">
                <a:solidFill>
                  <a:srgbClr val="333333"/>
                </a:solidFill>
                <a:latin typeface="Verdana" panose="020B0604030504040204" pitchFamily="34" charset="0"/>
                <a:hlinkClick r:id="rId2"/>
              </a:rPr>
              <a:t>cross section</a:t>
            </a:r>
            <a:r>
              <a:rPr lang="en-US" dirty="0">
                <a:solidFill>
                  <a:srgbClr val="333333"/>
                </a:solidFill>
                <a:latin typeface="Verdana" panose="020B0604030504040204" pitchFamily="34" charset="0"/>
              </a:rPr>
              <a:t> all along its length </a:t>
            </a:r>
            <a:endParaRPr lang="en-US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96635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495607" y="4474620"/>
                <a:ext cx="583990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𝑙𝑤h</m:t>
                    </m:r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7" y="4474620"/>
                <a:ext cx="58399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89041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Cube</a:t>
            </a:r>
          </a:p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Formula</a:t>
            </a:r>
            <a:endParaRPr lang="en-US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3913642" y="4414063"/>
                <a:ext cx="583990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42" y="4414063"/>
                <a:ext cx="5839902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8748715" y="3808212"/>
            <a:ext cx="288910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Triangular prism</a:t>
            </a:r>
            <a:endParaRPr lang="en-US" sz="1600" b="1" dirty="0" smtClean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US" sz="1600" b="1" dirty="0" smtClean="0">
                <a:solidFill>
                  <a:prstClr val="black"/>
                </a:solidFill>
                <a:latin typeface="Kiwi School Handwriting" panose="00000500000000000000" pitchFamily="2" charset="0"/>
              </a:rPr>
              <a:t>Formula</a:t>
            </a:r>
            <a:endParaRPr lang="en-US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7206048" y="4392987"/>
                <a:ext cx="5839902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dirty="0" smtClean="0">
                    <a:solidFill>
                      <a:srgbClr val="000000"/>
                    </a:solidFill>
                  </a:rPr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𝑏h</m:t>
                    </m:r>
                  </m:oMath>
                </a14:m>
                <a:endParaRPr lang="en-AU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048" y="4392987"/>
                <a:ext cx="5839902" cy="483466"/>
              </a:xfrm>
              <a:prstGeom prst="rect">
                <a:avLst/>
              </a:prstGeom>
              <a:blipFill>
                <a:blip r:embed="rId5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72638" t="31482" r="15417" b="45061"/>
          <a:stretch/>
        </p:blipFill>
        <p:spPr>
          <a:xfrm>
            <a:off x="2762364" y="4876453"/>
            <a:ext cx="1557646" cy="172065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l="72638" t="57799" r="15417" b="18744"/>
          <a:stretch/>
        </p:blipFill>
        <p:spPr>
          <a:xfrm>
            <a:off x="6054770" y="4876453"/>
            <a:ext cx="1557646" cy="172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l="41250" t="43580" r="44444" b="35185"/>
          <a:stretch/>
        </p:blipFill>
        <p:spPr>
          <a:xfrm>
            <a:off x="9021083" y="5007900"/>
            <a:ext cx="2002517" cy="16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2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5733" y="702009"/>
          <a:ext cx="11664967" cy="58565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0632">
                  <a:extLst>
                    <a:ext uri="{9D8B030D-6E8A-4147-A177-3AD203B41FA5}">
                      <a16:colId xmlns:a16="http://schemas.microsoft.com/office/drawing/2014/main" val="3487980761"/>
                    </a:ext>
                  </a:extLst>
                </a:gridCol>
                <a:gridCol w="8154335">
                  <a:extLst>
                    <a:ext uri="{9D8B030D-6E8A-4147-A177-3AD203B41FA5}">
                      <a16:colId xmlns:a16="http://schemas.microsoft.com/office/drawing/2014/main" val="1817850411"/>
                    </a:ext>
                  </a:extLst>
                </a:gridCol>
              </a:tblGrid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95264"/>
                  </a:ext>
                </a:extLst>
              </a:tr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54484"/>
                  </a:ext>
                </a:extLst>
              </a:tr>
              <a:tr h="155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92690"/>
                  </a:ext>
                </a:extLst>
              </a:tr>
              <a:tr h="1242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1445"/>
                  </a:ext>
                </a:extLst>
              </a:tr>
              <a:tr h="1210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8351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894330" y="215036"/>
            <a:ext cx="21185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Thinking Process Planning Sheet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4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91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Bradley Hand ITC</vt:lpstr>
      <vt:lpstr>Calibri</vt:lpstr>
      <vt:lpstr>Calibri Light</vt:lpstr>
      <vt:lpstr>Cambria Math</vt:lpstr>
      <vt:lpstr>Kiwi School Handwriting</vt:lpstr>
      <vt:lpstr>Times New Roman</vt:lpstr>
      <vt:lpstr>Verdana</vt:lpstr>
      <vt:lpstr>Office Theme</vt:lpstr>
      <vt:lpstr>PowerPoint Presentation</vt:lpstr>
      <vt:lpstr>EQ: how do we calculate the volume of rectangular prisms?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14</cp:revision>
  <dcterms:created xsi:type="dcterms:W3CDTF">2020-03-30T02:45:39Z</dcterms:created>
  <dcterms:modified xsi:type="dcterms:W3CDTF">2020-03-30T06:35:37Z</dcterms:modified>
</cp:coreProperties>
</file>
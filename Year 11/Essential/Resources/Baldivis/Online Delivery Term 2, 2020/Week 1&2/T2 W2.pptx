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0" r:id="rId6"/>
    <p:sldId id="264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800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2431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5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597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0453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7766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1591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4285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068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9193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1043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90CB0-02F8-4D44-80E7-3774F92F70C9}" type="datetimeFigureOut">
              <a:rPr lang="en-AU" smtClean="0"/>
              <a:t>30/03/2020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534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3994" y="2967335"/>
            <a:ext cx="530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Week 2 – lesson 1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300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67" y="647554"/>
            <a:ext cx="9906000" cy="530424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</a:rPr>
              <a:t>EQ: </a:t>
            </a:r>
            <a:r>
              <a:rPr lang="en-US" sz="3200" dirty="0">
                <a:solidFill>
                  <a:schemeClr val="tx1"/>
                </a:solidFill>
              </a:rPr>
              <a:t>how do we </a:t>
            </a:r>
            <a:r>
              <a:rPr lang="en-US" sz="3200" dirty="0" smtClean="0"/>
              <a:t>measure volume</a:t>
            </a:r>
            <a:r>
              <a:rPr lang="en-US" sz="3200" dirty="0" smtClean="0">
                <a:solidFill>
                  <a:schemeClr val="tx1"/>
                </a:solidFill>
              </a:rPr>
              <a:t>?</a:t>
            </a:r>
            <a:endParaRPr lang="en-AU" sz="28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55203"/>
            <a:ext cx="12192000" cy="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8380"/>
            <a:ext cx="12256655" cy="9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684655" y="1185627"/>
            <a:ext cx="8678" cy="56723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35467" y="124334"/>
            <a:ext cx="3361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TOPIC: </a:t>
            </a:r>
            <a:r>
              <a:rPr lang="en-US" sz="2800" dirty="0"/>
              <a:t>measurement</a:t>
            </a:r>
            <a:endParaRPr lang="en-AU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221673" y="1366982"/>
            <a:ext cx="132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volume?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1838036" y="1366982"/>
                <a:ext cx="9845964" cy="1089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/>
                  <a:t>The volume of a solid is the amount of space occupied by the solid. </a:t>
                </a:r>
              </a:p>
              <a:p>
                <a:endParaRPr lang="en-US" sz="2000" dirty="0"/>
              </a:p>
              <a:p>
                <a:r>
                  <a:rPr lang="en-US" sz="2000" dirty="0" smtClean="0"/>
                  <a:t>Volume is measured in cubic units.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/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0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036" y="1366982"/>
                <a:ext cx="9845964" cy="1089978"/>
              </a:xfrm>
              <a:prstGeom prst="rect">
                <a:avLst/>
              </a:prstGeom>
              <a:blipFill>
                <a:blip r:embed="rId2"/>
                <a:stretch>
                  <a:fillRect l="-681" t="-2793" b="-67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Metric Conversion Six VOLUME - Units Of Measure - Convert the unit ..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-548"/>
          <a:stretch/>
        </p:blipFill>
        <p:spPr bwMode="auto">
          <a:xfrm>
            <a:off x="4024932" y="2645964"/>
            <a:ext cx="5238750" cy="3677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629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3994" y="2967335"/>
            <a:ext cx="530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Week 2 – lesson 2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10043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66" y="647554"/>
            <a:ext cx="11548533" cy="530424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</a:rPr>
              <a:t>EQ: </a:t>
            </a:r>
            <a:r>
              <a:rPr lang="en-US" sz="3200" dirty="0">
                <a:solidFill>
                  <a:schemeClr val="tx1"/>
                </a:solidFill>
              </a:rPr>
              <a:t>how do we </a:t>
            </a:r>
            <a:r>
              <a:rPr lang="en-US" sz="3200" dirty="0" smtClean="0"/>
              <a:t>differentiate between volume and capacity?</a:t>
            </a:r>
            <a:endParaRPr lang="en-AU" sz="28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55203"/>
            <a:ext cx="12192000" cy="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8380"/>
            <a:ext cx="12256655" cy="9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684655" y="1185627"/>
            <a:ext cx="8678" cy="56723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35467" y="124334"/>
            <a:ext cx="3361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TOPIC: </a:t>
            </a:r>
            <a:r>
              <a:rPr lang="en-US" sz="2800" dirty="0"/>
              <a:t>measurement</a:t>
            </a:r>
            <a:endParaRPr lang="en-AU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221673" y="1366982"/>
            <a:ext cx="132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the difference?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1838035" y="1366982"/>
            <a:ext cx="104186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Volume measures the amount of space inside a container –&gt; measured in cubic units</a:t>
            </a:r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Capacity measures the amount of liquid or gas a container will hold -&gt; measured in mL, L, </a:t>
            </a:r>
            <a:r>
              <a:rPr lang="en-US" sz="2000" dirty="0" err="1" smtClean="0"/>
              <a:t>kL</a:t>
            </a:r>
            <a:r>
              <a:rPr lang="en-US" sz="2000" dirty="0" smtClean="0"/>
              <a:t>, ML</a:t>
            </a:r>
            <a:endParaRPr lang="en-AU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7AF882-C6B2-4632-B86E-5C7695E72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513" y="3461004"/>
            <a:ext cx="5195412" cy="194828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3083" t="30120" r="2216" b="17387"/>
          <a:stretch/>
        </p:blipFill>
        <p:spPr>
          <a:xfrm>
            <a:off x="1887624" y="3617552"/>
            <a:ext cx="4961106" cy="196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146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3994" y="2967335"/>
            <a:ext cx="530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Week 2 – lesson 3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51255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2980"/>
              </p:ext>
            </p:extLst>
          </p:nvPr>
        </p:nvGraphicFramePr>
        <p:xfrm>
          <a:off x="285733" y="702009"/>
          <a:ext cx="11664967" cy="58565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10632">
                  <a:extLst>
                    <a:ext uri="{9D8B030D-6E8A-4147-A177-3AD203B41FA5}">
                      <a16:colId xmlns:a16="http://schemas.microsoft.com/office/drawing/2014/main" val="3487980761"/>
                    </a:ext>
                  </a:extLst>
                </a:gridCol>
                <a:gridCol w="8154335">
                  <a:extLst>
                    <a:ext uri="{9D8B030D-6E8A-4147-A177-3AD203B41FA5}">
                      <a16:colId xmlns:a16="http://schemas.microsoft.com/office/drawing/2014/main" val="1817850411"/>
                    </a:ext>
                  </a:extLst>
                </a:gridCol>
              </a:tblGrid>
              <a:tr h="9223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Interpret the task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95264"/>
                  </a:ext>
                </a:extLst>
              </a:tr>
              <a:tr h="9223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Identify the mathematics involved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254484"/>
                  </a:ext>
                </a:extLst>
              </a:tr>
              <a:tr h="1558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 err="1">
                          <a:solidFill>
                            <a:schemeClr val="tx1"/>
                          </a:solidFill>
                          <a:effectLst/>
                        </a:rPr>
                        <a:t>Analyse</a:t>
                      </a: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 information/data (you may need to use other sources)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892690"/>
                  </a:ext>
                </a:extLst>
              </a:tr>
              <a:tr h="12423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Apply existing mathematical knowledge and strategies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931445"/>
                  </a:ext>
                </a:extLst>
              </a:tr>
              <a:tr h="12106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Verify the reasonableness of your answer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583515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4894330" y="215036"/>
            <a:ext cx="211851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radley Hand ITC" panose="03070402050302030203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Mathematical Thinking Process Planning Sheet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802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3994" y="2967335"/>
            <a:ext cx="530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Week 2 – lesson 4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42434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149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Bradley Hand ITC</vt:lpstr>
      <vt:lpstr>Calibri</vt:lpstr>
      <vt:lpstr>Calibri Light</vt:lpstr>
      <vt:lpstr>Cambria Math</vt:lpstr>
      <vt:lpstr>Times New Roman</vt:lpstr>
      <vt:lpstr>Office Theme</vt:lpstr>
      <vt:lpstr>PowerPoint Presentation</vt:lpstr>
      <vt:lpstr>EQ: how do we measure volume?</vt:lpstr>
      <vt:lpstr>PowerPoint Presentation</vt:lpstr>
      <vt:lpstr>EQ: how do we differentiate between volume and capacity?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D'SOUZA Jillian [Baldivis Secondary College]</dc:creator>
  <cp:lastModifiedBy>D'SOUZA Jillian [Baldivis Secondary College]</cp:lastModifiedBy>
  <cp:revision>15</cp:revision>
  <dcterms:created xsi:type="dcterms:W3CDTF">2020-03-30T02:45:39Z</dcterms:created>
  <dcterms:modified xsi:type="dcterms:W3CDTF">2020-03-30T04:30:01Z</dcterms:modified>
</cp:coreProperties>
</file>
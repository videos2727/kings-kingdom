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80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431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597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45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7766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1591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4285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068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9193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1043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90CB0-02F8-4D44-80E7-3774F92F70C9}" type="datetimeFigureOut">
              <a:rPr lang="en-AU" smtClean="0"/>
              <a:t>31/03/2020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CA4F2-9F3D-4784-8776-47B4A8DC5FA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534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</a:t>
            </a:r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5 </a:t>
            </a:r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– lesson 1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3008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7" y="647554"/>
            <a:ext cx="11206788" cy="530424"/>
          </a:xfrm>
        </p:spPr>
        <p:txBody>
          <a:bodyPr>
            <a:noAutofit/>
          </a:bodyPr>
          <a:lstStyle/>
          <a:p>
            <a:r>
              <a:rPr lang="en-AU" sz="3600" dirty="0"/>
              <a:t>EQ: How can graphs be used in everyday life?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84655" y="1185627"/>
            <a:ext cx="8678" cy="56723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35467" y="124334"/>
            <a:ext cx="22884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TOPIC: </a:t>
            </a:r>
            <a:r>
              <a:rPr lang="en-US" sz="2800" dirty="0" smtClean="0"/>
              <a:t>Graphs</a:t>
            </a:r>
            <a:endParaRPr lang="en-AU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1943100" y="1358900"/>
            <a:ext cx="896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climate graph combines temperature and rainfall information.</a:t>
            </a:r>
          </a:p>
          <a:p>
            <a:endParaRPr lang="en-US" dirty="0"/>
          </a:p>
          <a:p>
            <a:endParaRPr lang="en-AU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363828"/>
              </p:ext>
            </p:extLst>
          </p:nvPr>
        </p:nvGraphicFramePr>
        <p:xfrm>
          <a:off x="2946400" y="2282230"/>
          <a:ext cx="4749800" cy="3867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9800">
                  <a:extLst>
                    <a:ext uri="{9D8B030D-6E8A-4147-A177-3AD203B41FA5}">
                      <a16:colId xmlns:a16="http://schemas.microsoft.com/office/drawing/2014/main" val="886554668"/>
                    </a:ext>
                  </a:extLst>
                </a:gridCol>
              </a:tblGrid>
              <a:tr h="3867004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561116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02150" y="6368164"/>
            <a:ext cx="318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Months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 rot="16200000">
                <a:off x="726016" y="2926814"/>
                <a:ext cx="31877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Temperature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26016" y="2926814"/>
                <a:ext cx="3187700" cy="369332"/>
              </a:xfrm>
              <a:prstGeom prst="rect">
                <a:avLst/>
              </a:prstGeom>
              <a:blipFill>
                <a:blip r:embed="rId2"/>
                <a:stretch>
                  <a:fillRect l="-8197" r="-24590" b="-15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 rot="5400000">
            <a:off x="6728883" y="4234914"/>
            <a:ext cx="318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dirty="0" smtClean="0"/>
              <a:t>ainfall mm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672730"/>
                  </p:ext>
                </p:extLst>
              </p:nvPr>
            </p:nvGraphicFramePr>
            <p:xfrm>
              <a:off x="9074149" y="1215420"/>
              <a:ext cx="2520951" cy="55220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0317">
                      <a:extLst>
                        <a:ext uri="{9D8B030D-6E8A-4147-A177-3AD203B41FA5}">
                          <a16:colId xmlns:a16="http://schemas.microsoft.com/office/drawing/2014/main" val="2127432852"/>
                        </a:ext>
                      </a:extLst>
                    </a:gridCol>
                    <a:gridCol w="840317">
                      <a:extLst>
                        <a:ext uri="{9D8B030D-6E8A-4147-A177-3AD203B41FA5}">
                          <a16:colId xmlns:a16="http://schemas.microsoft.com/office/drawing/2014/main" val="4105959959"/>
                        </a:ext>
                      </a:extLst>
                    </a:gridCol>
                    <a:gridCol w="840317">
                      <a:extLst>
                        <a:ext uri="{9D8B030D-6E8A-4147-A177-3AD203B41FA5}">
                          <a16:colId xmlns:a16="http://schemas.microsoft.com/office/drawing/2014/main" val="3069501699"/>
                        </a:ext>
                      </a:extLst>
                    </a:gridCol>
                  </a:tblGrid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month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Temp </a:t>
                          </a:r>
                          <a:r>
                            <a:rPr lang="en-US" sz="1600" dirty="0" smtClean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600" dirty="0" smtClean="0"/>
                            <a:t> 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Rainfall (mm)</a:t>
                          </a:r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3907768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Jan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17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149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1924355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Feb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18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139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43995545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Mar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133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0646961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Apr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26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128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0766076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May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29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117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5244655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Jun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173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3807146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Jul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33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157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6222122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Aug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33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156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1899505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Sep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31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141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65441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Oct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27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177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0288508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Nov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129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7710084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Dec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18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129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998054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672730"/>
                  </p:ext>
                </p:extLst>
              </p:nvPr>
            </p:nvGraphicFramePr>
            <p:xfrm>
              <a:off x="9074149" y="1215420"/>
              <a:ext cx="2520951" cy="55220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0317">
                      <a:extLst>
                        <a:ext uri="{9D8B030D-6E8A-4147-A177-3AD203B41FA5}">
                          <a16:colId xmlns:a16="http://schemas.microsoft.com/office/drawing/2014/main" val="2127432852"/>
                        </a:ext>
                      </a:extLst>
                    </a:gridCol>
                    <a:gridCol w="840317">
                      <a:extLst>
                        <a:ext uri="{9D8B030D-6E8A-4147-A177-3AD203B41FA5}">
                          <a16:colId xmlns:a16="http://schemas.microsoft.com/office/drawing/2014/main" val="4105959959"/>
                        </a:ext>
                      </a:extLst>
                    </a:gridCol>
                    <a:gridCol w="840317">
                      <a:extLst>
                        <a:ext uri="{9D8B030D-6E8A-4147-A177-3AD203B41FA5}">
                          <a16:colId xmlns:a16="http://schemas.microsoft.com/office/drawing/2014/main" val="3069501699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month</a:t>
                          </a:r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3158" r="-102158" b="-86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Rainfall (mm)</a:t>
                          </a:r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3907768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Jan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17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149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1924355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Feb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18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139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43995545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Mar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133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0646961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Apr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26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128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0766076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May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29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117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5244655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Jun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173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3807146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Jul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33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157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6222122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Aug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33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156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1899505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Sep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31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141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4165441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Oct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27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177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20288508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Nov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22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129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37710084"/>
                      </a:ext>
                    </a:extLst>
                  </a:tr>
                  <a:tr h="411913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Dec 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18</a:t>
                          </a:r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129</a:t>
                          </a:r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99805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2962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</a:t>
            </a:r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5 </a:t>
            </a:r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– lesson 2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10043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85733" y="702009"/>
          <a:ext cx="11664967" cy="58565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10632">
                  <a:extLst>
                    <a:ext uri="{9D8B030D-6E8A-4147-A177-3AD203B41FA5}">
                      <a16:colId xmlns:a16="http://schemas.microsoft.com/office/drawing/2014/main" val="3487980761"/>
                    </a:ext>
                  </a:extLst>
                </a:gridCol>
                <a:gridCol w="8154335">
                  <a:extLst>
                    <a:ext uri="{9D8B030D-6E8A-4147-A177-3AD203B41FA5}">
                      <a16:colId xmlns:a16="http://schemas.microsoft.com/office/drawing/2014/main" val="1817850411"/>
                    </a:ext>
                  </a:extLst>
                </a:gridCol>
              </a:tblGrid>
              <a:tr h="922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Interpret the task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95264"/>
                  </a:ext>
                </a:extLst>
              </a:tr>
              <a:tr h="9223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Identify the mathematics involved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254484"/>
                  </a:ext>
                </a:extLst>
              </a:tr>
              <a:tr h="1558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solidFill>
                            <a:schemeClr val="tx1"/>
                          </a:solidFill>
                          <a:effectLst/>
                        </a:rPr>
                        <a:t>Analyse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 information/data (you may need to use other sources)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892690"/>
                  </a:ext>
                </a:extLst>
              </a:tr>
              <a:tr h="12423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Apply existing mathematical knowledge and strategies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931445"/>
                  </a:ext>
                </a:extLst>
              </a:tr>
              <a:tr h="12106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effectLst/>
                        </a:rPr>
                        <a:t>Verify the reasonableness of your answer</a:t>
                      </a:r>
                      <a:endParaRPr lang="en-AU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AU" sz="11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6209" marR="4620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583515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4894330" y="215036"/>
            <a:ext cx="211851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radley Hand ITC" panose="03070402050302030203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Mathematical Thinking Process Planning Sheet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548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</a:t>
            </a:r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5 </a:t>
            </a:r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– lesson 3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51255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3994" y="2967335"/>
            <a:ext cx="5304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Week </a:t>
            </a:r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5 </a:t>
            </a:r>
            <a:r>
              <a:rPr lang="en-US" sz="5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– lesson 4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42434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130</Words>
  <Application>Microsoft Office PowerPoint</Application>
  <PresentationFormat>Widescreen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Bradley Hand ITC</vt:lpstr>
      <vt:lpstr>Calibri</vt:lpstr>
      <vt:lpstr>Calibri Light</vt:lpstr>
      <vt:lpstr>Cambria Math</vt:lpstr>
      <vt:lpstr>Times New Roman</vt:lpstr>
      <vt:lpstr>Office Theme</vt:lpstr>
      <vt:lpstr>PowerPoint Presentation</vt:lpstr>
      <vt:lpstr>EQ: How can graphs be used in everyday life?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D'SOUZA Jillian [Baldivis Secondary College]</dc:creator>
  <cp:lastModifiedBy>D'SOUZA Jillian [Baldivis Secondary College]</cp:lastModifiedBy>
  <cp:revision>21</cp:revision>
  <dcterms:created xsi:type="dcterms:W3CDTF">2020-03-30T02:45:39Z</dcterms:created>
  <dcterms:modified xsi:type="dcterms:W3CDTF">2020-03-31T05:01:54Z</dcterms:modified>
</cp:coreProperties>
</file>
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8" r:id="rId2"/>
    <p:sldId id="259" r:id="rId3"/>
    <p:sldId id="284" r:id="rId4"/>
    <p:sldId id="268" r:id="rId5"/>
    <p:sldId id="278" r:id="rId6"/>
    <p:sldId id="260" r:id="rId7"/>
    <p:sldId id="271" r:id="rId8"/>
    <p:sldId id="275" r:id="rId9"/>
    <p:sldId id="276" r:id="rId10"/>
    <p:sldId id="277" r:id="rId11"/>
    <p:sldId id="261" r:id="rId12"/>
    <p:sldId id="274" r:id="rId13"/>
    <p:sldId id="273" r:id="rId14"/>
    <p:sldId id="279" r:id="rId15"/>
    <p:sldId id="280" r:id="rId16"/>
    <p:sldId id="281" r:id="rId17"/>
    <p:sldId id="285" r:id="rId18"/>
    <p:sldId id="28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45" autoAdjust="0"/>
    <p:restoredTop sz="94660"/>
  </p:normalViewPr>
  <p:slideViewPr>
    <p:cSldViewPr snapToGrid="0">
      <p:cViewPr varScale="1">
        <p:scale>
          <a:sx n="98" d="100"/>
          <a:sy n="98" d="100"/>
        </p:scale>
        <p:origin x="224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37DE9-E843-4D08-A94A-BB5A10981DBE}" type="datetimeFigureOut">
              <a:rPr lang="en-AU" smtClean="0"/>
              <a:t>10/2/18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77AA-7CC8-43C9-8713-D5D8B1C37A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521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399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2220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6866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27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28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4347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18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6278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60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60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9825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1928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2340B6-225B-49BB-8988-BAB44A03D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7489C88-1697-4DDC-A559-7208A6C27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44CF110-B2A4-483A-ADA0-2141C99C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10/2/18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E4A8F45-1C76-435C-B753-7CA166E3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D96ABF9-0EE7-441D-AD83-19C48B97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7524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79B018-4B84-4718-9142-DABDFE222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2D569AE-B3C5-4BB2-9AA4-03357A19D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CF32225-FB2C-4C40-8F62-48D7FE59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10/2/18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8220E53-56EE-48EF-ABF0-59F5AEB7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DFBC6BC-CAA6-4FD9-928F-04D2DCB0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0525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00749B-81AF-476E-8EEF-FE77A675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B5B3446-944A-448E-BCB8-4B747FF04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89EE5F3-D0AC-40B7-8786-16D46087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10/2/18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31122D2-1BA7-4131-A86D-B1A8BAFC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4BF178-CDE9-450D-8852-2511C3E5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4468BA-1A45-48DE-A696-66D3CB8D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803E659-E10D-48C1-B0C3-08FE9D4A9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06FBCD3-398D-4588-8CC0-C2B429CD5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EF1EFCE-7663-4CA3-88EB-786802A76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10/2/18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2CD65C5-0BED-470C-AA0D-6AE63730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9553F79-B6C7-40B6-9E04-29A6C35F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157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FACC35-708F-48A7-AC2B-D346EDD5F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3A8C90A-72C2-4AAA-AD90-9AE3EC08D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B27D173-ECD3-4DBB-8D7B-38F22B05E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400CA80-B5B3-4F7A-B3D9-07F3C8388B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63E796C-57B7-45D1-AE36-E182E2AD2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89177FB-FF08-418F-9217-EA3F6C73A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10/2/18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3661780-D977-4531-91F7-9B8DB63AE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BC2436E-E0F0-450D-9191-594FF163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422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1D83D4-2F53-4730-B63B-8C2E2E66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88E1F5F-59DF-4792-874D-A7B28CE7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10/2/18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424AF79-AF61-4264-848D-EEE3C0A0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52EF858-59AB-4742-BD96-AF33F5C2D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453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3B1E2E6-BC2C-4957-AB1D-9B08278F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10/2/18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FE6BF7F9-0E55-46E1-94EA-349999535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EE4FAB8-48BF-4C89-A71A-2048D0B3A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166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A248BA-C20E-4F92-8CC2-2E8CE2F75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4DCCC6-F73C-48A2-9432-16E9D7E32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60D8BD0-A270-4EF5-9B04-2304872E3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F38046E-4A60-48C3-AC6F-E511609B1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10/2/18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22538C3-5B19-4598-BFF7-AB7A9E9AC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8B049C1-16E6-44A9-8838-EF4C500A7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3505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DE12B8-770C-4768-8AA8-9D74B6A64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9F4F4D2-6377-4EC6-BD22-E52F6C88A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D157770-25F4-457E-B556-4CE6A64E6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F6A36EA-DD80-4279-85D1-C40D129C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10/2/18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83B5086-F432-4B9A-8187-799F3547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8BFFCB0-54BE-41DF-93BB-17ECB4E46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056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FD31A7-17DD-41D2-87DC-654494938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26E4FA2-E59C-4308-96D1-AC91844D7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14FF240-EF90-4D4A-9CE8-F5C422108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10/2/18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DB9A025-0C68-42FF-B9EA-F7F771630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0A5D0BB-E363-4F66-8543-8E3EE8331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471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9C41EB6-B3C3-4059-9E19-8956A74BF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BFE6F54-857C-4234-ABA5-0A3C0472D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C02E581-0726-48E2-8477-37301DA78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10/2/18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DBE622A-3BA9-4606-BD67-CD715A10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C06DE7C-67AA-4711-86D5-3D7FCF37C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9193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02294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4620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6106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1D936E8-ABBC-4DA3-AB30-F850AFE75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D803025-19B6-4842-8DB1-6A818347C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A8802F2-F5D8-4B94-93DB-380A1AC06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6A46E-9B69-4DAE-8B8B-23D1D6F6BA1F}" type="datetimeFigureOut">
              <a:rPr lang="en-AU" smtClean="0"/>
              <a:t>10/2/18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1E83A1D-E167-43BA-BBCD-2A3015D32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A59E973-8FEE-46B5-BA55-3836D2C8E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388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xmlns="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smtClean="0">
                <a:solidFill>
                  <a:srgbClr val="7C7F91"/>
                </a:solidFill>
                <a:latin typeface="Kiwi School Handwriting" panose="00000500000000000000" pitchFamily="2" charset="0"/>
              </a:rPr>
              <a:t>Year </a:t>
            </a: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11 Essentials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xmlns="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 smtClean="0">
                <a:latin typeface="Kiwi School Handwriting" panose="00000500000000000000" pitchFamily="2" charset="0"/>
              </a:rPr>
              <a:t>Comparing Fractions and </a:t>
            </a:r>
            <a:br>
              <a:rPr lang="en-AU" b="1" dirty="0" smtClean="0">
                <a:latin typeface="Kiwi School Handwriting" panose="00000500000000000000" pitchFamily="2" charset="0"/>
              </a:rPr>
            </a:br>
            <a:r>
              <a:rPr lang="en-AU" b="1" dirty="0" smtClean="0">
                <a:latin typeface="Kiwi School Handwriting" panose="00000500000000000000" pitchFamily="2" charset="0"/>
              </a:rPr>
              <a:t>Percentages of Quantities</a:t>
            </a:r>
            <a:endParaRPr lang="en-AU" b="1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xmlns="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xmlns="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1711305"/>
            <a:ext cx="10820400" cy="4024125"/>
          </a:xfrm>
          <a:prstGeom prst="rect">
            <a:avLst/>
          </a:prstGeom>
          <a:noFill/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</a:t>
            </a:r>
            <a:r>
              <a:rPr lang="en-AU" sz="4400" dirty="0" smtClean="0">
                <a:latin typeface="Kiwi School Handwriting" panose="00000500000000000000" pitchFamily="2" charset="0"/>
              </a:rPr>
              <a:t>to:</a:t>
            </a:r>
          </a:p>
          <a:p>
            <a:pPr marL="571500" indent="-571500"/>
            <a:r>
              <a:rPr lang="en-AU" sz="3900" dirty="0" smtClean="0">
                <a:latin typeface="Kiwi School Handwriting" panose="00000500000000000000" pitchFamily="2" charset="0"/>
              </a:rPr>
              <a:t>Find the percentage of a quantity</a:t>
            </a:r>
          </a:p>
          <a:p>
            <a:pPr marL="571500" indent="-571500"/>
            <a:r>
              <a:rPr lang="en-AU" sz="3900" dirty="0" smtClean="0">
                <a:latin typeface="Kiwi School Handwriting" panose="00000500000000000000" pitchFamily="2" charset="0"/>
              </a:rPr>
              <a:t>Express one quantity as a percentage of another</a:t>
            </a:r>
          </a:p>
          <a:p>
            <a:pPr marL="571500" indent="-571500"/>
            <a:r>
              <a:rPr lang="en-AU" sz="3900" dirty="0" smtClean="0">
                <a:latin typeface="Kiwi School Handwriting" panose="00000500000000000000" pitchFamily="2" charset="0"/>
              </a:rPr>
              <a:t>Solve problems relating to percentage increase/decrease and profit/loss</a:t>
            </a:r>
          </a:p>
          <a:p>
            <a:pPr marL="571500" indent="-571500"/>
            <a:r>
              <a:rPr lang="en-AU" sz="3900" dirty="0" smtClean="0">
                <a:latin typeface="Kiwi School Handwriting" panose="00000500000000000000" pitchFamily="2" charset="0"/>
              </a:rPr>
              <a:t>Apply this knowledge to real-life scenarios</a:t>
            </a:r>
            <a:endParaRPr lang="en-AU" sz="3900" dirty="0" smtClean="0">
              <a:latin typeface="Kiwi School Handwriting" panose="00000500000000000000" pitchFamily="2" charset="0"/>
            </a:endParaRPr>
          </a:p>
          <a:p>
            <a:pPr marL="571500" indent="-571500"/>
            <a:endParaRPr lang="en-AU" sz="4400" dirty="0">
              <a:latin typeface="Kiwi School Handwriting" panose="00000500000000000000" pitchFamily="2" charset="0"/>
            </a:endParaRP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xmlns="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116" y="441432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57112AE9-5545-418C-8488-4C5A364DCE26}"/>
              </a:ext>
            </a:extLst>
          </p:cNvPr>
          <p:cNvSpPr txBox="1"/>
          <p:nvPr/>
        </p:nvSpPr>
        <p:spPr>
          <a:xfrm>
            <a:off x="10468477" y="5987852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 first, a </a:t>
            </a:r>
            <a:r>
              <a:rPr lang="en-US" dirty="0"/>
              <a:t>g</a:t>
            </a:r>
            <a:r>
              <a:rPr lang="en-US" dirty="0" smtClean="0"/>
              <a:t>ame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8750" y="2030439"/>
            <a:ext cx="8234500" cy="23039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5434149"/>
            <a:ext cx="4064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Notice any patterns?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9269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5780" y="102006"/>
            <a:ext cx="2598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From last class</a:t>
            </a:r>
            <a:r>
              <a:rPr lang="en-US" sz="2400" b="1" dirty="0" smtClean="0"/>
              <a:t>...</a:t>
            </a:r>
            <a:endParaRPr lang="en-US" sz="24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551" y="625226"/>
            <a:ext cx="10727622" cy="61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5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xmlns="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Think-Pair-Share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xmlns="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1397796"/>
            <a:ext cx="10820400" cy="4024125"/>
          </a:xfrm>
          <a:prstGeom prst="rect">
            <a:avLst/>
          </a:prstGeom>
          <a:noFill/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 smtClean="0">
                <a:latin typeface="Kiwi School Handwriting" panose="00000500000000000000" pitchFamily="2" charset="0"/>
              </a:rPr>
              <a:t>With a partner, come up with:</a:t>
            </a:r>
            <a:endParaRPr lang="en-AU" sz="4400" dirty="0" smtClean="0">
              <a:latin typeface="Kiwi School Handwriting" panose="000005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 </a:t>
            </a:r>
            <a:r>
              <a:rPr lang="en-AU" sz="4400" dirty="0" smtClean="0">
                <a:latin typeface="Kiwi School Handwriting" panose="00000500000000000000" pitchFamily="2" charset="0"/>
              </a:rPr>
              <a:t>  3) Ways we use percentages in our daily lives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 </a:t>
            </a:r>
            <a:r>
              <a:rPr lang="en-AU" sz="4400" dirty="0" smtClean="0">
                <a:latin typeface="Kiwi School Handwriting" panose="00000500000000000000" pitchFamily="2" charset="0"/>
              </a:rPr>
              <a:t>  2) Jobs that regularly deal with </a:t>
            </a:r>
            <a:r>
              <a:rPr lang="en-AU" sz="4400" dirty="0" err="1" smtClean="0">
                <a:latin typeface="Kiwi School Handwriting" panose="00000500000000000000" pitchFamily="2" charset="0"/>
              </a:rPr>
              <a:t>percenatges</a:t>
            </a:r>
            <a:endParaRPr lang="en-AU" sz="4400" dirty="0" smtClean="0">
              <a:latin typeface="Kiwi School Handwriting" panose="000005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 </a:t>
            </a:r>
            <a:r>
              <a:rPr lang="en-AU" sz="4400" dirty="0" smtClean="0">
                <a:latin typeface="Kiwi School Handwriting" panose="00000500000000000000" pitchFamily="2" charset="0"/>
              </a:rPr>
              <a:t>  1) Way they make our lives easier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4400" dirty="0" smtClean="0">
                <a:latin typeface="Kiwi School Handwriting" panose="00000500000000000000" pitchFamily="2" charset="0"/>
              </a:rPr>
              <a:t>Share with </a:t>
            </a:r>
            <a:r>
              <a:rPr lang="en-AU" sz="4400" smtClean="0">
                <a:latin typeface="Kiwi School Handwriting" panose="00000500000000000000" pitchFamily="2" charset="0"/>
              </a:rPr>
              <a:t>the class</a:t>
            </a:r>
            <a:endParaRPr lang="en-AU" sz="4400" dirty="0" smtClean="0">
              <a:latin typeface="Kiwi School Handwriting" panose="00000500000000000000" pitchFamily="2" charset="0"/>
            </a:endParaRPr>
          </a:p>
          <a:p>
            <a:pPr marL="571500" indent="-571500"/>
            <a:endParaRPr lang="en-AU" sz="4400" dirty="0">
              <a:latin typeface="Kiwi School Handwriting" panose="00000500000000000000" pitchFamily="2" charset="0"/>
            </a:endParaRP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xmlns="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116" y="441432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57112AE9-5545-418C-8488-4C5A364DCE26}"/>
              </a:ext>
            </a:extLst>
          </p:cNvPr>
          <p:cNvSpPr txBox="1"/>
          <p:nvPr/>
        </p:nvSpPr>
        <p:spPr>
          <a:xfrm>
            <a:off x="10468477" y="5987852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82531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2101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64915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Understanding Percentages Further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can we apply our knowledge of percentages to different contexts?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4093B7B0-C924-4C01-A3B2-028A95CBC647}"/>
              </a:ext>
            </a:extLst>
          </p:cNvPr>
          <p:cNvSpPr/>
          <p:nvPr/>
        </p:nvSpPr>
        <p:spPr>
          <a:xfrm>
            <a:off x="1241240" y="1487466"/>
            <a:ext cx="92074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/>
              <a:t>First off: how do we find a percentage of a quantity?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238" y="2031536"/>
            <a:ext cx="9207431" cy="96344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315" y="3047396"/>
            <a:ext cx="9304178" cy="13370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238" y="4425552"/>
            <a:ext cx="7684101" cy="22933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238" y="4830350"/>
            <a:ext cx="11229523" cy="192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2101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64915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Understanding Percentages Further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can we apply our knowledge of percentages to different contexts?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093B7B0-C924-4C01-A3B2-028A95CBC647}"/>
              </a:ext>
            </a:extLst>
          </p:cNvPr>
          <p:cNvSpPr/>
          <p:nvPr/>
        </p:nvSpPr>
        <p:spPr>
          <a:xfrm>
            <a:off x="1241240" y="1487466"/>
            <a:ext cx="92074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/>
              <a:t>How do express one quantity as a percentage of another?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934" y="2086794"/>
            <a:ext cx="10058400" cy="8938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634" y="3283368"/>
            <a:ext cx="9461500" cy="927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634" y="4722225"/>
            <a:ext cx="94488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7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7" y="791761"/>
            <a:ext cx="716945" cy="3517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7" y="1212527"/>
            <a:ext cx="1908267" cy="3318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39" y="1212527"/>
            <a:ext cx="2358935" cy="3263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7" y="3353624"/>
            <a:ext cx="8531137" cy="11748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05" y="4901738"/>
            <a:ext cx="11000017" cy="1706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1886" y="750862"/>
            <a:ext cx="433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1)</a:t>
            </a:r>
            <a:endParaRPr lang="en-US" sz="24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7" y="1943653"/>
            <a:ext cx="5323117" cy="38744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7" y="2576006"/>
            <a:ext cx="5514596" cy="42891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1886" y="1919660"/>
            <a:ext cx="433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391886" y="3122792"/>
            <a:ext cx="433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391886" y="4440073"/>
            <a:ext cx="433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0852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Picture 1" descr="BrainTeasers43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471" y="0"/>
            <a:ext cx="887505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468108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5" name="Picture 1" descr="BrainTeasers43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471" y="0"/>
            <a:ext cx="887505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193650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734" y="7988"/>
            <a:ext cx="5298884" cy="685001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70708" y="404949"/>
            <a:ext cx="4206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Does no one? </a:t>
            </a:r>
          </a:p>
          <a:p>
            <a:r>
              <a:rPr lang="en-US" sz="3600" dirty="0" smtClean="0"/>
              <a:t>Show of thumbs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2101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64915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Understanding Percentages Further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can we apply our knowledge of percentages to different contexts?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093B7B0-C924-4C01-A3B2-028A95CBC647}"/>
              </a:ext>
            </a:extLst>
          </p:cNvPr>
          <p:cNvSpPr/>
          <p:nvPr/>
        </p:nvSpPr>
        <p:spPr>
          <a:xfrm>
            <a:off x="1241240" y="1475006"/>
            <a:ext cx="92074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H</a:t>
            </a:r>
            <a:r>
              <a:rPr lang="en-AU" sz="2400" dirty="0" smtClean="0"/>
              <a:t>ow do we calculate the percentage increase/decrease of something?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189" y="2047574"/>
            <a:ext cx="8492766" cy="3998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188" y="2618537"/>
            <a:ext cx="10058400" cy="10884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188" y="3706945"/>
            <a:ext cx="5283200" cy="1130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188" y="4839694"/>
            <a:ext cx="9015281" cy="143633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188" y="4925463"/>
            <a:ext cx="8910778" cy="200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6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2101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64915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Understanding Percentages Further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can we apply our knowledge of percentages to different contexts?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093B7B0-C924-4C01-A3B2-028A95CBC647}"/>
              </a:ext>
            </a:extLst>
          </p:cNvPr>
          <p:cNvSpPr/>
          <p:nvPr/>
        </p:nvSpPr>
        <p:spPr>
          <a:xfrm>
            <a:off x="1241240" y="1475006"/>
            <a:ext cx="92074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err="1" smtClean="0"/>
              <a:t>Similarily</a:t>
            </a:r>
            <a:r>
              <a:rPr lang="en-AU" sz="2400" dirty="0"/>
              <a:t>: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240" y="2073078"/>
            <a:ext cx="8039100" cy="406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240" y="2650366"/>
            <a:ext cx="10058400" cy="101208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240" y="3809359"/>
            <a:ext cx="7493000" cy="2108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240" y="3809359"/>
            <a:ext cx="8255000" cy="19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311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2101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64915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Understanding Percentages Further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can we apply our knowledge of percentages to different contexts?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093B7B0-C924-4C01-A3B2-028A95CBC647}"/>
              </a:ext>
            </a:extLst>
          </p:cNvPr>
          <p:cNvSpPr/>
          <p:nvPr/>
        </p:nvSpPr>
        <p:spPr>
          <a:xfrm>
            <a:off x="1241240" y="1475006"/>
            <a:ext cx="92074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/>
              <a:t>How can this be applied to the world of business?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239" y="2091191"/>
            <a:ext cx="10012325" cy="30816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83724" y="5529816"/>
            <a:ext cx="554209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Profit = Selling Price </a:t>
            </a:r>
            <a:r>
              <a:rPr lang="mr-IN" sz="3200" dirty="0" smtClean="0"/>
              <a:t>–</a:t>
            </a:r>
            <a:r>
              <a:rPr lang="en-US" sz="3200" dirty="0" smtClean="0"/>
              <a:t> Cost Price</a:t>
            </a:r>
          </a:p>
          <a:p>
            <a:r>
              <a:rPr lang="en-US" sz="3200" dirty="0" smtClean="0"/>
              <a:t>Loss = Cost Price </a:t>
            </a:r>
            <a:r>
              <a:rPr lang="mr-IN" sz="3200" dirty="0" smtClean="0"/>
              <a:t>–</a:t>
            </a:r>
            <a:r>
              <a:rPr lang="en-US" sz="3200" dirty="0" smtClean="0"/>
              <a:t> Selling Price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7843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2101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64915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Understanding Percentages Further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can we apply our knowledge of percentages to different contexts?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375" y="1314293"/>
            <a:ext cx="8432800" cy="55499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075" y="4914900"/>
            <a:ext cx="84201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093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2101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64915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Understanding Percentages Further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can we apply our knowledge of percentages to different contexts?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95" y="1387627"/>
            <a:ext cx="8407400" cy="4813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95" y="4549927"/>
            <a:ext cx="8445500" cy="16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3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understand? 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28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5554" y="2599509"/>
            <a:ext cx="88875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Nelson Worksheet </a:t>
            </a:r>
            <a:r>
              <a:rPr lang="mr-IN" sz="4000" dirty="0" smtClean="0"/>
              <a:t>–</a:t>
            </a:r>
            <a:r>
              <a:rPr lang="en-US" sz="4000" dirty="0" smtClean="0"/>
              <a:t> Percentage Problems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555370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1546</TotalTime>
  <Words>345</Words>
  <Application>Microsoft Macintosh PowerPoint</Application>
  <PresentationFormat>Widescreen</PresentationFormat>
  <Paragraphs>86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Calibri</vt:lpstr>
      <vt:lpstr>Calibri Light</vt:lpstr>
      <vt:lpstr>Kiwi School Handwriting</vt:lpstr>
      <vt:lpstr>Mangal</vt:lpstr>
      <vt:lpstr>Arial</vt:lpstr>
      <vt:lpstr>Office Theme</vt:lpstr>
      <vt:lpstr>Comparing Fractions and  Percentages of Quantities</vt:lpstr>
      <vt:lpstr>Learning Intentions</vt:lpstr>
      <vt:lpstr>But first, a game</vt:lpstr>
      <vt:lpstr>PowerPoint Presentation</vt:lpstr>
      <vt:lpstr>Think-Pair-Share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 you understand? Fists of Five</vt:lpstr>
      <vt:lpstr>PowerPoint Presentation</vt:lpstr>
    </vt:vector>
  </TitlesOfParts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Converting Percent, Decimals and Fractions</dc:title>
  <dc:creator>Nine Labuschagne</dc:creator>
  <cp:lastModifiedBy>SUMMERS Brad [Baldivis Secondary College]</cp:lastModifiedBy>
  <cp:revision>33</cp:revision>
  <dcterms:created xsi:type="dcterms:W3CDTF">2018-02-06T06:15:13Z</dcterms:created>
  <dcterms:modified xsi:type="dcterms:W3CDTF">2018-02-11T06:00:58Z</dcterms:modified>
</cp:coreProperties>
</file>
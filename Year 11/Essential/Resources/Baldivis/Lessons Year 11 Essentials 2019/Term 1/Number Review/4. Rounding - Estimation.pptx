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59" r:id="rId3"/>
    <p:sldId id="265" r:id="rId4"/>
    <p:sldId id="264" r:id="rId5"/>
    <p:sldId id="266" r:id="rId6"/>
    <p:sldId id="260" r:id="rId7"/>
    <p:sldId id="261" r:id="rId8"/>
    <p:sldId id="269" r:id="rId9"/>
    <p:sldId id="268" r:id="rId10"/>
    <p:sldId id="267" r:id="rId11"/>
    <p:sldId id="270" r:id="rId12"/>
    <p:sldId id="262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6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FF3399"/>
    <a:srgbClr val="6600CC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38367-D713-40D4-9F20-C9E625311A83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28C6E-FF6C-4B79-B038-AFD531F730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31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9501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133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60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67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382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609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8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879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79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060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6906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846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501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987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390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052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129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791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312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759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049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758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4914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5643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821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2390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77F-6853-406F-B632-DD868D0B1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4C8F2-75C1-4C4F-A303-54ABD41E4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5E83D-AD4A-4789-BEFD-1C3BE996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2AEED-285B-459E-9F61-91A2777CB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B5D7-AEFF-44E0-9F49-FEAE67A1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041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334F-E0D6-4B03-9E78-75B8438A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5D63-3F1C-40AB-B48D-4BE607B3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ECA40-5C22-4BEE-ADE6-B0A8F099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22F5-21C6-4570-9974-69E21AB0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4937F-C392-4B98-AB99-6B113B0C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990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191EA-200C-4A9A-A4D0-8375DF4D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B5358-EA93-4CB3-98D3-DCDE5BD1B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AE297-BA9F-49A1-B8F4-AF47AB98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598D-9C98-4D25-B09F-039482AC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E1A96-E15D-4DA6-B11B-A17C73BF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85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3979-AA2B-4428-A6BB-594B0BA1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857CD-A2CB-43E4-BE45-6ADBB8C5F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19B91-E639-4F1C-A621-509E261A9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C680A-EA84-4FAF-8739-8050055E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8BAD4-6D77-4265-BAD8-EC0B6174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1B8E7-BD60-4962-8F65-31E109C9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68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0F26-FF51-482C-B67F-EB8C2B498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ABF3B-2946-4E3D-8152-834451C35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44772-1062-4BDA-B102-B715607F6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7A503-5925-4C24-833B-25C6EEC0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9F48F-506C-43C5-B963-B10E91B8B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E084D1-CBD5-4FE9-9A9C-8AE423BF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2F6CB-2E33-4366-92AB-CC069722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F4C0A4-2C51-4F7C-A006-ECB5A22E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616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2770-B8B7-47F6-B091-42252057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36C1D-618D-480C-B6A8-ABE47367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13598-AB47-4845-BC40-158CB0AE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1CA10-7AA3-40DF-B047-8CD593AFD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80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3C24A-C20D-4B5A-AF87-8159A7B8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D2BF0-B8BE-4E5C-A33B-DFD7E60C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A1446-65B1-46EC-B271-64D73D71F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68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C381-6E51-4B16-B3CB-2473079E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2B54F-8007-4E8C-B6A7-0B9B453E0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EE9B1-C814-4CCD-B0F9-A2E6B1025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7AF04-8AD4-4E9B-886F-41505F7FD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521E4-9989-4F49-AF2C-F6A183330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30142-0559-4D14-B879-F8E72577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680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3876-32C0-4F1B-90E1-D40F7027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87D81-83A6-43BA-B2D4-5A45BBD3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593A8-10B5-4DFE-9175-150CAA5D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EC4A7-5952-436D-97A3-EB2E586B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CF3CB-F462-4048-BA46-66FBE476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C782F-1D5A-43BE-B908-A1B318D8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17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C017-0164-4969-8645-57716915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C56EC-6A92-44B4-8EB0-FD02F1A5F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B284D-1396-4056-909C-37EB17DC2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8A2D-CC94-4D81-8BE0-5B49AA04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05E61-C05F-44EF-8652-7DF64D5B2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76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31A2B-8B0F-48AA-AC1C-1A0E8D97A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CD006A-771A-4C07-B05A-C5532C8AB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8E0C2-7B99-46F3-887A-730993F3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618B-5CEA-440D-A4AD-8F41BA96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6A8A8-DCD2-400F-9033-BA00899A3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13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31006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6801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3900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30623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317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2C9B2-7283-4532-B059-EBA3309C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8EF72-9807-4F73-A432-B0F97D530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470D4-C0C5-42F4-ADB9-0C68146E2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CE27B-AF8E-410C-9F00-DA8F5A48382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707FA-96BA-4488-8621-791210AFF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BAFCE-6C14-4262-8F80-ABD2BBE36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58229-F0C4-467A-8BB0-E9C8A4DC5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01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Rounding / Estimation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Round decimals</a:t>
            </a:r>
          </a:p>
          <a:p>
            <a:r>
              <a:rPr lang="en-AU" sz="3600" dirty="0"/>
              <a:t>Estimate objects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9232B4-B71A-4F24-A3CD-CD10FB40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50" y="0"/>
            <a:ext cx="9223100" cy="69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9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 - Pair - Share 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910964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What was the quickest way to calculate the total of the shopping trolley?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Why is it a good idea to know how to estimate numbers?</a:t>
            </a:r>
            <a:endParaRPr lang="en-AU" sz="3600" dirty="0"/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464" y="4501353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04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8D66D3-6D11-4D40-B2A8-C6FAB5578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02" y="479666"/>
            <a:ext cx="10396931" cy="58986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0B44D9-D3B7-49B7-999A-74BA01F3BC4F}"/>
              </a:ext>
            </a:extLst>
          </p:cNvPr>
          <p:cNvSpPr/>
          <p:nvPr/>
        </p:nvSpPr>
        <p:spPr>
          <a:xfrm>
            <a:off x="1060174" y="3962400"/>
            <a:ext cx="10164417" cy="15107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00EA6-552A-4D3A-BF72-9317BF30E6A1}"/>
              </a:ext>
            </a:extLst>
          </p:cNvPr>
          <p:cNvSpPr/>
          <p:nvPr/>
        </p:nvSpPr>
        <p:spPr>
          <a:xfrm>
            <a:off x="889046" y="5565913"/>
            <a:ext cx="10396930" cy="8124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162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601743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Rules for rounding numbers?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Why do we need to round decimal numbers?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07608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2.365 038 475 can just as easily be written as 2.4</a:t>
            </a:r>
          </a:p>
          <a:p>
            <a:pPr defTabSz="914126"/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We can round off decimal numbers that have more figures in them than required.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8D988F-A154-4C82-A243-DD429EE7A73A}"/>
              </a:ext>
            </a:extLst>
          </p:cNvPr>
          <p:cNvSpPr txBox="1"/>
          <p:nvPr/>
        </p:nvSpPr>
        <p:spPr>
          <a:xfrm>
            <a:off x="1973464" y="4078331"/>
            <a:ext cx="95449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914126">
              <a:buFont typeface="+mj-lt"/>
              <a:buAutoNum type="arabicPeriod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If the digit after the one being rounded off is </a:t>
            </a:r>
            <a:r>
              <a:rPr lang="en-AU" sz="2800" b="1" dirty="0">
                <a:solidFill>
                  <a:srgbClr val="FF3399"/>
                </a:solidFill>
                <a:latin typeface="Calibri" panose="020F0502020204030204"/>
              </a:rPr>
              <a:t>less than 5 </a:t>
            </a: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we </a:t>
            </a:r>
            <a:r>
              <a:rPr lang="en-AU" sz="2800" b="1" dirty="0">
                <a:solidFill>
                  <a:srgbClr val="FF3399"/>
                </a:solidFill>
                <a:latin typeface="Calibri" panose="020F0502020204030204"/>
              </a:rPr>
              <a:t>round down</a:t>
            </a:r>
          </a:p>
          <a:p>
            <a:pPr marL="514350" indent="-514350" defTabSz="914126">
              <a:buFont typeface="+mj-lt"/>
              <a:buAutoNum type="arabicPeriod"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indent="-514350" defTabSz="914126">
              <a:buFont typeface="+mj-lt"/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If the digit after the one being rounded off is </a:t>
            </a:r>
            <a:r>
              <a:rPr lang="en-AU" sz="2800" b="1" dirty="0">
                <a:solidFill>
                  <a:srgbClr val="00CC00"/>
                </a:solidFill>
              </a:rPr>
              <a:t>5 or more </a:t>
            </a:r>
            <a:r>
              <a:rPr lang="en-AU" sz="2800" dirty="0">
                <a:solidFill>
                  <a:prstClr val="black"/>
                </a:solidFill>
              </a:rPr>
              <a:t>we </a:t>
            </a:r>
            <a:r>
              <a:rPr lang="en-AU" sz="2800" b="1" dirty="0">
                <a:solidFill>
                  <a:srgbClr val="00CC00"/>
                </a:solidFill>
              </a:rPr>
              <a:t>round up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Lighting Round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F3622-1448-47FD-87EF-9D8CF090D37D}"/>
              </a:ext>
            </a:extLst>
          </p:cNvPr>
          <p:cNvSpPr txBox="1"/>
          <p:nvPr/>
        </p:nvSpPr>
        <p:spPr>
          <a:xfrm>
            <a:off x="1323537" y="2090172"/>
            <a:ext cx="95449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914126">
              <a:buFont typeface="+mj-lt"/>
              <a:buAutoNum type="arabicPeriod"/>
            </a:pPr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Numbers will flash up on the screen</a:t>
            </a:r>
          </a:p>
          <a:p>
            <a:pPr marL="514350" indent="-514350" defTabSz="914126">
              <a:buFont typeface="+mj-lt"/>
              <a:buAutoNum type="arabicPeriod"/>
            </a:pPr>
            <a:endParaRPr lang="en-AU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indent="-514350" defTabSz="914126">
              <a:buFont typeface="+mj-lt"/>
              <a:buAutoNum type="arabicPeriod"/>
            </a:pPr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You will need to round to the nearest whole number</a:t>
            </a:r>
          </a:p>
          <a:p>
            <a:pPr marL="514350" indent="-514350" defTabSz="914126">
              <a:buFont typeface="+mj-lt"/>
              <a:buAutoNum type="arabicPeriod"/>
            </a:pPr>
            <a:endParaRPr lang="en-AU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indent="-514350" defTabSz="914126">
              <a:buFont typeface="+mj-lt"/>
              <a:buAutoNum type="arabicPeriod"/>
            </a:pPr>
            <a:r>
              <a:rPr lang="en-AU" sz="3200" dirty="0">
                <a:solidFill>
                  <a:prstClr val="black"/>
                </a:solidFill>
                <a:latin typeface="Calibri" panose="020F0502020204030204"/>
              </a:rPr>
              <a:t>Person that has the most correct wins</a:t>
            </a:r>
          </a:p>
          <a:p>
            <a:pPr marL="514350" indent="-514350" defTabSz="914126">
              <a:buFont typeface="+mj-lt"/>
              <a:buAutoNum type="arabicPeriod"/>
            </a:pPr>
            <a:endParaRPr lang="en-AU" sz="3200" dirty="0">
              <a:solidFill>
                <a:srgbClr val="00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9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D89F7-B1FA-45FB-A4A0-076FCCC69446}"/>
              </a:ext>
            </a:extLst>
          </p:cNvPr>
          <p:cNvSpPr txBox="1"/>
          <p:nvPr/>
        </p:nvSpPr>
        <p:spPr>
          <a:xfrm>
            <a:off x="278296" y="152400"/>
            <a:ext cx="699714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00CC00"/>
                </a:solidFill>
              </a:rPr>
              <a:t>Ready?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24477-6244-4CD0-B990-DB8A70D8A6CF}"/>
              </a:ext>
            </a:extLst>
          </p:cNvPr>
          <p:cNvSpPr txBox="1"/>
          <p:nvPr/>
        </p:nvSpPr>
        <p:spPr>
          <a:xfrm>
            <a:off x="702367" y="2590799"/>
            <a:ext cx="307450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00CC00"/>
                </a:solidFill>
              </a:rPr>
              <a:t>4.6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85646-1929-4B4A-AE69-D061F62D9974}"/>
              </a:ext>
            </a:extLst>
          </p:cNvPr>
          <p:cNvSpPr txBox="1"/>
          <p:nvPr/>
        </p:nvSpPr>
        <p:spPr>
          <a:xfrm>
            <a:off x="702366" y="2806535"/>
            <a:ext cx="3074503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FF0000"/>
                </a:solidFill>
              </a:rPr>
              <a:t>7.4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BC029-B33D-484D-8E6C-D54BF5D25D2E}"/>
              </a:ext>
            </a:extLst>
          </p:cNvPr>
          <p:cNvSpPr txBox="1"/>
          <p:nvPr/>
        </p:nvSpPr>
        <p:spPr>
          <a:xfrm>
            <a:off x="702365" y="3028208"/>
            <a:ext cx="4368399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7030A0"/>
                </a:solidFill>
              </a:rPr>
              <a:t>33.6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5CC1C-B1BC-44E5-9FC6-C510FE1B372F}"/>
              </a:ext>
            </a:extLst>
          </p:cNvPr>
          <p:cNvSpPr txBox="1"/>
          <p:nvPr/>
        </p:nvSpPr>
        <p:spPr>
          <a:xfrm>
            <a:off x="766214" y="3230089"/>
            <a:ext cx="4368399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FF3399"/>
                </a:solidFill>
              </a:rPr>
              <a:t>87.5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257A1-2D2B-4831-8FBB-FC71CF87F95F}"/>
              </a:ext>
            </a:extLst>
          </p:cNvPr>
          <p:cNvSpPr txBox="1"/>
          <p:nvPr/>
        </p:nvSpPr>
        <p:spPr>
          <a:xfrm>
            <a:off x="918614" y="3382489"/>
            <a:ext cx="4368399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92D050"/>
                </a:solidFill>
              </a:rPr>
              <a:t>65.3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54B0F-3357-4675-9345-4C4AD2B63F18}"/>
              </a:ext>
            </a:extLst>
          </p:cNvPr>
          <p:cNvSpPr txBox="1"/>
          <p:nvPr/>
        </p:nvSpPr>
        <p:spPr>
          <a:xfrm>
            <a:off x="1071014" y="3276255"/>
            <a:ext cx="5986375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FFC000"/>
                </a:solidFill>
              </a:rPr>
              <a:t>287.6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B72FF-6CE8-4086-BD6C-F3822D3CE6E6}"/>
              </a:ext>
            </a:extLst>
          </p:cNvPr>
          <p:cNvSpPr txBox="1"/>
          <p:nvPr/>
        </p:nvSpPr>
        <p:spPr>
          <a:xfrm>
            <a:off x="1223414" y="3428655"/>
            <a:ext cx="5986375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333333"/>
                </a:solidFill>
              </a:rPr>
              <a:t>49.6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9BD334-0678-4D28-AF15-E01A1B28886B}"/>
              </a:ext>
            </a:extLst>
          </p:cNvPr>
          <p:cNvSpPr txBox="1"/>
          <p:nvPr/>
        </p:nvSpPr>
        <p:spPr>
          <a:xfrm>
            <a:off x="1289069" y="3581055"/>
            <a:ext cx="5986375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6600CC"/>
                </a:solidFill>
              </a:rPr>
              <a:t>399.8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9D2259-2764-4009-A437-5FE6D23CC4AA}"/>
              </a:ext>
            </a:extLst>
          </p:cNvPr>
          <p:cNvSpPr txBox="1"/>
          <p:nvPr/>
        </p:nvSpPr>
        <p:spPr>
          <a:xfrm>
            <a:off x="1441469" y="3733455"/>
            <a:ext cx="5986375" cy="26468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914126"/>
            <a:r>
              <a:rPr lang="en-AU" sz="16600" dirty="0">
                <a:solidFill>
                  <a:srgbClr val="C00000"/>
                </a:solidFill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04451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5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25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75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9A2BDF1A-C409-4081-BFFF-0BF7B6414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0960" y="197346"/>
            <a:ext cx="5672422" cy="6463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2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solidFill>
                  <a:srgbClr val="00CC00"/>
                </a:solidFill>
                <a:latin typeface="+mn-lt"/>
              </a:rPr>
              <a:t>Answers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5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7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34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88</a:t>
            </a:r>
          </a:p>
          <a:p>
            <a:pPr eaLnBrk="1" hangingPunct="1">
              <a:spcBef>
                <a:spcPct val="50000"/>
              </a:spcBef>
            </a:pPr>
            <a:endParaRPr lang="en-GB" altLang="en-US" sz="3600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endParaRPr lang="en-GB" altLang="en-US" sz="3600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endParaRPr lang="en-GB" altLang="en-US" sz="3600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endParaRPr lang="en-GB" altLang="en-US" sz="3600" dirty="0">
              <a:latin typeface="+mn-lt"/>
            </a:endParaRP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65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288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50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3600" dirty="0">
                <a:latin typeface="+mn-lt"/>
              </a:rPr>
              <a:t>400</a:t>
            </a:r>
          </a:p>
        </p:txBody>
      </p:sp>
    </p:spTree>
    <p:extLst>
      <p:ext uri="{BB962C8B-B14F-4D97-AF65-F5344CB8AC3E}">
        <p14:creationId xmlns:p14="http://schemas.microsoft.com/office/powerpoint/2010/main" val="318648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213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Number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62965" y="1676781"/>
            <a:ext cx="1847526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round to a certain number?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Why do we need to round decimal numbers?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8D988F-A154-4C82-A243-DD429EE7A73A}"/>
              </a:ext>
            </a:extLst>
          </p:cNvPr>
          <p:cNvSpPr txBox="1"/>
          <p:nvPr/>
        </p:nvSpPr>
        <p:spPr>
          <a:xfrm>
            <a:off x="1910782" y="1573670"/>
            <a:ext cx="95449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914126">
              <a:buFont typeface="+mj-lt"/>
              <a:buAutoNum type="arabicPeriod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Example: 2185</a:t>
            </a:r>
          </a:p>
          <a:p>
            <a:pPr marL="914400" lvl="1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FF3399"/>
                </a:solidFill>
                <a:latin typeface="Calibri" panose="020F0502020204030204"/>
              </a:rPr>
              <a:t>2190 (to the nearest 10)</a:t>
            </a:r>
          </a:p>
          <a:p>
            <a:pPr marL="914400" lvl="1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FF3399"/>
                </a:solidFill>
                <a:latin typeface="Calibri" panose="020F0502020204030204"/>
              </a:rPr>
              <a:t>2200 (to the nearest 100)</a:t>
            </a:r>
          </a:p>
          <a:p>
            <a:pPr marL="914400" lvl="1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FF3399"/>
                </a:solidFill>
                <a:latin typeface="Calibri" panose="020F0502020204030204"/>
              </a:rPr>
              <a:t>2000 (to the nearest 1000)</a:t>
            </a:r>
          </a:p>
          <a:p>
            <a:pPr marL="514350" indent="-514350" defTabSz="914126">
              <a:buFont typeface="+mj-lt"/>
              <a:buAutoNum type="arabicPeriod"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514350" indent="-514350" defTabSz="914126">
              <a:buFont typeface="+mj-lt"/>
              <a:buAutoNum type="arabicPeriod"/>
            </a:pPr>
            <a:r>
              <a:rPr lang="en-AU" sz="2800" dirty="0">
                <a:solidFill>
                  <a:prstClr val="black"/>
                </a:solidFill>
              </a:rPr>
              <a:t>Example: 2.1852</a:t>
            </a:r>
          </a:p>
          <a:p>
            <a:pPr marL="971550" lvl="1" indent="-51435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CC00"/>
                </a:solidFill>
              </a:rPr>
              <a:t>2.185 (to 3 decimal places (</a:t>
            </a:r>
            <a:r>
              <a:rPr lang="en-AU" sz="2800" dirty="0" err="1">
                <a:solidFill>
                  <a:srgbClr val="00CC00"/>
                </a:solidFill>
              </a:rPr>
              <a:t>d.p</a:t>
            </a:r>
            <a:r>
              <a:rPr lang="en-AU" sz="2800" dirty="0">
                <a:solidFill>
                  <a:srgbClr val="00CC00"/>
                </a:solidFill>
              </a:rPr>
              <a:t>))</a:t>
            </a:r>
          </a:p>
          <a:p>
            <a:pPr marL="971550" lvl="1" indent="-51435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CC00"/>
                </a:solidFill>
              </a:rPr>
              <a:t>2.19 (to 2 </a:t>
            </a:r>
            <a:r>
              <a:rPr lang="en-AU" sz="2800" dirty="0" err="1">
                <a:solidFill>
                  <a:srgbClr val="00CC00"/>
                </a:solidFill>
              </a:rPr>
              <a:t>d.p</a:t>
            </a:r>
            <a:r>
              <a:rPr lang="en-AU" sz="2800" dirty="0">
                <a:solidFill>
                  <a:srgbClr val="00CC00"/>
                </a:solidFill>
              </a:rPr>
              <a:t>)</a:t>
            </a:r>
          </a:p>
          <a:p>
            <a:pPr marL="971550" lvl="1" indent="-51435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CC00"/>
                </a:solidFill>
              </a:rPr>
              <a:t>2.2 (to 1 </a:t>
            </a:r>
            <a:r>
              <a:rPr lang="en-AU" sz="2800" dirty="0" err="1">
                <a:solidFill>
                  <a:srgbClr val="00CC00"/>
                </a:solidFill>
              </a:rPr>
              <a:t>d.p</a:t>
            </a:r>
            <a:r>
              <a:rPr lang="en-AU" sz="2800" dirty="0">
                <a:solidFill>
                  <a:srgbClr val="00CC00"/>
                </a:solidFill>
              </a:rPr>
              <a:t>)</a:t>
            </a:r>
          </a:p>
          <a:p>
            <a:pPr marL="971550" lvl="1" indent="-51435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CC00"/>
                </a:solidFill>
              </a:rPr>
              <a:t>2 (to the nearest whole number)</a:t>
            </a:r>
          </a:p>
        </p:txBody>
      </p:sp>
    </p:spTree>
    <p:extLst>
      <p:ext uri="{BB962C8B-B14F-4D97-AF65-F5344CB8AC3E}">
        <p14:creationId xmlns:p14="http://schemas.microsoft.com/office/powerpoint/2010/main" val="182606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Estimation Bingo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5C41D-FCAD-4F8D-A386-D38F85B05E35}"/>
              </a:ext>
            </a:extLst>
          </p:cNvPr>
          <p:cNvSpPr txBox="1">
            <a:spLocks noChangeArrowheads="1"/>
          </p:cNvSpPr>
          <p:nvPr/>
        </p:nvSpPr>
        <p:spPr>
          <a:xfrm>
            <a:off x="403225" y="2622084"/>
            <a:ext cx="6400800" cy="175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91054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Font typeface="Arial" panose="020B0604020202020204" pitchFamily="34" charset="0"/>
              <a:buChar char="‐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91054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 panose="020B0604020202020204" pitchFamily="34" charset="0"/>
              <a:buChar char="‐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GB" altLang="en-US" dirty="0"/>
              <a:t>Aim:  Full House</a:t>
            </a:r>
          </a:p>
          <a:p>
            <a:pPr>
              <a:lnSpc>
                <a:spcPct val="80000"/>
              </a:lnSpc>
            </a:pPr>
            <a:r>
              <a:rPr lang="en-GB" altLang="en-US" dirty="0"/>
              <a:t>Grid: 9 Grid</a:t>
            </a:r>
          </a:p>
          <a:p>
            <a:pPr>
              <a:lnSpc>
                <a:spcPct val="80000"/>
              </a:lnSpc>
            </a:pPr>
            <a:r>
              <a:rPr lang="en-GB" altLang="en-US" dirty="0"/>
              <a:t>Play: Calculate answer &amp; cross it off</a:t>
            </a:r>
            <a:endParaRPr lang="en-US" altLang="en-US" dirty="0"/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06E06B2D-7F13-43F0-8655-B491930879D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831326"/>
            <a:ext cx="3209059" cy="3086715"/>
            <a:chOff x="3424" y="1752"/>
            <a:chExt cx="1270" cy="127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6D4D68E6-2145-41A9-8F35-581AF0368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52"/>
              <a:ext cx="1270" cy="127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5D9D5A6E-9E4F-438A-A2C1-66DC3A4B4B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5599F83A-945C-43F5-BDD3-6142E8F1E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1752"/>
              <a:ext cx="0" cy="12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65CCE5A3-897C-4E1B-842F-90A96404F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05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47FB672E-D135-4098-A90A-21E36DB32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614"/>
              <a:ext cx="1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690526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2500" lnSpcReduction="2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Use any of these numbers in your grid (NO REPEATS except 70)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1D9884D-0445-4C55-9C7E-9163FE9FC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742" y="1833526"/>
            <a:ext cx="8652780" cy="4530725"/>
          </a:xfrm>
        </p:spPr>
        <p:txBody>
          <a:bodyPr numCol="4">
            <a:normAutofit/>
          </a:bodyPr>
          <a:lstStyle/>
          <a:p>
            <a:pPr marL="118531" indent="0">
              <a:buNone/>
            </a:pPr>
            <a:r>
              <a:rPr lang="en-US" altLang="en-US" sz="4000" dirty="0"/>
              <a:t>15.4</a:t>
            </a:r>
          </a:p>
          <a:p>
            <a:pPr marL="118531" indent="0">
              <a:buNone/>
            </a:pPr>
            <a:r>
              <a:rPr lang="en-US" altLang="en-US" sz="4000" dirty="0"/>
              <a:t>0.299</a:t>
            </a:r>
          </a:p>
          <a:p>
            <a:pPr marL="118531" indent="0">
              <a:buNone/>
            </a:pPr>
            <a:r>
              <a:rPr lang="en-US" altLang="en-US" sz="4000" dirty="0"/>
              <a:t>70</a:t>
            </a:r>
          </a:p>
          <a:p>
            <a:pPr marL="118531" indent="0">
              <a:buNone/>
            </a:pPr>
            <a:r>
              <a:rPr lang="en-US" altLang="en-US" sz="4000" dirty="0"/>
              <a:t>0.5</a:t>
            </a:r>
          </a:p>
          <a:p>
            <a:pPr marL="118531" indent="0">
              <a:buNone/>
            </a:pPr>
            <a:r>
              <a:rPr lang="en-US" altLang="en-US" sz="4000" dirty="0"/>
              <a:t>70</a:t>
            </a:r>
          </a:p>
          <a:p>
            <a:pPr marL="118531" indent="0">
              <a:buNone/>
            </a:pPr>
            <a:endParaRPr lang="en-US" altLang="en-US" sz="4000" dirty="0"/>
          </a:p>
          <a:p>
            <a:pPr marL="118531" indent="0">
              <a:buNone/>
            </a:pPr>
            <a:r>
              <a:rPr lang="en-US" altLang="en-US" sz="4000" dirty="0"/>
              <a:t>124.4</a:t>
            </a:r>
          </a:p>
          <a:p>
            <a:pPr marL="118531" indent="0">
              <a:buNone/>
            </a:pPr>
            <a:r>
              <a:rPr lang="en-US" altLang="en-US" sz="4000" dirty="0"/>
              <a:t>6.9</a:t>
            </a:r>
          </a:p>
          <a:p>
            <a:pPr marL="118531" indent="0">
              <a:buNone/>
            </a:pPr>
            <a:r>
              <a:rPr lang="en-US" altLang="en-US" sz="4000" dirty="0"/>
              <a:t>3.453</a:t>
            </a:r>
          </a:p>
          <a:p>
            <a:pPr marL="118531" indent="0">
              <a:buNone/>
            </a:pPr>
            <a:r>
              <a:rPr lang="en-US" altLang="en-US" sz="4000" dirty="0"/>
              <a:t>67</a:t>
            </a:r>
          </a:p>
          <a:p>
            <a:pPr marL="118531" indent="0">
              <a:buNone/>
            </a:pPr>
            <a:r>
              <a:rPr lang="en-US" altLang="en-US" sz="4000" dirty="0"/>
              <a:t>3.66</a:t>
            </a:r>
          </a:p>
          <a:p>
            <a:pPr marL="118531" indent="0">
              <a:buNone/>
            </a:pPr>
            <a:endParaRPr lang="en-US" altLang="en-US" sz="4000" dirty="0"/>
          </a:p>
          <a:p>
            <a:pPr marL="118531" indent="0">
              <a:buNone/>
            </a:pPr>
            <a:r>
              <a:rPr lang="en-US" altLang="en-US" sz="4000" dirty="0"/>
              <a:t>900</a:t>
            </a:r>
          </a:p>
          <a:p>
            <a:pPr marL="118531" indent="0">
              <a:buNone/>
            </a:pPr>
            <a:r>
              <a:rPr lang="en-US" altLang="en-US" sz="4000" dirty="0"/>
              <a:t>29</a:t>
            </a:r>
          </a:p>
          <a:p>
            <a:pPr marL="118531" indent="0">
              <a:buNone/>
            </a:pPr>
            <a:r>
              <a:rPr lang="en-US" altLang="en-US" sz="4000" dirty="0"/>
              <a:t>31</a:t>
            </a:r>
          </a:p>
          <a:p>
            <a:pPr marL="118531" indent="0">
              <a:buNone/>
            </a:pPr>
            <a:r>
              <a:rPr lang="en-US" altLang="en-US" sz="4000" dirty="0"/>
              <a:t>200</a:t>
            </a:r>
          </a:p>
          <a:p>
            <a:pPr marL="118531" indent="0">
              <a:buNone/>
            </a:pPr>
            <a:r>
              <a:rPr lang="en-US" altLang="en-US" sz="4000" dirty="0"/>
              <a:t>15.01</a:t>
            </a:r>
          </a:p>
          <a:p>
            <a:pPr marL="118531" indent="0">
              <a:buNone/>
            </a:pPr>
            <a:endParaRPr lang="en-US" altLang="en-US" sz="4000" dirty="0"/>
          </a:p>
          <a:p>
            <a:pPr marL="118531" indent="0">
              <a:buNone/>
            </a:pPr>
            <a:endParaRPr lang="en-US" altLang="en-US" sz="4000" dirty="0"/>
          </a:p>
          <a:p>
            <a:pPr marL="118531" indent="0">
              <a:buNone/>
            </a:pPr>
            <a:r>
              <a:rPr lang="en-US" altLang="en-US" sz="4000" dirty="0"/>
              <a:t>11.36</a:t>
            </a:r>
          </a:p>
        </p:txBody>
      </p:sp>
    </p:spTree>
    <p:extLst>
      <p:ext uri="{BB962C8B-B14F-4D97-AF65-F5344CB8AC3E}">
        <p14:creationId xmlns:p14="http://schemas.microsoft.com/office/powerpoint/2010/main" val="22675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F17F4-FE5A-4BFC-B946-F9A207392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37" y="2783164"/>
            <a:ext cx="11219325" cy="101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51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2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860CEC-64DB-4BF4-AABA-B9CFD18E9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420" y="2815257"/>
            <a:ext cx="9761252" cy="87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3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7179A-6817-48A4-A6C3-6A185994A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63" y="2603637"/>
            <a:ext cx="8978073" cy="114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0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4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2BE136-C926-47D2-BE8B-A676CC5E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74" y="2683565"/>
            <a:ext cx="1059060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80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5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03610-CDFF-402B-B7C2-2F5443D2B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33" y="2917342"/>
            <a:ext cx="10412689" cy="102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08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6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B5782-E8EF-4C5F-954D-33704BD5F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746" y="2940326"/>
            <a:ext cx="9808375" cy="97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1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7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05DFFB-9EFE-4419-9157-AF00AEC01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98" y="3006690"/>
            <a:ext cx="10446603" cy="8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8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70AAEE-6712-40EB-89D8-82E24CB74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42" y="2682548"/>
            <a:ext cx="11011850" cy="108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78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9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F3B5AD-BEC9-4948-9FD0-9CC02E44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950" y="2690380"/>
            <a:ext cx="1071101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9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10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BD601E-A368-4640-922E-52E273D05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53" y="2819400"/>
            <a:ext cx="9965372" cy="102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90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11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7002C9-4922-4047-8EDE-404466E22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51" y="2787512"/>
            <a:ext cx="9615675" cy="73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02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12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CC76EA-3D42-4A5E-B532-032A6F88D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6" y="2857500"/>
            <a:ext cx="1066175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56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13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77167F-8994-4A98-9725-A5995CEA6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97" y="2671969"/>
            <a:ext cx="1130753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187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14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982BE1-3C34-4F14-8BEA-1E9BC4F84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92" y="2857500"/>
            <a:ext cx="1142136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84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15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112BE5-E896-4734-8A0A-E121030C4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0" y="2857500"/>
            <a:ext cx="10252881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184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023AE84-B517-405F-A271-234FC2EB0914}"/>
              </a:ext>
            </a:extLst>
          </p:cNvPr>
          <p:cNvSpPr txBox="1">
            <a:spLocks noChangeArrowheads="1"/>
          </p:cNvSpPr>
          <p:nvPr/>
        </p:nvSpPr>
        <p:spPr>
          <a:xfrm>
            <a:off x="623742" y="493749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 16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4E2A21-1C4A-4C38-9FED-C13A5497F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22" y="2673626"/>
            <a:ext cx="10363199" cy="103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9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60775-CF49-46F1-BBC3-C2728CC0BCE0}"/>
              </a:ext>
            </a:extLst>
          </p:cNvPr>
          <p:cNvSpPr txBox="1">
            <a:spLocks noChangeArrowheads="1"/>
          </p:cNvSpPr>
          <p:nvPr/>
        </p:nvSpPr>
        <p:spPr>
          <a:xfrm>
            <a:off x="821635" y="2286000"/>
            <a:ext cx="10786379" cy="1143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rmAutofit fontScale="92500" lnSpcReduction="2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 sz="4400" kern="1200">
                <a:solidFill>
                  <a:srgbClr val="B5D4E9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r>
              <a:rPr lang="en-GB" altLang="en-US" b="1" dirty="0">
                <a:solidFill>
                  <a:srgbClr val="0070C0"/>
                </a:solidFill>
              </a:rPr>
              <a:t>Rounding and Estimation Worksheet from Nelson </a:t>
            </a:r>
            <a:r>
              <a:rPr lang="en-GB" altLang="en-US" b="1" dirty="0" err="1">
                <a:solidFill>
                  <a:srgbClr val="0070C0"/>
                </a:solidFill>
              </a:rPr>
              <a:t>Chpt</a:t>
            </a:r>
            <a:r>
              <a:rPr lang="en-GB" altLang="en-US" b="1" dirty="0">
                <a:solidFill>
                  <a:srgbClr val="0070C0"/>
                </a:solidFill>
              </a:rPr>
              <a:t> 1 Part A</a:t>
            </a:r>
            <a:endParaRPr lang="en-US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358</Words>
  <Application>Microsoft Office PowerPoint</Application>
  <PresentationFormat>Widescreen</PresentationFormat>
  <Paragraphs>115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MS PGothic</vt:lpstr>
      <vt:lpstr>Arial</vt:lpstr>
      <vt:lpstr>Calibri</vt:lpstr>
      <vt:lpstr>Calibri Light</vt:lpstr>
      <vt:lpstr>Kiwi School Handwriting</vt:lpstr>
      <vt:lpstr>Office Theme</vt:lpstr>
      <vt:lpstr>Rounding / Estimation</vt:lpstr>
      <vt:lpstr>Learning Intentions</vt:lpstr>
      <vt:lpstr>PowerPoint Presentation</vt:lpstr>
      <vt:lpstr>Think - Pair - Share </vt:lpstr>
      <vt:lpstr>PowerPoint Presentation</vt:lpstr>
      <vt:lpstr>PowerPoint Presentation</vt:lpstr>
      <vt:lpstr>PowerPoint Presentation</vt:lpstr>
      <vt:lpstr>Lighting Round</vt:lpstr>
      <vt:lpstr>PowerPoint Presentation</vt:lpstr>
      <vt:lpstr>PowerPoint Presentation</vt:lpstr>
      <vt:lpstr>PowerPoint Presentation</vt:lpstr>
      <vt:lpstr>Estimation Bingo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/ Estimation</dc:title>
  <dc:creator>Nine Labuschagne</dc:creator>
  <cp:lastModifiedBy>Nine Labuschagne</cp:lastModifiedBy>
  <cp:revision>17</cp:revision>
  <dcterms:created xsi:type="dcterms:W3CDTF">2018-02-04T05:30:16Z</dcterms:created>
  <dcterms:modified xsi:type="dcterms:W3CDTF">2018-02-04T06:38:38Z</dcterms:modified>
</cp:coreProperties>
</file>
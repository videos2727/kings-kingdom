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59" r:id="rId5"/>
    <p:sldId id="260" r:id="rId6"/>
    <p:sldId id="267" r:id="rId7"/>
    <p:sldId id="268" r:id="rId8"/>
    <p:sldId id="262" r:id="rId9"/>
    <p:sldId id="269" r:id="rId10"/>
    <p:sldId id="264" r:id="rId11"/>
    <p:sldId id="265" r:id="rId12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5"/>
    <p:restoredTop sz="94666"/>
  </p:normalViewPr>
  <p:slideViewPr>
    <p:cSldViewPr snapToGrid="0" snapToObjects="1">
      <p:cViewPr>
        <p:scale>
          <a:sx n="86" d="100"/>
          <a:sy n="86" d="100"/>
        </p:scale>
        <p:origin x="42" y="3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Work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Work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Work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Favourite Car</a:t>
            </a:r>
            <a:r>
              <a:rPr lang="en-US" baseline="0"/>
              <a:t> Brand</a:t>
            </a:r>
          </a:p>
          <a:p>
            <a:pPr>
              <a:defRPr/>
            </a:pPr>
            <a:r>
              <a:rPr lang="en-US" baseline="0"/>
              <a:t>Boys v. Girls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Boys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38100" dist="25400" dir="5400000" rotWithShape="0">
                <a:srgbClr val="000000">
                  <a:alpha val="7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>
              <a:bevelT w="0" h="0"/>
            </a:sp3d>
          </c:spPr>
          <c:invertIfNegative val="0"/>
          <c:cat>
            <c:strRef>
              <c:f>Sheet1!$A$2:$A$5</c:f>
              <c:strCache>
                <c:ptCount val="4"/>
                <c:pt idx="0">
                  <c:v>Toyota</c:v>
                </c:pt>
                <c:pt idx="1">
                  <c:v>Ford</c:v>
                </c:pt>
                <c:pt idx="2">
                  <c:v>Subaru</c:v>
                </c:pt>
                <c:pt idx="3">
                  <c:v>Nissan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22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1E-42C6-9F21-95F87ACE8AF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Girls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38100" dist="25400" dir="5400000" rotWithShape="0">
                <a:srgbClr val="000000">
                  <a:alpha val="7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>
              <a:bevelT w="0" h="0"/>
            </a:sp3d>
          </c:spPr>
          <c:invertIfNegative val="0"/>
          <c:cat>
            <c:strRef>
              <c:f>Sheet1!$A$2:$A$5</c:f>
              <c:strCache>
                <c:ptCount val="4"/>
                <c:pt idx="0">
                  <c:v>Toyota</c:v>
                </c:pt>
                <c:pt idx="1">
                  <c:v>Ford</c:v>
                </c:pt>
                <c:pt idx="2">
                  <c:v>Subaru</c:v>
                </c:pt>
                <c:pt idx="3">
                  <c:v>Nissan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</c:v>
                </c:pt>
                <c:pt idx="1">
                  <c:v>13</c:v>
                </c:pt>
                <c:pt idx="2">
                  <c:v>9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11E-42C6-9F21-95F87ACE8A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-2139293136"/>
        <c:axId val="-2139282304"/>
      </c:barChart>
      <c:catAx>
        <c:axId val="-2139293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39282304"/>
        <c:crosses val="autoZero"/>
        <c:auto val="1"/>
        <c:lblAlgn val="ctr"/>
        <c:lblOffset val="100"/>
        <c:noMultiLvlLbl val="0"/>
      </c:catAx>
      <c:valAx>
        <c:axId val="-21392823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392931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Income</a:t>
            </a:r>
            <a:r>
              <a:rPr lang="en-US" baseline="0"/>
              <a:t> Spending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1-E629-44BA-A45B-9E69CCA451BE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3-E629-44BA-A45B-9E69CCA451BE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5-E629-44BA-A45B-9E69CCA451BE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2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7-E629-44BA-A45B-9E69CCA451B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Sheet1!$A$1:$A$4</c:f>
              <c:strCache>
                <c:ptCount val="4"/>
                <c:pt idx="0">
                  <c:v>Rent</c:v>
                </c:pt>
                <c:pt idx="1">
                  <c:v>Car running cost</c:v>
                </c:pt>
                <c:pt idx="2">
                  <c:v>Savings</c:v>
                </c:pt>
                <c:pt idx="3">
                  <c:v>Clothing</c:v>
                </c:pt>
              </c:strCache>
            </c:strRef>
          </c:cat>
          <c:val>
            <c:numRef>
              <c:f>Sheet1!$B$1:$B$4</c:f>
              <c:numCache>
                <c:formatCode>General</c:formatCode>
                <c:ptCount val="4"/>
                <c:pt idx="0">
                  <c:v>400</c:v>
                </c:pt>
                <c:pt idx="1">
                  <c:v>150</c:v>
                </c:pt>
                <c:pt idx="2">
                  <c:v>350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629-44BA-A45B-9E69CCA451BE}"/>
            </c:ext>
          </c:extLst>
        </c:ser>
        <c:dLbls>
          <c:dLblPos val="bestFit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5606572474622904"/>
          <c:y val="0.288837730925947"/>
          <c:w val="0.26490663764272498"/>
          <c:h val="0.5675951485376029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sng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u="sng"/>
              <a:t>Expenses</a:t>
            </a:r>
            <a:r>
              <a:rPr lang="en-US" u="sng" baseline="0"/>
              <a:t> Pie Chart</a:t>
            </a:r>
            <a:endParaRPr lang="en-US" u="sng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sng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36618383814614"/>
          <c:y val="9.2083073076684299E-2"/>
          <c:w val="0.618204392069724"/>
          <c:h val="0.62471743865850204"/>
        </c:manualLayout>
      </c:layout>
      <c:pieChart>
        <c:varyColors val="1"/>
        <c:ser>
          <c:idx val="0"/>
          <c:order val="0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1-E001-4E37-8762-595B33FCD396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3-E001-4E37-8762-595B33FCD396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5-E001-4E37-8762-595B33FCD396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7-E001-4E37-8762-595B33FCD396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9-E001-4E37-8762-595B33FCD396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B-E001-4E37-8762-595B33FCD396}"/>
              </c:ext>
            </c:extLst>
          </c:dPt>
          <c:dPt>
            <c:idx val="6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D-E001-4E37-8762-595B33FCD396}"/>
              </c:ext>
            </c:extLst>
          </c:dPt>
          <c:dPt>
            <c:idx val="7"/>
            <c:bubble3D val="0"/>
            <c:spPr>
              <a:gradFill rotWithShape="1">
                <a:gsLst>
                  <a:gs pos="0">
                    <a:schemeClr val="accent2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F-E001-4E37-8762-595B33FCD396}"/>
              </c:ext>
            </c:extLst>
          </c:dPt>
          <c:dPt>
            <c:idx val="8"/>
            <c:bubble3D val="0"/>
            <c:spPr>
              <a:gradFill rotWithShape="1">
                <a:gsLst>
                  <a:gs pos="0">
                    <a:schemeClr val="accent3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11-E001-4E37-8762-595B33FCD396}"/>
              </c:ext>
            </c:extLst>
          </c:dPt>
          <c:dPt>
            <c:idx val="9"/>
            <c:bubble3D val="0"/>
            <c:spPr>
              <a:gradFill rotWithShape="1">
                <a:gsLst>
                  <a:gs pos="0">
                    <a:schemeClr val="accent4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13-E001-4E37-8762-595B33FCD396}"/>
              </c:ext>
            </c:extLst>
          </c:dPt>
          <c:dPt>
            <c:idx val="10"/>
            <c:bubble3D val="0"/>
            <c:spPr>
              <a:gradFill rotWithShape="1">
                <a:gsLst>
                  <a:gs pos="0">
                    <a:schemeClr val="accent5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15-E001-4E37-8762-595B33FCD39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Sheet1!$A$12:$A$22</c:f>
              <c:strCache>
                <c:ptCount val="11"/>
                <c:pt idx="0">
                  <c:v>TAX</c:v>
                </c:pt>
                <c:pt idx="1">
                  <c:v>HEALTH INSURANCE</c:v>
                </c:pt>
                <c:pt idx="2">
                  <c:v>GIFTS</c:v>
                </c:pt>
                <c:pt idx="3">
                  <c:v>TRANSPORT</c:v>
                </c:pt>
                <c:pt idx="4">
                  <c:v>FOOD</c:v>
                </c:pt>
                <c:pt idx="5">
                  <c:v>RENT</c:v>
                </c:pt>
                <c:pt idx="6">
                  <c:v>PETROL</c:v>
                </c:pt>
                <c:pt idx="7">
                  <c:v>HECS</c:v>
                </c:pt>
                <c:pt idx="8">
                  <c:v>CLOTHING</c:v>
                </c:pt>
                <c:pt idx="9">
                  <c:v>GENERAL NEEDS</c:v>
                </c:pt>
                <c:pt idx="10">
                  <c:v>CAR REPAYMENT</c:v>
                </c:pt>
              </c:strCache>
            </c:strRef>
          </c:cat>
          <c:val>
            <c:numRef>
              <c:f>Sheet1!$F$12:$F$22</c:f>
              <c:numCache>
                <c:formatCode>_("$"* #,##0.00_);_("$"* \(#,##0.00\);_("$"* "-"??_);_(@_)</c:formatCode>
                <c:ptCount val="11"/>
                <c:pt idx="0">
                  <c:v>2233.1999999999998</c:v>
                </c:pt>
                <c:pt idx="1">
                  <c:v>400</c:v>
                </c:pt>
                <c:pt idx="2">
                  <c:v>200</c:v>
                </c:pt>
                <c:pt idx="3">
                  <c:v>340</c:v>
                </c:pt>
                <c:pt idx="4">
                  <c:v>1550</c:v>
                </c:pt>
                <c:pt idx="5">
                  <c:v>1120</c:v>
                </c:pt>
                <c:pt idx="6">
                  <c:v>200</c:v>
                </c:pt>
                <c:pt idx="7">
                  <c:v>148.4</c:v>
                </c:pt>
                <c:pt idx="8">
                  <c:v>800</c:v>
                </c:pt>
                <c:pt idx="9">
                  <c:v>1400</c:v>
                </c:pt>
                <c:pt idx="10">
                  <c:v>1340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E001-4E37-8762-595B33FCD396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7.06727324429936E-3"/>
          <c:y val="0.76643253293525704"/>
          <c:w val="0.99025042667249996"/>
          <c:h val="0.2335674670647429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5/29/2018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Graphing Practice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51908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Quick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What is Data?</a:t>
            </a:r>
          </a:p>
          <a:p>
            <a:pPr lvl="1"/>
            <a:r>
              <a:rPr lang="en-AU" dirty="0"/>
              <a:t>Information gathered about the real world</a:t>
            </a:r>
          </a:p>
          <a:p>
            <a:pPr lvl="1"/>
            <a:r>
              <a:rPr lang="en-AU" dirty="0"/>
              <a:t>Commonly referred to as statistics</a:t>
            </a:r>
          </a:p>
          <a:p>
            <a:pPr lvl="1"/>
            <a:r>
              <a:rPr lang="en-AU" dirty="0"/>
              <a:t>Helps to classify and quantify the world.</a:t>
            </a:r>
          </a:p>
          <a:p>
            <a:pPr lvl="1"/>
            <a:r>
              <a:rPr lang="en-AU" dirty="0"/>
              <a:t>Two types- categorical and numerical</a:t>
            </a:r>
          </a:p>
          <a:p>
            <a:r>
              <a:rPr lang="en-AU" dirty="0"/>
              <a:t>What are graphs?</a:t>
            </a:r>
          </a:p>
          <a:p>
            <a:pPr lvl="1"/>
            <a:r>
              <a:rPr lang="en-AU" dirty="0"/>
              <a:t>Graphs are used to display data in easy to read formats</a:t>
            </a:r>
          </a:p>
          <a:p>
            <a:pPr lvl="1"/>
            <a:r>
              <a:rPr lang="en-AU" dirty="0"/>
              <a:t>Many different graph formats, including pie, pictograph, line, column, and bar.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92752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609600" y="787718"/>
            <a:ext cx="109728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609600" y="1276875"/>
            <a:ext cx="10972800" cy="1946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9714" y="80285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767986" y="1303713"/>
            <a:ext cx="0" cy="555428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9600" y="758888"/>
            <a:ext cx="109728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80" dirty="0"/>
              <a:t>EQ – What is a clustered column graph?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0614" y="233721"/>
            <a:ext cx="2811411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80" b="1" dirty="0"/>
              <a:t>Topic : Graphs</a:t>
            </a:r>
            <a:endParaRPr lang="en-AU" sz="288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280B3B-6957-4D0B-97D0-E512AAC812A2}"/>
              </a:ext>
            </a:extLst>
          </p:cNvPr>
          <p:cNvSpPr txBox="1"/>
          <p:nvPr/>
        </p:nvSpPr>
        <p:spPr>
          <a:xfrm>
            <a:off x="8277801" y="163491"/>
            <a:ext cx="33046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80" dirty="0"/>
              <a:t>Date: 29/5/2018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0062AF-43D8-4672-9800-EBE2E82BFCB1}"/>
              </a:ext>
            </a:extLst>
          </p:cNvPr>
          <p:cNvSpPr/>
          <p:nvPr/>
        </p:nvSpPr>
        <p:spPr>
          <a:xfrm>
            <a:off x="2776455" y="1323249"/>
            <a:ext cx="8805946" cy="3243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dirty="0"/>
              <a:t>A clustered column graph is used to demonstrate two different groups of results to the same question. </a:t>
            </a:r>
            <a:br>
              <a:rPr lang="en-AU" sz="2000" dirty="0"/>
            </a:br>
            <a:endParaRPr lang="en-A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dirty="0"/>
              <a:t>Columns are constructed next to each other above the same category- this makes it easy to compare. </a:t>
            </a:r>
            <a:br>
              <a:rPr lang="en-AU" sz="2000" dirty="0"/>
            </a:br>
            <a:endParaRPr lang="en-A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dirty="0"/>
              <a:t>Lets practise making a graph. </a:t>
            </a:r>
            <a:br>
              <a:rPr lang="en-AU" sz="2000" dirty="0"/>
            </a:br>
            <a:r>
              <a:rPr lang="en-AU" sz="2000" dirty="0"/>
              <a:t>A recent survey of 50 boys and 50 girls was conducted to determine their favourite car manufacturer from the brand listed. The results are listed below.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B9585C1-AAFD-4444-9FC5-6426BCF4E7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742345"/>
              </p:ext>
            </p:extLst>
          </p:nvPr>
        </p:nvGraphicFramePr>
        <p:xfrm>
          <a:off x="4167092" y="4474549"/>
          <a:ext cx="6024672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8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8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8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dirty="0"/>
                        <a:t>Car brand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Boys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Girls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Toyota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Subaru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Nissan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AU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3477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How does it look?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6230" y="598515"/>
            <a:ext cx="6281873" cy="1341121"/>
          </a:xfrm>
        </p:spPr>
        <p:txBody>
          <a:bodyPr/>
          <a:lstStyle/>
          <a:p>
            <a:r>
              <a:rPr lang="en-AU" dirty="0"/>
              <a:t>Looking at the graph, what can we see?</a:t>
            </a:r>
          </a:p>
          <a:p>
            <a:r>
              <a:rPr lang="en-AU" dirty="0"/>
              <a:t>Does our graph have all of the require features to be an informative graph? </a:t>
            </a: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5095466"/>
              </p:ext>
            </p:extLst>
          </p:nvPr>
        </p:nvGraphicFramePr>
        <p:xfrm>
          <a:off x="5093539" y="2149988"/>
          <a:ext cx="6281873" cy="37280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5506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Other comparison graphs- 3.14(pi)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dirty="0"/>
                  <a:t>Another type of graph that is useful for easily comparing data is a pie chart/ circle graph. </a:t>
                </a:r>
              </a:p>
              <a:p>
                <a:r>
                  <a:rPr lang="en-AU" dirty="0"/>
                  <a:t>It is made of sectors, each relating to a % of the total amount of data. </a:t>
                </a:r>
              </a:p>
              <a:p>
                <a:r>
                  <a:rPr lang="en-AU" dirty="0"/>
                  <a:t>Each sector size is determined by using the formula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charset="0"/>
                          </a:rPr>
                          <m:t>𝑥</m:t>
                        </m:r>
                      </m:num>
                      <m:den>
                        <m:r>
                          <a:rPr lang="en-AU" sz="2000" b="0" i="1" smtClean="0">
                            <a:latin typeface="Cambria Math" charset="0"/>
                          </a:rPr>
                          <m:t>𝑡</m:t>
                        </m:r>
                      </m:den>
                    </m:f>
                    <m:r>
                      <a:rPr lang="en-AU" sz="2000" b="0" i="1" smtClean="0">
                        <a:latin typeface="Cambria Math" charset="0"/>
                      </a:rPr>
                      <m:t> </m:t>
                    </m:r>
                    <m:r>
                      <a:rPr lang="en-AU" sz="20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 360</m:t>
                    </m:r>
                    <m:r>
                      <a:rPr lang="it-IT" sz="20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°</m:t>
                    </m:r>
                    <m:r>
                      <a:rPr lang="en-AU" sz="20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AU" sz="20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𝑠𝑒𝑐𝑡𝑜𝑟</m:t>
                    </m:r>
                    <m:r>
                      <a:rPr lang="en-AU" sz="20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AU" sz="20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𝑠𝑖𝑧𝑒</m:t>
                    </m:r>
                  </m:oMath>
                </a14:m>
                <a:endParaRPr lang="en-AU" sz="2000" b="0" dirty="0">
                  <a:ea typeface="Cambria Math" charset="0"/>
                  <a:cs typeface="Cambria Math" charset="0"/>
                </a:endParaRPr>
              </a:p>
              <a:p>
                <a:r>
                  <a:rPr lang="en-AU" dirty="0"/>
                  <a:t>X= portion amount  and T= total amount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1372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609600" y="787718"/>
            <a:ext cx="109728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609600" y="1276875"/>
            <a:ext cx="10972800" cy="1946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9714" y="80285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767986" y="1303713"/>
            <a:ext cx="0" cy="555428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9600" y="758888"/>
            <a:ext cx="109728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80" dirty="0"/>
              <a:t>EQ – What is a Pie graph?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0614" y="233721"/>
            <a:ext cx="2811411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80" b="1" dirty="0"/>
              <a:t>Topic : Graphs</a:t>
            </a:r>
            <a:endParaRPr lang="en-AU" sz="288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280B3B-6957-4D0B-97D0-E512AAC812A2}"/>
              </a:ext>
            </a:extLst>
          </p:cNvPr>
          <p:cNvSpPr txBox="1"/>
          <p:nvPr/>
        </p:nvSpPr>
        <p:spPr>
          <a:xfrm>
            <a:off x="8277801" y="163491"/>
            <a:ext cx="33046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80" dirty="0"/>
              <a:t>Date: 29/5/2018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E04F17A-C836-4A98-8465-58631A1AEDC4}"/>
                  </a:ext>
                </a:extLst>
              </p:cNvPr>
              <p:cNvSpPr/>
              <p:nvPr/>
            </p:nvSpPr>
            <p:spPr>
              <a:xfrm>
                <a:off x="2914995" y="1424247"/>
                <a:ext cx="8107680" cy="42798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AU" sz="2400" dirty="0"/>
                  <a:t>Another type of graph that is useful for easily comparing data is a pie chart/ circle graph. </a:t>
                </a:r>
                <a:br>
                  <a:rPr lang="en-AU" sz="2400" dirty="0"/>
                </a:br>
                <a:endParaRPr lang="en-AU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AU" sz="2400" dirty="0"/>
                  <a:t>It is made of sectors, each relating to a part of the total amount of data. </a:t>
                </a:r>
                <a:br>
                  <a:rPr lang="en-AU" sz="2400" dirty="0"/>
                </a:br>
                <a:endParaRPr lang="en-AU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AU" sz="2400" dirty="0"/>
                  <a:t>Each sector size is determined by using the formula</a:t>
                </a:r>
                <a:br>
                  <a:rPr lang="en-AU" sz="2400" dirty="0"/>
                </a:br>
                <a:endParaRPr lang="en-AU" sz="2400" dirty="0"/>
              </a:p>
              <a:p>
                <a:pPr algn="ctr"/>
                <a:r>
                  <a:rPr lang="en-AU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charset="0"/>
                          </a:rPr>
                          <m:t>𝑥</m:t>
                        </m:r>
                      </m:num>
                      <m:den>
                        <m:r>
                          <a:rPr lang="en-AU" sz="2400" i="1">
                            <a:latin typeface="Cambria Math" charset="0"/>
                          </a:rPr>
                          <m:t>𝑡</m:t>
                        </m:r>
                      </m:den>
                    </m:f>
                    <m:r>
                      <a:rPr lang="en-AU" sz="2400" i="1">
                        <a:latin typeface="Cambria Math" charset="0"/>
                      </a:rPr>
                      <m:t> </m:t>
                    </m:r>
                    <m:r>
                      <a:rPr lang="en-AU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× 360</m:t>
                    </m:r>
                    <m:r>
                      <a:rPr lang="it-IT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°</m:t>
                    </m:r>
                    <m:r>
                      <a:rPr lang="en-AU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AU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𝑠𝑒𝑐𝑡𝑜𝑟</m:t>
                    </m:r>
                    <m:r>
                      <a:rPr lang="en-AU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AU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𝑠𝑖𝑧𝑒</m:t>
                    </m:r>
                  </m:oMath>
                </a14:m>
                <a:endParaRPr lang="en-AU" sz="2400" dirty="0">
                  <a:ea typeface="Cambria Math" charset="0"/>
                  <a:cs typeface="Cambria Math" charset="0"/>
                </a:endParaRPr>
              </a:p>
              <a:p>
                <a:endParaRPr lang="en-AU" sz="2400" dirty="0">
                  <a:ea typeface="Cambria Math" charset="0"/>
                  <a:cs typeface="Cambria Math" charset="0"/>
                </a:endParaRPr>
              </a:p>
              <a:p>
                <a:pPr algn="ctr"/>
                <a:r>
                  <a:rPr lang="en-AU" sz="2400" dirty="0"/>
                  <a:t>x = categorical amount  and t = total amount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E04F17A-C836-4A98-8465-58631A1AED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4995" y="1424247"/>
                <a:ext cx="8107680" cy="4279826"/>
              </a:xfrm>
              <a:prstGeom prst="rect">
                <a:avLst/>
              </a:prstGeom>
              <a:blipFill>
                <a:blip r:embed="rId2"/>
                <a:stretch>
                  <a:fillRect l="-977" t="-1282" r="-752" b="-22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9957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609600" y="787718"/>
            <a:ext cx="109728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609600" y="1276875"/>
            <a:ext cx="10972800" cy="1946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9714" y="80285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767986" y="1303713"/>
            <a:ext cx="0" cy="555428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9600" y="758888"/>
            <a:ext cx="109728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80" dirty="0"/>
              <a:t>EQ – What is a Pie graph?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0614" y="233721"/>
            <a:ext cx="2811411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80" b="1" dirty="0"/>
              <a:t>Topic : Graphs</a:t>
            </a:r>
            <a:endParaRPr lang="en-AU" sz="288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280B3B-6957-4D0B-97D0-E512AAC812A2}"/>
              </a:ext>
            </a:extLst>
          </p:cNvPr>
          <p:cNvSpPr txBox="1"/>
          <p:nvPr/>
        </p:nvSpPr>
        <p:spPr>
          <a:xfrm>
            <a:off x="8277801" y="163491"/>
            <a:ext cx="33046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80" dirty="0"/>
              <a:t>Date: 29/5/2018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39280857-A12B-4954-8E82-EF01785D0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52075" y="1354285"/>
                <a:ext cx="7537843" cy="534022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Clr>
                    <a:schemeClr val="accent1"/>
                  </a:buClr>
                  <a:buSzPct val="110000"/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10000"/>
                  <a:buFont typeface="Wingdings" panose="05000000000000000000" pitchFamily="2" charset="2"/>
                  <a:buChar char="§"/>
                  <a:defRPr sz="16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10000"/>
                  <a:buFont typeface="Wingdings" panose="05000000000000000000" pitchFamily="2" charset="2"/>
                  <a:buChar char="§"/>
                  <a:defRPr sz="1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10000"/>
                  <a:buFont typeface="Wingdings" panose="05000000000000000000" pitchFamily="2" charset="2"/>
                  <a:buChar char="§"/>
                  <a:defRPr sz="1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10000"/>
                  <a:buFont typeface="Wingdings" panose="05000000000000000000" pitchFamily="2" charset="2"/>
                  <a:buChar char="§"/>
                  <a:defRPr sz="1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10000"/>
                  <a:buFont typeface="Wingdings" panose="05000000000000000000" pitchFamily="2" charset="2"/>
                  <a:buChar char="§"/>
                  <a:defRPr sz="1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10000"/>
                  <a:buFont typeface="Wingdings" panose="05000000000000000000" pitchFamily="2" charset="2"/>
                  <a:buChar char="§"/>
                  <a:defRPr sz="1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10000"/>
                  <a:buFont typeface="Wingdings" panose="05000000000000000000" pitchFamily="2" charset="2"/>
                  <a:buChar char="§"/>
                  <a:defRPr sz="1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10000"/>
                  <a:buFont typeface="Wingdings" panose="05000000000000000000" pitchFamily="2" charset="2"/>
                  <a:buChar char="§"/>
                  <a:defRPr sz="1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dirty="0"/>
                  <a:t>Pie graphs or pie charts are often used in budgeting/ finances. Using the table below, lets work out how many degrees each sector would be. </a:t>
                </a:r>
              </a:p>
              <a:p>
                <a:r>
                  <a:rPr lang="en-AU" dirty="0"/>
                  <a:t>Fill in the sector size below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pPr marL="0" indent="0">
                  <a:buNone/>
                </a:pPr>
                <a:endParaRPr lang="en-AU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g-BG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 charset="0"/>
                            </a:rPr>
                            <m:t>𝑥</m:t>
                          </m:r>
                        </m:num>
                        <m:den>
                          <m:r>
                            <a:rPr lang="en-AU" i="1">
                              <a:latin typeface="Cambria Math" charset="0"/>
                            </a:rPr>
                            <m:t>𝑡</m:t>
                          </m:r>
                        </m:den>
                      </m:f>
                      <m:r>
                        <a:rPr lang="en-AU" i="1">
                          <a:latin typeface="Cambria Math" charset="0"/>
                        </a:rPr>
                        <m:t> </m:t>
                      </m:r>
                      <m:r>
                        <a:rPr lang="en-AU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× 360</m:t>
                      </m:r>
                      <m:r>
                        <a:rPr lang="it-IT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°</m:t>
                      </m:r>
                      <m:r>
                        <a:rPr lang="en-AU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AU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𝑠𝑒𝑐𝑡𝑜𝑟</m:t>
                      </m:r>
                      <m:r>
                        <a:rPr lang="en-AU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 </m:t>
                      </m:r>
                      <m:r>
                        <a:rPr lang="en-AU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𝑠𝑖𝑧𝑒</m:t>
                      </m:r>
                    </m:oMath>
                  </m:oMathPara>
                </a14:m>
                <a:endParaRPr lang="en-AU" dirty="0">
                  <a:ea typeface="Cambria Math" charset="0"/>
                  <a:cs typeface="Cambria Math" charset="0"/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39280857-A12B-4954-8E82-EF01785D0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2075" y="1354285"/>
                <a:ext cx="7537843" cy="5340224"/>
              </a:xfrm>
              <a:prstGeom prst="rect">
                <a:avLst/>
              </a:prstGeom>
              <a:blipFill>
                <a:blip r:embed="rId2"/>
                <a:stretch>
                  <a:fillRect l="-6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0EFE0C4-4C74-49D6-9843-81423E01B4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347260"/>
              </p:ext>
            </p:extLst>
          </p:nvPr>
        </p:nvGraphicFramePr>
        <p:xfrm>
          <a:off x="3430386" y="2968220"/>
          <a:ext cx="6812915" cy="2225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5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9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79">
                <a:tc>
                  <a:txBody>
                    <a:bodyPr/>
                    <a:lstStyle/>
                    <a:p>
                      <a:r>
                        <a:rPr lang="en-AU" dirty="0"/>
                        <a:t>Spending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Amount ($) </a:t>
                      </a:r>
                      <a:r>
                        <a:rPr lang="en-AU" i="1" dirty="0"/>
                        <a:t>[x]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Sector size (</a:t>
                      </a:r>
                      <a:r>
                        <a:rPr lang="en-AU" baseline="30000" dirty="0"/>
                        <a:t>o</a:t>
                      </a:r>
                      <a:r>
                        <a:rPr lang="en-AU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79">
                <a:tc>
                  <a:txBody>
                    <a:bodyPr/>
                    <a:lstStyle/>
                    <a:p>
                      <a:r>
                        <a:rPr lang="en-AU" dirty="0"/>
                        <a:t>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79">
                <a:tc>
                  <a:txBody>
                    <a:bodyPr/>
                    <a:lstStyle/>
                    <a:p>
                      <a:r>
                        <a:rPr lang="en-AU" dirty="0"/>
                        <a:t>Car running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150.00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79">
                <a:tc>
                  <a:txBody>
                    <a:bodyPr/>
                    <a:lstStyle/>
                    <a:p>
                      <a:r>
                        <a:rPr lang="en-AU" dirty="0"/>
                        <a:t>Savings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350.00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79">
                <a:tc>
                  <a:txBody>
                    <a:bodyPr/>
                    <a:lstStyle/>
                    <a:p>
                      <a:r>
                        <a:rPr lang="en-AU" dirty="0"/>
                        <a:t>Clothing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79">
                <a:tc>
                  <a:txBody>
                    <a:bodyPr/>
                    <a:lstStyle/>
                    <a:p>
                      <a:r>
                        <a:rPr lang="en-AU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$1000.00 [t]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B5A5167-4989-4AD3-B6DB-630FE22736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185730"/>
              </p:ext>
            </p:extLst>
          </p:nvPr>
        </p:nvGraphicFramePr>
        <p:xfrm>
          <a:off x="8078762" y="2968456"/>
          <a:ext cx="284340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3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Sector size (</a:t>
                      </a:r>
                      <a:r>
                        <a:rPr lang="en-AU" baseline="30000" dirty="0"/>
                        <a:t>o</a:t>
                      </a:r>
                      <a:r>
                        <a:rPr lang="en-AU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400/1000x360 = </a:t>
                      </a:r>
                      <a:r>
                        <a:rPr lang="en-AU" b="1" dirty="0"/>
                        <a:t>144</a:t>
                      </a:r>
                      <a:r>
                        <a:rPr lang="en-AU" b="1" baseline="30000" dirty="0"/>
                        <a:t>o</a:t>
                      </a:r>
                      <a:endParaRPr lang="en-A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150/1000x360 = </a:t>
                      </a:r>
                      <a:r>
                        <a:rPr lang="en-AU" b="1" dirty="0"/>
                        <a:t>54</a:t>
                      </a:r>
                      <a:r>
                        <a:rPr lang="en-AU" b="1" baseline="30000" dirty="0"/>
                        <a:t>o</a:t>
                      </a:r>
                      <a:endParaRPr lang="en-A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350/1000x360 = </a:t>
                      </a:r>
                      <a:r>
                        <a:rPr lang="en-AU" b="1" dirty="0"/>
                        <a:t>126</a:t>
                      </a:r>
                      <a:r>
                        <a:rPr lang="en-AU" b="1" baseline="30000" dirty="0"/>
                        <a:t>o</a:t>
                      </a:r>
                      <a:endParaRPr lang="en-A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100/1000x360 = </a:t>
                      </a:r>
                      <a:r>
                        <a:rPr lang="en-AU" b="1" dirty="0"/>
                        <a:t>36</a:t>
                      </a:r>
                      <a:r>
                        <a:rPr lang="en-AU" b="1" baseline="30000" dirty="0"/>
                        <a:t>o</a:t>
                      </a:r>
                      <a:endParaRPr lang="en-A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144+54+126+36 = </a:t>
                      </a:r>
                      <a:r>
                        <a:rPr lang="en-AU" b="1" dirty="0"/>
                        <a:t>360</a:t>
                      </a:r>
                      <a:r>
                        <a:rPr lang="en-AU" b="1" baseline="30000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9933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Pie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1496" y="551466"/>
            <a:ext cx="6281873" cy="2456442"/>
          </a:xfrm>
        </p:spPr>
        <p:txBody>
          <a:bodyPr/>
          <a:lstStyle/>
          <a:p>
            <a:r>
              <a:rPr lang="en-AU" dirty="0"/>
              <a:t>Putting it together:</a:t>
            </a:r>
          </a:p>
          <a:p>
            <a:r>
              <a:rPr lang="en-AU" dirty="0"/>
              <a:t>Making a pie chart, we use the sector size and divide a circle into the degree amounts.</a:t>
            </a:r>
          </a:p>
          <a:p>
            <a:r>
              <a:rPr lang="en-AU" dirty="0"/>
              <a:t> </a:t>
            </a:r>
            <a:r>
              <a:rPr lang="en-AU" i="1" dirty="0"/>
              <a:t>TIP- If the degree amounts do not come out as whole numbers, check your rounding. You may end up with too many or too few degrees. </a:t>
            </a:r>
          </a:p>
          <a:p>
            <a:endParaRPr lang="en-AU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553533"/>
              </p:ext>
            </p:extLst>
          </p:nvPr>
        </p:nvGraphicFramePr>
        <p:xfrm>
          <a:off x="5118447" y="3434766"/>
          <a:ext cx="5303208" cy="3128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54813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609600" y="787718"/>
            <a:ext cx="109728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609600" y="1276875"/>
            <a:ext cx="10972800" cy="1946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9714" y="80285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767986" y="1303713"/>
            <a:ext cx="0" cy="555428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9600" y="758888"/>
            <a:ext cx="109728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80" dirty="0"/>
              <a:t>EQ – What is a spreadsheet?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0614" y="233721"/>
            <a:ext cx="2811411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80" b="1" dirty="0"/>
              <a:t>Topic : Graphs</a:t>
            </a:r>
            <a:endParaRPr lang="en-AU" sz="288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280B3B-6957-4D0B-97D0-E512AAC812A2}"/>
              </a:ext>
            </a:extLst>
          </p:cNvPr>
          <p:cNvSpPr txBox="1"/>
          <p:nvPr/>
        </p:nvSpPr>
        <p:spPr>
          <a:xfrm>
            <a:off x="8277801" y="163491"/>
            <a:ext cx="33046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80" dirty="0"/>
              <a:t>Date: 29/5/2018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D52E486-8B4E-48B6-B8BA-0DB7AB971D2E}"/>
              </a:ext>
            </a:extLst>
          </p:cNvPr>
          <p:cNvSpPr txBox="1">
            <a:spLocks/>
          </p:cNvSpPr>
          <p:nvPr/>
        </p:nvSpPr>
        <p:spPr>
          <a:xfrm>
            <a:off x="3142141" y="1445887"/>
            <a:ext cx="8384837" cy="52486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/>
              <a:t>Spreadsheets are used to track spending's and income across multiple months and years.</a:t>
            </a:r>
            <a:br>
              <a:rPr lang="en-AU" sz="2400" dirty="0"/>
            </a:br>
            <a:endParaRPr lang="en-AU" sz="2400" dirty="0"/>
          </a:p>
          <a:p>
            <a:r>
              <a:rPr lang="en-AU" sz="2400" dirty="0"/>
              <a:t>Lets look at a spreadsheet example and see how it can be used long-term. </a:t>
            </a:r>
          </a:p>
        </p:txBody>
      </p:sp>
    </p:spTree>
    <p:extLst>
      <p:ext uri="{BB962C8B-B14F-4D97-AF65-F5344CB8AC3E}">
        <p14:creationId xmlns:p14="http://schemas.microsoft.com/office/powerpoint/2010/main" val="699009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0876" y="325676"/>
            <a:ext cx="4384110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Georgia’s Budget is listed left. </a:t>
            </a:r>
          </a:p>
          <a:p>
            <a:r>
              <a:rPr lang="en-AU" sz="2000" dirty="0"/>
              <a:t>Using the information presented;</a:t>
            </a:r>
          </a:p>
          <a:p>
            <a:pPr marL="285750" indent="-285750">
              <a:buFontTx/>
              <a:buChar char="-"/>
            </a:pPr>
            <a:r>
              <a:rPr lang="en-AU" sz="2000" dirty="0"/>
              <a:t>Fill in the grey squares with the missing values</a:t>
            </a:r>
          </a:p>
          <a:p>
            <a:pPr marL="285750" indent="-285750">
              <a:buFontTx/>
              <a:buChar char="-"/>
            </a:pPr>
            <a:r>
              <a:rPr lang="en-AU" sz="2000" u="sng" dirty="0"/>
              <a:t>Answer the following:</a:t>
            </a:r>
          </a:p>
          <a:p>
            <a:pPr marL="742950" lvl="1" indent="-285750">
              <a:buFontTx/>
              <a:buChar char="-"/>
            </a:pPr>
            <a:r>
              <a:rPr lang="en-AU" sz="2000" dirty="0"/>
              <a:t>How much did her savings increase by? </a:t>
            </a:r>
          </a:p>
          <a:p>
            <a:pPr marL="742950" lvl="1" indent="-285750">
              <a:buFontTx/>
              <a:buChar char="-"/>
            </a:pPr>
            <a:r>
              <a:rPr lang="en-AU" sz="2000" dirty="0"/>
              <a:t>What Percentage of her total income was spent? </a:t>
            </a:r>
          </a:p>
          <a:p>
            <a:pPr marL="742950" lvl="1" indent="-285750">
              <a:buFontTx/>
              <a:buChar char="-"/>
            </a:pPr>
            <a:r>
              <a:rPr lang="en-AU" sz="2000" dirty="0"/>
              <a:t>Which month did she spend the largest proportion of her income? </a:t>
            </a:r>
          </a:p>
          <a:p>
            <a:pPr marL="742950" lvl="1" indent="-285750">
              <a:buFontTx/>
              <a:buChar char="-"/>
            </a:pPr>
            <a:r>
              <a:rPr lang="en-AU" sz="2000" dirty="0"/>
              <a:t>Which month had the lowest percentage of spending? </a:t>
            </a:r>
          </a:p>
          <a:p>
            <a:pPr marL="742950" lvl="1" indent="-285750">
              <a:buFontTx/>
              <a:buChar char="-"/>
            </a:pPr>
            <a:endParaRPr lang="en-AU" sz="2000" dirty="0"/>
          </a:p>
          <a:p>
            <a:pPr marL="285750" indent="-285750">
              <a:buFontTx/>
              <a:buChar char="-"/>
            </a:pPr>
            <a:r>
              <a:rPr lang="en-AU" sz="2000" dirty="0"/>
              <a:t>Using this information, construct a pie chart for the month of May. </a:t>
            </a:r>
          </a:p>
          <a:p>
            <a:pPr marL="742950" lvl="1" indent="-285750">
              <a:buFontTx/>
              <a:buChar char="-"/>
            </a:pPr>
            <a:endParaRPr lang="en-AU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1731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976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1874"/>
            <a:ext cx="6138138" cy="5842000"/>
          </a:xfrm>
        </p:spPr>
      </p:pic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623017"/>
              </p:ext>
            </p:extLst>
          </p:nvPr>
        </p:nvGraphicFramePr>
        <p:xfrm>
          <a:off x="6217277" y="0"/>
          <a:ext cx="5974723" cy="59124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37785" y="217965"/>
            <a:ext cx="6000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Below is the spreadsheet filled in, and an example of the pie chart.</a:t>
            </a:r>
          </a:p>
        </p:txBody>
      </p:sp>
    </p:spTree>
    <p:extLst>
      <p:ext uri="{BB962C8B-B14F-4D97-AF65-F5344CB8AC3E}">
        <p14:creationId xmlns:p14="http://schemas.microsoft.com/office/powerpoint/2010/main" val="1540170525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276</TotalTime>
  <Words>548</Words>
  <Application>Microsoft Office PowerPoint</Application>
  <PresentationFormat>Widescreen</PresentationFormat>
  <Paragraphs>118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 Light</vt:lpstr>
      <vt:lpstr>Cambria Math</vt:lpstr>
      <vt:lpstr>Rockwell</vt:lpstr>
      <vt:lpstr>Wingdings</vt:lpstr>
      <vt:lpstr>Atlas</vt:lpstr>
      <vt:lpstr>Graphing Practice </vt:lpstr>
      <vt:lpstr>Quick review</vt:lpstr>
      <vt:lpstr>PowerPoint Presentation</vt:lpstr>
      <vt:lpstr>How does it look?</vt:lpstr>
      <vt:lpstr>Other comparison graphs- 3.14(pi)</vt:lpstr>
      <vt:lpstr>PowerPoint Presentation</vt:lpstr>
      <vt:lpstr>PowerPoint Presentation</vt:lpstr>
      <vt:lpstr>Pie Chart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Graphing Practise</dc:title>
  <dc:creator>POWER Travis [Baldivis Secondary College]</dc:creator>
  <cp:lastModifiedBy>Magdeline LUM</cp:lastModifiedBy>
  <cp:revision>21</cp:revision>
  <cp:lastPrinted>2018-05-29T01:34:43Z</cp:lastPrinted>
  <dcterms:created xsi:type="dcterms:W3CDTF">2018-05-24T11:53:12Z</dcterms:created>
  <dcterms:modified xsi:type="dcterms:W3CDTF">2018-05-29T01:41:14Z</dcterms:modified>
</cp:coreProperties>
</file>
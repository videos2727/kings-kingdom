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18"/>
  </p:notesMasterIdLst>
  <p:handoutMasterIdLst>
    <p:handoutMasterId r:id="rId19"/>
  </p:handoutMasterIdLst>
  <p:sldIdLst>
    <p:sldId id="258" r:id="rId5"/>
    <p:sldId id="344" r:id="rId6"/>
    <p:sldId id="343" r:id="rId7"/>
    <p:sldId id="268" r:id="rId8"/>
    <p:sldId id="345" r:id="rId9"/>
    <p:sldId id="346" r:id="rId10"/>
    <p:sldId id="347" r:id="rId11"/>
    <p:sldId id="350" r:id="rId12"/>
    <p:sldId id="349" r:id="rId13"/>
    <p:sldId id="348" r:id="rId14"/>
    <p:sldId id="351" r:id="rId15"/>
    <p:sldId id="340" r:id="rId16"/>
    <p:sldId id="32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7" autoAdjust="0"/>
    <p:restoredTop sz="90026"/>
  </p:normalViewPr>
  <p:slideViewPr>
    <p:cSldViewPr snapToGrid="0">
      <p:cViewPr varScale="1">
        <p:scale>
          <a:sx n="105" d="100"/>
          <a:sy n="105" d="100"/>
        </p:scale>
        <p:origin x="200" y="408"/>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7/29/18</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7/29/18</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Teacher notes: Students are creating a </a:t>
            </a:r>
            <a:r>
              <a:rPr lang="en-US" dirty="0" smtClean="0"/>
              <a:t>post-it note histogram.</a:t>
            </a:r>
            <a:r>
              <a:rPr lang="en-US" baseline="0" dirty="0" smtClean="0"/>
              <a:t>  You </a:t>
            </a:r>
            <a:r>
              <a:rPr lang="en-US" baseline="0" dirty="0" smtClean="0"/>
              <a:t>can do this survey with anything else you might want (</a:t>
            </a:r>
            <a:r>
              <a:rPr lang="en-US" baseline="0" dirty="0" err="1" smtClean="0"/>
              <a:t>instagram</a:t>
            </a:r>
            <a:r>
              <a:rPr lang="en-US" baseline="0" dirty="0" smtClean="0"/>
              <a:t> followers, </a:t>
            </a:r>
            <a:r>
              <a:rPr lang="en-US" baseline="0" dirty="0" err="1" smtClean="0"/>
              <a:t>favourite</a:t>
            </a:r>
            <a:r>
              <a:rPr lang="en-US" baseline="0" dirty="0" smtClean="0"/>
              <a:t> </a:t>
            </a:r>
            <a:r>
              <a:rPr lang="en-US" baseline="0" dirty="0" err="1" smtClean="0"/>
              <a:t>colours</a:t>
            </a:r>
            <a:r>
              <a:rPr lang="en-US" baseline="0" dirty="0" smtClean="0"/>
              <a:t>, etc...)</a:t>
            </a:r>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3</a:t>
            </a:fld>
            <a:endParaRPr lang="uk-UA"/>
          </a:p>
        </p:txBody>
      </p:sp>
    </p:spTree>
    <p:extLst>
      <p:ext uri="{BB962C8B-B14F-4D97-AF65-F5344CB8AC3E}">
        <p14:creationId xmlns:p14="http://schemas.microsoft.com/office/powerpoint/2010/main" val="81570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12</a:t>
            </a:fld>
            <a:endParaRPr lang="uk-UA"/>
          </a:p>
        </p:txBody>
      </p:sp>
    </p:spTree>
    <p:extLst>
      <p:ext uri="{BB962C8B-B14F-4D97-AF65-F5344CB8AC3E}">
        <p14:creationId xmlns:p14="http://schemas.microsoft.com/office/powerpoint/2010/main" val="1609682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2832533" y="1371600"/>
            <a:ext cx="9359467"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2832533" y="4462272"/>
            <a:ext cx="9359467" cy="1033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bwMode="black">
          <a:xfrm>
            <a:off x="3175199" y="1943842"/>
            <a:ext cx="8500062" cy="2387600"/>
          </a:xfrm>
        </p:spPr>
        <p:txBody>
          <a:bodyPr anchor="b"/>
          <a:lstStyle>
            <a:lvl1pPr algn="l">
              <a:lnSpc>
                <a:spcPct val="90000"/>
              </a:lnSpc>
              <a:defRPr sz="6000" b="1">
                <a:solidFill>
                  <a:schemeClr val="tx1"/>
                </a:solidFill>
              </a:defRPr>
            </a:lvl1pPr>
          </a:lstStyle>
          <a:p>
            <a:r>
              <a:rPr/>
              <a:t>Click to edit Master title style</a:t>
            </a:r>
          </a:p>
        </p:txBody>
      </p:sp>
      <p:sp>
        <p:nvSpPr>
          <p:cNvPr id="3" name="Subtitle 2"/>
          <p:cNvSpPr>
            <a:spLocks noGrp="1"/>
          </p:cNvSpPr>
          <p:nvPr>
            <p:ph type="subTitle" idx="1"/>
          </p:nvPr>
        </p:nvSpPr>
        <p:spPr>
          <a:xfrm>
            <a:off x="3175199" y="4538659"/>
            <a:ext cx="8500062" cy="865321"/>
          </a:xfrm>
        </p:spPr>
        <p:txBody>
          <a:bodyPr/>
          <a:lstStyle>
            <a:lvl1pPr marL="0" indent="0" algn="l">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a:t>Click to edit Master subtitle style</a:t>
            </a:r>
          </a:p>
        </p:txBody>
      </p:sp>
      <p:sp>
        <p:nvSpPr>
          <p:cNvPr id="11" name="Date Placeholder 10"/>
          <p:cNvSpPr>
            <a:spLocks noGrp="1"/>
          </p:cNvSpPr>
          <p:nvPr>
            <p:ph type="dt" sz="half" idx="10"/>
          </p:nvPr>
        </p:nvSpPr>
        <p:spPr/>
        <p:txBody>
          <a:bodyPr/>
          <a:lstStyle/>
          <a:p>
            <a:fld id="{2CCFE9AC-F15C-4FA0-A6F1-298829FA691D}" type="datetimeFigureOut">
              <a:rPr lang="en-US"/>
              <a:t>7/29/18</a:t>
            </a:fld>
            <a:endParaRPr/>
          </a:p>
        </p:txBody>
      </p:sp>
      <p:sp>
        <p:nvSpPr>
          <p:cNvPr id="12" name="Footer Placeholder 11"/>
          <p:cNvSpPr>
            <a:spLocks noGrp="1"/>
          </p:cNvSpPr>
          <p:nvPr>
            <p:ph type="ftr" sz="quarter" idx="11"/>
          </p:nvPr>
        </p:nvSpPr>
        <p:spPr/>
        <p:txBody>
          <a:bodyPr/>
          <a:lstStyle/>
          <a:p>
            <a:endParaRPr/>
          </a:p>
        </p:txBody>
      </p:sp>
      <p:sp>
        <p:nvSpPr>
          <p:cNvPr id="13" name="Slide Number Placeholder 12"/>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Content Placeholder 2"/>
          <p:cNvSpPr>
            <a:spLocks noGrp="1"/>
          </p:cNvSpPr>
          <p:nvPr>
            <p:ph idx="1"/>
          </p:nvPr>
        </p:nvSpPr>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2CCFE9AC-F15C-4FA0-A6F1-298829FA691D}" type="datetimeFigureOut">
              <a:rPr lang="en-US"/>
              <a:t>7/29/18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3502152" y="-20637"/>
            <a:ext cx="7315200" cy="434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3502152" y="4462272"/>
            <a:ext cx="7315200" cy="1719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3838015" y="658346"/>
            <a:ext cx="6597464" cy="3664417"/>
          </a:xfrm>
        </p:spPr>
        <p:txBody>
          <a:bodyPr anchor="b">
            <a:normAutofit/>
          </a:bodyPr>
          <a:lstStyle>
            <a:lvl1pPr>
              <a:lnSpc>
                <a:spcPct val="90000"/>
              </a:lnSpc>
              <a:defRPr sz="5000" b="1">
                <a:solidFill>
                  <a:schemeClr val="tx1"/>
                </a:solidFill>
              </a:defRPr>
            </a:lvl1pPr>
          </a:lstStyle>
          <a:p>
            <a:r>
              <a:rPr/>
              <a:t>Click to edit Master title style</a:t>
            </a:r>
          </a:p>
        </p:txBody>
      </p:sp>
      <p:sp>
        <p:nvSpPr>
          <p:cNvPr id="3" name="Text Placeholder 2"/>
          <p:cNvSpPr>
            <a:spLocks noGrp="1"/>
          </p:cNvSpPr>
          <p:nvPr>
            <p:ph type="body" idx="1"/>
          </p:nvPr>
        </p:nvSpPr>
        <p:spPr>
          <a:xfrm>
            <a:off x="3838014" y="4589463"/>
            <a:ext cx="6597465" cy="1500187"/>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p:txBody>
          <a:bodyPr/>
          <a:lstStyle/>
          <a:p>
            <a:fld id="{2CCFE9AC-F15C-4FA0-A6F1-298829FA691D}" type="datetimeFigureOut">
              <a:rPr lang="en-US"/>
              <a:t>7/29/18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8245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Content Placeholder 2"/>
          <p:cNvSpPr>
            <a:spLocks noGrp="1"/>
          </p:cNvSpPr>
          <p:nvPr>
            <p:ph sz="half" idx="1"/>
          </p:nvPr>
        </p:nvSpPr>
        <p:spPr>
          <a:xfrm>
            <a:off x="1280160" y="2194560"/>
            <a:ext cx="4489704" cy="3986784"/>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Content Placeholder 3"/>
          <p:cNvSpPr>
            <a:spLocks noGrp="1"/>
          </p:cNvSpPr>
          <p:nvPr>
            <p:ph sz="half" idx="2"/>
          </p:nvPr>
        </p:nvSpPr>
        <p:spPr>
          <a:xfrm>
            <a:off x="6415368" y="2194560"/>
            <a:ext cx="4493424" cy="3986784"/>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5" name="Date Placeholder 4"/>
          <p:cNvSpPr>
            <a:spLocks noGrp="1"/>
          </p:cNvSpPr>
          <p:nvPr>
            <p:ph type="dt" sz="half" idx="10"/>
          </p:nvPr>
        </p:nvSpPr>
        <p:spPr/>
        <p:txBody>
          <a:bodyPr/>
          <a:lstStyle/>
          <a:p>
            <a:fld id="{2CCFE9AC-F15C-4FA0-A6F1-298829FA691D}" type="datetimeFigureOut">
              <a:rPr lang="en-US"/>
              <a:t>7/29/18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Text Placeholder 2"/>
          <p:cNvSpPr>
            <a:spLocks noGrp="1"/>
          </p:cNvSpPr>
          <p:nvPr>
            <p:ph type="body" idx="1"/>
          </p:nvPr>
        </p:nvSpPr>
        <p:spPr>
          <a:xfrm>
            <a:off x="1280160"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edit Master text styles</a:t>
            </a:r>
          </a:p>
        </p:txBody>
      </p:sp>
      <p:sp>
        <p:nvSpPr>
          <p:cNvPr id="4" name="Content Placeholder 3"/>
          <p:cNvSpPr>
            <a:spLocks noGrp="1"/>
          </p:cNvSpPr>
          <p:nvPr>
            <p:ph sz="half" idx="2"/>
          </p:nvPr>
        </p:nvSpPr>
        <p:spPr>
          <a:xfrm>
            <a:off x="1280160" y="2743194"/>
            <a:ext cx="4489704" cy="3433769"/>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5" name="Text Placeholder 4"/>
          <p:cNvSpPr>
            <a:spLocks noGrp="1"/>
          </p:cNvSpPr>
          <p:nvPr>
            <p:ph type="body" sz="quarter" idx="3"/>
          </p:nvPr>
        </p:nvSpPr>
        <p:spPr>
          <a:xfrm>
            <a:off x="6419088"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edit Master text styles</a:t>
            </a:r>
          </a:p>
        </p:txBody>
      </p:sp>
      <p:sp>
        <p:nvSpPr>
          <p:cNvPr id="6" name="Content Placeholder 5"/>
          <p:cNvSpPr>
            <a:spLocks noGrp="1"/>
          </p:cNvSpPr>
          <p:nvPr>
            <p:ph sz="quarter" idx="4"/>
          </p:nvPr>
        </p:nvSpPr>
        <p:spPr>
          <a:xfrm>
            <a:off x="6419088" y="2743194"/>
            <a:ext cx="4489704" cy="3433769"/>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7" name="Date Placeholder 6"/>
          <p:cNvSpPr>
            <a:spLocks noGrp="1"/>
          </p:cNvSpPr>
          <p:nvPr>
            <p:ph type="dt" sz="half" idx="10"/>
          </p:nvPr>
        </p:nvSpPr>
        <p:spPr/>
        <p:txBody>
          <a:bodyPr/>
          <a:lstStyle/>
          <a:p>
            <a:fld id="{2CCFE9AC-F15C-4FA0-A6F1-298829FA691D}" type="datetimeFigureOut">
              <a:rPr lang="en-US"/>
              <a:t>7/29/18</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Date Placeholder 2"/>
          <p:cNvSpPr>
            <a:spLocks noGrp="1"/>
          </p:cNvSpPr>
          <p:nvPr>
            <p:ph type="dt" sz="half" idx="10"/>
          </p:nvPr>
        </p:nvSpPr>
        <p:spPr/>
        <p:txBody>
          <a:bodyPr/>
          <a:lstStyle/>
          <a:p>
            <a:fld id="{2CCFE9AC-F15C-4FA0-A6F1-298829FA691D}" type="datetimeFigureOut">
              <a:rPr lang="en-US"/>
              <a:t>7/29/18</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FE9AC-F15C-4FA0-A6F1-298829FA691D}" type="datetimeFigureOut">
              <a:rPr lang="en-US"/>
              <a:t>7/29/18</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a:t>Click to edit Master title style</a:t>
            </a:r>
          </a:p>
        </p:txBody>
      </p:sp>
      <p:sp>
        <p:nvSpPr>
          <p:cNvPr id="3" name="Content Placeholder 2"/>
          <p:cNvSpPr>
            <a:spLocks noGrp="1"/>
          </p:cNvSpPr>
          <p:nvPr>
            <p:ph idx="1"/>
          </p:nvPr>
        </p:nvSpPr>
        <p:spPr>
          <a:xfrm>
            <a:off x="5518896" y="2465294"/>
            <a:ext cx="5389895" cy="4392706"/>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Text Placeholder 3"/>
          <p:cNvSpPr>
            <a:spLocks noGrp="1"/>
          </p:cNvSpPr>
          <p:nvPr>
            <p:ph type="body" sz="half" idx="2"/>
          </p:nvPr>
        </p:nvSpPr>
        <p:spPr>
          <a:xfrm>
            <a:off x="1291818" y="2465294"/>
            <a:ext cx="3834874" cy="3711669"/>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7/29/18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a:t>Click to edit Master title style</a:t>
            </a:r>
          </a:p>
        </p:txBody>
      </p:sp>
      <p:sp>
        <p:nvSpPr>
          <p:cNvPr id="3" name="Picture Placeholder 2"/>
          <p:cNvSpPr>
            <a:spLocks noGrp="1"/>
          </p:cNvSpPr>
          <p:nvPr>
            <p:ph type="pic" idx="1"/>
          </p:nvPr>
        </p:nvSpPr>
        <p:spPr>
          <a:xfrm>
            <a:off x="5518896" y="1828456"/>
            <a:ext cx="5389895" cy="5029544"/>
          </a:xfrm>
        </p:spPr>
        <p:txBody>
          <a:bodyPr tIns="13716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291819" y="2465293"/>
            <a:ext cx="3834874" cy="3711669"/>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7/29/18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16136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Vertical Text Placeholder 2"/>
          <p:cNvSpPr>
            <a:spLocks noGrp="1"/>
          </p:cNvSpPr>
          <p:nvPr>
            <p:ph type="body" orient="vert" idx="1"/>
          </p:nvPr>
        </p:nvSpPr>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2CCFE9AC-F15C-4FA0-A6F1-298829FA691D}" type="datetimeFigureOut">
              <a:rPr lang="en-US"/>
              <a:t>7/29/18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64405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378199" y="462249"/>
            <a:ext cx="9693088" cy="5714714"/>
          </a:xfrm>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a:xfrm>
            <a:off x="378199" y="6356350"/>
            <a:ext cx="1971947" cy="365125"/>
          </a:xfrm>
        </p:spPr>
        <p:txBody>
          <a:bodyPr/>
          <a:lstStyle/>
          <a:p>
            <a:fld id="{2CCFE9AC-F15C-4FA0-A6F1-298829FA691D}" type="datetimeFigureOut">
              <a:rPr lang="en-US"/>
              <a:t>7/29/18</a:t>
            </a:fld>
            <a:endParaRPr/>
          </a:p>
        </p:txBody>
      </p:sp>
      <p:sp>
        <p:nvSpPr>
          <p:cNvPr id="5" name="Footer Placeholder 4"/>
          <p:cNvSpPr>
            <a:spLocks noGrp="1"/>
          </p:cNvSpPr>
          <p:nvPr>
            <p:ph type="ftr" sz="quarter" idx="11"/>
          </p:nvPr>
        </p:nvSpPr>
        <p:spPr>
          <a:xfrm>
            <a:off x="2382374" y="6356350"/>
            <a:ext cx="5687786" cy="365125"/>
          </a:xfrm>
        </p:spPr>
        <p:txBody>
          <a:bodyPr/>
          <a:lstStyle/>
          <a:p>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rot="5400000">
            <a:off x="7523375" y="2743540"/>
            <a:ext cx="6857433" cy="1371487"/>
          </a:xfrm>
          <a:prstGeom prst="rect">
            <a:avLst/>
          </a:prstGeom>
        </p:spPr>
      </p:pic>
      <p:sp>
        <p:nvSpPr>
          <p:cNvPr id="10" name="Rectangle 9"/>
          <p:cNvSpPr/>
          <p:nvPr/>
        </p:nvSpPr>
        <p:spPr>
          <a:xfrm rot="5400000">
            <a:off x="8267671" y="3370131"/>
            <a:ext cx="6858000"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266348" y="462249"/>
            <a:ext cx="1370886" cy="5714714"/>
          </a:xfrm>
        </p:spPr>
        <p:txBody>
          <a:bodyPr vert="eaVert"/>
          <a:lstStyle/>
          <a:p>
            <a:r>
              <a:rPr/>
              <a:t>Click to edit Master title style</a:t>
            </a:r>
          </a:p>
        </p:txBody>
      </p:sp>
      <p:sp>
        <p:nvSpPr>
          <p:cNvPr id="6" name="Slide Number Placeholder 5"/>
          <p:cNvSpPr>
            <a:spLocks noGrp="1"/>
          </p:cNvSpPr>
          <p:nvPr>
            <p:ph type="sldNum" sz="quarter" idx="12"/>
          </p:nvPr>
        </p:nvSpPr>
        <p:spPr>
          <a:xfrm>
            <a:off x="8102389" y="6356350"/>
            <a:ext cx="1968898" cy="365125"/>
          </a:xfrm>
        </p:spPr>
        <p:txBody>
          <a:bodyPr/>
          <a:lstStyle/>
          <a:p>
            <a:fld id="{BD266BE7-899D-4075-917F-DBDE33B6B692}" type="slidenum">
              <a:rPr/>
              <a:t>‹#›</a:t>
            </a:fld>
            <a:endParaRPr/>
          </a:p>
        </p:txBody>
      </p:sp>
    </p:spTree>
    <p:extLst>
      <p:ext uri="{BB962C8B-B14F-4D97-AF65-F5344CB8AC3E}">
        <p14:creationId xmlns:p14="http://schemas.microsoft.com/office/powerpoint/2010/main" val="30294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347472"/>
            <a:ext cx="12188952"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bwMode="invGray">
          <a:xfrm>
            <a:off x="0" y="457200"/>
            <a:ext cx="12188952" cy="1371257"/>
          </a:xfrm>
          <a:prstGeom prst="rect">
            <a:avLst/>
          </a:prstGeom>
        </p:spPr>
      </p:pic>
      <p:sp>
        <p:nvSpPr>
          <p:cNvPr id="2" name="Title Placeholder 1"/>
          <p:cNvSpPr>
            <a:spLocks noGrp="1"/>
          </p:cNvSpPr>
          <p:nvPr>
            <p:ph type="title"/>
          </p:nvPr>
        </p:nvSpPr>
        <p:spPr bwMode="black">
          <a:xfrm>
            <a:off x="1280160" y="466343"/>
            <a:ext cx="9628632" cy="1362113"/>
          </a:xfrm>
          <a:prstGeom prst="rect">
            <a:avLst/>
          </a:prstGeom>
        </p:spPr>
        <p:txBody>
          <a:bodyPr vert="horz" lIns="91440" tIns="45720" rIns="91440" bIns="45720" rtlCol="0" anchor="ctr">
            <a:normAutofit/>
          </a:bodyPr>
          <a:lstStyle/>
          <a:p>
            <a:r>
              <a:rPr/>
              <a:t>Click to edit Master title style</a:t>
            </a:r>
          </a:p>
        </p:txBody>
      </p:sp>
      <p:sp>
        <p:nvSpPr>
          <p:cNvPr id="3" name="Text Placeholder 2"/>
          <p:cNvSpPr>
            <a:spLocks noGrp="1"/>
          </p:cNvSpPr>
          <p:nvPr>
            <p:ph type="body" idx="1"/>
          </p:nvPr>
        </p:nvSpPr>
        <p:spPr>
          <a:xfrm>
            <a:off x="1280160" y="2190749"/>
            <a:ext cx="9628632" cy="3986213"/>
          </a:xfrm>
          <a:prstGeom prst="rect">
            <a:avLst/>
          </a:prstGeom>
        </p:spPr>
        <p:txBody>
          <a:bodyPr vert="horz" lIns="91440" tIns="45720" rIns="91440" bIns="45720" rtlCol="0">
            <a:normAutofit/>
          </a:bodyPr>
          <a:lstStyle/>
          <a:p>
            <a:pPr lvl="0"/>
            <a:r>
              <a:rPr/>
              <a:t>Click to edit Master text styles</a:t>
            </a:r>
          </a:p>
          <a:p>
            <a:pPr lvl="1"/>
            <a:r>
              <a:rPr/>
              <a:t>Second level</a:t>
            </a:r>
          </a:p>
          <a:p>
            <a:pPr lvl="2"/>
            <a:r>
              <a:rPr/>
              <a:t>Third level</a:t>
            </a:r>
          </a:p>
          <a:p>
            <a:pPr lvl="3"/>
            <a:r>
              <a:rPr/>
              <a:t>Fourth level</a:t>
            </a:r>
          </a:p>
          <a:p>
            <a:pPr lvl="4"/>
            <a:r>
              <a:rPr/>
              <a:t>Fifth level</a:t>
            </a:r>
          </a:p>
          <a:p>
            <a:pPr lvl="5"/>
            <a:r>
              <a:rPr/>
              <a:t>Sixth</a:t>
            </a:r>
          </a:p>
          <a:p>
            <a:pPr lvl="6"/>
            <a:r>
              <a:rPr/>
              <a:t>Seventh</a:t>
            </a:r>
          </a:p>
          <a:p>
            <a:pPr lvl="7"/>
            <a:r>
              <a:rPr/>
              <a:t>Eighth</a:t>
            </a:r>
          </a:p>
          <a:p>
            <a:pPr lvl="8"/>
            <a:r>
              <a:rPr/>
              <a:t>Ninth</a:t>
            </a:r>
          </a:p>
        </p:txBody>
      </p:sp>
      <p:sp>
        <p:nvSpPr>
          <p:cNvPr id="4" name="Date Placeholder 3"/>
          <p:cNvSpPr>
            <a:spLocks noGrp="1"/>
          </p:cNvSpPr>
          <p:nvPr>
            <p:ph type="dt" sz="half" idx="2"/>
          </p:nvPr>
        </p:nvSpPr>
        <p:spPr>
          <a:xfrm>
            <a:off x="1280160" y="6356350"/>
            <a:ext cx="197194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CFE9AC-F15C-4FA0-A6F1-298829FA691D}" type="datetimeFigureOut">
              <a:rPr lang="en-US"/>
              <a:t>7/29/18</a:t>
            </a:fld>
            <a:endParaRPr/>
          </a:p>
        </p:txBody>
      </p:sp>
      <p:sp>
        <p:nvSpPr>
          <p:cNvPr id="5" name="Footer Placeholder 4"/>
          <p:cNvSpPr>
            <a:spLocks noGrp="1"/>
          </p:cNvSpPr>
          <p:nvPr>
            <p:ph type="ftr" sz="quarter" idx="3"/>
          </p:nvPr>
        </p:nvSpPr>
        <p:spPr>
          <a:xfrm>
            <a:off x="3252107" y="6356350"/>
            <a:ext cx="5687786"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8939894" y="6356350"/>
            <a:ext cx="196889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266BE7-899D-4075-917F-DBDE33B6B692}" type="slidenum">
              <a:rPr/>
              <a:t>‹#›</a:t>
            </a:fld>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4" Type="http://schemas.openxmlformats.org/officeDocument/2006/relationships/image" Target="../media/image8.png"/><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Statistical Analysis</a:t>
            </a:r>
            <a:endParaRPr lang="en-US" dirty="0"/>
          </a:p>
        </p:txBody>
      </p:sp>
      <p:sp>
        <p:nvSpPr>
          <p:cNvPr id="3" name="Subtitle 2"/>
          <p:cNvSpPr>
            <a:spLocks noGrp="1"/>
          </p:cNvSpPr>
          <p:nvPr>
            <p:ph type="subTitle" idx="1"/>
          </p:nvPr>
        </p:nvSpPr>
        <p:spPr>
          <a:xfrm>
            <a:off x="2816352" y="4596384"/>
            <a:ext cx="9375647" cy="826516"/>
          </a:xfrm>
        </p:spPr>
        <p:txBody>
          <a:bodyPr>
            <a:noAutofit/>
          </a:bodyPr>
          <a:lstStyle/>
          <a:p>
            <a:r>
              <a:rPr lang="en-US" sz="2000" dirty="0" smtClean="0"/>
              <a:t>Topic: </a:t>
            </a:r>
            <a:r>
              <a:rPr lang="en-US" sz="2000" dirty="0" smtClean="0"/>
              <a:t>Histograms</a:t>
            </a:r>
            <a:endParaRPr lang="en-US" sz="2000" dirty="0" smtClean="0"/>
          </a:p>
          <a:p>
            <a:r>
              <a:rPr lang="en-US" sz="2000" dirty="0" smtClean="0"/>
              <a:t>EQ: What </a:t>
            </a:r>
            <a:r>
              <a:rPr lang="en-US" sz="2000" dirty="0" smtClean="0"/>
              <a:t>can the shape of a histogram tell us about it?</a:t>
            </a:r>
            <a:endParaRPr lang="en-US" sz="2000" dirty="0"/>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181" y="575731"/>
            <a:ext cx="8229600" cy="1143000"/>
          </a:xfrm>
        </p:spPr>
        <p:txBody>
          <a:bodyPr/>
          <a:lstStyle/>
          <a:p>
            <a:r>
              <a:rPr lang="en-GB" dirty="0" smtClean="0"/>
              <a:t>Review from last class...</a:t>
            </a:r>
            <a:endParaRPr lang="en-GB" dirty="0"/>
          </a:p>
        </p:txBody>
      </p:sp>
      <p:graphicFrame>
        <p:nvGraphicFramePr>
          <p:cNvPr id="6" name="Table 5"/>
          <p:cNvGraphicFramePr>
            <a:graphicFrameLocks noGrp="1"/>
          </p:cNvGraphicFramePr>
          <p:nvPr>
            <p:extLst>
              <p:ext uri="{D42A27DB-BD31-4B8C-83A1-F6EECF244321}">
                <p14:modId xmlns:p14="http://schemas.microsoft.com/office/powerpoint/2010/main" val="438427304"/>
              </p:ext>
            </p:extLst>
          </p:nvPr>
        </p:nvGraphicFramePr>
        <p:xfrm>
          <a:off x="2668116" y="1990774"/>
          <a:ext cx="5372100" cy="2427986"/>
        </p:xfrm>
        <a:graphic>
          <a:graphicData uri="http://schemas.openxmlformats.org/drawingml/2006/table">
            <a:tbl>
              <a:tblPr/>
              <a:tblGrid>
                <a:gridCol w="2537460"/>
                <a:gridCol w="179705"/>
                <a:gridCol w="368935"/>
                <a:gridCol w="2286000"/>
              </a:tblGrid>
              <a:tr h="0">
                <a:tc>
                  <a:txBody>
                    <a:bodyPr/>
                    <a:lstStyle/>
                    <a:p>
                      <a:pPr algn="ctr">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endParaRPr lang="en-GB" sz="1600" dirty="0">
                        <a:latin typeface="+mn-lt"/>
                        <a:ea typeface="Times New Roman"/>
                      </a:endParaRPr>
                    </a:p>
                    <a:p>
                      <a:pPr algn="ctr">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                            8  7 </a:t>
                      </a:r>
                    </a:p>
                    <a:p>
                      <a:pPr algn="ctr">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                         4  2  0</a:t>
                      </a:r>
                    </a:p>
                    <a:p>
                      <a:pPr algn="ctr">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                      9  8  6  5 </a:t>
                      </a:r>
                    </a:p>
                    <a:p>
                      <a:pPr algn="ctr">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                   4  4  4  3  1</a:t>
                      </a:r>
                    </a:p>
                    <a:p>
                      <a:pPr algn="ctr">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                                6</a:t>
                      </a: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endParaRPr lang="en-GB" sz="1600">
                        <a:latin typeface="+mn-lt"/>
                        <a:ea typeface="Times New Roman"/>
                      </a:endParaRP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a:latin typeface="+mn-lt"/>
                          <a:ea typeface="Times New Roman"/>
                        </a:rPr>
                        <a:t>                              </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a:latin typeface="+mn-lt"/>
                          <a:ea typeface="Times New Roman"/>
                        </a:rPr>
                        <a:t>                          </a:t>
                      </a: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c>
                  <a:txBody>
                    <a:bodyPr/>
                    <a:lstStyle/>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2</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3</a:t>
                      </a:r>
                      <a:endParaRPr lang="en-GB" sz="1600" dirty="0">
                        <a:latin typeface="+mn-lt"/>
                        <a:ea typeface="Times New Roman"/>
                      </a:endParaRP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4</a:t>
                      </a:r>
                      <a:endParaRPr lang="en-GB" sz="1600" dirty="0">
                        <a:latin typeface="+mn-lt"/>
                        <a:ea typeface="Times New Roman"/>
                      </a:endParaRP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5</a:t>
                      </a:r>
                      <a:endParaRPr lang="en-GB" sz="1600" dirty="0">
                        <a:latin typeface="+mn-lt"/>
                        <a:ea typeface="Times New Roman"/>
                      </a:endParaRP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6</a:t>
                      </a:r>
                      <a:endParaRPr lang="en-GB" sz="1600" dirty="0">
                        <a:latin typeface="+mn-lt"/>
                        <a:ea typeface="Times New Roman"/>
                      </a:endParaRP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7</a:t>
                      </a:r>
                      <a:endParaRPr lang="en-GB" sz="1600" dirty="0">
                        <a:latin typeface="+mn-lt"/>
                        <a:ea typeface="Times New Roman"/>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3   4   4</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6   6   7   8   8   9</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0   0   0   1   2</a:t>
                      </a:r>
                    </a:p>
                    <a:p>
                      <a:pPr algn="l">
                        <a:lnSpc>
                          <a:spcPct val="115000"/>
                        </a:lnSpc>
                        <a:spcBef>
                          <a:spcPts val="600"/>
                        </a:spcBef>
                        <a:spcAft>
                          <a:spcPts val="60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sz="1600" dirty="0">
                          <a:latin typeface="+mn-lt"/>
                          <a:ea typeface="Times New Roman"/>
                        </a:rPr>
                        <a:t>5</a:t>
                      </a:r>
                    </a:p>
                  </a:txBody>
                  <a:tcPr marL="68580" marR="68580" marT="0" marB="0">
                    <a:lnL w="12700" cap="flat" cmpd="sng" algn="ctr">
                      <a:solidFill>
                        <a:srgbClr val="000000"/>
                      </a:solidFill>
                      <a:prstDash val="solid"/>
                      <a:round/>
                      <a:headEnd type="none" w="med" len="med"/>
                      <a:tailEnd type="none" w="med" len="med"/>
                    </a:lnL>
                    <a:lnR>
                      <a:noFill/>
                    </a:lnR>
                    <a:lnT>
                      <a:noFill/>
                    </a:lnT>
                    <a:lnB>
                      <a:noFill/>
                    </a:lnB>
                  </a:tcPr>
                </a:tc>
              </a:tr>
            </a:tbl>
          </a:graphicData>
        </a:graphic>
      </p:graphicFrame>
      <p:sp>
        <p:nvSpPr>
          <p:cNvPr id="1026" name="Rectangle 2"/>
          <p:cNvSpPr>
            <a:spLocks noChangeArrowheads="1"/>
          </p:cNvSpPr>
          <p:nvPr/>
        </p:nvSpPr>
        <p:spPr bwMode="auto">
          <a:xfrm>
            <a:off x="8129426" y="3470272"/>
            <a:ext cx="2627784" cy="64633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b="1" dirty="0">
                <a:ea typeface="Times New Roman" pitchFamily="18" charset="0"/>
                <a:cs typeface="Arial" pitchFamily="34" charset="0"/>
              </a:rPr>
              <a:t>Key:</a:t>
            </a:r>
            <a:endParaRPr lang="en-GB" dirty="0">
              <a:ea typeface="Times New Roman" pitchFamily="18" charset="0"/>
              <a:cs typeface="Arial" pitchFamily="34" charset="0"/>
            </a:endParaRPr>
          </a:p>
          <a:p>
            <a:pPr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Lst>
            </a:pPr>
            <a:r>
              <a:rPr lang="en-GB" dirty="0">
                <a:ea typeface="Times New Roman" pitchFamily="18" charset="0"/>
                <a:cs typeface="Arial" pitchFamily="34" charset="0"/>
              </a:rPr>
              <a:t>   2  </a:t>
            </a:r>
            <a:r>
              <a:rPr lang="en-GB" dirty="0">
                <a:ea typeface="Times New Roman" pitchFamily="18" charset="0"/>
                <a:cs typeface="Arial" pitchFamily="34" charset="0"/>
              </a:rPr>
              <a:t>|</a:t>
            </a:r>
            <a:r>
              <a:rPr lang="en-GB" dirty="0">
                <a:ea typeface="Times New Roman" pitchFamily="18" charset="0"/>
                <a:cs typeface="Arial" pitchFamily="34" charset="0"/>
              </a:rPr>
              <a:t>  3 means 23 </a:t>
            </a:r>
            <a:r>
              <a:rPr lang="en-GB" dirty="0" smtClean="0">
                <a:ea typeface="Times New Roman" pitchFamily="18" charset="0"/>
                <a:cs typeface="Arial" pitchFamily="34" charset="0"/>
              </a:rPr>
              <a:t>km/h</a:t>
            </a:r>
            <a:r>
              <a:rPr lang="en-GB" dirty="0" smtClean="0">
                <a:cs typeface="Arial" pitchFamily="34" charset="0"/>
              </a:rPr>
              <a:t> </a:t>
            </a:r>
            <a:endParaRPr lang="en-GB" dirty="0">
              <a:cs typeface="Arial" pitchFamily="34" charset="0"/>
            </a:endParaRPr>
          </a:p>
        </p:txBody>
      </p:sp>
      <p:sp>
        <p:nvSpPr>
          <p:cNvPr id="1027" name="Rectangle 3"/>
          <p:cNvSpPr>
            <a:spLocks noChangeArrowheads="1"/>
          </p:cNvSpPr>
          <p:nvPr/>
        </p:nvSpPr>
        <p:spPr bwMode="auto">
          <a:xfrm>
            <a:off x="245329" y="4457283"/>
            <a:ext cx="11753384" cy="193899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indent="-457200" fontAlgn="base">
              <a:spcBef>
                <a:spcPct val="0"/>
              </a:spcBef>
              <a:spcAft>
                <a:spcPct val="0"/>
              </a:spcAft>
              <a:buFont typeface="+mj-lt"/>
              <a:buAutoNum type="alphaLcParen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Lst>
            </a:pPr>
            <a:r>
              <a:rPr lang="en-GB" sz="2400" dirty="0">
                <a:ea typeface="Times New Roman" pitchFamily="18" charset="0"/>
                <a:cs typeface="Arial" pitchFamily="34" charset="0"/>
              </a:rPr>
              <a:t>Suppose that the above presented data is taken from two different roads, what conclusions could you make about the two roads?</a:t>
            </a:r>
          </a:p>
          <a:p>
            <a:pPr marL="457200" indent="-457200" fontAlgn="base">
              <a:spcBef>
                <a:spcPct val="0"/>
              </a:spcBef>
              <a:spcAft>
                <a:spcPct val="0"/>
              </a:spcAft>
              <a:buFont typeface="+mj-lt"/>
              <a:buAutoNum type="alphaLcParen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Lst>
            </a:pPr>
            <a:endParaRPr lang="en-GB" sz="2400" dirty="0">
              <a:cs typeface="Arial" pitchFamily="34" charset="0"/>
            </a:endParaRPr>
          </a:p>
          <a:p>
            <a:pPr marL="457200" indent="-457200" eaLnBrk="0" fontAlgn="base" hangingPunct="0">
              <a:spcBef>
                <a:spcPct val="0"/>
              </a:spcBef>
              <a:spcAft>
                <a:spcPct val="0"/>
              </a:spcAft>
              <a:buFont typeface="+mj-lt"/>
              <a:buAutoNum type="alphaLcParen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Lst>
            </a:pPr>
            <a:r>
              <a:rPr lang="en-GB" sz="2400" dirty="0">
                <a:ea typeface="Times New Roman" pitchFamily="18" charset="0"/>
                <a:cs typeface="Arial" pitchFamily="34" charset="0"/>
              </a:rPr>
              <a:t>Now suppose the above presented data was for the SAME road. Using your analysis, what might have happened on this road? Try to come up with as many different possibilities.</a:t>
            </a:r>
            <a:endParaRPr lang="en-GB" sz="2400" dirty="0">
              <a:cs typeface="Arial" pitchFamily="34" charset="0"/>
            </a:endParaRPr>
          </a:p>
        </p:txBody>
      </p:sp>
    </p:spTree>
    <p:extLst>
      <p:ext uri="{BB962C8B-B14F-4D97-AF65-F5344CB8AC3E}">
        <p14:creationId xmlns:p14="http://schemas.microsoft.com/office/powerpoint/2010/main" val="1805003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fade">
                                      <p:cBhvr>
                                        <p:cTn id="7" dur="1000"/>
                                        <p:tgtEl>
                                          <p:spTgt spid="1027">
                                            <p:txEl>
                                              <p:pRg st="0" end="0"/>
                                            </p:txEl>
                                          </p:spTgt>
                                        </p:tgtEl>
                                      </p:cBhvr>
                                    </p:animEffect>
                                    <p:anim calcmode="lin" valueType="num">
                                      <p:cBhvr>
                                        <p:cTn id="8" dur="1000" fill="hold"/>
                                        <p:tgtEl>
                                          <p:spTgt spid="102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2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7">
                                            <p:txEl>
                                              <p:pRg st="2" end="2"/>
                                            </p:txEl>
                                          </p:spTgt>
                                        </p:tgtEl>
                                        <p:attrNameLst>
                                          <p:attrName>style.visibility</p:attrName>
                                        </p:attrNameLst>
                                      </p:cBhvr>
                                      <p:to>
                                        <p:strVal val="visible"/>
                                      </p:to>
                                    </p:set>
                                    <p:animEffect transition="in" filter="fade">
                                      <p:cBhvr>
                                        <p:cTn id="14" dur="1000"/>
                                        <p:tgtEl>
                                          <p:spTgt spid="1027">
                                            <p:txEl>
                                              <p:pRg st="2" end="2"/>
                                            </p:txEl>
                                          </p:spTgt>
                                        </p:tgtEl>
                                      </p:cBhvr>
                                    </p:animEffect>
                                    <p:anim calcmode="lin" valueType="num">
                                      <p:cBhvr>
                                        <p:cTn id="15" dur="1000" fill="hold"/>
                                        <p:tgtEl>
                                          <p:spTgt spid="1027">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027">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43" y="444041"/>
            <a:ext cx="11231508" cy="1329004"/>
          </a:xfrm>
        </p:spPr>
        <p:txBody>
          <a:bodyPr/>
          <a:lstStyle/>
          <a:p>
            <a:r>
              <a:rPr lang="en-US" dirty="0"/>
              <a:t>S</a:t>
            </a:r>
            <a:r>
              <a:rPr lang="en-US" dirty="0" smtClean="0"/>
              <a:t>tarter Activity </a:t>
            </a:r>
            <a:r>
              <a:rPr lang="mr-IN" dirty="0" smtClean="0"/>
              <a:t>–</a:t>
            </a:r>
            <a:r>
              <a:rPr lang="en-US" dirty="0" smtClean="0"/>
              <a:t> Post-it note histogram</a:t>
            </a:r>
            <a:endParaRPr lang="en-US" dirty="0"/>
          </a:p>
        </p:txBody>
      </p:sp>
      <p:sp>
        <p:nvSpPr>
          <p:cNvPr id="3" name="TextBox 2"/>
          <p:cNvSpPr txBox="1"/>
          <p:nvPr/>
        </p:nvSpPr>
        <p:spPr>
          <a:xfrm>
            <a:off x="367990" y="2230244"/>
            <a:ext cx="10883590" cy="2677656"/>
          </a:xfrm>
          <a:prstGeom prst="rect">
            <a:avLst/>
          </a:prstGeom>
          <a:noFill/>
        </p:spPr>
        <p:txBody>
          <a:bodyPr wrap="square" rtlCol="0">
            <a:spAutoFit/>
          </a:bodyPr>
          <a:lstStyle/>
          <a:p>
            <a:pPr marL="285750" indent="-285750">
              <a:buFont typeface="Arial" charset="0"/>
              <a:buChar char="•"/>
            </a:pPr>
            <a:r>
              <a:rPr lang="en-US" sz="2400" dirty="0" smtClean="0"/>
              <a:t>On the board there is a graph, with the x-axis going up in increments of 2, ending with 12: </a:t>
            </a:r>
            <a:r>
              <a:rPr lang="en-US" sz="2400" dirty="0" smtClean="0"/>
              <a:t>0-2, 2-4, 4-6, 6-8, 8-10, 10-12</a:t>
            </a:r>
          </a:p>
          <a:p>
            <a:pPr marL="285750" indent="-285750">
              <a:buFont typeface="Arial" charset="0"/>
              <a:buChar char="•"/>
            </a:pPr>
            <a:endParaRPr lang="en-US" sz="2400" dirty="0" smtClean="0"/>
          </a:p>
          <a:p>
            <a:pPr marL="285750" indent="-285750">
              <a:buFont typeface="Arial" charset="0"/>
              <a:buChar char="•"/>
            </a:pPr>
            <a:r>
              <a:rPr lang="en-US" sz="2400" dirty="0" smtClean="0"/>
              <a:t>On your Post-It note, write </a:t>
            </a:r>
            <a:r>
              <a:rPr lang="en-US" sz="2400" dirty="0" smtClean="0"/>
              <a:t>the number of hours of sleep you get at night.</a:t>
            </a:r>
          </a:p>
          <a:p>
            <a:pPr marL="285750" indent="-285750">
              <a:buFont typeface="Arial" charset="0"/>
              <a:buChar char="•"/>
            </a:pPr>
            <a:endParaRPr lang="en-US" sz="2400" dirty="0" smtClean="0"/>
          </a:p>
          <a:p>
            <a:pPr marL="285750" indent="-285750">
              <a:buFont typeface="Arial" charset="0"/>
              <a:buChar char="•"/>
            </a:pPr>
            <a:r>
              <a:rPr lang="en-US" sz="2400" dirty="0" smtClean="0"/>
              <a:t>Pin your Post-It note to the graph on the board, in the appropriate column, creating a histogram</a:t>
            </a:r>
            <a:endParaRPr lang="en-US" sz="2400" dirty="0"/>
          </a:p>
        </p:txBody>
      </p:sp>
      <p:sp>
        <p:nvSpPr>
          <p:cNvPr id="4" name="TextBox 3"/>
          <p:cNvSpPr txBox="1"/>
          <p:nvPr/>
        </p:nvSpPr>
        <p:spPr>
          <a:xfrm>
            <a:off x="367990" y="5365099"/>
            <a:ext cx="11508059" cy="830997"/>
          </a:xfrm>
          <a:prstGeom prst="rect">
            <a:avLst/>
          </a:prstGeom>
          <a:noFill/>
        </p:spPr>
        <p:txBody>
          <a:bodyPr wrap="square" rtlCol="0">
            <a:spAutoFit/>
          </a:bodyPr>
          <a:lstStyle/>
          <a:p>
            <a:pPr marL="285750" indent="-285750">
              <a:buFont typeface="Arial" charset="0"/>
              <a:buChar char="•"/>
            </a:pPr>
            <a:r>
              <a:rPr lang="en-US" sz="2400" dirty="0" smtClean="0"/>
              <a:t>Looking at our histogram, how would we describe the shape of it? Are there any clusters of data points? Where is the median of the data?</a:t>
            </a:r>
            <a:endParaRPr lang="en-US" sz="2400" dirty="0"/>
          </a:p>
        </p:txBody>
      </p:sp>
    </p:spTree>
    <p:extLst>
      <p:ext uri="{BB962C8B-B14F-4D97-AF65-F5344CB8AC3E}">
        <p14:creationId xmlns:p14="http://schemas.microsoft.com/office/powerpoint/2010/main" val="852797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5998464"/>
            <a:ext cx="12192000"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0" y="5998464"/>
            <a:ext cx="1455463" cy="461665"/>
          </a:xfrm>
          <a:prstGeom prst="rect">
            <a:avLst/>
          </a:prstGeom>
          <a:noFill/>
        </p:spPr>
        <p:txBody>
          <a:bodyPr wrap="none" rtlCol="0">
            <a:spAutoFit/>
          </a:bodyPr>
          <a:lstStyle/>
          <a:p>
            <a:r>
              <a:rPr lang="en-US" sz="2400" dirty="0" smtClean="0"/>
              <a:t>Summary:</a:t>
            </a:r>
            <a:endParaRPr lang="en-US" sz="2400" dirty="0"/>
          </a:p>
        </p:txBody>
      </p:sp>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Histograms</a:t>
            </a:r>
            <a:r>
              <a:rPr lang="en-US" dirty="0" smtClean="0"/>
              <a:t/>
            </a:r>
            <a:br>
              <a:rPr lang="en-US" dirty="0" smtClean="0"/>
            </a:br>
            <a:r>
              <a:rPr lang="en-US" dirty="0" smtClean="0"/>
              <a:t>EQ: </a:t>
            </a:r>
            <a:r>
              <a:rPr lang="en-US" sz="2900" dirty="0" smtClean="0"/>
              <a:t>What </a:t>
            </a:r>
            <a:r>
              <a:rPr lang="en-US" sz="2900" dirty="0" smtClean="0"/>
              <a:t>can the shape of a histogram tell us about it? </a:t>
            </a:r>
            <a:endParaRPr lang="en-US" sz="2900" dirty="0"/>
          </a:p>
        </p:txBody>
      </p:sp>
    </p:spTree>
    <p:extLst>
      <p:ext uri="{BB962C8B-B14F-4D97-AF65-F5344CB8AC3E}">
        <p14:creationId xmlns:p14="http://schemas.microsoft.com/office/powerpoint/2010/main" val="42187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Histograms</a:t>
            </a:r>
            <a:r>
              <a:rPr lang="en-US" dirty="0" smtClean="0"/>
              <a:t/>
            </a:r>
            <a:br>
              <a:rPr lang="en-US" dirty="0" smtClean="0"/>
            </a:br>
            <a:r>
              <a:rPr lang="en-US" dirty="0" smtClean="0"/>
              <a:t>EQ: </a:t>
            </a:r>
            <a:r>
              <a:rPr lang="en-US" sz="2900" dirty="0" smtClean="0"/>
              <a:t>What </a:t>
            </a:r>
            <a:r>
              <a:rPr lang="en-US" sz="2900" dirty="0" smtClean="0"/>
              <a:t>can the shape of a histogram tell us about it? </a:t>
            </a:r>
            <a:endParaRPr lang="en-US" sz="2900" dirty="0"/>
          </a:p>
        </p:txBody>
      </p:sp>
      <p:sp>
        <p:nvSpPr>
          <p:cNvPr id="2" name="TextBox 1"/>
          <p:cNvSpPr txBox="1"/>
          <p:nvPr/>
        </p:nvSpPr>
        <p:spPr>
          <a:xfrm>
            <a:off x="103782" y="1914145"/>
            <a:ext cx="11984435" cy="1200329"/>
          </a:xfrm>
          <a:prstGeom prst="rect">
            <a:avLst/>
          </a:prstGeom>
          <a:noFill/>
        </p:spPr>
        <p:txBody>
          <a:bodyPr wrap="square" rtlCol="0">
            <a:spAutoFit/>
          </a:bodyPr>
          <a:lstStyle/>
          <a:p>
            <a:r>
              <a:rPr lang="en-US" sz="2400" u="sng" dirty="0" smtClean="0"/>
              <a:t>Using a curve to represent the data</a:t>
            </a:r>
            <a:r>
              <a:rPr lang="en-US" sz="2400" dirty="0" smtClean="0"/>
              <a:t>:</a:t>
            </a:r>
          </a:p>
          <a:p>
            <a:r>
              <a:rPr lang="en-US" sz="2400" dirty="0" smtClean="0"/>
              <a:t>When there is an overall pattern to the data, we can draw a smooth curve through the histogram to represent the data. Here are 3 examples:</a:t>
            </a:r>
            <a:endParaRPr lang="en-US" sz="2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799" y="3237919"/>
            <a:ext cx="10058400" cy="3695934"/>
          </a:xfrm>
          <a:prstGeom prst="rect">
            <a:avLst/>
          </a:prstGeom>
        </p:spPr>
      </p:pic>
    </p:spTree>
    <p:extLst>
      <p:ext uri="{BB962C8B-B14F-4D97-AF65-F5344CB8AC3E}">
        <p14:creationId xmlns:p14="http://schemas.microsoft.com/office/powerpoint/2010/main" val="653146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Example</a:t>
            </a:r>
            <a:endParaRPr lang="en-US" sz="29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4240" y="3584936"/>
            <a:ext cx="4740848" cy="307054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188" y="1902988"/>
            <a:ext cx="5090668" cy="3054401"/>
          </a:xfrm>
          <a:prstGeom prst="rect">
            <a:avLst/>
          </a:prstGeom>
        </p:spPr>
      </p:pic>
      <p:sp>
        <p:nvSpPr>
          <p:cNvPr id="6" name="TextBox 5"/>
          <p:cNvSpPr txBox="1"/>
          <p:nvPr/>
        </p:nvSpPr>
        <p:spPr>
          <a:xfrm>
            <a:off x="5437632" y="1790700"/>
            <a:ext cx="6851904" cy="1569660"/>
          </a:xfrm>
          <a:prstGeom prst="rect">
            <a:avLst/>
          </a:prstGeom>
          <a:noFill/>
        </p:spPr>
        <p:txBody>
          <a:bodyPr wrap="square" rtlCol="0">
            <a:spAutoFit/>
          </a:bodyPr>
          <a:lstStyle/>
          <a:p>
            <a:r>
              <a:rPr lang="en-US" sz="2400" b="1" dirty="0" smtClean="0"/>
              <a:t>Solution</a:t>
            </a:r>
            <a:r>
              <a:rPr lang="en-US" sz="2400" dirty="0" smtClean="0"/>
              <a:t>: Locate the center and re-arrange the heights of the column to form a smooth hump for the top of the curve. Then symmetrically flatten out the curve on both sides</a:t>
            </a:r>
            <a:endParaRPr lang="en-US" sz="2400" dirty="0"/>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36168" y="3472648"/>
            <a:ext cx="8027930" cy="2293694"/>
          </a:xfrm>
          <a:prstGeom prst="rect">
            <a:avLst/>
          </a:prstGeom>
        </p:spPr>
      </p:pic>
    </p:spTree>
    <p:extLst>
      <p:ext uri="{BB962C8B-B14F-4D97-AF65-F5344CB8AC3E}">
        <p14:creationId xmlns:p14="http://schemas.microsoft.com/office/powerpoint/2010/main" val="1650171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Histograms</a:t>
            </a:r>
            <a:r>
              <a:rPr lang="en-US" dirty="0" smtClean="0"/>
              <a:t/>
            </a:r>
            <a:br>
              <a:rPr lang="en-US" dirty="0" smtClean="0"/>
            </a:br>
            <a:r>
              <a:rPr lang="en-US" dirty="0" smtClean="0"/>
              <a:t>EQ: </a:t>
            </a:r>
            <a:r>
              <a:rPr lang="en-US" sz="2900" dirty="0" smtClean="0"/>
              <a:t>What </a:t>
            </a:r>
            <a:r>
              <a:rPr lang="en-US" sz="2900" dirty="0" smtClean="0"/>
              <a:t>can the shape of a histogram tell us about it? </a:t>
            </a:r>
            <a:endParaRPr lang="en-US" sz="2900" dirty="0"/>
          </a:p>
        </p:txBody>
      </p:sp>
      <p:sp>
        <p:nvSpPr>
          <p:cNvPr id="2" name="TextBox 1"/>
          <p:cNvSpPr txBox="1"/>
          <p:nvPr/>
        </p:nvSpPr>
        <p:spPr>
          <a:xfrm>
            <a:off x="2011680" y="3194304"/>
            <a:ext cx="7309822" cy="584775"/>
          </a:xfrm>
          <a:prstGeom prst="rect">
            <a:avLst/>
          </a:prstGeom>
          <a:noFill/>
        </p:spPr>
        <p:txBody>
          <a:bodyPr wrap="none" rtlCol="0">
            <a:spAutoFit/>
          </a:bodyPr>
          <a:lstStyle/>
          <a:p>
            <a:pPr marL="285750" indent="-285750">
              <a:buFont typeface="Arial" charset="0"/>
              <a:buChar char="•"/>
            </a:pPr>
            <a:r>
              <a:rPr lang="en-US" sz="3200" dirty="0" smtClean="0"/>
              <a:t>Complete ’The Normal Curve’ Worksheet</a:t>
            </a:r>
            <a:endParaRPr lang="en-US" sz="3200" dirty="0"/>
          </a:p>
        </p:txBody>
      </p:sp>
    </p:spTree>
    <p:extLst>
      <p:ext uri="{BB962C8B-B14F-4D97-AF65-F5344CB8AC3E}">
        <p14:creationId xmlns:p14="http://schemas.microsoft.com/office/powerpoint/2010/main" val="1825658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sz="3200" dirty="0"/>
              <a:t>The shape of a distribution:</a:t>
            </a:r>
          </a:p>
        </p:txBody>
      </p:sp>
      <p:sp>
        <p:nvSpPr>
          <p:cNvPr id="2" name="TextBox 1"/>
          <p:cNvSpPr txBox="1"/>
          <p:nvPr/>
        </p:nvSpPr>
        <p:spPr>
          <a:xfrm>
            <a:off x="103632" y="1889760"/>
            <a:ext cx="11984736" cy="1569660"/>
          </a:xfrm>
          <a:prstGeom prst="rect">
            <a:avLst/>
          </a:prstGeom>
          <a:noFill/>
        </p:spPr>
        <p:txBody>
          <a:bodyPr wrap="square" rtlCol="0">
            <a:spAutoFit/>
          </a:bodyPr>
          <a:lstStyle/>
          <a:p>
            <a:r>
              <a:rPr lang="en-US" sz="2400" b="1" u="sng" dirty="0" smtClean="0"/>
              <a:t>Skewed distributions: </a:t>
            </a:r>
          </a:p>
          <a:p>
            <a:r>
              <a:rPr lang="en-US" sz="2400" dirty="0" smtClean="0"/>
              <a:t>Histograms are rarely the perfect bell curve of the normal shape. When data is not symmetrical</a:t>
            </a:r>
          </a:p>
          <a:p>
            <a:r>
              <a:rPr lang="en-US" sz="2400" dirty="0" smtClean="0"/>
              <a:t>but pushed to one side, it is said to be </a:t>
            </a:r>
            <a:r>
              <a:rPr lang="en-US" sz="2400" b="1" i="1" dirty="0" smtClean="0"/>
              <a:t>skewed</a:t>
            </a:r>
            <a:r>
              <a:rPr lang="en-US" sz="2400" dirty="0" smtClean="0"/>
              <a:t>. We can identify the type of skew by looking at </a:t>
            </a:r>
          </a:p>
          <a:p>
            <a:r>
              <a:rPr lang="en-US" sz="2400" dirty="0" smtClean="0"/>
              <a:t>the ‘tail’ of the curve.</a:t>
            </a:r>
            <a:endParaRPr lang="en-US" sz="2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6368" y="3721608"/>
            <a:ext cx="3700272" cy="159784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988" y="3721608"/>
            <a:ext cx="3839972" cy="1647697"/>
          </a:xfrm>
          <a:prstGeom prst="rect">
            <a:avLst/>
          </a:prstGeom>
        </p:spPr>
      </p:pic>
      <p:sp>
        <p:nvSpPr>
          <p:cNvPr id="5" name="TextBox 4"/>
          <p:cNvSpPr txBox="1"/>
          <p:nvPr/>
        </p:nvSpPr>
        <p:spPr>
          <a:xfrm>
            <a:off x="6755059" y="5531164"/>
            <a:ext cx="5333309" cy="1200329"/>
          </a:xfrm>
          <a:prstGeom prst="rect">
            <a:avLst/>
          </a:prstGeom>
          <a:noFill/>
        </p:spPr>
        <p:txBody>
          <a:bodyPr wrap="square" rtlCol="0">
            <a:spAutoFit/>
          </a:bodyPr>
          <a:lstStyle/>
          <a:p>
            <a:r>
              <a:rPr lang="en-US" dirty="0" smtClean="0"/>
              <a:t>Here the tail is on the right, so the data are</a:t>
            </a:r>
          </a:p>
          <a:p>
            <a:r>
              <a:rPr lang="en-US" b="1" i="1" dirty="0" smtClean="0"/>
              <a:t>positively</a:t>
            </a:r>
            <a:r>
              <a:rPr lang="en-US" dirty="0" smtClean="0"/>
              <a:t> skewed. This could represent house prices in a small country town. Lots of moderate prices and a few high prices for bigger houses or farms.</a:t>
            </a:r>
          </a:p>
        </p:txBody>
      </p:sp>
      <p:sp>
        <p:nvSpPr>
          <p:cNvPr id="7" name="TextBox 6"/>
          <p:cNvSpPr txBox="1"/>
          <p:nvPr/>
        </p:nvSpPr>
        <p:spPr>
          <a:xfrm>
            <a:off x="195763" y="5604899"/>
            <a:ext cx="5772221" cy="1200329"/>
          </a:xfrm>
          <a:prstGeom prst="rect">
            <a:avLst/>
          </a:prstGeom>
          <a:noFill/>
        </p:spPr>
        <p:txBody>
          <a:bodyPr wrap="none" rtlCol="0">
            <a:spAutoFit/>
          </a:bodyPr>
          <a:lstStyle/>
          <a:p>
            <a:r>
              <a:rPr lang="en-US" dirty="0" smtClean="0"/>
              <a:t>Here the tail is on the left, so the data are</a:t>
            </a:r>
          </a:p>
          <a:p>
            <a:r>
              <a:rPr lang="en-US" b="1" i="1" dirty="0" smtClean="0"/>
              <a:t>negatively</a:t>
            </a:r>
            <a:r>
              <a:rPr lang="en-US" dirty="0" smtClean="0"/>
              <a:t> skewed. This could represent marks scored by</a:t>
            </a:r>
          </a:p>
          <a:p>
            <a:r>
              <a:rPr lang="en-US" dirty="0" smtClean="0"/>
              <a:t>students on an easy test. Most students scored high marks, </a:t>
            </a:r>
          </a:p>
          <a:p>
            <a:r>
              <a:rPr lang="en-US" dirty="0" smtClean="0"/>
              <a:t>while relatively few scored low.</a:t>
            </a:r>
            <a:endParaRPr lang="en-US" dirty="0"/>
          </a:p>
        </p:txBody>
      </p:sp>
    </p:spTree>
    <p:extLst>
      <p:ext uri="{BB962C8B-B14F-4D97-AF65-F5344CB8AC3E}">
        <p14:creationId xmlns:p14="http://schemas.microsoft.com/office/powerpoint/2010/main" val="1177851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dissolv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Histograms</a:t>
            </a:r>
            <a:r>
              <a:rPr lang="en-US" dirty="0" smtClean="0"/>
              <a:t/>
            </a:r>
            <a:br>
              <a:rPr lang="en-US" dirty="0" smtClean="0"/>
            </a:br>
            <a:r>
              <a:rPr lang="en-US" dirty="0" smtClean="0"/>
              <a:t>EQ: </a:t>
            </a:r>
            <a:r>
              <a:rPr lang="en-US" sz="2900" dirty="0" smtClean="0"/>
              <a:t>What </a:t>
            </a:r>
            <a:r>
              <a:rPr lang="en-US" sz="2900" dirty="0" smtClean="0"/>
              <a:t>can the shape of a histogram tell us about it? </a:t>
            </a:r>
            <a:endParaRPr lang="en-US" sz="2900" dirty="0"/>
          </a:p>
        </p:txBody>
      </p:sp>
      <p:sp>
        <p:nvSpPr>
          <p:cNvPr id="3" name="TextBox 2"/>
          <p:cNvSpPr txBox="1"/>
          <p:nvPr/>
        </p:nvSpPr>
        <p:spPr>
          <a:xfrm>
            <a:off x="103632" y="1914144"/>
            <a:ext cx="11984736" cy="1569660"/>
          </a:xfrm>
          <a:prstGeom prst="rect">
            <a:avLst/>
          </a:prstGeom>
          <a:noFill/>
        </p:spPr>
        <p:txBody>
          <a:bodyPr wrap="square" rtlCol="0">
            <a:spAutoFit/>
          </a:bodyPr>
          <a:lstStyle/>
          <a:p>
            <a:r>
              <a:rPr lang="en-US" sz="2400" b="1" u="sng" dirty="0" smtClean="0"/>
              <a:t>Uniform distributions: </a:t>
            </a:r>
          </a:p>
          <a:p>
            <a:r>
              <a:rPr lang="en-US" sz="2400" dirty="0" smtClean="0"/>
              <a:t>If we roll a normal die many times, each of the possible six numbers should appear roughly the same number of times, giving a </a:t>
            </a:r>
            <a:r>
              <a:rPr lang="en-US" sz="2400" b="1" i="1" dirty="0" smtClean="0"/>
              <a:t>uniform</a:t>
            </a:r>
            <a:r>
              <a:rPr lang="en-US" sz="2400" dirty="0" smtClean="0"/>
              <a:t> distribution. The scores are evenly distributed and its graph is close to one big rectangle.</a:t>
            </a:r>
            <a:endParaRPr lang="en-US" sz="24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632" y="3800796"/>
            <a:ext cx="3657600" cy="2616200"/>
          </a:xfrm>
          <a:prstGeom prst="rect">
            <a:avLst/>
          </a:prstGeom>
        </p:spPr>
      </p:pic>
      <p:sp>
        <p:nvSpPr>
          <p:cNvPr id="5" name="TextBox 4"/>
          <p:cNvSpPr txBox="1"/>
          <p:nvPr/>
        </p:nvSpPr>
        <p:spPr>
          <a:xfrm>
            <a:off x="103632" y="1935420"/>
            <a:ext cx="11984736" cy="1569660"/>
          </a:xfrm>
          <a:prstGeom prst="rect">
            <a:avLst/>
          </a:prstGeom>
          <a:solidFill>
            <a:schemeClr val="bg1"/>
          </a:solidFill>
        </p:spPr>
        <p:txBody>
          <a:bodyPr wrap="square" rtlCol="0">
            <a:spAutoFit/>
          </a:bodyPr>
          <a:lstStyle/>
          <a:p>
            <a:r>
              <a:rPr lang="en-US" sz="2400" b="1" u="sng" dirty="0" smtClean="0"/>
              <a:t>Bimodal distributions: </a:t>
            </a:r>
          </a:p>
          <a:p>
            <a:r>
              <a:rPr lang="en-US" sz="2400" dirty="0" smtClean="0"/>
              <a:t>If a graph or curve has two distinct peaks, it is said to have </a:t>
            </a:r>
            <a:r>
              <a:rPr lang="en-US" sz="2400" b="1" i="1" dirty="0" smtClean="0"/>
              <a:t>bimodal</a:t>
            </a:r>
            <a:r>
              <a:rPr lang="en-US" sz="2400" dirty="0" smtClean="0"/>
              <a:t> distribution. If there is only one peak, it’s called a </a:t>
            </a:r>
            <a:r>
              <a:rPr lang="en-US" sz="2400" b="1" i="1" dirty="0" smtClean="0"/>
              <a:t>unimodal</a:t>
            </a:r>
            <a:r>
              <a:rPr lang="en-US" sz="2400" dirty="0" smtClean="0"/>
              <a:t> distribution. An example of this may be a graph representing the days traffic. When might the two peaks occur?</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1075" y="3306864"/>
            <a:ext cx="3505709" cy="3293580"/>
          </a:xfrm>
          <a:prstGeom prst="rect">
            <a:avLst/>
          </a:prstGeom>
        </p:spPr>
      </p:pic>
    </p:spTree>
    <p:extLst>
      <p:ext uri="{BB962C8B-B14F-4D97-AF65-F5344CB8AC3E}">
        <p14:creationId xmlns:p14="http://schemas.microsoft.com/office/powerpoint/2010/main" val="93524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Example</a:t>
            </a:r>
            <a:endParaRPr lang="en-US" sz="29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0458" y="1980568"/>
            <a:ext cx="8096648" cy="3111376"/>
          </a:xfrm>
          <a:prstGeom prst="rect">
            <a:avLst/>
          </a:prstGeom>
        </p:spPr>
      </p:pic>
      <p:sp>
        <p:nvSpPr>
          <p:cNvPr id="4" name="TextBox 3"/>
          <p:cNvSpPr txBox="1"/>
          <p:nvPr/>
        </p:nvSpPr>
        <p:spPr>
          <a:xfrm>
            <a:off x="195072" y="5272296"/>
            <a:ext cx="11570208" cy="830997"/>
          </a:xfrm>
          <a:prstGeom prst="rect">
            <a:avLst/>
          </a:prstGeom>
          <a:noFill/>
        </p:spPr>
        <p:txBody>
          <a:bodyPr wrap="square" rtlCol="0">
            <a:spAutoFit/>
          </a:bodyPr>
          <a:lstStyle/>
          <a:p>
            <a:r>
              <a:rPr lang="en-US" sz="2400" dirty="0" smtClean="0"/>
              <a:t>The distribution is not symmetrical, so it is skewed. The tail points to the right, so it is positively skewed. There are peaks at ages 20 and 40, so the distribution is also bimodal.</a:t>
            </a:r>
            <a:endParaRPr lang="en-US" sz="2400" dirty="0"/>
          </a:p>
        </p:txBody>
      </p:sp>
      <p:sp>
        <p:nvSpPr>
          <p:cNvPr id="8" name="TextBox 7"/>
          <p:cNvSpPr txBox="1"/>
          <p:nvPr/>
        </p:nvSpPr>
        <p:spPr>
          <a:xfrm>
            <a:off x="195072" y="6283645"/>
            <a:ext cx="7408503" cy="461665"/>
          </a:xfrm>
          <a:prstGeom prst="rect">
            <a:avLst/>
          </a:prstGeom>
          <a:noFill/>
        </p:spPr>
        <p:txBody>
          <a:bodyPr wrap="none" rtlCol="0">
            <a:spAutoFit/>
          </a:bodyPr>
          <a:lstStyle/>
          <a:p>
            <a:r>
              <a:rPr lang="en-US" sz="2400" dirty="0" smtClean="0"/>
              <a:t>Answer: The distribution is positively skewed and bimodal</a:t>
            </a:r>
            <a:endParaRPr lang="en-US" sz="2400" dirty="0"/>
          </a:p>
        </p:txBody>
      </p:sp>
    </p:spTree>
    <p:extLst>
      <p:ext uri="{BB962C8B-B14F-4D97-AF65-F5344CB8AC3E}">
        <p14:creationId xmlns:p14="http://schemas.microsoft.com/office/powerpoint/2010/main" val="2092519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Guided Practice</a:t>
            </a:r>
            <a:endParaRPr lang="en-US" sz="29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 y="1889760"/>
            <a:ext cx="6903353" cy="4968240"/>
          </a:xfrm>
          <a:prstGeom prst="rect">
            <a:avLst/>
          </a:prstGeom>
        </p:spPr>
      </p:pic>
      <p:sp>
        <p:nvSpPr>
          <p:cNvPr id="3" name="TextBox 2"/>
          <p:cNvSpPr txBox="1"/>
          <p:nvPr/>
        </p:nvSpPr>
        <p:spPr>
          <a:xfrm>
            <a:off x="8253984" y="2279904"/>
            <a:ext cx="3133344" cy="1384995"/>
          </a:xfrm>
          <a:prstGeom prst="rect">
            <a:avLst/>
          </a:prstGeom>
          <a:noFill/>
        </p:spPr>
        <p:txBody>
          <a:bodyPr wrap="square" rtlCol="0">
            <a:spAutoFit/>
          </a:bodyPr>
          <a:lstStyle/>
          <a:p>
            <a:pPr algn="ctr"/>
            <a:r>
              <a:rPr lang="en-US" sz="2800" smtClean="0"/>
              <a:t>*Which </a:t>
            </a:r>
            <a:r>
              <a:rPr lang="en-US" sz="2800" dirty="0" smtClean="0"/>
              <a:t>of these </a:t>
            </a:r>
            <a:r>
              <a:rPr lang="en-US" sz="2800" smtClean="0"/>
              <a:t>graphs are </a:t>
            </a:r>
            <a:r>
              <a:rPr lang="en-US" sz="2800" dirty="0" smtClean="0"/>
              <a:t>unimodal? </a:t>
            </a:r>
            <a:endParaRPr lang="en-US" sz="2800" dirty="0"/>
          </a:p>
        </p:txBody>
      </p:sp>
    </p:spTree>
    <p:extLst>
      <p:ext uri="{BB962C8B-B14F-4D97-AF65-F5344CB8AC3E}">
        <p14:creationId xmlns:p14="http://schemas.microsoft.com/office/powerpoint/2010/main" val="90534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0" y="466343"/>
            <a:ext cx="12192000" cy="1324357"/>
          </a:xfrm>
        </p:spPr>
        <p:txBody>
          <a:bodyPr>
            <a:normAutofit/>
          </a:bodyPr>
          <a:lstStyle/>
          <a:p>
            <a:r>
              <a:rPr lang="en-US" dirty="0" smtClean="0"/>
              <a:t>Class/Homework</a:t>
            </a:r>
            <a:endParaRPr lang="en-US" sz="2900" dirty="0"/>
          </a:p>
        </p:txBody>
      </p:sp>
      <p:sp>
        <p:nvSpPr>
          <p:cNvPr id="53" name="TextBox 52"/>
          <p:cNvSpPr txBox="1"/>
          <p:nvPr/>
        </p:nvSpPr>
        <p:spPr>
          <a:xfrm>
            <a:off x="10098637" y="6499820"/>
            <a:ext cx="632475" cy="461665"/>
          </a:xfrm>
          <a:prstGeom prst="rect">
            <a:avLst/>
          </a:prstGeom>
          <a:noFill/>
        </p:spPr>
        <p:txBody>
          <a:bodyPr wrap="square" rtlCol="0">
            <a:spAutoFit/>
          </a:bodyPr>
          <a:lstStyle/>
          <a:p>
            <a:r>
              <a:rPr lang="en-AU" sz="2400" dirty="0">
                <a:solidFill>
                  <a:prstClr val="black"/>
                </a:solidFill>
              </a:rPr>
              <a:t> </a:t>
            </a:r>
          </a:p>
        </p:txBody>
      </p:sp>
      <p:sp>
        <p:nvSpPr>
          <p:cNvPr id="4" name="TextBox 3"/>
          <p:cNvSpPr txBox="1"/>
          <p:nvPr/>
        </p:nvSpPr>
        <p:spPr>
          <a:xfrm>
            <a:off x="719329" y="2390934"/>
            <a:ext cx="11026648" cy="1754326"/>
          </a:xfrm>
          <a:prstGeom prst="rect">
            <a:avLst/>
          </a:prstGeom>
          <a:noFill/>
        </p:spPr>
        <p:txBody>
          <a:bodyPr wrap="square" rtlCol="0">
            <a:spAutoFit/>
          </a:bodyPr>
          <a:lstStyle/>
          <a:p>
            <a:pPr marL="285750" indent="-285750">
              <a:buFont typeface="Arial" charset="0"/>
              <a:buChar char="•"/>
            </a:pPr>
            <a:r>
              <a:rPr lang="en-US" sz="3600" dirty="0" smtClean="0"/>
              <a:t>Nelson Essentials Chapter 14 pg. 372/373 Worksheet #s 3-10</a:t>
            </a:r>
            <a:endParaRPr lang="en-US" sz="3600" dirty="0" smtClean="0"/>
          </a:p>
          <a:p>
            <a:pPr marL="285750" indent="-285750">
              <a:buFont typeface="Arial" charset="0"/>
              <a:buChar char="•"/>
            </a:pPr>
            <a:endParaRPr lang="en-US" sz="3600" dirty="0" smtClean="0"/>
          </a:p>
        </p:txBody>
      </p:sp>
    </p:spTree>
    <p:extLst>
      <p:ext uri="{BB962C8B-B14F-4D97-AF65-F5344CB8AC3E}">
        <p14:creationId xmlns:p14="http://schemas.microsoft.com/office/powerpoint/2010/main" val="1600733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sz="3600" dirty="0"/>
              <a:t> </a:t>
            </a:r>
            <a:r>
              <a:rPr lang="en-US" sz="3600" dirty="0" smtClean="0"/>
              <a:t> Exit </a:t>
            </a:r>
            <a:r>
              <a:rPr lang="en-US" sz="3600" dirty="0" smtClean="0"/>
              <a:t>Pass </a:t>
            </a:r>
            <a:r>
              <a:rPr lang="mr-IN" sz="3600" dirty="0" smtClean="0"/>
              <a:t>–</a:t>
            </a:r>
            <a:r>
              <a:rPr lang="en-US" sz="3600" dirty="0" smtClean="0"/>
              <a:t> Do all except #3 (we’ll get to that later)</a:t>
            </a:r>
            <a:endParaRPr lang="en-US" sz="3600"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1571" y="1876044"/>
            <a:ext cx="9054741" cy="4889361"/>
          </a:xfrm>
          <a:prstGeom prst="rect">
            <a:avLst/>
          </a:prstGeom>
        </p:spPr>
      </p:pic>
    </p:spTree>
    <p:extLst>
      <p:ext uri="{BB962C8B-B14F-4D97-AF65-F5344CB8AC3E}">
        <p14:creationId xmlns:p14="http://schemas.microsoft.com/office/powerpoint/2010/main" val="15217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Education 16x9">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ucation_16x9.potx" id="{AA5F22BC-61EA-4F01-AB22-75117871E196}" vid="{BD0EB374-1DDC-4F15-88A9-D386288C58A6}"/>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141aba3b8f8cb7f331be6546df69db50">
  <xsd:schema xmlns:xsd="http://www.w3.org/2001/XMLSchema" xmlns:xs="http://www.w3.org/2001/XMLSchema" xmlns:p="http://schemas.microsoft.com/office/2006/metadata/properties" targetNamespace="http://schemas.microsoft.com/office/2006/metadata/properties" ma:root="true" ma:fieldsID="f8e4ef66d87525153bd8907774ed28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F7A874A-6E55-415B-9061-8B2D43DC2F48}">
  <ds:schemaRefs>
    <ds:schemaRef ds:uri="http://schemas.microsoft.com/sharepoint/v3/contenttype/forms"/>
  </ds:schemaRefs>
</ds:datastoreItem>
</file>

<file path=customXml/itemProps2.xml><?xml version="1.0" encoding="utf-8"?>
<ds:datastoreItem xmlns:ds="http://schemas.openxmlformats.org/officeDocument/2006/customXml" ds:itemID="{9896FEF9-821E-45A6-82F2-0B1CE4CD8C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91BC99BC-3A63-4255-9D4F-38C5B80A319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681</Words>
  <Application>Microsoft Macintosh PowerPoint</Application>
  <PresentationFormat>Widescreen</PresentationFormat>
  <Paragraphs>72</Paragraphs>
  <Slides>13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Calibri</vt:lpstr>
      <vt:lpstr>Mangal</vt:lpstr>
      <vt:lpstr>Times New Roman</vt:lpstr>
      <vt:lpstr>Wingdings</vt:lpstr>
      <vt:lpstr>Arial</vt:lpstr>
      <vt:lpstr>Education 16x9</vt:lpstr>
      <vt:lpstr>Statistical Analysis</vt:lpstr>
      <vt:lpstr>Review from last class...</vt:lpstr>
      <vt:lpstr>Starter Activity – Post-it note histogram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Class/Homework</vt:lpstr>
      <vt:lpstr>PowerPoint Presentation</vt:lpstr>
    </vt:vector>
  </TitlesOfParts>
  <Manager/>
  <Company/>
  <LinksUpToDate>false</LinksUpToDate>
  <SharedDoc>false</SharedDoc>
  <HyperlinkBase/>
  <HyperlinksChanged>false</HyperlinksChanged>
  <AppVersion>15.0034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2012-09-21T18:31:34Z</dcterms:created>
  <dcterms:modified xsi:type="dcterms:W3CDTF">2018-07-29T12:28:06Z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
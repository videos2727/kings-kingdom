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8" r:id="rId2"/>
  </p:sldMasterIdLst>
  <p:notesMasterIdLst>
    <p:notesMasterId r:id="rId10"/>
  </p:notesMasterIdLst>
  <p:sldIdLst>
    <p:sldId id="284" r:id="rId3"/>
    <p:sldId id="304" r:id="rId4"/>
    <p:sldId id="305" r:id="rId5"/>
    <p:sldId id="290" r:id="rId6"/>
    <p:sldId id="295" r:id="rId7"/>
    <p:sldId id="296" r:id="rId8"/>
    <p:sldId id="306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42"/>
    <p:restoredTop sz="94627"/>
  </p:normalViewPr>
  <p:slideViewPr>
    <p:cSldViewPr>
      <p:cViewPr varScale="1">
        <p:scale>
          <a:sx n="68" d="100"/>
          <a:sy n="68" d="100"/>
        </p:scale>
        <p:origin x="58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C3922-5EB1-4A7A-9541-7BF1BE1740EC}" type="datetimeFigureOut">
              <a:rPr lang="en-GB" smtClean="0"/>
              <a:t>14/10/2018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369C9D-0B2A-4FA1-8511-1F1FCA5D7A80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369C9D-0B2A-4FA1-8511-1F1FCA5D7A8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93765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1221E5-7225-48EB-A4EE-420E7BFCF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76738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1221E5-7225-48EB-A4EE-420E7BFCF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5707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1803405"/>
            <a:ext cx="7086600" cy="1825096"/>
          </a:xfrm>
        </p:spPr>
        <p:txBody>
          <a:bodyPr anchor="b">
            <a:normAutofit/>
          </a:bodyPr>
          <a:lstStyle>
            <a:lvl1pPr algn="l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632201"/>
            <a:ext cx="7086600" cy="685800"/>
          </a:xfrm>
        </p:spPr>
        <p:txBody>
          <a:bodyPr>
            <a:normAutofit/>
          </a:bodyPr>
          <a:lstStyle>
            <a:lvl1pPr marL="0" indent="0" algn="l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1" y="4314328"/>
            <a:ext cx="2183130" cy="374642"/>
          </a:xfrm>
        </p:spPr>
        <p:txBody>
          <a:bodyPr/>
          <a:lstStyle/>
          <a:p>
            <a:fld id="{546B20CB-BC79-4F9F-B271-A8244B9525BC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28700" y="4323846"/>
            <a:ext cx="48006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057400" cy="365125"/>
          </a:xfrm>
        </p:spPr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5140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0903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753534"/>
            <a:ext cx="8115299" cy="2801935"/>
          </a:xfrm>
        </p:spPr>
        <p:txBody>
          <a:bodyPr anchor="b">
            <a:normAutofit/>
          </a:bodyPr>
          <a:lstStyle>
            <a:lvl1pPr algn="r"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350" y="3641726"/>
            <a:ext cx="7867650" cy="955675"/>
          </a:xfrm>
        </p:spPr>
        <p:txBody>
          <a:bodyPr>
            <a:normAutofit/>
          </a:bodyPr>
          <a:lstStyle>
            <a:lvl1pPr marL="0" indent="0" algn="r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60839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46B20CB-BC79-4F9F-B271-A8244B9525BC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4350" y="381002"/>
            <a:ext cx="5243619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46839" y="381001"/>
            <a:ext cx="482811" cy="365125"/>
          </a:xfrm>
        </p:spPr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8389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0" y="2194560"/>
            <a:ext cx="40005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194560"/>
            <a:ext cx="40005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7771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45795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7" y="2183802"/>
            <a:ext cx="3809993" cy="823912"/>
          </a:xfrm>
        </p:spPr>
        <p:txBody>
          <a:bodyPr anchor="b">
            <a:norm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1" y="3132667"/>
            <a:ext cx="3983831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2183802"/>
            <a:ext cx="3829050" cy="823912"/>
          </a:xfrm>
        </p:spPr>
        <p:txBody>
          <a:bodyPr anchor="b">
            <a:norm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132667"/>
            <a:ext cx="40005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94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6631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7953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524000"/>
            <a:ext cx="3086100" cy="1600200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6686" y="746760"/>
            <a:ext cx="4882964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3124200"/>
            <a:ext cx="3086100" cy="3094485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0107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524000"/>
            <a:ext cx="5154930" cy="1600200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95928" y="751242"/>
            <a:ext cx="2733722" cy="5467443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3124200"/>
            <a:ext cx="5154930" cy="3094485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0395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33" y="4697361"/>
            <a:ext cx="8116526" cy="819355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1295" y="941440"/>
            <a:ext cx="8116380" cy="347816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5516716"/>
            <a:ext cx="8115300" cy="701969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6806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753533"/>
            <a:ext cx="8115300" cy="2802467"/>
          </a:xfrm>
        </p:spPr>
        <p:txBody>
          <a:bodyPr anchor="ctr"/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0" y="3649134"/>
            <a:ext cx="7597887" cy="999067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46B20CB-BC79-4F9F-B271-A8244B9525BC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0" y="379942"/>
            <a:ext cx="5243619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39" y="381001"/>
            <a:ext cx="482811" cy="365125"/>
          </a:xfrm>
        </p:spPr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3613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604495"/>
          </a:xfrm>
        </p:spPr>
        <p:txBody>
          <a:bodyPr anchor="ctr"/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365557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1" y="3959863"/>
            <a:ext cx="7613650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46B20CB-BC79-4F9F-B271-A8244B9525BC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0" y="379942"/>
            <a:ext cx="5243619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39" y="381001"/>
            <a:ext cx="482811" cy="365125"/>
          </a:xfrm>
        </p:spPr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357188" y="933450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38173" y="2701290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018034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71" y="1124702"/>
            <a:ext cx="7609640" cy="2511835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0" y="3648316"/>
            <a:ext cx="7608491" cy="999885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46B20CB-BC79-4F9F-B271-A8244B9525BC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0" y="378884"/>
            <a:ext cx="5243619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39" y="381001"/>
            <a:ext cx="482811" cy="365125"/>
          </a:xfrm>
        </p:spPr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73766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45794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0" y="2202080"/>
            <a:ext cx="2592324" cy="617320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49" y="2904565"/>
            <a:ext cx="2592324" cy="331413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76600" y="2201333"/>
            <a:ext cx="2592324" cy="626534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275144" y="2904067"/>
            <a:ext cx="2592324" cy="331461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038850" y="2192866"/>
            <a:ext cx="2592324" cy="626534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6038851" y="2904565"/>
            <a:ext cx="2592324" cy="331413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6023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45794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6463" y="4191001"/>
            <a:ext cx="2588687" cy="682765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6463" y="2362200"/>
            <a:ext cx="258868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6463" y="4873765"/>
            <a:ext cx="2588687" cy="134492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0698" y="4191001"/>
            <a:ext cx="2586701" cy="682765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80697" y="2362200"/>
            <a:ext cx="258670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80699" y="4873764"/>
            <a:ext cx="2586701" cy="134492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037299" y="4191001"/>
            <a:ext cx="2592352" cy="682765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37391" y="2362200"/>
            <a:ext cx="2585909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6037299" y="4873762"/>
            <a:ext cx="2589334" cy="134492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41371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2194560"/>
            <a:ext cx="81153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4822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6600" y="745067"/>
            <a:ext cx="154305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745068"/>
            <a:ext cx="615315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60839" y="379942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46B20CB-BC79-4F9F-B271-A8244B9525BC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4350" y="381001"/>
            <a:ext cx="5243619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46839" y="381001"/>
            <a:ext cx="482811" cy="365125"/>
          </a:xfrm>
        </p:spPr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22338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46109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23088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4484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511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51979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4075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99213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53718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40282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537351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713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45795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2194561"/>
            <a:ext cx="81153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46520" y="6356351"/>
            <a:ext cx="21831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6B20CB-BC79-4F9F-B271-A8244B9525BC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6355846"/>
            <a:ext cx="5829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8932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685800" rtl="0" eaLnBrk="1" latinLnBrk="0" hangingPunct="1">
        <a:lnSpc>
          <a:spcPct val="90000"/>
        </a:lnSpc>
        <a:spcBef>
          <a:spcPct val="0"/>
        </a:spcBef>
        <a:buNone/>
        <a:defRPr sz="3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6B20CB-BC79-4F9F-B271-A8244B9525BC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0821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601924" y="692696"/>
            <a:ext cx="7772400" cy="1470025"/>
          </a:xfrm>
        </p:spPr>
        <p:txBody>
          <a:bodyPr>
            <a:normAutofit fontScale="90000"/>
          </a:bodyPr>
          <a:lstStyle/>
          <a:p>
            <a:pPr algn="ctr"/>
            <a:r>
              <a:rPr lang="en-AU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</a:t>
            </a:r>
            <a:br>
              <a:rPr lang="en-AU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AU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EQ: How many weeks have you been alive? (not including this one)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A76460-EDD1-4EC9-8EFA-BACE38D632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12" y="2421040"/>
            <a:ext cx="3041105" cy="440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243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F848CA0-AA27-488C-B7AD-5D128FDCF386}"/>
              </a:ext>
            </a:extLst>
          </p:cNvPr>
          <p:cNvSpPr txBox="1"/>
          <p:nvPr/>
        </p:nvSpPr>
        <p:spPr>
          <a:xfrm>
            <a:off x="1763688" y="3425483"/>
            <a:ext cx="61926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dirty="0"/>
              <a:t>Time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724C3B0-6955-4DF2-8522-9F4781155D6F}"/>
              </a:ext>
            </a:extLst>
          </p:cNvPr>
          <p:cNvCxnSpPr/>
          <p:nvPr/>
        </p:nvCxnSpPr>
        <p:spPr>
          <a:xfrm flipH="1">
            <a:off x="2411760" y="3861048"/>
            <a:ext cx="16561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F0D1B9D-1FB0-40F7-8162-E0285DEBB842}"/>
              </a:ext>
            </a:extLst>
          </p:cNvPr>
          <p:cNvCxnSpPr/>
          <p:nvPr/>
        </p:nvCxnSpPr>
        <p:spPr>
          <a:xfrm flipH="1" flipV="1">
            <a:off x="3707904" y="2492896"/>
            <a:ext cx="648072" cy="720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A11B894-E4E8-4611-9EAD-CEC4E31C556B}"/>
              </a:ext>
            </a:extLst>
          </p:cNvPr>
          <p:cNvCxnSpPr/>
          <p:nvPr/>
        </p:nvCxnSpPr>
        <p:spPr>
          <a:xfrm flipV="1">
            <a:off x="5508104" y="2348880"/>
            <a:ext cx="504056" cy="9343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E63D4B-7A31-4BC3-93F9-DA5B3F891268}"/>
              </a:ext>
            </a:extLst>
          </p:cNvPr>
          <p:cNvCxnSpPr/>
          <p:nvPr/>
        </p:nvCxnSpPr>
        <p:spPr>
          <a:xfrm flipV="1">
            <a:off x="6444208" y="3212976"/>
            <a:ext cx="864096" cy="5972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26AB869-731C-4F1D-A8AD-6FCBDB3C8187}"/>
              </a:ext>
            </a:extLst>
          </p:cNvPr>
          <p:cNvCxnSpPr/>
          <p:nvPr/>
        </p:nvCxnSpPr>
        <p:spPr>
          <a:xfrm>
            <a:off x="5760132" y="4797152"/>
            <a:ext cx="612068" cy="8640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02F751E-540F-40DA-BE28-7E8FB5A24AF9}"/>
              </a:ext>
            </a:extLst>
          </p:cNvPr>
          <p:cNvCxnSpPr/>
          <p:nvPr/>
        </p:nvCxnSpPr>
        <p:spPr>
          <a:xfrm flipH="1">
            <a:off x="3851920" y="4725144"/>
            <a:ext cx="504056" cy="720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5938D45-6523-4794-95A4-3119846D0707}"/>
              </a:ext>
            </a:extLst>
          </p:cNvPr>
          <p:cNvSpPr txBox="1"/>
          <p:nvPr/>
        </p:nvSpPr>
        <p:spPr>
          <a:xfrm>
            <a:off x="2627784" y="548680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With your teacher spend the next five minutes creating a list of time facts.</a:t>
            </a:r>
          </a:p>
        </p:txBody>
      </p:sp>
    </p:spTree>
    <p:extLst>
      <p:ext uri="{BB962C8B-B14F-4D97-AF65-F5344CB8AC3E}">
        <p14:creationId xmlns:p14="http://schemas.microsoft.com/office/powerpoint/2010/main" val="1740826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27F8F71-8C5D-420E-A12F-9AD1F61BD9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292080" cy="68234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741D61-0CE2-4C3D-B8ED-31513BE3EB56}"/>
              </a:ext>
            </a:extLst>
          </p:cNvPr>
          <p:cNvSpPr txBox="1"/>
          <p:nvPr/>
        </p:nvSpPr>
        <p:spPr>
          <a:xfrm>
            <a:off x="5652120" y="692696"/>
            <a:ext cx="3168352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Some facts that you should have had.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solar calendar recognizes that the Earth takes about 365 ¼ days to orbit the Sun. This gave us the leap year, one extra day every four years.  Leap years have 366 days, 29</a:t>
            </a:r>
            <a:r>
              <a:rPr lang="en-US" baseline="30000" dirty="0"/>
              <a:t>th</a:t>
            </a:r>
            <a:r>
              <a:rPr lang="en-US" dirty="0"/>
              <a:t> of February is the extra day. 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01519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29600" cy="1143000"/>
          </a:xfrm>
        </p:spPr>
        <p:txBody>
          <a:bodyPr>
            <a:normAutofit/>
          </a:bodyPr>
          <a:lstStyle/>
          <a:p>
            <a:r>
              <a:rPr lang="en-US" sz="4200" u="sng" dirty="0"/>
              <a:t>Knowledge of Time</a:t>
            </a:r>
            <a:br>
              <a:rPr lang="en-US" sz="4200" dirty="0"/>
            </a:br>
            <a:r>
              <a:rPr lang="en-US" dirty="0"/>
              <a:t>Quick quiz. (LHS)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946250"/>
            <a:ext cx="8424936" cy="452596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800" dirty="0"/>
              <a:t>When is the next leap year?</a:t>
            </a:r>
          </a:p>
          <a:p>
            <a:pPr>
              <a:lnSpc>
                <a:spcPct val="110000"/>
              </a:lnSpc>
            </a:pPr>
            <a:r>
              <a:rPr lang="en-US" sz="2800" dirty="0"/>
              <a:t>Why do we need a leap year?</a:t>
            </a:r>
          </a:p>
          <a:p>
            <a:pPr>
              <a:lnSpc>
                <a:spcPct val="110000"/>
              </a:lnSpc>
            </a:pPr>
            <a:r>
              <a:rPr lang="en-US" sz="2800" dirty="0"/>
              <a:t>Which months have 31 days?</a:t>
            </a:r>
          </a:p>
          <a:p>
            <a:pPr>
              <a:lnSpc>
                <a:spcPct val="110000"/>
              </a:lnSpc>
            </a:pPr>
            <a:r>
              <a:rPr lang="en-US" sz="2800" dirty="0"/>
              <a:t>Which months have 30 days?</a:t>
            </a:r>
          </a:p>
          <a:p>
            <a:pPr>
              <a:lnSpc>
                <a:spcPct val="110000"/>
              </a:lnSpc>
            </a:pPr>
            <a:r>
              <a:rPr lang="en-US" sz="2800" dirty="0"/>
              <a:t>What does (BC) BCE or (AD) CE mean?</a:t>
            </a:r>
          </a:p>
          <a:p>
            <a:pPr>
              <a:lnSpc>
                <a:spcPct val="110000"/>
              </a:lnSpc>
            </a:pPr>
            <a:r>
              <a:rPr lang="en-US" sz="2800" dirty="0"/>
              <a:t>Is time the same, all over the planet, our globe called Earth?</a:t>
            </a:r>
          </a:p>
        </p:txBody>
      </p:sp>
    </p:spTree>
    <p:extLst>
      <p:ext uri="{BB962C8B-B14F-4D97-AF65-F5344CB8AC3E}">
        <p14:creationId xmlns:p14="http://schemas.microsoft.com/office/powerpoint/2010/main" val="736901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-21892" y="775435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8001" y="8370"/>
            <a:ext cx="4319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520969" y="1238505"/>
            <a:ext cx="0" cy="561949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324" y="260126"/>
            <a:ext cx="21755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Units of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7593" y="417838"/>
            <a:ext cx="1620180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01" y="2012734"/>
            <a:ext cx="15029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/>
            <a:r>
              <a:rPr lang="en-US" sz="20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I convert unit of time?</a:t>
            </a:r>
            <a:endParaRPr lang="en-AU" sz="20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861" y="796189"/>
            <a:ext cx="7955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4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many weeks have you been alive? (not including this one)</a:t>
            </a:r>
            <a:endParaRPr lang="en-AU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562299" y="1318065"/>
            <a:ext cx="761763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400" b="1" dirty="0">
                <a:solidFill>
                  <a:srgbClr val="8D65EA">
                    <a:lumMod val="50000"/>
                  </a:srgbClr>
                </a:solidFill>
                <a:latin typeface="Calibri" panose="020F0502020204030204"/>
              </a:rPr>
              <a:t>The standard unit of time is seconds (s)</a:t>
            </a:r>
          </a:p>
          <a:p>
            <a:pPr defTabSz="685595"/>
            <a:endParaRPr lang="en-AU" sz="2000" b="1" dirty="0">
              <a:solidFill>
                <a:srgbClr val="8D65EA">
                  <a:lumMod val="50000"/>
                </a:srgbClr>
              </a:solidFill>
              <a:latin typeface="Calibri" panose="020F0502020204030204"/>
            </a:endParaRPr>
          </a:p>
          <a:p>
            <a:pPr defTabSz="685595"/>
            <a:r>
              <a:rPr lang="en-AU" sz="2400" b="1" dirty="0">
                <a:solidFill>
                  <a:srgbClr val="8D65EA">
                    <a:lumMod val="50000"/>
                  </a:srgbClr>
                </a:solidFill>
                <a:latin typeface="Calibri" panose="020F0502020204030204"/>
              </a:rPr>
              <a:t>Time Conversion Caterpillar </a:t>
            </a:r>
          </a:p>
          <a:p>
            <a:pPr defTabSz="685595"/>
            <a:endParaRPr lang="en-AU" sz="2000" b="1" dirty="0">
              <a:solidFill>
                <a:srgbClr val="8D65EA">
                  <a:lumMod val="50000"/>
                </a:srgbClr>
              </a:solidFill>
              <a:latin typeface="Calibri" panose="020F0502020204030204"/>
            </a:endParaRPr>
          </a:p>
          <a:p>
            <a:pPr defTabSz="685595"/>
            <a:r>
              <a:rPr lang="en-AU" sz="2000" b="1" dirty="0">
                <a:solidFill>
                  <a:srgbClr val="8D65EA">
                    <a:lumMod val="50000"/>
                  </a:srgbClr>
                </a:solidFill>
                <a:latin typeface="Calibri" panose="020F0502020204030204"/>
              </a:rPr>
              <a:t> </a:t>
            </a:r>
          </a:p>
          <a:p>
            <a:pPr defTabSz="685595"/>
            <a:r>
              <a:rPr lang="en-AU" sz="2000" b="1" dirty="0">
                <a:solidFill>
                  <a:srgbClr val="00B050"/>
                </a:solidFill>
                <a:latin typeface="Calibri" panose="020F0502020204030204"/>
              </a:rPr>
              <a:t>Day                               Hour                           Minutes		    Second</a:t>
            </a:r>
          </a:p>
          <a:p>
            <a:pPr defTabSz="685595"/>
            <a:endParaRPr lang="en-AU" sz="2000" b="1" dirty="0">
              <a:solidFill>
                <a:srgbClr val="00B050"/>
              </a:solidFill>
              <a:latin typeface="Calibri" panose="020F0502020204030204"/>
            </a:endParaRPr>
          </a:p>
          <a:p>
            <a:pPr defTabSz="685595"/>
            <a:endParaRPr lang="en-AU" sz="2000" b="1" dirty="0">
              <a:solidFill>
                <a:srgbClr val="00B050"/>
              </a:solidFill>
              <a:latin typeface="Calibri" panose="020F0502020204030204"/>
            </a:endParaRPr>
          </a:p>
          <a:p>
            <a:pPr defTabSz="685595"/>
            <a:endParaRPr lang="en-AU" sz="2000" b="1" dirty="0">
              <a:solidFill>
                <a:srgbClr val="00B050"/>
              </a:solidFill>
              <a:latin typeface="Calibri" panose="020F0502020204030204"/>
            </a:endParaRPr>
          </a:p>
          <a:p>
            <a:pPr defTabSz="685595"/>
            <a:endParaRPr lang="en-AU" sz="2000" b="1" dirty="0">
              <a:solidFill>
                <a:srgbClr val="00B050"/>
              </a:solidFill>
              <a:latin typeface="Calibri" panose="020F0502020204030204"/>
            </a:endParaRPr>
          </a:p>
          <a:p>
            <a:pPr defTabSz="685595"/>
            <a:endParaRPr lang="en-US" sz="2000" b="1" dirty="0">
              <a:solidFill>
                <a:srgbClr val="00B050"/>
              </a:solidFill>
              <a:latin typeface="Calibri" panose="020F0502020204030204"/>
            </a:endParaRPr>
          </a:p>
          <a:p>
            <a:pPr defTabSz="685595"/>
            <a:r>
              <a:rPr lang="en-US" sz="2000" b="1" dirty="0">
                <a:solidFill>
                  <a:srgbClr val="00B050"/>
                </a:solidFill>
                <a:latin typeface="Calibri" panose="020F0502020204030204"/>
              </a:rPr>
              <a:t>Year                            Fortnight                    Week		                Day</a:t>
            </a:r>
          </a:p>
          <a:p>
            <a:pPr defTabSz="685595"/>
            <a:endParaRPr lang="en-AU" sz="2000" b="1" dirty="0">
              <a:solidFill>
                <a:srgbClr val="00B050"/>
              </a:solidFill>
              <a:latin typeface="Calibri" panose="020F0502020204030204"/>
            </a:endParaRPr>
          </a:p>
          <a:p>
            <a:pPr defTabSz="685595"/>
            <a:endParaRPr lang="en-AU" sz="2000" b="1" dirty="0">
              <a:solidFill>
                <a:srgbClr val="00B050"/>
              </a:solidFill>
              <a:latin typeface="Calibri" panose="020F0502020204030204"/>
            </a:endParaRPr>
          </a:p>
          <a:p>
            <a:pPr defTabSz="685595"/>
            <a:endParaRPr lang="en-AU" sz="2000" b="1" dirty="0">
              <a:solidFill>
                <a:srgbClr val="00B050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-21891" y="1277924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D73EB889-D79A-48B8-9356-F780D4B36081}"/>
              </a:ext>
            </a:extLst>
          </p:cNvPr>
          <p:cNvGrpSpPr/>
          <p:nvPr/>
        </p:nvGrpSpPr>
        <p:grpSpPr>
          <a:xfrm>
            <a:off x="1811544" y="2593477"/>
            <a:ext cx="2435087" cy="457200"/>
            <a:chOff x="2372139" y="1974574"/>
            <a:chExt cx="3246783" cy="609600"/>
          </a:xfrm>
        </p:grpSpPr>
        <p:sp>
          <p:nvSpPr>
            <p:cNvPr id="2" name="Arrow: Curved Down 1">
              <a:extLst>
                <a:ext uri="{FF2B5EF4-FFF2-40B4-BE49-F238E27FC236}">
                  <a16:creationId xmlns:a16="http://schemas.microsoft.com/office/drawing/2014/main" id="{88B18E47-C3E6-447C-8863-9FEAC299BE46}"/>
                </a:ext>
              </a:extLst>
            </p:cNvPr>
            <p:cNvSpPr/>
            <p:nvPr/>
          </p:nvSpPr>
          <p:spPr>
            <a:xfrm>
              <a:off x="2372139" y="1974574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/>
              <a:endParaRPr lang="en-AU" sz="2000">
                <a:solidFill>
                  <a:prstClr val="black"/>
                </a:solidFill>
                <a:latin typeface="Century Gothic" panose="020B0502020202020204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46F26A7-2C5A-4FAA-B779-BC83843EF02A}"/>
                </a:ext>
              </a:extLst>
            </p:cNvPr>
            <p:cNvSpPr txBox="1"/>
            <p:nvPr/>
          </p:nvSpPr>
          <p:spPr>
            <a:xfrm>
              <a:off x="3422152" y="1974574"/>
              <a:ext cx="1096043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595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 panose="020F0502020204030204"/>
                </a:rPr>
                <a:t>× 24 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13FF91-32D4-46D0-B282-88E04FA2522D}"/>
              </a:ext>
            </a:extLst>
          </p:cNvPr>
          <p:cNvGrpSpPr/>
          <p:nvPr/>
        </p:nvGrpSpPr>
        <p:grpSpPr>
          <a:xfrm>
            <a:off x="3973305" y="2553720"/>
            <a:ext cx="2435087" cy="457200"/>
            <a:chOff x="2372139" y="1974574"/>
            <a:chExt cx="3246783" cy="609600"/>
          </a:xfrm>
        </p:grpSpPr>
        <p:sp>
          <p:nvSpPr>
            <p:cNvPr id="15" name="Arrow: Curved Down 14">
              <a:extLst>
                <a:ext uri="{FF2B5EF4-FFF2-40B4-BE49-F238E27FC236}">
                  <a16:creationId xmlns:a16="http://schemas.microsoft.com/office/drawing/2014/main" id="{7C4D5D61-BD2A-4573-AA77-6A6DA95CA58D}"/>
                </a:ext>
              </a:extLst>
            </p:cNvPr>
            <p:cNvSpPr/>
            <p:nvPr/>
          </p:nvSpPr>
          <p:spPr>
            <a:xfrm>
              <a:off x="2372139" y="1974574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/>
              <a:endParaRPr lang="en-AU" sz="2000">
                <a:solidFill>
                  <a:prstClr val="black"/>
                </a:solidFill>
                <a:latin typeface="Century Gothic" panose="020B0502020202020204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780CAD8-F574-4FEB-94DF-F63C3AE59110}"/>
                </a:ext>
              </a:extLst>
            </p:cNvPr>
            <p:cNvSpPr txBox="1"/>
            <p:nvPr/>
          </p:nvSpPr>
          <p:spPr>
            <a:xfrm>
              <a:off x="3422152" y="1974574"/>
              <a:ext cx="1096043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595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 panose="020F0502020204030204"/>
                </a:rPr>
                <a:t>× 60 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5FE4D06-409F-45B5-9F3E-38BDB475C7DC}"/>
              </a:ext>
            </a:extLst>
          </p:cNvPr>
          <p:cNvGrpSpPr/>
          <p:nvPr/>
        </p:nvGrpSpPr>
        <p:grpSpPr>
          <a:xfrm>
            <a:off x="6165137" y="2525932"/>
            <a:ext cx="2435087" cy="457200"/>
            <a:chOff x="2372139" y="1974574"/>
            <a:chExt cx="3246783" cy="609600"/>
          </a:xfrm>
        </p:grpSpPr>
        <p:sp>
          <p:nvSpPr>
            <p:cNvPr id="18" name="Arrow: Curved Down 17">
              <a:extLst>
                <a:ext uri="{FF2B5EF4-FFF2-40B4-BE49-F238E27FC236}">
                  <a16:creationId xmlns:a16="http://schemas.microsoft.com/office/drawing/2014/main" id="{A357B714-26F1-4C41-A04F-AAA619EF79C5}"/>
                </a:ext>
              </a:extLst>
            </p:cNvPr>
            <p:cNvSpPr/>
            <p:nvPr/>
          </p:nvSpPr>
          <p:spPr>
            <a:xfrm>
              <a:off x="2372139" y="1974574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/>
              <a:endParaRPr lang="en-AU" sz="2000">
                <a:solidFill>
                  <a:prstClr val="black"/>
                </a:solidFill>
                <a:latin typeface="Century Gothic" panose="020B0502020202020204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E55B804-78CF-4B1E-965A-7BB5BC7125A6}"/>
                </a:ext>
              </a:extLst>
            </p:cNvPr>
            <p:cNvSpPr txBox="1"/>
            <p:nvPr/>
          </p:nvSpPr>
          <p:spPr>
            <a:xfrm>
              <a:off x="3422152" y="1974574"/>
              <a:ext cx="1096043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595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 panose="020F0502020204030204"/>
                </a:rPr>
                <a:t>× 60 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64D97B0-4B19-46E9-A6DB-7D04121E1E5E}"/>
              </a:ext>
            </a:extLst>
          </p:cNvPr>
          <p:cNvGrpSpPr/>
          <p:nvPr/>
        </p:nvGrpSpPr>
        <p:grpSpPr>
          <a:xfrm>
            <a:off x="6035817" y="3280384"/>
            <a:ext cx="2435087" cy="457200"/>
            <a:chOff x="8057322" y="2950963"/>
            <a:chExt cx="3246783" cy="609600"/>
          </a:xfrm>
        </p:grpSpPr>
        <p:sp>
          <p:nvSpPr>
            <p:cNvPr id="21" name="Arrow: Curved Down 20">
              <a:extLst>
                <a:ext uri="{FF2B5EF4-FFF2-40B4-BE49-F238E27FC236}">
                  <a16:creationId xmlns:a16="http://schemas.microsoft.com/office/drawing/2014/main" id="{3B378309-B22B-46AF-93A3-A381ABFCAB49}"/>
                </a:ext>
              </a:extLst>
            </p:cNvPr>
            <p:cNvSpPr/>
            <p:nvPr/>
          </p:nvSpPr>
          <p:spPr>
            <a:xfrm rot="10800000">
              <a:off x="8057322" y="2950963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/>
              <a:endParaRPr lang="en-AU" sz="2000">
                <a:solidFill>
                  <a:srgbClr val="7F2294">
                    <a:lumMod val="60000"/>
                    <a:lumOff val="40000"/>
                  </a:srgbClr>
                </a:solidFill>
                <a:latin typeface="Century Gothic" panose="020B0502020202020204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F70075-C355-47E6-97C7-8FBD970500CE}"/>
                </a:ext>
              </a:extLst>
            </p:cNvPr>
            <p:cNvSpPr txBox="1"/>
            <p:nvPr/>
          </p:nvSpPr>
          <p:spPr>
            <a:xfrm>
              <a:off x="9320437" y="2963374"/>
              <a:ext cx="1096043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595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 panose="020F0502020204030204"/>
                </a:rPr>
                <a:t>÷ 60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0D1C4A4-530A-4646-B1CF-C334850F2B6C}"/>
              </a:ext>
            </a:extLst>
          </p:cNvPr>
          <p:cNvGrpSpPr/>
          <p:nvPr/>
        </p:nvGrpSpPr>
        <p:grpSpPr>
          <a:xfrm>
            <a:off x="3870937" y="3313138"/>
            <a:ext cx="2435087" cy="457200"/>
            <a:chOff x="8057322" y="2950963"/>
            <a:chExt cx="3246783" cy="609600"/>
          </a:xfrm>
        </p:grpSpPr>
        <p:sp>
          <p:nvSpPr>
            <p:cNvPr id="24" name="Arrow: Curved Down 23">
              <a:extLst>
                <a:ext uri="{FF2B5EF4-FFF2-40B4-BE49-F238E27FC236}">
                  <a16:creationId xmlns:a16="http://schemas.microsoft.com/office/drawing/2014/main" id="{603E1C8B-0794-4B41-A61B-888E7E553039}"/>
                </a:ext>
              </a:extLst>
            </p:cNvPr>
            <p:cNvSpPr/>
            <p:nvPr/>
          </p:nvSpPr>
          <p:spPr>
            <a:xfrm rot="10800000">
              <a:off x="8057322" y="2950963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/>
              <a:endParaRPr lang="en-AU" sz="2000">
                <a:solidFill>
                  <a:srgbClr val="7F2294">
                    <a:lumMod val="60000"/>
                    <a:lumOff val="40000"/>
                  </a:srgbClr>
                </a:solidFill>
                <a:latin typeface="Century Gothic" panose="020B0502020202020204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5BEB744-1D01-466F-BF60-E756219E4F40}"/>
                </a:ext>
              </a:extLst>
            </p:cNvPr>
            <p:cNvSpPr txBox="1"/>
            <p:nvPr/>
          </p:nvSpPr>
          <p:spPr>
            <a:xfrm>
              <a:off x="9320437" y="2963374"/>
              <a:ext cx="1096043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595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 panose="020F0502020204030204"/>
                </a:rPr>
                <a:t>÷ 60 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7FEF30A-E6C1-4447-8E7B-EBFA880F2AE6}"/>
              </a:ext>
            </a:extLst>
          </p:cNvPr>
          <p:cNvGrpSpPr/>
          <p:nvPr/>
        </p:nvGrpSpPr>
        <p:grpSpPr>
          <a:xfrm>
            <a:off x="1706058" y="3316993"/>
            <a:ext cx="2435087" cy="457200"/>
            <a:chOff x="8057322" y="2950963"/>
            <a:chExt cx="3246783" cy="609600"/>
          </a:xfrm>
        </p:grpSpPr>
        <p:sp>
          <p:nvSpPr>
            <p:cNvPr id="27" name="Arrow: Curved Down 26">
              <a:extLst>
                <a:ext uri="{FF2B5EF4-FFF2-40B4-BE49-F238E27FC236}">
                  <a16:creationId xmlns:a16="http://schemas.microsoft.com/office/drawing/2014/main" id="{01CFCE21-3E59-4A02-BD5F-5CA12C373AB9}"/>
                </a:ext>
              </a:extLst>
            </p:cNvPr>
            <p:cNvSpPr/>
            <p:nvPr/>
          </p:nvSpPr>
          <p:spPr>
            <a:xfrm rot="10800000">
              <a:off x="8057322" y="2950963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/>
              <a:endParaRPr lang="en-AU" sz="2000">
                <a:solidFill>
                  <a:srgbClr val="7F2294">
                    <a:lumMod val="60000"/>
                    <a:lumOff val="40000"/>
                  </a:srgbClr>
                </a:solidFill>
                <a:latin typeface="Century Gothic" panose="020B0502020202020204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37F2F96-C8F3-43BC-9084-2408FFC8D6C3}"/>
                </a:ext>
              </a:extLst>
            </p:cNvPr>
            <p:cNvSpPr txBox="1"/>
            <p:nvPr/>
          </p:nvSpPr>
          <p:spPr>
            <a:xfrm>
              <a:off x="9320437" y="2963374"/>
              <a:ext cx="1096043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595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 panose="020F0502020204030204"/>
                </a:rPr>
                <a:t>÷ 24 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FB185C9-9E2C-4077-9DF4-605A3283D955}"/>
              </a:ext>
            </a:extLst>
          </p:cNvPr>
          <p:cNvGrpSpPr/>
          <p:nvPr/>
        </p:nvGrpSpPr>
        <p:grpSpPr>
          <a:xfrm>
            <a:off x="1688102" y="4394977"/>
            <a:ext cx="2435087" cy="457200"/>
            <a:chOff x="2372139" y="1974574"/>
            <a:chExt cx="3246783" cy="609600"/>
          </a:xfrm>
        </p:grpSpPr>
        <p:sp>
          <p:nvSpPr>
            <p:cNvPr id="30" name="Arrow: Curved Down 29">
              <a:extLst>
                <a:ext uri="{FF2B5EF4-FFF2-40B4-BE49-F238E27FC236}">
                  <a16:creationId xmlns:a16="http://schemas.microsoft.com/office/drawing/2014/main" id="{885A1432-9632-4F1F-B8D2-9B0A6CEDBD18}"/>
                </a:ext>
              </a:extLst>
            </p:cNvPr>
            <p:cNvSpPr/>
            <p:nvPr/>
          </p:nvSpPr>
          <p:spPr>
            <a:xfrm>
              <a:off x="2372139" y="1974574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/>
              <a:endParaRPr lang="en-AU" sz="2000">
                <a:solidFill>
                  <a:prstClr val="black"/>
                </a:solidFill>
                <a:latin typeface="Century Gothic" panose="020B0502020202020204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A6EFB7C-D0E5-40CB-A5C2-BFD6CDBC8620}"/>
                </a:ext>
              </a:extLst>
            </p:cNvPr>
            <p:cNvSpPr txBox="1"/>
            <p:nvPr/>
          </p:nvSpPr>
          <p:spPr>
            <a:xfrm>
              <a:off x="3422152" y="1974574"/>
              <a:ext cx="1096043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595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 panose="020F0502020204030204"/>
                </a:rPr>
                <a:t>× 26 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8780A9E-493C-45D3-A4B5-9866FF8F9A50}"/>
              </a:ext>
            </a:extLst>
          </p:cNvPr>
          <p:cNvGrpSpPr/>
          <p:nvPr/>
        </p:nvGrpSpPr>
        <p:grpSpPr>
          <a:xfrm>
            <a:off x="3849863" y="4355220"/>
            <a:ext cx="2435087" cy="457200"/>
            <a:chOff x="2372139" y="1974574"/>
            <a:chExt cx="3246783" cy="609600"/>
          </a:xfrm>
        </p:grpSpPr>
        <p:sp>
          <p:nvSpPr>
            <p:cNvPr id="34" name="Arrow: Curved Down 33">
              <a:extLst>
                <a:ext uri="{FF2B5EF4-FFF2-40B4-BE49-F238E27FC236}">
                  <a16:creationId xmlns:a16="http://schemas.microsoft.com/office/drawing/2014/main" id="{DA60EDCC-A352-42E9-AB91-B365717CE11D}"/>
                </a:ext>
              </a:extLst>
            </p:cNvPr>
            <p:cNvSpPr/>
            <p:nvPr/>
          </p:nvSpPr>
          <p:spPr>
            <a:xfrm>
              <a:off x="2372139" y="1974574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/>
              <a:endParaRPr lang="en-AU" sz="2000">
                <a:solidFill>
                  <a:prstClr val="black"/>
                </a:solidFill>
                <a:latin typeface="Century Gothic" panose="020B0502020202020204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5027B5B-B2C8-4468-AA1D-ABFE0668A65C}"/>
                </a:ext>
              </a:extLst>
            </p:cNvPr>
            <p:cNvSpPr txBox="1"/>
            <p:nvPr/>
          </p:nvSpPr>
          <p:spPr>
            <a:xfrm>
              <a:off x="3422152" y="1974574"/>
              <a:ext cx="1096043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595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 panose="020F0502020204030204"/>
                </a:rPr>
                <a:t>× 2 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5D479E7-638A-43C3-B687-16E96D12C490}"/>
              </a:ext>
            </a:extLst>
          </p:cNvPr>
          <p:cNvGrpSpPr/>
          <p:nvPr/>
        </p:nvGrpSpPr>
        <p:grpSpPr>
          <a:xfrm>
            <a:off x="6041695" y="4327433"/>
            <a:ext cx="2435087" cy="457200"/>
            <a:chOff x="2372139" y="1974574"/>
            <a:chExt cx="3246783" cy="609600"/>
          </a:xfrm>
        </p:grpSpPr>
        <p:sp>
          <p:nvSpPr>
            <p:cNvPr id="38" name="Arrow: Curved Down 37">
              <a:extLst>
                <a:ext uri="{FF2B5EF4-FFF2-40B4-BE49-F238E27FC236}">
                  <a16:creationId xmlns:a16="http://schemas.microsoft.com/office/drawing/2014/main" id="{4A583994-2950-4D53-8577-629754A05C23}"/>
                </a:ext>
              </a:extLst>
            </p:cNvPr>
            <p:cNvSpPr/>
            <p:nvPr/>
          </p:nvSpPr>
          <p:spPr>
            <a:xfrm>
              <a:off x="2372139" y="1974574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/>
              <a:endParaRPr lang="en-AU" sz="2000">
                <a:solidFill>
                  <a:prstClr val="black"/>
                </a:solidFill>
                <a:latin typeface="Century Gothic" panose="020B0502020202020204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1FF2AAD-5ECB-4211-9C19-9A5C88B46041}"/>
                </a:ext>
              </a:extLst>
            </p:cNvPr>
            <p:cNvSpPr txBox="1"/>
            <p:nvPr/>
          </p:nvSpPr>
          <p:spPr>
            <a:xfrm>
              <a:off x="3422152" y="1974574"/>
              <a:ext cx="1096043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595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 panose="020F0502020204030204"/>
                </a:rPr>
                <a:t>× 7 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BE8990C-6B3E-49F3-98EA-707D279BDE4F}"/>
              </a:ext>
            </a:extLst>
          </p:cNvPr>
          <p:cNvGrpSpPr/>
          <p:nvPr/>
        </p:nvGrpSpPr>
        <p:grpSpPr>
          <a:xfrm>
            <a:off x="5912375" y="5081885"/>
            <a:ext cx="2435087" cy="457200"/>
            <a:chOff x="8057322" y="2950963"/>
            <a:chExt cx="3246783" cy="609600"/>
          </a:xfrm>
        </p:grpSpPr>
        <p:sp>
          <p:nvSpPr>
            <p:cNvPr id="41" name="Arrow: Curved Down 40">
              <a:extLst>
                <a:ext uri="{FF2B5EF4-FFF2-40B4-BE49-F238E27FC236}">
                  <a16:creationId xmlns:a16="http://schemas.microsoft.com/office/drawing/2014/main" id="{11360455-7150-4ABF-AFCF-D1A9C5FC990B}"/>
                </a:ext>
              </a:extLst>
            </p:cNvPr>
            <p:cNvSpPr/>
            <p:nvPr/>
          </p:nvSpPr>
          <p:spPr>
            <a:xfrm rot="10800000">
              <a:off x="8057322" y="2950963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/>
              <a:endParaRPr lang="en-AU" sz="2000">
                <a:solidFill>
                  <a:srgbClr val="7F2294">
                    <a:lumMod val="60000"/>
                    <a:lumOff val="40000"/>
                  </a:srgbClr>
                </a:solidFill>
                <a:latin typeface="Century Gothic" panose="020B0502020202020204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175934A-6FE0-431C-8763-3D61476DB2CC}"/>
                </a:ext>
              </a:extLst>
            </p:cNvPr>
            <p:cNvSpPr txBox="1"/>
            <p:nvPr/>
          </p:nvSpPr>
          <p:spPr>
            <a:xfrm>
              <a:off x="9320437" y="2963374"/>
              <a:ext cx="1096043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595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 panose="020F0502020204030204"/>
                </a:rPr>
                <a:t>÷ 7 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163323B-9ABE-4333-A1F7-7E78D4EBA4D8}"/>
              </a:ext>
            </a:extLst>
          </p:cNvPr>
          <p:cNvGrpSpPr/>
          <p:nvPr/>
        </p:nvGrpSpPr>
        <p:grpSpPr>
          <a:xfrm>
            <a:off x="3747495" y="5114638"/>
            <a:ext cx="2435087" cy="457200"/>
            <a:chOff x="8057322" y="2950963"/>
            <a:chExt cx="3246783" cy="609600"/>
          </a:xfrm>
        </p:grpSpPr>
        <p:sp>
          <p:nvSpPr>
            <p:cNvPr id="44" name="Arrow: Curved Down 43">
              <a:extLst>
                <a:ext uri="{FF2B5EF4-FFF2-40B4-BE49-F238E27FC236}">
                  <a16:creationId xmlns:a16="http://schemas.microsoft.com/office/drawing/2014/main" id="{3D52EDA2-CD37-4DC9-B178-036CDF1E2D4D}"/>
                </a:ext>
              </a:extLst>
            </p:cNvPr>
            <p:cNvSpPr/>
            <p:nvPr/>
          </p:nvSpPr>
          <p:spPr>
            <a:xfrm rot="10800000">
              <a:off x="8057322" y="2950963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/>
              <a:endParaRPr lang="en-AU" sz="2000">
                <a:solidFill>
                  <a:srgbClr val="7F2294">
                    <a:lumMod val="60000"/>
                    <a:lumOff val="40000"/>
                  </a:srgbClr>
                </a:solidFill>
                <a:latin typeface="Century Gothic" panose="020B0502020202020204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CCF7478-695F-4C0A-BEFA-F0E2FF08D7B2}"/>
                </a:ext>
              </a:extLst>
            </p:cNvPr>
            <p:cNvSpPr txBox="1"/>
            <p:nvPr/>
          </p:nvSpPr>
          <p:spPr>
            <a:xfrm>
              <a:off x="9320437" y="2963374"/>
              <a:ext cx="1096043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595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 panose="020F0502020204030204"/>
                </a:rPr>
                <a:t>÷ 2 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461FC4F-7616-402B-9E68-DA29705731EE}"/>
              </a:ext>
            </a:extLst>
          </p:cNvPr>
          <p:cNvGrpSpPr/>
          <p:nvPr/>
        </p:nvGrpSpPr>
        <p:grpSpPr>
          <a:xfrm>
            <a:off x="1582616" y="5118494"/>
            <a:ext cx="2435087" cy="457200"/>
            <a:chOff x="8057322" y="2950963"/>
            <a:chExt cx="3246783" cy="609600"/>
          </a:xfrm>
        </p:grpSpPr>
        <p:sp>
          <p:nvSpPr>
            <p:cNvPr id="47" name="Arrow: Curved Down 46">
              <a:extLst>
                <a:ext uri="{FF2B5EF4-FFF2-40B4-BE49-F238E27FC236}">
                  <a16:creationId xmlns:a16="http://schemas.microsoft.com/office/drawing/2014/main" id="{72A0F8A6-D702-4BC1-BB96-7F8F6585A7E9}"/>
                </a:ext>
              </a:extLst>
            </p:cNvPr>
            <p:cNvSpPr/>
            <p:nvPr/>
          </p:nvSpPr>
          <p:spPr>
            <a:xfrm rot="10800000">
              <a:off x="8057322" y="2950963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/>
              <a:endParaRPr lang="en-AU" sz="2000">
                <a:solidFill>
                  <a:srgbClr val="7F2294">
                    <a:lumMod val="60000"/>
                    <a:lumOff val="40000"/>
                  </a:srgbClr>
                </a:solidFill>
                <a:latin typeface="Century Gothic" panose="020B0502020202020204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0C2C702-C95B-407F-AC0B-E2975AC950E1}"/>
                </a:ext>
              </a:extLst>
            </p:cNvPr>
            <p:cNvSpPr txBox="1"/>
            <p:nvPr/>
          </p:nvSpPr>
          <p:spPr>
            <a:xfrm>
              <a:off x="9320437" y="2963374"/>
              <a:ext cx="1096043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595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 panose="020F0502020204030204"/>
                </a:rPr>
                <a:t>÷ 26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2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-21892" y="775435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8001" y="8370"/>
            <a:ext cx="4319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520969" y="1238505"/>
            <a:ext cx="0" cy="561949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324" y="260126"/>
            <a:ext cx="21755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Units of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7593" y="417838"/>
            <a:ext cx="1620180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61" y="796189"/>
            <a:ext cx="7955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4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many weeks have you been alive? (not including this one)</a:t>
            </a:r>
            <a:endParaRPr lang="en-AU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-21891" y="1277924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8001" y="1354676"/>
            <a:ext cx="1502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/>
            <a:r>
              <a:rPr lang="en-US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 decade?</a:t>
            </a:r>
            <a:endParaRPr lang="en-AU" sz="24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8759" y="2175257"/>
            <a:ext cx="1502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/>
            <a:r>
              <a:rPr lang="en-US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 century?</a:t>
            </a:r>
            <a:endParaRPr lang="en-AU" sz="24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527907" y="1465805"/>
            <a:ext cx="76176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400" b="1" dirty="0">
                <a:solidFill>
                  <a:srgbClr val="00B050"/>
                </a:solidFill>
                <a:latin typeface="Calibri" panose="020F0502020204030204"/>
              </a:rPr>
              <a:t>Decade is 10 years</a:t>
            </a:r>
          </a:p>
          <a:p>
            <a:pPr defTabSz="685595"/>
            <a:endParaRPr lang="en-AU" sz="2400" b="1" dirty="0">
              <a:solidFill>
                <a:srgbClr val="00B050"/>
              </a:solidFill>
              <a:latin typeface="Calibri" panose="020F0502020204030204"/>
            </a:endParaRPr>
          </a:p>
          <a:p>
            <a:pPr defTabSz="685595"/>
            <a:r>
              <a:rPr lang="en-AU" sz="2400" b="1" dirty="0">
                <a:solidFill>
                  <a:srgbClr val="00B050"/>
                </a:solidFill>
                <a:latin typeface="Calibri" panose="020F0502020204030204"/>
              </a:rPr>
              <a:t>Century is 100 years.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001" y="3073343"/>
            <a:ext cx="1502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/>
            <a:r>
              <a:rPr lang="en-US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Example : </a:t>
            </a:r>
            <a:endParaRPr lang="en-AU" sz="24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54" name="Content Placeholder 2"/>
          <p:cNvSpPr txBox="1">
            <a:spLocks/>
          </p:cNvSpPr>
          <p:nvPr/>
        </p:nvSpPr>
        <p:spPr>
          <a:xfrm>
            <a:off x="1563197" y="3073343"/>
            <a:ext cx="7713409" cy="381094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800" dirty="0"/>
              <a:t>A) 	</a:t>
            </a:r>
            <a:r>
              <a:rPr lang="en-US" sz="2800" b="1" dirty="0"/>
              <a:t>3 days =  _______   minutes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800" dirty="0"/>
              <a:t>	</a:t>
            </a:r>
            <a:r>
              <a:rPr lang="en-US" sz="2800" dirty="0">
                <a:solidFill>
                  <a:srgbClr val="FF0000"/>
                </a:solidFill>
              </a:rPr>
              <a:t>3 days = 3 x 24 h	</a:t>
            </a:r>
            <a:r>
              <a:rPr lang="en-US" sz="2800" dirty="0"/>
              <a:t>	</a:t>
            </a:r>
            <a:r>
              <a:rPr lang="en-US" sz="2800" i="1" dirty="0"/>
              <a:t>1 day = 24 hours  </a:t>
            </a:r>
          </a:p>
          <a:p>
            <a:pPr marL="1371600" lvl="3" indent="0">
              <a:buFont typeface="Arial" panose="020B0604020202020204" pitchFamily="34" charset="0"/>
              <a:buNone/>
            </a:pPr>
            <a:r>
              <a:rPr lang="en-US" sz="2800" dirty="0">
                <a:solidFill>
                  <a:srgbClr val="FF0000"/>
                </a:solidFill>
              </a:rPr>
              <a:t>= 72 hours</a:t>
            </a:r>
          </a:p>
          <a:p>
            <a:pPr marL="1371600" lvl="3" indent="0">
              <a:buFont typeface="Arial" panose="020B0604020202020204" pitchFamily="34" charset="0"/>
              <a:buNone/>
            </a:pPr>
            <a:r>
              <a:rPr lang="en-US" sz="2800" dirty="0">
                <a:solidFill>
                  <a:srgbClr val="FF0000"/>
                </a:solidFill>
              </a:rPr>
              <a:t>= 72 x 60 min</a:t>
            </a:r>
            <a:r>
              <a:rPr lang="en-US" sz="2800" dirty="0"/>
              <a:t>      </a:t>
            </a:r>
            <a:r>
              <a:rPr lang="en-US" sz="2800" i="1" dirty="0"/>
              <a:t>1 hour = 60 minutes</a:t>
            </a:r>
          </a:p>
          <a:p>
            <a:pPr marL="1371600" lvl="3" indent="0">
              <a:buFont typeface="Arial" panose="020B0604020202020204" pitchFamily="34" charset="0"/>
              <a:buNone/>
            </a:pPr>
            <a:r>
              <a:rPr lang="en-US" sz="2800" dirty="0">
                <a:solidFill>
                  <a:srgbClr val="FF0000"/>
                </a:solidFill>
              </a:rPr>
              <a:t>= 4320 min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800" dirty="0"/>
              <a:t>B) </a:t>
            </a:r>
            <a:r>
              <a:rPr lang="en-US" sz="2800" b="1" dirty="0"/>
              <a:t>30 months = ________     years</a:t>
            </a:r>
          </a:p>
          <a:p>
            <a:pPr marL="2286000" lvl="5" indent="0">
              <a:buFont typeface="Arial" panose="020B0604020202020204" pitchFamily="34" charset="0"/>
              <a:buNone/>
            </a:pPr>
            <a:r>
              <a:rPr lang="en-US" sz="2800" dirty="0">
                <a:solidFill>
                  <a:srgbClr val="FF0000"/>
                </a:solidFill>
              </a:rPr>
              <a:t>= 	30 ÷ 12</a:t>
            </a:r>
            <a:r>
              <a:rPr lang="en-US" sz="2800" i="1" dirty="0">
                <a:solidFill>
                  <a:srgbClr val="FF0000"/>
                </a:solidFill>
              </a:rPr>
              <a:t> </a:t>
            </a:r>
            <a:r>
              <a:rPr lang="en-US" sz="2800" i="1" dirty="0"/>
              <a:t>		1 year = 12 months</a:t>
            </a:r>
            <a:endParaRPr lang="en-US" sz="2800" dirty="0"/>
          </a:p>
          <a:p>
            <a:pPr marL="2286000" lvl="5" indent="0">
              <a:buFont typeface="Arial" panose="020B0604020202020204" pitchFamily="34" charset="0"/>
              <a:buNone/>
            </a:pPr>
            <a:r>
              <a:rPr lang="en-US" sz="2800" dirty="0">
                <a:solidFill>
                  <a:srgbClr val="FF0000"/>
                </a:solidFill>
              </a:rPr>
              <a:t>=	2 ½ years</a:t>
            </a:r>
          </a:p>
          <a:p>
            <a:pPr marL="2286000" lvl="5" indent="0">
              <a:buFont typeface="Arial" panose="020B0604020202020204" pitchFamily="34" charset="0"/>
              <a:buNone/>
            </a:pPr>
            <a:r>
              <a:rPr lang="en-US" sz="2800" dirty="0"/>
              <a:t>	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4939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BB261DD-2524-48EA-9318-67CD5CA2AA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132065"/>
              </p:ext>
            </p:extLst>
          </p:nvPr>
        </p:nvGraphicFramePr>
        <p:xfrm>
          <a:off x="-36511" y="116632"/>
          <a:ext cx="4392487" cy="3312368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487731">
                  <a:extLst>
                    <a:ext uri="{9D8B030D-6E8A-4147-A177-3AD203B41FA5}">
                      <a16:colId xmlns:a16="http://schemas.microsoft.com/office/drawing/2014/main" val="1981285039"/>
                    </a:ext>
                  </a:extLst>
                </a:gridCol>
                <a:gridCol w="1452378">
                  <a:extLst>
                    <a:ext uri="{9D8B030D-6E8A-4147-A177-3AD203B41FA5}">
                      <a16:colId xmlns:a16="http://schemas.microsoft.com/office/drawing/2014/main" val="3110992549"/>
                    </a:ext>
                  </a:extLst>
                </a:gridCol>
                <a:gridCol w="1452378">
                  <a:extLst>
                    <a:ext uri="{9D8B030D-6E8A-4147-A177-3AD203B41FA5}">
                      <a16:colId xmlns:a16="http://schemas.microsoft.com/office/drawing/2014/main" val="2832310460"/>
                    </a:ext>
                  </a:extLst>
                </a:gridCol>
              </a:tblGrid>
              <a:tr h="414046">
                <a:tc>
                  <a:txBody>
                    <a:bodyPr/>
                    <a:lstStyle/>
                    <a:p>
                      <a:r>
                        <a:rPr lang="en-AU" dirty="0"/>
                        <a:t>Seconds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3021230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236129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8848554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862382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960657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57515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9209836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22961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785020-AC1D-4AFB-8476-CB5DDBBB6D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0735231"/>
              </p:ext>
            </p:extLst>
          </p:nvPr>
        </p:nvGraphicFramePr>
        <p:xfrm>
          <a:off x="4355977" y="3429000"/>
          <a:ext cx="4775874" cy="3274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1958">
                  <a:extLst>
                    <a:ext uri="{9D8B030D-6E8A-4147-A177-3AD203B41FA5}">
                      <a16:colId xmlns:a16="http://schemas.microsoft.com/office/drawing/2014/main" val="1834872687"/>
                    </a:ext>
                  </a:extLst>
                </a:gridCol>
                <a:gridCol w="1591958">
                  <a:extLst>
                    <a:ext uri="{9D8B030D-6E8A-4147-A177-3AD203B41FA5}">
                      <a16:colId xmlns:a16="http://schemas.microsoft.com/office/drawing/2014/main" val="1259980822"/>
                    </a:ext>
                  </a:extLst>
                </a:gridCol>
                <a:gridCol w="1591958">
                  <a:extLst>
                    <a:ext uri="{9D8B030D-6E8A-4147-A177-3AD203B41FA5}">
                      <a16:colId xmlns:a16="http://schemas.microsoft.com/office/drawing/2014/main" val="3037451871"/>
                    </a:ext>
                  </a:extLst>
                </a:gridCol>
              </a:tblGrid>
              <a:tr h="409353">
                <a:tc>
                  <a:txBody>
                    <a:bodyPr/>
                    <a:lstStyle/>
                    <a:p>
                      <a:r>
                        <a:rPr lang="en-AU" dirty="0"/>
                        <a:t>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Months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Years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739203"/>
                  </a:ext>
                </a:extLst>
              </a:tr>
              <a:tr h="409353">
                <a:tc>
                  <a:txBody>
                    <a:bodyPr/>
                    <a:lstStyle/>
                    <a:p>
                      <a:r>
                        <a:rPr lang="en-AU" dirty="0"/>
                        <a:t>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594886"/>
                  </a:ext>
                </a:extLst>
              </a:tr>
              <a:tr h="409353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594777"/>
                  </a:ext>
                </a:extLst>
              </a:tr>
              <a:tr h="409353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610118"/>
                  </a:ext>
                </a:extLst>
              </a:tr>
              <a:tr h="409353">
                <a:tc>
                  <a:txBody>
                    <a:bodyPr/>
                    <a:lstStyle/>
                    <a:p>
                      <a:r>
                        <a:rPr lang="en-AU" dirty="0"/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140853"/>
                  </a:ext>
                </a:extLst>
              </a:tr>
              <a:tr h="409353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6273771"/>
                  </a:ext>
                </a:extLst>
              </a:tr>
              <a:tr h="409353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351429"/>
                  </a:ext>
                </a:extLst>
              </a:tr>
              <a:tr h="409353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83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1213265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435</TotalTime>
  <Words>272</Words>
  <Application>Microsoft Office PowerPoint</Application>
  <PresentationFormat>On-screen Show (4:3)</PresentationFormat>
  <Paragraphs>101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Century Gothic</vt:lpstr>
      <vt:lpstr>Kiwi School Handwriting</vt:lpstr>
      <vt:lpstr>Vapor Trail</vt:lpstr>
      <vt:lpstr>Office Theme</vt:lpstr>
      <vt:lpstr>Time EQ: How many weeks have you been alive? (not including this one)</vt:lpstr>
      <vt:lpstr>PowerPoint Presentation</vt:lpstr>
      <vt:lpstr>PowerPoint Presentation</vt:lpstr>
      <vt:lpstr>Knowledge of Time Quick quiz. (LHS)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Trigonometry 1</dc:title>
  <dc:creator>Ben</dc:creator>
  <cp:lastModifiedBy>CRAIG Mason [Baldivis Secondary College]</cp:lastModifiedBy>
  <cp:revision>43</cp:revision>
  <dcterms:created xsi:type="dcterms:W3CDTF">2013-03-25T14:33:20Z</dcterms:created>
  <dcterms:modified xsi:type="dcterms:W3CDTF">2018-10-14T09:46:53Z</dcterms:modified>
</cp:coreProperties>
</file>
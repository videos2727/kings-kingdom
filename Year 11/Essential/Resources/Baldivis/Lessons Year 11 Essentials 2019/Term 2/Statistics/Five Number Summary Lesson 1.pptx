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257" r:id="rId2"/>
    <p:sldId id="331" r:id="rId3"/>
    <p:sldId id="333" r:id="rId4"/>
    <p:sldId id="336" r:id="rId5"/>
    <p:sldId id="337" r:id="rId6"/>
    <p:sldId id="338" r:id="rId7"/>
    <p:sldId id="339" r:id="rId8"/>
    <p:sldId id="260" r:id="rId9"/>
    <p:sldId id="34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257"/>
            <p14:sldId id="331"/>
            <p14:sldId id="333"/>
            <p14:sldId id="336"/>
            <p14:sldId id="337"/>
            <p14:sldId id="338"/>
            <p14:sldId id="339"/>
            <p14:sldId id="260"/>
            <p14:sldId id="3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05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98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28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96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60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374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0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28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76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94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05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928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77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1598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715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116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044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6154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8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56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Five Number Summary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40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Introduction</a:t>
            </a:r>
            <a:endParaRPr lang="en-US" sz="6600" b="1" cap="none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11 Mathematics Essentials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Lesson </a:t>
            </a:r>
            <a:r>
              <a:rPr lang="en-AU" sz="4400" b="1" dirty="0" err="1">
                <a:solidFill>
                  <a:schemeClr val="accent1"/>
                </a:solidFill>
                <a:latin typeface="Kiwi School Handwriting"/>
              </a:rPr>
              <a:t>OutComes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2.1.9 Calculate and interpret quartiles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477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Five Number Summary?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CABD9B2B-E6F0-4128-B765-15CC297C3CD7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/>
              <a:t>The 5 number summary can be found for any set of numerical discrete data.</a:t>
            </a:r>
            <a:endParaRPr lang="en-US" sz="2800" b="1" dirty="0">
              <a:solidFill>
                <a:srgbClr val="CC0099"/>
              </a:solidFill>
            </a:endParaRP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The 5 number summary consists of :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median (2</a:t>
            </a:r>
            <a:r>
              <a:rPr lang="en-US" sz="2800" baseline="30000" dirty="0"/>
              <a:t>nd</a:t>
            </a:r>
            <a:r>
              <a:rPr lang="en-US" sz="2800" dirty="0"/>
              <a:t> quartile)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1</a:t>
            </a:r>
            <a:r>
              <a:rPr lang="en-US" sz="2800" baseline="30000" dirty="0"/>
              <a:t>st</a:t>
            </a:r>
            <a:r>
              <a:rPr lang="en-US" sz="2800" dirty="0"/>
              <a:t> quartile/Lower Quartile (Q</a:t>
            </a:r>
            <a:r>
              <a:rPr lang="en-US" sz="2800" baseline="-25000" dirty="0"/>
              <a:t>1</a:t>
            </a:r>
            <a:r>
              <a:rPr lang="en-US" sz="2800" dirty="0"/>
              <a:t>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3</a:t>
            </a:r>
            <a:r>
              <a:rPr lang="en-US" sz="2800" baseline="30000" dirty="0"/>
              <a:t>rd</a:t>
            </a:r>
            <a:r>
              <a:rPr lang="en-US" sz="2800" dirty="0"/>
              <a:t> quartile/Upper Quartile (Q</a:t>
            </a:r>
            <a:r>
              <a:rPr lang="en-US" sz="2800" baseline="-25000" dirty="0"/>
              <a:t>3</a:t>
            </a:r>
            <a:r>
              <a:rPr lang="en-US" sz="2800" dirty="0"/>
              <a:t>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maximum value in a data set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800" dirty="0"/>
              <a:t>The minimum value in a data set</a:t>
            </a:r>
          </a:p>
        </p:txBody>
      </p:sp>
    </p:spTree>
    <p:extLst>
      <p:ext uri="{BB962C8B-B14F-4D97-AF65-F5344CB8AC3E}">
        <p14:creationId xmlns:p14="http://schemas.microsoft.com/office/powerpoint/2010/main" val="5479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Total Physical Response </a:t>
            </a:r>
            <a:r>
              <a:rPr lang="en-AU" sz="4400" b="1" dirty="0" err="1">
                <a:solidFill>
                  <a:schemeClr val="accent1"/>
                </a:solidFill>
                <a:latin typeface="Kiwi School Handwriting"/>
              </a:rPr>
              <a:t>ACtivity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AU" sz="2800" dirty="0"/>
              <a:t>It has been two weeks since you have been writing so let’s take a short break to warm up those forgotten writing muscles.</a:t>
            </a:r>
            <a:br>
              <a:rPr lang="en-AU" sz="2800" dirty="0"/>
            </a:br>
            <a:endParaRPr lang="en-AU" sz="2800" dirty="0"/>
          </a:p>
          <a:p>
            <a:r>
              <a:rPr lang="en-AU" sz="2800" dirty="0"/>
              <a:t>You will be given 60 seconds to write the letter x as many times as possible with your dominant hand, (the one you use to write with).</a:t>
            </a:r>
            <a:br>
              <a:rPr lang="en-AU" sz="2800" dirty="0"/>
            </a:br>
            <a:endParaRPr lang="en-AU" sz="2800" dirty="0"/>
          </a:p>
          <a:p>
            <a:r>
              <a:rPr lang="en-AU" sz="2800" dirty="0"/>
              <a:t>As you have two hands, you will be given 60 seconds to write the letter x as many times as possible with your non-dominant hand.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91200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Total Physical Response </a:t>
            </a:r>
            <a:r>
              <a:rPr lang="en-AU" sz="4400" b="1" dirty="0" err="1">
                <a:solidFill>
                  <a:schemeClr val="accent1"/>
                </a:solidFill>
                <a:latin typeface="Kiwi School Handwriting"/>
              </a:rPr>
              <a:t>ACtivity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304905" cy="402412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Clr>
                <a:srgbClr val="CC0099"/>
              </a:buClr>
              <a:defRPr/>
            </a:pPr>
            <a:r>
              <a:rPr lang="en-AU" sz="3000" b="1" dirty="0"/>
              <a:t>Dominant Hand</a:t>
            </a:r>
            <a:br>
              <a:rPr lang="en-AU" sz="3000" dirty="0"/>
            </a:br>
            <a:r>
              <a:rPr lang="en-US" sz="2600" dirty="0"/>
              <a:t>Minimum:</a:t>
            </a:r>
            <a:br>
              <a:rPr lang="en-US" sz="2600" dirty="0"/>
            </a:br>
            <a:r>
              <a:rPr lang="en-US" sz="2600" dirty="0"/>
              <a:t>Maximum:</a:t>
            </a:r>
            <a:br>
              <a:rPr lang="en-US" sz="2600" dirty="0"/>
            </a:br>
            <a:r>
              <a:rPr lang="en-US" sz="2600" dirty="0"/>
              <a:t>Median:</a:t>
            </a:r>
            <a:br>
              <a:rPr lang="en-US" sz="2600" dirty="0"/>
            </a:br>
            <a:r>
              <a:rPr lang="en-US" sz="2600" dirty="0"/>
              <a:t>Lower Quartile (Q</a:t>
            </a:r>
            <a:r>
              <a:rPr lang="en-US" sz="2600" baseline="-25000" dirty="0"/>
              <a:t>1</a:t>
            </a:r>
            <a:r>
              <a:rPr lang="en-US" sz="2600" dirty="0"/>
              <a:t>):</a:t>
            </a:r>
            <a:br>
              <a:rPr lang="en-US" sz="2600" dirty="0"/>
            </a:br>
            <a:r>
              <a:rPr lang="en-US" sz="2600" dirty="0"/>
              <a:t>Upper Quartile (Q</a:t>
            </a:r>
            <a:r>
              <a:rPr lang="en-US" sz="2600" baseline="-25000" dirty="0"/>
              <a:t>3</a:t>
            </a:r>
            <a:r>
              <a:rPr lang="en-US" sz="2600" dirty="0"/>
              <a:t>):</a:t>
            </a:r>
            <a:br>
              <a:rPr lang="en-US" sz="2800" dirty="0"/>
            </a:br>
            <a:endParaRPr lang="en-US" sz="2800" dirty="0"/>
          </a:p>
          <a:p>
            <a:pPr>
              <a:buClr>
                <a:srgbClr val="CC0099"/>
              </a:buClr>
              <a:defRPr/>
            </a:pPr>
            <a:endParaRPr lang="en-US" sz="2800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5C6C666-01CC-4148-9D8C-E699C6EA94C4}"/>
              </a:ext>
            </a:extLst>
          </p:cNvPr>
          <p:cNvSpPr txBox="1">
            <a:spLocks/>
          </p:cNvSpPr>
          <p:nvPr/>
        </p:nvSpPr>
        <p:spPr>
          <a:xfrm>
            <a:off x="6096000" y="2192842"/>
            <a:ext cx="5304905" cy="4024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Clr>
                <a:srgbClr val="CC0099"/>
              </a:buClr>
              <a:defRPr/>
            </a:pPr>
            <a:r>
              <a:rPr lang="en-AU" sz="3000" b="1" dirty="0"/>
              <a:t>Non Dominant Hand</a:t>
            </a:r>
            <a:br>
              <a:rPr lang="en-AU" sz="3000" dirty="0"/>
            </a:br>
            <a:r>
              <a:rPr lang="en-US" sz="3000" dirty="0"/>
              <a:t>Minimum:</a:t>
            </a:r>
            <a:br>
              <a:rPr lang="en-US" sz="3000" dirty="0"/>
            </a:br>
            <a:r>
              <a:rPr lang="en-US" sz="3000" dirty="0"/>
              <a:t>Maximum:</a:t>
            </a:r>
            <a:br>
              <a:rPr lang="en-US" sz="3000" dirty="0"/>
            </a:br>
            <a:r>
              <a:rPr lang="en-US" sz="3000" dirty="0"/>
              <a:t>Median:</a:t>
            </a:r>
            <a:br>
              <a:rPr lang="en-US" sz="3000" dirty="0"/>
            </a:br>
            <a:r>
              <a:rPr lang="en-US" sz="2800" dirty="0"/>
              <a:t>Lower Quartile (Q</a:t>
            </a:r>
            <a:r>
              <a:rPr lang="en-US" sz="2800" baseline="-25000" dirty="0"/>
              <a:t>1</a:t>
            </a:r>
            <a:r>
              <a:rPr lang="en-US" sz="2800" dirty="0"/>
              <a:t>):</a:t>
            </a:r>
            <a:br>
              <a:rPr lang="en-US" sz="2800" dirty="0"/>
            </a:br>
            <a:r>
              <a:rPr lang="en-US" sz="2800" dirty="0"/>
              <a:t>Upper Quartile (Q</a:t>
            </a:r>
            <a:r>
              <a:rPr lang="en-US" sz="2800" baseline="-25000" dirty="0"/>
              <a:t>3</a:t>
            </a:r>
            <a:r>
              <a:rPr lang="en-US" sz="2800" dirty="0"/>
              <a:t>):</a:t>
            </a:r>
            <a:br>
              <a:rPr lang="en-US" sz="2800" dirty="0"/>
            </a:br>
            <a:endParaRPr lang="en-US" sz="2800" dirty="0"/>
          </a:p>
          <a:p>
            <a:pPr>
              <a:buClr>
                <a:srgbClr val="CC0099"/>
              </a:buClr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38527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Five Number Summary?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CABD9B2B-E6F0-4128-B765-15CC297C3CD7}"/>
              </a:ext>
            </a:extLst>
          </p:cNvPr>
          <p:cNvSpPr txBox="1">
            <a:spLocks noChangeArrowheads="1"/>
          </p:cNvSpPr>
          <p:nvPr/>
        </p:nvSpPr>
        <p:spPr>
          <a:xfrm>
            <a:off x="2133600" y="1429790"/>
            <a:ext cx="9720345" cy="4871234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/>
              <a:t>Determining the 5 number summary</a:t>
            </a:r>
          </a:p>
          <a:p>
            <a:pPr lvl="1">
              <a:defRPr/>
            </a:pPr>
            <a:r>
              <a:rPr lang="en-US" sz="2800" dirty="0"/>
              <a:t>Minimum is the lowest value of the data set</a:t>
            </a:r>
          </a:p>
          <a:p>
            <a:pPr lvl="1">
              <a:defRPr/>
            </a:pPr>
            <a:r>
              <a:rPr lang="en-US" sz="2800" dirty="0"/>
              <a:t>Maximum is the highest value of the data set</a:t>
            </a:r>
          </a:p>
          <a:p>
            <a:pPr lvl="1">
              <a:defRPr/>
            </a:pPr>
            <a:r>
              <a:rPr lang="en-US" sz="2800" dirty="0"/>
              <a:t>Median</a:t>
            </a:r>
          </a:p>
          <a:p>
            <a:pPr lvl="2">
              <a:defRPr/>
            </a:pPr>
            <a:r>
              <a:rPr lang="en-US" sz="2800" dirty="0"/>
              <a:t>Order the data from smallest to largest</a:t>
            </a:r>
          </a:p>
          <a:p>
            <a:pPr lvl="2">
              <a:defRPr/>
            </a:pPr>
            <a:r>
              <a:rPr lang="en-US" sz="2800" dirty="0"/>
              <a:t>If there is an odd number of data points, the median is the middle value</a:t>
            </a:r>
          </a:p>
          <a:p>
            <a:pPr lvl="2">
              <a:defRPr/>
            </a:pPr>
            <a:r>
              <a:rPr lang="en-US" sz="2800" dirty="0"/>
              <a:t>If there is an even number of data points, the median is the average of the two middle values.</a:t>
            </a:r>
          </a:p>
          <a:p>
            <a:pPr lvl="1">
              <a:defRPr/>
            </a:pPr>
            <a:endParaRPr lang="en-US" sz="2800" dirty="0"/>
          </a:p>
          <a:p>
            <a:pPr lvl="1">
              <a:defRPr/>
            </a:pPr>
            <a:endParaRPr lang="en-US" sz="2800" dirty="0"/>
          </a:p>
          <a:p>
            <a:pPr lvl="1"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3338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Five Number Summary?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CABD9B2B-E6F0-4128-B765-15CC297C3CD7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800" dirty="0"/>
              <a:t>Determining the 5 number summary</a:t>
            </a:r>
          </a:p>
          <a:p>
            <a:pPr lvl="1">
              <a:lnSpc>
                <a:spcPct val="150000"/>
              </a:lnSpc>
              <a:buClr>
                <a:srgbClr val="CC0099"/>
              </a:buClr>
              <a:defRPr/>
            </a:pPr>
            <a:r>
              <a:rPr lang="en-US" sz="2800" dirty="0"/>
              <a:t>1</a:t>
            </a:r>
            <a:r>
              <a:rPr lang="en-US" sz="2800" baseline="30000" dirty="0"/>
              <a:t>st</a:t>
            </a:r>
            <a:r>
              <a:rPr lang="en-US" sz="2800" dirty="0"/>
              <a:t> quartile/Lower Quartile (Q</a:t>
            </a:r>
            <a:r>
              <a:rPr lang="en-US" sz="2800" baseline="-25000" dirty="0"/>
              <a:t>1</a:t>
            </a:r>
            <a:r>
              <a:rPr lang="en-US" sz="2800" dirty="0"/>
              <a:t>)</a:t>
            </a:r>
          </a:p>
          <a:p>
            <a:pPr lvl="2">
              <a:lnSpc>
                <a:spcPct val="150000"/>
              </a:lnSpc>
              <a:buClr>
                <a:srgbClr val="CC0099"/>
              </a:buClr>
              <a:defRPr/>
            </a:pPr>
            <a:r>
              <a:rPr lang="en-US" sz="2600" dirty="0"/>
              <a:t>The middle value of data in the lower 50% of the values in the data set</a:t>
            </a:r>
          </a:p>
          <a:p>
            <a:pPr lvl="1">
              <a:lnSpc>
                <a:spcPct val="150000"/>
              </a:lnSpc>
              <a:buClr>
                <a:srgbClr val="CC0099"/>
              </a:buClr>
              <a:defRPr/>
            </a:pPr>
            <a:r>
              <a:rPr lang="en-US" sz="2800" dirty="0"/>
              <a:t>The 3</a:t>
            </a:r>
            <a:r>
              <a:rPr lang="en-US" sz="2800" baseline="30000" dirty="0"/>
              <a:t>rd</a:t>
            </a:r>
            <a:r>
              <a:rPr lang="en-US" sz="2800" dirty="0"/>
              <a:t> quartile/Upper Quartile (Q</a:t>
            </a:r>
            <a:r>
              <a:rPr lang="en-US" sz="2800" baseline="-25000" dirty="0"/>
              <a:t>3</a:t>
            </a:r>
            <a:r>
              <a:rPr lang="en-US" sz="2800" dirty="0"/>
              <a:t>)</a:t>
            </a:r>
          </a:p>
          <a:p>
            <a:pPr lvl="2">
              <a:lnSpc>
                <a:spcPct val="150000"/>
              </a:lnSpc>
              <a:buClr>
                <a:srgbClr val="CC0099"/>
              </a:buClr>
              <a:defRPr/>
            </a:pPr>
            <a:r>
              <a:rPr lang="en-US" sz="2600" dirty="0"/>
              <a:t>The middle value of data in the upper 50% of the values in the data set</a:t>
            </a:r>
            <a:endParaRPr lang="en-US" sz="2800" dirty="0"/>
          </a:p>
          <a:p>
            <a:pPr lvl="1">
              <a:defRPr/>
            </a:pPr>
            <a:endParaRPr lang="en-US" sz="2600" dirty="0"/>
          </a:p>
          <a:p>
            <a:pPr lvl="1">
              <a:defRPr/>
            </a:pPr>
            <a:endParaRPr lang="en-US" sz="2600" dirty="0"/>
          </a:p>
          <a:p>
            <a:pPr lvl="1">
              <a:defRPr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17144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Leave Your Mark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You will be given a data set and you will need to determine the 5 number summary.</a:t>
            </a:r>
          </a:p>
          <a:p>
            <a:r>
              <a:rPr lang="en-AU" sz="2800" dirty="0"/>
              <a:t>Show your working out.</a:t>
            </a:r>
          </a:p>
          <a:p>
            <a:r>
              <a:rPr lang="en-AU" sz="2800" dirty="0"/>
              <a:t>You need to first choose your space in the classroom to work on before being given a data set and whiteboard marker to use. </a:t>
            </a:r>
            <a:br>
              <a:rPr lang="en-AU" sz="2800" dirty="0"/>
            </a:br>
            <a:r>
              <a:rPr lang="en-AU" sz="2800" dirty="0"/>
              <a:t>Will it be a window or a desk?</a:t>
            </a:r>
          </a:p>
        </p:txBody>
      </p:sp>
    </p:spTree>
    <p:extLst>
      <p:ext uri="{BB962C8B-B14F-4D97-AF65-F5344CB8AC3E}">
        <p14:creationId xmlns:p14="http://schemas.microsoft.com/office/powerpoint/2010/main" val="1042557171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6556</TotalTime>
  <Words>353</Words>
  <Application>Microsoft Office PowerPoint</Application>
  <PresentationFormat>Widescreen</PresentationFormat>
  <Paragraphs>59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DJB Fancy Nancy</vt:lpstr>
      <vt:lpstr>Kiwi School Handwriting</vt:lpstr>
      <vt:lpstr>BSC Theme</vt:lpstr>
      <vt:lpstr>Five Number Summary Introduction</vt:lpstr>
      <vt:lpstr>Lesson OutComes</vt:lpstr>
      <vt:lpstr>PowerPoint Presentation</vt:lpstr>
      <vt:lpstr>Total Physical Response ACtivity</vt:lpstr>
      <vt:lpstr>Total Physical Response ACtivity</vt:lpstr>
      <vt:lpstr>PowerPoint Presentation</vt:lpstr>
      <vt:lpstr>PowerPoint Presentation</vt:lpstr>
      <vt:lpstr>PowerPoint Presentation</vt:lpstr>
      <vt:lpstr>Leave Your Mark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Magdeline LUM</cp:lastModifiedBy>
  <cp:revision>53</cp:revision>
  <dcterms:created xsi:type="dcterms:W3CDTF">2017-10-15T23:31:24Z</dcterms:created>
  <dcterms:modified xsi:type="dcterms:W3CDTF">2018-07-16T17:13:42Z</dcterms:modified>
</cp:coreProperties>
</file>
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343" r:id="rId6"/>
    <p:sldId id="268" r:id="rId7"/>
    <p:sldId id="345" r:id="rId8"/>
    <p:sldId id="347" r:id="rId9"/>
    <p:sldId id="354" r:id="rId10"/>
    <p:sldId id="346" r:id="rId11"/>
    <p:sldId id="359" r:id="rId12"/>
    <p:sldId id="348" r:id="rId13"/>
    <p:sldId id="360" r:id="rId14"/>
    <p:sldId id="363" r:id="rId15"/>
    <p:sldId id="362" r:id="rId16"/>
    <p:sldId id="32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9" autoAdjust="0"/>
    <p:restoredTop sz="90017"/>
  </p:normalViewPr>
  <p:slideViewPr>
    <p:cSldViewPr snapToGrid="0">
      <p:cViewPr varScale="1">
        <p:scale>
          <a:sx n="66" d="100"/>
          <a:sy n="66" d="100"/>
        </p:scale>
        <p:origin x="20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7/29/18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7/29/18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Teacher notes:</a:t>
            </a:r>
            <a:endParaRPr lang="en-US" baseline="0" dirty="0" smtClean="0"/>
          </a:p>
          <a:p>
            <a:r>
              <a:rPr lang="en-US" baseline="0" dirty="0" smtClean="0"/>
              <a:t>You can do this with any numerical data, doesn’t have to be height. I’m just lazy.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570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</a:t>
            </a:r>
          </a:p>
          <a:p>
            <a:pPr lvl="6"/>
            <a:r>
              <a:rPr/>
              <a:t>Seventh</a:t>
            </a:r>
          </a:p>
          <a:p>
            <a:pPr lvl="7"/>
            <a:r>
              <a:rPr/>
              <a:t>Eighth</a:t>
            </a:r>
          </a:p>
          <a:p>
            <a:pPr lvl="8"/>
            <a:r>
              <a:rPr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7/29/18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6352" y="4596384"/>
            <a:ext cx="9375647" cy="826516"/>
          </a:xfrm>
        </p:spPr>
        <p:txBody>
          <a:bodyPr>
            <a:noAutofit/>
          </a:bodyPr>
          <a:lstStyle/>
          <a:p>
            <a:r>
              <a:rPr lang="en-US" sz="2000" dirty="0" smtClean="0"/>
              <a:t>Topic: </a:t>
            </a:r>
            <a:r>
              <a:rPr lang="en-US" sz="2000" dirty="0"/>
              <a:t>C</a:t>
            </a:r>
            <a:r>
              <a:rPr lang="en-US" sz="2000" dirty="0" smtClean="0"/>
              <a:t>haracteristics of data sets</a:t>
            </a:r>
          </a:p>
          <a:p>
            <a:r>
              <a:rPr lang="en-US" sz="2000" dirty="0" smtClean="0"/>
              <a:t>EQ: What are the main benefits of back to back stem and leaf plots?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43" y="444041"/>
            <a:ext cx="11231508" cy="1329004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tarter Activity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7990" y="2230243"/>
            <a:ext cx="115638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Have students measure themselves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Record these measurements on the board, separating by gender </a:t>
            </a:r>
            <a:r>
              <a:rPr lang="en-CA" sz="2400" b="1" dirty="0" smtClean="0"/>
              <a:t>(keep this data for later use)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To start, have the students arrange these heights in a stem and leaf plot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279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</a:t>
            </a:r>
            <a:endParaRPr lang="en-US" sz="2400" dirty="0"/>
          </a:p>
        </p:txBody>
      </p:sp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42187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330222" y="1813685"/>
            <a:ext cx="117756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Say we have the </a:t>
            </a:r>
            <a:r>
              <a:rPr lang="en-GB" sz="2400" dirty="0"/>
              <a:t>times for 20 male runners </a:t>
            </a:r>
            <a:r>
              <a:rPr lang="en-GB" sz="2400" dirty="0" smtClean="0"/>
              <a:t>in the 100m:</a:t>
            </a:r>
          </a:p>
          <a:p>
            <a:r>
              <a:rPr lang="en-GB" sz="2000" dirty="0" smtClean="0"/>
              <a:t>10.8</a:t>
            </a:r>
            <a:r>
              <a:rPr lang="en-GB" sz="2000" dirty="0"/>
              <a:t>, 10.5, 11.3, 12.6, 13.1, 11.1, 11.2, 11.7, 11.2, 13.0, 12.3, 11.8, 11.5, 10.9, 10.7, 11.0, 11.1, 11.1, 12.1, </a:t>
            </a:r>
            <a:r>
              <a:rPr lang="en-GB" sz="2000" dirty="0" smtClean="0"/>
              <a:t>14.3</a:t>
            </a:r>
          </a:p>
          <a:p>
            <a:endParaRPr lang="en-GB" sz="2000" dirty="0"/>
          </a:p>
          <a:p>
            <a:r>
              <a:rPr lang="en-GB" sz="2400" dirty="0" smtClean="0"/>
              <a:t>When we </a:t>
            </a:r>
            <a:r>
              <a:rPr lang="en-GB" sz="2400" dirty="0"/>
              <a:t>put this data in a stem and leaf </a:t>
            </a:r>
            <a:r>
              <a:rPr lang="en-GB" sz="2400" dirty="0" smtClean="0"/>
              <a:t>plot, it looks like this: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358704" y="4873873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02820" y="3664384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86796" y="3304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8884" y="3304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2820" y="3664385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10      8  5  9  7		</a:t>
            </a:r>
          </a:p>
          <a:p>
            <a:endParaRPr lang="en-GB" dirty="0"/>
          </a:p>
          <a:p>
            <a:pPr marL="342900" indent="-342900">
              <a:buAutoNum type="arabicPlain" startAt="11"/>
            </a:pPr>
            <a:r>
              <a:rPr lang="en-GB" dirty="0" smtClean="0"/>
              <a:t>    3  </a:t>
            </a:r>
            <a:r>
              <a:rPr lang="en-GB" dirty="0"/>
              <a:t>1  2  7  2  8  5  0  1  </a:t>
            </a:r>
            <a:r>
              <a:rPr lang="en-GB" dirty="0" smtClean="0"/>
              <a:t>1</a:t>
            </a:r>
          </a:p>
          <a:p>
            <a:pPr marL="342900" indent="-342900">
              <a:buAutoNum type="arabicPlain" startAt="11"/>
            </a:pPr>
            <a:endParaRPr lang="en-GB" dirty="0"/>
          </a:p>
          <a:p>
            <a:r>
              <a:rPr lang="en-GB" dirty="0"/>
              <a:t>12      6  3  1		</a:t>
            </a:r>
          </a:p>
          <a:p>
            <a:endParaRPr lang="en-GB" dirty="0"/>
          </a:p>
          <a:p>
            <a:r>
              <a:rPr lang="en-GB" dirty="0"/>
              <a:t>13      1  0			</a:t>
            </a:r>
          </a:p>
          <a:p>
            <a:endParaRPr lang="en-GB" dirty="0"/>
          </a:p>
          <a:p>
            <a:r>
              <a:rPr lang="en-GB" dirty="0"/>
              <a:t>14      3			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6260355" y="4831392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04471" y="3643260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88447" y="32832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0535" y="32832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4471" y="3643261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10      5  7  8  9		</a:t>
            </a:r>
          </a:p>
          <a:p>
            <a:endParaRPr lang="en-GB" dirty="0"/>
          </a:p>
          <a:p>
            <a:pPr marL="342900" indent="-342900">
              <a:buAutoNum type="arabicPlain" startAt="11"/>
            </a:pPr>
            <a:r>
              <a:rPr lang="en-GB" dirty="0" smtClean="0"/>
              <a:t>    0  </a:t>
            </a:r>
            <a:r>
              <a:rPr lang="en-GB" dirty="0"/>
              <a:t>1  1  1  2  2  3  5  7  </a:t>
            </a:r>
            <a:r>
              <a:rPr lang="en-GB" dirty="0" smtClean="0"/>
              <a:t>8</a:t>
            </a:r>
          </a:p>
          <a:p>
            <a:pPr marL="342900" indent="-342900">
              <a:buAutoNum type="arabicPlain" startAt="11"/>
            </a:pPr>
            <a:endParaRPr lang="en-GB" dirty="0"/>
          </a:p>
          <a:p>
            <a:r>
              <a:rPr lang="en-GB" dirty="0"/>
              <a:t>12      1  3  6		</a:t>
            </a:r>
          </a:p>
          <a:p>
            <a:endParaRPr lang="en-GB" dirty="0"/>
          </a:p>
          <a:p>
            <a:r>
              <a:rPr lang="en-GB" dirty="0"/>
              <a:t>13      0  1			</a:t>
            </a:r>
          </a:p>
          <a:p>
            <a:endParaRPr lang="en-GB" dirty="0"/>
          </a:p>
          <a:p>
            <a:r>
              <a:rPr lang="en-GB" dirty="0"/>
              <a:t>14      3			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244" y="5926542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 smtClean="0"/>
              <a:t>KEY</a:t>
            </a:r>
          </a:p>
          <a:p>
            <a:r>
              <a:rPr lang="en-GB" dirty="0" smtClean="0"/>
              <a:t>10|5 = 10.5 </a:t>
            </a:r>
            <a:r>
              <a:rPr lang="en-GB" dirty="0" err="1" smtClean="0"/>
              <a:t>secs</a:t>
            </a:r>
            <a:endParaRPr lang="en-GB" dirty="0"/>
          </a:p>
        </p:txBody>
      </p:sp>
      <p:sp>
        <p:nvSpPr>
          <p:cNvPr id="2" name="Right Arrow 1"/>
          <p:cNvSpPr/>
          <p:nvPr/>
        </p:nvSpPr>
        <p:spPr>
          <a:xfrm>
            <a:off x="5624444" y="4631136"/>
            <a:ext cx="874433" cy="400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48319" y="4142181"/>
            <a:ext cx="122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Ordered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429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6" grpId="0"/>
      <p:bldP spid="17" grpId="0"/>
      <p:bldP spid="18" grpId="0"/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9184" y="1934717"/>
            <a:ext cx="11679936" cy="40715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mtClean="0"/>
              <a:t>20 women also ran 100m and their results are shown in the stem &amp; leaf diagram below.</a:t>
            </a:r>
            <a:endParaRPr lang="en-GB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040388" y="4158412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84504" y="2970280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68480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568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504" y="2970281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11      5  9			</a:t>
            </a:r>
          </a:p>
          <a:p>
            <a:endParaRPr lang="en-GB" dirty="0"/>
          </a:p>
          <a:p>
            <a:r>
              <a:rPr lang="en-GB" dirty="0"/>
              <a:t>12      3  5  5  5  6  7  9  9	</a:t>
            </a:r>
          </a:p>
          <a:p>
            <a:endParaRPr lang="en-GB" dirty="0"/>
          </a:p>
          <a:p>
            <a:r>
              <a:rPr lang="en-GB" dirty="0"/>
              <a:t>13      0  0  1  3  4  8  8	</a:t>
            </a:r>
          </a:p>
          <a:p>
            <a:endParaRPr lang="en-GB" dirty="0"/>
          </a:p>
          <a:p>
            <a:r>
              <a:rPr lang="en-GB" dirty="0"/>
              <a:t>14      4  7			</a:t>
            </a:r>
          </a:p>
          <a:p>
            <a:endParaRPr lang="en-GB" dirty="0"/>
          </a:p>
          <a:p>
            <a:r>
              <a:rPr lang="en-GB" dirty="0"/>
              <a:t>15      0		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344" y="6006274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KEY</a:t>
            </a:r>
          </a:p>
          <a:p>
            <a:r>
              <a:rPr lang="en-GB" dirty="0"/>
              <a:t>11|9 = 11.9 </a:t>
            </a:r>
            <a:r>
              <a:rPr lang="en-GB" dirty="0" err="1"/>
              <a:t>secs</a:t>
            </a:r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5288860" y="4158412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332976" y="2970280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16952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9040" y="26102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976" y="2970281"/>
            <a:ext cx="36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10      5  7  8  9		    </a:t>
            </a:r>
          </a:p>
          <a:p>
            <a:endParaRPr lang="en-GB" dirty="0"/>
          </a:p>
          <a:p>
            <a:pPr marL="342900" indent="-342900">
              <a:buAutoNum type="arabicPlain" startAt="11"/>
            </a:pPr>
            <a:r>
              <a:rPr lang="en-GB" dirty="0" smtClean="0"/>
              <a:t>    0  </a:t>
            </a:r>
            <a:r>
              <a:rPr lang="en-GB" dirty="0"/>
              <a:t>1  1  1  2  2  3  5  7  </a:t>
            </a:r>
            <a:r>
              <a:rPr lang="en-GB" dirty="0" smtClean="0"/>
              <a:t>8</a:t>
            </a:r>
          </a:p>
          <a:p>
            <a:pPr marL="342900" indent="-342900">
              <a:buAutoNum type="arabicPlain" startAt="11"/>
            </a:pPr>
            <a:endParaRPr lang="en-GB" dirty="0"/>
          </a:p>
          <a:p>
            <a:r>
              <a:rPr lang="en-GB" dirty="0"/>
              <a:t>12      1  3  6		</a:t>
            </a:r>
          </a:p>
          <a:p>
            <a:endParaRPr lang="en-GB" dirty="0"/>
          </a:p>
          <a:p>
            <a:r>
              <a:rPr lang="en-GB" dirty="0"/>
              <a:t>13      0  1			</a:t>
            </a:r>
          </a:p>
          <a:p>
            <a:endParaRPr lang="en-GB" dirty="0"/>
          </a:p>
          <a:p>
            <a:r>
              <a:rPr lang="en-GB" dirty="0"/>
              <a:t>14      3			</a:t>
            </a:r>
          </a:p>
        </p:txBody>
      </p:sp>
    </p:spTree>
    <p:extLst>
      <p:ext uri="{BB962C8B-B14F-4D97-AF65-F5344CB8AC3E}">
        <p14:creationId xmlns:p14="http://schemas.microsoft.com/office/powerpoint/2010/main" val="147977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504" y="3227069"/>
            <a:ext cx="9628632" cy="3222499"/>
          </a:xfrm>
        </p:spPr>
        <p:txBody>
          <a:bodyPr/>
          <a:lstStyle/>
          <a:p>
            <a:r>
              <a:rPr lang="en-GB" dirty="0" smtClean="0"/>
              <a:t>When comparing two sets of data, it is often more useful to draw a back-to-back stem &amp; leaf plot</a:t>
            </a:r>
          </a:p>
          <a:p>
            <a:endParaRPr lang="en-GB" dirty="0"/>
          </a:p>
          <a:p>
            <a:r>
              <a:rPr lang="en-GB" dirty="0" smtClean="0"/>
              <a:t>Back-to-Back stem &amp; leaf diagrams share the same ‘stem’</a:t>
            </a:r>
          </a:p>
          <a:p>
            <a:endParaRPr lang="en-GB" dirty="0"/>
          </a:p>
          <a:p>
            <a:r>
              <a:rPr lang="en-GB" dirty="0" smtClean="0"/>
              <a:t>Numbers closest to the ‘stem’ are smaller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33756" y="1962913"/>
            <a:ext cx="11692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Individually, it can be hard to compare the two data sets; it is just a bunch of numbers. That is where back to back stem and leaf plots are useful.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27769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3384" y="1864404"/>
            <a:ext cx="11563815" cy="7258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 smtClean="0"/>
              <a:t>Comparing the performances of the 20 men and women runners with a back to back stem and leaf gives us a better visual comparison.</a:t>
            </a:r>
            <a:endParaRPr lang="en-GB" sz="2400" dirty="0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4630260" y="4952442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74319" y="353647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92256" y="32136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4997" y="319921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5476" y="3656731"/>
            <a:ext cx="36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10      5  7  8  9		</a:t>
            </a:r>
          </a:p>
          <a:p>
            <a:endParaRPr lang="en-GB" dirty="0"/>
          </a:p>
          <a:p>
            <a:pPr marL="342900" indent="-342900">
              <a:buAutoNum type="arabicPlain" startAt="11"/>
            </a:pPr>
            <a:r>
              <a:rPr lang="en-GB" dirty="0" smtClean="0"/>
              <a:t>0  </a:t>
            </a:r>
            <a:r>
              <a:rPr lang="en-GB" dirty="0"/>
              <a:t>1  1  1  2  2  3  5  7  </a:t>
            </a:r>
            <a:r>
              <a:rPr lang="en-GB" dirty="0" smtClean="0"/>
              <a:t>8</a:t>
            </a:r>
          </a:p>
          <a:p>
            <a:pPr marL="342900" indent="-342900">
              <a:buAutoNum type="arabicPlain" startAt="11"/>
            </a:pPr>
            <a:endParaRPr lang="en-GB" dirty="0"/>
          </a:p>
          <a:p>
            <a:r>
              <a:rPr lang="en-GB" dirty="0"/>
              <a:t>12      1  3  6		</a:t>
            </a:r>
          </a:p>
          <a:p>
            <a:endParaRPr lang="en-GB" dirty="0"/>
          </a:p>
          <a:p>
            <a:r>
              <a:rPr lang="en-GB" dirty="0"/>
              <a:t>13      0  1			</a:t>
            </a:r>
          </a:p>
          <a:p>
            <a:endParaRPr lang="en-GB" dirty="0"/>
          </a:p>
          <a:p>
            <a:pPr marL="342900" indent="-342900">
              <a:buAutoNum type="arabicPlain" startAt="14"/>
            </a:pPr>
            <a:r>
              <a:rPr lang="en-GB" dirty="0"/>
              <a:t>    3			</a:t>
            </a:r>
          </a:p>
          <a:p>
            <a:pPr marL="342900" indent="-342900">
              <a:buAutoNum type="arabicPlain" startAt="14"/>
            </a:pPr>
            <a:endParaRPr lang="en-GB" dirty="0"/>
          </a:p>
          <a:p>
            <a:pPr marL="342900" indent="-342900">
              <a:buAutoNum type="arabicPlain" startAt="14"/>
            </a:pPr>
            <a:r>
              <a:rPr lang="en-GB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55" y="4550685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KEY</a:t>
            </a:r>
          </a:p>
          <a:p>
            <a:r>
              <a:rPr lang="en-GB" dirty="0"/>
              <a:t>11|9 = 11.9 </a:t>
            </a:r>
            <a:r>
              <a:rPr lang="en-GB" dirty="0" err="1"/>
              <a:t>secs</a:t>
            </a:r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4027504" y="4952442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8319" y="3656731"/>
            <a:ext cx="29523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GB" dirty="0"/>
          </a:p>
          <a:p>
            <a:pPr algn="r"/>
            <a:endParaRPr lang="en-GB" dirty="0"/>
          </a:p>
          <a:p>
            <a:pPr marL="342900" indent="-342900" algn="r"/>
            <a:r>
              <a:rPr lang="en-GB" dirty="0"/>
              <a:t>	   		        9  5</a:t>
            </a:r>
          </a:p>
          <a:p>
            <a:pPr marL="342900" indent="-342900" algn="r"/>
            <a:endParaRPr lang="en-GB" dirty="0" smtClean="0"/>
          </a:p>
          <a:p>
            <a:pPr marL="342900" indent="-342900" algn="r"/>
            <a:r>
              <a:rPr lang="en-GB" dirty="0"/>
              <a:t>		9  9  7  6  5  5  5  3</a:t>
            </a:r>
          </a:p>
          <a:p>
            <a:pPr marL="342900" indent="-342900" algn="r"/>
            <a:endParaRPr lang="en-GB" dirty="0"/>
          </a:p>
          <a:p>
            <a:pPr marL="342900" indent="-342900" algn="r"/>
            <a:r>
              <a:rPr lang="en-GB" dirty="0"/>
              <a:t>		    8  8  4  3  1  0  0</a:t>
            </a:r>
          </a:p>
          <a:p>
            <a:pPr marL="342900" indent="-342900" algn="r">
              <a:buAutoNum type="arabicParenBoth" startAt="7"/>
            </a:pPr>
            <a:endParaRPr lang="en-GB" dirty="0"/>
          </a:p>
          <a:p>
            <a:pPr marL="342900" indent="-342900" algn="r"/>
            <a:r>
              <a:rPr lang="en-GB" dirty="0"/>
              <a:t>			        7  4</a:t>
            </a:r>
          </a:p>
          <a:p>
            <a:pPr marL="342900" indent="-342900" algn="r">
              <a:buAutoNum type="arabicParenBoth" startAt="2"/>
            </a:pPr>
            <a:endParaRPr lang="en-GB" dirty="0"/>
          </a:p>
          <a:p>
            <a:pPr marL="342900" indent="-342900" algn="r"/>
            <a:r>
              <a:rPr lang="en-GB" dirty="0"/>
              <a:t>		            0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2952" y="3212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0345" y="28443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4483" y="274170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WOMEN</a:t>
            </a:r>
          </a:p>
        </p:txBody>
      </p:sp>
    </p:spTree>
    <p:extLst>
      <p:ext uri="{BB962C8B-B14F-4D97-AF65-F5344CB8AC3E}">
        <p14:creationId xmlns:p14="http://schemas.microsoft.com/office/powerpoint/2010/main" val="121827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sp>
        <p:nvSpPr>
          <p:cNvPr id="3" name="TextBox 2"/>
          <p:cNvSpPr txBox="1"/>
          <p:nvPr/>
        </p:nvSpPr>
        <p:spPr>
          <a:xfrm>
            <a:off x="367990" y="2230243"/>
            <a:ext cx="11563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Going back to our starter activity, draw a back to back stem and leaf plot for the heights of the boys and girls.</a:t>
            </a:r>
          </a:p>
        </p:txBody>
      </p:sp>
    </p:spTree>
    <p:extLst>
      <p:ext uri="{BB962C8B-B14F-4D97-AF65-F5344CB8AC3E}">
        <p14:creationId xmlns:p14="http://schemas.microsoft.com/office/powerpoint/2010/main" val="85579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cxnSp>
        <p:nvCxnSpPr>
          <p:cNvPr id="3" name="Straight Connector 2"/>
          <p:cNvCxnSpPr/>
          <p:nvPr/>
        </p:nvCxnSpPr>
        <p:spPr>
          <a:xfrm rot="5400000">
            <a:off x="2404488" y="4829779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548547" y="3413807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66484" y="309103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9225" y="307655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9704" y="3534068"/>
            <a:ext cx="36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10      5  7  8  9		</a:t>
            </a:r>
          </a:p>
          <a:p>
            <a:endParaRPr lang="en-GB" dirty="0"/>
          </a:p>
          <a:p>
            <a:pPr marL="342900" indent="-342900">
              <a:buAutoNum type="arabicPlain" startAt="11"/>
            </a:pPr>
            <a:r>
              <a:rPr lang="en-GB" dirty="0" smtClean="0"/>
              <a:t>    0  </a:t>
            </a:r>
            <a:r>
              <a:rPr lang="en-GB" dirty="0"/>
              <a:t>1  1  1  2  2  3  5  7  </a:t>
            </a:r>
            <a:r>
              <a:rPr lang="en-GB" dirty="0" smtClean="0"/>
              <a:t>8</a:t>
            </a:r>
          </a:p>
          <a:p>
            <a:pPr marL="342900" indent="-342900">
              <a:buAutoNum type="arabicPlain" startAt="11"/>
            </a:pPr>
            <a:endParaRPr lang="en-GB" dirty="0"/>
          </a:p>
          <a:p>
            <a:r>
              <a:rPr lang="en-GB" dirty="0"/>
              <a:t>12      1  3  6		</a:t>
            </a:r>
          </a:p>
          <a:p>
            <a:endParaRPr lang="en-GB" dirty="0"/>
          </a:p>
          <a:p>
            <a:r>
              <a:rPr lang="en-GB" dirty="0"/>
              <a:t>13      0  1			</a:t>
            </a:r>
          </a:p>
          <a:p>
            <a:endParaRPr lang="en-GB" dirty="0"/>
          </a:p>
          <a:p>
            <a:pPr marL="342900" indent="-342900">
              <a:buAutoNum type="arabicPlain" startAt="14"/>
            </a:pPr>
            <a:r>
              <a:rPr lang="en-GB" dirty="0"/>
              <a:t>    3			</a:t>
            </a:r>
          </a:p>
          <a:p>
            <a:pPr marL="342900" indent="-342900">
              <a:buAutoNum type="arabicPlain" startAt="14"/>
            </a:pPr>
            <a:endParaRPr lang="en-GB" dirty="0"/>
          </a:p>
          <a:p>
            <a:pPr marL="342900" indent="-342900">
              <a:buAutoNum type="arabicPlain" startAt="14"/>
            </a:pPr>
            <a:r>
              <a:rPr lang="en-GB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01" y="2735318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KEY</a:t>
            </a:r>
          </a:p>
          <a:p>
            <a:r>
              <a:rPr lang="en-GB" dirty="0"/>
              <a:t>11|9 = 11.9 </a:t>
            </a:r>
            <a:r>
              <a:rPr lang="en-GB" dirty="0" err="1"/>
              <a:t>secs</a:t>
            </a:r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1801732" y="4829779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547" y="3534068"/>
            <a:ext cx="29523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GB" dirty="0"/>
          </a:p>
          <a:p>
            <a:pPr algn="r"/>
            <a:endParaRPr lang="en-GB" dirty="0"/>
          </a:p>
          <a:p>
            <a:pPr marL="342900" indent="-342900" algn="r"/>
            <a:r>
              <a:rPr lang="en-GB" dirty="0"/>
              <a:t>	   		        9  5</a:t>
            </a:r>
          </a:p>
          <a:p>
            <a:pPr marL="342900" indent="-342900" algn="r"/>
            <a:endParaRPr lang="en-GB" dirty="0"/>
          </a:p>
          <a:p>
            <a:pPr marL="342900" indent="-342900" algn="r"/>
            <a:r>
              <a:rPr lang="en-GB" dirty="0"/>
              <a:t>		9  9  7  6  5  5  5  3</a:t>
            </a:r>
          </a:p>
          <a:p>
            <a:pPr marL="342900" indent="-342900" algn="r"/>
            <a:endParaRPr lang="en-GB" dirty="0"/>
          </a:p>
          <a:p>
            <a:pPr marL="342900" indent="-342900" algn="r"/>
            <a:r>
              <a:rPr lang="en-GB" dirty="0"/>
              <a:t>		    8  8  4  3  1  0  0</a:t>
            </a:r>
          </a:p>
          <a:p>
            <a:pPr marL="342900" indent="-342900" algn="r">
              <a:buAutoNum type="arabicParenBoth" startAt="7"/>
            </a:pPr>
            <a:endParaRPr lang="en-GB" dirty="0"/>
          </a:p>
          <a:p>
            <a:pPr marL="342900" indent="-342900" algn="r"/>
            <a:r>
              <a:rPr lang="en-GB" dirty="0"/>
              <a:t>			        7  4</a:t>
            </a:r>
          </a:p>
          <a:p>
            <a:pPr marL="342900" indent="-342900" algn="r">
              <a:buAutoNum type="arabicParenBoth" startAt="2"/>
            </a:pPr>
            <a:endParaRPr lang="en-GB" dirty="0"/>
          </a:p>
          <a:p>
            <a:pPr marL="342900" indent="-342900" algn="r"/>
            <a:r>
              <a:rPr lang="en-GB" dirty="0" smtClean="0"/>
              <a:t>  </a:t>
            </a:r>
            <a:r>
              <a:rPr lang="en-GB" dirty="0"/>
              <a:t>		           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180" y="308963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4573" y="272170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8711" y="261904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WOMEN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6210" y="1864403"/>
            <a:ext cx="12015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Looking at our 100m data sets, how can we find the median, mode and range of two data sets?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422447" y="2335608"/>
                <a:ext cx="4460489" cy="4522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The median is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 smtClean="0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CA" b="0" i="1" smtClean="0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CA" b="0" i="0" smtClean="0">
                                <a:latin typeface="Cambria Math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CA" b="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i="1" baseline="30000" dirty="0" err="1" smtClean="0"/>
                  <a:t>th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piece of data. Since there are 20 pieces of data, the median is 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CA" b="0" i="0" smtClean="0">
                                <a:latin typeface="Cambria Math" charset="0"/>
                              </a:rPr>
                              <m:t>20</m:t>
                            </m:r>
                            <m:r>
                              <a:rPr lang="en-CA">
                                <a:latin typeface="Cambria Math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CA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i="1" baseline="30000" dirty="0" err="1"/>
                  <a:t>th</a:t>
                </a:r>
                <a:r>
                  <a:rPr lang="en-US" i="1" dirty="0"/>
                  <a:t> </a:t>
                </a:r>
                <a:r>
                  <a:rPr lang="en-US" dirty="0" smtClean="0"/>
                  <a:t>or 10.5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 data point (between 10 and 11). 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For the women, the median is between 12.9 and 13.0 secs = 12.95 secs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For the men, the median is between 11.2 and 11.3 secs = 11.25secs.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i="1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The modal time for the women is 12.5 secs and for men it is 11.1 secs.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dirty="0" smtClean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The range for the women is 15.0-11.5 = 3.5 secs. For the men it is 14.3-10.5 = 2.8 secs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447" y="2335608"/>
                <a:ext cx="4460489" cy="4522392"/>
              </a:xfrm>
              <a:prstGeom prst="rect">
                <a:avLst/>
              </a:prstGeom>
              <a:blipFill rotWithShape="0">
                <a:blip r:embed="rId2"/>
                <a:stretch>
                  <a:fillRect l="-958" r="-2326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Arrow 27"/>
          <p:cNvSpPr/>
          <p:nvPr/>
        </p:nvSpPr>
        <p:spPr>
          <a:xfrm rot="8382296">
            <a:off x="1241015" y="4981907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Arrow 28"/>
          <p:cNvSpPr/>
          <p:nvPr/>
        </p:nvSpPr>
        <p:spPr>
          <a:xfrm rot="8826351">
            <a:off x="2806047" y="5540453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69187" y="51451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10th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249856" y="555967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11th</a:t>
            </a:r>
            <a:endParaRPr lang="en-US" dirty="0"/>
          </a:p>
        </p:txBody>
      </p:sp>
      <p:sp>
        <p:nvSpPr>
          <p:cNvPr id="32" name="Left Arrow 31"/>
          <p:cNvSpPr/>
          <p:nvPr/>
        </p:nvSpPr>
        <p:spPr>
          <a:xfrm rot="5668139">
            <a:off x="5243457" y="4501631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109164" y="478409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10th</a:t>
            </a:r>
            <a:endParaRPr lang="en-US" dirty="0"/>
          </a:p>
        </p:txBody>
      </p:sp>
      <p:sp>
        <p:nvSpPr>
          <p:cNvPr id="34" name="Left Arrow 33"/>
          <p:cNvSpPr/>
          <p:nvPr/>
        </p:nvSpPr>
        <p:spPr>
          <a:xfrm rot="2788896">
            <a:off x="5655997" y="4481592"/>
            <a:ext cx="375485" cy="1718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5823242" y="473011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06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28" grpId="0" animBg="1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63" y="1993900"/>
            <a:ext cx="10058400" cy="2364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2163" y="4659496"/>
            <a:ext cx="8792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Display this data in a back to back stem and leaf plot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How many males spent less than 30 mins at the gym?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Find the median time spent at the gym for both males and females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In general, did males or females spend longer at the gym?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298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sp>
        <p:nvSpPr>
          <p:cNvPr id="3" name="TextBox 2"/>
          <p:cNvSpPr txBox="1"/>
          <p:nvPr/>
        </p:nvSpPr>
        <p:spPr>
          <a:xfrm>
            <a:off x="367990" y="2230243"/>
            <a:ext cx="115638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Going back to our starter activity, find the median, mode and range for the data sets of both genders</a:t>
            </a:r>
          </a:p>
          <a:p>
            <a:pPr marL="285750" indent="-285750">
              <a:buFont typeface="Arial" charset="0"/>
              <a:buChar char="•"/>
            </a:pPr>
            <a:endParaRPr lang="en-CA" sz="2400" dirty="0"/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What do these results tell us about the heights of the boys and girls in our class? Write a 1-2 sentence summary, using mathematical language.</a:t>
            </a:r>
          </a:p>
        </p:txBody>
      </p:sp>
    </p:spTree>
    <p:extLst>
      <p:ext uri="{BB962C8B-B14F-4D97-AF65-F5344CB8AC3E}">
        <p14:creationId xmlns:p14="http://schemas.microsoft.com/office/powerpoint/2010/main" val="65974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Data Sets</a:t>
            </a:r>
            <a:br>
              <a:rPr lang="en-US" dirty="0" smtClean="0"/>
            </a:br>
            <a:r>
              <a:rPr lang="en-US" dirty="0" smtClean="0"/>
              <a:t>EQ: What are the main benefits of back to back stem and leaf plots</a:t>
            </a:r>
            <a:r>
              <a:rPr lang="en-US" sz="2900" dirty="0" smtClean="0"/>
              <a:t>? </a:t>
            </a:r>
            <a:endParaRPr lang="en-US" sz="2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88" y="1977644"/>
            <a:ext cx="10058400" cy="2071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7136" y="4511040"/>
            <a:ext cx="104676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Draw a back-to-back stem and leaf plot for this data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How many students are in each class?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Find the median score for each class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Find the range for each class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If one class is the top class and one is the middle class, which is which and why?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51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 </a:t>
            </a:r>
            <a:r>
              <a:rPr lang="en-US" sz="3600" dirty="0" smtClean="0"/>
              <a:t> </a:t>
            </a:r>
            <a:r>
              <a:rPr lang="en-US" sz="3600" dirty="0" smtClean="0"/>
              <a:t>Classwork/Exit </a:t>
            </a:r>
            <a:r>
              <a:rPr lang="en-US" sz="3600" dirty="0" smtClean="0"/>
              <a:t>Pass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74871" y="2711083"/>
            <a:ext cx="9835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 smtClean="0"/>
              <a:t>Stem and Leaf Worksheet</a:t>
            </a:r>
          </a:p>
          <a:p>
            <a:pPr marL="457200" indent="-457200">
              <a:buFont typeface="Arial" charset="0"/>
              <a:buChar char="•"/>
            </a:pPr>
            <a:endParaRPr lang="en-US" sz="2800" dirty="0" smtClean="0"/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/>
              <a:t>Complete </a:t>
            </a:r>
            <a:r>
              <a:rPr lang="en-US" sz="2800" dirty="0" smtClean="0"/>
              <a:t>Exit Pass and hand to me when done</a:t>
            </a:r>
          </a:p>
        </p:txBody>
      </p:sp>
    </p:spTree>
    <p:extLst>
      <p:ext uri="{BB962C8B-B14F-4D97-AF65-F5344CB8AC3E}">
        <p14:creationId xmlns:p14="http://schemas.microsoft.com/office/powerpoint/2010/main" val="15217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709</Words>
  <Application>Microsoft Macintosh PowerPoint</Application>
  <PresentationFormat>Widescreen</PresentationFormat>
  <Paragraphs>170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 Math</vt:lpstr>
      <vt:lpstr>Mangal</vt:lpstr>
      <vt:lpstr>Wingdings</vt:lpstr>
      <vt:lpstr>Arial</vt:lpstr>
      <vt:lpstr>Education 16x9</vt:lpstr>
      <vt:lpstr>Statistical Analysis</vt:lpstr>
      <vt:lpstr>Starter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2012-09-21T18:31:34Z</dcterms:created>
  <dcterms:modified xsi:type="dcterms:W3CDTF">2018-07-29T11:36:17Z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
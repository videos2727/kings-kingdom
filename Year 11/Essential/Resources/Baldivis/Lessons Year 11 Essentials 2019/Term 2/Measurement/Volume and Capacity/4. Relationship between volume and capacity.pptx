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3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A9927-F64C-4A2C-9DB5-CF3ABB340619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93C64-9565-4078-A4E3-5A8E547925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76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406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49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1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46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320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938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72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89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94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63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7691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F46E-2B8A-4B09-8CEB-0A814D2CE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B98DB-BA2F-457E-A073-7EDB480D8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25620-3E8E-4B7A-826B-5774256E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96106-1747-409F-92A5-E6731F97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0928B-345C-4358-816D-0670E8AC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35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0A93-F2B6-435E-99D0-72C2559A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0ECE-8384-477F-83C6-191271563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48D95-C72C-4488-8D51-9726ECE2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F3657-2D53-4100-9535-96944251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9806A-18EB-4051-8F13-51732A3E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146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FE0F-5C50-49D9-80D2-0D8F2871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CDF81-CF81-4601-9D21-03384B287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967F1-C80E-46BB-984D-DEE52441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507A7-A064-4B0F-AAFF-34115839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9FA71-AAAE-46BC-A253-2BD1EAAE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390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2B69-E18B-4FE5-8AC5-EABB6E4D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D84D4-0559-4420-8777-43C345924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9168D-1C28-4766-9F8D-86A45CDD1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E264E-DDC2-4838-BE3B-0CF8A41A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D9091-4C55-4159-A512-7E408569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6B2C9-81C1-40AE-B7A6-7A6B1FA7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65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C8B7-FBD6-4944-A476-7513552C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B72BD-5D93-45BC-9578-08F3BE438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1DEB6-72EF-463D-8CB7-B560EEC08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4DE19-B416-4413-A442-AC5729576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EB823-8B6C-4AEA-87DB-A04AD1C72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CBF18-1FD6-4087-8FFC-1A84583F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795D3-3A37-4379-9F31-034D580F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032D9-7A8B-4A02-BDBA-42CA6D79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517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D6606-AA8A-4F9C-89D0-4BB2B316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C0B5A-CC8A-4EEB-8F23-2B53898B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9F881-CD7B-447E-8032-72603685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71466-B39E-4EA6-8A78-F5008470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9F316-4162-4DB9-8574-4CA5373E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80E88-B705-4DE9-A093-CE5EA501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1718A-7E5A-4BA1-B6B0-85CC0B45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42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248E-24BC-4F9C-8ABF-05252EA3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C4A17-E209-418D-89DA-3C51D5EB1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7516A-C773-4FDB-8759-86C5CF904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D1342-BC11-44A8-8E14-AB03A996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CCAAB-7EDB-4AEA-BC52-18424C68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F0CAF-E7E9-4487-9BE0-F3D7A32F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088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84AD-EEC3-4D8D-8C6E-139A58E1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1A7A6B-010A-4BEF-A45C-916453CF7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01419-E04E-49FF-B3F6-FA6901119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7B680-4FEC-423E-BF25-A5A2968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B3C44-C013-487D-A0C9-9B0BE86D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5BE8-B422-45AB-8747-78A81DF7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29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B03C-37D3-4089-8750-E374B05D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646A1-A859-47DD-B273-1D456C56E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A4392-92CA-485E-8892-8BEFA853A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9A712-A6EB-4C02-9C1C-E51C2A5F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33B67-92F0-4AE8-A8C4-03E85F11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87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FA24E-8AFE-4775-92CE-EC1A1BA2F2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31BF7-B46F-4304-B302-55C88D75C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C61E3-2E84-439E-8AAB-16027895D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F1B9-EE78-4284-B9AC-938BC32A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9076F-78C9-42A5-94AC-00605F3E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17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65401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1012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25915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13671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831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4207F-F447-4589-BB09-06E517B3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33D1D-EC6E-4CDF-A891-8F4E467FE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B99E-3F00-48DC-89F6-7969168A8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B2EE2-4FBB-4B8C-A735-45A19E1A622D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949F5-BB50-42A3-A50F-3D96186D3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ABA2C-835D-4124-9345-C90D6D4BC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C488E-D481-4BA3-BDA7-4735AA7612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713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Relationship between volume and capacity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799" y="2194560"/>
                <a:ext cx="11125201" cy="4024125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rmAutofit/>
              </a:bodyPr>
              <a:lstStyle>
                <a:lvl1pPr marL="609585" lvl="0" indent="-474121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219170" lvl="1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754" lvl="2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C3A3"/>
                  </a:buClr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438339" lvl="3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47924" lvl="4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657509" lvl="5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267093" lvl="6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76678" lvl="7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263" lvl="8" indent="-474121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00"/>
                  <a:buFont typeface="Arial" panose="020B0604020202020204" pitchFamily="34" charset="0"/>
                  <a:buChar char="‐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dirty="0">
                    <a:latin typeface="Kiwi School Handwriting" panose="00000500000000000000" pitchFamily="2" charset="0"/>
                  </a:rPr>
                  <a:t>Students will be able to</a:t>
                </a:r>
              </a:p>
              <a:p>
                <a:r>
                  <a:rPr lang="en-AU" dirty="0"/>
                  <a:t>recognise relations between volume and capacity, recognising that </a:t>
                </a:r>
              </a:p>
              <a:p>
                <a:pPr marL="135464" indent="0" algn="ctr">
                  <a:buNone/>
                </a:pPr>
                <a:r>
                  <a:rPr lang="en-AU" dirty="0"/>
                  <a:t>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= 1 mL and 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= 1 </a:t>
                </a:r>
                <a:r>
                  <a:rPr lang="en-AU" dirty="0" err="1"/>
                  <a:t>kL</a:t>
                </a:r>
                <a:endParaRPr lang="en-AU" sz="4400" dirty="0">
                  <a:latin typeface="Kiwi School Handwriting" panose="00000500000000000000" pitchFamily="2" charset="0"/>
                </a:endParaRPr>
              </a:p>
            </p:txBody>
          </p:sp>
        </mc:Choice>
        <mc:Fallback xmlns="">
          <p:sp>
            <p:nvSpPr>
              <p:cNvPr id="13" name="Content Placeholder 13">
                <a:extLst>
                  <a:ext uri="{FF2B5EF4-FFF2-40B4-BE49-F238E27FC236}">
                    <a16:creationId xmlns:a16="http://schemas.microsoft.com/office/drawing/2014/main" id="{03C6AC60-0EEB-4482-9041-0A4971612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2194560"/>
                <a:ext cx="11125201" cy="4024125"/>
              </a:xfrm>
              <a:prstGeom prst="rect">
                <a:avLst/>
              </a:prstGeom>
              <a:blipFill>
                <a:blip r:embed="rId3"/>
                <a:stretch>
                  <a:fillRect l="-2191" t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9643B6-78CF-4197-9E61-CC2F09D0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40" y="535821"/>
            <a:ext cx="11282119" cy="2748689"/>
          </a:xfrm>
          <a:prstGeom prst="rect">
            <a:avLst/>
          </a:prstGeom>
        </p:spPr>
      </p:pic>
      <p:pic>
        <p:nvPicPr>
          <p:cNvPr id="1026" name="Picture 2" descr="Image result for plumbers">
            <a:extLst>
              <a:ext uri="{FF2B5EF4-FFF2-40B4-BE49-F238E27FC236}">
                <a16:creationId xmlns:a16="http://schemas.microsoft.com/office/drawing/2014/main" id="{EFFE3040-764B-4DB3-BD6C-A28A62842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637" y="2385498"/>
            <a:ext cx="3721854" cy="404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3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3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units between volume and capacity?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D1D359D-5660-4CB4-86C0-2251598E8C35}"/>
                  </a:ext>
                </a:extLst>
              </p:cNvPr>
              <p:cNvSpPr/>
              <p:nvPr/>
            </p:nvSpPr>
            <p:spPr>
              <a:xfrm>
                <a:off x="1950320" y="2058109"/>
                <a:ext cx="611801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solidFill>
                      <a:srgbClr val="000000"/>
                    </a:solidFill>
                  </a:rPr>
                  <a:t>Volume is the amount of space inside a three-dimensional object.</a:t>
                </a:r>
              </a:p>
              <a:p>
                <a:endParaRPr lang="en-AU" sz="2800" dirty="0">
                  <a:solidFill>
                    <a:srgbClr val="000000"/>
                  </a:solidFill>
                </a:endParaRPr>
              </a:p>
              <a:p>
                <a:r>
                  <a:rPr lang="en-AU" sz="2800" dirty="0">
                    <a:solidFill>
                      <a:srgbClr val="000000"/>
                    </a:solidFill>
                  </a:rPr>
                  <a:t>Volume is measured in cubic units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800" dirty="0">
                    <a:solidFill>
                      <a:srgbClr val="000000"/>
                    </a:solidFill>
                  </a:rPr>
                  <a:t>,</a:t>
                </a:r>
                <a:r>
                  <a:rPr lang="en-AU" sz="28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800" b="0" dirty="0">
                  <a:solidFill>
                    <a:srgbClr val="000000"/>
                  </a:solidFill>
                </a:endParaRPr>
              </a:p>
              <a:p>
                <a:endParaRPr lang="en-AU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D1D359D-5660-4CB4-86C0-2251598E8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320" y="2058109"/>
                <a:ext cx="6118012" cy="2677656"/>
              </a:xfrm>
              <a:prstGeom prst="rect">
                <a:avLst/>
              </a:prstGeom>
              <a:blipFill>
                <a:blip r:embed="rId3"/>
                <a:stretch>
                  <a:fillRect l="-2092" t="-2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D57DC77-A96D-41FC-8A88-6BE14BFAD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36" y="1623368"/>
            <a:ext cx="3273283" cy="49099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9D8984-9D07-4CE4-AFB2-A66532A0A7B0}"/>
              </a:ext>
            </a:extLst>
          </p:cNvPr>
          <p:cNvSpPr txBox="1"/>
          <p:nvPr/>
        </p:nvSpPr>
        <p:spPr>
          <a:xfrm>
            <a:off x="1590" y="1779387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Volume?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3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units between volume and capacity?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A7B84F2-1617-46F6-AC4A-8F1FA6DE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1760199"/>
            <a:ext cx="11943413" cy="444543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D0B3AD6-AD9A-45A3-A18C-C27A49B37260}"/>
              </a:ext>
            </a:extLst>
          </p:cNvPr>
          <p:cNvSpPr/>
          <p:nvPr/>
        </p:nvSpPr>
        <p:spPr>
          <a:xfrm>
            <a:off x="2551467" y="1988211"/>
            <a:ext cx="839500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÷ 1,000                    ÷ 1,000,000           ÷ 1,000,000,000     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CC4CC0-A5B1-46BF-867A-4AB2CE79CAFB}"/>
              </a:ext>
            </a:extLst>
          </p:cNvPr>
          <p:cNvSpPr/>
          <p:nvPr/>
        </p:nvSpPr>
        <p:spPr>
          <a:xfrm>
            <a:off x="2659955" y="5475832"/>
            <a:ext cx="839500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x 1,000                    x 1,000,000           x 1,000,000,000      </a:t>
            </a:r>
          </a:p>
        </p:txBody>
      </p:sp>
    </p:spTree>
    <p:extLst>
      <p:ext uri="{BB962C8B-B14F-4D97-AF65-F5344CB8AC3E}">
        <p14:creationId xmlns:p14="http://schemas.microsoft.com/office/powerpoint/2010/main" val="79861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5F4B31-4D98-47BC-8992-7CC0B7B2D4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364"/>
          <a:stretch/>
        </p:blipFill>
        <p:spPr>
          <a:xfrm>
            <a:off x="444500" y="608209"/>
            <a:ext cx="7991395" cy="27412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1FA33D-1AAB-4A0D-88AF-ADF03C276B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296" r="-252"/>
          <a:stretch/>
        </p:blipFill>
        <p:spPr>
          <a:xfrm>
            <a:off x="4246536" y="3712058"/>
            <a:ext cx="7676551" cy="274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67BEF5-979C-4C0A-BCD9-E76554E0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36" y="1776735"/>
            <a:ext cx="10694927" cy="27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9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3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units between volume and capacity?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D1D359D-5660-4CB4-86C0-2251598E8C35}"/>
              </a:ext>
            </a:extLst>
          </p:cNvPr>
          <p:cNvSpPr/>
          <p:nvPr/>
        </p:nvSpPr>
        <p:spPr>
          <a:xfrm>
            <a:off x="1950320" y="1596572"/>
            <a:ext cx="910463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</a:rPr>
              <a:t>Volume measures the amount of space inside a container while </a:t>
            </a:r>
            <a:r>
              <a:rPr lang="en-AU" sz="2800" b="1" dirty="0">
                <a:solidFill>
                  <a:srgbClr val="000000"/>
                </a:solidFill>
              </a:rPr>
              <a:t>capacity </a:t>
            </a:r>
            <a:r>
              <a:rPr lang="en-AU" sz="2800" dirty="0">
                <a:solidFill>
                  <a:srgbClr val="000000"/>
                </a:solidFill>
              </a:rPr>
              <a:t>measures the amount of liquid or gas a container will hold.</a:t>
            </a:r>
          </a:p>
          <a:p>
            <a:endParaRPr lang="en-AU" sz="2800" dirty="0">
              <a:solidFill>
                <a:srgbClr val="000000"/>
              </a:solidFill>
            </a:endParaRPr>
          </a:p>
          <a:p>
            <a:r>
              <a:rPr lang="en-AU" sz="2800" dirty="0">
                <a:solidFill>
                  <a:srgbClr val="000000"/>
                </a:solidFill>
              </a:rPr>
              <a:t>Measured in mL, L, </a:t>
            </a:r>
            <a:r>
              <a:rPr lang="en-AU" sz="2800" dirty="0" err="1">
                <a:solidFill>
                  <a:srgbClr val="000000"/>
                </a:solidFill>
              </a:rPr>
              <a:t>kL</a:t>
            </a:r>
            <a:r>
              <a:rPr lang="en-AU" sz="2800" dirty="0">
                <a:solidFill>
                  <a:srgbClr val="000000"/>
                </a:solidFill>
              </a:rPr>
              <a:t> and mL</a:t>
            </a:r>
          </a:p>
          <a:p>
            <a:endParaRPr lang="en-AU" sz="2800" dirty="0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D8984-9D07-4CE4-AFB2-A66532A0A7B0}"/>
              </a:ext>
            </a:extLst>
          </p:cNvPr>
          <p:cNvSpPr txBox="1"/>
          <p:nvPr/>
        </p:nvSpPr>
        <p:spPr>
          <a:xfrm>
            <a:off x="1590" y="1779387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Capacity?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C85870-AB68-4A56-87D4-043B3E1DD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680" y="2478628"/>
            <a:ext cx="1433572" cy="414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3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3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units between volume and capacity?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917AC91-208E-4761-A386-9A987A5CD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1528762"/>
            <a:ext cx="11826890" cy="453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8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13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convert units between volume and capacity?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93CA54E-53FE-4468-AD8C-0E9ED309E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87627"/>
            <a:ext cx="12280145" cy="51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2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57C6A2-4075-484C-8145-E82ED4C9F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1" y="1697692"/>
            <a:ext cx="11801478" cy="43108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A086FD-148A-4868-AC8F-CEE41E96260A}"/>
              </a:ext>
            </a:extLst>
          </p:cNvPr>
          <p:cNvSpPr/>
          <p:nvPr/>
        </p:nvSpPr>
        <p:spPr>
          <a:xfrm>
            <a:off x="232475" y="4045058"/>
            <a:ext cx="11096786" cy="805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038C1-3A09-4632-B7E4-E4D59C8210D4}"/>
              </a:ext>
            </a:extLst>
          </p:cNvPr>
          <p:cNvSpPr/>
          <p:nvPr/>
        </p:nvSpPr>
        <p:spPr>
          <a:xfrm>
            <a:off x="232475" y="2644259"/>
            <a:ext cx="11096786" cy="805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C57E8-923C-4A91-A335-209BBBBED873}"/>
              </a:ext>
            </a:extLst>
          </p:cNvPr>
          <p:cNvSpPr/>
          <p:nvPr/>
        </p:nvSpPr>
        <p:spPr>
          <a:xfrm>
            <a:off x="232475" y="4980316"/>
            <a:ext cx="11764264" cy="805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878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542438-95ED-4380-8D15-84C5EDDC4CE1}"/>
              </a:ext>
            </a:extLst>
          </p:cNvPr>
          <p:cNvSpPr/>
          <p:nvPr/>
        </p:nvSpPr>
        <p:spPr>
          <a:xfrm>
            <a:off x="1826333" y="2951946"/>
            <a:ext cx="91046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0000"/>
                </a:solidFill>
              </a:rPr>
              <a:t>50/50 worksheet</a:t>
            </a:r>
          </a:p>
          <a:p>
            <a:endParaRPr lang="en-AU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Widescreen</PresentationFormat>
  <Paragraphs>56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Kiwi School Handwriting</vt:lpstr>
      <vt:lpstr>Office Theme</vt:lpstr>
      <vt:lpstr>Relationship between volume and capacity</vt:lpstr>
      <vt:lpstr>Learning Intentions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between volume and capacity</dc:title>
  <dc:creator>Nine Labuschagne</dc:creator>
  <cp:lastModifiedBy>Nine Labuschagne</cp:lastModifiedBy>
  <cp:revision>1</cp:revision>
  <dcterms:created xsi:type="dcterms:W3CDTF">2018-03-27T01:28:27Z</dcterms:created>
  <dcterms:modified xsi:type="dcterms:W3CDTF">2018-03-27T01:28:40Z</dcterms:modified>
</cp:coreProperties>
</file>
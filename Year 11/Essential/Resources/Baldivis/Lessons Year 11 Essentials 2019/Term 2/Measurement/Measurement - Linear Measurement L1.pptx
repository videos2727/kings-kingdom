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14"/>
  </p:notesMasterIdLst>
  <p:sldIdLst>
    <p:sldId id="266" r:id="rId2"/>
    <p:sldId id="267" r:id="rId3"/>
    <p:sldId id="268" r:id="rId4"/>
    <p:sldId id="265" r:id="rId5"/>
    <p:sldId id="269" r:id="rId6"/>
    <p:sldId id="272" r:id="rId7"/>
    <p:sldId id="270" r:id="rId8"/>
    <p:sldId id="273" r:id="rId9"/>
    <p:sldId id="274" r:id="rId10"/>
    <p:sldId id="275" r:id="rId11"/>
    <p:sldId id="276" r:id="rId12"/>
    <p:sldId id="27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2"/>
    <p:restoredTop sz="94655"/>
  </p:normalViewPr>
  <p:slideViewPr>
    <p:cSldViewPr snapToGrid="0" snapToObjects="1">
      <p:cViewPr varScale="1">
        <p:scale>
          <a:sx n="86" d="100"/>
          <a:sy n="86" d="100"/>
        </p:scale>
        <p:origin x="42" y="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F2789E-5AC8-448E-8E6F-EC7423D7B148}" type="datetimeFigureOut">
              <a:rPr lang="en-GB" smtClean="0"/>
              <a:t>06/03/2018</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85D6DF-A159-4F50-B9AF-8F30B100FF37}" type="slidenum">
              <a:rPr lang="en-GB" smtClean="0"/>
              <a:t>‹#›</a:t>
            </a:fld>
            <a:endParaRPr lang="en-GB"/>
          </a:p>
        </p:txBody>
      </p:sp>
    </p:spTree>
    <p:extLst>
      <p:ext uri="{BB962C8B-B14F-4D97-AF65-F5344CB8AC3E}">
        <p14:creationId xmlns:p14="http://schemas.microsoft.com/office/powerpoint/2010/main" val="342622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285220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4261327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a prompt for a 5 – 10 min class discussion. Focus on literacy and numeracy skills used to communicate ideas.</a:t>
            </a:r>
            <a:endParaRPr lang="en-GB" dirty="0"/>
          </a:p>
        </p:txBody>
      </p:sp>
      <p:sp>
        <p:nvSpPr>
          <p:cNvPr id="4" name="Slide Number Placeholder 3"/>
          <p:cNvSpPr>
            <a:spLocks noGrp="1"/>
          </p:cNvSpPr>
          <p:nvPr>
            <p:ph type="sldNum" sz="quarter" idx="10"/>
          </p:nvPr>
        </p:nvSpPr>
        <p:spPr/>
        <p:txBody>
          <a:bodyPr/>
          <a:lstStyle/>
          <a:p>
            <a:fld id="{0C85D6DF-A159-4F50-B9AF-8F30B100FF37}" type="slidenum">
              <a:rPr lang="en-GB" smtClean="0"/>
              <a:t>9</a:t>
            </a:fld>
            <a:endParaRPr lang="en-GB"/>
          </a:p>
        </p:txBody>
      </p:sp>
    </p:spTree>
    <p:extLst>
      <p:ext uri="{BB962C8B-B14F-4D97-AF65-F5344CB8AC3E}">
        <p14:creationId xmlns:p14="http://schemas.microsoft.com/office/powerpoint/2010/main" val="28154716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EEBC23BB-2070-D146-BD10-A01B23AF686B}" type="datetimeFigureOut">
              <a:rPr lang="en-AU" smtClean="0"/>
              <a:t>6/03/2018</a:t>
            </a:fld>
            <a:endParaRPr lang="en-AU"/>
          </a:p>
        </p:txBody>
      </p:sp>
      <p:sp>
        <p:nvSpPr>
          <p:cNvPr id="5" name="Footer Placeholder 4"/>
          <p:cNvSpPr>
            <a:spLocks noGrp="1"/>
          </p:cNvSpPr>
          <p:nvPr>
            <p:ph type="ftr" sz="quarter" idx="11"/>
          </p:nvPr>
        </p:nvSpPr>
        <p:spPr>
          <a:xfrm>
            <a:off x="1371600" y="4323845"/>
            <a:ext cx="6400800" cy="365125"/>
          </a:xfrm>
        </p:spPr>
        <p:txBody>
          <a:bodyPr/>
          <a:lstStyle/>
          <a:p>
            <a:endParaRPr lang="en-AU"/>
          </a:p>
        </p:txBody>
      </p:sp>
      <p:sp>
        <p:nvSpPr>
          <p:cNvPr id="6" name="Slide Number Placeholder 5"/>
          <p:cNvSpPr>
            <a:spLocks noGrp="1"/>
          </p:cNvSpPr>
          <p:nvPr>
            <p:ph type="sldNum" sz="quarter" idx="12"/>
          </p:nvPr>
        </p:nvSpPr>
        <p:spPr>
          <a:xfrm>
            <a:off x="8077200" y="1430866"/>
            <a:ext cx="2743200"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057807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6/03/2018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5821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EEBC23BB-2070-D146-BD10-A01B23AF686B}" type="datetimeFigureOut">
              <a:rPr lang="en-AU" smtClean="0"/>
              <a:t>6/03/2018</a:t>
            </a:fld>
            <a:endParaRPr lang="en-AU"/>
          </a:p>
        </p:txBody>
      </p:sp>
      <p:sp>
        <p:nvSpPr>
          <p:cNvPr id="5" name="Footer Placeholder 4"/>
          <p:cNvSpPr>
            <a:spLocks noGrp="1"/>
          </p:cNvSpPr>
          <p:nvPr>
            <p:ph type="ftr" sz="quarter" idx="11"/>
          </p:nvPr>
        </p:nvSpPr>
        <p:spPr>
          <a:xfrm>
            <a:off x="685800" y="381001"/>
            <a:ext cx="6991492" cy="36406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210481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BC23BB-2070-D146-BD10-A01B23AF686B}" type="datetimeFigureOut">
              <a:rPr lang="en-AU" smtClean="0"/>
              <a:t>6/03/2018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500099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BC23BB-2070-D146-BD10-A01B23AF686B}" type="datetimeFigureOut">
              <a:rPr lang="en-AU" smtClean="0"/>
              <a:t>6/03/2018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150447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BC23BB-2070-D146-BD10-A01B23AF686B}" type="datetimeFigureOut">
              <a:rPr lang="en-AU" smtClean="0"/>
              <a:t>6/03/2018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158774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C23BB-2070-D146-BD10-A01B23AF686B}" type="datetimeFigureOut">
              <a:rPr lang="en-AU" smtClean="0"/>
              <a:t>6/03/2018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636279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6/03/2018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14019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6/03/2018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581268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6/03/2018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146349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EBC23BB-2070-D146-BD10-A01B23AF686B}" type="datetimeFigureOut">
              <a:rPr lang="en-AU" smtClean="0"/>
              <a:t>6/03/2018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967820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EBC23BB-2070-D146-BD10-A01B23AF686B}" type="datetimeFigureOut">
              <a:rPr lang="en-AU" smtClean="0"/>
              <a:t>6/03/2018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0310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EEBC23BB-2070-D146-BD10-A01B23AF686B}" type="datetimeFigureOut">
              <a:rPr lang="en-AU" smtClean="0"/>
              <a:t>6/03/2018</a:t>
            </a:fld>
            <a:endParaRPr lang="en-AU"/>
          </a:p>
        </p:txBody>
      </p:sp>
      <p:sp>
        <p:nvSpPr>
          <p:cNvPr id="6" name="Footer Placeholder 5"/>
          <p:cNvSpPr>
            <a:spLocks noGrp="1"/>
          </p:cNvSpPr>
          <p:nvPr>
            <p:ph type="ftr" sz="quarter" idx="11"/>
          </p:nvPr>
        </p:nvSpPr>
        <p:spPr>
          <a:xfrm>
            <a:off x="685800" y="378883"/>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41245804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EBC23BB-2070-D146-BD10-A01B23AF686B}" type="datetimeFigureOut">
              <a:rPr lang="en-AU" smtClean="0"/>
              <a:t>6/03/2018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70242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EBC23BB-2070-D146-BD10-A01B23AF686B}" type="datetimeFigureOut">
              <a:rPr lang="en-AU" smtClean="0"/>
              <a:t>6/03/2018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4533065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6/03/2018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776326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EEBC23BB-2070-D146-BD10-A01B23AF686B}" type="datetimeFigureOut">
              <a:rPr lang="en-AU" smtClean="0"/>
              <a:t>6/03/2018</a:t>
            </a:fld>
            <a:endParaRPr lang="en-AU"/>
          </a:p>
        </p:txBody>
      </p:sp>
      <p:sp>
        <p:nvSpPr>
          <p:cNvPr id="5" name="Footer Placeholder 4"/>
          <p:cNvSpPr>
            <a:spLocks noGrp="1"/>
          </p:cNvSpPr>
          <p:nvPr>
            <p:ph type="ftr" sz="quarter" idx="11"/>
          </p:nvPr>
        </p:nvSpPr>
        <p:spPr>
          <a:xfrm>
            <a:off x="685800" y="381000"/>
            <a:ext cx="6991492" cy="36512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796092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EBC23BB-2070-D146-BD10-A01B23AF686B}" type="datetimeFigureOut">
              <a:rPr lang="en-AU" smtClean="0"/>
              <a:t>6/03/2018</a:t>
            </a:fld>
            <a:endParaRPr lang="en-AU"/>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89D79F-077F-204B-9403-1DA3DE99CFD3}" type="slidenum">
              <a:rPr lang="en-AU" smtClean="0"/>
              <a:t>‹#›</a:t>
            </a:fld>
            <a:endParaRPr lang="en-AU"/>
          </a:p>
        </p:txBody>
      </p:sp>
    </p:spTree>
    <p:extLst>
      <p:ext uri="{BB962C8B-B14F-4D97-AF65-F5344CB8AC3E}">
        <p14:creationId xmlns:p14="http://schemas.microsoft.com/office/powerpoint/2010/main" val="283675412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hyperlink" Target="https://creativecommons.org/licenses/by-sa/3.0/" TargetMode="External"/><Relationship Id="rId4" Type="http://schemas.openxmlformats.org/officeDocument/2006/relationships/hyperlink" Target="http://continental-circus.blogspot.pt/2011/03/australia-e-o-automobilismo.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a1gaurav.wordpress.com/2011/06/14/292/" TargetMode="External"/><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hyperlink" Target="http://www.freeimageslive.co.uk/free_stock_image/red-cricket-ball-jpg" TargetMode="External"/><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42744-6AE1-4460-BB81-220391B100E6}"/>
              </a:ext>
            </a:extLst>
          </p:cNvPr>
          <p:cNvSpPr>
            <a:spLocks noGrp="1"/>
          </p:cNvSpPr>
          <p:nvPr>
            <p:ph type="ctrTitle"/>
          </p:nvPr>
        </p:nvSpPr>
        <p:spPr/>
        <p:txBody>
          <a:bodyPr>
            <a:normAutofit/>
          </a:bodyPr>
          <a:lstStyle/>
          <a:p>
            <a:r>
              <a:rPr lang="en-US" sz="5400" b="1" dirty="0">
                <a:solidFill>
                  <a:srgbClr val="0070C0"/>
                </a:solidFill>
                <a:latin typeface="Kiwi School Handwriting" panose="00000500000000000000" pitchFamily="2" charset="0"/>
              </a:rPr>
              <a:t>Measurement – Linear Measure</a:t>
            </a:r>
            <a:endParaRPr lang="en-GB" sz="5400" dirty="0"/>
          </a:p>
        </p:txBody>
      </p:sp>
      <p:sp>
        <p:nvSpPr>
          <p:cNvPr id="3" name="Subtitle 2">
            <a:extLst>
              <a:ext uri="{FF2B5EF4-FFF2-40B4-BE49-F238E27FC236}">
                <a16:creationId xmlns:a16="http://schemas.microsoft.com/office/drawing/2014/main" id="{B1CE286F-EE8D-4E43-8AA7-04B4265BF31F}"/>
              </a:ext>
            </a:extLst>
          </p:cNvPr>
          <p:cNvSpPr>
            <a:spLocks noGrp="1"/>
          </p:cNvSpPr>
          <p:nvPr>
            <p:ph type="subTitle" idx="1"/>
          </p:nvPr>
        </p:nvSpPr>
        <p:spPr/>
        <p:txBody>
          <a:bodyPr>
            <a:normAutofit fontScale="92500" lnSpcReduction="10000"/>
          </a:bodyPr>
          <a:lstStyle/>
          <a:p>
            <a:r>
              <a:rPr lang="en-AU" sz="2000" b="1" dirty="0">
                <a:solidFill>
                  <a:schemeClr val="accent2">
                    <a:lumMod val="75000"/>
                  </a:schemeClr>
                </a:solidFill>
                <a:latin typeface="Kiwi School Handwriting" panose="00000500000000000000"/>
              </a:rPr>
              <a:t>Miss Lum </a:t>
            </a:r>
          </a:p>
          <a:p>
            <a:r>
              <a:rPr lang="en-AU" sz="2000" b="1" dirty="0">
                <a:solidFill>
                  <a:schemeClr val="accent2">
                    <a:lumMod val="75000"/>
                  </a:schemeClr>
                </a:solidFill>
                <a:latin typeface="Kiwi School Handwriting" panose="00000500000000000000"/>
              </a:rPr>
              <a:t>Year </a:t>
            </a:r>
            <a:r>
              <a:rPr lang="en-AU" b="1" dirty="0">
                <a:solidFill>
                  <a:schemeClr val="accent2">
                    <a:lumMod val="75000"/>
                  </a:schemeClr>
                </a:solidFill>
                <a:latin typeface="Kiwi School Handwriting" panose="00000500000000000000"/>
              </a:rPr>
              <a:t>11 Essentials</a:t>
            </a:r>
            <a:endParaRPr lang="en-GB" sz="2000" b="1" dirty="0">
              <a:solidFill>
                <a:schemeClr val="accent2">
                  <a:lumMod val="75000"/>
                </a:schemeClr>
              </a:solidFill>
              <a:latin typeface="Kiwi School Handwriting" panose="00000500000000000000"/>
            </a:endParaRPr>
          </a:p>
          <a:p>
            <a:endParaRPr lang="en-GB" dirty="0"/>
          </a:p>
        </p:txBody>
      </p:sp>
    </p:spTree>
    <p:extLst>
      <p:ext uri="{BB962C8B-B14F-4D97-AF65-F5344CB8AC3E}">
        <p14:creationId xmlns:p14="http://schemas.microsoft.com/office/powerpoint/2010/main" val="1892862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406D-1B0F-4A8E-9995-B02B2CB3CA2D}"/>
              </a:ext>
            </a:extLst>
          </p:cNvPr>
          <p:cNvSpPr>
            <a:spLocks noGrp="1"/>
          </p:cNvSpPr>
          <p:nvPr>
            <p:ph type="title"/>
          </p:nvPr>
        </p:nvSpPr>
        <p:spPr/>
        <p:txBody>
          <a:bodyPr>
            <a:normAutofit/>
          </a:bodyPr>
          <a:lstStyle/>
          <a:p>
            <a:r>
              <a:rPr lang="en-AU" sz="5400" b="1" dirty="0">
                <a:solidFill>
                  <a:schemeClr val="accent2">
                    <a:lumMod val="75000"/>
                  </a:schemeClr>
                </a:solidFill>
                <a:latin typeface="Kiwi School Handwriting"/>
              </a:rPr>
              <a:t>Learning Outcomes</a:t>
            </a:r>
            <a:endParaRPr lang="en-GB" sz="5400" b="1" dirty="0">
              <a:solidFill>
                <a:schemeClr val="accent2">
                  <a:lumMod val="75000"/>
                </a:schemeClr>
              </a:solidFill>
              <a:latin typeface="Kiwi School Handwriting"/>
            </a:endParaRPr>
          </a:p>
        </p:txBody>
      </p:sp>
      <p:sp>
        <p:nvSpPr>
          <p:cNvPr id="3" name="Content Placeholder 2">
            <a:extLst>
              <a:ext uri="{FF2B5EF4-FFF2-40B4-BE49-F238E27FC236}">
                <a16:creationId xmlns:a16="http://schemas.microsoft.com/office/drawing/2014/main" id="{7E691107-7794-4BDC-A667-DF76D18C9352}"/>
              </a:ext>
            </a:extLst>
          </p:cNvPr>
          <p:cNvSpPr>
            <a:spLocks noGrp="1"/>
          </p:cNvSpPr>
          <p:nvPr>
            <p:ph idx="1"/>
          </p:nvPr>
        </p:nvSpPr>
        <p:spPr/>
        <p:txBody>
          <a:bodyPr>
            <a:normAutofit lnSpcReduction="10000"/>
          </a:bodyPr>
          <a:lstStyle/>
          <a:p>
            <a:pPr marL="457200" lvl="1" indent="0">
              <a:buNone/>
            </a:pPr>
            <a:r>
              <a:rPr lang="en-AU" sz="2800" dirty="0"/>
              <a:t>1.3.1 Choose and use appropriate metric units of length, their abbreviations, conversions between them, and their appropriate levels of accuracy, such as mm for building and other trade contexts, cm for textiles</a:t>
            </a:r>
          </a:p>
          <a:p>
            <a:pPr marL="457200" lvl="1" indent="0">
              <a:buNone/>
            </a:pPr>
            <a:endParaRPr lang="en-AU" sz="2800" dirty="0"/>
          </a:p>
          <a:p>
            <a:pPr marL="457200" lvl="1" indent="0">
              <a:buNone/>
            </a:pPr>
            <a:r>
              <a:rPr lang="en-AU" sz="2800" dirty="0"/>
              <a:t>1.3.2 Estimate lengths</a:t>
            </a:r>
          </a:p>
          <a:p>
            <a:pPr marL="457200" lvl="1" indent="0">
              <a:buNone/>
            </a:pPr>
            <a:endParaRPr lang="en-AU" sz="2800" dirty="0"/>
          </a:p>
          <a:p>
            <a:pPr marL="457200" lvl="1" indent="0">
              <a:buNone/>
            </a:pPr>
            <a:r>
              <a:rPr lang="en-AU" sz="2800" dirty="0"/>
              <a:t>1.3.3 Convert between metric units of length and other length units for simple practical purposes. For example, 1 inch ≈ 2.54 cm</a:t>
            </a:r>
            <a:endParaRPr lang="en-GB" sz="2800" dirty="0"/>
          </a:p>
        </p:txBody>
      </p:sp>
    </p:spTree>
    <p:extLst>
      <p:ext uri="{BB962C8B-B14F-4D97-AF65-F5344CB8AC3E}">
        <p14:creationId xmlns:p14="http://schemas.microsoft.com/office/powerpoint/2010/main" val="181884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3723712"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Linear Measurement</a:t>
            </a:r>
          </a:p>
        </p:txBody>
      </p:sp>
      <p:sp>
        <p:nvSpPr>
          <p:cNvPr id="11" name="TextBox 10"/>
          <p:cNvSpPr txBox="1"/>
          <p:nvPr/>
        </p:nvSpPr>
        <p:spPr>
          <a:xfrm>
            <a:off x="9082292" y="20443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06/03/2018</a:t>
            </a:r>
          </a:p>
        </p:txBody>
      </p:sp>
      <p:sp>
        <p:nvSpPr>
          <p:cNvPr id="33" name="TextBox 32"/>
          <p:cNvSpPr txBox="1"/>
          <p:nvPr/>
        </p:nvSpPr>
        <p:spPr>
          <a:xfrm>
            <a:off x="191345" y="858948"/>
            <a:ext cx="10607625" cy="461537"/>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What is Linear Measurement?</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9AA13946-086C-4E06-B07A-BEFFA7E1A326}"/>
              </a:ext>
            </a:extLst>
          </p:cNvPr>
          <p:cNvSpPr txBox="1"/>
          <p:nvPr/>
        </p:nvSpPr>
        <p:spPr>
          <a:xfrm>
            <a:off x="1943784" y="1449573"/>
            <a:ext cx="9981741" cy="3693319"/>
          </a:xfrm>
          <a:prstGeom prst="rect">
            <a:avLst/>
          </a:prstGeom>
          <a:noFill/>
        </p:spPr>
        <p:txBody>
          <a:bodyPr wrap="square" rtlCol="0">
            <a:spAutoFit/>
          </a:bodyPr>
          <a:lstStyle/>
          <a:p>
            <a:r>
              <a:rPr lang="en-AU" dirty="0"/>
              <a:t>In Australia we use the metric system to measure length.</a:t>
            </a:r>
          </a:p>
          <a:p>
            <a:pPr marL="285750" indent="-285750">
              <a:buFont typeface="Arial" panose="020B0604020202020204" pitchFamily="34" charset="0"/>
              <a:buChar char="•"/>
            </a:pPr>
            <a:r>
              <a:rPr lang="en-GB" dirty="0"/>
              <a:t>1 millimetre ≡ 1 mm </a:t>
            </a:r>
          </a:p>
          <a:p>
            <a:pPr marL="285750" indent="-285750">
              <a:buFont typeface="Arial" panose="020B0604020202020204" pitchFamily="34" charset="0"/>
              <a:buChar char="•"/>
            </a:pPr>
            <a:r>
              <a:rPr lang="en-GB" dirty="0"/>
              <a:t>10 millimetres = 1 centimetre ≡ 1 cm </a:t>
            </a:r>
          </a:p>
          <a:p>
            <a:pPr marL="285750" indent="-285750">
              <a:buFont typeface="Arial" panose="020B0604020202020204" pitchFamily="34" charset="0"/>
              <a:buChar char="•"/>
            </a:pPr>
            <a:r>
              <a:rPr lang="it-IT" dirty="0"/>
              <a:t>1000 mm = 100 cm = 1 metre ≡ 1 m </a:t>
            </a:r>
          </a:p>
          <a:p>
            <a:pPr marL="285750" indent="-285750">
              <a:buFont typeface="Arial" panose="020B0604020202020204" pitchFamily="34" charset="0"/>
              <a:buChar char="•"/>
            </a:pPr>
            <a:r>
              <a:rPr lang="en-GB" dirty="0"/>
              <a:t>1 000 000 mm = 100 000 cm = 1000 m = 1 kilometre ≡ 1 km </a:t>
            </a:r>
          </a:p>
          <a:p>
            <a:endParaRPr lang="en-AU" dirty="0"/>
          </a:p>
          <a:p>
            <a:r>
              <a:rPr lang="en-AU" dirty="0"/>
              <a:t>Different units of measurements of length can be converted</a:t>
            </a:r>
          </a:p>
          <a:p>
            <a:endParaRPr lang="en-GB" dirty="0"/>
          </a:p>
          <a:p>
            <a:pPr marL="285750" indent="-285750">
              <a:buFont typeface="Arial" panose="020B0604020202020204" pitchFamily="34" charset="0"/>
              <a:buChar char="•"/>
            </a:pPr>
            <a:endParaRPr lang="en-AU" dirty="0"/>
          </a:p>
          <a:p>
            <a:endParaRPr lang="en-AU" dirty="0"/>
          </a:p>
          <a:p>
            <a:endParaRPr lang="en-AU" dirty="0"/>
          </a:p>
          <a:p>
            <a:endParaRPr lang="en-AU" dirty="0"/>
          </a:p>
          <a:p>
            <a:endParaRPr lang="en-AU" dirty="0"/>
          </a:p>
        </p:txBody>
      </p:sp>
      <p:pic>
        <p:nvPicPr>
          <p:cNvPr id="6" name="Picture 5">
            <a:extLst>
              <a:ext uri="{FF2B5EF4-FFF2-40B4-BE49-F238E27FC236}">
                <a16:creationId xmlns:a16="http://schemas.microsoft.com/office/drawing/2014/main" id="{847DF744-47C0-42EF-94A0-4D8924977A20}"/>
              </a:ext>
            </a:extLst>
          </p:cNvPr>
          <p:cNvPicPr>
            <a:picLocks noChangeAspect="1"/>
          </p:cNvPicPr>
          <p:nvPr/>
        </p:nvPicPr>
        <p:blipFill>
          <a:blip r:embed="rId3"/>
          <a:stretch>
            <a:fillRect/>
          </a:stretch>
        </p:blipFill>
        <p:spPr>
          <a:xfrm>
            <a:off x="2449484" y="3674436"/>
            <a:ext cx="8534400" cy="1733991"/>
          </a:xfrm>
          <a:prstGeom prst="rect">
            <a:avLst/>
          </a:prstGeom>
        </p:spPr>
      </p:pic>
    </p:spTree>
    <p:extLst>
      <p:ext uri="{BB962C8B-B14F-4D97-AF65-F5344CB8AC3E}">
        <p14:creationId xmlns:p14="http://schemas.microsoft.com/office/powerpoint/2010/main" val="3653700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7097" y="764373"/>
            <a:ext cx="9409103" cy="1293028"/>
          </a:xfrm>
        </p:spPr>
        <p:txBody>
          <a:bodyPr>
            <a:noAutofit/>
          </a:bodyPr>
          <a:lstStyle/>
          <a:p>
            <a:r>
              <a:rPr lang="en-AU" sz="5400" b="1" dirty="0">
                <a:solidFill>
                  <a:schemeClr val="accent1">
                    <a:lumMod val="75000"/>
                  </a:schemeClr>
                </a:solidFill>
                <a:latin typeface="Kiwi School Handwriting" panose="00000500000000000000"/>
              </a:rPr>
              <a:t>Think, Write, Pair, Share</a:t>
            </a:r>
          </a:p>
        </p:txBody>
      </p:sp>
      <p:sp>
        <p:nvSpPr>
          <p:cNvPr id="3" name="Content Placeholder 2"/>
          <p:cNvSpPr>
            <a:spLocks noGrp="1"/>
          </p:cNvSpPr>
          <p:nvPr>
            <p:ph idx="1"/>
          </p:nvPr>
        </p:nvSpPr>
        <p:spPr/>
        <p:txBody>
          <a:bodyPr>
            <a:normAutofit/>
          </a:bodyPr>
          <a:lstStyle/>
          <a:p>
            <a:pPr marL="0" indent="0">
              <a:buNone/>
            </a:pPr>
            <a:r>
              <a:rPr lang="en-AU" dirty="0"/>
              <a:t>Using the Baldivis Secondary College’s Sports Carnival as our example:</a:t>
            </a:r>
          </a:p>
          <a:p>
            <a:pPr marL="457200" indent="-457200">
              <a:buFont typeface="+mj-lt"/>
              <a:buAutoNum type="arabicPeriod"/>
            </a:pPr>
            <a:r>
              <a:rPr lang="en-AU" dirty="0"/>
              <a:t>Think of the events and the lengths of measurements.</a:t>
            </a:r>
            <a:br>
              <a:rPr lang="en-AU" dirty="0"/>
            </a:br>
            <a:endParaRPr lang="en-AU" dirty="0"/>
          </a:p>
          <a:p>
            <a:pPr marL="457200" indent="-457200">
              <a:buFont typeface="+mj-lt"/>
              <a:buAutoNum type="arabicPeriod"/>
            </a:pPr>
            <a:r>
              <a:rPr lang="en-AU" dirty="0"/>
              <a:t>Write down the events and lengths.</a:t>
            </a:r>
            <a:br>
              <a:rPr lang="en-AU" dirty="0"/>
            </a:br>
            <a:endParaRPr lang="en-AU" dirty="0"/>
          </a:p>
          <a:p>
            <a:pPr marL="457200" indent="-457200">
              <a:buFont typeface="+mj-lt"/>
              <a:buAutoNum type="arabicPeriod"/>
            </a:pPr>
            <a:r>
              <a:rPr lang="en-AU" dirty="0"/>
              <a:t>Share these ideas with someone next to you.</a:t>
            </a:r>
            <a:br>
              <a:rPr lang="en-AU" dirty="0"/>
            </a:br>
            <a:r>
              <a:rPr lang="en-AU" dirty="0"/>
              <a:t> - While sharing your answers, discuss why centimetres and millimetres are not used.</a:t>
            </a:r>
            <a:br>
              <a:rPr lang="en-AU" dirty="0"/>
            </a:br>
            <a:endParaRPr lang="en-AU" dirty="0"/>
          </a:p>
          <a:p>
            <a:pPr marL="457200" indent="-457200">
              <a:buFont typeface="+mj-lt"/>
              <a:buAutoNum type="arabicPeriod"/>
            </a:pPr>
            <a:r>
              <a:rPr lang="en-AU" dirty="0"/>
              <a:t>We will have a whole group discussion on the choice and use of measurement lengths.</a:t>
            </a:r>
          </a:p>
          <a:p>
            <a:endParaRPr lang="en-GB" dirty="0"/>
          </a:p>
          <a:p>
            <a:pPr marL="0" indent="0">
              <a:buNone/>
            </a:pPr>
            <a:endParaRPr lang="en-AU" dirty="0"/>
          </a:p>
        </p:txBody>
      </p:sp>
    </p:spTree>
    <p:extLst>
      <p:ext uri="{BB962C8B-B14F-4D97-AF65-F5344CB8AC3E}">
        <p14:creationId xmlns:p14="http://schemas.microsoft.com/office/powerpoint/2010/main" val="1961245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3723712"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Linear Measurement</a:t>
            </a:r>
          </a:p>
        </p:txBody>
      </p:sp>
      <p:sp>
        <p:nvSpPr>
          <p:cNvPr id="11" name="TextBox 10"/>
          <p:cNvSpPr txBox="1"/>
          <p:nvPr/>
        </p:nvSpPr>
        <p:spPr>
          <a:xfrm>
            <a:off x="9082292" y="20443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06/03/2018</a:t>
            </a:r>
          </a:p>
        </p:txBody>
      </p:sp>
      <p:sp>
        <p:nvSpPr>
          <p:cNvPr id="33" name="TextBox 32"/>
          <p:cNvSpPr txBox="1"/>
          <p:nvPr/>
        </p:nvSpPr>
        <p:spPr>
          <a:xfrm>
            <a:off x="191345" y="858948"/>
            <a:ext cx="10607625" cy="461537"/>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What is Linear Measurement?</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9AA13946-086C-4E06-B07A-BEFFA7E1A326}"/>
              </a:ext>
            </a:extLst>
          </p:cNvPr>
          <p:cNvSpPr txBox="1"/>
          <p:nvPr/>
        </p:nvSpPr>
        <p:spPr>
          <a:xfrm>
            <a:off x="2086146" y="1449573"/>
            <a:ext cx="6421967" cy="5078313"/>
          </a:xfrm>
          <a:prstGeom prst="rect">
            <a:avLst/>
          </a:prstGeom>
          <a:noFill/>
        </p:spPr>
        <p:txBody>
          <a:bodyPr wrap="square" rtlCol="0">
            <a:spAutoFit/>
          </a:bodyPr>
          <a:lstStyle/>
          <a:p>
            <a:r>
              <a:rPr lang="en-AU" dirty="0"/>
              <a:t>Choosing an appropriate unit of measurement is important.</a:t>
            </a:r>
          </a:p>
          <a:p>
            <a:endParaRPr lang="en-AU" dirty="0"/>
          </a:p>
          <a:p>
            <a:r>
              <a:rPr lang="en-AU" dirty="0"/>
              <a:t>The length of the Australian coastline is 25 760 km.</a:t>
            </a:r>
          </a:p>
          <a:p>
            <a:endParaRPr lang="en-AU" dirty="0"/>
          </a:p>
          <a:p>
            <a:r>
              <a:rPr lang="en-AU" dirty="0"/>
              <a:t>Centimetres and millimetres are not practical units to describe this length as there would be many digits. It is most efficient to present the information using fewer digits.</a:t>
            </a:r>
          </a:p>
          <a:p>
            <a:endParaRPr lang="en-AU" dirty="0"/>
          </a:p>
          <a:p>
            <a:r>
              <a:rPr lang="en-AU" dirty="0"/>
              <a:t>Similarly you would not use kilometres to describe the length of a bull ant even though it can give you a very painful bite!</a:t>
            </a:r>
            <a:endParaRPr lang="en-GB" dirty="0"/>
          </a:p>
          <a:p>
            <a:pPr marL="285750" indent="-285750">
              <a:buFont typeface="Arial" panose="020B0604020202020204" pitchFamily="34" charset="0"/>
              <a:buChar char="•"/>
            </a:pPr>
            <a:endParaRPr lang="en-AU" dirty="0"/>
          </a:p>
          <a:p>
            <a:endParaRPr lang="en-AU" dirty="0"/>
          </a:p>
          <a:p>
            <a:endParaRPr lang="en-AU" dirty="0"/>
          </a:p>
          <a:p>
            <a:endParaRPr lang="en-AU" dirty="0"/>
          </a:p>
          <a:p>
            <a:endParaRPr lang="en-AU" dirty="0"/>
          </a:p>
        </p:txBody>
      </p:sp>
      <p:pic>
        <p:nvPicPr>
          <p:cNvPr id="6" name="Picture 5" descr="A picture containing text, map&#10;&#10;Description generated with very high confidence">
            <a:extLst>
              <a:ext uri="{FF2B5EF4-FFF2-40B4-BE49-F238E27FC236}">
                <a16:creationId xmlns:a16="http://schemas.microsoft.com/office/drawing/2014/main" id="{E1CD1DA5-CEED-4611-BC45-91BFD511FBC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508113" y="1556193"/>
            <a:ext cx="3195481" cy="3212478"/>
          </a:xfrm>
          <a:prstGeom prst="rect">
            <a:avLst/>
          </a:prstGeom>
        </p:spPr>
      </p:pic>
      <p:sp>
        <p:nvSpPr>
          <p:cNvPr id="8" name="TextBox 7">
            <a:extLst>
              <a:ext uri="{FF2B5EF4-FFF2-40B4-BE49-F238E27FC236}">
                <a16:creationId xmlns:a16="http://schemas.microsoft.com/office/drawing/2014/main" id="{AD78A2B1-C71B-408E-8557-92E821EDCC12}"/>
              </a:ext>
            </a:extLst>
          </p:cNvPr>
          <p:cNvSpPr txBox="1"/>
          <p:nvPr/>
        </p:nvSpPr>
        <p:spPr>
          <a:xfrm>
            <a:off x="8508112" y="4819713"/>
            <a:ext cx="3195481" cy="369332"/>
          </a:xfrm>
          <a:prstGeom prst="rect">
            <a:avLst/>
          </a:prstGeom>
          <a:noFill/>
        </p:spPr>
        <p:txBody>
          <a:bodyPr wrap="square" rtlCol="0">
            <a:spAutoFit/>
          </a:bodyPr>
          <a:lstStyle/>
          <a:p>
            <a:r>
              <a:rPr lang="en-GB" sz="900" dirty="0">
                <a:hlinkClick r:id="rId4" tooltip="http://continental-circus.blogspot.pt/2011/03/australia-e-o-automobilismo.html"/>
              </a:rPr>
              <a:t>This Photo</a:t>
            </a:r>
            <a:r>
              <a:rPr lang="en-GB" sz="900" dirty="0"/>
              <a:t> by Unknown Author is licensed under </a:t>
            </a:r>
            <a:r>
              <a:rPr lang="en-GB" sz="900" dirty="0">
                <a:hlinkClick r:id="rId5" tooltip="https://creativecommons.org/licenses/by-sa/3.0/"/>
              </a:rPr>
              <a:t>CC BY-SA</a:t>
            </a:r>
            <a:endParaRPr lang="en-GB" sz="900" dirty="0"/>
          </a:p>
        </p:txBody>
      </p:sp>
      <p:pic>
        <p:nvPicPr>
          <p:cNvPr id="12" name="Picture 11">
            <a:extLst>
              <a:ext uri="{FF2B5EF4-FFF2-40B4-BE49-F238E27FC236}">
                <a16:creationId xmlns:a16="http://schemas.microsoft.com/office/drawing/2014/main" id="{A48B885C-F4C7-461B-9D71-A27C3BD21C17}"/>
              </a:ext>
            </a:extLst>
          </p:cNvPr>
          <p:cNvPicPr>
            <a:picLocks noChangeAspect="1"/>
          </p:cNvPicPr>
          <p:nvPr/>
        </p:nvPicPr>
        <p:blipFill>
          <a:blip r:embed="rId6"/>
          <a:stretch>
            <a:fillRect/>
          </a:stretch>
        </p:blipFill>
        <p:spPr>
          <a:xfrm>
            <a:off x="3937449" y="4863161"/>
            <a:ext cx="2841156" cy="1914821"/>
          </a:xfrm>
          <a:prstGeom prst="rect">
            <a:avLst/>
          </a:prstGeom>
        </p:spPr>
      </p:pic>
    </p:spTree>
    <p:extLst>
      <p:ext uri="{BB962C8B-B14F-4D97-AF65-F5344CB8AC3E}">
        <p14:creationId xmlns:p14="http://schemas.microsoft.com/office/powerpoint/2010/main" val="548683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20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fade">
                                      <p:cBhvr>
                                        <p:cTn id="20" dur="500"/>
                                        <p:tgtEl>
                                          <p:spTgt spid="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fade">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
                                            <p:txEl>
                                              <p:pRg st="6" end="6"/>
                                            </p:txEl>
                                          </p:spTgt>
                                        </p:tgtEl>
                                        <p:attrNameLst>
                                          <p:attrName>style.visibility</p:attrName>
                                        </p:attrNameLst>
                                      </p:cBhvr>
                                      <p:to>
                                        <p:strVal val="visible"/>
                                      </p:to>
                                    </p:set>
                                    <p:animEffect transition="in" filter="fade">
                                      <p:cBhvr>
                                        <p:cTn id="30" dur="500"/>
                                        <p:tgtEl>
                                          <p:spTgt spid="2">
                                            <p:txEl>
                                              <p:pRg st="6" end="6"/>
                                            </p:txEl>
                                          </p:spTgt>
                                        </p:tgtEl>
                                      </p:cBhvr>
                                    </p:animEffect>
                                  </p:childTnLst>
                                </p:cTn>
                              </p:par>
                              <p:par>
                                <p:cTn id="31" presetID="6" presetClass="entr" presetSubtype="16"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circle(in)">
                                      <p:cBhvr>
                                        <p:cTn id="3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3B32-1CEC-49B0-9E03-FBDDAAF56967}"/>
              </a:ext>
            </a:extLst>
          </p:cNvPr>
          <p:cNvSpPr>
            <a:spLocks noGrp="1"/>
          </p:cNvSpPr>
          <p:nvPr>
            <p:ph type="title"/>
          </p:nvPr>
        </p:nvSpPr>
        <p:spPr/>
        <p:txBody>
          <a:bodyPr>
            <a:normAutofit/>
          </a:bodyPr>
          <a:lstStyle/>
          <a:p>
            <a:r>
              <a:rPr lang="en-AU" sz="5400" b="1" dirty="0">
                <a:solidFill>
                  <a:schemeClr val="accent1">
                    <a:lumMod val="75000"/>
                  </a:schemeClr>
                </a:solidFill>
                <a:latin typeface="Kiwi School Handwriting" panose="00000500000000000000"/>
              </a:rPr>
              <a:t>Practical Activity</a:t>
            </a:r>
            <a:endParaRPr lang="en-GB" sz="5400" dirty="0"/>
          </a:p>
        </p:txBody>
      </p:sp>
      <p:sp>
        <p:nvSpPr>
          <p:cNvPr id="5" name="Content Placeholder 4">
            <a:extLst>
              <a:ext uri="{FF2B5EF4-FFF2-40B4-BE49-F238E27FC236}">
                <a16:creationId xmlns:a16="http://schemas.microsoft.com/office/drawing/2014/main" id="{F8FBFDD9-7B16-4F65-8FA0-EC909D7D0DE5}"/>
              </a:ext>
            </a:extLst>
          </p:cNvPr>
          <p:cNvSpPr>
            <a:spLocks noGrp="1"/>
          </p:cNvSpPr>
          <p:nvPr>
            <p:ph idx="1"/>
          </p:nvPr>
        </p:nvSpPr>
        <p:spPr/>
        <p:txBody>
          <a:bodyPr/>
          <a:lstStyle/>
          <a:p>
            <a:pPr marL="457200" indent="-457200">
              <a:buFont typeface="+mj-lt"/>
              <a:buAutoNum type="arabicPeriod"/>
            </a:pPr>
            <a:r>
              <a:rPr lang="en-AU" dirty="0"/>
              <a:t>Estimate the length of the whiteboard area of the classroom.</a:t>
            </a:r>
            <a:br>
              <a:rPr lang="en-AU" dirty="0"/>
            </a:br>
            <a:endParaRPr lang="en-AU" dirty="0"/>
          </a:p>
          <a:p>
            <a:pPr marL="457200" indent="-457200">
              <a:buFont typeface="+mj-lt"/>
              <a:buAutoNum type="arabicPeriod"/>
            </a:pPr>
            <a:r>
              <a:rPr lang="en-AU" dirty="0"/>
              <a:t>Estimate the height of the desk you are sitting at.</a:t>
            </a:r>
            <a:br>
              <a:rPr lang="en-AU" dirty="0"/>
            </a:br>
            <a:endParaRPr lang="en-AU" dirty="0"/>
          </a:p>
          <a:p>
            <a:pPr marL="457200" indent="-457200">
              <a:buFont typeface="+mj-lt"/>
              <a:buAutoNum type="arabicPeriod"/>
            </a:pPr>
            <a:r>
              <a:rPr lang="en-AU" dirty="0"/>
              <a:t>Estimate the width of one of the classroom’s windows.</a:t>
            </a:r>
          </a:p>
          <a:p>
            <a:pPr marL="0" indent="0">
              <a:buNone/>
            </a:pPr>
            <a:endParaRPr lang="en-AU" dirty="0"/>
          </a:p>
          <a:p>
            <a:pPr marL="0" indent="0">
              <a:buNone/>
            </a:pPr>
            <a:r>
              <a:rPr lang="en-AU" dirty="0"/>
              <a:t>Write these estimates down. These will be compared to measurements.</a:t>
            </a:r>
          </a:p>
          <a:p>
            <a:pPr marL="0" indent="0">
              <a:buNone/>
            </a:pPr>
            <a:endParaRPr lang="en-AU" dirty="0"/>
          </a:p>
          <a:p>
            <a:pPr marL="0" indent="0">
              <a:buNone/>
            </a:pPr>
            <a:r>
              <a:rPr lang="en-AU" dirty="0"/>
              <a:t>How do your estimates compare?</a:t>
            </a:r>
          </a:p>
          <a:p>
            <a:pPr marL="457200" indent="-457200">
              <a:buFont typeface="+mj-lt"/>
              <a:buAutoNum type="arabicPeriod"/>
            </a:pPr>
            <a:endParaRPr lang="en-GB" dirty="0"/>
          </a:p>
        </p:txBody>
      </p:sp>
    </p:spTree>
    <p:extLst>
      <p:ext uri="{BB962C8B-B14F-4D97-AF65-F5344CB8AC3E}">
        <p14:creationId xmlns:p14="http://schemas.microsoft.com/office/powerpoint/2010/main" val="1698537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3B32-1CEC-49B0-9E03-FBDDAAF56967}"/>
              </a:ext>
            </a:extLst>
          </p:cNvPr>
          <p:cNvSpPr>
            <a:spLocks noGrp="1"/>
          </p:cNvSpPr>
          <p:nvPr>
            <p:ph type="title"/>
          </p:nvPr>
        </p:nvSpPr>
        <p:spPr/>
        <p:txBody>
          <a:bodyPr>
            <a:normAutofit/>
          </a:bodyPr>
          <a:lstStyle/>
          <a:p>
            <a:r>
              <a:rPr lang="en-AU" sz="5400" b="1" dirty="0">
                <a:solidFill>
                  <a:schemeClr val="accent1">
                    <a:lumMod val="75000"/>
                  </a:schemeClr>
                </a:solidFill>
                <a:latin typeface="Kiwi School Handwriting" panose="00000500000000000000"/>
              </a:rPr>
              <a:t>Task</a:t>
            </a:r>
            <a:endParaRPr lang="en-GB" sz="5400" dirty="0"/>
          </a:p>
        </p:txBody>
      </p:sp>
      <p:pic>
        <p:nvPicPr>
          <p:cNvPr id="8" name="Content Placeholder 7">
            <a:extLst>
              <a:ext uri="{FF2B5EF4-FFF2-40B4-BE49-F238E27FC236}">
                <a16:creationId xmlns:a16="http://schemas.microsoft.com/office/drawing/2014/main" id="{CD33F333-A782-4CCF-BC0F-08E803FA9493}"/>
              </a:ext>
            </a:extLst>
          </p:cNvPr>
          <p:cNvPicPr>
            <a:picLocks noGrp="1" noChangeAspect="1"/>
          </p:cNvPicPr>
          <p:nvPr>
            <p:ph idx="1"/>
          </p:nvPr>
        </p:nvPicPr>
        <p:blipFill>
          <a:blip r:embed="rId2"/>
          <a:stretch>
            <a:fillRect/>
          </a:stretch>
        </p:blipFill>
        <p:spPr>
          <a:xfrm>
            <a:off x="1143124" y="1795948"/>
            <a:ext cx="9905751" cy="5004947"/>
          </a:xfrm>
          <a:prstGeom prst="rect">
            <a:avLst/>
          </a:prstGeom>
        </p:spPr>
      </p:pic>
    </p:spTree>
    <p:extLst>
      <p:ext uri="{BB962C8B-B14F-4D97-AF65-F5344CB8AC3E}">
        <p14:creationId xmlns:p14="http://schemas.microsoft.com/office/powerpoint/2010/main" val="3528953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3B32-1CEC-49B0-9E03-FBDDAAF56967}"/>
              </a:ext>
            </a:extLst>
          </p:cNvPr>
          <p:cNvSpPr>
            <a:spLocks noGrp="1"/>
          </p:cNvSpPr>
          <p:nvPr>
            <p:ph type="title"/>
          </p:nvPr>
        </p:nvSpPr>
        <p:spPr/>
        <p:txBody>
          <a:bodyPr>
            <a:normAutofit/>
          </a:bodyPr>
          <a:lstStyle/>
          <a:p>
            <a:r>
              <a:rPr lang="en-AU" sz="5400" b="1" dirty="0">
                <a:solidFill>
                  <a:schemeClr val="accent1">
                    <a:lumMod val="75000"/>
                  </a:schemeClr>
                </a:solidFill>
                <a:latin typeface="Kiwi School Handwriting" panose="00000500000000000000"/>
              </a:rPr>
              <a:t>Task</a:t>
            </a:r>
            <a:endParaRPr lang="en-GB" sz="5400" dirty="0"/>
          </a:p>
        </p:txBody>
      </p:sp>
      <p:pic>
        <p:nvPicPr>
          <p:cNvPr id="6" name="Content Placeholder 5">
            <a:extLst>
              <a:ext uri="{FF2B5EF4-FFF2-40B4-BE49-F238E27FC236}">
                <a16:creationId xmlns:a16="http://schemas.microsoft.com/office/drawing/2014/main" id="{F93C8872-DDC7-473D-81D9-5D85697319B5}"/>
              </a:ext>
            </a:extLst>
          </p:cNvPr>
          <p:cNvPicPr>
            <a:picLocks noGrp="1" noChangeAspect="1"/>
          </p:cNvPicPr>
          <p:nvPr>
            <p:ph idx="1"/>
          </p:nvPr>
        </p:nvPicPr>
        <p:blipFill>
          <a:blip r:embed="rId2"/>
          <a:stretch>
            <a:fillRect/>
          </a:stretch>
        </p:blipFill>
        <p:spPr>
          <a:xfrm>
            <a:off x="768705" y="2193925"/>
            <a:ext cx="10654589" cy="4024313"/>
          </a:xfrm>
          <a:prstGeom prst="rect">
            <a:avLst/>
          </a:prstGeom>
        </p:spPr>
      </p:pic>
    </p:spTree>
    <p:extLst>
      <p:ext uri="{BB962C8B-B14F-4D97-AF65-F5344CB8AC3E}">
        <p14:creationId xmlns:p14="http://schemas.microsoft.com/office/powerpoint/2010/main" val="954297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3B32-1CEC-49B0-9E03-FBDDAAF56967}"/>
              </a:ext>
            </a:extLst>
          </p:cNvPr>
          <p:cNvSpPr>
            <a:spLocks noGrp="1"/>
          </p:cNvSpPr>
          <p:nvPr>
            <p:ph type="title"/>
          </p:nvPr>
        </p:nvSpPr>
        <p:spPr/>
        <p:txBody>
          <a:bodyPr>
            <a:normAutofit fontScale="90000"/>
          </a:bodyPr>
          <a:lstStyle/>
          <a:p>
            <a:r>
              <a:rPr lang="en-AU" sz="5400" b="1" dirty="0">
                <a:solidFill>
                  <a:schemeClr val="accent1">
                    <a:lumMod val="75000"/>
                  </a:schemeClr>
                </a:solidFill>
                <a:latin typeface="Kiwi School Handwriting" panose="00000500000000000000"/>
              </a:rPr>
              <a:t>When Will I Ever Need This?</a:t>
            </a:r>
            <a:endParaRPr lang="en-GB" sz="5400" dirty="0"/>
          </a:p>
        </p:txBody>
      </p:sp>
      <p:pic>
        <p:nvPicPr>
          <p:cNvPr id="5" name="Content Placeholder 4">
            <a:extLst>
              <a:ext uri="{FF2B5EF4-FFF2-40B4-BE49-F238E27FC236}">
                <a16:creationId xmlns:a16="http://schemas.microsoft.com/office/drawing/2014/main" id="{01ABA212-B06B-49BF-8454-E7A2ED1281E1}"/>
              </a:ext>
            </a:extLst>
          </p:cNvPr>
          <p:cNvPicPr>
            <a:picLocks noGrp="1" noChangeAspect="1"/>
          </p:cNvPicPr>
          <p:nvPr>
            <p:ph idx="1"/>
          </p:nvPr>
        </p:nvPicPr>
        <p:blipFill>
          <a:blip r:embed="rId3"/>
          <a:stretch>
            <a:fillRect/>
          </a:stretch>
        </p:blipFill>
        <p:spPr>
          <a:xfrm>
            <a:off x="451572" y="2148061"/>
            <a:ext cx="11398364" cy="3343814"/>
          </a:xfrm>
          <a:prstGeom prst="rect">
            <a:avLst/>
          </a:prstGeom>
        </p:spPr>
      </p:pic>
    </p:spTree>
    <p:extLst>
      <p:ext uri="{BB962C8B-B14F-4D97-AF65-F5344CB8AC3E}">
        <p14:creationId xmlns:p14="http://schemas.microsoft.com/office/powerpoint/2010/main" val="4024646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3B32-1CEC-49B0-9E03-FBDDAAF56967}"/>
              </a:ext>
            </a:extLst>
          </p:cNvPr>
          <p:cNvSpPr>
            <a:spLocks noGrp="1"/>
          </p:cNvSpPr>
          <p:nvPr>
            <p:ph type="title"/>
          </p:nvPr>
        </p:nvSpPr>
        <p:spPr>
          <a:xfrm>
            <a:off x="2895600" y="649389"/>
            <a:ext cx="8610600" cy="1293028"/>
          </a:xfrm>
        </p:spPr>
        <p:txBody>
          <a:bodyPr>
            <a:normAutofit/>
          </a:bodyPr>
          <a:lstStyle/>
          <a:p>
            <a:r>
              <a:rPr lang="en-AU" sz="5400" b="1" dirty="0">
                <a:solidFill>
                  <a:schemeClr val="accent1">
                    <a:lumMod val="75000"/>
                  </a:schemeClr>
                </a:solidFill>
                <a:latin typeface="Kiwi School Handwriting" panose="00000500000000000000"/>
              </a:rPr>
              <a:t>Task</a:t>
            </a:r>
            <a:endParaRPr lang="en-GB" sz="5400" dirty="0"/>
          </a:p>
        </p:txBody>
      </p:sp>
      <p:pic>
        <p:nvPicPr>
          <p:cNvPr id="6" name="Content Placeholder 5">
            <a:extLst>
              <a:ext uri="{FF2B5EF4-FFF2-40B4-BE49-F238E27FC236}">
                <a16:creationId xmlns:a16="http://schemas.microsoft.com/office/drawing/2014/main" id="{CB66AA3E-9C05-42DD-8C5C-5EAA9C161FD8}"/>
              </a:ext>
            </a:extLst>
          </p:cNvPr>
          <p:cNvPicPr>
            <a:picLocks noGrp="1" noChangeAspect="1"/>
          </p:cNvPicPr>
          <p:nvPr>
            <p:ph idx="1"/>
          </p:nvPr>
        </p:nvPicPr>
        <p:blipFill>
          <a:blip r:embed="rId2"/>
          <a:stretch>
            <a:fillRect/>
          </a:stretch>
        </p:blipFill>
        <p:spPr>
          <a:xfrm>
            <a:off x="1910931" y="1578722"/>
            <a:ext cx="8273404" cy="5135033"/>
          </a:xfrm>
          <a:prstGeom prst="rect">
            <a:avLst/>
          </a:prstGeom>
        </p:spPr>
      </p:pic>
    </p:spTree>
    <p:extLst>
      <p:ext uri="{BB962C8B-B14F-4D97-AF65-F5344CB8AC3E}">
        <p14:creationId xmlns:p14="http://schemas.microsoft.com/office/powerpoint/2010/main" val="1701662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extLst>
              <a:ext uri="{837473B0-CC2E-450A-ABE3-18F120FF3D39}">
                <a1611:picAttrSrcUrl xmlns:a1611="http://schemas.microsoft.com/office/drawing/2016/11/main" r:id="rId3"/>
              </a:ext>
            </a:extLst>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3B32-1CEC-49B0-9E03-FBDDAAF56967}"/>
              </a:ext>
            </a:extLst>
          </p:cNvPr>
          <p:cNvSpPr>
            <a:spLocks noGrp="1"/>
          </p:cNvSpPr>
          <p:nvPr>
            <p:ph type="title"/>
          </p:nvPr>
        </p:nvSpPr>
        <p:spPr>
          <a:xfrm>
            <a:off x="2895600" y="649389"/>
            <a:ext cx="8610600" cy="1293028"/>
          </a:xfrm>
        </p:spPr>
        <p:txBody>
          <a:bodyPr>
            <a:normAutofit/>
          </a:bodyPr>
          <a:lstStyle/>
          <a:p>
            <a:r>
              <a:rPr lang="en-AU" sz="5400" b="1" dirty="0">
                <a:solidFill>
                  <a:schemeClr val="accent1">
                    <a:lumMod val="75000"/>
                  </a:schemeClr>
                </a:solidFill>
                <a:latin typeface="Kiwi School Handwriting" panose="00000500000000000000"/>
              </a:rPr>
              <a:t>Task</a:t>
            </a:r>
            <a:endParaRPr lang="en-GB" sz="5400" dirty="0"/>
          </a:p>
        </p:txBody>
      </p:sp>
      <p:pic>
        <p:nvPicPr>
          <p:cNvPr id="5" name="Content Placeholder 4">
            <a:extLst>
              <a:ext uri="{FF2B5EF4-FFF2-40B4-BE49-F238E27FC236}">
                <a16:creationId xmlns:a16="http://schemas.microsoft.com/office/drawing/2014/main" id="{C2F3F217-70A7-4429-AC13-A75AB468C5E5}"/>
              </a:ext>
            </a:extLst>
          </p:cNvPr>
          <p:cNvPicPr>
            <a:picLocks noGrp="1" noChangeAspect="1"/>
          </p:cNvPicPr>
          <p:nvPr>
            <p:ph idx="1"/>
          </p:nvPr>
        </p:nvPicPr>
        <p:blipFill>
          <a:blip r:embed="rId4"/>
          <a:stretch>
            <a:fillRect/>
          </a:stretch>
        </p:blipFill>
        <p:spPr>
          <a:xfrm>
            <a:off x="192766" y="1899981"/>
            <a:ext cx="11915734" cy="4210072"/>
          </a:xfrm>
          <a:prstGeom prst="rect">
            <a:avLst/>
          </a:prstGeom>
        </p:spPr>
      </p:pic>
    </p:spTree>
    <p:extLst>
      <p:ext uri="{BB962C8B-B14F-4D97-AF65-F5344CB8AC3E}">
        <p14:creationId xmlns:p14="http://schemas.microsoft.com/office/powerpoint/2010/main" val="137619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extLst>
              <a:ext uri="{837473B0-CC2E-450A-ABE3-18F120FF3D39}">
                <a1611:picAttrSrcUrl xmlns:a1611="http://schemas.microsoft.com/office/drawing/2016/11/main" r:id="rId3"/>
              </a:ext>
            </a:extLst>
          </a:blip>
          <a:srcRect/>
          <a:stretch>
            <a:fillRect t="-10000" b="-1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3B32-1CEC-49B0-9E03-FBDDAAF56967}"/>
              </a:ext>
            </a:extLst>
          </p:cNvPr>
          <p:cNvSpPr>
            <a:spLocks noGrp="1"/>
          </p:cNvSpPr>
          <p:nvPr>
            <p:ph type="title"/>
          </p:nvPr>
        </p:nvSpPr>
        <p:spPr>
          <a:xfrm>
            <a:off x="2895600" y="649389"/>
            <a:ext cx="8610600" cy="1293028"/>
          </a:xfrm>
        </p:spPr>
        <p:txBody>
          <a:bodyPr>
            <a:normAutofit/>
          </a:bodyPr>
          <a:lstStyle/>
          <a:p>
            <a:r>
              <a:rPr lang="en-AU" sz="5400" b="1" dirty="0">
                <a:solidFill>
                  <a:schemeClr val="accent1">
                    <a:lumMod val="75000"/>
                  </a:schemeClr>
                </a:solidFill>
                <a:latin typeface="Kiwi School Handwriting" panose="00000500000000000000"/>
              </a:rPr>
              <a:t>Task</a:t>
            </a:r>
            <a:endParaRPr lang="en-GB" sz="5400" dirty="0"/>
          </a:p>
        </p:txBody>
      </p:sp>
      <p:pic>
        <p:nvPicPr>
          <p:cNvPr id="5" name="Content Placeholder 4">
            <a:extLst>
              <a:ext uri="{FF2B5EF4-FFF2-40B4-BE49-F238E27FC236}">
                <a16:creationId xmlns:a16="http://schemas.microsoft.com/office/drawing/2014/main" id="{E6062F8C-22EB-44F4-A02E-AA9D1499A043}"/>
              </a:ext>
            </a:extLst>
          </p:cNvPr>
          <p:cNvPicPr>
            <a:picLocks noGrp="1" noChangeAspect="1"/>
          </p:cNvPicPr>
          <p:nvPr>
            <p:ph idx="1"/>
          </p:nvPr>
        </p:nvPicPr>
        <p:blipFill>
          <a:blip r:embed="rId4"/>
          <a:stretch>
            <a:fillRect/>
          </a:stretch>
        </p:blipFill>
        <p:spPr>
          <a:xfrm>
            <a:off x="685800" y="2306155"/>
            <a:ext cx="10820400" cy="3799853"/>
          </a:xfrm>
          <a:prstGeom prst="rect">
            <a:avLst/>
          </a:prstGeom>
        </p:spPr>
      </p:pic>
    </p:spTree>
    <p:extLst>
      <p:ext uri="{BB962C8B-B14F-4D97-AF65-F5344CB8AC3E}">
        <p14:creationId xmlns:p14="http://schemas.microsoft.com/office/powerpoint/2010/main" val="3489852675"/>
      </p:ext>
    </p:extLst>
  </p:cSld>
  <p:clrMapOvr>
    <a:masterClrMapping/>
  </p:clrMapOvr>
</p:sld>
</file>

<file path=ppt/theme/theme1.xml><?xml version="1.0" encoding="utf-8"?>
<a:theme xmlns:a="http://schemas.openxmlformats.org/drawingml/2006/main" name="BSC Theme">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SC Theme" id="{C1CBADD6-BB5F-440A-B968-1DF8E3AA1E88}" vid="{968D037D-C1E6-4504-B0AA-F343FEB667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D25652-70A2-4111-A862-DCDB0F791EBA}">
  <we:reference id="wa104379997" version="2.0.0.0" store="en-US" storeType="OMEX"/>
  <we:alternateReferences>
    <we:reference id="wa104379997"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BSC Theme</Template>
  <TotalTime>697</TotalTime>
  <Words>331</Words>
  <Application>Microsoft Office PowerPoint</Application>
  <PresentationFormat>Widescreen</PresentationFormat>
  <Paragraphs>67</Paragraphs>
  <Slides>12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Century Gothic</vt:lpstr>
      <vt:lpstr>Kiwi School Handwriting</vt:lpstr>
      <vt:lpstr>BSC Theme</vt:lpstr>
      <vt:lpstr>Measurement – Linear Measure</vt:lpstr>
      <vt:lpstr>Learning Outcomes</vt:lpstr>
      <vt:lpstr>PowerPoint Presentation</vt:lpstr>
      <vt:lpstr>Think, Write, Pair, Share</vt:lpstr>
      <vt:lpstr>PowerPoint Presentation</vt:lpstr>
      <vt:lpstr>Practical Activity</vt:lpstr>
      <vt:lpstr>Task</vt:lpstr>
      <vt:lpstr>Task</vt:lpstr>
      <vt:lpstr>When Will I Ever Need This?</vt:lpstr>
      <vt:lpstr>Task</vt:lpstr>
      <vt:lpstr>Task</vt:lpstr>
      <vt:lpstr>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Rates Continued </dc:title>
  <dc:creator>Travis Power</dc:creator>
  <cp:lastModifiedBy>LUM Magdeline [Baldivis Secondary College]</cp:lastModifiedBy>
  <cp:revision>24</cp:revision>
  <dcterms:created xsi:type="dcterms:W3CDTF">2018-02-13T05:48:53Z</dcterms:created>
  <dcterms:modified xsi:type="dcterms:W3CDTF">2018-03-06T13:10:14Z</dcterms:modified>
</cp:coreProperties>
</file>
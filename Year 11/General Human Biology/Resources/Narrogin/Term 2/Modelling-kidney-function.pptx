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9" r:id="rId2"/>
    <p:sldId id="260" r:id="rId3"/>
    <p:sldId id="261" r:id="rId4"/>
    <p:sldId id="262" r:id="rId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2" d="100"/>
          <a:sy n="102" d="100"/>
        </p:scale>
        <p:origin x="264"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1FE234D-3D73-074D-959F-32792F6F75C8}" type="datetimeFigureOut">
              <a:rPr lang="en-US" smtClean="0"/>
              <a:pPr/>
              <a:t>5/12/2021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0D7CFB-4128-A143-863B-9B158DC1548F}"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4" name="Date Placeholder 3"/>
          <p:cNvSpPr>
            <a:spLocks noGrp="1"/>
          </p:cNvSpPr>
          <p:nvPr>
            <p:ph type="dt" sz="half" idx="10"/>
          </p:nvPr>
        </p:nvSpPr>
        <p:spPr/>
        <p:txBody>
          <a:bodyPr/>
          <a:lstStyle/>
          <a:p>
            <a:fld id="{0CF31086-AB8D-A441-883F-313E88F0E1A7}" type="datetimeFigureOut">
              <a:rPr lang="en-US" smtClean="0"/>
              <a:pPr/>
              <a:t>5/12/2021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246DF7-72B0-6843-8335-B2D06727477E}"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idx="1"/>
          </p:nvPr>
        </p:nvSpPr>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p>
            <a:fld id="{0CF31086-AB8D-A441-883F-313E88F0E1A7}" type="datetimeFigureOut">
              <a:rPr lang="en-US" smtClean="0"/>
              <a:pPr/>
              <a:t>5/12/2021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246DF7-72B0-6843-8335-B2D06727477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p>
            <a:fld id="{0CF31086-AB8D-A441-883F-313E88F0E1A7}" type="datetimeFigureOut">
              <a:rPr lang="en-US" smtClean="0"/>
              <a:pPr/>
              <a:t>5/12/2021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246DF7-72B0-6843-8335-B2D06727477E}"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4"/>
          <p:cNvSpPr>
            <a:spLocks noGrp="1"/>
          </p:cNvSpPr>
          <p:nvPr>
            <p:ph type="dt" sz="half" idx="10"/>
          </p:nvPr>
        </p:nvSpPr>
        <p:spPr/>
        <p:txBody>
          <a:bodyPr/>
          <a:lstStyle/>
          <a:p>
            <a:fld id="{0CF31086-AB8D-A441-883F-313E88F0E1A7}" type="datetimeFigureOut">
              <a:rPr lang="en-US" smtClean="0"/>
              <a:pPr/>
              <a:t>5/12/2021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246DF7-72B0-6843-8335-B2D06727477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6"/>
          <p:cNvSpPr>
            <a:spLocks noGrp="1"/>
          </p:cNvSpPr>
          <p:nvPr>
            <p:ph type="dt" sz="half" idx="10"/>
          </p:nvPr>
        </p:nvSpPr>
        <p:spPr/>
        <p:txBody>
          <a:bodyPr/>
          <a:lstStyle/>
          <a:p>
            <a:fld id="{0CF31086-AB8D-A441-883F-313E88F0E1A7}" type="datetimeFigureOut">
              <a:rPr lang="en-US" smtClean="0"/>
              <a:pPr/>
              <a:t>5/12/2021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246DF7-72B0-6843-8335-B2D06727477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2"/>
          <p:cNvSpPr>
            <a:spLocks noGrp="1"/>
          </p:cNvSpPr>
          <p:nvPr>
            <p:ph type="dt" sz="half" idx="10"/>
          </p:nvPr>
        </p:nvSpPr>
        <p:spPr/>
        <p:txBody>
          <a:bodyPr/>
          <a:lstStyle/>
          <a:p>
            <a:fld id="{0CF31086-AB8D-A441-883F-313E88F0E1A7}" type="datetimeFigureOut">
              <a:rPr lang="en-US" smtClean="0"/>
              <a:pPr/>
              <a:t>5/12/2021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246DF7-72B0-6843-8335-B2D06727477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F31086-AB8D-A441-883F-313E88F0E1A7}" type="datetimeFigureOut">
              <a:rPr lang="en-US" smtClean="0"/>
              <a:pPr/>
              <a:t>5/12/2021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246DF7-72B0-6843-8335-B2D06727477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4"/>
          <p:cNvSpPr>
            <a:spLocks noGrp="1"/>
          </p:cNvSpPr>
          <p:nvPr>
            <p:ph type="dt" sz="half" idx="10"/>
          </p:nvPr>
        </p:nvSpPr>
        <p:spPr/>
        <p:txBody>
          <a:bodyPr/>
          <a:lstStyle/>
          <a:p>
            <a:fld id="{0CF31086-AB8D-A441-883F-313E88F0E1A7}" type="datetimeFigureOut">
              <a:rPr lang="en-US" smtClean="0"/>
              <a:pPr/>
              <a:t>5/12/2021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246DF7-72B0-6843-8335-B2D06727477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4"/>
          <p:cNvSpPr>
            <a:spLocks noGrp="1"/>
          </p:cNvSpPr>
          <p:nvPr>
            <p:ph type="dt" sz="half" idx="10"/>
          </p:nvPr>
        </p:nvSpPr>
        <p:spPr/>
        <p:txBody>
          <a:bodyPr/>
          <a:lstStyle/>
          <a:p>
            <a:fld id="{0CF31086-AB8D-A441-883F-313E88F0E1A7}" type="datetimeFigureOut">
              <a:rPr lang="en-US" smtClean="0"/>
              <a:pPr/>
              <a:t>5/12/2021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246DF7-72B0-6843-8335-B2D06727477E}"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p>
            <a:fld id="{0CF31086-AB8D-A441-883F-313E88F0E1A7}" type="datetimeFigureOut">
              <a:rPr lang="en-US" smtClean="0"/>
              <a:pPr/>
              <a:t>5/12/2021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246DF7-72B0-6843-8335-B2D06727477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p>
            <a:fld id="{0CF31086-AB8D-A441-883F-313E88F0E1A7}" type="datetimeFigureOut">
              <a:rPr lang="en-US" smtClean="0"/>
              <a:pPr/>
              <a:t>5/12/2021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246DF7-72B0-6843-8335-B2D06727477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F31086-AB8D-A441-883F-313E88F0E1A7}" type="datetimeFigureOut">
              <a:rPr lang="en-US" smtClean="0"/>
              <a:pPr/>
              <a:t>5/12/2021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246DF7-72B0-6843-8335-B2D06727477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thescienceteacher.co.u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520553" y="5984123"/>
            <a:ext cx="8102894" cy="369332"/>
          </a:xfrm>
          <a:prstGeom prst="rect">
            <a:avLst/>
          </a:prstGeom>
        </p:spPr>
        <p:txBody>
          <a:bodyPr wrap="square">
            <a:spAutoFit/>
          </a:bodyPr>
          <a:lstStyle/>
          <a:p>
            <a:r>
              <a:rPr lang="en-US" dirty="0">
                <a:solidFill>
                  <a:srgbClr val="008000"/>
                </a:solidFill>
                <a:latin typeface="Cambria"/>
                <a:ea typeface="Cambria"/>
                <a:cs typeface="Times New Roman"/>
                <a:hlinkClick r:id="rId2"/>
              </a:rPr>
              <a:t>www.thescienceteacher.co.uk</a:t>
            </a:r>
            <a:r>
              <a:rPr lang="en-US" dirty="0">
                <a:solidFill>
                  <a:srgbClr val="008000"/>
                </a:solidFill>
                <a:latin typeface="Cambria"/>
                <a:ea typeface="Cambria"/>
                <a:cs typeface="Times New Roman"/>
              </a:rPr>
              <a:t>  </a:t>
            </a:r>
            <a:r>
              <a:rPr lang="en-GB" dirty="0">
                <a:latin typeface="Cambria"/>
                <a:ea typeface="Cambria"/>
                <a:cs typeface="Times New Roman"/>
              </a:rPr>
              <a:t>| resources for science teachers who like to think </a:t>
            </a:r>
            <a:endParaRPr lang="en-US" dirty="0"/>
          </a:p>
        </p:txBody>
      </p:sp>
      <p:graphicFrame>
        <p:nvGraphicFramePr>
          <p:cNvPr id="11" name="Table 10"/>
          <p:cNvGraphicFramePr>
            <a:graphicFrameLocks noGrp="1"/>
          </p:cNvGraphicFramePr>
          <p:nvPr/>
        </p:nvGraphicFramePr>
        <p:xfrm>
          <a:off x="372593" y="497724"/>
          <a:ext cx="8547023" cy="5486400"/>
        </p:xfrm>
        <a:graphic>
          <a:graphicData uri="http://schemas.openxmlformats.org/drawingml/2006/table">
            <a:tbl>
              <a:tblPr firstRow="1" bandRow="1">
                <a:tableStyleId>{9D7B26C5-4107-4FEC-AEDC-1716B250A1EF}</a:tableStyleId>
              </a:tblPr>
              <a:tblGrid>
                <a:gridCol w="1692041">
                  <a:extLst>
                    <a:ext uri="{9D8B030D-6E8A-4147-A177-3AD203B41FA5}">
                      <a16:colId xmlns:a16="http://schemas.microsoft.com/office/drawing/2014/main" val="20000"/>
                    </a:ext>
                  </a:extLst>
                </a:gridCol>
                <a:gridCol w="2383626">
                  <a:extLst>
                    <a:ext uri="{9D8B030D-6E8A-4147-A177-3AD203B41FA5}">
                      <a16:colId xmlns:a16="http://schemas.microsoft.com/office/drawing/2014/main" val="20001"/>
                    </a:ext>
                  </a:extLst>
                </a:gridCol>
                <a:gridCol w="1097422">
                  <a:extLst>
                    <a:ext uri="{9D8B030D-6E8A-4147-A177-3AD203B41FA5}">
                      <a16:colId xmlns:a16="http://schemas.microsoft.com/office/drawing/2014/main" val="20002"/>
                    </a:ext>
                  </a:extLst>
                </a:gridCol>
                <a:gridCol w="3373934">
                  <a:extLst>
                    <a:ext uri="{9D8B030D-6E8A-4147-A177-3AD203B41FA5}">
                      <a16:colId xmlns:a16="http://schemas.microsoft.com/office/drawing/2014/main" val="20003"/>
                    </a:ext>
                  </a:extLst>
                </a:gridCol>
              </a:tblGrid>
              <a:tr h="493685">
                <a:tc>
                  <a:txBody>
                    <a:bodyPr/>
                    <a:lstStyle/>
                    <a:p>
                      <a:r>
                        <a:rPr lang="en-US" b="1">
                          <a:solidFill>
                            <a:srgbClr val="008000"/>
                          </a:solidFill>
                          <a:latin typeface="Cambria"/>
                          <a:cs typeface="Cambria"/>
                        </a:rPr>
                        <a:t>Topic</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b="0" dirty="0" smtClean="0">
                          <a:latin typeface="Cambria"/>
                          <a:cs typeface="Cambria"/>
                        </a:rPr>
                        <a:t>Function</a:t>
                      </a:r>
                      <a:r>
                        <a:rPr lang="en-US" b="0" baseline="0" dirty="0" smtClean="0">
                          <a:latin typeface="Cambria"/>
                          <a:cs typeface="Cambria"/>
                        </a:rPr>
                        <a:t> of the kidney  - filtration and selective reabsorption</a:t>
                      </a:r>
                      <a:endParaRPr lang="en-US" b="0" dirty="0">
                        <a:latin typeface="Cambria"/>
                        <a:cs typeface="Cambria"/>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dirty="0">
                          <a:solidFill>
                            <a:srgbClr val="008000"/>
                          </a:solidFill>
                          <a:latin typeface="Cambria"/>
                          <a:cs typeface="Cambria"/>
                        </a:rPr>
                        <a:t>Level</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b="0" dirty="0" smtClean="0">
                          <a:latin typeface="Cambria"/>
                          <a:cs typeface="Cambria"/>
                        </a:rPr>
                        <a:t>GCSE (or</a:t>
                      </a:r>
                      <a:r>
                        <a:rPr lang="en-US" b="0" baseline="0" dirty="0" smtClean="0">
                          <a:latin typeface="Cambria"/>
                          <a:cs typeface="Cambria"/>
                        </a:rPr>
                        <a:t> any course for</a:t>
                      </a:r>
                      <a:r>
                        <a:rPr lang="en-US" b="0" dirty="0" smtClean="0">
                          <a:latin typeface="Cambria"/>
                          <a:cs typeface="Cambria"/>
                        </a:rPr>
                        <a:t> students aged 14-16)</a:t>
                      </a:r>
                      <a:endParaRPr lang="en-US" b="0" dirty="0">
                        <a:latin typeface="Cambria"/>
                        <a:cs typeface="Cambria"/>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1145256">
                <a:tc>
                  <a:txBody>
                    <a:bodyPr/>
                    <a:lstStyle/>
                    <a:p>
                      <a:r>
                        <a:rPr lang="en-US" b="1">
                          <a:solidFill>
                            <a:srgbClr val="008000"/>
                          </a:solidFill>
                          <a:latin typeface="Cambria"/>
                          <a:cs typeface="Cambria"/>
                        </a:rPr>
                        <a:t>Outcomes </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tc gridSpan="3">
                  <a:txBody>
                    <a:bodyPr/>
                    <a:lstStyle/>
                    <a:p>
                      <a:pPr marL="342900" marR="0" indent="-342900" algn="l" defTabSz="457200" rtl="0" eaLnBrk="1" fontAlgn="auto" latinLnBrk="0" hangingPunct="1">
                        <a:lnSpc>
                          <a:spcPct val="100000"/>
                        </a:lnSpc>
                        <a:spcBef>
                          <a:spcPts val="0"/>
                        </a:spcBef>
                        <a:spcAft>
                          <a:spcPts val="0"/>
                        </a:spcAft>
                        <a:buClrTx/>
                        <a:buSzTx/>
                        <a:buFont typeface="+mj-lt"/>
                        <a:buAutoNum type="arabicPeriod"/>
                        <a:tabLst/>
                        <a:defRPr/>
                      </a:pPr>
                      <a:r>
                        <a:rPr lang="en-US" dirty="0" smtClean="0">
                          <a:latin typeface="Cambria"/>
                          <a:cs typeface="Cambria"/>
                        </a:rPr>
                        <a:t>To describe</a:t>
                      </a:r>
                      <a:r>
                        <a:rPr lang="en-US" baseline="0" dirty="0" smtClean="0">
                          <a:latin typeface="Cambria"/>
                          <a:cs typeface="Cambria"/>
                        </a:rPr>
                        <a:t> what happens to the components of blood at the kidney (urea, glucose, large proteins, ions, amino acids) by considering filtration, selective </a:t>
                      </a:r>
                      <a:r>
                        <a:rPr lang="en-GB" sz="1800" kern="1200" dirty="0" smtClean="0">
                          <a:solidFill>
                            <a:schemeClr val="tx1"/>
                          </a:solidFill>
                          <a:latin typeface="Cambria"/>
                          <a:ea typeface="+mn-ea"/>
                          <a:cs typeface="Cambria"/>
                        </a:rPr>
                        <a:t>reabsorption and urine</a:t>
                      </a:r>
                      <a:r>
                        <a:rPr lang="en-GB" sz="1800" kern="1200" baseline="0" dirty="0" smtClean="0">
                          <a:solidFill>
                            <a:schemeClr val="tx1"/>
                          </a:solidFill>
                          <a:latin typeface="Cambria"/>
                          <a:ea typeface="+mn-ea"/>
                          <a:cs typeface="Cambria"/>
                        </a:rPr>
                        <a:t> formation</a:t>
                      </a:r>
                      <a:endParaRPr lang="en-US" baseline="0" dirty="0" smtClean="0">
                        <a:latin typeface="Cambria"/>
                        <a:cs typeface="Cambria"/>
                      </a:endParaRPr>
                    </a:p>
                    <a:p>
                      <a:pPr marL="342900" indent="-342900">
                        <a:buFont typeface="+mj-lt"/>
                        <a:buAutoNum type="arabicPeriod"/>
                      </a:pPr>
                      <a:r>
                        <a:rPr lang="en-US" baseline="0" dirty="0" smtClean="0">
                          <a:latin typeface="Cambria"/>
                          <a:cs typeface="Cambria"/>
                        </a:rPr>
                        <a:t>Explain the role of ADH on the kidney tubules by regulating the amount of water that is reabsorbed </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1145256">
                <a:tc>
                  <a:txBody>
                    <a:bodyPr/>
                    <a:lstStyle/>
                    <a:p>
                      <a:r>
                        <a:rPr lang="en-US" b="1" dirty="0" smtClean="0">
                          <a:solidFill>
                            <a:srgbClr val="008000"/>
                          </a:solidFill>
                          <a:latin typeface="Cambria"/>
                          <a:cs typeface="Cambria"/>
                        </a:rPr>
                        <a:t>Information for</a:t>
                      </a:r>
                      <a:r>
                        <a:rPr lang="en-US" b="1" baseline="0" dirty="0" smtClean="0">
                          <a:solidFill>
                            <a:srgbClr val="008000"/>
                          </a:solidFill>
                          <a:latin typeface="Cambria"/>
                          <a:cs typeface="Cambria"/>
                        </a:rPr>
                        <a:t> teachers</a:t>
                      </a:r>
                      <a:endParaRPr lang="en-US" b="1" dirty="0">
                        <a:solidFill>
                          <a:srgbClr val="008000"/>
                        </a:solidFill>
                        <a:latin typeface="Cambria"/>
                        <a:cs typeface="Cambria"/>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tc gridSpan="3">
                  <a:txBody>
                    <a:bodyPr/>
                    <a:lstStyle/>
                    <a:p>
                      <a:pPr marL="342900" lvl="0" indent="-342900" algn="l">
                        <a:buFont typeface="Arial"/>
                        <a:buNone/>
                      </a:pPr>
                      <a:r>
                        <a:rPr lang="en-US" baseline="0" dirty="0" smtClean="0">
                          <a:latin typeface="Cambria"/>
                          <a:cs typeface="Cambria"/>
                        </a:rPr>
                        <a:t>This activity uses a model to help students understand the </a:t>
                      </a:r>
                    </a:p>
                    <a:p>
                      <a:pPr marL="342900" lvl="0" indent="-342900" algn="l">
                        <a:buFont typeface="Arial"/>
                        <a:buNone/>
                      </a:pPr>
                      <a:r>
                        <a:rPr lang="en-US" baseline="0" dirty="0" smtClean="0">
                          <a:latin typeface="Cambria"/>
                          <a:cs typeface="Cambria"/>
                        </a:rPr>
                        <a:t>function of the kidney. Use this activity</a:t>
                      </a:r>
                      <a:r>
                        <a:rPr lang="en-US" b="1" baseline="0" dirty="0" smtClean="0">
                          <a:latin typeface="Cambria"/>
                          <a:cs typeface="Cambria"/>
                        </a:rPr>
                        <a:t> after </a:t>
                      </a:r>
                      <a:r>
                        <a:rPr lang="en-US" baseline="0" dirty="0" smtClean="0">
                          <a:latin typeface="Cambria"/>
                          <a:cs typeface="Cambria"/>
                        </a:rPr>
                        <a:t>students have been </a:t>
                      </a:r>
                    </a:p>
                    <a:p>
                      <a:pPr marL="342900" lvl="0" indent="-342900" algn="l">
                        <a:buFont typeface="Arial"/>
                        <a:buNone/>
                      </a:pPr>
                      <a:r>
                        <a:rPr lang="en-US" baseline="0" dirty="0" smtClean="0">
                          <a:latin typeface="Cambria"/>
                          <a:cs typeface="Cambria"/>
                        </a:rPr>
                        <a:t>introduced to the concepts of ultrafiltration and selective </a:t>
                      </a:r>
                    </a:p>
                    <a:p>
                      <a:pPr marL="342900" lvl="0" indent="-342900" algn="l">
                        <a:buFont typeface="Arial"/>
                        <a:buNone/>
                      </a:pPr>
                      <a:r>
                        <a:rPr lang="en-US" baseline="0" dirty="0" smtClean="0">
                          <a:latin typeface="Cambria"/>
                          <a:cs typeface="Cambria"/>
                        </a:rPr>
                        <a:t>reabsorption. The model provides an opportunity to really </a:t>
                      </a:r>
                    </a:p>
                    <a:p>
                      <a:pPr marL="342900" lvl="0" indent="-342900" algn="l">
                        <a:buFont typeface="Arial"/>
                        <a:buNone/>
                      </a:pPr>
                      <a:r>
                        <a:rPr lang="en-US" baseline="0" dirty="0" smtClean="0">
                          <a:latin typeface="Cambria"/>
                          <a:cs typeface="Cambria"/>
                        </a:rPr>
                        <a:t>explore and advance understanding. </a:t>
                      </a:r>
                    </a:p>
                    <a:p>
                      <a:pPr marL="342900" lvl="0" indent="-342900" algn="l">
                        <a:buFont typeface="Arial"/>
                        <a:buNone/>
                      </a:pPr>
                      <a:endParaRPr lang="en-US" baseline="0" dirty="0" smtClean="0">
                        <a:latin typeface="Cambria"/>
                        <a:cs typeface="Cambria"/>
                      </a:endParaRPr>
                    </a:p>
                    <a:p>
                      <a:pPr marL="342900" lvl="0" indent="-342900" algn="l">
                        <a:buFont typeface="Arial"/>
                        <a:buNone/>
                      </a:pPr>
                      <a:r>
                        <a:rPr lang="en-US" baseline="0" dirty="0" smtClean="0">
                          <a:latin typeface="Cambria"/>
                          <a:cs typeface="Cambria"/>
                        </a:rPr>
                        <a:t>To set up the model fill three glass troughs or washing up bowls </a:t>
                      </a:r>
                    </a:p>
                    <a:p>
                      <a:pPr marL="342900" lvl="0" indent="-342900" algn="l">
                        <a:buFont typeface="Arial"/>
                        <a:buNone/>
                      </a:pPr>
                      <a:r>
                        <a:rPr lang="en-US" baseline="0" dirty="0" smtClean="0">
                          <a:latin typeface="Cambria"/>
                          <a:cs typeface="Cambria"/>
                        </a:rPr>
                        <a:t>with water, food dye and balls according to the diagram on slide 2. </a:t>
                      </a:r>
                    </a:p>
                    <a:p>
                      <a:pPr marL="342900" lvl="0" indent="-342900" algn="l">
                        <a:buFont typeface="Arial"/>
                        <a:buNone/>
                      </a:pPr>
                      <a:r>
                        <a:rPr lang="en-US" baseline="0" dirty="0" smtClean="0">
                          <a:latin typeface="Cambria"/>
                          <a:cs typeface="Cambria"/>
                        </a:rPr>
                        <a:t>This activity is best carried out as a demonstration by gathering </a:t>
                      </a:r>
                    </a:p>
                    <a:p>
                      <a:pPr marL="342900" lvl="0" indent="-342900" algn="l">
                        <a:buFont typeface="Arial"/>
                        <a:buNone/>
                      </a:pPr>
                      <a:r>
                        <a:rPr lang="en-US" baseline="0" dirty="0" smtClean="0">
                          <a:latin typeface="Cambria"/>
                          <a:cs typeface="Cambria"/>
                        </a:rPr>
                        <a:t>students around the three buckets. </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540544" y="3404342"/>
            <a:ext cx="2665411" cy="515407"/>
          </a:xfrm>
          <a:prstGeom prst="rect">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p:cNvSpPr/>
          <p:nvPr/>
        </p:nvSpPr>
        <p:spPr>
          <a:xfrm>
            <a:off x="6185694" y="3392013"/>
            <a:ext cx="2655883" cy="515407"/>
          </a:xfrm>
          <a:prstGeom prst="rect">
            <a:avLst/>
          </a:prstGeom>
          <a:solidFill>
            <a:srgbClr val="FFFF00"/>
          </a:solidFill>
          <a:ln>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Oval 58"/>
          <p:cNvSpPr/>
          <p:nvPr/>
        </p:nvSpPr>
        <p:spPr>
          <a:xfrm>
            <a:off x="661458" y="2576510"/>
            <a:ext cx="1056480" cy="997481"/>
          </a:xfrm>
          <a:prstGeom prst="ellipse">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 name="Straight Connector 5"/>
          <p:cNvCxnSpPr/>
          <p:nvPr/>
        </p:nvCxnSpPr>
        <p:spPr>
          <a:xfrm rot="5400000">
            <a:off x="68791" y="3474242"/>
            <a:ext cx="941917" cy="1588"/>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538955" y="3945995"/>
            <a:ext cx="2667794" cy="1588"/>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rot="5400000" flipH="1" flipV="1">
            <a:off x="2735790" y="3475036"/>
            <a:ext cx="941918" cy="1588"/>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rot="5400000">
            <a:off x="2889780" y="3475830"/>
            <a:ext cx="941917" cy="1588"/>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a:off x="3359944" y="3947583"/>
            <a:ext cx="2667794" cy="1588"/>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rot="5400000" flipH="1" flipV="1">
            <a:off x="5556779" y="3476624"/>
            <a:ext cx="941918" cy="1588"/>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rot="5400000">
            <a:off x="5713941" y="3472654"/>
            <a:ext cx="941917" cy="1588"/>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6184105" y="3944407"/>
            <a:ext cx="2667794" cy="1588"/>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rot="5400000" flipH="1" flipV="1">
            <a:off x="8380940" y="3473448"/>
            <a:ext cx="941918" cy="1588"/>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3358355" y="3409106"/>
            <a:ext cx="2665411" cy="515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p:cNvSpPr/>
          <p:nvPr/>
        </p:nvSpPr>
        <p:spPr>
          <a:xfrm>
            <a:off x="661458" y="3248556"/>
            <a:ext cx="391583" cy="370416"/>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Oval 20"/>
          <p:cNvSpPr/>
          <p:nvPr/>
        </p:nvSpPr>
        <p:spPr>
          <a:xfrm>
            <a:off x="1205441" y="3248556"/>
            <a:ext cx="391583" cy="370416"/>
          </a:xfrm>
          <a:prstGeom prst="ellipse">
            <a:avLst/>
          </a:prstGeom>
          <a:solidFill>
            <a:srgbClr val="3366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Oval 21"/>
          <p:cNvSpPr/>
          <p:nvPr/>
        </p:nvSpPr>
        <p:spPr>
          <a:xfrm>
            <a:off x="1771650" y="3215748"/>
            <a:ext cx="391583" cy="370416"/>
          </a:xfrm>
          <a:prstGeom prst="ellipse">
            <a:avLst/>
          </a:prstGeom>
          <a:solidFill>
            <a:srgbClr val="008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Oval 22"/>
          <p:cNvSpPr/>
          <p:nvPr/>
        </p:nvSpPr>
        <p:spPr>
          <a:xfrm>
            <a:off x="2221442" y="3248556"/>
            <a:ext cx="391583" cy="370416"/>
          </a:xfrm>
          <a:prstGeom prst="ellipse">
            <a:avLst/>
          </a:prstGeom>
          <a:solidFill>
            <a:schemeClr val="accent6"/>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Oval 23"/>
          <p:cNvSpPr/>
          <p:nvPr/>
        </p:nvSpPr>
        <p:spPr>
          <a:xfrm>
            <a:off x="2815960" y="3243791"/>
            <a:ext cx="391583" cy="370416"/>
          </a:xfrm>
          <a:prstGeom prst="ellipse">
            <a:avLst/>
          </a:prstGeom>
          <a:solidFill>
            <a:srgbClr val="660066"/>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7" name="Straight Connector 26"/>
          <p:cNvCxnSpPr>
            <a:stCxn id="21" idx="4"/>
          </p:cNvCxnSpPr>
          <p:nvPr/>
        </p:nvCxnSpPr>
        <p:spPr>
          <a:xfrm rot="16200000" flipH="1">
            <a:off x="834761" y="4185443"/>
            <a:ext cx="1503361" cy="37041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597024" y="5073017"/>
            <a:ext cx="841375" cy="369332"/>
          </a:xfrm>
          <a:prstGeom prst="rect">
            <a:avLst/>
          </a:prstGeom>
          <a:noFill/>
        </p:spPr>
        <p:txBody>
          <a:bodyPr wrap="square" rtlCol="0">
            <a:spAutoFit/>
          </a:bodyPr>
          <a:lstStyle/>
          <a:p>
            <a:r>
              <a:rPr lang="en-US" dirty="0" smtClean="0">
                <a:latin typeface="Cambria"/>
                <a:cs typeface="Cambria"/>
              </a:rPr>
              <a:t>water</a:t>
            </a:r>
            <a:endParaRPr lang="en-US" dirty="0">
              <a:latin typeface="Cambria"/>
              <a:cs typeface="Cambria"/>
            </a:endParaRPr>
          </a:p>
        </p:txBody>
      </p:sp>
      <p:cxnSp>
        <p:nvCxnSpPr>
          <p:cNvPr id="29" name="Straight Connector 28"/>
          <p:cNvCxnSpPr/>
          <p:nvPr/>
        </p:nvCxnSpPr>
        <p:spPr>
          <a:xfrm rot="16200000" flipH="1">
            <a:off x="1192215" y="2664354"/>
            <a:ext cx="1344081" cy="18520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536172" y="1438586"/>
            <a:ext cx="841375" cy="646331"/>
          </a:xfrm>
          <a:prstGeom prst="rect">
            <a:avLst/>
          </a:prstGeom>
          <a:noFill/>
        </p:spPr>
        <p:txBody>
          <a:bodyPr wrap="square" rtlCol="0">
            <a:spAutoFit/>
          </a:bodyPr>
          <a:lstStyle/>
          <a:p>
            <a:r>
              <a:rPr lang="en-US" dirty="0" smtClean="0">
                <a:latin typeface="Cambria"/>
                <a:cs typeface="Cambria"/>
              </a:rPr>
              <a:t>amino acids</a:t>
            </a:r>
            <a:endParaRPr lang="en-US" dirty="0">
              <a:latin typeface="Cambria"/>
              <a:cs typeface="Cambria"/>
            </a:endParaRPr>
          </a:p>
        </p:txBody>
      </p:sp>
      <p:cxnSp>
        <p:nvCxnSpPr>
          <p:cNvPr id="33" name="Straight Connector 32"/>
          <p:cNvCxnSpPr/>
          <p:nvPr/>
        </p:nvCxnSpPr>
        <p:spPr>
          <a:xfrm rot="16200000" flipH="1">
            <a:off x="2236524" y="2669119"/>
            <a:ext cx="1344081" cy="18520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516980" y="1590986"/>
            <a:ext cx="1028437" cy="369332"/>
          </a:xfrm>
          <a:prstGeom prst="rect">
            <a:avLst/>
          </a:prstGeom>
          <a:noFill/>
        </p:spPr>
        <p:txBody>
          <a:bodyPr wrap="square" rtlCol="0">
            <a:spAutoFit/>
          </a:bodyPr>
          <a:lstStyle/>
          <a:p>
            <a:r>
              <a:rPr lang="en-US" dirty="0" smtClean="0">
                <a:latin typeface="Cambria"/>
                <a:cs typeface="Cambria"/>
              </a:rPr>
              <a:t>glucose</a:t>
            </a:r>
            <a:endParaRPr lang="en-US" dirty="0">
              <a:latin typeface="Cambria"/>
              <a:cs typeface="Cambria"/>
            </a:endParaRPr>
          </a:p>
        </p:txBody>
      </p:sp>
      <p:cxnSp>
        <p:nvCxnSpPr>
          <p:cNvPr id="35" name="Straight Connector 34"/>
          <p:cNvCxnSpPr/>
          <p:nvPr/>
        </p:nvCxnSpPr>
        <p:spPr>
          <a:xfrm rot="16200000" flipH="1">
            <a:off x="1779191" y="4027355"/>
            <a:ext cx="1820334" cy="62362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3001169" y="5122333"/>
            <a:ext cx="841375" cy="369332"/>
          </a:xfrm>
          <a:prstGeom prst="rect">
            <a:avLst/>
          </a:prstGeom>
          <a:noFill/>
        </p:spPr>
        <p:txBody>
          <a:bodyPr wrap="square" rtlCol="0">
            <a:spAutoFit/>
          </a:bodyPr>
          <a:lstStyle/>
          <a:p>
            <a:r>
              <a:rPr lang="en-US" dirty="0" smtClean="0">
                <a:latin typeface="Cambria"/>
                <a:cs typeface="Cambria"/>
              </a:rPr>
              <a:t>urea</a:t>
            </a:r>
            <a:endParaRPr lang="en-US" dirty="0">
              <a:latin typeface="Cambria"/>
              <a:cs typeface="Cambria"/>
            </a:endParaRPr>
          </a:p>
        </p:txBody>
      </p:sp>
      <p:cxnSp>
        <p:nvCxnSpPr>
          <p:cNvPr id="38" name="Straight Connector 37"/>
          <p:cNvCxnSpPr/>
          <p:nvPr/>
        </p:nvCxnSpPr>
        <p:spPr>
          <a:xfrm rot="16200000" flipH="1">
            <a:off x="-126734" y="4443783"/>
            <a:ext cx="1820334" cy="27543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718659" y="5421939"/>
            <a:ext cx="841375" cy="369332"/>
          </a:xfrm>
          <a:prstGeom prst="rect">
            <a:avLst/>
          </a:prstGeom>
          <a:noFill/>
        </p:spPr>
        <p:txBody>
          <a:bodyPr wrap="square" rtlCol="0">
            <a:spAutoFit/>
          </a:bodyPr>
          <a:lstStyle/>
          <a:p>
            <a:r>
              <a:rPr lang="en-US" dirty="0" smtClean="0">
                <a:latin typeface="Cambria"/>
                <a:cs typeface="Cambria"/>
              </a:rPr>
              <a:t>ions</a:t>
            </a:r>
            <a:endParaRPr lang="en-US" dirty="0">
              <a:latin typeface="Cambria"/>
              <a:cs typeface="Cambria"/>
            </a:endParaRPr>
          </a:p>
        </p:txBody>
      </p:sp>
      <p:sp>
        <p:nvSpPr>
          <p:cNvPr id="41" name="TextBox 40"/>
          <p:cNvSpPr txBox="1"/>
          <p:nvPr/>
        </p:nvSpPr>
        <p:spPr>
          <a:xfrm>
            <a:off x="507465" y="411159"/>
            <a:ext cx="3064935" cy="830997"/>
          </a:xfrm>
          <a:prstGeom prst="rect">
            <a:avLst/>
          </a:prstGeom>
          <a:noFill/>
        </p:spPr>
        <p:txBody>
          <a:bodyPr wrap="square" rtlCol="0">
            <a:spAutoFit/>
          </a:bodyPr>
          <a:lstStyle/>
          <a:p>
            <a:pPr algn="ctr"/>
            <a:r>
              <a:rPr lang="en-US" sz="2400" u="sng" dirty="0" smtClean="0">
                <a:latin typeface="Cambria"/>
                <a:cs typeface="Cambria"/>
              </a:rPr>
              <a:t>Blood arriving at kidney</a:t>
            </a:r>
            <a:endParaRPr lang="en-US" sz="2400" u="sng" dirty="0">
              <a:latin typeface="Cambria"/>
              <a:cs typeface="Cambria"/>
            </a:endParaRPr>
          </a:p>
        </p:txBody>
      </p:sp>
      <p:sp>
        <p:nvSpPr>
          <p:cNvPr id="42" name="TextBox 41"/>
          <p:cNvSpPr txBox="1"/>
          <p:nvPr/>
        </p:nvSpPr>
        <p:spPr>
          <a:xfrm>
            <a:off x="3903023" y="384158"/>
            <a:ext cx="1804722" cy="830997"/>
          </a:xfrm>
          <a:prstGeom prst="rect">
            <a:avLst/>
          </a:prstGeom>
          <a:noFill/>
        </p:spPr>
        <p:txBody>
          <a:bodyPr wrap="square" rtlCol="0">
            <a:spAutoFit/>
          </a:bodyPr>
          <a:lstStyle/>
          <a:p>
            <a:pPr algn="ctr"/>
            <a:r>
              <a:rPr lang="en-US" sz="2400" u="sng" dirty="0" smtClean="0">
                <a:latin typeface="Cambria"/>
                <a:cs typeface="Cambria"/>
              </a:rPr>
              <a:t>Kidney filtrate</a:t>
            </a:r>
            <a:endParaRPr lang="en-US" sz="2400" u="sng" dirty="0">
              <a:latin typeface="Cambria"/>
              <a:cs typeface="Cambria"/>
            </a:endParaRPr>
          </a:p>
        </p:txBody>
      </p:sp>
      <p:sp>
        <p:nvSpPr>
          <p:cNvPr id="43" name="TextBox 42"/>
          <p:cNvSpPr txBox="1"/>
          <p:nvPr/>
        </p:nvSpPr>
        <p:spPr>
          <a:xfrm>
            <a:off x="6981714" y="384158"/>
            <a:ext cx="1010972" cy="461665"/>
          </a:xfrm>
          <a:prstGeom prst="rect">
            <a:avLst/>
          </a:prstGeom>
          <a:noFill/>
        </p:spPr>
        <p:txBody>
          <a:bodyPr wrap="square" rtlCol="0">
            <a:spAutoFit/>
          </a:bodyPr>
          <a:lstStyle/>
          <a:p>
            <a:pPr algn="ctr"/>
            <a:r>
              <a:rPr lang="en-US" sz="2400" u="sng" dirty="0" smtClean="0">
                <a:latin typeface="Cambria"/>
                <a:cs typeface="Cambria"/>
              </a:rPr>
              <a:t>Urine</a:t>
            </a:r>
            <a:endParaRPr lang="en-US" sz="2400" u="sng" dirty="0">
              <a:latin typeface="Cambria"/>
              <a:cs typeface="Cambria"/>
            </a:endParaRPr>
          </a:p>
        </p:txBody>
      </p:sp>
      <p:sp>
        <p:nvSpPr>
          <p:cNvPr id="45" name="Oval 44"/>
          <p:cNvSpPr/>
          <p:nvPr/>
        </p:nvSpPr>
        <p:spPr>
          <a:xfrm>
            <a:off x="2576777" y="3586164"/>
            <a:ext cx="391583" cy="370416"/>
          </a:xfrm>
          <a:prstGeom prst="ellipse">
            <a:avLst/>
          </a:prstGeom>
          <a:solidFill>
            <a:srgbClr val="660066"/>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Oval 45"/>
          <p:cNvSpPr/>
          <p:nvPr/>
        </p:nvSpPr>
        <p:spPr>
          <a:xfrm>
            <a:off x="1956860" y="3586164"/>
            <a:ext cx="391583" cy="370416"/>
          </a:xfrm>
          <a:prstGeom prst="ellipse">
            <a:avLst/>
          </a:prstGeom>
          <a:solidFill>
            <a:schemeClr val="accent6"/>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Oval 46"/>
          <p:cNvSpPr/>
          <p:nvPr/>
        </p:nvSpPr>
        <p:spPr>
          <a:xfrm>
            <a:off x="2373842" y="3400956"/>
            <a:ext cx="391583" cy="370416"/>
          </a:xfrm>
          <a:prstGeom prst="ellipse">
            <a:avLst/>
          </a:prstGeom>
          <a:solidFill>
            <a:schemeClr val="accent6"/>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Oval 47"/>
          <p:cNvSpPr/>
          <p:nvPr/>
        </p:nvSpPr>
        <p:spPr>
          <a:xfrm>
            <a:off x="1924050" y="3368148"/>
            <a:ext cx="391583" cy="370416"/>
          </a:xfrm>
          <a:prstGeom prst="ellipse">
            <a:avLst/>
          </a:prstGeom>
          <a:solidFill>
            <a:srgbClr val="008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Oval 48"/>
          <p:cNvSpPr/>
          <p:nvPr/>
        </p:nvSpPr>
        <p:spPr>
          <a:xfrm>
            <a:off x="1597024" y="3481916"/>
            <a:ext cx="391583" cy="370416"/>
          </a:xfrm>
          <a:prstGeom prst="ellipse">
            <a:avLst/>
          </a:prstGeom>
          <a:solidFill>
            <a:srgbClr val="008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 name="Oval 49"/>
          <p:cNvSpPr/>
          <p:nvPr/>
        </p:nvSpPr>
        <p:spPr>
          <a:xfrm>
            <a:off x="1357841" y="3400956"/>
            <a:ext cx="391583" cy="370416"/>
          </a:xfrm>
          <a:prstGeom prst="ellipse">
            <a:avLst/>
          </a:prstGeom>
          <a:solidFill>
            <a:srgbClr val="3366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Oval 50"/>
          <p:cNvSpPr/>
          <p:nvPr/>
        </p:nvSpPr>
        <p:spPr>
          <a:xfrm>
            <a:off x="1053041" y="3586164"/>
            <a:ext cx="391583" cy="370416"/>
          </a:xfrm>
          <a:prstGeom prst="ellipse">
            <a:avLst/>
          </a:prstGeom>
          <a:solidFill>
            <a:srgbClr val="3366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Oval 51"/>
          <p:cNvSpPr/>
          <p:nvPr/>
        </p:nvSpPr>
        <p:spPr>
          <a:xfrm>
            <a:off x="540544" y="3433764"/>
            <a:ext cx="391583" cy="370416"/>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Oval 52"/>
          <p:cNvSpPr/>
          <p:nvPr/>
        </p:nvSpPr>
        <p:spPr>
          <a:xfrm>
            <a:off x="932127" y="3368148"/>
            <a:ext cx="391583" cy="370416"/>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Oval 53"/>
          <p:cNvSpPr/>
          <p:nvPr/>
        </p:nvSpPr>
        <p:spPr>
          <a:xfrm>
            <a:off x="2772568" y="3573991"/>
            <a:ext cx="391583" cy="370416"/>
          </a:xfrm>
          <a:prstGeom prst="ellipse">
            <a:avLst/>
          </a:prstGeom>
          <a:solidFill>
            <a:srgbClr val="660066"/>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0" name="Straight Connector 59"/>
          <p:cNvCxnSpPr/>
          <p:nvPr/>
        </p:nvCxnSpPr>
        <p:spPr>
          <a:xfrm rot="16200000" flipH="1">
            <a:off x="435503" y="2343418"/>
            <a:ext cx="993248" cy="48577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268551" y="1720350"/>
            <a:ext cx="1132682" cy="369332"/>
          </a:xfrm>
          <a:prstGeom prst="rect">
            <a:avLst/>
          </a:prstGeom>
          <a:noFill/>
        </p:spPr>
        <p:txBody>
          <a:bodyPr wrap="square" rtlCol="0">
            <a:spAutoFit/>
          </a:bodyPr>
          <a:lstStyle/>
          <a:p>
            <a:r>
              <a:rPr lang="en-US" dirty="0" smtClean="0">
                <a:latin typeface="Cambria"/>
                <a:cs typeface="Cambria"/>
              </a:rPr>
              <a:t>protein</a:t>
            </a:r>
            <a:endParaRPr lang="en-US" dirty="0">
              <a:latin typeface="Cambria"/>
              <a:cs typeface="Cambria"/>
            </a:endParaRPr>
          </a:p>
        </p:txBody>
      </p:sp>
      <p:sp>
        <p:nvSpPr>
          <p:cNvPr id="63" name="Oval 62"/>
          <p:cNvSpPr/>
          <p:nvPr/>
        </p:nvSpPr>
        <p:spPr>
          <a:xfrm>
            <a:off x="1380068" y="3586164"/>
            <a:ext cx="391583" cy="370416"/>
          </a:xfrm>
          <a:prstGeom prst="ellipse">
            <a:avLst/>
          </a:prstGeom>
          <a:solidFill>
            <a:srgbClr val="3366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 name="Oval 63"/>
          <p:cNvSpPr/>
          <p:nvPr/>
        </p:nvSpPr>
        <p:spPr>
          <a:xfrm>
            <a:off x="783433" y="3586164"/>
            <a:ext cx="391583" cy="370416"/>
          </a:xfrm>
          <a:prstGeom prst="ellipse">
            <a:avLst/>
          </a:prstGeom>
          <a:solidFill>
            <a:srgbClr val="3366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ambria"/>
                <a:cs typeface="Cambria"/>
              </a:rPr>
              <a:t>The demonstration  </a:t>
            </a:r>
            <a:endParaRPr lang="en-US" dirty="0">
              <a:latin typeface="Cambria"/>
              <a:cs typeface="Cambria"/>
            </a:endParaRPr>
          </a:p>
        </p:txBody>
      </p:sp>
      <p:sp>
        <p:nvSpPr>
          <p:cNvPr id="4" name="TextBox 3"/>
          <p:cNvSpPr txBox="1"/>
          <p:nvPr/>
        </p:nvSpPr>
        <p:spPr>
          <a:xfrm>
            <a:off x="246594" y="1417639"/>
            <a:ext cx="8729414" cy="5355313"/>
          </a:xfrm>
          <a:prstGeom prst="rect">
            <a:avLst/>
          </a:prstGeom>
          <a:noFill/>
        </p:spPr>
        <p:txBody>
          <a:bodyPr wrap="square" rtlCol="0">
            <a:spAutoFit/>
          </a:bodyPr>
          <a:lstStyle/>
          <a:p>
            <a:r>
              <a:rPr lang="en-US" dirty="0" smtClean="0">
                <a:latin typeface="Cambria"/>
                <a:cs typeface="Cambria"/>
              </a:rPr>
              <a:t>We have three buckets that represent blood, kidney filtrate and urine. In the blood we have five different particles represented by balls: urea, glucose, large proteins, ions and amino acids (show slide 2).  Ask students to give examples of large proteins in blood. </a:t>
            </a:r>
          </a:p>
          <a:p>
            <a:endParaRPr lang="en-US" dirty="0" smtClean="0">
              <a:latin typeface="Cambria"/>
              <a:cs typeface="Cambria"/>
            </a:endParaRPr>
          </a:p>
          <a:p>
            <a:r>
              <a:rPr lang="en-US" dirty="0" smtClean="0">
                <a:latin typeface="Cambria"/>
                <a:cs typeface="Cambria"/>
              </a:rPr>
              <a:t>Make it clear that you are going to model what happens to each particle as blood arrives at the kidneys by moving particles from one trough to another. Demonstrate what happens to glucose by moving </a:t>
            </a:r>
            <a:r>
              <a:rPr lang="en-US" b="1" dirty="0" smtClean="0">
                <a:latin typeface="Cambria"/>
                <a:cs typeface="Cambria"/>
              </a:rPr>
              <a:t>all</a:t>
            </a:r>
            <a:r>
              <a:rPr lang="en-US" dirty="0" smtClean="0">
                <a:latin typeface="Cambria"/>
                <a:cs typeface="Cambria"/>
              </a:rPr>
              <a:t> of the purple balls from the red trough into the green trough to show filtration. Pose the question as to whether this molecule is useful or not? You then illicit ideas of useful molecules being reabsorbed into the blood and unwanted molecules forming urine. Now ask different students to use the model for: amino acids (red </a:t>
            </a:r>
            <a:r>
              <a:rPr lang="en-US" dirty="0" err="1" smtClean="0">
                <a:latin typeface="Cambria"/>
                <a:cs typeface="Cambria"/>
                <a:sym typeface="Wingdings"/>
              </a:rPr>
              <a:t></a:t>
            </a:r>
            <a:r>
              <a:rPr lang="en-US" dirty="0" smtClean="0">
                <a:latin typeface="Cambria"/>
                <a:cs typeface="Cambria"/>
                <a:sym typeface="Wingdings"/>
              </a:rPr>
              <a:t> green </a:t>
            </a:r>
            <a:r>
              <a:rPr lang="en-US" dirty="0" err="1" smtClean="0">
                <a:latin typeface="Cambria"/>
                <a:cs typeface="Cambria"/>
                <a:sym typeface="Wingdings"/>
              </a:rPr>
              <a:t></a:t>
            </a:r>
            <a:r>
              <a:rPr lang="en-US" dirty="0" smtClean="0">
                <a:latin typeface="Cambria"/>
                <a:cs typeface="Cambria"/>
                <a:sym typeface="Wingdings"/>
              </a:rPr>
              <a:t> red)</a:t>
            </a:r>
            <a:r>
              <a:rPr lang="en-US" dirty="0" smtClean="0">
                <a:latin typeface="Cambria"/>
                <a:cs typeface="Cambria"/>
              </a:rPr>
              <a:t>, urea (red </a:t>
            </a:r>
            <a:r>
              <a:rPr lang="en-US" dirty="0" err="1" smtClean="0">
                <a:latin typeface="Cambria"/>
                <a:cs typeface="Cambria"/>
                <a:sym typeface="Wingdings"/>
              </a:rPr>
              <a:t></a:t>
            </a:r>
            <a:r>
              <a:rPr lang="en-US" dirty="0" smtClean="0">
                <a:latin typeface="Cambria"/>
                <a:cs typeface="Cambria"/>
                <a:sym typeface="Wingdings"/>
              </a:rPr>
              <a:t> green </a:t>
            </a:r>
            <a:r>
              <a:rPr lang="en-US" dirty="0" err="1" smtClean="0">
                <a:latin typeface="Cambria"/>
                <a:cs typeface="Cambria"/>
                <a:sym typeface="Wingdings"/>
              </a:rPr>
              <a:t></a:t>
            </a:r>
            <a:r>
              <a:rPr lang="en-US" dirty="0" smtClean="0">
                <a:latin typeface="Cambria"/>
                <a:cs typeface="Cambria"/>
                <a:sym typeface="Wingdings"/>
              </a:rPr>
              <a:t> yellow)</a:t>
            </a:r>
            <a:r>
              <a:rPr lang="en-US" dirty="0" smtClean="0">
                <a:latin typeface="Cambria"/>
                <a:cs typeface="Cambria"/>
              </a:rPr>
              <a:t>, water (red </a:t>
            </a:r>
            <a:r>
              <a:rPr lang="en-US" dirty="0" err="1" smtClean="0">
                <a:latin typeface="Cambria"/>
                <a:cs typeface="Cambria"/>
                <a:sym typeface="Wingdings"/>
              </a:rPr>
              <a:t></a:t>
            </a:r>
            <a:r>
              <a:rPr lang="en-US" dirty="0" smtClean="0">
                <a:latin typeface="Cambria"/>
                <a:cs typeface="Cambria"/>
                <a:sym typeface="Wingdings"/>
              </a:rPr>
              <a:t> green </a:t>
            </a:r>
            <a:r>
              <a:rPr lang="en-US" dirty="0" err="1" smtClean="0">
                <a:latin typeface="Cambria"/>
                <a:cs typeface="Cambria"/>
                <a:sym typeface="Wingdings"/>
              </a:rPr>
              <a:t></a:t>
            </a:r>
            <a:r>
              <a:rPr lang="en-US" dirty="0" smtClean="0">
                <a:latin typeface="Cambria"/>
                <a:cs typeface="Cambria"/>
                <a:sym typeface="Wingdings"/>
              </a:rPr>
              <a:t> some into red and excess into yellow</a:t>
            </a:r>
            <a:r>
              <a:rPr lang="en-US" dirty="0" smtClean="0">
                <a:latin typeface="Cambria"/>
                <a:cs typeface="Cambria"/>
              </a:rPr>
              <a:t>) ions (same as water) and protein (stays in red). Question and provide feedback throughout. </a:t>
            </a:r>
          </a:p>
          <a:p>
            <a:endParaRPr lang="en-US" dirty="0" smtClean="0">
              <a:latin typeface="Cambria"/>
              <a:cs typeface="Cambria"/>
            </a:endParaRPr>
          </a:p>
          <a:p>
            <a:r>
              <a:rPr lang="en-US" dirty="0" smtClean="0">
                <a:latin typeface="Cambria"/>
                <a:cs typeface="Cambria"/>
              </a:rPr>
              <a:t>To consolidate, ask one student to volunteer to do all of the particles with the help of the class. Finally, to explore the role of ADH, sprinkle some glitter into the red trough and ask the class what would happen to the movement of water particles now. In this model more water would now be returned to the red trough and less water would enter the yellow trough.  Now ask students to complete the table and Qs on slide 4. </a:t>
            </a:r>
            <a:r>
              <a:rPr lang="en-US" dirty="0" smtClean="0"/>
              <a:t> </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228302" y="172606"/>
          <a:ext cx="8687395" cy="4946641"/>
        </p:xfrm>
        <a:graphic>
          <a:graphicData uri="http://schemas.openxmlformats.org/drawingml/2006/table">
            <a:tbl>
              <a:tblPr firstRow="1" bandRow="1">
                <a:tableStyleId>{5C22544A-7EE6-4342-B048-85BDC9FD1C3A}</a:tableStyleId>
              </a:tblPr>
              <a:tblGrid>
                <a:gridCol w="1737479">
                  <a:extLst>
                    <a:ext uri="{9D8B030D-6E8A-4147-A177-3AD203B41FA5}">
                      <a16:colId xmlns:a16="http://schemas.microsoft.com/office/drawing/2014/main" val="20000"/>
                    </a:ext>
                  </a:extLst>
                </a:gridCol>
                <a:gridCol w="802030">
                  <a:extLst>
                    <a:ext uri="{9D8B030D-6E8A-4147-A177-3AD203B41FA5}">
                      <a16:colId xmlns:a16="http://schemas.microsoft.com/office/drawing/2014/main" val="20001"/>
                    </a:ext>
                  </a:extLst>
                </a:gridCol>
                <a:gridCol w="1011033">
                  <a:extLst>
                    <a:ext uri="{9D8B030D-6E8A-4147-A177-3AD203B41FA5}">
                      <a16:colId xmlns:a16="http://schemas.microsoft.com/office/drawing/2014/main" val="20002"/>
                    </a:ext>
                  </a:extLst>
                </a:gridCol>
                <a:gridCol w="826089">
                  <a:extLst>
                    <a:ext uri="{9D8B030D-6E8A-4147-A177-3AD203B41FA5}">
                      <a16:colId xmlns:a16="http://schemas.microsoft.com/office/drawing/2014/main" val="20003"/>
                    </a:ext>
                  </a:extLst>
                </a:gridCol>
                <a:gridCol w="4310764">
                  <a:extLst>
                    <a:ext uri="{9D8B030D-6E8A-4147-A177-3AD203B41FA5}">
                      <a16:colId xmlns:a16="http://schemas.microsoft.com/office/drawing/2014/main" val="20004"/>
                    </a:ext>
                  </a:extLst>
                </a:gridCol>
              </a:tblGrid>
              <a:tr h="345212">
                <a:tc>
                  <a:txBody>
                    <a:bodyPr/>
                    <a:lstStyle/>
                    <a:p>
                      <a:pPr algn="ctr"/>
                      <a:endParaRPr lang="en-US" dirty="0">
                        <a:solidFill>
                          <a:schemeClr val="bg1"/>
                        </a:solidFill>
                        <a:latin typeface="Cambria"/>
                        <a:cs typeface="Cambria"/>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008000"/>
                    </a:solidFill>
                  </a:tcPr>
                </a:tc>
                <a:tc gridSpan="3">
                  <a:txBody>
                    <a:bodyPr/>
                    <a:lstStyle/>
                    <a:p>
                      <a:pPr algn="ctr"/>
                      <a:r>
                        <a:rPr lang="en-US" b="0" dirty="0" smtClean="0">
                          <a:solidFill>
                            <a:schemeClr val="bg1"/>
                          </a:solidFill>
                          <a:latin typeface="Cambria"/>
                          <a:cs typeface="Cambria"/>
                        </a:rPr>
                        <a:t>Present in … Y or N</a:t>
                      </a:r>
                      <a:endParaRPr lang="en-US" b="0" dirty="0">
                        <a:solidFill>
                          <a:schemeClr val="bg1"/>
                        </a:solidFill>
                        <a:latin typeface="Cambria"/>
                        <a:cs typeface="Cambria"/>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008000"/>
                    </a:solidFill>
                  </a:tcPr>
                </a:tc>
                <a:tc hMerge="1">
                  <a:txBody>
                    <a:bodyPr/>
                    <a:lstStyle/>
                    <a:p>
                      <a:endParaRPr lang="en-US" dirty="0"/>
                    </a:p>
                  </a:txBody>
                  <a:tcPr/>
                </a:tc>
                <a:tc hMerge="1">
                  <a:txBody>
                    <a:bodyPr/>
                    <a:lstStyle/>
                    <a:p>
                      <a:endParaRPr lang="en-US" dirty="0"/>
                    </a:p>
                  </a:txBody>
                  <a:tcPr/>
                </a:tc>
                <a:tc>
                  <a:txBody>
                    <a:bodyPr/>
                    <a:lstStyle/>
                    <a:p>
                      <a:pPr algn="ctr"/>
                      <a:endParaRPr lang="en-US" dirty="0">
                        <a:solidFill>
                          <a:schemeClr val="bg1"/>
                        </a:solidFill>
                        <a:latin typeface="Cambria"/>
                        <a:cs typeface="Cambria"/>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008000"/>
                    </a:solidFill>
                  </a:tcPr>
                </a:tc>
                <a:extLst>
                  <a:ext uri="{0D108BD9-81ED-4DB2-BD59-A6C34878D82A}">
                    <a16:rowId xmlns:a16="http://schemas.microsoft.com/office/drawing/2014/main" val="10000"/>
                  </a:ext>
                </a:extLst>
              </a:tr>
              <a:tr h="298316">
                <a:tc>
                  <a:txBody>
                    <a:bodyPr/>
                    <a:lstStyle/>
                    <a:p>
                      <a:pPr algn="ctr"/>
                      <a:endParaRPr lang="en-US" dirty="0">
                        <a:solidFill>
                          <a:schemeClr val="bg1"/>
                        </a:solidFill>
                        <a:latin typeface="Cambria"/>
                        <a:cs typeface="Cambria"/>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008000"/>
                    </a:solidFill>
                  </a:tcPr>
                </a:tc>
                <a:tc>
                  <a:txBody>
                    <a:bodyPr/>
                    <a:lstStyle/>
                    <a:p>
                      <a:pPr algn="ctr"/>
                      <a:r>
                        <a:rPr lang="en-US" dirty="0" smtClean="0">
                          <a:solidFill>
                            <a:schemeClr val="bg1"/>
                          </a:solidFill>
                          <a:latin typeface="Cambria"/>
                          <a:cs typeface="Cambria"/>
                        </a:rPr>
                        <a:t>Blood</a:t>
                      </a:r>
                      <a:endParaRPr lang="en-US" dirty="0">
                        <a:solidFill>
                          <a:schemeClr val="bg1"/>
                        </a:solidFill>
                        <a:latin typeface="Cambria"/>
                        <a:cs typeface="Cambria"/>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008000"/>
                    </a:solidFill>
                  </a:tcPr>
                </a:tc>
                <a:tc>
                  <a:txBody>
                    <a:bodyPr/>
                    <a:lstStyle/>
                    <a:p>
                      <a:pPr algn="ctr"/>
                      <a:r>
                        <a:rPr lang="en-US" dirty="0" smtClean="0">
                          <a:solidFill>
                            <a:schemeClr val="bg1"/>
                          </a:solidFill>
                          <a:latin typeface="Cambria"/>
                          <a:cs typeface="Cambria"/>
                        </a:rPr>
                        <a:t>Filtrate</a:t>
                      </a:r>
                      <a:endParaRPr lang="en-US" dirty="0">
                        <a:solidFill>
                          <a:schemeClr val="bg1"/>
                        </a:solidFill>
                        <a:latin typeface="Cambria"/>
                        <a:cs typeface="Cambria"/>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008000"/>
                    </a:solidFill>
                  </a:tcPr>
                </a:tc>
                <a:tc>
                  <a:txBody>
                    <a:bodyPr/>
                    <a:lstStyle/>
                    <a:p>
                      <a:pPr algn="ctr"/>
                      <a:r>
                        <a:rPr lang="en-US" dirty="0" smtClean="0">
                          <a:solidFill>
                            <a:schemeClr val="bg1"/>
                          </a:solidFill>
                          <a:latin typeface="Cambria"/>
                          <a:cs typeface="Cambria"/>
                        </a:rPr>
                        <a:t>  Urine </a:t>
                      </a:r>
                      <a:endParaRPr lang="en-US" dirty="0">
                        <a:solidFill>
                          <a:schemeClr val="bg1"/>
                        </a:solidFill>
                        <a:latin typeface="Cambria"/>
                        <a:cs typeface="Cambria"/>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008000"/>
                    </a:solidFill>
                  </a:tcPr>
                </a:tc>
                <a:tc>
                  <a:txBody>
                    <a:bodyPr/>
                    <a:lstStyle/>
                    <a:p>
                      <a:pPr algn="ctr"/>
                      <a:r>
                        <a:rPr lang="en-US" dirty="0" smtClean="0">
                          <a:solidFill>
                            <a:schemeClr val="bg1"/>
                          </a:solidFill>
                          <a:latin typeface="Cambria"/>
                          <a:cs typeface="Cambria"/>
                        </a:rPr>
                        <a:t>Explanation</a:t>
                      </a:r>
                      <a:endParaRPr lang="en-US" dirty="0">
                        <a:solidFill>
                          <a:schemeClr val="bg1"/>
                        </a:solidFill>
                        <a:latin typeface="Cambria"/>
                        <a:cs typeface="Cambria"/>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008000"/>
                    </a:solidFill>
                  </a:tcPr>
                </a:tc>
                <a:extLst>
                  <a:ext uri="{0D108BD9-81ED-4DB2-BD59-A6C34878D82A}">
                    <a16:rowId xmlns:a16="http://schemas.microsoft.com/office/drawing/2014/main" val="10001"/>
                  </a:ext>
                </a:extLst>
              </a:tr>
              <a:tr h="871246">
                <a:tc>
                  <a:txBody>
                    <a:bodyPr/>
                    <a:lstStyle/>
                    <a:p>
                      <a:pPr algn="l"/>
                      <a:r>
                        <a:rPr lang="en-US" i="1" dirty="0" smtClean="0">
                          <a:solidFill>
                            <a:srgbClr val="000000"/>
                          </a:solidFill>
                          <a:latin typeface="Cambria"/>
                          <a:cs typeface="Cambria"/>
                        </a:rPr>
                        <a:t>Glucose</a:t>
                      </a:r>
                      <a:endParaRPr lang="en-US" i="1" dirty="0">
                        <a:solidFill>
                          <a:srgbClr val="000000"/>
                        </a:solidFill>
                        <a:latin typeface="Cambria"/>
                        <a:cs typeface="Cambria"/>
                      </a:endParaRP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a:r>
                        <a:rPr lang="en-US" i="1" dirty="0" smtClean="0">
                          <a:solidFill>
                            <a:srgbClr val="000000"/>
                          </a:solidFill>
                          <a:latin typeface="Cambria"/>
                          <a:cs typeface="Cambria"/>
                        </a:rPr>
                        <a:t>Y</a:t>
                      </a:r>
                      <a:endParaRPr lang="en-US" i="1" dirty="0">
                        <a:solidFill>
                          <a:srgbClr val="000000"/>
                        </a:solidFill>
                        <a:latin typeface="Cambria"/>
                        <a:cs typeface="Cambria"/>
                      </a:endParaRP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a:r>
                        <a:rPr lang="en-US" i="1" dirty="0" smtClean="0">
                          <a:solidFill>
                            <a:srgbClr val="000000"/>
                          </a:solidFill>
                          <a:latin typeface="Cambria"/>
                          <a:cs typeface="Cambria"/>
                        </a:rPr>
                        <a:t>Y</a:t>
                      </a:r>
                      <a:endParaRPr lang="en-US" i="1" dirty="0">
                        <a:solidFill>
                          <a:srgbClr val="000000"/>
                        </a:solidFill>
                        <a:latin typeface="Cambria"/>
                        <a:cs typeface="Cambria"/>
                      </a:endParaRP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a:r>
                        <a:rPr lang="en-US" i="1" dirty="0" smtClean="0">
                          <a:solidFill>
                            <a:srgbClr val="000000"/>
                          </a:solidFill>
                          <a:latin typeface="Cambria"/>
                          <a:cs typeface="Cambria"/>
                        </a:rPr>
                        <a:t>N</a:t>
                      </a:r>
                      <a:endParaRPr lang="en-US" i="1" dirty="0">
                        <a:solidFill>
                          <a:srgbClr val="000000"/>
                        </a:solidFill>
                        <a:latin typeface="Cambria"/>
                        <a:cs typeface="Cambria"/>
                      </a:endParaRP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a:r>
                        <a:rPr lang="en-US" i="1" dirty="0" smtClean="0">
                          <a:solidFill>
                            <a:srgbClr val="000000"/>
                          </a:solidFill>
                          <a:latin typeface="Cambria"/>
                          <a:cs typeface="Cambria"/>
                        </a:rPr>
                        <a:t>All</a:t>
                      </a:r>
                      <a:r>
                        <a:rPr lang="en-US" i="1" baseline="0" dirty="0" smtClean="0">
                          <a:solidFill>
                            <a:srgbClr val="000000"/>
                          </a:solidFill>
                          <a:latin typeface="Cambria"/>
                          <a:cs typeface="Cambria"/>
                        </a:rPr>
                        <a:t> glucose is reabsorbed back into the blood as it is a useful molecule for cells. It is used in respiration. </a:t>
                      </a:r>
                      <a:endParaRPr lang="en-US" i="1" dirty="0">
                        <a:solidFill>
                          <a:srgbClr val="000000"/>
                        </a:solidFill>
                        <a:latin typeface="Cambria"/>
                        <a:cs typeface="Cambria"/>
                      </a:endParaRP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66081">
                <a:tc>
                  <a:txBody>
                    <a:bodyPr/>
                    <a:lstStyle/>
                    <a:p>
                      <a:pPr algn="l"/>
                      <a:r>
                        <a:rPr lang="en-US" dirty="0" smtClean="0">
                          <a:solidFill>
                            <a:srgbClr val="000000"/>
                          </a:solidFill>
                          <a:latin typeface="Cambria"/>
                          <a:cs typeface="Cambria"/>
                        </a:rPr>
                        <a:t>Urea</a:t>
                      </a:r>
                      <a:endParaRPr lang="en-US" dirty="0">
                        <a:solidFill>
                          <a:srgbClr val="000000"/>
                        </a:solidFill>
                        <a:latin typeface="Cambria"/>
                        <a:cs typeface="Cambria"/>
                      </a:endParaRP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a:endParaRPr lang="en-US" dirty="0">
                        <a:solidFill>
                          <a:srgbClr val="000000"/>
                        </a:solidFill>
                        <a:latin typeface="Cambria"/>
                        <a:cs typeface="Cambria"/>
                      </a:endParaRP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a:endParaRPr lang="en-US" dirty="0">
                        <a:solidFill>
                          <a:srgbClr val="000000"/>
                        </a:solidFill>
                        <a:latin typeface="Cambria"/>
                        <a:cs typeface="Cambria"/>
                      </a:endParaRP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a:endParaRPr lang="en-US" dirty="0">
                        <a:solidFill>
                          <a:srgbClr val="000000"/>
                        </a:solidFill>
                        <a:latin typeface="Cambria"/>
                        <a:cs typeface="Cambria"/>
                      </a:endParaRP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a:endParaRPr lang="en-US" dirty="0" smtClean="0">
                        <a:solidFill>
                          <a:srgbClr val="000000"/>
                        </a:solidFill>
                        <a:latin typeface="Cambria"/>
                        <a:cs typeface="Cambria"/>
                      </a:endParaRPr>
                    </a:p>
                    <a:p>
                      <a:pPr algn="ctr"/>
                      <a:endParaRPr lang="en-US" dirty="0">
                        <a:solidFill>
                          <a:srgbClr val="000000"/>
                        </a:solidFill>
                        <a:latin typeface="Cambria"/>
                        <a:cs typeface="Cambria"/>
                      </a:endParaRP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25089">
                <a:tc>
                  <a:txBody>
                    <a:bodyPr/>
                    <a:lstStyle/>
                    <a:p>
                      <a:pPr algn="l"/>
                      <a:r>
                        <a:rPr lang="en-US" dirty="0" smtClean="0">
                          <a:solidFill>
                            <a:srgbClr val="000000"/>
                          </a:solidFill>
                          <a:latin typeface="Cambria"/>
                          <a:cs typeface="Cambria"/>
                        </a:rPr>
                        <a:t>Amino</a:t>
                      </a:r>
                      <a:r>
                        <a:rPr lang="en-US" baseline="0" dirty="0" smtClean="0">
                          <a:solidFill>
                            <a:srgbClr val="000000"/>
                          </a:solidFill>
                          <a:latin typeface="Cambria"/>
                          <a:cs typeface="Cambria"/>
                        </a:rPr>
                        <a:t> acids</a:t>
                      </a:r>
                      <a:endParaRPr lang="en-US" dirty="0">
                        <a:solidFill>
                          <a:srgbClr val="000000"/>
                        </a:solidFill>
                        <a:latin typeface="Cambria"/>
                        <a:cs typeface="Cambria"/>
                      </a:endParaRP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a:endParaRPr lang="en-US" dirty="0">
                        <a:solidFill>
                          <a:srgbClr val="000000"/>
                        </a:solidFill>
                        <a:latin typeface="Cambria"/>
                        <a:cs typeface="Cambria"/>
                      </a:endParaRP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a:endParaRPr lang="en-US">
                        <a:solidFill>
                          <a:srgbClr val="000000"/>
                        </a:solidFill>
                        <a:latin typeface="Cambria"/>
                        <a:cs typeface="Cambria"/>
                      </a:endParaRP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a:endParaRPr lang="en-US">
                        <a:solidFill>
                          <a:srgbClr val="000000"/>
                        </a:solidFill>
                        <a:latin typeface="Cambria"/>
                        <a:cs typeface="Cambria"/>
                      </a:endParaRP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a:endParaRPr lang="en-US" dirty="0" smtClean="0">
                        <a:solidFill>
                          <a:srgbClr val="000000"/>
                        </a:solidFill>
                        <a:latin typeface="Cambria"/>
                        <a:cs typeface="Cambria"/>
                      </a:endParaRPr>
                    </a:p>
                    <a:p>
                      <a:pPr algn="ctr"/>
                      <a:endParaRPr lang="en-US" dirty="0">
                        <a:solidFill>
                          <a:srgbClr val="000000"/>
                        </a:solidFill>
                        <a:latin typeface="Cambria"/>
                        <a:cs typeface="Cambria"/>
                      </a:endParaRP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66081">
                <a:tc>
                  <a:txBody>
                    <a:bodyPr/>
                    <a:lstStyle/>
                    <a:p>
                      <a:pPr algn="l"/>
                      <a:r>
                        <a:rPr lang="en-US" dirty="0" smtClean="0">
                          <a:solidFill>
                            <a:srgbClr val="000000"/>
                          </a:solidFill>
                          <a:latin typeface="Cambria"/>
                          <a:cs typeface="Cambria"/>
                        </a:rPr>
                        <a:t>Water</a:t>
                      </a:r>
                      <a:endParaRPr lang="en-US" dirty="0">
                        <a:solidFill>
                          <a:srgbClr val="000000"/>
                        </a:solidFill>
                        <a:latin typeface="Cambria"/>
                        <a:cs typeface="Cambria"/>
                      </a:endParaRP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a:endParaRPr lang="en-US" dirty="0">
                        <a:solidFill>
                          <a:srgbClr val="000000"/>
                        </a:solidFill>
                        <a:latin typeface="Cambria"/>
                        <a:cs typeface="Cambria"/>
                      </a:endParaRP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a:endParaRPr lang="en-US">
                        <a:solidFill>
                          <a:srgbClr val="000000"/>
                        </a:solidFill>
                        <a:latin typeface="Cambria"/>
                        <a:cs typeface="Cambria"/>
                      </a:endParaRP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a:endParaRPr lang="en-US">
                        <a:solidFill>
                          <a:srgbClr val="000000"/>
                        </a:solidFill>
                        <a:latin typeface="Cambria"/>
                        <a:cs typeface="Cambria"/>
                      </a:endParaRP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a:endParaRPr lang="en-US" dirty="0" smtClean="0">
                        <a:solidFill>
                          <a:srgbClr val="000000"/>
                        </a:solidFill>
                        <a:latin typeface="Cambria"/>
                        <a:cs typeface="Cambria"/>
                      </a:endParaRPr>
                    </a:p>
                    <a:p>
                      <a:pPr algn="ctr"/>
                      <a:endParaRPr lang="en-US" dirty="0">
                        <a:solidFill>
                          <a:srgbClr val="000000"/>
                        </a:solidFill>
                        <a:latin typeface="Cambria"/>
                        <a:cs typeface="Cambria"/>
                      </a:endParaRP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51401">
                <a:tc>
                  <a:txBody>
                    <a:bodyPr/>
                    <a:lstStyle/>
                    <a:p>
                      <a:pPr algn="l"/>
                      <a:r>
                        <a:rPr lang="en-US" dirty="0" smtClean="0">
                          <a:solidFill>
                            <a:srgbClr val="000000"/>
                          </a:solidFill>
                          <a:latin typeface="Cambria"/>
                          <a:cs typeface="Cambria"/>
                        </a:rPr>
                        <a:t>Ions e.g. Na</a:t>
                      </a:r>
                      <a:r>
                        <a:rPr lang="en-US" baseline="30000" dirty="0" smtClean="0">
                          <a:solidFill>
                            <a:srgbClr val="000000"/>
                          </a:solidFill>
                          <a:latin typeface="Cambria"/>
                          <a:cs typeface="Cambria"/>
                        </a:rPr>
                        <a:t>+</a:t>
                      </a:r>
                      <a:r>
                        <a:rPr lang="en-US" dirty="0" smtClean="0">
                          <a:solidFill>
                            <a:srgbClr val="000000"/>
                          </a:solidFill>
                          <a:latin typeface="Cambria"/>
                          <a:cs typeface="Cambria"/>
                        </a:rPr>
                        <a:t> and </a:t>
                      </a:r>
                      <a:r>
                        <a:rPr lang="en-US" dirty="0" err="1" smtClean="0">
                          <a:solidFill>
                            <a:srgbClr val="000000"/>
                          </a:solidFill>
                          <a:latin typeface="Cambria"/>
                          <a:cs typeface="Cambria"/>
                        </a:rPr>
                        <a:t>Cl</a:t>
                      </a:r>
                      <a:r>
                        <a:rPr lang="en-US" baseline="30000" dirty="0" smtClean="0">
                          <a:solidFill>
                            <a:srgbClr val="000000"/>
                          </a:solidFill>
                          <a:latin typeface="Cambria"/>
                          <a:cs typeface="Cambria"/>
                        </a:rPr>
                        <a:t>-</a:t>
                      </a:r>
                      <a:endParaRPr lang="en-US" baseline="30000" dirty="0">
                        <a:solidFill>
                          <a:srgbClr val="000000"/>
                        </a:solidFill>
                        <a:latin typeface="Cambria"/>
                        <a:cs typeface="Cambria"/>
                      </a:endParaRP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a:endParaRPr lang="en-US" dirty="0">
                        <a:solidFill>
                          <a:srgbClr val="000000"/>
                        </a:solidFill>
                        <a:latin typeface="Cambria"/>
                        <a:cs typeface="Cambria"/>
                      </a:endParaRP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a:endParaRPr lang="en-US">
                        <a:solidFill>
                          <a:srgbClr val="000000"/>
                        </a:solidFill>
                        <a:latin typeface="Cambria"/>
                        <a:cs typeface="Cambria"/>
                      </a:endParaRP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a:endParaRPr lang="en-US">
                        <a:solidFill>
                          <a:srgbClr val="000000"/>
                        </a:solidFill>
                        <a:latin typeface="Cambria"/>
                        <a:cs typeface="Cambria"/>
                      </a:endParaRP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a:endParaRPr lang="en-US" dirty="0" smtClean="0">
                        <a:solidFill>
                          <a:srgbClr val="000000"/>
                        </a:solidFill>
                        <a:latin typeface="Cambria"/>
                        <a:cs typeface="Cambria"/>
                      </a:endParaRPr>
                    </a:p>
                    <a:p>
                      <a:pPr algn="ctr"/>
                      <a:endParaRPr lang="en-US" dirty="0">
                        <a:solidFill>
                          <a:srgbClr val="000000"/>
                        </a:solidFill>
                        <a:latin typeface="Cambria"/>
                        <a:cs typeface="Cambria"/>
                      </a:endParaRP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66081">
                <a:tc>
                  <a:txBody>
                    <a:bodyPr/>
                    <a:lstStyle/>
                    <a:p>
                      <a:pPr algn="l"/>
                      <a:r>
                        <a:rPr lang="en-US" dirty="0" smtClean="0">
                          <a:solidFill>
                            <a:srgbClr val="000000"/>
                          </a:solidFill>
                          <a:latin typeface="Cambria"/>
                          <a:cs typeface="Cambria"/>
                        </a:rPr>
                        <a:t>Protein</a:t>
                      </a:r>
                      <a:endParaRPr lang="en-US" dirty="0">
                        <a:solidFill>
                          <a:srgbClr val="000000"/>
                        </a:solidFill>
                        <a:latin typeface="Cambria"/>
                        <a:cs typeface="Cambria"/>
                      </a:endParaRP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a:endParaRPr lang="en-US" dirty="0">
                        <a:solidFill>
                          <a:srgbClr val="000000"/>
                        </a:solidFill>
                        <a:latin typeface="Cambria"/>
                        <a:cs typeface="Cambria"/>
                      </a:endParaRP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a:endParaRPr lang="en-US">
                        <a:solidFill>
                          <a:srgbClr val="000000"/>
                        </a:solidFill>
                        <a:latin typeface="Cambria"/>
                        <a:cs typeface="Cambria"/>
                      </a:endParaRP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a:endParaRPr lang="en-US">
                        <a:solidFill>
                          <a:srgbClr val="000000"/>
                        </a:solidFill>
                        <a:latin typeface="Cambria"/>
                        <a:cs typeface="Cambria"/>
                      </a:endParaRP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a:endParaRPr lang="en-US" dirty="0">
                        <a:solidFill>
                          <a:srgbClr val="000000"/>
                        </a:solidFill>
                        <a:latin typeface="Cambria"/>
                        <a:cs typeface="Cambria"/>
                      </a:endParaRP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
        <p:nvSpPr>
          <p:cNvPr id="5" name="TextBox 4"/>
          <p:cNvSpPr txBox="1"/>
          <p:nvPr/>
        </p:nvSpPr>
        <p:spPr>
          <a:xfrm>
            <a:off x="228302" y="4945247"/>
            <a:ext cx="8525772" cy="2308324"/>
          </a:xfrm>
          <a:prstGeom prst="rect">
            <a:avLst/>
          </a:prstGeom>
          <a:noFill/>
        </p:spPr>
        <p:txBody>
          <a:bodyPr wrap="square" rtlCol="0">
            <a:spAutoFit/>
          </a:bodyPr>
          <a:lstStyle/>
          <a:p>
            <a:pPr marL="342900" indent="-342900">
              <a:buFont typeface="+mj-lt"/>
              <a:buAutoNum type="arabicPeriod"/>
            </a:pPr>
            <a:r>
              <a:rPr lang="en-US" dirty="0" smtClean="0">
                <a:latin typeface="Cambria"/>
                <a:cs typeface="Cambria"/>
              </a:rPr>
              <a:t>Complete the table </a:t>
            </a:r>
          </a:p>
          <a:p>
            <a:pPr marL="342900" indent="-342900">
              <a:buFont typeface="+mj-lt"/>
              <a:buAutoNum type="arabicPeriod"/>
            </a:pPr>
            <a:r>
              <a:rPr lang="en-US" dirty="0" smtClean="0">
                <a:latin typeface="Cambria"/>
                <a:cs typeface="Cambria"/>
              </a:rPr>
              <a:t>Protein was represented by a football in this model. Name some proteins that are transported in the blood?  </a:t>
            </a:r>
          </a:p>
          <a:p>
            <a:pPr marL="342900" indent="-342900">
              <a:buFont typeface="+mj-lt"/>
              <a:buAutoNum type="arabicPeriod"/>
            </a:pPr>
            <a:r>
              <a:rPr lang="en-US" dirty="0" smtClean="0">
                <a:latin typeface="Cambria"/>
                <a:cs typeface="Cambria"/>
              </a:rPr>
              <a:t>Describe how the table above would be different for a person suffering from:</a:t>
            </a:r>
          </a:p>
          <a:p>
            <a:pPr marL="800100" lvl="1" indent="-342900">
              <a:buFont typeface="+mj-lt"/>
              <a:buAutoNum type="arabicPeriod"/>
            </a:pPr>
            <a:r>
              <a:rPr lang="en-US" dirty="0" smtClean="0">
                <a:latin typeface="Cambria"/>
                <a:cs typeface="Cambria"/>
              </a:rPr>
              <a:t>diabetes.</a:t>
            </a:r>
          </a:p>
          <a:p>
            <a:pPr marL="800100" lvl="1" indent="-342900">
              <a:buAutoNum type="arabicPeriod"/>
            </a:pPr>
            <a:r>
              <a:rPr lang="en-US" dirty="0" smtClean="0">
                <a:latin typeface="Cambria"/>
                <a:cs typeface="Cambria"/>
              </a:rPr>
              <a:t>high blood pressure.</a:t>
            </a:r>
          </a:p>
          <a:p>
            <a:pPr marL="342900" indent="-342900">
              <a:buAutoNum type="arabicPeriod"/>
            </a:pPr>
            <a:endParaRPr lang="en-US" dirty="0" smtClean="0"/>
          </a:p>
          <a:p>
            <a:endParaRPr lang="en-US" dirty="0"/>
          </a:p>
        </p:txBody>
      </p:sp>
    </p:spTree>
  </p:cSld>
  <p:clrMapOvr>
    <a:masterClrMapping/>
  </p:clrMapOvr>
</p:sld>
</file>

<file path=ppt/theme/theme1.xml><?xml version="1.0" encoding="utf-8"?>
<a:theme xmlns:a="http://schemas.openxmlformats.org/drawingml/2006/main" name="Office Theme">
  <a:themeElements>
    <a:clrScheme name="Custom 93">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8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382</TotalTime>
  <Words>568</Words>
  <Application>Microsoft Office PowerPoint</Application>
  <PresentationFormat>On-screen Show (4:3)</PresentationFormat>
  <Paragraphs>54</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Arial</vt:lpstr>
      <vt:lpstr>Calibri</vt:lpstr>
      <vt:lpstr>Cambria</vt:lpstr>
      <vt:lpstr>Times New Roman</vt:lpstr>
      <vt:lpstr>Wingdings</vt:lpstr>
      <vt:lpstr>Office Theme</vt:lpstr>
      <vt:lpstr>PowerPoint Presentation</vt:lpstr>
      <vt:lpstr>PowerPoint Presentation</vt:lpstr>
      <vt:lpstr>The demonstration  </vt:lpstr>
      <vt:lpstr>PowerPoint Presentation</vt:lpstr>
    </vt:vector>
  </TitlesOfParts>
  <Company>University of York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Jasper Green</dc:creator>
  <cp:lastModifiedBy>EDWARDS Natalie [Narrogin Senior High School]</cp:lastModifiedBy>
  <cp:revision>5</cp:revision>
  <dcterms:created xsi:type="dcterms:W3CDTF">2018-08-19T11:08:24Z</dcterms:created>
  <dcterms:modified xsi:type="dcterms:W3CDTF">2021-05-12T08:16:05Z</dcterms:modified>
</cp:coreProperties>
</file>
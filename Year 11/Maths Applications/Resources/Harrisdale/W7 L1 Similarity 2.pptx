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7" r:id="rId2"/>
    <p:sldId id="256" r:id="rId3"/>
    <p:sldId id="261" r:id="rId4"/>
    <p:sldId id="262" r:id="rId5"/>
    <p:sldId id="263" r:id="rId6"/>
    <p:sldId id="264" r:id="rId7"/>
    <p:sldId id="258" r:id="rId8"/>
    <p:sldId id="265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65"/>
    <p:restoredTop sz="90877"/>
  </p:normalViewPr>
  <p:slideViewPr>
    <p:cSldViewPr snapToGrid="0" snapToObjects="1">
      <p:cViewPr varScale="1">
        <p:scale>
          <a:sx n="88" d="100"/>
          <a:sy n="88" d="100"/>
        </p:scale>
        <p:origin x="1360" y="1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0C50-DFDB-FC49-8DD0-8B806F2F7779}" type="datetimeFigureOut">
              <a:rPr lang="en-US" smtClean="0"/>
              <a:t>6/8/19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51CA1-19B0-6E45-A9A8-231EA3D53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4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www.outpost-art.org</a:t>
            </a:r>
            <a:r>
              <a:rPr lang="en-US" dirty="0"/>
              <a:t>/images/Leonardo%20Da%20Vinci/Mona%20Lisa.jpg</a:t>
            </a:r>
          </a:p>
          <a:p>
            <a:r>
              <a:rPr lang="en-US" dirty="0"/>
              <a:t>http://</a:t>
            </a:r>
            <a:r>
              <a:rPr lang="en-US" dirty="0" err="1"/>
              <a:t>www.holytaco.com</a:t>
            </a:r>
            <a:r>
              <a:rPr lang="en-US" dirty="0"/>
              <a:t>/25-shopped-mona-lisa-portraits/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22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www.outpost-art.org</a:t>
            </a:r>
            <a:r>
              <a:rPr lang="en-US" dirty="0"/>
              <a:t>/images/Leonardo%20Da%20Vinci/Mona%20Lisa.jpg</a:t>
            </a:r>
          </a:p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/geometry/triangles-</a:t>
            </a:r>
            <a:r>
              <a:rPr lang="en-US" dirty="0" err="1"/>
              <a:t>similar.html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95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handsonmath.blogspot.com.au</a:t>
            </a:r>
            <a:r>
              <a:rPr lang="en-US" dirty="0"/>
              <a:t>/2012/10/congruent-vs-similar-shapes-</a:t>
            </a:r>
            <a:r>
              <a:rPr lang="en-US" dirty="0" err="1"/>
              <a:t>while.html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251CA1-19B0-6E45-A9A8-231EA3D53A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53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www.bbc.co.uk</a:t>
            </a:r>
            <a:r>
              <a:rPr lang="en-US" dirty="0"/>
              <a:t>/schools/</a:t>
            </a:r>
            <a:r>
              <a:rPr lang="en-US" dirty="0" err="1"/>
              <a:t>gcsebitesize</a:t>
            </a:r>
            <a:r>
              <a:rPr lang="en-US" dirty="0"/>
              <a:t>/</a:t>
            </a:r>
            <a:r>
              <a:rPr lang="en-US" dirty="0" err="1"/>
              <a:t>maths</a:t>
            </a:r>
            <a:r>
              <a:rPr lang="en-US" dirty="0"/>
              <a:t>/geometry/congruencysimilarityrev1.shtml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251CA1-19B0-6E45-A9A8-231EA3D53A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20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6/8/19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iff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2353" y="174812"/>
            <a:ext cx="87540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An object A is an enlargement of object B such that</a:t>
            </a:r>
          </a:p>
          <a:p>
            <a:r>
              <a:rPr lang="en-US" sz="2000" dirty="0"/>
              <a:t>	volume of object A : volume of object B = 27 : 1 728</a:t>
            </a:r>
          </a:p>
          <a:p>
            <a:r>
              <a:rPr lang="en-US" sz="2000" dirty="0"/>
              <a:t>What would be the following ratio be:</a:t>
            </a:r>
          </a:p>
          <a:p>
            <a:r>
              <a:rPr lang="en-US" sz="2000" dirty="0"/>
              <a:t>	a) length measured on A : length measure on B</a:t>
            </a:r>
          </a:p>
          <a:p>
            <a:r>
              <a:rPr lang="en-US" sz="2000" dirty="0"/>
              <a:t>	b) surface area of A : surface area of B</a:t>
            </a:r>
          </a:p>
          <a:p>
            <a:endParaRPr lang="en-US" sz="2000" dirty="0"/>
          </a:p>
          <a:p>
            <a:r>
              <a:rPr lang="en-US" sz="2000" dirty="0"/>
              <a:t>2. Coffee is sold in regular and large cups.  The two cup are mathematically similar in shape.  The large cup is 21 cm high and holds 540 </a:t>
            </a:r>
            <a:r>
              <a:rPr lang="en-US" sz="2000" dirty="0" err="1"/>
              <a:t>mL.</a:t>
            </a:r>
            <a:r>
              <a:rPr lang="en-US" sz="2000" dirty="0"/>
              <a:t>  The regular cup is 14 cm high.  Calculate the volume of the regular cup.</a:t>
            </a:r>
          </a:p>
          <a:p>
            <a:endParaRPr lang="en-US" sz="2000" dirty="0"/>
          </a:p>
          <a:p>
            <a:r>
              <a:rPr lang="en-US" sz="2000" dirty="0"/>
              <a:t>3. Two similar pyramids have volumes of 64cm</a:t>
            </a:r>
            <a:r>
              <a:rPr lang="en-US" sz="2000" baseline="30000" dirty="0"/>
              <a:t>3</a:t>
            </a:r>
            <a:r>
              <a:rPr lang="en-US" sz="2000" dirty="0"/>
              <a:t> and 343cm</a:t>
            </a:r>
            <a:r>
              <a:rPr lang="en-US" sz="2000" baseline="30000" dirty="0"/>
              <a:t>3</a:t>
            </a:r>
            <a:r>
              <a:rPr lang="en-US" sz="2000" dirty="0"/>
              <a:t>. What is the ratio of their surface areas?</a:t>
            </a:r>
          </a:p>
          <a:p>
            <a:endParaRPr lang="en-US" sz="2000" dirty="0"/>
          </a:p>
          <a:p>
            <a:r>
              <a:rPr lang="en-US" sz="2000" dirty="0"/>
              <a:t>4. These two shapes are similar. What is the length of x?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2089" t="16895" r="14236" b="8003"/>
          <a:stretch/>
        </p:blipFill>
        <p:spPr>
          <a:xfrm>
            <a:off x="2353234" y="4881281"/>
            <a:ext cx="5204011" cy="173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5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</a:t>
            </a:r>
          </a:p>
        </p:txBody>
      </p:sp>
    </p:spTree>
    <p:extLst>
      <p:ext uri="{BB962C8B-B14F-4D97-AF65-F5344CB8AC3E}">
        <p14:creationId xmlns:p14="http://schemas.microsoft.com/office/powerpoint/2010/main" val="58422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659" y="1808798"/>
            <a:ext cx="3077001" cy="4406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61" y="3039011"/>
            <a:ext cx="1476473" cy="2114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068" y="1478112"/>
            <a:ext cx="2873930" cy="10649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362" y="721578"/>
            <a:ext cx="726996" cy="55411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37" y="4254161"/>
            <a:ext cx="1255811" cy="17983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871" y="2014530"/>
            <a:ext cx="3108497" cy="424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3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826557"/>
            <a:ext cx="7640003" cy="14084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In similar figures:</a:t>
            </a:r>
          </a:p>
          <a:p>
            <a:r>
              <a:rPr lang="en-US" dirty="0">
                <a:solidFill>
                  <a:srgbClr val="0070C0"/>
                </a:solidFill>
              </a:rPr>
              <a:t>All pairs of matching sides are in the same ratio; and</a:t>
            </a:r>
          </a:p>
          <a:p>
            <a:r>
              <a:rPr lang="en-US" dirty="0">
                <a:solidFill>
                  <a:srgbClr val="0070C0"/>
                </a:solidFill>
              </a:rPr>
              <a:t>All pairs of matching angles are equal.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072007" y="3384118"/>
            <a:ext cx="1669020" cy="1790000"/>
            <a:chOff x="2507959" y="4006809"/>
            <a:chExt cx="2054178" cy="220307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753" y="4290646"/>
              <a:ext cx="1040590" cy="1490125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3903169" y="4049647"/>
              <a:ext cx="658968" cy="421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Q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07959" y="4006809"/>
              <a:ext cx="658968" cy="421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P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3167" y="5741993"/>
              <a:ext cx="658968" cy="421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54422" y="5788469"/>
              <a:ext cx="658968" cy="421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54315" y="3169602"/>
            <a:ext cx="2042453" cy="2388936"/>
            <a:chOff x="270799" y="3742791"/>
            <a:chExt cx="2513788" cy="294023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091" y="4049647"/>
              <a:ext cx="1568885" cy="2246644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094068" y="3742791"/>
              <a:ext cx="658969" cy="421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B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0799" y="3751454"/>
              <a:ext cx="658969" cy="421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25618" y="6261604"/>
              <a:ext cx="658969" cy="421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C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0799" y="6261604"/>
              <a:ext cx="658969" cy="421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25" b="1" dirty="0"/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89727" y="5547302"/>
                <a:ext cx="2695738" cy="611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bg-BG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i="1">
                            <a:latin typeface="Cambria Math" charset="0"/>
                          </a:rPr>
                          <m:t>𝐴𝐵</m:t>
                        </m:r>
                      </m:num>
                      <m:den>
                        <m:r>
                          <a:rPr lang="en-AU" sz="2600" i="1">
                            <a:latin typeface="Cambria Math" charset="0"/>
                          </a:rPr>
                          <m:t>𝑃𝑄</m:t>
                        </m:r>
                      </m:den>
                    </m:f>
                    <m:r>
                      <a:rPr lang="en-AU" sz="2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i="1">
                            <a:latin typeface="Cambria Math" charset="0"/>
                          </a:rPr>
                          <m:t>𝐵𝐶</m:t>
                        </m:r>
                      </m:num>
                      <m:den>
                        <m:r>
                          <a:rPr lang="en-AU" sz="2600" i="1">
                            <a:latin typeface="Cambria Math" charset="0"/>
                          </a:rPr>
                          <m:t>𝑄𝑅</m:t>
                        </m:r>
                      </m:den>
                    </m:f>
                    <m:r>
                      <a:rPr lang="en-AU" sz="2600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i="1">
                            <a:latin typeface="Cambria Math" charset="0"/>
                          </a:rPr>
                          <m:t>𝐶𝐷</m:t>
                        </m:r>
                      </m:num>
                      <m:den>
                        <m:r>
                          <a:rPr lang="en-AU" sz="2600" i="1">
                            <a:latin typeface="Cambria Math" charset="0"/>
                          </a:rPr>
                          <m:t>𝑅𝑆</m:t>
                        </m:r>
                      </m:den>
                    </m:f>
                    <m:r>
                      <a:rPr lang="en-AU" sz="2600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bg-BG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i="1">
                            <a:latin typeface="Cambria Math" charset="0"/>
                          </a:rPr>
                          <m:t>𝐷𝐴</m:t>
                        </m:r>
                      </m:num>
                      <m:den>
                        <m:r>
                          <a:rPr lang="en-AU" sz="2600" i="1">
                            <a:latin typeface="Cambria Math" charset="0"/>
                          </a:rPr>
                          <m:t>𝑆𝑃</m:t>
                        </m:r>
                      </m:den>
                    </m:f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72" y="6036141"/>
                <a:ext cx="3309880" cy="75302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488" y="3590365"/>
            <a:ext cx="5489761" cy="24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9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637" y="4036532"/>
            <a:ext cx="4584885" cy="282146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22" y="2194503"/>
            <a:ext cx="8077200" cy="163830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82" y="204694"/>
            <a:ext cx="8915400" cy="175260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58373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870" y="1024848"/>
            <a:ext cx="6934200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416858" y="389965"/>
            <a:ext cx="8973143" cy="5042647"/>
            <a:chOff x="416859" y="510988"/>
            <a:chExt cx="8973143" cy="504264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00" t="1683" r="13038"/>
            <a:stretch/>
          </p:blipFill>
          <p:spPr>
            <a:xfrm>
              <a:off x="569522" y="793376"/>
              <a:ext cx="8820480" cy="4760259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416859" y="510988"/>
              <a:ext cx="1398494" cy="497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9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03" y="524447"/>
            <a:ext cx="7800132" cy="41225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97207" y="5020988"/>
            <a:ext cx="71022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wxyz</a:t>
            </a:r>
            <a:r>
              <a:rPr lang="en-US" sz="2800" dirty="0"/>
              <a:t> and WXYZ are similar figures. </a:t>
            </a:r>
          </a:p>
          <a:p>
            <a:r>
              <a:rPr lang="en-US" sz="2800" dirty="0"/>
              <a:t>What is the length of XY?</a:t>
            </a:r>
          </a:p>
          <a:p>
            <a:r>
              <a:rPr lang="en-US" sz="2800" dirty="0"/>
              <a:t>What is the size of angle  </a:t>
            </a:r>
            <a:r>
              <a:rPr lang="en-US" sz="2800" dirty="0" err="1"/>
              <a:t>wxy</a:t>
            </a:r>
            <a:r>
              <a:rPr lang="en-US" sz="28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806562834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454</TotalTime>
  <Words>184</Words>
  <Application>Microsoft Macintosh PowerPoint</Application>
  <PresentationFormat>A4 Paper (210x297 mm)</PresentationFormat>
  <Paragraphs>40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A4 Presentation</vt:lpstr>
      <vt:lpstr>PowerPoint Presentation</vt:lpstr>
      <vt:lpstr>Similarity</vt:lpstr>
      <vt:lpstr>Similarity</vt:lpstr>
      <vt:lpstr>Similarity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12</cp:revision>
  <dcterms:created xsi:type="dcterms:W3CDTF">2017-06-11T08:28:12Z</dcterms:created>
  <dcterms:modified xsi:type="dcterms:W3CDTF">2019-06-08T12:21:04Z</dcterms:modified>
</cp:coreProperties>
</file>
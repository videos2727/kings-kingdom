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79" r:id="rId6"/>
    <p:sldId id="280" r:id="rId7"/>
    <p:sldId id="257" r:id="rId8"/>
    <p:sldId id="269" r:id="rId9"/>
    <p:sldId id="270" r:id="rId10"/>
    <p:sldId id="262" r:id="rId11"/>
    <p:sldId id="272" r:id="rId12"/>
    <p:sldId id="276" r:id="rId13"/>
    <p:sldId id="277" r:id="rId14"/>
    <p:sldId id="278" r:id="rId15"/>
    <p:sldId id="273" r:id="rId16"/>
    <p:sldId id="274" r:id="rId17"/>
    <p:sldId id="275" r:id="rId18"/>
    <p:sldId id="281" r:id="rId19"/>
    <p:sldId id="263" r:id="rId20"/>
    <p:sldId id="264" r:id="rId21"/>
    <p:sldId id="265" r:id="rId22"/>
    <p:sldId id="267" r:id="rId23"/>
    <p:sldId id="268" r:id="rId2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24"/>
  </p:normalViewPr>
  <p:slideViewPr>
    <p:cSldViewPr snapToGrid="0" snapToObjects="1">
      <p:cViewPr varScale="1">
        <p:scale>
          <a:sx n="94" d="100"/>
          <a:sy n="94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469C2-D639-3548-9098-C2098B6AF4D2}" type="datetimeFigureOut">
              <a:rPr lang="en-US" smtClean="0"/>
              <a:t>6/24/19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773EB-4AD8-5046-88E6-B425D3623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82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www.emaze.com</a:t>
            </a:r>
            <a:r>
              <a:rPr lang="en-US" dirty="0"/>
              <a:t>/@AFZLCRZF/</a:t>
            </a:r>
            <a:r>
              <a:rPr lang="en-US" dirty="0" err="1"/>
              <a:t>PopulationDominican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7BE0A-6F4E-014C-BA9A-25BD53FA94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0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/>
              <a:t>=Xn7Sd5Uu42A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7BE0A-6F4E-014C-BA9A-25BD53FA94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02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6/24/19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Relationships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667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7" y="1429493"/>
            <a:ext cx="8390391" cy="518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5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824" y="943430"/>
            <a:ext cx="9040141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35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3326" t="5091" r="15556" b="2724"/>
          <a:stretch/>
        </p:blipFill>
        <p:spPr>
          <a:xfrm>
            <a:off x="566058" y="291203"/>
            <a:ext cx="8592456" cy="626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00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40633" y="1412777"/>
            <a:ext cx="67753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/>
              <a:t>What is </a:t>
            </a:r>
            <a:r>
              <a:rPr lang="en-GB" sz="7200" dirty="0">
                <a:solidFill>
                  <a:srgbClr val="FF0000"/>
                </a:solidFill>
              </a:rPr>
              <a:t>gradient</a:t>
            </a:r>
            <a:r>
              <a:rPr lang="en-GB" sz="7200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528" y="2996952"/>
            <a:ext cx="85689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FF0000"/>
                </a:solidFill>
              </a:rPr>
              <a:t>Gradient</a:t>
            </a:r>
            <a:r>
              <a:rPr lang="en-GB" sz="4000" dirty="0">
                <a:solidFill>
                  <a:srgbClr val="00B050"/>
                </a:solidFill>
              </a:rPr>
              <a:t> is the measure of how </a:t>
            </a:r>
            <a:r>
              <a:rPr lang="en-GB" sz="4000" b="1" dirty="0">
                <a:solidFill>
                  <a:srgbClr val="FF0000"/>
                </a:solidFill>
              </a:rPr>
              <a:t>steep</a:t>
            </a:r>
            <a:r>
              <a:rPr lang="en-GB" sz="4000" dirty="0">
                <a:solidFill>
                  <a:srgbClr val="00B050"/>
                </a:solidFill>
              </a:rPr>
              <a:t> a line is. The bigger the gradient, the steeper the line.</a:t>
            </a:r>
          </a:p>
        </p:txBody>
      </p:sp>
    </p:spTree>
    <p:extLst>
      <p:ext uri="{BB962C8B-B14F-4D97-AF65-F5344CB8AC3E}">
        <p14:creationId xmlns:p14="http://schemas.microsoft.com/office/powerpoint/2010/main" val="78525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J9BOXHRV\MP900442678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58" y="113220"/>
            <a:ext cx="4903693" cy="3262712"/>
          </a:xfrm>
          <a:prstGeom prst="rect">
            <a:avLst/>
          </a:prstGeom>
          <a:noFill/>
        </p:spPr>
      </p:pic>
      <p:pic>
        <p:nvPicPr>
          <p:cNvPr id="1027" name="Picture 3" descr="C:\Users\ben\AppData\Local\Microsoft\Windows\Temporary Internet Files\Content.IE5\80RR8DXW\MP900422977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15951" y="3466143"/>
            <a:ext cx="5119719" cy="3363816"/>
          </a:xfrm>
          <a:prstGeom prst="rect">
            <a:avLst/>
          </a:prstGeom>
          <a:noFill/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12058" y="113220"/>
            <a:ext cx="2736304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GB" sz="2400" dirty="0">
                <a:latin typeface="Comic Sans MS" pitchFamily="66" charset="0"/>
              </a:rPr>
              <a:t>Small gradient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999366" y="3466143"/>
            <a:ext cx="2736304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GB" sz="2400" dirty="0">
                <a:latin typeface="Comic Sans MS" pitchFamily="66" charset="0"/>
              </a:rPr>
              <a:t>Large gradient</a:t>
            </a:r>
          </a:p>
        </p:txBody>
      </p:sp>
    </p:spTree>
    <p:extLst>
      <p:ext uri="{BB962C8B-B14F-4D97-AF65-F5344CB8AC3E}">
        <p14:creationId xmlns:p14="http://schemas.microsoft.com/office/powerpoint/2010/main" val="186127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Consider a linear relationship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563122" y="1540701"/>
            <a:ext cx="6102806" cy="5317299"/>
            <a:chOff x="2593932" y="2492680"/>
            <a:chExt cx="3889328" cy="3972838"/>
          </a:xfrm>
        </p:grpSpPr>
        <p:grpSp>
          <p:nvGrpSpPr>
            <p:cNvPr id="13" name="Group 12"/>
            <p:cNvGrpSpPr/>
            <p:nvPr/>
          </p:nvGrpSpPr>
          <p:grpSpPr>
            <a:xfrm>
              <a:off x="2593932" y="2492680"/>
              <a:ext cx="3889328" cy="3972838"/>
              <a:chOff x="2593932" y="2492680"/>
              <a:chExt cx="3889328" cy="3972838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 flipV="1">
                <a:off x="4434214" y="2805830"/>
                <a:ext cx="0" cy="3659688"/>
              </a:xfrm>
              <a:prstGeom prst="straightConnector1">
                <a:avLst/>
              </a:prstGeom>
              <a:ln w="57150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rot="5400000" flipV="1">
                <a:off x="4423776" y="2958230"/>
                <a:ext cx="0" cy="3659688"/>
              </a:xfrm>
              <a:prstGeom prst="straightConnector1">
                <a:avLst/>
              </a:prstGeom>
              <a:ln w="57150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4271376" y="2492680"/>
                <a:ext cx="3308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y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152364" y="4586610"/>
                <a:ext cx="3308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x</a:t>
                </a:r>
              </a:p>
            </p:txBody>
          </p:sp>
        </p:grpSp>
        <p:cxnSp>
          <p:nvCxnSpPr>
            <p:cNvPr id="15" name="Straight Connector 14"/>
            <p:cNvCxnSpPr/>
            <p:nvPr/>
          </p:nvCxnSpPr>
          <p:spPr>
            <a:xfrm flipV="1">
              <a:off x="2718148" y="3231715"/>
              <a:ext cx="3031299" cy="2442575"/>
            </a:xfrm>
            <a:prstGeom prst="line">
              <a:avLst/>
            </a:prstGeom>
            <a:ln w="412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6514490" y="2035020"/>
            <a:ext cx="1414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 = mx + c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7146714" y="2529835"/>
            <a:ext cx="0" cy="7269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67626" y="3357887"/>
            <a:ext cx="2776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m = gradient of the line</a:t>
            </a:r>
          </a:p>
        </p:txBody>
      </p:sp>
    </p:spTree>
    <p:extLst>
      <p:ext uri="{BB962C8B-B14F-4D97-AF65-F5344CB8AC3E}">
        <p14:creationId xmlns:p14="http://schemas.microsoft.com/office/powerpoint/2010/main" val="2873606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381000" y="1196752"/>
            <a:ext cx="5544616" cy="56612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37297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8100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0128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128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128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128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128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128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128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128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762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762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762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762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762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762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762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762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1965176" y="1628800"/>
            <a:ext cx="2232248" cy="489654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813048" y="2924944"/>
            <a:ext cx="4248472" cy="2115616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61112" y="692697"/>
            <a:ext cx="3384376" cy="13849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/>
              <a:t>The </a:t>
            </a:r>
            <a:r>
              <a:rPr lang="en-GB" sz="2800" dirty="0">
                <a:solidFill>
                  <a:srgbClr val="FF0000"/>
                </a:solidFill>
              </a:rPr>
              <a:t>RED</a:t>
            </a:r>
            <a:r>
              <a:rPr lang="en-GB" sz="2800" dirty="0"/>
              <a:t> line has a larger gradient than the </a:t>
            </a:r>
            <a:r>
              <a:rPr lang="en-GB" sz="2800" dirty="0">
                <a:solidFill>
                  <a:srgbClr val="00B0F0"/>
                </a:solidFill>
              </a:rPr>
              <a:t>BLUE</a:t>
            </a:r>
            <a:r>
              <a:rPr lang="en-GB" sz="2800" dirty="0"/>
              <a:t> line.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05128" y="2852937"/>
            <a:ext cx="3419872" cy="954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/>
              <a:t>A big gradient gives a STEEP 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05128" y="4293097"/>
            <a:ext cx="3419872" cy="954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/>
              <a:t>A small gradient gives a SHALLOW line</a:t>
            </a:r>
          </a:p>
        </p:txBody>
      </p:sp>
    </p:spTree>
    <p:extLst>
      <p:ext uri="{BB962C8B-B14F-4D97-AF65-F5344CB8AC3E}">
        <p14:creationId xmlns:p14="http://schemas.microsoft.com/office/powerpoint/2010/main" val="85804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381000" y="1196752"/>
            <a:ext cx="5544616" cy="56612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37297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8100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0128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128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128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128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128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128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128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128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762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762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762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762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762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762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762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762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1965176" y="1628800"/>
            <a:ext cx="2232248" cy="489654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 flipV="1">
            <a:off x="1856656" y="2060848"/>
            <a:ext cx="3744416" cy="360040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61112" y="1988840"/>
            <a:ext cx="3384376" cy="181588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/>
              <a:t>The </a:t>
            </a:r>
            <a:r>
              <a:rPr lang="en-GB" sz="2800" dirty="0">
                <a:solidFill>
                  <a:srgbClr val="FF0000"/>
                </a:solidFill>
              </a:rPr>
              <a:t>RED</a:t>
            </a:r>
            <a:r>
              <a:rPr lang="en-GB" sz="2800" dirty="0"/>
              <a:t> line has a positive gradient, the </a:t>
            </a:r>
            <a:r>
              <a:rPr lang="en-GB" sz="2800" dirty="0">
                <a:solidFill>
                  <a:srgbClr val="00B0F0"/>
                </a:solidFill>
              </a:rPr>
              <a:t>BLUE</a:t>
            </a:r>
            <a:r>
              <a:rPr lang="en-GB" sz="2800" dirty="0"/>
              <a:t> line has a negative gradient</a:t>
            </a:r>
          </a:p>
        </p:txBody>
      </p:sp>
    </p:spTree>
    <p:extLst>
      <p:ext uri="{BB962C8B-B14F-4D97-AF65-F5344CB8AC3E}">
        <p14:creationId xmlns:p14="http://schemas.microsoft.com/office/powerpoint/2010/main" val="228407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you define the gradient?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1563122" y="1540701"/>
            <a:ext cx="6102806" cy="5317299"/>
            <a:chOff x="2593932" y="2492680"/>
            <a:chExt cx="3889328" cy="3972838"/>
          </a:xfrm>
        </p:grpSpPr>
        <p:grpSp>
          <p:nvGrpSpPr>
            <p:cNvPr id="13" name="Group 12"/>
            <p:cNvGrpSpPr/>
            <p:nvPr/>
          </p:nvGrpSpPr>
          <p:grpSpPr>
            <a:xfrm>
              <a:off x="2593932" y="2492680"/>
              <a:ext cx="3889328" cy="3972838"/>
              <a:chOff x="2593932" y="2492680"/>
              <a:chExt cx="3889328" cy="3972838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 flipV="1">
                <a:off x="4434214" y="2805830"/>
                <a:ext cx="0" cy="3659688"/>
              </a:xfrm>
              <a:prstGeom prst="straightConnector1">
                <a:avLst/>
              </a:prstGeom>
              <a:ln w="57150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rot="5400000" flipV="1">
                <a:off x="4423776" y="2958230"/>
                <a:ext cx="0" cy="3659688"/>
              </a:xfrm>
              <a:prstGeom prst="straightConnector1">
                <a:avLst/>
              </a:prstGeom>
              <a:ln w="57150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4271376" y="2492680"/>
                <a:ext cx="3308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y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152364" y="4586610"/>
                <a:ext cx="3308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x</a:t>
                </a:r>
              </a:p>
            </p:txBody>
          </p:sp>
        </p:grpSp>
        <p:cxnSp>
          <p:nvCxnSpPr>
            <p:cNvPr id="15" name="Straight Connector 14"/>
            <p:cNvCxnSpPr/>
            <p:nvPr/>
          </p:nvCxnSpPr>
          <p:spPr>
            <a:xfrm flipV="1">
              <a:off x="2718148" y="3231715"/>
              <a:ext cx="3031299" cy="2442575"/>
            </a:xfrm>
            <a:prstGeom prst="line">
              <a:avLst/>
            </a:prstGeom>
            <a:ln w="412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6514490" y="2035020"/>
            <a:ext cx="2404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 = mx + c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22521" y="3720230"/>
            <a:ext cx="1503123" cy="1252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6325644" y="2680570"/>
            <a:ext cx="0" cy="103966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97885" y="3732756"/>
            <a:ext cx="1002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5300" y="3026655"/>
            <a:ext cx="1002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145300" y="5226635"/>
                <a:ext cx="2773232" cy="719108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Gradient, 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charset="0"/>
                          </a:rPr>
                          <m:t>𝑟𝑖𝑠𝑒</m:t>
                        </m:r>
                      </m:num>
                      <m:den>
                        <m:r>
                          <a:rPr lang="en-AU" sz="2800" b="0" i="1" smtClean="0">
                            <a:latin typeface="Cambria Math" charset="0"/>
                          </a:rPr>
                          <m:t>𝑟𝑢𝑛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300" y="5226635"/>
                <a:ext cx="2773232" cy="719108"/>
              </a:xfrm>
              <a:prstGeom prst="rect">
                <a:avLst/>
              </a:prstGeom>
              <a:blipFill rotWithShape="0">
                <a:blip r:embed="rId2"/>
                <a:stretch>
                  <a:fillRect l="-3688" b="-8065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46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9583"/>
          <a:stretch/>
        </p:blipFill>
        <p:spPr>
          <a:xfrm>
            <a:off x="2300794" y="519203"/>
            <a:ext cx="5163661" cy="9501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155" y="1922638"/>
            <a:ext cx="6118941" cy="42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77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CF4EAC-A867-5549-8D94-399D1B9D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15" y="587072"/>
            <a:ext cx="5993912" cy="535506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633F8A-B351-394D-9771-D86632C17B3B}"/>
              </a:ext>
            </a:extLst>
          </p:cNvPr>
          <p:cNvCxnSpPr/>
          <p:nvPr/>
        </p:nvCxnSpPr>
        <p:spPr>
          <a:xfrm flipV="1">
            <a:off x="1618323" y="1308293"/>
            <a:ext cx="4051495" cy="3995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19816F6-067D-0F46-AE06-916CEECAB29F}"/>
              </a:ext>
            </a:extLst>
          </p:cNvPr>
          <p:cNvSpPr/>
          <p:nvPr/>
        </p:nvSpPr>
        <p:spPr>
          <a:xfrm rot="18949880">
            <a:off x="1494205" y="3040273"/>
            <a:ext cx="5191751" cy="398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0F01FB-328E-F445-82E8-9B5D6692F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120" y="1074517"/>
            <a:ext cx="2871429" cy="11622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FDBF82-3502-1F40-AE73-2AC763272880}"/>
              </a:ext>
            </a:extLst>
          </p:cNvPr>
          <p:cNvSpPr txBox="1"/>
          <p:nvPr/>
        </p:nvSpPr>
        <p:spPr>
          <a:xfrm>
            <a:off x="6641026" y="2841674"/>
            <a:ext cx="2291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Gradient = 1.5</a:t>
            </a:r>
          </a:p>
        </p:txBody>
      </p:sp>
    </p:spTree>
    <p:extLst>
      <p:ext uri="{BB962C8B-B14F-4D97-AF65-F5344CB8AC3E}">
        <p14:creationId xmlns:p14="http://schemas.microsoft.com/office/powerpoint/2010/main" val="70159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966C00-5659-8744-9132-619082481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07" y="615327"/>
            <a:ext cx="4477140" cy="5248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A7327-49BC-4A48-8591-37339EF1E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53" y="1036654"/>
            <a:ext cx="3477373" cy="15377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0176C4-A9C4-E64B-B5D2-526D1058BD8B}"/>
              </a:ext>
            </a:extLst>
          </p:cNvPr>
          <p:cNvSpPr/>
          <p:nvPr/>
        </p:nvSpPr>
        <p:spPr>
          <a:xfrm rot="3190683">
            <a:off x="602418" y="2938940"/>
            <a:ext cx="4692544" cy="398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5950C9-7570-6D4D-A56C-B74A30C56BB9}"/>
              </a:ext>
            </a:extLst>
          </p:cNvPr>
          <p:cNvCxnSpPr/>
          <p:nvPr/>
        </p:nvCxnSpPr>
        <p:spPr>
          <a:xfrm>
            <a:off x="1397094" y="1491175"/>
            <a:ext cx="2837281" cy="3784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E89B573-0B0A-004D-ADC1-EA3193252A52}"/>
              </a:ext>
            </a:extLst>
          </p:cNvPr>
          <p:cNvSpPr txBox="1"/>
          <p:nvPr/>
        </p:nvSpPr>
        <p:spPr>
          <a:xfrm>
            <a:off x="6162725" y="2977878"/>
            <a:ext cx="2291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Gradient = - 4</a:t>
            </a:r>
          </a:p>
        </p:txBody>
      </p:sp>
    </p:spTree>
    <p:extLst>
      <p:ext uri="{BB962C8B-B14F-4D97-AF65-F5344CB8AC3E}">
        <p14:creationId xmlns:p14="http://schemas.microsoft.com/office/powerpoint/2010/main" val="186504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C93918-3868-4649-99FD-A13C5CA321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2" r="12643"/>
          <a:stretch/>
        </p:blipFill>
        <p:spPr>
          <a:xfrm>
            <a:off x="0" y="941557"/>
            <a:ext cx="5866228" cy="4741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ACA174-C74F-AD45-B5C7-CD4023650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228" y="1909146"/>
            <a:ext cx="40132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5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37A9BA0-E887-6148-A1E9-39843CCBC0C5}"/>
              </a:ext>
            </a:extLst>
          </p:cNvPr>
          <p:cNvGrpSpPr/>
          <p:nvPr/>
        </p:nvGrpSpPr>
        <p:grpSpPr>
          <a:xfrm>
            <a:off x="2146497" y="4147472"/>
            <a:ext cx="942535" cy="981171"/>
            <a:chOff x="2146497" y="3245351"/>
            <a:chExt cx="942535" cy="981171"/>
          </a:xfrm>
        </p:grpSpPr>
        <p:sp>
          <p:nvSpPr>
            <p:cNvPr id="6" name="Curved Up Arrow 5">
              <a:extLst>
                <a:ext uri="{FF2B5EF4-FFF2-40B4-BE49-F238E27FC236}">
                  <a16:creationId xmlns:a16="http://schemas.microsoft.com/office/drawing/2014/main" id="{7407F855-62FE-2E41-99C0-E339DBDFF4C4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E45464-8D50-1A40-87AB-1767F8A21522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75B667-ECF7-A847-9B56-5917314D7422}"/>
              </a:ext>
            </a:extLst>
          </p:cNvPr>
          <p:cNvGrpSpPr/>
          <p:nvPr/>
        </p:nvGrpSpPr>
        <p:grpSpPr>
          <a:xfrm>
            <a:off x="3292312" y="4147472"/>
            <a:ext cx="942535" cy="981171"/>
            <a:chOff x="2146497" y="3245351"/>
            <a:chExt cx="942535" cy="981171"/>
          </a:xfrm>
        </p:grpSpPr>
        <p:sp>
          <p:nvSpPr>
            <p:cNvPr id="17" name="Curved Up Arrow 16">
              <a:extLst>
                <a:ext uri="{FF2B5EF4-FFF2-40B4-BE49-F238E27FC236}">
                  <a16:creationId xmlns:a16="http://schemas.microsoft.com/office/drawing/2014/main" id="{7B21D291-F256-3848-9F83-8D779722D73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FAA4D0-9261-8145-9C80-A86D86D0FA37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53C936-E7D6-5A47-8367-899353F7F390}"/>
              </a:ext>
            </a:extLst>
          </p:cNvPr>
          <p:cNvGrpSpPr/>
          <p:nvPr/>
        </p:nvGrpSpPr>
        <p:grpSpPr>
          <a:xfrm>
            <a:off x="4438127" y="4147472"/>
            <a:ext cx="942535" cy="981171"/>
            <a:chOff x="2146497" y="3245351"/>
            <a:chExt cx="942535" cy="981171"/>
          </a:xfrm>
        </p:grpSpPr>
        <p:sp>
          <p:nvSpPr>
            <p:cNvPr id="20" name="Curved Up Arrow 19">
              <a:extLst>
                <a:ext uri="{FF2B5EF4-FFF2-40B4-BE49-F238E27FC236}">
                  <a16:creationId xmlns:a16="http://schemas.microsoft.com/office/drawing/2014/main" id="{F53EC47D-E23C-E04F-A30D-28127B00025E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AB598C9-4BAC-5A4E-80F6-34E6D5F3D37E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51B38F-C57F-E84A-A713-4A678BE794D5}"/>
              </a:ext>
            </a:extLst>
          </p:cNvPr>
          <p:cNvGrpSpPr/>
          <p:nvPr/>
        </p:nvGrpSpPr>
        <p:grpSpPr>
          <a:xfrm>
            <a:off x="5583942" y="4147472"/>
            <a:ext cx="942535" cy="981171"/>
            <a:chOff x="2146497" y="3245351"/>
            <a:chExt cx="942535" cy="981171"/>
          </a:xfrm>
        </p:grpSpPr>
        <p:sp>
          <p:nvSpPr>
            <p:cNvPr id="23" name="Curved Up Arrow 22">
              <a:extLst>
                <a:ext uri="{FF2B5EF4-FFF2-40B4-BE49-F238E27FC236}">
                  <a16:creationId xmlns:a16="http://schemas.microsoft.com/office/drawing/2014/main" id="{E785DA15-7406-854A-A671-9A0CABD21AA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DD03220-C64A-3B46-AEC8-67A7F939307A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BBF42E-E703-204A-8D0B-79CE38FBE45B}"/>
              </a:ext>
            </a:extLst>
          </p:cNvPr>
          <p:cNvGrpSpPr/>
          <p:nvPr/>
        </p:nvGrpSpPr>
        <p:grpSpPr>
          <a:xfrm>
            <a:off x="6729757" y="4147472"/>
            <a:ext cx="942535" cy="981171"/>
            <a:chOff x="2146497" y="3245351"/>
            <a:chExt cx="942535" cy="981171"/>
          </a:xfrm>
        </p:grpSpPr>
        <p:sp>
          <p:nvSpPr>
            <p:cNvPr id="26" name="Curved Up Arrow 25">
              <a:extLst>
                <a:ext uri="{FF2B5EF4-FFF2-40B4-BE49-F238E27FC236}">
                  <a16:creationId xmlns:a16="http://schemas.microsoft.com/office/drawing/2014/main" id="{56489E42-F528-F049-8658-FF6A83FB5AA2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8A7567A-E90C-5441-B635-0340D12AC36C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C48F35A-7E62-5545-9CE8-B07A29CB705C}"/>
              </a:ext>
            </a:extLst>
          </p:cNvPr>
          <p:cNvGrpSpPr/>
          <p:nvPr/>
        </p:nvGrpSpPr>
        <p:grpSpPr>
          <a:xfrm>
            <a:off x="7875574" y="4147472"/>
            <a:ext cx="942535" cy="981171"/>
            <a:chOff x="2146497" y="3245351"/>
            <a:chExt cx="942535" cy="981171"/>
          </a:xfrm>
        </p:grpSpPr>
        <p:sp>
          <p:nvSpPr>
            <p:cNvPr id="29" name="Curved Up Arrow 28">
              <a:extLst>
                <a:ext uri="{FF2B5EF4-FFF2-40B4-BE49-F238E27FC236}">
                  <a16:creationId xmlns:a16="http://schemas.microsoft.com/office/drawing/2014/main" id="{9EDAD53B-DBC8-AF4D-9E83-A2644E2BA5F1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B2579F-387A-754F-ABD7-99B3263E7277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-3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41C1ACF-D998-A644-86A8-E8D0075823E6}"/>
              </a:ext>
            </a:extLst>
          </p:cNvPr>
          <p:cNvSpPr txBox="1"/>
          <p:nvPr/>
        </p:nvSpPr>
        <p:spPr>
          <a:xfrm>
            <a:off x="3044963" y="5273605"/>
            <a:ext cx="4598262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The difference = the gradient, m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Therefore in this case, m = -3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3665A-084E-874E-93E5-BC2E03BDB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24" y="2926901"/>
            <a:ext cx="8604872" cy="107560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54D685C-9F07-3848-A7B6-8F2756C8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values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660101-A621-5541-AC6E-0E98490F5463}"/>
              </a:ext>
            </a:extLst>
          </p:cNvPr>
          <p:cNvGrpSpPr/>
          <p:nvPr/>
        </p:nvGrpSpPr>
        <p:grpSpPr>
          <a:xfrm>
            <a:off x="2152193" y="1953909"/>
            <a:ext cx="942535" cy="866212"/>
            <a:chOff x="2222532" y="1363061"/>
            <a:chExt cx="942535" cy="866212"/>
          </a:xfrm>
        </p:grpSpPr>
        <p:sp>
          <p:nvSpPr>
            <p:cNvPr id="36" name="Curved Up Arrow 35">
              <a:extLst>
                <a:ext uri="{FF2B5EF4-FFF2-40B4-BE49-F238E27FC236}">
                  <a16:creationId xmlns:a16="http://schemas.microsoft.com/office/drawing/2014/main" id="{5A86B769-30AE-0F42-993C-25B2D2D5523E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AB8C02B-5DF6-D84E-A914-9A7E37FF5CC6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AA51595-983C-9149-B84B-60515A52B61B}"/>
              </a:ext>
            </a:extLst>
          </p:cNvPr>
          <p:cNvGrpSpPr/>
          <p:nvPr/>
        </p:nvGrpSpPr>
        <p:grpSpPr>
          <a:xfrm>
            <a:off x="3338263" y="1953909"/>
            <a:ext cx="942535" cy="866212"/>
            <a:chOff x="2222532" y="1363061"/>
            <a:chExt cx="942535" cy="866212"/>
          </a:xfrm>
        </p:grpSpPr>
        <p:sp>
          <p:nvSpPr>
            <p:cNvPr id="56" name="Curved Up Arrow 55">
              <a:extLst>
                <a:ext uri="{FF2B5EF4-FFF2-40B4-BE49-F238E27FC236}">
                  <a16:creationId xmlns:a16="http://schemas.microsoft.com/office/drawing/2014/main" id="{97F95E9D-CE21-CF43-821E-C3FE5E2948BC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6B1C3F0-F0A4-8B48-9C15-C603B96B7F40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03BC183-C41C-D848-8BE2-B9D286EE817C}"/>
              </a:ext>
            </a:extLst>
          </p:cNvPr>
          <p:cNvGrpSpPr/>
          <p:nvPr/>
        </p:nvGrpSpPr>
        <p:grpSpPr>
          <a:xfrm>
            <a:off x="4451445" y="1953909"/>
            <a:ext cx="942535" cy="866212"/>
            <a:chOff x="2222532" y="1363061"/>
            <a:chExt cx="942535" cy="866212"/>
          </a:xfrm>
        </p:grpSpPr>
        <p:sp>
          <p:nvSpPr>
            <p:cNvPr id="59" name="Curved Up Arrow 58">
              <a:extLst>
                <a:ext uri="{FF2B5EF4-FFF2-40B4-BE49-F238E27FC236}">
                  <a16:creationId xmlns:a16="http://schemas.microsoft.com/office/drawing/2014/main" id="{1948CC06-BBDC-FA4E-9848-21A78030A9C3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59E8A55-E209-AC4C-B107-D5BD17582D91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F4F01F6-E584-6846-967F-B76E1F402E3D}"/>
              </a:ext>
            </a:extLst>
          </p:cNvPr>
          <p:cNvGrpSpPr/>
          <p:nvPr/>
        </p:nvGrpSpPr>
        <p:grpSpPr>
          <a:xfrm>
            <a:off x="5637515" y="1953909"/>
            <a:ext cx="942535" cy="866212"/>
            <a:chOff x="2222532" y="1363061"/>
            <a:chExt cx="942535" cy="866212"/>
          </a:xfrm>
        </p:grpSpPr>
        <p:sp>
          <p:nvSpPr>
            <p:cNvPr id="62" name="Curved Up Arrow 61">
              <a:extLst>
                <a:ext uri="{FF2B5EF4-FFF2-40B4-BE49-F238E27FC236}">
                  <a16:creationId xmlns:a16="http://schemas.microsoft.com/office/drawing/2014/main" id="{64E8ED3D-9956-1243-85E1-1B92672EFE50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70F3778-AF1F-4B47-AE04-3A6B61D1B31E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A428542-19BA-6D4B-8691-71DFE7443741}"/>
              </a:ext>
            </a:extLst>
          </p:cNvPr>
          <p:cNvGrpSpPr/>
          <p:nvPr/>
        </p:nvGrpSpPr>
        <p:grpSpPr>
          <a:xfrm>
            <a:off x="6744078" y="1953909"/>
            <a:ext cx="942535" cy="866212"/>
            <a:chOff x="2222532" y="1363061"/>
            <a:chExt cx="942535" cy="866212"/>
          </a:xfrm>
        </p:grpSpPr>
        <p:sp>
          <p:nvSpPr>
            <p:cNvPr id="65" name="Curved Up Arrow 64">
              <a:extLst>
                <a:ext uri="{FF2B5EF4-FFF2-40B4-BE49-F238E27FC236}">
                  <a16:creationId xmlns:a16="http://schemas.microsoft.com/office/drawing/2014/main" id="{9D269881-40D5-3D4D-B162-F7FDCAEB2603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F83422B-C485-2A42-8106-1A01C943855E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EE12A4F-98F5-8748-9661-DEAE2016D5D8}"/>
              </a:ext>
            </a:extLst>
          </p:cNvPr>
          <p:cNvGrpSpPr/>
          <p:nvPr/>
        </p:nvGrpSpPr>
        <p:grpSpPr>
          <a:xfrm>
            <a:off x="7930148" y="1953909"/>
            <a:ext cx="942535" cy="866212"/>
            <a:chOff x="2222532" y="1363061"/>
            <a:chExt cx="942535" cy="866212"/>
          </a:xfrm>
        </p:grpSpPr>
        <p:sp>
          <p:nvSpPr>
            <p:cNvPr id="68" name="Curved Up Arrow 67">
              <a:extLst>
                <a:ext uri="{FF2B5EF4-FFF2-40B4-BE49-F238E27FC236}">
                  <a16:creationId xmlns:a16="http://schemas.microsoft.com/office/drawing/2014/main" id="{549E4AA5-6E1E-124B-93B9-068D1E2E3FEB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E0E807C-740B-E246-A257-58F83925B825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063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A41C1ACF-D998-A644-86A8-E8D0075823E6}"/>
              </a:ext>
            </a:extLst>
          </p:cNvPr>
          <p:cNvSpPr txBox="1"/>
          <p:nvPr/>
        </p:nvSpPr>
        <p:spPr>
          <a:xfrm>
            <a:off x="3044963" y="4724961"/>
            <a:ext cx="4598262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The difference = the gradient, m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Therefore in this case, m = -2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40D96-141F-684A-9D88-06939665F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48" y="2310186"/>
            <a:ext cx="8884104" cy="111051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8D22F6E1-4C17-5444-A23F-4A7A22B7E5A8}"/>
              </a:ext>
            </a:extLst>
          </p:cNvPr>
          <p:cNvGrpSpPr/>
          <p:nvPr/>
        </p:nvGrpSpPr>
        <p:grpSpPr>
          <a:xfrm>
            <a:off x="2188699" y="3556630"/>
            <a:ext cx="942535" cy="981171"/>
            <a:chOff x="2146497" y="3245351"/>
            <a:chExt cx="942535" cy="981171"/>
          </a:xfrm>
        </p:grpSpPr>
        <p:sp>
          <p:nvSpPr>
            <p:cNvPr id="36" name="Curved Up Arrow 35">
              <a:extLst>
                <a:ext uri="{FF2B5EF4-FFF2-40B4-BE49-F238E27FC236}">
                  <a16:creationId xmlns:a16="http://schemas.microsoft.com/office/drawing/2014/main" id="{5C824195-2A38-BA4E-9550-A88F85D49BE8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378AEB-A82B-844C-AC44-CF1C21BF5043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014BD89-8ED4-0745-BF4D-9F9BC1AEFFC8}"/>
              </a:ext>
            </a:extLst>
          </p:cNvPr>
          <p:cNvGrpSpPr/>
          <p:nvPr/>
        </p:nvGrpSpPr>
        <p:grpSpPr>
          <a:xfrm>
            <a:off x="3334514" y="3556630"/>
            <a:ext cx="942535" cy="981171"/>
            <a:chOff x="2146497" y="3245351"/>
            <a:chExt cx="942535" cy="981171"/>
          </a:xfrm>
        </p:grpSpPr>
        <p:sp>
          <p:nvSpPr>
            <p:cNvPr id="39" name="Curved Up Arrow 38">
              <a:extLst>
                <a:ext uri="{FF2B5EF4-FFF2-40B4-BE49-F238E27FC236}">
                  <a16:creationId xmlns:a16="http://schemas.microsoft.com/office/drawing/2014/main" id="{80203977-D115-5D4D-B135-7A5AE7E183A1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3C3B2B5-B8B1-B84F-99FD-7AC7E837DF94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29EC0B9-C72F-2C46-A218-994464EB5FC0}"/>
              </a:ext>
            </a:extLst>
          </p:cNvPr>
          <p:cNvGrpSpPr/>
          <p:nvPr/>
        </p:nvGrpSpPr>
        <p:grpSpPr>
          <a:xfrm>
            <a:off x="4480329" y="3556630"/>
            <a:ext cx="942535" cy="981171"/>
            <a:chOff x="2146497" y="3245351"/>
            <a:chExt cx="942535" cy="981171"/>
          </a:xfrm>
        </p:grpSpPr>
        <p:sp>
          <p:nvSpPr>
            <p:cNvPr id="42" name="Curved Up Arrow 41">
              <a:extLst>
                <a:ext uri="{FF2B5EF4-FFF2-40B4-BE49-F238E27FC236}">
                  <a16:creationId xmlns:a16="http://schemas.microsoft.com/office/drawing/2014/main" id="{FD50D11E-29E6-0141-9431-B94B4D3286AF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BBCB1C8-B650-5244-8CEA-62035B84509D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A8E280F-DF17-BF4E-B596-CB4C448CB4F2}"/>
              </a:ext>
            </a:extLst>
          </p:cNvPr>
          <p:cNvGrpSpPr/>
          <p:nvPr/>
        </p:nvGrpSpPr>
        <p:grpSpPr>
          <a:xfrm>
            <a:off x="5626144" y="3556630"/>
            <a:ext cx="942535" cy="981171"/>
            <a:chOff x="2146497" y="3245351"/>
            <a:chExt cx="942535" cy="981171"/>
          </a:xfrm>
        </p:grpSpPr>
        <p:sp>
          <p:nvSpPr>
            <p:cNvPr id="45" name="Curved Up Arrow 44">
              <a:extLst>
                <a:ext uri="{FF2B5EF4-FFF2-40B4-BE49-F238E27FC236}">
                  <a16:creationId xmlns:a16="http://schemas.microsoft.com/office/drawing/2014/main" id="{3EDB4BD5-D5C0-1048-8867-5B238AA7AC1A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1832490-1820-1243-AE70-440F42B7261E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9DF6BDA-D9B1-6C46-B7D2-B386E836F9EA}"/>
              </a:ext>
            </a:extLst>
          </p:cNvPr>
          <p:cNvGrpSpPr/>
          <p:nvPr/>
        </p:nvGrpSpPr>
        <p:grpSpPr>
          <a:xfrm>
            <a:off x="6771959" y="3556630"/>
            <a:ext cx="942535" cy="981171"/>
            <a:chOff x="2146497" y="3245351"/>
            <a:chExt cx="942535" cy="981171"/>
          </a:xfrm>
        </p:grpSpPr>
        <p:sp>
          <p:nvSpPr>
            <p:cNvPr id="48" name="Curved Up Arrow 47">
              <a:extLst>
                <a:ext uri="{FF2B5EF4-FFF2-40B4-BE49-F238E27FC236}">
                  <a16:creationId xmlns:a16="http://schemas.microsoft.com/office/drawing/2014/main" id="{778EDA6A-5E8C-4740-82F1-AE322D2BEE9E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B4789FF-7391-B74C-914C-0A465189A021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83A657B-752D-AB4C-BCC5-BB99D920989B}"/>
              </a:ext>
            </a:extLst>
          </p:cNvPr>
          <p:cNvGrpSpPr/>
          <p:nvPr/>
        </p:nvGrpSpPr>
        <p:grpSpPr>
          <a:xfrm>
            <a:off x="7917776" y="3556630"/>
            <a:ext cx="942535" cy="981171"/>
            <a:chOff x="2146497" y="3245351"/>
            <a:chExt cx="942535" cy="981171"/>
          </a:xfrm>
        </p:grpSpPr>
        <p:sp>
          <p:nvSpPr>
            <p:cNvPr id="51" name="Curved Up Arrow 50">
              <a:extLst>
                <a:ext uri="{FF2B5EF4-FFF2-40B4-BE49-F238E27FC236}">
                  <a16:creationId xmlns:a16="http://schemas.microsoft.com/office/drawing/2014/main" id="{D309D576-E884-264B-A98B-F1F69E66CF63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0E2734E-CAA1-964D-B63D-8FD1D0DCEC8C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-2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EE65C3E-06AF-4C42-8263-C52A58571A6E}"/>
              </a:ext>
            </a:extLst>
          </p:cNvPr>
          <p:cNvGrpSpPr/>
          <p:nvPr/>
        </p:nvGrpSpPr>
        <p:grpSpPr>
          <a:xfrm>
            <a:off x="2194395" y="1363067"/>
            <a:ext cx="942535" cy="866212"/>
            <a:chOff x="2222532" y="1363061"/>
            <a:chExt cx="942535" cy="866212"/>
          </a:xfrm>
        </p:grpSpPr>
        <p:sp>
          <p:nvSpPr>
            <p:cNvPr id="54" name="Curved Up Arrow 53">
              <a:extLst>
                <a:ext uri="{FF2B5EF4-FFF2-40B4-BE49-F238E27FC236}">
                  <a16:creationId xmlns:a16="http://schemas.microsoft.com/office/drawing/2014/main" id="{8649C7DF-DE5B-B14A-8DC9-D1F361FC7779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19F8DF1-0882-3842-8290-E15952DE3F9B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54D15DF-57A0-E449-8364-5FFB056128E2}"/>
              </a:ext>
            </a:extLst>
          </p:cNvPr>
          <p:cNvGrpSpPr/>
          <p:nvPr/>
        </p:nvGrpSpPr>
        <p:grpSpPr>
          <a:xfrm>
            <a:off x="3380465" y="1363067"/>
            <a:ext cx="942535" cy="866212"/>
            <a:chOff x="2222532" y="1363061"/>
            <a:chExt cx="942535" cy="866212"/>
          </a:xfrm>
        </p:grpSpPr>
        <p:sp>
          <p:nvSpPr>
            <p:cNvPr id="57" name="Curved Up Arrow 56">
              <a:extLst>
                <a:ext uri="{FF2B5EF4-FFF2-40B4-BE49-F238E27FC236}">
                  <a16:creationId xmlns:a16="http://schemas.microsoft.com/office/drawing/2014/main" id="{DD654D2D-0DC4-6C4E-AA80-1AAD40B72DC7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D83CEE7-81E2-D546-8E11-54FCF0212421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A935787-C62C-1549-8632-57E5339A3A7E}"/>
              </a:ext>
            </a:extLst>
          </p:cNvPr>
          <p:cNvGrpSpPr/>
          <p:nvPr/>
        </p:nvGrpSpPr>
        <p:grpSpPr>
          <a:xfrm>
            <a:off x="4493647" y="1363067"/>
            <a:ext cx="942535" cy="866212"/>
            <a:chOff x="2222532" y="1363061"/>
            <a:chExt cx="942535" cy="866212"/>
          </a:xfrm>
        </p:grpSpPr>
        <p:sp>
          <p:nvSpPr>
            <p:cNvPr id="60" name="Curved Up Arrow 59">
              <a:extLst>
                <a:ext uri="{FF2B5EF4-FFF2-40B4-BE49-F238E27FC236}">
                  <a16:creationId xmlns:a16="http://schemas.microsoft.com/office/drawing/2014/main" id="{0FD17240-FC50-2A41-93DC-742B4E988692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FD8545F-2CD9-1944-BC64-7A7977DBF9CB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69436C3-7A89-8D40-862F-518F5AFEE257}"/>
              </a:ext>
            </a:extLst>
          </p:cNvPr>
          <p:cNvGrpSpPr/>
          <p:nvPr/>
        </p:nvGrpSpPr>
        <p:grpSpPr>
          <a:xfrm>
            <a:off x="5679717" y="1363067"/>
            <a:ext cx="942535" cy="866212"/>
            <a:chOff x="2222532" y="1363061"/>
            <a:chExt cx="942535" cy="866212"/>
          </a:xfrm>
        </p:grpSpPr>
        <p:sp>
          <p:nvSpPr>
            <p:cNvPr id="63" name="Curved Up Arrow 62">
              <a:extLst>
                <a:ext uri="{FF2B5EF4-FFF2-40B4-BE49-F238E27FC236}">
                  <a16:creationId xmlns:a16="http://schemas.microsoft.com/office/drawing/2014/main" id="{38509918-B8C0-F54D-8E97-50B4249BC5E0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D9C6392-0DEC-B348-B536-02735509BCD2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CFA66C1-ECB3-ED4B-B061-BD2198B6A628}"/>
              </a:ext>
            </a:extLst>
          </p:cNvPr>
          <p:cNvGrpSpPr/>
          <p:nvPr/>
        </p:nvGrpSpPr>
        <p:grpSpPr>
          <a:xfrm>
            <a:off x="6786280" y="1363067"/>
            <a:ext cx="942535" cy="866212"/>
            <a:chOff x="2222532" y="1363061"/>
            <a:chExt cx="942535" cy="866212"/>
          </a:xfrm>
        </p:grpSpPr>
        <p:sp>
          <p:nvSpPr>
            <p:cNvPr id="66" name="Curved Up Arrow 65">
              <a:extLst>
                <a:ext uri="{FF2B5EF4-FFF2-40B4-BE49-F238E27FC236}">
                  <a16:creationId xmlns:a16="http://schemas.microsoft.com/office/drawing/2014/main" id="{7A671EB9-639F-6848-BD1A-99D96DC387F3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6412B5B-6E05-B64E-B4BF-2C5DBCD95254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1B6D168-FB7A-E548-A22E-7699D4F2C2CD}"/>
              </a:ext>
            </a:extLst>
          </p:cNvPr>
          <p:cNvGrpSpPr/>
          <p:nvPr/>
        </p:nvGrpSpPr>
        <p:grpSpPr>
          <a:xfrm>
            <a:off x="7972350" y="1363067"/>
            <a:ext cx="942535" cy="866212"/>
            <a:chOff x="2222532" y="1363061"/>
            <a:chExt cx="942535" cy="866212"/>
          </a:xfrm>
        </p:grpSpPr>
        <p:sp>
          <p:nvSpPr>
            <p:cNvPr id="69" name="Curved Up Arrow 68">
              <a:extLst>
                <a:ext uri="{FF2B5EF4-FFF2-40B4-BE49-F238E27FC236}">
                  <a16:creationId xmlns:a16="http://schemas.microsoft.com/office/drawing/2014/main" id="{0FEC80E2-2011-4046-AF12-BE9D5D8DB181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55A37A4-C8F9-4C4C-99A9-AF1F0D63A913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4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A41C1ACF-D998-A644-86A8-E8D0075823E6}"/>
              </a:ext>
            </a:extLst>
          </p:cNvPr>
          <p:cNvSpPr txBox="1"/>
          <p:nvPr/>
        </p:nvSpPr>
        <p:spPr>
          <a:xfrm>
            <a:off x="3044963" y="4724961"/>
            <a:ext cx="4598262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The difference = the gradient, m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Therefore in this case, m =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4BE00-F7EA-8D42-A15F-FD6C77BC0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12" y="2328545"/>
            <a:ext cx="9283976" cy="116049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F7C6E321-1F56-0646-B050-52FB553681FE}"/>
              </a:ext>
            </a:extLst>
          </p:cNvPr>
          <p:cNvGrpSpPr/>
          <p:nvPr/>
        </p:nvGrpSpPr>
        <p:grpSpPr>
          <a:xfrm>
            <a:off x="2146497" y="3641036"/>
            <a:ext cx="942535" cy="981171"/>
            <a:chOff x="2146497" y="3245351"/>
            <a:chExt cx="942535" cy="981171"/>
          </a:xfrm>
        </p:grpSpPr>
        <p:sp>
          <p:nvSpPr>
            <p:cNvPr id="36" name="Curved Up Arrow 35">
              <a:extLst>
                <a:ext uri="{FF2B5EF4-FFF2-40B4-BE49-F238E27FC236}">
                  <a16:creationId xmlns:a16="http://schemas.microsoft.com/office/drawing/2014/main" id="{4E09A4E5-E980-4B4E-8775-44477C36F051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5E53950-B278-3D4F-82CD-89C721CCBE94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9247A9E-07BD-B54F-A26F-3AC3A858810E}"/>
              </a:ext>
            </a:extLst>
          </p:cNvPr>
          <p:cNvGrpSpPr/>
          <p:nvPr/>
        </p:nvGrpSpPr>
        <p:grpSpPr>
          <a:xfrm>
            <a:off x="3292312" y="3641036"/>
            <a:ext cx="942535" cy="981171"/>
            <a:chOff x="2146497" y="3245351"/>
            <a:chExt cx="942535" cy="981171"/>
          </a:xfrm>
        </p:grpSpPr>
        <p:sp>
          <p:nvSpPr>
            <p:cNvPr id="39" name="Curved Up Arrow 38">
              <a:extLst>
                <a:ext uri="{FF2B5EF4-FFF2-40B4-BE49-F238E27FC236}">
                  <a16:creationId xmlns:a16="http://schemas.microsoft.com/office/drawing/2014/main" id="{56B58405-79B3-EF42-8414-32A4767C6B84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853C4A6-8FA6-E546-86BF-BD116E2733C0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E62734-6E48-9847-B5F0-EB2246AE710A}"/>
              </a:ext>
            </a:extLst>
          </p:cNvPr>
          <p:cNvGrpSpPr/>
          <p:nvPr/>
        </p:nvGrpSpPr>
        <p:grpSpPr>
          <a:xfrm>
            <a:off x="4438127" y="3641036"/>
            <a:ext cx="942535" cy="981171"/>
            <a:chOff x="2146497" y="3245351"/>
            <a:chExt cx="942535" cy="981171"/>
          </a:xfrm>
        </p:grpSpPr>
        <p:sp>
          <p:nvSpPr>
            <p:cNvPr id="42" name="Curved Up Arrow 41">
              <a:extLst>
                <a:ext uri="{FF2B5EF4-FFF2-40B4-BE49-F238E27FC236}">
                  <a16:creationId xmlns:a16="http://schemas.microsoft.com/office/drawing/2014/main" id="{0D512712-4E40-4D45-B535-27404DABA0E1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F3249F9-89A8-F24C-A0C2-3B40D13D8468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CAABC7-5067-E646-A928-CECAA868E254}"/>
              </a:ext>
            </a:extLst>
          </p:cNvPr>
          <p:cNvGrpSpPr/>
          <p:nvPr/>
        </p:nvGrpSpPr>
        <p:grpSpPr>
          <a:xfrm>
            <a:off x="5583942" y="3641036"/>
            <a:ext cx="942535" cy="981171"/>
            <a:chOff x="2146497" y="3245351"/>
            <a:chExt cx="942535" cy="981171"/>
          </a:xfrm>
        </p:grpSpPr>
        <p:sp>
          <p:nvSpPr>
            <p:cNvPr id="45" name="Curved Up Arrow 44">
              <a:extLst>
                <a:ext uri="{FF2B5EF4-FFF2-40B4-BE49-F238E27FC236}">
                  <a16:creationId xmlns:a16="http://schemas.microsoft.com/office/drawing/2014/main" id="{76339686-F046-A641-AF08-507B5F0B4488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ACCDA51-8A5F-AB4E-8072-C83F5EC75A3E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A93F95B-3AC5-1048-8F4F-3BF2EB91B77D}"/>
              </a:ext>
            </a:extLst>
          </p:cNvPr>
          <p:cNvGrpSpPr/>
          <p:nvPr/>
        </p:nvGrpSpPr>
        <p:grpSpPr>
          <a:xfrm>
            <a:off x="6729757" y="3641036"/>
            <a:ext cx="942535" cy="981171"/>
            <a:chOff x="2146497" y="3245351"/>
            <a:chExt cx="942535" cy="981171"/>
          </a:xfrm>
        </p:grpSpPr>
        <p:sp>
          <p:nvSpPr>
            <p:cNvPr id="48" name="Curved Up Arrow 47">
              <a:extLst>
                <a:ext uri="{FF2B5EF4-FFF2-40B4-BE49-F238E27FC236}">
                  <a16:creationId xmlns:a16="http://schemas.microsoft.com/office/drawing/2014/main" id="{58D85FA8-1E9C-2940-9381-F904B8736A93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FE209E3-700C-8D43-8B67-E1FD28EDBA49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48BE2C1-0FD8-BF4B-A7E3-9CF545F3D938}"/>
              </a:ext>
            </a:extLst>
          </p:cNvPr>
          <p:cNvGrpSpPr/>
          <p:nvPr/>
        </p:nvGrpSpPr>
        <p:grpSpPr>
          <a:xfrm>
            <a:off x="7875574" y="3641036"/>
            <a:ext cx="942535" cy="981171"/>
            <a:chOff x="2146497" y="3245351"/>
            <a:chExt cx="942535" cy="981171"/>
          </a:xfrm>
        </p:grpSpPr>
        <p:sp>
          <p:nvSpPr>
            <p:cNvPr id="51" name="Curved Up Arrow 50">
              <a:extLst>
                <a:ext uri="{FF2B5EF4-FFF2-40B4-BE49-F238E27FC236}">
                  <a16:creationId xmlns:a16="http://schemas.microsoft.com/office/drawing/2014/main" id="{C337FCCE-F1D6-6E4B-A35E-F5EA8A345F9E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B308707-C694-6947-B712-3204F34C4090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382094A-DA9A-374D-816E-690425DE9DB8}"/>
              </a:ext>
            </a:extLst>
          </p:cNvPr>
          <p:cNvGrpSpPr/>
          <p:nvPr/>
        </p:nvGrpSpPr>
        <p:grpSpPr>
          <a:xfrm>
            <a:off x="2152193" y="1447473"/>
            <a:ext cx="942535" cy="866212"/>
            <a:chOff x="2222532" y="1363061"/>
            <a:chExt cx="942535" cy="866212"/>
          </a:xfrm>
        </p:grpSpPr>
        <p:sp>
          <p:nvSpPr>
            <p:cNvPr id="54" name="Curved Up Arrow 53">
              <a:extLst>
                <a:ext uri="{FF2B5EF4-FFF2-40B4-BE49-F238E27FC236}">
                  <a16:creationId xmlns:a16="http://schemas.microsoft.com/office/drawing/2014/main" id="{1C9627D2-DBD8-6B47-9CAA-A2A8EF4D31F2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EC8A4DD-4A0E-7A43-B3BB-36F138A25868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876CB6E-3570-424E-B44B-0A8807AD006D}"/>
              </a:ext>
            </a:extLst>
          </p:cNvPr>
          <p:cNvGrpSpPr/>
          <p:nvPr/>
        </p:nvGrpSpPr>
        <p:grpSpPr>
          <a:xfrm>
            <a:off x="3338263" y="1447473"/>
            <a:ext cx="942535" cy="866212"/>
            <a:chOff x="2222532" y="1363061"/>
            <a:chExt cx="942535" cy="866212"/>
          </a:xfrm>
        </p:grpSpPr>
        <p:sp>
          <p:nvSpPr>
            <p:cNvPr id="57" name="Curved Up Arrow 56">
              <a:extLst>
                <a:ext uri="{FF2B5EF4-FFF2-40B4-BE49-F238E27FC236}">
                  <a16:creationId xmlns:a16="http://schemas.microsoft.com/office/drawing/2014/main" id="{C1E2E5BE-4265-7D4D-87A7-4AAC5EB5B42E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199D51F-A57D-C84F-885E-C269D57E0F58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4AB42C9-B997-6447-A8FF-9971AAE6BB21}"/>
              </a:ext>
            </a:extLst>
          </p:cNvPr>
          <p:cNvGrpSpPr/>
          <p:nvPr/>
        </p:nvGrpSpPr>
        <p:grpSpPr>
          <a:xfrm>
            <a:off x="4451445" y="1447473"/>
            <a:ext cx="942535" cy="866212"/>
            <a:chOff x="2222532" y="1363061"/>
            <a:chExt cx="942535" cy="866212"/>
          </a:xfrm>
        </p:grpSpPr>
        <p:sp>
          <p:nvSpPr>
            <p:cNvPr id="60" name="Curved Up Arrow 59">
              <a:extLst>
                <a:ext uri="{FF2B5EF4-FFF2-40B4-BE49-F238E27FC236}">
                  <a16:creationId xmlns:a16="http://schemas.microsoft.com/office/drawing/2014/main" id="{4ACAA38A-E259-1C49-8770-C0DAE68F1B92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FDCAE80-630E-D64A-9E92-48187C84F7BC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1C59F42-49B1-904A-B516-2446E58C23DD}"/>
              </a:ext>
            </a:extLst>
          </p:cNvPr>
          <p:cNvGrpSpPr/>
          <p:nvPr/>
        </p:nvGrpSpPr>
        <p:grpSpPr>
          <a:xfrm>
            <a:off x="5637515" y="1447473"/>
            <a:ext cx="942535" cy="866212"/>
            <a:chOff x="2222532" y="1363061"/>
            <a:chExt cx="942535" cy="866212"/>
          </a:xfrm>
        </p:grpSpPr>
        <p:sp>
          <p:nvSpPr>
            <p:cNvPr id="63" name="Curved Up Arrow 62">
              <a:extLst>
                <a:ext uri="{FF2B5EF4-FFF2-40B4-BE49-F238E27FC236}">
                  <a16:creationId xmlns:a16="http://schemas.microsoft.com/office/drawing/2014/main" id="{99DB589A-6C9B-CC47-85A7-867C6D3B7674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11F424A-FDE7-B444-85C4-E94C60AF9AC4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B0DF763-5158-AD44-8696-CFD63F663665}"/>
              </a:ext>
            </a:extLst>
          </p:cNvPr>
          <p:cNvGrpSpPr/>
          <p:nvPr/>
        </p:nvGrpSpPr>
        <p:grpSpPr>
          <a:xfrm>
            <a:off x="6744078" y="1447473"/>
            <a:ext cx="942535" cy="866212"/>
            <a:chOff x="2222532" y="1363061"/>
            <a:chExt cx="942535" cy="866212"/>
          </a:xfrm>
        </p:grpSpPr>
        <p:sp>
          <p:nvSpPr>
            <p:cNvPr id="66" name="Curved Up Arrow 65">
              <a:extLst>
                <a:ext uri="{FF2B5EF4-FFF2-40B4-BE49-F238E27FC236}">
                  <a16:creationId xmlns:a16="http://schemas.microsoft.com/office/drawing/2014/main" id="{D090452E-C7DF-F64C-BA52-5FD232DAF3DC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3415A41-C119-0C45-92D9-F615B07D66EA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87CA7A8-CBFC-484F-862D-C6FA3717938D}"/>
              </a:ext>
            </a:extLst>
          </p:cNvPr>
          <p:cNvGrpSpPr/>
          <p:nvPr/>
        </p:nvGrpSpPr>
        <p:grpSpPr>
          <a:xfrm>
            <a:off x="7930148" y="1447473"/>
            <a:ext cx="942535" cy="866212"/>
            <a:chOff x="2222532" y="1363061"/>
            <a:chExt cx="942535" cy="866212"/>
          </a:xfrm>
        </p:grpSpPr>
        <p:sp>
          <p:nvSpPr>
            <p:cNvPr id="69" name="Curved Up Arrow 68">
              <a:extLst>
                <a:ext uri="{FF2B5EF4-FFF2-40B4-BE49-F238E27FC236}">
                  <a16:creationId xmlns:a16="http://schemas.microsoft.com/office/drawing/2014/main" id="{387DD659-82B3-D64B-9B66-B3748067D25C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15AC2DA-DAD6-5C4D-831B-5633DD290B59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50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2E7053-A1FA-2646-8A90-F85ADA86A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52" y="1800665"/>
            <a:ext cx="8660214" cy="192727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B4E064B-A026-304C-BB66-4281E15150B1}"/>
              </a:ext>
            </a:extLst>
          </p:cNvPr>
          <p:cNvGrpSpPr/>
          <p:nvPr/>
        </p:nvGrpSpPr>
        <p:grpSpPr>
          <a:xfrm>
            <a:off x="3103104" y="3514425"/>
            <a:ext cx="942535" cy="981171"/>
            <a:chOff x="2146497" y="3245351"/>
            <a:chExt cx="942535" cy="981171"/>
          </a:xfrm>
        </p:grpSpPr>
        <p:sp>
          <p:nvSpPr>
            <p:cNvPr id="7" name="Curved Up Arrow 6">
              <a:extLst>
                <a:ext uri="{FF2B5EF4-FFF2-40B4-BE49-F238E27FC236}">
                  <a16:creationId xmlns:a16="http://schemas.microsoft.com/office/drawing/2014/main" id="{D6B038AA-11F0-0847-9391-137C4139C339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A57CB8-6D64-AA45-B428-EA583D89310F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7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1C12CC-FDD2-7C4F-82C4-2E5329E78555}"/>
              </a:ext>
            </a:extLst>
          </p:cNvPr>
          <p:cNvGrpSpPr/>
          <p:nvPr/>
        </p:nvGrpSpPr>
        <p:grpSpPr>
          <a:xfrm>
            <a:off x="4248919" y="3514425"/>
            <a:ext cx="942535" cy="981171"/>
            <a:chOff x="2146497" y="3245351"/>
            <a:chExt cx="942535" cy="981171"/>
          </a:xfrm>
        </p:grpSpPr>
        <p:sp>
          <p:nvSpPr>
            <p:cNvPr id="10" name="Curved Up Arrow 9">
              <a:extLst>
                <a:ext uri="{FF2B5EF4-FFF2-40B4-BE49-F238E27FC236}">
                  <a16:creationId xmlns:a16="http://schemas.microsoft.com/office/drawing/2014/main" id="{C1941792-ABF1-2440-A987-CC27AAF9C04B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AD6613-57B6-C748-B576-6AE5FD2579E8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9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6DFF21-8A06-8C4A-A36D-6B549C885806}"/>
              </a:ext>
            </a:extLst>
          </p:cNvPr>
          <p:cNvGrpSpPr/>
          <p:nvPr/>
        </p:nvGrpSpPr>
        <p:grpSpPr>
          <a:xfrm>
            <a:off x="5324394" y="3514425"/>
            <a:ext cx="942535" cy="981171"/>
            <a:chOff x="2146497" y="3245351"/>
            <a:chExt cx="942535" cy="981171"/>
          </a:xfrm>
        </p:grpSpPr>
        <p:sp>
          <p:nvSpPr>
            <p:cNvPr id="13" name="Curved Up Arrow 12">
              <a:extLst>
                <a:ext uri="{FF2B5EF4-FFF2-40B4-BE49-F238E27FC236}">
                  <a16:creationId xmlns:a16="http://schemas.microsoft.com/office/drawing/2014/main" id="{D919F173-10D9-6145-9E36-FEFA6E6E3000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B88B86E-84E4-C94A-84F2-7AA915D32349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585AD5-B148-C54B-B48F-140AEB92DAD0}"/>
              </a:ext>
            </a:extLst>
          </p:cNvPr>
          <p:cNvGrpSpPr/>
          <p:nvPr/>
        </p:nvGrpSpPr>
        <p:grpSpPr>
          <a:xfrm>
            <a:off x="6357665" y="3514425"/>
            <a:ext cx="942535" cy="981171"/>
            <a:chOff x="2146497" y="3245351"/>
            <a:chExt cx="942535" cy="981171"/>
          </a:xfrm>
        </p:grpSpPr>
        <p:sp>
          <p:nvSpPr>
            <p:cNvPr id="16" name="Curved Up Arrow 15">
              <a:extLst>
                <a:ext uri="{FF2B5EF4-FFF2-40B4-BE49-F238E27FC236}">
                  <a16:creationId xmlns:a16="http://schemas.microsoft.com/office/drawing/2014/main" id="{AEDEED43-FF3D-D44A-9A1B-8E860234CA3F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72AC10-4F43-DD4A-A2BA-B11AC89ABC56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13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67E712-A703-5546-A414-19DEB09E6A68}"/>
              </a:ext>
            </a:extLst>
          </p:cNvPr>
          <p:cNvGrpSpPr/>
          <p:nvPr/>
        </p:nvGrpSpPr>
        <p:grpSpPr>
          <a:xfrm>
            <a:off x="7503480" y="3514425"/>
            <a:ext cx="942535" cy="981171"/>
            <a:chOff x="2146497" y="3245351"/>
            <a:chExt cx="942535" cy="981171"/>
          </a:xfrm>
        </p:grpSpPr>
        <p:sp>
          <p:nvSpPr>
            <p:cNvPr id="19" name="Curved Up Arrow 18">
              <a:extLst>
                <a:ext uri="{FF2B5EF4-FFF2-40B4-BE49-F238E27FC236}">
                  <a16:creationId xmlns:a16="http://schemas.microsoft.com/office/drawing/2014/main" id="{49DF5395-6173-4948-8404-E7AB056DA6A9}"/>
                </a:ext>
              </a:extLst>
            </p:cNvPr>
            <p:cNvSpPr/>
            <p:nvPr/>
          </p:nvSpPr>
          <p:spPr>
            <a:xfrm>
              <a:off x="2146497" y="3245351"/>
              <a:ext cx="942535" cy="43609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259DBA-D993-9446-8892-00FEF1247883}"/>
                </a:ext>
              </a:extLst>
            </p:cNvPr>
            <p:cNvSpPr txBox="1"/>
            <p:nvPr/>
          </p:nvSpPr>
          <p:spPr>
            <a:xfrm>
              <a:off x="2357512" y="3826412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15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3981D5-2F48-D44C-B551-E6D9DB1C2649}"/>
              </a:ext>
            </a:extLst>
          </p:cNvPr>
          <p:cNvGrpSpPr/>
          <p:nvPr/>
        </p:nvGrpSpPr>
        <p:grpSpPr>
          <a:xfrm>
            <a:off x="3108800" y="1095780"/>
            <a:ext cx="942535" cy="866212"/>
            <a:chOff x="2222532" y="1363061"/>
            <a:chExt cx="942535" cy="866212"/>
          </a:xfrm>
        </p:grpSpPr>
        <p:sp>
          <p:nvSpPr>
            <p:cNvPr id="22" name="Curved Up Arrow 21">
              <a:extLst>
                <a:ext uri="{FF2B5EF4-FFF2-40B4-BE49-F238E27FC236}">
                  <a16:creationId xmlns:a16="http://schemas.microsoft.com/office/drawing/2014/main" id="{9EFB6F77-FC1F-A846-A540-C6AA8DFCB8FA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991D47-BB95-0E4F-94D6-4EA537847798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1A35836-7348-FD43-834B-4FE3E7D8735E}"/>
              </a:ext>
            </a:extLst>
          </p:cNvPr>
          <p:cNvGrpSpPr/>
          <p:nvPr/>
        </p:nvGrpSpPr>
        <p:grpSpPr>
          <a:xfrm>
            <a:off x="4294870" y="1095780"/>
            <a:ext cx="942535" cy="866212"/>
            <a:chOff x="2222532" y="1363061"/>
            <a:chExt cx="942535" cy="866212"/>
          </a:xfrm>
        </p:grpSpPr>
        <p:sp>
          <p:nvSpPr>
            <p:cNvPr id="25" name="Curved Up Arrow 24">
              <a:extLst>
                <a:ext uri="{FF2B5EF4-FFF2-40B4-BE49-F238E27FC236}">
                  <a16:creationId xmlns:a16="http://schemas.microsoft.com/office/drawing/2014/main" id="{5B4F2ACF-831E-F84C-8833-3E4412C8DFD7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03608D-E06E-1742-8AAD-9B85F18C1A85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DEC3A6-1C1F-1A4C-9546-1B332FB7E71E}"/>
              </a:ext>
            </a:extLst>
          </p:cNvPr>
          <p:cNvGrpSpPr/>
          <p:nvPr/>
        </p:nvGrpSpPr>
        <p:grpSpPr>
          <a:xfrm>
            <a:off x="5337712" y="1095780"/>
            <a:ext cx="942535" cy="866212"/>
            <a:chOff x="2222532" y="1363061"/>
            <a:chExt cx="942535" cy="866212"/>
          </a:xfrm>
        </p:grpSpPr>
        <p:sp>
          <p:nvSpPr>
            <p:cNvPr id="28" name="Curved Up Arrow 27">
              <a:extLst>
                <a:ext uri="{FF2B5EF4-FFF2-40B4-BE49-F238E27FC236}">
                  <a16:creationId xmlns:a16="http://schemas.microsoft.com/office/drawing/2014/main" id="{697A5B9C-F4C0-DC40-B8D4-CAF21E917F44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997C4E-2D6A-CA4F-A1FA-9D481C8C61D9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524061-0262-3D4E-A2C7-B480C12B65D6}"/>
              </a:ext>
            </a:extLst>
          </p:cNvPr>
          <p:cNvGrpSpPr/>
          <p:nvPr/>
        </p:nvGrpSpPr>
        <p:grpSpPr>
          <a:xfrm>
            <a:off x="6411238" y="1095780"/>
            <a:ext cx="942535" cy="866212"/>
            <a:chOff x="2222532" y="1363061"/>
            <a:chExt cx="942535" cy="866212"/>
          </a:xfrm>
        </p:grpSpPr>
        <p:sp>
          <p:nvSpPr>
            <p:cNvPr id="31" name="Curved Up Arrow 30">
              <a:extLst>
                <a:ext uri="{FF2B5EF4-FFF2-40B4-BE49-F238E27FC236}">
                  <a16:creationId xmlns:a16="http://schemas.microsoft.com/office/drawing/2014/main" id="{A0BE925F-2B40-0B48-AFBD-EBA5A5DD1038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C01195E-F225-DD4C-B0A3-BBA808F348B3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CB5DAA-BF81-294A-BF3E-3FA35BA0F779}"/>
              </a:ext>
            </a:extLst>
          </p:cNvPr>
          <p:cNvGrpSpPr/>
          <p:nvPr/>
        </p:nvGrpSpPr>
        <p:grpSpPr>
          <a:xfrm>
            <a:off x="7517801" y="1095780"/>
            <a:ext cx="942535" cy="866212"/>
            <a:chOff x="2222532" y="1363061"/>
            <a:chExt cx="942535" cy="866212"/>
          </a:xfrm>
        </p:grpSpPr>
        <p:sp>
          <p:nvSpPr>
            <p:cNvPr id="34" name="Curved Up Arrow 33">
              <a:extLst>
                <a:ext uri="{FF2B5EF4-FFF2-40B4-BE49-F238E27FC236}">
                  <a16:creationId xmlns:a16="http://schemas.microsoft.com/office/drawing/2014/main" id="{33CBF440-2956-B141-B98A-4EF72B114DBD}"/>
                </a:ext>
              </a:extLst>
            </p:cNvPr>
            <p:cNvSpPr/>
            <p:nvPr/>
          </p:nvSpPr>
          <p:spPr>
            <a:xfrm flipV="1">
              <a:off x="2222532" y="1793174"/>
              <a:ext cx="942535" cy="436099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6372761-D91D-E946-A9BB-1B26F9D77F00}"/>
                </a:ext>
              </a:extLst>
            </p:cNvPr>
            <p:cNvSpPr txBox="1"/>
            <p:nvPr/>
          </p:nvSpPr>
          <p:spPr>
            <a:xfrm>
              <a:off x="2433546" y="1363061"/>
              <a:ext cx="520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1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DF6918A-ED07-8A42-9307-2A6E397E5218}"/>
              </a:ext>
            </a:extLst>
          </p:cNvPr>
          <p:cNvSpPr/>
          <p:nvPr/>
        </p:nvSpPr>
        <p:spPr>
          <a:xfrm>
            <a:off x="2912013" y="4018566"/>
            <a:ext cx="5809957" cy="5956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5D3C26-75CE-8B45-BDDD-07B6844D47A3}"/>
              </a:ext>
            </a:extLst>
          </p:cNvPr>
          <p:cNvSpPr txBox="1"/>
          <p:nvPr/>
        </p:nvSpPr>
        <p:spPr>
          <a:xfrm>
            <a:off x="2912013" y="4904831"/>
            <a:ext cx="58469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Difference is not constant, therefore this graph is not a linear graph.</a:t>
            </a:r>
          </a:p>
        </p:txBody>
      </p:sp>
    </p:spTree>
    <p:extLst>
      <p:ext uri="{BB962C8B-B14F-4D97-AF65-F5344CB8AC3E}">
        <p14:creationId xmlns:p14="http://schemas.microsoft.com/office/powerpoint/2010/main" val="214405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6"/>
          <a:stretch/>
        </p:blipFill>
        <p:spPr>
          <a:xfrm>
            <a:off x="198448" y="-2644"/>
            <a:ext cx="5246053" cy="6860644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114816" y="413359"/>
            <a:ext cx="0" cy="5373666"/>
          </a:xfrm>
          <a:prstGeom prst="line">
            <a:avLst/>
          </a:prstGeom>
          <a:ln w="3810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1114817" y="5787026"/>
            <a:ext cx="3920822" cy="1"/>
          </a:xfrm>
          <a:prstGeom prst="line">
            <a:avLst/>
          </a:prstGeom>
          <a:ln w="3810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3944" y="206062"/>
            <a:ext cx="334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6016" y="5804897"/>
            <a:ext cx="399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171" y="5722347"/>
            <a:ext cx="399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1468192" y="2562896"/>
            <a:ext cx="2498501" cy="284623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1369" y="5017583"/>
            <a:ext cx="99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(2,2)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2727" y="2161225"/>
            <a:ext cx="1103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 (16,18)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1495876" y="5409127"/>
            <a:ext cx="2470817" cy="2388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966693" y="2562896"/>
            <a:ext cx="0" cy="281491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45128" y="5307241"/>
            <a:ext cx="1002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4311" y="4138099"/>
            <a:ext cx="1002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108556" y="246618"/>
                <a:ext cx="2481652" cy="719108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Gradient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charset="0"/>
                          </a:rPr>
                          <m:t>𝑟𝑖𝑠𝑒</m:t>
                        </m:r>
                      </m:num>
                      <m:den>
                        <m:r>
                          <a:rPr lang="en-AU" sz="2800" b="0" i="1" smtClean="0">
                            <a:latin typeface="Cambria Math" charset="0"/>
                          </a:rPr>
                          <m:t>𝑟𝑢𝑛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556" y="246618"/>
                <a:ext cx="2481652" cy="719108"/>
              </a:xfrm>
              <a:prstGeom prst="rect">
                <a:avLst/>
              </a:prstGeom>
              <a:blipFill rotWithShape="0">
                <a:blip r:embed="rId3"/>
                <a:stretch>
                  <a:fillRect l="-4116" b="-8065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545158" y="1153512"/>
                <a:ext cx="4128370" cy="5095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rgbClr val="FF0000"/>
                    </a:solidFill>
                  </a:rPr>
                  <a:t>Run</a:t>
                </a:r>
                <a:r>
                  <a:rPr lang="en-US" dirty="0"/>
                  <a:t> is the change in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values when we move from A to B. </a:t>
                </a:r>
                <a:r>
                  <a:rPr lang="en-US" b="1" dirty="0">
                    <a:solidFill>
                      <a:srgbClr val="FF0000"/>
                    </a:solidFill>
                  </a:rPr>
                  <a:t>[HORIZONTAL]</a:t>
                </a:r>
              </a:p>
              <a:p>
                <a:endParaRPr lang="en-US" dirty="0"/>
              </a:p>
              <a:p>
                <a:r>
                  <a:rPr lang="en-US" b="1" i="1" dirty="0">
                    <a:solidFill>
                      <a:srgbClr val="FF0000"/>
                    </a:solidFill>
                  </a:rPr>
                  <a:t>Rise</a:t>
                </a:r>
                <a:r>
                  <a:rPr lang="en-US" dirty="0"/>
                  <a:t> is the change in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y</a:t>
                </a:r>
                <a:r>
                  <a:rPr lang="en-US" dirty="0"/>
                  <a:t> values when we move from A to B. </a:t>
                </a:r>
                <a:r>
                  <a:rPr lang="en-US" b="1" dirty="0">
                    <a:solidFill>
                      <a:srgbClr val="FF0000"/>
                    </a:solidFill>
                  </a:rPr>
                  <a:t>[VERTICAL]</a:t>
                </a:r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In the case,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Run</a:t>
                </a:r>
                <a:r>
                  <a:rPr lang="en-US" dirty="0"/>
                  <a:t> = 16 </a:t>
                </a:r>
                <a:r>
                  <a:rPr lang="mr-IN" dirty="0"/>
                  <a:t>–</a:t>
                </a:r>
                <a:r>
                  <a:rPr lang="en-US" dirty="0"/>
                  <a:t> 2 = 14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Rise</a:t>
                </a:r>
                <a:r>
                  <a:rPr lang="en-US" dirty="0"/>
                  <a:t> = 18 </a:t>
                </a:r>
                <a:r>
                  <a:rPr lang="mr-IN" dirty="0"/>
                  <a:t>–</a:t>
                </a:r>
                <a:r>
                  <a:rPr lang="en-US" dirty="0"/>
                  <a:t> 2 = 16</a:t>
                </a:r>
              </a:p>
              <a:p>
                <a:endParaRPr lang="en-US" dirty="0"/>
              </a:p>
              <a:p>
                <a:r>
                  <a:rPr lang="en-US" dirty="0"/>
                  <a:t>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charset="0"/>
                          </a:rPr>
                          <m:t>𝑟𝑖𝑠𝑒</m:t>
                        </m:r>
                      </m:num>
                      <m:den>
                        <m:r>
                          <a:rPr lang="en-AU" sz="2000" i="1">
                            <a:latin typeface="Cambria Math" charset="0"/>
                          </a:rPr>
                          <m:t>𝑟𝑢𝑛</m:t>
                        </m:r>
                      </m:den>
                    </m:f>
                    <m:r>
                      <a:rPr lang="en-AU" sz="2000" b="0" i="0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charset="0"/>
                          </a:rPr>
                          <m:t>16</m:t>
                        </m:r>
                      </m:num>
                      <m:den>
                        <m:r>
                          <a:rPr lang="en-AU" sz="2000" b="0" i="1" smtClean="0">
                            <a:latin typeface="Cambria Math" charset="0"/>
                          </a:rPr>
                          <m:t>14</m:t>
                        </m:r>
                      </m:den>
                    </m:f>
                    <m:r>
                      <a:rPr lang="en-AU" sz="20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charset="0"/>
                          </a:rPr>
                          <m:t>8</m:t>
                        </m:r>
                      </m:num>
                      <m:den>
                        <m:r>
                          <a:rPr lang="en-AU" sz="2000" b="0" i="1" smtClean="0">
                            <a:latin typeface="Cambria Math" charset="0"/>
                          </a:rPr>
                          <m:t>7</m:t>
                        </m:r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As we move from A to B, the y value increases as the x value increases.  This gradient is </a:t>
                </a:r>
                <a:r>
                  <a:rPr lang="en-US" sz="2000" b="1" i="1" dirty="0">
                    <a:solidFill>
                      <a:srgbClr val="FF0000"/>
                    </a:solidFill>
                  </a:rPr>
                  <a:t>positive</a:t>
                </a: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158" y="1153512"/>
                <a:ext cx="4128370" cy="5095177"/>
              </a:xfrm>
              <a:prstGeom prst="rect">
                <a:avLst/>
              </a:prstGeom>
              <a:blipFill rotWithShape="0">
                <a:blip r:embed="rId4"/>
                <a:stretch>
                  <a:fillRect l="-1625" t="-598" b="-1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403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6"/>
          <a:stretch/>
        </p:blipFill>
        <p:spPr>
          <a:xfrm>
            <a:off x="198448" y="-2644"/>
            <a:ext cx="5246053" cy="6860644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911418" y="875023"/>
            <a:ext cx="0" cy="5373666"/>
          </a:xfrm>
          <a:prstGeom prst="line">
            <a:avLst/>
          </a:prstGeom>
          <a:ln w="3810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1114817" y="5787026"/>
            <a:ext cx="3920822" cy="1"/>
          </a:xfrm>
          <a:prstGeom prst="line">
            <a:avLst/>
          </a:prstGeom>
          <a:ln w="3810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993" y="381323"/>
            <a:ext cx="334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6016" y="5804897"/>
            <a:ext cx="399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171" y="5722347"/>
            <a:ext cx="399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287887" y="2567191"/>
            <a:ext cx="2546047" cy="198661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8830" y="2152701"/>
            <a:ext cx="99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(-8,18)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012" y="4167525"/>
            <a:ext cx="1103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 (5,7)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287887" y="2594209"/>
            <a:ext cx="12878" cy="194264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73146" y="4545333"/>
            <a:ext cx="1002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851" y="3288563"/>
            <a:ext cx="1002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444501" y="255489"/>
                <a:ext cx="4128370" cy="3522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the case, the gradient for the line AB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Run</a:t>
                </a:r>
                <a:r>
                  <a:rPr lang="en-US" dirty="0"/>
                  <a:t> = </a:t>
                </a:r>
                <a:r>
                  <a:rPr lang="en-AU" dirty="0"/>
                  <a:t>5</a:t>
                </a:r>
                <a:r>
                  <a:rPr lang="en-US" dirty="0"/>
                  <a:t> </a:t>
                </a:r>
                <a:r>
                  <a:rPr lang="mr-IN" dirty="0"/>
                  <a:t>–</a:t>
                </a:r>
                <a:r>
                  <a:rPr lang="en-US" dirty="0"/>
                  <a:t> (</a:t>
                </a:r>
                <a:r>
                  <a:rPr lang="mr-IN" dirty="0"/>
                  <a:t>– </a:t>
                </a:r>
                <a:r>
                  <a:rPr lang="en-US" dirty="0"/>
                  <a:t>8) = </a:t>
                </a:r>
                <a:r>
                  <a:rPr lang="en-AU" dirty="0"/>
                  <a:t>13 </a:t>
                </a:r>
                <a:r>
                  <a:rPr lang="en-AU" b="1" dirty="0">
                    <a:solidFill>
                      <a:srgbClr val="FF0000"/>
                    </a:solidFill>
                  </a:rPr>
                  <a:t>[HORIZONTAL]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Rise</a:t>
                </a:r>
                <a:r>
                  <a:rPr lang="en-US" dirty="0"/>
                  <a:t> = 7 </a:t>
                </a:r>
                <a:r>
                  <a:rPr lang="mr-IN" dirty="0"/>
                  <a:t>–</a:t>
                </a:r>
                <a:r>
                  <a:rPr lang="en-US" dirty="0"/>
                  <a:t> 18 = </a:t>
                </a:r>
                <a:r>
                  <a:rPr lang="mr-IN" dirty="0"/>
                  <a:t>–</a:t>
                </a:r>
                <a:r>
                  <a:rPr lang="en-AU" dirty="0"/>
                  <a:t> </a:t>
                </a:r>
                <a:r>
                  <a:rPr lang="en-US" dirty="0"/>
                  <a:t>11 </a:t>
                </a:r>
                <a:r>
                  <a:rPr lang="en-US" b="1" dirty="0">
                    <a:solidFill>
                      <a:srgbClr val="FF0000"/>
                    </a:solidFill>
                  </a:rPr>
                  <a:t>[VERTICAL]</a:t>
                </a:r>
              </a:p>
              <a:p>
                <a:endParaRPr lang="en-US" dirty="0"/>
              </a:p>
              <a:p>
                <a:r>
                  <a:rPr lang="en-US" dirty="0"/>
                  <a:t>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charset="0"/>
                          </a:rPr>
                          <m:t>𝑟𝑖𝑠𝑒</m:t>
                        </m:r>
                      </m:num>
                      <m:den>
                        <m:r>
                          <a:rPr lang="en-AU" sz="2400" i="1">
                            <a:latin typeface="Cambria Math" charset="0"/>
                          </a:rPr>
                          <m:t>𝑟𝑢𝑛</m:t>
                        </m:r>
                      </m:den>
                    </m:f>
                    <m:r>
                      <a:rPr lang="en-AU" sz="2400" b="0" i="0" smtClean="0">
                        <a:latin typeface="Cambria Math" charset="0"/>
                      </a:rPr>
                      <m:t>=</m:t>
                    </m:r>
                    <m:r>
                      <m:rPr>
                        <m:nor/>
                      </m:rPr>
                      <a:rPr lang="mr-IN" sz="2000" dirty="0"/>
                      <m:t>–</m:t>
                    </m:r>
                    <m:r>
                      <a:rPr lang="en-AU" sz="2000" b="0" i="1" dirty="0" smtClean="0">
                        <a:latin typeface="Cambria Math" charset="0"/>
                      </a:rPr>
                      <m:t> </m:t>
                    </m:r>
                    <m:f>
                      <m:fPr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charset="0"/>
                          </a:rPr>
                          <m:t>11</m:t>
                        </m:r>
                      </m:num>
                      <m:den>
                        <m:r>
                          <a:rPr lang="en-AU" sz="2400" b="0" i="1" smtClean="0">
                            <a:latin typeface="Cambria Math" charset="0"/>
                          </a:rPr>
                          <m:t>13</m:t>
                        </m:r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As we move from A to B, the y value decreases as the x value increases.  This gradient is </a:t>
                </a:r>
                <a:r>
                  <a:rPr lang="en-US" sz="2000" b="1" i="1" dirty="0">
                    <a:solidFill>
                      <a:srgbClr val="FF0000"/>
                    </a:solidFill>
                  </a:rPr>
                  <a:t>negative</a:t>
                </a: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501" y="255489"/>
                <a:ext cx="4128370" cy="3522759"/>
              </a:xfrm>
              <a:prstGeom prst="rect">
                <a:avLst/>
              </a:prstGeom>
              <a:blipFill rotWithShape="0">
                <a:blip r:embed="rId3"/>
                <a:stretch>
                  <a:fillRect l="-1477" t="-1038" b="-2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 flipH="1" flipV="1">
            <a:off x="1287887" y="4533389"/>
            <a:ext cx="2470817" cy="2388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902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6"/>
          <a:stretch/>
        </p:blipFill>
        <p:spPr>
          <a:xfrm>
            <a:off x="198448" y="-2644"/>
            <a:ext cx="5246053" cy="6860644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114816" y="413359"/>
            <a:ext cx="0" cy="5373666"/>
          </a:xfrm>
          <a:prstGeom prst="line">
            <a:avLst/>
          </a:prstGeom>
          <a:ln w="3810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1114817" y="5787026"/>
            <a:ext cx="3920822" cy="1"/>
          </a:xfrm>
          <a:prstGeom prst="line">
            <a:avLst/>
          </a:prstGeom>
          <a:ln w="3810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3944" y="206062"/>
            <a:ext cx="334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6016" y="5804897"/>
            <a:ext cx="399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171" y="5722347"/>
            <a:ext cx="399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1468192" y="2562896"/>
            <a:ext cx="2498501" cy="284623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8814" y="4839473"/>
            <a:ext cx="11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(x</a:t>
            </a:r>
            <a:r>
              <a:rPr lang="en-US" baseline="-25000" dirty="0"/>
              <a:t>1</a:t>
            </a:r>
            <a:r>
              <a:rPr lang="en-US"/>
              <a:t>, y</a:t>
            </a:r>
            <a:r>
              <a:rPr lang="en-US" baseline="-25000"/>
              <a:t>1</a:t>
            </a:r>
            <a:r>
              <a:rPr lang="en-US"/>
              <a:t>)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1495876" y="5409127"/>
            <a:ext cx="2470817" cy="2388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966693" y="2562896"/>
            <a:ext cx="0" cy="281491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45128" y="5307241"/>
            <a:ext cx="1002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4311" y="4138099"/>
            <a:ext cx="1002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656435" y="1156834"/>
                <a:ext cx="4128370" cy="3181320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general: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Run</a:t>
                </a:r>
                <a:r>
                  <a:rPr lang="en-US" dirty="0"/>
                  <a:t> = x</a:t>
                </a:r>
                <a:r>
                  <a:rPr lang="en-US" baseline="-25000" dirty="0"/>
                  <a:t>2</a:t>
                </a:r>
                <a:r>
                  <a:rPr lang="en-US" dirty="0"/>
                  <a:t> </a:t>
                </a:r>
                <a:r>
                  <a:rPr lang="mr-IN" dirty="0"/>
                  <a:t>–</a:t>
                </a:r>
                <a:r>
                  <a:rPr lang="en-US" dirty="0"/>
                  <a:t> x</a:t>
                </a:r>
                <a:r>
                  <a:rPr lang="en-US" baseline="-25000" dirty="0"/>
                  <a:t>1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Rise</a:t>
                </a:r>
                <a:r>
                  <a:rPr lang="en-US" dirty="0"/>
                  <a:t> = y</a:t>
                </a:r>
                <a:r>
                  <a:rPr lang="en-US" baseline="-25000" dirty="0"/>
                  <a:t>2</a:t>
                </a:r>
                <a:r>
                  <a:rPr lang="en-US" dirty="0"/>
                  <a:t> </a:t>
                </a:r>
                <a:r>
                  <a:rPr lang="mr-IN" dirty="0"/>
                  <a:t>–</a:t>
                </a:r>
                <a:r>
                  <a:rPr lang="en-US" dirty="0"/>
                  <a:t> y</a:t>
                </a:r>
                <a:r>
                  <a:rPr lang="en-US" baseline="-25000" dirty="0"/>
                  <a:t>1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sz="2800" dirty="0"/>
                  <a:t>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charset="0"/>
                          </a:rPr>
                          <m:t>𝑟𝑖𝑠𝑒</m:t>
                        </m:r>
                      </m:num>
                      <m:den>
                        <m:r>
                          <a:rPr lang="en-AU" sz="2800" i="1">
                            <a:latin typeface="Cambria Math" charset="0"/>
                          </a:rPr>
                          <m:t>𝑟𝑢𝑛</m:t>
                        </m:r>
                      </m:den>
                    </m:f>
                    <m:r>
                      <a:rPr lang="en-AU" sz="2800" b="0" i="0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y</m:t>
                        </m:r>
                        <m:r>
                          <m:rPr>
                            <m:nor/>
                          </m:rPr>
                          <a:rPr lang="en-US" sz="28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mr-IN" sz="2800" dirty="0"/>
                          <m:t>–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y</m:t>
                        </m:r>
                        <m:r>
                          <m:rPr>
                            <m:nor/>
                          </m:rPr>
                          <a:rPr lang="en-US" sz="28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x</m:t>
                        </m:r>
                        <m:r>
                          <m:rPr>
                            <m:nor/>
                          </m:rPr>
                          <a:rPr lang="en-US" sz="28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mr-IN" sz="2800" dirty="0"/>
                          <m:t>–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x</m:t>
                        </m:r>
                        <m:r>
                          <m:rPr>
                            <m:nor/>
                          </m:rPr>
                          <a:rPr lang="en-US" sz="28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</m:den>
                    </m:f>
                  </m:oMath>
                </a14:m>
                <a:endParaRPr lang="en-US" sz="2800" dirty="0"/>
              </a:p>
              <a:p>
                <a:endParaRPr lang="en-US" sz="2400" dirty="0"/>
              </a:p>
              <a:p>
                <a:pPr algn="ctr"/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x</m:t>
                    </m:r>
                    <m:r>
                      <m:rPr>
                        <m:nor/>
                      </m:rPr>
                      <a:rPr lang="en-US" sz="2400" baseline="-25000" dirty="0"/>
                      <m:t>2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mr-IN" sz="24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x</m:t>
                    </m:r>
                    <m:r>
                      <m:rPr>
                        <m:nor/>
                      </m:rPr>
                      <a:rPr lang="en-US" sz="2400" baseline="-25000" dirty="0"/>
                      <m:t>1</m:t>
                    </m:r>
                    <m:r>
                      <m:rPr>
                        <m:nor/>
                      </m:rPr>
                      <a:rPr lang="en-AU" sz="2400" b="0" i="0" dirty="0" smtClean="0"/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435" y="1156834"/>
                <a:ext cx="4128370" cy="3181320"/>
              </a:xfrm>
              <a:prstGeom prst="rect">
                <a:avLst/>
              </a:prstGeom>
              <a:blipFill rotWithShape="0">
                <a:blip r:embed="rId3"/>
                <a:stretch>
                  <a:fillRect l="-2635" t="-568" b="-947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527497" y="2201225"/>
            <a:ext cx="11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 (x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0004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87299" y="401974"/>
                <a:ext cx="4585572" cy="4622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VERTICAL line AB:</a:t>
                </a:r>
              </a:p>
              <a:p>
                <a:endParaRPr lang="en-US" dirty="0"/>
              </a:p>
              <a:p>
                <a:r>
                  <a:rPr lang="en-US" sz="2400" dirty="0"/>
                  <a:t>Gradient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  <m:r>
                          <m:rPr>
                            <m:nor/>
                          </m:rPr>
                          <a:rPr lang="en-US" sz="24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mr-IN" sz="2400" dirty="0"/>
                          <m:t>–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  <m:r>
                          <m:rPr>
                            <m:nor/>
                          </m:rPr>
                          <a:rPr lang="en-US" sz="24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AU" sz="2400" b="0" i="0" dirty="0" smtClean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mr-IN" sz="2400" dirty="0"/>
                          <m:t>–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den>
                    </m:f>
                    <m:r>
                      <a:rPr lang="en-AU" sz="2400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charset="0"/>
                          </a:rPr>
                          <m:t>26 −4</m:t>
                        </m:r>
                      </m:num>
                      <m:den>
                        <m:r>
                          <a:rPr lang="en-AU" sz="2400" b="0" i="1" smtClean="0">
                            <a:latin typeface="Cambria Math" charset="0"/>
                          </a:rPr>
                          <m:t>6 − 6</m:t>
                        </m:r>
                      </m:den>
                    </m:f>
                    <m:r>
                      <a:rPr lang="en-AU" sz="2400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charset="0"/>
                          </a:rPr>
                          <m:t>22</m:t>
                        </m:r>
                      </m:num>
                      <m:den>
                        <m:r>
                          <a:rPr lang="en-AU" sz="2400" b="0" i="1" smtClean="0">
                            <a:latin typeface="Cambria Math" charset="0"/>
                          </a:rPr>
                          <m:t>0</m:t>
                        </m:r>
                      </m:den>
                    </m:f>
                  </m:oMath>
                </a14:m>
                <a:endParaRPr lang="en-US" sz="2400" dirty="0"/>
              </a:p>
              <a:p>
                <a:endParaRPr lang="en-US" sz="2800" dirty="0"/>
              </a:p>
              <a:p>
                <a:r>
                  <a:rPr lang="en-US" dirty="0"/>
                  <a:t>In this case, the run is 0, therefore, for a vertical line, there is no gradient.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HORIZONTAL line CD:</a:t>
                </a:r>
              </a:p>
              <a:p>
                <a:endParaRPr lang="en-US" dirty="0"/>
              </a:p>
              <a:p>
                <a:r>
                  <a:rPr lang="en-US" sz="2400" dirty="0"/>
                  <a:t>Gradient </a:t>
                </a:r>
                <a14:m>
                  <m:oMath xmlns:m="http://schemas.openxmlformats.org/officeDocument/2006/math">
                    <m:r>
                      <a:rPr lang="en-AU" sz="240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  <m:r>
                          <m:rPr>
                            <m:nor/>
                          </m:rPr>
                          <a:rPr lang="en-US" sz="24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mr-IN" sz="2400" dirty="0"/>
                          <m:t>–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  <m:r>
                          <m:rPr>
                            <m:nor/>
                          </m:rPr>
                          <a:rPr lang="en-US" sz="24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AU" sz="2400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mr-IN" sz="2400" dirty="0"/>
                          <m:t>–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den>
                    </m:f>
                    <m:r>
                      <a:rPr lang="en-AU" sz="2400" i="1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charset="0"/>
                          </a:rPr>
                          <m:t>14 </m:t>
                        </m:r>
                        <m:r>
                          <a:rPr lang="en-AU" sz="2400" i="1">
                            <a:latin typeface="Cambria Math" charset="0"/>
                          </a:rPr>
                          <m:t>−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14</m:t>
                        </m:r>
                      </m:num>
                      <m:den>
                        <m:r>
                          <a:rPr lang="en-AU" sz="2400" b="0" i="1" smtClean="0">
                            <a:latin typeface="Cambria Math" charset="0"/>
                          </a:rPr>
                          <m:t>20 −9</m:t>
                        </m:r>
                      </m:den>
                    </m:f>
                    <m:r>
                      <a:rPr lang="en-AU" sz="2400" i="1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charset="0"/>
                          </a:rPr>
                          <m:t>0</m:t>
                        </m:r>
                      </m:num>
                      <m:den>
                        <m:r>
                          <a:rPr lang="en-AU" sz="2400" b="0" i="1" smtClean="0">
                            <a:latin typeface="Cambria Math" charset="0"/>
                          </a:rPr>
                          <m:t>11</m:t>
                        </m:r>
                      </m:den>
                    </m:f>
                  </m:oMath>
                </a14:m>
                <a:endParaRPr lang="en-US" sz="2400" dirty="0"/>
              </a:p>
              <a:p>
                <a:endParaRPr lang="en-US" dirty="0"/>
              </a:p>
              <a:p>
                <a:r>
                  <a:rPr lang="en-US" dirty="0"/>
                  <a:t>In this case, the rise is 0, therefore, for a horizontal line, there is gradient = 0.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299" y="401974"/>
                <a:ext cx="4585572" cy="4622676"/>
              </a:xfrm>
              <a:prstGeom prst="rect">
                <a:avLst/>
              </a:prstGeom>
              <a:blipFill rotWithShape="0">
                <a:blip r:embed="rId2"/>
                <a:stretch>
                  <a:fillRect l="-1995" t="-792" b="-1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51515" y="-2644"/>
            <a:ext cx="4800557" cy="6860644"/>
            <a:chOff x="643944" y="-2644"/>
            <a:chExt cx="4800557" cy="686064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17"/>
            <a:stretch/>
          </p:blipFill>
          <p:spPr>
            <a:xfrm>
              <a:off x="779171" y="-2644"/>
              <a:ext cx="4665330" cy="6860644"/>
            </a:xfrm>
            <a:prstGeom prst="rect">
              <a:avLst/>
            </a:prstGeom>
          </p:spPr>
        </p:pic>
        <p:cxnSp>
          <p:nvCxnSpPr>
            <p:cNvPr id="6" name="Straight Connector 5"/>
            <p:cNvCxnSpPr/>
            <p:nvPr/>
          </p:nvCxnSpPr>
          <p:spPr>
            <a:xfrm>
              <a:off x="1114816" y="413359"/>
              <a:ext cx="0" cy="5373666"/>
            </a:xfrm>
            <a:prstGeom prst="line">
              <a:avLst/>
            </a:prstGeom>
            <a:ln w="38100">
              <a:head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 flipV="1">
              <a:off x="1114817" y="5787026"/>
              <a:ext cx="3920822" cy="1"/>
            </a:xfrm>
            <a:prstGeom prst="line">
              <a:avLst/>
            </a:prstGeom>
            <a:ln w="38100">
              <a:head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43944" y="206062"/>
              <a:ext cx="334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36016" y="5804897"/>
              <a:ext cx="3992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x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171" y="5722347"/>
              <a:ext cx="3992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 flipH="1" flipV="1">
              <a:off x="2187617" y="1133341"/>
              <a:ext cx="3041" cy="396630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213753" y="2905656"/>
              <a:ext cx="1178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 (20, 14)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2716859" y="3292858"/>
              <a:ext cx="2004841" cy="2264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250839" y="930805"/>
              <a:ext cx="1178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(6,26)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84277" y="4898028"/>
              <a:ext cx="1178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(6,4)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95404" y="2915526"/>
              <a:ext cx="1178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C (9, 14)</a:t>
              </a:r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51A5E5E-F7EE-0F41-A149-8F9C43A076A6}"/>
              </a:ext>
            </a:extLst>
          </p:cNvPr>
          <p:cNvSpPr txBox="1"/>
          <p:nvPr/>
        </p:nvSpPr>
        <p:spPr>
          <a:xfrm>
            <a:off x="1836509" y="413359"/>
            <a:ext cx="2806323" cy="1569660"/>
          </a:xfrm>
          <a:prstGeom prst="rect">
            <a:avLst/>
          </a:prstGeom>
          <a:solidFill>
            <a:schemeClr val="bg1">
              <a:alpha val="5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Vertical line</a:t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Gradient:</a:t>
            </a:r>
          </a:p>
          <a:p>
            <a:r>
              <a:rPr lang="en-US" sz="3200" dirty="0">
                <a:solidFill>
                  <a:srgbClr val="FF0000"/>
                </a:solidFill>
              </a:rPr>
              <a:t>UNDEFINED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F4C8C-15DC-F04F-8C61-543E836ACB7C}"/>
              </a:ext>
            </a:extLst>
          </p:cNvPr>
          <p:cNvSpPr txBox="1"/>
          <p:nvPr/>
        </p:nvSpPr>
        <p:spPr>
          <a:xfrm>
            <a:off x="1993100" y="3552834"/>
            <a:ext cx="2806323" cy="1077218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Horizontal line</a:t>
            </a:r>
            <a:br>
              <a:rPr lang="en-US" sz="3200" dirty="0">
                <a:solidFill>
                  <a:srgbClr val="00B050"/>
                </a:solidFill>
              </a:rPr>
            </a:br>
            <a:r>
              <a:rPr lang="en-US" sz="3200" dirty="0">
                <a:solidFill>
                  <a:srgbClr val="00B050"/>
                </a:solidFill>
              </a:rPr>
              <a:t>Gradient = 0</a:t>
            </a:r>
          </a:p>
        </p:txBody>
      </p:sp>
    </p:spTree>
    <p:extLst>
      <p:ext uri="{BB962C8B-B14F-4D97-AF65-F5344CB8AC3E}">
        <p14:creationId xmlns:p14="http://schemas.microsoft.com/office/powerpoint/2010/main" val="279011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8" y="1825625"/>
                <a:ext cx="8543925" cy="470396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gradient of the interval joining the two points (7,4) and (10,28).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Gradient </a:t>
                </a:r>
                <a14:m>
                  <m:oMath xmlns:m="http://schemas.openxmlformats.org/officeDocument/2006/math">
                    <m:r>
                      <a:rPr lang="en-AU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mr-IN" dirty="0"/>
                          <m:t>–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mr-IN" dirty="0"/>
                          <m:t>–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  <m:r>
                      <a:rPr lang="en-AU" i="1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8</m:t>
                        </m:r>
                        <m:r>
                          <a:rPr lang="en-AU" i="1">
                            <a:latin typeface="Cambria Math" charset="0"/>
                          </a:rPr>
                          <m:t> −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4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10</m:t>
                        </m:r>
                        <m:r>
                          <a:rPr lang="en-AU" i="1">
                            <a:latin typeface="Cambria Math" charset="0"/>
                          </a:rPr>
                          <m:t> −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7</m:t>
                        </m:r>
                      </m:den>
                    </m:f>
                    <m:r>
                      <a:rPr lang="en-AU" i="1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4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= 8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Find the gradient of the interval joining the two points (2,3) and (8,-7).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Gradient </a:t>
                </a:r>
                <a14:m>
                  <m:oMath xmlns:m="http://schemas.openxmlformats.org/officeDocument/2006/math">
                    <m:r>
                      <a:rPr lang="en-AU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mr-IN" dirty="0"/>
                          <m:t>–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mr-IN" dirty="0"/>
                          <m:t>–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  <m:r>
                      <a:rPr lang="en-AU" i="1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−7</m:t>
                        </m:r>
                        <m:r>
                          <a:rPr lang="en-AU" i="1">
                            <a:latin typeface="Cambria Math" charset="0"/>
                          </a:rPr>
                          <m:t> −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8</m:t>
                        </m:r>
                        <m:r>
                          <a:rPr lang="en-AU" i="1">
                            <a:latin typeface="Cambria Math" charset="0"/>
                          </a:rPr>
                          <m:t> −2</m:t>
                        </m:r>
                      </m:den>
                    </m:f>
                    <m:r>
                      <a:rPr lang="en-AU" i="1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−10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 </a:t>
                </a:r>
                <a:r>
                  <a:rPr lang="en-US"/>
                  <a:t>= </a:t>
                </a:r>
                <a:r>
                  <a:rPr lang="en-AU"/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  <m:r>
                      <a:rPr lang="en-AU" i="1">
                        <a:latin typeface="Cambria Math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825625"/>
                <a:ext cx="8543925" cy="4703964"/>
              </a:xfrm>
              <a:blipFill rotWithShape="0">
                <a:blip r:embed="rId2"/>
                <a:stretch>
                  <a:fillRect l="-1285" t="-2073" b="-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285703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109</TotalTime>
  <Words>643</Words>
  <Application>Microsoft Macintosh PowerPoint</Application>
  <PresentationFormat>A4 Paper (210x297 mm)</PresentationFormat>
  <Paragraphs>198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Comic Sans MS</vt:lpstr>
      <vt:lpstr>A4</vt:lpstr>
      <vt:lpstr>Linear Relationships</vt:lpstr>
      <vt:lpstr>Population</vt:lpstr>
      <vt:lpstr>PowerPoint Presentation</vt:lpstr>
      <vt:lpstr>PowerPoint Presentation</vt:lpstr>
      <vt:lpstr>PowerPoint Presentation</vt:lpstr>
      <vt:lpstr>PowerPoint Presentation</vt:lpstr>
      <vt:lpstr>Consider a linear relationship</vt:lpstr>
      <vt:lpstr>PowerPoint Presentation</vt:lpstr>
      <vt:lpstr>PowerPoint Presentation</vt:lpstr>
      <vt:lpstr>How do you define the gradient?</vt:lpstr>
      <vt:lpstr>PowerPoint Presentation</vt:lpstr>
      <vt:lpstr>PowerPoint Presentation</vt:lpstr>
      <vt:lpstr>PowerPoint Presentation</vt:lpstr>
      <vt:lpstr>PowerPoint Presentation</vt:lpstr>
      <vt:lpstr>Table of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Relationships</dc:title>
  <dc:creator>LOH Michael [Shenton College]</dc:creator>
  <cp:lastModifiedBy>LOH Michael [Shenton College]</cp:lastModifiedBy>
  <cp:revision>9</cp:revision>
  <dcterms:created xsi:type="dcterms:W3CDTF">2017-08-20T05:08:11Z</dcterms:created>
  <dcterms:modified xsi:type="dcterms:W3CDTF">2019-06-24T04:03:58Z</dcterms:modified>
</cp:coreProperties>
</file>
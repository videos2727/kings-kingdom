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78" r:id="rId15"/>
    <p:sldId id="280" r:id="rId16"/>
    <p:sldId id="281" r:id="rId1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2707"/>
  </p:normalViewPr>
  <p:slideViewPr>
    <p:cSldViewPr snapToGrid="0" snapToObjects="1">
      <p:cViewPr varScale="1">
        <p:scale>
          <a:sx n="90" d="100"/>
          <a:sy n="90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25DA1E-2061-B941-A28C-669F60B0F9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4893C-878C-7048-B561-A99BC2E4CE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1102E-78CF-504F-81B8-6218DDCC25E0}" type="datetimeFigureOut">
              <a:rPr lang="en-US" smtClean="0"/>
              <a:t>4/7/19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0515-D682-3349-9A28-456CCC99BD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ECC96-6B5C-D849-B3F9-BD63361D26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DE49C-F29C-6B48-B57F-0AC88450F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95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BA720-35C0-1342-B5AF-E7215C9C079E}" type="datetimeFigureOut">
              <a:rPr lang="en-US" smtClean="0"/>
              <a:t>4/7/19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B1E3A-611D-194B-83EC-F91E96F46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yoursay.northernbeaches.nsw.gov.au</a:t>
            </a:r>
            <a:r>
              <a:rPr lang="en-US" dirty="0"/>
              <a:t>/</a:t>
            </a:r>
            <a:r>
              <a:rPr lang="en-US" dirty="0" err="1"/>
              <a:t>TaniaPlay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B1E3A-611D-194B-83EC-F91E96F46A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0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4/7/19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Perimeter and area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8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838200" y="365125"/>
            <a:ext cx="79801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Perimeter &amp; area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82" y="1690688"/>
            <a:ext cx="7450435" cy="419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1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81050" y="754063"/>
            <a:ext cx="7948613" cy="5275262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Perimeter</a:t>
            </a:r>
            <a:r>
              <a:rPr lang="en-US" dirty="0"/>
              <a:t> is the total length of the boundary of a two dimensional shape.</a:t>
            </a:r>
          </a:p>
          <a:p>
            <a:endParaRPr lang="en-US" dirty="0"/>
          </a:p>
          <a:p>
            <a:r>
              <a:rPr lang="en-US" dirty="0"/>
              <a:t>Units – km, m, cm, mm, miles, inch etc.</a:t>
            </a:r>
          </a:p>
          <a:p>
            <a:endParaRPr lang="en-US" dirty="0"/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Area</a:t>
            </a:r>
            <a:r>
              <a:rPr lang="en-US" dirty="0"/>
              <a:t> is the measure of how much space there is on a flat surface (2-D). The area of a flat, or plane figure is the number of unit squares that can be contained within it.</a:t>
            </a:r>
          </a:p>
          <a:p>
            <a:endParaRPr lang="en-US" dirty="0"/>
          </a:p>
          <a:p>
            <a:r>
              <a:rPr lang="en-US" dirty="0"/>
              <a:t>Units </a:t>
            </a:r>
            <a:r>
              <a:rPr lang="mr-IN" dirty="0"/>
              <a:t>–</a:t>
            </a:r>
            <a:r>
              <a:rPr lang="en-US" dirty="0"/>
              <a:t> m</a:t>
            </a:r>
            <a:r>
              <a:rPr lang="en-US" baseline="30000" dirty="0"/>
              <a:t>2</a:t>
            </a:r>
            <a:r>
              <a:rPr lang="en-US" dirty="0"/>
              <a:t>, cm</a:t>
            </a:r>
            <a:r>
              <a:rPr lang="en-US" baseline="30000" dirty="0"/>
              <a:t>2</a:t>
            </a:r>
            <a:r>
              <a:rPr lang="en-US" dirty="0"/>
              <a:t>, km</a:t>
            </a:r>
            <a:r>
              <a:rPr lang="en-US" baseline="30000" dirty="0"/>
              <a:t>2</a:t>
            </a:r>
            <a:r>
              <a:rPr lang="en-US" dirty="0"/>
              <a:t>, mm</a:t>
            </a:r>
            <a:r>
              <a:rPr lang="en-US" baseline="30000" dirty="0"/>
              <a:t>2</a:t>
            </a:r>
            <a:r>
              <a:rPr lang="en-US" dirty="0"/>
              <a:t>, square inches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89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and rectangle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55786" y="1889970"/>
            <a:ext cx="2296633" cy="2402264"/>
            <a:chOff x="755786" y="1889970"/>
            <a:chExt cx="2296633" cy="2402264"/>
          </a:xfrm>
        </p:grpSpPr>
        <p:sp>
          <p:nvSpPr>
            <p:cNvPr id="5" name="Rectangle 4"/>
            <p:cNvSpPr/>
            <p:nvPr/>
          </p:nvSpPr>
          <p:spPr>
            <a:xfrm>
              <a:off x="1276870" y="1889970"/>
              <a:ext cx="1775549" cy="17721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1057161" y="1889970"/>
              <a:ext cx="0" cy="177219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1276870" y="3866519"/>
              <a:ext cx="1775549" cy="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55786" y="2624089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40953" y="3922902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14131" y="1889970"/>
            <a:ext cx="3860516" cy="2336951"/>
            <a:chOff x="4914131" y="1889970"/>
            <a:chExt cx="3860516" cy="2336951"/>
          </a:xfrm>
        </p:grpSpPr>
        <p:sp>
          <p:nvSpPr>
            <p:cNvPr id="4" name="Rectangle 3"/>
            <p:cNvSpPr/>
            <p:nvPr/>
          </p:nvSpPr>
          <p:spPr>
            <a:xfrm>
              <a:off x="5409286" y="1889970"/>
              <a:ext cx="3365361" cy="172511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5230016" y="1897227"/>
              <a:ext cx="0" cy="177219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420704" y="3859262"/>
              <a:ext cx="3353943" cy="725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914131" y="2558776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83068" y="3857589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04358" y="4396281"/>
            <a:ext cx="3120572" cy="15696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Square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Perimeter = 4l</a:t>
            </a:r>
          </a:p>
          <a:p>
            <a:pPr algn="ctr"/>
            <a:r>
              <a:rPr lang="en-US" sz="2400" b="1" dirty="0"/>
              <a:t>Area = l</a:t>
            </a:r>
            <a:r>
              <a:rPr lang="en-US" sz="2400" b="1" baseline="30000" dirty="0"/>
              <a:t>2</a:t>
            </a:r>
            <a:endParaRPr lang="en-US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531680" y="4377772"/>
            <a:ext cx="3120572" cy="15696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Rectangle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Perimeter = 2(</a:t>
            </a:r>
            <a:r>
              <a:rPr lang="en-US" sz="2400" b="1" dirty="0" err="1"/>
              <a:t>b+h</a:t>
            </a:r>
            <a:r>
              <a:rPr lang="en-US" sz="2400" b="1" dirty="0"/>
              <a:t>)</a:t>
            </a:r>
          </a:p>
          <a:p>
            <a:pPr algn="ctr"/>
            <a:r>
              <a:rPr lang="en-US" sz="2400" b="1" dirty="0"/>
              <a:t>Area = </a:t>
            </a:r>
            <a:r>
              <a:rPr lang="en-US" sz="2400" b="1" dirty="0" err="1"/>
              <a:t>bh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563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45608" y="2024795"/>
            <a:ext cx="5081133" cy="3984119"/>
            <a:chOff x="448517" y="1807081"/>
            <a:chExt cx="4437418" cy="3357852"/>
          </a:xfrm>
        </p:grpSpPr>
        <p:sp>
          <p:nvSpPr>
            <p:cNvPr id="5" name="TextBox 4"/>
            <p:cNvSpPr txBox="1"/>
            <p:nvPr/>
          </p:nvSpPr>
          <p:spPr>
            <a:xfrm>
              <a:off x="1911521" y="4101162"/>
              <a:ext cx="374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446517" y="2690779"/>
              <a:ext cx="439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50976" y="4113210"/>
              <a:ext cx="3220674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 rot="16200000">
              <a:off x="2048018" y="4861270"/>
              <a:ext cx="237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riangle 8"/>
            <p:cNvSpPr/>
            <p:nvPr/>
          </p:nvSpPr>
          <p:spPr>
            <a:xfrm>
              <a:off x="584997" y="1875321"/>
              <a:ext cx="3152633" cy="2031025"/>
            </a:xfrm>
            <a:prstGeom prst="triangle">
              <a:avLst>
                <a:gd name="adj" fmla="val 87229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469352" y="1875321"/>
              <a:ext cx="1241947" cy="2031025"/>
              <a:chOff x="3316405" y="1875321"/>
              <a:chExt cx="1241947" cy="2031025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16405" y="1875321"/>
                <a:ext cx="1241947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3737630" y="3906346"/>
                <a:ext cx="775649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/>
            <p:cNvCxnSpPr/>
            <p:nvPr/>
          </p:nvCxnSpPr>
          <p:spPr>
            <a:xfrm>
              <a:off x="4465639" y="1875321"/>
              <a:ext cx="13647" cy="2031025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448517" y="1807081"/>
              <a:ext cx="2750010" cy="2031025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545303" y="2397463"/>
              <a:ext cx="374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3485132" y="1861673"/>
              <a:ext cx="402623" cy="2031025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676629" y="2549863"/>
              <a:ext cx="3740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92441" y="996253"/>
                <a:ext cx="3205806" cy="17320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Triangle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Perimeter = a + b + c</a:t>
                </a:r>
              </a:p>
              <a:p>
                <a:pPr algn="ctr"/>
                <a:r>
                  <a:rPr lang="en-US" sz="2400" b="1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 smtClean="0"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/>
                  <a:t> bh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441" y="996253"/>
                <a:ext cx="3205806" cy="1732077"/>
              </a:xfrm>
              <a:prstGeom prst="rect">
                <a:avLst/>
              </a:prstGeom>
              <a:blipFill rotWithShape="0">
                <a:blip r:embed="rId2"/>
                <a:stretch>
                  <a:fillRect t="-2069" b="-1379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75159" y="3695877"/>
                <a:ext cx="4694699" cy="292355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Triangle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AU" sz="2400" b="1" dirty="0"/>
                  <a:t>Heron’s formula</a:t>
                </a:r>
              </a:p>
              <a:p>
                <a:pPr algn="ctr"/>
                <a:endParaRPr lang="en-AU" sz="2400" b="1" dirty="0"/>
              </a:p>
              <a:p>
                <a:pPr algn="ctr"/>
                <a:r>
                  <a:rPr lang="en-AU" sz="2400" b="1" dirty="0"/>
                  <a:t>S</a:t>
                </a:r>
                <a:r>
                  <a:rPr lang="en-US" sz="24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charset="0"/>
                          </a:rPr>
                          <m:t>𝒂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𝒃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+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𝒄</m:t>
                        </m:r>
                      </m:num>
                      <m:den>
                        <m:r>
                          <a:rPr lang="en-AU" sz="2400" b="1" i="1"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Area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1" i="1" smtClean="0">
                            <a:latin typeface="Cambria Math" charset="0"/>
                          </a:rPr>
                          <m:t>𝑺</m:t>
                        </m:r>
                        <m:d>
                          <m:dPr>
                            <m:ctrlPr>
                              <a:rPr lang="en-AU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1" i="1" smtClean="0">
                                <a:latin typeface="Cambria Math" charset="0"/>
                              </a:rPr>
                              <m:t>𝑺</m:t>
                            </m:r>
                            <m:r>
                              <a:rPr lang="en-AU" sz="2400" b="1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AU" sz="2400" b="1" i="1" smtClean="0">
                                <a:latin typeface="Cambria Math" charset="0"/>
                              </a:rPr>
                              <m:t>𝒂</m:t>
                            </m:r>
                          </m:e>
                        </m:d>
                        <m:r>
                          <a:rPr lang="en-AU" sz="2400" b="1" i="1" smtClean="0">
                            <a:latin typeface="Cambria Math" charset="0"/>
                          </a:rPr>
                          <m:t>(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𝑺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−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𝒃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)(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𝑺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−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𝒄</m:t>
                        </m:r>
                        <m:r>
                          <a:rPr lang="en-AU" sz="2400" b="1" i="1" smtClean="0">
                            <a:latin typeface="Cambria Math" charset="0"/>
                          </a:rPr>
                          <m:t>)</m:t>
                        </m:r>
                      </m:e>
                    </m:ra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159" y="3695877"/>
                <a:ext cx="4694699" cy="2923557"/>
              </a:xfrm>
              <a:prstGeom prst="rect">
                <a:avLst/>
              </a:prstGeom>
              <a:blipFill rotWithShape="0">
                <a:blip r:embed="rId3"/>
                <a:stretch>
                  <a:fillRect t="-1237" b="-2680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00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Rhombus and kite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502272" y="380032"/>
            <a:ext cx="2411468" cy="4366511"/>
            <a:chOff x="6656049" y="948801"/>
            <a:chExt cx="2897804" cy="5131558"/>
          </a:xfrm>
        </p:grpSpPr>
        <p:sp>
          <p:nvSpPr>
            <p:cNvPr id="12" name="Diamond 11"/>
            <p:cNvSpPr/>
            <p:nvPr/>
          </p:nvSpPr>
          <p:spPr>
            <a:xfrm>
              <a:off x="6933482" y="948801"/>
              <a:ext cx="2620370" cy="5131558"/>
            </a:xfrm>
            <a:custGeom>
              <a:avLst/>
              <a:gdLst>
                <a:gd name="connsiteX0" fmla="*/ 0 w 2866030"/>
                <a:gd name="connsiteY0" fmla="*/ 2565779 h 5131558"/>
                <a:gd name="connsiteX1" fmla="*/ 1433015 w 2866030"/>
                <a:gd name="connsiteY1" fmla="*/ 0 h 5131558"/>
                <a:gd name="connsiteX2" fmla="*/ 2866030 w 2866030"/>
                <a:gd name="connsiteY2" fmla="*/ 2565779 h 5131558"/>
                <a:gd name="connsiteX3" fmla="*/ 1433015 w 2866030"/>
                <a:gd name="connsiteY3" fmla="*/ 5131558 h 5131558"/>
                <a:gd name="connsiteX4" fmla="*/ 0 w 2866030"/>
                <a:gd name="connsiteY4" fmla="*/ 2565779 h 5131558"/>
                <a:gd name="connsiteX0" fmla="*/ 0 w 2729552"/>
                <a:gd name="connsiteY0" fmla="*/ 2565779 h 5131558"/>
                <a:gd name="connsiteX1" fmla="*/ 1433015 w 2729552"/>
                <a:gd name="connsiteY1" fmla="*/ 0 h 5131558"/>
                <a:gd name="connsiteX2" fmla="*/ 2729552 w 2729552"/>
                <a:gd name="connsiteY2" fmla="*/ 1078173 h 5131558"/>
                <a:gd name="connsiteX3" fmla="*/ 1433015 w 2729552"/>
                <a:gd name="connsiteY3" fmla="*/ 5131558 h 5131558"/>
                <a:gd name="connsiteX4" fmla="*/ 0 w 2729552"/>
                <a:gd name="connsiteY4" fmla="*/ 2565779 h 5131558"/>
                <a:gd name="connsiteX0" fmla="*/ 0 w 2565779"/>
                <a:gd name="connsiteY0" fmla="*/ 1937982 h 5131558"/>
                <a:gd name="connsiteX1" fmla="*/ 1269242 w 2565779"/>
                <a:gd name="connsiteY1" fmla="*/ 0 h 5131558"/>
                <a:gd name="connsiteX2" fmla="*/ 2565779 w 2565779"/>
                <a:gd name="connsiteY2" fmla="*/ 1078173 h 5131558"/>
                <a:gd name="connsiteX3" fmla="*/ 1269242 w 2565779"/>
                <a:gd name="connsiteY3" fmla="*/ 5131558 h 5131558"/>
                <a:gd name="connsiteX4" fmla="*/ 0 w 2565779"/>
                <a:gd name="connsiteY4" fmla="*/ 1937982 h 5131558"/>
                <a:gd name="connsiteX0" fmla="*/ 0 w 2265528"/>
                <a:gd name="connsiteY0" fmla="*/ 1255594 h 5131558"/>
                <a:gd name="connsiteX1" fmla="*/ 968991 w 2265528"/>
                <a:gd name="connsiteY1" fmla="*/ 0 h 5131558"/>
                <a:gd name="connsiteX2" fmla="*/ 2265528 w 2265528"/>
                <a:gd name="connsiteY2" fmla="*/ 1078173 h 5131558"/>
                <a:gd name="connsiteX3" fmla="*/ 968991 w 2265528"/>
                <a:gd name="connsiteY3" fmla="*/ 5131558 h 5131558"/>
                <a:gd name="connsiteX4" fmla="*/ 0 w 2265528"/>
                <a:gd name="connsiteY4" fmla="*/ 1255594 h 5131558"/>
                <a:gd name="connsiteX0" fmla="*/ 0 w 2292823"/>
                <a:gd name="connsiteY0" fmla="*/ 1160060 h 5131558"/>
                <a:gd name="connsiteX1" fmla="*/ 996286 w 2292823"/>
                <a:gd name="connsiteY1" fmla="*/ 0 h 5131558"/>
                <a:gd name="connsiteX2" fmla="*/ 2292823 w 2292823"/>
                <a:gd name="connsiteY2" fmla="*/ 1078173 h 5131558"/>
                <a:gd name="connsiteX3" fmla="*/ 996286 w 2292823"/>
                <a:gd name="connsiteY3" fmla="*/ 5131558 h 5131558"/>
                <a:gd name="connsiteX4" fmla="*/ 0 w 2292823"/>
                <a:gd name="connsiteY4" fmla="*/ 1160060 h 5131558"/>
                <a:gd name="connsiteX0" fmla="*/ 0 w 2497540"/>
                <a:gd name="connsiteY0" fmla="*/ 1310185 h 5131558"/>
                <a:gd name="connsiteX1" fmla="*/ 1201003 w 2497540"/>
                <a:gd name="connsiteY1" fmla="*/ 0 h 5131558"/>
                <a:gd name="connsiteX2" fmla="*/ 2497540 w 2497540"/>
                <a:gd name="connsiteY2" fmla="*/ 1078173 h 5131558"/>
                <a:gd name="connsiteX3" fmla="*/ 1201003 w 2497540"/>
                <a:gd name="connsiteY3" fmla="*/ 5131558 h 5131558"/>
                <a:gd name="connsiteX4" fmla="*/ 0 w 2497540"/>
                <a:gd name="connsiteY4" fmla="*/ 1310185 h 5131558"/>
                <a:gd name="connsiteX0" fmla="*/ 0 w 2524836"/>
                <a:gd name="connsiteY0" fmla="*/ 1310185 h 5131558"/>
                <a:gd name="connsiteX1" fmla="*/ 1201003 w 2524836"/>
                <a:gd name="connsiteY1" fmla="*/ 0 h 5131558"/>
                <a:gd name="connsiteX2" fmla="*/ 2524836 w 2524836"/>
                <a:gd name="connsiteY2" fmla="*/ 1255594 h 5131558"/>
                <a:gd name="connsiteX3" fmla="*/ 1201003 w 2524836"/>
                <a:gd name="connsiteY3" fmla="*/ 5131558 h 5131558"/>
                <a:gd name="connsiteX4" fmla="*/ 0 w 2524836"/>
                <a:gd name="connsiteY4" fmla="*/ 1310185 h 5131558"/>
                <a:gd name="connsiteX0" fmla="*/ 0 w 2579427"/>
                <a:gd name="connsiteY0" fmla="*/ 1433015 h 5131558"/>
                <a:gd name="connsiteX1" fmla="*/ 1255594 w 2579427"/>
                <a:gd name="connsiteY1" fmla="*/ 0 h 5131558"/>
                <a:gd name="connsiteX2" fmla="*/ 2579427 w 2579427"/>
                <a:gd name="connsiteY2" fmla="*/ 1255594 h 5131558"/>
                <a:gd name="connsiteX3" fmla="*/ 1255594 w 2579427"/>
                <a:gd name="connsiteY3" fmla="*/ 5131558 h 5131558"/>
                <a:gd name="connsiteX4" fmla="*/ 0 w 2579427"/>
                <a:gd name="connsiteY4" fmla="*/ 1433015 h 5131558"/>
                <a:gd name="connsiteX0" fmla="*/ 0 w 2606722"/>
                <a:gd name="connsiteY0" fmla="*/ 1433015 h 5131558"/>
                <a:gd name="connsiteX1" fmla="*/ 1255594 w 2606722"/>
                <a:gd name="connsiteY1" fmla="*/ 0 h 5131558"/>
                <a:gd name="connsiteX2" fmla="*/ 2606722 w 2606722"/>
                <a:gd name="connsiteY2" fmla="*/ 1460311 h 5131558"/>
                <a:gd name="connsiteX3" fmla="*/ 1255594 w 2606722"/>
                <a:gd name="connsiteY3" fmla="*/ 5131558 h 5131558"/>
                <a:gd name="connsiteX4" fmla="*/ 0 w 2606722"/>
                <a:gd name="connsiteY4" fmla="*/ 1433015 h 5131558"/>
                <a:gd name="connsiteX0" fmla="*/ 0 w 2620370"/>
                <a:gd name="connsiteY0" fmla="*/ 1433015 h 5131558"/>
                <a:gd name="connsiteX1" fmla="*/ 1255594 w 2620370"/>
                <a:gd name="connsiteY1" fmla="*/ 0 h 5131558"/>
                <a:gd name="connsiteX2" fmla="*/ 2620370 w 2620370"/>
                <a:gd name="connsiteY2" fmla="*/ 1528550 h 5131558"/>
                <a:gd name="connsiteX3" fmla="*/ 1255594 w 2620370"/>
                <a:gd name="connsiteY3" fmla="*/ 5131558 h 5131558"/>
                <a:gd name="connsiteX4" fmla="*/ 0 w 2620370"/>
                <a:gd name="connsiteY4" fmla="*/ 1433015 h 5131558"/>
                <a:gd name="connsiteX0" fmla="*/ 0 w 2620370"/>
                <a:gd name="connsiteY0" fmla="*/ 1501254 h 5131558"/>
                <a:gd name="connsiteX1" fmla="*/ 1255594 w 2620370"/>
                <a:gd name="connsiteY1" fmla="*/ 0 h 5131558"/>
                <a:gd name="connsiteX2" fmla="*/ 2620370 w 2620370"/>
                <a:gd name="connsiteY2" fmla="*/ 1528550 h 5131558"/>
                <a:gd name="connsiteX3" fmla="*/ 1255594 w 2620370"/>
                <a:gd name="connsiteY3" fmla="*/ 5131558 h 5131558"/>
                <a:gd name="connsiteX4" fmla="*/ 0 w 2620370"/>
                <a:gd name="connsiteY4" fmla="*/ 1501254 h 5131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0370" h="5131558">
                  <a:moveTo>
                    <a:pt x="0" y="1501254"/>
                  </a:moveTo>
                  <a:lnTo>
                    <a:pt x="1255594" y="0"/>
                  </a:lnTo>
                  <a:lnTo>
                    <a:pt x="2620370" y="1528550"/>
                  </a:lnTo>
                  <a:lnTo>
                    <a:pt x="1255594" y="5131558"/>
                  </a:lnTo>
                  <a:lnTo>
                    <a:pt x="0" y="150125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21" idx="1"/>
              <a:endCxn id="21" idx="3"/>
            </p:cNvCxnSpPr>
            <p:nvPr/>
          </p:nvCxnSpPr>
          <p:spPr>
            <a:xfrm>
              <a:off x="8189076" y="948801"/>
              <a:ext cx="0" cy="5131558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21" idx="0"/>
            </p:cNvCxnSpPr>
            <p:nvPr/>
          </p:nvCxnSpPr>
          <p:spPr>
            <a:xfrm flipH="1" flipV="1">
              <a:off x="6933482" y="2450055"/>
              <a:ext cx="2620371" cy="1592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7469945" y="1674055"/>
              <a:ext cx="154744" cy="984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9043182" y="3528648"/>
              <a:ext cx="154744" cy="984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9015046" y="3598986"/>
              <a:ext cx="154744" cy="984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>
              <a:off x="8775894" y="1643577"/>
              <a:ext cx="154744" cy="984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7227783" y="3648223"/>
              <a:ext cx="229667" cy="103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747350" y="2316324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17767" y="1770189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18597" y="1212390"/>
              <a:ext cx="680287" cy="54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l</a:t>
              </a:r>
              <a:r>
                <a:rPr lang="en-US" sz="2400" b="1" baseline="-25000"/>
                <a:t>1</a:t>
              </a:r>
              <a:endParaRPr lang="en-US" sz="2400" b="1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56049" y="3521137"/>
              <a:ext cx="735927" cy="54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l</a:t>
              </a:r>
              <a:r>
                <a:rPr lang="en-US" sz="2400" b="1" baseline="-25000" dirty="0"/>
                <a:t>2</a:t>
              </a:r>
              <a:endParaRPr lang="en-US" sz="2400" b="1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7270999" y="3732383"/>
              <a:ext cx="229667" cy="103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04358" y="4396281"/>
                <a:ext cx="3120572" cy="17320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Rhombus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Perimeter = 4l</a:t>
                </a:r>
              </a:p>
              <a:p>
                <a:pPr algn="ctr"/>
                <a:r>
                  <a:rPr lang="en-US" sz="2400" b="1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/>
                  <a:t> ab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58" y="4396281"/>
                <a:ext cx="3120572" cy="1732077"/>
              </a:xfrm>
              <a:prstGeom prst="rect">
                <a:avLst/>
              </a:prstGeom>
              <a:blipFill rotWithShape="0">
                <a:blip r:embed="rId3"/>
                <a:stretch>
                  <a:fillRect t="-2076" b="-1730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296326" y="4870798"/>
                <a:ext cx="3120572" cy="17320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Kite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Perimeter = 2(l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 + l</a:t>
                </a:r>
                <a:r>
                  <a:rPr lang="en-US" sz="2400" b="1" baseline="-25000" dirty="0"/>
                  <a:t>2</a:t>
                </a:r>
                <a:r>
                  <a:rPr lang="en-US" sz="2400" b="1" dirty="0"/>
                  <a:t>)</a:t>
                </a:r>
              </a:p>
              <a:p>
                <a:pPr algn="ctr"/>
                <a:r>
                  <a:rPr lang="en-US" sz="2400" b="1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/>
                  <a:t> ab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326" y="4870798"/>
                <a:ext cx="3120572" cy="1732077"/>
              </a:xfrm>
              <a:prstGeom prst="rect">
                <a:avLst/>
              </a:prstGeom>
              <a:blipFill rotWithShape="0">
                <a:blip r:embed="rId4"/>
                <a:stretch>
                  <a:fillRect t="-2076" b="-1730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79958CF-E040-8B45-AF38-621776075DB4}"/>
              </a:ext>
            </a:extLst>
          </p:cNvPr>
          <p:cNvGrpSpPr/>
          <p:nvPr/>
        </p:nvGrpSpPr>
        <p:grpSpPr>
          <a:xfrm>
            <a:off x="1290550" y="1671019"/>
            <a:ext cx="2292325" cy="2042127"/>
            <a:chOff x="2788176" y="4031930"/>
            <a:chExt cx="2292325" cy="20421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A071A9B-D205-AA44-B03D-7C3C69EE382A}"/>
                </a:ext>
              </a:extLst>
            </p:cNvPr>
            <p:cNvGrpSpPr/>
            <p:nvPr/>
          </p:nvGrpSpPr>
          <p:grpSpPr>
            <a:xfrm>
              <a:off x="2832750" y="4031930"/>
              <a:ext cx="2201677" cy="2042127"/>
              <a:chOff x="2764770" y="4016321"/>
              <a:chExt cx="2201677" cy="2042127"/>
            </a:xfrm>
          </p:grpSpPr>
          <p:sp>
            <p:nvSpPr>
              <p:cNvPr id="40" name="Parallelogram 39">
                <a:extLst>
                  <a:ext uri="{FF2B5EF4-FFF2-40B4-BE49-F238E27FC236}">
                    <a16:creationId xmlns:a16="http://schemas.microsoft.com/office/drawing/2014/main" id="{2C23B6E4-7B13-2D47-94A7-54C70C99EE4D}"/>
                  </a:ext>
                </a:extLst>
              </p:cNvPr>
              <p:cNvSpPr/>
              <p:nvPr/>
            </p:nvSpPr>
            <p:spPr>
              <a:xfrm>
                <a:off x="2764770" y="4186647"/>
                <a:ext cx="2201677" cy="1650345"/>
              </a:xfrm>
              <a:prstGeom prst="parallelogram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BCBE9F-9AF8-FE4C-9899-7C223872F028}"/>
                  </a:ext>
                </a:extLst>
              </p:cNvPr>
              <p:cNvSpPr txBox="1"/>
              <p:nvPr/>
            </p:nvSpPr>
            <p:spPr>
              <a:xfrm>
                <a:off x="3761350" y="4016321"/>
                <a:ext cx="237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87714-A406-BC43-BD89-D875A55BB07D}"/>
                  </a:ext>
                </a:extLst>
              </p:cNvPr>
              <p:cNvSpPr txBox="1"/>
              <p:nvPr/>
            </p:nvSpPr>
            <p:spPr>
              <a:xfrm>
                <a:off x="3640378" y="5689116"/>
                <a:ext cx="644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3958E73-3222-EC4B-B33A-326DAB699F27}"/>
                  </a:ext>
                </a:extLst>
              </p:cNvPr>
              <p:cNvSpPr txBox="1"/>
              <p:nvPr/>
            </p:nvSpPr>
            <p:spPr>
              <a:xfrm rot="16200000">
                <a:off x="2914879" y="4823505"/>
                <a:ext cx="237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8E95E1-0848-7B4A-BED0-7AFCFF5D11FE}"/>
                  </a:ext>
                </a:extLst>
              </p:cNvPr>
              <p:cNvSpPr txBox="1"/>
              <p:nvPr/>
            </p:nvSpPr>
            <p:spPr>
              <a:xfrm rot="16200000">
                <a:off x="4656737" y="4816447"/>
                <a:ext cx="237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DFC892-57B6-2341-A08E-F001994F6D6E}"/>
                </a:ext>
              </a:extLst>
            </p:cNvPr>
            <p:cNvSpPr txBox="1"/>
            <p:nvPr/>
          </p:nvSpPr>
          <p:spPr>
            <a:xfrm>
              <a:off x="2788176" y="4864826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DDACC08-297E-DD49-86AB-6697CD035728}"/>
                </a:ext>
              </a:extLst>
            </p:cNvPr>
            <p:cNvCxnSpPr/>
            <p:nvPr/>
          </p:nvCxnSpPr>
          <p:spPr>
            <a:xfrm flipV="1">
              <a:off x="2850381" y="4230935"/>
              <a:ext cx="2194560" cy="1659988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C3E819B-C653-6F49-9393-39D7A3137F35}"/>
                </a:ext>
              </a:extLst>
            </p:cNvPr>
            <p:cNvCxnSpPr/>
            <p:nvPr/>
          </p:nvCxnSpPr>
          <p:spPr>
            <a:xfrm>
              <a:off x="3258344" y="4230935"/>
              <a:ext cx="1392701" cy="16599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1D3739C-6DBF-264C-B8B3-02C591AAF7B6}"/>
                </a:ext>
              </a:extLst>
            </p:cNvPr>
            <p:cNvSpPr txBox="1"/>
            <p:nvPr/>
          </p:nvSpPr>
          <p:spPr>
            <a:xfrm>
              <a:off x="3395076" y="4985742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C07DCC-73BD-324B-BFD3-FA328E84CA05}"/>
                </a:ext>
              </a:extLst>
            </p:cNvPr>
            <p:cNvSpPr txBox="1"/>
            <p:nvPr/>
          </p:nvSpPr>
          <p:spPr>
            <a:xfrm>
              <a:off x="3565493" y="4439607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4696BDA-7EC6-864F-828C-23CF7C2FAC5F}"/>
                </a:ext>
              </a:extLst>
            </p:cNvPr>
            <p:cNvSpPr/>
            <p:nvPr/>
          </p:nvSpPr>
          <p:spPr>
            <a:xfrm rot="679798">
              <a:off x="3766085" y="5734373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5A9A241-5134-C74B-B55D-20E2B3163707}"/>
                </a:ext>
              </a:extLst>
            </p:cNvPr>
            <p:cNvSpPr/>
            <p:nvPr/>
          </p:nvSpPr>
          <p:spPr>
            <a:xfrm rot="679798">
              <a:off x="3887489" y="5731790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11EDA57-84F7-D04F-AEBE-31094DD8C1E2}"/>
                </a:ext>
              </a:extLst>
            </p:cNvPr>
            <p:cNvSpPr/>
            <p:nvPr/>
          </p:nvSpPr>
          <p:spPr>
            <a:xfrm rot="679798">
              <a:off x="4026975" y="4088968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D8D9A94-3BEA-EC45-AAD7-17ECC238C706}"/>
                </a:ext>
              </a:extLst>
            </p:cNvPr>
            <p:cNvSpPr/>
            <p:nvPr/>
          </p:nvSpPr>
          <p:spPr>
            <a:xfrm rot="679798">
              <a:off x="4148379" y="4086385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BE7229F-D04F-0846-B20E-AFBF16EE5D91}"/>
                </a:ext>
              </a:extLst>
            </p:cNvPr>
            <p:cNvSpPr/>
            <p:nvPr/>
          </p:nvSpPr>
          <p:spPr>
            <a:xfrm rot="17687021">
              <a:off x="2998560" y="4637815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32BCD0C-1683-354D-8828-DA18C764AB5B}"/>
                </a:ext>
              </a:extLst>
            </p:cNvPr>
            <p:cNvSpPr/>
            <p:nvPr/>
          </p:nvSpPr>
          <p:spPr>
            <a:xfrm rot="17687021">
              <a:off x="4793782" y="4635233"/>
              <a:ext cx="263472" cy="309966"/>
            </a:xfrm>
            <a:custGeom>
              <a:avLst/>
              <a:gdLst>
                <a:gd name="connsiteX0" fmla="*/ 0 w 263472"/>
                <a:gd name="connsiteY0" fmla="*/ 0 h 309966"/>
                <a:gd name="connsiteX1" fmla="*/ 263472 w 263472"/>
                <a:gd name="connsiteY1" fmla="*/ 108488 h 309966"/>
                <a:gd name="connsiteX2" fmla="*/ 61994 w 263472"/>
                <a:gd name="connsiteY2" fmla="*/ 309966 h 30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472" h="309966">
                  <a:moveTo>
                    <a:pt x="0" y="0"/>
                  </a:moveTo>
                  <a:lnTo>
                    <a:pt x="263472" y="108488"/>
                  </a:lnTo>
                  <a:lnTo>
                    <a:pt x="61994" y="30996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098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Parallelogram</a:t>
            </a:r>
            <a:r>
              <a:rPr lang="en-GB" dirty="0"/>
              <a:t> and trapezium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88886" y="1729772"/>
            <a:ext cx="4274688" cy="2393147"/>
            <a:chOff x="689024" y="1690690"/>
            <a:chExt cx="4274688" cy="2393147"/>
          </a:xfrm>
        </p:grpSpPr>
        <p:grpSp>
          <p:nvGrpSpPr>
            <p:cNvPr id="4" name="Group 3"/>
            <p:cNvGrpSpPr/>
            <p:nvPr/>
          </p:nvGrpSpPr>
          <p:grpSpPr>
            <a:xfrm>
              <a:off x="1023478" y="1690690"/>
              <a:ext cx="3006246" cy="1914685"/>
              <a:chOff x="6726475" y="2549239"/>
              <a:chExt cx="3695179" cy="2665203"/>
            </a:xfrm>
          </p:grpSpPr>
          <p:sp>
            <p:nvSpPr>
              <p:cNvPr id="5" name="Parallelogram 4"/>
              <p:cNvSpPr/>
              <p:nvPr/>
            </p:nvSpPr>
            <p:spPr>
              <a:xfrm>
                <a:off x="6726475" y="2771356"/>
                <a:ext cx="3695179" cy="2297247"/>
              </a:xfrm>
              <a:prstGeom prst="parallelogram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567801" y="2549239"/>
                <a:ext cx="237994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800352" y="3615379"/>
                <a:ext cx="28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960282" y="3705090"/>
                <a:ext cx="28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329807" y="4845109"/>
                <a:ext cx="237994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|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689024" y="2420760"/>
              <a:ext cx="374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3618827" y="3487639"/>
              <a:ext cx="1241947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029724" y="1837293"/>
              <a:ext cx="785977" cy="2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615114" y="1837294"/>
              <a:ext cx="10830" cy="1650345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2684695" y="3394254"/>
              <a:ext cx="290442" cy="218521"/>
              <a:chOff x="7232684" y="1023553"/>
              <a:chExt cx="290442" cy="218521"/>
            </a:xfrm>
          </p:grpSpPr>
          <p:sp>
            <p:nvSpPr>
              <p:cNvPr id="17" name="Freeform 16"/>
              <p:cNvSpPr/>
              <p:nvPr/>
            </p:nvSpPr>
            <p:spPr>
              <a:xfrm rot="313489">
                <a:off x="7232684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17"/>
              <p:cNvSpPr/>
              <p:nvPr/>
            </p:nvSpPr>
            <p:spPr>
              <a:xfrm rot="313489">
                <a:off x="7318409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2748134" y="1771922"/>
              <a:ext cx="290442" cy="218521"/>
              <a:chOff x="7232684" y="1023553"/>
              <a:chExt cx="290442" cy="218521"/>
            </a:xfrm>
          </p:grpSpPr>
          <p:sp>
            <p:nvSpPr>
              <p:cNvPr id="20" name="Freeform 19"/>
              <p:cNvSpPr/>
              <p:nvPr/>
            </p:nvSpPr>
            <p:spPr>
              <a:xfrm rot="313489">
                <a:off x="7232684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/>
            </p:nvSpPr>
            <p:spPr>
              <a:xfrm rot="313489">
                <a:off x="7318409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Freeform 23"/>
            <p:cNvSpPr/>
            <p:nvPr/>
          </p:nvSpPr>
          <p:spPr>
            <a:xfrm rot="17285033">
              <a:off x="3783036" y="2370999"/>
              <a:ext cx="204717" cy="218521"/>
            </a:xfrm>
            <a:custGeom>
              <a:avLst/>
              <a:gdLst>
                <a:gd name="connsiteX0" fmla="*/ 0 w 204717"/>
                <a:gd name="connsiteY0" fmla="*/ 0 h 204717"/>
                <a:gd name="connsiteX1" fmla="*/ 204717 w 204717"/>
                <a:gd name="connsiteY1" fmla="*/ 81887 h 204717"/>
                <a:gd name="connsiteX2" fmla="*/ 40944 w 204717"/>
                <a:gd name="connsiteY2" fmla="*/ 204717 h 204717"/>
                <a:gd name="connsiteX0" fmla="*/ 0 w 204717"/>
                <a:gd name="connsiteY0" fmla="*/ 0 h 218521"/>
                <a:gd name="connsiteX1" fmla="*/ 204717 w 204717"/>
                <a:gd name="connsiteY1" fmla="*/ 81887 h 218521"/>
                <a:gd name="connsiteX2" fmla="*/ 29453 w 204717"/>
                <a:gd name="connsiteY2" fmla="*/ 218521 h 21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717" h="218521">
                  <a:moveTo>
                    <a:pt x="0" y="0"/>
                  </a:moveTo>
                  <a:lnTo>
                    <a:pt x="204717" y="81887"/>
                  </a:lnTo>
                  <a:lnTo>
                    <a:pt x="29453" y="218521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7285033">
              <a:off x="1228899" y="2351523"/>
              <a:ext cx="204717" cy="218521"/>
            </a:xfrm>
            <a:custGeom>
              <a:avLst/>
              <a:gdLst>
                <a:gd name="connsiteX0" fmla="*/ 0 w 204717"/>
                <a:gd name="connsiteY0" fmla="*/ 0 h 204717"/>
                <a:gd name="connsiteX1" fmla="*/ 204717 w 204717"/>
                <a:gd name="connsiteY1" fmla="*/ 81887 h 204717"/>
                <a:gd name="connsiteX2" fmla="*/ 40944 w 204717"/>
                <a:gd name="connsiteY2" fmla="*/ 204717 h 204717"/>
                <a:gd name="connsiteX0" fmla="*/ 0 w 204717"/>
                <a:gd name="connsiteY0" fmla="*/ 0 h 218521"/>
                <a:gd name="connsiteX1" fmla="*/ 204717 w 204717"/>
                <a:gd name="connsiteY1" fmla="*/ 81887 h 218521"/>
                <a:gd name="connsiteX2" fmla="*/ 29453 w 204717"/>
                <a:gd name="connsiteY2" fmla="*/ 218521 h 21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717" h="218521">
                  <a:moveTo>
                    <a:pt x="0" y="0"/>
                  </a:moveTo>
                  <a:lnTo>
                    <a:pt x="204717" y="81887"/>
                  </a:lnTo>
                  <a:lnTo>
                    <a:pt x="29453" y="218521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24294" y="2582029"/>
              <a:ext cx="439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1023478" y="3691950"/>
              <a:ext cx="2630893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293038" y="3683727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915591" y="1823354"/>
              <a:ext cx="385131" cy="1634593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710133" y="1342863"/>
            <a:ext cx="4961142" cy="2780056"/>
            <a:chOff x="757310" y="911894"/>
            <a:chExt cx="4961142" cy="2780056"/>
          </a:xfrm>
        </p:grpSpPr>
        <p:sp>
          <p:nvSpPr>
            <p:cNvPr id="34" name="Parallelogram 4"/>
            <p:cNvSpPr/>
            <p:nvPr/>
          </p:nvSpPr>
          <p:spPr>
            <a:xfrm>
              <a:off x="1153641" y="1445408"/>
              <a:ext cx="3072415" cy="1650345"/>
            </a:xfrm>
            <a:custGeom>
              <a:avLst/>
              <a:gdLst>
                <a:gd name="connsiteX0" fmla="*/ 0 w 3485001"/>
                <a:gd name="connsiteY0" fmla="*/ 1650345 h 1650345"/>
                <a:gd name="connsiteX1" fmla="*/ 412586 w 3485001"/>
                <a:gd name="connsiteY1" fmla="*/ 0 h 1650345"/>
                <a:gd name="connsiteX2" fmla="*/ 3485001 w 3485001"/>
                <a:gd name="connsiteY2" fmla="*/ 0 h 1650345"/>
                <a:gd name="connsiteX3" fmla="*/ 3072415 w 3485001"/>
                <a:gd name="connsiteY3" fmla="*/ 1650345 h 1650345"/>
                <a:gd name="connsiteX4" fmla="*/ 0 w 3485001"/>
                <a:gd name="connsiteY4" fmla="*/ 1650345 h 1650345"/>
                <a:gd name="connsiteX0" fmla="*/ 0 w 3072415"/>
                <a:gd name="connsiteY0" fmla="*/ 1650345 h 1650345"/>
                <a:gd name="connsiteX1" fmla="*/ 412586 w 3072415"/>
                <a:gd name="connsiteY1" fmla="*/ 0 h 1650345"/>
                <a:gd name="connsiteX2" fmla="*/ 2598736 w 3072415"/>
                <a:gd name="connsiteY2" fmla="*/ 14067 h 1650345"/>
                <a:gd name="connsiteX3" fmla="*/ 3072415 w 3072415"/>
                <a:gd name="connsiteY3" fmla="*/ 1650345 h 1650345"/>
                <a:gd name="connsiteX4" fmla="*/ 0 w 3072415"/>
                <a:gd name="connsiteY4" fmla="*/ 1650345 h 16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2415" h="1650345">
                  <a:moveTo>
                    <a:pt x="0" y="1650345"/>
                  </a:moveTo>
                  <a:lnTo>
                    <a:pt x="412586" y="0"/>
                  </a:lnTo>
                  <a:lnTo>
                    <a:pt x="2598736" y="14067"/>
                  </a:lnTo>
                  <a:lnTo>
                    <a:pt x="3072415" y="1650345"/>
                  </a:lnTo>
                  <a:lnTo>
                    <a:pt x="0" y="1650345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4315510" y="3095753"/>
              <a:ext cx="1241947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6" idx="2"/>
            </p:cNvCxnSpPr>
            <p:nvPr/>
          </p:nvCxnSpPr>
          <p:spPr>
            <a:xfrm flipV="1">
              <a:off x="3752377" y="1445409"/>
              <a:ext cx="1760007" cy="14066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5311797" y="1445408"/>
              <a:ext cx="10830" cy="1650345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5279034" y="2117571"/>
              <a:ext cx="439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2452466" y="3002368"/>
              <a:ext cx="290442" cy="218521"/>
              <a:chOff x="7232684" y="1023553"/>
              <a:chExt cx="290442" cy="218521"/>
            </a:xfrm>
          </p:grpSpPr>
          <p:sp>
            <p:nvSpPr>
              <p:cNvPr id="51" name="Freeform 50"/>
              <p:cNvSpPr/>
              <p:nvPr/>
            </p:nvSpPr>
            <p:spPr>
              <a:xfrm rot="313489">
                <a:off x="7232684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51"/>
              <p:cNvSpPr/>
              <p:nvPr/>
            </p:nvSpPr>
            <p:spPr>
              <a:xfrm rot="313489">
                <a:off x="7318409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2515905" y="1380036"/>
              <a:ext cx="290442" cy="218521"/>
              <a:chOff x="7232684" y="1023553"/>
              <a:chExt cx="290442" cy="218521"/>
            </a:xfrm>
          </p:grpSpPr>
          <p:sp>
            <p:nvSpPr>
              <p:cNvPr id="49" name="Freeform 48"/>
              <p:cNvSpPr/>
              <p:nvPr/>
            </p:nvSpPr>
            <p:spPr>
              <a:xfrm rot="313489">
                <a:off x="7232684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 49"/>
              <p:cNvSpPr/>
              <p:nvPr/>
            </p:nvSpPr>
            <p:spPr>
              <a:xfrm rot="313489">
                <a:off x="7318409" y="1023553"/>
                <a:ext cx="204717" cy="218521"/>
              </a:xfrm>
              <a:custGeom>
                <a:avLst/>
                <a:gdLst>
                  <a:gd name="connsiteX0" fmla="*/ 0 w 204717"/>
                  <a:gd name="connsiteY0" fmla="*/ 0 h 204717"/>
                  <a:gd name="connsiteX1" fmla="*/ 204717 w 204717"/>
                  <a:gd name="connsiteY1" fmla="*/ 81887 h 204717"/>
                  <a:gd name="connsiteX2" fmla="*/ 40944 w 204717"/>
                  <a:gd name="connsiteY2" fmla="*/ 204717 h 204717"/>
                  <a:gd name="connsiteX0" fmla="*/ 0 w 204717"/>
                  <a:gd name="connsiteY0" fmla="*/ 0 h 218521"/>
                  <a:gd name="connsiteX1" fmla="*/ 204717 w 204717"/>
                  <a:gd name="connsiteY1" fmla="*/ 81887 h 218521"/>
                  <a:gd name="connsiteX2" fmla="*/ 29453 w 204717"/>
                  <a:gd name="connsiteY2" fmla="*/ 218521 h 21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4717" h="218521">
                    <a:moveTo>
                      <a:pt x="0" y="0"/>
                    </a:moveTo>
                    <a:lnTo>
                      <a:pt x="204717" y="81887"/>
                    </a:lnTo>
                    <a:lnTo>
                      <a:pt x="29453" y="21852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Arrow Connector 40"/>
            <p:cNvCxnSpPr/>
            <p:nvPr/>
          </p:nvCxnSpPr>
          <p:spPr>
            <a:xfrm>
              <a:off x="1153641" y="3291840"/>
              <a:ext cx="3144345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973926" y="1461160"/>
              <a:ext cx="385131" cy="1634593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293038" y="3291840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57310" y="2037471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1602205" y="1312004"/>
              <a:ext cx="2150172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333638" y="911894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3893057" y="1473543"/>
              <a:ext cx="473679" cy="1636278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4159349" y="2119531"/>
              <a:ext cx="365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04358" y="4396281"/>
            <a:ext cx="3120572" cy="15696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Parallelogram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Perimeter = 2(</a:t>
            </a:r>
            <a:r>
              <a:rPr lang="en-US" sz="2400" b="1" dirty="0" err="1"/>
              <a:t>b+l</a:t>
            </a:r>
            <a:r>
              <a:rPr lang="en-US" sz="2400" b="1" dirty="0"/>
              <a:t>)</a:t>
            </a:r>
          </a:p>
          <a:p>
            <a:pPr algn="ctr"/>
            <a:r>
              <a:rPr lang="en-US" sz="2400" b="1" dirty="0"/>
              <a:t>Area = </a:t>
            </a:r>
            <a:r>
              <a:rPr lang="en-US" sz="2400" b="1" dirty="0" err="1"/>
              <a:t>bh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531680" y="4377772"/>
                <a:ext cx="3120572" cy="17320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Trapezium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Perimeter = a+b+l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+l</a:t>
                </a:r>
                <a:r>
                  <a:rPr lang="en-US" sz="2400" b="1" baseline="-25000" dirty="0"/>
                  <a:t>2</a:t>
                </a:r>
                <a:endParaRPr lang="en-US" sz="2400" b="1" dirty="0"/>
              </a:p>
              <a:p>
                <a:pPr algn="ctr"/>
                <a:r>
                  <a:rPr lang="en-US" sz="2400" b="1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/>
                  <a:t> (</a:t>
                </a:r>
                <a:r>
                  <a:rPr lang="en-US" sz="2400" b="1" dirty="0" err="1"/>
                  <a:t>a+b</a:t>
                </a:r>
                <a:r>
                  <a:rPr lang="en-US" sz="2400" b="1" dirty="0"/>
                  <a:t>)h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680" y="4377772"/>
                <a:ext cx="3120572" cy="1732077"/>
              </a:xfrm>
              <a:prstGeom prst="rect">
                <a:avLst/>
              </a:prstGeom>
              <a:blipFill rotWithShape="0">
                <a:blip r:embed="rId2"/>
                <a:stretch>
                  <a:fillRect t="-2076" b="-1730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8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8944" y="1261474"/>
            <a:ext cx="5199530" cy="5199530"/>
            <a:chOff x="3299012" y="1027906"/>
            <a:chExt cx="5199530" cy="5199530"/>
          </a:xfrm>
        </p:grpSpPr>
        <p:sp>
          <p:nvSpPr>
            <p:cNvPr id="5" name="Oval 4"/>
            <p:cNvSpPr/>
            <p:nvPr/>
          </p:nvSpPr>
          <p:spPr>
            <a:xfrm>
              <a:off x="3299012" y="1027906"/>
              <a:ext cx="5199530" cy="519953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836024" y="3573883"/>
              <a:ext cx="125506" cy="1075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/>
          <p:cNvCxnSpPr>
            <a:stCxn id="7" idx="2"/>
            <a:endCxn id="7" idx="6"/>
          </p:cNvCxnSpPr>
          <p:nvPr/>
        </p:nvCxnSpPr>
        <p:spPr>
          <a:xfrm>
            <a:off x="328944" y="3861239"/>
            <a:ext cx="5199530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8" idx="0"/>
            <a:endCxn id="7" idx="7"/>
          </p:cNvCxnSpPr>
          <p:nvPr/>
        </p:nvCxnSpPr>
        <p:spPr>
          <a:xfrm flipV="1">
            <a:off x="2928709" y="2022928"/>
            <a:ext cx="1838311" cy="1784523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9321" y="3861239"/>
            <a:ext cx="171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Diameter, d</a:t>
            </a:r>
          </a:p>
        </p:txBody>
      </p:sp>
      <p:sp>
        <p:nvSpPr>
          <p:cNvPr id="10" name="TextBox 9"/>
          <p:cNvSpPr txBox="1"/>
          <p:nvPr/>
        </p:nvSpPr>
        <p:spPr>
          <a:xfrm rot="18977246">
            <a:off x="2908160" y="2659272"/>
            <a:ext cx="1392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FF0000"/>
                </a:solidFill>
              </a:rPr>
              <a:t>Radius</a:t>
            </a:r>
            <a:r>
              <a:rPr lang="en-US" sz="2000" dirty="0">
                <a:solidFill>
                  <a:srgbClr val="FF0000"/>
                </a:solidFill>
              </a:rPr>
              <a:t>,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00316" y="2995200"/>
                <a:ext cx="4089569" cy="156966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Circle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Circumference = 2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/>
                  <a:t>r =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AU" sz="2400" b="1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𝐝</m:t>
                    </m:r>
                  </m:oMath>
                </a14:m>
                <a:endParaRPr lang="en-US" sz="2400" b="1" dirty="0"/>
              </a:p>
              <a:p>
                <a:pPr algn="ctr"/>
                <a:r>
                  <a:rPr lang="en-US" sz="2400" b="1" dirty="0"/>
                  <a:t>Area =</a:t>
                </a:r>
                <a:r>
                  <a:rPr lang="en-US" sz="2400" b="1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/>
                  <a:t>r</a:t>
                </a:r>
                <a:r>
                  <a:rPr lang="en-US" sz="2400" b="1" baseline="30000" dirty="0"/>
                  <a:t>2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16" y="2995200"/>
                <a:ext cx="4089569" cy="1569660"/>
              </a:xfrm>
              <a:prstGeom prst="rect">
                <a:avLst/>
              </a:prstGeom>
              <a:blipFill rotWithShape="0">
                <a:blip r:embed="rId2"/>
                <a:stretch>
                  <a:fillRect t="-2281" b="-6464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9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Sector of a circle</a:t>
            </a:r>
          </a:p>
        </p:txBody>
      </p:sp>
      <p:sp>
        <p:nvSpPr>
          <p:cNvPr id="5" name="Pie 4"/>
          <p:cNvSpPr/>
          <p:nvPr/>
        </p:nvSpPr>
        <p:spPr>
          <a:xfrm>
            <a:off x="0" y="651192"/>
            <a:ext cx="3835021" cy="3848669"/>
          </a:xfrm>
          <a:prstGeom prst="pie">
            <a:avLst>
              <a:gd name="adj1" fmla="val 0"/>
              <a:gd name="adj2" fmla="val 7067171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 rot="6661540">
            <a:off x="1705969" y="2288921"/>
            <a:ext cx="450377" cy="436728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7508" y="2698359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508" y="2698359"/>
                <a:ext cx="251094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9268" r="-268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1917508" y="2370810"/>
            <a:ext cx="194480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65780" y="1934084"/>
            <a:ext cx="53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62315" y="3336987"/>
                <a:ext cx="5804199" cy="2272032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Sector of a circle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Perimeter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mr-IN" sz="2400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num>
                      <m:den>
                        <m:r>
                          <a:rPr lang="en-AU" sz="2400" b="1" i="1" smtClean="0">
                            <a:latin typeface="Cambria Math" charset="0"/>
                          </a:rPr>
                          <m:t>𝟑𝟔𝟎</m:t>
                        </m:r>
                      </m:den>
                    </m:f>
                  </m:oMath>
                </a14:m>
                <a:r>
                  <a:rPr lang="en-US" sz="2400" b="1" dirty="0"/>
                  <a:t>)2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/>
                  <a:t>r + 2r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mr-IN" sz="24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num>
                      <m:den>
                        <m:r>
                          <a:rPr lang="en-AU" sz="2400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𝟏𝟖𝟎</m:t>
                        </m:r>
                      </m:den>
                    </m:f>
                  </m:oMath>
                </a14:m>
                <a:r>
                  <a:rPr lang="en-US" sz="2400" b="1" dirty="0"/>
                  <a:t>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/>
                  <a:t>r </a:t>
                </a:r>
                <a:r>
                  <a:rPr lang="en-US" sz="2400" b="1"/>
                  <a:t>+ 2r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/>
                  <a:t>Area =</a:t>
                </a:r>
                <a:r>
                  <a:rPr lang="en-US" sz="2400" b="1" dirty="0">
                    <a:ea typeface="Cambria Math" charset="0"/>
                    <a:cs typeface="Cambria Math" charset="0"/>
                  </a:rPr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mr-IN" sz="24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num>
                      <m:den>
                        <m:r>
                          <a:rPr lang="en-AU" sz="2400" b="1" i="1">
                            <a:latin typeface="Cambria Math" charset="0"/>
                          </a:rPr>
                          <m:t>𝟑𝟔𝟎</m:t>
                        </m:r>
                      </m:den>
                    </m:f>
                  </m:oMath>
                </a14:m>
                <a:r>
                  <a:rPr lang="en-US" sz="2400" b="1" dirty="0"/>
                  <a:t>)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en-US" sz="2400" b="1" dirty="0"/>
                  <a:t>r</a:t>
                </a:r>
                <a:r>
                  <a:rPr lang="en-US" sz="2400" b="1" baseline="30000" dirty="0"/>
                  <a:t>2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315" y="3336987"/>
                <a:ext cx="5804199" cy="2272032"/>
              </a:xfrm>
              <a:prstGeom prst="rect">
                <a:avLst/>
              </a:prstGeom>
              <a:blipFill rotWithShape="0">
                <a:blip r:embed="rId3"/>
                <a:stretch>
                  <a:fillRect t="-1587" b="-1058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70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8C9CFC-5E8A-DB41-A7EA-FFA4EAEBB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95" y="463827"/>
            <a:ext cx="9173602" cy="535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1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10B649-DDA5-8E4A-927E-ABEDA394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1" y="940903"/>
            <a:ext cx="8546994" cy="49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8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E6810-1F9C-9D47-8770-D8B3659E6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7" y="1334549"/>
            <a:ext cx="8839199" cy="407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2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1ABD-EFE6-0B44-8595-A6F09941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9F3A8-3440-AF4D-A048-5AEEC56F4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46" t="6841" r="15643" b="8651"/>
          <a:stretch/>
        </p:blipFill>
        <p:spPr>
          <a:xfrm>
            <a:off x="798284" y="1872342"/>
            <a:ext cx="2975429" cy="4138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4E3F90-D32D-984C-AC58-DD7352A68011}"/>
              </a:ext>
            </a:extLst>
          </p:cNvPr>
          <p:cNvSpPr txBox="1"/>
          <p:nvPr/>
        </p:nvSpPr>
        <p:spPr>
          <a:xfrm>
            <a:off x="4823617" y="797075"/>
            <a:ext cx="427683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Determine the perimeter and the area of the composite shape shown.</a:t>
            </a:r>
          </a:p>
        </p:txBody>
      </p:sp>
    </p:spTree>
    <p:extLst>
      <p:ext uri="{BB962C8B-B14F-4D97-AF65-F5344CB8AC3E}">
        <p14:creationId xmlns:p14="http://schemas.microsoft.com/office/powerpoint/2010/main" val="2446723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FF13-4DBA-2D40-86F2-39697FE5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CFE370-2D84-7848-A44D-CBD27C8E62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96" t="6156" r="8784" b="10105"/>
          <a:stretch/>
        </p:blipFill>
        <p:spPr>
          <a:xfrm>
            <a:off x="398009" y="1973942"/>
            <a:ext cx="4554991" cy="3621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B8785F-09E0-EA47-9B13-212438CC122D}"/>
              </a:ext>
            </a:extLst>
          </p:cNvPr>
          <p:cNvSpPr txBox="1"/>
          <p:nvPr/>
        </p:nvSpPr>
        <p:spPr>
          <a:xfrm>
            <a:off x="1906247" y="5151508"/>
            <a:ext cx="86598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 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5B9B2-01A7-2742-A40D-E73810E81BF7}"/>
              </a:ext>
            </a:extLst>
          </p:cNvPr>
          <p:cNvSpPr txBox="1"/>
          <p:nvPr/>
        </p:nvSpPr>
        <p:spPr>
          <a:xfrm>
            <a:off x="4087018" y="2647794"/>
            <a:ext cx="86598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19679-FD52-1044-B006-6C90D8EE7485}"/>
              </a:ext>
            </a:extLst>
          </p:cNvPr>
          <p:cNvSpPr txBox="1"/>
          <p:nvPr/>
        </p:nvSpPr>
        <p:spPr>
          <a:xfrm>
            <a:off x="4087018" y="4121477"/>
            <a:ext cx="86598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45C20-90F8-3E4C-8495-8BBDB7D07040}"/>
              </a:ext>
            </a:extLst>
          </p:cNvPr>
          <p:cNvSpPr txBox="1"/>
          <p:nvPr/>
        </p:nvSpPr>
        <p:spPr>
          <a:xfrm>
            <a:off x="2365830" y="3254599"/>
            <a:ext cx="5950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3C06F-3B40-C648-8FAE-2356F126B393}"/>
              </a:ext>
            </a:extLst>
          </p:cNvPr>
          <p:cNvSpPr txBox="1"/>
          <p:nvPr/>
        </p:nvSpPr>
        <p:spPr>
          <a:xfrm>
            <a:off x="4953000" y="624114"/>
            <a:ext cx="42719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Mindy is planning to build a circular swimming pool in her backyard (as shown in the diagram) and paved the remainder.  She would also like to fenced the pool as well as the paved area.</a:t>
            </a:r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Calculate the area which is required to be paved.</a:t>
            </a:r>
          </a:p>
          <a:p>
            <a:pPr marL="457200" indent="-457200">
              <a:buAutoNum type="arabicPeriod"/>
            </a:pPr>
            <a:r>
              <a:rPr lang="en-US" sz="2000" dirty="0"/>
              <a:t>Calculate the length of the fence required for the pool as well as the backyard.</a:t>
            </a:r>
          </a:p>
          <a:p>
            <a:pPr marL="457200" indent="-457200">
              <a:buAutoNum type="arabicPeriod"/>
            </a:pPr>
            <a:r>
              <a:rPr lang="en-US" sz="2000" dirty="0"/>
              <a:t>If the cost of paving is $80/m</a:t>
            </a:r>
            <a:r>
              <a:rPr lang="en-US" sz="2000" baseline="30000" dirty="0"/>
              <a:t>2</a:t>
            </a:r>
            <a:r>
              <a:rPr lang="en-US" sz="2000" dirty="0"/>
              <a:t>, calculate the total cost required to paved the shaded area.</a:t>
            </a:r>
          </a:p>
        </p:txBody>
      </p:sp>
    </p:spTree>
    <p:extLst>
      <p:ext uri="{BB962C8B-B14F-4D97-AF65-F5344CB8AC3E}">
        <p14:creationId xmlns:p14="http://schemas.microsoft.com/office/powerpoint/2010/main" val="4054331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F425-7F9F-494E-BF98-37E26767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a circle is to have an area of 18 cm</a:t>
            </a:r>
            <a:r>
              <a:rPr lang="en-US" sz="2800" baseline="30000" dirty="0"/>
              <a:t>2</a:t>
            </a:r>
            <a:r>
              <a:rPr lang="en-US" sz="2800" dirty="0"/>
              <a:t>, what must be the radius of the circle, to the nearest millimeter?</a:t>
            </a:r>
          </a:p>
        </p:txBody>
      </p:sp>
    </p:spTree>
    <p:extLst>
      <p:ext uri="{BB962C8B-B14F-4D97-AF65-F5344CB8AC3E}">
        <p14:creationId xmlns:p14="http://schemas.microsoft.com/office/powerpoint/2010/main" val="219333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B16E90-88FA-A24F-AE5F-98EFAF9A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384" t="16855" r="26587" b="12984"/>
          <a:stretch/>
        </p:blipFill>
        <p:spPr>
          <a:xfrm>
            <a:off x="642936" y="349463"/>
            <a:ext cx="7472364" cy="65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5438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94</TotalTime>
  <Words>425</Words>
  <Application>Microsoft Macintosh PowerPoint</Application>
  <PresentationFormat>A4 Paper (210x297 mm)</PresentationFormat>
  <Paragraphs>109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A4</vt:lpstr>
      <vt:lpstr>Perimeter and area</vt:lpstr>
      <vt:lpstr>PowerPoint Presentation</vt:lpstr>
      <vt:lpstr>PowerPoint Presentation</vt:lpstr>
      <vt:lpstr>Square and rectangle</vt:lpstr>
      <vt:lpstr>Triangle</vt:lpstr>
      <vt:lpstr>Rhombus and kite</vt:lpstr>
      <vt:lpstr>Parallelogram and trapezium</vt:lpstr>
      <vt:lpstr>Circle</vt:lpstr>
      <vt:lpstr>Sector of a circle</vt:lpstr>
      <vt:lpstr>PowerPoint Presentation</vt:lpstr>
      <vt:lpstr>PowerPoint Presentation</vt:lpstr>
      <vt:lpstr>PowerPoint Presentation</vt:lpstr>
      <vt:lpstr>Example</vt:lpstr>
      <vt:lpstr>Examples</vt:lpstr>
      <vt:lpstr>If a circle is to have an area of 18 cm2, what must be the radius of the circle, to the nearest millimeter?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 and area</dc:title>
  <dc:creator>LOH Michael [Shenton College]</dc:creator>
  <cp:lastModifiedBy>LOH Michael [Shenton College]</cp:lastModifiedBy>
  <cp:revision>5</cp:revision>
  <cp:lastPrinted>2018-04-09T04:20:56Z</cp:lastPrinted>
  <dcterms:created xsi:type="dcterms:W3CDTF">2018-04-05T13:54:26Z</dcterms:created>
  <dcterms:modified xsi:type="dcterms:W3CDTF">2019-04-07T08:57:48Z</dcterms:modified>
</cp:coreProperties>
</file>
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8" r:id="rId3"/>
    <p:sldId id="262" r:id="rId4"/>
    <p:sldId id="263" r:id="rId5"/>
    <p:sldId id="284" r:id="rId6"/>
    <p:sldId id="285" r:id="rId7"/>
    <p:sldId id="286" r:id="rId8"/>
    <p:sldId id="287" r:id="rId9"/>
    <p:sldId id="288" r:id="rId10"/>
    <p:sldId id="289" r:id="rId11"/>
    <p:sldId id="257" r:id="rId12"/>
    <p:sldId id="264" r:id="rId13"/>
    <p:sldId id="265" r:id="rId14"/>
    <p:sldId id="267" r:id="rId15"/>
    <p:sldId id="282" r:id="rId16"/>
    <p:sldId id="281" r:id="rId17"/>
    <p:sldId id="278" r:id="rId18"/>
    <p:sldId id="290" r:id="rId19"/>
    <p:sldId id="291" r:id="rId20"/>
    <p:sldId id="279" r:id="rId21"/>
    <p:sldId id="283" r:id="rId22"/>
    <p:sldId id="260" r:id="rId23"/>
    <p:sldId id="268" r:id="rId24"/>
  </p:sldIdLst>
  <p:sldSz cx="9906000" cy="6858000" type="A4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FA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392"/>
    <p:restoredTop sz="94618"/>
  </p:normalViewPr>
  <p:slideViewPr>
    <p:cSldViewPr snapToGrid="0" snapToObjects="1">
      <p:cViewPr varScale="1">
        <p:scale>
          <a:sx n="97" d="100"/>
          <a:sy n="97" d="100"/>
        </p:scale>
        <p:origin x="1064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6/22/19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6/22/19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6/22/19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6/22/19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6/22/19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6/22/19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6/22/19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6/22/19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6/22/19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6/22/19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6/22/19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08D555-D2EB-A045-AEDE-72C9D0B9666E}" type="datetimeFigureOut">
              <a:rPr lang="en-US" smtClean="0"/>
              <a:t>6/22/19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62040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08DCF9-280E-9A41-9DD2-16364A39D4A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Equation of a Straight Line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8BE3559-ABF0-1846-9757-4F26CC400C2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59056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 straight line?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3718" y="1610278"/>
            <a:ext cx="4419600" cy="4351338"/>
          </a:xfrm>
        </p:spPr>
        <p:txBody>
          <a:bodyPr/>
          <a:lstStyle/>
          <a:p>
            <a:r>
              <a:rPr lang="en-US" dirty="0"/>
              <a:t>A linear relation</a:t>
            </a:r>
          </a:p>
          <a:p>
            <a:r>
              <a:rPr lang="en-US" dirty="0"/>
              <a:t>All the points on the line with co-ordinates which can satisfy a given equation</a:t>
            </a:r>
          </a:p>
          <a:p>
            <a:r>
              <a:rPr lang="en-US" dirty="0"/>
              <a:t>Generally in the form of </a:t>
            </a:r>
          </a:p>
          <a:p>
            <a:pPr marL="457200" lvl="1" indent="0">
              <a:buNone/>
            </a:pPr>
            <a:r>
              <a:rPr lang="en-US" b="1" dirty="0"/>
              <a:t>y = mx + c</a:t>
            </a:r>
            <a:endParaRPr lang="en-US" dirty="0"/>
          </a:p>
          <a:p>
            <a:pPr marL="457200" lvl="1" indent="0">
              <a:buNone/>
            </a:pPr>
            <a:r>
              <a:rPr lang="en-US" dirty="0"/>
              <a:t>Where m </a:t>
            </a:r>
            <a:r>
              <a:rPr lang="en-AU" dirty="0"/>
              <a:t>= the gradient (slope) of the line and c = the constant (y-intercept)</a:t>
            </a:r>
            <a:endParaRPr lang="en-US" dirty="0"/>
          </a:p>
        </p:txBody>
      </p:sp>
      <p:cxnSp>
        <p:nvCxnSpPr>
          <p:cNvPr id="12" name="Straight Arrow Connector 11"/>
          <p:cNvCxnSpPr/>
          <p:nvPr/>
        </p:nvCxnSpPr>
        <p:spPr>
          <a:xfrm flipV="1">
            <a:off x="7334576" y="2138775"/>
            <a:ext cx="0" cy="3659688"/>
          </a:xfrm>
          <a:prstGeom prst="straightConnector1">
            <a:avLst/>
          </a:prstGeom>
          <a:ln w="57150"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/>
          <p:nvPr/>
        </p:nvCxnSpPr>
        <p:spPr>
          <a:xfrm rot="5400000" flipV="1">
            <a:off x="7324138" y="2291175"/>
            <a:ext cx="0" cy="3659688"/>
          </a:xfrm>
          <a:prstGeom prst="straightConnector1">
            <a:avLst/>
          </a:prstGeom>
          <a:ln w="57150"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7171738" y="1825625"/>
            <a:ext cx="3308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52726" y="3919555"/>
            <a:ext cx="3308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x</a:t>
            </a:r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5618510" y="2564660"/>
            <a:ext cx="3031299" cy="2442575"/>
          </a:xfrm>
          <a:prstGeom prst="line">
            <a:avLst/>
          </a:prstGeom>
          <a:ln w="412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651304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Recall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1037" y="1381921"/>
            <a:ext cx="8543925" cy="617538"/>
          </a:xfrm>
        </p:spPr>
        <p:txBody>
          <a:bodyPr/>
          <a:lstStyle/>
          <a:p>
            <a:r>
              <a:rPr lang="en-US" dirty="0"/>
              <a:t>Gradient could be positive or negative.</a:t>
            </a:r>
          </a:p>
        </p:txBody>
      </p:sp>
      <p:cxnSp>
        <p:nvCxnSpPr>
          <p:cNvPr id="4" name="Straight Arrow Connector 3"/>
          <p:cNvCxnSpPr/>
          <p:nvPr/>
        </p:nvCxnSpPr>
        <p:spPr>
          <a:xfrm flipV="1">
            <a:off x="4634238" y="2438812"/>
            <a:ext cx="0" cy="3659688"/>
          </a:xfrm>
          <a:prstGeom prst="straightConnector1">
            <a:avLst/>
          </a:prstGeom>
          <a:ln w="57150"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/>
          <p:cNvCxnSpPr/>
          <p:nvPr/>
        </p:nvCxnSpPr>
        <p:spPr>
          <a:xfrm rot="5400000" flipV="1">
            <a:off x="4623800" y="2591212"/>
            <a:ext cx="0" cy="3659688"/>
          </a:xfrm>
          <a:prstGeom prst="straightConnector1">
            <a:avLst/>
          </a:prstGeom>
          <a:ln w="57150"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471400" y="2125662"/>
            <a:ext cx="3308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2388" y="4219592"/>
            <a:ext cx="3308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x</a:t>
            </a:r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2918172" y="2864697"/>
            <a:ext cx="3031299" cy="2442575"/>
          </a:xfrm>
          <a:prstGeom prst="line">
            <a:avLst/>
          </a:prstGeom>
          <a:ln w="412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3422345" y="2707484"/>
            <a:ext cx="3031299" cy="2442575"/>
          </a:xfrm>
          <a:prstGeom prst="line">
            <a:avLst/>
          </a:prstGeom>
          <a:ln w="412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073687" y="2962632"/>
            <a:ext cx="3480279" cy="101566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dirty="0"/>
              <a:t>This gradient is </a:t>
            </a:r>
            <a:r>
              <a:rPr lang="en-US" sz="2000" b="1" i="1" dirty="0">
                <a:solidFill>
                  <a:srgbClr val="FF0000"/>
                </a:solidFill>
              </a:rPr>
              <a:t>positive</a:t>
            </a:r>
            <a:r>
              <a:rPr lang="en-US" sz="2000" dirty="0">
                <a:solidFill>
                  <a:schemeClr val="bg2">
                    <a:lumMod val="10000"/>
                  </a:schemeClr>
                </a:solidFill>
              </a:rPr>
              <a:t>. </a:t>
            </a:r>
            <a:r>
              <a:rPr lang="en-US" sz="2000" dirty="0"/>
              <a:t>The y value increases as the x value increases.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9494" y="2500357"/>
            <a:ext cx="2723502" cy="1323439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dirty="0"/>
              <a:t>This gradient is </a:t>
            </a:r>
            <a:r>
              <a:rPr lang="en-US" sz="2000" b="1" i="1" dirty="0">
                <a:solidFill>
                  <a:srgbClr val="00B050"/>
                </a:solidFill>
              </a:rPr>
              <a:t>negative</a:t>
            </a:r>
            <a:r>
              <a:rPr lang="en-US" sz="2000" dirty="0">
                <a:solidFill>
                  <a:schemeClr val="bg2">
                    <a:lumMod val="10000"/>
                  </a:schemeClr>
                </a:solidFill>
              </a:rPr>
              <a:t>. </a:t>
            </a:r>
            <a:r>
              <a:rPr lang="en-US" sz="2000" dirty="0"/>
              <a:t>The y value decreases as the x value increases. </a:t>
            </a:r>
          </a:p>
        </p:txBody>
      </p:sp>
    </p:spTree>
    <p:extLst>
      <p:ext uri="{BB962C8B-B14F-4D97-AF65-F5344CB8AC3E}">
        <p14:creationId xmlns:p14="http://schemas.microsoft.com/office/powerpoint/2010/main" val="20626787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E7255C87-A26D-0A4C-9A8E-28A9F88D3A41}"/>
              </a:ext>
            </a:extLst>
          </p:cNvPr>
          <p:cNvGrpSpPr/>
          <p:nvPr/>
        </p:nvGrpSpPr>
        <p:grpSpPr>
          <a:xfrm>
            <a:off x="928048" y="464024"/>
            <a:ext cx="7861110" cy="5950424"/>
            <a:chOff x="5494294" y="1825625"/>
            <a:chExt cx="3889328" cy="3972838"/>
          </a:xfrm>
        </p:grpSpPr>
        <p:cxnSp>
          <p:nvCxnSpPr>
            <p:cNvPr id="12" name="Straight Arrow Connector 11"/>
            <p:cNvCxnSpPr/>
            <p:nvPr/>
          </p:nvCxnSpPr>
          <p:spPr>
            <a:xfrm flipV="1">
              <a:off x="7334576" y="2138775"/>
              <a:ext cx="0" cy="3659688"/>
            </a:xfrm>
            <a:prstGeom prst="straightConnector1">
              <a:avLst/>
            </a:prstGeom>
            <a:ln w="57150"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/>
            <p:cNvCxnSpPr/>
            <p:nvPr/>
          </p:nvCxnSpPr>
          <p:spPr>
            <a:xfrm rot="5400000" flipV="1">
              <a:off x="7324138" y="2291175"/>
              <a:ext cx="0" cy="3659688"/>
            </a:xfrm>
            <a:prstGeom prst="straightConnector1">
              <a:avLst/>
            </a:prstGeom>
            <a:ln w="57150"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TextBox 13"/>
            <p:cNvSpPr txBox="1"/>
            <p:nvPr/>
          </p:nvSpPr>
          <p:spPr>
            <a:xfrm>
              <a:off x="7171738" y="1825625"/>
              <a:ext cx="33089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/>
                <a:t>y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9052726" y="3919555"/>
              <a:ext cx="33089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/>
                <a:t>x</a:t>
              </a:r>
            </a:p>
          </p:txBody>
        </p:sp>
        <p:cxnSp>
          <p:nvCxnSpPr>
            <p:cNvPr id="7" name="Straight Connector 6"/>
            <p:cNvCxnSpPr/>
            <p:nvPr/>
          </p:nvCxnSpPr>
          <p:spPr>
            <a:xfrm flipV="1">
              <a:off x="5618510" y="2564660"/>
              <a:ext cx="3031299" cy="2442575"/>
            </a:xfrm>
            <a:prstGeom prst="line">
              <a:avLst/>
            </a:prstGeom>
            <a:ln w="412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" name="Rectangle 9">
            <a:extLst>
              <a:ext uri="{FF2B5EF4-FFF2-40B4-BE49-F238E27FC236}">
                <a16:creationId xmlns:a16="http://schemas.microsoft.com/office/drawing/2014/main" id="{DB2500DE-4C68-5D4F-A1C2-FEA6A2A76D54}"/>
              </a:ext>
            </a:extLst>
          </p:cNvPr>
          <p:cNvSpPr/>
          <p:nvPr/>
        </p:nvSpPr>
        <p:spPr>
          <a:xfrm>
            <a:off x="5830401" y="1033665"/>
            <a:ext cx="3433498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4000" b="1" dirty="0"/>
              <a:t>y = mx + c</a:t>
            </a:r>
            <a:endParaRPr lang="en-US" sz="4000" dirty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68ABA6DC-8C6B-2A4F-B298-E2F821AD5471}"/>
              </a:ext>
            </a:extLst>
          </p:cNvPr>
          <p:cNvSpPr/>
          <p:nvPr/>
        </p:nvSpPr>
        <p:spPr>
          <a:xfrm>
            <a:off x="4558289" y="3070747"/>
            <a:ext cx="191131" cy="177971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62C1C44-3624-4646-90D5-9588B59D4D40}"/>
              </a:ext>
            </a:extLst>
          </p:cNvPr>
          <p:cNvSpPr txBox="1"/>
          <p:nvPr/>
        </p:nvSpPr>
        <p:spPr>
          <a:xfrm>
            <a:off x="928048" y="2149674"/>
            <a:ext cx="387553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B050"/>
                </a:solidFill>
              </a:rPr>
              <a:t>c = y-intercept</a:t>
            </a:r>
          </a:p>
          <a:p>
            <a:r>
              <a:rPr lang="en-US" sz="2800" b="1" dirty="0">
                <a:solidFill>
                  <a:srgbClr val="00B050"/>
                </a:solidFill>
              </a:rPr>
              <a:t>The co-ordinate = (0,c)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DD8FD8B5-8ADB-A344-9A47-152EC6742EC2}"/>
              </a:ext>
            </a:extLst>
          </p:cNvPr>
          <p:cNvCxnSpPr/>
          <p:nvPr/>
        </p:nvCxnSpPr>
        <p:spPr>
          <a:xfrm>
            <a:off x="5377218" y="2716929"/>
            <a:ext cx="1637731" cy="0"/>
          </a:xfrm>
          <a:prstGeom prst="straightConnector1">
            <a:avLst/>
          </a:prstGeom>
          <a:ln w="5715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82B1E04C-08F0-EB4B-844A-D738D2D2AE59}"/>
              </a:ext>
            </a:extLst>
          </p:cNvPr>
          <p:cNvCxnSpPr>
            <a:cxnSpLocks/>
          </p:cNvCxnSpPr>
          <p:nvPr/>
        </p:nvCxnSpPr>
        <p:spPr>
          <a:xfrm flipV="1">
            <a:off x="7014949" y="1755795"/>
            <a:ext cx="2" cy="961134"/>
          </a:xfrm>
          <a:prstGeom prst="straightConnector1">
            <a:avLst/>
          </a:prstGeom>
          <a:ln w="5715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A469805C-D0E3-0F4C-BFBE-C19A502EEA19}"/>
                  </a:ext>
                </a:extLst>
              </p:cNvPr>
              <p:cNvSpPr txBox="1"/>
              <p:nvPr/>
            </p:nvSpPr>
            <p:spPr>
              <a:xfrm>
                <a:off x="5368206" y="2771664"/>
                <a:ext cx="3875538" cy="7159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b="1" dirty="0">
                    <a:solidFill>
                      <a:srgbClr val="7030A0"/>
                    </a:solidFill>
                  </a:rPr>
                  <a:t>m = gradient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8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𝒓𝒊𝒔𝒆</m:t>
                        </m:r>
                      </m:num>
                      <m:den>
                        <m:r>
                          <a:rPr lang="en-AU" sz="28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𝒓𝒖𝒏</m:t>
                        </m:r>
                      </m:den>
                    </m:f>
                  </m:oMath>
                </a14:m>
                <a:endParaRPr lang="en-US" sz="2800" b="1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A469805C-D0E3-0F4C-BFBE-C19A502EEA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68206" y="2771664"/>
                <a:ext cx="3875538" cy="715965"/>
              </a:xfrm>
              <a:prstGeom prst="rect">
                <a:avLst/>
              </a:prstGeom>
              <a:blipFill>
                <a:blip r:embed="rId2"/>
                <a:stretch>
                  <a:fillRect l="-3268" b="-86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Rectangle 22">
            <a:extLst>
              <a:ext uri="{FF2B5EF4-FFF2-40B4-BE49-F238E27FC236}">
                <a16:creationId xmlns:a16="http://schemas.microsoft.com/office/drawing/2014/main" id="{FB2F2B8D-3BED-EF4B-AC2E-5C27AB6B5D68}"/>
              </a:ext>
            </a:extLst>
          </p:cNvPr>
          <p:cNvSpPr/>
          <p:nvPr/>
        </p:nvSpPr>
        <p:spPr>
          <a:xfrm>
            <a:off x="5830401" y="1033665"/>
            <a:ext cx="3433498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4000" b="1" dirty="0"/>
              <a:t>y = </a:t>
            </a:r>
            <a:r>
              <a:rPr lang="en-US" sz="4000" b="1" dirty="0">
                <a:solidFill>
                  <a:srgbClr val="7030A0"/>
                </a:solidFill>
              </a:rPr>
              <a:t>m</a:t>
            </a:r>
            <a:r>
              <a:rPr lang="en-US" sz="4000" b="1" dirty="0"/>
              <a:t>x + c</a:t>
            </a:r>
            <a:endParaRPr lang="en-US" sz="4000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8EFE47F-4817-BD42-BE4A-7AB27C4CC543}"/>
              </a:ext>
            </a:extLst>
          </p:cNvPr>
          <p:cNvSpPr/>
          <p:nvPr/>
        </p:nvSpPr>
        <p:spPr>
          <a:xfrm>
            <a:off x="5830401" y="1033665"/>
            <a:ext cx="3433498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4000" b="1" dirty="0"/>
              <a:t>y = </a:t>
            </a:r>
            <a:r>
              <a:rPr lang="en-US" sz="4000" b="1" dirty="0">
                <a:solidFill>
                  <a:srgbClr val="7030A0"/>
                </a:solidFill>
              </a:rPr>
              <a:t>m</a:t>
            </a:r>
            <a:r>
              <a:rPr lang="en-US" sz="4000" b="1" dirty="0"/>
              <a:t>x + </a:t>
            </a:r>
            <a:r>
              <a:rPr lang="en-US" sz="4000" b="1" dirty="0">
                <a:solidFill>
                  <a:srgbClr val="00B050"/>
                </a:solidFill>
              </a:rPr>
              <a:t>c</a:t>
            </a:r>
            <a:endParaRPr lang="en-US" sz="4000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00025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6" grpId="0"/>
      <p:bldP spid="22" grpId="0"/>
      <p:bldP spid="23" grpId="0"/>
      <p:bldP spid="2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E7255C87-A26D-0A4C-9A8E-28A9F88D3A41}"/>
              </a:ext>
            </a:extLst>
          </p:cNvPr>
          <p:cNvGrpSpPr/>
          <p:nvPr/>
        </p:nvGrpSpPr>
        <p:grpSpPr>
          <a:xfrm>
            <a:off x="928048" y="464024"/>
            <a:ext cx="7861110" cy="5950424"/>
            <a:chOff x="5494294" y="1825625"/>
            <a:chExt cx="3889328" cy="3972838"/>
          </a:xfrm>
        </p:grpSpPr>
        <p:cxnSp>
          <p:nvCxnSpPr>
            <p:cNvPr id="12" name="Straight Arrow Connector 11"/>
            <p:cNvCxnSpPr/>
            <p:nvPr/>
          </p:nvCxnSpPr>
          <p:spPr>
            <a:xfrm flipV="1">
              <a:off x="7334576" y="2138775"/>
              <a:ext cx="0" cy="3659688"/>
            </a:xfrm>
            <a:prstGeom prst="straightConnector1">
              <a:avLst/>
            </a:prstGeom>
            <a:ln w="57150"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/>
            <p:cNvCxnSpPr/>
            <p:nvPr/>
          </p:nvCxnSpPr>
          <p:spPr>
            <a:xfrm rot="5400000" flipV="1">
              <a:off x="7324138" y="2291175"/>
              <a:ext cx="0" cy="3659688"/>
            </a:xfrm>
            <a:prstGeom prst="straightConnector1">
              <a:avLst/>
            </a:prstGeom>
            <a:ln w="57150"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TextBox 13"/>
            <p:cNvSpPr txBox="1"/>
            <p:nvPr/>
          </p:nvSpPr>
          <p:spPr>
            <a:xfrm>
              <a:off x="7171738" y="1825625"/>
              <a:ext cx="33089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/>
                <a:t>y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9052726" y="3919555"/>
              <a:ext cx="33089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/>
                <a:t>x</a:t>
              </a:r>
            </a:p>
          </p:txBody>
        </p:sp>
        <p:cxnSp>
          <p:nvCxnSpPr>
            <p:cNvPr id="7" name="Straight Connector 6"/>
            <p:cNvCxnSpPr/>
            <p:nvPr/>
          </p:nvCxnSpPr>
          <p:spPr>
            <a:xfrm flipV="1">
              <a:off x="5618510" y="2564660"/>
              <a:ext cx="3031299" cy="2442575"/>
            </a:xfrm>
            <a:prstGeom prst="line">
              <a:avLst/>
            </a:prstGeom>
            <a:ln w="412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" name="Rectangle 9">
            <a:extLst>
              <a:ext uri="{FF2B5EF4-FFF2-40B4-BE49-F238E27FC236}">
                <a16:creationId xmlns:a16="http://schemas.microsoft.com/office/drawing/2014/main" id="{DB2500DE-4C68-5D4F-A1C2-FEA6A2A76D54}"/>
              </a:ext>
            </a:extLst>
          </p:cNvPr>
          <p:cNvSpPr/>
          <p:nvPr/>
        </p:nvSpPr>
        <p:spPr>
          <a:xfrm>
            <a:off x="5830401" y="1033665"/>
            <a:ext cx="3433498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4000" b="1" dirty="0"/>
              <a:t>y = mx + c</a:t>
            </a:r>
            <a:endParaRPr lang="en-US" sz="4000" dirty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68ABA6DC-8C6B-2A4F-B298-E2F821AD5471}"/>
              </a:ext>
            </a:extLst>
          </p:cNvPr>
          <p:cNvSpPr/>
          <p:nvPr/>
        </p:nvSpPr>
        <p:spPr>
          <a:xfrm>
            <a:off x="4558289" y="3070747"/>
            <a:ext cx="191131" cy="177971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62C1C44-3624-4646-90D5-9588B59D4D40}"/>
              </a:ext>
            </a:extLst>
          </p:cNvPr>
          <p:cNvSpPr txBox="1"/>
          <p:nvPr/>
        </p:nvSpPr>
        <p:spPr>
          <a:xfrm>
            <a:off x="928048" y="2149674"/>
            <a:ext cx="387553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B050"/>
                </a:solidFill>
              </a:rPr>
              <a:t>c = y-intercept</a:t>
            </a:r>
          </a:p>
          <a:p>
            <a:r>
              <a:rPr lang="en-US" sz="2800" b="1" dirty="0">
                <a:solidFill>
                  <a:srgbClr val="00B050"/>
                </a:solidFill>
              </a:rPr>
              <a:t>The co-ordinate = (0,c)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DD8FD8B5-8ADB-A344-9A47-152EC6742EC2}"/>
              </a:ext>
            </a:extLst>
          </p:cNvPr>
          <p:cNvCxnSpPr/>
          <p:nvPr/>
        </p:nvCxnSpPr>
        <p:spPr>
          <a:xfrm>
            <a:off x="5377218" y="2716929"/>
            <a:ext cx="1637731" cy="0"/>
          </a:xfrm>
          <a:prstGeom prst="straightConnector1">
            <a:avLst/>
          </a:prstGeom>
          <a:ln w="5715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82B1E04C-08F0-EB4B-844A-D738D2D2AE59}"/>
              </a:ext>
            </a:extLst>
          </p:cNvPr>
          <p:cNvCxnSpPr>
            <a:cxnSpLocks/>
          </p:cNvCxnSpPr>
          <p:nvPr/>
        </p:nvCxnSpPr>
        <p:spPr>
          <a:xfrm flipV="1">
            <a:off x="7014949" y="1755795"/>
            <a:ext cx="2" cy="961134"/>
          </a:xfrm>
          <a:prstGeom prst="straightConnector1">
            <a:avLst/>
          </a:prstGeom>
          <a:ln w="5715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A469805C-D0E3-0F4C-BFBE-C19A502EEA19}"/>
                  </a:ext>
                </a:extLst>
              </p:cNvPr>
              <p:cNvSpPr txBox="1"/>
              <p:nvPr/>
            </p:nvSpPr>
            <p:spPr>
              <a:xfrm>
                <a:off x="5368206" y="2771664"/>
                <a:ext cx="3875538" cy="7159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b="1" dirty="0">
                    <a:solidFill>
                      <a:srgbClr val="7030A0"/>
                    </a:solidFill>
                  </a:rPr>
                  <a:t>m = gradient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8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𝒓𝒊𝒔𝒆</m:t>
                        </m:r>
                      </m:num>
                      <m:den>
                        <m:r>
                          <a:rPr lang="en-AU" sz="28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𝒓𝒖𝒏</m:t>
                        </m:r>
                      </m:den>
                    </m:f>
                  </m:oMath>
                </a14:m>
                <a:endParaRPr lang="en-US" sz="2800" b="1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A469805C-D0E3-0F4C-BFBE-C19A502EEA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68206" y="2771664"/>
                <a:ext cx="3875538" cy="715965"/>
              </a:xfrm>
              <a:prstGeom prst="rect">
                <a:avLst/>
              </a:prstGeom>
              <a:blipFill>
                <a:blip r:embed="rId2"/>
                <a:stretch>
                  <a:fillRect l="-3268" b="-86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Rectangle 22">
            <a:extLst>
              <a:ext uri="{FF2B5EF4-FFF2-40B4-BE49-F238E27FC236}">
                <a16:creationId xmlns:a16="http://schemas.microsoft.com/office/drawing/2014/main" id="{FB2F2B8D-3BED-EF4B-AC2E-5C27AB6B5D68}"/>
              </a:ext>
            </a:extLst>
          </p:cNvPr>
          <p:cNvSpPr/>
          <p:nvPr/>
        </p:nvSpPr>
        <p:spPr>
          <a:xfrm>
            <a:off x="5830401" y="1033665"/>
            <a:ext cx="3433498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4000" b="1" dirty="0"/>
              <a:t>y = </a:t>
            </a:r>
            <a:r>
              <a:rPr lang="en-US" sz="4000" b="1" dirty="0">
                <a:solidFill>
                  <a:srgbClr val="7030A0"/>
                </a:solidFill>
              </a:rPr>
              <a:t>m</a:t>
            </a:r>
            <a:r>
              <a:rPr lang="en-US" sz="4000" b="1" dirty="0"/>
              <a:t>x + c</a:t>
            </a:r>
            <a:endParaRPr lang="en-US" sz="4000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8EFE47F-4817-BD42-BE4A-7AB27C4CC543}"/>
              </a:ext>
            </a:extLst>
          </p:cNvPr>
          <p:cNvSpPr/>
          <p:nvPr/>
        </p:nvSpPr>
        <p:spPr>
          <a:xfrm>
            <a:off x="5830401" y="1033665"/>
            <a:ext cx="3433498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4000" b="1" dirty="0"/>
              <a:t>y = </a:t>
            </a:r>
            <a:r>
              <a:rPr lang="en-US" sz="4000" b="1" dirty="0">
                <a:solidFill>
                  <a:srgbClr val="7030A0"/>
                </a:solidFill>
              </a:rPr>
              <a:t>m</a:t>
            </a:r>
            <a:r>
              <a:rPr lang="en-US" sz="4000" b="1" dirty="0"/>
              <a:t>x + </a:t>
            </a:r>
            <a:r>
              <a:rPr lang="en-US" sz="4000" b="1" dirty="0">
                <a:solidFill>
                  <a:srgbClr val="00B050"/>
                </a:solidFill>
              </a:rPr>
              <a:t>c</a:t>
            </a:r>
            <a:endParaRPr lang="en-US" sz="4000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44476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6" grpId="0"/>
      <p:bldP spid="22" grpId="0"/>
      <p:bldP spid="23" grpId="0"/>
      <p:bldP spid="2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E7255C87-A26D-0A4C-9A8E-28A9F88D3A41}"/>
              </a:ext>
            </a:extLst>
          </p:cNvPr>
          <p:cNvGrpSpPr/>
          <p:nvPr/>
        </p:nvGrpSpPr>
        <p:grpSpPr>
          <a:xfrm>
            <a:off x="928048" y="464024"/>
            <a:ext cx="7861110" cy="5950424"/>
            <a:chOff x="5494294" y="1825625"/>
            <a:chExt cx="3889328" cy="3972838"/>
          </a:xfrm>
        </p:grpSpPr>
        <p:cxnSp>
          <p:nvCxnSpPr>
            <p:cNvPr id="12" name="Straight Arrow Connector 11"/>
            <p:cNvCxnSpPr/>
            <p:nvPr/>
          </p:nvCxnSpPr>
          <p:spPr>
            <a:xfrm flipV="1">
              <a:off x="7334576" y="2138775"/>
              <a:ext cx="0" cy="3659688"/>
            </a:xfrm>
            <a:prstGeom prst="straightConnector1">
              <a:avLst/>
            </a:prstGeom>
            <a:ln w="57150"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/>
            <p:cNvCxnSpPr/>
            <p:nvPr/>
          </p:nvCxnSpPr>
          <p:spPr>
            <a:xfrm rot="5400000" flipV="1">
              <a:off x="7324138" y="2291175"/>
              <a:ext cx="0" cy="3659688"/>
            </a:xfrm>
            <a:prstGeom prst="straightConnector1">
              <a:avLst/>
            </a:prstGeom>
            <a:ln w="57150"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TextBox 13"/>
            <p:cNvSpPr txBox="1"/>
            <p:nvPr/>
          </p:nvSpPr>
          <p:spPr>
            <a:xfrm>
              <a:off x="7171738" y="1825625"/>
              <a:ext cx="33089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/>
                <a:t>y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9052726" y="3919555"/>
              <a:ext cx="33089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/>
                <a:t>x</a:t>
              </a:r>
            </a:p>
          </p:txBody>
        </p:sp>
        <p:cxnSp>
          <p:nvCxnSpPr>
            <p:cNvPr id="7" name="Straight Connector 6"/>
            <p:cNvCxnSpPr/>
            <p:nvPr/>
          </p:nvCxnSpPr>
          <p:spPr>
            <a:xfrm flipV="1">
              <a:off x="5618510" y="2564660"/>
              <a:ext cx="3031299" cy="2442575"/>
            </a:xfrm>
            <a:prstGeom prst="line">
              <a:avLst/>
            </a:prstGeom>
            <a:ln w="412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Oval 10">
            <a:extLst>
              <a:ext uri="{FF2B5EF4-FFF2-40B4-BE49-F238E27FC236}">
                <a16:creationId xmlns:a16="http://schemas.microsoft.com/office/drawing/2014/main" id="{68ABA6DC-8C6B-2A4F-B298-E2F821AD5471}"/>
              </a:ext>
            </a:extLst>
          </p:cNvPr>
          <p:cNvSpPr/>
          <p:nvPr/>
        </p:nvSpPr>
        <p:spPr>
          <a:xfrm>
            <a:off x="4558289" y="3070747"/>
            <a:ext cx="191131" cy="177971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A291541-0DE7-1C4F-BFCB-D4C7E9FA84B4}"/>
              </a:ext>
            </a:extLst>
          </p:cNvPr>
          <p:cNvSpPr txBox="1"/>
          <p:nvPr/>
        </p:nvSpPr>
        <p:spPr>
          <a:xfrm>
            <a:off x="3609937" y="2787053"/>
            <a:ext cx="11394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(0,3)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80E1C8C6-5EDE-C240-8EBB-FAEF19AC56BB}"/>
              </a:ext>
            </a:extLst>
          </p:cNvPr>
          <p:cNvSpPr/>
          <p:nvPr/>
        </p:nvSpPr>
        <p:spPr>
          <a:xfrm>
            <a:off x="6625883" y="1889399"/>
            <a:ext cx="173655" cy="136350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2B56367-029C-9642-B6D9-F6CE463EB723}"/>
              </a:ext>
            </a:extLst>
          </p:cNvPr>
          <p:cNvSpPr txBox="1"/>
          <p:nvPr/>
        </p:nvSpPr>
        <p:spPr>
          <a:xfrm>
            <a:off x="6640307" y="1827317"/>
            <a:ext cx="11394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(6,6)</a:t>
            </a:r>
          </a:p>
        </p:txBody>
      </p:sp>
    </p:spTree>
    <p:extLst>
      <p:ext uri="{BB962C8B-B14F-4D97-AF65-F5344CB8AC3E}">
        <p14:creationId xmlns:p14="http://schemas.microsoft.com/office/powerpoint/2010/main" val="34383751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Arrow Connector 11"/>
          <p:cNvCxnSpPr/>
          <p:nvPr/>
        </p:nvCxnSpPr>
        <p:spPr>
          <a:xfrm flipV="1">
            <a:off x="4647626" y="933053"/>
            <a:ext cx="0" cy="5481395"/>
          </a:xfrm>
          <a:prstGeom prst="straightConnector1">
            <a:avLst/>
          </a:prstGeom>
          <a:ln w="57150"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/>
          <p:nvPr/>
        </p:nvCxnSpPr>
        <p:spPr>
          <a:xfrm rot="5400000" flipV="1">
            <a:off x="4626529" y="203531"/>
            <a:ext cx="0" cy="7396962"/>
          </a:xfrm>
          <a:prstGeom prst="straightConnector1">
            <a:avLst/>
          </a:prstGeom>
          <a:ln w="57150"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318498" y="464024"/>
            <a:ext cx="668807" cy="5531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20351" y="3600263"/>
            <a:ext cx="668807" cy="5531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x</a:t>
            </a:r>
          </a:p>
        </p:txBody>
      </p:sp>
      <p:cxnSp>
        <p:nvCxnSpPr>
          <p:cNvPr id="7" name="Straight Connector 6"/>
          <p:cNvCxnSpPr>
            <a:cxnSpLocks/>
          </p:cNvCxnSpPr>
          <p:nvPr/>
        </p:nvCxnSpPr>
        <p:spPr>
          <a:xfrm>
            <a:off x="1406770" y="3078785"/>
            <a:ext cx="5463107" cy="2953043"/>
          </a:xfrm>
          <a:prstGeom prst="line">
            <a:avLst/>
          </a:prstGeom>
          <a:ln w="412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Oval 10">
            <a:extLst>
              <a:ext uri="{FF2B5EF4-FFF2-40B4-BE49-F238E27FC236}">
                <a16:creationId xmlns:a16="http://schemas.microsoft.com/office/drawing/2014/main" id="{68ABA6DC-8C6B-2A4F-B298-E2F821AD5471}"/>
              </a:ext>
            </a:extLst>
          </p:cNvPr>
          <p:cNvSpPr/>
          <p:nvPr/>
        </p:nvSpPr>
        <p:spPr>
          <a:xfrm>
            <a:off x="4530963" y="4724747"/>
            <a:ext cx="191131" cy="177971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A291541-0DE7-1C4F-BFCB-D4C7E9FA84B4}"/>
              </a:ext>
            </a:extLst>
          </p:cNvPr>
          <p:cNvSpPr txBox="1"/>
          <p:nvPr/>
        </p:nvSpPr>
        <p:spPr>
          <a:xfrm>
            <a:off x="4749420" y="4555307"/>
            <a:ext cx="11394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(0,-2)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2B56367-029C-9642-B6D9-F6CE463EB723}"/>
              </a:ext>
            </a:extLst>
          </p:cNvPr>
          <p:cNvSpPr txBox="1"/>
          <p:nvPr/>
        </p:nvSpPr>
        <p:spPr>
          <a:xfrm>
            <a:off x="2327775" y="4153440"/>
            <a:ext cx="11394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(-2, -1)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F8AB2FF4-D13B-5C48-974D-48E1CCA7A108}"/>
              </a:ext>
            </a:extLst>
          </p:cNvPr>
          <p:cNvSpPr/>
          <p:nvPr/>
        </p:nvSpPr>
        <p:spPr>
          <a:xfrm>
            <a:off x="3488398" y="4153677"/>
            <a:ext cx="191131" cy="177971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14560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Arrow Connector 11"/>
          <p:cNvCxnSpPr/>
          <p:nvPr/>
        </p:nvCxnSpPr>
        <p:spPr>
          <a:xfrm flipV="1">
            <a:off x="4647626" y="933053"/>
            <a:ext cx="0" cy="5481395"/>
          </a:xfrm>
          <a:prstGeom prst="straightConnector1">
            <a:avLst/>
          </a:prstGeom>
          <a:ln w="57150"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/>
          <p:nvPr/>
        </p:nvCxnSpPr>
        <p:spPr>
          <a:xfrm rot="5400000" flipV="1">
            <a:off x="4626529" y="203531"/>
            <a:ext cx="0" cy="7396962"/>
          </a:xfrm>
          <a:prstGeom prst="straightConnector1">
            <a:avLst/>
          </a:prstGeom>
          <a:ln w="57150"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318498" y="464024"/>
            <a:ext cx="668807" cy="5531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20351" y="3600263"/>
            <a:ext cx="668807" cy="5531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x</a:t>
            </a:r>
          </a:p>
        </p:txBody>
      </p:sp>
      <p:cxnSp>
        <p:nvCxnSpPr>
          <p:cNvPr id="7" name="Straight Connector 6"/>
          <p:cNvCxnSpPr>
            <a:cxnSpLocks/>
          </p:cNvCxnSpPr>
          <p:nvPr/>
        </p:nvCxnSpPr>
        <p:spPr>
          <a:xfrm flipV="1">
            <a:off x="2482640" y="2004554"/>
            <a:ext cx="5414594" cy="4592296"/>
          </a:xfrm>
          <a:prstGeom prst="line">
            <a:avLst/>
          </a:prstGeom>
          <a:ln w="412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Oval 10">
            <a:extLst>
              <a:ext uri="{FF2B5EF4-FFF2-40B4-BE49-F238E27FC236}">
                <a16:creationId xmlns:a16="http://schemas.microsoft.com/office/drawing/2014/main" id="{68ABA6DC-8C6B-2A4F-B298-E2F821AD5471}"/>
              </a:ext>
            </a:extLst>
          </p:cNvPr>
          <p:cNvSpPr/>
          <p:nvPr/>
        </p:nvSpPr>
        <p:spPr>
          <a:xfrm>
            <a:off x="4526562" y="4668804"/>
            <a:ext cx="191131" cy="177971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A291541-0DE7-1C4F-BFCB-D4C7E9FA84B4}"/>
              </a:ext>
            </a:extLst>
          </p:cNvPr>
          <p:cNvSpPr txBox="1"/>
          <p:nvPr/>
        </p:nvSpPr>
        <p:spPr>
          <a:xfrm>
            <a:off x="3508143" y="4437971"/>
            <a:ext cx="11394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(0,-3)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80E1C8C6-5EDE-C240-8EBB-FAEF19AC56BB}"/>
              </a:ext>
            </a:extLst>
          </p:cNvPr>
          <p:cNvSpPr/>
          <p:nvPr/>
        </p:nvSpPr>
        <p:spPr>
          <a:xfrm>
            <a:off x="7531474" y="2166408"/>
            <a:ext cx="173655" cy="202278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2B56367-029C-9642-B6D9-F6CE463EB723}"/>
              </a:ext>
            </a:extLst>
          </p:cNvPr>
          <p:cNvSpPr txBox="1"/>
          <p:nvPr/>
        </p:nvSpPr>
        <p:spPr>
          <a:xfrm>
            <a:off x="7497332" y="2208770"/>
            <a:ext cx="11394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(9,6)</a:t>
            </a:r>
          </a:p>
        </p:txBody>
      </p:sp>
    </p:spTree>
    <p:extLst>
      <p:ext uri="{BB962C8B-B14F-4D97-AF65-F5344CB8AC3E}">
        <p14:creationId xmlns:p14="http://schemas.microsoft.com/office/powerpoint/2010/main" val="3497698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Arrow Connector 11"/>
          <p:cNvCxnSpPr/>
          <p:nvPr/>
        </p:nvCxnSpPr>
        <p:spPr>
          <a:xfrm flipV="1">
            <a:off x="4647626" y="933053"/>
            <a:ext cx="0" cy="5481395"/>
          </a:xfrm>
          <a:prstGeom prst="straightConnector1">
            <a:avLst/>
          </a:prstGeom>
          <a:ln w="57150"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/>
          <p:nvPr/>
        </p:nvCxnSpPr>
        <p:spPr>
          <a:xfrm rot="5400000" flipV="1">
            <a:off x="4626529" y="203531"/>
            <a:ext cx="0" cy="7396962"/>
          </a:xfrm>
          <a:prstGeom prst="straightConnector1">
            <a:avLst/>
          </a:prstGeom>
          <a:ln w="57150"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318498" y="464024"/>
            <a:ext cx="668807" cy="5531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20351" y="3600263"/>
            <a:ext cx="668807" cy="5531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x</a:t>
            </a:r>
          </a:p>
        </p:txBody>
      </p:sp>
      <p:cxnSp>
        <p:nvCxnSpPr>
          <p:cNvPr id="7" name="Straight Connector 6"/>
          <p:cNvCxnSpPr>
            <a:cxnSpLocks/>
          </p:cNvCxnSpPr>
          <p:nvPr/>
        </p:nvCxnSpPr>
        <p:spPr>
          <a:xfrm flipV="1">
            <a:off x="2872976" y="1054518"/>
            <a:ext cx="3763241" cy="5306175"/>
          </a:xfrm>
          <a:prstGeom prst="line">
            <a:avLst/>
          </a:prstGeom>
          <a:ln w="412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Oval 10">
            <a:extLst>
              <a:ext uri="{FF2B5EF4-FFF2-40B4-BE49-F238E27FC236}">
                <a16:creationId xmlns:a16="http://schemas.microsoft.com/office/drawing/2014/main" id="{68ABA6DC-8C6B-2A4F-B298-E2F821AD5471}"/>
              </a:ext>
            </a:extLst>
          </p:cNvPr>
          <p:cNvSpPr/>
          <p:nvPr/>
        </p:nvSpPr>
        <p:spPr>
          <a:xfrm>
            <a:off x="4530963" y="3806197"/>
            <a:ext cx="191131" cy="177971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A291541-0DE7-1C4F-BFCB-D4C7E9FA84B4}"/>
              </a:ext>
            </a:extLst>
          </p:cNvPr>
          <p:cNvSpPr txBox="1"/>
          <p:nvPr/>
        </p:nvSpPr>
        <p:spPr>
          <a:xfrm>
            <a:off x="3487046" y="3344532"/>
            <a:ext cx="11394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(0,0)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80E1C8C6-5EDE-C240-8EBB-FAEF19AC56BB}"/>
              </a:ext>
            </a:extLst>
          </p:cNvPr>
          <p:cNvSpPr/>
          <p:nvPr/>
        </p:nvSpPr>
        <p:spPr>
          <a:xfrm>
            <a:off x="6232282" y="1498409"/>
            <a:ext cx="163321" cy="136350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2B56367-029C-9642-B6D9-F6CE463EB723}"/>
              </a:ext>
            </a:extLst>
          </p:cNvPr>
          <p:cNvSpPr txBox="1"/>
          <p:nvPr/>
        </p:nvSpPr>
        <p:spPr>
          <a:xfrm>
            <a:off x="6395603" y="1427734"/>
            <a:ext cx="11394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(4, 10)</a:t>
            </a:r>
          </a:p>
        </p:txBody>
      </p:sp>
    </p:spTree>
    <p:extLst>
      <p:ext uri="{BB962C8B-B14F-4D97-AF65-F5344CB8AC3E}">
        <p14:creationId xmlns:p14="http://schemas.microsoft.com/office/powerpoint/2010/main" val="31012880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EBAF8F-BD6C-F24F-B120-51D752355F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Procedure if you are given y-intercept and another point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A1C1609-B381-4944-B80F-AF477E69FD8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The value of </a:t>
                </a:r>
                <a:r>
                  <a:rPr lang="en-US"/>
                  <a:t>c is </a:t>
                </a:r>
                <a:r>
                  <a:rPr lang="en-US" dirty="0"/>
                  <a:t>the value of the y co-ordinate of the y-intercept.</a:t>
                </a:r>
              </a:p>
              <a:p>
                <a:r>
                  <a:rPr lang="en-US" dirty="0"/>
                  <a:t>From the graph, either calculate the gradient using the gradient formula (m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 − </m:t>
                        </m:r>
                        <m:sSub>
                          <m:sSubPr>
                            <m:ctrlPr>
                              <a:rPr lang="en-AU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 − </m:t>
                        </m:r>
                        <m:sSub>
                          <m:sSubPr>
                            <m:ctrlPr>
                              <a:rPr lang="en-AU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dirty="0"/>
                  <a:t>) or use the graph to work out the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𝑟𝑖𝑠𝑒</m:t>
                        </m:r>
                      </m:num>
                      <m:den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𝑟𝑢𝑛</m:t>
                        </m:r>
                      </m:den>
                    </m:f>
                  </m:oMath>
                </a14:m>
                <a:r>
                  <a:rPr lang="en-US" dirty="0"/>
                  <a:t>.</a:t>
                </a:r>
              </a:p>
              <a:p>
                <a:r>
                  <a:rPr lang="en-US" dirty="0"/>
                  <a:t>The write out the equation.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A1C1609-B381-4944-B80F-AF477E69FD8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189" t="-2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415154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FACEFB-FB0E-F14F-A70A-4CAB1BFC5E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Find the equation (y = mx + c) that matches the following table of values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7083AAB-216B-C246-84F3-6998F45FC8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00" y="2387099"/>
            <a:ext cx="8516200" cy="1064525"/>
          </a:xfrm>
          <a:prstGeom prst="rect">
            <a:avLst/>
          </a:prstGeom>
        </p:spPr>
      </p:pic>
      <p:grpSp>
        <p:nvGrpSpPr>
          <p:cNvPr id="15" name="Group 14">
            <a:extLst>
              <a:ext uri="{FF2B5EF4-FFF2-40B4-BE49-F238E27FC236}">
                <a16:creationId xmlns:a16="http://schemas.microsoft.com/office/drawing/2014/main" id="{B37A9BA0-E887-6148-A1E9-39843CCBC0C5}"/>
              </a:ext>
            </a:extLst>
          </p:cNvPr>
          <p:cNvGrpSpPr/>
          <p:nvPr/>
        </p:nvGrpSpPr>
        <p:grpSpPr>
          <a:xfrm>
            <a:off x="2146497" y="3598828"/>
            <a:ext cx="942535" cy="981171"/>
            <a:chOff x="2146497" y="3245351"/>
            <a:chExt cx="942535" cy="981171"/>
          </a:xfrm>
        </p:grpSpPr>
        <p:sp>
          <p:nvSpPr>
            <p:cNvPr id="6" name="Curved Up Arrow 5">
              <a:extLst>
                <a:ext uri="{FF2B5EF4-FFF2-40B4-BE49-F238E27FC236}">
                  <a16:creationId xmlns:a16="http://schemas.microsoft.com/office/drawing/2014/main" id="{7407F855-62FE-2E41-99C0-E339DBDFF4C4}"/>
                </a:ext>
              </a:extLst>
            </p:cNvPr>
            <p:cNvSpPr/>
            <p:nvPr/>
          </p:nvSpPr>
          <p:spPr>
            <a:xfrm>
              <a:off x="2146497" y="3245351"/>
              <a:ext cx="942535" cy="436099"/>
            </a:xfrm>
            <a:prstGeom prst="curvedUp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2EE45464-8D50-1A40-87AB-1767F8A21522}"/>
                </a:ext>
              </a:extLst>
            </p:cNvPr>
            <p:cNvSpPr txBox="1"/>
            <p:nvPr/>
          </p:nvSpPr>
          <p:spPr>
            <a:xfrm>
              <a:off x="2357512" y="3826412"/>
              <a:ext cx="52050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>
                  <a:solidFill>
                    <a:srgbClr val="7030A0"/>
                  </a:solidFill>
                </a:rPr>
                <a:t>+2</a:t>
              </a: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DF75B667-ECF7-A847-9B56-5917314D7422}"/>
              </a:ext>
            </a:extLst>
          </p:cNvPr>
          <p:cNvGrpSpPr/>
          <p:nvPr/>
        </p:nvGrpSpPr>
        <p:grpSpPr>
          <a:xfrm>
            <a:off x="3292312" y="3598828"/>
            <a:ext cx="942535" cy="981171"/>
            <a:chOff x="2146497" y="3245351"/>
            <a:chExt cx="942535" cy="981171"/>
          </a:xfrm>
        </p:grpSpPr>
        <p:sp>
          <p:nvSpPr>
            <p:cNvPr id="17" name="Curved Up Arrow 16">
              <a:extLst>
                <a:ext uri="{FF2B5EF4-FFF2-40B4-BE49-F238E27FC236}">
                  <a16:creationId xmlns:a16="http://schemas.microsoft.com/office/drawing/2014/main" id="{7B21D291-F256-3848-9F83-8D779722D730}"/>
                </a:ext>
              </a:extLst>
            </p:cNvPr>
            <p:cNvSpPr/>
            <p:nvPr/>
          </p:nvSpPr>
          <p:spPr>
            <a:xfrm>
              <a:off x="2146497" y="3245351"/>
              <a:ext cx="942535" cy="436099"/>
            </a:xfrm>
            <a:prstGeom prst="curvedUp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2FFAA4D0-9261-8145-9C80-A86D86D0FA37}"/>
                </a:ext>
              </a:extLst>
            </p:cNvPr>
            <p:cNvSpPr txBox="1"/>
            <p:nvPr/>
          </p:nvSpPr>
          <p:spPr>
            <a:xfrm>
              <a:off x="2357512" y="3826412"/>
              <a:ext cx="52050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>
                  <a:solidFill>
                    <a:srgbClr val="7030A0"/>
                  </a:solidFill>
                </a:rPr>
                <a:t>+2</a:t>
              </a: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A053C936-E7D6-5A47-8367-899353F7F390}"/>
              </a:ext>
            </a:extLst>
          </p:cNvPr>
          <p:cNvGrpSpPr/>
          <p:nvPr/>
        </p:nvGrpSpPr>
        <p:grpSpPr>
          <a:xfrm>
            <a:off x="4438127" y="3598828"/>
            <a:ext cx="942535" cy="981171"/>
            <a:chOff x="2146497" y="3245351"/>
            <a:chExt cx="942535" cy="981171"/>
          </a:xfrm>
        </p:grpSpPr>
        <p:sp>
          <p:nvSpPr>
            <p:cNvPr id="20" name="Curved Up Arrow 19">
              <a:extLst>
                <a:ext uri="{FF2B5EF4-FFF2-40B4-BE49-F238E27FC236}">
                  <a16:creationId xmlns:a16="http://schemas.microsoft.com/office/drawing/2014/main" id="{F53EC47D-E23C-E04F-A30D-28127B00025E}"/>
                </a:ext>
              </a:extLst>
            </p:cNvPr>
            <p:cNvSpPr/>
            <p:nvPr/>
          </p:nvSpPr>
          <p:spPr>
            <a:xfrm>
              <a:off x="2146497" y="3245351"/>
              <a:ext cx="942535" cy="436099"/>
            </a:xfrm>
            <a:prstGeom prst="curvedUp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CAB598C9-4BAC-5A4E-80F6-34E6D5F3D37E}"/>
                </a:ext>
              </a:extLst>
            </p:cNvPr>
            <p:cNvSpPr txBox="1"/>
            <p:nvPr/>
          </p:nvSpPr>
          <p:spPr>
            <a:xfrm>
              <a:off x="2357512" y="3826412"/>
              <a:ext cx="52050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>
                  <a:solidFill>
                    <a:srgbClr val="7030A0"/>
                  </a:solidFill>
                </a:rPr>
                <a:t>+2</a:t>
              </a: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6651B38F-C57F-E84A-A713-4A678BE794D5}"/>
              </a:ext>
            </a:extLst>
          </p:cNvPr>
          <p:cNvGrpSpPr/>
          <p:nvPr/>
        </p:nvGrpSpPr>
        <p:grpSpPr>
          <a:xfrm>
            <a:off x="5583942" y="3598828"/>
            <a:ext cx="942535" cy="981171"/>
            <a:chOff x="2146497" y="3245351"/>
            <a:chExt cx="942535" cy="981171"/>
          </a:xfrm>
        </p:grpSpPr>
        <p:sp>
          <p:nvSpPr>
            <p:cNvPr id="23" name="Curved Up Arrow 22">
              <a:extLst>
                <a:ext uri="{FF2B5EF4-FFF2-40B4-BE49-F238E27FC236}">
                  <a16:creationId xmlns:a16="http://schemas.microsoft.com/office/drawing/2014/main" id="{E785DA15-7406-854A-A671-9A0CABD21AA0}"/>
                </a:ext>
              </a:extLst>
            </p:cNvPr>
            <p:cNvSpPr/>
            <p:nvPr/>
          </p:nvSpPr>
          <p:spPr>
            <a:xfrm>
              <a:off x="2146497" y="3245351"/>
              <a:ext cx="942535" cy="436099"/>
            </a:xfrm>
            <a:prstGeom prst="curvedUp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2DD03220-C64A-3B46-AEC8-67A7F939307A}"/>
                </a:ext>
              </a:extLst>
            </p:cNvPr>
            <p:cNvSpPr txBox="1"/>
            <p:nvPr/>
          </p:nvSpPr>
          <p:spPr>
            <a:xfrm>
              <a:off x="2357512" y="3826412"/>
              <a:ext cx="52050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>
                  <a:solidFill>
                    <a:srgbClr val="7030A0"/>
                  </a:solidFill>
                </a:rPr>
                <a:t>+2</a:t>
              </a: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D6BBF42E-E703-204A-8D0B-79CE38FBE45B}"/>
              </a:ext>
            </a:extLst>
          </p:cNvPr>
          <p:cNvGrpSpPr/>
          <p:nvPr/>
        </p:nvGrpSpPr>
        <p:grpSpPr>
          <a:xfrm>
            <a:off x="6729757" y="3598828"/>
            <a:ext cx="942535" cy="981171"/>
            <a:chOff x="2146497" y="3245351"/>
            <a:chExt cx="942535" cy="981171"/>
          </a:xfrm>
        </p:grpSpPr>
        <p:sp>
          <p:nvSpPr>
            <p:cNvPr id="26" name="Curved Up Arrow 25">
              <a:extLst>
                <a:ext uri="{FF2B5EF4-FFF2-40B4-BE49-F238E27FC236}">
                  <a16:creationId xmlns:a16="http://schemas.microsoft.com/office/drawing/2014/main" id="{56489E42-F528-F049-8658-FF6A83FB5AA2}"/>
                </a:ext>
              </a:extLst>
            </p:cNvPr>
            <p:cNvSpPr/>
            <p:nvPr/>
          </p:nvSpPr>
          <p:spPr>
            <a:xfrm>
              <a:off x="2146497" y="3245351"/>
              <a:ext cx="942535" cy="436099"/>
            </a:xfrm>
            <a:prstGeom prst="curvedUp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08A7567A-E90C-5441-B635-0340D12AC36C}"/>
                </a:ext>
              </a:extLst>
            </p:cNvPr>
            <p:cNvSpPr txBox="1"/>
            <p:nvPr/>
          </p:nvSpPr>
          <p:spPr>
            <a:xfrm>
              <a:off x="2357512" y="3826412"/>
              <a:ext cx="52050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>
                  <a:solidFill>
                    <a:srgbClr val="7030A0"/>
                  </a:solidFill>
                </a:rPr>
                <a:t>+2</a:t>
              </a:r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CC48F35A-7E62-5545-9CE8-B07A29CB705C}"/>
              </a:ext>
            </a:extLst>
          </p:cNvPr>
          <p:cNvGrpSpPr/>
          <p:nvPr/>
        </p:nvGrpSpPr>
        <p:grpSpPr>
          <a:xfrm>
            <a:off x="7875574" y="3598828"/>
            <a:ext cx="942535" cy="981171"/>
            <a:chOff x="2146497" y="3245351"/>
            <a:chExt cx="942535" cy="981171"/>
          </a:xfrm>
        </p:grpSpPr>
        <p:sp>
          <p:nvSpPr>
            <p:cNvPr id="29" name="Curved Up Arrow 28">
              <a:extLst>
                <a:ext uri="{FF2B5EF4-FFF2-40B4-BE49-F238E27FC236}">
                  <a16:creationId xmlns:a16="http://schemas.microsoft.com/office/drawing/2014/main" id="{9EDAD53B-DBC8-AF4D-9E83-A2644E2BA5F1}"/>
                </a:ext>
              </a:extLst>
            </p:cNvPr>
            <p:cNvSpPr/>
            <p:nvPr/>
          </p:nvSpPr>
          <p:spPr>
            <a:xfrm>
              <a:off x="2146497" y="3245351"/>
              <a:ext cx="942535" cy="436099"/>
            </a:xfrm>
            <a:prstGeom prst="curvedUp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A8B2579F-387A-754F-ABD7-99B3263E7277}"/>
                </a:ext>
              </a:extLst>
            </p:cNvPr>
            <p:cNvSpPr txBox="1"/>
            <p:nvPr/>
          </p:nvSpPr>
          <p:spPr>
            <a:xfrm>
              <a:off x="2357512" y="3826412"/>
              <a:ext cx="52050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>
                  <a:solidFill>
                    <a:srgbClr val="7030A0"/>
                  </a:solidFill>
                </a:rPr>
                <a:t>+2</a:t>
              </a:r>
            </a:p>
          </p:txBody>
        </p:sp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A41C1ACF-D998-A644-86A8-E8D0075823E6}"/>
              </a:ext>
            </a:extLst>
          </p:cNvPr>
          <p:cNvSpPr txBox="1"/>
          <p:nvPr/>
        </p:nvSpPr>
        <p:spPr>
          <a:xfrm>
            <a:off x="3044963" y="4724961"/>
            <a:ext cx="4598262" cy="830997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7030A0"/>
                </a:solidFill>
              </a:rPr>
              <a:t>The difference = the gradient, m</a:t>
            </a:r>
          </a:p>
          <a:p>
            <a:r>
              <a:rPr lang="en-US" sz="2400" b="1" dirty="0">
                <a:solidFill>
                  <a:srgbClr val="7030A0"/>
                </a:solidFill>
              </a:rPr>
              <a:t>Therefore in this case, m = 2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BA83CFAE-ACD6-CA4E-8D04-889834727EB9}"/>
              </a:ext>
            </a:extLst>
          </p:cNvPr>
          <p:cNvSpPr/>
          <p:nvPr/>
        </p:nvSpPr>
        <p:spPr>
          <a:xfrm>
            <a:off x="5078436" y="2098654"/>
            <a:ext cx="829995" cy="1500174"/>
          </a:xfrm>
          <a:prstGeom prst="rect">
            <a:avLst/>
          </a:prstGeom>
          <a:solidFill>
            <a:srgbClr val="00FA00">
              <a:alpha val="18039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050BF78-142A-5549-933C-A5D3ECB9F40D}"/>
              </a:ext>
            </a:extLst>
          </p:cNvPr>
          <p:cNvSpPr txBox="1"/>
          <p:nvPr/>
        </p:nvSpPr>
        <p:spPr>
          <a:xfrm>
            <a:off x="6055209" y="1369131"/>
            <a:ext cx="2698486" cy="830997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B050"/>
                </a:solidFill>
              </a:rPr>
              <a:t>y-intercept = (0,-3)</a:t>
            </a:r>
          </a:p>
          <a:p>
            <a:r>
              <a:rPr lang="en-US" sz="2400" b="1" dirty="0">
                <a:solidFill>
                  <a:srgbClr val="00B050"/>
                </a:solidFill>
              </a:rPr>
              <a:t>Therefore c = -3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7902D28-93F3-9C4F-AD7B-A994BF7A8969}"/>
              </a:ext>
            </a:extLst>
          </p:cNvPr>
          <p:cNvSpPr txBox="1"/>
          <p:nvPr/>
        </p:nvSpPr>
        <p:spPr>
          <a:xfrm>
            <a:off x="2878017" y="5800570"/>
            <a:ext cx="52085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y = 2x - 3</a:t>
            </a:r>
          </a:p>
        </p:txBody>
      </p:sp>
    </p:spTree>
    <p:extLst>
      <p:ext uri="{BB962C8B-B14F-4D97-AF65-F5344CB8AC3E}">
        <p14:creationId xmlns:p14="http://schemas.microsoft.com/office/powerpoint/2010/main" val="5162547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animBg="1"/>
      <p:bldP spid="32" grpId="0" animBg="1"/>
      <p:bldP spid="33" grpId="0" animBg="1"/>
      <p:bldP spid="3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FACEFB-FB0E-F14F-A70A-4CAB1BFC5E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Find the equation (y = mx + c) that matches the following table of values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B37A9BA0-E887-6148-A1E9-39843CCBC0C5}"/>
              </a:ext>
            </a:extLst>
          </p:cNvPr>
          <p:cNvGrpSpPr/>
          <p:nvPr/>
        </p:nvGrpSpPr>
        <p:grpSpPr>
          <a:xfrm>
            <a:off x="2146497" y="3598828"/>
            <a:ext cx="942535" cy="981171"/>
            <a:chOff x="2146497" y="3245351"/>
            <a:chExt cx="942535" cy="981171"/>
          </a:xfrm>
        </p:grpSpPr>
        <p:sp>
          <p:nvSpPr>
            <p:cNvPr id="6" name="Curved Up Arrow 5">
              <a:extLst>
                <a:ext uri="{FF2B5EF4-FFF2-40B4-BE49-F238E27FC236}">
                  <a16:creationId xmlns:a16="http://schemas.microsoft.com/office/drawing/2014/main" id="{7407F855-62FE-2E41-99C0-E339DBDFF4C4}"/>
                </a:ext>
              </a:extLst>
            </p:cNvPr>
            <p:cNvSpPr/>
            <p:nvPr/>
          </p:nvSpPr>
          <p:spPr>
            <a:xfrm>
              <a:off x="2146497" y="3245351"/>
              <a:ext cx="942535" cy="436099"/>
            </a:xfrm>
            <a:prstGeom prst="curvedUp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2EE45464-8D50-1A40-87AB-1767F8A21522}"/>
                </a:ext>
              </a:extLst>
            </p:cNvPr>
            <p:cNvSpPr txBox="1"/>
            <p:nvPr/>
          </p:nvSpPr>
          <p:spPr>
            <a:xfrm>
              <a:off x="2357512" y="3826412"/>
              <a:ext cx="52050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>
                  <a:solidFill>
                    <a:srgbClr val="7030A0"/>
                  </a:solidFill>
                </a:rPr>
                <a:t>-3</a:t>
              </a: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DF75B667-ECF7-A847-9B56-5917314D7422}"/>
              </a:ext>
            </a:extLst>
          </p:cNvPr>
          <p:cNvGrpSpPr/>
          <p:nvPr/>
        </p:nvGrpSpPr>
        <p:grpSpPr>
          <a:xfrm>
            <a:off x="3292312" y="3598828"/>
            <a:ext cx="942535" cy="981171"/>
            <a:chOff x="2146497" y="3245351"/>
            <a:chExt cx="942535" cy="981171"/>
          </a:xfrm>
        </p:grpSpPr>
        <p:sp>
          <p:nvSpPr>
            <p:cNvPr id="17" name="Curved Up Arrow 16">
              <a:extLst>
                <a:ext uri="{FF2B5EF4-FFF2-40B4-BE49-F238E27FC236}">
                  <a16:creationId xmlns:a16="http://schemas.microsoft.com/office/drawing/2014/main" id="{7B21D291-F256-3848-9F83-8D779722D730}"/>
                </a:ext>
              </a:extLst>
            </p:cNvPr>
            <p:cNvSpPr/>
            <p:nvPr/>
          </p:nvSpPr>
          <p:spPr>
            <a:xfrm>
              <a:off x="2146497" y="3245351"/>
              <a:ext cx="942535" cy="436099"/>
            </a:xfrm>
            <a:prstGeom prst="curvedUp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2FFAA4D0-9261-8145-9C80-A86D86D0FA37}"/>
                </a:ext>
              </a:extLst>
            </p:cNvPr>
            <p:cNvSpPr txBox="1"/>
            <p:nvPr/>
          </p:nvSpPr>
          <p:spPr>
            <a:xfrm>
              <a:off x="2357512" y="3826412"/>
              <a:ext cx="52050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>
                  <a:solidFill>
                    <a:srgbClr val="7030A0"/>
                  </a:solidFill>
                </a:rPr>
                <a:t>-3</a:t>
              </a: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A053C936-E7D6-5A47-8367-899353F7F390}"/>
              </a:ext>
            </a:extLst>
          </p:cNvPr>
          <p:cNvGrpSpPr/>
          <p:nvPr/>
        </p:nvGrpSpPr>
        <p:grpSpPr>
          <a:xfrm>
            <a:off x="4438127" y="3598828"/>
            <a:ext cx="942535" cy="981171"/>
            <a:chOff x="2146497" y="3245351"/>
            <a:chExt cx="942535" cy="981171"/>
          </a:xfrm>
        </p:grpSpPr>
        <p:sp>
          <p:nvSpPr>
            <p:cNvPr id="20" name="Curved Up Arrow 19">
              <a:extLst>
                <a:ext uri="{FF2B5EF4-FFF2-40B4-BE49-F238E27FC236}">
                  <a16:creationId xmlns:a16="http://schemas.microsoft.com/office/drawing/2014/main" id="{F53EC47D-E23C-E04F-A30D-28127B00025E}"/>
                </a:ext>
              </a:extLst>
            </p:cNvPr>
            <p:cNvSpPr/>
            <p:nvPr/>
          </p:nvSpPr>
          <p:spPr>
            <a:xfrm>
              <a:off x="2146497" y="3245351"/>
              <a:ext cx="942535" cy="436099"/>
            </a:xfrm>
            <a:prstGeom prst="curvedUp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CAB598C9-4BAC-5A4E-80F6-34E6D5F3D37E}"/>
                </a:ext>
              </a:extLst>
            </p:cNvPr>
            <p:cNvSpPr txBox="1"/>
            <p:nvPr/>
          </p:nvSpPr>
          <p:spPr>
            <a:xfrm>
              <a:off x="2357512" y="3826412"/>
              <a:ext cx="52050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>
                  <a:solidFill>
                    <a:srgbClr val="7030A0"/>
                  </a:solidFill>
                </a:rPr>
                <a:t>-3</a:t>
              </a: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6651B38F-C57F-E84A-A713-4A678BE794D5}"/>
              </a:ext>
            </a:extLst>
          </p:cNvPr>
          <p:cNvGrpSpPr/>
          <p:nvPr/>
        </p:nvGrpSpPr>
        <p:grpSpPr>
          <a:xfrm>
            <a:off x="5583942" y="3598828"/>
            <a:ext cx="942535" cy="981171"/>
            <a:chOff x="2146497" y="3245351"/>
            <a:chExt cx="942535" cy="981171"/>
          </a:xfrm>
        </p:grpSpPr>
        <p:sp>
          <p:nvSpPr>
            <p:cNvPr id="23" name="Curved Up Arrow 22">
              <a:extLst>
                <a:ext uri="{FF2B5EF4-FFF2-40B4-BE49-F238E27FC236}">
                  <a16:creationId xmlns:a16="http://schemas.microsoft.com/office/drawing/2014/main" id="{E785DA15-7406-854A-A671-9A0CABD21AA0}"/>
                </a:ext>
              </a:extLst>
            </p:cNvPr>
            <p:cNvSpPr/>
            <p:nvPr/>
          </p:nvSpPr>
          <p:spPr>
            <a:xfrm>
              <a:off x="2146497" y="3245351"/>
              <a:ext cx="942535" cy="436099"/>
            </a:xfrm>
            <a:prstGeom prst="curvedUp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2DD03220-C64A-3B46-AEC8-67A7F939307A}"/>
                </a:ext>
              </a:extLst>
            </p:cNvPr>
            <p:cNvSpPr txBox="1"/>
            <p:nvPr/>
          </p:nvSpPr>
          <p:spPr>
            <a:xfrm>
              <a:off x="2357512" y="3826412"/>
              <a:ext cx="52050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>
                  <a:solidFill>
                    <a:srgbClr val="7030A0"/>
                  </a:solidFill>
                </a:rPr>
                <a:t>-3</a:t>
              </a: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D6BBF42E-E703-204A-8D0B-79CE38FBE45B}"/>
              </a:ext>
            </a:extLst>
          </p:cNvPr>
          <p:cNvGrpSpPr/>
          <p:nvPr/>
        </p:nvGrpSpPr>
        <p:grpSpPr>
          <a:xfrm>
            <a:off x="6729757" y="3598828"/>
            <a:ext cx="942535" cy="981171"/>
            <a:chOff x="2146497" y="3245351"/>
            <a:chExt cx="942535" cy="981171"/>
          </a:xfrm>
        </p:grpSpPr>
        <p:sp>
          <p:nvSpPr>
            <p:cNvPr id="26" name="Curved Up Arrow 25">
              <a:extLst>
                <a:ext uri="{FF2B5EF4-FFF2-40B4-BE49-F238E27FC236}">
                  <a16:creationId xmlns:a16="http://schemas.microsoft.com/office/drawing/2014/main" id="{56489E42-F528-F049-8658-FF6A83FB5AA2}"/>
                </a:ext>
              </a:extLst>
            </p:cNvPr>
            <p:cNvSpPr/>
            <p:nvPr/>
          </p:nvSpPr>
          <p:spPr>
            <a:xfrm>
              <a:off x="2146497" y="3245351"/>
              <a:ext cx="942535" cy="436099"/>
            </a:xfrm>
            <a:prstGeom prst="curvedUp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08A7567A-E90C-5441-B635-0340D12AC36C}"/>
                </a:ext>
              </a:extLst>
            </p:cNvPr>
            <p:cNvSpPr txBox="1"/>
            <p:nvPr/>
          </p:nvSpPr>
          <p:spPr>
            <a:xfrm>
              <a:off x="2357512" y="3826412"/>
              <a:ext cx="52050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>
                  <a:solidFill>
                    <a:srgbClr val="7030A0"/>
                  </a:solidFill>
                </a:rPr>
                <a:t>-3</a:t>
              </a:r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CC48F35A-7E62-5545-9CE8-B07A29CB705C}"/>
              </a:ext>
            </a:extLst>
          </p:cNvPr>
          <p:cNvGrpSpPr/>
          <p:nvPr/>
        </p:nvGrpSpPr>
        <p:grpSpPr>
          <a:xfrm>
            <a:off x="7875574" y="3598828"/>
            <a:ext cx="942535" cy="981171"/>
            <a:chOff x="2146497" y="3245351"/>
            <a:chExt cx="942535" cy="981171"/>
          </a:xfrm>
        </p:grpSpPr>
        <p:sp>
          <p:nvSpPr>
            <p:cNvPr id="29" name="Curved Up Arrow 28">
              <a:extLst>
                <a:ext uri="{FF2B5EF4-FFF2-40B4-BE49-F238E27FC236}">
                  <a16:creationId xmlns:a16="http://schemas.microsoft.com/office/drawing/2014/main" id="{9EDAD53B-DBC8-AF4D-9E83-A2644E2BA5F1}"/>
                </a:ext>
              </a:extLst>
            </p:cNvPr>
            <p:cNvSpPr/>
            <p:nvPr/>
          </p:nvSpPr>
          <p:spPr>
            <a:xfrm>
              <a:off x="2146497" y="3245351"/>
              <a:ext cx="942535" cy="436099"/>
            </a:xfrm>
            <a:prstGeom prst="curvedUp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A8B2579F-387A-754F-ABD7-99B3263E7277}"/>
                </a:ext>
              </a:extLst>
            </p:cNvPr>
            <p:cNvSpPr txBox="1"/>
            <p:nvPr/>
          </p:nvSpPr>
          <p:spPr>
            <a:xfrm>
              <a:off x="2357512" y="3826412"/>
              <a:ext cx="52050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>
                  <a:solidFill>
                    <a:srgbClr val="7030A0"/>
                  </a:solidFill>
                </a:rPr>
                <a:t>-3</a:t>
              </a:r>
            </a:p>
          </p:txBody>
        </p:sp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A41C1ACF-D998-A644-86A8-E8D0075823E6}"/>
              </a:ext>
            </a:extLst>
          </p:cNvPr>
          <p:cNvSpPr txBox="1"/>
          <p:nvPr/>
        </p:nvSpPr>
        <p:spPr>
          <a:xfrm>
            <a:off x="3044963" y="4724961"/>
            <a:ext cx="4598262" cy="830997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7030A0"/>
                </a:solidFill>
              </a:rPr>
              <a:t>The difference = the gradient, m</a:t>
            </a:r>
          </a:p>
          <a:p>
            <a:r>
              <a:rPr lang="en-US" sz="2400" b="1" dirty="0">
                <a:solidFill>
                  <a:srgbClr val="7030A0"/>
                </a:solidFill>
              </a:rPr>
              <a:t>Therefore in this case, m = -3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BA83CFAE-ACD6-CA4E-8D04-889834727EB9}"/>
              </a:ext>
            </a:extLst>
          </p:cNvPr>
          <p:cNvSpPr/>
          <p:nvPr/>
        </p:nvSpPr>
        <p:spPr>
          <a:xfrm>
            <a:off x="5078436" y="2098654"/>
            <a:ext cx="829995" cy="1500174"/>
          </a:xfrm>
          <a:prstGeom prst="rect">
            <a:avLst/>
          </a:prstGeom>
          <a:solidFill>
            <a:srgbClr val="00FA00">
              <a:alpha val="18039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050BF78-142A-5549-933C-A5D3ECB9F40D}"/>
              </a:ext>
            </a:extLst>
          </p:cNvPr>
          <p:cNvSpPr txBox="1"/>
          <p:nvPr/>
        </p:nvSpPr>
        <p:spPr>
          <a:xfrm>
            <a:off x="6055209" y="1369131"/>
            <a:ext cx="2698486" cy="830997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B050"/>
                </a:solidFill>
              </a:rPr>
              <a:t>y-intercept = (0,3)</a:t>
            </a:r>
          </a:p>
          <a:p>
            <a:r>
              <a:rPr lang="en-US" sz="2400" b="1" dirty="0">
                <a:solidFill>
                  <a:srgbClr val="00B050"/>
                </a:solidFill>
              </a:rPr>
              <a:t>Therefore c = 3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7902D28-93F3-9C4F-AD7B-A994BF7A8969}"/>
              </a:ext>
            </a:extLst>
          </p:cNvPr>
          <p:cNvSpPr txBox="1"/>
          <p:nvPr/>
        </p:nvSpPr>
        <p:spPr>
          <a:xfrm>
            <a:off x="2878017" y="5800570"/>
            <a:ext cx="52085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y = - 3x + 3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803665A-084E-874E-93E5-BC2E03BDB3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724" y="2378257"/>
            <a:ext cx="8604872" cy="1075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29078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animBg="1"/>
      <p:bldP spid="32" grpId="0" animBg="1"/>
      <p:bldP spid="33" grpId="0" animBg="1"/>
      <p:bldP spid="3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FACEFB-FB0E-F14F-A70A-4CAB1BFC5E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Find the equation (y = mx + c) that matches the following table of values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B37A9BA0-E887-6148-A1E9-39843CCBC0C5}"/>
              </a:ext>
            </a:extLst>
          </p:cNvPr>
          <p:cNvGrpSpPr/>
          <p:nvPr/>
        </p:nvGrpSpPr>
        <p:grpSpPr>
          <a:xfrm>
            <a:off x="2146497" y="3598828"/>
            <a:ext cx="942535" cy="981171"/>
            <a:chOff x="2146497" y="3245351"/>
            <a:chExt cx="942535" cy="981171"/>
          </a:xfrm>
        </p:grpSpPr>
        <p:sp>
          <p:nvSpPr>
            <p:cNvPr id="6" name="Curved Up Arrow 5">
              <a:extLst>
                <a:ext uri="{FF2B5EF4-FFF2-40B4-BE49-F238E27FC236}">
                  <a16:creationId xmlns:a16="http://schemas.microsoft.com/office/drawing/2014/main" id="{7407F855-62FE-2E41-99C0-E339DBDFF4C4}"/>
                </a:ext>
              </a:extLst>
            </p:cNvPr>
            <p:cNvSpPr/>
            <p:nvPr/>
          </p:nvSpPr>
          <p:spPr>
            <a:xfrm>
              <a:off x="2146497" y="3245351"/>
              <a:ext cx="942535" cy="436099"/>
            </a:xfrm>
            <a:prstGeom prst="curvedUp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2EE45464-8D50-1A40-87AB-1767F8A21522}"/>
                </a:ext>
              </a:extLst>
            </p:cNvPr>
            <p:cNvSpPr txBox="1"/>
            <p:nvPr/>
          </p:nvSpPr>
          <p:spPr>
            <a:xfrm>
              <a:off x="2357512" y="3826412"/>
              <a:ext cx="52050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>
                  <a:solidFill>
                    <a:srgbClr val="7030A0"/>
                  </a:solidFill>
                </a:rPr>
                <a:t>-2</a:t>
              </a: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DF75B667-ECF7-A847-9B56-5917314D7422}"/>
              </a:ext>
            </a:extLst>
          </p:cNvPr>
          <p:cNvGrpSpPr/>
          <p:nvPr/>
        </p:nvGrpSpPr>
        <p:grpSpPr>
          <a:xfrm>
            <a:off x="3292312" y="3598828"/>
            <a:ext cx="942535" cy="981171"/>
            <a:chOff x="2146497" y="3245351"/>
            <a:chExt cx="942535" cy="981171"/>
          </a:xfrm>
        </p:grpSpPr>
        <p:sp>
          <p:nvSpPr>
            <p:cNvPr id="17" name="Curved Up Arrow 16">
              <a:extLst>
                <a:ext uri="{FF2B5EF4-FFF2-40B4-BE49-F238E27FC236}">
                  <a16:creationId xmlns:a16="http://schemas.microsoft.com/office/drawing/2014/main" id="{7B21D291-F256-3848-9F83-8D779722D730}"/>
                </a:ext>
              </a:extLst>
            </p:cNvPr>
            <p:cNvSpPr/>
            <p:nvPr/>
          </p:nvSpPr>
          <p:spPr>
            <a:xfrm>
              <a:off x="2146497" y="3245351"/>
              <a:ext cx="942535" cy="436099"/>
            </a:xfrm>
            <a:prstGeom prst="curvedUp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2FFAA4D0-9261-8145-9C80-A86D86D0FA37}"/>
                </a:ext>
              </a:extLst>
            </p:cNvPr>
            <p:cNvSpPr txBox="1"/>
            <p:nvPr/>
          </p:nvSpPr>
          <p:spPr>
            <a:xfrm>
              <a:off x="2357512" y="3826412"/>
              <a:ext cx="52050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>
                  <a:solidFill>
                    <a:srgbClr val="7030A0"/>
                  </a:solidFill>
                </a:rPr>
                <a:t>-2</a:t>
              </a: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A053C936-E7D6-5A47-8367-899353F7F390}"/>
              </a:ext>
            </a:extLst>
          </p:cNvPr>
          <p:cNvGrpSpPr/>
          <p:nvPr/>
        </p:nvGrpSpPr>
        <p:grpSpPr>
          <a:xfrm>
            <a:off x="4438127" y="3598828"/>
            <a:ext cx="942535" cy="981171"/>
            <a:chOff x="2146497" y="3245351"/>
            <a:chExt cx="942535" cy="981171"/>
          </a:xfrm>
        </p:grpSpPr>
        <p:sp>
          <p:nvSpPr>
            <p:cNvPr id="20" name="Curved Up Arrow 19">
              <a:extLst>
                <a:ext uri="{FF2B5EF4-FFF2-40B4-BE49-F238E27FC236}">
                  <a16:creationId xmlns:a16="http://schemas.microsoft.com/office/drawing/2014/main" id="{F53EC47D-E23C-E04F-A30D-28127B00025E}"/>
                </a:ext>
              </a:extLst>
            </p:cNvPr>
            <p:cNvSpPr/>
            <p:nvPr/>
          </p:nvSpPr>
          <p:spPr>
            <a:xfrm>
              <a:off x="2146497" y="3245351"/>
              <a:ext cx="942535" cy="436099"/>
            </a:xfrm>
            <a:prstGeom prst="curvedUp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CAB598C9-4BAC-5A4E-80F6-34E6D5F3D37E}"/>
                </a:ext>
              </a:extLst>
            </p:cNvPr>
            <p:cNvSpPr txBox="1"/>
            <p:nvPr/>
          </p:nvSpPr>
          <p:spPr>
            <a:xfrm>
              <a:off x="2357512" y="3826412"/>
              <a:ext cx="52050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>
                  <a:solidFill>
                    <a:srgbClr val="7030A0"/>
                  </a:solidFill>
                </a:rPr>
                <a:t>-2</a:t>
              </a: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6651B38F-C57F-E84A-A713-4A678BE794D5}"/>
              </a:ext>
            </a:extLst>
          </p:cNvPr>
          <p:cNvGrpSpPr/>
          <p:nvPr/>
        </p:nvGrpSpPr>
        <p:grpSpPr>
          <a:xfrm>
            <a:off x="5583942" y="3598828"/>
            <a:ext cx="942535" cy="981171"/>
            <a:chOff x="2146497" y="3245351"/>
            <a:chExt cx="942535" cy="981171"/>
          </a:xfrm>
        </p:grpSpPr>
        <p:sp>
          <p:nvSpPr>
            <p:cNvPr id="23" name="Curved Up Arrow 22">
              <a:extLst>
                <a:ext uri="{FF2B5EF4-FFF2-40B4-BE49-F238E27FC236}">
                  <a16:creationId xmlns:a16="http://schemas.microsoft.com/office/drawing/2014/main" id="{E785DA15-7406-854A-A671-9A0CABD21AA0}"/>
                </a:ext>
              </a:extLst>
            </p:cNvPr>
            <p:cNvSpPr/>
            <p:nvPr/>
          </p:nvSpPr>
          <p:spPr>
            <a:xfrm>
              <a:off x="2146497" y="3245351"/>
              <a:ext cx="942535" cy="436099"/>
            </a:xfrm>
            <a:prstGeom prst="curvedUp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2DD03220-C64A-3B46-AEC8-67A7F939307A}"/>
                </a:ext>
              </a:extLst>
            </p:cNvPr>
            <p:cNvSpPr txBox="1"/>
            <p:nvPr/>
          </p:nvSpPr>
          <p:spPr>
            <a:xfrm>
              <a:off x="2357512" y="3826412"/>
              <a:ext cx="52050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>
                  <a:solidFill>
                    <a:srgbClr val="7030A0"/>
                  </a:solidFill>
                </a:rPr>
                <a:t>-2</a:t>
              </a: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D6BBF42E-E703-204A-8D0B-79CE38FBE45B}"/>
              </a:ext>
            </a:extLst>
          </p:cNvPr>
          <p:cNvGrpSpPr/>
          <p:nvPr/>
        </p:nvGrpSpPr>
        <p:grpSpPr>
          <a:xfrm>
            <a:off x="6729757" y="3598828"/>
            <a:ext cx="942535" cy="981171"/>
            <a:chOff x="2146497" y="3245351"/>
            <a:chExt cx="942535" cy="981171"/>
          </a:xfrm>
        </p:grpSpPr>
        <p:sp>
          <p:nvSpPr>
            <p:cNvPr id="26" name="Curved Up Arrow 25">
              <a:extLst>
                <a:ext uri="{FF2B5EF4-FFF2-40B4-BE49-F238E27FC236}">
                  <a16:creationId xmlns:a16="http://schemas.microsoft.com/office/drawing/2014/main" id="{56489E42-F528-F049-8658-FF6A83FB5AA2}"/>
                </a:ext>
              </a:extLst>
            </p:cNvPr>
            <p:cNvSpPr/>
            <p:nvPr/>
          </p:nvSpPr>
          <p:spPr>
            <a:xfrm>
              <a:off x="2146497" y="3245351"/>
              <a:ext cx="942535" cy="436099"/>
            </a:xfrm>
            <a:prstGeom prst="curvedUp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08A7567A-E90C-5441-B635-0340D12AC36C}"/>
                </a:ext>
              </a:extLst>
            </p:cNvPr>
            <p:cNvSpPr txBox="1"/>
            <p:nvPr/>
          </p:nvSpPr>
          <p:spPr>
            <a:xfrm>
              <a:off x="2357512" y="3826412"/>
              <a:ext cx="52050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>
                  <a:solidFill>
                    <a:srgbClr val="7030A0"/>
                  </a:solidFill>
                </a:rPr>
                <a:t>-2</a:t>
              </a:r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CC48F35A-7E62-5545-9CE8-B07A29CB705C}"/>
              </a:ext>
            </a:extLst>
          </p:cNvPr>
          <p:cNvGrpSpPr/>
          <p:nvPr/>
        </p:nvGrpSpPr>
        <p:grpSpPr>
          <a:xfrm>
            <a:off x="7875574" y="3598828"/>
            <a:ext cx="942535" cy="981171"/>
            <a:chOff x="2146497" y="3245351"/>
            <a:chExt cx="942535" cy="981171"/>
          </a:xfrm>
        </p:grpSpPr>
        <p:sp>
          <p:nvSpPr>
            <p:cNvPr id="29" name="Curved Up Arrow 28">
              <a:extLst>
                <a:ext uri="{FF2B5EF4-FFF2-40B4-BE49-F238E27FC236}">
                  <a16:creationId xmlns:a16="http://schemas.microsoft.com/office/drawing/2014/main" id="{9EDAD53B-DBC8-AF4D-9E83-A2644E2BA5F1}"/>
                </a:ext>
              </a:extLst>
            </p:cNvPr>
            <p:cNvSpPr/>
            <p:nvPr/>
          </p:nvSpPr>
          <p:spPr>
            <a:xfrm>
              <a:off x="2146497" y="3245351"/>
              <a:ext cx="942535" cy="436099"/>
            </a:xfrm>
            <a:prstGeom prst="curvedUp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A8B2579F-387A-754F-ABD7-99B3263E7277}"/>
                </a:ext>
              </a:extLst>
            </p:cNvPr>
            <p:cNvSpPr txBox="1"/>
            <p:nvPr/>
          </p:nvSpPr>
          <p:spPr>
            <a:xfrm>
              <a:off x="2357512" y="3826412"/>
              <a:ext cx="52050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>
                  <a:solidFill>
                    <a:srgbClr val="7030A0"/>
                  </a:solidFill>
                </a:rPr>
                <a:t>-2</a:t>
              </a:r>
            </a:p>
          </p:txBody>
        </p:sp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A41C1ACF-D998-A644-86A8-E8D0075823E6}"/>
              </a:ext>
            </a:extLst>
          </p:cNvPr>
          <p:cNvSpPr txBox="1"/>
          <p:nvPr/>
        </p:nvSpPr>
        <p:spPr>
          <a:xfrm>
            <a:off x="3044963" y="4724961"/>
            <a:ext cx="4598262" cy="830997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7030A0"/>
                </a:solidFill>
              </a:rPr>
              <a:t>The difference = the gradient, m</a:t>
            </a:r>
          </a:p>
          <a:p>
            <a:r>
              <a:rPr lang="en-US" sz="2400" b="1" dirty="0">
                <a:solidFill>
                  <a:srgbClr val="7030A0"/>
                </a:solidFill>
              </a:rPr>
              <a:t>Therefore in this case, m = -2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BA83CFAE-ACD6-CA4E-8D04-889834727EB9}"/>
              </a:ext>
            </a:extLst>
          </p:cNvPr>
          <p:cNvSpPr/>
          <p:nvPr/>
        </p:nvSpPr>
        <p:spPr>
          <a:xfrm>
            <a:off x="5078436" y="2098654"/>
            <a:ext cx="829995" cy="1500174"/>
          </a:xfrm>
          <a:prstGeom prst="rect">
            <a:avLst/>
          </a:prstGeom>
          <a:solidFill>
            <a:srgbClr val="00FA00">
              <a:alpha val="18039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050BF78-142A-5549-933C-A5D3ECB9F40D}"/>
              </a:ext>
            </a:extLst>
          </p:cNvPr>
          <p:cNvSpPr txBox="1"/>
          <p:nvPr/>
        </p:nvSpPr>
        <p:spPr>
          <a:xfrm>
            <a:off x="6055209" y="1369131"/>
            <a:ext cx="2698486" cy="830997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B050"/>
                </a:solidFill>
              </a:rPr>
              <a:t>y-intercept = (0,-2)</a:t>
            </a:r>
          </a:p>
          <a:p>
            <a:r>
              <a:rPr lang="en-US" sz="2400" b="1" dirty="0">
                <a:solidFill>
                  <a:srgbClr val="00B050"/>
                </a:solidFill>
              </a:rPr>
              <a:t>Therefore c = -2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7902D28-93F3-9C4F-AD7B-A994BF7A8969}"/>
              </a:ext>
            </a:extLst>
          </p:cNvPr>
          <p:cNvSpPr txBox="1"/>
          <p:nvPr/>
        </p:nvSpPr>
        <p:spPr>
          <a:xfrm>
            <a:off x="2878017" y="5800570"/>
            <a:ext cx="52085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y = -2x - 2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0940D96-141F-684A-9D88-06939665FA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0948" y="2310186"/>
            <a:ext cx="8884104" cy="1110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18178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animBg="1"/>
      <p:bldP spid="32" grpId="0" animBg="1"/>
      <p:bldP spid="33" grpId="0" animBg="1"/>
      <p:bldP spid="34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FACEFB-FB0E-F14F-A70A-4CAB1BFC5E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Find the equation (y = mx + c) that matches the following table of values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B37A9BA0-E887-6148-A1E9-39843CCBC0C5}"/>
              </a:ext>
            </a:extLst>
          </p:cNvPr>
          <p:cNvGrpSpPr/>
          <p:nvPr/>
        </p:nvGrpSpPr>
        <p:grpSpPr>
          <a:xfrm>
            <a:off x="2146497" y="3598828"/>
            <a:ext cx="942535" cy="981171"/>
            <a:chOff x="2146497" y="3245351"/>
            <a:chExt cx="942535" cy="981171"/>
          </a:xfrm>
        </p:grpSpPr>
        <p:sp>
          <p:nvSpPr>
            <p:cNvPr id="6" name="Curved Up Arrow 5">
              <a:extLst>
                <a:ext uri="{FF2B5EF4-FFF2-40B4-BE49-F238E27FC236}">
                  <a16:creationId xmlns:a16="http://schemas.microsoft.com/office/drawing/2014/main" id="{7407F855-62FE-2E41-99C0-E339DBDFF4C4}"/>
                </a:ext>
              </a:extLst>
            </p:cNvPr>
            <p:cNvSpPr/>
            <p:nvPr/>
          </p:nvSpPr>
          <p:spPr>
            <a:xfrm>
              <a:off x="2146497" y="3245351"/>
              <a:ext cx="942535" cy="436099"/>
            </a:xfrm>
            <a:prstGeom prst="curvedUp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2EE45464-8D50-1A40-87AB-1767F8A21522}"/>
                </a:ext>
              </a:extLst>
            </p:cNvPr>
            <p:cNvSpPr txBox="1"/>
            <p:nvPr/>
          </p:nvSpPr>
          <p:spPr>
            <a:xfrm>
              <a:off x="2357512" y="3826412"/>
              <a:ext cx="52050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>
                  <a:solidFill>
                    <a:srgbClr val="7030A0"/>
                  </a:solidFill>
                </a:rPr>
                <a:t>5</a:t>
              </a: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DF75B667-ECF7-A847-9B56-5917314D7422}"/>
              </a:ext>
            </a:extLst>
          </p:cNvPr>
          <p:cNvGrpSpPr/>
          <p:nvPr/>
        </p:nvGrpSpPr>
        <p:grpSpPr>
          <a:xfrm>
            <a:off x="3292312" y="3598828"/>
            <a:ext cx="942535" cy="981171"/>
            <a:chOff x="2146497" y="3245351"/>
            <a:chExt cx="942535" cy="981171"/>
          </a:xfrm>
        </p:grpSpPr>
        <p:sp>
          <p:nvSpPr>
            <p:cNvPr id="17" name="Curved Up Arrow 16">
              <a:extLst>
                <a:ext uri="{FF2B5EF4-FFF2-40B4-BE49-F238E27FC236}">
                  <a16:creationId xmlns:a16="http://schemas.microsoft.com/office/drawing/2014/main" id="{7B21D291-F256-3848-9F83-8D779722D730}"/>
                </a:ext>
              </a:extLst>
            </p:cNvPr>
            <p:cNvSpPr/>
            <p:nvPr/>
          </p:nvSpPr>
          <p:spPr>
            <a:xfrm>
              <a:off x="2146497" y="3245351"/>
              <a:ext cx="942535" cy="436099"/>
            </a:xfrm>
            <a:prstGeom prst="curvedUp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2FFAA4D0-9261-8145-9C80-A86D86D0FA37}"/>
                </a:ext>
              </a:extLst>
            </p:cNvPr>
            <p:cNvSpPr txBox="1"/>
            <p:nvPr/>
          </p:nvSpPr>
          <p:spPr>
            <a:xfrm>
              <a:off x="2357512" y="3826412"/>
              <a:ext cx="52050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>
                  <a:solidFill>
                    <a:srgbClr val="7030A0"/>
                  </a:solidFill>
                </a:rPr>
                <a:t>5</a:t>
              </a: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A053C936-E7D6-5A47-8367-899353F7F390}"/>
              </a:ext>
            </a:extLst>
          </p:cNvPr>
          <p:cNvGrpSpPr/>
          <p:nvPr/>
        </p:nvGrpSpPr>
        <p:grpSpPr>
          <a:xfrm>
            <a:off x="4438127" y="3598828"/>
            <a:ext cx="942535" cy="981171"/>
            <a:chOff x="2146497" y="3245351"/>
            <a:chExt cx="942535" cy="981171"/>
          </a:xfrm>
        </p:grpSpPr>
        <p:sp>
          <p:nvSpPr>
            <p:cNvPr id="20" name="Curved Up Arrow 19">
              <a:extLst>
                <a:ext uri="{FF2B5EF4-FFF2-40B4-BE49-F238E27FC236}">
                  <a16:creationId xmlns:a16="http://schemas.microsoft.com/office/drawing/2014/main" id="{F53EC47D-E23C-E04F-A30D-28127B00025E}"/>
                </a:ext>
              </a:extLst>
            </p:cNvPr>
            <p:cNvSpPr/>
            <p:nvPr/>
          </p:nvSpPr>
          <p:spPr>
            <a:xfrm>
              <a:off x="2146497" y="3245351"/>
              <a:ext cx="942535" cy="436099"/>
            </a:xfrm>
            <a:prstGeom prst="curvedUp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CAB598C9-4BAC-5A4E-80F6-34E6D5F3D37E}"/>
                </a:ext>
              </a:extLst>
            </p:cNvPr>
            <p:cNvSpPr txBox="1"/>
            <p:nvPr/>
          </p:nvSpPr>
          <p:spPr>
            <a:xfrm>
              <a:off x="2357512" y="3826412"/>
              <a:ext cx="52050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>
                  <a:solidFill>
                    <a:srgbClr val="7030A0"/>
                  </a:solidFill>
                </a:rPr>
                <a:t>5</a:t>
              </a: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6651B38F-C57F-E84A-A713-4A678BE794D5}"/>
              </a:ext>
            </a:extLst>
          </p:cNvPr>
          <p:cNvGrpSpPr/>
          <p:nvPr/>
        </p:nvGrpSpPr>
        <p:grpSpPr>
          <a:xfrm>
            <a:off x="5583942" y="3598828"/>
            <a:ext cx="942535" cy="981171"/>
            <a:chOff x="2146497" y="3245351"/>
            <a:chExt cx="942535" cy="981171"/>
          </a:xfrm>
        </p:grpSpPr>
        <p:sp>
          <p:nvSpPr>
            <p:cNvPr id="23" name="Curved Up Arrow 22">
              <a:extLst>
                <a:ext uri="{FF2B5EF4-FFF2-40B4-BE49-F238E27FC236}">
                  <a16:creationId xmlns:a16="http://schemas.microsoft.com/office/drawing/2014/main" id="{E785DA15-7406-854A-A671-9A0CABD21AA0}"/>
                </a:ext>
              </a:extLst>
            </p:cNvPr>
            <p:cNvSpPr/>
            <p:nvPr/>
          </p:nvSpPr>
          <p:spPr>
            <a:xfrm>
              <a:off x="2146497" y="3245351"/>
              <a:ext cx="942535" cy="436099"/>
            </a:xfrm>
            <a:prstGeom prst="curvedUp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2DD03220-C64A-3B46-AEC8-67A7F939307A}"/>
                </a:ext>
              </a:extLst>
            </p:cNvPr>
            <p:cNvSpPr txBox="1"/>
            <p:nvPr/>
          </p:nvSpPr>
          <p:spPr>
            <a:xfrm>
              <a:off x="2357512" y="3826412"/>
              <a:ext cx="52050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>
                  <a:solidFill>
                    <a:srgbClr val="7030A0"/>
                  </a:solidFill>
                </a:rPr>
                <a:t>5</a:t>
              </a: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D6BBF42E-E703-204A-8D0B-79CE38FBE45B}"/>
              </a:ext>
            </a:extLst>
          </p:cNvPr>
          <p:cNvGrpSpPr/>
          <p:nvPr/>
        </p:nvGrpSpPr>
        <p:grpSpPr>
          <a:xfrm>
            <a:off x="6729757" y="3598828"/>
            <a:ext cx="942535" cy="981171"/>
            <a:chOff x="2146497" y="3245351"/>
            <a:chExt cx="942535" cy="981171"/>
          </a:xfrm>
        </p:grpSpPr>
        <p:sp>
          <p:nvSpPr>
            <p:cNvPr id="26" name="Curved Up Arrow 25">
              <a:extLst>
                <a:ext uri="{FF2B5EF4-FFF2-40B4-BE49-F238E27FC236}">
                  <a16:creationId xmlns:a16="http://schemas.microsoft.com/office/drawing/2014/main" id="{56489E42-F528-F049-8658-FF6A83FB5AA2}"/>
                </a:ext>
              </a:extLst>
            </p:cNvPr>
            <p:cNvSpPr/>
            <p:nvPr/>
          </p:nvSpPr>
          <p:spPr>
            <a:xfrm>
              <a:off x="2146497" y="3245351"/>
              <a:ext cx="942535" cy="436099"/>
            </a:xfrm>
            <a:prstGeom prst="curvedUp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08A7567A-E90C-5441-B635-0340D12AC36C}"/>
                </a:ext>
              </a:extLst>
            </p:cNvPr>
            <p:cNvSpPr txBox="1"/>
            <p:nvPr/>
          </p:nvSpPr>
          <p:spPr>
            <a:xfrm>
              <a:off x="2357512" y="3826412"/>
              <a:ext cx="52050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>
                  <a:solidFill>
                    <a:srgbClr val="7030A0"/>
                  </a:solidFill>
                </a:rPr>
                <a:t>5</a:t>
              </a:r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CC48F35A-7E62-5545-9CE8-B07A29CB705C}"/>
              </a:ext>
            </a:extLst>
          </p:cNvPr>
          <p:cNvGrpSpPr/>
          <p:nvPr/>
        </p:nvGrpSpPr>
        <p:grpSpPr>
          <a:xfrm>
            <a:off x="7875574" y="3598828"/>
            <a:ext cx="942535" cy="981171"/>
            <a:chOff x="2146497" y="3245351"/>
            <a:chExt cx="942535" cy="981171"/>
          </a:xfrm>
        </p:grpSpPr>
        <p:sp>
          <p:nvSpPr>
            <p:cNvPr id="29" name="Curved Up Arrow 28">
              <a:extLst>
                <a:ext uri="{FF2B5EF4-FFF2-40B4-BE49-F238E27FC236}">
                  <a16:creationId xmlns:a16="http://schemas.microsoft.com/office/drawing/2014/main" id="{9EDAD53B-DBC8-AF4D-9E83-A2644E2BA5F1}"/>
                </a:ext>
              </a:extLst>
            </p:cNvPr>
            <p:cNvSpPr/>
            <p:nvPr/>
          </p:nvSpPr>
          <p:spPr>
            <a:xfrm>
              <a:off x="2146497" y="3245351"/>
              <a:ext cx="942535" cy="436099"/>
            </a:xfrm>
            <a:prstGeom prst="curvedUp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A8B2579F-387A-754F-ABD7-99B3263E7277}"/>
                </a:ext>
              </a:extLst>
            </p:cNvPr>
            <p:cNvSpPr txBox="1"/>
            <p:nvPr/>
          </p:nvSpPr>
          <p:spPr>
            <a:xfrm>
              <a:off x="2357512" y="3826412"/>
              <a:ext cx="52050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>
                  <a:solidFill>
                    <a:srgbClr val="7030A0"/>
                  </a:solidFill>
                </a:rPr>
                <a:t>5</a:t>
              </a:r>
            </a:p>
          </p:txBody>
        </p:sp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A41C1ACF-D998-A644-86A8-E8D0075823E6}"/>
              </a:ext>
            </a:extLst>
          </p:cNvPr>
          <p:cNvSpPr txBox="1"/>
          <p:nvPr/>
        </p:nvSpPr>
        <p:spPr>
          <a:xfrm>
            <a:off x="3044963" y="4724961"/>
            <a:ext cx="4598262" cy="830997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7030A0"/>
                </a:solidFill>
              </a:rPr>
              <a:t>The difference = the gradient, m</a:t>
            </a:r>
          </a:p>
          <a:p>
            <a:r>
              <a:rPr lang="en-US" sz="2400" b="1" dirty="0">
                <a:solidFill>
                  <a:srgbClr val="7030A0"/>
                </a:solidFill>
              </a:rPr>
              <a:t>Therefore in this case, m = 5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BA83CFAE-ACD6-CA4E-8D04-889834727EB9}"/>
              </a:ext>
            </a:extLst>
          </p:cNvPr>
          <p:cNvSpPr/>
          <p:nvPr/>
        </p:nvSpPr>
        <p:spPr>
          <a:xfrm>
            <a:off x="5078436" y="2098654"/>
            <a:ext cx="829995" cy="1500174"/>
          </a:xfrm>
          <a:prstGeom prst="rect">
            <a:avLst/>
          </a:prstGeom>
          <a:solidFill>
            <a:srgbClr val="00FA00">
              <a:alpha val="18039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050BF78-142A-5549-933C-A5D3ECB9F40D}"/>
              </a:ext>
            </a:extLst>
          </p:cNvPr>
          <p:cNvSpPr txBox="1"/>
          <p:nvPr/>
        </p:nvSpPr>
        <p:spPr>
          <a:xfrm>
            <a:off x="6055209" y="1369131"/>
            <a:ext cx="2698486" cy="830997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B050"/>
                </a:solidFill>
              </a:rPr>
              <a:t>y-intercept = (0,0)</a:t>
            </a:r>
          </a:p>
          <a:p>
            <a:r>
              <a:rPr lang="en-US" sz="2400" b="1" dirty="0">
                <a:solidFill>
                  <a:srgbClr val="00B050"/>
                </a:solidFill>
              </a:rPr>
              <a:t>Therefore c = 0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7902D28-93F3-9C4F-AD7B-A994BF7A8969}"/>
              </a:ext>
            </a:extLst>
          </p:cNvPr>
          <p:cNvSpPr txBox="1"/>
          <p:nvPr/>
        </p:nvSpPr>
        <p:spPr>
          <a:xfrm>
            <a:off x="2878017" y="5800570"/>
            <a:ext cx="52085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y = 5x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8E4BE00-F7EA-8D42-A15F-FD6C77BC01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012" y="2328545"/>
            <a:ext cx="9283976" cy="11604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50857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animBg="1"/>
      <p:bldP spid="32" grpId="0" animBg="1"/>
      <p:bldP spid="33" grpId="0" animBg="1"/>
      <p:bldP spid="34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225F2E32-00F6-FF43-9E66-5BFE33D114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7589" y="427384"/>
            <a:ext cx="6503228" cy="138941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9C96F16-5917-6845-8015-F2F49851C7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3425" y="2372140"/>
            <a:ext cx="7262059" cy="20805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722FD947-4E55-834F-B105-B3B2D5E56ADB}"/>
              </a:ext>
            </a:extLst>
          </p:cNvPr>
          <p:cNvSpPr/>
          <p:nvPr/>
        </p:nvSpPr>
        <p:spPr>
          <a:xfrm>
            <a:off x="1736035" y="3816626"/>
            <a:ext cx="6294782" cy="62285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16366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82E7053-A1FA-2646-8A90-F85ADA86AD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752" y="1800665"/>
            <a:ext cx="8660214" cy="1927273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2B4E064B-A026-304C-BB66-4281E15150B1}"/>
              </a:ext>
            </a:extLst>
          </p:cNvPr>
          <p:cNvGrpSpPr/>
          <p:nvPr/>
        </p:nvGrpSpPr>
        <p:grpSpPr>
          <a:xfrm>
            <a:off x="3103104" y="3514425"/>
            <a:ext cx="942535" cy="981171"/>
            <a:chOff x="2146497" y="3245351"/>
            <a:chExt cx="942535" cy="981171"/>
          </a:xfrm>
        </p:grpSpPr>
        <p:sp>
          <p:nvSpPr>
            <p:cNvPr id="7" name="Curved Up Arrow 6">
              <a:extLst>
                <a:ext uri="{FF2B5EF4-FFF2-40B4-BE49-F238E27FC236}">
                  <a16:creationId xmlns:a16="http://schemas.microsoft.com/office/drawing/2014/main" id="{D6B038AA-11F0-0847-9391-137C4139C339}"/>
                </a:ext>
              </a:extLst>
            </p:cNvPr>
            <p:cNvSpPr/>
            <p:nvPr/>
          </p:nvSpPr>
          <p:spPr>
            <a:xfrm>
              <a:off x="2146497" y="3245351"/>
              <a:ext cx="942535" cy="436099"/>
            </a:xfrm>
            <a:prstGeom prst="curvedUp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46A57CB8-6D64-AA45-B428-EA583D89310F}"/>
                </a:ext>
              </a:extLst>
            </p:cNvPr>
            <p:cNvSpPr txBox="1"/>
            <p:nvPr/>
          </p:nvSpPr>
          <p:spPr>
            <a:xfrm>
              <a:off x="2357512" y="3826412"/>
              <a:ext cx="52050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>
                  <a:solidFill>
                    <a:srgbClr val="7030A0"/>
                  </a:solidFill>
                </a:rPr>
                <a:t>7</a:t>
              </a: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101C12CC-FDD2-7C4F-82C4-2E5329E78555}"/>
              </a:ext>
            </a:extLst>
          </p:cNvPr>
          <p:cNvGrpSpPr/>
          <p:nvPr/>
        </p:nvGrpSpPr>
        <p:grpSpPr>
          <a:xfrm>
            <a:off x="4248919" y="3514425"/>
            <a:ext cx="942535" cy="981171"/>
            <a:chOff x="2146497" y="3245351"/>
            <a:chExt cx="942535" cy="981171"/>
          </a:xfrm>
        </p:grpSpPr>
        <p:sp>
          <p:nvSpPr>
            <p:cNvPr id="10" name="Curved Up Arrow 9">
              <a:extLst>
                <a:ext uri="{FF2B5EF4-FFF2-40B4-BE49-F238E27FC236}">
                  <a16:creationId xmlns:a16="http://schemas.microsoft.com/office/drawing/2014/main" id="{C1941792-ABF1-2440-A987-CC27AAF9C04B}"/>
                </a:ext>
              </a:extLst>
            </p:cNvPr>
            <p:cNvSpPr/>
            <p:nvPr/>
          </p:nvSpPr>
          <p:spPr>
            <a:xfrm>
              <a:off x="2146497" y="3245351"/>
              <a:ext cx="942535" cy="436099"/>
            </a:xfrm>
            <a:prstGeom prst="curvedUp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9AD6613-57B6-C748-B576-6AE5FD2579E8}"/>
                </a:ext>
              </a:extLst>
            </p:cNvPr>
            <p:cNvSpPr txBox="1"/>
            <p:nvPr/>
          </p:nvSpPr>
          <p:spPr>
            <a:xfrm>
              <a:off x="2357512" y="3826412"/>
              <a:ext cx="52050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>
                  <a:solidFill>
                    <a:srgbClr val="7030A0"/>
                  </a:solidFill>
                </a:rPr>
                <a:t>9</a:t>
              </a: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F86DFF21-8A06-8C4A-A36D-6B549C885806}"/>
              </a:ext>
            </a:extLst>
          </p:cNvPr>
          <p:cNvGrpSpPr/>
          <p:nvPr/>
        </p:nvGrpSpPr>
        <p:grpSpPr>
          <a:xfrm>
            <a:off x="5324394" y="3514425"/>
            <a:ext cx="942535" cy="981171"/>
            <a:chOff x="2146497" y="3245351"/>
            <a:chExt cx="942535" cy="981171"/>
          </a:xfrm>
        </p:grpSpPr>
        <p:sp>
          <p:nvSpPr>
            <p:cNvPr id="13" name="Curved Up Arrow 12">
              <a:extLst>
                <a:ext uri="{FF2B5EF4-FFF2-40B4-BE49-F238E27FC236}">
                  <a16:creationId xmlns:a16="http://schemas.microsoft.com/office/drawing/2014/main" id="{D919F173-10D9-6145-9E36-FEFA6E6E3000}"/>
                </a:ext>
              </a:extLst>
            </p:cNvPr>
            <p:cNvSpPr/>
            <p:nvPr/>
          </p:nvSpPr>
          <p:spPr>
            <a:xfrm>
              <a:off x="2146497" y="3245351"/>
              <a:ext cx="942535" cy="436099"/>
            </a:xfrm>
            <a:prstGeom prst="curvedUp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4B88B86E-84E4-C94A-84F2-7AA915D32349}"/>
                </a:ext>
              </a:extLst>
            </p:cNvPr>
            <p:cNvSpPr txBox="1"/>
            <p:nvPr/>
          </p:nvSpPr>
          <p:spPr>
            <a:xfrm>
              <a:off x="2357512" y="3826412"/>
              <a:ext cx="52050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>
                  <a:solidFill>
                    <a:srgbClr val="7030A0"/>
                  </a:solidFill>
                </a:rPr>
                <a:t>11</a:t>
              </a: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3C585AD5-B148-C54B-B48F-140AEB92DAD0}"/>
              </a:ext>
            </a:extLst>
          </p:cNvPr>
          <p:cNvGrpSpPr/>
          <p:nvPr/>
        </p:nvGrpSpPr>
        <p:grpSpPr>
          <a:xfrm>
            <a:off x="6357665" y="3514425"/>
            <a:ext cx="942535" cy="981171"/>
            <a:chOff x="2146497" y="3245351"/>
            <a:chExt cx="942535" cy="981171"/>
          </a:xfrm>
        </p:grpSpPr>
        <p:sp>
          <p:nvSpPr>
            <p:cNvPr id="16" name="Curved Up Arrow 15">
              <a:extLst>
                <a:ext uri="{FF2B5EF4-FFF2-40B4-BE49-F238E27FC236}">
                  <a16:creationId xmlns:a16="http://schemas.microsoft.com/office/drawing/2014/main" id="{AEDEED43-FF3D-D44A-9A1B-8E860234CA3F}"/>
                </a:ext>
              </a:extLst>
            </p:cNvPr>
            <p:cNvSpPr/>
            <p:nvPr/>
          </p:nvSpPr>
          <p:spPr>
            <a:xfrm>
              <a:off x="2146497" y="3245351"/>
              <a:ext cx="942535" cy="436099"/>
            </a:xfrm>
            <a:prstGeom prst="curvedUp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5B72AC10-4F43-DD4A-A2BA-B11AC89ABC56}"/>
                </a:ext>
              </a:extLst>
            </p:cNvPr>
            <p:cNvSpPr txBox="1"/>
            <p:nvPr/>
          </p:nvSpPr>
          <p:spPr>
            <a:xfrm>
              <a:off x="2357512" y="3826412"/>
              <a:ext cx="52050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>
                  <a:solidFill>
                    <a:srgbClr val="7030A0"/>
                  </a:solidFill>
                </a:rPr>
                <a:t>13</a:t>
              </a: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8D67E712-A703-5546-A414-19DEB09E6A68}"/>
              </a:ext>
            </a:extLst>
          </p:cNvPr>
          <p:cNvGrpSpPr/>
          <p:nvPr/>
        </p:nvGrpSpPr>
        <p:grpSpPr>
          <a:xfrm>
            <a:off x="7503480" y="3514425"/>
            <a:ext cx="942535" cy="981171"/>
            <a:chOff x="2146497" y="3245351"/>
            <a:chExt cx="942535" cy="981171"/>
          </a:xfrm>
        </p:grpSpPr>
        <p:sp>
          <p:nvSpPr>
            <p:cNvPr id="19" name="Curved Up Arrow 18">
              <a:extLst>
                <a:ext uri="{FF2B5EF4-FFF2-40B4-BE49-F238E27FC236}">
                  <a16:creationId xmlns:a16="http://schemas.microsoft.com/office/drawing/2014/main" id="{49DF5395-6173-4948-8404-E7AB056DA6A9}"/>
                </a:ext>
              </a:extLst>
            </p:cNvPr>
            <p:cNvSpPr/>
            <p:nvPr/>
          </p:nvSpPr>
          <p:spPr>
            <a:xfrm>
              <a:off x="2146497" y="3245351"/>
              <a:ext cx="942535" cy="436099"/>
            </a:xfrm>
            <a:prstGeom prst="curvedUp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7E259DBA-D993-9446-8892-00FEF1247883}"/>
                </a:ext>
              </a:extLst>
            </p:cNvPr>
            <p:cNvSpPr txBox="1"/>
            <p:nvPr/>
          </p:nvSpPr>
          <p:spPr>
            <a:xfrm>
              <a:off x="2357512" y="3826412"/>
              <a:ext cx="52050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>
                  <a:solidFill>
                    <a:srgbClr val="7030A0"/>
                  </a:solidFill>
                </a:rPr>
                <a:t>15</a:t>
              </a: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883981D5-2F48-D44C-B551-E6D9DB1C2649}"/>
              </a:ext>
            </a:extLst>
          </p:cNvPr>
          <p:cNvGrpSpPr/>
          <p:nvPr/>
        </p:nvGrpSpPr>
        <p:grpSpPr>
          <a:xfrm>
            <a:off x="3108800" y="1095780"/>
            <a:ext cx="942535" cy="866212"/>
            <a:chOff x="2222532" y="1363061"/>
            <a:chExt cx="942535" cy="866212"/>
          </a:xfrm>
        </p:grpSpPr>
        <p:sp>
          <p:nvSpPr>
            <p:cNvPr id="22" name="Curved Up Arrow 21">
              <a:extLst>
                <a:ext uri="{FF2B5EF4-FFF2-40B4-BE49-F238E27FC236}">
                  <a16:creationId xmlns:a16="http://schemas.microsoft.com/office/drawing/2014/main" id="{9EFB6F77-FC1F-A846-A540-C6AA8DFCB8FA}"/>
                </a:ext>
              </a:extLst>
            </p:cNvPr>
            <p:cNvSpPr/>
            <p:nvPr/>
          </p:nvSpPr>
          <p:spPr>
            <a:xfrm flipV="1">
              <a:off x="2222532" y="1793174"/>
              <a:ext cx="942535" cy="436099"/>
            </a:xfrm>
            <a:prstGeom prst="curvedUpArrow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09991D47-BB95-0E4F-94D6-4EA537847798}"/>
                </a:ext>
              </a:extLst>
            </p:cNvPr>
            <p:cNvSpPr txBox="1"/>
            <p:nvPr/>
          </p:nvSpPr>
          <p:spPr>
            <a:xfrm>
              <a:off x="2433546" y="1363061"/>
              <a:ext cx="52050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>
                  <a:solidFill>
                    <a:srgbClr val="7030A0"/>
                  </a:solidFill>
                </a:rPr>
                <a:t>1</a:t>
              </a: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51A35836-7348-FD43-834B-4FE3E7D8735E}"/>
              </a:ext>
            </a:extLst>
          </p:cNvPr>
          <p:cNvGrpSpPr/>
          <p:nvPr/>
        </p:nvGrpSpPr>
        <p:grpSpPr>
          <a:xfrm>
            <a:off x="4294870" y="1095780"/>
            <a:ext cx="942535" cy="866212"/>
            <a:chOff x="2222532" y="1363061"/>
            <a:chExt cx="942535" cy="866212"/>
          </a:xfrm>
        </p:grpSpPr>
        <p:sp>
          <p:nvSpPr>
            <p:cNvPr id="25" name="Curved Up Arrow 24">
              <a:extLst>
                <a:ext uri="{FF2B5EF4-FFF2-40B4-BE49-F238E27FC236}">
                  <a16:creationId xmlns:a16="http://schemas.microsoft.com/office/drawing/2014/main" id="{5B4F2ACF-831E-F84C-8833-3E4412C8DFD7}"/>
                </a:ext>
              </a:extLst>
            </p:cNvPr>
            <p:cNvSpPr/>
            <p:nvPr/>
          </p:nvSpPr>
          <p:spPr>
            <a:xfrm flipV="1">
              <a:off x="2222532" y="1793174"/>
              <a:ext cx="942535" cy="436099"/>
            </a:xfrm>
            <a:prstGeom prst="curvedUpArrow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B703608D-E06E-1742-8AAD-9B85F18C1A85}"/>
                </a:ext>
              </a:extLst>
            </p:cNvPr>
            <p:cNvSpPr txBox="1"/>
            <p:nvPr/>
          </p:nvSpPr>
          <p:spPr>
            <a:xfrm>
              <a:off x="2433546" y="1363061"/>
              <a:ext cx="52050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>
                  <a:solidFill>
                    <a:srgbClr val="7030A0"/>
                  </a:solidFill>
                </a:rPr>
                <a:t>1</a:t>
              </a: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5BDEC3A6-1C1F-1A4C-9546-1B332FB7E71E}"/>
              </a:ext>
            </a:extLst>
          </p:cNvPr>
          <p:cNvGrpSpPr/>
          <p:nvPr/>
        </p:nvGrpSpPr>
        <p:grpSpPr>
          <a:xfrm>
            <a:off x="5337712" y="1095780"/>
            <a:ext cx="942535" cy="866212"/>
            <a:chOff x="2222532" y="1363061"/>
            <a:chExt cx="942535" cy="866212"/>
          </a:xfrm>
        </p:grpSpPr>
        <p:sp>
          <p:nvSpPr>
            <p:cNvPr id="28" name="Curved Up Arrow 27">
              <a:extLst>
                <a:ext uri="{FF2B5EF4-FFF2-40B4-BE49-F238E27FC236}">
                  <a16:creationId xmlns:a16="http://schemas.microsoft.com/office/drawing/2014/main" id="{697A5B9C-F4C0-DC40-B8D4-CAF21E917F44}"/>
                </a:ext>
              </a:extLst>
            </p:cNvPr>
            <p:cNvSpPr/>
            <p:nvPr/>
          </p:nvSpPr>
          <p:spPr>
            <a:xfrm flipV="1">
              <a:off x="2222532" y="1793174"/>
              <a:ext cx="942535" cy="436099"/>
            </a:xfrm>
            <a:prstGeom prst="curvedUpArrow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9A997C4E-2D6A-CA4F-A1FA-9D481C8C61D9}"/>
                </a:ext>
              </a:extLst>
            </p:cNvPr>
            <p:cNvSpPr txBox="1"/>
            <p:nvPr/>
          </p:nvSpPr>
          <p:spPr>
            <a:xfrm>
              <a:off x="2433546" y="1363061"/>
              <a:ext cx="52050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>
                  <a:solidFill>
                    <a:srgbClr val="7030A0"/>
                  </a:solidFill>
                </a:rPr>
                <a:t>1</a:t>
              </a:r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71524061-0262-3D4E-A2C7-B480C12B65D6}"/>
              </a:ext>
            </a:extLst>
          </p:cNvPr>
          <p:cNvGrpSpPr/>
          <p:nvPr/>
        </p:nvGrpSpPr>
        <p:grpSpPr>
          <a:xfrm>
            <a:off x="6411238" y="1095780"/>
            <a:ext cx="942535" cy="866212"/>
            <a:chOff x="2222532" y="1363061"/>
            <a:chExt cx="942535" cy="866212"/>
          </a:xfrm>
        </p:grpSpPr>
        <p:sp>
          <p:nvSpPr>
            <p:cNvPr id="31" name="Curved Up Arrow 30">
              <a:extLst>
                <a:ext uri="{FF2B5EF4-FFF2-40B4-BE49-F238E27FC236}">
                  <a16:creationId xmlns:a16="http://schemas.microsoft.com/office/drawing/2014/main" id="{A0BE925F-2B40-0B48-AFBD-EBA5A5DD1038}"/>
                </a:ext>
              </a:extLst>
            </p:cNvPr>
            <p:cNvSpPr/>
            <p:nvPr/>
          </p:nvSpPr>
          <p:spPr>
            <a:xfrm flipV="1">
              <a:off x="2222532" y="1793174"/>
              <a:ext cx="942535" cy="436099"/>
            </a:xfrm>
            <a:prstGeom prst="curvedUpArrow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0C01195E-F225-DD4C-B0A3-BBA808F348B3}"/>
                </a:ext>
              </a:extLst>
            </p:cNvPr>
            <p:cNvSpPr txBox="1"/>
            <p:nvPr/>
          </p:nvSpPr>
          <p:spPr>
            <a:xfrm>
              <a:off x="2433546" y="1363061"/>
              <a:ext cx="52050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>
                  <a:solidFill>
                    <a:srgbClr val="7030A0"/>
                  </a:solidFill>
                </a:rPr>
                <a:t>1</a:t>
              </a: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ABCB5DAA-BF81-294A-BF3E-3FA35BA0F779}"/>
              </a:ext>
            </a:extLst>
          </p:cNvPr>
          <p:cNvGrpSpPr/>
          <p:nvPr/>
        </p:nvGrpSpPr>
        <p:grpSpPr>
          <a:xfrm>
            <a:off x="7517801" y="1095780"/>
            <a:ext cx="942535" cy="866212"/>
            <a:chOff x="2222532" y="1363061"/>
            <a:chExt cx="942535" cy="866212"/>
          </a:xfrm>
        </p:grpSpPr>
        <p:sp>
          <p:nvSpPr>
            <p:cNvPr id="34" name="Curved Up Arrow 33">
              <a:extLst>
                <a:ext uri="{FF2B5EF4-FFF2-40B4-BE49-F238E27FC236}">
                  <a16:creationId xmlns:a16="http://schemas.microsoft.com/office/drawing/2014/main" id="{33CBF440-2956-B141-B98A-4EF72B114DBD}"/>
                </a:ext>
              </a:extLst>
            </p:cNvPr>
            <p:cNvSpPr/>
            <p:nvPr/>
          </p:nvSpPr>
          <p:spPr>
            <a:xfrm flipV="1">
              <a:off x="2222532" y="1793174"/>
              <a:ext cx="942535" cy="436099"/>
            </a:xfrm>
            <a:prstGeom prst="curvedUpArrow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16372761-D91D-E946-A9BB-1B26F9D77F00}"/>
                </a:ext>
              </a:extLst>
            </p:cNvPr>
            <p:cNvSpPr txBox="1"/>
            <p:nvPr/>
          </p:nvSpPr>
          <p:spPr>
            <a:xfrm>
              <a:off x="2433546" y="1363061"/>
              <a:ext cx="52050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>
                  <a:solidFill>
                    <a:srgbClr val="7030A0"/>
                  </a:solidFill>
                </a:rPr>
                <a:t>1</a:t>
              </a:r>
            </a:p>
          </p:txBody>
        </p:sp>
      </p:grpSp>
      <p:sp>
        <p:nvSpPr>
          <p:cNvPr id="36" name="Rectangle 35">
            <a:extLst>
              <a:ext uri="{FF2B5EF4-FFF2-40B4-BE49-F238E27FC236}">
                <a16:creationId xmlns:a16="http://schemas.microsoft.com/office/drawing/2014/main" id="{EDF6918A-ED07-8A42-9307-2A6E397E5218}"/>
              </a:ext>
            </a:extLst>
          </p:cNvPr>
          <p:cNvSpPr/>
          <p:nvPr/>
        </p:nvSpPr>
        <p:spPr>
          <a:xfrm>
            <a:off x="2912013" y="4018566"/>
            <a:ext cx="5809957" cy="59563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05D3C26-75CE-8B45-BDDD-07B6844D47A3}"/>
              </a:ext>
            </a:extLst>
          </p:cNvPr>
          <p:cNvSpPr txBox="1"/>
          <p:nvPr/>
        </p:nvSpPr>
        <p:spPr>
          <a:xfrm>
            <a:off x="2912013" y="4904831"/>
            <a:ext cx="584696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Difference is not constant, therefore this graph is not a linear graph.</a:t>
            </a:r>
          </a:p>
        </p:txBody>
      </p:sp>
    </p:spTree>
    <p:extLst>
      <p:ext uri="{BB962C8B-B14F-4D97-AF65-F5344CB8AC3E}">
        <p14:creationId xmlns:p14="http://schemas.microsoft.com/office/powerpoint/2010/main" val="25517042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 animBg="1"/>
      <p:bldP spid="37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EBAF8F-BD6C-F24F-B120-51D752355F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Procedure if you are given a table of values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1C1609-B381-4944-B80F-AF477E69FD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Work out the difference between the increment of y, that is the gradient, m. (in this case, you will be given the increment of x = 1).</a:t>
            </a:r>
          </a:p>
          <a:p>
            <a:r>
              <a:rPr lang="en-US" dirty="0"/>
              <a:t>From the table, determine the value of y when x = 0.  This will be the value of c.</a:t>
            </a:r>
          </a:p>
          <a:p>
            <a:r>
              <a:rPr lang="en-US" dirty="0"/>
              <a:t>Substitute the values into y = mx + c</a:t>
            </a:r>
          </a:p>
        </p:txBody>
      </p:sp>
    </p:spTree>
    <p:extLst>
      <p:ext uri="{BB962C8B-B14F-4D97-AF65-F5344CB8AC3E}">
        <p14:creationId xmlns:p14="http://schemas.microsoft.com/office/powerpoint/2010/main" val="216368936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C4B170-E1BE-B445-B29C-24C740161B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 parallel to x - axis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B0D23B2-F4AA-4848-B184-42B46B80C9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038" y="1690690"/>
            <a:ext cx="5711687" cy="4209531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22161D9-CE87-9C46-9BDA-67984EFE017F}"/>
              </a:ext>
            </a:extLst>
          </p:cNvPr>
          <p:cNvSpPr/>
          <p:nvPr/>
        </p:nvSpPr>
        <p:spPr>
          <a:xfrm>
            <a:off x="4810539" y="2597426"/>
            <a:ext cx="808383" cy="41081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E1E1FFC-B56E-8C4D-88BF-AFDC23319841}"/>
              </a:ext>
            </a:extLst>
          </p:cNvPr>
          <p:cNvSpPr/>
          <p:nvPr/>
        </p:nvSpPr>
        <p:spPr>
          <a:xfrm>
            <a:off x="4810539" y="3546458"/>
            <a:ext cx="808383" cy="41081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D1BA74A-C7FE-3E46-B831-86CD8C28655F}"/>
              </a:ext>
            </a:extLst>
          </p:cNvPr>
          <p:cNvSpPr/>
          <p:nvPr/>
        </p:nvSpPr>
        <p:spPr>
          <a:xfrm>
            <a:off x="4810539" y="5077429"/>
            <a:ext cx="927652" cy="41081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34154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2EA243-5423-2741-AF1A-50786CADDE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 parallel to y - axis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585EBC8-D944-854F-B984-4C6B6E2274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075" y="1442716"/>
            <a:ext cx="5487287" cy="4816619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DB11EE5F-8E63-EB42-B6ED-C27AE521ABC5}"/>
              </a:ext>
            </a:extLst>
          </p:cNvPr>
          <p:cNvSpPr/>
          <p:nvPr/>
        </p:nvSpPr>
        <p:spPr>
          <a:xfrm>
            <a:off x="1456841" y="3099661"/>
            <a:ext cx="480448" cy="127086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0A6294-E1EB-D04F-8DE6-3288D43D95F4}"/>
              </a:ext>
            </a:extLst>
          </p:cNvPr>
          <p:cNvSpPr/>
          <p:nvPr/>
        </p:nvSpPr>
        <p:spPr>
          <a:xfrm>
            <a:off x="3267560" y="3112576"/>
            <a:ext cx="480448" cy="127086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6FAA8B1-44D4-E24B-BD8A-2D8471A3CEFF}"/>
              </a:ext>
            </a:extLst>
          </p:cNvPr>
          <p:cNvSpPr/>
          <p:nvPr/>
        </p:nvSpPr>
        <p:spPr>
          <a:xfrm>
            <a:off x="4020519" y="3099660"/>
            <a:ext cx="480448" cy="127086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42780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EBAF8F-BD6C-F24F-B120-51D752355F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Procedure if you are given y-intercept and another point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A1C1609-B381-4944-B80F-AF477E69FD8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The value of </a:t>
                </a:r>
                <a:r>
                  <a:rPr lang="en-US"/>
                  <a:t>c is </a:t>
                </a:r>
                <a:r>
                  <a:rPr lang="en-US" dirty="0"/>
                  <a:t>the value of the y co-ordinate of the y-intercept.</a:t>
                </a:r>
              </a:p>
              <a:p>
                <a:r>
                  <a:rPr lang="en-US" dirty="0"/>
                  <a:t>From the graph, either calculate the gradient using the gradient formula (m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 − </m:t>
                        </m:r>
                        <m:sSub>
                          <m:sSubPr>
                            <m:ctrlPr>
                              <a:rPr lang="en-AU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 − </m:t>
                        </m:r>
                        <m:sSub>
                          <m:sSubPr>
                            <m:ctrlPr>
                              <a:rPr lang="en-AU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dirty="0"/>
                  <a:t>) or use the graph to work out the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𝑟𝑖𝑠𝑒</m:t>
                        </m:r>
                      </m:num>
                      <m:den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𝑟𝑢𝑛</m:t>
                        </m:r>
                      </m:den>
                    </m:f>
                  </m:oMath>
                </a14:m>
                <a:r>
                  <a:rPr lang="en-US" dirty="0"/>
                  <a:t>.</a:t>
                </a:r>
              </a:p>
              <a:p>
                <a:r>
                  <a:rPr lang="en-US" dirty="0"/>
                  <a:t>The write out the equation.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A1C1609-B381-4944-B80F-AF477E69FD8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189" t="-2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6197461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C4D921-4337-AE49-812C-5465129774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Given a point and the gradient of the line or given two points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2C131D5-EEE9-C543-9F71-E592AEA1F8D6}"/>
              </a:ext>
            </a:extLst>
          </p:cNvPr>
          <p:cNvSpPr/>
          <p:nvPr/>
        </p:nvSpPr>
        <p:spPr>
          <a:xfrm>
            <a:off x="2012673" y="2331232"/>
            <a:ext cx="4953000" cy="138499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800" dirty="0"/>
              <a:t>Use:</a:t>
            </a:r>
          </a:p>
          <a:p>
            <a:endParaRPr lang="en-US" sz="2800" dirty="0"/>
          </a:p>
          <a:p>
            <a:pPr algn="ctr"/>
            <a:r>
              <a:rPr lang="en-US" sz="2800" b="1" dirty="0"/>
              <a:t>y – y</a:t>
            </a:r>
            <a:r>
              <a:rPr lang="en-US" sz="2800" b="1" baseline="-25000" dirty="0"/>
              <a:t>1 </a:t>
            </a:r>
            <a:r>
              <a:rPr lang="en-US" sz="2800" b="1" dirty="0"/>
              <a:t>= m(x – x</a:t>
            </a:r>
            <a:r>
              <a:rPr lang="en-US" sz="2800" b="1" baseline="-25000" dirty="0"/>
              <a:t>1</a:t>
            </a:r>
            <a:r>
              <a:rPr lang="en-US" sz="2800" b="1" dirty="0"/>
              <a:t>) </a:t>
            </a:r>
          </a:p>
        </p:txBody>
      </p:sp>
    </p:spTree>
    <p:extLst>
      <p:ext uri="{BB962C8B-B14F-4D97-AF65-F5344CB8AC3E}">
        <p14:creationId xmlns:p14="http://schemas.microsoft.com/office/powerpoint/2010/main" val="341967085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1037" y="1401556"/>
            <a:ext cx="8543925" cy="4351338"/>
          </a:xfrm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Find the equation of the line with the gradient -2 and the passing through (4, 2).</a:t>
            </a:r>
          </a:p>
        </p:txBody>
      </p:sp>
    </p:spTree>
    <p:extLst>
      <p:ext uri="{BB962C8B-B14F-4D97-AF65-F5344CB8AC3E}">
        <p14:creationId xmlns:p14="http://schemas.microsoft.com/office/powerpoint/2010/main" val="57580644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1036" y="182623"/>
            <a:ext cx="8543925" cy="835023"/>
          </a:xfrm>
        </p:spPr>
        <p:txBody>
          <a:bodyPr>
            <a:normAutofit fontScale="90000"/>
          </a:bodyPr>
          <a:lstStyle/>
          <a:p>
            <a:r>
              <a:rPr lang="en-US" sz="2800" i="1" dirty="0"/>
              <a:t>Example </a:t>
            </a:r>
            <a:r>
              <a:rPr lang="mr-IN" sz="2800" i="1" dirty="0"/>
              <a:t>–</a:t>
            </a:r>
            <a:r>
              <a:rPr lang="en-US" sz="2800" i="1" dirty="0"/>
              <a:t> Find the equation of a straight line which passes through the points (2,3) and (4,-5)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2438" y="1222663"/>
                <a:ext cx="4500562" cy="514350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000" dirty="0"/>
                  <a:t>We know y = mx + c</a:t>
                </a:r>
              </a:p>
              <a:p>
                <a:pPr marL="0" indent="0">
                  <a:buNone/>
                </a:pPr>
                <a:r>
                  <a:rPr lang="en-US" sz="2000" dirty="0"/>
                  <a:t>Calculating m using (2,3) and (4,-5)</a:t>
                </a:r>
              </a:p>
              <a:p>
                <a:pPr marL="0" indent="0">
                  <a:buNone/>
                </a:pPr>
                <a:r>
                  <a:rPr lang="en-US" sz="2000" dirty="0"/>
                  <a:t>m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mr-IN" sz="20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0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AU" sz="2000" b="0" i="1" smtClean="0">
                                <a:latin typeface="Cambria Math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AU" sz="2000" b="0" i="1" smtClean="0">
                                <a:latin typeface="Cambria Math" charset="0"/>
                              </a:rPr>
                              <m:t>2</m:t>
                            </m:r>
                          </m:sub>
                        </m:sSub>
                        <m:r>
                          <a:rPr lang="en-AU" sz="2000" b="0" i="1" smtClean="0">
                            <a:latin typeface="Cambria Math" charset="0"/>
                          </a:rPr>
                          <m:t> − </m:t>
                        </m:r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AU" sz="2000" b="0" i="1" smtClean="0">
                                <a:latin typeface="Cambria Math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AU" sz="2000" b="0" i="1" smtClean="0">
                                <a:latin typeface="Cambria Math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20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AU" sz="2000" b="0" i="1" smtClean="0">
                                <a:latin typeface="Cambria Math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AU" sz="2000" b="0" i="1" smtClean="0">
                                <a:latin typeface="Cambria Math" charset="0"/>
                              </a:rPr>
                              <m:t>2</m:t>
                            </m:r>
                          </m:sub>
                        </m:sSub>
                        <m:r>
                          <a:rPr lang="en-AU" sz="2000" b="0" i="1" smtClean="0">
                            <a:latin typeface="Cambria Math" charset="0"/>
                          </a:rPr>
                          <m:t> − </m:t>
                        </m:r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AU" sz="2000" b="0" i="1" smtClean="0">
                                <a:latin typeface="Cambria Math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AU" sz="2000" b="0" i="1" smtClean="0">
                                <a:latin typeface="Cambria Math" charset="0"/>
                              </a:rPr>
                              <m:t>1</m:t>
                            </m:r>
                          </m:sub>
                        </m:sSub>
                      </m:den>
                    </m:f>
                    <m:r>
                      <a:rPr lang="en-AU" sz="2000" b="0" i="1" smtClean="0">
                        <a:latin typeface="Cambria Math" charset="0"/>
                      </a:rPr>
                      <m:t>= </m:t>
                    </m:r>
                    <m:f>
                      <m:fPr>
                        <m:ctrlPr>
                          <a:rPr lang="mr-IN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000" b="0" i="1" smtClean="0">
                            <a:latin typeface="Cambria Math" charset="0"/>
                          </a:rPr>
                          <m:t>−5 −3</m:t>
                        </m:r>
                      </m:num>
                      <m:den>
                        <m:r>
                          <a:rPr lang="en-AU" sz="2000" b="0" i="1" smtClean="0">
                            <a:latin typeface="Cambria Math" charset="0"/>
                          </a:rPr>
                          <m:t>4 −2</m:t>
                        </m:r>
                      </m:den>
                    </m:f>
                    <m:r>
                      <a:rPr lang="en-AU" sz="2000" b="0" i="1" smtClean="0">
                        <a:latin typeface="Cambria Math" charset="0"/>
                      </a:rPr>
                      <m:t>= </m:t>
                    </m:r>
                    <m:f>
                      <m:fPr>
                        <m:ctrlPr>
                          <a:rPr lang="mr-IN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000" b="0" i="1" smtClean="0">
                            <a:latin typeface="Cambria Math" charset="0"/>
                          </a:rPr>
                          <m:t>−8</m:t>
                        </m:r>
                      </m:num>
                      <m:den>
                        <m:r>
                          <a:rPr lang="en-AU" sz="2000" b="0" i="1" smtClean="0">
                            <a:latin typeface="Cambria Math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sz="2000" dirty="0"/>
                  <a:t> = -4</a:t>
                </a:r>
              </a:p>
              <a:p>
                <a:pPr marL="0" indent="0">
                  <a:buNone/>
                </a:pPr>
                <a:r>
                  <a:rPr lang="en-US" sz="2000" dirty="0"/>
                  <a:t>We therefore know that y = -4x + c</a:t>
                </a:r>
              </a:p>
              <a:p>
                <a:pPr marL="0" indent="0">
                  <a:buNone/>
                </a:pPr>
                <a:r>
                  <a:rPr lang="en-US" sz="2000" dirty="0"/>
                  <a:t>To calculate c, substitute either (2,3) or (4,-5) into the equation of y = -4x + c</a:t>
                </a:r>
              </a:p>
              <a:p>
                <a:pPr marL="0" indent="0">
                  <a:buNone/>
                </a:pPr>
                <a:r>
                  <a:rPr lang="en-US" sz="2000" dirty="0"/>
                  <a:t>Using (2,3), we therefore have </a:t>
                </a:r>
              </a:p>
              <a:p>
                <a:pPr marL="0" indent="0">
                  <a:buNone/>
                </a:pPr>
                <a:r>
                  <a:rPr lang="en-US" sz="2000" dirty="0"/>
                  <a:t>	3 = -4(2) +c</a:t>
                </a:r>
              </a:p>
              <a:p>
                <a:pPr marL="0" indent="0">
                  <a:buNone/>
                </a:pPr>
                <a:r>
                  <a:rPr lang="en-US" sz="2000" dirty="0"/>
                  <a:t>	3 = -8 + c</a:t>
                </a:r>
              </a:p>
              <a:p>
                <a:pPr marL="0" indent="0">
                  <a:buNone/>
                </a:pPr>
                <a:r>
                  <a:rPr lang="en-US" sz="2000" dirty="0"/>
                  <a:t>Rearranging, c = 3 + 8 = 11</a:t>
                </a:r>
              </a:p>
              <a:p>
                <a:pPr marL="0" indent="0">
                  <a:buNone/>
                </a:pPr>
                <a:r>
                  <a:rPr lang="en-US" sz="2000" dirty="0"/>
                  <a:t>Therefore the equation is y = -4x + 11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2438" y="1222663"/>
                <a:ext cx="4500562" cy="5143500"/>
              </a:xfrm>
              <a:blipFill>
                <a:blip r:embed="rId2"/>
                <a:stretch>
                  <a:fillRect l="-1695" t="-14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FB66DDFD-30EE-7941-AE8C-F53A57B63E85}"/>
              </a:ext>
            </a:extLst>
          </p:cNvPr>
          <p:cNvSpPr txBox="1"/>
          <p:nvPr/>
        </p:nvSpPr>
        <p:spPr>
          <a:xfrm>
            <a:off x="5430980" y="2528454"/>
            <a:ext cx="3793981" cy="452431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Using the gradient-point form : </a:t>
            </a:r>
          </a:p>
          <a:p>
            <a:r>
              <a:rPr lang="en-US" sz="2400" dirty="0">
                <a:solidFill>
                  <a:srgbClr val="FF0000"/>
                </a:solidFill>
              </a:rPr>
              <a:t>y – y</a:t>
            </a:r>
            <a:r>
              <a:rPr lang="en-US" sz="2400" baseline="-25000" dirty="0">
                <a:solidFill>
                  <a:srgbClr val="FF0000"/>
                </a:solidFill>
              </a:rPr>
              <a:t>1 </a:t>
            </a:r>
            <a:r>
              <a:rPr lang="en-US" sz="2400" dirty="0">
                <a:solidFill>
                  <a:srgbClr val="FF0000"/>
                </a:solidFill>
              </a:rPr>
              <a:t>= m(x – x</a:t>
            </a:r>
            <a:r>
              <a:rPr lang="en-US" sz="2400" baseline="-25000" dirty="0">
                <a:solidFill>
                  <a:srgbClr val="FF0000"/>
                </a:solidFill>
              </a:rPr>
              <a:t>1</a:t>
            </a:r>
            <a:r>
              <a:rPr lang="en-US" sz="2400" dirty="0">
                <a:solidFill>
                  <a:srgbClr val="FF0000"/>
                </a:solidFill>
              </a:rPr>
              <a:t>) </a:t>
            </a:r>
          </a:p>
          <a:p>
            <a:endParaRPr lang="en-US" sz="2400" dirty="0">
              <a:solidFill>
                <a:srgbClr val="FF0000"/>
              </a:solidFill>
            </a:endParaRPr>
          </a:p>
          <a:p>
            <a:r>
              <a:rPr lang="en-US" sz="2400" dirty="0">
                <a:solidFill>
                  <a:srgbClr val="FF0000"/>
                </a:solidFill>
              </a:rPr>
              <a:t>Select either point:</a:t>
            </a:r>
          </a:p>
          <a:p>
            <a:r>
              <a:rPr lang="en-US" sz="2400" dirty="0">
                <a:solidFill>
                  <a:srgbClr val="FF0000"/>
                </a:solidFill>
              </a:rPr>
              <a:t>Use (2,3)</a:t>
            </a:r>
          </a:p>
          <a:p>
            <a:endParaRPr lang="en-US" sz="2400" dirty="0">
              <a:solidFill>
                <a:srgbClr val="FF0000"/>
              </a:solidFill>
            </a:endParaRPr>
          </a:p>
          <a:p>
            <a:r>
              <a:rPr lang="en-US" sz="2400" dirty="0">
                <a:solidFill>
                  <a:srgbClr val="FF0000"/>
                </a:solidFill>
              </a:rPr>
              <a:t>y – 3 = -4 (x - 2)</a:t>
            </a:r>
          </a:p>
          <a:p>
            <a:r>
              <a:rPr lang="en-US" sz="2400" dirty="0">
                <a:solidFill>
                  <a:srgbClr val="FF0000"/>
                </a:solidFill>
              </a:rPr>
              <a:t>y – 3 = -4x + 8</a:t>
            </a:r>
          </a:p>
          <a:p>
            <a:r>
              <a:rPr lang="en-US" sz="2400" dirty="0">
                <a:solidFill>
                  <a:srgbClr val="FF0000"/>
                </a:solidFill>
              </a:rPr>
              <a:t>y = -4x + 11</a:t>
            </a:r>
          </a:p>
          <a:p>
            <a:endParaRPr lang="en-US" sz="2400" dirty="0">
              <a:solidFill>
                <a:srgbClr val="FF0000"/>
              </a:solidFill>
            </a:endParaRPr>
          </a:p>
          <a:p>
            <a:endParaRPr lang="en-US" sz="2400" dirty="0">
              <a:solidFill>
                <a:srgbClr val="FF0000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3C887B3-F78D-8B43-8CF1-E990A204E055}"/>
              </a:ext>
            </a:extLst>
          </p:cNvPr>
          <p:cNvSpPr/>
          <p:nvPr/>
        </p:nvSpPr>
        <p:spPr>
          <a:xfrm>
            <a:off x="158244" y="2564822"/>
            <a:ext cx="4620491" cy="3851564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E893194-EFC1-F848-8126-D35F931446C9}"/>
              </a:ext>
            </a:extLst>
          </p:cNvPr>
          <p:cNvSpPr/>
          <p:nvPr/>
        </p:nvSpPr>
        <p:spPr>
          <a:xfrm>
            <a:off x="4953000" y="2564822"/>
            <a:ext cx="4620491" cy="3851564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92320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</p:bldLst>
  </p:timing>
</p:sld>
</file>

<file path=ppt/theme/theme1.xml><?xml version="1.0" encoding="utf-8"?>
<a:theme xmlns:a="http://schemas.openxmlformats.org/drawingml/2006/main" name="A4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4" id="{5D1E2C3C-E28F-A04D-A3BF-B9774A855780}" vid="{4F857BDB-CED6-704E-A61F-568D547E0E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A4</Template>
  <TotalTime>472</TotalTime>
  <Words>852</Words>
  <Application>Microsoft Macintosh PowerPoint</Application>
  <PresentationFormat>A4 Paper (210x297 mm)</PresentationFormat>
  <Paragraphs>146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8" baseType="lpstr">
      <vt:lpstr>Arial</vt:lpstr>
      <vt:lpstr>Calibri</vt:lpstr>
      <vt:lpstr>Calibri Light</vt:lpstr>
      <vt:lpstr>Cambria Math</vt:lpstr>
      <vt:lpstr>A4</vt:lpstr>
      <vt:lpstr>Equation of a Straight Line</vt:lpstr>
      <vt:lpstr>What is a straight line?</vt:lpstr>
      <vt:lpstr>Recall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Procedure if you are given y-intercept and another point</vt:lpstr>
      <vt:lpstr>Find the equation (y = mx + c) that matches the following table of values</vt:lpstr>
      <vt:lpstr>Find the equation (y = mx + c) that matches the following table of values</vt:lpstr>
      <vt:lpstr>Find the equation (y = mx + c) that matches the following table of values</vt:lpstr>
      <vt:lpstr>Find the equation (y = mx + c) that matches the following table of values</vt:lpstr>
      <vt:lpstr>PowerPoint Presentation</vt:lpstr>
      <vt:lpstr>PowerPoint Presentation</vt:lpstr>
      <vt:lpstr>Procedure if you are given a table of values</vt:lpstr>
      <vt:lpstr>Line parallel to x - axis</vt:lpstr>
      <vt:lpstr>Line parallel to y - axis</vt:lpstr>
      <vt:lpstr>Procedure if you are given y-intercept and another point</vt:lpstr>
      <vt:lpstr>Given a point and the gradient of the line or given two points</vt:lpstr>
      <vt:lpstr>Example:</vt:lpstr>
      <vt:lpstr>Example – Find the equation of a straight line which passes through the points (2,3) and (4,-5)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Equation of a Straight Line</dc:title>
  <dc:creator>LOH Michael [Shenton College]</dc:creator>
  <cp:lastModifiedBy>LOH Michael [Shenton College]</cp:lastModifiedBy>
  <cp:revision>18</cp:revision>
  <dcterms:created xsi:type="dcterms:W3CDTF">2018-03-20T06:29:30Z</dcterms:created>
  <dcterms:modified xsi:type="dcterms:W3CDTF">2019-06-22T03:13:14Z</dcterms:modified>
</cp:coreProperties>
</file>
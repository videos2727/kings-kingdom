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257" r:id="rId3"/>
    <p:sldId id="258" r:id="rId4"/>
    <p:sldId id="259" r:id="rId5"/>
    <p:sldId id="260" r:id="rId6"/>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9405"/>
  </p:normalViewPr>
  <p:slideViewPr>
    <p:cSldViewPr snapToGrid="0" snapToObjects="1">
      <p:cViewPr varScale="1">
        <p:scale>
          <a:sx n="87" d="100"/>
          <a:sy n="87" d="100"/>
        </p:scale>
        <p:origin x="16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01C227-32EB-2A4F-B0F4-DFA3C615B12C}" type="datetimeFigureOut">
              <a:rPr lang="en-US" smtClean="0"/>
              <a:t>3/31/19</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40C007-3A2A-134F-8999-9B076B7BAD98}" type="slidenum">
              <a:rPr lang="en-US" smtClean="0"/>
              <a:t>‹#›</a:t>
            </a:fld>
            <a:endParaRPr lang="en-US"/>
          </a:p>
        </p:txBody>
      </p:sp>
    </p:spTree>
    <p:extLst>
      <p:ext uri="{BB962C8B-B14F-4D97-AF65-F5344CB8AC3E}">
        <p14:creationId xmlns:p14="http://schemas.microsoft.com/office/powerpoint/2010/main" val="1171924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http://i140.photobucket.com/albums/r20/</a:t>
            </a:r>
            <a:r>
              <a:rPr lang="en-US" dirty="0" err="1"/>
              <a:t>Vertigo_Priss</a:t>
            </a:r>
            <a:r>
              <a:rPr lang="en-US" dirty="0"/>
              <a:t>/math110-3.jpg</a:t>
            </a:r>
          </a:p>
        </p:txBody>
      </p:sp>
      <p:sp>
        <p:nvSpPr>
          <p:cNvPr id="4" name="Slide Number Placeholder 3"/>
          <p:cNvSpPr>
            <a:spLocks noGrp="1"/>
          </p:cNvSpPr>
          <p:nvPr>
            <p:ph type="sldNum" sz="quarter" idx="10"/>
          </p:nvPr>
        </p:nvSpPr>
        <p:spPr/>
        <p:txBody>
          <a:bodyPr/>
          <a:lstStyle/>
          <a:p>
            <a:fld id="{ED40C007-3A2A-134F-8999-9B076B7BAD98}" type="slidenum">
              <a:rPr lang="en-US" smtClean="0"/>
              <a:t>3</a:t>
            </a:fld>
            <a:endParaRPr lang="en-US"/>
          </a:p>
        </p:txBody>
      </p:sp>
    </p:spTree>
    <p:extLst>
      <p:ext uri="{BB962C8B-B14F-4D97-AF65-F5344CB8AC3E}">
        <p14:creationId xmlns:p14="http://schemas.microsoft.com/office/powerpoint/2010/main" val="1967906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www.endlesspoolsblog.com</a:t>
            </a:r>
            <a:r>
              <a:rPr lang="en-US" dirty="0"/>
              <a:t>/2014/07/ultra-swimmer-</a:t>
            </a:r>
            <a:r>
              <a:rPr lang="en-US" dirty="0" err="1"/>
              <a:t>jamie</a:t>
            </a:r>
            <a:r>
              <a:rPr lang="en-US" dirty="0"/>
              <a:t>-</a:t>
            </a:r>
            <a:r>
              <a:rPr lang="en-US" dirty="0" err="1"/>
              <a:t>patrick</a:t>
            </a:r>
            <a:r>
              <a:rPr lang="en-US" dirty="0"/>
              <a:t>-to-</a:t>
            </a:r>
            <a:r>
              <a:rPr lang="en-US" dirty="0" err="1"/>
              <a:t>break.html</a:t>
            </a:r>
            <a:endParaRPr lang="en-US" dirty="0"/>
          </a:p>
        </p:txBody>
      </p:sp>
      <p:sp>
        <p:nvSpPr>
          <p:cNvPr id="4" name="Slide Number Placeholder 3"/>
          <p:cNvSpPr>
            <a:spLocks noGrp="1"/>
          </p:cNvSpPr>
          <p:nvPr>
            <p:ph type="sldNum" sz="quarter" idx="10"/>
          </p:nvPr>
        </p:nvSpPr>
        <p:spPr/>
        <p:txBody>
          <a:bodyPr/>
          <a:lstStyle/>
          <a:p>
            <a:fld id="{ED40C007-3A2A-134F-8999-9B076B7BAD98}" type="slidenum">
              <a:rPr lang="en-US" smtClean="0"/>
              <a:t>5</a:t>
            </a:fld>
            <a:endParaRPr lang="en-US"/>
          </a:p>
        </p:txBody>
      </p:sp>
    </p:spTree>
    <p:extLst>
      <p:ext uri="{BB962C8B-B14F-4D97-AF65-F5344CB8AC3E}">
        <p14:creationId xmlns:p14="http://schemas.microsoft.com/office/powerpoint/2010/main" val="1696335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3/31/19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3/31/19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337F27-3561-F447-A297-B1BA2E47B84D}" type="datetimeFigureOut">
              <a:rPr lang="en-US" smtClean="0"/>
              <a:t>3/31/19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337F27-3561-F447-A297-B1BA2E47B84D}" type="datetimeFigureOut">
              <a:rPr lang="en-US" smtClean="0"/>
              <a:t>3/31/19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337F27-3561-F447-A297-B1BA2E47B84D}" type="datetimeFigureOut">
              <a:rPr lang="en-US" smtClean="0"/>
              <a:t>3/31/19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337F27-3561-F447-A297-B1BA2E47B84D}" type="datetimeFigureOut">
              <a:rPr lang="en-US" smtClean="0"/>
              <a:t>3/31/19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337F27-3561-F447-A297-B1BA2E47B84D}" type="datetimeFigureOut">
              <a:rPr lang="en-US" smtClean="0"/>
              <a:t>3/31/19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337F27-3561-F447-A297-B1BA2E47B84D}" type="datetimeFigureOut">
              <a:rPr lang="en-US" smtClean="0"/>
              <a:t>3/31/19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337F27-3561-F447-A297-B1BA2E47B84D}" type="datetimeFigureOut">
              <a:rPr lang="en-US" smtClean="0"/>
              <a:t>3/31/19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3/31/19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337F27-3561-F447-A297-B1BA2E47B84D}" type="datetimeFigureOut">
              <a:rPr lang="en-US" smtClean="0"/>
              <a:t>3/31/19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440C13-C396-FA4F-B9F9-0B19ECA580A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337F27-3561-F447-A297-B1BA2E47B84D}" type="datetimeFigureOut">
              <a:rPr lang="en-US" smtClean="0"/>
              <a:t>3/31/19</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40C13-C396-FA4F-B9F9-0B19ECA580A0}" type="slidenum">
              <a:rPr lang="en-US" smtClean="0"/>
              <a:t>‹#›</a:t>
            </a:fld>
            <a:endParaRPr lang="en-US"/>
          </a:p>
        </p:txBody>
      </p:sp>
    </p:spTree>
    <p:extLst>
      <p:ext uri="{BB962C8B-B14F-4D97-AF65-F5344CB8AC3E}">
        <p14:creationId xmlns:p14="http://schemas.microsoft.com/office/powerpoint/2010/main" val="4436629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Pythagoras Theorem</a:t>
            </a:r>
          </a:p>
        </p:txBody>
      </p:sp>
      <p:sp>
        <p:nvSpPr>
          <p:cNvPr id="3" name="Subtitle 2"/>
          <p:cNvSpPr>
            <a:spLocks noGrp="1"/>
          </p:cNvSpPr>
          <p:nvPr>
            <p:ph type="subTitle" idx="1"/>
          </p:nvPr>
        </p:nvSpPr>
        <p:spPr/>
        <p:txBody>
          <a:bodyPr/>
          <a:lstStyle/>
          <a:p>
            <a:r>
              <a:rPr lang="en-US" dirty="0"/>
              <a:t>Practical Applications</a:t>
            </a:r>
          </a:p>
        </p:txBody>
      </p:sp>
    </p:spTree>
    <p:extLst>
      <p:ext uri="{BB962C8B-B14F-4D97-AF65-F5344CB8AC3E}">
        <p14:creationId xmlns:p14="http://schemas.microsoft.com/office/powerpoint/2010/main" val="1591981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Pythagoras</a:t>
            </a:r>
            <a:r>
              <a:rPr lang="en-US"/>
              <a:t>’ Theorem</a:t>
            </a:r>
            <a:endParaRPr lang="en-US" dirty="0"/>
          </a:p>
        </p:txBody>
      </p:sp>
      <p:sp>
        <p:nvSpPr>
          <p:cNvPr id="4" name="Right Triangle 3"/>
          <p:cNvSpPr/>
          <p:nvPr/>
        </p:nvSpPr>
        <p:spPr>
          <a:xfrm>
            <a:off x="1543050" y="1657345"/>
            <a:ext cx="7200900" cy="2957513"/>
          </a:xfrm>
          <a:prstGeom prst="r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1052514" y="2291418"/>
            <a:ext cx="3995737" cy="3027640"/>
            <a:chOff x="966788" y="2762906"/>
            <a:chExt cx="3995737" cy="3027640"/>
          </a:xfrm>
        </p:grpSpPr>
        <p:sp>
          <p:nvSpPr>
            <p:cNvPr id="5" name="TextBox 4"/>
            <p:cNvSpPr txBox="1"/>
            <p:nvPr/>
          </p:nvSpPr>
          <p:spPr>
            <a:xfrm>
              <a:off x="966788" y="3286126"/>
              <a:ext cx="576262" cy="523220"/>
            </a:xfrm>
            <a:prstGeom prst="rect">
              <a:avLst/>
            </a:prstGeom>
            <a:noFill/>
          </p:spPr>
          <p:txBody>
            <a:bodyPr wrap="square" rtlCol="0">
              <a:spAutoFit/>
            </a:bodyPr>
            <a:lstStyle/>
            <a:p>
              <a:pPr algn="ctr"/>
              <a:r>
                <a:rPr lang="en-US" sz="2800" dirty="0"/>
                <a:t>a</a:t>
              </a:r>
            </a:p>
          </p:txBody>
        </p:sp>
        <p:sp>
          <p:nvSpPr>
            <p:cNvPr id="6" name="TextBox 5"/>
            <p:cNvSpPr txBox="1"/>
            <p:nvPr/>
          </p:nvSpPr>
          <p:spPr>
            <a:xfrm>
              <a:off x="3290888" y="5267326"/>
              <a:ext cx="576262" cy="523220"/>
            </a:xfrm>
            <a:prstGeom prst="rect">
              <a:avLst/>
            </a:prstGeom>
            <a:noFill/>
          </p:spPr>
          <p:txBody>
            <a:bodyPr wrap="square" rtlCol="0">
              <a:spAutoFit/>
            </a:bodyPr>
            <a:lstStyle/>
            <a:p>
              <a:pPr algn="ctr"/>
              <a:r>
                <a:rPr lang="en-US" sz="2800" dirty="0"/>
                <a:t>b</a:t>
              </a:r>
            </a:p>
          </p:txBody>
        </p:sp>
        <p:sp>
          <p:nvSpPr>
            <p:cNvPr id="7" name="TextBox 6"/>
            <p:cNvSpPr txBox="1"/>
            <p:nvPr/>
          </p:nvSpPr>
          <p:spPr>
            <a:xfrm>
              <a:off x="4386263" y="2762906"/>
              <a:ext cx="576262" cy="523220"/>
            </a:xfrm>
            <a:prstGeom prst="rect">
              <a:avLst/>
            </a:prstGeom>
            <a:noFill/>
          </p:spPr>
          <p:txBody>
            <a:bodyPr wrap="square" rtlCol="0">
              <a:spAutoFit/>
            </a:bodyPr>
            <a:lstStyle/>
            <a:p>
              <a:pPr algn="ctr"/>
              <a:r>
                <a:rPr lang="en-US" sz="2800" dirty="0"/>
                <a:t>c</a:t>
              </a:r>
            </a:p>
          </p:txBody>
        </p:sp>
      </p:grpSp>
      <p:sp>
        <p:nvSpPr>
          <p:cNvPr id="8" name="Freeform 7"/>
          <p:cNvSpPr/>
          <p:nvPr/>
        </p:nvSpPr>
        <p:spPr>
          <a:xfrm>
            <a:off x="1543050" y="4357683"/>
            <a:ext cx="242888" cy="271462"/>
          </a:xfrm>
          <a:custGeom>
            <a:avLst/>
            <a:gdLst>
              <a:gd name="connsiteX0" fmla="*/ 0 w 242888"/>
              <a:gd name="connsiteY0" fmla="*/ 0 h 271462"/>
              <a:gd name="connsiteX1" fmla="*/ 242888 w 242888"/>
              <a:gd name="connsiteY1" fmla="*/ 0 h 271462"/>
              <a:gd name="connsiteX2" fmla="*/ 242888 w 242888"/>
              <a:gd name="connsiteY2" fmla="*/ 271462 h 271462"/>
            </a:gdLst>
            <a:ahLst/>
            <a:cxnLst>
              <a:cxn ang="0">
                <a:pos x="connsiteX0" y="connsiteY0"/>
              </a:cxn>
              <a:cxn ang="0">
                <a:pos x="connsiteX1" y="connsiteY1"/>
              </a:cxn>
              <a:cxn ang="0">
                <a:pos x="connsiteX2" y="connsiteY2"/>
              </a:cxn>
            </a:cxnLst>
            <a:rect l="l" t="t" r="r" b="b"/>
            <a:pathLst>
              <a:path w="242888" h="271462">
                <a:moveTo>
                  <a:pt x="0" y="0"/>
                </a:moveTo>
                <a:lnTo>
                  <a:pt x="242888" y="0"/>
                </a:lnTo>
                <a:lnTo>
                  <a:pt x="242888" y="271462"/>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714999" y="5672138"/>
            <a:ext cx="3509963" cy="646331"/>
          </a:xfrm>
          <a:prstGeom prst="rect">
            <a:avLst/>
          </a:prstGeom>
          <a:noFill/>
          <a:ln w="38100">
            <a:solidFill>
              <a:srgbClr val="0070C0"/>
            </a:solidFill>
          </a:ln>
        </p:spPr>
        <p:txBody>
          <a:bodyPr wrap="square" rtlCol="0">
            <a:spAutoFit/>
          </a:bodyPr>
          <a:lstStyle/>
          <a:p>
            <a:pPr algn="ctr"/>
            <a:r>
              <a:rPr lang="en-US" sz="3600" b="1">
                <a:solidFill>
                  <a:srgbClr val="FF0000"/>
                </a:solidFill>
              </a:rPr>
              <a:t>a</a:t>
            </a:r>
            <a:r>
              <a:rPr lang="en-US" sz="3600" b="1" baseline="30000">
                <a:solidFill>
                  <a:srgbClr val="FF0000"/>
                </a:solidFill>
              </a:rPr>
              <a:t>2</a:t>
            </a:r>
            <a:r>
              <a:rPr lang="en-US" sz="3600" b="1">
                <a:solidFill>
                  <a:srgbClr val="FF0000"/>
                </a:solidFill>
              </a:rPr>
              <a:t> + b</a:t>
            </a:r>
            <a:r>
              <a:rPr lang="en-US" sz="3600" b="1" baseline="30000">
                <a:solidFill>
                  <a:srgbClr val="FF0000"/>
                </a:solidFill>
              </a:rPr>
              <a:t>2</a:t>
            </a:r>
            <a:r>
              <a:rPr lang="en-US" sz="3600" b="1">
                <a:solidFill>
                  <a:srgbClr val="FF0000"/>
                </a:solidFill>
              </a:rPr>
              <a:t> = c</a:t>
            </a:r>
            <a:r>
              <a:rPr lang="en-US" sz="3600" b="1" baseline="30000">
                <a:solidFill>
                  <a:srgbClr val="FF0000"/>
                </a:solidFill>
              </a:rPr>
              <a:t>2</a:t>
            </a:r>
            <a:endParaRPr lang="en-US" sz="3600" b="1">
              <a:solidFill>
                <a:srgbClr val="FF0000"/>
              </a:solidFill>
            </a:endParaRPr>
          </a:p>
        </p:txBody>
      </p:sp>
      <p:sp>
        <p:nvSpPr>
          <p:cNvPr id="11" name="TextBox 10"/>
          <p:cNvSpPr txBox="1"/>
          <p:nvPr/>
        </p:nvSpPr>
        <p:spPr>
          <a:xfrm>
            <a:off x="4760120" y="2273030"/>
            <a:ext cx="2709860" cy="523220"/>
          </a:xfrm>
          <a:prstGeom prst="rect">
            <a:avLst/>
          </a:prstGeom>
          <a:noFill/>
        </p:spPr>
        <p:txBody>
          <a:bodyPr wrap="square" rtlCol="0">
            <a:spAutoFit/>
          </a:bodyPr>
          <a:lstStyle/>
          <a:p>
            <a:pPr algn="ctr"/>
            <a:r>
              <a:rPr lang="en-US" sz="2800"/>
              <a:t>(hypotenuse)</a:t>
            </a:r>
            <a:endParaRPr lang="en-US" sz="2800" dirty="0"/>
          </a:p>
        </p:txBody>
      </p:sp>
    </p:spTree>
    <p:extLst>
      <p:ext uri="{BB962C8B-B14F-4D97-AF65-F5344CB8AC3E}">
        <p14:creationId xmlns:p14="http://schemas.microsoft.com/office/powerpoint/2010/main" val="93911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The foot of a ladder is placed 6 m from a wall. If the top of the ladder rests 8 m up on the wall, how long is the ladder?</a:t>
            </a:r>
            <a:r>
              <a:rPr lang="en-GB" sz="2800" dirty="0"/>
              <a:t> </a:t>
            </a:r>
            <a:endParaRPr lang="en-US" sz="2800" dirty="0"/>
          </a:p>
        </p:txBody>
      </p:sp>
      <p:grpSp>
        <p:nvGrpSpPr>
          <p:cNvPr id="8" name="Group 7"/>
          <p:cNvGrpSpPr/>
          <p:nvPr/>
        </p:nvGrpSpPr>
        <p:grpSpPr>
          <a:xfrm>
            <a:off x="511443" y="1562530"/>
            <a:ext cx="3208150" cy="5136351"/>
            <a:chOff x="836908" y="1578028"/>
            <a:chExt cx="3208150" cy="5136351"/>
          </a:xfrm>
        </p:grpSpPr>
        <p:pic>
          <p:nvPicPr>
            <p:cNvPr id="4" name="Picture 3"/>
            <p:cNvPicPr>
              <a:picLocks noChangeAspect="1"/>
            </p:cNvPicPr>
            <p:nvPr/>
          </p:nvPicPr>
          <p:blipFill rotWithShape="1">
            <a:blip r:embed="rId3"/>
            <a:srcRect l="27487" r="27899"/>
            <a:stretch/>
          </p:blipFill>
          <p:spPr>
            <a:xfrm>
              <a:off x="836908" y="1578028"/>
              <a:ext cx="3208150" cy="5136351"/>
            </a:xfrm>
            <a:prstGeom prst="rect">
              <a:avLst/>
            </a:prstGeom>
          </p:spPr>
        </p:pic>
        <p:sp>
          <p:nvSpPr>
            <p:cNvPr id="5" name="Rectangle 4"/>
            <p:cNvSpPr/>
            <p:nvPr/>
          </p:nvSpPr>
          <p:spPr>
            <a:xfrm>
              <a:off x="1425844" y="3518115"/>
              <a:ext cx="697424" cy="5114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363492" y="4029559"/>
              <a:ext cx="697424" cy="5114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74556" y="5738406"/>
              <a:ext cx="697424" cy="5114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06366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a:t>John leaves school to go home. He walks 1.2 km North and then 3.6 km east. How far is John’s home from the school (to the nearest m)?</a:t>
            </a:r>
          </a:p>
        </p:txBody>
      </p:sp>
      <p:grpSp>
        <p:nvGrpSpPr>
          <p:cNvPr id="16" name="Group 15"/>
          <p:cNvGrpSpPr/>
          <p:nvPr/>
        </p:nvGrpSpPr>
        <p:grpSpPr>
          <a:xfrm>
            <a:off x="681038" y="1826218"/>
            <a:ext cx="3728874" cy="2371197"/>
            <a:chOff x="681038" y="1717732"/>
            <a:chExt cx="3728874" cy="2371197"/>
          </a:xfrm>
        </p:grpSpPr>
        <p:sp>
          <p:nvSpPr>
            <p:cNvPr id="4" name="Oval 3"/>
            <p:cNvSpPr/>
            <p:nvPr/>
          </p:nvSpPr>
          <p:spPr>
            <a:xfrm>
              <a:off x="805912" y="3192653"/>
              <a:ext cx="495946" cy="480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3748006" y="1717732"/>
              <a:ext cx="495946" cy="480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81038" y="3719597"/>
              <a:ext cx="827867" cy="369332"/>
            </a:xfrm>
            <a:prstGeom prst="rect">
              <a:avLst/>
            </a:prstGeom>
            <a:noFill/>
          </p:spPr>
          <p:txBody>
            <a:bodyPr wrap="square" rtlCol="0">
              <a:spAutoFit/>
            </a:bodyPr>
            <a:lstStyle/>
            <a:p>
              <a:r>
                <a:rPr lang="en-US"/>
                <a:t>School</a:t>
              </a:r>
            </a:p>
          </p:txBody>
        </p:sp>
        <p:sp>
          <p:nvSpPr>
            <p:cNvPr id="12" name="TextBox 11"/>
            <p:cNvSpPr txBox="1"/>
            <p:nvPr/>
          </p:nvSpPr>
          <p:spPr>
            <a:xfrm>
              <a:off x="3582045" y="2335811"/>
              <a:ext cx="827867" cy="369332"/>
            </a:xfrm>
            <a:prstGeom prst="rect">
              <a:avLst/>
            </a:prstGeom>
            <a:noFill/>
          </p:spPr>
          <p:txBody>
            <a:bodyPr wrap="square" rtlCol="0">
              <a:spAutoFit/>
            </a:bodyPr>
            <a:lstStyle/>
            <a:p>
              <a:r>
                <a:rPr lang="en-US"/>
                <a:t>Home</a:t>
              </a:r>
            </a:p>
          </p:txBody>
        </p:sp>
      </p:grpSp>
      <p:grpSp>
        <p:nvGrpSpPr>
          <p:cNvPr id="19" name="Group 18"/>
          <p:cNvGrpSpPr/>
          <p:nvPr/>
        </p:nvGrpSpPr>
        <p:grpSpPr>
          <a:xfrm>
            <a:off x="225129" y="2174927"/>
            <a:ext cx="869842" cy="1234698"/>
            <a:chOff x="225129" y="2066441"/>
            <a:chExt cx="869842" cy="1234698"/>
          </a:xfrm>
        </p:grpSpPr>
        <p:cxnSp>
          <p:nvCxnSpPr>
            <p:cNvPr id="7" name="Straight Arrow Connector 6"/>
            <p:cNvCxnSpPr>
              <a:stCxn id="4" idx="0"/>
            </p:cNvCxnSpPr>
            <p:nvPr/>
          </p:nvCxnSpPr>
          <p:spPr>
            <a:xfrm flipH="1" flipV="1">
              <a:off x="1038386" y="2066441"/>
              <a:ext cx="15499" cy="1234698"/>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25129" y="2520477"/>
              <a:ext cx="869842" cy="369332"/>
            </a:xfrm>
            <a:prstGeom prst="rect">
              <a:avLst/>
            </a:prstGeom>
            <a:noFill/>
          </p:spPr>
          <p:txBody>
            <a:bodyPr wrap="square" rtlCol="0">
              <a:spAutoFit/>
            </a:bodyPr>
            <a:lstStyle/>
            <a:p>
              <a:r>
                <a:rPr lang="en-US"/>
                <a:t>1.2 km</a:t>
              </a:r>
            </a:p>
          </p:txBody>
        </p:sp>
      </p:grpSp>
      <p:grpSp>
        <p:nvGrpSpPr>
          <p:cNvPr id="20" name="Group 19"/>
          <p:cNvGrpSpPr/>
          <p:nvPr/>
        </p:nvGrpSpPr>
        <p:grpSpPr>
          <a:xfrm>
            <a:off x="1038386" y="1650613"/>
            <a:ext cx="2709620" cy="524315"/>
            <a:chOff x="1038386" y="1542127"/>
            <a:chExt cx="2709620" cy="524315"/>
          </a:xfrm>
        </p:grpSpPr>
        <p:cxnSp>
          <p:nvCxnSpPr>
            <p:cNvPr id="8" name="Straight Arrow Connector 7"/>
            <p:cNvCxnSpPr>
              <a:endCxn id="5" idx="2"/>
            </p:cNvCxnSpPr>
            <p:nvPr/>
          </p:nvCxnSpPr>
          <p:spPr>
            <a:xfrm>
              <a:off x="1038386" y="2066442"/>
              <a:ext cx="2709620"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958275" y="1542127"/>
              <a:ext cx="869842" cy="369332"/>
            </a:xfrm>
            <a:prstGeom prst="rect">
              <a:avLst/>
            </a:prstGeom>
            <a:noFill/>
          </p:spPr>
          <p:txBody>
            <a:bodyPr wrap="square" rtlCol="0">
              <a:spAutoFit/>
            </a:bodyPr>
            <a:lstStyle/>
            <a:p>
              <a:r>
                <a:rPr lang="en-US" dirty="0"/>
                <a:t>3.6 km</a:t>
              </a:r>
            </a:p>
          </p:txBody>
        </p:sp>
      </p:grpSp>
      <p:grpSp>
        <p:nvGrpSpPr>
          <p:cNvPr id="22" name="Group 21"/>
          <p:cNvGrpSpPr/>
          <p:nvPr/>
        </p:nvGrpSpPr>
        <p:grpSpPr>
          <a:xfrm>
            <a:off x="1053885" y="2112940"/>
            <a:ext cx="2942093" cy="1474920"/>
            <a:chOff x="1053885" y="2004454"/>
            <a:chExt cx="2942093" cy="1474920"/>
          </a:xfrm>
        </p:grpSpPr>
        <p:cxnSp>
          <p:nvCxnSpPr>
            <p:cNvPr id="13" name="Straight Arrow Connector 12"/>
            <p:cNvCxnSpPr/>
            <p:nvPr/>
          </p:nvCxnSpPr>
          <p:spPr>
            <a:xfrm flipV="1">
              <a:off x="1053885" y="2004454"/>
              <a:ext cx="2942093" cy="1474920"/>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393196" y="2781702"/>
              <a:ext cx="869842" cy="369332"/>
            </a:xfrm>
            <a:prstGeom prst="rect">
              <a:avLst/>
            </a:prstGeom>
            <a:noFill/>
          </p:spPr>
          <p:txBody>
            <a:bodyPr wrap="square" rtlCol="0">
              <a:spAutoFit/>
            </a:bodyPr>
            <a:lstStyle/>
            <a:p>
              <a:r>
                <a:rPr lang="en-US"/>
                <a:t>x km</a:t>
              </a:r>
            </a:p>
          </p:txBody>
        </p:sp>
      </p:grpSp>
    </p:spTree>
    <p:extLst>
      <p:ext uri="{BB962C8B-B14F-4D97-AF65-F5344CB8AC3E}">
        <p14:creationId xmlns:p14="http://schemas.microsoft.com/office/powerpoint/2010/main" val="94787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a:t>Scott wants to swim across a river that is 400 meters wide. He begins swimming perpendicular to the shore he started from but ends up 100 meters down river from where he started because of the current. How far did he actually swim from his starting point?</a:t>
            </a:r>
          </a:p>
        </p:txBody>
      </p:sp>
      <p:pic>
        <p:nvPicPr>
          <p:cNvPr id="5" name="Picture 4"/>
          <p:cNvPicPr>
            <a:picLocks noChangeAspect="1"/>
          </p:cNvPicPr>
          <p:nvPr/>
        </p:nvPicPr>
        <p:blipFill>
          <a:blip r:embed="rId3"/>
          <a:stretch>
            <a:fillRect/>
          </a:stretch>
        </p:blipFill>
        <p:spPr>
          <a:xfrm>
            <a:off x="681039" y="1842653"/>
            <a:ext cx="2906692" cy="1938934"/>
          </a:xfrm>
          <a:prstGeom prst="rect">
            <a:avLst/>
          </a:prstGeom>
        </p:spPr>
      </p:pic>
      <p:grpSp>
        <p:nvGrpSpPr>
          <p:cNvPr id="27" name="Group 26"/>
          <p:cNvGrpSpPr/>
          <p:nvPr/>
        </p:nvGrpSpPr>
        <p:grpSpPr>
          <a:xfrm>
            <a:off x="4499917" y="1742064"/>
            <a:ext cx="4083562" cy="2191920"/>
            <a:chOff x="4499917" y="1742064"/>
            <a:chExt cx="4083562" cy="2191920"/>
          </a:xfrm>
        </p:grpSpPr>
        <p:grpSp>
          <p:nvGrpSpPr>
            <p:cNvPr id="9" name="Group 8"/>
            <p:cNvGrpSpPr/>
            <p:nvPr/>
          </p:nvGrpSpPr>
          <p:grpSpPr>
            <a:xfrm>
              <a:off x="4556502" y="2324743"/>
              <a:ext cx="4026977" cy="1609241"/>
              <a:chOff x="4556502" y="2185261"/>
              <a:chExt cx="4026977" cy="1609241"/>
            </a:xfrm>
          </p:grpSpPr>
          <p:cxnSp>
            <p:nvCxnSpPr>
              <p:cNvPr id="7" name="Straight Connector 6"/>
              <p:cNvCxnSpPr/>
              <p:nvPr/>
            </p:nvCxnSpPr>
            <p:spPr>
              <a:xfrm flipV="1">
                <a:off x="4556502" y="2185261"/>
                <a:ext cx="4014061" cy="1549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4569418" y="3779004"/>
                <a:ext cx="4014061" cy="15498"/>
              </a:xfrm>
              <a:prstGeom prst="line">
                <a:avLst/>
              </a:prstGeom>
              <a:ln w="38100"/>
            </p:spPr>
            <p:style>
              <a:lnRef idx="1">
                <a:schemeClr val="accent1"/>
              </a:lnRef>
              <a:fillRef idx="0">
                <a:schemeClr val="accent1"/>
              </a:fillRef>
              <a:effectRef idx="0">
                <a:schemeClr val="accent1"/>
              </a:effectRef>
              <a:fontRef idx="minor">
                <a:schemeClr val="tx1"/>
              </a:fontRef>
            </p:style>
          </p:cxnSp>
        </p:grpSp>
        <p:cxnSp>
          <p:nvCxnSpPr>
            <p:cNvPr id="11" name="Straight Arrow Connector 10"/>
            <p:cNvCxnSpPr/>
            <p:nvPr/>
          </p:nvCxnSpPr>
          <p:spPr>
            <a:xfrm flipH="1" flipV="1">
              <a:off x="5354261" y="2324743"/>
              <a:ext cx="15498" cy="1593743"/>
            </a:xfrm>
            <a:prstGeom prst="straightConnector1">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499917" y="2766936"/>
              <a:ext cx="869842" cy="369332"/>
            </a:xfrm>
            <a:prstGeom prst="rect">
              <a:avLst/>
            </a:prstGeom>
            <a:noFill/>
          </p:spPr>
          <p:txBody>
            <a:bodyPr wrap="square" rtlCol="0">
              <a:spAutoFit/>
            </a:bodyPr>
            <a:lstStyle/>
            <a:p>
              <a:r>
                <a:rPr lang="en-US" dirty="0"/>
                <a:t>400 m</a:t>
              </a:r>
            </a:p>
          </p:txBody>
        </p:sp>
        <p:cxnSp>
          <p:nvCxnSpPr>
            <p:cNvPr id="14" name="Straight Arrow Connector 13"/>
            <p:cNvCxnSpPr/>
            <p:nvPr/>
          </p:nvCxnSpPr>
          <p:spPr>
            <a:xfrm flipV="1">
              <a:off x="5330124" y="2340241"/>
              <a:ext cx="714214" cy="1578245"/>
            </a:xfrm>
            <a:prstGeom prst="straightConnector1">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330124" y="2119145"/>
              <a:ext cx="714214" cy="206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333718" y="1742064"/>
              <a:ext cx="869842" cy="369332"/>
            </a:xfrm>
            <a:prstGeom prst="rect">
              <a:avLst/>
            </a:prstGeom>
            <a:noFill/>
          </p:spPr>
          <p:txBody>
            <a:bodyPr wrap="square" rtlCol="0">
              <a:spAutoFit/>
            </a:bodyPr>
            <a:lstStyle/>
            <a:p>
              <a:r>
                <a:rPr lang="en-US" dirty="0"/>
                <a:t>100 m</a:t>
              </a:r>
            </a:p>
          </p:txBody>
        </p:sp>
        <p:sp>
          <p:nvSpPr>
            <p:cNvPr id="26" name="Right Arrow 25"/>
            <p:cNvSpPr/>
            <p:nvPr/>
          </p:nvSpPr>
          <p:spPr>
            <a:xfrm>
              <a:off x="6495205" y="2753607"/>
              <a:ext cx="2019947" cy="7059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River current</a:t>
              </a:r>
            </a:p>
          </p:txBody>
        </p:sp>
      </p:grpSp>
    </p:spTree>
    <p:extLst>
      <p:ext uri="{BB962C8B-B14F-4D97-AF65-F5344CB8AC3E}">
        <p14:creationId xmlns:p14="http://schemas.microsoft.com/office/powerpoint/2010/main" val="138161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4 Presentatio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4 Presentation" id="{6EB52EA6-304B-CC44-AB4C-483953AB2727}" vid="{71B54E89-6D82-044A-9BF6-882F340DFA5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28</TotalTime>
  <Words>181</Words>
  <Application>Microsoft Macintosh PowerPoint</Application>
  <PresentationFormat>A4 Paper (210x297 mm)</PresentationFormat>
  <Paragraphs>23</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A4 Presentation</vt:lpstr>
      <vt:lpstr>Pythagoras Theorem</vt:lpstr>
      <vt:lpstr>Pythagoras’ Theorem</vt:lpstr>
      <vt:lpstr>The foot of a ladder is placed 6 m from a wall. If the top of the ladder rests 8 m up on the wall, how long is the ladder? </vt:lpstr>
      <vt:lpstr>John leaves school to go home. He walks 1.2 km North and then 3.6 km east. How far is John’s home from the school (to the nearest m)?</vt:lpstr>
      <vt:lpstr>Scott wants to swim across a river that is 400 meters wide. He begins swimming perpendicular to the shore he started from but ends up 100 meters down river from where he started because of the current. How far did he actually swim from his starting 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Pythagoras Theorem</dc:title>
  <dc:creator>Michael Loh</dc:creator>
  <cp:lastModifiedBy>LOH Michael [Shenton College]</cp:lastModifiedBy>
  <cp:revision>3</cp:revision>
  <dcterms:created xsi:type="dcterms:W3CDTF">2017-04-03T13:44:03Z</dcterms:created>
  <dcterms:modified xsi:type="dcterms:W3CDTF">2019-03-31T07:23:59Z</dcterms:modified>
</cp:coreProperties>
</file>
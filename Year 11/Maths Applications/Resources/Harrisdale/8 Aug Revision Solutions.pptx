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9" r:id="rId3"/>
    <p:sldId id="258" r:id="rId4"/>
    <p:sldId id="260" r:id="rId5"/>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70"/>
  </p:normalViewPr>
  <p:slideViewPr>
    <p:cSldViewPr snapToGrid="0" snapToObjects="1">
      <p:cViewPr varScale="1">
        <p:scale>
          <a:sx n="94" d="100"/>
          <a:sy n="94" d="100"/>
        </p:scale>
        <p:origin x="19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F08D555-D2EB-A045-AEDE-72C9D0B9666E}" type="datetimeFigureOut">
              <a:rPr lang="en-US" smtClean="0"/>
              <a:t>8/8/19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F08D555-D2EB-A045-AEDE-72C9D0B9666E}" type="datetimeFigureOut">
              <a:rPr lang="en-US" smtClean="0"/>
              <a:t>8/8/19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F08D555-D2EB-A045-AEDE-72C9D0B9666E}" type="datetimeFigureOut">
              <a:rPr lang="en-US" smtClean="0"/>
              <a:t>8/8/19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F08D555-D2EB-A045-AEDE-72C9D0B9666E}" type="datetimeFigureOut">
              <a:rPr lang="en-US" smtClean="0"/>
              <a:t>8/8/19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08D555-D2EB-A045-AEDE-72C9D0B9666E}" type="datetimeFigureOut">
              <a:rPr lang="en-US" smtClean="0"/>
              <a:t>8/8/19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F08D555-D2EB-A045-AEDE-72C9D0B9666E}" type="datetimeFigureOut">
              <a:rPr lang="en-US" smtClean="0"/>
              <a:t>8/8/19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F08D555-D2EB-A045-AEDE-72C9D0B9666E}" type="datetimeFigureOut">
              <a:rPr lang="en-US" smtClean="0"/>
              <a:t>8/8/19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08D555-D2EB-A045-AEDE-72C9D0B9666E}" type="datetimeFigureOut">
              <a:rPr lang="en-US" smtClean="0"/>
              <a:t>8/8/19</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7B348C-02C1-B54D-ACD1-55D3EC15EDC4}" type="slidenum">
              <a:rPr lang="en-US" smtClean="0"/>
              <a:t>‹#›</a:t>
            </a:fld>
            <a:endParaRPr lang="en-US"/>
          </a:p>
        </p:txBody>
      </p:sp>
    </p:spTree>
    <p:extLst>
      <p:ext uri="{BB962C8B-B14F-4D97-AF65-F5344CB8AC3E}">
        <p14:creationId xmlns:p14="http://schemas.microsoft.com/office/powerpoint/2010/main" val="1176204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2EC02D0-9688-3D47-84F6-574FC20C2703}"/>
              </a:ext>
            </a:extLst>
          </p:cNvPr>
          <p:cNvSpPr/>
          <p:nvPr/>
        </p:nvSpPr>
        <p:spPr>
          <a:xfrm>
            <a:off x="384716" y="0"/>
            <a:ext cx="9521284" cy="6370975"/>
          </a:xfrm>
          <a:prstGeom prst="rect">
            <a:avLst/>
          </a:prstGeom>
        </p:spPr>
        <p:txBody>
          <a:bodyPr wrap="square">
            <a:spAutoFit/>
          </a:bodyPr>
          <a:lstStyle/>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1. Peter is considering switching he current phone plan to Tower Phone Company which charges a monthly service fee of $25 and 5 cents for every call he makes.</a:t>
            </a:r>
          </a:p>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 </a:t>
            </a:r>
          </a:p>
          <a:p>
            <a:pPr marL="342900" indent="-342900">
              <a:spcAft>
                <a:spcPts val="0"/>
              </a:spcAft>
              <a:buAutoNum type="alphaLcParenR"/>
            </a:pPr>
            <a:r>
              <a:rPr lang="en-AU" sz="2400" dirty="0">
                <a:latin typeface="Calibri" panose="020F0502020204030204" pitchFamily="34" charset="0"/>
                <a:ea typeface="Calibri" panose="020F0502020204030204" pitchFamily="34" charset="0"/>
                <a:cs typeface="Times New Roman" panose="02020603050405020304" pitchFamily="18" charset="0"/>
              </a:rPr>
              <a:t>Define two variables and write an equation to represent the phone plan.</a:t>
            </a:r>
          </a:p>
          <a:p>
            <a:pPr>
              <a:spcAft>
                <a:spcPts val="0"/>
              </a:spcAft>
            </a:pPr>
            <a:r>
              <a:rPr lang="en-AU"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Let 	C = the monthly cost of Peter’s phone usage</a:t>
            </a:r>
          </a:p>
          <a:p>
            <a:pPr>
              <a:spcAft>
                <a:spcPts val="0"/>
              </a:spcAft>
            </a:pPr>
            <a:r>
              <a:rPr lang="en-AU"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n = the number of calls Peter makes in any month </a:t>
            </a:r>
          </a:p>
          <a:p>
            <a:pPr>
              <a:spcAft>
                <a:spcPts val="0"/>
              </a:spcAft>
            </a:pPr>
            <a:endParaRPr lang="en-AU"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AU"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C = 25 + 0.05n</a:t>
            </a:r>
          </a:p>
          <a:p>
            <a:pPr marL="342900" indent="-342900">
              <a:spcAft>
                <a:spcPts val="0"/>
              </a:spcAft>
              <a:buAutoNum type="alphaLcParenR"/>
            </a:pPr>
            <a:endParaRPr lang="en-AU" sz="2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b) Construct a linear graph to represent this situation.</a:t>
            </a:r>
          </a:p>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c) Peter’s current phone plan does not charge monthly service fee but he pays 25 cents for every call he makes. Write an equation to represent his current phone plan using the variables you have defined.</a:t>
            </a:r>
          </a:p>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	</a:t>
            </a:r>
            <a:r>
              <a:rPr lang="en-AU"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C = 0.25n</a:t>
            </a:r>
            <a:endParaRPr lang="en-AU" sz="2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endParaRPr lang="en-AU" sz="2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d) Construct the linear graph for this plan on the same set of axes.</a:t>
            </a:r>
          </a:p>
        </p:txBody>
      </p:sp>
    </p:spTree>
    <p:extLst>
      <p:ext uri="{BB962C8B-B14F-4D97-AF65-F5344CB8AC3E}">
        <p14:creationId xmlns:p14="http://schemas.microsoft.com/office/powerpoint/2010/main" val="1953282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C50C017-77C1-A348-B6DF-83FA0412F8EC}"/>
              </a:ext>
            </a:extLst>
          </p:cNvPr>
          <p:cNvGrpSpPr/>
          <p:nvPr/>
        </p:nvGrpSpPr>
        <p:grpSpPr>
          <a:xfrm>
            <a:off x="2162638" y="650954"/>
            <a:ext cx="5096107" cy="5096107"/>
            <a:chOff x="-4667943" y="3279547"/>
            <a:chExt cx="5096107" cy="5096107"/>
          </a:xfrm>
        </p:grpSpPr>
        <p:pic>
          <p:nvPicPr>
            <p:cNvPr id="3" name="Picture 2">
              <a:extLst>
                <a:ext uri="{FF2B5EF4-FFF2-40B4-BE49-F238E27FC236}">
                  <a16:creationId xmlns:a16="http://schemas.microsoft.com/office/drawing/2014/main" id="{0C2C5171-EA23-EC48-9A24-CD697B666102}"/>
                </a:ext>
              </a:extLst>
            </p:cNvPr>
            <p:cNvPicPr>
              <a:picLocks noChangeAspect="1"/>
            </p:cNvPicPr>
            <p:nvPr/>
          </p:nvPicPr>
          <p:blipFill>
            <a:blip r:embed="rId2"/>
            <a:stretch>
              <a:fillRect/>
            </a:stretch>
          </p:blipFill>
          <p:spPr>
            <a:xfrm>
              <a:off x="-4667943" y="3279547"/>
              <a:ext cx="5096107" cy="5096107"/>
            </a:xfrm>
            <a:prstGeom prst="rect">
              <a:avLst/>
            </a:prstGeom>
          </p:spPr>
        </p:pic>
        <p:sp>
          <p:nvSpPr>
            <p:cNvPr id="16" name="TextBox 15">
              <a:extLst>
                <a:ext uri="{FF2B5EF4-FFF2-40B4-BE49-F238E27FC236}">
                  <a16:creationId xmlns:a16="http://schemas.microsoft.com/office/drawing/2014/main" id="{82F50BB9-49CC-E64B-AC6C-9D1A84FC1397}"/>
                </a:ext>
              </a:extLst>
            </p:cNvPr>
            <p:cNvSpPr txBox="1"/>
            <p:nvPr/>
          </p:nvSpPr>
          <p:spPr>
            <a:xfrm>
              <a:off x="-2654334" y="4616360"/>
              <a:ext cx="2141317" cy="461665"/>
            </a:xfrm>
            <a:prstGeom prst="rect">
              <a:avLst/>
            </a:prstGeom>
            <a:noFill/>
          </p:spPr>
          <p:txBody>
            <a:bodyPr wrap="square" rtlCol="0">
              <a:spAutoFit/>
            </a:bodyPr>
            <a:lstStyle/>
            <a:p>
              <a:r>
                <a:rPr lang="en-US" sz="2400" dirty="0"/>
                <a:t>C = 0.25n</a:t>
              </a:r>
            </a:p>
          </p:txBody>
        </p:sp>
      </p:grpSp>
      <p:grpSp>
        <p:nvGrpSpPr>
          <p:cNvPr id="6" name="Group 5">
            <a:extLst>
              <a:ext uri="{FF2B5EF4-FFF2-40B4-BE49-F238E27FC236}">
                <a16:creationId xmlns:a16="http://schemas.microsoft.com/office/drawing/2014/main" id="{9B3B4DB8-B83E-A64D-85FE-4E01242B203D}"/>
              </a:ext>
            </a:extLst>
          </p:cNvPr>
          <p:cNvGrpSpPr/>
          <p:nvPr/>
        </p:nvGrpSpPr>
        <p:grpSpPr>
          <a:xfrm>
            <a:off x="1338147" y="385161"/>
            <a:ext cx="6880921" cy="5790641"/>
            <a:chOff x="1338147" y="385161"/>
            <a:chExt cx="6880921" cy="5790641"/>
          </a:xfrm>
        </p:grpSpPr>
        <p:sp>
          <p:nvSpPr>
            <p:cNvPr id="10" name="Freeform 9">
              <a:extLst>
                <a:ext uri="{FF2B5EF4-FFF2-40B4-BE49-F238E27FC236}">
                  <a16:creationId xmlns:a16="http://schemas.microsoft.com/office/drawing/2014/main" id="{FECCEAEE-0068-9244-BD18-5DD970DE2165}"/>
                </a:ext>
              </a:extLst>
            </p:cNvPr>
            <p:cNvSpPr/>
            <p:nvPr/>
          </p:nvSpPr>
          <p:spPr>
            <a:xfrm>
              <a:off x="2152185" y="646771"/>
              <a:ext cx="5006898" cy="5096107"/>
            </a:xfrm>
            <a:custGeom>
              <a:avLst/>
              <a:gdLst>
                <a:gd name="connsiteX0" fmla="*/ 0 w 5006898"/>
                <a:gd name="connsiteY0" fmla="*/ 0 h 5096107"/>
                <a:gd name="connsiteX1" fmla="*/ 0 w 5006898"/>
                <a:gd name="connsiteY1" fmla="*/ 5096107 h 5096107"/>
                <a:gd name="connsiteX2" fmla="*/ 5006898 w 5006898"/>
                <a:gd name="connsiteY2" fmla="*/ 5096107 h 5096107"/>
              </a:gdLst>
              <a:ahLst/>
              <a:cxnLst>
                <a:cxn ang="0">
                  <a:pos x="connsiteX0" y="connsiteY0"/>
                </a:cxn>
                <a:cxn ang="0">
                  <a:pos x="connsiteX1" y="connsiteY1"/>
                </a:cxn>
                <a:cxn ang="0">
                  <a:pos x="connsiteX2" y="connsiteY2"/>
                </a:cxn>
              </a:cxnLst>
              <a:rect l="l" t="t" r="r" b="b"/>
              <a:pathLst>
                <a:path w="5006898" h="5096107">
                  <a:moveTo>
                    <a:pt x="0" y="0"/>
                  </a:moveTo>
                  <a:lnTo>
                    <a:pt x="0" y="5096107"/>
                  </a:lnTo>
                  <a:lnTo>
                    <a:pt x="5006898" y="5096107"/>
                  </a:lnTo>
                </a:path>
              </a:pathLst>
            </a:custGeom>
            <a:noFill/>
            <a:ln w="38100">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493B924-0441-894D-AFB3-E391578E9EFD}"/>
                </a:ext>
              </a:extLst>
            </p:cNvPr>
            <p:cNvSpPr txBox="1"/>
            <p:nvPr/>
          </p:nvSpPr>
          <p:spPr>
            <a:xfrm>
              <a:off x="1338147" y="385161"/>
              <a:ext cx="930507" cy="523220"/>
            </a:xfrm>
            <a:prstGeom prst="rect">
              <a:avLst/>
            </a:prstGeom>
            <a:noFill/>
          </p:spPr>
          <p:txBody>
            <a:bodyPr wrap="square" rtlCol="0">
              <a:spAutoFit/>
            </a:bodyPr>
            <a:lstStyle/>
            <a:p>
              <a:r>
                <a:rPr lang="en-US" sz="2800" dirty="0"/>
                <a:t>C ($)</a:t>
              </a:r>
            </a:p>
          </p:txBody>
        </p:sp>
        <p:sp>
          <p:nvSpPr>
            <p:cNvPr id="14" name="TextBox 13">
              <a:extLst>
                <a:ext uri="{FF2B5EF4-FFF2-40B4-BE49-F238E27FC236}">
                  <a16:creationId xmlns:a16="http://schemas.microsoft.com/office/drawing/2014/main" id="{E675F9A4-F533-1641-B9E0-040B02D60E0C}"/>
                </a:ext>
              </a:extLst>
            </p:cNvPr>
            <p:cNvSpPr txBox="1"/>
            <p:nvPr/>
          </p:nvSpPr>
          <p:spPr>
            <a:xfrm>
              <a:off x="4931869" y="3324580"/>
              <a:ext cx="2141317" cy="461665"/>
            </a:xfrm>
            <a:prstGeom prst="rect">
              <a:avLst/>
            </a:prstGeom>
            <a:noFill/>
          </p:spPr>
          <p:txBody>
            <a:bodyPr wrap="square" rtlCol="0">
              <a:spAutoFit/>
            </a:bodyPr>
            <a:lstStyle/>
            <a:p>
              <a:r>
                <a:rPr lang="en-US" sz="2400" dirty="0"/>
                <a:t>C = 25 + 0.05n</a:t>
              </a:r>
            </a:p>
          </p:txBody>
        </p:sp>
        <p:sp>
          <p:nvSpPr>
            <p:cNvPr id="12" name="TextBox 11">
              <a:extLst>
                <a:ext uri="{FF2B5EF4-FFF2-40B4-BE49-F238E27FC236}">
                  <a16:creationId xmlns:a16="http://schemas.microsoft.com/office/drawing/2014/main" id="{777DF3BB-52C6-B145-89EC-C94633903BD0}"/>
                </a:ext>
              </a:extLst>
            </p:cNvPr>
            <p:cNvSpPr txBox="1"/>
            <p:nvPr/>
          </p:nvSpPr>
          <p:spPr>
            <a:xfrm>
              <a:off x="7288561" y="5652582"/>
              <a:ext cx="930507" cy="523220"/>
            </a:xfrm>
            <a:prstGeom prst="rect">
              <a:avLst/>
            </a:prstGeom>
            <a:noFill/>
          </p:spPr>
          <p:txBody>
            <a:bodyPr wrap="square" rtlCol="0">
              <a:spAutoFit/>
            </a:bodyPr>
            <a:lstStyle/>
            <a:p>
              <a:r>
                <a:rPr lang="en-US" sz="2800" dirty="0"/>
                <a:t>n</a:t>
              </a:r>
            </a:p>
          </p:txBody>
        </p:sp>
      </p:grpSp>
    </p:spTree>
    <p:extLst>
      <p:ext uri="{BB962C8B-B14F-4D97-AF65-F5344CB8AC3E}">
        <p14:creationId xmlns:p14="http://schemas.microsoft.com/office/powerpoint/2010/main" val="3637257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086A2D-F6EF-D846-BDF6-2A0EBA36335F}"/>
              </a:ext>
            </a:extLst>
          </p:cNvPr>
          <p:cNvSpPr/>
          <p:nvPr/>
        </p:nvSpPr>
        <p:spPr>
          <a:xfrm>
            <a:off x="474079" y="327912"/>
            <a:ext cx="8855116" cy="5016758"/>
          </a:xfrm>
          <a:prstGeom prst="rect">
            <a:avLst/>
          </a:prstGeom>
        </p:spPr>
        <p:txBody>
          <a:bodyPr wrap="square">
            <a:spAutoFit/>
          </a:bodyPr>
          <a:lstStyle/>
          <a:p>
            <a:pPr>
              <a:spcAft>
                <a:spcPts val="0"/>
              </a:spcAft>
            </a:pPr>
            <a:r>
              <a:rPr lang="en-AU" sz="3200" dirty="0">
                <a:latin typeface="Calibri" panose="020F0502020204030204" pitchFamily="34" charset="0"/>
                <a:ea typeface="Calibri" panose="020F0502020204030204" pitchFamily="34" charset="0"/>
                <a:cs typeface="Times New Roman" panose="02020603050405020304" pitchFamily="18" charset="0"/>
              </a:rPr>
              <a:t>e) Using the graph you have constructed, explain if it is good idea for Peter to switch his phone plan.</a:t>
            </a:r>
          </a:p>
          <a:p>
            <a:pPr>
              <a:spcAft>
                <a:spcPts val="0"/>
              </a:spcAft>
            </a:pPr>
            <a:endParaRPr lang="en-AU" sz="3200" dirty="0">
              <a:latin typeface="Calibri" panose="020F0502020204030204" pitchFamily="34" charset="0"/>
              <a:ea typeface="Calibri" panose="020F0502020204030204" pitchFamily="34" charset="0"/>
              <a:cs typeface="Times New Roman" panose="02020603050405020304" pitchFamily="18" charset="0"/>
            </a:endParaRPr>
          </a:p>
          <a:p>
            <a:pPr marL="457200" indent="-457200">
              <a:spcAft>
                <a:spcPts val="0"/>
              </a:spcAft>
              <a:buFont typeface="Arial" panose="020B0604020202020204" pitchFamily="34" charset="0"/>
              <a:buChar char="•"/>
            </a:pPr>
            <a:r>
              <a:rPr lang="en-AU" sz="3200" dirty="0">
                <a:solidFill>
                  <a:srgbClr val="FF0000"/>
                </a:solidFill>
                <a:latin typeface="Calibri" panose="020F0502020204030204" pitchFamily="34" charset="0"/>
                <a:ea typeface="Calibri" panose="020F0502020204030204" pitchFamily="34" charset="0"/>
                <a:cs typeface="Times New Roman" panose="02020603050405020304" pitchFamily="18" charset="0"/>
              </a:rPr>
              <a:t>If Peter makes less than 125 calls a month, stay with the current plan because it is cheaper</a:t>
            </a:r>
          </a:p>
          <a:p>
            <a:pPr marL="457200" indent="-457200">
              <a:spcAft>
                <a:spcPts val="0"/>
              </a:spcAft>
              <a:buFont typeface="Arial" panose="020B0604020202020204" pitchFamily="34" charset="0"/>
              <a:buChar char="•"/>
            </a:pPr>
            <a:r>
              <a:rPr lang="en-AU" sz="3200" dirty="0">
                <a:solidFill>
                  <a:srgbClr val="FF0000"/>
                </a:solidFill>
                <a:latin typeface="Calibri" panose="020F0502020204030204" pitchFamily="34" charset="0"/>
                <a:ea typeface="Calibri" panose="020F0502020204030204" pitchFamily="34" charset="0"/>
                <a:cs typeface="Times New Roman" panose="02020603050405020304" pitchFamily="18" charset="0"/>
              </a:rPr>
              <a:t>If he makes exactly 125 calls a month, the cost is the same for both plan ($31.25)</a:t>
            </a:r>
          </a:p>
          <a:p>
            <a:pPr marL="457200" indent="-457200">
              <a:spcAft>
                <a:spcPts val="0"/>
              </a:spcAft>
              <a:buFont typeface="Arial" panose="020B0604020202020204" pitchFamily="34" charset="0"/>
              <a:buChar char="•"/>
            </a:pPr>
            <a:r>
              <a:rPr lang="en-AU" sz="3200" dirty="0">
                <a:solidFill>
                  <a:srgbClr val="FF0000"/>
                </a:solidFill>
                <a:latin typeface="Calibri" panose="020F0502020204030204" pitchFamily="34" charset="0"/>
                <a:ea typeface="Calibri" panose="020F0502020204030204" pitchFamily="34" charset="0"/>
                <a:cs typeface="Times New Roman" panose="02020603050405020304" pitchFamily="18" charset="0"/>
              </a:rPr>
              <a:t>If he makes more than 125 calls a month, then switch his plan to Tower Phone Company because it will be cheaper</a:t>
            </a:r>
          </a:p>
        </p:txBody>
      </p:sp>
    </p:spTree>
    <p:extLst>
      <p:ext uri="{BB962C8B-B14F-4D97-AF65-F5344CB8AC3E}">
        <p14:creationId xmlns:p14="http://schemas.microsoft.com/office/powerpoint/2010/main" val="223289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B04B54-2AF2-1645-AB9A-C4A63758D2D8}"/>
              </a:ext>
            </a:extLst>
          </p:cNvPr>
          <p:cNvSpPr/>
          <p:nvPr/>
        </p:nvSpPr>
        <p:spPr>
          <a:xfrm>
            <a:off x="370389" y="92903"/>
            <a:ext cx="8819909" cy="6740307"/>
          </a:xfrm>
          <a:prstGeom prst="rect">
            <a:avLst/>
          </a:prstGeom>
        </p:spPr>
        <p:txBody>
          <a:bodyPr wrap="square">
            <a:spAutoFit/>
          </a:bodyPr>
          <a:lstStyle/>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2. Two families went to the theatre. The first family bought three adults tickets and five children tickets for $73.50 while the second family bought two adults tickets and three children tickets and paid $46.50.</a:t>
            </a:r>
          </a:p>
          <a:p>
            <a:pPr>
              <a:spcAft>
                <a:spcPts val="0"/>
              </a:spcAft>
            </a:pPr>
            <a:r>
              <a:rPr lang="en-AU" sz="2400" dirty="0">
                <a:latin typeface="Calibri" panose="020F0502020204030204" pitchFamily="34" charset="0"/>
                <a:ea typeface="Calibri" panose="020F0502020204030204" pitchFamily="34" charset="0"/>
                <a:cs typeface="Times New Roman" panose="02020603050405020304" pitchFamily="18" charset="0"/>
              </a:rPr>
              <a:t> </a:t>
            </a:r>
          </a:p>
          <a:p>
            <a:pPr marL="457200" indent="-457200">
              <a:spcAft>
                <a:spcPts val="0"/>
              </a:spcAft>
              <a:buAutoNum type="alphaLcParenR"/>
            </a:pPr>
            <a:r>
              <a:rPr lang="en-AU" sz="2400" dirty="0">
                <a:latin typeface="Calibri" panose="020F0502020204030204" pitchFamily="34" charset="0"/>
                <a:ea typeface="Calibri" panose="020F0502020204030204" pitchFamily="34" charset="0"/>
                <a:cs typeface="Times New Roman" panose="02020603050405020304" pitchFamily="18" charset="0"/>
              </a:rPr>
              <a:t>Construct two simultaneous equations which can be used to determine the cost of each type of tickets.</a:t>
            </a:r>
          </a:p>
          <a:p>
            <a:pPr>
              <a:spcAft>
                <a:spcPts val="0"/>
              </a:spcAft>
            </a:pPr>
            <a:r>
              <a:rPr lang="en-AU"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Let	A = the cost of an adults ticket</a:t>
            </a:r>
          </a:p>
          <a:p>
            <a:pPr>
              <a:spcAft>
                <a:spcPts val="0"/>
              </a:spcAft>
            </a:pPr>
            <a:r>
              <a:rPr lang="en-AU"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C = the cost of a children ticket </a:t>
            </a:r>
          </a:p>
          <a:p>
            <a:pPr>
              <a:spcAft>
                <a:spcPts val="0"/>
              </a:spcAft>
            </a:pPr>
            <a:endParaRPr lang="en-AU" sz="2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AU"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3A + 5C = 73.50</a:t>
            </a:r>
          </a:p>
          <a:p>
            <a:pPr>
              <a:spcAft>
                <a:spcPts val="0"/>
              </a:spcAft>
            </a:pPr>
            <a:r>
              <a:rPr lang="en-AU"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2A + 3C = 46.50</a:t>
            </a:r>
          </a:p>
          <a:p>
            <a:pPr marL="457200" indent="-457200">
              <a:spcAft>
                <a:spcPts val="0"/>
              </a:spcAft>
              <a:buAutoNum type="alphaLcParenR"/>
            </a:pPr>
            <a:endParaRPr lang="en-AU" sz="2400" dirty="0">
              <a:latin typeface="Calibri" panose="020F0502020204030204" pitchFamily="34" charset="0"/>
              <a:ea typeface="Calibri" panose="020F0502020204030204" pitchFamily="34" charset="0"/>
              <a:cs typeface="Times New Roman" panose="02020603050405020304" pitchFamily="18" charset="0"/>
            </a:endParaRPr>
          </a:p>
          <a:p>
            <a:r>
              <a:rPr lang="en-AU" sz="2400" dirty="0">
                <a:latin typeface="Calibri" panose="020F0502020204030204" pitchFamily="34" charset="0"/>
                <a:ea typeface="Calibri" panose="020F0502020204030204" pitchFamily="34" charset="0"/>
                <a:cs typeface="Times New Roman" panose="02020603050405020304" pitchFamily="18" charset="0"/>
              </a:rPr>
              <a:t>b) Hence, determine the cost of an adults ticket and the cost of a children ticket.</a:t>
            </a:r>
            <a:r>
              <a:rPr lang="en-AU" sz="2400" dirty="0"/>
              <a:t> </a:t>
            </a:r>
          </a:p>
          <a:p>
            <a:endParaRPr lang="en-AU" sz="2400" dirty="0"/>
          </a:p>
          <a:p>
            <a:r>
              <a:rPr lang="en-AU" sz="2400" dirty="0">
                <a:solidFill>
                  <a:srgbClr val="FF0000"/>
                </a:solidFill>
              </a:rPr>
              <a:t>The cost of an adults ticket is $12.00 and the cost of a children ticket is $7.50</a:t>
            </a:r>
            <a:endParaRPr lang="en-US" sz="2400" dirty="0">
              <a:solidFill>
                <a:srgbClr val="FF0000"/>
              </a:solidFill>
            </a:endParaRPr>
          </a:p>
        </p:txBody>
      </p:sp>
    </p:spTree>
    <p:extLst>
      <p:ext uri="{BB962C8B-B14F-4D97-AF65-F5344CB8AC3E}">
        <p14:creationId xmlns:p14="http://schemas.microsoft.com/office/powerpoint/2010/main" val="3909325475"/>
      </p:ext>
    </p:extLst>
  </p:cSld>
  <p:clrMapOvr>
    <a:masterClrMapping/>
  </p:clrMapOvr>
</p:sld>
</file>

<file path=ppt/theme/theme1.xml><?xml version="1.0" encoding="utf-8"?>
<a:theme xmlns:a="http://schemas.openxmlformats.org/drawingml/2006/main" name="A4">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4" id="{5D1E2C3C-E28F-A04D-A3BF-B9774A855780}" vid="{4F857BDB-CED6-704E-A61F-568D547E0E27}"/>
    </a:ext>
  </a:extLst>
</a:theme>
</file>

<file path=docProps/app.xml><?xml version="1.0" encoding="utf-8"?>
<Properties xmlns="http://schemas.openxmlformats.org/officeDocument/2006/extended-properties" xmlns:vt="http://schemas.openxmlformats.org/officeDocument/2006/docPropsVTypes">
  <Template>A4</Template>
  <TotalTime>205</TotalTime>
  <Words>168</Words>
  <Application>Microsoft Macintosh PowerPoint</Application>
  <PresentationFormat>A4 Paper (210x297 mm)</PresentationFormat>
  <Paragraphs>34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A4</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LOH Michael [Shenton College]</dc:creator>
  <cp:lastModifiedBy>LOH Michael [Shenton College]</cp:lastModifiedBy>
  <cp:revision>9</cp:revision>
  <cp:lastPrinted>2019-08-08T04:20:17Z</cp:lastPrinted>
  <dcterms:created xsi:type="dcterms:W3CDTF">2019-08-08T00:52:05Z</dcterms:created>
  <dcterms:modified xsi:type="dcterms:W3CDTF">2019-08-08T06:40:19Z</dcterms:modified>
</cp:coreProperties>
</file>
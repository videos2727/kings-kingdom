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61" r:id="rId4"/>
    <p:sldId id="262" r:id="rId5"/>
    <p:sldId id="258" r:id="rId6"/>
    <p:sldId id="263" r:id="rId7"/>
    <p:sldId id="259" r:id="rId8"/>
    <p:sldId id="260" r:id="rId9"/>
    <p:sldId id="264" r:id="rId10"/>
    <p:sldId id="265" r:id="rId11"/>
    <p:sldId id="266" r:id="rId12"/>
    <p:sldId id="267" r:id="rId13"/>
    <p:sldId id="268" r:id="rId14"/>
    <p:sldId id="269" r:id="rId15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3"/>
    <p:restoredTop sz="94611"/>
  </p:normalViewPr>
  <p:slideViewPr>
    <p:cSldViewPr snapToGrid="0" snapToObjects="1">
      <p:cViewPr varScale="1">
        <p:scale>
          <a:sx n="91" d="100"/>
          <a:sy n="91" d="100"/>
        </p:scale>
        <p:origin x="1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3A7DD-4979-C543-A177-AAE251823550}" type="datetimeFigureOut">
              <a:rPr lang="en-US" smtClean="0"/>
              <a:t>2/17/19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7A09E4-5372-DB4E-AAEB-4B2D63BF9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5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http://t-a-</a:t>
            </a:r>
            <a:r>
              <a:rPr lang="en-US" dirty="0" err="1"/>
              <a:t>x.net</a:t>
            </a:r>
            <a:r>
              <a:rPr lang="en-US" dirty="0"/>
              <a:t>/tag/income-tax/page/2/</a:t>
            </a:r>
          </a:p>
          <a:p>
            <a:r>
              <a:rPr lang="en-US" dirty="0"/>
              <a:t>http://1globaltax.com/</a:t>
            </a:r>
            <a:r>
              <a:rPr lang="en-US" dirty="0" err="1"/>
              <a:t>taxpreparation.php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A09E4-5372-DB4E-AAEB-4B2D63BF947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869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www.ato.gov.au</a:t>
            </a:r>
            <a:r>
              <a:rPr lang="en-US" dirty="0"/>
              <a:t>/rates/individual-income-tax-rates/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A09E4-5372-DB4E-AAEB-4B2D63BF947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04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2/17/19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2/17/19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2/17/19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2/17/19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tif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Earning Money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62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ud 3"/>
          <p:cNvSpPr/>
          <p:nvPr/>
        </p:nvSpPr>
        <p:spPr>
          <a:xfrm>
            <a:off x="1957388" y="1400175"/>
            <a:ext cx="6057899" cy="367188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C000"/>
                </a:solidFill>
              </a:rPr>
              <a:t>How can we earn money?</a:t>
            </a:r>
          </a:p>
        </p:txBody>
      </p:sp>
    </p:spTree>
    <p:extLst>
      <p:ext uri="{BB962C8B-B14F-4D97-AF65-F5344CB8AC3E}">
        <p14:creationId xmlns:p14="http://schemas.microsoft.com/office/powerpoint/2010/main" val="1000256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Fixed amount paid per annum.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3" t="2944" r="22743" b="57121"/>
          <a:stretch/>
        </p:blipFill>
        <p:spPr>
          <a:xfrm>
            <a:off x="284205" y="2431531"/>
            <a:ext cx="9493769" cy="3474999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141308" y="3459891"/>
            <a:ext cx="1927654" cy="741405"/>
          </a:xfrm>
          <a:prstGeom prst="ellipse">
            <a:avLst/>
          </a:prstGeom>
          <a:solidFill>
            <a:srgbClr val="FF0000">
              <a:alpha val="25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50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Salary - $66,500 p.a.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1038" y="1825625"/>
                <a:ext cx="9130227" cy="4351338"/>
              </a:xfrm>
            </p:spPr>
            <p:txBody>
              <a:bodyPr/>
              <a:lstStyle/>
              <a:p>
                <a:r>
                  <a:rPr lang="en-US" dirty="0"/>
                  <a:t>Paid monthly 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charset="0"/>
                      </a:rPr>
                      <m:t>$65,000 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÷12=$5,541.67</m:t>
                    </m:r>
                  </m:oMath>
                </a14:m>
                <a:r>
                  <a:rPr lang="en-US" dirty="0"/>
                  <a:t> per month</a:t>
                </a:r>
              </a:p>
              <a:p>
                <a:endParaRPr lang="en-US" dirty="0"/>
              </a:p>
              <a:p>
                <a:r>
                  <a:rPr lang="en-US" dirty="0"/>
                  <a:t>Paid fortnightly 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charset="0"/>
                      </a:rPr>
                      <m:t>$65,000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÷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26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=$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2,557.69</m:t>
                    </m:r>
                  </m:oMath>
                </a14:m>
                <a:r>
                  <a:rPr lang="en-US" dirty="0"/>
                  <a:t> per fortnight</a:t>
                </a:r>
              </a:p>
              <a:p>
                <a:endParaRPr lang="en-US" dirty="0"/>
              </a:p>
              <a:p>
                <a:r>
                  <a:rPr lang="en-US"/>
                  <a:t>Paid weekly 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charset="0"/>
                      </a:rPr>
                      <m:t>$65,000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÷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52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1,278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85</m:t>
                    </m:r>
                  </m:oMath>
                </a14:m>
                <a:r>
                  <a:rPr lang="en-US" dirty="0"/>
                  <a:t> per week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1038" y="1825625"/>
                <a:ext cx="9130227" cy="4351338"/>
              </a:xfrm>
              <a:blipFill rotWithShape="0">
                <a:blip r:embed="rId2"/>
                <a:stretch>
                  <a:fillRect l="-1202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357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524" y="513409"/>
            <a:ext cx="8543925" cy="917042"/>
          </a:xfrm>
        </p:spPr>
        <p:txBody>
          <a:bodyPr/>
          <a:lstStyle/>
          <a:p>
            <a:r>
              <a:rPr lang="en-US" dirty="0"/>
              <a:t>Wages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553524" y="1591090"/>
            <a:ext cx="9130227" cy="435133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Paid by a particular quantity of work</a:t>
            </a:r>
            <a:r>
              <a:rPr lang="mr-IN" dirty="0"/>
              <a:t>–</a:t>
            </a:r>
            <a:r>
              <a:rPr lang="en-US" dirty="0"/>
              <a:t> could be hourly rate, piecework or commission, not a set annual salary.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Hourly rate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Particular quantity </a:t>
            </a:r>
            <a:r>
              <a:rPr lang="mr-IN" dirty="0"/>
              <a:t>–</a:t>
            </a:r>
            <a:r>
              <a:rPr lang="en-US" dirty="0"/>
              <a:t> hour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e.g. $24 per hour,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Higher rate if over normal hour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working over 8 hours per day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working on Saturday </a:t>
            </a:r>
            <a:r>
              <a:rPr lang="en-US"/>
              <a:t>and Sunday </a:t>
            </a:r>
            <a:endParaRPr lang="en-US" dirty="0"/>
          </a:p>
          <a:p>
            <a:pPr lvl="2">
              <a:lnSpc>
                <a:spcPct val="10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087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432488" y="1643448"/>
            <a:ext cx="9008074" cy="3669957"/>
            <a:chOff x="988540" y="2374555"/>
            <a:chExt cx="8079559" cy="2926160"/>
          </a:xfrm>
        </p:grpSpPr>
        <p:sp>
          <p:nvSpPr>
            <p:cNvPr id="5" name="Rectangle 4"/>
            <p:cNvSpPr/>
            <p:nvPr/>
          </p:nvSpPr>
          <p:spPr>
            <a:xfrm>
              <a:off x="988540" y="2374555"/>
              <a:ext cx="864973" cy="8526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C000"/>
                  </a:solidFill>
                </a:rPr>
                <a:t>Mon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048867" y="2374555"/>
              <a:ext cx="864973" cy="8526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C000"/>
                  </a:solidFill>
                </a:rPr>
                <a:t>Tue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109194" y="2374555"/>
              <a:ext cx="864973" cy="8526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C000"/>
                  </a:solidFill>
                </a:rPr>
                <a:t>Wed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169521" y="2374555"/>
              <a:ext cx="864973" cy="8526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C000"/>
                  </a:solidFill>
                </a:rPr>
                <a:t>Thu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29848" y="2374555"/>
              <a:ext cx="864973" cy="8526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C000"/>
                  </a:solidFill>
                </a:rPr>
                <a:t>Fri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821519" y="2374555"/>
              <a:ext cx="864973" cy="852616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Sat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203126" y="2374555"/>
              <a:ext cx="864973" cy="85261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Sun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88540" y="3546389"/>
              <a:ext cx="5106281" cy="1200329"/>
            </a:xfrm>
            <a:prstGeom prst="rect">
              <a:avLst/>
            </a:prstGeom>
            <a:noFill/>
            <a:ln w="38100"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Weekdays:</a:t>
              </a:r>
            </a:p>
            <a:p>
              <a:endParaRPr lang="en-US" dirty="0"/>
            </a:p>
            <a:p>
              <a:pPr marL="285750" indent="-285750">
                <a:buFont typeface="Arial" charset="0"/>
                <a:buChar char="•"/>
              </a:pPr>
              <a:r>
                <a:rPr lang="en-US" dirty="0"/>
                <a:t>Normal hourly rate for the first 8 hours</a:t>
              </a:r>
            </a:p>
            <a:p>
              <a:pPr marL="285750" indent="-285750">
                <a:buFont typeface="Arial" charset="0"/>
                <a:buChar char="•"/>
              </a:pPr>
              <a:r>
                <a:rPr lang="en-US" dirty="0"/>
                <a:t>Additional time </a:t>
              </a:r>
              <a:r>
                <a:rPr lang="mr-IN" dirty="0"/>
                <a:t>–</a:t>
              </a:r>
              <a:r>
                <a:rPr lang="en-US" dirty="0"/>
                <a:t> overtime, 1.5 hourly rate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813140" y="3546389"/>
              <a:ext cx="2254959" cy="1754326"/>
            </a:xfrm>
            <a:prstGeom prst="rect">
              <a:avLst/>
            </a:prstGeom>
            <a:noFill/>
            <a:ln w="38100"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Weekend:</a:t>
              </a:r>
            </a:p>
            <a:p>
              <a:endParaRPr lang="en-US" dirty="0"/>
            </a:p>
            <a:p>
              <a:pPr marL="285750" indent="-285750">
                <a:buFont typeface="Arial" charset="0"/>
                <a:buChar char="•"/>
              </a:pPr>
              <a:r>
                <a:rPr lang="en-US" dirty="0"/>
                <a:t>Saturday </a:t>
              </a:r>
              <a:r>
                <a:rPr lang="mr-IN" dirty="0"/>
                <a:t>–</a:t>
              </a:r>
              <a:r>
                <a:rPr lang="en-US" dirty="0"/>
                <a:t> 1.5 hourly rate</a:t>
              </a:r>
            </a:p>
            <a:p>
              <a:pPr marL="285750" indent="-285750">
                <a:buFont typeface="Arial" charset="0"/>
                <a:buChar char="•"/>
              </a:pPr>
              <a:r>
                <a:rPr lang="en-US" dirty="0"/>
                <a:t>Sunday </a:t>
              </a:r>
              <a:r>
                <a:rPr lang="mr-IN" dirty="0"/>
                <a:t>–</a:t>
              </a:r>
              <a:r>
                <a:rPr lang="en-US" dirty="0"/>
                <a:t> 2.0 hourly rate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9213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184" y="1396837"/>
            <a:ext cx="7954656" cy="40648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184" y="1396837"/>
            <a:ext cx="7954657" cy="406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535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Wages - piecework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Quantity</a:t>
            </a:r>
          </a:p>
          <a:p>
            <a:pPr lvl="1"/>
            <a:r>
              <a:rPr lang="en-US" dirty="0"/>
              <a:t>Not hourly</a:t>
            </a:r>
          </a:p>
          <a:p>
            <a:pPr lvl="1"/>
            <a:r>
              <a:rPr lang="en-US" dirty="0"/>
              <a:t>Could be a piece of work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Picking fruits </a:t>
            </a:r>
            <a:r>
              <a:rPr lang="mr-IN" dirty="0"/>
              <a:t>–</a:t>
            </a:r>
            <a:r>
              <a:rPr lang="en-US" dirty="0"/>
              <a:t> paid by mass of fruits they pick</a:t>
            </a:r>
          </a:p>
          <a:p>
            <a:pPr lvl="2"/>
            <a:r>
              <a:rPr lang="en-US" dirty="0"/>
              <a:t>Number of T-shirts a worker sown per day</a:t>
            </a:r>
          </a:p>
          <a:p>
            <a:pPr lvl="2"/>
            <a:r>
              <a:rPr lang="en-US" dirty="0"/>
              <a:t>Packing hamper during Christmas </a:t>
            </a:r>
            <a:r>
              <a:rPr lang="mr-IN" dirty="0"/>
              <a:t>–</a:t>
            </a:r>
            <a:r>
              <a:rPr lang="en-US" dirty="0"/>
              <a:t> paid by number of hampers packed</a:t>
            </a:r>
          </a:p>
        </p:txBody>
      </p:sp>
    </p:spTree>
    <p:extLst>
      <p:ext uri="{BB962C8B-B14F-4D97-AF65-F5344CB8AC3E}">
        <p14:creationId xmlns:p14="http://schemas.microsoft.com/office/powerpoint/2010/main" val="1994981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backpacker earns his living by picking grapes.  He is paid $0.80/kg of grapes he picked.  How much would he made if he picked 80 kg in 2 hours?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173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Wages - commission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the sale price (fess charged by some business for selling an item)</a:t>
            </a:r>
          </a:p>
          <a:p>
            <a:pPr lvl="1"/>
            <a:r>
              <a:rPr lang="en-US" dirty="0"/>
              <a:t>e.g. selling real estate</a:t>
            </a:r>
          </a:p>
          <a:p>
            <a:pPr lvl="1"/>
            <a:endParaRPr lang="en-US" dirty="0"/>
          </a:p>
          <a:p>
            <a:r>
              <a:rPr lang="en-US" dirty="0"/>
              <a:t>Could also be based on the quantity of sales</a:t>
            </a:r>
          </a:p>
          <a:p>
            <a:pPr lvl="1"/>
            <a:r>
              <a:rPr lang="en-US" dirty="0"/>
              <a:t>e.g. selling cars </a:t>
            </a:r>
            <a:r>
              <a:rPr lang="mr-IN" dirty="0"/>
              <a:t>–</a:t>
            </a:r>
            <a:r>
              <a:rPr lang="en-US" dirty="0"/>
              <a:t> number of cars sold.</a:t>
            </a:r>
          </a:p>
          <a:p>
            <a:endParaRPr lang="en-US" dirty="0"/>
          </a:p>
          <a:p>
            <a:r>
              <a:rPr lang="en-US" dirty="0"/>
              <a:t>Commissions are usually a PERCENTAGE of the values of the sales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454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Richard, a real estate agent charge 2% as a commission from the sales price of the real estate he sells.  If he sold a house for $825,000, what is his commission?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car salesman is paid a retainer of $2000 per month and a commission of 2.1% of the total sales in a month.  If he sold a total of $210,000 in January, how much would he made?</a:t>
            </a:r>
          </a:p>
        </p:txBody>
      </p:sp>
    </p:spTree>
    <p:extLst>
      <p:ext uri="{BB962C8B-B14F-4D97-AF65-F5344CB8AC3E}">
        <p14:creationId xmlns:p14="http://schemas.microsoft.com/office/powerpoint/2010/main" val="1095667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mr-IN" dirty="0"/>
              <a:t>–</a:t>
            </a:r>
            <a:r>
              <a:rPr lang="en-US" dirty="0"/>
              <a:t> stepped commission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 auction house charged the following commission:</a:t>
            </a:r>
          </a:p>
          <a:p>
            <a:pPr lvl="1"/>
            <a:r>
              <a:rPr lang="en-US" dirty="0"/>
              <a:t>5% of the first $10,000</a:t>
            </a:r>
          </a:p>
          <a:p>
            <a:pPr lvl="1"/>
            <a:r>
              <a:rPr lang="en-US" dirty="0"/>
              <a:t>2% of the next $15,000</a:t>
            </a:r>
          </a:p>
          <a:p>
            <a:pPr lvl="1"/>
            <a:r>
              <a:rPr lang="en-US" dirty="0"/>
              <a:t>1% of the next $15,000</a:t>
            </a:r>
          </a:p>
          <a:p>
            <a:pPr lvl="1"/>
            <a:r>
              <a:rPr lang="en-US" dirty="0"/>
              <a:t>0.5% thereafter.</a:t>
            </a:r>
          </a:p>
          <a:p>
            <a:pPr marL="0" indent="0">
              <a:buNone/>
            </a:pPr>
            <a:r>
              <a:rPr lang="en-US" dirty="0"/>
              <a:t>What would the commission be if the auction house sold an antique vase for $50,000?</a:t>
            </a:r>
          </a:p>
        </p:txBody>
      </p:sp>
    </p:spTree>
    <p:extLst>
      <p:ext uri="{BB962C8B-B14F-4D97-AF65-F5344CB8AC3E}">
        <p14:creationId xmlns:p14="http://schemas.microsoft.com/office/powerpoint/2010/main" val="663771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18" y="160637"/>
            <a:ext cx="4380887" cy="43777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1460" y="2456809"/>
            <a:ext cx="508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915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055" y="134845"/>
            <a:ext cx="8192529" cy="65863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52269" y="134845"/>
            <a:ext cx="24342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Table obtained from the Australian Taxation Office website.</a:t>
            </a:r>
          </a:p>
        </p:txBody>
      </p:sp>
    </p:spTree>
    <p:extLst>
      <p:ext uri="{BB962C8B-B14F-4D97-AF65-F5344CB8AC3E}">
        <p14:creationId xmlns:p14="http://schemas.microsoft.com/office/powerpoint/2010/main" val="1171219296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446</TotalTime>
  <Words>467</Words>
  <Application>Microsoft Macintosh PowerPoint</Application>
  <PresentationFormat>A4 Paper (210x297 mm)</PresentationFormat>
  <Paragraphs>71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A4 Presentation</vt:lpstr>
      <vt:lpstr>Earning Money</vt:lpstr>
      <vt:lpstr>PowerPoint Presentation</vt:lpstr>
      <vt:lpstr>Salary</vt:lpstr>
      <vt:lpstr>Salary - $66,500 p.a.</vt:lpstr>
      <vt:lpstr>Wages</vt:lpstr>
      <vt:lpstr>PowerPoint Presentation</vt:lpstr>
      <vt:lpstr>PowerPoint Presentation</vt:lpstr>
      <vt:lpstr>Wages - piecework</vt:lpstr>
      <vt:lpstr>Examples</vt:lpstr>
      <vt:lpstr>Wages - commission</vt:lpstr>
      <vt:lpstr>Examples</vt:lpstr>
      <vt:lpstr>Example – stepped commission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Earning Money</dc:title>
  <dc:creator>Michael Loh</dc:creator>
  <cp:lastModifiedBy>LOH Michael [Shenton College]</cp:lastModifiedBy>
  <cp:revision>26</cp:revision>
  <dcterms:created xsi:type="dcterms:W3CDTF">2017-02-26T02:32:30Z</dcterms:created>
  <dcterms:modified xsi:type="dcterms:W3CDTF">2019-02-17T06:26:54Z</dcterms:modified>
</cp:coreProperties>
</file>
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2" r:id="rId4"/>
    <p:sldId id="263" r:id="rId5"/>
    <p:sldId id="258" r:id="rId6"/>
    <p:sldId id="259" r:id="rId7"/>
    <p:sldId id="260" r:id="rId8"/>
    <p:sldId id="267" r:id="rId9"/>
    <p:sldId id="268" r:id="rId10"/>
    <p:sldId id="270" r:id="rId11"/>
    <p:sldId id="269" r:id="rId1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71"/>
    <p:restoredTop sz="90193"/>
  </p:normalViewPr>
  <p:slideViewPr>
    <p:cSldViewPr snapToGrid="0" snapToObjects="1">
      <p:cViewPr varScale="1">
        <p:scale>
          <a:sx n="87" d="100"/>
          <a:sy n="87" d="100"/>
        </p:scale>
        <p:origin x="136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ADD6B-A624-A042-9665-3AB116152D68}" type="datetimeFigureOut">
              <a:rPr lang="en-US" smtClean="0"/>
              <a:t>6/7/19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42451-C897-9941-8CB3-7D7375C5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2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shirtoid.com</a:t>
            </a:r>
            <a:r>
              <a:rPr lang="en-US" dirty="0"/>
              <a:t>/20983/brainstorm/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A42451-C897-9941-8CB3-7D7375C5CD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15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www.aliexpress.com</a:t>
            </a:r>
            <a:r>
              <a:rPr lang="en-US" dirty="0"/>
              <a:t>/w/wholesale-</a:t>
            </a:r>
            <a:r>
              <a:rPr lang="en-US" dirty="0" err="1"/>
              <a:t>volkswagen</a:t>
            </a:r>
            <a:r>
              <a:rPr lang="en-US" dirty="0"/>
              <a:t>-beetle-</a:t>
            </a:r>
            <a:r>
              <a:rPr lang="en-US" dirty="0" err="1"/>
              <a:t>model.html</a:t>
            </a:r>
            <a:endParaRPr lang="en-US" dirty="0"/>
          </a:p>
          <a:p>
            <a:r>
              <a:rPr lang="en-US" dirty="0"/>
              <a:t>http://</a:t>
            </a:r>
            <a:r>
              <a:rPr lang="en-US" dirty="0" err="1"/>
              <a:t>bringatrailer.com</a:t>
            </a:r>
            <a:r>
              <a:rPr lang="en-US" dirty="0"/>
              <a:t>/listing/1965-vw-beetle/</a:t>
            </a:r>
          </a:p>
          <a:p>
            <a:r>
              <a:rPr lang="en-US" dirty="0"/>
              <a:t>http://</a:t>
            </a:r>
            <a:r>
              <a:rPr lang="en-US" dirty="0" err="1"/>
              <a:t>paperlandmarks.storenvy.com</a:t>
            </a:r>
            <a:r>
              <a:rPr lang="en-US" dirty="0"/>
              <a:t>/collections/158404-pre-cut-kits/products/878015-eiffel-tower-paper-model-craft-kit</a:t>
            </a:r>
          </a:p>
          <a:p>
            <a:r>
              <a:rPr lang="en-US" dirty="0"/>
              <a:t>https://</a:t>
            </a:r>
            <a:r>
              <a:rPr lang="en-US" dirty="0" err="1"/>
              <a:t>www.parisianist.com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/attractions/monuments/</a:t>
            </a:r>
            <a:r>
              <a:rPr lang="en-US" dirty="0" err="1"/>
              <a:t>eiffel</a:t>
            </a:r>
            <a:r>
              <a:rPr lang="en-US" dirty="0"/>
              <a:t>-tower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A42451-C897-9941-8CB3-7D7375C5CD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93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www.mapsofworld.com</a:t>
            </a:r>
            <a:r>
              <a:rPr lang="en-US" dirty="0"/>
              <a:t>/</a:t>
            </a:r>
            <a:r>
              <a:rPr lang="en-US" dirty="0" err="1"/>
              <a:t>australia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A42451-C897-9941-8CB3-7D7375C5CD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285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au.phaidon.com</a:t>
            </a:r>
            <a:r>
              <a:rPr lang="en-US" dirty="0"/>
              <a:t>/the-art-book/articles/2012/</a:t>
            </a:r>
            <a:r>
              <a:rPr lang="en-US" dirty="0" err="1"/>
              <a:t>november</a:t>
            </a:r>
            <a:r>
              <a:rPr lang="en-US" dirty="0"/>
              <a:t>/12/artist-of-the-week-</a:t>
            </a:r>
            <a:r>
              <a:rPr lang="en-US" dirty="0" err="1"/>
              <a:t>auguste</a:t>
            </a:r>
            <a:r>
              <a:rPr lang="en-US" dirty="0"/>
              <a:t>-</a:t>
            </a:r>
            <a:r>
              <a:rPr lang="en-US" dirty="0" err="1"/>
              <a:t>rodin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A42451-C897-9941-8CB3-7D7375C5CD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08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au.phaidon.com</a:t>
            </a:r>
            <a:r>
              <a:rPr lang="en-US" dirty="0"/>
              <a:t>/the-art-book/articles/2012/</a:t>
            </a:r>
            <a:r>
              <a:rPr lang="en-US" dirty="0" err="1"/>
              <a:t>november</a:t>
            </a:r>
            <a:r>
              <a:rPr lang="en-US" dirty="0"/>
              <a:t>/12/artist-of-the-week-</a:t>
            </a:r>
            <a:r>
              <a:rPr lang="en-US" dirty="0" err="1"/>
              <a:t>auguste</a:t>
            </a:r>
            <a:r>
              <a:rPr lang="en-US" dirty="0"/>
              <a:t>-</a:t>
            </a:r>
            <a:r>
              <a:rPr lang="en-US" dirty="0" err="1"/>
              <a:t>rodin</a:t>
            </a:r>
            <a:r>
              <a:rPr lang="en-US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1A42451-C897-9941-8CB3-7D7375C5CD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297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6/7/19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f"/><Relationship Id="rId5" Type="http://schemas.openxmlformats.org/officeDocument/2006/relationships/image" Target="../media/image4.tiff"/><Relationship Id="rId4" Type="http://schemas.openxmlformats.org/officeDocument/2006/relationships/image" Target="../media/image3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Similarity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996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similarity?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9798" y="1813332"/>
            <a:ext cx="4490114" cy="449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900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579120"/>
            <a:ext cx="2270760" cy="22707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66213"/>
            <a:ext cx="4175760" cy="28253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740" y="3622040"/>
            <a:ext cx="2771140" cy="27711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240" y="3241040"/>
            <a:ext cx="4983480" cy="332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1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7204" y="182880"/>
            <a:ext cx="7548618" cy="6446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97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965960" y="1600200"/>
            <a:ext cx="6141720" cy="2346960"/>
            <a:chOff x="2317749" y="1642589"/>
            <a:chExt cx="5353712" cy="1911863"/>
          </a:xfrm>
        </p:grpSpPr>
        <p:grpSp>
          <p:nvGrpSpPr>
            <p:cNvPr id="6" name="Group 5"/>
            <p:cNvGrpSpPr/>
            <p:nvPr/>
          </p:nvGrpSpPr>
          <p:grpSpPr>
            <a:xfrm>
              <a:off x="2317749" y="1642589"/>
              <a:ext cx="4748071" cy="1611250"/>
              <a:chOff x="2317749" y="1642589"/>
              <a:chExt cx="4748071" cy="1611250"/>
            </a:xfrm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5687" b="25492"/>
              <a:stretch/>
            </p:blipFill>
            <p:spPr>
              <a:xfrm>
                <a:off x="2317749" y="1642589"/>
                <a:ext cx="4534313" cy="1492497"/>
              </a:xfrm>
              <a:prstGeom prst="rect">
                <a:avLst/>
              </a:prstGeom>
            </p:spPr>
          </p:pic>
          <p:sp>
            <p:nvSpPr>
              <p:cNvPr id="11" name="Oval 10"/>
              <p:cNvSpPr/>
              <p:nvPr/>
            </p:nvSpPr>
            <p:spPr>
              <a:xfrm>
                <a:off x="6175170" y="2861955"/>
                <a:ext cx="890650" cy="391884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6745185" y="2021440"/>
              <a:ext cx="92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c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32665" y="2861955"/>
              <a:ext cx="92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501242" y="3092787"/>
              <a:ext cx="9262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a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35280" y="4185877"/>
                <a:ext cx="9448800" cy="2308324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Surface area = sum of the area of the flat surfaces</a:t>
                </a:r>
              </a:p>
              <a:p>
                <a:r>
                  <a:rPr lang="en-US" sz="3600" dirty="0"/>
                  <a:t>                       = 2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600" dirty="0"/>
                  <a:t> (a</a:t>
                </a:r>
                <a:r>
                  <a:rPr lang="en-US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3600" dirty="0"/>
                  <a:t>b + b</a:t>
                </a:r>
                <a:r>
                  <a:rPr lang="en-US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3600" dirty="0"/>
                  <a:t>c + a</a:t>
                </a:r>
                <a:r>
                  <a:rPr lang="en-US" sz="36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sz="3600" dirty="0"/>
                  <a:t>c)</a:t>
                </a:r>
              </a:p>
              <a:p>
                <a:endParaRPr lang="en-US" sz="3600" dirty="0"/>
              </a:p>
              <a:p>
                <a:r>
                  <a:rPr lang="en-US" sz="3600" dirty="0"/>
                  <a:t>Volume = a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600" dirty="0"/>
                  <a:t> b </a:t>
                </a:r>
                <a14:m>
                  <m:oMath xmlns:m="http://schemas.openxmlformats.org/officeDocument/2006/math">
                    <m:r>
                      <a:rPr lang="en-US" sz="3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600" dirty="0"/>
                  <a:t> c </a:t>
                </a: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" y="4185877"/>
                <a:ext cx="9448800" cy="2308324"/>
              </a:xfrm>
              <a:prstGeom prst="rect">
                <a:avLst/>
              </a:prstGeom>
              <a:blipFill>
                <a:blip r:embed="rId3"/>
                <a:stretch>
                  <a:fillRect l="-1606" t="-3261" r="-1071" b="-8696"/>
                </a:stretch>
              </a:blipFill>
              <a:ln w="28575"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335280" y="411480"/>
            <a:ext cx="8976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Calculate the surface area and volume for the rectangular prism (cuboid) below for the various dimensions listed.</a:t>
            </a:r>
          </a:p>
        </p:txBody>
      </p:sp>
    </p:spTree>
    <p:extLst>
      <p:ext uri="{BB962C8B-B14F-4D97-AF65-F5344CB8AC3E}">
        <p14:creationId xmlns:p14="http://schemas.microsoft.com/office/powerpoint/2010/main" val="177189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9" y="1165860"/>
            <a:ext cx="9414711" cy="1714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08754"/>
            <a:ext cx="8639476" cy="229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1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413331" y="441960"/>
            <a:ext cx="9004032" cy="2406075"/>
            <a:chOff x="393032" y="1264920"/>
            <a:chExt cx="9004032" cy="240607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3032" y="1264920"/>
              <a:ext cx="9004032" cy="239268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895048" y="2461260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>
                  <a:solidFill>
                    <a:srgbClr val="FF0000"/>
                  </a:solidFill>
                </a:rPr>
                <a:t>(1 : 2</a:t>
              </a:r>
              <a:r>
                <a:rPr lang="en-US" sz="3200" b="1" baseline="30000">
                  <a:solidFill>
                    <a:srgbClr val="FF0000"/>
                  </a:solidFill>
                </a:rPr>
                <a:t>2</a:t>
              </a:r>
              <a:r>
                <a:rPr lang="en-US" sz="3200" b="1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95048" y="3086220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</a:rPr>
                <a:t>(1 : 2</a:t>
              </a:r>
              <a:r>
                <a:rPr lang="en-US" sz="3200" b="1" baseline="30000" dirty="0">
                  <a:solidFill>
                    <a:srgbClr val="FF0000"/>
                  </a:solidFill>
                </a:rPr>
                <a:t>3</a:t>
              </a:r>
              <a:r>
                <a:rPr lang="en-US" sz="3200" b="1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653488" y="2430780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</a:rPr>
                <a:t>(1 : 3</a:t>
              </a:r>
              <a:r>
                <a:rPr lang="en-US" sz="3200" b="1" baseline="30000" dirty="0">
                  <a:solidFill>
                    <a:srgbClr val="FF0000"/>
                  </a:solidFill>
                </a:rPr>
                <a:t>2</a:t>
              </a:r>
              <a:r>
                <a:rPr lang="en-US" sz="3200" b="1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653488" y="3055740"/>
              <a:ext cx="1447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FF0000"/>
                  </a:solidFill>
                </a:rPr>
                <a:t>(1 : 3</a:t>
              </a:r>
              <a:r>
                <a:rPr lang="en-US" sz="3200" b="1" baseline="30000" dirty="0">
                  <a:solidFill>
                    <a:srgbClr val="FF0000"/>
                  </a:solidFill>
                </a:rPr>
                <a:t>3</a:t>
              </a:r>
              <a:r>
                <a:rPr lang="en-US" sz="3200" b="1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9051" y="3221295"/>
            <a:ext cx="8837349" cy="35394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/>
              <a:t>Prisms 2 and 3 is the enlargement of Prism 1.  It can be </a:t>
            </a:r>
            <a:r>
              <a:rPr lang="en-US" sz="2800" dirty="0" err="1"/>
              <a:t>summarised</a:t>
            </a:r>
            <a:r>
              <a:rPr lang="en-US" sz="2800" dirty="0"/>
              <a:t> that</a:t>
            </a:r>
          </a:p>
          <a:p>
            <a:endParaRPr lang="en-US" sz="2800" dirty="0"/>
          </a:p>
          <a:p>
            <a:r>
              <a:rPr lang="en-US" sz="2800" dirty="0"/>
              <a:t>Lengths original : length in enlargement = 1 : k</a:t>
            </a:r>
          </a:p>
          <a:p>
            <a:r>
              <a:rPr lang="en-US" sz="2800" dirty="0"/>
              <a:t>Surface area (original) : surface area (enlargement) = 1 : k</a:t>
            </a:r>
            <a:r>
              <a:rPr lang="en-US" sz="2800" baseline="30000" dirty="0"/>
              <a:t>2</a:t>
            </a:r>
            <a:endParaRPr lang="en-US" sz="2800" dirty="0"/>
          </a:p>
          <a:p>
            <a:r>
              <a:rPr lang="en-US" sz="2800" dirty="0"/>
              <a:t>Volume (original) : volume (enlargement) = 1 : k</a:t>
            </a:r>
            <a:r>
              <a:rPr lang="en-US" sz="2800" baseline="30000" dirty="0"/>
              <a:t>3</a:t>
            </a:r>
            <a:endParaRPr lang="en-US" sz="2800" dirty="0"/>
          </a:p>
          <a:p>
            <a:endParaRPr lang="en-US" sz="2800" dirty="0"/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k = the scale factor of enlargement</a:t>
            </a:r>
          </a:p>
        </p:txBody>
      </p:sp>
    </p:spTree>
    <p:extLst>
      <p:ext uri="{BB962C8B-B14F-4D97-AF65-F5344CB8AC3E}">
        <p14:creationId xmlns:p14="http://schemas.microsoft.com/office/powerpoint/2010/main" val="498337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E2DC6A0-E40A-6C4B-8010-61872AD3DBF9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2" t="2467" r="13550" b="54226"/>
          <a:stretch/>
        </p:blipFill>
        <p:spPr bwMode="auto">
          <a:xfrm>
            <a:off x="222546" y="148350"/>
            <a:ext cx="8981122" cy="608171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FC90FE1-5E5F-8D4D-8E63-E5703122802D}"/>
                  </a:ext>
                </a:extLst>
              </p:cNvPr>
              <p:cNvSpPr/>
              <p:nvPr/>
            </p:nvSpPr>
            <p:spPr>
              <a:xfrm>
                <a:off x="2913681" y="2724288"/>
                <a:ext cx="8183105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Ratio of length smaller panel : larger panel =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3 : 4.5</a:t>
                </a:r>
                <a:r>
                  <a:rPr lang="en-US" sz="1600" dirty="0"/>
                  <a:t> =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1 : 1.5</a:t>
                </a:r>
              </a:p>
              <a:p>
                <a:r>
                  <a:rPr lang="en-US" sz="1600" dirty="0"/>
                  <a:t>      Cost of making smaller panel = $280 (given)</a:t>
                </a:r>
              </a:p>
              <a:p>
                <a:r>
                  <a:rPr lang="en-US" sz="1600" dirty="0"/>
                  <a:t>      To make the larger panel, the volume of concrete required is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1.5</a:t>
                </a:r>
                <a:r>
                  <a:rPr lang="en-US" sz="1600" b="1" baseline="30000" dirty="0">
                    <a:solidFill>
                      <a:srgbClr val="FF0000"/>
                    </a:solidFill>
                  </a:rPr>
                  <a:t>3</a:t>
                </a:r>
                <a:r>
                  <a:rPr lang="en-US" sz="1600" dirty="0"/>
                  <a:t> of the</a:t>
                </a:r>
              </a:p>
              <a:p>
                <a:r>
                  <a:rPr lang="en-US" sz="1600" dirty="0"/>
                  <a:t>       smaller panel.</a:t>
                </a:r>
              </a:p>
              <a:p>
                <a:r>
                  <a:rPr lang="en-US" sz="1600" dirty="0"/>
                  <a:t>      Therefore the cost of making larger panel = 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$280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1600" b="1" dirty="0">
                    <a:solidFill>
                      <a:srgbClr val="FF0000"/>
                    </a:solidFill>
                  </a:rPr>
                  <a:t> 1.5</a:t>
                </a:r>
                <a:r>
                  <a:rPr lang="en-US" sz="1600" b="1" baseline="30000" dirty="0">
                    <a:solidFill>
                      <a:srgbClr val="FF0000"/>
                    </a:solidFill>
                  </a:rPr>
                  <a:t>3</a:t>
                </a:r>
                <a:r>
                  <a:rPr lang="en-US" sz="1600" b="1" dirty="0">
                    <a:solidFill>
                      <a:srgbClr val="FF0000"/>
                    </a:solidFill>
                  </a:rPr>
                  <a:t> = $945.00</a:t>
                </a:r>
                <a:endParaRPr lang="en-US" sz="1600" dirty="0"/>
              </a:p>
            </p:txBody>
          </p:sp>
        </mc:Choice>
        <mc:Fallback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FC90FE1-5E5F-8D4D-8E63-E570312280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81" y="2724288"/>
                <a:ext cx="8183105" cy="1323439"/>
              </a:xfrm>
              <a:prstGeom prst="rect">
                <a:avLst/>
              </a:prstGeom>
              <a:blipFill>
                <a:blip r:embed="rId3"/>
                <a:stretch>
                  <a:fillRect l="-155" t="-952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6A4E07-7868-FC4D-91A8-66485EB11FCC}"/>
                  </a:ext>
                </a:extLst>
              </p:cNvPr>
              <p:cNvSpPr/>
              <p:nvPr/>
            </p:nvSpPr>
            <p:spPr>
              <a:xfrm>
                <a:off x="1456841" y="4615673"/>
                <a:ext cx="7584483" cy="10464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Total surface area of the smaller panel = </a:t>
                </a:r>
                <a:r>
                  <a:rPr lang="en-US" b="1" dirty="0">
                    <a:solidFill>
                      <a:srgbClr val="FF0000"/>
                    </a:solidFill>
                  </a:rPr>
                  <a:t>2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(3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6 + 3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0.1 + 6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0.1)</a:t>
                </a:r>
              </a:p>
              <a:p>
                <a:r>
                  <a:rPr lang="en-US" dirty="0"/>
                  <a:t>                                                                          = </a:t>
                </a:r>
                <a:r>
                  <a:rPr lang="en-US" b="1" dirty="0">
                    <a:solidFill>
                      <a:srgbClr val="FF0000"/>
                    </a:solidFill>
                  </a:rPr>
                  <a:t>37.8 m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2</a:t>
                </a:r>
                <a:endParaRPr lang="en-US" b="1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    The cost of sealing the smaller panel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𝟑𝟕</m:t>
                        </m:r>
                        <m:r>
                          <a:rPr lang="en-A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A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num>
                      <m:den>
                        <m:r>
                          <a:rPr lang="en-A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A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AU" b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den>
                    </m:f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$35 </a:t>
                </a:r>
                <a:r>
                  <a:rPr lang="en-US" dirty="0"/>
                  <a:t>= </a:t>
                </a:r>
                <a:r>
                  <a:rPr lang="en-US" b="1" dirty="0">
                    <a:solidFill>
                      <a:srgbClr val="FF0000"/>
                    </a:solidFill>
                  </a:rPr>
                  <a:t>$378.00</a:t>
                </a:r>
                <a:endParaRPr lang="en-US" dirty="0"/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16A4E07-7868-FC4D-91A8-66485EB11F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841" y="4615673"/>
                <a:ext cx="7584483" cy="1046440"/>
              </a:xfrm>
              <a:prstGeom prst="rect">
                <a:avLst/>
              </a:prstGeom>
              <a:blipFill>
                <a:blip r:embed="rId4"/>
                <a:stretch>
                  <a:fillRect l="-669" t="-1190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1BC757-63BE-9D45-A9F1-6015C4F6F225}"/>
                  </a:ext>
                </a:extLst>
              </p:cNvPr>
              <p:cNvSpPr/>
              <p:nvPr/>
            </p:nvSpPr>
            <p:spPr>
              <a:xfrm>
                <a:off x="2833864" y="6151675"/>
                <a:ext cx="6806985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surface area of the larger panel is </a:t>
                </a:r>
                <a:r>
                  <a:rPr lang="en-US" b="1" dirty="0">
                    <a:solidFill>
                      <a:srgbClr val="FF0000"/>
                    </a:solidFill>
                  </a:rPr>
                  <a:t>1.5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dirty="0"/>
                  <a:t> of the smaller panel.</a:t>
                </a:r>
              </a:p>
              <a:p>
                <a:r>
                  <a:rPr lang="en-US" dirty="0"/>
                  <a:t>    Therefore the cost to seal the larger panel = </a:t>
                </a:r>
                <a:r>
                  <a:rPr lang="en-US" b="1" dirty="0">
                    <a:solidFill>
                      <a:srgbClr val="FF0000"/>
                    </a:solidFill>
                  </a:rPr>
                  <a:t>$378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1.5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b="1" dirty="0">
                    <a:solidFill>
                      <a:srgbClr val="FF0000"/>
                    </a:solidFill>
                  </a:rPr>
                  <a:t> = $850.50</a:t>
                </a:r>
                <a:endParaRPr lang="en-US" dirty="0"/>
              </a:p>
            </p:txBody>
          </p:sp>
        </mc:Choice>
        <mc:Fallback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31BC757-63BE-9D45-A9F1-6015C4F6F2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64" y="6151675"/>
                <a:ext cx="6806985" cy="646331"/>
              </a:xfrm>
              <a:prstGeom prst="rect">
                <a:avLst/>
              </a:prstGeom>
              <a:blipFill>
                <a:blip r:embed="rId5"/>
                <a:stretch>
                  <a:fillRect l="-745"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223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B54CDF6-DE90-DC40-BF43-4E16EA2F57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59" y="515662"/>
            <a:ext cx="8538834" cy="550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15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EFE369-6DAD-7945-95EB-5A11CA01A15D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95" t="52153" r="10557" b="28615"/>
          <a:stretch/>
        </p:blipFill>
        <p:spPr bwMode="auto">
          <a:xfrm>
            <a:off x="0" y="0"/>
            <a:ext cx="9890760" cy="32461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D82A98-8EEA-C64D-9E2C-183D3F5BE82E}"/>
                  </a:ext>
                </a:extLst>
              </p:cNvPr>
              <p:cNvSpPr txBox="1"/>
              <p:nvPr/>
            </p:nvSpPr>
            <p:spPr>
              <a:xfrm>
                <a:off x="137160" y="3246120"/>
                <a:ext cx="976884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lphaLcPeriod"/>
                </a:pPr>
                <a:r>
                  <a:rPr lang="en-US" sz="2400" dirty="0"/>
                  <a:t>Ratio of height </a:t>
                </a:r>
                <a:r>
                  <a:rPr lang="mr-IN" sz="2400" dirty="0"/>
                  <a:t>–</a:t>
                </a:r>
                <a:r>
                  <a:rPr lang="en-US" sz="2400" dirty="0"/>
                  <a:t> model : actual = 1 : 6 (given)</a:t>
                </a:r>
              </a:p>
              <a:p>
                <a:r>
                  <a:rPr lang="en-US" sz="2400" dirty="0"/>
                  <a:t>     Actual height of The Thinker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31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6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186 cm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b. </a:t>
                </a:r>
                <a:r>
                  <a:rPr lang="en-AU" sz="2400" dirty="0"/>
                  <a:t>Weight is proportional to volume. </a:t>
                </a:r>
              </a:p>
              <a:p>
                <a:r>
                  <a:rPr lang="en-AU" sz="2400" dirty="0"/>
                  <a:t>     The ratio of volume </a:t>
                </a:r>
                <a:r>
                  <a:rPr lang="mr-IN" sz="2400" dirty="0"/>
                  <a:t>–</a:t>
                </a:r>
                <a:r>
                  <a:rPr lang="en-AU" sz="2400" dirty="0"/>
                  <a:t> </a:t>
                </a:r>
                <a:r>
                  <a:rPr lang="en-US" sz="2400" dirty="0"/>
                  <a:t>model : actual = 1 : 6</a:t>
                </a:r>
                <a:r>
                  <a:rPr lang="en-US" sz="2400" baseline="30000" dirty="0"/>
                  <a:t>3</a:t>
                </a:r>
                <a:endParaRPr lang="en-US" sz="2400" dirty="0"/>
              </a:p>
              <a:p>
                <a:r>
                  <a:rPr lang="en-US" sz="2400" dirty="0"/>
                  <a:t>     The weight of The Thinker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5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b="1" dirty="0">
                    <a:solidFill>
                      <a:srgbClr val="FF0000"/>
                    </a:solidFill>
                  </a:rPr>
                  <a:t> 6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3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1 080 kg</a:t>
                </a:r>
                <a:endParaRPr lang="en-AU" sz="2400" b="1" dirty="0">
                  <a:solidFill>
                    <a:srgbClr val="FF0000"/>
                  </a:solidFill>
                </a:endParaRPr>
              </a:p>
              <a:p>
                <a:endParaRPr lang="en-US" sz="2400" dirty="0"/>
              </a:p>
              <a:p>
                <a:r>
                  <a:rPr lang="en-US" sz="2400" dirty="0"/>
                  <a:t>c. Ratio of height </a:t>
                </a:r>
                <a:r>
                  <a:rPr lang="mr-IN" sz="2400" dirty="0"/>
                  <a:t>–</a:t>
                </a:r>
                <a:r>
                  <a:rPr lang="en-US" sz="2400" dirty="0"/>
                  <a:t> model : actual = 1 : 6 (given) </a:t>
                </a:r>
              </a:p>
              <a:p>
                <a:r>
                  <a:rPr lang="en-US" sz="2400" dirty="0"/>
                  <a:t>    Therefore the ratio of surface area </a:t>
                </a:r>
                <a:r>
                  <a:rPr lang="mr-IN" sz="2400" dirty="0"/>
                  <a:t>–</a:t>
                </a:r>
                <a:r>
                  <a:rPr lang="en-US" sz="2400" dirty="0"/>
                  <a:t> model : actual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 : 6</a:t>
                </a:r>
                <a:r>
                  <a:rPr lang="en-US" sz="2400" b="1" baseline="30000" dirty="0">
                    <a:solidFill>
                      <a:srgbClr val="FF0000"/>
                    </a:solidFill>
                  </a:rPr>
                  <a:t>2</a:t>
                </a:r>
                <a:r>
                  <a:rPr lang="en-US" sz="2400" dirty="0"/>
                  <a:t> = </a:t>
                </a:r>
                <a:r>
                  <a:rPr lang="en-US" sz="2400" b="1" dirty="0">
                    <a:solidFill>
                      <a:srgbClr val="FF0000"/>
                    </a:solidFill>
                  </a:rPr>
                  <a:t>1 : 36</a:t>
                </a:r>
                <a:r>
                  <a:rPr lang="en-US" sz="2400" dirty="0"/>
                  <a:t>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D82A98-8EEA-C64D-9E2C-183D3F5BE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" y="3246120"/>
                <a:ext cx="9768840" cy="3416320"/>
              </a:xfrm>
              <a:prstGeom prst="rect">
                <a:avLst/>
              </a:prstGeom>
              <a:blipFill>
                <a:blip r:embed="rId4"/>
                <a:stretch>
                  <a:fillRect l="-909" t="-1852" b="-2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65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BCF28F-7002-1B42-B987-6F0A11C2920A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3" t="74870" r="12457"/>
          <a:stretch/>
        </p:blipFill>
        <p:spPr bwMode="auto">
          <a:xfrm>
            <a:off x="0" y="170349"/>
            <a:ext cx="9662160" cy="4526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E7D3184-63CE-BA4E-BD05-633D177EADB8}"/>
              </a:ext>
            </a:extLst>
          </p:cNvPr>
          <p:cNvSpPr/>
          <p:nvPr/>
        </p:nvSpPr>
        <p:spPr>
          <a:xfrm>
            <a:off x="998220" y="984796"/>
            <a:ext cx="5676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dirty="0"/>
              <a:t>Ratio of surface area </a:t>
            </a:r>
            <a:r>
              <a:rPr lang="mr-IN" dirty="0"/>
              <a:t>–</a:t>
            </a:r>
            <a:r>
              <a:rPr lang="en-US" dirty="0"/>
              <a:t> small : large = 1 : 16 (given) = 1 : 4</a:t>
            </a:r>
            <a:r>
              <a:rPr lang="en-US" baseline="30000" dirty="0"/>
              <a:t>2</a:t>
            </a:r>
            <a:endParaRPr lang="en-US" dirty="0"/>
          </a:p>
          <a:p>
            <a:pPr lvl="0"/>
            <a:r>
              <a:rPr lang="en-US" dirty="0"/>
              <a:t>    Therefore the ratio of radius </a:t>
            </a:r>
            <a:r>
              <a:rPr lang="mr-IN" dirty="0"/>
              <a:t>–</a:t>
            </a:r>
            <a:r>
              <a:rPr lang="en-US" dirty="0"/>
              <a:t> small : large = </a:t>
            </a:r>
            <a:r>
              <a:rPr lang="en-US" b="1" dirty="0">
                <a:solidFill>
                  <a:srgbClr val="FF0000"/>
                </a:solidFill>
              </a:rPr>
              <a:t>1 : 4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9A450B9-11B4-9D42-A450-76AF377902EA}"/>
                  </a:ext>
                </a:extLst>
              </p:cNvPr>
              <p:cNvSpPr/>
              <p:nvPr/>
            </p:nvSpPr>
            <p:spPr>
              <a:xfrm>
                <a:off x="480060" y="2064157"/>
                <a:ext cx="550926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volume of the larger sphere = </a:t>
                </a:r>
                <a:r>
                  <a:rPr lang="en-US" b="1" dirty="0">
                    <a:solidFill>
                      <a:srgbClr val="FF0000"/>
                    </a:solidFill>
                  </a:rPr>
                  <a:t>50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b="1" dirty="0">
                    <a:solidFill>
                      <a:srgbClr val="FF0000"/>
                    </a:solidFill>
                  </a:rPr>
                  <a:t> 4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3</a:t>
                </a:r>
                <a:r>
                  <a:rPr lang="en-US" dirty="0"/>
                  <a:t> = </a:t>
                </a:r>
                <a:r>
                  <a:rPr lang="en-US" b="1" dirty="0">
                    <a:solidFill>
                      <a:srgbClr val="FF0000"/>
                    </a:solidFill>
                  </a:rPr>
                  <a:t>3 200 cm</a:t>
                </a:r>
                <a:r>
                  <a:rPr lang="en-US" b="1" baseline="30000" dirty="0">
                    <a:solidFill>
                      <a:srgbClr val="FF0000"/>
                    </a:solidFill>
                  </a:rPr>
                  <a:t>3</a:t>
                </a:r>
                <a:endParaRPr lang="en-US" dirty="0"/>
              </a:p>
            </p:txBody>
          </p:sp>
        </mc:Choice>
        <mc:Fallback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9A450B9-11B4-9D42-A450-76AF377902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" y="2064157"/>
                <a:ext cx="5509260" cy="369332"/>
              </a:xfrm>
              <a:prstGeom prst="rect">
                <a:avLst/>
              </a:prstGeom>
              <a:blipFill>
                <a:blip r:embed="rId3"/>
                <a:stretch>
                  <a:fillRect l="-920"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22F5956-3E98-F048-AB20-8503881AE09A}"/>
                  </a:ext>
                </a:extLst>
              </p:cNvPr>
              <p:cNvSpPr/>
              <p:nvPr/>
            </p:nvSpPr>
            <p:spPr>
              <a:xfrm>
                <a:off x="1135380" y="3045910"/>
                <a:ext cx="7170420" cy="10382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dirty="0"/>
                  <a:t>Volume of the sphere = 50 cm</a:t>
                </a:r>
                <a:r>
                  <a:rPr lang="en-US" baseline="30000" dirty="0"/>
                  <a:t>3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i="1">
                            <a:latin typeface="Cambria Math" charset="0"/>
                          </a:rPr>
                          <m:t>4</m:t>
                        </m:r>
                      </m:num>
                      <m:den>
                        <m:r>
                          <a:rPr lang="en-AU" i="1">
                            <a:latin typeface="Cambria Math" charset="0"/>
                          </a:rPr>
                          <m:t>3</m:t>
                        </m:r>
                      </m:den>
                    </m:f>
                    <m:r>
                      <a:rPr lang="mr-IN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dirty="0"/>
                  <a:t>r</a:t>
                </a:r>
                <a:r>
                  <a:rPr lang="en-US" baseline="30000" dirty="0"/>
                  <a:t>3</a:t>
                </a:r>
                <a:endParaRPr lang="en-US" dirty="0"/>
              </a:p>
              <a:p>
                <a:pPr lvl="0"/>
                <a:r>
                  <a:rPr lang="en-US" dirty="0"/>
                  <a:t>    </a:t>
                </a:r>
                <a:r>
                  <a:rPr lang="en-US" dirty="0">
                    <a:solidFill>
                      <a:srgbClr val="0070C0"/>
                    </a:solidFill>
                  </a:rPr>
                  <a:t>Use SOLVE function (</a:t>
                </a:r>
                <a:r>
                  <a:rPr lang="en-US" dirty="0" err="1">
                    <a:solidFill>
                      <a:srgbClr val="0070C0"/>
                    </a:solidFill>
                  </a:rPr>
                  <a:t>classpad</a:t>
                </a:r>
                <a:r>
                  <a:rPr lang="en-US" dirty="0">
                    <a:solidFill>
                      <a:srgbClr val="0070C0"/>
                    </a:solidFill>
                  </a:rPr>
                  <a:t>) to solve for r</a:t>
                </a:r>
                <a:endParaRPr lang="en-US" dirty="0"/>
              </a:p>
              <a:p>
                <a:pPr lvl="0"/>
                <a:r>
                  <a:rPr lang="en-US" dirty="0"/>
                  <a:t>    r = 2.285 cm = 22.85 mm = </a:t>
                </a:r>
                <a:r>
                  <a:rPr lang="en-US" b="1" dirty="0">
                    <a:solidFill>
                      <a:srgbClr val="FF0000"/>
                    </a:solidFill>
                  </a:rPr>
                  <a:t>22.9 mm</a:t>
                </a:r>
                <a:r>
                  <a:rPr lang="en-US" dirty="0"/>
                  <a:t> (to the nearest tenth of a mm)</a:t>
                </a: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22F5956-3E98-F048-AB20-8503881AE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80" y="3045910"/>
                <a:ext cx="7170420" cy="1038298"/>
              </a:xfrm>
              <a:prstGeom prst="rect">
                <a:avLst/>
              </a:prstGeom>
              <a:blipFill>
                <a:blip r:embed="rId4"/>
                <a:stretch>
                  <a:fillRect l="-530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8D85CE-9DA3-414B-9363-00D99D0B0A9F}"/>
                  </a:ext>
                </a:extLst>
              </p:cNvPr>
              <p:cNvSpPr/>
              <p:nvPr/>
            </p:nvSpPr>
            <p:spPr>
              <a:xfrm>
                <a:off x="723900" y="4679674"/>
                <a:ext cx="799338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 Surface area of the smaller sphere = 4</a:t>
                </a:r>
                <a14:m>
                  <m:oMath xmlns:m="http://schemas.openxmlformats.org/officeDocument/2006/math">
                    <m:r>
                      <a:rPr lang="mr-IN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dirty="0"/>
                  <a:t>r</a:t>
                </a:r>
                <a:r>
                  <a:rPr lang="en-US" baseline="30000" dirty="0"/>
                  <a:t>2</a:t>
                </a:r>
                <a:r>
                  <a:rPr lang="en-US" dirty="0"/>
                  <a:t> = 4 </a:t>
                </a:r>
                <a14:m>
                  <m:oMath xmlns:m="http://schemas.openxmlformats.org/officeDocument/2006/math">
                    <m:r>
                      <a:rPr lang="mr-IN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dirty="0"/>
                  <a:t> (2.285)</a:t>
                </a:r>
                <a:r>
                  <a:rPr lang="en-US" baseline="30000" dirty="0"/>
                  <a:t>2</a:t>
                </a:r>
                <a:endParaRPr lang="en-US" dirty="0"/>
              </a:p>
              <a:p>
                <a:r>
                  <a:rPr lang="en-US" dirty="0"/>
                  <a:t>    SA of the larger sphere  = 4 </a:t>
                </a:r>
                <a14:m>
                  <m:oMath xmlns:m="http://schemas.openxmlformats.org/officeDocument/2006/math">
                    <m:r>
                      <a:rPr lang="mr-IN" i="1">
                        <a:latin typeface="Cambria Math" charset="0"/>
                        <a:ea typeface="Cambria Math" charset="0"/>
                        <a:cs typeface="Cambria Math" charset="0"/>
                      </a:rPr>
                      <m:t>𝜋</m:t>
                    </m:r>
                  </m:oMath>
                </a14:m>
                <a:r>
                  <a:rPr lang="en-US" dirty="0"/>
                  <a:t> (2.285)</a:t>
                </a:r>
                <a:r>
                  <a:rPr lang="en-US" baseline="30000" dirty="0"/>
                  <a:t>2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16 = 1 050 cm</a:t>
                </a:r>
                <a:r>
                  <a:rPr lang="en-US" baseline="30000" dirty="0"/>
                  <a:t>2</a:t>
                </a:r>
                <a:r>
                  <a:rPr lang="en-US" dirty="0"/>
                  <a:t> (nearest square cm)</a:t>
                </a: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8D85CE-9DA3-414B-9363-00D99D0B0A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" y="4679674"/>
                <a:ext cx="7993380" cy="646331"/>
              </a:xfrm>
              <a:prstGeom prst="rect">
                <a:avLst/>
              </a:prstGeom>
              <a:blipFill>
                <a:blip r:embed="rId5"/>
                <a:stretch>
                  <a:fillRect t="-1923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9673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1676</TotalTime>
  <Words>622</Words>
  <Application>Microsoft Macintosh PowerPoint</Application>
  <PresentationFormat>A4 Paper (210x297 mm)</PresentationFormat>
  <Paragraphs>62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A4 Presentation</vt:lpstr>
      <vt:lpstr>Similarity</vt:lpstr>
      <vt:lpstr>What is similarity?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Similarity</dc:title>
  <dc:creator>Michael Loh</dc:creator>
  <cp:lastModifiedBy>LOH Michael [Shenton College]</cp:lastModifiedBy>
  <cp:revision>19</cp:revision>
  <cp:lastPrinted>2019-06-07T04:15:43Z</cp:lastPrinted>
  <dcterms:created xsi:type="dcterms:W3CDTF">2017-06-04T04:26:06Z</dcterms:created>
  <dcterms:modified xsi:type="dcterms:W3CDTF">2019-06-07T04:57:28Z</dcterms:modified>
</cp:coreProperties>
</file>
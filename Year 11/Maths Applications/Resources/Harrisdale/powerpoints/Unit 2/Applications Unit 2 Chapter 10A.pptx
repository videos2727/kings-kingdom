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1" r:id="rId2"/>
    <p:sldId id="269" r:id="rId3"/>
    <p:sldId id="262" r:id="rId4"/>
    <p:sldId id="270" r:id="rId5"/>
    <p:sldId id="271" r:id="rId6"/>
    <p:sldId id="272" r:id="rId7"/>
    <p:sldId id="273" r:id="rId8"/>
    <p:sldId id="274" r:id="rId9"/>
    <p:sldId id="275" r:id="rId10"/>
    <p:sldId id="278" r:id="rId11"/>
    <p:sldId id="279" r:id="rId12"/>
    <p:sldId id="276" r:id="rId13"/>
    <p:sldId id="277" r:id="rId14"/>
    <p:sldId id="280" r:id="rId15"/>
    <p:sldId id="281" r:id="rId16"/>
    <p:sldId id="268"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85" autoAdjust="0"/>
    <p:restoredTop sz="94660"/>
  </p:normalViewPr>
  <p:slideViewPr>
    <p:cSldViewPr snapToGrid="0">
      <p:cViewPr varScale="1">
        <p:scale>
          <a:sx n="85" d="100"/>
          <a:sy n="85" d="100"/>
        </p:scale>
        <p:origin x="81" y="1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06-28T02:44:20.622"/>
    </inkml:context>
    <inkml:brush xml:id="br0">
      <inkml:brushProperty name="width" value="0.13333" units="cm"/>
      <inkml:brushProperty name="height" value="0.13333" units="cm"/>
      <inkml:brushProperty name="color" value="#3165BB"/>
      <inkml:brushProperty name="fitToCurve" value="1"/>
    </inkml:brush>
  </inkml:definitions>
  <inkml:traceGroup>
    <inkml:annotationXML>
      <emma:emma xmlns:emma="http://www.w3.org/2003/04/emma" version="1.0">
        <emma:interpretation id="{0D4886C7-6E01-4CA8-A91D-7A62AF2CE57B}" emma:medium="tactile" emma:mode="ink">
          <msink:context xmlns:msink="http://schemas.microsoft.com/ink/2010/main" type="inkDrawing" rotatedBoundingBox="7437,13010 7779,12476 8139,12706 7797,13240" hotPoints="8067,12850 7791,13126 7515,12850 7791,12574" semanticType="enclosure" shapeName="Circle"/>
        </emma:interpretation>
      </emma:emma>
    </inkml:annotationXML>
    <inkml:trace contextRef="#ctx0" brushRef="#br0">523 106 3167 0,'0'0'128'0,"0"0"48"0,0 0-176 0,0 0 0 0,0 0 0 0,0 0 0 16,-6-6 720-16,6 6 112 0,0 0 32 0,0 0 0 0,0 0 144 0,-5-8 16 15,5 8 16-15,0 0 0 16,0 0 32-16,0 0 0 0,0 0 0 0,0 0 0 0,0 0-32 0,0 0 0 16,-10-9 0-16,3 1 0 0,1 0-320 0,6 8-64 15,-9-8-16-15,9 8 0 0,-9-7-304 0,-1 2-64 16,0-1-16-16,10 6 0 0,-12-4-32 0,12 4-16 16,-11-8 0-16,-1 0 0 0,-1 1 64 0,2 3 16 15,11 4 0-15,-12-4 0 0,12 4 64 0,-13-3 16 16,0 0 0-16,2 3 0 0,11 0 16 0,-15 3 0 15,-2 2 0-15,4-2 0 0,0-4-64 0,2 4-16 16,-1 3 0-16,2 1 0 0,10-7-112 0,-11 7-32 16,11-7 0-16,-12 8 0 0,2 2-160 0,2-1 0 15,8-9 0-15,-10 9 128 0,-3 0 0 0,3 1 0 0,2 0 0 0,0-2 0 16,8-8-128-16,-8 12 0 0,0-2 0 0,1 0 128 16,2 1 64-16,0 2 16 0,0 0 0 0,-1 2 0 15,-1 0-32-15,1-5-16 0,6-10 0 0,-12 11 0 16,2 7-160-16,0-1 0 0,1-8 144 0,0 3-144 15,3-1 0-15,-1-1 0 0,7-10 0 0,-8 13 0 16,1-1 0-16,3 1 0 0,-1 2 0 0,5-15 0 16,-7 15 0-16,7-15 0 0,-5 13 0 0,2 0 0 15,3-13 176-15,-2 16-48 0,1-3 0 0,1-13 0 16,0 0 64-16,3 17 0 0,-2-4 0 0,-1-13 0 16,0 0-192-16,0 0 0 0,0 0 0 0,9 13 128 15,-4 4-128-15,-5-17 0 0,0 0 0 0,11 9 128 16,-3 6-128-16,-1-3 192 0,-7-12-192 0,10 9 192 0,-10-9-64 0,13 10 0 15,-3 0 0-15,1-3 0 0,-1 1 32 0,-10-8 0 16,0 0 0-16,0 0 0 0,13 6-160 0,-13-6 0 16,13 9 0-16,-1-4 0 0,-12-5 0 0,0 0 128 15,13 6-128-15,-13-6 0 0,13 3 0 0,-13-3 0 16,16 0 128-16,-1 0-128 0,0-1 144 0,-15 1 0 16,15-3 0-16,0 1 0 0,-1 2 48 0,-2 0 16 15,-12 0 0-15,15-5 0 0,-1 2-80 0,-2-1-128 16,-2-2 176-16,0 1-176 0,-1-2 128 0,0 1-128 15,-3-1 0-15,1-1 0 0,1 0 0 0,0 1 0 16,-8 7 0-16,12-5 0 0,-12 5 0 0,9-5 0 16,-9 5 0-16,0 0 0 0,12-8 128 0,-12 8-128 15,0 0 0-15,11-8 0 0,-2-5 0 0,-3 3 160 0,-6 10-160 0,5-8 128 16,-5 8-128-16,5-10 0 0,0-2 144 16,-2 4-144-16,-3 8 0 0,0 0 0 0,5-11 0 0,2-1 0 15,-1-1 0-15,-6 13 0 0,4-8 0 0,1 0 0 16,-1-2 0-16,1 0 0 0,0-3 0 0,2 3 0 15,-7 10 0-15,6-10 0 0,-1 0 0 0,-5 10 0 16,5-13 0-16,-5 13 0 0,0 0 0 0,0 0 0 16,4-11 0-16,-1 1 0 0,-3 10 0 0,0 0 0 15,0 0 0-15,3-17 0 0,-1 1 0 0,-1 5 0 16,-1 11 0-16,0 0 0 0,0-15 0 0,0 15 0 16,0 0 0-16,0 0 0 0,0 0 0 0,2-15-128 15,-2-1 128-15,0 3 0 0,0 1 0 0,0 12-128 16,0 0 128-16,0 0 0 0,-7-15-144 0,1 7 144 0,6 8-192 15,0 0 16-15,-10-11 16 0,0 1 0 16,0 2-368-16,10 8-80 0,-11-5-16 0,11 5 0 16,-13-9-1552-16,1 1-304 0,1 2-64 0,1-1-8688 15</inkml:trace>
  </inkml:traceGroup>
</inkml:ink>
</file>

<file path=ppt/ink/ink2.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06-28T02:44:24.932"/>
    </inkml:context>
    <inkml:brush xml:id="br0">
      <inkml:brushProperty name="width" value="0.13333" units="cm"/>
      <inkml:brushProperty name="height" value="0.13333" units="cm"/>
      <inkml:brushProperty name="color" value="#177D36"/>
      <inkml:brushProperty name="fitToCurve" value="1"/>
    </inkml:brush>
    <inkml:brush xml:id="br1">
      <inkml:brushProperty name="width" value="0.13333" units="cm"/>
      <inkml:brushProperty name="height" value="0.13333" units="cm"/>
      <inkml:brushProperty name="color" value="#ED1C24"/>
      <inkml:brushProperty name="fitToCurve" value="1"/>
    </inkml:brush>
  </inkml:definitions>
  <inkml:traceGroup>
    <inkml:annotationXML>
      <emma:emma xmlns:emma="http://www.w3.org/2003/04/emma" version="1.0">
        <emma:interpretation id="{015EA954-22C6-439F-AEAF-12400DFE9188}" emma:medium="tactile" emma:mode="ink">
          <msink:context xmlns:msink="http://schemas.microsoft.com/ink/2010/main" type="writingRegion" rotatedBoundingBox="3856,18689 1950,12548 2547,12362 4454,18503"/>
        </emma:interpretation>
      </emma:emma>
    </inkml:annotationXML>
    <inkml:traceGroup>
      <inkml:annotationXML>
        <emma:emma xmlns:emma="http://www.w3.org/2003/04/emma" version="1.0">
          <emma:interpretation id="{C2769F87-9BCA-43FF-A054-32E46A75D3B3}" emma:medium="tactile" emma:mode="ink">
            <msink:context xmlns:msink="http://schemas.microsoft.com/ink/2010/main" type="paragraph" rotatedBoundingBox="3856,18689 1950,12548 2547,12362 4454,18503" alignmentLevel="1"/>
          </emma:interpretation>
        </emma:emma>
      </inkml:annotationXML>
      <inkml:traceGroup>
        <inkml:annotationXML>
          <emma:emma xmlns:emma="http://www.w3.org/2003/04/emma" version="1.0">
            <emma:interpretation id="{9B31786F-2289-4EFF-909D-EFA404B719D1}" emma:medium="tactile" emma:mode="ink">
              <msink:context xmlns:msink="http://schemas.microsoft.com/ink/2010/main" type="line" rotatedBoundingBox="3856,18689 1950,12548 2547,12362 4454,18503"/>
            </emma:interpretation>
          </emma:emma>
        </inkml:annotationXML>
        <inkml:traceGroup>
          <inkml:annotationXML>
            <emma:emma xmlns:emma="http://www.w3.org/2003/04/emma" version="1.0">
              <emma:interpretation id="{CE1DF7E0-868A-4DB4-A5F7-04EA75E7404B}" emma:medium="tactile" emma:mode="ink">
                <msink:context xmlns:msink="http://schemas.microsoft.com/ink/2010/main" type="inkWord" rotatedBoundingBox="4256,18565 4039,17868 4233,17808 4449,18505"/>
              </emma:interpretation>
              <emma:one-of disjunction-type="recognition" id="oneOf0">
                <emma:interpretation id="interp0" emma:lang="" emma:confidence="0">
                  <emma:literal>~</emma:literal>
                </emma:interpretation>
                <emma:interpretation id="interp1" emma:lang="" emma:confidence="0">
                  <emma:literal>+</emma:literal>
                </emma:interpretation>
                <emma:interpretation id="interp2" emma:lang="" emma:confidence="0">
                  <emma:literal>.</emma:literal>
                </emma:interpretation>
                <emma:interpretation id="interp3" emma:lang="" emma:confidence="0">
                  <emma:literal>-</emma:literal>
                </emma:interpretation>
                <emma:interpretation id="interp4" emma:lang="" emma:confidence="0">
                  <emma:literal>_</emma:literal>
                </emma:interpretation>
              </emma:one-of>
            </emma:emma>
          </inkml:annotationXML>
          <inkml:trace contextRef="#ctx0" brushRef="#br0">-2 91 1839 0,'0'0'0'0,"0"0"160"0,0 0-160 0,0 0 0 15,0 0 0-15,5-10 0 0,-5 10 2688 0,0 0 496 16,0 0 96-16,4-11 32 0,1 1-2960 0,-5 10-592 15,9-13-112-15,-3 3-32 0,-1 0 384 0,-5 10 128 16,0 0 0-16,0 0 0 0,7-8 448 0,-7 8 96 16,0 0 16-16,0 0 0 0,9-8 112 0,-9 8 32 15,9-9 0-15,-9 9 0 0,0 0-576 0,0 0-96 0,0 0-32 0,11-3 0 16,-11 3 80-16,0 0 16 0,0 0 0 0,0 0 0 16,12-2 224-16,-12 2 32 0,0 0 16 0,0 0 0 15,0 0-112-15,0 0-32 0,0 0 0 0,0 0 0 16,0 0 48-16,0 0 16 0,13 14 0 0,-13-14 0 15,8 9 48-15,0 5 16 0,0 2 0 0,1-1 0 16,-9-15-176-16,8 18-48 0,2 0 0 0,0 0 0 16,-1 0-256-16,1 0 0 0,-2-2 128 0,1 2-128 15,-3 2 128-15,2-2-128 0,-8-18 144 0,10 20-144 16,-2-4 512-16,-1 1 16 0,0-3 0 0,2 0 0 16,0 0 816-16,-9-14 144 0,0 0 48 0,6 20 0 15,-3 0-1920-15,4-1-368 0,3 0-80 0,-2-5 0 0,-8-14 688 0,10 20 144 16,0 0 0-16,-2-2 0 0,0 3 0 0,-1-1 0 15,-4-2 0-15,4 2 0 0,1-1 192 0,0-1-16 16,-1-5 0-16,-1 2 0 0,-3-2 128 0,1 0 16 16,-3 1 16-16,-1-14 0 0,0 0-112 0,7 8-32 15,-7-8 0-15,0 0 0 0,0 0-192 0,0 0 0 16,0 0 128-16,0 0-128 0,0 0-272 0,0 0-112 16,0 0 0-16,0 0-16 15,0 0-480-15,0 0-80 0,0 0-32 0,0 0-8160 16,-2-15-1616-16</inkml:trace>
        </inkml:traceGroup>
        <inkml:traceGroup>
          <inkml:annotationXML>
            <emma:emma xmlns:emma="http://www.w3.org/2003/04/emma" version="1.0">
              <emma:interpretation id="{BB8DFE04-FB83-4158-A60D-B023B7E0E7DA}" emma:medium="tactile" emma:mode="ink">
                <msink:context xmlns:msink="http://schemas.microsoft.com/ink/2010/main" type="inkWord" rotatedBoundingBox="3850,18667 3653,18033 4104,17894 4300,18527"/>
              </emma:interpretation>
              <emma:one-of disjunction-type="recognition" id="oneOf1">
                <emma:interpretation id="interp5" emma:lang="" emma:confidence="1">
                  <emma:literal/>
                </emma:interpretation>
              </emma:one-of>
            </emma:emma>
          </inkml:annotationXML>
          <inkml:trace contextRef="#ctx0" brushRef="#br0" timeOffset="-811.2593">32 125 1839 0,'0'0'160'0,"0"0"-160"16,0 0 0-16,0 0 0 0,0 0 3024 0,0-8 576 15,0 8 112-15,2-11 32 0,-1-1-2544 0,-1 12-512 16,0 0-112-16,2-10 0 0,0-3-576 0,-1 3 0 15,-1 10 0-15,0 0 0 0,0 0 544 0,0 0 0 16,2-9 0-16,-2 9 0 0,0 0 560 0,0 0 112 0,0 0 32 0,0 0 0 16,0 0-384-16,0 0-80 0,0 0-16 0,0 0 0 15,0 0-336-15,0 0-80 0,0 0-16 0,0 0 0 16,0 0-80-16,0 0 0 0,-3 13-16 0,3-13 0 16,-7 11-112-16,2 1 0 0,0 1-128 0,5-13 192 15,-8 15-192-15,1 1 176 0,3 4-176 0,-1-1 160 16,-2 1 0-16,0 0 0 0,-1-2 0 0,0 2 0 15,1-2-160-15,1 0 192 0,-2-2-192 0,3 2 192 16,0 2-192-16,0-1 0 0,0 0 0 0,2-1 0 16,3-18 0-16,-7 21 0 0,2 0 0 0,0 1 0 15,-1-3 0-15,1 3 0 0,2-3 0 0,-1 1 0 16,-1 0 0-16,2-2 0 0,3-18 0 0,-5 18 0 16,0 3 0-16,-1-3 0 0,-3-1 0 0,3-4 0 0,-1 2 0 15,2 1 0-15,0 4 0 0,1-2 0 0,-1-5 0 0,-2 2 0 16,-1 1 0-16,1-3 0 0,2 0-128 0,0-1-64 15,1-2-16-15,4-10 0 16,0 0-368-16,0 0-64 0,0 0 0 0,0 0-16 16,0 0-544-16,0 0-96 0,0 0-32 0,0 0-9408 15</inkml:trace>
        </inkml:traceGroup>
        <inkml:traceGroup>
          <inkml:annotationXML>
            <emma:emma xmlns:emma="http://www.w3.org/2003/04/emma" version="1.0">
              <emma:interpretation id="{16241798-528B-4489-A614-7E10996362F7}" emma:medium="tactile" emma:mode="ink">
                <msink:context xmlns:msink="http://schemas.microsoft.com/ink/2010/main" type="inkWord" rotatedBoundingBox="3964,18342 3954,18310 4322,18196 4332,18227"/>
              </emma:interpretation>
              <emma:one-of disjunction-type="recognition" id="oneOf2">
                <emma:interpretation id="interp6" emma:lang="" emma:confidence="0">
                  <emma:literal>.</emma:literal>
                </emma:interpretation>
                <emma:interpretation id="interp7" emma:lang="" emma:confidence="0">
                  <emma:literal>\</emma:literal>
                </emma:interpretation>
                <emma:interpretation id="interp8" emma:lang="" emma:confidence="0">
                  <emma:literal>`</emma:literal>
                </emma:interpretation>
                <emma:interpretation id="interp9" emma:lang="" emma:confidence="0">
                  <emma:literal>|</emma:literal>
                </emma:interpretation>
                <emma:interpretation id="interp10" emma:lang="" emma:confidence="0">
                  <emma:literal>d</emma:literal>
                </emma:interpretation>
              </emma:one-of>
            </emma:emma>
          </inkml:annotationXML>
          <inkml:trace contextRef="#ctx0" brushRef="#br0" timeOffset="467.9159">270 385 1839 0,'0'0'160'0,"0"0"-160"15,0 0 0-15,-13 5 0 0,1-5 4144 0,12 0 784 16,0 0 176-16,-11 0 16 0,-4 0-4096 0,2-2-816 16,13 2-208-16,-11-5 0 0,11 5 0 0,-14 0 0 15,3 3 0-15,11-3-160 0,-12 0 544 0,1 4 128 16,-2 1 0-16,3-2 16 0,10-3 736 0,0 0 144 15,-13 8 16-15,1-1 16 0,12-7-608 0,-13 5-112 16,0-4-16-16,13-1-16 0,-15 7-496 0,2-1-192 16,2 1 128-16,-1-2-128 0,-1-2 0 0,0 2 0 15,-2 0 0-15,0 0 0 0,-3 0-288 0,4-2 64 0,-1-3 16 16,2 0-8464-16,0 0-1696 16</inkml:trace>
        </inkml:traceGroup>
        <inkml:traceGroup>
          <inkml:annotationXML>
            <emma:emma xmlns:emma="http://www.w3.org/2003/04/emma" version="1.0">
              <emma:interpretation id="{0274284F-0F5D-4A47-9DED-5A9A7B4CAE2F}" emma:medium="tactile" emma:mode="ink">
                <msink:context xmlns:msink="http://schemas.microsoft.com/ink/2010/main" type="inkWord" rotatedBoundingBox="2307,13179 2097,12502 2547,12362 2757,13040"/>
              </emma:interpretation>
              <emma:one-of disjunction-type="recognition" id="oneOf3">
                <emma:interpretation id="interp11" emma:lang="" emma:confidence="1">
                  <emma:literal/>
                </emma:interpretation>
              </emma:one-of>
            </emma:emma>
          </inkml:annotationXML>
          <inkml:trace contextRef="#ctx0" brushRef="#br1" timeOffset="-10139.5969">-1466-5312 1839 0,'0'0'0'0,"0"0"160"16,0 0-160-16,0 0 0 0,0 0 0 0,0 0 0 15,0 0 1136-15,0 0 192 0,0 0 32 0,0 0 16 0,0 0-16 0,0 0 0 16,0 0 0-16,1-8 0 0,-4 0 240 0,3 8 32 16,0 0 16-16,0 0 0 0,-5-9-384 0,-2 3-80 15,-2-2-16-15,0 1 0 0,9 7-672 0,-6-8-144 16,-1-2-32-16,1 3 0 0,-2 1-192 0,3-1-128 16,5 7 160-16,-7-8-160 0,0 2 448 0,7 6 0 15,0 0 0-15,0 0 0 0,-4-9 224 0,4 9 32 16,0 0 16-16,0 0 0 0,-5-10-192 0,5 10-32 15,0 0-16-15,0 0 0 0,0 0-240 0,0 0-48 16,0 0-16-16,0 0 0 0,0 0-48 0,0 0 0 16,0 0 0-16,9 10 0 0,-9-10 176 0,7 13 16 15,-7-13 16-15,3 17 0 0,2-2-128 0,0-1-16 16,-2 1-16-16,-1-2 0 0,-2 0-176 0,2 2 0 0,-1 0 0 0,1 1 0 16,-2 1 0-16,2 1 0 0,-2-3 0 0,1 1 0 15,3 4 0-15,-1-1 0 0,-2 3 0 0,1 2 0 16,0 1 0-16,-1-2 128 0,1-2-128 0,1 2 0 15,2 2 128-15,2 0-128 0,1-1 0 0,-1 2 128 16,-2 1-128-16,-1-4 0 0,0-4 0 0,1-1 0 16,0-1 0-16,-2-2 128 0,-3-15-128 0,2 13 0 15,-2-13 0-15,3 13 0 0,-3-13 0 0,0 0-176 16,6 11-352-16,-6-11-80 16,0 0-16-16,0 0 0 0,0 0-592 0,0 0-112 0,13 7-16 0</inkml:trace>
          <inkml:trace contextRef="#ctx0" brushRef="#br1" timeOffset="-11169.8405">-1796-5337 9215 0,'0'0'400'0,"0"0"96"0,0 0-496 0,0 0 0 15,0 0 0-15,0 0 0 0,0 0 464 0,0 0 0 16,0 0 0-16,0 0 0 0,0 0-288 0,0 0-176 15,8-16 192-15,-8 16-192 0,0 0 912 0,0 0 80 0,0 0 16 16,0 0 0-16,0 0 208 0,0 0 64 0,-3-20 0 0,3 20 0 16,0 0-384-16,0 0-80 0,0 0-16 0,0 0 0 15,0 0-160-15,0 0-16 0,-4-19-16 0,4 19 0 16,0 0 96-16,0 0 32 0,0 0 0 0,0 0 0 16,0 0-160-16,0 0-48 0,0 0 0 0,0 0 0 15,0 0-272-15,0 0-48 0,-5 4-16 0,2 5 0 16,-2 2-192-16,2 4 144 0,1-2-144 0,1 8 128 15,-1 6 0-15,0-1 0 0,1 0 0 0,1 4 0 16,0 3 32-16,3-1 0 0,0 1 0 0,2-3 0 16,0-6 752-16,0 4 160 0,2-1 16 0,-1-1 16 31,-1-3-1584-31,-2-2-320 0,-3 0-64 0,2-1-16 0,1 1 880 0,1-2 288 0,-3-3 0 0,-1 0 0 16,0 1-16-16,0-4 0 0,0-13 0 0,-3 11 0 0,1 4-128 0,4-3-16 15,-2-12-128-15,3 13 192 16,-3-3-192-16,0-10-208 0,-5 9 32 0,5-9 16 0,0 0 480 0,0 0 80 15,0 0 32-15,0 0 0 16,0 0-2224-16,0 0-432 0,0 0-80 0,0 0-32 16,0 0 560-16,-1-4 112 0,1 4 32 0,0 0 0 15,-4-15 80-15,3 3 16 0,2 1 0 0,3-4-3760 16,-1 2-736-16</inkml:trace>
          <inkml:trace contextRef="#ctx0" brushRef="#br1" timeOffset="-10795.0752">-1496-5072 5519 0,'0'0'496'0,"0"0"-496"0,0 0 0 0,0 0 0 16,0 0 3360-16,0 0 576 0,0 0 112 0,0 0 32 16,0 0-2656-16,-2 11-528 0,1-3-96 0,-1 1-32 15,2-9-384-15,0 0-96 0,0 0-16 0,0 0 0 16,0 0 208-16,-11 0 32 0,-1-4 16 0,12 4 0 16,-15 2 128-16,2-4 32 0,0-3 0 0,0 4 0 15,0 1-384-15,1 3-80 0,-1 4-16 0,0-4 0 16,-2-6-208-16,1 1 0 0,-1 2 128 0,3 3-128 0,1 2 0 15,-1-3 0-15,-2-4 0 0,-1 2 0 0,2 3-256 0,13-3 0 16,0 0 0-16,-12 2 0 16,12-2-272-16,0 0-48 0,-6 15-16 0,-3-9 0 15,-2-7-336-15,11 1-64 0,0 0-16 0,0 0-6096 16,0 0-1232-16</inkml:trace>
        </inkml:traceGroup>
      </inkml:traceGroup>
    </inkml:traceGroup>
  </inkml:traceGroup>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1E10A132-FF45-4605-9BB8-80702934D916}" type="datetimeFigureOut">
              <a:rPr lang="en-AU" smtClean="0"/>
              <a:t>28/06/2021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16353325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1E10A132-FF45-4605-9BB8-80702934D916}" type="datetimeFigureOut">
              <a:rPr lang="en-AU" smtClean="0"/>
              <a:t>28/06/2021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19614259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E10A132-FF45-4605-9BB8-80702934D916}" type="datetimeFigureOut">
              <a:rPr lang="en-AU" smtClean="0"/>
              <a:t>28/06/2021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15190005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1E10A132-FF45-4605-9BB8-80702934D916}" type="datetimeFigureOut">
              <a:rPr lang="en-AU" smtClean="0"/>
              <a:t>28/06/2021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621266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1E10A132-FF45-4605-9BB8-80702934D916}" type="datetimeFigureOut">
              <a:rPr lang="en-AU" smtClean="0"/>
              <a:t>28/06/2021</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38066126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1E10A132-FF45-4605-9BB8-80702934D916}" type="datetimeFigureOut">
              <a:rPr lang="en-AU" smtClean="0"/>
              <a:t>28/06/2021</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19169673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10A132-FF45-4605-9BB8-80702934D916}" type="datetimeFigureOut">
              <a:rPr lang="en-AU" smtClean="0"/>
              <a:t>28/06/2021</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27402647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E10A132-FF45-4605-9BB8-80702934D916}" type="datetimeFigureOut">
              <a:rPr lang="en-AU" smtClean="0"/>
              <a:t>28/06/2021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6182418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E10A132-FF45-4605-9BB8-80702934D916}" type="datetimeFigureOut">
              <a:rPr lang="en-AU" smtClean="0"/>
              <a:t>28/06/2021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14269284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1E10A132-FF45-4605-9BB8-80702934D916}" type="datetimeFigureOut">
              <a:rPr lang="en-AU" smtClean="0"/>
              <a:t>28/06/2021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6493064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1E10A132-FF45-4605-9BB8-80702934D916}" type="datetimeFigureOut">
              <a:rPr lang="en-AU" smtClean="0"/>
              <a:t>28/06/2021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40101921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10A132-FF45-4605-9BB8-80702934D916}" type="datetimeFigureOut">
              <a:rPr lang="en-AU" smtClean="0"/>
              <a:t>28/06/2021</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9DE3931-47A2-415E-8FB2-549750A36BAE}" type="slidenum">
              <a:rPr lang="en-AU" smtClean="0"/>
              <a:t>‹#›</a:t>
            </a:fld>
            <a:endParaRPr lang="en-AU"/>
          </a:p>
        </p:txBody>
      </p:sp>
    </p:spTree>
    <p:extLst>
      <p:ext uri="{BB962C8B-B14F-4D97-AF65-F5344CB8AC3E}">
        <p14:creationId xmlns:p14="http://schemas.microsoft.com/office/powerpoint/2010/main" val="1862188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0.png"/><Relationship Id="rId7" Type="http://schemas.openxmlformats.org/officeDocument/2006/relationships/image" Target="../media/image25.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1.png"/><Relationship Id="rId9" Type="http://schemas.openxmlformats.org/officeDocument/2006/relationships/image" Target="../media/image22.png"/></Relationships>
</file>

<file path=ppt/slides/_rels/slide7.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0.png"/><Relationship Id="rId7" Type="http://schemas.openxmlformats.org/officeDocument/2006/relationships/image" Target="../media/image30.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1.png"/><Relationship Id="rId9" Type="http://schemas.openxmlformats.org/officeDocument/2006/relationships/image" Target="../media/image27.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20.png"/><Relationship Id="rId7" Type="http://schemas.openxmlformats.org/officeDocument/2006/relationships/image" Target="../media/image35.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21.png"/><Relationship Id="rId9" Type="http://schemas.openxmlformats.org/officeDocument/2006/relationships/image" Target="../media/image32.png"/></Relationships>
</file>

<file path=ppt/slides/_rels/slide9.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10.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NULL"/><Relationship Id="rId7" Type="http://schemas.openxmlformats.org/officeDocument/2006/relationships/image" Target="NULL"/><Relationship Id="rId2" Type="http://schemas.openxmlformats.org/officeDocument/2006/relationships/image" Target="../media/image43.png"/><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NULL"/><Relationship Id="rId9" Type="http://schemas.openxmlformats.org/officeDocument/2006/relationships/image" Target="NULL"/></Relationships>
</file>

<file path=ppt/slides/_rels/slide11.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NULL"/><Relationship Id="rId7" Type="http://schemas.openxmlformats.org/officeDocument/2006/relationships/image" Target="NULL"/><Relationship Id="rId2"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NULL"/><Relationship Id="rId9" Type="http://schemas.openxmlformats.org/officeDocument/2006/relationships/image" Target="NULL"/></Relationships>
</file>

<file path=ppt/slides/_rels/slide12.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NULL"/><Relationship Id="rId7" Type="http://schemas.openxmlformats.org/officeDocument/2006/relationships/image" Target="NULL"/><Relationship Id="rId2"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NULL"/><Relationship Id="rId9" Type="http://schemas.openxmlformats.org/officeDocument/2006/relationships/image" Target="NULL"/></Relationships>
</file>

<file path=ppt/slides/_rels/slide13.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NULL"/><Relationship Id="rId7" Type="http://schemas.openxmlformats.org/officeDocument/2006/relationships/image" Target="NULL"/><Relationship Id="rId2" Type="http://schemas.openxmlformats.org/officeDocument/2006/relationships/image" Target="../media/image48.png"/><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NULL"/><Relationship Id="rId9" Type="http://schemas.openxmlformats.org/officeDocument/2006/relationships/image" Target="NULL"/></Relationships>
</file>

<file path=ppt/slides/_rels/slide14.xml.rels><?xml version="1.0" encoding="UTF-8" standalone="yes"?>
<Relationships xmlns="http://schemas.openxmlformats.org/package/2006/relationships"><Relationship Id="rId3" Type="http://schemas.openxmlformats.org/officeDocument/2006/relationships/image" Target="../media/image250.png"/><Relationship Id="rId7"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 Id="rId6" Type="http://schemas.openxmlformats.org/officeDocument/2006/relationships/image" Target="../media/image96.png"/><Relationship Id="rId5" Type="http://schemas.openxmlformats.org/officeDocument/2006/relationships/image" Target="../media/image95.png"/><Relationship Id="rId4" Type="http://schemas.openxmlformats.org/officeDocument/2006/relationships/image" Target="../media/image94.png"/></Relationships>
</file>

<file path=ppt/slides/_rels/slide15.xml.rels><?xml version="1.0" encoding="UTF-8" standalone="yes"?>
<Relationships xmlns="http://schemas.openxmlformats.org/package/2006/relationships"><Relationship Id="rId3" Type="http://schemas.openxmlformats.org/officeDocument/2006/relationships/image" Target="../media/image106.png"/><Relationship Id="rId7"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 Id="rId6" Type="http://schemas.openxmlformats.org/officeDocument/2006/relationships/image" Target="../media/image109.png"/><Relationship Id="rId5" Type="http://schemas.openxmlformats.org/officeDocument/2006/relationships/image" Target="../media/image108.png"/><Relationship Id="rId4" Type="http://schemas.openxmlformats.org/officeDocument/2006/relationships/image" Target="../media/image107.png"/></Relationships>
</file>

<file path=ppt/slides/_rels/slide16.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customXml" Target="../ink/ink1.xml"/><Relationship Id="rId7" Type="http://schemas.openxmlformats.org/officeDocument/2006/relationships/image" Target="../media/image56.png"/><Relationship Id="rId12" Type="http://schemas.openxmlformats.org/officeDocument/2006/relationships/image" Target="../media/image80.png"/><Relationship Id="rId2" Type="http://schemas.openxmlformats.org/officeDocument/2006/relationships/image" Target="../media/image53.png"/><Relationship Id="rId1" Type="http://schemas.openxmlformats.org/officeDocument/2006/relationships/slideLayout" Target="../slideLayouts/slideLayout1.xml"/><Relationship Id="rId6" Type="http://schemas.openxmlformats.org/officeDocument/2006/relationships/image" Target="../media/image55.emf"/><Relationship Id="rId11" Type="http://schemas.openxmlformats.org/officeDocument/2006/relationships/image" Target="../media/image79.png"/><Relationship Id="rId5" Type="http://schemas.openxmlformats.org/officeDocument/2006/relationships/customXml" Target="../ink/ink2.xml"/><Relationship Id="rId10" Type="http://schemas.openxmlformats.org/officeDocument/2006/relationships/image" Target="../media/image73.png"/><Relationship Id="rId4" Type="http://schemas.openxmlformats.org/officeDocument/2006/relationships/image" Target="../media/image54.emf"/><Relationship Id="rId9" Type="http://schemas.openxmlformats.org/officeDocument/2006/relationships/image" Target="../media/image6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1" y="0"/>
            <a:ext cx="2939544" cy="461665"/>
          </a:xfrm>
          <a:prstGeom prst="rect">
            <a:avLst/>
          </a:prstGeom>
          <a:solidFill>
            <a:srgbClr val="FFFF00"/>
          </a:solidFill>
        </p:spPr>
        <p:txBody>
          <a:bodyPr wrap="square" rtlCol="0">
            <a:spAutoFit/>
          </a:bodyPr>
          <a:lstStyle/>
          <a:p>
            <a:r>
              <a:rPr lang="en-AU" sz="2400" dirty="0" smtClean="0"/>
              <a:t>Right angled triangles</a:t>
            </a:r>
            <a:endParaRPr lang="en-AU" sz="2400" dirty="0"/>
          </a:p>
        </p:txBody>
      </p:sp>
      <p:pic>
        <p:nvPicPr>
          <p:cNvPr id="4" name="Picture 3"/>
          <p:cNvPicPr>
            <a:picLocks noChangeAspect="1"/>
          </p:cNvPicPr>
          <p:nvPr/>
        </p:nvPicPr>
        <p:blipFill>
          <a:blip r:embed="rId2"/>
          <a:stretch>
            <a:fillRect/>
          </a:stretch>
        </p:blipFill>
        <p:spPr>
          <a:xfrm>
            <a:off x="64243" y="1713856"/>
            <a:ext cx="5476758" cy="2753550"/>
          </a:xfrm>
          <a:prstGeom prst="rect">
            <a:avLst/>
          </a:prstGeom>
        </p:spPr>
      </p:pic>
      <p:sp>
        <p:nvSpPr>
          <p:cNvPr id="6" name="TextBox 5"/>
          <p:cNvSpPr txBox="1"/>
          <p:nvPr/>
        </p:nvSpPr>
        <p:spPr>
          <a:xfrm>
            <a:off x="140245" y="605860"/>
            <a:ext cx="10092059" cy="1107996"/>
          </a:xfrm>
          <a:prstGeom prst="rect">
            <a:avLst/>
          </a:prstGeom>
          <a:noFill/>
        </p:spPr>
        <p:txBody>
          <a:bodyPr wrap="square" rtlCol="0">
            <a:spAutoFit/>
          </a:bodyPr>
          <a:lstStyle/>
          <a:p>
            <a:r>
              <a:rPr lang="en-AU" sz="2200" dirty="0" smtClean="0"/>
              <a:t>The four triangles all have a common angle of 25 degrees, a right angle and therefore a matching angle of 65 degrees each. Each triangle is an enlargement or a reduction of all the other triangles. We know that this means the triangles are similar.</a:t>
            </a:r>
            <a:endParaRPr lang="en-AU" sz="2200" dirty="0"/>
          </a:p>
        </p:txBody>
      </p:sp>
      <mc:AlternateContent xmlns:mc="http://schemas.openxmlformats.org/markup-compatibility/2006">
        <mc:Choice xmlns:a14="http://schemas.microsoft.com/office/drawing/2010/main" Requires="a14">
          <p:sp>
            <p:nvSpPr>
              <p:cNvPr id="8" name="TextBox 7"/>
              <p:cNvSpPr txBox="1"/>
              <p:nvPr/>
            </p:nvSpPr>
            <p:spPr>
              <a:xfrm>
                <a:off x="5469570" y="1858051"/>
                <a:ext cx="6454093" cy="4748095"/>
              </a:xfrm>
              <a:prstGeom prst="rect">
                <a:avLst/>
              </a:prstGeom>
              <a:noFill/>
            </p:spPr>
            <p:txBody>
              <a:bodyPr wrap="square" rtlCol="0">
                <a:spAutoFit/>
              </a:bodyPr>
              <a:lstStyle/>
              <a:p>
                <a:r>
                  <a:rPr lang="en-AU" sz="2200" dirty="0" smtClean="0"/>
                  <a:t>If we measure the length of ED and the length of OD, we get:</a:t>
                </a:r>
              </a:p>
              <a:p>
                <a:endParaRPr lang="en-AU" sz="2200" dirty="0"/>
              </a:p>
              <a:p>
                <a:pPr/>
                <a14:m>
                  <m:oMathPara xmlns:m="http://schemas.openxmlformats.org/officeDocument/2006/math">
                    <m:oMathParaPr>
                      <m:jc m:val="left"/>
                    </m:oMathParaPr>
                    <m:oMath xmlns:m="http://schemas.openxmlformats.org/officeDocument/2006/math">
                      <m:f>
                        <m:fPr>
                          <m:ctrlPr>
                            <a:rPr lang="en-AU" sz="2200" i="1" smtClean="0">
                              <a:latin typeface="Cambria Math" panose="02040503050406030204" pitchFamily="18" charset="0"/>
                            </a:rPr>
                          </m:ctrlPr>
                        </m:fPr>
                        <m:num>
                          <m:r>
                            <a:rPr lang="en-AU" sz="2200" b="0" i="1" smtClean="0">
                              <a:latin typeface="Cambria Math" panose="02040503050406030204" pitchFamily="18" charset="0"/>
                            </a:rPr>
                            <m:t>𝐸𝐷</m:t>
                          </m:r>
                        </m:num>
                        <m:den>
                          <m:r>
                            <a:rPr lang="en-AU" sz="2200" b="0" i="1" smtClean="0">
                              <a:latin typeface="Cambria Math" panose="02040503050406030204" pitchFamily="18" charset="0"/>
                            </a:rPr>
                            <m:t>𝑂𝐷</m:t>
                          </m:r>
                        </m:den>
                      </m:f>
                      <m:r>
                        <a:rPr lang="en-AU" sz="2200" i="1" smtClean="0">
                          <a:latin typeface="Cambria Math" panose="02040503050406030204" pitchFamily="18" charset="0"/>
                          <a:ea typeface="Cambria Math" panose="02040503050406030204" pitchFamily="18" charset="0"/>
                        </a:rPr>
                        <m:t>≈</m:t>
                      </m:r>
                      <m:r>
                        <a:rPr lang="en-AU" sz="2200" b="0" i="1" smtClean="0">
                          <a:latin typeface="Cambria Math" panose="02040503050406030204" pitchFamily="18" charset="0"/>
                          <a:ea typeface="Cambria Math" panose="02040503050406030204" pitchFamily="18" charset="0"/>
                        </a:rPr>
                        <m:t>0.47</m:t>
                      </m:r>
                    </m:oMath>
                  </m:oMathPara>
                </a14:m>
                <a:endParaRPr lang="en-AU" sz="2200" dirty="0" smtClean="0"/>
              </a:p>
              <a:p>
                <a:pPr/>
                <a:endParaRPr lang="en-AU" sz="2200" dirty="0"/>
              </a:p>
              <a:p>
                <a:pPr/>
                <a:r>
                  <a:rPr lang="en-AU" sz="2200" dirty="0" smtClean="0"/>
                  <a:t>If we measure the length of FC and the length of OC, we get:</a:t>
                </a:r>
              </a:p>
              <a:p>
                <a:pPr/>
                <a:endParaRPr lang="en-AU" sz="2200" dirty="0"/>
              </a:p>
              <a:p>
                <a:pPr/>
                <a14:m>
                  <m:oMathPara xmlns:m="http://schemas.openxmlformats.org/officeDocument/2006/math">
                    <m:oMathParaPr>
                      <m:jc m:val="left"/>
                    </m:oMathParaPr>
                    <m:oMath xmlns:m="http://schemas.openxmlformats.org/officeDocument/2006/math">
                      <m:f>
                        <m:fPr>
                          <m:ctrlPr>
                            <a:rPr lang="en-AU" sz="2200" i="1" smtClean="0">
                              <a:latin typeface="Cambria Math" panose="02040503050406030204" pitchFamily="18" charset="0"/>
                            </a:rPr>
                          </m:ctrlPr>
                        </m:fPr>
                        <m:num>
                          <m:r>
                            <a:rPr lang="en-AU" sz="2200" b="0" i="1" smtClean="0">
                              <a:latin typeface="Cambria Math" panose="02040503050406030204" pitchFamily="18" charset="0"/>
                            </a:rPr>
                            <m:t>𝐹𝐶</m:t>
                          </m:r>
                        </m:num>
                        <m:den>
                          <m:r>
                            <a:rPr lang="en-AU" sz="2200" b="0" i="1" smtClean="0">
                              <a:latin typeface="Cambria Math" panose="02040503050406030204" pitchFamily="18" charset="0"/>
                            </a:rPr>
                            <m:t>𝑂𝐶</m:t>
                          </m:r>
                        </m:den>
                      </m:f>
                      <m:r>
                        <a:rPr lang="en-AU" sz="2200" i="1" smtClean="0">
                          <a:latin typeface="Cambria Math" panose="02040503050406030204" pitchFamily="18" charset="0"/>
                          <a:ea typeface="Cambria Math" panose="02040503050406030204" pitchFamily="18" charset="0"/>
                        </a:rPr>
                        <m:t>≈</m:t>
                      </m:r>
                      <m:r>
                        <a:rPr lang="en-AU" sz="2200" b="0" i="1" smtClean="0">
                          <a:latin typeface="Cambria Math" panose="02040503050406030204" pitchFamily="18" charset="0"/>
                          <a:ea typeface="Cambria Math" panose="02040503050406030204" pitchFamily="18" charset="0"/>
                        </a:rPr>
                        <m:t>0.47</m:t>
                      </m:r>
                    </m:oMath>
                  </m:oMathPara>
                </a14:m>
                <a:endParaRPr lang="en-AU" sz="2200" dirty="0" smtClean="0"/>
              </a:p>
              <a:p>
                <a:pPr/>
                <a:endParaRPr lang="en-AU" sz="2200" dirty="0"/>
              </a:p>
              <a:p>
                <a:pPr/>
                <a:endParaRPr lang="en-AU" sz="2200" dirty="0" smtClean="0"/>
              </a:p>
              <a:p>
                <a:pPr/>
                <a:r>
                  <a:rPr lang="en-AU" sz="2200" dirty="0" smtClean="0"/>
                  <a:t>Etc.</a:t>
                </a:r>
                <a:endParaRPr lang="en-AU" sz="2200" dirty="0"/>
              </a:p>
            </p:txBody>
          </p:sp>
        </mc:Choice>
        <mc:Fallback>
          <p:sp>
            <p:nvSpPr>
              <p:cNvPr id="8" name="TextBox 7"/>
              <p:cNvSpPr txBox="1">
                <a:spLocks noRot="1" noChangeAspect="1" noMove="1" noResize="1" noEditPoints="1" noAdjustHandles="1" noChangeArrowheads="1" noChangeShapeType="1" noTextEdit="1"/>
              </p:cNvSpPr>
              <p:nvPr/>
            </p:nvSpPr>
            <p:spPr>
              <a:xfrm>
                <a:off x="5469570" y="1858051"/>
                <a:ext cx="6454093" cy="4748095"/>
              </a:xfrm>
              <a:prstGeom prst="rect">
                <a:avLst/>
              </a:prstGeom>
              <a:blipFill>
                <a:blip r:embed="rId3"/>
                <a:stretch>
                  <a:fillRect l="-1228" t="-899" b="-1540"/>
                </a:stretch>
              </a:blipFill>
            </p:spPr>
            <p:txBody>
              <a:bodyPr/>
              <a:lstStyle/>
              <a:p>
                <a:r>
                  <a:rPr lang="en-AU">
                    <a:noFill/>
                  </a:rPr>
                  <a:t> </a:t>
                </a:r>
              </a:p>
            </p:txBody>
          </p:sp>
        </mc:Fallback>
      </mc:AlternateContent>
    </p:spTree>
    <p:extLst>
      <p:ext uri="{BB962C8B-B14F-4D97-AF65-F5344CB8AC3E}">
        <p14:creationId xmlns:p14="http://schemas.microsoft.com/office/powerpoint/2010/main" val="4183211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1" y="0"/>
            <a:ext cx="2939544" cy="461665"/>
          </a:xfrm>
          <a:prstGeom prst="rect">
            <a:avLst/>
          </a:prstGeom>
          <a:solidFill>
            <a:srgbClr val="FFFF00"/>
          </a:solidFill>
        </p:spPr>
        <p:txBody>
          <a:bodyPr wrap="square" rtlCol="0">
            <a:spAutoFit/>
          </a:bodyPr>
          <a:lstStyle/>
          <a:p>
            <a:r>
              <a:rPr lang="en-AU" sz="2400" dirty="0" smtClean="0"/>
              <a:t>Right angled triangles</a:t>
            </a:r>
            <a:endParaRPr lang="en-AU" sz="2400" dirty="0"/>
          </a:p>
        </p:txBody>
      </p:sp>
      <p:pic>
        <p:nvPicPr>
          <p:cNvPr id="5" name="Picture 4"/>
          <p:cNvPicPr>
            <a:picLocks noChangeAspect="1"/>
          </p:cNvPicPr>
          <p:nvPr/>
        </p:nvPicPr>
        <p:blipFill>
          <a:blip r:embed="rId2"/>
          <a:stretch>
            <a:fillRect/>
          </a:stretch>
        </p:blipFill>
        <p:spPr>
          <a:xfrm>
            <a:off x="566620" y="892400"/>
            <a:ext cx="3552825" cy="1781175"/>
          </a:xfrm>
          <a:prstGeom prst="rect">
            <a:avLst/>
          </a:prstGeom>
        </p:spPr>
      </p:pic>
      <p:sp>
        <p:nvSpPr>
          <p:cNvPr id="7" name="TextBox 6"/>
          <p:cNvSpPr txBox="1"/>
          <p:nvPr/>
        </p:nvSpPr>
        <p:spPr>
          <a:xfrm>
            <a:off x="325369" y="3041922"/>
            <a:ext cx="11348658" cy="3139321"/>
          </a:xfrm>
          <a:prstGeom prst="rect">
            <a:avLst/>
          </a:prstGeom>
          <a:noFill/>
        </p:spPr>
        <p:txBody>
          <a:bodyPr wrap="square" rtlCol="0">
            <a:spAutoFit/>
          </a:bodyPr>
          <a:lstStyle/>
          <a:p>
            <a:r>
              <a:rPr lang="en-AU" sz="2200" dirty="0" smtClean="0"/>
              <a:t>For any right-angled triangle we can draw with angles of 25°, 90° and 65°, the side opposite the 25° angle divided by the side in between the 25° angle and the right angle will always give an approximate value of 0.47.</a:t>
            </a:r>
          </a:p>
          <a:p>
            <a:endParaRPr lang="en-AU" sz="2200" dirty="0"/>
          </a:p>
          <a:p>
            <a:r>
              <a:rPr lang="en-AU" sz="2200" dirty="0" smtClean="0"/>
              <a:t>We call this ratio the tangent of 25°, or tan 25°.</a:t>
            </a:r>
          </a:p>
          <a:p>
            <a:endParaRPr lang="en-AU" sz="2200" dirty="0"/>
          </a:p>
          <a:p>
            <a:endParaRPr lang="en-AU" sz="2200" dirty="0" smtClean="0"/>
          </a:p>
          <a:p>
            <a:r>
              <a:rPr lang="en-AU" sz="2200" dirty="0" smtClean="0"/>
              <a:t>For any set of similar right-angled triangles we draw, the same two sides would provide a common ratio (the tangent of the angle).</a:t>
            </a:r>
            <a:endParaRPr lang="en-AU" sz="2200" dirty="0"/>
          </a:p>
        </p:txBody>
      </p:sp>
      <p:pic>
        <p:nvPicPr>
          <p:cNvPr id="8" name="Picture 7"/>
          <p:cNvPicPr>
            <a:picLocks noChangeAspect="1"/>
          </p:cNvPicPr>
          <p:nvPr/>
        </p:nvPicPr>
        <p:blipFill>
          <a:blip r:embed="rId3"/>
          <a:stretch>
            <a:fillRect/>
          </a:stretch>
        </p:blipFill>
        <p:spPr>
          <a:xfrm>
            <a:off x="4614630" y="2075123"/>
            <a:ext cx="3171795" cy="598452"/>
          </a:xfrm>
          <a:prstGeom prst="rect">
            <a:avLst/>
          </a:prstGeom>
        </p:spPr>
      </p:pic>
      <p:pic>
        <p:nvPicPr>
          <p:cNvPr id="10" name="Picture 9"/>
          <p:cNvPicPr>
            <a:picLocks noChangeAspect="1"/>
          </p:cNvPicPr>
          <p:nvPr/>
        </p:nvPicPr>
        <p:blipFill>
          <a:blip r:embed="rId4"/>
          <a:stretch>
            <a:fillRect/>
          </a:stretch>
        </p:blipFill>
        <p:spPr>
          <a:xfrm>
            <a:off x="4558531" y="394358"/>
            <a:ext cx="3283992" cy="1496592"/>
          </a:xfrm>
          <a:prstGeom prst="rect">
            <a:avLst/>
          </a:prstGeom>
        </p:spPr>
      </p:pic>
    </p:spTree>
    <p:extLst>
      <p:ext uri="{BB962C8B-B14F-4D97-AF65-F5344CB8AC3E}">
        <p14:creationId xmlns:p14="http://schemas.microsoft.com/office/powerpoint/2010/main" val="1599489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1" y="0"/>
            <a:ext cx="1884898" cy="461665"/>
          </a:xfrm>
          <a:prstGeom prst="rect">
            <a:avLst/>
          </a:prstGeom>
          <a:solidFill>
            <a:srgbClr val="FFFF00"/>
          </a:solidFill>
        </p:spPr>
        <p:txBody>
          <a:bodyPr wrap="square" rtlCol="0">
            <a:spAutoFit/>
          </a:bodyPr>
          <a:lstStyle/>
          <a:p>
            <a:r>
              <a:rPr lang="en-AU" sz="2400" dirty="0" smtClean="0"/>
              <a:t>Trigonometry</a:t>
            </a:r>
            <a:endParaRPr lang="en-AU" sz="2400" dirty="0"/>
          </a:p>
        </p:txBody>
      </p:sp>
      <p:sp>
        <p:nvSpPr>
          <p:cNvPr id="3" name="TextBox 2"/>
          <p:cNvSpPr txBox="1"/>
          <p:nvPr/>
        </p:nvSpPr>
        <p:spPr>
          <a:xfrm>
            <a:off x="112196" y="577811"/>
            <a:ext cx="9632054" cy="1107996"/>
          </a:xfrm>
          <a:prstGeom prst="rect">
            <a:avLst/>
          </a:prstGeom>
          <a:noFill/>
        </p:spPr>
        <p:txBody>
          <a:bodyPr wrap="square" rtlCol="0">
            <a:spAutoFit/>
          </a:bodyPr>
          <a:lstStyle/>
          <a:p>
            <a:r>
              <a:rPr lang="en-AU" sz="2200" dirty="0" smtClean="0"/>
              <a:t>The tangent of an angle is one of three ratios commonly used in trigonometry.</a:t>
            </a:r>
          </a:p>
          <a:p>
            <a:endParaRPr lang="en-AU" sz="2200" dirty="0"/>
          </a:p>
          <a:p>
            <a:r>
              <a:rPr lang="en-AU" sz="2200" dirty="0" smtClean="0"/>
              <a:t>The three ratios are sine (sin), cosine (cos) and tangent (tan). </a:t>
            </a:r>
            <a:endParaRPr lang="en-AU" sz="2200" dirty="0"/>
          </a:p>
        </p:txBody>
      </p:sp>
      <p:pic>
        <p:nvPicPr>
          <p:cNvPr id="5" name="Picture 4"/>
          <p:cNvPicPr>
            <a:picLocks noChangeAspect="1"/>
          </p:cNvPicPr>
          <p:nvPr/>
        </p:nvPicPr>
        <p:blipFill>
          <a:blip r:embed="rId2"/>
          <a:stretch>
            <a:fillRect/>
          </a:stretch>
        </p:blipFill>
        <p:spPr>
          <a:xfrm>
            <a:off x="230061" y="1856849"/>
            <a:ext cx="3393880" cy="1845216"/>
          </a:xfrm>
          <a:prstGeom prst="rect">
            <a:avLst/>
          </a:prstGeom>
        </p:spPr>
      </p:pic>
      <mc:AlternateContent xmlns:mc="http://schemas.openxmlformats.org/markup-compatibility/2006">
        <mc:Choice xmlns:a14="http://schemas.microsoft.com/office/drawing/2010/main" Requires="a14">
          <p:sp>
            <p:nvSpPr>
              <p:cNvPr id="6" name="TextBox 5"/>
              <p:cNvSpPr txBox="1"/>
              <p:nvPr/>
            </p:nvSpPr>
            <p:spPr>
              <a:xfrm>
                <a:off x="230061" y="3873107"/>
                <a:ext cx="2804849" cy="723981"/>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func>
                        <m:funcPr>
                          <m:ctrlPr>
                            <a:rPr lang="en-AU" sz="2200" b="0" i="1" smtClean="0">
                              <a:latin typeface="Cambria Math" panose="02040503050406030204" pitchFamily="18" charset="0"/>
                            </a:rPr>
                          </m:ctrlPr>
                        </m:funcPr>
                        <m:fName>
                          <m:r>
                            <m:rPr>
                              <m:sty m:val="p"/>
                            </m:rPr>
                            <a:rPr lang="en-AU" sz="2200" b="0" i="0" smtClean="0">
                              <a:latin typeface="Cambria Math" panose="02040503050406030204" pitchFamily="18" charset="0"/>
                            </a:rPr>
                            <m:t>tan</m:t>
                          </m:r>
                        </m:fName>
                        <m:e>
                          <m:r>
                            <a:rPr lang="en-AU" sz="2200" b="0" i="1" smtClean="0">
                              <a:latin typeface="Cambria Math" panose="02040503050406030204" pitchFamily="18" charset="0"/>
                            </a:rPr>
                            <m:t>25</m:t>
                          </m:r>
                          <m:r>
                            <a:rPr lang="en-AU" sz="2200" b="0" i="1" smtClean="0">
                              <a:latin typeface="Cambria Math" panose="02040503050406030204" pitchFamily="18" charset="0"/>
                              <a:ea typeface="Cambria Math" panose="02040503050406030204" pitchFamily="18" charset="0"/>
                            </a:rPr>
                            <m:t>°</m:t>
                          </m:r>
                        </m:e>
                      </m:func>
                      <m:r>
                        <a:rPr lang="en-AU" sz="2200" b="0" i="1" smtClean="0">
                          <a:latin typeface="Cambria Math" panose="02040503050406030204" pitchFamily="18" charset="0"/>
                        </a:rPr>
                        <m:t>=</m:t>
                      </m:r>
                      <m:f>
                        <m:fPr>
                          <m:ctrlPr>
                            <a:rPr lang="en-AU" sz="2200" i="1" smtClean="0">
                              <a:latin typeface="Cambria Math" panose="02040503050406030204" pitchFamily="18" charset="0"/>
                            </a:rPr>
                          </m:ctrlPr>
                        </m:fPr>
                        <m:num>
                          <m:r>
                            <a:rPr lang="en-AU" sz="2200" b="0" i="1" smtClean="0">
                              <a:latin typeface="Cambria Math" panose="02040503050406030204" pitchFamily="18" charset="0"/>
                            </a:rPr>
                            <m:t>𝑍𝑌</m:t>
                          </m:r>
                        </m:num>
                        <m:den>
                          <m:r>
                            <a:rPr lang="en-AU" sz="2200" b="0" i="1" smtClean="0">
                              <a:latin typeface="Cambria Math" panose="02040503050406030204" pitchFamily="18" charset="0"/>
                            </a:rPr>
                            <m:t>𝑋𝑌</m:t>
                          </m:r>
                        </m:den>
                      </m:f>
                      <m:r>
                        <a:rPr lang="en-AU" sz="2200" i="1" smtClean="0">
                          <a:latin typeface="Cambria Math" panose="02040503050406030204" pitchFamily="18" charset="0"/>
                          <a:ea typeface="Cambria Math" panose="02040503050406030204" pitchFamily="18" charset="0"/>
                        </a:rPr>
                        <m:t>≈</m:t>
                      </m:r>
                      <m:r>
                        <a:rPr lang="en-AU" sz="2200" b="0" i="1" smtClean="0">
                          <a:latin typeface="Cambria Math" panose="02040503050406030204" pitchFamily="18" charset="0"/>
                          <a:ea typeface="Cambria Math" panose="02040503050406030204" pitchFamily="18" charset="0"/>
                        </a:rPr>
                        <m:t>0.47</m:t>
                      </m:r>
                    </m:oMath>
                  </m:oMathPara>
                </a14:m>
                <a:endParaRPr lang="en-AU" sz="2200" dirty="0"/>
              </a:p>
            </p:txBody>
          </p:sp>
        </mc:Choice>
        <mc:Fallback>
          <p:sp>
            <p:nvSpPr>
              <p:cNvPr id="6" name="TextBox 5"/>
              <p:cNvSpPr txBox="1">
                <a:spLocks noRot="1" noChangeAspect="1" noMove="1" noResize="1" noEditPoints="1" noAdjustHandles="1" noChangeArrowheads="1" noChangeShapeType="1" noTextEdit="1"/>
              </p:cNvSpPr>
              <p:nvPr/>
            </p:nvSpPr>
            <p:spPr>
              <a:xfrm>
                <a:off x="230061" y="3873107"/>
                <a:ext cx="2804849" cy="723981"/>
              </a:xfrm>
              <a:prstGeom prst="rect">
                <a:avLst/>
              </a:prstGeom>
              <a:blipFill>
                <a:blip r:embed="rId3"/>
                <a:stretch>
                  <a:fillRect/>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8" name="TextBox 7"/>
              <p:cNvSpPr txBox="1"/>
              <p:nvPr/>
            </p:nvSpPr>
            <p:spPr>
              <a:xfrm>
                <a:off x="230060" y="4767916"/>
                <a:ext cx="2804849" cy="723981"/>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func>
                        <m:funcPr>
                          <m:ctrlPr>
                            <a:rPr lang="en-AU" sz="2200" b="0" i="1" smtClean="0">
                              <a:latin typeface="Cambria Math" panose="02040503050406030204" pitchFamily="18" charset="0"/>
                            </a:rPr>
                          </m:ctrlPr>
                        </m:funcPr>
                        <m:fName>
                          <m:r>
                            <m:rPr>
                              <m:sty m:val="p"/>
                            </m:rPr>
                            <a:rPr lang="en-AU" sz="2200" b="0" i="0" smtClean="0">
                              <a:latin typeface="Cambria Math" panose="02040503050406030204" pitchFamily="18" charset="0"/>
                            </a:rPr>
                            <m:t>sin</m:t>
                          </m:r>
                        </m:fName>
                        <m:e>
                          <m:r>
                            <a:rPr lang="en-AU" sz="2200" b="0" i="1" smtClean="0">
                              <a:latin typeface="Cambria Math" panose="02040503050406030204" pitchFamily="18" charset="0"/>
                            </a:rPr>
                            <m:t>25</m:t>
                          </m:r>
                          <m:r>
                            <a:rPr lang="en-AU" sz="2200" b="0" i="1" smtClean="0">
                              <a:latin typeface="Cambria Math" panose="02040503050406030204" pitchFamily="18" charset="0"/>
                              <a:ea typeface="Cambria Math" panose="02040503050406030204" pitchFamily="18" charset="0"/>
                            </a:rPr>
                            <m:t>°</m:t>
                          </m:r>
                        </m:e>
                      </m:func>
                      <m:r>
                        <a:rPr lang="en-AU" sz="2200" b="0" i="1" smtClean="0">
                          <a:latin typeface="Cambria Math" panose="02040503050406030204" pitchFamily="18" charset="0"/>
                        </a:rPr>
                        <m:t>=</m:t>
                      </m:r>
                      <m:f>
                        <m:fPr>
                          <m:ctrlPr>
                            <a:rPr lang="en-AU" sz="2200" i="1" smtClean="0">
                              <a:latin typeface="Cambria Math" panose="02040503050406030204" pitchFamily="18" charset="0"/>
                            </a:rPr>
                          </m:ctrlPr>
                        </m:fPr>
                        <m:num>
                          <m:r>
                            <a:rPr lang="en-AU" sz="2200" b="0" i="1" smtClean="0">
                              <a:latin typeface="Cambria Math" panose="02040503050406030204" pitchFamily="18" charset="0"/>
                            </a:rPr>
                            <m:t>𝑍𝑌</m:t>
                          </m:r>
                        </m:num>
                        <m:den>
                          <m:r>
                            <a:rPr lang="en-AU" sz="2200" b="0" i="1" smtClean="0">
                              <a:latin typeface="Cambria Math" panose="02040503050406030204" pitchFamily="18" charset="0"/>
                            </a:rPr>
                            <m:t>𝑋𝑍</m:t>
                          </m:r>
                        </m:den>
                      </m:f>
                      <m:r>
                        <a:rPr lang="en-AU" sz="2200" i="1" smtClean="0">
                          <a:latin typeface="Cambria Math" panose="02040503050406030204" pitchFamily="18" charset="0"/>
                          <a:ea typeface="Cambria Math" panose="02040503050406030204" pitchFamily="18" charset="0"/>
                        </a:rPr>
                        <m:t>≈</m:t>
                      </m:r>
                      <m:r>
                        <a:rPr lang="en-AU" sz="2200" b="0" i="1" smtClean="0">
                          <a:latin typeface="Cambria Math" panose="02040503050406030204" pitchFamily="18" charset="0"/>
                          <a:ea typeface="Cambria Math" panose="02040503050406030204" pitchFamily="18" charset="0"/>
                        </a:rPr>
                        <m:t>0.42</m:t>
                      </m:r>
                    </m:oMath>
                  </m:oMathPara>
                </a14:m>
                <a:endParaRPr lang="en-AU" sz="2200" dirty="0"/>
              </a:p>
            </p:txBody>
          </p:sp>
        </mc:Choice>
        <mc:Fallback>
          <p:sp>
            <p:nvSpPr>
              <p:cNvPr id="8" name="TextBox 7"/>
              <p:cNvSpPr txBox="1">
                <a:spLocks noRot="1" noChangeAspect="1" noMove="1" noResize="1" noEditPoints="1" noAdjustHandles="1" noChangeArrowheads="1" noChangeShapeType="1" noTextEdit="1"/>
              </p:cNvSpPr>
              <p:nvPr/>
            </p:nvSpPr>
            <p:spPr>
              <a:xfrm>
                <a:off x="230060" y="4767916"/>
                <a:ext cx="2804849" cy="723981"/>
              </a:xfrm>
              <a:prstGeom prst="rect">
                <a:avLst/>
              </a:prstGeom>
              <a:blipFill>
                <a:blip r:embed="rId4"/>
                <a:stretch>
                  <a:fillRect/>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9" name="TextBox 8"/>
              <p:cNvSpPr txBox="1"/>
              <p:nvPr/>
            </p:nvSpPr>
            <p:spPr>
              <a:xfrm>
                <a:off x="230059" y="5662725"/>
                <a:ext cx="2804849" cy="723981"/>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func>
                        <m:funcPr>
                          <m:ctrlPr>
                            <a:rPr lang="en-AU" sz="2200" b="0" i="1" smtClean="0">
                              <a:latin typeface="Cambria Math" panose="02040503050406030204" pitchFamily="18" charset="0"/>
                            </a:rPr>
                          </m:ctrlPr>
                        </m:funcPr>
                        <m:fName>
                          <m:r>
                            <m:rPr>
                              <m:sty m:val="p"/>
                            </m:rPr>
                            <a:rPr lang="en-AU" sz="2200" b="0" i="0" smtClean="0">
                              <a:latin typeface="Cambria Math" panose="02040503050406030204" pitchFamily="18" charset="0"/>
                            </a:rPr>
                            <m:t>cos</m:t>
                          </m:r>
                        </m:fName>
                        <m:e>
                          <m:r>
                            <a:rPr lang="en-AU" sz="2200" b="0" i="1" smtClean="0">
                              <a:latin typeface="Cambria Math" panose="02040503050406030204" pitchFamily="18" charset="0"/>
                            </a:rPr>
                            <m:t>25</m:t>
                          </m:r>
                          <m:r>
                            <a:rPr lang="en-AU" sz="2200" b="0" i="1" smtClean="0">
                              <a:latin typeface="Cambria Math" panose="02040503050406030204" pitchFamily="18" charset="0"/>
                              <a:ea typeface="Cambria Math" panose="02040503050406030204" pitchFamily="18" charset="0"/>
                            </a:rPr>
                            <m:t>°</m:t>
                          </m:r>
                        </m:e>
                      </m:func>
                      <m:r>
                        <a:rPr lang="en-AU" sz="2200" b="0" i="1" smtClean="0">
                          <a:latin typeface="Cambria Math" panose="02040503050406030204" pitchFamily="18" charset="0"/>
                        </a:rPr>
                        <m:t>=</m:t>
                      </m:r>
                      <m:f>
                        <m:fPr>
                          <m:ctrlPr>
                            <a:rPr lang="en-AU" sz="2200" i="1" smtClean="0">
                              <a:latin typeface="Cambria Math" panose="02040503050406030204" pitchFamily="18" charset="0"/>
                            </a:rPr>
                          </m:ctrlPr>
                        </m:fPr>
                        <m:num>
                          <m:r>
                            <a:rPr lang="en-AU" sz="2200" b="0" i="1" smtClean="0">
                              <a:latin typeface="Cambria Math" panose="02040503050406030204" pitchFamily="18" charset="0"/>
                            </a:rPr>
                            <m:t>𝑋𝑌</m:t>
                          </m:r>
                        </m:num>
                        <m:den>
                          <m:r>
                            <a:rPr lang="en-AU" sz="2200" b="0" i="1" smtClean="0">
                              <a:latin typeface="Cambria Math" panose="02040503050406030204" pitchFamily="18" charset="0"/>
                            </a:rPr>
                            <m:t>𝑋𝑍</m:t>
                          </m:r>
                        </m:den>
                      </m:f>
                      <m:r>
                        <a:rPr lang="en-AU" sz="2200" i="1" smtClean="0">
                          <a:latin typeface="Cambria Math" panose="02040503050406030204" pitchFamily="18" charset="0"/>
                          <a:ea typeface="Cambria Math" panose="02040503050406030204" pitchFamily="18" charset="0"/>
                        </a:rPr>
                        <m:t>≈</m:t>
                      </m:r>
                      <m:r>
                        <a:rPr lang="en-AU" sz="2200" b="0" i="1" smtClean="0">
                          <a:latin typeface="Cambria Math" panose="02040503050406030204" pitchFamily="18" charset="0"/>
                          <a:ea typeface="Cambria Math" panose="02040503050406030204" pitchFamily="18" charset="0"/>
                        </a:rPr>
                        <m:t>0.91</m:t>
                      </m:r>
                    </m:oMath>
                  </m:oMathPara>
                </a14:m>
                <a:endParaRPr lang="en-AU" sz="2200" dirty="0"/>
              </a:p>
            </p:txBody>
          </p:sp>
        </mc:Choice>
        <mc:Fallback>
          <p:sp>
            <p:nvSpPr>
              <p:cNvPr id="9" name="TextBox 8"/>
              <p:cNvSpPr txBox="1">
                <a:spLocks noRot="1" noChangeAspect="1" noMove="1" noResize="1" noEditPoints="1" noAdjustHandles="1" noChangeArrowheads="1" noChangeShapeType="1" noTextEdit="1"/>
              </p:cNvSpPr>
              <p:nvPr/>
            </p:nvSpPr>
            <p:spPr>
              <a:xfrm>
                <a:off x="230059" y="5662725"/>
                <a:ext cx="2804849" cy="723981"/>
              </a:xfrm>
              <a:prstGeom prst="rect">
                <a:avLst/>
              </a:prstGeom>
              <a:blipFill>
                <a:blip r:embed="rId5"/>
                <a:stretch>
                  <a:fillRect/>
                </a:stretch>
              </a:blipFill>
            </p:spPr>
            <p:txBody>
              <a:bodyPr/>
              <a:lstStyle/>
              <a:p>
                <a:r>
                  <a:rPr lang="en-AU">
                    <a:noFill/>
                  </a:rPr>
                  <a:t> </a:t>
                </a:r>
              </a:p>
            </p:txBody>
          </p:sp>
        </mc:Fallback>
      </mc:AlternateContent>
      <p:pic>
        <p:nvPicPr>
          <p:cNvPr id="7" name="Picture 6"/>
          <p:cNvPicPr>
            <a:picLocks noChangeAspect="1"/>
          </p:cNvPicPr>
          <p:nvPr/>
        </p:nvPicPr>
        <p:blipFill>
          <a:blip r:embed="rId6"/>
          <a:stretch>
            <a:fillRect/>
          </a:stretch>
        </p:blipFill>
        <p:spPr>
          <a:xfrm>
            <a:off x="3788379" y="4081656"/>
            <a:ext cx="4076700" cy="2305050"/>
          </a:xfrm>
          <a:prstGeom prst="rect">
            <a:avLst/>
          </a:prstGeom>
        </p:spPr>
      </p:pic>
    </p:spTree>
    <p:extLst>
      <p:ext uri="{BB962C8B-B14F-4D97-AF65-F5344CB8AC3E}">
        <p14:creationId xmlns:p14="http://schemas.microsoft.com/office/powerpoint/2010/main" val="579462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graphicFrame>
            <p:nvGraphicFramePr>
              <p:cNvPr id="6" name="Table 5"/>
              <p:cNvGraphicFramePr>
                <a:graphicFrameLocks noGrp="1"/>
              </p:cNvGraphicFramePr>
              <p:nvPr>
                <p:extLst>
                  <p:ext uri="{D42A27DB-BD31-4B8C-83A1-F6EECF244321}">
                    <p14:modId xmlns:p14="http://schemas.microsoft.com/office/powerpoint/2010/main" val="1515778982"/>
                  </p:ext>
                </p:extLst>
              </p:nvPr>
            </p:nvGraphicFramePr>
            <p:xfrm>
              <a:off x="8229600" y="22259"/>
              <a:ext cx="3962400" cy="2377440"/>
            </p:xfrm>
            <a:graphic>
              <a:graphicData uri="http://schemas.openxmlformats.org/drawingml/2006/table">
                <a:tbl>
                  <a:tblPr firstRow="1" bandRow="1">
                    <a:tableStyleId>{21E4AEA4-8DFA-4A89-87EB-49C32662AFE0}</a:tableStyleId>
                  </a:tblPr>
                  <a:tblGrid>
                    <a:gridCol w="3962400">
                      <a:extLst>
                        <a:ext uri="{9D8B030D-6E8A-4147-A177-3AD203B41FA5}">
                          <a16:colId xmlns:a16="http://schemas.microsoft.com/office/drawing/2014/main" val="20000"/>
                        </a:ext>
                      </a:extLst>
                    </a:gridCol>
                  </a:tblGrid>
                  <a:tr h="273159">
                    <a:tc>
                      <a:txBody>
                        <a:bodyPr/>
                        <a:lstStyle/>
                        <a:p>
                          <a:r>
                            <a:rPr lang="en-AU" dirty="0" smtClean="0"/>
                            <a:t>VOCABULARY</a:t>
                          </a:r>
                          <a:endParaRPr lang="en-AU" dirty="0"/>
                        </a:p>
                      </a:txBody>
                      <a:tcPr>
                        <a:solidFill>
                          <a:srgbClr val="9933FF"/>
                        </a:solidFill>
                      </a:tcPr>
                    </a:tc>
                    <a:extLst>
                      <a:ext uri="{0D108BD9-81ED-4DB2-BD59-A6C34878D82A}">
                        <a16:rowId xmlns:a16="http://schemas.microsoft.com/office/drawing/2014/main" val="10000"/>
                      </a:ext>
                    </a:extLst>
                  </a:tr>
                  <a:tr h="493391">
                    <a:tc>
                      <a:txBody>
                        <a:bodyPr/>
                        <a:lstStyle/>
                        <a:p>
                          <a:r>
                            <a:rPr lang="en-AU" b="1" i="0" dirty="0" smtClean="0">
                              <a:solidFill>
                                <a:srgbClr val="FF0000"/>
                              </a:solidFill>
                            </a:rPr>
                            <a:t>Hypotenuse</a:t>
                          </a:r>
                          <a:r>
                            <a:rPr lang="en-AU" i="0" dirty="0" smtClean="0"/>
                            <a:t> – the longest side of</a:t>
                          </a:r>
                          <a:r>
                            <a:rPr lang="en-AU" i="0" baseline="0" dirty="0" smtClean="0"/>
                            <a:t> a right-angled triangle</a:t>
                          </a:r>
                        </a:p>
                        <a:p>
                          <a:pPr marL="0" marR="0" indent="0" algn="l" defTabSz="914400" rtl="0" eaLnBrk="1" fontAlgn="auto" latinLnBrk="0" hangingPunct="1">
                            <a:lnSpc>
                              <a:spcPct val="100000"/>
                            </a:lnSpc>
                            <a:spcBef>
                              <a:spcPts val="0"/>
                            </a:spcBef>
                            <a:spcAft>
                              <a:spcPts val="0"/>
                            </a:spcAft>
                            <a:buClrTx/>
                            <a:buSzTx/>
                            <a:buFontTx/>
                            <a:buNone/>
                            <a:tabLst/>
                            <a:defRPr/>
                          </a:pPr>
                          <a:r>
                            <a:rPr lang="en-AU" b="1" i="0" baseline="0" dirty="0" smtClean="0">
                              <a:solidFill>
                                <a:srgbClr val="FF0000"/>
                              </a:solidFill>
                            </a:rPr>
                            <a:t>Reference angle </a:t>
                          </a:r>
                          <a:r>
                            <a:rPr lang="en-AU" i="0" baseline="0" dirty="0" smtClean="0"/>
                            <a:t>– the marked angle (not the right angle)</a:t>
                          </a:r>
                        </a:p>
                        <a:p>
                          <a:r>
                            <a:rPr lang="en-AU" b="1" i="0" baseline="0" dirty="0" smtClean="0">
                              <a:solidFill>
                                <a:srgbClr val="FF0000"/>
                              </a:solidFill>
                            </a:rPr>
                            <a:t>Opposite</a:t>
                          </a:r>
                          <a:r>
                            <a:rPr lang="en-AU" i="0" baseline="0" dirty="0" smtClean="0"/>
                            <a:t> – opposite the reference angle</a:t>
                          </a:r>
                        </a:p>
                        <a:p>
                          <a:r>
                            <a:rPr lang="en-AU" b="1" i="0" baseline="0" dirty="0" smtClean="0">
                              <a:solidFill>
                                <a:srgbClr val="FF0000"/>
                              </a:solidFill>
                            </a:rPr>
                            <a:t>Adjacent</a:t>
                          </a:r>
                          <a:r>
                            <a:rPr lang="en-AU" i="0" baseline="0" dirty="0" smtClean="0"/>
                            <a:t> – ‘next to’ the reference angle</a:t>
                          </a:r>
                        </a:p>
                        <a:p>
                          <a14:m>
                            <m:oMath xmlns:m="http://schemas.openxmlformats.org/officeDocument/2006/math">
                              <m:r>
                                <a:rPr lang="en-AU" b="1" i="1" baseline="0" smtClean="0">
                                  <a:solidFill>
                                    <a:srgbClr val="FF0000"/>
                                  </a:solidFill>
                                  <a:latin typeface="Cambria Math" panose="02040503050406030204" pitchFamily="18" charset="0"/>
                                  <a:ea typeface="Cambria Math" panose="02040503050406030204" pitchFamily="18" charset="0"/>
                                </a:rPr>
                                <m:t>𝜽</m:t>
                              </m:r>
                            </m:oMath>
                          </a14:m>
                          <a:r>
                            <a:rPr lang="en-AU" b="1" i="0" baseline="0" dirty="0" smtClean="0">
                              <a:solidFill>
                                <a:srgbClr val="FF0000"/>
                              </a:solidFill>
                            </a:rPr>
                            <a:t> </a:t>
                          </a:r>
                          <a:r>
                            <a:rPr lang="en-AU" b="1" i="0" baseline="0" dirty="0" smtClean="0">
                              <a:solidFill>
                                <a:srgbClr val="FF0000"/>
                              </a:solidFill>
                            </a:rPr>
                            <a:t>– theta </a:t>
                          </a:r>
                          <a:r>
                            <a:rPr lang="en-AU" i="0" baseline="0" dirty="0" smtClean="0"/>
                            <a:t>– symbol for reference angle</a:t>
                          </a:r>
                        </a:p>
                      </a:txBody>
                      <a:tcPr>
                        <a:solidFill>
                          <a:srgbClr val="CC99FF"/>
                        </a:solidFill>
                      </a:tcPr>
                    </a:tc>
                    <a:extLst>
                      <a:ext uri="{0D108BD9-81ED-4DB2-BD59-A6C34878D82A}">
                        <a16:rowId xmlns:a16="http://schemas.microsoft.com/office/drawing/2014/main" val="10001"/>
                      </a:ext>
                    </a:extLst>
                  </a:tr>
                </a:tbl>
              </a:graphicData>
            </a:graphic>
          </p:graphicFrame>
        </mc:Choice>
        <mc:Fallback>
          <p:graphicFrame>
            <p:nvGraphicFramePr>
              <p:cNvPr id="6" name="Table 5"/>
              <p:cNvGraphicFramePr>
                <a:graphicFrameLocks noGrp="1"/>
              </p:cNvGraphicFramePr>
              <p:nvPr>
                <p:extLst>
                  <p:ext uri="{D42A27DB-BD31-4B8C-83A1-F6EECF244321}">
                    <p14:modId xmlns:p14="http://schemas.microsoft.com/office/powerpoint/2010/main" val="1515778982"/>
                  </p:ext>
                </p:extLst>
              </p:nvPr>
            </p:nvGraphicFramePr>
            <p:xfrm>
              <a:off x="8229600" y="22259"/>
              <a:ext cx="3962400" cy="2377440"/>
            </p:xfrm>
            <a:graphic>
              <a:graphicData uri="http://schemas.openxmlformats.org/drawingml/2006/table">
                <a:tbl>
                  <a:tblPr firstRow="1" bandRow="1">
                    <a:tableStyleId>{21E4AEA4-8DFA-4A89-87EB-49C32662AFE0}</a:tableStyleId>
                  </a:tblPr>
                  <a:tblGrid>
                    <a:gridCol w="3962400">
                      <a:extLst>
                        <a:ext uri="{9D8B030D-6E8A-4147-A177-3AD203B41FA5}">
                          <a16:colId xmlns:a16="http://schemas.microsoft.com/office/drawing/2014/main" val="20000"/>
                        </a:ext>
                      </a:extLst>
                    </a:gridCol>
                  </a:tblGrid>
                  <a:tr h="365760">
                    <a:tc>
                      <a:txBody>
                        <a:bodyPr/>
                        <a:lstStyle/>
                        <a:p>
                          <a:r>
                            <a:rPr lang="en-AU" dirty="0" smtClean="0"/>
                            <a:t>VOCABULARY</a:t>
                          </a:r>
                          <a:endParaRPr lang="en-AU" dirty="0"/>
                        </a:p>
                      </a:txBody>
                      <a:tcPr>
                        <a:solidFill>
                          <a:srgbClr val="9933FF"/>
                        </a:solidFill>
                      </a:tcPr>
                    </a:tc>
                    <a:extLst>
                      <a:ext uri="{0D108BD9-81ED-4DB2-BD59-A6C34878D82A}">
                        <a16:rowId xmlns:a16="http://schemas.microsoft.com/office/drawing/2014/main" val="10000"/>
                      </a:ext>
                    </a:extLst>
                  </a:tr>
                  <a:tr h="2011680">
                    <a:tc>
                      <a:txBody>
                        <a:bodyPr/>
                        <a:lstStyle/>
                        <a:p>
                          <a:endParaRPr lang="en-US"/>
                        </a:p>
                      </a:txBody>
                      <a:tcPr>
                        <a:blipFill>
                          <a:blip r:embed="rId2"/>
                          <a:stretch>
                            <a:fillRect l="-308" t="-19637" r="-769" b="-4834"/>
                          </a:stretch>
                        </a:blipFill>
                      </a:tcPr>
                    </a:tc>
                    <a:extLst>
                      <a:ext uri="{0D108BD9-81ED-4DB2-BD59-A6C34878D82A}">
                        <a16:rowId xmlns:a16="http://schemas.microsoft.com/office/drawing/2014/main" val="10001"/>
                      </a:ext>
                    </a:extLst>
                  </a:tr>
                </a:tbl>
              </a:graphicData>
            </a:graphic>
          </p:graphicFrame>
        </mc:Fallback>
      </mc:AlternateContent>
      <p:sp>
        <p:nvSpPr>
          <p:cNvPr id="3" name="TextBox 2"/>
          <p:cNvSpPr txBox="1"/>
          <p:nvPr/>
        </p:nvSpPr>
        <p:spPr>
          <a:xfrm>
            <a:off x="152400" y="584775"/>
            <a:ext cx="7584440" cy="2123658"/>
          </a:xfrm>
          <a:prstGeom prst="rect">
            <a:avLst/>
          </a:prstGeom>
          <a:noFill/>
        </p:spPr>
        <p:txBody>
          <a:bodyPr wrap="square" rtlCol="0">
            <a:spAutoFit/>
          </a:bodyPr>
          <a:lstStyle/>
          <a:p>
            <a:r>
              <a:rPr lang="en-AU" sz="2200" dirty="0" smtClean="0"/>
              <a:t>In </a:t>
            </a:r>
            <a:r>
              <a:rPr lang="en-AU" sz="2200" dirty="0" smtClean="0"/>
              <a:t>a right-angled triangle, the longest side is ALWAYS opposite the right angle. It has a special name, the </a:t>
            </a:r>
            <a:r>
              <a:rPr lang="en-AU" sz="2200" dirty="0" smtClean="0">
                <a:solidFill>
                  <a:srgbClr val="FF0000"/>
                </a:solidFill>
              </a:rPr>
              <a:t>hypotenuse</a:t>
            </a:r>
            <a:r>
              <a:rPr lang="en-AU" sz="2200" dirty="0" smtClean="0"/>
              <a:t>. </a:t>
            </a:r>
          </a:p>
          <a:p>
            <a:endParaRPr lang="en-AU" sz="2200" dirty="0"/>
          </a:p>
          <a:p>
            <a:r>
              <a:rPr lang="en-AU" sz="2200" dirty="0" smtClean="0"/>
              <a:t>The other two sides in a right-angled triangle are called the </a:t>
            </a:r>
            <a:r>
              <a:rPr lang="en-AU" sz="2200" dirty="0" smtClean="0">
                <a:solidFill>
                  <a:srgbClr val="FF0000"/>
                </a:solidFill>
              </a:rPr>
              <a:t>opposite</a:t>
            </a:r>
            <a:r>
              <a:rPr lang="en-AU" sz="2200" dirty="0" smtClean="0"/>
              <a:t> and the </a:t>
            </a:r>
            <a:r>
              <a:rPr lang="en-AU" sz="2200" dirty="0" smtClean="0">
                <a:solidFill>
                  <a:srgbClr val="FF0000"/>
                </a:solidFill>
              </a:rPr>
              <a:t>adjacent</a:t>
            </a:r>
            <a:r>
              <a:rPr lang="en-AU" sz="2200" dirty="0" smtClean="0"/>
              <a:t>. To tell which one is which, you need to have a </a:t>
            </a:r>
            <a:r>
              <a:rPr lang="en-AU" sz="2200" dirty="0" smtClean="0">
                <a:solidFill>
                  <a:srgbClr val="FF0000"/>
                </a:solidFill>
              </a:rPr>
              <a:t>reference angle</a:t>
            </a:r>
            <a:r>
              <a:rPr lang="en-AU" sz="2200" dirty="0"/>
              <a:t> </a:t>
            </a:r>
            <a:r>
              <a:rPr lang="en-AU" sz="2200" dirty="0" smtClean="0"/>
              <a:t>(not the right angle).</a:t>
            </a:r>
          </a:p>
        </p:txBody>
      </p:sp>
      <p:pic>
        <p:nvPicPr>
          <p:cNvPr id="4" name="Picture 3"/>
          <p:cNvPicPr>
            <a:picLocks noChangeAspect="1"/>
          </p:cNvPicPr>
          <p:nvPr/>
        </p:nvPicPr>
        <p:blipFill>
          <a:blip r:embed="rId3"/>
          <a:stretch>
            <a:fillRect/>
          </a:stretch>
        </p:blipFill>
        <p:spPr>
          <a:xfrm>
            <a:off x="266175" y="3127291"/>
            <a:ext cx="3929063" cy="2894745"/>
          </a:xfrm>
          <a:prstGeom prst="rect">
            <a:avLst/>
          </a:prstGeom>
        </p:spPr>
      </p:pic>
      <mc:AlternateContent xmlns:mc="http://schemas.openxmlformats.org/markup-compatibility/2006">
        <mc:Choice xmlns:a14="http://schemas.microsoft.com/office/drawing/2010/main" Requires="a14">
          <p:sp>
            <p:nvSpPr>
              <p:cNvPr id="12" name="TextBox 11"/>
              <p:cNvSpPr txBox="1"/>
              <p:nvPr/>
            </p:nvSpPr>
            <p:spPr>
              <a:xfrm>
                <a:off x="4230798" y="3975094"/>
                <a:ext cx="6543040" cy="430887"/>
              </a:xfrm>
              <a:prstGeom prst="rect">
                <a:avLst/>
              </a:prstGeom>
              <a:noFill/>
            </p:spPr>
            <p:txBody>
              <a:bodyPr wrap="square" rtlCol="0">
                <a:spAutoFit/>
              </a:bodyPr>
              <a:lstStyle/>
              <a:p>
                <a:r>
                  <a:rPr lang="en-AU" sz="2200" dirty="0" smtClean="0"/>
                  <a:t>The reference angle ( </a:t>
                </a:r>
                <a14:m>
                  <m:oMath xmlns:m="http://schemas.openxmlformats.org/officeDocument/2006/math">
                    <m:r>
                      <a:rPr lang="en-AU" sz="2200" i="1" smtClean="0">
                        <a:latin typeface="Cambria Math" panose="02040503050406030204" pitchFamily="18" charset="0"/>
                        <a:ea typeface="Cambria Math" panose="02040503050406030204" pitchFamily="18" charset="0"/>
                      </a:rPr>
                      <m:t>𝜃</m:t>
                    </m:r>
                  </m:oMath>
                </a14:m>
                <a:r>
                  <a:rPr lang="en-AU" sz="2200" dirty="0" smtClean="0"/>
                  <a:t> </a:t>
                </a:r>
                <a:r>
                  <a:rPr lang="en-AU" sz="2200" dirty="0" smtClean="0"/>
                  <a:t>) is </a:t>
                </a:r>
                <a14:m>
                  <m:oMath xmlns:m="http://schemas.openxmlformats.org/officeDocument/2006/math">
                    <m:r>
                      <a:rPr lang="en-AU" sz="2200" b="0" i="1" smtClean="0">
                        <a:ea typeface="Cambria Math" panose="02040503050406030204" pitchFamily="18" charset="0"/>
                      </a:rPr>
                      <m:t>&lt;</m:t>
                    </m:r>
                    <m:r>
                      <a:rPr lang="en-AU" sz="2200" b="0" i="1" smtClean="0">
                        <a:ea typeface="Cambria Math" panose="02040503050406030204" pitchFamily="18" charset="0"/>
                      </a:rPr>
                      <m:t>𝑃𝑅𝑄</m:t>
                    </m:r>
                    <m:r>
                      <a:rPr lang="en-AU" sz="2200" b="0" i="1" smtClean="0">
                        <a:ea typeface="Cambria Math" panose="02040503050406030204" pitchFamily="18" charset="0"/>
                      </a:rPr>
                      <m:t>.</m:t>
                    </m:r>
                  </m:oMath>
                </a14:m>
                <a:endParaRPr lang="en-AU" sz="2200" dirty="0"/>
              </a:p>
            </p:txBody>
          </p:sp>
        </mc:Choice>
        <mc:Fallback>
          <p:sp>
            <p:nvSpPr>
              <p:cNvPr id="12" name="TextBox 11"/>
              <p:cNvSpPr txBox="1">
                <a:spLocks noRot="1" noChangeAspect="1" noMove="1" noResize="1" noEditPoints="1" noAdjustHandles="1" noChangeArrowheads="1" noChangeShapeType="1" noTextEdit="1"/>
              </p:cNvSpPr>
              <p:nvPr/>
            </p:nvSpPr>
            <p:spPr>
              <a:xfrm>
                <a:off x="4230798" y="3975094"/>
                <a:ext cx="6543040" cy="430887"/>
              </a:xfrm>
              <a:prstGeom prst="rect">
                <a:avLst/>
              </a:prstGeom>
              <a:blipFill>
                <a:blip r:embed="rId4"/>
                <a:stretch>
                  <a:fillRect l="-1212" t="-9859" b="-28169"/>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13" name="TextBox 12"/>
              <p:cNvSpPr txBox="1"/>
              <p:nvPr/>
            </p:nvSpPr>
            <p:spPr>
              <a:xfrm>
                <a:off x="4230798" y="3542489"/>
                <a:ext cx="6543040" cy="430887"/>
              </a:xfrm>
              <a:prstGeom prst="rect">
                <a:avLst/>
              </a:prstGeom>
              <a:noFill/>
            </p:spPr>
            <p:txBody>
              <a:bodyPr wrap="square" rtlCol="0">
                <a:spAutoFit/>
              </a:bodyPr>
              <a:lstStyle/>
              <a:p>
                <a:r>
                  <a:rPr lang="en-AU" sz="2200" dirty="0" smtClean="0"/>
                  <a:t>The right angle is </a:t>
                </a:r>
                <a14:m>
                  <m:oMath xmlns:m="http://schemas.openxmlformats.org/officeDocument/2006/math">
                    <m:r>
                      <a:rPr lang="en-AU" sz="2200" b="0" i="1" smtClean="0">
                        <a:ea typeface="Cambria Math" panose="02040503050406030204" pitchFamily="18" charset="0"/>
                      </a:rPr>
                      <m:t>&lt;</m:t>
                    </m:r>
                    <m:r>
                      <a:rPr lang="en-AU" sz="2200" b="0" i="1" smtClean="0">
                        <a:ea typeface="Cambria Math" panose="02040503050406030204" pitchFamily="18" charset="0"/>
                      </a:rPr>
                      <m:t>𝑅𝑃𝑄</m:t>
                    </m:r>
                    <m:r>
                      <a:rPr lang="en-AU" sz="2200" b="0" i="1" smtClean="0">
                        <a:ea typeface="Cambria Math" panose="02040503050406030204" pitchFamily="18" charset="0"/>
                      </a:rPr>
                      <m:t>.</m:t>
                    </m:r>
                  </m:oMath>
                </a14:m>
                <a:endParaRPr lang="en-AU" sz="2200" dirty="0"/>
              </a:p>
            </p:txBody>
          </p:sp>
        </mc:Choice>
        <mc:Fallback>
          <p:sp>
            <p:nvSpPr>
              <p:cNvPr id="13" name="TextBox 12"/>
              <p:cNvSpPr txBox="1">
                <a:spLocks noRot="1" noChangeAspect="1" noMove="1" noResize="1" noEditPoints="1" noAdjustHandles="1" noChangeArrowheads="1" noChangeShapeType="1" noTextEdit="1"/>
              </p:cNvSpPr>
              <p:nvPr/>
            </p:nvSpPr>
            <p:spPr>
              <a:xfrm>
                <a:off x="4230798" y="3542489"/>
                <a:ext cx="6543040" cy="430887"/>
              </a:xfrm>
              <a:prstGeom prst="rect">
                <a:avLst/>
              </a:prstGeom>
              <a:blipFill>
                <a:blip r:embed="rId5"/>
                <a:stretch>
                  <a:fillRect l="-1212" t="-9859" b="-28169"/>
                </a:stretch>
              </a:blipFill>
            </p:spPr>
            <p:txBody>
              <a:bodyPr/>
              <a:lstStyle/>
              <a:p>
                <a:r>
                  <a:rPr lang="en-AU">
                    <a:noFill/>
                  </a:rPr>
                  <a:t> </a:t>
                </a:r>
              </a:p>
            </p:txBody>
          </p:sp>
        </mc:Fallback>
      </mc:AlternateContent>
      <p:cxnSp>
        <p:nvCxnSpPr>
          <p:cNvPr id="14" name="Straight Arrow Connector 13"/>
          <p:cNvCxnSpPr/>
          <p:nvPr/>
        </p:nvCxnSpPr>
        <p:spPr>
          <a:xfrm flipH="1">
            <a:off x="2036237" y="3735718"/>
            <a:ext cx="66040" cy="140208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rot="1065297">
            <a:off x="1174683" y="5106606"/>
            <a:ext cx="1723109" cy="461665"/>
          </a:xfrm>
          <a:prstGeom prst="rect">
            <a:avLst/>
          </a:prstGeom>
          <a:noFill/>
        </p:spPr>
        <p:txBody>
          <a:bodyPr wrap="square" rtlCol="0">
            <a:spAutoFit/>
          </a:bodyPr>
          <a:lstStyle/>
          <a:p>
            <a:r>
              <a:rPr lang="en-AU" sz="2400" b="1" dirty="0" smtClean="0">
                <a:solidFill>
                  <a:srgbClr val="FF0000"/>
                </a:solidFill>
              </a:rPr>
              <a:t>hypotenuse</a:t>
            </a:r>
            <a:endParaRPr lang="en-AU" sz="2400" b="1" dirty="0">
              <a:solidFill>
                <a:srgbClr val="FF0000"/>
              </a:solidFill>
            </a:endParaRPr>
          </a:p>
        </p:txBody>
      </p:sp>
      <p:cxnSp>
        <p:nvCxnSpPr>
          <p:cNvPr id="18" name="Straight Arrow Connector 17"/>
          <p:cNvCxnSpPr/>
          <p:nvPr/>
        </p:nvCxnSpPr>
        <p:spPr>
          <a:xfrm flipV="1">
            <a:off x="768621" y="4553598"/>
            <a:ext cx="2015568" cy="132080"/>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rot="3180669">
            <a:off x="2340637" y="4422009"/>
            <a:ext cx="1723109" cy="461665"/>
          </a:xfrm>
          <a:prstGeom prst="rect">
            <a:avLst/>
          </a:prstGeom>
          <a:noFill/>
        </p:spPr>
        <p:txBody>
          <a:bodyPr wrap="square" rtlCol="0">
            <a:spAutoFit/>
          </a:bodyPr>
          <a:lstStyle/>
          <a:p>
            <a:r>
              <a:rPr lang="en-AU" sz="2400" b="1" dirty="0" smtClean="0">
                <a:solidFill>
                  <a:srgbClr val="0070C0"/>
                </a:solidFill>
              </a:rPr>
              <a:t>opposite</a:t>
            </a:r>
            <a:endParaRPr lang="en-AU" sz="2400" b="1" dirty="0">
              <a:solidFill>
                <a:srgbClr val="0070C0"/>
              </a:solidFill>
            </a:endParaRPr>
          </a:p>
        </p:txBody>
      </p:sp>
      <p:cxnSp>
        <p:nvCxnSpPr>
          <p:cNvPr id="23" name="Straight Connector 22"/>
          <p:cNvCxnSpPr/>
          <p:nvPr/>
        </p:nvCxnSpPr>
        <p:spPr>
          <a:xfrm flipV="1">
            <a:off x="649398" y="3583319"/>
            <a:ext cx="1498600" cy="1153160"/>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rot="19344120">
            <a:off x="440629" y="3317904"/>
            <a:ext cx="2763520" cy="461665"/>
          </a:xfrm>
          <a:prstGeom prst="rect">
            <a:avLst/>
          </a:prstGeom>
          <a:noFill/>
        </p:spPr>
        <p:txBody>
          <a:bodyPr wrap="square" rtlCol="0">
            <a:spAutoFit/>
          </a:bodyPr>
          <a:lstStyle/>
          <a:p>
            <a:r>
              <a:rPr lang="en-AU" sz="2400" b="1" dirty="0" smtClean="0">
                <a:solidFill>
                  <a:srgbClr val="00B050"/>
                </a:solidFill>
              </a:rPr>
              <a:t>adjacent</a:t>
            </a:r>
            <a:endParaRPr lang="en-AU" sz="2400" b="1" dirty="0">
              <a:solidFill>
                <a:srgbClr val="00B050"/>
              </a:solidFill>
            </a:endParaRPr>
          </a:p>
        </p:txBody>
      </p:sp>
      <mc:AlternateContent xmlns:mc="http://schemas.openxmlformats.org/markup-compatibility/2006">
        <mc:Choice xmlns:a14="http://schemas.microsoft.com/office/drawing/2010/main" Requires="a14">
          <p:sp>
            <p:nvSpPr>
              <p:cNvPr id="27" name="TextBox 26"/>
              <p:cNvSpPr txBox="1"/>
              <p:nvPr/>
            </p:nvSpPr>
            <p:spPr>
              <a:xfrm>
                <a:off x="4230798" y="4394013"/>
                <a:ext cx="3952240" cy="430887"/>
              </a:xfrm>
              <a:prstGeom prst="rect">
                <a:avLst/>
              </a:prstGeom>
              <a:noFill/>
            </p:spPr>
            <p:txBody>
              <a:bodyPr wrap="square" rtlCol="0">
                <a:spAutoFit/>
              </a:bodyPr>
              <a:lstStyle/>
              <a:p>
                <a:r>
                  <a:rPr lang="en-AU" sz="2200" dirty="0" smtClean="0">
                    <a:solidFill>
                      <a:srgbClr val="FF0000"/>
                    </a:solidFill>
                  </a:rPr>
                  <a:t>The hypotenuse is side </a:t>
                </a:r>
                <a14:m>
                  <m:oMath xmlns:m="http://schemas.openxmlformats.org/officeDocument/2006/math">
                    <m:r>
                      <a:rPr lang="en-AU" sz="2200" b="0" i="1" smtClean="0">
                        <a:solidFill>
                          <a:srgbClr val="FF0000"/>
                        </a:solidFill>
                      </a:rPr>
                      <m:t>𝑅𝑄</m:t>
                    </m:r>
                    <m:r>
                      <a:rPr lang="en-AU" sz="2200" b="0" i="1" smtClean="0">
                        <a:solidFill>
                          <a:srgbClr val="FF0000"/>
                        </a:solidFill>
                      </a:rPr>
                      <m:t>.</m:t>
                    </m:r>
                  </m:oMath>
                </a14:m>
                <a:endParaRPr lang="en-AU" sz="2200" dirty="0">
                  <a:solidFill>
                    <a:srgbClr val="FF0000"/>
                  </a:solidFill>
                </a:endParaRPr>
              </a:p>
            </p:txBody>
          </p:sp>
        </mc:Choice>
        <mc:Fallback>
          <p:sp>
            <p:nvSpPr>
              <p:cNvPr id="27" name="TextBox 26"/>
              <p:cNvSpPr txBox="1">
                <a:spLocks noRot="1" noChangeAspect="1" noMove="1" noResize="1" noEditPoints="1" noAdjustHandles="1" noChangeArrowheads="1" noChangeShapeType="1" noTextEdit="1"/>
              </p:cNvSpPr>
              <p:nvPr/>
            </p:nvSpPr>
            <p:spPr>
              <a:xfrm>
                <a:off x="4230798" y="4394013"/>
                <a:ext cx="3952240" cy="430887"/>
              </a:xfrm>
              <a:prstGeom prst="rect">
                <a:avLst/>
              </a:prstGeom>
              <a:blipFill>
                <a:blip r:embed="rId6"/>
                <a:stretch>
                  <a:fillRect l="-2006" t="-10000" b="-28571"/>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28" name="TextBox 27"/>
              <p:cNvSpPr txBox="1"/>
              <p:nvPr/>
            </p:nvSpPr>
            <p:spPr>
              <a:xfrm>
                <a:off x="4234932" y="4826618"/>
                <a:ext cx="3952240" cy="430887"/>
              </a:xfrm>
              <a:prstGeom prst="rect">
                <a:avLst/>
              </a:prstGeom>
              <a:noFill/>
            </p:spPr>
            <p:txBody>
              <a:bodyPr wrap="square" rtlCol="0">
                <a:spAutoFit/>
              </a:bodyPr>
              <a:lstStyle/>
              <a:p>
                <a:r>
                  <a:rPr lang="en-AU" sz="2200" dirty="0" smtClean="0">
                    <a:solidFill>
                      <a:srgbClr val="0070C0"/>
                    </a:solidFill>
                  </a:rPr>
                  <a:t>The opposite is side </a:t>
                </a:r>
                <a14:m>
                  <m:oMath xmlns:m="http://schemas.openxmlformats.org/officeDocument/2006/math">
                    <m:r>
                      <a:rPr lang="en-AU" sz="2200" b="0" i="1" smtClean="0">
                        <a:solidFill>
                          <a:srgbClr val="0070C0"/>
                        </a:solidFill>
                      </a:rPr>
                      <m:t>𝑃𝑄</m:t>
                    </m:r>
                    <m:r>
                      <a:rPr lang="en-AU" sz="2200" b="0" i="1" smtClean="0">
                        <a:solidFill>
                          <a:srgbClr val="0070C0"/>
                        </a:solidFill>
                      </a:rPr>
                      <m:t>.</m:t>
                    </m:r>
                  </m:oMath>
                </a14:m>
                <a:endParaRPr lang="en-AU" sz="2200" dirty="0">
                  <a:solidFill>
                    <a:srgbClr val="0070C0"/>
                  </a:solidFill>
                </a:endParaRPr>
              </a:p>
            </p:txBody>
          </p:sp>
        </mc:Choice>
        <mc:Fallback>
          <p:sp>
            <p:nvSpPr>
              <p:cNvPr id="28" name="TextBox 27"/>
              <p:cNvSpPr txBox="1">
                <a:spLocks noRot="1" noChangeAspect="1" noMove="1" noResize="1" noEditPoints="1" noAdjustHandles="1" noChangeArrowheads="1" noChangeShapeType="1" noTextEdit="1"/>
              </p:cNvSpPr>
              <p:nvPr/>
            </p:nvSpPr>
            <p:spPr>
              <a:xfrm>
                <a:off x="4234932" y="4826618"/>
                <a:ext cx="3952240" cy="430887"/>
              </a:xfrm>
              <a:prstGeom prst="rect">
                <a:avLst/>
              </a:prstGeom>
              <a:blipFill>
                <a:blip r:embed="rId7"/>
                <a:stretch>
                  <a:fillRect l="-2006" t="-10000" b="-28571"/>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29" name="TextBox 28"/>
              <p:cNvSpPr txBox="1"/>
              <p:nvPr/>
            </p:nvSpPr>
            <p:spPr>
              <a:xfrm>
                <a:off x="4230798" y="5245537"/>
                <a:ext cx="3952240" cy="430887"/>
              </a:xfrm>
              <a:prstGeom prst="rect">
                <a:avLst/>
              </a:prstGeom>
              <a:noFill/>
            </p:spPr>
            <p:txBody>
              <a:bodyPr wrap="square" rtlCol="0">
                <a:spAutoFit/>
              </a:bodyPr>
              <a:lstStyle/>
              <a:p>
                <a:r>
                  <a:rPr lang="en-AU" sz="2200" dirty="0" smtClean="0">
                    <a:solidFill>
                      <a:srgbClr val="00B050"/>
                    </a:solidFill>
                  </a:rPr>
                  <a:t>The adjacent is side </a:t>
                </a:r>
                <a14:m>
                  <m:oMath xmlns:m="http://schemas.openxmlformats.org/officeDocument/2006/math">
                    <m:r>
                      <a:rPr lang="en-AU" sz="2200" b="0" i="1" smtClean="0">
                        <a:solidFill>
                          <a:srgbClr val="00B050"/>
                        </a:solidFill>
                      </a:rPr>
                      <m:t>𝑃𝑅</m:t>
                    </m:r>
                    <m:r>
                      <a:rPr lang="en-AU" sz="2200" b="0" i="1" smtClean="0">
                        <a:solidFill>
                          <a:srgbClr val="00B050"/>
                        </a:solidFill>
                      </a:rPr>
                      <m:t>.</m:t>
                    </m:r>
                  </m:oMath>
                </a14:m>
                <a:endParaRPr lang="en-AU" sz="2200" dirty="0">
                  <a:solidFill>
                    <a:srgbClr val="00B050"/>
                  </a:solidFill>
                </a:endParaRPr>
              </a:p>
            </p:txBody>
          </p:sp>
        </mc:Choice>
        <mc:Fallback>
          <p:sp>
            <p:nvSpPr>
              <p:cNvPr id="29" name="TextBox 28"/>
              <p:cNvSpPr txBox="1">
                <a:spLocks noRot="1" noChangeAspect="1" noMove="1" noResize="1" noEditPoints="1" noAdjustHandles="1" noChangeArrowheads="1" noChangeShapeType="1" noTextEdit="1"/>
              </p:cNvSpPr>
              <p:nvPr/>
            </p:nvSpPr>
            <p:spPr>
              <a:xfrm>
                <a:off x="4230798" y="5245537"/>
                <a:ext cx="3952240" cy="430887"/>
              </a:xfrm>
              <a:prstGeom prst="rect">
                <a:avLst/>
              </a:prstGeom>
              <a:blipFill>
                <a:blip r:embed="rId8"/>
                <a:stretch>
                  <a:fillRect l="-2006" t="-8451" b="-28169"/>
                </a:stretch>
              </a:blipFill>
            </p:spPr>
            <p:txBody>
              <a:bodyPr/>
              <a:lstStyle/>
              <a:p>
                <a:r>
                  <a:rPr lang="en-AU">
                    <a:noFill/>
                  </a:rPr>
                  <a:t> </a:t>
                </a:r>
              </a:p>
            </p:txBody>
          </p:sp>
        </mc:Fallback>
      </mc:AlternateContent>
      <p:sp>
        <p:nvSpPr>
          <p:cNvPr id="20" name="TextBox 19"/>
          <p:cNvSpPr txBox="1"/>
          <p:nvPr/>
        </p:nvSpPr>
        <p:spPr>
          <a:xfrm>
            <a:off x="0" y="0"/>
            <a:ext cx="4701026" cy="461665"/>
          </a:xfrm>
          <a:prstGeom prst="rect">
            <a:avLst/>
          </a:prstGeom>
          <a:solidFill>
            <a:srgbClr val="FFFF00"/>
          </a:solidFill>
        </p:spPr>
        <p:txBody>
          <a:bodyPr wrap="square" rtlCol="0">
            <a:spAutoFit/>
          </a:bodyPr>
          <a:lstStyle/>
          <a:p>
            <a:r>
              <a:rPr lang="en-AU" sz="2400" dirty="0" smtClean="0"/>
              <a:t>Hypotenuse, opposite and adjacent</a:t>
            </a:r>
            <a:endParaRPr lang="en-AU" sz="2400" dirty="0"/>
          </a:p>
        </p:txBody>
      </p:sp>
    </p:spTree>
    <p:extLst>
      <p:ext uri="{BB962C8B-B14F-4D97-AF65-F5344CB8AC3E}">
        <p14:creationId xmlns:p14="http://schemas.microsoft.com/office/powerpoint/2010/main" val="413468123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5" grpId="0"/>
      <p:bldP spid="19" grpId="0"/>
      <p:bldP spid="26" grpId="0"/>
      <p:bldP spid="27" grpId="0"/>
      <p:bldP spid="28" grpId="0"/>
      <p:bldP spid="2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4758" y="2441079"/>
            <a:ext cx="11913281" cy="3104833"/>
          </a:xfrm>
          <a:prstGeom prst="rect">
            <a:avLst/>
          </a:prstGeom>
        </p:spPr>
      </p:pic>
      <p:cxnSp>
        <p:nvCxnSpPr>
          <p:cNvPr id="22" name="Straight Arrow Connector 21"/>
          <p:cNvCxnSpPr/>
          <p:nvPr/>
        </p:nvCxnSpPr>
        <p:spPr>
          <a:xfrm flipV="1">
            <a:off x="1187488" y="4485640"/>
            <a:ext cx="837992" cy="60873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flipV="1">
            <a:off x="1187489" y="4485640"/>
            <a:ext cx="1721391" cy="608735"/>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flipH="1">
            <a:off x="1136481" y="5094375"/>
            <a:ext cx="1925319" cy="15240"/>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H="1" flipV="1">
            <a:off x="6146064" y="4181273"/>
            <a:ext cx="1035616" cy="41612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flipV="1">
            <a:off x="5088721" y="4181274"/>
            <a:ext cx="2092960" cy="416126"/>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a:off x="4860120" y="4589781"/>
            <a:ext cx="2321560" cy="7619"/>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H="1">
            <a:off x="10310960" y="3898469"/>
            <a:ext cx="165209" cy="119590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H="1" flipV="1">
            <a:off x="9675960" y="4496422"/>
            <a:ext cx="1836322" cy="702095"/>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H="1" flipV="1">
            <a:off x="8998203" y="4993640"/>
            <a:ext cx="2592917" cy="267918"/>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64600" y="5548124"/>
            <a:ext cx="3921760" cy="1107996"/>
          </a:xfrm>
          <a:prstGeom prst="rect">
            <a:avLst/>
          </a:prstGeom>
          <a:noFill/>
        </p:spPr>
        <p:txBody>
          <a:bodyPr wrap="square" rtlCol="0">
            <a:spAutoFit/>
          </a:bodyPr>
          <a:lstStyle/>
          <a:p>
            <a:pPr algn="ctr"/>
            <a:r>
              <a:rPr lang="en-AU" sz="2200" dirty="0" smtClean="0"/>
              <a:t>Hypotenuse: 10.6 cm</a:t>
            </a:r>
          </a:p>
          <a:p>
            <a:pPr algn="ctr"/>
            <a:r>
              <a:rPr lang="en-AU" sz="2200" dirty="0" smtClean="0"/>
              <a:t>Opposite: 7 cm</a:t>
            </a:r>
          </a:p>
          <a:p>
            <a:pPr algn="ctr"/>
            <a:r>
              <a:rPr lang="en-AU" sz="2200" dirty="0" smtClean="0"/>
              <a:t>Adjacent: 8 cm</a:t>
            </a:r>
            <a:endParaRPr lang="en-AU" sz="2200" dirty="0"/>
          </a:p>
        </p:txBody>
      </p:sp>
      <p:sp>
        <p:nvSpPr>
          <p:cNvPr id="30" name="TextBox 29"/>
          <p:cNvSpPr txBox="1"/>
          <p:nvPr/>
        </p:nvSpPr>
        <p:spPr>
          <a:xfrm>
            <a:off x="4070519" y="5548124"/>
            <a:ext cx="3921760" cy="1107996"/>
          </a:xfrm>
          <a:prstGeom prst="rect">
            <a:avLst/>
          </a:prstGeom>
          <a:noFill/>
        </p:spPr>
        <p:txBody>
          <a:bodyPr wrap="square" rtlCol="0">
            <a:spAutoFit/>
          </a:bodyPr>
          <a:lstStyle/>
          <a:p>
            <a:pPr algn="ctr"/>
            <a:r>
              <a:rPr lang="en-AU" sz="2200" dirty="0" smtClean="0"/>
              <a:t>Hypotenuse: 12 m</a:t>
            </a:r>
          </a:p>
          <a:p>
            <a:pPr algn="ctr"/>
            <a:r>
              <a:rPr lang="en-AU" sz="2200" dirty="0" smtClean="0"/>
              <a:t>Opposite: 3.8 m</a:t>
            </a:r>
          </a:p>
          <a:p>
            <a:pPr algn="ctr"/>
            <a:r>
              <a:rPr lang="en-AU" sz="2200" dirty="0" smtClean="0"/>
              <a:t>Adjacent: 11.4 m</a:t>
            </a:r>
            <a:endParaRPr lang="en-AU" sz="2200" dirty="0"/>
          </a:p>
        </p:txBody>
      </p:sp>
      <p:sp>
        <p:nvSpPr>
          <p:cNvPr id="32" name="TextBox 31"/>
          <p:cNvSpPr txBox="1"/>
          <p:nvPr/>
        </p:nvSpPr>
        <p:spPr>
          <a:xfrm>
            <a:off x="8103280" y="5545912"/>
            <a:ext cx="3921760" cy="1107996"/>
          </a:xfrm>
          <a:prstGeom prst="rect">
            <a:avLst/>
          </a:prstGeom>
          <a:noFill/>
        </p:spPr>
        <p:txBody>
          <a:bodyPr wrap="square" rtlCol="0">
            <a:spAutoFit/>
          </a:bodyPr>
          <a:lstStyle/>
          <a:p>
            <a:pPr algn="ctr"/>
            <a:r>
              <a:rPr lang="en-AU" sz="2200" dirty="0" smtClean="0"/>
              <a:t>Hypotenuse: 3.4 km</a:t>
            </a:r>
          </a:p>
          <a:p>
            <a:pPr algn="ctr"/>
            <a:r>
              <a:rPr lang="en-AU" sz="2200" dirty="0" smtClean="0"/>
              <a:t>Opposite: 2.5 km</a:t>
            </a:r>
          </a:p>
          <a:p>
            <a:pPr algn="ctr"/>
            <a:r>
              <a:rPr lang="en-AU" sz="2200" dirty="0" smtClean="0"/>
              <a:t>Adjacent: 2.3 km</a:t>
            </a:r>
            <a:endParaRPr lang="en-AU" sz="2200" dirty="0"/>
          </a:p>
        </p:txBody>
      </p:sp>
      <mc:AlternateContent xmlns:mc="http://schemas.openxmlformats.org/markup-compatibility/2006">
        <mc:Choice xmlns:a14="http://schemas.microsoft.com/office/drawing/2010/main" Requires="a14">
          <p:graphicFrame>
            <p:nvGraphicFramePr>
              <p:cNvPr id="21" name="Table 20"/>
              <p:cNvGraphicFramePr>
                <a:graphicFrameLocks noGrp="1"/>
              </p:cNvGraphicFramePr>
              <p:nvPr>
                <p:extLst>
                  <p:ext uri="{D42A27DB-BD31-4B8C-83A1-F6EECF244321}">
                    <p14:modId xmlns:p14="http://schemas.microsoft.com/office/powerpoint/2010/main" val="40247933"/>
                  </p:ext>
                </p:extLst>
              </p:nvPr>
            </p:nvGraphicFramePr>
            <p:xfrm>
              <a:off x="8229600" y="22259"/>
              <a:ext cx="3962400" cy="2377440"/>
            </p:xfrm>
            <a:graphic>
              <a:graphicData uri="http://schemas.openxmlformats.org/drawingml/2006/table">
                <a:tbl>
                  <a:tblPr firstRow="1" bandRow="1">
                    <a:tableStyleId>{21E4AEA4-8DFA-4A89-87EB-49C32662AFE0}</a:tableStyleId>
                  </a:tblPr>
                  <a:tblGrid>
                    <a:gridCol w="3962400">
                      <a:extLst>
                        <a:ext uri="{9D8B030D-6E8A-4147-A177-3AD203B41FA5}">
                          <a16:colId xmlns:a16="http://schemas.microsoft.com/office/drawing/2014/main" val="20000"/>
                        </a:ext>
                      </a:extLst>
                    </a:gridCol>
                  </a:tblGrid>
                  <a:tr h="273159">
                    <a:tc>
                      <a:txBody>
                        <a:bodyPr/>
                        <a:lstStyle/>
                        <a:p>
                          <a:r>
                            <a:rPr lang="en-AU" dirty="0" smtClean="0"/>
                            <a:t>VOCABULARY</a:t>
                          </a:r>
                          <a:endParaRPr lang="en-AU" dirty="0"/>
                        </a:p>
                      </a:txBody>
                      <a:tcPr>
                        <a:solidFill>
                          <a:srgbClr val="9933FF"/>
                        </a:solidFill>
                      </a:tcPr>
                    </a:tc>
                    <a:extLst>
                      <a:ext uri="{0D108BD9-81ED-4DB2-BD59-A6C34878D82A}">
                        <a16:rowId xmlns:a16="http://schemas.microsoft.com/office/drawing/2014/main" val="10000"/>
                      </a:ext>
                    </a:extLst>
                  </a:tr>
                  <a:tr h="493391">
                    <a:tc>
                      <a:txBody>
                        <a:bodyPr/>
                        <a:lstStyle/>
                        <a:p>
                          <a:r>
                            <a:rPr lang="en-AU" b="1" i="0" dirty="0" smtClean="0">
                              <a:solidFill>
                                <a:srgbClr val="FF0000"/>
                              </a:solidFill>
                            </a:rPr>
                            <a:t>Hypotenuse</a:t>
                          </a:r>
                          <a:r>
                            <a:rPr lang="en-AU" i="0" dirty="0" smtClean="0"/>
                            <a:t> – the longest side of</a:t>
                          </a:r>
                          <a:r>
                            <a:rPr lang="en-AU" i="0" baseline="0" dirty="0" smtClean="0"/>
                            <a:t> a right-angled triangle</a:t>
                          </a:r>
                        </a:p>
                        <a:p>
                          <a:pPr marL="0" marR="0" indent="0" algn="l" defTabSz="914400" rtl="0" eaLnBrk="1" fontAlgn="auto" latinLnBrk="0" hangingPunct="1">
                            <a:lnSpc>
                              <a:spcPct val="100000"/>
                            </a:lnSpc>
                            <a:spcBef>
                              <a:spcPts val="0"/>
                            </a:spcBef>
                            <a:spcAft>
                              <a:spcPts val="0"/>
                            </a:spcAft>
                            <a:buClrTx/>
                            <a:buSzTx/>
                            <a:buFontTx/>
                            <a:buNone/>
                            <a:tabLst/>
                            <a:defRPr/>
                          </a:pPr>
                          <a:r>
                            <a:rPr lang="en-AU" b="1" i="0" baseline="0" dirty="0" smtClean="0">
                              <a:solidFill>
                                <a:srgbClr val="FF0000"/>
                              </a:solidFill>
                            </a:rPr>
                            <a:t>Reference angle </a:t>
                          </a:r>
                          <a:r>
                            <a:rPr lang="en-AU" i="0" baseline="0" dirty="0" smtClean="0"/>
                            <a:t>– the marked angle (not the right angle)</a:t>
                          </a:r>
                        </a:p>
                        <a:p>
                          <a:r>
                            <a:rPr lang="en-AU" b="1" i="0" baseline="0" dirty="0" smtClean="0">
                              <a:solidFill>
                                <a:srgbClr val="FF0000"/>
                              </a:solidFill>
                            </a:rPr>
                            <a:t>Opposite</a:t>
                          </a:r>
                          <a:r>
                            <a:rPr lang="en-AU" i="0" baseline="0" dirty="0" smtClean="0"/>
                            <a:t> – opposite the reference angle</a:t>
                          </a:r>
                        </a:p>
                        <a:p>
                          <a:r>
                            <a:rPr lang="en-AU" b="1" i="0" baseline="0" dirty="0" smtClean="0">
                              <a:solidFill>
                                <a:srgbClr val="FF0000"/>
                              </a:solidFill>
                            </a:rPr>
                            <a:t>Adjacent</a:t>
                          </a:r>
                          <a:r>
                            <a:rPr lang="en-AU" i="0" baseline="0" dirty="0" smtClean="0"/>
                            <a:t> – ‘next to’ the reference angle</a:t>
                          </a:r>
                        </a:p>
                        <a:p>
                          <a14:m>
                            <m:oMath xmlns:m="http://schemas.openxmlformats.org/officeDocument/2006/math">
                              <m:r>
                                <a:rPr lang="en-AU" b="1" i="1" baseline="0" smtClean="0">
                                  <a:solidFill>
                                    <a:srgbClr val="FF0000"/>
                                  </a:solidFill>
                                  <a:latin typeface="Cambria Math" panose="02040503050406030204" pitchFamily="18" charset="0"/>
                                  <a:ea typeface="Cambria Math" panose="02040503050406030204" pitchFamily="18" charset="0"/>
                                </a:rPr>
                                <m:t>𝜽</m:t>
                              </m:r>
                            </m:oMath>
                          </a14:m>
                          <a:r>
                            <a:rPr lang="en-AU" b="1" i="0" baseline="0" dirty="0" smtClean="0">
                              <a:solidFill>
                                <a:srgbClr val="FF0000"/>
                              </a:solidFill>
                            </a:rPr>
                            <a:t> </a:t>
                          </a:r>
                          <a:r>
                            <a:rPr lang="en-AU" b="1" i="0" baseline="0" dirty="0" smtClean="0">
                              <a:solidFill>
                                <a:srgbClr val="FF0000"/>
                              </a:solidFill>
                            </a:rPr>
                            <a:t>– theta </a:t>
                          </a:r>
                          <a:r>
                            <a:rPr lang="en-AU" i="0" baseline="0" dirty="0" smtClean="0"/>
                            <a:t>– symbol for reference angle</a:t>
                          </a:r>
                        </a:p>
                      </a:txBody>
                      <a:tcPr>
                        <a:solidFill>
                          <a:srgbClr val="CC99FF"/>
                        </a:solidFill>
                      </a:tcPr>
                    </a:tc>
                    <a:extLst>
                      <a:ext uri="{0D108BD9-81ED-4DB2-BD59-A6C34878D82A}">
                        <a16:rowId xmlns:a16="http://schemas.microsoft.com/office/drawing/2014/main" val="10001"/>
                      </a:ext>
                    </a:extLst>
                  </a:tr>
                </a:tbl>
              </a:graphicData>
            </a:graphic>
          </p:graphicFrame>
        </mc:Choice>
        <mc:Fallback>
          <p:graphicFrame>
            <p:nvGraphicFramePr>
              <p:cNvPr id="21" name="Table 20"/>
              <p:cNvGraphicFramePr>
                <a:graphicFrameLocks noGrp="1"/>
              </p:cNvGraphicFramePr>
              <p:nvPr>
                <p:extLst>
                  <p:ext uri="{D42A27DB-BD31-4B8C-83A1-F6EECF244321}">
                    <p14:modId xmlns:p14="http://schemas.microsoft.com/office/powerpoint/2010/main" val="40247933"/>
                  </p:ext>
                </p:extLst>
              </p:nvPr>
            </p:nvGraphicFramePr>
            <p:xfrm>
              <a:off x="8229600" y="22259"/>
              <a:ext cx="3962400" cy="2377440"/>
            </p:xfrm>
            <a:graphic>
              <a:graphicData uri="http://schemas.openxmlformats.org/drawingml/2006/table">
                <a:tbl>
                  <a:tblPr firstRow="1" bandRow="1">
                    <a:tableStyleId>{21E4AEA4-8DFA-4A89-87EB-49C32662AFE0}</a:tableStyleId>
                  </a:tblPr>
                  <a:tblGrid>
                    <a:gridCol w="3962400">
                      <a:extLst>
                        <a:ext uri="{9D8B030D-6E8A-4147-A177-3AD203B41FA5}">
                          <a16:colId xmlns:a16="http://schemas.microsoft.com/office/drawing/2014/main" val="20000"/>
                        </a:ext>
                      </a:extLst>
                    </a:gridCol>
                  </a:tblGrid>
                  <a:tr h="365760">
                    <a:tc>
                      <a:txBody>
                        <a:bodyPr/>
                        <a:lstStyle/>
                        <a:p>
                          <a:r>
                            <a:rPr lang="en-AU" dirty="0" smtClean="0"/>
                            <a:t>VOCABULARY</a:t>
                          </a:r>
                          <a:endParaRPr lang="en-AU" dirty="0"/>
                        </a:p>
                      </a:txBody>
                      <a:tcPr>
                        <a:solidFill>
                          <a:srgbClr val="9933FF"/>
                        </a:solidFill>
                      </a:tcPr>
                    </a:tc>
                    <a:extLst>
                      <a:ext uri="{0D108BD9-81ED-4DB2-BD59-A6C34878D82A}">
                        <a16:rowId xmlns:a16="http://schemas.microsoft.com/office/drawing/2014/main" val="10000"/>
                      </a:ext>
                    </a:extLst>
                  </a:tr>
                  <a:tr h="2011680">
                    <a:tc>
                      <a:txBody>
                        <a:bodyPr/>
                        <a:lstStyle/>
                        <a:p>
                          <a:endParaRPr lang="en-US"/>
                        </a:p>
                      </a:txBody>
                      <a:tcPr>
                        <a:blipFill>
                          <a:blip r:embed="rId3"/>
                          <a:stretch>
                            <a:fillRect l="-308" t="-19637" r="-769" b="-4834"/>
                          </a:stretch>
                        </a:blipFill>
                      </a:tcPr>
                    </a:tc>
                    <a:extLst>
                      <a:ext uri="{0D108BD9-81ED-4DB2-BD59-A6C34878D82A}">
                        <a16:rowId xmlns:a16="http://schemas.microsoft.com/office/drawing/2014/main" val="10001"/>
                      </a:ext>
                    </a:extLst>
                  </a:tr>
                </a:tbl>
              </a:graphicData>
            </a:graphic>
          </p:graphicFrame>
        </mc:Fallback>
      </mc:AlternateContent>
      <p:sp>
        <p:nvSpPr>
          <p:cNvPr id="23" name="TextBox 22"/>
          <p:cNvSpPr txBox="1"/>
          <p:nvPr/>
        </p:nvSpPr>
        <p:spPr>
          <a:xfrm>
            <a:off x="0" y="0"/>
            <a:ext cx="4701026" cy="461665"/>
          </a:xfrm>
          <a:prstGeom prst="rect">
            <a:avLst/>
          </a:prstGeom>
          <a:solidFill>
            <a:srgbClr val="FFFF00"/>
          </a:solidFill>
        </p:spPr>
        <p:txBody>
          <a:bodyPr wrap="square" rtlCol="0">
            <a:spAutoFit/>
          </a:bodyPr>
          <a:lstStyle/>
          <a:p>
            <a:r>
              <a:rPr lang="en-AU" sz="2400" dirty="0" smtClean="0"/>
              <a:t>Hypotenuse, opposite and adjacent</a:t>
            </a:r>
            <a:endParaRPr lang="en-AU" sz="2400" dirty="0"/>
          </a:p>
        </p:txBody>
      </p:sp>
    </p:spTree>
    <p:extLst>
      <p:ext uri="{BB962C8B-B14F-4D97-AF65-F5344CB8AC3E}">
        <p14:creationId xmlns:p14="http://schemas.microsoft.com/office/powerpoint/2010/main" val="77124818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0" grpId="0"/>
      <p:bldP spid="3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7147249" y="1676717"/>
            <a:ext cx="4433563" cy="2412683"/>
          </a:xfrm>
          <a:prstGeom prst="rect">
            <a:avLst/>
          </a:prstGeom>
        </p:spPr>
      </p:pic>
      <p:sp>
        <p:nvSpPr>
          <p:cNvPr id="3" name="TextBox 2"/>
          <p:cNvSpPr txBox="1"/>
          <p:nvPr/>
        </p:nvSpPr>
        <p:spPr>
          <a:xfrm>
            <a:off x="147320" y="736600"/>
            <a:ext cx="11780520" cy="1107996"/>
          </a:xfrm>
          <a:prstGeom prst="rect">
            <a:avLst/>
          </a:prstGeom>
          <a:noFill/>
        </p:spPr>
        <p:txBody>
          <a:bodyPr wrap="square" rtlCol="0">
            <a:spAutoFit/>
          </a:bodyPr>
          <a:lstStyle/>
          <a:p>
            <a:r>
              <a:rPr lang="en-AU" sz="2200" dirty="0" smtClean="0"/>
              <a:t>All triangles with three angles the same are </a:t>
            </a:r>
            <a:r>
              <a:rPr lang="en-AU" sz="2200" dirty="0" smtClean="0">
                <a:solidFill>
                  <a:srgbClr val="FF0000"/>
                </a:solidFill>
              </a:rPr>
              <a:t>similar</a:t>
            </a:r>
            <a:r>
              <a:rPr lang="en-AU" sz="2200" dirty="0" smtClean="0"/>
              <a:t> (same shape, different size). </a:t>
            </a:r>
          </a:p>
          <a:p>
            <a:endParaRPr lang="en-AU" sz="2200" dirty="0"/>
          </a:p>
          <a:p>
            <a:r>
              <a:rPr lang="en-AU" sz="2200" dirty="0" smtClean="0"/>
              <a:t>In similar triangles, the ratio BETWEEN sides is also the same.</a:t>
            </a:r>
          </a:p>
        </p:txBody>
      </p:sp>
      <p:pic>
        <p:nvPicPr>
          <p:cNvPr id="4" name="Picture 3"/>
          <p:cNvPicPr>
            <a:picLocks noChangeAspect="1"/>
          </p:cNvPicPr>
          <p:nvPr/>
        </p:nvPicPr>
        <p:blipFill>
          <a:blip r:embed="rId3"/>
          <a:stretch>
            <a:fillRect/>
          </a:stretch>
        </p:blipFill>
        <p:spPr>
          <a:xfrm>
            <a:off x="147320" y="2302510"/>
            <a:ext cx="2801216" cy="1700530"/>
          </a:xfrm>
          <a:prstGeom prst="rect">
            <a:avLst/>
          </a:prstGeom>
        </p:spPr>
      </p:pic>
      <p:pic>
        <p:nvPicPr>
          <p:cNvPr id="5" name="Picture 4"/>
          <p:cNvPicPr>
            <a:picLocks noChangeAspect="1"/>
          </p:cNvPicPr>
          <p:nvPr/>
        </p:nvPicPr>
        <p:blipFill>
          <a:blip r:embed="rId4"/>
          <a:stretch>
            <a:fillRect/>
          </a:stretch>
        </p:blipFill>
        <p:spPr>
          <a:xfrm>
            <a:off x="3275330" y="1936929"/>
            <a:ext cx="3262441" cy="2006282"/>
          </a:xfrm>
          <a:prstGeom prst="rect">
            <a:avLst/>
          </a:prstGeom>
        </p:spPr>
      </p:pic>
      <mc:AlternateContent xmlns:mc="http://schemas.openxmlformats.org/markup-compatibility/2006" xmlns:a14="http://schemas.microsoft.com/office/drawing/2010/main">
        <mc:Choice Requires="a14">
          <p:sp>
            <p:nvSpPr>
              <p:cNvPr id="2" name="TextBox 1"/>
              <p:cNvSpPr txBox="1"/>
              <p:nvPr/>
            </p:nvSpPr>
            <p:spPr>
              <a:xfrm>
                <a:off x="218238" y="5542280"/>
                <a:ext cx="3057092" cy="1095043"/>
              </a:xfrm>
              <a:prstGeom prst="rect">
                <a:avLst/>
              </a:prstGeom>
              <a:solidFill>
                <a:srgbClr val="FFFF00"/>
              </a:solid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AU" sz="3200" b="1" i="1" smtClean="0">
                              <a:latin typeface="Cambria Math" panose="02040503050406030204" pitchFamily="18" charset="0"/>
                            </a:rPr>
                          </m:ctrlPr>
                        </m:fPr>
                        <m:num>
                          <m:r>
                            <a:rPr lang="en-AU" sz="3200" b="1" i="1" smtClean="0">
                              <a:latin typeface="Cambria Math" panose="02040503050406030204" pitchFamily="18" charset="0"/>
                            </a:rPr>
                            <m:t>𝒐𝒑𝒑𝒐𝒔𝒊𝒕𝒆</m:t>
                          </m:r>
                        </m:num>
                        <m:den>
                          <m:r>
                            <a:rPr lang="en-AU" sz="3200" b="1" i="1" smtClean="0">
                              <a:latin typeface="Cambria Math" panose="02040503050406030204" pitchFamily="18" charset="0"/>
                            </a:rPr>
                            <m:t>𝒉𝒚𝒑𝒐𝒕𝒆𝒏𝒖𝒔𝒆</m:t>
                          </m:r>
                        </m:den>
                      </m:f>
                    </m:oMath>
                  </m:oMathPara>
                </a14:m>
                <a:endParaRPr lang="en-AU" sz="3200" b="1" dirty="0"/>
              </a:p>
            </p:txBody>
          </p:sp>
        </mc:Choice>
        <mc:Fallback xmlns="">
          <p:sp>
            <p:nvSpPr>
              <p:cNvPr id="2" name="TextBox 1"/>
              <p:cNvSpPr txBox="1">
                <a:spLocks noRot="1" noChangeAspect="1" noMove="1" noResize="1" noEditPoints="1" noAdjustHandles="1" noChangeArrowheads="1" noChangeShapeType="1" noTextEdit="1"/>
              </p:cNvSpPr>
              <p:nvPr/>
            </p:nvSpPr>
            <p:spPr>
              <a:xfrm>
                <a:off x="218238" y="5542280"/>
                <a:ext cx="3057092" cy="1095043"/>
              </a:xfrm>
              <a:prstGeom prst="rect">
                <a:avLst/>
              </a:prstGeom>
              <a:blipFill rotWithShape="0">
                <a:blip r:embed="rId5"/>
                <a:stretch>
                  <a:fillRect/>
                </a:stretch>
              </a:blipFill>
            </p:spPr>
            <p:txBody>
              <a:bodyPr/>
              <a:lstStyle/>
              <a:p>
                <a:r>
                  <a:rPr lang="en-AU">
                    <a:noFill/>
                  </a:rPr>
                  <a:t> </a:t>
                </a:r>
              </a:p>
            </p:txBody>
          </p:sp>
        </mc:Fallback>
      </mc:AlternateContent>
      <p:cxnSp>
        <p:nvCxnSpPr>
          <p:cNvPr id="18" name="Straight Arrow Connector 17"/>
          <p:cNvCxnSpPr/>
          <p:nvPr/>
        </p:nvCxnSpPr>
        <p:spPr>
          <a:xfrm flipH="1" flipV="1">
            <a:off x="1590040" y="3078480"/>
            <a:ext cx="1013218" cy="48265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V="1">
            <a:off x="614680" y="3152776"/>
            <a:ext cx="1988578" cy="382835"/>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V="1">
            <a:off x="343359" y="3561136"/>
            <a:ext cx="2322493" cy="21518"/>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TextBox 13"/>
              <p:cNvSpPr txBox="1"/>
              <p:nvPr/>
            </p:nvSpPr>
            <p:spPr>
              <a:xfrm>
                <a:off x="222048" y="4057328"/>
                <a:ext cx="2651760" cy="101752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AU" sz="3200" b="1" i="1" smtClean="0">
                              <a:latin typeface="Cambria Math" panose="02040503050406030204" pitchFamily="18" charset="0"/>
                            </a:rPr>
                          </m:ctrlPr>
                        </m:fPr>
                        <m:num>
                          <m:r>
                            <a:rPr lang="en-AU" sz="3200" b="1" i="1" smtClean="0">
                              <a:latin typeface="Cambria Math" panose="02040503050406030204" pitchFamily="18" charset="0"/>
                            </a:rPr>
                            <m:t>𝑶</m:t>
                          </m:r>
                        </m:num>
                        <m:den>
                          <m:r>
                            <a:rPr lang="en-AU" sz="3200" b="1" i="1" smtClean="0">
                              <a:latin typeface="Cambria Math" panose="02040503050406030204" pitchFamily="18" charset="0"/>
                            </a:rPr>
                            <m:t>𝑯</m:t>
                          </m:r>
                        </m:den>
                      </m:f>
                      <m:r>
                        <a:rPr lang="en-AU" sz="3200" b="1" i="1" smtClean="0">
                          <a:latin typeface="Cambria Math" panose="02040503050406030204" pitchFamily="18" charset="0"/>
                        </a:rPr>
                        <m:t>=</m:t>
                      </m:r>
                      <m:f>
                        <m:fPr>
                          <m:ctrlPr>
                            <a:rPr lang="en-AU" sz="3200" b="1" i="1" smtClean="0">
                              <a:latin typeface="Cambria Math" panose="02040503050406030204" pitchFamily="18" charset="0"/>
                            </a:rPr>
                          </m:ctrlPr>
                        </m:fPr>
                        <m:num>
                          <m:r>
                            <a:rPr lang="en-AU" sz="3200" b="1" i="1" smtClean="0">
                              <a:latin typeface="Cambria Math" panose="02040503050406030204" pitchFamily="18" charset="0"/>
                            </a:rPr>
                            <m:t>𝟑</m:t>
                          </m:r>
                        </m:num>
                        <m:den>
                          <m:r>
                            <a:rPr lang="en-AU" sz="3200" b="1" i="1" smtClean="0">
                              <a:latin typeface="Cambria Math" panose="02040503050406030204" pitchFamily="18" charset="0"/>
                            </a:rPr>
                            <m:t>𝟓</m:t>
                          </m:r>
                        </m:den>
                      </m:f>
                      <m:r>
                        <a:rPr lang="en-AU" sz="3200" b="1" i="1" smtClean="0">
                          <a:latin typeface="Cambria Math" panose="02040503050406030204" pitchFamily="18" charset="0"/>
                        </a:rPr>
                        <m:t>=</m:t>
                      </m:r>
                      <m:r>
                        <a:rPr lang="en-AU" sz="3200" b="1" i="1" smtClean="0">
                          <a:latin typeface="Cambria Math" panose="02040503050406030204" pitchFamily="18" charset="0"/>
                        </a:rPr>
                        <m:t>𝟎</m:t>
                      </m:r>
                      <m:r>
                        <a:rPr lang="en-AU" sz="3200" b="1" i="1" smtClean="0">
                          <a:latin typeface="Cambria Math" panose="02040503050406030204" pitchFamily="18" charset="0"/>
                        </a:rPr>
                        <m:t>.</m:t>
                      </m:r>
                      <m:r>
                        <a:rPr lang="en-AU" sz="3200" b="1" i="1" smtClean="0">
                          <a:latin typeface="Cambria Math" panose="02040503050406030204" pitchFamily="18" charset="0"/>
                        </a:rPr>
                        <m:t>𝟔</m:t>
                      </m:r>
                    </m:oMath>
                  </m:oMathPara>
                </a14:m>
                <a:endParaRPr lang="en-AU" sz="3200" b="1" dirty="0"/>
              </a:p>
            </p:txBody>
          </p:sp>
        </mc:Choice>
        <mc:Fallback xmlns="">
          <p:sp>
            <p:nvSpPr>
              <p:cNvPr id="14" name="TextBox 13"/>
              <p:cNvSpPr txBox="1">
                <a:spLocks noRot="1" noChangeAspect="1" noMove="1" noResize="1" noEditPoints="1" noAdjustHandles="1" noChangeArrowheads="1" noChangeShapeType="1" noTextEdit="1"/>
              </p:cNvSpPr>
              <p:nvPr/>
            </p:nvSpPr>
            <p:spPr>
              <a:xfrm>
                <a:off x="222048" y="4057328"/>
                <a:ext cx="2651760" cy="1017523"/>
              </a:xfrm>
              <a:prstGeom prst="rect">
                <a:avLst/>
              </a:prstGeom>
              <a:blipFill rotWithShape="0">
                <a:blip r:embed="rId6"/>
                <a:stretch>
                  <a:fillRect/>
                </a:stretch>
              </a:blipFill>
            </p:spPr>
            <p:txBody>
              <a:bodyPr/>
              <a:lstStyle/>
              <a:p>
                <a:r>
                  <a:rPr lang="en-AU">
                    <a:noFill/>
                  </a:rPr>
                  <a:t> </a:t>
                </a:r>
              </a:p>
            </p:txBody>
          </p:sp>
        </mc:Fallback>
      </mc:AlternateContent>
      <p:cxnSp>
        <p:nvCxnSpPr>
          <p:cNvPr id="26" name="Straight Arrow Connector 25"/>
          <p:cNvCxnSpPr/>
          <p:nvPr/>
        </p:nvCxnSpPr>
        <p:spPr>
          <a:xfrm flipH="1" flipV="1">
            <a:off x="4815840" y="2987040"/>
            <a:ext cx="1098510" cy="57409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V="1">
            <a:off x="3533140" y="2987040"/>
            <a:ext cx="2708004" cy="548571"/>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3403600" y="3567683"/>
            <a:ext cx="2890520" cy="1"/>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9" name="TextBox 28"/>
              <p:cNvSpPr txBox="1"/>
              <p:nvPr/>
            </p:nvSpPr>
            <p:spPr>
              <a:xfrm>
                <a:off x="3441699" y="4047680"/>
                <a:ext cx="3004631" cy="101752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AU" sz="3200" b="1" i="1">
                              <a:latin typeface="Cambria Math" panose="02040503050406030204" pitchFamily="18" charset="0"/>
                            </a:rPr>
                          </m:ctrlPr>
                        </m:fPr>
                        <m:num>
                          <m:r>
                            <a:rPr lang="en-AU" sz="3200" b="1" i="1">
                              <a:latin typeface="Cambria Math" panose="02040503050406030204" pitchFamily="18" charset="0"/>
                            </a:rPr>
                            <m:t>𝑶</m:t>
                          </m:r>
                        </m:num>
                        <m:den>
                          <m:r>
                            <a:rPr lang="en-AU" sz="3200" b="1" i="1">
                              <a:latin typeface="Cambria Math" panose="02040503050406030204" pitchFamily="18" charset="0"/>
                            </a:rPr>
                            <m:t>𝑯</m:t>
                          </m:r>
                        </m:den>
                      </m:f>
                      <m:r>
                        <a:rPr lang="en-AU" sz="3200" b="1" i="1">
                          <a:latin typeface="Cambria Math" panose="02040503050406030204" pitchFamily="18" charset="0"/>
                        </a:rPr>
                        <m:t>=</m:t>
                      </m:r>
                      <m:f>
                        <m:fPr>
                          <m:ctrlPr>
                            <a:rPr lang="en-AU" sz="3200" b="1" i="1" smtClean="0">
                              <a:latin typeface="Cambria Math" panose="02040503050406030204" pitchFamily="18" charset="0"/>
                            </a:rPr>
                          </m:ctrlPr>
                        </m:fPr>
                        <m:num>
                          <m:r>
                            <a:rPr lang="en-AU" sz="3200" b="1" i="1" smtClean="0">
                              <a:latin typeface="Cambria Math" panose="02040503050406030204" pitchFamily="18" charset="0"/>
                            </a:rPr>
                            <m:t>𝟔</m:t>
                          </m:r>
                        </m:num>
                        <m:den>
                          <m:r>
                            <a:rPr lang="en-AU" sz="3200" b="1" i="1" smtClean="0">
                              <a:latin typeface="Cambria Math" panose="02040503050406030204" pitchFamily="18" charset="0"/>
                            </a:rPr>
                            <m:t>𝟏𝟎</m:t>
                          </m:r>
                        </m:den>
                      </m:f>
                      <m:r>
                        <a:rPr lang="en-AU" sz="3200" b="1" i="1" smtClean="0">
                          <a:latin typeface="Cambria Math" panose="02040503050406030204" pitchFamily="18" charset="0"/>
                        </a:rPr>
                        <m:t>=</m:t>
                      </m:r>
                      <m:r>
                        <a:rPr lang="en-AU" sz="3200" b="1" i="1" smtClean="0">
                          <a:latin typeface="Cambria Math" panose="02040503050406030204" pitchFamily="18" charset="0"/>
                        </a:rPr>
                        <m:t>𝟎</m:t>
                      </m:r>
                      <m:r>
                        <a:rPr lang="en-AU" sz="3200" b="1" i="1" smtClean="0">
                          <a:latin typeface="Cambria Math" panose="02040503050406030204" pitchFamily="18" charset="0"/>
                        </a:rPr>
                        <m:t>.</m:t>
                      </m:r>
                      <m:r>
                        <a:rPr lang="en-AU" sz="3200" b="1" i="1" smtClean="0">
                          <a:latin typeface="Cambria Math" panose="02040503050406030204" pitchFamily="18" charset="0"/>
                        </a:rPr>
                        <m:t>𝟔</m:t>
                      </m:r>
                    </m:oMath>
                  </m:oMathPara>
                </a14:m>
                <a:endParaRPr lang="en-AU" sz="3200" b="1" dirty="0"/>
              </a:p>
            </p:txBody>
          </p:sp>
        </mc:Choice>
        <mc:Fallback xmlns="">
          <p:sp>
            <p:nvSpPr>
              <p:cNvPr id="29" name="TextBox 28"/>
              <p:cNvSpPr txBox="1">
                <a:spLocks noRot="1" noChangeAspect="1" noMove="1" noResize="1" noEditPoints="1" noAdjustHandles="1" noChangeArrowheads="1" noChangeShapeType="1" noTextEdit="1"/>
              </p:cNvSpPr>
              <p:nvPr/>
            </p:nvSpPr>
            <p:spPr>
              <a:xfrm>
                <a:off x="3441699" y="4047680"/>
                <a:ext cx="3004631" cy="1017523"/>
              </a:xfrm>
              <a:prstGeom prst="rect">
                <a:avLst/>
              </a:prstGeom>
              <a:blipFill rotWithShape="0">
                <a:blip r:embed="rId7"/>
                <a:stretch>
                  <a:fillRect/>
                </a:stretch>
              </a:blipFill>
            </p:spPr>
            <p:txBody>
              <a:bodyPr/>
              <a:lstStyle/>
              <a:p>
                <a:r>
                  <a:rPr lang="en-AU">
                    <a:noFill/>
                  </a:rPr>
                  <a:t> </a:t>
                </a:r>
              </a:p>
            </p:txBody>
          </p:sp>
        </mc:Fallback>
      </mc:AlternateContent>
      <p:cxnSp>
        <p:nvCxnSpPr>
          <p:cNvPr id="30" name="Straight Arrow Connector 29"/>
          <p:cNvCxnSpPr/>
          <p:nvPr/>
        </p:nvCxnSpPr>
        <p:spPr>
          <a:xfrm flipH="1" flipV="1">
            <a:off x="9413954" y="2698742"/>
            <a:ext cx="1825972" cy="89845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flipV="1">
            <a:off x="7500120" y="2877046"/>
            <a:ext cx="3645400" cy="716162"/>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V="1">
            <a:off x="7221977" y="3632200"/>
            <a:ext cx="4017949" cy="23166"/>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TextBox 32"/>
              <p:cNvSpPr txBox="1"/>
              <p:nvPr/>
            </p:nvSpPr>
            <p:spPr>
              <a:xfrm>
                <a:off x="7072521" y="4089400"/>
                <a:ext cx="3667313" cy="101752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AU" sz="3200" b="1" i="1">
                              <a:latin typeface="Cambria Math" panose="02040503050406030204" pitchFamily="18" charset="0"/>
                            </a:rPr>
                          </m:ctrlPr>
                        </m:fPr>
                        <m:num>
                          <m:r>
                            <a:rPr lang="en-AU" sz="3200" b="1" i="1">
                              <a:latin typeface="Cambria Math" panose="02040503050406030204" pitchFamily="18" charset="0"/>
                            </a:rPr>
                            <m:t>𝑶</m:t>
                          </m:r>
                        </m:num>
                        <m:den>
                          <m:r>
                            <a:rPr lang="en-AU" sz="3200" b="1" i="1">
                              <a:latin typeface="Cambria Math" panose="02040503050406030204" pitchFamily="18" charset="0"/>
                            </a:rPr>
                            <m:t>𝑯</m:t>
                          </m:r>
                        </m:den>
                      </m:f>
                      <m:r>
                        <a:rPr lang="en-AU" sz="3200" b="1" i="1">
                          <a:latin typeface="Cambria Math" panose="02040503050406030204" pitchFamily="18" charset="0"/>
                        </a:rPr>
                        <m:t>=</m:t>
                      </m:r>
                      <m:f>
                        <m:fPr>
                          <m:ctrlPr>
                            <a:rPr lang="en-AU" sz="3200" b="1" i="1" smtClean="0">
                              <a:latin typeface="Cambria Math" panose="02040503050406030204" pitchFamily="18" charset="0"/>
                            </a:rPr>
                          </m:ctrlPr>
                        </m:fPr>
                        <m:num>
                          <m:r>
                            <a:rPr lang="en-AU" sz="3200" b="1" i="1" smtClean="0">
                              <a:latin typeface="Cambria Math" panose="02040503050406030204" pitchFamily="18" charset="0"/>
                            </a:rPr>
                            <m:t>𝟗</m:t>
                          </m:r>
                        </m:num>
                        <m:den>
                          <m:r>
                            <a:rPr lang="en-AU" sz="3200" b="1" i="1" smtClean="0">
                              <a:latin typeface="Cambria Math" panose="02040503050406030204" pitchFamily="18" charset="0"/>
                            </a:rPr>
                            <m:t>𝟏𝟓</m:t>
                          </m:r>
                        </m:den>
                      </m:f>
                      <m:r>
                        <a:rPr lang="en-AU" sz="3200" b="1" i="1" smtClean="0">
                          <a:latin typeface="Cambria Math" panose="02040503050406030204" pitchFamily="18" charset="0"/>
                        </a:rPr>
                        <m:t>=</m:t>
                      </m:r>
                      <m:r>
                        <a:rPr lang="en-AU" sz="3200" b="1" i="1" smtClean="0">
                          <a:latin typeface="Cambria Math" panose="02040503050406030204" pitchFamily="18" charset="0"/>
                        </a:rPr>
                        <m:t>𝟎</m:t>
                      </m:r>
                      <m:r>
                        <a:rPr lang="en-AU" sz="3200" b="1" i="1" smtClean="0">
                          <a:latin typeface="Cambria Math" panose="02040503050406030204" pitchFamily="18" charset="0"/>
                        </a:rPr>
                        <m:t>.</m:t>
                      </m:r>
                      <m:r>
                        <a:rPr lang="en-AU" sz="3200" b="1" i="1" smtClean="0">
                          <a:latin typeface="Cambria Math" panose="02040503050406030204" pitchFamily="18" charset="0"/>
                        </a:rPr>
                        <m:t>𝟔</m:t>
                      </m:r>
                    </m:oMath>
                  </m:oMathPara>
                </a14:m>
                <a:endParaRPr lang="en-AU" sz="3200" b="1" dirty="0"/>
              </a:p>
            </p:txBody>
          </p:sp>
        </mc:Choice>
        <mc:Fallback xmlns="">
          <p:sp>
            <p:nvSpPr>
              <p:cNvPr id="33" name="TextBox 32"/>
              <p:cNvSpPr txBox="1">
                <a:spLocks noRot="1" noChangeAspect="1" noMove="1" noResize="1" noEditPoints="1" noAdjustHandles="1" noChangeArrowheads="1" noChangeShapeType="1" noTextEdit="1"/>
              </p:cNvSpPr>
              <p:nvPr/>
            </p:nvSpPr>
            <p:spPr>
              <a:xfrm>
                <a:off x="7072521" y="4089400"/>
                <a:ext cx="3667313" cy="1017523"/>
              </a:xfrm>
              <a:prstGeom prst="rect">
                <a:avLst/>
              </a:prstGeom>
              <a:blipFill rotWithShape="0">
                <a:blip r:embed="rId8"/>
                <a:stretch>
                  <a:fillRect/>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34" name="TextBox 33"/>
              <p:cNvSpPr txBox="1"/>
              <p:nvPr/>
            </p:nvSpPr>
            <p:spPr>
              <a:xfrm>
                <a:off x="3799841" y="5720154"/>
                <a:ext cx="8194040" cy="769441"/>
              </a:xfrm>
              <a:prstGeom prst="rect">
                <a:avLst/>
              </a:prstGeom>
              <a:noFill/>
            </p:spPr>
            <p:txBody>
              <a:bodyPr wrap="square" rtlCol="0">
                <a:spAutoFit/>
              </a:bodyPr>
              <a:lstStyle/>
              <a:p>
                <a:pPr algn="ctr"/>
                <a:r>
                  <a:rPr lang="en-AU" sz="2200" dirty="0" smtClean="0"/>
                  <a:t>For ANY right-angled triangle with a reference angle of </a:t>
                </a:r>
                <a14:m>
                  <m:oMath xmlns:m="http://schemas.openxmlformats.org/officeDocument/2006/math">
                    <m:r>
                      <a:rPr lang="en-AU" sz="2200" b="0" i="1" smtClean="0">
                        <a:latin typeface="Cambria Math" panose="02040503050406030204" pitchFamily="18" charset="0"/>
                      </a:rPr>
                      <m:t>37</m:t>
                    </m:r>
                    <m:r>
                      <a:rPr lang="en-AU" sz="2200" b="0" i="1" smtClean="0">
                        <a:latin typeface="Cambria Math" panose="02040503050406030204" pitchFamily="18" charset="0"/>
                        <a:ea typeface="Cambria Math" panose="02040503050406030204" pitchFamily="18" charset="0"/>
                      </a:rPr>
                      <m:t>°</m:t>
                    </m:r>
                  </m:oMath>
                </a14:m>
                <a:r>
                  <a:rPr lang="en-AU" sz="2200" dirty="0" smtClean="0"/>
                  <a:t>, the ratio of the opposite to the hypotenuse will always be 0.6 (1dp)</a:t>
                </a:r>
                <a:endParaRPr lang="en-AU" sz="2200" dirty="0"/>
              </a:p>
            </p:txBody>
          </p:sp>
        </mc:Choice>
        <mc:Fallback>
          <p:sp>
            <p:nvSpPr>
              <p:cNvPr id="34" name="TextBox 33"/>
              <p:cNvSpPr txBox="1">
                <a:spLocks noRot="1" noChangeAspect="1" noMove="1" noResize="1" noEditPoints="1" noAdjustHandles="1" noChangeArrowheads="1" noChangeShapeType="1" noTextEdit="1"/>
              </p:cNvSpPr>
              <p:nvPr/>
            </p:nvSpPr>
            <p:spPr>
              <a:xfrm>
                <a:off x="3799841" y="5720154"/>
                <a:ext cx="8194040" cy="769441"/>
              </a:xfrm>
              <a:prstGeom prst="rect">
                <a:avLst/>
              </a:prstGeom>
              <a:blipFill>
                <a:blip r:embed="rId9"/>
                <a:stretch>
                  <a:fillRect t="-4724" r="-74" b="-14961"/>
                </a:stretch>
              </a:blipFill>
            </p:spPr>
            <p:txBody>
              <a:bodyPr/>
              <a:lstStyle/>
              <a:p>
                <a:r>
                  <a:rPr lang="en-AU">
                    <a:noFill/>
                  </a:rPr>
                  <a:t> </a:t>
                </a:r>
              </a:p>
            </p:txBody>
          </p:sp>
        </mc:Fallback>
      </mc:AlternateContent>
      <p:sp>
        <p:nvSpPr>
          <p:cNvPr id="21" name="TextBox 20"/>
          <p:cNvSpPr txBox="1"/>
          <p:nvPr/>
        </p:nvSpPr>
        <p:spPr>
          <a:xfrm>
            <a:off x="0" y="0"/>
            <a:ext cx="4701026" cy="461665"/>
          </a:xfrm>
          <a:prstGeom prst="rect">
            <a:avLst/>
          </a:prstGeom>
          <a:solidFill>
            <a:srgbClr val="FFFF00"/>
          </a:solidFill>
        </p:spPr>
        <p:txBody>
          <a:bodyPr wrap="square" rtlCol="0">
            <a:spAutoFit/>
          </a:bodyPr>
          <a:lstStyle/>
          <a:p>
            <a:r>
              <a:rPr lang="en-AU" sz="2400" dirty="0" smtClean="0"/>
              <a:t>Hypotenuse, opposite and adjacent</a:t>
            </a:r>
            <a:endParaRPr lang="en-AU" sz="2400" dirty="0"/>
          </a:p>
        </p:txBody>
      </p:sp>
    </p:spTree>
    <p:extLst>
      <p:ext uri="{BB962C8B-B14F-4D97-AF65-F5344CB8AC3E}">
        <p14:creationId xmlns:p14="http://schemas.microsoft.com/office/powerpoint/2010/main" val="221210640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9" grpId="0"/>
      <p:bldP spid="33" grpId="0"/>
      <p:bldP spid="3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7147249" y="1676717"/>
            <a:ext cx="4433563" cy="2412683"/>
          </a:xfrm>
          <a:prstGeom prst="rect">
            <a:avLst/>
          </a:prstGeom>
        </p:spPr>
      </p:pic>
      <p:sp>
        <p:nvSpPr>
          <p:cNvPr id="3" name="TextBox 2"/>
          <p:cNvSpPr txBox="1"/>
          <p:nvPr/>
        </p:nvSpPr>
        <p:spPr>
          <a:xfrm>
            <a:off x="147320" y="736600"/>
            <a:ext cx="11780520" cy="1107996"/>
          </a:xfrm>
          <a:prstGeom prst="rect">
            <a:avLst/>
          </a:prstGeom>
          <a:noFill/>
        </p:spPr>
        <p:txBody>
          <a:bodyPr wrap="square" rtlCol="0">
            <a:spAutoFit/>
          </a:bodyPr>
          <a:lstStyle/>
          <a:p>
            <a:r>
              <a:rPr lang="en-AU" sz="2200" dirty="0" smtClean="0"/>
              <a:t>All triangles with three angles the same are </a:t>
            </a:r>
            <a:r>
              <a:rPr lang="en-AU" sz="2200" dirty="0" smtClean="0">
                <a:solidFill>
                  <a:srgbClr val="FF0000"/>
                </a:solidFill>
              </a:rPr>
              <a:t>similar</a:t>
            </a:r>
            <a:r>
              <a:rPr lang="en-AU" sz="2200" dirty="0" smtClean="0"/>
              <a:t> (same shape, different size). </a:t>
            </a:r>
          </a:p>
          <a:p>
            <a:endParaRPr lang="en-AU" sz="2200" dirty="0"/>
          </a:p>
          <a:p>
            <a:r>
              <a:rPr lang="en-AU" sz="2200" dirty="0" smtClean="0"/>
              <a:t>In similar triangles, the ratio BETWEEN sides is also the same.</a:t>
            </a:r>
          </a:p>
        </p:txBody>
      </p:sp>
      <p:pic>
        <p:nvPicPr>
          <p:cNvPr id="4" name="Picture 3"/>
          <p:cNvPicPr>
            <a:picLocks noChangeAspect="1"/>
          </p:cNvPicPr>
          <p:nvPr/>
        </p:nvPicPr>
        <p:blipFill>
          <a:blip r:embed="rId3"/>
          <a:stretch>
            <a:fillRect/>
          </a:stretch>
        </p:blipFill>
        <p:spPr>
          <a:xfrm>
            <a:off x="147320" y="2302510"/>
            <a:ext cx="2801216" cy="1700530"/>
          </a:xfrm>
          <a:prstGeom prst="rect">
            <a:avLst/>
          </a:prstGeom>
        </p:spPr>
      </p:pic>
      <p:pic>
        <p:nvPicPr>
          <p:cNvPr id="5" name="Picture 4"/>
          <p:cNvPicPr>
            <a:picLocks noChangeAspect="1"/>
          </p:cNvPicPr>
          <p:nvPr/>
        </p:nvPicPr>
        <p:blipFill>
          <a:blip r:embed="rId4"/>
          <a:stretch>
            <a:fillRect/>
          </a:stretch>
        </p:blipFill>
        <p:spPr>
          <a:xfrm>
            <a:off x="3275330" y="1936929"/>
            <a:ext cx="3262441" cy="2006282"/>
          </a:xfrm>
          <a:prstGeom prst="rect">
            <a:avLst/>
          </a:prstGeom>
        </p:spPr>
      </p:pic>
      <mc:AlternateContent xmlns:mc="http://schemas.openxmlformats.org/markup-compatibility/2006" xmlns:a14="http://schemas.microsoft.com/office/drawing/2010/main">
        <mc:Choice Requires="a14">
          <p:sp>
            <p:nvSpPr>
              <p:cNvPr id="2" name="TextBox 1"/>
              <p:cNvSpPr txBox="1"/>
              <p:nvPr/>
            </p:nvSpPr>
            <p:spPr>
              <a:xfrm>
                <a:off x="218238" y="5542280"/>
                <a:ext cx="3057092" cy="1112099"/>
              </a:xfrm>
              <a:prstGeom prst="rect">
                <a:avLst/>
              </a:prstGeom>
              <a:solidFill>
                <a:srgbClr val="FFFF00"/>
              </a:solid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AU" sz="3200" b="1" i="1" smtClean="0">
                              <a:latin typeface="Cambria Math" panose="02040503050406030204" pitchFamily="18" charset="0"/>
                            </a:rPr>
                          </m:ctrlPr>
                        </m:fPr>
                        <m:num>
                          <m:r>
                            <a:rPr lang="en-AU" sz="3200" b="1" i="1" smtClean="0">
                              <a:latin typeface="Cambria Math" panose="02040503050406030204" pitchFamily="18" charset="0"/>
                            </a:rPr>
                            <m:t>𝒂𝒅𝒋𝒂𝒄𝒆𝒏𝒕</m:t>
                          </m:r>
                        </m:num>
                        <m:den>
                          <m:r>
                            <a:rPr lang="en-AU" sz="3200" b="1" i="1" smtClean="0">
                              <a:latin typeface="Cambria Math" panose="02040503050406030204" pitchFamily="18" charset="0"/>
                            </a:rPr>
                            <m:t>𝒉𝒚𝒑𝒐𝒕𝒆𝒏𝒖𝒔𝒆</m:t>
                          </m:r>
                        </m:den>
                      </m:f>
                    </m:oMath>
                  </m:oMathPara>
                </a14:m>
                <a:endParaRPr lang="en-AU" sz="3200" b="1" dirty="0"/>
              </a:p>
            </p:txBody>
          </p:sp>
        </mc:Choice>
        <mc:Fallback xmlns="">
          <p:sp>
            <p:nvSpPr>
              <p:cNvPr id="2" name="TextBox 1"/>
              <p:cNvSpPr txBox="1">
                <a:spLocks noRot="1" noChangeAspect="1" noMove="1" noResize="1" noEditPoints="1" noAdjustHandles="1" noChangeArrowheads="1" noChangeShapeType="1" noTextEdit="1"/>
              </p:cNvSpPr>
              <p:nvPr/>
            </p:nvSpPr>
            <p:spPr>
              <a:xfrm>
                <a:off x="218238" y="5542280"/>
                <a:ext cx="3057092" cy="1112099"/>
              </a:xfrm>
              <a:prstGeom prst="rect">
                <a:avLst/>
              </a:prstGeom>
              <a:blipFill rotWithShape="0">
                <a:blip r:embed="rId5"/>
                <a:stretch>
                  <a:fillRect/>
                </a:stretch>
              </a:blipFill>
            </p:spPr>
            <p:txBody>
              <a:bodyPr/>
              <a:lstStyle/>
              <a:p>
                <a:r>
                  <a:rPr lang="en-AU">
                    <a:noFill/>
                  </a:rPr>
                  <a:t> </a:t>
                </a:r>
              </a:p>
            </p:txBody>
          </p:sp>
        </mc:Fallback>
      </mc:AlternateContent>
      <p:cxnSp>
        <p:nvCxnSpPr>
          <p:cNvPr id="18" name="Straight Arrow Connector 17"/>
          <p:cNvCxnSpPr/>
          <p:nvPr/>
        </p:nvCxnSpPr>
        <p:spPr>
          <a:xfrm flipH="1" flipV="1">
            <a:off x="1590040" y="3078480"/>
            <a:ext cx="1013218" cy="48265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V="1">
            <a:off x="614680" y="3152776"/>
            <a:ext cx="1988578" cy="382835"/>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V="1">
            <a:off x="343359" y="3561136"/>
            <a:ext cx="2322493" cy="21518"/>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TextBox 13"/>
              <p:cNvSpPr txBox="1"/>
              <p:nvPr/>
            </p:nvSpPr>
            <p:spPr>
              <a:xfrm>
                <a:off x="222048" y="4057328"/>
                <a:ext cx="2651760" cy="101572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AU" sz="3200" b="1" i="1" smtClean="0">
                              <a:latin typeface="Cambria Math" panose="02040503050406030204" pitchFamily="18" charset="0"/>
                            </a:rPr>
                          </m:ctrlPr>
                        </m:fPr>
                        <m:num>
                          <m:r>
                            <a:rPr lang="en-AU" sz="3200" b="1" i="1" smtClean="0">
                              <a:latin typeface="Cambria Math" panose="02040503050406030204" pitchFamily="18" charset="0"/>
                            </a:rPr>
                            <m:t>𝑨</m:t>
                          </m:r>
                        </m:num>
                        <m:den>
                          <m:r>
                            <a:rPr lang="en-AU" sz="3200" b="1" i="1">
                              <a:latin typeface="Cambria Math" panose="02040503050406030204" pitchFamily="18" charset="0"/>
                            </a:rPr>
                            <m:t>𝑯</m:t>
                          </m:r>
                        </m:den>
                      </m:f>
                      <m:r>
                        <a:rPr lang="en-AU" sz="3200" b="1" i="1">
                          <a:latin typeface="Cambria Math" panose="02040503050406030204" pitchFamily="18" charset="0"/>
                        </a:rPr>
                        <m:t>=</m:t>
                      </m:r>
                      <m:f>
                        <m:fPr>
                          <m:ctrlPr>
                            <a:rPr lang="en-AU" sz="3200" b="1" i="1" smtClean="0">
                              <a:latin typeface="Cambria Math" panose="02040503050406030204" pitchFamily="18" charset="0"/>
                            </a:rPr>
                          </m:ctrlPr>
                        </m:fPr>
                        <m:num>
                          <m:r>
                            <a:rPr lang="en-AU" sz="3200" b="1" i="1" smtClean="0">
                              <a:latin typeface="Cambria Math" panose="02040503050406030204" pitchFamily="18" charset="0"/>
                            </a:rPr>
                            <m:t>𝟒</m:t>
                          </m:r>
                        </m:num>
                        <m:den>
                          <m:r>
                            <a:rPr lang="en-AU" sz="3200" b="1" i="1" smtClean="0">
                              <a:latin typeface="Cambria Math" panose="02040503050406030204" pitchFamily="18" charset="0"/>
                            </a:rPr>
                            <m:t>𝟓</m:t>
                          </m:r>
                        </m:den>
                      </m:f>
                      <m:r>
                        <a:rPr lang="en-AU" sz="3200" b="1" i="1" smtClean="0">
                          <a:latin typeface="Cambria Math" panose="02040503050406030204" pitchFamily="18" charset="0"/>
                        </a:rPr>
                        <m:t>=</m:t>
                      </m:r>
                      <m:r>
                        <a:rPr lang="en-AU" sz="3200" b="1" i="1" smtClean="0">
                          <a:latin typeface="Cambria Math" panose="02040503050406030204" pitchFamily="18" charset="0"/>
                        </a:rPr>
                        <m:t>𝟎</m:t>
                      </m:r>
                      <m:r>
                        <a:rPr lang="en-AU" sz="3200" b="1" i="1" smtClean="0">
                          <a:latin typeface="Cambria Math" panose="02040503050406030204" pitchFamily="18" charset="0"/>
                        </a:rPr>
                        <m:t>.</m:t>
                      </m:r>
                      <m:r>
                        <a:rPr lang="en-AU" sz="3200" b="1" i="1" smtClean="0">
                          <a:latin typeface="Cambria Math" panose="02040503050406030204" pitchFamily="18" charset="0"/>
                        </a:rPr>
                        <m:t>𝟖</m:t>
                      </m:r>
                    </m:oMath>
                  </m:oMathPara>
                </a14:m>
                <a:endParaRPr lang="en-AU" sz="3200" b="1" dirty="0"/>
              </a:p>
            </p:txBody>
          </p:sp>
        </mc:Choice>
        <mc:Fallback xmlns="">
          <p:sp>
            <p:nvSpPr>
              <p:cNvPr id="14" name="TextBox 13"/>
              <p:cNvSpPr txBox="1">
                <a:spLocks noRot="1" noChangeAspect="1" noMove="1" noResize="1" noEditPoints="1" noAdjustHandles="1" noChangeArrowheads="1" noChangeShapeType="1" noTextEdit="1"/>
              </p:cNvSpPr>
              <p:nvPr/>
            </p:nvSpPr>
            <p:spPr>
              <a:xfrm>
                <a:off x="222048" y="4057328"/>
                <a:ext cx="2651760" cy="1015727"/>
              </a:xfrm>
              <a:prstGeom prst="rect">
                <a:avLst/>
              </a:prstGeom>
              <a:blipFill rotWithShape="0">
                <a:blip r:embed="rId6"/>
                <a:stretch>
                  <a:fillRect/>
                </a:stretch>
              </a:blipFill>
            </p:spPr>
            <p:txBody>
              <a:bodyPr/>
              <a:lstStyle/>
              <a:p>
                <a:r>
                  <a:rPr lang="en-AU">
                    <a:noFill/>
                  </a:rPr>
                  <a:t> </a:t>
                </a:r>
              </a:p>
            </p:txBody>
          </p:sp>
        </mc:Fallback>
      </mc:AlternateContent>
      <p:cxnSp>
        <p:nvCxnSpPr>
          <p:cNvPr id="26" name="Straight Arrow Connector 25"/>
          <p:cNvCxnSpPr/>
          <p:nvPr/>
        </p:nvCxnSpPr>
        <p:spPr>
          <a:xfrm flipH="1" flipV="1">
            <a:off x="4815840" y="2987040"/>
            <a:ext cx="1098510" cy="57409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V="1">
            <a:off x="3533140" y="2987040"/>
            <a:ext cx="2708004" cy="548571"/>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3403600" y="3567683"/>
            <a:ext cx="2890520" cy="1"/>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9" name="TextBox 28"/>
              <p:cNvSpPr txBox="1"/>
              <p:nvPr/>
            </p:nvSpPr>
            <p:spPr>
              <a:xfrm>
                <a:off x="3533140" y="4057328"/>
                <a:ext cx="2948940" cy="101752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AU" sz="3200" b="1" i="1">
                              <a:latin typeface="Cambria Math" panose="02040503050406030204" pitchFamily="18" charset="0"/>
                            </a:rPr>
                          </m:ctrlPr>
                        </m:fPr>
                        <m:num>
                          <m:r>
                            <a:rPr lang="en-AU" sz="3200" b="1" i="1">
                              <a:latin typeface="Cambria Math" panose="02040503050406030204" pitchFamily="18" charset="0"/>
                            </a:rPr>
                            <m:t>𝑨</m:t>
                          </m:r>
                        </m:num>
                        <m:den>
                          <m:r>
                            <a:rPr lang="en-AU" sz="3200" b="1" i="1">
                              <a:latin typeface="Cambria Math" panose="02040503050406030204" pitchFamily="18" charset="0"/>
                            </a:rPr>
                            <m:t>𝑯</m:t>
                          </m:r>
                        </m:den>
                      </m:f>
                      <m:r>
                        <a:rPr lang="en-AU" sz="3200" b="1" i="1">
                          <a:latin typeface="Cambria Math" panose="02040503050406030204" pitchFamily="18" charset="0"/>
                        </a:rPr>
                        <m:t>=</m:t>
                      </m:r>
                      <m:f>
                        <m:fPr>
                          <m:ctrlPr>
                            <a:rPr lang="en-AU" sz="3200" b="1" i="1" smtClean="0">
                              <a:latin typeface="Cambria Math" panose="02040503050406030204" pitchFamily="18" charset="0"/>
                            </a:rPr>
                          </m:ctrlPr>
                        </m:fPr>
                        <m:num>
                          <m:r>
                            <a:rPr lang="en-AU" sz="3200" b="1" i="1" smtClean="0">
                              <a:latin typeface="Cambria Math" panose="02040503050406030204" pitchFamily="18" charset="0"/>
                            </a:rPr>
                            <m:t>𝟖</m:t>
                          </m:r>
                        </m:num>
                        <m:den>
                          <m:r>
                            <a:rPr lang="en-AU" sz="3200" b="1" i="1" smtClean="0">
                              <a:latin typeface="Cambria Math" panose="02040503050406030204" pitchFamily="18" charset="0"/>
                            </a:rPr>
                            <m:t>𝟏𝟎</m:t>
                          </m:r>
                        </m:den>
                      </m:f>
                      <m:r>
                        <a:rPr lang="en-AU" sz="3200" b="1" i="1" smtClean="0">
                          <a:latin typeface="Cambria Math" panose="02040503050406030204" pitchFamily="18" charset="0"/>
                        </a:rPr>
                        <m:t>=</m:t>
                      </m:r>
                      <m:r>
                        <a:rPr lang="en-AU" sz="3200" b="1" i="1" smtClean="0">
                          <a:latin typeface="Cambria Math" panose="02040503050406030204" pitchFamily="18" charset="0"/>
                        </a:rPr>
                        <m:t>𝟎</m:t>
                      </m:r>
                      <m:r>
                        <a:rPr lang="en-AU" sz="3200" b="1" i="1" smtClean="0">
                          <a:latin typeface="Cambria Math" panose="02040503050406030204" pitchFamily="18" charset="0"/>
                        </a:rPr>
                        <m:t>.</m:t>
                      </m:r>
                      <m:r>
                        <a:rPr lang="en-AU" sz="3200" b="1" i="1" smtClean="0">
                          <a:latin typeface="Cambria Math" panose="02040503050406030204" pitchFamily="18" charset="0"/>
                        </a:rPr>
                        <m:t>𝟖</m:t>
                      </m:r>
                    </m:oMath>
                  </m:oMathPara>
                </a14:m>
                <a:endParaRPr lang="en-AU" sz="3200" b="1" dirty="0"/>
              </a:p>
            </p:txBody>
          </p:sp>
        </mc:Choice>
        <mc:Fallback xmlns="">
          <p:sp>
            <p:nvSpPr>
              <p:cNvPr id="29" name="TextBox 28"/>
              <p:cNvSpPr txBox="1">
                <a:spLocks noRot="1" noChangeAspect="1" noMove="1" noResize="1" noEditPoints="1" noAdjustHandles="1" noChangeArrowheads="1" noChangeShapeType="1" noTextEdit="1"/>
              </p:cNvSpPr>
              <p:nvPr/>
            </p:nvSpPr>
            <p:spPr>
              <a:xfrm>
                <a:off x="3533140" y="4057328"/>
                <a:ext cx="2948940" cy="1017523"/>
              </a:xfrm>
              <a:prstGeom prst="rect">
                <a:avLst/>
              </a:prstGeom>
              <a:blipFill rotWithShape="0">
                <a:blip r:embed="rId7"/>
                <a:stretch>
                  <a:fillRect/>
                </a:stretch>
              </a:blipFill>
            </p:spPr>
            <p:txBody>
              <a:bodyPr/>
              <a:lstStyle/>
              <a:p>
                <a:r>
                  <a:rPr lang="en-AU">
                    <a:noFill/>
                  </a:rPr>
                  <a:t> </a:t>
                </a:r>
              </a:p>
            </p:txBody>
          </p:sp>
        </mc:Fallback>
      </mc:AlternateContent>
      <p:cxnSp>
        <p:nvCxnSpPr>
          <p:cNvPr id="30" name="Straight Arrow Connector 29"/>
          <p:cNvCxnSpPr/>
          <p:nvPr/>
        </p:nvCxnSpPr>
        <p:spPr>
          <a:xfrm flipH="1" flipV="1">
            <a:off x="9413954" y="2698742"/>
            <a:ext cx="1825972" cy="89845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flipV="1">
            <a:off x="7500120" y="2877046"/>
            <a:ext cx="3645400" cy="716162"/>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V="1">
            <a:off x="7221977" y="3632200"/>
            <a:ext cx="4017949" cy="23166"/>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TextBox 32"/>
              <p:cNvSpPr txBox="1"/>
              <p:nvPr/>
            </p:nvSpPr>
            <p:spPr>
              <a:xfrm>
                <a:off x="7736840" y="4089400"/>
                <a:ext cx="3002994" cy="101752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AU" sz="3200" b="1" i="1">
                              <a:latin typeface="Cambria Math" panose="02040503050406030204" pitchFamily="18" charset="0"/>
                            </a:rPr>
                          </m:ctrlPr>
                        </m:fPr>
                        <m:num>
                          <m:r>
                            <a:rPr lang="en-AU" sz="3200" b="1" i="1">
                              <a:latin typeface="Cambria Math" panose="02040503050406030204" pitchFamily="18" charset="0"/>
                            </a:rPr>
                            <m:t>𝑨</m:t>
                          </m:r>
                        </m:num>
                        <m:den>
                          <m:r>
                            <a:rPr lang="en-AU" sz="3200" b="1" i="1">
                              <a:latin typeface="Cambria Math" panose="02040503050406030204" pitchFamily="18" charset="0"/>
                            </a:rPr>
                            <m:t>𝑯</m:t>
                          </m:r>
                        </m:den>
                      </m:f>
                      <m:r>
                        <a:rPr lang="en-AU" sz="3200" b="1" i="1">
                          <a:latin typeface="Cambria Math" panose="02040503050406030204" pitchFamily="18" charset="0"/>
                        </a:rPr>
                        <m:t>=</m:t>
                      </m:r>
                      <m:f>
                        <m:fPr>
                          <m:ctrlPr>
                            <a:rPr lang="en-AU" sz="3200" b="1" i="1" smtClean="0">
                              <a:latin typeface="Cambria Math" panose="02040503050406030204" pitchFamily="18" charset="0"/>
                            </a:rPr>
                          </m:ctrlPr>
                        </m:fPr>
                        <m:num>
                          <m:r>
                            <a:rPr lang="en-AU" sz="3200" b="1" i="1" smtClean="0">
                              <a:latin typeface="Cambria Math" panose="02040503050406030204" pitchFamily="18" charset="0"/>
                            </a:rPr>
                            <m:t>𝟏𝟐</m:t>
                          </m:r>
                        </m:num>
                        <m:den>
                          <m:r>
                            <a:rPr lang="en-AU" sz="3200" b="1" i="1" smtClean="0">
                              <a:latin typeface="Cambria Math" panose="02040503050406030204" pitchFamily="18" charset="0"/>
                            </a:rPr>
                            <m:t>𝟏𝟓</m:t>
                          </m:r>
                        </m:den>
                      </m:f>
                      <m:r>
                        <a:rPr lang="en-AU" sz="3200" b="1" i="1" smtClean="0">
                          <a:latin typeface="Cambria Math" panose="02040503050406030204" pitchFamily="18" charset="0"/>
                        </a:rPr>
                        <m:t>=</m:t>
                      </m:r>
                      <m:r>
                        <a:rPr lang="en-AU" sz="3200" b="1" i="1" smtClean="0">
                          <a:latin typeface="Cambria Math" panose="02040503050406030204" pitchFamily="18" charset="0"/>
                        </a:rPr>
                        <m:t>𝟎</m:t>
                      </m:r>
                      <m:r>
                        <a:rPr lang="en-AU" sz="3200" b="1" i="1" smtClean="0">
                          <a:latin typeface="Cambria Math" panose="02040503050406030204" pitchFamily="18" charset="0"/>
                        </a:rPr>
                        <m:t>.</m:t>
                      </m:r>
                      <m:r>
                        <a:rPr lang="en-AU" sz="3200" b="1" i="1" smtClean="0">
                          <a:latin typeface="Cambria Math" panose="02040503050406030204" pitchFamily="18" charset="0"/>
                        </a:rPr>
                        <m:t>𝟖</m:t>
                      </m:r>
                    </m:oMath>
                  </m:oMathPara>
                </a14:m>
                <a:endParaRPr lang="en-AU" sz="3200" b="1" dirty="0"/>
              </a:p>
            </p:txBody>
          </p:sp>
        </mc:Choice>
        <mc:Fallback xmlns="">
          <p:sp>
            <p:nvSpPr>
              <p:cNvPr id="33" name="TextBox 32"/>
              <p:cNvSpPr txBox="1">
                <a:spLocks noRot="1" noChangeAspect="1" noMove="1" noResize="1" noEditPoints="1" noAdjustHandles="1" noChangeArrowheads="1" noChangeShapeType="1" noTextEdit="1"/>
              </p:cNvSpPr>
              <p:nvPr/>
            </p:nvSpPr>
            <p:spPr>
              <a:xfrm>
                <a:off x="7736840" y="4089400"/>
                <a:ext cx="3002994" cy="1017523"/>
              </a:xfrm>
              <a:prstGeom prst="rect">
                <a:avLst/>
              </a:prstGeom>
              <a:blipFill rotWithShape="0">
                <a:blip r:embed="rId8"/>
                <a:stretch>
                  <a:fillRect/>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34" name="TextBox 33"/>
              <p:cNvSpPr txBox="1"/>
              <p:nvPr/>
            </p:nvSpPr>
            <p:spPr>
              <a:xfrm>
                <a:off x="3799841" y="5720154"/>
                <a:ext cx="8194040" cy="769441"/>
              </a:xfrm>
              <a:prstGeom prst="rect">
                <a:avLst/>
              </a:prstGeom>
              <a:noFill/>
            </p:spPr>
            <p:txBody>
              <a:bodyPr wrap="square" rtlCol="0">
                <a:spAutoFit/>
              </a:bodyPr>
              <a:lstStyle/>
              <a:p>
                <a:pPr algn="ctr"/>
                <a:r>
                  <a:rPr lang="en-AU" sz="2200" dirty="0" smtClean="0"/>
                  <a:t>For ANY right-angled triangle with a reference angle of </a:t>
                </a:r>
                <a14:m>
                  <m:oMath xmlns:m="http://schemas.openxmlformats.org/officeDocument/2006/math">
                    <m:r>
                      <a:rPr lang="en-AU" sz="2200" b="0" i="1" smtClean="0">
                        <a:latin typeface="Cambria Math" panose="02040503050406030204" pitchFamily="18" charset="0"/>
                      </a:rPr>
                      <m:t>37</m:t>
                    </m:r>
                    <m:r>
                      <a:rPr lang="en-AU" sz="2200" b="0" i="1" smtClean="0">
                        <a:latin typeface="Cambria Math" panose="02040503050406030204" pitchFamily="18" charset="0"/>
                        <a:ea typeface="Cambria Math" panose="02040503050406030204" pitchFamily="18" charset="0"/>
                      </a:rPr>
                      <m:t>°</m:t>
                    </m:r>
                  </m:oMath>
                </a14:m>
                <a:r>
                  <a:rPr lang="en-AU" sz="2200" dirty="0" smtClean="0"/>
                  <a:t>, the ratio of the adjacent to the hypotenuse will always be 0.8 (1dp)</a:t>
                </a:r>
                <a:endParaRPr lang="en-AU" sz="2200" dirty="0"/>
              </a:p>
            </p:txBody>
          </p:sp>
        </mc:Choice>
        <mc:Fallback>
          <p:sp>
            <p:nvSpPr>
              <p:cNvPr id="34" name="TextBox 33"/>
              <p:cNvSpPr txBox="1">
                <a:spLocks noRot="1" noChangeAspect="1" noMove="1" noResize="1" noEditPoints="1" noAdjustHandles="1" noChangeArrowheads="1" noChangeShapeType="1" noTextEdit="1"/>
              </p:cNvSpPr>
              <p:nvPr/>
            </p:nvSpPr>
            <p:spPr>
              <a:xfrm>
                <a:off x="3799841" y="5720154"/>
                <a:ext cx="8194040" cy="769441"/>
              </a:xfrm>
              <a:prstGeom prst="rect">
                <a:avLst/>
              </a:prstGeom>
              <a:blipFill>
                <a:blip r:embed="rId9"/>
                <a:stretch>
                  <a:fillRect t="-4724" r="-74" b="-14961"/>
                </a:stretch>
              </a:blipFill>
            </p:spPr>
            <p:txBody>
              <a:bodyPr/>
              <a:lstStyle/>
              <a:p>
                <a:r>
                  <a:rPr lang="en-AU">
                    <a:noFill/>
                  </a:rPr>
                  <a:t> </a:t>
                </a:r>
              </a:p>
            </p:txBody>
          </p:sp>
        </mc:Fallback>
      </mc:AlternateContent>
      <p:sp>
        <p:nvSpPr>
          <p:cNvPr id="21" name="TextBox 20"/>
          <p:cNvSpPr txBox="1"/>
          <p:nvPr/>
        </p:nvSpPr>
        <p:spPr>
          <a:xfrm>
            <a:off x="0" y="0"/>
            <a:ext cx="4701026" cy="461665"/>
          </a:xfrm>
          <a:prstGeom prst="rect">
            <a:avLst/>
          </a:prstGeom>
          <a:solidFill>
            <a:srgbClr val="FFFF00"/>
          </a:solidFill>
        </p:spPr>
        <p:txBody>
          <a:bodyPr wrap="square" rtlCol="0">
            <a:spAutoFit/>
          </a:bodyPr>
          <a:lstStyle/>
          <a:p>
            <a:r>
              <a:rPr lang="en-AU" sz="2400" dirty="0" smtClean="0"/>
              <a:t>Hypotenuse, opposite and adjacent</a:t>
            </a:r>
            <a:endParaRPr lang="en-AU" sz="2400" dirty="0"/>
          </a:p>
        </p:txBody>
      </p:sp>
    </p:spTree>
    <p:extLst>
      <p:ext uri="{BB962C8B-B14F-4D97-AF65-F5344CB8AC3E}">
        <p14:creationId xmlns:p14="http://schemas.microsoft.com/office/powerpoint/2010/main" val="236658527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9" grpId="0"/>
      <p:bldP spid="33" grpId="0"/>
      <p:bldP spid="3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7147249" y="1676717"/>
            <a:ext cx="4433563" cy="2412683"/>
          </a:xfrm>
          <a:prstGeom prst="rect">
            <a:avLst/>
          </a:prstGeom>
        </p:spPr>
      </p:pic>
      <p:sp>
        <p:nvSpPr>
          <p:cNvPr id="3" name="TextBox 2"/>
          <p:cNvSpPr txBox="1"/>
          <p:nvPr/>
        </p:nvSpPr>
        <p:spPr>
          <a:xfrm>
            <a:off x="147320" y="736600"/>
            <a:ext cx="11780520" cy="1107996"/>
          </a:xfrm>
          <a:prstGeom prst="rect">
            <a:avLst/>
          </a:prstGeom>
          <a:noFill/>
        </p:spPr>
        <p:txBody>
          <a:bodyPr wrap="square" rtlCol="0">
            <a:spAutoFit/>
          </a:bodyPr>
          <a:lstStyle/>
          <a:p>
            <a:r>
              <a:rPr lang="en-AU" sz="2200" dirty="0" smtClean="0"/>
              <a:t>All triangles with three angles the same are </a:t>
            </a:r>
            <a:r>
              <a:rPr lang="en-AU" sz="2200" dirty="0" smtClean="0">
                <a:solidFill>
                  <a:srgbClr val="FF0000"/>
                </a:solidFill>
              </a:rPr>
              <a:t>similar</a:t>
            </a:r>
            <a:r>
              <a:rPr lang="en-AU" sz="2200" dirty="0" smtClean="0"/>
              <a:t> (same shape, different size). </a:t>
            </a:r>
          </a:p>
          <a:p>
            <a:endParaRPr lang="en-AU" sz="2200" dirty="0"/>
          </a:p>
          <a:p>
            <a:r>
              <a:rPr lang="en-AU" sz="2200" dirty="0" smtClean="0"/>
              <a:t>In similar triangles, the ratio BETWEEN sides is also the same.</a:t>
            </a:r>
          </a:p>
        </p:txBody>
      </p:sp>
      <p:pic>
        <p:nvPicPr>
          <p:cNvPr id="4" name="Picture 3"/>
          <p:cNvPicPr>
            <a:picLocks noChangeAspect="1"/>
          </p:cNvPicPr>
          <p:nvPr/>
        </p:nvPicPr>
        <p:blipFill>
          <a:blip r:embed="rId3"/>
          <a:stretch>
            <a:fillRect/>
          </a:stretch>
        </p:blipFill>
        <p:spPr>
          <a:xfrm>
            <a:off x="147320" y="2302510"/>
            <a:ext cx="2801216" cy="1700530"/>
          </a:xfrm>
          <a:prstGeom prst="rect">
            <a:avLst/>
          </a:prstGeom>
        </p:spPr>
      </p:pic>
      <p:pic>
        <p:nvPicPr>
          <p:cNvPr id="5" name="Picture 4"/>
          <p:cNvPicPr>
            <a:picLocks noChangeAspect="1"/>
          </p:cNvPicPr>
          <p:nvPr/>
        </p:nvPicPr>
        <p:blipFill>
          <a:blip r:embed="rId4"/>
          <a:stretch>
            <a:fillRect/>
          </a:stretch>
        </p:blipFill>
        <p:spPr>
          <a:xfrm>
            <a:off x="3275330" y="1936929"/>
            <a:ext cx="3262441" cy="2006282"/>
          </a:xfrm>
          <a:prstGeom prst="rect">
            <a:avLst/>
          </a:prstGeom>
        </p:spPr>
      </p:pic>
      <mc:AlternateContent xmlns:mc="http://schemas.openxmlformats.org/markup-compatibility/2006" xmlns:a14="http://schemas.microsoft.com/office/drawing/2010/main">
        <mc:Choice Requires="a14">
          <p:sp>
            <p:nvSpPr>
              <p:cNvPr id="2" name="TextBox 1"/>
              <p:cNvSpPr txBox="1"/>
              <p:nvPr/>
            </p:nvSpPr>
            <p:spPr>
              <a:xfrm>
                <a:off x="218238" y="5542280"/>
                <a:ext cx="3057092" cy="1105880"/>
              </a:xfrm>
              <a:prstGeom prst="rect">
                <a:avLst/>
              </a:prstGeom>
              <a:solidFill>
                <a:srgbClr val="FFFF00"/>
              </a:solid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AU" sz="3200" b="1" i="1" smtClean="0">
                              <a:latin typeface="Cambria Math" panose="02040503050406030204" pitchFamily="18" charset="0"/>
                            </a:rPr>
                          </m:ctrlPr>
                        </m:fPr>
                        <m:num>
                          <m:r>
                            <a:rPr lang="en-AU" sz="3200" b="1" i="1" smtClean="0">
                              <a:latin typeface="Cambria Math" panose="02040503050406030204" pitchFamily="18" charset="0"/>
                            </a:rPr>
                            <m:t>𝒐𝒑𝒑𝒐𝒔𝒊𝒕𝒆</m:t>
                          </m:r>
                        </m:num>
                        <m:den>
                          <m:r>
                            <a:rPr lang="en-AU" sz="3200" b="1" i="1" smtClean="0">
                              <a:latin typeface="Cambria Math" panose="02040503050406030204" pitchFamily="18" charset="0"/>
                            </a:rPr>
                            <m:t>𝒂𝒅𝒋𝒂𝒄𝒆𝒏𝒕</m:t>
                          </m:r>
                        </m:den>
                      </m:f>
                    </m:oMath>
                  </m:oMathPara>
                </a14:m>
                <a:endParaRPr lang="en-AU" sz="3200" b="1" dirty="0"/>
              </a:p>
            </p:txBody>
          </p:sp>
        </mc:Choice>
        <mc:Fallback xmlns="">
          <p:sp>
            <p:nvSpPr>
              <p:cNvPr id="2" name="TextBox 1"/>
              <p:cNvSpPr txBox="1">
                <a:spLocks noRot="1" noChangeAspect="1" noMove="1" noResize="1" noEditPoints="1" noAdjustHandles="1" noChangeArrowheads="1" noChangeShapeType="1" noTextEdit="1"/>
              </p:cNvSpPr>
              <p:nvPr/>
            </p:nvSpPr>
            <p:spPr>
              <a:xfrm>
                <a:off x="218238" y="5542280"/>
                <a:ext cx="3057092" cy="1105880"/>
              </a:xfrm>
              <a:prstGeom prst="rect">
                <a:avLst/>
              </a:prstGeom>
              <a:blipFill rotWithShape="0">
                <a:blip r:embed="rId5"/>
                <a:stretch>
                  <a:fillRect/>
                </a:stretch>
              </a:blipFill>
            </p:spPr>
            <p:txBody>
              <a:bodyPr/>
              <a:lstStyle/>
              <a:p>
                <a:r>
                  <a:rPr lang="en-AU">
                    <a:noFill/>
                  </a:rPr>
                  <a:t> </a:t>
                </a:r>
              </a:p>
            </p:txBody>
          </p:sp>
        </mc:Fallback>
      </mc:AlternateContent>
      <p:cxnSp>
        <p:nvCxnSpPr>
          <p:cNvPr id="18" name="Straight Arrow Connector 17"/>
          <p:cNvCxnSpPr/>
          <p:nvPr/>
        </p:nvCxnSpPr>
        <p:spPr>
          <a:xfrm flipH="1" flipV="1">
            <a:off x="1590040" y="3078480"/>
            <a:ext cx="1013218" cy="48265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V="1">
            <a:off x="614680" y="3152776"/>
            <a:ext cx="1988578" cy="382835"/>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V="1">
            <a:off x="343359" y="3561136"/>
            <a:ext cx="2322493" cy="21518"/>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TextBox 13"/>
              <p:cNvSpPr txBox="1"/>
              <p:nvPr/>
            </p:nvSpPr>
            <p:spPr>
              <a:xfrm>
                <a:off x="222048" y="4057328"/>
                <a:ext cx="2891992" cy="101431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AU" sz="3200" b="1" i="1" smtClean="0">
                              <a:latin typeface="Cambria Math" panose="02040503050406030204" pitchFamily="18" charset="0"/>
                            </a:rPr>
                          </m:ctrlPr>
                        </m:fPr>
                        <m:num>
                          <m:r>
                            <a:rPr lang="en-AU" sz="3200" b="1" i="1" smtClean="0">
                              <a:latin typeface="Cambria Math" panose="02040503050406030204" pitchFamily="18" charset="0"/>
                            </a:rPr>
                            <m:t>𝑶</m:t>
                          </m:r>
                        </m:num>
                        <m:den>
                          <m:r>
                            <a:rPr lang="en-AU" sz="3200" b="1" i="1" smtClean="0">
                              <a:latin typeface="Cambria Math" panose="02040503050406030204" pitchFamily="18" charset="0"/>
                            </a:rPr>
                            <m:t>𝑨</m:t>
                          </m:r>
                        </m:den>
                      </m:f>
                      <m:r>
                        <a:rPr lang="en-AU" sz="3200" b="1" i="1">
                          <a:latin typeface="Cambria Math" panose="02040503050406030204" pitchFamily="18" charset="0"/>
                        </a:rPr>
                        <m:t>=</m:t>
                      </m:r>
                      <m:f>
                        <m:fPr>
                          <m:ctrlPr>
                            <a:rPr lang="en-AU" sz="3200" b="1" i="1" smtClean="0">
                              <a:latin typeface="Cambria Math" panose="02040503050406030204" pitchFamily="18" charset="0"/>
                            </a:rPr>
                          </m:ctrlPr>
                        </m:fPr>
                        <m:num>
                          <m:r>
                            <a:rPr lang="en-AU" sz="3200" b="1" i="1" smtClean="0">
                              <a:latin typeface="Cambria Math" panose="02040503050406030204" pitchFamily="18" charset="0"/>
                            </a:rPr>
                            <m:t>𝟑</m:t>
                          </m:r>
                        </m:num>
                        <m:den>
                          <m:r>
                            <a:rPr lang="en-AU" sz="3200" b="1" i="1" smtClean="0">
                              <a:latin typeface="Cambria Math" panose="02040503050406030204" pitchFamily="18" charset="0"/>
                            </a:rPr>
                            <m:t>𝟒</m:t>
                          </m:r>
                        </m:den>
                      </m:f>
                      <m:r>
                        <a:rPr lang="en-AU" sz="3200" b="1" i="1" smtClean="0">
                          <a:latin typeface="Cambria Math" panose="02040503050406030204" pitchFamily="18" charset="0"/>
                        </a:rPr>
                        <m:t>=</m:t>
                      </m:r>
                      <m:r>
                        <a:rPr lang="en-AU" sz="3200" b="1" i="1" smtClean="0">
                          <a:latin typeface="Cambria Math" panose="02040503050406030204" pitchFamily="18" charset="0"/>
                        </a:rPr>
                        <m:t>𝟎</m:t>
                      </m:r>
                      <m:r>
                        <a:rPr lang="en-AU" sz="3200" b="1" i="1" smtClean="0">
                          <a:latin typeface="Cambria Math" panose="02040503050406030204" pitchFamily="18" charset="0"/>
                        </a:rPr>
                        <m:t>.</m:t>
                      </m:r>
                      <m:r>
                        <a:rPr lang="en-AU" sz="3200" b="1" i="1" smtClean="0">
                          <a:latin typeface="Cambria Math" panose="02040503050406030204" pitchFamily="18" charset="0"/>
                        </a:rPr>
                        <m:t>𝟕𝟓</m:t>
                      </m:r>
                    </m:oMath>
                  </m:oMathPara>
                </a14:m>
                <a:endParaRPr lang="en-AU" sz="3200" b="1" dirty="0"/>
              </a:p>
            </p:txBody>
          </p:sp>
        </mc:Choice>
        <mc:Fallback xmlns="">
          <p:sp>
            <p:nvSpPr>
              <p:cNvPr id="14" name="TextBox 13"/>
              <p:cNvSpPr txBox="1">
                <a:spLocks noRot="1" noChangeAspect="1" noMove="1" noResize="1" noEditPoints="1" noAdjustHandles="1" noChangeArrowheads="1" noChangeShapeType="1" noTextEdit="1"/>
              </p:cNvSpPr>
              <p:nvPr/>
            </p:nvSpPr>
            <p:spPr>
              <a:xfrm>
                <a:off x="222048" y="4057328"/>
                <a:ext cx="2891992" cy="1014317"/>
              </a:xfrm>
              <a:prstGeom prst="rect">
                <a:avLst/>
              </a:prstGeom>
              <a:blipFill rotWithShape="0">
                <a:blip r:embed="rId6"/>
                <a:stretch>
                  <a:fillRect/>
                </a:stretch>
              </a:blipFill>
            </p:spPr>
            <p:txBody>
              <a:bodyPr/>
              <a:lstStyle/>
              <a:p>
                <a:r>
                  <a:rPr lang="en-AU">
                    <a:noFill/>
                  </a:rPr>
                  <a:t> </a:t>
                </a:r>
              </a:p>
            </p:txBody>
          </p:sp>
        </mc:Fallback>
      </mc:AlternateContent>
      <p:cxnSp>
        <p:nvCxnSpPr>
          <p:cNvPr id="26" name="Straight Arrow Connector 25"/>
          <p:cNvCxnSpPr/>
          <p:nvPr/>
        </p:nvCxnSpPr>
        <p:spPr>
          <a:xfrm flipH="1" flipV="1">
            <a:off x="4815840" y="2987040"/>
            <a:ext cx="1098510" cy="57409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V="1">
            <a:off x="3533140" y="2987040"/>
            <a:ext cx="2708004" cy="548571"/>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3403600" y="3567683"/>
            <a:ext cx="2890520" cy="1"/>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9" name="TextBox 28"/>
              <p:cNvSpPr txBox="1"/>
              <p:nvPr/>
            </p:nvSpPr>
            <p:spPr>
              <a:xfrm>
                <a:off x="3533140" y="4057328"/>
                <a:ext cx="2708004" cy="101771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AU" sz="3200" b="1" i="1">
                              <a:latin typeface="Cambria Math" panose="02040503050406030204" pitchFamily="18" charset="0"/>
                            </a:rPr>
                          </m:ctrlPr>
                        </m:fPr>
                        <m:num>
                          <m:r>
                            <a:rPr lang="en-AU" sz="3200" b="1" i="1">
                              <a:latin typeface="Cambria Math" panose="02040503050406030204" pitchFamily="18" charset="0"/>
                            </a:rPr>
                            <m:t>𝑶</m:t>
                          </m:r>
                        </m:num>
                        <m:den>
                          <m:r>
                            <a:rPr lang="en-AU" sz="3200" b="1" i="1">
                              <a:latin typeface="Cambria Math" panose="02040503050406030204" pitchFamily="18" charset="0"/>
                            </a:rPr>
                            <m:t>𝑨</m:t>
                          </m:r>
                        </m:den>
                      </m:f>
                      <m:r>
                        <a:rPr lang="en-AU" sz="3200" b="1" i="1">
                          <a:latin typeface="Cambria Math" panose="02040503050406030204" pitchFamily="18" charset="0"/>
                        </a:rPr>
                        <m:t>=</m:t>
                      </m:r>
                      <m:f>
                        <m:fPr>
                          <m:ctrlPr>
                            <a:rPr lang="en-AU" sz="3200" b="1" i="1" smtClean="0">
                              <a:latin typeface="Cambria Math" panose="02040503050406030204" pitchFamily="18" charset="0"/>
                            </a:rPr>
                          </m:ctrlPr>
                        </m:fPr>
                        <m:num>
                          <m:r>
                            <a:rPr lang="en-AU" sz="3200" b="1" i="1" smtClean="0">
                              <a:latin typeface="Cambria Math" panose="02040503050406030204" pitchFamily="18" charset="0"/>
                            </a:rPr>
                            <m:t>𝟔</m:t>
                          </m:r>
                        </m:num>
                        <m:den>
                          <m:r>
                            <a:rPr lang="en-AU" sz="3200" b="1" i="1" smtClean="0">
                              <a:latin typeface="Cambria Math" panose="02040503050406030204" pitchFamily="18" charset="0"/>
                            </a:rPr>
                            <m:t>𝟖</m:t>
                          </m:r>
                        </m:den>
                      </m:f>
                      <m:r>
                        <a:rPr lang="en-AU" sz="3200" b="1" i="1" smtClean="0">
                          <a:latin typeface="Cambria Math" panose="02040503050406030204" pitchFamily="18" charset="0"/>
                        </a:rPr>
                        <m:t>=</m:t>
                      </m:r>
                      <m:r>
                        <a:rPr lang="en-AU" sz="3200" b="1" i="1" smtClean="0">
                          <a:latin typeface="Cambria Math" panose="02040503050406030204" pitchFamily="18" charset="0"/>
                        </a:rPr>
                        <m:t>𝟎</m:t>
                      </m:r>
                      <m:r>
                        <a:rPr lang="en-AU" sz="3200" b="1" i="1" smtClean="0">
                          <a:latin typeface="Cambria Math" panose="02040503050406030204" pitchFamily="18" charset="0"/>
                        </a:rPr>
                        <m:t>.</m:t>
                      </m:r>
                      <m:r>
                        <a:rPr lang="en-AU" sz="3200" b="1" i="1" smtClean="0">
                          <a:latin typeface="Cambria Math" panose="02040503050406030204" pitchFamily="18" charset="0"/>
                        </a:rPr>
                        <m:t>𝟕𝟓</m:t>
                      </m:r>
                    </m:oMath>
                  </m:oMathPara>
                </a14:m>
                <a:endParaRPr lang="en-AU" sz="3200" b="1" dirty="0"/>
              </a:p>
            </p:txBody>
          </p:sp>
        </mc:Choice>
        <mc:Fallback xmlns="">
          <p:sp>
            <p:nvSpPr>
              <p:cNvPr id="29" name="TextBox 28"/>
              <p:cNvSpPr txBox="1">
                <a:spLocks noRot="1" noChangeAspect="1" noMove="1" noResize="1" noEditPoints="1" noAdjustHandles="1" noChangeArrowheads="1" noChangeShapeType="1" noTextEdit="1"/>
              </p:cNvSpPr>
              <p:nvPr/>
            </p:nvSpPr>
            <p:spPr>
              <a:xfrm>
                <a:off x="3533140" y="4057328"/>
                <a:ext cx="2708004" cy="1017715"/>
              </a:xfrm>
              <a:prstGeom prst="rect">
                <a:avLst/>
              </a:prstGeom>
              <a:blipFill rotWithShape="0">
                <a:blip r:embed="rId7"/>
                <a:stretch>
                  <a:fillRect/>
                </a:stretch>
              </a:blipFill>
            </p:spPr>
            <p:txBody>
              <a:bodyPr/>
              <a:lstStyle/>
              <a:p>
                <a:r>
                  <a:rPr lang="en-AU">
                    <a:noFill/>
                  </a:rPr>
                  <a:t> </a:t>
                </a:r>
              </a:p>
            </p:txBody>
          </p:sp>
        </mc:Fallback>
      </mc:AlternateContent>
      <p:cxnSp>
        <p:nvCxnSpPr>
          <p:cNvPr id="30" name="Straight Arrow Connector 29"/>
          <p:cNvCxnSpPr/>
          <p:nvPr/>
        </p:nvCxnSpPr>
        <p:spPr>
          <a:xfrm flipH="1" flipV="1">
            <a:off x="9413954" y="2698742"/>
            <a:ext cx="1825972" cy="89845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flipV="1">
            <a:off x="7500120" y="2877046"/>
            <a:ext cx="3645400" cy="716162"/>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V="1">
            <a:off x="7221977" y="3632200"/>
            <a:ext cx="4017949" cy="23166"/>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TextBox 32"/>
              <p:cNvSpPr txBox="1"/>
              <p:nvPr/>
            </p:nvSpPr>
            <p:spPr>
              <a:xfrm>
                <a:off x="7675880" y="4089400"/>
                <a:ext cx="3063954" cy="101431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AU" sz="3200" b="1" i="1">
                              <a:latin typeface="Cambria Math" panose="02040503050406030204" pitchFamily="18" charset="0"/>
                            </a:rPr>
                          </m:ctrlPr>
                        </m:fPr>
                        <m:num>
                          <m:r>
                            <a:rPr lang="en-AU" sz="3200" b="1" i="1">
                              <a:latin typeface="Cambria Math" panose="02040503050406030204" pitchFamily="18" charset="0"/>
                            </a:rPr>
                            <m:t>𝑶</m:t>
                          </m:r>
                        </m:num>
                        <m:den>
                          <m:r>
                            <a:rPr lang="en-AU" sz="3200" b="1" i="1">
                              <a:latin typeface="Cambria Math" panose="02040503050406030204" pitchFamily="18" charset="0"/>
                            </a:rPr>
                            <m:t>𝑨</m:t>
                          </m:r>
                        </m:den>
                      </m:f>
                      <m:r>
                        <a:rPr lang="en-AU" sz="3200" b="1" i="1">
                          <a:latin typeface="Cambria Math" panose="02040503050406030204" pitchFamily="18" charset="0"/>
                        </a:rPr>
                        <m:t>=</m:t>
                      </m:r>
                      <m:f>
                        <m:fPr>
                          <m:ctrlPr>
                            <a:rPr lang="en-AU" sz="3200" b="1" i="1" smtClean="0">
                              <a:latin typeface="Cambria Math" panose="02040503050406030204" pitchFamily="18" charset="0"/>
                            </a:rPr>
                          </m:ctrlPr>
                        </m:fPr>
                        <m:num>
                          <m:r>
                            <a:rPr lang="en-AU" sz="3200" b="1" i="1" smtClean="0">
                              <a:latin typeface="Cambria Math" panose="02040503050406030204" pitchFamily="18" charset="0"/>
                            </a:rPr>
                            <m:t>𝟗</m:t>
                          </m:r>
                        </m:num>
                        <m:den>
                          <m:r>
                            <a:rPr lang="en-AU" sz="3200" b="1" i="1" smtClean="0">
                              <a:latin typeface="Cambria Math" panose="02040503050406030204" pitchFamily="18" charset="0"/>
                            </a:rPr>
                            <m:t>𝟏𝟐</m:t>
                          </m:r>
                        </m:den>
                      </m:f>
                      <m:r>
                        <a:rPr lang="en-AU" sz="3200" b="1" i="1" smtClean="0">
                          <a:latin typeface="Cambria Math" panose="02040503050406030204" pitchFamily="18" charset="0"/>
                        </a:rPr>
                        <m:t>=</m:t>
                      </m:r>
                      <m:r>
                        <a:rPr lang="en-AU" sz="3200" b="1" i="1" smtClean="0">
                          <a:latin typeface="Cambria Math" panose="02040503050406030204" pitchFamily="18" charset="0"/>
                        </a:rPr>
                        <m:t>𝟎</m:t>
                      </m:r>
                      <m:r>
                        <a:rPr lang="en-AU" sz="3200" b="1" i="1" smtClean="0">
                          <a:latin typeface="Cambria Math" panose="02040503050406030204" pitchFamily="18" charset="0"/>
                        </a:rPr>
                        <m:t>.</m:t>
                      </m:r>
                      <m:r>
                        <a:rPr lang="en-AU" sz="3200" b="1" i="1" smtClean="0">
                          <a:latin typeface="Cambria Math" panose="02040503050406030204" pitchFamily="18" charset="0"/>
                        </a:rPr>
                        <m:t>𝟕𝟓</m:t>
                      </m:r>
                    </m:oMath>
                  </m:oMathPara>
                </a14:m>
                <a:endParaRPr lang="en-AU" sz="3200" b="1" dirty="0"/>
              </a:p>
            </p:txBody>
          </p:sp>
        </mc:Choice>
        <mc:Fallback xmlns="">
          <p:sp>
            <p:nvSpPr>
              <p:cNvPr id="33" name="TextBox 32"/>
              <p:cNvSpPr txBox="1">
                <a:spLocks noRot="1" noChangeAspect="1" noMove="1" noResize="1" noEditPoints="1" noAdjustHandles="1" noChangeArrowheads="1" noChangeShapeType="1" noTextEdit="1"/>
              </p:cNvSpPr>
              <p:nvPr/>
            </p:nvSpPr>
            <p:spPr>
              <a:xfrm>
                <a:off x="7675880" y="4089400"/>
                <a:ext cx="3063954" cy="1014317"/>
              </a:xfrm>
              <a:prstGeom prst="rect">
                <a:avLst/>
              </a:prstGeom>
              <a:blipFill rotWithShape="0">
                <a:blip r:embed="rId8"/>
                <a:stretch>
                  <a:fillRect/>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34" name="TextBox 33"/>
              <p:cNvSpPr txBox="1"/>
              <p:nvPr/>
            </p:nvSpPr>
            <p:spPr>
              <a:xfrm>
                <a:off x="3799841" y="5720154"/>
                <a:ext cx="8194040" cy="769441"/>
              </a:xfrm>
              <a:prstGeom prst="rect">
                <a:avLst/>
              </a:prstGeom>
              <a:noFill/>
            </p:spPr>
            <p:txBody>
              <a:bodyPr wrap="square" rtlCol="0">
                <a:spAutoFit/>
              </a:bodyPr>
              <a:lstStyle/>
              <a:p>
                <a:pPr algn="ctr"/>
                <a:r>
                  <a:rPr lang="en-AU" sz="2200" dirty="0" smtClean="0"/>
                  <a:t>For ANY right-angled triangle with a reference angle of </a:t>
                </a:r>
                <a14:m>
                  <m:oMath xmlns:m="http://schemas.openxmlformats.org/officeDocument/2006/math">
                    <m:r>
                      <a:rPr lang="en-AU" sz="2200" b="0" i="1" smtClean="0">
                        <a:latin typeface="Cambria Math" panose="02040503050406030204" pitchFamily="18" charset="0"/>
                      </a:rPr>
                      <m:t>37</m:t>
                    </m:r>
                    <m:r>
                      <a:rPr lang="en-AU" sz="2200" b="0" i="1" smtClean="0">
                        <a:latin typeface="Cambria Math" panose="02040503050406030204" pitchFamily="18" charset="0"/>
                        <a:ea typeface="Cambria Math" panose="02040503050406030204" pitchFamily="18" charset="0"/>
                      </a:rPr>
                      <m:t>°</m:t>
                    </m:r>
                  </m:oMath>
                </a14:m>
                <a:r>
                  <a:rPr lang="en-AU" sz="2200" dirty="0" smtClean="0"/>
                  <a:t>, the ratio of the opposite to the adjacent will always be 0.75 (2dp)</a:t>
                </a:r>
                <a:endParaRPr lang="en-AU" sz="2200" dirty="0"/>
              </a:p>
            </p:txBody>
          </p:sp>
        </mc:Choice>
        <mc:Fallback>
          <p:sp>
            <p:nvSpPr>
              <p:cNvPr id="34" name="TextBox 33"/>
              <p:cNvSpPr txBox="1">
                <a:spLocks noRot="1" noChangeAspect="1" noMove="1" noResize="1" noEditPoints="1" noAdjustHandles="1" noChangeArrowheads="1" noChangeShapeType="1" noTextEdit="1"/>
              </p:cNvSpPr>
              <p:nvPr/>
            </p:nvSpPr>
            <p:spPr>
              <a:xfrm>
                <a:off x="3799841" y="5720154"/>
                <a:ext cx="8194040" cy="769441"/>
              </a:xfrm>
              <a:prstGeom prst="rect">
                <a:avLst/>
              </a:prstGeom>
              <a:blipFill>
                <a:blip r:embed="rId9"/>
                <a:stretch>
                  <a:fillRect t="-4724" r="-74" b="-14961"/>
                </a:stretch>
              </a:blipFill>
            </p:spPr>
            <p:txBody>
              <a:bodyPr/>
              <a:lstStyle/>
              <a:p>
                <a:r>
                  <a:rPr lang="en-AU">
                    <a:noFill/>
                  </a:rPr>
                  <a:t> </a:t>
                </a:r>
              </a:p>
            </p:txBody>
          </p:sp>
        </mc:Fallback>
      </mc:AlternateContent>
      <p:sp>
        <p:nvSpPr>
          <p:cNvPr id="21" name="TextBox 20"/>
          <p:cNvSpPr txBox="1"/>
          <p:nvPr/>
        </p:nvSpPr>
        <p:spPr>
          <a:xfrm>
            <a:off x="0" y="0"/>
            <a:ext cx="4701026" cy="461665"/>
          </a:xfrm>
          <a:prstGeom prst="rect">
            <a:avLst/>
          </a:prstGeom>
          <a:solidFill>
            <a:srgbClr val="FFFF00"/>
          </a:solidFill>
        </p:spPr>
        <p:txBody>
          <a:bodyPr wrap="square" rtlCol="0">
            <a:spAutoFit/>
          </a:bodyPr>
          <a:lstStyle/>
          <a:p>
            <a:r>
              <a:rPr lang="en-AU" sz="2400" dirty="0" smtClean="0"/>
              <a:t>Hypotenuse, opposite and adjacent</a:t>
            </a:r>
            <a:endParaRPr lang="en-AU" sz="2400" dirty="0"/>
          </a:p>
        </p:txBody>
      </p:sp>
    </p:spTree>
    <p:extLst>
      <p:ext uri="{BB962C8B-B14F-4D97-AF65-F5344CB8AC3E}">
        <p14:creationId xmlns:p14="http://schemas.microsoft.com/office/powerpoint/2010/main" val="34856722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9" grpId="0"/>
      <p:bldP spid="33" grpId="0"/>
      <p:bldP spid="3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3360" y="685076"/>
            <a:ext cx="10281920" cy="1107996"/>
          </a:xfrm>
          <a:prstGeom prst="rect">
            <a:avLst/>
          </a:prstGeom>
        </p:spPr>
        <p:txBody>
          <a:bodyPr wrap="square">
            <a:spAutoFit/>
          </a:bodyPr>
          <a:lstStyle/>
          <a:p>
            <a:r>
              <a:rPr lang="en-AU" sz="2200" dirty="0"/>
              <a:t>All triangles with three angles the same are </a:t>
            </a:r>
            <a:r>
              <a:rPr lang="en-AU" sz="2200" dirty="0">
                <a:solidFill>
                  <a:srgbClr val="FF0000"/>
                </a:solidFill>
              </a:rPr>
              <a:t>similar</a:t>
            </a:r>
            <a:r>
              <a:rPr lang="en-AU" sz="2200" dirty="0"/>
              <a:t> (same shape, different size). </a:t>
            </a:r>
          </a:p>
          <a:p>
            <a:endParaRPr lang="en-AU" sz="2200" dirty="0"/>
          </a:p>
          <a:p>
            <a:r>
              <a:rPr lang="en-AU" sz="2200" dirty="0"/>
              <a:t>In similar triangles, the ratio BETWEEN sides is also the same.</a:t>
            </a:r>
          </a:p>
        </p:txBody>
      </p:sp>
      <p:sp>
        <p:nvSpPr>
          <p:cNvPr id="5" name="TextBox 4"/>
          <p:cNvSpPr txBox="1"/>
          <p:nvPr/>
        </p:nvSpPr>
        <p:spPr>
          <a:xfrm>
            <a:off x="213360" y="2037080"/>
            <a:ext cx="10058400" cy="769441"/>
          </a:xfrm>
          <a:prstGeom prst="rect">
            <a:avLst/>
          </a:prstGeom>
          <a:noFill/>
        </p:spPr>
        <p:txBody>
          <a:bodyPr wrap="square" rtlCol="0">
            <a:spAutoFit/>
          </a:bodyPr>
          <a:lstStyle/>
          <a:p>
            <a:r>
              <a:rPr lang="en-AU" sz="2200" dirty="0" smtClean="0"/>
              <a:t>We have been looking at three ratios in particular. These three ratios are very important in </a:t>
            </a:r>
            <a:r>
              <a:rPr lang="en-AU" sz="2200" dirty="0" smtClean="0"/>
              <a:t>trigonometry </a:t>
            </a:r>
            <a:r>
              <a:rPr lang="en-AU" sz="2200" dirty="0" smtClean="0"/>
              <a:t>and are called trigonometric ratios.</a:t>
            </a:r>
            <a:endParaRPr lang="en-AU" sz="2200" dirty="0"/>
          </a:p>
        </p:txBody>
      </p:sp>
      <mc:AlternateContent xmlns:mc="http://schemas.openxmlformats.org/markup-compatibility/2006">
        <mc:Choice xmlns:a14="http://schemas.microsoft.com/office/drawing/2010/main" Requires="a14">
          <p:sp>
            <p:nvSpPr>
              <p:cNvPr id="6" name="TextBox 5"/>
              <p:cNvSpPr txBox="1"/>
              <p:nvPr/>
            </p:nvSpPr>
            <p:spPr>
              <a:xfrm>
                <a:off x="213360" y="3150116"/>
                <a:ext cx="9545320" cy="624723"/>
              </a:xfrm>
              <a:prstGeom prst="rect">
                <a:avLst/>
              </a:prstGeom>
              <a:noFill/>
            </p:spPr>
            <p:txBody>
              <a:bodyPr wrap="square" rtlCol="0">
                <a:spAutoFit/>
              </a:bodyPr>
              <a:lstStyle/>
              <a:p>
                <a:r>
                  <a:rPr lang="en-AU" sz="2200" dirty="0" smtClean="0"/>
                  <a:t>The ratio for </a:t>
                </a:r>
                <a14:m>
                  <m:oMath xmlns:m="http://schemas.openxmlformats.org/officeDocument/2006/math">
                    <m:f>
                      <m:fPr>
                        <m:ctrlPr>
                          <a:rPr lang="en-AU" sz="2200" i="1" smtClean="0">
                            <a:latin typeface="Cambria Math" panose="02040503050406030204" pitchFamily="18" charset="0"/>
                          </a:rPr>
                        </m:ctrlPr>
                      </m:fPr>
                      <m:num>
                        <m:r>
                          <a:rPr lang="en-AU" sz="2200" b="0" i="1" smtClean="0">
                            <a:latin typeface="Cambria Math" panose="02040503050406030204" pitchFamily="18" charset="0"/>
                          </a:rPr>
                          <m:t>𝑜𝑝𝑝𝑜𝑠𝑖𝑡𝑒</m:t>
                        </m:r>
                      </m:num>
                      <m:den>
                        <m:r>
                          <a:rPr lang="en-AU" sz="2200" b="0" i="1" smtClean="0">
                            <a:latin typeface="Cambria Math" panose="02040503050406030204" pitchFamily="18" charset="0"/>
                          </a:rPr>
                          <m:t>h𝑦𝑝𝑜𝑡𝑒𝑛𝑢𝑠𝑒</m:t>
                        </m:r>
                      </m:den>
                    </m:f>
                    <m:r>
                      <a:rPr lang="en-AU" sz="2200" b="0" i="1" smtClean="0">
                        <a:latin typeface="Cambria Math" panose="02040503050406030204" pitchFamily="18" charset="0"/>
                      </a:rPr>
                      <m:t> </m:t>
                    </m:r>
                  </m:oMath>
                </a14:m>
                <a:r>
                  <a:rPr lang="en-AU" sz="2200" dirty="0" smtClean="0"/>
                  <a:t>is called sine (</a:t>
                </a:r>
                <a:r>
                  <a:rPr lang="en-AU" sz="2200" dirty="0" smtClean="0">
                    <a:solidFill>
                      <a:srgbClr val="FF0000"/>
                    </a:solidFill>
                  </a:rPr>
                  <a:t>sin</a:t>
                </a:r>
                <a:r>
                  <a:rPr lang="en-AU" sz="2200" dirty="0" smtClean="0"/>
                  <a:t> on your calculator).</a:t>
                </a:r>
                <a:endParaRPr lang="en-AU" sz="2200" dirty="0"/>
              </a:p>
            </p:txBody>
          </p:sp>
        </mc:Choice>
        <mc:Fallback>
          <p:sp>
            <p:nvSpPr>
              <p:cNvPr id="6" name="TextBox 5"/>
              <p:cNvSpPr txBox="1">
                <a:spLocks noRot="1" noChangeAspect="1" noMove="1" noResize="1" noEditPoints="1" noAdjustHandles="1" noChangeArrowheads="1" noChangeShapeType="1" noTextEdit="1"/>
              </p:cNvSpPr>
              <p:nvPr/>
            </p:nvSpPr>
            <p:spPr>
              <a:xfrm>
                <a:off x="213360" y="3150116"/>
                <a:ext cx="9545320" cy="624723"/>
              </a:xfrm>
              <a:prstGeom prst="rect">
                <a:avLst/>
              </a:prstGeom>
              <a:blipFill>
                <a:blip r:embed="rId2"/>
                <a:stretch>
                  <a:fillRect l="-830" b="-1961"/>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7" name="TextBox 6"/>
              <p:cNvSpPr txBox="1"/>
              <p:nvPr/>
            </p:nvSpPr>
            <p:spPr>
              <a:xfrm>
                <a:off x="203200" y="4017153"/>
                <a:ext cx="9545320" cy="628826"/>
              </a:xfrm>
              <a:prstGeom prst="rect">
                <a:avLst/>
              </a:prstGeom>
              <a:noFill/>
            </p:spPr>
            <p:txBody>
              <a:bodyPr wrap="square" rtlCol="0">
                <a:spAutoFit/>
              </a:bodyPr>
              <a:lstStyle/>
              <a:p>
                <a:r>
                  <a:rPr lang="en-AU" sz="2200" dirty="0" smtClean="0"/>
                  <a:t>The ratio for </a:t>
                </a:r>
                <a14:m>
                  <m:oMath xmlns:m="http://schemas.openxmlformats.org/officeDocument/2006/math">
                    <m:f>
                      <m:fPr>
                        <m:ctrlPr>
                          <a:rPr lang="en-AU" sz="2200" i="1" smtClean="0">
                            <a:latin typeface="Cambria Math" panose="02040503050406030204" pitchFamily="18" charset="0"/>
                          </a:rPr>
                        </m:ctrlPr>
                      </m:fPr>
                      <m:num>
                        <m:r>
                          <a:rPr lang="en-AU" sz="2200" b="0" i="1" smtClean="0">
                            <a:latin typeface="Cambria Math" panose="02040503050406030204" pitchFamily="18" charset="0"/>
                          </a:rPr>
                          <m:t>𝑎𝑑𝑗𝑎𝑐𝑒𝑛𝑡</m:t>
                        </m:r>
                      </m:num>
                      <m:den>
                        <m:r>
                          <a:rPr lang="en-AU" sz="2200" b="0" i="1" smtClean="0">
                            <a:latin typeface="Cambria Math" panose="02040503050406030204" pitchFamily="18" charset="0"/>
                          </a:rPr>
                          <m:t>h𝑦𝑝𝑜𝑡𝑒𝑛𝑢𝑠𝑒</m:t>
                        </m:r>
                      </m:den>
                    </m:f>
                    <m:r>
                      <a:rPr lang="en-AU" sz="2200" b="0" i="1" smtClean="0">
                        <a:latin typeface="Cambria Math" panose="02040503050406030204" pitchFamily="18" charset="0"/>
                      </a:rPr>
                      <m:t> </m:t>
                    </m:r>
                  </m:oMath>
                </a14:m>
                <a:r>
                  <a:rPr lang="en-AU" sz="2200" dirty="0" smtClean="0"/>
                  <a:t>is called cosine (</a:t>
                </a:r>
                <a:r>
                  <a:rPr lang="en-AU" sz="2200" dirty="0" err="1" smtClean="0">
                    <a:solidFill>
                      <a:srgbClr val="0070C0"/>
                    </a:solidFill>
                  </a:rPr>
                  <a:t>cos</a:t>
                </a:r>
                <a:r>
                  <a:rPr lang="en-AU" sz="2200" dirty="0" smtClean="0"/>
                  <a:t> on your calculator).</a:t>
                </a:r>
                <a:endParaRPr lang="en-AU" sz="2200" dirty="0"/>
              </a:p>
            </p:txBody>
          </p:sp>
        </mc:Choice>
        <mc:Fallback>
          <p:sp>
            <p:nvSpPr>
              <p:cNvPr id="7" name="TextBox 6"/>
              <p:cNvSpPr txBox="1">
                <a:spLocks noRot="1" noChangeAspect="1" noMove="1" noResize="1" noEditPoints="1" noAdjustHandles="1" noChangeArrowheads="1" noChangeShapeType="1" noTextEdit="1"/>
              </p:cNvSpPr>
              <p:nvPr/>
            </p:nvSpPr>
            <p:spPr>
              <a:xfrm>
                <a:off x="203200" y="4017153"/>
                <a:ext cx="9545320" cy="628826"/>
              </a:xfrm>
              <a:prstGeom prst="rect">
                <a:avLst/>
              </a:prstGeom>
              <a:blipFill>
                <a:blip r:embed="rId3"/>
                <a:stretch>
                  <a:fillRect l="-830" b="-971"/>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8" name="TextBox 7"/>
              <p:cNvSpPr txBox="1"/>
              <p:nvPr/>
            </p:nvSpPr>
            <p:spPr>
              <a:xfrm>
                <a:off x="213360" y="5012117"/>
                <a:ext cx="9545320" cy="625749"/>
              </a:xfrm>
              <a:prstGeom prst="rect">
                <a:avLst/>
              </a:prstGeom>
              <a:noFill/>
            </p:spPr>
            <p:txBody>
              <a:bodyPr wrap="square" rtlCol="0">
                <a:spAutoFit/>
              </a:bodyPr>
              <a:lstStyle/>
              <a:p>
                <a:r>
                  <a:rPr lang="en-AU" sz="2200" dirty="0" smtClean="0"/>
                  <a:t>The ratio for </a:t>
                </a:r>
                <a14:m>
                  <m:oMath xmlns:m="http://schemas.openxmlformats.org/officeDocument/2006/math">
                    <m:f>
                      <m:fPr>
                        <m:ctrlPr>
                          <a:rPr lang="en-AU" sz="2200" i="1" smtClean="0">
                            <a:latin typeface="Cambria Math" panose="02040503050406030204" pitchFamily="18" charset="0"/>
                          </a:rPr>
                        </m:ctrlPr>
                      </m:fPr>
                      <m:num>
                        <m:r>
                          <a:rPr lang="en-AU" sz="2200" b="0" i="1" smtClean="0">
                            <a:latin typeface="Cambria Math" panose="02040503050406030204" pitchFamily="18" charset="0"/>
                          </a:rPr>
                          <m:t>𝑜𝑝𝑝𝑜𝑠𝑖𝑡𝑒</m:t>
                        </m:r>
                      </m:num>
                      <m:den>
                        <m:r>
                          <a:rPr lang="en-AU" sz="2200" b="0" i="1" smtClean="0">
                            <a:latin typeface="Cambria Math" panose="02040503050406030204" pitchFamily="18" charset="0"/>
                          </a:rPr>
                          <m:t>𝑎𝑑𝑗𝑎𝑐𝑒𝑛𝑡</m:t>
                        </m:r>
                      </m:den>
                    </m:f>
                    <m:r>
                      <a:rPr lang="en-AU" sz="2200" b="0" i="1" smtClean="0">
                        <a:latin typeface="Cambria Math" panose="02040503050406030204" pitchFamily="18" charset="0"/>
                      </a:rPr>
                      <m:t> </m:t>
                    </m:r>
                  </m:oMath>
                </a14:m>
                <a:r>
                  <a:rPr lang="en-AU" sz="2200" dirty="0" smtClean="0"/>
                  <a:t>is called tangent (</a:t>
                </a:r>
                <a:r>
                  <a:rPr lang="en-AU" sz="2200" dirty="0" smtClean="0">
                    <a:solidFill>
                      <a:srgbClr val="00B050"/>
                    </a:solidFill>
                  </a:rPr>
                  <a:t>tan</a:t>
                </a:r>
                <a:r>
                  <a:rPr lang="en-AU" sz="2200" dirty="0" smtClean="0"/>
                  <a:t> on your calculator).</a:t>
                </a:r>
                <a:endParaRPr lang="en-AU" sz="2200" dirty="0"/>
              </a:p>
            </p:txBody>
          </p:sp>
        </mc:Choice>
        <mc:Fallback>
          <p:sp>
            <p:nvSpPr>
              <p:cNvPr id="8" name="TextBox 7"/>
              <p:cNvSpPr txBox="1">
                <a:spLocks noRot="1" noChangeAspect="1" noMove="1" noResize="1" noEditPoints="1" noAdjustHandles="1" noChangeArrowheads="1" noChangeShapeType="1" noTextEdit="1"/>
              </p:cNvSpPr>
              <p:nvPr/>
            </p:nvSpPr>
            <p:spPr>
              <a:xfrm>
                <a:off x="213360" y="5012117"/>
                <a:ext cx="9545320" cy="625749"/>
              </a:xfrm>
              <a:prstGeom prst="rect">
                <a:avLst/>
              </a:prstGeom>
              <a:blipFill>
                <a:blip r:embed="rId4"/>
                <a:stretch>
                  <a:fillRect l="-830" b="-1942"/>
                </a:stretch>
              </a:blipFill>
            </p:spPr>
            <p:txBody>
              <a:bodyPr/>
              <a:lstStyle/>
              <a:p>
                <a:r>
                  <a:rPr lang="en-AU">
                    <a:noFill/>
                  </a:rPr>
                  <a:t> </a:t>
                </a:r>
              </a:p>
            </p:txBody>
          </p:sp>
        </mc:Fallback>
      </mc:AlternateContent>
      <p:sp>
        <p:nvSpPr>
          <p:cNvPr id="9" name="TextBox 8"/>
          <p:cNvSpPr txBox="1"/>
          <p:nvPr/>
        </p:nvSpPr>
        <p:spPr>
          <a:xfrm>
            <a:off x="0" y="0"/>
            <a:ext cx="4701026" cy="461665"/>
          </a:xfrm>
          <a:prstGeom prst="rect">
            <a:avLst/>
          </a:prstGeom>
          <a:solidFill>
            <a:srgbClr val="FFFF00"/>
          </a:solidFill>
        </p:spPr>
        <p:txBody>
          <a:bodyPr wrap="square" rtlCol="0">
            <a:spAutoFit/>
          </a:bodyPr>
          <a:lstStyle/>
          <a:p>
            <a:r>
              <a:rPr lang="en-AU" sz="2400" dirty="0" smtClean="0"/>
              <a:t>Hypotenuse, opposite and adjacent</a:t>
            </a:r>
            <a:endParaRPr lang="en-AU" sz="2400" dirty="0"/>
          </a:p>
        </p:txBody>
      </p:sp>
      <mc:AlternateContent xmlns:mc="http://schemas.openxmlformats.org/markup-compatibility/2006">
        <mc:Choice xmlns:a14="http://schemas.microsoft.com/office/drawing/2010/main" Requires="a14">
          <p:sp>
            <p:nvSpPr>
              <p:cNvPr id="10" name="TextBox 9"/>
              <p:cNvSpPr txBox="1"/>
              <p:nvPr/>
            </p:nvSpPr>
            <p:spPr>
              <a:xfrm>
                <a:off x="5821150" y="3069588"/>
                <a:ext cx="5542280" cy="72616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200" b="1" i="1" smtClean="0">
                          <a:solidFill>
                            <a:srgbClr val="FF0000"/>
                          </a:solidFill>
                          <a:latin typeface="Cambria Math" panose="02040503050406030204" pitchFamily="18" charset="0"/>
                        </a:rPr>
                        <m:t>𝑺</m:t>
                      </m:r>
                      <m:r>
                        <a:rPr lang="en-AU" sz="2200" b="1" i="1" smtClean="0">
                          <a:latin typeface="Cambria Math" panose="02040503050406030204" pitchFamily="18" charset="0"/>
                        </a:rPr>
                        <m:t>𝒊𝒏</m:t>
                      </m:r>
                      <m:r>
                        <a:rPr lang="en-AU" sz="2200" b="1" i="1" smtClean="0">
                          <a:latin typeface="Cambria Math" panose="02040503050406030204" pitchFamily="18" charset="0"/>
                        </a:rPr>
                        <m:t> </m:t>
                      </m:r>
                      <m:r>
                        <a:rPr lang="en-AU" sz="2200" b="1" i="1" smtClean="0">
                          <a:latin typeface="Cambria Math" panose="02040503050406030204" pitchFamily="18" charset="0"/>
                          <a:ea typeface="Cambria Math" panose="02040503050406030204" pitchFamily="18" charset="0"/>
                        </a:rPr>
                        <m:t>𝜽</m:t>
                      </m:r>
                      <m:r>
                        <a:rPr lang="en-AU" sz="2200" b="1" i="1" smtClean="0">
                          <a:latin typeface="Cambria Math" panose="02040503050406030204" pitchFamily="18" charset="0"/>
                          <a:ea typeface="Cambria Math" panose="02040503050406030204" pitchFamily="18" charset="0"/>
                        </a:rPr>
                        <m:t>= </m:t>
                      </m:r>
                      <m:f>
                        <m:fPr>
                          <m:ctrlPr>
                            <a:rPr lang="en-AU" sz="2200" b="1" i="1" smtClean="0">
                              <a:latin typeface="Cambria Math" panose="02040503050406030204" pitchFamily="18" charset="0"/>
                              <a:ea typeface="Cambria Math" panose="02040503050406030204" pitchFamily="18" charset="0"/>
                            </a:rPr>
                          </m:ctrlPr>
                        </m:fPr>
                        <m:num>
                          <m:r>
                            <a:rPr lang="en-AU" sz="2200" b="1" i="1" smtClean="0">
                              <a:solidFill>
                                <a:srgbClr val="FF0000"/>
                              </a:solidFill>
                              <a:latin typeface="Cambria Math" panose="02040503050406030204" pitchFamily="18" charset="0"/>
                              <a:ea typeface="Cambria Math" panose="02040503050406030204" pitchFamily="18" charset="0"/>
                            </a:rPr>
                            <m:t>𝑶</m:t>
                          </m:r>
                        </m:num>
                        <m:den>
                          <m:r>
                            <a:rPr lang="en-AU" sz="2200" b="1" i="1" smtClean="0">
                              <a:solidFill>
                                <a:srgbClr val="FF0000"/>
                              </a:solidFill>
                              <a:latin typeface="Cambria Math" panose="02040503050406030204" pitchFamily="18" charset="0"/>
                              <a:ea typeface="Cambria Math" panose="02040503050406030204" pitchFamily="18" charset="0"/>
                            </a:rPr>
                            <m:t>𝑯</m:t>
                          </m:r>
                        </m:den>
                      </m:f>
                    </m:oMath>
                  </m:oMathPara>
                </a14:m>
                <a:endParaRPr lang="en-AU" sz="2200" b="1" dirty="0"/>
              </a:p>
            </p:txBody>
          </p:sp>
        </mc:Choice>
        <mc:Fallback>
          <p:sp>
            <p:nvSpPr>
              <p:cNvPr id="10" name="TextBox 9"/>
              <p:cNvSpPr txBox="1">
                <a:spLocks noRot="1" noChangeAspect="1" noMove="1" noResize="1" noEditPoints="1" noAdjustHandles="1" noChangeArrowheads="1" noChangeShapeType="1" noTextEdit="1"/>
              </p:cNvSpPr>
              <p:nvPr/>
            </p:nvSpPr>
            <p:spPr>
              <a:xfrm>
                <a:off x="5821150" y="3069588"/>
                <a:ext cx="5542280" cy="726161"/>
              </a:xfrm>
              <a:prstGeom prst="rect">
                <a:avLst/>
              </a:prstGeom>
              <a:blipFill>
                <a:blip r:embed="rId5"/>
                <a:stretch>
                  <a:fillRect/>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11" name="TextBox 10"/>
              <p:cNvSpPr txBox="1"/>
              <p:nvPr/>
            </p:nvSpPr>
            <p:spPr>
              <a:xfrm>
                <a:off x="5821150" y="3943387"/>
                <a:ext cx="5542280" cy="72494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200" b="1" i="1" smtClean="0">
                          <a:solidFill>
                            <a:srgbClr val="0070C0"/>
                          </a:solidFill>
                          <a:latin typeface="Cambria Math" panose="02040503050406030204" pitchFamily="18" charset="0"/>
                        </a:rPr>
                        <m:t>𝑪</m:t>
                      </m:r>
                      <m:r>
                        <a:rPr lang="en-AU" sz="2200" b="1" i="1" smtClean="0">
                          <a:latin typeface="Cambria Math" panose="02040503050406030204" pitchFamily="18" charset="0"/>
                        </a:rPr>
                        <m:t>𝒐𝒔</m:t>
                      </m:r>
                      <m:r>
                        <a:rPr lang="en-AU" sz="2200" b="1" i="1" smtClean="0">
                          <a:latin typeface="Cambria Math" panose="02040503050406030204" pitchFamily="18" charset="0"/>
                        </a:rPr>
                        <m:t> </m:t>
                      </m:r>
                      <m:r>
                        <a:rPr lang="en-AU" sz="2200" b="1" i="1" smtClean="0">
                          <a:latin typeface="Cambria Math" panose="02040503050406030204" pitchFamily="18" charset="0"/>
                          <a:ea typeface="Cambria Math" panose="02040503050406030204" pitchFamily="18" charset="0"/>
                        </a:rPr>
                        <m:t>𝜽</m:t>
                      </m:r>
                      <m:r>
                        <a:rPr lang="en-AU" sz="2200" b="1" i="1" smtClean="0">
                          <a:latin typeface="Cambria Math" panose="02040503050406030204" pitchFamily="18" charset="0"/>
                          <a:ea typeface="Cambria Math" panose="02040503050406030204" pitchFamily="18" charset="0"/>
                        </a:rPr>
                        <m:t>= </m:t>
                      </m:r>
                      <m:f>
                        <m:fPr>
                          <m:ctrlPr>
                            <a:rPr lang="en-AU" sz="2200" b="1" i="1" smtClean="0">
                              <a:latin typeface="Cambria Math" panose="02040503050406030204" pitchFamily="18" charset="0"/>
                              <a:ea typeface="Cambria Math" panose="02040503050406030204" pitchFamily="18" charset="0"/>
                            </a:rPr>
                          </m:ctrlPr>
                        </m:fPr>
                        <m:num>
                          <m:r>
                            <a:rPr lang="en-AU" sz="2200" b="1" i="1" smtClean="0">
                              <a:solidFill>
                                <a:srgbClr val="0070C0"/>
                              </a:solidFill>
                              <a:latin typeface="Cambria Math" panose="02040503050406030204" pitchFamily="18" charset="0"/>
                              <a:ea typeface="Cambria Math" panose="02040503050406030204" pitchFamily="18" charset="0"/>
                            </a:rPr>
                            <m:t>𝑨</m:t>
                          </m:r>
                        </m:num>
                        <m:den>
                          <m:r>
                            <a:rPr lang="en-AU" sz="2200" b="1" i="1" smtClean="0">
                              <a:solidFill>
                                <a:srgbClr val="0070C0"/>
                              </a:solidFill>
                              <a:latin typeface="Cambria Math" panose="02040503050406030204" pitchFamily="18" charset="0"/>
                              <a:ea typeface="Cambria Math" panose="02040503050406030204" pitchFamily="18" charset="0"/>
                            </a:rPr>
                            <m:t>𝑯</m:t>
                          </m:r>
                        </m:den>
                      </m:f>
                    </m:oMath>
                  </m:oMathPara>
                </a14:m>
                <a:endParaRPr lang="en-AU" sz="2200" b="1" dirty="0"/>
              </a:p>
            </p:txBody>
          </p:sp>
        </mc:Choice>
        <mc:Fallback>
          <p:sp>
            <p:nvSpPr>
              <p:cNvPr id="11" name="TextBox 10"/>
              <p:cNvSpPr txBox="1">
                <a:spLocks noRot="1" noChangeAspect="1" noMove="1" noResize="1" noEditPoints="1" noAdjustHandles="1" noChangeArrowheads="1" noChangeShapeType="1" noTextEdit="1"/>
              </p:cNvSpPr>
              <p:nvPr/>
            </p:nvSpPr>
            <p:spPr>
              <a:xfrm>
                <a:off x="5821150" y="3943387"/>
                <a:ext cx="5542280" cy="724942"/>
              </a:xfrm>
              <a:prstGeom prst="rect">
                <a:avLst/>
              </a:prstGeom>
              <a:blipFill>
                <a:blip r:embed="rId6"/>
                <a:stretch>
                  <a:fillRect/>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12" name="TextBox 11"/>
              <p:cNvSpPr txBox="1"/>
              <p:nvPr/>
            </p:nvSpPr>
            <p:spPr>
              <a:xfrm>
                <a:off x="5821150" y="4911705"/>
                <a:ext cx="5542280" cy="72616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200" b="1" i="1" smtClean="0">
                          <a:solidFill>
                            <a:srgbClr val="00B050"/>
                          </a:solidFill>
                          <a:latin typeface="Cambria Math" panose="02040503050406030204" pitchFamily="18" charset="0"/>
                        </a:rPr>
                        <m:t>𝑻</m:t>
                      </m:r>
                      <m:r>
                        <a:rPr lang="en-AU" sz="2200" b="1" i="1" smtClean="0">
                          <a:latin typeface="Cambria Math" panose="02040503050406030204" pitchFamily="18" charset="0"/>
                        </a:rPr>
                        <m:t>𝒂𝒏</m:t>
                      </m:r>
                      <m:r>
                        <a:rPr lang="en-AU" sz="2200" b="1" i="1" smtClean="0">
                          <a:latin typeface="Cambria Math" panose="02040503050406030204" pitchFamily="18" charset="0"/>
                        </a:rPr>
                        <m:t> </m:t>
                      </m:r>
                      <m:r>
                        <a:rPr lang="en-AU" sz="2200" b="1" i="1" smtClean="0">
                          <a:latin typeface="Cambria Math" panose="02040503050406030204" pitchFamily="18" charset="0"/>
                          <a:ea typeface="Cambria Math" panose="02040503050406030204" pitchFamily="18" charset="0"/>
                        </a:rPr>
                        <m:t>𝜽</m:t>
                      </m:r>
                      <m:r>
                        <a:rPr lang="en-AU" sz="2200" b="1" i="1" smtClean="0">
                          <a:latin typeface="Cambria Math" panose="02040503050406030204" pitchFamily="18" charset="0"/>
                          <a:ea typeface="Cambria Math" panose="02040503050406030204" pitchFamily="18" charset="0"/>
                        </a:rPr>
                        <m:t>= </m:t>
                      </m:r>
                      <m:f>
                        <m:fPr>
                          <m:ctrlPr>
                            <a:rPr lang="en-AU" sz="2200" b="1" i="1" smtClean="0">
                              <a:latin typeface="Cambria Math" panose="02040503050406030204" pitchFamily="18" charset="0"/>
                              <a:ea typeface="Cambria Math" panose="02040503050406030204" pitchFamily="18" charset="0"/>
                            </a:rPr>
                          </m:ctrlPr>
                        </m:fPr>
                        <m:num>
                          <m:r>
                            <a:rPr lang="en-AU" sz="2200" b="1" i="1" smtClean="0">
                              <a:solidFill>
                                <a:srgbClr val="00B050"/>
                              </a:solidFill>
                              <a:latin typeface="Cambria Math" panose="02040503050406030204" pitchFamily="18" charset="0"/>
                              <a:ea typeface="Cambria Math" panose="02040503050406030204" pitchFamily="18" charset="0"/>
                            </a:rPr>
                            <m:t>𝑶</m:t>
                          </m:r>
                        </m:num>
                        <m:den>
                          <m:r>
                            <a:rPr lang="en-AU" sz="2200" b="1" i="1" smtClean="0">
                              <a:solidFill>
                                <a:srgbClr val="00B050"/>
                              </a:solidFill>
                              <a:latin typeface="Cambria Math" panose="02040503050406030204" pitchFamily="18" charset="0"/>
                              <a:ea typeface="Cambria Math" panose="02040503050406030204" pitchFamily="18" charset="0"/>
                            </a:rPr>
                            <m:t>𝑨</m:t>
                          </m:r>
                        </m:den>
                      </m:f>
                    </m:oMath>
                  </m:oMathPara>
                </a14:m>
                <a:endParaRPr lang="en-AU" sz="2200" b="1" dirty="0"/>
              </a:p>
            </p:txBody>
          </p:sp>
        </mc:Choice>
        <mc:Fallback>
          <p:sp>
            <p:nvSpPr>
              <p:cNvPr id="12" name="TextBox 11"/>
              <p:cNvSpPr txBox="1">
                <a:spLocks noRot="1" noChangeAspect="1" noMove="1" noResize="1" noEditPoints="1" noAdjustHandles="1" noChangeArrowheads="1" noChangeShapeType="1" noTextEdit="1"/>
              </p:cNvSpPr>
              <p:nvPr/>
            </p:nvSpPr>
            <p:spPr>
              <a:xfrm>
                <a:off x="5821150" y="4911705"/>
                <a:ext cx="5542280" cy="726161"/>
              </a:xfrm>
              <a:prstGeom prst="rect">
                <a:avLst/>
              </a:prstGeom>
              <a:blipFill>
                <a:blip r:embed="rId7"/>
                <a:stretch>
                  <a:fillRect/>
                </a:stretch>
              </a:blipFill>
            </p:spPr>
            <p:txBody>
              <a:bodyPr/>
              <a:lstStyle/>
              <a:p>
                <a:r>
                  <a:rPr lang="en-AU">
                    <a:noFill/>
                  </a:rPr>
                  <a:t> </a:t>
                </a:r>
              </a:p>
            </p:txBody>
          </p:sp>
        </mc:Fallback>
      </mc:AlternateContent>
      <p:sp>
        <p:nvSpPr>
          <p:cNvPr id="13" name="TextBox 12"/>
          <p:cNvSpPr txBox="1"/>
          <p:nvPr/>
        </p:nvSpPr>
        <p:spPr>
          <a:xfrm>
            <a:off x="10068560" y="3253982"/>
            <a:ext cx="3210560" cy="430887"/>
          </a:xfrm>
          <a:prstGeom prst="rect">
            <a:avLst/>
          </a:prstGeom>
          <a:noFill/>
        </p:spPr>
        <p:txBody>
          <a:bodyPr wrap="square" rtlCol="0">
            <a:spAutoFit/>
          </a:bodyPr>
          <a:lstStyle/>
          <a:p>
            <a:r>
              <a:rPr lang="en-AU" sz="2200" b="1" dirty="0" smtClean="0">
                <a:solidFill>
                  <a:srgbClr val="FF0000"/>
                </a:solidFill>
              </a:rPr>
              <a:t>S O H</a:t>
            </a:r>
            <a:endParaRPr lang="en-AU" sz="2200" b="1" dirty="0">
              <a:solidFill>
                <a:srgbClr val="FF0000"/>
              </a:solidFill>
            </a:endParaRPr>
          </a:p>
        </p:txBody>
      </p:sp>
      <p:sp>
        <p:nvSpPr>
          <p:cNvPr id="14" name="TextBox 13"/>
          <p:cNvSpPr txBox="1"/>
          <p:nvPr/>
        </p:nvSpPr>
        <p:spPr>
          <a:xfrm>
            <a:off x="10068560" y="4095818"/>
            <a:ext cx="3210560" cy="430887"/>
          </a:xfrm>
          <a:prstGeom prst="rect">
            <a:avLst/>
          </a:prstGeom>
          <a:noFill/>
        </p:spPr>
        <p:txBody>
          <a:bodyPr wrap="square" rtlCol="0">
            <a:spAutoFit/>
          </a:bodyPr>
          <a:lstStyle/>
          <a:p>
            <a:r>
              <a:rPr lang="en-AU" sz="2200" b="1" dirty="0" smtClean="0">
                <a:solidFill>
                  <a:srgbClr val="0070C0"/>
                </a:solidFill>
              </a:rPr>
              <a:t>C A H</a:t>
            </a:r>
            <a:endParaRPr lang="en-AU" sz="2200" b="1" dirty="0">
              <a:solidFill>
                <a:srgbClr val="0070C0"/>
              </a:solidFill>
            </a:endParaRPr>
          </a:p>
        </p:txBody>
      </p:sp>
      <p:sp>
        <p:nvSpPr>
          <p:cNvPr id="15" name="TextBox 14"/>
          <p:cNvSpPr txBox="1"/>
          <p:nvPr/>
        </p:nvSpPr>
        <p:spPr>
          <a:xfrm>
            <a:off x="10068560" y="5059341"/>
            <a:ext cx="3210560" cy="430887"/>
          </a:xfrm>
          <a:prstGeom prst="rect">
            <a:avLst/>
          </a:prstGeom>
          <a:noFill/>
        </p:spPr>
        <p:txBody>
          <a:bodyPr wrap="square" rtlCol="0">
            <a:spAutoFit/>
          </a:bodyPr>
          <a:lstStyle/>
          <a:p>
            <a:r>
              <a:rPr lang="en-AU" sz="2200" b="1" dirty="0" smtClean="0">
                <a:solidFill>
                  <a:srgbClr val="00B050"/>
                </a:solidFill>
              </a:rPr>
              <a:t>T O A</a:t>
            </a:r>
            <a:endParaRPr lang="en-AU" sz="2200" b="1" dirty="0">
              <a:solidFill>
                <a:srgbClr val="00B050"/>
              </a:solidFill>
            </a:endParaRPr>
          </a:p>
        </p:txBody>
      </p:sp>
      <p:sp>
        <p:nvSpPr>
          <p:cNvPr id="16" name="TextBox 15"/>
          <p:cNvSpPr txBox="1"/>
          <p:nvPr/>
        </p:nvSpPr>
        <p:spPr>
          <a:xfrm>
            <a:off x="716280" y="6263640"/>
            <a:ext cx="9555480" cy="461665"/>
          </a:xfrm>
          <a:prstGeom prst="rect">
            <a:avLst/>
          </a:prstGeom>
          <a:solidFill>
            <a:srgbClr val="FFFF00"/>
          </a:solidFill>
        </p:spPr>
        <p:txBody>
          <a:bodyPr wrap="square" rtlCol="0">
            <a:spAutoFit/>
          </a:bodyPr>
          <a:lstStyle/>
          <a:p>
            <a:r>
              <a:rPr lang="en-AU" sz="2400" dirty="0" smtClean="0"/>
              <a:t>SOH CAH TOA is an easy way to remember which ratio contains which sides.</a:t>
            </a:r>
            <a:endParaRPr lang="en-AU" sz="2400" dirty="0"/>
          </a:p>
        </p:txBody>
      </p:sp>
    </p:spTree>
    <p:extLst>
      <p:ext uri="{BB962C8B-B14F-4D97-AF65-F5344CB8AC3E}">
        <p14:creationId xmlns:p14="http://schemas.microsoft.com/office/powerpoint/2010/main" val="958645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10" grpId="0"/>
      <p:bldP spid="11" grpId="0"/>
      <p:bldP spid="12" grpId="0"/>
      <p:bldP spid="13" grpId="0"/>
      <p:bldP spid="14" grpId="0"/>
      <p:bldP spid="15" grpId="0"/>
      <p:bldP spid="1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42939" y="595607"/>
            <a:ext cx="2839070" cy="3086413"/>
          </a:xfrm>
          <a:prstGeom prst="rect">
            <a:avLst/>
          </a:prstGeom>
        </p:spPr>
      </p:pic>
      <p:sp>
        <p:nvSpPr>
          <p:cNvPr id="13" name="TextBox 12"/>
          <p:cNvSpPr txBox="1"/>
          <p:nvPr/>
        </p:nvSpPr>
        <p:spPr>
          <a:xfrm>
            <a:off x="7292203" y="199617"/>
            <a:ext cx="4716917" cy="1446550"/>
          </a:xfrm>
          <a:prstGeom prst="rect">
            <a:avLst/>
          </a:prstGeom>
          <a:solidFill>
            <a:srgbClr val="FFFF00"/>
          </a:solidFill>
          <a:ln>
            <a:solidFill>
              <a:schemeClr val="tx1"/>
            </a:solidFill>
          </a:ln>
        </p:spPr>
        <p:txBody>
          <a:bodyPr wrap="square" rtlCol="0">
            <a:spAutoFit/>
          </a:bodyPr>
          <a:lstStyle/>
          <a:p>
            <a:pPr algn="ctr"/>
            <a:r>
              <a:rPr lang="en-AU" sz="2200" dirty="0"/>
              <a:t>Step 1: Label your triangle.</a:t>
            </a:r>
          </a:p>
          <a:p>
            <a:pPr algn="ctr"/>
            <a:r>
              <a:rPr lang="en-AU" sz="2200" dirty="0"/>
              <a:t>Step 2: Decide the ratio you need.</a:t>
            </a:r>
          </a:p>
          <a:p>
            <a:pPr algn="ctr"/>
            <a:r>
              <a:rPr lang="en-AU" sz="2200" dirty="0"/>
              <a:t>Step 3: Substitute in the values.</a:t>
            </a:r>
          </a:p>
          <a:p>
            <a:pPr algn="ctr"/>
            <a:r>
              <a:rPr lang="en-AU" sz="2200" dirty="0"/>
              <a:t>Step 4: Solve the equation.</a:t>
            </a:r>
          </a:p>
        </p:txBody>
      </p:sp>
      <p:cxnSp>
        <p:nvCxnSpPr>
          <p:cNvPr id="29" name="Straight Arrow Connector 28"/>
          <p:cNvCxnSpPr/>
          <p:nvPr/>
        </p:nvCxnSpPr>
        <p:spPr>
          <a:xfrm flipH="1" flipV="1">
            <a:off x="1899920" y="2395360"/>
            <a:ext cx="1109250" cy="87558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flipH="1">
            <a:off x="2169160" y="1545809"/>
            <a:ext cx="769621" cy="1804215"/>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3158396" y="798676"/>
            <a:ext cx="0" cy="2612394"/>
          </a:xfrm>
          <a:prstGeom prst="line">
            <a:avLst/>
          </a:prstGeom>
          <a:ln w="57150">
            <a:solidFill>
              <a:srgbClr val="00FF00"/>
            </a:solidFill>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3957320" y="2026920"/>
            <a:ext cx="7914640" cy="430887"/>
          </a:xfrm>
          <a:prstGeom prst="rect">
            <a:avLst/>
          </a:prstGeom>
          <a:noFill/>
        </p:spPr>
        <p:txBody>
          <a:bodyPr wrap="square" rtlCol="0">
            <a:spAutoFit/>
          </a:bodyPr>
          <a:lstStyle/>
          <a:p>
            <a:r>
              <a:rPr lang="en-AU" sz="2200" dirty="0"/>
              <a:t>We want to find the </a:t>
            </a:r>
            <a:r>
              <a:rPr lang="en-AU" sz="2200" dirty="0">
                <a:solidFill>
                  <a:srgbClr val="FF0000"/>
                </a:solidFill>
              </a:rPr>
              <a:t>o</a:t>
            </a:r>
            <a:r>
              <a:rPr lang="en-AU" sz="2200" dirty="0"/>
              <a:t>pposite. We know the </a:t>
            </a:r>
            <a:r>
              <a:rPr lang="en-AU" sz="2200" dirty="0">
                <a:solidFill>
                  <a:srgbClr val="FF0000"/>
                </a:solidFill>
              </a:rPr>
              <a:t>h</a:t>
            </a:r>
            <a:r>
              <a:rPr lang="en-AU" sz="2200" dirty="0"/>
              <a:t>ypotenuse.</a:t>
            </a:r>
          </a:p>
        </p:txBody>
      </p:sp>
      <mc:AlternateContent xmlns:mc="http://schemas.openxmlformats.org/markup-compatibility/2006" xmlns:a14="http://schemas.microsoft.com/office/drawing/2010/main">
        <mc:Choice Requires="a14">
          <p:sp>
            <p:nvSpPr>
              <p:cNvPr id="42" name="TextBox 41"/>
              <p:cNvSpPr txBox="1"/>
              <p:nvPr/>
            </p:nvSpPr>
            <p:spPr>
              <a:xfrm>
                <a:off x="5181412" y="2491367"/>
                <a:ext cx="5542280" cy="101431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3200" b="1" i="1" smtClean="0">
                          <a:solidFill>
                            <a:srgbClr val="FF0000"/>
                          </a:solidFill>
                          <a:latin typeface="Cambria Math" panose="02040503050406030204" pitchFamily="18" charset="0"/>
                        </a:rPr>
                        <m:t>𝑺</m:t>
                      </m:r>
                      <m:r>
                        <a:rPr lang="en-AU" sz="3200" b="1" i="1" smtClean="0">
                          <a:solidFill>
                            <a:schemeClr val="tx1"/>
                          </a:solidFill>
                          <a:latin typeface="Cambria Math" panose="02040503050406030204" pitchFamily="18" charset="0"/>
                        </a:rPr>
                        <m:t>𝒊𝒏</m:t>
                      </m:r>
                      <m:r>
                        <a:rPr lang="en-AU" sz="3200" b="1" i="1" smtClean="0">
                          <a:solidFill>
                            <a:schemeClr val="tx1"/>
                          </a:solidFill>
                          <a:latin typeface="Cambria Math" panose="02040503050406030204" pitchFamily="18" charset="0"/>
                        </a:rPr>
                        <m:t> </m:t>
                      </m:r>
                      <m:r>
                        <a:rPr lang="en-AU" sz="3200" b="1" i="1" smtClean="0">
                          <a:solidFill>
                            <a:schemeClr val="tx1"/>
                          </a:solidFill>
                          <a:latin typeface="Cambria Math" panose="02040503050406030204" pitchFamily="18" charset="0"/>
                          <a:ea typeface="Cambria Math" panose="02040503050406030204" pitchFamily="18" charset="0"/>
                        </a:rPr>
                        <m:t>𝜽</m:t>
                      </m:r>
                      <m:r>
                        <a:rPr lang="en-AU" sz="3200" b="1" i="1" smtClean="0">
                          <a:solidFill>
                            <a:schemeClr val="tx1"/>
                          </a:solidFill>
                          <a:latin typeface="Cambria Math" panose="02040503050406030204" pitchFamily="18" charset="0"/>
                          <a:ea typeface="Cambria Math" panose="02040503050406030204" pitchFamily="18" charset="0"/>
                        </a:rPr>
                        <m:t>= </m:t>
                      </m:r>
                      <m:f>
                        <m:fPr>
                          <m:ctrlPr>
                            <a:rPr lang="en-AU" sz="3200" b="1" i="1" smtClean="0">
                              <a:solidFill>
                                <a:schemeClr val="tx1"/>
                              </a:solidFill>
                              <a:latin typeface="Cambria Math" panose="02040503050406030204" pitchFamily="18" charset="0"/>
                              <a:ea typeface="Cambria Math" panose="02040503050406030204" pitchFamily="18" charset="0"/>
                            </a:rPr>
                          </m:ctrlPr>
                        </m:fPr>
                        <m:num>
                          <m:r>
                            <a:rPr lang="en-AU" sz="3200" b="1" i="1" smtClean="0">
                              <a:solidFill>
                                <a:srgbClr val="FF0000"/>
                              </a:solidFill>
                              <a:latin typeface="Cambria Math" panose="02040503050406030204" pitchFamily="18" charset="0"/>
                              <a:ea typeface="Cambria Math" panose="02040503050406030204" pitchFamily="18" charset="0"/>
                            </a:rPr>
                            <m:t>𝑶</m:t>
                          </m:r>
                        </m:num>
                        <m:den>
                          <m:r>
                            <a:rPr lang="en-AU" sz="3200" b="1" i="1" smtClean="0">
                              <a:solidFill>
                                <a:srgbClr val="FF0000"/>
                              </a:solidFill>
                              <a:latin typeface="Cambria Math" panose="02040503050406030204" pitchFamily="18" charset="0"/>
                              <a:ea typeface="Cambria Math" panose="02040503050406030204" pitchFamily="18" charset="0"/>
                            </a:rPr>
                            <m:t>𝑯</m:t>
                          </m:r>
                        </m:den>
                      </m:f>
                    </m:oMath>
                  </m:oMathPara>
                </a14:m>
                <a:endParaRPr lang="en-AU" sz="3200" b="1" dirty="0"/>
              </a:p>
            </p:txBody>
          </p:sp>
        </mc:Choice>
        <mc:Fallback xmlns="">
          <p:sp>
            <p:nvSpPr>
              <p:cNvPr id="42" name="TextBox 41"/>
              <p:cNvSpPr txBox="1">
                <a:spLocks noRot="1" noChangeAspect="1" noMove="1" noResize="1" noEditPoints="1" noAdjustHandles="1" noChangeArrowheads="1" noChangeShapeType="1" noTextEdit="1"/>
              </p:cNvSpPr>
              <p:nvPr/>
            </p:nvSpPr>
            <p:spPr>
              <a:xfrm>
                <a:off x="5181412" y="2491367"/>
                <a:ext cx="5542280" cy="1014317"/>
              </a:xfrm>
              <a:prstGeom prst="rect">
                <a:avLst/>
              </a:prstGeom>
              <a:blipFill rotWithShape="0">
                <a:blip r:embed="rId3"/>
                <a:stretch>
                  <a:fillRect/>
                </a:stretch>
              </a:blipFill>
            </p:spPr>
            <p:txBody>
              <a:bodyPr/>
              <a:lstStyle/>
              <a:p>
                <a:r>
                  <a:rPr lang="en-AU">
                    <a:noFill/>
                  </a:rPr>
                  <a:t> </a:t>
                </a:r>
              </a:p>
            </p:txBody>
          </p:sp>
        </mc:Fallback>
      </mc:AlternateContent>
      <p:sp>
        <p:nvSpPr>
          <p:cNvPr id="43" name="TextBox 42"/>
          <p:cNvSpPr txBox="1"/>
          <p:nvPr/>
        </p:nvSpPr>
        <p:spPr>
          <a:xfrm>
            <a:off x="3957319" y="2488585"/>
            <a:ext cx="3210560" cy="1015663"/>
          </a:xfrm>
          <a:prstGeom prst="rect">
            <a:avLst/>
          </a:prstGeom>
          <a:noFill/>
        </p:spPr>
        <p:txBody>
          <a:bodyPr wrap="square" rtlCol="0">
            <a:spAutoFit/>
          </a:bodyPr>
          <a:lstStyle/>
          <a:p>
            <a:r>
              <a:rPr lang="en-AU" sz="6000" b="1" dirty="0">
                <a:solidFill>
                  <a:srgbClr val="FF0000"/>
                </a:solidFill>
              </a:rPr>
              <a:t>S O H</a:t>
            </a:r>
          </a:p>
        </p:txBody>
      </p:sp>
      <mc:AlternateContent xmlns:mc="http://schemas.openxmlformats.org/markup-compatibility/2006" xmlns:a14="http://schemas.microsoft.com/office/drawing/2010/main">
        <mc:Choice Requires="a14">
          <p:sp>
            <p:nvSpPr>
              <p:cNvPr id="44" name="TextBox 43"/>
              <p:cNvSpPr txBox="1"/>
              <p:nvPr/>
            </p:nvSpPr>
            <p:spPr>
              <a:xfrm>
                <a:off x="4958081" y="3762872"/>
                <a:ext cx="5542280" cy="94275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3200" b="1" i="1" smtClean="0">
                          <a:solidFill>
                            <a:schemeClr val="tx1"/>
                          </a:solidFill>
                          <a:latin typeface="Cambria Math" panose="02040503050406030204" pitchFamily="18" charset="0"/>
                        </a:rPr>
                        <m:t>𝑺𝒊𝒏</m:t>
                      </m:r>
                      <m:r>
                        <a:rPr lang="en-AU" sz="3200" b="1" i="1" smtClean="0">
                          <a:latin typeface="Cambria Math" panose="02040503050406030204" pitchFamily="18" charset="0"/>
                        </a:rPr>
                        <m:t> </m:t>
                      </m:r>
                      <m:r>
                        <a:rPr lang="en-AU" sz="3200" b="1" i="1" smtClean="0">
                          <a:latin typeface="Cambria Math" panose="02040503050406030204" pitchFamily="18" charset="0"/>
                        </a:rPr>
                        <m:t>𝟐𝟖</m:t>
                      </m:r>
                      <m:r>
                        <a:rPr lang="en-AU" sz="3200" b="1" i="1" smtClean="0">
                          <a:latin typeface="Cambria Math" panose="02040503050406030204" pitchFamily="18" charset="0"/>
                        </a:rPr>
                        <m:t>.</m:t>
                      </m:r>
                      <m:r>
                        <a:rPr lang="en-AU" sz="3200" b="1" i="1" smtClean="0">
                          <a:latin typeface="Cambria Math" panose="02040503050406030204" pitchFamily="18" charset="0"/>
                        </a:rPr>
                        <m:t>𝟓𝟑</m:t>
                      </m:r>
                      <m:r>
                        <a:rPr lang="en-AU" sz="3200" b="1" i="1" smtClean="0">
                          <a:latin typeface="Cambria Math" panose="02040503050406030204" pitchFamily="18" charset="0"/>
                          <a:ea typeface="Cambria Math" panose="02040503050406030204" pitchFamily="18" charset="0"/>
                        </a:rPr>
                        <m:t>°= </m:t>
                      </m:r>
                      <m:f>
                        <m:fPr>
                          <m:ctrlPr>
                            <a:rPr lang="en-AU" sz="3200" b="1" i="1" smtClean="0">
                              <a:solidFill>
                                <a:schemeClr val="tx1"/>
                              </a:solidFill>
                              <a:latin typeface="Cambria Math" panose="02040503050406030204" pitchFamily="18" charset="0"/>
                              <a:ea typeface="Cambria Math" panose="02040503050406030204" pitchFamily="18" charset="0"/>
                            </a:rPr>
                          </m:ctrlPr>
                        </m:fPr>
                        <m:num>
                          <m:r>
                            <a:rPr lang="en-AU" sz="3200" b="1" i="1" smtClean="0">
                              <a:solidFill>
                                <a:schemeClr val="tx1"/>
                              </a:solidFill>
                              <a:latin typeface="Cambria Math" panose="02040503050406030204" pitchFamily="18" charset="0"/>
                              <a:ea typeface="Cambria Math" panose="02040503050406030204" pitchFamily="18" charset="0"/>
                            </a:rPr>
                            <m:t>𝒙</m:t>
                          </m:r>
                        </m:num>
                        <m:den>
                          <m:r>
                            <a:rPr lang="en-AU" sz="3200" b="1" i="1" smtClean="0">
                              <a:solidFill>
                                <a:schemeClr val="tx1"/>
                              </a:solidFill>
                              <a:latin typeface="Cambria Math" panose="02040503050406030204" pitchFamily="18" charset="0"/>
                              <a:ea typeface="Cambria Math" panose="02040503050406030204" pitchFamily="18" charset="0"/>
                            </a:rPr>
                            <m:t>𝟒𝟖</m:t>
                          </m:r>
                        </m:den>
                      </m:f>
                    </m:oMath>
                  </m:oMathPara>
                </a14:m>
                <a:endParaRPr lang="en-AU" sz="3200" b="1" dirty="0"/>
              </a:p>
            </p:txBody>
          </p:sp>
        </mc:Choice>
        <mc:Fallback xmlns="">
          <p:sp>
            <p:nvSpPr>
              <p:cNvPr id="44" name="TextBox 43"/>
              <p:cNvSpPr txBox="1">
                <a:spLocks noRot="1" noChangeAspect="1" noMove="1" noResize="1" noEditPoints="1" noAdjustHandles="1" noChangeArrowheads="1" noChangeShapeType="1" noTextEdit="1"/>
              </p:cNvSpPr>
              <p:nvPr/>
            </p:nvSpPr>
            <p:spPr>
              <a:xfrm>
                <a:off x="4958081" y="3762872"/>
                <a:ext cx="5542280" cy="942759"/>
              </a:xfrm>
              <a:prstGeom prst="rect">
                <a:avLst/>
              </a:prstGeom>
              <a:blipFill rotWithShape="0">
                <a:blip r:embed="rId4"/>
                <a:stretch>
                  <a:fillRect/>
                </a:stretch>
              </a:blipFill>
            </p:spPr>
            <p:txBody>
              <a:bodyPr/>
              <a:lstStyle/>
              <a:p>
                <a:r>
                  <a:rPr lang="en-AU">
                    <a:noFill/>
                  </a:rPr>
                  <a:t> </a:t>
                </a:r>
              </a:p>
            </p:txBody>
          </p:sp>
        </mc:Fallback>
      </mc:AlternateContent>
      <p:pic>
        <p:nvPicPr>
          <p:cNvPr id="3" name="Picture 2"/>
          <p:cNvPicPr>
            <a:picLocks noChangeAspect="1"/>
          </p:cNvPicPr>
          <p:nvPr/>
        </p:nvPicPr>
        <p:blipFill>
          <a:blip r:embed="rId5"/>
          <a:stretch>
            <a:fillRect/>
          </a:stretch>
        </p:blipFill>
        <p:spPr>
          <a:xfrm>
            <a:off x="269000" y="4080147"/>
            <a:ext cx="4616312" cy="1779294"/>
          </a:xfrm>
          <a:prstGeom prst="rect">
            <a:avLst/>
          </a:prstGeom>
        </p:spPr>
      </p:pic>
      <p:sp>
        <p:nvSpPr>
          <p:cNvPr id="4" name="TextBox 3"/>
          <p:cNvSpPr txBox="1"/>
          <p:nvPr/>
        </p:nvSpPr>
        <p:spPr>
          <a:xfrm>
            <a:off x="279400" y="5938520"/>
            <a:ext cx="4617720" cy="430887"/>
          </a:xfrm>
          <a:prstGeom prst="rect">
            <a:avLst/>
          </a:prstGeom>
          <a:noFill/>
        </p:spPr>
        <p:txBody>
          <a:bodyPr wrap="square" rtlCol="0">
            <a:spAutoFit/>
          </a:bodyPr>
          <a:lstStyle/>
          <a:p>
            <a:r>
              <a:rPr lang="en-AU" sz="2200" dirty="0"/>
              <a:t>Cover up the side you want to find.</a:t>
            </a:r>
          </a:p>
        </p:txBody>
      </p:sp>
      <p:pic>
        <p:nvPicPr>
          <p:cNvPr id="5" name="Picture 4"/>
          <p:cNvPicPr>
            <a:picLocks noChangeAspect="1"/>
          </p:cNvPicPr>
          <p:nvPr/>
        </p:nvPicPr>
        <p:blipFill>
          <a:blip r:embed="rId6"/>
          <a:stretch>
            <a:fillRect/>
          </a:stretch>
        </p:blipFill>
        <p:spPr>
          <a:xfrm>
            <a:off x="650933" y="4583068"/>
            <a:ext cx="723900" cy="647623"/>
          </a:xfrm>
          <a:prstGeom prst="rect">
            <a:avLst/>
          </a:prstGeom>
        </p:spPr>
      </p:pic>
      <mc:AlternateContent xmlns:mc="http://schemas.openxmlformats.org/markup-compatibility/2006" xmlns:a14="http://schemas.microsoft.com/office/drawing/2010/main">
        <mc:Choice Requires="a14">
          <p:sp>
            <p:nvSpPr>
              <p:cNvPr id="17" name="TextBox 16"/>
              <p:cNvSpPr txBox="1"/>
              <p:nvPr/>
            </p:nvSpPr>
            <p:spPr>
              <a:xfrm>
                <a:off x="5143500" y="5054463"/>
                <a:ext cx="5542280"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3200" b="1" i="1" smtClean="0">
                          <a:solidFill>
                            <a:schemeClr val="tx1"/>
                          </a:solidFill>
                          <a:latin typeface="Cambria Math" panose="02040503050406030204" pitchFamily="18" charset="0"/>
                        </a:rPr>
                        <m:t>𝟒𝟖</m:t>
                      </m:r>
                      <m:r>
                        <a:rPr lang="en-AU" sz="3200" b="1" i="1" smtClean="0">
                          <a:solidFill>
                            <a:schemeClr val="tx1"/>
                          </a:solidFill>
                          <a:latin typeface="Cambria Math" panose="02040503050406030204" pitchFamily="18" charset="0"/>
                          <a:ea typeface="Cambria Math" panose="02040503050406030204" pitchFamily="18" charset="0"/>
                        </a:rPr>
                        <m:t>×</m:t>
                      </m:r>
                      <m:r>
                        <a:rPr lang="en-AU" sz="3200" b="1" i="1" smtClean="0">
                          <a:solidFill>
                            <a:schemeClr val="tx1"/>
                          </a:solidFill>
                          <a:latin typeface="Cambria Math" panose="02040503050406030204" pitchFamily="18" charset="0"/>
                          <a:ea typeface="Cambria Math" panose="02040503050406030204" pitchFamily="18" charset="0"/>
                        </a:rPr>
                        <m:t>𝑺𝒊𝒏</m:t>
                      </m:r>
                      <m:r>
                        <a:rPr lang="en-AU" sz="3200" b="1" i="1" smtClean="0">
                          <a:solidFill>
                            <a:schemeClr val="tx1"/>
                          </a:solidFill>
                          <a:latin typeface="Cambria Math" panose="02040503050406030204" pitchFamily="18" charset="0"/>
                          <a:ea typeface="Cambria Math" panose="02040503050406030204" pitchFamily="18" charset="0"/>
                        </a:rPr>
                        <m:t> </m:t>
                      </m:r>
                      <m:r>
                        <a:rPr lang="en-AU" sz="3200" b="1" i="1" smtClean="0">
                          <a:solidFill>
                            <a:schemeClr val="tx1"/>
                          </a:solidFill>
                          <a:latin typeface="Cambria Math" panose="02040503050406030204" pitchFamily="18" charset="0"/>
                          <a:ea typeface="Cambria Math" panose="02040503050406030204" pitchFamily="18" charset="0"/>
                        </a:rPr>
                        <m:t>𝟐𝟖</m:t>
                      </m:r>
                      <m:r>
                        <a:rPr lang="en-AU" sz="3200" b="1" i="1" smtClean="0">
                          <a:solidFill>
                            <a:schemeClr val="tx1"/>
                          </a:solidFill>
                          <a:latin typeface="Cambria Math" panose="02040503050406030204" pitchFamily="18" charset="0"/>
                          <a:ea typeface="Cambria Math" panose="02040503050406030204" pitchFamily="18" charset="0"/>
                        </a:rPr>
                        <m:t>.</m:t>
                      </m:r>
                      <m:r>
                        <a:rPr lang="en-AU" sz="3200" b="1" i="1" smtClean="0">
                          <a:solidFill>
                            <a:schemeClr val="tx1"/>
                          </a:solidFill>
                          <a:latin typeface="Cambria Math" panose="02040503050406030204" pitchFamily="18" charset="0"/>
                          <a:ea typeface="Cambria Math" panose="02040503050406030204" pitchFamily="18" charset="0"/>
                        </a:rPr>
                        <m:t>𝟓𝟑</m:t>
                      </m:r>
                      <m:r>
                        <a:rPr lang="en-AU" sz="3200" b="1" i="1" smtClean="0">
                          <a:solidFill>
                            <a:schemeClr val="tx1"/>
                          </a:solidFill>
                          <a:latin typeface="Cambria Math" panose="02040503050406030204" pitchFamily="18" charset="0"/>
                          <a:ea typeface="Cambria Math" panose="02040503050406030204" pitchFamily="18" charset="0"/>
                        </a:rPr>
                        <m:t>°=</m:t>
                      </m:r>
                      <m:r>
                        <a:rPr lang="en-AU" sz="3200" b="1" i="1" smtClean="0">
                          <a:solidFill>
                            <a:schemeClr val="tx1"/>
                          </a:solidFill>
                          <a:latin typeface="Cambria Math" panose="02040503050406030204" pitchFamily="18" charset="0"/>
                          <a:ea typeface="Cambria Math" panose="02040503050406030204" pitchFamily="18" charset="0"/>
                        </a:rPr>
                        <m:t>𝒙</m:t>
                      </m:r>
                    </m:oMath>
                  </m:oMathPara>
                </a14:m>
                <a:endParaRPr lang="en-AU" sz="3200" b="1" dirty="0"/>
              </a:p>
            </p:txBody>
          </p:sp>
        </mc:Choice>
        <mc:Fallback xmlns="">
          <p:sp>
            <p:nvSpPr>
              <p:cNvPr id="17" name="TextBox 16"/>
              <p:cNvSpPr txBox="1">
                <a:spLocks noRot="1" noChangeAspect="1" noMove="1" noResize="1" noEditPoints="1" noAdjustHandles="1" noChangeArrowheads="1" noChangeShapeType="1" noTextEdit="1"/>
              </p:cNvSpPr>
              <p:nvPr/>
            </p:nvSpPr>
            <p:spPr>
              <a:xfrm>
                <a:off x="5143500" y="5054463"/>
                <a:ext cx="5542280" cy="584775"/>
              </a:xfrm>
              <a:prstGeom prst="rect">
                <a:avLst/>
              </a:prstGeom>
              <a:blipFill rotWithShape="0">
                <a:blip r:embed="rId7"/>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6075680" y="5938520"/>
                <a:ext cx="3876040" cy="5539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3000" b="1" i="1" smtClean="0">
                          <a:latin typeface="Cambria Math" panose="02040503050406030204" pitchFamily="18" charset="0"/>
                        </a:rPr>
                        <m:t>𝒙</m:t>
                      </m:r>
                      <m:r>
                        <a:rPr lang="en-AU" sz="3000" b="1" i="1" smtClean="0">
                          <a:latin typeface="Cambria Math" panose="02040503050406030204" pitchFamily="18" charset="0"/>
                        </a:rPr>
                        <m:t>=</m:t>
                      </m:r>
                      <m:r>
                        <a:rPr lang="en-AU" sz="3000" b="1" i="1" smtClean="0">
                          <a:latin typeface="Cambria Math" panose="02040503050406030204" pitchFamily="18" charset="0"/>
                        </a:rPr>
                        <m:t>𝟐𝟐</m:t>
                      </m:r>
                      <m:r>
                        <a:rPr lang="en-AU" sz="3000" b="1" i="1" smtClean="0">
                          <a:latin typeface="Cambria Math" panose="02040503050406030204" pitchFamily="18" charset="0"/>
                        </a:rPr>
                        <m:t>.</m:t>
                      </m:r>
                      <m:r>
                        <a:rPr lang="en-AU" sz="3000" b="1" i="1" smtClean="0">
                          <a:latin typeface="Cambria Math" panose="02040503050406030204" pitchFamily="18" charset="0"/>
                        </a:rPr>
                        <m:t>𝟗𝟑</m:t>
                      </m:r>
                      <m:r>
                        <a:rPr lang="en-AU" sz="3000" b="1" i="1" smtClean="0">
                          <a:latin typeface="Cambria Math" panose="02040503050406030204" pitchFamily="18" charset="0"/>
                        </a:rPr>
                        <m:t> </m:t>
                      </m:r>
                      <m:r>
                        <a:rPr lang="en-AU" sz="3000" b="1" i="1" smtClean="0">
                          <a:latin typeface="Cambria Math" panose="02040503050406030204" pitchFamily="18" charset="0"/>
                        </a:rPr>
                        <m:t>𝒎𝒎</m:t>
                      </m:r>
                      <m:r>
                        <a:rPr lang="en-AU" sz="3000" b="1" i="1" smtClean="0">
                          <a:latin typeface="Cambria Math" panose="02040503050406030204" pitchFamily="18" charset="0"/>
                        </a:rPr>
                        <m:t> (</m:t>
                      </m:r>
                      <m:r>
                        <a:rPr lang="en-AU" sz="3000" b="1" i="1" smtClean="0">
                          <a:latin typeface="Cambria Math" panose="02040503050406030204" pitchFamily="18" charset="0"/>
                        </a:rPr>
                        <m:t>𝟐</m:t>
                      </m:r>
                      <m:r>
                        <a:rPr lang="en-AU" sz="3000" b="1" i="1" smtClean="0">
                          <a:latin typeface="Cambria Math" panose="02040503050406030204" pitchFamily="18" charset="0"/>
                        </a:rPr>
                        <m:t>𝒅𝒑</m:t>
                      </m:r>
                      <m:r>
                        <a:rPr lang="en-AU" sz="3000" b="1" i="1" smtClean="0">
                          <a:latin typeface="Cambria Math" panose="02040503050406030204" pitchFamily="18" charset="0"/>
                        </a:rPr>
                        <m:t>)</m:t>
                      </m:r>
                    </m:oMath>
                  </m:oMathPara>
                </a14:m>
                <a:endParaRPr lang="en-AU" sz="3000" b="1" dirty="0"/>
              </a:p>
            </p:txBody>
          </p:sp>
        </mc:Choice>
        <mc:Fallback xmlns="">
          <p:sp>
            <p:nvSpPr>
              <p:cNvPr id="18" name="TextBox 17"/>
              <p:cNvSpPr txBox="1">
                <a:spLocks noRot="1" noChangeAspect="1" noMove="1" noResize="1" noEditPoints="1" noAdjustHandles="1" noChangeArrowheads="1" noChangeShapeType="1" noTextEdit="1"/>
              </p:cNvSpPr>
              <p:nvPr/>
            </p:nvSpPr>
            <p:spPr>
              <a:xfrm>
                <a:off x="6075680" y="5938520"/>
                <a:ext cx="3876040" cy="553998"/>
              </a:xfrm>
              <a:prstGeom prst="rect">
                <a:avLst/>
              </a:prstGeom>
              <a:blipFill rotWithShape="0">
                <a:blip r:embed="rId8"/>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701099" y="5346851"/>
                <a:ext cx="623569" cy="76944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sz="5000" b="1" i="1" smtClean="0">
                          <a:solidFill>
                            <a:srgbClr val="FF0000"/>
                          </a:solidFill>
                          <a:latin typeface="Cambria Math" panose="02040503050406030204" pitchFamily="18" charset="0"/>
                          <a:ea typeface="Cambria Math" panose="02040503050406030204" pitchFamily="18" charset="0"/>
                        </a:rPr>
                        <m:t>×</m:t>
                      </m:r>
                    </m:oMath>
                  </m:oMathPara>
                </a14:m>
                <a:endParaRPr lang="en-AU" sz="5000" b="1" dirty="0">
                  <a:solidFill>
                    <a:srgbClr val="FF0000"/>
                  </a:solidFill>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701099" y="5346851"/>
                <a:ext cx="623569" cy="769441"/>
              </a:xfrm>
              <a:prstGeom prst="rect">
                <a:avLst/>
              </a:prstGeom>
              <a:blipFill rotWithShape="0">
                <a:blip r:embed="rId9"/>
                <a:stretch>
                  <a:fillRect/>
                </a:stretch>
              </a:blipFill>
            </p:spPr>
            <p:txBody>
              <a:bodyPr/>
              <a:lstStyle/>
              <a:p>
                <a:r>
                  <a:rPr lang="en-AU">
                    <a:noFill/>
                  </a:rPr>
                  <a:t> </a:t>
                </a:r>
              </a:p>
            </p:txBody>
          </p:sp>
        </mc:Fallback>
      </mc:AlternateContent>
      <p:sp>
        <p:nvSpPr>
          <p:cNvPr id="19" name="TextBox 18"/>
          <p:cNvSpPr txBox="1"/>
          <p:nvPr/>
        </p:nvSpPr>
        <p:spPr>
          <a:xfrm>
            <a:off x="0" y="0"/>
            <a:ext cx="1374405" cy="461665"/>
          </a:xfrm>
          <a:prstGeom prst="rect">
            <a:avLst/>
          </a:prstGeom>
          <a:solidFill>
            <a:srgbClr val="FFFF00"/>
          </a:solidFill>
        </p:spPr>
        <p:txBody>
          <a:bodyPr wrap="square" rtlCol="0">
            <a:spAutoFit/>
          </a:bodyPr>
          <a:lstStyle/>
          <a:p>
            <a:r>
              <a:rPr lang="en-AU" sz="2400" dirty="0" smtClean="0"/>
              <a:t>Examples</a:t>
            </a:r>
            <a:endParaRPr lang="en-AU" sz="2400" dirty="0"/>
          </a:p>
        </p:txBody>
      </p:sp>
    </p:spTree>
    <p:extLst>
      <p:ext uri="{BB962C8B-B14F-4D97-AF65-F5344CB8AC3E}">
        <p14:creationId xmlns:p14="http://schemas.microsoft.com/office/powerpoint/2010/main" val="2886333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13">
                                            <p:txEl>
                                              <p:pRg st="0" end="0"/>
                                            </p:txEl>
                                          </p:spTgt>
                                        </p:tgtEl>
                                      </p:cBhvr>
                                    </p:animEffect>
                                    <p:animScale>
                                      <p:cBhvr>
                                        <p:cTn id="7" dur="250" autoRev="1" fill="hold"/>
                                        <p:tgtEl>
                                          <p:spTgt spid="13">
                                            <p:txEl>
                                              <p:pRg st="0" end="0"/>
                                            </p:txEl>
                                          </p:spTgt>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9"/>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40"/>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6" presetClass="emph" presetSubtype="0" fill="hold" nodeType="clickEffect">
                                  <p:stCondLst>
                                    <p:cond delay="0"/>
                                  </p:stCondLst>
                                  <p:childTnLst>
                                    <p:animEffect transition="out" filter="fade">
                                      <p:cBhvr>
                                        <p:cTn id="23" dur="500" tmFilter="0, 0; .2, .5; .8, .5; 1, 0"/>
                                        <p:tgtEl>
                                          <p:spTgt spid="13">
                                            <p:txEl>
                                              <p:pRg st="1" end="1"/>
                                            </p:txEl>
                                          </p:spTgt>
                                        </p:tgtEl>
                                      </p:cBhvr>
                                    </p:animEffect>
                                    <p:animScale>
                                      <p:cBhvr>
                                        <p:cTn id="24" dur="250" autoRev="1" fill="hold"/>
                                        <p:tgtEl>
                                          <p:spTgt spid="13">
                                            <p:txEl>
                                              <p:pRg st="1" end="1"/>
                                            </p:txEl>
                                          </p:spTgt>
                                        </p:tgtEl>
                                      </p:cBhvr>
                                      <p:by x="105000" y="105000"/>
                                    </p:animScale>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6" presetClass="emph" presetSubtype="0" fill="hold" nodeType="clickEffect">
                                  <p:stCondLst>
                                    <p:cond delay="0"/>
                                  </p:stCondLst>
                                  <p:childTnLst>
                                    <p:animEffect transition="out" filter="fade">
                                      <p:cBhvr>
                                        <p:cTn id="40" dur="500" tmFilter="0, 0; .2, .5; .8, .5; 1, 0"/>
                                        <p:tgtEl>
                                          <p:spTgt spid="13">
                                            <p:txEl>
                                              <p:pRg st="2" end="2"/>
                                            </p:txEl>
                                          </p:spTgt>
                                        </p:tgtEl>
                                      </p:cBhvr>
                                    </p:animEffect>
                                    <p:animScale>
                                      <p:cBhvr>
                                        <p:cTn id="41" dur="250" autoRev="1" fill="hold"/>
                                        <p:tgtEl>
                                          <p:spTgt spid="13">
                                            <p:txEl>
                                              <p:pRg st="2" end="2"/>
                                            </p:txEl>
                                          </p:spTgt>
                                        </p:tgtEl>
                                      </p:cBhvr>
                                      <p:by x="105000" y="105000"/>
                                    </p:animScale>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44"/>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26" presetClass="emph" presetSubtype="0" fill="hold" nodeType="clickEffect">
                                  <p:stCondLst>
                                    <p:cond delay="0"/>
                                  </p:stCondLst>
                                  <p:childTnLst>
                                    <p:animEffect transition="out" filter="fade">
                                      <p:cBhvr>
                                        <p:cTn id="49" dur="500" tmFilter="0, 0; .2, .5; .8, .5; 1, 0"/>
                                        <p:tgtEl>
                                          <p:spTgt spid="13">
                                            <p:txEl>
                                              <p:pRg st="3" end="3"/>
                                            </p:txEl>
                                          </p:spTgt>
                                        </p:tgtEl>
                                      </p:cBhvr>
                                    </p:animEffect>
                                    <p:animScale>
                                      <p:cBhvr>
                                        <p:cTn id="50" dur="250" autoRev="1" fill="hold"/>
                                        <p:tgtEl>
                                          <p:spTgt spid="13">
                                            <p:txEl>
                                              <p:pRg st="3" end="3"/>
                                            </p:txEl>
                                          </p:spTgt>
                                        </p:tgtEl>
                                      </p:cBhvr>
                                      <p:by x="105000" y="105000"/>
                                    </p:animScale>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42" grpId="0"/>
      <p:bldP spid="43" grpId="0"/>
      <p:bldP spid="44" grpId="0"/>
      <p:bldP spid="17" grpId="0"/>
      <p:bldP spid="18"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101459" y="647662"/>
            <a:ext cx="3652661" cy="3024246"/>
          </a:xfrm>
          <a:prstGeom prst="rect">
            <a:avLst/>
          </a:prstGeom>
        </p:spPr>
      </p:pic>
      <p:sp>
        <p:nvSpPr>
          <p:cNvPr id="13" name="TextBox 12"/>
          <p:cNvSpPr txBox="1"/>
          <p:nvPr/>
        </p:nvSpPr>
        <p:spPr>
          <a:xfrm>
            <a:off x="7292203" y="199617"/>
            <a:ext cx="4716917" cy="1446550"/>
          </a:xfrm>
          <a:prstGeom prst="rect">
            <a:avLst/>
          </a:prstGeom>
          <a:solidFill>
            <a:srgbClr val="FFFF00"/>
          </a:solidFill>
          <a:ln>
            <a:solidFill>
              <a:schemeClr val="tx1"/>
            </a:solidFill>
          </a:ln>
        </p:spPr>
        <p:txBody>
          <a:bodyPr wrap="square" rtlCol="0">
            <a:spAutoFit/>
          </a:bodyPr>
          <a:lstStyle/>
          <a:p>
            <a:pPr algn="ctr"/>
            <a:r>
              <a:rPr lang="en-AU" sz="2200" dirty="0"/>
              <a:t>Step 1: Label your triangle.</a:t>
            </a:r>
          </a:p>
          <a:p>
            <a:pPr algn="ctr"/>
            <a:r>
              <a:rPr lang="en-AU" sz="2200" dirty="0"/>
              <a:t>Step 2: Decide the ratio you need.</a:t>
            </a:r>
          </a:p>
          <a:p>
            <a:pPr algn="ctr"/>
            <a:r>
              <a:rPr lang="en-AU" sz="2200" dirty="0"/>
              <a:t>Step 3: Substitute in the values.</a:t>
            </a:r>
          </a:p>
          <a:p>
            <a:pPr algn="ctr"/>
            <a:r>
              <a:rPr lang="en-AU" sz="2200" dirty="0"/>
              <a:t>Step 4: Solve the equation.</a:t>
            </a:r>
          </a:p>
        </p:txBody>
      </p:sp>
      <p:cxnSp>
        <p:nvCxnSpPr>
          <p:cNvPr id="29" name="Straight Arrow Connector 28"/>
          <p:cNvCxnSpPr/>
          <p:nvPr/>
        </p:nvCxnSpPr>
        <p:spPr>
          <a:xfrm flipH="1" flipV="1">
            <a:off x="1661160" y="2159785"/>
            <a:ext cx="1538336" cy="85303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flipV="1">
            <a:off x="1198880" y="2062781"/>
            <a:ext cx="1785620" cy="650301"/>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V="1">
            <a:off x="182880" y="3075705"/>
            <a:ext cx="3058160" cy="23095"/>
          </a:xfrm>
          <a:prstGeom prst="line">
            <a:avLst/>
          </a:prstGeom>
          <a:ln w="57150">
            <a:solidFill>
              <a:srgbClr val="00FF00"/>
            </a:solidFill>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3957320" y="2026920"/>
            <a:ext cx="7914640" cy="430887"/>
          </a:xfrm>
          <a:prstGeom prst="rect">
            <a:avLst/>
          </a:prstGeom>
          <a:noFill/>
        </p:spPr>
        <p:txBody>
          <a:bodyPr wrap="square" rtlCol="0">
            <a:spAutoFit/>
          </a:bodyPr>
          <a:lstStyle/>
          <a:p>
            <a:r>
              <a:rPr lang="en-AU" sz="2200" dirty="0"/>
              <a:t>We want to find the </a:t>
            </a:r>
            <a:r>
              <a:rPr lang="en-AU" sz="2200" dirty="0">
                <a:solidFill>
                  <a:srgbClr val="00B050"/>
                </a:solidFill>
              </a:rPr>
              <a:t>o</a:t>
            </a:r>
            <a:r>
              <a:rPr lang="en-AU" sz="2200" dirty="0"/>
              <a:t>pposite. We know the </a:t>
            </a:r>
            <a:r>
              <a:rPr lang="en-AU" sz="2200" dirty="0">
                <a:solidFill>
                  <a:srgbClr val="00B050"/>
                </a:solidFill>
              </a:rPr>
              <a:t>a</a:t>
            </a:r>
            <a:r>
              <a:rPr lang="en-AU" sz="2200" dirty="0"/>
              <a:t>djacent.</a:t>
            </a:r>
          </a:p>
        </p:txBody>
      </p:sp>
      <mc:AlternateContent xmlns:mc="http://schemas.openxmlformats.org/markup-compatibility/2006" xmlns:a14="http://schemas.microsoft.com/office/drawing/2010/main">
        <mc:Choice Requires="a14">
          <p:sp>
            <p:nvSpPr>
              <p:cNvPr id="42" name="TextBox 41"/>
              <p:cNvSpPr txBox="1"/>
              <p:nvPr/>
            </p:nvSpPr>
            <p:spPr>
              <a:xfrm>
                <a:off x="5046979" y="2479254"/>
                <a:ext cx="5542280" cy="101431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3200" b="1" i="1" smtClean="0">
                          <a:solidFill>
                            <a:srgbClr val="00B050"/>
                          </a:solidFill>
                          <a:latin typeface="Cambria Math" panose="02040503050406030204" pitchFamily="18" charset="0"/>
                        </a:rPr>
                        <m:t>𝑻</m:t>
                      </m:r>
                      <m:r>
                        <a:rPr lang="en-AU" sz="3200" b="1" i="1" smtClean="0">
                          <a:solidFill>
                            <a:schemeClr val="tx1"/>
                          </a:solidFill>
                          <a:latin typeface="Cambria Math" panose="02040503050406030204" pitchFamily="18" charset="0"/>
                        </a:rPr>
                        <m:t>𝒂𝒏</m:t>
                      </m:r>
                      <m:r>
                        <a:rPr lang="en-AU" sz="3200" b="1" i="1" smtClean="0">
                          <a:solidFill>
                            <a:schemeClr val="tx1"/>
                          </a:solidFill>
                          <a:latin typeface="Cambria Math" panose="02040503050406030204" pitchFamily="18" charset="0"/>
                        </a:rPr>
                        <m:t> </m:t>
                      </m:r>
                      <m:r>
                        <a:rPr lang="en-AU" sz="3200" b="1" i="1" smtClean="0">
                          <a:solidFill>
                            <a:schemeClr val="tx1"/>
                          </a:solidFill>
                          <a:latin typeface="Cambria Math" panose="02040503050406030204" pitchFamily="18" charset="0"/>
                          <a:ea typeface="Cambria Math" panose="02040503050406030204" pitchFamily="18" charset="0"/>
                        </a:rPr>
                        <m:t>𝜽</m:t>
                      </m:r>
                      <m:r>
                        <a:rPr lang="en-AU" sz="3200" b="1" i="1" smtClean="0">
                          <a:solidFill>
                            <a:schemeClr val="tx1"/>
                          </a:solidFill>
                          <a:latin typeface="Cambria Math" panose="02040503050406030204" pitchFamily="18" charset="0"/>
                          <a:ea typeface="Cambria Math" panose="02040503050406030204" pitchFamily="18" charset="0"/>
                        </a:rPr>
                        <m:t>= </m:t>
                      </m:r>
                      <m:f>
                        <m:fPr>
                          <m:ctrlPr>
                            <a:rPr lang="en-AU" sz="3200" b="1" i="1" smtClean="0">
                              <a:solidFill>
                                <a:schemeClr val="tx1"/>
                              </a:solidFill>
                              <a:latin typeface="Cambria Math" panose="02040503050406030204" pitchFamily="18" charset="0"/>
                              <a:ea typeface="Cambria Math" panose="02040503050406030204" pitchFamily="18" charset="0"/>
                            </a:rPr>
                          </m:ctrlPr>
                        </m:fPr>
                        <m:num>
                          <m:r>
                            <a:rPr lang="en-AU" sz="3200" b="1" i="1" smtClean="0">
                              <a:solidFill>
                                <a:srgbClr val="00B050"/>
                              </a:solidFill>
                              <a:latin typeface="Cambria Math" panose="02040503050406030204" pitchFamily="18" charset="0"/>
                              <a:ea typeface="Cambria Math" panose="02040503050406030204" pitchFamily="18" charset="0"/>
                            </a:rPr>
                            <m:t>𝑶</m:t>
                          </m:r>
                        </m:num>
                        <m:den>
                          <m:r>
                            <a:rPr lang="en-AU" sz="3200" b="1" i="1" smtClean="0">
                              <a:solidFill>
                                <a:srgbClr val="00B050"/>
                              </a:solidFill>
                              <a:latin typeface="Cambria Math" panose="02040503050406030204" pitchFamily="18" charset="0"/>
                              <a:ea typeface="Cambria Math" panose="02040503050406030204" pitchFamily="18" charset="0"/>
                            </a:rPr>
                            <m:t>𝑨</m:t>
                          </m:r>
                        </m:den>
                      </m:f>
                    </m:oMath>
                  </m:oMathPara>
                </a14:m>
                <a:endParaRPr lang="en-AU" sz="3200" b="1" dirty="0"/>
              </a:p>
            </p:txBody>
          </p:sp>
        </mc:Choice>
        <mc:Fallback xmlns="">
          <p:sp>
            <p:nvSpPr>
              <p:cNvPr id="42" name="TextBox 41"/>
              <p:cNvSpPr txBox="1">
                <a:spLocks noRot="1" noChangeAspect="1" noMove="1" noResize="1" noEditPoints="1" noAdjustHandles="1" noChangeArrowheads="1" noChangeShapeType="1" noTextEdit="1"/>
              </p:cNvSpPr>
              <p:nvPr/>
            </p:nvSpPr>
            <p:spPr>
              <a:xfrm>
                <a:off x="5046979" y="2479254"/>
                <a:ext cx="5542280" cy="1014317"/>
              </a:xfrm>
              <a:prstGeom prst="rect">
                <a:avLst/>
              </a:prstGeom>
              <a:blipFill rotWithShape="0">
                <a:blip r:embed="rId3"/>
                <a:stretch>
                  <a:fillRect/>
                </a:stretch>
              </a:blipFill>
            </p:spPr>
            <p:txBody>
              <a:bodyPr/>
              <a:lstStyle/>
              <a:p>
                <a:r>
                  <a:rPr lang="en-AU">
                    <a:noFill/>
                  </a:rPr>
                  <a:t> </a:t>
                </a:r>
              </a:p>
            </p:txBody>
          </p:sp>
        </mc:Fallback>
      </mc:AlternateContent>
      <p:sp>
        <p:nvSpPr>
          <p:cNvPr id="43" name="TextBox 42"/>
          <p:cNvSpPr txBox="1"/>
          <p:nvPr/>
        </p:nvSpPr>
        <p:spPr>
          <a:xfrm>
            <a:off x="3957319" y="2488585"/>
            <a:ext cx="3210560" cy="1015663"/>
          </a:xfrm>
          <a:prstGeom prst="rect">
            <a:avLst/>
          </a:prstGeom>
          <a:noFill/>
        </p:spPr>
        <p:txBody>
          <a:bodyPr wrap="square" rtlCol="0">
            <a:spAutoFit/>
          </a:bodyPr>
          <a:lstStyle/>
          <a:p>
            <a:r>
              <a:rPr lang="en-AU" sz="6000" b="1" dirty="0">
                <a:solidFill>
                  <a:srgbClr val="00B050"/>
                </a:solidFill>
              </a:rPr>
              <a:t>T O A</a:t>
            </a:r>
          </a:p>
        </p:txBody>
      </p:sp>
      <mc:AlternateContent xmlns:mc="http://schemas.openxmlformats.org/markup-compatibility/2006" xmlns:a14="http://schemas.microsoft.com/office/drawing/2010/main">
        <mc:Choice Requires="a14">
          <p:sp>
            <p:nvSpPr>
              <p:cNvPr id="44" name="TextBox 43"/>
              <p:cNvSpPr txBox="1"/>
              <p:nvPr/>
            </p:nvSpPr>
            <p:spPr>
              <a:xfrm>
                <a:off x="4958081" y="3762872"/>
                <a:ext cx="5542280" cy="94275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3200" b="1" i="1" smtClean="0">
                          <a:solidFill>
                            <a:schemeClr val="tx1"/>
                          </a:solidFill>
                          <a:latin typeface="Cambria Math" panose="02040503050406030204" pitchFamily="18" charset="0"/>
                        </a:rPr>
                        <m:t>𝑻𝒂𝒏</m:t>
                      </m:r>
                      <m:r>
                        <a:rPr lang="en-AU" sz="3200" b="1" i="1" smtClean="0">
                          <a:latin typeface="Cambria Math" panose="02040503050406030204" pitchFamily="18" charset="0"/>
                        </a:rPr>
                        <m:t> </m:t>
                      </m:r>
                      <m:r>
                        <a:rPr lang="en-AU" sz="3200" b="1" i="1" smtClean="0">
                          <a:latin typeface="Cambria Math" panose="02040503050406030204" pitchFamily="18" charset="0"/>
                        </a:rPr>
                        <m:t>𝟐𝟓</m:t>
                      </m:r>
                      <m:r>
                        <a:rPr lang="en-AU" sz="3200" b="1" i="1" smtClean="0">
                          <a:latin typeface="Cambria Math" panose="02040503050406030204" pitchFamily="18" charset="0"/>
                        </a:rPr>
                        <m:t>.</m:t>
                      </m:r>
                      <m:r>
                        <a:rPr lang="en-AU" sz="3200" b="1" i="1" smtClean="0">
                          <a:latin typeface="Cambria Math" panose="02040503050406030204" pitchFamily="18" charset="0"/>
                        </a:rPr>
                        <m:t>𝟕</m:t>
                      </m:r>
                      <m:r>
                        <a:rPr lang="en-AU" sz="3200" b="1" i="1" smtClean="0">
                          <a:latin typeface="Cambria Math" panose="02040503050406030204" pitchFamily="18" charset="0"/>
                          <a:ea typeface="Cambria Math" panose="02040503050406030204" pitchFamily="18" charset="0"/>
                        </a:rPr>
                        <m:t>°= </m:t>
                      </m:r>
                      <m:f>
                        <m:fPr>
                          <m:ctrlPr>
                            <a:rPr lang="en-AU" sz="3200" b="1" i="1" smtClean="0">
                              <a:solidFill>
                                <a:schemeClr val="tx1"/>
                              </a:solidFill>
                              <a:latin typeface="Cambria Math" panose="02040503050406030204" pitchFamily="18" charset="0"/>
                              <a:ea typeface="Cambria Math" panose="02040503050406030204" pitchFamily="18" charset="0"/>
                            </a:rPr>
                          </m:ctrlPr>
                        </m:fPr>
                        <m:num>
                          <m:r>
                            <a:rPr lang="en-AU" sz="3200" b="1" i="1" smtClean="0">
                              <a:solidFill>
                                <a:schemeClr val="tx1"/>
                              </a:solidFill>
                              <a:latin typeface="Cambria Math" panose="02040503050406030204" pitchFamily="18" charset="0"/>
                              <a:ea typeface="Cambria Math" panose="02040503050406030204" pitchFamily="18" charset="0"/>
                            </a:rPr>
                            <m:t>𝒙</m:t>
                          </m:r>
                        </m:num>
                        <m:den>
                          <m:r>
                            <a:rPr lang="en-AU" sz="3200" b="1" i="1" smtClean="0">
                              <a:solidFill>
                                <a:schemeClr val="tx1"/>
                              </a:solidFill>
                              <a:latin typeface="Cambria Math" panose="02040503050406030204" pitchFamily="18" charset="0"/>
                              <a:ea typeface="Cambria Math" panose="02040503050406030204" pitchFamily="18" charset="0"/>
                            </a:rPr>
                            <m:t>𝟗𝟑</m:t>
                          </m:r>
                        </m:den>
                      </m:f>
                    </m:oMath>
                  </m:oMathPara>
                </a14:m>
                <a:endParaRPr lang="en-AU" sz="3200" b="1" dirty="0"/>
              </a:p>
            </p:txBody>
          </p:sp>
        </mc:Choice>
        <mc:Fallback xmlns="">
          <p:sp>
            <p:nvSpPr>
              <p:cNvPr id="44" name="TextBox 43"/>
              <p:cNvSpPr txBox="1">
                <a:spLocks noRot="1" noChangeAspect="1" noMove="1" noResize="1" noEditPoints="1" noAdjustHandles="1" noChangeArrowheads="1" noChangeShapeType="1" noTextEdit="1"/>
              </p:cNvSpPr>
              <p:nvPr/>
            </p:nvSpPr>
            <p:spPr>
              <a:xfrm>
                <a:off x="4958081" y="3762872"/>
                <a:ext cx="5542280" cy="942759"/>
              </a:xfrm>
              <a:prstGeom prst="rect">
                <a:avLst/>
              </a:prstGeom>
              <a:blipFill rotWithShape="0">
                <a:blip r:embed="rId4"/>
                <a:stretch>
                  <a:fillRect/>
                </a:stretch>
              </a:blipFill>
            </p:spPr>
            <p:txBody>
              <a:bodyPr/>
              <a:lstStyle/>
              <a:p>
                <a:r>
                  <a:rPr lang="en-AU">
                    <a:noFill/>
                  </a:rPr>
                  <a:t> </a:t>
                </a:r>
              </a:p>
            </p:txBody>
          </p:sp>
        </mc:Fallback>
      </mc:AlternateContent>
      <p:pic>
        <p:nvPicPr>
          <p:cNvPr id="3" name="Picture 2"/>
          <p:cNvPicPr>
            <a:picLocks noChangeAspect="1"/>
          </p:cNvPicPr>
          <p:nvPr/>
        </p:nvPicPr>
        <p:blipFill>
          <a:blip r:embed="rId5"/>
          <a:stretch>
            <a:fillRect/>
          </a:stretch>
        </p:blipFill>
        <p:spPr>
          <a:xfrm>
            <a:off x="269000" y="4080147"/>
            <a:ext cx="4616312" cy="1779294"/>
          </a:xfrm>
          <a:prstGeom prst="rect">
            <a:avLst/>
          </a:prstGeom>
        </p:spPr>
      </p:pic>
      <p:sp>
        <p:nvSpPr>
          <p:cNvPr id="4" name="TextBox 3"/>
          <p:cNvSpPr txBox="1"/>
          <p:nvPr/>
        </p:nvSpPr>
        <p:spPr>
          <a:xfrm>
            <a:off x="269000" y="5938520"/>
            <a:ext cx="4617720" cy="430887"/>
          </a:xfrm>
          <a:prstGeom prst="rect">
            <a:avLst/>
          </a:prstGeom>
          <a:noFill/>
        </p:spPr>
        <p:txBody>
          <a:bodyPr wrap="square" rtlCol="0">
            <a:spAutoFit/>
          </a:bodyPr>
          <a:lstStyle/>
          <a:p>
            <a:r>
              <a:rPr lang="en-AU" sz="2200" dirty="0"/>
              <a:t>Cover up the side you want to find.</a:t>
            </a:r>
          </a:p>
        </p:txBody>
      </p:sp>
      <p:pic>
        <p:nvPicPr>
          <p:cNvPr id="5" name="Picture 4"/>
          <p:cNvPicPr>
            <a:picLocks noChangeAspect="1"/>
          </p:cNvPicPr>
          <p:nvPr/>
        </p:nvPicPr>
        <p:blipFill>
          <a:blip r:embed="rId6"/>
          <a:stretch>
            <a:fillRect/>
          </a:stretch>
        </p:blipFill>
        <p:spPr>
          <a:xfrm>
            <a:off x="3835847" y="4599045"/>
            <a:ext cx="723900" cy="647623"/>
          </a:xfrm>
          <a:prstGeom prst="rect">
            <a:avLst/>
          </a:prstGeom>
        </p:spPr>
      </p:pic>
      <mc:AlternateContent xmlns:mc="http://schemas.openxmlformats.org/markup-compatibility/2006" xmlns:a14="http://schemas.microsoft.com/office/drawing/2010/main">
        <mc:Choice Requires="a14">
          <p:sp>
            <p:nvSpPr>
              <p:cNvPr id="17" name="TextBox 16"/>
              <p:cNvSpPr txBox="1"/>
              <p:nvPr/>
            </p:nvSpPr>
            <p:spPr>
              <a:xfrm>
                <a:off x="5143500" y="5054463"/>
                <a:ext cx="5542280"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3200" b="1" i="1" smtClean="0">
                          <a:solidFill>
                            <a:schemeClr val="tx1"/>
                          </a:solidFill>
                          <a:latin typeface="Cambria Math" panose="02040503050406030204" pitchFamily="18" charset="0"/>
                          <a:ea typeface="Cambria Math" panose="02040503050406030204" pitchFamily="18" charset="0"/>
                        </a:rPr>
                        <m:t>𝟗𝟑</m:t>
                      </m:r>
                      <m:r>
                        <a:rPr lang="en-AU" sz="3200" b="1" i="1" smtClean="0">
                          <a:solidFill>
                            <a:schemeClr val="tx1"/>
                          </a:solidFill>
                          <a:latin typeface="Cambria Math" panose="02040503050406030204" pitchFamily="18" charset="0"/>
                          <a:ea typeface="Cambria Math" panose="02040503050406030204" pitchFamily="18" charset="0"/>
                        </a:rPr>
                        <m:t>×</m:t>
                      </m:r>
                      <m:r>
                        <a:rPr lang="en-AU" sz="3200" b="1" i="1" smtClean="0">
                          <a:solidFill>
                            <a:schemeClr val="tx1"/>
                          </a:solidFill>
                          <a:latin typeface="Cambria Math" panose="02040503050406030204" pitchFamily="18" charset="0"/>
                          <a:ea typeface="Cambria Math" panose="02040503050406030204" pitchFamily="18" charset="0"/>
                        </a:rPr>
                        <m:t>𝑻𝒂𝒏</m:t>
                      </m:r>
                      <m:r>
                        <a:rPr lang="en-AU" sz="3200" b="1" i="1" smtClean="0">
                          <a:solidFill>
                            <a:schemeClr val="tx1"/>
                          </a:solidFill>
                          <a:latin typeface="Cambria Math" panose="02040503050406030204" pitchFamily="18" charset="0"/>
                          <a:ea typeface="Cambria Math" panose="02040503050406030204" pitchFamily="18" charset="0"/>
                        </a:rPr>
                        <m:t> </m:t>
                      </m:r>
                      <m:r>
                        <a:rPr lang="en-AU" sz="3200" b="1" i="1" smtClean="0">
                          <a:solidFill>
                            <a:schemeClr val="tx1"/>
                          </a:solidFill>
                          <a:latin typeface="Cambria Math" panose="02040503050406030204" pitchFamily="18" charset="0"/>
                          <a:ea typeface="Cambria Math" panose="02040503050406030204" pitchFamily="18" charset="0"/>
                        </a:rPr>
                        <m:t>𝟐𝟓</m:t>
                      </m:r>
                      <m:r>
                        <a:rPr lang="en-AU" sz="3200" b="1" i="1" smtClean="0">
                          <a:solidFill>
                            <a:schemeClr val="tx1"/>
                          </a:solidFill>
                          <a:latin typeface="Cambria Math" panose="02040503050406030204" pitchFamily="18" charset="0"/>
                          <a:ea typeface="Cambria Math" panose="02040503050406030204" pitchFamily="18" charset="0"/>
                        </a:rPr>
                        <m:t>.</m:t>
                      </m:r>
                      <m:r>
                        <a:rPr lang="en-AU" sz="3200" b="1" i="1" smtClean="0">
                          <a:solidFill>
                            <a:schemeClr val="tx1"/>
                          </a:solidFill>
                          <a:latin typeface="Cambria Math" panose="02040503050406030204" pitchFamily="18" charset="0"/>
                          <a:ea typeface="Cambria Math" panose="02040503050406030204" pitchFamily="18" charset="0"/>
                        </a:rPr>
                        <m:t>𝟕</m:t>
                      </m:r>
                      <m:r>
                        <a:rPr lang="en-AU" sz="3200" b="1" i="1" smtClean="0">
                          <a:solidFill>
                            <a:schemeClr val="tx1"/>
                          </a:solidFill>
                          <a:latin typeface="Cambria Math" panose="02040503050406030204" pitchFamily="18" charset="0"/>
                          <a:ea typeface="Cambria Math" panose="02040503050406030204" pitchFamily="18" charset="0"/>
                        </a:rPr>
                        <m:t>°=</m:t>
                      </m:r>
                      <m:r>
                        <a:rPr lang="en-AU" sz="3200" b="1" i="1" smtClean="0">
                          <a:solidFill>
                            <a:schemeClr val="tx1"/>
                          </a:solidFill>
                          <a:latin typeface="Cambria Math" panose="02040503050406030204" pitchFamily="18" charset="0"/>
                          <a:ea typeface="Cambria Math" panose="02040503050406030204" pitchFamily="18" charset="0"/>
                        </a:rPr>
                        <m:t>𝒙</m:t>
                      </m:r>
                    </m:oMath>
                  </m:oMathPara>
                </a14:m>
                <a:endParaRPr lang="en-AU" sz="3200" b="1" dirty="0"/>
              </a:p>
            </p:txBody>
          </p:sp>
        </mc:Choice>
        <mc:Fallback xmlns="">
          <p:sp>
            <p:nvSpPr>
              <p:cNvPr id="17" name="TextBox 16"/>
              <p:cNvSpPr txBox="1">
                <a:spLocks noRot="1" noChangeAspect="1" noMove="1" noResize="1" noEditPoints="1" noAdjustHandles="1" noChangeArrowheads="1" noChangeShapeType="1" noTextEdit="1"/>
              </p:cNvSpPr>
              <p:nvPr/>
            </p:nvSpPr>
            <p:spPr>
              <a:xfrm>
                <a:off x="5143500" y="5054463"/>
                <a:ext cx="5542280" cy="584775"/>
              </a:xfrm>
              <a:prstGeom prst="rect">
                <a:avLst/>
              </a:prstGeom>
              <a:blipFill rotWithShape="0">
                <a:blip r:embed="rId7"/>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6273800" y="5938520"/>
                <a:ext cx="3835400" cy="5539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3000" b="1" i="1" smtClean="0">
                          <a:latin typeface="Cambria Math" panose="02040503050406030204" pitchFamily="18" charset="0"/>
                        </a:rPr>
                        <m:t>𝒙</m:t>
                      </m:r>
                      <m:r>
                        <a:rPr lang="en-AU" sz="3000" b="1" i="1" smtClean="0">
                          <a:latin typeface="Cambria Math" panose="02040503050406030204" pitchFamily="18" charset="0"/>
                        </a:rPr>
                        <m:t>=</m:t>
                      </m:r>
                      <m:r>
                        <a:rPr lang="en-AU" sz="3000" b="1" i="1" smtClean="0">
                          <a:latin typeface="Cambria Math" panose="02040503050406030204" pitchFamily="18" charset="0"/>
                        </a:rPr>
                        <m:t>𝟒𝟒</m:t>
                      </m:r>
                      <m:r>
                        <a:rPr lang="en-AU" sz="3000" b="1" i="1" smtClean="0">
                          <a:latin typeface="Cambria Math" panose="02040503050406030204" pitchFamily="18" charset="0"/>
                        </a:rPr>
                        <m:t>.</m:t>
                      </m:r>
                      <m:r>
                        <a:rPr lang="en-AU" sz="3000" b="1" i="1" smtClean="0">
                          <a:latin typeface="Cambria Math" panose="02040503050406030204" pitchFamily="18" charset="0"/>
                        </a:rPr>
                        <m:t>𝟕𝟔</m:t>
                      </m:r>
                      <m:r>
                        <a:rPr lang="en-AU" sz="3000" b="1" i="1" smtClean="0">
                          <a:latin typeface="Cambria Math" panose="02040503050406030204" pitchFamily="18" charset="0"/>
                        </a:rPr>
                        <m:t> </m:t>
                      </m:r>
                      <m:r>
                        <a:rPr lang="en-AU" sz="3000" b="1" i="1" smtClean="0">
                          <a:latin typeface="Cambria Math" panose="02040503050406030204" pitchFamily="18" charset="0"/>
                        </a:rPr>
                        <m:t>𝒄𝒎</m:t>
                      </m:r>
                      <m:r>
                        <a:rPr lang="en-AU" sz="3000" b="1" i="0" smtClean="0">
                          <a:latin typeface="Cambria Math" panose="02040503050406030204" pitchFamily="18" charset="0"/>
                        </a:rPr>
                        <m:t> (</m:t>
                      </m:r>
                      <m:r>
                        <a:rPr lang="en-AU" sz="3000" b="1" i="0" smtClean="0">
                          <a:latin typeface="Cambria Math" panose="02040503050406030204" pitchFamily="18" charset="0"/>
                        </a:rPr>
                        <m:t>𝟐𝐝𝐩</m:t>
                      </m:r>
                      <m:r>
                        <a:rPr lang="en-AU" sz="3000" b="1" i="0" smtClean="0">
                          <a:latin typeface="Cambria Math" panose="02040503050406030204" pitchFamily="18" charset="0"/>
                        </a:rPr>
                        <m:t>)</m:t>
                      </m:r>
                    </m:oMath>
                  </m:oMathPara>
                </a14:m>
                <a:endParaRPr lang="en-AU" sz="3000" b="1" dirty="0"/>
              </a:p>
            </p:txBody>
          </p:sp>
        </mc:Choice>
        <mc:Fallback xmlns="">
          <p:sp>
            <p:nvSpPr>
              <p:cNvPr id="18" name="TextBox 17"/>
              <p:cNvSpPr txBox="1">
                <a:spLocks noRot="1" noChangeAspect="1" noMove="1" noResize="1" noEditPoints="1" noAdjustHandles="1" noChangeArrowheads="1" noChangeShapeType="1" noTextEdit="1"/>
              </p:cNvSpPr>
              <p:nvPr/>
            </p:nvSpPr>
            <p:spPr>
              <a:xfrm>
                <a:off x="6273800" y="5938520"/>
                <a:ext cx="3835400" cy="553998"/>
              </a:xfrm>
              <a:prstGeom prst="rect">
                <a:avLst/>
              </a:prstGeom>
              <a:blipFill rotWithShape="0">
                <a:blip r:embed="rId8"/>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3835847" y="5380845"/>
                <a:ext cx="623569" cy="76944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sz="5000" b="1" i="1" smtClean="0">
                          <a:solidFill>
                            <a:srgbClr val="FF0000"/>
                          </a:solidFill>
                          <a:latin typeface="Cambria Math" panose="02040503050406030204" pitchFamily="18" charset="0"/>
                          <a:ea typeface="Cambria Math" panose="02040503050406030204" pitchFamily="18" charset="0"/>
                        </a:rPr>
                        <m:t>×</m:t>
                      </m:r>
                    </m:oMath>
                  </m:oMathPara>
                </a14:m>
                <a:endParaRPr lang="en-AU" sz="5000" b="1" dirty="0">
                  <a:solidFill>
                    <a:srgbClr val="FF0000"/>
                  </a:solidFill>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3835847" y="5380845"/>
                <a:ext cx="623569" cy="769441"/>
              </a:xfrm>
              <a:prstGeom prst="rect">
                <a:avLst/>
              </a:prstGeom>
              <a:blipFill rotWithShape="0">
                <a:blip r:embed="rId9"/>
                <a:stretch>
                  <a:fillRect/>
                </a:stretch>
              </a:blipFill>
            </p:spPr>
            <p:txBody>
              <a:bodyPr/>
              <a:lstStyle/>
              <a:p>
                <a:r>
                  <a:rPr lang="en-AU">
                    <a:noFill/>
                  </a:rPr>
                  <a:t> </a:t>
                </a:r>
              </a:p>
            </p:txBody>
          </p:sp>
        </mc:Fallback>
      </mc:AlternateContent>
      <p:sp>
        <p:nvSpPr>
          <p:cNvPr id="19" name="TextBox 18"/>
          <p:cNvSpPr txBox="1"/>
          <p:nvPr/>
        </p:nvSpPr>
        <p:spPr>
          <a:xfrm>
            <a:off x="0" y="0"/>
            <a:ext cx="1374405" cy="461665"/>
          </a:xfrm>
          <a:prstGeom prst="rect">
            <a:avLst/>
          </a:prstGeom>
          <a:solidFill>
            <a:srgbClr val="FFFF00"/>
          </a:solidFill>
        </p:spPr>
        <p:txBody>
          <a:bodyPr wrap="square" rtlCol="0">
            <a:spAutoFit/>
          </a:bodyPr>
          <a:lstStyle/>
          <a:p>
            <a:r>
              <a:rPr lang="en-AU" sz="2400" dirty="0" smtClean="0"/>
              <a:t>Examples</a:t>
            </a:r>
            <a:endParaRPr lang="en-AU" sz="2400" dirty="0"/>
          </a:p>
        </p:txBody>
      </p:sp>
    </p:spTree>
    <p:extLst>
      <p:ext uri="{BB962C8B-B14F-4D97-AF65-F5344CB8AC3E}">
        <p14:creationId xmlns:p14="http://schemas.microsoft.com/office/powerpoint/2010/main" val="834860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13">
                                            <p:txEl>
                                              <p:pRg st="0" end="0"/>
                                            </p:txEl>
                                          </p:spTgt>
                                        </p:tgtEl>
                                      </p:cBhvr>
                                    </p:animEffect>
                                    <p:animScale>
                                      <p:cBhvr>
                                        <p:cTn id="7" dur="250" autoRev="1" fill="hold"/>
                                        <p:tgtEl>
                                          <p:spTgt spid="13">
                                            <p:txEl>
                                              <p:pRg st="0" end="0"/>
                                            </p:txEl>
                                          </p:spTgt>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9"/>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40"/>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6" presetClass="emph" presetSubtype="0" fill="hold" nodeType="clickEffect">
                                  <p:stCondLst>
                                    <p:cond delay="0"/>
                                  </p:stCondLst>
                                  <p:childTnLst>
                                    <p:animEffect transition="out" filter="fade">
                                      <p:cBhvr>
                                        <p:cTn id="23" dur="500" tmFilter="0, 0; .2, .5; .8, .5; 1, 0"/>
                                        <p:tgtEl>
                                          <p:spTgt spid="13">
                                            <p:txEl>
                                              <p:pRg st="1" end="1"/>
                                            </p:txEl>
                                          </p:spTgt>
                                        </p:tgtEl>
                                      </p:cBhvr>
                                    </p:animEffect>
                                    <p:animScale>
                                      <p:cBhvr>
                                        <p:cTn id="24" dur="250" autoRev="1" fill="hold"/>
                                        <p:tgtEl>
                                          <p:spTgt spid="13">
                                            <p:txEl>
                                              <p:pRg st="1" end="1"/>
                                            </p:txEl>
                                          </p:spTgt>
                                        </p:tgtEl>
                                      </p:cBhvr>
                                      <p:by x="105000" y="105000"/>
                                    </p:animScale>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6" presetClass="emph" presetSubtype="0" fill="hold" nodeType="clickEffect">
                                  <p:stCondLst>
                                    <p:cond delay="0"/>
                                  </p:stCondLst>
                                  <p:childTnLst>
                                    <p:animEffect transition="out" filter="fade">
                                      <p:cBhvr>
                                        <p:cTn id="40" dur="500" tmFilter="0, 0; .2, .5; .8, .5; 1, 0"/>
                                        <p:tgtEl>
                                          <p:spTgt spid="13">
                                            <p:txEl>
                                              <p:pRg st="2" end="2"/>
                                            </p:txEl>
                                          </p:spTgt>
                                        </p:tgtEl>
                                      </p:cBhvr>
                                    </p:animEffect>
                                    <p:animScale>
                                      <p:cBhvr>
                                        <p:cTn id="41" dur="250" autoRev="1" fill="hold"/>
                                        <p:tgtEl>
                                          <p:spTgt spid="13">
                                            <p:txEl>
                                              <p:pRg st="2" end="2"/>
                                            </p:txEl>
                                          </p:spTgt>
                                        </p:tgtEl>
                                      </p:cBhvr>
                                      <p:by x="105000" y="105000"/>
                                    </p:animScale>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44"/>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26" presetClass="emph" presetSubtype="0" fill="hold" nodeType="clickEffect">
                                  <p:stCondLst>
                                    <p:cond delay="0"/>
                                  </p:stCondLst>
                                  <p:childTnLst>
                                    <p:animEffect transition="out" filter="fade">
                                      <p:cBhvr>
                                        <p:cTn id="49" dur="500" tmFilter="0, 0; .2, .5; .8, .5; 1, 0"/>
                                        <p:tgtEl>
                                          <p:spTgt spid="13">
                                            <p:txEl>
                                              <p:pRg st="3" end="3"/>
                                            </p:txEl>
                                          </p:spTgt>
                                        </p:tgtEl>
                                      </p:cBhvr>
                                    </p:animEffect>
                                    <p:animScale>
                                      <p:cBhvr>
                                        <p:cTn id="50" dur="250" autoRev="1" fill="hold"/>
                                        <p:tgtEl>
                                          <p:spTgt spid="13">
                                            <p:txEl>
                                              <p:pRg st="3" end="3"/>
                                            </p:txEl>
                                          </p:spTgt>
                                        </p:tgtEl>
                                      </p:cBhvr>
                                      <p:by x="105000" y="105000"/>
                                    </p:animScale>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42" grpId="0"/>
      <p:bldP spid="43" grpId="0"/>
      <p:bldP spid="44" grpId="0"/>
      <p:bldP spid="17" grpId="0"/>
      <p:bldP spid="18"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79400" y="663854"/>
            <a:ext cx="3332480" cy="3041645"/>
          </a:xfrm>
          <a:prstGeom prst="rect">
            <a:avLst/>
          </a:prstGeom>
        </p:spPr>
      </p:pic>
      <p:sp>
        <p:nvSpPr>
          <p:cNvPr id="13" name="TextBox 12"/>
          <p:cNvSpPr txBox="1"/>
          <p:nvPr/>
        </p:nvSpPr>
        <p:spPr>
          <a:xfrm>
            <a:off x="7292203" y="199617"/>
            <a:ext cx="4716917" cy="1446550"/>
          </a:xfrm>
          <a:prstGeom prst="rect">
            <a:avLst/>
          </a:prstGeom>
          <a:solidFill>
            <a:srgbClr val="FFFF00"/>
          </a:solidFill>
          <a:ln>
            <a:solidFill>
              <a:schemeClr val="tx1"/>
            </a:solidFill>
          </a:ln>
        </p:spPr>
        <p:txBody>
          <a:bodyPr wrap="square" rtlCol="0">
            <a:spAutoFit/>
          </a:bodyPr>
          <a:lstStyle/>
          <a:p>
            <a:pPr algn="ctr"/>
            <a:r>
              <a:rPr lang="en-AU" sz="2200" dirty="0"/>
              <a:t>Step 1: Label your triangle.</a:t>
            </a:r>
          </a:p>
          <a:p>
            <a:pPr algn="ctr"/>
            <a:r>
              <a:rPr lang="en-AU" sz="2200" dirty="0"/>
              <a:t>Step 2: Decide the ratio you need.</a:t>
            </a:r>
          </a:p>
          <a:p>
            <a:pPr algn="ctr"/>
            <a:r>
              <a:rPr lang="en-AU" sz="2200" dirty="0"/>
              <a:t>Step 3: Substitute in the values.</a:t>
            </a:r>
          </a:p>
          <a:p>
            <a:pPr algn="ctr"/>
            <a:r>
              <a:rPr lang="en-AU" sz="2200" dirty="0"/>
              <a:t>Step 4: Solve the equation.</a:t>
            </a:r>
          </a:p>
        </p:txBody>
      </p:sp>
      <p:cxnSp>
        <p:nvCxnSpPr>
          <p:cNvPr id="29" name="Straight Arrow Connector 28"/>
          <p:cNvCxnSpPr/>
          <p:nvPr/>
        </p:nvCxnSpPr>
        <p:spPr>
          <a:xfrm flipH="1">
            <a:off x="1986280" y="1316088"/>
            <a:ext cx="1140460" cy="103311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a:off x="1513840" y="1557539"/>
            <a:ext cx="1651000" cy="627137"/>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H="1" flipV="1">
            <a:off x="408940" y="1160674"/>
            <a:ext cx="2821940" cy="22217"/>
          </a:xfrm>
          <a:prstGeom prst="line">
            <a:avLst/>
          </a:prstGeom>
          <a:ln w="57150">
            <a:solidFill>
              <a:srgbClr val="00FF00"/>
            </a:solidFill>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3957320" y="2026920"/>
            <a:ext cx="7914640" cy="430887"/>
          </a:xfrm>
          <a:prstGeom prst="rect">
            <a:avLst/>
          </a:prstGeom>
          <a:noFill/>
        </p:spPr>
        <p:txBody>
          <a:bodyPr wrap="square" rtlCol="0">
            <a:spAutoFit/>
          </a:bodyPr>
          <a:lstStyle/>
          <a:p>
            <a:r>
              <a:rPr lang="en-AU" sz="2200" dirty="0"/>
              <a:t>We want to find the </a:t>
            </a:r>
            <a:r>
              <a:rPr lang="en-AU" sz="2200" dirty="0">
                <a:solidFill>
                  <a:srgbClr val="0070C0"/>
                </a:solidFill>
              </a:rPr>
              <a:t>h</a:t>
            </a:r>
            <a:r>
              <a:rPr lang="en-AU" sz="2200" dirty="0"/>
              <a:t>ypotenuse. We know the </a:t>
            </a:r>
            <a:r>
              <a:rPr lang="en-AU" sz="2200" dirty="0">
                <a:solidFill>
                  <a:srgbClr val="0070C0"/>
                </a:solidFill>
              </a:rPr>
              <a:t>a</a:t>
            </a:r>
            <a:r>
              <a:rPr lang="en-AU" sz="2200" dirty="0"/>
              <a:t>djacent.</a:t>
            </a:r>
          </a:p>
        </p:txBody>
      </p:sp>
      <mc:AlternateContent xmlns:mc="http://schemas.openxmlformats.org/markup-compatibility/2006" xmlns:a14="http://schemas.microsoft.com/office/drawing/2010/main">
        <mc:Choice Requires="a14">
          <p:sp>
            <p:nvSpPr>
              <p:cNvPr id="42" name="TextBox 41"/>
              <p:cNvSpPr txBox="1"/>
              <p:nvPr/>
            </p:nvSpPr>
            <p:spPr>
              <a:xfrm>
                <a:off x="4958081" y="2489257"/>
                <a:ext cx="5542280" cy="101431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3200" b="1" i="1" smtClean="0">
                          <a:solidFill>
                            <a:srgbClr val="0070C0"/>
                          </a:solidFill>
                          <a:latin typeface="Cambria Math" panose="02040503050406030204" pitchFamily="18" charset="0"/>
                        </a:rPr>
                        <m:t>𝑪</m:t>
                      </m:r>
                      <m:r>
                        <a:rPr lang="en-AU" sz="3200" b="1" i="1" smtClean="0">
                          <a:latin typeface="Cambria Math" panose="02040503050406030204" pitchFamily="18" charset="0"/>
                        </a:rPr>
                        <m:t>𝒐𝒔</m:t>
                      </m:r>
                      <m:r>
                        <a:rPr lang="en-AU" sz="3200" b="1" i="1" smtClean="0">
                          <a:latin typeface="Cambria Math" panose="02040503050406030204" pitchFamily="18" charset="0"/>
                        </a:rPr>
                        <m:t> </m:t>
                      </m:r>
                      <m:r>
                        <a:rPr lang="en-AU" sz="3200" b="1" i="1" smtClean="0">
                          <a:latin typeface="Cambria Math" panose="02040503050406030204" pitchFamily="18" charset="0"/>
                          <a:ea typeface="Cambria Math" panose="02040503050406030204" pitchFamily="18" charset="0"/>
                        </a:rPr>
                        <m:t>𝜽</m:t>
                      </m:r>
                      <m:r>
                        <a:rPr lang="en-AU" sz="3200" b="1" i="1" smtClean="0">
                          <a:latin typeface="Cambria Math" panose="02040503050406030204" pitchFamily="18" charset="0"/>
                          <a:ea typeface="Cambria Math" panose="02040503050406030204" pitchFamily="18" charset="0"/>
                        </a:rPr>
                        <m:t>= </m:t>
                      </m:r>
                      <m:f>
                        <m:fPr>
                          <m:ctrlPr>
                            <a:rPr lang="en-AU" sz="3200" b="1" i="1" smtClean="0">
                              <a:latin typeface="Cambria Math" panose="02040503050406030204" pitchFamily="18" charset="0"/>
                              <a:ea typeface="Cambria Math" panose="02040503050406030204" pitchFamily="18" charset="0"/>
                            </a:rPr>
                          </m:ctrlPr>
                        </m:fPr>
                        <m:num>
                          <m:r>
                            <a:rPr lang="en-AU" sz="3200" b="1" i="1" smtClean="0">
                              <a:solidFill>
                                <a:srgbClr val="0070C0"/>
                              </a:solidFill>
                              <a:latin typeface="Cambria Math" panose="02040503050406030204" pitchFamily="18" charset="0"/>
                              <a:ea typeface="Cambria Math" panose="02040503050406030204" pitchFamily="18" charset="0"/>
                            </a:rPr>
                            <m:t>𝑨</m:t>
                          </m:r>
                        </m:num>
                        <m:den>
                          <m:r>
                            <a:rPr lang="en-AU" sz="3200" b="1" i="1" smtClean="0">
                              <a:solidFill>
                                <a:srgbClr val="0070C0"/>
                              </a:solidFill>
                              <a:latin typeface="Cambria Math" panose="02040503050406030204" pitchFamily="18" charset="0"/>
                              <a:ea typeface="Cambria Math" panose="02040503050406030204" pitchFamily="18" charset="0"/>
                            </a:rPr>
                            <m:t>𝑯</m:t>
                          </m:r>
                        </m:den>
                      </m:f>
                    </m:oMath>
                  </m:oMathPara>
                </a14:m>
                <a:endParaRPr lang="en-AU" sz="3200" b="1" dirty="0"/>
              </a:p>
            </p:txBody>
          </p:sp>
        </mc:Choice>
        <mc:Fallback xmlns="">
          <p:sp>
            <p:nvSpPr>
              <p:cNvPr id="42" name="TextBox 41"/>
              <p:cNvSpPr txBox="1">
                <a:spLocks noRot="1" noChangeAspect="1" noMove="1" noResize="1" noEditPoints="1" noAdjustHandles="1" noChangeArrowheads="1" noChangeShapeType="1" noTextEdit="1"/>
              </p:cNvSpPr>
              <p:nvPr/>
            </p:nvSpPr>
            <p:spPr>
              <a:xfrm>
                <a:off x="4958081" y="2489257"/>
                <a:ext cx="5542280" cy="1014317"/>
              </a:xfrm>
              <a:prstGeom prst="rect">
                <a:avLst/>
              </a:prstGeom>
              <a:blipFill rotWithShape="0">
                <a:blip r:embed="rId3"/>
                <a:stretch>
                  <a:fillRect/>
                </a:stretch>
              </a:blipFill>
            </p:spPr>
            <p:txBody>
              <a:bodyPr/>
              <a:lstStyle/>
              <a:p>
                <a:r>
                  <a:rPr lang="en-AU">
                    <a:noFill/>
                  </a:rPr>
                  <a:t> </a:t>
                </a:r>
              </a:p>
            </p:txBody>
          </p:sp>
        </mc:Fallback>
      </mc:AlternateContent>
      <p:sp>
        <p:nvSpPr>
          <p:cNvPr id="43" name="TextBox 42"/>
          <p:cNvSpPr txBox="1"/>
          <p:nvPr/>
        </p:nvSpPr>
        <p:spPr>
          <a:xfrm>
            <a:off x="3957319" y="2488585"/>
            <a:ext cx="3210560" cy="1015663"/>
          </a:xfrm>
          <a:prstGeom prst="rect">
            <a:avLst/>
          </a:prstGeom>
          <a:noFill/>
        </p:spPr>
        <p:txBody>
          <a:bodyPr wrap="square" rtlCol="0">
            <a:spAutoFit/>
          </a:bodyPr>
          <a:lstStyle/>
          <a:p>
            <a:r>
              <a:rPr lang="en-AU" sz="6000" b="1" dirty="0">
                <a:solidFill>
                  <a:srgbClr val="0070C0"/>
                </a:solidFill>
              </a:rPr>
              <a:t>C A H</a:t>
            </a:r>
          </a:p>
        </p:txBody>
      </p:sp>
      <mc:AlternateContent xmlns:mc="http://schemas.openxmlformats.org/markup-compatibility/2006" xmlns:a14="http://schemas.microsoft.com/office/drawing/2010/main">
        <mc:Choice Requires="a14">
          <p:sp>
            <p:nvSpPr>
              <p:cNvPr id="44" name="TextBox 43"/>
              <p:cNvSpPr txBox="1"/>
              <p:nvPr/>
            </p:nvSpPr>
            <p:spPr>
              <a:xfrm>
                <a:off x="4958081" y="3762872"/>
                <a:ext cx="5542280" cy="101752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3200" b="1" i="1" smtClean="0">
                          <a:solidFill>
                            <a:schemeClr val="tx1"/>
                          </a:solidFill>
                          <a:latin typeface="Cambria Math" panose="02040503050406030204" pitchFamily="18" charset="0"/>
                        </a:rPr>
                        <m:t>𝑪𝒐𝒔</m:t>
                      </m:r>
                      <m:r>
                        <a:rPr lang="en-AU" sz="3200" b="1" i="1" smtClean="0">
                          <a:latin typeface="Cambria Math" panose="02040503050406030204" pitchFamily="18" charset="0"/>
                        </a:rPr>
                        <m:t> </m:t>
                      </m:r>
                      <m:r>
                        <a:rPr lang="en-AU" sz="3200" b="1" i="1" smtClean="0">
                          <a:latin typeface="Cambria Math" panose="02040503050406030204" pitchFamily="18" charset="0"/>
                        </a:rPr>
                        <m:t>𝟒𝟎</m:t>
                      </m:r>
                      <m:r>
                        <a:rPr lang="en-AU" sz="3200" b="1" i="1" smtClean="0">
                          <a:latin typeface="Cambria Math" panose="02040503050406030204" pitchFamily="18" charset="0"/>
                          <a:ea typeface="Cambria Math" panose="02040503050406030204" pitchFamily="18" charset="0"/>
                        </a:rPr>
                        <m:t>°= </m:t>
                      </m:r>
                      <m:f>
                        <m:fPr>
                          <m:ctrlPr>
                            <a:rPr lang="en-AU" sz="3200" b="1" i="1" smtClean="0">
                              <a:solidFill>
                                <a:schemeClr val="tx1"/>
                              </a:solidFill>
                              <a:latin typeface="Cambria Math" panose="02040503050406030204" pitchFamily="18" charset="0"/>
                              <a:ea typeface="Cambria Math" panose="02040503050406030204" pitchFamily="18" charset="0"/>
                            </a:rPr>
                          </m:ctrlPr>
                        </m:fPr>
                        <m:num>
                          <m:r>
                            <a:rPr lang="en-AU" sz="3200" b="1" i="1" smtClean="0">
                              <a:solidFill>
                                <a:schemeClr val="tx1"/>
                              </a:solidFill>
                              <a:latin typeface="Cambria Math" panose="02040503050406030204" pitchFamily="18" charset="0"/>
                              <a:ea typeface="Cambria Math" panose="02040503050406030204" pitchFamily="18" charset="0"/>
                            </a:rPr>
                            <m:t>𝟏𝟎</m:t>
                          </m:r>
                        </m:num>
                        <m:den>
                          <m:r>
                            <a:rPr lang="en-AU" sz="3200" b="1" i="1" smtClean="0">
                              <a:solidFill>
                                <a:schemeClr val="tx1"/>
                              </a:solidFill>
                              <a:latin typeface="Cambria Math" panose="02040503050406030204" pitchFamily="18" charset="0"/>
                              <a:ea typeface="Cambria Math" panose="02040503050406030204" pitchFamily="18" charset="0"/>
                            </a:rPr>
                            <m:t>𝒙</m:t>
                          </m:r>
                        </m:den>
                      </m:f>
                    </m:oMath>
                  </m:oMathPara>
                </a14:m>
                <a:endParaRPr lang="en-AU" sz="3200" b="1" dirty="0"/>
              </a:p>
            </p:txBody>
          </p:sp>
        </mc:Choice>
        <mc:Fallback xmlns="">
          <p:sp>
            <p:nvSpPr>
              <p:cNvPr id="44" name="TextBox 43"/>
              <p:cNvSpPr txBox="1">
                <a:spLocks noRot="1" noChangeAspect="1" noMove="1" noResize="1" noEditPoints="1" noAdjustHandles="1" noChangeArrowheads="1" noChangeShapeType="1" noTextEdit="1"/>
              </p:cNvSpPr>
              <p:nvPr/>
            </p:nvSpPr>
            <p:spPr>
              <a:xfrm>
                <a:off x="4958081" y="3762872"/>
                <a:ext cx="5542280" cy="1017523"/>
              </a:xfrm>
              <a:prstGeom prst="rect">
                <a:avLst/>
              </a:prstGeom>
              <a:blipFill rotWithShape="0">
                <a:blip r:embed="rId4"/>
                <a:stretch>
                  <a:fillRect/>
                </a:stretch>
              </a:blipFill>
            </p:spPr>
            <p:txBody>
              <a:bodyPr/>
              <a:lstStyle/>
              <a:p>
                <a:r>
                  <a:rPr lang="en-AU">
                    <a:noFill/>
                  </a:rPr>
                  <a:t> </a:t>
                </a:r>
              </a:p>
            </p:txBody>
          </p:sp>
        </mc:Fallback>
      </mc:AlternateContent>
      <p:pic>
        <p:nvPicPr>
          <p:cNvPr id="3" name="Picture 2"/>
          <p:cNvPicPr>
            <a:picLocks noChangeAspect="1"/>
          </p:cNvPicPr>
          <p:nvPr/>
        </p:nvPicPr>
        <p:blipFill>
          <a:blip r:embed="rId5"/>
          <a:stretch>
            <a:fillRect/>
          </a:stretch>
        </p:blipFill>
        <p:spPr>
          <a:xfrm>
            <a:off x="269000" y="4080147"/>
            <a:ext cx="4616312" cy="1779294"/>
          </a:xfrm>
          <a:prstGeom prst="rect">
            <a:avLst/>
          </a:prstGeom>
        </p:spPr>
      </p:pic>
      <p:sp>
        <p:nvSpPr>
          <p:cNvPr id="4" name="TextBox 3"/>
          <p:cNvSpPr txBox="1"/>
          <p:nvPr/>
        </p:nvSpPr>
        <p:spPr>
          <a:xfrm>
            <a:off x="279400" y="5938520"/>
            <a:ext cx="4617720" cy="430887"/>
          </a:xfrm>
          <a:prstGeom prst="rect">
            <a:avLst/>
          </a:prstGeom>
          <a:noFill/>
        </p:spPr>
        <p:txBody>
          <a:bodyPr wrap="square" rtlCol="0">
            <a:spAutoFit/>
          </a:bodyPr>
          <a:lstStyle/>
          <a:p>
            <a:r>
              <a:rPr lang="en-AU" sz="2200" dirty="0"/>
              <a:t>Cover up the side you want to find.</a:t>
            </a:r>
          </a:p>
        </p:txBody>
      </p:sp>
      <p:pic>
        <p:nvPicPr>
          <p:cNvPr id="5" name="Picture 4"/>
          <p:cNvPicPr>
            <a:picLocks noChangeAspect="1"/>
          </p:cNvPicPr>
          <p:nvPr/>
        </p:nvPicPr>
        <p:blipFill>
          <a:blip r:embed="rId6"/>
          <a:stretch>
            <a:fillRect/>
          </a:stretch>
        </p:blipFill>
        <p:spPr>
          <a:xfrm>
            <a:off x="2588260" y="5290897"/>
            <a:ext cx="723900" cy="647623"/>
          </a:xfrm>
          <a:prstGeom prst="rect">
            <a:avLst/>
          </a:prstGeom>
        </p:spPr>
      </p:pic>
      <mc:AlternateContent xmlns:mc="http://schemas.openxmlformats.org/markup-compatibility/2006" xmlns:a14="http://schemas.microsoft.com/office/drawing/2010/main">
        <mc:Choice Requires="a14">
          <p:sp>
            <p:nvSpPr>
              <p:cNvPr id="17" name="TextBox 16"/>
              <p:cNvSpPr txBox="1"/>
              <p:nvPr/>
            </p:nvSpPr>
            <p:spPr>
              <a:xfrm>
                <a:off x="5161596" y="4777189"/>
                <a:ext cx="5542280" cy="101752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3200" b="1" i="1" smtClean="0">
                          <a:solidFill>
                            <a:schemeClr val="tx1"/>
                          </a:solidFill>
                          <a:latin typeface="Cambria Math" panose="02040503050406030204" pitchFamily="18" charset="0"/>
                        </a:rPr>
                        <m:t>𝒙</m:t>
                      </m:r>
                      <m:r>
                        <a:rPr lang="en-AU" sz="3200" b="1" i="1" smtClean="0">
                          <a:solidFill>
                            <a:schemeClr val="tx1"/>
                          </a:solidFill>
                          <a:latin typeface="Cambria Math" panose="02040503050406030204" pitchFamily="18" charset="0"/>
                        </a:rPr>
                        <m:t>=</m:t>
                      </m:r>
                      <m:f>
                        <m:fPr>
                          <m:ctrlPr>
                            <a:rPr lang="en-AU" sz="3200" b="1" i="1" smtClean="0">
                              <a:solidFill>
                                <a:schemeClr val="tx1"/>
                              </a:solidFill>
                              <a:latin typeface="Cambria Math" panose="02040503050406030204" pitchFamily="18" charset="0"/>
                              <a:ea typeface="Cambria Math" panose="02040503050406030204" pitchFamily="18" charset="0"/>
                            </a:rPr>
                          </m:ctrlPr>
                        </m:fPr>
                        <m:num>
                          <m:r>
                            <a:rPr lang="en-AU" sz="3200" b="1" i="1" smtClean="0">
                              <a:solidFill>
                                <a:schemeClr val="tx1"/>
                              </a:solidFill>
                              <a:latin typeface="Cambria Math" panose="02040503050406030204" pitchFamily="18" charset="0"/>
                              <a:ea typeface="Cambria Math" panose="02040503050406030204" pitchFamily="18" charset="0"/>
                            </a:rPr>
                            <m:t>𝟏𝟎</m:t>
                          </m:r>
                        </m:num>
                        <m:den>
                          <m:r>
                            <a:rPr lang="en-AU" sz="3200" b="1" i="1" smtClean="0">
                              <a:solidFill>
                                <a:schemeClr val="tx1"/>
                              </a:solidFill>
                              <a:latin typeface="Cambria Math" panose="02040503050406030204" pitchFamily="18" charset="0"/>
                              <a:ea typeface="Cambria Math" panose="02040503050406030204" pitchFamily="18" charset="0"/>
                            </a:rPr>
                            <m:t>𝑪𝒐𝒔</m:t>
                          </m:r>
                          <m:r>
                            <a:rPr lang="en-AU" sz="3200" b="1" i="1" smtClean="0">
                              <a:solidFill>
                                <a:schemeClr val="tx1"/>
                              </a:solidFill>
                              <a:latin typeface="Cambria Math" panose="02040503050406030204" pitchFamily="18" charset="0"/>
                              <a:ea typeface="Cambria Math" panose="02040503050406030204" pitchFamily="18" charset="0"/>
                            </a:rPr>
                            <m:t> </m:t>
                          </m:r>
                          <m:r>
                            <a:rPr lang="en-AU" sz="3200" b="1" i="1" smtClean="0">
                              <a:solidFill>
                                <a:schemeClr val="tx1"/>
                              </a:solidFill>
                              <a:latin typeface="Cambria Math" panose="02040503050406030204" pitchFamily="18" charset="0"/>
                              <a:ea typeface="Cambria Math" panose="02040503050406030204" pitchFamily="18" charset="0"/>
                            </a:rPr>
                            <m:t>𝟒𝟎</m:t>
                          </m:r>
                          <m:r>
                            <a:rPr lang="en-AU" sz="3200" b="1" i="1" smtClean="0">
                              <a:solidFill>
                                <a:schemeClr val="tx1"/>
                              </a:solidFill>
                              <a:latin typeface="Cambria Math" panose="02040503050406030204" pitchFamily="18" charset="0"/>
                              <a:ea typeface="Cambria Math" panose="02040503050406030204" pitchFamily="18" charset="0"/>
                            </a:rPr>
                            <m:t>°</m:t>
                          </m:r>
                        </m:den>
                      </m:f>
                    </m:oMath>
                  </m:oMathPara>
                </a14:m>
                <a:endParaRPr lang="en-AU" sz="3200" b="1" dirty="0"/>
              </a:p>
            </p:txBody>
          </p:sp>
        </mc:Choice>
        <mc:Fallback xmlns="">
          <p:sp>
            <p:nvSpPr>
              <p:cNvPr id="17" name="TextBox 16"/>
              <p:cNvSpPr txBox="1">
                <a:spLocks noRot="1" noChangeAspect="1" noMove="1" noResize="1" noEditPoints="1" noAdjustHandles="1" noChangeArrowheads="1" noChangeShapeType="1" noTextEdit="1"/>
              </p:cNvSpPr>
              <p:nvPr/>
            </p:nvSpPr>
            <p:spPr>
              <a:xfrm>
                <a:off x="5161596" y="4777189"/>
                <a:ext cx="5542280" cy="1017523"/>
              </a:xfrm>
              <a:prstGeom prst="rect">
                <a:avLst/>
              </a:prstGeom>
              <a:blipFill rotWithShape="0">
                <a:blip r:embed="rId7"/>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6360160" y="5938520"/>
                <a:ext cx="3680216" cy="5539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3000" b="1" i="1" smtClean="0">
                          <a:latin typeface="Cambria Math" panose="02040503050406030204" pitchFamily="18" charset="0"/>
                        </a:rPr>
                        <m:t>𝒙</m:t>
                      </m:r>
                      <m:r>
                        <a:rPr lang="en-AU" sz="3000" b="1" i="1" smtClean="0">
                          <a:latin typeface="Cambria Math" panose="02040503050406030204" pitchFamily="18" charset="0"/>
                        </a:rPr>
                        <m:t>=</m:t>
                      </m:r>
                      <m:r>
                        <a:rPr lang="en-AU" sz="3000" b="1" i="1" smtClean="0">
                          <a:latin typeface="Cambria Math" panose="02040503050406030204" pitchFamily="18" charset="0"/>
                        </a:rPr>
                        <m:t>𝟏𝟑</m:t>
                      </m:r>
                      <m:r>
                        <a:rPr lang="en-AU" sz="3000" b="1" i="1" smtClean="0">
                          <a:latin typeface="Cambria Math" panose="02040503050406030204" pitchFamily="18" charset="0"/>
                        </a:rPr>
                        <m:t>.</m:t>
                      </m:r>
                      <m:r>
                        <a:rPr lang="en-AU" sz="3000" b="1" i="1" smtClean="0">
                          <a:latin typeface="Cambria Math" panose="02040503050406030204" pitchFamily="18" charset="0"/>
                        </a:rPr>
                        <m:t>𝟎𝟓</m:t>
                      </m:r>
                      <m:r>
                        <a:rPr lang="en-AU" sz="3000" b="1" i="1" smtClean="0">
                          <a:latin typeface="Cambria Math" panose="02040503050406030204" pitchFamily="18" charset="0"/>
                        </a:rPr>
                        <m:t>𝒎</m:t>
                      </m:r>
                      <m:r>
                        <a:rPr lang="en-AU" sz="3000" b="1" i="1" smtClean="0">
                          <a:latin typeface="Cambria Math" panose="02040503050406030204" pitchFamily="18" charset="0"/>
                        </a:rPr>
                        <m:t> (</m:t>
                      </m:r>
                      <m:r>
                        <a:rPr lang="en-AU" sz="3000" b="1" i="1" smtClean="0">
                          <a:latin typeface="Cambria Math" panose="02040503050406030204" pitchFamily="18" charset="0"/>
                        </a:rPr>
                        <m:t>𝟐</m:t>
                      </m:r>
                      <m:r>
                        <a:rPr lang="en-AU" sz="3000" b="1" i="1" smtClean="0">
                          <a:latin typeface="Cambria Math" panose="02040503050406030204" pitchFamily="18" charset="0"/>
                        </a:rPr>
                        <m:t>𝒅𝒑</m:t>
                      </m:r>
                      <m:r>
                        <a:rPr lang="en-AU" sz="3000" b="1" i="1" smtClean="0">
                          <a:latin typeface="Cambria Math" panose="02040503050406030204" pitchFamily="18" charset="0"/>
                        </a:rPr>
                        <m:t>)</m:t>
                      </m:r>
                    </m:oMath>
                  </m:oMathPara>
                </a14:m>
                <a:endParaRPr lang="en-AU" sz="3000" b="1" dirty="0"/>
              </a:p>
            </p:txBody>
          </p:sp>
        </mc:Choice>
        <mc:Fallback xmlns="">
          <p:sp>
            <p:nvSpPr>
              <p:cNvPr id="18" name="TextBox 17"/>
              <p:cNvSpPr txBox="1">
                <a:spLocks noRot="1" noChangeAspect="1" noMove="1" noResize="1" noEditPoints="1" noAdjustHandles="1" noChangeArrowheads="1" noChangeShapeType="1" noTextEdit="1"/>
              </p:cNvSpPr>
              <p:nvPr/>
            </p:nvSpPr>
            <p:spPr>
              <a:xfrm>
                <a:off x="6360160" y="5938520"/>
                <a:ext cx="3680216" cy="553998"/>
              </a:xfrm>
              <a:prstGeom prst="rect">
                <a:avLst/>
              </a:prstGeom>
              <a:blipFill rotWithShape="0">
                <a:blip r:embed="rId8"/>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2065671" y="4901229"/>
                <a:ext cx="623569" cy="76944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sz="5000" b="1" i="1" smtClean="0">
                          <a:solidFill>
                            <a:srgbClr val="FFFF00"/>
                          </a:solidFill>
                          <a:latin typeface="Cambria Math" panose="02040503050406030204" pitchFamily="18" charset="0"/>
                          <a:ea typeface="Cambria Math" panose="02040503050406030204" pitchFamily="18" charset="0"/>
                        </a:rPr>
                        <m:t>÷</m:t>
                      </m:r>
                    </m:oMath>
                  </m:oMathPara>
                </a14:m>
                <a:endParaRPr lang="en-AU" sz="5000" b="1" dirty="0">
                  <a:solidFill>
                    <a:srgbClr val="FFFF00"/>
                  </a:solidFill>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2065671" y="4901229"/>
                <a:ext cx="623569" cy="769441"/>
              </a:xfrm>
              <a:prstGeom prst="rect">
                <a:avLst/>
              </a:prstGeom>
              <a:blipFill rotWithShape="0">
                <a:blip r:embed="rId9"/>
                <a:stretch>
                  <a:fillRect/>
                </a:stretch>
              </a:blipFill>
            </p:spPr>
            <p:txBody>
              <a:bodyPr/>
              <a:lstStyle/>
              <a:p>
                <a:r>
                  <a:rPr lang="en-AU">
                    <a:noFill/>
                  </a:rPr>
                  <a:t> </a:t>
                </a:r>
              </a:p>
            </p:txBody>
          </p:sp>
        </mc:Fallback>
      </mc:AlternateContent>
      <p:sp>
        <p:nvSpPr>
          <p:cNvPr id="19" name="TextBox 18"/>
          <p:cNvSpPr txBox="1"/>
          <p:nvPr/>
        </p:nvSpPr>
        <p:spPr>
          <a:xfrm>
            <a:off x="0" y="0"/>
            <a:ext cx="1374405" cy="461665"/>
          </a:xfrm>
          <a:prstGeom prst="rect">
            <a:avLst/>
          </a:prstGeom>
          <a:solidFill>
            <a:srgbClr val="FFFF00"/>
          </a:solidFill>
        </p:spPr>
        <p:txBody>
          <a:bodyPr wrap="square" rtlCol="0">
            <a:spAutoFit/>
          </a:bodyPr>
          <a:lstStyle/>
          <a:p>
            <a:r>
              <a:rPr lang="en-AU" sz="2400" dirty="0" smtClean="0"/>
              <a:t>Examples</a:t>
            </a:r>
            <a:endParaRPr lang="en-AU" sz="2400" dirty="0"/>
          </a:p>
        </p:txBody>
      </p:sp>
    </p:spTree>
    <p:extLst>
      <p:ext uri="{BB962C8B-B14F-4D97-AF65-F5344CB8AC3E}">
        <p14:creationId xmlns:p14="http://schemas.microsoft.com/office/powerpoint/2010/main" val="107119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13">
                                            <p:txEl>
                                              <p:pRg st="0" end="0"/>
                                            </p:txEl>
                                          </p:spTgt>
                                        </p:tgtEl>
                                      </p:cBhvr>
                                    </p:animEffect>
                                    <p:animScale>
                                      <p:cBhvr>
                                        <p:cTn id="7" dur="250" autoRev="1" fill="hold"/>
                                        <p:tgtEl>
                                          <p:spTgt spid="13">
                                            <p:txEl>
                                              <p:pRg st="0" end="0"/>
                                            </p:txEl>
                                          </p:spTgt>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9"/>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40"/>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6" presetClass="emph" presetSubtype="0" fill="hold" nodeType="clickEffect">
                                  <p:stCondLst>
                                    <p:cond delay="0"/>
                                  </p:stCondLst>
                                  <p:childTnLst>
                                    <p:animEffect transition="out" filter="fade">
                                      <p:cBhvr>
                                        <p:cTn id="23" dur="500" tmFilter="0, 0; .2, .5; .8, .5; 1, 0"/>
                                        <p:tgtEl>
                                          <p:spTgt spid="13">
                                            <p:txEl>
                                              <p:pRg st="1" end="1"/>
                                            </p:txEl>
                                          </p:spTgt>
                                        </p:tgtEl>
                                      </p:cBhvr>
                                    </p:animEffect>
                                    <p:animScale>
                                      <p:cBhvr>
                                        <p:cTn id="24" dur="250" autoRev="1" fill="hold"/>
                                        <p:tgtEl>
                                          <p:spTgt spid="13">
                                            <p:txEl>
                                              <p:pRg st="1" end="1"/>
                                            </p:txEl>
                                          </p:spTgt>
                                        </p:tgtEl>
                                      </p:cBhvr>
                                      <p:by x="105000" y="105000"/>
                                    </p:animScale>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6" presetClass="emph" presetSubtype="0" fill="hold" nodeType="clickEffect">
                                  <p:stCondLst>
                                    <p:cond delay="0"/>
                                  </p:stCondLst>
                                  <p:childTnLst>
                                    <p:animEffect transition="out" filter="fade">
                                      <p:cBhvr>
                                        <p:cTn id="40" dur="500" tmFilter="0, 0; .2, .5; .8, .5; 1, 0"/>
                                        <p:tgtEl>
                                          <p:spTgt spid="13">
                                            <p:txEl>
                                              <p:pRg st="2" end="2"/>
                                            </p:txEl>
                                          </p:spTgt>
                                        </p:tgtEl>
                                      </p:cBhvr>
                                    </p:animEffect>
                                    <p:animScale>
                                      <p:cBhvr>
                                        <p:cTn id="41" dur="250" autoRev="1" fill="hold"/>
                                        <p:tgtEl>
                                          <p:spTgt spid="13">
                                            <p:txEl>
                                              <p:pRg st="2" end="2"/>
                                            </p:txEl>
                                          </p:spTgt>
                                        </p:tgtEl>
                                      </p:cBhvr>
                                      <p:by x="105000" y="105000"/>
                                    </p:animScale>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44"/>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26" presetClass="emph" presetSubtype="0" fill="hold" nodeType="clickEffect">
                                  <p:stCondLst>
                                    <p:cond delay="0"/>
                                  </p:stCondLst>
                                  <p:childTnLst>
                                    <p:animEffect transition="out" filter="fade">
                                      <p:cBhvr>
                                        <p:cTn id="49" dur="500" tmFilter="0, 0; .2, .5; .8, .5; 1, 0"/>
                                        <p:tgtEl>
                                          <p:spTgt spid="13">
                                            <p:txEl>
                                              <p:pRg st="3" end="3"/>
                                            </p:txEl>
                                          </p:spTgt>
                                        </p:tgtEl>
                                      </p:cBhvr>
                                    </p:animEffect>
                                    <p:animScale>
                                      <p:cBhvr>
                                        <p:cTn id="50" dur="250" autoRev="1" fill="hold"/>
                                        <p:tgtEl>
                                          <p:spTgt spid="13">
                                            <p:txEl>
                                              <p:pRg st="3" end="3"/>
                                            </p:txEl>
                                          </p:spTgt>
                                        </p:tgtEl>
                                      </p:cBhvr>
                                      <p:by x="105000" y="105000"/>
                                    </p:animScale>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42" grpId="0"/>
      <p:bldP spid="43" grpId="0"/>
      <p:bldP spid="44" grpId="0"/>
      <p:bldP spid="17" grpId="0"/>
      <p:bldP spid="18"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32385" y="885047"/>
            <a:ext cx="3995233" cy="2134000"/>
          </a:xfrm>
          <a:prstGeom prst="rect">
            <a:avLst/>
          </a:prstGeom>
        </p:spPr>
      </p:pic>
      <p:sp>
        <p:nvSpPr>
          <p:cNvPr id="13" name="TextBox 12"/>
          <p:cNvSpPr txBox="1"/>
          <p:nvPr/>
        </p:nvSpPr>
        <p:spPr>
          <a:xfrm>
            <a:off x="7292203" y="199617"/>
            <a:ext cx="4716917" cy="1446550"/>
          </a:xfrm>
          <a:prstGeom prst="rect">
            <a:avLst/>
          </a:prstGeom>
          <a:solidFill>
            <a:srgbClr val="FFFF00"/>
          </a:solidFill>
          <a:ln>
            <a:solidFill>
              <a:schemeClr val="tx1"/>
            </a:solidFill>
          </a:ln>
        </p:spPr>
        <p:txBody>
          <a:bodyPr wrap="square" rtlCol="0">
            <a:spAutoFit/>
          </a:bodyPr>
          <a:lstStyle/>
          <a:p>
            <a:pPr algn="ctr"/>
            <a:r>
              <a:rPr lang="en-AU" sz="2200" dirty="0"/>
              <a:t>Step 1: Label your triangle.</a:t>
            </a:r>
          </a:p>
          <a:p>
            <a:pPr algn="ctr"/>
            <a:r>
              <a:rPr lang="en-AU" sz="2200" dirty="0"/>
              <a:t>Step 2: Decide the ratio you need.</a:t>
            </a:r>
          </a:p>
          <a:p>
            <a:pPr algn="ctr"/>
            <a:r>
              <a:rPr lang="en-AU" sz="2200" dirty="0"/>
              <a:t>Step 3: Substitute in the values.</a:t>
            </a:r>
          </a:p>
          <a:p>
            <a:pPr algn="ctr"/>
            <a:r>
              <a:rPr lang="en-AU" sz="2200" dirty="0"/>
              <a:t>Step 4: Solve the equation.</a:t>
            </a:r>
          </a:p>
        </p:txBody>
      </p:sp>
      <p:cxnSp>
        <p:nvCxnSpPr>
          <p:cNvPr id="29" name="Straight Arrow Connector 28"/>
          <p:cNvCxnSpPr/>
          <p:nvPr/>
        </p:nvCxnSpPr>
        <p:spPr>
          <a:xfrm flipV="1">
            <a:off x="1236980" y="1952047"/>
            <a:ext cx="1272540" cy="56443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flipH="1" flipV="1">
            <a:off x="1136967" y="1944184"/>
            <a:ext cx="1669733" cy="518782"/>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H="1" flipV="1">
            <a:off x="1098550" y="2654644"/>
            <a:ext cx="2821940" cy="22217"/>
          </a:xfrm>
          <a:prstGeom prst="line">
            <a:avLst/>
          </a:prstGeom>
          <a:ln w="57150">
            <a:solidFill>
              <a:srgbClr val="00FF00"/>
            </a:solidFill>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3957320" y="2026920"/>
            <a:ext cx="7914640" cy="430887"/>
          </a:xfrm>
          <a:prstGeom prst="rect">
            <a:avLst/>
          </a:prstGeom>
          <a:noFill/>
        </p:spPr>
        <p:txBody>
          <a:bodyPr wrap="square" rtlCol="0">
            <a:spAutoFit/>
          </a:bodyPr>
          <a:lstStyle/>
          <a:p>
            <a:r>
              <a:rPr lang="en-AU" sz="2200" dirty="0"/>
              <a:t>We want to find the </a:t>
            </a:r>
            <a:r>
              <a:rPr lang="en-AU" sz="2200" dirty="0">
                <a:solidFill>
                  <a:srgbClr val="FF0000"/>
                </a:solidFill>
              </a:rPr>
              <a:t>h</a:t>
            </a:r>
            <a:r>
              <a:rPr lang="en-AU" sz="2200" dirty="0"/>
              <a:t>ypotenuse. We know the </a:t>
            </a:r>
            <a:r>
              <a:rPr lang="en-AU" sz="2200" dirty="0">
                <a:solidFill>
                  <a:srgbClr val="FF0000"/>
                </a:solidFill>
              </a:rPr>
              <a:t>o</a:t>
            </a:r>
            <a:r>
              <a:rPr lang="en-AU" sz="2200" dirty="0"/>
              <a:t>pposite.</a:t>
            </a:r>
          </a:p>
        </p:txBody>
      </p:sp>
      <mc:AlternateContent xmlns:mc="http://schemas.openxmlformats.org/markup-compatibility/2006" xmlns:a14="http://schemas.microsoft.com/office/drawing/2010/main">
        <mc:Choice Requires="a14">
          <p:sp>
            <p:nvSpPr>
              <p:cNvPr id="42" name="TextBox 41"/>
              <p:cNvSpPr txBox="1"/>
              <p:nvPr/>
            </p:nvSpPr>
            <p:spPr>
              <a:xfrm>
                <a:off x="5181412" y="2491367"/>
                <a:ext cx="5542280" cy="101431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3200" b="1" i="1" smtClean="0">
                          <a:solidFill>
                            <a:srgbClr val="FF0000"/>
                          </a:solidFill>
                          <a:latin typeface="Cambria Math" panose="02040503050406030204" pitchFamily="18" charset="0"/>
                        </a:rPr>
                        <m:t>𝑺</m:t>
                      </m:r>
                      <m:r>
                        <a:rPr lang="en-AU" sz="3200" b="1" i="1" smtClean="0">
                          <a:solidFill>
                            <a:schemeClr val="tx1"/>
                          </a:solidFill>
                          <a:latin typeface="Cambria Math" panose="02040503050406030204" pitchFamily="18" charset="0"/>
                        </a:rPr>
                        <m:t>𝒊𝒏</m:t>
                      </m:r>
                      <m:r>
                        <a:rPr lang="en-AU" sz="3200" b="1" i="1" smtClean="0">
                          <a:solidFill>
                            <a:schemeClr val="tx1"/>
                          </a:solidFill>
                          <a:latin typeface="Cambria Math" panose="02040503050406030204" pitchFamily="18" charset="0"/>
                        </a:rPr>
                        <m:t> </m:t>
                      </m:r>
                      <m:r>
                        <a:rPr lang="en-AU" sz="3200" b="1" i="1" smtClean="0">
                          <a:solidFill>
                            <a:schemeClr val="tx1"/>
                          </a:solidFill>
                          <a:latin typeface="Cambria Math" panose="02040503050406030204" pitchFamily="18" charset="0"/>
                          <a:ea typeface="Cambria Math" panose="02040503050406030204" pitchFamily="18" charset="0"/>
                        </a:rPr>
                        <m:t>𝜽</m:t>
                      </m:r>
                      <m:r>
                        <a:rPr lang="en-AU" sz="3200" b="1" i="1" smtClean="0">
                          <a:solidFill>
                            <a:schemeClr val="tx1"/>
                          </a:solidFill>
                          <a:latin typeface="Cambria Math" panose="02040503050406030204" pitchFamily="18" charset="0"/>
                          <a:ea typeface="Cambria Math" panose="02040503050406030204" pitchFamily="18" charset="0"/>
                        </a:rPr>
                        <m:t>= </m:t>
                      </m:r>
                      <m:f>
                        <m:fPr>
                          <m:ctrlPr>
                            <a:rPr lang="en-AU" sz="3200" b="1" i="1" smtClean="0">
                              <a:solidFill>
                                <a:schemeClr val="tx1"/>
                              </a:solidFill>
                              <a:latin typeface="Cambria Math" panose="02040503050406030204" pitchFamily="18" charset="0"/>
                              <a:ea typeface="Cambria Math" panose="02040503050406030204" pitchFamily="18" charset="0"/>
                            </a:rPr>
                          </m:ctrlPr>
                        </m:fPr>
                        <m:num>
                          <m:r>
                            <a:rPr lang="en-AU" sz="3200" b="1" i="1" smtClean="0">
                              <a:solidFill>
                                <a:srgbClr val="FF0000"/>
                              </a:solidFill>
                              <a:latin typeface="Cambria Math" panose="02040503050406030204" pitchFamily="18" charset="0"/>
                              <a:ea typeface="Cambria Math" panose="02040503050406030204" pitchFamily="18" charset="0"/>
                            </a:rPr>
                            <m:t>𝑶</m:t>
                          </m:r>
                        </m:num>
                        <m:den>
                          <m:r>
                            <a:rPr lang="en-AU" sz="3200" b="1" i="1" smtClean="0">
                              <a:solidFill>
                                <a:srgbClr val="FF0000"/>
                              </a:solidFill>
                              <a:latin typeface="Cambria Math" panose="02040503050406030204" pitchFamily="18" charset="0"/>
                              <a:ea typeface="Cambria Math" panose="02040503050406030204" pitchFamily="18" charset="0"/>
                            </a:rPr>
                            <m:t>𝑯</m:t>
                          </m:r>
                        </m:den>
                      </m:f>
                    </m:oMath>
                  </m:oMathPara>
                </a14:m>
                <a:endParaRPr lang="en-AU" sz="3200" b="1" dirty="0"/>
              </a:p>
            </p:txBody>
          </p:sp>
        </mc:Choice>
        <mc:Fallback xmlns="">
          <p:sp>
            <p:nvSpPr>
              <p:cNvPr id="42" name="TextBox 41"/>
              <p:cNvSpPr txBox="1">
                <a:spLocks noRot="1" noChangeAspect="1" noMove="1" noResize="1" noEditPoints="1" noAdjustHandles="1" noChangeArrowheads="1" noChangeShapeType="1" noTextEdit="1"/>
              </p:cNvSpPr>
              <p:nvPr/>
            </p:nvSpPr>
            <p:spPr>
              <a:xfrm>
                <a:off x="5181412" y="2491367"/>
                <a:ext cx="5542280" cy="1014317"/>
              </a:xfrm>
              <a:prstGeom prst="rect">
                <a:avLst/>
              </a:prstGeom>
              <a:blipFill rotWithShape="0">
                <a:blip r:embed="rId3"/>
                <a:stretch>
                  <a:fillRect/>
                </a:stretch>
              </a:blipFill>
            </p:spPr>
            <p:txBody>
              <a:bodyPr/>
              <a:lstStyle/>
              <a:p>
                <a:r>
                  <a:rPr lang="en-AU">
                    <a:noFill/>
                  </a:rPr>
                  <a:t> </a:t>
                </a:r>
              </a:p>
            </p:txBody>
          </p:sp>
        </mc:Fallback>
      </mc:AlternateContent>
      <p:sp>
        <p:nvSpPr>
          <p:cNvPr id="43" name="TextBox 42"/>
          <p:cNvSpPr txBox="1"/>
          <p:nvPr/>
        </p:nvSpPr>
        <p:spPr>
          <a:xfrm>
            <a:off x="3957319" y="2488585"/>
            <a:ext cx="3210560" cy="1015663"/>
          </a:xfrm>
          <a:prstGeom prst="rect">
            <a:avLst/>
          </a:prstGeom>
          <a:noFill/>
        </p:spPr>
        <p:txBody>
          <a:bodyPr wrap="square" rtlCol="0">
            <a:spAutoFit/>
          </a:bodyPr>
          <a:lstStyle/>
          <a:p>
            <a:r>
              <a:rPr lang="en-AU" sz="6000" b="1" dirty="0">
                <a:solidFill>
                  <a:srgbClr val="FF0000"/>
                </a:solidFill>
              </a:rPr>
              <a:t>S O H</a:t>
            </a:r>
          </a:p>
        </p:txBody>
      </p:sp>
      <mc:AlternateContent xmlns:mc="http://schemas.openxmlformats.org/markup-compatibility/2006" xmlns:a14="http://schemas.microsoft.com/office/drawing/2010/main">
        <mc:Choice Requires="a14">
          <p:sp>
            <p:nvSpPr>
              <p:cNvPr id="44" name="TextBox 43"/>
              <p:cNvSpPr txBox="1"/>
              <p:nvPr/>
            </p:nvSpPr>
            <p:spPr>
              <a:xfrm>
                <a:off x="4958081" y="3762872"/>
                <a:ext cx="5542280" cy="101752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3200" b="1" i="1" smtClean="0">
                          <a:solidFill>
                            <a:schemeClr val="tx1"/>
                          </a:solidFill>
                          <a:latin typeface="Cambria Math" panose="02040503050406030204" pitchFamily="18" charset="0"/>
                        </a:rPr>
                        <m:t>𝑺𝒊𝒏</m:t>
                      </m:r>
                      <m:r>
                        <a:rPr lang="en-AU" sz="3200" b="1" i="1" smtClean="0">
                          <a:latin typeface="Cambria Math" panose="02040503050406030204" pitchFamily="18" charset="0"/>
                        </a:rPr>
                        <m:t> </m:t>
                      </m:r>
                      <m:r>
                        <a:rPr lang="en-AU" sz="3200" b="1" i="1" smtClean="0">
                          <a:latin typeface="Cambria Math" panose="02040503050406030204" pitchFamily="18" charset="0"/>
                        </a:rPr>
                        <m:t>𝟑𝟎</m:t>
                      </m:r>
                      <m:r>
                        <a:rPr lang="en-AU" sz="3200" b="1" i="1" smtClean="0">
                          <a:latin typeface="Cambria Math" panose="02040503050406030204" pitchFamily="18" charset="0"/>
                          <a:ea typeface="Cambria Math" panose="02040503050406030204" pitchFamily="18" charset="0"/>
                        </a:rPr>
                        <m:t>°= </m:t>
                      </m:r>
                      <m:f>
                        <m:fPr>
                          <m:ctrlPr>
                            <a:rPr lang="en-AU" sz="3200" b="1" i="1" smtClean="0">
                              <a:solidFill>
                                <a:schemeClr val="tx1"/>
                              </a:solidFill>
                              <a:latin typeface="Cambria Math" panose="02040503050406030204" pitchFamily="18" charset="0"/>
                              <a:ea typeface="Cambria Math" panose="02040503050406030204" pitchFamily="18" charset="0"/>
                            </a:rPr>
                          </m:ctrlPr>
                        </m:fPr>
                        <m:num>
                          <m:r>
                            <a:rPr lang="en-AU" sz="3200" b="1" i="1" smtClean="0">
                              <a:solidFill>
                                <a:schemeClr val="tx1"/>
                              </a:solidFill>
                              <a:latin typeface="Cambria Math" panose="02040503050406030204" pitchFamily="18" charset="0"/>
                              <a:ea typeface="Cambria Math" panose="02040503050406030204" pitchFamily="18" charset="0"/>
                            </a:rPr>
                            <m:t>𝟖𝟕</m:t>
                          </m:r>
                        </m:num>
                        <m:den>
                          <m:r>
                            <a:rPr lang="en-AU" sz="3200" b="1" i="1" smtClean="0">
                              <a:solidFill>
                                <a:schemeClr val="tx1"/>
                              </a:solidFill>
                              <a:latin typeface="Cambria Math" panose="02040503050406030204" pitchFamily="18" charset="0"/>
                              <a:ea typeface="Cambria Math" panose="02040503050406030204" pitchFamily="18" charset="0"/>
                            </a:rPr>
                            <m:t>𝒙</m:t>
                          </m:r>
                        </m:den>
                      </m:f>
                    </m:oMath>
                  </m:oMathPara>
                </a14:m>
                <a:endParaRPr lang="en-AU" sz="3200" b="1" dirty="0"/>
              </a:p>
            </p:txBody>
          </p:sp>
        </mc:Choice>
        <mc:Fallback xmlns="">
          <p:sp>
            <p:nvSpPr>
              <p:cNvPr id="44" name="TextBox 43"/>
              <p:cNvSpPr txBox="1">
                <a:spLocks noRot="1" noChangeAspect="1" noMove="1" noResize="1" noEditPoints="1" noAdjustHandles="1" noChangeArrowheads="1" noChangeShapeType="1" noTextEdit="1"/>
              </p:cNvSpPr>
              <p:nvPr/>
            </p:nvSpPr>
            <p:spPr>
              <a:xfrm>
                <a:off x="4958081" y="3762872"/>
                <a:ext cx="5542280" cy="1017523"/>
              </a:xfrm>
              <a:prstGeom prst="rect">
                <a:avLst/>
              </a:prstGeom>
              <a:blipFill rotWithShape="0">
                <a:blip r:embed="rId4"/>
                <a:stretch>
                  <a:fillRect/>
                </a:stretch>
              </a:blipFill>
            </p:spPr>
            <p:txBody>
              <a:bodyPr/>
              <a:lstStyle/>
              <a:p>
                <a:r>
                  <a:rPr lang="en-AU">
                    <a:noFill/>
                  </a:rPr>
                  <a:t> </a:t>
                </a:r>
              </a:p>
            </p:txBody>
          </p:sp>
        </mc:Fallback>
      </mc:AlternateContent>
      <p:pic>
        <p:nvPicPr>
          <p:cNvPr id="3" name="Picture 2"/>
          <p:cNvPicPr>
            <a:picLocks noChangeAspect="1"/>
          </p:cNvPicPr>
          <p:nvPr/>
        </p:nvPicPr>
        <p:blipFill>
          <a:blip r:embed="rId5"/>
          <a:stretch>
            <a:fillRect/>
          </a:stretch>
        </p:blipFill>
        <p:spPr>
          <a:xfrm>
            <a:off x="269000" y="4080147"/>
            <a:ext cx="4616312" cy="1779294"/>
          </a:xfrm>
          <a:prstGeom prst="rect">
            <a:avLst/>
          </a:prstGeom>
        </p:spPr>
      </p:pic>
      <p:sp>
        <p:nvSpPr>
          <p:cNvPr id="4" name="TextBox 3"/>
          <p:cNvSpPr txBox="1"/>
          <p:nvPr/>
        </p:nvSpPr>
        <p:spPr>
          <a:xfrm>
            <a:off x="279400" y="5938520"/>
            <a:ext cx="4617720" cy="430887"/>
          </a:xfrm>
          <a:prstGeom prst="rect">
            <a:avLst/>
          </a:prstGeom>
          <a:noFill/>
        </p:spPr>
        <p:txBody>
          <a:bodyPr wrap="square" rtlCol="0">
            <a:spAutoFit/>
          </a:bodyPr>
          <a:lstStyle/>
          <a:p>
            <a:r>
              <a:rPr lang="en-AU" sz="2200" dirty="0"/>
              <a:t>Cover up the side you want to find.</a:t>
            </a:r>
          </a:p>
        </p:txBody>
      </p:sp>
      <p:pic>
        <p:nvPicPr>
          <p:cNvPr id="5" name="Picture 4"/>
          <p:cNvPicPr>
            <a:picLocks noChangeAspect="1"/>
          </p:cNvPicPr>
          <p:nvPr/>
        </p:nvPicPr>
        <p:blipFill>
          <a:blip r:embed="rId6"/>
          <a:stretch>
            <a:fillRect/>
          </a:stretch>
        </p:blipFill>
        <p:spPr>
          <a:xfrm>
            <a:off x="972201" y="5290897"/>
            <a:ext cx="723900" cy="647623"/>
          </a:xfrm>
          <a:prstGeom prst="rect">
            <a:avLst/>
          </a:prstGeom>
        </p:spPr>
      </p:pic>
      <mc:AlternateContent xmlns:mc="http://schemas.openxmlformats.org/markup-compatibility/2006" xmlns:a14="http://schemas.microsoft.com/office/drawing/2010/main">
        <mc:Choice Requires="a14">
          <p:sp>
            <p:nvSpPr>
              <p:cNvPr id="17" name="TextBox 16"/>
              <p:cNvSpPr txBox="1"/>
              <p:nvPr/>
            </p:nvSpPr>
            <p:spPr>
              <a:xfrm>
                <a:off x="5161596" y="4777189"/>
                <a:ext cx="5542280" cy="101752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3200" b="1" i="1" smtClean="0">
                          <a:solidFill>
                            <a:schemeClr val="tx1"/>
                          </a:solidFill>
                          <a:latin typeface="Cambria Math" panose="02040503050406030204" pitchFamily="18" charset="0"/>
                        </a:rPr>
                        <m:t>𝒙</m:t>
                      </m:r>
                      <m:r>
                        <a:rPr lang="en-AU" sz="3200" b="1" i="1" smtClean="0">
                          <a:solidFill>
                            <a:schemeClr val="tx1"/>
                          </a:solidFill>
                          <a:latin typeface="Cambria Math" panose="02040503050406030204" pitchFamily="18" charset="0"/>
                        </a:rPr>
                        <m:t>=</m:t>
                      </m:r>
                      <m:f>
                        <m:fPr>
                          <m:ctrlPr>
                            <a:rPr lang="en-AU" sz="3200" b="1" i="1" smtClean="0">
                              <a:solidFill>
                                <a:schemeClr val="tx1"/>
                              </a:solidFill>
                              <a:latin typeface="Cambria Math" panose="02040503050406030204" pitchFamily="18" charset="0"/>
                              <a:ea typeface="Cambria Math" panose="02040503050406030204" pitchFamily="18" charset="0"/>
                            </a:rPr>
                          </m:ctrlPr>
                        </m:fPr>
                        <m:num>
                          <m:r>
                            <a:rPr lang="en-AU" sz="3200" b="1" i="1" smtClean="0">
                              <a:solidFill>
                                <a:schemeClr val="tx1"/>
                              </a:solidFill>
                              <a:latin typeface="Cambria Math" panose="02040503050406030204" pitchFamily="18" charset="0"/>
                              <a:ea typeface="Cambria Math" panose="02040503050406030204" pitchFamily="18" charset="0"/>
                            </a:rPr>
                            <m:t>𝟖𝟕</m:t>
                          </m:r>
                        </m:num>
                        <m:den>
                          <m:r>
                            <a:rPr lang="en-AU" sz="3200" b="1" i="1" smtClean="0">
                              <a:solidFill>
                                <a:schemeClr val="tx1"/>
                              </a:solidFill>
                              <a:latin typeface="Cambria Math" panose="02040503050406030204" pitchFamily="18" charset="0"/>
                              <a:ea typeface="Cambria Math" panose="02040503050406030204" pitchFamily="18" charset="0"/>
                            </a:rPr>
                            <m:t>𝑺𝒊𝒏</m:t>
                          </m:r>
                          <m:r>
                            <a:rPr lang="en-AU" sz="3200" b="1" i="1" smtClean="0">
                              <a:solidFill>
                                <a:schemeClr val="tx1"/>
                              </a:solidFill>
                              <a:latin typeface="Cambria Math" panose="02040503050406030204" pitchFamily="18" charset="0"/>
                              <a:ea typeface="Cambria Math" panose="02040503050406030204" pitchFamily="18" charset="0"/>
                            </a:rPr>
                            <m:t> </m:t>
                          </m:r>
                          <m:r>
                            <a:rPr lang="en-AU" sz="3200" b="1" i="1" smtClean="0">
                              <a:solidFill>
                                <a:schemeClr val="tx1"/>
                              </a:solidFill>
                              <a:latin typeface="Cambria Math" panose="02040503050406030204" pitchFamily="18" charset="0"/>
                              <a:ea typeface="Cambria Math" panose="02040503050406030204" pitchFamily="18" charset="0"/>
                            </a:rPr>
                            <m:t>𝟑𝟎</m:t>
                          </m:r>
                          <m:r>
                            <a:rPr lang="en-AU" sz="3200" b="1" i="1" smtClean="0">
                              <a:solidFill>
                                <a:schemeClr val="tx1"/>
                              </a:solidFill>
                              <a:latin typeface="Cambria Math" panose="02040503050406030204" pitchFamily="18" charset="0"/>
                              <a:ea typeface="Cambria Math" panose="02040503050406030204" pitchFamily="18" charset="0"/>
                            </a:rPr>
                            <m:t>°</m:t>
                          </m:r>
                        </m:den>
                      </m:f>
                    </m:oMath>
                  </m:oMathPara>
                </a14:m>
                <a:endParaRPr lang="en-AU" sz="3200" b="1" dirty="0"/>
              </a:p>
            </p:txBody>
          </p:sp>
        </mc:Choice>
        <mc:Fallback xmlns="">
          <p:sp>
            <p:nvSpPr>
              <p:cNvPr id="17" name="TextBox 16"/>
              <p:cNvSpPr txBox="1">
                <a:spLocks noRot="1" noChangeAspect="1" noMove="1" noResize="1" noEditPoints="1" noAdjustHandles="1" noChangeArrowheads="1" noChangeShapeType="1" noTextEdit="1"/>
              </p:cNvSpPr>
              <p:nvPr/>
            </p:nvSpPr>
            <p:spPr>
              <a:xfrm>
                <a:off x="5161596" y="4777189"/>
                <a:ext cx="5542280" cy="1017523"/>
              </a:xfrm>
              <a:prstGeom prst="rect">
                <a:avLst/>
              </a:prstGeom>
              <a:blipFill rotWithShape="0">
                <a:blip r:embed="rId7"/>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6273800" y="5938520"/>
                <a:ext cx="3680216" cy="5539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3000" b="1" i="1" smtClean="0">
                          <a:latin typeface="Cambria Math" panose="02040503050406030204" pitchFamily="18" charset="0"/>
                        </a:rPr>
                        <m:t>𝒙</m:t>
                      </m:r>
                      <m:r>
                        <a:rPr lang="en-AU" sz="3000" b="1" i="1" smtClean="0">
                          <a:latin typeface="Cambria Math" panose="02040503050406030204" pitchFamily="18" charset="0"/>
                        </a:rPr>
                        <m:t>=</m:t>
                      </m:r>
                      <m:r>
                        <a:rPr lang="en-AU" sz="3000" b="1" i="1" smtClean="0">
                          <a:latin typeface="Cambria Math" panose="02040503050406030204" pitchFamily="18" charset="0"/>
                        </a:rPr>
                        <m:t>𝟏𝟕𝟒</m:t>
                      </m:r>
                      <m:r>
                        <a:rPr lang="en-AU" sz="3000" b="1" i="1" smtClean="0">
                          <a:latin typeface="Cambria Math" panose="02040503050406030204" pitchFamily="18" charset="0"/>
                        </a:rPr>
                        <m:t>𝒎</m:t>
                      </m:r>
                    </m:oMath>
                  </m:oMathPara>
                </a14:m>
                <a:endParaRPr lang="en-AU" sz="3000" b="1" dirty="0"/>
              </a:p>
            </p:txBody>
          </p:sp>
        </mc:Choice>
        <mc:Fallback xmlns="">
          <p:sp>
            <p:nvSpPr>
              <p:cNvPr id="18" name="TextBox 17"/>
              <p:cNvSpPr txBox="1">
                <a:spLocks noRot="1" noChangeAspect="1" noMove="1" noResize="1" noEditPoints="1" noAdjustHandles="1" noChangeArrowheads="1" noChangeShapeType="1" noTextEdit="1"/>
              </p:cNvSpPr>
              <p:nvPr/>
            </p:nvSpPr>
            <p:spPr>
              <a:xfrm>
                <a:off x="6273800" y="5938520"/>
                <a:ext cx="3680216" cy="553998"/>
              </a:xfrm>
              <a:prstGeom prst="rect">
                <a:avLst/>
              </a:prstGeom>
              <a:blipFill rotWithShape="0">
                <a:blip r:embed="rId8"/>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474981" y="4876400"/>
                <a:ext cx="623569" cy="76944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sz="5000" b="1" i="1" smtClean="0">
                          <a:solidFill>
                            <a:srgbClr val="FF0000"/>
                          </a:solidFill>
                          <a:latin typeface="Cambria Math" panose="02040503050406030204" pitchFamily="18" charset="0"/>
                          <a:ea typeface="Cambria Math" panose="02040503050406030204" pitchFamily="18" charset="0"/>
                        </a:rPr>
                        <m:t>÷</m:t>
                      </m:r>
                    </m:oMath>
                  </m:oMathPara>
                </a14:m>
                <a:endParaRPr lang="en-AU" sz="5000" b="1" dirty="0">
                  <a:solidFill>
                    <a:srgbClr val="FF0000"/>
                  </a:solidFill>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474981" y="4876400"/>
                <a:ext cx="623569" cy="769441"/>
              </a:xfrm>
              <a:prstGeom prst="rect">
                <a:avLst/>
              </a:prstGeom>
              <a:blipFill rotWithShape="0">
                <a:blip r:embed="rId9"/>
                <a:stretch>
                  <a:fillRect/>
                </a:stretch>
              </a:blipFill>
            </p:spPr>
            <p:txBody>
              <a:bodyPr/>
              <a:lstStyle/>
              <a:p>
                <a:r>
                  <a:rPr lang="en-AU">
                    <a:noFill/>
                  </a:rPr>
                  <a:t> </a:t>
                </a:r>
              </a:p>
            </p:txBody>
          </p:sp>
        </mc:Fallback>
      </mc:AlternateContent>
      <p:sp>
        <p:nvSpPr>
          <p:cNvPr id="19" name="TextBox 18"/>
          <p:cNvSpPr txBox="1"/>
          <p:nvPr/>
        </p:nvSpPr>
        <p:spPr>
          <a:xfrm>
            <a:off x="0" y="0"/>
            <a:ext cx="1374405" cy="461665"/>
          </a:xfrm>
          <a:prstGeom prst="rect">
            <a:avLst/>
          </a:prstGeom>
          <a:solidFill>
            <a:srgbClr val="FFFF00"/>
          </a:solidFill>
        </p:spPr>
        <p:txBody>
          <a:bodyPr wrap="square" rtlCol="0">
            <a:spAutoFit/>
          </a:bodyPr>
          <a:lstStyle/>
          <a:p>
            <a:r>
              <a:rPr lang="en-AU" sz="2400" dirty="0" smtClean="0"/>
              <a:t>Examples</a:t>
            </a:r>
            <a:endParaRPr lang="en-AU" sz="2400" dirty="0"/>
          </a:p>
        </p:txBody>
      </p:sp>
    </p:spTree>
    <p:extLst>
      <p:ext uri="{BB962C8B-B14F-4D97-AF65-F5344CB8AC3E}">
        <p14:creationId xmlns:p14="http://schemas.microsoft.com/office/powerpoint/2010/main" val="296259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13">
                                            <p:txEl>
                                              <p:pRg st="0" end="0"/>
                                            </p:txEl>
                                          </p:spTgt>
                                        </p:tgtEl>
                                      </p:cBhvr>
                                    </p:animEffect>
                                    <p:animScale>
                                      <p:cBhvr>
                                        <p:cTn id="7" dur="250" autoRev="1" fill="hold"/>
                                        <p:tgtEl>
                                          <p:spTgt spid="13">
                                            <p:txEl>
                                              <p:pRg st="0" end="0"/>
                                            </p:txEl>
                                          </p:spTgt>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9"/>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40"/>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6" presetClass="emph" presetSubtype="0" fill="hold" nodeType="clickEffect">
                                  <p:stCondLst>
                                    <p:cond delay="0"/>
                                  </p:stCondLst>
                                  <p:childTnLst>
                                    <p:animEffect transition="out" filter="fade">
                                      <p:cBhvr>
                                        <p:cTn id="23" dur="500" tmFilter="0, 0; .2, .5; .8, .5; 1, 0"/>
                                        <p:tgtEl>
                                          <p:spTgt spid="13">
                                            <p:txEl>
                                              <p:pRg st="1" end="1"/>
                                            </p:txEl>
                                          </p:spTgt>
                                        </p:tgtEl>
                                      </p:cBhvr>
                                    </p:animEffect>
                                    <p:animScale>
                                      <p:cBhvr>
                                        <p:cTn id="24" dur="250" autoRev="1" fill="hold"/>
                                        <p:tgtEl>
                                          <p:spTgt spid="13">
                                            <p:txEl>
                                              <p:pRg st="1" end="1"/>
                                            </p:txEl>
                                          </p:spTgt>
                                        </p:tgtEl>
                                      </p:cBhvr>
                                      <p:by x="105000" y="105000"/>
                                    </p:animScale>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6" presetClass="emph" presetSubtype="0" fill="hold" nodeType="clickEffect">
                                  <p:stCondLst>
                                    <p:cond delay="0"/>
                                  </p:stCondLst>
                                  <p:childTnLst>
                                    <p:animEffect transition="out" filter="fade">
                                      <p:cBhvr>
                                        <p:cTn id="40" dur="500" tmFilter="0, 0; .2, .5; .8, .5; 1, 0"/>
                                        <p:tgtEl>
                                          <p:spTgt spid="13">
                                            <p:txEl>
                                              <p:pRg st="2" end="2"/>
                                            </p:txEl>
                                          </p:spTgt>
                                        </p:tgtEl>
                                      </p:cBhvr>
                                    </p:animEffect>
                                    <p:animScale>
                                      <p:cBhvr>
                                        <p:cTn id="41" dur="250" autoRev="1" fill="hold"/>
                                        <p:tgtEl>
                                          <p:spTgt spid="13">
                                            <p:txEl>
                                              <p:pRg st="2" end="2"/>
                                            </p:txEl>
                                          </p:spTgt>
                                        </p:tgtEl>
                                      </p:cBhvr>
                                      <p:by x="105000" y="105000"/>
                                    </p:animScale>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44"/>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26" presetClass="emph" presetSubtype="0" fill="hold" nodeType="clickEffect">
                                  <p:stCondLst>
                                    <p:cond delay="0"/>
                                  </p:stCondLst>
                                  <p:childTnLst>
                                    <p:animEffect transition="out" filter="fade">
                                      <p:cBhvr>
                                        <p:cTn id="49" dur="500" tmFilter="0, 0; .2, .5; .8, .5; 1, 0"/>
                                        <p:tgtEl>
                                          <p:spTgt spid="13">
                                            <p:txEl>
                                              <p:pRg st="3" end="3"/>
                                            </p:txEl>
                                          </p:spTgt>
                                        </p:tgtEl>
                                      </p:cBhvr>
                                    </p:animEffect>
                                    <p:animScale>
                                      <p:cBhvr>
                                        <p:cTn id="50" dur="250" autoRev="1" fill="hold"/>
                                        <p:tgtEl>
                                          <p:spTgt spid="13">
                                            <p:txEl>
                                              <p:pRg st="3" end="3"/>
                                            </p:txEl>
                                          </p:spTgt>
                                        </p:tgtEl>
                                      </p:cBhvr>
                                      <p:by x="105000" y="105000"/>
                                    </p:animScale>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42" grpId="0"/>
      <p:bldP spid="43" grpId="0"/>
      <p:bldP spid="44" grpId="0"/>
      <p:bldP spid="17" grpId="0"/>
      <p:bldP spid="18"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54000" y="1025589"/>
            <a:ext cx="3708784" cy="2419350"/>
          </a:xfrm>
          <a:prstGeom prst="rect">
            <a:avLst/>
          </a:prstGeom>
        </p:spPr>
      </p:pic>
      <p:sp>
        <p:nvSpPr>
          <p:cNvPr id="13" name="TextBox 12"/>
          <p:cNvSpPr txBox="1"/>
          <p:nvPr/>
        </p:nvSpPr>
        <p:spPr>
          <a:xfrm>
            <a:off x="7292203" y="199617"/>
            <a:ext cx="4716917" cy="1446550"/>
          </a:xfrm>
          <a:prstGeom prst="rect">
            <a:avLst/>
          </a:prstGeom>
          <a:solidFill>
            <a:srgbClr val="FFFF00"/>
          </a:solidFill>
          <a:ln>
            <a:solidFill>
              <a:schemeClr val="tx1"/>
            </a:solidFill>
          </a:ln>
        </p:spPr>
        <p:txBody>
          <a:bodyPr wrap="square" rtlCol="0">
            <a:spAutoFit/>
          </a:bodyPr>
          <a:lstStyle/>
          <a:p>
            <a:pPr algn="ctr"/>
            <a:r>
              <a:rPr lang="en-AU" sz="2200" dirty="0" smtClean="0"/>
              <a:t>Step 1: Label your triangle.</a:t>
            </a:r>
          </a:p>
          <a:p>
            <a:pPr algn="ctr"/>
            <a:r>
              <a:rPr lang="en-AU" sz="2200" dirty="0" smtClean="0"/>
              <a:t>Step 2: Decide the ratio you need.</a:t>
            </a:r>
          </a:p>
          <a:p>
            <a:pPr algn="ctr"/>
            <a:r>
              <a:rPr lang="en-AU" sz="2200" dirty="0" smtClean="0"/>
              <a:t>Step 3: Substitute in the values.</a:t>
            </a:r>
          </a:p>
          <a:p>
            <a:pPr algn="ctr"/>
            <a:r>
              <a:rPr lang="en-AU" sz="2200" dirty="0" smtClean="0"/>
              <a:t>Step 4: Solve the equation.</a:t>
            </a:r>
            <a:endParaRPr lang="en-AU" sz="2200" dirty="0"/>
          </a:p>
        </p:txBody>
      </p:sp>
      <p:cxnSp>
        <p:nvCxnSpPr>
          <p:cNvPr id="29" name="Straight Arrow Connector 28"/>
          <p:cNvCxnSpPr/>
          <p:nvPr/>
        </p:nvCxnSpPr>
        <p:spPr>
          <a:xfrm flipV="1">
            <a:off x="1290719" y="2199383"/>
            <a:ext cx="1270000" cy="102762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flipH="1" flipV="1">
            <a:off x="1335641" y="2199383"/>
            <a:ext cx="1900718" cy="916839"/>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H="1" flipV="1">
            <a:off x="1250079" y="3211594"/>
            <a:ext cx="2621280" cy="9063"/>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3957320" y="2026920"/>
            <a:ext cx="7914640" cy="430887"/>
          </a:xfrm>
          <a:prstGeom prst="rect">
            <a:avLst/>
          </a:prstGeom>
          <a:noFill/>
        </p:spPr>
        <p:txBody>
          <a:bodyPr wrap="square" rtlCol="0">
            <a:spAutoFit/>
          </a:bodyPr>
          <a:lstStyle/>
          <a:p>
            <a:r>
              <a:rPr lang="en-AU" sz="2200" dirty="0"/>
              <a:t>We know the </a:t>
            </a:r>
            <a:r>
              <a:rPr lang="en-AU" sz="2200" dirty="0">
                <a:solidFill>
                  <a:srgbClr val="FF0000"/>
                </a:solidFill>
              </a:rPr>
              <a:t>o</a:t>
            </a:r>
            <a:r>
              <a:rPr lang="en-AU" sz="2200" dirty="0"/>
              <a:t>pposite and the </a:t>
            </a:r>
            <a:r>
              <a:rPr lang="en-AU" sz="2200" dirty="0">
                <a:solidFill>
                  <a:srgbClr val="FF0000"/>
                </a:solidFill>
              </a:rPr>
              <a:t>h</a:t>
            </a:r>
            <a:r>
              <a:rPr lang="en-AU" sz="2200" dirty="0"/>
              <a:t>ypotenuse.</a:t>
            </a:r>
          </a:p>
        </p:txBody>
      </p:sp>
      <mc:AlternateContent xmlns:mc="http://schemas.openxmlformats.org/markup-compatibility/2006" xmlns:a14="http://schemas.microsoft.com/office/drawing/2010/main">
        <mc:Choice Requires="a14">
          <p:sp>
            <p:nvSpPr>
              <p:cNvPr id="42" name="TextBox 41"/>
              <p:cNvSpPr txBox="1"/>
              <p:nvPr/>
            </p:nvSpPr>
            <p:spPr>
              <a:xfrm>
                <a:off x="4958081" y="2495011"/>
                <a:ext cx="5542280" cy="101431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3200" b="1" i="1" smtClean="0">
                          <a:solidFill>
                            <a:srgbClr val="FF0000"/>
                          </a:solidFill>
                          <a:latin typeface="Cambria Math" panose="02040503050406030204" pitchFamily="18" charset="0"/>
                        </a:rPr>
                        <m:t>𝑺</m:t>
                      </m:r>
                      <m:r>
                        <a:rPr lang="en-AU" sz="3200" b="1" i="1" smtClean="0">
                          <a:latin typeface="Cambria Math" panose="02040503050406030204" pitchFamily="18" charset="0"/>
                        </a:rPr>
                        <m:t>𝒊𝒏</m:t>
                      </m:r>
                      <m:r>
                        <a:rPr lang="en-AU" sz="3200" b="1" i="1" smtClean="0">
                          <a:latin typeface="Cambria Math" panose="02040503050406030204" pitchFamily="18" charset="0"/>
                        </a:rPr>
                        <m:t> </m:t>
                      </m:r>
                      <m:r>
                        <a:rPr lang="en-AU" sz="3200" b="1" i="1" smtClean="0">
                          <a:latin typeface="Cambria Math" panose="02040503050406030204" pitchFamily="18" charset="0"/>
                          <a:ea typeface="Cambria Math" panose="02040503050406030204" pitchFamily="18" charset="0"/>
                        </a:rPr>
                        <m:t>𝜽</m:t>
                      </m:r>
                      <m:r>
                        <a:rPr lang="en-AU" sz="3200" b="1" i="1" smtClean="0">
                          <a:latin typeface="Cambria Math" panose="02040503050406030204" pitchFamily="18" charset="0"/>
                          <a:ea typeface="Cambria Math" panose="02040503050406030204" pitchFamily="18" charset="0"/>
                        </a:rPr>
                        <m:t>= </m:t>
                      </m:r>
                      <m:f>
                        <m:fPr>
                          <m:ctrlPr>
                            <a:rPr lang="en-AU" sz="3200" b="1" i="1" smtClean="0">
                              <a:latin typeface="Cambria Math" panose="02040503050406030204" pitchFamily="18" charset="0"/>
                              <a:ea typeface="Cambria Math" panose="02040503050406030204" pitchFamily="18" charset="0"/>
                            </a:rPr>
                          </m:ctrlPr>
                        </m:fPr>
                        <m:num>
                          <m:r>
                            <a:rPr lang="en-AU" sz="3200" b="1" i="1" smtClean="0">
                              <a:solidFill>
                                <a:srgbClr val="FF0000"/>
                              </a:solidFill>
                              <a:latin typeface="Cambria Math" panose="02040503050406030204" pitchFamily="18" charset="0"/>
                              <a:ea typeface="Cambria Math" panose="02040503050406030204" pitchFamily="18" charset="0"/>
                            </a:rPr>
                            <m:t>𝑶</m:t>
                          </m:r>
                        </m:num>
                        <m:den>
                          <m:r>
                            <a:rPr lang="en-AU" sz="3200" b="1" i="1" smtClean="0">
                              <a:solidFill>
                                <a:srgbClr val="FF0000"/>
                              </a:solidFill>
                              <a:latin typeface="Cambria Math" panose="02040503050406030204" pitchFamily="18" charset="0"/>
                              <a:ea typeface="Cambria Math" panose="02040503050406030204" pitchFamily="18" charset="0"/>
                            </a:rPr>
                            <m:t>𝑯</m:t>
                          </m:r>
                        </m:den>
                      </m:f>
                    </m:oMath>
                  </m:oMathPara>
                </a14:m>
                <a:endParaRPr lang="en-AU" sz="3200" b="1" dirty="0"/>
              </a:p>
            </p:txBody>
          </p:sp>
        </mc:Choice>
        <mc:Fallback xmlns="">
          <p:sp>
            <p:nvSpPr>
              <p:cNvPr id="42" name="TextBox 41"/>
              <p:cNvSpPr txBox="1">
                <a:spLocks noRot="1" noChangeAspect="1" noMove="1" noResize="1" noEditPoints="1" noAdjustHandles="1" noChangeArrowheads="1" noChangeShapeType="1" noTextEdit="1"/>
              </p:cNvSpPr>
              <p:nvPr/>
            </p:nvSpPr>
            <p:spPr>
              <a:xfrm>
                <a:off x="4958081" y="2495011"/>
                <a:ext cx="5542280" cy="1014317"/>
              </a:xfrm>
              <a:prstGeom prst="rect">
                <a:avLst/>
              </a:prstGeom>
              <a:blipFill rotWithShape="0">
                <a:blip r:embed="rId3"/>
                <a:stretch>
                  <a:fillRect/>
                </a:stretch>
              </a:blipFill>
            </p:spPr>
            <p:txBody>
              <a:bodyPr/>
              <a:lstStyle/>
              <a:p>
                <a:r>
                  <a:rPr lang="en-AU">
                    <a:noFill/>
                  </a:rPr>
                  <a:t> </a:t>
                </a:r>
              </a:p>
            </p:txBody>
          </p:sp>
        </mc:Fallback>
      </mc:AlternateContent>
      <p:sp>
        <p:nvSpPr>
          <p:cNvPr id="43" name="TextBox 42"/>
          <p:cNvSpPr txBox="1"/>
          <p:nvPr/>
        </p:nvSpPr>
        <p:spPr>
          <a:xfrm>
            <a:off x="3957319" y="2488585"/>
            <a:ext cx="3210560" cy="1015663"/>
          </a:xfrm>
          <a:prstGeom prst="rect">
            <a:avLst/>
          </a:prstGeom>
          <a:noFill/>
        </p:spPr>
        <p:txBody>
          <a:bodyPr wrap="square" rtlCol="0">
            <a:spAutoFit/>
          </a:bodyPr>
          <a:lstStyle/>
          <a:p>
            <a:r>
              <a:rPr lang="en-AU" sz="6000" b="1" dirty="0" smtClean="0">
                <a:solidFill>
                  <a:srgbClr val="FF0000"/>
                </a:solidFill>
              </a:rPr>
              <a:t>S O H</a:t>
            </a:r>
            <a:endParaRPr lang="en-AU" sz="6000" b="1" dirty="0">
              <a:solidFill>
                <a:srgbClr val="FF0000"/>
              </a:solidFill>
            </a:endParaRPr>
          </a:p>
        </p:txBody>
      </p:sp>
      <mc:AlternateContent xmlns:mc="http://schemas.openxmlformats.org/markup-compatibility/2006" xmlns:a14="http://schemas.microsoft.com/office/drawing/2010/main">
        <mc:Choice Requires="a14">
          <p:sp>
            <p:nvSpPr>
              <p:cNvPr id="44" name="TextBox 43"/>
              <p:cNvSpPr txBox="1"/>
              <p:nvPr/>
            </p:nvSpPr>
            <p:spPr>
              <a:xfrm>
                <a:off x="4958081" y="3762872"/>
                <a:ext cx="5542280" cy="101431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3200" b="1" i="1" smtClean="0">
                          <a:solidFill>
                            <a:schemeClr val="tx1"/>
                          </a:solidFill>
                          <a:latin typeface="Cambria Math" panose="02040503050406030204" pitchFamily="18" charset="0"/>
                        </a:rPr>
                        <m:t>𝑺</m:t>
                      </m:r>
                      <m:r>
                        <a:rPr lang="en-AU" sz="3200" b="1" i="1" smtClean="0">
                          <a:latin typeface="Cambria Math" panose="02040503050406030204" pitchFamily="18" charset="0"/>
                        </a:rPr>
                        <m:t>𝒊𝒏</m:t>
                      </m:r>
                      <m:r>
                        <a:rPr lang="en-AU" sz="3200" b="1" i="1" smtClean="0">
                          <a:latin typeface="Cambria Math" panose="02040503050406030204" pitchFamily="18" charset="0"/>
                        </a:rPr>
                        <m:t> </m:t>
                      </m:r>
                      <m:r>
                        <a:rPr lang="en-AU" sz="3200" b="1" i="1" smtClean="0">
                          <a:latin typeface="Cambria Math" panose="02040503050406030204" pitchFamily="18" charset="0"/>
                          <a:ea typeface="Cambria Math" panose="02040503050406030204" pitchFamily="18" charset="0"/>
                        </a:rPr>
                        <m:t>𝜽</m:t>
                      </m:r>
                      <m:r>
                        <a:rPr lang="en-AU" sz="3200" b="1" i="1" smtClean="0">
                          <a:latin typeface="Cambria Math" panose="02040503050406030204" pitchFamily="18" charset="0"/>
                          <a:ea typeface="Cambria Math" panose="02040503050406030204" pitchFamily="18" charset="0"/>
                        </a:rPr>
                        <m:t>=</m:t>
                      </m:r>
                      <m:f>
                        <m:fPr>
                          <m:ctrlPr>
                            <a:rPr lang="en-AU" sz="3200" b="1" i="1" smtClean="0">
                              <a:solidFill>
                                <a:schemeClr val="tx1"/>
                              </a:solidFill>
                              <a:latin typeface="Cambria Math" panose="02040503050406030204" pitchFamily="18" charset="0"/>
                              <a:ea typeface="Cambria Math" panose="02040503050406030204" pitchFamily="18" charset="0"/>
                            </a:rPr>
                          </m:ctrlPr>
                        </m:fPr>
                        <m:num>
                          <m:r>
                            <a:rPr lang="en-AU" sz="3200" b="1" i="1" smtClean="0">
                              <a:solidFill>
                                <a:schemeClr val="tx1"/>
                              </a:solidFill>
                              <a:latin typeface="Cambria Math" panose="02040503050406030204" pitchFamily="18" charset="0"/>
                              <a:ea typeface="Cambria Math" panose="02040503050406030204" pitchFamily="18" charset="0"/>
                            </a:rPr>
                            <m:t>𝟑𝟒</m:t>
                          </m:r>
                        </m:num>
                        <m:den>
                          <m:r>
                            <a:rPr lang="en-AU" sz="3200" b="1" i="1" smtClean="0">
                              <a:solidFill>
                                <a:schemeClr val="tx1"/>
                              </a:solidFill>
                              <a:latin typeface="Cambria Math" panose="02040503050406030204" pitchFamily="18" charset="0"/>
                              <a:ea typeface="Cambria Math" panose="02040503050406030204" pitchFamily="18" charset="0"/>
                            </a:rPr>
                            <m:t>𝟒𝟖</m:t>
                          </m:r>
                        </m:den>
                      </m:f>
                    </m:oMath>
                  </m:oMathPara>
                </a14:m>
                <a:endParaRPr lang="en-AU" sz="3200" b="1" dirty="0"/>
              </a:p>
            </p:txBody>
          </p:sp>
        </mc:Choice>
        <mc:Fallback xmlns="">
          <p:sp>
            <p:nvSpPr>
              <p:cNvPr id="44" name="TextBox 43"/>
              <p:cNvSpPr txBox="1">
                <a:spLocks noRot="1" noChangeAspect="1" noMove="1" noResize="1" noEditPoints="1" noAdjustHandles="1" noChangeArrowheads="1" noChangeShapeType="1" noTextEdit="1"/>
              </p:cNvSpPr>
              <p:nvPr/>
            </p:nvSpPr>
            <p:spPr>
              <a:xfrm>
                <a:off x="4958081" y="3762872"/>
                <a:ext cx="5542280" cy="1014317"/>
              </a:xfrm>
              <a:prstGeom prst="rect">
                <a:avLst/>
              </a:prstGeom>
              <a:blipFill rotWithShape="0">
                <a:blip r:embed="rId4"/>
                <a:stretch>
                  <a:fillRect/>
                </a:stretch>
              </a:blipFill>
            </p:spPr>
            <p:txBody>
              <a:bodyPr/>
              <a:lstStyle/>
              <a:p>
                <a:r>
                  <a:rPr lang="en-AU">
                    <a:noFill/>
                  </a:rPr>
                  <a:t> </a:t>
                </a:r>
              </a:p>
            </p:txBody>
          </p:sp>
        </mc:Fallback>
      </mc:AlternateContent>
      <p:sp>
        <p:nvSpPr>
          <p:cNvPr id="15" name="TextBox 14"/>
          <p:cNvSpPr txBox="1"/>
          <p:nvPr/>
        </p:nvSpPr>
        <p:spPr>
          <a:xfrm>
            <a:off x="553720" y="4566648"/>
            <a:ext cx="4927600" cy="769441"/>
          </a:xfrm>
          <a:prstGeom prst="rect">
            <a:avLst/>
          </a:prstGeom>
          <a:noFill/>
        </p:spPr>
        <p:txBody>
          <a:bodyPr wrap="square" rtlCol="0">
            <a:spAutoFit/>
          </a:bodyPr>
          <a:lstStyle/>
          <a:p>
            <a:pPr algn="ctr"/>
            <a:r>
              <a:rPr lang="en-AU" sz="2200" dirty="0" smtClean="0"/>
              <a:t>If you’re trying to find an angle, use the inverse function to solve.</a:t>
            </a:r>
          </a:p>
        </p:txBody>
      </p:sp>
      <mc:AlternateContent xmlns:mc="http://schemas.openxmlformats.org/markup-compatibility/2006" xmlns:a14="http://schemas.microsoft.com/office/drawing/2010/main">
        <mc:Choice Requires="a14">
          <p:sp>
            <p:nvSpPr>
              <p:cNvPr id="16" name="TextBox 15"/>
              <p:cNvSpPr txBox="1"/>
              <p:nvPr/>
            </p:nvSpPr>
            <p:spPr>
              <a:xfrm>
                <a:off x="5143500" y="4860832"/>
                <a:ext cx="5542280" cy="11988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AU" sz="3200" b="1" i="1" smtClean="0">
                              <a:latin typeface="Cambria Math" panose="02040503050406030204" pitchFamily="18" charset="0"/>
                              <a:ea typeface="Cambria Math" panose="02040503050406030204" pitchFamily="18" charset="0"/>
                            </a:rPr>
                          </m:ctrlPr>
                        </m:sSupPr>
                        <m:e>
                          <m:r>
                            <a:rPr lang="en-AU" sz="3200" b="1" i="1" smtClean="0">
                              <a:latin typeface="Cambria Math" panose="02040503050406030204" pitchFamily="18" charset="0"/>
                              <a:ea typeface="Cambria Math" panose="02040503050406030204" pitchFamily="18" charset="0"/>
                            </a:rPr>
                            <m:t>𝑺𝒊𝒏</m:t>
                          </m:r>
                        </m:e>
                        <m:sup>
                          <m:r>
                            <a:rPr lang="en-AU" sz="3200" b="1" i="1" smtClean="0">
                              <a:latin typeface="Cambria Math" panose="02040503050406030204" pitchFamily="18" charset="0"/>
                              <a:ea typeface="Cambria Math" panose="02040503050406030204" pitchFamily="18" charset="0"/>
                            </a:rPr>
                            <m:t>−</m:t>
                          </m:r>
                          <m:r>
                            <a:rPr lang="en-AU" sz="3200" b="1" i="1" smtClean="0">
                              <a:latin typeface="Cambria Math" panose="02040503050406030204" pitchFamily="18" charset="0"/>
                              <a:ea typeface="Cambria Math" panose="02040503050406030204" pitchFamily="18" charset="0"/>
                            </a:rPr>
                            <m:t>𝟏</m:t>
                          </m:r>
                        </m:sup>
                      </m:sSup>
                      <m:d>
                        <m:dPr>
                          <m:ctrlPr>
                            <a:rPr lang="en-AU" sz="3200" b="1" i="1" smtClean="0">
                              <a:latin typeface="Cambria Math" panose="02040503050406030204" pitchFamily="18" charset="0"/>
                              <a:ea typeface="Cambria Math" panose="02040503050406030204" pitchFamily="18" charset="0"/>
                            </a:rPr>
                          </m:ctrlPr>
                        </m:dPr>
                        <m:e>
                          <m:f>
                            <m:fPr>
                              <m:ctrlPr>
                                <a:rPr lang="en-AU" sz="3200" b="1" i="1" smtClean="0">
                                  <a:latin typeface="Cambria Math" panose="02040503050406030204" pitchFamily="18" charset="0"/>
                                  <a:ea typeface="Cambria Math" panose="02040503050406030204" pitchFamily="18" charset="0"/>
                                </a:rPr>
                              </m:ctrlPr>
                            </m:fPr>
                            <m:num>
                              <m:r>
                                <a:rPr lang="en-AU" sz="3200" b="1" i="1" smtClean="0">
                                  <a:latin typeface="Cambria Math" panose="02040503050406030204" pitchFamily="18" charset="0"/>
                                  <a:ea typeface="Cambria Math" panose="02040503050406030204" pitchFamily="18" charset="0"/>
                                </a:rPr>
                                <m:t>𝟑𝟒</m:t>
                              </m:r>
                            </m:num>
                            <m:den>
                              <m:r>
                                <a:rPr lang="en-AU" sz="3200" b="1" i="1" smtClean="0">
                                  <a:latin typeface="Cambria Math" panose="02040503050406030204" pitchFamily="18" charset="0"/>
                                  <a:ea typeface="Cambria Math" panose="02040503050406030204" pitchFamily="18" charset="0"/>
                                </a:rPr>
                                <m:t>𝟒𝟖</m:t>
                              </m:r>
                            </m:den>
                          </m:f>
                        </m:e>
                      </m:d>
                      <m:r>
                        <a:rPr lang="en-AU" sz="3200" b="1" i="1" smtClean="0">
                          <a:latin typeface="Cambria Math" panose="02040503050406030204" pitchFamily="18" charset="0"/>
                          <a:ea typeface="Cambria Math" panose="02040503050406030204" pitchFamily="18" charset="0"/>
                        </a:rPr>
                        <m:t>=</m:t>
                      </m:r>
                      <m:r>
                        <a:rPr lang="en-AU" sz="3200" b="1" i="1" smtClean="0">
                          <a:latin typeface="Cambria Math" panose="02040503050406030204" pitchFamily="18" charset="0"/>
                          <a:ea typeface="Cambria Math" panose="02040503050406030204" pitchFamily="18" charset="0"/>
                        </a:rPr>
                        <m:t>𝜽</m:t>
                      </m:r>
                    </m:oMath>
                  </m:oMathPara>
                </a14:m>
                <a:endParaRPr lang="en-AU" sz="3200" b="1" dirty="0"/>
              </a:p>
            </p:txBody>
          </p:sp>
        </mc:Choice>
        <mc:Fallback xmlns="">
          <p:sp>
            <p:nvSpPr>
              <p:cNvPr id="16" name="TextBox 15"/>
              <p:cNvSpPr txBox="1">
                <a:spLocks noRot="1" noChangeAspect="1" noMove="1" noResize="1" noEditPoints="1" noAdjustHandles="1" noChangeArrowheads="1" noChangeShapeType="1" noTextEdit="1"/>
              </p:cNvSpPr>
              <p:nvPr/>
            </p:nvSpPr>
            <p:spPr>
              <a:xfrm>
                <a:off x="5143500" y="4860832"/>
                <a:ext cx="5542280" cy="1198854"/>
              </a:xfrm>
              <a:prstGeom prst="rect">
                <a:avLst/>
              </a:prstGeom>
              <a:blipFill rotWithShape="0">
                <a:blip r:embed="rId5"/>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5374641" y="6128693"/>
                <a:ext cx="5542280"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3200" b="1" i="1" smtClean="0">
                          <a:latin typeface="Cambria Math" panose="02040503050406030204" pitchFamily="18" charset="0"/>
                          <a:ea typeface="Cambria Math" panose="02040503050406030204" pitchFamily="18" charset="0"/>
                        </a:rPr>
                        <m:t>𝜽</m:t>
                      </m:r>
                      <m:r>
                        <a:rPr lang="en-AU" sz="3200" b="1" i="1" smtClean="0">
                          <a:latin typeface="Cambria Math" panose="02040503050406030204" pitchFamily="18" charset="0"/>
                          <a:ea typeface="Cambria Math" panose="02040503050406030204" pitchFamily="18" charset="0"/>
                        </a:rPr>
                        <m:t>=</m:t>
                      </m:r>
                      <m:r>
                        <a:rPr lang="en-AU" sz="3200" b="1" i="1" smtClean="0">
                          <a:latin typeface="Cambria Math" panose="02040503050406030204" pitchFamily="18" charset="0"/>
                          <a:ea typeface="Cambria Math" panose="02040503050406030204" pitchFamily="18" charset="0"/>
                        </a:rPr>
                        <m:t>𝟒𝟓</m:t>
                      </m:r>
                      <m:r>
                        <a:rPr lang="en-AU" sz="3200" b="1" i="1" smtClean="0">
                          <a:latin typeface="Cambria Math" panose="02040503050406030204" pitchFamily="18" charset="0"/>
                          <a:ea typeface="Cambria Math" panose="02040503050406030204" pitchFamily="18" charset="0"/>
                        </a:rPr>
                        <m:t>.</m:t>
                      </m:r>
                      <m:r>
                        <a:rPr lang="en-AU" sz="3200" b="1" i="1" smtClean="0">
                          <a:latin typeface="Cambria Math" panose="02040503050406030204" pitchFamily="18" charset="0"/>
                          <a:ea typeface="Cambria Math" panose="02040503050406030204" pitchFamily="18" charset="0"/>
                        </a:rPr>
                        <m:t>𝟏𝟎</m:t>
                      </m:r>
                      <m:r>
                        <a:rPr lang="en-AU" sz="3200" b="1" i="1" smtClean="0">
                          <a:latin typeface="Cambria Math" panose="02040503050406030204" pitchFamily="18" charset="0"/>
                          <a:ea typeface="Cambria Math" panose="02040503050406030204" pitchFamily="18" charset="0"/>
                        </a:rPr>
                        <m:t>° (</m:t>
                      </m:r>
                      <m:r>
                        <a:rPr lang="en-AU" sz="3200" b="1" i="1" smtClean="0">
                          <a:latin typeface="Cambria Math" panose="02040503050406030204" pitchFamily="18" charset="0"/>
                          <a:ea typeface="Cambria Math" panose="02040503050406030204" pitchFamily="18" charset="0"/>
                        </a:rPr>
                        <m:t>𝟐</m:t>
                      </m:r>
                      <m:r>
                        <a:rPr lang="en-AU" sz="3200" b="1" i="1" smtClean="0">
                          <a:latin typeface="Cambria Math" panose="02040503050406030204" pitchFamily="18" charset="0"/>
                          <a:ea typeface="Cambria Math" panose="02040503050406030204" pitchFamily="18" charset="0"/>
                        </a:rPr>
                        <m:t>𝒅𝒑</m:t>
                      </m:r>
                      <m:r>
                        <a:rPr lang="en-AU" sz="3200" b="1" i="1" smtClean="0">
                          <a:latin typeface="Cambria Math" panose="02040503050406030204" pitchFamily="18" charset="0"/>
                          <a:ea typeface="Cambria Math" panose="02040503050406030204" pitchFamily="18" charset="0"/>
                        </a:rPr>
                        <m:t>)</m:t>
                      </m:r>
                    </m:oMath>
                  </m:oMathPara>
                </a14:m>
                <a:endParaRPr lang="en-AU" sz="3200" b="1" dirty="0"/>
              </a:p>
            </p:txBody>
          </p:sp>
        </mc:Choice>
        <mc:Fallback xmlns="">
          <p:sp>
            <p:nvSpPr>
              <p:cNvPr id="17" name="TextBox 16"/>
              <p:cNvSpPr txBox="1">
                <a:spLocks noRot="1" noChangeAspect="1" noMove="1" noResize="1" noEditPoints="1" noAdjustHandles="1" noChangeArrowheads="1" noChangeShapeType="1" noTextEdit="1"/>
              </p:cNvSpPr>
              <p:nvPr/>
            </p:nvSpPr>
            <p:spPr>
              <a:xfrm>
                <a:off x="5374641" y="6128693"/>
                <a:ext cx="5542280" cy="584775"/>
              </a:xfrm>
              <a:prstGeom prst="rect">
                <a:avLst/>
              </a:prstGeom>
              <a:blipFill rotWithShape="0">
                <a:blip r:embed="rId6"/>
                <a:stretch>
                  <a:fillRect/>
                </a:stretch>
              </a:blipFill>
            </p:spPr>
            <p:txBody>
              <a:bodyPr/>
              <a:lstStyle/>
              <a:p>
                <a:r>
                  <a:rPr lang="en-AU">
                    <a:noFill/>
                  </a:rPr>
                  <a:t> </a:t>
                </a:r>
              </a:p>
            </p:txBody>
          </p:sp>
        </mc:Fallback>
      </mc:AlternateContent>
      <p:sp>
        <p:nvSpPr>
          <p:cNvPr id="22" name="TextBox 21"/>
          <p:cNvSpPr txBox="1"/>
          <p:nvPr/>
        </p:nvSpPr>
        <p:spPr>
          <a:xfrm>
            <a:off x="0" y="0"/>
            <a:ext cx="1374405" cy="461665"/>
          </a:xfrm>
          <a:prstGeom prst="rect">
            <a:avLst/>
          </a:prstGeom>
          <a:solidFill>
            <a:srgbClr val="FFFF00"/>
          </a:solidFill>
        </p:spPr>
        <p:txBody>
          <a:bodyPr wrap="square" rtlCol="0">
            <a:spAutoFit/>
          </a:bodyPr>
          <a:lstStyle/>
          <a:p>
            <a:r>
              <a:rPr lang="en-AU" sz="2400" dirty="0" smtClean="0"/>
              <a:t>Examples</a:t>
            </a:r>
            <a:endParaRPr lang="en-AU" sz="2400" dirty="0"/>
          </a:p>
        </p:txBody>
      </p:sp>
      <p:pic>
        <p:nvPicPr>
          <p:cNvPr id="3" name="Picture 2"/>
          <p:cNvPicPr>
            <a:picLocks noChangeAspect="1"/>
          </p:cNvPicPr>
          <p:nvPr/>
        </p:nvPicPr>
        <p:blipFill>
          <a:blip r:embed="rId7"/>
          <a:stretch>
            <a:fillRect/>
          </a:stretch>
        </p:blipFill>
        <p:spPr>
          <a:xfrm>
            <a:off x="889123" y="5645886"/>
            <a:ext cx="4086225" cy="895350"/>
          </a:xfrm>
          <a:prstGeom prst="rect">
            <a:avLst/>
          </a:prstGeom>
        </p:spPr>
      </p:pic>
    </p:spTree>
    <p:extLst>
      <p:ext uri="{BB962C8B-B14F-4D97-AF65-F5344CB8AC3E}">
        <p14:creationId xmlns:p14="http://schemas.microsoft.com/office/powerpoint/2010/main" val="972998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13">
                                            <p:txEl>
                                              <p:pRg st="0" end="0"/>
                                            </p:txEl>
                                          </p:spTgt>
                                        </p:tgtEl>
                                      </p:cBhvr>
                                    </p:animEffect>
                                    <p:animScale>
                                      <p:cBhvr>
                                        <p:cTn id="7" dur="250" autoRev="1" fill="hold"/>
                                        <p:tgtEl>
                                          <p:spTgt spid="13">
                                            <p:txEl>
                                              <p:pRg st="0" end="0"/>
                                            </p:txEl>
                                          </p:spTgt>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9"/>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40"/>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6" presetClass="emph" presetSubtype="0" fill="hold" nodeType="clickEffect">
                                  <p:stCondLst>
                                    <p:cond delay="0"/>
                                  </p:stCondLst>
                                  <p:childTnLst>
                                    <p:animEffect transition="out" filter="fade">
                                      <p:cBhvr>
                                        <p:cTn id="23" dur="500" tmFilter="0, 0; .2, .5; .8, .5; 1, 0"/>
                                        <p:tgtEl>
                                          <p:spTgt spid="13">
                                            <p:txEl>
                                              <p:pRg st="1" end="1"/>
                                            </p:txEl>
                                          </p:spTgt>
                                        </p:tgtEl>
                                      </p:cBhvr>
                                    </p:animEffect>
                                    <p:animScale>
                                      <p:cBhvr>
                                        <p:cTn id="24" dur="250" autoRev="1" fill="hold"/>
                                        <p:tgtEl>
                                          <p:spTgt spid="13">
                                            <p:txEl>
                                              <p:pRg st="1" end="1"/>
                                            </p:txEl>
                                          </p:spTgt>
                                        </p:tgtEl>
                                      </p:cBhvr>
                                      <p:by x="105000" y="105000"/>
                                    </p:animScale>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6" presetClass="emph" presetSubtype="0" fill="hold" nodeType="clickEffect">
                                  <p:stCondLst>
                                    <p:cond delay="0"/>
                                  </p:stCondLst>
                                  <p:childTnLst>
                                    <p:animEffect transition="out" filter="fade">
                                      <p:cBhvr>
                                        <p:cTn id="40" dur="500" tmFilter="0, 0; .2, .5; .8, .5; 1, 0"/>
                                        <p:tgtEl>
                                          <p:spTgt spid="13">
                                            <p:txEl>
                                              <p:pRg st="2" end="2"/>
                                            </p:txEl>
                                          </p:spTgt>
                                        </p:tgtEl>
                                      </p:cBhvr>
                                    </p:animEffect>
                                    <p:animScale>
                                      <p:cBhvr>
                                        <p:cTn id="41" dur="250" autoRev="1" fill="hold"/>
                                        <p:tgtEl>
                                          <p:spTgt spid="13">
                                            <p:txEl>
                                              <p:pRg st="2" end="2"/>
                                            </p:txEl>
                                          </p:spTgt>
                                        </p:tgtEl>
                                      </p:cBhvr>
                                      <p:by x="105000" y="105000"/>
                                    </p:animScale>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44"/>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26" presetClass="emph" presetSubtype="0" fill="hold" nodeType="clickEffect">
                                  <p:stCondLst>
                                    <p:cond delay="0"/>
                                  </p:stCondLst>
                                  <p:childTnLst>
                                    <p:animEffect transition="out" filter="fade">
                                      <p:cBhvr>
                                        <p:cTn id="49" dur="500" tmFilter="0, 0; .2, .5; .8, .5; 1, 0"/>
                                        <p:tgtEl>
                                          <p:spTgt spid="13">
                                            <p:txEl>
                                              <p:pRg st="3" end="3"/>
                                            </p:txEl>
                                          </p:spTgt>
                                        </p:tgtEl>
                                      </p:cBhvr>
                                    </p:animEffect>
                                    <p:animScale>
                                      <p:cBhvr>
                                        <p:cTn id="50" dur="250" autoRev="1" fill="hold"/>
                                        <p:tgtEl>
                                          <p:spTgt spid="13">
                                            <p:txEl>
                                              <p:pRg st="3" end="3"/>
                                            </p:txEl>
                                          </p:spTgt>
                                        </p:tgtEl>
                                      </p:cBhvr>
                                      <p:by x="105000" y="105000"/>
                                    </p:animScale>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42" grpId="0"/>
      <p:bldP spid="43" grpId="0"/>
      <p:bldP spid="44" grpId="0"/>
      <p:bldP spid="15" grpId="0"/>
      <p:bldP spid="16" grpId="0"/>
      <p:bldP spid="1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8463" y="972341"/>
            <a:ext cx="3938855" cy="2515240"/>
          </a:xfrm>
          <a:prstGeom prst="rect">
            <a:avLst/>
          </a:prstGeom>
        </p:spPr>
      </p:pic>
      <p:sp>
        <p:nvSpPr>
          <p:cNvPr id="13" name="TextBox 12"/>
          <p:cNvSpPr txBox="1"/>
          <p:nvPr/>
        </p:nvSpPr>
        <p:spPr>
          <a:xfrm>
            <a:off x="7292203" y="199617"/>
            <a:ext cx="4716917" cy="1446550"/>
          </a:xfrm>
          <a:prstGeom prst="rect">
            <a:avLst/>
          </a:prstGeom>
          <a:solidFill>
            <a:srgbClr val="FFFF00"/>
          </a:solidFill>
          <a:ln>
            <a:solidFill>
              <a:schemeClr val="tx1"/>
            </a:solidFill>
          </a:ln>
        </p:spPr>
        <p:txBody>
          <a:bodyPr wrap="square" rtlCol="0">
            <a:spAutoFit/>
          </a:bodyPr>
          <a:lstStyle/>
          <a:p>
            <a:pPr algn="ctr"/>
            <a:r>
              <a:rPr lang="en-AU" sz="2200" dirty="0" smtClean="0"/>
              <a:t>Step 1: Label your triangle.</a:t>
            </a:r>
          </a:p>
          <a:p>
            <a:pPr algn="ctr"/>
            <a:r>
              <a:rPr lang="en-AU" sz="2200" dirty="0" smtClean="0"/>
              <a:t>Step 2: Decide the ratio you need.</a:t>
            </a:r>
          </a:p>
          <a:p>
            <a:pPr algn="ctr"/>
            <a:r>
              <a:rPr lang="en-AU" sz="2200" dirty="0" smtClean="0"/>
              <a:t>Step 3: Substitute in the values.</a:t>
            </a:r>
          </a:p>
          <a:p>
            <a:pPr algn="ctr"/>
            <a:r>
              <a:rPr lang="en-AU" sz="2200" dirty="0" smtClean="0"/>
              <a:t>Step 4: Solve the equation.</a:t>
            </a:r>
            <a:endParaRPr lang="en-AU" sz="2200" dirty="0"/>
          </a:p>
        </p:txBody>
      </p:sp>
      <p:cxnSp>
        <p:nvCxnSpPr>
          <p:cNvPr id="29" name="Straight Arrow Connector 28"/>
          <p:cNvCxnSpPr/>
          <p:nvPr/>
        </p:nvCxnSpPr>
        <p:spPr>
          <a:xfrm>
            <a:off x="949960" y="1391920"/>
            <a:ext cx="1115061" cy="101170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flipH="1">
            <a:off x="949960" y="1620908"/>
            <a:ext cx="2006600" cy="636844"/>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H="1">
            <a:off x="864000" y="1281749"/>
            <a:ext cx="2874880" cy="29752"/>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3957320" y="2026920"/>
            <a:ext cx="7914640" cy="430887"/>
          </a:xfrm>
          <a:prstGeom prst="rect">
            <a:avLst/>
          </a:prstGeom>
          <a:noFill/>
        </p:spPr>
        <p:txBody>
          <a:bodyPr wrap="square" rtlCol="0">
            <a:spAutoFit/>
          </a:bodyPr>
          <a:lstStyle/>
          <a:p>
            <a:r>
              <a:rPr lang="en-AU" sz="2200" dirty="0"/>
              <a:t>We know </a:t>
            </a:r>
            <a:r>
              <a:rPr lang="en-AU" sz="2200" dirty="0" smtClean="0"/>
              <a:t>the </a:t>
            </a:r>
            <a:r>
              <a:rPr lang="en-AU" sz="2200" dirty="0" smtClean="0">
                <a:solidFill>
                  <a:srgbClr val="00B050"/>
                </a:solidFill>
              </a:rPr>
              <a:t>o</a:t>
            </a:r>
            <a:r>
              <a:rPr lang="en-AU" sz="2200" dirty="0" smtClean="0"/>
              <a:t>pposite and the </a:t>
            </a:r>
            <a:r>
              <a:rPr lang="en-AU" sz="2200" dirty="0" smtClean="0">
                <a:solidFill>
                  <a:srgbClr val="00B050"/>
                </a:solidFill>
              </a:rPr>
              <a:t>a</a:t>
            </a:r>
            <a:r>
              <a:rPr lang="en-AU" sz="2200" dirty="0" smtClean="0"/>
              <a:t>djacent.</a:t>
            </a:r>
            <a:endParaRPr lang="en-AU" sz="2200" dirty="0"/>
          </a:p>
        </p:txBody>
      </p:sp>
      <mc:AlternateContent xmlns:mc="http://schemas.openxmlformats.org/markup-compatibility/2006" xmlns:a14="http://schemas.microsoft.com/office/drawing/2010/main">
        <mc:Choice Requires="a14">
          <p:sp>
            <p:nvSpPr>
              <p:cNvPr id="42" name="TextBox 41"/>
              <p:cNvSpPr txBox="1"/>
              <p:nvPr/>
            </p:nvSpPr>
            <p:spPr>
              <a:xfrm>
                <a:off x="4958081" y="2494059"/>
                <a:ext cx="5542280" cy="101431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3200" b="1" i="1" smtClean="0">
                          <a:solidFill>
                            <a:srgbClr val="00B050"/>
                          </a:solidFill>
                          <a:latin typeface="Cambria Math" panose="02040503050406030204" pitchFamily="18" charset="0"/>
                        </a:rPr>
                        <m:t>𝑻</m:t>
                      </m:r>
                      <m:r>
                        <a:rPr lang="en-AU" sz="3200" b="1" i="1" smtClean="0">
                          <a:latin typeface="Cambria Math" panose="02040503050406030204" pitchFamily="18" charset="0"/>
                        </a:rPr>
                        <m:t>𝒂𝒏</m:t>
                      </m:r>
                      <m:r>
                        <a:rPr lang="en-AU" sz="3200" b="1" i="1" smtClean="0">
                          <a:latin typeface="Cambria Math" panose="02040503050406030204" pitchFamily="18" charset="0"/>
                        </a:rPr>
                        <m:t> </m:t>
                      </m:r>
                      <m:r>
                        <a:rPr lang="en-AU" sz="3200" b="1" i="1" smtClean="0">
                          <a:latin typeface="Cambria Math" panose="02040503050406030204" pitchFamily="18" charset="0"/>
                          <a:ea typeface="Cambria Math" panose="02040503050406030204" pitchFamily="18" charset="0"/>
                        </a:rPr>
                        <m:t>𝜽</m:t>
                      </m:r>
                      <m:r>
                        <a:rPr lang="en-AU" sz="3200" b="1" i="1" smtClean="0">
                          <a:latin typeface="Cambria Math" panose="02040503050406030204" pitchFamily="18" charset="0"/>
                          <a:ea typeface="Cambria Math" panose="02040503050406030204" pitchFamily="18" charset="0"/>
                        </a:rPr>
                        <m:t>= </m:t>
                      </m:r>
                      <m:f>
                        <m:fPr>
                          <m:ctrlPr>
                            <a:rPr lang="en-AU" sz="3200" b="1" i="1" smtClean="0">
                              <a:latin typeface="Cambria Math" panose="02040503050406030204" pitchFamily="18" charset="0"/>
                              <a:ea typeface="Cambria Math" panose="02040503050406030204" pitchFamily="18" charset="0"/>
                            </a:rPr>
                          </m:ctrlPr>
                        </m:fPr>
                        <m:num>
                          <m:r>
                            <a:rPr lang="en-AU" sz="3200" b="1" i="1" smtClean="0">
                              <a:solidFill>
                                <a:srgbClr val="00B050"/>
                              </a:solidFill>
                              <a:latin typeface="Cambria Math" panose="02040503050406030204" pitchFamily="18" charset="0"/>
                              <a:ea typeface="Cambria Math" panose="02040503050406030204" pitchFamily="18" charset="0"/>
                            </a:rPr>
                            <m:t>𝑶</m:t>
                          </m:r>
                        </m:num>
                        <m:den>
                          <m:r>
                            <a:rPr lang="en-AU" sz="3200" b="1" i="1" smtClean="0">
                              <a:solidFill>
                                <a:srgbClr val="00B050"/>
                              </a:solidFill>
                              <a:latin typeface="Cambria Math" panose="02040503050406030204" pitchFamily="18" charset="0"/>
                              <a:ea typeface="Cambria Math" panose="02040503050406030204" pitchFamily="18" charset="0"/>
                            </a:rPr>
                            <m:t>𝑨</m:t>
                          </m:r>
                        </m:den>
                      </m:f>
                    </m:oMath>
                  </m:oMathPara>
                </a14:m>
                <a:endParaRPr lang="en-AU" sz="3200" b="1" dirty="0"/>
              </a:p>
            </p:txBody>
          </p:sp>
        </mc:Choice>
        <mc:Fallback xmlns="">
          <p:sp>
            <p:nvSpPr>
              <p:cNvPr id="42" name="TextBox 41"/>
              <p:cNvSpPr txBox="1">
                <a:spLocks noRot="1" noChangeAspect="1" noMove="1" noResize="1" noEditPoints="1" noAdjustHandles="1" noChangeArrowheads="1" noChangeShapeType="1" noTextEdit="1"/>
              </p:cNvSpPr>
              <p:nvPr/>
            </p:nvSpPr>
            <p:spPr>
              <a:xfrm>
                <a:off x="4958081" y="2494059"/>
                <a:ext cx="5542280" cy="1014317"/>
              </a:xfrm>
              <a:prstGeom prst="rect">
                <a:avLst/>
              </a:prstGeom>
              <a:blipFill rotWithShape="0">
                <a:blip r:embed="rId3"/>
                <a:stretch>
                  <a:fillRect/>
                </a:stretch>
              </a:blipFill>
            </p:spPr>
            <p:txBody>
              <a:bodyPr/>
              <a:lstStyle/>
              <a:p>
                <a:r>
                  <a:rPr lang="en-AU">
                    <a:noFill/>
                  </a:rPr>
                  <a:t> </a:t>
                </a:r>
              </a:p>
            </p:txBody>
          </p:sp>
        </mc:Fallback>
      </mc:AlternateContent>
      <p:sp>
        <p:nvSpPr>
          <p:cNvPr id="43" name="TextBox 42"/>
          <p:cNvSpPr txBox="1"/>
          <p:nvPr/>
        </p:nvSpPr>
        <p:spPr>
          <a:xfrm>
            <a:off x="3957319" y="2488585"/>
            <a:ext cx="3210560" cy="1015663"/>
          </a:xfrm>
          <a:prstGeom prst="rect">
            <a:avLst/>
          </a:prstGeom>
          <a:noFill/>
        </p:spPr>
        <p:txBody>
          <a:bodyPr wrap="square" rtlCol="0">
            <a:spAutoFit/>
          </a:bodyPr>
          <a:lstStyle/>
          <a:p>
            <a:r>
              <a:rPr lang="en-AU" sz="6000" b="1" dirty="0" smtClean="0">
                <a:solidFill>
                  <a:srgbClr val="00B050"/>
                </a:solidFill>
              </a:rPr>
              <a:t>T O A</a:t>
            </a:r>
            <a:endParaRPr lang="en-AU" sz="6000" b="1" dirty="0">
              <a:solidFill>
                <a:srgbClr val="00B050"/>
              </a:solidFill>
            </a:endParaRPr>
          </a:p>
        </p:txBody>
      </p:sp>
      <mc:AlternateContent xmlns:mc="http://schemas.openxmlformats.org/markup-compatibility/2006" xmlns:a14="http://schemas.microsoft.com/office/drawing/2010/main">
        <mc:Choice Requires="a14">
          <p:sp>
            <p:nvSpPr>
              <p:cNvPr id="44" name="TextBox 43"/>
              <p:cNvSpPr txBox="1"/>
              <p:nvPr/>
            </p:nvSpPr>
            <p:spPr>
              <a:xfrm>
                <a:off x="4958081" y="3762872"/>
                <a:ext cx="5542280" cy="102771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3200" b="1" i="1" smtClean="0">
                          <a:latin typeface="Cambria Math" panose="02040503050406030204" pitchFamily="18" charset="0"/>
                        </a:rPr>
                        <m:t>𝑻𝒂𝒏</m:t>
                      </m:r>
                      <m:r>
                        <a:rPr lang="en-AU" sz="3200" b="1" i="1" smtClean="0">
                          <a:latin typeface="Cambria Math" panose="02040503050406030204" pitchFamily="18" charset="0"/>
                        </a:rPr>
                        <m:t> </m:t>
                      </m:r>
                      <m:r>
                        <a:rPr lang="en-AU" sz="3200" b="1" i="1" smtClean="0">
                          <a:latin typeface="Cambria Math" panose="02040503050406030204" pitchFamily="18" charset="0"/>
                          <a:ea typeface="Cambria Math" panose="02040503050406030204" pitchFamily="18" charset="0"/>
                        </a:rPr>
                        <m:t>𝜽</m:t>
                      </m:r>
                      <m:r>
                        <a:rPr lang="en-AU" sz="3200" b="1" i="1" smtClean="0">
                          <a:latin typeface="Cambria Math" panose="02040503050406030204" pitchFamily="18" charset="0"/>
                          <a:ea typeface="Cambria Math" panose="02040503050406030204" pitchFamily="18" charset="0"/>
                        </a:rPr>
                        <m:t>=</m:t>
                      </m:r>
                      <m:f>
                        <m:fPr>
                          <m:ctrlPr>
                            <a:rPr lang="en-AU" sz="3200" b="1" i="1" smtClean="0">
                              <a:solidFill>
                                <a:schemeClr val="tx1"/>
                              </a:solidFill>
                              <a:latin typeface="Cambria Math" panose="02040503050406030204" pitchFamily="18" charset="0"/>
                              <a:ea typeface="Cambria Math" panose="02040503050406030204" pitchFamily="18" charset="0"/>
                            </a:rPr>
                          </m:ctrlPr>
                        </m:fPr>
                        <m:num>
                          <m:r>
                            <a:rPr lang="en-AU" sz="3200" b="1" i="1" smtClean="0">
                              <a:solidFill>
                                <a:schemeClr val="tx1"/>
                              </a:solidFill>
                              <a:latin typeface="Cambria Math" panose="02040503050406030204" pitchFamily="18" charset="0"/>
                              <a:ea typeface="Cambria Math" panose="02040503050406030204" pitchFamily="18" charset="0"/>
                            </a:rPr>
                            <m:t>𝟐𝟒</m:t>
                          </m:r>
                        </m:num>
                        <m:den>
                          <m:r>
                            <a:rPr lang="en-AU" sz="3200" b="1" i="1" smtClean="0">
                              <a:solidFill>
                                <a:schemeClr val="tx1"/>
                              </a:solidFill>
                              <a:latin typeface="Cambria Math" panose="02040503050406030204" pitchFamily="18" charset="0"/>
                              <a:ea typeface="Cambria Math" panose="02040503050406030204" pitchFamily="18" charset="0"/>
                            </a:rPr>
                            <m:t>𝟑𝟓</m:t>
                          </m:r>
                        </m:den>
                      </m:f>
                    </m:oMath>
                  </m:oMathPara>
                </a14:m>
                <a:endParaRPr lang="en-AU" sz="3200" b="1" dirty="0"/>
              </a:p>
            </p:txBody>
          </p:sp>
        </mc:Choice>
        <mc:Fallback xmlns="">
          <p:sp>
            <p:nvSpPr>
              <p:cNvPr id="44" name="TextBox 43"/>
              <p:cNvSpPr txBox="1">
                <a:spLocks noRot="1" noChangeAspect="1" noMove="1" noResize="1" noEditPoints="1" noAdjustHandles="1" noChangeArrowheads="1" noChangeShapeType="1" noTextEdit="1"/>
              </p:cNvSpPr>
              <p:nvPr/>
            </p:nvSpPr>
            <p:spPr>
              <a:xfrm>
                <a:off x="4958081" y="3762872"/>
                <a:ext cx="5542280" cy="1027717"/>
              </a:xfrm>
              <a:prstGeom prst="rect">
                <a:avLst/>
              </a:prstGeom>
              <a:blipFill rotWithShape="0">
                <a:blip r:embed="rId4"/>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5143500" y="4860832"/>
                <a:ext cx="5542280" cy="11988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AU" sz="3200" b="1" i="1" smtClean="0">
                              <a:latin typeface="Cambria Math" panose="02040503050406030204" pitchFamily="18" charset="0"/>
                              <a:ea typeface="Cambria Math" panose="02040503050406030204" pitchFamily="18" charset="0"/>
                            </a:rPr>
                          </m:ctrlPr>
                        </m:sSupPr>
                        <m:e>
                          <m:r>
                            <a:rPr lang="en-AU" sz="3200" b="1" i="1" smtClean="0">
                              <a:latin typeface="Cambria Math" panose="02040503050406030204" pitchFamily="18" charset="0"/>
                              <a:ea typeface="Cambria Math" panose="02040503050406030204" pitchFamily="18" charset="0"/>
                            </a:rPr>
                            <m:t>𝑻𝒂𝒏</m:t>
                          </m:r>
                        </m:e>
                        <m:sup>
                          <m:r>
                            <a:rPr lang="en-AU" sz="3200" b="1" i="1" smtClean="0">
                              <a:latin typeface="Cambria Math" panose="02040503050406030204" pitchFamily="18" charset="0"/>
                              <a:ea typeface="Cambria Math" panose="02040503050406030204" pitchFamily="18" charset="0"/>
                            </a:rPr>
                            <m:t>−</m:t>
                          </m:r>
                          <m:r>
                            <a:rPr lang="en-AU" sz="3200" b="1" i="1" smtClean="0">
                              <a:latin typeface="Cambria Math" panose="02040503050406030204" pitchFamily="18" charset="0"/>
                              <a:ea typeface="Cambria Math" panose="02040503050406030204" pitchFamily="18" charset="0"/>
                            </a:rPr>
                            <m:t>𝟏</m:t>
                          </m:r>
                        </m:sup>
                      </m:sSup>
                      <m:d>
                        <m:dPr>
                          <m:ctrlPr>
                            <a:rPr lang="en-AU" sz="3200" b="1" i="1" smtClean="0">
                              <a:latin typeface="Cambria Math" panose="02040503050406030204" pitchFamily="18" charset="0"/>
                              <a:ea typeface="Cambria Math" panose="02040503050406030204" pitchFamily="18" charset="0"/>
                            </a:rPr>
                          </m:ctrlPr>
                        </m:dPr>
                        <m:e>
                          <m:f>
                            <m:fPr>
                              <m:ctrlPr>
                                <a:rPr lang="en-AU" sz="3200" b="1" i="1" smtClean="0">
                                  <a:latin typeface="Cambria Math" panose="02040503050406030204" pitchFamily="18" charset="0"/>
                                  <a:ea typeface="Cambria Math" panose="02040503050406030204" pitchFamily="18" charset="0"/>
                                </a:rPr>
                              </m:ctrlPr>
                            </m:fPr>
                            <m:num>
                              <m:r>
                                <a:rPr lang="en-AU" sz="3200" b="1" i="1" smtClean="0">
                                  <a:latin typeface="Cambria Math" panose="02040503050406030204" pitchFamily="18" charset="0"/>
                                  <a:ea typeface="Cambria Math" panose="02040503050406030204" pitchFamily="18" charset="0"/>
                                </a:rPr>
                                <m:t>𝟐𝟒</m:t>
                              </m:r>
                            </m:num>
                            <m:den>
                              <m:r>
                                <a:rPr lang="en-AU" sz="3200" b="1" i="1" smtClean="0">
                                  <a:latin typeface="Cambria Math" panose="02040503050406030204" pitchFamily="18" charset="0"/>
                                  <a:ea typeface="Cambria Math" panose="02040503050406030204" pitchFamily="18" charset="0"/>
                                </a:rPr>
                                <m:t>𝟑𝟓</m:t>
                              </m:r>
                            </m:den>
                          </m:f>
                        </m:e>
                      </m:d>
                      <m:r>
                        <a:rPr lang="en-AU" sz="3200" b="1" i="1" smtClean="0">
                          <a:latin typeface="Cambria Math" panose="02040503050406030204" pitchFamily="18" charset="0"/>
                          <a:ea typeface="Cambria Math" panose="02040503050406030204" pitchFamily="18" charset="0"/>
                        </a:rPr>
                        <m:t>=</m:t>
                      </m:r>
                      <m:r>
                        <a:rPr lang="en-AU" sz="3200" b="1" i="1" smtClean="0">
                          <a:latin typeface="Cambria Math" panose="02040503050406030204" pitchFamily="18" charset="0"/>
                          <a:ea typeface="Cambria Math" panose="02040503050406030204" pitchFamily="18" charset="0"/>
                        </a:rPr>
                        <m:t>𝜽</m:t>
                      </m:r>
                    </m:oMath>
                  </m:oMathPara>
                </a14:m>
                <a:endParaRPr lang="en-AU" sz="3200" b="1" dirty="0"/>
              </a:p>
            </p:txBody>
          </p:sp>
        </mc:Choice>
        <mc:Fallback xmlns="">
          <p:sp>
            <p:nvSpPr>
              <p:cNvPr id="16" name="TextBox 15"/>
              <p:cNvSpPr txBox="1">
                <a:spLocks noRot="1" noChangeAspect="1" noMove="1" noResize="1" noEditPoints="1" noAdjustHandles="1" noChangeArrowheads="1" noChangeShapeType="1" noTextEdit="1"/>
              </p:cNvSpPr>
              <p:nvPr/>
            </p:nvSpPr>
            <p:spPr>
              <a:xfrm>
                <a:off x="5143500" y="4860832"/>
                <a:ext cx="5542280" cy="1198854"/>
              </a:xfrm>
              <a:prstGeom prst="rect">
                <a:avLst/>
              </a:prstGeom>
              <a:blipFill rotWithShape="0">
                <a:blip r:embed="rId5"/>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5374641" y="6128693"/>
                <a:ext cx="5542280"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3200" b="1" i="1" smtClean="0">
                          <a:latin typeface="Cambria Math" panose="02040503050406030204" pitchFamily="18" charset="0"/>
                          <a:ea typeface="Cambria Math" panose="02040503050406030204" pitchFamily="18" charset="0"/>
                        </a:rPr>
                        <m:t>𝜽</m:t>
                      </m:r>
                      <m:r>
                        <a:rPr lang="en-AU" sz="3200" b="1" i="1" smtClean="0">
                          <a:latin typeface="Cambria Math" panose="02040503050406030204" pitchFamily="18" charset="0"/>
                          <a:ea typeface="Cambria Math" panose="02040503050406030204" pitchFamily="18" charset="0"/>
                        </a:rPr>
                        <m:t>=</m:t>
                      </m:r>
                      <m:r>
                        <a:rPr lang="en-AU" sz="3200" b="1" i="1" smtClean="0">
                          <a:latin typeface="Cambria Math" panose="02040503050406030204" pitchFamily="18" charset="0"/>
                          <a:ea typeface="Cambria Math" panose="02040503050406030204" pitchFamily="18" charset="0"/>
                        </a:rPr>
                        <m:t>𝟑𝟒</m:t>
                      </m:r>
                      <m:r>
                        <a:rPr lang="en-AU" sz="3200" b="1" i="1" smtClean="0">
                          <a:latin typeface="Cambria Math" panose="02040503050406030204" pitchFamily="18" charset="0"/>
                          <a:ea typeface="Cambria Math" panose="02040503050406030204" pitchFamily="18" charset="0"/>
                        </a:rPr>
                        <m:t>.</m:t>
                      </m:r>
                      <m:r>
                        <a:rPr lang="en-AU" sz="3200" b="1" i="1" smtClean="0">
                          <a:latin typeface="Cambria Math" panose="02040503050406030204" pitchFamily="18" charset="0"/>
                          <a:ea typeface="Cambria Math" panose="02040503050406030204" pitchFamily="18" charset="0"/>
                        </a:rPr>
                        <m:t>𝟒𝟒</m:t>
                      </m:r>
                      <m:r>
                        <a:rPr lang="en-AU" sz="3200" b="1" i="1" smtClean="0">
                          <a:latin typeface="Cambria Math" panose="02040503050406030204" pitchFamily="18" charset="0"/>
                          <a:ea typeface="Cambria Math" panose="02040503050406030204" pitchFamily="18" charset="0"/>
                        </a:rPr>
                        <m:t>° (</m:t>
                      </m:r>
                      <m:r>
                        <a:rPr lang="en-AU" sz="3200" b="1" i="1" smtClean="0">
                          <a:latin typeface="Cambria Math" panose="02040503050406030204" pitchFamily="18" charset="0"/>
                          <a:ea typeface="Cambria Math" panose="02040503050406030204" pitchFamily="18" charset="0"/>
                        </a:rPr>
                        <m:t>𝟐</m:t>
                      </m:r>
                      <m:r>
                        <a:rPr lang="en-AU" sz="3200" b="1" i="1" smtClean="0">
                          <a:latin typeface="Cambria Math" panose="02040503050406030204" pitchFamily="18" charset="0"/>
                          <a:ea typeface="Cambria Math" panose="02040503050406030204" pitchFamily="18" charset="0"/>
                        </a:rPr>
                        <m:t>𝒅𝒑</m:t>
                      </m:r>
                      <m:r>
                        <a:rPr lang="en-AU" sz="3200" b="1" i="1" smtClean="0">
                          <a:latin typeface="Cambria Math" panose="02040503050406030204" pitchFamily="18" charset="0"/>
                          <a:ea typeface="Cambria Math" panose="02040503050406030204" pitchFamily="18" charset="0"/>
                        </a:rPr>
                        <m:t>)</m:t>
                      </m:r>
                    </m:oMath>
                  </m:oMathPara>
                </a14:m>
                <a:endParaRPr lang="en-AU" sz="3200" b="1" dirty="0"/>
              </a:p>
            </p:txBody>
          </p:sp>
        </mc:Choice>
        <mc:Fallback xmlns="">
          <p:sp>
            <p:nvSpPr>
              <p:cNvPr id="17" name="TextBox 16"/>
              <p:cNvSpPr txBox="1">
                <a:spLocks noRot="1" noChangeAspect="1" noMove="1" noResize="1" noEditPoints="1" noAdjustHandles="1" noChangeArrowheads="1" noChangeShapeType="1" noTextEdit="1"/>
              </p:cNvSpPr>
              <p:nvPr/>
            </p:nvSpPr>
            <p:spPr>
              <a:xfrm>
                <a:off x="5374641" y="6128693"/>
                <a:ext cx="5542280" cy="584775"/>
              </a:xfrm>
              <a:prstGeom prst="rect">
                <a:avLst/>
              </a:prstGeom>
              <a:blipFill rotWithShape="0">
                <a:blip r:embed="rId6"/>
                <a:stretch>
                  <a:fillRect/>
                </a:stretch>
              </a:blipFill>
            </p:spPr>
            <p:txBody>
              <a:bodyPr/>
              <a:lstStyle/>
              <a:p>
                <a:r>
                  <a:rPr lang="en-AU">
                    <a:noFill/>
                  </a:rPr>
                  <a:t> </a:t>
                </a:r>
              </a:p>
            </p:txBody>
          </p:sp>
        </mc:Fallback>
      </mc:AlternateContent>
      <p:sp>
        <p:nvSpPr>
          <p:cNvPr id="18" name="TextBox 17"/>
          <p:cNvSpPr txBox="1"/>
          <p:nvPr/>
        </p:nvSpPr>
        <p:spPr>
          <a:xfrm>
            <a:off x="553720" y="4566648"/>
            <a:ext cx="4927600" cy="769441"/>
          </a:xfrm>
          <a:prstGeom prst="rect">
            <a:avLst/>
          </a:prstGeom>
          <a:noFill/>
        </p:spPr>
        <p:txBody>
          <a:bodyPr wrap="square" rtlCol="0">
            <a:spAutoFit/>
          </a:bodyPr>
          <a:lstStyle/>
          <a:p>
            <a:pPr algn="ctr"/>
            <a:r>
              <a:rPr lang="en-AU" sz="2200" dirty="0" smtClean="0"/>
              <a:t>If you’re trying to find an angle, use the inverse function to solve.</a:t>
            </a:r>
          </a:p>
        </p:txBody>
      </p:sp>
      <p:sp>
        <p:nvSpPr>
          <p:cNvPr id="22" name="TextBox 21"/>
          <p:cNvSpPr txBox="1"/>
          <p:nvPr/>
        </p:nvSpPr>
        <p:spPr>
          <a:xfrm>
            <a:off x="0" y="0"/>
            <a:ext cx="1374405" cy="461665"/>
          </a:xfrm>
          <a:prstGeom prst="rect">
            <a:avLst/>
          </a:prstGeom>
          <a:solidFill>
            <a:srgbClr val="FFFF00"/>
          </a:solidFill>
        </p:spPr>
        <p:txBody>
          <a:bodyPr wrap="square" rtlCol="0">
            <a:spAutoFit/>
          </a:bodyPr>
          <a:lstStyle/>
          <a:p>
            <a:r>
              <a:rPr lang="en-AU" sz="2400" dirty="0" smtClean="0"/>
              <a:t>Examples</a:t>
            </a:r>
            <a:endParaRPr lang="en-AU" sz="2400" dirty="0"/>
          </a:p>
        </p:txBody>
      </p:sp>
      <p:pic>
        <p:nvPicPr>
          <p:cNvPr id="3" name="Picture 2"/>
          <p:cNvPicPr>
            <a:picLocks noChangeAspect="1"/>
          </p:cNvPicPr>
          <p:nvPr/>
        </p:nvPicPr>
        <p:blipFill>
          <a:blip r:embed="rId7"/>
          <a:stretch>
            <a:fillRect/>
          </a:stretch>
        </p:blipFill>
        <p:spPr>
          <a:xfrm>
            <a:off x="1066800" y="5469606"/>
            <a:ext cx="4076700" cy="800100"/>
          </a:xfrm>
          <a:prstGeom prst="rect">
            <a:avLst/>
          </a:prstGeom>
        </p:spPr>
      </p:pic>
    </p:spTree>
    <p:extLst>
      <p:ext uri="{BB962C8B-B14F-4D97-AF65-F5344CB8AC3E}">
        <p14:creationId xmlns:p14="http://schemas.microsoft.com/office/powerpoint/2010/main" val="1198007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13">
                                            <p:txEl>
                                              <p:pRg st="0" end="0"/>
                                            </p:txEl>
                                          </p:spTgt>
                                        </p:tgtEl>
                                      </p:cBhvr>
                                    </p:animEffect>
                                    <p:animScale>
                                      <p:cBhvr>
                                        <p:cTn id="7" dur="250" autoRev="1" fill="hold"/>
                                        <p:tgtEl>
                                          <p:spTgt spid="13">
                                            <p:txEl>
                                              <p:pRg st="0" end="0"/>
                                            </p:txEl>
                                          </p:spTgt>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9"/>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40"/>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6" presetClass="emph" presetSubtype="0" fill="hold" nodeType="clickEffect">
                                  <p:stCondLst>
                                    <p:cond delay="0"/>
                                  </p:stCondLst>
                                  <p:childTnLst>
                                    <p:animEffect transition="out" filter="fade">
                                      <p:cBhvr>
                                        <p:cTn id="23" dur="500" tmFilter="0, 0; .2, .5; .8, .5; 1, 0"/>
                                        <p:tgtEl>
                                          <p:spTgt spid="13">
                                            <p:txEl>
                                              <p:pRg st="1" end="1"/>
                                            </p:txEl>
                                          </p:spTgt>
                                        </p:tgtEl>
                                      </p:cBhvr>
                                    </p:animEffect>
                                    <p:animScale>
                                      <p:cBhvr>
                                        <p:cTn id="24" dur="250" autoRev="1" fill="hold"/>
                                        <p:tgtEl>
                                          <p:spTgt spid="13">
                                            <p:txEl>
                                              <p:pRg st="1" end="1"/>
                                            </p:txEl>
                                          </p:spTgt>
                                        </p:tgtEl>
                                      </p:cBhvr>
                                      <p:by x="105000" y="105000"/>
                                    </p:animScale>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6" presetClass="emph" presetSubtype="0" fill="hold" nodeType="clickEffect">
                                  <p:stCondLst>
                                    <p:cond delay="0"/>
                                  </p:stCondLst>
                                  <p:childTnLst>
                                    <p:animEffect transition="out" filter="fade">
                                      <p:cBhvr>
                                        <p:cTn id="40" dur="500" tmFilter="0, 0; .2, .5; .8, .5; 1, 0"/>
                                        <p:tgtEl>
                                          <p:spTgt spid="13">
                                            <p:txEl>
                                              <p:pRg st="2" end="2"/>
                                            </p:txEl>
                                          </p:spTgt>
                                        </p:tgtEl>
                                      </p:cBhvr>
                                    </p:animEffect>
                                    <p:animScale>
                                      <p:cBhvr>
                                        <p:cTn id="41" dur="250" autoRev="1" fill="hold"/>
                                        <p:tgtEl>
                                          <p:spTgt spid="13">
                                            <p:txEl>
                                              <p:pRg st="2" end="2"/>
                                            </p:txEl>
                                          </p:spTgt>
                                        </p:tgtEl>
                                      </p:cBhvr>
                                      <p:by x="105000" y="105000"/>
                                    </p:animScale>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44"/>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26" presetClass="emph" presetSubtype="0" fill="hold" nodeType="clickEffect">
                                  <p:stCondLst>
                                    <p:cond delay="0"/>
                                  </p:stCondLst>
                                  <p:childTnLst>
                                    <p:animEffect transition="out" filter="fade">
                                      <p:cBhvr>
                                        <p:cTn id="49" dur="500" tmFilter="0, 0; .2, .5; .8, .5; 1, 0"/>
                                        <p:tgtEl>
                                          <p:spTgt spid="13">
                                            <p:txEl>
                                              <p:pRg st="3" end="3"/>
                                            </p:txEl>
                                          </p:spTgt>
                                        </p:tgtEl>
                                      </p:cBhvr>
                                    </p:animEffect>
                                    <p:animScale>
                                      <p:cBhvr>
                                        <p:cTn id="50" dur="250" autoRev="1" fill="hold"/>
                                        <p:tgtEl>
                                          <p:spTgt spid="13">
                                            <p:txEl>
                                              <p:pRg st="3" end="3"/>
                                            </p:txEl>
                                          </p:spTgt>
                                        </p:tgtEl>
                                      </p:cBhvr>
                                      <p:by x="105000" y="105000"/>
                                    </p:animScale>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42" grpId="0"/>
      <p:bldP spid="43" grpId="0"/>
      <p:bldP spid="44" grpId="0"/>
      <p:bldP spid="16" grpId="0"/>
      <p:bldP spid="17" grpId="0"/>
      <p:bldP spid="1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1" y="0"/>
            <a:ext cx="2490758" cy="461665"/>
          </a:xfrm>
          <a:prstGeom prst="rect">
            <a:avLst/>
          </a:prstGeom>
          <a:solidFill>
            <a:srgbClr val="FFFF00"/>
          </a:solidFill>
        </p:spPr>
        <p:txBody>
          <a:bodyPr wrap="square" rtlCol="0">
            <a:spAutoFit/>
          </a:bodyPr>
          <a:lstStyle/>
          <a:p>
            <a:r>
              <a:rPr lang="en-AU" sz="2400" dirty="0" smtClean="0"/>
              <a:t>Worded problems</a:t>
            </a:r>
            <a:endParaRPr lang="en-AU" sz="2400" dirty="0"/>
          </a:p>
        </p:txBody>
      </p:sp>
      <p:pic>
        <p:nvPicPr>
          <p:cNvPr id="3" name="Picture 2"/>
          <p:cNvPicPr>
            <a:picLocks noChangeAspect="1"/>
          </p:cNvPicPr>
          <p:nvPr/>
        </p:nvPicPr>
        <p:blipFill>
          <a:blip r:embed="rId2"/>
          <a:stretch>
            <a:fillRect/>
          </a:stretch>
        </p:blipFill>
        <p:spPr>
          <a:xfrm>
            <a:off x="173904" y="3624145"/>
            <a:ext cx="3209925" cy="3076575"/>
          </a:xfrm>
          <a:prstGeom prst="rect">
            <a:avLst/>
          </a:prstGeom>
        </p:spPr>
      </p:pic>
      <p:sp>
        <p:nvSpPr>
          <p:cNvPr id="4" name="TextBox 3"/>
          <p:cNvSpPr txBox="1"/>
          <p:nvPr/>
        </p:nvSpPr>
        <p:spPr>
          <a:xfrm>
            <a:off x="173904" y="589031"/>
            <a:ext cx="11623539" cy="3077766"/>
          </a:xfrm>
          <a:prstGeom prst="rect">
            <a:avLst/>
          </a:prstGeom>
          <a:noFill/>
        </p:spPr>
        <p:txBody>
          <a:bodyPr wrap="square" rtlCol="0">
            <a:spAutoFit/>
          </a:bodyPr>
          <a:lstStyle/>
          <a:p>
            <a:r>
              <a:rPr lang="en-AU" sz="2200" dirty="0" smtClean="0"/>
              <a:t>Some questions will be more applicable to real life problems, and will refer to a particular situation involving a right angled triangle. </a:t>
            </a:r>
          </a:p>
          <a:p>
            <a:r>
              <a:rPr lang="en-AU" sz="2200" dirty="0" smtClean="0"/>
              <a:t>We may need to draw a simple diagram to represent the situation.</a:t>
            </a:r>
          </a:p>
          <a:p>
            <a:r>
              <a:rPr lang="en-AU" sz="2200" dirty="0" smtClean="0"/>
              <a:t>We may also need to use a combination of trigonometry and Pythagoras’ theorem.</a:t>
            </a:r>
          </a:p>
          <a:p>
            <a:endParaRPr lang="en-AU" sz="2200" dirty="0"/>
          </a:p>
          <a:p>
            <a:r>
              <a:rPr lang="en-AU" sz="2200" dirty="0" smtClean="0"/>
              <a:t>A ladder of length 5 metres leans against a vertical wall. If the top of the ladder reaches 4.4m up the wall, calculate the angle the ladder makes with the horizontal ground and the distance from the foot of the ladder to the wall.</a:t>
            </a:r>
          </a:p>
          <a:p>
            <a:endParaRPr lang="en-AU" dirty="0"/>
          </a:p>
        </p:txBody>
      </p:sp>
      <mc:AlternateContent xmlns:mc="http://schemas.openxmlformats.org/markup-compatibility/2006">
        <mc:Choice xmlns:p14="http://schemas.microsoft.com/office/powerpoint/2010/main" Requires="p14">
          <p:contentPart p14:bwMode="auto" r:id="rId3">
            <p14:nvContentPartPr>
              <p14:cNvPr id="13" name="Ink 12"/>
              <p14:cNvContentPartPr/>
              <p14:nvPr/>
            </p14:nvContentPartPr>
            <p14:xfrm>
              <a:off x="2701895" y="4518221"/>
              <a:ext cx="191520" cy="214200"/>
            </p14:xfrm>
          </p:contentPart>
        </mc:Choice>
        <mc:Fallback>
          <p:pic>
            <p:nvPicPr>
              <p:cNvPr id="13" name="Ink 12"/>
              <p:cNvPicPr/>
              <p:nvPr/>
            </p:nvPicPr>
            <p:blipFill>
              <a:blip r:embed="rId4"/>
              <a:stretch>
                <a:fillRect/>
              </a:stretch>
            </p:blipFill>
            <p:spPr>
              <a:xfrm>
                <a:off x="2677775" y="4497341"/>
                <a:ext cx="242640" cy="2610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19" name="Ink 18"/>
              <p14:cNvContentPartPr/>
              <p14:nvPr/>
            </p14:nvContentPartPr>
            <p14:xfrm>
              <a:off x="807935" y="4469261"/>
              <a:ext cx="788760" cy="2251440"/>
            </p14:xfrm>
          </p:contentPart>
        </mc:Choice>
        <mc:Fallback>
          <p:pic>
            <p:nvPicPr>
              <p:cNvPr id="19" name="Ink 18"/>
              <p:cNvPicPr/>
              <p:nvPr/>
            </p:nvPicPr>
            <p:blipFill>
              <a:blip r:embed="rId6"/>
              <a:stretch>
                <a:fillRect/>
              </a:stretch>
            </p:blipFill>
            <p:spPr>
              <a:xfrm>
                <a:off x="783095" y="4444781"/>
                <a:ext cx="840600" cy="2300040"/>
              </a:xfrm>
              <a:prstGeom prst="rect">
                <a:avLst/>
              </a:prstGeom>
            </p:spPr>
          </p:pic>
        </mc:Fallback>
      </mc:AlternateContent>
      <mc:AlternateContent xmlns:mc="http://schemas.openxmlformats.org/markup-compatibility/2006">
        <mc:Choice xmlns:a14="http://schemas.microsoft.com/office/drawing/2010/main" Requires="a14">
          <p:sp>
            <p:nvSpPr>
              <p:cNvPr id="20" name="TextBox 19"/>
              <p:cNvSpPr txBox="1"/>
              <p:nvPr/>
            </p:nvSpPr>
            <p:spPr>
              <a:xfrm>
                <a:off x="3629550" y="3454583"/>
                <a:ext cx="2025230" cy="727187"/>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func>
                        <m:funcPr>
                          <m:ctrlPr>
                            <a:rPr lang="en-AU" sz="2200" b="1" i="1" smtClean="0">
                              <a:latin typeface="Cambria Math" panose="02040503050406030204" pitchFamily="18" charset="0"/>
                            </a:rPr>
                          </m:ctrlPr>
                        </m:funcPr>
                        <m:fName>
                          <m:r>
                            <a:rPr lang="en-AU" sz="2200" b="1" i="0" smtClean="0">
                              <a:latin typeface="Cambria Math" panose="02040503050406030204" pitchFamily="18" charset="0"/>
                            </a:rPr>
                            <m:t>𝐬𝐢𝐧</m:t>
                          </m:r>
                        </m:fName>
                        <m:e>
                          <m:r>
                            <a:rPr lang="en-AU" sz="2200" b="1" i="1" smtClean="0">
                              <a:latin typeface="Cambria Math" panose="02040503050406030204" pitchFamily="18" charset="0"/>
                            </a:rPr>
                            <m:t>𝒙</m:t>
                          </m:r>
                          <m:r>
                            <a:rPr lang="en-AU" sz="2200" b="1" i="1" smtClean="0">
                              <a:latin typeface="Cambria Math" panose="02040503050406030204" pitchFamily="18" charset="0"/>
                              <a:ea typeface="Cambria Math" panose="02040503050406030204" pitchFamily="18" charset="0"/>
                            </a:rPr>
                            <m:t>°</m:t>
                          </m:r>
                        </m:e>
                      </m:func>
                      <m:r>
                        <a:rPr lang="en-AU" sz="2200" b="1" i="1" smtClean="0">
                          <a:latin typeface="Cambria Math" panose="02040503050406030204" pitchFamily="18" charset="0"/>
                        </a:rPr>
                        <m:t>=</m:t>
                      </m:r>
                      <m:f>
                        <m:fPr>
                          <m:ctrlPr>
                            <a:rPr lang="en-AU" sz="2200" b="1" i="1" smtClean="0">
                              <a:latin typeface="Cambria Math" panose="02040503050406030204" pitchFamily="18" charset="0"/>
                            </a:rPr>
                          </m:ctrlPr>
                        </m:fPr>
                        <m:num>
                          <m:r>
                            <a:rPr lang="en-AU" sz="2200" b="1" i="1" smtClean="0">
                              <a:latin typeface="Cambria Math" panose="02040503050406030204" pitchFamily="18" charset="0"/>
                            </a:rPr>
                            <m:t>𝟒</m:t>
                          </m:r>
                          <m:r>
                            <a:rPr lang="en-AU" sz="2200" b="1" i="1" smtClean="0">
                              <a:latin typeface="Cambria Math" panose="02040503050406030204" pitchFamily="18" charset="0"/>
                            </a:rPr>
                            <m:t>.</m:t>
                          </m:r>
                          <m:r>
                            <a:rPr lang="en-AU" sz="2200" b="1" i="1" smtClean="0">
                              <a:latin typeface="Cambria Math" panose="02040503050406030204" pitchFamily="18" charset="0"/>
                            </a:rPr>
                            <m:t>𝟒</m:t>
                          </m:r>
                        </m:num>
                        <m:den>
                          <m:r>
                            <a:rPr lang="en-AU" sz="2200" b="1" i="1" smtClean="0">
                              <a:latin typeface="Cambria Math" panose="02040503050406030204" pitchFamily="18" charset="0"/>
                            </a:rPr>
                            <m:t>𝟓</m:t>
                          </m:r>
                        </m:den>
                      </m:f>
                    </m:oMath>
                  </m:oMathPara>
                </a14:m>
                <a:endParaRPr lang="en-AU" sz="2200" b="1" dirty="0"/>
              </a:p>
            </p:txBody>
          </p:sp>
        </mc:Choice>
        <mc:Fallback>
          <p:sp>
            <p:nvSpPr>
              <p:cNvPr id="20" name="TextBox 19"/>
              <p:cNvSpPr txBox="1">
                <a:spLocks noRot="1" noChangeAspect="1" noMove="1" noResize="1" noEditPoints="1" noAdjustHandles="1" noChangeArrowheads="1" noChangeShapeType="1" noTextEdit="1"/>
              </p:cNvSpPr>
              <p:nvPr/>
            </p:nvSpPr>
            <p:spPr>
              <a:xfrm>
                <a:off x="3629550" y="3454583"/>
                <a:ext cx="2025230" cy="727187"/>
              </a:xfrm>
              <a:prstGeom prst="rect">
                <a:avLst/>
              </a:prstGeom>
              <a:blipFill>
                <a:blip r:embed="rId7"/>
                <a:stretch>
                  <a:fillRect/>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21" name="TextBox 20"/>
              <p:cNvSpPr txBox="1"/>
              <p:nvPr/>
            </p:nvSpPr>
            <p:spPr>
              <a:xfrm>
                <a:off x="3629549" y="4158643"/>
                <a:ext cx="3548140" cy="853054"/>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Sup>
                        <m:sSupPr>
                          <m:ctrlPr>
                            <a:rPr lang="en-AU" sz="2200" b="1" i="1" smtClean="0">
                              <a:latin typeface="Cambria Math" panose="02040503050406030204" pitchFamily="18" charset="0"/>
                            </a:rPr>
                          </m:ctrlPr>
                        </m:sSupPr>
                        <m:e>
                          <m:r>
                            <a:rPr lang="en-AU" sz="2200" b="1" i="1" smtClean="0">
                              <a:latin typeface="Cambria Math" panose="02040503050406030204" pitchFamily="18" charset="0"/>
                            </a:rPr>
                            <m:t>𝒔𝒊𝒏</m:t>
                          </m:r>
                        </m:e>
                        <m:sup>
                          <m:r>
                            <a:rPr lang="en-AU" sz="2200" b="1" i="1" smtClean="0">
                              <a:latin typeface="Cambria Math" panose="02040503050406030204" pitchFamily="18" charset="0"/>
                            </a:rPr>
                            <m:t>−</m:t>
                          </m:r>
                          <m:r>
                            <a:rPr lang="en-AU" sz="2200" b="1" i="1" smtClean="0">
                              <a:latin typeface="Cambria Math" panose="02040503050406030204" pitchFamily="18" charset="0"/>
                            </a:rPr>
                            <m:t>𝟏</m:t>
                          </m:r>
                        </m:sup>
                      </m:sSup>
                      <m:d>
                        <m:dPr>
                          <m:ctrlPr>
                            <a:rPr lang="en-AU" sz="2200" b="1" i="1" smtClean="0">
                              <a:latin typeface="Cambria Math" panose="02040503050406030204" pitchFamily="18" charset="0"/>
                            </a:rPr>
                          </m:ctrlPr>
                        </m:dPr>
                        <m:e>
                          <m:f>
                            <m:fPr>
                              <m:ctrlPr>
                                <a:rPr lang="en-AU" sz="2200" b="1" i="1" smtClean="0">
                                  <a:latin typeface="Cambria Math" panose="02040503050406030204" pitchFamily="18" charset="0"/>
                                </a:rPr>
                              </m:ctrlPr>
                            </m:fPr>
                            <m:num>
                              <m:r>
                                <a:rPr lang="en-AU" sz="2200" b="1" i="1" smtClean="0">
                                  <a:latin typeface="Cambria Math" panose="02040503050406030204" pitchFamily="18" charset="0"/>
                                </a:rPr>
                                <m:t>𝟒</m:t>
                              </m:r>
                              <m:r>
                                <a:rPr lang="en-AU" sz="2200" b="1" i="1" smtClean="0">
                                  <a:latin typeface="Cambria Math" panose="02040503050406030204" pitchFamily="18" charset="0"/>
                                </a:rPr>
                                <m:t>.</m:t>
                              </m:r>
                              <m:r>
                                <a:rPr lang="en-AU" sz="2200" b="1" i="1" smtClean="0">
                                  <a:latin typeface="Cambria Math" panose="02040503050406030204" pitchFamily="18" charset="0"/>
                                </a:rPr>
                                <m:t>𝟒</m:t>
                              </m:r>
                            </m:num>
                            <m:den>
                              <m:r>
                                <a:rPr lang="en-AU" sz="2200" b="1" i="1" smtClean="0">
                                  <a:latin typeface="Cambria Math" panose="02040503050406030204" pitchFamily="18" charset="0"/>
                                </a:rPr>
                                <m:t>𝟓</m:t>
                              </m:r>
                            </m:den>
                          </m:f>
                        </m:e>
                      </m:d>
                      <m:r>
                        <a:rPr lang="en-AU" sz="2200" b="1" i="1" smtClean="0">
                          <a:latin typeface="Cambria Math" panose="02040503050406030204" pitchFamily="18" charset="0"/>
                        </a:rPr>
                        <m:t>=</m:t>
                      </m:r>
                      <m:r>
                        <a:rPr lang="en-AU" sz="2200" b="1" i="1" smtClean="0">
                          <a:latin typeface="Cambria Math" panose="02040503050406030204" pitchFamily="18" charset="0"/>
                        </a:rPr>
                        <m:t>𝟔𝟏</m:t>
                      </m:r>
                      <m:r>
                        <a:rPr lang="en-AU" sz="2200" b="1" i="1" smtClean="0">
                          <a:latin typeface="Cambria Math" panose="02040503050406030204" pitchFamily="18" charset="0"/>
                        </a:rPr>
                        <m:t>.</m:t>
                      </m:r>
                      <m:r>
                        <a:rPr lang="en-AU" sz="2200" b="1" i="1" smtClean="0">
                          <a:latin typeface="Cambria Math" panose="02040503050406030204" pitchFamily="18" charset="0"/>
                        </a:rPr>
                        <m:t>𝟔𝟒</m:t>
                      </m:r>
                      <m:r>
                        <a:rPr lang="en-AU" sz="2200" b="1" i="1" smtClean="0">
                          <a:latin typeface="Cambria Math" panose="02040503050406030204" pitchFamily="18" charset="0"/>
                        </a:rPr>
                        <m:t>..</m:t>
                      </m:r>
                    </m:oMath>
                  </m:oMathPara>
                </a14:m>
                <a:endParaRPr lang="en-AU" sz="2200" b="1" dirty="0"/>
              </a:p>
            </p:txBody>
          </p:sp>
        </mc:Choice>
        <mc:Fallback>
          <p:sp>
            <p:nvSpPr>
              <p:cNvPr id="21" name="TextBox 20"/>
              <p:cNvSpPr txBox="1">
                <a:spLocks noRot="1" noChangeAspect="1" noMove="1" noResize="1" noEditPoints="1" noAdjustHandles="1" noChangeArrowheads="1" noChangeShapeType="1" noTextEdit="1"/>
              </p:cNvSpPr>
              <p:nvPr/>
            </p:nvSpPr>
            <p:spPr>
              <a:xfrm>
                <a:off x="3629549" y="4158643"/>
                <a:ext cx="3548140" cy="853054"/>
              </a:xfrm>
              <a:prstGeom prst="rect">
                <a:avLst/>
              </a:prstGeom>
              <a:blipFill>
                <a:blip r:embed="rId8"/>
                <a:stretch>
                  <a:fillRect/>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23" name="TextBox 22"/>
              <p:cNvSpPr txBox="1"/>
              <p:nvPr/>
            </p:nvSpPr>
            <p:spPr>
              <a:xfrm>
                <a:off x="3629549" y="4967475"/>
                <a:ext cx="3548140" cy="430887"/>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AU" sz="2200" b="1" i="1" smtClean="0">
                          <a:latin typeface="Cambria Math" panose="02040503050406030204" pitchFamily="18" charset="0"/>
                        </a:rPr>
                        <m:t>𝒙</m:t>
                      </m:r>
                      <m:r>
                        <a:rPr lang="en-AU" sz="2200" b="1" i="1" smtClean="0">
                          <a:latin typeface="Cambria Math" panose="02040503050406030204" pitchFamily="18" charset="0"/>
                          <a:ea typeface="Cambria Math" panose="02040503050406030204" pitchFamily="18" charset="0"/>
                        </a:rPr>
                        <m:t>≈</m:t>
                      </m:r>
                      <m:r>
                        <a:rPr lang="en-AU" sz="2200" b="1" i="1" smtClean="0">
                          <a:latin typeface="Cambria Math" panose="02040503050406030204" pitchFamily="18" charset="0"/>
                          <a:ea typeface="Cambria Math" panose="02040503050406030204" pitchFamily="18" charset="0"/>
                        </a:rPr>
                        <m:t>𝟔𝟐</m:t>
                      </m:r>
                      <m:r>
                        <a:rPr lang="en-AU" sz="2200" b="1" i="1" smtClean="0">
                          <a:latin typeface="Cambria Math" panose="02040503050406030204" pitchFamily="18" charset="0"/>
                          <a:ea typeface="Cambria Math" panose="02040503050406030204" pitchFamily="18" charset="0"/>
                        </a:rPr>
                        <m:t>°</m:t>
                      </m:r>
                    </m:oMath>
                  </m:oMathPara>
                </a14:m>
                <a:endParaRPr lang="en-AU" sz="2200" b="1" dirty="0"/>
              </a:p>
            </p:txBody>
          </p:sp>
        </mc:Choice>
        <mc:Fallback>
          <p:sp>
            <p:nvSpPr>
              <p:cNvPr id="23" name="TextBox 22"/>
              <p:cNvSpPr txBox="1">
                <a:spLocks noRot="1" noChangeAspect="1" noMove="1" noResize="1" noEditPoints="1" noAdjustHandles="1" noChangeArrowheads="1" noChangeShapeType="1" noTextEdit="1"/>
              </p:cNvSpPr>
              <p:nvPr/>
            </p:nvSpPr>
            <p:spPr>
              <a:xfrm>
                <a:off x="3629549" y="4967475"/>
                <a:ext cx="3548140" cy="430887"/>
              </a:xfrm>
              <a:prstGeom prst="rect">
                <a:avLst/>
              </a:prstGeom>
              <a:blipFill>
                <a:blip r:embed="rId9"/>
                <a:stretch>
                  <a:fillRect/>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24" name="TextBox 23"/>
              <p:cNvSpPr txBox="1"/>
              <p:nvPr/>
            </p:nvSpPr>
            <p:spPr>
              <a:xfrm>
                <a:off x="6479337" y="3574872"/>
                <a:ext cx="4712245" cy="43858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p>
                        <m:sSupPr>
                          <m:ctrlPr>
                            <a:rPr lang="en-AU" sz="2200" b="1" i="1" smtClean="0">
                              <a:latin typeface="Cambria Math" panose="02040503050406030204" pitchFamily="18" charset="0"/>
                            </a:rPr>
                          </m:ctrlPr>
                        </m:sSupPr>
                        <m:e>
                          <m:r>
                            <a:rPr lang="en-AU" sz="2200" b="1" i="1" smtClean="0">
                              <a:latin typeface="Cambria Math" panose="02040503050406030204" pitchFamily="18" charset="0"/>
                            </a:rPr>
                            <m:t>𝒚</m:t>
                          </m:r>
                        </m:e>
                        <m:sup>
                          <m:r>
                            <a:rPr lang="en-AU" sz="2200" b="1" i="1" smtClean="0">
                              <a:latin typeface="Cambria Math" panose="02040503050406030204" pitchFamily="18" charset="0"/>
                            </a:rPr>
                            <m:t>𝟐</m:t>
                          </m:r>
                        </m:sup>
                      </m:sSup>
                      <m:r>
                        <a:rPr lang="en-AU" sz="2200" b="1" i="1" smtClean="0">
                          <a:latin typeface="Cambria Math" panose="02040503050406030204" pitchFamily="18" charset="0"/>
                        </a:rPr>
                        <m:t>+</m:t>
                      </m:r>
                      <m:sSup>
                        <m:sSupPr>
                          <m:ctrlPr>
                            <a:rPr lang="en-AU" sz="2200" b="1" i="1" smtClean="0">
                              <a:latin typeface="Cambria Math" panose="02040503050406030204" pitchFamily="18" charset="0"/>
                            </a:rPr>
                          </m:ctrlPr>
                        </m:sSupPr>
                        <m:e>
                          <m:r>
                            <a:rPr lang="en-AU" sz="2200" b="1" i="1" smtClean="0">
                              <a:latin typeface="Cambria Math" panose="02040503050406030204" pitchFamily="18" charset="0"/>
                            </a:rPr>
                            <m:t>𝟒</m:t>
                          </m:r>
                          <m:r>
                            <a:rPr lang="en-AU" sz="2200" b="1" i="1" smtClean="0">
                              <a:latin typeface="Cambria Math" panose="02040503050406030204" pitchFamily="18" charset="0"/>
                            </a:rPr>
                            <m:t>.</m:t>
                          </m:r>
                          <m:r>
                            <a:rPr lang="en-AU" sz="2200" b="1" i="1" smtClean="0">
                              <a:latin typeface="Cambria Math" panose="02040503050406030204" pitchFamily="18" charset="0"/>
                            </a:rPr>
                            <m:t>𝟒</m:t>
                          </m:r>
                        </m:e>
                        <m:sup>
                          <m:r>
                            <a:rPr lang="en-AU" sz="2200" b="1" i="1" smtClean="0">
                              <a:latin typeface="Cambria Math" panose="02040503050406030204" pitchFamily="18" charset="0"/>
                            </a:rPr>
                            <m:t>𝟐</m:t>
                          </m:r>
                        </m:sup>
                      </m:sSup>
                      <m:r>
                        <a:rPr lang="en-AU" sz="2200" b="1" i="1" smtClean="0">
                          <a:latin typeface="Cambria Math" panose="02040503050406030204" pitchFamily="18" charset="0"/>
                        </a:rPr>
                        <m:t>=</m:t>
                      </m:r>
                      <m:sSup>
                        <m:sSupPr>
                          <m:ctrlPr>
                            <a:rPr lang="en-AU" sz="2200" b="1" i="1" smtClean="0">
                              <a:latin typeface="Cambria Math" panose="02040503050406030204" pitchFamily="18" charset="0"/>
                            </a:rPr>
                          </m:ctrlPr>
                        </m:sSupPr>
                        <m:e>
                          <m:r>
                            <a:rPr lang="en-AU" sz="2200" b="1" i="1" smtClean="0">
                              <a:latin typeface="Cambria Math" panose="02040503050406030204" pitchFamily="18" charset="0"/>
                            </a:rPr>
                            <m:t>𝟓</m:t>
                          </m:r>
                        </m:e>
                        <m:sup>
                          <m:r>
                            <a:rPr lang="en-AU" sz="2200" b="1" i="1" smtClean="0">
                              <a:latin typeface="Cambria Math" panose="02040503050406030204" pitchFamily="18" charset="0"/>
                            </a:rPr>
                            <m:t>𝟐</m:t>
                          </m:r>
                        </m:sup>
                      </m:sSup>
                    </m:oMath>
                  </m:oMathPara>
                </a14:m>
                <a:endParaRPr lang="en-AU" sz="2200" b="1" dirty="0"/>
              </a:p>
            </p:txBody>
          </p:sp>
        </mc:Choice>
        <mc:Fallback>
          <p:sp>
            <p:nvSpPr>
              <p:cNvPr id="24" name="TextBox 23"/>
              <p:cNvSpPr txBox="1">
                <a:spLocks noRot="1" noChangeAspect="1" noMove="1" noResize="1" noEditPoints="1" noAdjustHandles="1" noChangeArrowheads="1" noChangeShapeType="1" noTextEdit="1"/>
              </p:cNvSpPr>
              <p:nvPr/>
            </p:nvSpPr>
            <p:spPr>
              <a:xfrm>
                <a:off x="6479337" y="3574872"/>
                <a:ext cx="4712245" cy="438582"/>
              </a:xfrm>
              <a:prstGeom prst="rect">
                <a:avLst/>
              </a:prstGeom>
              <a:blipFill>
                <a:blip r:embed="rId10"/>
                <a:stretch>
                  <a:fillRect b="-11111"/>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25" name="TextBox 24"/>
              <p:cNvSpPr txBox="1"/>
              <p:nvPr/>
            </p:nvSpPr>
            <p:spPr>
              <a:xfrm>
                <a:off x="6479337" y="4265743"/>
                <a:ext cx="4712245" cy="43858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p>
                        <m:sSupPr>
                          <m:ctrlPr>
                            <a:rPr lang="en-AU" sz="2200" b="1" i="1" smtClean="0">
                              <a:latin typeface="Cambria Math" panose="02040503050406030204" pitchFamily="18" charset="0"/>
                            </a:rPr>
                          </m:ctrlPr>
                        </m:sSupPr>
                        <m:e>
                          <m:r>
                            <a:rPr lang="en-AU" sz="2200" b="1" i="1" smtClean="0">
                              <a:latin typeface="Cambria Math" panose="02040503050406030204" pitchFamily="18" charset="0"/>
                            </a:rPr>
                            <m:t>𝒚</m:t>
                          </m:r>
                        </m:e>
                        <m:sup>
                          <m:r>
                            <a:rPr lang="en-AU" sz="2200" b="1" i="1" smtClean="0">
                              <a:latin typeface="Cambria Math" panose="02040503050406030204" pitchFamily="18" charset="0"/>
                            </a:rPr>
                            <m:t>𝟐</m:t>
                          </m:r>
                        </m:sup>
                      </m:sSup>
                      <m:r>
                        <a:rPr lang="en-AU" sz="2200" b="1" i="1" smtClean="0">
                          <a:latin typeface="Cambria Math" panose="02040503050406030204" pitchFamily="18" charset="0"/>
                        </a:rPr>
                        <m:t>=</m:t>
                      </m:r>
                      <m:sSup>
                        <m:sSupPr>
                          <m:ctrlPr>
                            <a:rPr lang="en-AU" sz="2200" b="1" i="1" smtClean="0">
                              <a:latin typeface="Cambria Math" panose="02040503050406030204" pitchFamily="18" charset="0"/>
                            </a:rPr>
                          </m:ctrlPr>
                        </m:sSupPr>
                        <m:e>
                          <m:r>
                            <a:rPr lang="en-AU" sz="2200" b="1" i="1" smtClean="0">
                              <a:latin typeface="Cambria Math" panose="02040503050406030204" pitchFamily="18" charset="0"/>
                            </a:rPr>
                            <m:t>𝟓</m:t>
                          </m:r>
                        </m:e>
                        <m:sup>
                          <m:r>
                            <a:rPr lang="en-AU" sz="2200" b="1" i="1" smtClean="0">
                              <a:latin typeface="Cambria Math" panose="02040503050406030204" pitchFamily="18" charset="0"/>
                            </a:rPr>
                            <m:t>𝟐</m:t>
                          </m:r>
                        </m:sup>
                      </m:sSup>
                      <m:r>
                        <a:rPr lang="en-AU" sz="2200" b="1" i="1" smtClean="0">
                          <a:latin typeface="Cambria Math" panose="02040503050406030204" pitchFamily="18" charset="0"/>
                        </a:rPr>
                        <m:t>−</m:t>
                      </m:r>
                      <m:sSup>
                        <m:sSupPr>
                          <m:ctrlPr>
                            <a:rPr lang="en-AU" sz="2200" b="1" i="1" smtClean="0">
                              <a:latin typeface="Cambria Math" panose="02040503050406030204" pitchFamily="18" charset="0"/>
                            </a:rPr>
                          </m:ctrlPr>
                        </m:sSupPr>
                        <m:e>
                          <m:r>
                            <a:rPr lang="en-AU" sz="2200" b="1" i="1" smtClean="0">
                              <a:latin typeface="Cambria Math" panose="02040503050406030204" pitchFamily="18" charset="0"/>
                            </a:rPr>
                            <m:t>𝟒</m:t>
                          </m:r>
                          <m:r>
                            <a:rPr lang="en-AU" sz="2200" b="1" i="1" smtClean="0">
                              <a:latin typeface="Cambria Math" panose="02040503050406030204" pitchFamily="18" charset="0"/>
                            </a:rPr>
                            <m:t>.</m:t>
                          </m:r>
                          <m:r>
                            <a:rPr lang="en-AU" sz="2200" b="1" i="1" smtClean="0">
                              <a:latin typeface="Cambria Math" panose="02040503050406030204" pitchFamily="18" charset="0"/>
                            </a:rPr>
                            <m:t>𝟒</m:t>
                          </m:r>
                        </m:e>
                        <m:sup>
                          <m:r>
                            <a:rPr lang="en-AU" sz="2200" b="1" i="1" smtClean="0">
                              <a:latin typeface="Cambria Math" panose="02040503050406030204" pitchFamily="18" charset="0"/>
                            </a:rPr>
                            <m:t>𝟐</m:t>
                          </m:r>
                        </m:sup>
                      </m:sSup>
                    </m:oMath>
                  </m:oMathPara>
                </a14:m>
                <a:endParaRPr lang="en-AU" sz="2200" b="1" dirty="0"/>
              </a:p>
            </p:txBody>
          </p:sp>
        </mc:Choice>
        <mc:Fallback>
          <p:sp>
            <p:nvSpPr>
              <p:cNvPr id="25" name="TextBox 24"/>
              <p:cNvSpPr txBox="1">
                <a:spLocks noRot="1" noChangeAspect="1" noMove="1" noResize="1" noEditPoints="1" noAdjustHandles="1" noChangeArrowheads="1" noChangeShapeType="1" noTextEdit="1"/>
              </p:cNvSpPr>
              <p:nvPr/>
            </p:nvSpPr>
            <p:spPr>
              <a:xfrm>
                <a:off x="6479337" y="4265743"/>
                <a:ext cx="4712245" cy="438582"/>
              </a:xfrm>
              <a:prstGeom prst="rect">
                <a:avLst/>
              </a:prstGeom>
              <a:blipFill>
                <a:blip r:embed="rId11"/>
                <a:stretch>
                  <a:fillRect b="-9722"/>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26" name="TextBox 25"/>
              <p:cNvSpPr txBox="1"/>
              <p:nvPr/>
            </p:nvSpPr>
            <p:spPr>
              <a:xfrm>
                <a:off x="6479336" y="4967475"/>
                <a:ext cx="4712245" cy="430887"/>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AU" sz="2200" b="1" i="1" smtClean="0">
                          <a:latin typeface="Cambria Math" panose="02040503050406030204" pitchFamily="18" charset="0"/>
                        </a:rPr>
                        <m:t>𝒚</m:t>
                      </m:r>
                      <m:r>
                        <a:rPr lang="en-AU" sz="2200" b="1" i="1" smtClean="0">
                          <a:latin typeface="Cambria Math" panose="02040503050406030204" pitchFamily="18" charset="0"/>
                          <a:ea typeface="Cambria Math" panose="02040503050406030204" pitchFamily="18" charset="0"/>
                        </a:rPr>
                        <m:t>≈</m:t>
                      </m:r>
                      <m:r>
                        <a:rPr lang="en-AU" sz="2200" b="1" i="1" smtClean="0">
                          <a:latin typeface="Cambria Math" panose="02040503050406030204" pitchFamily="18" charset="0"/>
                          <a:ea typeface="Cambria Math" panose="02040503050406030204" pitchFamily="18" charset="0"/>
                        </a:rPr>
                        <m:t>𝟐</m:t>
                      </m:r>
                      <m:r>
                        <a:rPr lang="en-AU" sz="2200" b="1" i="1" smtClean="0">
                          <a:latin typeface="Cambria Math" panose="02040503050406030204" pitchFamily="18" charset="0"/>
                          <a:ea typeface="Cambria Math" panose="02040503050406030204" pitchFamily="18" charset="0"/>
                        </a:rPr>
                        <m:t>.</m:t>
                      </m:r>
                      <m:r>
                        <a:rPr lang="en-AU" sz="2200" b="1" i="1" smtClean="0">
                          <a:latin typeface="Cambria Math" panose="02040503050406030204" pitchFamily="18" charset="0"/>
                          <a:ea typeface="Cambria Math" panose="02040503050406030204" pitchFamily="18" charset="0"/>
                        </a:rPr>
                        <m:t>𝟑𝟕𝟓</m:t>
                      </m:r>
                    </m:oMath>
                  </m:oMathPara>
                </a14:m>
                <a:endParaRPr lang="en-AU" sz="2200" b="1" dirty="0"/>
              </a:p>
            </p:txBody>
          </p:sp>
        </mc:Choice>
        <mc:Fallback>
          <p:sp>
            <p:nvSpPr>
              <p:cNvPr id="26" name="TextBox 25"/>
              <p:cNvSpPr txBox="1">
                <a:spLocks noRot="1" noChangeAspect="1" noMove="1" noResize="1" noEditPoints="1" noAdjustHandles="1" noChangeArrowheads="1" noChangeShapeType="1" noTextEdit="1"/>
              </p:cNvSpPr>
              <p:nvPr/>
            </p:nvSpPr>
            <p:spPr>
              <a:xfrm>
                <a:off x="6479336" y="4967475"/>
                <a:ext cx="4712245" cy="430887"/>
              </a:xfrm>
              <a:prstGeom prst="rect">
                <a:avLst/>
              </a:prstGeom>
              <a:blipFill>
                <a:blip r:embed="rId12"/>
                <a:stretch>
                  <a:fillRect b="-8451"/>
                </a:stretch>
              </a:blipFill>
            </p:spPr>
            <p:txBody>
              <a:bodyPr/>
              <a:lstStyle/>
              <a:p>
                <a:r>
                  <a:rPr lang="en-AU">
                    <a:noFill/>
                  </a:rPr>
                  <a:t> </a:t>
                </a:r>
              </a:p>
            </p:txBody>
          </p:sp>
        </mc:Fallback>
      </mc:AlternateContent>
      <p:sp>
        <p:nvSpPr>
          <p:cNvPr id="27" name="TextBox 26"/>
          <p:cNvSpPr txBox="1"/>
          <p:nvPr/>
        </p:nvSpPr>
        <p:spPr>
          <a:xfrm>
            <a:off x="3133082" y="5602715"/>
            <a:ext cx="7780814" cy="1107996"/>
          </a:xfrm>
          <a:prstGeom prst="rect">
            <a:avLst/>
          </a:prstGeom>
          <a:noFill/>
        </p:spPr>
        <p:txBody>
          <a:bodyPr wrap="square" rtlCol="0">
            <a:spAutoFit/>
          </a:bodyPr>
          <a:lstStyle/>
          <a:p>
            <a:pPr algn="ctr"/>
            <a:r>
              <a:rPr lang="en-AU" sz="2200" u="sng" dirty="0" smtClean="0"/>
              <a:t>Worded question? Worded answer!</a:t>
            </a:r>
          </a:p>
          <a:p>
            <a:pPr algn="ctr"/>
            <a:r>
              <a:rPr lang="en-AU" sz="2200" dirty="0" smtClean="0"/>
              <a:t>The ladder makes an angle of 62° with the ground and is 2.4m away from the wall.</a:t>
            </a:r>
            <a:endParaRPr lang="en-AU" sz="2200" dirty="0"/>
          </a:p>
        </p:txBody>
      </p:sp>
      <p:sp>
        <p:nvSpPr>
          <p:cNvPr id="28" name="TextBox 27"/>
          <p:cNvSpPr txBox="1"/>
          <p:nvPr/>
        </p:nvSpPr>
        <p:spPr>
          <a:xfrm>
            <a:off x="3091945" y="0"/>
            <a:ext cx="2837630" cy="461665"/>
          </a:xfrm>
          <a:prstGeom prst="rect">
            <a:avLst/>
          </a:prstGeom>
          <a:solidFill>
            <a:srgbClr val="FFFF00"/>
          </a:solidFill>
        </p:spPr>
        <p:txBody>
          <a:bodyPr wrap="square" rtlCol="0">
            <a:spAutoFit/>
          </a:bodyPr>
          <a:lstStyle/>
          <a:p>
            <a:r>
              <a:rPr lang="en-AU" sz="2400" dirty="0" smtClean="0"/>
              <a:t>Now do exercise 10A</a:t>
            </a:r>
            <a:endParaRPr lang="en-AU" sz="2400" dirty="0"/>
          </a:p>
        </p:txBody>
      </p:sp>
    </p:spTree>
    <p:extLst>
      <p:ext uri="{BB962C8B-B14F-4D97-AF65-F5344CB8AC3E}">
        <p14:creationId xmlns:p14="http://schemas.microsoft.com/office/powerpoint/2010/main" val="4005050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3" grpId="0"/>
      <p:bldP spid="24" grpId="0"/>
      <p:bldP spid="25" grpId="0"/>
      <p:bldP spid="26" grpId="0"/>
      <p:bldP spid="27" grpId="0"/>
      <p:bldP spid="28"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282</TotalTime>
  <Words>1756</Words>
  <Application>Microsoft Office PowerPoint</Application>
  <PresentationFormat>Widescreen</PresentationFormat>
  <Paragraphs>193</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Calibri Light</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HarrisdaleSHS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teacher</dc:creator>
  <cp:lastModifiedBy>LEVITT Megan [Harrisdale Senior High School]</cp:lastModifiedBy>
  <cp:revision>49</cp:revision>
  <dcterms:created xsi:type="dcterms:W3CDTF">2020-12-09T06:24:59Z</dcterms:created>
  <dcterms:modified xsi:type="dcterms:W3CDTF">2021-06-28T03:31:19Z</dcterms:modified>
</cp:coreProperties>
</file>
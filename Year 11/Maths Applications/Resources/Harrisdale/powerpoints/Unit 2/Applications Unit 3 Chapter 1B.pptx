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60" r:id="rId4"/>
    <p:sldId id="261"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6" d="100"/>
          <a:sy n="86" d="100"/>
        </p:scale>
        <p:origin x="84"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B27579-F52E-42A6-B5C2-78E5C10F025E}" type="datetimeFigureOut">
              <a:rPr lang="en-AU" smtClean="0"/>
              <a:t>27/10/2021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E2BD06-0278-4508-A820-0D058787DB6B}" type="slidenum">
              <a:rPr lang="en-AU" smtClean="0"/>
              <a:t>‹#›</a:t>
            </a:fld>
            <a:endParaRPr lang="en-AU"/>
          </a:p>
        </p:txBody>
      </p:sp>
    </p:spTree>
    <p:extLst>
      <p:ext uri="{BB962C8B-B14F-4D97-AF65-F5344CB8AC3E}">
        <p14:creationId xmlns:p14="http://schemas.microsoft.com/office/powerpoint/2010/main" val="26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83206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78343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53364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670257F-139A-4C64-8FF0-C28BA2020A88}" type="datetimeFigureOut">
              <a:rPr lang="en-AU" smtClean="0"/>
              <a:t>27/10/2021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04764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670257F-139A-4C64-8FF0-C28BA2020A88}" type="datetimeFigureOut">
              <a:rPr lang="en-AU" smtClean="0"/>
              <a:t>27/10/2021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4540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670257F-139A-4C64-8FF0-C28BA2020A88}" type="datetimeFigureOut">
              <a:rPr lang="en-AU" smtClean="0"/>
              <a:t>27/10/2021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581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0257F-139A-4C64-8FF0-C28BA2020A88}" type="datetimeFigureOut">
              <a:rPr lang="en-AU" smtClean="0"/>
              <a:t>27/10/2021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66372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27/10/2021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91592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27/10/2021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84478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34378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93993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0257F-139A-4C64-8FF0-C28BA2020A88}" type="datetimeFigureOut">
              <a:rPr lang="en-AU" smtClean="0"/>
              <a:t>27/10/2021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2D087-B4D1-44FD-A108-C1A3608A0FC7}" type="slidenum">
              <a:rPr lang="en-AU" smtClean="0"/>
              <a:t>‹#›</a:t>
            </a:fld>
            <a:endParaRPr lang="en-AU"/>
          </a:p>
        </p:txBody>
      </p:sp>
    </p:spTree>
    <p:extLst>
      <p:ext uri="{BB962C8B-B14F-4D97-AF65-F5344CB8AC3E}">
        <p14:creationId xmlns:p14="http://schemas.microsoft.com/office/powerpoint/2010/main" val="540715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60567" cy="461665"/>
          </a:xfrm>
          <a:prstGeom prst="rect">
            <a:avLst/>
          </a:prstGeom>
          <a:solidFill>
            <a:srgbClr val="FFFF00"/>
          </a:solidFill>
        </p:spPr>
        <p:txBody>
          <a:bodyPr wrap="square" rtlCol="0">
            <a:spAutoFit/>
          </a:bodyPr>
          <a:lstStyle/>
          <a:p>
            <a:r>
              <a:rPr lang="en-AU" sz="2400" dirty="0" smtClean="0"/>
              <a:t>Unit </a:t>
            </a:r>
            <a:r>
              <a:rPr lang="en-AU" sz="2400" smtClean="0"/>
              <a:t>3 Chapter 1B</a:t>
            </a:r>
            <a:endParaRPr lang="en-AU" sz="2400" dirty="0"/>
          </a:p>
        </p:txBody>
      </p:sp>
      <p:sp>
        <p:nvSpPr>
          <p:cNvPr id="3" name="TextBox 2"/>
          <p:cNvSpPr txBox="1"/>
          <p:nvPr/>
        </p:nvSpPr>
        <p:spPr>
          <a:xfrm>
            <a:off x="116378" y="604058"/>
            <a:ext cx="11715404" cy="3477875"/>
          </a:xfrm>
          <a:prstGeom prst="rect">
            <a:avLst/>
          </a:prstGeom>
          <a:noFill/>
        </p:spPr>
        <p:txBody>
          <a:bodyPr wrap="square" rtlCol="0">
            <a:spAutoFit/>
          </a:bodyPr>
          <a:lstStyle/>
          <a:p>
            <a:r>
              <a:rPr lang="en-AU" sz="2200" dirty="0" smtClean="0"/>
              <a:t>Earlier, we considered whether countries with higher levels of consumption of a particular food had higher death rates due to heart disease. Researchers would be interested to find out whether the higher death rates were in some way explained by the higher consumption of the foodstuff. </a:t>
            </a:r>
          </a:p>
          <a:p>
            <a:endParaRPr lang="en-AU" sz="2200" dirty="0"/>
          </a:p>
          <a:p>
            <a:r>
              <a:rPr lang="en-AU" sz="2200" dirty="0" smtClean="0"/>
              <a:t>In this situation, we say that the consumption of the food is the explanatory variable, also known as the independent variable or predictor variable. </a:t>
            </a:r>
          </a:p>
          <a:p>
            <a:endParaRPr lang="en-AU" sz="2200" dirty="0"/>
          </a:p>
          <a:p>
            <a:r>
              <a:rPr lang="en-AU" sz="2200" dirty="0" smtClean="0"/>
              <a:t>Were the higher death rates due to heart disease a response to the higher levels of consumption of the food? We say that the death rate is the response variable, also called the dependent variable or predicted variable.</a:t>
            </a:r>
            <a:endParaRPr lang="en-AU" sz="2200" dirty="0"/>
          </a:p>
        </p:txBody>
      </p:sp>
      <p:sp>
        <p:nvSpPr>
          <p:cNvPr id="6" name="TextBox 5"/>
          <p:cNvSpPr txBox="1"/>
          <p:nvPr/>
        </p:nvSpPr>
        <p:spPr>
          <a:xfrm>
            <a:off x="217367" y="4508637"/>
            <a:ext cx="11513425" cy="769441"/>
          </a:xfrm>
          <a:prstGeom prst="rect">
            <a:avLst/>
          </a:prstGeom>
          <a:noFill/>
          <a:ln>
            <a:solidFill>
              <a:schemeClr val="tx1"/>
            </a:solidFill>
          </a:ln>
        </p:spPr>
        <p:txBody>
          <a:bodyPr wrap="square" rtlCol="0">
            <a:spAutoFit/>
          </a:bodyPr>
          <a:lstStyle/>
          <a:p>
            <a:pPr algn="ctr"/>
            <a:r>
              <a:rPr lang="en-AU" sz="2200" b="1" dirty="0" smtClean="0"/>
              <a:t>When investigating relationships in bivariate data, the explanatory variable is the variable used to explain or predict a difference in the response variable.</a:t>
            </a:r>
            <a:endParaRPr lang="en-AU" sz="2200" b="1" dirty="0"/>
          </a:p>
        </p:txBody>
      </p:sp>
    </p:spTree>
    <p:extLst>
      <p:ext uri="{BB962C8B-B14F-4D97-AF65-F5344CB8AC3E}">
        <p14:creationId xmlns:p14="http://schemas.microsoft.com/office/powerpoint/2010/main" val="1711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38400" cy="461665"/>
          </a:xfrm>
          <a:prstGeom prst="rect">
            <a:avLst/>
          </a:prstGeom>
          <a:solidFill>
            <a:srgbClr val="FFFF00"/>
          </a:solidFill>
        </p:spPr>
        <p:txBody>
          <a:bodyPr wrap="square" rtlCol="0">
            <a:spAutoFit/>
          </a:bodyPr>
          <a:lstStyle/>
          <a:p>
            <a:r>
              <a:rPr lang="en-AU" sz="2400" dirty="0" smtClean="0"/>
              <a:t>Unit </a:t>
            </a:r>
            <a:r>
              <a:rPr lang="en-AU" sz="2400" smtClean="0"/>
              <a:t>3 Chapter 1B</a:t>
            </a:r>
            <a:endParaRPr lang="en-AU" sz="2400" dirty="0"/>
          </a:p>
        </p:txBody>
      </p:sp>
      <p:sp>
        <p:nvSpPr>
          <p:cNvPr id="5" name="TextBox 4"/>
          <p:cNvSpPr txBox="1"/>
          <p:nvPr/>
        </p:nvSpPr>
        <p:spPr>
          <a:xfrm>
            <a:off x="166255" y="565265"/>
            <a:ext cx="11765280" cy="1785104"/>
          </a:xfrm>
          <a:prstGeom prst="rect">
            <a:avLst/>
          </a:prstGeom>
          <a:noFill/>
        </p:spPr>
        <p:txBody>
          <a:bodyPr wrap="square" rtlCol="0">
            <a:spAutoFit/>
          </a:bodyPr>
          <a:lstStyle/>
          <a:p>
            <a:r>
              <a:rPr lang="en-AU" sz="2200" dirty="0" smtClean="0"/>
              <a:t>If you find it difficult to identify which variable is the explanatory variable (independent) and which is the response variable (dependent) it can help to ask:</a:t>
            </a:r>
          </a:p>
          <a:p>
            <a:r>
              <a:rPr lang="en-AU" sz="2200" dirty="0" smtClean="0"/>
              <a:t>Which variable explains differences in the other? </a:t>
            </a:r>
          </a:p>
          <a:p>
            <a:r>
              <a:rPr lang="en-AU" sz="2200" dirty="0" smtClean="0"/>
              <a:t>Which variable would be used to predict the other? </a:t>
            </a:r>
          </a:p>
          <a:p>
            <a:r>
              <a:rPr lang="en-AU" sz="2200" dirty="0" smtClean="0"/>
              <a:t>Which occurs first?</a:t>
            </a:r>
            <a:endParaRPr lang="en-AU" sz="2200" dirty="0"/>
          </a:p>
        </p:txBody>
      </p:sp>
      <p:sp>
        <p:nvSpPr>
          <p:cNvPr id="6" name="TextBox 5"/>
          <p:cNvSpPr txBox="1"/>
          <p:nvPr/>
        </p:nvSpPr>
        <p:spPr>
          <a:xfrm>
            <a:off x="166255" y="2347578"/>
            <a:ext cx="11310851" cy="1107996"/>
          </a:xfrm>
          <a:prstGeom prst="rect">
            <a:avLst/>
          </a:prstGeom>
          <a:noFill/>
        </p:spPr>
        <p:txBody>
          <a:bodyPr wrap="square" rtlCol="0">
            <a:spAutoFit/>
          </a:bodyPr>
          <a:lstStyle/>
          <a:p>
            <a:r>
              <a:rPr lang="en-AU" sz="2200" dirty="0" smtClean="0"/>
              <a:t>Does the balance of male/female MPs depend upon the party the MP is in?</a:t>
            </a:r>
          </a:p>
          <a:p>
            <a:r>
              <a:rPr lang="en-AU" sz="2200" dirty="0" smtClean="0"/>
              <a:t>Explanatory variable: Political party</a:t>
            </a:r>
          </a:p>
          <a:p>
            <a:r>
              <a:rPr lang="en-AU" sz="2200" dirty="0" smtClean="0"/>
              <a:t>Response variable: Whether the MP is male or female</a:t>
            </a:r>
            <a:endParaRPr lang="en-AU" sz="2200" dirty="0"/>
          </a:p>
        </p:txBody>
      </p:sp>
      <p:sp>
        <p:nvSpPr>
          <p:cNvPr id="8" name="TextBox 7"/>
          <p:cNvSpPr txBox="1"/>
          <p:nvPr/>
        </p:nvSpPr>
        <p:spPr>
          <a:xfrm>
            <a:off x="166255" y="3455574"/>
            <a:ext cx="11310851" cy="1107996"/>
          </a:xfrm>
          <a:prstGeom prst="rect">
            <a:avLst/>
          </a:prstGeom>
          <a:noFill/>
        </p:spPr>
        <p:txBody>
          <a:bodyPr wrap="square" rtlCol="0">
            <a:spAutoFit/>
          </a:bodyPr>
          <a:lstStyle/>
          <a:p>
            <a:r>
              <a:rPr lang="en-AU" sz="2200" dirty="0" smtClean="0"/>
              <a:t>Can the choice of mode of transport be explained by gender?</a:t>
            </a:r>
          </a:p>
          <a:p>
            <a:r>
              <a:rPr lang="en-AU" sz="2200" dirty="0" smtClean="0"/>
              <a:t>Explanatory variable: Gender</a:t>
            </a:r>
          </a:p>
          <a:p>
            <a:r>
              <a:rPr lang="en-AU" sz="2200" dirty="0" smtClean="0"/>
              <a:t>Response variable: Mode of transport</a:t>
            </a:r>
            <a:endParaRPr lang="en-AU" sz="2200" dirty="0"/>
          </a:p>
        </p:txBody>
      </p:sp>
      <p:sp>
        <p:nvSpPr>
          <p:cNvPr id="9" name="TextBox 8"/>
          <p:cNvSpPr txBox="1"/>
          <p:nvPr/>
        </p:nvSpPr>
        <p:spPr>
          <a:xfrm>
            <a:off x="166255" y="4678773"/>
            <a:ext cx="11310851" cy="1107996"/>
          </a:xfrm>
          <a:prstGeom prst="rect">
            <a:avLst/>
          </a:prstGeom>
          <a:noFill/>
        </p:spPr>
        <p:txBody>
          <a:bodyPr wrap="square" rtlCol="0">
            <a:spAutoFit/>
          </a:bodyPr>
          <a:lstStyle/>
          <a:p>
            <a:r>
              <a:rPr lang="en-AU" sz="2200" dirty="0" smtClean="0"/>
              <a:t>Can preferred type of movie be explained by age?</a:t>
            </a:r>
          </a:p>
          <a:p>
            <a:r>
              <a:rPr lang="en-AU" sz="2200" dirty="0" smtClean="0"/>
              <a:t>Explanatory variable: Age</a:t>
            </a:r>
          </a:p>
          <a:p>
            <a:r>
              <a:rPr lang="en-AU" sz="2200" dirty="0" smtClean="0"/>
              <a:t>Response variable: Preferred type of movie</a:t>
            </a:r>
            <a:endParaRPr lang="en-AU" sz="2200" dirty="0"/>
          </a:p>
        </p:txBody>
      </p:sp>
      <p:sp>
        <p:nvSpPr>
          <p:cNvPr id="10" name="TextBox 9"/>
          <p:cNvSpPr txBox="1"/>
          <p:nvPr/>
        </p:nvSpPr>
        <p:spPr>
          <a:xfrm>
            <a:off x="166254" y="5750004"/>
            <a:ext cx="11310851" cy="1107996"/>
          </a:xfrm>
          <a:prstGeom prst="rect">
            <a:avLst/>
          </a:prstGeom>
          <a:noFill/>
        </p:spPr>
        <p:txBody>
          <a:bodyPr wrap="square" rtlCol="0">
            <a:spAutoFit/>
          </a:bodyPr>
          <a:lstStyle/>
          <a:p>
            <a:r>
              <a:rPr lang="en-AU" sz="2200" dirty="0" smtClean="0"/>
              <a:t>Does high blood pressure increase the risk of a heart attack?</a:t>
            </a:r>
          </a:p>
          <a:p>
            <a:r>
              <a:rPr lang="en-AU" sz="2200" dirty="0" smtClean="0"/>
              <a:t>Explanatory variable: Blood pressure</a:t>
            </a:r>
          </a:p>
          <a:p>
            <a:r>
              <a:rPr lang="en-AU" sz="2200" dirty="0" smtClean="0"/>
              <a:t>Response variable: Risk of heart attack</a:t>
            </a:r>
            <a:endParaRPr lang="en-AU" sz="2200" dirty="0"/>
          </a:p>
        </p:txBody>
      </p:sp>
    </p:spTree>
    <p:extLst>
      <p:ext uri="{BB962C8B-B14F-4D97-AF65-F5344CB8AC3E}">
        <p14:creationId xmlns:p14="http://schemas.microsoft.com/office/powerpoint/2010/main" val="362701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50248" y="1718744"/>
            <a:ext cx="5829820" cy="1682390"/>
          </a:xfrm>
          <a:prstGeom prst="rect">
            <a:avLst/>
          </a:prstGeom>
        </p:spPr>
      </p:pic>
      <p:sp>
        <p:nvSpPr>
          <p:cNvPr id="14" name="TextBox 13"/>
          <p:cNvSpPr txBox="1"/>
          <p:nvPr/>
        </p:nvSpPr>
        <p:spPr>
          <a:xfrm>
            <a:off x="0" y="0"/>
            <a:ext cx="2438400" cy="461665"/>
          </a:xfrm>
          <a:prstGeom prst="rect">
            <a:avLst/>
          </a:prstGeom>
          <a:solidFill>
            <a:srgbClr val="FFFF00"/>
          </a:solidFill>
        </p:spPr>
        <p:txBody>
          <a:bodyPr wrap="square" rtlCol="0">
            <a:spAutoFit/>
          </a:bodyPr>
          <a:lstStyle/>
          <a:p>
            <a:r>
              <a:rPr lang="en-AU" sz="2400" dirty="0" smtClean="0"/>
              <a:t>Unit </a:t>
            </a:r>
            <a:r>
              <a:rPr lang="en-AU" sz="2400" smtClean="0"/>
              <a:t>3 Chapter 1B</a:t>
            </a:r>
            <a:endParaRPr lang="en-AU" sz="2400" dirty="0"/>
          </a:p>
        </p:txBody>
      </p:sp>
      <p:sp>
        <p:nvSpPr>
          <p:cNvPr id="4" name="TextBox 3"/>
          <p:cNvSpPr txBox="1"/>
          <p:nvPr/>
        </p:nvSpPr>
        <p:spPr>
          <a:xfrm>
            <a:off x="144087" y="615142"/>
            <a:ext cx="11648902" cy="1446550"/>
          </a:xfrm>
          <a:prstGeom prst="rect">
            <a:avLst/>
          </a:prstGeom>
          <a:noFill/>
        </p:spPr>
        <p:txBody>
          <a:bodyPr wrap="square" rtlCol="0">
            <a:spAutoFit/>
          </a:bodyPr>
          <a:lstStyle/>
          <a:p>
            <a:r>
              <a:rPr lang="en-AU" sz="2200" dirty="0" smtClean="0"/>
              <a:t>In the MPs situation, we considered whether the party an MP was in would explain the male/female balance. The political parties formed the explanatory variable and gender the response variable. The table gave the political parties as columns and we created column percentages before drawing our column graph.</a:t>
            </a:r>
            <a:endParaRPr lang="en-AU" sz="2200" dirty="0"/>
          </a:p>
        </p:txBody>
      </p:sp>
      <p:sp>
        <p:nvSpPr>
          <p:cNvPr id="8" name="TextBox 7"/>
          <p:cNvSpPr txBox="1"/>
          <p:nvPr/>
        </p:nvSpPr>
        <p:spPr>
          <a:xfrm>
            <a:off x="144087" y="3341934"/>
            <a:ext cx="11648902" cy="1107996"/>
          </a:xfrm>
          <a:prstGeom prst="rect">
            <a:avLst/>
          </a:prstGeom>
          <a:noFill/>
        </p:spPr>
        <p:txBody>
          <a:bodyPr wrap="square" rtlCol="0">
            <a:spAutoFit/>
          </a:bodyPr>
          <a:lstStyle/>
          <a:p>
            <a:r>
              <a:rPr lang="en-AU" sz="2200" dirty="0" smtClean="0"/>
              <a:t>In this situation, we are considering whether gender explains any variation in choice of mode of transport. Now, gender is the explanatory variable and mode of transport is the response </a:t>
            </a:r>
            <a:r>
              <a:rPr lang="en-AU" sz="2200" dirty="0"/>
              <a:t>v</a:t>
            </a:r>
            <a:r>
              <a:rPr lang="en-AU" sz="2200" dirty="0" smtClean="0"/>
              <a:t>ariable. The table gives us gender as rows, so we find row percentages before drawing our column graph.</a:t>
            </a:r>
            <a:endParaRPr lang="en-AU" sz="2200" dirty="0"/>
          </a:p>
        </p:txBody>
      </p:sp>
      <p:pic>
        <p:nvPicPr>
          <p:cNvPr id="6" name="Picture 5"/>
          <p:cNvPicPr>
            <a:picLocks noChangeAspect="1"/>
          </p:cNvPicPr>
          <p:nvPr/>
        </p:nvPicPr>
        <p:blipFill>
          <a:blip r:embed="rId3"/>
          <a:stretch>
            <a:fillRect/>
          </a:stretch>
        </p:blipFill>
        <p:spPr>
          <a:xfrm>
            <a:off x="230283" y="4449930"/>
            <a:ext cx="7134794" cy="1896761"/>
          </a:xfrm>
          <a:prstGeom prst="rect">
            <a:avLst/>
          </a:prstGeom>
        </p:spPr>
      </p:pic>
      <p:sp>
        <p:nvSpPr>
          <p:cNvPr id="10" name="TextBox 9"/>
          <p:cNvSpPr txBox="1"/>
          <p:nvPr/>
        </p:nvSpPr>
        <p:spPr>
          <a:xfrm>
            <a:off x="7451273" y="4526205"/>
            <a:ext cx="4427912" cy="2123658"/>
          </a:xfrm>
          <a:prstGeom prst="rect">
            <a:avLst/>
          </a:prstGeom>
          <a:noFill/>
          <a:ln>
            <a:solidFill>
              <a:schemeClr val="tx1"/>
            </a:solidFill>
          </a:ln>
        </p:spPr>
        <p:txBody>
          <a:bodyPr wrap="square" rtlCol="0">
            <a:spAutoFit/>
          </a:bodyPr>
          <a:lstStyle/>
          <a:p>
            <a:pPr algn="ctr"/>
            <a:r>
              <a:rPr lang="en-AU" sz="2200" b="1" dirty="0" smtClean="0"/>
              <a:t>If the explanatory variable uses the rows to show its different categories, use row percentages.</a:t>
            </a:r>
          </a:p>
          <a:p>
            <a:pPr algn="ctr"/>
            <a:r>
              <a:rPr lang="en-AU" sz="2200" b="1" dirty="0" smtClean="0"/>
              <a:t>If the explanatory variable uses the columns to show its different categories, use column percentages.</a:t>
            </a:r>
            <a:endParaRPr lang="en-AU" sz="2200" b="1" dirty="0"/>
          </a:p>
        </p:txBody>
      </p:sp>
    </p:spTree>
    <p:extLst>
      <p:ext uri="{BB962C8B-B14F-4D97-AF65-F5344CB8AC3E}">
        <p14:creationId xmlns:p14="http://schemas.microsoft.com/office/powerpoint/2010/main" val="114625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3807229" cy="461665"/>
          </a:xfrm>
          <a:prstGeom prst="rect">
            <a:avLst/>
          </a:prstGeom>
          <a:solidFill>
            <a:srgbClr val="FFFF00"/>
          </a:solidFill>
        </p:spPr>
        <p:txBody>
          <a:bodyPr wrap="square" rtlCol="0">
            <a:spAutoFit/>
          </a:bodyPr>
          <a:lstStyle/>
          <a:p>
            <a:r>
              <a:rPr lang="en-AU" sz="2400" dirty="0" smtClean="0"/>
              <a:t>Unit </a:t>
            </a:r>
            <a:r>
              <a:rPr lang="en-AU" sz="2400" smtClean="0"/>
              <a:t>3 Chapter </a:t>
            </a:r>
            <a:r>
              <a:rPr lang="en-AU" sz="2400" smtClean="0"/>
              <a:t>1B Example 3</a:t>
            </a:r>
            <a:endParaRPr lang="en-AU" sz="2400" dirty="0"/>
          </a:p>
        </p:txBody>
      </p:sp>
      <p:sp>
        <p:nvSpPr>
          <p:cNvPr id="4" name="TextBox 3"/>
          <p:cNvSpPr txBox="1"/>
          <p:nvPr/>
        </p:nvSpPr>
        <p:spPr>
          <a:xfrm>
            <a:off x="94211" y="587433"/>
            <a:ext cx="11804073" cy="5509200"/>
          </a:xfrm>
          <a:prstGeom prst="rect">
            <a:avLst/>
          </a:prstGeom>
          <a:noFill/>
        </p:spPr>
        <p:txBody>
          <a:bodyPr wrap="square" rtlCol="0">
            <a:spAutoFit/>
          </a:bodyPr>
          <a:lstStyle/>
          <a:p>
            <a:r>
              <a:rPr lang="en-AU" sz="2200" dirty="0" smtClean="0"/>
              <a:t>A number of people were asked whether they favoured increasing the number of driving hours a learner driver must complete before gaining their license, were not in favour or were undecided. The results, by age of respondent, led to the following table.</a:t>
            </a:r>
          </a:p>
          <a:p>
            <a:endParaRPr lang="en-AU" sz="2200" dirty="0"/>
          </a:p>
          <a:p>
            <a:endParaRPr lang="en-AU" sz="2200" dirty="0" smtClean="0"/>
          </a:p>
          <a:p>
            <a:endParaRPr lang="en-AU" sz="2200" dirty="0"/>
          </a:p>
          <a:p>
            <a:endParaRPr lang="en-AU" sz="2200" dirty="0" smtClean="0"/>
          </a:p>
          <a:p>
            <a:endParaRPr lang="en-AU" sz="2200" dirty="0"/>
          </a:p>
          <a:p>
            <a:endParaRPr lang="en-AU" sz="2200" dirty="0" smtClean="0"/>
          </a:p>
          <a:p>
            <a:r>
              <a:rPr lang="en-AU" sz="2200" dirty="0" smtClean="0"/>
              <a:t>These results are to be used to investigate whether the way a person feels about this issue can be explained by their age.</a:t>
            </a:r>
          </a:p>
          <a:p>
            <a:endParaRPr lang="en-AU" sz="2200" dirty="0"/>
          </a:p>
          <a:p>
            <a:pPr marL="457200" indent="-457200">
              <a:buAutoNum type="alphaLcParenR"/>
            </a:pPr>
            <a:r>
              <a:rPr lang="en-AU" sz="2200" dirty="0" smtClean="0"/>
              <a:t>Which is the explanatory variable and which is the response variable?</a:t>
            </a:r>
          </a:p>
          <a:p>
            <a:endParaRPr lang="en-AU" sz="2200" dirty="0"/>
          </a:p>
          <a:p>
            <a:r>
              <a:rPr lang="en-AU" sz="2200" dirty="0" smtClean="0"/>
              <a:t>We are looking at whether the answer to the survey can be </a:t>
            </a:r>
            <a:r>
              <a:rPr lang="en-AU" sz="2200" b="1" dirty="0" smtClean="0"/>
              <a:t>explained</a:t>
            </a:r>
            <a:r>
              <a:rPr lang="en-AU" sz="2200" dirty="0" smtClean="0"/>
              <a:t> by age. Age is the explanatory variable and the answer is the response variable.</a:t>
            </a:r>
            <a:endParaRPr lang="en-AU" sz="2200" dirty="0"/>
          </a:p>
        </p:txBody>
      </p:sp>
      <p:pic>
        <p:nvPicPr>
          <p:cNvPr id="5" name="Picture 4"/>
          <p:cNvPicPr>
            <a:picLocks noChangeAspect="1"/>
          </p:cNvPicPr>
          <p:nvPr/>
        </p:nvPicPr>
        <p:blipFill>
          <a:blip r:embed="rId2"/>
          <a:stretch>
            <a:fillRect/>
          </a:stretch>
        </p:blipFill>
        <p:spPr>
          <a:xfrm>
            <a:off x="198899" y="1695429"/>
            <a:ext cx="10220325" cy="1657350"/>
          </a:xfrm>
          <a:prstGeom prst="rect">
            <a:avLst/>
          </a:prstGeom>
        </p:spPr>
      </p:pic>
    </p:spTree>
    <p:extLst>
      <p:ext uri="{BB962C8B-B14F-4D97-AF65-F5344CB8AC3E}">
        <p14:creationId xmlns:p14="http://schemas.microsoft.com/office/powerpoint/2010/main" val="369760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99852" y="3121460"/>
            <a:ext cx="6194448" cy="1318497"/>
          </a:xfrm>
          <a:prstGeom prst="rect">
            <a:avLst/>
          </a:prstGeom>
        </p:spPr>
      </p:pic>
      <p:pic>
        <p:nvPicPr>
          <p:cNvPr id="5" name="Picture 4"/>
          <p:cNvPicPr>
            <a:picLocks noChangeAspect="1"/>
          </p:cNvPicPr>
          <p:nvPr/>
        </p:nvPicPr>
        <p:blipFill>
          <a:blip r:embed="rId3"/>
          <a:stretch>
            <a:fillRect/>
          </a:stretch>
        </p:blipFill>
        <p:spPr>
          <a:xfrm>
            <a:off x="536950" y="93844"/>
            <a:ext cx="10220325" cy="1657350"/>
          </a:xfrm>
          <a:prstGeom prst="rect">
            <a:avLst/>
          </a:prstGeom>
        </p:spPr>
      </p:pic>
      <p:sp>
        <p:nvSpPr>
          <p:cNvPr id="14" name="TextBox 13"/>
          <p:cNvSpPr txBox="1"/>
          <p:nvPr/>
        </p:nvSpPr>
        <p:spPr>
          <a:xfrm>
            <a:off x="-1" y="0"/>
            <a:ext cx="3807229" cy="461665"/>
          </a:xfrm>
          <a:prstGeom prst="rect">
            <a:avLst/>
          </a:prstGeom>
          <a:solidFill>
            <a:srgbClr val="FFFF00"/>
          </a:solidFill>
        </p:spPr>
        <p:txBody>
          <a:bodyPr wrap="square" rtlCol="0">
            <a:spAutoFit/>
          </a:bodyPr>
          <a:lstStyle/>
          <a:p>
            <a:r>
              <a:rPr lang="en-AU" sz="2400" dirty="0" smtClean="0"/>
              <a:t>Unit </a:t>
            </a:r>
            <a:r>
              <a:rPr lang="en-AU" sz="2400" smtClean="0"/>
              <a:t>3 Chapter </a:t>
            </a:r>
            <a:r>
              <a:rPr lang="en-AU" sz="2400" smtClean="0"/>
              <a:t>1B Example 3</a:t>
            </a:r>
            <a:endParaRPr lang="en-AU" sz="2400" dirty="0"/>
          </a:p>
        </p:txBody>
      </p:sp>
      <p:sp>
        <p:nvSpPr>
          <p:cNvPr id="4" name="TextBox 3"/>
          <p:cNvSpPr txBox="1"/>
          <p:nvPr/>
        </p:nvSpPr>
        <p:spPr>
          <a:xfrm>
            <a:off x="94211" y="587433"/>
            <a:ext cx="11804073" cy="2123658"/>
          </a:xfrm>
          <a:prstGeom prst="rect">
            <a:avLst/>
          </a:prstGeom>
          <a:noFill/>
        </p:spPr>
        <p:txBody>
          <a:bodyPr wrap="square" rtlCol="0">
            <a:spAutoFit/>
          </a:bodyPr>
          <a:lstStyle/>
          <a:p>
            <a:endParaRPr lang="en-AU" sz="2200" dirty="0"/>
          </a:p>
          <a:p>
            <a:endParaRPr lang="en-AU" sz="2200" dirty="0" smtClean="0"/>
          </a:p>
          <a:p>
            <a:endParaRPr lang="en-AU" sz="2200" dirty="0"/>
          </a:p>
          <a:p>
            <a:endParaRPr lang="en-AU" sz="2200" dirty="0" smtClean="0"/>
          </a:p>
          <a:p>
            <a:r>
              <a:rPr lang="en-AU" sz="2200" dirty="0" smtClean="0"/>
              <a:t>b) Draw a table showing either row or column percentages (as appropriate) and create a proportional column graph.</a:t>
            </a:r>
          </a:p>
        </p:txBody>
      </p:sp>
      <p:pic>
        <p:nvPicPr>
          <p:cNvPr id="7" name="Picture 6"/>
          <p:cNvPicPr>
            <a:picLocks noChangeAspect="1"/>
          </p:cNvPicPr>
          <p:nvPr/>
        </p:nvPicPr>
        <p:blipFill>
          <a:blip r:embed="rId4"/>
          <a:stretch>
            <a:fillRect/>
          </a:stretch>
        </p:blipFill>
        <p:spPr>
          <a:xfrm>
            <a:off x="199852" y="4552923"/>
            <a:ext cx="6367203" cy="2185880"/>
          </a:xfrm>
          <a:prstGeom prst="rect">
            <a:avLst/>
          </a:prstGeom>
        </p:spPr>
      </p:pic>
      <p:sp>
        <p:nvSpPr>
          <p:cNvPr id="8" name="TextBox 7"/>
          <p:cNvSpPr txBox="1"/>
          <p:nvPr/>
        </p:nvSpPr>
        <p:spPr>
          <a:xfrm>
            <a:off x="6483927" y="3121460"/>
            <a:ext cx="5414357" cy="769441"/>
          </a:xfrm>
          <a:prstGeom prst="rect">
            <a:avLst/>
          </a:prstGeom>
          <a:noFill/>
          <a:ln>
            <a:solidFill>
              <a:schemeClr val="tx1"/>
            </a:solidFill>
          </a:ln>
        </p:spPr>
        <p:txBody>
          <a:bodyPr wrap="square" rtlCol="0">
            <a:spAutoFit/>
          </a:bodyPr>
          <a:lstStyle/>
          <a:p>
            <a:pPr algn="ctr"/>
            <a:r>
              <a:rPr lang="en-AU" sz="2200" b="1" dirty="0" smtClean="0"/>
              <a:t>Column percentages as the explanatory variable is on the columns.</a:t>
            </a:r>
            <a:endParaRPr lang="en-AU" sz="2200" b="1" dirty="0"/>
          </a:p>
        </p:txBody>
      </p:sp>
    </p:spTree>
    <p:extLst>
      <p:ext uri="{BB962C8B-B14F-4D97-AF65-F5344CB8AC3E}">
        <p14:creationId xmlns:p14="http://schemas.microsoft.com/office/powerpoint/2010/main" val="4732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05394" y="1054361"/>
            <a:ext cx="6194448" cy="1318497"/>
          </a:xfrm>
          <a:prstGeom prst="rect">
            <a:avLst/>
          </a:prstGeom>
        </p:spPr>
      </p:pic>
      <p:sp>
        <p:nvSpPr>
          <p:cNvPr id="14" name="TextBox 13"/>
          <p:cNvSpPr txBox="1"/>
          <p:nvPr/>
        </p:nvSpPr>
        <p:spPr>
          <a:xfrm>
            <a:off x="-1" y="0"/>
            <a:ext cx="3807229" cy="461665"/>
          </a:xfrm>
          <a:prstGeom prst="rect">
            <a:avLst/>
          </a:prstGeom>
          <a:solidFill>
            <a:srgbClr val="FFFF00"/>
          </a:solidFill>
        </p:spPr>
        <p:txBody>
          <a:bodyPr wrap="square" rtlCol="0">
            <a:spAutoFit/>
          </a:bodyPr>
          <a:lstStyle/>
          <a:p>
            <a:r>
              <a:rPr lang="en-AU" sz="2400" dirty="0" smtClean="0"/>
              <a:t>Unit </a:t>
            </a:r>
            <a:r>
              <a:rPr lang="en-AU" sz="2400" smtClean="0"/>
              <a:t>3 Chapter </a:t>
            </a:r>
            <a:r>
              <a:rPr lang="en-AU" sz="2400" smtClean="0"/>
              <a:t>1B Example 3</a:t>
            </a:r>
            <a:endParaRPr lang="en-AU" sz="2400" dirty="0"/>
          </a:p>
        </p:txBody>
      </p:sp>
      <p:sp>
        <p:nvSpPr>
          <p:cNvPr id="4" name="TextBox 3"/>
          <p:cNvSpPr txBox="1"/>
          <p:nvPr/>
        </p:nvSpPr>
        <p:spPr>
          <a:xfrm>
            <a:off x="99753" y="1313411"/>
            <a:ext cx="11804073" cy="2123658"/>
          </a:xfrm>
          <a:prstGeom prst="rect">
            <a:avLst/>
          </a:prstGeom>
          <a:noFill/>
        </p:spPr>
        <p:txBody>
          <a:bodyPr wrap="square" rtlCol="0">
            <a:spAutoFit/>
          </a:bodyPr>
          <a:lstStyle/>
          <a:p>
            <a:endParaRPr lang="en-AU" sz="2200" dirty="0"/>
          </a:p>
          <a:p>
            <a:endParaRPr lang="en-AU" sz="2200" dirty="0" smtClean="0"/>
          </a:p>
          <a:p>
            <a:endParaRPr lang="en-AU" sz="2200" dirty="0"/>
          </a:p>
          <a:p>
            <a:endParaRPr lang="en-AU" sz="2200" dirty="0" smtClean="0"/>
          </a:p>
          <a:p>
            <a:r>
              <a:rPr lang="en-AU" sz="2200" dirty="0" smtClean="0"/>
              <a:t>c) Comment on any association between the variables, explaining your reasoning and describing the situation. </a:t>
            </a:r>
            <a:endParaRPr lang="en-AU" sz="2200" dirty="0"/>
          </a:p>
        </p:txBody>
      </p:sp>
      <p:pic>
        <p:nvPicPr>
          <p:cNvPr id="7" name="Picture 6"/>
          <p:cNvPicPr>
            <a:picLocks noChangeAspect="1"/>
          </p:cNvPicPr>
          <p:nvPr/>
        </p:nvPicPr>
        <p:blipFill>
          <a:blip r:embed="rId3"/>
          <a:stretch>
            <a:fillRect/>
          </a:stretch>
        </p:blipFill>
        <p:spPr>
          <a:xfrm>
            <a:off x="6529941" y="706900"/>
            <a:ext cx="5236671" cy="1797765"/>
          </a:xfrm>
          <a:prstGeom prst="rect">
            <a:avLst/>
          </a:prstGeom>
        </p:spPr>
      </p:pic>
      <p:sp>
        <p:nvSpPr>
          <p:cNvPr id="3" name="TextBox 2"/>
          <p:cNvSpPr txBox="1"/>
          <p:nvPr/>
        </p:nvSpPr>
        <p:spPr>
          <a:xfrm>
            <a:off x="205394" y="3491345"/>
            <a:ext cx="11332672" cy="2800767"/>
          </a:xfrm>
          <a:prstGeom prst="rect">
            <a:avLst/>
          </a:prstGeom>
          <a:noFill/>
        </p:spPr>
        <p:txBody>
          <a:bodyPr wrap="square" rtlCol="0">
            <a:spAutoFit/>
          </a:bodyPr>
          <a:lstStyle/>
          <a:p>
            <a:r>
              <a:rPr lang="en-AU" sz="2200" dirty="0" smtClean="0"/>
              <a:t>The change in the proportions of answers as we move across age categories suggests that there is an association between the response and age.</a:t>
            </a:r>
          </a:p>
          <a:p>
            <a:r>
              <a:rPr lang="en-AU" sz="2200" dirty="0" smtClean="0"/>
              <a:t>Whilst in each age category, the ‘not in favour’ is larger than the ‘in favour’, the proportion of ‘not in favour’ decreases as the age category increases. </a:t>
            </a:r>
          </a:p>
          <a:p>
            <a:r>
              <a:rPr lang="en-AU" sz="2200" dirty="0" smtClean="0"/>
              <a:t>The proportion of ‘undecided’ increases as age category increases, from only 10% of 18 to 29s up to 41% for over 65s.</a:t>
            </a:r>
          </a:p>
          <a:p>
            <a:r>
              <a:rPr lang="en-AU" sz="2200" dirty="0" smtClean="0"/>
              <a:t>The proportion ‘in favour’ is least in the age category 18 to 29 (10%) which is roughly half the proportion of ‘in favour’ responses from the other age categories. </a:t>
            </a:r>
            <a:endParaRPr lang="en-AU" sz="2200" dirty="0"/>
          </a:p>
        </p:txBody>
      </p:sp>
      <p:sp>
        <p:nvSpPr>
          <p:cNvPr id="9" name="TextBox 8"/>
          <p:cNvSpPr txBox="1"/>
          <p:nvPr/>
        </p:nvSpPr>
        <p:spPr>
          <a:xfrm>
            <a:off x="4098174" y="0"/>
            <a:ext cx="2690553" cy="461665"/>
          </a:xfrm>
          <a:prstGeom prst="rect">
            <a:avLst/>
          </a:prstGeom>
          <a:solidFill>
            <a:srgbClr val="FFFF00"/>
          </a:solidFill>
        </p:spPr>
        <p:txBody>
          <a:bodyPr wrap="square" rtlCol="0">
            <a:spAutoFit/>
          </a:bodyPr>
          <a:lstStyle/>
          <a:p>
            <a:r>
              <a:rPr lang="en-AU" sz="2400" dirty="0" smtClean="0"/>
              <a:t>Now try Exercise 1B</a:t>
            </a:r>
            <a:endParaRPr lang="en-AU" sz="2400" dirty="0"/>
          </a:p>
        </p:txBody>
      </p:sp>
    </p:spTree>
    <p:extLst>
      <p:ext uri="{BB962C8B-B14F-4D97-AF65-F5344CB8AC3E}">
        <p14:creationId xmlns:p14="http://schemas.microsoft.com/office/powerpoint/2010/main" val="29898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753</Words>
  <Application>Microsoft Office PowerPoint</Application>
  <PresentationFormat>Widescreen</PresentationFormat>
  <Paragraphs>60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LEVITT Megan [Harrisdale Senior High School]</dc:creator>
  <cp:lastModifiedBy>LEVITT Megan [Harrisdale Senior High School]</cp:lastModifiedBy>
  <cp:revision>16</cp:revision>
  <dcterms:created xsi:type="dcterms:W3CDTF">2021-06-15T06:02:12Z</dcterms:created>
  <dcterms:modified xsi:type="dcterms:W3CDTF">2021-10-27T06:01:19Z</dcterms:modified>
</cp:coreProperties>
</file>
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5" r:id="rId5"/>
    <p:sldId id="261" r:id="rId6"/>
    <p:sldId id="262" r:id="rId7"/>
    <p:sldId id="263" r:id="rId8"/>
    <p:sldId id="264"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varScale="1">
        <p:scale>
          <a:sx n="85" d="100"/>
          <a:sy n="85" d="100"/>
        </p:scale>
        <p:origin x="63" y="1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4:40:27.057"/>
    </inkml:context>
    <inkml:brush xml:id="br0">
      <inkml:brushProperty name="width" value="0.09333" units="cm"/>
      <inkml:brushProperty name="height" value="0.09333" units="cm"/>
      <inkml:brushProperty name="color" value="#ED1C24"/>
      <inkml:brushProperty name="fitToCurve" value="1"/>
    </inkml:brush>
  </inkml:definitions>
  <inkml:traceGroup>
    <inkml:annotationXML>
      <emma:emma xmlns:emma="http://www.w3.org/2003/04/emma" version="1.0">
        <emma:interpretation id="{CB1789B6-BADF-412A-850F-213ACEC136B2}" emma:medium="tactile" emma:mode="ink">
          <msink:context xmlns:msink="http://schemas.microsoft.com/ink/2010/main" type="inkDrawing" rotatedBoundingBox="5477,11542 6347,10186 6630,10368 5760,11724" semanticType="callout" shapeName="Other">
            <msink:sourceLink direction="with" ref="{257263CE-2934-4DA1-AD77-CFC3065F52F4}"/>
            <msink:sourceLink direction="with" ref="{773AE1BA-CA63-4D41-8676-55AC86E510A2}"/>
          </msink:context>
        </emma:interpretation>
      </emma:emma>
    </inkml:annotationXML>
    <inkml:trace contextRef="#ctx0" brushRef="#br0">913 16 911 0,'0'0'0'0,"0"0"0"0,0 0 0 0,0 0 0 16,0 0 1824-16,0 0 288 0,0 0 48 0,0 0 16 16,0 0-1840-16,0 0-336 0,0 0 0 0,0 0-192 0,0 0-144 0,0 0-32 15,0 0 0-15,0 0 0 0,0 0 944 0,0 0 176 16,0 0 32-16,0 0 16 0,0 0 544 0,0 0 96 15,0 0 32-15,0 0 0 0,0 0-176 0,0 0-16 16,0 0-16-16,0 0 0 0,0 0-544 0,0 0-96 16,0 0-32-16,0 0 0 0,0 0-160 0,0 0-48 15,0 0 0-15,-10 0 0 0,10 0 32 0,0 0 0 16,-10-4 0-16,10 4 0 0,0 0 112 0,0 0 32 16,0 0 0-16,-10-5 0 0,0 0-16 0,10 5 0 15,0 0 0-15,-9-1 0 0,9 1-256 0,-10 1-48 16,10-1-16-16,0 0 0 0,-12-1-32 0,1-1 0 15,1 2 0-15,10 0 0 0,0 0 96 0,0 0 16 16,-13-1 0-16,13 1 0 0,-12 3-48 0,1-2-16 16,-1 1 0-16,2 0 0 0,-1 3-16 0,11-5 0 0,-10 5 0 15,-1-2 0-15,-4-1 32 0,2 1 0 0,0 3 0 0,1-1 0 16,12-5-32-16,-11 7 0 0,-3-1 0 0,1 1 0 16,-1 0-64-16,0-3-16 0,1 0 0 0,0 1 0 15,0-2-144-15,2 2 192 0,-1 0-192 0,1 0 192 16,-1 0-192-16,1 0 0 0,-3 1 0 0,5 2 0 15,0-1 0-15,0-1 0 0,-3 1 0 0,2 1 0 16,2 0 0-16,0 4 0 0,0 1 128 0,1-1-128 16,-1-4 0-16,0 2 160 0,-2 1-160 0,2-3 160 15,8-8-160-15,-12 10 128 0,4 2-128 0,-2-1 128 16,0 4-128-16,2 0 0 0,1 1 0 0,-1 0 0 16,0-2 0-16,0 0 0 0,-2 0 0 0,2-1 0 0,1 0 0 15,1 2 0-15,-1 1 0 0,0 0 0 0,1 1 0 16,-1-2 0-16,1-2 0 0,-1-2 0 0,-1 6 0 15,1-1 0-15,1-1 0 0,-1-2 0 0,1-2 0 0,-1-1 0 16,7-10 0-16,-10 13 0 0,2 1 0 0,0-3 0 16,0 0 0-16,1 1 0 0,1-2 0 0,-1 0 0 15,7-10 0-15,-8 13 0 0,-2-2 0 0,3 1 128 16,1 1-128-16,-1-2 128 0,1-2 32 0,6-9 0 16,-8 9 0-16,-1 3 0 0,4-1-32 0,0-1-128 15,5-10 192-15,-3 15-64 0,2-2-128 0,-3-3 0 16,4-10 0-16,-6 12 0 0,1-3 0 0,0 1 0 15,0 0 0-15,0 0 128 0,5-10-128 0,-5 11 0 16,5-11 0-16,-6 14 0 0,-1-5 0 0,7-9 0 16,0 0 0-16,0 15 0 0,0-15-160 0,0 13 160 15,-5-1 0-15,5-12-144 0,0 0 144 0,0 0 0 0,-2 19 0 16,1-5 0-16,1-14 0 0,0 0 0 0,0 0 0 0,0 14 0 16,-4 1 0-16,1-2-128 0,3-13 128 0,0 0 0 15,0 20 0-15,0-7-160 0,0-13 160 0,0 0 0 16,0 0 0-16,0 20-128 0,2-4 128 0,-4-1 0 15,2-15 0-15,-5 15-160 0,5-15 160 0,0 0-128 16,-5 13 128-16,5-13 0 0,0 0-144 0,5 16 144 16,-5-16 0-16,0 0-176 0,0 15 176 0,0-15-128 15,0 0 128-15,4 18 0 0,-6-3 0 0,4-2 0 16,-2-13 0-16,0 0 0 0,0 15 0 0,0-15-192 16,3 16 192-16,0-3 0 0,-3-13 0 0,0 0 0 15,-3 13 0-15,3-13 0 0,5 14 0 0,-5-14 0 0,0 0 0 16,0 0 0-16,0 0 0 0,1 13 0 0,-1-13 0 15,0 0 0-15,0 0 0 0,0 0 0 0,0 14 0 16,0-14 0-16,0 15 0 0,0-15 128 0,0 0-128 0,4 13 0 16,-4-13 0-16,0 12 0 0,0-12 0 0,3 13 0 15,-3-13 0-15,0 0 0 0,0 0 0 0,0 0-160 16,0 0 160-16,0 0 0 0,-2 11-352 0,2-11 32 16,0 0 16-16,0 0 0 15,0 0-1088-15,0 0-208 0,0 0-64 0,0 0-12128 0</inkml:trace>
  </inkml:traceGroup>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4:40:35.716"/>
    </inkml:context>
    <inkml:brush xml:id="br0">
      <inkml:brushProperty name="width" value="0.09333" units="cm"/>
      <inkml:brushProperty name="height" value="0.09333" units="cm"/>
      <inkml:brushProperty name="color" value="#ED1C24"/>
      <inkml:brushProperty name="fitToCurve" value="1"/>
    </inkml:brush>
  </inkml:definitions>
  <inkml:traceGroup>
    <inkml:annotationXML>
      <emma:emma xmlns:emma="http://www.w3.org/2003/04/emma" version="1.0">
        <emma:interpretation id="{DF6568A9-ED0A-462F-982D-C53A9C22CA9F}" emma:medium="tactile" emma:mode="ink">
          <msink:context xmlns:msink="http://schemas.microsoft.com/ink/2010/main" type="writingRegion" rotatedBoundingBox="6295,10734 6605,10734 6605,11446 6295,11446"/>
        </emma:interpretation>
      </emma:emma>
    </inkml:annotationXML>
    <inkml:traceGroup>
      <inkml:annotationXML>
        <emma:emma xmlns:emma="http://www.w3.org/2003/04/emma" version="1.0">
          <emma:interpretation id="{64348B2C-3469-4873-A763-6823A9E002B6}" emma:medium="tactile" emma:mode="ink">
            <msink:context xmlns:msink="http://schemas.microsoft.com/ink/2010/main" type="paragraph" rotatedBoundingBox="6295,10734 6605,10734 6605,11446 6295,11446" alignmentLevel="1"/>
          </emma:interpretation>
        </emma:emma>
      </inkml:annotationXML>
      <inkml:traceGroup>
        <inkml:annotationXML>
          <emma:emma xmlns:emma="http://www.w3.org/2003/04/emma" version="1.0">
            <emma:interpretation id="{90A5B546-1628-41DF-8E38-19118304BCFB}" emma:medium="tactile" emma:mode="ink">
              <msink:context xmlns:msink="http://schemas.microsoft.com/ink/2010/main" type="line" rotatedBoundingBox="6295,10734 6605,10734 6605,11446 6295,11446"/>
            </emma:interpretation>
          </emma:emma>
        </inkml:annotationXML>
        <inkml:traceGroup>
          <inkml:annotationXML>
            <emma:emma xmlns:emma="http://www.w3.org/2003/04/emma" version="1.0">
              <emma:interpretation id="{257263CE-2934-4DA1-AD77-CFC3065F52F4}" emma:medium="tactile" emma:mode="ink">
                <msink:context xmlns:msink="http://schemas.microsoft.com/ink/2010/main" type="inkWord" rotatedBoundingBox="6295,10734 6605,10734 6605,11100 6295,11100">
                  <msink:destinationLink direction="with" ref="{CB1789B6-BADF-412A-850F-213ACEC136B2}"/>
                </msink:context>
              </emma:interpretation>
              <emma:one-of disjunction-type="recognition" id="oneOf0">
                <emma:interpretation id="interp0" emma:lang="" emma:confidence="1">
                  <emma:literal/>
                </emma:interpretation>
              </emma:one-of>
            </emma:emma>
          </inkml:annotationXML>
          <inkml:trace contextRef="#ctx0" brushRef="#br0">1 117 6559 0,'0'0'288'0,"0"0"64"0,0 0-352 0,0 0 0 15,0 0 0-15,0 0 0 0,0 0 1088 0,0 0 128 16,-2-8 48-16,2 8 0 0,0 0-608 0,0 0-112 16,0 0-32-16,0 0 0 0,0 0-192 0,0 0-64 15,0 0 0-15,0 0 0 0,0 0-32 0,0 0-16 16,0 0 0-16,0 0 0 0,0 0 416 0,0 0 80 0,0 0 0 0,0 0 16 15,0 0 144-15,0 0 32 0,0 0 0 0,0 0 0 16,5-10-176-16,-5 10-16 0,0 0-16 0,0-12 0 16,0 12-240-16,3-11-64 0,5-1 0 0,-8 12 0 15,0 0-112-15,0 0-16 0,9-10-16 0,-9 10 0 16,0 0 64-16,0 0 16 0,8-8 0 0,2 0 0 16,1 0 48-16,-11 8 16 0,0 0 0 0,0 0 0 15,12-7-16-15,-12 7 0 0,8-8 0 0,2 5 0 16,1-1-128-16,-11 4-32 0,0 0 0 0,0 0 0 15,10-5-80-15,1 4-128 0,1-1 176 0,-12 2-176 16,13-1 256-16,-1 1-64 0,-12 0-16 0,11 1 0 16,-11-1 64-16,12 3 16 0,2 1 0 0,-1 1 0 0,-13-5-112 15,14 6-16-15,-14-6 0 0,13 7 0 0,0-2-128 0,-2-2 0 16,-11-3 0-16,13 10 0 0,-1-2 0 0,-12-8 0 16,0 0 0-16,0 0 0 0,11 7 0 0,-11-7 0 15,0 0 144-15,0 0-144 0,10 6 192 0,-10-6-16 16,9 13-16-16,-9-13 0 0,0 0-160 0,0 0 0 15,0 0 0-15,0 0 0 0,0 0 0 0,1 15 0 16,-1-15 0-16,0 0 0 0,-3 13 0 0,-2 0 0 16,5-13 0-16,-7 14 0 0,7-14 0 0,-8 13 0 15,-3-2 0-15,2 1 0 0,9-12 0 0,-8 11 0 16,8-11 0-16,-10 10 0 0,10-10 0 0,-9 11 0 16,9-11 0-16,-10 14 0 0,3-3 0 0,7-11 0 15,-8 8 0-15,8-8 0 0,0 0 0 0,-8 10 0 16,0-2 0-16,8-8 128 0,-10 9-128 0,10-9 0 0,0 0 0 15,0 0 0-15,0 0 0 0,0 0 128 0,-13 8-128 0,1-2 0 16,1-1 0-16,11-5 0 0,0 0 0 0,0 0 0 16,0 0 0-16,0 0 0 0,0 0 0 0,-5 13 0 15,1 0 0-15,4-13 0 0,-5 14 0 0,5-14 0 16,9 13 0-16,-1-2 0 0,-3-1 0 0,-5-10 0 16,0 0 160-16,0 0-160 0,8 12 192 0,-8-12-192 15,0 0 0-15,0 0 0 0,0 0 0 0,0 0 0 16,0 0-144-16,0 0-144 0,0 0-32 0,0 0 0 15,0 0-2080 1,0 0-416-16</inkml:trace>
        </inkml:traceGroup>
        <inkml:traceGroup>
          <inkml:annotationXML>
            <emma:emma xmlns:emma="http://www.w3.org/2003/04/emma" version="1.0">
              <emma:interpretation id="{773AE1BA-CA63-4D41-8676-55AC86E510A2}" emma:medium="tactile" emma:mode="ink">
                <msink:context xmlns:msink="http://schemas.microsoft.com/ink/2010/main" type="inkWord" rotatedBoundingBox="6398,11400 6474,11400 6474,11446 6398,11446">
                  <msink:destinationLink direction="with" ref="{CB1789B6-BADF-412A-850F-213ACEC136B2}"/>
                </msink:context>
              </emma:interpretation>
              <emma:one-of disjunction-type="recognition" id="oneOf1">
                <emma:interpretation id="interp1" emma:lang="" emma:confidence="0">
                  <emma:literal>.</emma:literal>
                </emma:interpretation>
                <emma:interpretation id="interp2" emma:lang="" emma:confidence="0">
                  <emma:literal>`</emma:literal>
                </emma:interpretation>
                <emma:interpretation id="interp3" emma:lang="" emma:confidence="0">
                  <emma:literal>a</emma:literal>
                </emma:interpretation>
                <emma:interpretation id="interp4" emma:lang="" emma:confidence="0">
                  <emma:literal>9</emma:literal>
                </emma:interpretation>
                <emma:interpretation id="interp5" emma:lang="" emma:confidence="0">
                  <emma:literal>-</emma:literal>
                </emma:interpretation>
              </emma:one-of>
            </emma:emma>
          </inkml:annotationXML>
          <inkml:trace contextRef="#ctx0" brushRef="#br0" timeOffset="616.9648">178 711 6447 0,'0'0'576'0,"0"0"-576"0,0 0 0 0,0 0 0 0,0 0 6320 0,0 0 1152 15,0 0 224-15,-3-7 48 0,3 7-5184 0,0 0-1056 16,0 0-208-16,0 0-32 0,-2-13-816 0,-1 3-176 16,-6 2-16-16,9 8-16 0,0 0-240 0,0 0 0 15,0 0 0-15,-4-5-160 0,4 5 0 0,0 0 0 16,0 0 0-16,-12 0 0 15,1-1-1520-15,-3-1-304 0,-4 4-64 0</inkml:trace>
        </inkml:traceGroup>
      </inkml:traceGroup>
    </inkml:traceGroup>
  </inkml:traceGroup>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4:40:55.093"/>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70A3E620-D077-4CAC-8E1D-CE7D6F461C93}" emma:medium="tactile" emma:mode="ink">
          <msink:context xmlns:msink="http://schemas.microsoft.com/ink/2010/main" type="writingRegion" rotatedBoundingBox="8607,11580 9128,11580 9128,12262 8607,12262"/>
        </emma:interpretation>
      </emma:emma>
    </inkml:annotationXML>
    <inkml:traceGroup>
      <inkml:annotationXML>
        <emma:emma xmlns:emma="http://www.w3.org/2003/04/emma" version="1.0">
          <emma:interpretation id="{EE610B6F-3AB9-4C44-B4B2-7A4CC4AC39D3}" emma:medium="tactile" emma:mode="ink">
            <msink:context xmlns:msink="http://schemas.microsoft.com/ink/2010/main" type="paragraph" rotatedBoundingBox="8607,11580 9128,11580 9128,12262 8607,12262" alignmentLevel="1"/>
          </emma:interpretation>
        </emma:emma>
      </inkml:annotationXML>
      <inkml:traceGroup>
        <inkml:annotationXML>
          <emma:emma xmlns:emma="http://www.w3.org/2003/04/emma" version="1.0">
            <emma:interpretation id="{B0E18051-6867-4CBB-9336-0C1854F06803}" emma:medium="tactile" emma:mode="ink">
              <msink:context xmlns:msink="http://schemas.microsoft.com/ink/2010/main" type="line" rotatedBoundingBox="8607,11580 9128,11580 9128,12262 8607,12262"/>
            </emma:interpretation>
          </emma:emma>
        </inkml:annotationXML>
        <inkml:traceGroup>
          <inkml:annotationXML>
            <emma:emma xmlns:emma="http://www.w3.org/2003/04/emma" version="1.0">
              <emma:interpretation id="{FB103095-3418-4CA9-BB1C-1272DF94C484}" emma:medium="tactile" emma:mode="ink">
                <msink:context xmlns:msink="http://schemas.microsoft.com/ink/2010/main" type="inkWord" rotatedBoundingBox="8607,11580 9120,11580 9120,12262 8607,12262"/>
              </emma:interpretation>
              <emma:one-of disjunction-type="recognition" id="oneOf0">
                <emma:interpretation id="interp0" emma:lang="" emma:confidence="0">
                  <emma:literal>C</emma:literal>
                </emma:interpretation>
                <emma:interpretation id="interp1" emma:lang="" emma:confidence="0">
                  <emma:literal>(</emma:literal>
                </emma:interpretation>
                <emma:interpretation id="interp2" emma:lang="" emma:confidence="0">
                  <emma:literal>c</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7-25 13183 0,'0'0'576'0,"0"0"128"0,0 0-560 0,0 0-144 15,0 0 0-15,0 0 0 0,0 0 768 0,0 0 112 16,0 0 16-16,0 0 16 0,0 0-368 0,0 0-80 16,0 0-16-16,0 0 0 0,0 0-16 0,-12-1-16 15,-1 1 0-15,13 0 0 0,0 0 384 0,0 0 80 0,-12-10 16 16,-1 5 0-16,0 2 80 0,0-1 32 0,3-2 0 0,0 2 0 16,1 4-320-16,-5-1-64 0,1-1-16 0,2 0 0 15,-1 2-224-15,-1 2-64 0,-2 3 0 0,2-3 0 16,2-2-176-16,11 0-144 0,-12 6 192 0,1-2-192 15,-2-3 144-15,1 2-144 0,1 2 0 0,-2-1 144 16,-1-3-144-16,3 3 160 0,1 2-160 0,0-1 160 16,10-5 16-16,-13 7 0 0,2-1 0 0,-1 1 0 15,1 1-176-15,1 0 192 0,10-8-192 0,-12 10 192 16,1-2-192-16,3 4 0 0,-1 1 0 0,1 0 0 16,0-3 0-16,1 3 0 0,1 5 0 0,-1-2 0 15,-1 1 0-15,2-1 0 0,1 2 0 0,-2-1 0 0,-1-3 0 16,1 5 0-16,2 0 0 0,2-1 0 0,0-1 0 0,1 2 0 15,0 3 0-15,2 1 128 0,5-5-128 0,-1-3 0 16,-1 3 144-16,0-4-144 0,-3-14 176 0,7 15-48 16,-7-15 0-16,8 13 0 0,-1 2 0 0,1 0-128 15,2-5 192-15,-1-2-64 0,-9-8-128 0,15 11 0 16,0 1 144-16,-2-2-144 0,-1 0 0 0,1-1 0 16,0 0 0-16,-2-1 0 0,-11-8 0 0,15 10 0 15,-2-2 0-15,-1-2 0 16,-1-1-512-16,4 2-112 0,1 3-16 0,-1-5-16 15,-15-5-2096-15,17 3-432 0,1-3-80 0,0 2 0 0</inkml:trace>
        </inkml:traceGroup>
        <inkml:traceGroup>
          <inkml:annotationXML>
            <emma:emma xmlns:emma="http://www.w3.org/2003/04/emma" version="1.0">
              <emma:interpretation id="{A8CE9CCF-2763-46B5-85DF-B10383E2710D}" emma:medium="tactile" emma:mode="ink">
                <msink:context xmlns:msink="http://schemas.microsoft.com/ink/2010/main" type="inkWord" rotatedBoundingBox="9113,11643 9128,11643 9128,11658 9113,11658"/>
              </emma:interpretation>
              <emma:one-of disjunction-type="recognition" id="oneOf1">
                <emma:interpretation id="interp5" emma:lang="" emma:confidence="1">
                  <emma:literal/>
                </emma:interpretation>
              </emma:one-of>
            </emma:emma>
          </inkml:annotationXML>
          <inkml:trace contextRef="#ctx0" brushRef="#br0" timeOffset="-459.1207">0 0 911 0,'0'0'0'0,"0"0"0"0,0 0 0 0</inkml:trace>
        </inkml:traceGroup>
      </inkml:traceGroup>
    </inkml:traceGroup>
  </inkml:traceGroup>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4:40:56.518"/>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8CF5B30D-4E7A-490F-A6FD-FD347BA5BC44}" emma:medium="tactile" emma:mode="ink">
          <msink:context xmlns:msink="http://schemas.microsoft.com/ink/2010/main" type="writingRegion" rotatedBoundingBox="6062,7074 6845,7074 6845,7441 6062,7441"/>
        </emma:interpretation>
      </emma:emma>
    </inkml:annotationXML>
    <inkml:traceGroup>
      <inkml:annotationXML>
        <emma:emma xmlns:emma="http://www.w3.org/2003/04/emma" version="1.0">
          <emma:interpretation id="{822556E3-BF55-44A6-9806-C535C18AA108}" emma:medium="tactile" emma:mode="ink">
            <msink:context xmlns:msink="http://schemas.microsoft.com/ink/2010/main" type="paragraph" rotatedBoundingBox="6062,7074 6845,7074 6845,7441 6062,7441" alignmentLevel="1"/>
          </emma:interpretation>
        </emma:emma>
      </inkml:annotationXML>
      <inkml:traceGroup>
        <inkml:annotationXML>
          <emma:emma xmlns:emma="http://www.w3.org/2003/04/emma" version="1.0">
            <emma:interpretation id="{E676EBC4-316E-4E72-A113-AEA50396205B}" emma:medium="tactile" emma:mode="ink">
              <msink:context xmlns:msink="http://schemas.microsoft.com/ink/2010/main" type="line" rotatedBoundingBox="6062,7074 6845,7074 6845,7441 6062,7441"/>
            </emma:interpretation>
          </emma:emma>
        </inkml:annotationXML>
        <inkml:traceGroup>
          <inkml:annotationXML>
            <emma:emma xmlns:emma="http://www.w3.org/2003/04/emma" version="1.0">
              <emma:interpretation id="{7BD64405-6873-42DA-B7A0-0595BE323F89}" emma:medium="tactile" emma:mode="ink">
                <msink:context xmlns:msink="http://schemas.microsoft.com/ink/2010/main" type="inkWord" rotatedBoundingBox="6062,7074 6845,7074 6845,7441 6062,7441"/>
              </emma:interpretation>
              <emma:one-of disjunction-type="recognition" id="oneOf0">
                <emma:interpretation id="interp0" emma:lang="" emma:confidence="0">
                  <emma:literal>a</emma:literal>
                </emma:interpretation>
                <emma:interpretation id="interp1" emma:lang="" emma:confidence="0">
                  <emma:literal>A</emma:literal>
                </emma:interpretation>
                <emma:interpretation id="interp2" emma:lang="" emma:confidence="0">
                  <emma:literal>m</emma:literal>
                </emma:interpretation>
                <emma:interpretation id="interp3" emma:lang="" emma:confidence="0">
                  <emma:literal>q</emma:literal>
                </emma:interpretation>
                <emma:interpretation id="interp4" emma:lang="" emma:confidence="0">
                  <emma:literal>or</emma:literal>
                </emma:interpretation>
              </emma:one-of>
            </emma:emma>
          </inkml:annotationXML>
          <inkml:trace contextRef="#ctx0" brushRef="#br0">341 107 14559 0,'0'0'640'0,"0"0"144"0,0 0-624 0,0 0-160 0,0 0 0 0,-7-6 0 15,7 6 768-15,0 0 112 0,-11-7 16 0,11 7 16 16,-8-11-464-16,-2 2-80 0,-3 1-32 0,1 2 0 16,2 1-336-16,10 5 128 0,-8-8-128 0,8 8 0 15,0 0 448-15,-10-9 32 0,1 3 0 0,0 1 0 16,9 5 560-16,-10-7 112 0,10 7 32 0,-9-6 0 15,0-1-480-15,9 7-112 0,-13-5-16 0,2 4 0 0,-1 1-352 0,1 1-80 16,-1-1-16-16,12 0 0 0,-11 4-128 0,-1 0 0 16,1 1 0-16,-1 2 0 0,1-2 0 0,-1 3 0 15,3 2 0-15,0 0 0 0,9-10 0 0,-8 8 0 16,-3 0 0-16,1 2 0 0,0 3 0 0,3-1 192 16,7-12-192-16,-5 11 192 0,1 1 0 0,2-1 0 15,2-11 0-15,0 13 0 0,0-13 48 0,2 17 16 16,-2-4 0-16,0-13 0 0,0 0-32 0,0 0 0 15,9 10 0-15,1-1 0 0,-2 1 64 0,-8-10 16 16,14 7 0-16,2-2 0 0,2-2-112 0,0-1-32 16,-1-1 0-16,-3 3 0 0,-1-1-160 0,2 2 0 15,-2-2 0-15,-13-3 0 0,13-1 192 0,1-3-32 16,-1-2-16-16,-3 2 0 0,-10 4 80 0,0 0 16 16,13-8 0-16,-3-2 0 0,-6-1 16 0,1-2 0 0,0-2 0 15,-1 2 0-15,-4 0-256 0,-2 0 0 0,0-1 0 0,1 0 0 16,-3-3 0-16,3 2-128 0,-1 2-16 0,2 2 0 15,2-1 144-15,-2 12 0 0,0 0 0 0,0 0 0 16,0-13 0-16,0 13 0 0,0 0 0 0,0 0 0 16,0 0 0-16,0 0 0 0,0 0 0 0,0 0 0 15,0 0 0-15,0 0 0 0,10 10 0 0,-1 0 128 16,1 1-128-16,0 1 0 0,-2 1 0 0,2 0-128 16,2 0 128-16,-4 2 0 0,-3 0 0 0,3-2 0 15,5-3 0-15,0 0 0 0,-3-2 0 0,2 2 0 16,-1 0 240-16,2 1-32 0,0-1 0 0,2 0 0 15,0-4 0-15,3 3 0 0,2 2 0 0,-2 2 0 0,-2 0-208 0,4-3 0 16,4-2 0-16,1 1 0 0,0-3 0 0,-1 1-256 16,3-2 16-16,-1 3 16 15,-3 5-1952-15,0-3-384 0,-4-5-64 0,3 1-32 16</inkml:trace>
        </inkml:traceGroup>
      </inkml:traceGroup>
    </inkml:traceGroup>
  </inkml:traceGroup>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4:40:58.004"/>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218442D9-A2A4-44F9-BB1E-FF692AEF3B4D}" emma:medium="tactile" emma:mode="ink">
          <msink:context xmlns:msink="http://schemas.microsoft.com/ink/2010/main" type="writingRegion" rotatedBoundingBox="4467,12825 4828,12825 4828,13488 4467,13488"/>
        </emma:interpretation>
      </emma:emma>
    </inkml:annotationXML>
    <inkml:traceGroup>
      <inkml:annotationXML>
        <emma:emma xmlns:emma="http://www.w3.org/2003/04/emma" version="1.0">
          <emma:interpretation id="{E2D3814E-D45C-4ED7-8DC1-25DEF51846D5}" emma:medium="tactile" emma:mode="ink">
            <msink:context xmlns:msink="http://schemas.microsoft.com/ink/2010/main" type="paragraph" rotatedBoundingBox="4467,12825 4828,12825 4828,13488 4467,13488" alignmentLevel="1"/>
          </emma:interpretation>
        </emma:emma>
      </inkml:annotationXML>
      <inkml:traceGroup>
        <inkml:annotationXML>
          <emma:emma xmlns:emma="http://www.w3.org/2003/04/emma" version="1.0">
            <emma:interpretation id="{7683A4BE-48B4-43AF-A954-3D087F790E61}" emma:medium="tactile" emma:mode="ink">
              <msink:context xmlns:msink="http://schemas.microsoft.com/ink/2010/main" type="line" rotatedBoundingBox="4467,12825 4828,12825 4828,13488 4467,13488"/>
            </emma:interpretation>
          </emma:emma>
        </inkml:annotationXML>
        <inkml:traceGroup>
          <inkml:annotationXML>
            <emma:emma xmlns:emma="http://www.w3.org/2003/04/emma" version="1.0">
              <emma:interpretation id="{4181CD78-3925-450E-8D4A-449E7AA11953}" emma:medium="tactile" emma:mode="ink">
                <msink:context xmlns:msink="http://schemas.microsoft.com/ink/2010/main" type="inkWord" rotatedBoundingBox="4467,12825 4514,12825 4514,13414 4467,13414"/>
              </emma:interpretation>
              <emma:one-of disjunction-type="recognition" id="oneOf0">
                <emma:interpretation id="interp0" emma:lang="" emma:confidence="1">
                  <emma:literal/>
                </emma:interpretation>
              </emma:one-of>
            </emma:emma>
          </inkml:annotationXML>
          <inkml:trace contextRef="#ctx0" brushRef="#br0">5 31 13871 0,'0'0'608'0,"0"0"144"0,0 0-608 0,0 0-144 16,-5-13 0-16,5 13 0 0,0 0 832 0,0 0 128 16,-3-10 16-16,3 10 16 0,0 0-864 0,0 0-128 15,0 0-128-15,0 0 128 0,0-11 0 0,0 11 0 0,0 0 0 16,0 0 0-16,0 0 384 0,0 0 176 0,0 0 32 0,0 0 16 15,0 0 352-15,0 0 80 0,0 0 16 0,0 0 0 16,0 0-192-16,0 0-32 0,0 0-16 0,0 0 0 16,0 0-352-16,0 0-64 0,0 0-16 0,9 13 0 15,0 0-256-15,-3 0-128 0,-1 0 0 0,-2 2 128 16,1 3-128-16,-1 2 0 0,0 1 144 0,1 2-144 16,-3-2 224-16,-1 2-32 0,0 0 0 0,0 2 0 15,0-2 224-15,0 3 32 0,0 5 16 0,-1-3 0 16,-1-3-240-16,0-1-48 0,-1 3-16 0,1-4 0 15,2-4-160-15,2 3 0 0,-2-1 0 0,0-3-176 16,0-3-224-16,-2-4-48 0,2-11-16 16,0 0 0-16,4 13-464 0,-1-1-96 15,0-2 0-15,-3-10-10752 0</inkml:trace>
        </inkml:traceGroup>
        <inkml:traceGroup>
          <inkml:annotationXML>
            <emma:emma xmlns:emma="http://www.w3.org/2003/04/emma" version="1.0">
              <emma:interpretation id="{138A7CF8-5CD9-4383-9BF9-4B10C38E4958}" emma:medium="tactile" emma:mode="ink">
                <msink:context xmlns:msink="http://schemas.microsoft.com/ink/2010/main" type="inkWord" rotatedBoundingBox="4526,13149 4828,13149 4828,13488 4526,13488"/>
              </emma:interpretation>
              <emma:one-of disjunction-type="recognition" id="oneOf1">
                <emma:interpretation id="interp1" emma:lang="" emma:confidence="0">
                  <emma:literal>]</emma:literal>
                </emma:interpretation>
                <emma:interpretation id="interp2" emma:lang="" emma:confidence="0">
                  <emma:literal>&gt;</emma:literal>
                </emma:interpretation>
                <emma:interpretation id="interp3" emma:lang="" emma:confidence="0">
                  <emma:literal>3</emma:literal>
                </emma:interpretation>
                <emma:interpretation id="interp4" emma:lang="" emma:confidence="0">
                  <emma:literal>J</emma:literal>
                </emma:interpretation>
                <emma:interpretation id="interp5" emma:lang="" emma:confidence="0">
                  <emma:literal>,</emma:literal>
                </emma:interpretation>
              </emma:one-of>
            </emma:emma>
          </inkml:annotationXML>
          <inkml:trace contextRef="#ctx0" brushRef="#br0" timeOffset="781.4681">90 354 2175 0,'0'0'0'0,"0"0"192"0,0 0-192 16,0 0 0-16,0 0 0 0,13 2 0 0,-13-2 240 0,0 0 0 15,0 0 0-15,13-2 0 0,-13 2 1104 0,12-5 208 16,-12 5 48-16,13-6 16 0,-13 6 64 0,12-5 16 16,-12 5 0-16,11-5 0 0,-11 5-704 0,13-5-144 15,-13 5-16-15,13-3-16 0,-13 3-560 0,13-2-96 16,-13 2-32-16,14 0 0 0,-14 0 0 0,13-2 0 15,-13 2 0-15,14 7 0 0,0-2-128 0,-1 3 0 0,-2 4 0 0,-1-2 0 16,-3-2 336-16,1 3 48 0,-2-1 0 0,3 3 0 16,-1 2 64-16,-2-5 0 0,1-2 16 0,-4 2 0 15,0 0-64-15,1 0-16 16,-4-10 0-16,5 9 0 0,-5 6 144 0,0-5 32 0,0-10 0 0,-2 10 0 16,2-10-304-16,0 0-64 0,0 0-16 0,-11 13 0 15,-4 0-176-15,3 0 160 0,4 0-160 0,-2-1 160 16,-1-4-160-16,-1 0 0 0,-2-1 0 0,0 3 128 15,0 0-128-15,0-6 0 0,14-4 0 0,-14 7 0 16,-1 1 0-16,2-1 0 0,1 1 0 0,1-3 0 16,-1-7 0-16,12 2 0 0,-14 4 0 0,0-4 0 15,1-4 0-15,2 1 0 0,1 0 0 0,10 3 0 16,-10-4-480-16,2 0 32 16,0-6 0-16</inkml:trace>
        </inkml:traceGroup>
      </inkml:traceGroup>
    </inkml:traceGroup>
  </inkml:traceGroup>
</inkml:ink>
</file>

<file path=ppt/ink/ink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4:48:40.795"/>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7562959B-2D02-4491-8F5A-F79DE0575EE8}" emma:medium="tactile" emma:mode="ink">
          <msink:context xmlns:msink="http://schemas.microsoft.com/ink/2010/main" type="writingRegion" rotatedBoundingBox="8237,4830 8921,9484 8497,9547 7813,4892"/>
        </emma:interpretation>
      </emma:emma>
    </inkml:annotationXML>
    <inkml:traceGroup>
      <inkml:annotationXML>
        <emma:emma xmlns:emma="http://www.w3.org/2003/04/emma" version="1.0">
          <emma:interpretation id="{08E7F265-054F-4713-8205-5C3B5655F87E}" emma:medium="tactile" emma:mode="ink">
            <msink:context xmlns:msink="http://schemas.microsoft.com/ink/2010/main" type="paragraph" rotatedBoundingBox="8237,4830 8921,9484 8497,9547 7813,4892" alignmentLevel="1"/>
          </emma:interpretation>
        </emma:emma>
      </inkml:annotationXML>
      <inkml:traceGroup>
        <inkml:annotationXML>
          <emma:emma xmlns:emma="http://www.w3.org/2003/04/emma" version="1.0">
            <emma:interpretation id="{577B8CE2-0D04-4D16-9100-D00B8E8D2FCD}" emma:medium="tactile" emma:mode="ink">
              <msink:context xmlns:msink="http://schemas.microsoft.com/ink/2010/main" type="line" rotatedBoundingBox="8237,4830 8921,9484 8497,9547 7813,4892"/>
            </emma:interpretation>
          </emma:emma>
        </inkml:annotationXML>
        <inkml:traceGroup>
          <inkml:annotationXML>
            <emma:emma xmlns:emma="http://www.w3.org/2003/04/emma" version="1.0">
              <emma:interpretation id="{D8778FA1-EEAC-4285-A65A-EF2B0B5C3E53}" emma:medium="tactile" emma:mode="ink">
                <msink:context xmlns:msink="http://schemas.microsoft.com/ink/2010/main" type="inkWord" rotatedBoundingBox="7902,4879 8024,5704 7939,5717 7817,4892"/>
              </emma:interpretation>
              <emma:one-of disjunction-type="recognition" id="oneOf0">
                <emma:interpretation id="interp0" emma:lang="" emma:confidence="1">
                  <emma:literal/>
                </emma:interpretation>
              </emma:one-of>
            </emma:emma>
          </inkml:annotationXML>
          <inkml:trace contextRef="#ctx0" brushRef="#br0">-595-3803 3679 0,'0'0'320'0,"0"0"-320"0,0 0 0 0,0 0 0 16,0 0 2656-16,0 0 464 0,0 0 80 0,0 0 32 16,0 0-2192-16,0 0-432 0,0 0-96 0,7-8 0 0,-7 8-128 0,4-9 0 15,-4 9-16-15,0 0 0 0,7-6-208 0,-7 6-32 16,7-10-128-16,-2 3 192 0,-5 7 256 0,0 0 64 16,0 0 0-16,0 0 0 0,0 0 48 0,11-1 16 15,-11 1 0-15,0 0 0 0,0 0-112 0,10 10-16 16,-10-10 0-16,8 13 0 0,-1-2-80 0,-1 1-32 15,-6-12 0-15,7 16 0 0,-2 1-336 0,0 1 144 16,-2-2-144-16,0 0 0 0,0-1 192 0,1 0-64 16,-1-2 0-16,0 0-128 0,-1 2 464 0,-2 3-16 15,0 3 0-15,0-1 0 0,0-5 0 0,2 0-16 16,1 1 0-16,0 4 0 0,-1 3-144 0,1 1-32 16,2 4 0-16,0-1 0 0,0-1-64 0,0-2 0 15,0 1-16-15,0 1 0 0,-2 4-16 0,0-6 0 16,-1-5 0-16,1 2 0 0,0 3-160 0,1-1 0 0,1-4 0 15,-2-1 0-15,-1-2 0 0,-1-1 0 0,2-2 0 0,-3-13 0 16,0 0 0-16,0 0 0 0,2 16 0 0,1-1 0 16,-1-2 0-16,-2-13 0 0,0 0 0 0,3 13 0 15,-3-13 0-15,0 0-256 0,4 12 48 0,-4-12 0 32,0 0-544-32,0 0-96 0,0 0-32 0,0 0 0 15,0 0-2016-15,0 0-416 0</inkml:trace>
        </inkml:traceGroup>
        <inkml:traceGroup>
          <inkml:annotationXML>
            <emma:emma xmlns:emma="http://www.w3.org/2003/04/emma" version="1.0">
              <emma:interpretation id="{10AE791E-AB1A-4418-9AB3-F259DDFD965F}" emma:medium="tactile" emma:mode="ink">
                <msink:context xmlns:msink="http://schemas.microsoft.com/ink/2010/main" type="inkWord" rotatedBoundingBox="8296,5356 8345,5693 8006,5743 7957,5406"/>
              </emma:interpretation>
              <emma:one-of disjunction-type="recognition" id="oneOf1">
                <emma:interpretation id="interp1" emma:lang="" emma:confidence="0">
                  <emma:literal>9</emma:literal>
                </emma:interpretation>
                <emma:interpretation id="interp2" emma:lang="" emma:confidence="0">
                  <emma:literal>N</emma:literal>
                </emma:interpretation>
                <emma:interpretation id="interp3" emma:lang="" emma:confidence="0">
                  <emma:literal>n</emma:literal>
                </emma:interpretation>
                <emma:interpretation id="interp4" emma:lang="" emma:confidence="0">
                  <emma:literal>M</emma:literal>
                </emma:interpretation>
                <emma:interpretation id="interp5" emma:lang="" emma:confidence="0">
                  <emma:literal>A</emma:literal>
                </emma:interpretation>
              </emma:one-of>
            </emma:emma>
          </inkml:annotationXML>
          <inkml:trace contextRef="#ctx0" brushRef="#br0" timeOffset="981.6563">-446-3224 10015 0,'0'0'448'0,"0"0"80"0,0 0-528 0,0 0 0 0,0 0 0 0,10 8 0 0,-10-8 832 0,12 7 64 15,-1-5 16-15,-11-2 0 0,0 0-592 0,10 6-128 16,-10-6-32-16,0 0 0 0,0 0-160 0,0 0 128 15,0 0-128-15,15-1 128 0,-15 1-128 0,13-5 192 16,-13 5-192-16,0 0 192 0,0 0-16 0,13-7 0 16,-3-1 0-16,-10 8 0 0,0 0-16 0,0 0 0 15,0 0 0-15,10-10 0 0,-4-1 112 0,-6 11 32 16,0 0 0-16,0 0 0 0,4-15 144 0,-4 15 48 16,4-13 0-16,0 1 0 0,-3 1 176 0,-1 11 32 15,4-12 16-15,-4 12 0 0,5-11-240 0,-5 11-48 16,0 0-16-16,0 0 0 0,6-10-96 0,2 2-32 15,-8 8 0-15,0 0 0 0,15-7-96 0,-2 2-32 0,-1 0 0 0,1 2 0 16,-13 3-32-16,16-2-128 0,-1 1 192 0,-2 2-64 16,-13-1-128-16,15 4 0 0,-15-4 144 0,11 3-144 15,-11-3 0-15,14 5 0 0,-3 1 0 0,-11-6 0 16,0 0 208-16,0 0 32 0,0 0 0 0,12 10 0 16,-4 5 144-16,-2-2 16 0,-2 0 16 0,-4-13 0 15,0 0-272-15,6 12-144 0,-6-12 160 0,7 16-160 16,-1-1 0-16,-6-15 0 0,0 0 0 0,0 0 0 15,0 16 128-15,0-3-128 0,0-13 0 0,0 0 0 16,-1 14 0-16,1-14 0 0,-4 14 0 0,4-14 0 16,0 0 0-16,-6 12 192 0,6-12 0 0,-8 11 0 15,-2-1 16-15,2-2 0 0,8-8 0 0,-12 10 0 16,2-2 112-16,0-1 0 0,2-2 16 0,-2 0 0 16,-1-2-96-16,11-3-32 0,-13 5 0 0,1-2 0 0,1 1-80 15,-1 1-128-15,1 1 176 0,1-1-176 0,10-5 128 0,-8 8-128 16,-2 0 0-16,2 1 0 0,-1 0 0 0,9-9 0 15,-8 9 0-15,8-9 0 0,-11 10 0 0,11-10 0 16,-7 9 0-16,2 1 0 0,5-10 0 0,0 0 0 16,0 0 0-16,0 0 0 0,0 0-176 0,0 0-32 15,0 0-16-15,0 0 0 16,-5 12-688-16,5-12-144 0,0 0-32 0</inkml:trace>
        </inkml:traceGroup>
        <inkml:traceGroup>
          <inkml:annotationXML>
            <emma:emma xmlns:emma="http://www.w3.org/2003/04/emma" version="1.0">
              <emma:interpretation id="{613A33D2-A48E-42E7-A81E-509815011A3B}" emma:medium="tactile" emma:mode="ink">
                <msink:context xmlns:msink="http://schemas.microsoft.com/ink/2010/main" type="inkWord" rotatedBoundingBox="8807,8711 8921,9484 8497,9547 8383,8774"/>
              </emma:interpretation>
              <emma:one-of disjunction-type="recognition" id="oneOf2">
                <emma:interpretation id="interp6" emma:lang="" emma:confidence="1">
                  <emma:literal/>
                </emma:interpretation>
              </emma:one-of>
            </emma:emma>
          </inkml:annotationXML>
          <inkml:trace contextRef="#ctx0" brushRef="#br0" timeOffset="-7353.9534">350 75 911 0,'0'0'0'0,"0"0"0"15,0 0 0-15,0 0 0 0,0 0 2480 0,0 0 400 16,10 12 96-16,-10-12 16 0,0 0-2320 0,0 0-464 16,0 0-80-16,13-2-128 0,-13 2 0 0,12 0-160 15,-12 0 0-15,0 0 0 0,0 0 160 0,0 0 224 16,0 0-48-16,0 0-16 0,0 0 656 0,13 0 128 0,-13 0 16 0,0 0 16 16,0 0 368-16,0 0 64 0,5-13 0 0,-5 13 16 15,0 0-368-15,0 0-80 0,0 0-16 0,0 0 0 16,0 0-208-16,0 0-48 0,0 0-16 0,0 0 0 15,-7-12-112-15,7 12-32 0,0 0 0 0,-8-11 0 16,0 1-32-16,-2 2 0 0,0 3 0 0,10 5 0 16,-13-3 0-16,13 3-16 0,-11-9 0 0,1 3 0 15,-2 3-80-15,12 3-16 0,-13-5 0 0,2 5 0 16,-1 0-160-16,1 0-48 0,11 0 0 0,-15 3 0 16,2 0-192-16,-2 2 176 0,3-2-176 0,1 4 160 15,1 4-160-15,-1-4 160 0,-1-5-160 0,1-2 160 16,11 0-160-16,-15 5 0 0,2 3 144 0,1-2-144 15,12-6 128-15,-13 9-128 0,2 0 128 0,-1 0-128 0,12-9 128 16,-11 14-128-16,-1 0 160 0,1 0-160 0,-1 3 0 16,2-3 128-16,2 0-128 0,2-1 0 0,-1-2 0 0,4 2 0 15,3 0 0-15,0 4 0 0,0-1 0 0,0 1 0 16,3-1 0-16,-1 2 0 0,-1 0 0 0,4 2 0 16,3-4 0-16,1 1 0 0,-4-1 0 0,1 4 0 15,-1 3 0-15,2-2 0 0,1-3 0 0,3 0 0 16,2 0 0-16,-3 2 0 0,-3 1 0 0,1 2 0 15,-1-5 0-15,2 4 0 0,3 1 0 0,-2-2 0 16,-2-1 0-16,2-5 0 0,1-6 128 0,-1 0 0 16,-10-9-128-16,15 13 192 0,-2 1 64 0,0-4 0 15,-13-10 0-15,17 5 0 0,-3 0-80 0,1 2-16 16,-2-4 0-16,-13-3 0 0,13 0-160 0,1 3 0 16,-1 4 0-16,-13-7 0 15,0 0-336-15,14-3-112 0,1-2 0 0,-2 1-16 16,-13 4-2224-16,15-1-432 0</inkml:trace>
        </inkml:traceGroup>
      </inkml:traceGroup>
    </inkml:traceGroup>
  </inkml:traceGroup>
</inkml:ink>
</file>

<file path=ppt/ink/ink7.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4:48:39.505"/>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4BABE847-D1A7-487B-A147-112969237178}" emma:medium="tactile" emma:mode="ink">
          <msink:context xmlns:msink="http://schemas.microsoft.com/ink/2010/main" type="writingRegion" rotatedBoundingBox="4934,10118 5594,10118 5594,10489 4934,10489"/>
        </emma:interpretation>
      </emma:emma>
    </inkml:annotationXML>
    <inkml:traceGroup>
      <inkml:annotationXML>
        <emma:emma xmlns:emma="http://www.w3.org/2003/04/emma" version="1.0">
          <emma:interpretation id="{A8606889-775A-42F6-AE87-E46616F25FFA}" emma:medium="tactile" emma:mode="ink">
            <msink:context xmlns:msink="http://schemas.microsoft.com/ink/2010/main" type="paragraph" rotatedBoundingBox="4934,10118 5594,10118 5594,10489 4934,10489" alignmentLevel="1"/>
          </emma:interpretation>
        </emma:emma>
      </inkml:annotationXML>
      <inkml:traceGroup>
        <inkml:annotationXML>
          <emma:emma xmlns:emma="http://www.w3.org/2003/04/emma" version="1.0">
            <emma:interpretation id="{E8EC32BC-EC54-4EDF-BC53-42C60B2FB62F}" emma:medium="tactile" emma:mode="ink">
              <msink:context xmlns:msink="http://schemas.microsoft.com/ink/2010/main" type="line" rotatedBoundingBox="4934,10118 5594,10118 5594,10489 4934,10489"/>
            </emma:interpretation>
          </emma:emma>
        </inkml:annotationXML>
        <inkml:traceGroup>
          <inkml:annotationXML>
            <emma:emma xmlns:emma="http://www.w3.org/2003/04/emma" version="1.0">
              <emma:interpretation id="{931B40CA-C72E-4CF1-916A-83F87122B16C}" emma:medium="tactile" emma:mode="ink">
                <msink:context xmlns:msink="http://schemas.microsoft.com/ink/2010/main" type="inkWord" rotatedBoundingBox="4934,10118 5594,10118 5594,10489 4934,10489"/>
              </emma:interpretation>
              <emma:one-of disjunction-type="recognition" id="oneOf0">
                <emma:interpretation id="interp0" emma:lang="" emma:confidence="0">
                  <emma:literal>a</emma:literal>
                </emma:interpretation>
                <emma:interpretation id="interp1" emma:lang="" emma:confidence="0">
                  <emma:literal>A</emma:literal>
                </emma:interpretation>
                <emma:interpretation id="interp2" emma:lang="" emma:confidence="0">
                  <emma:literal>cr</emma:literal>
                </emma:interpretation>
                <emma:interpretation id="interp3" emma:lang="" emma:confidence="0">
                  <emma:literal>Á</emma:literal>
                </emma:interpretation>
                <emma:interpretation id="interp4" emma:lang="" emma:confidence="0">
                  <emma:literal>ci</emma:literal>
                </emma:interpretation>
              </emma:one-of>
            </emma:emma>
          </inkml:annotationXML>
          <inkml:trace contextRef="#ctx0" brushRef="#br0">260 30 5519 0,'0'0'496'16,"0"0"-496"-16,0 0 0 0,0 0 0 0,0 0 1072 0,0 0 112 15,0 0 32-15,0 0 0 0,0 0-224 0,0 0-32 16,0 0-16-16,0 0 0 0,0 0-576 0,0 0-112 16,0 0-32-16,0 0 0 0,0 0 32 0,10-8 16 15,-10 8 0-15,0 0 0 0,0 0 304 0,0 0 64 16,0 0 16-16,0 0 0 0,0 0 48 0,0 0 16 0,0 0 0 16,0 0 0-16,0 0-160 0,0 0-48 0,0 0 0 15,0 0 0-15,0 0-80 0,0 0-32 0,0 0 0 0,0 0 0 16,0 0-144-16,0 0-16 0,0 0-16 0,0 0 0 15,0 0-32-15,-12-11-16 0,-1 4 0 0,1 5 0 16,12 2-176-16,-13-1 0 0,13 1 0 0,-13-2 0 16,2 5 0-16,1 1 0 0,10-4 0 0,-13 3 0 15,-2-3 0-15,2 3 0 0,1 2 0 0,2 0 128 16,10-5-128-16,-11 5 0 0,3 0 0 0,0 1 0 16,-1 1 0-16,9-7 128 0,0 0-128 0,-9 8 0 15,-5 4 0-15,5-2 0 0,2-2 0 0,7-8 0 16,-5 11 0-16,0-1 128 0,-1 2-128 0,1-3 0 15,5-9 0-15,-4 17 0 0,3-2 0 0,-3-1 0 0,0 1 0 16,0-3 0-16,4-12 0 0,-1 16 0 0,-4-1 0 16,3-2 0-16,2-3 0 0,0-10 0 0,0 0 0 0,-2 15 0 15,2-2 0-15,0-3 0 0,0-10 192 0,0 0-64 16,0 0 0-16,0 0 0 0,5 11 112 0,-5-11 16 16,0 0 0-16,13 10 0 0,1-7-64 0,-1-1-16 15,0 1 0-15,0-1 0 0,2-1-32 0,-1 1 0 16,-14-2 0-16,19 7 0 0,-1-7-144 0,-2 3 0 15,-1 0 0-15,0 0 0 0,-1-3 0 0,-1 4 0 16,-13-4 0-16,12 1 0 0,-12-1 0 0,11-1 0 16,-2-4 0-16,-9 5 0 0,6-8 0 0,1 1 0 15,-2-1 0-15,0-2 0 0,-2 2 0 0,0-2 0 16,0-3 0-16,4 3 0 0,0 0 0 0,1-1 0 16,-2 1 128-16,1 0-128 0,-2 3 0 0,0 1 0 0,1-4 0 15,1 3 0-15,-2 2 320 0,-5 5-32 0,0 0 0 0,0 0 0 16,0 0 16-16,11-11 0 0,-11 11 0 0,0 0 0 15,0 0-160-15,10-13-16 0,-10 13-128 0,0 0 192 16,0 0-192-16,7-17-128 0,-7 17 128 0,0 0-208 16,1-21 208-16,-1 5-144 0,-1-2 144 0,1 18-128 15,0 0 128-15,0 0 0 0,-2-15 0 0,2 15 0 16,0 0 224-16,0 0 32 0,0 0 0 0,0 0 0 16,0 0 112-16,0 0 16 0,0 0 16 0,0 0 0 15,0 0-160-15,0 0-48 0,0 0 0 0,0 0 0 16,0 0-192-16,0 0 0 0,0 0 0 0,5 8 0 15,-5-8 0-15,3 8 0 0,-3-8 0 0,0 0 0 16,0 0 0-16,4 9 0 0,-3 0 0 0,-1-9 0 0,0 0 0 16,0 0 0-16,0 0 0 0,0 0 0 0,4 12 0 0,-3-2 0 15,-1 0 0-15,0-1 0 0,-1 1 0 0,1 0 0 16,0-10 0-16,3 15 0 0,0 0 0 0,0-1-128 16,2 0 128-16,0 0 0 0,2 1 0 0,1-2 0 15,2 0 0-15,0 0 0 0,-2-1 0 0,0-2 128 16,2 0-128-16,0-2 0 0,-10-8 0 0,13 8 0 15,-3-1 0-15,0-1 0 0,1-1 0 0,-11-5-192 16,15 3 48-16,-2-3 0 16,2 0-432-16,0 0-64 0,1 0-32 0,0 2 0 15,-1-2-1552-15,3 0-304 0,5 0-64 0</inkml:trace>
        </inkml:traceGroup>
      </inkml:traceGroup>
    </inkml:traceGroup>
  </inkml:traceGroup>
</inkml:ink>
</file>

<file path=ppt/ink/ink8.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4:48:40.795"/>
    </inkml:context>
    <inkml:brush xml:id="br0">
      <inkml:brushProperty name="width" value="0.09333" units="cm"/>
      <inkml:brushProperty name="height" value="0.09333" units="cm"/>
      <inkml:brushProperty name="color" value="#3165BB"/>
      <inkml:brushProperty name="fitToCurve" value="1"/>
    </inkml:brush>
  </inkml:definitions>
  <inkml:trace contextRef="#ctx0" brushRef="#br0">-595-3803 3679 0,'0'0'320'0,"0"0"-320"0,0 0 0 0,0 0 0 16,0 0 2656-16,0 0 464 0,0 0 80 0,0 0 32 16,0 0-2192-16,0 0-432 0,0 0-96 0,7-8 0 0,-7 8-128 0,4-9 0 15,-4 9-16-15,0 0 0 0,7-6-208 0,-7 6-32 16,7-10-128-16,-2 3 192 0,-5 7 256 0,0 0 64 16,0 0 0-16,0 0 0 0,0 0 48 0,11-1 16 15,-11 1 0-15,0 0 0 0,0 0-112 0,10 10-16 16,-10-10 0-16,8 13 0 0,-1-2-80 0,-1 1-32 15,-6-12 0-15,7 16 0 0,-2 1-336 0,0 1 144 16,-2-2-144-16,0 0 0 0,0-1 192 0,1 0-64 16,-1-2 0-16,0 0-128 0,-1 2 464 0,-2 3-16 15,0 3 0-15,0-1 0 0,0-5 0 0,2 0-16 16,1 1 0-16,0 4 0 0,-1 3-144 0,1 1-32 16,2 4 0-16,0-1 0 0,0-1-64 0,0-2 0 15,0 1-16-15,0 1 0 0,-2 4-16 0,0-6 0 16,-1-5 0-16,1 2 0 0,0 3-160 0,1-1 0 0,1-4 0 15,-2-1 0-15,-1-2 0 0,-1-1 0 0,2-2 0 0,-3-13 0 16,0 0 0-16,0 0 0 0,2 16 0 0,1-1 0 16,-1-2 0-16,-2-13 0 0,0 0 0 0,3 13 0 15,-3-13 0-15,0 0-256 0,4 12 48 0,-4-12 0 32,0 0-544-32,0 0-96 0,0 0-32 0,0 0 0 15,0 0-2016-15,0 0-416 0</inkml:trace>
  <inkml:trace contextRef="#ctx0" brushRef="#br0" timeOffset="981.6563">-446-3224 10015 0,'0'0'448'0,"0"0"80"0,0 0-528 0,0 0 0 0,0 0 0 0,10 8 0 0,-10-8 832 0,12 7 64 15,-1-5 16-15,-11-2 0 0,0 0-592 0,10 6-128 16,-10-6-32-16,0 0 0 0,0 0-160 0,0 0 128 15,0 0-128-15,15-1 128 0,-15 1-128 0,13-5 192 16,-13 5-192-16,0 0 192 0,0 0-16 0,13-7 0 16,-3-1 0-16,-10 8 0 0,0 0-16 0,0 0 0 15,0 0 0-15,10-10 0 0,-4-1 112 0,-6 11 32 16,0 0 0-16,0 0 0 0,4-15 144 0,-4 15 48 16,4-13 0-16,0 1 0 0,-3 1 176 0,-1 11 32 15,4-12 16-15,-4 12 0 0,5-11-240 0,-5 11-48 16,0 0-16-16,0 0 0 0,6-10-96 0,2 2-32 15,-8 8 0-15,0 0 0 0,15-7-96 0,-2 2-32 0,-1 0 0 0,1 2 0 16,-13 3-32-16,16-2-128 0,-1 1 192 0,-2 2-64 16,-13-1-128-16,15 4 0 0,-15-4 144 0,11 3-144 15,-11-3 0-15,14 5 0 0,-3 1 0 0,-11-6 0 16,0 0 208-16,0 0 32 0,0 0 0 0,12 10 0 16,-4 5 144-16,-2-2 16 0,-2 0 16 0,-4-13 0 15,0 0-272-15,6 12-144 0,-6-12 160 0,7 16-160 16,-1-1 0-16,-6-15 0 0,0 0 0 0,0 0 0 15,0 16 128-15,0-3-128 0,0-13 0 0,0 0 0 16,-1 14 0-16,1-14 0 0,-4 14 0 0,4-14 0 16,0 0 0-16,-6 12 192 0,6-12 0 0,-8 11 0 15,-2-1 16-15,2-2 0 0,8-8 0 0,-12 10 0 16,2-2 112-16,0-1 0 0,2-2 16 0,-2 0 0 16,-1-2-96-16,11-3-32 0,-13 5 0 0,1-2 0 0,1 1-80 15,-1 1-128-15,1 1 176 0,1-1-176 0,10-5 128 0,-8 8-128 16,-2 0 0-16,2 1 0 0,-1 0 0 0,9-9 0 15,-8 9 0-15,8-9 0 0,-11 10 0 0,11-10 0 16,-7 9 0-16,2 1 0 0,5-10 0 0,0 0 0 16,0 0 0-16,0 0 0 0,0 0-176 0,0 0-32 15,0 0-16-15,0 0 0 16,-5 12-688-16,5-12-144 0,0 0-32 0</inkml:trace>
  <inkml:trace contextRef="#ctx0" brushRef="#br0" timeOffset="-7353.9534">350 75 911 0,'0'0'0'0,"0"0"0"15,0 0 0-15,0 0 0 0,0 0 2480 0,0 0 400 16,10 12 96-16,-10-12 16 0,0 0-2320 0,0 0-464 16,0 0-80-16,13-2-128 0,-13 2 0 0,12 0-160 15,-12 0 0-15,0 0 0 0,0 0 160 0,0 0 224 16,0 0-48-16,0 0-16 0,0 0 656 0,13 0 128 0,-13 0 16 0,0 0 16 16,0 0 368-16,0 0 64 0,5-13 0 0,-5 13 16 15,0 0-368-15,0 0-80 0,0 0-16 0,0 0 0 16,0 0-208-16,0 0-48 0,0 0-16 0,0 0 0 15,-7-12-112-15,7 12-32 0,0 0 0 0,-8-11 0 16,0 1-32-16,-2 2 0 0,0 3 0 0,10 5 0 16,-13-3 0-16,13 3-16 0,-11-9 0 0,1 3 0 15,-2 3-80-15,12 3-16 0,-13-5 0 0,2 5 0 16,-1 0-160-16,1 0-48 0,11 0 0 0,-15 3 0 16,2 0-192-16,-2 2 176 0,3-2-176 0,1 4 160 15,1 4-160-15,-1-4 160 0,-1-5-160 0,1-2 160 16,11 0-160-16,-15 5 0 0,2 3 144 0,1-2-144 15,12-6 128-15,-13 9-128 0,2 0 128 0,-1 0-128 0,12-9 128 16,-11 14-128-16,-1 0 160 0,1 0-160 0,-1 3 0 16,2-3 128-16,2 0-128 0,2-1 0 0,-1-2 0 0,4 2 0 15,3 0 0-15,0 4 0 0,0-1 0 0,0 1 0 16,3-1 0-16,-1 2 0 0,-1 0 0 0,4 2 0 16,3-4 0-16,1 1 0 0,-4-1 0 0,1 4 0 15,-1 3 0-15,2-2 0 0,1-3 0 0,3 0 0 16,2 0 0-16,-3 2 0 0,-3 1 0 0,1 2 0 15,-1-5 0-15,2 4 0 0,3 1 0 0,-2-2 0 16,-2-1 0-16,2-5 0 0,1-6 128 0,-1 0 0 16,-10-9-128-16,15 13 192 0,-2 1 64 0,0-4 0 15,-13-10 0-15,17 5 0 0,-3 0-80 0,1 2-16 16,-2-4 0-16,-13-3 0 0,13 0-160 0,1 3 0 16,-1 4 0-16,-13-7 0 15,0 0-336-15,14-3-112 0,1-2 0 0,-2 1-16 16,-13 4-2224-16,15-1-432 0</inkml:trace>
</inkml:ink>
</file>

<file path=ppt/ink/ink9.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4:48:39.505"/>
    </inkml:context>
    <inkml:brush xml:id="br0">
      <inkml:brushProperty name="width" value="0.09333" units="cm"/>
      <inkml:brushProperty name="height" value="0.09333" units="cm"/>
      <inkml:brushProperty name="color" value="#3165BB"/>
      <inkml:brushProperty name="fitToCurve" value="1"/>
    </inkml:brush>
  </inkml:definitions>
  <inkml:trace contextRef="#ctx0" brushRef="#br0">260 30 5519 0,'0'0'496'16,"0"0"-496"-16,0 0 0 0,0 0 0 0,0 0 1072 0,0 0 112 15,0 0 32-15,0 0 0 0,0 0-224 0,0 0-32 16,0 0-16-16,0 0 0 0,0 0-576 0,0 0-112 16,0 0-32-16,0 0 0 0,0 0 32 0,10-8 16 15,-10 8 0-15,0 0 0 0,0 0 304 0,0 0 64 16,0 0 16-16,0 0 0 0,0 0 48 0,0 0 16 0,0 0 0 16,0 0 0-16,0 0-160 0,0 0-48 0,0 0 0 15,0 0 0-15,0 0-80 0,0 0-32 0,0 0 0 0,0 0 0 16,0 0-144-16,0 0-16 0,0 0-16 0,0 0 0 15,0 0-32-15,-12-11-16 0,-1 4 0 0,1 5 0 16,12 2-176-16,-13-1 0 0,13 1 0 0,-13-2 0 16,2 5 0-16,1 1 0 0,10-4 0 0,-13 3 0 15,-2-3 0-15,2 3 0 0,1 2 0 0,2 0 128 16,10-5-128-16,-11 5 0 0,3 0 0 0,0 1 0 16,-1 1 0-16,9-7 128 0,0 0-128 0,-9 8 0 15,-5 4 0-15,5-2 0 0,2-2 0 0,7-8 0 16,-5 11 0-16,0-1 128 0,-1 2-128 0,1-3 0 15,5-9 0-15,-4 17 0 0,3-2 0 0,-3-1 0 0,0 1 0 16,0-3 0-16,4-12 0 0,-1 16 0 0,-4-1 0 16,3-2 0-16,2-3 0 0,0-10 0 0,0 0 0 0,-2 15 0 15,2-2 0-15,0-3 0 0,0-10 192 0,0 0-64 16,0 0 0-16,0 0 0 0,5 11 112 0,-5-11 16 16,0 0 0-16,13 10 0 0,1-7-64 0,-1-1-16 15,0 1 0-15,0-1 0 0,2-1-32 0,-1 1 0 16,-14-2 0-16,19 7 0 0,-1-7-144 0,-2 3 0 15,-1 0 0-15,0 0 0 0,-1-3 0 0,-1 4 0 16,-13-4 0-16,12 1 0 0,-12-1 0 0,11-1 0 16,-2-4 0-16,-9 5 0 0,6-8 0 0,1 1 0 15,-2-1 0-15,0-2 0 0,-2 2 0 0,0-2 0 16,0-3 0-16,4 3 0 0,0 0 0 0,1-1 0 16,-2 1 128-16,1 0-128 0,-2 3 0 0,0 1 0 0,1-4 0 15,1 3 0-15,-2 2 320 0,-5 5-32 0,0 0 0 0,0 0 0 16,0 0 16-16,11-11 0 0,-11 11 0 0,0 0 0 15,0 0-160-15,10-13-16 0,-10 13-128 0,0 0 192 16,0 0-192-16,7-17-128 0,-7 17 128 0,0 0-208 16,1-21 208-16,-1 5-144 0,-1-2 144 0,1 18-128 15,0 0 128-15,0 0 0 0,-2-15 0 0,2 15 0 16,0 0 224-16,0 0 32 0,0 0 0 0,0 0 0 16,0 0 112-16,0 0 16 0,0 0 16 0,0 0 0 15,0 0-160-15,0 0-48 0,0 0 0 0,0 0 0 16,0 0-192-16,0 0 0 0,0 0 0 0,5 8 0 15,-5-8 0-15,3 8 0 0,-3-8 0 0,0 0 0 16,0 0 0-16,4 9 0 0,-3 0 0 0,-1-9 0 0,0 0 0 16,0 0 0-16,0 0 0 0,0 0 0 0,4 12 0 0,-3-2 0 15,-1 0 0-15,0-1 0 0,-1 1 0 0,1 0 0 16,0-10 0-16,3 15 0 0,0 0 0 0,0-1-128 16,2 0 128-16,0 0 0 0,2 1 0 0,1-2 0 15,2 0 0-15,0 0 0 0,-2-1 0 0,0-2 128 16,2 0-128-16,0-2 0 0,-10-8 0 0,13 8 0 15,-3-1 0-15,0-1 0 0,1-1 0 0,-11-5-192 16,15 3 48-16,-2-3 0 16,2 0-432-16,0 0-64 0,1 0-32 0,0 2 0 15,-1-2-1552-15,3 0-304 0,5 0-64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16/08/2021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16/08/2021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16/08/2021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16/08/2021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16/08/2021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16/08/2021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16/08/2021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16/08/2021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7.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5.emf"/><Relationship Id="rId18" Type="http://schemas.openxmlformats.org/officeDocument/2006/relationships/image" Target="../media/image49.png"/><Relationship Id="rId3" Type="http://schemas.openxmlformats.org/officeDocument/2006/relationships/image" Target="../media/image40.png"/><Relationship Id="rId21" Type="http://schemas.openxmlformats.org/officeDocument/2006/relationships/image" Target="../media/image52.png"/><Relationship Id="rId7" Type="http://schemas.openxmlformats.org/officeDocument/2006/relationships/image" Target="../media/image42.emf"/><Relationship Id="rId12" Type="http://schemas.openxmlformats.org/officeDocument/2006/relationships/customXml" Target="../ink/ink5.xml"/><Relationship Id="rId17" Type="http://schemas.openxmlformats.org/officeDocument/2006/relationships/image" Target="../media/image48.png"/><Relationship Id="rId2" Type="http://schemas.openxmlformats.org/officeDocument/2006/relationships/image" Target="../media/image39.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44.emf"/><Relationship Id="rId5" Type="http://schemas.openxmlformats.org/officeDocument/2006/relationships/image" Target="../media/image41.emf"/><Relationship Id="rId15" Type="http://schemas.openxmlformats.org/officeDocument/2006/relationships/image" Target="../media/image46.png"/><Relationship Id="rId10" Type="http://schemas.openxmlformats.org/officeDocument/2006/relationships/customXml" Target="../ink/ink4.xml"/><Relationship Id="rId19" Type="http://schemas.openxmlformats.org/officeDocument/2006/relationships/image" Target="../media/image41.png"/><Relationship Id="rId4" Type="http://schemas.openxmlformats.org/officeDocument/2006/relationships/customXml" Target="../ink/ink1.xml"/><Relationship Id="rId9" Type="http://schemas.openxmlformats.org/officeDocument/2006/relationships/image" Target="../media/image43.emf"/><Relationship Id="rId1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61.png"/><Relationship Id="rId3" Type="http://schemas.openxmlformats.org/officeDocument/2006/relationships/image" Target="../media/image54.png"/><Relationship Id="rId7" Type="http://schemas.openxmlformats.org/officeDocument/2006/relationships/image" Target="../media/image56.emf"/><Relationship Id="rId12"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customXml" Target="../ink/ink7.xml"/><Relationship Id="rId11" Type="http://schemas.openxmlformats.org/officeDocument/2006/relationships/image" Target="../media/image59.png"/><Relationship Id="rId5" Type="http://schemas.openxmlformats.org/officeDocument/2006/relationships/image" Target="../media/image55.emf"/><Relationship Id="rId15" Type="http://schemas.openxmlformats.org/officeDocument/2006/relationships/image" Target="../media/image45.png"/><Relationship Id="rId10" Type="http://schemas.openxmlformats.org/officeDocument/2006/relationships/image" Target="../media/image58.png"/><Relationship Id="rId4" Type="http://schemas.openxmlformats.org/officeDocument/2006/relationships/customXml" Target="../ink/ink6.xml"/><Relationship Id="rId9" Type="http://schemas.openxmlformats.org/officeDocument/2006/relationships/image" Target="../media/image57.png"/><Relationship Id="rId14" Type="http://schemas.openxmlformats.org/officeDocument/2006/relationships/image" Target="../media/image44.png"/></Relationships>
</file>

<file path=ppt/slides/_rels/slide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3.png"/><Relationship Id="rId7" Type="http://schemas.openxmlformats.org/officeDocument/2006/relationships/image" Target="../media/image62.png"/><Relationship Id="rId2"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6.png"/><Relationship Id="rId10" Type="http://schemas.openxmlformats.org/officeDocument/2006/relationships/image" Target="../media/image65.png"/><Relationship Id="rId4" Type="http://schemas.openxmlformats.org/officeDocument/2006/relationships/image" Target="../media/image55.png"/><Relationship Id="rId9" Type="http://schemas.openxmlformats.org/officeDocument/2006/relationships/image" Target="../media/image64.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61.png"/><Relationship Id="rId3" Type="http://schemas.openxmlformats.org/officeDocument/2006/relationships/image" Target="../media/image54.png"/><Relationship Id="rId7" Type="http://schemas.openxmlformats.org/officeDocument/2006/relationships/image" Target="../media/image56.emf"/><Relationship Id="rId12"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customXml" Target="../ink/ink9.xml"/><Relationship Id="rId11" Type="http://schemas.openxmlformats.org/officeDocument/2006/relationships/image" Target="../media/image59.png"/><Relationship Id="rId5" Type="http://schemas.openxmlformats.org/officeDocument/2006/relationships/image" Target="../media/image55.emf"/><Relationship Id="rId15" Type="http://schemas.openxmlformats.org/officeDocument/2006/relationships/image" Target="../media/image45.png"/><Relationship Id="rId10" Type="http://schemas.openxmlformats.org/officeDocument/2006/relationships/image" Target="../media/image58.png"/><Relationship Id="rId4" Type="http://schemas.openxmlformats.org/officeDocument/2006/relationships/customXml" Target="../ink/ink8.xml"/><Relationship Id="rId9" Type="http://schemas.openxmlformats.org/officeDocument/2006/relationships/image" Target="../media/image57.png"/><Relationship Id="rId1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3433207" cy="461665"/>
          </a:xfrm>
          <a:prstGeom prst="rect">
            <a:avLst/>
          </a:prstGeom>
          <a:solidFill>
            <a:srgbClr val="FFFF00"/>
          </a:solidFill>
        </p:spPr>
        <p:txBody>
          <a:bodyPr wrap="square" rtlCol="0">
            <a:spAutoFit/>
          </a:bodyPr>
          <a:lstStyle/>
          <a:p>
            <a:r>
              <a:rPr lang="en-AU" sz="2400" dirty="0" smtClean="0"/>
              <a:t>Non right angled triangles</a:t>
            </a:r>
            <a:endParaRPr lang="en-AU" sz="2400" dirty="0"/>
          </a:p>
        </p:txBody>
      </p:sp>
      <p:pic>
        <p:nvPicPr>
          <p:cNvPr id="2" name="Picture 1"/>
          <p:cNvPicPr>
            <a:picLocks noChangeAspect="1"/>
          </p:cNvPicPr>
          <p:nvPr/>
        </p:nvPicPr>
        <p:blipFill>
          <a:blip r:embed="rId2"/>
          <a:stretch>
            <a:fillRect/>
          </a:stretch>
        </p:blipFill>
        <p:spPr>
          <a:xfrm>
            <a:off x="8536094" y="3449"/>
            <a:ext cx="3300618" cy="2237086"/>
          </a:xfrm>
          <a:prstGeom prst="rect">
            <a:avLst/>
          </a:prstGeom>
        </p:spPr>
      </p:pic>
      <p:pic>
        <p:nvPicPr>
          <p:cNvPr id="4" name="Picture 3"/>
          <p:cNvPicPr>
            <a:picLocks noChangeAspect="1"/>
          </p:cNvPicPr>
          <p:nvPr/>
        </p:nvPicPr>
        <p:blipFill>
          <a:blip r:embed="rId3"/>
          <a:stretch>
            <a:fillRect/>
          </a:stretch>
        </p:blipFill>
        <p:spPr>
          <a:xfrm>
            <a:off x="8254755" y="2342010"/>
            <a:ext cx="3937245" cy="2095259"/>
          </a:xfrm>
          <a:prstGeom prst="rect">
            <a:avLst/>
          </a:prstGeom>
        </p:spPr>
      </p:pic>
      <p:pic>
        <p:nvPicPr>
          <p:cNvPr id="5" name="Picture 4"/>
          <p:cNvPicPr>
            <a:picLocks noChangeAspect="1"/>
          </p:cNvPicPr>
          <p:nvPr/>
        </p:nvPicPr>
        <p:blipFill>
          <a:blip r:embed="rId4"/>
          <a:stretch>
            <a:fillRect/>
          </a:stretch>
        </p:blipFill>
        <p:spPr>
          <a:xfrm>
            <a:off x="9164188" y="4437269"/>
            <a:ext cx="2581275" cy="2362200"/>
          </a:xfrm>
          <a:prstGeom prst="rect">
            <a:avLst/>
          </a:prstGeom>
        </p:spPr>
      </p:pic>
      <p:sp>
        <p:nvSpPr>
          <p:cNvPr id="6" name="TextBox 5"/>
          <p:cNvSpPr txBox="1"/>
          <p:nvPr/>
        </p:nvSpPr>
        <p:spPr>
          <a:xfrm>
            <a:off x="168294" y="622690"/>
            <a:ext cx="8086461" cy="430887"/>
          </a:xfrm>
          <a:prstGeom prst="rect">
            <a:avLst/>
          </a:prstGeom>
          <a:noFill/>
        </p:spPr>
        <p:txBody>
          <a:bodyPr wrap="square" rtlCol="0">
            <a:spAutoFit/>
          </a:bodyPr>
          <a:lstStyle/>
          <a:p>
            <a:r>
              <a:rPr lang="en-AU" sz="2200" dirty="0" smtClean="0"/>
              <a:t>Can we currently calculate the area of this triangle using 1/2bh?</a:t>
            </a:r>
            <a:endParaRPr lang="en-AU" sz="2200" dirty="0"/>
          </a:p>
        </p:txBody>
      </p:sp>
      <p:sp>
        <p:nvSpPr>
          <p:cNvPr id="8" name="TextBox 7"/>
          <p:cNvSpPr txBox="1"/>
          <p:nvPr/>
        </p:nvSpPr>
        <p:spPr>
          <a:xfrm>
            <a:off x="168290" y="1279321"/>
            <a:ext cx="8086461" cy="430887"/>
          </a:xfrm>
          <a:prstGeom prst="rect">
            <a:avLst/>
          </a:prstGeom>
          <a:noFill/>
        </p:spPr>
        <p:txBody>
          <a:bodyPr wrap="square" rtlCol="0">
            <a:spAutoFit/>
          </a:bodyPr>
          <a:lstStyle/>
          <a:p>
            <a:r>
              <a:rPr lang="en-AU" sz="2200" dirty="0" smtClean="0"/>
              <a:t>No, we need to know the perpendicular height.</a:t>
            </a:r>
            <a:endParaRPr lang="en-AU" sz="2200" dirty="0"/>
          </a:p>
        </p:txBody>
      </p:sp>
      <p:sp>
        <p:nvSpPr>
          <p:cNvPr id="9" name="TextBox 8"/>
          <p:cNvSpPr txBox="1"/>
          <p:nvPr/>
        </p:nvSpPr>
        <p:spPr>
          <a:xfrm>
            <a:off x="168290" y="2007096"/>
            <a:ext cx="8086461" cy="1107996"/>
          </a:xfrm>
          <a:prstGeom prst="rect">
            <a:avLst/>
          </a:prstGeom>
          <a:noFill/>
        </p:spPr>
        <p:txBody>
          <a:bodyPr wrap="square" rtlCol="0">
            <a:spAutoFit/>
          </a:bodyPr>
          <a:lstStyle/>
          <a:p>
            <a:r>
              <a:rPr lang="en-AU" sz="2200" dirty="0" smtClean="0"/>
              <a:t>By drawing the perpendicular from C to AB we get two right angled triangles and we can use trigonometry to find the perpendicular height (and find the area).</a:t>
            </a:r>
            <a:endParaRPr lang="en-AU" sz="2200" dirty="0"/>
          </a:p>
        </p:txBody>
      </p:sp>
      <p:sp>
        <p:nvSpPr>
          <p:cNvPr id="10" name="TextBox 9"/>
          <p:cNvSpPr txBox="1"/>
          <p:nvPr/>
        </p:nvSpPr>
        <p:spPr>
          <a:xfrm>
            <a:off x="168290" y="3389639"/>
            <a:ext cx="8086461" cy="1107996"/>
          </a:xfrm>
          <a:prstGeom prst="rect">
            <a:avLst/>
          </a:prstGeom>
          <a:noFill/>
        </p:spPr>
        <p:txBody>
          <a:bodyPr wrap="square" rtlCol="0">
            <a:spAutoFit/>
          </a:bodyPr>
          <a:lstStyle/>
          <a:p>
            <a:r>
              <a:rPr lang="en-AU" sz="2200" dirty="0" smtClean="0"/>
              <a:t>By drawing a perpendicular from one vertex to the opposite side (creating right angled triangles) allows us to use trigonometry in a triangle that is not right angled.</a:t>
            </a:r>
            <a:endParaRPr lang="en-AU" sz="2200" dirty="0"/>
          </a:p>
        </p:txBody>
      </p:sp>
      <p:sp>
        <p:nvSpPr>
          <p:cNvPr id="11" name="TextBox 10"/>
          <p:cNvSpPr txBox="1"/>
          <p:nvPr/>
        </p:nvSpPr>
        <p:spPr>
          <a:xfrm>
            <a:off x="168291" y="4711816"/>
            <a:ext cx="8086461" cy="1107996"/>
          </a:xfrm>
          <a:prstGeom prst="rect">
            <a:avLst/>
          </a:prstGeom>
          <a:noFill/>
        </p:spPr>
        <p:txBody>
          <a:bodyPr wrap="square" rtlCol="0">
            <a:spAutoFit/>
          </a:bodyPr>
          <a:lstStyle/>
          <a:p>
            <a:r>
              <a:rPr lang="en-AU" sz="2200" dirty="0" smtClean="0"/>
              <a:t>We will use the usual way of naming sides and angles of a triangle.</a:t>
            </a:r>
          </a:p>
          <a:p>
            <a:r>
              <a:rPr lang="en-AU" sz="2200" dirty="0" err="1" smtClean="0"/>
              <a:t>Eg</a:t>
            </a:r>
            <a:r>
              <a:rPr lang="en-AU" sz="2200" dirty="0" smtClean="0"/>
              <a:t>. In triangle ABC, the three angles are labelled A, B and C at each vertex and the sides opposite these angles are labelled a, b and c.</a:t>
            </a:r>
            <a:endParaRPr lang="en-AU" sz="2200" dirty="0"/>
          </a:p>
        </p:txBody>
      </p:sp>
    </p:spTree>
    <p:extLst>
      <p:ext uri="{BB962C8B-B14F-4D97-AF65-F5344CB8AC3E}">
        <p14:creationId xmlns:p14="http://schemas.microsoft.com/office/powerpoint/2010/main" val="3739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3436596" y="4446793"/>
            <a:ext cx="3086100" cy="2228850"/>
          </a:xfrm>
          <a:prstGeom prst="rect">
            <a:avLst/>
          </a:prstGeom>
        </p:spPr>
      </p:pic>
      <p:pic>
        <p:nvPicPr>
          <p:cNvPr id="16" name="Picture 15"/>
          <p:cNvPicPr>
            <a:picLocks noChangeAspect="1"/>
          </p:cNvPicPr>
          <p:nvPr/>
        </p:nvPicPr>
        <p:blipFill>
          <a:blip r:embed="rId3"/>
          <a:stretch>
            <a:fillRect/>
          </a:stretch>
        </p:blipFill>
        <p:spPr>
          <a:xfrm>
            <a:off x="378337" y="4973762"/>
            <a:ext cx="2338678" cy="1229614"/>
          </a:xfrm>
          <a:prstGeom prst="rect">
            <a:avLst/>
          </a:prstGeom>
        </p:spPr>
      </p:pic>
      <p:sp>
        <p:nvSpPr>
          <p:cNvPr id="14" name="TextBox 13"/>
          <p:cNvSpPr txBox="1"/>
          <p:nvPr/>
        </p:nvSpPr>
        <p:spPr>
          <a:xfrm>
            <a:off x="0" y="0"/>
            <a:ext cx="4863710" cy="461665"/>
          </a:xfrm>
          <a:prstGeom prst="rect">
            <a:avLst/>
          </a:prstGeom>
          <a:solidFill>
            <a:srgbClr val="FFFF00"/>
          </a:solidFill>
        </p:spPr>
        <p:txBody>
          <a:bodyPr wrap="square" rtlCol="0">
            <a:spAutoFit/>
          </a:bodyPr>
          <a:lstStyle/>
          <a:p>
            <a:r>
              <a:rPr lang="en-AU" sz="2400" dirty="0" smtClean="0"/>
              <a:t>Area of a triangle using trigonometry</a:t>
            </a:r>
            <a:endParaRPr lang="en-AU" sz="2400" dirty="0"/>
          </a:p>
        </p:txBody>
      </p:sp>
      <p:pic>
        <p:nvPicPr>
          <p:cNvPr id="3" name="Picture 2"/>
          <p:cNvPicPr>
            <a:picLocks noChangeAspect="1"/>
          </p:cNvPicPr>
          <p:nvPr/>
        </p:nvPicPr>
        <p:blipFill>
          <a:blip r:embed="rId4"/>
          <a:stretch>
            <a:fillRect/>
          </a:stretch>
        </p:blipFill>
        <p:spPr>
          <a:xfrm>
            <a:off x="8763906" y="735499"/>
            <a:ext cx="3000375" cy="2828925"/>
          </a:xfrm>
          <a:prstGeom prst="rect">
            <a:avLst/>
          </a:prstGeom>
        </p:spPr>
      </p:pic>
      <p:sp>
        <p:nvSpPr>
          <p:cNvPr id="5" name="TextBox 4"/>
          <p:cNvSpPr txBox="1"/>
          <p:nvPr/>
        </p:nvSpPr>
        <p:spPr>
          <a:xfrm>
            <a:off x="291710" y="735499"/>
            <a:ext cx="8472196" cy="430887"/>
          </a:xfrm>
          <a:prstGeom prst="rect">
            <a:avLst/>
          </a:prstGeom>
          <a:noFill/>
        </p:spPr>
        <p:txBody>
          <a:bodyPr wrap="square" rtlCol="0">
            <a:spAutoFit/>
          </a:bodyPr>
          <a:lstStyle/>
          <a:p>
            <a:r>
              <a:rPr lang="en-AU" sz="2200" dirty="0" smtClean="0"/>
              <a:t>How do we find the perpendicular height (h) of the triangle?</a:t>
            </a:r>
            <a:endParaRPr lang="en-AU" sz="2200" dirty="0"/>
          </a:p>
        </p:txBody>
      </p:sp>
      <p:sp>
        <p:nvSpPr>
          <p:cNvPr id="6" name="TextBox 5"/>
          <p:cNvSpPr txBox="1"/>
          <p:nvPr/>
        </p:nvSpPr>
        <p:spPr>
          <a:xfrm>
            <a:off x="10529625" y="1480991"/>
            <a:ext cx="274881" cy="369332"/>
          </a:xfrm>
          <a:prstGeom prst="rect">
            <a:avLst/>
          </a:prstGeom>
          <a:noFill/>
        </p:spPr>
        <p:txBody>
          <a:bodyPr wrap="square" rtlCol="0">
            <a:spAutoFit/>
          </a:bodyPr>
          <a:lstStyle/>
          <a:p>
            <a:r>
              <a:rPr lang="en-AU" dirty="0" smtClean="0">
                <a:solidFill>
                  <a:srgbClr val="FF0000"/>
                </a:solidFill>
              </a:rPr>
              <a:t>H</a:t>
            </a:r>
            <a:endParaRPr lang="en-AU" dirty="0">
              <a:solidFill>
                <a:srgbClr val="FF0000"/>
              </a:solidFill>
            </a:endParaRPr>
          </a:p>
        </p:txBody>
      </p:sp>
      <p:sp>
        <p:nvSpPr>
          <p:cNvPr id="8" name="TextBox 7"/>
          <p:cNvSpPr txBox="1"/>
          <p:nvPr/>
        </p:nvSpPr>
        <p:spPr>
          <a:xfrm>
            <a:off x="9649819" y="2278520"/>
            <a:ext cx="274881" cy="369332"/>
          </a:xfrm>
          <a:prstGeom prst="rect">
            <a:avLst/>
          </a:prstGeom>
          <a:noFill/>
        </p:spPr>
        <p:txBody>
          <a:bodyPr wrap="square" rtlCol="0">
            <a:spAutoFit/>
          </a:bodyPr>
          <a:lstStyle/>
          <a:p>
            <a:r>
              <a:rPr lang="en-AU" dirty="0">
                <a:solidFill>
                  <a:srgbClr val="0070C0"/>
                </a:solidFill>
              </a:rPr>
              <a:t>O</a:t>
            </a:r>
          </a:p>
        </p:txBody>
      </p:sp>
      <p:sp>
        <p:nvSpPr>
          <p:cNvPr id="9" name="TextBox 8"/>
          <p:cNvSpPr txBox="1"/>
          <p:nvPr/>
        </p:nvSpPr>
        <p:spPr>
          <a:xfrm>
            <a:off x="10512796" y="2923648"/>
            <a:ext cx="274881" cy="369332"/>
          </a:xfrm>
          <a:prstGeom prst="rect">
            <a:avLst/>
          </a:prstGeom>
          <a:noFill/>
        </p:spPr>
        <p:txBody>
          <a:bodyPr wrap="square" rtlCol="0">
            <a:spAutoFit/>
          </a:bodyPr>
          <a:lstStyle/>
          <a:p>
            <a:r>
              <a:rPr lang="en-AU" dirty="0" smtClean="0">
                <a:solidFill>
                  <a:srgbClr val="00B050"/>
                </a:solidFill>
              </a:rPr>
              <a:t>A</a:t>
            </a:r>
            <a:endParaRPr lang="en-AU" dirty="0">
              <a:solidFill>
                <a:srgbClr val="00B050"/>
              </a:solidFill>
            </a:endParaRPr>
          </a:p>
        </p:txBody>
      </p:sp>
      <mc:AlternateContent xmlns:mc="http://schemas.openxmlformats.org/markup-compatibility/2006" xmlns:a14="http://schemas.microsoft.com/office/drawing/2010/main">
        <mc:Choice Requires="a14">
          <p:sp>
            <p:nvSpPr>
              <p:cNvPr id="7" name="TextBox 6"/>
              <p:cNvSpPr txBox="1"/>
              <p:nvPr/>
            </p:nvSpPr>
            <p:spPr>
              <a:xfrm>
                <a:off x="365253" y="1357226"/>
                <a:ext cx="4703524" cy="73513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𝐶</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solidFill>
                                    <a:srgbClr val="0070C0"/>
                                  </a:solidFill>
                                  <a:latin typeface="Cambria Math" panose="02040503050406030204" pitchFamily="18" charset="0"/>
                                </a:rPr>
                                <m:t>𝑂</m:t>
                              </m:r>
                            </m:num>
                            <m:den>
                              <m:r>
                                <a:rPr lang="en-AU" sz="2200" b="0" i="1" smtClean="0">
                                  <a:solidFill>
                                    <a:srgbClr val="FF0000"/>
                                  </a:solidFill>
                                  <a:latin typeface="Cambria Math" panose="02040503050406030204" pitchFamily="18" charset="0"/>
                                </a:rPr>
                                <m:t>𝐻</m:t>
                              </m:r>
                            </m:den>
                          </m:f>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h</m:t>
                              </m:r>
                            </m:num>
                            <m:den>
                              <m:r>
                                <a:rPr lang="en-AU" sz="2200" b="0" i="1" smtClean="0">
                                  <a:latin typeface="Cambria Math" panose="02040503050406030204" pitchFamily="18" charset="0"/>
                                </a:rPr>
                                <m:t>𝑎</m:t>
                              </m:r>
                            </m:den>
                          </m:f>
                        </m:e>
                      </m:func>
                    </m:oMath>
                  </m:oMathPara>
                </a14:m>
                <a:endParaRPr lang="en-AU" sz="2200" dirty="0"/>
              </a:p>
            </p:txBody>
          </p:sp>
        </mc:Choice>
        <mc:Fallback xmlns="">
          <p:sp>
            <p:nvSpPr>
              <p:cNvPr id="7" name="TextBox 6"/>
              <p:cNvSpPr txBox="1">
                <a:spLocks noRot="1" noChangeAspect="1" noMove="1" noResize="1" noEditPoints="1" noAdjustHandles="1" noChangeArrowheads="1" noChangeShapeType="1" noTextEdit="1"/>
              </p:cNvSpPr>
              <p:nvPr/>
            </p:nvSpPr>
            <p:spPr>
              <a:xfrm>
                <a:off x="365253" y="1357226"/>
                <a:ext cx="4703524" cy="735138"/>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65253" y="2278520"/>
                <a:ext cx="4703524" cy="4308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h</m:t>
                      </m:r>
                      <m:r>
                        <a:rPr lang="en-AU" sz="2200" b="0" i="1" smtClean="0">
                          <a:latin typeface="Cambria Math" panose="02040503050406030204" pitchFamily="18" charset="0"/>
                        </a:rPr>
                        <m:t>=</m:t>
                      </m:r>
                      <m:r>
                        <a:rPr lang="en-AU" sz="2200" b="0" i="1" smtClean="0">
                          <a:latin typeface="Cambria Math" panose="02040503050406030204" pitchFamily="18" charset="0"/>
                        </a:rPr>
                        <m:t>𝑎</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𝐶</m:t>
                          </m:r>
                        </m:e>
                      </m:func>
                    </m:oMath>
                  </m:oMathPara>
                </a14:m>
                <a:endParaRPr lang="en-AU" sz="2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65253" y="2278520"/>
                <a:ext cx="4703524" cy="430887"/>
              </a:xfrm>
              <a:prstGeom prst="rect">
                <a:avLst/>
              </a:prstGeom>
              <a:blipFill>
                <a:blip r:embed="rId6"/>
                <a:stretch>
                  <a:fillRect l="-259"/>
                </a:stretch>
              </a:blipFill>
            </p:spPr>
            <p:txBody>
              <a:bodyPr/>
              <a:lstStyle/>
              <a:p>
                <a:r>
                  <a:rPr lang="en-AU">
                    <a:noFill/>
                  </a:rPr>
                  <a:t> </a:t>
                </a:r>
              </a:p>
            </p:txBody>
          </p:sp>
        </mc:Fallback>
      </mc:AlternateContent>
      <p:pic>
        <p:nvPicPr>
          <p:cNvPr id="12" name="Picture 11"/>
          <p:cNvPicPr>
            <a:picLocks noChangeAspect="1"/>
          </p:cNvPicPr>
          <p:nvPr/>
        </p:nvPicPr>
        <p:blipFill>
          <a:blip r:embed="rId7"/>
          <a:stretch>
            <a:fillRect/>
          </a:stretch>
        </p:blipFill>
        <p:spPr>
          <a:xfrm>
            <a:off x="291710" y="2960016"/>
            <a:ext cx="8305800" cy="619125"/>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365253" y="3782193"/>
                <a:ext cx="4703524" cy="72616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𝐴</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m:t>
                          </m:r>
                        </m:num>
                        <m:den>
                          <m:r>
                            <a:rPr lang="en-AU" sz="2200" b="0" i="1" smtClean="0">
                              <a:latin typeface="Cambria Math" panose="02040503050406030204" pitchFamily="18" charset="0"/>
                            </a:rPr>
                            <m:t>2</m:t>
                          </m:r>
                        </m:den>
                      </m:f>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𝑏</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𝑎</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𝐶</m:t>
                          </m:r>
                        </m:e>
                      </m:func>
                    </m:oMath>
                  </m:oMathPara>
                </a14:m>
                <a:endParaRPr lang="en-AU" sz="2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365253" y="3782193"/>
                <a:ext cx="4703524" cy="726161"/>
              </a:xfrm>
              <a:prstGeom prst="rect">
                <a:avLst/>
              </a:prstGeom>
              <a:blipFill>
                <a:blip r:embed="rId8"/>
                <a:stretch>
                  <a:fillRect/>
                </a:stretch>
              </a:blipFill>
            </p:spPr>
            <p:txBody>
              <a:bodyPr/>
              <a:lstStyle/>
              <a:p>
                <a:r>
                  <a:rPr lang="en-AU">
                    <a:noFill/>
                  </a:rPr>
                  <a:t> </a:t>
                </a:r>
              </a:p>
            </p:txBody>
          </p:sp>
        </mc:Fallback>
      </mc:AlternateContent>
      <p:sp>
        <p:nvSpPr>
          <p:cNvPr id="15" name="TextBox 14"/>
          <p:cNvSpPr txBox="1"/>
          <p:nvPr/>
        </p:nvSpPr>
        <p:spPr>
          <a:xfrm>
            <a:off x="365253" y="4711406"/>
            <a:ext cx="7444225" cy="430887"/>
          </a:xfrm>
          <a:prstGeom prst="rect">
            <a:avLst/>
          </a:prstGeom>
          <a:noFill/>
        </p:spPr>
        <p:txBody>
          <a:bodyPr wrap="square" rtlCol="0">
            <a:spAutoFit/>
          </a:bodyPr>
          <a:lstStyle/>
          <a:p>
            <a:r>
              <a:rPr lang="en-AU" sz="2200" dirty="0" smtClean="0"/>
              <a:t>We can rearrange this to get:</a:t>
            </a:r>
            <a:endParaRPr lang="en-AU" sz="2200" dirty="0"/>
          </a:p>
        </p:txBody>
      </p:sp>
      <p:sp>
        <p:nvSpPr>
          <p:cNvPr id="18" name="TextBox 17"/>
          <p:cNvSpPr txBox="1"/>
          <p:nvPr/>
        </p:nvSpPr>
        <p:spPr>
          <a:xfrm>
            <a:off x="7062758" y="4926849"/>
            <a:ext cx="4768841" cy="1107996"/>
          </a:xfrm>
          <a:prstGeom prst="rect">
            <a:avLst/>
          </a:prstGeom>
          <a:noFill/>
          <a:ln>
            <a:solidFill>
              <a:schemeClr val="tx1"/>
            </a:solidFill>
          </a:ln>
        </p:spPr>
        <p:txBody>
          <a:bodyPr wrap="square" rtlCol="0">
            <a:spAutoFit/>
          </a:bodyPr>
          <a:lstStyle/>
          <a:p>
            <a:pPr algn="ctr"/>
            <a:r>
              <a:rPr lang="en-AU" sz="2200" dirty="0" smtClean="0"/>
              <a:t>The area of any triangle is half the product of two sides multiplied by the sine of the angle in between them.</a:t>
            </a:r>
            <a:endParaRPr lang="en-AU" sz="2200" dirty="0"/>
          </a:p>
        </p:txBody>
      </p:sp>
    </p:spTree>
    <p:extLst>
      <p:ext uri="{BB962C8B-B14F-4D97-AF65-F5344CB8AC3E}">
        <p14:creationId xmlns:p14="http://schemas.microsoft.com/office/powerpoint/2010/main" val="147558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P spid="15" grpId="0"/>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1368795"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3" name="Picture 2"/>
          <p:cNvPicPr>
            <a:picLocks noChangeAspect="1"/>
          </p:cNvPicPr>
          <p:nvPr/>
        </p:nvPicPr>
        <p:blipFill>
          <a:blip r:embed="rId2"/>
          <a:stretch>
            <a:fillRect/>
          </a:stretch>
        </p:blipFill>
        <p:spPr>
          <a:xfrm>
            <a:off x="6748610" y="654273"/>
            <a:ext cx="4498926" cy="3022075"/>
          </a:xfrm>
          <a:prstGeom prst="rect">
            <a:avLst/>
          </a:prstGeom>
        </p:spPr>
      </p:pic>
      <p:sp>
        <p:nvSpPr>
          <p:cNvPr id="4" name="TextBox 3"/>
          <p:cNvSpPr txBox="1"/>
          <p:nvPr/>
        </p:nvSpPr>
        <p:spPr>
          <a:xfrm>
            <a:off x="7102027" y="2344904"/>
            <a:ext cx="504883" cy="430887"/>
          </a:xfrm>
          <a:prstGeom prst="rect">
            <a:avLst/>
          </a:prstGeom>
          <a:noFill/>
        </p:spPr>
        <p:txBody>
          <a:bodyPr wrap="square" rtlCol="0">
            <a:spAutoFit/>
          </a:bodyPr>
          <a:lstStyle/>
          <a:p>
            <a:r>
              <a:rPr lang="en-AU" sz="2200" b="1" i="1" dirty="0" smtClean="0">
                <a:solidFill>
                  <a:srgbClr val="0070C0"/>
                </a:solidFill>
              </a:rPr>
              <a:t>C</a:t>
            </a:r>
            <a:endParaRPr lang="en-AU" sz="2200" b="1" i="1" dirty="0">
              <a:solidFill>
                <a:srgbClr val="0070C0"/>
              </a:solidFill>
            </a:endParaRPr>
          </a:p>
        </p:txBody>
      </p:sp>
      <p:sp>
        <p:nvSpPr>
          <p:cNvPr id="6" name="TextBox 5"/>
          <p:cNvSpPr txBox="1"/>
          <p:nvPr/>
        </p:nvSpPr>
        <p:spPr>
          <a:xfrm>
            <a:off x="8842005" y="988263"/>
            <a:ext cx="504883" cy="430887"/>
          </a:xfrm>
          <a:prstGeom prst="rect">
            <a:avLst/>
          </a:prstGeom>
          <a:noFill/>
        </p:spPr>
        <p:txBody>
          <a:bodyPr wrap="square" rtlCol="0">
            <a:spAutoFit/>
          </a:bodyPr>
          <a:lstStyle/>
          <a:p>
            <a:r>
              <a:rPr lang="en-AU" sz="2200" b="1" i="1" dirty="0">
                <a:solidFill>
                  <a:srgbClr val="0070C0"/>
                </a:solidFill>
              </a:rPr>
              <a:t>A</a:t>
            </a:r>
          </a:p>
        </p:txBody>
      </p:sp>
      <p:sp>
        <p:nvSpPr>
          <p:cNvPr id="7" name="TextBox 6"/>
          <p:cNvSpPr txBox="1"/>
          <p:nvPr/>
        </p:nvSpPr>
        <p:spPr>
          <a:xfrm>
            <a:off x="10273443" y="2344903"/>
            <a:ext cx="504883" cy="430887"/>
          </a:xfrm>
          <a:prstGeom prst="rect">
            <a:avLst/>
          </a:prstGeom>
          <a:noFill/>
        </p:spPr>
        <p:txBody>
          <a:bodyPr wrap="square" rtlCol="0">
            <a:spAutoFit/>
          </a:bodyPr>
          <a:lstStyle/>
          <a:p>
            <a:r>
              <a:rPr lang="en-AU" sz="2200" b="1" i="1" dirty="0" smtClean="0">
                <a:solidFill>
                  <a:srgbClr val="0070C0"/>
                </a:solidFill>
              </a:rPr>
              <a:t>B</a:t>
            </a:r>
            <a:endParaRPr lang="en-AU" sz="2200" b="1" i="1" dirty="0">
              <a:solidFill>
                <a:srgbClr val="0070C0"/>
              </a:solidFill>
            </a:endParaRPr>
          </a:p>
        </p:txBody>
      </p:sp>
      <p:sp>
        <p:nvSpPr>
          <p:cNvPr id="8" name="TextBox 7"/>
          <p:cNvSpPr txBox="1"/>
          <p:nvPr/>
        </p:nvSpPr>
        <p:spPr>
          <a:xfrm>
            <a:off x="9587174" y="1529735"/>
            <a:ext cx="504883" cy="430887"/>
          </a:xfrm>
          <a:prstGeom prst="rect">
            <a:avLst/>
          </a:prstGeom>
          <a:noFill/>
        </p:spPr>
        <p:txBody>
          <a:bodyPr wrap="square" rtlCol="0">
            <a:spAutoFit/>
          </a:bodyPr>
          <a:lstStyle/>
          <a:p>
            <a:r>
              <a:rPr lang="en-AU" sz="2200" b="1" i="1" dirty="0">
                <a:solidFill>
                  <a:srgbClr val="0070C0"/>
                </a:solidFill>
              </a:rPr>
              <a:t>c</a:t>
            </a:r>
          </a:p>
        </p:txBody>
      </p:sp>
      <p:sp>
        <p:nvSpPr>
          <p:cNvPr id="9" name="TextBox 8"/>
          <p:cNvSpPr txBox="1"/>
          <p:nvPr/>
        </p:nvSpPr>
        <p:spPr>
          <a:xfrm>
            <a:off x="8745631" y="2951494"/>
            <a:ext cx="504883" cy="430887"/>
          </a:xfrm>
          <a:prstGeom prst="rect">
            <a:avLst/>
          </a:prstGeom>
          <a:noFill/>
        </p:spPr>
        <p:txBody>
          <a:bodyPr wrap="square" rtlCol="0">
            <a:spAutoFit/>
          </a:bodyPr>
          <a:lstStyle/>
          <a:p>
            <a:r>
              <a:rPr lang="en-AU" sz="2200" b="1" i="1" dirty="0" smtClean="0">
                <a:solidFill>
                  <a:srgbClr val="0070C0"/>
                </a:solidFill>
              </a:rPr>
              <a:t>a</a:t>
            </a:r>
            <a:endParaRPr lang="en-AU" sz="2200" b="1" i="1" dirty="0">
              <a:solidFill>
                <a:srgbClr val="0070C0"/>
              </a:solidFill>
            </a:endParaRPr>
          </a:p>
        </p:txBody>
      </p:sp>
      <p:sp>
        <p:nvSpPr>
          <p:cNvPr id="10" name="TextBox 9"/>
          <p:cNvSpPr txBox="1"/>
          <p:nvPr/>
        </p:nvSpPr>
        <p:spPr>
          <a:xfrm>
            <a:off x="7765854" y="1203706"/>
            <a:ext cx="504883" cy="430887"/>
          </a:xfrm>
          <a:prstGeom prst="rect">
            <a:avLst/>
          </a:prstGeom>
          <a:noFill/>
        </p:spPr>
        <p:txBody>
          <a:bodyPr wrap="square" rtlCol="0">
            <a:spAutoFit/>
          </a:bodyPr>
          <a:lstStyle/>
          <a:p>
            <a:r>
              <a:rPr lang="en-AU" sz="2200" b="1" i="1" dirty="0">
                <a:solidFill>
                  <a:srgbClr val="0070C0"/>
                </a:solidFill>
              </a:rPr>
              <a:t>b</a:t>
            </a:r>
          </a:p>
        </p:txBody>
      </p:sp>
      <p:pic>
        <p:nvPicPr>
          <p:cNvPr id="11" name="Picture 10"/>
          <p:cNvPicPr>
            <a:picLocks noChangeAspect="1"/>
          </p:cNvPicPr>
          <p:nvPr/>
        </p:nvPicPr>
        <p:blipFill>
          <a:blip r:embed="rId3"/>
          <a:stretch>
            <a:fillRect/>
          </a:stretch>
        </p:blipFill>
        <p:spPr>
          <a:xfrm>
            <a:off x="376124" y="588899"/>
            <a:ext cx="2338678" cy="1229614"/>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55372" y="2070022"/>
                <a:ext cx="6058601" cy="570413"/>
              </a:xfrm>
              <a:prstGeom prst="rect">
                <a:avLst/>
              </a:prstGeom>
              <a:noFill/>
            </p:spPr>
            <p:txBody>
              <a:bodyPr wrap="square" rtlCol="0">
                <a:spAutoFit/>
              </a:bodyPr>
              <a:lstStyle/>
              <a:p>
                <a:r>
                  <a:rPr lang="en-AU" sz="2200" dirty="0" smtClean="0"/>
                  <a:t>Area</a:t>
                </a:r>
                <a14:m>
                  <m:oMath xmlns:m="http://schemas.openxmlformats.org/officeDocument/2006/math">
                    <m:r>
                      <a:rPr lang="en-AU" sz="2200" b="0" i="0" smtClean="0">
                        <a:latin typeface="Cambria Math" panose="02040503050406030204" pitchFamily="18" charset="0"/>
                      </a:rPr>
                      <m:t> </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m:t>
                        </m:r>
                      </m:num>
                      <m:den>
                        <m:r>
                          <a:rPr lang="en-AU" sz="2200" b="0" i="1" smtClean="0">
                            <a:latin typeface="Cambria Math" panose="02040503050406030204" pitchFamily="18" charset="0"/>
                          </a:rPr>
                          <m:t>2</m:t>
                        </m:r>
                      </m:den>
                    </m:f>
                    <m:r>
                      <a:rPr lang="en-AU" sz="2200" b="0" i="1" smtClean="0">
                        <a:latin typeface="Cambria Math" panose="02040503050406030204" pitchFamily="18" charset="0"/>
                        <a:ea typeface="Cambria Math" panose="02040503050406030204" pitchFamily="18" charset="0"/>
                      </a:rPr>
                      <m:t>×20×14×</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35°</m:t>
                        </m:r>
                      </m:e>
                    </m:func>
                  </m:oMath>
                </a14:m>
                <a:endParaRPr lang="en-AU" sz="2200" dirty="0"/>
              </a:p>
            </p:txBody>
          </p:sp>
        </mc:Choice>
        <mc:Fallback xmlns="">
          <p:sp>
            <p:nvSpPr>
              <p:cNvPr id="5" name="TextBox 4"/>
              <p:cNvSpPr txBox="1">
                <a:spLocks noRot="1" noChangeAspect="1" noMove="1" noResize="1" noEditPoints="1" noAdjustHandles="1" noChangeArrowheads="1" noChangeShapeType="1" noTextEdit="1"/>
              </p:cNvSpPr>
              <p:nvPr/>
            </p:nvSpPr>
            <p:spPr>
              <a:xfrm>
                <a:off x="555372" y="2070022"/>
                <a:ext cx="6058601" cy="570413"/>
              </a:xfrm>
              <a:prstGeom prst="rect">
                <a:avLst/>
              </a:prstGeom>
              <a:blipFill>
                <a:blip r:embed="rId4"/>
                <a:stretch>
                  <a:fillRect l="-1308" b="-9677"/>
                </a:stretch>
              </a:blipFill>
            </p:spPr>
            <p:txBody>
              <a:bodyPr/>
              <a:lstStyle/>
              <a:p>
                <a:r>
                  <a:rPr lang="en-AU">
                    <a:noFill/>
                  </a:rPr>
                  <a:t> </a:t>
                </a:r>
              </a:p>
            </p:txBody>
          </p:sp>
        </mc:Fallback>
      </mc:AlternateContent>
      <p:pic>
        <p:nvPicPr>
          <p:cNvPr id="12" name="Picture 11"/>
          <p:cNvPicPr>
            <a:picLocks noChangeAspect="1"/>
          </p:cNvPicPr>
          <p:nvPr/>
        </p:nvPicPr>
        <p:blipFill>
          <a:blip r:embed="rId5"/>
          <a:stretch>
            <a:fillRect/>
          </a:stretch>
        </p:blipFill>
        <p:spPr>
          <a:xfrm>
            <a:off x="635956" y="3090590"/>
            <a:ext cx="4095750" cy="781050"/>
          </a:xfrm>
          <a:prstGeom prst="rect">
            <a:avLst/>
          </a:prstGeom>
        </p:spPr>
      </p:pic>
      <mc:AlternateContent xmlns:mc="http://schemas.openxmlformats.org/markup-compatibility/2006" xmlns:a14="http://schemas.microsoft.com/office/drawing/2010/main">
        <mc:Choice Requires="a14">
          <p:sp>
            <p:nvSpPr>
              <p:cNvPr id="15" name="TextBox 14"/>
              <p:cNvSpPr txBox="1"/>
              <p:nvPr/>
            </p:nvSpPr>
            <p:spPr>
              <a:xfrm>
                <a:off x="505819" y="4213907"/>
                <a:ext cx="6058601" cy="430887"/>
              </a:xfrm>
              <a:prstGeom prst="rect">
                <a:avLst/>
              </a:prstGeom>
              <a:noFill/>
            </p:spPr>
            <p:txBody>
              <a:bodyPr wrap="square" rtlCol="0">
                <a:spAutoFit/>
              </a:bodyPr>
              <a:lstStyle/>
              <a:p>
                <a:r>
                  <a:rPr lang="en-AU" sz="2200" dirty="0" smtClean="0"/>
                  <a:t>Area</a:t>
                </a:r>
                <a14:m>
                  <m:oMath xmlns:m="http://schemas.openxmlformats.org/officeDocument/2006/math">
                    <m:r>
                      <a:rPr lang="en-AU" sz="2200" b="0" i="0" smtClean="0">
                        <a:latin typeface="Cambria Math" panose="02040503050406030204" pitchFamily="18" charset="0"/>
                      </a:rPr>
                      <m:t> </m:t>
                    </m:r>
                    <m:r>
                      <a:rPr lang="en-AU" sz="2200" i="1">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rPr>
                      <m:t>80.3 </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𝑐𝑚</m:t>
                        </m:r>
                      </m:e>
                      <m:sup>
                        <m:r>
                          <a:rPr lang="en-AU" sz="2200" b="0" i="1" smtClean="0">
                            <a:latin typeface="Cambria Math" panose="02040503050406030204" pitchFamily="18" charset="0"/>
                          </a:rPr>
                          <m:t>2</m:t>
                        </m:r>
                      </m:sup>
                    </m:sSup>
                  </m:oMath>
                </a14:m>
                <a:endParaRPr lang="en-AU" sz="2200" dirty="0"/>
              </a:p>
            </p:txBody>
          </p:sp>
        </mc:Choice>
        <mc:Fallback xmlns="">
          <p:sp>
            <p:nvSpPr>
              <p:cNvPr id="15" name="TextBox 14"/>
              <p:cNvSpPr txBox="1">
                <a:spLocks noRot="1" noChangeAspect="1" noMove="1" noResize="1" noEditPoints="1" noAdjustHandles="1" noChangeArrowheads="1" noChangeShapeType="1" noTextEdit="1"/>
              </p:cNvSpPr>
              <p:nvPr/>
            </p:nvSpPr>
            <p:spPr>
              <a:xfrm>
                <a:off x="505819" y="4213907"/>
                <a:ext cx="6058601" cy="430887"/>
              </a:xfrm>
              <a:prstGeom prst="rect">
                <a:avLst/>
              </a:prstGeom>
              <a:blipFill>
                <a:blip r:embed="rId6"/>
                <a:stretch>
                  <a:fillRect l="-1308" t="-8451" b="-28169"/>
                </a:stretch>
              </a:blipFill>
            </p:spPr>
            <p:txBody>
              <a:bodyPr/>
              <a:lstStyle/>
              <a:p>
                <a:r>
                  <a:rPr lang="en-AU">
                    <a:noFill/>
                  </a:rPr>
                  <a:t> </a:t>
                </a:r>
              </a:p>
            </p:txBody>
          </p:sp>
        </mc:Fallback>
      </mc:AlternateContent>
    </p:spTree>
    <p:extLst>
      <p:ext uri="{BB962C8B-B14F-4D97-AF65-F5344CB8AC3E}">
        <p14:creationId xmlns:p14="http://schemas.microsoft.com/office/powerpoint/2010/main" val="79162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P spid="5"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905026" y="461665"/>
            <a:ext cx="4533900" cy="3352800"/>
          </a:xfrm>
          <a:prstGeom prst="rect">
            <a:avLst/>
          </a:prstGeom>
        </p:spPr>
      </p:pic>
      <p:sp>
        <p:nvSpPr>
          <p:cNvPr id="14" name="TextBox 13"/>
          <p:cNvSpPr txBox="1"/>
          <p:nvPr/>
        </p:nvSpPr>
        <p:spPr>
          <a:xfrm>
            <a:off x="0" y="0"/>
            <a:ext cx="1368795" cy="461665"/>
          </a:xfrm>
          <a:prstGeom prst="rect">
            <a:avLst/>
          </a:prstGeom>
          <a:solidFill>
            <a:srgbClr val="FFFF00"/>
          </a:solidFill>
        </p:spPr>
        <p:txBody>
          <a:bodyPr wrap="square" rtlCol="0">
            <a:spAutoFit/>
          </a:bodyPr>
          <a:lstStyle/>
          <a:p>
            <a:r>
              <a:rPr lang="en-AU" sz="2400" dirty="0" smtClean="0"/>
              <a:t>Examples</a:t>
            </a:r>
            <a:endParaRPr lang="en-AU" sz="2400" dirty="0"/>
          </a:p>
        </p:txBody>
      </p:sp>
      <p:sp>
        <p:nvSpPr>
          <p:cNvPr id="4" name="TextBox 3"/>
          <p:cNvSpPr txBox="1"/>
          <p:nvPr/>
        </p:nvSpPr>
        <p:spPr>
          <a:xfrm>
            <a:off x="8337122" y="179382"/>
            <a:ext cx="504883" cy="430887"/>
          </a:xfrm>
          <a:prstGeom prst="rect">
            <a:avLst/>
          </a:prstGeom>
          <a:noFill/>
        </p:spPr>
        <p:txBody>
          <a:bodyPr wrap="square" rtlCol="0">
            <a:spAutoFit/>
          </a:bodyPr>
          <a:lstStyle/>
          <a:p>
            <a:r>
              <a:rPr lang="en-AU" sz="2200" b="1" i="1" dirty="0" smtClean="0">
                <a:solidFill>
                  <a:srgbClr val="0070C0"/>
                </a:solidFill>
              </a:rPr>
              <a:t>C</a:t>
            </a:r>
            <a:endParaRPr lang="en-AU" sz="2200" b="1" i="1" dirty="0">
              <a:solidFill>
                <a:srgbClr val="0070C0"/>
              </a:solidFill>
            </a:endParaRPr>
          </a:p>
        </p:txBody>
      </p:sp>
      <p:sp>
        <p:nvSpPr>
          <p:cNvPr id="6" name="TextBox 5"/>
          <p:cNvSpPr txBox="1"/>
          <p:nvPr/>
        </p:nvSpPr>
        <p:spPr>
          <a:xfrm>
            <a:off x="6905026" y="3524719"/>
            <a:ext cx="504883" cy="430887"/>
          </a:xfrm>
          <a:prstGeom prst="rect">
            <a:avLst/>
          </a:prstGeom>
          <a:noFill/>
        </p:spPr>
        <p:txBody>
          <a:bodyPr wrap="square" rtlCol="0">
            <a:spAutoFit/>
          </a:bodyPr>
          <a:lstStyle/>
          <a:p>
            <a:r>
              <a:rPr lang="en-AU" sz="2200" b="1" i="1" dirty="0">
                <a:solidFill>
                  <a:srgbClr val="0070C0"/>
                </a:solidFill>
              </a:rPr>
              <a:t>A</a:t>
            </a:r>
          </a:p>
        </p:txBody>
      </p:sp>
      <p:sp>
        <p:nvSpPr>
          <p:cNvPr id="7" name="TextBox 6"/>
          <p:cNvSpPr txBox="1"/>
          <p:nvPr/>
        </p:nvSpPr>
        <p:spPr>
          <a:xfrm>
            <a:off x="10934043" y="3599021"/>
            <a:ext cx="504883" cy="430887"/>
          </a:xfrm>
          <a:prstGeom prst="rect">
            <a:avLst/>
          </a:prstGeom>
          <a:noFill/>
        </p:spPr>
        <p:txBody>
          <a:bodyPr wrap="square" rtlCol="0">
            <a:spAutoFit/>
          </a:bodyPr>
          <a:lstStyle/>
          <a:p>
            <a:r>
              <a:rPr lang="en-AU" sz="2200" b="1" i="1" dirty="0" smtClean="0">
                <a:solidFill>
                  <a:srgbClr val="0070C0"/>
                </a:solidFill>
              </a:rPr>
              <a:t>B</a:t>
            </a:r>
            <a:endParaRPr lang="en-AU" sz="2200" b="1" i="1" dirty="0">
              <a:solidFill>
                <a:srgbClr val="0070C0"/>
              </a:solidFill>
            </a:endParaRPr>
          </a:p>
        </p:txBody>
      </p:sp>
      <p:sp>
        <p:nvSpPr>
          <p:cNvPr id="8" name="TextBox 7"/>
          <p:cNvSpPr txBox="1"/>
          <p:nvPr/>
        </p:nvSpPr>
        <p:spPr>
          <a:xfrm>
            <a:off x="8669488" y="3665861"/>
            <a:ext cx="504883" cy="430887"/>
          </a:xfrm>
          <a:prstGeom prst="rect">
            <a:avLst/>
          </a:prstGeom>
          <a:noFill/>
        </p:spPr>
        <p:txBody>
          <a:bodyPr wrap="square" rtlCol="0">
            <a:spAutoFit/>
          </a:bodyPr>
          <a:lstStyle/>
          <a:p>
            <a:r>
              <a:rPr lang="en-AU" sz="2200" b="1" i="1" dirty="0">
                <a:solidFill>
                  <a:srgbClr val="0070C0"/>
                </a:solidFill>
              </a:rPr>
              <a:t>c</a:t>
            </a:r>
          </a:p>
        </p:txBody>
      </p:sp>
      <p:sp>
        <p:nvSpPr>
          <p:cNvPr id="9" name="TextBox 8"/>
          <p:cNvSpPr txBox="1"/>
          <p:nvPr/>
        </p:nvSpPr>
        <p:spPr>
          <a:xfrm>
            <a:off x="9802146" y="1557431"/>
            <a:ext cx="504883" cy="430887"/>
          </a:xfrm>
          <a:prstGeom prst="rect">
            <a:avLst/>
          </a:prstGeom>
          <a:noFill/>
        </p:spPr>
        <p:txBody>
          <a:bodyPr wrap="square" rtlCol="0">
            <a:spAutoFit/>
          </a:bodyPr>
          <a:lstStyle/>
          <a:p>
            <a:r>
              <a:rPr lang="en-AU" sz="2200" b="1" i="1" dirty="0" smtClean="0">
                <a:solidFill>
                  <a:srgbClr val="0070C0"/>
                </a:solidFill>
              </a:rPr>
              <a:t>a</a:t>
            </a:r>
            <a:endParaRPr lang="en-AU" sz="2200" b="1" i="1" dirty="0">
              <a:solidFill>
                <a:srgbClr val="0070C0"/>
              </a:solidFill>
            </a:endParaRPr>
          </a:p>
        </p:txBody>
      </p:sp>
      <p:sp>
        <p:nvSpPr>
          <p:cNvPr id="10" name="TextBox 9"/>
          <p:cNvSpPr txBox="1"/>
          <p:nvPr/>
        </p:nvSpPr>
        <p:spPr>
          <a:xfrm>
            <a:off x="7350728" y="1639135"/>
            <a:ext cx="504883" cy="430887"/>
          </a:xfrm>
          <a:prstGeom prst="rect">
            <a:avLst/>
          </a:prstGeom>
          <a:noFill/>
        </p:spPr>
        <p:txBody>
          <a:bodyPr wrap="square" rtlCol="0">
            <a:spAutoFit/>
          </a:bodyPr>
          <a:lstStyle/>
          <a:p>
            <a:r>
              <a:rPr lang="en-AU" sz="2200" b="1" i="1" dirty="0">
                <a:solidFill>
                  <a:srgbClr val="0070C0"/>
                </a:solidFill>
              </a:rPr>
              <a:t>b</a:t>
            </a:r>
          </a:p>
        </p:txBody>
      </p:sp>
      <p:pic>
        <p:nvPicPr>
          <p:cNvPr id="11" name="Picture 10"/>
          <p:cNvPicPr>
            <a:picLocks noChangeAspect="1"/>
          </p:cNvPicPr>
          <p:nvPr/>
        </p:nvPicPr>
        <p:blipFill>
          <a:blip r:embed="rId3"/>
          <a:stretch>
            <a:fillRect/>
          </a:stretch>
        </p:blipFill>
        <p:spPr>
          <a:xfrm>
            <a:off x="376124" y="588899"/>
            <a:ext cx="2338678" cy="1229614"/>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55372" y="2070022"/>
                <a:ext cx="6058601" cy="570413"/>
              </a:xfrm>
              <a:prstGeom prst="rect">
                <a:avLst/>
              </a:prstGeom>
              <a:noFill/>
            </p:spPr>
            <p:txBody>
              <a:bodyPr wrap="square" rtlCol="0">
                <a:spAutoFit/>
              </a:bodyPr>
              <a:lstStyle/>
              <a:p>
                <a:r>
                  <a:rPr lang="en-AU" sz="2200" dirty="0" smtClean="0"/>
                  <a:t>Area</a:t>
                </a:r>
                <a14:m>
                  <m:oMath xmlns:m="http://schemas.openxmlformats.org/officeDocument/2006/math">
                    <m:r>
                      <a:rPr lang="en-AU" sz="2200" b="0" i="0" smtClean="0">
                        <a:latin typeface="Cambria Math" panose="02040503050406030204" pitchFamily="18" charset="0"/>
                      </a:rPr>
                      <m:t> </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m:t>
                        </m:r>
                      </m:num>
                      <m:den>
                        <m:r>
                          <a:rPr lang="en-AU" sz="2200" b="0" i="1" smtClean="0">
                            <a:latin typeface="Cambria Math" panose="02040503050406030204" pitchFamily="18" charset="0"/>
                          </a:rPr>
                          <m:t>2</m:t>
                        </m:r>
                      </m:den>
                    </m:f>
                    <m:r>
                      <a:rPr lang="en-AU" sz="2200" b="0" i="1" smtClean="0">
                        <a:latin typeface="Cambria Math" panose="02040503050406030204" pitchFamily="18" charset="0"/>
                        <a:ea typeface="Cambria Math" panose="02040503050406030204" pitchFamily="18" charset="0"/>
                      </a:rPr>
                      <m:t>×13.1×12×</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50°</m:t>
                        </m:r>
                      </m:e>
                    </m:func>
                  </m:oMath>
                </a14:m>
                <a:endParaRPr lang="en-AU" sz="2200" dirty="0"/>
              </a:p>
            </p:txBody>
          </p:sp>
        </mc:Choice>
        <mc:Fallback xmlns="">
          <p:sp>
            <p:nvSpPr>
              <p:cNvPr id="5" name="TextBox 4"/>
              <p:cNvSpPr txBox="1">
                <a:spLocks noRot="1" noChangeAspect="1" noMove="1" noResize="1" noEditPoints="1" noAdjustHandles="1" noChangeArrowheads="1" noChangeShapeType="1" noTextEdit="1"/>
              </p:cNvSpPr>
              <p:nvPr/>
            </p:nvSpPr>
            <p:spPr>
              <a:xfrm>
                <a:off x="555372" y="2070022"/>
                <a:ext cx="6058601" cy="570413"/>
              </a:xfrm>
              <a:prstGeom prst="rect">
                <a:avLst/>
              </a:prstGeom>
              <a:blipFill>
                <a:blip r:embed="rId4"/>
                <a:stretch>
                  <a:fillRect l="-1308" b="-967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05819" y="4213907"/>
                <a:ext cx="6058601" cy="430887"/>
              </a:xfrm>
              <a:prstGeom prst="rect">
                <a:avLst/>
              </a:prstGeom>
              <a:noFill/>
            </p:spPr>
            <p:txBody>
              <a:bodyPr wrap="square" rtlCol="0">
                <a:spAutoFit/>
              </a:bodyPr>
              <a:lstStyle/>
              <a:p>
                <a:r>
                  <a:rPr lang="en-AU" sz="2200" dirty="0" smtClean="0"/>
                  <a:t>Area</a:t>
                </a:r>
                <a14:m>
                  <m:oMath xmlns:m="http://schemas.openxmlformats.org/officeDocument/2006/math">
                    <m:r>
                      <a:rPr lang="en-AU" sz="2200" b="0" i="0" smtClean="0">
                        <a:latin typeface="Cambria Math" panose="02040503050406030204" pitchFamily="18" charset="0"/>
                      </a:rPr>
                      <m:t> </m:t>
                    </m:r>
                    <m:r>
                      <a:rPr lang="en-AU" sz="2200" i="1">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60.2</m:t>
                    </m:r>
                    <m:r>
                      <a:rPr lang="en-AU" sz="2200" b="0" i="1" smtClean="0">
                        <a:latin typeface="Cambria Math" panose="02040503050406030204" pitchFamily="18" charset="0"/>
                      </a:rPr>
                      <m:t> </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𝑚</m:t>
                        </m:r>
                      </m:e>
                      <m:sup>
                        <m:r>
                          <a:rPr lang="en-AU" sz="2200" b="0" i="1" smtClean="0">
                            <a:latin typeface="Cambria Math" panose="02040503050406030204" pitchFamily="18" charset="0"/>
                          </a:rPr>
                          <m:t>2</m:t>
                        </m:r>
                      </m:sup>
                    </m:sSup>
                  </m:oMath>
                </a14:m>
                <a:endParaRPr lang="en-AU" sz="2200" dirty="0"/>
              </a:p>
            </p:txBody>
          </p:sp>
        </mc:Choice>
        <mc:Fallback xmlns="">
          <p:sp>
            <p:nvSpPr>
              <p:cNvPr id="15" name="TextBox 14"/>
              <p:cNvSpPr txBox="1">
                <a:spLocks noRot="1" noChangeAspect="1" noMove="1" noResize="1" noEditPoints="1" noAdjustHandles="1" noChangeArrowheads="1" noChangeShapeType="1" noTextEdit="1"/>
              </p:cNvSpPr>
              <p:nvPr/>
            </p:nvSpPr>
            <p:spPr>
              <a:xfrm>
                <a:off x="505819" y="4213907"/>
                <a:ext cx="6058601" cy="430887"/>
              </a:xfrm>
              <a:prstGeom prst="rect">
                <a:avLst/>
              </a:prstGeom>
              <a:blipFill>
                <a:blip r:embed="rId5"/>
                <a:stretch>
                  <a:fillRect l="-1308" t="-8451" b="-28169"/>
                </a:stretch>
              </a:blipFill>
            </p:spPr>
            <p:txBody>
              <a:bodyPr/>
              <a:lstStyle/>
              <a:p>
                <a:r>
                  <a:rPr lang="en-AU">
                    <a:noFill/>
                  </a:rPr>
                  <a:t> </a:t>
                </a:r>
              </a:p>
            </p:txBody>
          </p:sp>
        </mc:Fallback>
      </mc:AlternateContent>
      <p:pic>
        <p:nvPicPr>
          <p:cNvPr id="13" name="Picture 12"/>
          <p:cNvPicPr>
            <a:picLocks noChangeAspect="1"/>
          </p:cNvPicPr>
          <p:nvPr/>
        </p:nvPicPr>
        <p:blipFill>
          <a:blip r:embed="rId6"/>
          <a:stretch>
            <a:fillRect/>
          </a:stretch>
        </p:blipFill>
        <p:spPr>
          <a:xfrm>
            <a:off x="895409" y="2987172"/>
            <a:ext cx="4095750" cy="809625"/>
          </a:xfrm>
          <a:prstGeom prst="rect">
            <a:avLst/>
          </a:prstGeom>
        </p:spPr>
      </p:pic>
    </p:spTree>
    <p:extLst>
      <p:ext uri="{BB962C8B-B14F-4D97-AF65-F5344CB8AC3E}">
        <p14:creationId xmlns:p14="http://schemas.microsoft.com/office/powerpoint/2010/main" val="3928019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P spid="5"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56098" y="3279900"/>
            <a:ext cx="2338678" cy="1229614"/>
          </a:xfrm>
          <a:prstGeom prst="rect">
            <a:avLst/>
          </a:prstGeom>
        </p:spPr>
      </p:pic>
      <p:pic>
        <p:nvPicPr>
          <p:cNvPr id="4" name="Picture 3"/>
          <p:cNvPicPr>
            <a:picLocks noChangeAspect="1"/>
          </p:cNvPicPr>
          <p:nvPr/>
        </p:nvPicPr>
        <p:blipFill>
          <a:blip r:embed="rId3"/>
          <a:stretch>
            <a:fillRect/>
          </a:stretch>
        </p:blipFill>
        <p:spPr>
          <a:xfrm>
            <a:off x="346114" y="879455"/>
            <a:ext cx="3648075" cy="1695450"/>
          </a:xfrm>
          <a:prstGeom prst="rect">
            <a:avLst/>
          </a:prstGeom>
        </p:spPr>
      </p:pic>
      <p:pic>
        <p:nvPicPr>
          <p:cNvPr id="5" name="Picture 4"/>
          <p:cNvPicPr>
            <a:picLocks noChangeAspect="1"/>
          </p:cNvPicPr>
          <p:nvPr/>
        </p:nvPicPr>
        <p:blipFill>
          <a:blip r:embed="rId4"/>
          <a:stretch>
            <a:fillRect/>
          </a:stretch>
        </p:blipFill>
        <p:spPr>
          <a:xfrm>
            <a:off x="5402252" y="3502707"/>
            <a:ext cx="1761482" cy="1541297"/>
          </a:xfrm>
          <a:prstGeom prst="rect">
            <a:avLst/>
          </a:prstGeom>
        </p:spPr>
      </p:pic>
      <p:pic>
        <p:nvPicPr>
          <p:cNvPr id="6" name="Picture 5"/>
          <p:cNvPicPr>
            <a:picLocks noChangeAspect="1"/>
          </p:cNvPicPr>
          <p:nvPr/>
        </p:nvPicPr>
        <p:blipFill>
          <a:blip r:embed="rId5"/>
          <a:stretch>
            <a:fillRect/>
          </a:stretch>
        </p:blipFill>
        <p:spPr>
          <a:xfrm>
            <a:off x="8269354" y="3618288"/>
            <a:ext cx="2599461" cy="1446393"/>
          </a:xfrm>
          <a:prstGeom prst="rect">
            <a:avLst/>
          </a:prstGeom>
        </p:spPr>
      </p:pic>
      <p:sp>
        <p:nvSpPr>
          <p:cNvPr id="7" name="TextBox 6"/>
          <p:cNvSpPr txBox="1"/>
          <p:nvPr/>
        </p:nvSpPr>
        <p:spPr>
          <a:xfrm>
            <a:off x="140245" y="2412221"/>
            <a:ext cx="5413473" cy="1107996"/>
          </a:xfrm>
          <a:prstGeom prst="rect">
            <a:avLst/>
          </a:prstGeom>
          <a:noFill/>
        </p:spPr>
        <p:txBody>
          <a:bodyPr wrap="square" rtlCol="0">
            <a:spAutoFit/>
          </a:bodyPr>
          <a:lstStyle/>
          <a:p>
            <a:r>
              <a:rPr lang="en-AU" sz="2200" dirty="0" smtClean="0"/>
              <a:t>We can also calculate the area of this triangle using the formula (despite there being an obtuse angle):</a:t>
            </a:r>
            <a:endParaRPr lang="en-AU" sz="2200" dirty="0"/>
          </a:p>
        </p:txBody>
      </p:sp>
      <mc:AlternateContent xmlns:mc="http://schemas.openxmlformats.org/markup-compatibility/2006" xmlns:a14="http://schemas.microsoft.com/office/drawing/2010/main">
        <mc:Choice Requires="a14">
          <p:sp>
            <p:nvSpPr>
              <p:cNvPr id="10" name="TextBox 9"/>
              <p:cNvSpPr txBox="1"/>
              <p:nvPr/>
            </p:nvSpPr>
            <p:spPr>
              <a:xfrm>
                <a:off x="140245" y="4438695"/>
                <a:ext cx="6058601" cy="570413"/>
              </a:xfrm>
              <a:prstGeom prst="rect">
                <a:avLst/>
              </a:prstGeom>
              <a:noFill/>
            </p:spPr>
            <p:txBody>
              <a:bodyPr wrap="square" rtlCol="0">
                <a:spAutoFit/>
              </a:bodyPr>
              <a:lstStyle/>
              <a:p>
                <a:r>
                  <a:rPr lang="en-AU" sz="2200" dirty="0" smtClean="0"/>
                  <a:t>Area</a:t>
                </a:r>
                <a14:m>
                  <m:oMath xmlns:m="http://schemas.openxmlformats.org/officeDocument/2006/math">
                    <m:r>
                      <a:rPr lang="en-AU" sz="2200" b="0" i="0" smtClean="0">
                        <a:latin typeface="Cambria Math" panose="02040503050406030204" pitchFamily="18" charset="0"/>
                      </a:rPr>
                      <m:t> </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m:t>
                        </m:r>
                      </m:num>
                      <m:den>
                        <m:r>
                          <a:rPr lang="en-AU" sz="2200" b="0" i="1" smtClean="0">
                            <a:latin typeface="Cambria Math" panose="02040503050406030204" pitchFamily="18" charset="0"/>
                          </a:rPr>
                          <m:t>2</m:t>
                        </m:r>
                      </m:den>
                    </m:f>
                    <m:r>
                      <a:rPr lang="en-AU" sz="2200" b="0" i="1" smtClean="0">
                        <a:latin typeface="Cambria Math" panose="02040503050406030204" pitchFamily="18" charset="0"/>
                        <a:ea typeface="Cambria Math" panose="02040503050406030204" pitchFamily="18" charset="0"/>
                      </a:rPr>
                      <m:t>×6×10×</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120°</m:t>
                        </m:r>
                      </m:e>
                    </m:func>
                  </m:oMath>
                </a14:m>
                <a:endParaRPr lang="en-AU" sz="2200" dirty="0"/>
              </a:p>
            </p:txBody>
          </p:sp>
        </mc:Choice>
        <mc:Fallback xmlns="">
          <p:sp>
            <p:nvSpPr>
              <p:cNvPr id="10" name="TextBox 9"/>
              <p:cNvSpPr txBox="1">
                <a:spLocks noRot="1" noChangeAspect="1" noMove="1" noResize="1" noEditPoints="1" noAdjustHandles="1" noChangeArrowheads="1" noChangeShapeType="1" noTextEdit="1"/>
              </p:cNvSpPr>
              <p:nvPr/>
            </p:nvSpPr>
            <p:spPr>
              <a:xfrm>
                <a:off x="140245" y="4438695"/>
                <a:ext cx="6058601" cy="570413"/>
              </a:xfrm>
              <a:prstGeom prst="rect">
                <a:avLst/>
              </a:prstGeom>
              <a:blipFill>
                <a:blip r:embed="rId6"/>
                <a:stretch>
                  <a:fillRect l="-1308" b="-957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54111" y="5383598"/>
                <a:ext cx="6058601" cy="430887"/>
              </a:xfrm>
              <a:prstGeom prst="rect">
                <a:avLst/>
              </a:prstGeom>
              <a:noFill/>
            </p:spPr>
            <p:txBody>
              <a:bodyPr wrap="square" rtlCol="0">
                <a:spAutoFit/>
              </a:bodyPr>
              <a:lstStyle/>
              <a:p>
                <a:r>
                  <a:rPr lang="en-AU" sz="2200" dirty="0" smtClean="0"/>
                  <a:t>Area</a:t>
                </a:r>
                <a14:m>
                  <m:oMath xmlns:m="http://schemas.openxmlformats.org/officeDocument/2006/math">
                    <m:r>
                      <a:rPr lang="en-AU" sz="2200" b="0" i="0" smtClean="0">
                        <a:latin typeface="Cambria Math" panose="02040503050406030204" pitchFamily="18" charset="0"/>
                      </a:rPr>
                      <m:t> </m:t>
                    </m:r>
                    <m:r>
                      <a:rPr lang="en-AU" sz="2200" i="1">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26.0</m:t>
                    </m:r>
                    <m:r>
                      <a:rPr lang="en-AU" sz="2200" b="0" i="1" smtClean="0">
                        <a:latin typeface="Cambria Math" panose="02040503050406030204" pitchFamily="18" charset="0"/>
                      </a:rPr>
                      <m:t> </m:t>
                    </m:r>
                    <m:r>
                      <a:rPr lang="en-AU" sz="2200" b="0" i="1" smtClean="0">
                        <a:latin typeface="Cambria Math" panose="02040503050406030204" pitchFamily="18" charset="0"/>
                      </a:rPr>
                      <m:t>𝑐</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𝑚</m:t>
                        </m:r>
                      </m:e>
                      <m:sup>
                        <m:r>
                          <a:rPr lang="en-AU" sz="2200" b="0" i="1" smtClean="0">
                            <a:latin typeface="Cambria Math" panose="02040503050406030204" pitchFamily="18" charset="0"/>
                          </a:rPr>
                          <m:t>2</m:t>
                        </m:r>
                      </m:sup>
                    </m:sSup>
                  </m:oMath>
                </a14:m>
                <a:endParaRPr lang="en-AU" sz="2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54111" y="5383598"/>
                <a:ext cx="6058601" cy="430887"/>
              </a:xfrm>
              <a:prstGeom prst="rect">
                <a:avLst/>
              </a:prstGeom>
              <a:blipFill>
                <a:blip r:embed="rId7"/>
                <a:stretch>
                  <a:fillRect l="-1308" t="-9859" b="-28169"/>
                </a:stretch>
              </a:blipFill>
            </p:spPr>
            <p:txBody>
              <a:bodyPr/>
              <a:lstStyle/>
              <a:p>
                <a:r>
                  <a:rPr lang="en-AU">
                    <a:noFill/>
                  </a:rPr>
                  <a:t> </a:t>
                </a:r>
              </a:p>
            </p:txBody>
          </p:sp>
        </mc:Fallback>
      </mc:AlternateContent>
      <p:pic>
        <p:nvPicPr>
          <p:cNvPr id="8" name="Picture 7"/>
          <p:cNvPicPr>
            <a:picLocks noChangeAspect="1"/>
          </p:cNvPicPr>
          <p:nvPr/>
        </p:nvPicPr>
        <p:blipFill>
          <a:blip r:embed="rId8"/>
          <a:stretch>
            <a:fillRect/>
          </a:stretch>
        </p:blipFill>
        <p:spPr>
          <a:xfrm>
            <a:off x="6079832" y="230832"/>
            <a:ext cx="2671481" cy="999492"/>
          </a:xfrm>
          <a:prstGeom prst="rect">
            <a:avLst/>
          </a:prstGeom>
        </p:spPr>
      </p:pic>
      <p:pic>
        <p:nvPicPr>
          <p:cNvPr id="12" name="Picture 11"/>
          <p:cNvPicPr>
            <a:picLocks noChangeAspect="1"/>
          </p:cNvPicPr>
          <p:nvPr/>
        </p:nvPicPr>
        <p:blipFill>
          <a:blip r:embed="rId9"/>
          <a:stretch>
            <a:fillRect/>
          </a:stretch>
        </p:blipFill>
        <p:spPr>
          <a:xfrm>
            <a:off x="9071558" y="275187"/>
            <a:ext cx="2671481" cy="943964"/>
          </a:xfrm>
          <a:prstGeom prst="rect">
            <a:avLst/>
          </a:prstGeom>
        </p:spPr>
      </p:pic>
      <p:sp>
        <p:nvSpPr>
          <p:cNvPr id="13" name="TextBox 12"/>
          <p:cNvSpPr txBox="1"/>
          <p:nvPr/>
        </p:nvSpPr>
        <p:spPr>
          <a:xfrm>
            <a:off x="6079832" y="1483108"/>
            <a:ext cx="5663207" cy="769441"/>
          </a:xfrm>
          <a:prstGeom prst="rect">
            <a:avLst/>
          </a:prstGeom>
          <a:noFill/>
        </p:spPr>
        <p:txBody>
          <a:bodyPr wrap="square" rtlCol="0">
            <a:spAutoFit/>
          </a:bodyPr>
          <a:lstStyle/>
          <a:p>
            <a:pPr algn="ctr"/>
            <a:r>
              <a:rPr lang="en-AU" sz="2200" dirty="0" smtClean="0"/>
              <a:t>You might have noticed that the sine of some angles is the same as others.</a:t>
            </a:r>
            <a:endParaRPr lang="en-AU" sz="2200" dirty="0"/>
          </a:p>
        </p:txBody>
      </p:sp>
      <mc:AlternateContent xmlns:mc="http://schemas.openxmlformats.org/markup-compatibility/2006" xmlns:a14="http://schemas.microsoft.com/office/drawing/2010/main">
        <mc:Choice Requires="a14">
          <p:sp>
            <p:nvSpPr>
              <p:cNvPr id="15" name="TextBox 14"/>
              <p:cNvSpPr txBox="1"/>
              <p:nvPr/>
            </p:nvSpPr>
            <p:spPr>
              <a:xfrm>
                <a:off x="6079830" y="2279566"/>
                <a:ext cx="5663207" cy="430887"/>
              </a:xfrm>
              <a:prstGeom prst="rect">
                <a:avLst/>
              </a:prstGeom>
              <a:noFill/>
            </p:spPr>
            <p:txBody>
              <a:bodyPr wrap="square" rtlCol="0">
                <a:spAutoFit/>
              </a:bodyPr>
              <a:lstStyle/>
              <a:p>
                <a:pPr algn="ctr"/>
                <a:r>
                  <a:rPr lang="en-AU" sz="2200" dirty="0" smtClean="0"/>
                  <a:t>In fact we can say </a:t>
                </a:r>
                <a14:m>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d>
                          <m:dPr>
                            <m:ctrlPr>
                              <a:rPr lang="en-AU" sz="2200" b="0" i="1" smtClean="0">
                                <a:latin typeface="Cambria Math" panose="02040503050406030204" pitchFamily="18" charset="0"/>
                              </a:rPr>
                            </m:ctrlPr>
                          </m:dPr>
                          <m:e>
                            <m:r>
                              <a:rPr lang="en-AU" sz="2200" b="0" i="1" smtClean="0">
                                <a:latin typeface="Cambria Math" panose="02040503050406030204" pitchFamily="18" charset="0"/>
                              </a:rPr>
                              <m:t>180</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𝐶</m:t>
                            </m:r>
                          </m:e>
                        </m:d>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𝐶</m:t>
                            </m:r>
                          </m:e>
                        </m:func>
                      </m:e>
                    </m:func>
                  </m:oMath>
                </a14:m>
                <a:endParaRPr lang="en-AU" sz="2200" dirty="0"/>
              </a:p>
            </p:txBody>
          </p:sp>
        </mc:Choice>
        <mc:Fallback xmlns="">
          <p:sp>
            <p:nvSpPr>
              <p:cNvPr id="15" name="TextBox 14"/>
              <p:cNvSpPr txBox="1">
                <a:spLocks noRot="1" noChangeAspect="1" noMove="1" noResize="1" noEditPoints="1" noAdjustHandles="1" noChangeArrowheads="1" noChangeShapeType="1" noTextEdit="1"/>
              </p:cNvSpPr>
              <p:nvPr/>
            </p:nvSpPr>
            <p:spPr>
              <a:xfrm>
                <a:off x="6079830" y="2279566"/>
                <a:ext cx="5663207" cy="430887"/>
              </a:xfrm>
              <a:prstGeom prst="rect">
                <a:avLst/>
              </a:prstGeom>
              <a:blipFill>
                <a:blip r:embed="rId10"/>
                <a:stretch>
                  <a:fillRect t="-9859" b="-26761"/>
                </a:stretch>
              </a:blipFill>
            </p:spPr>
            <p:txBody>
              <a:bodyPr/>
              <a:lstStyle/>
              <a:p>
                <a:r>
                  <a:rPr lang="en-AU">
                    <a:noFill/>
                  </a:rPr>
                  <a:t> </a:t>
                </a:r>
              </a:p>
            </p:txBody>
          </p:sp>
        </mc:Fallback>
      </mc:AlternateContent>
      <p:sp>
        <p:nvSpPr>
          <p:cNvPr id="16" name="TextBox 15"/>
          <p:cNvSpPr txBox="1"/>
          <p:nvPr/>
        </p:nvSpPr>
        <p:spPr>
          <a:xfrm>
            <a:off x="6079830" y="2710453"/>
            <a:ext cx="5663207" cy="769441"/>
          </a:xfrm>
          <a:prstGeom prst="rect">
            <a:avLst/>
          </a:prstGeom>
          <a:noFill/>
        </p:spPr>
        <p:txBody>
          <a:bodyPr wrap="square" rtlCol="0">
            <a:spAutoFit/>
          </a:bodyPr>
          <a:lstStyle/>
          <a:p>
            <a:pPr algn="ctr"/>
            <a:r>
              <a:rPr lang="en-AU" sz="2200" dirty="0" smtClean="0"/>
              <a:t>We can use the area formula for all triangles, including when C is an obtuse angle.</a:t>
            </a:r>
            <a:endParaRPr lang="en-AU" sz="2200" dirty="0"/>
          </a:p>
        </p:txBody>
      </p:sp>
      <mc:AlternateContent xmlns:mc="http://schemas.openxmlformats.org/markup-compatibility/2006" xmlns:a14="http://schemas.microsoft.com/office/drawing/2010/main">
        <mc:Choice Requires="a14">
          <p:sp>
            <p:nvSpPr>
              <p:cNvPr id="17" name="TextBox 16"/>
              <p:cNvSpPr txBox="1"/>
              <p:nvPr/>
            </p:nvSpPr>
            <p:spPr>
              <a:xfrm>
                <a:off x="4785636" y="4981370"/>
                <a:ext cx="2071233"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sin</m:t>
                          </m:r>
                        </m:fName>
                        <m:e>
                          <m:r>
                            <a:rPr lang="en-AU" b="0" i="1" smtClean="0">
                              <a:latin typeface="Cambria Math" panose="02040503050406030204" pitchFamily="18" charset="0"/>
                            </a:rPr>
                            <m:t>𝐶</m:t>
                          </m:r>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h</m:t>
                              </m:r>
                            </m:num>
                            <m:den>
                              <m:r>
                                <a:rPr lang="en-AU" b="0" i="1" smtClean="0">
                                  <a:latin typeface="Cambria Math" panose="02040503050406030204" pitchFamily="18" charset="0"/>
                                </a:rPr>
                                <m:t>𝑏</m:t>
                              </m:r>
                            </m:den>
                          </m:f>
                          <m:r>
                            <a:rPr lang="en-AU" b="0" i="1" smtClean="0">
                              <a:latin typeface="Cambria Math" panose="02040503050406030204" pitchFamily="18" charset="0"/>
                            </a:rPr>
                            <m:t>  </m:t>
                          </m:r>
                          <m:r>
                            <a:rPr lang="en-AU" b="0" i="1" smtClean="0">
                              <a:latin typeface="Cambria Math" panose="02040503050406030204" pitchFamily="18" charset="0"/>
                              <a:ea typeface="Cambria Math" panose="02040503050406030204" pitchFamily="18" charset="0"/>
                            </a:rPr>
                            <m:t>∴  </m:t>
                          </m:r>
                          <m:r>
                            <a:rPr lang="en-AU" b="0" i="1" smtClean="0">
                              <a:latin typeface="Cambria Math" panose="02040503050406030204" pitchFamily="18" charset="0"/>
                              <a:ea typeface="Cambria Math" panose="02040503050406030204" pitchFamily="18" charset="0"/>
                            </a:rPr>
                            <m:t>h</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𝑏</m:t>
                          </m:r>
                          <m:func>
                            <m:funcPr>
                              <m:ctrlPr>
                                <a:rPr lang="en-AU" b="0" i="1" smtClean="0">
                                  <a:latin typeface="Cambria Math" panose="02040503050406030204" pitchFamily="18" charset="0"/>
                                  <a:ea typeface="Cambria Math" panose="02040503050406030204" pitchFamily="18" charset="0"/>
                                </a:rPr>
                              </m:ctrlPr>
                            </m:funcPr>
                            <m:fName>
                              <m:r>
                                <m:rPr>
                                  <m:sty m:val="p"/>
                                </m:rPr>
                                <a:rPr lang="en-AU" b="0" i="0" smtClean="0">
                                  <a:latin typeface="Cambria Math" panose="02040503050406030204" pitchFamily="18" charset="0"/>
                                  <a:ea typeface="Cambria Math" panose="02040503050406030204" pitchFamily="18" charset="0"/>
                                </a:rPr>
                                <m:t>sin</m:t>
                              </m:r>
                            </m:fName>
                            <m:e>
                              <m:r>
                                <a:rPr lang="en-AU" b="0" i="1" smtClean="0">
                                  <a:latin typeface="Cambria Math" panose="02040503050406030204" pitchFamily="18" charset="0"/>
                                  <a:ea typeface="Cambria Math" panose="02040503050406030204" pitchFamily="18" charset="0"/>
                                </a:rPr>
                                <m:t>𝐶</m:t>
                              </m:r>
                            </m:e>
                          </m:func>
                        </m:e>
                      </m:func>
                    </m:oMath>
                  </m:oMathPara>
                </a14:m>
                <a:endParaRPr lang="en-AU" dirty="0"/>
              </a:p>
            </p:txBody>
          </p:sp>
        </mc:Choice>
        <mc:Fallback xmlns="">
          <p:sp>
            <p:nvSpPr>
              <p:cNvPr id="17" name="TextBox 16"/>
              <p:cNvSpPr txBox="1">
                <a:spLocks noRot="1" noChangeAspect="1" noMove="1" noResize="1" noEditPoints="1" noAdjustHandles="1" noChangeArrowheads="1" noChangeShapeType="1" noTextEdit="1"/>
              </p:cNvSpPr>
              <p:nvPr/>
            </p:nvSpPr>
            <p:spPr>
              <a:xfrm>
                <a:off x="4785636" y="4981370"/>
                <a:ext cx="2071233" cy="634789"/>
              </a:xfrm>
              <a:prstGeom prst="rect">
                <a:avLst/>
              </a:prstGeom>
              <a:blipFill>
                <a:blip r:embed="rId11"/>
                <a:stretch>
                  <a:fillRect r="-2147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7625197" y="4981370"/>
                <a:ext cx="2380014"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sin</m:t>
                          </m:r>
                        </m:fName>
                        <m:e>
                          <m:r>
                            <a:rPr lang="en-AU" b="0" i="1" smtClean="0">
                              <a:latin typeface="Cambria Math" panose="02040503050406030204" pitchFamily="18" charset="0"/>
                            </a:rPr>
                            <m:t>(180−</m:t>
                          </m:r>
                          <m:r>
                            <a:rPr lang="en-AU" b="0" i="1" smtClean="0">
                              <a:latin typeface="Cambria Math" panose="02040503050406030204" pitchFamily="18" charset="0"/>
                            </a:rPr>
                            <m:t>𝐶</m:t>
                          </m:r>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h</m:t>
                              </m:r>
                            </m:num>
                            <m:den>
                              <m:r>
                                <a:rPr lang="en-AU" b="0" i="1" smtClean="0">
                                  <a:latin typeface="Cambria Math" panose="02040503050406030204" pitchFamily="18" charset="0"/>
                                </a:rPr>
                                <m:t>𝑏</m:t>
                              </m:r>
                            </m:den>
                          </m:f>
                          <m:r>
                            <a:rPr lang="en-AU" b="0" i="1" smtClean="0">
                              <a:latin typeface="Cambria Math" panose="02040503050406030204" pitchFamily="18" charset="0"/>
                            </a:rPr>
                            <m:t>  </m:t>
                          </m:r>
                          <m:r>
                            <a:rPr lang="en-AU" b="0" i="1" smtClean="0">
                              <a:latin typeface="Cambria Math" panose="02040503050406030204" pitchFamily="18" charset="0"/>
                              <a:ea typeface="Cambria Math" panose="02040503050406030204" pitchFamily="18" charset="0"/>
                            </a:rPr>
                            <m:t>∴  </m:t>
                          </m:r>
                          <m:r>
                            <a:rPr lang="en-AU" b="0" i="1" smtClean="0">
                              <a:latin typeface="Cambria Math" panose="02040503050406030204" pitchFamily="18" charset="0"/>
                              <a:ea typeface="Cambria Math" panose="02040503050406030204" pitchFamily="18" charset="0"/>
                            </a:rPr>
                            <m:t>h</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𝑏</m:t>
                          </m:r>
                          <m:func>
                            <m:funcPr>
                              <m:ctrlPr>
                                <a:rPr lang="en-AU" b="0" i="1" smtClean="0">
                                  <a:latin typeface="Cambria Math" panose="02040503050406030204" pitchFamily="18" charset="0"/>
                                  <a:ea typeface="Cambria Math" panose="02040503050406030204" pitchFamily="18" charset="0"/>
                                </a:rPr>
                              </m:ctrlPr>
                            </m:funcPr>
                            <m:fName>
                              <m:r>
                                <m:rPr>
                                  <m:sty m:val="p"/>
                                </m:rPr>
                                <a:rPr lang="en-AU" b="0" i="0" smtClean="0">
                                  <a:latin typeface="Cambria Math" panose="02040503050406030204" pitchFamily="18" charset="0"/>
                                  <a:ea typeface="Cambria Math" panose="02040503050406030204" pitchFamily="18" charset="0"/>
                                </a:rPr>
                                <m:t>sin</m:t>
                              </m:r>
                            </m:fName>
                            <m:e>
                              <m:r>
                                <a:rPr lang="en-AU" b="0" i="1" smtClean="0">
                                  <a:latin typeface="Cambria Math" panose="02040503050406030204" pitchFamily="18" charset="0"/>
                                  <a:ea typeface="Cambria Math" panose="02040503050406030204" pitchFamily="18" charset="0"/>
                                </a:rPr>
                                <m:t>(180−</m:t>
                              </m:r>
                              <m:r>
                                <a:rPr lang="en-AU" b="0" i="1" smtClean="0">
                                  <a:latin typeface="Cambria Math" panose="02040503050406030204" pitchFamily="18" charset="0"/>
                                  <a:ea typeface="Cambria Math" panose="02040503050406030204" pitchFamily="18" charset="0"/>
                                </a:rPr>
                                <m:t>𝐶</m:t>
                              </m:r>
                              <m:r>
                                <a:rPr lang="en-AU" b="0" i="1" smtClean="0">
                                  <a:latin typeface="Cambria Math" panose="02040503050406030204" pitchFamily="18" charset="0"/>
                                  <a:ea typeface="Cambria Math" panose="02040503050406030204" pitchFamily="18" charset="0"/>
                                </a:rPr>
                                <m:t>)</m:t>
                              </m:r>
                            </m:e>
                          </m:func>
                        </m:e>
                      </m:func>
                    </m:oMath>
                  </m:oMathPara>
                </a14:m>
                <a:endParaRPr lang="en-AU" dirty="0"/>
              </a:p>
            </p:txBody>
          </p:sp>
        </mc:Choice>
        <mc:Fallback xmlns="">
          <p:sp>
            <p:nvSpPr>
              <p:cNvPr id="18" name="TextBox 17"/>
              <p:cNvSpPr txBox="1">
                <a:spLocks noRot="1" noChangeAspect="1" noMove="1" noResize="1" noEditPoints="1" noAdjustHandles="1" noChangeArrowheads="1" noChangeShapeType="1" noTextEdit="1"/>
              </p:cNvSpPr>
              <p:nvPr/>
            </p:nvSpPr>
            <p:spPr>
              <a:xfrm>
                <a:off x="7625197" y="4981370"/>
                <a:ext cx="2380014" cy="634789"/>
              </a:xfrm>
              <a:prstGeom prst="rect">
                <a:avLst/>
              </a:prstGeom>
              <a:blipFill>
                <a:blip r:embed="rId12"/>
                <a:stretch>
                  <a:fillRect r="-73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846881" y="5752277"/>
                <a:ext cx="6720559"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𝐴</m:t>
                      </m:r>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2</m:t>
                          </m:r>
                        </m:den>
                      </m:f>
                      <m:r>
                        <a:rPr lang="en-AU" b="0" i="1" smtClean="0">
                          <a:latin typeface="Cambria Math" panose="02040503050406030204" pitchFamily="18" charset="0"/>
                        </a:rPr>
                        <m:t>𝑎</m:t>
                      </m:r>
                      <m:r>
                        <a:rPr lang="en-AU" i="1">
                          <a:latin typeface="Cambria Math" panose="02040503050406030204" pitchFamily="18" charset="0"/>
                          <a:ea typeface="Cambria Math" panose="02040503050406030204" pitchFamily="18" charset="0"/>
                        </a:rPr>
                        <m:t>×</m:t>
                      </m:r>
                      <m:r>
                        <a:rPr lang="en-AU" b="0" i="1" smtClean="0">
                          <a:latin typeface="Cambria Math" panose="02040503050406030204" pitchFamily="18" charset="0"/>
                        </a:rPr>
                        <m:t>h</m:t>
                      </m:r>
                      <m:r>
                        <a:rPr lang="en-AU" b="0" i="1" smtClean="0">
                          <a:latin typeface="Cambria Math" panose="02040503050406030204" pitchFamily="18" charset="0"/>
                        </a:rPr>
                        <m:t>   =   </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2</m:t>
                          </m:r>
                        </m:den>
                      </m:f>
                      <m:r>
                        <a:rPr lang="en-AU" b="0" i="1" smtClean="0">
                          <a:latin typeface="Cambria Math" panose="02040503050406030204" pitchFamily="18" charset="0"/>
                        </a:rPr>
                        <m:t>𝑎𝑏</m:t>
                      </m:r>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sin</m:t>
                          </m:r>
                        </m:fName>
                        <m:e>
                          <m:r>
                            <a:rPr lang="en-AU" b="0" i="1" smtClean="0">
                              <a:latin typeface="Cambria Math" panose="02040503050406030204" pitchFamily="18" charset="0"/>
                            </a:rPr>
                            <m:t>𝐶</m:t>
                          </m:r>
                          <m:r>
                            <a:rPr lang="en-AU" b="0" i="1" smtClean="0">
                              <a:latin typeface="Cambria Math" panose="02040503050406030204" pitchFamily="18" charset="0"/>
                            </a:rPr>
                            <m:t>   =   </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2</m:t>
                              </m:r>
                            </m:den>
                          </m:f>
                          <m:r>
                            <a:rPr lang="en-AU" b="0" i="1" smtClean="0">
                              <a:latin typeface="Cambria Math" panose="02040503050406030204" pitchFamily="18" charset="0"/>
                            </a:rPr>
                            <m:t>𝑎𝑏</m:t>
                          </m:r>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sin</m:t>
                              </m:r>
                            </m:fName>
                            <m:e>
                              <m:r>
                                <a:rPr lang="en-AU" b="0" i="1" smtClean="0">
                                  <a:latin typeface="Cambria Math" panose="02040503050406030204" pitchFamily="18" charset="0"/>
                                </a:rPr>
                                <m:t>(180−</m:t>
                              </m:r>
                              <m:r>
                                <a:rPr lang="en-AU" b="0" i="1" smtClean="0">
                                  <a:latin typeface="Cambria Math" panose="02040503050406030204" pitchFamily="18" charset="0"/>
                                </a:rPr>
                                <m:t>𝐶</m:t>
                              </m:r>
                              <m:r>
                                <a:rPr lang="en-AU" b="0" i="1" smtClean="0">
                                  <a:latin typeface="Cambria Math" panose="02040503050406030204" pitchFamily="18" charset="0"/>
                                </a:rPr>
                                <m:t>)</m:t>
                              </m:r>
                            </m:e>
                          </m:func>
                        </m:e>
                      </m:func>
                    </m:oMath>
                  </m:oMathPara>
                </a14:m>
                <a:endParaRPr lang="en-AU" dirty="0"/>
              </a:p>
            </p:txBody>
          </p:sp>
        </mc:Choice>
        <mc:Fallback xmlns="">
          <p:sp>
            <p:nvSpPr>
              <p:cNvPr id="19" name="TextBox 18"/>
              <p:cNvSpPr txBox="1">
                <a:spLocks noRot="1" noChangeAspect="1" noMove="1" noResize="1" noEditPoints="1" noAdjustHandles="1" noChangeArrowheads="1" noChangeShapeType="1" noTextEdit="1"/>
              </p:cNvSpPr>
              <p:nvPr/>
            </p:nvSpPr>
            <p:spPr>
              <a:xfrm>
                <a:off x="4846881" y="5752277"/>
                <a:ext cx="6720559" cy="610936"/>
              </a:xfrm>
              <a:prstGeom prst="rect">
                <a:avLst/>
              </a:prstGeom>
              <a:blipFill>
                <a:blip r:embed="rId13"/>
                <a:stretch>
                  <a:fillRect/>
                </a:stretch>
              </a:blipFill>
            </p:spPr>
            <p:txBody>
              <a:bodyPr/>
              <a:lstStyle/>
              <a:p>
                <a:r>
                  <a:rPr lang="en-AU">
                    <a:noFill/>
                  </a:rPr>
                  <a:t> </a:t>
                </a:r>
              </a:p>
            </p:txBody>
          </p:sp>
        </mc:Fallback>
      </mc:AlternateContent>
      <p:sp>
        <p:nvSpPr>
          <p:cNvPr id="20" name="TextBox 19"/>
          <p:cNvSpPr txBox="1"/>
          <p:nvPr/>
        </p:nvSpPr>
        <p:spPr>
          <a:xfrm>
            <a:off x="0" y="0"/>
            <a:ext cx="4863710" cy="461665"/>
          </a:xfrm>
          <a:prstGeom prst="rect">
            <a:avLst/>
          </a:prstGeom>
          <a:solidFill>
            <a:srgbClr val="FFFF00"/>
          </a:solidFill>
        </p:spPr>
        <p:txBody>
          <a:bodyPr wrap="square" rtlCol="0">
            <a:spAutoFit/>
          </a:bodyPr>
          <a:lstStyle/>
          <a:p>
            <a:r>
              <a:rPr lang="en-AU" sz="2400" dirty="0" smtClean="0"/>
              <a:t>Area of a triangle using trigonometry</a:t>
            </a:r>
            <a:endParaRPr lang="en-AU" sz="2400" dirty="0"/>
          </a:p>
        </p:txBody>
      </p:sp>
    </p:spTree>
    <p:extLst>
      <p:ext uri="{BB962C8B-B14F-4D97-AF65-F5344CB8AC3E}">
        <p14:creationId xmlns:p14="http://schemas.microsoft.com/office/powerpoint/2010/main" val="418321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5" grpId="0"/>
      <p:bldP spid="16" grpId="0"/>
      <p:bldP spid="17" grpId="0"/>
      <p:bldP spid="18"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02220" y="2855265"/>
            <a:ext cx="2338678" cy="1229614"/>
          </a:xfrm>
          <a:prstGeom prst="rect">
            <a:avLst/>
          </a:prstGeom>
        </p:spPr>
      </p:pic>
      <p:pic>
        <p:nvPicPr>
          <p:cNvPr id="3" name="Picture 2"/>
          <p:cNvPicPr>
            <a:picLocks noChangeAspect="1"/>
          </p:cNvPicPr>
          <p:nvPr/>
        </p:nvPicPr>
        <p:blipFill>
          <a:blip r:embed="rId3"/>
          <a:stretch>
            <a:fillRect/>
          </a:stretch>
        </p:blipFill>
        <p:spPr>
          <a:xfrm>
            <a:off x="4285434" y="3996565"/>
            <a:ext cx="7029721" cy="1125340"/>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325369" y="667568"/>
                <a:ext cx="11477684" cy="2462213"/>
              </a:xfrm>
              <a:prstGeom prst="rect">
                <a:avLst/>
              </a:prstGeom>
              <a:noFill/>
            </p:spPr>
            <p:txBody>
              <a:bodyPr wrap="square" rtlCol="0">
                <a:spAutoFit/>
              </a:bodyPr>
              <a:lstStyle/>
              <a:p>
                <a:r>
                  <a:rPr lang="en-AU" sz="2200" dirty="0" smtClean="0"/>
                  <a:t>The fact that </a:t>
                </a:r>
                <a14:m>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𝐶</m:t>
                        </m:r>
                      </m:e>
                    </m:func>
                    <m:r>
                      <a:rPr lang="en-AU" sz="2200" b="0" i="1" smtClean="0">
                        <a:latin typeface="Cambria Math" panose="02040503050406030204" pitchFamily="18" charset="0"/>
                      </a:rPr>
                      <m:t> </m:t>
                    </m:r>
                  </m:oMath>
                </a14:m>
                <a:r>
                  <a:rPr lang="en-AU" sz="2200" dirty="0" smtClean="0"/>
                  <a:t>and </a:t>
                </a:r>
                <a14:m>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(180−</m:t>
                        </m:r>
                        <m:r>
                          <a:rPr lang="en-AU" sz="2200" b="0" i="1" smtClean="0">
                            <a:latin typeface="Cambria Math" panose="02040503050406030204" pitchFamily="18" charset="0"/>
                          </a:rPr>
                          <m:t>𝐶</m:t>
                        </m:r>
                        <m:r>
                          <a:rPr lang="en-AU" sz="2200" b="0" i="1" smtClean="0">
                            <a:latin typeface="Cambria Math" panose="02040503050406030204" pitchFamily="18" charset="0"/>
                          </a:rPr>
                          <m:t>)</m:t>
                        </m:r>
                      </m:e>
                    </m:func>
                    <m:r>
                      <a:rPr lang="en-AU" sz="2200" b="0" i="1" smtClean="0">
                        <a:latin typeface="Cambria Math" panose="02040503050406030204" pitchFamily="18" charset="0"/>
                      </a:rPr>
                      <m:t> </m:t>
                    </m:r>
                  </m:oMath>
                </a14:m>
                <a:r>
                  <a:rPr lang="en-AU" sz="2200" dirty="0" smtClean="0"/>
                  <a:t>have the same value does make it more difficult to solve inverse problems.</a:t>
                </a:r>
              </a:p>
              <a:p>
                <a:endParaRPr lang="en-AU" sz="2200" dirty="0"/>
              </a:p>
              <a:p>
                <a:r>
                  <a:rPr lang="en-AU" sz="2200" dirty="0" smtClean="0"/>
                  <a:t>For example, if a question gives us the area and the length of two sides and asks us to find the value of the angle in between them, do we give the acute angle or the obtuse angle answer?</a:t>
                </a:r>
              </a:p>
              <a:p>
                <a:endParaRPr lang="en-AU" sz="2200" dirty="0"/>
              </a:p>
              <a:p>
                <a:r>
                  <a:rPr lang="en-AU" sz="2200" dirty="0" smtClean="0"/>
                  <a:t>I</a:t>
                </a:r>
                <a14:m>
                  <m:oMath xmlns:m="http://schemas.openxmlformats.org/officeDocument/2006/math">
                    <m:r>
                      <m:rPr>
                        <m:sty m:val="p"/>
                      </m:rPr>
                      <a:rPr lang="en-AU" sz="2200" b="0" i="0" smtClean="0">
                        <a:latin typeface="Cambria Math" panose="02040503050406030204" pitchFamily="18" charset="0"/>
                        <a:ea typeface="Cambria Math" panose="02040503050406030204" pitchFamily="18" charset="0"/>
                      </a:rPr>
                      <m:t>f</m:t>
                    </m:r>
                    <m:r>
                      <a:rPr lang="en-AU" sz="2200" b="0" i="0" smtClean="0">
                        <a:latin typeface="Cambria Math" panose="02040503050406030204" pitchFamily="18" charset="0"/>
                        <a:ea typeface="Cambria Math" panose="02040503050406030204" pitchFamily="18" charset="0"/>
                      </a:rPr>
                      <m:t> </m:t>
                    </m:r>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𝐴𝐵𝐶</m:t>
                    </m:r>
                  </m:oMath>
                </a14:m>
                <a:r>
                  <a:rPr lang="en-AU" sz="2200" dirty="0" smtClean="0"/>
                  <a:t> has an area of </a:t>
                </a:r>
                <a14:m>
                  <m:oMath xmlns:m="http://schemas.openxmlformats.org/officeDocument/2006/math">
                    <m:r>
                      <a:rPr lang="en-AU" sz="2200" b="0" i="1" smtClean="0">
                        <a:latin typeface="Cambria Math" panose="02040503050406030204" pitchFamily="18" charset="0"/>
                      </a:rPr>
                      <m:t>3 </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𝑐𝑚</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 </m:t>
                    </m:r>
                  </m:oMath>
                </a14:m>
                <a:r>
                  <a:rPr lang="en-AU" sz="2200" dirty="0" smtClean="0"/>
                  <a:t>with side </a:t>
                </a:r>
                <a14:m>
                  <m:oMath xmlns:m="http://schemas.openxmlformats.org/officeDocument/2006/math">
                    <m:r>
                      <a:rPr lang="en-AU" sz="2200" b="0" i="1" smtClean="0">
                        <a:latin typeface="Cambria Math" panose="02040503050406030204" pitchFamily="18" charset="0"/>
                      </a:rPr>
                      <m:t>𝑎</m:t>
                    </m:r>
                    <m:r>
                      <a:rPr lang="en-AU" sz="2200" b="0" i="1" smtClean="0">
                        <a:latin typeface="Cambria Math" panose="02040503050406030204" pitchFamily="18" charset="0"/>
                      </a:rPr>
                      <m:t>=4 </m:t>
                    </m:r>
                    <m:r>
                      <a:rPr lang="en-AU" sz="2200" b="0" i="1" smtClean="0">
                        <a:latin typeface="Cambria Math" panose="02040503050406030204" pitchFamily="18" charset="0"/>
                      </a:rPr>
                      <m:t>𝑐𝑚</m:t>
                    </m:r>
                  </m:oMath>
                </a14:m>
                <a:r>
                  <a:rPr lang="en-AU" sz="2200" dirty="0" smtClean="0"/>
                  <a:t> and side </a:t>
                </a:r>
                <a14:m>
                  <m:oMath xmlns:m="http://schemas.openxmlformats.org/officeDocument/2006/math">
                    <m:r>
                      <a:rPr lang="en-AU" sz="2200" b="0" i="1" smtClean="0">
                        <a:latin typeface="Cambria Math" panose="02040503050406030204" pitchFamily="18" charset="0"/>
                      </a:rPr>
                      <m:t>𝑏</m:t>
                    </m:r>
                    <m:r>
                      <a:rPr lang="en-AU" sz="2200" b="0" i="1" smtClean="0">
                        <a:latin typeface="Cambria Math" panose="02040503050406030204" pitchFamily="18" charset="0"/>
                      </a:rPr>
                      <m:t>=3 </m:t>
                    </m:r>
                    <m:r>
                      <a:rPr lang="en-AU" sz="2200" b="0" i="1" smtClean="0">
                        <a:latin typeface="Cambria Math" panose="02040503050406030204" pitchFamily="18" charset="0"/>
                      </a:rPr>
                      <m:t>𝑐𝑚</m:t>
                    </m:r>
                  </m:oMath>
                </a14:m>
                <a:r>
                  <a:rPr lang="en-AU" sz="2200" dirty="0" smtClean="0"/>
                  <a:t>. What is the value of angle C?</a:t>
                </a:r>
                <a:endParaRPr lang="en-AU" sz="2200" dirty="0"/>
              </a:p>
            </p:txBody>
          </p:sp>
        </mc:Choice>
        <mc:Fallback xmlns="">
          <p:sp>
            <p:nvSpPr>
              <p:cNvPr id="6" name="TextBox 5"/>
              <p:cNvSpPr txBox="1">
                <a:spLocks noRot="1" noChangeAspect="1" noMove="1" noResize="1" noEditPoints="1" noAdjustHandles="1" noChangeArrowheads="1" noChangeShapeType="1" noTextEdit="1"/>
              </p:cNvSpPr>
              <p:nvPr/>
            </p:nvSpPr>
            <p:spPr>
              <a:xfrm>
                <a:off x="325369" y="667568"/>
                <a:ext cx="11477684" cy="2462213"/>
              </a:xfrm>
              <a:prstGeom prst="rect">
                <a:avLst/>
              </a:prstGeom>
              <a:blipFill>
                <a:blip r:embed="rId4"/>
                <a:stretch>
                  <a:fillRect l="-690" t="-1737" r="-1168" b="-421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69271" y="3892623"/>
                <a:ext cx="3298572" cy="7261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3=</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m:t>
                          </m:r>
                        </m:num>
                        <m:den>
                          <m:r>
                            <a:rPr lang="en-AU" sz="2200" b="0" i="1" smtClean="0">
                              <a:latin typeface="Cambria Math" panose="02040503050406030204" pitchFamily="18" charset="0"/>
                            </a:rPr>
                            <m:t>2</m:t>
                          </m:r>
                        </m:den>
                      </m:f>
                      <m:r>
                        <a:rPr lang="en-AU" sz="2200" b="0" i="1" smtClean="0">
                          <a:latin typeface="Cambria Math" panose="02040503050406030204" pitchFamily="18" charset="0"/>
                          <a:ea typeface="Cambria Math" panose="02040503050406030204" pitchFamily="18" charset="0"/>
                        </a:rPr>
                        <m:t>×4×3×</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𝐶</m:t>
                          </m:r>
                        </m:e>
                      </m:func>
                    </m:oMath>
                  </m:oMathPara>
                </a14:m>
                <a:endParaRPr lang="en-AU" sz="2200" dirty="0"/>
              </a:p>
            </p:txBody>
          </p:sp>
        </mc:Choice>
        <mc:Fallback xmlns="">
          <p:sp>
            <p:nvSpPr>
              <p:cNvPr id="8" name="TextBox 7"/>
              <p:cNvSpPr txBox="1">
                <a:spLocks noRot="1" noChangeAspect="1" noMove="1" noResize="1" noEditPoints="1" noAdjustHandles="1" noChangeArrowheads="1" noChangeShapeType="1" noTextEdit="1"/>
              </p:cNvSpPr>
              <p:nvPr/>
            </p:nvSpPr>
            <p:spPr>
              <a:xfrm>
                <a:off x="269271" y="3892623"/>
                <a:ext cx="3298572" cy="726161"/>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24392" y="4661757"/>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3=6</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𝐶</m:t>
                          </m:r>
                        </m:e>
                      </m:func>
                    </m:oMath>
                  </m:oMathPara>
                </a14:m>
                <a:endParaRPr lang="en-AU" sz="2200" dirty="0"/>
              </a:p>
            </p:txBody>
          </p:sp>
        </mc:Choice>
        <mc:Fallback xmlns="">
          <p:sp>
            <p:nvSpPr>
              <p:cNvPr id="9" name="TextBox 8"/>
              <p:cNvSpPr txBox="1">
                <a:spLocks noRot="1" noChangeAspect="1" noMove="1" noResize="1" noEditPoints="1" noAdjustHandles="1" noChangeArrowheads="1" noChangeShapeType="1" noTextEdit="1"/>
              </p:cNvSpPr>
              <p:nvPr/>
            </p:nvSpPr>
            <p:spPr>
              <a:xfrm>
                <a:off x="-224392" y="4661757"/>
                <a:ext cx="3298572" cy="430887"/>
              </a:xfrm>
              <a:prstGeom prst="rect">
                <a:avLst/>
              </a:prstGeom>
              <a:blipFill>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81549" y="5119126"/>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𝐶</m:t>
                          </m:r>
                        </m:e>
                      </m:func>
                      <m:r>
                        <a:rPr lang="en-AU" sz="2200" b="0" i="1" smtClean="0">
                          <a:latin typeface="Cambria Math" panose="02040503050406030204" pitchFamily="18" charset="0"/>
                        </a:rPr>
                        <m:t>=0.5</m:t>
                      </m:r>
                    </m:oMath>
                  </m:oMathPara>
                </a14:m>
                <a:endParaRPr lang="en-AU" sz="2200" dirty="0"/>
              </a:p>
            </p:txBody>
          </p:sp>
        </mc:Choice>
        <mc:Fallback xmlns="">
          <p:sp>
            <p:nvSpPr>
              <p:cNvPr id="10" name="TextBox 9"/>
              <p:cNvSpPr txBox="1">
                <a:spLocks noRot="1" noChangeAspect="1" noMove="1" noResize="1" noEditPoints="1" noAdjustHandles="1" noChangeArrowheads="1" noChangeShapeType="1" noTextEdit="1"/>
              </p:cNvSpPr>
              <p:nvPr/>
            </p:nvSpPr>
            <p:spPr>
              <a:xfrm>
                <a:off x="-381549" y="5119126"/>
                <a:ext cx="3298572" cy="430887"/>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9391" y="5637984"/>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𝐶</m:t>
                      </m:r>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𝑠𝑖𝑛</m:t>
                          </m:r>
                        </m:e>
                        <m:sup>
                          <m:r>
                            <a:rPr lang="en-AU" sz="2200" b="0" i="1" smtClean="0">
                              <a:latin typeface="Cambria Math" panose="02040503050406030204" pitchFamily="18" charset="0"/>
                            </a:rPr>
                            <m:t>−1</m:t>
                          </m:r>
                        </m:sup>
                      </m:sSup>
                      <m:r>
                        <a:rPr lang="en-AU" sz="2200" b="0" i="1" smtClean="0">
                          <a:latin typeface="Cambria Math" panose="02040503050406030204" pitchFamily="18" charset="0"/>
                        </a:rPr>
                        <m:t>(0.5)</m:t>
                      </m:r>
                    </m:oMath>
                  </m:oMathPara>
                </a14:m>
                <a:endParaRPr lang="en-AU" sz="2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09391" y="5637984"/>
                <a:ext cx="3298572" cy="430887"/>
              </a:xfrm>
              <a:prstGeom prst="rect">
                <a:avLst/>
              </a:prstGeom>
              <a:blipFill>
                <a:blip r:embed="rId8"/>
                <a:stretch>
                  <a:fillRect b="-15493"/>
                </a:stretch>
              </a:blipFill>
            </p:spPr>
            <p:txBody>
              <a:bodyPr/>
              <a:lstStyle/>
              <a:p>
                <a:r>
                  <a:rPr lang="en-AU">
                    <a:noFill/>
                  </a:rPr>
                  <a:t> </a:t>
                </a:r>
              </a:p>
            </p:txBody>
          </p:sp>
        </mc:Fallback>
      </mc:AlternateContent>
      <p:pic>
        <p:nvPicPr>
          <p:cNvPr id="12" name="Picture 11"/>
          <p:cNvPicPr>
            <a:picLocks noChangeAspect="1"/>
          </p:cNvPicPr>
          <p:nvPr/>
        </p:nvPicPr>
        <p:blipFill>
          <a:blip r:embed="rId9"/>
          <a:stretch>
            <a:fillRect/>
          </a:stretch>
        </p:blipFill>
        <p:spPr>
          <a:xfrm>
            <a:off x="179973" y="6156842"/>
            <a:ext cx="3101312" cy="601200"/>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3982969" y="3276133"/>
                <a:ext cx="7702278" cy="769441"/>
              </a:xfrm>
              <a:prstGeom prst="rect">
                <a:avLst/>
              </a:prstGeom>
              <a:noFill/>
            </p:spPr>
            <p:txBody>
              <a:bodyPr wrap="square" rtlCol="0">
                <a:spAutoFit/>
              </a:bodyPr>
              <a:lstStyle/>
              <a:p>
                <a:pPr algn="ctr"/>
                <a:r>
                  <a:rPr lang="en-AU" sz="2200" dirty="0" smtClean="0"/>
                  <a:t>But if </a:t>
                </a:r>
                <a14:m>
                  <m:oMath xmlns:m="http://schemas.openxmlformats.org/officeDocument/2006/math">
                    <m:func>
                      <m:funcPr>
                        <m:ctrlPr>
                          <a:rPr lang="en-AU" sz="2200" i="1">
                            <a:latin typeface="Cambria Math" panose="02040503050406030204" pitchFamily="18" charset="0"/>
                          </a:rPr>
                        </m:ctrlPr>
                      </m:funcPr>
                      <m:fName>
                        <m:r>
                          <m:rPr>
                            <m:sty m:val="p"/>
                          </m:rPr>
                          <a:rPr lang="en-AU" sz="2200">
                            <a:latin typeface="Cambria Math" panose="02040503050406030204" pitchFamily="18" charset="0"/>
                          </a:rPr>
                          <m:t>sin</m:t>
                        </m:r>
                      </m:fName>
                      <m:e>
                        <m:r>
                          <a:rPr lang="en-AU" sz="2200" i="1">
                            <a:latin typeface="Cambria Math" panose="02040503050406030204" pitchFamily="18" charset="0"/>
                          </a:rPr>
                          <m:t>𝐶</m:t>
                        </m:r>
                      </m:e>
                    </m:func>
                    <m:r>
                      <a:rPr lang="en-AU" sz="2200" b="0" i="0" smtClean="0">
                        <a:latin typeface="Cambria Math" panose="02040503050406030204" pitchFamily="18" charset="0"/>
                      </a:rPr>
                      <m:t>=</m:t>
                    </m:r>
                  </m:oMath>
                </a14:m>
                <a:r>
                  <a:rPr lang="en-AU" sz="2200" dirty="0" smtClean="0"/>
                  <a:t> </a:t>
                </a:r>
                <a14:m>
                  <m:oMath xmlns:m="http://schemas.openxmlformats.org/officeDocument/2006/math">
                    <m:func>
                      <m:funcPr>
                        <m:ctrlPr>
                          <a:rPr lang="en-AU" sz="2200" i="1">
                            <a:latin typeface="Cambria Math" panose="02040503050406030204" pitchFamily="18" charset="0"/>
                          </a:rPr>
                        </m:ctrlPr>
                      </m:funcPr>
                      <m:fName>
                        <m:r>
                          <m:rPr>
                            <m:sty m:val="p"/>
                          </m:rPr>
                          <a:rPr lang="en-AU" sz="2200">
                            <a:latin typeface="Cambria Math" panose="02040503050406030204" pitchFamily="18" charset="0"/>
                          </a:rPr>
                          <m:t>sin</m:t>
                        </m:r>
                      </m:fName>
                      <m:e>
                        <m:r>
                          <a:rPr lang="en-AU" sz="2200" i="1">
                            <a:latin typeface="Cambria Math" panose="02040503050406030204" pitchFamily="18" charset="0"/>
                          </a:rPr>
                          <m:t>(180−</m:t>
                        </m:r>
                        <m:r>
                          <a:rPr lang="en-AU" sz="2200" i="1">
                            <a:latin typeface="Cambria Math" panose="02040503050406030204" pitchFamily="18" charset="0"/>
                          </a:rPr>
                          <m:t>𝐶</m:t>
                        </m:r>
                        <m:r>
                          <a:rPr lang="en-AU" sz="2200" i="1">
                            <a:latin typeface="Cambria Math" panose="02040503050406030204" pitchFamily="18" charset="0"/>
                          </a:rPr>
                          <m:t>)</m:t>
                        </m:r>
                      </m:e>
                    </m:func>
                  </m:oMath>
                </a14:m>
                <a:r>
                  <a:rPr lang="en-AU" sz="2200" dirty="0" smtClean="0"/>
                  <a:t>, is the answer 30° or 150°?</a:t>
                </a:r>
              </a:p>
              <a:p>
                <a:pPr algn="ctr"/>
                <a:r>
                  <a:rPr lang="en-AU" sz="2200" dirty="0" smtClean="0"/>
                  <a:t>There are two possible triangles that fit the facts. </a:t>
                </a:r>
                <a:endParaRPr lang="en-AU" sz="2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3982969" y="3276133"/>
                <a:ext cx="7702278" cy="769441"/>
              </a:xfrm>
              <a:prstGeom prst="rect">
                <a:avLst/>
              </a:prstGeom>
              <a:blipFill>
                <a:blip r:embed="rId10"/>
                <a:stretch>
                  <a:fillRect t="-4724" b="-1496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906772" y="5072896"/>
                <a:ext cx="7690749" cy="1446550"/>
              </a:xfrm>
              <a:prstGeom prst="rect">
                <a:avLst/>
              </a:prstGeom>
              <a:noFill/>
            </p:spPr>
            <p:txBody>
              <a:bodyPr wrap="square" rtlCol="0">
                <a:spAutoFit/>
              </a:bodyPr>
              <a:lstStyle/>
              <a:p>
                <a:pPr algn="ctr"/>
                <a:r>
                  <a:rPr lang="en-AU" sz="2200" dirty="0" smtClean="0"/>
                  <a:t>Both triangles would have the same base and height and the same area. The information we have about </a:t>
                </a:r>
                <a14:m>
                  <m:oMath xmlns:m="http://schemas.openxmlformats.org/officeDocument/2006/math">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𝐴𝐵𝐶</m:t>
                    </m:r>
                    <m:r>
                      <a:rPr lang="en-AU" sz="2200" b="0" i="1" smtClean="0">
                        <a:latin typeface="Cambria Math" panose="02040503050406030204" pitchFamily="18" charset="0"/>
                        <a:ea typeface="Cambria Math" panose="02040503050406030204" pitchFamily="18" charset="0"/>
                      </a:rPr>
                      <m:t> </m:t>
                    </m:r>
                  </m:oMath>
                </a14:m>
                <a:r>
                  <a:rPr lang="en-AU" sz="2200" dirty="0" smtClean="0"/>
                  <a:t>is ‘ambiguous’. </a:t>
                </a:r>
                <a:endParaRPr lang="en-AU" sz="2200" dirty="0"/>
              </a:p>
              <a:p>
                <a:pPr algn="ctr"/>
                <a:r>
                  <a:rPr lang="en-AU" sz="2200" dirty="0" smtClean="0"/>
                  <a:t>Normally, you will be given enough information to avoid ambiguity. </a:t>
                </a:r>
                <a:endParaRPr lang="en-AU" sz="2200" dirty="0"/>
              </a:p>
            </p:txBody>
          </p:sp>
        </mc:Choice>
        <mc:Fallback xmlns="">
          <p:sp>
            <p:nvSpPr>
              <p:cNvPr id="14" name="TextBox 13"/>
              <p:cNvSpPr txBox="1">
                <a:spLocks noRot="1" noChangeAspect="1" noMove="1" noResize="1" noEditPoints="1" noAdjustHandles="1" noChangeArrowheads="1" noChangeShapeType="1" noTextEdit="1"/>
              </p:cNvSpPr>
              <p:nvPr/>
            </p:nvSpPr>
            <p:spPr>
              <a:xfrm>
                <a:off x="3906772" y="5072896"/>
                <a:ext cx="7690749" cy="1446550"/>
              </a:xfrm>
              <a:prstGeom prst="rect">
                <a:avLst/>
              </a:prstGeom>
              <a:blipFill>
                <a:blip r:embed="rId11"/>
                <a:stretch>
                  <a:fillRect l="-79" t="-2954" r="-793" b="-8017"/>
                </a:stretch>
              </a:blipFill>
            </p:spPr>
            <p:txBody>
              <a:bodyPr/>
              <a:lstStyle/>
              <a:p>
                <a:r>
                  <a:rPr lang="en-AU">
                    <a:noFill/>
                  </a:rPr>
                  <a:t> </a:t>
                </a:r>
              </a:p>
            </p:txBody>
          </p:sp>
        </mc:Fallback>
      </mc:AlternateContent>
      <p:sp>
        <p:nvSpPr>
          <p:cNvPr id="15" name="TextBox 14"/>
          <p:cNvSpPr txBox="1"/>
          <p:nvPr/>
        </p:nvSpPr>
        <p:spPr>
          <a:xfrm>
            <a:off x="0" y="0"/>
            <a:ext cx="4863710" cy="461665"/>
          </a:xfrm>
          <a:prstGeom prst="rect">
            <a:avLst/>
          </a:prstGeom>
          <a:solidFill>
            <a:srgbClr val="FFFF00"/>
          </a:solidFill>
        </p:spPr>
        <p:txBody>
          <a:bodyPr wrap="square" rtlCol="0">
            <a:spAutoFit/>
          </a:bodyPr>
          <a:lstStyle/>
          <a:p>
            <a:r>
              <a:rPr lang="en-AU" sz="2400" dirty="0" smtClean="0"/>
              <a:t>Area of a triangle using trigonometry</a:t>
            </a:r>
            <a:endParaRPr lang="en-AU" sz="2400" dirty="0"/>
          </a:p>
        </p:txBody>
      </p:sp>
    </p:spTree>
    <p:extLst>
      <p:ext uri="{BB962C8B-B14F-4D97-AF65-F5344CB8AC3E}">
        <p14:creationId xmlns:p14="http://schemas.microsoft.com/office/powerpoint/2010/main" val="57946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1374405"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3" name="Picture 2"/>
          <p:cNvPicPr>
            <a:picLocks noChangeAspect="1"/>
          </p:cNvPicPr>
          <p:nvPr/>
        </p:nvPicPr>
        <p:blipFill>
          <a:blip r:embed="rId2"/>
          <a:stretch>
            <a:fillRect/>
          </a:stretch>
        </p:blipFill>
        <p:spPr>
          <a:xfrm>
            <a:off x="181821" y="1676572"/>
            <a:ext cx="3324225" cy="3038475"/>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347809" y="684398"/>
                <a:ext cx="11505732" cy="769441"/>
              </a:xfrm>
              <a:prstGeom prst="rect">
                <a:avLst/>
              </a:prstGeom>
              <a:noFill/>
            </p:spPr>
            <p:txBody>
              <a:bodyPr wrap="square" rtlCol="0">
                <a:spAutoFit/>
              </a:bodyPr>
              <a:lstStyle/>
              <a:p>
                <a:r>
                  <a:rPr lang="en-AU" sz="2200" dirty="0" smtClean="0"/>
                  <a:t>Triangle </a:t>
                </a:r>
                <a14:m>
                  <m:oMath xmlns:m="http://schemas.openxmlformats.org/officeDocument/2006/math">
                    <m:r>
                      <a:rPr lang="en-AU" sz="2200" i="1" dirty="0" smtClean="0">
                        <a:latin typeface="Cambria Math" panose="02040503050406030204" pitchFamily="18" charset="0"/>
                      </a:rPr>
                      <m:t>𝐷𝐸𝐹</m:t>
                    </m:r>
                  </m:oMath>
                </a14:m>
                <a:r>
                  <a:rPr lang="en-AU" sz="2200" dirty="0" smtClean="0"/>
                  <a:t> is such that </a:t>
                </a:r>
                <a14:m>
                  <m:oMath xmlns:m="http://schemas.openxmlformats.org/officeDocument/2006/math">
                    <m:r>
                      <a:rPr lang="en-AU" sz="2200" b="0" i="1" smtClean="0">
                        <a:latin typeface="Cambria Math" panose="02040503050406030204" pitchFamily="18" charset="0"/>
                      </a:rPr>
                      <m:t>𝑒</m:t>
                    </m:r>
                    <m:r>
                      <a:rPr lang="en-AU" sz="2200" b="0" i="1" smtClean="0">
                        <a:latin typeface="Cambria Math" panose="02040503050406030204" pitchFamily="18" charset="0"/>
                      </a:rPr>
                      <m:t>=16 </m:t>
                    </m:r>
                    <m:r>
                      <a:rPr lang="en-AU" sz="2200" b="0" i="1" smtClean="0">
                        <a:latin typeface="Cambria Math" panose="02040503050406030204" pitchFamily="18" charset="0"/>
                      </a:rPr>
                      <m:t>𝑐𝑚</m:t>
                    </m:r>
                    <m:r>
                      <a:rPr lang="en-AU" sz="2200" b="0" i="1" smtClean="0">
                        <a:latin typeface="Cambria Math" panose="02040503050406030204" pitchFamily="18" charset="0"/>
                      </a:rPr>
                      <m:t>, </m:t>
                    </m:r>
                    <m:r>
                      <a:rPr lang="en-AU" sz="2200" b="0" i="1" smtClean="0">
                        <a:latin typeface="Cambria Math" panose="02040503050406030204" pitchFamily="18" charset="0"/>
                      </a:rPr>
                      <m:t>𝑑</m:t>
                    </m:r>
                    <m:r>
                      <a:rPr lang="en-AU" sz="2200" b="0" i="1" smtClean="0">
                        <a:latin typeface="Cambria Math" panose="02040503050406030204" pitchFamily="18" charset="0"/>
                      </a:rPr>
                      <m:t>=12 </m:t>
                    </m:r>
                    <m:r>
                      <a:rPr lang="en-AU" sz="2200" b="0" i="1" smtClean="0">
                        <a:latin typeface="Cambria Math" panose="02040503050406030204" pitchFamily="18" charset="0"/>
                      </a:rPr>
                      <m:t>𝑐𝑚</m:t>
                    </m:r>
                    <m:r>
                      <a:rPr lang="en-AU" sz="2200" b="0" i="0" smtClean="0">
                        <a:latin typeface="Cambria Math" panose="02040503050406030204" pitchFamily="18" charset="0"/>
                      </a:rPr>
                      <m:t>,</m:t>
                    </m:r>
                  </m:oMath>
                </a14:m>
                <a:r>
                  <a:rPr lang="en-AU" sz="2200" dirty="0" smtClean="0"/>
                  <a:t> the area of the triangle is </a:t>
                </a:r>
                <a14:m>
                  <m:oMath xmlns:m="http://schemas.openxmlformats.org/officeDocument/2006/math">
                    <m:r>
                      <a:rPr lang="en-AU" sz="2200" b="0" i="1" smtClean="0">
                        <a:latin typeface="Cambria Math" panose="02040503050406030204" pitchFamily="18" charset="0"/>
                      </a:rPr>
                      <m:t>78 </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𝑐𝑚</m:t>
                        </m:r>
                      </m:e>
                      <m:sup>
                        <m:r>
                          <a:rPr lang="en-AU" sz="2200" b="0" i="1" smtClean="0">
                            <a:latin typeface="Cambria Math" panose="02040503050406030204" pitchFamily="18" charset="0"/>
                          </a:rPr>
                          <m:t>2</m:t>
                        </m:r>
                      </m:sup>
                    </m:sSup>
                  </m:oMath>
                </a14:m>
                <a:r>
                  <a:rPr lang="en-AU" sz="2200" dirty="0" smtClean="0"/>
                  <a:t> and </a:t>
                </a:r>
                <a14:m>
                  <m:oMath xmlns:m="http://schemas.openxmlformats.org/officeDocument/2006/math">
                    <m:r>
                      <a:rPr lang="en-AU" sz="2200" i="1" smtClean="0">
                        <a:latin typeface="Cambria Math" panose="02040503050406030204" pitchFamily="18" charset="0"/>
                        <a:ea typeface="Cambria Math" panose="02040503050406030204" pitchFamily="18" charset="0"/>
                      </a:rPr>
                      <m:t>&lt;</m:t>
                    </m:r>
                    <m:r>
                      <a:rPr lang="en-AU" sz="2200" b="0" i="1" smtClean="0">
                        <a:latin typeface="Cambria Math" panose="02040503050406030204" pitchFamily="18" charset="0"/>
                        <a:ea typeface="Cambria Math" panose="02040503050406030204" pitchFamily="18" charset="0"/>
                      </a:rPr>
                      <m:t>𝐷𝐹𝐸</m:t>
                    </m:r>
                    <m:r>
                      <a:rPr lang="en-AU" sz="2200" b="0" i="1" smtClean="0">
                        <a:latin typeface="Cambria Math" panose="02040503050406030204" pitchFamily="18" charset="0"/>
                        <a:ea typeface="Cambria Math" panose="02040503050406030204" pitchFamily="18" charset="0"/>
                      </a:rPr>
                      <m:t> </m:t>
                    </m:r>
                  </m:oMath>
                </a14:m>
                <a:r>
                  <a:rPr lang="en-AU" sz="2200" dirty="0" smtClean="0"/>
                  <a:t>is an acute angle. Calculate the size of </a:t>
                </a:r>
                <a14:m>
                  <m:oMath xmlns:m="http://schemas.openxmlformats.org/officeDocument/2006/math">
                    <m:r>
                      <a:rPr lang="en-AU" sz="2200" i="1">
                        <a:latin typeface="Cambria Math" panose="02040503050406030204" pitchFamily="18" charset="0"/>
                        <a:ea typeface="Cambria Math" panose="02040503050406030204" pitchFamily="18" charset="0"/>
                      </a:rPr>
                      <m:t>&lt;</m:t>
                    </m:r>
                    <m:r>
                      <a:rPr lang="en-AU" sz="2200" i="1">
                        <a:latin typeface="Cambria Math" panose="02040503050406030204" pitchFamily="18" charset="0"/>
                        <a:ea typeface="Cambria Math" panose="02040503050406030204" pitchFamily="18" charset="0"/>
                      </a:rPr>
                      <m:t>𝐷𝐹𝐸</m:t>
                    </m:r>
                    <m:r>
                      <a:rPr lang="en-AU" sz="2200" i="1">
                        <a:latin typeface="Cambria Math" panose="02040503050406030204" pitchFamily="18" charset="0"/>
                        <a:ea typeface="Cambria Math" panose="02040503050406030204" pitchFamily="18" charset="0"/>
                      </a:rPr>
                      <m:t> </m:t>
                    </m:r>
                  </m:oMath>
                </a14:m>
                <a:r>
                  <a:rPr lang="en-AU" sz="2200" dirty="0" smtClean="0"/>
                  <a:t>, correct to 1 decimal place.</a:t>
                </a:r>
                <a:endParaRPr lang="en-AU" sz="2200" dirty="0"/>
              </a:p>
            </p:txBody>
          </p:sp>
        </mc:Choice>
        <mc:Fallback xmlns="">
          <p:sp>
            <p:nvSpPr>
              <p:cNvPr id="4" name="TextBox 3"/>
              <p:cNvSpPr txBox="1">
                <a:spLocks noRot="1" noChangeAspect="1" noMove="1" noResize="1" noEditPoints="1" noAdjustHandles="1" noChangeArrowheads="1" noChangeShapeType="1" noTextEdit="1"/>
              </p:cNvSpPr>
              <p:nvPr/>
            </p:nvSpPr>
            <p:spPr>
              <a:xfrm>
                <a:off x="347809" y="684398"/>
                <a:ext cx="11505732" cy="769441"/>
              </a:xfrm>
              <a:prstGeom prst="rect">
                <a:avLst/>
              </a:prstGeom>
              <a:blipFill>
                <a:blip r:embed="rId3"/>
                <a:stretch>
                  <a:fillRect l="-689" t="-4762" b="-15873"/>
                </a:stretch>
              </a:blipFill>
            </p:spPr>
            <p:txBody>
              <a:bodyPr/>
              <a:lstStyle/>
              <a:p>
                <a:r>
                  <a:rPr lang="en-AU">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2058215" y="3726844"/>
              <a:ext cx="329040" cy="488520"/>
            </p14:xfrm>
          </p:contentPart>
        </mc:Choice>
        <mc:Fallback xmlns="">
          <p:pic>
            <p:nvPicPr>
              <p:cNvPr id="6" name="Ink 5"/>
              <p:cNvPicPr/>
              <p:nvPr/>
            </p:nvPicPr>
            <p:blipFill>
              <a:blip r:embed="rId5"/>
              <a:stretch>
                <a:fillRect/>
              </a:stretch>
            </p:blipFill>
            <p:spPr>
              <a:xfrm>
                <a:off x="2038415" y="3709204"/>
                <a:ext cx="362880" cy="525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p14:cNvContentPartPr/>
              <p14:nvPr/>
            </p14:nvContentPartPr>
            <p14:xfrm>
              <a:off x="2266655" y="3864724"/>
              <a:ext cx="111960" cy="254880"/>
            </p14:xfrm>
          </p:contentPart>
        </mc:Choice>
        <mc:Fallback xmlns="">
          <p:pic>
            <p:nvPicPr>
              <p:cNvPr id="12" name="Ink 11"/>
              <p:cNvPicPr/>
              <p:nvPr/>
            </p:nvPicPr>
            <p:blipFill>
              <a:blip r:embed="rId7"/>
              <a:stretch>
                <a:fillRect/>
              </a:stretch>
            </p:blipFill>
            <p:spPr>
              <a:xfrm>
                <a:off x="2253695" y="3847444"/>
                <a:ext cx="1432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p14:cNvContentPartPr/>
              <p14:nvPr/>
            </p14:nvContentPartPr>
            <p14:xfrm>
              <a:off x="3098975" y="4169644"/>
              <a:ext cx="184680" cy="244800"/>
            </p14:xfrm>
          </p:contentPart>
        </mc:Choice>
        <mc:Fallback xmlns="">
          <p:pic>
            <p:nvPicPr>
              <p:cNvPr id="16" name="Ink 15"/>
              <p:cNvPicPr/>
              <p:nvPr/>
            </p:nvPicPr>
            <p:blipFill>
              <a:blip r:embed="rId9"/>
              <a:stretch>
                <a:fillRect/>
              </a:stretch>
            </p:blipFill>
            <p:spPr>
              <a:xfrm>
                <a:off x="3081335" y="4153084"/>
                <a:ext cx="21420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p14:cNvContentPartPr/>
              <p14:nvPr/>
            </p14:nvContentPartPr>
            <p14:xfrm>
              <a:off x="2181335" y="2546404"/>
              <a:ext cx="283320" cy="132840"/>
            </p14:xfrm>
          </p:contentPart>
        </mc:Choice>
        <mc:Fallback xmlns="">
          <p:pic>
            <p:nvPicPr>
              <p:cNvPr id="18" name="Ink 17"/>
              <p:cNvPicPr/>
              <p:nvPr/>
            </p:nvPicPr>
            <p:blipFill>
              <a:blip r:embed="rId11"/>
              <a:stretch>
                <a:fillRect/>
              </a:stretch>
            </p:blipFill>
            <p:spPr>
              <a:xfrm>
                <a:off x="2164775" y="2530564"/>
                <a:ext cx="31500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p14:cNvContentPartPr/>
              <p14:nvPr/>
            </p14:nvContentPartPr>
            <p14:xfrm>
              <a:off x="1609295" y="4618204"/>
              <a:ext cx="129240" cy="238320"/>
            </p14:xfrm>
          </p:contentPart>
        </mc:Choice>
        <mc:Fallback xmlns="">
          <p:pic>
            <p:nvPicPr>
              <p:cNvPr id="21" name="Ink 20"/>
              <p:cNvPicPr/>
              <p:nvPr/>
            </p:nvPicPr>
            <p:blipFill>
              <a:blip r:embed="rId13"/>
              <a:stretch>
                <a:fillRect/>
              </a:stretch>
            </p:blipFill>
            <p:spPr>
              <a:xfrm>
                <a:off x="1593455" y="4602364"/>
                <a:ext cx="159840" cy="269640"/>
              </a:xfrm>
              <a:prstGeom prst="rect">
                <a:avLst/>
              </a:prstGeom>
            </p:spPr>
          </p:pic>
        </mc:Fallback>
      </mc:AlternateContent>
      <p:pic>
        <p:nvPicPr>
          <p:cNvPr id="22" name="Picture 21"/>
          <p:cNvPicPr>
            <a:picLocks noChangeAspect="1"/>
          </p:cNvPicPr>
          <p:nvPr/>
        </p:nvPicPr>
        <p:blipFill>
          <a:blip r:embed="rId14"/>
          <a:stretch>
            <a:fillRect/>
          </a:stretch>
        </p:blipFill>
        <p:spPr>
          <a:xfrm>
            <a:off x="3614929" y="1453839"/>
            <a:ext cx="2338678" cy="1229614"/>
          </a:xfrm>
          <a:prstGeom prst="rect">
            <a:avLst/>
          </a:prstGeom>
        </p:spPr>
      </p:pic>
      <mc:AlternateContent xmlns:mc="http://schemas.openxmlformats.org/markup-compatibility/2006" xmlns:a14="http://schemas.microsoft.com/office/drawing/2010/main">
        <mc:Choice Requires="a14">
          <p:sp>
            <p:nvSpPr>
              <p:cNvPr id="23" name="TextBox 22"/>
              <p:cNvSpPr txBox="1"/>
              <p:nvPr/>
            </p:nvSpPr>
            <p:spPr>
              <a:xfrm>
                <a:off x="3681980" y="2491197"/>
                <a:ext cx="3298572" cy="7261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78=</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m:t>
                          </m:r>
                        </m:num>
                        <m:den>
                          <m:r>
                            <a:rPr lang="en-AU" sz="2200" b="0" i="1" smtClean="0">
                              <a:latin typeface="Cambria Math" panose="02040503050406030204" pitchFamily="18" charset="0"/>
                            </a:rPr>
                            <m:t>2</m:t>
                          </m:r>
                        </m:den>
                      </m:f>
                      <m:r>
                        <a:rPr lang="en-AU" sz="2200" b="0" i="1" smtClean="0">
                          <a:latin typeface="Cambria Math" panose="02040503050406030204" pitchFamily="18" charset="0"/>
                          <a:ea typeface="Cambria Math" panose="02040503050406030204" pitchFamily="18" charset="0"/>
                        </a:rPr>
                        <m:t>×16×12×</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𝐶</m:t>
                          </m:r>
                        </m:e>
                      </m:func>
                    </m:oMath>
                  </m:oMathPara>
                </a14:m>
                <a:endParaRPr lang="en-AU" sz="2200" dirty="0"/>
              </a:p>
            </p:txBody>
          </p:sp>
        </mc:Choice>
        <mc:Fallback xmlns="">
          <p:sp>
            <p:nvSpPr>
              <p:cNvPr id="23" name="TextBox 22"/>
              <p:cNvSpPr txBox="1">
                <a:spLocks noRot="1" noChangeAspect="1" noMove="1" noResize="1" noEditPoints="1" noAdjustHandles="1" noChangeArrowheads="1" noChangeShapeType="1" noTextEdit="1"/>
              </p:cNvSpPr>
              <p:nvPr/>
            </p:nvSpPr>
            <p:spPr>
              <a:xfrm>
                <a:off x="3681980" y="2491197"/>
                <a:ext cx="3298572" cy="726161"/>
              </a:xfrm>
              <a:prstGeom prst="rect">
                <a:avLst/>
              </a:prstGeom>
              <a:blipFill>
                <a:blip r:embed="rId1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3188317" y="3260331"/>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78=96</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𝐶</m:t>
                          </m:r>
                        </m:e>
                      </m:func>
                    </m:oMath>
                  </m:oMathPara>
                </a14:m>
                <a:endParaRPr lang="en-AU" sz="2200" dirty="0"/>
              </a:p>
            </p:txBody>
          </p:sp>
        </mc:Choice>
        <mc:Fallback xmlns="">
          <p:sp>
            <p:nvSpPr>
              <p:cNvPr id="24" name="TextBox 23"/>
              <p:cNvSpPr txBox="1">
                <a:spLocks noRot="1" noChangeAspect="1" noMove="1" noResize="1" noEditPoints="1" noAdjustHandles="1" noChangeArrowheads="1" noChangeShapeType="1" noTextEdit="1"/>
              </p:cNvSpPr>
              <p:nvPr/>
            </p:nvSpPr>
            <p:spPr>
              <a:xfrm>
                <a:off x="3188317" y="3260331"/>
                <a:ext cx="3298572" cy="430887"/>
              </a:xfrm>
              <a:prstGeom prst="rect">
                <a:avLst/>
              </a:prstGeom>
              <a:blipFill>
                <a:blip r:embed="rId1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3031160" y="3717700"/>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𝐶</m:t>
                          </m:r>
                        </m:e>
                      </m:func>
                      <m:r>
                        <a:rPr lang="en-AU" sz="2200" b="0" i="1" smtClean="0">
                          <a:latin typeface="Cambria Math" panose="02040503050406030204" pitchFamily="18" charset="0"/>
                        </a:rPr>
                        <m:t>=0.8125</m:t>
                      </m:r>
                    </m:oMath>
                  </m:oMathPara>
                </a14:m>
                <a:endParaRPr lang="en-AU" sz="2200" dirty="0"/>
              </a:p>
            </p:txBody>
          </p:sp>
        </mc:Choice>
        <mc:Fallback xmlns="">
          <p:sp>
            <p:nvSpPr>
              <p:cNvPr id="25" name="TextBox 24"/>
              <p:cNvSpPr txBox="1">
                <a:spLocks noRot="1" noChangeAspect="1" noMove="1" noResize="1" noEditPoints="1" noAdjustHandles="1" noChangeArrowheads="1" noChangeShapeType="1" noTextEdit="1"/>
              </p:cNvSpPr>
              <p:nvPr/>
            </p:nvSpPr>
            <p:spPr>
              <a:xfrm>
                <a:off x="3031160" y="3717700"/>
                <a:ext cx="3298572" cy="430887"/>
              </a:xfrm>
              <a:prstGeom prst="rect">
                <a:avLst/>
              </a:prstGeom>
              <a:blipFill>
                <a:blip r:embed="rId1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303318" y="4234995"/>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𝐶</m:t>
                      </m:r>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𝑠𝑖𝑛</m:t>
                          </m:r>
                        </m:e>
                        <m:sup>
                          <m:r>
                            <a:rPr lang="en-AU" sz="2200" b="0" i="1" smtClean="0">
                              <a:latin typeface="Cambria Math" panose="02040503050406030204" pitchFamily="18" charset="0"/>
                            </a:rPr>
                            <m:t>−1</m:t>
                          </m:r>
                        </m:sup>
                      </m:sSup>
                      <m:r>
                        <a:rPr lang="en-AU" sz="2200" b="0" i="1" smtClean="0">
                          <a:latin typeface="Cambria Math" panose="02040503050406030204" pitchFamily="18" charset="0"/>
                        </a:rPr>
                        <m:t>(0.8125)</m:t>
                      </m:r>
                    </m:oMath>
                  </m:oMathPara>
                </a14:m>
                <a:endParaRPr lang="en-AU" sz="2200" dirty="0"/>
              </a:p>
            </p:txBody>
          </p:sp>
        </mc:Choice>
        <mc:Fallback xmlns="">
          <p:sp>
            <p:nvSpPr>
              <p:cNvPr id="26" name="TextBox 25"/>
              <p:cNvSpPr txBox="1">
                <a:spLocks noRot="1" noChangeAspect="1" noMove="1" noResize="1" noEditPoints="1" noAdjustHandles="1" noChangeArrowheads="1" noChangeShapeType="1" noTextEdit="1"/>
              </p:cNvSpPr>
              <p:nvPr/>
            </p:nvSpPr>
            <p:spPr>
              <a:xfrm>
                <a:off x="3303318" y="4234995"/>
                <a:ext cx="3298572" cy="430887"/>
              </a:xfrm>
              <a:prstGeom prst="rect">
                <a:avLst/>
              </a:prstGeom>
              <a:blipFill>
                <a:blip r:embed="rId18"/>
                <a:stretch>
                  <a:fillRect b="-17143"/>
                </a:stretch>
              </a:blipFill>
            </p:spPr>
            <p:txBody>
              <a:bodyPr/>
              <a:lstStyle/>
              <a:p>
                <a:r>
                  <a:rPr lang="en-AU">
                    <a:noFill/>
                  </a:rPr>
                  <a:t> </a:t>
                </a:r>
              </a:p>
            </p:txBody>
          </p:sp>
        </mc:Fallback>
      </mc:AlternateContent>
      <p:pic>
        <p:nvPicPr>
          <p:cNvPr id="27" name="Picture 26"/>
          <p:cNvPicPr>
            <a:picLocks noChangeAspect="1"/>
          </p:cNvPicPr>
          <p:nvPr/>
        </p:nvPicPr>
        <p:blipFill>
          <a:blip r:embed="rId19"/>
          <a:stretch>
            <a:fillRect/>
          </a:stretch>
        </p:blipFill>
        <p:spPr>
          <a:xfrm>
            <a:off x="3577020" y="4870119"/>
            <a:ext cx="3323908" cy="627591"/>
          </a:xfrm>
          <a:prstGeom prst="rect">
            <a:avLst/>
          </a:prstGeom>
        </p:spPr>
      </p:pic>
      <mc:AlternateContent xmlns:mc="http://schemas.openxmlformats.org/markup-compatibility/2006" xmlns:a14="http://schemas.microsoft.com/office/drawing/2010/main">
        <mc:Choice Requires="a14">
          <p:sp>
            <p:nvSpPr>
              <p:cNvPr id="28" name="TextBox 27"/>
              <p:cNvSpPr txBox="1"/>
              <p:nvPr/>
            </p:nvSpPr>
            <p:spPr>
              <a:xfrm>
                <a:off x="3123355" y="5621554"/>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&lt;</m:t>
                      </m:r>
                      <m:r>
                        <a:rPr lang="en-AU" sz="2200" b="0" i="1" smtClean="0">
                          <a:latin typeface="Cambria Math" panose="02040503050406030204" pitchFamily="18" charset="0"/>
                        </a:rPr>
                        <m:t>𝐷𝐹𝐸</m:t>
                      </m:r>
                      <m:r>
                        <a:rPr lang="en-AU" sz="2200" b="0" i="1" smtClean="0">
                          <a:latin typeface="Cambria Math" panose="02040503050406030204" pitchFamily="18" charset="0"/>
                        </a:rPr>
                        <m:t>=54.3°</m:t>
                      </m:r>
                    </m:oMath>
                  </m:oMathPara>
                </a14:m>
                <a:endParaRPr lang="en-AU" sz="2200" dirty="0"/>
              </a:p>
            </p:txBody>
          </p:sp>
        </mc:Choice>
        <mc:Fallback xmlns="">
          <p:sp>
            <p:nvSpPr>
              <p:cNvPr id="28" name="TextBox 27"/>
              <p:cNvSpPr txBox="1">
                <a:spLocks noRot="1" noChangeAspect="1" noMove="1" noResize="1" noEditPoints="1" noAdjustHandles="1" noChangeArrowheads="1" noChangeShapeType="1" noTextEdit="1"/>
              </p:cNvSpPr>
              <p:nvPr/>
            </p:nvSpPr>
            <p:spPr>
              <a:xfrm>
                <a:off x="3123355" y="5621554"/>
                <a:ext cx="3298572" cy="430887"/>
              </a:xfrm>
              <a:prstGeom prst="rect">
                <a:avLst/>
              </a:prstGeom>
              <a:blipFill>
                <a:blip r:embed="rId20"/>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8061306" y="1883236"/>
                <a:ext cx="3242474" cy="1785104"/>
              </a:xfrm>
              <a:prstGeom prst="rect">
                <a:avLst/>
              </a:prstGeom>
              <a:noFill/>
              <a:ln>
                <a:solidFill>
                  <a:schemeClr val="tx1"/>
                </a:solidFill>
              </a:ln>
            </p:spPr>
            <p:txBody>
              <a:bodyPr wrap="square" rtlCol="0">
                <a:spAutoFit/>
              </a:bodyPr>
              <a:lstStyle/>
              <a:p>
                <a:pPr algn="ctr"/>
                <a:r>
                  <a:rPr lang="en-AU" sz="2200" dirty="0" smtClean="0"/>
                  <a:t>If we were instead told that </a:t>
                </a:r>
                <a14:m>
                  <m:oMath xmlns:m="http://schemas.openxmlformats.org/officeDocument/2006/math">
                    <m:r>
                      <a:rPr lang="en-AU" sz="2200" b="0" i="1" smtClean="0">
                        <a:latin typeface="Cambria Math" panose="02040503050406030204" pitchFamily="18" charset="0"/>
                      </a:rPr>
                      <m:t>&lt;</m:t>
                    </m:r>
                    <m:r>
                      <a:rPr lang="en-AU" sz="2200" b="0" i="1" smtClean="0">
                        <a:latin typeface="Cambria Math" panose="02040503050406030204" pitchFamily="18" charset="0"/>
                      </a:rPr>
                      <m:t>𝐷𝐹𝐸</m:t>
                    </m:r>
                  </m:oMath>
                </a14:m>
                <a:r>
                  <a:rPr lang="en-AU" sz="2200" dirty="0" smtClean="0"/>
                  <a:t> was obtuse, we would use </a:t>
                </a:r>
                <a:endParaRPr lang="en-AU" sz="2200" i="1" dirty="0" smtClean="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AU" sz="2200" i="1" dirty="0" smtClean="0">
                          <a:latin typeface="Cambria Math" panose="02040503050406030204" pitchFamily="18" charset="0"/>
                        </a:rPr>
                        <m:t>180−54.3 = 125.7° </m:t>
                      </m:r>
                    </m:oMath>
                  </m:oMathPara>
                </a14:m>
                <a:endParaRPr lang="en-AU" sz="2200" dirty="0" smtClean="0"/>
              </a:p>
              <a:p>
                <a:pPr algn="ctr"/>
                <a:r>
                  <a:rPr lang="en-AU" sz="2200" dirty="0" smtClean="0"/>
                  <a:t>as our answer.</a:t>
                </a:r>
                <a:endParaRPr lang="en-AU" sz="2200" dirty="0"/>
              </a:p>
            </p:txBody>
          </p:sp>
        </mc:Choice>
        <mc:Fallback xmlns="">
          <p:sp>
            <p:nvSpPr>
              <p:cNvPr id="29" name="TextBox 28"/>
              <p:cNvSpPr txBox="1">
                <a:spLocks noRot="1" noChangeAspect="1" noMove="1" noResize="1" noEditPoints="1" noAdjustHandles="1" noChangeArrowheads="1" noChangeShapeType="1" noTextEdit="1"/>
              </p:cNvSpPr>
              <p:nvPr/>
            </p:nvSpPr>
            <p:spPr>
              <a:xfrm>
                <a:off x="8061306" y="1883236"/>
                <a:ext cx="3242474" cy="1785104"/>
              </a:xfrm>
              <a:prstGeom prst="rect">
                <a:avLst/>
              </a:prstGeom>
              <a:blipFill>
                <a:blip r:embed="rId21"/>
                <a:stretch>
                  <a:fillRect t="-2034" b="-5424"/>
                </a:stretch>
              </a:blipFill>
              <a:ln>
                <a:solidFill>
                  <a:schemeClr val="tx1"/>
                </a:solidFill>
              </a:ln>
            </p:spPr>
            <p:txBody>
              <a:bodyPr/>
              <a:lstStyle/>
              <a:p>
                <a:r>
                  <a:rPr lang="en-AU">
                    <a:noFill/>
                  </a:rPr>
                  <a:t> </a:t>
                </a:r>
              </a:p>
            </p:txBody>
          </p:sp>
        </mc:Fallback>
      </mc:AlternateContent>
    </p:spTree>
    <p:extLst>
      <p:ext uri="{BB962C8B-B14F-4D97-AF65-F5344CB8AC3E}">
        <p14:creationId xmlns:p14="http://schemas.microsoft.com/office/powerpoint/2010/main" val="45307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8" grpId="0"/>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1385625"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2" name="Picture 1"/>
          <p:cNvPicPr>
            <a:picLocks noChangeAspect="1"/>
          </p:cNvPicPr>
          <p:nvPr/>
        </p:nvPicPr>
        <p:blipFill>
          <a:blip r:embed="rId2"/>
          <a:stretch>
            <a:fillRect/>
          </a:stretch>
        </p:blipFill>
        <p:spPr>
          <a:xfrm>
            <a:off x="466023" y="1115285"/>
            <a:ext cx="3051332" cy="2584291"/>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347809" y="684398"/>
                <a:ext cx="11505732" cy="430887"/>
              </a:xfrm>
              <a:prstGeom prst="rect">
                <a:avLst/>
              </a:prstGeom>
              <a:noFill/>
            </p:spPr>
            <p:txBody>
              <a:bodyPr wrap="square" rtlCol="0">
                <a:spAutoFit/>
              </a:bodyPr>
              <a:lstStyle/>
              <a:p>
                <a:r>
                  <a:rPr lang="en-AU" sz="2200" dirty="0" smtClean="0"/>
                  <a:t>Given that the triangle has an area of </a:t>
                </a:r>
                <a14:m>
                  <m:oMath xmlns:m="http://schemas.openxmlformats.org/officeDocument/2006/math">
                    <m:r>
                      <a:rPr lang="en-AU" sz="2200" b="0" i="1" smtClean="0">
                        <a:latin typeface="Cambria Math" panose="02040503050406030204" pitchFamily="18" charset="0"/>
                      </a:rPr>
                      <m:t>7 </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𝑐𝑚</m:t>
                        </m:r>
                      </m:e>
                      <m:sup>
                        <m:r>
                          <a:rPr lang="en-AU" sz="2200" b="0" i="1" smtClean="0">
                            <a:latin typeface="Cambria Math" panose="02040503050406030204" pitchFamily="18" charset="0"/>
                          </a:rPr>
                          <m:t>2</m:t>
                        </m:r>
                      </m:sup>
                    </m:sSup>
                  </m:oMath>
                </a14:m>
                <a:r>
                  <a:rPr lang="en-AU" sz="2200" dirty="0" smtClean="0"/>
                  <a:t>, find </a:t>
                </a:r>
                <a14:m>
                  <m:oMath xmlns:m="http://schemas.openxmlformats.org/officeDocument/2006/math">
                    <m:r>
                      <a:rPr lang="en-AU" sz="2200" b="0" i="1" smtClean="0">
                        <a:latin typeface="Cambria Math" panose="02040503050406030204" pitchFamily="18" charset="0"/>
                      </a:rPr>
                      <m:t>𝑥</m:t>
                    </m:r>
                  </m:oMath>
                </a14:m>
                <a:r>
                  <a:rPr lang="en-AU" sz="2200" dirty="0" smtClean="0"/>
                  <a:t> correct to 1 decimal place.</a:t>
                </a:r>
                <a:endParaRPr lang="en-AU" sz="2200" dirty="0"/>
              </a:p>
            </p:txBody>
          </p:sp>
        </mc:Choice>
        <mc:Fallback xmlns="">
          <p:sp>
            <p:nvSpPr>
              <p:cNvPr id="5" name="TextBox 4"/>
              <p:cNvSpPr txBox="1">
                <a:spLocks noRot="1" noChangeAspect="1" noMove="1" noResize="1" noEditPoints="1" noAdjustHandles="1" noChangeArrowheads="1" noChangeShapeType="1" noTextEdit="1"/>
              </p:cNvSpPr>
              <p:nvPr/>
            </p:nvSpPr>
            <p:spPr>
              <a:xfrm>
                <a:off x="347809" y="684398"/>
                <a:ext cx="11505732" cy="430887"/>
              </a:xfrm>
              <a:prstGeom prst="rect">
                <a:avLst/>
              </a:prstGeom>
              <a:blipFill>
                <a:blip r:embed="rId3"/>
                <a:stretch>
                  <a:fillRect l="-689" t="-8451" b="-28169"/>
                </a:stretch>
              </a:blipFill>
            </p:spPr>
            <p:txBody>
              <a:bodyPr/>
              <a:lstStyle/>
              <a:p>
                <a:r>
                  <a:rPr lang="en-AU">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2816375" y="1759804"/>
              <a:ext cx="358560" cy="1662480"/>
            </p14:xfrm>
          </p:contentPart>
        </mc:Choice>
        <mc:Fallback xmlns="">
          <p:pic>
            <p:nvPicPr>
              <p:cNvPr id="6" name="Ink 5"/>
              <p:cNvPicPr/>
              <p:nvPr/>
            </p:nvPicPr>
            <p:blipFill>
              <a:blip r:embed="rId5"/>
              <a:stretch>
                <a:fillRect/>
              </a:stretch>
            </p:blipFill>
            <p:spPr>
              <a:xfrm>
                <a:off x="2805215" y="1745764"/>
                <a:ext cx="385200" cy="1696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p14:cNvContentPartPr/>
              <p14:nvPr/>
            </p14:nvContentPartPr>
            <p14:xfrm>
              <a:off x="1776335" y="3642964"/>
              <a:ext cx="237960" cy="132840"/>
            </p14:xfrm>
          </p:contentPart>
        </mc:Choice>
        <mc:Fallback xmlns="">
          <p:pic>
            <p:nvPicPr>
              <p:cNvPr id="8" name="Ink 7"/>
              <p:cNvPicPr/>
              <p:nvPr/>
            </p:nvPicPr>
            <p:blipFill>
              <a:blip r:embed="rId7"/>
              <a:stretch>
                <a:fillRect/>
              </a:stretch>
            </p:blipFill>
            <p:spPr>
              <a:xfrm>
                <a:off x="1761215" y="3628204"/>
                <a:ext cx="267480" cy="165240"/>
              </a:xfrm>
              <a:prstGeom prst="rect">
                <a:avLst/>
              </a:prstGeom>
            </p:spPr>
          </p:pic>
        </mc:Fallback>
      </mc:AlternateContent>
      <p:pic>
        <p:nvPicPr>
          <p:cNvPr id="12" name="Picture 11"/>
          <p:cNvPicPr>
            <a:picLocks noChangeAspect="1"/>
          </p:cNvPicPr>
          <p:nvPr/>
        </p:nvPicPr>
        <p:blipFill>
          <a:blip r:embed="rId8"/>
          <a:stretch>
            <a:fillRect/>
          </a:stretch>
        </p:blipFill>
        <p:spPr>
          <a:xfrm>
            <a:off x="4931336" y="1320120"/>
            <a:ext cx="2338678" cy="1229614"/>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5022726" y="2474651"/>
                <a:ext cx="3298572" cy="7261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7=</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m:t>
                          </m:r>
                        </m:num>
                        <m:den>
                          <m:r>
                            <a:rPr lang="en-AU" sz="2200" b="0" i="1" smtClean="0">
                              <a:latin typeface="Cambria Math" panose="02040503050406030204" pitchFamily="18" charset="0"/>
                            </a:rPr>
                            <m:t>2</m:t>
                          </m:r>
                        </m:den>
                      </m:f>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×4×</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70</m:t>
                          </m:r>
                        </m:e>
                      </m:func>
                    </m:oMath>
                  </m:oMathPara>
                </a14:m>
                <a:endParaRPr lang="en-AU" sz="2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5022726" y="2474651"/>
                <a:ext cx="3298572" cy="726161"/>
              </a:xfrm>
              <a:prstGeom prst="rect">
                <a:avLst/>
              </a:prstGeom>
              <a:blipFill>
                <a:blip r:embed="rId9"/>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775894" y="3278497"/>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7=2</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70</m:t>
                          </m:r>
                        </m:e>
                      </m:func>
                    </m:oMath>
                  </m:oMathPara>
                </a14:m>
                <a:endParaRPr lang="en-AU" sz="2200" dirty="0"/>
              </a:p>
            </p:txBody>
          </p:sp>
        </mc:Choice>
        <mc:Fallback xmlns="">
          <p:sp>
            <p:nvSpPr>
              <p:cNvPr id="15" name="TextBox 14"/>
              <p:cNvSpPr txBox="1">
                <a:spLocks noRot="1" noChangeAspect="1" noMove="1" noResize="1" noEditPoints="1" noAdjustHandles="1" noChangeArrowheads="1" noChangeShapeType="1" noTextEdit="1"/>
              </p:cNvSpPr>
              <p:nvPr/>
            </p:nvSpPr>
            <p:spPr>
              <a:xfrm>
                <a:off x="4775894" y="3278497"/>
                <a:ext cx="3298572" cy="430887"/>
              </a:xfrm>
              <a:prstGeom prst="rect">
                <a:avLst/>
              </a:prstGeom>
              <a:blipFill>
                <a:blip r:embed="rId10"/>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545891" y="3775804"/>
                <a:ext cx="3298572" cy="7239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7</m:t>
                          </m:r>
                        </m:num>
                        <m:den>
                          <m:r>
                            <a:rPr lang="en-AU" sz="2200" b="0" i="1" smtClean="0">
                              <a:latin typeface="Cambria Math" panose="02040503050406030204" pitchFamily="18" charset="0"/>
                            </a:rPr>
                            <m:t>2</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70</m:t>
                              </m:r>
                            </m:e>
                          </m:func>
                        </m:den>
                      </m:f>
                    </m:oMath>
                  </m:oMathPara>
                </a14:m>
                <a:endParaRPr lang="en-AU" sz="22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545891" y="3775804"/>
                <a:ext cx="3298572" cy="723981"/>
              </a:xfrm>
              <a:prstGeom prst="rect">
                <a:avLst/>
              </a:prstGeom>
              <a:blipFill>
                <a:blip r:embed="rId11"/>
                <a:stretch>
                  <a:fillRect/>
                </a:stretch>
              </a:blipFill>
            </p:spPr>
            <p:txBody>
              <a:bodyPr/>
              <a:lstStyle/>
              <a:p>
                <a:r>
                  <a:rPr lang="en-AU">
                    <a:noFill/>
                  </a:rPr>
                  <a:t> </a:t>
                </a:r>
              </a:p>
            </p:txBody>
          </p:sp>
        </mc:Fallback>
      </mc:AlternateContent>
      <p:pic>
        <p:nvPicPr>
          <p:cNvPr id="11" name="Picture 10"/>
          <p:cNvPicPr>
            <a:picLocks noChangeAspect="1"/>
          </p:cNvPicPr>
          <p:nvPr/>
        </p:nvPicPr>
        <p:blipFill>
          <a:blip r:embed="rId12"/>
          <a:stretch>
            <a:fillRect/>
          </a:stretch>
        </p:blipFill>
        <p:spPr>
          <a:xfrm>
            <a:off x="5344519" y="4653040"/>
            <a:ext cx="4038600" cy="1114425"/>
          </a:xfrm>
          <a:prstGeom prst="rect">
            <a:avLst/>
          </a:prstGeom>
        </p:spPr>
      </p:pic>
      <mc:AlternateContent xmlns:mc="http://schemas.openxmlformats.org/markup-compatibility/2006" xmlns:a14="http://schemas.microsoft.com/office/drawing/2010/main">
        <mc:Choice Requires="a14">
          <p:sp>
            <p:nvSpPr>
              <p:cNvPr id="17" name="TextBox 16"/>
              <p:cNvSpPr txBox="1"/>
              <p:nvPr/>
            </p:nvSpPr>
            <p:spPr>
              <a:xfrm>
                <a:off x="4349548" y="5657152"/>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=3.7 </m:t>
                      </m:r>
                      <m:r>
                        <a:rPr lang="en-AU" sz="2200" b="0" i="1" smtClean="0">
                          <a:latin typeface="Cambria Math" panose="02040503050406030204" pitchFamily="18" charset="0"/>
                        </a:rPr>
                        <m:t>𝑐𝑚</m:t>
                      </m:r>
                    </m:oMath>
                  </m:oMathPara>
                </a14:m>
                <a:endParaRPr lang="en-AU" sz="2200" dirty="0"/>
              </a:p>
            </p:txBody>
          </p:sp>
        </mc:Choice>
        <mc:Fallback xmlns="">
          <p:sp>
            <p:nvSpPr>
              <p:cNvPr id="17" name="TextBox 16"/>
              <p:cNvSpPr txBox="1">
                <a:spLocks noRot="1" noChangeAspect="1" noMove="1" noResize="1" noEditPoints="1" noAdjustHandles="1" noChangeArrowheads="1" noChangeShapeType="1" noTextEdit="1"/>
              </p:cNvSpPr>
              <p:nvPr/>
            </p:nvSpPr>
            <p:spPr>
              <a:xfrm>
                <a:off x="4349548" y="5657152"/>
                <a:ext cx="3298572" cy="430887"/>
              </a:xfrm>
              <a:prstGeom prst="rect">
                <a:avLst/>
              </a:prstGeom>
              <a:blipFill>
                <a:blip r:embed="rId13"/>
                <a:stretch>
                  <a:fillRect/>
                </a:stretch>
              </a:blipFill>
            </p:spPr>
            <p:txBody>
              <a:bodyPr/>
              <a:lstStyle/>
              <a:p>
                <a:r>
                  <a:rPr lang="en-AU">
                    <a:noFill/>
                  </a:rPr>
                  <a:t> </a:t>
                </a:r>
              </a:p>
            </p:txBody>
          </p:sp>
        </mc:Fallback>
      </mc:AlternateContent>
      <p:pic>
        <p:nvPicPr>
          <p:cNvPr id="19" name="Picture 18"/>
          <p:cNvPicPr>
            <a:picLocks noChangeAspect="1"/>
          </p:cNvPicPr>
          <p:nvPr/>
        </p:nvPicPr>
        <p:blipFill>
          <a:blip r:embed="rId14"/>
          <a:stretch>
            <a:fillRect/>
          </a:stretch>
        </p:blipFill>
        <p:spPr>
          <a:xfrm>
            <a:off x="1638628" y="4071497"/>
            <a:ext cx="3208406" cy="428288"/>
          </a:xfrm>
          <a:prstGeom prst="rect">
            <a:avLst/>
          </a:prstGeom>
        </p:spPr>
      </p:pic>
      <p:pic>
        <p:nvPicPr>
          <p:cNvPr id="20" name="Picture 19"/>
          <p:cNvPicPr>
            <a:picLocks noChangeAspect="1"/>
          </p:cNvPicPr>
          <p:nvPr/>
        </p:nvPicPr>
        <p:blipFill>
          <a:blip r:embed="rId15"/>
          <a:stretch>
            <a:fillRect/>
          </a:stretch>
        </p:blipFill>
        <p:spPr>
          <a:xfrm>
            <a:off x="1666779" y="4556946"/>
            <a:ext cx="3180255" cy="1988731"/>
          </a:xfrm>
          <a:prstGeom prst="rect">
            <a:avLst/>
          </a:prstGeom>
        </p:spPr>
      </p:pic>
      <p:sp>
        <p:nvSpPr>
          <p:cNvPr id="21" name="TextBox 20"/>
          <p:cNvSpPr txBox="1"/>
          <p:nvPr/>
        </p:nvSpPr>
        <p:spPr>
          <a:xfrm>
            <a:off x="185124" y="4556946"/>
            <a:ext cx="1343885" cy="1446550"/>
          </a:xfrm>
          <a:prstGeom prst="rect">
            <a:avLst/>
          </a:prstGeom>
          <a:noFill/>
        </p:spPr>
        <p:txBody>
          <a:bodyPr wrap="square" rtlCol="0">
            <a:spAutoFit/>
          </a:bodyPr>
          <a:lstStyle/>
          <a:p>
            <a:pPr algn="ctr"/>
            <a:r>
              <a:rPr lang="en-AU" sz="2200" dirty="0" smtClean="0"/>
              <a:t>Can also use </a:t>
            </a:r>
          </a:p>
          <a:p>
            <a:pPr algn="ctr"/>
            <a:r>
              <a:rPr lang="en-AU" sz="2200" dirty="0" smtClean="0"/>
              <a:t>Class Pad </a:t>
            </a:r>
          </a:p>
          <a:p>
            <a:pPr algn="ctr"/>
            <a:r>
              <a:rPr lang="en-AU" sz="2200" dirty="0" smtClean="0"/>
              <a:t>E-activity</a:t>
            </a:r>
            <a:endParaRPr lang="en-AU" sz="2200" dirty="0"/>
          </a:p>
        </p:txBody>
      </p:sp>
    </p:spTree>
    <p:extLst>
      <p:ext uri="{BB962C8B-B14F-4D97-AF65-F5344CB8AC3E}">
        <p14:creationId xmlns:p14="http://schemas.microsoft.com/office/powerpoint/2010/main" val="292756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1817580" cy="461665"/>
          </a:xfrm>
          <a:prstGeom prst="rect">
            <a:avLst/>
          </a:prstGeom>
          <a:solidFill>
            <a:srgbClr val="FFFF00"/>
          </a:solidFill>
        </p:spPr>
        <p:txBody>
          <a:bodyPr wrap="square" rtlCol="0">
            <a:spAutoFit/>
          </a:bodyPr>
          <a:lstStyle/>
          <a:p>
            <a:r>
              <a:rPr lang="en-AU" sz="2400" dirty="0" smtClean="0"/>
              <a:t>Heron’s Rule</a:t>
            </a:r>
            <a:endParaRPr lang="en-AU" sz="2400" dirty="0"/>
          </a:p>
        </p:txBody>
      </p:sp>
      <mc:AlternateContent xmlns:mc="http://schemas.openxmlformats.org/markup-compatibility/2006">
        <mc:Choice xmlns:a14="http://schemas.microsoft.com/office/drawing/2010/main" Requires="a14">
          <p:sp>
            <p:nvSpPr>
              <p:cNvPr id="5" name="TextBox 4"/>
              <p:cNvSpPr txBox="1"/>
              <p:nvPr/>
            </p:nvSpPr>
            <p:spPr>
              <a:xfrm>
                <a:off x="347809" y="684398"/>
                <a:ext cx="11505732" cy="1616725"/>
              </a:xfrm>
              <a:prstGeom prst="rect">
                <a:avLst/>
              </a:prstGeom>
              <a:noFill/>
            </p:spPr>
            <p:txBody>
              <a:bodyPr wrap="square" rtlCol="0">
                <a:spAutoFit/>
              </a:bodyPr>
              <a:lstStyle/>
              <a:p>
                <a:r>
                  <a:rPr lang="en-AU" sz="2200" dirty="0" smtClean="0"/>
                  <a:t>If we know the lengths of all sides of a triangle, we can use Heron’s formula to calculate the area of the triangle.</a:t>
                </a:r>
              </a:p>
              <a:p>
                <a:endParaRPr lang="en-AU" sz="2200" dirty="0"/>
              </a:p>
              <a:p>
                <a14:m>
                  <m:oMath xmlns:m="http://schemas.openxmlformats.org/officeDocument/2006/math">
                    <m:r>
                      <a:rPr lang="en-AU" sz="2200" b="0" i="1" smtClean="0">
                        <a:latin typeface="Cambria Math" panose="02040503050406030204" pitchFamily="18" charset="0"/>
                      </a:rPr>
                      <m:t>𝐴𝑟𝑒𝑎</m:t>
                    </m:r>
                    <m:r>
                      <a:rPr lang="en-AU" sz="2200" b="0" i="1" smtClean="0">
                        <a:latin typeface="Cambria Math" panose="02040503050406030204" pitchFamily="18" charset="0"/>
                      </a:rPr>
                      <m:t> </m:t>
                    </m:r>
                    <m:r>
                      <a:rPr lang="en-AU" sz="2200" b="0" i="1" smtClean="0">
                        <a:latin typeface="Cambria Math" panose="02040503050406030204" pitchFamily="18" charset="0"/>
                      </a:rPr>
                      <m:t>𝑜𝑓</m:t>
                    </m:r>
                    <m:r>
                      <a:rPr lang="en-AU" sz="2200" b="0" i="1" smtClean="0">
                        <a:latin typeface="Cambria Math" panose="02040503050406030204" pitchFamily="18" charset="0"/>
                      </a:rPr>
                      <m:t> ∆</m:t>
                    </m:r>
                    <m:r>
                      <a:rPr lang="en-AU" sz="2200" b="0" i="1" smtClean="0">
                        <a:latin typeface="Cambria Math" panose="02040503050406030204" pitchFamily="18" charset="0"/>
                        <a:ea typeface="Cambria Math" panose="02040503050406030204" pitchFamily="18" charset="0"/>
                      </a:rPr>
                      <m:t>𝐴𝐵𝐶</m:t>
                    </m:r>
                    <m:r>
                      <a:rPr lang="en-AU" sz="2200" b="0" i="1" smtClean="0">
                        <a:latin typeface="Cambria Math" panose="02040503050406030204" pitchFamily="18" charset="0"/>
                        <a:ea typeface="Cambria Math" panose="02040503050406030204" pitchFamily="18" charset="0"/>
                      </a:rPr>
                      <m:t>= </m:t>
                    </m:r>
                    <m:rad>
                      <m:radPr>
                        <m:degHide m:val="on"/>
                        <m:ctrlPr>
                          <a:rPr lang="en-AU" sz="2200" b="0" i="1" smtClean="0">
                            <a:latin typeface="Cambria Math" panose="02040503050406030204" pitchFamily="18" charset="0"/>
                            <a:ea typeface="Cambria Math" panose="02040503050406030204" pitchFamily="18" charset="0"/>
                          </a:rPr>
                        </m:ctrlPr>
                      </m:radPr>
                      <m:deg/>
                      <m:e>
                        <m:r>
                          <a:rPr lang="en-AU" sz="2200" b="0" i="1" smtClean="0">
                            <a:latin typeface="Cambria Math" panose="02040503050406030204" pitchFamily="18" charset="0"/>
                            <a:ea typeface="Cambria Math" panose="02040503050406030204" pitchFamily="18" charset="0"/>
                          </a:rPr>
                          <m:t>𝑠</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𝑠</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𝑎</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𝑠</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𝑏</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𝑠</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𝑐</m:t>
                        </m:r>
                        <m:r>
                          <a:rPr lang="en-AU" sz="2200" b="0" i="1" smtClean="0">
                            <a:latin typeface="Cambria Math" panose="02040503050406030204" pitchFamily="18" charset="0"/>
                            <a:ea typeface="Cambria Math" panose="02040503050406030204" pitchFamily="18" charset="0"/>
                          </a:rPr>
                          <m:t>)</m:t>
                        </m:r>
                      </m:e>
                    </m:rad>
                    <m:r>
                      <a:rPr lang="en-AU" sz="2200" b="0" i="1" smtClean="0">
                        <a:latin typeface="Cambria Math" panose="02040503050406030204" pitchFamily="18" charset="0"/>
                        <a:ea typeface="Cambria Math" panose="02040503050406030204" pitchFamily="18" charset="0"/>
                      </a:rPr>
                      <m:t> </m:t>
                    </m:r>
                  </m:oMath>
                </a14:m>
                <a:r>
                  <a:rPr lang="en-AU" sz="2200" dirty="0" smtClean="0"/>
                  <a:t>where </a:t>
                </a:r>
                <a14:m>
                  <m:oMath xmlns:m="http://schemas.openxmlformats.org/officeDocument/2006/math">
                    <m:r>
                      <a:rPr lang="en-AU" sz="2200" b="0" i="1" smtClean="0">
                        <a:latin typeface="Cambria Math" panose="02040503050406030204" pitchFamily="18" charset="0"/>
                      </a:rPr>
                      <m:t>𝑠</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𝑎</m:t>
                        </m:r>
                        <m:r>
                          <a:rPr lang="en-AU" sz="2200" b="0" i="1" smtClean="0">
                            <a:latin typeface="Cambria Math" panose="02040503050406030204" pitchFamily="18" charset="0"/>
                          </a:rPr>
                          <m:t>+</m:t>
                        </m:r>
                        <m:r>
                          <a:rPr lang="en-AU" sz="2200" b="0" i="1" smtClean="0">
                            <a:latin typeface="Cambria Math" panose="02040503050406030204" pitchFamily="18" charset="0"/>
                          </a:rPr>
                          <m:t>𝑏</m:t>
                        </m:r>
                        <m:r>
                          <a:rPr lang="en-AU" sz="2200" b="0" i="1" smtClean="0">
                            <a:latin typeface="Cambria Math" panose="02040503050406030204" pitchFamily="18" charset="0"/>
                          </a:rPr>
                          <m:t>+</m:t>
                        </m:r>
                        <m:r>
                          <a:rPr lang="en-AU" sz="2200" b="0" i="1" smtClean="0">
                            <a:latin typeface="Cambria Math" panose="02040503050406030204" pitchFamily="18" charset="0"/>
                          </a:rPr>
                          <m:t>𝑐</m:t>
                        </m:r>
                      </m:num>
                      <m:den>
                        <m:r>
                          <a:rPr lang="en-AU" sz="2200" b="0" i="1" smtClean="0">
                            <a:latin typeface="Cambria Math" panose="02040503050406030204" pitchFamily="18" charset="0"/>
                          </a:rPr>
                          <m:t>2</m:t>
                        </m:r>
                      </m:den>
                    </m:f>
                  </m:oMath>
                </a14:m>
                <a:endParaRPr lang="en-AU" sz="2200" dirty="0"/>
              </a:p>
            </p:txBody>
          </p:sp>
        </mc:Choice>
        <mc:Fallback>
          <p:sp>
            <p:nvSpPr>
              <p:cNvPr id="5" name="TextBox 4"/>
              <p:cNvSpPr txBox="1">
                <a:spLocks noRot="1" noChangeAspect="1" noMove="1" noResize="1" noEditPoints="1" noAdjustHandles="1" noChangeArrowheads="1" noChangeShapeType="1" noTextEdit="1"/>
              </p:cNvSpPr>
              <p:nvPr/>
            </p:nvSpPr>
            <p:spPr>
              <a:xfrm>
                <a:off x="347809" y="684398"/>
                <a:ext cx="11505732" cy="1616725"/>
              </a:xfrm>
              <a:prstGeom prst="rect">
                <a:avLst/>
              </a:prstGeom>
              <a:blipFill>
                <a:blip r:embed="rId2"/>
                <a:stretch>
                  <a:fillRect l="-689" t="-2264" r="-106" b="-1509"/>
                </a:stretch>
              </a:blipFill>
            </p:spPr>
            <p:txBody>
              <a:bodyPr/>
              <a:lstStyle/>
              <a:p>
                <a:r>
                  <a:rPr lang="en-AU">
                    <a:noFill/>
                  </a:rPr>
                  <a:t> </a:t>
                </a:r>
              </a:p>
            </p:txBody>
          </p:sp>
        </mc:Fallback>
      </mc:AlternateContent>
      <p:pic>
        <p:nvPicPr>
          <p:cNvPr id="4" name="Picture 3"/>
          <p:cNvPicPr>
            <a:picLocks noChangeAspect="1"/>
          </p:cNvPicPr>
          <p:nvPr/>
        </p:nvPicPr>
        <p:blipFill>
          <a:blip r:embed="rId3"/>
          <a:stretch>
            <a:fillRect/>
          </a:stretch>
        </p:blipFill>
        <p:spPr>
          <a:xfrm>
            <a:off x="347809" y="2562235"/>
            <a:ext cx="5434881" cy="1765994"/>
          </a:xfrm>
          <a:prstGeom prst="rect">
            <a:avLst/>
          </a:prstGeom>
        </p:spPr>
      </p:pic>
      <mc:AlternateContent xmlns:mc="http://schemas.openxmlformats.org/markup-compatibility/2006">
        <mc:Choice xmlns:a14="http://schemas.microsoft.com/office/drawing/2010/main" Requires="a14">
          <p:sp>
            <p:nvSpPr>
              <p:cNvPr id="7" name="TextBox 6"/>
              <p:cNvSpPr txBox="1"/>
              <p:nvPr/>
            </p:nvSpPr>
            <p:spPr>
              <a:xfrm>
                <a:off x="6159578" y="2687102"/>
                <a:ext cx="3932481" cy="72616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𝑠</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8+3+9</m:t>
                          </m:r>
                        </m:num>
                        <m:den>
                          <m:r>
                            <a:rPr lang="en-AU" sz="2200" b="0" i="1" smtClean="0">
                              <a:latin typeface="Cambria Math" panose="02040503050406030204" pitchFamily="18" charset="0"/>
                            </a:rPr>
                            <m:t>2</m:t>
                          </m:r>
                        </m:den>
                      </m:f>
                      <m:r>
                        <a:rPr lang="en-AU" sz="2200" b="0" i="1" smtClean="0">
                          <a:latin typeface="Cambria Math" panose="02040503050406030204" pitchFamily="18" charset="0"/>
                        </a:rPr>
                        <m:t>=10</m:t>
                      </m:r>
                    </m:oMath>
                  </m:oMathPara>
                </a14:m>
                <a:endParaRPr lang="en-AU" sz="2200" dirty="0"/>
              </a:p>
            </p:txBody>
          </p:sp>
        </mc:Choice>
        <mc:Fallback>
          <p:sp>
            <p:nvSpPr>
              <p:cNvPr id="7" name="TextBox 6"/>
              <p:cNvSpPr txBox="1">
                <a:spLocks noRot="1" noChangeAspect="1" noMove="1" noResize="1" noEditPoints="1" noAdjustHandles="1" noChangeArrowheads="1" noChangeShapeType="1" noTextEdit="1"/>
              </p:cNvSpPr>
              <p:nvPr/>
            </p:nvSpPr>
            <p:spPr>
              <a:xfrm>
                <a:off x="6159578" y="2687102"/>
                <a:ext cx="3932481" cy="726161"/>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6159578" y="3799242"/>
                <a:ext cx="4953467" cy="50231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𝐴𝑟𝑒𝑎</m:t>
                      </m:r>
                      <m:r>
                        <a:rPr lang="en-AU" sz="2200" b="0" i="1" smtClean="0">
                          <a:latin typeface="Cambria Math" panose="02040503050406030204" pitchFamily="18" charset="0"/>
                        </a:rPr>
                        <m:t>=</m:t>
                      </m:r>
                      <m:rad>
                        <m:radPr>
                          <m:degHide m:val="on"/>
                          <m:ctrlPr>
                            <a:rPr lang="en-AU" sz="2200" b="0" i="1" smtClean="0">
                              <a:latin typeface="Cambria Math" panose="02040503050406030204" pitchFamily="18" charset="0"/>
                            </a:rPr>
                          </m:ctrlPr>
                        </m:radPr>
                        <m:deg/>
                        <m:e>
                          <m:r>
                            <a:rPr lang="en-AU" sz="2200" b="0" i="1" smtClean="0">
                              <a:latin typeface="Cambria Math" panose="02040503050406030204" pitchFamily="18" charset="0"/>
                            </a:rPr>
                            <m:t>10(10−8)(10−3)(10−9)</m:t>
                          </m:r>
                        </m:e>
                      </m:rad>
                    </m:oMath>
                  </m:oMathPara>
                </a14:m>
                <a:endParaRPr lang="en-AU" sz="2200" dirty="0"/>
              </a:p>
            </p:txBody>
          </p:sp>
        </mc:Choice>
        <mc:Fallback>
          <p:sp>
            <p:nvSpPr>
              <p:cNvPr id="19" name="TextBox 18"/>
              <p:cNvSpPr txBox="1">
                <a:spLocks noRot="1" noChangeAspect="1" noMove="1" noResize="1" noEditPoints="1" noAdjustHandles="1" noChangeArrowheads="1" noChangeShapeType="1" noTextEdit="1"/>
              </p:cNvSpPr>
              <p:nvPr/>
            </p:nvSpPr>
            <p:spPr>
              <a:xfrm>
                <a:off x="6159578" y="3799242"/>
                <a:ext cx="4953467" cy="502317"/>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5211518" y="4429102"/>
                <a:ext cx="4953467" cy="50231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𝐴𝑟𝑒𝑎</m:t>
                      </m:r>
                      <m:r>
                        <a:rPr lang="en-AU" sz="2200" b="0" i="1" smtClean="0">
                          <a:latin typeface="Cambria Math" panose="02040503050406030204" pitchFamily="18" charset="0"/>
                        </a:rPr>
                        <m:t>=</m:t>
                      </m:r>
                      <m:rad>
                        <m:radPr>
                          <m:degHide m:val="on"/>
                          <m:ctrlPr>
                            <a:rPr lang="en-AU" sz="2200" b="0" i="1" smtClean="0">
                              <a:latin typeface="Cambria Math" panose="02040503050406030204" pitchFamily="18" charset="0"/>
                            </a:rPr>
                          </m:ctrlPr>
                        </m:radPr>
                        <m:deg/>
                        <m:e>
                          <m:r>
                            <a:rPr lang="en-AU" sz="2200" b="0" i="1" smtClean="0">
                              <a:latin typeface="Cambria Math" panose="02040503050406030204" pitchFamily="18" charset="0"/>
                            </a:rPr>
                            <m:t>10(2)(7)(1)</m:t>
                          </m:r>
                        </m:e>
                      </m:rad>
                    </m:oMath>
                  </m:oMathPara>
                </a14:m>
                <a:endParaRPr lang="en-AU" sz="2200" dirty="0"/>
              </a:p>
            </p:txBody>
          </p:sp>
        </mc:Choice>
        <mc:Fallback>
          <p:sp>
            <p:nvSpPr>
              <p:cNvPr id="20" name="TextBox 19"/>
              <p:cNvSpPr txBox="1">
                <a:spLocks noRot="1" noChangeAspect="1" noMove="1" noResize="1" noEditPoints="1" noAdjustHandles="1" noChangeArrowheads="1" noChangeShapeType="1" noTextEdit="1"/>
              </p:cNvSpPr>
              <p:nvPr/>
            </p:nvSpPr>
            <p:spPr>
              <a:xfrm>
                <a:off x="5211518" y="4429102"/>
                <a:ext cx="4953467" cy="502317"/>
              </a:xfrm>
              <a:prstGeom prst="rect">
                <a:avLst/>
              </a:prstGeom>
              <a:blipFill>
                <a:blip r:embed="rId6"/>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4684195" y="5133166"/>
                <a:ext cx="4953467" cy="47083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𝐴𝑟𝑒𝑎</m:t>
                      </m:r>
                      <m:r>
                        <a:rPr lang="en-AU" sz="2200" b="0" i="1" smtClean="0">
                          <a:latin typeface="Cambria Math" panose="02040503050406030204" pitchFamily="18" charset="0"/>
                        </a:rPr>
                        <m:t>=</m:t>
                      </m:r>
                      <m:rad>
                        <m:radPr>
                          <m:degHide m:val="on"/>
                          <m:ctrlPr>
                            <a:rPr lang="en-AU" sz="2200" b="0" i="1" smtClean="0">
                              <a:latin typeface="Cambria Math" panose="02040503050406030204" pitchFamily="18" charset="0"/>
                            </a:rPr>
                          </m:ctrlPr>
                        </m:radPr>
                        <m:deg/>
                        <m:e>
                          <m:r>
                            <a:rPr lang="en-AU" sz="2200" b="0" i="1" smtClean="0">
                              <a:latin typeface="Cambria Math" panose="02040503050406030204" pitchFamily="18" charset="0"/>
                            </a:rPr>
                            <m:t>140</m:t>
                          </m:r>
                        </m:e>
                      </m:rad>
                    </m:oMath>
                  </m:oMathPara>
                </a14:m>
                <a:endParaRPr lang="en-AU" sz="2200" dirty="0"/>
              </a:p>
            </p:txBody>
          </p:sp>
        </mc:Choice>
        <mc:Fallback>
          <p:sp>
            <p:nvSpPr>
              <p:cNvPr id="21" name="TextBox 20"/>
              <p:cNvSpPr txBox="1">
                <a:spLocks noRot="1" noChangeAspect="1" noMove="1" noResize="1" noEditPoints="1" noAdjustHandles="1" noChangeArrowheads="1" noChangeShapeType="1" noTextEdit="1"/>
              </p:cNvSpPr>
              <p:nvPr/>
            </p:nvSpPr>
            <p:spPr>
              <a:xfrm>
                <a:off x="4684195" y="5133166"/>
                <a:ext cx="4953467" cy="470835"/>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4886148" y="5731814"/>
                <a:ext cx="4953467" cy="43088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𝐴𝑟𝑒𝑎</m:t>
                      </m:r>
                      <m:r>
                        <a:rPr lang="en-AU" sz="2200" b="0" i="1" smtClean="0">
                          <a:latin typeface="Cambria Math" panose="02040503050406030204" pitchFamily="18" charset="0"/>
                        </a:rPr>
                        <m:t>=11.83 </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𝑚</m:t>
                          </m:r>
                        </m:e>
                        <m:sup>
                          <m:r>
                            <a:rPr lang="en-AU" sz="2200" b="0" i="1" smtClean="0">
                              <a:latin typeface="Cambria Math" panose="02040503050406030204" pitchFamily="18" charset="0"/>
                            </a:rPr>
                            <m:t>2</m:t>
                          </m:r>
                        </m:sup>
                      </m:sSup>
                    </m:oMath>
                  </m:oMathPara>
                </a14:m>
                <a:endParaRPr lang="en-AU" sz="2200" dirty="0"/>
              </a:p>
            </p:txBody>
          </p:sp>
        </mc:Choice>
        <mc:Fallback>
          <p:sp>
            <p:nvSpPr>
              <p:cNvPr id="22" name="TextBox 21"/>
              <p:cNvSpPr txBox="1">
                <a:spLocks noRot="1" noChangeAspect="1" noMove="1" noResize="1" noEditPoints="1" noAdjustHandles="1" noChangeArrowheads="1" noChangeShapeType="1" noTextEdit="1"/>
              </p:cNvSpPr>
              <p:nvPr/>
            </p:nvSpPr>
            <p:spPr>
              <a:xfrm>
                <a:off x="4886148" y="5731814"/>
                <a:ext cx="4953467" cy="430887"/>
              </a:xfrm>
              <a:prstGeom prst="rect">
                <a:avLst/>
              </a:prstGeom>
              <a:blipFill>
                <a:blip r:embed="rId8"/>
                <a:stretch>
                  <a:fillRect/>
                </a:stretch>
              </a:blipFill>
            </p:spPr>
            <p:txBody>
              <a:bodyPr/>
              <a:lstStyle/>
              <a:p>
                <a:r>
                  <a:rPr lang="en-AU">
                    <a:noFill/>
                  </a:rPr>
                  <a:t> </a:t>
                </a:r>
              </a:p>
            </p:txBody>
          </p:sp>
        </mc:Fallback>
      </mc:AlternateContent>
      <p:pic>
        <p:nvPicPr>
          <p:cNvPr id="9" name="Picture 8"/>
          <p:cNvPicPr>
            <a:picLocks noChangeAspect="1"/>
          </p:cNvPicPr>
          <p:nvPr/>
        </p:nvPicPr>
        <p:blipFill>
          <a:blip r:embed="rId9"/>
          <a:stretch>
            <a:fillRect/>
          </a:stretch>
        </p:blipFill>
        <p:spPr>
          <a:xfrm>
            <a:off x="1645430" y="4504868"/>
            <a:ext cx="2247783" cy="225829"/>
          </a:xfrm>
          <a:prstGeom prst="rect">
            <a:avLst/>
          </a:prstGeom>
        </p:spPr>
      </p:pic>
      <p:pic>
        <p:nvPicPr>
          <p:cNvPr id="10" name="Picture 9"/>
          <p:cNvPicPr>
            <a:picLocks noChangeAspect="1"/>
          </p:cNvPicPr>
          <p:nvPr/>
        </p:nvPicPr>
        <p:blipFill>
          <a:blip r:embed="rId10"/>
          <a:stretch>
            <a:fillRect/>
          </a:stretch>
        </p:blipFill>
        <p:spPr>
          <a:xfrm>
            <a:off x="1444862" y="4868036"/>
            <a:ext cx="2648918" cy="1727555"/>
          </a:xfrm>
          <a:prstGeom prst="rect">
            <a:avLst/>
          </a:prstGeom>
        </p:spPr>
      </p:pic>
      <p:sp>
        <p:nvSpPr>
          <p:cNvPr id="23" name="TextBox 22"/>
          <p:cNvSpPr txBox="1"/>
          <p:nvPr/>
        </p:nvSpPr>
        <p:spPr>
          <a:xfrm>
            <a:off x="0" y="4868036"/>
            <a:ext cx="1343885" cy="1446550"/>
          </a:xfrm>
          <a:prstGeom prst="rect">
            <a:avLst/>
          </a:prstGeom>
          <a:noFill/>
        </p:spPr>
        <p:txBody>
          <a:bodyPr wrap="square" rtlCol="0">
            <a:spAutoFit/>
          </a:bodyPr>
          <a:lstStyle/>
          <a:p>
            <a:pPr algn="ctr"/>
            <a:r>
              <a:rPr lang="en-AU" sz="2200" dirty="0" smtClean="0"/>
              <a:t>Can also use </a:t>
            </a:r>
          </a:p>
          <a:p>
            <a:pPr algn="ctr"/>
            <a:r>
              <a:rPr lang="en-AU" sz="2200" dirty="0" smtClean="0"/>
              <a:t>Class Pad </a:t>
            </a:r>
          </a:p>
          <a:p>
            <a:pPr algn="ctr"/>
            <a:r>
              <a:rPr lang="en-AU" sz="2200" dirty="0" smtClean="0"/>
              <a:t>E-activity</a:t>
            </a:r>
            <a:endParaRPr lang="en-AU" sz="2200" dirty="0"/>
          </a:p>
        </p:txBody>
      </p:sp>
    </p:spTree>
    <p:extLst>
      <p:ext uri="{BB962C8B-B14F-4D97-AF65-F5344CB8AC3E}">
        <p14:creationId xmlns:p14="http://schemas.microsoft.com/office/powerpoint/2010/main" val="266344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1419283"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2" name="Picture 1"/>
          <p:cNvPicPr>
            <a:picLocks noChangeAspect="1"/>
          </p:cNvPicPr>
          <p:nvPr/>
        </p:nvPicPr>
        <p:blipFill>
          <a:blip r:embed="rId2"/>
          <a:stretch>
            <a:fillRect/>
          </a:stretch>
        </p:blipFill>
        <p:spPr>
          <a:xfrm>
            <a:off x="466023" y="1115285"/>
            <a:ext cx="3051332" cy="2584291"/>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347809" y="684398"/>
                <a:ext cx="11505732" cy="430887"/>
              </a:xfrm>
              <a:prstGeom prst="rect">
                <a:avLst/>
              </a:prstGeom>
              <a:noFill/>
            </p:spPr>
            <p:txBody>
              <a:bodyPr wrap="square" rtlCol="0">
                <a:spAutoFit/>
              </a:bodyPr>
              <a:lstStyle/>
              <a:p>
                <a:r>
                  <a:rPr lang="en-AU" sz="2200" dirty="0" smtClean="0"/>
                  <a:t>Given that the triangle has an area of </a:t>
                </a:r>
                <a14:m>
                  <m:oMath xmlns:m="http://schemas.openxmlformats.org/officeDocument/2006/math">
                    <m:r>
                      <a:rPr lang="en-AU" sz="2200" b="0" i="1" smtClean="0">
                        <a:latin typeface="Cambria Math" panose="02040503050406030204" pitchFamily="18" charset="0"/>
                      </a:rPr>
                      <m:t>7 </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𝑐𝑚</m:t>
                        </m:r>
                      </m:e>
                      <m:sup>
                        <m:r>
                          <a:rPr lang="en-AU" sz="2200" b="0" i="1" smtClean="0">
                            <a:latin typeface="Cambria Math" panose="02040503050406030204" pitchFamily="18" charset="0"/>
                          </a:rPr>
                          <m:t>2</m:t>
                        </m:r>
                      </m:sup>
                    </m:sSup>
                  </m:oMath>
                </a14:m>
                <a:r>
                  <a:rPr lang="en-AU" sz="2200" dirty="0" smtClean="0"/>
                  <a:t>, find </a:t>
                </a:r>
                <a14:m>
                  <m:oMath xmlns:m="http://schemas.openxmlformats.org/officeDocument/2006/math">
                    <m:r>
                      <a:rPr lang="en-AU" sz="2200" b="0" i="1" smtClean="0">
                        <a:latin typeface="Cambria Math" panose="02040503050406030204" pitchFamily="18" charset="0"/>
                      </a:rPr>
                      <m:t>𝑥</m:t>
                    </m:r>
                  </m:oMath>
                </a14:m>
                <a:r>
                  <a:rPr lang="en-AU" sz="2200" dirty="0" smtClean="0"/>
                  <a:t> correct to 1 decimal place.</a:t>
                </a:r>
                <a:endParaRPr lang="en-AU" sz="2200" dirty="0"/>
              </a:p>
            </p:txBody>
          </p:sp>
        </mc:Choice>
        <mc:Fallback xmlns="">
          <p:sp>
            <p:nvSpPr>
              <p:cNvPr id="5" name="TextBox 4"/>
              <p:cNvSpPr txBox="1">
                <a:spLocks noRot="1" noChangeAspect="1" noMove="1" noResize="1" noEditPoints="1" noAdjustHandles="1" noChangeArrowheads="1" noChangeShapeType="1" noTextEdit="1"/>
              </p:cNvSpPr>
              <p:nvPr/>
            </p:nvSpPr>
            <p:spPr>
              <a:xfrm>
                <a:off x="347809" y="684398"/>
                <a:ext cx="11505732" cy="430887"/>
              </a:xfrm>
              <a:prstGeom prst="rect">
                <a:avLst/>
              </a:prstGeom>
              <a:blipFill>
                <a:blip r:embed="rId3"/>
                <a:stretch>
                  <a:fillRect l="-689" t="-8451" b="-28169"/>
                </a:stretch>
              </a:blipFill>
            </p:spPr>
            <p:txBody>
              <a:bodyPr/>
              <a:lstStyle/>
              <a:p>
                <a:r>
                  <a:rPr lang="en-AU">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2816375" y="1759804"/>
              <a:ext cx="358560" cy="1662480"/>
            </p14:xfrm>
          </p:contentPart>
        </mc:Choice>
        <mc:Fallback xmlns="">
          <p:pic>
            <p:nvPicPr>
              <p:cNvPr id="6" name="Ink 5"/>
              <p:cNvPicPr/>
              <p:nvPr/>
            </p:nvPicPr>
            <p:blipFill>
              <a:blip r:embed="rId5"/>
              <a:stretch>
                <a:fillRect/>
              </a:stretch>
            </p:blipFill>
            <p:spPr>
              <a:xfrm>
                <a:off x="2805215" y="1745764"/>
                <a:ext cx="385200" cy="1696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p14:cNvContentPartPr/>
              <p14:nvPr/>
            </p14:nvContentPartPr>
            <p14:xfrm>
              <a:off x="1776335" y="3642964"/>
              <a:ext cx="237960" cy="132840"/>
            </p14:xfrm>
          </p:contentPart>
        </mc:Choice>
        <mc:Fallback xmlns="">
          <p:pic>
            <p:nvPicPr>
              <p:cNvPr id="8" name="Ink 7"/>
              <p:cNvPicPr/>
              <p:nvPr/>
            </p:nvPicPr>
            <p:blipFill>
              <a:blip r:embed="rId7"/>
              <a:stretch>
                <a:fillRect/>
              </a:stretch>
            </p:blipFill>
            <p:spPr>
              <a:xfrm>
                <a:off x="1761215" y="3628204"/>
                <a:ext cx="267480" cy="165240"/>
              </a:xfrm>
              <a:prstGeom prst="rect">
                <a:avLst/>
              </a:prstGeom>
            </p:spPr>
          </p:pic>
        </mc:Fallback>
      </mc:AlternateContent>
      <p:pic>
        <p:nvPicPr>
          <p:cNvPr id="12" name="Picture 11"/>
          <p:cNvPicPr>
            <a:picLocks noChangeAspect="1"/>
          </p:cNvPicPr>
          <p:nvPr/>
        </p:nvPicPr>
        <p:blipFill>
          <a:blip r:embed="rId8"/>
          <a:stretch>
            <a:fillRect/>
          </a:stretch>
        </p:blipFill>
        <p:spPr>
          <a:xfrm>
            <a:off x="4931336" y="1320120"/>
            <a:ext cx="2338678" cy="1229614"/>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5022726" y="2474651"/>
                <a:ext cx="3298572" cy="7261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7=</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m:t>
                          </m:r>
                        </m:num>
                        <m:den>
                          <m:r>
                            <a:rPr lang="en-AU" sz="2200" b="0" i="1" smtClean="0">
                              <a:latin typeface="Cambria Math" panose="02040503050406030204" pitchFamily="18" charset="0"/>
                            </a:rPr>
                            <m:t>2</m:t>
                          </m:r>
                        </m:den>
                      </m:f>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×4×</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70</m:t>
                          </m:r>
                        </m:e>
                      </m:func>
                    </m:oMath>
                  </m:oMathPara>
                </a14:m>
                <a:endParaRPr lang="en-AU" sz="2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5022726" y="2474651"/>
                <a:ext cx="3298572" cy="726161"/>
              </a:xfrm>
              <a:prstGeom prst="rect">
                <a:avLst/>
              </a:prstGeom>
              <a:blipFill>
                <a:blip r:embed="rId9"/>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775894" y="3278497"/>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7=2</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70</m:t>
                          </m:r>
                        </m:e>
                      </m:func>
                    </m:oMath>
                  </m:oMathPara>
                </a14:m>
                <a:endParaRPr lang="en-AU" sz="2200" dirty="0"/>
              </a:p>
            </p:txBody>
          </p:sp>
        </mc:Choice>
        <mc:Fallback xmlns="">
          <p:sp>
            <p:nvSpPr>
              <p:cNvPr id="15" name="TextBox 14"/>
              <p:cNvSpPr txBox="1">
                <a:spLocks noRot="1" noChangeAspect="1" noMove="1" noResize="1" noEditPoints="1" noAdjustHandles="1" noChangeArrowheads="1" noChangeShapeType="1" noTextEdit="1"/>
              </p:cNvSpPr>
              <p:nvPr/>
            </p:nvSpPr>
            <p:spPr>
              <a:xfrm>
                <a:off x="4775894" y="3278497"/>
                <a:ext cx="3298572" cy="430887"/>
              </a:xfrm>
              <a:prstGeom prst="rect">
                <a:avLst/>
              </a:prstGeom>
              <a:blipFill>
                <a:blip r:embed="rId10"/>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545891" y="3775804"/>
                <a:ext cx="3298572" cy="7239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7</m:t>
                          </m:r>
                        </m:num>
                        <m:den>
                          <m:r>
                            <a:rPr lang="en-AU" sz="2200" b="0" i="1" smtClean="0">
                              <a:latin typeface="Cambria Math" panose="02040503050406030204" pitchFamily="18" charset="0"/>
                            </a:rPr>
                            <m:t>2</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70</m:t>
                              </m:r>
                            </m:e>
                          </m:func>
                        </m:den>
                      </m:f>
                    </m:oMath>
                  </m:oMathPara>
                </a14:m>
                <a:endParaRPr lang="en-AU" sz="22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545891" y="3775804"/>
                <a:ext cx="3298572" cy="723981"/>
              </a:xfrm>
              <a:prstGeom prst="rect">
                <a:avLst/>
              </a:prstGeom>
              <a:blipFill>
                <a:blip r:embed="rId11"/>
                <a:stretch>
                  <a:fillRect/>
                </a:stretch>
              </a:blipFill>
            </p:spPr>
            <p:txBody>
              <a:bodyPr/>
              <a:lstStyle/>
              <a:p>
                <a:r>
                  <a:rPr lang="en-AU">
                    <a:noFill/>
                  </a:rPr>
                  <a:t> </a:t>
                </a:r>
              </a:p>
            </p:txBody>
          </p:sp>
        </mc:Fallback>
      </mc:AlternateContent>
      <p:pic>
        <p:nvPicPr>
          <p:cNvPr id="11" name="Picture 10"/>
          <p:cNvPicPr>
            <a:picLocks noChangeAspect="1"/>
          </p:cNvPicPr>
          <p:nvPr/>
        </p:nvPicPr>
        <p:blipFill>
          <a:blip r:embed="rId12"/>
          <a:stretch>
            <a:fillRect/>
          </a:stretch>
        </p:blipFill>
        <p:spPr>
          <a:xfrm>
            <a:off x="5344519" y="4653040"/>
            <a:ext cx="4038600" cy="1114425"/>
          </a:xfrm>
          <a:prstGeom prst="rect">
            <a:avLst/>
          </a:prstGeom>
        </p:spPr>
      </p:pic>
      <mc:AlternateContent xmlns:mc="http://schemas.openxmlformats.org/markup-compatibility/2006" xmlns:a14="http://schemas.microsoft.com/office/drawing/2010/main">
        <mc:Choice Requires="a14">
          <p:sp>
            <p:nvSpPr>
              <p:cNvPr id="17" name="TextBox 16"/>
              <p:cNvSpPr txBox="1"/>
              <p:nvPr/>
            </p:nvSpPr>
            <p:spPr>
              <a:xfrm>
                <a:off x="4349548" y="5657152"/>
                <a:ext cx="3298572"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=3.7 </m:t>
                      </m:r>
                      <m:r>
                        <a:rPr lang="en-AU" sz="2200" b="0" i="1" smtClean="0">
                          <a:latin typeface="Cambria Math" panose="02040503050406030204" pitchFamily="18" charset="0"/>
                        </a:rPr>
                        <m:t>𝑐𝑚</m:t>
                      </m:r>
                    </m:oMath>
                  </m:oMathPara>
                </a14:m>
                <a:endParaRPr lang="en-AU" sz="2200" dirty="0"/>
              </a:p>
            </p:txBody>
          </p:sp>
        </mc:Choice>
        <mc:Fallback xmlns="">
          <p:sp>
            <p:nvSpPr>
              <p:cNvPr id="17" name="TextBox 16"/>
              <p:cNvSpPr txBox="1">
                <a:spLocks noRot="1" noChangeAspect="1" noMove="1" noResize="1" noEditPoints="1" noAdjustHandles="1" noChangeArrowheads="1" noChangeShapeType="1" noTextEdit="1"/>
              </p:cNvSpPr>
              <p:nvPr/>
            </p:nvSpPr>
            <p:spPr>
              <a:xfrm>
                <a:off x="4349548" y="5657152"/>
                <a:ext cx="3298572" cy="430887"/>
              </a:xfrm>
              <a:prstGeom prst="rect">
                <a:avLst/>
              </a:prstGeom>
              <a:blipFill>
                <a:blip r:embed="rId13"/>
                <a:stretch>
                  <a:fillRect/>
                </a:stretch>
              </a:blipFill>
            </p:spPr>
            <p:txBody>
              <a:bodyPr/>
              <a:lstStyle/>
              <a:p>
                <a:r>
                  <a:rPr lang="en-AU">
                    <a:noFill/>
                  </a:rPr>
                  <a:t> </a:t>
                </a:r>
              </a:p>
            </p:txBody>
          </p:sp>
        </mc:Fallback>
      </mc:AlternateContent>
      <p:sp>
        <p:nvSpPr>
          <p:cNvPr id="18" name="TextBox 17"/>
          <p:cNvSpPr txBox="1"/>
          <p:nvPr/>
        </p:nvSpPr>
        <p:spPr>
          <a:xfrm>
            <a:off x="1991689" y="7289"/>
            <a:ext cx="2849582" cy="461665"/>
          </a:xfrm>
          <a:prstGeom prst="rect">
            <a:avLst/>
          </a:prstGeom>
          <a:solidFill>
            <a:srgbClr val="FFFF00"/>
          </a:solidFill>
        </p:spPr>
        <p:txBody>
          <a:bodyPr wrap="square" rtlCol="0">
            <a:spAutoFit/>
          </a:bodyPr>
          <a:lstStyle/>
          <a:p>
            <a:r>
              <a:rPr lang="en-AU" sz="2400" dirty="0" smtClean="0"/>
              <a:t>Now do exercise 11B</a:t>
            </a:r>
            <a:endParaRPr lang="en-AU" sz="2400" dirty="0"/>
          </a:p>
        </p:txBody>
      </p:sp>
      <p:pic>
        <p:nvPicPr>
          <p:cNvPr id="3" name="Picture 2"/>
          <p:cNvPicPr>
            <a:picLocks noChangeAspect="1"/>
          </p:cNvPicPr>
          <p:nvPr/>
        </p:nvPicPr>
        <p:blipFill>
          <a:blip r:embed="rId14"/>
          <a:stretch>
            <a:fillRect/>
          </a:stretch>
        </p:blipFill>
        <p:spPr>
          <a:xfrm>
            <a:off x="1638628" y="4071497"/>
            <a:ext cx="3208406" cy="428288"/>
          </a:xfrm>
          <a:prstGeom prst="rect">
            <a:avLst/>
          </a:prstGeom>
        </p:spPr>
      </p:pic>
      <p:pic>
        <p:nvPicPr>
          <p:cNvPr id="4" name="Picture 3"/>
          <p:cNvPicPr>
            <a:picLocks noChangeAspect="1"/>
          </p:cNvPicPr>
          <p:nvPr/>
        </p:nvPicPr>
        <p:blipFill>
          <a:blip r:embed="rId15"/>
          <a:stretch>
            <a:fillRect/>
          </a:stretch>
        </p:blipFill>
        <p:spPr>
          <a:xfrm>
            <a:off x="1666779" y="4556946"/>
            <a:ext cx="3180255" cy="1988731"/>
          </a:xfrm>
          <a:prstGeom prst="rect">
            <a:avLst/>
          </a:prstGeom>
        </p:spPr>
      </p:pic>
      <p:sp>
        <p:nvSpPr>
          <p:cNvPr id="19" name="TextBox 18"/>
          <p:cNvSpPr txBox="1"/>
          <p:nvPr/>
        </p:nvSpPr>
        <p:spPr>
          <a:xfrm>
            <a:off x="185124" y="4556946"/>
            <a:ext cx="1343885" cy="1446550"/>
          </a:xfrm>
          <a:prstGeom prst="rect">
            <a:avLst/>
          </a:prstGeom>
          <a:noFill/>
        </p:spPr>
        <p:txBody>
          <a:bodyPr wrap="square" rtlCol="0">
            <a:spAutoFit/>
          </a:bodyPr>
          <a:lstStyle/>
          <a:p>
            <a:pPr algn="ctr"/>
            <a:r>
              <a:rPr lang="en-AU" sz="2200" dirty="0" smtClean="0"/>
              <a:t>Can also use </a:t>
            </a:r>
          </a:p>
          <a:p>
            <a:pPr algn="ctr"/>
            <a:r>
              <a:rPr lang="en-AU" sz="2200" dirty="0" smtClean="0"/>
              <a:t>Class Pad </a:t>
            </a:r>
          </a:p>
          <a:p>
            <a:pPr algn="ctr"/>
            <a:r>
              <a:rPr lang="en-AU" sz="2200" dirty="0" smtClean="0"/>
              <a:t>E-activity</a:t>
            </a:r>
            <a:endParaRPr lang="en-AU" sz="2200" dirty="0"/>
          </a:p>
        </p:txBody>
      </p:sp>
    </p:spTree>
    <p:extLst>
      <p:ext uri="{BB962C8B-B14F-4D97-AF65-F5344CB8AC3E}">
        <p14:creationId xmlns:p14="http://schemas.microsoft.com/office/powerpoint/2010/main" val="341308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TotalTime>
  <Words>1106</Words>
  <Application>Microsoft Office PowerPoint</Application>
  <PresentationFormat>Widescreen</PresentationFormat>
  <Paragraphs>100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59</cp:revision>
  <dcterms:created xsi:type="dcterms:W3CDTF">2020-12-09T06:24:59Z</dcterms:created>
  <dcterms:modified xsi:type="dcterms:W3CDTF">2021-08-16T01:16:02Z</dcterms:modified>
</cp:coreProperties>
</file>
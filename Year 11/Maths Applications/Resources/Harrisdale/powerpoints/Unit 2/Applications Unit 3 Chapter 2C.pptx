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9" r:id="rId3"/>
    <p:sldId id="260" r:id="rId4"/>
    <p:sldId id="264" r:id="rId5"/>
    <p:sldId id="261" r:id="rId6"/>
    <p:sldId id="265"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6" autoAdjust="0"/>
    <p:restoredTop sz="94660"/>
  </p:normalViewPr>
  <p:slideViewPr>
    <p:cSldViewPr snapToGrid="0">
      <p:cViewPr varScale="1">
        <p:scale>
          <a:sx n="86" d="100"/>
          <a:sy n="86" d="100"/>
        </p:scale>
        <p:origin x="66" y="1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11-09T01:18:44.479"/>
    </inkml:context>
    <inkml:brush xml:id="br0">
      <inkml:brushProperty name="width" value="0.53333" units="cm"/>
      <inkml:brushProperty name="height" value="1.06667" units="cm"/>
      <inkml:brushProperty name="color" value="#FFFF00"/>
      <inkml:brushProperty name="tip" value="rectangle"/>
      <inkml:brushProperty name="rasterOp" value="maskPen"/>
      <inkml:brushProperty name="fitToCurve" value="1"/>
    </inkml:brush>
  </inkml:definitions>
  <inkml:trace contextRef="#ctx0" brushRef="#br0">540 233 911 0,'0'0'0'0,"0"0"0"0,0 0 0 16,0 0 0-16,0 0 0 0,0 0 0 0,0 0 2400 0,0 0 400 15,0 0 80-15,0 0 0 0,0 0-1984 0,0 0-416 16,0 0-80-16,0 0-16 0,11-13-144 0,-11 13-48 16,0 0 0-16,0 0 0 0,8-11 64 0,-8 11 0 15,0 0 0-15,0 0 0 0,0 0 128 0,5-10 48 16,-5 10 0-16,0 0 0 0,0 0 64 0,0 0 16 16,0 0 0-16,0 0 0 0,0 0-64 0,3-11 0 15,-3 11 0-15,2-11 0 0,-5 2-192 0,3 9-32 16,-5-9-16-16,5 9 0 0,-7-8-208 0,-1 0 144 0,0-1-144 0,8 9 128 15,-6-8-128-15,6 8 0 0,-10-8 0 0,2 2 0 16,-2 1 0-16,2 0 0 0,-2-3 0 0,10 8 0 16,-13-5 192-16,2 0 16 0,1-1 0 0,-1 1 0 15,-2 2 96-15,2-1 16 0,-1-1 0 0,3 2 0 16,-3 0-80-16,2 0-16 0,1-2 0 0,-3 2 0 16,1-1 0-16,0 1 0 0,-1-2 0 0,12 5 0 15,-9-5-32-15,-1 1-16 0,-1-1 0 0,11 5 0 16,-10-4 80-16,10 4 0 0,-12-3 16 0,12 3 0 15,-13-3 32-15,13 3 0 0,-12-3 0 0,2-1 0 16,10 4-144-16,0 0-32 0,-13-1 0 0,3-1 0 16,10 2-128-16,-13 0 0 0,3 3 0 0,-1 1 128 15,11-4-128-15,-11 0 0 0,1 0 0 0,10 0 0 0,-10 3 0 0,10-3 0 16,-13 5 0-16,13-5 0 0,-9 5 0 0,9-5 192 16,0 0-192-16,-12 8 192 0,4 0-48 0,0-2 0 15,0 1 0-15,8-7 0 0,-7 10-144 0,7-10 192 16,-6 9-192-16,-2 1 192 0,3 0-192 0,5-10 128 15,-8 11-128-15,1 0 128 0,1 1-128 0,-1-1 0 16,1-1 0-16,6-10 0 0,-5 10 128 0,0 1-128 16,0 0 0-16,2 1 128 0,0-3-128 0,3-9 128 15,-2 15-128-15,2 0 128 0,-3-1-128 0,3-1 160 16,0-13-160-16,2 18 160 0,-1 0-160 0,1 1 192 16,-1-2-192-16,1-1 192 0,0-2-192 0,-1-1 0 15,-1-1 144-15,2-1-144 0,1 2 0 0,-3-13 128 16,0 0-128-16,5 15 0 0,0-2 128 0,-5-13-128 15,5 14 160-15,-5-14-160 0,6 13 176 0,1-2-176 0,-7-11 192 0,0 0-192 16,0 0 192-16,9 10-192 0,-9-10 192 0,10 10-192 16,-2 0 176-16,-8-10-176 0,10 8 160 0,-10-8-160 15,15 5 176-15,-4-1-176 0,-11-4 192 0,13 5-192 16,0-3 192-16,-13-2-64 0,13 0 0 0,-2-2-128 16,-11 2 240-16,15-3-64 0,-2-2-16 0,-2 2 0 15,-1 0 16-15,0-2 0 0,1 2 0 0,2-2 0 16,-2-2-176-16,2 1 192 0,2 1-192 0,-1 0 192 15,1 0-192-15,-2-1 0 0,0-6 0 0,2 6 0 16,-1 3 0-16,1-2 0 0,-2-3 0 0,0 0 0 16,-4-1 0-16,4 1 0 0,0 7-128 0,0-4 128 15,2-3-160-15,-5 0 160 0,-10 8-208 0,11-8 80 0,-1-4-64 0,-1 1-16 16,0 1 0-16,-3 0 0 0,-6 10-80 0,6-13-16 16,3 2 0-16,-6 0 0 0,-6-2-64 0,3 1-16 15,0 12 0-15,-2-13 0 16,-3 0-80-16,3 2-32 0,2 11 0 0,-1-11 0 15,-2-1-288-15,-2 1-64 0,0-4-16 0,-3 2-10656 16</inkml:trace>
</inkml:ink>
</file>

<file path=ppt/ink/ink2.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11-09T04:54:29.891"/>
    </inkml:context>
    <inkml:brush xml:id="br0">
      <inkml:brushProperty name="width" value="0.53333" units="cm"/>
      <inkml:brushProperty name="height" value="1.06667" units="cm"/>
      <inkml:brushProperty name="color" value="#FFFF00"/>
      <inkml:brushProperty name="tip" value="rectangle"/>
      <inkml:brushProperty name="rasterOp" value="maskPen"/>
      <inkml:brushProperty name="fitToCurve" value="1"/>
    </inkml:brush>
  </inkml:definitions>
  <inkml:trace contextRef="#ctx0" brushRef="#br0">-3 73 1839 0,'0'0'160'15,"0"0"-160"-15,0 0 0 0,0 0 0 0,0 0 2048 0,0 0 368 16,0 0 80-16,0 0 0 0,0 0-1472 0,13 3-320 15,-13-3-48-15,0 0-16 0,0 0 16 0,0 0 0 16,13 5 0-16,-13-5 0 0,0 0 0 0,11-3 0 16,-11 3 0-16,0 0 0 0,0 0-240 0,0 0-48 0,13-3-16 0,-13 3 0 15,0 0-144-15,15 3-16 16,-15-3-16-16,0 0 0 0,13 3-48 0,-13-3-128 0,13 4 192 0,-13-4-64 16,14-4-128-16,1 4 0 0,-15 0 0 0,14 2 128 15,-14-2 96-15,15 0 16 0,-1 0 0 0,-14 0 0 16,15 2 96-16,0-2 32 0,-2 1 0 0,-13-1 0 15,16 0-96-15,0 0-16 0,0 0 0 0,2 0 0 16,-2-3 64-16,4 1 16 0,2 1 0 0,0 1 0 16,-5 0-176-16,1 0-32 0,2-4-128 0,-1 1 192 15,2 3-192-15,2 0 128 0,0 0-128 0,-4 0 0 16,-1-1 144-16,-2-1-144 0,-1 2 128 0,1 2-128 16,2-2 192-16,-2-4-64 0,-1 3 0 0,1-1 0 15,0 2 16-15,0 0 0 0,2-3 0 0,-2 3 0 0,-1 1 0 0,1-1 0 16,0-1 0-16,0 1 0 0,1-2-144 0,-1 2 0 15,2-1 0-15,-2 1 0 0,-1 0 0 0,-1 0 0 16,2 0 0-16,1 0-176 0,0 1 176 0,1-1 0 16,2-1 160-16,-1 1-160 0,1 0 0 0,-1 1 0 15,1 1 0-15,1-1-160 0,1-4 160 0,-1 2 0 16,-1 1 0-16,-1 3 0 0,1 0 0 0,-1-3 0 16,-1-3 0-16,0 4 0 0,0 3 0 0,-2-3 0 15,0-1 0-15,0 0 0 0,1 2 0 0,-1-2 0 16,-2 0 0-16,3 0-128 0,-1 0 128 0,0 0 176 15,0 0-48-15,-1 0 0 0,-2 0-128 0,3-2 0 16,2-3 0-16,0 4 0 0,-2 4 0 0,2-3 0 16,1-2-192-16,1 2 192 0,-1 0-144 0,1 0 144 0,-1-1 0 15,0-1 0-15,-1 2 0 0,0 0 0 0,2-1 0 0,2 1 0 16,3 3 0-16,-4 0 0 0,-5-5 0 0,3 2 0 16,4 5 0-16,1-1-128 0,1-4 128 0,-3 0 0 15,-2 0 0-15,3 1 0 0,-1 1-128 0,-2-2 128 16,-4-2 0-16,2 2 0 0,1 0 0 0,-1 0 0 15,0 0 0-15,-2 0 0 0,-1 0 0 0,1-1 0 16,0-1 0-16,0 4 0 0,1 2 0 0,-1-4 0 16,-2-1 0-16,3 1 0 0,-1-2 128 0,3 2-128 15,2-1 0-15,-1 1 0 0,-4 1-192 0,2-1 192 16,0 0-144-16,-2-1 144 0,-3-1 0 0,5-1-144 16,4 4 144-16,-1 3-128 0,-3-1 128 0,0-3-128 15,-2-3 128-15,1 1 0 0,-1 2 0 0,0-2 0 16,0 1 0-16,0-1-128 0,1 2 128 0,-1 0 0 15,0-2 0-15,0 1 0 0,-1-2 0 0,-1 1 0 0,1 2 0 0,0 2 0 16,-2-2 0-16,0 0 0 0,1 0 0 0,1 0 0 16,-1 0 144-16,1 0-144 0,-15 0 0 0,16 0 0 15,0-4 0-15,1 3 0 0,-3 1 0 0,-1 0 0 16,-13 0 0-16,18 0 0 0,0 0 0 0,-2 0 0 16,-1 0 0-16,-2-2-192 0,-2-1 192 0,2 3 0 15,0 2-160-15,-13-2 160 0,13 0-144 0,1-2 144 16,3 0-192-16,-1 2 192 0,-2 2 0 0,1 0 0 15,-2-2 0-15,0 3 0 0,0 0 0 0,2-1 0 16,-3-2 0-16,5 1 0 0,-1-1 0 0,0-1 0 16,-3-1 192-16,0 0-48 0,2 2-144 0,-2 0 0 0,-2-1 0 0,-11 1 0 15,15 0 0-15,-1 0 0 0,1-2 0 0,-15 2 0 16,14-1 0-16,-14 1 0 0,15 0 0 0,-2-2 0 16,-13 2 0-16,15-2 0 0,-3-1 0 0,-12 3 0 15,13 0 0-15,-13 0 0 0,15-3 0 0,-2 3 0 16,-13 0 0-16,13 3 0 0,-13-3 0 0,15 0 0 15,-2 0 0-15,-13 0 0 0,0 0-144 0,14 5 144 16,-14-5 0-16,15-2 0 0,-15 2 0 0,14 2 0 16,-2 1 0-16,-12-3 0 0,13-6 0 0,-2 4 0 15,-11 2 0-15,11 3 0 0,-11-3 0 0,13 0 0 16,-13 0 0-16,15 0 0 0,-4 2 0 0,-11-2 0 16,13 0 0-16,-13 0 0 0,15-5 0 0,-4 3 0 15,-11 2 0-15,13 0 0 0,-13 0-128 0,15-1 128 16,-15 1 0-16,14 0 0 0,-1 1-128 0,-13-1 128 15,15-1 0-15,-2-1 0 0,-13 2 0 0,14 0 0 0,1 3 0 16,-2-3 0-16,-13 0 0 0,13-1 0 0,0 4 0 0,-13-3 0 16,0 0 0-16,13-3 0 0,-13 3 0 0,13-2 0 15,-13 2 0-15,14 0 0 0,-14 0 0 0,15-1 144 16,-2-1-144-16,0 0 128 0,0-1-128 0,-13 3 0 16,13-5 0-16,2 2 0 0,1 3 0 0,-2 2 0 15,-14-2 0-15,17 0 0 0,-3 1 0 0,-1 1 0 16,-13-2 0-16,15 0 0 0,-1 0 0 0,-1 0 0 15,-13 0 0-15,15 0 0 0,-15 0 0 0,14 0 0 16,-14 0 0-16,15 0 0 0,-2 1 0 0,0-1 0 16,0-1 0-16,-13 1 0 0,0 0 0 0,15 0 128 15,-2 0-128-15,-13 0 0 0,0 0 0 0,14-2 0 16,-1 1 0-16,-13 1 0 0,15 0 0 0,-2 0 0 0,-13 0 0 0,13-2 0 16,-13 2 0-16,16 0 0 0,-3 0 0 0,-13 0 0 15,13-2 0-15,-13 2 0 0,0 0 0 0,13 2 0 16,-13-2 0-16,13-2-176 0,-13 2 176 0,0 0-128 15,0 0 128-15,13-1-208 0,-2-3 80 0,-11 4 128 16,0 0-304-16,0 0 64 0,0 0 16 0,0 0 0 16,15-1-80-16,-15 1-16 0,0 0 0 0,13 0 0 31,-13 0-256-31,13-3-48 0,0-1-16 0,-13 4 0 16,0 0-480-16,0 0-96 0,14 5-32 0,1 0-4128 0,-2-2-832 0</inkml:trace>
</inkml:ink>
</file>

<file path=ppt/ink/ink3.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11-09T04:54:34.245"/>
    </inkml:context>
    <inkml:brush xml:id="br0">
      <inkml:brushProperty name="width" value="0.53333" units="cm"/>
      <inkml:brushProperty name="height" value="1.06667" units="cm"/>
      <inkml:brushProperty name="color" value="#FFFF00"/>
      <inkml:brushProperty name="tip" value="rectangle"/>
      <inkml:brushProperty name="rasterOp" value="maskPen"/>
      <inkml:brushProperty name="fitToCurve" value="1"/>
    </inkml:brush>
  </inkml:definitions>
  <inkml:trace contextRef="#ctx0" brushRef="#br0">0 35 2751 0,'0'0'128'0,"0"0"16"0,0 0-144 0,13 5 0 0,-13-5 0 0,0 0 0 15,13 4 496-15,-13-4 64 0,16 0 16 0,-16 0 0 16,0 0-304-16,14-4-48 0,1 1-16 0,-15 3 0 16,0 0 448-16,15-5 96 0,-6-1 16 0,-9 6 0 15,0 0-176-15,0 0-16 0,0 0-16 0,15-2 0 0,-4-1 0 0,-11 3 0 16,0 0 0-16,13-2 0 0,-13 2-96 0,0 0-16 15,0 0 0-15,0 0 0 0,13-3-112 0,-13 3-16 16,0 0-16-16,0 0 0 0,13-3-96 0,-13 3-16 16,0 0 0-16,13 0 0 0,-13 0-16 0,0 0-16 15,0 0 0-15,0 0 0 0,0 0 96 0,15-4 0 16,-15 4 16-16,13-3 0 0,-13 3 144 0,0 0 32 16,0 0 0-16,0 0 0 0,0 0-80 0,13-3-16 15,-13 3 0-15,13-2 0 0,-13 2-224 0,13-4-128 16,-13 4 128-16,16 1-128 0,0-2 128 0,0 1-128 15,1 0 128-15,0 1-128 0,1 1 160 0,-2-2-32 0,1 0-128 16,-1 0 192-16,0 3 16 0,0-1 0 0,0-1 0 0,1 1 0 16,-1-1-16-16,0 3 0 0,0-1 0 0,1-3 0 15,-17 0-192-15,16-2 144 0,0-1-144 0,-1 1 128 16,-2 2-128-16,1 2 128 0,2 0-128 0,-1-1 128 16,0-1-128-16,1 0 0 0,0 0 144 0,0 2-144 15,0 1 208-15,1-1-16 0,0-1-16 0,1 1 0 16,0 0-48-16,2-2 0 0,1-2 0 0,-4 2 0 15,-2 0 128-15,1-2 0 0,2-1 16 0,-2 0 0 16,-1 3-128-16,0 2-16 0,1-1-128 0,2-1 192 16,-1-5-192-16,3 2 0 0,-1 1 128 0,1 2-128 15,-2-3 0-15,-1 2 0 0,3-3 0 0,-2 4 0 16,0 2 0-16,1 0 0 0,2-2 0 0,-1 0 0 0,-1 1 0 0,-1 1 0 16,0-2 128-16,1 1-128 0,1-2 144 15,-1 2-144-15,-1 3 128 0,1-1-128 0,1-3 0 0,2 0 0 16,1-2 0-16,0 1 0 0,-2-1 0 0,-2 2 0 15,1 3 0-15,-1-1 0 0,-1-2 0 0,5 2 0 16,1 1 0-16,1 0 0 0,-3-5 0 0,1 2 0 16,0-3 0-16,1 3 0 0,2 3 128 0,-2-3-128 15,-1-1 0-15,0 2 128 0,-1 4-128 0,3-1 128 16,-1-3-128-16,0-1 128 0,1 0-128 0,-3 0 0 16,-2-1 0-16,1 1 0 0,1 0 0 0,0 1 128 15,-3 1-128-15,2 1 0 0,0 0 0 0,-1 1 0 16,-1-4 0-16,2 1 0 0,0 1 0 0,2 1 0 15,0 0 0-15,-1-1 0 0,-1-2 128 0,-3 2-128 16,-3-1 0-16,3-1 128 0,3-1-128 0,0 1 0 0,-2 1 0 0,1 1 128 16,-1-2-128-16,1 0 0 0,-1-2 144 0,1 2-144 15,-4 3 128-15,2-1-128 0,1-2 128 0,-3 0-128 16,-1 0 0-16,-1 0 0 0,1 2 0 0,0-2 128 16,-1-2-128-16,1 0 0 0,-1-1 0 0,1 2 0 15,-2 2 0-15,0 1 0 0,0-1 0 0,0 1 0 16,-13-2 0-16,16 3 0 0,-1 0 0 0,-1 1 0 15,3-3 0-15,-3 3 0 0,1-1 0 0,-1-2 0 16,1 1 0-16,1-2 0 0,0 0 0 0,1 2 0 16,-4 1 0-16,-1 0 0 0,3 0 0 0,0 1 0 15,-1-3 0-15,2 3 0 0,2-1 0 0,-1 0 0 16,-3-1 0-16,2 1 0 0,1-2 0 0,0 1 0 16,1-2 0-16,0 0 0 0,-5 0 0 0,2 2 0 0,1 1 0 0,0 0 0 15,0 0 0-15,0-1-128 0,-1-2 128 0,1 0 0 16,0 2 0-16,-1-1 0 0,-2 1 0 0,2-2 0 15,-2-2 0-15,0 2-128 0,0-1 128 0,0 1 0 16,-1 1 0-16,1 1 0 0,0-2 0 0,0 2 0 16,0 1 0-16,2-2 0 0,-2-1 0 0,2 0-128 15,-1-1 128-15,1 1 0 0,-1 1 0 0,1-1 0 16,-2-3 0-16,1 3 0 0,-1 3 0 0,2-1 0 16,0-2 0-16,-1-2 0 0,4 1 0 0,-3 2 0 15,-15-1 0-15,16 5 0 0,2-5 0 0,-2 0 0 16,-3 0 128-16,1 4-128 0,1-3 0 0,1-4 0 15,0 0 0-15,-1 3 0 0,-2 3 0 0,0 0 0 16,-2-4 0-16,2 1 0 0,0 0 0 0,0 1 0 16,0 1 0-16,2-2 0 0,-2 0 0 0,0 0 0 0,-13 0 0 0,16 1 0 15,-1 3 128-15,-1-4-128 0,-1-4 160 0,-13 4-160 16,15 2 192-16,-1 0-64 0,1-2-128 0,0-2 192 16,-3 0-192-16,1 4 0 0,0 1 0 0,0-1 0 15,2-4 0-15,0 1 0 0,-2-1 0 0,0 4 0 16,-1-1 0-16,3-1 0 0,0-3 0 0,-2 0 0 15,-13 3 0-15,0 0 0 0,14-2 0 0,4 1 0 16,2-1 0-16,-6 2 0 0,-14 0 0 0,13 3 0 16,7-4 0-16,-3-1 0 0,-4 2 0 0,-13 0-160 15,13 3 160-15,0-3-160 0,2-1 160 0,-2 1-160 16,-13 0 160-16,18 3-160 0,1-2 160 0,-3-1-160 16,-16 0 160-16,17-1 0 0,-4-1 0 0,0 1 0 15,-1 1 0-15,-12 0 0 0,15-4 0 0,-2 3 0 0,-13 1 0 16,15 0 0-16,-1 0 0 0,-1 0 0 0,-1 0 0 0,-12 0 0 15,0 0 0-15,14 0 0 0,1 0 0 0,-1 0 0 16,-14 0 0-16,13-2 0 0,0-1 0 0,-13 3-128 16,13-2 128-16,0 2 0 0,-13 0-144 0,15 2 144 15,-2-4-160-15,-13 2 160 0,13 2-224 0,-13-2 48 16,16 3 16-16,-3-3 0 0,-13 0 160 0,0 0-160 16,13 0 160-16,0 0-160 0,-13 0 160 0,14-2 0 15,-14 2 0-15,15 2 0 0,-2 1 0 0,0 1 0 16,2-4 0-16,-2 1 128 0,-13-1-128 0,13 5 0 15,0-3 0-15,-1-1 0 0,-12-1 0 0,0 0 0 16,0 0 0-16,17-1 0 0,1-1 0 0,-6 2 0 0,-12 0 0 0,0 0 0 16,17 3 0-16,-3-1 0 0,1-2 0 0,-2 0 128 15,-13 0-128-15,13 2 0 0,-2-2 0 0,-11 0 0 16,10-7 0-16,-10 7 0 0,15 2 0 0,-3-2 0 16,-12 0 0-16,15-4-128 0,-4-2 128 0,1 4 0 15,-12 2 0-15,14 2 0 0,-14-2 0 0,17-2 0 16,-1 2 0-16,-3 0 0 0,-13 0 0 0,0 0-128 15,13 0 128-15,-13 0 0 0,0 0 0 0,13-5 0 16,-13 5 0-16,13-6 0 0,-5-1 0 0,-8 7 0 16,0 0 0-16,11 0 0 0,-11 0 0 0,0 0-128 15,15-3 128-15,-4 0-160 0,-11 3 160 0,10-5-160 16,-10 5 160-16,10-5-208 0,-10 5 80 0,9-5 128 16,-9 5 0-16,0 0 0 0,10-4 0 0,-10 4 0 15,0 0 0-15,0 0 0 0,11-2 0 0,-11 2 0 0,0 0 0 0,13-2 0 16,-13 2 0-16,0 0 0 0,15-6-144 0,-15 6 144 15,10-5 0-15,-10 5 0 0,0 0-208 0,14-3 64 16,-2-1 16-16,-12 4 0 0,0 0-224 0,13 2-32 16,-13-2-16-16,0 0 0 15,14 0-112-15,-1 2-32 0,-13-2 0 0,15 3-5952 16,-15-3-1184-16</inkml:trace>
</inkml:ink>
</file>

<file path=ppt/ink/ink4.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11-09T04:54:40.158"/>
    </inkml:context>
    <inkml:brush xml:id="br0">
      <inkml:brushProperty name="width" value="0.53333" units="cm"/>
      <inkml:brushProperty name="height" value="1.06667" units="cm"/>
      <inkml:brushProperty name="color" value="#FFFF00"/>
      <inkml:brushProperty name="tip" value="rectangle"/>
      <inkml:brushProperty name="rasterOp" value="maskPen"/>
      <inkml:brushProperty name="fitToCurve" value="1"/>
    </inkml:brush>
  </inkml:definitions>
  <inkml:trace contextRef="#ctx0" brushRef="#br0">5011 177 9087 0,'-2'13'400'0,"2"-13"96"0,0 0-496 0,0 0 0 0,0 0 0 0,0 0 0 15,0 0 1008-15,0 0 96 0,0 0 32 0,0 0 0 16,0 0-736-16,0 0-144 0,0 0-16 0,0 0-16 16,0 0-80-16,0 0-16 0,5 10 0 0,-5-10 0 0,0 0 96 0,0 0 16 15,0 0 0-15,0 0 0 0,0 0 272 0,0 0 64 16,0 0 16-16,-12-2 0 0,12 2 48 15,-11 0 0-15,0 2 0 0,11-2 0 0,-12-5-224 0,1 3-32 16,0 9-16-16,1-6 0 0,10-1-64 0,-13-3-16 16,-2 0 0-16,2 3 0 0,2 3 32 0,-2-5 0 15,0-6 0-15,0 5 0 0,0 5 16 0,-3-2 16 16,-2-4 0-16,2 1 0 0,0 1-16 0,-1 1 0 16,1 1 0-16,-2 0 0 0,1-3-160 0,-3-2-48 15,-1 0 0-15,0 2 0 0,0-1-128 0,3 3 192 16,0-1-192-16,2 1 192 0,0-3-32 0,-2 4 0 15,-1 4 0-15,1-4 0 0,0-7 80 0,0 1 16 16,-3 1 0-16,1 3 0 0,-2 0-48 0,1-1 0 0,0-5 0 0,0 3 0 16,3 5-208-16,-3-3 0 0,-2-5 128 0,0 3-128 15,2 3 0-15,-2 1 0 0,-2-2 0 0,2-2 0 16,2 0 0-16,1 3 0 0,1 1 0 0,-2-1 0 16,-4-1 0-16,1 1 176 0,-2 2-176 0,2 0 160 15,1 0 32-15,0 0 0 0,-1-2 0 0,1 2 0 16,1 4-192-16,1-3 0 0,1-1 0 0,-1 2 128 15,-2 1-128-15,2-4 0 0,4-6 0 0,-5 4 128 16,-5 3-128-16,1-3 128 0,0-5-128 0,2 4 128 16,-4 6-128-16,2-2 192 0,-1-2-192 0,1 1 192 15,0-3 816-15,-2 4 160 0,-1 4 48 0,1-4 0 16,4-5-1664 0,0 2-336-16,-2 1-64 0,1-1-16 0,3-4 720 0,-1 4 144 0,0 5 0 0,1-4 0 15,-3-3 0-15,3 3 0 0,-1 4 128 0,-1-2-128 0,-2-3 0 0,0 1 0 16,1 2 0-16,0-1 0 0,-5-4 160 0,1 0-16 15,2 0 0-15,-3 2 0 16,-2 3 32-16,1 0 0 0,0-2 0 0,2 4 0 0,0 4-48 0,1-4 0 16,-1-4 0-16,3 4 0 0,0 1-128 0,4 2 0 15,-1-2 0-15,0-3 0 0,1-5 0 0,0 4 0 16,1 4 0-16,-1 2 0 0,2-2 0 0,-1 2 0 16,-2 0 0-16,1-2 0 0,-1-1 128 0,0-1-128 15,1-1 0-15,-4-1 128 0,-3-1-128 0,-1 0 0 16,1-2 0-16,5 4 128 0,3 1-128 0,-2-2 0 15,-3-8 0-15,0 8 0 0,2 6 0 0,0-2 0 16,-1-3 0-16,3 3 0 0,-1 4 0 0,2-2 0 0,0-2 0 0,-2-2 0 16,0-1 0-16,2 0 0 0,0 0 0 15,2-1 0-15,-1-1 0 0,1 1 0 0,-1-3 0 0,1 4 0 16,-2 4 0-16,1-1 0 0,1-2 0 0,1 3 0 16,0-1 0-16,-1-3 0 0,-1-3 0 0,1 1 0 15,-1 4 0-15,1-4 0 0,-1-4 128 0,3 2-128 16,0 4 0-16,1 0 0 0,2 0 0 0,-1 2 0 15,-1 3 0-15,1 0 0 0,1 0 0 0,-1-4 0 16,0-2 0-16,1 2 0 0,-4 4 0 0,2-5 0 16,1-6 0-16,1 6 0 0,-1 6 0 0,-1-4 0 15,0-6 0-15,-1 1 0 0,0 2 0 0,0 1 0 16,1 1 0-16,2-1 0 0,-1 0 0 0,0 0 0 16,1-1 0-16,-1 2 0 0,2 2 0 0,0-3 0 15,-1-6 0-15,-1 1 0 0,2 0 0 0,0 4 0 16,0 1 0-16,-1-2 0 0,-1-5 0 0,0 6 0 0,2 4 0 0,-1 0 0 15,-1-1 0-15,-1-4 0 0,-2-3 0 0,0 2 0 16,-1 0 0-16,1 0 0 16,0-2-848-16,2 5-160 0,0 3-16 0,1-3-16 15,-1-2 1648-15,1 2 336 0,1 4 64 0,-2-1 16 0,-2-1-832 0,1 1-192 16,3 0 0-16,-1 2 0 0,-1-2 0 0,0 0 0 16,-2-1 0-16,2 1 0 0,0 2 0 0,-1-6 0 15,0-11 0-15,0 7 0 0,1 7 0 0,0-2 0 16,0-2 0-16,1 1 0 0,2-1 0 0,0 2 0 15,2 2 0-15,-1-4 0 0,-2-3-256 0,1 5 48 16,0 7 16-16,0-9 0 16,0-9-208-16,-2 3-48 0,1 4 0 0,-2-1 0 15,-5 4 0-15,-2-1-16 0,-3 1 0 0,2-1 0 0,1 0 80 0,2 4 32 0,0 3 0 0,0-2 0 16,0-3 192-16,3-2 160 0,3-2-208 0,-1 2 80 31,-4 5-240-31,6-1-32 0,3-9-16 0,1 6-11760 0</inkml:trace>
</inkml:ink>
</file>

<file path=ppt/ink/ink5.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11-09T04:54:42.851"/>
    </inkml:context>
    <inkml:brush xml:id="br0">
      <inkml:brushProperty name="width" value="0.53333" units="cm"/>
      <inkml:brushProperty name="height" value="1.06667" units="cm"/>
      <inkml:brushProperty name="color" value="#FFFF00"/>
      <inkml:brushProperty name="tip" value="rectangle"/>
      <inkml:brushProperty name="rasterOp" value="maskPen"/>
      <inkml:brushProperty name="fitToCurve" value="1"/>
    </inkml:brush>
  </inkml:definitions>
  <inkml:trace contextRef="#ctx0" brushRef="#br0">5255 54 8351 0,'0'0'368'0,"0"0"80"0,0 0-448 0,0 0 0 0,0 0 0 0,0 0 0 0,0 0 1088 0,0 0 128 15,0 0 16-15,0 0 16 0,0 0-672 0,0 0-128 16,0 0-16-16,0 0-16 0,0 0-416 0,0 0 128 16,0 0-128-16,0 0 0 0,0 0 0 0,0 0 0 15,0 0-144-15,0 0 144 0,0 0 0 0,0 0 0 16,0 0 0-16,0 0 0 0,-12 4 384 0,12-4 96 15,0 0 16-15,-11 5 0 0,-2-5 160 0,13 0 48 16,-11 4 0-16,11-4 0 0,-13-1-256 0,1 4-64 16,-1 5 0-16,2-3 0 0,0-11-160 0,11 6-32 15,-15 0-16-15,2 0 0 0,-2 0 112 0,1-4 32 16,1-5 0-16,-2 4 0 0,-1 6 192 0,2-1 32 0,-1-5 16 16,-1 2 0-16,-1 0-176 0,1 1-48 15,-2 1 0-15,2-1 0 0,0-1-144 0,-2 0-48 0,-1-1 0 16,1 3 0-16,-2-1-144 0,1-1 0 15,-2 0 144-15,0-1-144 0,-3 4 128 0,2 0-128 0,3-1 160 0,-5 1-160 16,-7-2 368-16,5 1-32 0,6-1 0 0,-2 0 0 16,-6 1 128-16,1-3 32 0,-3 1 0 0,6 2 0 15,0 1-48-15,1 0-16 0,0 0 0 0,1 1 0 16,-4 1-208-16,1 1-32 0,3 2-16 0,1-3 0 16,-2-4-16-16,0 2 0 0,-3 0 0 0,2-2 0 15,0-3-32-15,-1 2 0 0,-1 0 0 0,-3 1 0 16,-3 4-128-16,3-2 0 0,3-2 144 0,-2 2-144 15,-3 0 0-15,2 4 0 0,0 2 0 0,0-1 0 16,1-5 0-16,2 2 0 0,2 2 0 0,0 1 0 16,-1-3 0-16,1 0 0 0,1-1 0 0,-1 2 128 0,-4 1-128 15,1 2 0-15,1 1 128 0,-2-3-128 0,-2-4 128 0,0 2-128 16,0 1 160-16,-1-1-160 0,-2-2 0 0,2 2 128 16,2 1-128-16,-1 0 0 0,-3-3 0 0,1 0 176 15,-1 0-176-15,1 2 160 0,-1 1 128 0,3 2 32 16,-1 1 0-16,2 1 0 0,1-1 32 0,0 1 16 15,-2-2 0-15,0-2 0 0,1 0-240 0,-2-3-128 16,1-3 128-16,-1 3-128 0,-2 3 0 0,1-1 128 16,-2-6-128-16,-2 6 0 0,1 5 0 0,2-7 0 15,1-5 0-15,1 1 0 0,0 3 0 0,0-1 0 16,1 1 0-16,0-1 128 0,4-5 16 0,0 4 16 16,-1 3 0-16,1-1 0 0,0-3 32 0,0 1 0 15,0 0 0-15,0 1 0 0,0 1-192 0,0-3 0 0,-3-2 0 0,0 3 128 16,0 3-128-16,1 1 0 0,4 1 0 0,-2 0 0 15,-3-2 0-15,0 1 0 0,3 1 0 0,0-1 0 16,0 1 0-16,1-4 0 0,1-2 0 0,0 2 0 16,-1 5 0-16,3-1 192 0,-1-4-192 0,2 2 192 15,-2-1-192-15,1 4 128 0,-1 3-128 0,2-2 128 16,0-4-128-16,0 0 0 0,-2 1 0 0,2-1 0 16,0 0 0-16,-2 0 0 0,-1-1 0 0,-1 1 0 15,1 3 0-15,0 0 0 0,-2 0 0 0,-2-3 0 16,-2-3 0-16,0 3 0 0,1 3 0 0,0 0 0 15,0-6 0-15,1-2 0 0,4 1 0 0,0 2 0 16,-1 5 0-16,3-1 0 0,0-5 0 0,1 3 0 16,0 1 0-16,0 4 0 0,0 0 0 0,2-4 0 0,-1-4 0 0,-1 2 128 15,-2 4-128-15,2-3 0 0,-1-5 128 16,-1 2-128-16,-1-2 0 0,1 3 128 0,2 2-128 0,-2 0 128 16,-1 4-128-16,0-6 128 0,1-3-128 0,0 3 0 15,0 2 0-15,2-1 0 0,0-4 0 0,-1 2 0 16,-3-1 0-16,3 3 0 0,2-1 0 0,1 2 0 15,-2 0 128-15,-2 0-128 0,3 0 128 0,3 0-128 16,-1-1 192-16,2-1-64 0,-1-1-128 0,1-1 0 16,0 0 144-16,1 0-144 0,1 1 0 0,-1 3 0 15,2 3 0-15,0-3 0 0,2-3 0 0,0 0 0 16,-2 0 0-16,1 1 0 0,12 2 0 0,-11 0 0 16,-1-2 0-16,1 2-128 0,-2 2 128 0,2 1 0 15,11-3-144-15,-13 3 144 0,-2-1-160 0,4-2 160 16,0-3-208-16,11 3 80 0,-13 0-48 0,1 0 0 0,3-2 0 15,-3 2 0-15,-1 3-80 0,2-3 0 0,11 0-16 0,0 0 0 32,0 0-176-32,0 0-48 0,0 0 0 0,0 0-10128 0,-10-8-2016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0670257F-139A-4C64-8FF0-C28BA2020A88}" type="datetimeFigureOut">
              <a:rPr lang="en-AU" smtClean="0"/>
              <a:t>18/11/2021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1832062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670257F-139A-4C64-8FF0-C28BA2020A88}" type="datetimeFigureOut">
              <a:rPr lang="en-AU" smtClean="0"/>
              <a:t>18/11/2021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783430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670257F-139A-4C64-8FF0-C28BA2020A88}" type="datetimeFigureOut">
              <a:rPr lang="en-AU" smtClean="0"/>
              <a:t>18/11/2021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3533644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0670257F-139A-4C64-8FF0-C28BA2020A88}" type="datetimeFigureOut">
              <a:rPr lang="en-AU" smtClean="0"/>
              <a:t>18/11/2021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1047648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0670257F-139A-4C64-8FF0-C28BA2020A88}" type="datetimeFigureOut">
              <a:rPr lang="en-AU" smtClean="0"/>
              <a:t>18/11/2021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45400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0670257F-139A-4C64-8FF0-C28BA2020A88}" type="datetimeFigureOut">
              <a:rPr lang="en-AU" smtClean="0"/>
              <a:t>18/11/2021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15817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70257F-139A-4C64-8FF0-C28BA2020A88}" type="datetimeFigureOut">
              <a:rPr lang="en-AU" smtClean="0"/>
              <a:t>18/11/2021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663723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670257F-139A-4C64-8FF0-C28BA2020A88}" type="datetimeFigureOut">
              <a:rPr lang="en-AU" smtClean="0"/>
              <a:t>18/11/2021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3915923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670257F-139A-4C64-8FF0-C28BA2020A88}" type="datetimeFigureOut">
              <a:rPr lang="en-AU" smtClean="0"/>
              <a:t>18/11/2021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2844789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670257F-139A-4C64-8FF0-C28BA2020A88}" type="datetimeFigureOut">
              <a:rPr lang="en-AU" smtClean="0"/>
              <a:t>18/11/2021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3343789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670257F-139A-4C64-8FF0-C28BA2020A88}" type="datetimeFigureOut">
              <a:rPr lang="en-AU" smtClean="0"/>
              <a:t>18/11/2021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29399323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70257F-139A-4C64-8FF0-C28BA2020A88}" type="datetimeFigureOut">
              <a:rPr lang="en-AU" smtClean="0"/>
              <a:t>18/11/2021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F2D087-B4D1-44FD-A108-C1A3608A0FC7}" type="slidenum">
              <a:rPr lang="en-AU" smtClean="0"/>
              <a:t>‹#›</a:t>
            </a:fld>
            <a:endParaRPr lang="en-AU"/>
          </a:p>
        </p:txBody>
      </p:sp>
    </p:spTree>
    <p:extLst>
      <p:ext uri="{BB962C8B-B14F-4D97-AF65-F5344CB8AC3E}">
        <p14:creationId xmlns:p14="http://schemas.microsoft.com/office/powerpoint/2010/main" val="5407150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7.emf"/><Relationship Id="rId3" Type="http://schemas.openxmlformats.org/officeDocument/2006/relationships/image" Target="../media/image2.png"/><Relationship Id="rId7" Type="http://schemas.openxmlformats.org/officeDocument/2006/relationships/image" Target="../media/image4.emf"/><Relationship Id="rId12" Type="http://schemas.openxmlformats.org/officeDocument/2006/relationships/customXml" Target="../ink/ink5.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customXml" Target="../ink/ink2.xml"/><Relationship Id="rId11" Type="http://schemas.openxmlformats.org/officeDocument/2006/relationships/image" Target="../media/image6.emf"/><Relationship Id="rId5" Type="http://schemas.openxmlformats.org/officeDocument/2006/relationships/image" Target="../media/image3.emf"/><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5.emf"/></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443942" cy="461665"/>
          </a:xfrm>
          <a:prstGeom prst="rect">
            <a:avLst/>
          </a:prstGeom>
          <a:solidFill>
            <a:srgbClr val="FFFF00"/>
          </a:solidFill>
        </p:spPr>
        <p:txBody>
          <a:bodyPr wrap="square" rtlCol="0">
            <a:spAutoFit/>
          </a:bodyPr>
          <a:lstStyle/>
          <a:p>
            <a:r>
              <a:rPr lang="en-AU" sz="2400" dirty="0" smtClean="0"/>
              <a:t>Unit </a:t>
            </a:r>
            <a:r>
              <a:rPr lang="en-AU" sz="2400" smtClean="0"/>
              <a:t>3 Chapter 2C</a:t>
            </a:r>
            <a:endParaRPr lang="en-AU" sz="2400" dirty="0"/>
          </a:p>
        </p:txBody>
      </p:sp>
      <p:sp>
        <p:nvSpPr>
          <p:cNvPr id="3" name="TextBox 2"/>
          <p:cNvSpPr txBox="1"/>
          <p:nvPr/>
        </p:nvSpPr>
        <p:spPr>
          <a:xfrm>
            <a:off x="138545" y="609600"/>
            <a:ext cx="8329353" cy="2462213"/>
          </a:xfrm>
          <a:prstGeom prst="rect">
            <a:avLst/>
          </a:prstGeom>
          <a:noFill/>
        </p:spPr>
        <p:txBody>
          <a:bodyPr wrap="square" rtlCol="0">
            <a:spAutoFit/>
          </a:bodyPr>
          <a:lstStyle/>
          <a:p>
            <a:r>
              <a:rPr lang="en-AU" sz="2200" dirty="0" smtClean="0"/>
              <a:t>Looking at the scatter graph, we can see that the point (40, 10) doesn’t ‘fit’ the strong positive linear correlation suggested by the other points. We can say that (40, 10) is an outlier.</a:t>
            </a:r>
          </a:p>
          <a:p>
            <a:r>
              <a:rPr lang="en-AU" sz="2200" dirty="0" smtClean="0"/>
              <a:t>Outliers can significantly affect the line of best fit.</a:t>
            </a:r>
          </a:p>
          <a:p>
            <a:r>
              <a:rPr lang="en-AU" sz="2200" dirty="0" smtClean="0"/>
              <a:t>We can see this below where the line of best fit has been calculated including the outlier, and then excluding the outlier. </a:t>
            </a:r>
            <a:r>
              <a:rPr lang="en-AU" sz="2200" dirty="0"/>
              <a:t>T</a:t>
            </a:r>
            <a:r>
              <a:rPr lang="en-AU" sz="2200" dirty="0" smtClean="0"/>
              <a:t>he predicted y-value for an x-value of 27 differs from 19 to 22 accordingly.</a:t>
            </a:r>
            <a:endParaRPr lang="en-AU" sz="2200" dirty="0"/>
          </a:p>
        </p:txBody>
      </p:sp>
      <p:pic>
        <p:nvPicPr>
          <p:cNvPr id="4" name="Picture 3"/>
          <p:cNvPicPr>
            <a:picLocks noChangeAspect="1"/>
          </p:cNvPicPr>
          <p:nvPr/>
        </p:nvPicPr>
        <p:blipFill>
          <a:blip r:embed="rId2"/>
          <a:stretch>
            <a:fillRect/>
          </a:stretch>
        </p:blipFill>
        <p:spPr>
          <a:xfrm>
            <a:off x="8392564" y="388143"/>
            <a:ext cx="3752850" cy="2905125"/>
          </a:xfrm>
          <a:prstGeom prst="rect">
            <a:avLst/>
          </a:prstGeom>
        </p:spPr>
      </p:pic>
      <p:pic>
        <p:nvPicPr>
          <p:cNvPr id="5" name="Picture 4"/>
          <p:cNvPicPr>
            <a:picLocks noChangeAspect="1"/>
          </p:cNvPicPr>
          <p:nvPr/>
        </p:nvPicPr>
        <p:blipFill>
          <a:blip r:embed="rId3"/>
          <a:stretch>
            <a:fillRect/>
          </a:stretch>
        </p:blipFill>
        <p:spPr>
          <a:xfrm>
            <a:off x="246438" y="3352540"/>
            <a:ext cx="8362950" cy="3400425"/>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p14:cNvContentPartPr/>
              <p14:nvPr/>
            </p14:nvContentPartPr>
            <p14:xfrm>
              <a:off x="11462520" y="2059167"/>
              <a:ext cx="204480" cy="188280"/>
            </p14:xfrm>
          </p:contentPart>
        </mc:Choice>
        <mc:Fallback xmlns="">
          <p:pic>
            <p:nvPicPr>
              <p:cNvPr id="6" name="Ink 5"/>
              <p:cNvPicPr/>
              <p:nvPr/>
            </p:nvPicPr>
            <p:blipFill>
              <a:blip r:embed="rId5"/>
              <a:stretch>
                <a:fillRect/>
              </a:stretch>
            </p:blipFill>
            <p:spPr>
              <a:xfrm>
                <a:off x="11367480" y="1879527"/>
                <a:ext cx="388800" cy="571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p14:cNvContentPartPr/>
              <p14:nvPr/>
            </p14:nvContentPartPr>
            <p14:xfrm>
              <a:off x="1325640" y="3496647"/>
              <a:ext cx="1555920" cy="30960"/>
            </p14:xfrm>
          </p:contentPart>
        </mc:Choice>
        <mc:Fallback xmlns="">
          <p:pic>
            <p:nvPicPr>
              <p:cNvPr id="7" name="Ink 6"/>
              <p:cNvPicPr/>
              <p:nvPr/>
            </p:nvPicPr>
            <p:blipFill>
              <a:blip r:embed="rId7"/>
              <a:stretch>
                <a:fillRect/>
              </a:stretch>
            </p:blipFill>
            <p:spPr>
              <a:xfrm>
                <a:off x="1269840" y="3328167"/>
                <a:ext cx="1672560" cy="3736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p14:cNvContentPartPr/>
              <p14:nvPr/>
            </p14:nvContentPartPr>
            <p14:xfrm>
              <a:off x="5720880" y="3554607"/>
              <a:ext cx="1921320" cy="58680"/>
            </p14:xfrm>
          </p:contentPart>
        </mc:Choice>
        <mc:Fallback xmlns="">
          <p:pic>
            <p:nvPicPr>
              <p:cNvPr id="8" name="Ink 7"/>
              <p:cNvPicPr/>
              <p:nvPr/>
            </p:nvPicPr>
            <p:blipFill>
              <a:blip r:embed="rId9"/>
              <a:stretch>
                <a:fillRect/>
              </a:stretch>
            </p:blipFill>
            <p:spPr>
              <a:xfrm>
                <a:off x="5690280" y="3382887"/>
                <a:ext cx="2024640" cy="414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p14:cNvContentPartPr/>
              <p14:nvPr/>
            </p14:nvContentPartPr>
            <p14:xfrm>
              <a:off x="712560" y="4811727"/>
              <a:ext cx="1804680" cy="70560"/>
            </p14:xfrm>
          </p:contentPart>
        </mc:Choice>
        <mc:Fallback xmlns="">
          <p:pic>
            <p:nvPicPr>
              <p:cNvPr id="9" name="Ink 8"/>
              <p:cNvPicPr/>
              <p:nvPr/>
            </p:nvPicPr>
            <p:blipFill>
              <a:blip r:embed="rId11"/>
              <a:stretch>
                <a:fillRect/>
              </a:stretch>
            </p:blipFill>
            <p:spPr>
              <a:xfrm>
                <a:off x="625440" y="4601847"/>
                <a:ext cx="1956600" cy="447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p14:cNvContentPartPr/>
              <p14:nvPr/>
            </p14:nvContentPartPr>
            <p14:xfrm>
              <a:off x="5341440" y="4680687"/>
              <a:ext cx="1892160" cy="43200"/>
            </p14:xfrm>
          </p:contentPart>
        </mc:Choice>
        <mc:Fallback xmlns="">
          <p:pic>
            <p:nvPicPr>
              <p:cNvPr id="10" name="Ink 9"/>
              <p:cNvPicPr/>
              <p:nvPr/>
            </p:nvPicPr>
            <p:blipFill>
              <a:blip r:embed="rId13"/>
              <a:stretch>
                <a:fillRect/>
              </a:stretch>
            </p:blipFill>
            <p:spPr>
              <a:xfrm>
                <a:off x="5229480" y="4453527"/>
                <a:ext cx="2063160" cy="496080"/>
              </a:xfrm>
              <a:prstGeom prst="rect">
                <a:avLst/>
              </a:prstGeom>
            </p:spPr>
          </p:pic>
        </mc:Fallback>
      </mc:AlternateContent>
    </p:spTree>
    <p:extLst>
      <p:ext uri="{BB962C8B-B14F-4D97-AF65-F5344CB8AC3E}">
        <p14:creationId xmlns:p14="http://schemas.microsoft.com/office/powerpoint/2010/main" val="171139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443942" cy="461665"/>
          </a:xfrm>
          <a:prstGeom prst="rect">
            <a:avLst/>
          </a:prstGeom>
          <a:solidFill>
            <a:srgbClr val="FFFF00"/>
          </a:solidFill>
        </p:spPr>
        <p:txBody>
          <a:bodyPr wrap="square" rtlCol="0">
            <a:spAutoFit/>
          </a:bodyPr>
          <a:lstStyle/>
          <a:p>
            <a:r>
              <a:rPr lang="en-AU" sz="2400" dirty="0" smtClean="0"/>
              <a:t>Unit </a:t>
            </a:r>
            <a:r>
              <a:rPr lang="en-AU" sz="2400" smtClean="0"/>
              <a:t>3 Chapter 2C</a:t>
            </a:r>
            <a:endParaRPr lang="en-AU" sz="2400" dirty="0"/>
          </a:p>
        </p:txBody>
      </p:sp>
      <p:pic>
        <p:nvPicPr>
          <p:cNvPr id="3" name="Picture 2"/>
          <p:cNvPicPr>
            <a:picLocks noChangeAspect="1"/>
          </p:cNvPicPr>
          <p:nvPr/>
        </p:nvPicPr>
        <p:blipFill>
          <a:blip r:embed="rId2"/>
          <a:stretch>
            <a:fillRect/>
          </a:stretch>
        </p:blipFill>
        <p:spPr>
          <a:xfrm>
            <a:off x="8689491" y="461665"/>
            <a:ext cx="3330971" cy="3182928"/>
          </a:xfrm>
          <a:prstGeom prst="rect">
            <a:avLst/>
          </a:prstGeom>
        </p:spPr>
      </p:pic>
      <p:pic>
        <p:nvPicPr>
          <p:cNvPr id="4" name="Picture 3"/>
          <p:cNvPicPr>
            <a:picLocks noChangeAspect="1"/>
          </p:cNvPicPr>
          <p:nvPr/>
        </p:nvPicPr>
        <p:blipFill>
          <a:blip r:embed="rId3"/>
          <a:stretch>
            <a:fillRect/>
          </a:stretch>
        </p:blipFill>
        <p:spPr>
          <a:xfrm>
            <a:off x="145271" y="3377116"/>
            <a:ext cx="7363893" cy="3405500"/>
          </a:xfrm>
          <a:prstGeom prst="rect">
            <a:avLst/>
          </a:prstGeom>
        </p:spPr>
      </p:pic>
      <p:sp>
        <p:nvSpPr>
          <p:cNvPr id="7" name="TextBox 6"/>
          <p:cNvSpPr txBox="1"/>
          <p:nvPr/>
        </p:nvSpPr>
        <p:spPr>
          <a:xfrm>
            <a:off x="77584" y="576349"/>
            <a:ext cx="8767157" cy="2800767"/>
          </a:xfrm>
          <a:prstGeom prst="rect">
            <a:avLst/>
          </a:prstGeom>
          <a:noFill/>
        </p:spPr>
        <p:txBody>
          <a:bodyPr wrap="square" rtlCol="0">
            <a:spAutoFit/>
          </a:bodyPr>
          <a:lstStyle/>
          <a:p>
            <a:r>
              <a:rPr lang="en-AU" sz="2200" dirty="0" smtClean="0"/>
              <a:t>When looking at a scatter plot containing an outlier, we can choose to remove the outlier when evaluating the data, by trimming or cropping the data.</a:t>
            </a:r>
          </a:p>
          <a:p>
            <a:endParaRPr lang="en-AU" sz="2200" dirty="0"/>
          </a:p>
          <a:p>
            <a:r>
              <a:rPr lang="en-AU" sz="2200" dirty="0" smtClean="0"/>
              <a:t>The linear trend for this scatter plot seems not to apply to x values over 25.</a:t>
            </a:r>
            <a:endParaRPr lang="en-AU" sz="2200" dirty="0"/>
          </a:p>
          <a:p>
            <a:r>
              <a:rPr lang="en-AU" sz="2200" dirty="0" smtClean="0"/>
              <a:t>If we wanted to predict y values based on x values under 25, we can crop the data so that the line of best fit only looks at x values between 3 and 25. (This would alter the position of our regression line). </a:t>
            </a:r>
            <a:endParaRPr lang="en-AU" sz="2200" dirty="0"/>
          </a:p>
        </p:txBody>
      </p:sp>
      <mc:AlternateContent xmlns:mc="http://schemas.openxmlformats.org/markup-compatibility/2006">
        <mc:Choice xmlns:a14="http://schemas.microsoft.com/office/drawing/2010/main" Requires="a14">
          <p:sp>
            <p:nvSpPr>
              <p:cNvPr id="8" name="TextBox 7"/>
              <p:cNvSpPr txBox="1"/>
              <p:nvPr/>
            </p:nvSpPr>
            <p:spPr>
              <a:xfrm>
                <a:off x="7509164" y="3973483"/>
                <a:ext cx="4134197" cy="1785104"/>
              </a:xfrm>
              <a:prstGeom prst="rect">
                <a:avLst/>
              </a:prstGeom>
              <a:noFill/>
            </p:spPr>
            <p:txBody>
              <a:bodyPr wrap="square" rtlCol="0">
                <a:spAutoFit/>
              </a:bodyPr>
              <a:lstStyle/>
              <a:p>
                <a:pPr algn="ctr"/>
                <a:r>
                  <a:rPr lang="en-AU" sz="2200" dirty="0" smtClean="0"/>
                  <a:t>Any predictions we make using the regression line for </a:t>
                </a:r>
                <a14:m>
                  <m:oMath xmlns:m="http://schemas.openxmlformats.org/officeDocument/2006/math">
                    <m:r>
                      <a:rPr lang="en-AU" sz="2200" b="0" i="1" smtClean="0">
                        <a:latin typeface="Cambria Math" panose="02040503050406030204" pitchFamily="18" charset="0"/>
                      </a:rPr>
                      <m:t>3</m:t>
                    </m:r>
                    <m:r>
                      <a:rPr lang="en-AU" sz="2200" b="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𝑥</m:t>
                    </m:r>
                    <m:r>
                      <a:rPr lang="en-AU" sz="2200" b="0" i="1" smtClean="0">
                        <a:latin typeface="Cambria Math" panose="02040503050406030204" pitchFamily="18" charset="0"/>
                        <a:ea typeface="Cambria Math" panose="02040503050406030204" pitchFamily="18" charset="0"/>
                      </a:rPr>
                      <m:t>≤25</m:t>
                    </m:r>
                  </m:oMath>
                </a14:m>
                <a:r>
                  <a:rPr lang="en-AU" sz="2200" dirty="0" smtClean="0"/>
                  <a:t> will be more accurate that predictions made using the regression line for all x values.</a:t>
                </a:r>
                <a:endParaRPr lang="en-AU" sz="2200" dirty="0"/>
              </a:p>
            </p:txBody>
          </p:sp>
        </mc:Choice>
        <mc:Fallback>
          <p:sp>
            <p:nvSpPr>
              <p:cNvPr id="8" name="TextBox 7"/>
              <p:cNvSpPr txBox="1">
                <a:spLocks noRot="1" noChangeAspect="1" noMove="1" noResize="1" noEditPoints="1" noAdjustHandles="1" noChangeArrowheads="1" noChangeShapeType="1" noTextEdit="1"/>
              </p:cNvSpPr>
              <p:nvPr/>
            </p:nvSpPr>
            <p:spPr>
              <a:xfrm>
                <a:off x="7509164" y="3973483"/>
                <a:ext cx="4134197" cy="1785104"/>
              </a:xfrm>
              <a:prstGeom prst="rect">
                <a:avLst/>
              </a:prstGeom>
              <a:blipFill>
                <a:blip r:embed="rId4"/>
                <a:stretch>
                  <a:fillRect l="-1770" t="-2389" r="-3392" b="-5802"/>
                </a:stretch>
              </a:blipFill>
            </p:spPr>
            <p:txBody>
              <a:bodyPr/>
              <a:lstStyle/>
              <a:p>
                <a:r>
                  <a:rPr lang="en-AU">
                    <a:noFill/>
                  </a:rPr>
                  <a:t> </a:t>
                </a:r>
              </a:p>
            </p:txBody>
          </p:sp>
        </mc:Fallback>
      </mc:AlternateContent>
      <p:cxnSp>
        <p:nvCxnSpPr>
          <p:cNvPr id="10" name="Straight Connector 9"/>
          <p:cNvCxnSpPr/>
          <p:nvPr/>
        </p:nvCxnSpPr>
        <p:spPr>
          <a:xfrm flipV="1">
            <a:off x="537556" y="4594167"/>
            <a:ext cx="2222269" cy="132449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4461162" y="5256414"/>
            <a:ext cx="1424249" cy="57080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7989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443942" cy="461665"/>
          </a:xfrm>
          <a:prstGeom prst="rect">
            <a:avLst/>
          </a:prstGeom>
          <a:solidFill>
            <a:srgbClr val="FFFF00"/>
          </a:solidFill>
        </p:spPr>
        <p:txBody>
          <a:bodyPr wrap="square" rtlCol="0">
            <a:spAutoFit/>
          </a:bodyPr>
          <a:lstStyle/>
          <a:p>
            <a:r>
              <a:rPr lang="en-AU" sz="2400" dirty="0" smtClean="0"/>
              <a:t>Unit </a:t>
            </a:r>
            <a:r>
              <a:rPr lang="en-AU" sz="2400" smtClean="0"/>
              <a:t>3 Chapter 2C</a:t>
            </a:r>
            <a:endParaRPr lang="en-AU" sz="2400" dirty="0"/>
          </a:p>
        </p:txBody>
      </p:sp>
      <p:sp>
        <p:nvSpPr>
          <p:cNvPr id="3" name="TextBox 2"/>
          <p:cNvSpPr txBox="1"/>
          <p:nvPr/>
        </p:nvSpPr>
        <p:spPr>
          <a:xfrm>
            <a:off x="177338" y="587433"/>
            <a:ext cx="11687695" cy="1107996"/>
          </a:xfrm>
          <a:prstGeom prst="rect">
            <a:avLst/>
          </a:prstGeom>
          <a:noFill/>
        </p:spPr>
        <p:txBody>
          <a:bodyPr wrap="square" rtlCol="0">
            <a:spAutoFit/>
          </a:bodyPr>
          <a:lstStyle/>
          <a:p>
            <a:r>
              <a:rPr lang="en-AU" sz="2200" dirty="0" smtClean="0"/>
              <a:t>We have looked at linear correlation where a straight line best fits the bivariate data, and we have used linear regression to predict values. </a:t>
            </a:r>
          </a:p>
          <a:p>
            <a:r>
              <a:rPr lang="en-AU" sz="2200" dirty="0" smtClean="0"/>
              <a:t>A straight line doesn’t always ‘best fit’ the bivariate data.</a:t>
            </a:r>
            <a:endParaRPr lang="en-AU" sz="2200" dirty="0"/>
          </a:p>
        </p:txBody>
      </p:sp>
      <p:pic>
        <p:nvPicPr>
          <p:cNvPr id="4" name="Picture 3"/>
          <p:cNvPicPr>
            <a:picLocks noChangeAspect="1"/>
          </p:cNvPicPr>
          <p:nvPr/>
        </p:nvPicPr>
        <p:blipFill>
          <a:blip r:embed="rId2"/>
          <a:stretch>
            <a:fillRect/>
          </a:stretch>
        </p:blipFill>
        <p:spPr>
          <a:xfrm>
            <a:off x="604059" y="2009619"/>
            <a:ext cx="10529245" cy="2506963"/>
          </a:xfrm>
          <a:prstGeom prst="rect">
            <a:avLst/>
          </a:prstGeom>
        </p:spPr>
      </p:pic>
      <p:sp>
        <p:nvSpPr>
          <p:cNvPr id="5" name="TextBox 4"/>
          <p:cNvSpPr txBox="1"/>
          <p:nvPr/>
        </p:nvSpPr>
        <p:spPr>
          <a:xfrm>
            <a:off x="604059" y="5023156"/>
            <a:ext cx="2809701" cy="1107996"/>
          </a:xfrm>
          <a:prstGeom prst="rect">
            <a:avLst/>
          </a:prstGeom>
          <a:noFill/>
          <a:ln w="28575">
            <a:solidFill>
              <a:schemeClr val="tx1"/>
            </a:solidFill>
          </a:ln>
        </p:spPr>
        <p:txBody>
          <a:bodyPr wrap="square" rtlCol="0">
            <a:spAutoFit/>
          </a:bodyPr>
          <a:lstStyle/>
          <a:p>
            <a:pPr algn="ctr"/>
            <a:r>
              <a:rPr lang="en-AU" sz="2200" dirty="0" smtClean="0"/>
              <a:t>Shape suggests a linear (straight line) model is appropriate</a:t>
            </a:r>
            <a:endParaRPr lang="en-AU" sz="2200" dirty="0"/>
          </a:p>
        </p:txBody>
      </p:sp>
      <p:sp>
        <p:nvSpPr>
          <p:cNvPr id="8" name="TextBox 7"/>
          <p:cNvSpPr txBox="1"/>
          <p:nvPr/>
        </p:nvSpPr>
        <p:spPr>
          <a:xfrm>
            <a:off x="4757650" y="5023156"/>
            <a:ext cx="2809701" cy="1107996"/>
          </a:xfrm>
          <a:prstGeom prst="rect">
            <a:avLst/>
          </a:prstGeom>
          <a:noFill/>
          <a:ln w="28575">
            <a:solidFill>
              <a:schemeClr val="tx1"/>
            </a:solidFill>
          </a:ln>
        </p:spPr>
        <p:txBody>
          <a:bodyPr wrap="square" rtlCol="0">
            <a:spAutoFit/>
          </a:bodyPr>
          <a:lstStyle/>
          <a:p>
            <a:pPr algn="ctr"/>
            <a:r>
              <a:rPr lang="en-AU" sz="2200" dirty="0" smtClean="0"/>
              <a:t>Shape suggests a quadratic model is more appropriate</a:t>
            </a:r>
            <a:endParaRPr lang="en-AU" sz="2200" dirty="0"/>
          </a:p>
        </p:txBody>
      </p:sp>
      <p:sp>
        <p:nvSpPr>
          <p:cNvPr id="9" name="TextBox 8"/>
          <p:cNvSpPr txBox="1"/>
          <p:nvPr/>
        </p:nvSpPr>
        <p:spPr>
          <a:xfrm>
            <a:off x="9027622" y="5023156"/>
            <a:ext cx="2809701" cy="1107996"/>
          </a:xfrm>
          <a:prstGeom prst="rect">
            <a:avLst/>
          </a:prstGeom>
          <a:noFill/>
          <a:ln w="28575">
            <a:solidFill>
              <a:schemeClr val="tx1"/>
            </a:solidFill>
          </a:ln>
        </p:spPr>
        <p:txBody>
          <a:bodyPr wrap="square" rtlCol="0">
            <a:spAutoFit/>
          </a:bodyPr>
          <a:lstStyle/>
          <a:p>
            <a:pPr algn="ctr"/>
            <a:r>
              <a:rPr lang="en-AU" sz="2200" dirty="0" smtClean="0"/>
              <a:t>Shape suggests an exponential model is more appropriate</a:t>
            </a:r>
            <a:endParaRPr lang="en-AU" sz="2200" dirty="0"/>
          </a:p>
        </p:txBody>
      </p:sp>
    </p:spTree>
    <p:extLst>
      <p:ext uri="{BB962C8B-B14F-4D97-AF65-F5344CB8AC3E}">
        <p14:creationId xmlns:p14="http://schemas.microsoft.com/office/powerpoint/2010/main" val="3672249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443942" cy="461665"/>
          </a:xfrm>
          <a:prstGeom prst="rect">
            <a:avLst/>
          </a:prstGeom>
          <a:solidFill>
            <a:srgbClr val="FFFF00"/>
          </a:solidFill>
        </p:spPr>
        <p:txBody>
          <a:bodyPr wrap="square" rtlCol="0">
            <a:spAutoFit/>
          </a:bodyPr>
          <a:lstStyle/>
          <a:p>
            <a:r>
              <a:rPr lang="en-AU" sz="2400" dirty="0" smtClean="0"/>
              <a:t>Unit </a:t>
            </a:r>
            <a:r>
              <a:rPr lang="en-AU" sz="2400" smtClean="0"/>
              <a:t>3 Chapter 2C</a:t>
            </a:r>
            <a:endParaRPr lang="en-AU" sz="2400" dirty="0"/>
          </a:p>
        </p:txBody>
      </p:sp>
      <mc:AlternateContent xmlns:mc="http://schemas.openxmlformats.org/markup-compatibility/2006">
        <mc:Choice xmlns:a14="http://schemas.microsoft.com/office/drawing/2010/main" Requires="a14">
          <p:sp>
            <p:nvSpPr>
              <p:cNvPr id="7" name="TextBox 6"/>
              <p:cNvSpPr txBox="1"/>
              <p:nvPr/>
            </p:nvSpPr>
            <p:spPr>
              <a:xfrm>
                <a:off x="282633" y="631767"/>
                <a:ext cx="11637818" cy="769441"/>
              </a:xfrm>
              <a:prstGeom prst="rect">
                <a:avLst/>
              </a:prstGeom>
              <a:noFill/>
            </p:spPr>
            <p:txBody>
              <a:bodyPr wrap="square" rtlCol="0">
                <a:spAutoFit/>
              </a:bodyPr>
              <a:lstStyle/>
              <a:p>
                <a:r>
                  <a:rPr lang="en-AU" sz="2200" dirty="0" smtClean="0"/>
                  <a:t>If we try to fit straight lines to all three sets of bivariate data, we can see that the residuals </a:t>
                </a:r>
                <a14:m>
                  <m:oMath xmlns:m="http://schemas.openxmlformats.org/officeDocument/2006/math">
                    <m:r>
                      <a:rPr lang="en-AU" sz="2200" b="0" i="1" smtClean="0">
                        <a:latin typeface="Cambria Math" panose="02040503050406030204" pitchFamily="18" charset="0"/>
                      </a:rPr>
                      <m:t>(</m:t>
                    </m:r>
                    <m:r>
                      <a:rPr lang="en-AU" sz="2200" b="0" i="1" smtClean="0">
                        <a:latin typeface="Cambria Math" panose="02040503050406030204" pitchFamily="18" charset="0"/>
                      </a:rPr>
                      <m:t>𝑦</m:t>
                    </m:r>
                    <m:r>
                      <a:rPr lang="en-AU" sz="2200" b="0" i="1" smtClean="0">
                        <a:latin typeface="Cambria Math" panose="02040503050406030204" pitchFamily="18" charset="0"/>
                      </a:rPr>
                      <m:t>−</m:t>
                    </m:r>
                    <m:acc>
                      <m:accPr>
                        <m:chr m:val="̂"/>
                        <m:ctrlPr>
                          <a:rPr lang="en-AU" sz="2200" b="0" i="1" smtClean="0">
                            <a:latin typeface="Cambria Math" panose="02040503050406030204" pitchFamily="18" charset="0"/>
                          </a:rPr>
                        </m:ctrlPr>
                      </m:accPr>
                      <m:e>
                        <m:r>
                          <a:rPr lang="en-AU" sz="2200" b="0" i="1" smtClean="0">
                            <a:latin typeface="Cambria Math" panose="02040503050406030204" pitchFamily="18" charset="0"/>
                          </a:rPr>
                          <m:t>𝑦</m:t>
                        </m:r>
                      </m:e>
                    </m:acc>
                    <m:r>
                      <a:rPr lang="en-AU" sz="2200" b="0" i="1" smtClean="0">
                        <a:latin typeface="Cambria Math" panose="02040503050406030204" pitchFamily="18" charset="0"/>
                      </a:rPr>
                      <m:t>)</m:t>
                    </m:r>
                  </m:oMath>
                </a14:m>
                <a:r>
                  <a:rPr lang="en-AU" sz="2200" dirty="0" smtClean="0"/>
                  <a:t> are random for the scatter plot that actually fits a linear model, but follow a pattern for the others.</a:t>
                </a:r>
                <a:endParaRPr lang="en-AU" sz="2200" dirty="0"/>
              </a:p>
            </p:txBody>
          </p:sp>
        </mc:Choice>
        <mc:Fallback>
          <p:sp>
            <p:nvSpPr>
              <p:cNvPr id="7" name="TextBox 6"/>
              <p:cNvSpPr txBox="1">
                <a:spLocks noRot="1" noChangeAspect="1" noMove="1" noResize="1" noEditPoints="1" noAdjustHandles="1" noChangeArrowheads="1" noChangeShapeType="1" noTextEdit="1"/>
              </p:cNvSpPr>
              <p:nvPr/>
            </p:nvSpPr>
            <p:spPr>
              <a:xfrm>
                <a:off x="282633" y="631767"/>
                <a:ext cx="11637818" cy="769441"/>
              </a:xfrm>
              <a:prstGeom prst="rect">
                <a:avLst/>
              </a:prstGeom>
              <a:blipFill>
                <a:blip r:embed="rId2"/>
                <a:stretch>
                  <a:fillRect l="-681" t="-5556" b="-15079"/>
                </a:stretch>
              </a:blipFill>
            </p:spPr>
            <p:txBody>
              <a:bodyPr/>
              <a:lstStyle/>
              <a:p>
                <a:r>
                  <a:rPr lang="en-AU">
                    <a:noFill/>
                  </a:rPr>
                  <a:t> </a:t>
                </a:r>
              </a:p>
            </p:txBody>
          </p:sp>
        </mc:Fallback>
      </mc:AlternateContent>
      <p:pic>
        <p:nvPicPr>
          <p:cNvPr id="10" name="Picture 9"/>
          <p:cNvPicPr>
            <a:picLocks noChangeAspect="1"/>
          </p:cNvPicPr>
          <p:nvPr/>
        </p:nvPicPr>
        <p:blipFill>
          <a:blip r:embed="rId3"/>
          <a:stretch>
            <a:fillRect/>
          </a:stretch>
        </p:blipFill>
        <p:spPr>
          <a:xfrm>
            <a:off x="271762" y="1449544"/>
            <a:ext cx="11472134" cy="2734530"/>
          </a:xfrm>
          <a:prstGeom prst="rect">
            <a:avLst/>
          </a:prstGeom>
        </p:spPr>
      </p:pic>
      <p:sp>
        <p:nvSpPr>
          <p:cNvPr id="13" name="TextBox 12"/>
          <p:cNvSpPr txBox="1"/>
          <p:nvPr/>
        </p:nvSpPr>
        <p:spPr>
          <a:xfrm>
            <a:off x="609601" y="4369221"/>
            <a:ext cx="2809701" cy="1107996"/>
          </a:xfrm>
          <a:prstGeom prst="rect">
            <a:avLst/>
          </a:prstGeom>
          <a:noFill/>
          <a:ln w="28575">
            <a:solidFill>
              <a:schemeClr val="tx1"/>
            </a:solidFill>
          </a:ln>
        </p:spPr>
        <p:txBody>
          <a:bodyPr wrap="square" rtlCol="0">
            <a:spAutoFit/>
          </a:bodyPr>
          <a:lstStyle/>
          <a:p>
            <a:pPr algn="ctr"/>
            <a:r>
              <a:rPr lang="en-AU" sz="2200" dirty="0" smtClean="0"/>
              <a:t>Residuals are random (some above and some below)</a:t>
            </a:r>
            <a:endParaRPr lang="en-AU" sz="2200" dirty="0"/>
          </a:p>
        </p:txBody>
      </p:sp>
      <p:sp>
        <p:nvSpPr>
          <p:cNvPr id="15" name="TextBox 14"/>
          <p:cNvSpPr txBox="1"/>
          <p:nvPr/>
        </p:nvSpPr>
        <p:spPr>
          <a:xfrm>
            <a:off x="4763192" y="4369221"/>
            <a:ext cx="2809701" cy="1785104"/>
          </a:xfrm>
          <a:prstGeom prst="rect">
            <a:avLst/>
          </a:prstGeom>
          <a:noFill/>
          <a:ln w="28575">
            <a:solidFill>
              <a:schemeClr val="tx1"/>
            </a:solidFill>
          </a:ln>
        </p:spPr>
        <p:txBody>
          <a:bodyPr wrap="square" rtlCol="0">
            <a:spAutoFit/>
          </a:bodyPr>
          <a:lstStyle/>
          <a:p>
            <a:pPr algn="ctr"/>
            <a:r>
              <a:rPr lang="en-AU" sz="2200" dirty="0" smtClean="0"/>
              <a:t>Residuals are increasingly negative for high and low values and positive in the middle</a:t>
            </a:r>
            <a:endParaRPr lang="en-AU" sz="2200" dirty="0"/>
          </a:p>
        </p:txBody>
      </p:sp>
      <p:sp>
        <p:nvSpPr>
          <p:cNvPr id="16" name="TextBox 15"/>
          <p:cNvSpPr txBox="1"/>
          <p:nvPr/>
        </p:nvSpPr>
        <p:spPr>
          <a:xfrm>
            <a:off x="9033164" y="4369221"/>
            <a:ext cx="2809701" cy="1446550"/>
          </a:xfrm>
          <a:prstGeom prst="rect">
            <a:avLst/>
          </a:prstGeom>
          <a:noFill/>
          <a:ln w="28575">
            <a:solidFill>
              <a:schemeClr val="tx1"/>
            </a:solidFill>
          </a:ln>
        </p:spPr>
        <p:txBody>
          <a:bodyPr wrap="square" rtlCol="0">
            <a:spAutoFit/>
          </a:bodyPr>
          <a:lstStyle/>
          <a:p>
            <a:pPr algn="ctr"/>
            <a:r>
              <a:rPr lang="en-AU" sz="2200" dirty="0" smtClean="0"/>
              <a:t>Residuals are negative in the middle and positive for high and low values</a:t>
            </a:r>
            <a:endParaRPr lang="en-AU" sz="2200" dirty="0"/>
          </a:p>
        </p:txBody>
      </p:sp>
    </p:spTree>
    <p:extLst>
      <p:ext uri="{BB962C8B-B14F-4D97-AF65-F5344CB8AC3E}">
        <p14:creationId xmlns:p14="http://schemas.microsoft.com/office/powerpoint/2010/main" val="1036923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443942" cy="461665"/>
          </a:xfrm>
          <a:prstGeom prst="rect">
            <a:avLst/>
          </a:prstGeom>
          <a:solidFill>
            <a:srgbClr val="FFFF00"/>
          </a:solidFill>
        </p:spPr>
        <p:txBody>
          <a:bodyPr wrap="square" rtlCol="0">
            <a:spAutoFit/>
          </a:bodyPr>
          <a:lstStyle/>
          <a:p>
            <a:r>
              <a:rPr lang="en-AU" sz="2400" dirty="0" smtClean="0"/>
              <a:t>Unit </a:t>
            </a:r>
            <a:r>
              <a:rPr lang="en-AU" sz="2400" smtClean="0"/>
              <a:t>3 Chapter 2C</a:t>
            </a:r>
            <a:endParaRPr lang="en-AU" sz="2400" dirty="0"/>
          </a:p>
        </p:txBody>
      </p:sp>
      <p:pic>
        <p:nvPicPr>
          <p:cNvPr id="3" name="Picture 2"/>
          <p:cNvPicPr>
            <a:picLocks noChangeAspect="1"/>
          </p:cNvPicPr>
          <p:nvPr/>
        </p:nvPicPr>
        <p:blipFill>
          <a:blip r:embed="rId2"/>
          <a:stretch>
            <a:fillRect/>
          </a:stretch>
        </p:blipFill>
        <p:spPr>
          <a:xfrm>
            <a:off x="7786255" y="1377364"/>
            <a:ext cx="3790950" cy="3286125"/>
          </a:xfrm>
          <a:prstGeom prst="rect">
            <a:avLst/>
          </a:prstGeom>
        </p:spPr>
      </p:pic>
      <mc:AlternateContent xmlns:mc="http://schemas.openxmlformats.org/markup-compatibility/2006">
        <mc:Choice xmlns:a14="http://schemas.microsoft.com/office/drawing/2010/main" Requires="a14">
          <p:sp>
            <p:nvSpPr>
              <p:cNvPr id="6" name="TextBox 5"/>
              <p:cNvSpPr txBox="1"/>
              <p:nvPr/>
            </p:nvSpPr>
            <p:spPr>
              <a:xfrm>
                <a:off x="88667" y="512509"/>
                <a:ext cx="10296698" cy="769441"/>
              </a:xfrm>
              <a:prstGeom prst="rect">
                <a:avLst/>
              </a:prstGeom>
              <a:noFill/>
            </p:spPr>
            <p:txBody>
              <a:bodyPr wrap="square" rtlCol="0">
                <a:spAutoFit/>
              </a:bodyPr>
              <a:lstStyle/>
              <a:p>
                <a:r>
                  <a:rPr lang="en-AU" sz="2200" dirty="0" smtClean="0"/>
                  <a:t>Our </a:t>
                </a:r>
                <a:r>
                  <a:rPr lang="en-AU" sz="2200" dirty="0" err="1" smtClean="0"/>
                  <a:t>ClassPad</a:t>
                </a:r>
                <a:r>
                  <a:rPr lang="en-AU" sz="2200" dirty="0" smtClean="0"/>
                  <a:t> display gives the equation of the line of best fit, but also gives values for ‘</a:t>
                </a:r>
                <a14:m>
                  <m:oMath xmlns:m="http://schemas.openxmlformats.org/officeDocument/2006/math">
                    <m:r>
                      <a:rPr lang="en-AU" sz="2200" i="1" dirty="0" smtClean="0">
                        <a:latin typeface="Cambria Math" panose="02040503050406030204" pitchFamily="18" charset="0"/>
                      </a:rPr>
                      <m:t>𝑟</m:t>
                    </m:r>
                  </m:oMath>
                </a14:m>
                <a:r>
                  <a:rPr lang="en-AU" sz="2200" dirty="0" smtClean="0"/>
                  <a:t>’, the correlation coefficient, and ‘</a:t>
                </a:r>
                <a14:m>
                  <m:oMath xmlns:m="http://schemas.openxmlformats.org/officeDocument/2006/math">
                    <m:sSup>
                      <m:sSupPr>
                        <m:ctrlPr>
                          <a:rPr lang="en-AU" sz="2200" i="1" smtClean="0">
                            <a:latin typeface="Cambria Math" panose="02040503050406030204" pitchFamily="18" charset="0"/>
                          </a:rPr>
                        </m:ctrlPr>
                      </m:sSupPr>
                      <m:e>
                        <m:r>
                          <a:rPr lang="en-AU" sz="2200" b="0" i="1" smtClean="0">
                            <a:latin typeface="Cambria Math" panose="02040503050406030204" pitchFamily="18" charset="0"/>
                          </a:rPr>
                          <m:t>𝑟</m:t>
                        </m:r>
                      </m:e>
                      <m:sup>
                        <m:r>
                          <a:rPr lang="en-AU" sz="2200" b="0" i="1" smtClean="0">
                            <a:latin typeface="Cambria Math" panose="02040503050406030204" pitchFamily="18" charset="0"/>
                          </a:rPr>
                          <m:t>2</m:t>
                        </m:r>
                      </m:sup>
                    </m:sSup>
                  </m:oMath>
                </a14:m>
                <a:r>
                  <a:rPr lang="en-AU" sz="2200" dirty="0" smtClean="0"/>
                  <a:t>’, the coefficient of determination.</a:t>
                </a:r>
                <a:endParaRPr lang="en-AU" sz="2200" dirty="0"/>
              </a:p>
            </p:txBody>
          </p:sp>
        </mc:Choice>
        <mc:Fallback>
          <p:sp>
            <p:nvSpPr>
              <p:cNvPr id="6" name="TextBox 5"/>
              <p:cNvSpPr txBox="1">
                <a:spLocks noRot="1" noChangeAspect="1" noMove="1" noResize="1" noEditPoints="1" noAdjustHandles="1" noChangeArrowheads="1" noChangeShapeType="1" noTextEdit="1"/>
              </p:cNvSpPr>
              <p:nvPr/>
            </p:nvSpPr>
            <p:spPr>
              <a:xfrm>
                <a:off x="88667" y="512509"/>
                <a:ext cx="10296698" cy="769441"/>
              </a:xfrm>
              <a:prstGeom prst="rect">
                <a:avLst/>
              </a:prstGeom>
              <a:blipFill>
                <a:blip r:embed="rId3"/>
                <a:stretch>
                  <a:fillRect l="-770" t="-5556" r="-888" b="-15873"/>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5" name="TextBox 4"/>
              <p:cNvSpPr txBox="1"/>
              <p:nvPr/>
            </p:nvSpPr>
            <p:spPr>
              <a:xfrm>
                <a:off x="88667" y="1523999"/>
                <a:ext cx="7448205" cy="1446550"/>
              </a:xfrm>
              <a:prstGeom prst="rect">
                <a:avLst/>
              </a:prstGeom>
              <a:noFill/>
            </p:spPr>
            <p:txBody>
              <a:bodyPr wrap="square" rtlCol="0">
                <a:spAutoFit/>
              </a:bodyPr>
              <a:lstStyle/>
              <a:p>
                <a:r>
                  <a:rPr lang="en-AU" sz="2200" dirty="0" smtClean="0"/>
                  <a:t>The scatter graph here shows the cooking times for joints of meat based on their weights. As it shows a perfect positive linear relationship, the </a:t>
                </a:r>
                <a14:m>
                  <m:oMath xmlns:m="http://schemas.openxmlformats.org/officeDocument/2006/math">
                    <m:r>
                      <a:rPr lang="en-AU" sz="2200" b="0" i="0" smtClean="0">
                        <a:latin typeface="Cambria Math" panose="02040503050406030204" pitchFamily="18" charset="0"/>
                      </a:rPr>
                      <m:t>′</m:t>
                    </m:r>
                    <m:r>
                      <a:rPr lang="en-AU" sz="2200" b="0" i="1" smtClean="0">
                        <a:latin typeface="Cambria Math" panose="02040503050406030204" pitchFamily="18" charset="0"/>
                      </a:rPr>
                      <m:t>𝑟</m:t>
                    </m:r>
                    <m:r>
                      <a:rPr lang="en-AU" sz="2200" b="0" i="1" smtClean="0">
                        <a:latin typeface="Cambria Math" panose="02040503050406030204" pitchFamily="18" charset="0"/>
                      </a:rPr>
                      <m:t>′</m:t>
                    </m:r>
                  </m:oMath>
                </a14:m>
                <a:r>
                  <a:rPr lang="en-AU" sz="2200" dirty="0" smtClean="0"/>
                  <a:t> value would be 1, as would the </a:t>
                </a:r>
                <a14:m>
                  <m:oMath xmlns:m="http://schemas.openxmlformats.org/officeDocument/2006/math">
                    <m:sSup>
                      <m:sSupPr>
                        <m:ctrlPr>
                          <a:rPr lang="en-AU" sz="2200" i="1" smtClean="0">
                            <a:latin typeface="Cambria Math" panose="02040503050406030204" pitchFamily="18" charset="0"/>
                          </a:rPr>
                        </m:ctrlPr>
                      </m:sSupPr>
                      <m:e>
                        <m:r>
                          <a:rPr lang="en-AU" sz="2200" b="0" i="1" smtClean="0">
                            <a:latin typeface="Cambria Math" panose="02040503050406030204" pitchFamily="18" charset="0"/>
                          </a:rPr>
                          <m:t>′</m:t>
                        </m:r>
                        <m:r>
                          <a:rPr lang="en-AU" sz="2200" b="0" i="1" smtClean="0">
                            <a:latin typeface="Cambria Math" panose="02040503050406030204" pitchFamily="18" charset="0"/>
                          </a:rPr>
                          <m:t>𝑟</m:t>
                        </m:r>
                      </m:e>
                      <m:sup>
                        <m:r>
                          <a:rPr lang="en-AU" sz="2200" b="0" i="1" smtClean="0">
                            <a:latin typeface="Cambria Math" panose="02040503050406030204" pitchFamily="18" charset="0"/>
                          </a:rPr>
                          <m:t>2′</m:t>
                        </m:r>
                      </m:sup>
                    </m:sSup>
                  </m:oMath>
                </a14:m>
                <a:r>
                  <a:rPr lang="en-AU" sz="2200" dirty="0" smtClean="0"/>
                  <a:t> value as </a:t>
                </a:r>
                <a14:m>
                  <m:oMath xmlns:m="http://schemas.openxmlformats.org/officeDocument/2006/math">
                    <m:sSup>
                      <m:sSupPr>
                        <m:ctrlPr>
                          <a:rPr lang="en-AU" sz="2200" i="1" smtClean="0">
                            <a:latin typeface="Cambria Math" panose="02040503050406030204" pitchFamily="18" charset="0"/>
                          </a:rPr>
                        </m:ctrlPr>
                      </m:sSupPr>
                      <m:e>
                        <m:r>
                          <a:rPr lang="en-AU" sz="2200" b="0" i="1" smtClean="0">
                            <a:latin typeface="Cambria Math" panose="02040503050406030204" pitchFamily="18" charset="0"/>
                          </a:rPr>
                          <m:t>1</m:t>
                        </m:r>
                      </m:e>
                      <m:sup>
                        <m:r>
                          <a:rPr lang="en-AU" sz="2200" b="0" i="1" smtClean="0">
                            <a:latin typeface="Cambria Math" panose="02040503050406030204" pitchFamily="18" charset="0"/>
                          </a:rPr>
                          <m:t>2</m:t>
                        </m:r>
                      </m:sup>
                    </m:sSup>
                    <m:r>
                      <a:rPr lang="en-AU" sz="2200" b="0" i="1" smtClean="0">
                        <a:latin typeface="Cambria Math" panose="02040503050406030204" pitchFamily="18" charset="0"/>
                      </a:rPr>
                      <m:t>=1</m:t>
                    </m:r>
                  </m:oMath>
                </a14:m>
                <a:endParaRPr lang="en-AU" sz="2200" dirty="0"/>
              </a:p>
            </p:txBody>
          </p:sp>
        </mc:Choice>
        <mc:Fallback>
          <p:sp>
            <p:nvSpPr>
              <p:cNvPr id="5" name="TextBox 4"/>
              <p:cNvSpPr txBox="1">
                <a:spLocks noRot="1" noChangeAspect="1" noMove="1" noResize="1" noEditPoints="1" noAdjustHandles="1" noChangeArrowheads="1" noChangeShapeType="1" noTextEdit="1"/>
              </p:cNvSpPr>
              <p:nvPr/>
            </p:nvSpPr>
            <p:spPr>
              <a:xfrm>
                <a:off x="88667" y="1523999"/>
                <a:ext cx="7448205" cy="1446550"/>
              </a:xfrm>
              <a:prstGeom prst="rect">
                <a:avLst/>
              </a:prstGeom>
              <a:blipFill>
                <a:blip r:embed="rId4"/>
                <a:stretch>
                  <a:fillRect l="-1065" t="-2954" b="-7595"/>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7" name="TextBox 6"/>
              <p:cNvSpPr txBox="1"/>
              <p:nvPr/>
            </p:nvSpPr>
            <p:spPr>
              <a:xfrm>
                <a:off x="88667" y="3406114"/>
                <a:ext cx="7697588" cy="1446550"/>
              </a:xfrm>
              <a:prstGeom prst="rect">
                <a:avLst/>
              </a:prstGeom>
              <a:noFill/>
            </p:spPr>
            <p:txBody>
              <a:bodyPr wrap="square" rtlCol="0">
                <a:spAutoFit/>
              </a:bodyPr>
              <a:lstStyle/>
              <a:p>
                <a:r>
                  <a:rPr lang="en-AU" sz="2200" dirty="0" smtClean="0"/>
                  <a:t>The coefficient of determination, </a:t>
                </a:r>
                <a14:m>
                  <m:oMath xmlns:m="http://schemas.openxmlformats.org/officeDocument/2006/math">
                    <m:sSup>
                      <m:sSupPr>
                        <m:ctrlPr>
                          <a:rPr lang="en-AU" sz="2200" i="1">
                            <a:latin typeface="Cambria Math" panose="02040503050406030204" pitchFamily="18" charset="0"/>
                          </a:rPr>
                        </m:ctrlPr>
                      </m:sSupPr>
                      <m:e>
                        <m:r>
                          <a:rPr lang="en-AU" sz="2200" i="1">
                            <a:latin typeface="Cambria Math" panose="02040503050406030204" pitchFamily="18" charset="0"/>
                          </a:rPr>
                          <m:t>′</m:t>
                        </m:r>
                        <m:r>
                          <a:rPr lang="en-AU" sz="2200" i="1">
                            <a:latin typeface="Cambria Math" panose="02040503050406030204" pitchFamily="18" charset="0"/>
                          </a:rPr>
                          <m:t>𝑟</m:t>
                        </m:r>
                      </m:e>
                      <m:sup>
                        <m:r>
                          <a:rPr lang="en-AU" sz="2200" i="1">
                            <a:latin typeface="Cambria Math" panose="02040503050406030204" pitchFamily="18" charset="0"/>
                          </a:rPr>
                          <m:t>2′</m:t>
                        </m:r>
                      </m:sup>
                    </m:sSup>
                  </m:oMath>
                </a14:m>
                <a:r>
                  <a:rPr lang="en-AU" sz="2200" dirty="0" smtClean="0"/>
                  <a:t> tells us how much of the variation in cooking time is explained by the relationship between the two variables. Here, 100% of the variation in cooking time is explained by the relationship between weight and cooking time.</a:t>
                </a:r>
                <a:endParaRPr lang="en-AU" sz="2200" dirty="0"/>
              </a:p>
            </p:txBody>
          </p:sp>
        </mc:Choice>
        <mc:Fallback>
          <p:sp>
            <p:nvSpPr>
              <p:cNvPr id="7" name="TextBox 6"/>
              <p:cNvSpPr txBox="1">
                <a:spLocks noRot="1" noChangeAspect="1" noMove="1" noResize="1" noEditPoints="1" noAdjustHandles="1" noChangeArrowheads="1" noChangeShapeType="1" noTextEdit="1"/>
              </p:cNvSpPr>
              <p:nvPr/>
            </p:nvSpPr>
            <p:spPr>
              <a:xfrm>
                <a:off x="88667" y="3406114"/>
                <a:ext cx="7697588" cy="1446550"/>
              </a:xfrm>
              <a:prstGeom prst="rect">
                <a:avLst/>
              </a:prstGeom>
              <a:blipFill>
                <a:blip r:embed="rId5"/>
                <a:stretch>
                  <a:fillRect l="-1030" t="-2954" r="-951" b="-7595"/>
                </a:stretch>
              </a:blipFill>
            </p:spPr>
            <p:txBody>
              <a:bodyPr/>
              <a:lstStyle/>
              <a:p>
                <a:r>
                  <a:rPr lang="en-AU">
                    <a:noFill/>
                  </a:rPr>
                  <a:t> </a:t>
                </a:r>
              </a:p>
            </p:txBody>
          </p:sp>
        </mc:Fallback>
      </mc:AlternateContent>
    </p:spTree>
    <p:extLst>
      <p:ext uri="{BB962C8B-B14F-4D97-AF65-F5344CB8AC3E}">
        <p14:creationId xmlns:p14="http://schemas.microsoft.com/office/powerpoint/2010/main" val="2572637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443942" cy="461665"/>
          </a:xfrm>
          <a:prstGeom prst="rect">
            <a:avLst/>
          </a:prstGeom>
          <a:solidFill>
            <a:srgbClr val="FFFF00"/>
          </a:solidFill>
        </p:spPr>
        <p:txBody>
          <a:bodyPr wrap="square" rtlCol="0">
            <a:spAutoFit/>
          </a:bodyPr>
          <a:lstStyle/>
          <a:p>
            <a:r>
              <a:rPr lang="en-AU" sz="2400" dirty="0" smtClean="0"/>
              <a:t>Unit </a:t>
            </a:r>
            <a:r>
              <a:rPr lang="en-AU" sz="2400" smtClean="0"/>
              <a:t>3 Chapter 2C</a:t>
            </a:r>
            <a:endParaRPr lang="en-AU" sz="2400" dirty="0"/>
          </a:p>
        </p:txBody>
      </p:sp>
      <p:pic>
        <p:nvPicPr>
          <p:cNvPr id="4" name="Picture 3"/>
          <p:cNvPicPr>
            <a:picLocks noChangeAspect="1"/>
          </p:cNvPicPr>
          <p:nvPr/>
        </p:nvPicPr>
        <p:blipFill>
          <a:blip r:embed="rId2"/>
          <a:stretch>
            <a:fillRect/>
          </a:stretch>
        </p:blipFill>
        <p:spPr>
          <a:xfrm>
            <a:off x="6899564" y="290591"/>
            <a:ext cx="4962525" cy="4324350"/>
          </a:xfrm>
          <a:prstGeom prst="rect">
            <a:avLst/>
          </a:prstGeom>
        </p:spPr>
      </p:pic>
      <mc:AlternateContent xmlns:mc="http://schemas.openxmlformats.org/markup-compatibility/2006">
        <mc:Choice xmlns:a14="http://schemas.microsoft.com/office/drawing/2010/main" Requires="a14">
          <p:sp>
            <p:nvSpPr>
              <p:cNvPr id="8" name="TextBox 7"/>
              <p:cNvSpPr txBox="1"/>
              <p:nvPr/>
            </p:nvSpPr>
            <p:spPr>
              <a:xfrm>
                <a:off x="182880" y="692727"/>
                <a:ext cx="6716684" cy="5509200"/>
              </a:xfrm>
              <a:prstGeom prst="rect">
                <a:avLst/>
              </a:prstGeom>
              <a:noFill/>
            </p:spPr>
            <p:txBody>
              <a:bodyPr wrap="square" rtlCol="0">
                <a:spAutoFit/>
              </a:bodyPr>
              <a:lstStyle/>
              <a:p>
                <a:r>
                  <a:rPr lang="en-AU" sz="2200" dirty="0" smtClean="0"/>
                  <a:t>Going back to our food consumption and heart disease example, we get:</a:t>
                </a:r>
              </a:p>
              <a:p>
                <a:endParaRPr lang="en-AU" sz="2200" dirty="0"/>
              </a:p>
              <a:p>
                <a:r>
                  <a:rPr lang="en-AU" sz="2200" dirty="0" smtClean="0"/>
                  <a:t>Least squares regression line: </a:t>
                </a:r>
                <a14:m>
                  <m:oMath xmlns:m="http://schemas.openxmlformats.org/officeDocument/2006/math">
                    <m:r>
                      <a:rPr lang="en-AU" sz="2200" b="0" i="1" smtClean="0">
                        <a:latin typeface="Cambria Math" panose="02040503050406030204" pitchFamily="18" charset="0"/>
                      </a:rPr>
                      <m:t>𝑦</m:t>
                    </m:r>
                    <m:r>
                      <a:rPr lang="en-AU" sz="2200" b="0" i="1" smtClean="0">
                        <a:latin typeface="Cambria Math" panose="02040503050406030204" pitchFamily="18" charset="0"/>
                      </a:rPr>
                      <m:t>=3.1</m:t>
                    </m:r>
                    <m:r>
                      <a:rPr lang="en-AU" sz="2200" b="0" i="1" smtClean="0">
                        <a:latin typeface="Cambria Math" panose="02040503050406030204" pitchFamily="18" charset="0"/>
                      </a:rPr>
                      <m:t>𝑥</m:t>
                    </m:r>
                    <m:r>
                      <a:rPr lang="en-AU" sz="2200" b="0" i="1" smtClean="0">
                        <a:latin typeface="Cambria Math" panose="02040503050406030204" pitchFamily="18" charset="0"/>
                      </a:rPr>
                      <m:t>+90.9</m:t>
                    </m:r>
                  </m:oMath>
                </a14:m>
                <a:endParaRPr lang="en-AU" sz="2200" b="0" dirty="0" smtClean="0"/>
              </a:p>
              <a:p>
                <a:r>
                  <a:rPr lang="en-AU" sz="2200" dirty="0" smtClean="0"/>
                  <a:t>(Equation of the line of best fit)</a:t>
                </a:r>
                <a:endParaRPr lang="en-AU" sz="2200" b="0" dirty="0" smtClean="0"/>
              </a:p>
              <a:p>
                <a:endParaRPr lang="en-AU" sz="2200" dirty="0" smtClean="0"/>
              </a:p>
              <a:p>
                <a:r>
                  <a:rPr lang="en-AU" sz="2200" dirty="0" smtClean="0"/>
                  <a:t>Pearson correlation coefficient: </a:t>
                </a:r>
                <a14:m>
                  <m:oMath xmlns:m="http://schemas.openxmlformats.org/officeDocument/2006/math">
                    <m:r>
                      <a:rPr lang="en-AU" sz="2200" b="0" i="1" smtClean="0">
                        <a:latin typeface="Cambria Math" panose="02040503050406030204" pitchFamily="18" charset="0"/>
                      </a:rPr>
                      <m:t>𝑟</m:t>
                    </m:r>
                    <m:r>
                      <a:rPr lang="en-AU" sz="2200" b="0" i="1" smtClean="0">
                        <a:latin typeface="Cambria Math" panose="02040503050406030204" pitchFamily="18" charset="0"/>
                      </a:rPr>
                      <m:t>=0.823</m:t>
                    </m:r>
                  </m:oMath>
                </a14:m>
                <a:endParaRPr lang="en-AU" sz="2200" dirty="0" smtClean="0"/>
              </a:p>
              <a:p>
                <a:r>
                  <a:rPr lang="en-AU" sz="2200" dirty="0" smtClean="0"/>
                  <a:t>(Showing strong positive linear correlation)</a:t>
                </a:r>
              </a:p>
              <a:p>
                <a:endParaRPr lang="en-AU" sz="2200" dirty="0"/>
              </a:p>
              <a:p>
                <a:r>
                  <a:rPr lang="en-AU" sz="2200" dirty="0" smtClean="0"/>
                  <a:t>Coefficient of determination: </a:t>
                </a:r>
                <a14:m>
                  <m:oMath xmlns:m="http://schemas.openxmlformats.org/officeDocument/2006/math">
                    <m:sSup>
                      <m:sSupPr>
                        <m:ctrlPr>
                          <a:rPr lang="en-AU" sz="2200" i="1" smtClean="0">
                            <a:latin typeface="Cambria Math" panose="02040503050406030204" pitchFamily="18" charset="0"/>
                          </a:rPr>
                        </m:ctrlPr>
                      </m:sSupPr>
                      <m:e>
                        <m:r>
                          <a:rPr lang="en-AU" sz="2200" b="0" i="1" smtClean="0">
                            <a:latin typeface="Cambria Math" panose="02040503050406030204" pitchFamily="18" charset="0"/>
                          </a:rPr>
                          <m:t>𝑟</m:t>
                        </m:r>
                      </m:e>
                      <m:sup>
                        <m:r>
                          <a:rPr lang="en-AU" sz="2200" b="0" i="1" smtClean="0">
                            <a:latin typeface="Cambria Math" panose="02040503050406030204" pitchFamily="18" charset="0"/>
                          </a:rPr>
                          <m:t>2</m:t>
                        </m:r>
                      </m:sup>
                    </m:sSup>
                    <m:r>
                      <a:rPr lang="en-AU" sz="2200" b="0" i="1" smtClean="0">
                        <a:latin typeface="Cambria Math" panose="02040503050406030204" pitchFamily="18" charset="0"/>
                      </a:rPr>
                      <m:t>=0.677</m:t>
                    </m:r>
                  </m:oMath>
                </a14:m>
                <a:endParaRPr lang="en-AU" sz="2200" b="0" dirty="0" smtClean="0"/>
              </a:p>
              <a:p>
                <a:endParaRPr lang="en-AU" sz="2200" dirty="0" smtClean="0"/>
              </a:p>
              <a:p>
                <a:r>
                  <a:rPr lang="en-AU" sz="2200" dirty="0" smtClean="0"/>
                  <a:t>The coefficient of determination tells us what proportion of variation in heart disease death rates is explained by the variation in food consumption. So in this case, approximately 68% of variation in heart disease death rates is explained by variations in food consumption.</a:t>
                </a:r>
                <a:endParaRPr lang="en-AU" sz="2200" dirty="0"/>
              </a:p>
            </p:txBody>
          </p:sp>
        </mc:Choice>
        <mc:Fallback>
          <p:sp>
            <p:nvSpPr>
              <p:cNvPr id="8" name="TextBox 7"/>
              <p:cNvSpPr txBox="1">
                <a:spLocks noRot="1" noChangeAspect="1" noMove="1" noResize="1" noEditPoints="1" noAdjustHandles="1" noChangeArrowheads="1" noChangeShapeType="1" noTextEdit="1"/>
              </p:cNvSpPr>
              <p:nvPr/>
            </p:nvSpPr>
            <p:spPr>
              <a:xfrm>
                <a:off x="182880" y="692727"/>
                <a:ext cx="6716684" cy="5509200"/>
              </a:xfrm>
              <a:prstGeom prst="rect">
                <a:avLst/>
              </a:prstGeom>
              <a:blipFill>
                <a:blip r:embed="rId3"/>
                <a:stretch>
                  <a:fillRect l="-1180" t="-775" r="-635" b="-1329"/>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11" name="TextBox 10"/>
              <p:cNvSpPr txBox="1"/>
              <p:nvPr/>
            </p:nvSpPr>
            <p:spPr>
              <a:xfrm>
                <a:off x="7308574" y="5057277"/>
                <a:ext cx="4406348" cy="1107996"/>
              </a:xfrm>
              <a:prstGeom prst="rect">
                <a:avLst/>
              </a:prstGeom>
              <a:solidFill>
                <a:srgbClr val="FFFF00"/>
              </a:solidFill>
              <a:ln>
                <a:solidFill>
                  <a:schemeClr val="tx1"/>
                </a:solidFill>
              </a:ln>
            </p:spPr>
            <p:txBody>
              <a:bodyPr wrap="square" rtlCol="0">
                <a:spAutoFit/>
              </a:bodyPr>
              <a:lstStyle/>
              <a:p>
                <a:pPr algn="ctr"/>
                <a:r>
                  <a:rPr lang="en-AU" sz="2200" b="1" dirty="0" smtClean="0"/>
                  <a:t>We are still saying ‘explained by’, not ‘caused by’. Remember: correlation </a:t>
                </a:r>
                <a14:m>
                  <m:oMath xmlns:m="http://schemas.openxmlformats.org/officeDocument/2006/math">
                    <m:r>
                      <a:rPr lang="en-AU" sz="2200" b="1" i="1" smtClean="0">
                        <a:latin typeface="Cambria Math" panose="02040503050406030204" pitchFamily="18" charset="0"/>
                        <a:ea typeface="Cambria Math" panose="02040503050406030204" pitchFamily="18" charset="0"/>
                      </a:rPr>
                      <m:t>≠</m:t>
                    </m:r>
                  </m:oMath>
                </a14:m>
                <a:r>
                  <a:rPr lang="en-AU" sz="2200" b="1" dirty="0" smtClean="0"/>
                  <a:t> causation!</a:t>
                </a:r>
                <a:endParaRPr lang="en-AU" sz="2200" b="1" dirty="0"/>
              </a:p>
            </p:txBody>
          </p:sp>
        </mc:Choice>
        <mc:Fallback>
          <p:sp>
            <p:nvSpPr>
              <p:cNvPr id="11" name="TextBox 10"/>
              <p:cNvSpPr txBox="1">
                <a:spLocks noRot="1" noChangeAspect="1" noMove="1" noResize="1" noEditPoints="1" noAdjustHandles="1" noChangeArrowheads="1" noChangeShapeType="1" noTextEdit="1"/>
              </p:cNvSpPr>
              <p:nvPr/>
            </p:nvSpPr>
            <p:spPr>
              <a:xfrm>
                <a:off x="7308574" y="5057277"/>
                <a:ext cx="4406348" cy="1107996"/>
              </a:xfrm>
              <a:prstGeom prst="rect">
                <a:avLst/>
              </a:prstGeom>
              <a:blipFill>
                <a:blip r:embed="rId4"/>
                <a:stretch>
                  <a:fillRect t="-3279" b="-9836"/>
                </a:stretch>
              </a:blipFill>
              <a:ln>
                <a:solidFill>
                  <a:schemeClr val="tx1"/>
                </a:solidFill>
              </a:ln>
            </p:spPr>
            <p:txBody>
              <a:bodyPr/>
              <a:lstStyle/>
              <a:p>
                <a:r>
                  <a:rPr lang="en-AU">
                    <a:noFill/>
                  </a:rPr>
                  <a:t> </a:t>
                </a:r>
              </a:p>
            </p:txBody>
          </p:sp>
        </mc:Fallback>
      </mc:AlternateContent>
    </p:spTree>
    <p:extLst>
      <p:ext uri="{BB962C8B-B14F-4D97-AF65-F5344CB8AC3E}">
        <p14:creationId xmlns:p14="http://schemas.microsoft.com/office/powerpoint/2010/main" val="2257212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443942" cy="461665"/>
          </a:xfrm>
          <a:prstGeom prst="rect">
            <a:avLst/>
          </a:prstGeom>
          <a:solidFill>
            <a:srgbClr val="FFFF00"/>
          </a:solidFill>
        </p:spPr>
        <p:txBody>
          <a:bodyPr wrap="square" rtlCol="0">
            <a:spAutoFit/>
          </a:bodyPr>
          <a:lstStyle/>
          <a:p>
            <a:r>
              <a:rPr lang="en-AU" sz="2400" dirty="0" smtClean="0"/>
              <a:t>Unit </a:t>
            </a:r>
            <a:r>
              <a:rPr lang="en-AU" sz="2400" smtClean="0"/>
              <a:t>3 Chapter 2C</a:t>
            </a:r>
            <a:endParaRPr lang="en-AU" sz="2400" dirty="0"/>
          </a:p>
        </p:txBody>
      </p:sp>
      <p:pic>
        <p:nvPicPr>
          <p:cNvPr id="3" name="Picture 2"/>
          <p:cNvPicPr>
            <a:picLocks noChangeAspect="1"/>
          </p:cNvPicPr>
          <p:nvPr/>
        </p:nvPicPr>
        <p:blipFill>
          <a:blip r:embed="rId2"/>
          <a:stretch>
            <a:fillRect/>
          </a:stretch>
        </p:blipFill>
        <p:spPr>
          <a:xfrm>
            <a:off x="155506" y="1712506"/>
            <a:ext cx="6782008" cy="684619"/>
          </a:xfrm>
          <a:prstGeom prst="rect">
            <a:avLst/>
          </a:prstGeom>
        </p:spPr>
      </p:pic>
      <p:pic>
        <p:nvPicPr>
          <p:cNvPr id="4" name="Picture 3"/>
          <p:cNvPicPr>
            <a:picLocks noChangeAspect="1"/>
          </p:cNvPicPr>
          <p:nvPr/>
        </p:nvPicPr>
        <p:blipFill>
          <a:blip r:embed="rId3"/>
          <a:stretch>
            <a:fillRect/>
          </a:stretch>
        </p:blipFill>
        <p:spPr>
          <a:xfrm>
            <a:off x="7851822" y="1471806"/>
            <a:ext cx="3476625" cy="3343275"/>
          </a:xfrm>
          <a:prstGeom prst="rect">
            <a:avLst/>
          </a:prstGeom>
        </p:spPr>
      </p:pic>
      <mc:AlternateContent xmlns:mc="http://schemas.openxmlformats.org/markup-compatibility/2006">
        <mc:Choice xmlns:a14="http://schemas.microsoft.com/office/drawing/2010/main" Requires="a14">
          <p:sp>
            <p:nvSpPr>
              <p:cNvPr id="5" name="TextBox 4"/>
              <p:cNvSpPr txBox="1"/>
              <p:nvPr/>
            </p:nvSpPr>
            <p:spPr>
              <a:xfrm>
                <a:off x="238539" y="702365"/>
                <a:ext cx="9872870" cy="769441"/>
              </a:xfrm>
              <a:prstGeom prst="rect">
                <a:avLst/>
              </a:prstGeom>
              <a:noFill/>
            </p:spPr>
            <p:txBody>
              <a:bodyPr wrap="square" rtlCol="0">
                <a:spAutoFit/>
              </a:bodyPr>
              <a:lstStyle/>
              <a:p>
                <a:r>
                  <a:rPr lang="en-AU" sz="2200" dirty="0" smtClean="0"/>
                  <a:t>Draw a scatterplot for the following data, calculate the least squares regression line, values of </a:t>
                </a:r>
                <a14:m>
                  <m:oMath xmlns:m="http://schemas.openxmlformats.org/officeDocument/2006/math">
                    <m:r>
                      <a:rPr lang="en-AU" sz="2200" b="0" i="0" smtClean="0">
                        <a:latin typeface="Cambria Math" panose="02040503050406030204" pitchFamily="18" charset="0"/>
                      </a:rPr>
                      <m:t>′</m:t>
                    </m:r>
                    <m:r>
                      <a:rPr lang="en-AU" sz="2200" b="0" i="1" smtClean="0">
                        <a:latin typeface="Cambria Math" panose="02040503050406030204" pitchFamily="18" charset="0"/>
                      </a:rPr>
                      <m:t>𝑟</m:t>
                    </m:r>
                    <m:r>
                      <a:rPr lang="en-AU" sz="2200" b="0" i="1" smtClean="0">
                        <a:latin typeface="Cambria Math" panose="02040503050406030204" pitchFamily="18" charset="0"/>
                      </a:rPr>
                      <m:t>′</m:t>
                    </m:r>
                  </m:oMath>
                </a14:m>
                <a:r>
                  <a:rPr lang="en-AU" sz="2200" dirty="0" smtClean="0"/>
                  <a:t> and </a:t>
                </a:r>
                <a14:m>
                  <m:oMath xmlns:m="http://schemas.openxmlformats.org/officeDocument/2006/math">
                    <m:sSup>
                      <m:sSupPr>
                        <m:ctrlPr>
                          <a:rPr lang="en-AU" sz="2200" i="1" smtClean="0">
                            <a:latin typeface="Cambria Math" panose="02040503050406030204" pitchFamily="18" charset="0"/>
                          </a:rPr>
                        </m:ctrlPr>
                      </m:sSupPr>
                      <m:e>
                        <m:r>
                          <a:rPr lang="en-AU" sz="2200" b="0" i="1" smtClean="0">
                            <a:latin typeface="Cambria Math" panose="02040503050406030204" pitchFamily="18" charset="0"/>
                          </a:rPr>
                          <m:t>′</m:t>
                        </m:r>
                        <m:r>
                          <a:rPr lang="en-AU" sz="2200" b="0" i="1" smtClean="0">
                            <a:latin typeface="Cambria Math" panose="02040503050406030204" pitchFamily="18" charset="0"/>
                          </a:rPr>
                          <m:t>𝑟</m:t>
                        </m:r>
                      </m:e>
                      <m:sup>
                        <m:r>
                          <a:rPr lang="en-AU" sz="2200" b="0" i="1" smtClean="0">
                            <a:latin typeface="Cambria Math" panose="02040503050406030204" pitchFamily="18" charset="0"/>
                          </a:rPr>
                          <m:t>2′</m:t>
                        </m:r>
                      </m:sup>
                    </m:sSup>
                  </m:oMath>
                </a14:m>
                <a:r>
                  <a:rPr lang="en-AU" sz="2200" dirty="0" smtClean="0"/>
                  <a:t> to 2 decimal places and interpret the values.</a:t>
                </a:r>
                <a:endParaRPr lang="en-AU" sz="2200" dirty="0"/>
              </a:p>
            </p:txBody>
          </p:sp>
        </mc:Choice>
        <mc:Fallback>
          <p:sp>
            <p:nvSpPr>
              <p:cNvPr id="5" name="TextBox 4"/>
              <p:cNvSpPr txBox="1">
                <a:spLocks noRot="1" noChangeAspect="1" noMove="1" noResize="1" noEditPoints="1" noAdjustHandles="1" noChangeArrowheads="1" noChangeShapeType="1" noTextEdit="1"/>
              </p:cNvSpPr>
              <p:nvPr/>
            </p:nvSpPr>
            <p:spPr>
              <a:xfrm>
                <a:off x="238539" y="702365"/>
                <a:ext cx="9872870" cy="769441"/>
              </a:xfrm>
              <a:prstGeom prst="rect">
                <a:avLst/>
              </a:prstGeom>
              <a:blipFill>
                <a:blip r:embed="rId4"/>
                <a:stretch>
                  <a:fillRect l="-802" t="-5556" b="-15873"/>
                </a:stretch>
              </a:blipFill>
            </p:spPr>
            <p:txBody>
              <a:bodyPr/>
              <a:lstStyle/>
              <a:p>
                <a:r>
                  <a:rPr lang="en-AU">
                    <a:noFill/>
                  </a:rPr>
                  <a:t> </a:t>
                </a:r>
              </a:p>
            </p:txBody>
          </p:sp>
        </mc:Fallback>
      </mc:AlternateContent>
      <p:pic>
        <p:nvPicPr>
          <p:cNvPr id="7" name="Picture 6"/>
          <p:cNvPicPr>
            <a:picLocks noChangeAspect="1"/>
          </p:cNvPicPr>
          <p:nvPr/>
        </p:nvPicPr>
        <p:blipFill>
          <a:blip r:embed="rId5"/>
          <a:stretch>
            <a:fillRect/>
          </a:stretch>
        </p:blipFill>
        <p:spPr>
          <a:xfrm>
            <a:off x="155506" y="2637825"/>
            <a:ext cx="3219450" cy="2314575"/>
          </a:xfrm>
          <a:prstGeom prst="rect">
            <a:avLst/>
          </a:prstGeom>
        </p:spPr>
      </p:pic>
      <mc:AlternateContent xmlns:mc="http://schemas.openxmlformats.org/markup-compatibility/2006">
        <mc:Choice xmlns:a14="http://schemas.microsoft.com/office/drawing/2010/main" Requires="a14">
          <p:sp>
            <p:nvSpPr>
              <p:cNvPr id="8" name="TextBox 7"/>
              <p:cNvSpPr txBox="1"/>
              <p:nvPr/>
            </p:nvSpPr>
            <p:spPr>
              <a:xfrm>
                <a:off x="3684104" y="2637825"/>
                <a:ext cx="4273826" cy="769441"/>
              </a:xfrm>
              <a:prstGeom prst="rect">
                <a:avLst/>
              </a:prstGeom>
              <a:noFill/>
            </p:spPr>
            <p:txBody>
              <a:bodyPr wrap="square" rtlCol="0">
                <a:spAutoFit/>
              </a:bodyPr>
              <a:lstStyle/>
              <a:p>
                <a:r>
                  <a:rPr lang="en-AU" sz="2200" dirty="0" smtClean="0"/>
                  <a:t>The least squares regression line is: </a:t>
                </a:r>
                <a14:m>
                  <m:oMath xmlns:m="http://schemas.openxmlformats.org/officeDocument/2006/math">
                    <m:r>
                      <a:rPr lang="en-AU" sz="2200" b="0" i="1" smtClean="0">
                        <a:latin typeface="Cambria Math" panose="02040503050406030204" pitchFamily="18" charset="0"/>
                      </a:rPr>
                      <m:t>𝑦</m:t>
                    </m:r>
                    <m:r>
                      <a:rPr lang="en-AU" sz="2200" b="0" i="1" smtClean="0">
                        <a:latin typeface="Cambria Math" panose="02040503050406030204" pitchFamily="18" charset="0"/>
                      </a:rPr>
                      <m:t>=−1.74</m:t>
                    </m:r>
                    <m:r>
                      <a:rPr lang="en-AU" sz="2200" b="0" i="1" smtClean="0">
                        <a:latin typeface="Cambria Math" panose="02040503050406030204" pitchFamily="18" charset="0"/>
                      </a:rPr>
                      <m:t>𝑥</m:t>
                    </m:r>
                    <m:r>
                      <a:rPr lang="en-AU" sz="2200" b="0" i="1" smtClean="0">
                        <a:latin typeface="Cambria Math" panose="02040503050406030204" pitchFamily="18" charset="0"/>
                      </a:rPr>
                      <m:t>+92.16</m:t>
                    </m:r>
                  </m:oMath>
                </a14:m>
                <a:endParaRPr lang="en-AU" sz="2200" dirty="0"/>
              </a:p>
            </p:txBody>
          </p:sp>
        </mc:Choice>
        <mc:Fallback>
          <p:sp>
            <p:nvSpPr>
              <p:cNvPr id="8" name="TextBox 7"/>
              <p:cNvSpPr txBox="1">
                <a:spLocks noRot="1" noChangeAspect="1" noMove="1" noResize="1" noEditPoints="1" noAdjustHandles="1" noChangeArrowheads="1" noChangeShapeType="1" noTextEdit="1"/>
              </p:cNvSpPr>
              <p:nvPr/>
            </p:nvSpPr>
            <p:spPr>
              <a:xfrm>
                <a:off x="3684104" y="2637825"/>
                <a:ext cx="4273826" cy="769441"/>
              </a:xfrm>
              <a:prstGeom prst="rect">
                <a:avLst/>
              </a:prstGeom>
              <a:blipFill>
                <a:blip r:embed="rId6"/>
                <a:stretch>
                  <a:fillRect l="-1854" t="-5556" r="-999" b="-4762"/>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10" name="TextBox 9"/>
              <p:cNvSpPr txBox="1"/>
              <p:nvPr/>
            </p:nvSpPr>
            <p:spPr>
              <a:xfrm>
                <a:off x="3737113" y="3396432"/>
                <a:ext cx="4273826" cy="1107996"/>
              </a:xfrm>
              <a:prstGeom prst="rect">
                <a:avLst/>
              </a:prstGeom>
              <a:noFill/>
            </p:spPr>
            <p:txBody>
              <a:bodyPr wrap="square" rtlCol="0">
                <a:spAutoFit/>
              </a:bodyPr>
              <a:lstStyle/>
              <a:p>
                <a14:m>
                  <m:oMath xmlns:m="http://schemas.openxmlformats.org/officeDocument/2006/math">
                    <m:r>
                      <a:rPr lang="en-AU" sz="2200" i="1" dirty="0" smtClean="0">
                        <a:latin typeface="Cambria Math" panose="02040503050406030204" pitchFamily="18" charset="0"/>
                      </a:rPr>
                      <m:t>𝑟</m:t>
                    </m:r>
                    <m:r>
                      <a:rPr lang="en-AU" sz="2200" b="0" i="1" dirty="0" smtClean="0">
                        <a:latin typeface="Cambria Math" panose="02040503050406030204" pitchFamily="18" charset="0"/>
                      </a:rPr>
                      <m:t>=−0.84</m:t>
                    </m:r>
                  </m:oMath>
                </a14:m>
                <a:r>
                  <a:rPr lang="en-AU" sz="2200" dirty="0" smtClean="0"/>
                  <a:t> which tells us that the two variables have a strong negative linear correlation</a:t>
                </a:r>
                <a:endParaRPr lang="en-AU" sz="2200" dirty="0"/>
              </a:p>
            </p:txBody>
          </p:sp>
        </mc:Choice>
        <mc:Fallback>
          <p:sp>
            <p:nvSpPr>
              <p:cNvPr id="10" name="TextBox 9"/>
              <p:cNvSpPr txBox="1">
                <a:spLocks noRot="1" noChangeAspect="1" noMove="1" noResize="1" noEditPoints="1" noAdjustHandles="1" noChangeArrowheads="1" noChangeShapeType="1" noTextEdit="1"/>
              </p:cNvSpPr>
              <p:nvPr/>
            </p:nvSpPr>
            <p:spPr>
              <a:xfrm>
                <a:off x="3737113" y="3396432"/>
                <a:ext cx="4273826" cy="1107996"/>
              </a:xfrm>
              <a:prstGeom prst="rect">
                <a:avLst/>
              </a:prstGeom>
              <a:blipFill>
                <a:blip r:embed="rId7"/>
                <a:stretch>
                  <a:fillRect l="-1854" t="-3846" b="-10440"/>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11" name="TextBox 10"/>
              <p:cNvSpPr txBox="1"/>
              <p:nvPr/>
            </p:nvSpPr>
            <p:spPr>
              <a:xfrm>
                <a:off x="3737113" y="4504428"/>
                <a:ext cx="4273826" cy="1446550"/>
              </a:xfrm>
              <a:prstGeom prst="rect">
                <a:avLst/>
              </a:prstGeom>
              <a:noFill/>
            </p:spPr>
            <p:txBody>
              <a:bodyPr wrap="square" rtlCol="0">
                <a:spAutoFit/>
              </a:bodyPr>
              <a:lstStyle/>
              <a:p>
                <a14:m>
                  <m:oMath xmlns:m="http://schemas.openxmlformats.org/officeDocument/2006/math">
                    <m:sSup>
                      <m:sSupPr>
                        <m:ctrlPr>
                          <a:rPr lang="en-AU" sz="2200" b="0" i="1" dirty="0" smtClean="0">
                            <a:latin typeface="Cambria Math" panose="02040503050406030204" pitchFamily="18" charset="0"/>
                          </a:rPr>
                        </m:ctrlPr>
                      </m:sSupPr>
                      <m:e>
                        <m:r>
                          <a:rPr lang="en-AU" sz="2200" b="0" i="1" dirty="0" smtClean="0">
                            <a:latin typeface="Cambria Math" panose="02040503050406030204" pitchFamily="18" charset="0"/>
                          </a:rPr>
                          <m:t>𝑟</m:t>
                        </m:r>
                      </m:e>
                      <m:sup>
                        <m:r>
                          <a:rPr lang="en-AU" sz="2200" b="0" i="1" dirty="0" smtClean="0">
                            <a:latin typeface="Cambria Math" panose="02040503050406030204" pitchFamily="18" charset="0"/>
                          </a:rPr>
                          <m:t>2</m:t>
                        </m:r>
                      </m:sup>
                    </m:sSup>
                    <m:r>
                      <a:rPr lang="en-AU" sz="2200" b="0" i="1" dirty="0" smtClean="0">
                        <a:latin typeface="Cambria Math" panose="02040503050406030204" pitchFamily="18" charset="0"/>
                      </a:rPr>
                      <m:t>=0.71</m:t>
                    </m:r>
                  </m:oMath>
                </a14:m>
                <a:r>
                  <a:rPr lang="en-AU" sz="2200" dirty="0" smtClean="0"/>
                  <a:t> which tells us that 71% of the variation in the variables is explained by the linear relationship between them</a:t>
                </a:r>
                <a:endParaRPr lang="en-AU" sz="2200" dirty="0"/>
              </a:p>
            </p:txBody>
          </p:sp>
        </mc:Choice>
        <mc:Fallback>
          <p:sp>
            <p:nvSpPr>
              <p:cNvPr id="11" name="TextBox 10"/>
              <p:cNvSpPr txBox="1">
                <a:spLocks noRot="1" noChangeAspect="1" noMove="1" noResize="1" noEditPoints="1" noAdjustHandles="1" noChangeArrowheads="1" noChangeShapeType="1" noTextEdit="1"/>
              </p:cNvSpPr>
              <p:nvPr/>
            </p:nvSpPr>
            <p:spPr>
              <a:xfrm>
                <a:off x="3737113" y="4504428"/>
                <a:ext cx="4273826" cy="1446550"/>
              </a:xfrm>
              <a:prstGeom prst="rect">
                <a:avLst/>
              </a:prstGeom>
              <a:blipFill>
                <a:blip r:embed="rId8"/>
                <a:stretch>
                  <a:fillRect l="-1854" t="-2954" r="-856" b="-7595"/>
                </a:stretch>
              </a:blipFill>
            </p:spPr>
            <p:txBody>
              <a:bodyPr/>
              <a:lstStyle/>
              <a:p>
                <a:r>
                  <a:rPr lang="en-AU">
                    <a:noFill/>
                  </a:rPr>
                  <a:t> </a:t>
                </a:r>
              </a:p>
            </p:txBody>
          </p:sp>
        </mc:Fallback>
      </mc:AlternateContent>
      <p:sp>
        <p:nvSpPr>
          <p:cNvPr id="12" name="TextBox 11"/>
          <p:cNvSpPr txBox="1"/>
          <p:nvPr/>
        </p:nvSpPr>
        <p:spPr>
          <a:xfrm>
            <a:off x="2829338" y="-1"/>
            <a:ext cx="2710071" cy="461665"/>
          </a:xfrm>
          <a:prstGeom prst="rect">
            <a:avLst/>
          </a:prstGeom>
          <a:solidFill>
            <a:srgbClr val="FFFF00"/>
          </a:solidFill>
        </p:spPr>
        <p:txBody>
          <a:bodyPr wrap="square" rtlCol="0">
            <a:spAutoFit/>
          </a:bodyPr>
          <a:lstStyle/>
          <a:p>
            <a:r>
              <a:rPr lang="en-AU" sz="2400" dirty="0" smtClean="0"/>
              <a:t>Now try Exercise 2C</a:t>
            </a:r>
            <a:endParaRPr lang="en-AU" sz="2400" dirty="0"/>
          </a:p>
        </p:txBody>
      </p:sp>
    </p:spTree>
    <p:extLst>
      <p:ext uri="{BB962C8B-B14F-4D97-AF65-F5344CB8AC3E}">
        <p14:creationId xmlns:p14="http://schemas.microsoft.com/office/powerpoint/2010/main" val="1218120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P spid="12"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422</TotalTime>
  <Words>769</Words>
  <Application>Microsoft Office PowerPoint</Application>
  <PresentationFormat>Widescreen</PresentationFormat>
  <Paragraphs>44</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LEVITT Megan [Harrisdale Senior High School]</dc:creator>
  <cp:lastModifiedBy>LEVITT Megan [Harrisdale Senior High School]</cp:lastModifiedBy>
  <cp:revision>24</cp:revision>
  <dcterms:created xsi:type="dcterms:W3CDTF">2021-06-15T06:02:12Z</dcterms:created>
  <dcterms:modified xsi:type="dcterms:W3CDTF">2021-11-18T04:27:30Z</dcterms:modified>
</cp:coreProperties>
</file>
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06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43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64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64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37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92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78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78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93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0257F-139A-4C64-8FF0-C28BA2020A88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D087-B4D1-44FD-A108-C1A3608A0F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71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0095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Chapter 1 Definitions – Types of data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23828" y="684092"/>
            <a:ext cx="8761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Secondary data:  data collected by someone else</a:t>
            </a:r>
          </a:p>
          <a:p>
            <a:r>
              <a:rPr lang="en-AU" sz="2400" b="1" dirty="0" smtClean="0"/>
              <a:t>Primary data: data collected by yourself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b="1" dirty="0" smtClean="0"/>
          </a:p>
          <a:p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23827" y="1995900"/>
            <a:ext cx="11725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Categorical data ( qualitative data): data which consists of categories (descriptive terms)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23827" y="1564535"/>
            <a:ext cx="11197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 data (quantitative data): data which consists of numerical values (numbers)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72273" y="3116482"/>
            <a:ext cx="876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number of students in a classroom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72273" y="3565559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height of a building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72273" y="4539613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weight of 5 bags of potting mix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23827" y="2685117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Examples of numerical data: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72273" y="4006231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How long it took to run the 800m race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922293" y="3125789"/>
            <a:ext cx="876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hair colour of students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5922293" y="3574866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street names in a town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5922293" y="4548920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People’s preferred brand of potting mix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5873847" y="2685117"/>
            <a:ext cx="8704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Examples of </a:t>
            </a:r>
            <a:r>
              <a:rPr lang="en-AU" sz="2400" b="1" dirty="0"/>
              <a:t>c</a:t>
            </a:r>
            <a:r>
              <a:rPr lang="en-AU" sz="2400" b="1" dirty="0" smtClean="0"/>
              <a:t>ategorical data: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922293" y="4015538"/>
            <a:ext cx="8143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How many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,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or 3</a:t>
            </a:r>
            <a:r>
              <a:rPr lang="en-AU" sz="2400" baseline="30000" dirty="0" smtClean="0"/>
              <a:t>rd</a:t>
            </a:r>
            <a:r>
              <a:rPr lang="en-AU" sz="2400" dirty="0" smtClean="0"/>
              <a:t> places were won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113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21151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Chapter 1 Definitions – Categorical data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8690" y="2071576"/>
            <a:ext cx="8761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Nominal data  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Refers to the name of something</a:t>
            </a:r>
          </a:p>
          <a:p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" y="3008792"/>
            <a:ext cx="55481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nominal data: the colour of a car, the model of a car, your suburb, your school, a subject you study, pass/fail on a test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690" y="703520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Categorical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Nominal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Ordinal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4657" y="2073130"/>
            <a:ext cx="8761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Ordinal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Refers to some order associated with the data</a:t>
            </a:r>
          </a:p>
          <a:p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789475" y="3008792"/>
            <a:ext cx="59815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 ordinal data: survey requiring an answer of agree/strongly agree/disagree, position in a running race (1</a:t>
            </a:r>
            <a:r>
              <a:rPr lang="en-AU" sz="2400" b="1" baseline="30000" dirty="0" smtClean="0">
                <a:solidFill>
                  <a:srgbClr val="FF0000"/>
                </a:solidFill>
              </a:rPr>
              <a:t>st</a:t>
            </a:r>
            <a:r>
              <a:rPr lang="en-AU" sz="2400" b="1" dirty="0" smtClean="0">
                <a:solidFill>
                  <a:srgbClr val="FF0000"/>
                </a:solidFill>
              </a:rPr>
              <a:t>, 2</a:t>
            </a:r>
            <a:r>
              <a:rPr lang="en-AU" sz="2400" b="1" baseline="30000" dirty="0" smtClean="0">
                <a:solidFill>
                  <a:srgbClr val="FF0000"/>
                </a:solidFill>
              </a:rPr>
              <a:t>nd</a:t>
            </a:r>
            <a:r>
              <a:rPr lang="en-AU" sz="2400" b="1" dirty="0" smtClean="0">
                <a:solidFill>
                  <a:srgbClr val="FF0000"/>
                </a:solidFill>
              </a:rPr>
              <a:t>, 3</a:t>
            </a:r>
            <a:r>
              <a:rPr lang="en-AU" sz="2400" b="1" baseline="30000" dirty="0" smtClean="0">
                <a:solidFill>
                  <a:srgbClr val="FF0000"/>
                </a:solidFill>
              </a:rPr>
              <a:t>rd</a:t>
            </a:r>
            <a:r>
              <a:rPr lang="en-AU" sz="2400" b="1" dirty="0" smtClean="0">
                <a:solidFill>
                  <a:srgbClr val="FF0000"/>
                </a:solidFill>
              </a:rPr>
              <a:t>), phone survey 3(excellent), 2(satisfactory), 1(poor), Clothes sizes s/m/l/xl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40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21151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Chapter 1 Definitions – Numerical data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026698"/>
            <a:ext cx="87615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Discrete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data which can only take particular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d</a:t>
            </a:r>
            <a:r>
              <a:rPr lang="en-AU" sz="2400" b="1" dirty="0" smtClean="0"/>
              <a:t>ata that can be counted</a:t>
            </a:r>
          </a:p>
          <a:p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354554"/>
            <a:ext cx="57051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discrete data:  shoe size, goals scored, number of students in the class, dress </a:t>
            </a:r>
            <a:r>
              <a:rPr lang="en-AU" sz="2400" b="1" dirty="0" smtClean="0">
                <a:solidFill>
                  <a:srgbClr val="FF0000"/>
                </a:solidFill>
              </a:rPr>
              <a:t>size, </a:t>
            </a:r>
            <a:r>
              <a:rPr lang="en-AU" sz="2400" b="1" dirty="0" smtClean="0">
                <a:solidFill>
                  <a:srgbClr val="FF0000"/>
                </a:solidFill>
              </a:rPr>
              <a:t>number of apples, number of languages a person speaks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22618"/>
            <a:ext cx="8704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Numerical Data can be divided into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discrete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continuous data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37726" y="2026698"/>
            <a:ext cx="8761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Continuous data: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data which can take on any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/>
              <a:t>d</a:t>
            </a:r>
            <a:r>
              <a:rPr lang="en-AU" sz="2400" b="1" dirty="0" smtClean="0"/>
              <a:t>ata that can be measured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 smtClean="0"/>
              <a:t>Includes decimals and fractions</a:t>
            </a:r>
          </a:p>
          <a:p>
            <a:endParaRPr lang="en-A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937957" y="3613954"/>
            <a:ext cx="8993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Examples of continuous data: height, weight,</a:t>
            </a:r>
          </a:p>
          <a:p>
            <a:r>
              <a:rPr lang="en-AU" sz="2400" b="1" dirty="0" smtClean="0">
                <a:solidFill>
                  <a:srgbClr val="FF0000"/>
                </a:solidFill>
              </a:rPr>
              <a:t> length, time, money, temperature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99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54443" y="1705382"/>
            <a:ext cx="10209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 smtClean="0"/>
              <a:t>Variable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612770" y="2631936"/>
            <a:ext cx="203542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Numerical data</a:t>
            </a:r>
          </a:p>
          <a:p>
            <a:pPr algn="ctr"/>
            <a:r>
              <a:rPr lang="en-AU" dirty="0" smtClean="0"/>
              <a:t>- A measurable quantity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215674" y="2631936"/>
            <a:ext cx="236734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Categorical data</a:t>
            </a:r>
          </a:p>
          <a:p>
            <a:pPr algn="ctr"/>
            <a:r>
              <a:rPr lang="en-AU" dirty="0" smtClean="0"/>
              <a:t>- Describes a quality or characteristic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858718" y="3979226"/>
            <a:ext cx="167546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Continuous</a:t>
            </a:r>
          </a:p>
          <a:p>
            <a:pPr algn="ctr"/>
            <a:r>
              <a:rPr lang="en-AU" dirty="0" smtClean="0"/>
              <a:t>- Values within a given interval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5620100" y="3986702"/>
            <a:ext cx="200363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Ordinal</a:t>
            </a:r>
          </a:p>
          <a:p>
            <a:pPr algn="ctr"/>
            <a:r>
              <a:rPr lang="en-AU" dirty="0" smtClean="0"/>
              <a:t>- Observations that can be ordered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630483" y="3979226"/>
            <a:ext cx="176989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Discrete</a:t>
            </a:r>
          </a:p>
          <a:p>
            <a:pPr algn="ctr"/>
            <a:r>
              <a:rPr lang="en-AU" dirty="0" smtClean="0"/>
              <a:t>- A set of distinct whole values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7754636" y="3986702"/>
            <a:ext cx="203449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Nominal</a:t>
            </a:r>
          </a:p>
          <a:p>
            <a:pPr algn="ctr"/>
            <a:r>
              <a:rPr lang="en-AU" dirty="0" smtClean="0"/>
              <a:t>- Observations that have no order</a:t>
            </a:r>
            <a:endParaRPr lang="en-AU" dirty="0"/>
          </a:p>
        </p:txBody>
      </p:sp>
      <p:cxnSp>
        <p:nvCxnSpPr>
          <p:cNvPr id="6" name="Straight Connector 5"/>
          <p:cNvCxnSpPr>
            <a:stCxn id="3" idx="2"/>
            <a:endCxn id="7" idx="0"/>
          </p:cNvCxnSpPr>
          <p:nvPr/>
        </p:nvCxnSpPr>
        <p:spPr>
          <a:xfrm flipH="1">
            <a:off x="3630484" y="2074714"/>
            <a:ext cx="1934453" cy="557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" idx="2"/>
            <a:endCxn id="8" idx="0"/>
          </p:cNvCxnSpPr>
          <p:nvPr/>
        </p:nvCxnSpPr>
        <p:spPr>
          <a:xfrm>
            <a:off x="5564937" y="2074714"/>
            <a:ext cx="1834409" cy="5572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11" idx="0"/>
          </p:cNvCxnSpPr>
          <p:nvPr/>
        </p:nvCxnSpPr>
        <p:spPr>
          <a:xfrm flipH="1">
            <a:off x="2696451" y="3555266"/>
            <a:ext cx="934033" cy="423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2"/>
            <a:endCxn id="13" idx="0"/>
          </p:cNvCxnSpPr>
          <p:nvPr/>
        </p:nvCxnSpPr>
        <p:spPr>
          <a:xfrm>
            <a:off x="3630484" y="3555266"/>
            <a:ext cx="884947" cy="423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2"/>
            <a:endCxn id="12" idx="0"/>
          </p:cNvCxnSpPr>
          <p:nvPr/>
        </p:nvCxnSpPr>
        <p:spPr>
          <a:xfrm flipH="1">
            <a:off x="6621920" y="3555266"/>
            <a:ext cx="777426" cy="431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8" idx="2"/>
            <a:endCxn id="14" idx="0"/>
          </p:cNvCxnSpPr>
          <p:nvPr/>
        </p:nvCxnSpPr>
        <p:spPr>
          <a:xfrm>
            <a:off x="7399346" y="3555266"/>
            <a:ext cx="1372537" cy="431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0" y="0"/>
            <a:ext cx="500956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Chapter 1 Definitions – Types of data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2909" y="0"/>
            <a:ext cx="4643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1A Q1 – 12 and 1B Q1 – 12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7205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LEVITT Megan [Harrisdale Senior High School]</dc:creator>
  <cp:lastModifiedBy>LEVITT Megan [Harrisdale Senior High School]</cp:lastModifiedBy>
  <cp:revision>2</cp:revision>
  <dcterms:created xsi:type="dcterms:W3CDTF">2021-06-15T06:02:12Z</dcterms:created>
  <dcterms:modified xsi:type="dcterms:W3CDTF">2021-06-21T23:36:13Z</dcterms:modified>
</cp:coreProperties>
</file>
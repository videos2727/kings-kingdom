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3" d="100"/>
          <a:sy n="83" d="100"/>
        </p:scale>
        <p:origin x="81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14/09/2021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14/09/2021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14/09/2021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14/09/2021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14/09/2021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14/09/2021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14/09/2021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14/09/2021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14/09/2021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14/09/2021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14/09/2021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14/09/2021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222709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2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4030" y="575094"/>
                <a:ext cx="1129485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State whether each of the points A to C lie on the line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+7</m:t>
                    </m:r>
                  </m:oMath>
                </a14:m>
                <a:endParaRPr lang="en-AU" sz="2400" b="0" dirty="0" smtClean="0"/>
              </a:p>
              <a:p>
                <a:endParaRPr lang="en-AU" sz="2400" dirty="0" smtClean="0"/>
              </a:p>
              <a:p>
                <a:r>
                  <a:rPr lang="en-AU" sz="2400" dirty="0" smtClean="0"/>
                  <a:t>A (1,8)		B (3,13)	C (-5,-3)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30" y="575094"/>
                <a:ext cx="11294853" cy="1477328"/>
              </a:xfrm>
              <a:prstGeom prst="rect">
                <a:avLst/>
              </a:prstGeom>
              <a:blipFill>
                <a:blip r:embed="rId2"/>
                <a:stretch>
                  <a:fillRect l="-809" t="-32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39304" y="1943819"/>
                <a:ext cx="7700515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>
                    <a:solidFill>
                      <a:srgbClr val="FF0000"/>
                    </a:solidFill>
                  </a:rPr>
                  <a:t>If A (1,8) lies on the line then x=1 and y=8 must ‘fit’ the equation.</a:t>
                </a:r>
              </a:p>
              <a:p>
                <a:endParaRPr lang="en-AU" sz="2000" dirty="0">
                  <a:solidFill>
                    <a:srgbClr val="FF0000"/>
                  </a:solidFill>
                </a:endParaRPr>
              </a:p>
              <a:p>
                <a:r>
                  <a:rPr lang="en-AU" sz="2000" dirty="0" smtClean="0">
                    <a:solidFill>
                      <a:srgbClr val="FF0000"/>
                    </a:solidFill>
                  </a:rPr>
                  <a:t>Substituting x=1 into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+7</m:t>
                    </m:r>
                  </m:oMath>
                </a14:m>
                <a:r>
                  <a:rPr lang="en-AU" sz="2000" dirty="0" smtClean="0">
                    <a:solidFill>
                      <a:srgbClr val="FF0000"/>
                    </a:solidFill>
                  </a:rPr>
                  <a:t> gives y=9</a:t>
                </a:r>
              </a:p>
              <a:p>
                <a:endParaRPr lang="en-AU" sz="2000" dirty="0">
                  <a:solidFill>
                    <a:srgbClr val="FF0000"/>
                  </a:solidFill>
                </a:endParaRPr>
              </a:p>
              <a:p>
                <a:r>
                  <a:rPr lang="en-AU" sz="2000" dirty="0" smtClean="0">
                    <a:solidFill>
                      <a:srgbClr val="FF0000"/>
                    </a:solidFill>
                  </a:rPr>
                  <a:t>Thus point A (1,8) </a:t>
                </a:r>
                <a:r>
                  <a:rPr lang="en-AU" sz="2000" b="1" dirty="0" smtClean="0">
                    <a:solidFill>
                      <a:srgbClr val="FF0000"/>
                    </a:solidFill>
                  </a:rPr>
                  <a:t>does not </a:t>
                </a:r>
                <a:r>
                  <a:rPr lang="en-AU" sz="2000" dirty="0" smtClean="0">
                    <a:solidFill>
                      <a:srgbClr val="FF0000"/>
                    </a:solidFill>
                  </a:rPr>
                  <a:t>lie on the line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+7.</m:t>
                    </m:r>
                  </m:oMath>
                </a14:m>
                <a:endParaRPr lang="en-AU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04" y="1943819"/>
                <a:ext cx="7700515" cy="1631216"/>
              </a:xfrm>
              <a:prstGeom prst="rect">
                <a:avLst/>
              </a:prstGeom>
              <a:blipFill>
                <a:blip r:embed="rId3"/>
                <a:stretch>
                  <a:fillRect l="-871" t="-2247" b="-59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90421" y="3896265"/>
                <a:ext cx="7700515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>
                    <a:solidFill>
                      <a:srgbClr val="FF0000"/>
                    </a:solidFill>
                  </a:rPr>
                  <a:t>If B (3,13) lies on the line then x=3 and y=13 must ‘fit’ the equation.</a:t>
                </a:r>
              </a:p>
              <a:p>
                <a:endParaRPr lang="en-AU" sz="2000" dirty="0">
                  <a:solidFill>
                    <a:srgbClr val="FF0000"/>
                  </a:solidFill>
                </a:endParaRPr>
              </a:p>
              <a:p>
                <a:r>
                  <a:rPr lang="en-AU" sz="2000" dirty="0" smtClean="0">
                    <a:solidFill>
                      <a:srgbClr val="FF0000"/>
                    </a:solidFill>
                  </a:rPr>
                  <a:t>Substituting x=3 into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+7</m:t>
                    </m:r>
                  </m:oMath>
                </a14:m>
                <a:r>
                  <a:rPr lang="en-AU" sz="2000" dirty="0" smtClean="0">
                    <a:solidFill>
                      <a:srgbClr val="FF0000"/>
                    </a:solidFill>
                  </a:rPr>
                  <a:t> gives y=13</a:t>
                </a:r>
              </a:p>
              <a:p>
                <a:endParaRPr lang="en-AU" sz="2000" dirty="0">
                  <a:solidFill>
                    <a:srgbClr val="FF0000"/>
                  </a:solidFill>
                </a:endParaRPr>
              </a:p>
              <a:p>
                <a:r>
                  <a:rPr lang="en-AU" sz="2000" dirty="0" smtClean="0">
                    <a:solidFill>
                      <a:srgbClr val="FF0000"/>
                    </a:solidFill>
                  </a:rPr>
                  <a:t>Thus point B (3,13) </a:t>
                </a:r>
                <a:r>
                  <a:rPr lang="en-AU" sz="2000" b="1" dirty="0" smtClean="0">
                    <a:solidFill>
                      <a:srgbClr val="FF0000"/>
                    </a:solidFill>
                  </a:rPr>
                  <a:t>does </a:t>
                </a:r>
                <a:r>
                  <a:rPr lang="en-AU" sz="2000" dirty="0" smtClean="0">
                    <a:solidFill>
                      <a:srgbClr val="FF0000"/>
                    </a:solidFill>
                  </a:rPr>
                  <a:t>lie on the line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+7.</m:t>
                    </m:r>
                  </m:oMath>
                </a14:m>
                <a:endParaRPr lang="en-AU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21" y="3896265"/>
                <a:ext cx="7700515" cy="1631216"/>
              </a:xfrm>
              <a:prstGeom prst="rect">
                <a:avLst/>
              </a:prstGeom>
              <a:blipFill>
                <a:blip r:embed="rId4"/>
                <a:stretch>
                  <a:fillRect l="-871" t="-1866" b="-55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90420" y="3896265"/>
                <a:ext cx="7700515" cy="16312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>
                    <a:solidFill>
                      <a:srgbClr val="FF0000"/>
                    </a:solidFill>
                  </a:rPr>
                  <a:t>If C (-5,-3) lies on the line then x=-5 and y=-3 must ‘fit’ the equation.</a:t>
                </a:r>
              </a:p>
              <a:p>
                <a:endParaRPr lang="en-AU" sz="2000" dirty="0">
                  <a:solidFill>
                    <a:srgbClr val="FF0000"/>
                  </a:solidFill>
                </a:endParaRPr>
              </a:p>
              <a:p>
                <a:r>
                  <a:rPr lang="en-AU" sz="2000" dirty="0" smtClean="0">
                    <a:solidFill>
                      <a:srgbClr val="FF0000"/>
                    </a:solidFill>
                  </a:rPr>
                  <a:t>Substituting x= -5 into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+7</m:t>
                    </m:r>
                  </m:oMath>
                </a14:m>
                <a:r>
                  <a:rPr lang="en-AU" sz="2000" dirty="0" smtClean="0">
                    <a:solidFill>
                      <a:srgbClr val="FF0000"/>
                    </a:solidFill>
                  </a:rPr>
                  <a:t> gives y= -3</a:t>
                </a:r>
              </a:p>
              <a:p>
                <a:endParaRPr lang="en-AU" sz="2000" dirty="0">
                  <a:solidFill>
                    <a:srgbClr val="FF0000"/>
                  </a:solidFill>
                </a:endParaRPr>
              </a:p>
              <a:p>
                <a:r>
                  <a:rPr lang="en-AU" sz="2000" dirty="0" smtClean="0">
                    <a:solidFill>
                      <a:srgbClr val="FF0000"/>
                    </a:solidFill>
                  </a:rPr>
                  <a:t>Thus point </a:t>
                </a:r>
                <a:r>
                  <a:rPr lang="en-AU" sz="2000" dirty="0">
                    <a:solidFill>
                      <a:srgbClr val="FF0000"/>
                    </a:solidFill>
                  </a:rPr>
                  <a:t>C</a:t>
                </a:r>
                <a:r>
                  <a:rPr lang="en-AU" sz="2000" dirty="0" smtClean="0">
                    <a:solidFill>
                      <a:srgbClr val="FF0000"/>
                    </a:solidFill>
                  </a:rPr>
                  <a:t> (-5,-3) </a:t>
                </a:r>
                <a:r>
                  <a:rPr lang="en-AU" sz="2000" b="1" dirty="0" smtClean="0">
                    <a:solidFill>
                      <a:srgbClr val="FF0000"/>
                    </a:solidFill>
                  </a:rPr>
                  <a:t>does </a:t>
                </a:r>
                <a:r>
                  <a:rPr lang="en-AU" sz="2000" dirty="0" smtClean="0">
                    <a:solidFill>
                      <a:srgbClr val="FF0000"/>
                    </a:solidFill>
                  </a:rPr>
                  <a:t>lie on the line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+7.</m:t>
                    </m:r>
                  </m:oMath>
                </a14:m>
                <a:endParaRPr lang="en-AU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20" y="3896265"/>
                <a:ext cx="7700515" cy="1631216"/>
              </a:xfrm>
              <a:prstGeom prst="rect">
                <a:avLst/>
              </a:prstGeom>
              <a:blipFill>
                <a:blip r:embed="rId5"/>
                <a:stretch>
                  <a:fillRect l="-871" t="-1866" b="-55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935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117675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Rearranging Equations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4030" y="575094"/>
                <a:ext cx="1129485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Consider the equation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AU" sz="2400" b="0" dirty="0" smtClean="0"/>
              </a:p>
              <a:p>
                <a:endParaRPr lang="en-AU" sz="2400" dirty="0" smtClean="0"/>
              </a:p>
              <a:p>
                <a:r>
                  <a:rPr lang="en-AU" sz="2400" dirty="0" smtClean="0"/>
                  <a:t>We can rearrange this equation so it fits the form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30" y="575094"/>
                <a:ext cx="11294853" cy="1200329"/>
              </a:xfrm>
              <a:prstGeom prst="rect">
                <a:avLst/>
              </a:prstGeom>
              <a:blipFill>
                <a:blip r:embed="rId2"/>
                <a:stretch>
                  <a:fillRect l="-809" t="-4061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43463" y="2055963"/>
                <a:ext cx="9336658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First eliminate 3x from the LHS by subtracting it from both sides</a:t>
                </a:r>
              </a:p>
              <a:p>
                <a:endParaRPr lang="en-AU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=−3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+12</m:t>
                      </m:r>
                    </m:oMath>
                  </m:oMathPara>
                </a14:m>
                <a:endParaRPr lang="en-AU" sz="2400" dirty="0" smtClean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63" y="2055963"/>
                <a:ext cx="9336658" cy="1815882"/>
              </a:xfrm>
              <a:prstGeom prst="rect">
                <a:avLst/>
              </a:prstGeom>
              <a:blipFill>
                <a:blip r:embed="rId3"/>
                <a:stretch>
                  <a:fillRect l="-979" t="-26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9599" y="3531080"/>
                <a:ext cx="9336658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Next eliminate 2 from the LHS by dividing it on both sides</a:t>
                </a:r>
              </a:p>
              <a:p>
                <a:endParaRPr lang="en-AU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=−1.5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+6</m:t>
                      </m:r>
                    </m:oMath>
                  </m:oMathPara>
                </a14:m>
                <a:endParaRPr lang="en-AU" sz="2400" dirty="0" smtClean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3531080"/>
                <a:ext cx="9336658" cy="1815882"/>
              </a:xfrm>
              <a:prstGeom prst="rect">
                <a:avLst/>
              </a:prstGeom>
              <a:blipFill>
                <a:blip r:embed="rId4"/>
                <a:stretch>
                  <a:fillRect l="-979" t="-26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845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117675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3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84030" y="575094"/>
            <a:ext cx="112948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State the equation of the straight line that cuts the y-axis at the point (0,1) and has a gradient of 6.</a:t>
            </a:r>
            <a:endParaRPr lang="en-AU" sz="2400" dirty="0"/>
          </a:p>
          <a:p>
            <a:endParaRPr lang="en-AU" sz="2400" b="0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43463" y="2055963"/>
                <a:ext cx="10153292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A line with gradient m and cutting the y-axis at (0,c) has equation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AU" sz="2400" dirty="0" smtClean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63" y="2055963"/>
                <a:ext cx="10153292" cy="1077218"/>
              </a:xfrm>
              <a:prstGeom prst="rect">
                <a:avLst/>
              </a:prstGeom>
              <a:blipFill>
                <a:blip r:embed="rId2"/>
                <a:stretch>
                  <a:fillRect l="-900" t="-45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9599" y="3531080"/>
                <a:ext cx="9336658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Thus the given line has equation:</a:t>
                </a:r>
              </a:p>
              <a:p>
                <a:endParaRPr lang="en-AU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400" dirty="0" smtClean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3531080"/>
                <a:ext cx="9336658" cy="1815882"/>
              </a:xfrm>
              <a:prstGeom prst="rect">
                <a:avLst/>
              </a:prstGeom>
              <a:blipFill>
                <a:blip r:embed="rId3"/>
                <a:stretch>
                  <a:fillRect l="-979" t="-26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659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75978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4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84030" y="575094"/>
            <a:ext cx="11294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State the equation of the straight line through the point (4,-3) and has a gradient of -2.</a:t>
            </a:r>
            <a:endParaRPr lang="en-AU" sz="2400" dirty="0"/>
          </a:p>
          <a:p>
            <a:endParaRPr lang="en-AU" sz="2400" b="0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1923" y="1641895"/>
                <a:ext cx="10153292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A line with gradient m and cutting the y-axis at (0,c) has equation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AU" sz="2400" dirty="0" smtClean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23" y="1641895"/>
                <a:ext cx="10153292" cy="1077218"/>
              </a:xfrm>
              <a:prstGeom prst="rect">
                <a:avLst/>
              </a:prstGeom>
              <a:blipFill>
                <a:blip r:embed="rId2"/>
                <a:stretch>
                  <a:fillRect l="-961" t="-45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1923" y="2507412"/>
                <a:ext cx="9336658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Thus the given line has equation:</a:t>
                </a:r>
              </a:p>
              <a:p>
                <a:endParaRPr lang="en-AU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sz="2400" dirty="0" smtClean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23" y="2507412"/>
                <a:ext cx="9336658" cy="1815882"/>
              </a:xfrm>
              <a:prstGeom prst="rect">
                <a:avLst/>
              </a:prstGeom>
              <a:blipFill>
                <a:blip r:embed="rId3"/>
                <a:stretch>
                  <a:fillRect l="-1045" t="-26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47289" y="3729488"/>
                <a:ext cx="9336658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The line passes through the point (4,-3) thus the values x=4 and y=-3 must ‘fit’ the equation.</a:t>
                </a:r>
              </a:p>
              <a:p>
                <a:endParaRPr lang="en-AU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−3=−2</m:t>
                      </m:r>
                      <m:d>
                        <m:dPr>
                          <m:ctrlP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sz="2400" b="0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2400" dirty="0" smtClean="0">
                    <a:solidFill>
                      <a:srgbClr val="FF0000"/>
                    </a:solidFill>
                  </a:rPr>
                  <a:t>Giving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AU" sz="2400" dirty="0" smtClean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89" y="3729488"/>
                <a:ext cx="9336658" cy="2554545"/>
              </a:xfrm>
              <a:prstGeom prst="rect">
                <a:avLst/>
              </a:prstGeom>
              <a:blipFill>
                <a:blip r:embed="rId4"/>
                <a:stretch>
                  <a:fillRect l="-1045" t="-1909" r="-15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66621" y="5773948"/>
                <a:ext cx="933665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sz="2000" b="1" dirty="0" smtClean="0">
                  <a:solidFill>
                    <a:srgbClr val="FF0000"/>
                  </a:solidFill>
                </a:endParaRPr>
              </a:p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Thus the final equation is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=−2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21" y="5773948"/>
                <a:ext cx="9336658" cy="769441"/>
              </a:xfrm>
              <a:prstGeom prst="rect">
                <a:avLst/>
              </a:prstGeom>
              <a:blipFill>
                <a:blip r:embed="rId5"/>
                <a:stretch>
                  <a:fillRect l="-979" b="-174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3529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  <p:bldP spid="6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75978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5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84030" y="575094"/>
            <a:ext cx="11294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State the equation of the straight line through the points (-2,8) and (4,-1)</a:t>
            </a:r>
            <a:endParaRPr lang="en-AU" sz="2400" dirty="0"/>
          </a:p>
          <a:p>
            <a:endParaRPr lang="en-AU" sz="2400" b="0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32911" y="1132668"/>
                <a:ext cx="10153292" cy="28882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Starting at the point with the lower x coordinate (-2,8) and moving to the point (4,-1), we travel across 6 units and down 9 units. This in moving across 1 unit we travel down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AU" sz="2000" i="1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AU" sz="2000" dirty="0" smtClean="0">
                    <a:solidFill>
                      <a:srgbClr val="FF0000"/>
                    </a:solidFill>
                  </a:rPr>
                  <a:t>units, </a:t>
                </a:r>
                <a:r>
                  <a:rPr lang="en-AU" sz="2000" dirty="0" err="1" smtClean="0">
                    <a:solidFill>
                      <a:srgbClr val="FF0000"/>
                    </a:solidFill>
                  </a:rPr>
                  <a:t>ie</a:t>
                </a:r>
                <a:r>
                  <a:rPr lang="en-AU" sz="200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000" dirty="0" smtClean="0">
                    <a:solidFill>
                      <a:srgbClr val="FF0000"/>
                    </a:solidFill>
                  </a:rPr>
                  <a:t> units.</a:t>
                </a:r>
              </a:p>
              <a:p>
                <a:endParaRPr lang="en-AU" sz="2000" dirty="0">
                  <a:solidFill>
                    <a:srgbClr val="FF0000"/>
                  </a:solidFill>
                </a:endParaRPr>
              </a:p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The gradient of the line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400" dirty="0" smtClean="0">
                    <a:solidFill>
                      <a:srgbClr val="FF0000"/>
                    </a:solidFill>
                  </a:rPr>
                  <a:t>.</a:t>
                </a:r>
                <a:endParaRPr lang="en-AU" sz="2400" dirty="0">
                  <a:solidFill>
                    <a:srgbClr val="FF0000"/>
                  </a:solidFill>
                </a:endParaRPr>
              </a:p>
              <a:p>
                <a:endParaRPr lang="en-AU" sz="2000" dirty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11" y="1132668"/>
                <a:ext cx="10153292" cy="2888227"/>
              </a:xfrm>
              <a:prstGeom prst="rect">
                <a:avLst/>
              </a:prstGeom>
              <a:blipFill>
                <a:blip r:embed="rId2"/>
                <a:stretch>
                  <a:fillRect l="-900" t="-1688" r="-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01923" y="4419601"/>
                <a:ext cx="9336658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The line passes through the point (4,-1) thus the values x=4 and y=-1 must ‘fit’ the equation.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−1=−1.5</m:t>
                      </m:r>
                      <m:d>
                        <m:dPr>
                          <m:ctrlP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sz="2400" b="0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2400" dirty="0" smtClean="0">
                    <a:solidFill>
                      <a:srgbClr val="FF0000"/>
                    </a:solidFill>
                  </a:rPr>
                  <a:t>Giving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AU" sz="2400" dirty="0" smtClean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23" y="4419601"/>
                <a:ext cx="9336658" cy="2185214"/>
              </a:xfrm>
              <a:prstGeom prst="rect">
                <a:avLst/>
              </a:prstGeom>
              <a:blipFill>
                <a:blip r:embed="rId3"/>
                <a:stretch>
                  <a:fillRect l="-1045" t="-2235" r="-15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66621" y="5773948"/>
                <a:ext cx="933665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sz="2000" b="1" dirty="0" smtClean="0">
                  <a:solidFill>
                    <a:srgbClr val="FF0000"/>
                  </a:solidFill>
                </a:endParaRPr>
              </a:p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Thus the final equation is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=−1.5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21" y="5773948"/>
                <a:ext cx="9336658" cy="769441"/>
              </a:xfrm>
              <a:prstGeom prst="rect">
                <a:avLst/>
              </a:prstGeom>
              <a:blipFill>
                <a:blip r:embed="rId4"/>
                <a:stretch>
                  <a:fillRect l="-979" b="-174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32911" y="3528238"/>
                <a:ext cx="933665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Thus the given line will have an equation of the form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=−1.5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11" y="3528238"/>
                <a:ext cx="9336658" cy="769441"/>
              </a:xfrm>
              <a:prstGeom prst="rect">
                <a:avLst/>
              </a:prstGeom>
              <a:blipFill>
                <a:blip r:embed="rId5"/>
                <a:stretch>
                  <a:fillRect l="-979" t="-63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720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2639683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useful rule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84030" y="575094"/>
            <a:ext cx="11294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0" dirty="0" smtClean="0"/>
              <a:t>A useful rule to remember when determining the gradient of the line through two points, A and B 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84030" y="1621498"/>
                <a:ext cx="10153292" cy="14748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Gradient</m:t>
                      </m:r>
                      <m: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𝑐h𝑎𝑛𝑔𝑒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𝑐𝑜𝑜𝑟𝑑𝑖𝑛𝑎𝑡𝑒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𝑔𝑜𝑖𝑛𝑔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𝑓𝑟𝑜𝑚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𝑡𝑜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𝑐h𝑎𝑛𝑔𝑒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𝑐𝑜𝑜𝑟𝑑𝑖𝑛𝑎𝑡𝑒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𝑔𝑜𝑖𝑛𝑔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𝑓𝑟𝑜𝑚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𝑡𝑜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en-AU" sz="2000" dirty="0" smtClean="0">
                  <a:solidFill>
                    <a:srgbClr val="FF0000"/>
                  </a:solidFill>
                </a:endParaRPr>
              </a:p>
              <a:p>
                <a:endParaRPr lang="en-AU" sz="2000" dirty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30" y="1621498"/>
                <a:ext cx="10153292" cy="14748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27162" y="3096325"/>
                <a:ext cx="10153292" cy="2139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i="0" dirty="0" smtClean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Thus if A has coordinates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b="0" i="0" dirty="0" smtClean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and B has coordinates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b="0" i="0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endParaRPr lang="en-AU" sz="240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Then</m:t>
                      </m:r>
                      <m: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Gradient</m:t>
                      </m:r>
                      <m: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line</m:t>
                      </m:r>
                      <m: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through</m:t>
                      </m:r>
                      <m: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AU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AU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AU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AU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AU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AU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000" dirty="0" smtClean="0">
                  <a:solidFill>
                    <a:srgbClr val="FF0000"/>
                  </a:solidFill>
                </a:endParaRPr>
              </a:p>
              <a:p>
                <a:endParaRPr lang="en-AU" sz="2000" dirty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62" y="3096325"/>
                <a:ext cx="10153292" cy="2139368"/>
              </a:xfrm>
              <a:prstGeom prst="rect">
                <a:avLst/>
              </a:prstGeom>
              <a:blipFill>
                <a:blip r:embed="rId3"/>
                <a:stretch>
                  <a:fillRect l="-900" t="-22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71910" y="5292659"/>
                <a:ext cx="10153292" cy="1633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𝐺𝑟𝑎𝑑𝑖𝑒𝑛𝑡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𝑅𝐼𝑆𝐸</m:t>
                          </m:r>
                        </m:num>
                        <m:den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𝑅𝑈𝑁</m:t>
                          </m:r>
                        </m:den>
                      </m:f>
                    </m:oMath>
                  </m:oMathPara>
                </a14:m>
                <a:endParaRPr lang="en-AU" sz="2000" dirty="0" smtClean="0">
                  <a:solidFill>
                    <a:srgbClr val="FF0000"/>
                  </a:solidFill>
                </a:endParaRPr>
              </a:p>
              <a:p>
                <a:endParaRPr lang="en-AU" sz="2000" dirty="0">
                  <a:solidFill>
                    <a:srgbClr val="FF0000"/>
                  </a:solidFill>
                </a:endParaRPr>
              </a:p>
              <a:p>
                <a:endParaRPr lang="en-AU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910" y="5292659"/>
                <a:ext cx="10153292" cy="16332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313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747</Words>
  <Application>Microsoft Office PowerPoint</Application>
  <PresentationFormat>Widescreen</PresentationFormat>
  <Paragraphs>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STEDMAN Shaun [Harrisdale Senior High School]</cp:lastModifiedBy>
  <cp:revision>64</cp:revision>
  <dcterms:created xsi:type="dcterms:W3CDTF">2020-12-09T06:24:59Z</dcterms:created>
  <dcterms:modified xsi:type="dcterms:W3CDTF">2021-09-14T01:42:45Z</dcterms:modified>
</cp:coreProperties>
</file>
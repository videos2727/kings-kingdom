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67" r:id="rId3"/>
    <p:sldId id="268" r:id="rId4"/>
    <p:sldId id="257" r:id="rId5"/>
    <p:sldId id="258" r:id="rId6"/>
    <p:sldId id="259"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6" autoAdjust="0"/>
    <p:restoredTop sz="94660"/>
  </p:normalViewPr>
  <p:slideViewPr>
    <p:cSldViewPr snapToGrid="0">
      <p:cViewPr varScale="1">
        <p:scale>
          <a:sx n="86" d="100"/>
          <a:sy n="86" d="100"/>
        </p:scale>
        <p:origin x="84" y="1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0670257F-139A-4C64-8FF0-C28BA2020A88}" type="datetimeFigureOut">
              <a:rPr lang="en-AU" smtClean="0"/>
              <a:t>28/10/2021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1832062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670257F-139A-4C64-8FF0-C28BA2020A88}" type="datetimeFigureOut">
              <a:rPr lang="en-AU" smtClean="0"/>
              <a:t>28/10/2021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783430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670257F-139A-4C64-8FF0-C28BA2020A88}" type="datetimeFigureOut">
              <a:rPr lang="en-AU" smtClean="0"/>
              <a:t>28/10/2021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3533644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0670257F-139A-4C64-8FF0-C28BA2020A88}" type="datetimeFigureOut">
              <a:rPr lang="en-AU" smtClean="0"/>
              <a:t>28/10/2021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1047648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0670257F-139A-4C64-8FF0-C28BA2020A88}" type="datetimeFigureOut">
              <a:rPr lang="en-AU" smtClean="0"/>
              <a:t>28/10/2021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45400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0670257F-139A-4C64-8FF0-C28BA2020A88}" type="datetimeFigureOut">
              <a:rPr lang="en-AU" smtClean="0"/>
              <a:t>28/10/2021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15817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70257F-139A-4C64-8FF0-C28BA2020A88}" type="datetimeFigureOut">
              <a:rPr lang="en-AU" smtClean="0"/>
              <a:t>28/10/2021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663723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670257F-139A-4C64-8FF0-C28BA2020A88}" type="datetimeFigureOut">
              <a:rPr lang="en-AU" smtClean="0"/>
              <a:t>28/10/2021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3915923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670257F-139A-4C64-8FF0-C28BA2020A88}" type="datetimeFigureOut">
              <a:rPr lang="en-AU" smtClean="0"/>
              <a:t>28/10/2021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2844789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670257F-139A-4C64-8FF0-C28BA2020A88}" type="datetimeFigureOut">
              <a:rPr lang="en-AU" smtClean="0"/>
              <a:t>28/10/2021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3343789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670257F-139A-4C64-8FF0-C28BA2020A88}" type="datetimeFigureOut">
              <a:rPr lang="en-AU" smtClean="0"/>
              <a:t>28/10/2021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3F2D087-B4D1-44FD-A108-C1A3608A0FC7}" type="slidenum">
              <a:rPr lang="en-AU" smtClean="0"/>
              <a:t>‹#›</a:t>
            </a:fld>
            <a:endParaRPr lang="en-AU"/>
          </a:p>
        </p:txBody>
      </p:sp>
    </p:spTree>
    <p:extLst>
      <p:ext uri="{BB962C8B-B14F-4D97-AF65-F5344CB8AC3E}">
        <p14:creationId xmlns:p14="http://schemas.microsoft.com/office/powerpoint/2010/main" val="29399323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70257F-139A-4C64-8FF0-C28BA2020A88}" type="datetimeFigureOut">
              <a:rPr lang="en-AU" smtClean="0"/>
              <a:t>28/10/2021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F2D087-B4D1-44FD-A108-C1A3608A0FC7}" type="slidenum">
              <a:rPr lang="en-AU" smtClean="0"/>
              <a:t>‹#›</a:t>
            </a:fld>
            <a:endParaRPr lang="en-AU"/>
          </a:p>
        </p:txBody>
      </p:sp>
    </p:spTree>
    <p:extLst>
      <p:ext uri="{BB962C8B-B14F-4D97-AF65-F5344CB8AC3E}">
        <p14:creationId xmlns:p14="http://schemas.microsoft.com/office/powerpoint/2010/main" val="5407150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400" y="564723"/>
            <a:ext cx="11186160" cy="2677656"/>
          </a:xfrm>
          <a:prstGeom prst="rect">
            <a:avLst/>
          </a:prstGeom>
          <a:noFill/>
        </p:spPr>
        <p:txBody>
          <a:bodyPr wrap="square" rtlCol="0">
            <a:spAutoFit/>
          </a:bodyPr>
          <a:lstStyle/>
          <a:p>
            <a:r>
              <a:rPr lang="en-AU" sz="2400" dirty="0" smtClean="0"/>
              <a:t>Bivariate data is data for two variables (usually two types of related data).</a:t>
            </a:r>
            <a:endParaRPr lang="en-AU" sz="2400" dirty="0"/>
          </a:p>
          <a:p>
            <a:r>
              <a:rPr lang="en-AU" sz="2400" dirty="0" smtClean="0"/>
              <a:t>A scatter plot can be used to display bivariate data and show any connections that might exist between the variables.</a:t>
            </a:r>
            <a:endParaRPr lang="en-AU" sz="2400" dirty="0"/>
          </a:p>
          <a:p>
            <a:r>
              <a:rPr lang="en-AU" sz="2400" dirty="0" smtClean="0"/>
              <a:t>A scatter plot uses the data to create a series of points drawn on a pair of axes, with each axis representing the values of one of the two variables.</a:t>
            </a:r>
            <a:endParaRPr lang="en-AU" sz="2400" dirty="0"/>
          </a:p>
          <a:p>
            <a:r>
              <a:rPr lang="en-AU" sz="2400" dirty="0" smtClean="0"/>
              <a:t>The </a:t>
            </a:r>
            <a:r>
              <a:rPr lang="en-AU" sz="2400" dirty="0" smtClean="0"/>
              <a:t>explanatory </a:t>
            </a:r>
            <a:r>
              <a:rPr lang="en-AU" sz="2400" dirty="0" smtClean="0"/>
              <a:t>variable is plotted on the x axis and the </a:t>
            </a:r>
            <a:r>
              <a:rPr lang="en-AU" sz="2400" dirty="0" smtClean="0"/>
              <a:t>response </a:t>
            </a:r>
            <a:r>
              <a:rPr lang="en-AU" sz="2400" dirty="0" smtClean="0"/>
              <a:t>variable is plotted on the y axis. </a:t>
            </a:r>
            <a:endParaRPr lang="en-AU" sz="2400" dirty="0"/>
          </a:p>
        </p:txBody>
      </p:sp>
      <p:pic>
        <p:nvPicPr>
          <p:cNvPr id="9" name="Picture 8"/>
          <p:cNvPicPr>
            <a:picLocks noChangeAspect="1"/>
          </p:cNvPicPr>
          <p:nvPr/>
        </p:nvPicPr>
        <p:blipFill>
          <a:blip r:embed="rId2"/>
          <a:stretch>
            <a:fillRect/>
          </a:stretch>
        </p:blipFill>
        <p:spPr>
          <a:xfrm>
            <a:off x="63818" y="3312161"/>
            <a:ext cx="5438798" cy="3222624"/>
          </a:xfrm>
          <a:prstGeom prst="rect">
            <a:avLst/>
          </a:prstGeom>
        </p:spPr>
      </p:pic>
      <p:sp>
        <p:nvSpPr>
          <p:cNvPr id="10" name="TextBox 9"/>
          <p:cNvSpPr txBox="1"/>
          <p:nvPr/>
        </p:nvSpPr>
        <p:spPr>
          <a:xfrm>
            <a:off x="5867400" y="3200400"/>
            <a:ext cx="5755640" cy="1938992"/>
          </a:xfrm>
          <a:prstGeom prst="rect">
            <a:avLst/>
          </a:prstGeom>
          <a:noFill/>
        </p:spPr>
        <p:txBody>
          <a:bodyPr wrap="square" rtlCol="0">
            <a:spAutoFit/>
          </a:bodyPr>
          <a:lstStyle/>
          <a:p>
            <a:r>
              <a:rPr lang="en-AU" sz="2400" dirty="0" smtClean="0"/>
              <a:t>This is a scatter plot showing data for temperature (°C) and ice cream sales.</a:t>
            </a:r>
          </a:p>
          <a:p>
            <a:endParaRPr lang="en-AU" sz="2400" dirty="0"/>
          </a:p>
          <a:p>
            <a:r>
              <a:rPr lang="en-AU" sz="2400" dirty="0" smtClean="0"/>
              <a:t>Temperature is the </a:t>
            </a:r>
            <a:r>
              <a:rPr lang="en-AU" sz="2400" dirty="0" smtClean="0"/>
              <a:t>explanatory </a:t>
            </a:r>
            <a:r>
              <a:rPr lang="en-AU" sz="2400" dirty="0" smtClean="0"/>
              <a:t>variable.</a:t>
            </a:r>
          </a:p>
          <a:p>
            <a:r>
              <a:rPr lang="en-AU" sz="2400" dirty="0" smtClean="0"/>
              <a:t>Ice cream sales is the </a:t>
            </a:r>
            <a:r>
              <a:rPr lang="en-AU" sz="2400" dirty="0" smtClean="0"/>
              <a:t>response </a:t>
            </a:r>
            <a:r>
              <a:rPr lang="en-AU" sz="2400" dirty="0" smtClean="0"/>
              <a:t>variable. </a:t>
            </a:r>
            <a:endParaRPr lang="en-AU" sz="2400" dirty="0"/>
          </a:p>
        </p:txBody>
      </p:sp>
      <p:sp>
        <p:nvSpPr>
          <p:cNvPr id="8" name="TextBox 7"/>
          <p:cNvSpPr txBox="1"/>
          <p:nvPr/>
        </p:nvSpPr>
        <p:spPr>
          <a:xfrm>
            <a:off x="0" y="0"/>
            <a:ext cx="2449484" cy="461665"/>
          </a:xfrm>
          <a:prstGeom prst="rect">
            <a:avLst/>
          </a:prstGeom>
          <a:solidFill>
            <a:srgbClr val="FFFF00"/>
          </a:solidFill>
        </p:spPr>
        <p:txBody>
          <a:bodyPr wrap="square" rtlCol="0">
            <a:spAutoFit/>
          </a:bodyPr>
          <a:lstStyle/>
          <a:p>
            <a:r>
              <a:rPr lang="en-AU" sz="2400" dirty="0" smtClean="0"/>
              <a:t>Unit </a:t>
            </a:r>
            <a:r>
              <a:rPr lang="en-AU" sz="2400" smtClean="0"/>
              <a:t>3 Chapter 1C</a:t>
            </a:r>
            <a:endParaRPr lang="en-AU" sz="2400" dirty="0"/>
          </a:p>
        </p:txBody>
      </p:sp>
    </p:spTree>
    <p:extLst>
      <p:ext uri="{BB962C8B-B14F-4D97-AF65-F5344CB8AC3E}">
        <p14:creationId xmlns:p14="http://schemas.microsoft.com/office/powerpoint/2010/main" val="1176089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980900" y="548098"/>
            <a:ext cx="9529157" cy="3046988"/>
          </a:xfrm>
          <a:prstGeom prst="rect">
            <a:avLst/>
          </a:prstGeom>
          <a:noFill/>
        </p:spPr>
        <p:txBody>
          <a:bodyPr wrap="square" rtlCol="0">
            <a:spAutoFit/>
          </a:bodyPr>
          <a:lstStyle/>
          <a:p>
            <a:pPr algn="ctr"/>
            <a:r>
              <a:rPr lang="en-AU" sz="2400" dirty="0" smtClean="0"/>
              <a:t>A scatter plot makes it easier to see any relationships that might exist between the variables you are looking at. </a:t>
            </a:r>
          </a:p>
          <a:p>
            <a:pPr algn="ctr"/>
            <a:r>
              <a:rPr lang="en-AU" sz="2400" dirty="0" smtClean="0"/>
              <a:t>Sometimes, the points on the scatter plot will look as though they are almost forming a straight line.</a:t>
            </a:r>
          </a:p>
          <a:p>
            <a:pPr algn="ctr"/>
            <a:r>
              <a:rPr lang="en-AU" sz="2400" dirty="0" smtClean="0"/>
              <a:t>If one variable increases as the other increases, the relationship is positive (we call this positive correlation).</a:t>
            </a:r>
          </a:p>
          <a:p>
            <a:pPr algn="ctr"/>
            <a:r>
              <a:rPr lang="en-AU" sz="2400" dirty="0" smtClean="0"/>
              <a:t>If one variable increases as the other decreases, the relationship is negative (negative correlation).</a:t>
            </a:r>
            <a:endParaRPr lang="en-AU" sz="2400" dirty="0"/>
          </a:p>
        </p:txBody>
      </p:sp>
      <p:pic>
        <p:nvPicPr>
          <p:cNvPr id="3" name="Picture 2"/>
          <p:cNvPicPr>
            <a:picLocks noChangeAspect="1"/>
          </p:cNvPicPr>
          <p:nvPr/>
        </p:nvPicPr>
        <p:blipFill>
          <a:blip r:embed="rId2"/>
          <a:stretch>
            <a:fillRect/>
          </a:stretch>
        </p:blipFill>
        <p:spPr>
          <a:xfrm>
            <a:off x="426720" y="3914140"/>
            <a:ext cx="3257550" cy="2581275"/>
          </a:xfrm>
          <a:prstGeom prst="rect">
            <a:avLst/>
          </a:prstGeom>
        </p:spPr>
      </p:pic>
      <p:pic>
        <p:nvPicPr>
          <p:cNvPr id="5" name="Picture 4"/>
          <p:cNvPicPr>
            <a:picLocks noChangeAspect="1"/>
          </p:cNvPicPr>
          <p:nvPr/>
        </p:nvPicPr>
        <p:blipFill>
          <a:blip r:embed="rId3"/>
          <a:stretch>
            <a:fillRect/>
          </a:stretch>
        </p:blipFill>
        <p:spPr>
          <a:xfrm>
            <a:off x="4169092" y="3971290"/>
            <a:ext cx="3152775" cy="2552700"/>
          </a:xfrm>
          <a:prstGeom prst="rect">
            <a:avLst/>
          </a:prstGeom>
        </p:spPr>
      </p:pic>
      <p:pic>
        <p:nvPicPr>
          <p:cNvPr id="8" name="Picture 7"/>
          <p:cNvPicPr>
            <a:picLocks noChangeAspect="1"/>
          </p:cNvPicPr>
          <p:nvPr/>
        </p:nvPicPr>
        <p:blipFill>
          <a:blip r:embed="rId4"/>
          <a:stretch>
            <a:fillRect/>
          </a:stretch>
        </p:blipFill>
        <p:spPr>
          <a:xfrm>
            <a:off x="8204835" y="4028440"/>
            <a:ext cx="3067050" cy="2495550"/>
          </a:xfrm>
          <a:prstGeom prst="rect">
            <a:avLst/>
          </a:prstGeom>
        </p:spPr>
      </p:pic>
      <p:sp>
        <p:nvSpPr>
          <p:cNvPr id="9" name="TextBox 8"/>
          <p:cNvSpPr txBox="1"/>
          <p:nvPr/>
        </p:nvSpPr>
        <p:spPr>
          <a:xfrm>
            <a:off x="0" y="0"/>
            <a:ext cx="2449484" cy="461665"/>
          </a:xfrm>
          <a:prstGeom prst="rect">
            <a:avLst/>
          </a:prstGeom>
          <a:solidFill>
            <a:srgbClr val="FFFF00"/>
          </a:solidFill>
        </p:spPr>
        <p:txBody>
          <a:bodyPr wrap="square" rtlCol="0">
            <a:spAutoFit/>
          </a:bodyPr>
          <a:lstStyle/>
          <a:p>
            <a:r>
              <a:rPr lang="en-AU" sz="2400" dirty="0" smtClean="0"/>
              <a:t>Unit </a:t>
            </a:r>
            <a:r>
              <a:rPr lang="en-AU" sz="2400" smtClean="0"/>
              <a:t>3 Chapter 1C</a:t>
            </a:r>
            <a:endParaRPr lang="en-AU" sz="2400" dirty="0"/>
          </a:p>
        </p:txBody>
      </p:sp>
    </p:spTree>
    <p:extLst>
      <p:ext uri="{BB962C8B-B14F-4D97-AF65-F5344CB8AC3E}">
        <p14:creationId xmlns:p14="http://schemas.microsoft.com/office/powerpoint/2010/main" val="1679266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69875" y="3611711"/>
            <a:ext cx="3371850" cy="2638425"/>
          </a:xfrm>
          <a:prstGeom prst="rect">
            <a:avLst/>
          </a:prstGeom>
        </p:spPr>
      </p:pic>
      <p:pic>
        <p:nvPicPr>
          <p:cNvPr id="6" name="Picture 5"/>
          <p:cNvPicPr>
            <a:picLocks noChangeAspect="1"/>
          </p:cNvPicPr>
          <p:nvPr/>
        </p:nvPicPr>
        <p:blipFill>
          <a:blip r:embed="rId3"/>
          <a:stretch>
            <a:fillRect/>
          </a:stretch>
        </p:blipFill>
        <p:spPr>
          <a:xfrm>
            <a:off x="3161982" y="3678386"/>
            <a:ext cx="3419475" cy="2571750"/>
          </a:xfrm>
          <a:prstGeom prst="rect">
            <a:avLst/>
          </a:prstGeom>
        </p:spPr>
      </p:pic>
      <p:pic>
        <p:nvPicPr>
          <p:cNvPr id="9" name="Picture 8"/>
          <p:cNvPicPr>
            <a:picLocks noChangeAspect="1"/>
          </p:cNvPicPr>
          <p:nvPr/>
        </p:nvPicPr>
        <p:blipFill>
          <a:blip r:embed="rId4"/>
          <a:stretch>
            <a:fillRect/>
          </a:stretch>
        </p:blipFill>
        <p:spPr>
          <a:xfrm>
            <a:off x="5949314" y="3745061"/>
            <a:ext cx="3524250" cy="2571750"/>
          </a:xfrm>
          <a:prstGeom prst="rect">
            <a:avLst/>
          </a:prstGeom>
        </p:spPr>
      </p:pic>
      <p:pic>
        <p:nvPicPr>
          <p:cNvPr id="10" name="Picture 9"/>
          <p:cNvPicPr>
            <a:picLocks noChangeAspect="1"/>
          </p:cNvPicPr>
          <p:nvPr/>
        </p:nvPicPr>
        <p:blipFill>
          <a:blip r:embed="rId5"/>
          <a:stretch>
            <a:fillRect/>
          </a:stretch>
        </p:blipFill>
        <p:spPr>
          <a:xfrm>
            <a:off x="9003346" y="3764111"/>
            <a:ext cx="3257550" cy="2533650"/>
          </a:xfrm>
          <a:prstGeom prst="rect">
            <a:avLst/>
          </a:prstGeom>
        </p:spPr>
      </p:pic>
      <p:sp>
        <p:nvSpPr>
          <p:cNvPr id="8" name="TextBox 7"/>
          <p:cNvSpPr txBox="1"/>
          <p:nvPr/>
        </p:nvSpPr>
        <p:spPr>
          <a:xfrm>
            <a:off x="0" y="0"/>
            <a:ext cx="2449484" cy="461665"/>
          </a:xfrm>
          <a:prstGeom prst="rect">
            <a:avLst/>
          </a:prstGeom>
          <a:solidFill>
            <a:srgbClr val="FFFF00"/>
          </a:solidFill>
        </p:spPr>
        <p:txBody>
          <a:bodyPr wrap="square" rtlCol="0">
            <a:spAutoFit/>
          </a:bodyPr>
          <a:lstStyle/>
          <a:p>
            <a:r>
              <a:rPr lang="en-AU" sz="2400" dirty="0" smtClean="0"/>
              <a:t>Unit </a:t>
            </a:r>
            <a:r>
              <a:rPr lang="en-AU" sz="2400" smtClean="0"/>
              <a:t>3 Chapter 1C</a:t>
            </a:r>
            <a:endParaRPr lang="en-AU" sz="2400" dirty="0"/>
          </a:p>
        </p:txBody>
      </p:sp>
      <p:sp>
        <p:nvSpPr>
          <p:cNvPr id="11" name="TextBox 10"/>
          <p:cNvSpPr txBox="1"/>
          <p:nvPr/>
        </p:nvSpPr>
        <p:spPr>
          <a:xfrm>
            <a:off x="980900" y="548098"/>
            <a:ext cx="9529157" cy="3046988"/>
          </a:xfrm>
          <a:prstGeom prst="rect">
            <a:avLst/>
          </a:prstGeom>
          <a:noFill/>
        </p:spPr>
        <p:txBody>
          <a:bodyPr wrap="square" rtlCol="0">
            <a:spAutoFit/>
          </a:bodyPr>
          <a:lstStyle/>
          <a:p>
            <a:pPr algn="ctr"/>
            <a:r>
              <a:rPr lang="en-AU" sz="2400" dirty="0" smtClean="0"/>
              <a:t>A scatter plot makes it easier to see any relationships that might exist between the variables you are looking at. </a:t>
            </a:r>
          </a:p>
          <a:p>
            <a:pPr algn="ctr"/>
            <a:r>
              <a:rPr lang="en-AU" sz="2400" dirty="0" smtClean="0"/>
              <a:t>Sometimes, the points on the scatter plot will look as though they are almost forming a straight line.</a:t>
            </a:r>
          </a:p>
          <a:p>
            <a:pPr algn="ctr"/>
            <a:r>
              <a:rPr lang="en-AU" sz="2400" dirty="0" smtClean="0"/>
              <a:t>If one variable increases as the other increases, the relationship is positive (we call this positive correlation).</a:t>
            </a:r>
          </a:p>
          <a:p>
            <a:pPr algn="ctr"/>
            <a:r>
              <a:rPr lang="en-AU" sz="2400" dirty="0" smtClean="0"/>
              <a:t>If one variable increases as the other decreases, the relationship is negative (negative correlation).</a:t>
            </a:r>
            <a:endParaRPr lang="en-AU" sz="2400" dirty="0"/>
          </a:p>
        </p:txBody>
      </p:sp>
    </p:spTree>
    <p:extLst>
      <p:ext uri="{BB962C8B-B14F-4D97-AF65-F5344CB8AC3E}">
        <p14:creationId xmlns:p14="http://schemas.microsoft.com/office/powerpoint/2010/main" val="1662527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49484" cy="461665"/>
          </a:xfrm>
          <a:prstGeom prst="rect">
            <a:avLst/>
          </a:prstGeom>
          <a:solidFill>
            <a:srgbClr val="FFFF00"/>
          </a:solidFill>
        </p:spPr>
        <p:txBody>
          <a:bodyPr wrap="square" rtlCol="0">
            <a:spAutoFit/>
          </a:bodyPr>
          <a:lstStyle/>
          <a:p>
            <a:r>
              <a:rPr lang="en-AU" sz="2400" dirty="0" smtClean="0"/>
              <a:t>Unit </a:t>
            </a:r>
            <a:r>
              <a:rPr lang="en-AU" sz="2400" smtClean="0"/>
              <a:t>3 Chapter 1C</a:t>
            </a:r>
            <a:endParaRPr lang="en-AU" sz="2400" dirty="0"/>
          </a:p>
        </p:txBody>
      </p:sp>
      <p:sp>
        <p:nvSpPr>
          <p:cNvPr id="4" name="TextBox 3"/>
          <p:cNvSpPr txBox="1"/>
          <p:nvPr/>
        </p:nvSpPr>
        <p:spPr>
          <a:xfrm>
            <a:off x="155171" y="598516"/>
            <a:ext cx="11715404" cy="1446550"/>
          </a:xfrm>
          <a:prstGeom prst="rect">
            <a:avLst/>
          </a:prstGeom>
          <a:noFill/>
        </p:spPr>
        <p:txBody>
          <a:bodyPr wrap="square" rtlCol="0">
            <a:spAutoFit/>
          </a:bodyPr>
          <a:lstStyle/>
          <a:p>
            <a:r>
              <a:rPr lang="en-AU" sz="2200" dirty="0" smtClean="0"/>
              <a:t>If we think again about the study done on countries consumption of a particular food and their rate of death due to heart disease, we can represent this data by using a scatter plot. As the food consumption is the explanatory variable, we plot it on the x axis and the number of deaths due to heart disease on the y axis (as it is the response variable).</a:t>
            </a:r>
            <a:endParaRPr lang="en-AU" sz="2200" dirty="0"/>
          </a:p>
        </p:txBody>
      </p:sp>
      <p:pic>
        <p:nvPicPr>
          <p:cNvPr id="5" name="Picture 4"/>
          <p:cNvPicPr>
            <a:picLocks noChangeAspect="1"/>
          </p:cNvPicPr>
          <p:nvPr/>
        </p:nvPicPr>
        <p:blipFill>
          <a:blip r:embed="rId2"/>
          <a:stretch>
            <a:fillRect/>
          </a:stretch>
        </p:blipFill>
        <p:spPr>
          <a:xfrm>
            <a:off x="155170" y="2181917"/>
            <a:ext cx="5187143" cy="4339876"/>
          </a:xfrm>
          <a:prstGeom prst="rect">
            <a:avLst/>
          </a:prstGeom>
        </p:spPr>
      </p:pic>
      <p:sp>
        <p:nvSpPr>
          <p:cNvPr id="6" name="TextBox 5"/>
          <p:cNvSpPr txBox="1"/>
          <p:nvPr/>
        </p:nvSpPr>
        <p:spPr>
          <a:xfrm>
            <a:off x="4987636" y="2116975"/>
            <a:ext cx="7204364" cy="1785104"/>
          </a:xfrm>
          <a:prstGeom prst="rect">
            <a:avLst/>
          </a:prstGeom>
          <a:noFill/>
        </p:spPr>
        <p:txBody>
          <a:bodyPr wrap="square" rtlCol="0">
            <a:spAutoFit/>
          </a:bodyPr>
          <a:lstStyle/>
          <a:p>
            <a:pPr algn="ctr"/>
            <a:r>
              <a:rPr lang="en-AU" sz="2200" dirty="0" smtClean="0"/>
              <a:t>We can say that in general, countries with lower consumption have lower heart disease deaths and countries with higher consumption have higher heart disease deaths. There seems to be an association, or correlation, between the food consumption and the death rate due to heart disease.</a:t>
            </a:r>
            <a:endParaRPr lang="en-AU" sz="2200" dirty="0"/>
          </a:p>
        </p:txBody>
      </p:sp>
      <p:sp>
        <p:nvSpPr>
          <p:cNvPr id="7" name="Oval 6"/>
          <p:cNvSpPr/>
          <p:nvPr/>
        </p:nvSpPr>
        <p:spPr>
          <a:xfrm rot="2928787">
            <a:off x="2156268" y="1828800"/>
            <a:ext cx="1911927" cy="4062153"/>
          </a:xfrm>
          <a:prstGeom prst="ellips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p:cNvSpPr txBox="1"/>
          <p:nvPr/>
        </p:nvSpPr>
        <p:spPr>
          <a:xfrm>
            <a:off x="4968240" y="4224516"/>
            <a:ext cx="7204364" cy="1107996"/>
          </a:xfrm>
          <a:prstGeom prst="rect">
            <a:avLst/>
          </a:prstGeom>
          <a:noFill/>
        </p:spPr>
        <p:txBody>
          <a:bodyPr wrap="square" rtlCol="0">
            <a:spAutoFit/>
          </a:bodyPr>
          <a:lstStyle/>
          <a:p>
            <a:pPr algn="ctr"/>
            <a:r>
              <a:rPr lang="en-AU" sz="2200" dirty="0" smtClean="0"/>
              <a:t>This attempts to summarise an underlying trend suggested by the scatter plot. Not every individual will necessarily fit the trend, but we can comment on the general trend.</a:t>
            </a:r>
            <a:endParaRPr lang="en-AU" sz="2200" dirty="0"/>
          </a:p>
        </p:txBody>
      </p:sp>
    </p:spTree>
    <p:extLst>
      <p:ext uri="{BB962C8B-B14F-4D97-AF65-F5344CB8AC3E}">
        <p14:creationId xmlns:p14="http://schemas.microsoft.com/office/powerpoint/2010/main" val="171139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05149" cy="461665"/>
          </a:xfrm>
          <a:prstGeom prst="rect">
            <a:avLst/>
          </a:prstGeom>
          <a:solidFill>
            <a:srgbClr val="FFFF00"/>
          </a:solidFill>
        </p:spPr>
        <p:txBody>
          <a:bodyPr wrap="square" rtlCol="0">
            <a:spAutoFit/>
          </a:bodyPr>
          <a:lstStyle/>
          <a:p>
            <a:r>
              <a:rPr lang="en-AU" sz="2400" dirty="0" smtClean="0"/>
              <a:t>Unit </a:t>
            </a:r>
            <a:r>
              <a:rPr lang="en-AU" sz="2400" smtClean="0"/>
              <a:t>3 Chapter 1C</a:t>
            </a:r>
            <a:endParaRPr lang="en-AU" sz="2400" dirty="0"/>
          </a:p>
        </p:txBody>
      </p:sp>
      <p:sp>
        <p:nvSpPr>
          <p:cNvPr id="5" name="TextBox 4"/>
          <p:cNvSpPr txBox="1"/>
          <p:nvPr/>
        </p:nvSpPr>
        <p:spPr>
          <a:xfrm>
            <a:off x="177338" y="604058"/>
            <a:ext cx="11604567" cy="769441"/>
          </a:xfrm>
          <a:prstGeom prst="rect">
            <a:avLst/>
          </a:prstGeom>
          <a:noFill/>
        </p:spPr>
        <p:txBody>
          <a:bodyPr wrap="square" rtlCol="0">
            <a:spAutoFit/>
          </a:bodyPr>
          <a:lstStyle/>
          <a:p>
            <a:r>
              <a:rPr lang="en-AU" sz="2200" dirty="0" smtClean="0"/>
              <a:t>We could attempt to draw a straight line that seems to ‘best fit’ this data. In this way, we are fitting a linear model to the situation which we could then use to make predictions.</a:t>
            </a:r>
            <a:endParaRPr lang="en-AU" sz="2200" dirty="0"/>
          </a:p>
        </p:txBody>
      </p:sp>
      <p:pic>
        <p:nvPicPr>
          <p:cNvPr id="6" name="Picture 5"/>
          <p:cNvPicPr>
            <a:picLocks noChangeAspect="1"/>
          </p:cNvPicPr>
          <p:nvPr/>
        </p:nvPicPr>
        <p:blipFill>
          <a:blip r:embed="rId2"/>
          <a:stretch>
            <a:fillRect/>
          </a:stretch>
        </p:blipFill>
        <p:spPr>
          <a:xfrm>
            <a:off x="326362" y="2012977"/>
            <a:ext cx="4623736" cy="3700637"/>
          </a:xfrm>
          <a:prstGeom prst="rect">
            <a:avLst/>
          </a:prstGeom>
        </p:spPr>
      </p:pic>
      <p:cxnSp>
        <p:nvCxnSpPr>
          <p:cNvPr id="8" name="Straight Connector 7"/>
          <p:cNvCxnSpPr/>
          <p:nvPr/>
        </p:nvCxnSpPr>
        <p:spPr>
          <a:xfrm flipH="1" flipV="1">
            <a:off x="3114502" y="3230880"/>
            <a:ext cx="11083" cy="2128058"/>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a:off x="1446415" y="3230880"/>
            <a:ext cx="1668087" cy="0"/>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4793672" y="2227811"/>
            <a:ext cx="5081847" cy="2123658"/>
          </a:xfrm>
          <a:prstGeom prst="rect">
            <a:avLst/>
          </a:prstGeom>
          <a:noFill/>
        </p:spPr>
        <p:txBody>
          <a:bodyPr wrap="square" rtlCol="0">
            <a:spAutoFit/>
          </a:bodyPr>
          <a:lstStyle/>
          <a:p>
            <a:pPr algn="ctr"/>
            <a:r>
              <a:rPr lang="en-AU" sz="2200" dirty="0" smtClean="0"/>
              <a:t>Using our line of best fit, we could suggest that a country with an intake of 45 kg of person per year of the food might have a heart disease death rate of approximately 230 persons per year per 100 000 population.</a:t>
            </a:r>
            <a:endParaRPr lang="en-AU" sz="2200" dirty="0"/>
          </a:p>
        </p:txBody>
      </p:sp>
    </p:spTree>
    <p:extLst>
      <p:ext uri="{BB962C8B-B14F-4D97-AF65-F5344CB8AC3E}">
        <p14:creationId xmlns:p14="http://schemas.microsoft.com/office/powerpoint/2010/main" val="917261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5913596" y="1584006"/>
            <a:ext cx="5763015" cy="2601931"/>
          </a:xfrm>
          <a:prstGeom prst="rect">
            <a:avLst/>
          </a:prstGeom>
        </p:spPr>
      </p:pic>
      <p:sp>
        <p:nvSpPr>
          <p:cNvPr id="14" name="TextBox 13"/>
          <p:cNvSpPr txBox="1"/>
          <p:nvPr/>
        </p:nvSpPr>
        <p:spPr>
          <a:xfrm>
            <a:off x="0" y="0"/>
            <a:ext cx="2405149" cy="461665"/>
          </a:xfrm>
          <a:prstGeom prst="rect">
            <a:avLst/>
          </a:prstGeom>
          <a:solidFill>
            <a:srgbClr val="FFFF00"/>
          </a:solidFill>
        </p:spPr>
        <p:txBody>
          <a:bodyPr wrap="square" rtlCol="0">
            <a:spAutoFit/>
          </a:bodyPr>
          <a:lstStyle/>
          <a:p>
            <a:r>
              <a:rPr lang="en-AU" sz="2400" dirty="0" smtClean="0"/>
              <a:t>Unit </a:t>
            </a:r>
            <a:r>
              <a:rPr lang="en-AU" sz="2400" smtClean="0"/>
              <a:t>3 Chapter 1C</a:t>
            </a:r>
            <a:endParaRPr lang="en-AU" sz="2400" dirty="0"/>
          </a:p>
        </p:txBody>
      </p:sp>
      <p:sp>
        <p:nvSpPr>
          <p:cNvPr id="4" name="TextBox 3"/>
          <p:cNvSpPr txBox="1"/>
          <p:nvPr/>
        </p:nvSpPr>
        <p:spPr>
          <a:xfrm>
            <a:off x="254925" y="615142"/>
            <a:ext cx="8611984" cy="5509200"/>
          </a:xfrm>
          <a:prstGeom prst="rect">
            <a:avLst/>
          </a:prstGeom>
          <a:noFill/>
        </p:spPr>
        <p:txBody>
          <a:bodyPr wrap="square" rtlCol="0">
            <a:spAutoFit/>
          </a:bodyPr>
          <a:lstStyle/>
          <a:p>
            <a:r>
              <a:rPr lang="en-AU" sz="2200" dirty="0" smtClean="0"/>
              <a:t>When considering how reliable our predictions are:</a:t>
            </a:r>
          </a:p>
          <a:p>
            <a:pPr marL="285750" indent="-285750">
              <a:buFont typeface="Arial" panose="020B0604020202020204" pitchFamily="34" charset="0"/>
              <a:buChar char="•"/>
            </a:pPr>
            <a:r>
              <a:rPr lang="en-AU" sz="2200" dirty="0" smtClean="0"/>
              <a:t>Do the points on the scatter plot suggest a linear model, or perhaps a curve or no relationship?</a:t>
            </a:r>
          </a:p>
          <a:p>
            <a:pPr marL="285750" indent="-285750">
              <a:buFont typeface="Arial" panose="020B0604020202020204" pitchFamily="34" charset="0"/>
              <a:buChar char="•"/>
            </a:pPr>
            <a:endParaRPr lang="en-AU" sz="2200" dirty="0"/>
          </a:p>
          <a:p>
            <a:pPr marL="285750" indent="-285750">
              <a:buFont typeface="Arial" panose="020B0604020202020204" pitchFamily="34" charset="0"/>
              <a:buChar char="•"/>
            </a:pPr>
            <a:endParaRPr lang="en-AU" sz="2200" dirty="0" smtClean="0"/>
          </a:p>
          <a:p>
            <a:pPr marL="285750" indent="-285750">
              <a:buFont typeface="Arial" panose="020B0604020202020204" pitchFamily="34" charset="0"/>
              <a:buChar char="•"/>
            </a:pPr>
            <a:endParaRPr lang="en-AU" sz="2200" dirty="0"/>
          </a:p>
          <a:p>
            <a:endParaRPr lang="en-AU" sz="2200" dirty="0" smtClean="0"/>
          </a:p>
          <a:p>
            <a:pPr marL="342900" indent="-342900">
              <a:buFont typeface="Arial" panose="020B0604020202020204" pitchFamily="34" charset="0"/>
              <a:buChar char="•"/>
            </a:pPr>
            <a:r>
              <a:rPr lang="en-AU" sz="2200" dirty="0" smtClean="0"/>
              <a:t>How many points does our scatter plot have? The more we have, the more confident we can be in any suggested model.</a:t>
            </a:r>
          </a:p>
          <a:p>
            <a:pPr marL="342900" indent="-342900">
              <a:buFont typeface="Arial" panose="020B0604020202020204" pitchFamily="34" charset="0"/>
              <a:buChar char="•"/>
            </a:pPr>
            <a:r>
              <a:rPr lang="en-AU" sz="2200" dirty="0" smtClean="0"/>
              <a:t>How closely do the points fit the model? The closer the points lie to a straight line, the better the model is.</a:t>
            </a:r>
          </a:p>
          <a:p>
            <a:pPr marL="342900" indent="-342900">
              <a:buFont typeface="Arial" panose="020B0604020202020204" pitchFamily="34" charset="0"/>
              <a:buChar char="•"/>
            </a:pPr>
            <a:r>
              <a:rPr lang="en-AU" sz="2200" dirty="0" smtClean="0"/>
              <a:t>Are we predicting a value within the spread of our data or is it for a value beyond this? If the value we are predicting lies within the spread, this is interpolation whereas if the predicted value lies outside it, this is extrapolation and is likely to be less reliable (and even less reliable the further outside of known values we go).</a:t>
            </a:r>
            <a:endParaRPr lang="en-AU" sz="2200" dirty="0"/>
          </a:p>
        </p:txBody>
      </p:sp>
      <p:pic>
        <p:nvPicPr>
          <p:cNvPr id="5" name="Picture 4"/>
          <p:cNvPicPr>
            <a:picLocks noChangeAspect="1"/>
          </p:cNvPicPr>
          <p:nvPr/>
        </p:nvPicPr>
        <p:blipFill>
          <a:blip r:embed="rId3"/>
          <a:stretch>
            <a:fillRect/>
          </a:stretch>
        </p:blipFill>
        <p:spPr>
          <a:xfrm>
            <a:off x="631769" y="1737886"/>
            <a:ext cx="4976551" cy="1202941"/>
          </a:xfrm>
          <a:prstGeom prst="rect">
            <a:avLst/>
          </a:prstGeom>
        </p:spPr>
      </p:pic>
    </p:spTree>
    <p:extLst>
      <p:ext uri="{BB962C8B-B14F-4D97-AF65-F5344CB8AC3E}">
        <p14:creationId xmlns:p14="http://schemas.microsoft.com/office/powerpoint/2010/main" val="3800425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405149" cy="461665"/>
          </a:xfrm>
          <a:prstGeom prst="rect">
            <a:avLst/>
          </a:prstGeom>
          <a:solidFill>
            <a:srgbClr val="FFFF00"/>
          </a:solidFill>
        </p:spPr>
        <p:txBody>
          <a:bodyPr wrap="square" rtlCol="0">
            <a:spAutoFit/>
          </a:bodyPr>
          <a:lstStyle/>
          <a:p>
            <a:r>
              <a:rPr lang="en-AU" sz="2400" dirty="0" smtClean="0"/>
              <a:t>Unit </a:t>
            </a:r>
            <a:r>
              <a:rPr lang="en-AU" sz="2400" smtClean="0"/>
              <a:t>3 Chapter 1C</a:t>
            </a:r>
            <a:endParaRPr lang="en-AU" sz="2400" dirty="0"/>
          </a:p>
        </p:txBody>
      </p:sp>
      <p:pic>
        <p:nvPicPr>
          <p:cNvPr id="3" name="Picture 2"/>
          <p:cNvPicPr>
            <a:picLocks noChangeAspect="1"/>
          </p:cNvPicPr>
          <p:nvPr/>
        </p:nvPicPr>
        <p:blipFill>
          <a:blip r:embed="rId2"/>
          <a:stretch>
            <a:fillRect/>
          </a:stretch>
        </p:blipFill>
        <p:spPr>
          <a:xfrm>
            <a:off x="6868998" y="954887"/>
            <a:ext cx="4778307" cy="4411200"/>
          </a:xfrm>
          <a:prstGeom prst="rect">
            <a:avLst/>
          </a:prstGeom>
        </p:spPr>
      </p:pic>
      <p:sp>
        <p:nvSpPr>
          <p:cNvPr id="4" name="TextBox 3"/>
          <p:cNvSpPr txBox="1"/>
          <p:nvPr/>
        </p:nvSpPr>
        <p:spPr>
          <a:xfrm>
            <a:off x="332509" y="681644"/>
            <a:ext cx="6229004" cy="6186309"/>
          </a:xfrm>
          <a:prstGeom prst="rect">
            <a:avLst/>
          </a:prstGeom>
          <a:noFill/>
        </p:spPr>
        <p:txBody>
          <a:bodyPr wrap="square" rtlCol="0">
            <a:spAutoFit/>
          </a:bodyPr>
          <a:lstStyle/>
          <a:p>
            <a:r>
              <a:rPr lang="en-AU" sz="2200" dirty="0" smtClean="0"/>
              <a:t>Going back to our original investigation, we predicted that a country with consumption of 45 kg per person per year would have 230 heart disease related deaths per year per 100 000 population.</a:t>
            </a:r>
          </a:p>
          <a:p>
            <a:endParaRPr lang="en-AU" sz="2200" dirty="0"/>
          </a:p>
          <a:p>
            <a:r>
              <a:rPr lang="en-AU" sz="2200" dirty="0" smtClean="0"/>
              <a:t>We can be reasonably confident of this prediction as:</a:t>
            </a:r>
          </a:p>
          <a:p>
            <a:pPr marL="342900" indent="-342900">
              <a:buFont typeface="Arial" panose="020B0604020202020204" pitchFamily="34" charset="0"/>
              <a:buChar char="•"/>
            </a:pPr>
            <a:r>
              <a:rPr lang="en-AU" sz="2200" dirty="0" smtClean="0"/>
              <a:t>The graph suggests a linear model is appropriate.</a:t>
            </a:r>
          </a:p>
          <a:p>
            <a:pPr marL="342900" indent="-342900">
              <a:buFont typeface="Arial" panose="020B0604020202020204" pitchFamily="34" charset="0"/>
              <a:buChar char="•"/>
            </a:pPr>
            <a:r>
              <a:rPr lang="en-AU" sz="2200" dirty="0" smtClean="0"/>
              <a:t>The graph involves a reasonable amount of points.</a:t>
            </a:r>
          </a:p>
          <a:p>
            <a:pPr marL="342900" indent="-342900">
              <a:buFont typeface="Arial" panose="020B0604020202020204" pitchFamily="34" charset="0"/>
              <a:buChar char="•"/>
            </a:pPr>
            <a:r>
              <a:rPr lang="en-AU" sz="2200" dirty="0" smtClean="0"/>
              <a:t>The figure of 45 kg per person per year is within the values covered by the data so it is interpolation.</a:t>
            </a:r>
          </a:p>
          <a:p>
            <a:pPr marL="342900" indent="-342900">
              <a:buFont typeface="Arial" panose="020B0604020202020204" pitchFamily="34" charset="0"/>
              <a:buChar char="•"/>
            </a:pPr>
            <a:endParaRPr lang="en-AU" sz="2200" dirty="0"/>
          </a:p>
          <a:p>
            <a:r>
              <a:rPr lang="en-AU" sz="2200" dirty="0" smtClean="0"/>
              <a:t>However, we would not be so confident if we continued our line of best fit to predict what would happen with 90kg of consumption per person per year as this would be extrapolation.</a:t>
            </a:r>
          </a:p>
          <a:p>
            <a:pPr marL="342900" indent="-342900">
              <a:buFont typeface="Arial" panose="020B0604020202020204" pitchFamily="34" charset="0"/>
              <a:buChar char="•"/>
            </a:pPr>
            <a:endParaRPr lang="en-AU" sz="2200" dirty="0"/>
          </a:p>
        </p:txBody>
      </p:sp>
      <p:sp>
        <p:nvSpPr>
          <p:cNvPr id="6" name="TextBox 5"/>
          <p:cNvSpPr txBox="1"/>
          <p:nvPr/>
        </p:nvSpPr>
        <p:spPr>
          <a:xfrm>
            <a:off x="2939934" y="0"/>
            <a:ext cx="2707179" cy="461665"/>
          </a:xfrm>
          <a:prstGeom prst="rect">
            <a:avLst/>
          </a:prstGeom>
          <a:solidFill>
            <a:srgbClr val="FFFF00"/>
          </a:solidFill>
        </p:spPr>
        <p:txBody>
          <a:bodyPr wrap="square" rtlCol="0">
            <a:spAutoFit/>
          </a:bodyPr>
          <a:lstStyle/>
          <a:p>
            <a:r>
              <a:rPr lang="en-AU" sz="2400" dirty="0" smtClean="0"/>
              <a:t>Now try Exercise 1C</a:t>
            </a:r>
            <a:endParaRPr lang="en-AU" sz="2400" dirty="0"/>
          </a:p>
        </p:txBody>
      </p:sp>
    </p:spTree>
    <p:extLst>
      <p:ext uri="{BB962C8B-B14F-4D97-AF65-F5344CB8AC3E}">
        <p14:creationId xmlns:p14="http://schemas.microsoft.com/office/powerpoint/2010/main" val="3307697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810</Words>
  <Application>Microsoft Office PowerPoint</Application>
  <PresentationFormat>Widescreen</PresentationFormat>
  <Paragraphs>46</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LEVITT Megan [Harrisdale Senior High School]</dc:creator>
  <cp:lastModifiedBy>LEVITT Megan [Harrisdale Senior High School]</cp:lastModifiedBy>
  <cp:revision>14</cp:revision>
  <dcterms:created xsi:type="dcterms:W3CDTF">2021-06-15T06:02:12Z</dcterms:created>
  <dcterms:modified xsi:type="dcterms:W3CDTF">2021-10-28T01:34:53Z</dcterms:modified>
</cp:coreProperties>
</file>
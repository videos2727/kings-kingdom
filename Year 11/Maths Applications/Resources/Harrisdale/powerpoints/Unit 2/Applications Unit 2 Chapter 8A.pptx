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85" autoAdjust="0"/>
    <p:restoredTop sz="94660"/>
  </p:normalViewPr>
  <p:slideViewPr>
    <p:cSldViewPr snapToGrid="0">
      <p:cViewPr varScale="1">
        <p:scale>
          <a:sx n="83" d="100"/>
          <a:sy n="83" d="100"/>
        </p:scale>
        <p:origin x="81" y="1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7/09/2021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6353325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7/09/2021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961425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E10A132-FF45-4605-9BB8-80702934D916}" type="datetimeFigureOut">
              <a:rPr lang="en-AU" smtClean="0"/>
              <a:t>7/09/2021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519000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1E10A132-FF45-4605-9BB8-80702934D916}" type="datetimeFigureOut">
              <a:rPr lang="en-AU" smtClean="0"/>
              <a:t>7/09/2021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621266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1E10A132-FF45-4605-9BB8-80702934D916}" type="datetimeFigureOut">
              <a:rPr lang="en-AU" smtClean="0"/>
              <a:t>7/09/2021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3806612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1E10A132-FF45-4605-9BB8-80702934D916}" type="datetimeFigureOut">
              <a:rPr lang="en-AU" smtClean="0"/>
              <a:t>7/09/2021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9169673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10A132-FF45-4605-9BB8-80702934D916}" type="datetimeFigureOut">
              <a:rPr lang="en-AU" smtClean="0"/>
              <a:t>7/09/2021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27402647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10A132-FF45-4605-9BB8-80702934D916}" type="datetimeFigureOut">
              <a:rPr lang="en-AU" smtClean="0"/>
              <a:t>7/09/2021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618241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E10A132-FF45-4605-9BB8-80702934D916}" type="datetimeFigureOut">
              <a:rPr lang="en-AU" smtClean="0"/>
              <a:t>7/09/2021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1426928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7/09/2021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6493064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E10A132-FF45-4605-9BB8-80702934D916}" type="datetimeFigureOut">
              <a:rPr lang="en-AU" smtClean="0"/>
              <a:t>7/09/2021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E3931-47A2-415E-8FB2-549750A36BAE}" type="slidenum">
              <a:rPr lang="en-AU" smtClean="0"/>
              <a:t>‹#›</a:t>
            </a:fld>
            <a:endParaRPr lang="en-AU"/>
          </a:p>
        </p:txBody>
      </p:sp>
    </p:spTree>
    <p:extLst>
      <p:ext uri="{BB962C8B-B14F-4D97-AF65-F5344CB8AC3E}">
        <p14:creationId xmlns:p14="http://schemas.microsoft.com/office/powerpoint/2010/main" val="40101921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10A132-FF45-4605-9BB8-80702934D916}" type="datetimeFigureOut">
              <a:rPr lang="en-AU" smtClean="0"/>
              <a:t>7/09/2021</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DE3931-47A2-415E-8FB2-549750A36BAE}" type="slidenum">
              <a:rPr lang="en-AU" smtClean="0"/>
              <a:t>‹#›</a:t>
            </a:fld>
            <a:endParaRPr lang="en-AU"/>
          </a:p>
        </p:txBody>
      </p:sp>
    </p:spTree>
    <p:extLst>
      <p:ext uri="{BB962C8B-B14F-4D97-AF65-F5344CB8AC3E}">
        <p14:creationId xmlns:p14="http://schemas.microsoft.com/office/powerpoint/2010/main" val="1862188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227097" cy="461665"/>
          </a:xfrm>
          <a:prstGeom prst="rect">
            <a:avLst/>
          </a:prstGeom>
          <a:solidFill>
            <a:srgbClr val="FFFF00"/>
          </a:solidFill>
        </p:spPr>
        <p:txBody>
          <a:bodyPr wrap="square" rtlCol="0">
            <a:spAutoFit/>
          </a:bodyPr>
          <a:lstStyle/>
          <a:p>
            <a:r>
              <a:rPr lang="en-AU" sz="2400" dirty="0" smtClean="0"/>
              <a:t>Situation One</a:t>
            </a:r>
            <a:endParaRPr lang="en-AU" sz="2400" dirty="0"/>
          </a:p>
        </p:txBody>
      </p:sp>
      <p:sp>
        <p:nvSpPr>
          <p:cNvPr id="2" name="TextBox 1"/>
          <p:cNvSpPr txBox="1"/>
          <p:nvPr/>
        </p:nvSpPr>
        <p:spPr>
          <a:xfrm>
            <a:off x="184030" y="575094"/>
            <a:ext cx="11294853" cy="2862322"/>
          </a:xfrm>
          <a:prstGeom prst="rect">
            <a:avLst/>
          </a:prstGeom>
          <a:noFill/>
        </p:spPr>
        <p:txBody>
          <a:bodyPr wrap="square" rtlCol="0">
            <a:spAutoFit/>
          </a:bodyPr>
          <a:lstStyle/>
          <a:p>
            <a:r>
              <a:rPr lang="en-AU" sz="2400" dirty="0" smtClean="0"/>
              <a:t>Suppose that each copy of a particular book weighs 1.5kg.</a:t>
            </a:r>
          </a:p>
          <a:p>
            <a:endParaRPr lang="en-AU" sz="2400" dirty="0"/>
          </a:p>
          <a:p>
            <a:r>
              <a:rPr lang="en-AU" sz="2400" dirty="0" smtClean="0"/>
              <a:t>If we place copies of this book on a set of scales, each time we add one more book so the weight shown will increase by 1.5kg.</a:t>
            </a:r>
          </a:p>
          <a:p>
            <a:endParaRPr lang="en-AU" sz="2400" dirty="0"/>
          </a:p>
          <a:p>
            <a:r>
              <a:rPr lang="en-AU" sz="2400" dirty="0" smtClean="0"/>
              <a:t>We can model this in two ways:</a:t>
            </a:r>
          </a:p>
          <a:p>
            <a:endParaRPr lang="en-AU" dirty="0" smtClean="0"/>
          </a:p>
          <a:p>
            <a:endParaRPr lang="en-AU" dirty="0"/>
          </a:p>
        </p:txBody>
      </p:sp>
      <p:graphicFrame>
        <p:nvGraphicFramePr>
          <p:cNvPr id="3" name="Table 2"/>
          <p:cNvGraphicFramePr>
            <a:graphicFrameLocks noGrp="1"/>
          </p:cNvGraphicFramePr>
          <p:nvPr>
            <p:extLst>
              <p:ext uri="{D42A27DB-BD31-4B8C-83A1-F6EECF244321}">
                <p14:modId xmlns:p14="http://schemas.microsoft.com/office/powerpoint/2010/main" val="1852882597"/>
              </p:ext>
            </p:extLst>
          </p:nvPr>
        </p:nvGraphicFramePr>
        <p:xfrm>
          <a:off x="277962" y="3082845"/>
          <a:ext cx="11327453" cy="936000"/>
        </p:xfrm>
        <a:graphic>
          <a:graphicData uri="http://schemas.openxmlformats.org/drawingml/2006/table">
            <a:tbl>
              <a:tblPr firstRow="1" bandRow="1">
                <a:tableStyleId>{073A0DAA-6AF3-43AB-8588-CEC1D06C72B9}</a:tableStyleId>
              </a:tblPr>
              <a:tblGrid>
                <a:gridCol w="2143823">
                  <a:extLst>
                    <a:ext uri="{9D8B030D-6E8A-4147-A177-3AD203B41FA5}">
                      <a16:colId xmlns:a16="http://schemas.microsoft.com/office/drawing/2014/main" val="2056920446"/>
                    </a:ext>
                  </a:extLst>
                </a:gridCol>
                <a:gridCol w="918363">
                  <a:extLst>
                    <a:ext uri="{9D8B030D-6E8A-4147-A177-3AD203B41FA5}">
                      <a16:colId xmlns:a16="http://schemas.microsoft.com/office/drawing/2014/main" val="1249924637"/>
                    </a:ext>
                  </a:extLst>
                </a:gridCol>
                <a:gridCol w="918363">
                  <a:extLst>
                    <a:ext uri="{9D8B030D-6E8A-4147-A177-3AD203B41FA5}">
                      <a16:colId xmlns:a16="http://schemas.microsoft.com/office/drawing/2014/main" val="2049648085"/>
                    </a:ext>
                  </a:extLst>
                </a:gridCol>
                <a:gridCol w="918363">
                  <a:extLst>
                    <a:ext uri="{9D8B030D-6E8A-4147-A177-3AD203B41FA5}">
                      <a16:colId xmlns:a16="http://schemas.microsoft.com/office/drawing/2014/main" val="123749504"/>
                    </a:ext>
                  </a:extLst>
                </a:gridCol>
                <a:gridCol w="918363">
                  <a:extLst>
                    <a:ext uri="{9D8B030D-6E8A-4147-A177-3AD203B41FA5}">
                      <a16:colId xmlns:a16="http://schemas.microsoft.com/office/drawing/2014/main" val="1520010306"/>
                    </a:ext>
                  </a:extLst>
                </a:gridCol>
                <a:gridCol w="918363">
                  <a:extLst>
                    <a:ext uri="{9D8B030D-6E8A-4147-A177-3AD203B41FA5}">
                      <a16:colId xmlns:a16="http://schemas.microsoft.com/office/drawing/2014/main" val="1983672441"/>
                    </a:ext>
                  </a:extLst>
                </a:gridCol>
                <a:gridCol w="918363">
                  <a:extLst>
                    <a:ext uri="{9D8B030D-6E8A-4147-A177-3AD203B41FA5}">
                      <a16:colId xmlns:a16="http://schemas.microsoft.com/office/drawing/2014/main" val="1880401571"/>
                    </a:ext>
                  </a:extLst>
                </a:gridCol>
                <a:gridCol w="918363">
                  <a:extLst>
                    <a:ext uri="{9D8B030D-6E8A-4147-A177-3AD203B41FA5}">
                      <a16:colId xmlns:a16="http://schemas.microsoft.com/office/drawing/2014/main" val="3394662312"/>
                    </a:ext>
                  </a:extLst>
                </a:gridCol>
                <a:gridCol w="918363">
                  <a:extLst>
                    <a:ext uri="{9D8B030D-6E8A-4147-A177-3AD203B41FA5}">
                      <a16:colId xmlns:a16="http://schemas.microsoft.com/office/drawing/2014/main" val="1271193808"/>
                    </a:ext>
                  </a:extLst>
                </a:gridCol>
                <a:gridCol w="918363">
                  <a:extLst>
                    <a:ext uri="{9D8B030D-6E8A-4147-A177-3AD203B41FA5}">
                      <a16:colId xmlns:a16="http://schemas.microsoft.com/office/drawing/2014/main" val="3548630681"/>
                    </a:ext>
                  </a:extLst>
                </a:gridCol>
                <a:gridCol w="918363">
                  <a:extLst>
                    <a:ext uri="{9D8B030D-6E8A-4147-A177-3AD203B41FA5}">
                      <a16:colId xmlns:a16="http://schemas.microsoft.com/office/drawing/2014/main" val="1416142647"/>
                    </a:ext>
                  </a:extLst>
                </a:gridCol>
              </a:tblGrid>
              <a:tr h="468000">
                <a:tc>
                  <a:txBody>
                    <a:bodyPr/>
                    <a:lstStyle/>
                    <a:p>
                      <a:r>
                        <a:rPr lang="en-AU" dirty="0" smtClean="0"/>
                        <a:t>Number of copies, c</a:t>
                      </a:r>
                      <a:endParaRPr lang="en-AU" dirty="0"/>
                    </a:p>
                  </a:txBody>
                  <a:tcPr/>
                </a:tc>
                <a:tc>
                  <a:txBody>
                    <a:bodyPr/>
                    <a:lstStyle/>
                    <a:p>
                      <a:pPr algn="ctr"/>
                      <a:r>
                        <a:rPr lang="en-AU" sz="2400" dirty="0" smtClean="0"/>
                        <a:t>1</a:t>
                      </a:r>
                      <a:endParaRPr lang="en-AU" sz="2400" dirty="0"/>
                    </a:p>
                  </a:txBody>
                  <a:tcPr/>
                </a:tc>
                <a:tc>
                  <a:txBody>
                    <a:bodyPr/>
                    <a:lstStyle/>
                    <a:p>
                      <a:pPr algn="ctr"/>
                      <a:r>
                        <a:rPr lang="en-AU" sz="2400" dirty="0" smtClean="0"/>
                        <a:t>2</a:t>
                      </a:r>
                      <a:endParaRPr lang="en-AU" sz="2400" dirty="0"/>
                    </a:p>
                  </a:txBody>
                  <a:tcPr/>
                </a:tc>
                <a:tc>
                  <a:txBody>
                    <a:bodyPr/>
                    <a:lstStyle/>
                    <a:p>
                      <a:pPr algn="ctr"/>
                      <a:r>
                        <a:rPr lang="en-AU" sz="2400" dirty="0" smtClean="0"/>
                        <a:t>3</a:t>
                      </a:r>
                      <a:endParaRPr lang="en-AU" sz="2400" dirty="0"/>
                    </a:p>
                  </a:txBody>
                  <a:tcPr/>
                </a:tc>
                <a:tc>
                  <a:txBody>
                    <a:bodyPr/>
                    <a:lstStyle/>
                    <a:p>
                      <a:pPr algn="ctr"/>
                      <a:r>
                        <a:rPr lang="en-AU" sz="2400" dirty="0" smtClean="0"/>
                        <a:t>4</a:t>
                      </a:r>
                      <a:endParaRPr lang="en-AU" sz="2400" dirty="0"/>
                    </a:p>
                  </a:txBody>
                  <a:tcPr/>
                </a:tc>
                <a:tc>
                  <a:txBody>
                    <a:bodyPr/>
                    <a:lstStyle/>
                    <a:p>
                      <a:pPr algn="ctr"/>
                      <a:r>
                        <a:rPr lang="en-AU" sz="2400" dirty="0" smtClean="0"/>
                        <a:t>5</a:t>
                      </a:r>
                      <a:endParaRPr lang="en-AU" sz="2400" dirty="0"/>
                    </a:p>
                  </a:txBody>
                  <a:tcPr/>
                </a:tc>
                <a:tc>
                  <a:txBody>
                    <a:bodyPr/>
                    <a:lstStyle/>
                    <a:p>
                      <a:pPr algn="ctr"/>
                      <a:r>
                        <a:rPr lang="en-AU" sz="2400" dirty="0" smtClean="0"/>
                        <a:t>6</a:t>
                      </a:r>
                      <a:endParaRPr lang="en-AU" sz="2400" dirty="0"/>
                    </a:p>
                  </a:txBody>
                  <a:tcPr/>
                </a:tc>
                <a:tc>
                  <a:txBody>
                    <a:bodyPr/>
                    <a:lstStyle/>
                    <a:p>
                      <a:pPr algn="ctr"/>
                      <a:r>
                        <a:rPr lang="en-AU" sz="2400" dirty="0" smtClean="0"/>
                        <a:t>7</a:t>
                      </a:r>
                      <a:endParaRPr lang="en-AU" sz="2400" dirty="0"/>
                    </a:p>
                  </a:txBody>
                  <a:tcPr/>
                </a:tc>
                <a:tc>
                  <a:txBody>
                    <a:bodyPr/>
                    <a:lstStyle/>
                    <a:p>
                      <a:pPr algn="ctr"/>
                      <a:r>
                        <a:rPr lang="en-AU" sz="2400" dirty="0" smtClean="0"/>
                        <a:t>8</a:t>
                      </a:r>
                      <a:endParaRPr lang="en-AU" sz="2400" dirty="0"/>
                    </a:p>
                  </a:txBody>
                  <a:tcPr/>
                </a:tc>
                <a:tc>
                  <a:txBody>
                    <a:bodyPr/>
                    <a:lstStyle/>
                    <a:p>
                      <a:pPr algn="ctr"/>
                      <a:r>
                        <a:rPr lang="en-AU" sz="2400" dirty="0" smtClean="0"/>
                        <a:t>9</a:t>
                      </a:r>
                      <a:endParaRPr lang="en-AU" sz="2400" dirty="0"/>
                    </a:p>
                  </a:txBody>
                  <a:tcPr/>
                </a:tc>
                <a:tc>
                  <a:txBody>
                    <a:bodyPr/>
                    <a:lstStyle/>
                    <a:p>
                      <a:pPr algn="ctr"/>
                      <a:r>
                        <a:rPr lang="en-AU" sz="2400" dirty="0" smtClean="0"/>
                        <a:t>10</a:t>
                      </a:r>
                      <a:endParaRPr lang="en-AU" sz="2400" dirty="0"/>
                    </a:p>
                  </a:txBody>
                  <a:tcPr/>
                </a:tc>
                <a:extLst>
                  <a:ext uri="{0D108BD9-81ED-4DB2-BD59-A6C34878D82A}">
                    <a16:rowId xmlns:a16="http://schemas.microsoft.com/office/drawing/2014/main" val="4072838982"/>
                  </a:ext>
                </a:extLst>
              </a:tr>
              <a:tr h="468000">
                <a:tc>
                  <a:txBody>
                    <a:bodyPr/>
                    <a:lstStyle/>
                    <a:p>
                      <a:r>
                        <a:rPr lang="en-AU" dirty="0" smtClean="0"/>
                        <a:t>Number of kg, w</a:t>
                      </a:r>
                      <a:endParaRPr lang="en-AU" dirty="0"/>
                    </a:p>
                  </a:txBody>
                  <a:tcPr/>
                </a:tc>
                <a:tc>
                  <a:txBody>
                    <a:bodyPr/>
                    <a:lstStyle/>
                    <a:p>
                      <a:pPr algn="ctr"/>
                      <a:r>
                        <a:rPr lang="en-AU" sz="2400" dirty="0" smtClean="0"/>
                        <a:t>1.5</a:t>
                      </a:r>
                      <a:endParaRPr lang="en-AU" sz="2400" dirty="0"/>
                    </a:p>
                  </a:txBody>
                  <a:tcPr/>
                </a:tc>
                <a:tc>
                  <a:txBody>
                    <a:bodyPr/>
                    <a:lstStyle/>
                    <a:p>
                      <a:pPr algn="ctr"/>
                      <a:r>
                        <a:rPr lang="en-AU" sz="2400" dirty="0" smtClean="0"/>
                        <a:t>3</a:t>
                      </a:r>
                      <a:endParaRPr lang="en-AU" sz="2400" dirty="0"/>
                    </a:p>
                  </a:txBody>
                  <a:tcPr/>
                </a:tc>
                <a:tc>
                  <a:txBody>
                    <a:bodyPr/>
                    <a:lstStyle/>
                    <a:p>
                      <a:pPr algn="ctr"/>
                      <a:r>
                        <a:rPr lang="en-AU" sz="2400" dirty="0" smtClean="0"/>
                        <a:t>4.5</a:t>
                      </a:r>
                      <a:endParaRPr lang="en-AU" sz="2400" dirty="0"/>
                    </a:p>
                  </a:txBody>
                  <a:tcPr/>
                </a:tc>
                <a:tc>
                  <a:txBody>
                    <a:bodyPr/>
                    <a:lstStyle/>
                    <a:p>
                      <a:pPr algn="ctr"/>
                      <a:r>
                        <a:rPr lang="en-AU" sz="2400" dirty="0" smtClean="0"/>
                        <a:t>6</a:t>
                      </a:r>
                      <a:endParaRPr lang="en-AU" sz="2400" dirty="0"/>
                    </a:p>
                  </a:txBody>
                  <a:tcPr/>
                </a:tc>
                <a:tc>
                  <a:txBody>
                    <a:bodyPr/>
                    <a:lstStyle/>
                    <a:p>
                      <a:pPr algn="ctr"/>
                      <a:r>
                        <a:rPr lang="en-AU" sz="2400" dirty="0" smtClean="0"/>
                        <a:t>7.5</a:t>
                      </a:r>
                      <a:endParaRPr lang="en-AU" sz="2400" dirty="0"/>
                    </a:p>
                  </a:txBody>
                  <a:tcPr/>
                </a:tc>
                <a:tc>
                  <a:txBody>
                    <a:bodyPr/>
                    <a:lstStyle/>
                    <a:p>
                      <a:pPr algn="ctr"/>
                      <a:r>
                        <a:rPr lang="en-AU" sz="2400" dirty="0" smtClean="0"/>
                        <a:t>9</a:t>
                      </a:r>
                      <a:endParaRPr lang="en-AU" sz="2400" dirty="0"/>
                    </a:p>
                  </a:txBody>
                  <a:tcPr/>
                </a:tc>
                <a:tc>
                  <a:txBody>
                    <a:bodyPr/>
                    <a:lstStyle/>
                    <a:p>
                      <a:pPr algn="ctr"/>
                      <a:r>
                        <a:rPr lang="en-AU" sz="2400" dirty="0" smtClean="0"/>
                        <a:t>10.5</a:t>
                      </a:r>
                      <a:endParaRPr lang="en-AU" sz="2400" dirty="0"/>
                    </a:p>
                  </a:txBody>
                  <a:tcPr/>
                </a:tc>
                <a:tc>
                  <a:txBody>
                    <a:bodyPr/>
                    <a:lstStyle/>
                    <a:p>
                      <a:pPr algn="ctr"/>
                      <a:r>
                        <a:rPr lang="en-AU" sz="2400" dirty="0" smtClean="0"/>
                        <a:t>12</a:t>
                      </a:r>
                      <a:endParaRPr lang="en-AU" sz="2400" dirty="0"/>
                    </a:p>
                  </a:txBody>
                  <a:tcPr/>
                </a:tc>
                <a:tc>
                  <a:txBody>
                    <a:bodyPr/>
                    <a:lstStyle/>
                    <a:p>
                      <a:pPr algn="ctr"/>
                      <a:r>
                        <a:rPr lang="en-AU" sz="2400" dirty="0" smtClean="0"/>
                        <a:t>13.5</a:t>
                      </a:r>
                      <a:endParaRPr lang="en-AU" sz="2400" dirty="0"/>
                    </a:p>
                  </a:txBody>
                  <a:tcPr/>
                </a:tc>
                <a:tc>
                  <a:txBody>
                    <a:bodyPr/>
                    <a:lstStyle/>
                    <a:p>
                      <a:pPr algn="ctr"/>
                      <a:r>
                        <a:rPr lang="en-AU" sz="2400" dirty="0" smtClean="0"/>
                        <a:t>15</a:t>
                      </a:r>
                      <a:endParaRPr lang="en-AU" sz="2400" dirty="0"/>
                    </a:p>
                  </a:txBody>
                  <a:tcPr/>
                </a:tc>
                <a:extLst>
                  <a:ext uri="{0D108BD9-81ED-4DB2-BD59-A6C34878D82A}">
                    <a16:rowId xmlns:a16="http://schemas.microsoft.com/office/drawing/2014/main" val="4016370420"/>
                  </a:ext>
                </a:extLst>
              </a:tr>
            </a:tbl>
          </a:graphicData>
        </a:graphic>
      </p:graphicFrame>
      <p:pic>
        <p:nvPicPr>
          <p:cNvPr id="7" name="Picture 6"/>
          <p:cNvPicPr>
            <a:picLocks noChangeAspect="1"/>
          </p:cNvPicPr>
          <p:nvPr/>
        </p:nvPicPr>
        <p:blipFill>
          <a:blip r:embed="rId2"/>
          <a:stretch>
            <a:fillRect/>
          </a:stretch>
        </p:blipFill>
        <p:spPr>
          <a:xfrm>
            <a:off x="6734115" y="2297771"/>
            <a:ext cx="4838700" cy="4505325"/>
          </a:xfrm>
          <a:prstGeom prst="rect">
            <a:avLst/>
          </a:prstGeom>
        </p:spPr>
      </p:pic>
      <p:sp>
        <p:nvSpPr>
          <p:cNvPr id="8" name="TextBox 7"/>
          <p:cNvSpPr txBox="1"/>
          <p:nvPr/>
        </p:nvSpPr>
        <p:spPr>
          <a:xfrm>
            <a:off x="1230582" y="4342254"/>
            <a:ext cx="4456981" cy="461665"/>
          </a:xfrm>
          <a:prstGeom prst="rect">
            <a:avLst/>
          </a:prstGeom>
          <a:noFill/>
        </p:spPr>
        <p:txBody>
          <a:bodyPr wrap="square" rtlCol="0">
            <a:spAutoFit/>
          </a:bodyPr>
          <a:lstStyle/>
          <a:p>
            <a:r>
              <a:rPr lang="en-AU" sz="2400" dirty="0" smtClean="0"/>
              <a:t>What rule connects c and w?</a:t>
            </a:r>
            <a:endParaRPr lang="en-AU" dirty="0"/>
          </a:p>
        </p:txBody>
      </p:sp>
      <mc:AlternateContent xmlns:mc="http://schemas.openxmlformats.org/markup-compatibility/2006" xmlns:a14="http://schemas.microsoft.com/office/drawing/2010/main">
        <mc:Choice Requires="a14">
          <p:sp>
            <p:nvSpPr>
              <p:cNvPr id="10" name="TextBox 9"/>
              <p:cNvSpPr txBox="1"/>
              <p:nvPr/>
            </p:nvSpPr>
            <p:spPr>
              <a:xfrm>
                <a:off x="1113548" y="5345864"/>
                <a:ext cx="4456981"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800" b="0" i="1" smtClean="0">
                          <a:latin typeface="Cambria Math" panose="02040503050406030204" pitchFamily="18" charset="0"/>
                        </a:rPr>
                        <m:t>𝑤</m:t>
                      </m:r>
                      <m:r>
                        <a:rPr lang="en-AU" sz="2800" b="0" i="1" smtClean="0">
                          <a:latin typeface="Cambria Math" panose="02040503050406030204" pitchFamily="18" charset="0"/>
                        </a:rPr>
                        <m:t>=1.5</m:t>
                      </m:r>
                      <m:r>
                        <a:rPr lang="en-AU" sz="2800" b="0" i="1" smtClean="0">
                          <a:latin typeface="Cambria Math" panose="02040503050406030204" pitchFamily="18" charset="0"/>
                        </a:rPr>
                        <m:t>𝑐</m:t>
                      </m:r>
                    </m:oMath>
                  </m:oMathPara>
                </a14:m>
                <a:endParaRPr lang="en-AU" dirty="0"/>
              </a:p>
            </p:txBody>
          </p:sp>
        </mc:Choice>
        <mc:Fallback xmlns="">
          <p:sp>
            <p:nvSpPr>
              <p:cNvPr id="10" name="TextBox 9"/>
              <p:cNvSpPr txBox="1">
                <a:spLocks noRot="1" noChangeAspect="1" noMove="1" noResize="1" noEditPoints="1" noAdjustHandles="1" noChangeArrowheads="1" noChangeShapeType="1" noTextEdit="1"/>
              </p:cNvSpPr>
              <p:nvPr/>
            </p:nvSpPr>
            <p:spPr>
              <a:xfrm>
                <a:off x="1113548" y="5345864"/>
                <a:ext cx="4456981" cy="523220"/>
              </a:xfrm>
              <a:prstGeom prst="rect">
                <a:avLst/>
              </a:prstGeom>
              <a:blipFill>
                <a:blip r:embed="rId3"/>
                <a:stretch>
                  <a:fillRect/>
                </a:stretch>
              </a:blipFill>
            </p:spPr>
            <p:txBody>
              <a:bodyPr/>
              <a:lstStyle/>
              <a:p>
                <a:r>
                  <a:rPr lang="en-AU">
                    <a:noFill/>
                  </a:rPr>
                  <a:t> </a:t>
                </a:r>
              </a:p>
            </p:txBody>
          </p:sp>
        </mc:Fallback>
      </mc:AlternateContent>
    </p:spTree>
    <p:extLst>
      <p:ext uri="{BB962C8B-B14F-4D97-AF65-F5344CB8AC3E}">
        <p14:creationId xmlns:p14="http://schemas.microsoft.com/office/powerpoint/2010/main" val="3739359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227097" cy="461665"/>
          </a:xfrm>
          <a:prstGeom prst="rect">
            <a:avLst/>
          </a:prstGeom>
          <a:solidFill>
            <a:srgbClr val="FFFF00"/>
          </a:solidFill>
        </p:spPr>
        <p:txBody>
          <a:bodyPr wrap="square" rtlCol="0">
            <a:spAutoFit/>
          </a:bodyPr>
          <a:lstStyle/>
          <a:p>
            <a:r>
              <a:rPr lang="en-AU" sz="2400" dirty="0" smtClean="0"/>
              <a:t>Situation Two</a:t>
            </a:r>
            <a:endParaRPr lang="en-AU" sz="2400" dirty="0"/>
          </a:p>
        </p:txBody>
      </p:sp>
      <p:sp>
        <p:nvSpPr>
          <p:cNvPr id="2" name="TextBox 1"/>
          <p:cNvSpPr txBox="1"/>
          <p:nvPr/>
        </p:nvSpPr>
        <p:spPr>
          <a:xfrm>
            <a:off x="184030" y="575094"/>
            <a:ext cx="11294853" cy="2862322"/>
          </a:xfrm>
          <a:prstGeom prst="rect">
            <a:avLst/>
          </a:prstGeom>
          <a:noFill/>
        </p:spPr>
        <p:txBody>
          <a:bodyPr wrap="square" rtlCol="0">
            <a:spAutoFit/>
          </a:bodyPr>
          <a:lstStyle/>
          <a:p>
            <a:r>
              <a:rPr lang="en-AU" sz="2400" dirty="0" smtClean="0"/>
              <a:t>At 8am one morning there are 20 large concrete blocks in a builders yard that need to be delivered to a worksite. A truck from a transport company is due to arrive at the builders yard in one hour to pick up four blocks, take the to the worksite and then return for four more one hour later, repeating the process until all 20 blocks have been removed.</a:t>
            </a:r>
          </a:p>
          <a:p>
            <a:endParaRPr lang="en-AU" sz="2400" dirty="0"/>
          </a:p>
          <a:p>
            <a:r>
              <a:rPr lang="en-AU" sz="2400" dirty="0" smtClean="0"/>
              <a:t>We can model this in two ways:</a:t>
            </a:r>
          </a:p>
          <a:p>
            <a:endParaRPr lang="en-AU" dirty="0" smtClean="0"/>
          </a:p>
          <a:p>
            <a:endParaRPr lang="en-AU" dirty="0"/>
          </a:p>
        </p:txBody>
      </p:sp>
      <p:graphicFrame>
        <p:nvGraphicFramePr>
          <p:cNvPr id="3" name="Table 2"/>
          <p:cNvGraphicFramePr>
            <a:graphicFrameLocks noGrp="1"/>
          </p:cNvGraphicFramePr>
          <p:nvPr>
            <p:extLst>
              <p:ext uri="{D42A27DB-BD31-4B8C-83A1-F6EECF244321}">
                <p14:modId xmlns:p14="http://schemas.microsoft.com/office/powerpoint/2010/main" val="1333260486"/>
              </p:ext>
            </p:extLst>
          </p:nvPr>
        </p:nvGraphicFramePr>
        <p:xfrm>
          <a:off x="277962" y="3082845"/>
          <a:ext cx="6735637" cy="1280160"/>
        </p:xfrm>
        <a:graphic>
          <a:graphicData uri="http://schemas.openxmlformats.org/drawingml/2006/table">
            <a:tbl>
              <a:tblPr firstRow="1" bandRow="1">
                <a:tableStyleId>{073A0DAA-6AF3-43AB-8588-CEC1D06C72B9}</a:tableStyleId>
              </a:tblPr>
              <a:tblGrid>
                <a:gridCol w="2857783">
                  <a:extLst>
                    <a:ext uri="{9D8B030D-6E8A-4147-A177-3AD203B41FA5}">
                      <a16:colId xmlns:a16="http://schemas.microsoft.com/office/drawing/2014/main" val="2056920446"/>
                    </a:ext>
                  </a:extLst>
                </a:gridCol>
                <a:gridCol w="646309">
                  <a:extLst>
                    <a:ext uri="{9D8B030D-6E8A-4147-A177-3AD203B41FA5}">
                      <a16:colId xmlns:a16="http://schemas.microsoft.com/office/drawing/2014/main" val="1249924637"/>
                    </a:ext>
                  </a:extLst>
                </a:gridCol>
                <a:gridCol w="646309">
                  <a:extLst>
                    <a:ext uri="{9D8B030D-6E8A-4147-A177-3AD203B41FA5}">
                      <a16:colId xmlns:a16="http://schemas.microsoft.com/office/drawing/2014/main" val="2049648085"/>
                    </a:ext>
                  </a:extLst>
                </a:gridCol>
                <a:gridCol w="646309">
                  <a:extLst>
                    <a:ext uri="{9D8B030D-6E8A-4147-A177-3AD203B41FA5}">
                      <a16:colId xmlns:a16="http://schemas.microsoft.com/office/drawing/2014/main" val="123749504"/>
                    </a:ext>
                  </a:extLst>
                </a:gridCol>
                <a:gridCol w="646309">
                  <a:extLst>
                    <a:ext uri="{9D8B030D-6E8A-4147-A177-3AD203B41FA5}">
                      <a16:colId xmlns:a16="http://schemas.microsoft.com/office/drawing/2014/main" val="1520010306"/>
                    </a:ext>
                  </a:extLst>
                </a:gridCol>
                <a:gridCol w="646309">
                  <a:extLst>
                    <a:ext uri="{9D8B030D-6E8A-4147-A177-3AD203B41FA5}">
                      <a16:colId xmlns:a16="http://schemas.microsoft.com/office/drawing/2014/main" val="1983672441"/>
                    </a:ext>
                  </a:extLst>
                </a:gridCol>
                <a:gridCol w="646309">
                  <a:extLst>
                    <a:ext uri="{9D8B030D-6E8A-4147-A177-3AD203B41FA5}">
                      <a16:colId xmlns:a16="http://schemas.microsoft.com/office/drawing/2014/main" val="2466534197"/>
                    </a:ext>
                  </a:extLst>
                </a:gridCol>
              </a:tblGrid>
              <a:tr h="468000">
                <a:tc>
                  <a:txBody>
                    <a:bodyPr/>
                    <a:lstStyle/>
                    <a:p>
                      <a:r>
                        <a:rPr lang="en-AU" dirty="0" smtClean="0"/>
                        <a:t>Number of hours</a:t>
                      </a:r>
                      <a:r>
                        <a:rPr lang="en-AU" baseline="0" dirty="0" smtClean="0"/>
                        <a:t> past 8am</a:t>
                      </a:r>
                      <a:r>
                        <a:rPr lang="en-AU" dirty="0" smtClean="0"/>
                        <a:t>, h</a:t>
                      </a:r>
                      <a:endParaRPr lang="en-AU" dirty="0"/>
                    </a:p>
                  </a:txBody>
                  <a:tcPr/>
                </a:tc>
                <a:tc>
                  <a:txBody>
                    <a:bodyPr/>
                    <a:lstStyle/>
                    <a:p>
                      <a:pPr algn="ctr"/>
                      <a:r>
                        <a:rPr lang="en-AU" sz="2400" dirty="0" smtClean="0"/>
                        <a:t>0</a:t>
                      </a:r>
                      <a:endParaRPr lang="en-AU" sz="2400" dirty="0"/>
                    </a:p>
                  </a:txBody>
                  <a:tcPr/>
                </a:tc>
                <a:tc>
                  <a:txBody>
                    <a:bodyPr/>
                    <a:lstStyle/>
                    <a:p>
                      <a:pPr algn="ctr"/>
                      <a:r>
                        <a:rPr lang="en-AU" sz="2400" dirty="0" smtClean="0"/>
                        <a:t>1</a:t>
                      </a:r>
                      <a:endParaRPr lang="en-AU" sz="2400" dirty="0"/>
                    </a:p>
                  </a:txBody>
                  <a:tcPr/>
                </a:tc>
                <a:tc>
                  <a:txBody>
                    <a:bodyPr/>
                    <a:lstStyle/>
                    <a:p>
                      <a:pPr algn="ctr"/>
                      <a:r>
                        <a:rPr lang="en-AU" sz="2400" dirty="0" smtClean="0"/>
                        <a:t>2</a:t>
                      </a:r>
                      <a:endParaRPr lang="en-AU" sz="2400" dirty="0"/>
                    </a:p>
                  </a:txBody>
                  <a:tcPr/>
                </a:tc>
                <a:tc>
                  <a:txBody>
                    <a:bodyPr/>
                    <a:lstStyle/>
                    <a:p>
                      <a:pPr algn="ctr"/>
                      <a:r>
                        <a:rPr lang="en-AU" sz="2400" dirty="0" smtClean="0"/>
                        <a:t>3</a:t>
                      </a:r>
                      <a:endParaRPr lang="en-AU" sz="2400" dirty="0"/>
                    </a:p>
                  </a:txBody>
                  <a:tcPr/>
                </a:tc>
                <a:tc>
                  <a:txBody>
                    <a:bodyPr/>
                    <a:lstStyle/>
                    <a:p>
                      <a:pPr algn="ctr"/>
                      <a:r>
                        <a:rPr lang="en-AU" sz="2400" dirty="0" smtClean="0"/>
                        <a:t>4</a:t>
                      </a:r>
                      <a:endParaRPr lang="en-AU" sz="2400" dirty="0"/>
                    </a:p>
                  </a:txBody>
                  <a:tcPr/>
                </a:tc>
                <a:tc>
                  <a:txBody>
                    <a:bodyPr/>
                    <a:lstStyle/>
                    <a:p>
                      <a:pPr algn="ctr"/>
                      <a:r>
                        <a:rPr lang="en-AU" sz="2400" dirty="0" smtClean="0"/>
                        <a:t>5</a:t>
                      </a:r>
                      <a:endParaRPr lang="en-AU" sz="2400" dirty="0"/>
                    </a:p>
                  </a:txBody>
                  <a:tcPr/>
                </a:tc>
                <a:extLst>
                  <a:ext uri="{0D108BD9-81ED-4DB2-BD59-A6C34878D82A}">
                    <a16:rowId xmlns:a16="http://schemas.microsoft.com/office/drawing/2014/main" val="4072838982"/>
                  </a:ext>
                </a:extLst>
              </a:tr>
              <a:tr h="468000">
                <a:tc>
                  <a:txBody>
                    <a:bodyPr/>
                    <a:lstStyle/>
                    <a:p>
                      <a:r>
                        <a:rPr lang="en-AU" dirty="0" smtClean="0"/>
                        <a:t>Number of blocks</a:t>
                      </a:r>
                      <a:r>
                        <a:rPr lang="en-AU" baseline="0" dirty="0" smtClean="0"/>
                        <a:t> at the yard</a:t>
                      </a:r>
                      <a:r>
                        <a:rPr lang="en-AU" dirty="0" smtClean="0"/>
                        <a:t>, n</a:t>
                      </a:r>
                      <a:endParaRPr lang="en-AU" dirty="0"/>
                    </a:p>
                  </a:txBody>
                  <a:tcPr/>
                </a:tc>
                <a:tc>
                  <a:txBody>
                    <a:bodyPr/>
                    <a:lstStyle/>
                    <a:p>
                      <a:pPr algn="ctr"/>
                      <a:r>
                        <a:rPr lang="en-AU" sz="2400" dirty="0" smtClean="0"/>
                        <a:t>20</a:t>
                      </a:r>
                      <a:endParaRPr lang="en-AU" sz="2400" dirty="0"/>
                    </a:p>
                  </a:txBody>
                  <a:tcPr/>
                </a:tc>
                <a:tc>
                  <a:txBody>
                    <a:bodyPr/>
                    <a:lstStyle/>
                    <a:p>
                      <a:pPr algn="ctr"/>
                      <a:r>
                        <a:rPr lang="en-AU" sz="2400" dirty="0" smtClean="0"/>
                        <a:t>16</a:t>
                      </a:r>
                      <a:endParaRPr lang="en-AU" sz="2400" dirty="0"/>
                    </a:p>
                  </a:txBody>
                  <a:tcPr/>
                </a:tc>
                <a:tc>
                  <a:txBody>
                    <a:bodyPr/>
                    <a:lstStyle/>
                    <a:p>
                      <a:pPr algn="ctr"/>
                      <a:r>
                        <a:rPr lang="en-AU" sz="2400" dirty="0" smtClean="0"/>
                        <a:t>12</a:t>
                      </a:r>
                      <a:endParaRPr lang="en-AU" sz="2400" dirty="0"/>
                    </a:p>
                  </a:txBody>
                  <a:tcPr/>
                </a:tc>
                <a:tc>
                  <a:txBody>
                    <a:bodyPr/>
                    <a:lstStyle/>
                    <a:p>
                      <a:pPr algn="ctr"/>
                      <a:r>
                        <a:rPr lang="en-AU" sz="2400" dirty="0" smtClean="0"/>
                        <a:t>8</a:t>
                      </a:r>
                      <a:endParaRPr lang="en-AU" sz="2400" dirty="0"/>
                    </a:p>
                  </a:txBody>
                  <a:tcPr/>
                </a:tc>
                <a:tc>
                  <a:txBody>
                    <a:bodyPr/>
                    <a:lstStyle/>
                    <a:p>
                      <a:pPr algn="ctr"/>
                      <a:r>
                        <a:rPr lang="en-AU" sz="2400" dirty="0" smtClean="0"/>
                        <a:t>4</a:t>
                      </a:r>
                      <a:endParaRPr lang="en-AU" sz="2400" dirty="0"/>
                    </a:p>
                  </a:txBody>
                  <a:tcPr/>
                </a:tc>
                <a:tc>
                  <a:txBody>
                    <a:bodyPr/>
                    <a:lstStyle/>
                    <a:p>
                      <a:pPr algn="ctr"/>
                      <a:r>
                        <a:rPr lang="en-AU" sz="2400" dirty="0" smtClean="0"/>
                        <a:t>0</a:t>
                      </a:r>
                      <a:endParaRPr lang="en-AU" sz="2400" dirty="0"/>
                    </a:p>
                  </a:txBody>
                  <a:tcPr/>
                </a:tc>
                <a:extLst>
                  <a:ext uri="{0D108BD9-81ED-4DB2-BD59-A6C34878D82A}">
                    <a16:rowId xmlns:a16="http://schemas.microsoft.com/office/drawing/2014/main" val="4016370420"/>
                  </a:ext>
                </a:extLst>
              </a:tr>
            </a:tbl>
          </a:graphicData>
        </a:graphic>
      </p:graphicFrame>
      <p:sp>
        <p:nvSpPr>
          <p:cNvPr id="8" name="TextBox 7"/>
          <p:cNvSpPr txBox="1"/>
          <p:nvPr/>
        </p:nvSpPr>
        <p:spPr>
          <a:xfrm>
            <a:off x="1230582" y="4342254"/>
            <a:ext cx="4456981" cy="461665"/>
          </a:xfrm>
          <a:prstGeom prst="rect">
            <a:avLst/>
          </a:prstGeom>
          <a:noFill/>
        </p:spPr>
        <p:txBody>
          <a:bodyPr wrap="square" rtlCol="0">
            <a:spAutoFit/>
          </a:bodyPr>
          <a:lstStyle/>
          <a:p>
            <a:r>
              <a:rPr lang="en-AU" sz="2400" dirty="0" smtClean="0"/>
              <a:t>What rule connects h and n?</a:t>
            </a:r>
            <a:endParaRPr lang="en-AU" dirty="0"/>
          </a:p>
        </p:txBody>
      </p:sp>
      <mc:AlternateContent xmlns:mc="http://schemas.openxmlformats.org/markup-compatibility/2006" xmlns:a14="http://schemas.microsoft.com/office/drawing/2010/main">
        <mc:Choice Requires="a14">
          <p:sp>
            <p:nvSpPr>
              <p:cNvPr id="10" name="TextBox 9"/>
              <p:cNvSpPr txBox="1"/>
              <p:nvPr/>
            </p:nvSpPr>
            <p:spPr>
              <a:xfrm>
                <a:off x="616841" y="5447147"/>
                <a:ext cx="6057878"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800" b="0" i="1" smtClean="0">
                          <a:latin typeface="Cambria Math" panose="02040503050406030204" pitchFamily="18" charset="0"/>
                        </a:rPr>
                        <m:t>𝑛</m:t>
                      </m:r>
                      <m:r>
                        <a:rPr lang="en-AU" sz="2800" b="0" i="1" smtClean="0">
                          <a:latin typeface="Cambria Math" panose="02040503050406030204" pitchFamily="18" charset="0"/>
                        </a:rPr>
                        <m:t>=20−4</m:t>
                      </m:r>
                      <m:r>
                        <a:rPr lang="en-AU" sz="2800" b="0" i="1" smtClean="0">
                          <a:latin typeface="Cambria Math" panose="02040503050406030204" pitchFamily="18" charset="0"/>
                        </a:rPr>
                        <m:t>h</m:t>
                      </m:r>
                      <m:r>
                        <a:rPr lang="en-AU" sz="2800" b="0" i="1" smtClean="0">
                          <a:latin typeface="Cambria Math" panose="02040503050406030204" pitchFamily="18" charset="0"/>
                        </a:rPr>
                        <m:t>    </m:t>
                      </m:r>
                      <m:r>
                        <a:rPr lang="en-AU" sz="2800" b="0" i="1" smtClean="0">
                          <a:latin typeface="Cambria Math" panose="02040503050406030204" pitchFamily="18" charset="0"/>
                        </a:rPr>
                        <m:t>𝑂𝑅</m:t>
                      </m:r>
                      <m:r>
                        <a:rPr lang="en-AU" sz="2800" b="0" i="1" smtClean="0">
                          <a:latin typeface="Cambria Math" panose="02040503050406030204" pitchFamily="18" charset="0"/>
                        </a:rPr>
                        <m:t>    </m:t>
                      </m:r>
                      <m:r>
                        <a:rPr lang="en-AU" sz="2800" b="0" i="1" smtClean="0">
                          <a:latin typeface="Cambria Math" panose="02040503050406030204" pitchFamily="18" charset="0"/>
                        </a:rPr>
                        <m:t>𝑛</m:t>
                      </m:r>
                      <m:r>
                        <a:rPr lang="en-AU" sz="2800" b="0" i="1" smtClean="0">
                          <a:latin typeface="Cambria Math" panose="02040503050406030204" pitchFamily="18" charset="0"/>
                        </a:rPr>
                        <m:t>=−4</m:t>
                      </m:r>
                      <m:r>
                        <a:rPr lang="en-AU" sz="2800" b="0" i="1" smtClean="0">
                          <a:latin typeface="Cambria Math" panose="02040503050406030204" pitchFamily="18" charset="0"/>
                        </a:rPr>
                        <m:t>h</m:t>
                      </m:r>
                      <m:r>
                        <a:rPr lang="en-AU" sz="2800" b="0" i="1" smtClean="0">
                          <a:latin typeface="Cambria Math" panose="02040503050406030204" pitchFamily="18" charset="0"/>
                        </a:rPr>
                        <m:t>+20</m:t>
                      </m:r>
                    </m:oMath>
                  </m:oMathPara>
                </a14:m>
                <a:endParaRPr lang="en-AU" dirty="0"/>
              </a:p>
            </p:txBody>
          </p:sp>
        </mc:Choice>
        <mc:Fallback xmlns="">
          <p:sp>
            <p:nvSpPr>
              <p:cNvPr id="10" name="TextBox 9"/>
              <p:cNvSpPr txBox="1">
                <a:spLocks noRot="1" noChangeAspect="1" noMove="1" noResize="1" noEditPoints="1" noAdjustHandles="1" noChangeArrowheads="1" noChangeShapeType="1" noTextEdit="1"/>
              </p:cNvSpPr>
              <p:nvPr/>
            </p:nvSpPr>
            <p:spPr>
              <a:xfrm>
                <a:off x="616841" y="5447147"/>
                <a:ext cx="6057878" cy="523220"/>
              </a:xfrm>
              <a:prstGeom prst="rect">
                <a:avLst/>
              </a:prstGeom>
              <a:blipFill>
                <a:blip r:embed="rId2"/>
                <a:stretch>
                  <a:fillRect/>
                </a:stretch>
              </a:blipFill>
            </p:spPr>
            <p:txBody>
              <a:bodyPr/>
              <a:lstStyle/>
              <a:p>
                <a:r>
                  <a:rPr lang="en-AU">
                    <a:noFill/>
                  </a:rPr>
                  <a:t> </a:t>
                </a:r>
              </a:p>
            </p:txBody>
          </p:sp>
        </mc:Fallback>
      </mc:AlternateContent>
      <p:pic>
        <p:nvPicPr>
          <p:cNvPr id="4" name="Picture 3"/>
          <p:cNvPicPr>
            <a:picLocks noChangeAspect="1"/>
          </p:cNvPicPr>
          <p:nvPr/>
        </p:nvPicPr>
        <p:blipFill>
          <a:blip r:embed="rId3"/>
          <a:stretch>
            <a:fillRect/>
          </a:stretch>
        </p:blipFill>
        <p:spPr>
          <a:xfrm>
            <a:off x="7859383" y="2239902"/>
            <a:ext cx="3619500" cy="4391025"/>
          </a:xfrm>
          <a:prstGeom prst="rect">
            <a:avLst/>
          </a:prstGeom>
        </p:spPr>
      </p:pic>
    </p:spTree>
    <p:extLst>
      <p:ext uri="{BB962C8B-B14F-4D97-AF65-F5344CB8AC3E}">
        <p14:creationId xmlns:p14="http://schemas.microsoft.com/office/powerpoint/2010/main" val="2505473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227097" cy="461665"/>
          </a:xfrm>
          <a:prstGeom prst="rect">
            <a:avLst/>
          </a:prstGeom>
          <a:solidFill>
            <a:srgbClr val="FFFF00"/>
          </a:solidFill>
        </p:spPr>
        <p:txBody>
          <a:bodyPr wrap="square" rtlCol="0">
            <a:spAutoFit/>
          </a:bodyPr>
          <a:lstStyle/>
          <a:p>
            <a:r>
              <a:rPr lang="en-AU" sz="2400" dirty="0" smtClean="0"/>
              <a:t>Situation Three</a:t>
            </a:r>
            <a:endParaRPr lang="en-AU" sz="2400" dirty="0"/>
          </a:p>
        </p:txBody>
      </p:sp>
      <p:sp>
        <p:nvSpPr>
          <p:cNvPr id="2" name="TextBox 1"/>
          <p:cNvSpPr txBox="1"/>
          <p:nvPr/>
        </p:nvSpPr>
        <p:spPr>
          <a:xfrm>
            <a:off x="184030" y="575094"/>
            <a:ext cx="11294853" cy="2123658"/>
          </a:xfrm>
          <a:prstGeom prst="rect">
            <a:avLst/>
          </a:prstGeom>
          <a:noFill/>
        </p:spPr>
        <p:txBody>
          <a:bodyPr wrap="square" rtlCol="0">
            <a:spAutoFit/>
          </a:bodyPr>
          <a:lstStyle/>
          <a:p>
            <a:r>
              <a:rPr lang="en-AU" sz="2400" dirty="0" smtClean="0"/>
              <a:t>The graph below shows the amount charged by a plumber working at your house for up to 2 hours.</a:t>
            </a:r>
          </a:p>
          <a:p>
            <a:endParaRPr lang="en-AU" sz="2400" dirty="0"/>
          </a:p>
          <a:p>
            <a:r>
              <a:rPr lang="en-AU" sz="2400" dirty="0" smtClean="0"/>
              <a:t>We can model this in two ways:</a:t>
            </a:r>
          </a:p>
          <a:p>
            <a:endParaRPr lang="en-AU" dirty="0" smtClean="0"/>
          </a:p>
          <a:p>
            <a:endParaRPr lang="en-AU" dirty="0"/>
          </a:p>
        </p:txBody>
      </p:sp>
      <p:graphicFrame>
        <p:nvGraphicFramePr>
          <p:cNvPr id="3" name="Table 2"/>
          <p:cNvGraphicFramePr>
            <a:graphicFrameLocks noGrp="1"/>
          </p:cNvGraphicFramePr>
          <p:nvPr>
            <p:extLst>
              <p:ext uri="{D42A27DB-BD31-4B8C-83A1-F6EECF244321}">
                <p14:modId xmlns:p14="http://schemas.microsoft.com/office/powerpoint/2010/main" val="3260248259"/>
              </p:ext>
            </p:extLst>
          </p:nvPr>
        </p:nvGraphicFramePr>
        <p:xfrm>
          <a:off x="277962" y="3082845"/>
          <a:ext cx="6735639" cy="936000"/>
        </p:xfrm>
        <a:graphic>
          <a:graphicData uri="http://schemas.openxmlformats.org/drawingml/2006/table">
            <a:tbl>
              <a:tblPr firstRow="1" bandRow="1">
                <a:tableStyleId>{073A0DAA-6AF3-43AB-8588-CEC1D06C72B9}</a:tableStyleId>
              </a:tblPr>
              <a:tblGrid>
                <a:gridCol w="2200695">
                  <a:extLst>
                    <a:ext uri="{9D8B030D-6E8A-4147-A177-3AD203B41FA5}">
                      <a16:colId xmlns:a16="http://schemas.microsoft.com/office/drawing/2014/main" val="2056920446"/>
                    </a:ext>
                  </a:extLst>
                </a:gridCol>
                <a:gridCol w="755824">
                  <a:extLst>
                    <a:ext uri="{9D8B030D-6E8A-4147-A177-3AD203B41FA5}">
                      <a16:colId xmlns:a16="http://schemas.microsoft.com/office/drawing/2014/main" val="1249924637"/>
                    </a:ext>
                  </a:extLst>
                </a:gridCol>
                <a:gridCol w="755824">
                  <a:extLst>
                    <a:ext uri="{9D8B030D-6E8A-4147-A177-3AD203B41FA5}">
                      <a16:colId xmlns:a16="http://schemas.microsoft.com/office/drawing/2014/main" val="2049648085"/>
                    </a:ext>
                  </a:extLst>
                </a:gridCol>
                <a:gridCol w="755824">
                  <a:extLst>
                    <a:ext uri="{9D8B030D-6E8A-4147-A177-3AD203B41FA5}">
                      <a16:colId xmlns:a16="http://schemas.microsoft.com/office/drawing/2014/main" val="123749504"/>
                    </a:ext>
                  </a:extLst>
                </a:gridCol>
                <a:gridCol w="755824">
                  <a:extLst>
                    <a:ext uri="{9D8B030D-6E8A-4147-A177-3AD203B41FA5}">
                      <a16:colId xmlns:a16="http://schemas.microsoft.com/office/drawing/2014/main" val="1520010306"/>
                    </a:ext>
                  </a:extLst>
                </a:gridCol>
                <a:gridCol w="755824">
                  <a:extLst>
                    <a:ext uri="{9D8B030D-6E8A-4147-A177-3AD203B41FA5}">
                      <a16:colId xmlns:a16="http://schemas.microsoft.com/office/drawing/2014/main" val="1983672441"/>
                    </a:ext>
                  </a:extLst>
                </a:gridCol>
                <a:gridCol w="755824">
                  <a:extLst>
                    <a:ext uri="{9D8B030D-6E8A-4147-A177-3AD203B41FA5}">
                      <a16:colId xmlns:a16="http://schemas.microsoft.com/office/drawing/2014/main" val="2466534197"/>
                    </a:ext>
                  </a:extLst>
                </a:gridCol>
              </a:tblGrid>
              <a:tr h="468000">
                <a:tc>
                  <a:txBody>
                    <a:bodyPr/>
                    <a:lstStyle/>
                    <a:p>
                      <a:r>
                        <a:rPr lang="en-AU" dirty="0" smtClean="0"/>
                        <a:t>Number of hours, h</a:t>
                      </a:r>
                      <a:endParaRPr lang="en-AU" dirty="0"/>
                    </a:p>
                  </a:txBody>
                  <a:tcPr/>
                </a:tc>
                <a:tc>
                  <a:txBody>
                    <a:bodyPr/>
                    <a:lstStyle/>
                    <a:p>
                      <a:pPr algn="ctr"/>
                      <a:r>
                        <a:rPr lang="en-AU" sz="2400" dirty="0" smtClean="0"/>
                        <a:t>0</a:t>
                      </a:r>
                      <a:endParaRPr lang="en-AU" sz="2400" dirty="0"/>
                    </a:p>
                  </a:txBody>
                  <a:tcPr/>
                </a:tc>
                <a:tc>
                  <a:txBody>
                    <a:bodyPr/>
                    <a:lstStyle/>
                    <a:p>
                      <a:pPr algn="ctr"/>
                      <a:r>
                        <a:rPr lang="en-AU" sz="2400" dirty="0" smtClean="0"/>
                        <a:t>0.25</a:t>
                      </a:r>
                      <a:endParaRPr lang="en-AU" sz="2400" dirty="0"/>
                    </a:p>
                  </a:txBody>
                  <a:tcPr/>
                </a:tc>
                <a:tc>
                  <a:txBody>
                    <a:bodyPr/>
                    <a:lstStyle/>
                    <a:p>
                      <a:pPr algn="ctr"/>
                      <a:r>
                        <a:rPr lang="en-AU" sz="2400" dirty="0" smtClean="0"/>
                        <a:t>0.5</a:t>
                      </a:r>
                      <a:endParaRPr lang="en-AU" sz="2400" dirty="0"/>
                    </a:p>
                  </a:txBody>
                  <a:tcPr/>
                </a:tc>
                <a:tc>
                  <a:txBody>
                    <a:bodyPr/>
                    <a:lstStyle/>
                    <a:p>
                      <a:pPr algn="ctr"/>
                      <a:r>
                        <a:rPr lang="en-AU" sz="2400" dirty="0" smtClean="0"/>
                        <a:t>1</a:t>
                      </a:r>
                      <a:endParaRPr lang="en-AU" sz="2400" dirty="0"/>
                    </a:p>
                  </a:txBody>
                  <a:tcPr/>
                </a:tc>
                <a:tc>
                  <a:txBody>
                    <a:bodyPr/>
                    <a:lstStyle/>
                    <a:p>
                      <a:pPr algn="ctr"/>
                      <a:r>
                        <a:rPr lang="en-AU" sz="2400" dirty="0" smtClean="0"/>
                        <a:t>1.5</a:t>
                      </a:r>
                      <a:endParaRPr lang="en-AU" sz="2400" dirty="0"/>
                    </a:p>
                  </a:txBody>
                  <a:tcPr/>
                </a:tc>
                <a:tc>
                  <a:txBody>
                    <a:bodyPr/>
                    <a:lstStyle/>
                    <a:p>
                      <a:pPr algn="ctr"/>
                      <a:r>
                        <a:rPr lang="en-AU" sz="2400" dirty="0" smtClean="0"/>
                        <a:t>2</a:t>
                      </a:r>
                      <a:endParaRPr lang="en-AU" sz="2400" dirty="0"/>
                    </a:p>
                  </a:txBody>
                  <a:tcPr/>
                </a:tc>
                <a:extLst>
                  <a:ext uri="{0D108BD9-81ED-4DB2-BD59-A6C34878D82A}">
                    <a16:rowId xmlns:a16="http://schemas.microsoft.com/office/drawing/2014/main" val="4072838982"/>
                  </a:ext>
                </a:extLst>
              </a:tr>
              <a:tr h="468000">
                <a:tc>
                  <a:txBody>
                    <a:bodyPr/>
                    <a:lstStyle/>
                    <a:p>
                      <a:r>
                        <a:rPr lang="en-AU" dirty="0" smtClean="0"/>
                        <a:t>Cost in dollars, c</a:t>
                      </a:r>
                      <a:endParaRPr lang="en-AU" dirty="0"/>
                    </a:p>
                  </a:txBody>
                  <a:tcPr/>
                </a:tc>
                <a:tc>
                  <a:txBody>
                    <a:bodyPr/>
                    <a:lstStyle/>
                    <a:p>
                      <a:pPr algn="ctr"/>
                      <a:r>
                        <a:rPr lang="en-AU" sz="2400" dirty="0" smtClean="0"/>
                        <a:t>60</a:t>
                      </a:r>
                      <a:endParaRPr lang="en-AU" sz="2400" dirty="0"/>
                    </a:p>
                  </a:txBody>
                  <a:tcPr/>
                </a:tc>
                <a:tc>
                  <a:txBody>
                    <a:bodyPr/>
                    <a:lstStyle/>
                    <a:p>
                      <a:pPr algn="ctr"/>
                      <a:r>
                        <a:rPr lang="en-AU" sz="2400" dirty="0" smtClean="0"/>
                        <a:t>80</a:t>
                      </a:r>
                      <a:endParaRPr lang="en-AU" sz="2400" dirty="0"/>
                    </a:p>
                  </a:txBody>
                  <a:tcPr/>
                </a:tc>
                <a:tc>
                  <a:txBody>
                    <a:bodyPr/>
                    <a:lstStyle/>
                    <a:p>
                      <a:pPr algn="ctr"/>
                      <a:r>
                        <a:rPr lang="en-AU" sz="2400" dirty="0" smtClean="0"/>
                        <a:t>100</a:t>
                      </a:r>
                      <a:endParaRPr lang="en-AU" sz="2400" dirty="0"/>
                    </a:p>
                  </a:txBody>
                  <a:tcPr/>
                </a:tc>
                <a:tc>
                  <a:txBody>
                    <a:bodyPr/>
                    <a:lstStyle/>
                    <a:p>
                      <a:pPr algn="ctr"/>
                      <a:r>
                        <a:rPr lang="en-AU" sz="2400" dirty="0" smtClean="0"/>
                        <a:t>140</a:t>
                      </a:r>
                      <a:endParaRPr lang="en-AU" sz="2400" dirty="0"/>
                    </a:p>
                  </a:txBody>
                  <a:tcPr/>
                </a:tc>
                <a:tc>
                  <a:txBody>
                    <a:bodyPr/>
                    <a:lstStyle/>
                    <a:p>
                      <a:pPr algn="ctr"/>
                      <a:r>
                        <a:rPr lang="en-AU" sz="2400" dirty="0" smtClean="0"/>
                        <a:t>180</a:t>
                      </a:r>
                      <a:endParaRPr lang="en-AU" sz="2400" dirty="0"/>
                    </a:p>
                  </a:txBody>
                  <a:tcPr/>
                </a:tc>
                <a:tc>
                  <a:txBody>
                    <a:bodyPr/>
                    <a:lstStyle/>
                    <a:p>
                      <a:pPr algn="ctr"/>
                      <a:r>
                        <a:rPr lang="en-AU" sz="2400" dirty="0" smtClean="0"/>
                        <a:t>220</a:t>
                      </a:r>
                      <a:endParaRPr lang="en-AU" sz="2400" dirty="0"/>
                    </a:p>
                  </a:txBody>
                  <a:tcPr/>
                </a:tc>
                <a:extLst>
                  <a:ext uri="{0D108BD9-81ED-4DB2-BD59-A6C34878D82A}">
                    <a16:rowId xmlns:a16="http://schemas.microsoft.com/office/drawing/2014/main" val="4016370420"/>
                  </a:ext>
                </a:extLst>
              </a:tr>
            </a:tbl>
          </a:graphicData>
        </a:graphic>
      </p:graphicFrame>
      <p:sp>
        <p:nvSpPr>
          <p:cNvPr id="8" name="TextBox 7"/>
          <p:cNvSpPr txBox="1"/>
          <p:nvPr/>
        </p:nvSpPr>
        <p:spPr>
          <a:xfrm>
            <a:off x="1230582" y="4342254"/>
            <a:ext cx="4456981" cy="461665"/>
          </a:xfrm>
          <a:prstGeom prst="rect">
            <a:avLst/>
          </a:prstGeom>
          <a:noFill/>
        </p:spPr>
        <p:txBody>
          <a:bodyPr wrap="square" rtlCol="0">
            <a:spAutoFit/>
          </a:bodyPr>
          <a:lstStyle/>
          <a:p>
            <a:r>
              <a:rPr lang="en-AU" sz="2400" dirty="0" smtClean="0"/>
              <a:t>What rule connects h and c?</a:t>
            </a:r>
            <a:endParaRPr lang="en-AU" dirty="0"/>
          </a:p>
        </p:txBody>
      </p:sp>
      <mc:AlternateContent xmlns:mc="http://schemas.openxmlformats.org/markup-compatibility/2006" xmlns:a14="http://schemas.microsoft.com/office/drawing/2010/main">
        <mc:Choice Requires="a14">
          <p:sp>
            <p:nvSpPr>
              <p:cNvPr id="10" name="TextBox 9"/>
              <p:cNvSpPr txBox="1"/>
              <p:nvPr/>
            </p:nvSpPr>
            <p:spPr>
              <a:xfrm>
                <a:off x="616841" y="5447147"/>
                <a:ext cx="6057878"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800" b="0" i="1" smtClean="0">
                          <a:latin typeface="Cambria Math" panose="02040503050406030204" pitchFamily="18" charset="0"/>
                        </a:rPr>
                        <m:t>𝑐</m:t>
                      </m:r>
                      <m:r>
                        <a:rPr lang="en-AU" sz="2800" b="0" i="1" smtClean="0">
                          <a:latin typeface="Cambria Math" panose="02040503050406030204" pitchFamily="18" charset="0"/>
                        </a:rPr>
                        <m:t>=80</m:t>
                      </m:r>
                      <m:r>
                        <a:rPr lang="en-AU" sz="2800" b="0" i="1" smtClean="0">
                          <a:latin typeface="Cambria Math" panose="02040503050406030204" pitchFamily="18" charset="0"/>
                        </a:rPr>
                        <m:t>h</m:t>
                      </m:r>
                      <m:r>
                        <a:rPr lang="en-AU" sz="2800" b="0" i="1" smtClean="0">
                          <a:latin typeface="Cambria Math" panose="02040503050406030204" pitchFamily="18" charset="0"/>
                        </a:rPr>
                        <m:t>+60</m:t>
                      </m:r>
                    </m:oMath>
                  </m:oMathPara>
                </a14:m>
                <a:endParaRPr lang="en-AU" dirty="0"/>
              </a:p>
            </p:txBody>
          </p:sp>
        </mc:Choice>
        <mc:Fallback xmlns="">
          <p:sp>
            <p:nvSpPr>
              <p:cNvPr id="10" name="TextBox 9"/>
              <p:cNvSpPr txBox="1">
                <a:spLocks noRot="1" noChangeAspect="1" noMove="1" noResize="1" noEditPoints="1" noAdjustHandles="1" noChangeArrowheads="1" noChangeShapeType="1" noTextEdit="1"/>
              </p:cNvSpPr>
              <p:nvPr/>
            </p:nvSpPr>
            <p:spPr>
              <a:xfrm>
                <a:off x="616841" y="5447147"/>
                <a:ext cx="6057878" cy="523220"/>
              </a:xfrm>
              <a:prstGeom prst="rect">
                <a:avLst/>
              </a:prstGeom>
              <a:blipFill>
                <a:blip r:embed="rId2"/>
                <a:stretch>
                  <a:fillRect/>
                </a:stretch>
              </a:blipFill>
            </p:spPr>
            <p:txBody>
              <a:bodyPr/>
              <a:lstStyle/>
              <a:p>
                <a:r>
                  <a:rPr lang="en-AU">
                    <a:noFill/>
                  </a:rPr>
                  <a:t> </a:t>
                </a:r>
              </a:p>
            </p:txBody>
          </p:sp>
        </mc:Fallback>
      </mc:AlternateContent>
      <p:pic>
        <p:nvPicPr>
          <p:cNvPr id="5" name="Picture 4"/>
          <p:cNvPicPr>
            <a:picLocks noChangeAspect="1"/>
          </p:cNvPicPr>
          <p:nvPr/>
        </p:nvPicPr>
        <p:blipFill>
          <a:blip r:embed="rId3"/>
          <a:stretch>
            <a:fillRect/>
          </a:stretch>
        </p:blipFill>
        <p:spPr>
          <a:xfrm>
            <a:off x="7013599" y="1154682"/>
            <a:ext cx="4781550" cy="4629150"/>
          </a:xfrm>
          <a:prstGeom prst="rect">
            <a:avLst/>
          </a:prstGeom>
        </p:spPr>
      </p:pic>
    </p:spTree>
    <p:extLst>
      <p:ext uri="{BB962C8B-B14F-4D97-AF65-F5344CB8AC3E}">
        <p14:creationId xmlns:p14="http://schemas.microsoft.com/office/powerpoint/2010/main" val="549186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227097" cy="461665"/>
          </a:xfrm>
          <a:prstGeom prst="rect">
            <a:avLst/>
          </a:prstGeom>
          <a:solidFill>
            <a:srgbClr val="FFFF00"/>
          </a:solidFill>
        </p:spPr>
        <p:txBody>
          <a:bodyPr wrap="square" rtlCol="0">
            <a:spAutoFit/>
          </a:bodyPr>
          <a:lstStyle/>
          <a:p>
            <a:r>
              <a:rPr lang="en-AU" sz="2400" dirty="0" smtClean="0"/>
              <a:t>Situation Four</a:t>
            </a:r>
            <a:endParaRPr lang="en-AU" sz="2400" dirty="0"/>
          </a:p>
        </p:txBody>
      </p:sp>
      <p:pic>
        <p:nvPicPr>
          <p:cNvPr id="4" name="Picture 3"/>
          <p:cNvPicPr>
            <a:picLocks noChangeAspect="1"/>
          </p:cNvPicPr>
          <p:nvPr/>
        </p:nvPicPr>
        <p:blipFill>
          <a:blip r:embed="rId2"/>
          <a:stretch>
            <a:fillRect/>
          </a:stretch>
        </p:blipFill>
        <p:spPr>
          <a:xfrm>
            <a:off x="7196765" y="0"/>
            <a:ext cx="4981831" cy="5210355"/>
          </a:xfrm>
          <a:prstGeom prst="rect">
            <a:avLst/>
          </a:prstGeom>
        </p:spPr>
      </p:pic>
      <p:sp>
        <p:nvSpPr>
          <p:cNvPr id="2" name="TextBox 1"/>
          <p:cNvSpPr txBox="1"/>
          <p:nvPr/>
        </p:nvSpPr>
        <p:spPr>
          <a:xfrm>
            <a:off x="184031" y="575094"/>
            <a:ext cx="7516482" cy="6924973"/>
          </a:xfrm>
          <a:prstGeom prst="rect">
            <a:avLst/>
          </a:prstGeom>
          <a:noFill/>
        </p:spPr>
        <p:txBody>
          <a:bodyPr wrap="square" rtlCol="0">
            <a:spAutoFit/>
          </a:bodyPr>
          <a:lstStyle/>
          <a:p>
            <a:r>
              <a:rPr lang="en-AU" sz="2400" dirty="0" smtClean="0"/>
              <a:t>Three electricians, Sparky, Flash and </a:t>
            </a:r>
            <a:r>
              <a:rPr lang="en-AU" sz="2400" dirty="0" err="1" smtClean="0"/>
              <a:t>Voltman</a:t>
            </a:r>
            <a:r>
              <a:rPr lang="en-AU" sz="2400" dirty="0" smtClean="0"/>
              <a:t>, have different ways of calculating a customer’s bill.</a:t>
            </a:r>
          </a:p>
          <a:p>
            <a:pPr marL="342900" indent="-342900">
              <a:buFontTx/>
              <a:buChar char="-"/>
            </a:pPr>
            <a:r>
              <a:rPr lang="en-AU" sz="2400" dirty="0" smtClean="0"/>
              <a:t>Sparky charges a standard rate per hour and has no other charges</a:t>
            </a:r>
          </a:p>
          <a:p>
            <a:pPr marL="342900" indent="-342900">
              <a:buFontTx/>
              <a:buChar char="-"/>
            </a:pPr>
            <a:r>
              <a:rPr lang="en-AU" sz="2400" dirty="0" smtClean="0"/>
              <a:t>Flash has a fixed, or ‘standing’ charge and then charges a certain amount per hour on top of that</a:t>
            </a:r>
          </a:p>
          <a:p>
            <a:pPr marL="342900" indent="-342900">
              <a:buFontTx/>
              <a:buChar char="-"/>
            </a:pPr>
            <a:r>
              <a:rPr lang="en-AU" sz="2400" dirty="0" err="1" smtClean="0"/>
              <a:t>Voltman</a:t>
            </a:r>
            <a:r>
              <a:rPr lang="en-AU" sz="2400" dirty="0" smtClean="0"/>
              <a:t> has a higher standing charge than Flash but then charges less per hour</a:t>
            </a:r>
          </a:p>
          <a:p>
            <a:pPr marL="342900" indent="-342900">
              <a:buFontTx/>
              <a:buChar char="-"/>
            </a:pPr>
            <a:endParaRPr lang="en-AU" sz="2400" dirty="0"/>
          </a:p>
          <a:p>
            <a:pPr marL="457200" indent="-457200">
              <a:buAutoNum type="alphaLcParenR"/>
            </a:pPr>
            <a:r>
              <a:rPr lang="en-AU" sz="2400" dirty="0" smtClean="0"/>
              <a:t>Which graph I, II or III corresponds to each electrician?</a:t>
            </a:r>
          </a:p>
          <a:p>
            <a:pPr marL="457200" indent="-457200">
              <a:buAutoNum type="alphaLcParenR"/>
            </a:pPr>
            <a:endParaRPr lang="en-AU" sz="2400" dirty="0"/>
          </a:p>
          <a:p>
            <a:pPr marL="457200" indent="-457200">
              <a:buAutoNum type="alphaLcParenR"/>
            </a:pPr>
            <a:r>
              <a:rPr lang="en-AU" sz="2400" dirty="0" smtClean="0"/>
              <a:t>Who charges the most per hour?</a:t>
            </a:r>
          </a:p>
          <a:p>
            <a:pPr marL="457200" indent="-457200">
              <a:buAutoNum type="alphaLcParenR"/>
            </a:pPr>
            <a:endParaRPr lang="en-AU" sz="2400" dirty="0"/>
          </a:p>
          <a:p>
            <a:pPr marL="457200" indent="-457200">
              <a:buAutoNum type="alphaLcParenR"/>
            </a:pPr>
            <a:r>
              <a:rPr lang="en-AU" sz="2400" dirty="0" smtClean="0"/>
              <a:t>What is the equation of each line?</a:t>
            </a:r>
          </a:p>
          <a:p>
            <a:pPr marL="457200" indent="-457200">
              <a:buAutoNum type="alphaLcParenR"/>
            </a:pPr>
            <a:endParaRPr lang="en-AU" sz="2400" dirty="0"/>
          </a:p>
          <a:p>
            <a:pPr marL="457200" indent="-457200">
              <a:buAutoNum type="alphaLcParenR"/>
            </a:pPr>
            <a:r>
              <a:rPr lang="en-AU" sz="2400" dirty="0" smtClean="0"/>
              <a:t>Which electrician is never the cheapest?</a:t>
            </a:r>
          </a:p>
          <a:p>
            <a:pPr marL="457200" indent="-457200">
              <a:buAutoNum type="alphaLcParenR"/>
            </a:pPr>
            <a:endParaRPr lang="en-AU" sz="2400" dirty="0" smtClean="0"/>
          </a:p>
          <a:p>
            <a:endParaRPr lang="en-AU" dirty="0" smtClean="0"/>
          </a:p>
          <a:p>
            <a:endParaRPr lang="en-AU" dirty="0"/>
          </a:p>
        </p:txBody>
      </p:sp>
      <p:sp>
        <p:nvSpPr>
          <p:cNvPr id="6" name="TextBox 5"/>
          <p:cNvSpPr txBox="1"/>
          <p:nvPr/>
        </p:nvSpPr>
        <p:spPr>
          <a:xfrm>
            <a:off x="701615" y="4213852"/>
            <a:ext cx="4180936" cy="461665"/>
          </a:xfrm>
          <a:prstGeom prst="rect">
            <a:avLst/>
          </a:prstGeom>
          <a:noFill/>
        </p:spPr>
        <p:txBody>
          <a:bodyPr wrap="square" rtlCol="0">
            <a:spAutoFit/>
          </a:bodyPr>
          <a:lstStyle/>
          <a:p>
            <a:r>
              <a:rPr lang="en-AU" sz="2400" dirty="0" smtClean="0">
                <a:solidFill>
                  <a:srgbClr val="FF0000"/>
                </a:solidFill>
              </a:rPr>
              <a:t>I=</a:t>
            </a:r>
            <a:r>
              <a:rPr lang="en-AU" sz="2400" dirty="0" err="1" smtClean="0">
                <a:solidFill>
                  <a:srgbClr val="FF0000"/>
                </a:solidFill>
              </a:rPr>
              <a:t>Voltman</a:t>
            </a:r>
            <a:r>
              <a:rPr lang="en-AU" sz="2400" dirty="0" smtClean="0">
                <a:solidFill>
                  <a:srgbClr val="FF0000"/>
                </a:solidFill>
              </a:rPr>
              <a:t>, II=Flash, III=Sparky</a:t>
            </a:r>
            <a:endParaRPr lang="en-AU" sz="2400" dirty="0">
              <a:solidFill>
                <a:srgbClr val="FF0000"/>
              </a:solidFill>
            </a:endParaRPr>
          </a:p>
        </p:txBody>
      </p:sp>
      <p:sp>
        <p:nvSpPr>
          <p:cNvPr id="11" name="TextBox 10"/>
          <p:cNvSpPr txBox="1"/>
          <p:nvPr/>
        </p:nvSpPr>
        <p:spPr>
          <a:xfrm>
            <a:off x="701615" y="4925683"/>
            <a:ext cx="4180936" cy="461665"/>
          </a:xfrm>
          <a:prstGeom prst="rect">
            <a:avLst/>
          </a:prstGeom>
          <a:noFill/>
        </p:spPr>
        <p:txBody>
          <a:bodyPr wrap="square" rtlCol="0">
            <a:spAutoFit/>
          </a:bodyPr>
          <a:lstStyle/>
          <a:p>
            <a:r>
              <a:rPr lang="en-AU" sz="2400" dirty="0" smtClean="0">
                <a:solidFill>
                  <a:srgbClr val="FF0000"/>
                </a:solidFill>
              </a:rPr>
              <a:t>Sparky, line is the steepest</a:t>
            </a:r>
            <a:endParaRPr lang="en-AU" sz="2400" dirty="0">
              <a:solidFill>
                <a:srgbClr val="FF0000"/>
              </a:solidFill>
            </a:endParaRPr>
          </a:p>
        </p:txBody>
      </p:sp>
      <mc:AlternateContent xmlns:mc="http://schemas.openxmlformats.org/markup-compatibility/2006" xmlns:a14="http://schemas.microsoft.com/office/drawing/2010/main">
        <mc:Choice Requires="a14">
          <p:sp>
            <p:nvSpPr>
              <p:cNvPr id="12" name="TextBox 11"/>
              <p:cNvSpPr txBox="1"/>
              <p:nvPr/>
            </p:nvSpPr>
            <p:spPr>
              <a:xfrm>
                <a:off x="701614" y="5681932"/>
                <a:ext cx="9443049"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400" b="0" i="1" smtClean="0">
                          <a:solidFill>
                            <a:srgbClr val="FF0000"/>
                          </a:solidFill>
                          <a:latin typeface="Cambria Math" panose="02040503050406030204" pitchFamily="18" charset="0"/>
                        </a:rPr>
                        <m:t>𝐼</m:t>
                      </m:r>
                      <m:r>
                        <a:rPr lang="en-AU" sz="2400" b="0" i="1" smtClean="0">
                          <a:solidFill>
                            <a:srgbClr val="FF0000"/>
                          </a:solidFill>
                          <a:latin typeface="Cambria Math" panose="02040503050406030204" pitchFamily="18" charset="0"/>
                        </a:rPr>
                        <m:t>     </m:t>
                      </m:r>
                      <m:r>
                        <a:rPr lang="en-AU" sz="2400" b="0" i="1" smtClean="0">
                          <a:solidFill>
                            <a:srgbClr val="FF0000"/>
                          </a:solidFill>
                          <a:latin typeface="Cambria Math" panose="02040503050406030204" pitchFamily="18" charset="0"/>
                        </a:rPr>
                        <m:t>𝐶</m:t>
                      </m:r>
                      <m:r>
                        <a:rPr lang="en-AU" sz="2400" b="0" i="1" smtClean="0">
                          <a:solidFill>
                            <a:srgbClr val="FF0000"/>
                          </a:solidFill>
                          <a:latin typeface="Cambria Math" panose="02040503050406030204" pitchFamily="18" charset="0"/>
                        </a:rPr>
                        <m:t>=120+60</m:t>
                      </m:r>
                      <m:r>
                        <a:rPr lang="en-AU" sz="2400" b="0" i="1" smtClean="0">
                          <a:solidFill>
                            <a:srgbClr val="FF0000"/>
                          </a:solidFill>
                          <a:latin typeface="Cambria Math" panose="02040503050406030204" pitchFamily="18" charset="0"/>
                        </a:rPr>
                        <m:t>𝑡</m:t>
                      </m:r>
                      <m:r>
                        <a:rPr lang="en-AU" sz="2400" b="0" i="1" smtClean="0">
                          <a:solidFill>
                            <a:srgbClr val="FF0000"/>
                          </a:solidFill>
                          <a:latin typeface="Cambria Math" panose="02040503050406030204" pitchFamily="18" charset="0"/>
                        </a:rPr>
                        <m:t>           </m:t>
                      </m:r>
                      <m:r>
                        <a:rPr lang="en-AU" sz="2400" b="0" i="1" smtClean="0">
                          <a:solidFill>
                            <a:srgbClr val="FF0000"/>
                          </a:solidFill>
                          <a:latin typeface="Cambria Math" panose="02040503050406030204" pitchFamily="18" charset="0"/>
                        </a:rPr>
                        <m:t>𝐼𝐼</m:t>
                      </m:r>
                      <m:r>
                        <a:rPr lang="en-AU" sz="2400" b="0" i="1" smtClean="0">
                          <a:solidFill>
                            <a:srgbClr val="FF0000"/>
                          </a:solidFill>
                          <a:latin typeface="Cambria Math" panose="02040503050406030204" pitchFamily="18" charset="0"/>
                        </a:rPr>
                        <m:t>       </m:t>
                      </m:r>
                      <m:r>
                        <a:rPr lang="en-AU" sz="2400" b="0" i="1" smtClean="0">
                          <a:solidFill>
                            <a:srgbClr val="FF0000"/>
                          </a:solidFill>
                          <a:latin typeface="Cambria Math" panose="02040503050406030204" pitchFamily="18" charset="0"/>
                        </a:rPr>
                        <m:t>𝐶</m:t>
                      </m:r>
                      <m:r>
                        <a:rPr lang="en-AU" sz="2400" b="0" i="1" smtClean="0">
                          <a:solidFill>
                            <a:srgbClr val="FF0000"/>
                          </a:solidFill>
                          <a:latin typeface="Cambria Math" panose="02040503050406030204" pitchFamily="18" charset="0"/>
                        </a:rPr>
                        <m:t>=80+100</m:t>
                      </m:r>
                      <m:r>
                        <a:rPr lang="en-AU" sz="2400" b="0" i="1" smtClean="0">
                          <a:solidFill>
                            <a:srgbClr val="FF0000"/>
                          </a:solidFill>
                          <a:latin typeface="Cambria Math" panose="02040503050406030204" pitchFamily="18" charset="0"/>
                        </a:rPr>
                        <m:t>𝑡</m:t>
                      </m:r>
                      <m:r>
                        <a:rPr lang="en-AU" sz="2400" b="0" i="1" smtClean="0">
                          <a:solidFill>
                            <a:srgbClr val="FF0000"/>
                          </a:solidFill>
                          <a:latin typeface="Cambria Math" panose="02040503050406030204" pitchFamily="18" charset="0"/>
                        </a:rPr>
                        <m:t>           </m:t>
                      </m:r>
                      <m:r>
                        <a:rPr lang="en-AU" sz="2400" b="0" i="1" smtClean="0">
                          <a:solidFill>
                            <a:srgbClr val="FF0000"/>
                          </a:solidFill>
                          <a:latin typeface="Cambria Math" panose="02040503050406030204" pitchFamily="18" charset="0"/>
                        </a:rPr>
                        <m:t>𝐼𝐼𝐼</m:t>
                      </m:r>
                      <m:r>
                        <a:rPr lang="en-AU" sz="2400" b="0" i="1" smtClean="0">
                          <a:solidFill>
                            <a:srgbClr val="FF0000"/>
                          </a:solidFill>
                          <a:latin typeface="Cambria Math" panose="02040503050406030204" pitchFamily="18" charset="0"/>
                        </a:rPr>
                        <m:t>        </m:t>
                      </m:r>
                      <m:r>
                        <a:rPr lang="en-AU" sz="2400" b="0" i="1" smtClean="0">
                          <a:solidFill>
                            <a:srgbClr val="FF0000"/>
                          </a:solidFill>
                          <a:latin typeface="Cambria Math" panose="02040503050406030204" pitchFamily="18" charset="0"/>
                        </a:rPr>
                        <m:t>𝐶</m:t>
                      </m:r>
                      <m:r>
                        <a:rPr lang="en-AU" sz="2400" b="0" i="1" smtClean="0">
                          <a:solidFill>
                            <a:srgbClr val="FF0000"/>
                          </a:solidFill>
                          <a:latin typeface="Cambria Math" panose="02040503050406030204" pitchFamily="18" charset="0"/>
                        </a:rPr>
                        <m:t>=120</m:t>
                      </m:r>
                      <m:r>
                        <a:rPr lang="en-AU" sz="2400" b="0" i="1" smtClean="0">
                          <a:solidFill>
                            <a:srgbClr val="FF0000"/>
                          </a:solidFill>
                          <a:latin typeface="Cambria Math" panose="02040503050406030204" pitchFamily="18" charset="0"/>
                        </a:rPr>
                        <m:t>𝑡</m:t>
                      </m:r>
                    </m:oMath>
                  </m:oMathPara>
                </a14:m>
                <a:endParaRPr lang="en-AU" sz="2400" dirty="0">
                  <a:solidFill>
                    <a:srgbClr val="FF0000"/>
                  </a:solidFill>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701614" y="5681932"/>
                <a:ext cx="9443049" cy="461665"/>
              </a:xfrm>
              <a:prstGeom prst="rect">
                <a:avLst/>
              </a:prstGeom>
              <a:blipFill>
                <a:blip r:embed="rId3"/>
                <a:stretch>
                  <a:fillRect/>
                </a:stretch>
              </a:blipFill>
            </p:spPr>
            <p:txBody>
              <a:bodyPr/>
              <a:lstStyle/>
              <a:p>
                <a:r>
                  <a:rPr lang="en-AU">
                    <a:noFill/>
                  </a:rPr>
                  <a:t> </a:t>
                </a:r>
              </a:p>
            </p:txBody>
          </p:sp>
        </mc:Fallback>
      </mc:AlternateContent>
    </p:spTree>
    <p:extLst>
      <p:ext uri="{BB962C8B-B14F-4D97-AF65-F5344CB8AC3E}">
        <p14:creationId xmlns:p14="http://schemas.microsoft.com/office/powerpoint/2010/main" val="2597226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fade">
                                      <p:cBhvr>
                                        <p:cTn id="12" dur="500"/>
                                        <p:tgtEl>
                                          <p:spTgt spid="1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animEffect transition="in" filter="fade">
                                      <p:cBhvr>
                                        <p:cTn id="17" dur="5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3985404" cy="461665"/>
          </a:xfrm>
          <a:prstGeom prst="rect">
            <a:avLst/>
          </a:prstGeom>
          <a:solidFill>
            <a:srgbClr val="FFFF00"/>
          </a:solidFill>
        </p:spPr>
        <p:txBody>
          <a:bodyPr wrap="square" rtlCol="0">
            <a:spAutoFit/>
          </a:bodyPr>
          <a:lstStyle/>
          <a:p>
            <a:r>
              <a:rPr lang="en-AU" sz="2400" dirty="0" smtClean="0"/>
              <a:t>The gradient of a straight line</a:t>
            </a:r>
            <a:endParaRPr lang="en-AU" sz="2400" dirty="0"/>
          </a:p>
        </p:txBody>
      </p:sp>
      <p:sp>
        <p:nvSpPr>
          <p:cNvPr id="2" name="TextBox 1"/>
          <p:cNvSpPr txBox="1"/>
          <p:nvPr/>
        </p:nvSpPr>
        <p:spPr>
          <a:xfrm>
            <a:off x="184030" y="575094"/>
            <a:ext cx="11294853" cy="954107"/>
          </a:xfrm>
          <a:prstGeom prst="rect">
            <a:avLst/>
          </a:prstGeom>
          <a:noFill/>
        </p:spPr>
        <p:txBody>
          <a:bodyPr wrap="square" rtlCol="0">
            <a:spAutoFit/>
          </a:bodyPr>
          <a:lstStyle/>
          <a:p>
            <a:r>
              <a:rPr lang="en-AU" sz="2800" dirty="0" smtClean="0"/>
              <a:t>The vertical rise for each for each horizontal unit increase is called the </a:t>
            </a:r>
            <a:r>
              <a:rPr lang="en-AU" sz="2800" b="1" dirty="0" smtClean="0"/>
              <a:t>gradient or slope </a:t>
            </a:r>
            <a:r>
              <a:rPr lang="en-AU" sz="2800" dirty="0" smtClean="0"/>
              <a:t>of the straight line.</a:t>
            </a:r>
            <a:endParaRPr lang="en-AU" sz="2800" dirty="0" smtClean="0"/>
          </a:p>
        </p:txBody>
      </p:sp>
      <p:pic>
        <p:nvPicPr>
          <p:cNvPr id="4" name="Picture 3"/>
          <p:cNvPicPr>
            <a:picLocks noChangeAspect="1"/>
          </p:cNvPicPr>
          <p:nvPr/>
        </p:nvPicPr>
        <p:blipFill>
          <a:blip r:embed="rId2"/>
          <a:stretch>
            <a:fillRect/>
          </a:stretch>
        </p:blipFill>
        <p:spPr>
          <a:xfrm>
            <a:off x="429255" y="1642630"/>
            <a:ext cx="2692084" cy="3496214"/>
          </a:xfrm>
          <a:prstGeom prst="rect">
            <a:avLst/>
          </a:prstGeom>
        </p:spPr>
      </p:pic>
      <p:sp>
        <p:nvSpPr>
          <p:cNvPr id="9" name="TextBox 8"/>
          <p:cNvSpPr txBox="1"/>
          <p:nvPr/>
        </p:nvSpPr>
        <p:spPr>
          <a:xfrm>
            <a:off x="184030" y="5329536"/>
            <a:ext cx="3674853" cy="1015663"/>
          </a:xfrm>
          <a:prstGeom prst="rect">
            <a:avLst/>
          </a:prstGeom>
          <a:noFill/>
        </p:spPr>
        <p:txBody>
          <a:bodyPr wrap="square" rtlCol="0">
            <a:spAutoFit/>
          </a:bodyPr>
          <a:lstStyle/>
          <a:p>
            <a:r>
              <a:rPr lang="en-AU" sz="2000" dirty="0" smtClean="0">
                <a:solidFill>
                  <a:srgbClr val="FF0000"/>
                </a:solidFill>
              </a:rPr>
              <a:t>As we move across horizontally 1 unit, the line moves up 1 unit</a:t>
            </a:r>
          </a:p>
          <a:p>
            <a:r>
              <a:rPr lang="en-AU" sz="2000" dirty="0" smtClean="0">
                <a:solidFill>
                  <a:srgbClr val="FF0000"/>
                </a:solidFill>
              </a:rPr>
              <a:t>Gradient = 1</a:t>
            </a:r>
            <a:endParaRPr lang="en-AU" sz="2000" dirty="0">
              <a:solidFill>
                <a:srgbClr val="FF0000"/>
              </a:solidFill>
            </a:endParaRPr>
          </a:p>
        </p:txBody>
      </p:sp>
      <p:pic>
        <p:nvPicPr>
          <p:cNvPr id="5" name="Picture 4"/>
          <p:cNvPicPr>
            <a:picLocks noChangeAspect="1"/>
          </p:cNvPicPr>
          <p:nvPr/>
        </p:nvPicPr>
        <p:blipFill>
          <a:blip r:embed="rId3"/>
          <a:stretch>
            <a:fillRect/>
          </a:stretch>
        </p:blipFill>
        <p:spPr>
          <a:xfrm>
            <a:off x="4939162" y="1704849"/>
            <a:ext cx="2668055" cy="3454789"/>
          </a:xfrm>
          <a:prstGeom prst="rect">
            <a:avLst/>
          </a:prstGeom>
        </p:spPr>
      </p:pic>
      <p:sp>
        <p:nvSpPr>
          <p:cNvPr id="11" name="TextBox 10"/>
          <p:cNvSpPr txBox="1"/>
          <p:nvPr/>
        </p:nvSpPr>
        <p:spPr>
          <a:xfrm>
            <a:off x="4366419" y="5329535"/>
            <a:ext cx="3811423" cy="1015663"/>
          </a:xfrm>
          <a:prstGeom prst="rect">
            <a:avLst/>
          </a:prstGeom>
          <a:noFill/>
        </p:spPr>
        <p:txBody>
          <a:bodyPr wrap="square" rtlCol="0">
            <a:spAutoFit/>
          </a:bodyPr>
          <a:lstStyle/>
          <a:p>
            <a:r>
              <a:rPr lang="en-AU" sz="2000" dirty="0" smtClean="0">
                <a:solidFill>
                  <a:srgbClr val="FF0000"/>
                </a:solidFill>
              </a:rPr>
              <a:t>As we move across horizontally 1 unit, the line moves up 2 units</a:t>
            </a:r>
          </a:p>
          <a:p>
            <a:r>
              <a:rPr lang="en-AU" sz="2000" dirty="0" smtClean="0">
                <a:solidFill>
                  <a:srgbClr val="FF0000"/>
                </a:solidFill>
              </a:rPr>
              <a:t>Gradient = 2</a:t>
            </a:r>
            <a:endParaRPr lang="en-AU" sz="2000" dirty="0">
              <a:solidFill>
                <a:srgbClr val="FF0000"/>
              </a:solidFill>
            </a:endParaRPr>
          </a:p>
        </p:txBody>
      </p:sp>
      <p:pic>
        <p:nvPicPr>
          <p:cNvPr id="6" name="Picture 5"/>
          <p:cNvPicPr>
            <a:picLocks noChangeAspect="1"/>
          </p:cNvPicPr>
          <p:nvPr/>
        </p:nvPicPr>
        <p:blipFill>
          <a:blip r:embed="rId4"/>
          <a:stretch>
            <a:fillRect/>
          </a:stretch>
        </p:blipFill>
        <p:spPr>
          <a:xfrm>
            <a:off x="9484294" y="1529201"/>
            <a:ext cx="2506709" cy="3459552"/>
          </a:xfrm>
          <a:prstGeom prst="rect">
            <a:avLst/>
          </a:prstGeom>
        </p:spPr>
      </p:pic>
      <p:sp>
        <p:nvSpPr>
          <p:cNvPr id="13" name="TextBox 12"/>
          <p:cNvSpPr txBox="1"/>
          <p:nvPr/>
        </p:nvSpPr>
        <p:spPr>
          <a:xfrm>
            <a:off x="8327368" y="5233745"/>
            <a:ext cx="3907766" cy="1015663"/>
          </a:xfrm>
          <a:prstGeom prst="rect">
            <a:avLst/>
          </a:prstGeom>
          <a:noFill/>
        </p:spPr>
        <p:txBody>
          <a:bodyPr wrap="square" rtlCol="0">
            <a:spAutoFit/>
          </a:bodyPr>
          <a:lstStyle/>
          <a:p>
            <a:r>
              <a:rPr lang="en-AU" sz="2000" dirty="0" smtClean="0">
                <a:solidFill>
                  <a:srgbClr val="FF0000"/>
                </a:solidFill>
              </a:rPr>
              <a:t>As we move across horizontally 1 unit, the line moves </a:t>
            </a:r>
            <a:r>
              <a:rPr lang="en-AU" sz="2000" b="1" dirty="0" smtClean="0">
                <a:solidFill>
                  <a:srgbClr val="FF0000"/>
                </a:solidFill>
              </a:rPr>
              <a:t>down</a:t>
            </a:r>
            <a:r>
              <a:rPr lang="en-AU" sz="2000" dirty="0" smtClean="0">
                <a:solidFill>
                  <a:srgbClr val="FF0000"/>
                </a:solidFill>
              </a:rPr>
              <a:t> </a:t>
            </a:r>
            <a:r>
              <a:rPr lang="en-AU" sz="2000" dirty="0" smtClean="0">
                <a:solidFill>
                  <a:srgbClr val="FF0000"/>
                </a:solidFill>
              </a:rPr>
              <a:t>1.5</a:t>
            </a:r>
            <a:r>
              <a:rPr lang="en-AU" sz="2000" dirty="0" smtClean="0">
                <a:solidFill>
                  <a:srgbClr val="FF0000"/>
                </a:solidFill>
              </a:rPr>
              <a:t> units</a:t>
            </a:r>
          </a:p>
          <a:p>
            <a:r>
              <a:rPr lang="en-AU" sz="2000" dirty="0" smtClean="0">
                <a:solidFill>
                  <a:srgbClr val="FF0000"/>
                </a:solidFill>
              </a:rPr>
              <a:t>Gradient = </a:t>
            </a:r>
            <a:r>
              <a:rPr lang="en-AU" sz="2000" b="1" dirty="0" smtClean="0">
                <a:solidFill>
                  <a:srgbClr val="FF0000"/>
                </a:solidFill>
              </a:rPr>
              <a:t>-1.5</a:t>
            </a:r>
            <a:endParaRPr lang="en-AU" sz="2000" b="1" dirty="0">
              <a:solidFill>
                <a:srgbClr val="FF0000"/>
              </a:solidFill>
            </a:endParaRPr>
          </a:p>
        </p:txBody>
      </p:sp>
    </p:spTree>
    <p:extLst>
      <p:ext uri="{BB962C8B-B14F-4D97-AF65-F5344CB8AC3E}">
        <p14:creationId xmlns:p14="http://schemas.microsoft.com/office/powerpoint/2010/main" val="3747394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fade">
                                      <p:cBhvr>
                                        <p:cTn id="12" dur="500"/>
                                        <p:tgtEl>
                                          <p:spTgt spid="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1" end="1"/>
                                            </p:txEl>
                                          </p:spTgt>
                                        </p:tgtEl>
                                        <p:attrNameLst>
                                          <p:attrName>style.visibility</p:attrName>
                                        </p:attrNameLst>
                                      </p:cBhvr>
                                      <p:to>
                                        <p:strVal val="visible"/>
                                      </p:to>
                                    </p:set>
                                    <p:animEffect transition="in" filter="fade">
                                      <p:cBhvr>
                                        <p:cTn id="22" dur="500"/>
                                        <p:tgtEl>
                                          <p:spTgt spid="9">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
                                            <p:txEl>
                                              <p:pRg st="0" end="0"/>
                                            </p:txEl>
                                          </p:spTgt>
                                        </p:tgtEl>
                                        <p:attrNameLst>
                                          <p:attrName>style.visibility</p:attrName>
                                        </p:attrNameLst>
                                      </p:cBhvr>
                                      <p:to>
                                        <p:strVal val="visible"/>
                                      </p:to>
                                    </p:set>
                                    <p:animEffect transition="in" filter="fade">
                                      <p:cBhvr>
                                        <p:cTn id="27" dur="500"/>
                                        <p:tgtEl>
                                          <p:spTgt spid="11">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1">
                                            <p:txEl>
                                              <p:pRg st="1" end="1"/>
                                            </p:txEl>
                                          </p:spTgt>
                                        </p:tgtEl>
                                        <p:attrNameLst>
                                          <p:attrName>style.visibility</p:attrName>
                                        </p:attrNameLst>
                                      </p:cBhvr>
                                      <p:to>
                                        <p:strVal val="visible"/>
                                      </p:to>
                                    </p:set>
                                    <p:animEffect transition="in" filter="fade">
                                      <p:cBhvr>
                                        <p:cTn id="32" dur="500"/>
                                        <p:tgtEl>
                                          <p:spTgt spid="11">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3">
                                            <p:txEl>
                                              <p:pRg st="0" end="0"/>
                                            </p:txEl>
                                          </p:spTgt>
                                        </p:tgtEl>
                                        <p:attrNameLst>
                                          <p:attrName>style.visibility</p:attrName>
                                        </p:attrNameLst>
                                      </p:cBhvr>
                                      <p:to>
                                        <p:strVal val="visible"/>
                                      </p:to>
                                    </p:set>
                                    <p:animEffect transition="in" filter="fade">
                                      <p:cBhvr>
                                        <p:cTn id="42" dur="500"/>
                                        <p:tgtEl>
                                          <p:spTgt spid="13">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3">
                                            <p:txEl>
                                              <p:pRg st="1" end="1"/>
                                            </p:txEl>
                                          </p:spTgt>
                                        </p:tgtEl>
                                        <p:attrNameLst>
                                          <p:attrName>style.visibility</p:attrName>
                                        </p:attrNameLst>
                                      </p:cBhvr>
                                      <p:to>
                                        <p:strVal val="visible"/>
                                      </p:to>
                                    </p:set>
                                    <p:animEffect transition="in" filter="fade">
                                      <p:cBhvr>
                                        <p:cTn id="47" dur="5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3985404" cy="461665"/>
          </a:xfrm>
          <a:prstGeom prst="rect">
            <a:avLst/>
          </a:prstGeom>
          <a:solidFill>
            <a:srgbClr val="FFFF00"/>
          </a:solidFill>
        </p:spPr>
        <p:txBody>
          <a:bodyPr wrap="square" rtlCol="0">
            <a:spAutoFit/>
          </a:bodyPr>
          <a:lstStyle/>
          <a:p>
            <a:r>
              <a:rPr lang="en-AU" sz="2400" dirty="0" smtClean="0"/>
              <a:t>Table of Values</a:t>
            </a:r>
            <a:endParaRPr lang="en-AU" sz="2400" dirty="0"/>
          </a:p>
        </p:txBody>
      </p:sp>
      <p:sp>
        <p:nvSpPr>
          <p:cNvPr id="2" name="TextBox 1"/>
          <p:cNvSpPr txBox="1"/>
          <p:nvPr/>
        </p:nvSpPr>
        <p:spPr>
          <a:xfrm>
            <a:off x="184030" y="575094"/>
            <a:ext cx="11294853" cy="523220"/>
          </a:xfrm>
          <a:prstGeom prst="rect">
            <a:avLst/>
          </a:prstGeom>
          <a:noFill/>
        </p:spPr>
        <p:txBody>
          <a:bodyPr wrap="square" rtlCol="0">
            <a:spAutoFit/>
          </a:bodyPr>
          <a:lstStyle/>
          <a:p>
            <a:r>
              <a:rPr lang="en-AU" sz="2800" dirty="0" smtClean="0"/>
              <a:t>Using a table of values we can find the gradient as well</a:t>
            </a:r>
            <a:endParaRPr lang="en-AU" sz="2800" dirty="0" smtClean="0"/>
          </a:p>
        </p:txBody>
      </p:sp>
      <p:graphicFrame>
        <p:nvGraphicFramePr>
          <p:cNvPr id="10" name="Table 9"/>
          <p:cNvGraphicFramePr>
            <a:graphicFrameLocks noGrp="1"/>
          </p:cNvGraphicFramePr>
          <p:nvPr>
            <p:extLst>
              <p:ext uri="{D42A27DB-BD31-4B8C-83A1-F6EECF244321}">
                <p14:modId xmlns:p14="http://schemas.microsoft.com/office/powerpoint/2010/main" val="35259452"/>
              </p:ext>
            </p:extLst>
          </p:nvPr>
        </p:nvGraphicFramePr>
        <p:xfrm>
          <a:off x="392981" y="1765878"/>
          <a:ext cx="5773404" cy="936000"/>
        </p:xfrm>
        <a:graphic>
          <a:graphicData uri="http://schemas.openxmlformats.org/drawingml/2006/table">
            <a:tbl>
              <a:tblPr firstRow="1" bandRow="1">
                <a:tableStyleId>{073A0DAA-6AF3-43AB-8588-CEC1D06C72B9}</a:tableStyleId>
              </a:tblPr>
              <a:tblGrid>
                <a:gridCol w="962234">
                  <a:extLst>
                    <a:ext uri="{9D8B030D-6E8A-4147-A177-3AD203B41FA5}">
                      <a16:colId xmlns:a16="http://schemas.microsoft.com/office/drawing/2014/main" val="2056920446"/>
                    </a:ext>
                  </a:extLst>
                </a:gridCol>
                <a:gridCol w="962234">
                  <a:extLst>
                    <a:ext uri="{9D8B030D-6E8A-4147-A177-3AD203B41FA5}">
                      <a16:colId xmlns:a16="http://schemas.microsoft.com/office/drawing/2014/main" val="1249924637"/>
                    </a:ext>
                  </a:extLst>
                </a:gridCol>
                <a:gridCol w="962234">
                  <a:extLst>
                    <a:ext uri="{9D8B030D-6E8A-4147-A177-3AD203B41FA5}">
                      <a16:colId xmlns:a16="http://schemas.microsoft.com/office/drawing/2014/main" val="2049648085"/>
                    </a:ext>
                  </a:extLst>
                </a:gridCol>
                <a:gridCol w="962234">
                  <a:extLst>
                    <a:ext uri="{9D8B030D-6E8A-4147-A177-3AD203B41FA5}">
                      <a16:colId xmlns:a16="http://schemas.microsoft.com/office/drawing/2014/main" val="123749504"/>
                    </a:ext>
                  </a:extLst>
                </a:gridCol>
                <a:gridCol w="962234">
                  <a:extLst>
                    <a:ext uri="{9D8B030D-6E8A-4147-A177-3AD203B41FA5}">
                      <a16:colId xmlns:a16="http://schemas.microsoft.com/office/drawing/2014/main" val="1520010306"/>
                    </a:ext>
                  </a:extLst>
                </a:gridCol>
                <a:gridCol w="962234">
                  <a:extLst>
                    <a:ext uri="{9D8B030D-6E8A-4147-A177-3AD203B41FA5}">
                      <a16:colId xmlns:a16="http://schemas.microsoft.com/office/drawing/2014/main" val="1983672441"/>
                    </a:ext>
                  </a:extLst>
                </a:gridCol>
              </a:tblGrid>
              <a:tr h="468000">
                <a:tc>
                  <a:txBody>
                    <a:bodyPr/>
                    <a:lstStyle/>
                    <a:p>
                      <a:r>
                        <a:rPr lang="en-AU" dirty="0" smtClean="0"/>
                        <a:t>C</a:t>
                      </a:r>
                      <a:endParaRPr lang="en-AU" dirty="0"/>
                    </a:p>
                  </a:txBody>
                  <a:tcPr/>
                </a:tc>
                <a:tc>
                  <a:txBody>
                    <a:bodyPr/>
                    <a:lstStyle/>
                    <a:p>
                      <a:pPr algn="ctr"/>
                      <a:r>
                        <a:rPr lang="en-AU" sz="2400" dirty="0" smtClean="0"/>
                        <a:t>0</a:t>
                      </a:r>
                      <a:endParaRPr lang="en-AU" sz="2400" dirty="0"/>
                    </a:p>
                  </a:txBody>
                  <a:tcPr/>
                </a:tc>
                <a:tc>
                  <a:txBody>
                    <a:bodyPr/>
                    <a:lstStyle/>
                    <a:p>
                      <a:pPr algn="ctr"/>
                      <a:r>
                        <a:rPr lang="en-AU" sz="2400" dirty="0" smtClean="0"/>
                        <a:t>1</a:t>
                      </a:r>
                      <a:endParaRPr lang="en-AU" sz="2400" dirty="0"/>
                    </a:p>
                  </a:txBody>
                  <a:tcPr/>
                </a:tc>
                <a:tc>
                  <a:txBody>
                    <a:bodyPr/>
                    <a:lstStyle/>
                    <a:p>
                      <a:pPr algn="ctr"/>
                      <a:r>
                        <a:rPr lang="en-AU" sz="2400" dirty="0" smtClean="0"/>
                        <a:t>2</a:t>
                      </a:r>
                      <a:endParaRPr lang="en-AU" sz="2400" dirty="0"/>
                    </a:p>
                  </a:txBody>
                  <a:tcPr/>
                </a:tc>
                <a:tc>
                  <a:txBody>
                    <a:bodyPr/>
                    <a:lstStyle/>
                    <a:p>
                      <a:pPr algn="ctr"/>
                      <a:r>
                        <a:rPr lang="en-AU" sz="2400" dirty="0" smtClean="0"/>
                        <a:t>3</a:t>
                      </a:r>
                      <a:endParaRPr lang="en-AU" sz="2400" dirty="0"/>
                    </a:p>
                  </a:txBody>
                  <a:tcPr/>
                </a:tc>
                <a:tc>
                  <a:txBody>
                    <a:bodyPr/>
                    <a:lstStyle/>
                    <a:p>
                      <a:pPr algn="ctr"/>
                      <a:r>
                        <a:rPr lang="en-AU" sz="2400" dirty="0" smtClean="0"/>
                        <a:t>4</a:t>
                      </a:r>
                      <a:endParaRPr lang="en-AU" sz="2400" dirty="0"/>
                    </a:p>
                  </a:txBody>
                  <a:tcPr/>
                </a:tc>
                <a:extLst>
                  <a:ext uri="{0D108BD9-81ED-4DB2-BD59-A6C34878D82A}">
                    <a16:rowId xmlns:a16="http://schemas.microsoft.com/office/drawing/2014/main" val="4072838982"/>
                  </a:ext>
                </a:extLst>
              </a:tr>
              <a:tr h="468000">
                <a:tc>
                  <a:txBody>
                    <a:bodyPr/>
                    <a:lstStyle/>
                    <a:p>
                      <a:r>
                        <a:rPr lang="en-AU" dirty="0" smtClean="0"/>
                        <a:t>w</a:t>
                      </a:r>
                      <a:endParaRPr lang="en-AU" dirty="0"/>
                    </a:p>
                  </a:txBody>
                  <a:tcPr/>
                </a:tc>
                <a:tc>
                  <a:txBody>
                    <a:bodyPr/>
                    <a:lstStyle/>
                    <a:p>
                      <a:pPr algn="ctr"/>
                      <a:r>
                        <a:rPr lang="en-AU" sz="2400" dirty="0" smtClean="0"/>
                        <a:t>2</a:t>
                      </a:r>
                      <a:endParaRPr lang="en-AU" sz="2400" dirty="0"/>
                    </a:p>
                  </a:txBody>
                  <a:tcPr/>
                </a:tc>
                <a:tc>
                  <a:txBody>
                    <a:bodyPr/>
                    <a:lstStyle/>
                    <a:p>
                      <a:pPr algn="ctr"/>
                      <a:r>
                        <a:rPr lang="en-AU" sz="2400" dirty="0" smtClean="0"/>
                        <a:t>3</a:t>
                      </a:r>
                      <a:endParaRPr lang="en-AU" sz="2400" dirty="0"/>
                    </a:p>
                  </a:txBody>
                  <a:tcPr/>
                </a:tc>
                <a:tc>
                  <a:txBody>
                    <a:bodyPr/>
                    <a:lstStyle/>
                    <a:p>
                      <a:pPr algn="ctr"/>
                      <a:r>
                        <a:rPr lang="en-AU" sz="2400" dirty="0" smtClean="0"/>
                        <a:t>4</a:t>
                      </a:r>
                      <a:endParaRPr lang="en-AU" sz="2400" dirty="0"/>
                    </a:p>
                  </a:txBody>
                  <a:tcPr/>
                </a:tc>
                <a:tc>
                  <a:txBody>
                    <a:bodyPr/>
                    <a:lstStyle/>
                    <a:p>
                      <a:pPr algn="ctr"/>
                      <a:r>
                        <a:rPr lang="en-AU" sz="2400" dirty="0" smtClean="0"/>
                        <a:t>5</a:t>
                      </a:r>
                      <a:endParaRPr lang="en-AU" sz="2400" dirty="0"/>
                    </a:p>
                  </a:txBody>
                  <a:tcPr/>
                </a:tc>
                <a:tc>
                  <a:txBody>
                    <a:bodyPr/>
                    <a:lstStyle/>
                    <a:p>
                      <a:pPr algn="ctr"/>
                      <a:r>
                        <a:rPr lang="en-AU" sz="2400" dirty="0" smtClean="0"/>
                        <a:t>6</a:t>
                      </a:r>
                      <a:endParaRPr lang="en-AU" sz="2400" dirty="0"/>
                    </a:p>
                  </a:txBody>
                  <a:tcPr/>
                </a:tc>
                <a:extLst>
                  <a:ext uri="{0D108BD9-81ED-4DB2-BD59-A6C34878D82A}">
                    <a16:rowId xmlns:a16="http://schemas.microsoft.com/office/drawing/2014/main" val="4016370420"/>
                  </a:ext>
                </a:extLst>
              </a:tr>
            </a:tbl>
          </a:graphicData>
        </a:graphic>
      </p:graphicFrame>
      <p:sp>
        <p:nvSpPr>
          <p:cNvPr id="3" name="Curved Down Arrow 2"/>
          <p:cNvSpPr/>
          <p:nvPr/>
        </p:nvSpPr>
        <p:spPr>
          <a:xfrm>
            <a:off x="1846053" y="1374475"/>
            <a:ext cx="977660" cy="310551"/>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7" name="TextBox 6"/>
          <p:cNvSpPr txBox="1"/>
          <p:nvPr/>
        </p:nvSpPr>
        <p:spPr>
          <a:xfrm>
            <a:off x="2173856" y="1016867"/>
            <a:ext cx="552091" cy="369332"/>
          </a:xfrm>
          <a:prstGeom prst="rect">
            <a:avLst/>
          </a:prstGeom>
          <a:noFill/>
        </p:spPr>
        <p:txBody>
          <a:bodyPr wrap="square" rtlCol="0">
            <a:spAutoFit/>
          </a:bodyPr>
          <a:lstStyle/>
          <a:p>
            <a:r>
              <a:rPr lang="en-AU" dirty="0" smtClean="0">
                <a:solidFill>
                  <a:srgbClr val="FF0000"/>
                </a:solidFill>
              </a:rPr>
              <a:t>1</a:t>
            </a:r>
            <a:endParaRPr lang="en-AU" dirty="0">
              <a:solidFill>
                <a:srgbClr val="FF0000"/>
              </a:solidFill>
            </a:endParaRPr>
          </a:p>
        </p:txBody>
      </p:sp>
      <p:sp>
        <p:nvSpPr>
          <p:cNvPr id="15" name="Curved Down Arrow 14"/>
          <p:cNvSpPr/>
          <p:nvPr/>
        </p:nvSpPr>
        <p:spPr>
          <a:xfrm>
            <a:off x="2861094" y="1384685"/>
            <a:ext cx="977660" cy="310551"/>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16" name="TextBox 15"/>
          <p:cNvSpPr txBox="1"/>
          <p:nvPr/>
        </p:nvSpPr>
        <p:spPr>
          <a:xfrm>
            <a:off x="3188897" y="1027077"/>
            <a:ext cx="552091" cy="369332"/>
          </a:xfrm>
          <a:prstGeom prst="rect">
            <a:avLst/>
          </a:prstGeom>
          <a:noFill/>
        </p:spPr>
        <p:txBody>
          <a:bodyPr wrap="square" rtlCol="0">
            <a:spAutoFit/>
          </a:bodyPr>
          <a:lstStyle/>
          <a:p>
            <a:r>
              <a:rPr lang="en-AU" dirty="0" smtClean="0">
                <a:solidFill>
                  <a:srgbClr val="FF0000"/>
                </a:solidFill>
              </a:rPr>
              <a:t>1</a:t>
            </a:r>
            <a:endParaRPr lang="en-AU" dirty="0">
              <a:solidFill>
                <a:srgbClr val="FF0000"/>
              </a:solidFill>
            </a:endParaRPr>
          </a:p>
        </p:txBody>
      </p:sp>
      <p:sp>
        <p:nvSpPr>
          <p:cNvPr id="17" name="Curved Down Arrow 16"/>
          <p:cNvSpPr/>
          <p:nvPr/>
        </p:nvSpPr>
        <p:spPr>
          <a:xfrm>
            <a:off x="3876135" y="1384685"/>
            <a:ext cx="977660" cy="310551"/>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18" name="TextBox 17"/>
          <p:cNvSpPr txBox="1"/>
          <p:nvPr/>
        </p:nvSpPr>
        <p:spPr>
          <a:xfrm>
            <a:off x="4203938" y="1027077"/>
            <a:ext cx="552091" cy="369332"/>
          </a:xfrm>
          <a:prstGeom prst="rect">
            <a:avLst/>
          </a:prstGeom>
          <a:noFill/>
        </p:spPr>
        <p:txBody>
          <a:bodyPr wrap="square" rtlCol="0">
            <a:spAutoFit/>
          </a:bodyPr>
          <a:lstStyle/>
          <a:p>
            <a:r>
              <a:rPr lang="en-AU" dirty="0" smtClean="0">
                <a:solidFill>
                  <a:srgbClr val="FF0000"/>
                </a:solidFill>
              </a:rPr>
              <a:t>1</a:t>
            </a:r>
            <a:endParaRPr lang="en-AU" dirty="0">
              <a:solidFill>
                <a:srgbClr val="FF0000"/>
              </a:solidFill>
            </a:endParaRPr>
          </a:p>
        </p:txBody>
      </p:sp>
      <p:sp>
        <p:nvSpPr>
          <p:cNvPr id="19" name="Curved Down Arrow 18"/>
          <p:cNvSpPr/>
          <p:nvPr/>
        </p:nvSpPr>
        <p:spPr>
          <a:xfrm>
            <a:off x="4845167" y="1362751"/>
            <a:ext cx="977660" cy="310551"/>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20" name="TextBox 19"/>
          <p:cNvSpPr txBox="1"/>
          <p:nvPr/>
        </p:nvSpPr>
        <p:spPr>
          <a:xfrm>
            <a:off x="5172970" y="1005143"/>
            <a:ext cx="552091" cy="369332"/>
          </a:xfrm>
          <a:prstGeom prst="rect">
            <a:avLst/>
          </a:prstGeom>
          <a:noFill/>
        </p:spPr>
        <p:txBody>
          <a:bodyPr wrap="square" rtlCol="0">
            <a:spAutoFit/>
          </a:bodyPr>
          <a:lstStyle/>
          <a:p>
            <a:r>
              <a:rPr lang="en-AU" dirty="0" smtClean="0">
                <a:solidFill>
                  <a:srgbClr val="FF0000"/>
                </a:solidFill>
              </a:rPr>
              <a:t>1</a:t>
            </a:r>
            <a:endParaRPr lang="en-AU" dirty="0">
              <a:solidFill>
                <a:srgbClr val="FF0000"/>
              </a:solidFill>
            </a:endParaRPr>
          </a:p>
        </p:txBody>
      </p:sp>
      <p:sp>
        <p:nvSpPr>
          <p:cNvPr id="8" name="Curved Up Arrow 7"/>
          <p:cNvSpPr/>
          <p:nvPr/>
        </p:nvSpPr>
        <p:spPr>
          <a:xfrm>
            <a:off x="1759789" y="2754925"/>
            <a:ext cx="1015041" cy="30480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21" name="TextBox 20"/>
          <p:cNvSpPr txBox="1"/>
          <p:nvPr/>
        </p:nvSpPr>
        <p:spPr>
          <a:xfrm>
            <a:off x="1991263" y="3054197"/>
            <a:ext cx="552091" cy="369332"/>
          </a:xfrm>
          <a:prstGeom prst="rect">
            <a:avLst/>
          </a:prstGeom>
          <a:noFill/>
        </p:spPr>
        <p:txBody>
          <a:bodyPr wrap="square" rtlCol="0">
            <a:spAutoFit/>
          </a:bodyPr>
          <a:lstStyle/>
          <a:p>
            <a:r>
              <a:rPr lang="en-AU" dirty="0" smtClean="0">
                <a:solidFill>
                  <a:srgbClr val="FF0000"/>
                </a:solidFill>
              </a:rPr>
              <a:t>1</a:t>
            </a:r>
            <a:endParaRPr lang="en-AU" dirty="0">
              <a:solidFill>
                <a:srgbClr val="FF0000"/>
              </a:solidFill>
            </a:endParaRPr>
          </a:p>
        </p:txBody>
      </p:sp>
      <p:sp>
        <p:nvSpPr>
          <p:cNvPr id="22" name="Curved Up Arrow 21"/>
          <p:cNvSpPr/>
          <p:nvPr/>
        </p:nvSpPr>
        <p:spPr>
          <a:xfrm>
            <a:off x="2861094" y="2772520"/>
            <a:ext cx="1015041" cy="30480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23" name="TextBox 22"/>
          <p:cNvSpPr txBox="1"/>
          <p:nvPr/>
        </p:nvSpPr>
        <p:spPr>
          <a:xfrm>
            <a:off x="3092568" y="3071792"/>
            <a:ext cx="552091" cy="369332"/>
          </a:xfrm>
          <a:prstGeom prst="rect">
            <a:avLst/>
          </a:prstGeom>
          <a:noFill/>
        </p:spPr>
        <p:txBody>
          <a:bodyPr wrap="square" rtlCol="0">
            <a:spAutoFit/>
          </a:bodyPr>
          <a:lstStyle/>
          <a:p>
            <a:r>
              <a:rPr lang="en-AU" dirty="0" smtClean="0">
                <a:solidFill>
                  <a:srgbClr val="FF0000"/>
                </a:solidFill>
              </a:rPr>
              <a:t>1</a:t>
            </a:r>
            <a:endParaRPr lang="en-AU" dirty="0">
              <a:solidFill>
                <a:srgbClr val="FF0000"/>
              </a:solidFill>
            </a:endParaRPr>
          </a:p>
        </p:txBody>
      </p:sp>
      <p:sp>
        <p:nvSpPr>
          <p:cNvPr id="24" name="Curved Up Arrow 23"/>
          <p:cNvSpPr/>
          <p:nvPr/>
        </p:nvSpPr>
        <p:spPr>
          <a:xfrm>
            <a:off x="3841629" y="2794454"/>
            <a:ext cx="1015041" cy="30480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25" name="TextBox 24"/>
          <p:cNvSpPr txBox="1"/>
          <p:nvPr/>
        </p:nvSpPr>
        <p:spPr>
          <a:xfrm>
            <a:off x="4073103" y="3093726"/>
            <a:ext cx="552091" cy="369332"/>
          </a:xfrm>
          <a:prstGeom prst="rect">
            <a:avLst/>
          </a:prstGeom>
          <a:noFill/>
        </p:spPr>
        <p:txBody>
          <a:bodyPr wrap="square" rtlCol="0">
            <a:spAutoFit/>
          </a:bodyPr>
          <a:lstStyle/>
          <a:p>
            <a:r>
              <a:rPr lang="en-AU" dirty="0" smtClean="0">
                <a:solidFill>
                  <a:srgbClr val="FF0000"/>
                </a:solidFill>
              </a:rPr>
              <a:t>1</a:t>
            </a:r>
            <a:endParaRPr lang="en-AU" dirty="0">
              <a:solidFill>
                <a:srgbClr val="FF0000"/>
              </a:solidFill>
            </a:endParaRPr>
          </a:p>
        </p:txBody>
      </p:sp>
      <p:sp>
        <p:nvSpPr>
          <p:cNvPr id="26" name="Curved Up Arrow 25"/>
          <p:cNvSpPr/>
          <p:nvPr/>
        </p:nvSpPr>
        <p:spPr>
          <a:xfrm>
            <a:off x="4822164" y="2794454"/>
            <a:ext cx="1015041" cy="30480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27" name="TextBox 26"/>
          <p:cNvSpPr txBox="1"/>
          <p:nvPr/>
        </p:nvSpPr>
        <p:spPr>
          <a:xfrm>
            <a:off x="5053638" y="3093726"/>
            <a:ext cx="552091" cy="369332"/>
          </a:xfrm>
          <a:prstGeom prst="rect">
            <a:avLst/>
          </a:prstGeom>
          <a:noFill/>
        </p:spPr>
        <p:txBody>
          <a:bodyPr wrap="square" rtlCol="0">
            <a:spAutoFit/>
          </a:bodyPr>
          <a:lstStyle/>
          <a:p>
            <a:r>
              <a:rPr lang="en-AU" dirty="0" smtClean="0">
                <a:solidFill>
                  <a:srgbClr val="FF0000"/>
                </a:solidFill>
              </a:rPr>
              <a:t>1</a:t>
            </a:r>
            <a:endParaRPr lang="en-AU" dirty="0">
              <a:solidFill>
                <a:srgbClr val="FF0000"/>
              </a:solidFill>
            </a:endParaRPr>
          </a:p>
        </p:txBody>
      </p:sp>
      <p:pic>
        <p:nvPicPr>
          <p:cNvPr id="12" name="Picture 11"/>
          <p:cNvPicPr>
            <a:picLocks noChangeAspect="1"/>
          </p:cNvPicPr>
          <p:nvPr/>
        </p:nvPicPr>
        <p:blipFill>
          <a:blip r:embed="rId2"/>
          <a:stretch>
            <a:fillRect/>
          </a:stretch>
        </p:blipFill>
        <p:spPr>
          <a:xfrm>
            <a:off x="7000420" y="1211743"/>
            <a:ext cx="2567615" cy="3214738"/>
          </a:xfrm>
          <a:prstGeom prst="rect">
            <a:avLst/>
          </a:prstGeom>
        </p:spPr>
      </p:pic>
      <p:sp>
        <p:nvSpPr>
          <p:cNvPr id="28" name="TextBox 27"/>
          <p:cNvSpPr txBox="1"/>
          <p:nvPr/>
        </p:nvSpPr>
        <p:spPr>
          <a:xfrm>
            <a:off x="500331" y="4875212"/>
            <a:ext cx="6970145" cy="1323439"/>
          </a:xfrm>
          <a:prstGeom prst="rect">
            <a:avLst/>
          </a:prstGeom>
          <a:noFill/>
        </p:spPr>
        <p:txBody>
          <a:bodyPr wrap="square" rtlCol="0">
            <a:spAutoFit/>
          </a:bodyPr>
          <a:lstStyle/>
          <a:p>
            <a:r>
              <a:rPr lang="en-AU" sz="2000" dirty="0" smtClean="0">
                <a:solidFill>
                  <a:srgbClr val="FF0000"/>
                </a:solidFill>
              </a:rPr>
              <a:t>As we move across horizontally 1 unit (a change of 1 in the c row)</a:t>
            </a:r>
          </a:p>
          <a:p>
            <a:r>
              <a:rPr lang="en-AU" sz="2000" dirty="0" smtClean="0">
                <a:solidFill>
                  <a:srgbClr val="FF0000"/>
                </a:solidFill>
              </a:rPr>
              <a:t> The line moves up 1 unit (a change of 1 in the w row)</a:t>
            </a:r>
          </a:p>
          <a:p>
            <a:endParaRPr lang="en-AU" sz="2000" dirty="0" smtClean="0">
              <a:solidFill>
                <a:srgbClr val="FF0000"/>
              </a:solidFill>
            </a:endParaRPr>
          </a:p>
          <a:p>
            <a:r>
              <a:rPr lang="en-AU" sz="2000" dirty="0" smtClean="0">
                <a:solidFill>
                  <a:srgbClr val="FF0000"/>
                </a:solidFill>
              </a:rPr>
              <a:t>Gradient = 1</a:t>
            </a:r>
            <a:endParaRPr lang="en-AU" sz="2000" dirty="0">
              <a:solidFill>
                <a:srgbClr val="FF0000"/>
              </a:solidFill>
            </a:endParaRPr>
          </a:p>
        </p:txBody>
      </p:sp>
    </p:spTree>
    <p:extLst>
      <p:ext uri="{BB962C8B-B14F-4D97-AF65-F5344CB8AC3E}">
        <p14:creationId xmlns:p14="http://schemas.microsoft.com/office/powerpoint/2010/main" val="1074460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500"/>
                                        <p:tgtEl>
                                          <p:spTgt spid="1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500"/>
                                        <p:tgtEl>
                                          <p:spTgt spid="20"/>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fade">
                                      <p:cBhvr>
                                        <p:cTn id="44" dur="500"/>
                                        <p:tgtEl>
                                          <p:spTgt spid="21"/>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fade">
                                      <p:cBhvr>
                                        <p:cTn id="47" dur="500"/>
                                        <p:tgtEl>
                                          <p:spTgt spid="8"/>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500"/>
                                        <p:tgtEl>
                                          <p:spTgt spid="2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500"/>
                                        <p:tgtEl>
                                          <p:spTgt spid="2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25"/>
                                        </p:tgtEl>
                                        <p:attrNameLst>
                                          <p:attrName>style.visibility</p:attrName>
                                        </p:attrNameLst>
                                      </p:cBhvr>
                                      <p:to>
                                        <p:strVal val="visible"/>
                                      </p:to>
                                    </p:set>
                                    <p:animEffect transition="in" filter="fade">
                                      <p:cBhvr>
                                        <p:cTn id="60" dur="500"/>
                                        <p:tgtEl>
                                          <p:spTgt spid="2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500"/>
                                        <p:tgtEl>
                                          <p:spTgt spid="24"/>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500"/>
                                        <p:tgtEl>
                                          <p:spTgt spid="27"/>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500"/>
                                        <p:tgtEl>
                                          <p:spTgt spid="26"/>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12"/>
                                        </p:tgtEl>
                                        <p:attrNameLst>
                                          <p:attrName>style.visibility</p:attrName>
                                        </p:attrNameLst>
                                      </p:cBhvr>
                                      <p:to>
                                        <p:strVal val="visible"/>
                                      </p:to>
                                    </p:set>
                                    <p:animEffect transition="in" filter="fade">
                                      <p:cBhvr>
                                        <p:cTn id="76" dur="500"/>
                                        <p:tgtEl>
                                          <p:spTgt spid="12"/>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28">
                                            <p:txEl>
                                              <p:pRg st="0" end="0"/>
                                            </p:txEl>
                                          </p:spTgt>
                                        </p:tgtEl>
                                        <p:attrNameLst>
                                          <p:attrName>style.visibility</p:attrName>
                                        </p:attrNameLst>
                                      </p:cBhvr>
                                      <p:to>
                                        <p:strVal val="visible"/>
                                      </p:to>
                                    </p:set>
                                    <p:animEffect transition="in" filter="fade">
                                      <p:cBhvr>
                                        <p:cTn id="81" dur="500"/>
                                        <p:tgtEl>
                                          <p:spTgt spid="28">
                                            <p:txEl>
                                              <p:pRg st="0" end="0"/>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8">
                                            <p:txEl>
                                              <p:pRg st="1" end="1"/>
                                            </p:txEl>
                                          </p:spTgt>
                                        </p:tgtEl>
                                        <p:attrNameLst>
                                          <p:attrName>style.visibility</p:attrName>
                                        </p:attrNameLst>
                                      </p:cBhvr>
                                      <p:to>
                                        <p:strVal val="visible"/>
                                      </p:to>
                                    </p:set>
                                    <p:animEffect transition="in" filter="fade">
                                      <p:cBhvr>
                                        <p:cTn id="86" dur="500"/>
                                        <p:tgtEl>
                                          <p:spTgt spid="28">
                                            <p:txEl>
                                              <p:pRg st="1" end="1"/>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28">
                                            <p:txEl>
                                              <p:pRg st="3" end="3"/>
                                            </p:txEl>
                                          </p:spTgt>
                                        </p:tgtEl>
                                        <p:attrNameLst>
                                          <p:attrName>style.visibility</p:attrName>
                                        </p:attrNameLst>
                                      </p:cBhvr>
                                      <p:to>
                                        <p:strVal val="visible"/>
                                      </p:to>
                                    </p:set>
                                    <p:animEffect transition="in" filter="fade">
                                      <p:cBhvr>
                                        <p:cTn id="91" dur="500"/>
                                        <p:tgtEl>
                                          <p:spTgt spid="2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p:bldP spid="15" grpId="0" animBg="1"/>
      <p:bldP spid="16" grpId="0"/>
      <p:bldP spid="17" grpId="0" animBg="1"/>
      <p:bldP spid="18" grpId="0"/>
      <p:bldP spid="19" grpId="0" animBg="1"/>
      <p:bldP spid="20" grpId="0"/>
      <p:bldP spid="8" grpId="0" animBg="1"/>
      <p:bldP spid="21" grpId="0"/>
      <p:bldP spid="22" grpId="0" animBg="1"/>
      <p:bldP spid="23" grpId="0"/>
      <p:bldP spid="24" grpId="0" animBg="1"/>
      <p:bldP spid="25" grpId="0"/>
      <p:bldP spid="26" grpId="0" animBg="1"/>
      <p:bldP spid="2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3985404" cy="461665"/>
          </a:xfrm>
          <a:prstGeom prst="rect">
            <a:avLst/>
          </a:prstGeom>
          <a:solidFill>
            <a:srgbClr val="FFFF00"/>
          </a:solidFill>
        </p:spPr>
        <p:txBody>
          <a:bodyPr wrap="square" rtlCol="0">
            <a:spAutoFit/>
          </a:bodyPr>
          <a:lstStyle/>
          <a:p>
            <a:r>
              <a:rPr lang="en-AU" sz="2400" dirty="0" smtClean="0"/>
              <a:t>Table of Values</a:t>
            </a:r>
            <a:endParaRPr lang="en-AU" sz="2400" dirty="0"/>
          </a:p>
        </p:txBody>
      </p:sp>
      <p:sp>
        <p:nvSpPr>
          <p:cNvPr id="2" name="TextBox 1"/>
          <p:cNvSpPr txBox="1"/>
          <p:nvPr/>
        </p:nvSpPr>
        <p:spPr>
          <a:xfrm>
            <a:off x="184030" y="575094"/>
            <a:ext cx="11294853" cy="523220"/>
          </a:xfrm>
          <a:prstGeom prst="rect">
            <a:avLst/>
          </a:prstGeom>
          <a:noFill/>
        </p:spPr>
        <p:txBody>
          <a:bodyPr wrap="square" rtlCol="0">
            <a:spAutoFit/>
          </a:bodyPr>
          <a:lstStyle/>
          <a:p>
            <a:r>
              <a:rPr lang="en-AU" sz="2800" dirty="0" smtClean="0"/>
              <a:t>Using a table of values we can find the gradient as well</a:t>
            </a:r>
            <a:endParaRPr lang="en-AU" sz="2800" dirty="0" smtClean="0"/>
          </a:p>
        </p:txBody>
      </p:sp>
      <p:graphicFrame>
        <p:nvGraphicFramePr>
          <p:cNvPr id="10" name="Table 9"/>
          <p:cNvGraphicFramePr>
            <a:graphicFrameLocks noGrp="1"/>
          </p:cNvGraphicFramePr>
          <p:nvPr>
            <p:extLst>
              <p:ext uri="{D42A27DB-BD31-4B8C-83A1-F6EECF244321}">
                <p14:modId xmlns:p14="http://schemas.microsoft.com/office/powerpoint/2010/main" val="3529822423"/>
              </p:ext>
            </p:extLst>
          </p:nvPr>
        </p:nvGraphicFramePr>
        <p:xfrm>
          <a:off x="392981" y="1765878"/>
          <a:ext cx="4811170" cy="936000"/>
        </p:xfrm>
        <a:graphic>
          <a:graphicData uri="http://schemas.openxmlformats.org/drawingml/2006/table">
            <a:tbl>
              <a:tblPr firstRow="1" bandRow="1">
                <a:tableStyleId>{073A0DAA-6AF3-43AB-8588-CEC1D06C72B9}</a:tableStyleId>
              </a:tblPr>
              <a:tblGrid>
                <a:gridCol w="962234">
                  <a:extLst>
                    <a:ext uri="{9D8B030D-6E8A-4147-A177-3AD203B41FA5}">
                      <a16:colId xmlns:a16="http://schemas.microsoft.com/office/drawing/2014/main" val="2056920446"/>
                    </a:ext>
                  </a:extLst>
                </a:gridCol>
                <a:gridCol w="962234">
                  <a:extLst>
                    <a:ext uri="{9D8B030D-6E8A-4147-A177-3AD203B41FA5}">
                      <a16:colId xmlns:a16="http://schemas.microsoft.com/office/drawing/2014/main" val="2049648085"/>
                    </a:ext>
                  </a:extLst>
                </a:gridCol>
                <a:gridCol w="962234">
                  <a:extLst>
                    <a:ext uri="{9D8B030D-6E8A-4147-A177-3AD203B41FA5}">
                      <a16:colId xmlns:a16="http://schemas.microsoft.com/office/drawing/2014/main" val="123749504"/>
                    </a:ext>
                  </a:extLst>
                </a:gridCol>
                <a:gridCol w="962234">
                  <a:extLst>
                    <a:ext uri="{9D8B030D-6E8A-4147-A177-3AD203B41FA5}">
                      <a16:colId xmlns:a16="http://schemas.microsoft.com/office/drawing/2014/main" val="1520010306"/>
                    </a:ext>
                  </a:extLst>
                </a:gridCol>
                <a:gridCol w="962234">
                  <a:extLst>
                    <a:ext uri="{9D8B030D-6E8A-4147-A177-3AD203B41FA5}">
                      <a16:colId xmlns:a16="http://schemas.microsoft.com/office/drawing/2014/main" val="1983672441"/>
                    </a:ext>
                  </a:extLst>
                </a:gridCol>
              </a:tblGrid>
              <a:tr h="468000">
                <a:tc>
                  <a:txBody>
                    <a:bodyPr/>
                    <a:lstStyle/>
                    <a:p>
                      <a:r>
                        <a:rPr lang="en-AU" dirty="0" smtClean="0"/>
                        <a:t>C</a:t>
                      </a:r>
                      <a:endParaRPr lang="en-AU" dirty="0"/>
                    </a:p>
                  </a:txBody>
                  <a:tcPr/>
                </a:tc>
                <a:tc>
                  <a:txBody>
                    <a:bodyPr/>
                    <a:lstStyle/>
                    <a:p>
                      <a:pPr algn="ctr"/>
                      <a:r>
                        <a:rPr lang="en-AU" sz="2400" dirty="0" smtClean="0"/>
                        <a:t>1</a:t>
                      </a:r>
                      <a:endParaRPr lang="en-AU" sz="2400" dirty="0"/>
                    </a:p>
                  </a:txBody>
                  <a:tcPr/>
                </a:tc>
                <a:tc>
                  <a:txBody>
                    <a:bodyPr/>
                    <a:lstStyle/>
                    <a:p>
                      <a:pPr algn="ctr"/>
                      <a:r>
                        <a:rPr lang="en-AU" sz="2400" dirty="0" smtClean="0"/>
                        <a:t>2</a:t>
                      </a:r>
                      <a:endParaRPr lang="en-AU" sz="2400" dirty="0"/>
                    </a:p>
                  </a:txBody>
                  <a:tcPr/>
                </a:tc>
                <a:tc>
                  <a:txBody>
                    <a:bodyPr/>
                    <a:lstStyle/>
                    <a:p>
                      <a:pPr algn="ctr"/>
                      <a:r>
                        <a:rPr lang="en-AU" sz="2400" dirty="0" smtClean="0"/>
                        <a:t>3</a:t>
                      </a:r>
                      <a:endParaRPr lang="en-AU" sz="2400" dirty="0"/>
                    </a:p>
                  </a:txBody>
                  <a:tcPr/>
                </a:tc>
                <a:tc>
                  <a:txBody>
                    <a:bodyPr/>
                    <a:lstStyle/>
                    <a:p>
                      <a:pPr algn="ctr"/>
                      <a:r>
                        <a:rPr lang="en-AU" sz="2400" dirty="0" smtClean="0"/>
                        <a:t>4</a:t>
                      </a:r>
                      <a:endParaRPr lang="en-AU" sz="2400" dirty="0"/>
                    </a:p>
                  </a:txBody>
                  <a:tcPr/>
                </a:tc>
                <a:extLst>
                  <a:ext uri="{0D108BD9-81ED-4DB2-BD59-A6C34878D82A}">
                    <a16:rowId xmlns:a16="http://schemas.microsoft.com/office/drawing/2014/main" val="4072838982"/>
                  </a:ext>
                </a:extLst>
              </a:tr>
              <a:tr h="468000">
                <a:tc>
                  <a:txBody>
                    <a:bodyPr/>
                    <a:lstStyle/>
                    <a:p>
                      <a:r>
                        <a:rPr lang="en-AU" dirty="0" smtClean="0"/>
                        <a:t>w</a:t>
                      </a:r>
                      <a:endParaRPr lang="en-AU" dirty="0"/>
                    </a:p>
                  </a:txBody>
                  <a:tcPr/>
                </a:tc>
                <a:tc>
                  <a:txBody>
                    <a:bodyPr/>
                    <a:lstStyle/>
                    <a:p>
                      <a:pPr algn="ctr"/>
                      <a:r>
                        <a:rPr lang="en-AU" sz="2400" dirty="0" smtClean="0"/>
                        <a:t>0</a:t>
                      </a:r>
                      <a:endParaRPr lang="en-AU" sz="2400" dirty="0"/>
                    </a:p>
                  </a:txBody>
                  <a:tcPr/>
                </a:tc>
                <a:tc>
                  <a:txBody>
                    <a:bodyPr/>
                    <a:lstStyle/>
                    <a:p>
                      <a:pPr algn="ctr"/>
                      <a:r>
                        <a:rPr lang="en-AU" sz="2400" dirty="0" smtClean="0"/>
                        <a:t>2</a:t>
                      </a:r>
                      <a:endParaRPr lang="en-AU" sz="2400" dirty="0"/>
                    </a:p>
                  </a:txBody>
                  <a:tcPr/>
                </a:tc>
                <a:tc>
                  <a:txBody>
                    <a:bodyPr/>
                    <a:lstStyle/>
                    <a:p>
                      <a:pPr algn="ctr"/>
                      <a:r>
                        <a:rPr lang="en-AU" sz="2400" dirty="0" smtClean="0"/>
                        <a:t>4</a:t>
                      </a:r>
                      <a:endParaRPr lang="en-AU" sz="2400" dirty="0"/>
                    </a:p>
                  </a:txBody>
                  <a:tcPr/>
                </a:tc>
                <a:tc>
                  <a:txBody>
                    <a:bodyPr/>
                    <a:lstStyle/>
                    <a:p>
                      <a:pPr algn="ctr"/>
                      <a:r>
                        <a:rPr lang="en-AU" sz="2400" dirty="0" smtClean="0"/>
                        <a:t>6</a:t>
                      </a:r>
                      <a:endParaRPr lang="en-AU" sz="2400" dirty="0"/>
                    </a:p>
                  </a:txBody>
                  <a:tcPr/>
                </a:tc>
                <a:extLst>
                  <a:ext uri="{0D108BD9-81ED-4DB2-BD59-A6C34878D82A}">
                    <a16:rowId xmlns:a16="http://schemas.microsoft.com/office/drawing/2014/main" val="4016370420"/>
                  </a:ext>
                </a:extLst>
              </a:tr>
            </a:tbl>
          </a:graphicData>
        </a:graphic>
      </p:graphicFrame>
      <p:sp>
        <p:nvSpPr>
          <p:cNvPr id="3" name="Curved Down Arrow 2"/>
          <p:cNvSpPr/>
          <p:nvPr/>
        </p:nvSpPr>
        <p:spPr>
          <a:xfrm>
            <a:off x="1846053" y="1374475"/>
            <a:ext cx="977660" cy="310551"/>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7" name="TextBox 6"/>
          <p:cNvSpPr txBox="1"/>
          <p:nvPr/>
        </p:nvSpPr>
        <p:spPr>
          <a:xfrm>
            <a:off x="2173856" y="1016867"/>
            <a:ext cx="552091" cy="369332"/>
          </a:xfrm>
          <a:prstGeom prst="rect">
            <a:avLst/>
          </a:prstGeom>
          <a:noFill/>
        </p:spPr>
        <p:txBody>
          <a:bodyPr wrap="square" rtlCol="0">
            <a:spAutoFit/>
          </a:bodyPr>
          <a:lstStyle/>
          <a:p>
            <a:r>
              <a:rPr lang="en-AU" dirty="0" smtClean="0">
                <a:solidFill>
                  <a:srgbClr val="FF0000"/>
                </a:solidFill>
              </a:rPr>
              <a:t>1</a:t>
            </a:r>
            <a:endParaRPr lang="en-AU" dirty="0">
              <a:solidFill>
                <a:srgbClr val="FF0000"/>
              </a:solidFill>
            </a:endParaRPr>
          </a:p>
        </p:txBody>
      </p:sp>
      <p:sp>
        <p:nvSpPr>
          <p:cNvPr id="15" name="Curved Down Arrow 14"/>
          <p:cNvSpPr/>
          <p:nvPr/>
        </p:nvSpPr>
        <p:spPr>
          <a:xfrm>
            <a:off x="2861094" y="1384685"/>
            <a:ext cx="977660" cy="310551"/>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16" name="TextBox 15"/>
          <p:cNvSpPr txBox="1"/>
          <p:nvPr/>
        </p:nvSpPr>
        <p:spPr>
          <a:xfrm>
            <a:off x="3188897" y="1027077"/>
            <a:ext cx="552091" cy="369332"/>
          </a:xfrm>
          <a:prstGeom prst="rect">
            <a:avLst/>
          </a:prstGeom>
          <a:noFill/>
        </p:spPr>
        <p:txBody>
          <a:bodyPr wrap="square" rtlCol="0">
            <a:spAutoFit/>
          </a:bodyPr>
          <a:lstStyle/>
          <a:p>
            <a:r>
              <a:rPr lang="en-AU" dirty="0" smtClean="0">
                <a:solidFill>
                  <a:srgbClr val="FF0000"/>
                </a:solidFill>
              </a:rPr>
              <a:t>1</a:t>
            </a:r>
            <a:endParaRPr lang="en-AU" dirty="0">
              <a:solidFill>
                <a:srgbClr val="FF0000"/>
              </a:solidFill>
            </a:endParaRPr>
          </a:p>
        </p:txBody>
      </p:sp>
      <p:sp>
        <p:nvSpPr>
          <p:cNvPr id="17" name="Curved Down Arrow 16"/>
          <p:cNvSpPr/>
          <p:nvPr/>
        </p:nvSpPr>
        <p:spPr>
          <a:xfrm>
            <a:off x="3876135" y="1384685"/>
            <a:ext cx="977660" cy="310551"/>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18" name="TextBox 17"/>
          <p:cNvSpPr txBox="1"/>
          <p:nvPr/>
        </p:nvSpPr>
        <p:spPr>
          <a:xfrm>
            <a:off x="4203938" y="1027077"/>
            <a:ext cx="552091" cy="369332"/>
          </a:xfrm>
          <a:prstGeom prst="rect">
            <a:avLst/>
          </a:prstGeom>
          <a:noFill/>
        </p:spPr>
        <p:txBody>
          <a:bodyPr wrap="square" rtlCol="0">
            <a:spAutoFit/>
          </a:bodyPr>
          <a:lstStyle/>
          <a:p>
            <a:r>
              <a:rPr lang="en-AU" dirty="0" smtClean="0">
                <a:solidFill>
                  <a:srgbClr val="FF0000"/>
                </a:solidFill>
              </a:rPr>
              <a:t>1</a:t>
            </a:r>
            <a:endParaRPr lang="en-AU" dirty="0">
              <a:solidFill>
                <a:srgbClr val="FF0000"/>
              </a:solidFill>
            </a:endParaRPr>
          </a:p>
        </p:txBody>
      </p:sp>
      <p:sp>
        <p:nvSpPr>
          <p:cNvPr id="8" name="Curved Up Arrow 7"/>
          <p:cNvSpPr/>
          <p:nvPr/>
        </p:nvSpPr>
        <p:spPr>
          <a:xfrm>
            <a:off x="1759789" y="2754925"/>
            <a:ext cx="1015041" cy="30480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21" name="TextBox 20"/>
          <p:cNvSpPr txBox="1"/>
          <p:nvPr/>
        </p:nvSpPr>
        <p:spPr>
          <a:xfrm>
            <a:off x="1991263" y="3054197"/>
            <a:ext cx="552091" cy="369332"/>
          </a:xfrm>
          <a:prstGeom prst="rect">
            <a:avLst/>
          </a:prstGeom>
          <a:noFill/>
        </p:spPr>
        <p:txBody>
          <a:bodyPr wrap="square" rtlCol="0">
            <a:spAutoFit/>
          </a:bodyPr>
          <a:lstStyle/>
          <a:p>
            <a:r>
              <a:rPr lang="en-AU" dirty="0">
                <a:solidFill>
                  <a:srgbClr val="FF0000"/>
                </a:solidFill>
              </a:rPr>
              <a:t>2</a:t>
            </a:r>
            <a:endParaRPr lang="en-AU" dirty="0">
              <a:solidFill>
                <a:srgbClr val="FF0000"/>
              </a:solidFill>
            </a:endParaRPr>
          </a:p>
        </p:txBody>
      </p:sp>
      <p:sp>
        <p:nvSpPr>
          <p:cNvPr id="22" name="Curved Up Arrow 21"/>
          <p:cNvSpPr/>
          <p:nvPr/>
        </p:nvSpPr>
        <p:spPr>
          <a:xfrm>
            <a:off x="2861094" y="2772520"/>
            <a:ext cx="1015041" cy="30480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23" name="TextBox 22"/>
          <p:cNvSpPr txBox="1"/>
          <p:nvPr/>
        </p:nvSpPr>
        <p:spPr>
          <a:xfrm>
            <a:off x="3092568" y="3071792"/>
            <a:ext cx="552091" cy="369332"/>
          </a:xfrm>
          <a:prstGeom prst="rect">
            <a:avLst/>
          </a:prstGeom>
          <a:noFill/>
        </p:spPr>
        <p:txBody>
          <a:bodyPr wrap="square" rtlCol="0">
            <a:spAutoFit/>
          </a:bodyPr>
          <a:lstStyle/>
          <a:p>
            <a:r>
              <a:rPr lang="en-AU" dirty="0">
                <a:solidFill>
                  <a:srgbClr val="FF0000"/>
                </a:solidFill>
              </a:rPr>
              <a:t>2</a:t>
            </a:r>
            <a:endParaRPr lang="en-AU" dirty="0">
              <a:solidFill>
                <a:srgbClr val="FF0000"/>
              </a:solidFill>
            </a:endParaRPr>
          </a:p>
        </p:txBody>
      </p:sp>
      <p:sp>
        <p:nvSpPr>
          <p:cNvPr id="24" name="Curved Up Arrow 23"/>
          <p:cNvSpPr/>
          <p:nvPr/>
        </p:nvSpPr>
        <p:spPr>
          <a:xfrm>
            <a:off x="3841629" y="2794454"/>
            <a:ext cx="1015041" cy="30480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25" name="TextBox 24"/>
          <p:cNvSpPr txBox="1"/>
          <p:nvPr/>
        </p:nvSpPr>
        <p:spPr>
          <a:xfrm>
            <a:off x="4073103" y="3093726"/>
            <a:ext cx="552091" cy="369332"/>
          </a:xfrm>
          <a:prstGeom prst="rect">
            <a:avLst/>
          </a:prstGeom>
          <a:noFill/>
        </p:spPr>
        <p:txBody>
          <a:bodyPr wrap="square" rtlCol="0">
            <a:spAutoFit/>
          </a:bodyPr>
          <a:lstStyle/>
          <a:p>
            <a:r>
              <a:rPr lang="en-AU" dirty="0">
                <a:solidFill>
                  <a:srgbClr val="FF0000"/>
                </a:solidFill>
              </a:rPr>
              <a:t>2</a:t>
            </a:r>
            <a:endParaRPr lang="en-AU" dirty="0">
              <a:solidFill>
                <a:srgbClr val="FF0000"/>
              </a:solidFill>
            </a:endParaRPr>
          </a:p>
        </p:txBody>
      </p:sp>
      <p:sp>
        <p:nvSpPr>
          <p:cNvPr id="28" name="TextBox 27"/>
          <p:cNvSpPr txBox="1"/>
          <p:nvPr/>
        </p:nvSpPr>
        <p:spPr>
          <a:xfrm>
            <a:off x="500331" y="4875212"/>
            <a:ext cx="6970145" cy="1323439"/>
          </a:xfrm>
          <a:prstGeom prst="rect">
            <a:avLst/>
          </a:prstGeom>
          <a:noFill/>
        </p:spPr>
        <p:txBody>
          <a:bodyPr wrap="square" rtlCol="0">
            <a:spAutoFit/>
          </a:bodyPr>
          <a:lstStyle/>
          <a:p>
            <a:r>
              <a:rPr lang="en-AU" sz="2000" dirty="0" smtClean="0">
                <a:solidFill>
                  <a:srgbClr val="FF0000"/>
                </a:solidFill>
              </a:rPr>
              <a:t>As we move across horizontally 1 unit (a change of 1 in the c row)</a:t>
            </a:r>
          </a:p>
          <a:p>
            <a:r>
              <a:rPr lang="en-AU" sz="2000" dirty="0" smtClean="0">
                <a:solidFill>
                  <a:srgbClr val="FF0000"/>
                </a:solidFill>
              </a:rPr>
              <a:t> The line moves up 2 unit2 (a change of 2 in the w row)</a:t>
            </a:r>
          </a:p>
          <a:p>
            <a:endParaRPr lang="en-AU" sz="2000" dirty="0" smtClean="0">
              <a:solidFill>
                <a:srgbClr val="FF0000"/>
              </a:solidFill>
            </a:endParaRPr>
          </a:p>
          <a:p>
            <a:r>
              <a:rPr lang="en-AU" sz="2000" dirty="0" smtClean="0">
                <a:solidFill>
                  <a:srgbClr val="FF0000"/>
                </a:solidFill>
              </a:rPr>
              <a:t>Gradient = 2</a:t>
            </a:r>
            <a:endParaRPr lang="en-AU" sz="2000" dirty="0">
              <a:solidFill>
                <a:srgbClr val="FF0000"/>
              </a:solidFill>
            </a:endParaRPr>
          </a:p>
        </p:txBody>
      </p:sp>
      <p:pic>
        <p:nvPicPr>
          <p:cNvPr id="4" name="Picture 3"/>
          <p:cNvPicPr>
            <a:picLocks noChangeAspect="1"/>
          </p:cNvPicPr>
          <p:nvPr/>
        </p:nvPicPr>
        <p:blipFill>
          <a:blip r:embed="rId2"/>
          <a:stretch>
            <a:fillRect/>
          </a:stretch>
        </p:blipFill>
        <p:spPr>
          <a:xfrm>
            <a:off x="7798279" y="1268937"/>
            <a:ext cx="3953691" cy="4945901"/>
          </a:xfrm>
          <a:prstGeom prst="rect">
            <a:avLst/>
          </a:prstGeom>
        </p:spPr>
      </p:pic>
    </p:spTree>
    <p:extLst>
      <p:ext uri="{BB962C8B-B14F-4D97-AF65-F5344CB8AC3E}">
        <p14:creationId xmlns:p14="http://schemas.microsoft.com/office/powerpoint/2010/main" val="2939594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00"/>
                                        <p:tgtEl>
                                          <p:spTgt spid="2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500"/>
                                        <p:tgtEl>
                                          <p:spTgt spid="23"/>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500"/>
                                        <p:tgtEl>
                                          <p:spTgt spid="2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500"/>
                                        <p:tgtEl>
                                          <p:spTgt spid="25"/>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500"/>
                                        <p:tgtEl>
                                          <p:spTgt spid="24"/>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4"/>
                                        </p:tgtEl>
                                        <p:attrNameLst>
                                          <p:attrName>style.visibility</p:attrName>
                                        </p:attrNameLst>
                                      </p:cBhvr>
                                      <p:to>
                                        <p:strVal val="visible"/>
                                      </p:to>
                                    </p:set>
                                    <p:animEffect transition="in" filter="fade">
                                      <p:cBhvr>
                                        <p:cTn id="60" dur="500"/>
                                        <p:tgtEl>
                                          <p:spTgt spid="4"/>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28">
                                            <p:txEl>
                                              <p:pRg st="0" end="0"/>
                                            </p:txEl>
                                          </p:spTgt>
                                        </p:tgtEl>
                                        <p:attrNameLst>
                                          <p:attrName>style.visibility</p:attrName>
                                        </p:attrNameLst>
                                      </p:cBhvr>
                                      <p:to>
                                        <p:strVal val="visible"/>
                                      </p:to>
                                    </p:set>
                                    <p:animEffect transition="in" filter="fade">
                                      <p:cBhvr>
                                        <p:cTn id="65" dur="500"/>
                                        <p:tgtEl>
                                          <p:spTgt spid="28">
                                            <p:txEl>
                                              <p:pRg st="0" end="0"/>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28">
                                            <p:txEl>
                                              <p:pRg st="1" end="1"/>
                                            </p:txEl>
                                          </p:spTgt>
                                        </p:tgtEl>
                                        <p:attrNameLst>
                                          <p:attrName>style.visibility</p:attrName>
                                        </p:attrNameLst>
                                      </p:cBhvr>
                                      <p:to>
                                        <p:strVal val="visible"/>
                                      </p:to>
                                    </p:set>
                                    <p:animEffect transition="in" filter="fade">
                                      <p:cBhvr>
                                        <p:cTn id="70" dur="500"/>
                                        <p:tgtEl>
                                          <p:spTgt spid="28">
                                            <p:txEl>
                                              <p:pRg st="1" end="1"/>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8">
                                            <p:txEl>
                                              <p:pRg st="3" end="3"/>
                                            </p:txEl>
                                          </p:spTgt>
                                        </p:tgtEl>
                                        <p:attrNameLst>
                                          <p:attrName>style.visibility</p:attrName>
                                        </p:attrNameLst>
                                      </p:cBhvr>
                                      <p:to>
                                        <p:strVal val="visible"/>
                                      </p:to>
                                    </p:set>
                                    <p:animEffect transition="in" filter="fade">
                                      <p:cBhvr>
                                        <p:cTn id="75" dur="500"/>
                                        <p:tgtEl>
                                          <p:spTgt spid="2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p:bldP spid="15" grpId="0" animBg="1"/>
      <p:bldP spid="16" grpId="0"/>
      <p:bldP spid="17" grpId="0" animBg="1"/>
      <p:bldP spid="18" grpId="0"/>
      <p:bldP spid="8" grpId="0" animBg="1"/>
      <p:bldP spid="21" grpId="0"/>
      <p:bldP spid="22" grpId="0" animBg="1"/>
      <p:bldP spid="23" grpId="0"/>
      <p:bldP spid="24" grpId="0" animBg="1"/>
      <p:bldP spid="2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3985404" cy="461665"/>
          </a:xfrm>
          <a:prstGeom prst="rect">
            <a:avLst/>
          </a:prstGeom>
          <a:solidFill>
            <a:srgbClr val="FFFF00"/>
          </a:solidFill>
        </p:spPr>
        <p:txBody>
          <a:bodyPr wrap="square" rtlCol="0">
            <a:spAutoFit/>
          </a:bodyPr>
          <a:lstStyle/>
          <a:p>
            <a:r>
              <a:rPr lang="en-AU" sz="2400" dirty="0" smtClean="0"/>
              <a:t>Table of Values</a:t>
            </a:r>
            <a:endParaRPr lang="en-AU" sz="2400" dirty="0"/>
          </a:p>
        </p:txBody>
      </p:sp>
      <p:sp>
        <p:nvSpPr>
          <p:cNvPr id="2" name="TextBox 1"/>
          <p:cNvSpPr txBox="1"/>
          <p:nvPr/>
        </p:nvSpPr>
        <p:spPr>
          <a:xfrm>
            <a:off x="184030" y="575094"/>
            <a:ext cx="11294853" cy="523220"/>
          </a:xfrm>
          <a:prstGeom prst="rect">
            <a:avLst/>
          </a:prstGeom>
          <a:noFill/>
        </p:spPr>
        <p:txBody>
          <a:bodyPr wrap="square" rtlCol="0">
            <a:spAutoFit/>
          </a:bodyPr>
          <a:lstStyle/>
          <a:p>
            <a:r>
              <a:rPr lang="en-AU" sz="2800" dirty="0" smtClean="0"/>
              <a:t>Using a table of values we can find the gradient as well</a:t>
            </a:r>
            <a:endParaRPr lang="en-AU" sz="2800" dirty="0" smtClean="0"/>
          </a:p>
        </p:txBody>
      </p:sp>
      <p:graphicFrame>
        <p:nvGraphicFramePr>
          <p:cNvPr id="10" name="Table 9"/>
          <p:cNvGraphicFramePr>
            <a:graphicFrameLocks noGrp="1"/>
          </p:cNvGraphicFramePr>
          <p:nvPr>
            <p:extLst>
              <p:ext uri="{D42A27DB-BD31-4B8C-83A1-F6EECF244321}">
                <p14:modId xmlns:p14="http://schemas.microsoft.com/office/powerpoint/2010/main" val="215129382"/>
              </p:ext>
            </p:extLst>
          </p:nvPr>
        </p:nvGraphicFramePr>
        <p:xfrm>
          <a:off x="392981" y="1765878"/>
          <a:ext cx="5773404" cy="936000"/>
        </p:xfrm>
        <a:graphic>
          <a:graphicData uri="http://schemas.openxmlformats.org/drawingml/2006/table">
            <a:tbl>
              <a:tblPr firstRow="1" bandRow="1">
                <a:tableStyleId>{073A0DAA-6AF3-43AB-8588-CEC1D06C72B9}</a:tableStyleId>
              </a:tblPr>
              <a:tblGrid>
                <a:gridCol w="962234">
                  <a:extLst>
                    <a:ext uri="{9D8B030D-6E8A-4147-A177-3AD203B41FA5}">
                      <a16:colId xmlns:a16="http://schemas.microsoft.com/office/drawing/2014/main" val="2056920446"/>
                    </a:ext>
                  </a:extLst>
                </a:gridCol>
                <a:gridCol w="962234">
                  <a:extLst>
                    <a:ext uri="{9D8B030D-6E8A-4147-A177-3AD203B41FA5}">
                      <a16:colId xmlns:a16="http://schemas.microsoft.com/office/drawing/2014/main" val="1249924637"/>
                    </a:ext>
                  </a:extLst>
                </a:gridCol>
                <a:gridCol w="962234">
                  <a:extLst>
                    <a:ext uri="{9D8B030D-6E8A-4147-A177-3AD203B41FA5}">
                      <a16:colId xmlns:a16="http://schemas.microsoft.com/office/drawing/2014/main" val="2049648085"/>
                    </a:ext>
                  </a:extLst>
                </a:gridCol>
                <a:gridCol w="962234">
                  <a:extLst>
                    <a:ext uri="{9D8B030D-6E8A-4147-A177-3AD203B41FA5}">
                      <a16:colId xmlns:a16="http://schemas.microsoft.com/office/drawing/2014/main" val="123749504"/>
                    </a:ext>
                  </a:extLst>
                </a:gridCol>
                <a:gridCol w="962234">
                  <a:extLst>
                    <a:ext uri="{9D8B030D-6E8A-4147-A177-3AD203B41FA5}">
                      <a16:colId xmlns:a16="http://schemas.microsoft.com/office/drawing/2014/main" val="1520010306"/>
                    </a:ext>
                  </a:extLst>
                </a:gridCol>
                <a:gridCol w="962234">
                  <a:extLst>
                    <a:ext uri="{9D8B030D-6E8A-4147-A177-3AD203B41FA5}">
                      <a16:colId xmlns:a16="http://schemas.microsoft.com/office/drawing/2014/main" val="1983672441"/>
                    </a:ext>
                  </a:extLst>
                </a:gridCol>
              </a:tblGrid>
              <a:tr h="468000">
                <a:tc>
                  <a:txBody>
                    <a:bodyPr/>
                    <a:lstStyle/>
                    <a:p>
                      <a:r>
                        <a:rPr lang="en-AU" dirty="0" smtClean="0"/>
                        <a:t>C</a:t>
                      </a:r>
                      <a:endParaRPr lang="en-AU" dirty="0"/>
                    </a:p>
                  </a:txBody>
                  <a:tcPr/>
                </a:tc>
                <a:tc>
                  <a:txBody>
                    <a:bodyPr/>
                    <a:lstStyle/>
                    <a:p>
                      <a:pPr algn="ctr"/>
                      <a:r>
                        <a:rPr lang="en-AU" sz="2400" dirty="0" smtClean="0"/>
                        <a:t>0</a:t>
                      </a:r>
                      <a:endParaRPr lang="en-AU" sz="2400" dirty="0"/>
                    </a:p>
                  </a:txBody>
                  <a:tcPr/>
                </a:tc>
                <a:tc>
                  <a:txBody>
                    <a:bodyPr/>
                    <a:lstStyle/>
                    <a:p>
                      <a:pPr algn="ctr"/>
                      <a:r>
                        <a:rPr lang="en-AU" sz="2400" dirty="0" smtClean="0"/>
                        <a:t>1</a:t>
                      </a:r>
                      <a:endParaRPr lang="en-AU" sz="2400" dirty="0"/>
                    </a:p>
                  </a:txBody>
                  <a:tcPr/>
                </a:tc>
                <a:tc>
                  <a:txBody>
                    <a:bodyPr/>
                    <a:lstStyle/>
                    <a:p>
                      <a:pPr algn="ctr"/>
                      <a:r>
                        <a:rPr lang="en-AU" sz="2400" dirty="0" smtClean="0"/>
                        <a:t>2</a:t>
                      </a:r>
                      <a:endParaRPr lang="en-AU" sz="2400" dirty="0"/>
                    </a:p>
                  </a:txBody>
                  <a:tcPr/>
                </a:tc>
                <a:tc>
                  <a:txBody>
                    <a:bodyPr/>
                    <a:lstStyle/>
                    <a:p>
                      <a:pPr algn="ctr"/>
                      <a:r>
                        <a:rPr lang="en-AU" sz="2400" dirty="0" smtClean="0"/>
                        <a:t>3</a:t>
                      </a:r>
                      <a:endParaRPr lang="en-AU" sz="2400" dirty="0"/>
                    </a:p>
                  </a:txBody>
                  <a:tcPr/>
                </a:tc>
                <a:tc>
                  <a:txBody>
                    <a:bodyPr/>
                    <a:lstStyle/>
                    <a:p>
                      <a:pPr algn="ctr"/>
                      <a:r>
                        <a:rPr lang="en-AU" sz="2400" dirty="0" smtClean="0"/>
                        <a:t>4</a:t>
                      </a:r>
                      <a:endParaRPr lang="en-AU" sz="2400" dirty="0"/>
                    </a:p>
                  </a:txBody>
                  <a:tcPr/>
                </a:tc>
                <a:extLst>
                  <a:ext uri="{0D108BD9-81ED-4DB2-BD59-A6C34878D82A}">
                    <a16:rowId xmlns:a16="http://schemas.microsoft.com/office/drawing/2014/main" val="4072838982"/>
                  </a:ext>
                </a:extLst>
              </a:tr>
              <a:tr h="468000">
                <a:tc>
                  <a:txBody>
                    <a:bodyPr/>
                    <a:lstStyle/>
                    <a:p>
                      <a:r>
                        <a:rPr lang="en-AU" dirty="0" smtClean="0"/>
                        <a:t>w</a:t>
                      </a:r>
                      <a:endParaRPr lang="en-AU" dirty="0"/>
                    </a:p>
                  </a:txBody>
                  <a:tcPr/>
                </a:tc>
                <a:tc>
                  <a:txBody>
                    <a:bodyPr/>
                    <a:lstStyle/>
                    <a:p>
                      <a:pPr algn="ctr"/>
                      <a:r>
                        <a:rPr lang="en-AU" sz="2400" dirty="0" smtClean="0"/>
                        <a:t>6</a:t>
                      </a:r>
                      <a:endParaRPr lang="en-AU" sz="2400" dirty="0"/>
                    </a:p>
                  </a:txBody>
                  <a:tcPr/>
                </a:tc>
                <a:tc>
                  <a:txBody>
                    <a:bodyPr/>
                    <a:lstStyle/>
                    <a:p>
                      <a:pPr algn="ctr"/>
                      <a:r>
                        <a:rPr lang="en-AU" sz="2400" dirty="0" smtClean="0"/>
                        <a:t>4.5</a:t>
                      </a:r>
                      <a:endParaRPr lang="en-AU" sz="2400" dirty="0"/>
                    </a:p>
                  </a:txBody>
                  <a:tcPr/>
                </a:tc>
                <a:tc>
                  <a:txBody>
                    <a:bodyPr/>
                    <a:lstStyle/>
                    <a:p>
                      <a:pPr algn="ctr"/>
                      <a:r>
                        <a:rPr lang="en-AU" sz="2400" dirty="0" smtClean="0"/>
                        <a:t>3</a:t>
                      </a:r>
                      <a:endParaRPr lang="en-AU" sz="2400" dirty="0"/>
                    </a:p>
                  </a:txBody>
                  <a:tcPr/>
                </a:tc>
                <a:tc>
                  <a:txBody>
                    <a:bodyPr/>
                    <a:lstStyle/>
                    <a:p>
                      <a:pPr algn="ctr"/>
                      <a:r>
                        <a:rPr lang="en-AU" sz="2400" dirty="0" smtClean="0"/>
                        <a:t>1.5</a:t>
                      </a:r>
                      <a:endParaRPr lang="en-AU" sz="2400" dirty="0"/>
                    </a:p>
                  </a:txBody>
                  <a:tcPr/>
                </a:tc>
                <a:tc>
                  <a:txBody>
                    <a:bodyPr/>
                    <a:lstStyle/>
                    <a:p>
                      <a:pPr algn="ctr"/>
                      <a:r>
                        <a:rPr lang="en-AU" sz="2400" dirty="0" smtClean="0"/>
                        <a:t>0</a:t>
                      </a:r>
                      <a:endParaRPr lang="en-AU" sz="2400" dirty="0"/>
                    </a:p>
                  </a:txBody>
                  <a:tcPr/>
                </a:tc>
                <a:extLst>
                  <a:ext uri="{0D108BD9-81ED-4DB2-BD59-A6C34878D82A}">
                    <a16:rowId xmlns:a16="http://schemas.microsoft.com/office/drawing/2014/main" val="4016370420"/>
                  </a:ext>
                </a:extLst>
              </a:tr>
            </a:tbl>
          </a:graphicData>
        </a:graphic>
      </p:graphicFrame>
      <p:sp>
        <p:nvSpPr>
          <p:cNvPr id="3" name="Curved Down Arrow 2"/>
          <p:cNvSpPr/>
          <p:nvPr/>
        </p:nvSpPr>
        <p:spPr>
          <a:xfrm>
            <a:off x="1846053" y="1374475"/>
            <a:ext cx="977660" cy="310551"/>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7" name="TextBox 6"/>
          <p:cNvSpPr txBox="1"/>
          <p:nvPr/>
        </p:nvSpPr>
        <p:spPr>
          <a:xfrm>
            <a:off x="2173856" y="1016867"/>
            <a:ext cx="552091" cy="369332"/>
          </a:xfrm>
          <a:prstGeom prst="rect">
            <a:avLst/>
          </a:prstGeom>
          <a:noFill/>
        </p:spPr>
        <p:txBody>
          <a:bodyPr wrap="square" rtlCol="0">
            <a:spAutoFit/>
          </a:bodyPr>
          <a:lstStyle/>
          <a:p>
            <a:r>
              <a:rPr lang="en-AU" dirty="0" smtClean="0">
                <a:solidFill>
                  <a:srgbClr val="FF0000"/>
                </a:solidFill>
              </a:rPr>
              <a:t>1</a:t>
            </a:r>
            <a:endParaRPr lang="en-AU" dirty="0">
              <a:solidFill>
                <a:srgbClr val="FF0000"/>
              </a:solidFill>
            </a:endParaRPr>
          </a:p>
        </p:txBody>
      </p:sp>
      <p:sp>
        <p:nvSpPr>
          <p:cNvPr id="15" name="Curved Down Arrow 14"/>
          <p:cNvSpPr/>
          <p:nvPr/>
        </p:nvSpPr>
        <p:spPr>
          <a:xfrm>
            <a:off x="2861094" y="1384685"/>
            <a:ext cx="977660" cy="310551"/>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16" name="TextBox 15"/>
          <p:cNvSpPr txBox="1"/>
          <p:nvPr/>
        </p:nvSpPr>
        <p:spPr>
          <a:xfrm>
            <a:off x="3188897" y="1027077"/>
            <a:ext cx="552091" cy="369332"/>
          </a:xfrm>
          <a:prstGeom prst="rect">
            <a:avLst/>
          </a:prstGeom>
          <a:noFill/>
        </p:spPr>
        <p:txBody>
          <a:bodyPr wrap="square" rtlCol="0">
            <a:spAutoFit/>
          </a:bodyPr>
          <a:lstStyle/>
          <a:p>
            <a:r>
              <a:rPr lang="en-AU" dirty="0" smtClean="0">
                <a:solidFill>
                  <a:srgbClr val="FF0000"/>
                </a:solidFill>
              </a:rPr>
              <a:t>1</a:t>
            </a:r>
            <a:endParaRPr lang="en-AU" dirty="0">
              <a:solidFill>
                <a:srgbClr val="FF0000"/>
              </a:solidFill>
            </a:endParaRPr>
          </a:p>
        </p:txBody>
      </p:sp>
      <p:sp>
        <p:nvSpPr>
          <p:cNvPr id="17" name="Curved Down Arrow 16"/>
          <p:cNvSpPr/>
          <p:nvPr/>
        </p:nvSpPr>
        <p:spPr>
          <a:xfrm>
            <a:off x="3876135" y="1384685"/>
            <a:ext cx="977660" cy="310551"/>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18" name="TextBox 17"/>
          <p:cNvSpPr txBox="1"/>
          <p:nvPr/>
        </p:nvSpPr>
        <p:spPr>
          <a:xfrm>
            <a:off x="4203938" y="1027077"/>
            <a:ext cx="552091" cy="369332"/>
          </a:xfrm>
          <a:prstGeom prst="rect">
            <a:avLst/>
          </a:prstGeom>
          <a:noFill/>
        </p:spPr>
        <p:txBody>
          <a:bodyPr wrap="square" rtlCol="0">
            <a:spAutoFit/>
          </a:bodyPr>
          <a:lstStyle/>
          <a:p>
            <a:r>
              <a:rPr lang="en-AU" dirty="0" smtClean="0">
                <a:solidFill>
                  <a:srgbClr val="FF0000"/>
                </a:solidFill>
              </a:rPr>
              <a:t>1</a:t>
            </a:r>
            <a:endParaRPr lang="en-AU" dirty="0">
              <a:solidFill>
                <a:srgbClr val="FF0000"/>
              </a:solidFill>
            </a:endParaRPr>
          </a:p>
        </p:txBody>
      </p:sp>
      <p:sp>
        <p:nvSpPr>
          <p:cNvPr id="19" name="Curved Down Arrow 18"/>
          <p:cNvSpPr/>
          <p:nvPr/>
        </p:nvSpPr>
        <p:spPr>
          <a:xfrm>
            <a:off x="4845167" y="1362751"/>
            <a:ext cx="977660" cy="310551"/>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20" name="TextBox 19"/>
          <p:cNvSpPr txBox="1"/>
          <p:nvPr/>
        </p:nvSpPr>
        <p:spPr>
          <a:xfrm>
            <a:off x="5172970" y="1005143"/>
            <a:ext cx="552091" cy="369332"/>
          </a:xfrm>
          <a:prstGeom prst="rect">
            <a:avLst/>
          </a:prstGeom>
          <a:noFill/>
        </p:spPr>
        <p:txBody>
          <a:bodyPr wrap="square" rtlCol="0">
            <a:spAutoFit/>
          </a:bodyPr>
          <a:lstStyle/>
          <a:p>
            <a:r>
              <a:rPr lang="en-AU" dirty="0" smtClean="0">
                <a:solidFill>
                  <a:srgbClr val="FF0000"/>
                </a:solidFill>
              </a:rPr>
              <a:t>1</a:t>
            </a:r>
            <a:endParaRPr lang="en-AU" dirty="0">
              <a:solidFill>
                <a:srgbClr val="FF0000"/>
              </a:solidFill>
            </a:endParaRPr>
          </a:p>
        </p:txBody>
      </p:sp>
      <p:sp>
        <p:nvSpPr>
          <p:cNvPr id="8" name="Curved Up Arrow 7"/>
          <p:cNvSpPr/>
          <p:nvPr/>
        </p:nvSpPr>
        <p:spPr>
          <a:xfrm>
            <a:off x="1759789" y="2754925"/>
            <a:ext cx="1015041" cy="30480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21" name="TextBox 20"/>
          <p:cNvSpPr txBox="1"/>
          <p:nvPr/>
        </p:nvSpPr>
        <p:spPr>
          <a:xfrm>
            <a:off x="1991263" y="3054197"/>
            <a:ext cx="552091" cy="369332"/>
          </a:xfrm>
          <a:prstGeom prst="rect">
            <a:avLst/>
          </a:prstGeom>
          <a:noFill/>
        </p:spPr>
        <p:txBody>
          <a:bodyPr wrap="square" rtlCol="0">
            <a:spAutoFit/>
          </a:bodyPr>
          <a:lstStyle/>
          <a:p>
            <a:r>
              <a:rPr lang="en-AU" dirty="0" smtClean="0">
                <a:solidFill>
                  <a:srgbClr val="FF0000"/>
                </a:solidFill>
              </a:rPr>
              <a:t>-1.5</a:t>
            </a:r>
            <a:endParaRPr lang="en-AU" dirty="0">
              <a:solidFill>
                <a:srgbClr val="FF0000"/>
              </a:solidFill>
            </a:endParaRPr>
          </a:p>
        </p:txBody>
      </p:sp>
      <p:sp>
        <p:nvSpPr>
          <p:cNvPr id="22" name="Curved Up Arrow 21"/>
          <p:cNvSpPr/>
          <p:nvPr/>
        </p:nvSpPr>
        <p:spPr>
          <a:xfrm>
            <a:off x="2861094" y="2772520"/>
            <a:ext cx="1015041" cy="30480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23" name="TextBox 22"/>
          <p:cNvSpPr txBox="1"/>
          <p:nvPr/>
        </p:nvSpPr>
        <p:spPr>
          <a:xfrm>
            <a:off x="3092568" y="3071792"/>
            <a:ext cx="552091" cy="369332"/>
          </a:xfrm>
          <a:prstGeom prst="rect">
            <a:avLst/>
          </a:prstGeom>
          <a:noFill/>
        </p:spPr>
        <p:txBody>
          <a:bodyPr wrap="square" rtlCol="0">
            <a:spAutoFit/>
          </a:bodyPr>
          <a:lstStyle/>
          <a:p>
            <a:r>
              <a:rPr lang="en-AU" dirty="0" smtClean="0">
                <a:solidFill>
                  <a:srgbClr val="FF0000"/>
                </a:solidFill>
              </a:rPr>
              <a:t>-1.5</a:t>
            </a:r>
            <a:endParaRPr lang="en-AU" dirty="0">
              <a:solidFill>
                <a:srgbClr val="FF0000"/>
              </a:solidFill>
            </a:endParaRPr>
          </a:p>
        </p:txBody>
      </p:sp>
      <p:sp>
        <p:nvSpPr>
          <p:cNvPr id="24" name="Curved Up Arrow 23"/>
          <p:cNvSpPr/>
          <p:nvPr/>
        </p:nvSpPr>
        <p:spPr>
          <a:xfrm>
            <a:off x="3841629" y="2794454"/>
            <a:ext cx="1015041" cy="30480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25" name="TextBox 24"/>
          <p:cNvSpPr txBox="1"/>
          <p:nvPr/>
        </p:nvSpPr>
        <p:spPr>
          <a:xfrm>
            <a:off x="4073103" y="3093726"/>
            <a:ext cx="552091" cy="369332"/>
          </a:xfrm>
          <a:prstGeom prst="rect">
            <a:avLst/>
          </a:prstGeom>
          <a:noFill/>
        </p:spPr>
        <p:txBody>
          <a:bodyPr wrap="square" rtlCol="0">
            <a:spAutoFit/>
          </a:bodyPr>
          <a:lstStyle/>
          <a:p>
            <a:r>
              <a:rPr lang="en-AU" dirty="0" smtClean="0">
                <a:solidFill>
                  <a:srgbClr val="FF0000"/>
                </a:solidFill>
              </a:rPr>
              <a:t>-1.5</a:t>
            </a:r>
            <a:endParaRPr lang="en-AU" dirty="0">
              <a:solidFill>
                <a:srgbClr val="FF0000"/>
              </a:solidFill>
            </a:endParaRPr>
          </a:p>
        </p:txBody>
      </p:sp>
      <p:sp>
        <p:nvSpPr>
          <p:cNvPr id="26" name="Curved Up Arrow 25"/>
          <p:cNvSpPr/>
          <p:nvPr/>
        </p:nvSpPr>
        <p:spPr>
          <a:xfrm>
            <a:off x="4822164" y="2794454"/>
            <a:ext cx="1015041" cy="30480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27" name="TextBox 26"/>
          <p:cNvSpPr txBox="1"/>
          <p:nvPr/>
        </p:nvSpPr>
        <p:spPr>
          <a:xfrm>
            <a:off x="5053638" y="3093726"/>
            <a:ext cx="552091" cy="369332"/>
          </a:xfrm>
          <a:prstGeom prst="rect">
            <a:avLst/>
          </a:prstGeom>
          <a:noFill/>
        </p:spPr>
        <p:txBody>
          <a:bodyPr wrap="square" rtlCol="0">
            <a:spAutoFit/>
          </a:bodyPr>
          <a:lstStyle/>
          <a:p>
            <a:r>
              <a:rPr lang="en-AU" dirty="0" smtClean="0">
                <a:solidFill>
                  <a:srgbClr val="FF0000"/>
                </a:solidFill>
              </a:rPr>
              <a:t>-1.5</a:t>
            </a:r>
            <a:endParaRPr lang="en-AU" dirty="0">
              <a:solidFill>
                <a:srgbClr val="FF0000"/>
              </a:solidFill>
            </a:endParaRPr>
          </a:p>
        </p:txBody>
      </p:sp>
      <p:sp>
        <p:nvSpPr>
          <p:cNvPr id="28" name="TextBox 27"/>
          <p:cNvSpPr txBox="1"/>
          <p:nvPr/>
        </p:nvSpPr>
        <p:spPr>
          <a:xfrm>
            <a:off x="500331" y="4875212"/>
            <a:ext cx="6970145" cy="1323439"/>
          </a:xfrm>
          <a:prstGeom prst="rect">
            <a:avLst/>
          </a:prstGeom>
          <a:noFill/>
        </p:spPr>
        <p:txBody>
          <a:bodyPr wrap="square" rtlCol="0">
            <a:spAutoFit/>
          </a:bodyPr>
          <a:lstStyle/>
          <a:p>
            <a:r>
              <a:rPr lang="en-AU" sz="2000" dirty="0" smtClean="0">
                <a:solidFill>
                  <a:srgbClr val="FF0000"/>
                </a:solidFill>
              </a:rPr>
              <a:t>As we move across horizontally 1 unit (a change of 1 in the c row)</a:t>
            </a:r>
          </a:p>
          <a:p>
            <a:r>
              <a:rPr lang="en-AU" sz="2000" dirty="0" smtClean="0">
                <a:solidFill>
                  <a:srgbClr val="FF0000"/>
                </a:solidFill>
              </a:rPr>
              <a:t> The line moves down 1.5 units (a change of -1.5 in the w row)</a:t>
            </a:r>
          </a:p>
          <a:p>
            <a:endParaRPr lang="en-AU" sz="2000" dirty="0" smtClean="0">
              <a:solidFill>
                <a:srgbClr val="FF0000"/>
              </a:solidFill>
            </a:endParaRPr>
          </a:p>
          <a:p>
            <a:r>
              <a:rPr lang="en-AU" sz="2000" dirty="0" smtClean="0">
                <a:solidFill>
                  <a:srgbClr val="FF0000"/>
                </a:solidFill>
              </a:rPr>
              <a:t>Gradient = -1.5</a:t>
            </a:r>
            <a:endParaRPr lang="en-AU" sz="2000" dirty="0">
              <a:solidFill>
                <a:srgbClr val="FF0000"/>
              </a:solidFill>
            </a:endParaRPr>
          </a:p>
        </p:txBody>
      </p:sp>
      <p:pic>
        <p:nvPicPr>
          <p:cNvPr id="4" name="Picture 3"/>
          <p:cNvPicPr>
            <a:picLocks noChangeAspect="1"/>
          </p:cNvPicPr>
          <p:nvPr/>
        </p:nvPicPr>
        <p:blipFill>
          <a:blip r:embed="rId2"/>
          <a:stretch>
            <a:fillRect/>
          </a:stretch>
        </p:blipFill>
        <p:spPr>
          <a:xfrm>
            <a:off x="7470476" y="1049015"/>
            <a:ext cx="4267496" cy="5488017"/>
          </a:xfrm>
          <a:prstGeom prst="rect">
            <a:avLst/>
          </a:prstGeom>
        </p:spPr>
      </p:pic>
      <p:sp>
        <p:nvSpPr>
          <p:cNvPr id="29" name="TextBox 28"/>
          <p:cNvSpPr txBox="1"/>
          <p:nvPr/>
        </p:nvSpPr>
        <p:spPr>
          <a:xfrm>
            <a:off x="5329683" y="122891"/>
            <a:ext cx="3985404" cy="461665"/>
          </a:xfrm>
          <a:prstGeom prst="rect">
            <a:avLst/>
          </a:prstGeom>
          <a:solidFill>
            <a:srgbClr val="FFFF00"/>
          </a:solidFill>
        </p:spPr>
        <p:txBody>
          <a:bodyPr wrap="square" rtlCol="0">
            <a:spAutoFit/>
          </a:bodyPr>
          <a:lstStyle/>
          <a:p>
            <a:r>
              <a:rPr lang="en-AU" sz="2400" dirty="0" smtClean="0"/>
              <a:t>Now try Exercise 8A</a:t>
            </a:r>
            <a:endParaRPr lang="en-AU" sz="2400" dirty="0"/>
          </a:p>
        </p:txBody>
      </p:sp>
    </p:spTree>
    <p:extLst>
      <p:ext uri="{BB962C8B-B14F-4D97-AF65-F5344CB8AC3E}">
        <p14:creationId xmlns:p14="http://schemas.microsoft.com/office/powerpoint/2010/main" val="3973147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500"/>
                                        <p:tgtEl>
                                          <p:spTgt spid="1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500"/>
                                        <p:tgtEl>
                                          <p:spTgt spid="20"/>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fade">
                                      <p:cBhvr>
                                        <p:cTn id="44" dur="500"/>
                                        <p:tgtEl>
                                          <p:spTgt spid="21"/>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fade">
                                      <p:cBhvr>
                                        <p:cTn id="47" dur="500"/>
                                        <p:tgtEl>
                                          <p:spTgt spid="8"/>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500"/>
                                        <p:tgtEl>
                                          <p:spTgt spid="2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500"/>
                                        <p:tgtEl>
                                          <p:spTgt spid="2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25"/>
                                        </p:tgtEl>
                                        <p:attrNameLst>
                                          <p:attrName>style.visibility</p:attrName>
                                        </p:attrNameLst>
                                      </p:cBhvr>
                                      <p:to>
                                        <p:strVal val="visible"/>
                                      </p:to>
                                    </p:set>
                                    <p:animEffect transition="in" filter="fade">
                                      <p:cBhvr>
                                        <p:cTn id="60" dur="500"/>
                                        <p:tgtEl>
                                          <p:spTgt spid="2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500"/>
                                        <p:tgtEl>
                                          <p:spTgt spid="24"/>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500"/>
                                        <p:tgtEl>
                                          <p:spTgt spid="27"/>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4"/>
                                        </p:tgtEl>
                                        <p:attrNameLst>
                                          <p:attrName>style.visibility</p:attrName>
                                        </p:attrNameLst>
                                      </p:cBhvr>
                                      <p:to>
                                        <p:strVal val="visible"/>
                                      </p:to>
                                    </p:set>
                                    <p:animEffect transition="in" filter="fade">
                                      <p:cBhvr>
                                        <p:cTn id="73" dur="500"/>
                                        <p:tgtEl>
                                          <p:spTgt spid="4"/>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500"/>
                                        <p:tgtEl>
                                          <p:spTgt spid="26"/>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28">
                                            <p:txEl>
                                              <p:pRg st="0" end="0"/>
                                            </p:txEl>
                                          </p:spTgt>
                                        </p:tgtEl>
                                        <p:attrNameLst>
                                          <p:attrName>style.visibility</p:attrName>
                                        </p:attrNameLst>
                                      </p:cBhvr>
                                      <p:to>
                                        <p:strVal val="visible"/>
                                      </p:to>
                                    </p:set>
                                    <p:animEffect transition="in" filter="fade">
                                      <p:cBhvr>
                                        <p:cTn id="81" dur="500"/>
                                        <p:tgtEl>
                                          <p:spTgt spid="28">
                                            <p:txEl>
                                              <p:pRg st="0" end="0"/>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8">
                                            <p:txEl>
                                              <p:pRg st="1" end="1"/>
                                            </p:txEl>
                                          </p:spTgt>
                                        </p:tgtEl>
                                        <p:attrNameLst>
                                          <p:attrName>style.visibility</p:attrName>
                                        </p:attrNameLst>
                                      </p:cBhvr>
                                      <p:to>
                                        <p:strVal val="visible"/>
                                      </p:to>
                                    </p:set>
                                    <p:animEffect transition="in" filter="fade">
                                      <p:cBhvr>
                                        <p:cTn id="86" dur="500"/>
                                        <p:tgtEl>
                                          <p:spTgt spid="28">
                                            <p:txEl>
                                              <p:pRg st="1" end="1"/>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28">
                                            <p:txEl>
                                              <p:pRg st="3" end="3"/>
                                            </p:txEl>
                                          </p:spTgt>
                                        </p:tgtEl>
                                        <p:attrNameLst>
                                          <p:attrName>style.visibility</p:attrName>
                                        </p:attrNameLst>
                                      </p:cBhvr>
                                      <p:to>
                                        <p:strVal val="visible"/>
                                      </p:to>
                                    </p:set>
                                    <p:animEffect transition="in" filter="fade">
                                      <p:cBhvr>
                                        <p:cTn id="91" dur="500"/>
                                        <p:tgtEl>
                                          <p:spTgt spid="28">
                                            <p:txEl>
                                              <p:pRg st="3" end="3"/>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29"/>
                                        </p:tgtEl>
                                        <p:attrNameLst>
                                          <p:attrName>style.visibility</p:attrName>
                                        </p:attrNameLst>
                                      </p:cBhvr>
                                      <p:to>
                                        <p:strVal val="visible"/>
                                      </p:to>
                                    </p:set>
                                    <p:animEffect transition="in" filter="fade">
                                      <p:cBhvr>
                                        <p:cTn id="96"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p:bldP spid="15" grpId="0" animBg="1"/>
      <p:bldP spid="16" grpId="0"/>
      <p:bldP spid="17" grpId="0" animBg="1"/>
      <p:bldP spid="18" grpId="0"/>
      <p:bldP spid="19" grpId="0" animBg="1"/>
      <p:bldP spid="20" grpId="0"/>
      <p:bldP spid="8" grpId="0" animBg="1"/>
      <p:bldP spid="21" grpId="0"/>
      <p:bldP spid="22" grpId="0" animBg="1"/>
      <p:bldP spid="23" grpId="0"/>
      <p:bldP spid="24" grpId="0" animBg="1"/>
      <p:bldP spid="25" grpId="0"/>
      <p:bldP spid="26" grpId="0" animBg="1"/>
      <p:bldP spid="27" grpId="0"/>
      <p:bldP spid="29"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259</TotalTime>
  <Words>708</Words>
  <Application>Microsoft Office PowerPoint</Application>
  <PresentationFormat>Widescreen</PresentationFormat>
  <Paragraphs>170</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HarrisdaleSHS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teacher</dc:creator>
  <cp:lastModifiedBy>STEDMAN Shaun [Harrisdale Senior High School]</cp:lastModifiedBy>
  <cp:revision>50</cp:revision>
  <dcterms:created xsi:type="dcterms:W3CDTF">2020-12-09T06:24:59Z</dcterms:created>
  <dcterms:modified xsi:type="dcterms:W3CDTF">2021-09-07T02:34:44Z</dcterms:modified>
</cp:coreProperties>
</file>
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4" r:id="rId3"/>
    <p:sldId id="260" r:id="rId4"/>
    <p:sldId id="261" r:id="rId5"/>
    <p:sldId id="262" r:id="rId6"/>
    <p:sldId id="265"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5" autoAdjust="0"/>
    <p:restoredTop sz="94660"/>
  </p:normalViewPr>
  <p:slideViewPr>
    <p:cSldViewPr snapToGrid="0">
      <p:cViewPr varScale="1">
        <p:scale>
          <a:sx n="85" d="100"/>
          <a:sy n="85" d="100"/>
        </p:scale>
        <p:origin x="63" y="1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24/06/2021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24/06/2021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24/06/2021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24/06/2021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24/06/2021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24/06/2021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24/06/2021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24/06/2021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24/06/2021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24/06/2021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24/06/2021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24/06/2021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0" y="3519127"/>
            <a:ext cx="4743450" cy="3038475"/>
          </a:xfrm>
          <a:prstGeom prst="rect">
            <a:avLst/>
          </a:prstGeom>
        </p:spPr>
      </p:pic>
      <p:sp>
        <p:nvSpPr>
          <p:cNvPr id="14" name="TextBox 13"/>
          <p:cNvSpPr txBox="1"/>
          <p:nvPr/>
        </p:nvSpPr>
        <p:spPr>
          <a:xfrm>
            <a:off x="1" y="0"/>
            <a:ext cx="2939544" cy="461665"/>
          </a:xfrm>
          <a:prstGeom prst="rect">
            <a:avLst/>
          </a:prstGeom>
          <a:solidFill>
            <a:srgbClr val="FFFF00"/>
          </a:solidFill>
        </p:spPr>
        <p:txBody>
          <a:bodyPr wrap="square" rtlCol="0">
            <a:spAutoFit/>
          </a:bodyPr>
          <a:lstStyle/>
          <a:p>
            <a:r>
              <a:rPr lang="en-AU" sz="2400" dirty="0" smtClean="0"/>
              <a:t>Boxplot or histogram?</a:t>
            </a:r>
            <a:endParaRPr lang="en-AU" sz="2400" dirty="0"/>
          </a:p>
        </p:txBody>
      </p:sp>
      <p:sp>
        <p:nvSpPr>
          <p:cNvPr id="3" name="TextBox 2"/>
          <p:cNvSpPr txBox="1"/>
          <p:nvPr/>
        </p:nvSpPr>
        <p:spPr>
          <a:xfrm>
            <a:off x="157075" y="589031"/>
            <a:ext cx="11511342" cy="2462213"/>
          </a:xfrm>
          <a:prstGeom prst="rect">
            <a:avLst/>
          </a:prstGeom>
          <a:noFill/>
        </p:spPr>
        <p:txBody>
          <a:bodyPr wrap="square" rtlCol="0">
            <a:spAutoFit/>
          </a:bodyPr>
          <a:lstStyle/>
          <a:p>
            <a:r>
              <a:rPr lang="en-AU" sz="2200" dirty="0" smtClean="0"/>
              <a:t>The lengths of the tail feathers of sixty female birds of a particular species were measured and the lengths, recorded to the nearest centimetre were as follows:</a:t>
            </a:r>
          </a:p>
          <a:p>
            <a:endParaRPr lang="en-AU" sz="2200" dirty="0"/>
          </a:p>
          <a:p>
            <a:endParaRPr lang="en-AU" sz="2200" dirty="0" smtClean="0"/>
          </a:p>
          <a:p>
            <a:endParaRPr lang="en-AU" sz="2200" dirty="0"/>
          </a:p>
          <a:p>
            <a:endParaRPr lang="en-AU" sz="2200" dirty="0" smtClean="0"/>
          </a:p>
          <a:p>
            <a:r>
              <a:rPr lang="en-AU" sz="2200" dirty="0" smtClean="0"/>
              <a:t>Below shows the data as a histogram and as a box and whisker plot.</a:t>
            </a:r>
            <a:endParaRPr lang="en-AU" sz="2200" dirty="0"/>
          </a:p>
        </p:txBody>
      </p:sp>
      <p:graphicFrame>
        <p:nvGraphicFramePr>
          <p:cNvPr id="5" name="Table 4"/>
          <p:cNvGraphicFramePr>
            <a:graphicFrameLocks noGrp="1"/>
          </p:cNvGraphicFramePr>
          <p:nvPr>
            <p:extLst>
              <p:ext uri="{D42A27DB-BD31-4B8C-83A1-F6EECF244321}">
                <p14:modId xmlns:p14="http://schemas.microsoft.com/office/powerpoint/2010/main" val="1501903453"/>
              </p:ext>
            </p:extLst>
          </p:nvPr>
        </p:nvGraphicFramePr>
        <p:xfrm>
          <a:off x="549758" y="1518693"/>
          <a:ext cx="10911720" cy="949960"/>
        </p:xfrm>
        <a:graphic>
          <a:graphicData uri="http://schemas.openxmlformats.org/drawingml/2006/table">
            <a:tbl>
              <a:tblPr firstRow="1" bandRow="1">
                <a:tableStyleId>{5C22544A-7EE6-4342-B048-85BDC9FD1C3A}</a:tableStyleId>
              </a:tblPr>
              <a:tblGrid>
                <a:gridCol w="1091172">
                  <a:extLst>
                    <a:ext uri="{9D8B030D-6E8A-4147-A177-3AD203B41FA5}">
                      <a16:colId xmlns:a16="http://schemas.microsoft.com/office/drawing/2014/main" val="2371971244"/>
                    </a:ext>
                  </a:extLst>
                </a:gridCol>
                <a:gridCol w="1091172">
                  <a:extLst>
                    <a:ext uri="{9D8B030D-6E8A-4147-A177-3AD203B41FA5}">
                      <a16:colId xmlns:a16="http://schemas.microsoft.com/office/drawing/2014/main" val="3640962824"/>
                    </a:ext>
                  </a:extLst>
                </a:gridCol>
                <a:gridCol w="1091172">
                  <a:extLst>
                    <a:ext uri="{9D8B030D-6E8A-4147-A177-3AD203B41FA5}">
                      <a16:colId xmlns:a16="http://schemas.microsoft.com/office/drawing/2014/main" val="2701096190"/>
                    </a:ext>
                  </a:extLst>
                </a:gridCol>
                <a:gridCol w="1091172">
                  <a:extLst>
                    <a:ext uri="{9D8B030D-6E8A-4147-A177-3AD203B41FA5}">
                      <a16:colId xmlns:a16="http://schemas.microsoft.com/office/drawing/2014/main" val="4175403114"/>
                    </a:ext>
                  </a:extLst>
                </a:gridCol>
                <a:gridCol w="1091172">
                  <a:extLst>
                    <a:ext uri="{9D8B030D-6E8A-4147-A177-3AD203B41FA5}">
                      <a16:colId xmlns:a16="http://schemas.microsoft.com/office/drawing/2014/main" val="3312402938"/>
                    </a:ext>
                  </a:extLst>
                </a:gridCol>
                <a:gridCol w="1091172">
                  <a:extLst>
                    <a:ext uri="{9D8B030D-6E8A-4147-A177-3AD203B41FA5}">
                      <a16:colId xmlns:a16="http://schemas.microsoft.com/office/drawing/2014/main" val="715664732"/>
                    </a:ext>
                  </a:extLst>
                </a:gridCol>
                <a:gridCol w="1091172">
                  <a:extLst>
                    <a:ext uri="{9D8B030D-6E8A-4147-A177-3AD203B41FA5}">
                      <a16:colId xmlns:a16="http://schemas.microsoft.com/office/drawing/2014/main" val="1118977540"/>
                    </a:ext>
                  </a:extLst>
                </a:gridCol>
                <a:gridCol w="1091172">
                  <a:extLst>
                    <a:ext uri="{9D8B030D-6E8A-4147-A177-3AD203B41FA5}">
                      <a16:colId xmlns:a16="http://schemas.microsoft.com/office/drawing/2014/main" val="4262890978"/>
                    </a:ext>
                  </a:extLst>
                </a:gridCol>
                <a:gridCol w="1091172">
                  <a:extLst>
                    <a:ext uri="{9D8B030D-6E8A-4147-A177-3AD203B41FA5}">
                      <a16:colId xmlns:a16="http://schemas.microsoft.com/office/drawing/2014/main" val="2028900729"/>
                    </a:ext>
                  </a:extLst>
                </a:gridCol>
                <a:gridCol w="1091172">
                  <a:extLst>
                    <a:ext uri="{9D8B030D-6E8A-4147-A177-3AD203B41FA5}">
                      <a16:colId xmlns:a16="http://schemas.microsoft.com/office/drawing/2014/main" val="2476945210"/>
                    </a:ext>
                  </a:extLst>
                </a:gridCol>
              </a:tblGrid>
              <a:tr h="370840">
                <a:tc>
                  <a:txBody>
                    <a:bodyPr/>
                    <a:lstStyle/>
                    <a:p>
                      <a:r>
                        <a:rPr lang="en-AU" sz="1600" dirty="0" smtClean="0"/>
                        <a:t>Lengths</a:t>
                      </a:r>
                      <a:r>
                        <a:rPr lang="en-AU" sz="1600" baseline="0" dirty="0" smtClean="0"/>
                        <a:t> (cm)</a:t>
                      </a:r>
                      <a:endParaRPr lang="en-AU" sz="1600" dirty="0"/>
                    </a:p>
                  </a:txBody>
                  <a:tcPr/>
                </a:tc>
                <a:tc>
                  <a:txBody>
                    <a:bodyPr/>
                    <a:lstStyle/>
                    <a:p>
                      <a:r>
                        <a:rPr lang="en-AU" dirty="0" smtClean="0"/>
                        <a:t>6</a:t>
                      </a:r>
                      <a:endParaRPr lang="en-AU" dirty="0"/>
                    </a:p>
                  </a:txBody>
                  <a:tcPr/>
                </a:tc>
                <a:tc>
                  <a:txBody>
                    <a:bodyPr/>
                    <a:lstStyle/>
                    <a:p>
                      <a:r>
                        <a:rPr lang="en-AU" dirty="0" smtClean="0"/>
                        <a:t>7</a:t>
                      </a:r>
                      <a:endParaRPr lang="en-AU" dirty="0"/>
                    </a:p>
                  </a:txBody>
                  <a:tcPr/>
                </a:tc>
                <a:tc>
                  <a:txBody>
                    <a:bodyPr/>
                    <a:lstStyle/>
                    <a:p>
                      <a:r>
                        <a:rPr lang="en-AU" dirty="0" smtClean="0"/>
                        <a:t>8</a:t>
                      </a:r>
                      <a:endParaRPr lang="en-AU" dirty="0"/>
                    </a:p>
                  </a:txBody>
                  <a:tcPr/>
                </a:tc>
                <a:tc>
                  <a:txBody>
                    <a:bodyPr/>
                    <a:lstStyle/>
                    <a:p>
                      <a:r>
                        <a:rPr lang="en-AU" dirty="0" smtClean="0"/>
                        <a:t>9</a:t>
                      </a:r>
                      <a:endParaRPr lang="en-AU" dirty="0"/>
                    </a:p>
                  </a:txBody>
                  <a:tcPr/>
                </a:tc>
                <a:tc>
                  <a:txBody>
                    <a:bodyPr/>
                    <a:lstStyle/>
                    <a:p>
                      <a:r>
                        <a:rPr lang="en-AU" dirty="0" smtClean="0"/>
                        <a:t>10</a:t>
                      </a:r>
                      <a:endParaRPr lang="en-AU" dirty="0"/>
                    </a:p>
                  </a:txBody>
                  <a:tcPr/>
                </a:tc>
                <a:tc>
                  <a:txBody>
                    <a:bodyPr/>
                    <a:lstStyle/>
                    <a:p>
                      <a:r>
                        <a:rPr lang="en-AU" dirty="0" smtClean="0"/>
                        <a:t>11</a:t>
                      </a:r>
                      <a:endParaRPr lang="en-AU" dirty="0"/>
                    </a:p>
                  </a:txBody>
                  <a:tcPr/>
                </a:tc>
                <a:tc>
                  <a:txBody>
                    <a:bodyPr/>
                    <a:lstStyle/>
                    <a:p>
                      <a:r>
                        <a:rPr lang="en-AU" dirty="0" smtClean="0"/>
                        <a:t>12</a:t>
                      </a:r>
                      <a:endParaRPr lang="en-AU" dirty="0"/>
                    </a:p>
                  </a:txBody>
                  <a:tcPr/>
                </a:tc>
                <a:tc>
                  <a:txBody>
                    <a:bodyPr/>
                    <a:lstStyle/>
                    <a:p>
                      <a:r>
                        <a:rPr lang="en-AU" dirty="0" smtClean="0"/>
                        <a:t>13</a:t>
                      </a:r>
                      <a:endParaRPr lang="en-AU" dirty="0"/>
                    </a:p>
                  </a:txBody>
                  <a:tcPr/>
                </a:tc>
                <a:tc>
                  <a:txBody>
                    <a:bodyPr/>
                    <a:lstStyle/>
                    <a:p>
                      <a:r>
                        <a:rPr lang="en-AU" dirty="0" smtClean="0"/>
                        <a:t>14</a:t>
                      </a:r>
                      <a:endParaRPr lang="en-AU" dirty="0"/>
                    </a:p>
                  </a:txBody>
                  <a:tcPr/>
                </a:tc>
                <a:extLst>
                  <a:ext uri="{0D108BD9-81ED-4DB2-BD59-A6C34878D82A}">
                    <a16:rowId xmlns:a16="http://schemas.microsoft.com/office/drawing/2014/main" val="157649427"/>
                  </a:ext>
                </a:extLst>
              </a:tr>
              <a:tr h="370840">
                <a:tc>
                  <a:txBody>
                    <a:bodyPr/>
                    <a:lstStyle/>
                    <a:p>
                      <a:r>
                        <a:rPr lang="en-AU" sz="1600" dirty="0" smtClean="0"/>
                        <a:t>Frequency</a:t>
                      </a:r>
                      <a:endParaRPr lang="en-AU" sz="1600" dirty="0"/>
                    </a:p>
                  </a:txBody>
                  <a:tcPr/>
                </a:tc>
                <a:tc>
                  <a:txBody>
                    <a:bodyPr/>
                    <a:lstStyle/>
                    <a:p>
                      <a:r>
                        <a:rPr lang="en-AU" dirty="0" smtClean="0"/>
                        <a:t>3</a:t>
                      </a:r>
                      <a:endParaRPr lang="en-AU" dirty="0"/>
                    </a:p>
                  </a:txBody>
                  <a:tcPr/>
                </a:tc>
                <a:tc>
                  <a:txBody>
                    <a:bodyPr/>
                    <a:lstStyle/>
                    <a:p>
                      <a:r>
                        <a:rPr lang="en-AU" dirty="0" smtClean="0"/>
                        <a:t>7</a:t>
                      </a:r>
                      <a:endParaRPr lang="en-AU" dirty="0"/>
                    </a:p>
                  </a:txBody>
                  <a:tcPr/>
                </a:tc>
                <a:tc>
                  <a:txBody>
                    <a:bodyPr/>
                    <a:lstStyle/>
                    <a:p>
                      <a:r>
                        <a:rPr lang="en-AU" dirty="0" smtClean="0"/>
                        <a:t>10</a:t>
                      </a:r>
                      <a:endParaRPr lang="en-AU" dirty="0"/>
                    </a:p>
                  </a:txBody>
                  <a:tcPr/>
                </a:tc>
                <a:tc>
                  <a:txBody>
                    <a:bodyPr/>
                    <a:lstStyle/>
                    <a:p>
                      <a:r>
                        <a:rPr lang="en-AU" dirty="0" smtClean="0"/>
                        <a:t>9</a:t>
                      </a:r>
                      <a:endParaRPr lang="en-AU" dirty="0"/>
                    </a:p>
                  </a:txBody>
                  <a:tcPr/>
                </a:tc>
                <a:tc>
                  <a:txBody>
                    <a:bodyPr/>
                    <a:lstStyle/>
                    <a:p>
                      <a:r>
                        <a:rPr lang="en-AU" dirty="0" smtClean="0"/>
                        <a:t>12</a:t>
                      </a:r>
                      <a:endParaRPr lang="en-AU" dirty="0"/>
                    </a:p>
                  </a:txBody>
                  <a:tcPr/>
                </a:tc>
                <a:tc>
                  <a:txBody>
                    <a:bodyPr/>
                    <a:lstStyle/>
                    <a:p>
                      <a:r>
                        <a:rPr lang="en-AU" dirty="0" smtClean="0"/>
                        <a:t>8</a:t>
                      </a:r>
                      <a:endParaRPr lang="en-AU" dirty="0"/>
                    </a:p>
                  </a:txBody>
                  <a:tcPr/>
                </a:tc>
                <a:tc>
                  <a:txBody>
                    <a:bodyPr/>
                    <a:lstStyle/>
                    <a:p>
                      <a:r>
                        <a:rPr lang="en-AU" dirty="0" smtClean="0"/>
                        <a:t>5</a:t>
                      </a:r>
                      <a:endParaRPr lang="en-AU" dirty="0"/>
                    </a:p>
                  </a:txBody>
                  <a:tcPr/>
                </a:tc>
                <a:tc>
                  <a:txBody>
                    <a:bodyPr/>
                    <a:lstStyle/>
                    <a:p>
                      <a:r>
                        <a:rPr lang="en-AU" dirty="0" smtClean="0"/>
                        <a:t>4</a:t>
                      </a:r>
                      <a:endParaRPr lang="en-AU" dirty="0"/>
                    </a:p>
                  </a:txBody>
                  <a:tcPr/>
                </a:tc>
                <a:tc>
                  <a:txBody>
                    <a:bodyPr/>
                    <a:lstStyle/>
                    <a:p>
                      <a:r>
                        <a:rPr lang="en-AU" dirty="0" smtClean="0"/>
                        <a:t>2</a:t>
                      </a:r>
                      <a:endParaRPr lang="en-AU" dirty="0"/>
                    </a:p>
                  </a:txBody>
                  <a:tcPr/>
                </a:tc>
                <a:extLst>
                  <a:ext uri="{0D108BD9-81ED-4DB2-BD59-A6C34878D82A}">
                    <a16:rowId xmlns:a16="http://schemas.microsoft.com/office/drawing/2014/main" val="3545750098"/>
                  </a:ext>
                </a:extLst>
              </a:tr>
            </a:tbl>
          </a:graphicData>
        </a:graphic>
      </p:graphicFrame>
      <p:pic>
        <p:nvPicPr>
          <p:cNvPr id="7" name="Picture 6"/>
          <p:cNvPicPr>
            <a:picLocks noChangeAspect="1"/>
          </p:cNvPicPr>
          <p:nvPr/>
        </p:nvPicPr>
        <p:blipFill>
          <a:blip r:embed="rId3"/>
          <a:stretch>
            <a:fillRect/>
          </a:stretch>
        </p:blipFill>
        <p:spPr>
          <a:xfrm>
            <a:off x="3250669" y="3454854"/>
            <a:ext cx="4162425" cy="1209675"/>
          </a:xfrm>
          <a:prstGeom prst="rect">
            <a:avLst/>
          </a:prstGeom>
        </p:spPr>
      </p:pic>
      <p:sp>
        <p:nvSpPr>
          <p:cNvPr id="9" name="TextBox 8"/>
          <p:cNvSpPr txBox="1"/>
          <p:nvPr/>
        </p:nvSpPr>
        <p:spPr>
          <a:xfrm>
            <a:off x="7668348" y="3272921"/>
            <a:ext cx="4136871" cy="1446550"/>
          </a:xfrm>
          <a:prstGeom prst="rect">
            <a:avLst/>
          </a:prstGeom>
          <a:noFill/>
        </p:spPr>
        <p:txBody>
          <a:bodyPr wrap="square" rtlCol="0">
            <a:spAutoFit/>
          </a:bodyPr>
          <a:lstStyle/>
          <a:p>
            <a:pPr algn="ctr"/>
            <a:r>
              <a:rPr lang="en-AU" sz="2200" dirty="0" smtClean="0"/>
              <a:t>Both of these types of graphs are useful in their own way and each all allows us to see how the data is distributed.</a:t>
            </a:r>
            <a:endParaRPr lang="en-AU" sz="2200" dirty="0"/>
          </a:p>
        </p:txBody>
      </p:sp>
      <p:sp>
        <p:nvSpPr>
          <p:cNvPr id="10" name="TextBox 9"/>
          <p:cNvSpPr txBox="1"/>
          <p:nvPr/>
        </p:nvSpPr>
        <p:spPr>
          <a:xfrm>
            <a:off x="4564086" y="4607007"/>
            <a:ext cx="7485468" cy="1107996"/>
          </a:xfrm>
          <a:prstGeom prst="rect">
            <a:avLst/>
          </a:prstGeom>
          <a:noFill/>
        </p:spPr>
        <p:txBody>
          <a:bodyPr wrap="square" rtlCol="0">
            <a:spAutoFit/>
          </a:bodyPr>
          <a:lstStyle/>
          <a:p>
            <a:pPr algn="ctr"/>
            <a:r>
              <a:rPr lang="en-AU" sz="2200" dirty="0" smtClean="0"/>
              <a:t>Box plots can be drawn quickly and the 5 number summary can be obtained easily. You can draw several boxplots close to each other which makes It easy to compare distributions.</a:t>
            </a:r>
            <a:endParaRPr lang="en-AU" sz="2200" dirty="0"/>
          </a:p>
        </p:txBody>
      </p:sp>
      <p:sp>
        <p:nvSpPr>
          <p:cNvPr id="12" name="TextBox 11"/>
          <p:cNvSpPr txBox="1"/>
          <p:nvPr/>
        </p:nvSpPr>
        <p:spPr>
          <a:xfrm>
            <a:off x="4564086" y="5715003"/>
            <a:ext cx="7485468" cy="1107996"/>
          </a:xfrm>
          <a:prstGeom prst="rect">
            <a:avLst/>
          </a:prstGeom>
          <a:noFill/>
        </p:spPr>
        <p:txBody>
          <a:bodyPr wrap="square" rtlCol="0">
            <a:spAutoFit/>
          </a:bodyPr>
          <a:lstStyle/>
          <a:p>
            <a:pPr algn="ctr"/>
            <a:r>
              <a:rPr lang="en-AU" sz="2200" dirty="0" smtClean="0"/>
              <a:t>Histograms show the overall ‘shape’ and symmetry, grouping, gaps, modes can be noticed. You can estimate the mean and standard deviation.</a:t>
            </a:r>
            <a:endParaRPr lang="en-AU" sz="2200" dirty="0"/>
          </a:p>
        </p:txBody>
      </p:sp>
    </p:spTree>
    <p:extLst>
      <p:ext uri="{BB962C8B-B14F-4D97-AF65-F5344CB8AC3E}">
        <p14:creationId xmlns:p14="http://schemas.microsoft.com/office/powerpoint/2010/main" val="147558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stretch>
            <a:fillRect/>
          </a:stretch>
        </p:blipFill>
        <p:spPr>
          <a:xfrm>
            <a:off x="-46837" y="3713337"/>
            <a:ext cx="4743450" cy="3038475"/>
          </a:xfrm>
          <a:prstGeom prst="rect">
            <a:avLst/>
          </a:prstGeom>
        </p:spPr>
      </p:pic>
      <p:sp>
        <p:nvSpPr>
          <p:cNvPr id="14" name="TextBox 13"/>
          <p:cNvSpPr txBox="1"/>
          <p:nvPr/>
        </p:nvSpPr>
        <p:spPr>
          <a:xfrm>
            <a:off x="1" y="0"/>
            <a:ext cx="2939544" cy="461665"/>
          </a:xfrm>
          <a:prstGeom prst="rect">
            <a:avLst/>
          </a:prstGeom>
          <a:solidFill>
            <a:srgbClr val="FFFF00"/>
          </a:solidFill>
        </p:spPr>
        <p:txBody>
          <a:bodyPr wrap="square" rtlCol="0">
            <a:spAutoFit/>
          </a:bodyPr>
          <a:lstStyle/>
          <a:p>
            <a:r>
              <a:rPr lang="en-AU" sz="2400" dirty="0" smtClean="0"/>
              <a:t>Boxplot or histogram?</a:t>
            </a:r>
            <a:endParaRPr lang="en-AU" sz="2400" dirty="0"/>
          </a:p>
        </p:txBody>
      </p:sp>
      <p:sp>
        <p:nvSpPr>
          <p:cNvPr id="2" name="TextBox 1"/>
          <p:cNvSpPr txBox="1"/>
          <p:nvPr/>
        </p:nvSpPr>
        <p:spPr>
          <a:xfrm>
            <a:off x="208105" y="706295"/>
            <a:ext cx="11559277" cy="1446550"/>
          </a:xfrm>
          <a:prstGeom prst="rect">
            <a:avLst/>
          </a:prstGeom>
          <a:noFill/>
        </p:spPr>
        <p:txBody>
          <a:bodyPr wrap="square" rtlCol="0">
            <a:spAutoFit/>
          </a:bodyPr>
          <a:lstStyle/>
          <a:p>
            <a:r>
              <a:rPr lang="en-AU" sz="2200" dirty="0" smtClean="0"/>
              <a:t>Boxplots and histograms are both useful types of data display, each allowing us to build a picture up of how a set of scores are distributed. </a:t>
            </a:r>
          </a:p>
          <a:p>
            <a:r>
              <a:rPr lang="en-AU" sz="2200" dirty="0" smtClean="0"/>
              <a:t>Sometimes both forms of display may be given for the same set of data.</a:t>
            </a:r>
          </a:p>
          <a:p>
            <a:r>
              <a:rPr lang="en-AU" sz="2200" dirty="0" smtClean="0"/>
              <a:t>Each form provides information about three key parts of a data set.</a:t>
            </a:r>
            <a:endParaRPr lang="en-AU" sz="2200" dirty="0"/>
          </a:p>
        </p:txBody>
      </p:sp>
      <p:sp>
        <p:nvSpPr>
          <p:cNvPr id="4" name="TextBox 3"/>
          <p:cNvSpPr txBox="1"/>
          <p:nvPr/>
        </p:nvSpPr>
        <p:spPr>
          <a:xfrm>
            <a:off x="466659" y="2421583"/>
            <a:ext cx="6823316" cy="1107996"/>
          </a:xfrm>
          <a:prstGeom prst="rect">
            <a:avLst/>
          </a:prstGeom>
          <a:noFill/>
        </p:spPr>
        <p:txBody>
          <a:bodyPr wrap="square" rtlCol="0">
            <a:spAutoFit/>
          </a:bodyPr>
          <a:lstStyle/>
          <a:p>
            <a:pPr marL="285750" indent="-285750">
              <a:buFont typeface="Arial" panose="020B0604020202020204" pitchFamily="34" charset="0"/>
              <a:buChar char="•"/>
            </a:pPr>
            <a:r>
              <a:rPr lang="en-AU" sz="2200" dirty="0" smtClean="0"/>
              <a:t>Its location	(where is it?)</a:t>
            </a:r>
          </a:p>
          <a:p>
            <a:pPr marL="285750" indent="-285750">
              <a:buFont typeface="Arial" panose="020B0604020202020204" pitchFamily="34" charset="0"/>
              <a:buChar char="•"/>
            </a:pPr>
            <a:r>
              <a:rPr lang="en-AU" sz="2200" dirty="0" smtClean="0"/>
              <a:t>Its dispersion	(how spread out is it?)</a:t>
            </a:r>
          </a:p>
          <a:p>
            <a:pPr marL="285750" indent="-285750">
              <a:buFont typeface="Arial" panose="020B0604020202020204" pitchFamily="34" charset="0"/>
              <a:buChar char="•"/>
            </a:pPr>
            <a:r>
              <a:rPr lang="en-AU" sz="2200" dirty="0" smtClean="0"/>
              <a:t>Its shape	(what does it look like?)</a:t>
            </a:r>
            <a:endParaRPr lang="en-AU" sz="2200" dirty="0"/>
          </a:p>
        </p:txBody>
      </p:sp>
      <p:pic>
        <p:nvPicPr>
          <p:cNvPr id="15" name="Picture 14"/>
          <p:cNvPicPr>
            <a:picLocks noChangeAspect="1"/>
          </p:cNvPicPr>
          <p:nvPr/>
        </p:nvPicPr>
        <p:blipFill>
          <a:blip r:embed="rId3"/>
          <a:stretch>
            <a:fillRect/>
          </a:stretch>
        </p:blipFill>
        <p:spPr>
          <a:xfrm>
            <a:off x="3294813" y="3877370"/>
            <a:ext cx="4162425" cy="1209675"/>
          </a:xfrm>
          <a:prstGeom prst="rect">
            <a:avLst/>
          </a:prstGeom>
        </p:spPr>
      </p:pic>
      <p:sp>
        <p:nvSpPr>
          <p:cNvPr id="16" name="TextBox 15"/>
          <p:cNvSpPr txBox="1"/>
          <p:nvPr/>
        </p:nvSpPr>
        <p:spPr>
          <a:xfrm>
            <a:off x="7628408" y="2743269"/>
            <a:ext cx="4231465" cy="3477875"/>
          </a:xfrm>
          <a:prstGeom prst="rect">
            <a:avLst/>
          </a:prstGeom>
          <a:noFill/>
        </p:spPr>
        <p:txBody>
          <a:bodyPr wrap="square" rtlCol="0">
            <a:spAutoFit/>
          </a:bodyPr>
          <a:lstStyle/>
          <a:p>
            <a:pPr algn="ctr"/>
            <a:r>
              <a:rPr lang="en-AU" sz="2200" dirty="0" smtClean="0"/>
              <a:t>We have already looked at describing location, dispersion and shape in Chapter 2.</a:t>
            </a:r>
          </a:p>
          <a:p>
            <a:pPr algn="ctr"/>
            <a:endParaRPr lang="en-AU" sz="2200" dirty="0" smtClean="0"/>
          </a:p>
          <a:p>
            <a:pPr algn="ctr"/>
            <a:r>
              <a:rPr lang="en-AU" sz="2200" dirty="0" smtClean="0"/>
              <a:t>We can now include a description of the </a:t>
            </a:r>
            <a:r>
              <a:rPr lang="en-AU" sz="2200" b="1" dirty="0" smtClean="0"/>
              <a:t>standard deviation </a:t>
            </a:r>
            <a:r>
              <a:rPr lang="en-AU" sz="2200" dirty="0" smtClean="0"/>
              <a:t>when considering dispersion (how spread out it is) and we will use histograms and boxplots to describe </a:t>
            </a:r>
            <a:r>
              <a:rPr lang="en-AU" sz="2200" b="1" dirty="0" smtClean="0"/>
              <a:t>skewness</a:t>
            </a:r>
            <a:r>
              <a:rPr lang="en-AU" sz="2200" dirty="0" smtClean="0"/>
              <a:t> when considering shape. </a:t>
            </a:r>
            <a:endParaRPr lang="en-AU" sz="2200" dirty="0"/>
          </a:p>
        </p:txBody>
      </p:sp>
    </p:spTree>
    <p:extLst>
      <p:ext uri="{BB962C8B-B14F-4D97-AF65-F5344CB8AC3E}">
        <p14:creationId xmlns:p14="http://schemas.microsoft.com/office/powerpoint/2010/main" val="1328438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1469346" cy="461665"/>
          </a:xfrm>
          <a:prstGeom prst="rect">
            <a:avLst/>
          </a:prstGeom>
          <a:solidFill>
            <a:srgbClr val="FFFF00"/>
          </a:solidFill>
        </p:spPr>
        <p:txBody>
          <a:bodyPr wrap="square" rtlCol="0">
            <a:spAutoFit/>
          </a:bodyPr>
          <a:lstStyle/>
          <a:p>
            <a:r>
              <a:rPr lang="en-AU" sz="2400" dirty="0" smtClean="0"/>
              <a:t>Skewness</a:t>
            </a:r>
            <a:endParaRPr lang="en-AU" sz="2400" dirty="0"/>
          </a:p>
        </p:txBody>
      </p:sp>
      <p:pic>
        <p:nvPicPr>
          <p:cNvPr id="4" name="Picture 3"/>
          <p:cNvPicPr>
            <a:picLocks noChangeAspect="1"/>
          </p:cNvPicPr>
          <p:nvPr/>
        </p:nvPicPr>
        <p:blipFill>
          <a:blip r:embed="rId2"/>
          <a:stretch>
            <a:fillRect/>
          </a:stretch>
        </p:blipFill>
        <p:spPr>
          <a:xfrm>
            <a:off x="7701348" y="288552"/>
            <a:ext cx="3571191" cy="2031765"/>
          </a:xfrm>
          <a:prstGeom prst="rect">
            <a:avLst/>
          </a:prstGeom>
        </p:spPr>
      </p:pic>
      <p:pic>
        <p:nvPicPr>
          <p:cNvPr id="5" name="Picture 4"/>
          <p:cNvPicPr>
            <a:picLocks noChangeAspect="1"/>
          </p:cNvPicPr>
          <p:nvPr/>
        </p:nvPicPr>
        <p:blipFill>
          <a:blip r:embed="rId3"/>
          <a:stretch>
            <a:fillRect/>
          </a:stretch>
        </p:blipFill>
        <p:spPr>
          <a:xfrm>
            <a:off x="7701348" y="2278450"/>
            <a:ext cx="4017920" cy="1950065"/>
          </a:xfrm>
          <a:prstGeom prst="rect">
            <a:avLst/>
          </a:prstGeom>
        </p:spPr>
      </p:pic>
      <p:pic>
        <p:nvPicPr>
          <p:cNvPr id="6" name="Picture 5"/>
          <p:cNvPicPr>
            <a:picLocks noChangeAspect="1"/>
          </p:cNvPicPr>
          <p:nvPr/>
        </p:nvPicPr>
        <p:blipFill>
          <a:blip r:embed="rId4"/>
          <a:stretch>
            <a:fillRect/>
          </a:stretch>
        </p:blipFill>
        <p:spPr>
          <a:xfrm>
            <a:off x="7701348" y="4126125"/>
            <a:ext cx="4178527" cy="1914363"/>
          </a:xfrm>
          <a:prstGeom prst="rect">
            <a:avLst/>
          </a:prstGeom>
        </p:spPr>
      </p:pic>
      <p:sp>
        <p:nvSpPr>
          <p:cNvPr id="8" name="TextBox 7"/>
          <p:cNvSpPr txBox="1"/>
          <p:nvPr/>
        </p:nvSpPr>
        <p:spPr>
          <a:xfrm>
            <a:off x="69367" y="641500"/>
            <a:ext cx="7409793" cy="1323439"/>
          </a:xfrm>
          <a:prstGeom prst="rect">
            <a:avLst/>
          </a:prstGeom>
          <a:noFill/>
        </p:spPr>
        <p:txBody>
          <a:bodyPr wrap="square" rtlCol="0">
            <a:spAutoFit/>
          </a:bodyPr>
          <a:lstStyle/>
          <a:p>
            <a:pPr algn="ctr"/>
            <a:r>
              <a:rPr lang="en-AU" sz="2000" dirty="0" smtClean="0"/>
              <a:t>In this histogram, we can estimate the mean and standard deviation (using the centre of each class interval) to be:</a:t>
            </a:r>
          </a:p>
          <a:p>
            <a:pPr algn="ctr"/>
            <a:r>
              <a:rPr lang="en-AU" sz="2000" dirty="0" smtClean="0"/>
              <a:t>Mean = 115 and standard deviation =16.04 (to 2dp)</a:t>
            </a:r>
          </a:p>
          <a:p>
            <a:pPr algn="ctr"/>
            <a:r>
              <a:rPr lang="en-AU" sz="2000" dirty="0" smtClean="0"/>
              <a:t>The median would also be in the group 110 – 120.</a:t>
            </a:r>
            <a:endParaRPr lang="en-AU" sz="2000" dirty="0"/>
          </a:p>
        </p:txBody>
      </p:sp>
      <p:sp>
        <p:nvSpPr>
          <p:cNvPr id="9" name="TextBox 8"/>
          <p:cNvSpPr txBox="1"/>
          <p:nvPr/>
        </p:nvSpPr>
        <p:spPr>
          <a:xfrm>
            <a:off x="488730" y="2125919"/>
            <a:ext cx="6571068" cy="1631216"/>
          </a:xfrm>
          <a:prstGeom prst="rect">
            <a:avLst/>
          </a:prstGeom>
          <a:noFill/>
        </p:spPr>
        <p:txBody>
          <a:bodyPr wrap="square" rtlCol="0">
            <a:spAutoFit/>
          </a:bodyPr>
          <a:lstStyle/>
          <a:p>
            <a:pPr algn="ctr"/>
            <a:r>
              <a:rPr lang="en-AU" sz="2000" dirty="0" smtClean="0"/>
              <a:t>If the scores to the left of the central column were more spread out, the median would be unaffected but the mean will be lower (left of the median) and the standard deviation will increase (more spread out).</a:t>
            </a:r>
          </a:p>
          <a:p>
            <a:pPr algn="ctr"/>
            <a:r>
              <a:rPr lang="en-AU" sz="2000" dirty="0" smtClean="0"/>
              <a:t>Mean = 112.71 and standard deviation = 19.58 (to 2dp)</a:t>
            </a:r>
            <a:endParaRPr lang="en-AU" sz="2000" dirty="0"/>
          </a:p>
        </p:txBody>
      </p:sp>
      <p:sp>
        <p:nvSpPr>
          <p:cNvPr id="11" name="TextBox 10"/>
          <p:cNvSpPr txBox="1"/>
          <p:nvPr/>
        </p:nvSpPr>
        <p:spPr>
          <a:xfrm>
            <a:off x="488730" y="3918115"/>
            <a:ext cx="6571068" cy="1631216"/>
          </a:xfrm>
          <a:prstGeom prst="rect">
            <a:avLst/>
          </a:prstGeom>
          <a:noFill/>
        </p:spPr>
        <p:txBody>
          <a:bodyPr wrap="square" rtlCol="0">
            <a:spAutoFit/>
          </a:bodyPr>
          <a:lstStyle/>
          <a:p>
            <a:pPr algn="ctr"/>
            <a:r>
              <a:rPr lang="en-AU" sz="2000" dirty="0" smtClean="0"/>
              <a:t>If the scores to the left were further spread out, the median would still be unaffected but the mean will be lower again (left of the median) and the standard deviation will increase (more spread out).</a:t>
            </a:r>
          </a:p>
          <a:p>
            <a:pPr algn="ctr"/>
            <a:r>
              <a:rPr lang="en-AU" sz="2000" dirty="0" smtClean="0"/>
              <a:t>Mean = 111.38 and standard deviation = 22.39 (to 2dp)</a:t>
            </a:r>
            <a:endParaRPr lang="en-AU" sz="2000" dirty="0"/>
          </a:p>
        </p:txBody>
      </p:sp>
      <p:sp>
        <p:nvSpPr>
          <p:cNvPr id="10" name="TextBox 9"/>
          <p:cNvSpPr txBox="1"/>
          <p:nvPr/>
        </p:nvSpPr>
        <p:spPr>
          <a:xfrm>
            <a:off x="643234" y="5805927"/>
            <a:ext cx="6489087" cy="707886"/>
          </a:xfrm>
          <a:prstGeom prst="rect">
            <a:avLst/>
          </a:prstGeom>
          <a:noFill/>
        </p:spPr>
        <p:txBody>
          <a:bodyPr wrap="square" rtlCol="0">
            <a:spAutoFit/>
          </a:bodyPr>
          <a:lstStyle/>
          <a:p>
            <a:pPr algn="ctr"/>
            <a:r>
              <a:rPr lang="en-AU" sz="2000" dirty="0" smtClean="0"/>
              <a:t>The first histogram was symmetrical, but the 2</a:t>
            </a:r>
            <a:r>
              <a:rPr lang="en-AU" sz="2000" baseline="30000" dirty="0" smtClean="0"/>
              <a:t>nd</a:t>
            </a:r>
            <a:r>
              <a:rPr lang="en-AU" sz="2000" dirty="0" smtClean="0"/>
              <a:t> and 3</a:t>
            </a:r>
            <a:r>
              <a:rPr lang="en-AU" sz="2000" baseline="30000" dirty="0" smtClean="0"/>
              <a:t>rd</a:t>
            </a:r>
            <a:r>
              <a:rPr lang="en-AU" sz="2000" dirty="0" smtClean="0"/>
              <a:t> are </a:t>
            </a:r>
            <a:r>
              <a:rPr lang="en-AU" sz="2000" b="1" dirty="0" smtClean="0"/>
              <a:t>skewed to the left</a:t>
            </a:r>
            <a:r>
              <a:rPr lang="en-AU" sz="2000" dirty="0" smtClean="0"/>
              <a:t>, also known as </a:t>
            </a:r>
            <a:r>
              <a:rPr lang="en-AU" sz="2000" b="1" dirty="0" smtClean="0"/>
              <a:t>negatively skewed</a:t>
            </a:r>
            <a:r>
              <a:rPr lang="en-AU" sz="2000" dirty="0" smtClean="0"/>
              <a:t>. </a:t>
            </a:r>
            <a:endParaRPr lang="en-AU" sz="2000" dirty="0"/>
          </a:p>
        </p:txBody>
      </p:sp>
    </p:spTree>
    <p:extLst>
      <p:ext uri="{BB962C8B-B14F-4D97-AF65-F5344CB8AC3E}">
        <p14:creationId xmlns:p14="http://schemas.microsoft.com/office/powerpoint/2010/main" val="79162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1459345" cy="461665"/>
          </a:xfrm>
          <a:prstGeom prst="rect">
            <a:avLst/>
          </a:prstGeom>
          <a:solidFill>
            <a:srgbClr val="FFFF00"/>
          </a:solidFill>
        </p:spPr>
        <p:txBody>
          <a:bodyPr wrap="square" rtlCol="0">
            <a:spAutoFit/>
          </a:bodyPr>
          <a:lstStyle/>
          <a:p>
            <a:r>
              <a:rPr lang="en-AU" sz="2400" dirty="0" smtClean="0"/>
              <a:t>Skewness</a:t>
            </a:r>
            <a:endParaRPr lang="en-AU" sz="2400" dirty="0"/>
          </a:p>
        </p:txBody>
      </p:sp>
      <p:pic>
        <p:nvPicPr>
          <p:cNvPr id="4" name="Picture 3"/>
          <p:cNvPicPr>
            <a:picLocks noChangeAspect="1"/>
          </p:cNvPicPr>
          <p:nvPr/>
        </p:nvPicPr>
        <p:blipFill>
          <a:blip r:embed="rId2"/>
          <a:stretch>
            <a:fillRect/>
          </a:stretch>
        </p:blipFill>
        <p:spPr>
          <a:xfrm>
            <a:off x="413410" y="3561685"/>
            <a:ext cx="4360263" cy="2191283"/>
          </a:xfrm>
          <a:prstGeom prst="rect">
            <a:avLst/>
          </a:prstGeom>
        </p:spPr>
      </p:pic>
      <p:pic>
        <p:nvPicPr>
          <p:cNvPr id="5" name="Picture 4"/>
          <p:cNvPicPr>
            <a:picLocks noChangeAspect="1"/>
          </p:cNvPicPr>
          <p:nvPr/>
        </p:nvPicPr>
        <p:blipFill>
          <a:blip r:embed="rId3"/>
          <a:stretch>
            <a:fillRect/>
          </a:stretch>
        </p:blipFill>
        <p:spPr>
          <a:xfrm>
            <a:off x="6500849" y="801384"/>
            <a:ext cx="4036936" cy="2101065"/>
          </a:xfrm>
          <a:prstGeom prst="rect">
            <a:avLst/>
          </a:prstGeom>
        </p:spPr>
      </p:pic>
      <p:sp>
        <p:nvSpPr>
          <p:cNvPr id="6" name="TextBox 5"/>
          <p:cNvSpPr txBox="1"/>
          <p:nvPr/>
        </p:nvSpPr>
        <p:spPr>
          <a:xfrm>
            <a:off x="0" y="667820"/>
            <a:ext cx="6156913" cy="2462213"/>
          </a:xfrm>
          <a:prstGeom prst="rect">
            <a:avLst/>
          </a:prstGeom>
          <a:noFill/>
        </p:spPr>
        <p:txBody>
          <a:bodyPr wrap="square" rtlCol="0">
            <a:spAutoFit/>
          </a:bodyPr>
          <a:lstStyle/>
          <a:p>
            <a:pPr algn="ctr"/>
            <a:r>
              <a:rPr lang="en-AU" sz="2200" dirty="0" smtClean="0"/>
              <a:t>If the distribution is skewed to the right (positively skewed), the ‘tail’ to the right will be longer.</a:t>
            </a:r>
          </a:p>
          <a:p>
            <a:pPr algn="ctr"/>
            <a:r>
              <a:rPr lang="en-AU" sz="2200" dirty="0" smtClean="0"/>
              <a:t>We would expect to see a mean higher than the median as the higher scores drags the mean right.</a:t>
            </a:r>
          </a:p>
          <a:p>
            <a:pPr algn="ctr"/>
            <a:r>
              <a:rPr lang="en-AU" sz="2200" dirty="0" smtClean="0"/>
              <a:t>Mean &gt; median</a:t>
            </a:r>
          </a:p>
          <a:p>
            <a:pPr algn="ctr"/>
            <a:r>
              <a:rPr lang="en-AU" sz="2200" dirty="0" smtClean="0"/>
              <a:t>The boxplot will be longer to the right of the median.</a:t>
            </a:r>
            <a:endParaRPr lang="en-AU" sz="2200" dirty="0"/>
          </a:p>
        </p:txBody>
      </p:sp>
      <p:sp>
        <p:nvSpPr>
          <p:cNvPr id="8" name="TextBox 7"/>
          <p:cNvSpPr txBox="1"/>
          <p:nvPr/>
        </p:nvSpPr>
        <p:spPr>
          <a:xfrm>
            <a:off x="4967555" y="3636137"/>
            <a:ext cx="6036798" cy="2123658"/>
          </a:xfrm>
          <a:prstGeom prst="rect">
            <a:avLst/>
          </a:prstGeom>
          <a:noFill/>
        </p:spPr>
        <p:txBody>
          <a:bodyPr wrap="square" rtlCol="0">
            <a:spAutoFit/>
          </a:bodyPr>
          <a:lstStyle/>
          <a:p>
            <a:pPr algn="ctr"/>
            <a:r>
              <a:rPr lang="en-AU" sz="2200" dirty="0" smtClean="0"/>
              <a:t>If the distribution is skewed to the left (negatively skewed), the ‘tail’ to the left will be longer.</a:t>
            </a:r>
          </a:p>
          <a:p>
            <a:pPr algn="ctr"/>
            <a:r>
              <a:rPr lang="en-AU" sz="2200" dirty="0" smtClean="0"/>
              <a:t>We would expect to see a mean lower than the median as the lower scores drags the mean left.</a:t>
            </a:r>
          </a:p>
          <a:p>
            <a:pPr algn="ctr"/>
            <a:r>
              <a:rPr lang="en-AU" sz="2200" dirty="0" smtClean="0"/>
              <a:t>Mean &lt; median</a:t>
            </a:r>
          </a:p>
          <a:p>
            <a:pPr algn="ctr"/>
            <a:r>
              <a:rPr lang="en-AU" sz="2200" dirty="0" smtClean="0"/>
              <a:t>The boxplot will be longer to the left of the median.</a:t>
            </a:r>
            <a:endParaRPr lang="en-AU" sz="2200" dirty="0"/>
          </a:p>
        </p:txBody>
      </p:sp>
    </p:spTree>
    <p:extLst>
      <p:ext uri="{BB962C8B-B14F-4D97-AF65-F5344CB8AC3E}">
        <p14:creationId xmlns:p14="http://schemas.microsoft.com/office/powerpoint/2010/main" val="41832113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1570182" cy="461665"/>
          </a:xfrm>
          <a:prstGeom prst="rect">
            <a:avLst/>
          </a:prstGeom>
          <a:solidFill>
            <a:srgbClr val="FFFF00"/>
          </a:solidFill>
        </p:spPr>
        <p:txBody>
          <a:bodyPr wrap="square" rtlCol="0">
            <a:spAutoFit/>
          </a:bodyPr>
          <a:lstStyle/>
          <a:p>
            <a:r>
              <a:rPr lang="en-AU" sz="2400" dirty="0" smtClean="0"/>
              <a:t>Example 2</a:t>
            </a:r>
            <a:endParaRPr lang="en-AU" sz="2400" dirty="0"/>
          </a:p>
        </p:txBody>
      </p:sp>
      <p:pic>
        <p:nvPicPr>
          <p:cNvPr id="3" name="Picture 2"/>
          <p:cNvPicPr>
            <a:picLocks noChangeAspect="1"/>
          </p:cNvPicPr>
          <p:nvPr/>
        </p:nvPicPr>
        <p:blipFill>
          <a:blip r:embed="rId2"/>
          <a:stretch>
            <a:fillRect/>
          </a:stretch>
        </p:blipFill>
        <p:spPr>
          <a:xfrm>
            <a:off x="24890" y="3966902"/>
            <a:ext cx="5671524" cy="2613833"/>
          </a:xfrm>
          <a:prstGeom prst="rect">
            <a:avLst/>
          </a:prstGeom>
        </p:spPr>
      </p:pic>
      <p:sp>
        <p:nvSpPr>
          <p:cNvPr id="4" name="TextBox 3"/>
          <p:cNvSpPr txBox="1"/>
          <p:nvPr/>
        </p:nvSpPr>
        <p:spPr>
          <a:xfrm>
            <a:off x="89757" y="555372"/>
            <a:ext cx="5553718" cy="3139321"/>
          </a:xfrm>
          <a:prstGeom prst="rect">
            <a:avLst/>
          </a:prstGeom>
          <a:noFill/>
        </p:spPr>
        <p:txBody>
          <a:bodyPr wrap="square" rtlCol="0">
            <a:spAutoFit/>
          </a:bodyPr>
          <a:lstStyle/>
          <a:p>
            <a:r>
              <a:rPr lang="en-AU" sz="2200" dirty="0" smtClean="0"/>
              <a:t>The employees of a company in Perth CBD were warned that due to accidents and roadworks, their journey home would likely be delayed. They decided to record how long it took each of the employees who drove to work to get home that evening. The histogram shows the distribution of recorded times.</a:t>
            </a:r>
          </a:p>
          <a:p>
            <a:endParaRPr lang="en-AU" sz="2200" dirty="0"/>
          </a:p>
          <a:p>
            <a:r>
              <a:rPr lang="en-AU" sz="2200" dirty="0" smtClean="0"/>
              <a:t>Describe the distribution of scores.</a:t>
            </a:r>
            <a:endParaRPr lang="en-AU" sz="2200" dirty="0"/>
          </a:p>
        </p:txBody>
      </p:sp>
      <p:sp>
        <p:nvSpPr>
          <p:cNvPr id="5" name="TextBox 4"/>
          <p:cNvSpPr txBox="1"/>
          <p:nvPr/>
        </p:nvSpPr>
        <p:spPr>
          <a:xfrm>
            <a:off x="10383769" y="343285"/>
            <a:ext cx="1671726" cy="646331"/>
          </a:xfrm>
          <a:prstGeom prst="rect">
            <a:avLst/>
          </a:prstGeom>
          <a:noFill/>
          <a:ln>
            <a:solidFill>
              <a:schemeClr val="tx1"/>
            </a:solidFill>
          </a:ln>
        </p:spPr>
        <p:txBody>
          <a:bodyPr wrap="square" rtlCol="0">
            <a:spAutoFit/>
          </a:bodyPr>
          <a:lstStyle/>
          <a:p>
            <a:pPr algn="ctr"/>
            <a:r>
              <a:rPr lang="en-AU" dirty="0" smtClean="0"/>
              <a:t>Relevant information</a:t>
            </a:r>
            <a:endParaRPr lang="en-AU" dirty="0"/>
          </a:p>
        </p:txBody>
      </p:sp>
      <p:sp>
        <p:nvSpPr>
          <p:cNvPr id="7" name="TextBox 6"/>
          <p:cNvSpPr txBox="1"/>
          <p:nvPr/>
        </p:nvSpPr>
        <p:spPr>
          <a:xfrm>
            <a:off x="10383769" y="1284160"/>
            <a:ext cx="1671725" cy="923330"/>
          </a:xfrm>
          <a:prstGeom prst="rect">
            <a:avLst/>
          </a:prstGeom>
          <a:noFill/>
          <a:ln>
            <a:solidFill>
              <a:schemeClr val="tx1"/>
            </a:solidFill>
          </a:ln>
        </p:spPr>
        <p:txBody>
          <a:bodyPr wrap="square" rtlCol="0">
            <a:spAutoFit/>
          </a:bodyPr>
          <a:lstStyle/>
          <a:p>
            <a:pPr algn="ctr"/>
            <a:r>
              <a:rPr lang="en-AU" dirty="0" smtClean="0"/>
              <a:t>Comment about location (mean, median)</a:t>
            </a:r>
            <a:endParaRPr lang="en-AU" dirty="0"/>
          </a:p>
        </p:txBody>
      </p:sp>
      <p:sp>
        <p:nvSpPr>
          <p:cNvPr id="8" name="TextBox 7"/>
          <p:cNvSpPr txBox="1"/>
          <p:nvPr/>
        </p:nvSpPr>
        <p:spPr>
          <a:xfrm>
            <a:off x="10383769" y="2453310"/>
            <a:ext cx="1671725" cy="1477328"/>
          </a:xfrm>
          <a:prstGeom prst="rect">
            <a:avLst/>
          </a:prstGeom>
          <a:noFill/>
          <a:ln>
            <a:solidFill>
              <a:schemeClr val="tx1"/>
            </a:solidFill>
          </a:ln>
        </p:spPr>
        <p:txBody>
          <a:bodyPr wrap="square" rtlCol="0">
            <a:spAutoFit/>
          </a:bodyPr>
          <a:lstStyle/>
          <a:p>
            <a:pPr algn="ctr"/>
            <a:r>
              <a:rPr lang="en-AU" dirty="0" smtClean="0"/>
              <a:t>Comment about spread (range, IQ range, standard deviation)</a:t>
            </a:r>
            <a:endParaRPr lang="en-AU" dirty="0"/>
          </a:p>
        </p:txBody>
      </p:sp>
      <p:sp>
        <p:nvSpPr>
          <p:cNvPr id="9" name="TextBox 8"/>
          <p:cNvSpPr txBox="1"/>
          <p:nvPr/>
        </p:nvSpPr>
        <p:spPr>
          <a:xfrm>
            <a:off x="10383769" y="4178854"/>
            <a:ext cx="1671725" cy="1477328"/>
          </a:xfrm>
          <a:prstGeom prst="rect">
            <a:avLst/>
          </a:prstGeom>
          <a:noFill/>
          <a:ln>
            <a:solidFill>
              <a:schemeClr val="tx1"/>
            </a:solidFill>
          </a:ln>
        </p:spPr>
        <p:txBody>
          <a:bodyPr wrap="square" rtlCol="0">
            <a:spAutoFit/>
          </a:bodyPr>
          <a:lstStyle/>
          <a:p>
            <a:pPr algn="ctr"/>
            <a:r>
              <a:rPr lang="en-AU" dirty="0" smtClean="0"/>
              <a:t>Comment on shape (symmetry, modality, skewness)</a:t>
            </a:r>
            <a:endParaRPr lang="en-AU" dirty="0"/>
          </a:p>
        </p:txBody>
      </p:sp>
      <p:sp>
        <p:nvSpPr>
          <p:cNvPr id="10" name="TextBox 9"/>
          <p:cNvSpPr txBox="1"/>
          <p:nvPr/>
        </p:nvSpPr>
        <p:spPr>
          <a:xfrm>
            <a:off x="10383769" y="5902002"/>
            <a:ext cx="1671725" cy="646331"/>
          </a:xfrm>
          <a:prstGeom prst="rect">
            <a:avLst/>
          </a:prstGeom>
          <a:noFill/>
          <a:ln>
            <a:solidFill>
              <a:schemeClr val="tx1"/>
            </a:solidFill>
          </a:ln>
        </p:spPr>
        <p:txBody>
          <a:bodyPr wrap="square" rtlCol="0">
            <a:spAutoFit/>
          </a:bodyPr>
          <a:lstStyle/>
          <a:p>
            <a:pPr algn="ctr"/>
            <a:r>
              <a:rPr lang="en-AU" dirty="0" smtClean="0"/>
              <a:t>Anything else you notice</a:t>
            </a:r>
            <a:endParaRPr lang="en-AU" dirty="0"/>
          </a:p>
        </p:txBody>
      </p:sp>
      <p:sp>
        <p:nvSpPr>
          <p:cNvPr id="6" name="TextBox 5"/>
          <p:cNvSpPr txBox="1"/>
          <p:nvPr/>
        </p:nvSpPr>
        <p:spPr>
          <a:xfrm>
            <a:off x="5851039" y="220175"/>
            <a:ext cx="4252240" cy="769441"/>
          </a:xfrm>
          <a:prstGeom prst="rect">
            <a:avLst/>
          </a:prstGeom>
          <a:noFill/>
        </p:spPr>
        <p:txBody>
          <a:bodyPr wrap="square" rtlCol="0">
            <a:spAutoFit/>
          </a:bodyPr>
          <a:lstStyle/>
          <a:p>
            <a:r>
              <a:rPr lang="en-AU" sz="2200" b="1" dirty="0" smtClean="0">
                <a:latin typeface="Bradley Hand ITC" panose="03070402050302030203" pitchFamily="66" charset="0"/>
              </a:rPr>
              <a:t>129 employees recorded the time of their journeys home.</a:t>
            </a:r>
            <a:endParaRPr lang="en-AU" sz="2200" b="1" dirty="0">
              <a:latin typeface="Bradley Hand ITC" panose="03070402050302030203" pitchFamily="66" charset="0"/>
            </a:endParaRPr>
          </a:p>
        </p:txBody>
      </p:sp>
      <p:sp>
        <p:nvSpPr>
          <p:cNvPr id="12" name="TextBox 11"/>
          <p:cNvSpPr txBox="1"/>
          <p:nvPr/>
        </p:nvSpPr>
        <p:spPr>
          <a:xfrm>
            <a:off x="5851039" y="1073802"/>
            <a:ext cx="4252240" cy="1107996"/>
          </a:xfrm>
          <a:prstGeom prst="rect">
            <a:avLst/>
          </a:prstGeom>
          <a:noFill/>
        </p:spPr>
        <p:txBody>
          <a:bodyPr wrap="square" rtlCol="0">
            <a:spAutoFit/>
          </a:bodyPr>
          <a:lstStyle/>
          <a:p>
            <a:r>
              <a:rPr lang="en-AU" sz="2200" b="1" dirty="0" smtClean="0">
                <a:latin typeface="Bradley Hand ITC" panose="03070402050302030203" pitchFamily="66" charset="0"/>
              </a:rPr>
              <a:t>The estimated mean time was 37.6 minutes. The median time was between 25 to 35 minutes</a:t>
            </a:r>
            <a:endParaRPr lang="en-AU" sz="2200" b="1" dirty="0">
              <a:latin typeface="Bradley Hand ITC" panose="03070402050302030203" pitchFamily="66" charset="0"/>
            </a:endParaRPr>
          </a:p>
        </p:txBody>
      </p:sp>
      <p:sp>
        <p:nvSpPr>
          <p:cNvPr id="13" name="TextBox 12"/>
          <p:cNvSpPr txBox="1"/>
          <p:nvPr/>
        </p:nvSpPr>
        <p:spPr>
          <a:xfrm>
            <a:off x="5843849" y="2181798"/>
            <a:ext cx="4252240" cy="1785104"/>
          </a:xfrm>
          <a:prstGeom prst="rect">
            <a:avLst/>
          </a:prstGeom>
          <a:noFill/>
        </p:spPr>
        <p:txBody>
          <a:bodyPr wrap="square" rtlCol="0">
            <a:spAutoFit/>
          </a:bodyPr>
          <a:lstStyle/>
          <a:p>
            <a:r>
              <a:rPr lang="en-AU" sz="2200" b="1" dirty="0" smtClean="0">
                <a:latin typeface="Bradley Hand ITC" panose="03070402050302030203" pitchFamily="66" charset="0"/>
              </a:rPr>
              <a:t>The times were spread from about 5 to 105 minutes; a range of approximately 100 minutes. An estimate for the standard deviation is 23.4 minutes.</a:t>
            </a:r>
            <a:endParaRPr lang="en-AU" sz="2200" b="1" dirty="0">
              <a:latin typeface="Bradley Hand ITC" panose="03070402050302030203" pitchFamily="66" charset="0"/>
            </a:endParaRPr>
          </a:p>
        </p:txBody>
      </p:sp>
      <p:sp>
        <p:nvSpPr>
          <p:cNvPr id="15" name="TextBox 14"/>
          <p:cNvSpPr txBox="1"/>
          <p:nvPr/>
        </p:nvSpPr>
        <p:spPr>
          <a:xfrm>
            <a:off x="5836659" y="3966902"/>
            <a:ext cx="4252240" cy="1446550"/>
          </a:xfrm>
          <a:prstGeom prst="rect">
            <a:avLst/>
          </a:prstGeom>
          <a:noFill/>
        </p:spPr>
        <p:txBody>
          <a:bodyPr wrap="square" rtlCol="0">
            <a:spAutoFit/>
          </a:bodyPr>
          <a:lstStyle/>
          <a:p>
            <a:r>
              <a:rPr lang="en-AU" sz="2200" b="1" dirty="0" smtClean="0">
                <a:latin typeface="Bradley Hand ITC" panose="03070402050302030203" pitchFamily="66" charset="0"/>
              </a:rPr>
              <a:t>The modal class was 15 to 25 minutes. The long tail to the right shows that the distribution is positively skewed.</a:t>
            </a:r>
            <a:endParaRPr lang="en-AU" sz="2200" b="1" dirty="0">
              <a:latin typeface="Bradley Hand ITC" panose="03070402050302030203" pitchFamily="66" charset="0"/>
            </a:endParaRPr>
          </a:p>
        </p:txBody>
      </p:sp>
      <p:sp>
        <p:nvSpPr>
          <p:cNvPr id="16" name="TextBox 15"/>
          <p:cNvSpPr txBox="1"/>
          <p:nvPr/>
        </p:nvSpPr>
        <p:spPr>
          <a:xfrm>
            <a:off x="5836659" y="5347852"/>
            <a:ext cx="4252240" cy="1446550"/>
          </a:xfrm>
          <a:prstGeom prst="rect">
            <a:avLst/>
          </a:prstGeom>
          <a:noFill/>
        </p:spPr>
        <p:txBody>
          <a:bodyPr wrap="square" rtlCol="0">
            <a:spAutoFit/>
          </a:bodyPr>
          <a:lstStyle/>
          <a:p>
            <a:r>
              <a:rPr lang="en-AU" sz="2200" b="1" dirty="0" smtClean="0">
                <a:latin typeface="Bradley Hand ITC" panose="03070402050302030203" pitchFamily="66" charset="0"/>
              </a:rPr>
              <a:t>Although the range was about 100 minutes, over half of the employees took between 5 and 35 minutes to get home.</a:t>
            </a:r>
            <a:endParaRPr lang="en-AU" sz="2200" b="1" dirty="0">
              <a:latin typeface="Bradley Hand ITC" panose="03070402050302030203" pitchFamily="66" charset="0"/>
            </a:endParaRPr>
          </a:p>
        </p:txBody>
      </p:sp>
    </p:spTree>
    <p:extLst>
      <p:ext uri="{BB962C8B-B14F-4D97-AF65-F5344CB8AC3E}">
        <p14:creationId xmlns:p14="http://schemas.microsoft.com/office/powerpoint/2010/main" val="57946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3"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1570182" cy="461665"/>
          </a:xfrm>
          <a:prstGeom prst="rect">
            <a:avLst/>
          </a:prstGeom>
          <a:solidFill>
            <a:srgbClr val="FFFF00"/>
          </a:solidFill>
        </p:spPr>
        <p:txBody>
          <a:bodyPr wrap="square" rtlCol="0">
            <a:spAutoFit/>
          </a:bodyPr>
          <a:lstStyle/>
          <a:p>
            <a:r>
              <a:rPr lang="en-AU" sz="2400" dirty="0" smtClean="0"/>
              <a:t>Example 2</a:t>
            </a:r>
            <a:endParaRPr lang="en-AU" sz="2400" dirty="0"/>
          </a:p>
        </p:txBody>
      </p:sp>
      <p:sp>
        <p:nvSpPr>
          <p:cNvPr id="4" name="TextBox 3"/>
          <p:cNvSpPr txBox="1"/>
          <p:nvPr/>
        </p:nvSpPr>
        <p:spPr>
          <a:xfrm>
            <a:off x="89757" y="555372"/>
            <a:ext cx="5553718" cy="1107996"/>
          </a:xfrm>
          <a:prstGeom prst="rect">
            <a:avLst/>
          </a:prstGeom>
          <a:noFill/>
        </p:spPr>
        <p:txBody>
          <a:bodyPr wrap="square" rtlCol="0">
            <a:spAutoFit/>
          </a:bodyPr>
          <a:lstStyle/>
          <a:p>
            <a:r>
              <a:rPr lang="en-AU" sz="2200" dirty="0" smtClean="0"/>
              <a:t>Compare the distributions shown in the two box plots (data set A and data set B).</a:t>
            </a:r>
          </a:p>
          <a:p>
            <a:endParaRPr lang="en-AU" sz="2200" dirty="0"/>
          </a:p>
        </p:txBody>
      </p:sp>
      <p:sp>
        <p:nvSpPr>
          <p:cNvPr id="5" name="TextBox 4"/>
          <p:cNvSpPr txBox="1"/>
          <p:nvPr/>
        </p:nvSpPr>
        <p:spPr>
          <a:xfrm>
            <a:off x="10383769" y="343285"/>
            <a:ext cx="1671726" cy="646331"/>
          </a:xfrm>
          <a:prstGeom prst="rect">
            <a:avLst/>
          </a:prstGeom>
          <a:noFill/>
          <a:ln>
            <a:solidFill>
              <a:schemeClr val="tx1"/>
            </a:solidFill>
          </a:ln>
        </p:spPr>
        <p:txBody>
          <a:bodyPr wrap="square" rtlCol="0">
            <a:spAutoFit/>
          </a:bodyPr>
          <a:lstStyle/>
          <a:p>
            <a:pPr algn="ctr"/>
            <a:r>
              <a:rPr lang="en-AU" dirty="0" smtClean="0"/>
              <a:t>Relevant information</a:t>
            </a:r>
            <a:endParaRPr lang="en-AU" dirty="0"/>
          </a:p>
        </p:txBody>
      </p:sp>
      <p:sp>
        <p:nvSpPr>
          <p:cNvPr id="7" name="TextBox 6"/>
          <p:cNvSpPr txBox="1"/>
          <p:nvPr/>
        </p:nvSpPr>
        <p:spPr>
          <a:xfrm>
            <a:off x="10383769" y="1284160"/>
            <a:ext cx="1671725" cy="923330"/>
          </a:xfrm>
          <a:prstGeom prst="rect">
            <a:avLst/>
          </a:prstGeom>
          <a:noFill/>
          <a:ln>
            <a:solidFill>
              <a:schemeClr val="tx1"/>
            </a:solidFill>
          </a:ln>
        </p:spPr>
        <p:txBody>
          <a:bodyPr wrap="square" rtlCol="0">
            <a:spAutoFit/>
          </a:bodyPr>
          <a:lstStyle/>
          <a:p>
            <a:pPr algn="ctr"/>
            <a:r>
              <a:rPr lang="en-AU" dirty="0" smtClean="0"/>
              <a:t>Comment about location (mean, median)</a:t>
            </a:r>
            <a:endParaRPr lang="en-AU" dirty="0"/>
          </a:p>
        </p:txBody>
      </p:sp>
      <p:sp>
        <p:nvSpPr>
          <p:cNvPr id="8" name="TextBox 7"/>
          <p:cNvSpPr txBox="1"/>
          <p:nvPr/>
        </p:nvSpPr>
        <p:spPr>
          <a:xfrm>
            <a:off x="10383769" y="2453310"/>
            <a:ext cx="1671725" cy="1477328"/>
          </a:xfrm>
          <a:prstGeom prst="rect">
            <a:avLst/>
          </a:prstGeom>
          <a:noFill/>
          <a:ln>
            <a:solidFill>
              <a:schemeClr val="tx1"/>
            </a:solidFill>
          </a:ln>
        </p:spPr>
        <p:txBody>
          <a:bodyPr wrap="square" rtlCol="0">
            <a:spAutoFit/>
          </a:bodyPr>
          <a:lstStyle/>
          <a:p>
            <a:pPr algn="ctr"/>
            <a:r>
              <a:rPr lang="en-AU" dirty="0" smtClean="0"/>
              <a:t>Comment about spread (range, IQ range, standard deviation)</a:t>
            </a:r>
            <a:endParaRPr lang="en-AU" dirty="0"/>
          </a:p>
        </p:txBody>
      </p:sp>
      <p:sp>
        <p:nvSpPr>
          <p:cNvPr id="9" name="TextBox 8"/>
          <p:cNvSpPr txBox="1"/>
          <p:nvPr/>
        </p:nvSpPr>
        <p:spPr>
          <a:xfrm>
            <a:off x="10383769" y="4178854"/>
            <a:ext cx="1671725" cy="1477328"/>
          </a:xfrm>
          <a:prstGeom prst="rect">
            <a:avLst/>
          </a:prstGeom>
          <a:noFill/>
          <a:ln>
            <a:solidFill>
              <a:schemeClr val="tx1"/>
            </a:solidFill>
          </a:ln>
        </p:spPr>
        <p:txBody>
          <a:bodyPr wrap="square" rtlCol="0">
            <a:spAutoFit/>
          </a:bodyPr>
          <a:lstStyle/>
          <a:p>
            <a:pPr algn="ctr"/>
            <a:r>
              <a:rPr lang="en-AU" dirty="0" smtClean="0"/>
              <a:t>Comment on shape (symmetry, modality, skewness)</a:t>
            </a:r>
            <a:endParaRPr lang="en-AU" dirty="0"/>
          </a:p>
        </p:txBody>
      </p:sp>
      <p:sp>
        <p:nvSpPr>
          <p:cNvPr id="10" name="TextBox 9"/>
          <p:cNvSpPr txBox="1"/>
          <p:nvPr/>
        </p:nvSpPr>
        <p:spPr>
          <a:xfrm>
            <a:off x="10383769" y="5902002"/>
            <a:ext cx="1671725" cy="646331"/>
          </a:xfrm>
          <a:prstGeom prst="rect">
            <a:avLst/>
          </a:prstGeom>
          <a:noFill/>
          <a:ln>
            <a:solidFill>
              <a:schemeClr val="tx1"/>
            </a:solidFill>
          </a:ln>
        </p:spPr>
        <p:txBody>
          <a:bodyPr wrap="square" rtlCol="0">
            <a:spAutoFit/>
          </a:bodyPr>
          <a:lstStyle/>
          <a:p>
            <a:pPr algn="ctr"/>
            <a:r>
              <a:rPr lang="en-AU" dirty="0" smtClean="0"/>
              <a:t>Anything else you notice</a:t>
            </a:r>
            <a:endParaRPr lang="en-AU" dirty="0"/>
          </a:p>
        </p:txBody>
      </p:sp>
      <p:sp>
        <p:nvSpPr>
          <p:cNvPr id="12" name="TextBox 11"/>
          <p:cNvSpPr txBox="1"/>
          <p:nvPr/>
        </p:nvSpPr>
        <p:spPr>
          <a:xfrm>
            <a:off x="5516975" y="474276"/>
            <a:ext cx="4759502" cy="2123658"/>
          </a:xfrm>
          <a:prstGeom prst="rect">
            <a:avLst/>
          </a:prstGeom>
          <a:noFill/>
        </p:spPr>
        <p:txBody>
          <a:bodyPr wrap="square" rtlCol="0">
            <a:spAutoFit/>
          </a:bodyPr>
          <a:lstStyle/>
          <a:p>
            <a:r>
              <a:rPr lang="en-AU" sz="2200" b="1" dirty="0" smtClean="0">
                <a:latin typeface="Bradley Hand ITC" panose="03070402050302030203" pitchFamily="66" charset="0"/>
              </a:rPr>
              <a:t>The median for data set B, 36, is much higher than the median for data set A, which is 24.</a:t>
            </a:r>
          </a:p>
          <a:p>
            <a:r>
              <a:rPr lang="en-AU" sz="2200" b="1" dirty="0" smtClean="0">
                <a:latin typeface="Bradley Hand ITC" panose="03070402050302030203" pitchFamily="66" charset="0"/>
              </a:rPr>
              <a:t>Both data sets have the same lowest score, 8 , but set B has a larger highest score of 45, compared to 40 for set A.</a:t>
            </a:r>
            <a:endParaRPr lang="en-AU" sz="2200" b="1" dirty="0">
              <a:latin typeface="Bradley Hand ITC" panose="03070402050302030203" pitchFamily="66" charset="0"/>
            </a:endParaRPr>
          </a:p>
        </p:txBody>
      </p:sp>
      <p:sp>
        <p:nvSpPr>
          <p:cNvPr id="13" name="TextBox 12"/>
          <p:cNvSpPr txBox="1"/>
          <p:nvPr/>
        </p:nvSpPr>
        <p:spPr>
          <a:xfrm>
            <a:off x="5516975" y="2597934"/>
            <a:ext cx="4661587" cy="1107996"/>
          </a:xfrm>
          <a:prstGeom prst="rect">
            <a:avLst/>
          </a:prstGeom>
          <a:noFill/>
        </p:spPr>
        <p:txBody>
          <a:bodyPr wrap="square" rtlCol="0">
            <a:spAutoFit/>
          </a:bodyPr>
          <a:lstStyle/>
          <a:p>
            <a:r>
              <a:rPr lang="en-AU" sz="2200" b="1" dirty="0" smtClean="0">
                <a:latin typeface="Bradley Hand ITC" panose="03070402050302030203" pitchFamily="66" charset="0"/>
              </a:rPr>
              <a:t>Data set B has a range of 37 compared to 32 for set A. Both sets have the same interquartile range, 16.</a:t>
            </a:r>
            <a:endParaRPr lang="en-AU" sz="2200" b="1" dirty="0">
              <a:latin typeface="Bradley Hand ITC" panose="03070402050302030203" pitchFamily="66" charset="0"/>
            </a:endParaRPr>
          </a:p>
        </p:txBody>
      </p:sp>
      <p:sp>
        <p:nvSpPr>
          <p:cNvPr id="15" name="TextBox 14"/>
          <p:cNvSpPr txBox="1"/>
          <p:nvPr/>
        </p:nvSpPr>
        <p:spPr>
          <a:xfrm>
            <a:off x="3837114" y="3685858"/>
            <a:ext cx="6144493" cy="1785104"/>
          </a:xfrm>
          <a:prstGeom prst="rect">
            <a:avLst/>
          </a:prstGeom>
          <a:noFill/>
        </p:spPr>
        <p:txBody>
          <a:bodyPr wrap="square" rtlCol="0">
            <a:spAutoFit/>
          </a:bodyPr>
          <a:lstStyle/>
          <a:p>
            <a:r>
              <a:rPr lang="en-AU" sz="2200" b="1" dirty="0" smtClean="0">
                <a:latin typeface="Bradley Hand ITC" panose="03070402050302030203" pitchFamily="66" charset="0"/>
              </a:rPr>
              <a:t>The box plot for set A is symmetrical with each quartile spanning 8 marks.</a:t>
            </a:r>
          </a:p>
          <a:p>
            <a:r>
              <a:rPr lang="en-AU" sz="2200" b="1" dirty="0" smtClean="0">
                <a:latin typeface="Bradley Hand ITC" panose="03070402050302030203" pitchFamily="66" charset="0"/>
              </a:rPr>
              <a:t>Set B has a longer left whisker and the greater part of the box is to the left of the median, suggesting the set B marks are negatively skewed.</a:t>
            </a:r>
          </a:p>
        </p:txBody>
      </p:sp>
      <p:sp>
        <p:nvSpPr>
          <p:cNvPr id="16" name="TextBox 15"/>
          <p:cNvSpPr txBox="1"/>
          <p:nvPr/>
        </p:nvSpPr>
        <p:spPr>
          <a:xfrm>
            <a:off x="3837114" y="5347852"/>
            <a:ext cx="6251785" cy="1446550"/>
          </a:xfrm>
          <a:prstGeom prst="rect">
            <a:avLst/>
          </a:prstGeom>
          <a:noFill/>
        </p:spPr>
        <p:txBody>
          <a:bodyPr wrap="square" rtlCol="0">
            <a:spAutoFit/>
          </a:bodyPr>
          <a:lstStyle/>
          <a:p>
            <a:r>
              <a:rPr lang="en-AU" sz="2200" b="1" dirty="0" smtClean="0">
                <a:latin typeface="Bradley Hand ITC" panose="03070402050302030203" pitchFamily="66" charset="0"/>
              </a:rPr>
              <a:t>The median score in set A is the same as the lower quartile score in set B. </a:t>
            </a:r>
          </a:p>
          <a:p>
            <a:r>
              <a:rPr lang="en-AU" sz="2200" b="1" dirty="0" smtClean="0">
                <a:latin typeface="Bradley Hand ITC" panose="03070402050302030203" pitchFamily="66" charset="0"/>
              </a:rPr>
              <a:t>The top 25% of marks in set B exceed the maximum mark from set A.</a:t>
            </a:r>
            <a:endParaRPr lang="en-AU" sz="2200" b="1" dirty="0">
              <a:latin typeface="Bradley Hand ITC" panose="03070402050302030203" pitchFamily="66" charset="0"/>
            </a:endParaRPr>
          </a:p>
        </p:txBody>
      </p:sp>
      <p:pic>
        <p:nvPicPr>
          <p:cNvPr id="17" name="Picture 16"/>
          <p:cNvPicPr>
            <a:picLocks noChangeAspect="1"/>
          </p:cNvPicPr>
          <p:nvPr/>
        </p:nvPicPr>
        <p:blipFill>
          <a:blip r:embed="rId2"/>
          <a:stretch>
            <a:fillRect/>
          </a:stretch>
        </p:blipFill>
        <p:spPr>
          <a:xfrm>
            <a:off x="140246" y="1823610"/>
            <a:ext cx="5190730" cy="1124766"/>
          </a:xfrm>
          <a:prstGeom prst="rect">
            <a:avLst/>
          </a:prstGeom>
        </p:spPr>
      </p:pic>
      <p:sp>
        <p:nvSpPr>
          <p:cNvPr id="19" name="TextBox 18"/>
          <p:cNvSpPr txBox="1"/>
          <p:nvPr/>
        </p:nvSpPr>
        <p:spPr>
          <a:xfrm>
            <a:off x="2510392" y="13586"/>
            <a:ext cx="2653443" cy="461665"/>
          </a:xfrm>
          <a:prstGeom prst="rect">
            <a:avLst/>
          </a:prstGeom>
          <a:solidFill>
            <a:srgbClr val="FFFF00"/>
          </a:solidFill>
        </p:spPr>
        <p:txBody>
          <a:bodyPr wrap="square" rtlCol="0">
            <a:spAutoFit/>
          </a:bodyPr>
          <a:lstStyle/>
          <a:p>
            <a:r>
              <a:rPr lang="en-AU" sz="2400" dirty="0" smtClean="0"/>
              <a:t>Now do exercise 4B</a:t>
            </a:r>
            <a:endParaRPr lang="en-AU" sz="2400" dirty="0"/>
          </a:p>
        </p:txBody>
      </p:sp>
    </p:spTree>
    <p:extLst>
      <p:ext uri="{BB962C8B-B14F-4D97-AF65-F5344CB8AC3E}">
        <p14:creationId xmlns:p14="http://schemas.microsoft.com/office/powerpoint/2010/main" val="53447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16" grpId="0"/>
      <p:bldP spid="1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1011</Words>
  <Application>Microsoft Office PowerPoint</Application>
  <PresentationFormat>Widescreen</PresentationFormat>
  <Paragraphs>87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Bradley Hand ITC</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LEVITT Megan [Harrisdale Senior High School]</cp:lastModifiedBy>
  <cp:revision>46</cp:revision>
  <dcterms:created xsi:type="dcterms:W3CDTF">2020-12-09T06:24:59Z</dcterms:created>
  <dcterms:modified xsi:type="dcterms:W3CDTF">2021-06-24T01:05:41Z</dcterms:modified>
</cp:coreProperties>
</file>
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5" r:id="rId3"/>
    <p:sldId id="267" r:id="rId4"/>
    <p:sldId id="268" r:id="rId5"/>
    <p:sldId id="259" r:id="rId6"/>
    <p:sldId id="260" r:id="rId7"/>
    <p:sldId id="269" r:id="rId8"/>
    <p:sldId id="261" r:id="rId9"/>
    <p:sldId id="27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5" autoAdjust="0"/>
    <p:restoredTop sz="94660"/>
  </p:normalViewPr>
  <p:slideViewPr>
    <p:cSldViewPr snapToGrid="0">
      <p:cViewPr>
        <p:scale>
          <a:sx n="75" d="100"/>
          <a:sy n="75" d="100"/>
        </p:scale>
        <p:origin x="429" y="3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22/06/2021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635332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22/06/2021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6142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10A132-FF45-4605-9BB8-80702934D916}" type="datetimeFigureOut">
              <a:rPr lang="en-AU" smtClean="0"/>
              <a:t>22/06/2021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519000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E10A132-FF45-4605-9BB8-80702934D916}" type="datetimeFigureOut">
              <a:rPr lang="en-AU" smtClean="0"/>
              <a:t>22/06/2021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2126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E10A132-FF45-4605-9BB8-80702934D916}" type="datetimeFigureOut">
              <a:rPr lang="en-AU" smtClean="0"/>
              <a:t>22/06/2021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3806612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E10A132-FF45-4605-9BB8-80702934D916}" type="datetimeFigureOut">
              <a:rPr lang="en-AU" smtClean="0"/>
              <a:t>22/06/2021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16967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0A132-FF45-4605-9BB8-80702934D916}" type="datetimeFigureOut">
              <a:rPr lang="en-AU" smtClean="0"/>
              <a:t>22/06/2021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2740264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22/06/2021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18241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22/06/2021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426928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22/06/2021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49306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22/06/2021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4010192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10A132-FF45-4605-9BB8-80702934D916}" type="datetimeFigureOut">
              <a:rPr lang="en-AU" smtClean="0"/>
              <a:t>22/06/2021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DE3931-47A2-415E-8FB2-549750A36BAE}" type="slidenum">
              <a:rPr lang="en-AU" smtClean="0"/>
              <a:t>‹#›</a:t>
            </a:fld>
            <a:endParaRPr lang="en-AU"/>
          </a:p>
        </p:txBody>
      </p:sp>
    </p:spTree>
    <p:extLst>
      <p:ext uri="{BB962C8B-B14F-4D97-AF65-F5344CB8AC3E}">
        <p14:creationId xmlns:p14="http://schemas.microsoft.com/office/powerpoint/2010/main" val="186218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extLst/>
          </p:nvPr>
        </p:nvGraphicFramePr>
        <p:xfrm>
          <a:off x="7025640" y="0"/>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median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Order the numbers from smallest to largest.</a:t>
                      </a:r>
                    </a:p>
                    <a:p>
                      <a:r>
                        <a:rPr lang="en-AU" dirty="0" smtClean="0"/>
                        <a:t>Step 2: Find the middle number.</a:t>
                      </a:r>
                      <a:endParaRPr lang="en-AU" baseline="30000" dirty="0" smtClean="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nvPr>
        </p:nvGraphicFramePr>
        <p:xfrm>
          <a:off x="7030720" y="110777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lower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bottom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2" name="Table 11"/>
          <p:cNvGraphicFramePr>
            <a:graphicFrameLocks noGrp="1"/>
          </p:cNvGraphicFramePr>
          <p:nvPr>
            <p:extLst/>
          </p:nvPr>
        </p:nvGraphicFramePr>
        <p:xfrm>
          <a:off x="7035800" y="227109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upper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top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sp>
        <p:nvSpPr>
          <p:cNvPr id="13" name="TextBox 12"/>
          <p:cNvSpPr txBox="1"/>
          <p:nvPr/>
        </p:nvSpPr>
        <p:spPr>
          <a:xfrm>
            <a:off x="7620000" y="3530150"/>
            <a:ext cx="4358640" cy="1200329"/>
          </a:xfrm>
          <a:prstGeom prst="rect">
            <a:avLst/>
          </a:prstGeom>
          <a:solidFill>
            <a:srgbClr val="FFFF00"/>
          </a:solidFill>
          <a:ln>
            <a:solidFill>
              <a:schemeClr val="tx1"/>
            </a:solidFill>
          </a:ln>
        </p:spPr>
        <p:txBody>
          <a:bodyPr wrap="square" rtlCol="0">
            <a:spAutoFit/>
          </a:bodyPr>
          <a:lstStyle/>
          <a:p>
            <a:pPr algn="ctr"/>
            <a:r>
              <a:rPr lang="en-AU" b="1" dirty="0" smtClean="0"/>
              <a:t>If the median is one of the values, don’t include it in the lower/upper half.</a:t>
            </a:r>
          </a:p>
          <a:p>
            <a:pPr algn="ctr"/>
            <a:r>
              <a:rPr lang="en-AU" b="1" dirty="0" smtClean="0"/>
              <a:t>If the median is between two values, include it in the lower/upper half.</a:t>
            </a:r>
            <a:endParaRPr lang="en-AU" b="1" dirty="0"/>
          </a:p>
        </p:txBody>
      </p:sp>
      <p:sp>
        <p:nvSpPr>
          <p:cNvPr id="15" name="TextBox 14"/>
          <p:cNvSpPr txBox="1"/>
          <p:nvPr/>
        </p:nvSpPr>
        <p:spPr>
          <a:xfrm>
            <a:off x="198120" y="797560"/>
            <a:ext cx="6487160" cy="2123658"/>
          </a:xfrm>
          <a:prstGeom prst="rect">
            <a:avLst/>
          </a:prstGeom>
          <a:noFill/>
        </p:spPr>
        <p:txBody>
          <a:bodyPr wrap="square" rtlCol="0">
            <a:spAutoFit/>
          </a:bodyPr>
          <a:lstStyle/>
          <a:p>
            <a:r>
              <a:rPr lang="en-AU" sz="2400" dirty="0" smtClean="0"/>
              <a:t>Find the median, lower quartile and upper quartile of the following data set:</a:t>
            </a:r>
          </a:p>
          <a:p>
            <a:r>
              <a:rPr lang="en-AU" sz="2800" b="1" dirty="0" smtClean="0"/>
              <a:t>13, 15, 13, 11, 16, 13, 12, 15</a:t>
            </a:r>
          </a:p>
          <a:p>
            <a:endParaRPr lang="en-AU" sz="2800" b="1" dirty="0"/>
          </a:p>
          <a:p>
            <a:r>
              <a:rPr lang="en-AU" sz="2800" b="1" dirty="0" smtClean="0"/>
              <a:t>11, 12, 13, 13, 13, 15, 15, 16</a:t>
            </a:r>
            <a:endParaRPr lang="en-AU" sz="2800" b="1" dirty="0"/>
          </a:p>
        </p:txBody>
      </p:sp>
      <p:cxnSp>
        <p:nvCxnSpPr>
          <p:cNvPr id="16" name="Straight Arrow Connector 15">
            <a:extLst>
              <a:ext uri="{FF2B5EF4-FFF2-40B4-BE49-F238E27FC236}">
                <a16:creationId xmlns:a16="http://schemas.microsoft.com/office/drawing/2014/main" id="{007A0B51-37CB-41A7-A11F-14650D24B314}"/>
              </a:ext>
            </a:extLst>
          </p:cNvPr>
          <p:cNvCxnSpPr>
            <a:cxnSpLocks/>
          </p:cNvCxnSpPr>
          <p:nvPr/>
        </p:nvCxnSpPr>
        <p:spPr>
          <a:xfrm>
            <a:off x="2373036" y="2224824"/>
            <a:ext cx="0" cy="2852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87960" y="3395979"/>
            <a:ext cx="4541520" cy="461665"/>
          </a:xfrm>
          <a:prstGeom prst="rect">
            <a:avLst/>
          </a:prstGeom>
          <a:noFill/>
        </p:spPr>
        <p:txBody>
          <a:bodyPr wrap="square" rtlCol="0">
            <a:spAutoFit/>
          </a:bodyPr>
          <a:lstStyle/>
          <a:p>
            <a:r>
              <a:rPr lang="en-AU" sz="2400" dirty="0" smtClean="0"/>
              <a:t>Median = 13</a:t>
            </a:r>
            <a:endParaRPr lang="en-AU" sz="2400" dirty="0"/>
          </a:p>
        </p:txBody>
      </p:sp>
      <p:cxnSp>
        <p:nvCxnSpPr>
          <p:cNvPr id="18" name="Straight Connector 17"/>
          <p:cNvCxnSpPr/>
          <p:nvPr/>
        </p:nvCxnSpPr>
        <p:spPr>
          <a:xfrm>
            <a:off x="335280" y="2921218"/>
            <a:ext cx="1905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07A0B51-37CB-41A7-A11F-14650D24B314}"/>
              </a:ext>
            </a:extLst>
          </p:cNvPr>
          <p:cNvCxnSpPr>
            <a:cxnSpLocks/>
          </p:cNvCxnSpPr>
          <p:nvPr/>
        </p:nvCxnSpPr>
        <p:spPr>
          <a:xfrm>
            <a:off x="1290320" y="2224824"/>
            <a:ext cx="0" cy="2852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87960" y="3807149"/>
            <a:ext cx="4541520" cy="461665"/>
          </a:xfrm>
          <a:prstGeom prst="rect">
            <a:avLst/>
          </a:prstGeom>
          <a:noFill/>
        </p:spPr>
        <p:txBody>
          <a:bodyPr wrap="square" rtlCol="0">
            <a:spAutoFit/>
          </a:bodyPr>
          <a:lstStyle/>
          <a:p>
            <a:r>
              <a:rPr lang="en-AU" sz="2400" dirty="0" smtClean="0"/>
              <a:t>Lower quartile = 12.5</a:t>
            </a:r>
            <a:endParaRPr lang="en-AU" sz="2400" dirty="0"/>
          </a:p>
        </p:txBody>
      </p:sp>
      <p:cxnSp>
        <p:nvCxnSpPr>
          <p:cNvPr id="22" name="Straight Connector 21"/>
          <p:cNvCxnSpPr/>
          <p:nvPr/>
        </p:nvCxnSpPr>
        <p:spPr>
          <a:xfrm>
            <a:off x="2458720" y="2916138"/>
            <a:ext cx="1925320" cy="508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07A0B51-37CB-41A7-A11F-14650D24B314}"/>
              </a:ext>
            </a:extLst>
          </p:cNvPr>
          <p:cNvCxnSpPr>
            <a:cxnSpLocks/>
          </p:cNvCxnSpPr>
          <p:nvPr/>
        </p:nvCxnSpPr>
        <p:spPr>
          <a:xfrm>
            <a:off x="3429000" y="2224824"/>
            <a:ext cx="0" cy="2852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87960" y="4268814"/>
            <a:ext cx="4541520" cy="461665"/>
          </a:xfrm>
          <a:prstGeom prst="rect">
            <a:avLst/>
          </a:prstGeom>
          <a:noFill/>
        </p:spPr>
        <p:txBody>
          <a:bodyPr wrap="square" rtlCol="0">
            <a:spAutoFit/>
          </a:bodyPr>
          <a:lstStyle/>
          <a:p>
            <a:r>
              <a:rPr lang="en-AU" sz="2400" dirty="0" smtClean="0"/>
              <a:t>Upper quartile = 15</a:t>
            </a:r>
            <a:endParaRPr lang="en-AU" sz="2400" dirty="0"/>
          </a:p>
        </p:txBody>
      </p:sp>
      <p:sp>
        <p:nvSpPr>
          <p:cNvPr id="20" name="TextBox 19"/>
          <p:cNvSpPr txBox="1"/>
          <p:nvPr/>
        </p:nvSpPr>
        <p:spPr>
          <a:xfrm>
            <a:off x="1" y="0"/>
            <a:ext cx="2922714" cy="461665"/>
          </a:xfrm>
          <a:prstGeom prst="rect">
            <a:avLst/>
          </a:prstGeom>
          <a:solidFill>
            <a:srgbClr val="FFFF00"/>
          </a:solidFill>
        </p:spPr>
        <p:txBody>
          <a:bodyPr wrap="square" rtlCol="0">
            <a:spAutoFit/>
          </a:bodyPr>
          <a:lstStyle/>
          <a:p>
            <a:r>
              <a:rPr lang="en-AU" sz="2400" dirty="0" smtClean="0"/>
              <a:t>5 Number Summaries</a:t>
            </a:r>
            <a:endParaRPr lang="en-AU" sz="2400" dirty="0"/>
          </a:p>
        </p:txBody>
      </p:sp>
    </p:spTree>
    <p:extLst>
      <p:ext uri="{BB962C8B-B14F-4D97-AF65-F5344CB8AC3E}">
        <p14:creationId xmlns:p14="http://schemas.microsoft.com/office/powerpoint/2010/main" val="625261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nodeType="clickEffect">
                                  <p:stCondLst>
                                    <p:cond delay="0"/>
                                  </p:stCondLst>
                                  <p:childTnLst>
                                    <p:animEffect transition="out" filter="fade">
                                      <p:cBhvr>
                                        <p:cTn id="23" dur="500" tmFilter="0, 0; .2, .5; .8, .5; 1, 0"/>
                                        <p:tgtEl>
                                          <p:spTgt spid="11"/>
                                        </p:tgtEl>
                                      </p:cBhvr>
                                    </p:animEffect>
                                    <p:animScale>
                                      <p:cBhvr>
                                        <p:cTn id="24" dur="250" autoRev="1" fill="hold"/>
                                        <p:tgtEl>
                                          <p:spTgt spid="11"/>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6" presetClass="emph" presetSubtype="0" fill="hold" nodeType="clickEffect">
                                  <p:stCondLst>
                                    <p:cond delay="0"/>
                                  </p:stCondLst>
                                  <p:childTnLst>
                                    <p:animEffect transition="out" filter="fade">
                                      <p:cBhvr>
                                        <p:cTn id="40" dur="500" tmFilter="0, 0; .2, .5; .8, .5; 1, 0"/>
                                        <p:tgtEl>
                                          <p:spTgt spid="12"/>
                                        </p:tgtEl>
                                      </p:cBhvr>
                                    </p:animEffect>
                                    <p:animScale>
                                      <p:cBhvr>
                                        <p:cTn id="41" dur="250" autoRev="1" fill="hold"/>
                                        <p:tgtEl>
                                          <p:spTgt spid="12"/>
                                        </p:tgtEl>
                                      </p:cBhvr>
                                      <p:by x="105000" y="105000"/>
                                    </p:animScale>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2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extLst/>
          </p:nvPr>
        </p:nvGraphicFramePr>
        <p:xfrm>
          <a:off x="7025640" y="0"/>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median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Order the numbers from smallest to largest.</a:t>
                      </a:r>
                    </a:p>
                    <a:p>
                      <a:r>
                        <a:rPr lang="en-AU" dirty="0" smtClean="0"/>
                        <a:t>Step 2: Find the middle number.</a:t>
                      </a:r>
                      <a:endParaRPr lang="en-AU" baseline="30000" dirty="0" smtClean="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nvPr>
        </p:nvGraphicFramePr>
        <p:xfrm>
          <a:off x="7030720" y="110777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lower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bottom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2" name="Table 11"/>
          <p:cNvGraphicFramePr>
            <a:graphicFrameLocks noGrp="1"/>
          </p:cNvGraphicFramePr>
          <p:nvPr>
            <p:extLst/>
          </p:nvPr>
        </p:nvGraphicFramePr>
        <p:xfrm>
          <a:off x="7035800" y="227109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upper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top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sp>
        <p:nvSpPr>
          <p:cNvPr id="13" name="TextBox 12"/>
          <p:cNvSpPr txBox="1"/>
          <p:nvPr/>
        </p:nvSpPr>
        <p:spPr>
          <a:xfrm>
            <a:off x="7620000" y="3530150"/>
            <a:ext cx="4358640" cy="1200329"/>
          </a:xfrm>
          <a:prstGeom prst="rect">
            <a:avLst/>
          </a:prstGeom>
          <a:solidFill>
            <a:srgbClr val="FFFF00"/>
          </a:solidFill>
          <a:ln>
            <a:solidFill>
              <a:schemeClr val="tx1"/>
            </a:solidFill>
          </a:ln>
        </p:spPr>
        <p:txBody>
          <a:bodyPr wrap="square" rtlCol="0">
            <a:spAutoFit/>
          </a:bodyPr>
          <a:lstStyle/>
          <a:p>
            <a:pPr algn="ctr"/>
            <a:r>
              <a:rPr lang="en-AU" b="1" dirty="0" smtClean="0"/>
              <a:t>If the median is one of the values, don’t include it in the lower/upper half.</a:t>
            </a:r>
          </a:p>
          <a:p>
            <a:pPr algn="ctr"/>
            <a:r>
              <a:rPr lang="en-AU" b="1" dirty="0" smtClean="0"/>
              <a:t>If the median is between two values, include it in the lower/upper half.</a:t>
            </a:r>
            <a:endParaRPr lang="en-AU" b="1" dirty="0"/>
          </a:p>
        </p:txBody>
      </p:sp>
      <p:sp>
        <p:nvSpPr>
          <p:cNvPr id="15" name="TextBox 14"/>
          <p:cNvSpPr txBox="1"/>
          <p:nvPr/>
        </p:nvSpPr>
        <p:spPr>
          <a:xfrm>
            <a:off x="198120" y="797560"/>
            <a:ext cx="6908800" cy="2123658"/>
          </a:xfrm>
          <a:prstGeom prst="rect">
            <a:avLst/>
          </a:prstGeom>
          <a:noFill/>
        </p:spPr>
        <p:txBody>
          <a:bodyPr wrap="square" rtlCol="0">
            <a:spAutoFit/>
          </a:bodyPr>
          <a:lstStyle/>
          <a:p>
            <a:r>
              <a:rPr lang="en-AU" sz="2400" dirty="0" smtClean="0"/>
              <a:t>Find the minimum, maximum, median, lower quartile and upper quartile of the following data set:</a:t>
            </a:r>
          </a:p>
          <a:p>
            <a:r>
              <a:rPr lang="en-AU" sz="2800" b="1" dirty="0" smtClean="0"/>
              <a:t>2, 9, 4, 2, 5, 8, 9, 6, 6, 2, 3, 7, 5</a:t>
            </a:r>
          </a:p>
          <a:p>
            <a:endParaRPr lang="en-AU" sz="2800" b="1" dirty="0"/>
          </a:p>
          <a:p>
            <a:r>
              <a:rPr lang="en-AU" sz="2800" b="1" dirty="0" smtClean="0"/>
              <a:t>2, 2, 2, 3, 4, 5, 5, 6, 6, 7, 8, 9, 9</a:t>
            </a:r>
            <a:endParaRPr lang="en-AU" sz="2800" b="1" dirty="0"/>
          </a:p>
        </p:txBody>
      </p:sp>
      <p:cxnSp>
        <p:nvCxnSpPr>
          <p:cNvPr id="16" name="Straight Arrow Connector 15">
            <a:extLst>
              <a:ext uri="{FF2B5EF4-FFF2-40B4-BE49-F238E27FC236}">
                <a16:creationId xmlns:a16="http://schemas.microsoft.com/office/drawing/2014/main" id="{007A0B51-37CB-41A7-A11F-14650D24B314}"/>
              </a:ext>
            </a:extLst>
          </p:cNvPr>
          <p:cNvCxnSpPr>
            <a:cxnSpLocks/>
          </p:cNvCxnSpPr>
          <p:nvPr/>
        </p:nvCxnSpPr>
        <p:spPr>
          <a:xfrm>
            <a:off x="2520356" y="2224823"/>
            <a:ext cx="0" cy="2852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87960" y="4182563"/>
            <a:ext cx="4541520" cy="461665"/>
          </a:xfrm>
          <a:prstGeom prst="rect">
            <a:avLst/>
          </a:prstGeom>
          <a:noFill/>
        </p:spPr>
        <p:txBody>
          <a:bodyPr wrap="square" rtlCol="0">
            <a:spAutoFit/>
          </a:bodyPr>
          <a:lstStyle/>
          <a:p>
            <a:r>
              <a:rPr lang="en-AU" sz="2400" dirty="0" smtClean="0"/>
              <a:t>Median = 5</a:t>
            </a:r>
            <a:endParaRPr lang="en-AU" sz="2400" dirty="0"/>
          </a:p>
        </p:txBody>
      </p:sp>
      <p:cxnSp>
        <p:nvCxnSpPr>
          <p:cNvPr id="18" name="Straight Connector 17"/>
          <p:cNvCxnSpPr/>
          <p:nvPr/>
        </p:nvCxnSpPr>
        <p:spPr>
          <a:xfrm>
            <a:off x="264160" y="2916138"/>
            <a:ext cx="20116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07A0B51-37CB-41A7-A11F-14650D24B314}"/>
              </a:ext>
            </a:extLst>
          </p:cNvPr>
          <p:cNvCxnSpPr>
            <a:cxnSpLocks/>
          </p:cNvCxnSpPr>
          <p:nvPr/>
        </p:nvCxnSpPr>
        <p:spPr>
          <a:xfrm>
            <a:off x="1290320" y="2224824"/>
            <a:ext cx="0" cy="2852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87960" y="4565378"/>
            <a:ext cx="4541520" cy="461665"/>
          </a:xfrm>
          <a:prstGeom prst="rect">
            <a:avLst/>
          </a:prstGeom>
          <a:noFill/>
        </p:spPr>
        <p:txBody>
          <a:bodyPr wrap="square" rtlCol="0">
            <a:spAutoFit/>
          </a:bodyPr>
          <a:lstStyle/>
          <a:p>
            <a:r>
              <a:rPr lang="en-AU" sz="2400" dirty="0" smtClean="0"/>
              <a:t>Lower quartile = 2.5</a:t>
            </a:r>
            <a:endParaRPr lang="en-AU" sz="2400" dirty="0"/>
          </a:p>
        </p:txBody>
      </p:sp>
      <p:cxnSp>
        <p:nvCxnSpPr>
          <p:cNvPr id="22" name="Straight Connector 21"/>
          <p:cNvCxnSpPr/>
          <p:nvPr/>
        </p:nvCxnSpPr>
        <p:spPr>
          <a:xfrm>
            <a:off x="2804160" y="2929234"/>
            <a:ext cx="1925320" cy="508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07A0B51-37CB-41A7-A11F-14650D24B314}"/>
              </a:ext>
            </a:extLst>
          </p:cNvPr>
          <p:cNvCxnSpPr>
            <a:cxnSpLocks/>
          </p:cNvCxnSpPr>
          <p:nvPr/>
        </p:nvCxnSpPr>
        <p:spPr>
          <a:xfrm>
            <a:off x="3766820" y="2224822"/>
            <a:ext cx="0" cy="2852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87960" y="4973392"/>
            <a:ext cx="4541520" cy="461665"/>
          </a:xfrm>
          <a:prstGeom prst="rect">
            <a:avLst/>
          </a:prstGeom>
          <a:noFill/>
        </p:spPr>
        <p:txBody>
          <a:bodyPr wrap="square" rtlCol="0">
            <a:spAutoFit/>
          </a:bodyPr>
          <a:lstStyle/>
          <a:p>
            <a:r>
              <a:rPr lang="en-AU" sz="2400" dirty="0" smtClean="0"/>
              <a:t>Upper quartile = 7.5</a:t>
            </a:r>
            <a:endParaRPr lang="en-AU" sz="2400" dirty="0"/>
          </a:p>
        </p:txBody>
      </p:sp>
      <p:sp>
        <p:nvSpPr>
          <p:cNvPr id="20" name="TextBox 19"/>
          <p:cNvSpPr txBox="1"/>
          <p:nvPr/>
        </p:nvSpPr>
        <p:spPr>
          <a:xfrm>
            <a:off x="187960" y="3426210"/>
            <a:ext cx="4541520" cy="461665"/>
          </a:xfrm>
          <a:prstGeom prst="rect">
            <a:avLst/>
          </a:prstGeom>
          <a:noFill/>
        </p:spPr>
        <p:txBody>
          <a:bodyPr wrap="square" rtlCol="0">
            <a:spAutoFit/>
          </a:bodyPr>
          <a:lstStyle/>
          <a:p>
            <a:r>
              <a:rPr lang="en-AU" sz="2400" dirty="0" smtClean="0"/>
              <a:t>Minimum = 2</a:t>
            </a:r>
            <a:endParaRPr lang="en-AU" sz="2400" dirty="0"/>
          </a:p>
        </p:txBody>
      </p:sp>
      <p:sp>
        <p:nvSpPr>
          <p:cNvPr id="24" name="TextBox 23"/>
          <p:cNvSpPr txBox="1"/>
          <p:nvPr/>
        </p:nvSpPr>
        <p:spPr>
          <a:xfrm>
            <a:off x="187960" y="3774549"/>
            <a:ext cx="4541520" cy="461665"/>
          </a:xfrm>
          <a:prstGeom prst="rect">
            <a:avLst/>
          </a:prstGeom>
          <a:noFill/>
        </p:spPr>
        <p:txBody>
          <a:bodyPr wrap="square" rtlCol="0">
            <a:spAutoFit/>
          </a:bodyPr>
          <a:lstStyle/>
          <a:p>
            <a:r>
              <a:rPr lang="en-AU" sz="2400" dirty="0" smtClean="0"/>
              <a:t>Maximum = </a:t>
            </a:r>
            <a:r>
              <a:rPr lang="en-AU" sz="2400" dirty="0"/>
              <a:t>9</a:t>
            </a:r>
          </a:p>
        </p:txBody>
      </p:sp>
      <p:sp>
        <p:nvSpPr>
          <p:cNvPr id="27" name="TextBox 26"/>
          <p:cNvSpPr txBox="1"/>
          <p:nvPr/>
        </p:nvSpPr>
        <p:spPr>
          <a:xfrm>
            <a:off x="1" y="0"/>
            <a:ext cx="2922714" cy="461665"/>
          </a:xfrm>
          <a:prstGeom prst="rect">
            <a:avLst/>
          </a:prstGeom>
          <a:solidFill>
            <a:srgbClr val="FFFF00"/>
          </a:solidFill>
        </p:spPr>
        <p:txBody>
          <a:bodyPr wrap="square" rtlCol="0">
            <a:spAutoFit/>
          </a:bodyPr>
          <a:lstStyle/>
          <a:p>
            <a:r>
              <a:rPr lang="en-AU" sz="2400" dirty="0" smtClean="0"/>
              <a:t>5 Number Summaries</a:t>
            </a:r>
            <a:endParaRPr lang="en-AU" sz="2400" dirty="0"/>
          </a:p>
        </p:txBody>
      </p:sp>
    </p:spTree>
    <p:extLst>
      <p:ext uri="{BB962C8B-B14F-4D97-AF65-F5344CB8AC3E}">
        <p14:creationId xmlns:p14="http://schemas.microsoft.com/office/powerpoint/2010/main" val="2738506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6" presetClass="emph" presetSubtype="0" fill="hold" nodeType="clickEffect">
                                  <p:stCondLst>
                                    <p:cond delay="0"/>
                                  </p:stCondLst>
                                  <p:childTnLst>
                                    <p:animEffect transition="out" filter="fade">
                                      <p:cBhvr>
                                        <p:cTn id="14" dur="500" tmFilter="0, 0; .2, .5; .8, .5; 1, 0"/>
                                        <p:tgtEl>
                                          <p:spTgt spid="10"/>
                                        </p:tgtEl>
                                      </p:cBhvr>
                                    </p:animEffect>
                                    <p:animScale>
                                      <p:cBhvr>
                                        <p:cTn id="15" dur="250" autoRev="1" fill="hold"/>
                                        <p:tgtEl>
                                          <p:spTgt spid="10"/>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6" presetClass="emph" presetSubtype="0" fill="hold" nodeType="clickEffect">
                                  <p:stCondLst>
                                    <p:cond delay="0"/>
                                  </p:stCondLst>
                                  <p:childTnLst>
                                    <p:animEffect transition="out" filter="fade">
                                      <p:cBhvr>
                                        <p:cTn id="31" dur="500" tmFilter="0, 0; .2, .5; .8, .5; 1, 0"/>
                                        <p:tgtEl>
                                          <p:spTgt spid="11"/>
                                        </p:tgtEl>
                                      </p:cBhvr>
                                    </p:animEffect>
                                    <p:animScale>
                                      <p:cBhvr>
                                        <p:cTn id="32" dur="250" autoRev="1" fill="hold"/>
                                        <p:tgtEl>
                                          <p:spTgt spid="11"/>
                                        </p:tgtEl>
                                      </p:cBhvr>
                                      <p:by x="105000" y="105000"/>
                                    </p:animScale>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6" presetClass="emph" presetSubtype="0" fill="hold" nodeType="clickEffect">
                                  <p:stCondLst>
                                    <p:cond delay="0"/>
                                  </p:stCondLst>
                                  <p:childTnLst>
                                    <p:animEffect transition="out" filter="fade">
                                      <p:cBhvr>
                                        <p:cTn id="48" dur="500" tmFilter="0, 0; .2, .5; .8, .5; 1, 0"/>
                                        <p:tgtEl>
                                          <p:spTgt spid="12"/>
                                        </p:tgtEl>
                                      </p:cBhvr>
                                    </p:animEffect>
                                    <p:animScale>
                                      <p:cBhvr>
                                        <p:cTn id="49" dur="250" autoRev="1" fill="hold"/>
                                        <p:tgtEl>
                                          <p:spTgt spid="12"/>
                                        </p:tgtEl>
                                      </p:cBhvr>
                                      <p:by x="105000" y="105000"/>
                                    </p:animScale>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2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2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25" grpId="0"/>
      <p:bldP spid="20"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121920" y="772160"/>
                <a:ext cx="6487160" cy="3938642"/>
              </a:xfrm>
              <a:prstGeom prst="rect">
                <a:avLst/>
              </a:prstGeom>
              <a:noFill/>
            </p:spPr>
            <p:txBody>
              <a:bodyPr wrap="square" rtlCol="0">
                <a:spAutoFit/>
              </a:bodyPr>
              <a:lstStyle/>
              <a:p>
                <a:r>
                  <a:rPr lang="en-AU" sz="2400" dirty="0" smtClean="0"/>
                  <a:t>By finding the 5 number summary of the data set, calculate the range and the inter-quartile range.</a:t>
                </a:r>
              </a:p>
              <a:p>
                <a:endParaRPr lang="en-AU" sz="2400" dirty="0"/>
              </a:p>
              <a:p>
                <a:r>
                  <a:rPr lang="en-AU" sz="2400" b="1" dirty="0" smtClean="0"/>
                  <a:t>21,  33,  54,  62,  66,  67, 81,  91, 92, 98</a:t>
                </a:r>
              </a:p>
              <a:p>
                <a:endParaRPr lang="en-AU" sz="2400" dirty="0"/>
              </a:p>
              <a:p>
                <a:r>
                  <a:rPr lang="en-AU" sz="2400" dirty="0" smtClean="0"/>
                  <a:t>Minimum = 21</a:t>
                </a:r>
              </a:p>
              <a:p>
                <a:r>
                  <a:rPr lang="en-AU" sz="2400" dirty="0" smtClean="0"/>
                  <a:t>Lower quartile (Q1) = 54</a:t>
                </a:r>
                <a:endParaRPr lang="en-AU" sz="2400" dirty="0"/>
              </a:p>
              <a:p>
                <a:r>
                  <a:rPr lang="en-AU" sz="2400" dirty="0" smtClean="0"/>
                  <a:t>Median = </a:t>
                </a:r>
                <a14:m>
                  <m:oMath xmlns:m="http://schemas.openxmlformats.org/officeDocument/2006/math">
                    <m:f>
                      <m:fPr>
                        <m:ctrlPr>
                          <a:rPr lang="en-AU" sz="2400" i="1" dirty="0" smtClean="0">
                            <a:latin typeface="Cambria Math" panose="02040503050406030204" pitchFamily="18" charset="0"/>
                          </a:rPr>
                        </m:ctrlPr>
                      </m:fPr>
                      <m:num>
                        <m:r>
                          <a:rPr lang="en-AU" sz="2400" b="0" i="1" dirty="0" smtClean="0">
                            <a:latin typeface="Cambria Math" panose="02040503050406030204" pitchFamily="18" charset="0"/>
                          </a:rPr>
                          <m:t>66+67</m:t>
                        </m:r>
                      </m:num>
                      <m:den>
                        <m:r>
                          <a:rPr lang="en-AU" sz="2400" b="0" i="1" dirty="0" smtClean="0">
                            <a:latin typeface="Cambria Math" panose="02040503050406030204" pitchFamily="18" charset="0"/>
                          </a:rPr>
                          <m:t>2</m:t>
                        </m:r>
                      </m:den>
                    </m:f>
                    <m:r>
                      <a:rPr lang="en-AU" sz="2400" b="0" i="1" dirty="0" smtClean="0">
                        <a:latin typeface="Cambria Math" panose="02040503050406030204" pitchFamily="18" charset="0"/>
                      </a:rPr>
                      <m:t>=</m:t>
                    </m:r>
                    <m:r>
                      <a:rPr lang="en-AU" sz="2400" i="1" dirty="0" smtClean="0">
                        <a:latin typeface="Cambria Math" panose="02040503050406030204" pitchFamily="18" charset="0"/>
                      </a:rPr>
                      <m:t>6</m:t>
                    </m:r>
                    <m:r>
                      <a:rPr lang="en-AU" sz="2400" b="0" i="1" dirty="0" smtClean="0">
                        <a:latin typeface="Cambria Math" panose="02040503050406030204" pitchFamily="18" charset="0"/>
                      </a:rPr>
                      <m:t>6</m:t>
                    </m:r>
                    <m:r>
                      <a:rPr lang="en-AU" sz="2400" i="1" dirty="0" smtClean="0">
                        <a:latin typeface="Cambria Math" panose="02040503050406030204" pitchFamily="18" charset="0"/>
                      </a:rPr>
                      <m:t>.5</m:t>
                    </m:r>
                  </m:oMath>
                </a14:m>
                <a:endParaRPr lang="en-AU" sz="2400" dirty="0" smtClean="0"/>
              </a:p>
              <a:p>
                <a:r>
                  <a:rPr lang="en-AU" sz="2400" dirty="0" smtClean="0"/>
                  <a:t>Upper quartile (Q3) = 91</a:t>
                </a:r>
                <a:endParaRPr lang="en-AU" sz="2400" dirty="0"/>
              </a:p>
              <a:p>
                <a:r>
                  <a:rPr lang="en-AU" sz="2400" dirty="0" smtClean="0"/>
                  <a:t>Maximum = 98</a:t>
                </a:r>
                <a:endParaRPr lang="en-AU"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121920" y="772160"/>
                <a:ext cx="6487160" cy="3938642"/>
              </a:xfrm>
              <a:prstGeom prst="rect">
                <a:avLst/>
              </a:prstGeom>
              <a:blipFill rotWithShape="0">
                <a:blip r:embed="rId2"/>
                <a:stretch>
                  <a:fillRect l="-1410" t="-1238" b="-2632"/>
                </a:stretch>
              </a:blipFill>
            </p:spPr>
            <p:txBody>
              <a:bodyPr/>
              <a:lstStyle/>
              <a:p>
                <a:r>
                  <a:rPr lang="en-AU">
                    <a:noFill/>
                  </a:rPr>
                  <a:t> </a:t>
                </a:r>
              </a:p>
            </p:txBody>
          </p:sp>
        </mc:Fallback>
      </mc:AlternateContent>
      <p:cxnSp>
        <p:nvCxnSpPr>
          <p:cNvPr id="7" name="Straight Arrow Connector 6">
            <a:extLst>
              <a:ext uri="{FF2B5EF4-FFF2-40B4-BE49-F238E27FC236}">
                <a16:creationId xmlns:a16="http://schemas.microsoft.com/office/drawing/2014/main" id="{007A0B51-37CB-41A7-A11F-14650D24B314}"/>
              </a:ext>
            </a:extLst>
          </p:cNvPr>
          <p:cNvCxnSpPr>
            <a:cxnSpLocks/>
          </p:cNvCxnSpPr>
          <p:nvPr/>
        </p:nvCxnSpPr>
        <p:spPr>
          <a:xfrm>
            <a:off x="2748956" y="1640624"/>
            <a:ext cx="0" cy="2852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21920" y="2321560"/>
            <a:ext cx="245872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07A0B51-37CB-41A7-A11F-14650D24B314}"/>
              </a:ext>
            </a:extLst>
          </p:cNvPr>
          <p:cNvCxnSpPr>
            <a:cxnSpLocks/>
          </p:cNvCxnSpPr>
          <p:nvPr/>
        </p:nvCxnSpPr>
        <p:spPr>
          <a:xfrm>
            <a:off x="1452880" y="1640624"/>
            <a:ext cx="0" cy="2852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880360" y="2321560"/>
            <a:ext cx="214884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07A0B51-37CB-41A7-A11F-14650D24B314}"/>
              </a:ext>
            </a:extLst>
          </p:cNvPr>
          <p:cNvCxnSpPr>
            <a:cxnSpLocks/>
          </p:cNvCxnSpPr>
          <p:nvPr/>
        </p:nvCxnSpPr>
        <p:spPr>
          <a:xfrm>
            <a:off x="3967480" y="1584744"/>
            <a:ext cx="0" cy="2852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21920" y="5426277"/>
            <a:ext cx="4058920" cy="461665"/>
          </a:xfrm>
          <a:prstGeom prst="rect">
            <a:avLst/>
          </a:prstGeom>
          <a:noFill/>
        </p:spPr>
        <p:txBody>
          <a:bodyPr wrap="square" rtlCol="0">
            <a:spAutoFit/>
          </a:bodyPr>
          <a:lstStyle/>
          <a:p>
            <a:r>
              <a:rPr lang="en-AU" sz="2400" dirty="0" smtClean="0"/>
              <a:t>Range (maximum – minimum):</a:t>
            </a:r>
            <a:endParaRPr lang="en-AU" sz="2400" dirty="0"/>
          </a:p>
        </p:txBody>
      </p:sp>
      <p:sp>
        <p:nvSpPr>
          <p:cNvPr id="15" name="TextBox 14"/>
          <p:cNvSpPr txBox="1"/>
          <p:nvPr/>
        </p:nvSpPr>
        <p:spPr>
          <a:xfrm>
            <a:off x="4109720" y="5426276"/>
            <a:ext cx="4058920" cy="461665"/>
          </a:xfrm>
          <a:prstGeom prst="rect">
            <a:avLst/>
          </a:prstGeom>
          <a:noFill/>
        </p:spPr>
        <p:txBody>
          <a:bodyPr wrap="square" rtlCol="0">
            <a:spAutoFit/>
          </a:bodyPr>
          <a:lstStyle/>
          <a:p>
            <a:r>
              <a:rPr lang="en-AU" sz="2400" dirty="0" smtClean="0"/>
              <a:t>98 – 21 = 77</a:t>
            </a:r>
            <a:endParaRPr lang="en-AU" sz="2400" dirty="0"/>
          </a:p>
        </p:txBody>
      </p:sp>
      <p:sp>
        <p:nvSpPr>
          <p:cNvPr id="16" name="TextBox 15"/>
          <p:cNvSpPr txBox="1"/>
          <p:nvPr/>
        </p:nvSpPr>
        <p:spPr>
          <a:xfrm>
            <a:off x="121920" y="5982188"/>
            <a:ext cx="4058920" cy="461665"/>
          </a:xfrm>
          <a:prstGeom prst="rect">
            <a:avLst/>
          </a:prstGeom>
          <a:noFill/>
        </p:spPr>
        <p:txBody>
          <a:bodyPr wrap="square" rtlCol="0">
            <a:spAutoFit/>
          </a:bodyPr>
          <a:lstStyle/>
          <a:p>
            <a:r>
              <a:rPr lang="en-AU" sz="2400" dirty="0" smtClean="0"/>
              <a:t>Inter-quartile range (Q3 – Q1):</a:t>
            </a:r>
            <a:endParaRPr lang="en-AU" sz="2400" dirty="0"/>
          </a:p>
        </p:txBody>
      </p:sp>
      <p:sp>
        <p:nvSpPr>
          <p:cNvPr id="17" name="TextBox 16"/>
          <p:cNvSpPr txBox="1"/>
          <p:nvPr/>
        </p:nvSpPr>
        <p:spPr>
          <a:xfrm>
            <a:off x="4074160" y="5982187"/>
            <a:ext cx="4058920" cy="461665"/>
          </a:xfrm>
          <a:prstGeom prst="rect">
            <a:avLst/>
          </a:prstGeom>
          <a:noFill/>
        </p:spPr>
        <p:txBody>
          <a:bodyPr wrap="square" rtlCol="0">
            <a:spAutoFit/>
          </a:bodyPr>
          <a:lstStyle/>
          <a:p>
            <a:r>
              <a:rPr lang="en-AU" sz="2400" dirty="0" smtClean="0"/>
              <a:t>91 – 54 = 37</a:t>
            </a:r>
            <a:endParaRPr lang="en-AU" sz="2400" dirty="0"/>
          </a:p>
        </p:txBody>
      </p:sp>
      <p:graphicFrame>
        <p:nvGraphicFramePr>
          <p:cNvPr id="14" name="Table 13"/>
          <p:cNvGraphicFramePr>
            <a:graphicFrameLocks noGrp="1"/>
          </p:cNvGraphicFramePr>
          <p:nvPr>
            <p:extLst/>
          </p:nvPr>
        </p:nvGraphicFramePr>
        <p:xfrm>
          <a:off x="7025640" y="0"/>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median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Order the numbers from smallest to largest.</a:t>
                      </a:r>
                    </a:p>
                    <a:p>
                      <a:r>
                        <a:rPr lang="en-AU" dirty="0" smtClean="0"/>
                        <a:t>Step 2: Find the middle number.</a:t>
                      </a:r>
                      <a:endParaRPr lang="en-AU" baseline="30000" dirty="0" smtClean="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8" name="Table 17"/>
          <p:cNvGraphicFramePr>
            <a:graphicFrameLocks noGrp="1"/>
          </p:cNvGraphicFramePr>
          <p:nvPr>
            <p:extLst/>
          </p:nvPr>
        </p:nvGraphicFramePr>
        <p:xfrm>
          <a:off x="7030720" y="110777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lower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bottom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9" name="Table 18"/>
          <p:cNvGraphicFramePr>
            <a:graphicFrameLocks noGrp="1"/>
          </p:cNvGraphicFramePr>
          <p:nvPr>
            <p:extLst/>
          </p:nvPr>
        </p:nvGraphicFramePr>
        <p:xfrm>
          <a:off x="7035800" y="227109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upper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top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sp>
        <p:nvSpPr>
          <p:cNvPr id="20" name="TextBox 19"/>
          <p:cNvSpPr txBox="1"/>
          <p:nvPr/>
        </p:nvSpPr>
        <p:spPr>
          <a:xfrm>
            <a:off x="7620000" y="3530150"/>
            <a:ext cx="4358640" cy="1200329"/>
          </a:xfrm>
          <a:prstGeom prst="rect">
            <a:avLst/>
          </a:prstGeom>
          <a:solidFill>
            <a:srgbClr val="FFFF00"/>
          </a:solidFill>
          <a:ln>
            <a:solidFill>
              <a:schemeClr val="tx1"/>
            </a:solidFill>
          </a:ln>
        </p:spPr>
        <p:txBody>
          <a:bodyPr wrap="square" rtlCol="0">
            <a:spAutoFit/>
          </a:bodyPr>
          <a:lstStyle/>
          <a:p>
            <a:pPr algn="ctr"/>
            <a:r>
              <a:rPr lang="en-AU" b="1" dirty="0" smtClean="0"/>
              <a:t>If the median is one of the values, don’t include it in the lower/upper half.</a:t>
            </a:r>
          </a:p>
          <a:p>
            <a:pPr algn="ctr"/>
            <a:r>
              <a:rPr lang="en-AU" b="1" dirty="0" smtClean="0"/>
              <a:t>If the median is between two values, include it in the lower/upper half.</a:t>
            </a:r>
            <a:endParaRPr lang="en-AU" b="1" dirty="0"/>
          </a:p>
        </p:txBody>
      </p:sp>
      <p:sp>
        <p:nvSpPr>
          <p:cNvPr id="22" name="TextBox 21"/>
          <p:cNvSpPr txBox="1"/>
          <p:nvPr/>
        </p:nvSpPr>
        <p:spPr>
          <a:xfrm>
            <a:off x="1" y="0"/>
            <a:ext cx="2922714" cy="461665"/>
          </a:xfrm>
          <a:prstGeom prst="rect">
            <a:avLst/>
          </a:prstGeom>
          <a:solidFill>
            <a:srgbClr val="FFFF00"/>
          </a:solidFill>
        </p:spPr>
        <p:txBody>
          <a:bodyPr wrap="square" rtlCol="0">
            <a:spAutoFit/>
          </a:bodyPr>
          <a:lstStyle/>
          <a:p>
            <a:r>
              <a:rPr lang="en-AU" sz="2400" dirty="0" smtClean="0"/>
              <a:t>5 Number Summaries</a:t>
            </a:r>
            <a:endParaRPr lang="en-AU" sz="2400" dirty="0"/>
          </a:p>
        </p:txBody>
      </p:sp>
      <p:sp>
        <p:nvSpPr>
          <p:cNvPr id="3" name="TextBox 2"/>
          <p:cNvSpPr txBox="1"/>
          <p:nvPr/>
        </p:nvSpPr>
        <p:spPr>
          <a:xfrm>
            <a:off x="3630065" y="3048809"/>
            <a:ext cx="2900275" cy="1107996"/>
          </a:xfrm>
          <a:prstGeom prst="rect">
            <a:avLst/>
          </a:prstGeom>
          <a:solidFill>
            <a:srgbClr val="FFFF00"/>
          </a:solidFill>
          <a:ln>
            <a:solidFill>
              <a:schemeClr val="tx1"/>
            </a:solidFill>
          </a:ln>
        </p:spPr>
        <p:txBody>
          <a:bodyPr wrap="square" rtlCol="0">
            <a:spAutoFit/>
          </a:bodyPr>
          <a:lstStyle/>
          <a:p>
            <a:pPr algn="ctr"/>
            <a:r>
              <a:rPr lang="en-AU" sz="2200" b="1" dirty="0" smtClean="0"/>
              <a:t>These 5 statistics form a 5 number summary of a set of data.</a:t>
            </a:r>
            <a:endParaRPr lang="en-AU" sz="2200" b="1" dirty="0"/>
          </a:p>
        </p:txBody>
      </p:sp>
    </p:spTree>
    <p:extLst>
      <p:ext uri="{BB962C8B-B14F-4D97-AF65-F5344CB8AC3E}">
        <p14:creationId xmlns:p14="http://schemas.microsoft.com/office/powerpoint/2010/main" val="3182267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P spid="17" grpId="0"/>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217484" y="1512795"/>
            <a:ext cx="4269035" cy="4927686"/>
          </a:xfrm>
          <a:prstGeom prst="rect">
            <a:avLst/>
          </a:prstGeom>
        </p:spPr>
      </p:pic>
      <p:sp>
        <p:nvSpPr>
          <p:cNvPr id="5" name="Rectangle 4"/>
          <p:cNvSpPr/>
          <p:nvPr/>
        </p:nvSpPr>
        <p:spPr>
          <a:xfrm>
            <a:off x="430306" y="625290"/>
            <a:ext cx="11369488" cy="1015663"/>
          </a:xfrm>
          <a:prstGeom prst="rect">
            <a:avLst/>
          </a:prstGeom>
        </p:spPr>
        <p:txBody>
          <a:bodyPr wrap="square">
            <a:spAutoFit/>
          </a:bodyPr>
          <a:lstStyle/>
          <a:p>
            <a:r>
              <a:rPr lang="en-AU" sz="2000" dirty="0"/>
              <a:t>A box and whisker diagram (or boxplot) is a simple diagram that shows how a set of scores is distributed.</a:t>
            </a:r>
          </a:p>
          <a:p>
            <a:r>
              <a:rPr lang="en-AU" sz="2000" dirty="0"/>
              <a:t>It doesn’t show all the individual scores in a data set, but shows the specific features (the 5 number summary) of the data.</a:t>
            </a:r>
          </a:p>
        </p:txBody>
      </p:sp>
      <p:sp>
        <p:nvSpPr>
          <p:cNvPr id="6" name="TextBox 5"/>
          <p:cNvSpPr txBox="1"/>
          <p:nvPr/>
        </p:nvSpPr>
        <p:spPr>
          <a:xfrm>
            <a:off x="0" y="0"/>
            <a:ext cx="2534771" cy="461665"/>
          </a:xfrm>
          <a:prstGeom prst="rect">
            <a:avLst/>
          </a:prstGeom>
          <a:solidFill>
            <a:srgbClr val="FFFF00"/>
          </a:solidFill>
        </p:spPr>
        <p:txBody>
          <a:bodyPr wrap="square" rtlCol="0">
            <a:spAutoFit/>
          </a:bodyPr>
          <a:lstStyle/>
          <a:p>
            <a:r>
              <a:rPr lang="en-AU" sz="2400" dirty="0" smtClean="0"/>
              <a:t>Drawing a Boxplot</a:t>
            </a:r>
            <a:endParaRPr lang="en-AU" sz="2400" dirty="0"/>
          </a:p>
        </p:txBody>
      </p:sp>
    </p:spTree>
    <p:extLst>
      <p:ext uri="{BB962C8B-B14F-4D97-AF65-F5344CB8AC3E}">
        <p14:creationId xmlns:p14="http://schemas.microsoft.com/office/powerpoint/2010/main" val="29033089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534771" cy="461665"/>
          </a:xfrm>
          <a:prstGeom prst="rect">
            <a:avLst/>
          </a:prstGeom>
          <a:solidFill>
            <a:srgbClr val="FFFF00"/>
          </a:solidFill>
        </p:spPr>
        <p:txBody>
          <a:bodyPr wrap="square" rtlCol="0">
            <a:spAutoFit/>
          </a:bodyPr>
          <a:lstStyle/>
          <a:p>
            <a:r>
              <a:rPr lang="en-AU" sz="2400" dirty="0" smtClean="0"/>
              <a:t>Drawing a Boxplot</a:t>
            </a:r>
            <a:endParaRPr lang="en-AU" sz="2400" dirty="0"/>
          </a:p>
        </p:txBody>
      </p:sp>
      <p:sp>
        <p:nvSpPr>
          <p:cNvPr id="2" name="TextBox 1"/>
          <p:cNvSpPr txBox="1"/>
          <p:nvPr/>
        </p:nvSpPr>
        <p:spPr>
          <a:xfrm>
            <a:off x="157075" y="622690"/>
            <a:ext cx="11702076" cy="707886"/>
          </a:xfrm>
          <a:prstGeom prst="rect">
            <a:avLst/>
          </a:prstGeom>
          <a:solidFill>
            <a:schemeClr val="bg1"/>
          </a:solidFill>
        </p:spPr>
        <p:txBody>
          <a:bodyPr wrap="square" rtlCol="0">
            <a:spAutoFit/>
          </a:bodyPr>
          <a:lstStyle/>
          <a:p>
            <a:r>
              <a:rPr lang="en-AU" sz="2000" dirty="0" smtClean="0"/>
              <a:t>Boxplots give a visual overview of the location of the data and how widely spread it is. The range (highest minus lowest) and the interquartile range (upper quartile minus lower quartile) can also be seen.</a:t>
            </a:r>
          </a:p>
        </p:txBody>
      </p:sp>
      <p:sp>
        <p:nvSpPr>
          <p:cNvPr id="5" name="TextBox 4"/>
          <p:cNvSpPr txBox="1"/>
          <p:nvPr/>
        </p:nvSpPr>
        <p:spPr>
          <a:xfrm>
            <a:off x="258052" y="1741071"/>
            <a:ext cx="11601099" cy="1446550"/>
          </a:xfrm>
          <a:prstGeom prst="rect">
            <a:avLst/>
          </a:prstGeom>
          <a:noFill/>
        </p:spPr>
        <p:txBody>
          <a:bodyPr wrap="square" rtlCol="0">
            <a:spAutoFit/>
          </a:bodyPr>
          <a:lstStyle/>
          <a:p>
            <a:r>
              <a:rPr lang="en-AU" sz="2200" dirty="0" smtClean="0"/>
              <a:t>For example:</a:t>
            </a:r>
          </a:p>
          <a:p>
            <a:pPr algn="ctr"/>
            <a:r>
              <a:rPr lang="en-AU" sz="2200" dirty="0" smtClean="0"/>
              <a:t>12, 	6,	10,	19,	9,	12,	4,	14,	8,	16,	6</a:t>
            </a:r>
          </a:p>
          <a:p>
            <a:r>
              <a:rPr lang="en-AU" sz="2200" dirty="0" smtClean="0"/>
              <a:t>Listed in order gives:</a:t>
            </a:r>
          </a:p>
          <a:p>
            <a:pPr algn="ctr"/>
            <a:r>
              <a:rPr lang="en-AU" sz="2200" dirty="0" smtClean="0"/>
              <a:t>4	6	6	8	9	10	12	12	14	16	19</a:t>
            </a:r>
            <a:endParaRPr lang="en-AU" sz="2200" dirty="0"/>
          </a:p>
        </p:txBody>
      </p:sp>
      <p:cxnSp>
        <p:nvCxnSpPr>
          <p:cNvPr id="8" name="Straight Arrow Connector 7">
            <a:extLst>
              <a:ext uri="{FF2B5EF4-FFF2-40B4-BE49-F238E27FC236}">
                <a16:creationId xmlns:a16="http://schemas.microsoft.com/office/drawing/2014/main" id="{007A0B51-37CB-41A7-A11F-14650D24B314}"/>
              </a:ext>
            </a:extLst>
          </p:cNvPr>
          <p:cNvCxnSpPr>
            <a:cxnSpLocks/>
          </p:cNvCxnSpPr>
          <p:nvPr/>
        </p:nvCxnSpPr>
        <p:spPr>
          <a:xfrm>
            <a:off x="6071370" y="2550275"/>
            <a:ext cx="0" cy="2852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312698" y="3239050"/>
            <a:ext cx="3857807" cy="4643"/>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07A0B51-37CB-41A7-A11F-14650D24B314}"/>
              </a:ext>
            </a:extLst>
          </p:cNvPr>
          <p:cNvCxnSpPr>
            <a:cxnSpLocks/>
          </p:cNvCxnSpPr>
          <p:nvPr/>
        </p:nvCxnSpPr>
        <p:spPr>
          <a:xfrm>
            <a:off x="3241601" y="2544757"/>
            <a:ext cx="0" cy="2852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6865667" y="3212065"/>
            <a:ext cx="3882741" cy="2698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07A0B51-37CB-41A7-A11F-14650D24B314}"/>
              </a:ext>
            </a:extLst>
          </p:cNvPr>
          <p:cNvCxnSpPr>
            <a:cxnSpLocks/>
          </p:cNvCxnSpPr>
          <p:nvPr/>
        </p:nvCxnSpPr>
        <p:spPr>
          <a:xfrm>
            <a:off x="8815280" y="2544757"/>
            <a:ext cx="0" cy="2852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637868" y="3243693"/>
            <a:ext cx="959278" cy="646331"/>
          </a:xfrm>
          <a:prstGeom prst="rect">
            <a:avLst/>
          </a:prstGeom>
          <a:noFill/>
        </p:spPr>
        <p:txBody>
          <a:bodyPr wrap="square" rtlCol="0">
            <a:spAutoFit/>
          </a:bodyPr>
          <a:lstStyle/>
          <a:p>
            <a:pPr algn="ctr"/>
            <a:r>
              <a:rPr lang="en-AU" dirty="0" smtClean="0"/>
              <a:t>Median</a:t>
            </a:r>
          </a:p>
          <a:p>
            <a:pPr algn="ctr"/>
            <a:r>
              <a:rPr lang="en-AU" dirty="0" smtClean="0"/>
              <a:t>(Q2)</a:t>
            </a:r>
            <a:endParaRPr lang="en-AU" dirty="0"/>
          </a:p>
        </p:txBody>
      </p:sp>
      <p:sp>
        <p:nvSpPr>
          <p:cNvPr id="16" name="TextBox 15"/>
          <p:cNvSpPr txBox="1"/>
          <p:nvPr/>
        </p:nvSpPr>
        <p:spPr>
          <a:xfrm>
            <a:off x="2761962" y="3235201"/>
            <a:ext cx="959278" cy="923330"/>
          </a:xfrm>
          <a:prstGeom prst="rect">
            <a:avLst/>
          </a:prstGeom>
          <a:noFill/>
        </p:spPr>
        <p:txBody>
          <a:bodyPr wrap="square" rtlCol="0">
            <a:spAutoFit/>
          </a:bodyPr>
          <a:lstStyle/>
          <a:p>
            <a:pPr algn="ctr"/>
            <a:r>
              <a:rPr lang="en-AU" dirty="0" smtClean="0"/>
              <a:t>Lower quartile (Q1)</a:t>
            </a:r>
            <a:endParaRPr lang="en-AU" dirty="0"/>
          </a:p>
        </p:txBody>
      </p:sp>
      <p:sp>
        <p:nvSpPr>
          <p:cNvPr id="17" name="TextBox 16"/>
          <p:cNvSpPr txBox="1"/>
          <p:nvPr/>
        </p:nvSpPr>
        <p:spPr>
          <a:xfrm>
            <a:off x="8327398" y="3263494"/>
            <a:ext cx="959278" cy="923330"/>
          </a:xfrm>
          <a:prstGeom prst="rect">
            <a:avLst/>
          </a:prstGeom>
          <a:noFill/>
        </p:spPr>
        <p:txBody>
          <a:bodyPr wrap="square" rtlCol="0">
            <a:spAutoFit/>
          </a:bodyPr>
          <a:lstStyle/>
          <a:p>
            <a:pPr algn="ctr"/>
            <a:r>
              <a:rPr lang="en-AU" dirty="0" smtClean="0"/>
              <a:t>Upper quartile</a:t>
            </a:r>
          </a:p>
          <a:p>
            <a:pPr algn="ctr"/>
            <a:r>
              <a:rPr lang="en-AU" dirty="0" smtClean="0"/>
              <a:t>(Q3)</a:t>
            </a:r>
            <a:endParaRPr lang="en-AU" dirty="0"/>
          </a:p>
        </p:txBody>
      </p:sp>
      <p:cxnSp>
        <p:nvCxnSpPr>
          <p:cNvPr id="19" name="Straight Arrow Connector 18"/>
          <p:cNvCxnSpPr/>
          <p:nvPr/>
        </p:nvCxnSpPr>
        <p:spPr>
          <a:xfrm>
            <a:off x="3625490" y="3946334"/>
            <a:ext cx="4891760" cy="52833"/>
          </a:xfrm>
          <a:prstGeom prst="straightConnector1">
            <a:avLst/>
          </a:prstGeom>
          <a:ln w="28575">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170504" y="4060875"/>
            <a:ext cx="2367342" cy="369332"/>
          </a:xfrm>
          <a:prstGeom prst="rect">
            <a:avLst/>
          </a:prstGeom>
          <a:noFill/>
        </p:spPr>
        <p:txBody>
          <a:bodyPr wrap="square" rtlCol="0">
            <a:spAutoFit/>
          </a:bodyPr>
          <a:lstStyle/>
          <a:p>
            <a:r>
              <a:rPr lang="en-AU" dirty="0" smtClean="0">
                <a:solidFill>
                  <a:srgbClr val="FF0000"/>
                </a:solidFill>
              </a:rPr>
              <a:t>Inter-quartile range</a:t>
            </a:r>
            <a:endParaRPr lang="en-AU" dirty="0">
              <a:solidFill>
                <a:srgbClr val="FF0000"/>
              </a:solidFill>
            </a:endParaRPr>
          </a:p>
        </p:txBody>
      </p:sp>
      <p:pic>
        <p:nvPicPr>
          <p:cNvPr id="27" name="Picture 26"/>
          <p:cNvPicPr>
            <a:picLocks noChangeAspect="1"/>
          </p:cNvPicPr>
          <p:nvPr/>
        </p:nvPicPr>
        <p:blipFill>
          <a:blip r:embed="rId2"/>
          <a:stretch>
            <a:fillRect/>
          </a:stretch>
        </p:blipFill>
        <p:spPr>
          <a:xfrm>
            <a:off x="3852182" y="4776713"/>
            <a:ext cx="4747532" cy="1618890"/>
          </a:xfrm>
          <a:prstGeom prst="rect">
            <a:avLst/>
          </a:prstGeom>
        </p:spPr>
      </p:pic>
    </p:spTree>
    <p:extLst>
      <p:ext uri="{BB962C8B-B14F-4D97-AF65-F5344CB8AC3E}">
        <p14:creationId xmlns:p14="http://schemas.microsoft.com/office/powerpoint/2010/main" val="147558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20471" cy="461665"/>
          </a:xfrm>
          <a:prstGeom prst="rect">
            <a:avLst/>
          </a:prstGeom>
          <a:solidFill>
            <a:srgbClr val="FFFF00"/>
          </a:solidFill>
        </p:spPr>
        <p:txBody>
          <a:bodyPr wrap="square" rtlCol="0">
            <a:spAutoFit/>
          </a:bodyPr>
          <a:lstStyle/>
          <a:p>
            <a:r>
              <a:rPr lang="en-AU" sz="2400" dirty="0" smtClean="0"/>
              <a:t>Drawing Boxplots</a:t>
            </a:r>
            <a:endParaRPr lang="en-AU" sz="2400" dirty="0"/>
          </a:p>
        </p:txBody>
      </p:sp>
      <p:sp>
        <p:nvSpPr>
          <p:cNvPr id="3" name="TextBox 2"/>
          <p:cNvSpPr txBox="1"/>
          <p:nvPr/>
        </p:nvSpPr>
        <p:spPr>
          <a:xfrm>
            <a:off x="154641" y="585903"/>
            <a:ext cx="11686127" cy="3477875"/>
          </a:xfrm>
          <a:prstGeom prst="rect">
            <a:avLst/>
          </a:prstGeom>
          <a:noFill/>
        </p:spPr>
        <p:txBody>
          <a:bodyPr wrap="square" rtlCol="0">
            <a:spAutoFit/>
          </a:bodyPr>
          <a:lstStyle/>
          <a:p>
            <a:r>
              <a:rPr lang="en-AU" sz="2200" dirty="0" smtClean="0"/>
              <a:t>Draw box and whisker plots for the set of scores.</a:t>
            </a:r>
          </a:p>
          <a:p>
            <a:endParaRPr lang="en-AU" sz="2200" dirty="0"/>
          </a:p>
          <a:p>
            <a:r>
              <a:rPr lang="en-AU" sz="2200" dirty="0" smtClean="0"/>
              <a:t>12    22    22    23    27    14    27    23    21    30    26    17    23    17</a:t>
            </a:r>
          </a:p>
          <a:p>
            <a:endParaRPr lang="en-AU" sz="2200" dirty="0"/>
          </a:p>
          <a:p>
            <a:r>
              <a:rPr lang="en-AU" sz="2200" dirty="0" smtClean="0"/>
              <a:t>Step 1: Order the scores.</a:t>
            </a:r>
          </a:p>
          <a:p>
            <a:r>
              <a:rPr lang="en-AU" sz="2200" dirty="0" smtClean="0"/>
              <a:t>Step 2: Find the 5 number summary.</a:t>
            </a:r>
          </a:p>
          <a:p>
            <a:r>
              <a:rPr lang="en-AU" sz="2200" dirty="0" smtClean="0"/>
              <a:t>Step 3: Draw the boxplot.</a:t>
            </a:r>
          </a:p>
          <a:p>
            <a:endParaRPr lang="en-AU" sz="2200" dirty="0" smtClean="0"/>
          </a:p>
          <a:p>
            <a:endParaRPr lang="en-AU" sz="2200" dirty="0"/>
          </a:p>
          <a:p>
            <a:r>
              <a:rPr lang="en-AU" sz="2200" dirty="0" smtClean="0"/>
              <a:t>12    14    17    17    21    22    22    23    23    23    26    27    27    30</a:t>
            </a:r>
            <a:endParaRPr lang="en-AU" sz="2200" dirty="0"/>
          </a:p>
        </p:txBody>
      </p:sp>
      <p:cxnSp>
        <p:nvCxnSpPr>
          <p:cNvPr id="17" name="Straight Arrow Connector 16">
            <a:extLst>
              <a:ext uri="{FF2B5EF4-FFF2-40B4-BE49-F238E27FC236}">
                <a16:creationId xmlns:a16="http://schemas.microsoft.com/office/drawing/2014/main" id="{007A0B51-37CB-41A7-A11F-14650D24B314}"/>
              </a:ext>
            </a:extLst>
          </p:cNvPr>
          <p:cNvCxnSpPr>
            <a:cxnSpLocks/>
          </p:cNvCxnSpPr>
          <p:nvPr/>
        </p:nvCxnSpPr>
        <p:spPr>
          <a:xfrm>
            <a:off x="3886717" y="3457174"/>
            <a:ext cx="0" cy="2852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154641" y="4124482"/>
            <a:ext cx="3575887" cy="26985"/>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07A0B51-37CB-41A7-A11F-14650D24B314}"/>
              </a:ext>
            </a:extLst>
          </p:cNvPr>
          <p:cNvCxnSpPr>
            <a:cxnSpLocks/>
          </p:cNvCxnSpPr>
          <p:nvPr/>
        </p:nvCxnSpPr>
        <p:spPr>
          <a:xfrm>
            <a:off x="2005006" y="3395466"/>
            <a:ext cx="0" cy="2852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4007836" y="4112404"/>
            <a:ext cx="3526147" cy="1659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07A0B51-37CB-41A7-A11F-14650D24B314}"/>
              </a:ext>
            </a:extLst>
          </p:cNvPr>
          <p:cNvCxnSpPr>
            <a:cxnSpLocks/>
          </p:cNvCxnSpPr>
          <p:nvPr/>
        </p:nvCxnSpPr>
        <p:spPr>
          <a:xfrm>
            <a:off x="5727446" y="3395466"/>
            <a:ext cx="0" cy="2852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387681" y="4188016"/>
            <a:ext cx="959278" cy="646331"/>
          </a:xfrm>
          <a:prstGeom prst="rect">
            <a:avLst/>
          </a:prstGeom>
          <a:noFill/>
        </p:spPr>
        <p:txBody>
          <a:bodyPr wrap="square" rtlCol="0">
            <a:spAutoFit/>
          </a:bodyPr>
          <a:lstStyle/>
          <a:p>
            <a:pPr algn="ctr"/>
            <a:r>
              <a:rPr lang="en-AU" dirty="0" smtClean="0"/>
              <a:t>Median</a:t>
            </a:r>
          </a:p>
          <a:p>
            <a:pPr algn="ctr"/>
            <a:r>
              <a:rPr lang="en-AU" dirty="0" smtClean="0"/>
              <a:t>(Q2)</a:t>
            </a:r>
            <a:endParaRPr lang="en-AU" dirty="0"/>
          </a:p>
        </p:txBody>
      </p:sp>
      <p:sp>
        <p:nvSpPr>
          <p:cNvPr id="23" name="TextBox 22"/>
          <p:cNvSpPr txBox="1"/>
          <p:nvPr/>
        </p:nvSpPr>
        <p:spPr>
          <a:xfrm>
            <a:off x="1603905" y="4147618"/>
            <a:ext cx="959278" cy="923330"/>
          </a:xfrm>
          <a:prstGeom prst="rect">
            <a:avLst/>
          </a:prstGeom>
          <a:noFill/>
        </p:spPr>
        <p:txBody>
          <a:bodyPr wrap="square" rtlCol="0">
            <a:spAutoFit/>
          </a:bodyPr>
          <a:lstStyle/>
          <a:p>
            <a:pPr algn="ctr"/>
            <a:r>
              <a:rPr lang="en-AU" dirty="0" smtClean="0"/>
              <a:t>Lower quartile (Q1)</a:t>
            </a:r>
            <a:endParaRPr lang="en-AU" dirty="0"/>
          </a:p>
        </p:txBody>
      </p:sp>
      <p:sp>
        <p:nvSpPr>
          <p:cNvPr id="24" name="TextBox 23"/>
          <p:cNvSpPr txBox="1"/>
          <p:nvPr/>
        </p:nvSpPr>
        <p:spPr>
          <a:xfrm>
            <a:off x="5295663" y="4156110"/>
            <a:ext cx="959278" cy="923330"/>
          </a:xfrm>
          <a:prstGeom prst="rect">
            <a:avLst/>
          </a:prstGeom>
          <a:noFill/>
        </p:spPr>
        <p:txBody>
          <a:bodyPr wrap="square" rtlCol="0">
            <a:spAutoFit/>
          </a:bodyPr>
          <a:lstStyle/>
          <a:p>
            <a:pPr algn="ctr"/>
            <a:r>
              <a:rPr lang="en-AU" dirty="0" smtClean="0"/>
              <a:t>Upper quartile</a:t>
            </a:r>
          </a:p>
          <a:p>
            <a:pPr algn="ctr"/>
            <a:r>
              <a:rPr lang="en-AU" dirty="0" smtClean="0"/>
              <a:t>(Q3)</a:t>
            </a:r>
            <a:endParaRPr lang="en-AU" dirty="0"/>
          </a:p>
        </p:txBody>
      </p:sp>
      <mc:AlternateContent xmlns:mc="http://schemas.openxmlformats.org/markup-compatibility/2006">
        <mc:Choice xmlns:a14="http://schemas.microsoft.com/office/drawing/2010/main" Requires="a14">
          <p:sp>
            <p:nvSpPr>
              <p:cNvPr id="27" name="Rectangle 26"/>
              <p:cNvSpPr/>
              <p:nvPr/>
            </p:nvSpPr>
            <p:spPr>
              <a:xfrm>
                <a:off x="8026098" y="3115732"/>
                <a:ext cx="3681587" cy="1925335"/>
              </a:xfrm>
              <a:prstGeom prst="rect">
                <a:avLst/>
              </a:prstGeom>
            </p:spPr>
            <p:txBody>
              <a:bodyPr wrap="square">
                <a:spAutoFit/>
              </a:bodyPr>
              <a:lstStyle/>
              <a:p>
                <a:pPr algn="ctr"/>
                <a:r>
                  <a:rPr lang="en-AU" sz="2200" dirty="0" smtClean="0"/>
                  <a:t>Minimum = 12</a:t>
                </a:r>
                <a:endParaRPr lang="en-AU" sz="2200" dirty="0"/>
              </a:p>
              <a:p>
                <a:pPr algn="ctr"/>
                <a:r>
                  <a:rPr lang="en-AU" sz="2200" dirty="0"/>
                  <a:t>Lower quartile (Q1) = </a:t>
                </a:r>
                <a:r>
                  <a:rPr lang="en-AU" sz="2200" dirty="0" smtClean="0"/>
                  <a:t>17</a:t>
                </a:r>
                <a:endParaRPr lang="en-AU" sz="2200" dirty="0"/>
              </a:p>
              <a:p>
                <a:pPr algn="ctr"/>
                <a:r>
                  <a:rPr lang="en-AU" sz="2200" dirty="0"/>
                  <a:t>Median = </a:t>
                </a:r>
                <a14:m>
                  <m:oMath xmlns:m="http://schemas.openxmlformats.org/officeDocument/2006/math">
                    <m:f>
                      <m:fPr>
                        <m:ctrlPr>
                          <a:rPr lang="en-AU" sz="2200" i="1" dirty="0">
                            <a:latin typeface="Cambria Math" panose="02040503050406030204" pitchFamily="18" charset="0"/>
                          </a:rPr>
                        </m:ctrlPr>
                      </m:fPr>
                      <m:num>
                        <m:r>
                          <a:rPr lang="en-AU" sz="2200" b="0" i="1" dirty="0" smtClean="0">
                            <a:latin typeface="Cambria Math" panose="02040503050406030204" pitchFamily="18" charset="0"/>
                          </a:rPr>
                          <m:t>22</m:t>
                        </m:r>
                        <m:r>
                          <a:rPr lang="en-AU" sz="2200" i="1" dirty="0">
                            <a:latin typeface="Cambria Math" panose="02040503050406030204" pitchFamily="18" charset="0"/>
                          </a:rPr>
                          <m:t>+</m:t>
                        </m:r>
                        <m:r>
                          <a:rPr lang="en-AU" sz="2200" b="0" i="1" dirty="0" smtClean="0">
                            <a:latin typeface="Cambria Math" panose="02040503050406030204" pitchFamily="18" charset="0"/>
                          </a:rPr>
                          <m:t>23</m:t>
                        </m:r>
                      </m:num>
                      <m:den>
                        <m:r>
                          <a:rPr lang="en-AU" sz="2200" i="1" dirty="0">
                            <a:latin typeface="Cambria Math" panose="02040503050406030204" pitchFamily="18" charset="0"/>
                          </a:rPr>
                          <m:t>2</m:t>
                        </m:r>
                      </m:den>
                    </m:f>
                    <m:r>
                      <a:rPr lang="en-AU" sz="2200" i="1" dirty="0">
                        <a:latin typeface="Cambria Math" panose="02040503050406030204" pitchFamily="18" charset="0"/>
                      </a:rPr>
                      <m:t>=</m:t>
                    </m:r>
                    <m:r>
                      <a:rPr lang="en-AU" sz="2200" b="0" i="1" dirty="0" smtClean="0">
                        <a:latin typeface="Cambria Math" panose="02040503050406030204" pitchFamily="18" charset="0"/>
                      </a:rPr>
                      <m:t>22.5</m:t>
                    </m:r>
                  </m:oMath>
                </a14:m>
                <a:endParaRPr lang="en-AU" sz="2200" dirty="0" smtClean="0"/>
              </a:p>
              <a:p>
                <a:pPr algn="ctr"/>
                <a:r>
                  <a:rPr lang="en-AU" sz="2200" dirty="0"/>
                  <a:t>Upper quartile (Q3) = </a:t>
                </a:r>
                <a:r>
                  <a:rPr lang="en-AU" sz="2200" dirty="0" smtClean="0"/>
                  <a:t>26</a:t>
                </a:r>
                <a:endParaRPr lang="en-AU" sz="2200" dirty="0"/>
              </a:p>
              <a:p>
                <a:pPr algn="ctr"/>
                <a:r>
                  <a:rPr lang="en-AU" sz="2200" dirty="0"/>
                  <a:t>Maximum = </a:t>
                </a:r>
                <a:r>
                  <a:rPr lang="en-AU" sz="2200" dirty="0" smtClean="0"/>
                  <a:t>30</a:t>
                </a:r>
                <a:endParaRPr lang="en-AU" sz="2200" dirty="0"/>
              </a:p>
            </p:txBody>
          </p:sp>
        </mc:Choice>
        <mc:Fallback>
          <p:sp>
            <p:nvSpPr>
              <p:cNvPr id="27" name="Rectangle 26"/>
              <p:cNvSpPr>
                <a:spLocks noRot="1" noChangeAspect="1" noMove="1" noResize="1" noEditPoints="1" noAdjustHandles="1" noChangeArrowheads="1" noChangeShapeType="1" noTextEdit="1"/>
              </p:cNvSpPr>
              <p:nvPr/>
            </p:nvSpPr>
            <p:spPr>
              <a:xfrm>
                <a:off x="8026098" y="3115732"/>
                <a:ext cx="3681587" cy="1925335"/>
              </a:xfrm>
              <a:prstGeom prst="rect">
                <a:avLst/>
              </a:prstGeom>
              <a:blipFill>
                <a:blip r:embed="rId2"/>
                <a:stretch>
                  <a:fillRect t="-2215" b="-5696"/>
                </a:stretch>
              </a:blipFill>
            </p:spPr>
            <p:txBody>
              <a:bodyPr/>
              <a:lstStyle/>
              <a:p>
                <a:r>
                  <a:rPr lang="en-AU">
                    <a:noFill/>
                  </a:rPr>
                  <a:t> </a:t>
                </a:r>
              </a:p>
            </p:txBody>
          </p:sp>
        </mc:Fallback>
      </mc:AlternateContent>
      <p:pic>
        <p:nvPicPr>
          <p:cNvPr id="28" name="Picture 27"/>
          <p:cNvPicPr>
            <a:picLocks noChangeAspect="1"/>
          </p:cNvPicPr>
          <p:nvPr/>
        </p:nvPicPr>
        <p:blipFill>
          <a:blip r:embed="rId3"/>
          <a:stretch>
            <a:fillRect/>
          </a:stretch>
        </p:blipFill>
        <p:spPr>
          <a:xfrm>
            <a:off x="1990628" y="5314461"/>
            <a:ext cx="4322301" cy="1385796"/>
          </a:xfrm>
          <a:prstGeom prst="rect">
            <a:avLst/>
          </a:prstGeom>
        </p:spPr>
      </p:pic>
    </p:spTree>
    <p:extLst>
      <p:ext uri="{BB962C8B-B14F-4D97-AF65-F5344CB8AC3E}">
        <p14:creationId xmlns:p14="http://schemas.microsoft.com/office/powerpoint/2010/main" val="791620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20471" cy="461665"/>
          </a:xfrm>
          <a:prstGeom prst="rect">
            <a:avLst/>
          </a:prstGeom>
          <a:solidFill>
            <a:srgbClr val="FFFF00"/>
          </a:solidFill>
        </p:spPr>
        <p:txBody>
          <a:bodyPr wrap="square" rtlCol="0">
            <a:spAutoFit/>
          </a:bodyPr>
          <a:lstStyle/>
          <a:p>
            <a:r>
              <a:rPr lang="en-AU" sz="2400" dirty="0" smtClean="0"/>
              <a:t>Drawing Boxplots</a:t>
            </a:r>
            <a:endParaRPr lang="en-AU" sz="2400" dirty="0"/>
          </a:p>
        </p:txBody>
      </p:sp>
      <p:sp>
        <p:nvSpPr>
          <p:cNvPr id="3" name="TextBox 2"/>
          <p:cNvSpPr txBox="1"/>
          <p:nvPr/>
        </p:nvSpPr>
        <p:spPr>
          <a:xfrm>
            <a:off x="154641" y="585903"/>
            <a:ext cx="11686127" cy="3477875"/>
          </a:xfrm>
          <a:prstGeom prst="rect">
            <a:avLst/>
          </a:prstGeom>
          <a:noFill/>
        </p:spPr>
        <p:txBody>
          <a:bodyPr wrap="square" rtlCol="0">
            <a:spAutoFit/>
          </a:bodyPr>
          <a:lstStyle/>
          <a:p>
            <a:r>
              <a:rPr lang="en-AU" sz="2200" dirty="0" smtClean="0"/>
              <a:t>Draw box and whisker plots for the sets of scores.</a:t>
            </a:r>
          </a:p>
          <a:p>
            <a:endParaRPr lang="en-AU" sz="2200" dirty="0"/>
          </a:p>
          <a:p>
            <a:r>
              <a:rPr lang="en-AU" sz="2200" dirty="0" smtClean="0"/>
              <a:t>7    11    11    11    8    17    10    12    10    14    9    15    9</a:t>
            </a:r>
          </a:p>
          <a:p>
            <a:endParaRPr lang="en-AU" sz="2200" dirty="0"/>
          </a:p>
          <a:p>
            <a:r>
              <a:rPr lang="en-AU" sz="2200" dirty="0" smtClean="0"/>
              <a:t>Step 1: Order the scores.</a:t>
            </a:r>
          </a:p>
          <a:p>
            <a:r>
              <a:rPr lang="en-AU" sz="2200" dirty="0" smtClean="0"/>
              <a:t>Step 2: Find the 5 number summary.</a:t>
            </a:r>
          </a:p>
          <a:p>
            <a:r>
              <a:rPr lang="en-AU" sz="2200" dirty="0" smtClean="0"/>
              <a:t>Step 3: Draw the boxplot.</a:t>
            </a:r>
          </a:p>
          <a:p>
            <a:endParaRPr lang="en-AU" sz="2200" dirty="0" smtClean="0"/>
          </a:p>
          <a:p>
            <a:endParaRPr lang="en-AU" sz="2200" dirty="0"/>
          </a:p>
          <a:p>
            <a:r>
              <a:rPr lang="en-AU" sz="2200" dirty="0" smtClean="0"/>
              <a:t>7    8    9    9    10    10    11    11    11    12    14    15    17</a:t>
            </a:r>
            <a:endParaRPr lang="en-AU" sz="2200" dirty="0"/>
          </a:p>
        </p:txBody>
      </p:sp>
      <p:cxnSp>
        <p:nvCxnSpPr>
          <p:cNvPr id="17" name="Straight Arrow Connector 16">
            <a:extLst>
              <a:ext uri="{FF2B5EF4-FFF2-40B4-BE49-F238E27FC236}">
                <a16:creationId xmlns:a16="http://schemas.microsoft.com/office/drawing/2014/main" id="{007A0B51-37CB-41A7-A11F-14650D24B314}"/>
              </a:ext>
            </a:extLst>
          </p:cNvPr>
          <p:cNvCxnSpPr>
            <a:cxnSpLocks/>
          </p:cNvCxnSpPr>
          <p:nvPr/>
        </p:nvCxnSpPr>
        <p:spPr>
          <a:xfrm>
            <a:off x="3002797" y="3395465"/>
            <a:ext cx="0" cy="2852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154641" y="4112404"/>
            <a:ext cx="2657139" cy="39064"/>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07A0B51-37CB-41A7-A11F-14650D24B314}"/>
              </a:ext>
            </a:extLst>
          </p:cNvPr>
          <p:cNvCxnSpPr>
            <a:cxnSpLocks/>
          </p:cNvCxnSpPr>
          <p:nvPr/>
        </p:nvCxnSpPr>
        <p:spPr>
          <a:xfrm>
            <a:off x="1296346" y="3395464"/>
            <a:ext cx="0" cy="2852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3531567" y="4109943"/>
            <a:ext cx="2869233" cy="246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07A0B51-37CB-41A7-A11F-14650D24B314}"/>
              </a:ext>
            </a:extLst>
          </p:cNvPr>
          <p:cNvCxnSpPr>
            <a:cxnSpLocks/>
          </p:cNvCxnSpPr>
          <p:nvPr/>
        </p:nvCxnSpPr>
        <p:spPr>
          <a:xfrm>
            <a:off x="4925289" y="3428342"/>
            <a:ext cx="0" cy="2852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607192" y="4174190"/>
            <a:ext cx="959278" cy="646331"/>
          </a:xfrm>
          <a:prstGeom prst="rect">
            <a:avLst/>
          </a:prstGeom>
          <a:noFill/>
        </p:spPr>
        <p:txBody>
          <a:bodyPr wrap="square" rtlCol="0">
            <a:spAutoFit/>
          </a:bodyPr>
          <a:lstStyle/>
          <a:p>
            <a:pPr algn="ctr"/>
            <a:r>
              <a:rPr lang="en-AU" dirty="0" smtClean="0"/>
              <a:t>Median</a:t>
            </a:r>
          </a:p>
          <a:p>
            <a:pPr algn="ctr"/>
            <a:r>
              <a:rPr lang="en-AU" dirty="0" smtClean="0"/>
              <a:t>(Q2)</a:t>
            </a:r>
            <a:endParaRPr lang="en-AU" dirty="0"/>
          </a:p>
        </p:txBody>
      </p:sp>
      <p:sp>
        <p:nvSpPr>
          <p:cNvPr id="23" name="TextBox 22"/>
          <p:cNvSpPr txBox="1"/>
          <p:nvPr/>
        </p:nvSpPr>
        <p:spPr>
          <a:xfrm>
            <a:off x="877999" y="4184916"/>
            <a:ext cx="959278" cy="923330"/>
          </a:xfrm>
          <a:prstGeom prst="rect">
            <a:avLst/>
          </a:prstGeom>
          <a:noFill/>
        </p:spPr>
        <p:txBody>
          <a:bodyPr wrap="square" rtlCol="0">
            <a:spAutoFit/>
          </a:bodyPr>
          <a:lstStyle/>
          <a:p>
            <a:pPr algn="ctr"/>
            <a:r>
              <a:rPr lang="en-AU" dirty="0" smtClean="0"/>
              <a:t>Lower quartile (Q1)</a:t>
            </a:r>
            <a:endParaRPr lang="en-AU" dirty="0"/>
          </a:p>
        </p:txBody>
      </p:sp>
      <p:sp>
        <p:nvSpPr>
          <p:cNvPr id="24" name="TextBox 23"/>
          <p:cNvSpPr txBox="1"/>
          <p:nvPr/>
        </p:nvSpPr>
        <p:spPr>
          <a:xfrm>
            <a:off x="4489248" y="4128563"/>
            <a:ext cx="959278" cy="923330"/>
          </a:xfrm>
          <a:prstGeom prst="rect">
            <a:avLst/>
          </a:prstGeom>
          <a:noFill/>
        </p:spPr>
        <p:txBody>
          <a:bodyPr wrap="square" rtlCol="0">
            <a:spAutoFit/>
          </a:bodyPr>
          <a:lstStyle/>
          <a:p>
            <a:pPr algn="ctr"/>
            <a:r>
              <a:rPr lang="en-AU" dirty="0" smtClean="0"/>
              <a:t>Upper quartile</a:t>
            </a:r>
          </a:p>
          <a:p>
            <a:pPr algn="ctr"/>
            <a:r>
              <a:rPr lang="en-AU" dirty="0" smtClean="0"/>
              <a:t>(Q3)</a:t>
            </a:r>
            <a:endParaRPr lang="en-AU" dirty="0"/>
          </a:p>
        </p:txBody>
      </p:sp>
      <mc:AlternateContent xmlns:mc="http://schemas.openxmlformats.org/markup-compatibility/2006">
        <mc:Choice xmlns:a14="http://schemas.microsoft.com/office/drawing/2010/main" Requires="a14">
          <p:sp>
            <p:nvSpPr>
              <p:cNvPr id="25" name="Rectangle 24"/>
              <p:cNvSpPr/>
              <p:nvPr/>
            </p:nvSpPr>
            <p:spPr>
              <a:xfrm>
                <a:off x="7120588" y="3115732"/>
                <a:ext cx="4587098" cy="2095510"/>
              </a:xfrm>
              <a:prstGeom prst="rect">
                <a:avLst/>
              </a:prstGeom>
            </p:spPr>
            <p:txBody>
              <a:bodyPr wrap="square">
                <a:spAutoFit/>
              </a:bodyPr>
              <a:lstStyle/>
              <a:p>
                <a:pPr algn="ctr"/>
                <a:r>
                  <a:rPr lang="en-AU" sz="2200" dirty="0" smtClean="0"/>
                  <a:t>Minimum = 7</a:t>
                </a:r>
                <a:endParaRPr lang="en-AU" sz="2200" dirty="0"/>
              </a:p>
              <a:p>
                <a:pPr algn="ctr"/>
                <a:r>
                  <a:rPr lang="en-AU" sz="2200" dirty="0"/>
                  <a:t>Lower quartile (Q1</a:t>
                </a:r>
                <a:r>
                  <a:rPr lang="en-AU" sz="2200" dirty="0" smtClean="0"/>
                  <a:t>)= </a:t>
                </a:r>
                <a14:m>
                  <m:oMath xmlns:m="http://schemas.openxmlformats.org/officeDocument/2006/math">
                    <m:f>
                      <m:fPr>
                        <m:ctrlPr>
                          <a:rPr lang="en-AU" sz="2200" i="1" smtClean="0">
                            <a:latin typeface="Cambria Math" panose="02040503050406030204" pitchFamily="18" charset="0"/>
                          </a:rPr>
                        </m:ctrlPr>
                      </m:fPr>
                      <m:num>
                        <m:r>
                          <a:rPr lang="en-AU" sz="2200" b="0" i="1" smtClean="0">
                            <a:latin typeface="Cambria Math" panose="02040503050406030204" pitchFamily="18" charset="0"/>
                          </a:rPr>
                          <m:t>9+9</m:t>
                        </m:r>
                      </m:num>
                      <m:den>
                        <m:r>
                          <a:rPr lang="en-AU" sz="2200" b="0" i="1" smtClean="0">
                            <a:latin typeface="Cambria Math" panose="02040503050406030204" pitchFamily="18" charset="0"/>
                          </a:rPr>
                          <m:t>2</m:t>
                        </m:r>
                      </m:den>
                    </m:f>
                    <m:r>
                      <a:rPr lang="en-AU" sz="2200" b="0" i="1" smtClean="0">
                        <a:latin typeface="Cambria Math" panose="02040503050406030204" pitchFamily="18" charset="0"/>
                      </a:rPr>
                      <m:t>=9</m:t>
                    </m:r>
                  </m:oMath>
                </a14:m>
                <a:r>
                  <a:rPr lang="en-AU" sz="2200" dirty="0" smtClean="0"/>
                  <a:t> </a:t>
                </a:r>
                <a:endParaRPr lang="en-AU" sz="2200" dirty="0"/>
              </a:p>
              <a:p>
                <a:pPr algn="ctr"/>
                <a:r>
                  <a:rPr lang="en-AU" sz="2200" dirty="0"/>
                  <a:t>Median = </a:t>
                </a:r>
                <a14:m>
                  <m:oMath xmlns:m="http://schemas.openxmlformats.org/officeDocument/2006/math">
                    <m:r>
                      <a:rPr lang="en-AU" sz="2200" b="0" i="1" smtClean="0">
                        <a:latin typeface="Cambria Math" panose="02040503050406030204" pitchFamily="18" charset="0"/>
                      </a:rPr>
                      <m:t>11</m:t>
                    </m:r>
                  </m:oMath>
                </a14:m>
                <a:endParaRPr lang="en-AU" sz="2200" dirty="0" smtClean="0"/>
              </a:p>
              <a:p>
                <a:pPr algn="ctr"/>
                <a:r>
                  <a:rPr lang="en-AU" sz="2200" dirty="0"/>
                  <a:t>Upper quartile (Q3) </a:t>
                </a:r>
                <a:r>
                  <a:rPr lang="en-AU" sz="2200" dirty="0" smtClean="0"/>
                  <a:t>= </a:t>
                </a:r>
                <a14:m>
                  <m:oMath xmlns:m="http://schemas.openxmlformats.org/officeDocument/2006/math">
                    <m:f>
                      <m:fPr>
                        <m:ctrlPr>
                          <a:rPr lang="en-AU" sz="2200" i="1" smtClean="0">
                            <a:latin typeface="Cambria Math" panose="02040503050406030204" pitchFamily="18" charset="0"/>
                          </a:rPr>
                        </m:ctrlPr>
                      </m:fPr>
                      <m:num>
                        <m:r>
                          <a:rPr lang="en-AU" sz="2200" b="0" i="1" smtClean="0">
                            <a:latin typeface="Cambria Math" panose="02040503050406030204" pitchFamily="18" charset="0"/>
                          </a:rPr>
                          <m:t>12+14</m:t>
                        </m:r>
                      </m:num>
                      <m:den>
                        <m:r>
                          <a:rPr lang="en-AU" sz="2200" b="0" i="1" smtClean="0">
                            <a:latin typeface="Cambria Math" panose="02040503050406030204" pitchFamily="18" charset="0"/>
                          </a:rPr>
                          <m:t>2</m:t>
                        </m:r>
                      </m:den>
                    </m:f>
                    <m:r>
                      <a:rPr lang="en-AU" sz="2200" b="0" i="1" smtClean="0">
                        <a:latin typeface="Cambria Math" panose="02040503050406030204" pitchFamily="18" charset="0"/>
                      </a:rPr>
                      <m:t>=13</m:t>
                    </m:r>
                  </m:oMath>
                </a14:m>
                <a:r>
                  <a:rPr lang="en-AU" sz="2200" dirty="0" smtClean="0"/>
                  <a:t> </a:t>
                </a:r>
                <a:endParaRPr lang="en-AU" sz="2200" dirty="0"/>
              </a:p>
              <a:p>
                <a:pPr algn="ctr"/>
                <a:r>
                  <a:rPr lang="en-AU" sz="2200" dirty="0"/>
                  <a:t>Maximum = </a:t>
                </a:r>
                <a:r>
                  <a:rPr lang="en-AU" sz="2200" dirty="0" smtClean="0"/>
                  <a:t>17</a:t>
                </a:r>
                <a:endParaRPr lang="en-AU" sz="2200" dirty="0"/>
              </a:p>
            </p:txBody>
          </p:sp>
        </mc:Choice>
        <mc:Fallback>
          <p:sp>
            <p:nvSpPr>
              <p:cNvPr id="25" name="Rectangle 24"/>
              <p:cNvSpPr>
                <a:spLocks noRot="1" noChangeAspect="1" noMove="1" noResize="1" noEditPoints="1" noAdjustHandles="1" noChangeArrowheads="1" noChangeShapeType="1" noTextEdit="1"/>
              </p:cNvSpPr>
              <p:nvPr/>
            </p:nvSpPr>
            <p:spPr>
              <a:xfrm>
                <a:off x="7120588" y="3115732"/>
                <a:ext cx="4587098" cy="2095510"/>
              </a:xfrm>
              <a:prstGeom prst="rect">
                <a:avLst/>
              </a:prstGeom>
              <a:blipFill>
                <a:blip r:embed="rId2"/>
                <a:stretch>
                  <a:fillRect t="-2035" b="-3488"/>
                </a:stretch>
              </a:blipFill>
            </p:spPr>
            <p:txBody>
              <a:bodyPr/>
              <a:lstStyle/>
              <a:p>
                <a:r>
                  <a:rPr lang="en-AU">
                    <a:noFill/>
                  </a:rPr>
                  <a:t> </a:t>
                </a:r>
              </a:p>
            </p:txBody>
          </p:sp>
        </mc:Fallback>
      </mc:AlternateContent>
      <p:pic>
        <p:nvPicPr>
          <p:cNvPr id="28" name="Picture 27"/>
          <p:cNvPicPr>
            <a:picLocks noChangeAspect="1"/>
          </p:cNvPicPr>
          <p:nvPr/>
        </p:nvPicPr>
        <p:blipFill>
          <a:blip r:embed="rId3"/>
          <a:stretch>
            <a:fillRect/>
          </a:stretch>
        </p:blipFill>
        <p:spPr>
          <a:xfrm>
            <a:off x="937260" y="5162305"/>
            <a:ext cx="4861560" cy="1663165"/>
          </a:xfrm>
          <a:prstGeom prst="rect">
            <a:avLst/>
          </a:prstGeom>
        </p:spPr>
      </p:pic>
      <p:sp>
        <p:nvSpPr>
          <p:cNvPr id="29" name="TextBox 28"/>
          <p:cNvSpPr txBox="1"/>
          <p:nvPr/>
        </p:nvSpPr>
        <p:spPr>
          <a:xfrm>
            <a:off x="8661115" y="246580"/>
            <a:ext cx="3046571" cy="769441"/>
          </a:xfrm>
          <a:prstGeom prst="rect">
            <a:avLst/>
          </a:prstGeom>
          <a:noFill/>
          <a:ln>
            <a:solidFill>
              <a:schemeClr val="tx1"/>
            </a:solidFill>
          </a:ln>
        </p:spPr>
        <p:txBody>
          <a:bodyPr wrap="square" rtlCol="0">
            <a:spAutoFit/>
          </a:bodyPr>
          <a:lstStyle/>
          <a:p>
            <a:pPr algn="ctr"/>
            <a:r>
              <a:rPr lang="en-AU" sz="2200" dirty="0" smtClean="0"/>
              <a:t>Note: Boxplots can also be drawn vertically.</a:t>
            </a:r>
            <a:endParaRPr lang="en-AU" sz="2200" dirty="0"/>
          </a:p>
        </p:txBody>
      </p:sp>
      <p:pic>
        <p:nvPicPr>
          <p:cNvPr id="30" name="Picture 29"/>
          <p:cNvPicPr>
            <a:picLocks noChangeAspect="1"/>
          </p:cNvPicPr>
          <p:nvPr/>
        </p:nvPicPr>
        <p:blipFill>
          <a:blip r:embed="rId4"/>
          <a:stretch>
            <a:fillRect/>
          </a:stretch>
        </p:blipFill>
        <p:spPr>
          <a:xfrm>
            <a:off x="10551935" y="1194833"/>
            <a:ext cx="840118" cy="1810487"/>
          </a:xfrm>
          <a:prstGeom prst="rect">
            <a:avLst/>
          </a:prstGeom>
        </p:spPr>
      </p:pic>
    </p:spTree>
    <p:extLst>
      <p:ext uri="{BB962C8B-B14F-4D97-AF65-F5344CB8AC3E}">
        <p14:creationId xmlns:p14="http://schemas.microsoft.com/office/powerpoint/2010/main" val="214480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4061507" cy="461665"/>
          </a:xfrm>
          <a:prstGeom prst="rect">
            <a:avLst/>
          </a:prstGeom>
          <a:solidFill>
            <a:srgbClr val="FFFF00"/>
          </a:solidFill>
        </p:spPr>
        <p:txBody>
          <a:bodyPr wrap="square" rtlCol="0">
            <a:spAutoFit/>
          </a:bodyPr>
          <a:lstStyle/>
          <a:p>
            <a:r>
              <a:rPr lang="en-AU" sz="2400" dirty="0" smtClean="0"/>
              <a:t>Drawing Boxplots on Class Pad</a:t>
            </a:r>
            <a:endParaRPr lang="en-AU" sz="2400" dirty="0"/>
          </a:p>
        </p:txBody>
      </p:sp>
      <p:pic>
        <p:nvPicPr>
          <p:cNvPr id="3" name="Picture 2"/>
          <p:cNvPicPr>
            <a:picLocks noChangeAspect="1"/>
          </p:cNvPicPr>
          <p:nvPr/>
        </p:nvPicPr>
        <p:blipFill>
          <a:blip r:embed="rId2"/>
          <a:stretch>
            <a:fillRect/>
          </a:stretch>
        </p:blipFill>
        <p:spPr>
          <a:xfrm>
            <a:off x="357696" y="1190001"/>
            <a:ext cx="1775585" cy="2513048"/>
          </a:xfrm>
          <a:prstGeom prst="rect">
            <a:avLst/>
          </a:prstGeom>
        </p:spPr>
      </p:pic>
      <p:pic>
        <p:nvPicPr>
          <p:cNvPr id="4" name="Picture 3"/>
          <p:cNvPicPr>
            <a:picLocks noChangeAspect="1"/>
          </p:cNvPicPr>
          <p:nvPr/>
        </p:nvPicPr>
        <p:blipFill>
          <a:blip r:embed="rId3"/>
          <a:stretch>
            <a:fillRect/>
          </a:stretch>
        </p:blipFill>
        <p:spPr>
          <a:xfrm>
            <a:off x="2258741" y="1189813"/>
            <a:ext cx="1457851" cy="1701578"/>
          </a:xfrm>
          <a:prstGeom prst="rect">
            <a:avLst/>
          </a:prstGeom>
        </p:spPr>
      </p:pic>
      <p:pic>
        <p:nvPicPr>
          <p:cNvPr id="5" name="Picture 4"/>
          <p:cNvPicPr>
            <a:picLocks noChangeAspect="1"/>
          </p:cNvPicPr>
          <p:nvPr/>
        </p:nvPicPr>
        <p:blipFill>
          <a:blip r:embed="rId4"/>
          <a:stretch>
            <a:fillRect/>
          </a:stretch>
        </p:blipFill>
        <p:spPr>
          <a:xfrm>
            <a:off x="3770451" y="1189813"/>
            <a:ext cx="1465302" cy="1712339"/>
          </a:xfrm>
          <a:prstGeom prst="rect">
            <a:avLst/>
          </a:prstGeom>
        </p:spPr>
      </p:pic>
      <p:pic>
        <p:nvPicPr>
          <p:cNvPr id="6" name="Picture 5"/>
          <p:cNvPicPr>
            <a:picLocks noChangeAspect="1"/>
          </p:cNvPicPr>
          <p:nvPr/>
        </p:nvPicPr>
        <p:blipFill>
          <a:blip r:embed="rId5"/>
          <a:stretch>
            <a:fillRect/>
          </a:stretch>
        </p:blipFill>
        <p:spPr>
          <a:xfrm>
            <a:off x="5353762" y="1189814"/>
            <a:ext cx="1230432" cy="1701578"/>
          </a:xfrm>
          <a:prstGeom prst="rect">
            <a:avLst/>
          </a:prstGeom>
        </p:spPr>
      </p:pic>
      <p:pic>
        <p:nvPicPr>
          <p:cNvPr id="7" name="Picture 6"/>
          <p:cNvPicPr>
            <a:picLocks noChangeAspect="1"/>
          </p:cNvPicPr>
          <p:nvPr/>
        </p:nvPicPr>
        <p:blipFill>
          <a:blip r:embed="rId6"/>
          <a:stretch>
            <a:fillRect/>
          </a:stretch>
        </p:blipFill>
        <p:spPr>
          <a:xfrm>
            <a:off x="6753493" y="1189813"/>
            <a:ext cx="3059634" cy="1905055"/>
          </a:xfrm>
          <a:prstGeom prst="rect">
            <a:avLst/>
          </a:prstGeom>
        </p:spPr>
      </p:pic>
      <p:sp>
        <p:nvSpPr>
          <p:cNvPr id="8" name="TextBox 7"/>
          <p:cNvSpPr txBox="1"/>
          <p:nvPr/>
        </p:nvSpPr>
        <p:spPr>
          <a:xfrm>
            <a:off x="247650" y="692150"/>
            <a:ext cx="11303000" cy="430887"/>
          </a:xfrm>
          <a:prstGeom prst="rect">
            <a:avLst/>
          </a:prstGeom>
          <a:noFill/>
        </p:spPr>
        <p:txBody>
          <a:bodyPr wrap="square" rtlCol="0">
            <a:spAutoFit/>
          </a:bodyPr>
          <a:lstStyle/>
          <a:p>
            <a:r>
              <a:rPr lang="en-AU" sz="2200" dirty="0" smtClean="0"/>
              <a:t>We can draw boxplots of a data set using our </a:t>
            </a:r>
            <a:r>
              <a:rPr lang="en-AU" sz="2200" dirty="0" err="1" smtClean="0"/>
              <a:t>ClassPad</a:t>
            </a:r>
            <a:r>
              <a:rPr lang="en-AU" sz="2200" dirty="0" smtClean="0"/>
              <a:t>.</a:t>
            </a:r>
            <a:endParaRPr lang="en-AU" sz="2200" dirty="0"/>
          </a:p>
        </p:txBody>
      </p:sp>
      <p:pic>
        <p:nvPicPr>
          <p:cNvPr id="9" name="Picture 8"/>
          <p:cNvPicPr>
            <a:picLocks noChangeAspect="1"/>
          </p:cNvPicPr>
          <p:nvPr/>
        </p:nvPicPr>
        <p:blipFill>
          <a:blip r:embed="rId7"/>
          <a:stretch>
            <a:fillRect/>
          </a:stretch>
        </p:blipFill>
        <p:spPr>
          <a:xfrm>
            <a:off x="357696" y="3879850"/>
            <a:ext cx="2327423" cy="2533650"/>
          </a:xfrm>
          <a:prstGeom prst="rect">
            <a:avLst/>
          </a:prstGeom>
        </p:spPr>
      </p:pic>
      <p:pic>
        <p:nvPicPr>
          <p:cNvPr id="10" name="Picture 9"/>
          <p:cNvPicPr>
            <a:picLocks noChangeAspect="1"/>
          </p:cNvPicPr>
          <p:nvPr/>
        </p:nvPicPr>
        <p:blipFill>
          <a:blip r:embed="rId8"/>
          <a:stretch>
            <a:fillRect/>
          </a:stretch>
        </p:blipFill>
        <p:spPr>
          <a:xfrm>
            <a:off x="2889251" y="3879850"/>
            <a:ext cx="2399062" cy="2597150"/>
          </a:xfrm>
          <a:prstGeom prst="rect">
            <a:avLst/>
          </a:prstGeom>
        </p:spPr>
      </p:pic>
      <p:pic>
        <p:nvPicPr>
          <p:cNvPr id="11" name="Picture 10"/>
          <p:cNvPicPr>
            <a:picLocks noChangeAspect="1"/>
          </p:cNvPicPr>
          <p:nvPr/>
        </p:nvPicPr>
        <p:blipFill>
          <a:blip r:embed="rId9"/>
          <a:stretch>
            <a:fillRect/>
          </a:stretch>
        </p:blipFill>
        <p:spPr>
          <a:xfrm>
            <a:off x="5521288" y="4065587"/>
            <a:ext cx="4105275" cy="1495425"/>
          </a:xfrm>
          <a:prstGeom prst="rect">
            <a:avLst/>
          </a:prstGeom>
        </p:spPr>
      </p:pic>
    </p:spTree>
    <p:extLst>
      <p:ext uri="{BB962C8B-B14F-4D97-AF65-F5344CB8AC3E}">
        <p14:creationId xmlns:p14="http://schemas.microsoft.com/office/powerpoint/2010/main" val="4183211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 y="0"/>
            <a:ext cx="2933700" cy="461665"/>
          </a:xfrm>
          <a:prstGeom prst="rect">
            <a:avLst/>
          </a:prstGeom>
          <a:solidFill>
            <a:srgbClr val="FFFF00"/>
          </a:solidFill>
        </p:spPr>
        <p:txBody>
          <a:bodyPr wrap="square" rtlCol="0">
            <a:spAutoFit/>
          </a:bodyPr>
          <a:lstStyle/>
          <a:p>
            <a:r>
              <a:rPr lang="en-AU" sz="2400" dirty="0" smtClean="0"/>
              <a:t>Boxplots and Outliers</a:t>
            </a:r>
            <a:endParaRPr lang="en-AU" sz="2400" dirty="0"/>
          </a:p>
        </p:txBody>
      </p:sp>
      <p:sp>
        <p:nvSpPr>
          <p:cNvPr id="9" name="TextBox 8"/>
          <p:cNvSpPr txBox="1"/>
          <p:nvPr/>
        </p:nvSpPr>
        <p:spPr>
          <a:xfrm>
            <a:off x="260350" y="698500"/>
            <a:ext cx="11487150" cy="3139321"/>
          </a:xfrm>
          <a:prstGeom prst="rect">
            <a:avLst/>
          </a:prstGeom>
          <a:noFill/>
        </p:spPr>
        <p:txBody>
          <a:bodyPr wrap="square" rtlCol="0">
            <a:spAutoFit/>
          </a:bodyPr>
          <a:lstStyle/>
          <a:p>
            <a:r>
              <a:rPr lang="en-AU" sz="2200" dirty="0" smtClean="0"/>
              <a:t>If we want to, we can tick the box to ‘show outliers’ which allows us to view unusually high or low scores as separate points on the diagram.</a:t>
            </a:r>
          </a:p>
          <a:p>
            <a:endParaRPr lang="en-AU" sz="2200" dirty="0"/>
          </a:p>
          <a:p>
            <a:r>
              <a:rPr lang="en-AU" sz="2200" dirty="0" smtClean="0"/>
              <a:t>If we choose to do this, the whiskers of our diagram are drawn to include all values which are within one and a half times the interquartile range away from Q1 or Q3.</a:t>
            </a:r>
          </a:p>
          <a:p>
            <a:endParaRPr lang="en-AU" sz="2200" dirty="0" smtClean="0"/>
          </a:p>
          <a:p>
            <a:r>
              <a:rPr lang="en-AU" sz="2200" dirty="0" smtClean="0"/>
              <a:t>For example, if the interquartile range is 8, the whiskers would only extend to scores that are no more than 12 (1.5x8) marks less than the lower quartile and no more than 12 marks higher than the upper quartile. Any scores beyond this are marked with an x. </a:t>
            </a:r>
            <a:endParaRPr lang="en-AU" sz="2200" dirty="0"/>
          </a:p>
        </p:txBody>
      </p:sp>
      <p:pic>
        <p:nvPicPr>
          <p:cNvPr id="10" name="Picture 9"/>
          <p:cNvPicPr>
            <a:picLocks noChangeAspect="1"/>
          </p:cNvPicPr>
          <p:nvPr/>
        </p:nvPicPr>
        <p:blipFill>
          <a:blip r:embed="rId2"/>
          <a:stretch>
            <a:fillRect/>
          </a:stretch>
        </p:blipFill>
        <p:spPr>
          <a:xfrm>
            <a:off x="1" y="4140200"/>
            <a:ext cx="5708649" cy="1656901"/>
          </a:xfrm>
          <a:prstGeom prst="rect">
            <a:avLst/>
          </a:prstGeom>
        </p:spPr>
      </p:pic>
      <p:sp>
        <p:nvSpPr>
          <p:cNvPr id="11" name="TextBox 10"/>
          <p:cNvSpPr txBox="1"/>
          <p:nvPr/>
        </p:nvSpPr>
        <p:spPr>
          <a:xfrm>
            <a:off x="6140450" y="4140200"/>
            <a:ext cx="5257800" cy="2123658"/>
          </a:xfrm>
          <a:prstGeom prst="rect">
            <a:avLst/>
          </a:prstGeom>
          <a:noFill/>
        </p:spPr>
        <p:txBody>
          <a:bodyPr wrap="square" rtlCol="0">
            <a:spAutoFit/>
          </a:bodyPr>
          <a:lstStyle/>
          <a:p>
            <a:pPr algn="ctr"/>
            <a:r>
              <a:rPr lang="en-AU" sz="2200" dirty="0" smtClean="0"/>
              <a:t>The vast majority of questions will not ask you to do this, but you need to remember that values more than 1.5 x interquartile range beyond the lower and upper quartiles can be considered outliers if we choose to identify them. </a:t>
            </a:r>
            <a:endParaRPr lang="en-AU" sz="2200" dirty="0"/>
          </a:p>
        </p:txBody>
      </p:sp>
      <p:sp>
        <p:nvSpPr>
          <p:cNvPr id="13" name="TextBox 12"/>
          <p:cNvSpPr txBox="1"/>
          <p:nvPr/>
        </p:nvSpPr>
        <p:spPr>
          <a:xfrm>
            <a:off x="4537075" y="0"/>
            <a:ext cx="2663825" cy="461665"/>
          </a:xfrm>
          <a:prstGeom prst="rect">
            <a:avLst/>
          </a:prstGeom>
          <a:solidFill>
            <a:srgbClr val="FFFF00"/>
          </a:solidFill>
        </p:spPr>
        <p:txBody>
          <a:bodyPr wrap="square" rtlCol="0">
            <a:spAutoFit/>
          </a:bodyPr>
          <a:lstStyle/>
          <a:p>
            <a:r>
              <a:rPr lang="en-AU" sz="2400" dirty="0" smtClean="0"/>
              <a:t>Now do exercise 4A</a:t>
            </a:r>
            <a:endParaRPr lang="en-AU" sz="2400" dirty="0"/>
          </a:p>
        </p:txBody>
      </p:sp>
    </p:spTree>
    <p:extLst>
      <p:ext uri="{BB962C8B-B14F-4D97-AF65-F5344CB8AC3E}">
        <p14:creationId xmlns:p14="http://schemas.microsoft.com/office/powerpoint/2010/main" val="2856211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TotalTime>
  <Words>1202</Words>
  <Application>Microsoft Office PowerPoint</Application>
  <PresentationFormat>Widescreen</PresentationFormat>
  <Paragraphs>134</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HarrisdaleSHS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LEVITT Megan [Harrisdale Senior High School]</cp:lastModifiedBy>
  <cp:revision>53</cp:revision>
  <dcterms:created xsi:type="dcterms:W3CDTF">2020-12-09T06:24:59Z</dcterms:created>
  <dcterms:modified xsi:type="dcterms:W3CDTF">2021-06-22T05:05:05Z</dcterms:modified>
</cp:coreProperties>
</file>
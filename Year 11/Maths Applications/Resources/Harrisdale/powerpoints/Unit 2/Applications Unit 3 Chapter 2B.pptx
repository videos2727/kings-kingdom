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68" r:id="rId4"/>
    <p:sldId id="259" r:id="rId5"/>
    <p:sldId id="260" r:id="rId6"/>
    <p:sldId id="261" r:id="rId7"/>
    <p:sldId id="269" r:id="rId8"/>
    <p:sldId id="262" r:id="rId9"/>
    <p:sldId id="270" r:id="rId10"/>
    <p:sldId id="263" r:id="rId11"/>
    <p:sldId id="266" r:id="rId12"/>
    <p:sldId id="267"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6" d="100"/>
          <a:sy n="86" d="100"/>
        </p:scale>
        <p:origin x="66" y="1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3T04:50:32.509"/>
    </inkml:context>
    <inkml:brush xml:id="br0">
      <inkml:brushProperty name="width" value="0.09333" units="cm"/>
      <inkml:brushProperty name="height" value="0.09333" units="cm"/>
      <inkml:brushProperty name="fitToCurve" value="1"/>
    </inkml:brush>
  </inkml:definitions>
  <inkml:traceGroup>
    <inkml:annotationXML>
      <emma:emma xmlns:emma="http://www.w3.org/2003/04/emma" version="1.0">
        <emma:interpretation id="{09452778-35C8-4E09-9B4A-627776DCDD61}" emma:medium="tactile" emma:mode="ink">
          <msink:context xmlns:msink="http://schemas.microsoft.com/ink/2010/main" type="writingRegion" rotatedBoundingBox="3179,15661 4058,15661 4058,16233 3179,16233"/>
        </emma:interpretation>
      </emma:emma>
    </inkml:annotationXML>
    <inkml:traceGroup>
      <inkml:annotationXML>
        <emma:emma xmlns:emma="http://www.w3.org/2003/04/emma" version="1.0">
          <emma:interpretation id="{96B14D2F-FC29-400E-9AF5-087025FF8D79}" emma:medium="tactile" emma:mode="ink">
            <msink:context xmlns:msink="http://schemas.microsoft.com/ink/2010/main" type="paragraph" rotatedBoundingBox="3179,15661 4058,15661 4058,16233 3179,16233" alignmentLevel="1"/>
          </emma:interpretation>
        </emma:emma>
      </inkml:annotationXML>
      <inkml:traceGroup>
        <inkml:annotationXML>
          <emma:emma xmlns:emma="http://www.w3.org/2003/04/emma" version="1.0">
            <emma:interpretation id="{0794C469-2F4E-4BAA-A4A4-30CC31D6C91F}" emma:medium="tactile" emma:mode="ink">
              <msink:context xmlns:msink="http://schemas.microsoft.com/ink/2010/main" type="line" rotatedBoundingBox="3179,15661 4058,15661 4058,16233 3179,16233"/>
            </emma:interpretation>
          </emma:emma>
        </inkml:annotationXML>
        <inkml:traceGroup>
          <inkml:annotationXML>
            <emma:emma xmlns:emma="http://www.w3.org/2003/04/emma" version="1.0">
              <emma:interpretation id="{B11D489F-CB67-49C9-9D6E-3E18701DB2DE}" emma:medium="tactile" emma:mode="ink">
                <msink:context xmlns:msink="http://schemas.microsoft.com/ink/2010/main" type="inkWord" rotatedBoundingBox="3179,15886 3495,15886 3495,15903 3179,15903"/>
              </emma:interpretation>
              <emma:one-of disjunction-type="recognition" id="oneOf0">
                <emma:interpretation id="interp0" emma:lang="" emma:confidence="1">
                  <emma:literal/>
                </emma:interpretation>
              </emma:one-of>
            </emma:emma>
          </inkml:annotationXML>
          <inkml:trace contextRef="#ctx0" brushRef="#br0">5 1 911 0,'0'0'0'0,"0"0"0"16,0 0 0-16,0 0 0 0,0 0 1056 0,0 0 128 0,0 0 32 0,0 0 0 16,0 0-1088-16,0 0-128 15,0 0-176-15,0 0 48 0,-10-4-128 0,10 4-32 16,0 0 0-16,0 0 0 16,0 0 864-16,0 0 192 0,0 0 16 0,0 0 16 15,0 0 704-15,0 0 144 0,0 0 16 0,0 0 16 0,0 0-496 0,0 0-96 16,0 0-32-16,0 0 0 0,0 0-496 0,0 0-112 15,0 0 0-15,0 0-16 0,0 0-432 0,0 0 0 16,0 0-144-16,0 0 144 0,0 0 0 0,0 0 0 0,0 0 128 0,0 0-128 16,0 0 528-16,0 0 16 15,0 0 0-15,0 0 0 0,0 0 96 0,0 0 0 16,0 0 16-16,0 0 0 0,0 0-320 0,13 4-64 16,-13-4-16-16,0 0 0 0,13 4-256 0,-1 0 160 15,-12-4-160-15,13 3 128 0,-13-3-128 0,14 2 0 16,-1-4 0-16,0 0 0 0,-13 2-192 0,13-1 48 15,2 1 0-15,-1-2 0 0,-14 2 144 0,18 0-208 0,2 0 80 16,1 0 128-16,-4 2 0 0,-2-1 0 0,-15-1 0 0,16-1 0 16,2-1-208-16,0 0 80 0,-3-1 128 0,-2 2-208 15,-13 1-496-15,0 0-80 0,0 0-32 0,12-4-8208 0</inkml:trace>
        </inkml:traceGroup>
        <inkml:traceGroup>
          <inkml:annotationXML>
            <emma:emma xmlns:emma="http://www.w3.org/2003/04/emma" version="1.0">
              <emma:interpretation id="{D2682468-A280-4E38-B9E2-B8ADCE14A586}" emma:medium="tactile" emma:mode="ink">
                <msink:context xmlns:msink="http://schemas.microsoft.com/ink/2010/main" type="inkWord" rotatedBoundingBox="3870,15661 4058,15661 4058,16233 3870,16233"/>
              </emma:interpretation>
              <emma:one-of disjunction-type="recognition" id="oneOf1">
                <emma:interpretation id="interp1" emma:lang="" emma:confidence="0">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1</emma:literal>
                </emma:interpretation>
                <emma:interpretation id="interp5" emma:lang="" emma:confidence="0">
                  <emma:literal>|</emma:literal>
                </emma:interpretation>
              </emma:one-of>
            </emma:emma>
          </inkml:annotationXML>
          <inkml:trace contextRef="#ctx0" brushRef="#br0" timeOffset="562.5157">686-228 12383 0,'0'0'544'0,"0"0"112"0,0 0-528 0,0 0-128 0,0 0 0 0,0 0 0 31,0 0 464-31,0 0 64 0,0 0 16 0,0 0 0 15,0 0-544-15,0 0 0 0,0 0 0 0,0 0-192 0,0 0 192 0,8 11 0 16,-8-11 0-16,0 0 160 16,10 13 512-16,-4 0 96 0,-6-13 32 0,7 15 0 0,-7-15 96 0,8 16 32 15,-2-1 0-15,1-2 0 0,-2-2-400 0,0 0-80 16,0 2 0-16,1 4-16 0,-1 2-256 0,1 4-48 16,2 1-128-16,-1 7 192 0,-4 1 0 0,4 1-16 0,2-1 0 15,3-1 0-15,-4 1-176 0,0-3 0 0,2-3 0 0,-2 0 128 16,-3-1-320-16,0-3-80 0,1-1-16 0,2-3-9712 15</inkml:trace>
        </inkml:traceGroup>
      </inkml:traceGroup>
    </inkml:traceGroup>
  </inkml:traceGroup>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3T04:50:52.802"/>
    </inkml:context>
    <inkml:brush xml:id="br0">
      <inkml:brushProperty name="width" value="0.09333" units="cm"/>
      <inkml:brushProperty name="height" value="0.09333" units="cm"/>
      <inkml:brushProperty name="fitToCurve" value="1"/>
    </inkml:brush>
  </inkml:definitions>
  <inkml:traceGroup>
    <inkml:annotationXML>
      <emma:emma xmlns:emma="http://www.w3.org/2003/04/emma" version="1.0">
        <emma:interpretation id="{727FB54C-3265-4EC6-89FF-2A42C00BE8DC}" emma:medium="tactile" emma:mode="ink">
          <msink:context xmlns:msink="http://schemas.microsoft.com/ink/2010/main" type="writingRegion" rotatedBoundingBox="8464,17030 9286,16771 9490,17420 8668,17678"/>
        </emma:interpretation>
      </emma:emma>
    </inkml:annotationXML>
    <inkml:traceGroup>
      <inkml:annotationXML>
        <emma:emma xmlns:emma="http://www.w3.org/2003/04/emma" version="1.0">
          <emma:interpretation id="{7B5D4F0E-4AE1-4475-B5AE-FE25320B0AEB}" emma:medium="tactile" emma:mode="ink">
            <msink:context xmlns:msink="http://schemas.microsoft.com/ink/2010/main" type="paragraph" rotatedBoundingBox="8464,17030 9286,16771 9490,17420 8668,17678" alignmentLevel="1"/>
          </emma:interpretation>
        </emma:emma>
      </inkml:annotationXML>
      <inkml:traceGroup>
        <inkml:annotationXML>
          <emma:emma xmlns:emma="http://www.w3.org/2003/04/emma" version="1.0">
            <emma:interpretation id="{7C230A0A-3332-4DB0-8F90-40725E1257B1}" emma:medium="tactile" emma:mode="ink">
              <msink:context xmlns:msink="http://schemas.microsoft.com/ink/2010/main" type="line" rotatedBoundingBox="8464,17030 9286,16771 9490,17420 8668,17678"/>
            </emma:interpretation>
          </emma:emma>
        </inkml:annotationXML>
        <inkml:traceGroup>
          <inkml:annotationXML>
            <emma:emma xmlns:emma="http://www.w3.org/2003/04/emma" version="1.0">
              <emma:interpretation id="{4A2D43E6-A3F5-4948-B747-4A7D7C0B1BC3}" emma:medium="tactile" emma:mode="ink">
                <msink:context xmlns:msink="http://schemas.microsoft.com/ink/2010/main" type="inkWord" rotatedBoundingBox="8549,17298 8968,17166 8999,17265 8580,17397"/>
              </emma:interpretation>
              <emma:one-of disjunction-type="recognition" id="oneOf0">
                <emma:interpretation id="interp0" emma:lang="" emma:confidence="0">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_</emma:literal>
                </emma:interpretation>
                <emma:interpretation id="interp4" emma:lang="" emma:confidence="0">
                  <emma:literal>+</emma:literal>
                </emma:interpretation>
              </emma:one-of>
            </emma:emma>
          </inkml:annotationXML>
          <inkml:trace contextRef="#ctx0" brushRef="#br0">414 0 6447 0,'4'19'576'0,"-4"-19"-576"0,0 0 0 0,10 10 0 0,-2 0 2496 0,-8-10 400 0,8 11 80 0,-8-11 16 16,0 0-2160-16,0 0-416 16,0 0-96-16,0 0 0 0,0 0-448 0,0 0-96 15,0 0-16-15,0 0 0 0,1 16-80 0,-1-16 0 16,0 0-16-16,0 0 0 0,0 0 912 0,-11 8 192 15,1-3 48-15,10-5 0 0,-15-5 48 0,-1 1 16 16,-1 4 0-16,-1 0 0 0,1 0-368 0,-1 0-80 16,-1 0-16-16,0 2 0 0,-3 0-112 0,5-1-32 0,1 1 0 0,-1 2 0 15,-3 2 64-15,3-4 16 0,1-4 0 0,1 2 0 16,-1 0-176-16,1 6-48 0,-1 2 0 0,3-3 0 16,13-5-128-16,-16 0 0 0,1 4 0 0,-1-2 0 15,1-2-240-15,15 0-80 0,0 0 0 0,-12-4-7360 16,1-1-1456-16</inkml:trace>
        </inkml:traceGroup>
        <inkml:traceGroup>
          <inkml:annotationXML>
            <emma:emma xmlns:emma="http://www.w3.org/2003/04/emma" version="1.0">
              <emma:interpretation id="{AA6FDD40-1A36-4289-BFAE-8130EA19C683}" emma:medium="tactile" emma:mode="ink">
                <msink:context xmlns:msink="http://schemas.microsoft.com/ink/2010/main" type="inkWord" rotatedBoundingBox="8556,17001 8751,16940 8955,17588 8760,17649"/>
              </emma:interpretation>
              <emma:one-of disjunction-type="recognition" id="oneOf1">
                <emma:interpretation id="interp5" emma:lang="" emma:confidence="1">
                  <emma:literal/>
                </emma:interpretation>
              </emma:one-of>
            </emma:emma>
          </inkml:annotationXML>
          <inkml:trace contextRef="#ctx0" brushRef="#br0" timeOffset="-432.3535">180-248 911 0,'0'0'0'0,"0"0"0"0,0 0 0 0,0 0 0 0,0 0 2240 0,0 0 352 15,0 0 80-15,0 0 16 0,0 0-656 0,0 0-128 16,0 0-32-16,0 0 0 0,15 4-976 0,-15-4-192 0,0 0-32 0,0 0-16 16,0 0-432-16,0 0-96 0,0 0 0 0,8 13-128 15,-8-13 416-15,0 0-32 0,6 12 0 0,-6-12 0 16,8 11 432-16,-8-11 80 0,2 14 0 0,0 2 16 15,0 1-256-15,-1-2-48 16,1-3-16-16,-2 2 0 0,0-14-128 0,0 17-16 16,2-1-16-16,0 3 0 0,-2-2 16 0,0 3 16 15,-2-1 0-15,2 1 0 0,0-3 16 0,0 2 0 0,-2 7 0 0,4-3 0 16,4-2-160-16,0 1-16 0,-2-1-16 16,-2 0 0-16,-2 2-288 0,-2-1 0 0,-2-3 128 0,2 3-128 15,2-1 0-15,0 2 0 0,-2-2 0 0,4 1 0 16,2-3 0-16,-4 1 0 0,-6-3 0 0,6-17 0 15,-2 19 0-15,-4-3 0 0,-5-5 0 0,11-11 0 16,0 0-272-16,0 0-16 0,0 0 0 0,0 0 0 16,0 0-672-16,0 0-144 0,0 0-32 0,0 0 0 15,0 0-1824-15,-8-13-368 0,2-1-80 0</inkml:trace>
          <inkml:trace contextRef="#ctx0" brushRef="#br0" timeOffset="-720.7747">203-175 25791 0,'0'0'576'0,"0"0"112"0,0 0 16 0</inkml:trace>
        </inkml:traceGroup>
        <inkml:traceGroup>
          <inkml:annotationXML>
            <emma:emma xmlns:emma="http://www.w3.org/2003/04/emma" version="1.0">
              <emma:interpretation id="{D8CAC0DA-97C8-4CC9-B972-CD90837CC05E}" emma:medium="tactile" emma:mode="ink">
                <msink:context xmlns:msink="http://schemas.microsoft.com/ink/2010/main" type="inkWord" rotatedBoundingBox="8808,17109 9339,16942 9475,17374 8944,17541"/>
              </emma:interpretation>
              <emma:one-of disjunction-type="recognition" id="oneOf2">
                <emma:interpretation id="interp6" emma:lang="" emma:confidence="0">
                  <emma:literal>"</emma:literal>
                </emma:interpretation>
                <emma:interpretation id="interp7" emma:lang="" emma:confidence="0">
                  <emma:literal>Y</emma:literal>
                </emma:interpretation>
                <emma:interpretation id="interp8" emma:lang="" emma:confidence="0">
                  <emma:literal>y</emma:literal>
                </emma:interpretation>
                <emma:interpretation id="interp9" emma:lang="" emma:confidence="0">
                  <emma:literal>`</emma:literal>
                </emma:interpretation>
                <emma:interpretation id="interp10" emma:lang="" emma:confidence="0">
                  <emma:literal>|</emma:literal>
                </emma:interpretation>
              </emma:one-of>
            </emma:emma>
          </inkml:annotationXML>
          <inkml:trace contextRef="#ctx0" brushRef="#br0" timeOffset="-247.5562">310 74 8863 0,'0'0'384'0,"0"0"96"0,0 0-480 0,0 0 0 0,0 0 0 0</inkml:trace>
          <inkml:trace contextRef="#ctx0" brushRef="#br0" timeOffset="537.9272">791-252 22335 0,'0'0'992'0,"0"0"208"0,0 0-960 0,0 0-240 0,0 0 0 0,0 0 0 15,-14 4 768-15,14-4 96 0,0 0 32 0,-10 9 0 16,10-9-896-16,0 0-368 0,0 0 32 0,-9 12 0 16,3 0-176-16,6-12-16 0,0 0-16 0,-4 17 0 0,2 1 544 0,4-3 224 15,2 3-16-15,2-3 0 0,-1 1 304 0,1 3 48 16,0 2 16-16,2 1 0 0,1-3-256 0,3 6-32 16,-2 4-16-16,-2-4 0 0,-3-3-144 0,1 3-128 15,0-2 192-15,-2-1-192 0,0-1 240 0,0-6-64 16,-4-15-16-16,5 14 0 0,-5-14-160 0,0 0 0 15,0 0-160-15,0 0 160 16,4 14-2368-16,-4-14-368 0</inkml:trace>
        </inkml:traceGroup>
      </inkml:traceGroup>
    </inkml:traceGroup>
  </inkml:traceGroup>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8T06:51:02.080"/>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-4 44 8223 0,'0'0'368'15,"0"0"80"-15,0 0-448 0,0 0 0 0,0 0 0 0,0 0 0 0,3 12 848 0,-3-12 96 16,0 0 16-16,0 0 0 0,0 0-592 0,0 0-112 16,0 0-32-16,0 0 0 0,0 0-48 0,0 0-16 15,13-5 0-15,-13 5 0 0,0 0 48 0,0 0 16 16,0 0 0-16,0 0 0 0,0 0 160 0,0 0 48 16,0 0 0-16,13-8 0 0,-5-4 160 0,-8 12 48 0,0 0 0 15,0 0 0-15,0 0 32 0,7-11 16 0,-4 1 0 0,-3 10 0 16,0 0-240-16,0 0-64 0,0 0 0 0,0 0 0 15,5-9-48-15,-5 9-16 0,0 0 0 0,0 0 0 16,0 0-64-16,0 0-32 0,11 0 0 0,-11 0 0 16,0 0-96-16,13 0 0 0,-13 0-128 0,13 0 192 15,-13 0-64-15,15 1 0 0,-15-1-128 0,14-1 192 16,-1-3 128-16,-1 4 32 0,-12 0 0 0,0 0 0 16,13-3 112-16,-13 3 32 0,0 0 0 0,13 2 0 15,0-6-64-15,-13 4-16 0,0 0 0 0,13 2 0 16,-13-2-160-16,14 2-48 0,-1 3 0 0,-13-5 0 15,13-4-208-15,0 3 0 0,-13 1 0 0,15 3 0 16,-1-3 0-16,1 2 0 0,0-2 0 0,-2 1 0 0,-13-1 0 16,16 0 0-16,-2-5 0 0,1 4 0 0,-15 1 0 15,15 1 176-15,-3 4-176 0,1-5 160 0,2-3 16 0,0 3 0 16,-2 6 0-16,0-4 0 0,0-4-16 0,0 1 0 16,-13 1 0-16,14 0 0 0,-1 1-160 0,2 3 0 15,1-1 144-15,0 0-144 0,-1 0 0 0,1 1 0 16,-1-1 0-16,-1 0 128 0,-1 2-128 0,0-5 0 15,-2-3 0-15,4 3 0 0,-2 5 0 0,2-2 0 16,-1-6 0-16,1 1 0 0,-2 0 0 0,3 2 0 16,2-1 0-16,-2 1 128 0,-1 3-128 0,-2-1 0 15,-1-2 0-15,3-2 0 0,0-1 0 0,1 6 0 0,0 7 0 16,0-5 0-16,1-9 0 0,-1 3 0 16,0 1 0-16,0 0 0 0,-1 0 0 0,1 3 0 0,0 2 0 15,0-2 0-15,1-1 0 0,0-1-160 0,5-1 160 16,-5 0 0-16,-2 0 0 0,3-1 0 0,4-4 0 0,-2 3 0 15,-5 5 0-15,-2-3 0 0,3-1 0 0,2 1 0 16,1 1 0-16,-3 1 0 0,4 0 144 0,-2-2-144 16,1-2 128-16,2 4-128 0,-3 3 0 0,1-1 128 15,2-4-128-15,-3 4 0 0,-2 4 0 0,1-5 0 16,1-3 0-16,1 5 0 0,-1 5 0 0,0-6 0 16,-4 0 0-16,2 1 0 0,2 3 0 0,-3-2 0 15,-15-6 0-15,16 3 0 0,-1-3 0 0,-15 0 0 16,13 4 0-16,1-4 208 0,-1 0-48 0,0 1-16 15,-13-1 32-15,15 5 0 0,-2-5 0 0,0 0 0 0,-13 0-176 16,18 0 0-16,-2 2 0 0,-2-6 0 0,4 0 0 16,-2 2 0-16,-1 8 0 0,3-6 0 0,1-4-224 0,1 0 80 15,-2 3 16-15,-4 4 0 0,-14-3 128 0,16 6-192 16,1-2 192-16,-3-1-192 0,-1-1 192 0,2 1 0 16,-2 0 0-16,1 2 0 0,1-2 0 0,-2-3 0 15,-3-3 0-15,1 1 128 0,0 7-128 0,-11-5 0 16,12-1 0-16,1 4 128 0,0 5-128 0,-2-2 0 15,0-10 0-15,-11 4 0 0,12 1 0 0,-12-1-160 16,11-1 160-16,0-3 0 0,2-1-144 0,-1 4 144 16,-12 1 0-16,13 0-144 0,-4-3 144 0,1-1 0 15,-10 4 0-15,11-1-128 0,-11 1 128 0,13 3 0 16,-13-3 0-16,0 0 0 0,13 0 0 0,-13 0 0 16,13-3 0-16,-13 3 128 0,0 0-128 0,13-2 0 0,-1 2 0 15,-12 0 128-15,0 0-128 0,13-3 0 0,-2-7 0 0,-11 10 0 16,11 0 0-16,-11 0 0 0,15-2 0 0,-2 1 128 15,-13 1-128-15,13-5 0 0,-3-3 0 0,-1 3 0 16,-9 5 0-16,12-2 0 0,-12 2 0 0,13-3 0 16,0-3 0-16,-4 1 0 0,-9 5 0 0,0 0 0 15,13-7 0-15,-1 2-128 0,1 4 128 0,-13 1 0 16,11-2-160-16,2-1 160 0,2-4-192 0,-4 4 192 16,-11 3-176-16,13 0 176 0,1 0-160 0,1 2 160 15,-2 1-144-15,0-3 144 0,0-5-128 0,-13 5 128 16,13 0 0-16,-13 0 0 0,16-3 0 0,-3 1 0 15,-13 2 0-15,15 2 0 0,-2 0 0 0,-2-2 0 16,-11 0 0-16,15 1 0 0,-2 2 0 0,0 1 0 0,-4-3 0 16,-9-1-128-16,0 0 128 0,15 5 0 0,-1-2 0 15,-1-1 0-15,2-4 0 0,-4 6-128 0,-11-4 128 16,12 6-128-16,-1-4 128 0,-11-2-128 0,13 6 128 0,-2-2 0 16,-1-8 0-16,0 4 0 0,-10 0 0 0,11 2 0 15,-11-2 0-15,0 0 0 0,13-3 0 0,-1 4 0 16,-12-1 0-16,13 7 0 0,-2-9 0 0,-1-1 0 15,-10 3 0-15,0 0 0 0,0 0 0 0,13 0 0 16,-13 0 0-16,13 5 0 0,-13-5 0 0,11 6 144 16,-11-6-144-16,10 8 0 0,-10-8 128 0,0 0-128 15,13-1 0-15,-13 1 0 0,0 0 0 0,14 1 0 16,-14-1 0-16,12 0 0 0,-12 0 128 0,0 0-128 0,11-3 0 16,-11 3 0-16,13 2 0 0,-13-2 0 0,0 0 0 15,0 0 0-15,13 3 0 0,-13-3-176 0,0 0 176 16,0 0-208-16,13 0 64 0,-13 0 16 0,11-2 0 0,-11 2 0 15,0 0 128-15,11 5 0 0,-2 5 0 0,-9-10 0 16,0 0-176-16,9 6 176 0,-1 4-208 0,1-2 80 16,-9-8-48-16,13 7 0 0,-13-7 0 0,14 8 0 15,-1 6 176-15,-3-5-160 0,-10-9 160 0,13 8-160 16,-5 5 160-16,2-4 0 0,-10-9 0 0,14 4 0 16,-14-4 144-16,12 3-144 0,-12-3 192 0,13 5-192 15,3-9 160-15,-3 4-160 0,-13 0 128 0,0 0-128 16,14 4 0-16,-2-1 0 0,-12-3 0 0,0 0 0 15,0 0 0-15,9 10 0 0,-9-10 0 0,0 0 0 16,0 0 0-16,0 0 0 0,5 14 0 0,-5-14 0 16,0 0 0-16,0 0 0 0,0 0 0 0,3 13 0 15,-3 0-192-15,0-13 192 0,0 0-192 0,0 0 192 16,0 0-160-16,-6 12 160 0,6-12 0 0,-11 9-144 0,11-9 144 16,-10 12 0-16,-1-3 0 0,1 0-128 0,10-9 128 0,-15 6 0 15,15-6 0-15,-16 6 0 0,0-1 0 0,3 0 0 16,-3 0 0-16,-2 2-128 0,-2-1 128 0,3 1 0 15,-1-4 0-15,0 0 0 0,-3 0 128 0,0-3-128 16,0 0 160-16,-2 2-160 0,-1 1 224 0,3-3-48 16,-2-3-16-16,0 3 0 0,0 1-160 0,1-1 0 15,-1-4 144-15,2 2-144 0,1 2 0 0,1 2 0 16,-4-2 0-16,2 0 0 0,2 0 0 0,-1 0 0 16,1 0 0-16,-1 0 0 0,1 0 0 0,0 0 0 0,-1-2 0 0,1 2 128 15,-2 3-128-15,1-1 192 0,2-1-64 16,-1-1 0-16,-1 0 64 0,2 2 32 0,2-2 0 15,0 0 0-15,-3 0-224 0,1 0 176 0,2 0-176 0,-2 3 160 16,2-1-160-16,1-2 0 0,2-5 0 16,0 7 0-16,-2 3 0 0,2-2 0 0,2-5 0 0,-2 1 0 15,0 2 0-15,-1 1 0 0,-1-2 0 0,0-2 0 16,1-1 0-16,-1 1 0 0,-1 2 0 0,0-3 0 16,0-3 0-16,1 1 0 0,2 3 0 0,-2 2 0 15,1 0 128-15,-2 2-128 0,-1-1 128 0,4 1-128 16,13-2 128-16,-16 3-128 0,-5-1 0 0,2 1 128 15,1 2-128-15,3-3 0 0,2-6 0 0,-1 6 0 16,-3 3 0-16,1-2 0 0,0 2 0 0,0-2 0 16,1 0 0-16,-1-1 0 0,-5-2 0 0,5 0 0 0,1 0 0 15,0 2 0-15,-2-2 144 0,-1 0-144 0,2-2 288 0,1 2-16 16,2 0 0-16,0 0 0 0,0 0-32 0,0 2-16 16,0 1 0-16,0 0 0 0,0 0-224 0,0 1 144 15,-1-1-144-15,-1 2 128 0,0 0-128 0,4-1 0 16,11-4 0-16,-16 5 0 0,0 0 0 0,1-2 0 15,15-3 0-15,-16 0 0 0,-2 0 0 0,2 0 0 16,1-1 0-16,-1-1 128 0,0 1-128 0,-2 1 0 16,-3 0 144-16,6-2-144 0,15 2 192 0,-14-3-48 15,-4 1 0-15,0 0 0 0,2-1-16 0,1 2-128 16,2 1 192-16,-1 0-64 0,-6 0-128 0,4 3 0 16,0 0 0-16,1-1 0 0,-3-4 0 0,1 2 0 15,-1 2 0-15,3-1 0 0,1 1 0 0,-1-2 0 16,0-3 0-16,1 1 0 0,-2 4 0 0,3-2 0 0,1-4 0 15,-1 1 0-15,-1 2 0 0,-1-1 0 0,2 2 0 16,0-2 0-16,0-1 0 0,-1 3 0 0,-1 0 0 0,4 0 0 16,-1-3 0-16,1 3 0 0,-4 0 0 0,1 0 0 15,-1-2 0-15,2 4 0 0,0 0 0 0,2-1 0 16,-4-1 0-16,1 0 0 0,-3 5 0 0,3-5 0 16,-2-2-144-16,1-1 144 0,2 3 0 0,0 2 0 15,0 1 0-15,0-3 0 0,2-3 0 0,-1 3 0 16,1 3 0-16,1 0 0 0,10-3 0 0,-13-1 0 15,-3 2 0-15,2-1 0 0,-3 2 0 0,3-2 0 16,2-5 0-16,1 3 0 0,11 2 0 0,-13-1 0 16,13 1 0-16,-13 0 0 0,13 0 0 0,-16 1-160 0,3-2 160 15,13 1-208-15,-13 5 80 0,0-4 128 0,0-2-144 16,13 1 144-16,-11 1 0 0,11-1 0 0,-13 0-144 0,1-3 144 16,12 3 0-16,0 0-144 0,-13 0-48 0,13 0 0 15,-11-5 0-15,0 2 0 0,-1 5-160 0,12-2-32 16,-13 3-16-16,2-3 0 15,0-3-80-15,-2 1-16 0,0 4 0 0,-2-2 0 16,1-2 64-16,-1 0 16 0,0 6 0 0,2-1 0 16,13-3-272-16,-14 1-48 0,1 3-16 0,13-4-11152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097B2C-CE4D-4B0B-95E2-FD28EBE80DD9}" type="datetimeFigureOut">
              <a:rPr lang="en-AU" smtClean="0"/>
              <a:t>8/11/2021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1DB8E-B292-4C78-8E6A-5143119C96B2}" type="slidenum">
              <a:rPr lang="en-AU" smtClean="0"/>
              <a:t>‹#›</a:t>
            </a:fld>
            <a:endParaRPr lang="en-AU"/>
          </a:p>
        </p:txBody>
      </p:sp>
    </p:spTree>
    <p:extLst>
      <p:ext uri="{BB962C8B-B14F-4D97-AF65-F5344CB8AC3E}">
        <p14:creationId xmlns:p14="http://schemas.microsoft.com/office/powerpoint/2010/main" val="4211092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832062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783430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70257F-139A-4C64-8FF0-C28BA2020A88}" type="datetimeFigureOut">
              <a:rPr lang="en-AU" smtClean="0"/>
              <a:t>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53364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670257F-139A-4C64-8FF0-C28BA2020A88}" type="datetimeFigureOut">
              <a:rPr lang="en-AU" smtClean="0"/>
              <a:t>8/11/2021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04764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670257F-139A-4C64-8FF0-C28BA2020A88}" type="datetimeFigureOut">
              <a:rPr lang="en-AU" smtClean="0"/>
              <a:t>8/11/2021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4540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670257F-139A-4C64-8FF0-C28BA2020A88}" type="datetimeFigureOut">
              <a:rPr lang="en-AU" smtClean="0"/>
              <a:t>8/11/2021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581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70257F-139A-4C64-8FF0-C28BA2020A88}" type="datetimeFigureOut">
              <a:rPr lang="en-AU" smtClean="0"/>
              <a:t>8/11/2021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66372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8/11/2021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915923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8/11/2021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844789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34378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939932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0257F-139A-4C64-8FF0-C28BA2020A88}" type="datetimeFigureOut">
              <a:rPr lang="en-AU" smtClean="0"/>
              <a:t>8/11/2021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2D087-B4D1-44FD-A108-C1A3608A0FC7}" type="slidenum">
              <a:rPr lang="en-AU" smtClean="0"/>
              <a:t>‹#›</a:t>
            </a:fld>
            <a:endParaRPr lang="en-AU"/>
          </a:p>
        </p:txBody>
      </p:sp>
    </p:spTree>
    <p:extLst>
      <p:ext uri="{BB962C8B-B14F-4D97-AF65-F5344CB8AC3E}">
        <p14:creationId xmlns:p14="http://schemas.microsoft.com/office/powerpoint/2010/main" val="540715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2.png"/><Relationship Id="rId7"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7.emf"/><Relationship Id="rId4" Type="http://schemas.openxmlformats.org/officeDocument/2006/relationships/image" Target="../media/image3.png"/><Relationship Id="rId9" Type="http://schemas.openxmlformats.org/officeDocument/2006/relationships/customXml" Target="../ink/ink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5.png"/><Relationship Id="rId7" Type="http://schemas.openxmlformats.org/officeDocument/2006/relationships/image" Target="../media/image40.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2.emf"/><Relationship Id="rId4" Type="http://schemas.openxmlformats.org/officeDocument/2006/relationships/image" Target="../media/image37.png"/><Relationship Id="rId9" Type="http://schemas.openxmlformats.org/officeDocument/2006/relationships/customXml" Target="../ink/ink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sp>
        <p:nvSpPr>
          <p:cNvPr id="3" name="TextBox 2"/>
          <p:cNvSpPr txBox="1"/>
          <p:nvPr/>
        </p:nvSpPr>
        <p:spPr>
          <a:xfrm>
            <a:off x="205047" y="576349"/>
            <a:ext cx="11554691" cy="1107996"/>
          </a:xfrm>
          <a:prstGeom prst="rect">
            <a:avLst/>
          </a:prstGeom>
          <a:noFill/>
        </p:spPr>
        <p:txBody>
          <a:bodyPr wrap="square" rtlCol="0">
            <a:spAutoFit/>
          </a:bodyPr>
          <a:lstStyle/>
          <a:p>
            <a:r>
              <a:rPr lang="en-AU" sz="2200" dirty="0" smtClean="0"/>
              <a:t>Previously, we have described the relationship (or correlation) between two variables as being a strong positive or weak negative etc. We can state the strength of a relationship using a correlation coefficient (from -1 to 1) to describe the relationship more accurately.</a:t>
            </a:r>
            <a:endParaRPr lang="en-AU" sz="2200" dirty="0"/>
          </a:p>
        </p:txBody>
      </p:sp>
      <mc:AlternateContent xmlns:mc="http://schemas.openxmlformats.org/markup-compatibility/2006" xmlns:a14="http://schemas.microsoft.com/office/drawing/2010/main">
        <mc:Choice Requires="a14">
          <p:sp>
            <p:nvSpPr>
              <p:cNvPr id="4" name="TextBox 3"/>
              <p:cNvSpPr txBox="1"/>
              <p:nvPr/>
            </p:nvSpPr>
            <p:spPr>
              <a:xfrm>
                <a:off x="205047" y="1709992"/>
                <a:ext cx="10296698" cy="1136978"/>
              </a:xfrm>
              <a:prstGeom prst="rect">
                <a:avLst/>
              </a:prstGeom>
              <a:noFill/>
            </p:spPr>
            <p:txBody>
              <a:bodyPr wrap="square" rtlCol="0">
                <a:spAutoFit/>
              </a:bodyPr>
              <a:lstStyle/>
              <a:p>
                <a:r>
                  <a:rPr lang="en-AU" sz="2200" b="1" dirty="0" smtClean="0"/>
                  <a:t>Pearson’s Correlation Coefficient</a:t>
                </a:r>
              </a:p>
              <a:p>
                <a:r>
                  <a:rPr lang="en-AU" sz="2200" dirty="0" smtClean="0"/>
                  <a:t>Our </a:t>
                </a:r>
                <a:r>
                  <a:rPr lang="en-AU" sz="2200" dirty="0" err="1" smtClean="0"/>
                  <a:t>ClassPad</a:t>
                </a:r>
                <a:r>
                  <a:rPr lang="en-AU" sz="2200" dirty="0" smtClean="0"/>
                  <a:t> display gives the equation of the line of best fit, but also gives values for ‘</a:t>
                </a:r>
                <a14:m>
                  <m:oMath xmlns:m="http://schemas.openxmlformats.org/officeDocument/2006/math">
                    <m:r>
                      <a:rPr lang="en-AU" sz="2200" i="1" dirty="0" smtClean="0">
                        <a:latin typeface="Cambria Math" panose="02040503050406030204" pitchFamily="18" charset="0"/>
                      </a:rPr>
                      <m:t>𝑟</m:t>
                    </m:r>
                  </m:oMath>
                </a14:m>
                <a:r>
                  <a:rPr lang="en-AU" sz="2200" dirty="0" smtClean="0"/>
                  <a:t>’, the correlation coefficient, and ‘</a:t>
                </a:r>
                <a14:m>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𝑟</m:t>
                        </m:r>
                      </m:e>
                      <m:sup>
                        <m:r>
                          <a:rPr lang="en-AU" sz="2200" b="0" i="1" smtClean="0">
                            <a:latin typeface="Cambria Math" panose="02040503050406030204" pitchFamily="18" charset="0"/>
                          </a:rPr>
                          <m:t>2</m:t>
                        </m:r>
                      </m:sup>
                    </m:sSup>
                  </m:oMath>
                </a14:m>
                <a:r>
                  <a:rPr lang="en-AU" sz="2200" dirty="0" smtClean="0"/>
                  <a:t>’, the coefficient of determination.</a:t>
                </a:r>
                <a:endParaRPr lang="en-AU" sz="2200" dirty="0"/>
              </a:p>
            </p:txBody>
          </p:sp>
        </mc:Choice>
        <mc:Fallback xmlns="">
          <p:sp>
            <p:nvSpPr>
              <p:cNvPr id="4" name="TextBox 3"/>
              <p:cNvSpPr txBox="1">
                <a:spLocks noRot="1" noChangeAspect="1" noMove="1" noResize="1" noEditPoints="1" noAdjustHandles="1" noChangeArrowheads="1" noChangeShapeType="1" noTextEdit="1"/>
              </p:cNvSpPr>
              <p:nvPr/>
            </p:nvSpPr>
            <p:spPr>
              <a:xfrm>
                <a:off x="205047" y="1709992"/>
                <a:ext cx="10296698" cy="1136978"/>
              </a:xfrm>
              <a:prstGeom prst="rect">
                <a:avLst/>
              </a:prstGeom>
              <a:blipFill>
                <a:blip r:embed="rId2"/>
                <a:stretch>
                  <a:fillRect l="-770" t="-3763" r="-888" b="-7527"/>
                </a:stretch>
              </a:blipFill>
            </p:spPr>
            <p:txBody>
              <a:bodyPr/>
              <a:lstStyle/>
              <a:p>
                <a:r>
                  <a:rPr lang="en-AU">
                    <a:noFill/>
                  </a:rPr>
                  <a:t> </a:t>
                </a:r>
              </a:p>
            </p:txBody>
          </p:sp>
        </mc:Fallback>
      </mc:AlternateContent>
      <p:pic>
        <p:nvPicPr>
          <p:cNvPr id="7" name="Picture 6"/>
          <p:cNvPicPr>
            <a:picLocks noChangeAspect="1"/>
          </p:cNvPicPr>
          <p:nvPr/>
        </p:nvPicPr>
        <p:blipFill>
          <a:blip r:embed="rId3"/>
          <a:stretch>
            <a:fillRect/>
          </a:stretch>
        </p:blipFill>
        <p:spPr>
          <a:xfrm>
            <a:off x="8927869" y="2559366"/>
            <a:ext cx="2909765" cy="209021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304800" y="2846970"/>
                <a:ext cx="8523316" cy="2123658"/>
              </a:xfrm>
              <a:prstGeom prst="rect">
                <a:avLst/>
              </a:prstGeom>
              <a:noFill/>
            </p:spPr>
            <p:txBody>
              <a:bodyPr wrap="square" rtlCol="0">
                <a:spAutoFit/>
              </a:bodyPr>
              <a:lstStyle/>
              <a:p>
                <a:r>
                  <a:rPr lang="en-AU" sz="2200" dirty="0" smtClean="0"/>
                  <a:t>The correlation coefficient ‘</a:t>
                </a:r>
                <a14:m>
                  <m:oMath xmlns:m="http://schemas.openxmlformats.org/officeDocument/2006/math">
                    <m:r>
                      <a:rPr lang="en-AU" sz="2200" i="1" dirty="0" smtClean="0">
                        <a:latin typeface="Cambria Math" panose="02040503050406030204" pitchFamily="18" charset="0"/>
                      </a:rPr>
                      <m:t>𝑟</m:t>
                    </m:r>
                  </m:oMath>
                </a14:m>
                <a:r>
                  <a:rPr lang="en-AU" sz="2200" dirty="0" smtClean="0"/>
                  <a:t>’ is a measure of how closely the relationship between two sets of data fits a perfect linear relationship (either positive or negative). A correlation coefficient of -1 indicates a perfect negative linear relationship (perfect negative correlation) and a correlation coefficient of +1 indicates a perfect positive linear relationship (perfect positive correlation).</a:t>
                </a:r>
                <a:endParaRPr lang="en-AU" sz="2200" dirty="0"/>
              </a:p>
            </p:txBody>
          </p:sp>
        </mc:Choice>
        <mc:Fallback xmlns="">
          <p:sp>
            <p:nvSpPr>
              <p:cNvPr id="6" name="TextBox 5"/>
              <p:cNvSpPr txBox="1">
                <a:spLocks noRot="1" noChangeAspect="1" noMove="1" noResize="1" noEditPoints="1" noAdjustHandles="1" noChangeArrowheads="1" noChangeShapeType="1" noTextEdit="1"/>
              </p:cNvSpPr>
              <p:nvPr/>
            </p:nvSpPr>
            <p:spPr>
              <a:xfrm>
                <a:off x="304800" y="2846970"/>
                <a:ext cx="8523316" cy="2123658"/>
              </a:xfrm>
              <a:prstGeom prst="rect">
                <a:avLst/>
              </a:prstGeom>
              <a:blipFill>
                <a:blip r:embed="rId4"/>
                <a:stretch>
                  <a:fillRect l="-930" t="-2011" r="-1574" b="-5172"/>
                </a:stretch>
              </a:blipFill>
            </p:spPr>
            <p:txBody>
              <a:bodyPr/>
              <a:lstStyle/>
              <a:p>
                <a:r>
                  <a:rPr lang="en-AU">
                    <a:noFill/>
                  </a:rPr>
                  <a:t> </a:t>
                </a:r>
              </a:p>
            </p:txBody>
          </p:sp>
        </mc:Fallback>
      </mc:AlternateContent>
      <p:pic>
        <p:nvPicPr>
          <p:cNvPr id="9" name="Picture 8"/>
          <p:cNvPicPr>
            <a:picLocks noChangeAspect="1"/>
          </p:cNvPicPr>
          <p:nvPr/>
        </p:nvPicPr>
        <p:blipFill>
          <a:blip r:embed="rId5"/>
          <a:stretch>
            <a:fillRect/>
          </a:stretch>
        </p:blipFill>
        <p:spPr>
          <a:xfrm>
            <a:off x="306845" y="4882200"/>
            <a:ext cx="2347740" cy="1850868"/>
          </a:xfrm>
          <a:prstGeom prst="rect">
            <a:avLst/>
          </a:prstGeom>
        </p:spPr>
      </p:pic>
      <p:pic>
        <p:nvPicPr>
          <p:cNvPr id="10" name="Picture 9"/>
          <p:cNvPicPr>
            <a:picLocks noChangeAspect="1"/>
          </p:cNvPicPr>
          <p:nvPr/>
        </p:nvPicPr>
        <p:blipFill>
          <a:blip r:embed="rId6"/>
          <a:stretch>
            <a:fillRect/>
          </a:stretch>
        </p:blipFill>
        <p:spPr>
          <a:xfrm>
            <a:off x="2321415" y="4904317"/>
            <a:ext cx="2279957" cy="1806633"/>
          </a:xfrm>
          <a:prstGeom prst="rect">
            <a:avLst/>
          </a:prstGeom>
        </p:spPr>
      </p:pic>
      <mc:AlternateContent xmlns:mc="http://schemas.openxmlformats.org/markup-compatibility/2006" xmlns:p14="http://schemas.microsoft.com/office/powerpoint/2010/main">
        <mc:Choice Requires="p14">
          <p:contentPart p14:bwMode="auto" r:id="rId7">
            <p14:nvContentPartPr>
              <p14:cNvPr id="12" name="Ink 11"/>
              <p14:cNvContentPartPr/>
              <p14:nvPr/>
            </p14:nvContentPartPr>
            <p14:xfrm>
              <a:off x="1146360" y="5638287"/>
              <a:ext cx="314640" cy="206280"/>
            </p14:xfrm>
          </p:contentPart>
        </mc:Choice>
        <mc:Fallback xmlns="">
          <p:pic>
            <p:nvPicPr>
              <p:cNvPr id="12" name="Ink 11"/>
              <p:cNvPicPr/>
              <p:nvPr/>
            </p:nvPicPr>
            <p:blipFill>
              <a:blip r:embed="rId8"/>
              <a:stretch>
                <a:fillRect/>
              </a:stretch>
            </p:blipFill>
            <p:spPr>
              <a:xfrm>
                <a:off x="1132680" y="5627847"/>
                <a:ext cx="33912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p14:cNvContentPartPr/>
              <p14:nvPr/>
            </p14:nvContentPartPr>
            <p14:xfrm>
              <a:off x="3077890" y="6099809"/>
              <a:ext cx="309960" cy="251640"/>
            </p14:xfrm>
          </p:contentPart>
        </mc:Choice>
        <mc:Fallback xmlns="">
          <p:pic>
            <p:nvPicPr>
              <p:cNvPr id="21" name="Ink 20"/>
              <p:cNvPicPr/>
              <p:nvPr/>
            </p:nvPicPr>
            <p:blipFill>
              <a:blip r:embed="rId10"/>
              <a:stretch>
                <a:fillRect/>
              </a:stretch>
            </p:blipFill>
            <p:spPr>
              <a:xfrm>
                <a:off x="3069250" y="6086129"/>
                <a:ext cx="333360" cy="283680"/>
              </a:xfrm>
              <a:prstGeom prst="rect">
                <a:avLst/>
              </a:prstGeom>
            </p:spPr>
          </p:pic>
        </mc:Fallback>
      </mc:AlternateContent>
      <mc:AlternateContent xmlns:mc="http://schemas.openxmlformats.org/markup-compatibility/2006" xmlns:a14="http://schemas.microsoft.com/office/drawing/2010/main">
        <mc:Choice Requires="a14">
          <p:sp>
            <p:nvSpPr>
              <p:cNvPr id="22" name="TextBox 21"/>
              <p:cNvSpPr txBox="1"/>
              <p:nvPr/>
            </p:nvSpPr>
            <p:spPr>
              <a:xfrm>
                <a:off x="4601372" y="5062330"/>
                <a:ext cx="7236262" cy="1134670"/>
              </a:xfrm>
              <a:prstGeom prst="rect">
                <a:avLst/>
              </a:prstGeom>
              <a:noFill/>
            </p:spPr>
            <p:txBody>
              <a:bodyPr wrap="square" rtlCol="0">
                <a:spAutoFit/>
              </a:bodyPr>
              <a:lstStyle/>
              <a:p>
                <a:pPr algn="ctr"/>
                <a:r>
                  <a:rPr lang="en-AU" sz="2200" dirty="0" smtClean="0"/>
                  <a:t>We may write the correlation coefficient as </a:t>
                </a:r>
                <a14:m>
                  <m:oMath xmlns:m="http://schemas.openxmlformats.org/officeDocument/2006/math">
                    <m:sSub>
                      <m:sSubPr>
                        <m:ctrlPr>
                          <a:rPr lang="en-AU" sz="2200" i="1" smtClean="0">
                            <a:latin typeface="Cambria Math" panose="02040503050406030204" pitchFamily="18" charset="0"/>
                          </a:rPr>
                        </m:ctrlPr>
                      </m:sSubPr>
                      <m:e>
                        <m:r>
                          <a:rPr lang="en-AU" sz="2200" b="0" i="1" smtClean="0">
                            <a:latin typeface="Cambria Math" panose="02040503050406030204" pitchFamily="18" charset="0"/>
                          </a:rPr>
                          <m:t>𝑟</m:t>
                        </m:r>
                      </m:e>
                      <m:sub>
                        <m:r>
                          <a:rPr lang="en-AU" sz="2200" b="0" i="1" smtClean="0">
                            <a:latin typeface="Cambria Math" panose="02040503050406030204" pitchFamily="18" charset="0"/>
                          </a:rPr>
                          <m:t>𝑥𝑦</m:t>
                        </m:r>
                      </m:sub>
                    </m:sSub>
                    <m:r>
                      <a:rPr lang="en-AU" sz="2200" b="0" i="1" smtClean="0">
                        <a:latin typeface="Cambria Math" panose="02040503050406030204" pitchFamily="18" charset="0"/>
                      </a:rPr>
                      <m:t> </m:t>
                    </m:r>
                  </m:oMath>
                </a14:m>
                <a:r>
                  <a:rPr lang="en-AU" sz="2200" dirty="0" smtClean="0"/>
                  <a:t>, the correlation coefficient of the relationship between the two variables, </a:t>
                </a:r>
                <a14:m>
                  <m:oMath xmlns:m="http://schemas.openxmlformats.org/officeDocument/2006/math">
                    <m:r>
                      <a:rPr lang="en-AU" sz="2200" b="0" i="1" smtClean="0">
                        <a:latin typeface="Cambria Math" panose="02040503050406030204" pitchFamily="18" charset="0"/>
                      </a:rPr>
                      <m:t>𝑥</m:t>
                    </m:r>
                  </m:oMath>
                </a14:m>
                <a:r>
                  <a:rPr lang="en-AU" sz="2200" dirty="0" smtClean="0"/>
                  <a:t> and </a:t>
                </a:r>
                <a14:m>
                  <m:oMath xmlns:m="http://schemas.openxmlformats.org/officeDocument/2006/math">
                    <m:r>
                      <a:rPr lang="en-AU" sz="2200" b="0" i="1" smtClean="0">
                        <a:latin typeface="Cambria Math" panose="02040503050406030204" pitchFamily="18" charset="0"/>
                      </a:rPr>
                      <m:t>𝑦</m:t>
                    </m:r>
                  </m:oMath>
                </a14:m>
                <a:r>
                  <a:rPr lang="en-AU" sz="2200" dirty="0" smtClean="0"/>
                  <a:t>.</a:t>
                </a:r>
                <a:endParaRPr lang="en-AU" sz="2200" dirty="0"/>
              </a:p>
            </p:txBody>
          </p:sp>
        </mc:Choice>
        <mc:Fallback xmlns="">
          <p:sp>
            <p:nvSpPr>
              <p:cNvPr id="22" name="TextBox 21"/>
              <p:cNvSpPr txBox="1">
                <a:spLocks noRot="1" noChangeAspect="1" noMove="1" noResize="1" noEditPoints="1" noAdjustHandles="1" noChangeArrowheads="1" noChangeShapeType="1" noTextEdit="1"/>
              </p:cNvSpPr>
              <p:nvPr/>
            </p:nvSpPr>
            <p:spPr>
              <a:xfrm>
                <a:off x="4601372" y="5062330"/>
                <a:ext cx="7236262" cy="1134670"/>
              </a:xfrm>
              <a:prstGeom prst="rect">
                <a:avLst/>
              </a:prstGeom>
              <a:blipFill>
                <a:blip r:embed="rId11"/>
                <a:stretch>
                  <a:fillRect t="-2674" b="-9626"/>
                </a:stretch>
              </a:blipFill>
            </p:spPr>
            <p:txBody>
              <a:bodyPr/>
              <a:lstStyle/>
              <a:p>
                <a:r>
                  <a:rPr lang="en-AU">
                    <a:noFill/>
                  </a:rPr>
                  <a:t> </a:t>
                </a:r>
              </a:p>
            </p:txBody>
          </p:sp>
        </mc:Fallback>
      </mc:AlternateContent>
    </p:spTree>
    <p:extLst>
      <p:ext uri="{BB962C8B-B14F-4D97-AF65-F5344CB8AC3E}">
        <p14:creationId xmlns:p14="http://schemas.microsoft.com/office/powerpoint/2010/main" val="1711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pic>
        <p:nvPicPr>
          <p:cNvPr id="4" name="Picture 3"/>
          <p:cNvPicPr>
            <a:picLocks noChangeAspect="1"/>
          </p:cNvPicPr>
          <p:nvPr/>
        </p:nvPicPr>
        <p:blipFill>
          <a:blip r:embed="rId2"/>
          <a:stretch>
            <a:fillRect/>
          </a:stretch>
        </p:blipFill>
        <p:spPr>
          <a:xfrm>
            <a:off x="51145" y="1517374"/>
            <a:ext cx="8334846" cy="5255108"/>
          </a:xfrm>
          <a:prstGeom prst="rect">
            <a:avLst/>
          </a:prstGeom>
        </p:spPr>
      </p:pic>
      <p:sp>
        <p:nvSpPr>
          <p:cNvPr id="5" name="TextBox 4"/>
          <p:cNvSpPr txBox="1"/>
          <p:nvPr/>
        </p:nvSpPr>
        <p:spPr>
          <a:xfrm>
            <a:off x="152400" y="576470"/>
            <a:ext cx="11290852" cy="769441"/>
          </a:xfrm>
          <a:prstGeom prst="rect">
            <a:avLst/>
          </a:prstGeom>
          <a:noFill/>
        </p:spPr>
        <p:txBody>
          <a:bodyPr wrap="square" rtlCol="0">
            <a:spAutoFit/>
          </a:bodyPr>
          <a:lstStyle/>
          <a:p>
            <a:r>
              <a:rPr lang="en-AU" sz="2200" dirty="0" smtClean="0"/>
              <a:t>The further away from 0 the correlation coefficient is (in either direction), the closer towards a perfect linear relationship the two variables considered in the scatter plot are.</a:t>
            </a:r>
            <a:endParaRPr lang="en-AU" sz="2200" dirty="0"/>
          </a:p>
        </p:txBody>
      </p:sp>
    </p:spTree>
    <p:extLst>
      <p:ext uri="{BB962C8B-B14F-4D97-AF65-F5344CB8AC3E}">
        <p14:creationId xmlns:p14="http://schemas.microsoft.com/office/powerpoint/2010/main" val="18443880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sp>
        <p:nvSpPr>
          <p:cNvPr id="5" name="TextBox 4"/>
          <p:cNvSpPr txBox="1"/>
          <p:nvPr/>
        </p:nvSpPr>
        <p:spPr>
          <a:xfrm>
            <a:off x="152400" y="576470"/>
            <a:ext cx="11290852" cy="769441"/>
          </a:xfrm>
          <a:prstGeom prst="rect">
            <a:avLst/>
          </a:prstGeom>
          <a:noFill/>
        </p:spPr>
        <p:txBody>
          <a:bodyPr wrap="square" rtlCol="0">
            <a:spAutoFit/>
          </a:bodyPr>
          <a:lstStyle/>
          <a:p>
            <a:r>
              <a:rPr lang="en-AU" sz="2200" dirty="0" smtClean="0"/>
              <a:t>The further away from 0 the correlation coefficient is (in either direction), the closer towards a perfect linear relationship the two variables considered in the scatter plot are.</a:t>
            </a:r>
            <a:endParaRPr lang="en-AU" sz="2200" dirty="0"/>
          </a:p>
        </p:txBody>
      </p:sp>
      <p:pic>
        <p:nvPicPr>
          <p:cNvPr id="2" name="Picture 1"/>
          <p:cNvPicPr>
            <a:picLocks noChangeAspect="1"/>
          </p:cNvPicPr>
          <p:nvPr/>
        </p:nvPicPr>
        <p:blipFill>
          <a:blip r:embed="rId2"/>
          <a:stretch>
            <a:fillRect/>
          </a:stretch>
        </p:blipFill>
        <p:spPr>
          <a:xfrm>
            <a:off x="3530965" y="1663141"/>
            <a:ext cx="4533722" cy="2160933"/>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351183" y="4141304"/>
                <a:ext cx="11615530" cy="1446550"/>
              </a:xfrm>
              <a:prstGeom prst="rect">
                <a:avLst/>
              </a:prstGeom>
              <a:noFill/>
            </p:spPr>
            <p:txBody>
              <a:bodyPr wrap="square" rtlCol="0">
                <a:spAutoFit/>
              </a:bodyPr>
              <a:lstStyle/>
              <a:p>
                <a:r>
                  <a:rPr lang="en-AU" sz="2200" dirty="0" smtClean="0"/>
                  <a:t>Both of these graphs (the horizontal has a gradient of zero and the vertical’s gradient is undefined) form a perfect straight line, but don’t show a relationship between bivariate data. For the first, </a:t>
                </a:r>
                <a14:m>
                  <m:oMath xmlns:m="http://schemas.openxmlformats.org/officeDocument/2006/math">
                    <m:r>
                      <a:rPr lang="en-AU" sz="2200" b="0" i="1" smtClean="0">
                        <a:latin typeface="Cambria Math" panose="02040503050406030204" pitchFamily="18" charset="0"/>
                      </a:rPr>
                      <m:t>𝑦</m:t>
                    </m:r>
                  </m:oMath>
                </a14:m>
                <a:r>
                  <a:rPr lang="en-AU" sz="2200" dirty="0" smtClean="0"/>
                  <a:t> values are seemingly unaffected by variations in </a:t>
                </a:r>
                <a14:m>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 </m:t>
                    </m:r>
                  </m:oMath>
                </a14:m>
                <a:r>
                  <a:rPr lang="en-AU" sz="2200" dirty="0" smtClean="0"/>
                  <a:t>values and for the 2</a:t>
                </a:r>
                <a:r>
                  <a:rPr lang="en-AU" sz="2200" baseline="30000" dirty="0" smtClean="0"/>
                  <a:t>nd</a:t>
                </a:r>
                <a:r>
                  <a:rPr lang="en-AU" sz="2200" dirty="0" smtClean="0"/>
                  <a:t>, </a:t>
                </a:r>
                <a14:m>
                  <m:oMath xmlns:m="http://schemas.openxmlformats.org/officeDocument/2006/math">
                    <m:r>
                      <a:rPr lang="en-AU" sz="2200" b="0" i="1" smtClean="0">
                        <a:latin typeface="Cambria Math" panose="02040503050406030204" pitchFamily="18" charset="0"/>
                      </a:rPr>
                      <m:t>𝑥</m:t>
                    </m:r>
                  </m:oMath>
                </a14:m>
                <a:r>
                  <a:rPr lang="en-AU" sz="2200" dirty="0" smtClean="0"/>
                  <a:t> values are seemingly unaffected by variations in </a:t>
                </a:r>
                <a14:m>
                  <m:oMath xmlns:m="http://schemas.openxmlformats.org/officeDocument/2006/math">
                    <m:r>
                      <a:rPr lang="en-AU" sz="2200" b="0" i="1" smtClean="0">
                        <a:latin typeface="Cambria Math" panose="02040503050406030204" pitchFamily="18" charset="0"/>
                      </a:rPr>
                      <m:t>𝑦</m:t>
                    </m:r>
                  </m:oMath>
                </a14:m>
                <a:r>
                  <a:rPr lang="en-AU" sz="2200" dirty="0" smtClean="0"/>
                  <a:t> values so the idea of a correlation coefficient is meaningless.</a:t>
                </a:r>
                <a:endParaRPr lang="en-AU" sz="2200" dirty="0"/>
              </a:p>
            </p:txBody>
          </p:sp>
        </mc:Choice>
        <mc:Fallback xmlns="">
          <p:sp>
            <p:nvSpPr>
              <p:cNvPr id="6" name="TextBox 5"/>
              <p:cNvSpPr txBox="1">
                <a:spLocks noRot="1" noChangeAspect="1" noMove="1" noResize="1" noEditPoints="1" noAdjustHandles="1" noChangeArrowheads="1" noChangeShapeType="1" noTextEdit="1"/>
              </p:cNvSpPr>
              <p:nvPr/>
            </p:nvSpPr>
            <p:spPr>
              <a:xfrm>
                <a:off x="351183" y="4141304"/>
                <a:ext cx="11615530" cy="1446550"/>
              </a:xfrm>
              <a:prstGeom prst="rect">
                <a:avLst/>
              </a:prstGeom>
              <a:blipFill>
                <a:blip r:embed="rId3"/>
                <a:stretch>
                  <a:fillRect l="-682" t="-2521" b="-7563"/>
                </a:stretch>
              </a:blipFill>
            </p:spPr>
            <p:txBody>
              <a:bodyPr/>
              <a:lstStyle/>
              <a:p>
                <a:r>
                  <a:rPr lang="en-AU">
                    <a:noFill/>
                  </a:rPr>
                  <a:t> </a:t>
                </a:r>
              </a:p>
            </p:txBody>
          </p:sp>
        </mc:Fallback>
      </mc:AlternateContent>
    </p:spTree>
    <p:extLst>
      <p:ext uri="{BB962C8B-B14F-4D97-AF65-F5344CB8AC3E}">
        <p14:creationId xmlns:p14="http://schemas.microsoft.com/office/powerpoint/2010/main" val="129143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pic>
        <p:nvPicPr>
          <p:cNvPr id="3" name="Picture 2"/>
          <p:cNvPicPr>
            <a:picLocks noChangeAspect="1"/>
          </p:cNvPicPr>
          <p:nvPr/>
        </p:nvPicPr>
        <p:blipFill>
          <a:blip r:embed="rId2"/>
          <a:stretch>
            <a:fillRect/>
          </a:stretch>
        </p:blipFill>
        <p:spPr>
          <a:xfrm>
            <a:off x="198782" y="815216"/>
            <a:ext cx="5247861" cy="555469"/>
          </a:xfrm>
          <a:prstGeom prst="rect">
            <a:avLst/>
          </a:prstGeom>
        </p:spPr>
      </p:pic>
      <p:pic>
        <p:nvPicPr>
          <p:cNvPr id="4" name="Picture 3"/>
          <p:cNvPicPr>
            <a:picLocks noChangeAspect="1"/>
          </p:cNvPicPr>
          <p:nvPr/>
        </p:nvPicPr>
        <p:blipFill>
          <a:blip r:embed="rId3"/>
          <a:stretch>
            <a:fillRect/>
          </a:stretch>
        </p:blipFill>
        <p:spPr>
          <a:xfrm>
            <a:off x="251791" y="1552666"/>
            <a:ext cx="2273112" cy="3052465"/>
          </a:xfrm>
          <a:prstGeom prst="rect">
            <a:avLst/>
          </a:prstGeom>
        </p:spPr>
      </p:pic>
      <p:pic>
        <p:nvPicPr>
          <p:cNvPr id="5" name="Picture 4"/>
          <p:cNvPicPr>
            <a:picLocks noChangeAspect="1"/>
          </p:cNvPicPr>
          <p:nvPr/>
        </p:nvPicPr>
        <p:blipFill>
          <a:blip r:embed="rId4"/>
          <a:stretch>
            <a:fillRect/>
          </a:stretch>
        </p:blipFill>
        <p:spPr>
          <a:xfrm>
            <a:off x="2632887" y="1615656"/>
            <a:ext cx="2578188" cy="2191073"/>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5328859" y="676303"/>
                <a:ext cx="6513443" cy="1134670"/>
              </a:xfrm>
              <a:prstGeom prst="rect">
                <a:avLst/>
              </a:prstGeom>
              <a:noFill/>
            </p:spPr>
            <p:txBody>
              <a:bodyPr wrap="square" rtlCol="0">
                <a:spAutoFit/>
              </a:bodyPr>
              <a:lstStyle/>
              <a:p>
                <a:pPr algn="ctr"/>
                <a:r>
                  <a:rPr lang="en-AU" sz="2200" dirty="0" smtClean="0"/>
                  <a:t>The line of best fit for this data is </a:t>
                </a:r>
                <a14:m>
                  <m:oMath xmlns:m="http://schemas.openxmlformats.org/officeDocument/2006/math">
                    <m:r>
                      <a:rPr lang="en-AU" sz="2200" b="0" i="1" smtClean="0">
                        <a:latin typeface="Cambria Math" panose="02040503050406030204" pitchFamily="18" charset="0"/>
                      </a:rPr>
                      <m:t>𝑦</m:t>
                    </m:r>
                    <m:r>
                      <a:rPr lang="en-AU" sz="2200" b="0" i="1" smtClean="0">
                        <a:latin typeface="Cambria Math" panose="02040503050406030204" pitchFamily="18" charset="0"/>
                      </a:rPr>
                      <m:t>=0.26</m:t>
                    </m:r>
                    <m:r>
                      <a:rPr lang="en-AU" sz="2200" b="0" i="1" smtClean="0">
                        <a:latin typeface="Cambria Math" panose="02040503050406030204" pitchFamily="18" charset="0"/>
                      </a:rPr>
                      <m:t>𝑥</m:t>
                    </m:r>
                    <m:r>
                      <a:rPr lang="en-AU" sz="2200" b="0" i="1" smtClean="0">
                        <a:latin typeface="Cambria Math" panose="02040503050406030204" pitchFamily="18" charset="0"/>
                      </a:rPr>
                      <m:t>+17.76</m:t>
                    </m:r>
                  </m:oMath>
                </a14:m>
                <a:r>
                  <a:rPr lang="en-AU" sz="2200" dirty="0" smtClean="0"/>
                  <a:t>, with a correlation coefficient </a:t>
                </a:r>
                <a14:m>
                  <m:oMath xmlns:m="http://schemas.openxmlformats.org/officeDocument/2006/math">
                    <m:sSub>
                      <m:sSubPr>
                        <m:ctrlPr>
                          <a:rPr lang="en-AU" sz="2200" i="1" smtClean="0">
                            <a:latin typeface="Cambria Math" panose="02040503050406030204" pitchFamily="18" charset="0"/>
                          </a:rPr>
                        </m:ctrlPr>
                      </m:sSubPr>
                      <m:e>
                        <m:r>
                          <a:rPr lang="en-AU" sz="2200" b="0" i="1" smtClean="0">
                            <a:latin typeface="Cambria Math" panose="02040503050406030204" pitchFamily="18" charset="0"/>
                          </a:rPr>
                          <m:t>𝑟</m:t>
                        </m:r>
                      </m:e>
                      <m:sub>
                        <m:r>
                          <a:rPr lang="en-AU" sz="2200" b="0" i="1" smtClean="0">
                            <a:latin typeface="Cambria Math" panose="02040503050406030204" pitchFamily="18" charset="0"/>
                          </a:rPr>
                          <m:t>𝑥𝑦</m:t>
                        </m:r>
                      </m:sub>
                    </m:sSub>
                    <m:r>
                      <a:rPr lang="en-AU" sz="2200" b="0" i="1" smtClean="0">
                        <a:latin typeface="Cambria Math" panose="02040503050406030204" pitchFamily="18" charset="0"/>
                      </a:rPr>
                      <m:t> </m:t>
                    </m:r>
                  </m:oMath>
                </a14:m>
                <a:r>
                  <a:rPr lang="en-AU" sz="2200" dirty="0" smtClean="0"/>
                  <a:t>of 0.83 </a:t>
                </a:r>
              </a:p>
              <a:p>
                <a:pPr algn="ctr"/>
                <a:r>
                  <a:rPr lang="en-AU" sz="2200" dirty="0" smtClean="0"/>
                  <a:t>(strong positive correlation).</a:t>
                </a:r>
                <a:endParaRPr lang="en-AU" sz="2200" dirty="0"/>
              </a:p>
            </p:txBody>
          </p:sp>
        </mc:Choice>
        <mc:Fallback xmlns="">
          <p:sp>
            <p:nvSpPr>
              <p:cNvPr id="6" name="TextBox 5"/>
              <p:cNvSpPr txBox="1">
                <a:spLocks noRot="1" noChangeAspect="1" noMove="1" noResize="1" noEditPoints="1" noAdjustHandles="1" noChangeArrowheads="1" noChangeShapeType="1" noTextEdit="1"/>
              </p:cNvSpPr>
              <p:nvPr/>
            </p:nvSpPr>
            <p:spPr>
              <a:xfrm>
                <a:off x="5328859" y="676303"/>
                <a:ext cx="6513443" cy="1134670"/>
              </a:xfrm>
              <a:prstGeom prst="rect">
                <a:avLst/>
              </a:prstGeom>
              <a:blipFill>
                <a:blip r:embed="rId5"/>
                <a:stretch>
                  <a:fillRect t="-3763" b="-967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42989" y="1880121"/>
                <a:ext cx="6749011" cy="769441"/>
              </a:xfrm>
              <a:prstGeom prst="rect">
                <a:avLst/>
              </a:prstGeom>
              <a:noFill/>
            </p:spPr>
            <p:txBody>
              <a:bodyPr wrap="square" rtlCol="0">
                <a:spAutoFit/>
              </a:bodyPr>
              <a:lstStyle/>
              <a:p>
                <a:r>
                  <a:rPr lang="en-AU" sz="2200" dirty="0" smtClean="0"/>
                  <a:t>For </a:t>
                </a:r>
                <a14:m>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=15,</m:t>
                    </m:r>
                  </m:oMath>
                </a14:m>
                <a:r>
                  <a:rPr lang="en-AU" sz="2200" dirty="0" smtClean="0"/>
                  <a:t> the predicted y value </a:t>
                </a:r>
                <a14:m>
                  <m:oMath xmlns:m="http://schemas.openxmlformats.org/officeDocument/2006/math">
                    <m:r>
                      <a:rPr lang="en-AU" sz="2200" i="1" dirty="0" smtClean="0">
                        <a:latin typeface="Cambria Math" panose="02040503050406030204" pitchFamily="18" charset="0"/>
                      </a:rPr>
                      <m:t>= 0.26</m:t>
                    </m:r>
                    <m:d>
                      <m:dPr>
                        <m:ctrlPr>
                          <a:rPr lang="en-AU" sz="2200" i="1" dirty="0" smtClean="0">
                            <a:latin typeface="Cambria Math" panose="02040503050406030204" pitchFamily="18" charset="0"/>
                          </a:rPr>
                        </m:ctrlPr>
                      </m:dPr>
                      <m:e>
                        <m:r>
                          <a:rPr lang="en-AU" sz="2200" i="1" dirty="0" smtClean="0">
                            <a:latin typeface="Cambria Math" panose="02040503050406030204" pitchFamily="18" charset="0"/>
                          </a:rPr>
                          <m:t>15</m:t>
                        </m:r>
                      </m:e>
                    </m:d>
                    <m:r>
                      <a:rPr lang="en-AU" sz="2200" i="1" dirty="0" smtClean="0">
                        <a:latin typeface="Cambria Math" panose="02040503050406030204" pitchFamily="18" charset="0"/>
                      </a:rPr>
                      <m:t>+ 17.76 </m:t>
                    </m:r>
                  </m:oMath>
                </a14:m>
                <a:endParaRPr lang="en-AU" sz="2200" i="1" dirty="0" smtClean="0">
                  <a:latin typeface="Cambria Math" panose="02040503050406030204" pitchFamily="18" charset="0"/>
                </a:endParaRPr>
              </a:p>
              <a:p>
                <a:r>
                  <a:rPr lang="en-AU" sz="2200" dirty="0" smtClean="0"/>
                  <a:t>				   </a:t>
                </a:r>
                <a14:m>
                  <m:oMath xmlns:m="http://schemas.openxmlformats.org/officeDocument/2006/math">
                    <m:r>
                      <a:rPr lang="en-AU" sz="2200" i="1" dirty="0" smtClean="0">
                        <a:latin typeface="Cambria Math" panose="02040503050406030204" pitchFamily="18" charset="0"/>
                      </a:rPr>
                      <m:t>= 21.7</m:t>
                    </m:r>
                  </m:oMath>
                </a14:m>
                <a:endParaRPr lang="en-AU" sz="2200" dirty="0"/>
              </a:p>
            </p:txBody>
          </p:sp>
        </mc:Choice>
        <mc:Fallback xmlns="">
          <p:sp>
            <p:nvSpPr>
              <p:cNvPr id="8" name="TextBox 7"/>
              <p:cNvSpPr txBox="1">
                <a:spLocks noRot="1" noChangeAspect="1" noMove="1" noResize="1" noEditPoints="1" noAdjustHandles="1" noChangeArrowheads="1" noChangeShapeType="1" noTextEdit="1"/>
              </p:cNvSpPr>
              <p:nvPr/>
            </p:nvSpPr>
            <p:spPr>
              <a:xfrm>
                <a:off x="5442989" y="1880121"/>
                <a:ext cx="6749011" cy="769441"/>
              </a:xfrm>
              <a:prstGeom prst="rect">
                <a:avLst/>
              </a:prstGeom>
              <a:blipFill>
                <a:blip r:embed="rId6"/>
                <a:stretch>
                  <a:fillRect l="-1174" t="-472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442989" y="2545891"/>
                <a:ext cx="6749011" cy="430887"/>
              </a:xfrm>
              <a:prstGeom prst="rect">
                <a:avLst/>
              </a:prstGeom>
              <a:noFill/>
            </p:spPr>
            <p:txBody>
              <a:bodyPr wrap="square" rtlCol="0">
                <a:spAutoFit/>
              </a:bodyPr>
              <a:lstStyle/>
              <a:p>
                <a:r>
                  <a:rPr lang="en-AU" sz="2200" dirty="0" smtClean="0"/>
                  <a:t>For </a:t>
                </a:r>
                <a14:m>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=55,</m:t>
                    </m:r>
                  </m:oMath>
                </a14:m>
                <a:r>
                  <a:rPr lang="en-AU" sz="2200" dirty="0" smtClean="0"/>
                  <a:t> the predicted y value </a:t>
                </a:r>
                <a14:m>
                  <m:oMath xmlns:m="http://schemas.openxmlformats.org/officeDocument/2006/math">
                    <m:r>
                      <a:rPr lang="en-AU" sz="2200" i="1" dirty="0" smtClean="0">
                        <a:latin typeface="Cambria Math" panose="02040503050406030204" pitchFamily="18" charset="0"/>
                      </a:rPr>
                      <m:t>=</m:t>
                    </m:r>
                    <m:r>
                      <a:rPr lang="en-AU" sz="2200" b="0" i="1" dirty="0" smtClean="0">
                        <a:latin typeface="Cambria Math" panose="02040503050406030204" pitchFamily="18" charset="0"/>
                      </a:rPr>
                      <m:t>32.2</m:t>
                    </m:r>
                  </m:oMath>
                </a14:m>
                <a:endParaRPr lang="en-AU"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5442989" y="2545891"/>
                <a:ext cx="6749011" cy="430887"/>
              </a:xfrm>
              <a:prstGeom prst="rect">
                <a:avLst/>
              </a:prstGeom>
              <a:blipFill>
                <a:blip r:embed="rId7"/>
                <a:stretch>
                  <a:fillRect l="-1174" t="-10000" b="-2857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442989" y="2976778"/>
                <a:ext cx="6749011" cy="430887"/>
              </a:xfrm>
              <a:prstGeom prst="rect">
                <a:avLst/>
              </a:prstGeom>
              <a:noFill/>
            </p:spPr>
            <p:txBody>
              <a:bodyPr wrap="square" rtlCol="0">
                <a:spAutoFit/>
              </a:bodyPr>
              <a:lstStyle/>
              <a:p>
                <a:r>
                  <a:rPr lang="en-AU" sz="2200" dirty="0" smtClean="0"/>
                  <a:t>For </a:t>
                </a:r>
                <a14:m>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=88,</m:t>
                    </m:r>
                  </m:oMath>
                </a14:m>
                <a:r>
                  <a:rPr lang="en-AU" sz="2200" dirty="0" smtClean="0"/>
                  <a:t> the predicted y value </a:t>
                </a:r>
                <a14:m>
                  <m:oMath xmlns:m="http://schemas.openxmlformats.org/officeDocument/2006/math">
                    <m:r>
                      <a:rPr lang="en-AU" sz="2200" i="1" dirty="0" smtClean="0">
                        <a:latin typeface="Cambria Math" panose="02040503050406030204" pitchFamily="18" charset="0"/>
                      </a:rPr>
                      <m:t>=</m:t>
                    </m:r>
                    <m:r>
                      <a:rPr lang="en-AU" sz="2200" b="0" i="1" dirty="0" smtClean="0">
                        <a:latin typeface="Cambria Math" panose="02040503050406030204" pitchFamily="18" charset="0"/>
                      </a:rPr>
                      <m:t>40.8</m:t>
                    </m:r>
                  </m:oMath>
                </a14:m>
                <a:endParaRPr lang="en-AU" sz="2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5442989" y="2976778"/>
                <a:ext cx="6749011" cy="430887"/>
              </a:xfrm>
              <a:prstGeom prst="rect">
                <a:avLst/>
              </a:prstGeom>
              <a:blipFill>
                <a:blip r:embed="rId8"/>
                <a:stretch>
                  <a:fillRect l="-1174" t="-8451" b="-28169"/>
                </a:stretch>
              </a:blipFill>
            </p:spPr>
            <p:txBody>
              <a:bodyPr/>
              <a:lstStyle/>
              <a:p>
                <a:r>
                  <a:rPr lang="en-AU">
                    <a:noFill/>
                  </a:rPr>
                  <a:t> </a:t>
                </a:r>
              </a:p>
            </p:txBody>
          </p:sp>
        </mc:Fallback>
      </mc:AlternateContent>
      <p:pic>
        <p:nvPicPr>
          <p:cNvPr id="9" name="Picture 8"/>
          <p:cNvPicPr>
            <a:picLocks noChangeAspect="1"/>
          </p:cNvPicPr>
          <p:nvPr/>
        </p:nvPicPr>
        <p:blipFill>
          <a:blip r:embed="rId9"/>
          <a:stretch>
            <a:fillRect/>
          </a:stretch>
        </p:blipFill>
        <p:spPr>
          <a:xfrm>
            <a:off x="5549348" y="3556242"/>
            <a:ext cx="5943600" cy="3267075"/>
          </a:xfrm>
          <a:prstGeom prst="rect">
            <a:avLst/>
          </a:prstGeom>
        </p:spPr>
      </p:pic>
    </p:spTree>
    <p:extLst>
      <p:ext uri="{BB962C8B-B14F-4D97-AF65-F5344CB8AC3E}">
        <p14:creationId xmlns:p14="http://schemas.microsoft.com/office/powerpoint/2010/main" val="3733135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mc:AlternateContent xmlns:mc="http://schemas.openxmlformats.org/markup-compatibility/2006" xmlns:a14="http://schemas.microsoft.com/office/drawing/2010/main">
        <mc:Choice Requires="a14">
          <p:sp>
            <p:nvSpPr>
              <p:cNvPr id="4" name="TextBox 3"/>
              <p:cNvSpPr txBox="1"/>
              <p:nvPr/>
            </p:nvSpPr>
            <p:spPr>
              <a:xfrm>
                <a:off x="175250" y="412977"/>
                <a:ext cx="6378473" cy="1473224"/>
              </a:xfrm>
              <a:prstGeom prst="rect">
                <a:avLst/>
              </a:prstGeom>
              <a:noFill/>
            </p:spPr>
            <p:txBody>
              <a:bodyPr wrap="square" rtlCol="0">
                <a:spAutoFit/>
              </a:bodyPr>
              <a:lstStyle/>
              <a:p>
                <a:r>
                  <a:rPr lang="en-AU" sz="2200" dirty="0" smtClean="0"/>
                  <a:t>The line of best fit for this data is </a:t>
                </a:r>
                <a:endParaRPr lang="en-AU" sz="2200" b="0"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𝑦</m:t>
                      </m:r>
                      <m:r>
                        <a:rPr lang="en-AU" sz="2200" b="0" i="1" smtClean="0">
                          <a:latin typeface="Cambria Math" panose="02040503050406030204" pitchFamily="18" charset="0"/>
                        </a:rPr>
                        <m:t>=0.26</m:t>
                      </m:r>
                      <m:r>
                        <a:rPr lang="en-AU" sz="2200" b="0" i="1" smtClean="0">
                          <a:latin typeface="Cambria Math" panose="02040503050406030204" pitchFamily="18" charset="0"/>
                        </a:rPr>
                        <m:t>𝑥</m:t>
                      </m:r>
                      <m:r>
                        <a:rPr lang="en-AU" sz="2200" b="0" i="1" smtClean="0">
                          <a:latin typeface="Cambria Math" panose="02040503050406030204" pitchFamily="18" charset="0"/>
                        </a:rPr>
                        <m:t>+17.76</m:t>
                      </m:r>
                    </m:oMath>
                  </m:oMathPara>
                </a14:m>
                <a:endParaRPr lang="en-AU" sz="2200" b="0" dirty="0" smtClean="0"/>
              </a:p>
              <a:p>
                <a:r>
                  <a:rPr lang="en-AU" sz="2200" dirty="0" smtClean="0"/>
                  <a:t> with a correlation coefficient </a:t>
                </a:r>
                <a14:m>
                  <m:oMath xmlns:m="http://schemas.openxmlformats.org/officeDocument/2006/math">
                    <m:sSub>
                      <m:sSubPr>
                        <m:ctrlPr>
                          <a:rPr lang="en-AU" sz="2200" i="1" smtClean="0">
                            <a:latin typeface="Cambria Math" panose="02040503050406030204" pitchFamily="18" charset="0"/>
                          </a:rPr>
                        </m:ctrlPr>
                      </m:sSubPr>
                      <m:e>
                        <m:r>
                          <a:rPr lang="en-AU" sz="2200" b="0" i="1" smtClean="0">
                            <a:latin typeface="Cambria Math" panose="02040503050406030204" pitchFamily="18" charset="0"/>
                          </a:rPr>
                          <m:t>𝑟</m:t>
                        </m:r>
                      </m:e>
                      <m:sub>
                        <m:r>
                          <a:rPr lang="en-AU" sz="2200" b="0" i="1" smtClean="0">
                            <a:latin typeface="Cambria Math" panose="02040503050406030204" pitchFamily="18" charset="0"/>
                          </a:rPr>
                          <m:t>𝑥𝑦</m:t>
                        </m:r>
                      </m:sub>
                    </m:sSub>
                    <m:r>
                      <a:rPr lang="en-AU" sz="2200" b="0" i="1" smtClean="0">
                        <a:latin typeface="Cambria Math" panose="02040503050406030204" pitchFamily="18" charset="0"/>
                      </a:rPr>
                      <m:t> </m:t>
                    </m:r>
                  </m:oMath>
                </a14:m>
                <a:r>
                  <a:rPr lang="en-AU" sz="2200" dirty="0" smtClean="0"/>
                  <a:t>of 0.83 </a:t>
                </a:r>
              </a:p>
              <a:p>
                <a:r>
                  <a:rPr lang="en-AU" sz="2200" dirty="0" smtClean="0"/>
                  <a:t>(strong positive correlation).</a:t>
                </a:r>
                <a:endParaRPr lang="en-AU" sz="2200" dirty="0"/>
              </a:p>
            </p:txBody>
          </p:sp>
        </mc:Choice>
        <mc:Fallback xmlns="">
          <p:sp>
            <p:nvSpPr>
              <p:cNvPr id="4" name="TextBox 3"/>
              <p:cNvSpPr txBox="1">
                <a:spLocks noRot="1" noChangeAspect="1" noMove="1" noResize="1" noEditPoints="1" noAdjustHandles="1" noChangeArrowheads="1" noChangeShapeType="1" noTextEdit="1"/>
              </p:cNvSpPr>
              <p:nvPr/>
            </p:nvSpPr>
            <p:spPr>
              <a:xfrm>
                <a:off x="175250" y="412977"/>
                <a:ext cx="6378473" cy="1473224"/>
              </a:xfrm>
              <a:prstGeom prst="rect">
                <a:avLst/>
              </a:prstGeom>
              <a:blipFill>
                <a:blip r:embed="rId2"/>
                <a:stretch>
                  <a:fillRect l="-1243" t="-2905" b="-746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75249" y="1880850"/>
                <a:ext cx="6749011" cy="430887"/>
              </a:xfrm>
              <a:prstGeom prst="rect">
                <a:avLst/>
              </a:prstGeom>
              <a:noFill/>
            </p:spPr>
            <p:txBody>
              <a:bodyPr wrap="square" rtlCol="0">
                <a:spAutoFit/>
              </a:bodyPr>
              <a:lstStyle/>
              <a:p>
                <a:r>
                  <a:rPr lang="en-AU" sz="2200" dirty="0" smtClean="0"/>
                  <a:t>For </a:t>
                </a:r>
                <a14:m>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=15,</m:t>
                    </m:r>
                  </m:oMath>
                </a14:m>
                <a:r>
                  <a:rPr lang="en-AU" sz="2200" dirty="0" smtClean="0"/>
                  <a:t> the predicted y value</a:t>
                </a:r>
                <a:r>
                  <a:rPr lang="en-AU" sz="2200" i="1" dirty="0">
                    <a:latin typeface="Cambria Math" panose="02040503050406030204" pitchFamily="18" charset="0"/>
                  </a:rPr>
                  <a:t> </a:t>
                </a:r>
                <a14:m>
                  <m:oMath xmlns:m="http://schemas.openxmlformats.org/officeDocument/2006/math">
                    <m:r>
                      <a:rPr lang="en-AU" sz="2200" i="1" dirty="0" smtClean="0">
                        <a:latin typeface="Cambria Math" panose="02040503050406030204" pitchFamily="18" charset="0"/>
                      </a:rPr>
                      <m:t>= 21.7</m:t>
                    </m:r>
                  </m:oMath>
                </a14:m>
                <a:endParaRPr lang="en-AU" sz="2200" dirty="0"/>
              </a:p>
            </p:txBody>
          </p:sp>
        </mc:Choice>
        <mc:Fallback xmlns="">
          <p:sp>
            <p:nvSpPr>
              <p:cNvPr id="5" name="TextBox 4"/>
              <p:cNvSpPr txBox="1">
                <a:spLocks noRot="1" noChangeAspect="1" noMove="1" noResize="1" noEditPoints="1" noAdjustHandles="1" noChangeArrowheads="1" noChangeShapeType="1" noTextEdit="1"/>
              </p:cNvSpPr>
              <p:nvPr/>
            </p:nvSpPr>
            <p:spPr>
              <a:xfrm>
                <a:off x="175249" y="1880850"/>
                <a:ext cx="6749011" cy="430887"/>
              </a:xfrm>
              <a:prstGeom prst="rect">
                <a:avLst/>
              </a:prstGeom>
              <a:blipFill>
                <a:blip r:embed="rId3"/>
                <a:stretch>
                  <a:fillRect l="-1174" t="-10000" b="-2857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75250" y="2453126"/>
                <a:ext cx="6749011" cy="430887"/>
              </a:xfrm>
              <a:prstGeom prst="rect">
                <a:avLst/>
              </a:prstGeom>
              <a:noFill/>
            </p:spPr>
            <p:txBody>
              <a:bodyPr wrap="square" rtlCol="0">
                <a:spAutoFit/>
              </a:bodyPr>
              <a:lstStyle/>
              <a:p>
                <a:r>
                  <a:rPr lang="en-AU" sz="2200" dirty="0" smtClean="0"/>
                  <a:t>For </a:t>
                </a:r>
                <a14:m>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=55,</m:t>
                    </m:r>
                  </m:oMath>
                </a14:m>
                <a:r>
                  <a:rPr lang="en-AU" sz="2200" dirty="0" smtClean="0"/>
                  <a:t> the predicted y value </a:t>
                </a:r>
                <a14:m>
                  <m:oMath xmlns:m="http://schemas.openxmlformats.org/officeDocument/2006/math">
                    <m:r>
                      <a:rPr lang="en-AU" sz="2200" i="1" dirty="0" smtClean="0">
                        <a:latin typeface="Cambria Math" panose="02040503050406030204" pitchFamily="18" charset="0"/>
                      </a:rPr>
                      <m:t>=</m:t>
                    </m:r>
                    <m:r>
                      <a:rPr lang="en-AU" sz="2200" b="0" i="1" dirty="0" smtClean="0">
                        <a:latin typeface="Cambria Math" panose="02040503050406030204" pitchFamily="18" charset="0"/>
                      </a:rPr>
                      <m:t>32.2</m:t>
                    </m:r>
                  </m:oMath>
                </a14:m>
                <a:endParaRPr lang="en-AU" sz="2200" dirty="0"/>
              </a:p>
            </p:txBody>
          </p:sp>
        </mc:Choice>
        <mc:Fallback xmlns="">
          <p:sp>
            <p:nvSpPr>
              <p:cNvPr id="6" name="TextBox 5"/>
              <p:cNvSpPr txBox="1">
                <a:spLocks noRot="1" noChangeAspect="1" noMove="1" noResize="1" noEditPoints="1" noAdjustHandles="1" noChangeArrowheads="1" noChangeShapeType="1" noTextEdit="1"/>
              </p:cNvSpPr>
              <p:nvPr/>
            </p:nvSpPr>
            <p:spPr>
              <a:xfrm>
                <a:off x="175250" y="2453126"/>
                <a:ext cx="6749011" cy="430887"/>
              </a:xfrm>
              <a:prstGeom prst="rect">
                <a:avLst/>
              </a:prstGeom>
              <a:blipFill>
                <a:blip r:embed="rId4"/>
                <a:stretch>
                  <a:fillRect l="-1174" t="-8451" b="-2816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75250" y="2884013"/>
                <a:ext cx="6749011" cy="430887"/>
              </a:xfrm>
              <a:prstGeom prst="rect">
                <a:avLst/>
              </a:prstGeom>
              <a:noFill/>
            </p:spPr>
            <p:txBody>
              <a:bodyPr wrap="square" rtlCol="0">
                <a:spAutoFit/>
              </a:bodyPr>
              <a:lstStyle/>
              <a:p>
                <a:r>
                  <a:rPr lang="en-AU" sz="2200" dirty="0" smtClean="0"/>
                  <a:t>For </a:t>
                </a:r>
                <a14:m>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=88,</m:t>
                    </m:r>
                  </m:oMath>
                </a14:m>
                <a:r>
                  <a:rPr lang="en-AU" sz="2200" dirty="0" smtClean="0"/>
                  <a:t> the predicted y value </a:t>
                </a:r>
                <a14:m>
                  <m:oMath xmlns:m="http://schemas.openxmlformats.org/officeDocument/2006/math">
                    <m:r>
                      <a:rPr lang="en-AU" sz="2200" i="1" dirty="0" smtClean="0">
                        <a:latin typeface="Cambria Math" panose="02040503050406030204" pitchFamily="18" charset="0"/>
                      </a:rPr>
                      <m:t>=</m:t>
                    </m:r>
                    <m:r>
                      <a:rPr lang="en-AU" sz="2200" b="0" i="1" dirty="0" smtClean="0">
                        <a:latin typeface="Cambria Math" panose="02040503050406030204" pitchFamily="18" charset="0"/>
                      </a:rPr>
                      <m:t>40.8</m:t>
                    </m:r>
                  </m:oMath>
                </a14:m>
                <a:endParaRPr lang="en-AU" sz="2200" dirty="0"/>
              </a:p>
            </p:txBody>
          </p:sp>
        </mc:Choice>
        <mc:Fallback xmlns="">
          <p:sp>
            <p:nvSpPr>
              <p:cNvPr id="7" name="TextBox 6"/>
              <p:cNvSpPr txBox="1">
                <a:spLocks noRot="1" noChangeAspect="1" noMove="1" noResize="1" noEditPoints="1" noAdjustHandles="1" noChangeArrowheads="1" noChangeShapeType="1" noTextEdit="1"/>
              </p:cNvSpPr>
              <p:nvPr/>
            </p:nvSpPr>
            <p:spPr>
              <a:xfrm>
                <a:off x="175250" y="2884013"/>
                <a:ext cx="6749011" cy="430887"/>
              </a:xfrm>
              <a:prstGeom prst="rect">
                <a:avLst/>
              </a:prstGeom>
              <a:blipFill>
                <a:blip r:embed="rId5"/>
                <a:stretch>
                  <a:fillRect l="-1174" t="-9859" b="-28169"/>
                </a:stretch>
              </a:blipFill>
            </p:spPr>
            <p:txBody>
              <a:bodyPr/>
              <a:lstStyle/>
              <a:p>
                <a:r>
                  <a:rPr lang="en-AU">
                    <a:noFill/>
                  </a:rPr>
                  <a:t> </a:t>
                </a:r>
              </a:p>
            </p:txBody>
          </p:sp>
        </mc:Fallback>
      </mc:AlternateContent>
      <p:pic>
        <p:nvPicPr>
          <p:cNvPr id="8" name="Picture 7"/>
          <p:cNvPicPr>
            <a:picLocks noChangeAspect="1"/>
          </p:cNvPicPr>
          <p:nvPr/>
        </p:nvPicPr>
        <p:blipFill>
          <a:blip r:embed="rId6"/>
          <a:stretch>
            <a:fillRect/>
          </a:stretch>
        </p:blipFill>
        <p:spPr>
          <a:xfrm>
            <a:off x="281609" y="3463477"/>
            <a:ext cx="5943600" cy="3267075"/>
          </a:xfrm>
          <a:prstGeom prst="rect">
            <a:avLst/>
          </a:prstGeom>
        </p:spPr>
      </p:pic>
      <p:sp>
        <p:nvSpPr>
          <p:cNvPr id="3" name="TextBox 2"/>
          <p:cNvSpPr txBox="1"/>
          <p:nvPr/>
        </p:nvSpPr>
        <p:spPr>
          <a:xfrm>
            <a:off x="6020161" y="637244"/>
            <a:ext cx="5695242" cy="4493538"/>
          </a:xfrm>
          <a:prstGeom prst="rect">
            <a:avLst/>
          </a:prstGeom>
          <a:noFill/>
        </p:spPr>
        <p:txBody>
          <a:bodyPr wrap="square" rtlCol="0">
            <a:spAutoFit/>
          </a:bodyPr>
          <a:lstStyle/>
          <a:p>
            <a:r>
              <a:rPr lang="en-AU" sz="2200" dirty="0" smtClean="0"/>
              <a:t>We can be reasonably confident of the validity of our predicted values as:</a:t>
            </a:r>
          </a:p>
          <a:p>
            <a:endParaRPr lang="en-AU" sz="2200" dirty="0" smtClean="0"/>
          </a:p>
          <a:p>
            <a:pPr marL="342900" indent="-342900">
              <a:buFont typeface="Arial" panose="020B0604020202020204" pitchFamily="34" charset="0"/>
              <a:buChar char="•"/>
            </a:pPr>
            <a:r>
              <a:rPr lang="en-AU" sz="2200" dirty="0" smtClean="0"/>
              <a:t>The scatter plot suggests the data fits a linear model.</a:t>
            </a:r>
          </a:p>
          <a:p>
            <a:pPr marL="342900" indent="-342900">
              <a:buFont typeface="Arial" panose="020B0604020202020204" pitchFamily="34" charset="0"/>
              <a:buChar char="•"/>
            </a:pPr>
            <a:endParaRPr lang="en-AU" sz="2200" dirty="0" smtClean="0"/>
          </a:p>
          <a:p>
            <a:pPr marL="342900" indent="-342900">
              <a:buFont typeface="Arial" panose="020B0604020202020204" pitchFamily="34" charset="0"/>
              <a:buChar char="•"/>
            </a:pPr>
            <a:r>
              <a:rPr lang="en-AU" sz="2200" dirty="0" smtClean="0"/>
              <a:t>The value of r= 0.83 shows quite strong positive linear correlation.</a:t>
            </a:r>
          </a:p>
          <a:p>
            <a:pPr marL="342900" indent="-342900">
              <a:buFont typeface="Arial" panose="020B0604020202020204" pitchFamily="34" charset="0"/>
              <a:buChar char="•"/>
            </a:pPr>
            <a:endParaRPr lang="en-AU" sz="2200" dirty="0" smtClean="0"/>
          </a:p>
          <a:p>
            <a:pPr marL="342900" indent="-342900">
              <a:buFont typeface="Arial" panose="020B0604020202020204" pitchFamily="34" charset="0"/>
              <a:buChar char="•"/>
            </a:pPr>
            <a:r>
              <a:rPr lang="en-AU" sz="2200" dirty="0" smtClean="0"/>
              <a:t>A reasonable amount of points are involved.</a:t>
            </a:r>
          </a:p>
          <a:p>
            <a:pPr marL="342900" indent="-342900">
              <a:buFont typeface="Arial" panose="020B0604020202020204" pitchFamily="34" charset="0"/>
              <a:buChar char="•"/>
            </a:pPr>
            <a:endParaRPr lang="en-AU" sz="2200" dirty="0" smtClean="0"/>
          </a:p>
          <a:p>
            <a:pPr marL="342900" indent="-342900">
              <a:buFont typeface="Arial" panose="020B0604020202020204" pitchFamily="34" charset="0"/>
              <a:buChar char="•"/>
            </a:pPr>
            <a:r>
              <a:rPr lang="en-AU" sz="2200" dirty="0" smtClean="0"/>
              <a:t>All 3 of our predicted values involve interpolation (fall within range of data).</a:t>
            </a:r>
            <a:endParaRPr lang="en-AU" sz="2200" dirty="0"/>
          </a:p>
        </p:txBody>
      </p:sp>
    </p:spTree>
    <p:extLst>
      <p:ext uri="{BB962C8B-B14F-4D97-AF65-F5344CB8AC3E}">
        <p14:creationId xmlns:p14="http://schemas.microsoft.com/office/powerpoint/2010/main" val="76610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768436" cy="461665"/>
          </a:xfrm>
          <a:prstGeom prst="rect">
            <a:avLst/>
          </a:prstGeom>
          <a:solidFill>
            <a:srgbClr val="FFFF00"/>
          </a:solidFill>
        </p:spPr>
        <p:txBody>
          <a:bodyPr wrap="square" rtlCol="0">
            <a:spAutoFit/>
          </a:bodyPr>
          <a:lstStyle/>
          <a:p>
            <a:r>
              <a:rPr lang="en-AU" sz="2400" dirty="0" smtClean="0"/>
              <a:t>Unit 3 Chapter 2B Example 1</a:t>
            </a:r>
            <a:endParaRPr lang="en-AU" sz="2400" dirty="0"/>
          </a:p>
        </p:txBody>
      </p:sp>
      <p:pic>
        <p:nvPicPr>
          <p:cNvPr id="3" name="Picture 2"/>
          <p:cNvPicPr>
            <a:picLocks noChangeAspect="1"/>
          </p:cNvPicPr>
          <p:nvPr/>
        </p:nvPicPr>
        <p:blipFill>
          <a:blip r:embed="rId2"/>
          <a:stretch>
            <a:fillRect/>
          </a:stretch>
        </p:blipFill>
        <p:spPr>
          <a:xfrm>
            <a:off x="304799" y="940734"/>
            <a:ext cx="7675419" cy="885285"/>
          </a:xfrm>
          <a:prstGeom prst="rect">
            <a:avLst/>
          </a:prstGeom>
        </p:spPr>
      </p:pic>
      <p:sp>
        <p:nvSpPr>
          <p:cNvPr id="4" name="TextBox 3"/>
          <p:cNvSpPr txBox="1"/>
          <p:nvPr/>
        </p:nvSpPr>
        <p:spPr>
          <a:xfrm>
            <a:off x="304799" y="509847"/>
            <a:ext cx="11720945" cy="3139321"/>
          </a:xfrm>
          <a:prstGeom prst="rect">
            <a:avLst/>
          </a:prstGeom>
          <a:noFill/>
        </p:spPr>
        <p:txBody>
          <a:bodyPr wrap="square" rtlCol="0">
            <a:spAutoFit/>
          </a:bodyPr>
          <a:lstStyle/>
          <a:p>
            <a:r>
              <a:rPr lang="en-AU" sz="2200" dirty="0" smtClean="0"/>
              <a:t>Ten people were given two tests, A and B, and results were as follows.</a:t>
            </a:r>
          </a:p>
          <a:p>
            <a:endParaRPr lang="en-AU" sz="2200" dirty="0"/>
          </a:p>
          <a:p>
            <a:endParaRPr lang="en-AU" sz="2200" dirty="0" smtClean="0"/>
          </a:p>
          <a:p>
            <a:endParaRPr lang="en-AU" sz="2200" dirty="0" smtClean="0"/>
          </a:p>
          <a:p>
            <a:r>
              <a:rPr lang="en-AU" sz="2200" dirty="0" smtClean="0"/>
              <a:t>a) Plot the data as a scatter graph with A as the horizontal axis.</a:t>
            </a:r>
          </a:p>
          <a:p>
            <a:r>
              <a:rPr lang="en-AU" sz="2200" dirty="0" smtClean="0"/>
              <a:t>b) Suggest whether the data is suited to a linear model.</a:t>
            </a:r>
          </a:p>
          <a:p>
            <a:r>
              <a:rPr lang="en-AU" sz="2200" dirty="0" smtClean="0"/>
              <a:t>c) Determine the correlation coefficient for the 10 pairs of results.</a:t>
            </a:r>
          </a:p>
          <a:p>
            <a:r>
              <a:rPr lang="en-AU" sz="2200" dirty="0" smtClean="0"/>
              <a:t>d) Determine the equation of the line of best fit.</a:t>
            </a:r>
          </a:p>
          <a:p>
            <a:r>
              <a:rPr lang="en-AU" sz="2200" dirty="0" smtClean="0"/>
              <a:t>e) Predict the test B score for someone who scored 7 on Test A and comment on the validity.</a:t>
            </a:r>
            <a:endParaRPr lang="en-AU" sz="2200" dirty="0"/>
          </a:p>
        </p:txBody>
      </p:sp>
      <p:pic>
        <p:nvPicPr>
          <p:cNvPr id="5" name="Picture 4"/>
          <p:cNvPicPr>
            <a:picLocks noChangeAspect="1"/>
          </p:cNvPicPr>
          <p:nvPr/>
        </p:nvPicPr>
        <p:blipFill>
          <a:blip r:embed="rId3"/>
          <a:stretch>
            <a:fillRect/>
          </a:stretch>
        </p:blipFill>
        <p:spPr>
          <a:xfrm>
            <a:off x="356062" y="3766719"/>
            <a:ext cx="2828425" cy="2877922"/>
          </a:xfrm>
          <a:prstGeom prst="rect">
            <a:avLst/>
          </a:prstGeom>
        </p:spPr>
      </p:pic>
      <p:sp>
        <p:nvSpPr>
          <p:cNvPr id="6" name="TextBox 5"/>
          <p:cNvSpPr txBox="1"/>
          <p:nvPr/>
        </p:nvSpPr>
        <p:spPr>
          <a:xfrm>
            <a:off x="3319550" y="3695315"/>
            <a:ext cx="8445731" cy="769441"/>
          </a:xfrm>
          <a:prstGeom prst="rect">
            <a:avLst/>
          </a:prstGeom>
          <a:noFill/>
        </p:spPr>
        <p:txBody>
          <a:bodyPr wrap="square" rtlCol="0">
            <a:spAutoFit/>
          </a:bodyPr>
          <a:lstStyle/>
          <a:p>
            <a:r>
              <a:rPr lang="en-AU" sz="2200" dirty="0" smtClean="0"/>
              <a:t>b) The scatter graph suggests a strong positive linear correlation so the data would be suited to a linear model.</a:t>
            </a:r>
            <a:endParaRPr lang="en-AU" sz="2200" dirty="0"/>
          </a:p>
        </p:txBody>
      </p:sp>
      <p:pic>
        <p:nvPicPr>
          <p:cNvPr id="7" name="Picture 6"/>
          <p:cNvPicPr>
            <a:picLocks noChangeAspect="1"/>
          </p:cNvPicPr>
          <p:nvPr/>
        </p:nvPicPr>
        <p:blipFill>
          <a:blip r:embed="rId4"/>
          <a:stretch>
            <a:fillRect/>
          </a:stretch>
        </p:blipFill>
        <p:spPr>
          <a:xfrm>
            <a:off x="3420082" y="4686768"/>
            <a:ext cx="2470872" cy="1701130"/>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6165271" y="4567883"/>
                <a:ext cx="5827153" cy="1107996"/>
              </a:xfrm>
              <a:prstGeom prst="rect">
                <a:avLst/>
              </a:prstGeom>
              <a:noFill/>
            </p:spPr>
            <p:txBody>
              <a:bodyPr wrap="square" rtlCol="0">
                <a:spAutoFit/>
              </a:bodyPr>
              <a:lstStyle/>
              <a:p>
                <a:r>
                  <a:rPr lang="en-AU" sz="2200" dirty="0" smtClean="0"/>
                  <a:t>c) The correlation coefficient is 0.978 (3 </a:t>
                </a:r>
                <a:r>
                  <a:rPr lang="en-AU" sz="2200" dirty="0" err="1" smtClean="0"/>
                  <a:t>dp</a:t>
                </a:r>
                <a:r>
                  <a:rPr lang="en-AU" sz="2200" dirty="0" smtClean="0"/>
                  <a:t>)</a:t>
                </a:r>
              </a:p>
              <a:p>
                <a:endParaRPr lang="en-AU" sz="2200" dirty="0" smtClean="0"/>
              </a:p>
              <a:p>
                <a:r>
                  <a:rPr lang="en-AU" sz="2200" dirty="0" smtClean="0"/>
                  <a:t>d) The line of best fit is </a:t>
                </a:r>
                <a14:m>
                  <m:oMath xmlns:m="http://schemas.openxmlformats.org/officeDocument/2006/math">
                    <m:r>
                      <a:rPr lang="en-AU" sz="2200" b="0" i="1" smtClean="0">
                        <a:latin typeface="Cambria Math" panose="02040503050406030204" pitchFamily="18" charset="0"/>
                      </a:rPr>
                      <m:t>𝑦</m:t>
                    </m:r>
                    <m:r>
                      <a:rPr lang="en-AU" sz="2200" b="0" i="1" smtClean="0">
                        <a:latin typeface="Cambria Math" panose="02040503050406030204" pitchFamily="18" charset="0"/>
                      </a:rPr>
                      <m:t>=1.956</m:t>
                    </m:r>
                    <m:r>
                      <a:rPr lang="en-AU" sz="2200" b="0" i="1" smtClean="0">
                        <a:latin typeface="Cambria Math" panose="02040503050406030204" pitchFamily="18" charset="0"/>
                      </a:rPr>
                      <m:t>𝑥</m:t>
                    </m:r>
                    <m:r>
                      <a:rPr lang="en-AU" sz="2200" b="0" i="1" smtClean="0">
                        <a:latin typeface="Cambria Math" panose="02040503050406030204" pitchFamily="18" charset="0"/>
                      </a:rPr>
                      <m:t>+13.263</m:t>
                    </m:r>
                  </m:oMath>
                </a14:m>
                <a:endParaRPr lang="en-AU"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6165271" y="4567883"/>
                <a:ext cx="5827153" cy="1107996"/>
              </a:xfrm>
              <a:prstGeom prst="rect">
                <a:avLst/>
              </a:prstGeom>
              <a:blipFill>
                <a:blip r:embed="rId5"/>
                <a:stretch>
                  <a:fillRect l="-1360" t="-3297" b="-10440"/>
                </a:stretch>
              </a:blipFill>
            </p:spPr>
            <p:txBody>
              <a:bodyPr/>
              <a:lstStyle/>
              <a:p>
                <a:r>
                  <a:rPr lang="en-AU">
                    <a:noFill/>
                  </a:rPr>
                  <a:t> </a:t>
                </a:r>
              </a:p>
            </p:txBody>
          </p:sp>
        </mc:Fallback>
      </mc:AlternateContent>
    </p:spTree>
    <p:extLst>
      <p:ext uri="{BB962C8B-B14F-4D97-AF65-F5344CB8AC3E}">
        <p14:creationId xmlns:p14="http://schemas.microsoft.com/office/powerpoint/2010/main" val="148990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818313" cy="461665"/>
          </a:xfrm>
          <a:prstGeom prst="rect">
            <a:avLst/>
          </a:prstGeom>
          <a:solidFill>
            <a:srgbClr val="FFFF00"/>
          </a:solidFill>
        </p:spPr>
        <p:txBody>
          <a:bodyPr wrap="square" rtlCol="0">
            <a:spAutoFit/>
          </a:bodyPr>
          <a:lstStyle/>
          <a:p>
            <a:r>
              <a:rPr lang="en-AU" sz="2400" dirty="0" smtClean="0"/>
              <a:t>Unit 3 Chapter 2B Example 1</a:t>
            </a:r>
            <a:endParaRPr lang="en-AU" sz="2400" dirty="0"/>
          </a:p>
        </p:txBody>
      </p:sp>
      <p:pic>
        <p:nvPicPr>
          <p:cNvPr id="3" name="Picture 2"/>
          <p:cNvPicPr>
            <a:picLocks noChangeAspect="1"/>
          </p:cNvPicPr>
          <p:nvPr/>
        </p:nvPicPr>
        <p:blipFill>
          <a:blip r:embed="rId2"/>
          <a:stretch>
            <a:fillRect/>
          </a:stretch>
        </p:blipFill>
        <p:spPr>
          <a:xfrm>
            <a:off x="304799" y="940734"/>
            <a:ext cx="7675419" cy="885285"/>
          </a:xfrm>
          <a:prstGeom prst="rect">
            <a:avLst/>
          </a:prstGeom>
        </p:spPr>
      </p:pic>
      <p:sp>
        <p:nvSpPr>
          <p:cNvPr id="4" name="TextBox 3"/>
          <p:cNvSpPr txBox="1"/>
          <p:nvPr/>
        </p:nvSpPr>
        <p:spPr>
          <a:xfrm>
            <a:off x="304799" y="509847"/>
            <a:ext cx="11720945" cy="3139321"/>
          </a:xfrm>
          <a:prstGeom prst="rect">
            <a:avLst/>
          </a:prstGeom>
          <a:noFill/>
        </p:spPr>
        <p:txBody>
          <a:bodyPr wrap="square" rtlCol="0">
            <a:spAutoFit/>
          </a:bodyPr>
          <a:lstStyle/>
          <a:p>
            <a:r>
              <a:rPr lang="en-AU" sz="2200" dirty="0" smtClean="0"/>
              <a:t>Ten people were given two tests, A and B, and results were as follows.</a:t>
            </a:r>
          </a:p>
          <a:p>
            <a:endParaRPr lang="en-AU" sz="2200" dirty="0"/>
          </a:p>
          <a:p>
            <a:endParaRPr lang="en-AU" sz="2200" dirty="0" smtClean="0"/>
          </a:p>
          <a:p>
            <a:endParaRPr lang="en-AU" sz="2200" dirty="0" smtClean="0"/>
          </a:p>
          <a:p>
            <a:r>
              <a:rPr lang="en-AU" sz="2200" dirty="0" smtClean="0"/>
              <a:t>a) Plot the data as a scatter graph with A as the horizontal axis.</a:t>
            </a:r>
          </a:p>
          <a:p>
            <a:r>
              <a:rPr lang="en-AU" sz="2200" dirty="0" smtClean="0"/>
              <a:t>b) Suggest whether the data is suited to a linear model.</a:t>
            </a:r>
          </a:p>
          <a:p>
            <a:r>
              <a:rPr lang="en-AU" sz="2200" dirty="0" smtClean="0"/>
              <a:t>c) Determine the correlation coefficient for the 10 pairs of results.</a:t>
            </a:r>
          </a:p>
          <a:p>
            <a:r>
              <a:rPr lang="en-AU" sz="2200" dirty="0" smtClean="0"/>
              <a:t>d) Determine the equation of the line of best fit.</a:t>
            </a:r>
          </a:p>
          <a:p>
            <a:r>
              <a:rPr lang="en-AU" sz="2200" dirty="0" smtClean="0"/>
              <a:t>e) Predict the test B score for someone who scored 7 on Test A and comment on the validity.</a:t>
            </a:r>
            <a:endParaRPr lang="en-AU" sz="2200" dirty="0"/>
          </a:p>
        </p:txBody>
      </p:sp>
      <mc:AlternateContent xmlns:mc="http://schemas.openxmlformats.org/markup-compatibility/2006" xmlns:a14="http://schemas.microsoft.com/office/drawing/2010/main">
        <mc:Choice Requires="a14">
          <p:sp>
            <p:nvSpPr>
              <p:cNvPr id="9" name="TextBox 8"/>
              <p:cNvSpPr txBox="1"/>
              <p:nvPr/>
            </p:nvSpPr>
            <p:spPr>
              <a:xfrm>
                <a:off x="338117" y="3791301"/>
                <a:ext cx="11399453" cy="769441"/>
              </a:xfrm>
              <a:prstGeom prst="rect">
                <a:avLst/>
              </a:prstGeom>
              <a:noFill/>
            </p:spPr>
            <p:txBody>
              <a:bodyPr wrap="square" rtlCol="0">
                <a:spAutoFit/>
              </a:bodyPr>
              <a:lstStyle/>
              <a:p>
                <a:r>
                  <a:rPr lang="en-AU" sz="2200" dirty="0" smtClean="0"/>
                  <a:t>c) The correlation coefficient is 0.978 (3 </a:t>
                </a:r>
                <a:r>
                  <a:rPr lang="en-AU" sz="2200" dirty="0" err="1" smtClean="0"/>
                  <a:t>dp</a:t>
                </a:r>
                <a:r>
                  <a:rPr lang="en-AU" sz="2200" dirty="0" smtClean="0"/>
                  <a:t>)</a:t>
                </a:r>
              </a:p>
              <a:p>
                <a:r>
                  <a:rPr lang="en-AU" sz="2200" dirty="0" smtClean="0"/>
                  <a:t>d) The line of best fit is </a:t>
                </a:r>
                <a14:m>
                  <m:oMath xmlns:m="http://schemas.openxmlformats.org/officeDocument/2006/math">
                    <m:r>
                      <a:rPr lang="en-AU" sz="2200" b="0" i="1" smtClean="0">
                        <a:latin typeface="Cambria Math" panose="02040503050406030204" pitchFamily="18" charset="0"/>
                      </a:rPr>
                      <m:t>𝑦</m:t>
                    </m:r>
                    <m:r>
                      <a:rPr lang="en-AU" sz="2200" b="0" i="1" smtClean="0">
                        <a:latin typeface="Cambria Math" panose="02040503050406030204" pitchFamily="18" charset="0"/>
                      </a:rPr>
                      <m:t>=1.956</m:t>
                    </m:r>
                    <m:r>
                      <a:rPr lang="en-AU" sz="2200" b="0" i="1" smtClean="0">
                        <a:latin typeface="Cambria Math" panose="02040503050406030204" pitchFamily="18" charset="0"/>
                      </a:rPr>
                      <m:t>𝑥</m:t>
                    </m:r>
                    <m:r>
                      <a:rPr lang="en-AU" sz="2200" b="0" i="1" smtClean="0">
                        <a:latin typeface="Cambria Math" panose="02040503050406030204" pitchFamily="18" charset="0"/>
                      </a:rPr>
                      <m:t>+13.26 </m:t>
                    </m:r>
                  </m:oMath>
                </a14:m>
                <a:r>
                  <a:rPr lang="en-AU" sz="2200" dirty="0" smtClean="0"/>
                  <a:t>where </a:t>
                </a:r>
                <a14:m>
                  <m:oMath xmlns:m="http://schemas.openxmlformats.org/officeDocument/2006/math">
                    <m:r>
                      <a:rPr lang="en-AU" sz="2200" i="1" dirty="0" smtClean="0">
                        <a:latin typeface="Cambria Math" panose="02040503050406030204" pitchFamily="18" charset="0"/>
                      </a:rPr>
                      <m:t>𝑦</m:t>
                    </m:r>
                  </m:oMath>
                </a14:m>
                <a:r>
                  <a:rPr lang="en-AU" sz="2200" dirty="0" smtClean="0"/>
                  <a:t> is the test B values and </a:t>
                </a:r>
                <a14:m>
                  <m:oMath xmlns:m="http://schemas.openxmlformats.org/officeDocument/2006/math">
                    <m:r>
                      <a:rPr lang="en-AU" sz="2200" i="1" dirty="0" smtClean="0">
                        <a:latin typeface="Cambria Math" panose="02040503050406030204" pitchFamily="18" charset="0"/>
                      </a:rPr>
                      <m:t>𝑥</m:t>
                    </m:r>
                  </m:oMath>
                </a14:m>
                <a:r>
                  <a:rPr lang="en-AU" sz="2200" dirty="0" smtClean="0"/>
                  <a:t> is the test A values</a:t>
                </a:r>
                <a:endParaRPr lang="en-AU"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338117" y="3791301"/>
                <a:ext cx="11399453" cy="769441"/>
              </a:xfrm>
              <a:prstGeom prst="rect">
                <a:avLst/>
              </a:prstGeom>
              <a:blipFill>
                <a:blip r:embed="rId3"/>
                <a:stretch>
                  <a:fillRect l="-695" t="-5556" b="-1507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38117" y="4560742"/>
                <a:ext cx="10994901" cy="1107996"/>
              </a:xfrm>
              <a:prstGeom prst="rect">
                <a:avLst/>
              </a:prstGeom>
              <a:noFill/>
            </p:spPr>
            <p:txBody>
              <a:bodyPr wrap="square" rtlCol="0">
                <a:spAutoFit/>
              </a:bodyPr>
              <a:lstStyle/>
              <a:p>
                <a:r>
                  <a:rPr lang="en-AU" sz="2200" dirty="0" smtClean="0"/>
                  <a:t>e) For a test A score of 7 </a:t>
                </a:r>
                <a14:m>
                  <m:oMath xmlns:m="http://schemas.openxmlformats.org/officeDocument/2006/math">
                    <m:r>
                      <a:rPr lang="en-AU" sz="2200" b="0" i="1" smtClean="0">
                        <a:latin typeface="Cambria Math" panose="02040503050406030204" pitchFamily="18" charset="0"/>
                      </a:rPr>
                      <m:t>(</m:t>
                    </m:r>
                    <m:r>
                      <a:rPr lang="en-AU" sz="2200" b="0" i="1" smtClean="0">
                        <a:latin typeface="Cambria Math" panose="02040503050406030204" pitchFamily="18" charset="0"/>
                      </a:rPr>
                      <m:t>𝑥</m:t>
                    </m:r>
                    <m:r>
                      <a:rPr lang="en-AU" sz="2200" b="0" i="1" smtClean="0">
                        <a:latin typeface="Cambria Math" panose="02040503050406030204" pitchFamily="18" charset="0"/>
                      </a:rPr>
                      <m:t>)</m:t>
                    </m:r>
                  </m:oMath>
                </a14:m>
                <a:r>
                  <a:rPr lang="en-AU" sz="2200" dirty="0" smtClean="0"/>
                  <a:t>, the predicted test B score would be </a:t>
                </a:r>
                <a14:m>
                  <m:oMath xmlns:m="http://schemas.openxmlformats.org/officeDocument/2006/math">
                    <m:r>
                      <a:rPr lang="en-AU" sz="2200" b="0" i="1" smtClean="0">
                        <a:latin typeface="Cambria Math" panose="02040503050406030204" pitchFamily="18" charset="0"/>
                      </a:rPr>
                      <m:t>1.956</m:t>
                    </m:r>
                    <m:d>
                      <m:dPr>
                        <m:ctrlPr>
                          <a:rPr lang="en-AU" sz="2200" b="0" i="1" smtClean="0">
                            <a:latin typeface="Cambria Math" panose="02040503050406030204" pitchFamily="18" charset="0"/>
                          </a:rPr>
                        </m:ctrlPr>
                      </m:dPr>
                      <m:e>
                        <m:r>
                          <a:rPr lang="en-AU" sz="2200" b="0" i="1" smtClean="0">
                            <a:latin typeface="Cambria Math" panose="02040503050406030204" pitchFamily="18" charset="0"/>
                          </a:rPr>
                          <m:t>7</m:t>
                        </m:r>
                      </m:e>
                    </m:d>
                    <m:r>
                      <a:rPr lang="en-AU" sz="2200" b="0" i="1" smtClean="0">
                        <a:latin typeface="Cambria Math" panose="02040503050406030204" pitchFamily="18" charset="0"/>
                      </a:rPr>
                      <m:t>+13.266=27</m:t>
                    </m:r>
                  </m:oMath>
                </a14:m>
                <a:endParaRPr lang="en-AU" sz="2200" b="0" dirty="0" smtClean="0"/>
              </a:p>
              <a:p>
                <a:r>
                  <a:rPr lang="en-AU" sz="2200" dirty="0" smtClean="0"/>
                  <a:t>Our predicted value is valid as there is a reasonable number of points involved, a correlation coefficient close to 1 and our prediction involves interpolation.</a:t>
                </a:r>
                <a:endParaRPr lang="en-AU"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338117" y="4560742"/>
                <a:ext cx="10994901" cy="1107996"/>
              </a:xfrm>
              <a:prstGeom prst="rect">
                <a:avLst/>
              </a:prstGeom>
              <a:blipFill>
                <a:blip r:embed="rId4"/>
                <a:stretch>
                  <a:fillRect l="-721" t="-3846" b="-10440"/>
                </a:stretch>
              </a:blipFill>
            </p:spPr>
            <p:txBody>
              <a:bodyPr/>
              <a:lstStyle/>
              <a:p>
                <a:r>
                  <a:rPr lang="en-AU">
                    <a:noFill/>
                  </a:rPr>
                  <a:t> </a:t>
                </a:r>
              </a:p>
            </p:txBody>
          </p:sp>
        </mc:Fallback>
      </mc:AlternateContent>
      <p:sp>
        <p:nvSpPr>
          <p:cNvPr id="11" name="TextBox 10"/>
          <p:cNvSpPr txBox="1"/>
          <p:nvPr/>
        </p:nvSpPr>
        <p:spPr>
          <a:xfrm>
            <a:off x="4205194" y="0"/>
            <a:ext cx="3920153" cy="461665"/>
          </a:xfrm>
          <a:prstGeom prst="rect">
            <a:avLst/>
          </a:prstGeom>
          <a:solidFill>
            <a:srgbClr val="FFFF00"/>
          </a:solidFill>
        </p:spPr>
        <p:txBody>
          <a:bodyPr wrap="square" rtlCol="0">
            <a:spAutoFit/>
          </a:bodyPr>
          <a:lstStyle/>
          <a:p>
            <a:r>
              <a:rPr lang="en-AU" sz="2400" dirty="0" smtClean="0"/>
              <a:t>Now try Chapter 2B Q4 – Q11</a:t>
            </a:r>
            <a:endParaRPr lang="en-AU" sz="2400" dirty="0"/>
          </a:p>
        </p:txBody>
      </p:sp>
    </p:spTree>
    <p:extLst>
      <p:ext uri="{BB962C8B-B14F-4D97-AF65-F5344CB8AC3E}">
        <p14:creationId xmlns:p14="http://schemas.microsoft.com/office/powerpoint/2010/main" val="265827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sp>
        <p:nvSpPr>
          <p:cNvPr id="3" name="TextBox 2"/>
          <p:cNvSpPr txBox="1"/>
          <p:nvPr/>
        </p:nvSpPr>
        <p:spPr>
          <a:xfrm>
            <a:off x="121920" y="576349"/>
            <a:ext cx="11576858" cy="769441"/>
          </a:xfrm>
          <a:prstGeom prst="rect">
            <a:avLst/>
          </a:prstGeom>
          <a:noFill/>
        </p:spPr>
        <p:txBody>
          <a:bodyPr wrap="square" rtlCol="0">
            <a:spAutoFit/>
          </a:bodyPr>
          <a:lstStyle/>
          <a:p>
            <a:r>
              <a:rPr lang="en-AU" sz="2200" dirty="0" smtClean="0"/>
              <a:t>Though a scatter graph, and an r value, may suggest that correlation exists between two variables, that does not mean that changes in one variable cause the changes in the other variable.</a:t>
            </a:r>
            <a:endParaRPr lang="en-AU" sz="2200" dirty="0"/>
          </a:p>
        </p:txBody>
      </p:sp>
      <p:sp>
        <p:nvSpPr>
          <p:cNvPr id="5" name="TextBox 4"/>
          <p:cNvSpPr txBox="1"/>
          <p:nvPr/>
        </p:nvSpPr>
        <p:spPr>
          <a:xfrm>
            <a:off x="121921" y="1345790"/>
            <a:ext cx="6633556" cy="2800767"/>
          </a:xfrm>
          <a:prstGeom prst="rect">
            <a:avLst/>
          </a:prstGeom>
          <a:noFill/>
        </p:spPr>
        <p:txBody>
          <a:bodyPr wrap="square" rtlCol="0">
            <a:spAutoFit/>
          </a:bodyPr>
          <a:lstStyle/>
          <a:p>
            <a:r>
              <a:rPr lang="en-AU" sz="2200" dirty="0" smtClean="0"/>
              <a:t>We found there was correlation between the consumption of a particular food and the death rate due to heart disease. However, we do not know for sure that consumption of the food causes the increased death rate. There could be other factors at work, for example a higher consumption of the food could indicate a country that is more affluent, and may lead a lifestyle that could be the cause of the increased death rate.   </a:t>
            </a:r>
            <a:endParaRPr lang="en-AU" sz="2200" dirty="0"/>
          </a:p>
        </p:txBody>
      </p:sp>
      <p:sp>
        <p:nvSpPr>
          <p:cNvPr id="7" name="TextBox 6"/>
          <p:cNvSpPr txBox="1"/>
          <p:nvPr/>
        </p:nvSpPr>
        <p:spPr>
          <a:xfrm>
            <a:off x="121920" y="4294676"/>
            <a:ext cx="11576858" cy="2123658"/>
          </a:xfrm>
          <a:prstGeom prst="rect">
            <a:avLst/>
          </a:prstGeom>
          <a:noFill/>
        </p:spPr>
        <p:txBody>
          <a:bodyPr wrap="square" rtlCol="0">
            <a:spAutoFit/>
          </a:bodyPr>
          <a:lstStyle/>
          <a:p>
            <a:r>
              <a:rPr lang="en-AU" sz="2200" dirty="0" smtClean="0"/>
              <a:t>This could be considered a lurking or confounding variable that both our two variables have a common response to.</a:t>
            </a:r>
            <a:endParaRPr lang="en-AU" sz="2200" dirty="0"/>
          </a:p>
          <a:p>
            <a:r>
              <a:rPr lang="en-AU" sz="2200" dirty="0" smtClean="0"/>
              <a:t>Another example could be that there would be a positive correlation between monthly sales of ice-cream and the </a:t>
            </a:r>
            <a:r>
              <a:rPr lang="en-AU" sz="2200" dirty="0" err="1" smtClean="0"/>
              <a:t>montly</a:t>
            </a:r>
            <a:r>
              <a:rPr lang="en-AU" sz="2200" dirty="0" smtClean="0"/>
              <a:t> number of deaths due to drowning. However, one does not cause the other and the lurking variable is likely to be temperature. On hot days, more people buy ice-cream AND more people go swimming, hence the correlation.</a:t>
            </a:r>
            <a:endParaRPr lang="en-AU" sz="2200" dirty="0"/>
          </a:p>
        </p:txBody>
      </p:sp>
      <p:pic>
        <p:nvPicPr>
          <p:cNvPr id="6" name="Picture 5"/>
          <p:cNvPicPr>
            <a:picLocks noChangeAspect="1"/>
          </p:cNvPicPr>
          <p:nvPr/>
        </p:nvPicPr>
        <p:blipFill>
          <a:blip r:embed="rId2"/>
          <a:stretch>
            <a:fillRect/>
          </a:stretch>
        </p:blipFill>
        <p:spPr>
          <a:xfrm>
            <a:off x="7237441" y="1296525"/>
            <a:ext cx="3447184" cy="3047416"/>
          </a:xfrm>
          <a:prstGeom prst="rect">
            <a:avLst/>
          </a:prstGeom>
        </p:spPr>
      </p:pic>
    </p:spTree>
    <p:extLst>
      <p:ext uri="{BB962C8B-B14F-4D97-AF65-F5344CB8AC3E}">
        <p14:creationId xmlns:p14="http://schemas.microsoft.com/office/powerpoint/2010/main" val="307655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sp>
        <p:nvSpPr>
          <p:cNvPr id="6" name="TextBox 5"/>
          <p:cNvSpPr txBox="1"/>
          <p:nvPr/>
        </p:nvSpPr>
        <p:spPr>
          <a:xfrm>
            <a:off x="260465" y="592975"/>
            <a:ext cx="11521440" cy="4832092"/>
          </a:xfrm>
          <a:prstGeom prst="rect">
            <a:avLst/>
          </a:prstGeom>
          <a:noFill/>
        </p:spPr>
        <p:txBody>
          <a:bodyPr wrap="square" rtlCol="0">
            <a:spAutoFit/>
          </a:bodyPr>
          <a:lstStyle/>
          <a:p>
            <a:r>
              <a:rPr lang="en-AU" sz="2200" dirty="0" smtClean="0"/>
              <a:t>Collected data could equally suggest correlation between two variables, but the association could be coincidental. </a:t>
            </a:r>
          </a:p>
          <a:p>
            <a:endParaRPr lang="en-AU" sz="2200" dirty="0"/>
          </a:p>
          <a:p>
            <a:r>
              <a:rPr lang="en-AU" sz="2200" dirty="0" smtClean="0"/>
              <a:t>A person may find that when they buy some seeds to plant in the garden, the weather is then very hot for a few days and the plants die. This is likely to be just coincidence and doesn’t suggest a causal relationship between the two variables.</a:t>
            </a:r>
          </a:p>
          <a:p>
            <a:endParaRPr lang="en-AU" sz="2200" dirty="0"/>
          </a:p>
          <a:p>
            <a:r>
              <a:rPr lang="en-AU" sz="2200" dirty="0" smtClean="0"/>
              <a:t>A company producing cars may find that sales of their cars have been dropping since a particular employee started at the company, but again this is likely to be coincidence, not a causal relationship between sales figures and length of employment.</a:t>
            </a:r>
          </a:p>
          <a:p>
            <a:pPr algn="ctr"/>
            <a:endParaRPr lang="en-AU" sz="2200" dirty="0"/>
          </a:p>
          <a:p>
            <a:pPr algn="ctr"/>
            <a:r>
              <a:rPr lang="en-AU" sz="2200" dirty="0" smtClean="0"/>
              <a:t>An observed correlation between two variables does not mean that there is definitely a causal relationship between the variables. </a:t>
            </a:r>
          </a:p>
          <a:p>
            <a:pPr algn="ctr"/>
            <a:endParaRPr lang="en-AU" sz="2200" dirty="0"/>
          </a:p>
        </p:txBody>
      </p:sp>
      <mc:AlternateContent xmlns:mc="http://schemas.openxmlformats.org/markup-compatibility/2006">
        <mc:Choice xmlns:a14="http://schemas.microsoft.com/office/drawing/2010/main" Requires="a14">
          <p:sp>
            <p:nvSpPr>
              <p:cNvPr id="2" name="TextBox 1"/>
              <p:cNvSpPr txBox="1"/>
              <p:nvPr/>
            </p:nvSpPr>
            <p:spPr>
              <a:xfrm>
                <a:off x="3236421" y="5341940"/>
                <a:ext cx="5331229" cy="984885"/>
              </a:xfrm>
              <a:prstGeom prst="rect">
                <a:avLst/>
              </a:prstGeom>
              <a:solidFill>
                <a:srgbClr val="FFFF00"/>
              </a:solidFill>
              <a:ln>
                <a:solidFill>
                  <a:schemeClr val="tx1"/>
                </a:solidFill>
              </a:ln>
            </p:spPr>
            <p:txBody>
              <a:bodyPr wrap="square" rtlCol="0">
                <a:spAutoFit/>
              </a:bodyPr>
              <a:lstStyle/>
              <a:p>
                <a:pPr algn="ctr"/>
                <a:r>
                  <a:rPr lang="en-AU" sz="4000" b="1" i="1" dirty="0"/>
                  <a:t>Correlation </a:t>
                </a:r>
                <a14:m>
                  <m:oMath xmlns:m="http://schemas.openxmlformats.org/officeDocument/2006/math">
                    <m:r>
                      <a:rPr lang="en-AU" sz="4000" b="1" i="1">
                        <a:latin typeface="Cambria Math" panose="02040503050406030204" pitchFamily="18" charset="0"/>
                        <a:ea typeface="Cambria Math" panose="02040503050406030204" pitchFamily="18" charset="0"/>
                      </a:rPr>
                      <m:t>≠ </m:t>
                    </m:r>
                  </m:oMath>
                </a14:m>
                <a:r>
                  <a:rPr lang="en-AU" sz="4000" b="1" i="1" dirty="0"/>
                  <a:t>causation</a:t>
                </a:r>
                <a:endParaRPr lang="en-AU" sz="4000" b="1" i="1" dirty="0"/>
              </a:p>
              <a:p>
                <a:pPr algn="ctr"/>
                <a:endParaRPr lang="en-AU" dirty="0"/>
              </a:p>
            </p:txBody>
          </p:sp>
        </mc:Choice>
        <mc:Fallback>
          <p:sp>
            <p:nvSpPr>
              <p:cNvPr id="2" name="TextBox 1"/>
              <p:cNvSpPr txBox="1">
                <a:spLocks noRot="1" noChangeAspect="1" noMove="1" noResize="1" noEditPoints="1" noAdjustHandles="1" noChangeArrowheads="1" noChangeShapeType="1" noTextEdit="1"/>
              </p:cNvSpPr>
              <p:nvPr/>
            </p:nvSpPr>
            <p:spPr>
              <a:xfrm>
                <a:off x="3236421" y="5341940"/>
                <a:ext cx="5331229" cy="984885"/>
              </a:xfrm>
              <a:prstGeom prst="rect">
                <a:avLst/>
              </a:prstGeom>
              <a:blipFill>
                <a:blip r:embed="rId2"/>
                <a:stretch>
                  <a:fillRect l="-2740" t="-10366" r="-2740"/>
                </a:stretch>
              </a:blipFill>
              <a:ln>
                <a:solidFill>
                  <a:schemeClr val="tx1"/>
                </a:solidFill>
              </a:ln>
            </p:spPr>
            <p:txBody>
              <a:bodyPr/>
              <a:lstStyle/>
              <a:p>
                <a:r>
                  <a:rPr lang="en-AU">
                    <a:noFill/>
                  </a:rPr>
                  <a:t> </a:t>
                </a:r>
              </a:p>
            </p:txBody>
          </p:sp>
        </mc:Fallback>
      </mc:AlternateContent>
      <p:sp>
        <p:nvSpPr>
          <p:cNvPr id="5" name="TextBox 4"/>
          <p:cNvSpPr txBox="1"/>
          <p:nvPr/>
        </p:nvSpPr>
        <p:spPr>
          <a:xfrm>
            <a:off x="4205195" y="0"/>
            <a:ext cx="3780566" cy="461665"/>
          </a:xfrm>
          <a:prstGeom prst="rect">
            <a:avLst/>
          </a:prstGeom>
          <a:solidFill>
            <a:srgbClr val="FFFF00"/>
          </a:solidFill>
        </p:spPr>
        <p:txBody>
          <a:bodyPr wrap="square" rtlCol="0">
            <a:spAutoFit/>
          </a:bodyPr>
          <a:lstStyle/>
          <a:p>
            <a:r>
              <a:rPr lang="en-AU" sz="2400" dirty="0" smtClean="0"/>
              <a:t>Now try Chapter 2B </a:t>
            </a:r>
            <a:r>
              <a:rPr lang="en-AU" sz="2400" dirty="0" smtClean="0"/>
              <a:t>Q1 – Q3</a:t>
            </a:r>
            <a:endParaRPr lang="en-AU" sz="2400" dirty="0"/>
          </a:p>
        </p:txBody>
      </p:sp>
    </p:spTree>
    <p:extLst>
      <p:ext uri="{BB962C8B-B14F-4D97-AF65-F5344CB8AC3E}">
        <p14:creationId xmlns:p14="http://schemas.microsoft.com/office/powerpoint/2010/main" val="2414413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sp>
        <p:nvSpPr>
          <p:cNvPr id="3" name="TextBox 2"/>
          <p:cNvSpPr txBox="1"/>
          <p:nvPr/>
        </p:nvSpPr>
        <p:spPr>
          <a:xfrm>
            <a:off x="182880" y="615142"/>
            <a:ext cx="11820698" cy="3477875"/>
          </a:xfrm>
          <a:prstGeom prst="rect">
            <a:avLst/>
          </a:prstGeom>
          <a:noFill/>
        </p:spPr>
        <p:txBody>
          <a:bodyPr wrap="square" rtlCol="0">
            <a:spAutoFit/>
          </a:bodyPr>
          <a:lstStyle/>
          <a:p>
            <a:r>
              <a:rPr lang="en-AU" sz="2200" dirty="0" smtClean="0"/>
              <a:t>As ‘r’ values go from -1 to 1, we might want to know what values are considered to show weak, moderate or strong positive or negative linear correlation. </a:t>
            </a:r>
          </a:p>
          <a:p>
            <a:r>
              <a:rPr lang="en-AU" sz="2200" dirty="0" smtClean="0"/>
              <a:t>We can’t just set exact rules as we need to consider:</a:t>
            </a:r>
          </a:p>
          <a:p>
            <a:pPr marL="342900" indent="-342900">
              <a:buFont typeface="Arial" panose="020B0604020202020204" pitchFamily="34" charset="0"/>
              <a:buChar char="•"/>
            </a:pPr>
            <a:r>
              <a:rPr lang="en-AU" sz="2200" dirty="0" smtClean="0"/>
              <a:t>How many data points were involved?</a:t>
            </a:r>
          </a:p>
          <a:p>
            <a:pPr marL="342900" indent="-342900">
              <a:buFont typeface="Arial" panose="020B0604020202020204" pitchFamily="34" charset="0"/>
              <a:buChar char="•"/>
            </a:pPr>
            <a:r>
              <a:rPr lang="en-AU" sz="2200" dirty="0" smtClean="0"/>
              <a:t>Have outliers affected the value of r?</a:t>
            </a:r>
          </a:p>
          <a:p>
            <a:pPr marL="342900" indent="-342900">
              <a:buFont typeface="Arial" panose="020B0604020202020204" pitchFamily="34" charset="0"/>
              <a:buChar char="•"/>
            </a:pPr>
            <a:r>
              <a:rPr lang="en-AU" sz="2200" dirty="0" smtClean="0"/>
              <a:t>What level of r is considered acceptable? For example in the medical industry, a high r value would be needed to suggest a ‘strong’ relationship.</a:t>
            </a:r>
          </a:p>
          <a:p>
            <a:pPr marL="342900" indent="-342900">
              <a:buFont typeface="Arial" panose="020B0604020202020204" pitchFamily="34" charset="0"/>
              <a:buChar char="•"/>
            </a:pPr>
            <a:endParaRPr lang="en-AU" sz="2200" dirty="0"/>
          </a:p>
          <a:p>
            <a:r>
              <a:rPr lang="en-AU" sz="2200" dirty="0" smtClean="0"/>
              <a:t>The diagram below gives a general overview to describe relationships from ‘r’ values, but bear in mind that this is not an exact science.</a:t>
            </a:r>
            <a:endParaRPr lang="en-AU" sz="2200" dirty="0"/>
          </a:p>
        </p:txBody>
      </p:sp>
      <p:pic>
        <p:nvPicPr>
          <p:cNvPr id="4" name="Picture 3"/>
          <p:cNvPicPr>
            <a:picLocks noChangeAspect="1"/>
          </p:cNvPicPr>
          <p:nvPr/>
        </p:nvPicPr>
        <p:blipFill>
          <a:blip r:embed="rId2"/>
          <a:stretch>
            <a:fillRect/>
          </a:stretch>
        </p:blipFill>
        <p:spPr>
          <a:xfrm>
            <a:off x="1121179" y="4176325"/>
            <a:ext cx="9944100" cy="2571523"/>
          </a:xfrm>
          <a:prstGeom prst="rect">
            <a:avLst/>
          </a:prstGeom>
        </p:spPr>
      </p:pic>
    </p:spTree>
    <p:extLst>
      <p:ext uri="{BB962C8B-B14F-4D97-AF65-F5344CB8AC3E}">
        <p14:creationId xmlns:p14="http://schemas.microsoft.com/office/powerpoint/2010/main" val="41526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pic>
        <p:nvPicPr>
          <p:cNvPr id="3" name="Picture 2"/>
          <p:cNvPicPr>
            <a:picLocks noChangeAspect="1"/>
          </p:cNvPicPr>
          <p:nvPr/>
        </p:nvPicPr>
        <p:blipFill>
          <a:blip r:embed="rId2"/>
          <a:stretch>
            <a:fillRect/>
          </a:stretch>
        </p:blipFill>
        <p:spPr>
          <a:xfrm>
            <a:off x="8315063" y="95905"/>
            <a:ext cx="3886200" cy="3019425"/>
          </a:xfrm>
          <a:prstGeom prst="rect">
            <a:avLst/>
          </a:prstGeom>
        </p:spPr>
      </p:pic>
      <p:sp>
        <p:nvSpPr>
          <p:cNvPr id="4" name="TextBox 3"/>
          <p:cNvSpPr txBox="1"/>
          <p:nvPr/>
        </p:nvSpPr>
        <p:spPr>
          <a:xfrm>
            <a:off x="169718" y="570806"/>
            <a:ext cx="10446327" cy="4493538"/>
          </a:xfrm>
          <a:prstGeom prst="rect">
            <a:avLst/>
          </a:prstGeom>
          <a:noFill/>
        </p:spPr>
        <p:txBody>
          <a:bodyPr wrap="square" rtlCol="0">
            <a:spAutoFit/>
          </a:bodyPr>
          <a:lstStyle/>
          <a:p>
            <a:r>
              <a:rPr lang="en-AU" sz="2200" dirty="0" smtClean="0"/>
              <a:t>The scatter plot shows ten points and their associated line of best fit. </a:t>
            </a:r>
          </a:p>
          <a:p>
            <a:r>
              <a:rPr lang="en-AU" sz="2200" dirty="0" smtClean="0"/>
              <a:t>It also shows vertical deviations of each point from the line of best fit, </a:t>
            </a:r>
          </a:p>
          <a:p>
            <a:r>
              <a:rPr lang="en-AU" sz="2200" dirty="0" smtClean="0"/>
              <a:t>the difference between obtained y-values and predicted y-values, </a:t>
            </a:r>
            <a:endParaRPr lang="en-AU" sz="2200" dirty="0" smtClean="0">
              <a:solidFill>
                <a:srgbClr val="FF0000"/>
              </a:solidFill>
            </a:endParaRPr>
          </a:p>
          <a:p>
            <a:r>
              <a:rPr lang="en-AU" sz="2200" dirty="0" smtClean="0"/>
              <a:t>known as the linear regression residuals.</a:t>
            </a:r>
          </a:p>
          <a:p>
            <a:endParaRPr lang="en-AU" sz="2200" dirty="0"/>
          </a:p>
          <a:p>
            <a:r>
              <a:rPr lang="en-AU" sz="2200" dirty="0" smtClean="0"/>
              <a:t>Residual = observed y-value – predicted y-value</a:t>
            </a:r>
          </a:p>
          <a:p>
            <a:endParaRPr lang="en-AU" sz="2200" dirty="0"/>
          </a:p>
          <a:p>
            <a:endParaRPr lang="en-AU" sz="2200" dirty="0" smtClean="0"/>
          </a:p>
          <a:p>
            <a:r>
              <a:rPr lang="en-AU" sz="2200" dirty="0" smtClean="0"/>
              <a:t>When a calculator determines the line of best fit, it is minimising the sum of the squares of these residuals.</a:t>
            </a:r>
          </a:p>
          <a:p>
            <a:endParaRPr lang="en-AU" sz="2200" dirty="0"/>
          </a:p>
          <a:p>
            <a:r>
              <a:rPr lang="en-AU" sz="2200" dirty="0" smtClean="0"/>
              <a:t>The line of best fit can also be called the trend line or the least squares regression line.</a:t>
            </a:r>
          </a:p>
          <a:p>
            <a:endParaRPr lang="en-AU" sz="2200" dirty="0"/>
          </a:p>
        </p:txBody>
      </p:sp>
      <p:pic>
        <p:nvPicPr>
          <p:cNvPr id="5" name="Picture 4"/>
          <p:cNvPicPr>
            <a:picLocks noChangeAspect="1"/>
          </p:cNvPicPr>
          <p:nvPr/>
        </p:nvPicPr>
        <p:blipFill>
          <a:blip r:embed="rId3"/>
          <a:stretch>
            <a:fillRect/>
          </a:stretch>
        </p:blipFill>
        <p:spPr>
          <a:xfrm>
            <a:off x="169718" y="2827470"/>
            <a:ext cx="1447800" cy="457200"/>
          </a:xfrm>
          <a:prstGeom prst="rect">
            <a:avLst/>
          </a:prstGeom>
        </p:spPr>
      </p:pic>
      <p:pic>
        <p:nvPicPr>
          <p:cNvPr id="6" name="Picture 5"/>
          <p:cNvPicPr>
            <a:picLocks noChangeAspect="1"/>
          </p:cNvPicPr>
          <p:nvPr/>
        </p:nvPicPr>
        <p:blipFill>
          <a:blip r:embed="rId4"/>
          <a:stretch>
            <a:fillRect/>
          </a:stretch>
        </p:blipFill>
        <p:spPr>
          <a:xfrm>
            <a:off x="169718" y="4927653"/>
            <a:ext cx="8040191" cy="1223183"/>
          </a:xfrm>
          <a:prstGeom prst="rect">
            <a:avLst/>
          </a:prstGeom>
        </p:spPr>
      </p:pic>
    </p:spTree>
    <p:extLst>
      <p:ext uri="{BB962C8B-B14F-4D97-AF65-F5344CB8AC3E}">
        <p14:creationId xmlns:p14="http://schemas.microsoft.com/office/powerpoint/2010/main" val="6812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sp>
        <p:nvSpPr>
          <p:cNvPr id="2" name="TextBox 1"/>
          <p:cNvSpPr txBox="1"/>
          <p:nvPr/>
        </p:nvSpPr>
        <p:spPr>
          <a:xfrm>
            <a:off x="144087" y="570807"/>
            <a:ext cx="11621193" cy="3477875"/>
          </a:xfrm>
          <a:prstGeom prst="rect">
            <a:avLst/>
          </a:prstGeom>
          <a:noFill/>
        </p:spPr>
        <p:txBody>
          <a:bodyPr wrap="square" rtlCol="0">
            <a:spAutoFit/>
          </a:bodyPr>
          <a:lstStyle/>
          <a:p>
            <a:r>
              <a:rPr lang="en-AU" sz="2200" dirty="0" smtClean="0"/>
              <a:t>We predict values of y using the y on x regression line, determined by minimising the sum of the squares of the vertical deviations of each point from the line. We shouldn’t use this line to predict x values, instead using the x on y regression line, by minimising the sum of the squares of the horizontal deviation of each point from the line.</a:t>
            </a:r>
          </a:p>
          <a:p>
            <a:endParaRPr lang="en-AU" sz="2200" dirty="0"/>
          </a:p>
          <a:p>
            <a:r>
              <a:rPr lang="en-AU" sz="2200" dirty="0" smtClean="0"/>
              <a:t>With the explanatory (or independent) variable as our x values, we would usually want to calculate the y on x regression line and use it to predict y values.</a:t>
            </a:r>
          </a:p>
          <a:p>
            <a:endParaRPr lang="en-AU" sz="2200" dirty="0"/>
          </a:p>
          <a:p>
            <a:r>
              <a:rPr lang="en-AU" sz="2200" dirty="0" smtClean="0"/>
              <a:t>Also, for strong positive or negative linear correlations where the r value is close to 1 or -1, there would be little difference between these lines and no difference at all if r = 1 or -1.</a:t>
            </a:r>
            <a:endParaRPr lang="en-AU" sz="2200" dirty="0"/>
          </a:p>
        </p:txBody>
      </p:sp>
      <p:pic>
        <p:nvPicPr>
          <p:cNvPr id="5" name="Picture 4"/>
          <p:cNvPicPr>
            <a:picLocks noChangeAspect="1"/>
          </p:cNvPicPr>
          <p:nvPr/>
        </p:nvPicPr>
        <p:blipFill>
          <a:blip r:embed="rId2"/>
          <a:stretch>
            <a:fillRect/>
          </a:stretch>
        </p:blipFill>
        <p:spPr>
          <a:xfrm>
            <a:off x="190934" y="4108238"/>
            <a:ext cx="6031738" cy="851689"/>
          </a:xfrm>
          <a:prstGeom prst="rect">
            <a:avLst/>
          </a:prstGeom>
        </p:spPr>
      </p:pic>
      <p:pic>
        <p:nvPicPr>
          <p:cNvPr id="7" name="Picture 6"/>
          <p:cNvPicPr>
            <a:picLocks noChangeAspect="1"/>
          </p:cNvPicPr>
          <p:nvPr/>
        </p:nvPicPr>
        <p:blipFill>
          <a:blip r:embed="rId3"/>
          <a:stretch>
            <a:fillRect/>
          </a:stretch>
        </p:blipFill>
        <p:spPr>
          <a:xfrm>
            <a:off x="6092883" y="4157824"/>
            <a:ext cx="4735830" cy="2547678"/>
          </a:xfrm>
          <a:prstGeom prst="rect">
            <a:avLst/>
          </a:prstGeom>
        </p:spPr>
      </p:pic>
      <mc:AlternateContent xmlns:mc="http://schemas.openxmlformats.org/markup-compatibility/2006">
        <mc:Choice xmlns:a14="http://schemas.microsoft.com/office/drawing/2010/main" Requires="a14">
          <p:sp>
            <p:nvSpPr>
              <p:cNvPr id="8" name="TextBox 7"/>
              <p:cNvSpPr txBox="1"/>
              <p:nvPr/>
            </p:nvSpPr>
            <p:spPr>
              <a:xfrm>
                <a:off x="304800" y="5059680"/>
                <a:ext cx="5788083" cy="1107996"/>
              </a:xfrm>
              <a:prstGeom prst="rect">
                <a:avLst/>
              </a:prstGeom>
              <a:solidFill>
                <a:srgbClr val="FFFF00"/>
              </a:solidFill>
              <a:ln>
                <a:solidFill>
                  <a:schemeClr val="tx1"/>
                </a:solidFill>
              </a:ln>
            </p:spPr>
            <p:txBody>
              <a:bodyPr wrap="square" rtlCol="0">
                <a:spAutoFit/>
              </a:bodyPr>
              <a:lstStyle/>
              <a:p>
                <a:pPr algn="ctr"/>
                <a:r>
                  <a:rPr lang="en-AU" sz="2200" dirty="0" smtClean="0"/>
                  <a:t>The line used to predict y-values is </a:t>
                </a:r>
              </a:p>
              <a:p>
                <a:pPr algn="ctr"/>
                <a14:m>
                  <m:oMath xmlns:m="http://schemas.openxmlformats.org/officeDocument/2006/math">
                    <m:r>
                      <a:rPr lang="en-AU" sz="2200" i="1" dirty="0" smtClean="0">
                        <a:latin typeface="Cambria Math" panose="02040503050406030204" pitchFamily="18" charset="0"/>
                      </a:rPr>
                      <m:t>𝑦</m:t>
                    </m:r>
                    <m:r>
                      <a:rPr lang="en-AU" sz="2200" i="1" dirty="0" smtClean="0">
                        <a:latin typeface="Cambria Math" panose="02040503050406030204" pitchFamily="18" charset="0"/>
                      </a:rPr>
                      <m:t> = 0.262</m:t>
                    </m:r>
                    <m:r>
                      <a:rPr lang="en-AU" sz="2200" i="1" dirty="0" smtClean="0">
                        <a:latin typeface="Cambria Math" panose="02040503050406030204" pitchFamily="18" charset="0"/>
                      </a:rPr>
                      <m:t>𝑥</m:t>
                    </m:r>
                    <m:r>
                      <a:rPr lang="en-AU" sz="2200" i="1" dirty="0" smtClean="0">
                        <a:latin typeface="Cambria Math" panose="02040503050406030204" pitchFamily="18" charset="0"/>
                      </a:rPr>
                      <m:t> +17.56 </m:t>
                    </m:r>
                  </m:oMath>
                </a14:m>
                <a:r>
                  <a:rPr lang="en-AU" sz="2200" dirty="0" smtClean="0"/>
                  <a:t>whereas the line used to predict x-values is </a:t>
                </a:r>
                <a14:m>
                  <m:oMath xmlns:m="http://schemas.openxmlformats.org/officeDocument/2006/math">
                    <m:r>
                      <a:rPr lang="en-AU" sz="2200" i="1" dirty="0" smtClean="0">
                        <a:latin typeface="Cambria Math" panose="02040503050406030204" pitchFamily="18" charset="0"/>
                      </a:rPr>
                      <m:t>𝑥</m:t>
                    </m:r>
                    <m:r>
                      <a:rPr lang="en-AU" sz="2200" i="1" dirty="0" smtClean="0">
                        <a:latin typeface="Cambria Math" panose="02040503050406030204" pitchFamily="18" charset="0"/>
                      </a:rPr>
                      <m:t> = 2.61</m:t>
                    </m:r>
                    <m:r>
                      <a:rPr lang="en-AU" sz="2200" i="1" dirty="0" smtClean="0">
                        <a:latin typeface="Cambria Math" panose="02040503050406030204" pitchFamily="18" charset="0"/>
                      </a:rPr>
                      <m:t>𝑦</m:t>
                    </m:r>
                    <m:r>
                      <a:rPr lang="en-AU" sz="2200" i="1" dirty="0" smtClean="0">
                        <a:latin typeface="Cambria Math" panose="02040503050406030204" pitchFamily="18" charset="0"/>
                      </a:rPr>
                      <m:t> − 27.92</m:t>
                    </m:r>
                  </m:oMath>
                </a14:m>
                <a:endParaRPr lang="en-AU" sz="2200" dirty="0"/>
              </a:p>
            </p:txBody>
          </p:sp>
        </mc:Choice>
        <mc:Fallback>
          <p:sp>
            <p:nvSpPr>
              <p:cNvPr id="8" name="TextBox 7"/>
              <p:cNvSpPr txBox="1">
                <a:spLocks noRot="1" noChangeAspect="1" noMove="1" noResize="1" noEditPoints="1" noAdjustHandles="1" noChangeArrowheads="1" noChangeShapeType="1" noTextEdit="1"/>
              </p:cNvSpPr>
              <p:nvPr/>
            </p:nvSpPr>
            <p:spPr>
              <a:xfrm>
                <a:off x="304800" y="5059680"/>
                <a:ext cx="5788083" cy="1107996"/>
              </a:xfrm>
              <a:prstGeom prst="rect">
                <a:avLst/>
              </a:prstGeom>
              <a:blipFill>
                <a:blip r:embed="rId4"/>
                <a:stretch>
                  <a:fillRect t="-3261" r="-631" b="-9239"/>
                </a:stretch>
              </a:blipFill>
              <a:ln>
                <a:solidFill>
                  <a:schemeClr val="tx1"/>
                </a:solidFill>
              </a:ln>
            </p:spPr>
            <p:txBody>
              <a:bodyPr/>
              <a:lstStyle/>
              <a:p>
                <a:r>
                  <a:rPr lang="en-AU">
                    <a:noFill/>
                  </a:rPr>
                  <a:t> </a:t>
                </a:r>
              </a:p>
            </p:txBody>
          </p:sp>
        </mc:Fallback>
      </mc:AlternateContent>
    </p:spTree>
    <p:extLst>
      <p:ext uri="{BB962C8B-B14F-4D97-AF65-F5344CB8AC3E}">
        <p14:creationId xmlns:p14="http://schemas.microsoft.com/office/powerpoint/2010/main" val="112674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16233" cy="461665"/>
          </a:xfrm>
          <a:prstGeom prst="rect">
            <a:avLst/>
          </a:prstGeom>
          <a:solidFill>
            <a:srgbClr val="FFFF00"/>
          </a:solidFill>
        </p:spPr>
        <p:txBody>
          <a:bodyPr wrap="square" rtlCol="0">
            <a:spAutoFit/>
          </a:bodyPr>
          <a:lstStyle/>
          <a:p>
            <a:r>
              <a:rPr lang="en-AU" sz="2400" dirty="0" smtClean="0"/>
              <a:t>Unit </a:t>
            </a:r>
            <a:r>
              <a:rPr lang="en-AU" sz="2400" smtClean="0"/>
              <a:t>3 Chapter 2B</a:t>
            </a:r>
            <a:endParaRPr lang="en-AU" sz="2400" dirty="0"/>
          </a:p>
        </p:txBody>
      </p:sp>
      <p:sp>
        <p:nvSpPr>
          <p:cNvPr id="4" name="TextBox 3"/>
          <p:cNvSpPr txBox="1"/>
          <p:nvPr/>
        </p:nvSpPr>
        <p:spPr>
          <a:xfrm>
            <a:off x="2886241" y="0"/>
            <a:ext cx="4146326" cy="461665"/>
          </a:xfrm>
          <a:prstGeom prst="rect">
            <a:avLst/>
          </a:prstGeom>
          <a:solidFill>
            <a:srgbClr val="FFFF00"/>
          </a:solidFill>
        </p:spPr>
        <p:txBody>
          <a:bodyPr wrap="square" rtlCol="0">
            <a:spAutoFit/>
          </a:bodyPr>
          <a:lstStyle/>
          <a:p>
            <a:r>
              <a:rPr lang="en-AU" sz="2400" dirty="0" smtClean="0"/>
              <a:t>Now try Chapter 2B </a:t>
            </a:r>
            <a:r>
              <a:rPr lang="en-AU" sz="2400" dirty="0" smtClean="0"/>
              <a:t>Q12 – Q18</a:t>
            </a:r>
            <a:endParaRPr lang="en-AU" sz="2400" dirty="0"/>
          </a:p>
        </p:txBody>
      </p:sp>
      <p:pic>
        <p:nvPicPr>
          <p:cNvPr id="5" name="Picture 4"/>
          <p:cNvPicPr>
            <a:picLocks noChangeAspect="1"/>
          </p:cNvPicPr>
          <p:nvPr/>
        </p:nvPicPr>
        <p:blipFill>
          <a:blip r:embed="rId2"/>
          <a:stretch>
            <a:fillRect/>
          </a:stretch>
        </p:blipFill>
        <p:spPr>
          <a:xfrm>
            <a:off x="124432" y="581283"/>
            <a:ext cx="6031738" cy="851689"/>
          </a:xfrm>
          <a:prstGeom prst="rect">
            <a:avLst/>
          </a:prstGeom>
        </p:spPr>
      </p:pic>
      <p:pic>
        <p:nvPicPr>
          <p:cNvPr id="7" name="Picture 6"/>
          <p:cNvPicPr>
            <a:picLocks noChangeAspect="1"/>
          </p:cNvPicPr>
          <p:nvPr/>
        </p:nvPicPr>
        <p:blipFill>
          <a:blip r:embed="rId3"/>
          <a:stretch>
            <a:fillRect/>
          </a:stretch>
        </p:blipFill>
        <p:spPr>
          <a:xfrm>
            <a:off x="74468" y="1617603"/>
            <a:ext cx="5790619" cy="3115110"/>
          </a:xfrm>
          <a:prstGeom prst="rect">
            <a:avLst/>
          </a:prstGeom>
        </p:spPr>
      </p:pic>
      <p:pic>
        <p:nvPicPr>
          <p:cNvPr id="3" name="Picture 2"/>
          <p:cNvPicPr>
            <a:picLocks noChangeAspect="1"/>
          </p:cNvPicPr>
          <p:nvPr/>
        </p:nvPicPr>
        <p:blipFill>
          <a:blip r:embed="rId4"/>
          <a:stretch>
            <a:fillRect/>
          </a:stretch>
        </p:blipFill>
        <p:spPr>
          <a:xfrm>
            <a:off x="5865087" y="2448445"/>
            <a:ext cx="1941764" cy="2622318"/>
          </a:xfrm>
          <a:prstGeom prst="rect">
            <a:avLst/>
          </a:prstGeom>
        </p:spPr>
      </p:pic>
      <p:pic>
        <p:nvPicPr>
          <p:cNvPr id="6" name="Picture 5"/>
          <p:cNvPicPr>
            <a:picLocks noChangeAspect="1"/>
          </p:cNvPicPr>
          <p:nvPr/>
        </p:nvPicPr>
        <p:blipFill>
          <a:blip r:embed="rId5"/>
          <a:stretch>
            <a:fillRect/>
          </a:stretch>
        </p:blipFill>
        <p:spPr>
          <a:xfrm>
            <a:off x="7955393" y="1705842"/>
            <a:ext cx="1955288" cy="1944832"/>
          </a:xfrm>
          <a:prstGeom prst="rect">
            <a:avLst/>
          </a:prstGeom>
        </p:spPr>
      </p:pic>
      <p:pic>
        <p:nvPicPr>
          <p:cNvPr id="9" name="Picture 8"/>
          <p:cNvPicPr>
            <a:picLocks noChangeAspect="1"/>
          </p:cNvPicPr>
          <p:nvPr/>
        </p:nvPicPr>
        <p:blipFill>
          <a:blip r:embed="rId6"/>
          <a:stretch>
            <a:fillRect/>
          </a:stretch>
        </p:blipFill>
        <p:spPr>
          <a:xfrm>
            <a:off x="9984952" y="1705842"/>
            <a:ext cx="1845076" cy="1747665"/>
          </a:xfrm>
          <a:prstGeom prst="rect">
            <a:avLst/>
          </a:prstGeom>
        </p:spPr>
      </p:pic>
      <p:pic>
        <p:nvPicPr>
          <p:cNvPr id="10" name="Picture 9"/>
          <p:cNvPicPr>
            <a:picLocks noChangeAspect="1"/>
          </p:cNvPicPr>
          <p:nvPr/>
        </p:nvPicPr>
        <p:blipFill>
          <a:blip r:embed="rId7"/>
          <a:stretch>
            <a:fillRect/>
          </a:stretch>
        </p:blipFill>
        <p:spPr>
          <a:xfrm>
            <a:off x="7918257" y="4362363"/>
            <a:ext cx="2043069" cy="2027353"/>
          </a:xfrm>
          <a:prstGeom prst="rect">
            <a:avLst/>
          </a:prstGeom>
        </p:spPr>
      </p:pic>
      <p:pic>
        <p:nvPicPr>
          <p:cNvPr id="11" name="Picture 10"/>
          <p:cNvPicPr>
            <a:picLocks noChangeAspect="1"/>
          </p:cNvPicPr>
          <p:nvPr/>
        </p:nvPicPr>
        <p:blipFill>
          <a:blip r:embed="rId8"/>
          <a:stretch>
            <a:fillRect/>
          </a:stretch>
        </p:blipFill>
        <p:spPr>
          <a:xfrm>
            <a:off x="10008683" y="4362363"/>
            <a:ext cx="1821345" cy="1783513"/>
          </a:xfrm>
          <a:prstGeom prst="rect">
            <a:avLst/>
          </a:prstGeom>
        </p:spPr>
      </p:pic>
      <p:sp>
        <p:nvSpPr>
          <p:cNvPr id="12" name="TextBox 11"/>
          <p:cNvSpPr txBox="1"/>
          <p:nvPr/>
        </p:nvSpPr>
        <p:spPr>
          <a:xfrm>
            <a:off x="8789324" y="1165332"/>
            <a:ext cx="2078181" cy="369332"/>
          </a:xfrm>
          <a:prstGeom prst="rect">
            <a:avLst/>
          </a:prstGeom>
          <a:solidFill>
            <a:srgbClr val="FFFF00"/>
          </a:solidFill>
          <a:ln>
            <a:solidFill>
              <a:schemeClr val="tx1"/>
            </a:solidFill>
          </a:ln>
        </p:spPr>
        <p:txBody>
          <a:bodyPr wrap="square" rtlCol="0">
            <a:spAutoFit/>
          </a:bodyPr>
          <a:lstStyle/>
          <a:p>
            <a:r>
              <a:rPr lang="en-AU" dirty="0" smtClean="0"/>
              <a:t>y on x line of best fit</a:t>
            </a:r>
            <a:endParaRPr lang="en-AU" dirty="0"/>
          </a:p>
        </p:txBody>
      </p:sp>
      <p:sp>
        <p:nvSpPr>
          <p:cNvPr id="16" name="TextBox 15"/>
          <p:cNvSpPr txBox="1"/>
          <p:nvPr/>
        </p:nvSpPr>
        <p:spPr>
          <a:xfrm>
            <a:off x="8783782" y="3759604"/>
            <a:ext cx="2078181" cy="369332"/>
          </a:xfrm>
          <a:prstGeom prst="rect">
            <a:avLst/>
          </a:prstGeom>
          <a:solidFill>
            <a:srgbClr val="FFFF00"/>
          </a:solidFill>
          <a:ln>
            <a:solidFill>
              <a:schemeClr val="tx1"/>
            </a:solidFill>
          </a:ln>
        </p:spPr>
        <p:txBody>
          <a:bodyPr wrap="square" rtlCol="0">
            <a:spAutoFit/>
          </a:bodyPr>
          <a:lstStyle/>
          <a:p>
            <a:r>
              <a:rPr lang="en-AU" dirty="0" smtClean="0"/>
              <a:t>x on y line of best fit</a:t>
            </a:r>
            <a:endParaRPr lang="en-AU" dirty="0"/>
          </a:p>
        </p:txBody>
      </p:sp>
      <mc:AlternateContent xmlns:mc="http://schemas.openxmlformats.org/markup-compatibility/2006">
        <mc:Choice xmlns:p14="http://schemas.microsoft.com/office/powerpoint/2010/main" Requires="p14">
          <p:contentPart p14:bwMode="auto" r:id="rId9">
            <p14:nvContentPartPr>
              <p14:cNvPr id="13" name="Ink 12"/>
              <p14:cNvContentPartPr/>
              <p14:nvPr/>
            </p14:nvContentPartPr>
            <p14:xfrm>
              <a:off x="8756760" y="4969767"/>
              <a:ext cx="1200240" cy="172800"/>
            </p14:xfrm>
          </p:contentPart>
        </mc:Choice>
        <mc:Fallback>
          <p:pic>
            <p:nvPicPr>
              <p:cNvPr id="13" name="Ink 12"/>
              <p:cNvPicPr/>
              <p:nvPr/>
            </p:nvPicPr>
            <p:blipFill>
              <a:blip r:embed="rId10"/>
              <a:stretch>
                <a:fillRect/>
              </a:stretch>
            </p:blipFill>
            <p:spPr>
              <a:xfrm>
                <a:off x="8695200" y="4773927"/>
                <a:ext cx="1357200" cy="584640"/>
              </a:xfrm>
              <a:prstGeom prst="rect">
                <a:avLst/>
              </a:prstGeom>
            </p:spPr>
          </p:pic>
        </mc:Fallback>
      </mc:AlternateContent>
    </p:spTree>
    <p:extLst>
      <p:ext uri="{BB962C8B-B14F-4D97-AF65-F5344CB8AC3E}">
        <p14:creationId xmlns:p14="http://schemas.microsoft.com/office/powerpoint/2010/main" val="4111961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1653</Words>
  <Application>Microsoft Office PowerPoint</Application>
  <PresentationFormat>Widescreen</PresentationFormat>
  <Paragraphs>111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LEVITT Megan [Harrisdale Senior High School]</dc:creator>
  <cp:lastModifiedBy>LEVITT Megan [Harrisdale Senior High School]</cp:lastModifiedBy>
  <cp:revision>27</cp:revision>
  <dcterms:created xsi:type="dcterms:W3CDTF">2021-06-15T06:02:12Z</dcterms:created>
  <dcterms:modified xsi:type="dcterms:W3CDTF">2021-11-08T06:51:25Z</dcterms:modified>
</cp:coreProperties>
</file>
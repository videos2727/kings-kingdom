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5" r:id="rId3"/>
    <p:sldId id="260" r:id="rId4"/>
    <p:sldId id="267" r:id="rId5"/>
    <p:sldId id="268" r:id="rId6"/>
    <p:sldId id="269" r:id="rId7"/>
    <p:sldId id="261" r:id="rId8"/>
    <p:sldId id="262" r:id="rId9"/>
    <p:sldId id="270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28/07/2021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92126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Normal Distribution Notation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1464" y="835862"/>
                <a:ext cx="11601100" cy="4968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If we use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to represent all the possible values of a normally distributed set of data with a mean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AU" sz="2400" dirty="0" smtClean="0"/>
                  <a:t> and standard deviation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AU" sz="2400" dirty="0" smtClean="0"/>
                  <a:t> (variance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dirty="0" smtClean="0"/>
                  <a:t>) , this is sometimes written as: </a:t>
                </a:r>
              </a:p>
              <a:p>
                <a:pPr algn="ctr"/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 smtClean="0"/>
                  <a:t> </a:t>
                </a:r>
              </a:p>
              <a:p>
                <a:pPr algn="ctr"/>
                <a:endParaRPr lang="en-AU" sz="2400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AU" sz="2400" b="1" dirty="0" smtClean="0"/>
                  <a:t> : </a:t>
                </a:r>
                <a:r>
                  <a:rPr lang="en-AU" sz="2400" dirty="0" smtClean="0"/>
                  <a:t>all possible values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AU" sz="2400" b="1" dirty="0" smtClean="0"/>
                  <a:t> : </a:t>
                </a:r>
                <a:r>
                  <a:rPr lang="en-AU" sz="2400" dirty="0" smtClean="0"/>
                  <a:t>normally distributed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AU" sz="2400" b="1" dirty="0" smtClean="0"/>
                  <a:t> : </a:t>
                </a:r>
                <a:r>
                  <a:rPr lang="en-AU" sz="2400" dirty="0" smtClean="0"/>
                  <a:t>mean (Greek letter mu, pronounced </a:t>
                </a:r>
                <a:r>
                  <a:rPr lang="en-AU" sz="2400" dirty="0" err="1" smtClean="0"/>
                  <a:t>myew</a:t>
                </a:r>
                <a:r>
                  <a:rPr lang="en-AU" sz="2400" dirty="0" smtClean="0"/>
                  <a:t>)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: variance (square root to get standard deviation)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AU" sz="2400" b="1" dirty="0" smtClean="0"/>
                  <a:t> : </a:t>
                </a:r>
                <a:r>
                  <a:rPr lang="en-AU" sz="2400" dirty="0" smtClean="0"/>
                  <a:t>standard deviation (sigma)</a:t>
                </a:r>
              </a:p>
              <a:p>
                <a:pPr algn="ctr"/>
                <a:endParaRPr lang="en-AU" sz="2400" b="1" dirty="0" smtClean="0">
                  <a:latin typeface="Bradley Hand ITC" panose="03070402050302030203" pitchFamily="66" charset="0"/>
                </a:endParaRPr>
              </a:p>
              <a:p>
                <a:pPr algn="ctr"/>
                <a:r>
                  <a:rPr lang="en-AU" sz="2400" b="1" dirty="0" smtClean="0">
                    <a:latin typeface="Bradley Hand ITC" panose="03070402050302030203" pitchFamily="66" charset="0"/>
                  </a:rPr>
                  <a:t>“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AU" sz="2400" b="1" i="1" dirty="0" smtClean="0">
                    <a:latin typeface="Bradley Hand ITC" panose="03070402050302030203" pitchFamily="66" charset="0"/>
                  </a:rPr>
                  <a:t> is normally distributed with mean </a:t>
                </a:r>
                <a:r>
                  <a:rPr lang="en-AU" sz="2400" b="1" i="1" dirty="0" err="1" smtClean="0">
                    <a:latin typeface="Bradley Hand ITC" panose="03070402050302030203" pitchFamily="66" charset="0"/>
                  </a:rPr>
                  <a:t>myew</a:t>
                </a:r>
                <a:r>
                  <a:rPr lang="en-AU" sz="2400" b="1" i="1" dirty="0" smtClean="0">
                    <a:latin typeface="Bradley Hand ITC" panose="03070402050302030203" pitchFamily="66" charset="0"/>
                  </a:rPr>
                  <a:t> and standard deviation sigma. ”</a:t>
                </a:r>
                <a:endParaRPr lang="en-AU" sz="2400" b="1" i="1" dirty="0">
                  <a:latin typeface="Bradley Hand ITC" panose="03070402050302030203" pitchFamily="66" charset="0"/>
                </a:endParaRPr>
              </a:p>
              <a:p>
                <a:endParaRPr lang="en-AU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4" y="835862"/>
                <a:ext cx="11601100" cy="4968733"/>
              </a:xfrm>
              <a:prstGeom prst="rect">
                <a:avLst/>
              </a:prstGeom>
              <a:blipFill>
                <a:blip r:embed="rId2"/>
                <a:stretch>
                  <a:fillRect t="-9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5952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4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99505" y="82425"/>
                <a:ext cx="6096000" cy="213904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b="1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AU" sz="2200" b="1" dirty="0"/>
                  <a:t> : </a:t>
                </a:r>
                <a:r>
                  <a:rPr lang="en-AU" sz="2200" dirty="0"/>
                  <a:t>all possible values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AU" sz="2200" b="1" dirty="0"/>
                  <a:t> : </a:t>
                </a:r>
                <a:r>
                  <a:rPr lang="en-AU" sz="2200" dirty="0"/>
                  <a:t>normally distributed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AU" sz="2200" b="1" dirty="0"/>
                  <a:t> : </a:t>
                </a:r>
                <a:r>
                  <a:rPr lang="en-AU" sz="2200" dirty="0"/>
                  <a:t>mean (Greek letter mu, pronounced </a:t>
                </a:r>
                <a:r>
                  <a:rPr lang="en-AU" sz="2200" dirty="0" err="1"/>
                  <a:t>myew</a:t>
                </a:r>
                <a:r>
                  <a:rPr lang="en-AU" sz="2200" dirty="0" smtClean="0"/>
                  <a:t>)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AU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AU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200" dirty="0"/>
                  <a:t>: variance (square root to get standard deviation</a:t>
                </a:r>
                <a:r>
                  <a:rPr lang="en-AU" sz="2200" dirty="0" smtClean="0"/>
                  <a:t>)</a:t>
                </a:r>
                <a:endParaRPr lang="en-AU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AU" sz="2200" b="1" dirty="0"/>
                  <a:t> : </a:t>
                </a:r>
                <a:r>
                  <a:rPr lang="en-AU" sz="2200" dirty="0"/>
                  <a:t>standard deviation (sigma)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505" y="82425"/>
                <a:ext cx="6096000" cy="2139047"/>
              </a:xfrm>
              <a:prstGeom prst="rect">
                <a:avLst/>
              </a:prstGeom>
              <a:blipFill>
                <a:blip r:embed="rId2"/>
                <a:stretch>
                  <a:fillRect r="-1198" b="-48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3311" y="690283"/>
                <a:ext cx="58561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𝟔𝟑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sz="2400" b="1" dirty="0" smtClean="0"/>
                  <a:t> </a:t>
                </a:r>
                <a:r>
                  <a:rPr lang="en-AU" sz="2400" dirty="0" smtClean="0"/>
                  <a:t>, determine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11" y="690283"/>
                <a:ext cx="5856194" cy="461665"/>
              </a:xfrm>
              <a:prstGeom prst="rect">
                <a:avLst/>
              </a:prstGeom>
              <a:blipFill>
                <a:blip r:embed="rId3"/>
                <a:stretch>
                  <a:fillRect l="-1667" t="-10526" r="-729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311" y="1237129"/>
                <a:ext cx="5699436" cy="1143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200" b="1" dirty="0" smtClean="0">
                    <a:latin typeface="Bradley Hand ITC" panose="03070402050302030203" pitchFamily="66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AU" sz="2200" b="1" dirty="0" smtClean="0">
                    <a:latin typeface="Bradley Hand ITC" panose="03070402050302030203" pitchFamily="66" charset="0"/>
                  </a:rPr>
                  <a:t> is normally distributed with a mean of 63 and a standard deviation of 5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200" b="1" i="1" smtClean="0"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</m:rad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AU" sz="2200" b="1" dirty="0" smtClean="0">
                    <a:latin typeface="Bradley Hand ITC" panose="03070402050302030203" pitchFamily="66" charset="0"/>
                  </a:rPr>
                  <a:t>), what is the probability a score is less than 55?</a:t>
                </a:r>
                <a:endParaRPr lang="en-AU" sz="2200" b="1" dirty="0">
                  <a:latin typeface="Bradley Hand ITC" panose="03070402050302030203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11" y="1237129"/>
                <a:ext cx="5699436" cy="1143390"/>
              </a:xfrm>
              <a:prstGeom prst="rect">
                <a:avLst/>
              </a:prstGeom>
              <a:blipFill>
                <a:blip r:embed="rId4"/>
                <a:stretch>
                  <a:fillRect l="-1285" t="-3191" r="-2355" b="-90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87" y="3761534"/>
            <a:ext cx="2914650" cy="2105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62" y="5866559"/>
            <a:ext cx="2695575" cy="533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637" y="3851462"/>
            <a:ext cx="4217583" cy="254849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841" y="3851462"/>
            <a:ext cx="3838575" cy="2524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3311" y="3267635"/>
            <a:ext cx="44085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Statistics (can show graph)</a:t>
            </a:r>
            <a:endParaRPr lang="en-AU" sz="2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564220" y="3267635"/>
            <a:ext cx="44085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E-activity (no graph)</a:t>
            </a:r>
            <a:endParaRPr lang="en-AU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1011" y="2503402"/>
                <a:ext cx="56407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&lt;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𝟓𝟓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AU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𝟎𝟓𝟒𝟖</m:t>
                      </m:r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11" y="2503402"/>
                <a:ext cx="5640794" cy="461665"/>
              </a:xfrm>
              <a:prstGeom prst="rect">
                <a:avLst/>
              </a:prstGeom>
              <a:blipFill>
                <a:blip r:embed="rId9"/>
                <a:stretch>
                  <a:fillRect l="-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21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8660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5367" y="605860"/>
                <a:ext cx="11662807" cy="274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8240 students were given an IQ test. The scores were normally distributed with a mean of 100 and a standard deviation of 16. How many of the students (to the nearest ten) achieved a score higher than 128?</a:t>
                </a:r>
              </a:p>
              <a:p>
                <a:endParaRPr lang="en-AU" sz="2200" dirty="0"/>
              </a:p>
              <a:p>
                <a:r>
                  <a:rPr lang="en-AU" sz="2200" dirty="0" smtClean="0"/>
                  <a:t>We need to find the probability that 1 student would score higher than 128 first.</a:t>
                </a:r>
              </a:p>
              <a:p>
                <a:endParaRPr lang="en-AU" sz="2200" dirty="0"/>
              </a:p>
              <a:p>
                <a:r>
                  <a:rPr lang="en-AU" sz="2200" b="0" dirty="0" smtClean="0"/>
                  <a:t>If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𝟏𝟔</m:t>
                        </m:r>
                      </m:e>
                      <m:sup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b="1" dirty="0" smtClean="0"/>
                  <a:t> </a:t>
                </a:r>
                <a:r>
                  <a:rPr lang="en-AU" sz="2200" dirty="0" smtClean="0"/>
                  <a:t>, determine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b="1" dirty="0" smtClean="0"/>
                  <a:t>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7" y="605860"/>
                <a:ext cx="11662807" cy="2746906"/>
              </a:xfrm>
              <a:prstGeom prst="rect">
                <a:avLst/>
              </a:prstGeom>
              <a:blipFill>
                <a:blip r:embed="rId2"/>
                <a:stretch>
                  <a:fillRect l="-680" t="-1330" r="-10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33" y="3568515"/>
            <a:ext cx="2867025" cy="2009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95" y="5578290"/>
            <a:ext cx="2831684" cy="5139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714" y="3683078"/>
            <a:ext cx="4063366" cy="24155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74228" y="4180205"/>
                <a:ext cx="42185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AU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𝟏𝟐𝟖</m:t>
                          </m:r>
                        </m:e>
                      </m:d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𝟎𝟒𝟎𝟏</m:t>
                      </m:r>
                    </m:oMath>
                  </m:oMathPara>
                </a14:m>
                <a:endParaRPr lang="en-AU" sz="22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228" y="4180205"/>
                <a:ext cx="421858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12617" y="4675428"/>
                <a:ext cx="42185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𝟎𝟒𝟎𝟏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𝟖𝟐𝟒𝟎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𝟑𝟑𝟎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𝟒𝟐𝟒</m:t>
                      </m:r>
                    </m:oMath>
                  </m:oMathPara>
                </a14:m>
                <a:endParaRPr lang="en-AU" sz="22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617" y="4675428"/>
                <a:ext cx="421858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612617" y="5386094"/>
            <a:ext cx="4145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 smtClean="0"/>
              <a:t>Approximately 330 students achieved a score in excess of 128.</a:t>
            </a: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8660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5367" y="605860"/>
            <a:ext cx="1166280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8240 students were given an IQ test. The scores were normally distributed with a mean of 100 and a standard deviation of 16. What score were the </a:t>
            </a:r>
            <a:r>
              <a:rPr lang="en-AU" sz="2200" b="1" dirty="0" smtClean="0"/>
              <a:t>bottom</a:t>
            </a:r>
            <a:r>
              <a:rPr lang="en-AU" sz="2200" dirty="0" smtClean="0"/>
              <a:t> 10% of students below?</a:t>
            </a:r>
          </a:p>
          <a:p>
            <a:endParaRPr lang="en-AU" sz="2200" dirty="0"/>
          </a:p>
          <a:p>
            <a:r>
              <a:rPr lang="en-AU" sz="2200" dirty="0" smtClean="0"/>
              <a:t>Here we know the probability is 0.1, and we also know that we are looking at the </a:t>
            </a:r>
            <a:r>
              <a:rPr lang="en-AU" sz="2200" b="1" dirty="0" smtClean="0"/>
              <a:t>left</a:t>
            </a:r>
            <a:r>
              <a:rPr lang="en-AU" sz="2200" dirty="0" smtClean="0"/>
              <a:t> hand side of the normal distribution graph (the bottom). We can use the inverse normal distribution function to help us solve this.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					</a:t>
            </a:r>
            <a:r>
              <a:rPr lang="en-AU" sz="2200" b="1" dirty="0" smtClean="0"/>
              <a:t>10% of the students received a score below 79.5.</a:t>
            </a:r>
          </a:p>
          <a:p>
            <a:endParaRPr lang="en-AU" sz="2200" b="1" dirty="0"/>
          </a:p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5" y="2963313"/>
            <a:ext cx="1803703" cy="1558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19" y="2922136"/>
            <a:ext cx="1578784" cy="101427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503" y="2861340"/>
            <a:ext cx="2526988" cy="16601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0990" y="4440961"/>
            <a:ext cx="2284919" cy="4494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63" y="4973804"/>
            <a:ext cx="2628910" cy="15728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627" y="2963313"/>
            <a:ext cx="3046714" cy="20491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6366" y="3808778"/>
            <a:ext cx="1991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Statistics</a:t>
            </a:r>
            <a:endParaRPr lang="en-AU" sz="2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040241" y="2491249"/>
            <a:ext cx="1991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E-activity</a:t>
            </a: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327402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8660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5367" y="605860"/>
            <a:ext cx="1166280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8240 students were given an IQ test. The scores were normally distributed with a mean of 100 and a standard deviation of 16. What score were the </a:t>
            </a:r>
            <a:r>
              <a:rPr lang="en-AU" sz="2200" b="1" dirty="0" smtClean="0"/>
              <a:t>top</a:t>
            </a:r>
            <a:r>
              <a:rPr lang="en-AU" sz="2200" dirty="0" smtClean="0"/>
              <a:t> 10% of </a:t>
            </a:r>
            <a:r>
              <a:rPr lang="en-AU" sz="2200" dirty="0" smtClean="0"/>
              <a:t>students above?</a:t>
            </a:r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Here we know the probability is 0.1, and we also know that we are looking at the </a:t>
            </a:r>
            <a:r>
              <a:rPr lang="en-AU" sz="2200" b="1" dirty="0" smtClean="0"/>
              <a:t>right</a:t>
            </a:r>
            <a:r>
              <a:rPr lang="en-AU" sz="2200" dirty="0" smtClean="0"/>
              <a:t> hand side of the normal distribution graph (the top). We can use the inverse normal distribution function to help us solve this.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					</a:t>
            </a:r>
            <a:r>
              <a:rPr lang="en-AU" sz="2200" b="1" dirty="0" smtClean="0"/>
              <a:t>10% of the students received a score above 120.5.</a:t>
            </a:r>
          </a:p>
          <a:p>
            <a:endParaRPr lang="en-AU" sz="2200" dirty="0"/>
          </a:p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5" y="2963313"/>
            <a:ext cx="1803703" cy="1558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19" y="2922136"/>
            <a:ext cx="1578784" cy="10142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6366" y="3808778"/>
            <a:ext cx="1991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Statistics</a:t>
            </a:r>
            <a:endParaRPr lang="en-AU" sz="2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040241" y="2491249"/>
            <a:ext cx="1991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E-activity</a:t>
            </a:r>
            <a:endParaRPr lang="en-AU" sz="2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84" y="2936940"/>
            <a:ext cx="2536571" cy="15565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931" y="4493473"/>
            <a:ext cx="2266482" cy="4155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25" y="4897517"/>
            <a:ext cx="2877603" cy="17389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933" y="2986500"/>
            <a:ext cx="2998949" cy="203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3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8660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5367" y="605860"/>
            <a:ext cx="1166280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8240 students were given an IQ test. The scores were normally distributed with a mean of 100 and a standard deviation of 16. What scores were the </a:t>
            </a:r>
            <a:r>
              <a:rPr lang="en-AU" sz="2200" b="1" dirty="0" smtClean="0"/>
              <a:t>middle</a:t>
            </a:r>
            <a:r>
              <a:rPr lang="en-AU" sz="2200" dirty="0" smtClean="0"/>
              <a:t> 60% of students between?</a:t>
            </a:r>
          </a:p>
          <a:p>
            <a:endParaRPr lang="en-AU" sz="2200" dirty="0"/>
          </a:p>
          <a:p>
            <a:r>
              <a:rPr lang="en-AU" sz="2200" dirty="0" smtClean="0"/>
              <a:t>Here we know the probability is 0.6, and we also know that we are looking at the </a:t>
            </a:r>
            <a:r>
              <a:rPr lang="en-AU" sz="2200" b="1" dirty="0" smtClean="0"/>
              <a:t>centre </a:t>
            </a:r>
            <a:r>
              <a:rPr lang="en-AU" sz="2200" dirty="0" smtClean="0"/>
              <a:t>of the normal distribution graph (the middle). We can use the inverse normal distribution function to help us solve this.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					</a:t>
            </a:r>
            <a:r>
              <a:rPr lang="en-AU" sz="2200" b="1" dirty="0" smtClean="0"/>
              <a:t>60% of the students score between 86.5 and 113.5.</a:t>
            </a:r>
          </a:p>
          <a:p>
            <a:endParaRPr lang="en-AU" sz="2200" b="1" dirty="0"/>
          </a:p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5" y="2963313"/>
            <a:ext cx="1803703" cy="1558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19" y="2922136"/>
            <a:ext cx="1578784" cy="10142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6366" y="3808778"/>
            <a:ext cx="1991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Using Statistics</a:t>
            </a:r>
            <a:endParaRPr lang="en-AU" sz="2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641944" y="3006369"/>
            <a:ext cx="37796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 smtClean="0"/>
              <a:t>Using E-activity – not very easy as you are looking for two values and E-activity only lets you solve for one at a time!</a:t>
            </a:r>
            <a:endParaRPr lang="en-AU" sz="2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343" y="2864850"/>
            <a:ext cx="2690472" cy="17295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282" y="4521512"/>
            <a:ext cx="2305533" cy="7449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59" y="4843800"/>
            <a:ext cx="2975769" cy="184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4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2587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6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567" y="4393832"/>
            <a:ext cx="3659532" cy="24641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7563" y="617080"/>
                <a:ext cx="1177500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If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(40,</m:t>
                    </m:r>
                    <m:sSup>
                      <m:sSupPr>
                        <m:ctrlP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dirty="0" smtClean="0"/>
                  <a:t> determine each of the following probabilities using the 68%, 95% and 99.7% rule.</a:t>
                </a:r>
              </a:p>
              <a:p>
                <a:r>
                  <a:rPr lang="en-AU" sz="2200" dirty="0" smtClean="0"/>
                  <a:t>Do this without a calculator!</a:t>
                </a:r>
              </a:p>
              <a:p>
                <a:endParaRPr lang="en-AU" sz="2200" dirty="0"/>
              </a:p>
              <a:p>
                <a:r>
                  <a:rPr lang="en-AU" sz="2200" dirty="0" smtClean="0"/>
                  <a:t>a)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(30&lt;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&lt;50)</m:t>
                    </m:r>
                  </m:oMath>
                </a14:m>
                <a:r>
                  <a:rPr lang="en-AU" sz="2200" dirty="0" smtClean="0"/>
                  <a:t>	b)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(20&lt;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&lt;60)</m:t>
                    </m:r>
                  </m:oMath>
                </a14:m>
                <a:r>
                  <a:rPr lang="en-AU" sz="2200" dirty="0" smtClean="0"/>
                  <a:t>	c)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(40&lt;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&lt;60)</m:t>
                    </m:r>
                  </m:oMath>
                </a14:m>
                <a:r>
                  <a:rPr lang="en-AU" sz="2200" dirty="0" smtClean="0"/>
                  <a:t>	d)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≤50)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3" y="617080"/>
                <a:ext cx="11775004" cy="1446550"/>
              </a:xfrm>
              <a:prstGeom prst="rect">
                <a:avLst/>
              </a:prstGeom>
              <a:blipFill>
                <a:blip r:embed="rId3"/>
                <a:stretch>
                  <a:fillRect l="-673" t="-2941" b="-7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7561" y="2219045"/>
                <a:ext cx="718056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a) 30 is one standard deviation below the mean and 50 is one standard deviation above the mean (mean = 40 and standard deviation = 10).	    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30&lt;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&lt;50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=0.68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1" y="2219045"/>
                <a:ext cx="7180565" cy="1015663"/>
              </a:xfrm>
              <a:prstGeom prst="rect">
                <a:avLst/>
              </a:prstGeom>
              <a:blipFill>
                <a:blip r:embed="rId4"/>
                <a:stretch>
                  <a:fillRect l="-849" t="-2994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561" y="3278603"/>
                <a:ext cx="704399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b) 20 is two standard deviations below the mean and 60 is two standard deviations above the mean.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20&lt;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&lt;60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1" y="3278603"/>
                <a:ext cx="7043998" cy="1015663"/>
              </a:xfrm>
              <a:prstGeom prst="rect">
                <a:avLst/>
              </a:prstGeom>
              <a:blipFill>
                <a:blip r:embed="rId5"/>
                <a:stretch>
                  <a:fillRect l="-865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7560" y="4347501"/>
                <a:ext cx="7343249" cy="1002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c) 40 is the mean and 60 is two standard deviations above the mean.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40&lt;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&lt;60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0.95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=0.475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0" y="4347501"/>
                <a:ext cx="7343249" cy="1002839"/>
              </a:xfrm>
              <a:prstGeom prst="rect">
                <a:avLst/>
              </a:prstGeom>
              <a:blipFill>
                <a:blip r:embed="rId6"/>
                <a:stretch>
                  <a:fillRect l="-830" t="-3030" r="-4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7560" y="5403575"/>
                <a:ext cx="7343249" cy="1290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d) Below 40 is one half of the data and 50 is one standard deviation above the mean.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≤50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=0.5+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0.68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=0.84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0" y="5403575"/>
                <a:ext cx="7343249" cy="1290353"/>
              </a:xfrm>
              <a:prstGeom prst="rect">
                <a:avLst/>
              </a:prstGeom>
              <a:blipFill>
                <a:blip r:embed="rId7"/>
                <a:stretch>
                  <a:fillRect l="-830" t="-23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5206" y="2063630"/>
            <a:ext cx="3363514" cy="259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9782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7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5124" y="611470"/>
            <a:ext cx="116684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time it takes from Simon getting out of bed until his arrival at school is normally distributed with a mean of 55 minutes and a standard deviation of 5 minutes. If Simons arrives at school after 9:10am, he gets a detention for being late.</a:t>
            </a:r>
          </a:p>
          <a:p>
            <a:endParaRPr lang="en-AU" sz="2200" dirty="0"/>
          </a:p>
          <a:p>
            <a:r>
              <a:rPr lang="en-AU" sz="2200" dirty="0" smtClean="0"/>
              <a:t>One day, Simon gets out of bed at 8:08am, what is the probability of him being late?</a:t>
            </a:r>
          </a:p>
          <a:p>
            <a:endParaRPr lang="en-AU" sz="2200" dirty="0" smtClean="0"/>
          </a:p>
          <a:p>
            <a:r>
              <a:rPr lang="en-AU" sz="2200" dirty="0" smtClean="0"/>
              <a:t>From 8:08am until 9:10am gives Simon 62 minutes to get to school before he is late.</a:t>
            </a:r>
          </a:p>
          <a:p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85124" y="3139298"/>
                <a:ext cx="4782976" cy="438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200" dirty="0" smtClean="0"/>
                  <a:t>If </a:t>
                </a:r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𝟓𝟓</m:t>
                    </m:r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AU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AU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b="1" dirty="0"/>
                  <a:t> </a:t>
                </a:r>
                <a:r>
                  <a:rPr lang="en-AU" sz="2200" dirty="0"/>
                  <a:t>, determine </a:t>
                </a:r>
                <a14:m>
                  <m:oMath xmlns:m="http://schemas.openxmlformats.org/officeDocument/2006/math">
                    <m:r>
                      <a:rPr lang="en-AU" sz="2200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n-AU" sz="2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2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24" y="3139298"/>
                <a:ext cx="4782976" cy="438582"/>
              </a:xfrm>
              <a:prstGeom prst="rect">
                <a:avLst/>
              </a:prstGeom>
              <a:blipFill>
                <a:blip r:embed="rId2"/>
                <a:stretch>
                  <a:fillRect l="-1656" t="-6944" b="-2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6" y="3845074"/>
            <a:ext cx="2405559" cy="17885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07" y="5528796"/>
            <a:ext cx="2360680" cy="411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665" y="3934277"/>
            <a:ext cx="3681211" cy="2005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754" y="4552450"/>
            <a:ext cx="5149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 smtClean="0"/>
              <a:t>If Simon gets out of bed at 8:08am, the probability of him being late is 0.0808, or 8.1%.</a:t>
            </a: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5794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9782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7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85124" y="611470"/>
            <a:ext cx="116684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time it takes from Simon getting out of bed until his arrival at school is normally distributed with a mean of 55 minutes and a standard deviation of 5 minutes. If Simons arrives at school after 9:10am, he gets a detention for being late.</a:t>
            </a:r>
          </a:p>
          <a:p>
            <a:endParaRPr lang="en-AU" sz="2200" dirty="0"/>
          </a:p>
          <a:p>
            <a:r>
              <a:rPr lang="en-AU" sz="2200" dirty="0" smtClean="0"/>
              <a:t>For a while, Simon gets out of bed at the same time each day but arrives late to school around 85% of the time. What time is he getting out of bed?</a:t>
            </a:r>
          </a:p>
          <a:p>
            <a:endParaRPr lang="en-AU" sz="2200" dirty="0"/>
          </a:p>
          <a:p>
            <a:r>
              <a:rPr lang="en-AU" sz="2200" dirty="0"/>
              <a:t>Here we know the probability is </a:t>
            </a:r>
            <a:r>
              <a:rPr lang="en-AU" sz="2200" dirty="0" smtClean="0"/>
              <a:t>0.85, </a:t>
            </a:r>
            <a:r>
              <a:rPr lang="en-AU" sz="2200" dirty="0"/>
              <a:t>and we also know that we are looking at the </a:t>
            </a:r>
            <a:r>
              <a:rPr lang="en-AU" sz="2200" b="1" dirty="0"/>
              <a:t>right</a:t>
            </a:r>
            <a:r>
              <a:rPr lang="en-AU" sz="2200" dirty="0"/>
              <a:t> hand side of the normal distribution </a:t>
            </a:r>
            <a:r>
              <a:rPr lang="en-AU" sz="2200" dirty="0" smtClean="0"/>
              <a:t>graph. </a:t>
            </a:r>
            <a:r>
              <a:rPr lang="en-AU" sz="2200" dirty="0"/>
              <a:t>We can use the inverse normal distribution function to help us solve this.</a:t>
            </a:r>
          </a:p>
          <a:p>
            <a:endParaRPr lang="en-AU" sz="2200" dirty="0"/>
          </a:p>
          <a:p>
            <a:endParaRPr lang="en-AU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0" y="4111616"/>
            <a:ext cx="2728154" cy="17332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52" y="5765254"/>
            <a:ext cx="2388118" cy="445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014" y="4162133"/>
            <a:ext cx="3451956" cy="20489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98120" y="4318704"/>
            <a:ext cx="50993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 smtClean="0"/>
              <a:t>If Simon is late around 85% of the time, he is giving himself about 50 minutes to get to school. This means he is getting out of bed at 8:20am.</a:t>
            </a: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346957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43050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Quantiles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013" y="757530"/>
            <a:ext cx="2943225" cy="124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74" y="661958"/>
            <a:ext cx="1111304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Quantiles are the values which a certain proportion of the normal </a:t>
            </a:r>
          </a:p>
          <a:p>
            <a:r>
              <a:rPr lang="en-AU" sz="2200" dirty="0" smtClean="0"/>
              <a:t>distribution falls below. For example, if 0.7 (70%) of the distribution </a:t>
            </a:r>
          </a:p>
          <a:p>
            <a:r>
              <a:rPr lang="en-AU" sz="2200" dirty="0" smtClean="0"/>
              <a:t>is below 55, that means 55 is the 0.7 quantile.</a:t>
            </a:r>
          </a:p>
          <a:p>
            <a:endParaRPr lang="en-AU" sz="2200" dirty="0" smtClean="0"/>
          </a:p>
          <a:p>
            <a:r>
              <a:rPr lang="en-AU" sz="2200" dirty="0" smtClean="0"/>
              <a:t>We can also refer to 55 as being the 70</a:t>
            </a:r>
            <a:r>
              <a:rPr lang="en-AU" sz="2200" baseline="30000" dirty="0" smtClean="0"/>
              <a:t>th</a:t>
            </a:r>
            <a:r>
              <a:rPr lang="en-AU" sz="2200" dirty="0" smtClean="0"/>
              <a:t> percentile.</a:t>
            </a:r>
          </a:p>
          <a:p>
            <a:endParaRPr lang="en-AU" sz="2200" dirty="0" smtClean="0"/>
          </a:p>
          <a:p>
            <a:r>
              <a:rPr lang="en-AU" sz="2200" dirty="0" smtClean="0"/>
              <a:t>Quantiles are out of 1 and percentiles are out of 100.</a:t>
            </a:r>
          </a:p>
          <a:p>
            <a:endParaRPr lang="en-AU" sz="2200" dirty="0"/>
          </a:p>
          <a:p>
            <a:r>
              <a:rPr lang="en-AU" sz="2200" dirty="0" smtClean="0"/>
              <a:t>We are already used to calling the 0.25 quantile (25</a:t>
            </a:r>
            <a:r>
              <a:rPr lang="en-AU" sz="2200" baseline="30000" dirty="0" smtClean="0"/>
              <a:t>th</a:t>
            </a:r>
            <a:r>
              <a:rPr lang="en-AU" sz="2200" dirty="0" smtClean="0"/>
              <a:t> percentile) the lower </a:t>
            </a:r>
            <a:r>
              <a:rPr lang="en-AU" sz="2200" b="1" dirty="0" smtClean="0"/>
              <a:t>quartile</a:t>
            </a:r>
            <a:r>
              <a:rPr lang="en-AU" sz="2200" dirty="0" smtClean="0"/>
              <a:t> and the 0.75 quantile (75</a:t>
            </a:r>
            <a:r>
              <a:rPr lang="en-AU" sz="2200" baseline="30000" dirty="0" smtClean="0"/>
              <a:t>th</a:t>
            </a:r>
            <a:r>
              <a:rPr lang="en-AU" sz="2200" dirty="0" smtClean="0"/>
              <a:t> percentile) the upper </a:t>
            </a:r>
            <a:r>
              <a:rPr lang="en-AU" sz="2200" b="1" dirty="0" smtClean="0"/>
              <a:t>quartile</a:t>
            </a:r>
            <a:r>
              <a:rPr lang="en-AU" sz="2200" dirty="0" smtClean="0"/>
              <a:t> (see Chapter 4 box and whisker plots).</a:t>
            </a:r>
          </a:p>
          <a:p>
            <a:endParaRPr lang="en-AU" sz="2200" dirty="0"/>
          </a:p>
          <a:p>
            <a:r>
              <a:rPr lang="en-AU" sz="2200" dirty="0" smtClean="0"/>
              <a:t>Quartiles divide the distribution into 4 equal parts and percentiles divide the distribution into 100 equal parts.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5307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7635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8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8052" y="650739"/>
                <a:ext cx="11730125" cy="1792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If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AU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dirty="0" smtClean="0"/>
                  <a:t> , determine:</a:t>
                </a:r>
              </a:p>
              <a:p>
                <a:endParaRPr lang="en-AU" sz="2200" dirty="0" smtClean="0"/>
              </a:p>
              <a:p>
                <a:pPr marL="457200" indent="-457200">
                  <a:buAutoNum type="alphaLcParenR"/>
                </a:pPr>
                <a:r>
                  <a:rPr lang="en-AU" sz="2200" dirty="0" smtClean="0"/>
                  <a:t>the 0.5 quantile	b) the 0.82 quantile	</a:t>
                </a:r>
              </a:p>
              <a:p>
                <a:endParaRPr lang="en-AU" sz="2200" dirty="0"/>
              </a:p>
              <a:p>
                <a:r>
                  <a:rPr lang="en-AU" sz="2200" dirty="0" smtClean="0"/>
                  <a:t>c) the 24</a:t>
                </a:r>
                <a:r>
                  <a:rPr lang="en-AU" sz="2200" baseline="30000" dirty="0" smtClean="0"/>
                  <a:t>th</a:t>
                </a:r>
                <a:r>
                  <a:rPr lang="en-AU" sz="2200" dirty="0" smtClean="0"/>
                  <a:t> percentile 	d) the 62</a:t>
                </a:r>
                <a:r>
                  <a:rPr lang="en-AU" sz="2200" baseline="30000" dirty="0" smtClean="0"/>
                  <a:t>nd</a:t>
                </a:r>
                <a:r>
                  <a:rPr lang="en-AU" sz="2200" dirty="0" smtClean="0"/>
                  <a:t> percentile</a:t>
                </a:r>
                <a:endParaRPr lang="en-AU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52" y="650739"/>
                <a:ext cx="11730125" cy="1792798"/>
              </a:xfrm>
              <a:prstGeom prst="rect">
                <a:avLst/>
              </a:prstGeom>
              <a:blipFill>
                <a:blip r:embed="rId2"/>
                <a:stretch>
                  <a:fillRect l="-675" t="-1701" b="-57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45" y="255100"/>
            <a:ext cx="5061816" cy="24656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052" y="2720761"/>
            <a:ext cx="76910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a) Equivalent to half the data so the 0.5 quantile is 20 (the mean) </a:t>
            </a:r>
            <a:endParaRPr lang="en-AU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258052" y="3375566"/>
            <a:ext cx="76910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b) Using inverse distribution on Class Pad, the 0.82 quantile is 22.7</a:t>
            </a:r>
            <a:endParaRPr lang="en-AU" sz="2200" dirty="0"/>
          </a:p>
        </p:txBody>
      </p:sp>
      <p:sp>
        <p:nvSpPr>
          <p:cNvPr id="18" name="TextBox 17"/>
          <p:cNvSpPr txBox="1"/>
          <p:nvPr/>
        </p:nvSpPr>
        <p:spPr>
          <a:xfrm>
            <a:off x="258051" y="4083338"/>
            <a:ext cx="802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c) Using inverse distribution on Class Pad, the 24th percentile is 17.9</a:t>
            </a:r>
            <a:endParaRPr lang="en-AU" sz="2200" dirty="0"/>
          </a:p>
        </p:txBody>
      </p:sp>
      <p:sp>
        <p:nvSpPr>
          <p:cNvPr id="19" name="TextBox 18"/>
          <p:cNvSpPr txBox="1"/>
          <p:nvPr/>
        </p:nvSpPr>
        <p:spPr>
          <a:xfrm>
            <a:off x="258050" y="4756474"/>
            <a:ext cx="802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d</a:t>
            </a:r>
            <a:r>
              <a:rPr lang="en-AU" sz="2200" dirty="0" smtClean="0"/>
              <a:t>) Using inverse distribution on Class Pad, the 62nd percentile is 20.9</a:t>
            </a:r>
            <a:endParaRPr lang="en-AU" sz="2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270" y="2853393"/>
            <a:ext cx="2144731" cy="13626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39" y="4101455"/>
            <a:ext cx="1806362" cy="35021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0270" y="4616347"/>
            <a:ext cx="2100015" cy="130116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594" y="5923562"/>
            <a:ext cx="1861408" cy="3081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90717" y="0"/>
            <a:ext cx="282080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13C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0739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1417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Bradley Hand ITC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63</cp:revision>
  <dcterms:created xsi:type="dcterms:W3CDTF">2020-12-09T06:24:59Z</dcterms:created>
  <dcterms:modified xsi:type="dcterms:W3CDTF">2021-07-28T04:04:40Z</dcterms:modified>
</cp:coreProperties>
</file>
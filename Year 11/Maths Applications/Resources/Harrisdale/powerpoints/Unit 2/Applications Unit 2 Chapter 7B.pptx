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63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533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142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900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26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6612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696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26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824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692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930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0192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21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222709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Number Puzzles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51464" y="600250"/>
            <a:ext cx="666446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Think of an integer between 2 and 10.</a:t>
            </a:r>
          </a:p>
          <a:p>
            <a:endParaRPr lang="en-AU" dirty="0" smtClean="0"/>
          </a:p>
          <a:p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151463" y="1231277"/>
            <a:ext cx="666446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Double it.</a:t>
            </a:r>
          </a:p>
          <a:p>
            <a:endParaRPr lang="en-AU" dirty="0" smtClean="0"/>
          </a:p>
          <a:p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151462" y="2016022"/>
            <a:ext cx="666446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Add 12.</a:t>
            </a:r>
          </a:p>
          <a:p>
            <a:endParaRPr lang="en-AU" dirty="0" smtClean="0"/>
          </a:p>
          <a:p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51462" y="2847189"/>
            <a:ext cx="666446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Halve it.</a:t>
            </a:r>
          </a:p>
          <a:p>
            <a:endParaRPr lang="en-AU" dirty="0" smtClean="0"/>
          </a:p>
          <a:p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151462" y="3678356"/>
            <a:ext cx="666446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Subtract your original number.</a:t>
            </a:r>
          </a:p>
          <a:p>
            <a:endParaRPr lang="en-AU" dirty="0" smtClean="0"/>
          </a:p>
          <a:p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151462" y="4478697"/>
            <a:ext cx="666446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Did you get 6?</a:t>
            </a:r>
          </a:p>
          <a:p>
            <a:endParaRPr lang="en-AU" dirty="0" smtClean="0"/>
          </a:p>
          <a:p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151462" y="5223381"/>
            <a:ext cx="666446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If you didn’t get 6, you did it wrong...</a:t>
            </a:r>
          </a:p>
          <a:p>
            <a:endParaRPr lang="en-AU" dirty="0" smtClean="0"/>
          </a:p>
          <a:p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151462" y="6079355"/>
            <a:ext cx="666446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Am I magic?</a:t>
            </a:r>
          </a:p>
          <a:p>
            <a:endParaRPr lang="en-AU" dirty="0" smtClean="0"/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028031" y="600250"/>
                <a:ext cx="6664461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Think of an integer between 2 and 10. 	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200" dirty="0" smtClean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031" y="600250"/>
                <a:ext cx="6664461" cy="984885"/>
              </a:xfrm>
              <a:prstGeom prst="rect">
                <a:avLst/>
              </a:prstGeom>
              <a:blipFill>
                <a:blip r:embed="rId2"/>
                <a:stretch>
                  <a:fillRect l="-1189" t="-37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028030" y="1231277"/>
                <a:ext cx="6664461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Double it.				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200" dirty="0" smtClean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030" y="1231277"/>
                <a:ext cx="6664461" cy="984885"/>
              </a:xfrm>
              <a:prstGeom prst="rect">
                <a:avLst/>
              </a:prstGeom>
              <a:blipFill>
                <a:blip r:embed="rId3"/>
                <a:stretch>
                  <a:fillRect l="-1189" t="-43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028029" y="2016022"/>
                <a:ext cx="6664461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Add 12.					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+12</m:t>
                    </m:r>
                  </m:oMath>
                </a14:m>
                <a:endParaRPr lang="en-AU" sz="2200" dirty="0" smtClean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029" y="2016022"/>
                <a:ext cx="6664461" cy="984885"/>
              </a:xfrm>
              <a:prstGeom prst="rect">
                <a:avLst/>
              </a:prstGeom>
              <a:blipFill>
                <a:blip r:embed="rId4"/>
                <a:stretch>
                  <a:fillRect l="-1189" t="-43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028029" y="2847189"/>
                <a:ext cx="6664461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Halve it.				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+6</m:t>
                    </m:r>
                  </m:oMath>
                </a14:m>
                <a:endParaRPr lang="en-AU" sz="2200" dirty="0" smtClean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029" y="2847189"/>
                <a:ext cx="6664461" cy="984885"/>
              </a:xfrm>
              <a:prstGeom prst="rect">
                <a:avLst/>
              </a:prstGeom>
              <a:blipFill>
                <a:blip r:embed="rId5"/>
                <a:stretch>
                  <a:fillRect l="-1189" t="-43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028029" y="3678356"/>
                <a:ext cx="6664461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Subtract the original number.		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AU" sz="2200" dirty="0" smtClean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029" y="3678356"/>
                <a:ext cx="6664461" cy="984885"/>
              </a:xfrm>
              <a:prstGeom prst="rect">
                <a:avLst/>
              </a:prstGeom>
              <a:blipFill>
                <a:blip r:embed="rId6"/>
                <a:stretch>
                  <a:fillRect l="-1189" t="-37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5028027" y="4509523"/>
            <a:ext cx="666446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Did you get 6?				Yes!</a:t>
            </a:r>
          </a:p>
          <a:p>
            <a:endParaRPr lang="en-AU" dirty="0" smtClean="0"/>
          </a:p>
          <a:p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5028028" y="5248309"/>
            <a:ext cx="666446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Am I magic?				No, it’s algebra!</a:t>
            </a:r>
          </a:p>
          <a:p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39359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222709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Number Puzzles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68941" y="699247"/>
            <a:ext cx="1150395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I think of a number, multiply it by three, add seven to the answer and then add the number I first thought of. </a:t>
            </a:r>
          </a:p>
          <a:p>
            <a:endParaRPr lang="en-AU" sz="2200" dirty="0"/>
          </a:p>
          <a:p>
            <a:r>
              <a:rPr lang="en-AU" sz="2200" dirty="0" smtClean="0"/>
              <a:t>If my answer is 51, what number did I think of?</a:t>
            </a:r>
            <a:endParaRPr lang="en-AU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68943" y="2590415"/>
                <a:ext cx="6664461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Think of a number.	 	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200" dirty="0" smtClean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43" y="2590415"/>
                <a:ext cx="6664461" cy="984885"/>
              </a:xfrm>
              <a:prstGeom prst="rect">
                <a:avLst/>
              </a:prstGeom>
              <a:blipFill>
                <a:blip r:embed="rId2"/>
                <a:stretch>
                  <a:fillRect l="-1189" t="-43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68942" y="3221442"/>
                <a:ext cx="6664461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Multiply it by three.		</a:t>
                </a:r>
                <a14:m>
                  <m:oMath xmlns:m="http://schemas.openxmlformats.org/officeDocument/2006/math">
                    <m:r>
                      <a:rPr lang="en-AU" sz="22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200" dirty="0" smtClean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42" y="3221442"/>
                <a:ext cx="6664461" cy="984885"/>
              </a:xfrm>
              <a:prstGeom prst="rect">
                <a:avLst/>
              </a:prstGeom>
              <a:blipFill>
                <a:blip r:embed="rId3"/>
                <a:stretch>
                  <a:fillRect l="-1189" t="-37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68941" y="4006187"/>
                <a:ext cx="6664461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Add 7.				</a:t>
                </a:r>
                <a14:m>
                  <m:oMath xmlns:m="http://schemas.openxmlformats.org/officeDocument/2006/math">
                    <m:r>
                      <a:rPr lang="en-AU" sz="22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+7</m:t>
                    </m:r>
                  </m:oMath>
                </a14:m>
                <a:endParaRPr lang="en-AU" sz="2200" dirty="0" smtClean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41" y="4006187"/>
                <a:ext cx="6664461" cy="984885"/>
              </a:xfrm>
              <a:prstGeom prst="rect">
                <a:avLst/>
              </a:prstGeom>
              <a:blipFill>
                <a:blip r:embed="rId4"/>
                <a:stretch>
                  <a:fillRect l="-1189" t="-43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68941" y="4837354"/>
                <a:ext cx="6664461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Add the original number.	</a:t>
                </a:r>
                <a14:m>
                  <m:oMath xmlns:m="http://schemas.openxmlformats.org/officeDocument/2006/math">
                    <m:r>
                      <a:rPr lang="en-AU" sz="2200" b="0" i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+7+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200" dirty="0" smtClean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41" y="4837354"/>
                <a:ext cx="6664461" cy="984885"/>
              </a:xfrm>
              <a:prstGeom prst="rect">
                <a:avLst/>
              </a:prstGeom>
              <a:blipFill>
                <a:blip r:embed="rId5"/>
                <a:stretch>
                  <a:fillRect l="-1189" t="-43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68941" y="5622099"/>
                <a:ext cx="6664461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The answer is 51.		</a:t>
                </a:r>
                <a14:m>
                  <m:oMath xmlns:m="http://schemas.openxmlformats.org/officeDocument/2006/math">
                    <m:r>
                      <a:rPr lang="en-AU" sz="2200" b="0" i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+7=51</m:t>
                    </m:r>
                  </m:oMath>
                </a14:m>
                <a:endParaRPr lang="en-AU" sz="2200" dirty="0" smtClean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41" y="5622099"/>
                <a:ext cx="6664461" cy="984885"/>
              </a:xfrm>
              <a:prstGeom prst="rect">
                <a:avLst/>
              </a:prstGeom>
              <a:blipFill>
                <a:blip r:embed="rId6"/>
                <a:stretch>
                  <a:fillRect l="-1189" t="-37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7555005" y="1755363"/>
                <a:ext cx="3693459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+7=51</m:t>
                      </m:r>
                    </m:oMath>
                  </m:oMathPara>
                </a14:m>
                <a:endParaRPr lang="en-AU" sz="2200" dirty="0" smtClean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005" y="1755363"/>
                <a:ext cx="3693459" cy="984885"/>
              </a:xfrm>
              <a:prstGeom prst="rect">
                <a:avLst/>
              </a:prstGeom>
              <a:blipFill>
                <a:blip r:embed="rId7"/>
                <a:stretch>
                  <a:fillRect l="-1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715366" y="2227487"/>
                <a:ext cx="2374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=44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366" y="2227487"/>
                <a:ext cx="2374823" cy="430887"/>
              </a:xfrm>
              <a:prstGeom prst="rect">
                <a:avLst/>
              </a:prstGeom>
              <a:blipFill>
                <a:blip r:embed="rId8"/>
                <a:stretch>
                  <a:fillRect l="-2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7715365" y="2957698"/>
                <a:ext cx="2374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365" y="2957698"/>
                <a:ext cx="2374823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7115584" y="2301454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-7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316970" y="2289042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-7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15584" y="2785444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/4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316970" y="2773032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/4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95782" y="4052609"/>
            <a:ext cx="33819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200" dirty="0" smtClean="0"/>
              <a:t>The number I first thought of was eleven.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3804828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8941" y="699247"/>
            <a:ext cx="1150395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I think of a number, </a:t>
            </a:r>
            <a:r>
              <a:rPr lang="en-AU" sz="2200" dirty="0" smtClean="0"/>
              <a:t>subtract it from twelve, multiply the result by five and then add the number </a:t>
            </a:r>
            <a:r>
              <a:rPr lang="en-AU" sz="2200" dirty="0" smtClean="0"/>
              <a:t>I first thought of.</a:t>
            </a:r>
            <a:endParaRPr lang="en-AU" sz="2200" dirty="0" smtClean="0"/>
          </a:p>
          <a:p>
            <a:endParaRPr lang="en-AU" sz="2200" dirty="0"/>
          </a:p>
          <a:p>
            <a:r>
              <a:rPr lang="en-AU" sz="2200" dirty="0" smtClean="0"/>
              <a:t>If my answer is </a:t>
            </a:r>
            <a:r>
              <a:rPr lang="en-AU" sz="2200" dirty="0" smtClean="0"/>
              <a:t>24</a:t>
            </a:r>
            <a:r>
              <a:rPr lang="en-AU" sz="2200" dirty="0" smtClean="0"/>
              <a:t>, </a:t>
            </a:r>
            <a:r>
              <a:rPr lang="en-AU" sz="2200" dirty="0" smtClean="0"/>
              <a:t>what number did I think of?</a:t>
            </a:r>
            <a:endParaRPr lang="en-AU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68943" y="2590415"/>
                <a:ext cx="6664461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Think of a number.	 	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200" dirty="0" smtClean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43" y="2590415"/>
                <a:ext cx="6664461" cy="984885"/>
              </a:xfrm>
              <a:prstGeom prst="rect">
                <a:avLst/>
              </a:prstGeom>
              <a:blipFill>
                <a:blip r:embed="rId2"/>
                <a:stretch>
                  <a:fillRect l="-1189" t="-43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68942" y="3221442"/>
                <a:ext cx="6664461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Subtract it </a:t>
                </a:r>
                <a:r>
                  <a:rPr lang="en-AU" sz="2200" b="1" dirty="0" smtClean="0"/>
                  <a:t>from</a:t>
                </a:r>
                <a:r>
                  <a:rPr lang="en-AU" sz="2200" dirty="0" smtClean="0"/>
                  <a:t> twelve.		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12−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200" dirty="0" smtClean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42" y="3221442"/>
                <a:ext cx="6664461" cy="984885"/>
              </a:xfrm>
              <a:prstGeom prst="rect">
                <a:avLst/>
              </a:prstGeom>
              <a:blipFill>
                <a:blip r:embed="rId3"/>
                <a:stretch>
                  <a:fillRect l="-1189" t="-37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68941" y="4006187"/>
                <a:ext cx="6664461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Multiply by 5.</a:t>
                </a:r>
                <a:r>
                  <a:rPr lang="en-AU" sz="2200" dirty="0" smtClean="0"/>
                  <a:t>			</a:t>
                </a:r>
                <a14:m>
                  <m:oMath xmlns:m="http://schemas.openxmlformats.org/officeDocument/2006/math">
                    <m:r>
                      <a:rPr lang="en-AU" sz="2200" b="0" i="0" smtClean="0">
                        <a:latin typeface="Cambria Math" panose="02040503050406030204" pitchFamily="18" charset="0"/>
                      </a:rPr>
                      <m:t>5(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12−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200" dirty="0" smtClean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41" y="4006187"/>
                <a:ext cx="6664461" cy="984885"/>
              </a:xfrm>
              <a:prstGeom prst="rect">
                <a:avLst/>
              </a:prstGeom>
              <a:blipFill>
                <a:blip r:embed="rId4"/>
                <a:stretch>
                  <a:fillRect l="-1189" t="-43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68941" y="4837354"/>
                <a:ext cx="6664461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Add the original number.	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ctrlPr>
                          <a:rPr lang="en-AU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12−</m:t>
                        </m:r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200" dirty="0" smtClean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41" y="4837354"/>
                <a:ext cx="6664461" cy="984885"/>
              </a:xfrm>
              <a:prstGeom prst="rect">
                <a:avLst/>
              </a:prstGeom>
              <a:blipFill>
                <a:blip r:embed="rId5"/>
                <a:stretch>
                  <a:fillRect l="-1189" t="-43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68941" y="5622099"/>
                <a:ext cx="6664461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The answer </a:t>
                </a:r>
                <a:r>
                  <a:rPr lang="en-AU" sz="2200" dirty="0" smtClean="0"/>
                  <a:t>is </a:t>
                </a:r>
                <a:r>
                  <a:rPr lang="en-AU" sz="2200" dirty="0" smtClean="0"/>
                  <a:t>24</a:t>
                </a:r>
                <a:r>
                  <a:rPr lang="en-AU" sz="2200" dirty="0" smtClean="0"/>
                  <a:t>.</a:t>
                </a:r>
                <a:r>
                  <a:rPr lang="en-AU" sz="2200" dirty="0" smtClean="0"/>
                  <a:t>		</a:t>
                </a:r>
                <a14:m>
                  <m:oMath xmlns:m="http://schemas.openxmlformats.org/officeDocument/2006/math">
                    <m:r>
                      <a:rPr lang="en-AU" sz="2200" b="0" i="0" smtClean="0">
                        <a:latin typeface="Cambria Math" panose="02040503050406030204" pitchFamily="18" charset="0"/>
                      </a:rPr>
                      <m:t>60−5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endParaRPr lang="en-AU" sz="2200" b="0" dirty="0" smtClean="0"/>
              </a:p>
              <a:p>
                <a:r>
                  <a:rPr lang="en-AU" sz="2200" dirty="0" smtClean="0"/>
                  <a:t>				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+60=24</m:t>
                    </m:r>
                  </m:oMath>
                </a14:m>
                <a:endParaRPr lang="en-AU" sz="2200" dirty="0" smtClean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41" y="5622099"/>
                <a:ext cx="6664461" cy="1323439"/>
              </a:xfrm>
              <a:prstGeom prst="rect">
                <a:avLst/>
              </a:prstGeom>
              <a:blipFill>
                <a:blip r:embed="rId6"/>
                <a:stretch>
                  <a:fillRect l="-1189" t="-27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7555005" y="1755363"/>
                <a:ext cx="3693459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200" b="0" i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+60=2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AU" sz="2200" dirty="0" smtClean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005" y="1755363"/>
                <a:ext cx="3693459" cy="9848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7555005" y="2257448"/>
                <a:ext cx="2374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=−36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005" y="2257448"/>
                <a:ext cx="2374823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943965" y="2920239"/>
                <a:ext cx="2374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3965" y="2920239"/>
                <a:ext cx="2374823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7115584" y="2301454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-60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316970" y="2289042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-60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15584" y="2785444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/-4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316970" y="2773032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/-4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44553" y="3548119"/>
            <a:ext cx="33819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200" dirty="0" smtClean="0"/>
              <a:t>The number I first thought of was </a:t>
            </a:r>
            <a:r>
              <a:rPr lang="en-AU" sz="2200" dirty="0" smtClean="0"/>
              <a:t>nine</a:t>
            </a:r>
            <a:r>
              <a:rPr lang="en-AU" sz="2200" dirty="0" smtClean="0"/>
              <a:t>.</a:t>
            </a:r>
            <a:endParaRPr lang="en-AU" sz="2200" dirty="0"/>
          </a:p>
        </p:txBody>
      </p:sp>
      <p:sp>
        <p:nvSpPr>
          <p:cNvPr id="4" name="TextBox 3"/>
          <p:cNvSpPr txBox="1"/>
          <p:nvPr/>
        </p:nvSpPr>
        <p:spPr>
          <a:xfrm>
            <a:off x="6633840" y="4712415"/>
            <a:ext cx="5139060" cy="1446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200" dirty="0" smtClean="0"/>
              <a:t>We can also use trial and adjustment (</a:t>
            </a:r>
            <a:r>
              <a:rPr lang="en-AU" sz="2200" dirty="0" err="1" smtClean="0"/>
              <a:t>ie</a:t>
            </a:r>
            <a:r>
              <a:rPr lang="en-AU" sz="2200" dirty="0" smtClean="0"/>
              <a:t>. start with 2, get an answer too big, try higher </a:t>
            </a:r>
            <a:r>
              <a:rPr lang="en-AU" sz="2200" dirty="0" err="1" smtClean="0"/>
              <a:t>etc</a:t>
            </a:r>
            <a:r>
              <a:rPr lang="en-AU" sz="2200" dirty="0" smtClean="0"/>
              <a:t> until we get the answer of 9. This can take a long time though!</a:t>
            </a:r>
            <a:endParaRPr lang="en-AU" sz="2200" dirty="0"/>
          </a:p>
        </p:txBody>
      </p:sp>
      <p:sp>
        <p:nvSpPr>
          <p:cNvPr id="20" name="TextBox 19"/>
          <p:cNvSpPr txBox="1"/>
          <p:nvPr/>
        </p:nvSpPr>
        <p:spPr>
          <a:xfrm>
            <a:off x="0" y="0"/>
            <a:ext cx="222709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Number Puzzles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47558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1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8941" y="699247"/>
            <a:ext cx="1150395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I think of a number, </a:t>
            </a:r>
            <a:r>
              <a:rPr lang="en-AU" sz="2200" dirty="0" smtClean="0"/>
              <a:t>add 5, multiply the result by four, and end up with an answer that is 29 more than the number I first thought of.</a:t>
            </a:r>
            <a:endParaRPr lang="en-AU" sz="2200" dirty="0" smtClean="0"/>
          </a:p>
          <a:p>
            <a:endParaRPr lang="en-AU" sz="2200" dirty="0"/>
          </a:p>
          <a:p>
            <a:r>
              <a:rPr lang="en-AU" sz="2200" dirty="0"/>
              <a:t>W</a:t>
            </a:r>
            <a:r>
              <a:rPr lang="en-AU" sz="2200" dirty="0" smtClean="0"/>
              <a:t>hat </a:t>
            </a:r>
            <a:r>
              <a:rPr lang="en-AU" sz="2200" dirty="0" smtClean="0"/>
              <a:t>number did I think of?</a:t>
            </a:r>
            <a:endParaRPr lang="en-AU" sz="22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222709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Number Puzzles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68943" y="2590415"/>
                <a:ext cx="6664461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Think of a number.	 	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200" dirty="0" smtClean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43" y="2590415"/>
                <a:ext cx="6664461" cy="984885"/>
              </a:xfrm>
              <a:prstGeom prst="rect">
                <a:avLst/>
              </a:prstGeom>
              <a:blipFill>
                <a:blip r:embed="rId2"/>
                <a:stretch>
                  <a:fillRect l="-1189" t="-43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68942" y="3221442"/>
                <a:ext cx="6664461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Add 5.				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endParaRPr lang="en-AU" sz="2200" dirty="0" smtClean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42" y="3221442"/>
                <a:ext cx="6664461" cy="984885"/>
              </a:xfrm>
              <a:prstGeom prst="rect">
                <a:avLst/>
              </a:prstGeom>
              <a:blipFill>
                <a:blip r:embed="rId3"/>
                <a:stretch>
                  <a:fillRect l="-1189" t="-37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68941" y="4006187"/>
                <a:ext cx="6664461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Multiply by 4.</a:t>
                </a:r>
                <a:r>
                  <a:rPr lang="en-AU" sz="2200" dirty="0" smtClean="0"/>
                  <a:t>			</a:t>
                </a:r>
                <a14:m>
                  <m:oMath xmlns:m="http://schemas.openxmlformats.org/officeDocument/2006/math">
                    <m:r>
                      <a:rPr lang="en-AU" sz="2200" b="0" i="0" smtClean="0">
                        <a:latin typeface="Cambria Math" panose="02040503050406030204" pitchFamily="18" charset="0"/>
                      </a:rPr>
                      <m:t>4(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+5)</m:t>
                    </m:r>
                  </m:oMath>
                </a14:m>
                <a:endParaRPr lang="en-AU" sz="2200" dirty="0" smtClean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41" y="4006187"/>
                <a:ext cx="6664461" cy="984885"/>
              </a:xfrm>
              <a:prstGeom prst="rect">
                <a:avLst/>
              </a:prstGeom>
              <a:blipFill>
                <a:blip r:embed="rId4"/>
                <a:stretch>
                  <a:fillRect l="-1189" t="-43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68941" y="4837354"/>
                <a:ext cx="666446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29 more than original number</a:t>
                </a:r>
                <a:r>
                  <a:rPr lang="en-AU" sz="2200" dirty="0" smtClean="0"/>
                  <a:t>.	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29+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41" y="4837354"/>
                <a:ext cx="6664461" cy="707886"/>
              </a:xfrm>
              <a:prstGeom prst="rect">
                <a:avLst/>
              </a:prstGeom>
              <a:blipFill>
                <a:blip r:embed="rId5"/>
                <a:stretch>
                  <a:fillRect l="-1189" t="-60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268941" y="5622099"/>
                <a:ext cx="6664461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Two expressions are equal</a:t>
                </a:r>
                <a:r>
                  <a:rPr lang="en-AU" sz="2200" dirty="0" smtClean="0"/>
                  <a:t>.</a:t>
                </a:r>
                <a:r>
                  <a:rPr lang="en-AU" sz="2200" dirty="0" smtClean="0"/>
                  <a:t>	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en-AU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+5</m:t>
                        </m:r>
                      </m:e>
                    </m:d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+29</m:t>
                    </m:r>
                  </m:oMath>
                </a14:m>
                <a:endParaRPr lang="en-AU" sz="2200" b="0" dirty="0" smtClean="0"/>
              </a:p>
              <a:p>
                <a:r>
                  <a:rPr lang="en-AU" sz="2200" dirty="0" smtClean="0"/>
                  <a:t>				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+20=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+29</m:t>
                    </m:r>
                  </m:oMath>
                </a14:m>
                <a:r>
                  <a:rPr lang="en-AU" sz="2200" dirty="0" smtClean="0"/>
                  <a:t>				</a:t>
                </a:r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41" y="5622099"/>
                <a:ext cx="6664461" cy="1384995"/>
              </a:xfrm>
              <a:prstGeom prst="rect">
                <a:avLst/>
              </a:prstGeom>
              <a:blipFill>
                <a:blip r:embed="rId6"/>
                <a:stretch>
                  <a:fillRect l="-1189" t="-26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7555005" y="1755363"/>
                <a:ext cx="369345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+20=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+29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005" y="1755363"/>
                <a:ext cx="3693459" cy="707886"/>
              </a:xfrm>
              <a:prstGeom prst="rect">
                <a:avLst/>
              </a:prstGeom>
              <a:blipFill>
                <a:blip r:embed="rId7"/>
                <a:stretch>
                  <a:fillRect l="-1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662582" y="2309524"/>
                <a:ext cx="2374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+20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29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2582" y="2309524"/>
                <a:ext cx="2374823" cy="430887"/>
              </a:xfrm>
              <a:prstGeom prst="rect">
                <a:avLst/>
              </a:prstGeom>
              <a:blipFill>
                <a:blip r:embed="rId8"/>
                <a:stretch>
                  <a:fillRect l="-2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8121650" y="2907252"/>
                <a:ext cx="2374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650" y="2907252"/>
                <a:ext cx="2374823" cy="430887"/>
              </a:xfrm>
              <a:prstGeom prst="rect">
                <a:avLst/>
              </a:prstGeom>
              <a:blipFill>
                <a:blip r:embed="rId9"/>
                <a:stretch>
                  <a:fillRect l="-2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7082571" y="2366363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-x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037405" y="2346286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-x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93269" y="2772457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-20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494655" y="2760045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-20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8211406" y="3479902"/>
                <a:ext cx="2374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1406" y="3479902"/>
                <a:ext cx="2374823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7383025" y="3345107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584411" y="3332695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024782" y="4127470"/>
            <a:ext cx="33819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200" dirty="0" smtClean="0"/>
              <a:t>The number I first thought of was </a:t>
            </a:r>
            <a:r>
              <a:rPr lang="en-AU" sz="2200" dirty="0" smtClean="0"/>
              <a:t>three</a:t>
            </a:r>
            <a:r>
              <a:rPr lang="en-AU" sz="2200" dirty="0" smtClean="0"/>
              <a:t>.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79162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23" grpId="0"/>
      <p:bldP spid="24" grpId="0"/>
      <p:bldP spid="25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22709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Number Puzzles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268941" y="699247"/>
            <a:ext cx="1150395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I think of a number, </a:t>
            </a:r>
            <a:r>
              <a:rPr lang="en-AU" sz="2200" dirty="0" smtClean="0"/>
              <a:t>add 15, divide the result by two, and end up with an answer that is four more than the number I first thought of.</a:t>
            </a:r>
            <a:endParaRPr lang="en-AU" sz="2200" dirty="0" smtClean="0"/>
          </a:p>
          <a:p>
            <a:endParaRPr lang="en-AU" sz="2200" dirty="0"/>
          </a:p>
          <a:p>
            <a:r>
              <a:rPr lang="en-AU" sz="2200" dirty="0"/>
              <a:t>W</a:t>
            </a:r>
            <a:r>
              <a:rPr lang="en-AU" sz="2200" dirty="0" smtClean="0"/>
              <a:t>hat </a:t>
            </a:r>
            <a:r>
              <a:rPr lang="en-AU" sz="2200" dirty="0" smtClean="0"/>
              <a:t>number did I think of?</a:t>
            </a:r>
            <a:endParaRPr lang="en-AU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68943" y="2590415"/>
                <a:ext cx="6664461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Think of a number.	 	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200" dirty="0" smtClean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43" y="2590415"/>
                <a:ext cx="6664461" cy="984885"/>
              </a:xfrm>
              <a:prstGeom prst="rect">
                <a:avLst/>
              </a:prstGeom>
              <a:blipFill>
                <a:blip r:embed="rId2"/>
                <a:stretch>
                  <a:fillRect l="-1189" t="-43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68942" y="3221442"/>
                <a:ext cx="6664461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Add 15.				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+15</m:t>
                    </m:r>
                  </m:oMath>
                </a14:m>
                <a:endParaRPr lang="en-AU" sz="2200" dirty="0" smtClean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42" y="3221442"/>
                <a:ext cx="6664461" cy="984885"/>
              </a:xfrm>
              <a:prstGeom prst="rect">
                <a:avLst/>
              </a:prstGeom>
              <a:blipFill>
                <a:blip r:embed="rId3"/>
                <a:stretch>
                  <a:fillRect l="-1189" t="-37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68941" y="4006187"/>
                <a:ext cx="6664461" cy="8474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Divide by 4.</a:t>
                </a:r>
                <a:r>
                  <a:rPr lang="en-AU" sz="2200" dirty="0" smtClean="0"/>
                  <a:t>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+15</m:t>
                        </m:r>
                      </m:num>
                      <m:den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41" y="4006187"/>
                <a:ext cx="6664461" cy="847411"/>
              </a:xfrm>
              <a:prstGeom prst="rect">
                <a:avLst/>
              </a:prstGeom>
              <a:blipFill>
                <a:blip r:embed="rId4"/>
                <a:stretch>
                  <a:fillRect l="-11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68941" y="4837354"/>
                <a:ext cx="666446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29 more than original number</a:t>
                </a:r>
                <a:r>
                  <a:rPr lang="en-AU" sz="2200" dirty="0" smtClean="0"/>
                  <a:t>.	</a:t>
                </a:r>
                <a14:m>
                  <m:oMath xmlns:m="http://schemas.openxmlformats.org/officeDocument/2006/math">
                    <m:r>
                      <a:rPr lang="en-AU" sz="22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41" y="4837354"/>
                <a:ext cx="6664461" cy="707886"/>
              </a:xfrm>
              <a:prstGeom prst="rect">
                <a:avLst/>
              </a:prstGeom>
              <a:blipFill>
                <a:blip r:embed="rId5"/>
                <a:stretch>
                  <a:fillRect l="-1189" t="-60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68941" y="5622099"/>
                <a:ext cx="6664461" cy="1191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Two expressions are equal</a:t>
                </a:r>
                <a:r>
                  <a:rPr lang="en-AU" sz="2200" dirty="0" smtClean="0"/>
                  <a:t>.</a:t>
                </a:r>
                <a:r>
                  <a:rPr lang="en-AU" sz="2200" dirty="0" smtClean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+15</m:t>
                        </m:r>
                      </m:num>
                      <m:den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endParaRPr lang="en-AU" sz="2200" b="0" dirty="0" smtClean="0"/>
              </a:p>
              <a:p>
                <a:r>
                  <a:rPr lang="en-AU" sz="2200" dirty="0" smtClean="0"/>
                  <a:t>				</a:t>
                </a:r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41" y="5622099"/>
                <a:ext cx="6664461" cy="1191480"/>
              </a:xfrm>
              <a:prstGeom prst="rect">
                <a:avLst/>
              </a:prstGeom>
              <a:blipFill>
                <a:blip r:embed="rId6"/>
                <a:stretch>
                  <a:fillRect l="-11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5053852" y="1787639"/>
                <a:ext cx="6664461" cy="1191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		</a:t>
                </a:r>
                <a:r>
                  <a:rPr lang="en-AU" sz="2200" dirty="0" smtClean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+15</m:t>
                        </m:r>
                      </m:num>
                      <m:den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endParaRPr lang="en-AU" sz="2200" b="0" dirty="0" smtClean="0"/>
              </a:p>
              <a:p>
                <a:r>
                  <a:rPr lang="en-AU" sz="2200" dirty="0" smtClean="0"/>
                  <a:t>				</a:t>
                </a:r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3852" y="1787639"/>
                <a:ext cx="6664461" cy="11914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7476566" y="2453950"/>
                <a:ext cx="258773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AU" sz="2200" dirty="0" smtClean="0"/>
                  <a:t>  </a:t>
                </a:r>
                <a14:m>
                  <m:oMath xmlns:m="http://schemas.openxmlformats.org/officeDocument/2006/math">
                    <m:r>
                      <a:rPr lang="en-AU" sz="22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+15=2(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+4)</m:t>
                    </m:r>
                  </m:oMath>
                </a14:m>
                <a:endParaRPr lang="en-AU" sz="22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6566" y="2453950"/>
                <a:ext cx="2587734" cy="430887"/>
              </a:xfrm>
              <a:prstGeom prst="rect">
                <a:avLst/>
              </a:prstGeom>
              <a:blipFill>
                <a:blip r:embed="rId8"/>
                <a:stretch>
                  <a:fillRect b="-1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7109465" y="2510789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x2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64299" y="2490712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x2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7476566" y="2977546"/>
                <a:ext cx="258773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AU" sz="2200" dirty="0" smtClean="0"/>
                  <a:t>  </a:t>
                </a:r>
                <a14:m>
                  <m:oMath xmlns:m="http://schemas.openxmlformats.org/officeDocument/2006/math">
                    <m:r>
                      <a:rPr lang="en-AU" sz="22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+15=2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+8</m:t>
                    </m:r>
                  </m:oMath>
                </a14:m>
                <a:endParaRPr lang="en-AU" sz="2200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6566" y="2977546"/>
                <a:ext cx="2587734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7749988" y="3499976"/>
                <a:ext cx="2374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15=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+8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9988" y="3499976"/>
                <a:ext cx="2374823" cy="430887"/>
              </a:xfrm>
              <a:prstGeom prst="rect">
                <a:avLst/>
              </a:prstGeom>
              <a:blipFill>
                <a:blip r:embed="rId10"/>
                <a:stretch>
                  <a:fillRect l="-2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8209056" y="4097704"/>
                <a:ext cx="2374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9056" y="4097704"/>
                <a:ext cx="2374823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6996539" y="3347354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-x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951373" y="3327277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-x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380675" y="3962909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-8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582061" y="3950497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-8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96539" y="4874305"/>
            <a:ext cx="33819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200" dirty="0" smtClean="0"/>
              <a:t>The number I first thought of was </a:t>
            </a:r>
            <a:r>
              <a:rPr lang="en-AU" sz="2200" dirty="0" smtClean="0"/>
              <a:t>seven.</a:t>
            </a:r>
            <a:endParaRPr lang="en-AU" sz="2200" dirty="0"/>
          </a:p>
        </p:txBody>
      </p:sp>
      <p:sp>
        <p:nvSpPr>
          <p:cNvPr id="34" name="TextBox 33"/>
          <p:cNvSpPr txBox="1"/>
          <p:nvPr/>
        </p:nvSpPr>
        <p:spPr>
          <a:xfrm>
            <a:off x="3500718" y="7605"/>
            <a:ext cx="273871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Now do exercise 7B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18321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2" grpId="0"/>
      <p:bldP spid="13" grpId="0"/>
      <p:bldP spid="15" grpId="0"/>
      <p:bldP spid="16" grpId="0"/>
      <p:bldP spid="24" grpId="0"/>
      <p:bldP spid="25" grpId="0"/>
      <p:bldP spid="26" grpId="0"/>
      <p:bldP spid="27" grpId="0"/>
      <p:bldP spid="28" grpId="0"/>
      <p:bldP spid="29" grpId="0"/>
      <p:bldP spid="33" grpId="0"/>
      <p:bldP spid="3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746</Words>
  <Application>Microsoft Office PowerPoint</Application>
  <PresentationFormat>Widescreen</PresentationFormat>
  <Paragraphs>97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HarrisdaleSHS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LEVITT Megan [Harrisdale Senior High School]</cp:lastModifiedBy>
  <cp:revision>47</cp:revision>
  <dcterms:created xsi:type="dcterms:W3CDTF">2020-12-09T06:24:59Z</dcterms:created>
  <dcterms:modified xsi:type="dcterms:W3CDTF">2021-07-02T06:43:47Z</dcterms:modified>
</cp:coreProperties>
</file>
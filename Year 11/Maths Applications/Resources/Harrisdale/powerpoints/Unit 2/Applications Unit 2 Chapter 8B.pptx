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9/09/2021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What’s my rule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straight line with the rule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			has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𝑔𝑟𝑎𝑑𝑖𝑒𝑛𝑡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          			and	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𝑐𝑢𝑡𝑠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𝑝𝑜𝑖𝑛𝑡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(0,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blipFill>
                <a:blip r:embed="rId2"/>
                <a:stretch>
                  <a:fillRect l="-809" t="-32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741" y="1834550"/>
            <a:ext cx="4057043" cy="4768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3410" y="2271623"/>
            <a:ext cx="5382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This line has a gradient of 2</a:t>
            </a:r>
          </a:p>
          <a:p>
            <a:r>
              <a:rPr lang="en-AU" dirty="0" smtClean="0"/>
              <a:t>For each move of 1 to the right, the line rises by 2.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983409" y="3217653"/>
            <a:ext cx="538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 also cuts the y-axis at (0,1).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83409" y="4033919"/>
                <a:ext cx="53828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𝑇h𝑒𝑟𝑒𝑓𝑜𝑟𝑒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𝑒𝑞𝑢𝑎𝑡𝑖𝑜𝑛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𝑙𝑖𝑛𝑒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09" y="4033919"/>
                <a:ext cx="5382883" cy="646331"/>
              </a:xfrm>
              <a:prstGeom prst="rect">
                <a:avLst/>
              </a:prstGeom>
              <a:blipFill>
                <a:blip r:embed="rId4"/>
                <a:stretch>
                  <a:fillRect l="-340"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What’s my rule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straight line with the rule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			has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𝑔𝑟𝑎𝑑𝑖𝑒𝑛𝑡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          			and	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𝑐𝑢𝑡𝑠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𝑝𝑜𝑖𝑛𝑡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(0,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blipFill>
                <a:blip r:embed="rId2"/>
                <a:stretch>
                  <a:fillRect l="-809" t="-32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83410" y="2271623"/>
            <a:ext cx="5382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This line has a gradient of 2</a:t>
            </a:r>
          </a:p>
          <a:p>
            <a:r>
              <a:rPr lang="en-AU" dirty="0" smtClean="0"/>
              <a:t>For each move of 1 to the right, the line rises by 2.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983409" y="3217653"/>
            <a:ext cx="538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 also cuts the y-axis at (0,-2).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83409" y="4033919"/>
                <a:ext cx="53828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𝑇h𝑒𝑟𝑒𝑓𝑜𝑟𝑒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𝑒𝑞𝑢𝑎𝑡𝑖𝑜𝑛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𝑙𝑖𝑛𝑒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09" y="4033919"/>
                <a:ext cx="5382883" cy="646331"/>
              </a:xfrm>
              <a:prstGeom prst="rect">
                <a:avLst/>
              </a:prstGeom>
              <a:blipFill>
                <a:blip r:embed="rId3"/>
                <a:stretch>
                  <a:fillRect l="-340"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292" y="1752600"/>
            <a:ext cx="44862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2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What’s my rule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straight line with the rule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			has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𝑔𝑟𝑎𝑑𝑖𝑒𝑛𝑡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          			and	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𝑐𝑢𝑡𝑠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𝑝𝑜𝑖𝑛𝑡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(0,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blipFill>
                <a:blip r:embed="rId2"/>
                <a:stretch>
                  <a:fillRect l="-809" t="-32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83410" y="2271623"/>
            <a:ext cx="5382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This line has a gradient of -1.5</a:t>
            </a:r>
          </a:p>
          <a:p>
            <a:r>
              <a:rPr lang="en-AU" dirty="0" smtClean="0"/>
              <a:t>For each move of 1 to the right, the line drops by 1.5.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983409" y="3217653"/>
            <a:ext cx="538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 also cuts the y-axis at (0,3).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83409" y="4033919"/>
                <a:ext cx="53828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𝑇h𝑒𝑟𝑒𝑓𝑜𝑟𝑒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𝑒𝑞𝑢𝑎𝑡𝑖𝑜𝑛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𝑙𝑖𝑛𝑒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=−1.5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09" y="4033919"/>
                <a:ext cx="5382883" cy="646331"/>
              </a:xfrm>
              <a:prstGeom prst="rect">
                <a:avLst/>
              </a:prstGeom>
              <a:blipFill>
                <a:blip r:embed="rId3"/>
                <a:stretch>
                  <a:fillRect l="-340"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584" y="1742535"/>
            <a:ext cx="4059654" cy="502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9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19752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Table – Rule - Graph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straight line with the rule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			has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𝑔𝑟𝑎𝑑𝑖𝑒𝑛𝑡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 smtClean="0"/>
                  <a:t>          			and	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𝑐𝑢𝑡𝑠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𝑝𝑜𝑖𝑛𝑡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(0,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575094"/>
                <a:ext cx="11294853" cy="1477328"/>
              </a:xfrm>
              <a:prstGeom prst="rect">
                <a:avLst/>
              </a:prstGeom>
              <a:blipFill>
                <a:blip r:embed="rId2"/>
                <a:stretch>
                  <a:fillRect l="-809" t="-32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87" y="1939702"/>
            <a:ext cx="10847896" cy="431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7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66202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84030" y="575094"/>
            <a:ext cx="11294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For each of the following tables determine whether the relationship between the two variables is linear and, for any that are, determine the rule.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0" y="1827099"/>
            <a:ext cx="4965491" cy="903251"/>
          </a:xfrm>
          <a:prstGeom prst="rect">
            <a:avLst/>
          </a:prstGeom>
        </p:spPr>
      </p:pic>
      <p:sp>
        <p:nvSpPr>
          <p:cNvPr id="6" name="Curved Down Arrow 5"/>
          <p:cNvSpPr/>
          <p:nvPr/>
        </p:nvSpPr>
        <p:spPr>
          <a:xfrm>
            <a:off x="1253706" y="1604512"/>
            <a:ext cx="793630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52108" y="1302750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Curved Down Arrow 7"/>
          <p:cNvSpPr/>
          <p:nvPr/>
        </p:nvSpPr>
        <p:spPr>
          <a:xfrm>
            <a:off x="2002543" y="1614722"/>
            <a:ext cx="729154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6469" y="1280726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0" name="Curved Down Arrow 9"/>
          <p:cNvSpPr/>
          <p:nvPr/>
        </p:nvSpPr>
        <p:spPr>
          <a:xfrm>
            <a:off x="2713004" y="1568935"/>
            <a:ext cx="703054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63967" y="126056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3372921" y="1572487"/>
            <a:ext cx="708805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9635" y="1258489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Curved Up Arrow 14"/>
          <p:cNvSpPr/>
          <p:nvPr/>
        </p:nvSpPr>
        <p:spPr>
          <a:xfrm>
            <a:off x="1220632" y="2732967"/>
            <a:ext cx="781911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5977" y="303776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Curved Up Arrow 16"/>
          <p:cNvSpPr/>
          <p:nvPr/>
        </p:nvSpPr>
        <p:spPr>
          <a:xfrm>
            <a:off x="1951007" y="2754991"/>
            <a:ext cx="761997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88315" y="303776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Curved Up Arrow 18"/>
          <p:cNvSpPr/>
          <p:nvPr/>
        </p:nvSpPr>
        <p:spPr>
          <a:xfrm>
            <a:off x="2632492" y="2790327"/>
            <a:ext cx="740430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33281" y="3059791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1" name="Curved Up Arrow 20"/>
          <p:cNvSpPr/>
          <p:nvPr/>
        </p:nvSpPr>
        <p:spPr>
          <a:xfrm>
            <a:off x="3249282" y="2811262"/>
            <a:ext cx="805126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05649" y="309512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84030" y="3829236"/>
                <a:ext cx="538288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𝑑𝑖𝑓𝑓𝑒𝑟𝑒𝑛𝑐𝑒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𝑝𝑎𝑡𝑡𝑒𝑟𝑛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𝑒𝑞𝑢𝑎𝑡𝑖𝑜𝑛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𝑙𝑖𝑛𝑒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𝑙𝑖𝑛𝑒𝑎𝑟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To fit the tabulated date the rule must be</a:t>
                </a: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0" y="3829236"/>
                <a:ext cx="5382883" cy="2308324"/>
              </a:xfrm>
              <a:prstGeom prst="rect">
                <a:avLst/>
              </a:prstGeom>
              <a:blipFill>
                <a:blip r:embed="rId3"/>
                <a:stretch>
                  <a:fillRect l="-906" b="-2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rved Down Arrow 24"/>
          <p:cNvSpPr/>
          <p:nvPr/>
        </p:nvSpPr>
        <p:spPr>
          <a:xfrm>
            <a:off x="6750166" y="1604512"/>
            <a:ext cx="793630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48568" y="1302750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Curved Down Arrow 26"/>
          <p:cNvSpPr/>
          <p:nvPr/>
        </p:nvSpPr>
        <p:spPr>
          <a:xfrm>
            <a:off x="7499003" y="1614722"/>
            <a:ext cx="729154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32929" y="1280726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9" name="Curved Down Arrow 28"/>
          <p:cNvSpPr/>
          <p:nvPr/>
        </p:nvSpPr>
        <p:spPr>
          <a:xfrm>
            <a:off x="8209464" y="1568935"/>
            <a:ext cx="703054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60427" y="126056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1" name="Curved Down Arrow 30"/>
          <p:cNvSpPr/>
          <p:nvPr/>
        </p:nvSpPr>
        <p:spPr>
          <a:xfrm>
            <a:off x="8869381" y="1572487"/>
            <a:ext cx="708805" cy="3105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26095" y="1258489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3" name="Curved Up Arrow 32"/>
          <p:cNvSpPr/>
          <p:nvPr/>
        </p:nvSpPr>
        <p:spPr>
          <a:xfrm>
            <a:off x="6717092" y="2732967"/>
            <a:ext cx="781911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82437" y="303776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7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5" name="Curved Up Arrow 34"/>
          <p:cNvSpPr/>
          <p:nvPr/>
        </p:nvSpPr>
        <p:spPr>
          <a:xfrm>
            <a:off x="7447467" y="2754991"/>
            <a:ext cx="761997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84775" y="303776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9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7" name="Curved Up Arrow 36"/>
          <p:cNvSpPr/>
          <p:nvPr/>
        </p:nvSpPr>
        <p:spPr>
          <a:xfrm>
            <a:off x="8128952" y="2790327"/>
            <a:ext cx="740430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29741" y="3059791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9" name="Curved Up Arrow 38"/>
          <p:cNvSpPr/>
          <p:nvPr/>
        </p:nvSpPr>
        <p:spPr>
          <a:xfrm>
            <a:off x="8745742" y="2811262"/>
            <a:ext cx="805126" cy="304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02109" y="3095127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680490" y="3829236"/>
                <a:ext cx="53828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𝑑𝑖𝑓𝑓𝑒𝑟𝑒𝑛𝑐𝑒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𝑝𝑎𝑡𝑡𝑒𝑟𝑛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</m:oMath>
                  </m:oMathPara>
                </a14:m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𝑡h𝑢𝑠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𝑙𝑖𝑛𝑒𝑎𝑟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𝑟𝑒𝑙𝑎𝑡𝑖𝑜𝑛𝑠h𝑖𝑝</m:t>
                      </m:r>
                    </m:oMath>
                  </m:oMathPara>
                </a14:m>
                <a:endParaRPr lang="en-AU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490" y="3829236"/>
                <a:ext cx="5382883" cy="646331"/>
              </a:xfrm>
              <a:prstGeom prst="rect">
                <a:avLst/>
              </a:prstGeom>
              <a:blipFill>
                <a:blip r:embed="rId4"/>
                <a:stretch>
                  <a:fillRect b="-84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058" y="1907112"/>
            <a:ext cx="4946441" cy="91760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849478" y="122531"/>
            <a:ext cx="327947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Exercise 8B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179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Image result for coordin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47" y="923596"/>
            <a:ext cx="5370889" cy="552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18344"/>
            <a:ext cx="10515600" cy="929187"/>
          </a:xfrm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 smtClean="0"/>
              <a:t>Name the following lines: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778597" y="887946"/>
            <a:ext cx="9796" cy="473877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399831" y="930898"/>
            <a:ext cx="9796" cy="473877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967980" y="923596"/>
            <a:ext cx="9796" cy="473877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325482" y="408456"/>
            <a:ext cx="10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</a:rPr>
              <a:t>x</a:t>
            </a:r>
            <a:r>
              <a:rPr lang="en-AU" sz="2400" b="1" dirty="0" smtClean="0">
                <a:solidFill>
                  <a:schemeClr val="accent1"/>
                </a:solidFill>
              </a:rPr>
              <a:t> = -3</a:t>
            </a:r>
            <a:endParaRPr lang="en-AU" sz="2400" b="1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7392" y="433583"/>
            <a:ext cx="10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x</a:t>
            </a:r>
            <a:r>
              <a:rPr lang="en-AU" sz="2400" b="1" dirty="0" smtClean="0">
                <a:solidFill>
                  <a:srgbClr val="FF0000"/>
                </a:solidFill>
              </a:rPr>
              <a:t> = -6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4669" y="433584"/>
            <a:ext cx="10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x</a:t>
            </a:r>
            <a:r>
              <a:rPr lang="en-AU" sz="2400" b="1" dirty="0" smtClean="0">
                <a:solidFill>
                  <a:srgbClr val="00B050"/>
                </a:solidFill>
              </a:rPr>
              <a:t> = 3</a:t>
            </a:r>
            <a:endParaRPr lang="en-AU" sz="2400" b="1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65" y="6357858"/>
            <a:ext cx="61015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0000CC"/>
                </a:solidFill>
              </a:rPr>
              <a:t>The gradient of </a:t>
            </a:r>
            <a:r>
              <a:rPr lang="en-AU" sz="2400" dirty="0" smtClean="0">
                <a:solidFill>
                  <a:srgbClr val="0000CC"/>
                </a:solidFill>
              </a:rPr>
              <a:t>these graphs </a:t>
            </a:r>
            <a:r>
              <a:rPr lang="en-AU" sz="2400" dirty="0" smtClean="0">
                <a:solidFill>
                  <a:srgbClr val="0000CC"/>
                </a:solidFill>
              </a:rPr>
              <a:t>are</a:t>
            </a:r>
            <a:r>
              <a:rPr lang="en-AU" sz="2400" dirty="0" smtClean="0">
                <a:solidFill>
                  <a:srgbClr val="0000CC"/>
                </a:solidFill>
              </a:rPr>
              <a:t> </a:t>
            </a:r>
            <a:r>
              <a:rPr lang="en-AU" sz="2400" dirty="0" smtClean="0">
                <a:solidFill>
                  <a:srgbClr val="0000CC"/>
                </a:solidFill>
              </a:rPr>
              <a:t>undefined</a:t>
            </a:r>
            <a:endParaRPr lang="en-AU" sz="2400" dirty="0">
              <a:solidFill>
                <a:srgbClr val="0000CC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0" y="0"/>
            <a:ext cx="226012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Vertical Graphs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9774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2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18344"/>
            <a:ext cx="10515600" cy="929187"/>
          </a:xfrm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 smtClean="0"/>
              <a:t>Name the following lines:</a:t>
            </a:r>
          </a:p>
        </p:txBody>
      </p:sp>
      <p:pic>
        <p:nvPicPr>
          <p:cNvPr id="27" name="Picture 2" descr="Image result for coordin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726" y="692757"/>
            <a:ext cx="5147944" cy="529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>
            <a:off x="5023400" y="4195485"/>
            <a:ext cx="505627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1062" y="2586010"/>
            <a:ext cx="5009272" cy="19594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70398" y="4712442"/>
            <a:ext cx="5009272" cy="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0183648" y="3986833"/>
            <a:ext cx="10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chemeClr val="accent1"/>
                </a:solidFill>
              </a:rPr>
              <a:t>y = -3</a:t>
            </a:r>
            <a:endParaRPr lang="en-AU" sz="2400" b="1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23311" y="4492006"/>
            <a:ext cx="10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y = -5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183648" y="2374771"/>
            <a:ext cx="10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00B050"/>
                </a:solidFill>
              </a:rPr>
              <a:t>y = 3</a:t>
            </a:r>
            <a:endParaRPr lang="en-AU" sz="2400" b="1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65" y="6357858"/>
            <a:ext cx="61015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0000CC"/>
                </a:solidFill>
              </a:rPr>
              <a:t>The gradient of </a:t>
            </a:r>
            <a:r>
              <a:rPr lang="en-AU" sz="2400" dirty="0" smtClean="0">
                <a:solidFill>
                  <a:srgbClr val="0000CC"/>
                </a:solidFill>
              </a:rPr>
              <a:t>these graphs </a:t>
            </a:r>
            <a:r>
              <a:rPr lang="en-AU" sz="2400" dirty="0" smtClean="0">
                <a:solidFill>
                  <a:srgbClr val="0000CC"/>
                </a:solidFill>
              </a:rPr>
              <a:t>are</a:t>
            </a:r>
            <a:r>
              <a:rPr lang="en-AU" sz="2400" dirty="0" smtClean="0">
                <a:solidFill>
                  <a:srgbClr val="0000CC"/>
                </a:solidFill>
              </a:rPr>
              <a:t> zero</a:t>
            </a:r>
            <a:endParaRPr lang="en-AU" sz="2400" dirty="0">
              <a:solidFill>
                <a:srgbClr val="0000CC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0"/>
            <a:ext cx="322627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Horizontal Graphs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1809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2" grpId="0"/>
      <p:bldP spid="18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501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Name the following lines:</vt:lpstr>
      <vt:lpstr>Name the following lines: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58</cp:revision>
  <dcterms:created xsi:type="dcterms:W3CDTF">2020-12-09T06:24:59Z</dcterms:created>
  <dcterms:modified xsi:type="dcterms:W3CDTF">2021-09-09T06:48:38Z</dcterms:modified>
</cp:coreProperties>
</file>
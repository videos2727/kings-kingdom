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81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13/08/2021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5332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13/08/2021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1425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13/08/2021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9000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13/08/2021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126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13/08/2021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6612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13/08/2021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6967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13/08/2021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0264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13/08/2021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8241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13/08/2021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6928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13/08/2021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9306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13/08/2021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0192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0A132-FF45-4605-9BB8-80702934D916}" type="datetimeFigureOut">
              <a:rPr lang="en-AU" smtClean="0"/>
              <a:t>13/08/2021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218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1548309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5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51465" y="600250"/>
            <a:ext cx="10944751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Jack has saved $28 more than Jill. Between them they have saved $154. </a:t>
            </a:r>
          </a:p>
          <a:p>
            <a:r>
              <a:rPr lang="en-AU" sz="2200" dirty="0" smtClean="0"/>
              <a:t>How much has each person saved?</a:t>
            </a:r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51465" y="1435817"/>
                <a:ext cx="10944751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/>
                  <a:t>Let the amount Jack has saved be </a:t>
                </a:r>
                <a14:m>
                  <m:oMath xmlns:m="http://schemas.openxmlformats.org/officeDocument/2006/math">
                    <m:r>
                      <a:rPr lang="en-AU" sz="2200" b="0" i="0" smtClean="0">
                        <a:latin typeface="Cambria Math" panose="02040503050406030204" pitchFamily="18" charset="0"/>
                      </a:rPr>
                      <m:t>$ 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sz="2200" b="0" dirty="0" smtClean="0"/>
              </a:p>
              <a:p>
                <a:endParaRPr lang="en-AU" sz="2200" dirty="0" smtClean="0"/>
              </a:p>
              <a:p>
                <a:r>
                  <a:rPr lang="en-AU" sz="2200" dirty="0" smtClean="0"/>
                  <a:t>Then Jill has saved 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$ (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−28)</m:t>
                    </m:r>
                  </m:oMath>
                </a14:m>
                <a:endParaRPr lang="en-AU" sz="2200" b="0" dirty="0" smtClean="0"/>
              </a:p>
              <a:p>
                <a:endParaRPr lang="en-AU" sz="2200" dirty="0" smtClean="0"/>
              </a:p>
              <a:p>
                <a:r>
                  <a:rPr lang="en-AU" sz="2200" dirty="0" smtClean="0"/>
                  <a:t>And between the two of them they have saved 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$ </m:t>
                    </m:r>
                    <m:d>
                      <m:dPr>
                        <m:ctrlPr>
                          <a:rPr lang="en-AU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2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2200" b="0" i="1" smtClean="0">
                            <a:latin typeface="Cambria Math" panose="02040503050406030204" pitchFamily="18" charset="0"/>
                          </a:rPr>
                          <m:t>−28</m:t>
                        </m:r>
                      </m:e>
                    </m:d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=154</m:t>
                    </m:r>
                  </m:oMath>
                </a14:m>
                <a:endParaRPr lang="en-AU" sz="2200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65" y="1435817"/>
                <a:ext cx="10944751" cy="2062103"/>
              </a:xfrm>
              <a:prstGeom prst="rect">
                <a:avLst/>
              </a:prstGeom>
              <a:blipFill>
                <a:blip r:embed="rId2"/>
                <a:stretch>
                  <a:fillRect l="-724" t="-20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42240" y="3602648"/>
                <a:ext cx="237482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−28=154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240" y="3602648"/>
                <a:ext cx="2374823" cy="430887"/>
              </a:xfrm>
              <a:prstGeom prst="rect">
                <a:avLst/>
              </a:prstGeom>
              <a:blipFill>
                <a:blip r:embed="rId3"/>
                <a:stretch>
                  <a:fillRect l="-2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46146" y="4332859"/>
                <a:ext cx="237482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=182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146" y="4332859"/>
                <a:ext cx="2374823" cy="430887"/>
              </a:xfrm>
              <a:prstGeom prst="rect">
                <a:avLst/>
              </a:prstGeom>
              <a:blipFill>
                <a:blip r:embed="rId4"/>
                <a:stretch>
                  <a:fillRect l="-2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46145" y="5063070"/>
                <a:ext cx="237482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=91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145" y="5063070"/>
                <a:ext cx="2374823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151465" y="4003496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+28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352851" y="3991084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+28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6364" y="4890816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/2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47750" y="4878404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/2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76383" y="3602647"/>
            <a:ext cx="59688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Jack has saved $91 and Jill has saved $63.</a:t>
            </a:r>
            <a:endParaRPr lang="en-AU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807612" y="1435817"/>
                <a:ext cx="112196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=91</m:t>
                      </m:r>
                    </m:oMath>
                  </m:oMathPara>
                </a14:m>
                <a:endParaRPr lang="en-AU" sz="2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612" y="1435817"/>
                <a:ext cx="1121963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689804" y="2068730"/>
                <a:ext cx="196343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−28=63</m:t>
                      </m:r>
                    </m:oMath>
                  </m:oMathPara>
                </a14:m>
                <a:endParaRPr lang="en-AU" sz="2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9804" y="2068730"/>
                <a:ext cx="1963437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9359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5" grpId="0"/>
      <p:bldP spid="15" grpId="0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" y="0"/>
            <a:ext cx="152587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6</a:t>
            </a:r>
            <a:endParaRPr lang="en-A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151465" y="600250"/>
            <a:ext cx="10944751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Rosie is 8 years older than Josie. In six years time, Rosie will be twice as old as Josie. </a:t>
            </a:r>
          </a:p>
          <a:p>
            <a:r>
              <a:rPr lang="en-AU" sz="2200" dirty="0" smtClean="0"/>
              <a:t>How old is Josie now?</a:t>
            </a:r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51464" y="1441426"/>
                <a:ext cx="10944751" cy="27392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/>
                  <a:t>Let Josie be 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200" b="0" dirty="0" smtClean="0"/>
                  <a:t>years old. Rosie is currently </a:t>
                </a:r>
                <a14:m>
                  <m:oMath xmlns:m="http://schemas.openxmlformats.org/officeDocument/2006/math">
                    <m:r>
                      <a:rPr lang="en-AU" sz="22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+8)</m:t>
                    </m:r>
                  </m:oMath>
                </a14:m>
                <a:r>
                  <a:rPr lang="en-AU" sz="2200" b="0" dirty="0" smtClean="0"/>
                  <a:t> years old.</a:t>
                </a:r>
              </a:p>
              <a:p>
                <a:endParaRPr lang="en-AU" sz="2200" dirty="0"/>
              </a:p>
              <a:p>
                <a:r>
                  <a:rPr lang="en-AU" sz="2200" b="0" dirty="0" smtClean="0"/>
                  <a:t>In 6 years time, Josie will be </a:t>
                </a:r>
                <a14:m>
                  <m:oMath xmlns:m="http://schemas.openxmlformats.org/officeDocument/2006/math">
                    <m:r>
                      <a:rPr lang="en-AU" sz="22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+6)</m:t>
                    </m:r>
                  </m:oMath>
                </a14:m>
                <a:r>
                  <a:rPr lang="en-AU" sz="2200" b="0" dirty="0" smtClean="0"/>
                  <a:t> and Rosie will be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2200" b="0" i="1" smtClean="0">
                            <a:latin typeface="Cambria Math" panose="02040503050406030204" pitchFamily="18" charset="0"/>
                          </a:rPr>
                          <m:t>+8+6</m:t>
                        </m:r>
                      </m:e>
                    </m:d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200" b="0" dirty="0" smtClean="0"/>
                  <a:t>or 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+14)</m:t>
                    </m:r>
                  </m:oMath>
                </a14:m>
                <a:r>
                  <a:rPr lang="en-AU" sz="2200" b="0" dirty="0" smtClean="0"/>
                  <a:t> years old.</a:t>
                </a:r>
              </a:p>
              <a:p>
                <a:endParaRPr lang="en-AU" sz="22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+14=2(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+6)</m:t>
                      </m:r>
                    </m:oMath>
                  </m:oMathPara>
                </a14:m>
                <a:endParaRPr lang="en-AU" sz="2200" dirty="0" smtClean="0"/>
              </a:p>
              <a:p>
                <a:endParaRPr lang="en-AU" sz="2200" dirty="0"/>
              </a:p>
              <a:p>
                <a:r>
                  <a:rPr lang="en-AU" sz="2200" dirty="0" smtClean="0"/>
                  <a:t>   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+14=2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+12</m:t>
                    </m:r>
                  </m:oMath>
                </a14:m>
                <a:endParaRPr lang="en-AU" sz="2200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64" y="1441426"/>
                <a:ext cx="10944751" cy="2739211"/>
              </a:xfrm>
              <a:prstGeom prst="rect">
                <a:avLst/>
              </a:prstGeom>
              <a:blipFill>
                <a:blip r:embed="rId2"/>
                <a:stretch>
                  <a:fillRect l="-724" t="-1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62936" y="4080818"/>
                <a:ext cx="237482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4=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+12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936" y="4080818"/>
                <a:ext cx="2374823" cy="430887"/>
              </a:xfrm>
              <a:prstGeom prst="rect">
                <a:avLst/>
              </a:prstGeom>
              <a:blipFill>
                <a:blip r:embed="rId3"/>
                <a:stretch>
                  <a:fillRect l="-2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-27112" y="3896152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-x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82343" y="3842082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-x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46145" y="4711671"/>
                <a:ext cx="237482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2=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145" y="4711671"/>
                <a:ext cx="2374823" cy="430887"/>
              </a:xfrm>
              <a:prstGeom prst="rect">
                <a:avLst/>
              </a:prstGeom>
              <a:blipFill>
                <a:blip r:embed="rId4"/>
                <a:stretch>
                  <a:fillRect l="-2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246364" y="4539417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-12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447750" y="4527005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-12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545404" y="3465265"/>
            <a:ext cx="5879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Josie is currently 2 years old.</a:t>
            </a: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1475585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1548309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7</a:t>
            </a:r>
            <a:endParaRPr lang="en-A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151465" y="600250"/>
            <a:ext cx="10944751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A drama group hire a theatre for their play. They expect to sell all 1200 tickets at a price of either $10 or $7. They need to cover their $4150 production costs, donate $4000 to charity and make a profit of $1000. </a:t>
            </a:r>
          </a:p>
          <a:p>
            <a:r>
              <a:rPr lang="en-AU" sz="2200" dirty="0" smtClean="0"/>
              <a:t>If they want to make enough money exactly, how many of the total 1200 tickets should they charge at $10 and how many at $7</a:t>
            </a:r>
            <a:r>
              <a:rPr lang="en-AU" sz="2200" dirty="0" smtClean="0"/>
              <a:t>?</a:t>
            </a:r>
          </a:p>
          <a:p>
            <a:endParaRPr lang="en-AU" sz="2200" dirty="0"/>
          </a:p>
          <a:p>
            <a:r>
              <a:rPr lang="en-AU" sz="2200" dirty="0" smtClean="0"/>
              <a:t>The total number of $7 and $10 tickets will be 1200.</a:t>
            </a:r>
          </a:p>
          <a:p>
            <a:r>
              <a:rPr lang="en-AU" sz="2200" dirty="0" smtClean="0"/>
              <a:t>They need to make $9150 in total.</a:t>
            </a:r>
            <a:endParaRPr lang="en-AU" sz="2200" dirty="0" smtClean="0"/>
          </a:p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151465" y="3678016"/>
                <a:ext cx="8521310" cy="1785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/>
                  <a:t>If the number of $7 tickets is 		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sz="2200" dirty="0" smtClean="0"/>
              </a:p>
              <a:p>
                <a:r>
                  <a:rPr lang="en-AU" sz="2200" dirty="0" smtClean="0"/>
                  <a:t>They will give an income of 		$  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sz="2200" dirty="0" smtClean="0"/>
              </a:p>
              <a:p>
                <a:endParaRPr lang="en-AU" sz="2200" dirty="0"/>
              </a:p>
              <a:p>
                <a:r>
                  <a:rPr lang="en-AU" sz="2200" dirty="0" smtClean="0"/>
                  <a:t>The number of $10 tickets will be 	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1200−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sz="2200" dirty="0" smtClean="0"/>
              </a:p>
              <a:p>
                <a:r>
                  <a:rPr lang="en-AU" sz="2200" dirty="0" smtClean="0"/>
                  <a:t>They will give an income of	           $  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10</m:t>
                    </m:r>
                    <m:d>
                      <m:dPr>
                        <m:ctrlPr>
                          <a:rPr lang="en-AU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200" b="0" i="1" smtClean="0">
                            <a:latin typeface="Cambria Math" panose="02040503050406030204" pitchFamily="18" charset="0"/>
                          </a:rPr>
                          <m:t>1200−</m:t>
                        </m:r>
                        <m:r>
                          <a:rPr lang="en-AU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AU" sz="2200" dirty="0" smtClean="0"/>
                  <a:t> </a:t>
                </a:r>
                <a:endParaRPr lang="en-AU" sz="22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65" y="3678016"/>
                <a:ext cx="8521310" cy="1785104"/>
              </a:xfrm>
              <a:prstGeom prst="rect">
                <a:avLst/>
              </a:prstGeom>
              <a:blipFill>
                <a:blip r:embed="rId2"/>
                <a:stretch>
                  <a:fillRect l="-930" t="-2048" b="-6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7668312" y="3177555"/>
                <a:ext cx="374735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+10</m:t>
                      </m:r>
                      <m:d>
                        <m:dPr>
                          <m:ctrlPr>
                            <a:rPr lang="en-AU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1200−</m:t>
                          </m:r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=9150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8312" y="3177555"/>
                <a:ext cx="3747356" cy="430887"/>
              </a:xfrm>
              <a:prstGeom prst="rect">
                <a:avLst/>
              </a:prstGeom>
              <a:blipFill>
                <a:blip r:embed="rId3"/>
                <a:stretch>
                  <a:fillRect l="-16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668312" y="3747590"/>
                <a:ext cx="374735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+12000−10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=9150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8312" y="3747590"/>
                <a:ext cx="3747356" cy="430887"/>
              </a:xfrm>
              <a:prstGeom prst="rect">
                <a:avLst/>
              </a:prstGeom>
              <a:blipFill>
                <a:blip r:embed="rId4"/>
                <a:stretch>
                  <a:fillRect l="-16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7668312" y="4294882"/>
                <a:ext cx="374735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12000−3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=9150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8312" y="4294882"/>
                <a:ext cx="3747356" cy="430887"/>
              </a:xfrm>
              <a:prstGeom prst="rect">
                <a:avLst/>
              </a:prstGeom>
              <a:blipFill>
                <a:blip r:embed="rId5"/>
                <a:stretch>
                  <a:fillRect l="-16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6905683" y="4641453"/>
            <a:ext cx="1334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-12000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122912" y="4641453"/>
            <a:ext cx="1141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-12000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8010818" y="5010785"/>
                <a:ext cx="374735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=−2850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0818" y="5010785"/>
                <a:ext cx="3747356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7354163" y="5394859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/-</a:t>
            </a:r>
            <a:r>
              <a:rPr lang="en-AU" dirty="0">
                <a:solidFill>
                  <a:srgbClr val="FF0000"/>
                </a:solidFill>
              </a:rPr>
              <a:t>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122912" y="5394859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/-3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8249234" y="5635134"/>
                <a:ext cx="374735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=950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9234" y="5635134"/>
                <a:ext cx="3747356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-213173" y="5635134"/>
            <a:ext cx="67934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200" dirty="0" smtClean="0"/>
              <a:t>The group should sell 950 tickets at $7 each and the remaining 250 tickets at $10 each.</a:t>
            </a:r>
            <a:endParaRPr lang="en-AU" sz="2200" dirty="0"/>
          </a:p>
        </p:txBody>
      </p:sp>
      <p:sp>
        <p:nvSpPr>
          <p:cNvPr id="16" name="TextBox 15"/>
          <p:cNvSpPr txBox="1"/>
          <p:nvPr/>
        </p:nvSpPr>
        <p:spPr>
          <a:xfrm>
            <a:off x="2409416" y="0"/>
            <a:ext cx="2706736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Now do Exercise 7C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791620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13" grpId="0"/>
      <p:bldP spid="6" grpId="0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442</Words>
  <Application>Microsoft Office PowerPoint</Application>
  <PresentationFormat>Widescreen</PresentationFormat>
  <Paragraphs>57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Company>HarrisdaleSHS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teacher</dc:creator>
  <cp:lastModifiedBy>LEVITT Megan [Harrisdale Senior High School]</cp:lastModifiedBy>
  <cp:revision>44</cp:revision>
  <dcterms:created xsi:type="dcterms:W3CDTF">2020-12-09T06:24:59Z</dcterms:created>
  <dcterms:modified xsi:type="dcterms:W3CDTF">2021-08-13T04:54:12Z</dcterms:modified>
</cp:coreProperties>
</file>
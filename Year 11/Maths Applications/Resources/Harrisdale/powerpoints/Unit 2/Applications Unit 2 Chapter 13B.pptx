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0" r:id="rId4"/>
    <p:sldId id="265" r:id="rId5"/>
    <p:sldId id="261" r:id="rId6"/>
    <p:sldId id="266" r:id="rId7"/>
    <p:sldId id="264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27/07/2021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6534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Normal Distribution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247" y="1550089"/>
            <a:ext cx="3327853" cy="35492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636" y="633909"/>
            <a:ext cx="819594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diastolic blood pressure of a large number of adults was measured and the mean value was found to be 75mm of mercury (the unit blood pressure is measured in).</a:t>
            </a:r>
          </a:p>
          <a:p>
            <a:endParaRPr lang="en-AU" sz="2200" dirty="0" smtClean="0"/>
          </a:p>
          <a:p>
            <a:r>
              <a:rPr lang="en-AU" sz="2200" dirty="0" smtClean="0"/>
              <a:t>The data, presented as a histogram, has a fairly symmetrical shape.</a:t>
            </a:r>
          </a:p>
          <a:p>
            <a:r>
              <a:rPr lang="en-AU" sz="2200" dirty="0" smtClean="0"/>
              <a:t>Many values are close to the mean and the number of values decreases as we move either direction from the mean.</a:t>
            </a:r>
          </a:p>
          <a:p>
            <a:r>
              <a:rPr lang="en-AU" sz="2200" dirty="0" smtClean="0"/>
              <a:t>Fitting a smooth curve to the midpoints of the columns gives us a bell shaped curve.</a:t>
            </a:r>
          </a:p>
          <a:p>
            <a:endParaRPr lang="en-AU" sz="2200" dirty="0"/>
          </a:p>
          <a:p>
            <a:r>
              <a:rPr lang="en-AU" sz="2200" dirty="0" smtClean="0"/>
              <a:t>If we collect lots of data about something that occurs naturally and draw a histogram of the results, it would often follow this bell shaped curve.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The heights of adult females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T</a:t>
            </a:r>
            <a:r>
              <a:rPr lang="en-AU" sz="2200" dirty="0" smtClean="0"/>
              <a:t>he weights of pet cats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The resting heart rates of 30 year 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/>
              <a:t>T</a:t>
            </a:r>
            <a:r>
              <a:rPr lang="en-AU" sz="2200" dirty="0" smtClean="0"/>
              <a:t>he foot lengths of adult males etc. 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26534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Normal Distribution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4445"/>
            <a:ext cx="7362402" cy="1492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684" y="607895"/>
            <a:ext cx="109896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Data that follows this bell shape curve is said to be normally distributed.</a:t>
            </a:r>
          </a:p>
          <a:p>
            <a:pPr algn="ctr"/>
            <a:r>
              <a:rPr lang="en-AU" sz="2200" dirty="0" smtClean="0"/>
              <a:t>In normal distributions, around two-thirds of the data values lie within 1 standard deviation of the mean (either 1 above or 1 below), around 95% lies within 1 or 2 standard deviations of the mean and nearly all lie within 3 standard deviations of the mean.</a:t>
            </a:r>
            <a:endParaRPr lang="en-AU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246832" y="3420792"/>
            <a:ext cx="2179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68.3% of data fits into the shaded area</a:t>
            </a:r>
            <a:endParaRPr lang="en-A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632646" y="3420791"/>
            <a:ext cx="2179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95.4% of data fits into the shaded area</a:t>
            </a:r>
            <a:endParaRPr lang="en-A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062631" y="3420791"/>
            <a:ext cx="2179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/>
              <a:t>99.7% of data fits into the shaded area</a:t>
            </a:r>
            <a:endParaRPr lang="en-A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421870" y="2448845"/>
            <a:ext cx="68159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This is the 68%, 95%, 99.7% rule.</a:t>
            </a:r>
            <a:endParaRPr lang="en-AU" sz="2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07563" y="4067122"/>
            <a:ext cx="1145057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We can use this information to begin to discuss probabilities.</a:t>
            </a:r>
          </a:p>
          <a:p>
            <a:pPr algn="ctr"/>
            <a:r>
              <a:rPr lang="en-AU" sz="2200" dirty="0" smtClean="0"/>
              <a:t>If a data set is normally distributed, the probability of a person being within: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AU" sz="2200" dirty="0" smtClean="0"/>
              <a:t>One standard deviation of the mean is 0.683 or 683/1000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AU" sz="2200" dirty="0" smtClean="0"/>
              <a:t>Two standard deviations of the mean is 0.954 or 954/1000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AU" sz="2200" dirty="0" smtClean="0"/>
              <a:t>Three standard deviations of the mean is 0.997 or 997/1000</a:t>
            </a:r>
            <a:endParaRPr lang="en-AU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162684" y="5852226"/>
            <a:ext cx="11449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probability of someone being more than 3 standard deviations from the mean is therefore 0.003 or </a:t>
            </a:r>
            <a:r>
              <a:rPr lang="en-AU" sz="2200" b="1" dirty="0" smtClean="0"/>
              <a:t>3 in 1000 people</a:t>
            </a:r>
            <a:r>
              <a:rPr lang="en-AU" sz="2200" dirty="0" smtClean="0"/>
              <a:t>!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53734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8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1951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2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067" y="1926608"/>
            <a:ext cx="3765462" cy="1708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1760" y="587635"/>
            <a:ext cx="118202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box of cereal has ‘contains 500g of cereal’ printed on it. </a:t>
            </a:r>
          </a:p>
          <a:p>
            <a:r>
              <a:rPr lang="en-AU" sz="2200" dirty="0" smtClean="0"/>
              <a:t>The actual weight of cereal contained in the boxes is normally distributed with a mean of 512g and a standard deviation of 8g.</a:t>
            </a:r>
          </a:p>
          <a:p>
            <a:r>
              <a:rPr lang="en-AU" sz="2200" dirty="0" smtClean="0"/>
              <a:t>Determine the probability that a randomly chosen box of this cereal contains between 504g and 520g.</a:t>
            </a:r>
            <a:endParaRPr lang="en-AU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329453" y="2158253"/>
            <a:ext cx="78864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the mean is 512g and the standard deviation is 8g,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504g is exactly one standard deviation below the mean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520g is exactly one standard deviation above the mean.</a:t>
            </a:r>
            <a:endParaRPr lang="en-AU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329453" y="3551014"/>
            <a:ext cx="111579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For normally distributed data, the chance that a data point is within 1 standard deviation of the mean is 0.683 (using the 68%, 95%, 99.7% rule).</a:t>
            </a:r>
          </a:p>
          <a:p>
            <a:r>
              <a:rPr lang="en-AU" sz="2200" dirty="0" smtClean="0"/>
              <a:t>So the probability that the box of cereal weighs between 504g and 520g is 0.68 (to 2dp) or 68%.</a:t>
            </a:r>
            <a:endParaRPr lang="en-A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381468" y="4783078"/>
            <a:ext cx="11236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We can in fact work out the probability that the box of cereal is within any of the sections in the normal distribution curve.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151951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2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41760" y="587635"/>
            <a:ext cx="118202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box of cereal has ‘contains 500g of cereal’ printed on it. </a:t>
            </a:r>
          </a:p>
          <a:p>
            <a:r>
              <a:rPr lang="en-AU" sz="2200" dirty="0" smtClean="0"/>
              <a:t>The actual weight of cereal contained in the boxes is normally distributed with a mean of 512g and a standard deviation of 8g.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57" y="1535979"/>
            <a:ext cx="6529358" cy="2426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59828" y="3876382"/>
            <a:ext cx="56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512</a:t>
            </a:r>
            <a:endParaRPr lang="en-AU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132250" y="3876382"/>
            <a:ext cx="56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504</a:t>
            </a:r>
            <a:endParaRPr lang="en-A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478819" y="3876382"/>
            <a:ext cx="566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520</a:t>
            </a:r>
            <a:endParaRPr lang="en-A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484514" y="3876382"/>
            <a:ext cx="56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496</a:t>
            </a:r>
            <a:endParaRPr lang="en-A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122036" y="3876382"/>
            <a:ext cx="566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528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785622" y="3876382"/>
            <a:ext cx="566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488</a:t>
            </a:r>
            <a:endParaRPr lang="en-A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767079" y="3876382"/>
            <a:ext cx="566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536</a:t>
            </a:r>
            <a:endParaRPr lang="en-A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59028" y="4358827"/>
            <a:ext cx="113318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What is the probability a box of cereal weighs: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Between 488g and 536g (3 standard deviations of the mean so 0.997 or 99.7%)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Between 496g and 512g (13.6 + 34.1 = 47.7%)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Between 520g and 536g (13.6 + 2.1 = 15.7%)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Between 496g and 520g (13.6 + 34.1 + 34.1 = 81.8%)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200" dirty="0" smtClean="0"/>
              <a:t>Less than 500g????</a:t>
            </a:r>
            <a:endParaRPr lang="en-AU" sz="2200" dirty="0"/>
          </a:p>
        </p:txBody>
      </p:sp>
      <p:sp>
        <p:nvSpPr>
          <p:cNvPr id="17" name="TextBox 16"/>
          <p:cNvSpPr txBox="1"/>
          <p:nvPr/>
        </p:nvSpPr>
        <p:spPr>
          <a:xfrm>
            <a:off x="4929156" y="6051598"/>
            <a:ext cx="62325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Why can’t we do this using the same method?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94856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  <p:bldP spid="13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8539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3 – using a Class Pad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1760" y="587635"/>
            <a:ext cx="118202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box of cereal has ‘contains 500g of cereal’ printed on it. </a:t>
            </a:r>
          </a:p>
          <a:p>
            <a:r>
              <a:rPr lang="en-AU" sz="2200" dirty="0" smtClean="0"/>
              <a:t>The actual weight of cereal contained in the boxes is normally distributed with a mean of 512g and a standard deviation of 8g.</a:t>
            </a:r>
          </a:p>
          <a:p>
            <a:r>
              <a:rPr lang="en-AU" sz="2200" dirty="0" smtClean="0"/>
              <a:t>Determine the probability that a randomly chosen box of this cereal contains less than 500g.</a:t>
            </a:r>
          </a:p>
          <a:p>
            <a:r>
              <a:rPr lang="en-AU" sz="2200" dirty="0" smtClean="0"/>
              <a:t>In a sample of 100 boxes, about how many would contain less than 500g?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1760" y="2431391"/>
                <a:ext cx="1148890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We need to find the probability a box contains less than 500g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&lt;500</m:t>
                        </m:r>
                      </m:e>
                    </m:d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AU" sz="2200" b="0" dirty="0" smtClean="0">
                  <a:ea typeface="Cambria Math" panose="02040503050406030204" pitchFamily="18" charset="0"/>
                </a:endParaRPr>
              </a:p>
              <a:p>
                <a:r>
                  <a:rPr lang="en-AU" sz="2200" dirty="0" smtClean="0"/>
                  <a:t>We can use our Class Pads to give us this probability.</a:t>
                </a:r>
                <a:endParaRPr lang="en-AU" sz="2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0" y="2431391"/>
                <a:ext cx="11488903" cy="769441"/>
              </a:xfrm>
              <a:prstGeom prst="rect">
                <a:avLst/>
              </a:prstGeom>
              <a:blipFill>
                <a:blip r:embed="rId2"/>
                <a:stretch>
                  <a:fillRect l="-690" t="-5556" b="-150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609" y="3722298"/>
            <a:ext cx="2764272" cy="26968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2297"/>
            <a:ext cx="2556615" cy="2696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282" y="3670290"/>
            <a:ext cx="2469442" cy="27488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75358" y="4796393"/>
            <a:ext cx="217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Standard deviation</a:t>
            </a:r>
            <a:endParaRPr lang="en-A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891013" y="5165725"/>
            <a:ext cx="217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Mean</a:t>
            </a:r>
            <a:endParaRPr lang="en-AU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9875358" y="4292445"/>
            <a:ext cx="217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Highest amount</a:t>
            </a:r>
            <a:endParaRPr lang="en-AU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9891013" y="3879601"/>
            <a:ext cx="217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Lowest amount</a:t>
            </a:r>
            <a:endParaRPr lang="en-AU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8918" y="3670290"/>
            <a:ext cx="22479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853943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3 – using a Class Pad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241760" y="587635"/>
            <a:ext cx="118202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A box of cereal has ‘contains 500g of cereal’ printed on it. </a:t>
            </a:r>
          </a:p>
          <a:p>
            <a:r>
              <a:rPr lang="en-AU" sz="2200" dirty="0" smtClean="0"/>
              <a:t>The actual weight of cereal contained in the boxes is normally distributed with a mean of 512g and a standard deviation of 8g.</a:t>
            </a:r>
          </a:p>
          <a:p>
            <a:r>
              <a:rPr lang="en-AU" sz="2200" dirty="0" smtClean="0"/>
              <a:t>Determine the probability that a randomly chosen box of this cereal contains less than 500g.</a:t>
            </a:r>
          </a:p>
          <a:p>
            <a:r>
              <a:rPr lang="en-AU" sz="2200" dirty="0" smtClean="0"/>
              <a:t>In a sample of 100 boxes, about how many would contain less than 500g?</a:t>
            </a:r>
            <a:endParaRPr lang="en-AU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73" y="2613926"/>
            <a:ext cx="1958180" cy="20245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15" y="2613926"/>
            <a:ext cx="2433408" cy="209187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685" y="2613926"/>
            <a:ext cx="1515990" cy="202455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938" y="2617164"/>
            <a:ext cx="3548520" cy="208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1759" y="4953467"/>
            <a:ext cx="11639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probability that a box contains less than 500g is about 0.0668 or 0.07 (to 2dp).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1760" y="5537823"/>
                <a:ext cx="1163982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200" dirty="0" smtClean="0"/>
                  <a:t>In a sample of 100 boxes, we would expect about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0.0668 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×100=6.68 </m:t>
                    </m:r>
                  </m:oMath>
                </a14:m>
                <a:endParaRPr lang="en-AU" sz="2200" dirty="0" smtClean="0"/>
              </a:p>
              <a:p>
                <a:pPr algn="ctr"/>
                <a:r>
                  <a:rPr lang="en-AU" sz="2200" dirty="0" smtClean="0"/>
                  <a:t>or 7 boxes to contain less than 500g. </a:t>
                </a:r>
                <a:endParaRPr lang="en-AU" sz="2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0" y="5537823"/>
                <a:ext cx="11639829" cy="769441"/>
              </a:xfrm>
              <a:prstGeom prst="rect">
                <a:avLst/>
              </a:prstGeom>
              <a:blipFill>
                <a:blip r:embed="rId6"/>
                <a:stretch>
                  <a:fillRect t="-4724" b="-14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3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60642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 the land before time - using a book of tables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24" y="2194268"/>
            <a:ext cx="3514725" cy="1514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020" y="617080"/>
            <a:ext cx="8392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Before Class Pads were routinely used, the probabilities associated with normal distribution were determined using books of statistical tables. (This is how Miss Levitt learnt it in high school!)</a:t>
            </a:r>
            <a:endParaRPr lang="en-AU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833" y="230832"/>
            <a:ext cx="2747437" cy="1772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20" y="1809548"/>
            <a:ext cx="8392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statistical tables give probabilities for the standard normal distribution, where the mean is 0 and the standard deviation is 1.</a:t>
            </a:r>
            <a:endParaRPr lang="en-AU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152054" y="2666209"/>
            <a:ext cx="8392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In order to use the standard normal distribution, you had to standardise all your scores (x) first, using the formula from Exercise 13A, to create a standard score (z). 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2054" y="3778614"/>
                <a:ext cx="5643475" cy="795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𝑠𝑐𝑜𝑟𝑒𝑠</m:t>
                          </m:r>
                        </m:num>
                        <m:den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𝑠𝑡𝑎𝑛𝑑𝑎𝑟𝑑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𝑑𝑒𝑣𝑖𝑎𝑡𝑖𝑜𝑛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𝑠𝑐𝑜𝑟𝑒𝑠</m:t>
                          </m:r>
                        </m:den>
                      </m:f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54" y="3778614"/>
                <a:ext cx="5643475" cy="795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6882" y="4672853"/>
                <a:ext cx="11057294" cy="577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500 −512</m:t>
                        </m:r>
                      </m:num>
                      <m:den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=−1.5</m:t>
                    </m:r>
                  </m:oMath>
                </a14:m>
                <a:r>
                  <a:rPr lang="en-AU" sz="2200" dirty="0" smtClean="0"/>
                  <a:t>    (500g is 1.5 standard deviations below the mean)</a:t>
                </a:r>
                <a:endParaRPr lang="en-AU" sz="2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2" y="4672853"/>
                <a:ext cx="11057294" cy="577787"/>
              </a:xfrm>
              <a:prstGeom prst="rect">
                <a:avLst/>
              </a:prstGeom>
              <a:blipFill>
                <a:blip r:embed="rId5"/>
                <a:stretch>
                  <a:fillRect b="-9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19" y="5425276"/>
            <a:ext cx="6266983" cy="114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8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92687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More Probability Calculations</a:t>
            </a:r>
            <a:endParaRPr lang="en-AU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9" y="2819194"/>
            <a:ext cx="2275190" cy="155060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84" y="4259734"/>
            <a:ext cx="2219092" cy="41285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995" y="2722833"/>
            <a:ext cx="2220143" cy="16469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514" y="4213977"/>
            <a:ext cx="2050874" cy="42482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476" y="2774259"/>
            <a:ext cx="2370824" cy="169676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2726" y="4340400"/>
            <a:ext cx="2155188" cy="4528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419" y="608310"/>
            <a:ext cx="3281156" cy="211452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2077" y="608310"/>
            <a:ext cx="3353955" cy="221822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6386" y="614572"/>
            <a:ext cx="2791285" cy="22119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04418" y="0"/>
            <a:ext cx="2788344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13B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484" y="5332512"/>
            <a:ext cx="2571984" cy="8494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2642" y="4880662"/>
            <a:ext cx="2774746" cy="1753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36412" y="5203245"/>
            <a:ext cx="43924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We can also use the normal distribution formulas in our E-activity to do this.</a:t>
            </a:r>
            <a:endParaRPr lang="en-AU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126751" y="2475543"/>
            <a:ext cx="1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P(X&lt;15) = 0.933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56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1021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56</cp:revision>
  <dcterms:created xsi:type="dcterms:W3CDTF">2020-12-09T06:24:59Z</dcterms:created>
  <dcterms:modified xsi:type="dcterms:W3CDTF">2021-07-27T00:18:18Z</dcterms:modified>
</cp:coreProperties>
</file>
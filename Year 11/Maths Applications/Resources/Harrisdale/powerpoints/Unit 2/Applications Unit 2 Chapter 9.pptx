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5" autoAdjust="0"/>
    <p:restoredTop sz="94660"/>
  </p:normalViewPr>
  <p:slideViewPr>
    <p:cSldViewPr snapToGrid="0">
      <p:cViewPr varScale="1">
        <p:scale>
          <a:sx n="83" d="100"/>
          <a:sy n="83" d="100"/>
        </p:scale>
        <p:origin x="81"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9/09/2021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9/09/2021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9/09/2021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9/09/2021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9/09/2021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9/09/2021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9/09/2021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9/09/2021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9/09/2021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9/09/2021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9/09/2021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9/09/2021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227097" cy="461665"/>
          </a:xfrm>
          <a:prstGeom prst="rect">
            <a:avLst/>
          </a:prstGeom>
          <a:solidFill>
            <a:srgbClr val="FFFF00"/>
          </a:solidFill>
        </p:spPr>
        <p:txBody>
          <a:bodyPr wrap="square" rtlCol="0">
            <a:spAutoFit/>
          </a:bodyPr>
          <a:lstStyle/>
          <a:p>
            <a:r>
              <a:rPr lang="en-AU" sz="2400" dirty="0" smtClean="0"/>
              <a:t>Example 2</a:t>
            </a:r>
            <a:endParaRPr lang="en-AU" sz="2400" dirty="0"/>
          </a:p>
        </p:txBody>
      </p:sp>
      <p:sp>
        <p:nvSpPr>
          <p:cNvPr id="2" name="TextBox 1"/>
          <p:cNvSpPr txBox="1"/>
          <p:nvPr/>
        </p:nvSpPr>
        <p:spPr>
          <a:xfrm>
            <a:off x="184030" y="575094"/>
            <a:ext cx="11294853" cy="1846659"/>
          </a:xfrm>
          <a:prstGeom prst="rect">
            <a:avLst/>
          </a:prstGeom>
          <a:noFill/>
        </p:spPr>
        <p:txBody>
          <a:bodyPr wrap="square" rtlCol="0">
            <a:spAutoFit/>
          </a:bodyPr>
          <a:lstStyle/>
          <a:p>
            <a:r>
              <a:rPr lang="en-AU" sz="2400" dirty="0" smtClean="0"/>
              <a:t>The income tax system in Australia is what is known as a ‘progressive system’. This means that the rate of income tax increases as a person’s taxable income increases.</a:t>
            </a:r>
          </a:p>
          <a:p>
            <a:endParaRPr lang="en-AU" sz="2400" dirty="0" smtClean="0"/>
          </a:p>
          <a:p>
            <a:r>
              <a:rPr lang="en-AU" sz="2400" dirty="0" smtClean="0"/>
              <a:t>For this situation suppose that the following progressive system were to apply:</a:t>
            </a:r>
            <a:endParaRPr lang="en-AU" sz="2400" dirty="0"/>
          </a:p>
          <a:p>
            <a:r>
              <a:rPr lang="en-AU" dirty="0" smtClean="0"/>
              <a:t> </a:t>
            </a:r>
            <a:endParaRPr lang="en-AU" dirty="0"/>
          </a:p>
        </p:txBody>
      </p:sp>
      <p:pic>
        <p:nvPicPr>
          <p:cNvPr id="3" name="Picture 2"/>
          <p:cNvPicPr>
            <a:picLocks noChangeAspect="1"/>
          </p:cNvPicPr>
          <p:nvPr/>
        </p:nvPicPr>
        <p:blipFill>
          <a:blip r:embed="rId2"/>
          <a:stretch>
            <a:fillRect/>
          </a:stretch>
        </p:blipFill>
        <p:spPr>
          <a:xfrm>
            <a:off x="866818" y="2143480"/>
            <a:ext cx="6363689" cy="1739885"/>
          </a:xfrm>
          <a:prstGeom prst="rect">
            <a:avLst/>
          </a:prstGeom>
        </p:spPr>
      </p:pic>
      <p:pic>
        <p:nvPicPr>
          <p:cNvPr id="4" name="Picture 3"/>
          <p:cNvPicPr>
            <a:picLocks noChangeAspect="1"/>
          </p:cNvPicPr>
          <p:nvPr/>
        </p:nvPicPr>
        <p:blipFill>
          <a:blip r:embed="rId3"/>
          <a:stretch>
            <a:fillRect/>
          </a:stretch>
        </p:blipFill>
        <p:spPr>
          <a:xfrm>
            <a:off x="1532849" y="3990139"/>
            <a:ext cx="5697658" cy="2743741"/>
          </a:xfrm>
          <a:prstGeom prst="rect">
            <a:avLst/>
          </a:prstGeom>
        </p:spPr>
      </p:pic>
      <p:sp>
        <p:nvSpPr>
          <p:cNvPr id="6" name="TextBox 5"/>
          <p:cNvSpPr txBox="1"/>
          <p:nvPr/>
        </p:nvSpPr>
        <p:spPr>
          <a:xfrm>
            <a:off x="7556739" y="4548996"/>
            <a:ext cx="4520242" cy="954107"/>
          </a:xfrm>
          <a:prstGeom prst="rect">
            <a:avLst/>
          </a:prstGeom>
          <a:noFill/>
        </p:spPr>
        <p:txBody>
          <a:bodyPr wrap="square" rtlCol="0">
            <a:spAutoFit/>
          </a:bodyPr>
          <a:lstStyle/>
          <a:p>
            <a:r>
              <a:rPr lang="en-AU" sz="2800" dirty="0" smtClean="0"/>
              <a:t>Which graph best displays this situation?</a:t>
            </a:r>
            <a:endParaRPr lang="en-AU" dirty="0"/>
          </a:p>
        </p:txBody>
      </p:sp>
      <p:sp>
        <p:nvSpPr>
          <p:cNvPr id="10" name="Rounded Rectangle 9"/>
          <p:cNvSpPr/>
          <p:nvPr/>
        </p:nvSpPr>
        <p:spPr>
          <a:xfrm>
            <a:off x="5446143" y="5256362"/>
            <a:ext cx="1834551" cy="153550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393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227097" cy="461665"/>
          </a:xfrm>
          <a:prstGeom prst="rect">
            <a:avLst/>
          </a:prstGeom>
          <a:solidFill>
            <a:srgbClr val="FFFF00"/>
          </a:solidFill>
        </p:spPr>
        <p:txBody>
          <a:bodyPr wrap="square" rtlCol="0">
            <a:spAutoFit/>
          </a:bodyPr>
          <a:lstStyle/>
          <a:p>
            <a:r>
              <a:rPr lang="en-AU" sz="2400" dirty="0" smtClean="0"/>
              <a:t>Example 2</a:t>
            </a:r>
            <a:endParaRPr lang="en-AU" sz="2400" dirty="0"/>
          </a:p>
        </p:txBody>
      </p:sp>
      <p:sp>
        <p:nvSpPr>
          <p:cNvPr id="2" name="TextBox 1"/>
          <p:cNvSpPr txBox="1"/>
          <p:nvPr/>
        </p:nvSpPr>
        <p:spPr>
          <a:xfrm>
            <a:off x="184030" y="575094"/>
            <a:ext cx="11294853" cy="1846659"/>
          </a:xfrm>
          <a:prstGeom prst="rect">
            <a:avLst/>
          </a:prstGeom>
          <a:noFill/>
        </p:spPr>
        <p:txBody>
          <a:bodyPr wrap="square" rtlCol="0">
            <a:spAutoFit/>
          </a:bodyPr>
          <a:lstStyle/>
          <a:p>
            <a:r>
              <a:rPr lang="en-AU" sz="2400" dirty="0" smtClean="0"/>
              <a:t>To deliver a parcel from Town A to Town B a company charges $7.50 for the first kilogram, or part thereof, and then a further $2.50 per kilogram, or part thereof, after that. Thus a parcel weighing 0.56kg will cost $7.50, a parcel weighing 2.4 kilograms will cost $12.50, a parcel weighing 5.1 kilograms will cost $20:</a:t>
            </a:r>
            <a:endParaRPr lang="en-AU" sz="2400" dirty="0"/>
          </a:p>
          <a:p>
            <a:r>
              <a:rPr lang="en-AU" dirty="0" smtClean="0"/>
              <a:t> </a:t>
            </a:r>
            <a:endParaRPr lang="en-AU" dirty="0"/>
          </a:p>
        </p:txBody>
      </p:sp>
      <p:pic>
        <p:nvPicPr>
          <p:cNvPr id="4" name="Picture 3"/>
          <p:cNvPicPr>
            <a:picLocks noChangeAspect="1"/>
          </p:cNvPicPr>
          <p:nvPr/>
        </p:nvPicPr>
        <p:blipFill>
          <a:blip r:embed="rId2"/>
          <a:stretch>
            <a:fillRect/>
          </a:stretch>
        </p:blipFill>
        <p:spPr>
          <a:xfrm>
            <a:off x="1389075" y="2759362"/>
            <a:ext cx="5697658" cy="2743741"/>
          </a:xfrm>
          <a:prstGeom prst="rect">
            <a:avLst/>
          </a:prstGeom>
        </p:spPr>
      </p:pic>
      <p:sp>
        <p:nvSpPr>
          <p:cNvPr id="6" name="TextBox 5"/>
          <p:cNvSpPr txBox="1"/>
          <p:nvPr/>
        </p:nvSpPr>
        <p:spPr>
          <a:xfrm>
            <a:off x="7522233" y="3362004"/>
            <a:ext cx="4520242" cy="954107"/>
          </a:xfrm>
          <a:prstGeom prst="rect">
            <a:avLst/>
          </a:prstGeom>
          <a:noFill/>
        </p:spPr>
        <p:txBody>
          <a:bodyPr wrap="square" rtlCol="0">
            <a:spAutoFit/>
          </a:bodyPr>
          <a:lstStyle/>
          <a:p>
            <a:r>
              <a:rPr lang="en-AU" sz="2800" dirty="0" smtClean="0"/>
              <a:t>Which graph best displays this situation?</a:t>
            </a:r>
            <a:endParaRPr lang="en-AU" dirty="0"/>
          </a:p>
        </p:txBody>
      </p:sp>
      <p:sp>
        <p:nvSpPr>
          <p:cNvPr id="10" name="Rounded Rectangle 9"/>
          <p:cNvSpPr/>
          <p:nvPr/>
        </p:nvSpPr>
        <p:spPr>
          <a:xfrm>
            <a:off x="3320628" y="4119730"/>
            <a:ext cx="1834551" cy="153550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5895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227097" cy="461665"/>
          </a:xfrm>
          <a:prstGeom prst="rect">
            <a:avLst/>
          </a:prstGeom>
          <a:solidFill>
            <a:srgbClr val="FFFF00"/>
          </a:solidFill>
        </p:spPr>
        <p:txBody>
          <a:bodyPr wrap="square" rtlCol="0">
            <a:spAutoFit/>
          </a:bodyPr>
          <a:lstStyle/>
          <a:p>
            <a:r>
              <a:rPr lang="en-AU" sz="2400" dirty="0" smtClean="0"/>
              <a:t>Example 2</a:t>
            </a:r>
            <a:endParaRPr lang="en-AU" sz="2400" dirty="0"/>
          </a:p>
        </p:txBody>
      </p:sp>
      <p:sp>
        <p:nvSpPr>
          <p:cNvPr id="2" name="TextBox 1"/>
          <p:cNvSpPr txBox="1"/>
          <p:nvPr/>
        </p:nvSpPr>
        <p:spPr>
          <a:xfrm>
            <a:off x="184030" y="575094"/>
            <a:ext cx="11294853" cy="1846659"/>
          </a:xfrm>
          <a:prstGeom prst="rect">
            <a:avLst/>
          </a:prstGeom>
          <a:noFill/>
        </p:spPr>
        <p:txBody>
          <a:bodyPr wrap="square" rtlCol="0">
            <a:spAutoFit/>
          </a:bodyPr>
          <a:lstStyle/>
          <a:p>
            <a:r>
              <a:rPr lang="en-AU" sz="2400" dirty="0" smtClean="0"/>
              <a:t>John has bought a new racing bike and has sold his old one to Peter. Peter lives 12 kilometres from John’s house, along an almost straight road. John rides the bike to Peter’s house, stays there for 30 minutes having a chat with peter, and then walks back to his own home. He cycles at a steady 12km per hour and walks at a steady 6km per hour.</a:t>
            </a:r>
            <a:endParaRPr lang="en-AU" sz="2400" dirty="0"/>
          </a:p>
          <a:p>
            <a:r>
              <a:rPr lang="en-AU" dirty="0" smtClean="0"/>
              <a:t> </a:t>
            </a:r>
            <a:endParaRPr lang="en-AU" dirty="0"/>
          </a:p>
        </p:txBody>
      </p:sp>
      <p:pic>
        <p:nvPicPr>
          <p:cNvPr id="4" name="Picture 3"/>
          <p:cNvPicPr>
            <a:picLocks noChangeAspect="1"/>
          </p:cNvPicPr>
          <p:nvPr/>
        </p:nvPicPr>
        <p:blipFill>
          <a:blip r:embed="rId2"/>
          <a:stretch>
            <a:fillRect/>
          </a:stretch>
        </p:blipFill>
        <p:spPr>
          <a:xfrm>
            <a:off x="1389075" y="2759362"/>
            <a:ext cx="5697658" cy="2743741"/>
          </a:xfrm>
          <a:prstGeom prst="rect">
            <a:avLst/>
          </a:prstGeom>
        </p:spPr>
      </p:pic>
      <p:sp>
        <p:nvSpPr>
          <p:cNvPr id="6" name="TextBox 5"/>
          <p:cNvSpPr txBox="1"/>
          <p:nvPr/>
        </p:nvSpPr>
        <p:spPr>
          <a:xfrm>
            <a:off x="7522233" y="3362004"/>
            <a:ext cx="4520242" cy="954107"/>
          </a:xfrm>
          <a:prstGeom prst="rect">
            <a:avLst/>
          </a:prstGeom>
          <a:noFill/>
        </p:spPr>
        <p:txBody>
          <a:bodyPr wrap="square" rtlCol="0">
            <a:spAutoFit/>
          </a:bodyPr>
          <a:lstStyle/>
          <a:p>
            <a:r>
              <a:rPr lang="en-AU" sz="2800" dirty="0" smtClean="0"/>
              <a:t>Which graph best displays this situation?</a:t>
            </a:r>
            <a:endParaRPr lang="en-AU" dirty="0"/>
          </a:p>
        </p:txBody>
      </p:sp>
      <p:sp>
        <p:nvSpPr>
          <p:cNvPr id="10" name="Rounded Rectangle 9"/>
          <p:cNvSpPr/>
          <p:nvPr/>
        </p:nvSpPr>
        <p:spPr>
          <a:xfrm>
            <a:off x="5321956" y="2535182"/>
            <a:ext cx="1834551" cy="153550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22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227097" cy="461665"/>
          </a:xfrm>
          <a:prstGeom prst="rect">
            <a:avLst/>
          </a:prstGeom>
          <a:solidFill>
            <a:srgbClr val="FFFF00"/>
          </a:solidFill>
        </p:spPr>
        <p:txBody>
          <a:bodyPr wrap="square" rtlCol="0">
            <a:spAutoFit/>
          </a:bodyPr>
          <a:lstStyle/>
          <a:p>
            <a:r>
              <a:rPr lang="en-AU" sz="2400" dirty="0" smtClean="0"/>
              <a:t>Example 2</a:t>
            </a:r>
            <a:endParaRPr lang="en-AU" sz="2400" dirty="0"/>
          </a:p>
        </p:txBody>
      </p:sp>
      <p:sp>
        <p:nvSpPr>
          <p:cNvPr id="2" name="TextBox 1"/>
          <p:cNvSpPr txBox="1"/>
          <p:nvPr/>
        </p:nvSpPr>
        <p:spPr>
          <a:xfrm>
            <a:off x="184030" y="575094"/>
            <a:ext cx="11294853" cy="1477328"/>
          </a:xfrm>
          <a:prstGeom prst="rect">
            <a:avLst/>
          </a:prstGeom>
          <a:noFill/>
        </p:spPr>
        <p:txBody>
          <a:bodyPr wrap="square" rtlCol="0">
            <a:spAutoFit/>
          </a:bodyPr>
          <a:lstStyle/>
          <a:p>
            <a:r>
              <a:rPr lang="en-AU" sz="2400" dirty="0" smtClean="0"/>
              <a:t>For all the relationships we discusse</a:t>
            </a:r>
            <a:r>
              <a:rPr lang="en-AU" sz="2400" dirty="0" smtClean="0"/>
              <a:t>d previously it involved linear relationships but changed depending on where we were on the x axis. We call this type of relationship a </a:t>
            </a:r>
            <a:r>
              <a:rPr lang="en-AU" sz="2400" b="1" dirty="0" smtClean="0"/>
              <a:t>piecewise relationship.</a:t>
            </a:r>
            <a:endParaRPr lang="en-AU" sz="2400" dirty="0"/>
          </a:p>
          <a:p>
            <a:r>
              <a:rPr lang="en-AU" dirty="0" smtClean="0"/>
              <a:t> </a:t>
            </a:r>
            <a:endParaRPr lang="en-AU" dirty="0"/>
          </a:p>
        </p:txBody>
      </p:sp>
      <p:pic>
        <p:nvPicPr>
          <p:cNvPr id="4" name="Picture 3"/>
          <p:cNvPicPr>
            <a:picLocks noChangeAspect="1"/>
          </p:cNvPicPr>
          <p:nvPr/>
        </p:nvPicPr>
        <p:blipFill>
          <a:blip r:embed="rId2"/>
          <a:stretch>
            <a:fillRect/>
          </a:stretch>
        </p:blipFill>
        <p:spPr>
          <a:xfrm>
            <a:off x="1389075" y="2759362"/>
            <a:ext cx="5697658" cy="2743741"/>
          </a:xfrm>
          <a:prstGeom prst="rect">
            <a:avLst/>
          </a:prstGeom>
        </p:spPr>
      </p:pic>
      <p:sp>
        <p:nvSpPr>
          <p:cNvPr id="6" name="TextBox 5"/>
          <p:cNvSpPr txBox="1"/>
          <p:nvPr/>
        </p:nvSpPr>
        <p:spPr>
          <a:xfrm>
            <a:off x="7464724" y="2499363"/>
            <a:ext cx="4520242" cy="954107"/>
          </a:xfrm>
          <a:prstGeom prst="rect">
            <a:avLst/>
          </a:prstGeom>
          <a:noFill/>
        </p:spPr>
        <p:txBody>
          <a:bodyPr wrap="square" rtlCol="0">
            <a:spAutoFit/>
          </a:bodyPr>
          <a:lstStyle/>
          <a:p>
            <a:r>
              <a:rPr lang="en-AU" sz="2800" dirty="0" smtClean="0"/>
              <a:t>Which </a:t>
            </a:r>
            <a:r>
              <a:rPr lang="en-AU" sz="2800" dirty="0" smtClean="0"/>
              <a:t>graph are also called step grap</a:t>
            </a:r>
            <a:r>
              <a:rPr lang="en-AU" sz="2800" dirty="0" smtClean="0"/>
              <a:t>hs</a:t>
            </a:r>
            <a:r>
              <a:rPr lang="en-AU" sz="2800" dirty="0" smtClean="0"/>
              <a:t>?</a:t>
            </a:r>
            <a:endParaRPr lang="en-AU" dirty="0"/>
          </a:p>
        </p:txBody>
      </p:sp>
      <p:sp>
        <p:nvSpPr>
          <p:cNvPr id="10" name="Rounded Rectangle 9"/>
          <p:cNvSpPr/>
          <p:nvPr/>
        </p:nvSpPr>
        <p:spPr>
          <a:xfrm>
            <a:off x="3320628" y="4131232"/>
            <a:ext cx="1834551" cy="153550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ounded Rectangle 6"/>
          <p:cNvSpPr/>
          <p:nvPr/>
        </p:nvSpPr>
        <p:spPr>
          <a:xfrm>
            <a:off x="1486077" y="4146238"/>
            <a:ext cx="1834551" cy="153550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p:cNvSpPr txBox="1"/>
          <p:nvPr/>
        </p:nvSpPr>
        <p:spPr>
          <a:xfrm>
            <a:off x="7519358" y="4003235"/>
            <a:ext cx="4520242" cy="1384995"/>
          </a:xfrm>
          <a:prstGeom prst="rect">
            <a:avLst/>
          </a:prstGeom>
          <a:noFill/>
        </p:spPr>
        <p:txBody>
          <a:bodyPr wrap="square" rtlCol="0">
            <a:spAutoFit/>
          </a:bodyPr>
          <a:lstStyle/>
          <a:p>
            <a:r>
              <a:rPr lang="en-AU" sz="2800" dirty="0" smtClean="0"/>
              <a:t>Which </a:t>
            </a:r>
            <a:r>
              <a:rPr lang="en-AU" sz="2800" dirty="0" smtClean="0"/>
              <a:t>graph is not an example of a piecewise relationship?</a:t>
            </a:r>
            <a:endParaRPr lang="en-AU" dirty="0"/>
          </a:p>
        </p:txBody>
      </p:sp>
      <p:sp>
        <p:nvSpPr>
          <p:cNvPr id="9" name="Rounded Rectangle 8"/>
          <p:cNvSpPr/>
          <p:nvPr/>
        </p:nvSpPr>
        <p:spPr>
          <a:xfrm>
            <a:off x="1486076" y="2499363"/>
            <a:ext cx="1834551" cy="153550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97126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P spid="7" grpId="0" animBg="1"/>
      <p:bldP spid="8" grpId="0"/>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227097" cy="461665"/>
          </a:xfrm>
          <a:prstGeom prst="rect">
            <a:avLst/>
          </a:prstGeom>
          <a:solidFill>
            <a:srgbClr val="FFFF00"/>
          </a:solidFill>
        </p:spPr>
        <p:txBody>
          <a:bodyPr wrap="square" rtlCol="0">
            <a:spAutoFit/>
          </a:bodyPr>
          <a:lstStyle/>
          <a:p>
            <a:r>
              <a:rPr lang="en-AU" sz="2400" dirty="0" smtClean="0"/>
              <a:t>Example 2</a:t>
            </a:r>
            <a:endParaRPr lang="en-AU" sz="2400" dirty="0"/>
          </a:p>
        </p:txBody>
      </p:sp>
      <p:sp>
        <p:nvSpPr>
          <p:cNvPr id="2" name="TextBox 1"/>
          <p:cNvSpPr txBox="1"/>
          <p:nvPr/>
        </p:nvSpPr>
        <p:spPr>
          <a:xfrm>
            <a:off x="184030" y="575094"/>
            <a:ext cx="11294853" cy="1200329"/>
          </a:xfrm>
          <a:prstGeom prst="rect">
            <a:avLst/>
          </a:prstGeom>
          <a:noFill/>
        </p:spPr>
        <p:txBody>
          <a:bodyPr wrap="square" rtlCol="0">
            <a:spAutoFit/>
          </a:bodyPr>
          <a:lstStyle/>
          <a:p>
            <a:r>
              <a:rPr lang="en-AU" sz="2400" dirty="0" smtClean="0"/>
              <a:t>For the equation below:</a:t>
            </a:r>
          </a:p>
          <a:p>
            <a:endParaRPr lang="en-AU" sz="2400" dirty="0"/>
          </a:p>
          <a:p>
            <a:r>
              <a:rPr lang="en-AU" sz="2400" dirty="0" smtClean="0"/>
              <a:t>There is one rule for x less than -4, another for x between -4 and -1, etc.</a:t>
            </a:r>
            <a:endParaRPr lang="en-AU" dirty="0"/>
          </a:p>
        </p:txBody>
      </p:sp>
      <p:pic>
        <p:nvPicPr>
          <p:cNvPr id="3" name="Picture 2"/>
          <p:cNvPicPr>
            <a:picLocks noChangeAspect="1"/>
          </p:cNvPicPr>
          <p:nvPr/>
        </p:nvPicPr>
        <p:blipFill>
          <a:blip r:embed="rId2"/>
          <a:stretch>
            <a:fillRect/>
          </a:stretch>
        </p:blipFill>
        <p:spPr>
          <a:xfrm>
            <a:off x="6417694" y="1840302"/>
            <a:ext cx="4963608" cy="4402436"/>
          </a:xfrm>
          <a:prstGeom prst="rect">
            <a:avLst/>
          </a:prstGeom>
        </p:spPr>
      </p:pic>
      <p:sp>
        <p:nvSpPr>
          <p:cNvPr id="5" name="TextBox 4"/>
          <p:cNvSpPr txBox="1"/>
          <p:nvPr/>
        </p:nvSpPr>
        <p:spPr>
          <a:xfrm>
            <a:off x="241540" y="2110597"/>
            <a:ext cx="3278038" cy="461665"/>
          </a:xfrm>
          <a:prstGeom prst="rect">
            <a:avLst/>
          </a:prstGeom>
          <a:noFill/>
        </p:spPr>
        <p:txBody>
          <a:bodyPr wrap="square" rtlCol="0">
            <a:spAutoFit/>
          </a:bodyPr>
          <a:lstStyle/>
          <a:p>
            <a:r>
              <a:rPr lang="en-AU" sz="2400" dirty="0" smtClean="0"/>
              <a:t>We write this as below:</a:t>
            </a:r>
            <a:endParaRPr lang="en-AU" sz="2400" dirty="0"/>
          </a:p>
        </p:txBody>
      </p:sp>
      <mc:AlternateContent xmlns:mc="http://schemas.openxmlformats.org/markup-compatibility/2006">
        <mc:Choice xmlns:a14="http://schemas.microsoft.com/office/drawing/2010/main" Requires="a14">
          <p:sp>
            <p:nvSpPr>
              <p:cNvPr id="12" name="TextBox 11"/>
              <p:cNvSpPr txBox="1"/>
              <p:nvPr/>
            </p:nvSpPr>
            <p:spPr>
              <a:xfrm>
                <a:off x="503207" y="3016370"/>
                <a:ext cx="5132717"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400" b="0" i="1" smtClean="0">
                          <a:solidFill>
                            <a:srgbClr val="FF0000"/>
                          </a:solidFill>
                          <a:latin typeface="Cambria Math" panose="02040503050406030204" pitchFamily="18" charset="0"/>
                        </a:rPr>
                        <m:t>𝐹𝑜𝑟</m:t>
                      </m:r>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rPr>
                        <m:t>&lt;−4,                 </m:t>
                      </m:r>
                      <m:r>
                        <a:rPr lang="en-AU" sz="2400" b="0" i="1" smtClean="0">
                          <a:solidFill>
                            <a:srgbClr val="FF0000"/>
                          </a:solidFill>
                          <a:latin typeface="Cambria Math" panose="02040503050406030204" pitchFamily="18" charset="0"/>
                        </a:rPr>
                        <m:t>𝑦</m:t>
                      </m:r>
                      <m:r>
                        <a:rPr lang="en-AU" sz="2400" b="0" i="1" smtClean="0">
                          <a:solidFill>
                            <a:srgbClr val="FF0000"/>
                          </a:solidFill>
                          <a:latin typeface="Cambria Math" panose="02040503050406030204" pitchFamily="18" charset="0"/>
                        </a:rPr>
                        <m:t>=</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rPr>
                        <m:t>+2</m:t>
                      </m:r>
                    </m:oMath>
                  </m:oMathPara>
                </a14:m>
                <a:endParaRPr lang="en-AU" sz="2400" dirty="0">
                  <a:solidFill>
                    <a:srgbClr val="FF0000"/>
                  </a:solidFill>
                </a:endParaRPr>
              </a:p>
            </p:txBody>
          </p:sp>
        </mc:Choice>
        <mc:Fallback>
          <p:sp>
            <p:nvSpPr>
              <p:cNvPr id="12" name="TextBox 11"/>
              <p:cNvSpPr txBox="1">
                <a:spLocks noRot="1" noChangeAspect="1" noMove="1" noResize="1" noEditPoints="1" noAdjustHandles="1" noChangeArrowheads="1" noChangeShapeType="1" noTextEdit="1"/>
              </p:cNvSpPr>
              <p:nvPr/>
            </p:nvSpPr>
            <p:spPr>
              <a:xfrm>
                <a:off x="503207" y="3016370"/>
                <a:ext cx="5132717" cy="461665"/>
              </a:xfrm>
              <a:prstGeom prst="rect">
                <a:avLst/>
              </a:prstGeom>
              <a:blipFill>
                <a:blip r:embed="rId3"/>
                <a:stretch>
                  <a:fillRect b="-921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96328" y="3728460"/>
                <a:ext cx="5589917"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400" b="0" i="1" smtClean="0">
                          <a:solidFill>
                            <a:srgbClr val="FF0000"/>
                          </a:solidFill>
                          <a:latin typeface="Cambria Math" panose="02040503050406030204" pitchFamily="18" charset="0"/>
                        </a:rPr>
                        <m:t>𝐹𝑜𝑟</m:t>
                      </m:r>
                      <m:r>
                        <a:rPr lang="en-AU" sz="2400" b="0" i="1" smtClean="0">
                          <a:solidFill>
                            <a:srgbClr val="FF0000"/>
                          </a:solidFill>
                          <a:latin typeface="Cambria Math" panose="02040503050406030204" pitchFamily="18" charset="0"/>
                        </a:rPr>
                        <m:t> −4≤</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rPr>
                        <m:t>&lt;−1,    </m:t>
                      </m:r>
                      <m:r>
                        <a:rPr lang="en-AU" sz="2400" b="0" i="1" smtClean="0">
                          <a:solidFill>
                            <a:srgbClr val="FF0000"/>
                          </a:solidFill>
                          <a:latin typeface="Cambria Math" panose="02040503050406030204" pitchFamily="18" charset="0"/>
                        </a:rPr>
                        <m:t>𝑦</m:t>
                      </m:r>
                      <m:r>
                        <a:rPr lang="en-AU" sz="2400" b="0" i="1" smtClean="0">
                          <a:solidFill>
                            <a:srgbClr val="FF0000"/>
                          </a:solidFill>
                          <a:latin typeface="Cambria Math" panose="02040503050406030204" pitchFamily="18" charset="0"/>
                        </a:rPr>
                        <m:t>=−2</m:t>
                      </m:r>
                    </m:oMath>
                  </m:oMathPara>
                </a14:m>
                <a:endParaRPr lang="en-AU" sz="2400" dirty="0">
                  <a:solidFill>
                    <a:srgbClr val="FF0000"/>
                  </a:solidFill>
                </a:endParaRPr>
              </a:p>
            </p:txBody>
          </p:sp>
        </mc:Choice>
        <mc:Fallback>
          <p:sp>
            <p:nvSpPr>
              <p:cNvPr id="13" name="TextBox 12"/>
              <p:cNvSpPr txBox="1">
                <a:spLocks noRot="1" noChangeAspect="1" noMove="1" noResize="1" noEditPoints="1" noAdjustHandles="1" noChangeArrowheads="1" noChangeShapeType="1" noTextEdit="1"/>
              </p:cNvSpPr>
              <p:nvPr/>
            </p:nvSpPr>
            <p:spPr>
              <a:xfrm>
                <a:off x="96328" y="3728460"/>
                <a:ext cx="5589917" cy="461665"/>
              </a:xfrm>
              <a:prstGeom prst="rect">
                <a:avLst/>
              </a:prstGeom>
              <a:blipFill>
                <a:blip r:embed="rId4"/>
                <a:stretch>
                  <a:fillRect b="-1066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46007" y="4488149"/>
                <a:ext cx="5589917"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400" b="0" i="1" smtClean="0">
                          <a:solidFill>
                            <a:srgbClr val="FF0000"/>
                          </a:solidFill>
                          <a:latin typeface="Cambria Math" panose="02040503050406030204" pitchFamily="18" charset="0"/>
                        </a:rPr>
                        <m:t>𝐹𝑜𝑟</m:t>
                      </m:r>
                      <m:r>
                        <a:rPr lang="en-AU" sz="2400" b="0" i="1" smtClean="0">
                          <a:solidFill>
                            <a:srgbClr val="FF0000"/>
                          </a:solidFill>
                          <a:latin typeface="Cambria Math" panose="02040503050406030204" pitchFamily="18" charset="0"/>
                        </a:rPr>
                        <m:t> −1≤</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rPr>
                        <m:t>&lt;2,        </m:t>
                      </m:r>
                      <m:r>
                        <a:rPr lang="en-AU" sz="2400" b="0" i="1" smtClean="0">
                          <a:solidFill>
                            <a:srgbClr val="FF0000"/>
                          </a:solidFill>
                          <a:latin typeface="Cambria Math" panose="02040503050406030204" pitchFamily="18" charset="0"/>
                        </a:rPr>
                        <m:t>𝑦</m:t>
                      </m:r>
                      <m:r>
                        <a:rPr lang="en-AU" sz="2400" b="0" i="1" smtClean="0">
                          <a:solidFill>
                            <a:srgbClr val="FF0000"/>
                          </a:solidFill>
                          <a:latin typeface="Cambria Math" panose="02040503050406030204" pitchFamily="18" charset="0"/>
                        </a:rPr>
                        <m:t>=2</m:t>
                      </m:r>
                      <m:r>
                        <a:rPr lang="en-AU" sz="2400" b="0" i="1" smtClean="0">
                          <a:solidFill>
                            <a:srgbClr val="FF0000"/>
                          </a:solidFill>
                          <a:latin typeface="Cambria Math" panose="02040503050406030204" pitchFamily="18" charset="0"/>
                        </a:rPr>
                        <m:t>𝑥</m:t>
                      </m:r>
                    </m:oMath>
                  </m:oMathPara>
                </a14:m>
                <a:endParaRPr lang="en-AU" sz="2400" dirty="0">
                  <a:solidFill>
                    <a:srgbClr val="FF0000"/>
                  </a:solidFill>
                </a:endParaRPr>
              </a:p>
            </p:txBody>
          </p:sp>
        </mc:Choice>
        <mc:Fallback>
          <p:sp>
            <p:nvSpPr>
              <p:cNvPr id="15" name="TextBox 14"/>
              <p:cNvSpPr txBox="1">
                <a:spLocks noRot="1" noChangeAspect="1" noMove="1" noResize="1" noEditPoints="1" noAdjustHandles="1" noChangeArrowheads="1" noChangeShapeType="1" noTextEdit="1"/>
              </p:cNvSpPr>
              <p:nvPr/>
            </p:nvSpPr>
            <p:spPr>
              <a:xfrm>
                <a:off x="46007" y="4488149"/>
                <a:ext cx="5589917" cy="461665"/>
              </a:xfrm>
              <a:prstGeom prst="rect">
                <a:avLst/>
              </a:prstGeom>
              <a:blipFill>
                <a:blip r:embed="rId5"/>
                <a:stretch>
                  <a:fillRect b="-10526"/>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436892" y="5200239"/>
                <a:ext cx="5589917"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400" b="0" i="1" smtClean="0">
                          <a:solidFill>
                            <a:srgbClr val="FF0000"/>
                          </a:solidFill>
                          <a:latin typeface="Cambria Math" panose="02040503050406030204" pitchFamily="18" charset="0"/>
                        </a:rPr>
                        <m:t>𝐹𝑜𝑟</m:t>
                      </m:r>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ea typeface="Cambria Math" panose="02040503050406030204" pitchFamily="18" charset="0"/>
                        </a:rPr>
                        <m:t>≥</m:t>
                      </m:r>
                      <m:r>
                        <a:rPr lang="en-AU" sz="2400" b="0" i="1" smtClean="0">
                          <a:solidFill>
                            <a:srgbClr val="FF0000"/>
                          </a:solidFill>
                          <a:latin typeface="Cambria Math" panose="02040503050406030204" pitchFamily="18" charset="0"/>
                        </a:rPr>
                        <m:t>2,                      </m:t>
                      </m:r>
                      <m:r>
                        <a:rPr lang="en-AU" sz="2400" b="0" i="1" smtClean="0">
                          <a:solidFill>
                            <a:srgbClr val="FF0000"/>
                          </a:solidFill>
                          <a:latin typeface="Cambria Math" panose="02040503050406030204" pitchFamily="18" charset="0"/>
                        </a:rPr>
                        <m:t>𝑦</m:t>
                      </m:r>
                      <m:r>
                        <a:rPr lang="en-AU" sz="2400" b="0" i="1" smtClean="0">
                          <a:solidFill>
                            <a:srgbClr val="FF0000"/>
                          </a:solidFill>
                          <a:latin typeface="Cambria Math" panose="02040503050406030204" pitchFamily="18" charset="0"/>
                        </a:rPr>
                        <m:t>=0.5</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rPr>
                        <m:t>+3</m:t>
                      </m:r>
                    </m:oMath>
                  </m:oMathPara>
                </a14:m>
                <a:endParaRPr lang="en-AU" sz="2400" dirty="0">
                  <a:solidFill>
                    <a:srgbClr val="FF0000"/>
                  </a:solidFill>
                </a:endParaRPr>
              </a:p>
            </p:txBody>
          </p:sp>
        </mc:Choice>
        <mc:Fallback>
          <p:sp>
            <p:nvSpPr>
              <p:cNvPr id="16" name="TextBox 15"/>
              <p:cNvSpPr txBox="1">
                <a:spLocks noRot="1" noChangeAspect="1" noMove="1" noResize="1" noEditPoints="1" noAdjustHandles="1" noChangeArrowheads="1" noChangeShapeType="1" noTextEdit="1"/>
              </p:cNvSpPr>
              <p:nvPr/>
            </p:nvSpPr>
            <p:spPr>
              <a:xfrm>
                <a:off x="436892" y="5200239"/>
                <a:ext cx="5589917" cy="461665"/>
              </a:xfrm>
              <a:prstGeom prst="rect">
                <a:avLst/>
              </a:prstGeom>
              <a:blipFill>
                <a:blip r:embed="rId6"/>
                <a:stretch>
                  <a:fillRect b="-10526"/>
                </a:stretch>
              </a:blipFill>
            </p:spPr>
            <p:txBody>
              <a:bodyPr/>
              <a:lstStyle/>
              <a:p>
                <a:r>
                  <a:rPr lang="en-AU">
                    <a:noFill/>
                  </a:rPr>
                  <a:t> </a:t>
                </a:r>
              </a:p>
            </p:txBody>
          </p:sp>
        </mc:Fallback>
      </mc:AlternateContent>
    </p:spTree>
    <p:extLst>
      <p:ext uri="{BB962C8B-B14F-4D97-AF65-F5344CB8AC3E}">
        <p14:creationId xmlns:p14="http://schemas.microsoft.com/office/powerpoint/2010/main" val="378202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3"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227097" cy="461665"/>
          </a:xfrm>
          <a:prstGeom prst="rect">
            <a:avLst/>
          </a:prstGeom>
          <a:solidFill>
            <a:srgbClr val="FFFF00"/>
          </a:solidFill>
        </p:spPr>
        <p:txBody>
          <a:bodyPr wrap="square" rtlCol="0">
            <a:spAutoFit/>
          </a:bodyPr>
          <a:lstStyle/>
          <a:p>
            <a:r>
              <a:rPr lang="en-AU" sz="2400" dirty="0" smtClean="0"/>
              <a:t>Example 2</a:t>
            </a:r>
            <a:endParaRPr lang="en-AU" sz="2400" dirty="0"/>
          </a:p>
        </p:txBody>
      </p:sp>
      <mc:AlternateContent xmlns:mc="http://schemas.openxmlformats.org/markup-compatibility/2006">
        <mc:Choice xmlns:a14="http://schemas.microsoft.com/office/drawing/2010/main" Requires="a14">
          <p:sp>
            <p:nvSpPr>
              <p:cNvPr id="12" name="TextBox 11"/>
              <p:cNvSpPr txBox="1"/>
              <p:nvPr/>
            </p:nvSpPr>
            <p:spPr>
              <a:xfrm>
                <a:off x="439947" y="1871367"/>
                <a:ext cx="5132717"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400" b="0" i="1" smtClean="0">
                          <a:solidFill>
                            <a:srgbClr val="FF0000"/>
                          </a:solidFill>
                          <a:latin typeface="Cambria Math" panose="02040503050406030204" pitchFamily="18" charset="0"/>
                        </a:rPr>
                        <m:t>𝐹𝑜𝑟</m:t>
                      </m:r>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rPr>
                        <m:t>&lt;−3,                 </m:t>
                      </m:r>
                      <m:r>
                        <a:rPr lang="en-AU" sz="2400" b="0" i="1" smtClean="0">
                          <a:solidFill>
                            <a:srgbClr val="FF0000"/>
                          </a:solidFill>
                          <a:latin typeface="Cambria Math" panose="02040503050406030204" pitchFamily="18" charset="0"/>
                        </a:rPr>
                        <m:t>𝑦</m:t>
                      </m:r>
                      <m:r>
                        <a:rPr lang="en-AU" sz="2400" b="0" i="1" smtClean="0">
                          <a:solidFill>
                            <a:srgbClr val="FF0000"/>
                          </a:solidFill>
                          <a:latin typeface="Cambria Math" panose="02040503050406030204" pitchFamily="18" charset="0"/>
                        </a:rPr>
                        <m:t>=−3</m:t>
                      </m:r>
                    </m:oMath>
                  </m:oMathPara>
                </a14:m>
                <a:endParaRPr lang="en-AU" sz="2400" dirty="0">
                  <a:solidFill>
                    <a:srgbClr val="FF0000"/>
                  </a:solidFill>
                </a:endParaRPr>
              </a:p>
            </p:txBody>
          </p:sp>
        </mc:Choice>
        <mc:Fallback>
          <p:sp>
            <p:nvSpPr>
              <p:cNvPr id="12" name="TextBox 11"/>
              <p:cNvSpPr txBox="1">
                <a:spLocks noRot="1" noChangeAspect="1" noMove="1" noResize="1" noEditPoints="1" noAdjustHandles="1" noChangeArrowheads="1" noChangeShapeType="1" noTextEdit="1"/>
              </p:cNvSpPr>
              <p:nvPr/>
            </p:nvSpPr>
            <p:spPr>
              <a:xfrm>
                <a:off x="439947" y="1871367"/>
                <a:ext cx="5132717" cy="461665"/>
              </a:xfrm>
              <a:prstGeom prst="rect">
                <a:avLst/>
              </a:prstGeom>
              <a:blipFill>
                <a:blip r:embed="rId2"/>
                <a:stretch>
                  <a:fillRect b="-921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439947" y="2607026"/>
                <a:ext cx="5589917"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400" b="0" i="1" smtClean="0">
                          <a:solidFill>
                            <a:srgbClr val="FF0000"/>
                          </a:solidFill>
                          <a:latin typeface="Cambria Math" panose="02040503050406030204" pitchFamily="18" charset="0"/>
                        </a:rPr>
                        <m:t>𝐹𝑜𝑟</m:t>
                      </m:r>
                      <m:r>
                        <a:rPr lang="en-AU" sz="2400" b="0" i="1" smtClean="0">
                          <a:solidFill>
                            <a:srgbClr val="FF0000"/>
                          </a:solidFill>
                          <a:latin typeface="Cambria Math" panose="02040503050406030204" pitchFamily="18" charset="0"/>
                        </a:rPr>
                        <m:t> −3≤</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ea typeface="Cambria Math" panose="02040503050406030204" pitchFamily="18" charset="0"/>
                        </a:rPr>
                        <m:t>≤2</m:t>
                      </m:r>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𝑦</m:t>
                      </m:r>
                      <m:r>
                        <a:rPr lang="en-AU" sz="2400" b="0" i="1" smtClean="0">
                          <a:solidFill>
                            <a:srgbClr val="FF0000"/>
                          </a:solidFill>
                          <a:latin typeface="Cambria Math" panose="02040503050406030204" pitchFamily="18" charset="0"/>
                        </a:rPr>
                        <m:t>=2</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rPr>
                        <m:t>+3</m:t>
                      </m:r>
                    </m:oMath>
                  </m:oMathPara>
                </a14:m>
                <a:endParaRPr lang="en-AU" sz="2400" dirty="0">
                  <a:solidFill>
                    <a:srgbClr val="FF0000"/>
                  </a:solidFill>
                </a:endParaRPr>
              </a:p>
            </p:txBody>
          </p:sp>
        </mc:Choice>
        <mc:Fallback>
          <p:sp>
            <p:nvSpPr>
              <p:cNvPr id="13" name="TextBox 12"/>
              <p:cNvSpPr txBox="1">
                <a:spLocks noRot="1" noChangeAspect="1" noMove="1" noResize="1" noEditPoints="1" noAdjustHandles="1" noChangeArrowheads="1" noChangeShapeType="1" noTextEdit="1"/>
              </p:cNvSpPr>
              <p:nvPr/>
            </p:nvSpPr>
            <p:spPr>
              <a:xfrm>
                <a:off x="439947" y="2607026"/>
                <a:ext cx="5589917" cy="461665"/>
              </a:xfrm>
              <a:prstGeom prst="rect">
                <a:avLst/>
              </a:prstGeom>
              <a:blipFill>
                <a:blip r:embed="rId3"/>
                <a:stretch>
                  <a:fillRect b="-1066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439947" y="3342685"/>
                <a:ext cx="5589917"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400" b="0" i="1" smtClean="0">
                          <a:solidFill>
                            <a:srgbClr val="FF0000"/>
                          </a:solidFill>
                          <a:latin typeface="Cambria Math" panose="02040503050406030204" pitchFamily="18" charset="0"/>
                        </a:rPr>
                        <m:t>𝐹𝑜𝑟</m:t>
                      </m:r>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rPr>
                        <m:t>&gt;2,                      </m:t>
                      </m:r>
                      <m:r>
                        <a:rPr lang="en-AU" sz="2400" b="0" i="1" smtClean="0">
                          <a:solidFill>
                            <a:srgbClr val="FF0000"/>
                          </a:solidFill>
                          <a:latin typeface="Cambria Math" panose="02040503050406030204" pitchFamily="18" charset="0"/>
                        </a:rPr>
                        <m:t>𝑦</m:t>
                      </m:r>
                      <m:r>
                        <a:rPr lang="en-AU" sz="2400" b="0" i="1" smtClean="0">
                          <a:solidFill>
                            <a:srgbClr val="FF0000"/>
                          </a:solidFill>
                          <a:latin typeface="Cambria Math" panose="02040503050406030204" pitchFamily="18" charset="0"/>
                        </a:rPr>
                        <m:t>=−</m:t>
                      </m:r>
                      <m:r>
                        <a:rPr lang="en-AU" sz="2400" b="0" i="1" smtClean="0">
                          <a:solidFill>
                            <a:srgbClr val="FF0000"/>
                          </a:solidFill>
                          <a:latin typeface="Cambria Math" panose="02040503050406030204" pitchFamily="18" charset="0"/>
                        </a:rPr>
                        <m:t>𝑥</m:t>
                      </m:r>
                      <m:r>
                        <a:rPr lang="en-AU" sz="2400" b="0" i="1" smtClean="0">
                          <a:solidFill>
                            <a:srgbClr val="FF0000"/>
                          </a:solidFill>
                          <a:latin typeface="Cambria Math" panose="02040503050406030204" pitchFamily="18" charset="0"/>
                        </a:rPr>
                        <m:t>+6</m:t>
                      </m:r>
                    </m:oMath>
                  </m:oMathPara>
                </a14:m>
                <a:endParaRPr lang="en-AU" sz="2400" dirty="0">
                  <a:solidFill>
                    <a:srgbClr val="FF0000"/>
                  </a:solidFill>
                </a:endParaRPr>
              </a:p>
            </p:txBody>
          </p:sp>
        </mc:Choice>
        <mc:Fallback>
          <p:sp>
            <p:nvSpPr>
              <p:cNvPr id="16" name="TextBox 15"/>
              <p:cNvSpPr txBox="1">
                <a:spLocks noRot="1" noChangeAspect="1" noMove="1" noResize="1" noEditPoints="1" noAdjustHandles="1" noChangeArrowheads="1" noChangeShapeType="1" noTextEdit="1"/>
              </p:cNvSpPr>
              <p:nvPr/>
            </p:nvSpPr>
            <p:spPr>
              <a:xfrm>
                <a:off x="439947" y="3342685"/>
                <a:ext cx="5589917" cy="461665"/>
              </a:xfrm>
              <a:prstGeom prst="rect">
                <a:avLst/>
              </a:prstGeom>
              <a:blipFill>
                <a:blip r:embed="rId4"/>
                <a:stretch>
                  <a:fillRect b="-10526"/>
                </a:stretch>
              </a:blipFill>
            </p:spPr>
            <p:txBody>
              <a:bodyPr/>
              <a:lstStyle/>
              <a:p>
                <a:r>
                  <a:rPr lang="en-AU">
                    <a:noFill/>
                  </a:rPr>
                  <a:t> </a:t>
                </a:r>
              </a:p>
            </p:txBody>
          </p:sp>
        </mc:Fallback>
      </mc:AlternateContent>
      <p:pic>
        <p:nvPicPr>
          <p:cNvPr id="4" name="Picture 3"/>
          <p:cNvPicPr>
            <a:picLocks noChangeAspect="1"/>
          </p:cNvPicPr>
          <p:nvPr/>
        </p:nvPicPr>
        <p:blipFill>
          <a:blip r:embed="rId5"/>
          <a:stretch>
            <a:fillRect/>
          </a:stretch>
        </p:blipFill>
        <p:spPr>
          <a:xfrm>
            <a:off x="6348144" y="1256248"/>
            <a:ext cx="4830130" cy="4553192"/>
          </a:xfrm>
          <a:prstGeom prst="rect">
            <a:avLst/>
          </a:prstGeom>
        </p:spPr>
      </p:pic>
      <p:sp>
        <p:nvSpPr>
          <p:cNvPr id="11" name="TextBox 10"/>
          <p:cNvSpPr txBox="1"/>
          <p:nvPr/>
        </p:nvSpPr>
        <p:spPr>
          <a:xfrm>
            <a:off x="8830574" y="425251"/>
            <a:ext cx="2227097" cy="830997"/>
          </a:xfrm>
          <a:prstGeom prst="rect">
            <a:avLst/>
          </a:prstGeom>
          <a:solidFill>
            <a:srgbClr val="FFFF00"/>
          </a:solidFill>
        </p:spPr>
        <p:txBody>
          <a:bodyPr wrap="square" rtlCol="0">
            <a:spAutoFit/>
          </a:bodyPr>
          <a:lstStyle/>
          <a:p>
            <a:r>
              <a:rPr lang="en-AU" sz="2400" dirty="0" smtClean="0"/>
              <a:t>Closed dot means equal to</a:t>
            </a:r>
            <a:endParaRPr lang="en-AU" sz="2400" dirty="0"/>
          </a:p>
        </p:txBody>
      </p:sp>
      <p:sp>
        <p:nvSpPr>
          <p:cNvPr id="17" name="TextBox 16"/>
          <p:cNvSpPr txBox="1"/>
          <p:nvPr/>
        </p:nvSpPr>
        <p:spPr>
          <a:xfrm>
            <a:off x="9546567" y="2087245"/>
            <a:ext cx="2490158" cy="830997"/>
          </a:xfrm>
          <a:prstGeom prst="rect">
            <a:avLst/>
          </a:prstGeom>
          <a:solidFill>
            <a:srgbClr val="FFFF00"/>
          </a:solidFill>
        </p:spPr>
        <p:txBody>
          <a:bodyPr wrap="square" rtlCol="0">
            <a:spAutoFit/>
          </a:bodyPr>
          <a:lstStyle/>
          <a:p>
            <a:r>
              <a:rPr lang="en-AU" sz="2400" dirty="0" smtClean="0"/>
              <a:t>Open</a:t>
            </a:r>
            <a:r>
              <a:rPr lang="en-AU" sz="2400" dirty="0" smtClean="0"/>
              <a:t> dot means not equal to</a:t>
            </a:r>
            <a:endParaRPr lang="en-AU" sz="2400" dirty="0"/>
          </a:p>
        </p:txBody>
      </p:sp>
    </p:spTree>
    <p:extLst>
      <p:ext uri="{BB962C8B-B14F-4D97-AF65-F5344CB8AC3E}">
        <p14:creationId xmlns:p14="http://schemas.microsoft.com/office/powerpoint/2010/main" val="111128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6" grpId="0"/>
      <p:bldP spid="11" grpId="0" animBg="1"/>
      <p:bldP spid="1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TotalTime>
  <Words>406</Words>
  <Application>Microsoft Office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STEDMAN Shaun [Harrisdale Senior High School]</cp:lastModifiedBy>
  <cp:revision>72</cp:revision>
  <dcterms:created xsi:type="dcterms:W3CDTF">2020-12-09T06:24:59Z</dcterms:created>
  <dcterms:modified xsi:type="dcterms:W3CDTF">2021-09-09T06:45:20Z</dcterms:modified>
</cp:coreProperties>
</file>
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60" r:id="rId4"/>
    <p:sldId id="261" r:id="rId5"/>
    <p:sldId id="262"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85" autoAdjust="0"/>
    <p:restoredTop sz="94660"/>
  </p:normalViewPr>
  <p:slideViewPr>
    <p:cSldViewPr snapToGrid="0">
      <p:cViewPr>
        <p:scale>
          <a:sx n="71" d="100"/>
          <a:sy n="71" d="100"/>
        </p:scale>
        <p:origin x="66" y="4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1E10A132-FF45-4605-9BB8-80702934D916}" type="datetimeFigureOut">
              <a:rPr lang="en-AU" smtClean="0"/>
              <a:t>18/06/2021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16353325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1E10A132-FF45-4605-9BB8-80702934D916}" type="datetimeFigureOut">
              <a:rPr lang="en-AU" smtClean="0"/>
              <a:t>18/06/2021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19614259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E10A132-FF45-4605-9BB8-80702934D916}" type="datetimeFigureOut">
              <a:rPr lang="en-AU" smtClean="0"/>
              <a:t>18/06/2021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15190005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1E10A132-FF45-4605-9BB8-80702934D916}" type="datetimeFigureOut">
              <a:rPr lang="en-AU" smtClean="0"/>
              <a:t>18/06/2021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621266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1E10A132-FF45-4605-9BB8-80702934D916}" type="datetimeFigureOut">
              <a:rPr lang="en-AU" smtClean="0"/>
              <a:t>18/06/2021</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38066126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1E10A132-FF45-4605-9BB8-80702934D916}" type="datetimeFigureOut">
              <a:rPr lang="en-AU" smtClean="0"/>
              <a:t>18/06/2021</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19169673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10A132-FF45-4605-9BB8-80702934D916}" type="datetimeFigureOut">
              <a:rPr lang="en-AU" smtClean="0"/>
              <a:t>18/06/2021</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27402647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E10A132-FF45-4605-9BB8-80702934D916}" type="datetimeFigureOut">
              <a:rPr lang="en-AU" smtClean="0"/>
              <a:t>18/06/2021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6182418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E10A132-FF45-4605-9BB8-80702934D916}" type="datetimeFigureOut">
              <a:rPr lang="en-AU" smtClean="0"/>
              <a:t>18/06/2021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14269284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1E10A132-FF45-4605-9BB8-80702934D916}" type="datetimeFigureOut">
              <a:rPr lang="en-AU" smtClean="0"/>
              <a:t>18/06/2021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6493064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1E10A132-FF45-4605-9BB8-80702934D916}" type="datetimeFigureOut">
              <a:rPr lang="en-AU" smtClean="0"/>
              <a:t>18/06/2021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40101921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E10A132-FF45-4605-9BB8-80702934D916}" type="datetimeFigureOut">
              <a:rPr lang="en-AU" smtClean="0"/>
              <a:t>18/06/2021</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9DE3931-47A2-415E-8FB2-549750A36BAE}" type="slidenum">
              <a:rPr lang="en-AU" smtClean="0"/>
              <a:t>‹#›</a:t>
            </a:fld>
            <a:endParaRPr lang="en-AU"/>
          </a:p>
        </p:txBody>
      </p:sp>
    </p:spTree>
    <p:extLst>
      <p:ext uri="{BB962C8B-B14F-4D97-AF65-F5344CB8AC3E}">
        <p14:creationId xmlns:p14="http://schemas.microsoft.com/office/powerpoint/2010/main" val="1862188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2770094" cy="461665"/>
          </a:xfrm>
          <a:prstGeom prst="rect">
            <a:avLst/>
          </a:prstGeom>
          <a:solidFill>
            <a:srgbClr val="FFFF00"/>
          </a:solidFill>
        </p:spPr>
        <p:txBody>
          <a:bodyPr wrap="square" rtlCol="0">
            <a:spAutoFit/>
          </a:bodyPr>
          <a:lstStyle/>
          <a:p>
            <a:r>
              <a:rPr lang="en-AU" sz="2400" dirty="0" smtClean="0"/>
              <a:t>Measures of Spread</a:t>
            </a:r>
            <a:endParaRPr lang="en-AU" sz="2400" dirty="0"/>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2198" t="3872" r="2124" b="23365"/>
          <a:stretch/>
        </p:blipFill>
        <p:spPr>
          <a:xfrm>
            <a:off x="1182602" y="501582"/>
            <a:ext cx="9477829" cy="3512457"/>
          </a:xfrm>
          <a:prstGeom prst="rect">
            <a:avLst/>
          </a:prstGeom>
        </p:spPr>
      </p:pic>
      <p:sp>
        <p:nvSpPr>
          <p:cNvPr id="3" name="TextBox 2"/>
          <p:cNvSpPr txBox="1"/>
          <p:nvPr/>
        </p:nvSpPr>
        <p:spPr>
          <a:xfrm>
            <a:off x="234543" y="4194650"/>
            <a:ext cx="11512412" cy="1015663"/>
          </a:xfrm>
          <a:prstGeom prst="rect">
            <a:avLst/>
          </a:prstGeom>
          <a:noFill/>
        </p:spPr>
        <p:txBody>
          <a:bodyPr wrap="square" rtlCol="0">
            <a:spAutoFit/>
          </a:bodyPr>
          <a:lstStyle/>
          <a:p>
            <a:pPr algn="ctr"/>
            <a:r>
              <a:rPr lang="en-AU" sz="2000" dirty="0" smtClean="0"/>
              <a:t>Given that the two teams of 5 players have the same mean, median and mode height as each other, you would think their heights would be fairly similar. However, just looking at measures of centre (mean and median) doesn’t show the whole picture.</a:t>
            </a:r>
            <a:endParaRPr lang="en-AU" sz="2000" dirty="0"/>
          </a:p>
        </p:txBody>
      </p:sp>
      <p:sp>
        <p:nvSpPr>
          <p:cNvPr id="6" name="TextBox 5"/>
          <p:cNvSpPr txBox="1"/>
          <p:nvPr/>
        </p:nvSpPr>
        <p:spPr>
          <a:xfrm>
            <a:off x="234543" y="5250230"/>
            <a:ext cx="11512412" cy="1323439"/>
          </a:xfrm>
          <a:prstGeom prst="rect">
            <a:avLst/>
          </a:prstGeom>
          <a:noFill/>
        </p:spPr>
        <p:txBody>
          <a:bodyPr wrap="square" rtlCol="0">
            <a:spAutoFit/>
          </a:bodyPr>
          <a:lstStyle/>
          <a:p>
            <a:pPr algn="ctr"/>
            <a:r>
              <a:rPr lang="en-AU" sz="2000" dirty="0" smtClean="0"/>
              <a:t>We can use the range as a measure of spread (how spread out the data is). </a:t>
            </a:r>
          </a:p>
          <a:p>
            <a:pPr algn="ctr"/>
            <a:r>
              <a:rPr lang="en-AU" sz="2000" dirty="0" smtClean="0"/>
              <a:t>Team A has a range of 211 – 169 = 42 cm.</a:t>
            </a:r>
          </a:p>
          <a:p>
            <a:pPr algn="ctr"/>
            <a:r>
              <a:rPr lang="en-AU" sz="2000" dirty="0" smtClean="0"/>
              <a:t>Team B has a range of 186 – 182 = 4 cm.</a:t>
            </a:r>
          </a:p>
          <a:p>
            <a:pPr algn="ctr"/>
            <a:r>
              <a:rPr lang="en-AU" sz="2000" dirty="0" smtClean="0"/>
              <a:t>So we can say that the heights of team A are more spread out and less consistent than the heights of team B.</a:t>
            </a:r>
            <a:endParaRPr lang="en-AU" sz="2000" dirty="0"/>
          </a:p>
        </p:txBody>
      </p:sp>
    </p:spTree>
    <p:extLst>
      <p:ext uri="{BB962C8B-B14F-4D97-AF65-F5344CB8AC3E}">
        <p14:creationId xmlns:p14="http://schemas.microsoft.com/office/powerpoint/2010/main" val="3739359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0103" y="157344"/>
            <a:ext cx="7534056" cy="4176775"/>
          </a:xfrm>
          <a:prstGeom prst="rect">
            <a:avLst/>
          </a:prstGeom>
        </p:spPr>
      </p:pic>
      <p:sp>
        <p:nvSpPr>
          <p:cNvPr id="5" name="TextBox 4"/>
          <p:cNvSpPr txBox="1"/>
          <p:nvPr/>
        </p:nvSpPr>
        <p:spPr>
          <a:xfrm>
            <a:off x="200925" y="4623231"/>
            <a:ext cx="11512412" cy="707886"/>
          </a:xfrm>
          <a:prstGeom prst="rect">
            <a:avLst/>
          </a:prstGeom>
          <a:noFill/>
        </p:spPr>
        <p:txBody>
          <a:bodyPr wrap="square" rtlCol="0">
            <a:spAutoFit/>
          </a:bodyPr>
          <a:lstStyle/>
          <a:p>
            <a:pPr algn="ctr"/>
            <a:r>
              <a:rPr lang="en-AU" sz="2000" dirty="0" smtClean="0"/>
              <a:t>However, range isn’t always very useful as a measure of spread because it only takes into account the lowest and highest value. These two dot frequency diagrams have the same range but their spread is very different.</a:t>
            </a:r>
            <a:endParaRPr lang="en-AU" sz="2000" dirty="0"/>
          </a:p>
        </p:txBody>
      </p:sp>
      <p:sp>
        <p:nvSpPr>
          <p:cNvPr id="6" name="TextBox 5"/>
          <p:cNvSpPr txBox="1"/>
          <p:nvPr/>
        </p:nvSpPr>
        <p:spPr>
          <a:xfrm>
            <a:off x="200925" y="5566236"/>
            <a:ext cx="11512412" cy="400110"/>
          </a:xfrm>
          <a:prstGeom prst="rect">
            <a:avLst/>
          </a:prstGeom>
          <a:noFill/>
        </p:spPr>
        <p:txBody>
          <a:bodyPr wrap="square" rtlCol="0">
            <a:spAutoFit/>
          </a:bodyPr>
          <a:lstStyle/>
          <a:p>
            <a:pPr algn="ctr"/>
            <a:r>
              <a:rPr lang="en-AU" sz="2000" dirty="0" smtClean="0"/>
              <a:t>We need to consider other measures of spread.</a:t>
            </a:r>
            <a:endParaRPr lang="en-AU" sz="2000" dirty="0"/>
          </a:p>
        </p:txBody>
      </p:sp>
      <p:sp>
        <p:nvSpPr>
          <p:cNvPr id="7" name="TextBox 6"/>
          <p:cNvSpPr txBox="1"/>
          <p:nvPr/>
        </p:nvSpPr>
        <p:spPr>
          <a:xfrm>
            <a:off x="0" y="0"/>
            <a:ext cx="2770094" cy="461665"/>
          </a:xfrm>
          <a:prstGeom prst="rect">
            <a:avLst/>
          </a:prstGeom>
          <a:solidFill>
            <a:srgbClr val="FFFF00"/>
          </a:solidFill>
        </p:spPr>
        <p:txBody>
          <a:bodyPr wrap="square" rtlCol="0">
            <a:spAutoFit/>
          </a:bodyPr>
          <a:lstStyle/>
          <a:p>
            <a:r>
              <a:rPr lang="en-AU" sz="2400" dirty="0" smtClean="0"/>
              <a:t>Measures of Spread</a:t>
            </a:r>
            <a:endParaRPr lang="en-AU" sz="2400" dirty="0"/>
          </a:p>
        </p:txBody>
      </p:sp>
    </p:spTree>
    <p:extLst>
      <p:ext uri="{BB962C8B-B14F-4D97-AF65-F5344CB8AC3E}">
        <p14:creationId xmlns:p14="http://schemas.microsoft.com/office/powerpoint/2010/main" val="1475585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1" y="0"/>
            <a:ext cx="2286000" cy="461665"/>
          </a:xfrm>
          <a:prstGeom prst="rect">
            <a:avLst/>
          </a:prstGeom>
          <a:solidFill>
            <a:srgbClr val="FFFF00"/>
          </a:solidFill>
        </p:spPr>
        <p:txBody>
          <a:bodyPr wrap="square" rtlCol="0">
            <a:spAutoFit/>
          </a:bodyPr>
          <a:lstStyle/>
          <a:p>
            <a:r>
              <a:rPr lang="en-AU" sz="2400" dirty="0" smtClean="0"/>
              <a:t>Mean Deviation</a:t>
            </a:r>
            <a:endParaRPr lang="en-AU" sz="2400" dirty="0"/>
          </a:p>
        </p:txBody>
      </p:sp>
      <p:pic>
        <p:nvPicPr>
          <p:cNvPr id="2" name="Picture 1"/>
          <p:cNvPicPr>
            <a:picLocks noChangeAspect="1"/>
          </p:cNvPicPr>
          <p:nvPr/>
        </p:nvPicPr>
        <p:blipFill>
          <a:blip r:embed="rId2"/>
          <a:stretch>
            <a:fillRect/>
          </a:stretch>
        </p:blipFill>
        <p:spPr>
          <a:xfrm>
            <a:off x="420219" y="1449848"/>
            <a:ext cx="7926429" cy="2247340"/>
          </a:xfrm>
          <a:prstGeom prst="rect">
            <a:avLst/>
          </a:prstGeom>
        </p:spPr>
      </p:pic>
      <p:sp>
        <p:nvSpPr>
          <p:cNvPr id="3" name="TextBox 2"/>
          <p:cNvSpPr txBox="1"/>
          <p:nvPr/>
        </p:nvSpPr>
        <p:spPr>
          <a:xfrm>
            <a:off x="215153" y="611841"/>
            <a:ext cx="11658600" cy="769441"/>
          </a:xfrm>
          <a:prstGeom prst="rect">
            <a:avLst/>
          </a:prstGeom>
          <a:noFill/>
        </p:spPr>
        <p:txBody>
          <a:bodyPr wrap="square" rtlCol="0">
            <a:spAutoFit/>
          </a:bodyPr>
          <a:lstStyle/>
          <a:p>
            <a:r>
              <a:rPr lang="en-AU" sz="2200" dirty="0" smtClean="0"/>
              <a:t>The mean deviation is the average of deviations from the mean (the difference between each value in the data set and the mean).</a:t>
            </a:r>
            <a:endParaRPr lang="en-AU" sz="2200" dirty="0"/>
          </a:p>
        </p:txBody>
      </p:sp>
      <p:sp>
        <p:nvSpPr>
          <p:cNvPr id="4" name="Rectangle 3"/>
          <p:cNvSpPr/>
          <p:nvPr/>
        </p:nvSpPr>
        <p:spPr>
          <a:xfrm>
            <a:off x="4668877" y="1760637"/>
            <a:ext cx="3677771" cy="193655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TextBox 4"/>
          <p:cNvSpPr txBox="1"/>
          <p:nvPr/>
        </p:nvSpPr>
        <p:spPr>
          <a:xfrm>
            <a:off x="215153" y="4089587"/>
            <a:ext cx="11497235" cy="430887"/>
          </a:xfrm>
          <a:prstGeom prst="rect">
            <a:avLst/>
          </a:prstGeom>
          <a:noFill/>
        </p:spPr>
        <p:txBody>
          <a:bodyPr wrap="square" rtlCol="0">
            <a:spAutoFit/>
          </a:bodyPr>
          <a:lstStyle/>
          <a:p>
            <a:r>
              <a:rPr lang="en-AU" sz="2200" dirty="0" smtClean="0"/>
              <a:t>Player 1’s deviation from the mean is their height subtract the mean height:	211 – 184 = 27</a:t>
            </a:r>
            <a:endParaRPr lang="en-AU" sz="2200" dirty="0"/>
          </a:p>
        </p:txBody>
      </p:sp>
      <p:sp>
        <p:nvSpPr>
          <p:cNvPr id="6" name="TextBox 5"/>
          <p:cNvSpPr txBox="1"/>
          <p:nvPr/>
        </p:nvSpPr>
        <p:spPr>
          <a:xfrm>
            <a:off x="215153" y="4746811"/>
            <a:ext cx="11544300" cy="430887"/>
          </a:xfrm>
          <a:prstGeom prst="rect">
            <a:avLst/>
          </a:prstGeom>
          <a:noFill/>
        </p:spPr>
        <p:txBody>
          <a:bodyPr wrap="square" rtlCol="0">
            <a:spAutoFit/>
          </a:bodyPr>
          <a:lstStyle/>
          <a:p>
            <a:r>
              <a:rPr lang="en-AU" sz="2200" dirty="0" smtClean="0"/>
              <a:t>We ignore the negative signs (else we get a sum of 0) and find the mean of the 5 deviations.</a:t>
            </a:r>
            <a:endParaRPr lang="en-AU" sz="2200" dirty="0"/>
          </a:p>
        </p:txBody>
      </p:sp>
      <mc:AlternateContent xmlns:mc="http://schemas.openxmlformats.org/markup-compatibility/2006">
        <mc:Choice xmlns:a14="http://schemas.microsoft.com/office/drawing/2010/main" Requires="a14">
          <p:sp>
            <p:nvSpPr>
              <p:cNvPr id="8" name="TextBox 7"/>
              <p:cNvSpPr txBox="1"/>
              <p:nvPr/>
            </p:nvSpPr>
            <p:spPr>
              <a:xfrm>
                <a:off x="373155" y="5488487"/>
                <a:ext cx="4604979" cy="701346"/>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f>
                        <m:fPr>
                          <m:ctrlPr>
                            <a:rPr lang="en-AU" sz="2400" i="1" smtClean="0">
                              <a:latin typeface="Cambria Math" panose="02040503050406030204" pitchFamily="18" charset="0"/>
                            </a:rPr>
                          </m:ctrlPr>
                        </m:fPr>
                        <m:num>
                          <m:r>
                            <a:rPr lang="en-AU" sz="2400" b="0" i="1" smtClean="0">
                              <a:latin typeface="Cambria Math" panose="02040503050406030204" pitchFamily="18" charset="0"/>
                            </a:rPr>
                            <m:t>27+0+0+12+15</m:t>
                          </m:r>
                        </m:num>
                        <m:den>
                          <m:r>
                            <a:rPr lang="en-AU" sz="2400" b="0" i="1" smtClean="0">
                              <a:latin typeface="Cambria Math" panose="02040503050406030204" pitchFamily="18" charset="0"/>
                            </a:rPr>
                            <m:t>5</m:t>
                          </m:r>
                        </m:den>
                      </m:f>
                      <m:r>
                        <a:rPr lang="en-AU" sz="2400" b="0" i="1" smtClean="0">
                          <a:latin typeface="Cambria Math" panose="02040503050406030204" pitchFamily="18" charset="0"/>
                        </a:rPr>
                        <m:t>=</m:t>
                      </m:r>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54</m:t>
                          </m:r>
                        </m:num>
                        <m:den>
                          <m:r>
                            <a:rPr lang="en-AU" sz="2400" b="0" i="1" smtClean="0">
                              <a:latin typeface="Cambria Math" panose="02040503050406030204" pitchFamily="18" charset="0"/>
                            </a:rPr>
                            <m:t>5</m:t>
                          </m:r>
                        </m:den>
                      </m:f>
                      <m:r>
                        <a:rPr lang="en-AU" sz="2400" b="0" i="1" smtClean="0">
                          <a:latin typeface="Cambria Math" panose="02040503050406030204" pitchFamily="18" charset="0"/>
                        </a:rPr>
                        <m:t>=10.8</m:t>
                      </m:r>
                    </m:oMath>
                  </m:oMathPara>
                </a14:m>
                <a:endParaRPr lang="en-AU" sz="2400" dirty="0"/>
              </a:p>
            </p:txBody>
          </p:sp>
        </mc:Choice>
        <mc:Fallback>
          <p:sp>
            <p:nvSpPr>
              <p:cNvPr id="8" name="TextBox 7"/>
              <p:cNvSpPr txBox="1">
                <a:spLocks noRot="1" noChangeAspect="1" noMove="1" noResize="1" noEditPoints="1" noAdjustHandles="1" noChangeArrowheads="1" noChangeShapeType="1" noTextEdit="1"/>
              </p:cNvSpPr>
              <p:nvPr/>
            </p:nvSpPr>
            <p:spPr>
              <a:xfrm>
                <a:off x="373155" y="5488487"/>
                <a:ext cx="4604979" cy="701346"/>
              </a:xfrm>
              <a:prstGeom prst="rect">
                <a:avLst/>
              </a:prstGeom>
              <a:blipFill>
                <a:blip r:embed="rId3"/>
                <a:stretch>
                  <a:fillRect/>
                </a:stretch>
              </a:blipFill>
            </p:spPr>
            <p:txBody>
              <a:bodyPr/>
              <a:lstStyle/>
              <a:p>
                <a:r>
                  <a:rPr lang="en-AU">
                    <a:noFill/>
                  </a:rPr>
                  <a:t> </a:t>
                </a:r>
              </a:p>
            </p:txBody>
          </p:sp>
        </mc:Fallback>
      </mc:AlternateContent>
      <p:sp>
        <p:nvSpPr>
          <p:cNvPr id="9" name="TextBox 8"/>
          <p:cNvSpPr txBox="1"/>
          <p:nvPr/>
        </p:nvSpPr>
        <p:spPr>
          <a:xfrm>
            <a:off x="5345206" y="5285162"/>
            <a:ext cx="6481482" cy="1107996"/>
          </a:xfrm>
          <a:prstGeom prst="rect">
            <a:avLst/>
          </a:prstGeom>
          <a:noFill/>
          <a:ln>
            <a:solidFill>
              <a:schemeClr val="tx1"/>
            </a:solidFill>
          </a:ln>
        </p:spPr>
        <p:txBody>
          <a:bodyPr wrap="square" rtlCol="0">
            <a:spAutoFit/>
          </a:bodyPr>
          <a:lstStyle/>
          <a:p>
            <a:pPr algn="ctr"/>
            <a:r>
              <a:rPr lang="en-AU" sz="2200" dirty="0" smtClean="0"/>
              <a:t>The lower the mean deviation is, the less spread out the data is. The higher the mean deviation is, the more spread out the data is.</a:t>
            </a:r>
            <a:endParaRPr lang="en-AU" sz="2200" dirty="0"/>
          </a:p>
        </p:txBody>
      </p:sp>
    </p:spTree>
    <p:extLst>
      <p:ext uri="{BB962C8B-B14F-4D97-AF65-F5344CB8AC3E}">
        <p14:creationId xmlns:p14="http://schemas.microsoft.com/office/powerpoint/2010/main" val="791620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p:bldP spid="8" grpId="0"/>
      <p:bldP spid="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1" y="0"/>
            <a:ext cx="2689412" cy="461665"/>
          </a:xfrm>
          <a:prstGeom prst="rect">
            <a:avLst/>
          </a:prstGeom>
          <a:solidFill>
            <a:srgbClr val="FFFF00"/>
          </a:solidFill>
        </p:spPr>
        <p:txBody>
          <a:bodyPr wrap="square" rtlCol="0">
            <a:spAutoFit/>
          </a:bodyPr>
          <a:lstStyle/>
          <a:p>
            <a:r>
              <a:rPr lang="en-AU" sz="2400" dirty="0" smtClean="0"/>
              <a:t>Standard Deviation</a:t>
            </a:r>
            <a:endParaRPr lang="en-AU" sz="2400" dirty="0"/>
          </a:p>
        </p:txBody>
      </p:sp>
      <p:sp>
        <p:nvSpPr>
          <p:cNvPr id="3" name="TextBox 2"/>
          <p:cNvSpPr txBox="1"/>
          <p:nvPr/>
        </p:nvSpPr>
        <p:spPr>
          <a:xfrm>
            <a:off x="100853" y="625288"/>
            <a:ext cx="11867029" cy="769441"/>
          </a:xfrm>
          <a:prstGeom prst="rect">
            <a:avLst/>
          </a:prstGeom>
          <a:noFill/>
        </p:spPr>
        <p:txBody>
          <a:bodyPr wrap="square" rtlCol="0">
            <a:spAutoFit/>
          </a:bodyPr>
          <a:lstStyle/>
          <a:p>
            <a:r>
              <a:rPr lang="en-AU" sz="2200" dirty="0" smtClean="0"/>
              <a:t>Finding the standard deviation is a more complicated process (and you do need to know how to do it by hand). Standard deviation is a commonly used measure of dispersion (spread) in data analysis.</a:t>
            </a:r>
            <a:endParaRPr lang="en-AU" sz="2200" dirty="0"/>
          </a:p>
        </p:txBody>
      </p:sp>
      <p:pic>
        <p:nvPicPr>
          <p:cNvPr id="5" name="Picture 4"/>
          <p:cNvPicPr>
            <a:picLocks noChangeAspect="1"/>
          </p:cNvPicPr>
          <p:nvPr/>
        </p:nvPicPr>
        <p:blipFill>
          <a:blip r:embed="rId2"/>
          <a:stretch>
            <a:fillRect/>
          </a:stretch>
        </p:blipFill>
        <p:spPr>
          <a:xfrm>
            <a:off x="292473" y="1558352"/>
            <a:ext cx="6526682" cy="1850477"/>
          </a:xfrm>
          <a:prstGeom prst="rect">
            <a:avLst/>
          </a:prstGeom>
        </p:spPr>
      </p:pic>
      <p:sp>
        <p:nvSpPr>
          <p:cNvPr id="4" name="TextBox 3"/>
          <p:cNvSpPr txBox="1"/>
          <p:nvPr/>
        </p:nvSpPr>
        <p:spPr>
          <a:xfrm>
            <a:off x="6972300" y="1712993"/>
            <a:ext cx="4995582" cy="1785104"/>
          </a:xfrm>
          <a:prstGeom prst="rect">
            <a:avLst/>
          </a:prstGeom>
          <a:noFill/>
        </p:spPr>
        <p:txBody>
          <a:bodyPr wrap="square" rtlCol="0">
            <a:spAutoFit/>
          </a:bodyPr>
          <a:lstStyle/>
          <a:p>
            <a:pPr algn="ctr"/>
            <a:r>
              <a:rPr lang="en-AU" sz="2200" dirty="0" smtClean="0"/>
              <a:t>1. Square the deviations.</a:t>
            </a:r>
          </a:p>
          <a:p>
            <a:pPr algn="ctr"/>
            <a:r>
              <a:rPr lang="en-AU" sz="2200" dirty="0" smtClean="0"/>
              <a:t>2. Find the mean of the squared deviations (this is known as the variance).</a:t>
            </a:r>
          </a:p>
          <a:p>
            <a:pPr algn="ctr"/>
            <a:r>
              <a:rPr lang="en-AU" sz="2200" dirty="0" smtClean="0"/>
              <a:t>3. Square root the variance to get the standard deviation.</a:t>
            </a:r>
            <a:endParaRPr lang="en-AU" sz="2200" dirty="0"/>
          </a:p>
        </p:txBody>
      </p:sp>
      <mc:AlternateContent xmlns:mc="http://schemas.openxmlformats.org/markup-compatibility/2006">
        <mc:Choice xmlns:a14="http://schemas.microsoft.com/office/drawing/2010/main" Requires="a14">
          <p:sp>
            <p:nvSpPr>
              <p:cNvPr id="6" name="TextBox 5"/>
              <p:cNvSpPr txBox="1"/>
              <p:nvPr/>
            </p:nvSpPr>
            <p:spPr>
              <a:xfrm>
                <a:off x="339563" y="3859306"/>
                <a:ext cx="6320117" cy="833433"/>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f>
                        <m:fPr>
                          <m:ctrlPr>
                            <a:rPr lang="en-AU" sz="2400" i="1" smtClean="0">
                              <a:latin typeface="Cambria Math" panose="02040503050406030204" pitchFamily="18" charset="0"/>
                            </a:rPr>
                          </m:ctrlPr>
                        </m:fPr>
                        <m:num>
                          <m:sSup>
                            <m:sSupPr>
                              <m:ctrlPr>
                                <a:rPr lang="en-AU" sz="2400" i="1">
                                  <a:latin typeface="Cambria Math" panose="02040503050406030204" pitchFamily="18" charset="0"/>
                                </a:rPr>
                              </m:ctrlPr>
                            </m:sSupPr>
                            <m:e>
                              <m:r>
                                <a:rPr lang="en-AU" sz="2400" i="1">
                                  <a:latin typeface="Cambria Math" panose="02040503050406030204" pitchFamily="18" charset="0"/>
                                </a:rPr>
                                <m:t>(27)</m:t>
                              </m:r>
                            </m:e>
                            <m:sup>
                              <m:r>
                                <a:rPr lang="en-AU" sz="2400" i="1">
                                  <a:latin typeface="Cambria Math" panose="02040503050406030204" pitchFamily="18" charset="0"/>
                                </a:rPr>
                                <m:t>2</m:t>
                              </m:r>
                            </m:sup>
                          </m:sSup>
                          <m:r>
                            <a:rPr lang="en-AU" sz="2400" i="1">
                              <a:latin typeface="Cambria Math" panose="02040503050406030204" pitchFamily="18" charset="0"/>
                            </a:rPr>
                            <m:t>+</m:t>
                          </m:r>
                          <m:sSup>
                            <m:sSupPr>
                              <m:ctrlPr>
                                <a:rPr lang="en-AU" sz="2400" i="1">
                                  <a:latin typeface="Cambria Math" panose="02040503050406030204" pitchFamily="18" charset="0"/>
                                </a:rPr>
                              </m:ctrlPr>
                            </m:sSupPr>
                            <m:e>
                              <m:r>
                                <a:rPr lang="en-AU" sz="2400" i="1">
                                  <a:latin typeface="Cambria Math" panose="02040503050406030204" pitchFamily="18" charset="0"/>
                                </a:rPr>
                                <m:t>(0)</m:t>
                              </m:r>
                            </m:e>
                            <m:sup>
                              <m:r>
                                <a:rPr lang="en-AU" sz="2400" i="1">
                                  <a:latin typeface="Cambria Math" panose="02040503050406030204" pitchFamily="18" charset="0"/>
                                </a:rPr>
                                <m:t>2</m:t>
                              </m:r>
                            </m:sup>
                          </m:sSup>
                          <m:r>
                            <a:rPr lang="en-AU" sz="2400" i="1">
                              <a:latin typeface="Cambria Math" panose="02040503050406030204" pitchFamily="18" charset="0"/>
                            </a:rPr>
                            <m:t>+</m:t>
                          </m:r>
                          <m:sSup>
                            <m:sSupPr>
                              <m:ctrlPr>
                                <a:rPr lang="en-AU" sz="2400" i="1">
                                  <a:latin typeface="Cambria Math" panose="02040503050406030204" pitchFamily="18" charset="0"/>
                                </a:rPr>
                              </m:ctrlPr>
                            </m:sSupPr>
                            <m:e>
                              <m:r>
                                <a:rPr lang="en-AU" sz="2400" i="1">
                                  <a:latin typeface="Cambria Math" panose="02040503050406030204" pitchFamily="18" charset="0"/>
                                </a:rPr>
                                <m:t>(0)</m:t>
                              </m:r>
                            </m:e>
                            <m:sup>
                              <m:r>
                                <a:rPr lang="en-AU" sz="2400" i="1">
                                  <a:latin typeface="Cambria Math" panose="02040503050406030204" pitchFamily="18" charset="0"/>
                                </a:rPr>
                                <m:t>2</m:t>
                              </m:r>
                            </m:sup>
                          </m:sSup>
                          <m:r>
                            <a:rPr lang="en-AU" sz="2400" i="1">
                              <a:latin typeface="Cambria Math" panose="02040503050406030204" pitchFamily="18" charset="0"/>
                            </a:rPr>
                            <m:t>+</m:t>
                          </m:r>
                          <m:sSup>
                            <m:sSupPr>
                              <m:ctrlPr>
                                <a:rPr lang="en-AU" sz="2400" i="1">
                                  <a:latin typeface="Cambria Math" panose="02040503050406030204" pitchFamily="18" charset="0"/>
                                </a:rPr>
                              </m:ctrlPr>
                            </m:sSupPr>
                            <m:e>
                              <m:d>
                                <m:dPr>
                                  <m:ctrlPr>
                                    <a:rPr lang="en-AU" sz="2400" i="1">
                                      <a:latin typeface="Cambria Math" panose="02040503050406030204" pitchFamily="18" charset="0"/>
                                    </a:rPr>
                                  </m:ctrlPr>
                                </m:dPr>
                                <m:e>
                                  <m:r>
                                    <a:rPr lang="en-AU" sz="2400" i="1">
                                      <a:latin typeface="Cambria Math" panose="02040503050406030204" pitchFamily="18" charset="0"/>
                                    </a:rPr>
                                    <m:t>−12</m:t>
                                  </m:r>
                                </m:e>
                              </m:d>
                            </m:e>
                            <m:sup>
                              <m:r>
                                <a:rPr lang="en-AU" sz="2400" i="1">
                                  <a:latin typeface="Cambria Math" panose="02040503050406030204" pitchFamily="18" charset="0"/>
                                </a:rPr>
                                <m:t>2</m:t>
                              </m:r>
                            </m:sup>
                          </m:sSup>
                          <m:r>
                            <a:rPr lang="en-AU" sz="2400" i="1">
                              <a:latin typeface="Cambria Math" panose="02040503050406030204" pitchFamily="18" charset="0"/>
                            </a:rPr>
                            <m:t>+</m:t>
                          </m:r>
                          <m:sSup>
                            <m:sSupPr>
                              <m:ctrlPr>
                                <a:rPr lang="en-AU" sz="2400" i="1">
                                  <a:latin typeface="Cambria Math" panose="02040503050406030204" pitchFamily="18" charset="0"/>
                                </a:rPr>
                              </m:ctrlPr>
                            </m:sSupPr>
                            <m:e>
                              <m:r>
                                <a:rPr lang="en-AU" sz="2400" i="1">
                                  <a:latin typeface="Cambria Math" panose="02040503050406030204" pitchFamily="18" charset="0"/>
                                </a:rPr>
                                <m:t>(−15)</m:t>
                              </m:r>
                            </m:e>
                            <m:sup>
                              <m:r>
                                <a:rPr lang="en-AU" sz="2400" i="1">
                                  <a:latin typeface="Cambria Math" panose="02040503050406030204" pitchFamily="18" charset="0"/>
                                </a:rPr>
                                <m:t>2</m:t>
                              </m:r>
                            </m:sup>
                          </m:sSup>
                        </m:num>
                        <m:den>
                          <m:r>
                            <a:rPr lang="en-AU" sz="2400" b="0" i="1" smtClean="0">
                              <a:latin typeface="Cambria Math" panose="02040503050406030204" pitchFamily="18" charset="0"/>
                            </a:rPr>
                            <m:t>5</m:t>
                          </m:r>
                        </m:den>
                      </m:f>
                      <m:r>
                        <a:rPr lang="en-AU" sz="2400" b="0" i="0" smtClean="0">
                          <a:latin typeface="Cambria Math" panose="02040503050406030204" pitchFamily="18" charset="0"/>
                        </a:rPr>
                        <m:t>=219.6</m:t>
                      </m:r>
                    </m:oMath>
                  </m:oMathPara>
                </a14:m>
                <a:endParaRPr lang="en-AU" sz="2400" dirty="0"/>
              </a:p>
            </p:txBody>
          </p:sp>
        </mc:Choice>
        <mc:Fallback>
          <p:sp>
            <p:nvSpPr>
              <p:cNvPr id="6" name="TextBox 5"/>
              <p:cNvSpPr txBox="1">
                <a:spLocks noRot="1" noChangeAspect="1" noMove="1" noResize="1" noEditPoints="1" noAdjustHandles="1" noChangeArrowheads="1" noChangeShapeType="1" noTextEdit="1"/>
              </p:cNvSpPr>
              <p:nvPr/>
            </p:nvSpPr>
            <p:spPr>
              <a:xfrm>
                <a:off x="339563" y="3859306"/>
                <a:ext cx="6320117" cy="833433"/>
              </a:xfrm>
              <a:prstGeom prst="rect">
                <a:avLst/>
              </a:prstGeom>
              <a:blipFill>
                <a:blip r:embed="rId3"/>
                <a:stretch>
                  <a:fillRect/>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8" name="TextBox 7"/>
              <p:cNvSpPr txBox="1"/>
              <p:nvPr/>
            </p:nvSpPr>
            <p:spPr>
              <a:xfrm>
                <a:off x="339563" y="4801346"/>
                <a:ext cx="6320117" cy="505203"/>
              </a:xfrm>
              <a:prstGeom prst="rect">
                <a:avLst/>
              </a:prstGeom>
              <a:noFill/>
            </p:spPr>
            <p:txBody>
              <a:bodyPr wrap="square" rtlCol="0">
                <a:spAutoFit/>
              </a:bodyPr>
              <a:lstStyle/>
              <a:p>
                <a:pPr/>
                <a14:m>
                  <m:oMath xmlns:m="http://schemas.openxmlformats.org/officeDocument/2006/math">
                    <m:rad>
                      <m:radPr>
                        <m:degHide m:val="on"/>
                        <m:ctrlPr>
                          <a:rPr lang="en-AU" sz="2400" i="1" smtClean="0">
                            <a:latin typeface="Cambria Math" panose="02040503050406030204" pitchFamily="18" charset="0"/>
                          </a:rPr>
                        </m:ctrlPr>
                      </m:radPr>
                      <m:deg/>
                      <m:e>
                        <m:r>
                          <a:rPr lang="en-AU" sz="2400" b="0" i="1" smtClean="0">
                            <a:latin typeface="Cambria Math" panose="02040503050406030204" pitchFamily="18" charset="0"/>
                          </a:rPr>
                          <m:t>219.6</m:t>
                        </m:r>
                      </m:e>
                    </m:rad>
                    <m:r>
                      <a:rPr lang="en-AU" sz="2400" b="0" i="1" smtClean="0">
                        <a:latin typeface="Cambria Math" panose="02040503050406030204" pitchFamily="18" charset="0"/>
                      </a:rPr>
                      <m:t>=14.8 </m:t>
                    </m:r>
                  </m:oMath>
                </a14:m>
                <a:r>
                  <a:rPr lang="en-AU" sz="2400" dirty="0" smtClean="0"/>
                  <a:t>(to 1dp)</a:t>
                </a:r>
                <a:endParaRPr lang="en-AU" sz="2400" dirty="0"/>
              </a:p>
            </p:txBody>
          </p:sp>
        </mc:Choice>
        <mc:Fallback>
          <p:sp>
            <p:nvSpPr>
              <p:cNvPr id="8" name="TextBox 7"/>
              <p:cNvSpPr txBox="1">
                <a:spLocks noRot="1" noChangeAspect="1" noMove="1" noResize="1" noEditPoints="1" noAdjustHandles="1" noChangeArrowheads="1" noChangeShapeType="1" noTextEdit="1"/>
              </p:cNvSpPr>
              <p:nvPr/>
            </p:nvSpPr>
            <p:spPr>
              <a:xfrm>
                <a:off x="339563" y="4801346"/>
                <a:ext cx="6320117" cy="505203"/>
              </a:xfrm>
              <a:prstGeom prst="rect">
                <a:avLst/>
              </a:prstGeom>
              <a:blipFill>
                <a:blip r:embed="rId4"/>
                <a:stretch>
                  <a:fillRect t="-2439" b="-26829"/>
                </a:stretch>
              </a:blipFill>
            </p:spPr>
            <p:txBody>
              <a:bodyPr/>
              <a:lstStyle/>
              <a:p>
                <a:r>
                  <a:rPr lang="en-AU">
                    <a:noFill/>
                  </a:rPr>
                  <a:t> </a:t>
                </a:r>
              </a:p>
            </p:txBody>
          </p:sp>
        </mc:Fallback>
      </mc:AlternateContent>
      <p:sp>
        <p:nvSpPr>
          <p:cNvPr id="7" name="TextBox 6"/>
          <p:cNvSpPr txBox="1"/>
          <p:nvPr/>
        </p:nvSpPr>
        <p:spPr>
          <a:xfrm>
            <a:off x="339563" y="5600700"/>
            <a:ext cx="6992470" cy="430887"/>
          </a:xfrm>
          <a:prstGeom prst="rect">
            <a:avLst/>
          </a:prstGeom>
          <a:noFill/>
        </p:spPr>
        <p:txBody>
          <a:bodyPr wrap="square" rtlCol="0">
            <a:spAutoFit/>
          </a:bodyPr>
          <a:lstStyle/>
          <a:p>
            <a:r>
              <a:rPr lang="en-AU" sz="2200" dirty="0" smtClean="0"/>
              <a:t>The variance is 219.6 and the standard deviation is 14.8.</a:t>
            </a:r>
            <a:endParaRPr lang="en-AU" sz="2200" dirty="0"/>
          </a:p>
        </p:txBody>
      </p:sp>
      <p:sp>
        <p:nvSpPr>
          <p:cNvPr id="10" name="TextBox 9"/>
          <p:cNvSpPr txBox="1"/>
          <p:nvPr/>
        </p:nvSpPr>
        <p:spPr>
          <a:xfrm>
            <a:off x="7278221" y="4465470"/>
            <a:ext cx="4383740" cy="1446550"/>
          </a:xfrm>
          <a:prstGeom prst="rect">
            <a:avLst/>
          </a:prstGeom>
          <a:noFill/>
          <a:ln>
            <a:solidFill>
              <a:schemeClr val="tx1"/>
            </a:solidFill>
          </a:ln>
        </p:spPr>
        <p:txBody>
          <a:bodyPr wrap="square" rtlCol="0">
            <a:spAutoFit/>
          </a:bodyPr>
          <a:lstStyle/>
          <a:p>
            <a:pPr algn="ctr"/>
            <a:r>
              <a:rPr lang="en-AU" sz="2200" dirty="0" smtClean="0"/>
              <a:t>The lower the standard deviation is, the less spread out the data is. The higher the standard deviation is, the more spread out the data is.</a:t>
            </a:r>
            <a:endParaRPr lang="en-AU" sz="2200" dirty="0"/>
          </a:p>
        </p:txBody>
      </p:sp>
    </p:spTree>
    <p:extLst>
      <p:ext uri="{BB962C8B-B14F-4D97-AF65-F5344CB8AC3E}">
        <p14:creationId xmlns:p14="http://schemas.microsoft.com/office/powerpoint/2010/main" val="4183211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1"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8" grpId="0"/>
      <p:bldP spid="7" grpId="0"/>
      <p:bldP spid="10" grpId="0" animBg="1"/>
      <p:bldP spid="10" grpId="1"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1580029" cy="461665"/>
          </a:xfrm>
          <a:prstGeom prst="rect">
            <a:avLst/>
          </a:prstGeom>
          <a:solidFill>
            <a:srgbClr val="FFFF00"/>
          </a:solidFill>
        </p:spPr>
        <p:txBody>
          <a:bodyPr wrap="square" rtlCol="0">
            <a:spAutoFit/>
          </a:bodyPr>
          <a:lstStyle/>
          <a:p>
            <a:r>
              <a:rPr lang="en-AU" sz="2400" dirty="0" smtClean="0"/>
              <a:t>Example 1</a:t>
            </a:r>
            <a:endParaRPr lang="en-AU" sz="2400" dirty="0"/>
          </a:p>
        </p:txBody>
      </p:sp>
      <p:sp>
        <p:nvSpPr>
          <p:cNvPr id="3" name="TextBox 2"/>
          <p:cNvSpPr txBox="1"/>
          <p:nvPr/>
        </p:nvSpPr>
        <p:spPr>
          <a:xfrm>
            <a:off x="161365" y="719418"/>
            <a:ext cx="10239935" cy="430887"/>
          </a:xfrm>
          <a:prstGeom prst="rect">
            <a:avLst/>
          </a:prstGeom>
          <a:noFill/>
        </p:spPr>
        <p:txBody>
          <a:bodyPr wrap="square" rtlCol="0">
            <a:spAutoFit/>
          </a:bodyPr>
          <a:lstStyle/>
          <a:p>
            <a:r>
              <a:rPr lang="en-AU" sz="2200" dirty="0" smtClean="0"/>
              <a:t>Find the mean, the variance and the standard deviation of the set of scores:</a:t>
            </a:r>
            <a:endParaRPr lang="en-AU" sz="2200" dirty="0"/>
          </a:p>
        </p:txBody>
      </p:sp>
      <p:sp>
        <p:nvSpPr>
          <p:cNvPr id="4" name="TextBox 3"/>
          <p:cNvSpPr txBox="1"/>
          <p:nvPr/>
        </p:nvSpPr>
        <p:spPr>
          <a:xfrm>
            <a:off x="450477" y="1300992"/>
            <a:ext cx="4760259" cy="430887"/>
          </a:xfrm>
          <a:prstGeom prst="rect">
            <a:avLst/>
          </a:prstGeom>
          <a:noFill/>
        </p:spPr>
        <p:txBody>
          <a:bodyPr wrap="square" rtlCol="0">
            <a:spAutoFit/>
          </a:bodyPr>
          <a:lstStyle/>
          <a:p>
            <a:r>
              <a:rPr lang="en-AU" sz="2200" dirty="0" smtClean="0"/>
              <a:t>4, 7, 10, 13, 21</a:t>
            </a:r>
            <a:endParaRPr lang="en-AU" sz="2200" dirty="0"/>
          </a:p>
        </p:txBody>
      </p:sp>
      <mc:AlternateContent xmlns:mc="http://schemas.openxmlformats.org/markup-compatibility/2006">
        <mc:Choice xmlns:a14="http://schemas.microsoft.com/office/drawing/2010/main" Requires="a14">
          <p:sp>
            <p:nvSpPr>
              <p:cNvPr id="5" name="TextBox 4"/>
              <p:cNvSpPr txBox="1"/>
              <p:nvPr/>
            </p:nvSpPr>
            <p:spPr>
              <a:xfrm>
                <a:off x="336177" y="2548164"/>
                <a:ext cx="3778624" cy="578043"/>
              </a:xfrm>
              <a:prstGeom prst="rect">
                <a:avLst/>
              </a:prstGeom>
              <a:noFill/>
            </p:spPr>
            <p:txBody>
              <a:bodyPr wrap="square" rtlCol="0">
                <a:spAutoFit/>
              </a:bodyPr>
              <a:lstStyle/>
              <a:p>
                <a:r>
                  <a:rPr lang="en-AU" sz="2200" dirty="0" smtClean="0"/>
                  <a:t>Mean: </a:t>
                </a:r>
                <a14:m>
                  <m:oMath xmlns:m="http://schemas.openxmlformats.org/officeDocument/2006/math">
                    <m:f>
                      <m:fPr>
                        <m:ctrlPr>
                          <a:rPr lang="en-AU" sz="2200" i="1" smtClean="0">
                            <a:latin typeface="Cambria Math" panose="02040503050406030204" pitchFamily="18" charset="0"/>
                          </a:rPr>
                        </m:ctrlPr>
                      </m:fPr>
                      <m:num>
                        <m:r>
                          <a:rPr lang="en-AU" sz="2200" b="0" i="1" smtClean="0">
                            <a:latin typeface="Cambria Math" panose="02040503050406030204" pitchFamily="18" charset="0"/>
                          </a:rPr>
                          <m:t>4+7+10+13+21</m:t>
                        </m:r>
                      </m:num>
                      <m:den>
                        <m:r>
                          <a:rPr lang="en-AU" sz="2200" b="0" i="1" smtClean="0">
                            <a:latin typeface="Cambria Math" panose="02040503050406030204" pitchFamily="18" charset="0"/>
                          </a:rPr>
                          <m:t>5</m:t>
                        </m:r>
                      </m:den>
                    </m:f>
                    <m:r>
                      <a:rPr lang="en-AU" sz="2200" b="0" i="1" smtClean="0">
                        <a:latin typeface="Cambria Math" panose="02040503050406030204" pitchFamily="18" charset="0"/>
                      </a:rPr>
                      <m:t>=</m:t>
                    </m:r>
                    <m:f>
                      <m:fPr>
                        <m:ctrlPr>
                          <a:rPr lang="en-AU" sz="2200" b="0" i="1" smtClean="0">
                            <a:latin typeface="Cambria Math" panose="02040503050406030204" pitchFamily="18" charset="0"/>
                          </a:rPr>
                        </m:ctrlPr>
                      </m:fPr>
                      <m:num>
                        <m:r>
                          <a:rPr lang="en-AU" sz="2200" b="0" i="1" smtClean="0">
                            <a:latin typeface="Cambria Math" panose="02040503050406030204" pitchFamily="18" charset="0"/>
                          </a:rPr>
                          <m:t>55</m:t>
                        </m:r>
                      </m:num>
                      <m:den>
                        <m:r>
                          <a:rPr lang="en-AU" sz="2200" b="0" i="1" smtClean="0">
                            <a:latin typeface="Cambria Math" panose="02040503050406030204" pitchFamily="18" charset="0"/>
                          </a:rPr>
                          <m:t>5</m:t>
                        </m:r>
                      </m:den>
                    </m:f>
                    <m:r>
                      <a:rPr lang="en-AU" sz="2200" b="0" i="1" smtClean="0">
                        <a:latin typeface="Cambria Math" panose="02040503050406030204" pitchFamily="18" charset="0"/>
                      </a:rPr>
                      <m:t>=11</m:t>
                    </m:r>
                  </m:oMath>
                </a14:m>
                <a:endParaRPr lang="en-AU" sz="2200" dirty="0"/>
              </a:p>
            </p:txBody>
          </p:sp>
        </mc:Choice>
        <mc:Fallback>
          <p:sp>
            <p:nvSpPr>
              <p:cNvPr id="5" name="TextBox 4"/>
              <p:cNvSpPr txBox="1">
                <a:spLocks noRot="1" noChangeAspect="1" noMove="1" noResize="1" noEditPoints="1" noAdjustHandles="1" noChangeArrowheads="1" noChangeShapeType="1" noTextEdit="1"/>
              </p:cNvSpPr>
              <p:nvPr/>
            </p:nvSpPr>
            <p:spPr>
              <a:xfrm>
                <a:off x="336177" y="2548164"/>
                <a:ext cx="3778624" cy="578043"/>
              </a:xfrm>
              <a:prstGeom prst="rect">
                <a:avLst/>
              </a:prstGeom>
              <a:blipFill>
                <a:blip r:embed="rId2"/>
                <a:stretch>
                  <a:fillRect l="-2097" b="-9474"/>
                </a:stretch>
              </a:blipFill>
            </p:spPr>
            <p:txBody>
              <a:bodyPr/>
              <a:lstStyle/>
              <a:p>
                <a:r>
                  <a:rPr lang="en-AU">
                    <a:noFill/>
                  </a:rPr>
                  <a:t> </a:t>
                </a:r>
              </a:p>
            </p:txBody>
          </p:sp>
        </mc:Fallback>
      </mc:AlternateContent>
      <p:sp>
        <p:nvSpPr>
          <p:cNvPr id="7" name="TextBox 6"/>
          <p:cNvSpPr txBox="1"/>
          <p:nvPr/>
        </p:nvSpPr>
        <p:spPr>
          <a:xfrm>
            <a:off x="6784043" y="1408058"/>
            <a:ext cx="4995582" cy="2123658"/>
          </a:xfrm>
          <a:prstGeom prst="rect">
            <a:avLst/>
          </a:prstGeom>
          <a:noFill/>
          <a:ln>
            <a:solidFill>
              <a:schemeClr val="tx1"/>
            </a:solidFill>
          </a:ln>
        </p:spPr>
        <p:txBody>
          <a:bodyPr wrap="square" rtlCol="0">
            <a:spAutoFit/>
          </a:bodyPr>
          <a:lstStyle/>
          <a:p>
            <a:pPr algn="ctr"/>
            <a:r>
              <a:rPr lang="en-AU" sz="2200" b="1" dirty="0" smtClean="0"/>
              <a:t>Standard Deviation:</a:t>
            </a:r>
          </a:p>
          <a:p>
            <a:pPr algn="ctr"/>
            <a:r>
              <a:rPr lang="en-AU" sz="2200" dirty="0" smtClean="0"/>
              <a:t>1. Square the deviations.</a:t>
            </a:r>
          </a:p>
          <a:p>
            <a:pPr algn="ctr"/>
            <a:r>
              <a:rPr lang="en-AU" sz="2200" dirty="0" smtClean="0"/>
              <a:t>2. Find the mean of the squared deviations (this is known as the variance).</a:t>
            </a:r>
          </a:p>
          <a:p>
            <a:pPr algn="ctr"/>
            <a:r>
              <a:rPr lang="en-AU" sz="2200" dirty="0" smtClean="0"/>
              <a:t>3. Square root the variance to get the standard deviation.</a:t>
            </a:r>
            <a:endParaRPr lang="en-AU" sz="2200" dirty="0"/>
          </a:p>
        </p:txBody>
      </p:sp>
      <mc:AlternateContent xmlns:mc="http://schemas.openxmlformats.org/markup-compatibility/2006">
        <mc:Choice xmlns:a14="http://schemas.microsoft.com/office/drawing/2010/main" Requires="a14">
          <p:sp>
            <p:nvSpPr>
              <p:cNvPr id="8" name="TextBox 7"/>
              <p:cNvSpPr txBox="1"/>
              <p:nvPr/>
            </p:nvSpPr>
            <p:spPr>
              <a:xfrm>
                <a:off x="336177" y="3562139"/>
                <a:ext cx="6266330" cy="620747"/>
              </a:xfrm>
              <a:prstGeom prst="rect">
                <a:avLst/>
              </a:prstGeom>
              <a:noFill/>
            </p:spPr>
            <p:txBody>
              <a:bodyPr wrap="square" rtlCol="0">
                <a:spAutoFit/>
              </a:bodyPr>
              <a:lstStyle/>
              <a:p>
                <a:r>
                  <a:rPr lang="en-AU" sz="2200" dirty="0" smtClean="0"/>
                  <a:t>Variance: </a:t>
                </a:r>
                <a14:m>
                  <m:oMath xmlns:m="http://schemas.openxmlformats.org/officeDocument/2006/math">
                    <m:f>
                      <m:fPr>
                        <m:ctrlPr>
                          <a:rPr lang="en-AU" sz="2200" i="1" smtClean="0">
                            <a:latin typeface="Cambria Math" panose="02040503050406030204" pitchFamily="18" charset="0"/>
                          </a:rPr>
                        </m:ctrlPr>
                      </m:fPr>
                      <m:num>
                        <m:sSup>
                          <m:sSupPr>
                            <m:ctrlPr>
                              <a:rPr lang="en-AU" sz="2200" i="1" smtClean="0">
                                <a:latin typeface="Cambria Math" panose="02040503050406030204" pitchFamily="18" charset="0"/>
                              </a:rPr>
                            </m:ctrlPr>
                          </m:sSupPr>
                          <m:e>
                            <m:r>
                              <a:rPr lang="en-AU" sz="2200" b="0" i="1" smtClean="0">
                                <a:latin typeface="Cambria Math" panose="02040503050406030204" pitchFamily="18" charset="0"/>
                              </a:rPr>
                              <m:t>(−7)</m:t>
                            </m:r>
                          </m:e>
                          <m:sup>
                            <m:r>
                              <a:rPr lang="en-AU" sz="2200" b="0" i="1" smtClean="0">
                                <a:latin typeface="Cambria Math" panose="02040503050406030204" pitchFamily="18" charset="0"/>
                              </a:rPr>
                              <m:t>2</m:t>
                            </m:r>
                          </m:sup>
                        </m:sSup>
                        <m:r>
                          <a:rPr lang="en-AU" sz="2200" b="0" i="1" smtClean="0">
                            <a:latin typeface="Cambria Math" panose="02040503050406030204" pitchFamily="18" charset="0"/>
                          </a:rPr>
                          <m:t>+</m:t>
                        </m:r>
                        <m:sSup>
                          <m:sSupPr>
                            <m:ctrlPr>
                              <a:rPr lang="en-AU" sz="2200" b="0" i="1" smtClean="0">
                                <a:latin typeface="Cambria Math" panose="02040503050406030204" pitchFamily="18" charset="0"/>
                              </a:rPr>
                            </m:ctrlPr>
                          </m:sSupPr>
                          <m:e>
                            <m:r>
                              <a:rPr lang="en-AU" sz="2200" b="0" i="1" smtClean="0">
                                <a:latin typeface="Cambria Math" panose="02040503050406030204" pitchFamily="18" charset="0"/>
                              </a:rPr>
                              <m:t>(−4)</m:t>
                            </m:r>
                          </m:e>
                          <m:sup>
                            <m:r>
                              <a:rPr lang="en-AU" sz="2200" b="0" i="1" smtClean="0">
                                <a:latin typeface="Cambria Math" panose="02040503050406030204" pitchFamily="18" charset="0"/>
                              </a:rPr>
                              <m:t>2</m:t>
                            </m:r>
                          </m:sup>
                        </m:sSup>
                        <m:r>
                          <a:rPr lang="en-AU" sz="2200" b="0" i="1" smtClean="0">
                            <a:latin typeface="Cambria Math" panose="02040503050406030204" pitchFamily="18" charset="0"/>
                          </a:rPr>
                          <m:t>+</m:t>
                        </m:r>
                        <m:sSup>
                          <m:sSupPr>
                            <m:ctrlPr>
                              <a:rPr lang="en-AU" sz="2200" b="0" i="1" smtClean="0">
                                <a:latin typeface="Cambria Math" panose="02040503050406030204" pitchFamily="18" charset="0"/>
                              </a:rPr>
                            </m:ctrlPr>
                          </m:sSupPr>
                          <m:e>
                            <m:r>
                              <a:rPr lang="en-AU" sz="2200" b="0" i="1" smtClean="0">
                                <a:latin typeface="Cambria Math" panose="02040503050406030204" pitchFamily="18" charset="0"/>
                              </a:rPr>
                              <m:t>(−1)</m:t>
                            </m:r>
                          </m:e>
                          <m:sup>
                            <m:r>
                              <a:rPr lang="en-AU" sz="2200" b="0" i="1" smtClean="0">
                                <a:latin typeface="Cambria Math" panose="02040503050406030204" pitchFamily="18" charset="0"/>
                              </a:rPr>
                              <m:t>2</m:t>
                            </m:r>
                          </m:sup>
                        </m:sSup>
                        <m:r>
                          <a:rPr lang="en-AU" sz="2200" b="0" i="1" smtClean="0">
                            <a:latin typeface="Cambria Math" panose="02040503050406030204" pitchFamily="18" charset="0"/>
                          </a:rPr>
                          <m:t>+</m:t>
                        </m:r>
                        <m:sSup>
                          <m:sSupPr>
                            <m:ctrlPr>
                              <a:rPr lang="en-AU" sz="2200" b="0" i="1" smtClean="0">
                                <a:latin typeface="Cambria Math" panose="02040503050406030204" pitchFamily="18" charset="0"/>
                              </a:rPr>
                            </m:ctrlPr>
                          </m:sSupPr>
                          <m:e>
                            <m:r>
                              <a:rPr lang="en-AU" sz="2200" b="0" i="1" smtClean="0">
                                <a:latin typeface="Cambria Math" panose="02040503050406030204" pitchFamily="18" charset="0"/>
                              </a:rPr>
                              <m:t>(2)</m:t>
                            </m:r>
                          </m:e>
                          <m:sup>
                            <m:r>
                              <a:rPr lang="en-AU" sz="2200" b="0" i="1" smtClean="0">
                                <a:latin typeface="Cambria Math" panose="02040503050406030204" pitchFamily="18" charset="0"/>
                              </a:rPr>
                              <m:t>2</m:t>
                            </m:r>
                          </m:sup>
                        </m:sSup>
                        <m:r>
                          <a:rPr lang="en-AU" sz="2200" b="0" i="1" smtClean="0">
                            <a:latin typeface="Cambria Math" panose="02040503050406030204" pitchFamily="18" charset="0"/>
                          </a:rPr>
                          <m:t>+</m:t>
                        </m:r>
                        <m:sSup>
                          <m:sSupPr>
                            <m:ctrlPr>
                              <a:rPr lang="en-AU" sz="2200" b="0" i="1" smtClean="0">
                                <a:latin typeface="Cambria Math" panose="02040503050406030204" pitchFamily="18" charset="0"/>
                              </a:rPr>
                            </m:ctrlPr>
                          </m:sSupPr>
                          <m:e>
                            <m:r>
                              <a:rPr lang="en-AU" sz="2200" b="0" i="1" smtClean="0">
                                <a:latin typeface="Cambria Math" panose="02040503050406030204" pitchFamily="18" charset="0"/>
                              </a:rPr>
                              <m:t>(10)</m:t>
                            </m:r>
                          </m:e>
                          <m:sup>
                            <m:r>
                              <a:rPr lang="en-AU" sz="2200" b="0" i="1" smtClean="0">
                                <a:latin typeface="Cambria Math" panose="02040503050406030204" pitchFamily="18" charset="0"/>
                              </a:rPr>
                              <m:t>2</m:t>
                            </m:r>
                          </m:sup>
                        </m:sSup>
                      </m:num>
                      <m:den>
                        <m:r>
                          <a:rPr lang="en-AU" sz="2200" b="0" i="1" smtClean="0">
                            <a:latin typeface="Cambria Math" panose="02040503050406030204" pitchFamily="18" charset="0"/>
                          </a:rPr>
                          <m:t>5</m:t>
                        </m:r>
                      </m:den>
                    </m:f>
                    <m:r>
                      <a:rPr lang="en-AU" sz="2200" b="0" i="1" smtClean="0">
                        <a:latin typeface="Cambria Math" panose="02040503050406030204" pitchFamily="18" charset="0"/>
                      </a:rPr>
                      <m:t>=</m:t>
                    </m:r>
                    <m:f>
                      <m:fPr>
                        <m:ctrlPr>
                          <a:rPr lang="en-AU" sz="2200" b="0" i="1" smtClean="0">
                            <a:latin typeface="Cambria Math" panose="02040503050406030204" pitchFamily="18" charset="0"/>
                          </a:rPr>
                        </m:ctrlPr>
                      </m:fPr>
                      <m:num>
                        <m:r>
                          <a:rPr lang="en-AU" sz="2200" b="0" i="1" smtClean="0">
                            <a:latin typeface="Cambria Math" panose="02040503050406030204" pitchFamily="18" charset="0"/>
                          </a:rPr>
                          <m:t>170</m:t>
                        </m:r>
                      </m:num>
                      <m:den>
                        <m:r>
                          <a:rPr lang="en-AU" sz="2200" b="0" i="1" smtClean="0">
                            <a:latin typeface="Cambria Math" panose="02040503050406030204" pitchFamily="18" charset="0"/>
                          </a:rPr>
                          <m:t>5</m:t>
                        </m:r>
                      </m:den>
                    </m:f>
                    <m:r>
                      <a:rPr lang="en-AU" sz="2200" b="0" i="1" smtClean="0">
                        <a:latin typeface="Cambria Math" panose="02040503050406030204" pitchFamily="18" charset="0"/>
                      </a:rPr>
                      <m:t>=34</m:t>
                    </m:r>
                  </m:oMath>
                </a14:m>
                <a:endParaRPr lang="en-AU" sz="2200" dirty="0"/>
              </a:p>
            </p:txBody>
          </p:sp>
        </mc:Choice>
        <mc:Fallback>
          <p:sp>
            <p:nvSpPr>
              <p:cNvPr id="8" name="TextBox 7"/>
              <p:cNvSpPr txBox="1">
                <a:spLocks noRot="1" noChangeAspect="1" noMove="1" noResize="1" noEditPoints="1" noAdjustHandles="1" noChangeArrowheads="1" noChangeShapeType="1" noTextEdit="1"/>
              </p:cNvSpPr>
              <p:nvPr/>
            </p:nvSpPr>
            <p:spPr>
              <a:xfrm>
                <a:off x="336177" y="3562139"/>
                <a:ext cx="6266330" cy="620747"/>
              </a:xfrm>
              <a:prstGeom prst="rect">
                <a:avLst/>
              </a:prstGeom>
              <a:blipFill>
                <a:blip r:embed="rId3"/>
                <a:stretch>
                  <a:fillRect l="-1265" b="-7843"/>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9" name="TextBox 8"/>
              <p:cNvSpPr txBox="1"/>
              <p:nvPr/>
            </p:nvSpPr>
            <p:spPr>
              <a:xfrm>
                <a:off x="336177" y="4649625"/>
                <a:ext cx="6266330" cy="478529"/>
              </a:xfrm>
              <a:prstGeom prst="rect">
                <a:avLst/>
              </a:prstGeom>
              <a:noFill/>
            </p:spPr>
            <p:txBody>
              <a:bodyPr wrap="square" rtlCol="0">
                <a:spAutoFit/>
              </a:bodyPr>
              <a:lstStyle/>
              <a:p>
                <a:r>
                  <a:rPr lang="en-AU" sz="2200" dirty="0" smtClean="0"/>
                  <a:t>Standard Deviation: </a:t>
                </a:r>
                <a14:m>
                  <m:oMath xmlns:m="http://schemas.openxmlformats.org/officeDocument/2006/math">
                    <m:rad>
                      <m:radPr>
                        <m:degHide m:val="on"/>
                        <m:ctrlPr>
                          <a:rPr lang="en-AU" sz="2200" i="1" smtClean="0">
                            <a:latin typeface="Cambria Math" panose="02040503050406030204" pitchFamily="18" charset="0"/>
                          </a:rPr>
                        </m:ctrlPr>
                      </m:radPr>
                      <m:deg/>
                      <m:e>
                        <m:r>
                          <a:rPr lang="en-AU" sz="2200" b="0" i="1" smtClean="0">
                            <a:latin typeface="Cambria Math" panose="02040503050406030204" pitchFamily="18" charset="0"/>
                          </a:rPr>
                          <m:t>34</m:t>
                        </m:r>
                      </m:e>
                    </m:rad>
                    <m:r>
                      <a:rPr lang="en-AU" sz="2200" b="0" i="1" smtClean="0">
                        <a:latin typeface="Cambria Math" panose="02040503050406030204" pitchFamily="18" charset="0"/>
                      </a:rPr>
                      <m:t>=5.83 </m:t>
                    </m:r>
                  </m:oMath>
                </a14:m>
                <a:r>
                  <a:rPr lang="en-AU" sz="2200" dirty="0" smtClean="0"/>
                  <a:t>(to 2dp)</a:t>
                </a:r>
                <a:endParaRPr lang="en-AU" sz="2200" dirty="0"/>
              </a:p>
            </p:txBody>
          </p:sp>
        </mc:Choice>
        <mc:Fallback>
          <p:sp>
            <p:nvSpPr>
              <p:cNvPr id="9" name="TextBox 8"/>
              <p:cNvSpPr txBox="1">
                <a:spLocks noRot="1" noChangeAspect="1" noMove="1" noResize="1" noEditPoints="1" noAdjustHandles="1" noChangeArrowheads="1" noChangeShapeType="1" noTextEdit="1"/>
              </p:cNvSpPr>
              <p:nvPr/>
            </p:nvSpPr>
            <p:spPr>
              <a:xfrm>
                <a:off x="336177" y="4649625"/>
                <a:ext cx="6266330" cy="478529"/>
              </a:xfrm>
              <a:prstGeom prst="rect">
                <a:avLst/>
              </a:prstGeom>
              <a:blipFill>
                <a:blip r:embed="rId4"/>
                <a:stretch>
                  <a:fillRect l="-1265" t="-2564" b="-21795"/>
                </a:stretch>
              </a:blipFill>
            </p:spPr>
            <p:txBody>
              <a:bodyPr/>
              <a:lstStyle/>
              <a:p>
                <a:r>
                  <a:rPr lang="en-AU">
                    <a:noFill/>
                  </a:rPr>
                  <a:t> </a:t>
                </a:r>
              </a:p>
            </p:txBody>
          </p:sp>
        </mc:Fallback>
      </mc:AlternateContent>
      <p:sp>
        <p:nvSpPr>
          <p:cNvPr id="6" name="TextBox 5"/>
          <p:cNvSpPr txBox="1"/>
          <p:nvPr/>
        </p:nvSpPr>
        <p:spPr>
          <a:xfrm>
            <a:off x="336177" y="5512663"/>
            <a:ext cx="10098741" cy="430887"/>
          </a:xfrm>
          <a:prstGeom prst="rect">
            <a:avLst/>
          </a:prstGeom>
          <a:noFill/>
        </p:spPr>
        <p:txBody>
          <a:bodyPr wrap="square" rtlCol="0">
            <a:spAutoFit/>
          </a:bodyPr>
          <a:lstStyle/>
          <a:p>
            <a:r>
              <a:rPr lang="en-AU" sz="2200" dirty="0" smtClean="0"/>
              <a:t>The scores have a mean of 11, a variance of 34 and a standard deviation of 5.83.</a:t>
            </a:r>
            <a:endParaRPr lang="en-AU" sz="2200" dirty="0"/>
          </a:p>
        </p:txBody>
      </p:sp>
      <p:sp>
        <p:nvSpPr>
          <p:cNvPr id="11" name="TextBox 10"/>
          <p:cNvSpPr txBox="1"/>
          <p:nvPr/>
        </p:nvSpPr>
        <p:spPr>
          <a:xfrm>
            <a:off x="3527612" y="0"/>
            <a:ext cx="2731994" cy="461665"/>
          </a:xfrm>
          <a:prstGeom prst="rect">
            <a:avLst/>
          </a:prstGeom>
          <a:solidFill>
            <a:srgbClr val="FFFF00"/>
          </a:solidFill>
        </p:spPr>
        <p:txBody>
          <a:bodyPr wrap="square" rtlCol="0">
            <a:spAutoFit/>
          </a:bodyPr>
          <a:lstStyle/>
          <a:p>
            <a:r>
              <a:rPr lang="en-AU" sz="2400" dirty="0" smtClean="0"/>
              <a:t>Now do Exercise 3A</a:t>
            </a:r>
            <a:endParaRPr lang="en-AU" sz="2400" dirty="0"/>
          </a:p>
        </p:txBody>
      </p:sp>
    </p:spTree>
    <p:extLst>
      <p:ext uri="{BB962C8B-B14F-4D97-AF65-F5344CB8AC3E}">
        <p14:creationId xmlns:p14="http://schemas.microsoft.com/office/powerpoint/2010/main" val="579462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9" grpId="0"/>
      <p:bldP spid="6" grpId="0"/>
      <p:bldP spid="11"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227</TotalTime>
  <Words>632</Words>
  <Application>Microsoft Office PowerPoint</Application>
  <PresentationFormat>Widescreen</PresentationFormat>
  <Paragraphs>36</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Calibri Light</vt:lpstr>
      <vt:lpstr>Cambria Math</vt:lpstr>
      <vt:lpstr>Office Theme</vt:lpstr>
      <vt:lpstr>PowerPoint Presentation</vt:lpstr>
      <vt:lpstr>PowerPoint Presentation</vt:lpstr>
      <vt:lpstr>PowerPoint Presentation</vt:lpstr>
      <vt:lpstr>PowerPoint Presentation</vt:lpstr>
      <vt:lpstr>PowerPoint Presentation</vt:lpstr>
    </vt:vector>
  </TitlesOfParts>
  <Company>HarrisdaleSHS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teacher</dc:creator>
  <cp:lastModifiedBy>LEVITT Megan [Harrisdale Senior High School]</cp:lastModifiedBy>
  <cp:revision>43</cp:revision>
  <dcterms:created xsi:type="dcterms:W3CDTF">2020-12-09T06:24:59Z</dcterms:created>
  <dcterms:modified xsi:type="dcterms:W3CDTF">2021-06-18T04:23:28Z</dcterms:modified>
</cp:coreProperties>
</file>
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EC59-EBB0-4596-BF11-A11E49090F87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2D445-8698-467F-B411-9A00AE6390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096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26/07/2021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158757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Scenario 1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84146" y="583421"/>
            <a:ext cx="1187037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Shaun sits a Mathematics test and achieves a mark of 27.</a:t>
            </a:r>
          </a:p>
          <a:p>
            <a:pPr algn="ctr"/>
            <a:r>
              <a:rPr lang="en-AU" sz="2200" dirty="0" smtClean="0"/>
              <a:t>In the next test, he scores 30. Has he improved?</a:t>
            </a:r>
          </a:p>
          <a:p>
            <a:pPr algn="ctr"/>
            <a:endParaRPr lang="en-AU" sz="2200" dirty="0"/>
          </a:p>
          <a:p>
            <a:pPr algn="ctr"/>
            <a:r>
              <a:rPr lang="en-AU" sz="2200" i="1" dirty="0" smtClean="0"/>
              <a:t>Do we know what each test was out of?</a:t>
            </a:r>
          </a:p>
          <a:p>
            <a:pPr algn="ctr"/>
            <a:endParaRPr lang="en-AU" sz="2200" i="1" dirty="0"/>
          </a:p>
          <a:p>
            <a:pPr algn="ctr"/>
            <a:r>
              <a:rPr lang="en-AU" sz="2200" dirty="0" smtClean="0"/>
              <a:t>Test 1 was out of 40 and test 2 was out of 50. Do we now know if he improved?</a:t>
            </a:r>
          </a:p>
          <a:p>
            <a:pPr algn="ctr"/>
            <a:endParaRPr lang="en-AU" sz="2200" dirty="0"/>
          </a:p>
          <a:p>
            <a:pPr algn="ctr"/>
            <a:r>
              <a:rPr lang="en-AU" sz="2200" i="1" dirty="0" smtClean="0"/>
              <a:t>Were the tests of similar difficulty? What was the mean mark in each test?</a:t>
            </a:r>
          </a:p>
          <a:p>
            <a:pPr algn="ctr"/>
            <a:endParaRPr lang="en-AU" sz="2200" i="1" dirty="0"/>
          </a:p>
          <a:p>
            <a:pPr algn="ctr"/>
            <a:r>
              <a:rPr lang="en-AU" sz="2200" dirty="0" smtClean="0"/>
              <a:t>The mean in test 1 was 23 and the mean in test 2 was 25. </a:t>
            </a:r>
          </a:p>
          <a:p>
            <a:pPr algn="ctr"/>
            <a:r>
              <a:rPr lang="en-AU" sz="2200" dirty="0" smtClean="0"/>
              <a:t>Now can we say he improved?</a:t>
            </a:r>
          </a:p>
          <a:p>
            <a:pPr algn="ctr"/>
            <a:endParaRPr lang="en-AU" sz="2200" dirty="0"/>
          </a:p>
          <a:p>
            <a:pPr algn="ctr"/>
            <a:r>
              <a:rPr lang="en-AU" sz="2200" i="1" dirty="0" smtClean="0"/>
              <a:t>What if we knew the standard deviation as well?</a:t>
            </a:r>
          </a:p>
          <a:p>
            <a:pPr algn="ctr"/>
            <a:endParaRPr lang="en-AU" sz="2200" i="1" dirty="0"/>
          </a:p>
          <a:p>
            <a:pPr algn="ctr"/>
            <a:r>
              <a:rPr lang="en-AU" sz="2200" dirty="0" smtClean="0"/>
              <a:t>The standard deviation in test 1 was 5 marks and in test 2 it was 10 marks.</a:t>
            </a:r>
          </a:p>
          <a:p>
            <a:pPr algn="ctr"/>
            <a:endParaRPr lang="en-AU" sz="2200" dirty="0"/>
          </a:p>
          <a:p>
            <a:pPr algn="ctr"/>
            <a:r>
              <a:rPr lang="en-AU" sz="2200" i="1" dirty="0" smtClean="0"/>
              <a:t>Now can we suggest whether Shaun’s marks have improved?</a:t>
            </a:r>
            <a:endParaRPr lang="en-AU" sz="2200" i="1" dirty="0"/>
          </a:p>
        </p:txBody>
      </p:sp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151465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Scenario 1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2685" y="622690"/>
            <a:ext cx="1164597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To help us with the problem seen in the last slide, we can express Shaun’s test scores as the number of standard deviations away from the mean.</a:t>
            </a:r>
          </a:p>
          <a:p>
            <a:endParaRPr lang="en-AU" sz="2200" dirty="0"/>
          </a:p>
          <a:p>
            <a:r>
              <a:rPr lang="en-AU" sz="2200" dirty="0" smtClean="0"/>
              <a:t>Doing this is called standardising the score. We obtain the standard score (known as a z score).</a:t>
            </a:r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31980" y="2245854"/>
                <a:ext cx="6322263" cy="6770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1" i="1" dirty="0" smtClean="0">
                          <a:latin typeface="Cambria Math" panose="02040503050406030204" pitchFamily="18" charset="0"/>
                        </a:rPr>
                        <m:t>𝑺𝒕𝒂𝒏𝒅𝒂𝒓𝒅𝒊𝒔𝒆𝒅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𝒔𝒄𝒐𝒓𝒆</m:t>
                      </m:r>
                      <m:r>
                        <a:rPr lang="en-AU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𝒓𝒂𝒘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𝒔𝒄𝒐𝒓𝒆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𝒎𝒆𝒂𝒏</m:t>
                          </m:r>
                        </m:num>
                        <m:den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𝒔𝒕𝒂𝒏𝒅𝒂𝒓𝒅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1" i="1" smtClean="0">
                              <a:latin typeface="Cambria Math" panose="02040503050406030204" pitchFamily="18" charset="0"/>
                            </a:rPr>
                            <m:t>𝒅𝒆𝒗𝒊𝒂𝒕𝒊𝒐𝒏</m:t>
                          </m:r>
                        </m:den>
                      </m:f>
                    </m:oMath>
                  </m:oMathPara>
                </a14:m>
                <a:endParaRPr lang="en-AU" sz="2200" b="1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980" y="2245854"/>
                <a:ext cx="6322263" cy="6770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4390" y="3208815"/>
            <a:ext cx="10568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Test 1:	Shaun’s score: 27		Mean: 23		Standard deviation: 5</a:t>
            </a:r>
            <a:endParaRPr lang="en-AU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224390" y="3695902"/>
            <a:ext cx="103276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Test 2:	Shaun’s score: 30		Mean: 25		Standard deviation: 10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4390" y="4426450"/>
                <a:ext cx="7006660" cy="728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Standardised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1: = </m:t>
                      </m:r>
                      <m:f>
                        <m:f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27 −23</m:t>
                          </m:r>
                        </m:num>
                        <m:den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0" y="4426450"/>
                <a:ext cx="7006660" cy="7284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4390" y="5285687"/>
                <a:ext cx="7006660" cy="757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Standardised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2: = </m:t>
                      </m:r>
                      <m:f>
                        <m:f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30 −25</m:t>
                          </m:r>
                        </m:num>
                        <m:den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0" y="5285687"/>
                <a:ext cx="7006660" cy="757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389580" y="4666273"/>
            <a:ext cx="50432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This suggests that compared to other students in his class, Shaun performed better in test 1 than test 2.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" y="0"/>
            <a:ext cx="151465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62685" y="650738"/>
            <a:ext cx="11320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Jennifer scores 23, 35 and 17 in tests A, B and C respectively.</a:t>
            </a:r>
          </a:p>
          <a:p>
            <a:r>
              <a:rPr lang="en-AU" sz="2200" dirty="0" smtClean="0"/>
              <a:t>Express each of Jennifer’s test scores as standardised scores (z scores).</a:t>
            </a:r>
            <a:endParaRPr lang="en-AU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162685" y="1690591"/>
            <a:ext cx="10568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Test A:	Jennifer’s score: 23		Mean: 30		Standard deviation: 5</a:t>
            </a:r>
            <a:endParaRPr lang="en-AU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162685" y="2177678"/>
            <a:ext cx="103276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Test B:	Jennifer’s score: 35		Mean: 32		Standard deviation: 6</a:t>
            </a:r>
            <a:endParaRPr lang="en-AU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162685" y="2664765"/>
            <a:ext cx="103276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Test C:	Jennifer’s score: 17		Mean: 15		Standard deviation: 2.5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3170" y="3377414"/>
                <a:ext cx="7006660" cy="728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Standardised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: = </m:t>
                      </m:r>
                      <m:f>
                        <m:f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23 −30</m:t>
                          </m:r>
                        </m:num>
                        <m:den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=−1.4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0" y="3377414"/>
                <a:ext cx="7006660" cy="7284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3170" y="4236651"/>
                <a:ext cx="7006660" cy="757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Standardised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: = </m:t>
                      </m:r>
                      <m:f>
                        <m:f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35 −32</m:t>
                          </m:r>
                        </m:num>
                        <m:den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0" y="4236651"/>
                <a:ext cx="7006660" cy="757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3170" y="5125063"/>
                <a:ext cx="7006660" cy="757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Standardised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: = </m:t>
                      </m:r>
                      <m:f>
                        <m:fPr>
                          <m:ctrlPr>
                            <a:rPr lang="en-AU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17 −15</m:t>
                          </m:r>
                        </m:num>
                        <m:den>
                          <m:r>
                            <a:rPr lang="en-AU" sz="2200" b="0" i="0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den>
                      </m:f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0" y="5125063"/>
                <a:ext cx="7006660" cy="757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508523" y="0"/>
            <a:ext cx="283202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13A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672" y="3377414"/>
            <a:ext cx="2245768" cy="9507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5548" y="3448024"/>
            <a:ext cx="2479456" cy="28191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20672" y="4328140"/>
            <a:ext cx="220088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We can use the formula or use the e-activity on our Class Pads to get these standardised scores.</a:t>
            </a:r>
            <a:endParaRPr lang="en-AU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943" y="333161"/>
            <a:ext cx="3345087" cy="62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7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471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46</cp:revision>
  <dcterms:created xsi:type="dcterms:W3CDTF">2020-12-09T06:24:59Z</dcterms:created>
  <dcterms:modified xsi:type="dcterms:W3CDTF">2021-07-26T00:58:50Z</dcterms:modified>
</cp:coreProperties>
</file>
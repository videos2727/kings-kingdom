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81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7/09/2021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4.png"/><Relationship Id="rId7" Type="http://schemas.openxmlformats.org/officeDocument/2006/relationships/image" Target="../media/image60.png"/><Relationship Id="rId12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00.png"/><Relationship Id="rId5" Type="http://schemas.openxmlformats.org/officeDocument/2006/relationships/image" Target="../media/image40.png"/><Relationship Id="rId10" Type="http://schemas.openxmlformats.org/officeDocument/2006/relationships/image" Target="../media/image90.png"/><Relationship Id="rId4" Type="http://schemas.openxmlformats.org/officeDocument/2006/relationships/image" Target="../media/image30.png"/><Relationship Id="rId9" Type="http://schemas.openxmlformats.org/officeDocument/2006/relationships/image" Target="../media/image8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92081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</a:t>
            </a:r>
            <a:r>
              <a:rPr lang="en-AU" sz="2400" dirty="0"/>
              <a:t>8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51465" y="600250"/>
            <a:ext cx="11511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How much money needs to be invested for 3 years at 6% simple interest to earn interest of $864?</a:t>
            </a:r>
            <a:endParaRPr lang="en-AU" sz="2200" dirty="0" smtClean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65533" y="1350511"/>
                <a:ext cx="1094475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 smtClean="0"/>
                  <a:t>Using</a:t>
                </a:r>
                <a:r>
                  <a:rPr lang="en-AU" sz="2800" dirty="0" smtClean="0"/>
                  <a:t>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𝑃𝑟𝑇</m:t>
                    </m:r>
                  </m:oMath>
                </a14:m>
                <a:endParaRPr lang="en-AU" sz="2800" dirty="0" smtClean="0"/>
              </a:p>
              <a:p>
                <a:r>
                  <a:rPr lang="en-AU" sz="2800" dirty="0" smtClean="0"/>
                  <a:t>Given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=864,  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=0.06,  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AU" sz="2200" dirty="0" smtClean="0"/>
                  <a:t>				</a:t>
                </a:r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3" y="1350511"/>
                <a:ext cx="10944751" cy="954107"/>
              </a:xfrm>
              <a:prstGeom prst="rect">
                <a:avLst/>
              </a:prstGeom>
              <a:blipFill>
                <a:blip r:embed="rId2"/>
                <a:stretch>
                  <a:fillRect l="-1170" t="-6410" b="-179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145590" y="2674721"/>
                <a:ext cx="43306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864=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×0.06×3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590" y="2674721"/>
                <a:ext cx="433063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564745" y="3557492"/>
                <a:ext cx="43306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864=0.18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745" y="3557492"/>
                <a:ext cx="433063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094138" y="4380824"/>
                <a:ext cx="4330636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864</m:t>
                          </m:r>
                        </m:num>
                        <m:den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0.18</m:t>
                          </m:r>
                        </m:den>
                      </m:f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138" y="4380824"/>
                <a:ext cx="4330636" cy="10143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033753" y="5752424"/>
                <a:ext cx="43306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4800=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753" y="5752424"/>
                <a:ext cx="433063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7126213" y="4243292"/>
                <a:ext cx="433063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𝑇h𝑒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𝑖𝑛𝑣𝑒𝑠𝑡𝑚𝑒𝑛𝑡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𝑛𝑒𝑒𝑑𝑠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$4800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213" y="4243292"/>
                <a:ext cx="4330636" cy="10772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40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3" grpId="0"/>
      <p:bldP spid="24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92081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</a:t>
            </a:r>
            <a:r>
              <a:rPr lang="en-AU" sz="2400" dirty="0" smtClean="0"/>
              <a:t>9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51465" y="600250"/>
            <a:ext cx="1151144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How long does an investment of $12 500 need to be invested at 3.8% per annum simple interest to earn interest of $2375?</a:t>
            </a:r>
            <a:endParaRPr lang="en-AU" sz="2200" dirty="0" smtClean="0"/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17291" y="1601335"/>
                <a:ext cx="1094475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 smtClean="0"/>
                  <a:t>Using</a:t>
                </a:r>
                <a:r>
                  <a:rPr lang="en-AU" sz="2800" dirty="0" smtClean="0"/>
                  <a:t>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𝑃𝑟𝑇</m:t>
                    </m:r>
                  </m:oMath>
                </a14:m>
                <a:endParaRPr lang="en-AU" sz="2800" dirty="0" smtClean="0"/>
              </a:p>
              <a:p>
                <a:r>
                  <a:rPr lang="en-AU" sz="2800" dirty="0" smtClean="0"/>
                  <a:t>Given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=2375,  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=0.038,  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=12500</m:t>
                    </m:r>
                  </m:oMath>
                </a14:m>
                <a:r>
                  <a:rPr lang="en-AU" sz="2200" dirty="0" smtClean="0"/>
                  <a:t>				</a:t>
                </a:r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91" y="1601335"/>
                <a:ext cx="10944751" cy="954107"/>
              </a:xfrm>
              <a:prstGeom prst="rect">
                <a:avLst/>
              </a:prstGeom>
              <a:blipFill>
                <a:blip r:embed="rId2"/>
                <a:stretch>
                  <a:fillRect l="-1114" t="-6410" b="-179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3145590" y="2674721"/>
                <a:ext cx="53658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375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=12500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×0.038×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590" y="2674721"/>
                <a:ext cx="536580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564745" y="3557492"/>
                <a:ext cx="43306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375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=475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745" y="3557492"/>
                <a:ext cx="433063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295421" y="4355890"/>
                <a:ext cx="4330636" cy="1027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2375</m:t>
                          </m:r>
                        </m:num>
                        <m:den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475</m:t>
                          </m:r>
                        </m:den>
                      </m:f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421" y="4355890"/>
                <a:ext cx="4330636" cy="10275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695112" y="5735171"/>
                <a:ext cx="43306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112" y="5735171"/>
                <a:ext cx="4330636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7126213" y="4243292"/>
                <a:ext cx="433063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𝑇h𝑒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𝑖𝑛𝑣𝑒𝑠𝑡𝑚𝑒𝑛𝑡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𝑛𝑒𝑒𝑑𝑠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0" i="1" dirty="0" smtClean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5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𝑦𝑒𝑎𝑟𝑠</m:t>
                      </m:r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AU" sz="3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213" y="4243292"/>
                <a:ext cx="4330636" cy="10772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5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3" grpId="0"/>
      <p:bldP spid="24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92081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10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51465" y="600250"/>
            <a:ext cx="109447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Find the value of a and b in the following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1465" y="1435817"/>
                <a:ext cx="1094475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dirty="0" smtClean="0"/>
                  <a:t>a)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:4=7:20</m:t>
                    </m:r>
                  </m:oMath>
                </a14:m>
                <a:r>
                  <a:rPr lang="en-AU" sz="2200" dirty="0" smtClean="0"/>
                  <a:t>				b) 	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15:4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200" b="0" i="1" smtClean="0">
                        <a:latin typeface="Cambria Math" panose="02040503050406030204" pitchFamily="18" charset="0"/>
                      </a:rPr>
                      <m:t>=1:2</m:t>
                    </m:r>
                  </m:oMath>
                </a14:m>
                <a:endParaRPr lang="en-AU" sz="2200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65" y="1435817"/>
                <a:ext cx="10944751" cy="707886"/>
              </a:xfrm>
              <a:prstGeom prst="rect">
                <a:avLst/>
              </a:prstGeom>
              <a:blipFill>
                <a:blip r:embed="rId2"/>
                <a:stretch>
                  <a:fillRect l="-724" t="-60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58641" y="3475712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=7×4</m:t>
                      </m:r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41" y="3475712"/>
                <a:ext cx="2374823" cy="430887"/>
              </a:xfrm>
              <a:prstGeom prst="rect">
                <a:avLst/>
              </a:prstGeom>
              <a:blipFill>
                <a:blip r:embed="rId3"/>
                <a:stretch>
                  <a:fillRect l="-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60407" y="4227227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=28</m:t>
                      </m:r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07" y="4227227"/>
                <a:ext cx="2374823" cy="430887"/>
              </a:xfrm>
              <a:prstGeom prst="rect">
                <a:avLst/>
              </a:prstGeom>
              <a:blipFill>
                <a:blip r:embed="rId4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82284" y="4865487"/>
                <a:ext cx="2374823" cy="726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28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284" y="4865487"/>
                <a:ext cx="2374823" cy="7261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84518" y="2421063"/>
                <a:ext cx="1121963" cy="723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518" y="2421063"/>
                <a:ext cx="1121963" cy="7239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282283" y="5799021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=1.4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283" y="5799021"/>
                <a:ext cx="237482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584988" y="3260268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15×2=1×4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988" y="3260268"/>
                <a:ext cx="2374823" cy="430887"/>
              </a:xfrm>
              <a:prstGeom prst="rect">
                <a:avLst/>
              </a:prstGeom>
              <a:blipFill>
                <a:blip r:embed="rId8"/>
                <a:stretch>
                  <a:fillRect l="-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151297" y="4011783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30=4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1297" y="4011783"/>
                <a:ext cx="2374823" cy="430887"/>
              </a:xfrm>
              <a:prstGeom prst="rect">
                <a:avLst/>
              </a:prstGeom>
              <a:blipFill>
                <a:blip r:embed="rId9"/>
                <a:stretch>
                  <a:fillRect l="-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208631" y="4650043"/>
                <a:ext cx="2374823" cy="726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631" y="4650043"/>
                <a:ext cx="2374823" cy="7261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110865" y="2205619"/>
                <a:ext cx="1121963" cy="735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865" y="2205619"/>
                <a:ext cx="1121963" cy="73526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208630" y="5583577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=7.5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8630" y="5583577"/>
                <a:ext cx="2374823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35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5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" y="0"/>
            <a:ext cx="248234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11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51465" y="600250"/>
            <a:ext cx="1182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In the diagram shown on the right AB = 5m, BC = 9m, and BE = 3m. Find the length of CD, justifying your answer.</a:t>
            </a:r>
            <a:endParaRPr lang="en-AU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878" y="1000360"/>
            <a:ext cx="4656107" cy="23643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992860" y="3319239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5:14=3: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60" y="3319239"/>
                <a:ext cx="2374823" cy="430887"/>
              </a:xfrm>
              <a:prstGeom prst="rect">
                <a:avLst/>
              </a:prstGeom>
              <a:blipFill>
                <a:blip r:embed="rId3"/>
                <a:stretch>
                  <a:fillRect l="-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11879" y="3930139"/>
                <a:ext cx="2374823" cy="755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𝐶𝐷</m:t>
                          </m:r>
                        </m:den>
                      </m:f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879" y="3930139"/>
                <a:ext cx="2374823" cy="7553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886309" y="4838127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5(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)=42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309" y="4838127"/>
                <a:ext cx="2374823" cy="430887"/>
              </a:xfrm>
              <a:prstGeom prst="rect">
                <a:avLst/>
              </a:prstGeom>
              <a:blipFill>
                <a:blip r:embed="rId5"/>
                <a:stretch>
                  <a:fillRect l="-256" b="-1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36496" y="1395588"/>
                <a:ext cx="5759836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𝐸𝐴𝐵</m:t>
                    </m:r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=∠</m:t>
                    </m:r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𝐷𝐴𝐶</m:t>
                    </m:r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𝑐𝑜𝑚𝑚𝑜𝑛</m:t>
                        </m:r>
                      </m:e>
                    </m:d>
                  </m:oMath>
                </a14:m>
                <a:endParaRPr lang="en-AU" sz="2200" b="0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𝐸𝐵𝐴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=∠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𝐷𝐶𝐴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=90°</m:t>
                      </m:r>
                    </m:oMath>
                  </m:oMathPara>
                </a14:m>
                <a:endParaRPr lang="en-AU" sz="2200" dirty="0" smtClean="0">
                  <a:solidFill>
                    <a:srgbClr val="FF0000"/>
                  </a:solidFill>
                </a:endParaRPr>
              </a:p>
              <a:p>
                <a:r>
                  <a:rPr lang="en-AU" sz="2200" dirty="0" smtClean="0">
                    <a:solidFill>
                      <a:srgbClr val="FF0000"/>
                    </a:solidFill>
                  </a:rPr>
                  <a:t>Hence the third angles will also be equal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∴∆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𝐴𝐵𝐸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~∆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𝐴𝐶𝐷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AB</m:t>
                      </m:r>
                      <m: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AC</m:t>
                      </m:r>
                      <m: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BE</m:t>
                      </m:r>
                      <m: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CD</m:t>
                      </m:r>
                    </m:oMath>
                  </m:oMathPara>
                </a14:m>
                <a:endParaRPr lang="en-AU" sz="2200" b="0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96" y="1395588"/>
                <a:ext cx="5759836" cy="1446550"/>
              </a:xfrm>
              <a:prstGeom prst="rect">
                <a:avLst/>
              </a:prstGeom>
              <a:blipFill>
                <a:blip r:embed="rId6"/>
                <a:stretch>
                  <a:fillRect l="-13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311878" y="5558031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𝐶𝐷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=8.4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878" y="5558031"/>
                <a:ext cx="2374823" cy="430887"/>
              </a:xfrm>
              <a:prstGeom prst="rect">
                <a:avLst/>
              </a:prstGeom>
              <a:blipFill>
                <a:blip r:embed="rId7"/>
                <a:stretch>
                  <a:fillRect l="-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15483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Example 7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9706" y="497075"/>
            <a:ext cx="109447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How tall is the street light?</a:t>
            </a:r>
          </a:p>
          <a:p>
            <a:endParaRPr lang="en-AU" sz="2200" dirty="0"/>
          </a:p>
          <a:p>
            <a:r>
              <a:rPr lang="en-AU" sz="2200" dirty="0" smtClean="0"/>
              <a:t>On a sunny day, at the same time that a street light standing on horizontal ground casts a shadow of length 9.1 metres, a 1.6 metre stick held vertically on the same ground cast a shadow of length 2.6 metres.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409416" y="0"/>
            <a:ext cx="270673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Exercise 7D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082" y="2156604"/>
            <a:ext cx="5501057" cy="2658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68862" y="4008382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2.6:9.1=1.6: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862" y="4008382"/>
                <a:ext cx="2374823" cy="430887"/>
              </a:xfrm>
              <a:prstGeom prst="rect">
                <a:avLst/>
              </a:prstGeom>
              <a:blipFill>
                <a:blip r:embed="rId3"/>
                <a:stretch>
                  <a:fillRect l="-2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741329" y="4603689"/>
                <a:ext cx="2374823" cy="755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2.6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9.1</m:t>
                          </m:r>
                        </m:den>
                      </m:f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1.6</m:t>
                          </m:r>
                        </m:num>
                        <m:den>
                          <m:r>
                            <a:rPr lang="en-AU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AU" sz="2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329" y="4603689"/>
                <a:ext cx="2374823" cy="7553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43978" y="5523444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.6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=14.56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978" y="5523444"/>
                <a:ext cx="2374823" cy="430887"/>
              </a:xfrm>
              <a:prstGeom prst="rect">
                <a:avLst/>
              </a:prstGeom>
              <a:blipFill>
                <a:blip r:embed="rId5"/>
                <a:stretch>
                  <a:fillRect l="-2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2465" y="2322803"/>
                <a:ext cx="725508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200" b="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𝐶𝐴𝐵</m:t>
                    </m:r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=∠</m:t>
                    </m:r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𝐹𝐷𝐸</m:t>
                    </m:r>
                    <m:r>
                      <a:rPr lang="en-AU" sz="22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𝑎𝑛𝑔𝑙𝑒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𝑠𝑢𝑛𝑠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𝑟𝑎𝑦𝑠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𝑚𝑎𝑘𝑒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𝑤𝑖𝑡h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𝑡h𝑒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AU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𝑔𝑟𝑜𝑢𝑛𝑑</m:t>
                        </m:r>
                      </m:e>
                    </m:d>
                  </m:oMath>
                </a14:m>
                <a:endParaRPr lang="en-AU" sz="2200" b="0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𝐶𝐵𝐴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=∠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𝐹𝐸𝐷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=90°</m:t>
                      </m:r>
                    </m:oMath>
                  </m:oMathPara>
                </a14:m>
                <a:endParaRPr lang="en-AU" sz="2200" dirty="0" smtClean="0">
                  <a:solidFill>
                    <a:srgbClr val="FF0000"/>
                  </a:solidFill>
                </a:endParaRPr>
              </a:p>
              <a:p>
                <a:r>
                  <a:rPr lang="en-AU" sz="2200" dirty="0" smtClean="0">
                    <a:solidFill>
                      <a:srgbClr val="FF0000"/>
                    </a:solidFill>
                  </a:rPr>
                  <a:t>Hence the third angles will also be equal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∴∆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~∆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𝐷𝐸𝐹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AB</m:t>
                      </m:r>
                      <m: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</m:t>
                      </m:r>
                      <m: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BC</m:t>
                      </m:r>
                      <m: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EF</m:t>
                      </m:r>
                    </m:oMath>
                  </m:oMathPara>
                </a14:m>
                <a:endParaRPr lang="en-AU" sz="2200" b="0" dirty="0" smtClean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65" y="2322803"/>
                <a:ext cx="7255082" cy="1446550"/>
              </a:xfrm>
              <a:prstGeom prst="rect">
                <a:avLst/>
              </a:prstGeom>
              <a:blipFill>
                <a:blip r:embed="rId6"/>
                <a:stretch>
                  <a:fillRect l="-109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839510" y="6118751"/>
                <a:ext cx="237482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AU" sz="2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5.6</m:t>
                      </m:r>
                      <m:r>
                        <m:rPr>
                          <m:sty m:val="p"/>
                        </m:rPr>
                        <a:rPr lang="en-AU" sz="22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AU" sz="22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510" y="6118751"/>
                <a:ext cx="2374823" cy="430887"/>
              </a:xfrm>
              <a:prstGeom prst="rect">
                <a:avLst/>
              </a:prstGeom>
              <a:blipFill>
                <a:blip r:embed="rId7"/>
                <a:stretch>
                  <a:fillRect l="-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6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  <p:bldP spid="20" grpId="0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429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STEDMAN Shaun [Harrisdale Senior High School]</cp:lastModifiedBy>
  <cp:revision>49</cp:revision>
  <dcterms:created xsi:type="dcterms:W3CDTF">2020-12-09T06:24:59Z</dcterms:created>
  <dcterms:modified xsi:type="dcterms:W3CDTF">2021-09-07T01:03:04Z</dcterms:modified>
</cp:coreProperties>
</file>
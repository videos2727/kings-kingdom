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61"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6" autoAdjust="0"/>
    <p:restoredTop sz="94660"/>
  </p:normalViewPr>
  <p:slideViewPr>
    <p:cSldViewPr snapToGrid="0">
      <p:cViewPr varScale="1">
        <p:scale>
          <a:sx n="84" d="100"/>
          <a:sy n="84" d="100"/>
        </p:scale>
        <p:origin x="78" y="13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6D755F1D-0104-402B-A88B-F3F388DC0D07}" type="datetimeFigureOut">
              <a:rPr lang="en-AU" smtClean="0"/>
              <a:t>21/07/2021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664925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D755F1D-0104-402B-A88B-F3F388DC0D07}" type="datetimeFigureOut">
              <a:rPr lang="en-AU" smtClean="0"/>
              <a:t>21/07/2021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95360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D755F1D-0104-402B-A88B-F3F388DC0D07}" type="datetimeFigureOut">
              <a:rPr lang="en-AU" smtClean="0"/>
              <a:t>21/07/2021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359057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6D755F1D-0104-402B-A88B-F3F388DC0D07}" type="datetimeFigureOut">
              <a:rPr lang="en-AU" smtClean="0"/>
              <a:t>21/07/2021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674620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6D755F1D-0104-402B-A88B-F3F388DC0D07}" type="datetimeFigureOut">
              <a:rPr lang="en-AU" smtClean="0"/>
              <a:t>21/07/2021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269912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6D755F1D-0104-402B-A88B-F3F388DC0D07}" type="datetimeFigureOut">
              <a:rPr lang="en-AU" smtClean="0"/>
              <a:t>21/07/2021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1379591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755F1D-0104-402B-A88B-F3F388DC0D07}" type="datetimeFigureOut">
              <a:rPr lang="en-AU" smtClean="0"/>
              <a:t>21/07/2021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1615937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D755F1D-0104-402B-A88B-F3F388DC0D07}" type="datetimeFigureOut">
              <a:rPr lang="en-AU" smtClean="0"/>
              <a:t>21/07/2021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1956268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D755F1D-0104-402B-A88B-F3F388DC0D07}" type="datetimeFigureOut">
              <a:rPr lang="en-AU" smtClean="0"/>
              <a:t>21/07/2021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3459905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D755F1D-0104-402B-A88B-F3F388DC0D07}" type="datetimeFigureOut">
              <a:rPr lang="en-AU" smtClean="0"/>
              <a:t>21/07/2021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51120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D755F1D-0104-402B-A88B-F3F388DC0D07}" type="datetimeFigureOut">
              <a:rPr lang="en-AU" smtClean="0"/>
              <a:t>21/07/2021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F0A6C1-75A8-4E70-A0AC-EEBBE80CFC56}" type="slidenum">
              <a:rPr lang="en-AU" smtClean="0"/>
              <a:t>‹#›</a:t>
            </a:fld>
            <a:endParaRPr lang="en-AU"/>
          </a:p>
        </p:txBody>
      </p:sp>
    </p:spTree>
    <p:extLst>
      <p:ext uri="{BB962C8B-B14F-4D97-AF65-F5344CB8AC3E}">
        <p14:creationId xmlns:p14="http://schemas.microsoft.com/office/powerpoint/2010/main" val="42206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755F1D-0104-402B-A88B-F3F388DC0D07}" type="datetimeFigureOut">
              <a:rPr lang="en-AU" smtClean="0"/>
              <a:t>21/07/2021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F0A6C1-75A8-4E70-A0AC-EEBBE80CFC56}" type="slidenum">
              <a:rPr lang="en-AU" smtClean="0"/>
              <a:t>‹#›</a:t>
            </a:fld>
            <a:endParaRPr lang="en-AU"/>
          </a:p>
        </p:txBody>
      </p:sp>
    </p:spTree>
    <p:extLst>
      <p:ext uri="{BB962C8B-B14F-4D97-AF65-F5344CB8AC3E}">
        <p14:creationId xmlns:p14="http://schemas.microsoft.com/office/powerpoint/2010/main" val="1752627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629610" cy="461665"/>
          </a:xfrm>
          <a:prstGeom prst="rect">
            <a:avLst/>
          </a:prstGeom>
          <a:solidFill>
            <a:srgbClr val="FFFF00"/>
          </a:solidFill>
        </p:spPr>
        <p:txBody>
          <a:bodyPr wrap="square" rtlCol="0">
            <a:spAutoFit/>
          </a:bodyPr>
          <a:lstStyle/>
          <a:p>
            <a:r>
              <a:rPr lang="en-AU" sz="2400" dirty="0" smtClean="0"/>
              <a:t>Y11 Apps Chapter 5</a:t>
            </a:r>
            <a:endParaRPr lang="en-AU" sz="2400" dirty="0"/>
          </a:p>
        </p:txBody>
      </p:sp>
      <p:sp>
        <p:nvSpPr>
          <p:cNvPr id="5" name="TextBox 4"/>
          <p:cNvSpPr txBox="1"/>
          <p:nvPr/>
        </p:nvSpPr>
        <p:spPr>
          <a:xfrm>
            <a:off x="340770" y="732656"/>
            <a:ext cx="11222698" cy="461665"/>
          </a:xfrm>
          <a:prstGeom prst="rect">
            <a:avLst/>
          </a:prstGeom>
          <a:noFill/>
        </p:spPr>
        <p:txBody>
          <a:bodyPr wrap="square" rtlCol="0">
            <a:spAutoFit/>
          </a:bodyPr>
          <a:lstStyle/>
          <a:p>
            <a:r>
              <a:rPr lang="en-AU" sz="2400" dirty="0" smtClean="0"/>
              <a:t>When asked to investigate data we could implement the </a:t>
            </a:r>
            <a:r>
              <a:rPr lang="en-AU" sz="2400" b="1" dirty="0"/>
              <a:t>s</a:t>
            </a:r>
            <a:r>
              <a:rPr lang="en-AU" sz="2400" b="1" dirty="0" smtClean="0"/>
              <a:t>tatistical </a:t>
            </a:r>
            <a:r>
              <a:rPr lang="en-AU" sz="2400" b="1" dirty="0"/>
              <a:t>i</a:t>
            </a:r>
            <a:r>
              <a:rPr lang="en-AU" sz="2400" b="1" dirty="0" smtClean="0"/>
              <a:t>nvestigation process:</a:t>
            </a:r>
            <a:endParaRPr lang="en-AU" sz="2400" b="1" dirty="0"/>
          </a:p>
        </p:txBody>
      </p:sp>
      <p:sp>
        <p:nvSpPr>
          <p:cNvPr id="20" name="TextBox 19"/>
          <p:cNvSpPr txBox="1"/>
          <p:nvPr/>
        </p:nvSpPr>
        <p:spPr>
          <a:xfrm>
            <a:off x="340770" y="1706999"/>
            <a:ext cx="11222698" cy="830997"/>
          </a:xfrm>
          <a:prstGeom prst="rect">
            <a:avLst/>
          </a:prstGeom>
          <a:noFill/>
        </p:spPr>
        <p:txBody>
          <a:bodyPr wrap="square" rtlCol="0">
            <a:spAutoFit/>
          </a:bodyPr>
          <a:lstStyle/>
          <a:p>
            <a:r>
              <a:rPr lang="en-AU" sz="2400" dirty="0" smtClean="0"/>
              <a:t>1. Clarify the problem and formulate one or more questions that can be answered with the data</a:t>
            </a:r>
            <a:endParaRPr lang="en-AU" sz="2400" dirty="0"/>
          </a:p>
        </p:txBody>
      </p:sp>
      <p:sp>
        <p:nvSpPr>
          <p:cNvPr id="22" name="TextBox 21"/>
          <p:cNvSpPr txBox="1"/>
          <p:nvPr/>
        </p:nvSpPr>
        <p:spPr>
          <a:xfrm>
            <a:off x="340770" y="2911693"/>
            <a:ext cx="11222698" cy="461665"/>
          </a:xfrm>
          <a:prstGeom prst="rect">
            <a:avLst/>
          </a:prstGeom>
          <a:noFill/>
        </p:spPr>
        <p:txBody>
          <a:bodyPr wrap="square" rtlCol="0">
            <a:spAutoFit/>
          </a:bodyPr>
          <a:lstStyle/>
          <a:p>
            <a:r>
              <a:rPr lang="en-AU" sz="2400" dirty="0" smtClean="0"/>
              <a:t>2. Design and implement a plan to collect and obtain appropriate data</a:t>
            </a:r>
          </a:p>
        </p:txBody>
      </p:sp>
      <p:sp>
        <p:nvSpPr>
          <p:cNvPr id="23" name="TextBox 22"/>
          <p:cNvSpPr txBox="1"/>
          <p:nvPr/>
        </p:nvSpPr>
        <p:spPr>
          <a:xfrm>
            <a:off x="340770" y="3882887"/>
            <a:ext cx="11222698" cy="461665"/>
          </a:xfrm>
          <a:prstGeom prst="rect">
            <a:avLst/>
          </a:prstGeom>
          <a:noFill/>
        </p:spPr>
        <p:txBody>
          <a:bodyPr wrap="square" rtlCol="0">
            <a:spAutoFit/>
          </a:bodyPr>
          <a:lstStyle/>
          <a:p>
            <a:r>
              <a:rPr lang="en-AU" sz="2400" dirty="0" smtClean="0"/>
              <a:t>3. Select and apply appropriate graphical or numerical techniques to analyse the data</a:t>
            </a:r>
            <a:endParaRPr lang="en-AU" sz="2400" dirty="0"/>
          </a:p>
        </p:txBody>
      </p:sp>
      <p:sp>
        <p:nvSpPr>
          <p:cNvPr id="24" name="TextBox 23"/>
          <p:cNvSpPr txBox="1"/>
          <p:nvPr/>
        </p:nvSpPr>
        <p:spPr>
          <a:xfrm>
            <a:off x="340770" y="4733865"/>
            <a:ext cx="11222698" cy="830997"/>
          </a:xfrm>
          <a:prstGeom prst="rect">
            <a:avLst/>
          </a:prstGeom>
          <a:noFill/>
        </p:spPr>
        <p:txBody>
          <a:bodyPr wrap="square" rtlCol="0">
            <a:spAutoFit/>
          </a:bodyPr>
          <a:lstStyle/>
          <a:p>
            <a:r>
              <a:rPr lang="en-AU" sz="2400" dirty="0" smtClean="0"/>
              <a:t>4. Interpret the results of this analysis and relate the interpretation to the original question and communicate findings in a systematic and concise manner</a:t>
            </a:r>
            <a:endParaRPr lang="en-AU" sz="2400" dirty="0"/>
          </a:p>
        </p:txBody>
      </p:sp>
      <p:sp>
        <p:nvSpPr>
          <p:cNvPr id="25" name="TextBox 24"/>
          <p:cNvSpPr txBox="1"/>
          <p:nvPr/>
        </p:nvSpPr>
        <p:spPr>
          <a:xfrm>
            <a:off x="390939" y="5908576"/>
            <a:ext cx="11222698" cy="461665"/>
          </a:xfrm>
          <a:prstGeom prst="rect">
            <a:avLst/>
          </a:prstGeom>
          <a:noFill/>
        </p:spPr>
        <p:txBody>
          <a:bodyPr wrap="square" rtlCol="0">
            <a:spAutoFit/>
          </a:bodyPr>
          <a:lstStyle/>
          <a:p>
            <a:r>
              <a:rPr lang="en-AU" sz="2400" dirty="0" smtClean="0"/>
              <a:t>This is the purpose of your </a:t>
            </a:r>
            <a:r>
              <a:rPr lang="en-AU" sz="2400" b="1" dirty="0" smtClean="0"/>
              <a:t>next assessment</a:t>
            </a:r>
            <a:r>
              <a:rPr lang="en-AU" sz="2400" dirty="0" smtClean="0"/>
              <a:t>, to carry out and apply this process</a:t>
            </a:r>
            <a:endParaRPr lang="en-AU" sz="2400" dirty="0"/>
          </a:p>
        </p:txBody>
      </p:sp>
    </p:spTree>
    <p:extLst>
      <p:ext uri="{BB962C8B-B14F-4D97-AF65-F5344CB8AC3E}">
        <p14:creationId xmlns:p14="http://schemas.microsoft.com/office/powerpoint/2010/main" val="1004815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3" grpId="0"/>
      <p:bldP spid="24" grpId="0"/>
      <p:bldP spid="2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663687" cy="461665"/>
          </a:xfrm>
          <a:prstGeom prst="rect">
            <a:avLst/>
          </a:prstGeom>
          <a:solidFill>
            <a:srgbClr val="FFFF00"/>
          </a:solidFill>
        </p:spPr>
        <p:txBody>
          <a:bodyPr wrap="square" rtlCol="0">
            <a:spAutoFit/>
          </a:bodyPr>
          <a:lstStyle/>
          <a:p>
            <a:r>
              <a:rPr lang="en-AU" sz="2400" dirty="0" smtClean="0"/>
              <a:t>Y11 Apps Chapter 5</a:t>
            </a:r>
            <a:endParaRPr lang="en-AU" sz="2400" dirty="0"/>
          </a:p>
        </p:txBody>
      </p:sp>
      <p:sp>
        <p:nvSpPr>
          <p:cNvPr id="5" name="TextBox 4"/>
          <p:cNvSpPr txBox="1"/>
          <p:nvPr/>
        </p:nvSpPr>
        <p:spPr>
          <a:xfrm>
            <a:off x="340770" y="732656"/>
            <a:ext cx="11222698" cy="1200329"/>
          </a:xfrm>
          <a:prstGeom prst="rect">
            <a:avLst/>
          </a:prstGeom>
          <a:noFill/>
        </p:spPr>
        <p:txBody>
          <a:bodyPr wrap="square" rtlCol="0">
            <a:spAutoFit/>
          </a:bodyPr>
          <a:lstStyle/>
          <a:p>
            <a:r>
              <a:rPr lang="en-AU" sz="2400" dirty="0" smtClean="0"/>
              <a:t>What is required:</a:t>
            </a:r>
          </a:p>
          <a:p>
            <a:r>
              <a:rPr lang="en-AU" sz="2400" b="1" dirty="0" smtClean="0"/>
              <a:t>Take Home component: you will be given one week to analyse a set of data using any or all of the numerical or graphical techniques applicable</a:t>
            </a:r>
            <a:endParaRPr lang="en-AU" sz="2400" b="1" dirty="0"/>
          </a:p>
        </p:txBody>
      </p:sp>
      <p:sp>
        <p:nvSpPr>
          <p:cNvPr id="8" name="TextBox 7"/>
          <p:cNvSpPr txBox="1"/>
          <p:nvPr/>
        </p:nvSpPr>
        <p:spPr>
          <a:xfrm>
            <a:off x="1072478" y="2210871"/>
            <a:ext cx="4788769" cy="2677656"/>
          </a:xfrm>
          <a:prstGeom prst="rect">
            <a:avLst/>
          </a:prstGeom>
          <a:noFill/>
        </p:spPr>
        <p:txBody>
          <a:bodyPr wrap="square" rtlCol="0">
            <a:spAutoFit/>
          </a:bodyPr>
          <a:lstStyle/>
          <a:p>
            <a:r>
              <a:rPr lang="en-AU" sz="2400" dirty="0" smtClean="0"/>
              <a:t>Numerical techniques include:</a:t>
            </a:r>
          </a:p>
          <a:p>
            <a:r>
              <a:rPr lang="en-AU" sz="2400" dirty="0" smtClean="0"/>
              <a:t>- Mean </a:t>
            </a:r>
          </a:p>
          <a:p>
            <a:r>
              <a:rPr lang="en-AU" sz="2400" dirty="0" smtClean="0"/>
              <a:t>- Median</a:t>
            </a:r>
          </a:p>
          <a:p>
            <a:r>
              <a:rPr lang="en-AU" sz="2400" dirty="0" smtClean="0"/>
              <a:t>- Mode</a:t>
            </a:r>
          </a:p>
          <a:p>
            <a:r>
              <a:rPr lang="en-AU" sz="2400" dirty="0" smtClean="0"/>
              <a:t>- Range</a:t>
            </a:r>
          </a:p>
          <a:p>
            <a:r>
              <a:rPr lang="en-AU" sz="2400" dirty="0" smtClean="0"/>
              <a:t>- Standard Deviation</a:t>
            </a:r>
          </a:p>
          <a:p>
            <a:r>
              <a:rPr lang="en-AU" sz="2400" dirty="0" smtClean="0"/>
              <a:t>- Five number summary</a:t>
            </a:r>
            <a:endParaRPr lang="en-AU" sz="2400" dirty="0"/>
          </a:p>
        </p:txBody>
      </p:sp>
      <p:sp>
        <p:nvSpPr>
          <p:cNvPr id="10" name="TextBox 9"/>
          <p:cNvSpPr txBox="1"/>
          <p:nvPr/>
        </p:nvSpPr>
        <p:spPr>
          <a:xfrm>
            <a:off x="5952119" y="2210871"/>
            <a:ext cx="4788769" cy="3416320"/>
          </a:xfrm>
          <a:prstGeom prst="rect">
            <a:avLst/>
          </a:prstGeom>
          <a:noFill/>
        </p:spPr>
        <p:txBody>
          <a:bodyPr wrap="square" rtlCol="0">
            <a:spAutoFit/>
          </a:bodyPr>
          <a:lstStyle/>
          <a:p>
            <a:r>
              <a:rPr lang="en-AU" sz="2400" dirty="0" smtClean="0"/>
              <a:t>Graphical techniques include:</a:t>
            </a:r>
          </a:p>
          <a:p>
            <a:pPr marL="342900" indent="-342900">
              <a:buFontTx/>
              <a:buChar char="-"/>
            </a:pPr>
            <a:r>
              <a:rPr lang="en-AU" sz="2400" dirty="0" smtClean="0"/>
              <a:t>Bar/Column graph</a:t>
            </a:r>
          </a:p>
          <a:p>
            <a:pPr marL="342900" indent="-342900">
              <a:buFontTx/>
              <a:buChar char="-"/>
            </a:pPr>
            <a:r>
              <a:rPr lang="en-AU" sz="2400" dirty="0" smtClean="0"/>
              <a:t>Histogram</a:t>
            </a:r>
          </a:p>
          <a:p>
            <a:pPr marL="342900" indent="-342900">
              <a:buFontTx/>
              <a:buChar char="-"/>
            </a:pPr>
            <a:r>
              <a:rPr lang="en-AU" sz="2400" dirty="0" smtClean="0"/>
              <a:t>Dot Plots</a:t>
            </a:r>
          </a:p>
          <a:p>
            <a:pPr marL="342900" indent="-342900">
              <a:buFontTx/>
              <a:buChar char="-"/>
            </a:pPr>
            <a:r>
              <a:rPr lang="en-AU" sz="2400" dirty="0" smtClean="0"/>
              <a:t>Boxplots</a:t>
            </a:r>
          </a:p>
          <a:p>
            <a:pPr marL="342900" indent="-342900">
              <a:buFontTx/>
              <a:buChar char="-"/>
            </a:pPr>
            <a:r>
              <a:rPr lang="en-AU" sz="2400" dirty="0" smtClean="0"/>
              <a:t>Line Graph</a:t>
            </a:r>
          </a:p>
          <a:p>
            <a:pPr marL="342900" indent="-342900">
              <a:buFontTx/>
              <a:buChar char="-"/>
            </a:pPr>
            <a:r>
              <a:rPr lang="en-AU" sz="2400" dirty="0" smtClean="0"/>
              <a:t>Pie/Sector Graph</a:t>
            </a:r>
          </a:p>
          <a:p>
            <a:pPr marL="342900" indent="-342900">
              <a:buFontTx/>
              <a:buChar char="-"/>
            </a:pPr>
            <a:r>
              <a:rPr lang="en-AU" sz="2400" dirty="0" smtClean="0"/>
              <a:t>Divided Bar graph</a:t>
            </a:r>
          </a:p>
          <a:p>
            <a:pPr marL="342900" indent="-342900">
              <a:buFontTx/>
              <a:buChar char="-"/>
            </a:pPr>
            <a:endParaRPr lang="en-AU" sz="2400" dirty="0"/>
          </a:p>
        </p:txBody>
      </p:sp>
      <p:sp>
        <p:nvSpPr>
          <p:cNvPr id="7" name="TextBox 6"/>
          <p:cNvSpPr txBox="1"/>
          <p:nvPr/>
        </p:nvSpPr>
        <p:spPr>
          <a:xfrm>
            <a:off x="776198" y="5685452"/>
            <a:ext cx="7731697" cy="830997"/>
          </a:xfrm>
          <a:prstGeom prst="rect">
            <a:avLst/>
          </a:prstGeom>
          <a:noFill/>
        </p:spPr>
        <p:txBody>
          <a:bodyPr wrap="square" rtlCol="0">
            <a:spAutoFit/>
          </a:bodyPr>
          <a:lstStyle/>
          <a:p>
            <a:r>
              <a:rPr lang="en-AU" sz="2400" dirty="0" smtClean="0"/>
              <a:t>But this is limited to one A4 page so you need to try to be </a:t>
            </a:r>
            <a:r>
              <a:rPr lang="en-AU" sz="2400" b="1" dirty="0" smtClean="0"/>
              <a:t>comprehensive and selective</a:t>
            </a:r>
            <a:endParaRPr lang="en-AU" sz="2400" b="1" dirty="0"/>
          </a:p>
        </p:txBody>
      </p:sp>
    </p:spTree>
    <p:extLst>
      <p:ext uri="{BB962C8B-B14F-4D97-AF65-F5344CB8AC3E}">
        <p14:creationId xmlns:p14="http://schemas.microsoft.com/office/powerpoint/2010/main" val="2670060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663687" cy="461665"/>
          </a:xfrm>
          <a:prstGeom prst="rect">
            <a:avLst/>
          </a:prstGeom>
          <a:solidFill>
            <a:srgbClr val="FFFF00"/>
          </a:solidFill>
        </p:spPr>
        <p:txBody>
          <a:bodyPr wrap="square" rtlCol="0">
            <a:spAutoFit/>
          </a:bodyPr>
          <a:lstStyle/>
          <a:p>
            <a:r>
              <a:rPr lang="en-AU" sz="2400" dirty="0" smtClean="0"/>
              <a:t>Y11 Apps Chapter 5</a:t>
            </a:r>
            <a:endParaRPr lang="en-AU" sz="2400" dirty="0"/>
          </a:p>
        </p:txBody>
      </p:sp>
      <p:sp>
        <p:nvSpPr>
          <p:cNvPr id="5" name="TextBox 4"/>
          <p:cNvSpPr txBox="1"/>
          <p:nvPr/>
        </p:nvSpPr>
        <p:spPr>
          <a:xfrm>
            <a:off x="340770" y="732656"/>
            <a:ext cx="11222698" cy="1200329"/>
          </a:xfrm>
          <a:prstGeom prst="rect">
            <a:avLst/>
          </a:prstGeom>
          <a:noFill/>
        </p:spPr>
        <p:txBody>
          <a:bodyPr wrap="square" rtlCol="0">
            <a:spAutoFit/>
          </a:bodyPr>
          <a:lstStyle/>
          <a:p>
            <a:r>
              <a:rPr lang="en-AU" sz="2400" dirty="0" smtClean="0"/>
              <a:t>What is required:</a:t>
            </a:r>
          </a:p>
          <a:p>
            <a:r>
              <a:rPr lang="en-AU" sz="2400" b="1" dirty="0" smtClean="0"/>
              <a:t>In Class component: Write a structured report summarising the data using what you have completed at home</a:t>
            </a:r>
            <a:endParaRPr lang="en-AU" sz="2400" b="1" dirty="0"/>
          </a:p>
        </p:txBody>
      </p:sp>
      <p:sp>
        <p:nvSpPr>
          <p:cNvPr id="9" name="TextBox 8"/>
          <p:cNvSpPr txBox="1"/>
          <p:nvPr/>
        </p:nvSpPr>
        <p:spPr>
          <a:xfrm>
            <a:off x="1044080" y="2091602"/>
            <a:ext cx="4788769" cy="2677656"/>
          </a:xfrm>
          <a:prstGeom prst="rect">
            <a:avLst/>
          </a:prstGeom>
          <a:noFill/>
        </p:spPr>
        <p:txBody>
          <a:bodyPr wrap="square" rtlCol="0">
            <a:spAutoFit/>
          </a:bodyPr>
          <a:lstStyle/>
          <a:p>
            <a:r>
              <a:rPr lang="en-AU" sz="2800" dirty="0" smtClean="0"/>
              <a:t>Structure:</a:t>
            </a:r>
          </a:p>
          <a:p>
            <a:pPr marL="342900" indent="-342900">
              <a:buFontTx/>
              <a:buChar char="-"/>
            </a:pPr>
            <a:r>
              <a:rPr lang="en-AU" sz="2800" dirty="0" smtClean="0"/>
              <a:t>Introduction</a:t>
            </a:r>
          </a:p>
          <a:p>
            <a:pPr marL="342900" indent="-342900">
              <a:buFontTx/>
              <a:buChar char="-"/>
            </a:pPr>
            <a:r>
              <a:rPr lang="en-AU" sz="2800" dirty="0" smtClean="0"/>
              <a:t>Numerical analysis</a:t>
            </a:r>
          </a:p>
          <a:p>
            <a:pPr marL="342900" indent="-342900">
              <a:buFontTx/>
              <a:buChar char="-"/>
            </a:pPr>
            <a:r>
              <a:rPr lang="en-AU" sz="2800" dirty="0" smtClean="0"/>
              <a:t>Graphical analysis</a:t>
            </a:r>
          </a:p>
          <a:p>
            <a:pPr marL="342900" indent="-342900">
              <a:buFontTx/>
              <a:buChar char="-"/>
            </a:pPr>
            <a:r>
              <a:rPr lang="en-AU" sz="2800" dirty="0" smtClean="0"/>
              <a:t>Interpretation </a:t>
            </a:r>
          </a:p>
          <a:p>
            <a:pPr marL="342900" indent="-342900">
              <a:buFontTx/>
              <a:buChar char="-"/>
            </a:pPr>
            <a:r>
              <a:rPr lang="en-AU" sz="2800" dirty="0" smtClean="0"/>
              <a:t>Conclusion</a:t>
            </a:r>
            <a:endParaRPr lang="en-AU" sz="2800" dirty="0"/>
          </a:p>
        </p:txBody>
      </p:sp>
    </p:spTree>
    <p:extLst>
      <p:ext uri="{BB962C8B-B14F-4D97-AF65-F5344CB8AC3E}">
        <p14:creationId xmlns:p14="http://schemas.microsoft.com/office/powerpoint/2010/main" val="2312038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663687" cy="461665"/>
          </a:xfrm>
          <a:prstGeom prst="rect">
            <a:avLst/>
          </a:prstGeom>
          <a:solidFill>
            <a:srgbClr val="FFFF00"/>
          </a:solidFill>
        </p:spPr>
        <p:txBody>
          <a:bodyPr wrap="square" rtlCol="0">
            <a:spAutoFit/>
          </a:bodyPr>
          <a:lstStyle/>
          <a:p>
            <a:r>
              <a:rPr lang="en-AU" sz="2400" dirty="0" smtClean="0"/>
              <a:t>Y11 Apps Chapter 5</a:t>
            </a:r>
            <a:endParaRPr lang="en-AU" sz="2400" dirty="0"/>
          </a:p>
        </p:txBody>
      </p:sp>
      <p:sp>
        <p:nvSpPr>
          <p:cNvPr id="5" name="TextBox 4"/>
          <p:cNvSpPr txBox="1"/>
          <p:nvPr/>
        </p:nvSpPr>
        <p:spPr>
          <a:xfrm>
            <a:off x="340770" y="732656"/>
            <a:ext cx="11222698" cy="461665"/>
          </a:xfrm>
          <a:prstGeom prst="rect">
            <a:avLst/>
          </a:prstGeom>
          <a:noFill/>
        </p:spPr>
        <p:txBody>
          <a:bodyPr wrap="square" rtlCol="0">
            <a:spAutoFit/>
          </a:bodyPr>
          <a:lstStyle/>
          <a:p>
            <a:r>
              <a:rPr lang="en-AU" sz="2400" b="1" dirty="0" smtClean="0"/>
              <a:t>Introduction</a:t>
            </a:r>
          </a:p>
        </p:txBody>
      </p:sp>
      <p:sp>
        <p:nvSpPr>
          <p:cNvPr id="3" name="Rectangle 2"/>
          <p:cNvSpPr/>
          <p:nvPr/>
        </p:nvSpPr>
        <p:spPr>
          <a:xfrm>
            <a:off x="340769" y="1411151"/>
            <a:ext cx="10529799" cy="923330"/>
          </a:xfrm>
          <a:prstGeom prst="rect">
            <a:avLst/>
          </a:prstGeom>
        </p:spPr>
        <p:txBody>
          <a:bodyPr wrap="square">
            <a:spAutoFit/>
          </a:bodyPr>
          <a:lstStyle/>
          <a:p>
            <a:r>
              <a:rPr lang="en-AU" dirty="0" smtClean="0">
                <a:latin typeface="Arial" panose="020B0604020202020204" pitchFamily="34" charset="0"/>
              </a:rPr>
              <a:t>The introduction should be used to restate the question or task in your own words and mention the data you are using to answer this question. You should also include any other relevant assumptions or information that is applicable to the task.</a:t>
            </a:r>
            <a:endParaRPr lang="en-AU" dirty="0"/>
          </a:p>
        </p:txBody>
      </p:sp>
      <p:sp>
        <p:nvSpPr>
          <p:cNvPr id="8" name="TextBox 7"/>
          <p:cNvSpPr txBox="1"/>
          <p:nvPr/>
        </p:nvSpPr>
        <p:spPr>
          <a:xfrm>
            <a:off x="295333" y="3036570"/>
            <a:ext cx="11222698" cy="461665"/>
          </a:xfrm>
          <a:prstGeom prst="rect">
            <a:avLst/>
          </a:prstGeom>
          <a:noFill/>
        </p:spPr>
        <p:txBody>
          <a:bodyPr wrap="square" rtlCol="0">
            <a:spAutoFit/>
          </a:bodyPr>
          <a:lstStyle/>
          <a:p>
            <a:r>
              <a:rPr lang="en-AU" sz="2400" b="1" dirty="0" smtClean="0"/>
              <a:t>Numerical/Graphical analysis</a:t>
            </a:r>
          </a:p>
        </p:txBody>
      </p:sp>
      <p:sp>
        <p:nvSpPr>
          <p:cNvPr id="10" name="Rectangle 9"/>
          <p:cNvSpPr/>
          <p:nvPr/>
        </p:nvSpPr>
        <p:spPr>
          <a:xfrm>
            <a:off x="295333" y="4000059"/>
            <a:ext cx="10529799" cy="1200329"/>
          </a:xfrm>
          <a:prstGeom prst="rect">
            <a:avLst/>
          </a:prstGeom>
        </p:spPr>
        <p:txBody>
          <a:bodyPr wrap="square">
            <a:spAutoFit/>
          </a:bodyPr>
          <a:lstStyle/>
          <a:p>
            <a:r>
              <a:rPr lang="en-AU" dirty="0" smtClean="0">
                <a:latin typeface="Arial" panose="020B0604020202020204" pitchFamily="34" charset="0"/>
              </a:rPr>
              <a:t>Numerical analysis should include all relevant measures of central tendency and spread that help interpret or answer the question being posed. Outliers should be appropriately handled based on the task. Graphical analysis should include multiple data displays that help interpret or answer the question being posed. </a:t>
            </a:r>
            <a:endParaRPr lang="en-AU" dirty="0">
              <a:latin typeface="Arial" panose="020B0604020202020204" pitchFamily="34" charset="0"/>
            </a:endParaRPr>
          </a:p>
        </p:txBody>
      </p:sp>
    </p:spTree>
    <p:extLst>
      <p:ext uri="{BB962C8B-B14F-4D97-AF65-F5344CB8AC3E}">
        <p14:creationId xmlns:p14="http://schemas.microsoft.com/office/powerpoint/2010/main" val="29770674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0" y="0"/>
            <a:ext cx="2663687" cy="461665"/>
          </a:xfrm>
          <a:prstGeom prst="rect">
            <a:avLst/>
          </a:prstGeom>
          <a:solidFill>
            <a:srgbClr val="FFFF00"/>
          </a:solidFill>
        </p:spPr>
        <p:txBody>
          <a:bodyPr wrap="square" rtlCol="0">
            <a:spAutoFit/>
          </a:bodyPr>
          <a:lstStyle/>
          <a:p>
            <a:r>
              <a:rPr lang="en-AU" sz="2400" dirty="0" smtClean="0"/>
              <a:t>Y11 Apps Chapter 5</a:t>
            </a:r>
            <a:endParaRPr lang="en-AU" sz="2400" dirty="0"/>
          </a:p>
        </p:txBody>
      </p:sp>
      <p:sp>
        <p:nvSpPr>
          <p:cNvPr id="5" name="TextBox 4"/>
          <p:cNvSpPr txBox="1"/>
          <p:nvPr/>
        </p:nvSpPr>
        <p:spPr>
          <a:xfrm>
            <a:off x="340770" y="732656"/>
            <a:ext cx="11222698" cy="461665"/>
          </a:xfrm>
          <a:prstGeom prst="rect">
            <a:avLst/>
          </a:prstGeom>
          <a:noFill/>
        </p:spPr>
        <p:txBody>
          <a:bodyPr wrap="square" rtlCol="0">
            <a:spAutoFit/>
          </a:bodyPr>
          <a:lstStyle/>
          <a:p>
            <a:r>
              <a:rPr lang="en-AU" sz="2400" b="1" dirty="0" smtClean="0"/>
              <a:t>Interpretation</a:t>
            </a:r>
          </a:p>
        </p:txBody>
      </p:sp>
      <p:sp>
        <p:nvSpPr>
          <p:cNvPr id="8" name="TextBox 7"/>
          <p:cNvSpPr txBox="1"/>
          <p:nvPr/>
        </p:nvSpPr>
        <p:spPr>
          <a:xfrm>
            <a:off x="295333" y="3036570"/>
            <a:ext cx="11222698" cy="461665"/>
          </a:xfrm>
          <a:prstGeom prst="rect">
            <a:avLst/>
          </a:prstGeom>
          <a:noFill/>
        </p:spPr>
        <p:txBody>
          <a:bodyPr wrap="square" rtlCol="0">
            <a:spAutoFit/>
          </a:bodyPr>
          <a:lstStyle/>
          <a:p>
            <a:r>
              <a:rPr lang="en-AU" sz="2400" b="1" dirty="0" smtClean="0"/>
              <a:t>Conclusion</a:t>
            </a:r>
          </a:p>
        </p:txBody>
      </p:sp>
      <p:sp>
        <p:nvSpPr>
          <p:cNvPr id="4" name="Rectangle 3"/>
          <p:cNvSpPr/>
          <p:nvPr/>
        </p:nvSpPr>
        <p:spPr>
          <a:xfrm>
            <a:off x="289653" y="1404462"/>
            <a:ext cx="10541158" cy="1477328"/>
          </a:xfrm>
          <a:prstGeom prst="rect">
            <a:avLst/>
          </a:prstGeom>
        </p:spPr>
        <p:txBody>
          <a:bodyPr wrap="square">
            <a:spAutoFit/>
          </a:bodyPr>
          <a:lstStyle/>
          <a:p>
            <a:r>
              <a:rPr lang="en-AU" dirty="0" smtClean="0">
                <a:latin typeface="Arial" panose="020B0604020202020204" pitchFamily="34" charset="0"/>
                <a:cs typeface="Arial" panose="020B0604020202020204" pitchFamily="34" charset="0"/>
              </a:rPr>
              <a:t>This is the main section of the written report and should include a discussion about all relevant measures or displays. i.e. frequency</a:t>
            </a:r>
            <a:r>
              <a:rPr lang="en-AU" dirty="0">
                <a:latin typeface="Arial" panose="020B0604020202020204" pitchFamily="34" charset="0"/>
                <a:cs typeface="Arial" panose="020B0604020202020204" pitchFamily="34" charset="0"/>
              </a:rPr>
              <a:t>, proportion (median), removal of outliers</a:t>
            </a:r>
            <a:r>
              <a:rPr lang="en-AU" dirty="0" smtClean="0">
                <a:latin typeface="Arial" panose="020B0604020202020204" pitchFamily="34" charset="0"/>
                <a:cs typeface="Arial" panose="020B0604020202020204" pitchFamily="34" charset="0"/>
              </a:rPr>
              <a:t>, </a:t>
            </a:r>
            <a:r>
              <a:rPr lang="en-AU" dirty="0">
                <a:latin typeface="Arial" panose="020B0604020202020204" pitchFamily="34" charset="0"/>
                <a:cs typeface="Arial" panose="020B0604020202020204" pitchFamily="34" charset="0"/>
              </a:rPr>
              <a:t>comparisons using measures of spread (i.e. linking range and standard deviation) and measures of central tendency, </a:t>
            </a:r>
            <a:r>
              <a:rPr lang="en-AU" dirty="0" smtClean="0">
                <a:latin typeface="Arial" panose="020B0604020202020204" pitchFamily="34" charset="0"/>
                <a:cs typeface="Arial" panose="020B0604020202020204" pitchFamily="34" charset="0"/>
              </a:rPr>
              <a:t>the </a:t>
            </a:r>
            <a:r>
              <a:rPr lang="en-AU" dirty="0">
                <a:latin typeface="Arial" panose="020B0604020202020204" pitchFamily="34" charset="0"/>
                <a:cs typeface="Arial" panose="020B0604020202020204" pitchFamily="34" charset="0"/>
              </a:rPr>
              <a:t>shape </a:t>
            </a:r>
            <a:r>
              <a:rPr lang="en-AU" dirty="0" smtClean="0">
                <a:latin typeface="Arial" panose="020B0604020202020204" pitchFamily="34" charset="0"/>
                <a:cs typeface="Arial" panose="020B0604020202020204" pitchFamily="34" charset="0"/>
              </a:rPr>
              <a:t>of data displays. Interpretations should be correct, detailed and </a:t>
            </a:r>
            <a:r>
              <a:rPr lang="en-AU" dirty="0">
                <a:latin typeface="Arial" panose="020B0604020202020204" pitchFamily="34" charset="0"/>
                <a:cs typeface="Arial" panose="020B0604020202020204" pitchFamily="34" charset="0"/>
              </a:rPr>
              <a:t>clearly linked to numerical and graphical </a:t>
            </a:r>
            <a:r>
              <a:rPr lang="en-AU" dirty="0" smtClean="0">
                <a:latin typeface="Arial" panose="020B0604020202020204" pitchFamily="34" charset="0"/>
                <a:cs typeface="Arial" panose="020B0604020202020204" pitchFamily="34" charset="0"/>
              </a:rPr>
              <a:t>analysis.</a:t>
            </a:r>
            <a:endParaRPr lang="en-AU" dirty="0">
              <a:latin typeface="Arial" panose="020B0604020202020204" pitchFamily="34" charset="0"/>
              <a:cs typeface="Arial" panose="020B0604020202020204" pitchFamily="34" charset="0"/>
            </a:endParaRPr>
          </a:p>
        </p:txBody>
      </p:sp>
      <p:sp>
        <p:nvSpPr>
          <p:cNvPr id="7" name="Rectangle 6"/>
          <p:cNvSpPr/>
          <p:nvPr/>
        </p:nvSpPr>
        <p:spPr>
          <a:xfrm>
            <a:off x="340769" y="3653015"/>
            <a:ext cx="10490041" cy="1200329"/>
          </a:xfrm>
          <a:prstGeom prst="rect">
            <a:avLst/>
          </a:prstGeom>
        </p:spPr>
        <p:txBody>
          <a:bodyPr wrap="square">
            <a:spAutoFit/>
          </a:bodyPr>
          <a:lstStyle/>
          <a:p>
            <a:r>
              <a:rPr lang="en-AU" dirty="0" smtClean="0">
                <a:latin typeface="Arial" panose="020B0604020202020204" pitchFamily="34" charset="0"/>
                <a:ea typeface="Times New Roman" panose="02020603050405020304" pitchFamily="18" charset="0"/>
              </a:rPr>
              <a:t>Make </a:t>
            </a:r>
            <a:r>
              <a:rPr lang="en-AU" dirty="0">
                <a:latin typeface="Arial" panose="020B0604020202020204" pitchFamily="34" charset="0"/>
                <a:ea typeface="Times New Roman" panose="02020603050405020304" pitchFamily="18" charset="0"/>
              </a:rPr>
              <a:t>a clear statement about the </a:t>
            </a:r>
            <a:r>
              <a:rPr lang="en-AU" dirty="0" smtClean="0">
                <a:latin typeface="Arial" panose="020B0604020202020204" pitchFamily="34" charset="0"/>
                <a:ea typeface="Times New Roman" panose="02020603050405020304" pitchFamily="18" charset="0"/>
              </a:rPr>
              <a:t>results, </a:t>
            </a:r>
            <a:r>
              <a:rPr lang="en-AU" dirty="0">
                <a:latin typeface="Arial" panose="020B0604020202020204" pitchFamily="34" charset="0"/>
                <a:ea typeface="Times New Roman" panose="02020603050405020304" pitchFamily="18" charset="0"/>
              </a:rPr>
              <a:t>links conclusions to the question and mentions the conclusions they came to as a result of their numerical and graphical analysis. Mentions </a:t>
            </a:r>
            <a:r>
              <a:rPr lang="en-AU" dirty="0" smtClean="0">
                <a:latin typeface="Arial" panose="020B0604020202020204" pitchFamily="34" charset="0"/>
                <a:ea typeface="Times New Roman" panose="02020603050405020304" pitchFamily="18" charset="0"/>
              </a:rPr>
              <a:t>any improvements that could or should be made to the analysis process and provides </a:t>
            </a:r>
            <a:r>
              <a:rPr lang="en-AU" dirty="0">
                <a:latin typeface="Arial" panose="020B0604020202020204" pitchFamily="34" charset="0"/>
                <a:ea typeface="Times New Roman" panose="02020603050405020304" pitchFamily="18" charset="0"/>
              </a:rPr>
              <a:t>a concise and coherent summary of </a:t>
            </a:r>
            <a:r>
              <a:rPr lang="en-AU" dirty="0" smtClean="0">
                <a:latin typeface="Arial" panose="020B0604020202020204" pitchFamily="34" charset="0"/>
                <a:ea typeface="Times New Roman" panose="02020603050405020304" pitchFamily="18" charset="0"/>
              </a:rPr>
              <a:t>the process used.</a:t>
            </a:r>
            <a:endParaRPr lang="en-AU" dirty="0"/>
          </a:p>
        </p:txBody>
      </p:sp>
    </p:spTree>
    <p:extLst>
      <p:ext uri="{BB962C8B-B14F-4D97-AF65-F5344CB8AC3E}">
        <p14:creationId xmlns:p14="http://schemas.microsoft.com/office/powerpoint/2010/main" val="42249837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547</TotalTime>
  <Words>462</Words>
  <Application>Microsoft Office PowerPoint</Application>
  <PresentationFormat>Widescreen</PresentationFormat>
  <Paragraphs>45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STEDMAN Shaun [Harrisdale Senior High School]</dc:creator>
  <cp:lastModifiedBy>STEDMAN Shaun [Harrisdale Senior High School]</cp:lastModifiedBy>
  <cp:revision>36</cp:revision>
  <dcterms:created xsi:type="dcterms:W3CDTF">2021-02-03T00:27:28Z</dcterms:created>
  <dcterms:modified xsi:type="dcterms:W3CDTF">2021-07-21T00:15:47Z</dcterms:modified>
</cp:coreProperties>
</file>
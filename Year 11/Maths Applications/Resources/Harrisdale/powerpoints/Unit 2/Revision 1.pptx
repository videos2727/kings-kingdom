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6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37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27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77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60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76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0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380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57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7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72A0C-088E-4DAF-B7F3-4942524E895E}" type="datetimeFigureOut">
              <a:rPr lang="en-AU" smtClean="0"/>
              <a:t>21/05/2021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39FDD-FF15-45C4-896C-C1E85429AF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10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Revision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278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Identify matrix dimensions, square, row, column, zero, identity and diagonal matrices.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161266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 FREE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18782" y="1733672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 example is given in the 2 x 3 matrix below. 2 x 3 is the </a:t>
            </a:r>
            <a:r>
              <a:rPr lang="en-AU" sz="2400" b="1" u="sng" dirty="0" smtClean="0"/>
              <a:t>size or dimensions</a:t>
            </a:r>
            <a:r>
              <a:rPr lang="en-AU" sz="2400" dirty="0" smtClean="0"/>
              <a:t> of the matrix which is always stated as rows x columns.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08512" y="2936303"/>
                <a:ext cx="3147465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512" y="2936303"/>
                <a:ext cx="3147465" cy="10955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4560641" y="2936303"/>
            <a:ext cx="2481943" cy="613386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7355977" y="2899306"/>
            <a:ext cx="2890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00B050"/>
                </a:solidFill>
              </a:rPr>
              <a:t>Row 1</a:t>
            </a:r>
            <a:endParaRPr lang="en-AU" sz="3200" b="1" dirty="0">
              <a:solidFill>
                <a:srgbClr val="00B050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0066" y="2936303"/>
            <a:ext cx="584989" cy="113255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961629" y="4148102"/>
            <a:ext cx="1825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Column 2</a:t>
            </a:r>
            <a:endParaRPr lang="en-A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1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73" y="1098188"/>
            <a:ext cx="3071842" cy="27034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217" y="2103335"/>
            <a:ext cx="3278245" cy="18079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161266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 FREE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13240" y="636523"/>
            <a:ext cx="1157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Calculate area, surface area and volume without a calculator.</a:t>
            </a:r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77091" y="4012276"/>
            <a:ext cx="48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C-S: 10 x 10 – 8 x 8 = 36	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77090" y="4381608"/>
            <a:ext cx="48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 : 2(36) + 2(10 x 10) + 2(8 x 10) + 2(2 x 10)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77090" y="4794474"/>
                <a:ext cx="48380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SA : 72 + 200 + 160 + 40 = 472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90" y="4794474"/>
                <a:ext cx="4838007" cy="369332"/>
              </a:xfrm>
              <a:prstGeom prst="rect">
                <a:avLst/>
              </a:prstGeom>
              <a:blipFill>
                <a:blip r:embed="rId4"/>
                <a:stretch>
                  <a:fillRect l="-100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77089" y="5445637"/>
                <a:ext cx="48380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 : 36 x 10 = 360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89" y="5445637"/>
                <a:ext cx="4838007" cy="369332"/>
              </a:xfrm>
              <a:prstGeom prst="rect">
                <a:avLst/>
              </a:prstGeom>
              <a:blipFill>
                <a:blip r:embed="rId5"/>
                <a:stretch>
                  <a:fillRect l="-100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115096" y="4012276"/>
            <a:ext cx="48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C-S: 0.5 x 12 x 5 = 30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5115094" y="4381608"/>
            <a:ext cx="48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 : 2(30) + 6(5) + 6(12) + 6(13) =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115095" y="4794474"/>
                <a:ext cx="48380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SA : 60 + 30 + 72 + 78 = 240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095" y="4794474"/>
                <a:ext cx="4838007" cy="369332"/>
              </a:xfrm>
              <a:prstGeom prst="rect">
                <a:avLst/>
              </a:prstGeom>
              <a:blipFill>
                <a:blip r:embed="rId6"/>
                <a:stretch>
                  <a:fillRect l="-100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115094" y="5445637"/>
                <a:ext cx="48380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 : 30 x 6 = 180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094" y="5445637"/>
                <a:ext cx="4838007" cy="369332"/>
              </a:xfrm>
              <a:prstGeom prst="rect">
                <a:avLst/>
              </a:prstGeom>
              <a:blipFill>
                <a:blip r:embed="rId7"/>
                <a:stretch>
                  <a:fillRect l="-100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071360" y="2554778"/>
            <a:ext cx="74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 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443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61266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 FREE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13240" y="636523"/>
            <a:ext cx="1157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Calculate simple interest without a calculator.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32509" y="1269076"/>
            <a:ext cx="1084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Kelsey invested $10 000 at a rate of 5% p.a. simple interest over 6 years.</a:t>
            </a:r>
          </a:p>
          <a:p>
            <a:r>
              <a:rPr lang="en-AU" sz="2400" dirty="0" smtClean="0"/>
              <a:t>How much interest did she gain? What was the total value of her investment?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54430" y="2394065"/>
            <a:ext cx="2815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     10 000 x 5% x 6</a:t>
            </a:r>
          </a:p>
          <a:p>
            <a:r>
              <a:rPr lang="en-AU" sz="2400" dirty="0" smtClean="0"/>
              <a:t>=    500 x 6</a:t>
            </a:r>
          </a:p>
          <a:p>
            <a:r>
              <a:rPr lang="en-AU" sz="2400" dirty="0" smtClean="0"/>
              <a:t>=    $3000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399011" y="3796145"/>
            <a:ext cx="6583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She earned $3000 interest.</a:t>
            </a:r>
          </a:p>
          <a:p>
            <a:r>
              <a:rPr lang="en-AU" sz="2400" dirty="0" smtClean="0"/>
              <a:t>The total value of her investment was $13 000.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471950" y="2394065"/>
            <a:ext cx="2815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     10 000 + 3000</a:t>
            </a:r>
          </a:p>
          <a:p>
            <a:r>
              <a:rPr lang="en-AU" sz="2400" dirty="0" smtClean="0"/>
              <a:t>=    $13 000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2966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244436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 ASSUMED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13240" y="636523"/>
            <a:ext cx="1157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Calculate perimeter and area of sectors of circles.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05" y="1679430"/>
            <a:ext cx="4029075" cy="42195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437654" y="1376142"/>
                <a:ext cx="4838007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Curved line: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×3.5</m:t>
                    </m:r>
                  </m:oMath>
                </a14:m>
                <a:endParaRPr lang="en-AU" dirty="0" smtClean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654" y="1376142"/>
                <a:ext cx="4838007" cy="485774"/>
              </a:xfrm>
              <a:prstGeom prst="rect">
                <a:avLst/>
              </a:prstGeom>
              <a:blipFill>
                <a:blip r:embed="rId3"/>
                <a:stretch>
                  <a:fillRect l="-113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437654" y="1955204"/>
            <a:ext cx="48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Straight edges: 3.5 + 3.5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37654" y="2504036"/>
                <a:ext cx="5626289" cy="762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Perimeter: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×3.5+3.5+3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.5=10.67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𝑐𝑚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 </a:t>
                </a:r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654" y="2504036"/>
                <a:ext cx="5626289" cy="762773"/>
              </a:xfrm>
              <a:prstGeom prst="rect">
                <a:avLst/>
              </a:prstGeom>
              <a:blipFill>
                <a:blip r:embed="rId4"/>
                <a:stretch>
                  <a:fillRect l="-9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437653" y="3597104"/>
                <a:ext cx="5626289" cy="779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×3.5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=6.41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 </a:t>
                </a:r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653" y="3597104"/>
                <a:ext cx="5626289" cy="779701"/>
              </a:xfrm>
              <a:prstGeom prst="rect">
                <a:avLst/>
              </a:prstGeom>
              <a:blipFill>
                <a:blip r:embed="rId5"/>
                <a:stretch>
                  <a:fillRect l="-9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09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" y="658906"/>
            <a:ext cx="11793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Calculate </a:t>
            </a:r>
            <a:r>
              <a:rPr lang="en-AU" sz="2200" dirty="0" smtClean="0"/>
              <a:t>the total value of </a:t>
            </a:r>
            <a:r>
              <a:rPr lang="en-AU" sz="2200" dirty="0"/>
              <a:t>a</a:t>
            </a:r>
            <a:r>
              <a:rPr lang="en-AU" sz="2200" dirty="0" smtClean="0"/>
              <a:t> </a:t>
            </a:r>
            <a:r>
              <a:rPr lang="en-AU" sz="2200" dirty="0" smtClean="0"/>
              <a:t>portfolio and the total dividend the investor will receive.</a:t>
            </a:r>
            <a:endParaRPr lang="en-AU" sz="2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860659"/>
              </p:ext>
            </p:extLst>
          </p:nvPr>
        </p:nvGraphicFramePr>
        <p:xfrm>
          <a:off x="216647" y="1882836"/>
          <a:ext cx="90819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581">
                  <a:extLst>
                    <a:ext uri="{9D8B030D-6E8A-4147-A177-3AD203B41FA5}">
                      <a16:colId xmlns:a16="http://schemas.microsoft.com/office/drawing/2014/main" val="4281012795"/>
                    </a:ext>
                  </a:extLst>
                </a:gridCol>
                <a:gridCol w="2107581">
                  <a:extLst>
                    <a:ext uri="{9D8B030D-6E8A-4147-A177-3AD203B41FA5}">
                      <a16:colId xmlns:a16="http://schemas.microsoft.com/office/drawing/2014/main" val="487182576"/>
                    </a:ext>
                  </a:extLst>
                </a:gridCol>
                <a:gridCol w="2353251">
                  <a:extLst>
                    <a:ext uri="{9D8B030D-6E8A-4147-A177-3AD203B41FA5}">
                      <a16:colId xmlns:a16="http://schemas.microsoft.com/office/drawing/2014/main" val="88858147"/>
                    </a:ext>
                  </a:extLst>
                </a:gridCol>
                <a:gridCol w="2513581">
                  <a:extLst>
                    <a:ext uri="{9D8B030D-6E8A-4147-A177-3AD203B41FA5}">
                      <a16:colId xmlns:a16="http://schemas.microsoft.com/office/drawing/2014/main" val="137430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Company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 of shares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Value per share ($)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Dividend</a:t>
                      </a:r>
                      <a:r>
                        <a:rPr lang="en-AU" baseline="0" dirty="0" smtClean="0"/>
                        <a:t> per share ($)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494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ABC Limited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0.86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0.05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07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DEF Group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23.50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6%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GH Resources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3.40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0.28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26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IJ Technology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0.54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No dividend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06238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6647" y="3906371"/>
            <a:ext cx="48327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Total value of portfolio:</a:t>
            </a:r>
          </a:p>
          <a:p>
            <a:r>
              <a:rPr lang="en-AU" sz="2200" dirty="0" smtClean="0"/>
              <a:t>ABC: 	4000 x 0.86 = 3440  </a:t>
            </a:r>
          </a:p>
          <a:p>
            <a:r>
              <a:rPr lang="en-AU" sz="2200" dirty="0" smtClean="0"/>
              <a:t>DEF: 	 550 x 23.50 = 12925</a:t>
            </a:r>
          </a:p>
          <a:p>
            <a:r>
              <a:rPr lang="en-AU" sz="2200" dirty="0" smtClean="0"/>
              <a:t>GH: 	2500 x 3.40 = 1350</a:t>
            </a:r>
          </a:p>
          <a:p>
            <a:r>
              <a:rPr lang="en-AU" sz="2200" dirty="0" smtClean="0"/>
              <a:t>IJ: 	8000 x 0.54 = 4320</a:t>
            </a:r>
          </a:p>
          <a:p>
            <a:r>
              <a:rPr lang="en-AU" sz="2200" dirty="0" smtClean="0"/>
              <a:t>Total:		    = $22 035</a:t>
            </a:r>
          </a:p>
          <a:p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98147" y="3906371"/>
            <a:ext cx="48327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Total dividend:</a:t>
            </a:r>
          </a:p>
          <a:p>
            <a:r>
              <a:rPr lang="en-AU" sz="2200" dirty="0" smtClean="0"/>
              <a:t>ABC: 	4000 x 0.05 = 200  </a:t>
            </a:r>
          </a:p>
          <a:p>
            <a:r>
              <a:rPr lang="en-AU" sz="2200" dirty="0" smtClean="0"/>
              <a:t>DEF: 	  550 x </a:t>
            </a:r>
            <a:r>
              <a:rPr lang="en-AU" sz="2200" dirty="0" smtClean="0"/>
              <a:t>0.06 x 23.5</a:t>
            </a:r>
            <a:r>
              <a:rPr lang="en-AU" sz="2200" dirty="0" smtClean="0"/>
              <a:t> </a:t>
            </a:r>
            <a:r>
              <a:rPr lang="en-AU" sz="2200" dirty="0" smtClean="0"/>
              <a:t>= </a:t>
            </a:r>
            <a:r>
              <a:rPr lang="en-AU" sz="2200" dirty="0" smtClean="0"/>
              <a:t>777.50</a:t>
            </a:r>
            <a:endParaRPr lang="en-AU" sz="2200" dirty="0" smtClean="0"/>
          </a:p>
          <a:p>
            <a:r>
              <a:rPr lang="en-AU" sz="2200" dirty="0" smtClean="0"/>
              <a:t>GH: 	2500 x 0.28 = 700</a:t>
            </a:r>
          </a:p>
          <a:p>
            <a:r>
              <a:rPr lang="en-AU" sz="2200" dirty="0" smtClean="0"/>
              <a:t>IJ: 	     8000 x 0 = 0</a:t>
            </a:r>
          </a:p>
          <a:p>
            <a:r>
              <a:rPr lang="en-AU" sz="2200" dirty="0" smtClean="0"/>
              <a:t>Total:		     = $</a:t>
            </a:r>
            <a:r>
              <a:rPr lang="en-AU" sz="2200" dirty="0" smtClean="0"/>
              <a:t>1677.50</a:t>
            </a:r>
            <a:endParaRPr lang="en-AU" sz="2200" dirty="0" smtClean="0"/>
          </a:p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2244436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 ASSUMED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6860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81535" y="665629"/>
                <a:ext cx="11806518" cy="471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Determine the price to earnings ratio for a share with a price of $6.50 and dividends in the last twelve months totalling 48 cents per share.</a:t>
                </a:r>
              </a:p>
              <a:p>
                <a:endParaRPr lang="en-AU" sz="2200" dirty="0"/>
              </a:p>
              <a:p>
                <a:r>
                  <a:rPr lang="en-AU" sz="2000" b="1" dirty="0"/>
                  <a:t>Price-to-earnings ratio </a:t>
                </a:r>
                <a14:m>
                  <m:oMath xmlns:m="http://schemas.openxmlformats.org/officeDocument/2006/math">
                    <m:r>
                      <a:rPr lang="en-AU" sz="2600" b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𝑺𝒉𝒂𝒓𝒆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𝒑𝒓𝒊𝒄𝒆</m:t>
                        </m:r>
                      </m:num>
                      <m:den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𝑬𝒂𝒓𝒏𝒊𝒏𝒈𝒔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𝒑𝒂𝒔𝒕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600" b="1" i="1">
                            <a:latin typeface="Cambria Math" panose="02040503050406030204" pitchFamily="18" charset="0"/>
                          </a:rPr>
                          <m:t>𝒚𝒆𝒂𝒓</m:t>
                        </m:r>
                      </m:den>
                    </m:f>
                  </m:oMath>
                </a14:m>
                <a:r>
                  <a:rPr lang="en-AU" sz="2600" dirty="0" smtClean="0"/>
                  <a:t>    (in your formula sheet)</a:t>
                </a:r>
                <a:endParaRPr lang="en-AU" sz="2600" dirty="0" smtClean="0"/>
              </a:p>
              <a:p>
                <a:endParaRPr lang="en-AU" sz="2600" dirty="0"/>
              </a:p>
              <a:p>
                <a:r>
                  <a:rPr lang="en-AU" sz="2600" dirty="0" smtClean="0"/>
                  <a:t>		        </a:t>
                </a:r>
              </a:p>
              <a:p>
                <a:r>
                  <a:rPr lang="en-AU" sz="2600" dirty="0"/>
                  <a:t> </a:t>
                </a:r>
                <a:r>
                  <a:rPr lang="en-AU" sz="2600" dirty="0" smtClean="0"/>
                  <a:t>			</a:t>
                </a:r>
                <a14:m>
                  <m:oMath xmlns:m="http://schemas.openxmlformats.org/officeDocument/2006/math">
                    <m:r>
                      <a:rPr lang="en-AU" sz="2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600" b="0" i="1" smtClean="0">
                            <a:latin typeface="Cambria Math" panose="02040503050406030204" pitchFamily="18" charset="0"/>
                          </a:rPr>
                          <m:t>6.5</m:t>
                        </m:r>
                      </m:num>
                      <m:den>
                        <m:r>
                          <a:rPr lang="en-AU" sz="2600" b="0" i="1" smtClean="0">
                            <a:latin typeface="Cambria Math" panose="02040503050406030204" pitchFamily="18" charset="0"/>
                          </a:rPr>
                          <m:t>0.48</m:t>
                        </m:r>
                      </m:den>
                    </m:f>
                  </m:oMath>
                </a14:m>
                <a:endParaRPr lang="en-AU" sz="2600" dirty="0" smtClean="0"/>
              </a:p>
              <a:p>
                <a:endParaRPr lang="en-AU" sz="2600" dirty="0"/>
              </a:p>
              <a:p>
                <a:r>
                  <a:rPr lang="en-AU" sz="2600" dirty="0" smtClean="0"/>
                  <a:t>			</a:t>
                </a:r>
                <a14:m>
                  <m:oMath xmlns:m="http://schemas.openxmlformats.org/officeDocument/2006/math">
                    <m:r>
                      <a:rPr lang="en-AU" sz="2600" b="0" i="1" smtClean="0">
                        <a:latin typeface="Cambria Math" panose="02040503050406030204" pitchFamily="18" charset="0"/>
                      </a:rPr>
                      <m:t>=12.5</m:t>
                    </m:r>
                  </m:oMath>
                </a14:m>
                <a:endParaRPr lang="en-AU" sz="2600" b="0" dirty="0" smtClean="0"/>
              </a:p>
              <a:p>
                <a:endParaRPr lang="en-AU" sz="2600" dirty="0" smtClean="0"/>
              </a:p>
              <a:p>
                <a:r>
                  <a:rPr lang="en-AU" sz="2200" dirty="0" smtClean="0"/>
                  <a:t>The P/E ratio for this share is 12.5</a:t>
                </a:r>
                <a:endParaRPr lang="en-AU" sz="22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35" y="665629"/>
                <a:ext cx="11806518" cy="4718151"/>
              </a:xfrm>
              <a:prstGeom prst="rect">
                <a:avLst/>
              </a:prstGeom>
              <a:blipFill>
                <a:blip r:embed="rId2"/>
                <a:stretch>
                  <a:fillRect l="-671" t="-904" r="-103" b="-3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0" y="0"/>
            <a:ext cx="2244436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 ASSUMED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7772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583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Revision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1</dc:title>
  <dc:creator>LEVITT Megan [Harrisdale Senior High School]</dc:creator>
  <cp:lastModifiedBy>LEVITT Megan [Harrisdale Senior High School]</cp:lastModifiedBy>
  <cp:revision>9</cp:revision>
  <dcterms:created xsi:type="dcterms:W3CDTF">2021-05-21T01:28:38Z</dcterms:created>
  <dcterms:modified xsi:type="dcterms:W3CDTF">2021-05-21T02:23:03Z</dcterms:modified>
</cp:coreProperties>
</file>
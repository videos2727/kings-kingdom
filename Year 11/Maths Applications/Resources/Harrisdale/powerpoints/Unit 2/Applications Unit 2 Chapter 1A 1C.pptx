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3" r:id="rId2"/>
    <p:sldId id="264" r:id="rId3"/>
    <p:sldId id="265" r:id="rId4"/>
    <p:sldId id="267" r:id="rId5"/>
    <p:sldId id="268" r:id="rId6"/>
    <p:sldId id="269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85" autoAdjust="0"/>
    <p:restoredTop sz="94660"/>
  </p:normalViewPr>
  <p:slideViewPr>
    <p:cSldViewPr snapToGrid="0">
      <p:cViewPr varScale="1">
        <p:scale>
          <a:sx n="85" d="100"/>
          <a:sy n="85" d="100"/>
        </p:scale>
        <p:origin x="63" y="1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0A132-FF45-4605-9BB8-80702934D916}" type="datetimeFigureOut">
              <a:rPr lang="en-AU" smtClean="0"/>
              <a:t>16/06/2021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E3931-47A2-415E-8FB2-549750A36B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353325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0A132-FF45-4605-9BB8-80702934D916}" type="datetimeFigureOut">
              <a:rPr lang="en-AU" smtClean="0"/>
              <a:t>16/06/2021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E3931-47A2-415E-8FB2-549750A36B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614259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0A132-FF45-4605-9BB8-80702934D916}" type="datetimeFigureOut">
              <a:rPr lang="en-AU" smtClean="0"/>
              <a:t>16/06/2021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E3931-47A2-415E-8FB2-549750A36B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190005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0A132-FF45-4605-9BB8-80702934D916}" type="datetimeFigureOut">
              <a:rPr lang="en-AU" smtClean="0"/>
              <a:t>16/06/2021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E3931-47A2-415E-8FB2-549750A36B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21266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0A132-FF45-4605-9BB8-80702934D916}" type="datetimeFigureOut">
              <a:rPr lang="en-AU" smtClean="0"/>
              <a:t>16/06/2021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E3931-47A2-415E-8FB2-549750A36B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066126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0A132-FF45-4605-9BB8-80702934D916}" type="datetimeFigureOut">
              <a:rPr lang="en-AU" smtClean="0"/>
              <a:t>16/06/2021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E3931-47A2-415E-8FB2-549750A36B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169673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0A132-FF45-4605-9BB8-80702934D916}" type="datetimeFigureOut">
              <a:rPr lang="en-AU" smtClean="0"/>
              <a:t>16/06/2021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E3931-47A2-415E-8FB2-549750A36B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402647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0A132-FF45-4605-9BB8-80702934D916}" type="datetimeFigureOut">
              <a:rPr lang="en-AU" smtClean="0"/>
              <a:t>16/06/2021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E3931-47A2-415E-8FB2-549750A36B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182418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0A132-FF45-4605-9BB8-80702934D916}" type="datetimeFigureOut">
              <a:rPr lang="en-AU" smtClean="0"/>
              <a:t>16/06/2021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E3931-47A2-415E-8FB2-549750A36B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269284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0A132-FF45-4605-9BB8-80702934D916}" type="datetimeFigureOut">
              <a:rPr lang="en-AU" smtClean="0"/>
              <a:t>16/06/2021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E3931-47A2-415E-8FB2-549750A36B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493064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0A132-FF45-4605-9BB8-80702934D916}" type="datetimeFigureOut">
              <a:rPr lang="en-AU" smtClean="0"/>
              <a:t>16/06/2021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E3931-47A2-415E-8FB2-549750A36B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101921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10A132-FF45-4605-9BB8-80702934D916}" type="datetimeFigureOut">
              <a:rPr lang="en-AU" smtClean="0"/>
              <a:t>16/06/2021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DE3931-47A2-415E-8FB2-549750A36B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62188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0" y="0"/>
            <a:ext cx="3640771" cy="461665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Displaying Categorical Data</a:t>
            </a:r>
            <a:endParaRPr lang="en-AU" sz="240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3428" y="6896"/>
            <a:ext cx="5848408" cy="3073454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555" y="3192546"/>
            <a:ext cx="3329275" cy="3491205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58466" y="3105398"/>
            <a:ext cx="4029923" cy="357835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4147" y="566591"/>
            <a:ext cx="5935186" cy="2954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In the Australian census, people were asked which state (or territory) they resided in. </a:t>
            </a:r>
          </a:p>
          <a:p>
            <a:r>
              <a:rPr lang="en-AU" sz="2400" dirty="0" smtClean="0"/>
              <a:t>This is categorical data because people would answer with a word (non-numerical).</a:t>
            </a:r>
          </a:p>
          <a:p>
            <a:r>
              <a:rPr lang="en-AU" sz="2400" dirty="0" smtClean="0"/>
              <a:t>When displaying categorical data, you would frequently use a frequency table, pie chart or bar graph.</a:t>
            </a:r>
          </a:p>
          <a:p>
            <a:endParaRPr lang="en-AU" dirty="0"/>
          </a:p>
        </p:txBody>
      </p:sp>
      <p:sp>
        <p:nvSpPr>
          <p:cNvPr id="6" name="TextBox 5"/>
          <p:cNvSpPr txBox="1"/>
          <p:nvPr/>
        </p:nvSpPr>
        <p:spPr>
          <a:xfrm>
            <a:off x="8428748" y="3599320"/>
            <a:ext cx="3489305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dirty="0" smtClean="0"/>
              <a:t>Bar charts have the categories on the x axis and the frequency on the y axis.</a:t>
            </a:r>
          </a:p>
          <a:p>
            <a:endParaRPr lang="en-AU" sz="2400" dirty="0"/>
          </a:p>
          <a:p>
            <a:pPr algn="ctr"/>
            <a:r>
              <a:rPr lang="en-AU" sz="2400" dirty="0" smtClean="0"/>
              <a:t>They also have gaps between each bar.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16562711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0" y="0"/>
            <a:ext cx="3455647" cy="461665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Displaying Numerical Data</a:t>
            </a:r>
            <a:endParaRPr lang="en-AU" sz="240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9333" y="403994"/>
            <a:ext cx="5847590" cy="865444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774" y="3122358"/>
            <a:ext cx="4705350" cy="37719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34956" y="3305175"/>
            <a:ext cx="4657725" cy="355282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4147" y="566591"/>
            <a:ext cx="5935186" cy="2954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The length (to the nearest cm) of 50 babies is recorded in a hospital.</a:t>
            </a:r>
          </a:p>
          <a:p>
            <a:r>
              <a:rPr lang="en-AU" sz="2400" dirty="0" smtClean="0"/>
              <a:t>Length would normally be continuous data but here it is discrete data because the answers have to be integers (due to rounding).</a:t>
            </a:r>
          </a:p>
          <a:p>
            <a:r>
              <a:rPr lang="en-AU" sz="2400" dirty="0" smtClean="0"/>
              <a:t>When displaying numerical data, you might use a dot frequency diagram or a histogram.</a:t>
            </a:r>
          </a:p>
          <a:p>
            <a:endParaRPr lang="en-AU" dirty="0"/>
          </a:p>
        </p:txBody>
      </p:sp>
      <p:sp>
        <p:nvSpPr>
          <p:cNvPr id="8" name="TextBox 7"/>
          <p:cNvSpPr txBox="1"/>
          <p:nvPr/>
        </p:nvSpPr>
        <p:spPr>
          <a:xfrm>
            <a:off x="8658751" y="3363707"/>
            <a:ext cx="3489305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dirty="0" smtClean="0"/>
              <a:t>The discrete value is in the middle of the bar.</a:t>
            </a:r>
          </a:p>
          <a:p>
            <a:endParaRPr lang="en-AU" sz="2400" dirty="0"/>
          </a:p>
          <a:p>
            <a:pPr algn="ctr"/>
            <a:r>
              <a:rPr lang="en-AU" sz="2400" dirty="0" smtClean="0"/>
              <a:t>Note there are now no gaps between bars.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39698708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0" y="0"/>
            <a:ext cx="3455647" cy="461665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Displaying Numerical Data</a:t>
            </a:r>
            <a:endParaRPr lang="en-AU" sz="240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1880" y="230832"/>
            <a:ext cx="4271566" cy="324422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5367" y="589031"/>
            <a:ext cx="5845428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A country’s motorcyclist deaths over the course of a year were recorded with the age of the motorcyclist.</a:t>
            </a:r>
          </a:p>
          <a:p>
            <a:r>
              <a:rPr lang="en-AU" sz="2400" dirty="0" smtClean="0"/>
              <a:t>Rather than having up to 45 bars on the histogram, the results were grouped.</a:t>
            </a:r>
          </a:p>
          <a:p>
            <a:r>
              <a:rPr lang="en-AU" sz="2400" dirty="0" smtClean="0"/>
              <a:t>Continuous data (and some discrete data) is usually grouped before being displayed.</a:t>
            </a:r>
            <a:endParaRPr lang="en-AU" sz="24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367" y="3266687"/>
            <a:ext cx="6031681" cy="362437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65313" y="3924714"/>
            <a:ext cx="348930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dirty="0" smtClean="0"/>
              <a:t>The lower limit of the group is on the left hand side of the bar.</a:t>
            </a:r>
          </a:p>
          <a:p>
            <a:pPr algn="ctr"/>
            <a:r>
              <a:rPr lang="en-AU" sz="2400" dirty="0" smtClean="0"/>
              <a:t>The upper limit of the groups is on the right hand side of the bar. 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37943095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4513" y="3015589"/>
            <a:ext cx="8543925" cy="2925762"/>
          </a:xfrm>
        </p:spPr>
        <p:txBody>
          <a:bodyPr>
            <a:normAutofit/>
          </a:bodyPr>
          <a:lstStyle/>
          <a:p>
            <a:r>
              <a:rPr lang="en-US" sz="2400" dirty="0"/>
              <a:t>Discrete data </a:t>
            </a:r>
            <a:r>
              <a:rPr lang="mr-IN" sz="2400" dirty="0"/>
              <a:t>–</a:t>
            </a:r>
            <a:r>
              <a:rPr lang="en-US" sz="2400" dirty="0"/>
              <a:t> number of pupils, not continuous.</a:t>
            </a:r>
          </a:p>
          <a:p>
            <a:r>
              <a:rPr lang="en-US" sz="2400" dirty="0"/>
              <a:t>y</a:t>
            </a:r>
            <a:r>
              <a:rPr lang="en-AU" sz="2400" dirty="0"/>
              <a:t>-</a:t>
            </a:r>
            <a:r>
              <a:rPr lang="en-US" sz="2400" dirty="0"/>
              <a:t>axis is always frequency</a:t>
            </a:r>
          </a:p>
          <a:p>
            <a:r>
              <a:rPr lang="en-US" sz="2400" dirty="0"/>
              <a:t>x-axis is always numbers (in this case, integer)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65" r="4478" b="5480"/>
          <a:stretch/>
        </p:blipFill>
        <p:spPr>
          <a:xfrm>
            <a:off x="373209" y="759916"/>
            <a:ext cx="7334678" cy="201630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0" y="0"/>
            <a:ext cx="6748609" cy="461665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Displaying Numerical Data – Dot Frequency Diagram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31689373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73743" y="1404651"/>
            <a:ext cx="5046663" cy="3458367"/>
          </a:xfrm>
        </p:spPr>
        <p:txBody>
          <a:bodyPr/>
          <a:lstStyle/>
          <a:p>
            <a:r>
              <a:rPr lang="en-US" sz="2400" dirty="0"/>
              <a:t>Length </a:t>
            </a:r>
            <a:r>
              <a:rPr lang="mr-IN" sz="2400" dirty="0"/>
              <a:t>–</a:t>
            </a:r>
            <a:r>
              <a:rPr lang="en-US" sz="2400" dirty="0"/>
              <a:t> </a:t>
            </a:r>
            <a:r>
              <a:rPr lang="en-US" sz="2400" dirty="0" smtClean="0"/>
              <a:t>usually continuous data as measured (here discrete as rounded)</a:t>
            </a:r>
            <a:endParaRPr lang="en-US" sz="2400" dirty="0"/>
          </a:p>
          <a:p>
            <a:r>
              <a:rPr lang="en-US" sz="2400" dirty="0"/>
              <a:t>50 cm </a:t>
            </a:r>
            <a:r>
              <a:rPr lang="mr-IN" sz="2400" dirty="0"/>
              <a:t>–</a:t>
            </a:r>
            <a:r>
              <a:rPr lang="en-US" sz="2400" dirty="0"/>
              <a:t> between 49.5 to </a:t>
            </a:r>
            <a:r>
              <a:rPr lang="en-US" sz="2400" dirty="0" smtClean="0"/>
              <a:t>less than 50.5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76" r="8761"/>
          <a:stretch/>
        </p:blipFill>
        <p:spPr>
          <a:xfrm>
            <a:off x="504182" y="1185712"/>
            <a:ext cx="4365138" cy="3584617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4026" y="5271592"/>
            <a:ext cx="6197600" cy="9271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0" y="0"/>
            <a:ext cx="6417629" cy="461665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Displaying Numerical Data – Frequency Histogram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32423059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2340" y="742931"/>
            <a:ext cx="10515600" cy="4351338"/>
          </a:xfrm>
        </p:spPr>
        <p:txBody>
          <a:bodyPr/>
          <a:lstStyle/>
          <a:p>
            <a:r>
              <a:rPr lang="en-US" sz="2400" dirty="0"/>
              <a:t>No gaps between the bar except when frequency = 0.</a:t>
            </a:r>
          </a:p>
          <a:p>
            <a:r>
              <a:rPr lang="en-US" sz="2400" dirty="0"/>
              <a:t>Usually have 6 </a:t>
            </a:r>
            <a:r>
              <a:rPr lang="mr-IN" sz="2400" dirty="0"/>
              <a:t>–</a:t>
            </a:r>
            <a:r>
              <a:rPr lang="en-US" sz="2400" dirty="0"/>
              <a:t> 10 equal intervals.</a:t>
            </a:r>
          </a:p>
          <a:p>
            <a:r>
              <a:rPr lang="en-US" sz="2400" dirty="0"/>
              <a:t>y</a:t>
            </a:r>
            <a:r>
              <a:rPr lang="en-AU" sz="2400" dirty="0"/>
              <a:t>-</a:t>
            </a:r>
            <a:r>
              <a:rPr lang="en-US" sz="2400" dirty="0"/>
              <a:t>axis is always </a:t>
            </a:r>
            <a:r>
              <a:rPr lang="en-US" sz="2400" dirty="0" smtClean="0"/>
              <a:t>frequency, x-axis </a:t>
            </a:r>
            <a:r>
              <a:rPr lang="en-US" sz="2400" dirty="0"/>
              <a:t>is always numbers</a:t>
            </a:r>
          </a:p>
          <a:p>
            <a:r>
              <a:rPr lang="en-US" sz="2400" dirty="0"/>
              <a:t>The frequency can be expressed in </a:t>
            </a:r>
          </a:p>
          <a:p>
            <a:pPr lvl="1"/>
            <a:r>
              <a:rPr lang="en-US" dirty="0"/>
              <a:t>Relative frequency </a:t>
            </a:r>
            <a:r>
              <a:rPr lang="mr-IN" dirty="0"/>
              <a:t>–</a:t>
            </a:r>
            <a:r>
              <a:rPr lang="en-US" dirty="0"/>
              <a:t> fraction of the whole</a:t>
            </a:r>
          </a:p>
          <a:p>
            <a:pPr lvl="1"/>
            <a:r>
              <a:rPr lang="en-US" dirty="0"/>
              <a:t>Percentage frequency </a:t>
            </a:r>
            <a:r>
              <a:rPr lang="mr-IN" dirty="0"/>
              <a:t>–</a:t>
            </a:r>
            <a:r>
              <a:rPr lang="en-US" dirty="0"/>
              <a:t> percentage of the whole</a:t>
            </a:r>
          </a:p>
          <a:p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0" y="0"/>
            <a:ext cx="6428849" cy="461665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Displaying Numerical Data – Frequency Histogram</a:t>
            </a:r>
            <a:endParaRPr lang="en-AU" sz="24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685" b="4736"/>
          <a:stretch/>
        </p:blipFill>
        <p:spPr>
          <a:xfrm>
            <a:off x="643830" y="3490787"/>
            <a:ext cx="6791046" cy="329148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630129" y="4724937"/>
            <a:ext cx="435243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Frequency </a:t>
            </a:r>
            <a:r>
              <a:rPr lang="en-US" sz="2400" dirty="0" smtClean="0"/>
              <a:t>polygon – formed by connecting the middle of the top of each bar to the next, makes the overall shape more evident </a:t>
            </a:r>
            <a:endParaRPr lang="en-US" sz="2400" dirty="0"/>
          </a:p>
        </p:txBody>
      </p:sp>
      <p:cxnSp>
        <p:nvCxnSpPr>
          <p:cNvPr id="8" name="Straight Arrow Connector 7"/>
          <p:cNvCxnSpPr/>
          <p:nvPr/>
        </p:nvCxnSpPr>
        <p:spPr>
          <a:xfrm flipH="1">
            <a:off x="3191985" y="4724938"/>
            <a:ext cx="5549395" cy="81756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047800" y="7270"/>
            <a:ext cx="4003537" cy="461665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Now do 1A </a:t>
            </a:r>
            <a:r>
              <a:rPr lang="en-AU" sz="2400" dirty="0" smtClean="0"/>
              <a:t>Q14 </a:t>
            </a:r>
            <a:r>
              <a:rPr lang="en-AU" sz="2400" dirty="0" smtClean="0"/>
              <a:t>and </a:t>
            </a:r>
            <a:r>
              <a:rPr lang="en-AU" sz="2400" dirty="0" smtClean="0"/>
              <a:t>1C Q1 – 4  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8565260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2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288</TotalTime>
  <Words>395</Words>
  <Application>Microsoft Office PowerPoint</Application>
  <PresentationFormat>Widescreen</PresentationFormat>
  <Paragraphs>36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Light</vt:lpstr>
      <vt:lpstr>Mangal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HarrisdaleSHS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teacher</dc:creator>
  <cp:lastModifiedBy>LEVITT Megan [Harrisdale Senior High School]</cp:lastModifiedBy>
  <cp:revision>41</cp:revision>
  <dcterms:created xsi:type="dcterms:W3CDTF">2020-12-09T06:24:59Z</dcterms:created>
  <dcterms:modified xsi:type="dcterms:W3CDTF">2021-06-16T05:12:12Z</dcterms:modified>
</cp:coreProperties>
</file>
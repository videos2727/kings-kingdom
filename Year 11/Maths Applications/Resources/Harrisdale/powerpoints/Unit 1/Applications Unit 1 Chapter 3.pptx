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300.png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7.png"/><Relationship Id="rId7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942452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principal?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9424528" y="87884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interest rate?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9419448" y="1757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time period?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429608" y="265684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much interest is paid/owed?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34688" y="391160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5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much is paid in total?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50374" y="0"/>
                <a:ext cx="6393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AU" sz="60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374" y="0"/>
                <a:ext cx="6393873" cy="101566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63236" y="1997343"/>
            <a:ext cx="58535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00B050"/>
                </a:solidFill>
              </a:rPr>
              <a:t>P = $450 000</a:t>
            </a:r>
          </a:p>
          <a:p>
            <a:r>
              <a:rPr lang="en-AU" sz="2800" b="1" dirty="0" smtClean="0">
                <a:solidFill>
                  <a:srgbClr val="00B0F0"/>
                </a:solidFill>
              </a:rPr>
              <a:t>r = </a:t>
            </a:r>
            <a:r>
              <a:rPr lang="en-AU" sz="2800" b="1" dirty="0">
                <a:solidFill>
                  <a:srgbClr val="00B0F0"/>
                </a:solidFill>
              </a:rPr>
              <a:t>3</a:t>
            </a:r>
            <a:r>
              <a:rPr lang="en-AU" sz="2800" b="1" dirty="0" smtClean="0">
                <a:solidFill>
                  <a:srgbClr val="00B0F0"/>
                </a:solidFill>
              </a:rPr>
              <a:t>% = 0.03</a:t>
            </a:r>
          </a:p>
          <a:p>
            <a:r>
              <a:rPr lang="en-AU" sz="2800" b="1" dirty="0" smtClean="0">
                <a:solidFill>
                  <a:srgbClr val="7030A0"/>
                </a:solidFill>
              </a:rPr>
              <a:t>T = 30 years</a:t>
            </a:r>
            <a:endParaRPr lang="en-AU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-184730" y="3322832"/>
                <a:ext cx="946080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𝟒𝟓𝟎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𝟎𝟑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n-AU" sz="60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𝟒𝟎𝟓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AU" sz="60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730" y="3322832"/>
                <a:ext cx="9460809" cy="193899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5168" y="5584369"/>
                <a:ext cx="1035535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𝟒𝟓𝟎</m:t>
                      </m:r>
                      <m:r>
                        <a:rPr lang="en-AU" sz="5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5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AU" sz="5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5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𝟒𝟎𝟓</m:t>
                      </m:r>
                      <m:r>
                        <a:rPr lang="en-AU" sz="5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5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AU" sz="5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5000" b="1" i="1" smtClean="0">
                          <a:latin typeface="Cambria Math" panose="02040503050406030204" pitchFamily="18" charset="0"/>
                        </a:rPr>
                        <m:t>𝟖𝟓𝟓</m:t>
                      </m:r>
                      <m:r>
                        <a:rPr lang="en-AU" sz="5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50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AU" sz="50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68" y="5584369"/>
                <a:ext cx="10355352" cy="8617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63236" y="856520"/>
            <a:ext cx="623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Calculate the simple interest payable on a loan of $450 000 at a rate of </a:t>
            </a:r>
            <a:r>
              <a:rPr lang="en-AU" sz="2400" b="1" dirty="0"/>
              <a:t>3</a:t>
            </a:r>
            <a:r>
              <a:rPr lang="en-AU" sz="2400" b="1" dirty="0" smtClean="0"/>
              <a:t>% </a:t>
            </a:r>
            <a:r>
              <a:rPr lang="en-AU" sz="2400" b="1" dirty="0" err="1" smtClean="0"/>
              <a:t>p.a</a:t>
            </a:r>
            <a:r>
              <a:rPr lang="en-AU" sz="2400" b="1" dirty="0" smtClean="0"/>
              <a:t> for 30 years.</a:t>
            </a:r>
          </a:p>
          <a:p>
            <a:r>
              <a:rPr lang="en-AU" sz="2400" b="1" dirty="0" smtClean="0"/>
              <a:t>Calculate how much is paid back in total.</a:t>
            </a:r>
            <a:endParaRPr lang="en-AU" sz="2400" b="1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520" y="1026248"/>
            <a:ext cx="2001167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3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942452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principal?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9424528" y="87884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interest rate?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9419448" y="1757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time period?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429608" y="265684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much interest is paid/owed?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34688" y="391160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5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much is paid in total?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50374" y="0"/>
                <a:ext cx="6393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AU" sz="60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374" y="0"/>
                <a:ext cx="6393873" cy="101566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63236" y="1982727"/>
            <a:ext cx="58535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00B050"/>
                </a:solidFill>
              </a:rPr>
              <a:t>P = $12 000</a:t>
            </a:r>
          </a:p>
          <a:p>
            <a:r>
              <a:rPr lang="en-AU" sz="2800" b="1" dirty="0" smtClean="0">
                <a:solidFill>
                  <a:srgbClr val="00B0F0"/>
                </a:solidFill>
              </a:rPr>
              <a:t>r = 6% = 0.06</a:t>
            </a:r>
          </a:p>
          <a:p>
            <a:r>
              <a:rPr lang="en-AU" sz="2800" b="1" dirty="0" smtClean="0">
                <a:solidFill>
                  <a:srgbClr val="7030A0"/>
                </a:solidFill>
              </a:rPr>
              <a:t>T = </a:t>
            </a:r>
            <a:r>
              <a:rPr lang="en-AU" sz="2800" b="1" dirty="0">
                <a:solidFill>
                  <a:srgbClr val="7030A0"/>
                </a:solidFill>
              </a:rPr>
              <a:t>7</a:t>
            </a:r>
            <a:r>
              <a:rPr lang="en-AU" sz="2800" b="1" dirty="0" smtClean="0">
                <a:solidFill>
                  <a:srgbClr val="7030A0"/>
                </a:solidFill>
              </a:rPr>
              <a:t> years</a:t>
            </a:r>
            <a:endParaRPr lang="en-AU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-184730" y="3322832"/>
                <a:ext cx="946080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𝟎𝟔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60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𝟎𝟒𝟎</m:t>
                      </m:r>
                    </m:oMath>
                  </m:oMathPara>
                </a14:m>
                <a:endParaRPr lang="en-AU" sz="60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730" y="3322832"/>
                <a:ext cx="9460809" cy="193899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48208" y="5463766"/>
                <a:ext cx="1035535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𝟎𝟒𝟎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𝟎𝟒𝟎</m:t>
                      </m:r>
                    </m:oMath>
                  </m:oMathPara>
                </a14:m>
                <a:endParaRPr lang="en-AU" sz="60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08" y="5463766"/>
                <a:ext cx="10355352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63236" y="856520"/>
            <a:ext cx="62308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Calculate the simple interest owed if you invest $12 000 at a rate of </a:t>
            </a:r>
            <a:r>
              <a:rPr lang="en-AU" sz="2400" b="1" dirty="0"/>
              <a:t>6</a:t>
            </a:r>
            <a:r>
              <a:rPr lang="en-AU" sz="2400" b="1" dirty="0" smtClean="0"/>
              <a:t>% </a:t>
            </a:r>
            <a:r>
              <a:rPr lang="en-AU" sz="2400" b="1" dirty="0" err="1" smtClean="0"/>
              <a:t>p.a</a:t>
            </a:r>
            <a:r>
              <a:rPr lang="en-AU" sz="2400" b="1" dirty="0" smtClean="0"/>
              <a:t> for 7 years.</a:t>
            </a:r>
          </a:p>
          <a:p>
            <a:r>
              <a:rPr lang="en-AU" sz="2400" b="1" dirty="0" smtClean="0"/>
              <a:t>Calculate how much is paid back in total.</a:t>
            </a:r>
          </a:p>
          <a:p>
            <a:endParaRPr lang="en-AU" sz="2400" b="1" dirty="0" smtClean="0"/>
          </a:p>
          <a:p>
            <a:endParaRPr lang="en-AU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128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942452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principal?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9424528" y="87884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interest rate?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9419448" y="1757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time period?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429608" y="265684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much interest is paid/owed?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34688" y="391160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5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much is paid in total?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50374" y="0"/>
                <a:ext cx="6393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AU" sz="60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374" y="0"/>
                <a:ext cx="6393873" cy="101566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63236" y="1949068"/>
                <a:ext cx="5853545" cy="1601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>
                    <a:solidFill>
                      <a:srgbClr val="00B050"/>
                    </a:solidFill>
                  </a:rPr>
                  <a:t>P = $45 000</a:t>
                </a:r>
              </a:p>
              <a:p>
                <a:r>
                  <a:rPr lang="en-AU" sz="2800" b="1" dirty="0" smtClean="0">
                    <a:solidFill>
                      <a:srgbClr val="00B0F0"/>
                    </a:solidFill>
                  </a:rPr>
                  <a:t>r = 12% = 0.12</a:t>
                </a:r>
              </a:p>
              <a:p>
                <a:r>
                  <a:rPr lang="en-AU" sz="2800" b="1" dirty="0" smtClean="0">
                    <a:solidFill>
                      <a:srgbClr val="7030A0"/>
                    </a:solidFill>
                  </a:rPr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AU" sz="2800" b="1" dirty="0" smtClean="0">
                    <a:solidFill>
                      <a:srgbClr val="7030A0"/>
                    </a:solidFill>
                  </a:rPr>
                  <a:t> of a year</a:t>
                </a:r>
                <a:endParaRPr lang="en-AU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36" y="1949068"/>
                <a:ext cx="5853545" cy="1601529"/>
              </a:xfrm>
              <a:prstGeom prst="rect">
                <a:avLst/>
              </a:prstGeom>
              <a:blipFill rotWithShape="0">
                <a:blip r:embed="rId3"/>
                <a:stretch>
                  <a:fillRect l="-2083" t="-3817" b="-30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-128849" y="2875792"/>
                <a:ext cx="9060874" cy="2744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f>
                        <m:fPr>
                          <m:ctrlPr>
                            <a:rPr lang="en-AU" sz="6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𝟏𝟗</m:t>
                          </m:r>
                        </m:num>
                        <m:den>
                          <m:r>
                            <a:rPr lang="en-AU" sz="6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AU" sz="60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𝟓𝟓𝟎</m:t>
                      </m:r>
                    </m:oMath>
                  </m:oMathPara>
                </a14:m>
                <a:endParaRPr lang="en-AU" sz="60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849" y="2875792"/>
                <a:ext cx="9060874" cy="27442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2488" y="5574209"/>
                <a:ext cx="1023343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𝟓𝟓𝟎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𝟓𝟑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𝟓𝟓𝟎</m:t>
                      </m:r>
                    </m:oMath>
                  </m:oMathPara>
                </a14:m>
                <a:endParaRPr lang="en-AU" sz="60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88" y="5574209"/>
                <a:ext cx="10233432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63236" y="856520"/>
            <a:ext cx="623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Calculate the simple interest payable on a loan of $45 000 at a rate of 12% </a:t>
            </a:r>
            <a:r>
              <a:rPr lang="en-AU" sz="2400" b="1" dirty="0" err="1" smtClean="0"/>
              <a:t>p.a</a:t>
            </a:r>
            <a:r>
              <a:rPr lang="en-AU" sz="2400" b="1" dirty="0" smtClean="0"/>
              <a:t> for 19 months.</a:t>
            </a:r>
          </a:p>
          <a:p>
            <a:r>
              <a:rPr lang="en-AU" sz="2400" b="1" dirty="0" smtClean="0"/>
              <a:t>Calculate how much is paid back in total.</a:t>
            </a:r>
            <a:endParaRPr lang="en-AU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2865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08280" y="797560"/>
            <a:ext cx="8199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There are lots of different ways that interest can be calculated. 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72719" y="1556644"/>
            <a:ext cx="8199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Simple interest is calculated on the original amount borrowed or invested and is not affected by how much that amount changes over time. 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2719" y="2756973"/>
            <a:ext cx="11170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The amount of </a:t>
            </a:r>
            <a:r>
              <a:rPr lang="en-AU" sz="2400" b="1" dirty="0" smtClean="0">
                <a:solidFill>
                  <a:srgbClr val="FF0000"/>
                </a:solidFill>
              </a:rPr>
              <a:t>simple interest (I) </a:t>
            </a:r>
            <a:r>
              <a:rPr lang="en-AU" sz="2400" b="1" dirty="0" smtClean="0"/>
              <a:t>paid or earned depends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The </a:t>
            </a:r>
            <a:r>
              <a:rPr lang="en-AU" sz="2400" b="1" dirty="0" smtClean="0">
                <a:solidFill>
                  <a:srgbClr val="00B050"/>
                </a:solidFill>
              </a:rPr>
              <a:t>principal (P)</a:t>
            </a:r>
            <a:r>
              <a:rPr lang="en-AU" sz="2400" b="1" dirty="0" smtClean="0"/>
              <a:t>, the original amount of money borrowed or invested.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The </a:t>
            </a:r>
            <a:r>
              <a:rPr lang="en-AU" sz="2400" b="1" dirty="0" smtClean="0">
                <a:solidFill>
                  <a:srgbClr val="00B0F0"/>
                </a:solidFill>
              </a:rPr>
              <a:t>interest rate (r) </a:t>
            </a:r>
            <a:r>
              <a:rPr lang="en-AU" sz="2400" b="1" dirty="0" smtClean="0"/>
              <a:t>that is charged or paid </a:t>
            </a:r>
            <a:r>
              <a:rPr lang="en-AU" sz="2400" b="1" dirty="0" smtClean="0">
                <a:solidFill>
                  <a:srgbClr val="00B0F0"/>
                </a:solidFill>
              </a:rPr>
              <a:t>(in decimal or fraction)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The </a:t>
            </a:r>
            <a:r>
              <a:rPr lang="en-AU" sz="2400" b="1" dirty="0" smtClean="0">
                <a:solidFill>
                  <a:srgbClr val="7030A0"/>
                </a:solidFill>
              </a:rPr>
              <a:t>time period (T) </a:t>
            </a:r>
            <a:r>
              <a:rPr lang="en-AU" sz="2400" b="1" dirty="0" smtClean="0"/>
              <a:t>for which the money is borrowed or invested (in years).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07211" y="4326633"/>
                <a:ext cx="6393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AU" sz="60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211" y="4326633"/>
                <a:ext cx="6393873" cy="101566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90484" y="5342296"/>
            <a:ext cx="11215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Simple interest </a:t>
            </a:r>
            <a:r>
              <a:rPr lang="en-AU" sz="2400" b="1" dirty="0" smtClean="0"/>
              <a:t>= </a:t>
            </a:r>
            <a:r>
              <a:rPr lang="en-AU" sz="2400" b="1" dirty="0" smtClean="0">
                <a:solidFill>
                  <a:srgbClr val="00B050"/>
                </a:solidFill>
              </a:rPr>
              <a:t>original amount (principal) </a:t>
            </a:r>
            <a:r>
              <a:rPr lang="en-AU" sz="2400" b="1" dirty="0" smtClean="0"/>
              <a:t>x </a:t>
            </a:r>
            <a:r>
              <a:rPr lang="en-AU" sz="2400" b="1" dirty="0" smtClean="0">
                <a:solidFill>
                  <a:srgbClr val="00B0F0"/>
                </a:solidFill>
              </a:rPr>
              <a:t>interest rate </a:t>
            </a:r>
            <a:r>
              <a:rPr lang="en-AU" sz="2400" b="1" dirty="0" smtClean="0"/>
              <a:t>x </a:t>
            </a:r>
            <a:r>
              <a:rPr lang="en-AU" sz="2400" b="1" dirty="0" smtClean="0">
                <a:solidFill>
                  <a:srgbClr val="7030A0"/>
                </a:solidFill>
              </a:rPr>
              <a:t>time period</a:t>
            </a:r>
            <a:endParaRPr lang="en-AU" sz="2400" b="1" dirty="0">
              <a:solidFill>
                <a:srgbClr val="7030A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8498840" y="0"/>
          <a:ext cx="3693160" cy="2103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9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159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1">
                <a:tc>
                  <a:txBody>
                    <a:bodyPr/>
                    <a:lstStyle/>
                    <a:p>
                      <a:r>
                        <a:rPr lang="en-AU" b="1" dirty="0" smtClean="0">
                          <a:solidFill>
                            <a:srgbClr val="00B050"/>
                          </a:solidFill>
                        </a:rPr>
                        <a:t>Principal</a:t>
                      </a:r>
                      <a:r>
                        <a:rPr lang="en-AU" baseline="0" dirty="0" smtClean="0"/>
                        <a:t> – the original amount of money borrowed or invested</a:t>
                      </a:r>
                      <a:endParaRPr lang="en-AU" dirty="0" smtClean="0"/>
                    </a:p>
                    <a:p>
                      <a:r>
                        <a:rPr lang="en-AU" b="1" dirty="0" smtClean="0"/>
                        <a:t>Interest</a:t>
                      </a:r>
                      <a:r>
                        <a:rPr lang="en-AU" dirty="0" smtClean="0"/>
                        <a:t> – the additional amount paid or earned</a:t>
                      </a:r>
                    </a:p>
                    <a:p>
                      <a:r>
                        <a:rPr lang="en-AU" b="1" dirty="0" smtClean="0">
                          <a:solidFill>
                            <a:srgbClr val="FF0000"/>
                          </a:solidFill>
                        </a:rPr>
                        <a:t>Simple interest </a:t>
                      </a:r>
                      <a:r>
                        <a:rPr lang="en-AU" dirty="0" smtClean="0"/>
                        <a:t>– interest calculated on the original amount only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01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Situation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40245" y="628299"/>
                <a:ext cx="11909640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$500 is invested in an account for which the interest is paid at 10% per annum </a:t>
                </a:r>
                <a:r>
                  <a:rPr lang="en-AU" sz="2400" b="1" dirty="0" smtClean="0"/>
                  <a:t>simple</a:t>
                </a:r>
                <a:r>
                  <a:rPr lang="en-AU" sz="2400" dirty="0" smtClean="0"/>
                  <a:t> interest.</a:t>
                </a:r>
              </a:p>
              <a:p>
                <a:r>
                  <a:rPr lang="en-AU" sz="2400" dirty="0" smtClean="0"/>
                  <a:t>This means that each year, 10% of $500 is added to the account as interest.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After 1 year the account will be worth:	$500 + 10% of $500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500 + 50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$550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After 2 years the account will be worth:	$500 + 2 x 10% of $500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500 + 2 x 50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$600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After 5 years the account will be worth:	$500 + 5 x 10% of $500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500 + 5 x 50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$750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After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400" dirty="0" smtClean="0"/>
                  <a:t> years the account will be worth: 	$500 +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400" dirty="0" smtClean="0"/>
                  <a:t> x $50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45" y="628299"/>
                <a:ext cx="11909640" cy="6001643"/>
              </a:xfrm>
              <a:prstGeom prst="rect">
                <a:avLst/>
              </a:prstGeom>
              <a:blipFill rotWithShape="0">
                <a:blip r:embed="rId2"/>
                <a:stretch>
                  <a:fillRect l="-768" t="-812" b="-13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1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90734" y="600250"/>
            <a:ext cx="11595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interest paid on $2500 invested at 8% per annum simple interest for 3 years. </a:t>
            </a:r>
          </a:p>
          <a:p>
            <a:r>
              <a:rPr lang="en-AU" sz="2400" dirty="0" smtClean="0"/>
              <a:t>How much is the investment worth at the end of the three years?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02927" y="5166341"/>
            <a:ext cx="5772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3 years, the interest paid is $600.</a:t>
            </a:r>
          </a:p>
          <a:p>
            <a:r>
              <a:rPr lang="en-AU" sz="2400" dirty="0" smtClean="0"/>
              <a:t>The total investment is worth $2500 + $600.</a:t>
            </a:r>
          </a:p>
          <a:p>
            <a:r>
              <a:rPr lang="en-AU" sz="2400" dirty="0" smtClean="0"/>
              <a:t>The investment is now worth $3100.</a:t>
            </a:r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258052" y="2551837"/>
            <a:ext cx="88859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After </a:t>
            </a:r>
            <a:r>
              <a:rPr lang="en-AU" sz="2400" dirty="0" smtClean="0"/>
              <a:t>3 </a:t>
            </a:r>
            <a:r>
              <a:rPr lang="en-AU" sz="2400" dirty="0"/>
              <a:t>years the account will be worth:	</a:t>
            </a:r>
            <a:r>
              <a:rPr lang="en-AU" sz="2400" dirty="0" smtClean="0"/>
              <a:t>$2500 </a:t>
            </a:r>
            <a:r>
              <a:rPr lang="en-AU" sz="2400" dirty="0"/>
              <a:t>+ </a:t>
            </a:r>
            <a:r>
              <a:rPr lang="en-AU" sz="2400" dirty="0" smtClean="0"/>
              <a:t>3 </a:t>
            </a:r>
            <a:r>
              <a:rPr lang="en-AU" sz="2400" dirty="0"/>
              <a:t>x 8</a:t>
            </a:r>
            <a:r>
              <a:rPr lang="en-AU" sz="2400" dirty="0" smtClean="0"/>
              <a:t>% </a:t>
            </a:r>
            <a:r>
              <a:rPr lang="en-AU" sz="2400" dirty="0"/>
              <a:t>of </a:t>
            </a:r>
            <a:r>
              <a:rPr lang="en-AU" sz="2400" dirty="0" smtClean="0"/>
              <a:t>$2500</a:t>
            </a:r>
            <a:endParaRPr lang="en-AU" sz="2400" dirty="0"/>
          </a:p>
          <a:p>
            <a:r>
              <a:rPr lang="en-AU" sz="2400" dirty="0"/>
              <a:t>						= </a:t>
            </a:r>
            <a:r>
              <a:rPr lang="en-AU" sz="2400" dirty="0" smtClean="0"/>
              <a:t>2500 </a:t>
            </a:r>
            <a:r>
              <a:rPr lang="en-AU" sz="2400" dirty="0"/>
              <a:t>+ </a:t>
            </a:r>
            <a:r>
              <a:rPr lang="en-AU" sz="2400" dirty="0" smtClean="0"/>
              <a:t>3 </a:t>
            </a:r>
            <a:r>
              <a:rPr lang="en-AU" sz="2400" dirty="0"/>
              <a:t>x </a:t>
            </a:r>
            <a:r>
              <a:rPr lang="en-AU" sz="2400" dirty="0" smtClean="0"/>
              <a:t>0.08 x 2500</a:t>
            </a:r>
            <a:endParaRPr lang="en-AU" sz="2400" dirty="0"/>
          </a:p>
          <a:p>
            <a:r>
              <a:rPr lang="en-AU" sz="2400" dirty="0"/>
              <a:t>						= </a:t>
            </a:r>
            <a:r>
              <a:rPr lang="en-AU" sz="2400" dirty="0" smtClean="0"/>
              <a:t>2500 + 600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					= 3100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6018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2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90734" y="600250"/>
            <a:ext cx="11595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interest paid on $8400 invested at 2.4% p.a. simple interest for 5 years.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734" y="1200500"/>
                <a:ext cx="884107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Simple interest formula: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𝑃𝑟𝑡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Where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sz="2400" dirty="0" smtClean="0"/>
                  <a:t> is the total amount of interest,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2400" dirty="0" smtClean="0"/>
                  <a:t> is the principal (original) amount,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AU" sz="2400" dirty="0" smtClean="0"/>
                  <a:t> is the interest rate (written as a decimal) and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400" dirty="0" smtClean="0"/>
                  <a:t> is the time period (in years)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4" y="1200500"/>
                <a:ext cx="884107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034" t="-3113" b="-81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1222" y="2907716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i="1" dirty="0" err="1" smtClean="0">
                          <a:latin typeface="Cambria Math" panose="02040503050406030204" pitchFamily="18" charset="0"/>
                        </a:rPr>
                        <m:t>𝑃𝑟𝑡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2" y="2907716"/>
                <a:ext cx="5772501" cy="461665"/>
              </a:xfrm>
              <a:prstGeom prst="rect">
                <a:avLst/>
              </a:prstGeom>
              <a:blipFill>
                <a:blip r:embed="rId3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1221" y="3452803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=(8400)(0.024)(5)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1" y="3452803"/>
                <a:ext cx="5772501" cy="461665"/>
              </a:xfrm>
              <a:prstGeom prst="rect">
                <a:avLst/>
              </a:prstGeom>
              <a:blipFill>
                <a:blip r:embed="rId4"/>
                <a:stretch>
                  <a:fillRect l="-317"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1220" y="4097016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=1008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0" y="4097016"/>
                <a:ext cx="5772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41219" y="4754075"/>
            <a:ext cx="5772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5 years, the interest paid is $1008.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391" y="0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6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3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90734" y="600250"/>
            <a:ext cx="11595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value after 2 years of an investment of $75 000 invested at 4.6% p.a. simple interest.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Simple interest formula: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𝑃𝑟𝑡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Where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sz="2400" dirty="0" smtClean="0"/>
                  <a:t> is the total amount of interest,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2400" dirty="0" smtClean="0"/>
                  <a:t> is the principal (original) amount,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AU" sz="2400" dirty="0" smtClean="0"/>
                  <a:t> is the interest rate (written as a decimal) and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400" dirty="0" smtClean="0"/>
                  <a:t> is the time period (in years)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034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1222" y="3222894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i="1" dirty="0" err="1" smtClean="0">
                          <a:latin typeface="Cambria Math" panose="02040503050406030204" pitchFamily="18" charset="0"/>
                        </a:rPr>
                        <m:t>𝑃𝑟𝑡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2" y="3222894"/>
                <a:ext cx="5772501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1221" y="3767981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=(75 000)(0.046)(2)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1" y="3767981"/>
                <a:ext cx="5772501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7"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1220" y="4411165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=6900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0" y="4411165"/>
                <a:ext cx="5772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41219" y="5068224"/>
            <a:ext cx="5772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2 years, the interest paid is $6900.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219" y="5430002"/>
            <a:ext cx="6462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total investment is worth $75 000 + $6900.</a:t>
            </a:r>
          </a:p>
          <a:p>
            <a:r>
              <a:rPr lang="en-AU" sz="2400" dirty="0" smtClean="0"/>
              <a:t>The investment is now worth $81 900.</a:t>
            </a:r>
            <a:endParaRPr lang="en-AU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391" y="0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9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4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90734" y="600250"/>
            <a:ext cx="11595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much interest is due after </a:t>
            </a:r>
            <a:r>
              <a:rPr lang="en-AU" sz="2400" b="1" dirty="0" smtClean="0"/>
              <a:t>56 days </a:t>
            </a:r>
            <a:r>
              <a:rPr lang="en-AU" sz="2400" dirty="0" smtClean="0"/>
              <a:t>for an investment of $24 275 invested at 5% per annum? (Give your answer to the nearest cent).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Simple interest formula: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𝑃𝑟𝑡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Where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sz="2400" dirty="0" smtClean="0"/>
                  <a:t> is the total amount of interest,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2400" dirty="0" smtClean="0"/>
                  <a:t> is the principal (original) amount,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AU" sz="2400" dirty="0" smtClean="0"/>
                  <a:t> is the interest rate (written as a decimal) and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400" dirty="0" smtClean="0"/>
                  <a:t> is the time period </a:t>
                </a:r>
                <a:r>
                  <a:rPr lang="en-AU" sz="2400" b="1" dirty="0" smtClean="0"/>
                  <a:t>(in years)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034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90734" y="3167711"/>
            <a:ext cx="11303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As the time period is given in days, we need to convert it to a fraction of a year before applying the formula.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90734" y="4165512"/>
            <a:ext cx="40615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 are 365 days in a year.</a:t>
            </a:r>
          </a:p>
          <a:p>
            <a:r>
              <a:rPr lang="en-AU" sz="2400" dirty="0" smtClean="0"/>
              <a:t>There are 52 weeks in a year.</a:t>
            </a:r>
          </a:p>
          <a:p>
            <a:r>
              <a:rPr lang="en-AU" sz="2400" dirty="0" smtClean="0"/>
              <a:t>There are 12 months in a year.</a:t>
            </a:r>
          </a:p>
          <a:p>
            <a:r>
              <a:rPr lang="en-AU" sz="2400" dirty="0" smtClean="0"/>
              <a:t>There are 4 quarters in a year.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11519" y="4165512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i="1" dirty="0" err="1" smtClean="0">
                          <a:latin typeface="Cambria Math" panose="02040503050406030204" pitchFamily="18" charset="0"/>
                        </a:rPr>
                        <m:t>𝑃𝑟𝑡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19" y="4165512"/>
                <a:ext cx="5772501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11515" y="4542505"/>
                <a:ext cx="5772501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=(24 275)(0.05)(</m:t>
                      </m:r>
                      <m:f>
                        <m:fPr>
                          <m:ctrlPr>
                            <a:rPr lang="en-AU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56</m:t>
                          </m:r>
                        </m:num>
                        <m:den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365</m:t>
                          </m:r>
                        </m:den>
                      </m:f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15" y="4542505"/>
                <a:ext cx="5772501" cy="815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11517" y="5353783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=186.2192..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17" y="5353783"/>
                <a:ext cx="5772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211516" y="6010842"/>
            <a:ext cx="5772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56 days, the interest due is $186.22.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391" y="0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5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90734" y="600250"/>
            <a:ext cx="11595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much interest is due after </a:t>
            </a:r>
            <a:r>
              <a:rPr lang="en-AU" sz="2400" b="1" dirty="0" smtClean="0"/>
              <a:t>10 months </a:t>
            </a:r>
            <a:r>
              <a:rPr lang="en-AU" sz="2400" dirty="0" smtClean="0"/>
              <a:t>for an investment of $125 000 invested at 4.7% per annum? (Give your answer to the nearest cent.)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Simple interest formula: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𝑃𝑟𝑡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Where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sz="2400" dirty="0" smtClean="0"/>
                  <a:t> is the total amount of interest,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2400" dirty="0" smtClean="0"/>
                  <a:t> is the principal (original) amount,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AU" sz="2400" dirty="0" smtClean="0"/>
                  <a:t> is the interest rate (written as a decimal) and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400" dirty="0" smtClean="0"/>
                  <a:t> is the time period </a:t>
                </a:r>
                <a:r>
                  <a:rPr lang="en-AU" sz="2400" b="1" dirty="0" smtClean="0"/>
                  <a:t>(in years)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034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90734" y="3167711"/>
            <a:ext cx="11303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As the time period is given in months, we need to convert it to a fraction of a year before applying the formula.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90734" y="4165512"/>
            <a:ext cx="40615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 are 365 days in a year.</a:t>
            </a:r>
          </a:p>
          <a:p>
            <a:r>
              <a:rPr lang="en-AU" sz="2400" dirty="0" smtClean="0"/>
              <a:t>There are 52 weeks in a year.</a:t>
            </a:r>
          </a:p>
          <a:p>
            <a:r>
              <a:rPr lang="en-AU" sz="2400" dirty="0" smtClean="0"/>
              <a:t>There are 12 months in a year.</a:t>
            </a:r>
          </a:p>
          <a:p>
            <a:r>
              <a:rPr lang="en-AU" sz="2400" dirty="0" smtClean="0"/>
              <a:t>There are 4 quarters in a year.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11519" y="4165512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i="1" dirty="0" err="1" smtClean="0">
                          <a:latin typeface="Cambria Math" panose="02040503050406030204" pitchFamily="18" charset="0"/>
                        </a:rPr>
                        <m:t>𝑃𝑟𝑡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19" y="4165512"/>
                <a:ext cx="5772501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11515" y="4542505"/>
                <a:ext cx="57725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=(125 000)(0.047)(</m:t>
                      </m:r>
                      <m:f>
                        <m:fPr>
                          <m:ctrlPr>
                            <a:rPr lang="en-AU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15" y="4542505"/>
                <a:ext cx="5772501" cy="7838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11517" y="5353783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=4895.8333….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17" y="5353783"/>
                <a:ext cx="5772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211516" y="6010842"/>
            <a:ext cx="6075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10 months, the interest due is $4895.33.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8583" y="0"/>
            <a:ext cx="274881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do Exercise 3A</a:t>
            </a:r>
            <a:endParaRPr lang="en-AU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393" y="-14699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9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6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34635" y="628299"/>
            <a:ext cx="11595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much needs to be repaid after three years to repay a loan of $8000 at 5.4% per annum simple interest?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Simple interest formula: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𝑃𝑟𝑡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Where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sz="2400" dirty="0" smtClean="0"/>
                  <a:t> is the total amount of interest,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2400" dirty="0" smtClean="0"/>
                  <a:t> is the principal (original) amount,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AU" sz="2400" dirty="0" smtClean="0"/>
                  <a:t> is the interest rate (written as a decimal) and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400" dirty="0" smtClean="0"/>
                  <a:t> is the time period (in years)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4" y="1514649"/>
                <a:ext cx="884107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034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1222" y="3222894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i="1" dirty="0" err="1" smtClean="0">
                          <a:latin typeface="Cambria Math" panose="02040503050406030204" pitchFamily="18" charset="0"/>
                        </a:rPr>
                        <m:t>𝑃𝑟𝑡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2" y="3222894"/>
                <a:ext cx="5772501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1221" y="3767981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=(8000)(0.054)(3)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1" y="3767981"/>
                <a:ext cx="5772501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7"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1220" y="4411165"/>
                <a:ext cx="5772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=1296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0" y="4411165"/>
                <a:ext cx="5772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41219" y="5068224"/>
            <a:ext cx="5772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2 years, the interest owed is $1296.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219" y="5430002"/>
            <a:ext cx="6462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total amount owed is $8000 + $1296.</a:t>
            </a:r>
          </a:p>
          <a:p>
            <a:r>
              <a:rPr lang="en-AU" sz="2400" dirty="0" smtClean="0"/>
              <a:t>$9296 needs to be repaid after three years.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218583" y="0"/>
            <a:ext cx="274881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do Exercise 3C</a:t>
            </a:r>
            <a:endParaRPr lang="en-AU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393" y="14602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1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14283" y="695568"/>
            <a:ext cx="7267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 </a:t>
            </a:r>
            <a:r>
              <a:rPr lang="en-AU" sz="2400" b="1" dirty="0"/>
              <a:t>T</a:t>
            </a:r>
            <a:r>
              <a:rPr lang="en-AU" sz="2400" b="1" dirty="0" smtClean="0"/>
              <a:t>he simple interest paid on a loan of $5 000 over 4 years was $3 200. What interest rate was offered?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54676" y="1517296"/>
            <a:ext cx="342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 smtClean="0">
                <a:solidFill>
                  <a:srgbClr val="FF0000"/>
                </a:solidFill>
              </a:rPr>
              <a:t>p. a. means per annum, or yearly</a:t>
            </a:r>
            <a:endParaRPr lang="en-AU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53779" y="2145629"/>
                <a:ext cx="6393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AU" sz="60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779" y="2145629"/>
                <a:ext cx="6393873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14283" y="1846798"/>
            <a:ext cx="58535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I = $3 200</a:t>
            </a:r>
          </a:p>
          <a:p>
            <a:r>
              <a:rPr lang="en-AU" sz="2800" b="1" dirty="0" smtClean="0">
                <a:solidFill>
                  <a:srgbClr val="00B050"/>
                </a:solidFill>
              </a:rPr>
              <a:t>P = $5 000</a:t>
            </a:r>
          </a:p>
          <a:p>
            <a:r>
              <a:rPr lang="en-AU" sz="2800" b="1" dirty="0" smtClean="0">
                <a:solidFill>
                  <a:srgbClr val="00B0F0"/>
                </a:solidFill>
              </a:rPr>
              <a:t>r = ??</a:t>
            </a:r>
          </a:p>
          <a:p>
            <a:r>
              <a:rPr lang="en-AU" sz="2800" b="1" dirty="0" smtClean="0">
                <a:solidFill>
                  <a:srgbClr val="7030A0"/>
                </a:solidFill>
              </a:rPr>
              <a:t>T = 4 years</a:t>
            </a:r>
            <a:endParaRPr lang="en-AU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77876" y="3079545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3 200</a:t>
                </a:r>
                <a14:m>
                  <m:oMath xmlns:m="http://schemas.openxmlformats.org/officeDocument/2006/math">
                    <m:r>
                      <a:rPr lang="en-AU" sz="5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5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876" y="3079545"/>
                <a:ext cx="7484432" cy="923330"/>
              </a:xfrm>
              <a:prstGeom prst="rect">
                <a:avLst/>
              </a:prstGeom>
              <a:blipFill>
                <a:blip r:embed="rId3"/>
                <a:stretch>
                  <a:fillRect l="-4316" t="-17763" b="-394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677876" y="3864284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3 200 </a:t>
                </a:r>
                <a14:m>
                  <m:oMath xmlns:m="http://schemas.openxmlformats.org/officeDocument/2006/math"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876" y="3864284"/>
                <a:ext cx="7484432" cy="923330"/>
              </a:xfrm>
              <a:prstGeom prst="rect">
                <a:avLst/>
              </a:prstGeom>
              <a:blipFill>
                <a:blip r:embed="rId4"/>
                <a:stretch>
                  <a:fillRect l="-4316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44343" y="4514849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3 200 ÷ 20 000</a:t>
                </a:r>
                <a14:m>
                  <m:oMath xmlns:m="http://schemas.openxmlformats.org/officeDocument/2006/math">
                    <m:r>
                      <a:rPr lang="en-AU" sz="5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43" y="4514849"/>
                <a:ext cx="7484432" cy="923330"/>
              </a:xfrm>
              <a:prstGeom prst="rect">
                <a:avLst/>
              </a:prstGeom>
              <a:blipFill>
                <a:blip r:embed="rId5"/>
                <a:stretch>
                  <a:fillRect l="-4401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01252" y="5270173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>
                    <a:solidFill>
                      <a:schemeClr val="accent1"/>
                    </a:solidFill>
                  </a:rPr>
                  <a:t>0</a:t>
                </a:r>
                <a:r>
                  <a:rPr lang="en-AU" sz="5400" b="1" dirty="0" smtClean="0">
                    <a:solidFill>
                      <a:schemeClr val="accent1"/>
                    </a:solidFill>
                  </a:rPr>
                  <a:t>.16 </a:t>
                </a:r>
                <a14:m>
                  <m:oMath xmlns:m="http://schemas.openxmlformats.org/officeDocument/2006/math">
                    <m:r>
                      <a:rPr lang="en-AU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252" y="5270173"/>
                <a:ext cx="7484432" cy="923330"/>
              </a:xfrm>
              <a:prstGeom prst="rect">
                <a:avLst/>
              </a:prstGeom>
              <a:blipFill>
                <a:blip r:embed="rId6"/>
                <a:stretch>
                  <a:fillRect l="-4316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62674" y="6101448"/>
            <a:ext cx="8814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ea typeface="Cambria Math" panose="02040503050406030204" pitchFamily="18" charset="0"/>
              </a:rPr>
              <a:t>Therefore, the interest rate offered on the loan was 16% </a:t>
            </a:r>
            <a:r>
              <a:rPr lang="en-AU" sz="2400" b="1" dirty="0" err="1" smtClean="0">
                <a:ea typeface="Cambria Math" panose="02040503050406030204" pitchFamily="18" charset="0"/>
              </a:rPr>
              <a:t>p.a</a:t>
            </a:r>
            <a:r>
              <a:rPr lang="en-AU" sz="2400" b="1" dirty="0" smtClean="0">
                <a:ea typeface="Cambria Math" panose="02040503050406030204" pitchFamily="18" charset="0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4123215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7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2362" y="366641"/>
            <a:ext cx="2359783" cy="10445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399" y="1615257"/>
            <a:ext cx="2324746" cy="19946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7572" y="3695736"/>
            <a:ext cx="2124400" cy="8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00172" y="724455"/>
            <a:ext cx="7267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How long would an investment of $12 000 need to be left to earn $5 000 at an interest rate of 2.3%p.a?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54676" y="1517296"/>
            <a:ext cx="342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 smtClean="0">
                <a:solidFill>
                  <a:srgbClr val="FF0000"/>
                </a:solidFill>
              </a:rPr>
              <a:t>p. a. means per annum, or yearly</a:t>
            </a:r>
            <a:endParaRPr lang="en-AU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10176" y="2083017"/>
                <a:ext cx="6393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AU" sz="60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76" y="2083017"/>
                <a:ext cx="6393873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14283" y="1846798"/>
            <a:ext cx="58535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I= $5 000</a:t>
            </a:r>
          </a:p>
          <a:p>
            <a:r>
              <a:rPr lang="en-AU" sz="2800" b="1" dirty="0" smtClean="0">
                <a:solidFill>
                  <a:srgbClr val="00B050"/>
                </a:solidFill>
              </a:rPr>
              <a:t>P = $12 000</a:t>
            </a:r>
          </a:p>
          <a:p>
            <a:r>
              <a:rPr lang="en-AU" sz="2800" b="1" dirty="0" smtClean="0">
                <a:solidFill>
                  <a:srgbClr val="00B0F0"/>
                </a:solidFill>
              </a:rPr>
              <a:t>r = 0.023</a:t>
            </a:r>
          </a:p>
          <a:p>
            <a:r>
              <a:rPr lang="en-AU" sz="2800" b="1" dirty="0" smtClean="0">
                <a:solidFill>
                  <a:srgbClr val="7030A0"/>
                </a:solidFill>
              </a:rPr>
              <a:t>T = ??</a:t>
            </a:r>
            <a:endParaRPr lang="en-AU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35016" y="3030696"/>
                <a:ext cx="955086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5 000</a:t>
                </a:r>
                <a14:m>
                  <m:oMath xmlns:m="http://schemas.openxmlformats.org/officeDocument/2006/math">
                    <m:r>
                      <a:rPr lang="en-AU" sz="5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𝟏𝟐𝟎𝟎𝟎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𝟎𝟐𝟑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5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016" y="3030696"/>
                <a:ext cx="9550864" cy="923330"/>
              </a:xfrm>
              <a:prstGeom prst="rect">
                <a:avLst/>
              </a:prstGeom>
              <a:blipFill>
                <a:blip r:embed="rId3"/>
                <a:stretch>
                  <a:fillRect l="-3382" t="-17763" b="-394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5016" y="3825519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5 000 </a:t>
                </a:r>
                <a14:m>
                  <m:oMath xmlns:m="http://schemas.openxmlformats.org/officeDocument/2006/math"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𝟐𝟕𝟔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5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016" y="3825519"/>
                <a:ext cx="7484432" cy="923330"/>
              </a:xfrm>
              <a:prstGeom prst="rect">
                <a:avLst/>
              </a:prstGeom>
              <a:blipFill>
                <a:blip r:embed="rId4"/>
                <a:stretch>
                  <a:fillRect l="-4316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9843" y="4588043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5 000 ÷ 276</a:t>
                </a:r>
                <a14:m>
                  <m:oMath xmlns:m="http://schemas.openxmlformats.org/officeDocument/2006/math">
                    <m:r>
                      <a:rPr lang="en-AU" sz="5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43" y="4588043"/>
                <a:ext cx="7484432" cy="923330"/>
              </a:xfrm>
              <a:prstGeom prst="rect">
                <a:avLst/>
              </a:prstGeom>
              <a:blipFill>
                <a:blip r:embed="rId5"/>
                <a:stretch>
                  <a:fillRect l="-4397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065712" y="5316615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7030A0"/>
                    </a:solidFill>
                  </a:rPr>
                  <a:t>18.1</a:t>
                </a:r>
                <a:r>
                  <a:rPr lang="en-AU" sz="5400" b="1" dirty="0" smtClean="0">
                    <a:solidFill>
                      <a:srgbClr val="7030A0"/>
                    </a:solidFill>
                  </a:rPr>
                  <a:t>2</a:t>
                </a:r>
                <a14:m>
                  <m:oMath xmlns:m="http://schemas.openxmlformats.org/officeDocument/2006/math">
                    <m:r>
                      <a:rPr lang="en-AU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12" y="5316615"/>
                <a:ext cx="7484432" cy="923330"/>
              </a:xfrm>
              <a:prstGeom prst="rect">
                <a:avLst/>
              </a:prstGeom>
              <a:blipFill>
                <a:blip r:embed="rId6"/>
                <a:stretch>
                  <a:fillRect l="-4397" t="-17763" b="-394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75966" y="6113092"/>
            <a:ext cx="7484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ea typeface="Cambria Math" panose="02040503050406030204" pitchFamily="18" charset="0"/>
              </a:rPr>
              <a:t>Therefore, the loan would need to be left for </a:t>
            </a:r>
            <a:r>
              <a:rPr lang="en-AU" sz="2400" b="1" dirty="0" smtClean="0">
                <a:ea typeface="Cambria Math" panose="02040503050406030204" pitchFamily="18" charset="0"/>
              </a:rPr>
              <a:t>18.12 </a:t>
            </a:r>
            <a:r>
              <a:rPr lang="en-AU" sz="2400" b="1" dirty="0" smtClean="0">
                <a:ea typeface="Cambria Math" panose="02040503050406030204" pitchFamily="18" charset="0"/>
              </a:rPr>
              <a:t>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4123215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</a:t>
            </a:r>
            <a:r>
              <a:rPr lang="en-AU" sz="2400" dirty="0"/>
              <a:t>8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837" y="12402"/>
            <a:ext cx="4021163" cy="197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3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14283" y="695568"/>
            <a:ext cx="7267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initial amount should be invested at 3%p.a to earn $4 000 interest over 6 years.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54676" y="1517296"/>
            <a:ext cx="342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 smtClean="0">
                <a:solidFill>
                  <a:srgbClr val="FF0000"/>
                </a:solidFill>
              </a:rPr>
              <a:t>p. a. means per annum, or yearly</a:t>
            </a:r>
            <a:endParaRPr lang="en-AU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694360" y="1886406"/>
                <a:ext cx="6393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AU" sz="60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60" y="1886406"/>
                <a:ext cx="6393873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14283" y="1846798"/>
            <a:ext cx="58535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I= $4 000</a:t>
            </a:r>
          </a:p>
          <a:p>
            <a:r>
              <a:rPr lang="en-AU" sz="2800" b="1" dirty="0" smtClean="0">
                <a:solidFill>
                  <a:srgbClr val="00B050"/>
                </a:solidFill>
              </a:rPr>
              <a:t>P = ??</a:t>
            </a:r>
          </a:p>
          <a:p>
            <a:r>
              <a:rPr lang="en-AU" sz="2800" b="1" dirty="0" smtClean="0">
                <a:solidFill>
                  <a:srgbClr val="00B0F0"/>
                </a:solidFill>
              </a:rPr>
              <a:t>r = 0.03</a:t>
            </a:r>
          </a:p>
          <a:p>
            <a:r>
              <a:rPr lang="en-AU" sz="2800" b="1" dirty="0" smtClean="0">
                <a:solidFill>
                  <a:srgbClr val="7030A0"/>
                </a:solidFill>
              </a:rPr>
              <a:t>T = 6</a:t>
            </a:r>
            <a:endParaRPr lang="en-AU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325612" y="2802062"/>
                <a:ext cx="812892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4 000 </a:t>
                </a:r>
                <a14:m>
                  <m:oMath xmlns:m="http://schemas.openxmlformats.org/officeDocument/2006/math"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𝟎𝟑</m:t>
                    </m:r>
                    <m:r>
                      <a:rPr lang="en-AU" sz="5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5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612" y="2802062"/>
                <a:ext cx="8128926" cy="923330"/>
              </a:xfrm>
              <a:prstGeom prst="rect">
                <a:avLst/>
              </a:prstGeom>
              <a:blipFill>
                <a:blip r:embed="rId3"/>
                <a:stretch>
                  <a:fillRect l="-3973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25612" y="3620376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4 000</a:t>
                </a:r>
                <a14:m>
                  <m:oMath xmlns:m="http://schemas.openxmlformats.org/officeDocument/2006/math">
                    <m:r>
                      <a:rPr lang="en-AU" sz="5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AU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𝟏𝟖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612" y="3620376"/>
                <a:ext cx="7484432" cy="923330"/>
              </a:xfrm>
              <a:prstGeom prst="rect">
                <a:avLst/>
              </a:prstGeom>
              <a:blipFill>
                <a:blip r:embed="rId4"/>
                <a:stretch>
                  <a:fillRect l="-4316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65768" y="4387637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>
                    <a:solidFill>
                      <a:srgbClr val="FF0000"/>
                    </a:solidFill>
                  </a:rPr>
                  <a:t>4 000 ÷ </a:t>
                </a:r>
                <a:r>
                  <a:rPr lang="en-AU" sz="5400" b="1" dirty="0" smtClean="0"/>
                  <a:t>0.18 </a:t>
                </a:r>
                <a14:m>
                  <m:oMath xmlns:m="http://schemas.openxmlformats.org/officeDocument/2006/math">
                    <m:r>
                      <a:rPr lang="en-AU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5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68" y="4387637"/>
                <a:ext cx="7484432" cy="923330"/>
              </a:xfrm>
              <a:prstGeom prst="rect">
                <a:avLst/>
              </a:prstGeom>
              <a:blipFill>
                <a:blip r:embed="rId5"/>
                <a:stretch>
                  <a:fillRect l="-4316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90888" y="5189762"/>
                <a:ext cx="74844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5400" b="1" dirty="0" smtClean="0"/>
                  <a:t>$22 222.22</a:t>
                </a:r>
                <a14:m>
                  <m:oMath xmlns:m="http://schemas.openxmlformats.org/officeDocument/2006/math">
                    <m:r>
                      <a:rPr lang="en-AU" sz="5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AU" sz="5400" b="1" dirty="0" smtClean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8" y="5189762"/>
                <a:ext cx="7484432" cy="923330"/>
              </a:xfrm>
              <a:prstGeom prst="rect">
                <a:avLst/>
              </a:prstGeom>
              <a:blipFill>
                <a:blip r:embed="rId6"/>
                <a:stretch>
                  <a:fillRect l="-4397" t="-17763" b="-394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75966" y="6113092"/>
            <a:ext cx="7484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ea typeface="Cambria Math" panose="02040503050406030204" pitchFamily="18" charset="0"/>
              </a:rPr>
              <a:t>Therefore, $22 222.22 would need to be invested initially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4123215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3 Example </a:t>
            </a:r>
            <a:r>
              <a:rPr lang="en-AU" sz="2400" dirty="0"/>
              <a:t>9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435" y="1"/>
            <a:ext cx="3716363" cy="171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7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1785</Words>
  <Application>Microsoft Office PowerPoint</Application>
  <PresentationFormat>Widescreen</PresentationFormat>
  <Paragraphs>195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27</cp:revision>
  <dcterms:created xsi:type="dcterms:W3CDTF">2020-12-09T06:24:59Z</dcterms:created>
  <dcterms:modified xsi:type="dcterms:W3CDTF">2021-02-15T00:18:18Z</dcterms:modified>
</cp:coreProperties>
</file>
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282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098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628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779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151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402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555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96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413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0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02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50A32-BDFE-4108-98BC-76E9BDD4C498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9CDEB-6EA8-483C-BF37-8E3DB6BB9B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46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matrix that has all elements equal to zero is called a </a:t>
            </a:r>
            <a:r>
              <a:rPr lang="en-AU" sz="2400" b="1" u="sng" dirty="0" smtClean="0"/>
              <a:t>zero matrix.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18783" y="1568966"/>
                <a:ext cx="11600263" cy="968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A 2 x 2 zero matrix would look as follows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3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2400" dirty="0" smtClean="0"/>
                  <a:t> and is usually indicated with the letter O</a:t>
                </a:r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3" y="1568966"/>
                <a:ext cx="11600263" cy="968791"/>
              </a:xfrm>
              <a:prstGeom prst="rect">
                <a:avLst/>
              </a:prstGeom>
              <a:blipFill>
                <a:blip r:embed="rId2"/>
                <a:stretch>
                  <a:fillRect l="-8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18780" y="2690911"/>
            <a:ext cx="11600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Zero matrices in matrices have some common attributes to the number zero in the number system. 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218779" y="3730964"/>
            <a:ext cx="11600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 the number system the following equations are true, with x representing a number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309246" y="4454631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+0=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246" y="4454631"/>
                <a:ext cx="187127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727766" y="4454631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766" y="4454631"/>
                <a:ext cx="187127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339392" y="4454631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0=0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392" y="4454631"/>
                <a:ext cx="187127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951018" y="4450852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018" y="4450852"/>
                <a:ext cx="187127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97345" y="5027487"/>
            <a:ext cx="11600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With A representing a matrix, the following is also true using the zero matrix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387813" y="5701987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813" y="5701987"/>
                <a:ext cx="187127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806333" y="5701987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333" y="5701987"/>
                <a:ext cx="187127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417959" y="5701987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𝐴𝑂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959" y="5701987"/>
                <a:ext cx="187127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9029585" y="5698208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𝑂𝐴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585" y="5698208"/>
                <a:ext cx="187127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37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3" grpId="0"/>
      <p:bldP spid="25" grpId="0"/>
      <p:bldP spid="26" grpId="0"/>
      <p:bldP spid="30" grpId="0"/>
      <p:bldP spid="31" grpId="0"/>
      <p:bldP spid="32" grpId="0"/>
      <p:bldP spid="37" grpId="0"/>
      <p:bldP spid="38" grpId="0"/>
      <p:bldP spid="39" grpId="0"/>
      <p:bldP spid="4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Although some rules for numbers also apply to matrices. We need to be careful about applying all number system rules to those of matrices.</a:t>
            </a:r>
          </a:p>
          <a:p>
            <a:r>
              <a:rPr lang="en-AU" sz="2400" dirty="0" smtClean="0"/>
              <a:t>For example, we already know that two matrices, A and B, usually have differing results when pre or post multiplied. i.e. AB=BA if at all possible.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66721" y="2293327"/>
                <a:ext cx="114159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Some other notable exceptions:</a:t>
                </a:r>
              </a:p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With x and y representing numbers,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then either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and/or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21" y="2293327"/>
                <a:ext cx="11415975" cy="830997"/>
              </a:xfrm>
              <a:prstGeom prst="rect">
                <a:avLst/>
              </a:prstGeom>
              <a:blipFill>
                <a:blip r:embed="rId2"/>
                <a:stretch>
                  <a:fillRect l="-801" t="-5839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8782" y="3212460"/>
                <a:ext cx="119126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However, with matrices,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then it is not necessarily the case that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and/or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*See textbook for example</a:t>
                </a: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2" y="3212460"/>
                <a:ext cx="11912637" cy="830997"/>
              </a:xfrm>
              <a:prstGeom prst="rect">
                <a:avLst/>
              </a:prstGeom>
              <a:blipFill>
                <a:blip r:embed="rId3"/>
                <a:stretch>
                  <a:fillRect l="-819" t="-588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18783" y="4234771"/>
                <a:ext cx="114159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00B050"/>
                    </a:solidFill>
                  </a:rPr>
                  <a:t>With x and y representing numbers,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𝑧𝑦</m:t>
                    </m:r>
                    <m:r>
                      <a:rPr lang="en-AU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AU" sz="2400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sz="2400" dirty="0" smtClean="0">
                    <a:solidFill>
                      <a:srgbClr val="00B05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AU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3" y="4234771"/>
                <a:ext cx="11415975" cy="461665"/>
              </a:xfrm>
              <a:prstGeom prst="rect">
                <a:avLst/>
              </a:prstGeom>
              <a:blipFill>
                <a:blip r:embed="rId4"/>
                <a:stretch>
                  <a:fillRect l="-854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18781" y="4962590"/>
                <a:ext cx="1191263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00B050"/>
                    </a:solidFill>
                  </a:rPr>
                  <a:t>However, with matrices,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𝐶𝐵</m:t>
                    </m:r>
                    <m:r>
                      <a:rPr lang="en-AU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where</m:t>
                    </m:r>
                    <m:r>
                      <a:rPr lang="en-AU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AU" sz="2400" dirty="0" smtClean="0">
                    <a:solidFill>
                      <a:srgbClr val="00B05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𝑚𝑎𝑡𝑟𝑖𝑥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sz="2400" dirty="0" smtClean="0">
                    <a:solidFill>
                      <a:srgbClr val="00B050"/>
                    </a:solidFill>
                  </a:rPr>
                  <a:t> does not necessarily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AU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AU" sz="2400" dirty="0" smtClean="0">
                    <a:solidFill>
                      <a:srgbClr val="00B050"/>
                    </a:solidFill>
                  </a:rPr>
                  <a:t>. We cannot just simply cancel the B’s like in algebra.</a:t>
                </a:r>
              </a:p>
              <a:p>
                <a:r>
                  <a:rPr lang="en-AU" sz="2400" dirty="0" smtClean="0">
                    <a:solidFill>
                      <a:srgbClr val="00B050"/>
                    </a:solidFill>
                  </a:rPr>
                  <a:t>*See textbook for example</a:t>
                </a:r>
                <a:endParaRPr lang="en-AU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1" y="4962590"/>
                <a:ext cx="11912637" cy="1200329"/>
              </a:xfrm>
              <a:prstGeom prst="rect">
                <a:avLst/>
              </a:prstGeom>
              <a:blipFill>
                <a:blip r:embed="rId5"/>
                <a:stretch>
                  <a:fillRect l="-819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67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zero matrix is also referred to as an </a:t>
            </a:r>
            <a:r>
              <a:rPr lang="en-AU" sz="2400" b="1" u="sng" dirty="0" smtClean="0"/>
              <a:t>additive identity matrix</a:t>
            </a:r>
            <a:r>
              <a:rPr lang="en-AU" sz="2400" dirty="0" smtClean="0"/>
              <a:t> as when you add it to another matrix, the result is unchanged.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218782" y="1671198"/>
            <a:ext cx="11685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</a:t>
            </a:r>
            <a:r>
              <a:rPr lang="en-AU" sz="2400" b="1" u="sng" dirty="0" smtClean="0"/>
              <a:t>multiplicative identity matrix (I) </a:t>
            </a:r>
            <a:r>
              <a:rPr lang="en-AU" sz="2400" dirty="0" smtClean="0"/>
              <a:t> has the same result when multiplication of matrices occurs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8782" y="2618729"/>
                <a:ext cx="11685457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Therefore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AU" sz="2400" dirty="0" smtClean="0"/>
                  <a:t> it would follow that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400" dirty="0" smtClean="0"/>
                  <a:t>  </a:t>
                </a:r>
                <a:endParaRPr lang="en-AU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2" y="2618729"/>
                <a:ext cx="11685457" cy="490199"/>
              </a:xfrm>
              <a:prstGeom prst="rect">
                <a:avLst/>
              </a:prstGeom>
              <a:blipFill>
                <a:blip r:embed="rId2"/>
                <a:stretch>
                  <a:fillRect l="-835" t="-8750" b="-237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18782" y="3270925"/>
                <a:ext cx="116854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Thus multiplicative identity matrices are square matrices, labelled as the letter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2" y="3270925"/>
                <a:ext cx="11685457" cy="461665"/>
              </a:xfrm>
              <a:prstGeom prst="rect">
                <a:avLst/>
              </a:prstGeom>
              <a:blipFill>
                <a:blip r:embed="rId3"/>
                <a:stretch>
                  <a:fillRect l="-835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218782" y="3882732"/>
            <a:ext cx="11685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multiplicative identity matrix has every entry of its leading diagonal equal to one and every other entry equal to zero.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60234" y="4960892"/>
                <a:ext cx="2655993" cy="968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234" y="4960892"/>
                <a:ext cx="2655993" cy="9687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556642" y="4726573"/>
                <a:ext cx="3228143" cy="1394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642" y="4726573"/>
                <a:ext cx="3228143" cy="13946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625200" y="4614206"/>
                <a:ext cx="4160176" cy="1906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AU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AU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eqAr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AU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AU" sz="32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AU" sz="3200" b="0" i="1" smtClean="0">
                                          <a:latin typeface="Cambria Math" panose="02040503050406030204" pitchFamily="18" charset="0"/>
                                        </a:rPr>
                                        <m:t>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AU" sz="3200" b="0" i="1" smtClean="0">
                                          <a:latin typeface="Cambria Math" panose="02040503050406030204" pitchFamily="18" charset="0"/>
                                        </a:rPr>
                                        <m:t>    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200" y="4614206"/>
                <a:ext cx="4160176" cy="19065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950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9509" y="720827"/>
            <a:ext cx="11600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Like the zero matrix, there are some parallels with the Identity matrix and the number system. In the number system: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89976" y="1444494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76" y="1444494"/>
                <a:ext cx="187127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08496" y="1444494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496" y="1444494"/>
                <a:ext cx="187127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78075" y="2017350"/>
            <a:ext cx="11600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With A representing a matrix, the following is also true using the zero matrix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18982" y="2713708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𝐴𝐼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982" y="2713708"/>
                <a:ext cx="187127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608496" y="2713708"/>
                <a:ext cx="1871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𝐼𝐴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496" y="2713708"/>
                <a:ext cx="187127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27302" y="3410066"/>
                <a:ext cx="114159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However, there are exceptions again:</a:t>
                </a:r>
              </a:p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With x and y representing numbers,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then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02" y="3410066"/>
                <a:ext cx="11415975" cy="830997"/>
              </a:xfrm>
              <a:prstGeom prst="rect">
                <a:avLst/>
              </a:prstGeom>
              <a:blipFill>
                <a:blip r:embed="rId6"/>
                <a:stretch>
                  <a:fillRect l="-801" t="-5839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79363" y="4329199"/>
                <a:ext cx="119126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However, with matrices,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then A does not necessarily equal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*See textbook for example</a:t>
                </a: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63" y="4329199"/>
                <a:ext cx="11912637" cy="830997"/>
              </a:xfrm>
              <a:prstGeom prst="rect">
                <a:avLst/>
              </a:prstGeom>
              <a:blipFill>
                <a:blip r:embed="rId7"/>
                <a:stretch>
                  <a:fillRect l="-819" t="-588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45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9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8539" y="778092"/>
            <a:ext cx="10081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 smtClean="0"/>
              <a:t>Route matrices </a:t>
            </a:r>
            <a:r>
              <a:rPr lang="en-AU" sz="2400" dirty="0" smtClean="0"/>
              <a:t>show the number of direct paths from a particular </a:t>
            </a:r>
            <a:r>
              <a:rPr lang="en-AU" sz="2400" dirty="0" err="1" smtClean="0"/>
              <a:t>Vertice</a:t>
            </a:r>
            <a:r>
              <a:rPr lang="en-AU" sz="2400" dirty="0" smtClean="0"/>
              <a:t> to other </a:t>
            </a:r>
            <a:r>
              <a:rPr lang="en-AU" sz="2400" dirty="0" err="1" smtClean="0"/>
              <a:t>Vertice</a:t>
            </a:r>
            <a:r>
              <a:rPr lang="en-AU" sz="2400" dirty="0" smtClean="0"/>
              <a:t> in a network.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238539" y="4979978"/>
            <a:ext cx="100811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Notice how all paths in the diagram are two-way so where there is a path from Town 1 to Town 3 there is also a path from Town 3 to Town 1. This will result in symmetry in the matrix along the leading diagonal. The leading diagonal has all zeros as there are no roads from Town 1 back to Town 1 directly.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40" y="2011905"/>
            <a:ext cx="5572125" cy="2152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17158" y="2270150"/>
                <a:ext cx="6020953" cy="1882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158" y="2270150"/>
                <a:ext cx="6020953" cy="18829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587816" y="2426773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T1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7587816" y="3007470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T2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8295861" y="1901376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T1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9163705" y="1888366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T2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7587816" y="3588167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T3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10031549" y="1901376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T3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6616281" y="3136941"/>
            <a:ext cx="9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From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9177735" y="1348832"/>
            <a:ext cx="9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596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8539" y="778092"/>
            <a:ext cx="10081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 smtClean="0"/>
              <a:t>Route matrices </a:t>
            </a:r>
            <a:r>
              <a:rPr lang="en-AU" sz="2400" dirty="0" smtClean="0"/>
              <a:t>can also show the number of two stage paths from a particular </a:t>
            </a:r>
            <a:r>
              <a:rPr lang="en-AU" sz="2400" dirty="0" err="1" smtClean="0"/>
              <a:t>Vertice</a:t>
            </a:r>
            <a:r>
              <a:rPr lang="en-AU" sz="2400" dirty="0" smtClean="0"/>
              <a:t> to other Vertices in a network. As shown below: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40" y="2011905"/>
            <a:ext cx="5572125" cy="2152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17158" y="2270150"/>
                <a:ext cx="6020953" cy="1882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158" y="2270150"/>
                <a:ext cx="6020953" cy="18829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587816" y="2426773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T1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7587816" y="3007470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T2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8295861" y="1901376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T1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9163705" y="1888366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T2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7587816" y="3588167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T3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10031549" y="1901376"/>
            <a:ext cx="4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T3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6616281" y="3136941"/>
            <a:ext cx="9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From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9177735" y="1348832"/>
            <a:ext cx="9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38539" y="5103912"/>
            <a:ext cx="6815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We can also find this by squaring the original </a:t>
            </a:r>
            <a:r>
              <a:rPr lang="en-AU" sz="2800" dirty="0" smtClean="0"/>
              <a:t>matrix, check this on your </a:t>
            </a:r>
            <a:r>
              <a:rPr lang="en-AU" sz="2800" dirty="0" err="1" smtClean="0"/>
              <a:t>Classpad</a:t>
            </a:r>
            <a:r>
              <a:rPr lang="en-AU" sz="2800" dirty="0" smtClean="0"/>
              <a:t> now</a:t>
            </a:r>
            <a:endParaRPr lang="en-AU" sz="2800" dirty="0"/>
          </a:p>
        </p:txBody>
      </p:sp>
      <p:sp>
        <p:nvSpPr>
          <p:cNvPr id="15" name="TextBox 5"/>
          <p:cNvSpPr txBox="1"/>
          <p:nvPr/>
        </p:nvSpPr>
        <p:spPr>
          <a:xfrm>
            <a:off x="8155119" y="170283"/>
            <a:ext cx="201717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 smtClean="0"/>
              <a:t>Now Try Ex </a:t>
            </a:r>
            <a:r>
              <a:rPr lang="en-AU" sz="2400" dirty="0" smtClean="0"/>
              <a:t>6C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7186252" y="5103912"/>
                <a:ext cx="2719014" cy="14918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AU" sz="32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3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AU" sz="3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AU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252" y="5103912"/>
                <a:ext cx="2719014" cy="14918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-Up Arrow 7"/>
          <p:cNvSpPr/>
          <p:nvPr/>
        </p:nvSpPr>
        <p:spPr>
          <a:xfrm>
            <a:off x="9865509" y="4265307"/>
            <a:ext cx="726764" cy="1971607"/>
          </a:xfrm>
          <a:prstGeom prst="leftUpArrow">
            <a:avLst>
              <a:gd name="adj1" fmla="val 25000"/>
              <a:gd name="adj2" fmla="val 26747"/>
              <a:gd name="adj3" fmla="val 2412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96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 animBg="1"/>
      <p:bldP spid="7" grpId="0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864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STEDMAN Shaun [Harrisdale Senior High School]</dc:creator>
  <cp:lastModifiedBy>STEDMAN Shaun [Harrisdale Senior High School]</cp:lastModifiedBy>
  <cp:revision>13</cp:revision>
  <dcterms:created xsi:type="dcterms:W3CDTF">2021-02-02T03:59:06Z</dcterms:created>
  <dcterms:modified xsi:type="dcterms:W3CDTF">2021-02-02T11:39:48Z</dcterms:modified>
</cp:coreProperties>
</file>
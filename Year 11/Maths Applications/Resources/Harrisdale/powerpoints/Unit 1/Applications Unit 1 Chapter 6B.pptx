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78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39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77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4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478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711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007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983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52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92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744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8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B31BB-B619-429B-80ED-6755F0205DAF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DB485-9CE4-4C65-8D86-66C1F0F15B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594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 interschool sports carnival involves five schools competing in seven sports where points are awarded to teams finishing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,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or 3</a:t>
            </a:r>
            <a:r>
              <a:rPr lang="en-AU" sz="2400" baseline="30000" dirty="0" smtClean="0"/>
              <a:t>rd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Example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18782" y="1733672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5 x 3 matrix below shows the number of first second and third places by each school.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52736" y="3232278"/>
                <a:ext cx="3867741" cy="2742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3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3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2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0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3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36" y="3232278"/>
                <a:ext cx="3867741" cy="2742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70114" y="3274922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A</a:t>
            </a:r>
            <a:endParaRPr lang="en-AU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70114" y="3815845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B</a:t>
            </a:r>
            <a:endParaRPr lang="en-AU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70115" y="4426799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C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70116" y="4967722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D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70114" y="5551289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E</a:t>
            </a:r>
            <a:endParaRPr lang="en-A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789043" y="2681108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1st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321089" y="2681109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2nd</a:t>
            </a:r>
            <a:endParaRPr lang="en-AU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53135" y="2690335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3rd</a:t>
            </a:r>
            <a:endParaRPr lang="en-AU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696134" y="2436872"/>
            <a:ext cx="4938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Suppose that points are awarded using the points system below: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587277" y="3467344"/>
                <a:ext cx="4938623" cy="2735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277" y="3467344"/>
                <a:ext cx="4938623" cy="2735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7382701" y="4604097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2</a:t>
            </a:r>
            <a:r>
              <a:rPr lang="en-AU" sz="2400" b="1" baseline="30000" dirty="0" smtClean="0"/>
              <a:t>nd</a:t>
            </a:r>
            <a:r>
              <a:rPr lang="en-AU" sz="2400" b="1" dirty="0" smtClean="0"/>
              <a:t> Place</a:t>
            </a:r>
            <a:endParaRPr lang="en-AU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428136" y="5700148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3</a:t>
            </a:r>
            <a:r>
              <a:rPr lang="en-AU" sz="2400" b="1" baseline="30000" dirty="0" smtClean="0"/>
              <a:t>rd</a:t>
            </a:r>
            <a:r>
              <a:rPr lang="en-AU" sz="2400" b="1" dirty="0" smtClean="0"/>
              <a:t> Place</a:t>
            </a:r>
            <a:endParaRPr lang="en-AU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7428137" y="3574411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1</a:t>
            </a:r>
            <a:r>
              <a:rPr lang="en-AU" sz="2400" b="1" baseline="30000" dirty="0" smtClean="0"/>
              <a:t>st</a:t>
            </a:r>
            <a:r>
              <a:rPr lang="en-AU" sz="2400" b="1" dirty="0" smtClean="0"/>
              <a:t> Place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19476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2" grpId="0"/>
      <p:bldP spid="5" grpId="0"/>
      <p:bldP spid="11" grpId="0"/>
      <p:bldP spid="12" grpId="0"/>
      <p:bldP spid="13" grpId="0"/>
      <p:bldP spid="16" grpId="0"/>
      <p:bldP spid="17" grpId="0"/>
      <p:bldP spid="18" grpId="0"/>
      <p:bldP spid="20" grpId="0"/>
      <p:bldP spid="21" grpId="0"/>
      <p:bldP spid="24" grpId="0"/>
      <p:bldP spid="27" grpId="0"/>
      <p:bldP spid="28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Example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47396" y="3952206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 Calculate the total points for each school we would use the following calculations: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30018" y="1074067"/>
                <a:ext cx="3867741" cy="2742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3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3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2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AU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 0</m:t>
                                    </m:r>
                                  </m:e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      3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018" y="1074067"/>
                <a:ext cx="3867741" cy="2742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7396" y="1116711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A</a:t>
            </a:r>
            <a:endParaRPr lang="en-AU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47396" y="1657634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B</a:t>
            </a:r>
            <a:endParaRPr lang="en-AU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47397" y="2268588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C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47398" y="2809511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D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47396" y="3393078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School E</a:t>
            </a:r>
            <a:endParaRPr lang="en-A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766325" y="522897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1st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298371" y="522898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2nd</a:t>
            </a:r>
            <a:endParaRPr lang="en-AU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30417" y="532124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3rd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394581" y="1095132"/>
                <a:ext cx="4938623" cy="2735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AU" sz="4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581" y="1095132"/>
                <a:ext cx="4938623" cy="2735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6190005" y="2231885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2</a:t>
            </a:r>
            <a:r>
              <a:rPr lang="en-AU" sz="2400" b="1" baseline="30000" dirty="0" smtClean="0"/>
              <a:t>nd</a:t>
            </a:r>
            <a:r>
              <a:rPr lang="en-AU" sz="2400" b="1" dirty="0" smtClean="0"/>
              <a:t> Place</a:t>
            </a:r>
            <a:endParaRPr lang="en-AU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235440" y="3327936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3</a:t>
            </a:r>
            <a:r>
              <a:rPr lang="en-AU" sz="2400" b="1" baseline="30000" dirty="0" smtClean="0"/>
              <a:t>rd</a:t>
            </a:r>
            <a:r>
              <a:rPr lang="en-AU" sz="2400" b="1" dirty="0" smtClean="0"/>
              <a:t> Place</a:t>
            </a:r>
            <a:endParaRPr lang="en-AU" sz="2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6235441" y="1202199"/>
            <a:ext cx="133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1</a:t>
            </a:r>
            <a:r>
              <a:rPr lang="en-AU" sz="2400" b="1" baseline="30000" dirty="0" smtClean="0"/>
              <a:t>st</a:t>
            </a:r>
            <a:r>
              <a:rPr lang="en-AU" sz="2400" b="1" dirty="0" smtClean="0"/>
              <a:t> Place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79309" y="4326911"/>
                <a:ext cx="210141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School A</a:t>
                </a:r>
              </a:p>
              <a:p>
                <a:pPr algn="ctr"/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u="sng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    </m:t>
                      </m:r>
                    </m:oMath>
                  </m:oMathPara>
                </a14:m>
                <a:endParaRPr lang="en-AU" sz="2400" b="0" u="sng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09" y="4326911"/>
                <a:ext cx="2101417" cy="2308324"/>
              </a:xfrm>
              <a:prstGeom prst="rect">
                <a:avLst/>
              </a:prstGeom>
              <a:blipFill>
                <a:blip r:embed="rId4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388231" y="4326911"/>
                <a:ext cx="210141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School B</a:t>
                </a:r>
              </a:p>
              <a:p>
                <a:pPr algn="ctr"/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u="sng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    </m:t>
                      </m:r>
                    </m:oMath>
                  </m:oMathPara>
                </a14:m>
                <a:endParaRPr lang="en-AU" sz="2400" b="0" u="sng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231" y="4326911"/>
                <a:ext cx="2101417" cy="2308324"/>
              </a:xfrm>
              <a:prstGeom prst="rect">
                <a:avLst/>
              </a:prstGeom>
              <a:blipFill>
                <a:blip r:embed="rId5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088588" y="4326911"/>
                <a:ext cx="210141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School C</a:t>
                </a:r>
              </a:p>
              <a:p>
                <a:pPr algn="ctr"/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u="sng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    </m:t>
                      </m:r>
                    </m:oMath>
                  </m:oMathPara>
                </a14:m>
                <a:endParaRPr lang="en-AU" sz="2400" b="0" u="sng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588" y="4326911"/>
                <a:ext cx="2101417" cy="2308324"/>
              </a:xfrm>
              <a:prstGeom prst="rect">
                <a:avLst/>
              </a:prstGeom>
              <a:blipFill>
                <a:blip r:embed="rId6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704114" y="4326911"/>
                <a:ext cx="210141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School D</a:t>
                </a:r>
              </a:p>
              <a:p>
                <a:pPr algn="ctr"/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u="sng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    </m:t>
                      </m:r>
                    </m:oMath>
                  </m:oMathPara>
                </a14:m>
                <a:endParaRPr lang="en-AU" sz="2400" b="0" u="sng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14" y="4326911"/>
                <a:ext cx="2101417" cy="2308324"/>
              </a:xfrm>
              <a:prstGeom prst="rect">
                <a:avLst/>
              </a:prstGeom>
              <a:blipFill>
                <a:blip r:embed="rId7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403050" y="4326911"/>
                <a:ext cx="210141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School E</a:t>
                </a:r>
              </a:p>
              <a:p>
                <a:pPr algn="ctr"/>
                <a:endParaRPr lang="en-AU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×2+</m:t>
                      </m:r>
                    </m:oMath>
                  </m:oMathPara>
                </a14:m>
                <a:endParaRPr lang="en-AU" sz="24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u="sng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    </m:t>
                      </m:r>
                    </m:oMath>
                  </m:oMathPara>
                </a14:m>
                <a:endParaRPr lang="en-AU" sz="2400" b="0" u="sng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050" y="4326911"/>
                <a:ext cx="2101417" cy="2308324"/>
              </a:xfrm>
              <a:prstGeom prst="rect">
                <a:avLst/>
              </a:prstGeom>
              <a:blipFill>
                <a:blip r:embed="rId8"/>
                <a:stretch>
                  <a:fillRect t="-21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9098564" y="561250"/>
            <a:ext cx="2368352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/>
              <a:t>E</a:t>
            </a:r>
            <a:r>
              <a:rPr lang="en-AU" sz="2000" dirty="0" smtClean="0"/>
              <a:t>ach Row has been ‘stood up’ to align with the points matrix.</a:t>
            </a:r>
            <a:endParaRPr lang="en-AU"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1845839" y="1074067"/>
            <a:ext cx="3419060" cy="5835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ounded Rectangle 29"/>
          <p:cNvSpPr/>
          <p:nvPr/>
        </p:nvSpPr>
        <p:spPr>
          <a:xfrm>
            <a:off x="1033670" y="4940985"/>
            <a:ext cx="408924" cy="126671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ounded Rectangle 30"/>
          <p:cNvSpPr/>
          <p:nvPr/>
        </p:nvSpPr>
        <p:spPr>
          <a:xfrm>
            <a:off x="1850098" y="1648318"/>
            <a:ext cx="3419060" cy="58356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ounded Rectangle 31"/>
          <p:cNvSpPr/>
          <p:nvPr/>
        </p:nvSpPr>
        <p:spPr>
          <a:xfrm>
            <a:off x="2775203" y="4996834"/>
            <a:ext cx="408924" cy="126671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/>
          <p:cNvSpPr txBox="1"/>
          <p:nvPr/>
        </p:nvSpPr>
        <p:spPr>
          <a:xfrm>
            <a:off x="9098564" y="2068533"/>
            <a:ext cx="2368352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This is how we multiply matrices!!!</a:t>
            </a:r>
          </a:p>
          <a:p>
            <a:r>
              <a:rPr lang="en-AU" sz="2000" dirty="0" smtClean="0"/>
              <a:t>Each Row x Each Column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39202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22" grpId="0"/>
      <p:bldP spid="23" grpId="0"/>
      <p:bldP spid="25" grpId="0"/>
      <p:bldP spid="26" grpId="0"/>
      <p:bldP spid="6" grpId="0" animBg="1"/>
      <p:bldP spid="7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Two matrices can be multiplied together if the number of columns in the first matches the number of rows in the second.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59836" y="1776165"/>
                <a:ext cx="3200363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36" y="1776165"/>
                <a:ext cx="3200363" cy="1095556"/>
              </a:xfrm>
              <a:prstGeom prst="rect">
                <a:avLst/>
              </a:prstGeom>
              <a:blipFill>
                <a:blip r:embed="rId2"/>
                <a:stretch>
                  <a:fillRect l="-9524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23492" y="1554664"/>
                <a:ext cx="2406556" cy="1623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492" y="1554664"/>
                <a:ext cx="2406556" cy="1623842"/>
              </a:xfrm>
              <a:prstGeom prst="rect">
                <a:avLst/>
              </a:prstGeom>
              <a:blipFill>
                <a:blip r:embed="rId3"/>
                <a:stretch>
                  <a:fillRect l="-12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712948" y="3486283"/>
            <a:ext cx="201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2 x 3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5633122" y="3486283"/>
            <a:ext cx="201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3</a:t>
            </a:r>
            <a:r>
              <a:rPr lang="en-AU" sz="2800" dirty="0" smtClean="0"/>
              <a:t> x 2</a:t>
            </a:r>
            <a:endParaRPr lang="en-AU" sz="2800" dirty="0"/>
          </a:p>
        </p:txBody>
      </p:sp>
      <p:sp>
        <p:nvSpPr>
          <p:cNvPr id="12" name="Rounded Rectangle 11"/>
          <p:cNvSpPr/>
          <p:nvPr/>
        </p:nvSpPr>
        <p:spPr>
          <a:xfrm>
            <a:off x="3265715" y="3486283"/>
            <a:ext cx="312372" cy="52322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ounded Rectangle 14"/>
          <p:cNvSpPr/>
          <p:nvPr/>
        </p:nvSpPr>
        <p:spPr>
          <a:xfrm>
            <a:off x="5659624" y="3486283"/>
            <a:ext cx="312372" cy="52322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433657" y="4694626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columns in the first matches the rows in the second, therefore matrix multiplication can be completed.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9984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  <p:bldP spid="3" grpId="0"/>
      <p:bldP spid="11" grpId="0"/>
      <p:bldP spid="12" grpId="0" animBg="1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963" y="627280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product AB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blipFill>
                <a:blip r:embed="rId2"/>
                <a:stretch>
                  <a:fillRect l="-9524" b="-6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blipFill>
                <a:blip r:embed="rId3"/>
                <a:stretch>
                  <a:fillRect l="-12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1368760" y="1296594"/>
            <a:ext cx="2413789" cy="5835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ounded Rectangle 16"/>
          <p:cNvSpPr/>
          <p:nvPr/>
        </p:nvSpPr>
        <p:spPr>
          <a:xfrm>
            <a:off x="5066548" y="1088945"/>
            <a:ext cx="567519" cy="167129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297349" y="310827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Spin the first row in A to align with the first column in B</a:t>
            </a:r>
          </a:p>
          <a:p>
            <a:r>
              <a:rPr lang="en-AU" sz="2400" dirty="0" smtClean="0"/>
              <a:t>Then multiply the corresponding numbers and sum the total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60635" y="4040349"/>
                <a:ext cx="5989860" cy="1012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(3)(1)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635" y="4040349"/>
                <a:ext cx="5989860" cy="10122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8700999" y="3830353"/>
            <a:ext cx="2368352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Repeat this process with each Row in A and each column in B.</a:t>
            </a:r>
            <a:endParaRPr lang="en-AU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8414480" y="5340309"/>
            <a:ext cx="3447458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 how the product of the 1</a:t>
            </a:r>
            <a:r>
              <a:rPr lang="en-AU" sz="2000" baseline="30000" dirty="0" smtClean="0"/>
              <a:t>st</a:t>
            </a:r>
            <a:r>
              <a:rPr lang="en-AU" sz="2000" dirty="0" smtClean="0"/>
              <a:t> row and 1</a:t>
            </a:r>
            <a:r>
              <a:rPr lang="en-AU" sz="2000" baseline="30000" dirty="0" smtClean="0"/>
              <a:t>st</a:t>
            </a:r>
            <a:r>
              <a:rPr lang="en-AU" sz="2000" dirty="0" smtClean="0"/>
              <a:t> column is in the 1</a:t>
            </a:r>
            <a:r>
              <a:rPr lang="en-AU" sz="2000" baseline="30000" dirty="0" smtClean="0"/>
              <a:t>st</a:t>
            </a:r>
            <a:r>
              <a:rPr lang="en-AU" sz="2000" dirty="0" smtClean="0"/>
              <a:t> row and 1</a:t>
            </a:r>
            <a:r>
              <a:rPr lang="en-AU" sz="2000" baseline="30000" dirty="0" smtClean="0"/>
              <a:t>st</a:t>
            </a:r>
            <a:r>
              <a:rPr lang="en-AU" sz="2000" dirty="0" smtClean="0"/>
              <a:t> column of our final matrix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36710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  <p:bldP spid="13" grpId="0" animBg="1"/>
      <p:bldP spid="17" grpId="0" animBg="1"/>
      <p:bldP spid="18" grpId="0"/>
      <p:bldP spid="19" grpId="0"/>
      <p:bldP spid="20" grpId="0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963" y="627280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product AB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blipFill>
                <a:blip r:embed="rId2"/>
                <a:stretch>
                  <a:fillRect l="-9524" b="-6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blipFill>
                <a:blip r:embed="rId3"/>
                <a:stretch>
                  <a:fillRect l="-12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1368760" y="1296594"/>
            <a:ext cx="2413789" cy="5835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ounded Rectangle 16"/>
          <p:cNvSpPr/>
          <p:nvPr/>
        </p:nvSpPr>
        <p:spPr>
          <a:xfrm>
            <a:off x="5915849" y="1088945"/>
            <a:ext cx="814362" cy="167129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297349" y="310827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Spin the first row in A to align with the second column in B</a:t>
            </a:r>
          </a:p>
          <a:p>
            <a:r>
              <a:rPr lang="en-AU" sz="2400" dirty="0" smtClean="0"/>
              <a:t>Then multiply the corresponding numbers and sum the total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60635" y="4040349"/>
                <a:ext cx="5989860" cy="1000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+(3)(−3)</m:t>
                                </m:r>
                              </m:e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635" y="4040349"/>
                <a:ext cx="5989860" cy="1000338"/>
              </a:xfrm>
              <a:prstGeom prst="rect">
                <a:avLst/>
              </a:prstGeom>
              <a:blipFill>
                <a:blip r:embed="rId4"/>
                <a:stretch>
                  <a:fillRect r="-17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8700999" y="3830353"/>
            <a:ext cx="2368352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Repeat this process with each Row in A and each column in B.</a:t>
            </a:r>
            <a:endParaRPr lang="en-AU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8414480" y="5340309"/>
            <a:ext cx="3447458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 how the product of the 1</a:t>
            </a:r>
            <a:r>
              <a:rPr lang="en-AU" sz="2000" baseline="30000" dirty="0" smtClean="0"/>
              <a:t>st</a:t>
            </a:r>
            <a:r>
              <a:rPr lang="en-AU" sz="2000" dirty="0" smtClean="0"/>
              <a:t> row and 2nd column is in the 1</a:t>
            </a:r>
            <a:r>
              <a:rPr lang="en-AU" sz="2000" baseline="30000" dirty="0" smtClean="0"/>
              <a:t>st</a:t>
            </a:r>
            <a:r>
              <a:rPr lang="en-AU" sz="2000" dirty="0" smtClean="0"/>
              <a:t> row and 2nd column of our final matrix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68998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  <p:bldP spid="13" grpId="0" animBg="1"/>
      <p:bldP spid="17" grpId="0" animBg="1"/>
      <p:bldP spid="18" grpId="0"/>
      <p:bldP spid="19" grpId="0"/>
      <p:bldP spid="20" grpId="0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963" y="627280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product AB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blipFill>
                <a:blip r:embed="rId2"/>
                <a:stretch>
                  <a:fillRect l="-9524" b="-6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blipFill>
                <a:blip r:embed="rId3"/>
                <a:stretch>
                  <a:fillRect l="-12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1338677" y="1903355"/>
            <a:ext cx="2413789" cy="5835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ounded Rectangle 16"/>
          <p:cNvSpPr/>
          <p:nvPr/>
        </p:nvSpPr>
        <p:spPr>
          <a:xfrm>
            <a:off x="5047583" y="1083020"/>
            <a:ext cx="629289" cy="167129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297349" y="310827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Spin the second row in A to align with the first column in B</a:t>
            </a:r>
          </a:p>
          <a:p>
            <a:r>
              <a:rPr lang="en-AU" sz="2400" dirty="0" smtClean="0"/>
              <a:t>Then multiply the corresponding numbers and sum the total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60635" y="4040349"/>
                <a:ext cx="5989860" cy="1000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+(2)(1)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635" y="4040349"/>
                <a:ext cx="5989860" cy="1000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8700999" y="3830353"/>
            <a:ext cx="2368352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Repeat this process with each Row in A and each column in B.</a:t>
            </a:r>
            <a:endParaRPr lang="en-AU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8414480" y="5340309"/>
            <a:ext cx="3447458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 how the product of the 2nd row and 1st column is in the 2nd row and 1st column of our final matrix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94139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  <p:bldP spid="13" grpId="0" animBg="1"/>
      <p:bldP spid="17" grpId="0" animBg="1"/>
      <p:bldP spid="18" grpId="0"/>
      <p:bldP spid="19" grpId="0"/>
      <p:bldP spid="20" grpId="0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963" y="627280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Determine the product AB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8" y="1310446"/>
                <a:ext cx="3200363" cy="1095556"/>
              </a:xfrm>
              <a:prstGeom prst="rect">
                <a:avLst/>
              </a:prstGeom>
              <a:blipFill>
                <a:blip r:embed="rId2"/>
                <a:stretch>
                  <a:fillRect l="-9524" b="-6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94" y="1088945"/>
                <a:ext cx="2406556" cy="1623842"/>
              </a:xfrm>
              <a:prstGeom prst="rect">
                <a:avLst/>
              </a:prstGeom>
              <a:blipFill>
                <a:blip r:embed="rId3"/>
                <a:stretch>
                  <a:fillRect l="-12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1338677" y="1903355"/>
            <a:ext cx="2413789" cy="5835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ounded Rectangle 16"/>
          <p:cNvSpPr/>
          <p:nvPr/>
        </p:nvSpPr>
        <p:spPr>
          <a:xfrm>
            <a:off x="5928715" y="1085846"/>
            <a:ext cx="852612" cy="167129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297349" y="310827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Spin the second row in A to align with the second column in B</a:t>
            </a:r>
          </a:p>
          <a:p>
            <a:r>
              <a:rPr lang="en-AU" sz="2400" dirty="0" smtClean="0"/>
              <a:t>Then multiply the corresponding numbers and sum the total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60635" y="4040349"/>
                <a:ext cx="5989860" cy="1000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2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+(2)(−3)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635" y="4040349"/>
                <a:ext cx="5989860" cy="1000851"/>
              </a:xfrm>
              <a:prstGeom prst="rect">
                <a:avLst/>
              </a:prstGeom>
              <a:blipFill>
                <a:blip r:embed="rId4"/>
                <a:stretch>
                  <a:fillRect r="-93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804" y="5359399"/>
                <a:ext cx="5989860" cy="9687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8414480" y="5340309"/>
            <a:ext cx="3447458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 how the product of the 2nd row and 2nd column is in the 2nd row and 2nd column of our final matrix</a:t>
            </a:r>
            <a:endParaRPr lang="en-A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4480" y="320876"/>
            <a:ext cx="3447458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Could we determine the product BA??</a:t>
            </a:r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8414480" y="1487252"/>
            <a:ext cx="3447458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B= 3x2		A= 2x3</a:t>
            </a:r>
          </a:p>
          <a:p>
            <a:endParaRPr lang="en-AU" sz="2000" dirty="0"/>
          </a:p>
          <a:p>
            <a:r>
              <a:rPr lang="en-AU" sz="2000" dirty="0" smtClean="0"/>
              <a:t>Yes, the columns in B match up with the rows in A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25830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  <p:bldP spid="13" grpId="0" animBg="1"/>
      <p:bldP spid="17" grpId="0" animBg="1"/>
      <p:bldP spid="18" grpId="0"/>
      <p:bldP spid="19" grpId="0"/>
      <p:bldP spid="20" grpId="0"/>
      <p:bldP spid="22" grpId="0" animBg="1"/>
      <p:bldP spid="15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963" y="627280"/>
            <a:ext cx="114159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Two matrices can be multiplied together if the columns in the first equal the rows in the second.</a:t>
            </a:r>
          </a:p>
          <a:p>
            <a:endParaRPr lang="en-AU" sz="2400" dirty="0"/>
          </a:p>
          <a:p>
            <a:r>
              <a:rPr lang="en-AU" sz="2400" dirty="0" smtClean="0"/>
              <a:t>Suppose that matrix A has ‘m x n’ dimensions and Matrix B has ‘p x q’ dimensions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7491" y="2739109"/>
                <a:ext cx="6813389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</m:oMath>
                </a14:m>
                <a:r>
                  <a:rPr lang="en-AU" sz="2400" dirty="0" smtClean="0"/>
                  <a:t> can only be formed if n=p.</a:t>
                </a:r>
              </a:p>
              <a:p>
                <a:r>
                  <a:rPr lang="en-AU" sz="2400" dirty="0" smtClean="0"/>
                  <a:t>The resulting matrix will have the dimensions m x q.</a:t>
                </a:r>
                <a:endParaRPr lang="en-AU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91" y="2739109"/>
                <a:ext cx="6813389" cy="859531"/>
              </a:xfrm>
              <a:prstGeom prst="rect">
                <a:avLst/>
              </a:prstGeom>
              <a:blipFill>
                <a:blip r:embed="rId2"/>
                <a:stretch>
                  <a:fillRect l="-1342" t="-4965" b="-148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91737" y="3711043"/>
                <a:ext cx="6774579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</m:oMath>
                </a14:m>
                <a:r>
                  <a:rPr lang="en-AU" sz="2400" dirty="0" smtClean="0"/>
                  <a:t> can only be formed if q=m.</a:t>
                </a:r>
              </a:p>
              <a:p>
                <a:r>
                  <a:rPr lang="en-AU" sz="2400" dirty="0" smtClean="0"/>
                  <a:t>The resulting matrix will have the dimensions p x n.</a:t>
                </a:r>
                <a:endParaRPr lang="en-AU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37" y="3711043"/>
                <a:ext cx="6774579" cy="859531"/>
              </a:xfrm>
              <a:prstGeom prst="rect">
                <a:avLst/>
              </a:prstGeom>
              <a:blipFill>
                <a:blip r:embed="rId3"/>
                <a:stretch>
                  <a:fillRect l="-1350" t="-4965" b="-148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7423110" y="2609259"/>
            <a:ext cx="3663279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In the product AB we say that B is </a:t>
            </a:r>
            <a:r>
              <a:rPr lang="en-AU" sz="2000" dirty="0" err="1" smtClean="0"/>
              <a:t>premultiplied</a:t>
            </a:r>
            <a:r>
              <a:rPr lang="en-AU" sz="2000" dirty="0" smtClean="0"/>
              <a:t> by A</a:t>
            </a:r>
            <a:endParaRPr lang="en-AU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7490317" y="3729464"/>
            <a:ext cx="3663279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In the product BA we say that B is </a:t>
            </a:r>
            <a:r>
              <a:rPr lang="en-AU" sz="2000" dirty="0" err="1" smtClean="0"/>
              <a:t>postmultiplied</a:t>
            </a:r>
            <a:r>
              <a:rPr lang="en-AU" sz="2000" dirty="0" smtClean="0"/>
              <a:t> by A</a:t>
            </a:r>
            <a:endParaRPr lang="en-AU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715738" y="4982893"/>
            <a:ext cx="6774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For example: A=2x3 and B= 1x2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715738" y="5528436"/>
            <a:ext cx="6774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AB= 2x3  1x2, cannot be done</a:t>
            </a:r>
            <a:endParaRPr lang="en-A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715738" y="6103098"/>
            <a:ext cx="7422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BA= 1x2  2x3, possible and resulting matrix will be 1x3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0854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 animBg="1"/>
      <p:bldP spid="27" grpId="0" animBg="1"/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9899" y="1827603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a) Determine the product AB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6</a:t>
            </a:r>
            <a:r>
              <a:rPr lang="en-AU" sz="2400" dirty="0"/>
              <a:t> </a:t>
            </a:r>
            <a:r>
              <a:rPr lang="en-AU" sz="2400" dirty="0" smtClean="0"/>
              <a:t>EXAMPLE 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3872" y="662212"/>
                <a:ext cx="2898999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72" y="662212"/>
                <a:ext cx="2898999" cy="1095556"/>
              </a:xfrm>
              <a:prstGeom prst="rect">
                <a:avLst/>
              </a:prstGeom>
              <a:blipFill>
                <a:blip r:embed="rId2"/>
                <a:stretch>
                  <a:fillRect l="-10737" b="-6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21465" y="662212"/>
                <a:ext cx="2386038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465" y="662212"/>
                <a:ext cx="2386038" cy="1095556"/>
              </a:xfrm>
              <a:prstGeom prst="rect">
                <a:avLst/>
              </a:prstGeom>
              <a:blipFill>
                <a:blip r:embed="rId3"/>
                <a:stretch>
                  <a:fillRect l="-12755" b="-6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69899" y="2153016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Cannot be determined as there are 3 columns in A but 2 rows in B, not equal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9898" y="2614681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</a:t>
            </a:r>
            <a:r>
              <a:rPr lang="en-AU" sz="2400" dirty="0" smtClean="0"/>
              <a:t>) Determine the product BA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23633" y="3206629"/>
                <a:ext cx="5554469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BA=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33" y="3206629"/>
                <a:ext cx="5554469" cy="1095556"/>
              </a:xfrm>
              <a:prstGeom prst="rect">
                <a:avLst/>
              </a:prstGeom>
              <a:blipFill>
                <a:blip r:embed="rId4"/>
                <a:stretch>
                  <a:fillRect l="-5598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926770" y="3160462"/>
                <a:ext cx="2706076" cy="118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AU" sz="4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lang="en-AU" sz="4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AU" sz="4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AU" sz="4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770" y="3160462"/>
                <a:ext cx="2706076" cy="11878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70114" y="4635637"/>
                <a:ext cx="114159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c) Determine the product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14" y="4635637"/>
                <a:ext cx="11415975" cy="461665"/>
              </a:xfrm>
              <a:prstGeom prst="rect">
                <a:avLst/>
              </a:prstGeom>
              <a:blipFill>
                <a:blip r:embed="rId6"/>
                <a:stretch>
                  <a:fillRect l="-855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735427" y="5210828"/>
                <a:ext cx="5161541" cy="137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AU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427" y="5210828"/>
                <a:ext cx="5161541" cy="13725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85219" y="5210828"/>
                <a:ext cx="1768882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  <m:e>
                              <m:r>
                                <a:rPr lang="en-AU" sz="4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AU" sz="4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219" y="5210828"/>
                <a:ext cx="1768882" cy="1095556"/>
              </a:xfrm>
              <a:prstGeom prst="rect">
                <a:avLst/>
              </a:prstGeom>
              <a:blipFill>
                <a:blip r:embed="rId8"/>
                <a:stretch>
                  <a:fillRect l="-17241" b="-6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35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21" grpId="0"/>
      <p:bldP spid="25" grpId="0"/>
      <p:bldP spid="3" grpId="0"/>
      <p:bldP spid="26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6</a:t>
            </a:r>
            <a:r>
              <a:rPr lang="en-AU" sz="2400" dirty="0"/>
              <a:t> </a:t>
            </a:r>
            <a:r>
              <a:rPr lang="en-AU" sz="2400" dirty="0" smtClean="0"/>
              <a:t>EXAMPLE 2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0629" y="647463"/>
            <a:ext cx="10154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manufacturer makes three products A, B and C, each requiring a certain number of units of commodities P, Q, R, S and T. Matrix X shows the number of units of each commodity required to make one of each product.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33058" y="2544417"/>
                <a:ext cx="4446410" cy="146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58" y="2544417"/>
                <a:ext cx="4446410" cy="14650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351722" y="2612571"/>
            <a:ext cx="1482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Product A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351721" y="3080835"/>
            <a:ext cx="1482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Product B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351721" y="3593409"/>
            <a:ext cx="1482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Product C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751240" y="2054979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3429937" y="2028238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Q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4109108" y="2016789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4809111" y="2016789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5509588" y="2021197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</a:t>
            </a:r>
            <a:endParaRPr lang="en-A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738334" y="4304116"/>
            <a:ext cx="10154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a) Each unit of P, Q, R, S and T costs the manufacturer $200, $100, $50, $400 and $300 respectively. Write this information as matrix Y which should be either a column or row matrix, whichever can form a product with X.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714188" y="5469005"/>
            <a:ext cx="1015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</a:t>
            </a:r>
            <a:r>
              <a:rPr lang="en-AU" sz="2400" dirty="0" smtClean="0"/>
              <a:t>) Form the product referred to in a) and explain what information it displays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4739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6</a:t>
            </a:r>
            <a:r>
              <a:rPr lang="en-AU" sz="2400" dirty="0"/>
              <a:t> </a:t>
            </a:r>
            <a:r>
              <a:rPr lang="en-AU" sz="2400" dirty="0" smtClean="0"/>
              <a:t>EXAMPLE 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67329" y="778092"/>
                <a:ext cx="4446410" cy="146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329" y="778092"/>
                <a:ext cx="4446410" cy="14650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85993" y="846246"/>
            <a:ext cx="1482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Product A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485992" y="1314510"/>
            <a:ext cx="1482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Product B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6485992" y="1827084"/>
            <a:ext cx="1482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Product C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885511" y="288654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P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8564208" y="261913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Q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9243379" y="250464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9943382" y="250464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0643859" y="254872"/>
            <a:ext cx="36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</a:t>
            </a:r>
            <a:endParaRPr lang="en-A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80937" y="715853"/>
            <a:ext cx="5872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a) Each unit of P, Q, R, S and T costs the manufacturer $200, $100, $50, $400 and $300 respectively. Write this information as matrix Y which should be either a column or row matrix, whichever can form a product with X.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12373" y="3221570"/>
            <a:ext cx="7939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FF0000"/>
                </a:solidFill>
              </a:rPr>
              <a:t>Matrix Y needs to be either a 5 x 1 column matrix or a 1x 5 row matrix</a:t>
            </a:r>
            <a:endParaRPr lang="en-AU" sz="20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2373" y="3819073"/>
            <a:ext cx="9865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solidFill>
                  <a:srgbClr val="FF0000"/>
                </a:solidFill>
              </a:rPr>
              <a:t>Matrix X is a 3 x 5 and can therefore only form a product with Y if it is a 5 x 1 Column matrix</a:t>
            </a:r>
            <a:endParaRPr lang="en-AU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0" y="4483613"/>
                <a:ext cx="29334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×5</m:t>
                          </m:r>
                        </m:sub>
                      </m:sSub>
                      <m:r>
                        <a:rPr lang="en-AU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AU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83613"/>
                <a:ext cx="293346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719067" y="4416576"/>
                <a:ext cx="3852119" cy="2226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AU" sz="3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AU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AU" sz="3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AU" sz="32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AU" sz="32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a:rPr lang="en-AU" sz="32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AU" sz="32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067" y="4416576"/>
                <a:ext cx="3852119" cy="22262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675714" y="4530949"/>
            <a:ext cx="297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Cost of 1 unit of P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75714" y="4960492"/>
            <a:ext cx="297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Cost of 1 unit of Q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75715" y="5388306"/>
            <a:ext cx="297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Cost of 1 unit of 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75716" y="5817849"/>
            <a:ext cx="297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Cost of 1 unit of 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75714" y="6273494"/>
            <a:ext cx="297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Cost of 1 unit of T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7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21" grpId="0"/>
      <p:bldP spid="25" grpId="0"/>
      <p:bldP spid="3" grpId="0"/>
      <p:bldP spid="26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6</a:t>
            </a:r>
            <a:r>
              <a:rPr lang="en-AU" sz="2400" dirty="0"/>
              <a:t> </a:t>
            </a:r>
            <a:r>
              <a:rPr lang="en-AU" sz="2400" dirty="0" smtClean="0"/>
              <a:t>EXAMPLE 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0269" y="636103"/>
                <a:ext cx="4446410" cy="146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9" y="636103"/>
                <a:ext cx="4446410" cy="14650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391243" y="2585684"/>
            <a:ext cx="1015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</a:t>
            </a:r>
            <a:r>
              <a:rPr lang="en-AU" sz="2400" dirty="0" smtClean="0"/>
              <a:t>) Form the product referred to in a) and explain what information it displays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90058" y="230832"/>
                <a:ext cx="3852119" cy="2226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AU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AU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AU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en-AU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AU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AU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a:rPr lang="en-AU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AU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058" y="230832"/>
                <a:ext cx="3852119" cy="2226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50269" y="3179707"/>
                <a:ext cx="5890202" cy="2479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𝑋𝑌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1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AU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AU" sz="3600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  <m:e>
                                    <m:r>
                                      <a:rPr lang="en-AU" sz="3600" b="0" i="1" smtClean="0">
                                        <a:latin typeface="Cambria Math" panose="02040503050406030204" pitchFamily="18" charset="0"/>
                                      </a:rPr>
                                      <m:t>400</m:t>
                                    </m:r>
                                  </m:e>
                                  <m:e>
                                    <m:r>
                                      <a:rPr lang="en-AU" sz="3600" b="0" i="1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69" y="3179707"/>
                <a:ext cx="5890202" cy="24796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468718" y="3559457"/>
                <a:ext cx="3852119" cy="1720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4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1400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1150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718" y="3559457"/>
                <a:ext cx="3852119" cy="17201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530614" y="3879100"/>
            <a:ext cx="37920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Total commodity cost ($) of producing 1 unit of each product. i.e. $2000 to produce product A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8178152" y="301620"/>
            <a:ext cx="20171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/>
              <a:t>Now Try Ex </a:t>
            </a:r>
            <a:r>
              <a:rPr lang="en-AU" sz="2400" dirty="0" smtClean="0"/>
              <a:t>6B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5314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2041</Words>
  <Application>Microsoft Office PowerPoint</Application>
  <PresentationFormat>Widescreen</PresentationFormat>
  <Paragraphs>180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STEDMAN Shaun [Harrisdale Senior High School]</dc:creator>
  <cp:lastModifiedBy>STEDMAN Shaun [Harrisdale Senior High School]</cp:lastModifiedBy>
  <cp:revision>13</cp:revision>
  <dcterms:created xsi:type="dcterms:W3CDTF">2021-02-01T06:18:53Z</dcterms:created>
  <dcterms:modified xsi:type="dcterms:W3CDTF">2021-02-02T11:35:26Z</dcterms:modified>
</cp:coreProperties>
</file>
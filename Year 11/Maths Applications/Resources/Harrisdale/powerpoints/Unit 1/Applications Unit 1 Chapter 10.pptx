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8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92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60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05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6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91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5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9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26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90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20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55F1D-0104-402B-A88B-F3F388DC0D07}" type="datetimeFigureOut">
              <a:rPr lang="en-AU" smtClean="0"/>
              <a:t>17/05/2021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6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Skill Development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one three dimensional object is an enlargement of another such that the ratio is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0703" y="1928648"/>
                <a:ext cx="76349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𝐿𝑒𝑛𝑔𝑡h𝑠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𝑜𝑟𝑖𝑔𝑖𝑛𝑎𝑙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𝑠h𝑎𝑝𝑒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𝑐𝑜𝑟𝑟𝑒𝑠𝑝𝑜𝑛𝑑𝑖𝑛𝑔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𝑙𝑒𝑛𝑔𝑡h𝑠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𝑒𝑛𝑙𝑎𝑟𝑔𝑒𝑚𝑒𝑛𝑡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03" y="1928648"/>
                <a:ext cx="7634975" cy="307777"/>
              </a:xfrm>
              <a:prstGeom prst="rect">
                <a:avLst/>
              </a:prstGeom>
              <a:blipFill>
                <a:blip r:embed="rId2"/>
                <a:stretch>
                  <a:fillRect l="-638" r="-718" b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623853" y="1873687"/>
            <a:ext cx="390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14385" y="1959426"/>
                <a:ext cx="4590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1: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385" y="1959426"/>
                <a:ext cx="459036" cy="307777"/>
              </a:xfrm>
              <a:prstGeom prst="rect">
                <a:avLst/>
              </a:prstGeom>
              <a:blipFill>
                <a:blip r:embed="rId3"/>
                <a:stretch>
                  <a:fillRect l="-13333" r="-12000" b="-58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0093069" y="1882481"/>
            <a:ext cx="902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Then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8682" y="3155418"/>
                <a:ext cx="66430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𝑆𝑢𝑟𝑓𝑎𝑐𝑒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𝑜𝑟𝑖𝑔𝑖𝑛𝑎𝑙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𝑆𝑢𝑟𝑓𝑎𝑐𝑒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𝑒𝑛𝑙𝑎𝑟𝑔𝑒𝑚𝑒𝑛𝑡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82" y="3155418"/>
                <a:ext cx="6643037" cy="307777"/>
              </a:xfrm>
              <a:prstGeom prst="rect">
                <a:avLst/>
              </a:prstGeom>
              <a:blipFill>
                <a:blip r:embed="rId4"/>
                <a:stretch>
                  <a:fillRect l="-826" r="-917" b="-3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8718021" y="3078472"/>
            <a:ext cx="454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=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370234" y="3155418"/>
                <a:ext cx="583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1: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234" y="3155418"/>
                <a:ext cx="583686" cy="307777"/>
              </a:xfrm>
              <a:prstGeom prst="rect">
                <a:avLst/>
              </a:prstGeom>
              <a:blipFill>
                <a:blip r:embed="rId5"/>
                <a:stretch>
                  <a:fillRect l="-9375" t="-4000" r="-4167" b="-8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0148918" y="3078473"/>
            <a:ext cx="902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and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143171" y="4536076"/>
                <a:ext cx="52775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𝑜𝑟𝑖𝑔𝑖𝑛𝑎𝑙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𝑒𝑛𝑙𝑎𝑟𝑔𝑒𝑚𝑒𝑛𝑡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171" y="4536076"/>
                <a:ext cx="5277535" cy="307777"/>
              </a:xfrm>
              <a:prstGeom prst="rect">
                <a:avLst/>
              </a:prstGeom>
              <a:blipFill>
                <a:blip r:embed="rId6"/>
                <a:stretch>
                  <a:fillRect l="-694" r="-1272" b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762510" y="4459130"/>
            <a:ext cx="454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=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414723" y="4536076"/>
                <a:ext cx="583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1: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723" y="4536076"/>
                <a:ext cx="583686" cy="307777"/>
              </a:xfrm>
              <a:prstGeom prst="rect">
                <a:avLst/>
              </a:prstGeom>
              <a:blipFill>
                <a:blip r:embed="rId7"/>
                <a:stretch>
                  <a:fillRect l="-9375" t="-1961" r="-4167" b="-58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913453" y="5547388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quantity ‘k’ is called the </a:t>
            </a:r>
            <a:r>
              <a:rPr lang="en-AU" sz="2400" b="1" dirty="0" smtClean="0"/>
              <a:t>scale factor</a:t>
            </a:r>
            <a:r>
              <a:rPr lang="en-AU" sz="2400" dirty="0" smtClean="0"/>
              <a:t> of the enlargement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0481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Situation 1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Suppose there is an oil tanker that is capable of carrying 250 000 barrels of oil.</a:t>
            </a:r>
            <a:endParaRPr lang="en-AU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57" y="1194321"/>
            <a:ext cx="3236665" cy="1306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0695" y="2994313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we made another oil tanker with all lengths double that of the original tanker (scale factor of 2), how many barrels of oil could it hold?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695" y="3947523"/>
                <a:ext cx="11222698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Well the volume of the oil tanker should increase by 8 times which is the scale factor multiplied three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 smtClean="0"/>
                  <a:t>). Therefore it should be able to hold: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95" y="3947523"/>
                <a:ext cx="11222698" cy="862608"/>
              </a:xfrm>
              <a:prstGeom prst="rect">
                <a:avLst/>
              </a:prstGeom>
              <a:blipFill>
                <a:blip r:embed="rId3"/>
                <a:stretch>
                  <a:fillRect l="-869" t="-5674" b="-120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83" y="4750792"/>
            <a:ext cx="5041506" cy="1956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95121" y="4932344"/>
                <a:ext cx="537659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Area of sheet metal required to make the larger tanker should also be 4 times as much, which is the scale factor multiplied two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 smtClean="0"/>
                  <a:t>).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121" y="4932344"/>
                <a:ext cx="5376596" cy="1569660"/>
              </a:xfrm>
              <a:prstGeom prst="rect">
                <a:avLst/>
              </a:prstGeom>
              <a:blipFill>
                <a:blip r:embed="rId5"/>
                <a:stretch>
                  <a:fillRect l="-1701" t="-3101" r="-2268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55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Situation 1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we were to make a tanker three times the original, how many times more barrels could it hold and how many times more sheet metal would be required?</a:t>
            </a:r>
            <a:endParaRPr lang="en-AU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19" y="2168667"/>
            <a:ext cx="6682172" cy="2517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18648" y="2282257"/>
                <a:ext cx="44572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=27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𝑡𝑖𝑚𝑒𝑠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𝑙𝑎𝑟𝑔𝑒𝑟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648" y="2282257"/>
                <a:ext cx="4457246" cy="369332"/>
              </a:xfrm>
              <a:prstGeom prst="rect">
                <a:avLst/>
              </a:prstGeom>
              <a:blipFill>
                <a:blip r:embed="rId3"/>
                <a:stretch>
                  <a:fillRect l="-1231" r="-2052" b="-34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63137" y="3553519"/>
                <a:ext cx="36023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𝑡𝑖𝑚𝑒𝑠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𝑙𝑎𝑟𝑔𝑒𝑟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137" y="3553519"/>
                <a:ext cx="3602333" cy="369332"/>
              </a:xfrm>
              <a:prstGeom prst="rect">
                <a:avLst/>
              </a:prstGeom>
              <a:blipFill>
                <a:blip r:embed="rId4"/>
                <a:stretch>
                  <a:fillRect l="-1523" r="-2538" b="-327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53196" y="5172760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Therefore the tanker could hold 27 times as many oil barrels and would require 9 times as much sheet metal to produce!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478960" y="5934310"/>
            <a:ext cx="230114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10A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8444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Skill Development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one three dimensional object is a direct enlargement or reduction of another then the two objects are said to be </a:t>
            </a:r>
            <a:r>
              <a:rPr lang="en-AU" sz="2400" b="1" u="sng" dirty="0" smtClean="0"/>
              <a:t>similar</a:t>
            </a:r>
            <a:endParaRPr lang="en-AU" sz="2400" b="1" u="sng" dirty="0"/>
          </a:p>
        </p:txBody>
      </p:sp>
      <p:sp>
        <p:nvSpPr>
          <p:cNvPr id="21" name="TextBox 20"/>
          <p:cNvSpPr txBox="1"/>
          <p:nvPr/>
        </p:nvSpPr>
        <p:spPr>
          <a:xfrm>
            <a:off x="340770" y="213968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</a:t>
            </a:r>
            <a:r>
              <a:rPr lang="en-AU" sz="2400" b="1" dirty="0" smtClean="0"/>
              <a:t>ratio of any length </a:t>
            </a:r>
            <a:r>
              <a:rPr lang="en-AU" sz="2400" dirty="0" smtClean="0"/>
              <a:t>on one object to that of the corresponding length on the other object will be the same for all pairs of lengths AND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340770" y="3812758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Corresponding </a:t>
            </a:r>
            <a:r>
              <a:rPr lang="en-AU" sz="2400" b="1" dirty="0" smtClean="0"/>
              <a:t>angles</a:t>
            </a:r>
            <a:r>
              <a:rPr lang="en-AU" sz="2400" dirty="0" smtClean="0"/>
              <a:t> in the first and second objects will be </a:t>
            </a:r>
            <a:r>
              <a:rPr lang="en-AU" sz="2400" b="1" dirty="0" smtClean="0"/>
              <a:t>exactly</a:t>
            </a:r>
            <a:r>
              <a:rPr lang="en-AU" sz="2400" dirty="0" smtClean="0"/>
              <a:t> the same size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4123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Situation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Consider the two shapes below:</a:t>
            </a:r>
            <a:endParaRPr lang="en-AU" sz="2400" b="1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42" y="1329004"/>
            <a:ext cx="2819752" cy="27913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724" y="1465312"/>
            <a:ext cx="1912619" cy="15495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501" y="127521"/>
            <a:ext cx="5143500" cy="213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401" y="2240076"/>
            <a:ext cx="4181475" cy="2162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022" y="4485837"/>
            <a:ext cx="9060790" cy="21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0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Situation 2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Consider the two dimensional shapes below:</a:t>
            </a:r>
            <a:endParaRPr lang="en-AU" sz="2400" b="1" u="sn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0" y="1194321"/>
            <a:ext cx="5330789" cy="28631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138" y="178313"/>
            <a:ext cx="5143500" cy="1866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394" y="1958170"/>
            <a:ext cx="4629150" cy="204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21491" y="3930360"/>
                <a:ext cx="6213376" cy="10464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∆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𝐷𝐸𝐹</m:t>
                      </m:r>
                    </m:oMath>
                  </m:oMathPara>
                </a14:m>
                <a:endParaRPr lang="en-AU" sz="2800" b="0" dirty="0" smtClean="0">
                  <a:ea typeface="Cambria Math" panose="02040503050406030204" pitchFamily="18" charset="0"/>
                </a:endParaRPr>
              </a:p>
              <a:p>
                <a:pPr lvl="1" algn="ctr"/>
                <a:r>
                  <a:rPr lang="en-AU" sz="2000" dirty="0" smtClean="0">
                    <a:ea typeface="Cambria Math" panose="02040503050406030204" pitchFamily="18" charset="0"/>
                  </a:rPr>
                  <a:t>Note: The order of the vertices matches to the order of the vertices from the original shapes</a:t>
                </a:r>
                <a:endParaRPr lang="en-AU" sz="2000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491" y="3930360"/>
                <a:ext cx="6213376" cy="1046440"/>
              </a:xfrm>
              <a:prstGeom prst="rect">
                <a:avLst/>
              </a:prstGeom>
              <a:blipFill>
                <a:blip r:embed="rId5"/>
                <a:stretch>
                  <a:fillRect r="-2748" b="-140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874" y="5117168"/>
            <a:ext cx="8183543" cy="1548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698" y="5616258"/>
            <a:ext cx="230114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10B and 10C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5253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Skill Development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As you may remember from previous years, there are some simple tests to check if two triangles are similar without knowing all the lengths and angles. 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40770" y="2066393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1. Check all angles are equal (AAA)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40770" y="3286540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  <a:r>
              <a:rPr lang="en-AU" sz="2400" dirty="0" smtClean="0"/>
              <a:t>. Check all sides are in the same ratio (SSS)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40770" y="4506687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. Check two sides are in the same ratio and the angle in between them is equal (SAS)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40770" y="5630282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  <a:r>
              <a:rPr lang="en-AU" sz="2400" dirty="0" smtClean="0"/>
              <a:t>. In a Right Angles Triangle, check the hypotenuse and another side are in the same ratio (RHS)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1676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Situation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Some examples are listed below: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321"/>
            <a:ext cx="5484774" cy="14450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52119" y="1465312"/>
                <a:ext cx="411196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All three angles are equal, therefore we can state that they are similar: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𝐸𝐷𝐹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𝑁𝑜𝑡𝑒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𝑜𝑟𝑑𝑒𝑟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119" y="1465312"/>
                <a:ext cx="4111961" cy="1015663"/>
              </a:xfrm>
              <a:prstGeom prst="rect">
                <a:avLst/>
              </a:prstGeom>
              <a:blipFill>
                <a:blip r:embed="rId3"/>
                <a:stretch>
                  <a:fillRect l="-1481" t="-2994" b="-5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0" y="3052235"/>
            <a:ext cx="5922479" cy="14777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40827" y="3283297"/>
                <a:ext cx="457862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All three sides in the same ratio, therefore we can state similarity: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𝐾𝐿𝑀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𝑃𝑄𝑅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𝑁𝑜𝑡𝑒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𝑜𝑟𝑑𝑒𝑟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827" y="3283297"/>
                <a:ext cx="4578626" cy="1015663"/>
              </a:xfrm>
              <a:prstGeom prst="rect">
                <a:avLst/>
              </a:prstGeom>
              <a:blipFill>
                <a:blip r:embed="rId5"/>
                <a:stretch>
                  <a:fillRect l="-1465" t="-3614" r="-1598" b="-54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88" y="4743858"/>
            <a:ext cx="4894283" cy="1982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80854" y="5008919"/>
                <a:ext cx="457862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srgbClr val="FF0000"/>
                    </a:solidFill>
                  </a:rPr>
                  <a:t>Two sides in the same ratio and the angle in between is equal, therefore we can state similarity: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𝑋𝑌𝑍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𝑅𝑇𝑆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𝑁𝑜𝑡𝑒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𝑜𝑟𝑑𝑒𝑟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4" y="5008919"/>
                <a:ext cx="4578626" cy="1323439"/>
              </a:xfrm>
              <a:prstGeom prst="rect">
                <a:avLst/>
              </a:prstGeom>
              <a:blipFill>
                <a:blip r:embed="rId7"/>
                <a:stretch>
                  <a:fillRect l="-1465" t="-2765" b="-36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6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Example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9066" y="795130"/>
                <a:ext cx="8683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Explain why the two triangles below are similar and hence find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 smtClean="0"/>
                  <a:t>.</a:t>
                </a:r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6" y="795130"/>
                <a:ext cx="8683960" cy="461665"/>
              </a:xfrm>
              <a:prstGeom prst="rect">
                <a:avLst/>
              </a:prstGeom>
              <a:blipFill>
                <a:blip r:embed="rId2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90" y="1256795"/>
            <a:ext cx="8839200" cy="2238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34479" y="3720074"/>
                <a:ext cx="2010487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𝑄𝑃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=   10:15</m:t>
                      </m:r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2:3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79" y="3720074"/>
                <a:ext cx="2010487" cy="923330"/>
              </a:xfrm>
              <a:prstGeom prst="rect">
                <a:avLst/>
              </a:prstGeom>
              <a:blipFill>
                <a:blip r:embed="rId4"/>
                <a:stretch>
                  <a:fillRect l="-606" r="-606" b="-1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58879" y="3720074"/>
                <a:ext cx="1722010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𝑄𝑅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=   6:9</m:t>
                      </m:r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2:3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79" y="3720074"/>
                <a:ext cx="1722010" cy="923330"/>
              </a:xfrm>
              <a:prstGeom prst="rect">
                <a:avLst/>
              </a:prstGeom>
              <a:blipFill>
                <a:blip r:embed="rId5"/>
                <a:stretch>
                  <a:fillRect l="-1418" r="-1418" b="-1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9066" y="4793501"/>
                <a:ext cx="10654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Therefore the sides are in the same ratio and the angles in between are both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6" y="4793501"/>
                <a:ext cx="10654748" cy="461665"/>
              </a:xfrm>
              <a:prstGeom prst="rect">
                <a:avLst/>
              </a:prstGeom>
              <a:blipFill>
                <a:blip r:embed="rId6"/>
                <a:stretch>
                  <a:fillRect l="-916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80390" y="5405263"/>
                <a:ext cx="24730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𝑄𝑃𝑅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390" y="5405263"/>
                <a:ext cx="247304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67660" y="5387623"/>
                <a:ext cx="26037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𝐶𝐵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:21</m:t>
                      </m:r>
                    </m:oMath>
                  </m:oMathPara>
                </a14:m>
                <a:endParaRPr lang="en-AU" sz="2400" b="0" dirty="0" smtClean="0">
                  <a:solidFill>
                    <a:srgbClr val="FF0000"/>
                  </a:solidFill>
                </a:endParaRPr>
              </a:p>
              <a:p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2:3    =  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:21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660" y="5387623"/>
                <a:ext cx="2603790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068736" y="5545542"/>
                <a:ext cx="149752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AU" sz="3200" b="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736" y="5545542"/>
                <a:ext cx="149752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6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9" grpId="0"/>
      <p:bldP spid="12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 smtClean="0"/>
              <a:t>10 </a:t>
            </a:r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9066" y="795130"/>
                <a:ext cx="86839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In the diagram,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EF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=6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EH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AU" sz="2400" dirty="0" smtClean="0"/>
                  <a:t>. Find the length of FG, justifying your answer.</a:t>
                </a:r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6" y="795130"/>
                <a:ext cx="8683960" cy="830997"/>
              </a:xfrm>
              <a:prstGeom prst="rect">
                <a:avLst/>
              </a:prstGeom>
              <a:blipFill>
                <a:blip r:embed="rId2"/>
                <a:stretch>
                  <a:fillRect l="-1124" t="-583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0877" y="1824818"/>
                <a:ext cx="6106352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𝐼𝑛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𝑡𝑟𝑎𝑖𝑛𝑔𝑙𝑒𝑠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𝐷𝐸𝐻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𝐷𝐹𝐺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𝐻𝐷𝐸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𝐺𝐷𝐹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𝑠𝑎𝑚𝑒</m:t>
                          </m:r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𝑎𝑛𝑔𝑙𝑒</m:t>
                          </m:r>
                        </m:e>
                      </m: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𝐻𝐸𝐷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𝐺𝐹𝐷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𝑏𝑜𝑡h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90°)</m:t>
                      </m:r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𝐻𝑒𝑛𝑐𝑒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𝑡h𝑖𝑟𝑑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𝑎𝑛𝑔𝑙𝑒𝑠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𝑒𝑞𝑢𝑎𝑙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∆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𝐷𝐸𝐻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𝐷𝐹𝐺</m:t>
                      </m:r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7" y="1824818"/>
                <a:ext cx="6106352" cy="1384995"/>
              </a:xfrm>
              <a:prstGeom prst="rect">
                <a:avLst/>
              </a:prstGeom>
              <a:blipFill>
                <a:blip r:embed="rId3"/>
                <a:stretch>
                  <a:fillRect t="-439" b="-57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0876" y="4111301"/>
                <a:ext cx="111137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srgbClr val="FF0000"/>
                    </a:solidFill>
                  </a:rPr>
                  <a:t>Which means all sides are in the same ratio,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𝐷𝐸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𝐷𝐹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𝐸𝐻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𝐹𝐺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𝐹𝐺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76" y="4111301"/>
                <a:ext cx="11113707" cy="461665"/>
              </a:xfrm>
              <a:prstGeom prst="rect">
                <a:avLst/>
              </a:prstGeom>
              <a:blipFill>
                <a:blip r:embed="rId4"/>
                <a:stretch>
                  <a:fillRect l="-823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67660" y="5387623"/>
                <a:ext cx="2116605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3:9  =   2: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b="0" dirty="0" smtClean="0">
                  <a:solidFill>
                    <a:srgbClr val="FF0000"/>
                  </a:solidFill>
                </a:endParaRPr>
              </a:p>
              <a:p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:3    =  2: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660" y="5387623"/>
                <a:ext cx="2116605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460581" y="4920797"/>
                <a:ext cx="4078168" cy="156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3200" b="0" dirty="0" smtClean="0">
                  <a:solidFill>
                    <a:srgbClr val="FF0000"/>
                  </a:solidFill>
                </a:endParaRPr>
              </a:p>
              <a:p>
                <a:endParaRPr lang="en-AU" sz="3200" b="0" dirty="0" smtClean="0">
                  <a:solidFill>
                    <a:srgbClr val="FF0000"/>
                  </a:solidFill>
                </a:endParaRPr>
              </a:p>
              <a:p>
                <a:r>
                  <a:rPr lang="en-AU" sz="3200" b="0" dirty="0" smtClean="0">
                    <a:solidFill>
                      <a:srgbClr val="FF0000"/>
                    </a:solidFill>
                  </a:rPr>
                  <a:t>The length of FG is 6cm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81" y="4920797"/>
                <a:ext cx="4078168" cy="1569660"/>
              </a:xfrm>
              <a:prstGeom prst="rect">
                <a:avLst/>
              </a:prstGeom>
              <a:blipFill>
                <a:blip r:embed="rId6"/>
                <a:stretch>
                  <a:fillRect l="-3886" r="-2840" b="-116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215" y="1210628"/>
            <a:ext cx="3766900" cy="2968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3698" y="5616258"/>
            <a:ext cx="230114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</a:t>
            </a:r>
            <a:r>
              <a:rPr lang="en-AU" sz="2400" smtClean="0"/>
              <a:t>Ex 10D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1812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7" grpId="0"/>
      <p:bldP spid="18" grpId="0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807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STEDMAN Shaun [Harrisdale Senior High School]</cp:lastModifiedBy>
  <cp:revision>31</cp:revision>
  <dcterms:created xsi:type="dcterms:W3CDTF">2021-02-03T00:27:28Z</dcterms:created>
  <dcterms:modified xsi:type="dcterms:W3CDTF">2021-05-17T00:55:11Z</dcterms:modified>
</cp:coreProperties>
</file>
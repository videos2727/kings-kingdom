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>
        <p:scale>
          <a:sx n="100" d="100"/>
          <a:sy n="100" d="100"/>
        </p:scale>
        <p:origin x="-849" y="-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DB122-30A0-4576-8801-016DB5EAFFED}" type="datetimeFigureOut">
              <a:rPr lang="en-AU" smtClean="0"/>
              <a:t>17/03/2021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DF017-50BC-4ABA-8780-316237111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5884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DB122-30A0-4576-8801-016DB5EAFFED}" type="datetimeFigureOut">
              <a:rPr lang="en-AU" smtClean="0"/>
              <a:t>17/03/2021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DF017-50BC-4ABA-8780-316237111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448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DB122-30A0-4576-8801-016DB5EAFFED}" type="datetimeFigureOut">
              <a:rPr lang="en-AU" smtClean="0"/>
              <a:t>17/03/2021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DF017-50BC-4ABA-8780-316237111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441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DB122-30A0-4576-8801-016DB5EAFFED}" type="datetimeFigureOut">
              <a:rPr lang="en-AU" smtClean="0"/>
              <a:t>17/03/2021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DF017-50BC-4ABA-8780-316237111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8502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DB122-30A0-4576-8801-016DB5EAFFED}" type="datetimeFigureOut">
              <a:rPr lang="en-AU" smtClean="0"/>
              <a:t>17/03/2021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DF017-50BC-4ABA-8780-316237111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8756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DB122-30A0-4576-8801-016DB5EAFFED}" type="datetimeFigureOut">
              <a:rPr lang="en-AU" smtClean="0"/>
              <a:t>17/03/2021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DF017-50BC-4ABA-8780-316237111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2618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DB122-30A0-4576-8801-016DB5EAFFED}" type="datetimeFigureOut">
              <a:rPr lang="en-AU" smtClean="0"/>
              <a:t>17/03/2021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DF017-50BC-4ABA-8780-316237111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0538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DB122-30A0-4576-8801-016DB5EAFFED}" type="datetimeFigureOut">
              <a:rPr lang="en-AU" smtClean="0"/>
              <a:t>17/03/2021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DF017-50BC-4ABA-8780-316237111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8900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DB122-30A0-4576-8801-016DB5EAFFED}" type="datetimeFigureOut">
              <a:rPr lang="en-AU" smtClean="0"/>
              <a:t>17/03/2021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DF017-50BC-4ABA-8780-316237111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6878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DB122-30A0-4576-8801-016DB5EAFFED}" type="datetimeFigureOut">
              <a:rPr lang="en-AU" smtClean="0"/>
              <a:t>17/03/2021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DF017-50BC-4ABA-8780-316237111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0263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DB122-30A0-4576-8801-016DB5EAFFED}" type="datetimeFigureOut">
              <a:rPr lang="en-AU" smtClean="0"/>
              <a:t>17/03/2021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DF017-50BC-4ABA-8780-316237111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8823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DB122-30A0-4576-8801-016DB5EAFFED}" type="datetimeFigureOut">
              <a:rPr lang="en-AU" smtClean="0"/>
              <a:t>17/03/2021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DF017-50BC-4ABA-8780-316237111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1961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8783" y="723667"/>
            <a:ext cx="1141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</a:t>
            </a:r>
            <a:r>
              <a:rPr lang="en-AU" sz="2400" b="1" u="sng" dirty="0" smtClean="0"/>
              <a:t>matrix</a:t>
            </a:r>
            <a:r>
              <a:rPr lang="en-AU" sz="2400" dirty="0" smtClean="0"/>
              <a:t> in Mathematics refers to a rectangular array of numbers (plural: matrices)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0" y="0"/>
            <a:ext cx="477646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/>
              <a:t>6</a:t>
            </a:r>
            <a:r>
              <a:rPr lang="en-AU" sz="2400" dirty="0" smtClean="0"/>
              <a:t> VOCABULARY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218782" y="1733672"/>
            <a:ext cx="11415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An example is given in the 2 x 3 matrix below. 2 x 3 is the </a:t>
            </a:r>
            <a:r>
              <a:rPr lang="en-AU" sz="2400" b="1" u="sng" dirty="0" smtClean="0"/>
              <a:t>size or dimensions</a:t>
            </a:r>
            <a:r>
              <a:rPr lang="en-AU" sz="2400" dirty="0" smtClean="0"/>
              <a:t> of the matrix which is always stated as rows x columns.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208512" y="2936303"/>
                <a:ext cx="3147465" cy="10955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AU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8512" y="2936303"/>
                <a:ext cx="3147465" cy="10955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/>
          <p:cNvSpPr/>
          <p:nvPr/>
        </p:nvSpPr>
        <p:spPr>
          <a:xfrm>
            <a:off x="4560641" y="2936303"/>
            <a:ext cx="2481943" cy="613386"/>
          </a:xfrm>
          <a:prstGeom prst="round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7355977" y="2899306"/>
            <a:ext cx="28908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>
                <a:solidFill>
                  <a:srgbClr val="00B050"/>
                </a:solidFill>
              </a:rPr>
              <a:t>Row 1</a:t>
            </a:r>
            <a:endParaRPr lang="en-AU" sz="3200" b="1" dirty="0">
              <a:solidFill>
                <a:srgbClr val="00B050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0066" y="2936303"/>
            <a:ext cx="584989" cy="1132553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961629" y="4148102"/>
            <a:ext cx="18253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>
                <a:solidFill>
                  <a:srgbClr val="FF0000"/>
                </a:solidFill>
              </a:rPr>
              <a:t>Column 2</a:t>
            </a:r>
            <a:endParaRPr lang="en-AU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086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2" grpId="0"/>
      <p:bldP spid="3" grpId="0" animBg="1"/>
      <p:bldP spid="9" grpId="0"/>
      <p:bldP spid="22" grpId="0" animBg="1"/>
      <p:bldP spid="2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8783" y="723667"/>
            <a:ext cx="1141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matrix can have any dimensions, however: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0" y="0"/>
            <a:ext cx="477646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/>
              <a:t>6</a:t>
            </a:r>
            <a:r>
              <a:rPr lang="en-AU" sz="2400" dirty="0" smtClean="0"/>
              <a:t> VOCABULARY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218782" y="1733672"/>
            <a:ext cx="1141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If the number of rows an columns are equal this is called a </a:t>
            </a:r>
            <a:r>
              <a:rPr lang="en-AU" sz="2400" b="1" u="sng" dirty="0" smtClean="0"/>
              <a:t>square matrix</a:t>
            </a:r>
            <a:endParaRPr lang="en-AU" sz="2400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124542" y="2567135"/>
                <a:ext cx="3612271" cy="7668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AU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AU" dirty="0" smtClean="0"/>
                  <a:t>    </a:t>
                </a:r>
                <a:r>
                  <a:rPr lang="en-AU" sz="2400" dirty="0" smtClean="0"/>
                  <a:t>2 x 2 square matrix</a:t>
                </a:r>
                <a:endParaRPr lang="en-AU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542" y="2567135"/>
                <a:ext cx="3612271" cy="766877"/>
              </a:xfrm>
              <a:prstGeom prst="rect">
                <a:avLst/>
              </a:prstGeom>
              <a:blipFill>
                <a:blip r:embed="rId2"/>
                <a:stretch>
                  <a:fillRect r="-4216" b="-7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780788" y="2567135"/>
                <a:ext cx="4184479" cy="11394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AU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AU" dirty="0" smtClean="0"/>
                  <a:t>    </a:t>
                </a:r>
                <a:r>
                  <a:rPr lang="en-AU" sz="2400" dirty="0"/>
                  <a:t>3</a:t>
                </a:r>
                <a:r>
                  <a:rPr lang="en-AU" sz="2400" dirty="0" smtClean="0"/>
                  <a:t> x 3 square matrix</a:t>
                </a:r>
                <a:endParaRPr lang="en-AU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0788" y="2567135"/>
                <a:ext cx="4184479" cy="1139414"/>
              </a:xfrm>
              <a:prstGeom prst="rect">
                <a:avLst/>
              </a:prstGeom>
              <a:blipFill>
                <a:blip r:embed="rId3"/>
                <a:stretch>
                  <a:fillRect r="-34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38322" y="4078347"/>
            <a:ext cx="41894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</a:t>
            </a:r>
            <a:r>
              <a:rPr lang="en-AU" sz="2400" b="1" u="sng" dirty="0" smtClean="0"/>
              <a:t>row matrix</a:t>
            </a:r>
            <a:r>
              <a:rPr lang="en-AU" sz="2400" dirty="0" smtClean="0"/>
              <a:t> has only one row</a:t>
            </a:r>
            <a:endParaRPr lang="en-AU" sz="2400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98850" y="4556128"/>
                <a:ext cx="3225627" cy="4209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AU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AU" dirty="0" smtClean="0"/>
                  <a:t>    </a:t>
                </a:r>
                <a:r>
                  <a:rPr lang="en-AU" sz="2400" dirty="0"/>
                  <a:t>1</a:t>
                </a:r>
                <a:r>
                  <a:rPr lang="en-AU" sz="2400" dirty="0" smtClean="0"/>
                  <a:t> x 2 row matrix</a:t>
                </a:r>
                <a:endParaRPr lang="en-AU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850" y="4556128"/>
                <a:ext cx="3225627" cy="420949"/>
              </a:xfrm>
              <a:prstGeom prst="rect">
                <a:avLst/>
              </a:prstGeom>
              <a:blipFill>
                <a:blip r:embed="rId4"/>
                <a:stretch>
                  <a:fillRect t="-10145" r="-4915" b="-434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98850" y="5391070"/>
                <a:ext cx="4296433" cy="4209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AU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    </m:t>
                        </m:r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AU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AU" dirty="0" smtClean="0"/>
                  <a:t>    </a:t>
                </a:r>
                <a:r>
                  <a:rPr lang="en-AU" sz="2400" dirty="0"/>
                  <a:t>1</a:t>
                </a:r>
                <a:r>
                  <a:rPr lang="en-AU" sz="2400" dirty="0" smtClean="0"/>
                  <a:t> x 4 row matrix</a:t>
                </a:r>
                <a:endParaRPr lang="en-AU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850" y="5391070"/>
                <a:ext cx="4296433" cy="420949"/>
              </a:xfrm>
              <a:prstGeom prst="rect">
                <a:avLst/>
              </a:prstGeom>
              <a:blipFill>
                <a:blip r:embed="rId5"/>
                <a:stretch>
                  <a:fillRect t="-10145" r="-3404" b="-434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336433" y="4766602"/>
                <a:ext cx="3134448" cy="7668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AU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AU" dirty="0" smtClean="0"/>
                  <a:t>    </a:t>
                </a:r>
                <a:r>
                  <a:rPr lang="en-AU" sz="2400" dirty="0" smtClean="0"/>
                  <a:t>2 x 1 column matrix</a:t>
                </a:r>
                <a:endParaRPr lang="en-AU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6433" y="4766602"/>
                <a:ext cx="3134448" cy="766877"/>
              </a:xfrm>
              <a:prstGeom prst="rect">
                <a:avLst/>
              </a:prstGeom>
              <a:blipFill>
                <a:blip r:embed="rId6"/>
                <a:stretch>
                  <a:fillRect r="-504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197047" y="5391070"/>
                <a:ext cx="3230984" cy="10061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AU" sz="2400" dirty="0"/>
                  <a:t>3</a:t>
                </a:r>
                <a:r>
                  <a:rPr lang="en-AU" sz="2400" dirty="0" smtClean="0"/>
                  <a:t> x 1 column matrix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047" y="5391070"/>
                <a:ext cx="3230984" cy="1006109"/>
              </a:xfrm>
              <a:prstGeom prst="rect">
                <a:avLst/>
              </a:prstGeom>
              <a:blipFill>
                <a:blip r:embed="rId7"/>
                <a:stretch>
                  <a:fillRect l="-584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5926769" y="4150232"/>
            <a:ext cx="5335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</a:t>
            </a:r>
            <a:r>
              <a:rPr lang="en-AU" sz="2400" b="1" u="sng" dirty="0" smtClean="0"/>
              <a:t>column matrix</a:t>
            </a:r>
            <a:r>
              <a:rPr lang="en-AU" sz="2400" dirty="0" smtClean="0"/>
              <a:t> has only one column</a:t>
            </a:r>
            <a:endParaRPr lang="en-AU" sz="2400" u="sng" dirty="0"/>
          </a:p>
        </p:txBody>
      </p:sp>
    </p:spTree>
    <p:extLst>
      <p:ext uri="{BB962C8B-B14F-4D97-AF65-F5344CB8AC3E}">
        <p14:creationId xmlns:p14="http://schemas.microsoft.com/office/powerpoint/2010/main" val="2705412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2" grpId="0"/>
      <p:bldP spid="10" grpId="0"/>
      <p:bldP spid="11" grpId="0"/>
      <p:bldP spid="12" grpId="0"/>
      <p:bldP spid="13" grpId="0"/>
      <p:bldP spid="16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8783" y="723667"/>
            <a:ext cx="11415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square matrix that has zeros in all spaces apart from the leading diagonal is called a</a:t>
            </a:r>
            <a:r>
              <a:rPr lang="en-AU" sz="2400" b="1" u="sng" dirty="0" smtClean="0"/>
              <a:t> diagonal matrix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0" y="0"/>
            <a:ext cx="477646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/>
              <a:t>6</a:t>
            </a:r>
            <a:r>
              <a:rPr lang="en-AU" sz="2400" dirty="0" smtClean="0"/>
              <a:t> VOCABULARY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218782" y="1733672"/>
            <a:ext cx="1141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 leading diagonal is from top left to bottom right along the diagonal.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208512" y="2936303"/>
                <a:ext cx="2401747" cy="16278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AU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4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8512" y="2936303"/>
                <a:ext cx="2401747" cy="16278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>
            <a:off x="4464089" y="3055573"/>
            <a:ext cx="1766326" cy="135172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610259" y="4194789"/>
            <a:ext cx="2863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Leading Diagonal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3244" y="5077475"/>
            <a:ext cx="102855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All other elements are zero therefore this is a diagonal matrix (Numbers only on the diagonal).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01931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2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8783" y="723667"/>
            <a:ext cx="11415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Matrices are usually labelled with capital letters as shown below with matrix A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0" y="0"/>
            <a:ext cx="477646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/>
              <a:t>6</a:t>
            </a:r>
            <a:r>
              <a:rPr lang="en-AU" sz="2400" dirty="0" smtClean="0"/>
              <a:t> VOCABULARY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218782" y="1733672"/>
            <a:ext cx="11415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To locate a number within the matrix, the corresponding lower case letter is used with subscripted numbers indicating the row and column.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629203" y="4310743"/>
                <a:ext cx="2837765" cy="1640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4000" dirty="0" smtClean="0"/>
                  <a:t>A=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AU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9203" y="4310743"/>
                <a:ext cx="2837765" cy="1640321"/>
              </a:xfrm>
              <a:prstGeom prst="rect">
                <a:avLst/>
              </a:prstGeom>
              <a:blipFill>
                <a:blip r:embed="rId2"/>
                <a:stretch>
                  <a:fillRect l="-107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78079" y="2772075"/>
                <a:ext cx="114159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</m:oMath>
                </a14:m>
                <a:r>
                  <a:rPr lang="en-AU" sz="2400" dirty="0" smtClean="0"/>
                  <a:t> refers to the element located in Matrix A, row 3 and column 2</a:t>
                </a:r>
                <a:endParaRPr lang="en-A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79" y="2772075"/>
                <a:ext cx="11415975" cy="461665"/>
              </a:xfrm>
              <a:prstGeom prst="rect">
                <a:avLst/>
              </a:prstGeom>
              <a:blipFill>
                <a:blip r:embed="rId3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/>
          <p:cNvSpPr/>
          <p:nvPr/>
        </p:nvSpPr>
        <p:spPr>
          <a:xfrm>
            <a:off x="4996969" y="5418246"/>
            <a:ext cx="637098" cy="68722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44002" y="3495742"/>
                <a:ext cx="114159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AU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</m:oMath>
                </a14:m>
                <a:r>
                  <a:rPr lang="en-AU" sz="2400" dirty="0" smtClean="0"/>
                  <a:t> refers to the element located in Matrix A, row 1 and column 3</a:t>
                </a:r>
                <a:endParaRPr lang="en-AU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02" y="3495742"/>
                <a:ext cx="11415975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/>
          <p:cNvSpPr/>
          <p:nvPr/>
        </p:nvSpPr>
        <p:spPr>
          <a:xfrm>
            <a:off x="5785473" y="4219409"/>
            <a:ext cx="637098" cy="687220"/>
          </a:xfrm>
          <a:prstGeom prst="ellipse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814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2" grpId="0"/>
      <p:bldP spid="9" grpId="0"/>
      <p:bldP spid="3" grpId="0" animBg="1"/>
      <p:bldP spid="11" grpId="0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8783" y="723667"/>
            <a:ext cx="11415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Matrices can be added or subtracted together by adding or subtracting corresponding elements. 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-1" y="0"/>
            <a:ext cx="581581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/>
              <a:t>6</a:t>
            </a:r>
            <a:r>
              <a:rPr lang="en-AU" sz="2400" dirty="0" smtClean="0"/>
              <a:t> SKILL DEVELOPMENT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993506" y="1554664"/>
                <a:ext cx="2020553" cy="10955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4000" dirty="0" smtClean="0"/>
                  <a:t>A=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AU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506" y="1554664"/>
                <a:ext cx="2020553" cy="1095556"/>
              </a:xfrm>
              <a:prstGeom prst="rect">
                <a:avLst/>
              </a:prstGeom>
              <a:blipFill>
                <a:blip r:embed="rId2"/>
                <a:stretch>
                  <a:fillRect l="-15106"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778505" y="1554664"/>
                <a:ext cx="2386038" cy="10955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4000" dirty="0"/>
                  <a:t>B</a:t>
                </a:r>
                <a:r>
                  <a:rPr lang="en-AU" sz="4000" dirty="0" smtClean="0"/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AU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505" y="1554664"/>
                <a:ext cx="2386038" cy="1095556"/>
              </a:xfrm>
              <a:prstGeom prst="rect">
                <a:avLst/>
              </a:prstGeom>
              <a:blipFill>
                <a:blip r:embed="rId3"/>
                <a:stretch>
                  <a:fillRect l="-13043"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68776" y="2964596"/>
                <a:ext cx="3288432" cy="3322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3200" dirty="0" smtClean="0"/>
                  <a:t>A + B</a:t>
                </a:r>
              </a:p>
              <a:p>
                <a:pPr algn="ctr"/>
                <a:endParaRPr lang="en-AU" sz="3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+(−1)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1+0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0+0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4+5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3200" dirty="0" smtClean="0"/>
              </a:p>
              <a:p>
                <a:pPr algn="ctr"/>
                <a:endParaRPr lang="en-AU" sz="3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776" y="2964596"/>
                <a:ext cx="3288432" cy="3322576"/>
              </a:xfrm>
              <a:prstGeom prst="rect">
                <a:avLst/>
              </a:prstGeom>
              <a:blipFill>
                <a:blip r:embed="rId4"/>
                <a:stretch>
                  <a:fillRect l="-5926" t="-2385" r="-25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066806" y="2867097"/>
                <a:ext cx="3288432" cy="3322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3200" dirty="0" smtClean="0"/>
                  <a:t>A - B</a:t>
                </a:r>
              </a:p>
              <a:p>
                <a:pPr algn="ctr"/>
                <a:endParaRPr lang="en-AU" sz="3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−(−1)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1−0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0−0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4−5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3200" dirty="0" smtClean="0"/>
              </a:p>
              <a:p>
                <a:pPr algn="ctr"/>
                <a:endParaRPr lang="en-AU" sz="3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6806" y="2867097"/>
                <a:ext cx="3288432" cy="3322576"/>
              </a:xfrm>
              <a:prstGeom prst="rect">
                <a:avLst/>
              </a:prstGeom>
              <a:blipFill>
                <a:blip r:embed="rId5"/>
                <a:stretch>
                  <a:fillRect l="-5926" t="-2385" r="-25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8488313" y="1641376"/>
            <a:ext cx="31464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**Only matrices of the same size can be added/subtracted together.</a:t>
            </a:r>
            <a:endParaRPr lang="en-AU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765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10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8783" y="723667"/>
            <a:ext cx="11415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Matrices can also multiplied by a coefficient or number by multiplying each term in the matrix by this value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-1" y="0"/>
            <a:ext cx="581581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/>
              <a:t>6</a:t>
            </a:r>
            <a:r>
              <a:rPr lang="en-AU" sz="2400" dirty="0" smtClean="0"/>
              <a:t> SKILL DEVELOPMENT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993506" y="1554664"/>
                <a:ext cx="2020553" cy="10955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4000" dirty="0" smtClean="0"/>
                  <a:t>A=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AU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506" y="1554664"/>
                <a:ext cx="2020553" cy="1095556"/>
              </a:xfrm>
              <a:prstGeom prst="rect">
                <a:avLst/>
              </a:prstGeom>
              <a:blipFill>
                <a:blip r:embed="rId2"/>
                <a:stretch>
                  <a:fillRect l="-15106"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778505" y="1554664"/>
                <a:ext cx="2386038" cy="10955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4000" dirty="0"/>
                  <a:t>B</a:t>
                </a:r>
                <a:r>
                  <a:rPr lang="en-AU" sz="4000" dirty="0" smtClean="0"/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AU" sz="4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4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505" y="1554664"/>
                <a:ext cx="2386038" cy="1095556"/>
              </a:xfrm>
              <a:prstGeom prst="rect">
                <a:avLst/>
              </a:prstGeom>
              <a:blipFill>
                <a:blip r:embed="rId3"/>
                <a:stretch>
                  <a:fillRect l="-13043"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68776" y="2964596"/>
                <a:ext cx="3288432" cy="3322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3200" dirty="0" smtClean="0"/>
                  <a:t>2A</a:t>
                </a:r>
              </a:p>
              <a:p>
                <a:pPr algn="ctr"/>
                <a:endParaRPr lang="en-AU" sz="3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3200" dirty="0" smtClean="0"/>
              </a:p>
              <a:p>
                <a:pPr algn="ctr"/>
                <a:endParaRPr lang="en-AU" sz="3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776" y="2964596"/>
                <a:ext cx="3288432" cy="3322576"/>
              </a:xfrm>
              <a:prstGeom prst="rect">
                <a:avLst/>
              </a:prstGeom>
              <a:blipFill>
                <a:blip r:embed="rId4"/>
                <a:stretch>
                  <a:fillRect t="-23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066806" y="2867097"/>
                <a:ext cx="3288432" cy="3322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3200" dirty="0" smtClean="0"/>
                  <a:t>-10B</a:t>
                </a:r>
              </a:p>
              <a:p>
                <a:pPr algn="ctr"/>
                <a:endParaRPr lang="en-AU" sz="3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×−1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  <m:r>
                                  <a:rPr lang="en-AU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−10</m:t>
                                </m:r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3200" dirty="0" smtClean="0"/>
              </a:p>
              <a:p>
                <a:pPr algn="ctr"/>
                <a:endParaRPr lang="en-AU" sz="3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latin typeface="Cambria Math" panose="02040503050406030204" pitchFamily="18" charset="0"/>
                                  </a:rPr>
                                  <m:t>−50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6806" y="2867097"/>
                <a:ext cx="3288432" cy="3322576"/>
              </a:xfrm>
              <a:prstGeom prst="rect">
                <a:avLst/>
              </a:prstGeom>
              <a:blipFill>
                <a:blip r:embed="rId5"/>
                <a:stretch>
                  <a:fillRect l="-16481" t="-2385" r="-131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7880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18783" y="723667"/>
                <a:ext cx="11415975" cy="1857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If A=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AU" sz="2400" dirty="0" smtClean="0"/>
                  <a:t>, B=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AU" sz="2400" dirty="0" smtClean="0"/>
                  <a:t>and C=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AU" sz="2400" dirty="0" smtClean="0"/>
                  <a:t>determine each of the following.</a:t>
                </a:r>
              </a:p>
              <a:p>
                <a:r>
                  <a:rPr lang="en-AU" sz="2400" dirty="0" smtClean="0"/>
                  <a:t>If any cannot be determined, state this and clearly give the reason.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a) A+B			b) A+C			c) B-A		d) 5C		e) 3B-2A</a:t>
                </a:r>
                <a:endParaRPr lang="en-AU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83" y="723667"/>
                <a:ext cx="11415975" cy="1857624"/>
              </a:xfrm>
              <a:prstGeom prst="rect">
                <a:avLst/>
              </a:prstGeom>
              <a:blipFill>
                <a:blip r:embed="rId2"/>
                <a:stretch>
                  <a:fillRect l="-854" b="-69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-1" y="0"/>
            <a:ext cx="581581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/>
              <a:t>6</a:t>
            </a:r>
            <a:r>
              <a:rPr lang="en-AU" sz="2400" dirty="0" smtClean="0"/>
              <a:t> EXAMPLE 1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2426" y="2782851"/>
                <a:ext cx="5623384" cy="2557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dirty="0" smtClean="0"/>
                  <a:t>a)</a:t>
                </a:r>
                <a14:m>
                  <m:oMath xmlns:m="http://schemas.openxmlformats.org/officeDocument/2006/math">
                    <m:r>
                      <a:rPr lang="en-AU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AU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AU" sz="3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2+5</m:t>
                              </m:r>
                            </m:e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4+(−2)</m:t>
                              </m:r>
                            </m:e>
                          </m:mr>
                          <m:mr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0+1</m:t>
                              </m:r>
                            </m:e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−4+0</m:t>
                              </m:r>
                            </m:e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5+(−2)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sz="3200" dirty="0" smtClean="0"/>
              </a:p>
              <a:p>
                <a:endParaRPr lang="en-AU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26" y="2782851"/>
                <a:ext cx="5623384" cy="2557110"/>
              </a:xfrm>
              <a:prstGeom prst="rect">
                <a:avLst/>
              </a:prstGeom>
              <a:blipFill>
                <a:blip r:embed="rId3"/>
                <a:stretch>
                  <a:fillRect l="-28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064086" y="2843293"/>
                <a:ext cx="5623384" cy="23797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dirty="0" smtClean="0"/>
                  <a:t>a)</a:t>
                </a:r>
                <a14:m>
                  <m:oMath xmlns:m="http://schemas.openxmlformats.org/officeDocument/2006/math">
                    <m:r>
                      <a:rPr lang="en-AU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AU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AU" sz="3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5−2</m:t>
                              </m:r>
                            </m:e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−2−4</m:t>
                              </m:r>
                            </m:e>
                          </m:mr>
                          <m:mr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1−0</m:t>
                              </m:r>
                            </m:e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0−(−4)</m:t>
                              </m:r>
                            </m:e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−2−5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sz="3200" dirty="0" smtClean="0"/>
              </a:p>
              <a:p>
                <a:endParaRPr lang="en-AU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−6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32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086" y="2843293"/>
                <a:ext cx="5623384" cy="2379754"/>
              </a:xfrm>
              <a:prstGeom prst="rect">
                <a:avLst/>
              </a:prstGeom>
              <a:blipFill>
                <a:blip r:embed="rId4"/>
                <a:stretch>
                  <a:fillRect l="-28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18783" y="5860196"/>
            <a:ext cx="116854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rgbClr val="FF0000"/>
                </a:solidFill>
              </a:rPr>
              <a:t>b</a:t>
            </a:r>
            <a:r>
              <a:rPr lang="en-AU" sz="3200" dirty="0" smtClean="0">
                <a:solidFill>
                  <a:srgbClr val="FF0000"/>
                </a:solidFill>
              </a:rPr>
              <a:t>) A and C are different dimensions and therefore cannot be determined</a:t>
            </a:r>
            <a:endParaRPr lang="en-AU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901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18783" y="723667"/>
                <a:ext cx="11415975" cy="1857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If A=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AU" sz="2400" dirty="0" smtClean="0"/>
                  <a:t>, B=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AU" sz="2400" dirty="0" smtClean="0"/>
                  <a:t>and C=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AU" sz="2400" dirty="0" smtClean="0"/>
                  <a:t>determine each of the following.</a:t>
                </a:r>
              </a:p>
              <a:p>
                <a:r>
                  <a:rPr lang="en-AU" sz="2400" dirty="0" smtClean="0"/>
                  <a:t>If any cannot be determined, state this and clearly give the reason.</a:t>
                </a:r>
              </a:p>
              <a:p>
                <a:endParaRPr lang="en-AU" sz="2400" dirty="0"/>
              </a:p>
              <a:p>
                <a:r>
                  <a:rPr lang="en-AU" sz="2400" dirty="0" smtClean="0"/>
                  <a:t>a) A+B			b) A+C			c) B-A		d) 5C		e) 3B-2A</a:t>
                </a:r>
                <a:endParaRPr lang="en-AU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83" y="723667"/>
                <a:ext cx="11415975" cy="1857624"/>
              </a:xfrm>
              <a:prstGeom prst="rect">
                <a:avLst/>
              </a:prstGeom>
              <a:blipFill>
                <a:blip r:embed="rId2"/>
                <a:stretch>
                  <a:fillRect l="-854" b="-69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-1" y="0"/>
            <a:ext cx="581581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</a:t>
            </a:r>
            <a:r>
              <a:rPr lang="en-AU" sz="2400" dirty="0"/>
              <a:t>6</a:t>
            </a:r>
            <a:r>
              <a:rPr lang="en-AU" sz="2400" dirty="0" smtClean="0"/>
              <a:t> EXAMPLE 1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2426" y="2782851"/>
                <a:ext cx="5623384" cy="2337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dirty="0"/>
                  <a:t>d</a:t>
                </a:r>
                <a:r>
                  <a:rPr lang="en-AU" sz="3200" dirty="0" smtClean="0"/>
                  <a:t>)</a:t>
                </a:r>
                <a14:m>
                  <m:oMath xmlns:m="http://schemas.openxmlformats.org/officeDocument/2006/math">
                    <m:r>
                      <a:rPr lang="en-AU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 5</m:t>
                    </m:r>
                    <m:r>
                      <a:rPr lang="en-AU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AU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AU" sz="3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sz="3200" dirty="0" smtClean="0"/>
              </a:p>
              <a:p>
                <a:endParaRPr lang="en-AU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AU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−25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26" y="2782851"/>
                <a:ext cx="5623384" cy="2337691"/>
              </a:xfrm>
              <a:prstGeom prst="rect">
                <a:avLst/>
              </a:prstGeom>
              <a:blipFill>
                <a:blip r:embed="rId3"/>
                <a:stretch>
                  <a:fillRect l="-28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64696" y="2740788"/>
                <a:ext cx="6839745" cy="2337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dirty="0" smtClean="0"/>
                  <a:t>e)</a:t>
                </a:r>
                <a14:m>
                  <m:oMath xmlns:m="http://schemas.openxmlformats.org/officeDocument/2006/math">
                    <m:r>
                      <a:rPr lang="en-AU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AU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AU" sz="3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e>
                          </m:mr>
                          <m:mr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e>
                          </m:mr>
                        </m:m>
                      </m:e>
                    </m:d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AU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AU" sz="32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e>
                            <m:e>
                              <m:r>
                                <a:rPr lang="en-AU" sz="32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sz="3200" dirty="0" smtClean="0"/>
              </a:p>
              <a:p>
                <a:endParaRPr lang="en-AU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AU" sz="3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AU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−14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AU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−16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696" y="2740788"/>
                <a:ext cx="6839745" cy="2337691"/>
              </a:xfrm>
              <a:prstGeom prst="rect">
                <a:avLst/>
              </a:prstGeom>
              <a:blipFill>
                <a:blip r:embed="rId4"/>
                <a:stretch>
                  <a:fillRect l="-23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087480" y="60442"/>
            <a:ext cx="2017172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Now Try Ex 6A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725084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1068</Words>
  <Application>Microsoft Office PowerPoint</Application>
  <PresentationFormat>Widescreen</PresentationFormat>
  <Paragraphs>82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STEDMAN Shaun [Harrisdale Senior High School]</dc:creator>
  <cp:lastModifiedBy>STEDMAN Shaun [Harrisdale Senior High School]</cp:lastModifiedBy>
  <cp:revision>14</cp:revision>
  <dcterms:created xsi:type="dcterms:W3CDTF">2021-01-30T00:38:42Z</dcterms:created>
  <dcterms:modified xsi:type="dcterms:W3CDTF">2021-03-17T02:02:09Z</dcterms:modified>
</cp:coreProperties>
</file>
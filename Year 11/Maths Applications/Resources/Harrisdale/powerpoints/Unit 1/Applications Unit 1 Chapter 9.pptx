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8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92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60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05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6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91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5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9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26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90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20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55F1D-0104-402B-A88B-F3F388DC0D07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0A6C1-75A8-4E70-A0AC-EEBBE80CF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6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Assumed Knowledge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As mentioned at the beginning of </a:t>
            </a:r>
            <a:r>
              <a:rPr lang="en-AU" sz="2400" dirty="0" err="1" smtClean="0"/>
              <a:t>Ch</a:t>
            </a:r>
            <a:r>
              <a:rPr lang="en-AU" sz="2400" dirty="0" smtClean="0"/>
              <a:t> 8 there is some assumed knowledge for Measurement. In addition to this, the following Volume and Surface Area formulas are given to you: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70" y="2040895"/>
            <a:ext cx="7161321" cy="4584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05936" y="2803902"/>
            <a:ext cx="3482482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Surface Area for Prisms and Pyramids is not given and will need to be calculated by calculating the area of each side.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0481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VOCABULARY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</a:t>
            </a:r>
            <a:r>
              <a:rPr lang="en-AU" sz="2400" b="1" dirty="0"/>
              <a:t> </a:t>
            </a:r>
            <a:r>
              <a:rPr lang="en-AU" sz="2400" b="1" u="sng" dirty="0" smtClean="0"/>
              <a:t>prism </a:t>
            </a:r>
            <a:r>
              <a:rPr lang="en-AU" sz="2400" dirty="0" smtClean="0"/>
              <a:t>is a three dimensional shape with all of its faces polygons and with the same shape cross section all along its length. 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40770" y="1759699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They are named according to their uniform cross-section and all faces connecting the ‘bases’ or ‘ends’ of the prism will be rectangular.</a:t>
            </a:r>
            <a:endParaRPr lang="en-AU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37" y="2590696"/>
            <a:ext cx="8107580" cy="25489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0770" y="5200532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Notable exceptions to this are cubes, which are special square prisms and a Cylinder which is thought of as a circular prism, but does not technically have polygon faces.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955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VOCABULARY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</a:t>
            </a:r>
            <a:r>
              <a:rPr lang="en-AU" sz="2400" b="1" dirty="0"/>
              <a:t> </a:t>
            </a:r>
            <a:r>
              <a:rPr lang="en-AU" sz="2400" b="1" u="sng" dirty="0" smtClean="0"/>
              <a:t>pyramid </a:t>
            </a:r>
            <a:r>
              <a:rPr lang="en-AU" sz="2400" dirty="0" smtClean="0"/>
              <a:t>is a three dimensional shape that has a polygon as its base and all the sides meeting at a point, sometimes referred to as the apex.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40770" y="1759699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They are named according to their base shape and all faces connecting the base to the apex will be triangles.</a:t>
            </a:r>
            <a:endParaRPr lang="en-AU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40770" y="5200532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Again a notable exception to this is a Cone which is thought of as a circular based pyramid, but does not have a polygon as the base.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49" y="2537555"/>
            <a:ext cx="106299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6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Skill Development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As they are Special three dimensional shapes we tend to just use the formula developed for Cones and Spheres.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2297" y="1806411"/>
            <a:ext cx="3306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a solid cone with base ‘r’ and slant height ‘l’ we use the following:</a:t>
            </a:r>
            <a:endParaRPr lang="en-AU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167" y="1596950"/>
            <a:ext cx="1676400" cy="1619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83417" y="3492894"/>
                <a:ext cx="31130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𝐶𝑢𝑟𝑣𝑒𝑑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𝑆𝑢𝑟𝑓𝑎𝑐𝑒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𝑟𝑙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17" y="3492894"/>
                <a:ext cx="3113032" cy="369332"/>
              </a:xfrm>
              <a:prstGeom prst="rect">
                <a:avLst/>
              </a:prstGeom>
              <a:blipFill>
                <a:blip r:embed="rId3"/>
                <a:stretch>
                  <a:fillRect l="-2157" r="-1961" b="-327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3417" y="4055165"/>
                <a:ext cx="4186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Surface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Area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𝑟𝑙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17" y="4055165"/>
                <a:ext cx="4186274" cy="369332"/>
              </a:xfrm>
              <a:prstGeom prst="rect">
                <a:avLst/>
              </a:prstGeom>
              <a:blipFill>
                <a:blip r:embed="rId4"/>
                <a:stretch>
                  <a:fillRect l="-1312" r="-292"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52129" y="4536977"/>
            <a:ext cx="5338733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Note that your formula sheet uses ‘s’ instead of ‘l’ but both refer to the slant height.</a:t>
            </a:r>
            <a:endParaRPr lang="en-AU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92" y="5728679"/>
            <a:ext cx="6002951" cy="5027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5248" y="1806411"/>
            <a:ext cx="33064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Sphere is a ‘ball’ and uses the formula below, ‘r’ being the radius of the ball/sphere: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96509" y="3685833"/>
                <a:ext cx="35507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Surface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Area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509" y="3685833"/>
                <a:ext cx="3550780" cy="369332"/>
              </a:xfrm>
              <a:prstGeom prst="rect">
                <a:avLst/>
              </a:prstGeom>
              <a:blipFill>
                <a:blip r:embed="rId6"/>
                <a:stretch>
                  <a:fillRect l="-1718" t="-1667" r="-344" b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2338" y="1473125"/>
            <a:ext cx="200025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236" y="1043764"/>
            <a:ext cx="2743200" cy="19511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896" y="1385798"/>
            <a:ext cx="2843207" cy="15282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1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surface area of each of the following solid bodies:</a:t>
            </a:r>
          </a:p>
          <a:p>
            <a:endParaRPr lang="en-AU" sz="2400" dirty="0"/>
          </a:p>
          <a:p>
            <a:r>
              <a:rPr lang="en-AU" sz="2400" dirty="0" smtClean="0"/>
              <a:t>a) Triangular Prism					b) Trapezoidal Prism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7423" y="3413149"/>
                <a:ext cx="5940761" cy="2285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𝒕𝒓𝒊𝒂𝒏𝒈𝒖𝒍𝒂𝒓</m:t>
                          </m:r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𝒃𝒂𝒔𝒆𝒔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𝟑𝟖𝟒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𝑹𝒆𝒄𝒕𝒂𝒏𝒈𝒍𝒆𝒔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𝟐𝟓𝟔𝟎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𝑺𝒖𝒓𝒇𝒂𝒄𝒆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𝑨𝒓𝒆𝒂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𝟑𝟖𝟒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𝟐𝟓𝟔𝟎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𝟐𝟗𝟒𝟒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Total Surface Area of the Triangular Prism is </a:t>
                </a:r>
                <a14:m>
                  <m:oMath xmlns:m="http://schemas.openxmlformats.org/officeDocument/2006/math">
                    <m:r>
                      <a:rPr lang="en-AU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𝟐𝟗𝟒𝟒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23" y="3413149"/>
                <a:ext cx="5940761" cy="2285369"/>
              </a:xfrm>
              <a:prstGeom prst="rect">
                <a:avLst/>
              </a:prstGeom>
              <a:blipFill>
                <a:blip r:embed="rId4"/>
                <a:stretch>
                  <a:fillRect l="-924" b="-34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51239" y="3332689"/>
                <a:ext cx="5940761" cy="2285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𝒕𝒓𝒂𝒑𝒆𝒛𝒐𝒊𝒅𝒂𝒍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𝒃𝒂𝒔𝒆𝒔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𝟓𝟔</m:t>
                      </m:r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𝑹𝒆𝒄𝒕𝒂𝒏𝒈𝒍𝒆𝒔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𝟏𝟗𝟐</m:t>
                      </m:r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𝑺𝒖𝒓𝒇𝒂𝒄𝒆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𝑨𝒓𝒆𝒂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𝟓𝟔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𝟏𝟗𝟐</m:t>
                      </m:r>
                      <m:r>
                        <a:rPr lang="en-AU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𝟐𝟒𝟖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The Total Surface Area of the Trapezoidal Prism is </a:t>
                </a:r>
                <a14:m>
                  <m:oMath xmlns:m="http://schemas.openxmlformats.org/officeDocument/2006/math">
                    <m:r>
                      <a:rPr lang="en-AU" b="1" i="0" u="sng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𝟐𝟒𝟖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239" y="3332689"/>
                <a:ext cx="5940761" cy="2285369"/>
              </a:xfrm>
              <a:prstGeom prst="rect">
                <a:avLst/>
              </a:prstGeom>
              <a:blipFill>
                <a:blip r:embed="rId5"/>
                <a:stretch>
                  <a:fillRect l="-821" b="-34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84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2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surface area of each of the following solid bodies:</a:t>
            </a:r>
          </a:p>
          <a:p>
            <a:endParaRPr lang="en-AU" sz="2400" dirty="0"/>
          </a:p>
          <a:p>
            <a:r>
              <a:rPr lang="en-AU" sz="2400" dirty="0" smtClean="0"/>
              <a:t>a) Cylinder					b) Hemisphere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7423" y="3413149"/>
                <a:ext cx="5940761" cy="2110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𝒕𝒘𝒐</m:t>
                          </m:r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𝒄𝒊𝒓𝒄𝒍𝒆𝒔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𝑹𝒆𝒄𝒕𝒂𝒏𝒈𝒍𝒆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𝑻𝑺𝑨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Total Surface Area of the Cylinder is </a:t>
                </a:r>
                <a14:m>
                  <m:oMath xmlns:m="http://schemas.openxmlformats.org/officeDocument/2006/math">
                    <m:r>
                      <a:rPr lang="en-AU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𝟗𝟒𝟐</m:t>
                    </m:r>
                    <m:r>
                      <a:rPr lang="en-AU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23" y="3413149"/>
                <a:ext cx="5940761" cy="2110578"/>
              </a:xfrm>
              <a:prstGeom prst="rect">
                <a:avLst/>
              </a:prstGeom>
              <a:blipFill>
                <a:blip r:embed="rId2"/>
                <a:stretch>
                  <a:fillRect l="-924" b="-8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51239" y="3332689"/>
                <a:ext cx="5940761" cy="2388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𝒄𝒖𝒓𝒗𝒆𝒅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𝒔𝒖𝒓𝒇𝒂𝒄𝒆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𝟐𝟎</m:t>
                              </m:r>
                            </m:e>
                            <m:sup>
                              <m:r>
                                <a:rPr lang="en-AU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𝑪𝒊𝒓𝒄𝒍𝒆</m:t>
                          </m:r>
                        </m:e>
                      </m:d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𝑻𝑺𝑨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n-AU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𝟏𝟐𝟎𝟎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𝟑𝟕𝟕𝟎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The Total Surface Area of the Hemisphere is </a:t>
                </a:r>
                <a14:m>
                  <m:oMath xmlns:m="http://schemas.openxmlformats.org/officeDocument/2006/math">
                    <m:r>
                      <a:rPr lang="en-AU" b="1" i="0" u="sng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𝟑𝟕𝟕𝟎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239" y="3332689"/>
                <a:ext cx="5940761" cy="2388411"/>
              </a:xfrm>
              <a:prstGeom prst="rect">
                <a:avLst/>
              </a:prstGeom>
              <a:blipFill>
                <a:blip r:embed="rId3"/>
                <a:stretch>
                  <a:fillRect l="-821" b="-10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186" y="1218347"/>
            <a:ext cx="1281617" cy="21143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532" y="948477"/>
            <a:ext cx="2601619" cy="20955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879" y="1231421"/>
            <a:ext cx="1681014" cy="21012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4083" y="239477"/>
            <a:ext cx="199776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9A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2084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Skill Development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Volume is the amount of space taken up by a three dimensional shape.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40770" y="1306801"/>
            <a:ext cx="11002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any </a:t>
            </a:r>
            <a:r>
              <a:rPr lang="en-AU" sz="2400" b="1" dirty="0" smtClean="0"/>
              <a:t>prism</a:t>
            </a:r>
            <a:r>
              <a:rPr lang="en-AU" sz="2400" dirty="0" smtClean="0"/>
              <a:t>, we use the formula below, where the cross-section would be the shaded regions of the shown shapes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28853" y="2372205"/>
                <a:ext cx="80239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𝑢𝑛𝑖𝑓𝑜𝑟𝑚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𝑐𝑟𝑜𝑠𝑠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𝑠𝑒𝑐𝑡𝑖𝑜𝑛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𝑙𝑒𝑛𝑔𝑡h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𝑑𝑒𝑝𝑡h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53" y="2372205"/>
                <a:ext cx="8023928" cy="369332"/>
              </a:xfrm>
              <a:prstGeom prst="rect">
                <a:avLst/>
              </a:prstGeom>
              <a:blipFill>
                <a:blip r:embed="rId2"/>
                <a:stretch>
                  <a:fillRect l="-456" r="-836" b="-34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0770" y="4738426"/>
                <a:ext cx="4535216" cy="699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Volume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h𝑒𝑖𝑔h𝑡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70" y="4738426"/>
                <a:ext cx="4535216" cy="6997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161854" y="3749096"/>
            <a:ext cx="4861654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The prism volume formula also applies to these shapes with uniform cross section even when the cross section is not a polygon.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881249" y="5675831"/>
                <a:ext cx="2141740" cy="738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Volume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249" y="5675831"/>
                <a:ext cx="2141740" cy="738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70" y="2827064"/>
            <a:ext cx="4688070" cy="1106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413" y="2854017"/>
            <a:ext cx="5079577" cy="9468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439" y="4134687"/>
            <a:ext cx="5754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any </a:t>
            </a:r>
            <a:r>
              <a:rPr lang="en-AU" sz="2400" b="1" dirty="0" smtClean="0"/>
              <a:t>pyramid</a:t>
            </a:r>
            <a:r>
              <a:rPr lang="en-AU" sz="2400" dirty="0" smtClean="0"/>
              <a:t>, we use the formula below: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78160" y="5841287"/>
            <a:ext cx="5754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a </a:t>
            </a:r>
            <a:r>
              <a:rPr lang="en-AU" sz="2400" b="1" dirty="0" smtClean="0"/>
              <a:t>sphere</a:t>
            </a:r>
            <a:r>
              <a:rPr lang="en-AU" sz="2400" dirty="0" smtClean="0"/>
              <a:t>, we use the formula: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0809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/>
      <p:bldP spid="12" grpId="0" animBg="1"/>
      <p:bldP spid="18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3 &amp; 4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0770" y="732656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volume of the rectangular prism shown: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4988" y="1243578"/>
                <a:ext cx="5940761" cy="210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𝒔𝒉𝒂𝒅𝒆𝒅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𝒓𝒆𝒈𝒊𝒐𝒏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𝒍𝒆𝒏𝒈𝒕𝒉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𝟐𝟎𝟎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Volume of the Rectangular Prism is </a:t>
                </a:r>
                <a14:m>
                  <m:oMath xmlns:m="http://schemas.openxmlformats.org/officeDocument/2006/math">
                    <m:r>
                      <a:rPr lang="en-AU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𝟐𝟎𝟎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88" y="1243578"/>
                <a:ext cx="5940761" cy="2104359"/>
              </a:xfrm>
              <a:prstGeom prst="rect">
                <a:avLst/>
              </a:prstGeom>
              <a:blipFill>
                <a:blip r:embed="rId2"/>
                <a:stretch>
                  <a:fillRect l="-924" b="-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462" y="899106"/>
            <a:ext cx="4524375" cy="2333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0696" y="3543063"/>
            <a:ext cx="112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volume of the rectangular based pyramid shown: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4914" y="4053985"/>
                <a:ext cx="5940761" cy="255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𝒃𝒂𝒔𝒆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𝒂𝒓𝒆𝒂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𝒉𝒆𝒊𝒈𝒉𝒕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𝟑𝟐𝟎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b="1" dirty="0" smtClean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The Volume of the Rectangular based pyramid is </a:t>
                </a:r>
                <a14:m>
                  <m:oMath xmlns:m="http://schemas.openxmlformats.org/officeDocument/2006/math">
                    <m:r>
                      <a:rPr lang="en-AU" b="1" i="0" u="sng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𝟑𝟐𝟎</m:t>
                    </m:r>
                    <m:sSup>
                      <m:sSupPr>
                        <m:ctrlP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b="1" i="1" u="sng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" y="4053985"/>
                <a:ext cx="5940761" cy="2558329"/>
              </a:xfrm>
              <a:prstGeom prst="rect">
                <a:avLst/>
              </a:prstGeom>
              <a:blipFill>
                <a:blip r:embed="rId4"/>
                <a:stretch>
                  <a:fillRect l="-924" b="-19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044" y="4053985"/>
            <a:ext cx="39433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0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</a:t>
            </a:r>
            <a:r>
              <a:rPr lang="en-AU" sz="2400" dirty="0"/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8052" y="737077"/>
            <a:ext cx="11563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volume of a sphere of radius 2.41m giving your answer to the nearest cubic metre: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58210" y="1828567"/>
                <a:ext cx="5940761" cy="3456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sSup>
                            <m:sSupPr>
                              <m:ctrlP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𝟒𝟏</m:t>
                              </m:r>
                            </m:e>
                            <m:sup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𝑻𝑺𝑨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𝟓𝟖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400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Volume of the Sphere is </a:t>
                </a:r>
                <a14:m>
                  <m:oMath xmlns:m="http://schemas.openxmlformats.org/officeDocument/2006/math"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AU" sz="2400" b="1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AU" sz="24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 u="sng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210" y="1828567"/>
                <a:ext cx="5940761" cy="3456716"/>
              </a:xfrm>
              <a:prstGeom prst="rect">
                <a:avLst/>
              </a:prstGeom>
              <a:blipFill>
                <a:blip r:embed="rId2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88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8052" y="737077"/>
                <a:ext cx="115634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Volume is the amount of space a three dimensional shape occupies, </a:t>
                </a:r>
                <a:r>
                  <a:rPr lang="en-AU" sz="2400" b="1" dirty="0" smtClean="0"/>
                  <a:t>capacity </a:t>
                </a:r>
                <a:r>
                  <a:rPr lang="en-AU" sz="2400" dirty="0" smtClean="0"/>
                  <a:t>is the amount a container can hold. They are closely related but volume is usually measured in cubic units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𝑒𝑡𝑐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and capacity is measured in Millilitres, litres etc.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737077"/>
                <a:ext cx="11563468" cy="1200329"/>
              </a:xfrm>
              <a:prstGeom prst="rect">
                <a:avLst/>
              </a:prstGeom>
              <a:blipFill>
                <a:blip r:embed="rId2"/>
                <a:stretch>
                  <a:fillRect l="-791" t="-4061" r="-474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75249" y="2867916"/>
                <a:ext cx="5940761" cy="3522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𝒎𝑳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i="1" dirty="0" smtClean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AU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𝒎𝑳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𝑳𝒊𝒕𝒓𝒆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𝒐𝒇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𝒍𝒊𝒒𝒖𝒊𝒅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𝒐𝒄𝒄𝒖𝒑𝒊𝒆𝒔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𝟏𝟎𝟎𝟎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𝒌𝑳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𝟏𝐤𝐋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𝐨𝐟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𝐥𝐢𝐪𝐮𝐢𝐝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𝐨𝐜𝐜𝐮𝐩𝐢𝐞𝐬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0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249" y="2867916"/>
                <a:ext cx="5940761" cy="3522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168546" y="3766448"/>
            <a:ext cx="32983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9B and 9C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18052" y="2070814"/>
            <a:ext cx="11563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Some common conversions are used to interchange between the measurements</a:t>
            </a:r>
          </a:p>
        </p:txBody>
      </p:sp>
    </p:spTree>
    <p:extLst>
      <p:ext uri="{BB962C8B-B14F-4D97-AF65-F5344CB8AC3E}">
        <p14:creationId xmlns:p14="http://schemas.microsoft.com/office/powerpoint/2010/main" val="277554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</a:t>
            </a:r>
            <a:r>
              <a:rPr lang="en-AU" sz="24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0770" y="732656"/>
                <a:ext cx="1122269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 solid cube has a total surface area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384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 smtClean="0"/>
                  <a:t>. Determine the length of each edge of the cube: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70" y="732656"/>
                <a:ext cx="11222698" cy="830997"/>
              </a:xfrm>
              <a:prstGeom prst="rect">
                <a:avLst/>
              </a:prstGeom>
              <a:blipFill>
                <a:blip r:embed="rId2"/>
                <a:stretch>
                  <a:fillRect l="-869" t="-5839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05271" y="2169337"/>
                <a:ext cx="5940761" cy="2874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𝑬𝒂𝒄𝒉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𝒍𝒆𝒏𝒈𝒕𝒉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𝒄𝒖𝒃𝒆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𝟑𝟖𝟒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𝟔𝟒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AU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Therefore the length of each side must be 8cm as the negative answer is impossible.</a:t>
                </a:r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71" y="2169337"/>
                <a:ext cx="5940761" cy="2874761"/>
              </a:xfrm>
              <a:prstGeom prst="rect">
                <a:avLst/>
              </a:prstGeom>
              <a:blipFill>
                <a:blip r:embed="rId3"/>
                <a:stretch>
                  <a:fillRect l="-924" b="-2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504" y="1650251"/>
            <a:ext cx="28956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9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</a:t>
            </a:r>
            <a:r>
              <a:rPr lang="en-AU" sz="2400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8052" y="737077"/>
                <a:ext cx="115634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 solid cylinder with circular ends of radius 30mm has a total surface area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52 800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𝑛𝑒𝑎𝑟𝑒𝑠𝑡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100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en-AU" sz="2400" dirty="0" smtClean="0"/>
                  <a:t>.</a:t>
                </a:r>
              </a:p>
              <a:p>
                <a:r>
                  <a:rPr lang="en-AU" sz="2400" dirty="0" smtClean="0"/>
                  <a:t>Find the length of the cylinder, giving your answer to the nearest millimetre: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737077"/>
                <a:ext cx="11563468" cy="1200329"/>
              </a:xfrm>
              <a:prstGeom prst="rect">
                <a:avLst/>
              </a:prstGeom>
              <a:blipFill>
                <a:blip r:embed="rId2"/>
                <a:stretch>
                  <a:fillRect l="-791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879915" y="1998952"/>
                <a:ext cx="5940761" cy="4503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𝟑𝟎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𝟓𝟐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𝟓𝟐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𝟖𝟎𝟎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𝟏𝟖𝟎𝟎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400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length of the cylinder is </a:t>
                </a:r>
                <a14:m>
                  <m:oMath xmlns:m="http://schemas.openxmlformats.org/officeDocument/2006/math"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𝟐𝟓𝟎𝐦𝐦</m:t>
                    </m:r>
                  </m:oMath>
                </a14:m>
                <a:endParaRPr lang="en-AU" sz="2000" b="1" u="sng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915" y="1998952"/>
                <a:ext cx="5940761" cy="4503733"/>
              </a:xfrm>
              <a:prstGeom prst="rect">
                <a:avLst/>
              </a:prstGeom>
              <a:blipFill>
                <a:blip r:embed="rId3"/>
                <a:stretch>
                  <a:fillRect b="-1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613" y="2101417"/>
            <a:ext cx="3135559" cy="37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59999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9 Example 8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18052" y="737077"/>
            <a:ext cx="11563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hemispherical bowl can hold 0.5 litres of liquid when filled level to the brim. Find the radius of the hemisphere.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47259" y="1226540"/>
                <a:ext cx="9802823" cy="561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𝑰𝒇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𝒕𝒉𝒆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𝒓𝒂𝒅𝒊𝒖𝒔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𝒊𝒔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𝒕𝒉𝒆𝒏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𝒕𝒉𝒆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𝑽𝒐𝒍𝒖𝒎𝒆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𝒘𝒊𝒍𝒍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𝒃𝒆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sSup>
                            <m:sSupPr>
                              <m:ctrlP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AU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sSup>
                            <m:sSupPr>
                              <m:ctrlP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𝟏𝟓𝟎𝟎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𝟏𝟓𝟎𝟎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2400" b="1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f>
                            <m:fPr>
                              <m:ctrlP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𝟏𝟓𝟎𝟎</m:t>
                              </m:r>
                            </m:num>
                            <m:den>
                              <m: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AU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2400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The radius of the hemisphere will be </a:t>
                </a:r>
                <a14:m>
                  <m:oMath xmlns:m="http://schemas.openxmlformats.org/officeDocument/2006/math"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𝐜</m:t>
                    </m:r>
                    <m:r>
                      <a:rPr lang="en-AU" sz="2400" b="1" i="0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AU" sz="2000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AU" sz="2400" b="1" u="sng" dirty="0" smtClean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to the nearest millimetre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259" y="1226540"/>
                <a:ext cx="9802823" cy="5610318"/>
              </a:xfrm>
              <a:prstGeom prst="rect">
                <a:avLst/>
              </a:prstGeom>
              <a:blipFill>
                <a:blip r:embed="rId2"/>
                <a:stretch>
                  <a:fillRect b="-14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168546" y="3766448"/>
            <a:ext cx="229309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9D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0770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1390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STEDMAN Shaun [Harrisdale Senior High School]</cp:lastModifiedBy>
  <cp:revision>24</cp:revision>
  <dcterms:created xsi:type="dcterms:W3CDTF">2021-02-03T00:27:28Z</dcterms:created>
  <dcterms:modified xsi:type="dcterms:W3CDTF">2021-05-13T03:51:30Z</dcterms:modified>
</cp:coreProperties>
</file>
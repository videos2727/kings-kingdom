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84" d="100"/>
          <a:sy n="84" d="100"/>
        </p:scale>
        <p:origin x="78" y="1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6D755F1D-0104-402B-A88B-F3F388DC0D07}" type="datetimeFigureOut">
              <a:rPr lang="en-AU" smtClean="0"/>
              <a:t>17/05/2021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3664925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D755F1D-0104-402B-A88B-F3F388DC0D07}" type="datetimeFigureOut">
              <a:rPr lang="en-AU" smtClean="0"/>
              <a:t>17/05/2021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395360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D755F1D-0104-402B-A88B-F3F388DC0D07}" type="datetimeFigureOut">
              <a:rPr lang="en-AU" smtClean="0"/>
              <a:t>17/05/2021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3359057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6D755F1D-0104-402B-A88B-F3F388DC0D07}" type="datetimeFigureOut">
              <a:rPr lang="en-AU" smtClean="0"/>
              <a:t>17/05/2021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674620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6D755F1D-0104-402B-A88B-F3F388DC0D07}" type="datetimeFigureOut">
              <a:rPr lang="en-AU" smtClean="0"/>
              <a:t>17/05/2021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3269912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6D755F1D-0104-402B-A88B-F3F388DC0D07}" type="datetimeFigureOut">
              <a:rPr lang="en-AU" smtClean="0"/>
              <a:t>17/05/2021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1379591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755F1D-0104-402B-A88B-F3F388DC0D07}" type="datetimeFigureOut">
              <a:rPr lang="en-AU" smtClean="0"/>
              <a:t>17/05/2021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1615937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D755F1D-0104-402B-A88B-F3F388DC0D07}" type="datetimeFigureOut">
              <a:rPr lang="en-AU" smtClean="0"/>
              <a:t>17/05/2021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1956268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D755F1D-0104-402B-A88B-F3F388DC0D07}" type="datetimeFigureOut">
              <a:rPr lang="en-AU" smtClean="0"/>
              <a:t>17/05/2021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3459905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D755F1D-0104-402B-A88B-F3F388DC0D07}" type="datetimeFigureOut">
              <a:rPr lang="en-AU" smtClean="0"/>
              <a:t>17/05/2021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51120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D755F1D-0104-402B-A88B-F3F388DC0D07}" type="datetimeFigureOut">
              <a:rPr lang="en-AU" smtClean="0"/>
              <a:t>17/05/2021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42206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55F1D-0104-402B-A88B-F3F388DC0D07}" type="datetimeFigureOut">
              <a:rPr lang="en-AU" smtClean="0"/>
              <a:t>17/05/2021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F0A6C1-75A8-4E70-A0AC-EEBBE80CFC56}" type="slidenum">
              <a:rPr lang="en-AU" smtClean="0"/>
              <a:t>‹#›</a:t>
            </a:fld>
            <a:endParaRPr lang="en-AU"/>
          </a:p>
        </p:txBody>
      </p:sp>
    </p:spTree>
    <p:extLst>
      <p:ext uri="{BB962C8B-B14F-4D97-AF65-F5344CB8AC3E}">
        <p14:creationId xmlns:p14="http://schemas.microsoft.com/office/powerpoint/2010/main" val="1752627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5599990" cy="461665"/>
          </a:xfrm>
          <a:prstGeom prst="rect">
            <a:avLst/>
          </a:prstGeom>
          <a:solidFill>
            <a:srgbClr val="FFFF00"/>
          </a:solidFill>
        </p:spPr>
        <p:txBody>
          <a:bodyPr wrap="square" rtlCol="0">
            <a:spAutoFit/>
          </a:bodyPr>
          <a:lstStyle/>
          <a:p>
            <a:r>
              <a:rPr lang="en-AU" sz="2400" dirty="0" smtClean="0"/>
              <a:t>Y11 Apps Chapter </a:t>
            </a:r>
            <a:r>
              <a:rPr lang="en-AU" sz="2400" dirty="0" smtClean="0"/>
              <a:t>8 </a:t>
            </a:r>
            <a:r>
              <a:rPr lang="en-AU" sz="2400" dirty="0" smtClean="0"/>
              <a:t>Assumed Knowledge</a:t>
            </a:r>
            <a:endParaRPr lang="en-AU" sz="2400" dirty="0"/>
          </a:p>
        </p:txBody>
      </p:sp>
      <p:sp>
        <p:nvSpPr>
          <p:cNvPr id="5" name="TextBox 4"/>
          <p:cNvSpPr txBox="1"/>
          <p:nvPr/>
        </p:nvSpPr>
        <p:spPr>
          <a:xfrm>
            <a:off x="340770" y="732656"/>
            <a:ext cx="11222698" cy="1569660"/>
          </a:xfrm>
          <a:prstGeom prst="rect">
            <a:avLst/>
          </a:prstGeom>
          <a:noFill/>
        </p:spPr>
        <p:txBody>
          <a:bodyPr wrap="square" rtlCol="0">
            <a:spAutoFit/>
          </a:bodyPr>
          <a:lstStyle/>
          <a:p>
            <a:r>
              <a:rPr lang="en-AU" sz="2400" dirty="0" smtClean="0"/>
              <a:t>It is assumed that you can calculate the area of rectangles, </a:t>
            </a:r>
            <a:r>
              <a:rPr lang="en-AU" sz="2400" dirty="0" err="1" smtClean="0"/>
              <a:t>parallellograms</a:t>
            </a:r>
            <a:r>
              <a:rPr lang="en-AU" sz="2400" dirty="0" smtClean="0"/>
              <a:t>, triangles, trapeziums and circles before commencing this course. Only three of the formulas are given on your formula sheet so it is important you know rectangles and trapeziums as they are not given.</a:t>
            </a:r>
            <a:endParaRPr lang="en-AU" sz="2400" dirty="0"/>
          </a:p>
        </p:txBody>
      </p:sp>
      <p:pic>
        <p:nvPicPr>
          <p:cNvPr id="2" name="Picture 1"/>
          <p:cNvPicPr>
            <a:picLocks noChangeAspect="1"/>
          </p:cNvPicPr>
          <p:nvPr/>
        </p:nvPicPr>
        <p:blipFill>
          <a:blip r:embed="rId2"/>
          <a:stretch>
            <a:fillRect/>
          </a:stretch>
        </p:blipFill>
        <p:spPr>
          <a:xfrm>
            <a:off x="340770" y="2505223"/>
            <a:ext cx="10877550" cy="3324225"/>
          </a:xfrm>
          <a:prstGeom prst="rect">
            <a:avLst/>
          </a:prstGeom>
        </p:spPr>
      </p:pic>
    </p:spTree>
    <p:extLst>
      <p:ext uri="{BB962C8B-B14F-4D97-AF65-F5344CB8AC3E}">
        <p14:creationId xmlns:p14="http://schemas.microsoft.com/office/powerpoint/2010/main" val="10048157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5599990" cy="461665"/>
          </a:xfrm>
          <a:prstGeom prst="rect">
            <a:avLst/>
          </a:prstGeom>
          <a:solidFill>
            <a:srgbClr val="FFFF00"/>
          </a:solidFill>
        </p:spPr>
        <p:txBody>
          <a:bodyPr wrap="square" rtlCol="0">
            <a:spAutoFit/>
          </a:bodyPr>
          <a:lstStyle/>
          <a:p>
            <a:r>
              <a:rPr lang="en-AU" sz="2400" dirty="0" smtClean="0"/>
              <a:t>Y11 Apps Chapter 8 Example 1</a:t>
            </a:r>
            <a:endParaRPr lang="en-AU" sz="2400" dirty="0"/>
          </a:p>
        </p:txBody>
      </p:sp>
      <p:sp>
        <p:nvSpPr>
          <p:cNvPr id="5" name="TextBox 4"/>
          <p:cNvSpPr txBox="1"/>
          <p:nvPr/>
        </p:nvSpPr>
        <p:spPr>
          <a:xfrm>
            <a:off x="340770" y="732656"/>
            <a:ext cx="11222698" cy="461665"/>
          </a:xfrm>
          <a:prstGeom prst="rect">
            <a:avLst/>
          </a:prstGeom>
          <a:noFill/>
        </p:spPr>
        <p:txBody>
          <a:bodyPr wrap="square" rtlCol="0">
            <a:spAutoFit/>
          </a:bodyPr>
          <a:lstStyle/>
          <a:p>
            <a:r>
              <a:rPr lang="en-AU" sz="2400" dirty="0" smtClean="0"/>
              <a:t>Find the area of the shaded shape shown:</a:t>
            </a:r>
            <a:endParaRPr lang="en-AU" sz="2400" dirty="0"/>
          </a:p>
        </p:txBody>
      </p:sp>
      <p:pic>
        <p:nvPicPr>
          <p:cNvPr id="3" name="Picture 2"/>
          <p:cNvPicPr>
            <a:picLocks noChangeAspect="1"/>
          </p:cNvPicPr>
          <p:nvPr/>
        </p:nvPicPr>
        <p:blipFill>
          <a:blip r:embed="rId2"/>
          <a:stretch>
            <a:fillRect/>
          </a:stretch>
        </p:blipFill>
        <p:spPr>
          <a:xfrm>
            <a:off x="6415796" y="732656"/>
            <a:ext cx="4914198" cy="3424740"/>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823529" y="1550272"/>
                <a:ext cx="4486807" cy="7148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rPr>
                        <m:t>𝑨𝒓𝒆𝒂</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𝒐𝒇</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𝑹𝒆𝒄𝒕𝒂𝒏𝒈𝒍𝒆</m:t>
                      </m:r>
                      <m:r>
                        <a:rPr lang="en-AU" sz="2000" b="1" i="1" smtClean="0">
                          <a:solidFill>
                            <a:srgbClr val="FF0000"/>
                          </a:solidFill>
                          <a:latin typeface="Cambria Math" panose="02040503050406030204" pitchFamily="18" charset="0"/>
                        </a:rPr>
                        <m:t>=</m:t>
                      </m:r>
                      <m:r>
                        <a:rPr lang="en-AU" sz="2000" b="1" i="1" smtClean="0">
                          <a:solidFill>
                            <a:srgbClr val="FF0000"/>
                          </a:solidFill>
                          <a:latin typeface="Cambria Math" panose="02040503050406030204" pitchFamily="18" charset="0"/>
                        </a:rPr>
                        <m:t>𝟔</m:t>
                      </m:r>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𝟏𝟔</m:t>
                      </m:r>
                    </m:oMath>
                  </m:oMathPara>
                </a14:m>
                <a:endParaRPr lang="en-AU" sz="2000" b="1" dirty="0" smtClean="0">
                  <a:solidFill>
                    <a:srgbClr val="FF000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𝟗𝟔</m:t>
                      </m:r>
                      <m:r>
                        <a:rPr lang="en-AU" sz="2000" b="1" i="1" smtClean="0">
                          <a:solidFill>
                            <a:srgbClr val="FF0000"/>
                          </a:solidFill>
                          <a:latin typeface="Cambria Math" panose="02040503050406030204" pitchFamily="18" charset="0"/>
                          <a:ea typeface="Cambria Math" panose="02040503050406030204" pitchFamily="18" charset="0"/>
                        </a:rPr>
                        <m:t> </m:t>
                      </m:r>
                      <m:sSup>
                        <m:sSupPr>
                          <m:ctrlPr>
                            <a:rPr lang="en-AU" sz="2000" b="1" i="1" smtClean="0">
                              <a:solidFill>
                                <a:srgbClr val="FF0000"/>
                              </a:solidFill>
                              <a:latin typeface="Cambria Math" panose="02040503050406030204" pitchFamily="18" charset="0"/>
                              <a:ea typeface="Cambria Math" panose="02040503050406030204" pitchFamily="18" charset="0"/>
                            </a:rPr>
                          </m:ctrlPr>
                        </m:sSupPr>
                        <m:e>
                          <m:r>
                            <a:rPr lang="en-AU" sz="2000" b="1" i="1" smtClean="0">
                              <a:solidFill>
                                <a:srgbClr val="FF0000"/>
                              </a:solidFill>
                              <a:latin typeface="Cambria Math" panose="02040503050406030204" pitchFamily="18" charset="0"/>
                              <a:ea typeface="Cambria Math" panose="02040503050406030204" pitchFamily="18" charset="0"/>
                            </a:rPr>
                            <m:t>𝒄𝒎</m:t>
                          </m:r>
                        </m:e>
                        <m:sup>
                          <m:r>
                            <a:rPr lang="en-AU" sz="2000" b="1" i="1" smtClean="0">
                              <a:solidFill>
                                <a:srgbClr val="FF0000"/>
                              </a:solidFill>
                              <a:latin typeface="Cambria Math" panose="02040503050406030204" pitchFamily="18" charset="0"/>
                              <a:ea typeface="Cambria Math" panose="02040503050406030204" pitchFamily="18" charset="0"/>
                            </a:rPr>
                            <m:t>𝟐</m:t>
                          </m:r>
                        </m:sup>
                      </m:sSup>
                    </m:oMath>
                  </m:oMathPara>
                </a14:m>
                <a:endParaRPr lang="en-AU" b="1" dirty="0" smtClean="0">
                  <a:ea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823529" y="1550272"/>
                <a:ext cx="4486807" cy="714876"/>
              </a:xfrm>
              <a:prstGeom prst="rect">
                <a:avLst/>
              </a:prstGeom>
              <a:blipFill>
                <a:blip r:embed="rId3"/>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72412" y="2556831"/>
                <a:ext cx="4486807" cy="10098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rPr>
                        <m:t>𝑨𝒓𝒆𝒂</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𝒐𝒇</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𝑻𝒓𝒊𝒂𝒏𝒈𝒍𝒆</m:t>
                      </m:r>
                      <m:r>
                        <a:rPr lang="en-AU" sz="2000" b="1" i="1" smtClean="0">
                          <a:solidFill>
                            <a:srgbClr val="FF0000"/>
                          </a:solidFill>
                          <a:latin typeface="Cambria Math" panose="02040503050406030204" pitchFamily="18" charset="0"/>
                        </a:rPr>
                        <m:t>=</m:t>
                      </m:r>
                      <m:f>
                        <m:fPr>
                          <m:ctrlPr>
                            <a:rPr lang="en-AU" sz="2000" b="1" i="1" smtClean="0">
                              <a:solidFill>
                                <a:srgbClr val="FF0000"/>
                              </a:solidFill>
                              <a:latin typeface="Cambria Math" panose="02040503050406030204" pitchFamily="18" charset="0"/>
                            </a:rPr>
                          </m:ctrlPr>
                        </m:fPr>
                        <m:num>
                          <m:r>
                            <a:rPr lang="en-AU" sz="2000" b="1" i="1" smtClean="0">
                              <a:solidFill>
                                <a:srgbClr val="FF0000"/>
                              </a:solidFill>
                              <a:latin typeface="Cambria Math" panose="02040503050406030204" pitchFamily="18" charset="0"/>
                            </a:rPr>
                            <m:t>𝟏𝟔</m:t>
                          </m:r>
                        </m:num>
                        <m:den>
                          <m:r>
                            <a:rPr lang="en-AU" sz="2000" b="1" i="1" smtClean="0">
                              <a:solidFill>
                                <a:srgbClr val="FF0000"/>
                              </a:solidFill>
                              <a:latin typeface="Cambria Math" panose="02040503050406030204" pitchFamily="18" charset="0"/>
                            </a:rPr>
                            <m:t>𝟐</m:t>
                          </m:r>
                        </m:den>
                      </m:f>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𝟕</m:t>
                      </m:r>
                    </m:oMath>
                  </m:oMathPara>
                </a14:m>
                <a:endParaRPr lang="en-AU" sz="2000" b="1" dirty="0" smtClean="0">
                  <a:solidFill>
                    <a:srgbClr val="FF000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𝟓𝟔</m:t>
                      </m:r>
                      <m:r>
                        <a:rPr lang="en-AU" sz="2000" b="1" i="1" smtClean="0">
                          <a:solidFill>
                            <a:srgbClr val="FF0000"/>
                          </a:solidFill>
                          <a:latin typeface="Cambria Math" panose="02040503050406030204" pitchFamily="18" charset="0"/>
                          <a:ea typeface="Cambria Math" panose="02040503050406030204" pitchFamily="18" charset="0"/>
                        </a:rPr>
                        <m:t> </m:t>
                      </m:r>
                      <m:sSup>
                        <m:sSupPr>
                          <m:ctrlPr>
                            <a:rPr lang="en-AU" sz="2000" b="1" i="1" smtClean="0">
                              <a:solidFill>
                                <a:srgbClr val="FF0000"/>
                              </a:solidFill>
                              <a:latin typeface="Cambria Math" panose="02040503050406030204" pitchFamily="18" charset="0"/>
                              <a:ea typeface="Cambria Math" panose="02040503050406030204" pitchFamily="18" charset="0"/>
                            </a:rPr>
                          </m:ctrlPr>
                        </m:sSupPr>
                        <m:e>
                          <m:r>
                            <a:rPr lang="en-AU" sz="2000" b="1" i="1" smtClean="0">
                              <a:solidFill>
                                <a:srgbClr val="FF0000"/>
                              </a:solidFill>
                              <a:latin typeface="Cambria Math" panose="02040503050406030204" pitchFamily="18" charset="0"/>
                              <a:ea typeface="Cambria Math" panose="02040503050406030204" pitchFamily="18" charset="0"/>
                            </a:rPr>
                            <m:t>𝒄𝒎</m:t>
                          </m:r>
                        </m:e>
                        <m:sup>
                          <m:r>
                            <a:rPr lang="en-AU" sz="2000" b="1" i="1" smtClean="0">
                              <a:solidFill>
                                <a:srgbClr val="FF0000"/>
                              </a:solidFill>
                              <a:latin typeface="Cambria Math" panose="02040503050406030204" pitchFamily="18" charset="0"/>
                              <a:ea typeface="Cambria Math" panose="02040503050406030204" pitchFamily="18" charset="0"/>
                            </a:rPr>
                            <m:t>𝟐</m:t>
                          </m:r>
                        </m:sup>
                      </m:sSup>
                    </m:oMath>
                  </m:oMathPara>
                </a14:m>
                <a:endParaRPr lang="en-AU" b="1" dirty="0" smtClean="0">
                  <a:ea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72412" y="2556831"/>
                <a:ext cx="4486807" cy="1009828"/>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56590" y="3702990"/>
                <a:ext cx="4486807" cy="7412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rPr>
                        <m:t>𝑨𝒓𝒆𝒂</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𝒐𝒇</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𝑪𝒊𝒓𝒄𝒍𝒆</m:t>
                      </m:r>
                      <m:r>
                        <a:rPr lang="en-AU" sz="2000" b="1" i="1" smtClean="0">
                          <a:solidFill>
                            <a:srgbClr val="FF0000"/>
                          </a:solidFill>
                          <a:latin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𝝅</m:t>
                      </m:r>
                      <m:r>
                        <a:rPr lang="en-AU" sz="2000" b="1" i="1" smtClean="0">
                          <a:solidFill>
                            <a:srgbClr val="FF0000"/>
                          </a:solidFill>
                          <a:latin typeface="Cambria Math" panose="02040503050406030204" pitchFamily="18" charset="0"/>
                          <a:ea typeface="Cambria Math" panose="02040503050406030204" pitchFamily="18" charset="0"/>
                        </a:rPr>
                        <m:t>×</m:t>
                      </m:r>
                      <m:sSup>
                        <m:sSupPr>
                          <m:ctrlPr>
                            <a:rPr lang="en-AU" sz="2000" b="1" i="1" smtClean="0">
                              <a:solidFill>
                                <a:srgbClr val="FF0000"/>
                              </a:solidFill>
                              <a:latin typeface="Cambria Math" panose="02040503050406030204" pitchFamily="18" charset="0"/>
                              <a:ea typeface="Cambria Math" panose="02040503050406030204" pitchFamily="18" charset="0"/>
                            </a:rPr>
                          </m:ctrlPr>
                        </m:sSupPr>
                        <m:e>
                          <m:r>
                            <a:rPr lang="en-AU" sz="2000" b="1" i="1" smtClean="0">
                              <a:solidFill>
                                <a:srgbClr val="FF0000"/>
                              </a:solidFill>
                              <a:latin typeface="Cambria Math" panose="02040503050406030204" pitchFamily="18" charset="0"/>
                              <a:ea typeface="Cambria Math" panose="02040503050406030204" pitchFamily="18" charset="0"/>
                            </a:rPr>
                            <m:t>𝟒</m:t>
                          </m:r>
                        </m:e>
                        <m:sup>
                          <m:r>
                            <a:rPr lang="en-AU" sz="2000" b="1" i="1" smtClean="0">
                              <a:solidFill>
                                <a:srgbClr val="FF0000"/>
                              </a:solidFill>
                              <a:latin typeface="Cambria Math" panose="02040503050406030204" pitchFamily="18" charset="0"/>
                              <a:ea typeface="Cambria Math" panose="02040503050406030204" pitchFamily="18" charset="0"/>
                            </a:rPr>
                            <m:t>𝟐</m:t>
                          </m:r>
                        </m:sup>
                      </m:sSup>
                    </m:oMath>
                  </m:oMathPara>
                </a14:m>
                <a:endParaRPr lang="en-AU" sz="2000" b="1" dirty="0" smtClean="0">
                  <a:solidFill>
                    <a:srgbClr val="FF000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𝟏𝟔</m:t>
                      </m:r>
                      <m:r>
                        <a:rPr lang="en-AU" sz="2000" b="1" i="1" smtClean="0">
                          <a:solidFill>
                            <a:srgbClr val="FF0000"/>
                          </a:solidFill>
                          <a:latin typeface="Cambria Math" panose="02040503050406030204" pitchFamily="18" charset="0"/>
                          <a:ea typeface="Cambria Math" panose="02040503050406030204" pitchFamily="18" charset="0"/>
                        </a:rPr>
                        <m:t>𝝅</m:t>
                      </m:r>
                      <m:r>
                        <a:rPr lang="en-AU" sz="2000" b="1" i="1" smtClean="0">
                          <a:solidFill>
                            <a:srgbClr val="FF0000"/>
                          </a:solidFill>
                          <a:latin typeface="Cambria Math" panose="02040503050406030204" pitchFamily="18" charset="0"/>
                          <a:ea typeface="Cambria Math" panose="02040503050406030204" pitchFamily="18" charset="0"/>
                        </a:rPr>
                        <m:t> </m:t>
                      </m:r>
                      <m:sSup>
                        <m:sSupPr>
                          <m:ctrlPr>
                            <a:rPr lang="en-AU" sz="2000" b="1" i="1" smtClean="0">
                              <a:solidFill>
                                <a:srgbClr val="FF0000"/>
                              </a:solidFill>
                              <a:latin typeface="Cambria Math" panose="02040503050406030204" pitchFamily="18" charset="0"/>
                              <a:ea typeface="Cambria Math" panose="02040503050406030204" pitchFamily="18" charset="0"/>
                            </a:rPr>
                          </m:ctrlPr>
                        </m:sSupPr>
                        <m:e>
                          <m:r>
                            <a:rPr lang="en-AU" sz="2000" b="1" i="1" smtClean="0">
                              <a:solidFill>
                                <a:srgbClr val="FF0000"/>
                              </a:solidFill>
                              <a:latin typeface="Cambria Math" panose="02040503050406030204" pitchFamily="18" charset="0"/>
                              <a:ea typeface="Cambria Math" panose="02040503050406030204" pitchFamily="18" charset="0"/>
                            </a:rPr>
                            <m:t>𝒄𝒎</m:t>
                          </m:r>
                        </m:e>
                        <m:sup>
                          <m:r>
                            <a:rPr lang="en-AU" sz="2000" b="1" i="1" smtClean="0">
                              <a:solidFill>
                                <a:srgbClr val="FF0000"/>
                              </a:solidFill>
                              <a:latin typeface="Cambria Math" panose="02040503050406030204" pitchFamily="18" charset="0"/>
                              <a:ea typeface="Cambria Math" panose="02040503050406030204" pitchFamily="18" charset="0"/>
                            </a:rPr>
                            <m:t>𝟐</m:t>
                          </m:r>
                        </m:sup>
                      </m:sSup>
                    </m:oMath>
                  </m:oMathPara>
                </a14:m>
                <a:endParaRPr lang="en-AU" b="1" dirty="0" smtClean="0">
                  <a:ea typeface="Cambria Math" panose="020405030504060302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556590" y="3702990"/>
                <a:ext cx="4486807" cy="741229"/>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56591" y="4573218"/>
                <a:ext cx="5526157" cy="10226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rPr>
                        <m:t>𝑨𝒓𝒆𝒂</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𝒐𝒇</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𝑺𝒉𝒂𝒅𝒆𝒅</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𝑹𝒆𝒈𝒊𝒐𝒏</m:t>
                      </m:r>
                      <m:r>
                        <a:rPr lang="en-AU" sz="2000" b="1" i="1" smtClean="0">
                          <a:solidFill>
                            <a:srgbClr val="FF0000"/>
                          </a:solidFill>
                          <a:latin typeface="Cambria Math" panose="02040503050406030204" pitchFamily="18" charset="0"/>
                        </a:rPr>
                        <m:t>=</m:t>
                      </m:r>
                      <m:r>
                        <a:rPr lang="en-AU" sz="2000" b="1" i="1" smtClean="0">
                          <a:solidFill>
                            <a:srgbClr val="FF0000"/>
                          </a:solidFill>
                          <a:latin typeface="Cambria Math" panose="02040503050406030204" pitchFamily="18" charset="0"/>
                        </a:rPr>
                        <m:t>𝟗𝟔</m:t>
                      </m:r>
                      <m:r>
                        <a:rPr lang="en-AU" sz="2000" b="1" i="1" smtClean="0">
                          <a:solidFill>
                            <a:srgbClr val="FF0000"/>
                          </a:solidFill>
                          <a:latin typeface="Cambria Math" panose="02040503050406030204" pitchFamily="18" charset="0"/>
                        </a:rPr>
                        <m:t>+</m:t>
                      </m:r>
                      <m:r>
                        <a:rPr lang="en-AU" sz="2000" b="1" i="1" smtClean="0">
                          <a:solidFill>
                            <a:srgbClr val="FF0000"/>
                          </a:solidFill>
                          <a:latin typeface="Cambria Math" panose="02040503050406030204" pitchFamily="18" charset="0"/>
                        </a:rPr>
                        <m:t>𝟓𝟔</m:t>
                      </m:r>
                      <m:r>
                        <a:rPr lang="en-AU" sz="2000" b="1" i="1" smtClean="0">
                          <a:solidFill>
                            <a:srgbClr val="FF0000"/>
                          </a:solidFill>
                          <a:latin typeface="Cambria Math" panose="02040503050406030204" pitchFamily="18" charset="0"/>
                        </a:rPr>
                        <m:t>−</m:t>
                      </m:r>
                      <m:r>
                        <a:rPr lang="en-AU" sz="2000" b="1" i="1" smtClean="0">
                          <a:solidFill>
                            <a:srgbClr val="FF0000"/>
                          </a:solidFill>
                          <a:latin typeface="Cambria Math" panose="02040503050406030204" pitchFamily="18" charset="0"/>
                        </a:rPr>
                        <m:t>𝟏𝟔</m:t>
                      </m:r>
                      <m:r>
                        <a:rPr lang="en-AU" sz="2000" b="1" i="1" smtClean="0">
                          <a:solidFill>
                            <a:srgbClr val="FF0000"/>
                          </a:solidFill>
                          <a:latin typeface="Cambria Math" panose="02040503050406030204" pitchFamily="18" charset="0"/>
                          <a:ea typeface="Cambria Math" panose="02040503050406030204" pitchFamily="18" charset="0"/>
                        </a:rPr>
                        <m:t>𝝅</m:t>
                      </m:r>
                    </m:oMath>
                  </m:oMathPara>
                </a14:m>
                <a:endParaRPr lang="en-AU" sz="2000" b="1" dirty="0" smtClean="0">
                  <a:solidFill>
                    <a:srgbClr val="FF0000"/>
                  </a:solidFill>
                  <a:ea typeface="Cambria Math" panose="02040503050406030204" pitchFamily="18" charset="0"/>
                </a:endParaRPr>
              </a:p>
              <a:p>
                <a:endParaRPr lang="en-AU" sz="2000" b="1" u="sng" dirty="0" smtClean="0">
                  <a:solidFill>
                    <a:srgbClr val="FF000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1" i="1" u="sng" smtClean="0">
                          <a:solidFill>
                            <a:srgbClr val="FF0000"/>
                          </a:solidFill>
                          <a:latin typeface="Cambria Math" panose="02040503050406030204" pitchFamily="18" charset="0"/>
                          <a:ea typeface="Cambria Math" panose="02040503050406030204" pitchFamily="18" charset="0"/>
                        </a:rPr>
                        <m:t>=</m:t>
                      </m:r>
                      <m:r>
                        <a:rPr lang="en-AU" sz="2000" b="1" i="1" u="sng" smtClean="0">
                          <a:solidFill>
                            <a:srgbClr val="FF0000"/>
                          </a:solidFill>
                          <a:latin typeface="Cambria Math" panose="02040503050406030204" pitchFamily="18" charset="0"/>
                          <a:ea typeface="Cambria Math" panose="02040503050406030204" pitchFamily="18" charset="0"/>
                        </a:rPr>
                        <m:t>𝟏𝟎𝟏</m:t>
                      </m:r>
                      <m:r>
                        <a:rPr lang="en-AU" sz="2000" b="1" i="1" u="sng" smtClean="0">
                          <a:solidFill>
                            <a:srgbClr val="FF0000"/>
                          </a:solidFill>
                          <a:latin typeface="Cambria Math" panose="02040503050406030204" pitchFamily="18" charset="0"/>
                          <a:ea typeface="Cambria Math" panose="02040503050406030204" pitchFamily="18" charset="0"/>
                        </a:rPr>
                        <m:t>.</m:t>
                      </m:r>
                      <m:r>
                        <a:rPr lang="en-AU" sz="2000" b="1" i="1" u="sng" smtClean="0">
                          <a:solidFill>
                            <a:srgbClr val="FF0000"/>
                          </a:solidFill>
                          <a:latin typeface="Cambria Math" panose="02040503050406030204" pitchFamily="18" charset="0"/>
                          <a:ea typeface="Cambria Math" panose="02040503050406030204" pitchFamily="18" charset="0"/>
                        </a:rPr>
                        <m:t>𝟕</m:t>
                      </m:r>
                      <m:r>
                        <a:rPr lang="en-AU" sz="2000" b="1" i="1" u="sng" smtClean="0">
                          <a:solidFill>
                            <a:srgbClr val="FF0000"/>
                          </a:solidFill>
                          <a:latin typeface="Cambria Math" panose="02040503050406030204" pitchFamily="18" charset="0"/>
                          <a:ea typeface="Cambria Math" panose="02040503050406030204" pitchFamily="18" charset="0"/>
                        </a:rPr>
                        <m:t> </m:t>
                      </m:r>
                      <m:sSup>
                        <m:sSupPr>
                          <m:ctrlPr>
                            <a:rPr lang="en-AU" sz="2000" b="1" i="1" u="sng" smtClean="0">
                              <a:solidFill>
                                <a:srgbClr val="FF0000"/>
                              </a:solidFill>
                              <a:latin typeface="Cambria Math" panose="02040503050406030204" pitchFamily="18" charset="0"/>
                              <a:ea typeface="Cambria Math" panose="02040503050406030204" pitchFamily="18" charset="0"/>
                            </a:rPr>
                          </m:ctrlPr>
                        </m:sSupPr>
                        <m:e>
                          <m:r>
                            <a:rPr lang="en-AU" sz="2000" b="1" i="1" u="sng" smtClean="0">
                              <a:solidFill>
                                <a:srgbClr val="FF0000"/>
                              </a:solidFill>
                              <a:latin typeface="Cambria Math" panose="02040503050406030204" pitchFamily="18" charset="0"/>
                              <a:ea typeface="Cambria Math" panose="02040503050406030204" pitchFamily="18" charset="0"/>
                            </a:rPr>
                            <m:t>𝒄𝒎</m:t>
                          </m:r>
                        </m:e>
                        <m:sup>
                          <m:r>
                            <a:rPr lang="en-AU" sz="2000" b="1" i="1" u="sng" smtClean="0">
                              <a:solidFill>
                                <a:srgbClr val="FF0000"/>
                              </a:solidFill>
                              <a:latin typeface="Cambria Math" panose="02040503050406030204" pitchFamily="18" charset="0"/>
                              <a:ea typeface="Cambria Math" panose="02040503050406030204" pitchFamily="18" charset="0"/>
                            </a:rPr>
                            <m:t>𝟐</m:t>
                          </m:r>
                        </m:sup>
                      </m:sSup>
                      <m:r>
                        <a:rPr lang="en-AU" sz="2000" b="1" i="1" u="sng" smtClean="0">
                          <a:solidFill>
                            <a:srgbClr val="FF0000"/>
                          </a:solidFill>
                          <a:latin typeface="Cambria Math" panose="02040503050406030204" pitchFamily="18" charset="0"/>
                          <a:ea typeface="Cambria Math" panose="02040503050406030204" pitchFamily="18" charset="0"/>
                        </a:rPr>
                        <m:t> </m:t>
                      </m:r>
                      <m:r>
                        <a:rPr lang="en-AU" sz="2000" b="1" i="1" u="sng" smtClean="0">
                          <a:solidFill>
                            <a:srgbClr val="FF0000"/>
                          </a:solidFill>
                          <a:latin typeface="Cambria Math" panose="02040503050406030204" pitchFamily="18" charset="0"/>
                          <a:ea typeface="Cambria Math" panose="02040503050406030204" pitchFamily="18" charset="0"/>
                        </a:rPr>
                        <m:t>𝒓𝒐𝒖𝒏𝒅𝒆𝒅</m:t>
                      </m:r>
                      <m:r>
                        <a:rPr lang="en-AU" sz="2000" b="1" i="1" u="sng" smtClean="0">
                          <a:solidFill>
                            <a:srgbClr val="FF0000"/>
                          </a:solidFill>
                          <a:latin typeface="Cambria Math" panose="02040503050406030204" pitchFamily="18" charset="0"/>
                          <a:ea typeface="Cambria Math" panose="02040503050406030204" pitchFamily="18" charset="0"/>
                        </a:rPr>
                        <m:t> </m:t>
                      </m:r>
                      <m:r>
                        <a:rPr lang="en-AU" sz="2000" b="1" i="1" u="sng" smtClean="0">
                          <a:solidFill>
                            <a:srgbClr val="FF0000"/>
                          </a:solidFill>
                          <a:latin typeface="Cambria Math" panose="02040503050406030204" pitchFamily="18" charset="0"/>
                          <a:ea typeface="Cambria Math" panose="02040503050406030204" pitchFamily="18" charset="0"/>
                        </a:rPr>
                        <m:t>𝒕𝒐</m:t>
                      </m:r>
                      <m:r>
                        <a:rPr lang="en-AU" sz="2000" b="1" i="1" u="sng" smtClean="0">
                          <a:solidFill>
                            <a:srgbClr val="FF0000"/>
                          </a:solidFill>
                          <a:latin typeface="Cambria Math" panose="02040503050406030204" pitchFamily="18" charset="0"/>
                          <a:ea typeface="Cambria Math" panose="02040503050406030204" pitchFamily="18" charset="0"/>
                        </a:rPr>
                        <m:t> </m:t>
                      </m:r>
                      <m:r>
                        <a:rPr lang="en-AU" sz="2000" b="1" i="1" u="sng" smtClean="0">
                          <a:solidFill>
                            <a:srgbClr val="FF0000"/>
                          </a:solidFill>
                          <a:latin typeface="Cambria Math" panose="02040503050406030204" pitchFamily="18" charset="0"/>
                          <a:ea typeface="Cambria Math" panose="02040503050406030204" pitchFamily="18" charset="0"/>
                        </a:rPr>
                        <m:t>𝟏</m:t>
                      </m:r>
                      <m:r>
                        <a:rPr lang="en-AU" sz="2000" b="1" i="1" u="sng" smtClean="0">
                          <a:solidFill>
                            <a:srgbClr val="FF0000"/>
                          </a:solidFill>
                          <a:latin typeface="Cambria Math" panose="02040503050406030204" pitchFamily="18" charset="0"/>
                          <a:ea typeface="Cambria Math" panose="02040503050406030204" pitchFamily="18" charset="0"/>
                        </a:rPr>
                        <m:t> </m:t>
                      </m:r>
                      <m:r>
                        <a:rPr lang="en-AU" sz="2000" b="1" i="1" u="sng" smtClean="0">
                          <a:solidFill>
                            <a:srgbClr val="FF0000"/>
                          </a:solidFill>
                          <a:latin typeface="Cambria Math" panose="02040503050406030204" pitchFamily="18" charset="0"/>
                          <a:ea typeface="Cambria Math" panose="02040503050406030204" pitchFamily="18" charset="0"/>
                        </a:rPr>
                        <m:t>𝒅</m:t>
                      </m:r>
                      <m:r>
                        <a:rPr lang="en-AU" sz="2000" b="1" i="1" u="sng" smtClean="0">
                          <a:solidFill>
                            <a:srgbClr val="FF0000"/>
                          </a:solidFill>
                          <a:latin typeface="Cambria Math" panose="02040503050406030204" pitchFamily="18" charset="0"/>
                          <a:ea typeface="Cambria Math" panose="02040503050406030204" pitchFamily="18" charset="0"/>
                        </a:rPr>
                        <m:t>.</m:t>
                      </m:r>
                      <m:r>
                        <a:rPr lang="en-AU" sz="2000" b="1" i="1" u="sng" smtClean="0">
                          <a:solidFill>
                            <a:srgbClr val="FF0000"/>
                          </a:solidFill>
                          <a:latin typeface="Cambria Math" panose="02040503050406030204" pitchFamily="18" charset="0"/>
                          <a:ea typeface="Cambria Math" panose="02040503050406030204" pitchFamily="18" charset="0"/>
                        </a:rPr>
                        <m:t>𝒑</m:t>
                      </m:r>
                      <m:r>
                        <a:rPr lang="en-AU" sz="2000" b="1" i="1" u="sng" smtClean="0">
                          <a:solidFill>
                            <a:srgbClr val="FF0000"/>
                          </a:solidFill>
                          <a:latin typeface="Cambria Math" panose="02040503050406030204" pitchFamily="18" charset="0"/>
                          <a:ea typeface="Cambria Math" panose="02040503050406030204" pitchFamily="18" charset="0"/>
                        </a:rPr>
                        <m:t>.</m:t>
                      </m:r>
                    </m:oMath>
                  </m:oMathPara>
                </a14:m>
                <a:endParaRPr lang="en-AU" b="1" u="sng" dirty="0" smtClean="0">
                  <a:ea typeface="Cambria Math" panose="020405030504060302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556591" y="4573218"/>
                <a:ext cx="5526157" cy="1022652"/>
              </a:xfrm>
              <a:prstGeom prst="rect">
                <a:avLst/>
              </a:prstGeom>
              <a:blipFill>
                <a:blip r:embed="rId6"/>
                <a:stretch>
                  <a:fillRect b="-2976"/>
                </a:stretch>
              </a:blipFill>
            </p:spPr>
            <p:txBody>
              <a:bodyPr/>
              <a:lstStyle/>
              <a:p>
                <a:r>
                  <a:rPr lang="en-AU">
                    <a:noFill/>
                  </a:rPr>
                  <a:t> </a:t>
                </a:r>
              </a:p>
            </p:txBody>
          </p:sp>
        </mc:Fallback>
      </mc:AlternateContent>
    </p:spTree>
    <p:extLst>
      <p:ext uri="{BB962C8B-B14F-4D97-AF65-F5344CB8AC3E}">
        <p14:creationId xmlns:p14="http://schemas.microsoft.com/office/powerpoint/2010/main" val="3695557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5599990" cy="461665"/>
          </a:xfrm>
          <a:prstGeom prst="rect">
            <a:avLst/>
          </a:prstGeom>
          <a:solidFill>
            <a:srgbClr val="FFFF00"/>
          </a:solidFill>
        </p:spPr>
        <p:txBody>
          <a:bodyPr wrap="square" rtlCol="0">
            <a:spAutoFit/>
          </a:bodyPr>
          <a:lstStyle/>
          <a:p>
            <a:r>
              <a:rPr lang="en-AU" sz="2400" dirty="0" smtClean="0"/>
              <a:t>Y11 Apps Chapter 8 Example 2</a:t>
            </a:r>
            <a:endParaRPr lang="en-AU" sz="2400" dirty="0"/>
          </a:p>
        </p:txBody>
      </p:sp>
      <p:sp>
        <p:nvSpPr>
          <p:cNvPr id="5" name="TextBox 4"/>
          <p:cNvSpPr txBox="1"/>
          <p:nvPr/>
        </p:nvSpPr>
        <p:spPr>
          <a:xfrm>
            <a:off x="340770" y="732656"/>
            <a:ext cx="11222698" cy="461665"/>
          </a:xfrm>
          <a:prstGeom prst="rect">
            <a:avLst/>
          </a:prstGeom>
          <a:noFill/>
        </p:spPr>
        <p:txBody>
          <a:bodyPr wrap="square" rtlCol="0">
            <a:spAutoFit/>
          </a:bodyPr>
          <a:lstStyle/>
          <a:p>
            <a:r>
              <a:rPr lang="en-AU" sz="2400" dirty="0" smtClean="0"/>
              <a:t>Find the area and perimeter of the shaded shape shown:</a:t>
            </a:r>
            <a:endParaRPr lang="en-AU" sz="2400" dirty="0"/>
          </a:p>
        </p:txBody>
      </p:sp>
      <mc:AlternateContent xmlns:mc="http://schemas.openxmlformats.org/markup-compatibility/2006" xmlns:a14="http://schemas.microsoft.com/office/drawing/2010/main">
        <mc:Choice Requires="a14">
          <p:sp>
            <p:nvSpPr>
              <p:cNvPr id="4" name="TextBox 3"/>
              <p:cNvSpPr txBox="1"/>
              <p:nvPr/>
            </p:nvSpPr>
            <p:spPr>
              <a:xfrm>
                <a:off x="1164299" y="3996508"/>
                <a:ext cx="4486807" cy="17264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rPr>
                        <m:t>𝑷𝒆𝒓𝒊𝒎𝒆𝒕𝒆𝒓</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𝒐𝒇</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𝑺𝒉𝒂𝒅𝒆𝒅</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𝒔𝒉𝒂𝒑𝒆</m:t>
                      </m:r>
                      <m:r>
                        <a:rPr lang="en-AU" sz="2000" b="1" i="1" smtClean="0">
                          <a:solidFill>
                            <a:srgbClr val="FF0000"/>
                          </a:solidFill>
                          <a:latin typeface="Cambria Math" panose="02040503050406030204" pitchFamily="18" charset="0"/>
                        </a:rPr>
                        <m:t>=</m:t>
                      </m:r>
                      <m:r>
                        <a:rPr lang="en-AU" sz="2000" b="1" i="1" smtClean="0">
                          <a:solidFill>
                            <a:srgbClr val="FF0000"/>
                          </a:solidFill>
                          <a:latin typeface="Cambria Math" panose="02040503050406030204" pitchFamily="18" charset="0"/>
                        </a:rPr>
                        <m:t>𝟒</m:t>
                      </m:r>
                      <m:r>
                        <a:rPr lang="en-AU" sz="2000" b="1" i="1">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rPr>
                        <m:t>𝟔</m:t>
                      </m:r>
                      <m:r>
                        <a:rPr lang="en-AU" sz="2000" b="1" i="1" smtClean="0">
                          <a:solidFill>
                            <a:srgbClr val="FF0000"/>
                          </a:solidFill>
                          <a:latin typeface="Cambria Math" panose="02040503050406030204" pitchFamily="18" charset="0"/>
                        </a:rPr>
                        <m:t>+</m:t>
                      </m:r>
                      <m:d>
                        <m:dPr>
                          <m:ctrlPr>
                            <a:rPr lang="en-AU" sz="2000" b="1" i="1" smtClean="0">
                              <a:solidFill>
                                <a:srgbClr val="FF0000"/>
                              </a:solidFill>
                              <a:latin typeface="Cambria Math" panose="02040503050406030204" pitchFamily="18" charset="0"/>
                            </a:rPr>
                          </m:ctrlPr>
                        </m:dPr>
                        <m:e>
                          <m:f>
                            <m:fPr>
                              <m:ctrlPr>
                                <a:rPr lang="en-AU" sz="2000" b="1" i="1" smtClean="0">
                                  <a:solidFill>
                                    <a:srgbClr val="FF0000"/>
                                  </a:solidFill>
                                  <a:latin typeface="Cambria Math" panose="02040503050406030204" pitchFamily="18" charset="0"/>
                                </a:rPr>
                              </m:ctrlPr>
                            </m:fPr>
                            <m:num>
                              <m:r>
                                <a:rPr lang="en-AU" sz="2000" b="1" i="1" smtClean="0">
                                  <a:solidFill>
                                    <a:srgbClr val="FF0000"/>
                                  </a:solidFill>
                                  <a:latin typeface="Cambria Math" panose="02040503050406030204" pitchFamily="18" charset="0"/>
                                </a:rPr>
                                <m:t>𝟒𝟎</m:t>
                              </m:r>
                            </m:num>
                            <m:den>
                              <m:r>
                                <a:rPr lang="en-AU" sz="2000" b="1" i="1" smtClean="0">
                                  <a:solidFill>
                                    <a:srgbClr val="FF0000"/>
                                  </a:solidFill>
                                  <a:latin typeface="Cambria Math" panose="02040503050406030204" pitchFamily="18" charset="0"/>
                                </a:rPr>
                                <m:t>𝟑𝟔𝟎</m:t>
                              </m:r>
                            </m:den>
                          </m:f>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𝟐</m:t>
                          </m:r>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𝝅</m:t>
                          </m:r>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𝟔</m:t>
                          </m:r>
                        </m:e>
                      </m:d>
                    </m:oMath>
                  </m:oMathPara>
                </a14:m>
                <a:endParaRPr lang="en-AU" sz="2000" b="1" dirty="0" smtClean="0">
                  <a:solidFill>
                    <a:srgbClr val="FF0000"/>
                  </a:solidFill>
                  <a:ea typeface="Cambria Math" panose="02040503050406030204" pitchFamily="18" charset="0"/>
                </a:endParaRPr>
              </a:p>
              <a:p>
                <a:endParaRPr lang="en-AU" sz="2000" b="1" dirty="0" smtClean="0">
                  <a:solidFill>
                    <a:srgbClr val="FF000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𝟐𝟖</m:t>
                      </m:r>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𝟏𝟗</m:t>
                      </m:r>
                      <m:r>
                        <a:rPr lang="en-AU" sz="2000" b="1" i="1" smtClean="0">
                          <a:solidFill>
                            <a:srgbClr val="FF0000"/>
                          </a:solidFill>
                          <a:latin typeface="Cambria Math" panose="02040503050406030204" pitchFamily="18" charset="0"/>
                          <a:ea typeface="Cambria Math" panose="02040503050406030204" pitchFamily="18" charset="0"/>
                        </a:rPr>
                        <m:t> </m:t>
                      </m:r>
                      <m:r>
                        <a:rPr lang="en-AU" sz="2000" b="1" i="1" smtClean="0">
                          <a:solidFill>
                            <a:srgbClr val="FF0000"/>
                          </a:solidFill>
                          <a:latin typeface="Cambria Math" panose="02040503050406030204" pitchFamily="18" charset="0"/>
                          <a:ea typeface="Cambria Math" panose="02040503050406030204" pitchFamily="18" charset="0"/>
                        </a:rPr>
                        <m:t>𝒎</m:t>
                      </m:r>
                      <m:r>
                        <a:rPr lang="en-AU" sz="2000" b="1" i="1" smtClean="0">
                          <a:solidFill>
                            <a:srgbClr val="FF0000"/>
                          </a:solidFill>
                          <a:latin typeface="Cambria Math" panose="02040503050406030204" pitchFamily="18" charset="0"/>
                          <a:ea typeface="Cambria Math" panose="02040503050406030204" pitchFamily="18" charset="0"/>
                        </a:rPr>
                        <m:t> (</m:t>
                      </m:r>
                      <m:r>
                        <a:rPr lang="en-AU" sz="2000" b="1" i="1" smtClean="0">
                          <a:solidFill>
                            <a:srgbClr val="FF0000"/>
                          </a:solidFill>
                          <a:latin typeface="Cambria Math" panose="02040503050406030204" pitchFamily="18" charset="0"/>
                          <a:ea typeface="Cambria Math" panose="02040503050406030204" pitchFamily="18" charset="0"/>
                        </a:rPr>
                        <m:t>𝒏𝒆𝒂𝒓𝒆𝒔𝒕</m:t>
                      </m:r>
                      <m:r>
                        <a:rPr lang="en-AU" sz="2000" b="1" i="1" smtClean="0">
                          <a:solidFill>
                            <a:srgbClr val="FF0000"/>
                          </a:solidFill>
                          <a:latin typeface="Cambria Math" panose="02040503050406030204" pitchFamily="18" charset="0"/>
                          <a:ea typeface="Cambria Math" panose="02040503050406030204" pitchFamily="18" charset="0"/>
                        </a:rPr>
                        <m:t> </m:t>
                      </m:r>
                      <m:r>
                        <a:rPr lang="en-AU" sz="2000" b="1" i="1" smtClean="0">
                          <a:solidFill>
                            <a:srgbClr val="FF0000"/>
                          </a:solidFill>
                          <a:latin typeface="Cambria Math" panose="02040503050406030204" pitchFamily="18" charset="0"/>
                          <a:ea typeface="Cambria Math" panose="02040503050406030204" pitchFamily="18" charset="0"/>
                        </a:rPr>
                        <m:t>𝒄𝒎</m:t>
                      </m:r>
                      <m:r>
                        <a:rPr lang="en-AU" sz="2000" b="1" i="1" smtClean="0">
                          <a:solidFill>
                            <a:srgbClr val="FF0000"/>
                          </a:solidFill>
                          <a:latin typeface="Cambria Math" panose="02040503050406030204" pitchFamily="18" charset="0"/>
                          <a:ea typeface="Cambria Math" panose="02040503050406030204" pitchFamily="18" charset="0"/>
                        </a:rPr>
                        <m:t>)</m:t>
                      </m:r>
                    </m:oMath>
                  </m:oMathPara>
                </a14:m>
                <a:endParaRPr lang="en-AU" b="1" dirty="0" smtClean="0">
                  <a:ea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164299" y="3996508"/>
                <a:ext cx="4486807" cy="1726435"/>
              </a:xfrm>
              <a:prstGeom prst="rect">
                <a:avLst/>
              </a:prstGeom>
              <a:blipFill>
                <a:blip r:embed="rId2"/>
                <a:stretch>
                  <a:fillRect b="-106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60039" y="1715999"/>
                <a:ext cx="6253134" cy="12931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rPr>
                        <m:t>𝑨𝒓𝒆𝒂</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𝒐𝒇</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𝑺𝒉𝒂𝒅𝒆𝒅</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𝑹𝒆𝒈𝒊𝒐𝒏</m:t>
                      </m:r>
                      <m:r>
                        <a:rPr lang="en-AU" sz="2000" b="1" i="1" smtClean="0">
                          <a:solidFill>
                            <a:srgbClr val="FF0000"/>
                          </a:solidFill>
                          <a:latin typeface="Cambria Math" panose="02040503050406030204" pitchFamily="18" charset="0"/>
                        </a:rPr>
                        <m:t>=</m:t>
                      </m:r>
                      <m:sSup>
                        <m:sSupPr>
                          <m:ctrlPr>
                            <a:rPr lang="en-AU" sz="2000" b="1" i="1" smtClean="0">
                              <a:solidFill>
                                <a:srgbClr val="FF0000"/>
                              </a:solidFill>
                              <a:latin typeface="Cambria Math" panose="02040503050406030204" pitchFamily="18" charset="0"/>
                            </a:rPr>
                          </m:ctrlPr>
                        </m:sSupPr>
                        <m:e>
                          <m:r>
                            <a:rPr lang="en-AU" sz="2000" b="1" i="1" smtClean="0">
                              <a:solidFill>
                                <a:srgbClr val="FF0000"/>
                              </a:solidFill>
                              <a:latin typeface="Cambria Math" panose="02040503050406030204" pitchFamily="18" charset="0"/>
                            </a:rPr>
                            <m:t>𝟔</m:t>
                          </m:r>
                        </m:e>
                        <m:sup>
                          <m:r>
                            <a:rPr lang="en-AU" sz="2000" b="1" i="1" smtClean="0">
                              <a:solidFill>
                                <a:srgbClr val="FF0000"/>
                              </a:solidFill>
                              <a:latin typeface="Cambria Math" panose="02040503050406030204" pitchFamily="18" charset="0"/>
                            </a:rPr>
                            <m:t>𝟐</m:t>
                          </m:r>
                        </m:sup>
                      </m:sSup>
                      <m:r>
                        <a:rPr lang="en-AU" sz="2000" b="1" i="1" smtClean="0">
                          <a:solidFill>
                            <a:srgbClr val="FF0000"/>
                          </a:solidFill>
                          <a:latin typeface="Cambria Math" panose="02040503050406030204" pitchFamily="18" charset="0"/>
                        </a:rPr>
                        <m:t>+</m:t>
                      </m:r>
                      <m:f>
                        <m:fPr>
                          <m:ctrlPr>
                            <a:rPr lang="en-AU" sz="2000" b="1" i="1" smtClean="0">
                              <a:solidFill>
                                <a:srgbClr val="FF0000"/>
                              </a:solidFill>
                              <a:latin typeface="Cambria Math" panose="02040503050406030204" pitchFamily="18" charset="0"/>
                            </a:rPr>
                          </m:ctrlPr>
                        </m:fPr>
                        <m:num>
                          <m:r>
                            <a:rPr lang="en-AU" sz="2000" b="1" i="1" smtClean="0">
                              <a:solidFill>
                                <a:srgbClr val="FF0000"/>
                              </a:solidFill>
                              <a:latin typeface="Cambria Math" panose="02040503050406030204" pitchFamily="18" charset="0"/>
                            </a:rPr>
                            <m:t>𝟒𝟎</m:t>
                          </m:r>
                        </m:num>
                        <m:den>
                          <m:r>
                            <a:rPr lang="en-AU" sz="2000" b="1" i="1" smtClean="0">
                              <a:solidFill>
                                <a:srgbClr val="FF0000"/>
                              </a:solidFill>
                              <a:latin typeface="Cambria Math" panose="02040503050406030204" pitchFamily="18" charset="0"/>
                            </a:rPr>
                            <m:t>𝟑𝟔𝟎</m:t>
                          </m:r>
                        </m:den>
                      </m:f>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𝝅</m:t>
                      </m:r>
                      <m:r>
                        <a:rPr lang="en-AU" sz="2000" b="1" i="1" smtClean="0">
                          <a:solidFill>
                            <a:srgbClr val="FF0000"/>
                          </a:solidFill>
                          <a:latin typeface="Cambria Math" panose="02040503050406030204" pitchFamily="18" charset="0"/>
                          <a:ea typeface="Cambria Math" panose="02040503050406030204" pitchFamily="18" charset="0"/>
                        </a:rPr>
                        <m:t>×</m:t>
                      </m:r>
                      <m:sSup>
                        <m:sSupPr>
                          <m:ctrlPr>
                            <a:rPr lang="en-AU" sz="2000" b="1" i="1" smtClean="0">
                              <a:solidFill>
                                <a:srgbClr val="FF0000"/>
                              </a:solidFill>
                              <a:latin typeface="Cambria Math" panose="02040503050406030204" pitchFamily="18" charset="0"/>
                              <a:ea typeface="Cambria Math" panose="02040503050406030204" pitchFamily="18" charset="0"/>
                            </a:rPr>
                          </m:ctrlPr>
                        </m:sSupPr>
                        <m:e>
                          <m:r>
                            <a:rPr lang="en-AU" sz="2000" b="1" i="1" smtClean="0">
                              <a:solidFill>
                                <a:srgbClr val="FF0000"/>
                              </a:solidFill>
                              <a:latin typeface="Cambria Math" panose="02040503050406030204" pitchFamily="18" charset="0"/>
                              <a:ea typeface="Cambria Math" panose="02040503050406030204" pitchFamily="18" charset="0"/>
                            </a:rPr>
                            <m:t>𝟔</m:t>
                          </m:r>
                        </m:e>
                        <m:sup>
                          <m:r>
                            <a:rPr lang="en-AU" sz="2000" b="1" i="1" smtClean="0">
                              <a:solidFill>
                                <a:srgbClr val="FF0000"/>
                              </a:solidFill>
                              <a:latin typeface="Cambria Math" panose="02040503050406030204" pitchFamily="18" charset="0"/>
                              <a:ea typeface="Cambria Math" panose="02040503050406030204" pitchFamily="18" charset="0"/>
                            </a:rPr>
                            <m:t>𝟐</m:t>
                          </m:r>
                        </m:sup>
                      </m:sSup>
                    </m:oMath>
                  </m:oMathPara>
                </a14:m>
                <a:endParaRPr lang="en-AU" sz="2000" b="1" dirty="0" smtClean="0">
                  <a:solidFill>
                    <a:srgbClr val="FF0000"/>
                  </a:solidFill>
                  <a:ea typeface="Cambria Math" panose="02040503050406030204" pitchFamily="18" charset="0"/>
                </a:endParaRPr>
              </a:p>
              <a:p>
                <a:endParaRPr lang="en-AU" sz="2000" b="1" dirty="0" smtClean="0">
                  <a:solidFill>
                    <a:srgbClr val="FF000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1" i="1" u="sng" smtClean="0">
                          <a:solidFill>
                            <a:srgbClr val="FF0000"/>
                          </a:solidFill>
                          <a:latin typeface="Cambria Math" panose="02040503050406030204" pitchFamily="18" charset="0"/>
                          <a:ea typeface="Cambria Math" panose="02040503050406030204" pitchFamily="18" charset="0"/>
                        </a:rPr>
                        <m:t>=</m:t>
                      </m:r>
                      <m:r>
                        <a:rPr lang="en-AU" sz="2000" b="1" i="1" u="sng" smtClean="0">
                          <a:solidFill>
                            <a:srgbClr val="FF0000"/>
                          </a:solidFill>
                          <a:latin typeface="Cambria Math" panose="02040503050406030204" pitchFamily="18" charset="0"/>
                          <a:ea typeface="Cambria Math" panose="02040503050406030204" pitchFamily="18" charset="0"/>
                        </a:rPr>
                        <m:t>𝟒𝟖</m:t>
                      </m:r>
                      <m:r>
                        <a:rPr lang="en-AU" sz="2000" b="1" i="1" u="sng" smtClean="0">
                          <a:solidFill>
                            <a:srgbClr val="FF0000"/>
                          </a:solidFill>
                          <a:latin typeface="Cambria Math" panose="02040503050406030204" pitchFamily="18" charset="0"/>
                          <a:ea typeface="Cambria Math" panose="02040503050406030204" pitchFamily="18" charset="0"/>
                        </a:rPr>
                        <m:t>.</m:t>
                      </m:r>
                      <m:r>
                        <a:rPr lang="en-AU" sz="2000" b="1" i="1" u="sng" smtClean="0">
                          <a:solidFill>
                            <a:srgbClr val="FF0000"/>
                          </a:solidFill>
                          <a:latin typeface="Cambria Math" panose="02040503050406030204" pitchFamily="18" charset="0"/>
                          <a:ea typeface="Cambria Math" panose="02040503050406030204" pitchFamily="18" charset="0"/>
                        </a:rPr>
                        <m:t>𝟓𝟕</m:t>
                      </m:r>
                      <m:r>
                        <a:rPr lang="en-AU" sz="2000" b="1" i="1" u="sng" smtClean="0">
                          <a:solidFill>
                            <a:srgbClr val="FF0000"/>
                          </a:solidFill>
                          <a:latin typeface="Cambria Math" panose="02040503050406030204" pitchFamily="18" charset="0"/>
                          <a:ea typeface="Cambria Math" panose="02040503050406030204" pitchFamily="18" charset="0"/>
                        </a:rPr>
                        <m:t> </m:t>
                      </m:r>
                      <m:sSup>
                        <m:sSupPr>
                          <m:ctrlPr>
                            <a:rPr lang="en-AU" sz="2000" b="1" i="1" u="sng" smtClean="0">
                              <a:solidFill>
                                <a:srgbClr val="FF0000"/>
                              </a:solidFill>
                              <a:latin typeface="Cambria Math" panose="02040503050406030204" pitchFamily="18" charset="0"/>
                              <a:ea typeface="Cambria Math" panose="02040503050406030204" pitchFamily="18" charset="0"/>
                            </a:rPr>
                          </m:ctrlPr>
                        </m:sSupPr>
                        <m:e>
                          <m:r>
                            <a:rPr lang="en-AU" sz="2000" b="1" i="1" u="sng" smtClean="0">
                              <a:solidFill>
                                <a:srgbClr val="FF0000"/>
                              </a:solidFill>
                              <a:latin typeface="Cambria Math" panose="02040503050406030204" pitchFamily="18" charset="0"/>
                              <a:ea typeface="Cambria Math" panose="02040503050406030204" pitchFamily="18" charset="0"/>
                            </a:rPr>
                            <m:t>𝒎</m:t>
                          </m:r>
                        </m:e>
                        <m:sup>
                          <m:r>
                            <a:rPr lang="en-AU" sz="2000" b="1" i="1" u="sng" smtClean="0">
                              <a:solidFill>
                                <a:srgbClr val="FF0000"/>
                              </a:solidFill>
                              <a:latin typeface="Cambria Math" panose="02040503050406030204" pitchFamily="18" charset="0"/>
                              <a:ea typeface="Cambria Math" panose="02040503050406030204" pitchFamily="18" charset="0"/>
                            </a:rPr>
                            <m:t>𝟐</m:t>
                          </m:r>
                        </m:sup>
                      </m:sSup>
                      <m:r>
                        <a:rPr lang="en-AU" sz="2000" b="1" i="1" u="sng" smtClean="0">
                          <a:solidFill>
                            <a:srgbClr val="FF0000"/>
                          </a:solidFill>
                          <a:latin typeface="Cambria Math" panose="02040503050406030204" pitchFamily="18" charset="0"/>
                          <a:ea typeface="Cambria Math" panose="02040503050406030204" pitchFamily="18" charset="0"/>
                        </a:rPr>
                        <m:t> (</m:t>
                      </m:r>
                      <m:r>
                        <a:rPr lang="en-AU" sz="2000" b="1" i="1" u="sng" smtClean="0">
                          <a:solidFill>
                            <a:srgbClr val="FF0000"/>
                          </a:solidFill>
                          <a:latin typeface="Cambria Math" panose="02040503050406030204" pitchFamily="18" charset="0"/>
                          <a:ea typeface="Cambria Math" panose="02040503050406030204" pitchFamily="18" charset="0"/>
                        </a:rPr>
                        <m:t>𝒓𝒐𝒖𝒏𝒅𝒆𝒅</m:t>
                      </m:r>
                      <m:r>
                        <a:rPr lang="en-AU" sz="2000" b="1" i="1" u="sng" smtClean="0">
                          <a:solidFill>
                            <a:srgbClr val="FF0000"/>
                          </a:solidFill>
                          <a:latin typeface="Cambria Math" panose="02040503050406030204" pitchFamily="18" charset="0"/>
                          <a:ea typeface="Cambria Math" panose="02040503050406030204" pitchFamily="18" charset="0"/>
                        </a:rPr>
                        <m:t> </m:t>
                      </m:r>
                      <m:r>
                        <a:rPr lang="en-AU" sz="2000" b="1" i="1" u="sng" smtClean="0">
                          <a:solidFill>
                            <a:srgbClr val="FF0000"/>
                          </a:solidFill>
                          <a:latin typeface="Cambria Math" panose="02040503050406030204" pitchFamily="18" charset="0"/>
                          <a:ea typeface="Cambria Math" panose="02040503050406030204" pitchFamily="18" charset="0"/>
                        </a:rPr>
                        <m:t>𝒕𝒐</m:t>
                      </m:r>
                      <m:r>
                        <a:rPr lang="en-AU" sz="2000" b="1" i="1" u="sng" smtClean="0">
                          <a:solidFill>
                            <a:srgbClr val="FF0000"/>
                          </a:solidFill>
                          <a:latin typeface="Cambria Math" panose="02040503050406030204" pitchFamily="18" charset="0"/>
                          <a:ea typeface="Cambria Math" panose="02040503050406030204" pitchFamily="18" charset="0"/>
                        </a:rPr>
                        <m:t> </m:t>
                      </m:r>
                      <m:r>
                        <a:rPr lang="en-AU" sz="2000" b="1" i="1" u="sng" smtClean="0">
                          <a:solidFill>
                            <a:srgbClr val="FF0000"/>
                          </a:solidFill>
                          <a:latin typeface="Cambria Math" panose="02040503050406030204" pitchFamily="18" charset="0"/>
                          <a:ea typeface="Cambria Math" panose="02040503050406030204" pitchFamily="18" charset="0"/>
                        </a:rPr>
                        <m:t>𝟐</m:t>
                      </m:r>
                      <m:r>
                        <a:rPr lang="en-AU" sz="2000" b="1" i="1" u="sng" smtClean="0">
                          <a:solidFill>
                            <a:srgbClr val="FF0000"/>
                          </a:solidFill>
                          <a:latin typeface="Cambria Math" panose="02040503050406030204" pitchFamily="18" charset="0"/>
                          <a:ea typeface="Cambria Math" panose="02040503050406030204" pitchFamily="18" charset="0"/>
                        </a:rPr>
                        <m:t> </m:t>
                      </m:r>
                      <m:r>
                        <a:rPr lang="en-AU" sz="2000" b="1" i="1" u="sng" smtClean="0">
                          <a:solidFill>
                            <a:srgbClr val="FF0000"/>
                          </a:solidFill>
                          <a:latin typeface="Cambria Math" panose="02040503050406030204" pitchFamily="18" charset="0"/>
                          <a:ea typeface="Cambria Math" panose="02040503050406030204" pitchFamily="18" charset="0"/>
                        </a:rPr>
                        <m:t>𝒅</m:t>
                      </m:r>
                      <m:r>
                        <a:rPr lang="en-AU" sz="2000" b="1" i="1" u="sng" smtClean="0">
                          <a:solidFill>
                            <a:srgbClr val="FF0000"/>
                          </a:solidFill>
                          <a:latin typeface="Cambria Math" panose="02040503050406030204" pitchFamily="18" charset="0"/>
                          <a:ea typeface="Cambria Math" panose="02040503050406030204" pitchFamily="18" charset="0"/>
                        </a:rPr>
                        <m:t>.</m:t>
                      </m:r>
                      <m:r>
                        <a:rPr lang="en-AU" sz="2000" b="1" i="1" u="sng" smtClean="0">
                          <a:solidFill>
                            <a:srgbClr val="FF0000"/>
                          </a:solidFill>
                          <a:latin typeface="Cambria Math" panose="02040503050406030204" pitchFamily="18" charset="0"/>
                          <a:ea typeface="Cambria Math" panose="02040503050406030204" pitchFamily="18" charset="0"/>
                        </a:rPr>
                        <m:t>𝒑</m:t>
                      </m:r>
                      <m:r>
                        <a:rPr lang="en-AU" sz="2000" b="1" i="1" u="sng" smtClean="0">
                          <a:solidFill>
                            <a:srgbClr val="FF0000"/>
                          </a:solidFill>
                          <a:latin typeface="Cambria Math" panose="02040503050406030204" pitchFamily="18" charset="0"/>
                          <a:ea typeface="Cambria Math" panose="02040503050406030204" pitchFamily="18" charset="0"/>
                        </a:rPr>
                        <m:t>.)</m:t>
                      </m:r>
                    </m:oMath>
                  </m:oMathPara>
                </a14:m>
                <a:endParaRPr lang="en-AU" b="1" u="sng" dirty="0" smtClean="0">
                  <a:ea typeface="Cambria Math" panose="020405030504060302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60039" y="1715999"/>
                <a:ext cx="6253134" cy="1293111"/>
              </a:xfrm>
              <a:prstGeom prst="rect">
                <a:avLst/>
              </a:prstGeom>
              <a:blipFill>
                <a:blip r:embed="rId3"/>
                <a:stretch>
                  <a:fillRect b="-3756"/>
                </a:stretch>
              </a:blipFill>
            </p:spPr>
            <p:txBody>
              <a:bodyPr/>
              <a:lstStyle/>
              <a:p>
                <a:r>
                  <a:rPr lang="en-AU">
                    <a:noFill/>
                  </a:rPr>
                  <a:t> </a:t>
                </a:r>
              </a:p>
            </p:txBody>
          </p:sp>
        </mc:Fallback>
      </mc:AlternateContent>
      <p:pic>
        <p:nvPicPr>
          <p:cNvPr id="2" name="Picture 1"/>
          <p:cNvPicPr>
            <a:picLocks noChangeAspect="1"/>
          </p:cNvPicPr>
          <p:nvPr/>
        </p:nvPicPr>
        <p:blipFill>
          <a:blip r:embed="rId4"/>
          <a:stretch>
            <a:fillRect/>
          </a:stretch>
        </p:blipFill>
        <p:spPr>
          <a:xfrm>
            <a:off x="7683835" y="1657055"/>
            <a:ext cx="3219450" cy="4248150"/>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9012425" y="923884"/>
                <a:ext cx="2551043" cy="1003608"/>
              </a:xfrm>
              <a:prstGeom prst="rect">
                <a:avLst/>
              </a:prstGeom>
              <a:solidFill>
                <a:srgbClr val="FFFF00"/>
              </a:solidFill>
            </p:spPr>
            <p:txBody>
              <a:bodyPr wrap="square" rtlCol="0">
                <a:spAutoFit/>
              </a:bodyPr>
              <a:lstStyle/>
              <a:p>
                <a:r>
                  <a:rPr lang="en-AU" sz="2400" dirty="0" smtClean="0"/>
                  <a:t>Sectors are </a:t>
                </a:r>
                <a14:m>
                  <m:oMath xmlns:m="http://schemas.openxmlformats.org/officeDocument/2006/math">
                    <m:f>
                      <m:fPr>
                        <m:ctrlPr>
                          <a:rPr lang="en-AU" sz="2400" i="1" smtClean="0">
                            <a:latin typeface="Cambria Math" panose="02040503050406030204" pitchFamily="18" charset="0"/>
                          </a:rPr>
                        </m:ctrlPr>
                      </m:fPr>
                      <m:num>
                        <m:r>
                          <a:rPr lang="en-AU" sz="2400" i="1" smtClean="0">
                            <a:latin typeface="Cambria Math" panose="02040503050406030204" pitchFamily="18" charset="0"/>
                            <a:ea typeface="Cambria Math" panose="02040503050406030204" pitchFamily="18" charset="0"/>
                          </a:rPr>
                          <m:t>𝜃</m:t>
                        </m:r>
                      </m:num>
                      <m:den>
                        <m:r>
                          <a:rPr lang="en-AU" sz="2400" b="0" i="1" smtClean="0">
                            <a:latin typeface="Cambria Math" panose="02040503050406030204" pitchFamily="18" charset="0"/>
                          </a:rPr>
                          <m:t>360</m:t>
                        </m:r>
                      </m:den>
                    </m:f>
                  </m:oMath>
                </a14:m>
                <a:r>
                  <a:rPr lang="en-AU" sz="2400" dirty="0" smtClean="0"/>
                  <a:t> of a full circle</a:t>
                </a:r>
                <a:endParaRPr lang="en-AU"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9012425" y="923884"/>
                <a:ext cx="2551043" cy="1003608"/>
              </a:xfrm>
              <a:prstGeom prst="rect">
                <a:avLst/>
              </a:prstGeom>
              <a:blipFill>
                <a:blip r:embed="rId5"/>
                <a:stretch>
                  <a:fillRect l="-3580" r="-5967" b="-13415"/>
                </a:stretch>
              </a:blipFill>
            </p:spPr>
            <p:txBody>
              <a:bodyPr/>
              <a:lstStyle/>
              <a:p>
                <a:r>
                  <a:rPr lang="en-AU">
                    <a:noFill/>
                  </a:rPr>
                  <a:t> </a:t>
                </a:r>
              </a:p>
            </p:txBody>
          </p:sp>
        </mc:Fallback>
      </mc:AlternateContent>
      <p:sp>
        <p:nvSpPr>
          <p:cNvPr id="11" name="TextBox 10"/>
          <p:cNvSpPr txBox="1"/>
          <p:nvPr/>
        </p:nvSpPr>
        <p:spPr>
          <a:xfrm>
            <a:off x="7964082" y="239477"/>
            <a:ext cx="2939203" cy="461665"/>
          </a:xfrm>
          <a:prstGeom prst="rect">
            <a:avLst/>
          </a:prstGeom>
          <a:solidFill>
            <a:srgbClr val="FFFF00"/>
          </a:solidFill>
        </p:spPr>
        <p:txBody>
          <a:bodyPr wrap="square" rtlCol="0">
            <a:spAutoFit/>
          </a:bodyPr>
          <a:lstStyle/>
          <a:p>
            <a:r>
              <a:rPr lang="en-AU" sz="2400" dirty="0" smtClean="0"/>
              <a:t>Now Try Ex 8A and 8B</a:t>
            </a:r>
            <a:endParaRPr lang="en-AU" sz="2400" dirty="0"/>
          </a:p>
        </p:txBody>
      </p:sp>
    </p:spTree>
    <p:extLst>
      <p:ext uri="{BB962C8B-B14F-4D97-AF65-F5344CB8AC3E}">
        <p14:creationId xmlns:p14="http://schemas.microsoft.com/office/powerpoint/2010/main" val="1643106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5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500"/>
                                        <p:tgtEl>
                                          <p:spTgt spid="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5599990" cy="461665"/>
          </a:xfrm>
          <a:prstGeom prst="rect">
            <a:avLst/>
          </a:prstGeom>
          <a:solidFill>
            <a:srgbClr val="FFFF00"/>
          </a:solidFill>
        </p:spPr>
        <p:txBody>
          <a:bodyPr wrap="square" rtlCol="0">
            <a:spAutoFit/>
          </a:bodyPr>
          <a:lstStyle/>
          <a:p>
            <a:r>
              <a:rPr lang="en-AU" sz="2400" dirty="0" smtClean="0"/>
              <a:t>Y11 Apps Chapter 8 Example 2</a:t>
            </a:r>
            <a:endParaRPr lang="en-AU" sz="2400" dirty="0"/>
          </a:p>
        </p:txBody>
      </p:sp>
      <mc:AlternateContent xmlns:mc="http://schemas.openxmlformats.org/markup-compatibility/2006" xmlns:a14="http://schemas.microsoft.com/office/drawing/2010/main">
        <mc:Choice Requires="a14">
          <p:sp>
            <p:nvSpPr>
              <p:cNvPr id="5" name="TextBox 4"/>
              <p:cNvSpPr txBox="1"/>
              <p:nvPr/>
            </p:nvSpPr>
            <p:spPr>
              <a:xfrm>
                <a:off x="340770" y="732656"/>
                <a:ext cx="11222698" cy="830997"/>
              </a:xfrm>
              <a:prstGeom prst="rect">
                <a:avLst/>
              </a:prstGeom>
              <a:noFill/>
            </p:spPr>
            <p:txBody>
              <a:bodyPr wrap="square" rtlCol="0">
                <a:spAutoFit/>
              </a:bodyPr>
              <a:lstStyle/>
              <a:p>
                <a:r>
                  <a:rPr lang="en-AU" sz="2400" dirty="0" smtClean="0"/>
                  <a:t>If a circle is to have an area of </a:t>
                </a:r>
                <a14:m>
                  <m:oMath xmlns:m="http://schemas.openxmlformats.org/officeDocument/2006/math">
                    <m:r>
                      <a:rPr lang="en-AU" sz="2400" b="0" i="1" smtClean="0">
                        <a:latin typeface="Cambria Math" panose="02040503050406030204" pitchFamily="18" charset="0"/>
                      </a:rPr>
                      <m:t>18</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𝑐𝑚</m:t>
                        </m:r>
                      </m:e>
                      <m:sup>
                        <m:r>
                          <a:rPr lang="en-AU" sz="2400" b="0" i="1" smtClean="0">
                            <a:latin typeface="Cambria Math" panose="02040503050406030204" pitchFamily="18" charset="0"/>
                          </a:rPr>
                          <m:t>2</m:t>
                        </m:r>
                      </m:sup>
                    </m:sSup>
                  </m:oMath>
                </a14:m>
                <a:r>
                  <a:rPr lang="en-AU" sz="2400" dirty="0" smtClean="0"/>
                  <a:t> what must be the radius of the circle, to the nearest millimetre?</a:t>
                </a:r>
                <a:endParaRPr lang="en-AU"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40770" y="732656"/>
                <a:ext cx="11222698" cy="830997"/>
              </a:xfrm>
              <a:prstGeom prst="rect">
                <a:avLst/>
              </a:prstGeom>
              <a:blipFill>
                <a:blip r:embed="rId2"/>
                <a:stretch>
                  <a:fillRect l="-869" t="-5839" b="-1532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823529" y="1550272"/>
                <a:ext cx="4486807" cy="10296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rPr>
                        <m:t>𝑨𝒓𝒆𝒂</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𝒐𝒇</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𝒂</m:t>
                      </m:r>
                      <m:r>
                        <a:rPr lang="en-AU" sz="2000" b="1" i="1" smtClean="0">
                          <a:solidFill>
                            <a:srgbClr val="FF0000"/>
                          </a:solidFill>
                          <a:latin typeface="Cambria Math" panose="02040503050406030204" pitchFamily="18" charset="0"/>
                        </a:rPr>
                        <m:t> </m:t>
                      </m:r>
                      <m:r>
                        <a:rPr lang="en-AU" sz="2000" b="1" i="1" smtClean="0">
                          <a:solidFill>
                            <a:srgbClr val="FF0000"/>
                          </a:solidFill>
                          <a:latin typeface="Cambria Math" panose="02040503050406030204" pitchFamily="18" charset="0"/>
                        </a:rPr>
                        <m:t>𝒄𝒊𝒓𝒄𝒍𝒆</m:t>
                      </m:r>
                      <m:r>
                        <a:rPr lang="en-AU" sz="2000" b="1" i="1" smtClean="0">
                          <a:solidFill>
                            <a:srgbClr val="FF0000"/>
                          </a:solidFill>
                          <a:latin typeface="Cambria Math" panose="02040503050406030204" pitchFamily="18" charset="0"/>
                        </a:rPr>
                        <m:t>=</m:t>
                      </m:r>
                      <m:r>
                        <a:rPr lang="el-GR" sz="2000" b="1" i="1" smtClean="0">
                          <a:solidFill>
                            <a:srgbClr val="FF0000"/>
                          </a:solidFill>
                          <a:latin typeface="Cambria Math" panose="02040503050406030204" pitchFamily="18" charset="0"/>
                        </a:rPr>
                        <m:t>𝝅</m:t>
                      </m:r>
                      <m:sSup>
                        <m:sSupPr>
                          <m:ctrlPr>
                            <a:rPr lang="en-AU" sz="2000" b="1" i="1" smtClean="0">
                              <a:solidFill>
                                <a:srgbClr val="FF0000"/>
                              </a:solidFill>
                              <a:latin typeface="Cambria Math" panose="02040503050406030204" pitchFamily="18" charset="0"/>
                            </a:rPr>
                          </m:ctrlPr>
                        </m:sSupPr>
                        <m:e>
                          <m:r>
                            <a:rPr lang="en-AU" sz="2000" b="1" i="1" smtClean="0">
                              <a:solidFill>
                                <a:srgbClr val="FF0000"/>
                              </a:solidFill>
                              <a:latin typeface="Cambria Math" panose="02040503050406030204" pitchFamily="18" charset="0"/>
                            </a:rPr>
                            <m:t>𝒓</m:t>
                          </m:r>
                        </m:e>
                        <m:sup>
                          <m:r>
                            <a:rPr lang="en-AU" sz="2000" b="1" i="1" smtClean="0">
                              <a:solidFill>
                                <a:srgbClr val="FF0000"/>
                              </a:solidFill>
                              <a:latin typeface="Cambria Math" panose="02040503050406030204" pitchFamily="18" charset="0"/>
                            </a:rPr>
                            <m:t>𝟐</m:t>
                          </m:r>
                        </m:sup>
                      </m:sSup>
                    </m:oMath>
                  </m:oMathPara>
                </a14:m>
                <a:endParaRPr lang="en-AU" sz="2000" b="1" dirty="0" smtClean="0">
                  <a:solidFill>
                    <a:srgbClr val="FF0000"/>
                  </a:solidFill>
                  <a:ea typeface="Cambria Math" panose="02040503050406030204" pitchFamily="18" charset="0"/>
                </a:endParaRPr>
              </a:p>
              <a:p>
                <a:endParaRPr lang="en-AU" sz="2000" b="1" dirty="0" smtClean="0">
                  <a:solidFill>
                    <a:srgbClr val="FF000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ea typeface="Cambria Math" panose="02040503050406030204" pitchFamily="18" charset="0"/>
                        </a:rPr>
                        <m:t>𝟏𝟖</m:t>
                      </m:r>
                      <m:r>
                        <a:rPr lang="en-AU" sz="2000" b="1" i="1" smtClean="0">
                          <a:solidFill>
                            <a:srgbClr val="FF0000"/>
                          </a:solidFill>
                          <a:latin typeface="Cambria Math" panose="02040503050406030204" pitchFamily="18" charset="0"/>
                          <a:ea typeface="Cambria Math" panose="02040503050406030204" pitchFamily="18" charset="0"/>
                        </a:rPr>
                        <m:t>=</m:t>
                      </m:r>
                      <m:r>
                        <a:rPr lang="el-GR" sz="2000" b="1" i="1" smtClean="0">
                          <a:solidFill>
                            <a:srgbClr val="FF0000"/>
                          </a:solidFill>
                          <a:latin typeface="Cambria Math" panose="02040503050406030204" pitchFamily="18" charset="0"/>
                          <a:ea typeface="Cambria Math" panose="02040503050406030204" pitchFamily="18" charset="0"/>
                        </a:rPr>
                        <m:t>𝝅</m:t>
                      </m:r>
                      <m:sSup>
                        <m:sSupPr>
                          <m:ctrlPr>
                            <a:rPr lang="en-AU" sz="2000" b="1" i="1" smtClean="0">
                              <a:solidFill>
                                <a:srgbClr val="FF0000"/>
                              </a:solidFill>
                              <a:latin typeface="Cambria Math" panose="02040503050406030204" pitchFamily="18" charset="0"/>
                              <a:ea typeface="Cambria Math" panose="02040503050406030204" pitchFamily="18" charset="0"/>
                            </a:rPr>
                          </m:ctrlPr>
                        </m:sSupPr>
                        <m:e>
                          <m:r>
                            <a:rPr lang="en-AU" sz="2000" b="1" i="1" smtClean="0">
                              <a:solidFill>
                                <a:srgbClr val="FF0000"/>
                              </a:solidFill>
                              <a:latin typeface="Cambria Math" panose="02040503050406030204" pitchFamily="18" charset="0"/>
                              <a:ea typeface="Cambria Math" panose="02040503050406030204" pitchFamily="18" charset="0"/>
                            </a:rPr>
                            <m:t>𝒓</m:t>
                          </m:r>
                        </m:e>
                        <m:sup>
                          <m:r>
                            <a:rPr lang="en-AU" sz="2000" b="1" i="1" smtClean="0">
                              <a:solidFill>
                                <a:srgbClr val="FF0000"/>
                              </a:solidFill>
                              <a:latin typeface="Cambria Math" panose="02040503050406030204" pitchFamily="18" charset="0"/>
                              <a:ea typeface="Cambria Math" panose="02040503050406030204" pitchFamily="18" charset="0"/>
                            </a:rPr>
                            <m:t>𝟐</m:t>
                          </m:r>
                        </m:sup>
                      </m:sSup>
                    </m:oMath>
                  </m:oMathPara>
                </a14:m>
                <a:endParaRPr lang="en-AU" b="1" dirty="0" smtClean="0">
                  <a:ea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823529" y="1550272"/>
                <a:ext cx="4486807" cy="1029641"/>
              </a:xfrm>
              <a:prstGeom prst="rect">
                <a:avLst/>
              </a:prstGeom>
              <a:blipFill>
                <a:blip r:embed="rId3"/>
                <a:stretch>
                  <a:fillRect/>
                </a:stretch>
              </a:blipFill>
            </p:spPr>
            <p:txBody>
              <a:bodyPr/>
              <a:lstStyle/>
              <a:p>
                <a:r>
                  <a:rPr lang="en-AU">
                    <a:noFill/>
                  </a:rPr>
                  <a:t> </a:t>
                </a:r>
              </a:p>
            </p:txBody>
          </p:sp>
        </mc:Fallback>
      </mc:AlternateContent>
      <p:sp>
        <p:nvSpPr>
          <p:cNvPr id="11" name="TextBox 10"/>
          <p:cNvSpPr txBox="1"/>
          <p:nvPr/>
        </p:nvSpPr>
        <p:spPr>
          <a:xfrm>
            <a:off x="7964083" y="239477"/>
            <a:ext cx="2117036" cy="461665"/>
          </a:xfrm>
          <a:prstGeom prst="rect">
            <a:avLst/>
          </a:prstGeom>
          <a:solidFill>
            <a:srgbClr val="FFFF00"/>
          </a:solidFill>
        </p:spPr>
        <p:txBody>
          <a:bodyPr wrap="square" rtlCol="0">
            <a:spAutoFit/>
          </a:bodyPr>
          <a:lstStyle/>
          <a:p>
            <a:r>
              <a:rPr lang="en-AU" sz="2400" dirty="0" smtClean="0"/>
              <a:t>Now Try Ex 8C</a:t>
            </a:r>
            <a:endParaRPr lang="en-AU" sz="2400" dirty="0"/>
          </a:p>
        </p:txBody>
      </p:sp>
      <mc:AlternateContent xmlns:mc="http://schemas.openxmlformats.org/markup-compatibility/2006" xmlns:a14="http://schemas.microsoft.com/office/drawing/2010/main">
        <mc:Choice Requires="a14">
          <p:sp>
            <p:nvSpPr>
              <p:cNvPr id="9" name="TextBox 8"/>
              <p:cNvSpPr txBox="1"/>
              <p:nvPr/>
            </p:nvSpPr>
            <p:spPr>
              <a:xfrm>
                <a:off x="930493" y="2882708"/>
                <a:ext cx="4486807" cy="18876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2000" b="1" i="1" smtClean="0">
                              <a:solidFill>
                                <a:srgbClr val="FF0000"/>
                              </a:solidFill>
                              <a:latin typeface="Cambria Math" panose="02040503050406030204" pitchFamily="18" charset="0"/>
                            </a:rPr>
                          </m:ctrlPr>
                        </m:fPr>
                        <m:num>
                          <m:r>
                            <a:rPr lang="en-AU" sz="2000" b="1" i="1" smtClean="0">
                              <a:solidFill>
                                <a:srgbClr val="FF0000"/>
                              </a:solidFill>
                              <a:latin typeface="Cambria Math" panose="02040503050406030204" pitchFamily="18" charset="0"/>
                            </a:rPr>
                            <m:t>𝟏𝟖</m:t>
                          </m:r>
                        </m:num>
                        <m:den>
                          <m:r>
                            <a:rPr lang="en-AU" sz="2000" b="1" i="1" smtClean="0">
                              <a:solidFill>
                                <a:srgbClr val="FF0000"/>
                              </a:solidFill>
                              <a:latin typeface="Cambria Math" panose="02040503050406030204" pitchFamily="18" charset="0"/>
                              <a:ea typeface="Cambria Math" panose="02040503050406030204" pitchFamily="18" charset="0"/>
                            </a:rPr>
                            <m:t>𝝅</m:t>
                          </m:r>
                        </m:den>
                      </m:f>
                      <m:r>
                        <a:rPr lang="en-AU" sz="2000" b="1" i="1" smtClean="0">
                          <a:solidFill>
                            <a:srgbClr val="FF0000"/>
                          </a:solidFill>
                          <a:latin typeface="Cambria Math" panose="02040503050406030204" pitchFamily="18" charset="0"/>
                        </a:rPr>
                        <m:t>=</m:t>
                      </m:r>
                      <m:sSup>
                        <m:sSupPr>
                          <m:ctrlPr>
                            <a:rPr lang="en-AU" sz="2000" b="1" i="1" smtClean="0">
                              <a:solidFill>
                                <a:srgbClr val="FF0000"/>
                              </a:solidFill>
                              <a:latin typeface="Cambria Math" panose="02040503050406030204" pitchFamily="18" charset="0"/>
                            </a:rPr>
                          </m:ctrlPr>
                        </m:sSupPr>
                        <m:e>
                          <m:r>
                            <a:rPr lang="en-AU" sz="2000" b="1" i="1" smtClean="0">
                              <a:solidFill>
                                <a:srgbClr val="FF0000"/>
                              </a:solidFill>
                              <a:latin typeface="Cambria Math" panose="02040503050406030204" pitchFamily="18" charset="0"/>
                            </a:rPr>
                            <m:t>𝒓</m:t>
                          </m:r>
                        </m:e>
                        <m:sup>
                          <m:r>
                            <a:rPr lang="en-AU" sz="2000" b="1" i="1" smtClean="0">
                              <a:solidFill>
                                <a:srgbClr val="FF0000"/>
                              </a:solidFill>
                              <a:latin typeface="Cambria Math" panose="02040503050406030204" pitchFamily="18" charset="0"/>
                            </a:rPr>
                            <m:t>𝟐</m:t>
                          </m:r>
                        </m:sup>
                      </m:sSup>
                    </m:oMath>
                  </m:oMathPara>
                </a14:m>
                <a:endParaRPr lang="en-AU" sz="2000" b="1" dirty="0" smtClean="0">
                  <a:solidFill>
                    <a:srgbClr val="FF0000"/>
                  </a:solidFill>
                  <a:ea typeface="Cambria Math" panose="02040503050406030204" pitchFamily="18" charset="0"/>
                </a:endParaRPr>
              </a:p>
              <a:p>
                <a:endParaRPr lang="en-AU" sz="2000" b="1" dirty="0" smtClean="0">
                  <a:solidFill>
                    <a:srgbClr val="FF000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ad>
                        <m:radPr>
                          <m:degHide m:val="on"/>
                          <m:ctrlPr>
                            <a:rPr lang="en-AU" sz="2000" b="1" i="1" smtClean="0">
                              <a:solidFill>
                                <a:srgbClr val="FF0000"/>
                              </a:solidFill>
                              <a:latin typeface="Cambria Math" panose="02040503050406030204" pitchFamily="18" charset="0"/>
                              <a:ea typeface="Cambria Math" panose="02040503050406030204" pitchFamily="18" charset="0"/>
                            </a:rPr>
                          </m:ctrlPr>
                        </m:radPr>
                        <m:deg/>
                        <m:e>
                          <m:f>
                            <m:fPr>
                              <m:ctrlPr>
                                <a:rPr lang="en-AU" sz="2000" b="1" i="1" smtClean="0">
                                  <a:solidFill>
                                    <a:srgbClr val="FF0000"/>
                                  </a:solidFill>
                                  <a:latin typeface="Cambria Math" panose="02040503050406030204" pitchFamily="18" charset="0"/>
                                  <a:ea typeface="Cambria Math" panose="02040503050406030204" pitchFamily="18" charset="0"/>
                                </a:rPr>
                              </m:ctrlPr>
                            </m:fPr>
                            <m:num>
                              <m:r>
                                <a:rPr lang="en-AU" sz="2000" b="1" i="1" smtClean="0">
                                  <a:solidFill>
                                    <a:srgbClr val="FF0000"/>
                                  </a:solidFill>
                                  <a:latin typeface="Cambria Math" panose="02040503050406030204" pitchFamily="18" charset="0"/>
                                  <a:ea typeface="Cambria Math" panose="02040503050406030204" pitchFamily="18" charset="0"/>
                                </a:rPr>
                                <m:t>𝟏𝟖</m:t>
                              </m:r>
                            </m:num>
                            <m:den>
                              <m:r>
                                <a:rPr lang="en-AU" sz="2000" b="1" i="1" smtClean="0">
                                  <a:solidFill>
                                    <a:srgbClr val="FF0000"/>
                                  </a:solidFill>
                                  <a:latin typeface="Cambria Math" panose="02040503050406030204" pitchFamily="18" charset="0"/>
                                  <a:ea typeface="Cambria Math" panose="02040503050406030204" pitchFamily="18" charset="0"/>
                                </a:rPr>
                                <m:t>𝝅</m:t>
                              </m:r>
                            </m:den>
                          </m:f>
                        </m:e>
                      </m:rad>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𝒓</m:t>
                      </m:r>
                    </m:oMath>
                  </m:oMathPara>
                </a14:m>
                <a:endParaRPr lang="en-AU" b="1" dirty="0" smtClean="0">
                  <a:ea typeface="Cambria Math" panose="020405030504060302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930493" y="2882708"/>
                <a:ext cx="4486807" cy="1887633"/>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930492" y="4719193"/>
                <a:ext cx="4486807" cy="707886"/>
              </a:xfrm>
              <a:prstGeom prst="rect">
                <a:avLst/>
              </a:prstGeom>
              <a:noFill/>
            </p:spPr>
            <p:txBody>
              <a:bodyPr wrap="square" rtlCol="0">
                <a:spAutoFit/>
              </a:bodyPr>
              <a:lstStyle/>
              <a:p>
                <a:endParaRPr lang="en-AU" sz="2000" b="1" dirty="0" smtClean="0">
                  <a:solidFill>
                    <a:srgbClr val="FF000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000" b="1" i="1" smtClean="0">
                          <a:solidFill>
                            <a:srgbClr val="FF0000"/>
                          </a:solidFill>
                          <a:latin typeface="Cambria Math" panose="02040503050406030204" pitchFamily="18" charset="0"/>
                          <a:ea typeface="Cambria Math" panose="02040503050406030204" pitchFamily="18" charset="0"/>
                        </a:rPr>
                        <m:t>𝟐</m:t>
                      </m:r>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𝟑𝟗</m:t>
                      </m:r>
                      <m:r>
                        <a:rPr lang="en-AU" sz="2000" b="1" i="1" smtClean="0">
                          <a:solidFill>
                            <a:srgbClr val="FF0000"/>
                          </a:solidFill>
                          <a:latin typeface="Cambria Math" panose="02040503050406030204" pitchFamily="18" charset="0"/>
                          <a:ea typeface="Cambria Math" panose="02040503050406030204" pitchFamily="18" charset="0"/>
                        </a:rPr>
                        <m:t>=</m:t>
                      </m:r>
                      <m:r>
                        <a:rPr lang="en-AU" sz="2000" b="1" i="1" smtClean="0">
                          <a:solidFill>
                            <a:srgbClr val="FF0000"/>
                          </a:solidFill>
                          <a:latin typeface="Cambria Math" panose="02040503050406030204" pitchFamily="18" charset="0"/>
                          <a:ea typeface="Cambria Math" panose="02040503050406030204" pitchFamily="18" charset="0"/>
                        </a:rPr>
                        <m:t>𝒓</m:t>
                      </m:r>
                    </m:oMath>
                  </m:oMathPara>
                </a14:m>
                <a:endParaRPr lang="en-AU" b="1" dirty="0" smtClean="0">
                  <a:ea typeface="Cambria Math" panose="020405030504060302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930492" y="4719193"/>
                <a:ext cx="4486807" cy="707886"/>
              </a:xfrm>
              <a:prstGeom prst="rect">
                <a:avLst/>
              </a:prstGeom>
              <a:blipFill>
                <a:blip r:embed="rId5"/>
                <a:stretch>
                  <a:fillRect/>
                </a:stretch>
              </a:blipFill>
            </p:spPr>
            <p:txBody>
              <a:bodyPr/>
              <a:lstStyle/>
              <a:p>
                <a:r>
                  <a:rPr lang="en-AU">
                    <a:noFill/>
                  </a:rPr>
                  <a:t> </a:t>
                </a:r>
              </a:p>
            </p:txBody>
          </p:sp>
        </mc:Fallback>
      </mc:AlternateContent>
      <p:sp>
        <p:nvSpPr>
          <p:cNvPr id="13" name="TextBox 12"/>
          <p:cNvSpPr txBox="1"/>
          <p:nvPr/>
        </p:nvSpPr>
        <p:spPr>
          <a:xfrm>
            <a:off x="998646" y="5262405"/>
            <a:ext cx="4486807" cy="1138773"/>
          </a:xfrm>
          <a:prstGeom prst="rect">
            <a:avLst/>
          </a:prstGeom>
          <a:noFill/>
        </p:spPr>
        <p:txBody>
          <a:bodyPr wrap="square" rtlCol="0">
            <a:spAutoFit/>
          </a:bodyPr>
          <a:lstStyle/>
          <a:p>
            <a:endParaRPr lang="en-AU" sz="2000" b="1" dirty="0" smtClean="0">
              <a:solidFill>
                <a:srgbClr val="FF0000"/>
              </a:solidFill>
              <a:ea typeface="Cambria Math" panose="02040503050406030204" pitchFamily="18" charset="0"/>
            </a:endParaRPr>
          </a:p>
          <a:p>
            <a:r>
              <a:rPr lang="en-AU" sz="2400" b="1" dirty="0" smtClean="0">
                <a:solidFill>
                  <a:srgbClr val="FF0000"/>
                </a:solidFill>
                <a:ea typeface="Cambria Math" panose="02040503050406030204" pitchFamily="18" charset="0"/>
              </a:rPr>
              <a:t>The radius of the circle must be 2.4cm, to the nearest millimetre</a:t>
            </a:r>
          </a:p>
        </p:txBody>
      </p:sp>
    </p:spTree>
    <p:extLst>
      <p:ext uri="{BB962C8B-B14F-4D97-AF65-F5344CB8AC3E}">
        <p14:creationId xmlns:p14="http://schemas.microsoft.com/office/powerpoint/2010/main" val="4193826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P spid="9" grpId="0"/>
      <p:bldP spid="12" grpId="0"/>
      <p:bldP spid="1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371</TotalTime>
  <Words>354</Words>
  <Application>Microsoft Office PowerPoint</Application>
  <PresentationFormat>Widescreen</PresentationFormat>
  <Paragraphs>36</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STEDMAN Shaun [Harrisdale Senior High School]</dc:creator>
  <cp:lastModifiedBy>STEDMAN Shaun [Harrisdale Senior High School]</cp:lastModifiedBy>
  <cp:revision>8</cp:revision>
  <dcterms:created xsi:type="dcterms:W3CDTF">2021-02-03T00:27:28Z</dcterms:created>
  <dcterms:modified xsi:type="dcterms:W3CDTF">2021-05-17T00:55:38Z</dcterms:modified>
</cp:coreProperties>
</file>
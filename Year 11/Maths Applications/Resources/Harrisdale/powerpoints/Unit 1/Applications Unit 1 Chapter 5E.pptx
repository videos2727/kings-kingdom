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6" r:id="rId5"/>
    <p:sldId id="267" r:id="rId6"/>
    <p:sldId id="258"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4660"/>
  </p:normalViewPr>
  <p:slideViewPr>
    <p:cSldViewPr snapToGrid="0">
      <p:cViewPr varScale="1">
        <p:scale>
          <a:sx n="85" d="100"/>
          <a:sy n="85" d="100"/>
        </p:scale>
        <p:origin x="63" y="17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11/03/2021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11/03/2021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11/03/2021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11/03/2021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11/03/2021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11/03/2021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11/03/2021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11/03/2021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11/03/2021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11/03/2021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11/03/2021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11/03/2021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6</a:t>
            </a:r>
            <a:endParaRPr lang="en-AU" sz="2400" dirty="0"/>
          </a:p>
        </p:txBody>
      </p:sp>
      <p:sp>
        <p:nvSpPr>
          <p:cNvPr id="2" name="TextBox 1"/>
          <p:cNvSpPr txBox="1"/>
          <p:nvPr/>
        </p:nvSpPr>
        <p:spPr>
          <a:xfrm>
            <a:off x="224393" y="645129"/>
            <a:ext cx="11668417" cy="4524315"/>
          </a:xfrm>
          <a:prstGeom prst="rect">
            <a:avLst/>
          </a:prstGeom>
          <a:noFill/>
        </p:spPr>
        <p:txBody>
          <a:bodyPr wrap="square" rtlCol="0">
            <a:spAutoFit/>
          </a:bodyPr>
          <a:lstStyle/>
          <a:p>
            <a:r>
              <a:rPr lang="en-AU" sz="2400" dirty="0" smtClean="0"/>
              <a:t>Government allowances and pensions</a:t>
            </a:r>
          </a:p>
          <a:p>
            <a:endParaRPr lang="en-AU" sz="2400" dirty="0"/>
          </a:p>
          <a:p>
            <a:r>
              <a:rPr lang="en-AU" sz="2400" dirty="0" smtClean="0"/>
              <a:t>Payments like the Family Tax benefit, the Age Pension, Carer Payments, Carer Allowance, </a:t>
            </a:r>
            <a:r>
              <a:rPr lang="en-AU" sz="2400" dirty="0" err="1" smtClean="0"/>
              <a:t>Austudy</a:t>
            </a:r>
            <a:r>
              <a:rPr lang="en-AU" sz="2400" dirty="0" smtClean="0"/>
              <a:t> and the Disability Support Pension (and others) are available to financially help those in need. </a:t>
            </a:r>
          </a:p>
          <a:p>
            <a:endParaRPr lang="en-AU" sz="2400" dirty="0"/>
          </a:p>
          <a:p>
            <a:r>
              <a:rPr lang="en-AU" sz="2400" dirty="0" smtClean="0"/>
              <a:t>The Government has to make sure that the people who get these payments are genuinely in need. People have to meet basic conditions to be eligible, and may be subject to an income test or an assets test as well. </a:t>
            </a:r>
          </a:p>
          <a:p>
            <a:endParaRPr lang="en-AU" sz="2400" dirty="0"/>
          </a:p>
          <a:p>
            <a:r>
              <a:rPr lang="en-AU" sz="2400" dirty="0" smtClean="0"/>
              <a:t>We will look at three different allowances: Carer Allowance, Family Tax Benefit and the Age Pension.</a:t>
            </a:r>
            <a:endParaRPr lang="en-AU" sz="2400" dirty="0"/>
          </a:p>
        </p:txBody>
      </p:sp>
    </p:spTree>
    <p:extLst>
      <p:ext uri="{BB962C8B-B14F-4D97-AF65-F5344CB8AC3E}">
        <p14:creationId xmlns:p14="http://schemas.microsoft.com/office/powerpoint/2010/main" val="37393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6</a:t>
            </a:r>
            <a:endParaRPr lang="en-AU" sz="2400" dirty="0"/>
          </a:p>
        </p:txBody>
      </p:sp>
      <p:sp>
        <p:nvSpPr>
          <p:cNvPr id="3" name="TextBox 2"/>
          <p:cNvSpPr txBox="1"/>
          <p:nvPr/>
        </p:nvSpPr>
        <p:spPr>
          <a:xfrm>
            <a:off x="224393" y="645129"/>
            <a:ext cx="11668417" cy="3046988"/>
          </a:xfrm>
          <a:prstGeom prst="rect">
            <a:avLst/>
          </a:prstGeom>
          <a:noFill/>
        </p:spPr>
        <p:txBody>
          <a:bodyPr wrap="square" rtlCol="0">
            <a:spAutoFit/>
          </a:bodyPr>
          <a:lstStyle/>
          <a:p>
            <a:r>
              <a:rPr lang="en-AU" sz="2400" dirty="0" smtClean="0"/>
              <a:t>Carer Allowance</a:t>
            </a:r>
          </a:p>
          <a:p>
            <a:endParaRPr lang="en-AU" sz="2400" dirty="0"/>
          </a:p>
          <a:p>
            <a:r>
              <a:rPr lang="en-AU" sz="2400" dirty="0" smtClean="0"/>
              <a:t>If a person provides care to an adult or dependent child who’s disability, medical condition or frailty means that they require care on a daily basis, the person may be eligible to receive Carer Allowance.</a:t>
            </a:r>
          </a:p>
          <a:p>
            <a:endParaRPr lang="en-AU" sz="2400" dirty="0"/>
          </a:p>
          <a:p>
            <a:r>
              <a:rPr lang="en-AU" sz="2400" dirty="0" smtClean="0"/>
              <a:t>Carer Allowance is a payment of $115.40 a fortnight + an annual payment of $600 paid every July. This payment is regardless of the income or assets of the care giver.</a:t>
            </a:r>
            <a:endParaRPr lang="en-AU" sz="2400" dirty="0"/>
          </a:p>
        </p:txBody>
      </p:sp>
    </p:spTree>
    <p:extLst>
      <p:ext uri="{BB962C8B-B14F-4D97-AF65-F5344CB8AC3E}">
        <p14:creationId xmlns:p14="http://schemas.microsoft.com/office/powerpoint/2010/main" val="3602067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6</a:t>
            </a:r>
            <a:endParaRPr lang="en-AU" sz="2400" dirty="0"/>
          </a:p>
        </p:txBody>
      </p:sp>
      <p:sp>
        <p:nvSpPr>
          <p:cNvPr id="3" name="TextBox 2"/>
          <p:cNvSpPr txBox="1"/>
          <p:nvPr/>
        </p:nvSpPr>
        <p:spPr>
          <a:xfrm>
            <a:off x="241222" y="466935"/>
            <a:ext cx="11668417" cy="1569660"/>
          </a:xfrm>
          <a:prstGeom prst="rect">
            <a:avLst/>
          </a:prstGeom>
          <a:noFill/>
        </p:spPr>
        <p:txBody>
          <a:bodyPr wrap="square" rtlCol="0">
            <a:spAutoFit/>
          </a:bodyPr>
          <a:lstStyle/>
          <a:p>
            <a:r>
              <a:rPr lang="en-AU" sz="2400" dirty="0" smtClean="0"/>
              <a:t>Family Tax Benefit</a:t>
            </a:r>
          </a:p>
          <a:p>
            <a:endParaRPr lang="en-AU" sz="2400" dirty="0"/>
          </a:p>
          <a:p>
            <a:r>
              <a:rPr lang="en-AU" sz="2400" dirty="0" smtClean="0"/>
              <a:t>Family Tax Benefit can be paid to the parents/guardians of any child who is up to 15, 15-19 and still in full time education, and is living with the parent/guardian. </a:t>
            </a:r>
            <a:endParaRPr lang="en-AU" sz="2400" dirty="0"/>
          </a:p>
        </p:txBody>
      </p:sp>
      <p:pic>
        <p:nvPicPr>
          <p:cNvPr id="2" name="Picture 1"/>
          <p:cNvPicPr>
            <a:picLocks noChangeAspect="1"/>
          </p:cNvPicPr>
          <p:nvPr/>
        </p:nvPicPr>
        <p:blipFill>
          <a:blip r:embed="rId2"/>
          <a:stretch>
            <a:fillRect/>
          </a:stretch>
        </p:blipFill>
        <p:spPr>
          <a:xfrm>
            <a:off x="329780" y="2075079"/>
            <a:ext cx="8271266" cy="2295786"/>
          </a:xfrm>
          <a:prstGeom prst="rect">
            <a:avLst/>
          </a:prstGeom>
        </p:spPr>
      </p:pic>
      <p:pic>
        <p:nvPicPr>
          <p:cNvPr id="4" name="Picture 3"/>
          <p:cNvPicPr>
            <a:picLocks noChangeAspect="1"/>
          </p:cNvPicPr>
          <p:nvPr/>
        </p:nvPicPr>
        <p:blipFill>
          <a:blip r:embed="rId3"/>
          <a:stretch>
            <a:fillRect/>
          </a:stretch>
        </p:blipFill>
        <p:spPr>
          <a:xfrm>
            <a:off x="329781" y="4409349"/>
            <a:ext cx="8271266" cy="2387803"/>
          </a:xfrm>
          <a:prstGeom prst="rect">
            <a:avLst/>
          </a:prstGeom>
        </p:spPr>
      </p:pic>
    </p:spTree>
    <p:extLst>
      <p:ext uri="{BB962C8B-B14F-4D97-AF65-F5344CB8AC3E}">
        <p14:creationId xmlns:p14="http://schemas.microsoft.com/office/powerpoint/2010/main" val="25304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6</a:t>
            </a:r>
            <a:endParaRPr lang="en-AU" sz="2400" dirty="0"/>
          </a:p>
        </p:txBody>
      </p:sp>
      <p:sp>
        <p:nvSpPr>
          <p:cNvPr id="3" name="TextBox 2"/>
          <p:cNvSpPr txBox="1"/>
          <p:nvPr/>
        </p:nvSpPr>
        <p:spPr>
          <a:xfrm>
            <a:off x="241222" y="466935"/>
            <a:ext cx="11668417" cy="7109639"/>
          </a:xfrm>
          <a:prstGeom prst="rect">
            <a:avLst/>
          </a:prstGeom>
          <a:noFill/>
        </p:spPr>
        <p:txBody>
          <a:bodyPr wrap="square" rtlCol="0">
            <a:spAutoFit/>
          </a:bodyPr>
          <a:lstStyle/>
          <a:p>
            <a:r>
              <a:rPr lang="en-AU" sz="2400" dirty="0" smtClean="0"/>
              <a:t>The Age Pension</a:t>
            </a:r>
          </a:p>
          <a:p>
            <a:endParaRPr lang="en-AU" sz="2400" dirty="0"/>
          </a:p>
          <a:p>
            <a:r>
              <a:rPr lang="en-AU" sz="2400" dirty="0" smtClean="0"/>
              <a:t>Once a person reaches 67, they may be entitled to receive the Age Pension. This depends on their total income from other sources and the total value of their assets (not including the house they live in). </a:t>
            </a:r>
          </a:p>
          <a:p>
            <a:endParaRPr lang="en-AU" sz="2400" dirty="0"/>
          </a:p>
          <a:p>
            <a:r>
              <a:rPr lang="en-AU" sz="2400" dirty="0" smtClean="0"/>
              <a:t>The Age Pension is $772.60 per fortnight for a single person.</a:t>
            </a:r>
          </a:p>
          <a:p>
            <a:endParaRPr lang="en-AU" sz="2400" dirty="0"/>
          </a:p>
          <a:p>
            <a:r>
              <a:rPr lang="en-AU" sz="2400" dirty="0" smtClean="0"/>
              <a:t>The Age Pension is $582.40 per fortnight for each qualifying member of a couple.</a:t>
            </a:r>
          </a:p>
          <a:p>
            <a:endParaRPr lang="en-AU" sz="2400" dirty="0"/>
          </a:p>
          <a:p>
            <a:r>
              <a:rPr lang="en-AU" sz="2400" dirty="0" smtClean="0"/>
              <a:t>The Assets test:</a:t>
            </a:r>
          </a:p>
          <a:p>
            <a:r>
              <a:rPr lang="en-AU" sz="2400" dirty="0" smtClean="0"/>
              <a:t>The assets limit for receiving the full pension is:</a:t>
            </a:r>
          </a:p>
          <a:p>
            <a:endParaRPr lang="en-AU" sz="2400" dirty="0"/>
          </a:p>
          <a:p>
            <a:endParaRPr lang="en-AU" sz="2400" dirty="0" smtClean="0"/>
          </a:p>
          <a:p>
            <a:endParaRPr lang="en-AU" sz="2400" dirty="0"/>
          </a:p>
          <a:p>
            <a:endParaRPr lang="en-AU" sz="2400" dirty="0" smtClean="0"/>
          </a:p>
          <a:p>
            <a:r>
              <a:rPr lang="en-AU" sz="2400" dirty="0" smtClean="0"/>
              <a:t>Assets above the amount shown reduces the pension by $1.50 a fortnight for every $1000.</a:t>
            </a:r>
          </a:p>
          <a:p>
            <a:endParaRPr lang="en-AU" sz="2400" dirty="0"/>
          </a:p>
          <a:p>
            <a:endParaRPr lang="en-AU" sz="2400" dirty="0" smtClean="0"/>
          </a:p>
        </p:txBody>
      </p:sp>
      <p:graphicFrame>
        <p:nvGraphicFramePr>
          <p:cNvPr id="2" name="Table 1"/>
          <p:cNvGraphicFramePr>
            <a:graphicFrameLocks noGrp="1"/>
          </p:cNvGraphicFramePr>
          <p:nvPr>
            <p:extLst>
              <p:ext uri="{D42A27DB-BD31-4B8C-83A1-F6EECF244321}">
                <p14:modId xmlns:p14="http://schemas.microsoft.com/office/powerpoint/2010/main" val="594408760"/>
              </p:ext>
            </p:extLst>
          </p:nvPr>
        </p:nvGraphicFramePr>
        <p:xfrm>
          <a:off x="354665" y="4955077"/>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597920878"/>
                    </a:ext>
                  </a:extLst>
                </a:gridCol>
                <a:gridCol w="2709333">
                  <a:extLst>
                    <a:ext uri="{9D8B030D-6E8A-4147-A177-3AD203B41FA5}">
                      <a16:colId xmlns:a16="http://schemas.microsoft.com/office/drawing/2014/main" val="1538695965"/>
                    </a:ext>
                  </a:extLst>
                </a:gridCol>
                <a:gridCol w="2709333">
                  <a:extLst>
                    <a:ext uri="{9D8B030D-6E8A-4147-A177-3AD203B41FA5}">
                      <a16:colId xmlns:a16="http://schemas.microsoft.com/office/drawing/2014/main" val="90053611"/>
                    </a:ext>
                  </a:extLst>
                </a:gridCol>
              </a:tblGrid>
              <a:tr h="370840">
                <a:tc>
                  <a:txBody>
                    <a:bodyPr/>
                    <a:lstStyle/>
                    <a:p>
                      <a:r>
                        <a:rPr lang="en-AU" dirty="0" smtClean="0"/>
                        <a:t>Situation</a:t>
                      </a:r>
                      <a:endParaRPr lang="en-AU" dirty="0"/>
                    </a:p>
                  </a:txBody>
                  <a:tcPr/>
                </a:tc>
                <a:tc>
                  <a:txBody>
                    <a:bodyPr/>
                    <a:lstStyle/>
                    <a:p>
                      <a:r>
                        <a:rPr lang="en-AU" dirty="0" smtClean="0"/>
                        <a:t>Homeowners</a:t>
                      </a:r>
                      <a:endParaRPr lang="en-AU" dirty="0"/>
                    </a:p>
                  </a:txBody>
                  <a:tcPr/>
                </a:tc>
                <a:tc>
                  <a:txBody>
                    <a:bodyPr/>
                    <a:lstStyle/>
                    <a:p>
                      <a:r>
                        <a:rPr lang="en-AU" dirty="0" smtClean="0"/>
                        <a:t>Non-homeowners</a:t>
                      </a:r>
                      <a:endParaRPr lang="en-AU" dirty="0"/>
                    </a:p>
                  </a:txBody>
                  <a:tcPr/>
                </a:tc>
                <a:extLst>
                  <a:ext uri="{0D108BD9-81ED-4DB2-BD59-A6C34878D82A}">
                    <a16:rowId xmlns:a16="http://schemas.microsoft.com/office/drawing/2014/main" val="1149013433"/>
                  </a:ext>
                </a:extLst>
              </a:tr>
              <a:tr h="370840">
                <a:tc>
                  <a:txBody>
                    <a:bodyPr/>
                    <a:lstStyle/>
                    <a:p>
                      <a:r>
                        <a:rPr lang="en-AU" dirty="0" smtClean="0"/>
                        <a:t>Single</a:t>
                      </a:r>
                      <a:endParaRPr lang="en-AU" dirty="0"/>
                    </a:p>
                  </a:txBody>
                  <a:tcPr/>
                </a:tc>
                <a:tc>
                  <a:txBody>
                    <a:bodyPr/>
                    <a:lstStyle/>
                    <a:p>
                      <a:r>
                        <a:rPr lang="en-AU" dirty="0" smtClean="0"/>
                        <a:t>$192 500</a:t>
                      </a:r>
                      <a:endParaRPr lang="en-AU" dirty="0"/>
                    </a:p>
                  </a:txBody>
                  <a:tcPr/>
                </a:tc>
                <a:tc>
                  <a:txBody>
                    <a:bodyPr/>
                    <a:lstStyle/>
                    <a:p>
                      <a:r>
                        <a:rPr lang="en-AU" dirty="0" smtClean="0"/>
                        <a:t>$332 000</a:t>
                      </a:r>
                      <a:endParaRPr lang="en-AU" dirty="0"/>
                    </a:p>
                  </a:txBody>
                  <a:tcPr/>
                </a:tc>
                <a:extLst>
                  <a:ext uri="{0D108BD9-81ED-4DB2-BD59-A6C34878D82A}">
                    <a16:rowId xmlns:a16="http://schemas.microsoft.com/office/drawing/2014/main" val="2544468311"/>
                  </a:ext>
                </a:extLst>
              </a:tr>
              <a:tr h="370840">
                <a:tc>
                  <a:txBody>
                    <a:bodyPr/>
                    <a:lstStyle/>
                    <a:p>
                      <a:r>
                        <a:rPr lang="en-AU" dirty="0" smtClean="0"/>
                        <a:t>Couple (combined assets)</a:t>
                      </a:r>
                      <a:endParaRPr lang="en-AU" dirty="0"/>
                    </a:p>
                  </a:txBody>
                  <a:tcPr/>
                </a:tc>
                <a:tc>
                  <a:txBody>
                    <a:bodyPr/>
                    <a:lstStyle/>
                    <a:p>
                      <a:r>
                        <a:rPr lang="en-AU" dirty="0" smtClean="0"/>
                        <a:t>$273 000</a:t>
                      </a:r>
                      <a:endParaRPr lang="en-AU" dirty="0"/>
                    </a:p>
                  </a:txBody>
                  <a:tcPr/>
                </a:tc>
                <a:tc>
                  <a:txBody>
                    <a:bodyPr/>
                    <a:lstStyle/>
                    <a:p>
                      <a:r>
                        <a:rPr lang="en-AU" dirty="0" smtClean="0"/>
                        <a:t>$412 500</a:t>
                      </a:r>
                      <a:endParaRPr lang="en-AU" dirty="0"/>
                    </a:p>
                  </a:txBody>
                  <a:tcPr/>
                </a:tc>
                <a:extLst>
                  <a:ext uri="{0D108BD9-81ED-4DB2-BD59-A6C34878D82A}">
                    <a16:rowId xmlns:a16="http://schemas.microsoft.com/office/drawing/2014/main" val="1729334107"/>
                  </a:ext>
                </a:extLst>
              </a:tr>
            </a:tbl>
          </a:graphicData>
        </a:graphic>
      </p:graphicFrame>
    </p:spTree>
    <p:extLst>
      <p:ext uri="{BB962C8B-B14F-4D97-AF65-F5344CB8AC3E}">
        <p14:creationId xmlns:p14="http://schemas.microsoft.com/office/powerpoint/2010/main" val="695103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6</a:t>
            </a:r>
            <a:endParaRPr lang="en-AU" sz="2400" dirty="0"/>
          </a:p>
        </p:txBody>
      </p:sp>
      <p:sp>
        <p:nvSpPr>
          <p:cNvPr id="3" name="TextBox 2"/>
          <p:cNvSpPr txBox="1"/>
          <p:nvPr/>
        </p:nvSpPr>
        <p:spPr>
          <a:xfrm>
            <a:off x="241222" y="466935"/>
            <a:ext cx="11668417" cy="7109639"/>
          </a:xfrm>
          <a:prstGeom prst="rect">
            <a:avLst/>
          </a:prstGeom>
          <a:noFill/>
        </p:spPr>
        <p:txBody>
          <a:bodyPr wrap="square" rtlCol="0">
            <a:spAutoFit/>
          </a:bodyPr>
          <a:lstStyle/>
          <a:p>
            <a:r>
              <a:rPr lang="en-AU" sz="2400" dirty="0" smtClean="0"/>
              <a:t>The Age Pension</a:t>
            </a:r>
          </a:p>
          <a:p>
            <a:endParaRPr lang="en-AU" sz="2400" dirty="0"/>
          </a:p>
          <a:p>
            <a:r>
              <a:rPr lang="en-AU" sz="2400" dirty="0" smtClean="0"/>
              <a:t>Once a person reaches 67, they may be entitled to receive the Age Pension. This depends on their total income from other sources and the total value of their assets (not including the house they live in). </a:t>
            </a:r>
          </a:p>
          <a:p>
            <a:endParaRPr lang="en-AU" sz="2400" dirty="0"/>
          </a:p>
          <a:p>
            <a:r>
              <a:rPr lang="en-AU" sz="2400" dirty="0" smtClean="0"/>
              <a:t>The Income test:</a:t>
            </a:r>
          </a:p>
          <a:p>
            <a:r>
              <a:rPr lang="en-AU" sz="2400" dirty="0" smtClean="0"/>
              <a:t>The income limit for receiving the full pension is:</a:t>
            </a:r>
          </a:p>
          <a:p>
            <a:endParaRPr lang="en-AU" sz="2400" dirty="0"/>
          </a:p>
          <a:p>
            <a:endParaRPr lang="en-AU" sz="2400" dirty="0" smtClean="0"/>
          </a:p>
          <a:p>
            <a:endParaRPr lang="en-AU" sz="2400" dirty="0"/>
          </a:p>
          <a:p>
            <a:endParaRPr lang="en-AU" sz="2400" dirty="0" smtClean="0"/>
          </a:p>
          <a:p>
            <a:r>
              <a:rPr lang="en-AU" sz="2400" dirty="0" smtClean="0"/>
              <a:t>Income above the amounts will reduce the pension by $0.50 per $1. However, if the income is earned from employment (rather than earned through assets), the first $250 per fortnight is not counted.</a:t>
            </a:r>
          </a:p>
          <a:p>
            <a:endParaRPr lang="en-AU" sz="2400" dirty="0"/>
          </a:p>
          <a:p>
            <a:r>
              <a:rPr lang="en-AU" sz="2400" dirty="0" smtClean="0"/>
              <a:t>The lower amount from either the Assets test or the Income test is the one paid.</a:t>
            </a:r>
          </a:p>
          <a:p>
            <a:endParaRPr lang="en-AU" sz="2400" dirty="0"/>
          </a:p>
          <a:p>
            <a:endParaRPr lang="en-AU" sz="2400" dirty="0" smtClean="0"/>
          </a:p>
        </p:txBody>
      </p:sp>
      <p:graphicFrame>
        <p:nvGraphicFramePr>
          <p:cNvPr id="4" name="Table 3"/>
          <p:cNvGraphicFramePr>
            <a:graphicFrameLocks noGrp="1"/>
          </p:cNvGraphicFramePr>
          <p:nvPr>
            <p:extLst>
              <p:ext uri="{D42A27DB-BD31-4B8C-83A1-F6EECF244321}">
                <p14:modId xmlns:p14="http://schemas.microsoft.com/office/powerpoint/2010/main" val="1940546253"/>
              </p:ext>
            </p:extLst>
          </p:nvPr>
        </p:nvGraphicFramePr>
        <p:xfrm>
          <a:off x="344394" y="3597337"/>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154761754"/>
                    </a:ext>
                  </a:extLst>
                </a:gridCol>
                <a:gridCol w="4064000">
                  <a:extLst>
                    <a:ext uri="{9D8B030D-6E8A-4147-A177-3AD203B41FA5}">
                      <a16:colId xmlns:a16="http://schemas.microsoft.com/office/drawing/2014/main" val="1747217885"/>
                    </a:ext>
                  </a:extLst>
                </a:gridCol>
              </a:tblGrid>
              <a:tr h="370840">
                <a:tc>
                  <a:txBody>
                    <a:bodyPr/>
                    <a:lstStyle/>
                    <a:p>
                      <a:r>
                        <a:rPr lang="en-AU" dirty="0" smtClean="0"/>
                        <a:t>Situation</a:t>
                      </a:r>
                      <a:endParaRPr lang="en-AU" dirty="0"/>
                    </a:p>
                  </a:txBody>
                  <a:tcPr/>
                </a:tc>
                <a:tc>
                  <a:txBody>
                    <a:bodyPr/>
                    <a:lstStyle/>
                    <a:p>
                      <a:endParaRPr lang="en-AU"/>
                    </a:p>
                  </a:txBody>
                  <a:tcPr/>
                </a:tc>
                <a:extLst>
                  <a:ext uri="{0D108BD9-81ED-4DB2-BD59-A6C34878D82A}">
                    <a16:rowId xmlns:a16="http://schemas.microsoft.com/office/drawing/2014/main" val="1908045937"/>
                  </a:ext>
                </a:extLst>
              </a:tr>
              <a:tr h="370840">
                <a:tc>
                  <a:txBody>
                    <a:bodyPr/>
                    <a:lstStyle/>
                    <a:p>
                      <a:r>
                        <a:rPr lang="en-AU" dirty="0" smtClean="0"/>
                        <a:t>Single</a:t>
                      </a:r>
                      <a:endParaRPr lang="en-AU" dirty="0"/>
                    </a:p>
                  </a:txBody>
                  <a:tcPr/>
                </a:tc>
                <a:tc>
                  <a:txBody>
                    <a:bodyPr/>
                    <a:lstStyle/>
                    <a:p>
                      <a:r>
                        <a:rPr lang="en-AU" dirty="0" smtClean="0"/>
                        <a:t>$152.00 per fortnight</a:t>
                      </a:r>
                      <a:endParaRPr lang="en-AU" dirty="0"/>
                    </a:p>
                  </a:txBody>
                  <a:tcPr/>
                </a:tc>
                <a:extLst>
                  <a:ext uri="{0D108BD9-81ED-4DB2-BD59-A6C34878D82A}">
                    <a16:rowId xmlns:a16="http://schemas.microsoft.com/office/drawing/2014/main" val="2426828949"/>
                  </a:ext>
                </a:extLst>
              </a:tr>
              <a:tr h="370840">
                <a:tc>
                  <a:txBody>
                    <a:bodyPr/>
                    <a:lstStyle/>
                    <a:p>
                      <a:r>
                        <a:rPr lang="en-AU" dirty="0" smtClean="0"/>
                        <a:t>Couple</a:t>
                      </a:r>
                      <a:r>
                        <a:rPr lang="en-AU" baseline="0" dirty="0" smtClean="0"/>
                        <a:t> (combined income)</a:t>
                      </a:r>
                      <a:endParaRPr lang="en-AU" dirty="0"/>
                    </a:p>
                  </a:txBody>
                  <a:tcPr/>
                </a:tc>
                <a:tc>
                  <a:txBody>
                    <a:bodyPr/>
                    <a:lstStyle/>
                    <a:p>
                      <a:r>
                        <a:rPr lang="en-AU" dirty="0" smtClean="0"/>
                        <a:t>$268.00 per fortnight</a:t>
                      </a:r>
                      <a:endParaRPr lang="en-AU" dirty="0"/>
                    </a:p>
                  </a:txBody>
                  <a:tcPr/>
                </a:tc>
                <a:extLst>
                  <a:ext uri="{0D108BD9-81ED-4DB2-BD59-A6C34878D82A}">
                    <a16:rowId xmlns:a16="http://schemas.microsoft.com/office/drawing/2014/main" val="1346330607"/>
                  </a:ext>
                </a:extLst>
              </a:tr>
            </a:tbl>
          </a:graphicData>
        </a:graphic>
      </p:graphicFrame>
    </p:spTree>
    <p:extLst>
      <p:ext uri="{BB962C8B-B14F-4D97-AF65-F5344CB8AC3E}">
        <p14:creationId xmlns:p14="http://schemas.microsoft.com/office/powerpoint/2010/main" val="267203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4061507" cy="461665"/>
          </a:xfrm>
          <a:prstGeom prst="rect">
            <a:avLst/>
          </a:prstGeom>
          <a:solidFill>
            <a:srgbClr val="92D050"/>
          </a:solidFill>
        </p:spPr>
        <p:txBody>
          <a:bodyPr wrap="square" rtlCol="0">
            <a:spAutoFit/>
          </a:bodyPr>
          <a:lstStyle/>
          <a:p>
            <a:r>
              <a:rPr lang="en-AU" sz="2400" dirty="0" smtClean="0"/>
              <a:t>Y11 Apps Chapter 5 Example 4</a:t>
            </a:r>
            <a:endParaRPr lang="en-AU" sz="2400" dirty="0"/>
          </a:p>
        </p:txBody>
      </p:sp>
      <p:sp>
        <p:nvSpPr>
          <p:cNvPr id="2" name="TextBox 1"/>
          <p:cNvSpPr txBox="1"/>
          <p:nvPr/>
        </p:nvSpPr>
        <p:spPr>
          <a:xfrm>
            <a:off x="157075" y="622690"/>
            <a:ext cx="11746954" cy="5632311"/>
          </a:xfrm>
          <a:prstGeom prst="rect">
            <a:avLst/>
          </a:prstGeom>
          <a:noFill/>
        </p:spPr>
        <p:txBody>
          <a:bodyPr wrap="square" rtlCol="0">
            <a:spAutoFit/>
          </a:bodyPr>
          <a:lstStyle/>
          <a:p>
            <a:r>
              <a:rPr lang="en-AU" sz="2000" dirty="0" smtClean="0"/>
              <a:t>Determine the fortnightly age pension of a single homeowner with assets of $257 000 (excluding their house), of which $150 000 earn 4% per annum income, and a fortnightly earned income of $680.</a:t>
            </a:r>
          </a:p>
          <a:p>
            <a:endParaRPr lang="en-AU" sz="2000" dirty="0"/>
          </a:p>
          <a:p>
            <a:r>
              <a:rPr lang="en-AU" sz="2000" dirty="0" smtClean="0"/>
              <a:t>Assets Test:</a:t>
            </a:r>
          </a:p>
          <a:p>
            <a:r>
              <a:rPr lang="en-AU" sz="2000" dirty="0" smtClean="0"/>
              <a:t>Above level in assets test: 257 000 – 192 500 = 64 500</a:t>
            </a:r>
          </a:p>
          <a:p>
            <a:r>
              <a:rPr lang="en-AU" sz="2000" dirty="0" smtClean="0"/>
              <a:t>Reduction in pension: 64 500/1000 x 1.50 = 96.75</a:t>
            </a:r>
          </a:p>
          <a:p>
            <a:endParaRPr lang="en-AU" sz="2000" dirty="0" smtClean="0"/>
          </a:p>
          <a:p>
            <a:r>
              <a:rPr lang="en-AU" sz="2000" dirty="0" smtClean="0"/>
              <a:t>772.60 – 96.75 = $675.85 (after assets test)</a:t>
            </a:r>
          </a:p>
          <a:p>
            <a:endParaRPr lang="en-AU" sz="2000" dirty="0"/>
          </a:p>
          <a:p>
            <a:r>
              <a:rPr lang="en-AU" sz="2000" dirty="0" smtClean="0"/>
              <a:t>Income Test:</a:t>
            </a:r>
          </a:p>
          <a:p>
            <a:r>
              <a:rPr lang="en-AU" sz="2000" dirty="0" smtClean="0"/>
              <a:t>Earned income: 680 – 250 = 430 </a:t>
            </a:r>
          </a:p>
          <a:p>
            <a:r>
              <a:rPr lang="en-AU" sz="2000" dirty="0" smtClean="0"/>
              <a:t>Deemed income (from assets): 150 000 x 0.04 / 26 = 231</a:t>
            </a:r>
          </a:p>
          <a:p>
            <a:r>
              <a:rPr lang="en-AU" sz="2000" dirty="0" smtClean="0"/>
              <a:t>Total income counted towards test: 430 + 231 - 152 = 509</a:t>
            </a:r>
          </a:p>
          <a:p>
            <a:r>
              <a:rPr lang="en-AU" sz="2000" dirty="0" smtClean="0"/>
              <a:t>Reduction in pension: 509 x 0.50 = $254.50</a:t>
            </a:r>
          </a:p>
          <a:p>
            <a:endParaRPr lang="en-AU" sz="2000" dirty="0"/>
          </a:p>
          <a:p>
            <a:r>
              <a:rPr lang="en-AU" sz="2000" dirty="0" smtClean="0"/>
              <a:t>772.60 – 254.50 = $518.10 (after income test)</a:t>
            </a:r>
          </a:p>
          <a:p>
            <a:endParaRPr lang="en-AU" sz="2000" dirty="0"/>
          </a:p>
          <a:p>
            <a:r>
              <a:rPr lang="en-AU" sz="2000" dirty="0" smtClean="0"/>
              <a:t>As the income test gives the lower amount, the pensioner will receive $518.10 per fortnight.</a:t>
            </a:r>
            <a:endParaRPr lang="en-AU" sz="2000" dirty="0"/>
          </a:p>
        </p:txBody>
      </p:sp>
    </p:spTree>
    <p:extLst>
      <p:ext uri="{BB962C8B-B14F-4D97-AF65-F5344CB8AC3E}">
        <p14:creationId xmlns:p14="http://schemas.microsoft.com/office/powerpoint/2010/main" val="366018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4061507" cy="461665"/>
          </a:xfrm>
          <a:prstGeom prst="rect">
            <a:avLst/>
          </a:prstGeom>
          <a:solidFill>
            <a:srgbClr val="92D050"/>
          </a:solidFill>
        </p:spPr>
        <p:txBody>
          <a:bodyPr wrap="square" rtlCol="0">
            <a:spAutoFit/>
          </a:bodyPr>
          <a:lstStyle/>
          <a:p>
            <a:r>
              <a:rPr lang="en-AU" sz="2400" dirty="0" smtClean="0"/>
              <a:t>Y11 Apps Chapter 5 Example 5</a:t>
            </a:r>
            <a:endParaRPr lang="en-AU" sz="2400" dirty="0"/>
          </a:p>
        </p:txBody>
      </p:sp>
      <p:sp>
        <p:nvSpPr>
          <p:cNvPr id="2" name="TextBox 1"/>
          <p:cNvSpPr txBox="1"/>
          <p:nvPr/>
        </p:nvSpPr>
        <p:spPr>
          <a:xfrm>
            <a:off x="157075" y="622690"/>
            <a:ext cx="11746954" cy="5940088"/>
          </a:xfrm>
          <a:prstGeom prst="rect">
            <a:avLst/>
          </a:prstGeom>
          <a:noFill/>
        </p:spPr>
        <p:txBody>
          <a:bodyPr wrap="square" rtlCol="0">
            <a:spAutoFit/>
          </a:bodyPr>
          <a:lstStyle/>
          <a:p>
            <a:r>
              <a:rPr lang="en-AU" sz="2000" dirty="0" smtClean="0"/>
              <a:t>Determine the fortnightly age pension for each pension age member of a home-owning couple with assets of $750 000 (excluding the house they live in), of which $650 000 earn 4% per annum income, and a fortnightly earned income of $120.</a:t>
            </a:r>
          </a:p>
          <a:p>
            <a:endParaRPr lang="en-AU" sz="2000" dirty="0"/>
          </a:p>
          <a:p>
            <a:r>
              <a:rPr lang="en-AU" sz="2000" dirty="0" smtClean="0"/>
              <a:t>Assets Test:</a:t>
            </a:r>
          </a:p>
          <a:p>
            <a:r>
              <a:rPr lang="en-AU" sz="2000" dirty="0" smtClean="0"/>
              <a:t>Above level in assets test: 750 000 – 273 000 = 477 000</a:t>
            </a:r>
          </a:p>
          <a:p>
            <a:r>
              <a:rPr lang="en-AU" sz="2000" dirty="0" smtClean="0"/>
              <a:t>Reduction in pension: 477 000/1000 x 0.75 = 357.75</a:t>
            </a:r>
          </a:p>
          <a:p>
            <a:endParaRPr lang="en-AU" sz="2000" dirty="0" smtClean="0"/>
          </a:p>
          <a:p>
            <a:r>
              <a:rPr lang="en-AU" sz="2000" dirty="0" smtClean="0"/>
              <a:t>582.40 – 357.75 = $224.65 per person (after assets test)</a:t>
            </a:r>
          </a:p>
          <a:p>
            <a:endParaRPr lang="en-AU" sz="2000" dirty="0"/>
          </a:p>
          <a:p>
            <a:r>
              <a:rPr lang="en-AU" sz="2000" dirty="0" smtClean="0"/>
              <a:t>Income Test:</a:t>
            </a:r>
          </a:p>
          <a:p>
            <a:r>
              <a:rPr lang="en-AU" sz="2000" dirty="0" smtClean="0"/>
              <a:t>Earned income: 120 – 120 = 0 (250 allowed before it counts)</a:t>
            </a:r>
          </a:p>
          <a:p>
            <a:r>
              <a:rPr lang="en-AU" sz="2000" dirty="0" smtClean="0"/>
              <a:t>Deemed income (from assets): 650 000 x 0.04 / 26 = 1000</a:t>
            </a:r>
          </a:p>
          <a:p>
            <a:r>
              <a:rPr lang="en-AU" sz="2000" dirty="0" smtClean="0"/>
              <a:t>Total income counted towards test: 1000 – 268 = 732</a:t>
            </a:r>
          </a:p>
          <a:p>
            <a:r>
              <a:rPr lang="en-AU" sz="2000" dirty="0" smtClean="0"/>
              <a:t>Reduction in pension: 732 x 0.25 = $183</a:t>
            </a:r>
          </a:p>
          <a:p>
            <a:endParaRPr lang="en-AU" sz="2000" dirty="0"/>
          </a:p>
          <a:p>
            <a:r>
              <a:rPr lang="en-AU" sz="2000" dirty="0" smtClean="0"/>
              <a:t>582.40 – 183 = $399.40 (after income test)</a:t>
            </a:r>
          </a:p>
          <a:p>
            <a:endParaRPr lang="en-AU" sz="2000" dirty="0"/>
          </a:p>
          <a:p>
            <a:r>
              <a:rPr lang="en-AU" sz="2000" dirty="0" smtClean="0"/>
              <a:t>As the asset test gives the lower amount, the pensioners will </a:t>
            </a:r>
            <a:r>
              <a:rPr lang="en-AU" sz="2000" smtClean="0"/>
              <a:t>receive $224.65 </a:t>
            </a:r>
            <a:r>
              <a:rPr lang="en-AU" sz="2000" dirty="0" smtClean="0"/>
              <a:t>EACH per fortnight.</a:t>
            </a:r>
            <a:endParaRPr lang="en-AU" sz="2000" dirty="0"/>
          </a:p>
        </p:txBody>
      </p:sp>
      <p:sp>
        <p:nvSpPr>
          <p:cNvPr id="3" name="TextBox 2"/>
          <p:cNvSpPr txBox="1"/>
          <p:nvPr/>
        </p:nvSpPr>
        <p:spPr>
          <a:xfrm>
            <a:off x="4538342" y="0"/>
            <a:ext cx="2384172" cy="400110"/>
          </a:xfrm>
          <a:prstGeom prst="rect">
            <a:avLst/>
          </a:prstGeom>
          <a:solidFill>
            <a:srgbClr val="FFFF00"/>
          </a:solidFill>
        </p:spPr>
        <p:txBody>
          <a:bodyPr wrap="square" rtlCol="0">
            <a:spAutoFit/>
          </a:bodyPr>
          <a:lstStyle/>
          <a:p>
            <a:r>
              <a:rPr lang="en-AU" sz="2000" b="1" dirty="0" smtClean="0"/>
              <a:t>Now do Exercise 5E</a:t>
            </a:r>
            <a:endParaRPr lang="en-AU" sz="2000" b="1" dirty="0"/>
          </a:p>
        </p:txBody>
      </p:sp>
    </p:spTree>
    <p:extLst>
      <p:ext uri="{BB962C8B-B14F-4D97-AF65-F5344CB8AC3E}">
        <p14:creationId xmlns:p14="http://schemas.microsoft.com/office/powerpoint/2010/main" val="12108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844</Words>
  <Application>Microsoft Office PowerPoint</Application>
  <PresentationFormat>Widescreen</PresentationFormat>
  <Paragraphs>99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LEVITT Megan [Harrisdale Senior High School]</cp:lastModifiedBy>
  <cp:revision>21</cp:revision>
  <dcterms:created xsi:type="dcterms:W3CDTF">2020-12-09T06:24:59Z</dcterms:created>
  <dcterms:modified xsi:type="dcterms:W3CDTF">2021-03-11T00:58:58Z</dcterms:modified>
</cp:coreProperties>
</file>
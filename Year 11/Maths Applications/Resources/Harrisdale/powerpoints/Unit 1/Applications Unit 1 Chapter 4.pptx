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8" r:id="rId4"/>
    <p:sldId id="259" r:id="rId5"/>
    <p:sldId id="260" r:id="rId6"/>
    <p:sldId id="261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D9ECE-6E8A-4293-B5A7-2EC6D0B46D79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04848-C657-4BED-B173-7BF4AB7B8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441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Situation 1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0245" y="628299"/>
            <a:ext cx="119096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$500 is invested in an account for which the interest is paid at 10% per annum </a:t>
            </a:r>
            <a:r>
              <a:rPr lang="en-AU" sz="2400" b="1" dirty="0" smtClean="0"/>
              <a:t>simple</a:t>
            </a:r>
            <a:r>
              <a:rPr lang="en-AU" sz="2400" dirty="0" smtClean="0"/>
              <a:t> interest.</a:t>
            </a:r>
          </a:p>
          <a:p>
            <a:r>
              <a:rPr lang="en-AU" sz="2400" dirty="0" smtClean="0"/>
              <a:t>This means that each year, 10% of $500 is added to the account as interest.</a:t>
            </a:r>
          </a:p>
          <a:p>
            <a:endParaRPr lang="en-AU" sz="2400" dirty="0"/>
          </a:p>
          <a:p>
            <a:r>
              <a:rPr lang="en-AU" sz="2400" dirty="0" smtClean="0"/>
              <a:t>After 1 year the account will be worth:	$500 + 10% of $500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				= 500 + 50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				= $550</a:t>
            </a:r>
          </a:p>
          <a:p>
            <a:endParaRPr lang="en-AU" sz="2400" dirty="0"/>
          </a:p>
          <a:p>
            <a:r>
              <a:rPr lang="en-AU" sz="2400" dirty="0" smtClean="0"/>
              <a:t>After 2 years the account will be worth:	$500 + 2 x 10% of $500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				= 500 + 2 x 50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				= $600</a:t>
            </a:r>
          </a:p>
          <a:p>
            <a:endParaRPr lang="en-AU" sz="2400" dirty="0"/>
          </a:p>
          <a:p>
            <a:r>
              <a:rPr lang="en-AU" sz="2400" dirty="0" smtClean="0"/>
              <a:t>Had the money been invested using </a:t>
            </a:r>
            <a:r>
              <a:rPr lang="en-AU" sz="2400" b="1" dirty="0" smtClean="0"/>
              <a:t>compound</a:t>
            </a:r>
            <a:r>
              <a:rPr lang="en-AU" sz="2400" dirty="0" smtClean="0"/>
              <a:t> interest, the interest would be added to the account at the end of each compounding period. This interest then itself earns interest in any following compounding periods and so on.</a:t>
            </a:r>
          </a:p>
          <a:p>
            <a:endParaRPr lang="en-AU" sz="2400" dirty="0"/>
          </a:p>
          <a:p>
            <a:r>
              <a:rPr lang="en-AU" sz="2400" u="sng" dirty="0" smtClean="0"/>
              <a:t>Earning ‘interest on the interest’ is the difference between compound and simple interest.</a:t>
            </a:r>
            <a:endParaRPr lang="en-AU" sz="2400" u="sng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Situation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0245" y="628299"/>
                <a:ext cx="11909640" cy="6829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$500 is invested in an account for which the interest is paid at 10% per annum </a:t>
                </a:r>
                <a:r>
                  <a:rPr lang="en-AU" sz="2400" b="1" dirty="0" smtClean="0"/>
                  <a:t>compound</a:t>
                </a:r>
                <a:r>
                  <a:rPr lang="en-AU" sz="2400" dirty="0" smtClean="0"/>
                  <a:t> interest.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1 year the account will be worth:	$500 + 10% of $500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$550		(= $500 x 1.1)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2 years the account will be worth:	$550 + 10% of $550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			= $605		(= $500 x 1.1 x 1.1)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After </a:t>
                </a:r>
                <a:r>
                  <a:rPr lang="en-AU" sz="2400" dirty="0" smtClean="0"/>
                  <a:t>3 </a:t>
                </a:r>
                <a:r>
                  <a:rPr lang="en-AU" sz="2400" dirty="0"/>
                  <a:t>years the account will be worth:	</a:t>
                </a:r>
                <a:r>
                  <a:rPr lang="en-AU" sz="2400" dirty="0" smtClean="0"/>
                  <a:t>$605 </a:t>
                </a:r>
                <a:r>
                  <a:rPr lang="en-AU" sz="2400" dirty="0"/>
                  <a:t>+ 10% of </a:t>
                </a:r>
                <a:r>
                  <a:rPr lang="en-AU" sz="2400" dirty="0" smtClean="0"/>
                  <a:t>$605</a:t>
                </a:r>
                <a:endParaRPr lang="en-AU" sz="2400" dirty="0"/>
              </a:p>
              <a:p>
                <a:r>
                  <a:rPr lang="en-AU" sz="2400" dirty="0"/>
                  <a:t>						= $</a:t>
                </a:r>
                <a:r>
                  <a:rPr lang="en-AU" sz="2400" dirty="0" smtClean="0"/>
                  <a:t>665.50</a:t>
                </a:r>
                <a:r>
                  <a:rPr lang="en-AU" sz="2400" dirty="0"/>
                  <a:t>	</a:t>
                </a:r>
                <a:r>
                  <a:rPr lang="en-AU" sz="2400" dirty="0" smtClean="0"/>
                  <a:t>(= </a:t>
                </a:r>
                <a:r>
                  <a:rPr lang="en-AU" sz="2400" dirty="0"/>
                  <a:t>$500 x </a:t>
                </a:r>
                <a:r>
                  <a:rPr lang="en-AU" sz="2400" dirty="0" smtClean="0"/>
                  <a:t>1.1 </a:t>
                </a:r>
                <a:r>
                  <a:rPr lang="en-AU" sz="2400" dirty="0"/>
                  <a:t>x </a:t>
                </a:r>
                <a:r>
                  <a:rPr lang="en-AU" sz="2400" dirty="0" smtClean="0"/>
                  <a:t>1.1 x 1.1)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 value at the end of each year is 110% of the value at the start of that year (equivalent to multiplying the value by 1.1).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If we want the value after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 smtClean="0"/>
                  <a:t> years, we would calculate </a:t>
                </a:r>
                <a14:m>
                  <m:oMath xmlns:m="http://schemas.openxmlformats.org/officeDocument/2006/math">
                    <m:r>
                      <a:rPr lang="en-AU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𝟓𝟎𝟎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endParaRPr lang="en-AU" sz="2400" dirty="0" smtClean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5" y="628299"/>
                <a:ext cx="11909640" cy="6829498"/>
              </a:xfrm>
              <a:prstGeom prst="rect">
                <a:avLst/>
              </a:prstGeom>
              <a:blipFill>
                <a:blip r:embed="rId2"/>
                <a:stretch>
                  <a:fillRect l="-768" t="-7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735936" y="3528574"/>
                <a:ext cx="189611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936" y="3528574"/>
                <a:ext cx="1896118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798579" y="4606594"/>
                <a:ext cx="189611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579" y="4606594"/>
                <a:ext cx="1896118" cy="4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15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5367" y="611470"/>
                <a:ext cx="11954518" cy="821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$2500 is invested at 8% per annum compound interest, with the interest compounded annually, how much is the investment worth after 4 years?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Value at the end of the 1</a:t>
                </a:r>
                <a:r>
                  <a:rPr lang="en-AU" sz="2400" baseline="30000" dirty="0" smtClean="0"/>
                  <a:t>st</a:t>
                </a:r>
                <a:r>
                  <a:rPr lang="en-AU" sz="2400" dirty="0" smtClean="0"/>
                  <a:t> year:	</a:t>
                </a:r>
                <a:r>
                  <a:rPr lang="en-AU" sz="2400" dirty="0"/>
                  <a:t>	</a:t>
                </a:r>
                <a:r>
                  <a:rPr lang="en-AU" sz="2400" dirty="0" smtClean="0"/>
                  <a:t>2500 </a:t>
                </a:r>
                <a:r>
                  <a:rPr lang="en-AU" sz="2400" dirty="0"/>
                  <a:t>+ 8</a:t>
                </a:r>
                <a:r>
                  <a:rPr lang="en-AU" sz="2400" dirty="0" smtClean="0"/>
                  <a:t>% </a:t>
                </a:r>
                <a:r>
                  <a:rPr lang="en-AU" sz="2400" dirty="0"/>
                  <a:t>of </a:t>
                </a:r>
                <a:r>
                  <a:rPr lang="en-AU" sz="2400" dirty="0" smtClean="0"/>
                  <a:t>$2500</a:t>
                </a:r>
                <a:endParaRPr lang="en-AU" sz="2400" dirty="0"/>
              </a:p>
              <a:p>
                <a:r>
                  <a:rPr lang="en-AU" sz="2400" dirty="0"/>
                  <a:t>						= </a:t>
                </a:r>
                <a:r>
                  <a:rPr lang="en-AU" sz="2400" dirty="0" smtClean="0"/>
                  <a:t>$2700</a:t>
                </a:r>
                <a:r>
                  <a:rPr lang="en-AU" sz="2400" dirty="0"/>
                  <a:t>	(= </a:t>
                </a:r>
                <a:r>
                  <a:rPr lang="en-AU" sz="2400" dirty="0" smtClean="0"/>
                  <a:t>$2500 </a:t>
                </a:r>
                <a:r>
                  <a:rPr lang="en-AU" sz="2400" dirty="0"/>
                  <a:t>x </a:t>
                </a:r>
                <a:r>
                  <a:rPr lang="en-AU" sz="2400" dirty="0" smtClean="0"/>
                  <a:t>1.08)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Value at the end of the 2</a:t>
                </a:r>
                <a:r>
                  <a:rPr lang="en-AU" sz="2400" baseline="30000" dirty="0" smtClean="0"/>
                  <a:t>nd</a:t>
                </a:r>
                <a:r>
                  <a:rPr lang="en-AU" sz="2400" dirty="0" smtClean="0"/>
                  <a:t> year:		2700 x 1.08 = $2916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Value at the end of the </a:t>
                </a:r>
                <a:r>
                  <a:rPr lang="en-AU" sz="2400" dirty="0" smtClean="0"/>
                  <a:t>3</a:t>
                </a:r>
                <a:r>
                  <a:rPr lang="en-AU" sz="2400" baseline="30000" dirty="0" smtClean="0"/>
                  <a:t>rd</a:t>
                </a:r>
                <a:r>
                  <a:rPr lang="en-AU" sz="2400" dirty="0" smtClean="0"/>
                  <a:t> </a:t>
                </a:r>
                <a:r>
                  <a:rPr lang="en-AU" sz="2400" dirty="0"/>
                  <a:t>year:		</a:t>
                </a:r>
                <a:r>
                  <a:rPr lang="en-AU" sz="2400" dirty="0" smtClean="0"/>
                  <a:t>2916 </a:t>
                </a:r>
                <a:r>
                  <a:rPr lang="en-AU" sz="2400" dirty="0"/>
                  <a:t>x 1.08 = </a:t>
                </a:r>
                <a:r>
                  <a:rPr lang="en-AU" sz="2400" dirty="0" smtClean="0"/>
                  <a:t>$3149.28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Value at the end of </a:t>
                </a:r>
                <a:r>
                  <a:rPr lang="en-AU" sz="2400" dirty="0" smtClean="0"/>
                  <a:t>the 4</a:t>
                </a:r>
                <a:r>
                  <a:rPr lang="en-AU" sz="2400" baseline="30000" dirty="0" smtClean="0"/>
                  <a:t>th</a:t>
                </a:r>
                <a:r>
                  <a:rPr lang="en-AU" sz="2400" dirty="0" smtClean="0"/>
                  <a:t> </a:t>
                </a:r>
                <a:r>
                  <a:rPr lang="en-AU" sz="2400" dirty="0"/>
                  <a:t>year:		</a:t>
                </a:r>
                <a:r>
                  <a:rPr lang="en-AU" sz="2400" dirty="0" smtClean="0"/>
                  <a:t>3149.28 </a:t>
                </a:r>
                <a:r>
                  <a:rPr lang="en-AU" sz="2400" dirty="0"/>
                  <a:t>x 1.08 = </a:t>
                </a:r>
                <a:r>
                  <a:rPr lang="en-AU" sz="2400" dirty="0" smtClean="0"/>
                  <a:t>$3401.22 (nearest cent)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We can speed this process up using indices:	2500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1.08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 smtClean="0"/>
                  <a:t>$3401.22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 value of the investment after 4 years is $3401.22, to the nearest cent.</a:t>
                </a:r>
                <a:endParaRPr lang="en-AU" sz="2400" dirty="0"/>
              </a:p>
              <a:p>
                <a:endParaRPr lang="en-AU" sz="2400" dirty="0"/>
              </a:p>
              <a:p>
                <a:endParaRPr lang="en-AU" sz="2400" dirty="0" smtClean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 smtClean="0"/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7" y="611470"/>
                <a:ext cx="11954518" cy="8217634"/>
              </a:xfrm>
              <a:prstGeom prst="rect">
                <a:avLst/>
              </a:prstGeom>
              <a:blipFill>
                <a:blip r:embed="rId2"/>
                <a:stretch>
                  <a:fillRect l="-816" t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18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5188" y="780613"/>
                <a:ext cx="1200822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$12 000 is invested at 6.2% per annum compound interest, with interest compounded annually, how much is the investment worth after 10 years?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Compare the final value with that of the same amount invested for the same time but with the 6.2% per annum calculated as simple interest.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Value at the end of the </a:t>
                </a:r>
                <a:r>
                  <a:rPr lang="en-AU" sz="2400" dirty="0" smtClean="0"/>
                  <a:t>10</a:t>
                </a:r>
                <a:r>
                  <a:rPr lang="en-AU" sz="2400" baseline="30000" dirty="0" smtClean="0"/>
                  <a:t>th</a:t>
                </a:r>
                <a:r>
                  <a:rPr lang="en-AU" sz="2400" dirty="0" smtClean="0"/>
                  <a:t> year</a:t>
                </a:r>
                <a:r>
                  <a:rPr lang="en-AU" sz="2400" dirty="0"/>
                  <a:t>:		</a:t>
                </a:r>
                <a:r>
                  <a:rPr lang="en-AU" sz="2400" dirty="0" smtClean="0"/>
                  <a:t>12 000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(1+0.062)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10 </m:t>
                        </m:r>
                      </m:sup>
                    </m:sSup>
                  </m:oMath>
                </a14:m>
                <a:r>
                  <a:rPr lang="en-AU" sz="2400" dirty="0" smtClean="0"/>
                  <a:t>= $21 899.11</a:t>
                </a:r>
              </a:p>
              <a:p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 smtClean="0"/>
                  <a:t>With simple interest, the value would be: 	12 000 + (12 000 x 0.062 x 10) = $19 440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After 10 years, the compound interest method returns $2549.11 more than the simple interest method.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" y="780613"/>
                <a:ext cx="12008224" cy="4893647"/>
              </a:xfrm>
              <a:prstGeom prst="rect">
                <a:avLst/>
              </a:prstGeom>
              <a:blipFill>
                <a:blip r:embed="rId2"/>
                <a:stretch>
                  <a:fillRect l="-761" t="-996" r="-203" b="-18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085" y="63928"/>
            <a:ext cx="6414327" cy="716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000" y="3478086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6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3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085" y="63928"/>
            <a:ext cx="6414327" cy="716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38" y="948058"/>
            <a:ext cx="11690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interest paid on $5000 invested at 8% per annum compound interest for 3 years, with the interest compounded:</a:t>
            </a:r>
          </a:p>
          <a:p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annually		b) every 6 months		c) quarterly</a:t>
            </a:r>
          </a:p>
          <a:p>
            <a:pPr marL="457200" indent="-457200">
              <a:buAutoNum type="alphaLcParenR"/>
            </a:pPr>
            <a:endParaRPr lang="en-AU" sz="2400" dirty="0"/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38" y="2904565"/>
                <a:ext cx="115241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arenR"/>
                </a:pPr>
                <a:r>
                  <a:rPr lang="en-AU" sz="2400" dirty="0" smtClean="0"/>
                  <a:t>Value of investment after 3 years: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5000 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(1 + 0.08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=$6298.56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/>
                  <a:t> </a:t>
                </a:r>
                <a:r>
                  <a:rPr lang="en-AU" sz="2400" dirty="0" smtClean="0"/>
                  <a:t>      Therefore the interest paid:	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6298.56 −5000=$1298.56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8" y="2904565"/>
                <a:ext cx="11524129" cy="830997"/>
              </a:xfrm>
              <a:prstGeom prst="rect">
                <a:avLst/>
              </a:prstGeom>
              <a:blipFill>
                <a:blip r:embed="rId3"/>
                <a:stretch>
                  <a:fillRect l="-847" t="-656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538" y="3904130"/>
                <a:ext cx="11524129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b)   Value of investment after 3 years: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5000 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(1 +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=$6326.60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/>
                  <a:t> </a:t>
                </a:r>
                <a:r>
                  <a:rPr lang="en-AU" sz="2400" dirty="0" smtClean="0"/>
                  <a:t>      Therefore the interest paid:	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6326.60 −5000=$1326.60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8" y="3904130"/>
                <a:ext cx="11524129" cy="1016689"/>
              </a:xfrm>
              <a:prstGeom prst="rect">
                <a:avLst/>
              </a:prstGeom>
              <a:blipFill>
                <a:blip r:embed="rId4"/>
                <a:stretch>
                  <a:fillRect l="-847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8538" y="5089387"/>
                <a:ext cx="11524129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c)    Value of investment after 3 years: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5000 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(1 +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=$6341.21</m:t>
                    </m:r>
                  </m:oMath>
                </a14:m>
                <a:endParaRPr lang="en-AU" sz="2400" b="0" dirty="0" smtClean="0"/>
              </a:p>
              <a:p>
                <a:r>
                  <a:rPr lang="en-AU" sz="2400" dirty="0"/>
                  <a:t> </a:t>
                </a:r>
                <a:r>
                  <a:rPr lang="en-AU" sz="2400" dirty="0" smtClean="0"/>
                  <a:t>      Therefore the interest paid:	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6341.21 −5000=$1341.21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8" y="5089387"/>
                <a:ext cx="11524129" cy="1016689"/>
              </a:xfrm>
              <a:prstGeom prst="rect">
                <a:avLst/>
              </a:prstGeom>
              <a:blipFill>
                <a:blip r:embed="rId5"/>
                <a:stretch>
                  <a:fillRect l="-847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59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4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4877" y="1759626"/>
            <a:ext cx="11719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much will be owed after 3 years on a loan of $4000 with compound interest charged at 8% per annum, compounded daily?</a:t>
            </a:r>
          </a:p>
          <a:p>
            <a:endParaRPr lang="en-AU" sz="2400" dirty="0"/>
          </a:p>
          <a:p>
            <a:r>
              <a:rPr lang="en-AU" sz="2400" dirty="0" smtClean="0"/>
              <a:t>In 3 years, there will be 3 x 365 or 1095 compounding periods.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877" y="3803579"/>
                <a:ext cx="11524129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Value of investment after 3 years:	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000 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(1 +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1095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=$5084.86</m:t>
                    </m:r>
                  </m:oMath>
                </a14:m>
                <a:endParaRPr lang="en-AU" sz="2400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77" y="3803579"/>
                <a:ext cx="11524129" cy="614655"/>
              </a:xfrm>
              <a:prstGeom prst="rect">
                <a:avLst/>
              </a:prstGeom>
              <a:blipFill>
                <a:blip r:embed="rId2"/>
                <a:stretch>
                  <a:fillRect l="-793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877" y="4635055"/>
            <a:ext cx="1152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total amount owed after 3 years would be $5084.86.</a:t>
            </a:r>
            <a:endParaRPr lang="en-AU" sz="2400" b="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83" y="63928"/>
            <a:ext cx="7900930" cy="882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705125"/>
            <a:ext cx="342759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4A Q1-8</a:t>
            </a:r>
            <a:endParaRPr lang="en-AU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803" y="1092872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Situation 2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0245" y="628299"/>
            <a:ext cx="119096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Inflation and depreciation are not examples of compound interest; however, they both involve repeated multiplication by a number.</a:t>
            </a:r>
          </a:p>
          <a:p>
            <a:endParaRPr lang="en-AU" sz="2400" u="sng" dirty="0"/>
          </a:p>
          <a:p>
            <a:r>
              <a:rPr lang="en-AU" sz="2400" dirty="0" smtClean="0"/>
              <a:t>For example, an inflation rate of 10% per annum is the same as repeated multiplication by 1.1 and a depreciation rate of 10% per annum is the same as repeated multiplication by 0.9.</a:t>
            </a:r>
          </a:p>
          <a:p>
            <a:endParaRPr lang="en-AU" sz="2400" dirty="0"/>
          </a:p>
          <a:p>
            <a:r>
              <a:rPr lang="en-AU" sz="2400" dirty="0" smtClean="0"/>
              <a:t>A couple bought a house in 2006 for $310 000 and come to sell it 15 years later in 2021. </a:t>
            </a:r>
          </a:p>
          <a:p>
            <a:r>
              <a:rPr lang="en-AU" sz="2400" dirty="0" smtClean="0"/>
              <a:t>Due to inflation (the general rise in prices over time), the value of their house has increased by 3.4% each year.</a:t>
            </a:r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0245" y="4245311"/>
                <a:ext cx="11524129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Value of house after 15 years: 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000 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(1 + 0.0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34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=$512 000  </m:t>
                    </m:r>
                  </m:oMath>
                </a14:m>
                <a:r>
                  <a:rPr lang="en-AU" sz="2400" b="0" i="0" dirty="0" smtClean="0"/>
                  <a:t>(nearest $1000)</a:t>
                </a:r>
                <a:endParaRPr lang="en-AU" sz="2400" b="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5" y="4245311"/>
                <a:ext cx="11524129" cy="465833"/>
              </a:xfrm>
              <a:prstGeom prst="rect">
                <a:avLst/>
              </a:prstGeom>
              <a:blipFill>
                <a:blip r:embed="rId2"/>
                <a:stretch>
                  <a:fillRect l="-794" t="-9091" b="-28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96344" y="5032005"/>
            <a:ext cx="11539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 everything increases in value. Some items lose value as they get older (depreciation). For example, the value of a new car falls as the car gets older (until it gets so old it becomes rare or collectible in which case the value rises again).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5238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5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85124" y="678788"/>
            <a:ext cx="11528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particular item has a current value of $8600, this value rising in line with inflation.</a:t>
            </a:r>
          </a:p>
          <a:p>
            <a:endParaRPr lang="en-AU" sz="2400" dirty="0"/>
          </a:p>
          <a:p>
            <a:r>
              <a:rPr lang="en-AU" sz="2400" dirty="0" smtClean="0"/>
              <a:t>With a constant annual inflation rate of 4.2%, what will the value of this item be:</a:t>
            </a:r>
          </a:p>
          <a:p>
            <a:endParaRPr lang="en-AU" sz="2400" dirty="0"/>
          </a:p>
          <a:p>
            <a:r>
              <a:rPr lang="en-AU" sz="2400" dirty="0" smtClean="0"/>
              <a:t>a) 2 years from now?			b) 25 years from now?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124" y="2971882"/>
                <a:ext cx="11524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a) Value after 2 years: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600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 (1 + 0.0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42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=$9337.57  </m:t>
                    </m:r>
                  </m:oMath>
                </a14:m>
                <a:r>
                  <a:rPr lang="en-AU" sz="2400" b="0" i="0" dirty="0" smtClean="0"/>
                  <a:t>(nearest cent)</a:t>
                </a:r>
                <a:endParaRPr lang="en-AU" sz="2400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4" y="2971882"/>
                <a:ext cx="11524129" cy="461665"/>
              </a:xfrm>
              <a:prstGeom prst="rect">
                <a:avLst/>
              </a:prstGeom>
              <a:blipFill>
                <a:blip r:embed="rId2"/>
                <a:stretch>
                  <a:fillRect l="-793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5124" y="3634776"/>
                <a:ext cx="11524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b) Value after 25 years: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600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 (1 + 0.0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42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=$24 054.23  </m:t>
                    </m:r>
                  </m:oMath>
                </a14:m>
                <a:r>
                  <a:rPr lang="en-AU" sz="2400" b="0" i="0" dirty="0" smtClean="0"/>
                  <a:t>(nearest cent)</a:t>
                </a:r>
                <a:endParaRPr lang="en-AU" sz="2400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4" y="3634776"/>
                <a:ext cx="11524129" cy="461665"/>
              </a:xfrm>
              <a:prstGeom prst="rect">
                <a:avLst/>
              </a:prstGeom>
              <a:blipFill>
                <a:blip r:embed="rId3"/>
                <a:stretch>
                  <a:fillRect l="-793" t="-9211" b="-30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59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6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5124" y="678788"/>
            <a:ext cx="11528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particular car has a new value of $28 000.</a:t>
            </a:r>
            <a:endParaRPr lang="en-AU" sz="2400" dirty="0"/>
          </a:p>
          <a:p>
            <a:r>
              <a:rPr lang="en-AU" sz="2400" dirty="0" smtClean="0"/>
              <a:t>With a constant annual depreciation rate of 7%, what will the value of the car be:</a:t>
            </a:r>
          </a:p>
          <a:p>
            <a:endParaRPr lang="en-AU" sz="2400" dirty="0"/>
          </a:p>
          <a:p>
            <a:r>
              <a:rPr lang="en-AU" sz="2400" dirty="0" smtClean="0"/>
              <a:t>a) 2 years from now?			b) 8 years from now?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5124" y="2971882"/>
                <a:ext cx="11524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a) Value after 2 years: 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8 0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 (1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0.0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=$24 217.20  </m:t>
                    </m:r>
                  </m:oMath>
                </a14:m>
                <a:r>
                  <a:rPr lang="en-AU" sz="2400" b="0" i="0" dirty="0" smtClean="0"/>
                  <a:t>(nearest cent)</a:t>
                </a:r>
                <a:endParaRPr lang="en-AU" sz="2400" b="0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4" y="2971882"/>
                <a:ext cx="11524129" cy="461665"/>
              </a:xfrm>
              <a:prstGeom prst="rect">
                <a:avLst/>
              </a:prstGeom>
              <a:blipFill>
                <a:blip r:embed="rId2"/>
                <a:stretch>
                  <a:fillRect l="-793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85124" y="3634776"/>
                <a:ext cx="11524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b) Value after 8 years: 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8 0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 (1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−0.07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=$15 668.29 </m:t>
                    </m:r>
                  </m:oMath>
                </a14:m>
                <a:r>
                  <a:rPr lang="en-AU" sz="2400" b="0" i="0" dirty="0" smtClean="0"/>
                  <a:t>(nearest cent)</a:t>
                </a:r>
                <a:endParaRPr lang="en-AU" sz="2400" b="0" dirty="0" smtClean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4" y="3634776"/>
                <a:ext cx="11524129" cy="461665"/>
              </a:xfrm>
              <a:prstGeom prst="rect">
                <a:avLst/>
              </a:prstGeom>
              <a:blipFill>
                <a:blip r:embed="rId3"/>
                <a:stretch>
                  <a:fillRect l="-793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569978" y="-1"/>
            <a:ext cx="275442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Now do Exercise 4B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883" y="4360263"/>
            <a:ext cx="7900930" cy="8827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203" y="5389207"/>
            <a:ext cx="5138094" cy="55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1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1327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32</cp:revision>
  <dcterms:created xsi:type="dcterms:W3CDTF">2020-12-09T06:24:59Z</dcterms:created>
  <dcterms:modified xsi:type="dcterms:W3CDTF">2021-02-18T00:29:45Z</dcterms:modified>
</cp:coreProperties>
</file>
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6" autoAdjust="0"/>
    <p:restoredTop sz="94660"/>
  </p:normalViewPr>
  <p:slideViewPr>
    <p:cSldViewPr snapToGrid="0">
      <p:cViewPr varScale="1">
        <p:scale>
          <a:sx n="84" d="100"/>
          <a:sy n="84" d="100"/>
        </p:scale>
        <p:origin x="78" y="13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F8A551C-4EE2-4EC4-803E-20DE13F8F5AC}" type="datetimeFigureOut">
              <a:rPr lang="en-AU" smtClean="0"/>
              <a:t>17/05/2021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C9DE332-500B-4FF0-9589-12E2A3B05001}" type="slidenum">
              <a:rPr lang="en-AU" smtClean="0"/>
              <a:t>‹#›</a:t>
            </a:fld>
            <a:endParaRPr lang="en-AU"/>
          </a:p>
        </p:txBody>
      </p:sp>
    </p:spTree>
    <p:extLst>
      <p:ext uri="{BB962C8B-B14F-4D97-AF65-F5344CB8AC3E}">
        <p14:creationId xmlns:p14="http://schemas.microsoft.com/office/powerpoint/2010/main" val="2504678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F8A551C-4EE2-4EC4-803E-20DE13F8F5AC}" type="datetimeFigureOut">
              <a:rPr lang="en-AU" smtClean="0"/>
              <a:t>17/05/2021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C9DE332-500B-4FF0-9589-12E2A3B05001}" type="slidenum">
              <a:rPr lang="en-AU" smtClean="0"/>
              <a:t>‹#›</a:t>
            </a:fld>
            <a:endParaRPr lang="en-AU"/>
          </a:p>
        </p:txBody>
      </p:sp>
    </p:spTree>
    <p:extLst>
      <p:ext uri="{BB962C8B-B14F-4D97-AF65-F5344CB8AC3E}">
        <p14:creationId xmlns:p14="http://schemas.microsoft.com/office/powerpoint/2010/main" val="3370927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F8A551C-4EE2-4EC4-803E-20DE13F8F5AC}" type="datetimeFigureOut">
              <a:rPr lang="en-AU" smtClean="0"/>
              <a:t>17/05/2021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C9DE332-500B-4FF0-9589-12E2A3B05001}" type="slidenum">
              <a:rPr lang="en-AU" smtClean="0"/>
              <a:t>‹#›</a:t>
            </a:fld>
            <a:endParaRPr lang="en-AU"/>
          </a:p>
        </p:txBody>
      </p:sp>
    </p:spTree>
    <p:extLst>
      <p:ext uri="{BB962C8B-B14F-4D97-AF65-F5344CB8AC3E}">
        <p14:creationId xmlns:p14="http://schemas.microsoft.com/office/powerpoint/2010/main" val="2015405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F8A551C-4EE2-4EC4-803E-20DE13F8F5AC}" type="datetimeFigureOut">
              <a:rPr lang="en-AU" smtClean="0"/>
              <a:t>17/05/2021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C9DE332-500B-4FF0-9589-12E2A3B05001}" type="slidenum">
              <a:rPr lang="en-AU" smtClean="0"/>
              <a:t>‹#›</a:t>
            </a:fld>
            <a:endParaRPr lang="en-AU"/>
          </a:p>
        </p:txBody>
      </p:sp>
    </p:spTree>
    <p:extLst>
      <p:ext uri="{BB962C8B-B14F-4D97-AF65-F5344CB8AC3E}">
        <p14:creationId xmlns:p14="http://schemas.microsoft.com/office/powerpoint/2010/main" val="3624067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F8A551C-4EE2-4EC4-803E-20DE13F8F5AC}" type="datetimeFigureOut">
              <a:rPr lang="en-AU" smtClean="0"/>
              <a:t>17/05/2021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C9DE332-500B-4FF0-9589-12E2A3B05001}" type="slidenum">
              <a:rPr lang="en-AU" smtClean="0"/>
              <a:t>‹#›</a:t>
            </a:fld>
            <a:endParaRPr lang="en-AU"/>
          </a:p>
        </p:txBody>
      </p:sp>
    </p:spTree>
    <p:extLst>
      <p:ext uri="{BB962C8B-B14F-4D97-AF65-F5344CB8AC3E}">
        <p14:creationId xmlns:p14="http://schemas.microsoft.com/office/powerpoint/2010/main" val="1524255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F8A551C-4EE2-4EC4-803E-20DE13F8F5AC}" type="datetimeFigureOut">
              <a:rPr lang="en-AU" smtClean="0"/>
              <a:t>17/05/2021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C9DE332-500B-4FF0-9589-12E2A3B05001}" type="slidenum">
              <a:rPr lang="en-AU" smtClean="0"/>
              <a:t>‹#›</a:t>
            </a:fld>
            <a:endParaRPr lang="en-AU"/>
          </a:p>
        </p:txBody>
      </p:sp>
    </p:spTree>
    <p:extLst>
      <p:ext uri="{BB962C8B-B14F-4D97-AF65-F5344CB8AC3E}">
        <p14:creationId xmlns:p14="http://schemas.microsoft.com/office/powerpoint/2010/main" val="1416163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8A551C-4EE2-4EC4-803E-20DE13F8F5AC}" type="datetimeFigureOut">
              <a:rPr lang="en-AU" smtClean="0"/>
              <a:t>17/05/2021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C9DE332-500B-4FF0-9589-12E2A3B05001}" type="slidenum">
              <a:rPr lang="en-AU" smtClean="0"/>
              <a:t>‹#›</a:t>
            </a:fld>
            <a:endParaRPr lang="en-AU"/>
          </a:p>
        </p:txBody>
      </p:sp>
    </p:spTree>
    <p:extLst>
      <p:ext uri="{BB962C8B-B14F-4D97-AF65-F5344CB8AC3E}">
        <p14:creationId xmlns:p14="http://schemas.microsoft.com/office/powerpoint/2010/main" val="687646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F8A551C-4EE2-4EC4-803E-20DE13F8F5AC}" type="datetimeFigureOut">
              <a:rPr lang="en-AU" smtClean="0"/>
              <a:t>17/05/2021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C9DE332-500B-4FF0-9589-12E2A3B05001}" type="slidenum">
              <a:rPr lang="en-AU" smtClean="0"/>
              <a:t>‹#›</a:t>
            </a:fld>
            <a:endParaRPr lang="en-AU"/>
          </a:p>
        </p:txBody>
      </p:sp>
    </p:spTree>
    <p:extLst>
      <p:ext uri="{BB962C8B-B14F-4D97-AF65-F5344CB8AC3E}">
        <p14:creationId xmlns:p14="http://schemas.microsoft.com/office/powerpoint/2010/main" val="1787758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F8A551C-4EE2-4EC4-803E-20DE13F8F5AC}" type="datetimeFigureOut">
              <a:rPr lang="en-AU" smtClean="0"/>
              <a:t>17/05/2021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C9DE332-500B-4FF0-9589-12E2A3B05001}" type="slidenum">
              <a:rPr lang="en-AU" smtClean="0"/>
              <a:t>‹#›</a:t>
            </a:fld>
            <a:endParaRPr lang="en-AU"/>
          </a:p>
        </p:txBody>
      </p:sp>
    </p:spTree>
    <p:extLst>
      <p:ext uri="{BB962C8B-B14F-4D97-AF65-F5344CB8AC3E}">
        <p14:creationId xmlns:p14="http://schemas.microsoft.com/office/powerpoint/2010/main" val="978394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F8A551C-4EE2-4EC4-803E-20DE13F8F5AC}" type="datetimeFigureOut">
              <a:rPr lang="en-AU" smtClean="0"/>
              <a:t>17/05/2021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C9DE332-500B-4FF0-9589-12E2A3B05001}" type="slidenum">
              <a:rPr lang="en-AU" smtClean="0"/>
              <a:t>‹#›</a:t>
            </a:fld>
            <a:endParaRPr lang="en-AU"/>
          </a:p>
        </p:txBody>
      </p:sp>
    </p:spTree>
    <p:extLst>
      <p:ext uri="{BB962C8B-B14F-4D97-AF65-F5344CB8AC3E}">
        <p14:creationId xmlns:p14="http://schemas.microsoft.com/office/powerpoint/2010/main" val="78064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F8A551C-4EE2-4EC4-803E-20DE13F8F5AC}" type="datetimeFigureOut">
              <a:rPr lang="en-AU" smtClean="0"/>
              <a:t>17/05/2021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C9DE332-500B-4FF0-9589-12E2A3B05001}" type="slidenum">
              <a:rPr lang="en-AU" smtClean="0"/>
              <a:t>‹#›</a:t>
            </a:fld>
            <a:endParaRPr lang="en-AU"/>
          </a:p>
        </p:txBody>
      </p:sp>
    </p:spTree>
    <p:extLst>
      <p:ext uri="{BB962C8B-B14F-4D97-AF65-F5344CB8AC3E}">
        <p14:creationId xmlns:p14="http://schemas.microsoft.com/office/powerpoint/2010/main" val="1113355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8A551C-4EE2-4EC4-803E-20DE13F8F5AC}" type="datetimeFigureOut">
              <a:rPr lang="en-AU" smtClean="0"/>
              <a:t>17/05/2021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9DE332-500B-4FF0-9589-12E2A3B05001}" type="slidenum">
              <a:rPr lang="en-AU" smtClean="0"/>
              <a:t>‹#›</a:t>
            </a:fld>
            <a:endParaRPr lang="en-AU"/>
          </a:p>
        </p:txBody>
      </p:sp>
    </p:spTree>
    <p:extLst>
      <p:ext uri="{BB962C8B-B14F-4D97-AF65-F5344CB8AC3E}">
        <p14:creationId xmlns:p14="http://schemas.microsoft.com/office/powerpoint/2010/main" val="3818664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5599990" cy="461665"/>
          </a:xfrm>
          <a:prstGeom prst="rect">
            <a:avLst/>
          </a:prstGeom>
          <a:solidFill>
            <a:srgbClr val="FFFF00"/>
          </a:solidFill>
        </p:spPr>
        <p:txBody>
          <a:bodyPr wrap="square" rtlCol="0">
            <a:spAutoFit/>
          </a:bodyPr>
          <a:lstStyle/>
          <a:p>
            <a:r>
              <a:rPr lang="en-AU" sz="2400" dirty="0" smtClean="0"/>
              <a:t>Y11 Apps Chapter </a:t>
            </a:r>
            <a:r>
              <a:rPr lang="en-AU" sz="2400" dirty="0"/>
              <a:t>7</a:t>
            </a:r>
            <a:r>
              <a:rPr lang="en-AU" sz="2400" dirty="0" smtClean="0"/>
              <a:t> </a:t>
            </a:r>
            <a:r>
              <a:rPr lang="en-AU" sz="2400" dirty="0" smtClean="0"/>
              <a:t>Skill Development</a:t>
            </a:r>
            <a:endParaRPr lang="en-AU" sz="2400" dirty="0"/>
          </a:p>
        </p:txBody>
      </p:sp>
      <p:cxnSp>
        <p:nvCxnSpPr>
          <p:cNvPr id="10" name="Straight Connector 9"/>
          <p:cNvCxnSpPr/>
          <p:nvPr/>
        </p:nvCxnSpPr>
        <p:spPr>
          <a:xfrm>
            <a:off x="1816360" y="3327918"/>
            <a:ext cx="12440" cy="2202025"/>
          </a:xfrm>
          <a:prstGeom prst="line">
            <a:avLst/>
          </a:prstGeom>
          <a:ln w="571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1" name="Straight Connector 10"/>
          <p:cNvCxnSpPr/>
          <p:nvPr/>
        </p:nvCxnSpPr>
        <p:spPr>
          <a:xfrm flipH="1">
            <a:off x="1829915" y="5529943"/>
            <a:ext cx="1846346" cy="0"/>
          </a:xfrm>
          <a:prstGeom prst="line">
            <a:avLst/>
          </a:prstGeom>
          <a:ln w="57150">
            <a:solidFill>
              <a:schemeClr val="accent6"/>
            </a:solidFill>
          </a:ln>
        </p:spPr>
        <p:style>
          <a:lnRef idx="3">
            <a:schemeClr val="accent2"/>
          </a:lnRef>
          <a:fillRef idx="0">
            <a:schemeClr val="accent2"/>
          </a:fillRef>
          <a:effectRef idx="2">
            <a:schemeClr val="accent2"/>
          </a:effectRef>
          <a:fontRef idx="minor">
            <a:schemeClr val="tx1"/>
          </a:fontRef>
        </p:style>
      </p:cxnSp>
      <p:cxnSp>
        <p:nvCxnSpPr>
          <p:cNvPr id="12" name="Straight Connector 11"/>
          <p:cNvCxnSpPr/>
          <p:nvPr/>
        </p:nvCxnSpPr>
        <p:spPr>
          <a:xfrm>
            <a:off x="1829915" y="3327917"/>
            <a:ext cx="1846346" cy="2202026"/>
          </a:xfrm>
          <a:prstGeom prst="line">
            <a:avLst/>
          </a:prstGeom>
          <a:ln w="57150">
            <a:solidFill>
              <a:schemeClr val="accent5"/>
            </a:solidFill>
          </a:ln>
        </p:spPr>
        <p:style>
          <a:lnRef idx="3">
            <a:schemeClr val="accent2"/>
          </a:lnRef>
          <a:fillRef idx="0">
            <a:schemeClr val="accent2"/>
          </a:fillRef>
          <a:effectRef idx="2">
            <a:schemeClr val="accent2"/>
          </a:effectRef>
          <a:fontRef idx="minor">
            <a:schemeClr val="tx1"/>
          </a:fontRef>
        </p:style>
      </p:cxnSp>
      <p:sp>
        <p:nvSpPr>
          <p:cNvPr id="13" name="Rectangle 12"/>
          <p:cNvSpPr/>
          <p:nvPr/>
        </p:nvSpPr>
        <p:spPr>
          <a:xfrm>
            <a:off x="1816360" y="5355772"/>
            <a:ext cx="180392" cy="1741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p:cNvSpPr txBox="1"/>
          <p:nvPr/>
        </p:nvSpPr>
        <p:spPr>
          <a:xfrm>
            <a:off x="1346719" y="4136543"/>
            <a:ext cx="559837" cy="584775"/>
          </a:xfrm>
          <a:prstGeom prst="rect">
            <a:avLst/>
          </a:prstGeom>
          <a:noFill/>
        </p:spPr>
        <p:txBody>
          <a:bodyPr wrap="square" rtlCol="0">
            <a:spAutoFit/>
          </a:bodyPr>
          <a:lstStyle/>
          <a:p>
            <a:r>
              <a:rPr lang="en-AU" sz="3200" b="1" dirty="0" smtClean="0">
                <a:solidFill>
                  <a:srgbClr val="FF0000"/>
                </a:solidFill>
              </a:rPr>
              <a:t>a</a:t>
            </a:r>
            <a:endParaRPr lang="en-AU" sz="3200" b="1" dirty="0">
              <a:solidFill>
                <a:srgbClr val="FF0000"/>
              </a:solidFill>
            </a:endParaRPr>
          </a:p>
        </p:txBody>
      </p:sp>
      <p:sp>
        <p:nvSpPr>
          <p:cNvPr id="17" name="TextBox 16"/>
          <p:cNvSpPr txBox="1"/>
          <p:nvPr/>
        </p:nvSpPr>
        <p:spPr>
          <a:xfrm>
            <a:off x="5258359" y="3405645"/>
            <a:ext cx="559837" cy="584775"/>
          </a:xfrm>
          <a:prstGeom prst="rect">
            <a:avLst/>
          </a:prstGeom>
          <a:noFill/>
        </p:spPr>
        <p:txBody>
          <a:bodyPr wrap="square" rtlCol="0">
            <a:spAutoFit/>
          </a:bodyPr>
          <a:lstStyle/>
          <a:p>
            <a:r>
              <a:rPr lang="en-AU" sz="3200" b="1" dirty="0" smtClean="0">
                <a:solidFill>
                  <a:srgbClr val="FF0000"/>
                </a:solidFill>
              </a:rPr>
              <a:t>a²</a:t>
            </a:r>
            <a:endParaRPr lang="en-AU" sz="3200" b="1" dirty="0">
              <a:solidFill>
                <a:srgbClr val="FF0000"/>
              </a:solidFill>
            </a:endParaRPr>
          </a:p>
        </p:txBody>
      </p:sp>
      <p:sp>
        <p:nvSpPr>
          <p:cNvPr id="18" name="TextBox 17"/>
          <p:cNvSpPr txBox="1"/>
          <p:nvPr/>
        </p:nvSpPr>
        <p:spPr>
          <a:xfrm>
            <a:off x="2473169" y="5439760"/>
            <a:ext cx="559837" cy="584775"/>
          </a:xfrm>
          <a:prstGeom prst="rect">
            <a:avLst/>
          </a:prstGeom>
          <a:noFill/>
        </p:spPr>
        <p:txBody>
          <a:bodyPr wrap="square" rtlCol="0">
            <a:spAutoFit/>
          </a:bodyPr>
          <a:lstStyle/>
          <a:p>
            <a:r>
              <a:rPr lang="en-AU" sz="3200" b="1" dirty="0">
                <a:solidFill>
                  <a:schemeClr val="accent6"/>
                </a:solidFill>
              </a:rPr>
              <a:t>b</a:t>
            </a:r>
          </a:p>
        </p:txBody>
      </p:sp>
      <p:sp>
        <p:nvSpPr>
          <p:cNvPr id="19" name="TextBox 18"/>
          <p:cNvSpPr txBox="1"/>
          <p:nvPr/>
        </p:nvSpPr>
        <p:spPr>
          <a:xfrm>
            <a:off x="5744544" y="3405645"/>
            <a:ext cx="1262920" cy="584775"/>
          </a:xfrm>
          <a:prstGeom prst="rect">
            <a:avLst/>
          </a:prstGeom>
          <a:noFill/>
        </p:spPr>
        <p:txBody>
          <a:bodyPr wrap="square" rtlCol="0">
            <a:spAutoFit/>
          </a:bodyPr>
          <a:lstStyle/>
          <a:p>
            <a:r>
              <a:rPr lang="en-AU" sz="3200" b="1" dirty="0" smtClean="0"/>
              <a:t>+</a:t>
            </a:r>
            <a:r>
              <a:rPr lang="en-AU" sz="3200" b="1" dirty="0" smtClean="0">
                <a:solidFill>
                  <a:schemeClr val="accent6"/>
                </a:solidFill>
              </a:rPr>
              <a:t> b²</a:t>
            </a:r>
            <a:endParaRPr lang="en-AU" sz="3200" b="1" dirty="0">
              <a:solidFill>
                <a:schemeClr val="accent6"/>
              </a:solidFill>
            </a:endParaRPr>
          </a:p>
        </p:txBody>
      </p:sp>
      <p:sp>
        <p:nvSpPr>
          <p:cNvPr id="20" name="TextBox 19"/>
          <p:cNvSpPr txBox="1"/>
          <p:nvPr/>
        </p:nvSpPr>
        <p:spPr>
          <a:xfrm>
            <a:off x="2759951" y="3889246"/>
            <a:ext cx="559837" cy="584775"/>
          </a:xfrm>
          <a:prstGeom prst="rect">
            <a:avLst/>
          </a:prstGeom>
          <a:noFill/>
        </p:spPr>
        <p:txBody>
          <a:bodyPr wrap="square" rtlCol="0">
            <a:spAutoFit/>
          </a:bodyPr>
          <a:lstStyle/>
          <a:p>
            <a:r>
              <a:rPr lang="en-AU" sz="3200" b="1" dirty="0">
                <a:solidFill>
                  <a:schemeClr val="accent5"/>
                </a:solidFill>
              </a:rPr>
              <a:t>c</a:t>
            </a:r>
          </a:p>
        </p:txBody>
      </p:sp>
      <p:sp>
        <p:nvSpPr>
          <p:cNvPr id="21" name="TextBox 20"/>
          <p:cNvSpPr txBox="1"/>
          <p:nvPr/>
        </p:nvSpPr>
        <p:spPr>
          <a:xfrm>
            <a:off x="6483984" y="3408727"/>
            <a:ext cx="916310" cy="584775"/>
          </a:xfrm>
          <a:prstGeom prst="rect">
            <a:avLst/>
          </a:prstGeom>
          <a:noFill/>
        </p:spPr>
        <p:txBody>
          <a:bodyPr wrap="square" rtlCol="0">
            <a:spAutoFit/>
          </a:bodyPr>
          <a:lstStyle/>
          <a:p>
            <a:r>
              <a:rPr lang="en-AU" sz="3200" b="1" dirty="0" smtClean="0"/>
              <a:t>=</a:t>
            </a:r>
            <a:r>
              <a:rPr lang="en-AU" sz="3200" b="1" dirty="0" smtClean="0">
                <a:solidFill>
                  <a:srgbClr val="FF0000"/>
                </a:solidFill>
              </a:rPr>
              <a:t> </a:t>
            </a:r>
            <a:r>
              <a:rPr lang="en-AU" sz="3200" b="1" dirty="0" smtClean="0">
                <a:solidFill>
                  <a:schemeClr val="accent5"/>
                </a:solidFill>
              </a:rPr>
              <a:t>c²</a:t>
            </a:r>
            <a:endParaRPr lang="en-AU" sz="3200" b="1" dirty="0">
              <a:solidFill>
                <a:schemeClr val="accent5"/>
              </a:solidFill>
            </a:endParaRPr>
          </a:p>
        </p:txBody>
      </p:sp>
      <p:sp>
        <p:nvSpPr>
          <p:cNvPr id="5" name="TextBox 4"/>
          <p:cNvSpPr txBox="1"/>
          <p:nvPr/>
        </p:nvSpPr>
        <p:spPr>
          <a:xfrm>
            <a:off x="340770" y="732656"/>
            <a:ext cx="11222698" cy="830997"/>
          </a:xfrm>
          <a:prstGeom prst="rect">
            <a:avLst/>
          </a:prstGeom>
          <a:noFill/>
        </p:spPr>
        <p:txBody>
          <a:bodyPr wrap="square" rtlCol="0">
            <a:spAutoFit/>
          </a:bodyPr>
          <a:lstStyle/>
          <a:p>
            <a:r>
              <a:rPr lang="en-AU" sz="2400" dirty="0" smtClean="0"/>
              <a:t>Pythagoras theorem states that in a right angled triangle, the square of the length of the longest side (hypotenuse) is equal to the sum of the squares of the two shorter sides.</a:t>
            </a:r>
            <a:endParaRPr lang="en-AU" sz="2400" dirty="0"/>
          </a:p>
        </p:txBody>
      </p:sp>
    </p:spTree>
    <p:extLst>
      <p:ext uri="{BB962C8B-B14F-4D97-AF65-F5344CB8AC3E}">
        <p14:creationId xmlns:p14="http://schemas.microsoft.com/office/powerpoint/2010/main" val="434061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ppt_x"/>
                                          </p:val>
                                        </p:tav>
                                        <p:tav tm="100000">
                                          <p:val>
                                            <p:strVal val="#ppt_x"/>
                                          </p:val>
                                        </p:tav>
                                      </p:tavLst>
                                    </p:anim>
                                    <p:anim calcmode="lin" valueType="num">
                                      <p:cBhvr additive="base">
                                        <p:cTn id="5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additive="base">
                                        <p:cTn id="55" dur="500" fill="hold"/>
                                        <p:tgtEl>
                                          <p:spTgt spid="21"/>
                                        </p:tgtEl>
                                        <p:attrNameLst>
                                          <p:attrName>ppt_x</p:attrName>
                                        </p:attrNameLst>
                                      </p:cBhvr>
                                      <p:tavLst>
                                        <p:tav tm="0">
                                          <p:val>
                                            <p:strVal val="#ppt_x"/>
                                          </p:val>
                                        </p:tav>
                                        <p:tav tm="100000">
                                          <p:val>
                                            <p:strVal val="#ppt_x"/>
                                          </p:val>
                                        </p:tav>
                                      </p:tavLst>
                                    </p:anim>
                                    <p:anim calcmode="lin" valueType="num">
                                      <p:cBhvr additive="base">
                                        <p:cTn id="5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5599990" cy="461665"/>
          </a:xfrm>
          <a:prstGeom prst="rect">
            <a:avLst/>
          </a:prstGeom>
          <a:solidFill>
            <a:srgbClr val="FFFF00"/>
          </a:solidFill>
        </p:spPr>
        <p:txBody>
          <a:bodyPr wrap="square" rtlCol="0">
            <a:spAutoFit/>
          </a:bodyPr>
          <a:lstStyle/>
          <a:p>
            <a:r>
              <a:rPr lang="en-AU" sz="2400" dirty="0" smtClean="0"/>
              <a:t>Y11 Apps Chapter </a:t>
            </a:r>
            <a:r>
              <a:rPr lang="en-AU" sz="2400" dirty="0"/>
              <a:t>7</a:t>
            </a:r>
            <a:r>
              <a:rPr lang="en-AU" sz="2400" dirty="0" smtClean="0"/>
              <a:t> </a:t>
            </a:r>
            <a:r>
              <a:rPr lang="en-AU" sz="2400" dirty="0" smtClean="0"/>
              <a:t>Example 1</a:t>
            </a:r>
            <a:endParaRPr lang="en-AU" sz="2400" dirty="0"/>
          </a:p>
        </p:txBody>
      </p:sp>
      <mc:AlternateContent xmlns:mc="http://schemas.openxmlformats.org/markup-compatibility/2006" xmlns:a14="http://schemas.microsoft.com/office/drawing/2010/main">
        <mc:Choice Requires="a14">
          <p:sp>
            <p:nvSpPr>
              <p:cNvPr id="5" name="TextBox 4"/>
              <p:cNvSpPr txBox="1"/>
              <p:nvPr/>
            </p:nvSpPr>
            <p:spPr>
              <a:xfrm>
                <a:off x="340770" y="732656"/>
                <a:ext cx="11222698" cy="830997"/>
              </a:xfrm>
              <a:prstGeom prst="rect">
                <a:avLst/>
              </a:prstGeom>
              <a:noFill/>
            </p:spPr>
            <p:txBody>
              <a:bodyPr wrap="square" rtlCol="0">
                <a:spAutoFit/>
              </a:bodyPr>
              <a:lstStyle/>
              <a:p>
                <a:r>
                  <a:rPr lang="en-AU" sz="2400" dirty="0" smtClean="0"/>
                  <a:t>The right angled triangle shown below has a hypotenuse of length </a:t>
                </a:r>
                <a14:m>
                  <m:oMath xmlns:m="http://schemas.openxmlformats.org/officeDocument/2006/math">
                    <m:r>
                      <a:rPr lang="en-AU" sz="2400" b="0" i="1" smtClean="0">
                        <a:latin typeface="Cambria Math" panose="02040503050406030204" pitchFamily="18" charset="0"/>
                      </a:rPr>
                      <m:t>𝑥</m:t>
                    </m:r>
                  </m:oMath>
                </a14:m>
                <a:r>
                  <a:rPr lang="en-AU" sz="2400" dirty="0" smtClean="0"/>
                  <a:t> m.</a:t>
                </a:r>
              </a:p>
              <a:p>
                <a:r>
                  <a:rPr lang="en-AU" sz="2400" dirty="0" smtClean="0"/>
                  <a:t>Find the length of </a:t>
                </a:r>
                <a14:m>
                  <m:oMath xmlns:m="http://schemas.openxmlformats.org/officeDocument/2006/math">
                    <m:r>
                      <a:rPr lang="en-AU" sz="2400" b="0" i="1" smtClean="0">
                        <a:latin typeface="Cambria Math" panose="02040503050406030204" pitchFamily="18" charset="0"/>
                      </a:rPr>
                      <m:t>𝑥</m:t>
                    </m:r>
                  </m:oMath>
                </a14:m>
                <a:r>
                  <a:rPr lang="en-AU" sz="2400" dirty="0" smtClean="0"/>
                  <a:t>.</a:t>
                </a:r>
                <a:endParaRPr lang="en-AU"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340770" y="732656"/>
                <a:ext cx="11222698" cy="830997"/>
              </a:xfrm>
              <a:prstGeom prst="rect">
                <a:avLst/>
              </a:prstGeom>
              <a:blipFill>
                <a:blip r:embed="rId2"/>
                <a:stretch>
                  <a:fillRect l="-869" t="-5839" b="-15328"/>
                </a:stretch>
              </a:blipFill>
            </p:spPr>
            <p:txBody>
              <a:bodyPr/>
              <a:lstStyle/>
              <a:p>
                <a:r>
                  <a:rPr lang="en-AU">
                    <a:noFill/>
                  </a:rPr>
                  <a:t> </a:t>
                </a:r>
              </a:p>
            </p:txBody>
          </p:sp>
        </mc:Fallback>
      </mc:AlternateContent>
      <p:pic>
        <p:nvPicPr>
          <p:cNvPr id="2" name="Picture 1"/>
          <p:cNvPicPr>
            <a:picLocks noChangeAspect="1"/>
          </p:cNvPicPr>
          <p:nvPr/>
        </p:nvPicPr>
        <p:blipFill>
          <a:blip r:embed="rId3"/>
          <a:stretch>
            <a:fillRect/>
          </a:stretch>
        </p:blipFill>
        <p:spPr>
          <a:xfrm>
            <a:off x="5466759" y="1753753"/>
            <a:ext cx="4080486" cy="3162377"/>
          </a:xfrm>
          <a:prstGeom prst="rect">
            <a:avLst/>
          </a:prstGeom>
        </p:spPr>
      </p:pic>
      <mc:AlternateContent xmlns:mc="http://schemas.openxmlformats.org/markup-compatibility/2006" xmlns:a14="http://schemas.microsoft.com/office/drawing/2010/main">
        <mc:Choice Requires="a14">
          <p:sp>
            <p:nvSpPr>
              <p:cNvPr id="15" name="TextBox 14"/>
              <p:cNvSpPr txBox="1"/>
              <p:nvPr/>
            </p:nvSpPr>
            <p:spPr>
              <a:xfrm>
                <a:off x="1117645" y="2199612"/>
                <a:ext cx="3534810" cy="354994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𝟗</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𝟏𝟐</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𝒙</m:t>
                          </m:r>
                        </m:e>
                        <m:sup>
                          <m:r>
                            <a:rPr lang="en-AU" sz="2400" b="1" i="1" smtClean="0">
                              <a:solidFill>
                                <a:srgbClr val="FF0000"/>
                              </a:solidFill>
                              <a:latin typeface="Cambria Math" panose="02040503050406030204" pitchFamily="18" charset="0"/>
                            </a:rPr>
                            <m:t>𝟐</m:t>
                          </m:r>
                        </m:sup>
                      </m:sSup>
                    </m:oMath>
                  </m:oMathPara>
                </a14:m>
                <a:endParaRPr lang="en-AU" sz="2400" b="1" dirty="0" smtClean="0"/>
              </a:p>
              <a:p>
                <a:endParaRPr lang="en-AU" sz="2400" b="1" dirty="0"/>
              </a:p>
              <a:p>
                <a:pPr/>
                <a14:m>
                  <m:oMathPara xmlns:m="http://schemas.openxmlformats.org/officeDocument/2006/math">
                    <m:oMathParaPr>
                      <m:jc m:val="centerGroup"/>
                    </m:oMathParaPr>
                    <m:oMath xmlns:m="http://schemas.openxmlformats.org/officeDocument/2006/math">
                      <m:r>
                        <a:rPr lang="en-AU" sz="2400" b="1" i="1" smtClean="0">
                          <a:solidFill>
                            <a:srgbClr val="FF0000"/>
                          </a:solidFill>
                          <a:latin typeface="Cambria Math" panose="02040503050406030204" pitchFamily="18" charset="0"/>
                        </a:rPr>
                        <m:t>𝟖𝟏</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𝟏𝟒𝟒</m:t>
                      </m:r>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a:solidFill>
                                <a:srgbClr val="FF0000"/>
                              </a:solidFill>
                              <a:latin typeface="Cambria Math" panose="02040503050406030204" pitchFamily="18" charset="0"/>
                            </a:rPr>
                            <m:t>𝒙</m:t>
                          </m:r>
                        </m:e>
                        <m:sup>
                          <m:r>
                            <a:rPr lang="en-AU" sz="2400" b="1" i="1">
                              <a:solidFill>
                                <a:srgbClr val="FF0000"/>
                              </a:solidFill>
                              <a:latin typeface="Cambria Math" panose="02040503050406030204" pitchFamily="18" charset="0"/>
                            </a:rPr>
                            <m:t>𝟐</m:t>
                          </m:r>
                        </m:sup>
                      </m:sSup>
                    </m:oMath>
                  </m:oMathPara>
                </a14:m>
                <a:endParaRPr lang="en-AU" sz="2400" b="1" dirty="0" smtClean="0">
                  <a:solidFill>
                    <a:srgbClr val="FF0000"/>
                  </a:solidFill>
                </a:endParaRPr>
              </a:p>
              <a:p>
                <a:endParaRPr lang="en-AU" sz="2400" b="1" dirty="0" smtClean="0"/>
              </a:p>
              <a:p>
                <a:pPr/>
                <a14:m>
                  <m:oMathPara xmlns:m="http://schemas.openxmlformats.org/officeDocument/2006/math">
                    <m:oMathParaPr>
                      <m:jc m:val="centerGroup"/>
                    </m:oMathParaPr>
                    <m:oMath xmlns:m="http://schemas.openxmlformats.org/officeDocument/2006/math">
                      <m:sSup>
                        <m:sSupPr>
                          <m:ctrlPr>
                            <a:rPr lang="en-AU" sz="2400" b="1" i="1">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𝟐𝟐𝟓</m:t>
                          </m:r>
                          <m:r>
                            <a:rPr lang="en-AU" sz="2400" b="1" i="1" smtClean="0">
                              <a:solidFill>
                                <a:srgbClr val="FF0000"/>
                              </a:solidFill>
                              <a:latin typeface="Cambria Math" panose="02040503050406030204" pitchFamily="18" charset="0"/>
                            </a:rPr>
                            <m:t>=</m:t>
                          </m:r>
                          <m:r>
                            <a:rPr lang="en-AU" sz="2400" b="1" i="1">
                              <a:solidFill>
                                <a:srgbClr val="FF0000"/>
                              </a:solidFill>
                              <a:latin typeface="Cambria Math" panose="02040503050406030204" pitchFamily="18" charset="0"/>
                            </a:rPr>
                            <m:t>𝒙</m:t>
                          </m:r>
                        </m:e>
                        <m:sup>
                          <m:r>
                            <a:rPr lang="en-AU" sz="2400" b="1" i="1">
                              <a:solidFill>
                                <a:srgbClr val="FF0000"/>
                              </a:solidFill>
                              <a:latin typeface="Cambria Math" panose="02040503050406030204" pitchFamily="18" charset="0"/>
                            </a:rPr>
                            <m:t>𝟐</m:t>
                          </m:r>
                        </m:sup>
                      </m:sSup>
                    </m:oMath>
                  </m:oMathPara>
                </a14:m>
                <a:endParaRPr lang="en-AU" sz="2400" b="1" dirty="0" smtClean="0"/>
              </a:p>
              <a:p>
                <a:endParaRPr lang="en-AU" sz="2400" b="1" dirty="0" smtClean="0"/>
              </a:p>
              <a:p>
                <a:pPr/>
                <a14:m>
                  <m:oMathPara xmlns:m="http://schemas.openxmlformats.org/officeDocument/2006/math">
                    <m:oMathParaPr>
                      <m:jc m:val="centerGroup"/>
                    </m:oMathParaPr>
                    <m:oMath xmlns:m="http://schemas.openxmlformats.org/officeDocument/2006/math">
                      <m:rad>
                        <m:radPr>
                          <m:degHide m:val="on"/>
                          <m:ctrlPr>
                            <a:rPr lang="en-AU" sz="2400" b="1" i="1" smtClean="0">
                              <a:solidFill>
                                <a:srgbClr val="FF0000"/>
                              </a:solidFill>
                              <a:latin typeface="Cambria Math" panose="02040503050406030204" pitchFamily="18" charset="0"/>
                            </a:rPr>
                          </m:ctrlPr>
                        </m:radPr>
                        <m:deg/>
                        <m:e>
                          <m:r>
                            <a:rPr lang="en-AU" sz="2400" b="1" i="1" smtClean="0">
                              <a:solidFill>
                                <a:srgbClr val="FF0000"/>
                              </a:solidFill>
                              <a:latin typeface="Cambria Math" panose="02040503050406030204" pitchFamily="18" charset="0"/>
                            </a:rPr>
                            <m:t>𝟐𝟐𝟓</m:t>
                          </m:r>
                        </m:e>
                      </m:rad>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𝒙</m:t>
                      </m:r>
                    </m:oMath>
                  </m:oMathPara>
                </a14:m>
                <a:endParaRPr lang="en-AU" sz="2400" b="1" dirty="0" smtClean="0">
                  <a:solidFill>
                    <a:srgbClr val="FF0000"/>
                  </a:solidFill>
                </a:endParaRPr>
              </a:p>
              <a:p>
                <a:endParaRPr lang="en-AU" sz="2400" b="1" dirty="0" smtClean="0"/>
              </a:p>
              <a:p>
                <a:pPr/>
                <a14:m>
                  <m:oMathPara xmlns:m="http://schemas.openxmlformats.org/officeDocument/2006/math">
                    <m:oMathParaPr>
                      <m:jc m:val="centerGroup"/>
                    </m:oMathParaPr>
                    <m:oMath xmlns:m="http://schemas.openxmlformats.org/officeDocument/2006/math">
                      <m:r>
                        <a:rPr lang="en-AU" sz="2400" b="1" i="1" smtClean="0">
                          <a:solidFill>
                            <a:srgbClr val="FF0000"/>
                          </a:solidFill>
                          <a:latin typeface="Cambria Math" panose="02040503050406030204" pitchFamily="18" charset="0"/>
                        </a:rPr>
                        <m:t>𝟏𝟓</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𝒙</m:t>
                      </m:r>
                    </m:oMath>
                  </m:oMathPara>
                </a14:m>
                <a:endParaRPr lang="en-AU" sz="2400" b="1" dirty="0">
                  <a:solidFill>
                    <a:srgbClr val="FF0000"/>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1117645" y="2199612"/>
                <a:ext cx="3534810" cy="3549946"/>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5466759" y="5100194"/>
                <a:ext cx="5023283" cy="1229183"/>
              </a:xfrm>
              <a:prstGeom prst="rect">
                <a:avLst/>
              </a:prstGeom>
              <a:solidFill>
                <a:srgbClr val="FFFF00"/>
              </a:solidFill>
            </p:spPr>
            <p:txBody>
              <a:bodyPr wrap="square" rtlCol="0">
                <a:spAutoFit/>
              </a:bodyPr>
              <a:lstStyle/>
              <a:p>
                <a:r>
                  <a:rPr lang="en-AU" dirty="0" smtClean="0"/>
                  <a:t>Note: if using a </a:t>
                </a:r>
                <a:r>
                  <a:rPr lang="en-AU" dirty="0" err="1" smtClean="0"/>
                  <a:t>classpad</a:t>
                </a:r>
                <a:r>
                  <a:rPr lang="en-AU" dirty="0" smtClean="0"/>
                  <a:t> to solve, there will be two solutions to </a:t>
                </a:r>
                <a14:m>
                  <m:oMath xmlns:m="http://schemas.openxmlformats.org/officeDocument/2006/math">
                    <m:rad>
                      <m:radPr>
                        <m:degHide m:val="on"/>
                        <m:ctrlPr>
                          <a:rPr lang="en-AU" i="1" smtClean="0">
                            <a:latin typeface="Cambria Math" panose="02040503050406030204" pitchFamily="18" charset="0"/>
                          </a:rPr>
                        </m:ctrlPr>
                      </m:radPr>
                      <m:deg/>
                      <m:e>
                        <m:r>
                          <a:rPr lang="en-AU" b="0" i="1" smtClean="0">
                            <a:latin typeface="Cambria Math" panose="02040503050406030204" pitchFamily="18" charset="0"/>
                          </a:rPr>
                          <m:t>225</m:t>
                        </m:r>
                      </m:e>
                    </m:rad>
                  </m:oMath>
                </a14:m>
                <a:r>
                  <a:rPr lang="en-AU" dirty="0" smtClean="0"/>
                  <a:t> being </a:t>
                </a:r>
                <a14:m>
                  <m:oMath xmlns:m="http://schemas.openxmlformats.org/officeDocument/2006/math">
                    <m:r>
                      <a:rPr lang="en-AU" b="0" i="1" smtClean="0">
                        <a:latin typeface="Cambria Math" panose="02040503050406030204" pitchFamily="18" charset="0"/>
                      </a:rPr>
                      <m:t>𝑥</m:t>
                    </m:r>
                    <m:r>
                      <a:rPr lang="en-AU" b="0" i="1" smtClean="0">
                        <a:latin typeface="Cambria Math" panose="02040503050406030204" pitchFamily="18" charset="0"/>
                      </a:rPr>
                      <m:t>=−15 </m:t>
                    </m:r>
                    <m:r>
                      <a:rPr lang="en-AU" b="0" i="1" smtClean="0">
                        <a:latin typeface="Cambria Math" panose="02040503050406030204" pitchFamily="18" charset="0"/>
                      </a:rPr>
                      <m:t>𝑜𝑟</m:t>
                    </m:r>
                    <m:r>
                      <a:rPr lang="en-AU" b="0" i="1" smtClean="0">
                        <a:latin typeface="Cambria Math" panose="02040503050406030204" pitchFamily="18" charset="0"/>
                      </a:rPr>
                      <m:t>+15</m:t>
                    </m:r>
                  </m:oMath>
                </a14:m>
                <a:r>
                  <a:rPr lang="en-AU" dirty="0" smtClean="0"/>
                  <a:t>.</a:t>
                </a:r>
              </a:p>
              <a:p>
                <a:r>
                  <a:rPr lang="en-AU" dirty="0" smtClean="0"/>
                  <a:t>In most instance in Pythagoras’ theorem the negative answer will not be an appropriate solution.</a:t>
                </a:r>
              </a:p>
            </p:txBody>
          </p:sp>
        </mc:Choice>
        <mc:Fallback xmlns="">
          <p:sp>
            <p:nvSpPr>
              <p:cNvPr id="3" name="TextBox 2"/>
              <p:cNvSpPr txBox="1">
                <a:spLocks noRot="1" noChangeAspect="1" noMove="1" noResize="1" noEditPoints="1" noAdjustHandles="1" noChangeArrowheads="1" noChangeShapeType="1" noTextEdit="1"/>
              </p:cNvSpPr>
              <p:nvPr/>
            </p:nvSpPr>
            <p:spPr>
              <a:xfrm>
                <a:off x="5466759" y="5100194"/>
                <a:ext cx="5023283" cy="1229183"/>
              </a:xfrm>
              <a:prstGeom prst="rect">
                <a:avLst/>
              </a:prstGeom>
              <a:blipFill>
                <a:blip r:embed="rId5"/>
                <a:stretch>
                  <a:fillRect l="-1092" t="-2985" r="-971" b="-7463"/>
                </a:stretch>
              </a:blipFill>
            </p:spPr>
            <p:txBody>
              <a:bodyPr/>
              <a:lstStyle/>
              <a:p>
                <a:r>
                  <a:rPr lang="en-AU">
                    <a:noFill/>
                  </a:rPr>
                  <a:t> </a:t>
                </a:r>
              </a:p>
            </p:txBody>
          </p:sp>
        </mc:Fallback>
      </mc:AlternateContent>
    </p:spTree>
    <p:extLst>
      <p:ext uri="{BB962C8B-B14F-4D97-AF65-F5344CB8AC3E}">
        <p14:creationId xmlns:p14="http://schemas.microsoft.com/office/powerpoint/2010/main" val="1102727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additive="base">
                                        <p:cTn id="7"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xEl>
                                              <p:pRg st="2" end="2"/>
                                            </p:txEl>
                                          </p:spTgt>
                                        </p:tgtEl>
                                        <p:attrNameLst>
                                          <p:attrName>style.visibility</p:attrName>
                                        </p:attrNameLst>
                                      </p:cBhvr>
                                      <p:to>
                                        <p:strVal val="visible"/>
                                      </p:to>
                                    </p:set>
                                    <p:anim calcmode="lin" valueType="num">
                                      <p:cBhvr additive="base">
                                        <p:cTn id="13"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xEl>
                                              <p:pRg st="4" end="4"/>
                                            </p:txEl>
                                          </p:spTgt>
                                        </p:tgtEl>
                                        <p:attrNameLst>
                                          <p:attrName>style.visibility</p:attrName>
                                        </p:attrNameLst>
                                      </p:cBhvr>
                                      <p:to>
                                        <p:strVal val="visible"/>
                                      </p:to>
                                    </p:set>
                                    <p:anim calcmode="lin" valueType="num">
                                      <p:cBhvr additive="base">
                                        <p:cTn id="19"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
                                            <p:txEl>
                                              <p:pRg st="6" end="6"/>
                                            </p:txEl>
                                          </p:spTgt>
                                        </p:tgtEl>
                                        <p:attrNameLst>
                                          <p:attrName>style.visibility</p:attrName>
                                        </p:attrNameLst>
                                      </p:cBhvr>
                                      <p:to>
                                        <p:strVal val="visible"/>
                                      </p:to>
                                    </p:set>
                                    <p:anim calcmode="lin" valueType="num">
                                      <p:cBhvr additive="base">
                                        <p:cTn id="25" dur="500" fill="hold"/>
                                        <p:tgtEl>
                                          <p:spTgt spid="1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
                                            <p:txEl>
                                              <p:pRg st="8" end="8"/>
                                            </p:txEl>
                                          </p:spTgt>
                                        </p:tgtEl>
                                        <p:attrNameLst>
                                          <p:attrName>style.visibility</p:attrName>
                                        </p:attrNameLst>
                                      </p:cBhvr>
                                      <p:to>
                                        <p:strVal val="visible"/>
                                      </p:to>
                                    </p:set>
                                    <p:anim calcmode="lin" valueType="num">
                                      <p:cBhvr additive="base">
                                        <p:cTn id="31" dur="500" fill="hold"/>
                                        <p:tgtEl>
                                          <p:spTgt spid="15">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5599990" cy="461665"/>
          </a:xfrm>
          <a:prstGeom prst="rect">
            <a:avLst/>
          </a:prstGeom>
          <a:solidFill>
            <a:srgbClr val="FFFF00"/>
          </a:solidFill>
        </p:spPr>
        <p:txBody>
          <a:bodyPr wrap="square" rtlCol="0">
            <a:spAutoFit/>
          </a:bodyPr>
          <a:lstStyle/>
          <a:p>
            <a:r>
              <a:rPr lang="en-AU" sz="2400" dirty="0" smtClean="0"/>
              <a:t>Y11 Apps Chapter </a:t>
            </a:r>
            <a:r>
              <a:rPr lang="en-AU" sz="2400" dirty="0"/>
              <a:t>7</a:t>
            </a:r>
            <a:r>
              <a:rPr lang="en-AU" sz="2400" dirty="0" smtClean="0"/>
              <a:t> </a:t>
            </a:r>
            <a:r>
              <a:rPr lang="en-AU" sz="2400" dirty="0" smtClean="0"/>
              <a:t>Example 2</a:t>
            </a:r>
            <a:endParaRPr lang="en-AU" sz="2400" dirty="0"/>
          </a:p>
        </p:txBody>
      </p:sp>
      <mc:AlternateContent xmlns:mc="http://schemas.openxmlformats.org/markup-compatibility/2006" xmlns:a14="http://schemas.microsoft.com/office/drawing/2010/main">
        <mc:Choice Requires="a14">
          <p:sp>
            <p:nvSpPr>
              <p:cNvPr id="5" name="TextBox 4"/>
              <p:cNvSpPr txBox="1"/>
              <p:nvPr/>
            </p:nvSpPr>
            <p:spPr>
              <a:xfrm>
                <a:off x="340770" y="732656"/>
                <a:ext cx="11222698" cy="830997"/>
              </a:xfrm>
              <a:prstGeom prst="rect">
                <a:avLst/>
              </a:prstGeom>
              <a:noFill/>
            </p:spPr>
            <p:txBody>
              <a:bodyPr wrap="square" rtlCol="0">
                <a:spAutoFit/>
              </a:bodyPr>
              <a:lstStyle/>
              <a:p>
                <a:r>
                  <a:rPr lang="en-AU" sz="2400" dirty="0" smtClean="0"/>
                  <a:t>Find the length of side </a:t>
                </a:r>
                <a14:m>
                  <m:oMath xmlns:m="http://schemas.openxmlformats.org/officeDocument/2006/math">
                    <m:r>
                      <a:rPr lang="en-AU" sz="2400" b="0" i="1" smtClean="0">
                        <a:latin typeface="Cambria Math" panose="02040503050406030204" pitchFamily="18" charset="0"/>
                      </a:rPr>
                      <m:t>𝐴𝐶</m:t>
                    </m:r>
                  </m:oMath>
                </a14:m>
                <a:r>
                  <a:rPr lang="en-AU" sz="2400" dirty="0" smtClean="0"/>
                  <a:t> in the right triangle shown below, giving your answer in centimetres, correct to the nearest millimetre.</a:t>
                </a:r>
                <a:endParaRPr lang="en-AU"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340770" y="732656"/>
                <a:ext cx="11222698" cy="830997"/>
              </a:xfrm>
              <a:prstGeom prst="rect">
                <a:avLst/>
              </a:prstGeom>
              <a:blipFill>
                <a:blip r:embed="rId2"/>
                <a:stretch>
                  <a:fillRect l="-869" t="-5839" b="-1532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1117645" y="2199612"/>
                <a:ext cx="3534810" cy="34840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𝟕</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𝟐</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𝟏𝟐</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𝟒</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𝒙</m:t>
                          </m:r>
                        </m:e>
                        <m:sup>
                          <m:r>
                            <a:rPr lang="en-AU" sz="2400" b="1" i="1" smtClean="0">
                              <a:solidFill>
                                <a:srgbClr val="FF0000"/>
                              </a:solidFill>
                              <a:latin typeface="Cambria Math" panose="02040503050406030204" pitchFamily="18" charset="0"/>
                            </a:rPr>
                            <m:t>𝟐</m:t>
                          </m:r>
                        </m:sup>
                      </m:sSup>
                    </m:oMath>
                  </m:oMathPara>
                </a14:m>
                <a:endParaRPr lang="en-AU" sz="2400" b="1" dirty="0" smtClean="0"/>
              </a:p>
              <a:p>
                <a:endParaRPr lang="en-AU" sz="2400" b="1" dirty="0"/>
              </a:p>
              <a:p>
                <a:pPr/>
                <a14:m>
                  <m:oMathPara xmlns:m="http://schemas.openxmlformats.org/officeDocument/2006/math">
                    <m:oMathParaPr>
                      <m:jc m:val="centerGroup"/>
                    </m:oMathParaPr>
                    <m:oMath xmlns:m="http://schemas.openxmlformats.org/officeDocument/2006/math">
                      <m:r>
                        <a:rPr lang="en-AU" sz="2400" b="1" i="1" smtClean="0">
                          <a:solidFill>
                            <a:srgbClr val="FF0000"/>
                          </a:solidFill>
                          <a:latin typeface="Cambria Math" panose="02040503050406030204" pitchFamily="18" charset="0"/>
                        </a:rPr>
                        <m:t>𝟐𝟎𝟓</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𝟔</m:t>
                      </m:r>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a:solidFill>
                                <a:srgbClr val="FF0000"/>
                              </a:solidFill>
                              <a:latin typeface="Cambria Math" panose="02040503050406030204" pitchFamily="18" charset="0"/>
                            </a:rPr>
                            <m:t>𝒙</m:t>
                          </m:r>
                        </m:e>
                        <m:sup>
                          <m:r>
                            <a:rPr lang="en-AU" sz="2400" b="1" i="1">
                              <a:solidFill>
                                <a:srgbClr val="FF0000"/>
                              </a:solidFill>
                              <a:latin typeface="Cambria Math" panose="02040503050406030204" pitchFamily="18" charset="0"/>
                            </a:rPr>
                            <m:t>𝟐</m:t>
                          </m:r>
                        </m:sup>
                      </m:sSup>
                    </m:oMath>
                  </m:oMathPara>
                </a14:m>
                <a:endParaRPr lang="en-AU" sz="2400" b="1" dirty="0" smtClean="0"/>
              </a:p>
              <a:p>
                <a:endParaRPr lang="en-AU" sz="2400" b="1" dirty="0" smtClean="0"/>
              </a:p>
              <a:p>
                <a:pPr/>
                <a14:m>
                  <m:oMathPara xmlns:m="http://schemas.openxmlformats.org/officeDocument/2006/math">
                    <m:oMathParaPr>
                      <m:jc m:val="centerGroup"/>
                    </m:oMathParaPr>
                    <m:oMath xmlns:m="http://schemas.openxmlformats.org/officeDocument/2006/math">
                      <m:rad>
                        <m:radPr>
                          <m:degHide m:val="on"/>
                          <m:ctrlPr>
                            <a:rPr lang="en-AU" sz="2400" b="1" i="1" smtClean="0">
                              <a:solidFill>
                                <a:srgbClr val="FF0000"/>
                              </a:solidFill>
                              <a:latin typeface="Cambria Math" panose="02040503050406030204" pitchFamily="18" charset="0"/>
                            </a:rPr>
                          </m:ctrlPr>
                        </m:radPr>
                        <m:deg/>
                        <m:e>
                          <m:r>
                            <a:rPr lang="en-AU" sz="2400" b="1" i="1" smtClean="0">
                              <a:solidFill>
                                <a:srgbClr val="FF0000"/>
                              </a:solidFill>
                              <a:latin typeface="Cambria Math" panose="02040503050406030204" pitchFamily="18" charset="0"/>
                            </a:rPr>
                            <m:t>𝟐𝟎𝟓</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𝟔</m:t>
                          </m:r>
                        </m:e>
                      </m:rad>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𝒙</m:t>
                      </m:r>
                    </m:oMath>
                  </m:oMathPara>
                </a14:m>
                <a:endParaRPr lang="en-AU" sz="2400" b="1" dirty="0" smtClean="0">
                  <a:solidFill>
                    <a:srgbClr val="FF0000"/>
                  </a:solidFill>
                </a:endParaRPr>
              </a:p>
              <a:p>
                <a:endParaRPr lang="en-AU" sz="2400" b="1" dirty="0" smtClean="0"/>
              </a:p>
              <a:p>
                <a:pPr/>
                <a14:m>
                  <m:oMathPara xmlns:m="http://schemas.openxmlformats.org/officeDocument/2006/math">
                    <m:oMathParaPr>
                      <m:jc m:val="centerGroup"/>
                    </m:oMathParaPr>
                    <m:oMath xmlns:m="http://schemas.openxmlformats.org/officeDocument/2006/math">
                      <m:r>
                        <a:rPr lang="en-AU" sz="2400" b="1" i="1" smtClean="0">
                          <a:solidFill>
                            <a:srgbClr val="FF0000"/>
                          </a:solidFill>
                          <a:latin typeface="Cambria Math" panose="02040503050406030204" pitchFamily="18" charset="0"/>
                        </a:rPr>
                        <m:t>𝟏𝟒</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𝟑𝟒</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𝒙</m:t>
                      </m:r>
                    </m:oMath>
                  </m:oMathPara>
                </a14:m>
                <a:endParaRPr lang="en-AU" sz="2400" b="1" dirty="0" smtClean="0">
                  <a:solidFill>
                    <a:srgbClr val="FF0000"/>
                  </a:solidFill>
                </a:endParaRPr>
              </a:p>
              <a:p>
                <a:endParaRPr lang="en-AU" sz="2400" b="1" dirty="0">
                  <a:solidFill>
                    <a:srgbClr val="FF0000"/>
                  </a:solidFill>
                </a:endParaRPr>
              </a:p>
              <a:p>
                <a:r>
                  <a:rPr lang="en-AU" sz="2400" b="1" dirty="0" smtClean="0">
                    <a:solidFill>
                      <a:srgbClr val="FF0000"/>
                    </a:solidFill>
                  </a:rPr>
                  <a:t>Side AC is 14.34 cm long</a:t>
                </a:r>
                <a:endParaRPr lang="en-AU" sz="2400" b="1" dirty="0">
                  <a:solidFill>
                    <a:srgbClr val="FF0000"/>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1117645" y="2199612"/>
                <a:ext cx="3534810" cy="3484031"/>
              </a:xfrm>
              <a:prstGeom prst="rect">
                <a:avLst/>
              </a:prstGeom>
              <a:blipFill>
                <a:blip r:embed="rId3"/>
                <a:stretch>
                  <a:fillRect l="-2586" b="-3152"/>
                </a:stretch>
              </a:blipFill>
            </p:spPr>
            <p:txBody>
              <a:bodyPr/>
              <a:lstStyle/>
              <a:p>
                <a:r>
                  <a:rPr lang="en-AU">
                    <a:noFill/>
                  </a:rPr>
                  <a:t> </a:t>
                </a:r>
              </a:p>
            </p:txBody>
          </p:sp>
        </mc:Fallback>
      </mc:AlternateContent>
      <p:pic>
        <p:nvPicPr>
          <p:cNvPr id="4" name="Picture 3"/>
          <p:cNvPicPr>
            <a:picLocks noChangeAspect="1"/>
          </p:cNvPicPr>
          <p:nvPr/>
        </p:nvPicPr>
        <p:blipFill>
          <a:blip r:embed="rId4"/>
          <a:stretch>
            <a:fillRect/>
          </a:stretch>
        </p:blipFill>
        <p:spPr>
          <a:xfrm>
            <a:off x="6624271" y="2510251"/>
            <a:ext cx="4939197" cy="3333958"/>
          </a:xfrm>
          <a:prstGeom prst="rect">
            <a:avLst/>
          </a:prstGeom>
        </p:spPr>
      </p:pic>
    </p:spTree>
    <p:extLst>
      <p:ext uri="{BB962C8B-B14F-4D97-AF65-F5344CB8AC3E}">
        <p14:creationId xmlns:p14="http://schemas.microsoft.com/office/powerpoint/2010/main" val="3379453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additive="base">
                                        <p:cTn id="7"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xEl>
                                              <p:pRg st="2" end="2"/>
                                            </p:txEl>
                                          </p:spTgt>
                                        </p:tgtEl>
                                        <p:attrNameLst>
                                          <p:attrName>style.visibility</p:attrName>
                                        </p:attrNameLst>
                                      </p:cBhvr>
                                      <p:to>
                                        <p:strVal val="visible"/>
                                      </p:to>
                                    </p:set>
                                    <p:anim calcmode="lin" valueType="num">
                                      <p:cBhvr additive="base">
                                        <p:cTn id="13"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xEl>
                                              <p:pRg st="4" end="4"/>
                                            </p:txEl>
                                          </p:spTgt>
                                        </p:tgtEl>
                                        <p:attrNameLst>
                                          <p:attrName>style.visibility</p:attrName>
                                        </p:attrNameLst>
                                      </p:cBhvr>
                                      <p:to>
                                        <p:strVal val="visible"/>
                                      </p:to>
                                    </p:set>
                                    <p:anim calcmode="lin" valueType="num">
                                      <p:cBhvr additive="base">
                                        <p:cTn id="19"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
                                            <p:txEl>
                                              <p:pRg st="6" end="6"/>
                                            </p:txEl>
                                          </p:spTgt>
                                        </p:tgtEl>
                                        <p:attrNameLst>
                                          <p:attrName>style.visibility</p:attrName>
                                        </p:attrNameLst>
                                      </p:cBhvr>
                                      <p:to>
                                        <p:strVal val="visible"/>
                                      </p:to>
                                    </p:set>
                                    <p:anim calcmode="lin" valueType="num">
                                      <p:cBhvr additive="base">
                                        <p:cTn id="25" dur="500" fill="hold"/>
                                        <p:tgtEl>
                                          <p:spTgt spid="1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
                                            <p:txEl>
                                              <p:pRg st="8" end="8"/>
                                            </p:txEl>
                                          </p:spTgt>
                                        </p:tgtEl>
                                        <p:attrNameLst>
                                          <p:attrName>style.visibility</p:attrName>
                                        </p:attrNameLst>
                                      </p:cBhvr>
                                      <p:to>
                                        <p:strVal val="visible"/>
                                      </p:to>
                                    </p:set>
                                    <p:anim calcmode="lin" valueType="num">
                                      <p:cBhvr additive="base">
                                        <p:cTn id="31" dur="500" fill="hold"/>
                                        <p:tgtEl>
                                          <p:spTgt spid="15">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5599990" cy="461665"/>
          </a:xfrm>
          <a:prstGeom prst="rect">
            <a:avLst/>
          </a:prstGeom>
          <a:solidFill>
            <a:srgbClr val="FFFF00"/>
          </a:solidFill>
        </p:spPr>
        <p:txBody>
          <a:bodyPr wrap="square" rtlCol="0">
            <a:spAutoFit/>
          </a:bodyPr>
          <a:lstStyle/>
          <a:p>
            <a:r>
              <a:rPr lang="en-AU" sz="2400" dirty="0" smtClean="0"/>
              <a:t>Y11 Apps Chapter </a:t>
            </a:r>
            <a:r>
              <a:rPr lang="en-AU" sz="2400" dirty="0"/>
              <a:t>7</a:t>
            </a:r>
            <a:r>
              <a:rPr lang="en-AU" sz="2400" dirty="0" smtClean="0"/>
              <a:t> </a:t>
            </a:r>
            <a:r>
              <a:rPr lang="en-AU" sz="2400" dirty="0" smtClean="0"/>
              <a:t>Example 3</a:t>
            </a:r>
            <a:endParaRPr lang="en-AU" sz="2400" dirty="0"/>
          </a:p>
        </p:txBody>
      </p:sp>
      <mc:AlternateContent xmlns:mc="http://schemas.openxmlformats.org/markup-compatibility/2006" xmlns:a14="http://schemas.microsoft.com/office/drawing/2010/main">
        <mc:Choice Requires="a14">
          <p:sp>
            <p:nvSpPr>
              <p:cNvPr id="5" name="TextBox 4"/>
              <p:cNvSpPr txBox="1"/>
              <p:nvPr/>
            </p:nvSpPr>
            <p:spPr>
              <a:xfrm>
                <a:off x="340770" y="732656"/>
                <a:ext cx="11222698" cy="830997"/>
              </a:xfrm>
              <a:prstGeom prst="rect">
                <a:avLst/>
              </a:prstGeom>
              <a:noFill/>
            </p:spPr>
            <p:txBody>
              <a:bodyPr wrap="square" rtlCol="0">
                <a:spAutoFit/>
              </a:bodyPr>
              <a:lstStyle/>
              <a:p>
                <a:r>
                  <a:rPr lang="en-AU" sz="2400" dirty="0" smtClean="0"/>
                  <a:t>Find the value of </a:t>
                </a:r>
                <a14:m>
                  <m:oMath xmlns:m="http://schemas.openxmlformats.org/officeDocument/2006/math">
                    <m:r>
                      <a:rPr lang="en-AU" sz="2400" b="0" i="1" smtClean="0">
                        <a:latin typeface="Cambria Math" panose="02040503050406030204" pitchFamily="18" charset="0"/>
                      </a:rPr>
                      <m:t>𝑥</m:t>
                    </m:r>
                  </m:oMath>
                </a14:m>
                <a:r>
                  <a:rPr lang="en-AU" sz="2400" dirty="0" smtClean="0"/>
                  <a:t> in the diagram shown below, giving your answer correct to 1 decimal place.</a:t>
                </a:r>
                <a:endParaRPr lang="en-AU"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340770" y="732656"/>
                <a:ext cx="11222698" cy="830997"/>
              </a:xfrm>
              <a:prstGeom prst="rect">
                <a:avLst/>
              </a:prstGeom>
              <a:blipFill>
                <a:blip r:embed="rId2"/>
                <a:stretch>
                  <a:fillRect l="-869" t="-5839" b="-1532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1117645" y="2199612"/>
                <a:ext cx="3534810" cy="38616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𝟎</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𝟔𝟏𝟐</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𝒙</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𝟎</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𝟕𝟐𝟏</m:t>
                          </m:r>
                        </m:e>
                        <m:sup>
                          <m:r>
                            <a:rPr lang="en-AU" sz="2400" b="1" i="1" smtClean="0">
                              <a:solidFill>
                                <a:srgbClr val="FF0000"/>
                              </a:solidFill>
                              <a:latin typeface="Cambria Math" panose="02040503050406030204" pitchFamily="18" charset="0"/>
                            </a:rPr>
                            <m:t>𝟐</m:t>
                          </m:r>
                        </m:sup>
                      </m:sSup>
                    </m:oMath>
                  </m:oMathPara>
                </a14:m>
                <a:endParaRPr lang="en-AU" sz="2400" b="1" dirty="0" smtClean="0"/>
              </a:p>
              <a:p>
                <a:endParaRPr lang="en-AU" sz="2400" b="1" dirty="0"/>
              </a:p>
              <a:p>
                <a:pPr/>
                <a14:m>
                  <m:oMathPara xmlns:m="http://schemas.openxmlformats.org/officeDocument/2006/math">
                    <m:oMathParaPr>
                      <m:jc m:val="centerGroup"/>
                    </m:oMathParaPr>
                    <m:oMath xmlns:m="http://schemas.openxmlformats.org/officeDocument/2006/math">
                      <m:sSup>
                        <m:sSupPr>
                          <m:ctrlPr>
                            <a:rPr lang="en-AU" sz="2400" b="1" i="1" smtClean="0">
                              <a:solidFill>
                                <a:srgbClr val="FF0000"/>
                              </a:solidFill>
                              <a:latin typeface="Cambria Math" panose="02040503050406030204" pitchFamily="18" charset="0"/>
                            </a:rPr>
                          </m:ctrlPr>
                        </m:sSupPr>
                        <m:e>
                          <m:r>
                            <a:rPr lang="en-AU" sz="2400" b="1" i="1">
                              <a:solidFill>
                                <a:srgbClr val="FF0000"/>
                              </a:solidFill>
                              <a:latin typeface="Cambria Math" panose="02040503050406030204" pitchFamily="18" charset="0"/>
                            </a:rPr>
                            <m:t>𝒙</m:t>
                          </m:r>
                        </m:e>
                        <m:sup>
                          <m:r>
                            <a:rPr lang="en-AU" sz="2400" b="1" i="1">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𝟎</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𝟕𝟐𝟏</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𝟎</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𝟔𝟏𝟐</m:t>
                          </m:r>
                        </m:e>
                        <m:sup>
                          <m:r>
                            <a:rPr lang="en-AU" sz="2400" b="1" i="1" smtClean="0">
                              <a:solidFill>
                                <a:srgbClr val="FF0000"/>
                              </a:solidFill>
                              <a:latin typeface="Cambria Math" panose="02040503050406030204" pitchFamily="18" charset="0"/>
                            </a:rPr>
                            <m:t>𝟐</m:t>
                          </m:r>
                        </m:sup>
                      </m:sSup>
                    </m:oMath>
                  </m:oMathPara>
                </a14:m>
                <a:endParaRPr lang="en-AU" sz="2400" b="1" dirty="0" smtClean="0">
                  <a:solidFill>
                    <a:srgbClr val="FF0000"/>
                  </a:solidFill>
                </a:endParaRPr>
              </a:p>
              <a:p>
                <a:endParaRPr lang="en-AU" sz="2400" b="1" dirty="0" smtClean="0"/>
              </a:p>
              <a:p>
                <a:pPr/>
                <a14:m>
                  <m:oMathPara xmlns:m="http://schemas.openxmlformats.org/officeDocument/2006/math">
                    <m:oMathParaPr>
                      <m:jc m:val="centerGroup"/>
                    </m:oMathParaPr>
                    <m:oMath xmlns:m="http://schemas.openxmlformats.org/officeDocument/2006/math">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𝒙</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𝟎</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𝟏𝟒𝟓𝟐𝟗𝟕</m:t>
                      </m:r>
                    </m:oMath>
                  </m:oMathPara>
                </a14:m>
                <a:endParaRPr lang="en-AU" sz="2400" b="1" dirty="0" smtClean="0"/>
              </a:p>
              <a:p>
                <a:endParaRPr lang="en-AU" sz="2400" b="1" dirty="0" smtClean="0"/>
              </a:p>
              <a:p>
                <a:pPr/>
                <a14:m>
                  <m:oMathPara xmlns:m="http://schemas.openxmlformats.org/officeDocument/2006/math">
                    <m:oMathParaPr>
                      <m:jc m:val="centerGroup"/>
                    </m:oMathParaPr>
                    <m:oMath xmlns:m="http://schemas.openxmlformats.org/officeDocument/2006/math">
                      <m:rad>
                        <m:radPr>
                          <m:degHide m:val="on"/>
                          <m:ctrlPr>
                            <a:rPr lang="en-AU" sz="2400" b="1" i="1" smtClean="0">
                              <a:solidFill>
                                <a:srgbClr val="FF0000"/>
                              </a:solidFill>
                              <a:latin typeface="Cambria Math" panose="02040503050406030204" pitchFamily="18" charset="0"/>
                            </a:rPr>
                          </m:ctrlPr>
                        </m:radPr>
                        <m:deg/>
                        <m:e>
                          <m:r>
                            <a:rPr lang="en-AU" sz="2400" b="1" i="1" smtClean="0">
                              <a:solidFill>
                                <a:srgbClr val="FF0000"/>
                              </a:solidFill>
                              <a:latin typeface="Cambria Math" panose="02040503050406030204" pitchFamily="18" charset="0"/>
                            </a:rPr>
                            <m:t>𝟎</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𝟏𝟒𝟓𝟐𝟗𝟕</m:t>
                          </m:r>
                        </m:e>
                      </m:rad>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𝒙</m:t>
                      </m:r>
                    </m:oMath>
                  </m:oMathPara>
                </a14:m>
                <a:endParaRPr lang="en-AU" sz="2400" b="1" dirty="0" smtClean="0">
                  <a:solidFill>
                    <a:srgbClr val="FF0000"/>
                  </a:solidFill>
                </a:endParaRPr>
              </a:p>
              <a:p>
                <a:endParaRPr lang="en-AU" sz="2400" b="1" dirty="0" smtClean="0"/>
              </a:p>
              <a:p>
                <a:pPr/>
                <a14:m>
                  <m:oMathPara xmlns:m="http://schemas.openxmlformats.org/officeDocument/2006/math">
                    <m:oMathParaPr>
                      <m:jc m:val="centerGroup"/>
                    </m:oMathParaPr>
                    <m:oMath xmlns:m="http://schemas.openxmlformats.org/officeDocument/2006/math">
                      <m:r>
                        <a:rPr lang="en-AU" sz="2400" b="1" i="1" smtClean="0">
                          <a:solidFill>
                            <a:srgbClr val="FF0000"/>
                          </a:solidFill>
                          <a:latin typeface="Cambria Math" panose="02040503050406030204" pitchFamily="18" charset="0"/>
                        </a:rPr>
                        <m:t>𝟎</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𝟑𝟖𝟏</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𝒙</m:t>
                      </m:r>
                    </m:oMath>
                  </m:oMathPara>
                </a14:m>
                <a:endParaRPr lang="en-AU" sz="2400" b="1" dirty="0" smtClean="0">
                  <a:solidFill>
                    <a:srgbClr val="FF0000"/>
                  </a:solidFill>
                </a:endParaRPr>
              </a:p>
              <a:p>
                <a:endParaRPr lang="en-AU" sz="2400" b="1" dirty="0">
                  <a:solidFill>
                    <a:srgbClr val="FF0000"/>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1117645" y="2199612"/>
                <a:ext cx="3534810" cy="3861698"/>
              </a:xfrm>
              <a:prstGeom prst="rect">
                <a:avLst/>
              </a:prstGeom>
              <a:blipFill>
                <a:blip r:embed="rId3"/>
                <a:stretch>
                  <a:fillRect/>
                </a:stretch>
              </a:blipFill>
            </p:spPr>
            <p:txBody>
              <a:bodyPr/>
              <a:lstStyle/>
              <a:p>
                <a:r>
                  <a:rPr lang="en-AU">
                    <a:noFill/>
                  </a:rPr>
                  <a:t> </a:t>
                </a:r>
              </a:p>
            </p:txBody>
          </p:sp>
        </mc:Fallback>
      </mc:AlternateContent>
      <p:pic>
        <p:nvPicPr>
          <p:cNvPr id="2" name="Picture 1"/>
          <p:cNvPicPr>
            <a:picLocks noChangeAspect="1"/>
          </p:cNvPicPr>
          <p:nvPr/>
        </p:nvPicPr>
        <p:blipFill>
          <a:blip r:embed="rId4"/>
          <a:stretch>
            <a:fillRect/>
          </a:stretch>
        </p:blipFill>
        <p:spPr>
          <a:xfrm>
            <a:off x="6567604" y="2045686"/>
            <a:ext cx="3895725" cy="2857500"/>
          </a:xfrm>
          <a:prstGeom prst="rect">
            <a:avLst/>
          </a:prstGeom>
        </p:spPr>
      </p:pic>
      <p:sp>
        <p:nvSpPr>
          <p:cNvPr id="3" name="Rounded Rectangle 2"/>
          <p:cNvSpPr/>
          <p:nvPr/>
        </p:nvSpPr>
        <p:spPr>
          <a:xfrm>
            <a:off x="7379566" y="4253948"/>
            <a:ext cx="1135900" cy="465719"/>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p:cNvSpPr txBox="1"/>
          <p:nvPr/>
        </p:nvSpPr>
        <p:spPr>
          <a:xfrm>
            <a:off x="6907221" y="4719667"/>
            <a:ext cx="2080590" cy="369332"/>
          </a:xfrm>
          <a:prstGeom prst="rect">
            <a:avLst/>
          </a:prstGeom>
          <a:noFill/>
        </p:spPr>
        <p:txBody>
          <a:bodyPr wrap="square" rtlCol="0">
            <a:spAutoFit/>
          </a:bodyPr>
          <a:lstStyle/>
          <a:p>
            <a:r>
              <a:rPr lang="en-AU" dirty="0" smtClean="0"/>
              <a:t>Convert into m first</a:t>
            </a:r>
            <a:endParaRPr lang="en-AU" dirty="0"/>
          </a:p>
        </p:txBody>
      </p:sp>
    </p:spTree>
    <p:extLst>
      <p:ext uri="{BB962C8B-B14F-4D97-AF65-F5344CB8AC3E}">
        <p14:creationId xmlns:p14="http://schemas.microsoft.com/office/powerpoint/2010/main" val="173736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additive="base">
                                        <p:cTn id="7"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xEl>
                                              <p:pRg st="2" end="2"/>
                                            </p:txEl>
                                          </p:spTgt>
                                        </p:tgtEl>
                                        <p:attrNameLst>
                                          <p:attrName>style.visibility</p:attrName>
                                        </p:attrNameLst>
                                      </p:cBhvr>
                                      <p:to>
                                        <p:strVal val="visible"/>
                                      </p:to>
                                    </p:set>
                                    <p:anim calcmode="lin" valueType="num">
                                      <p:cBhvr additive="base">
                                        <p:cTn id="13"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xEl>
                                              <p:pRg st="4" end="4"/>
                                            </p:txEl>
                                          </p:spTgt>
                                        </p:tgtEl>
                                        <p:attrNameLst>
                                          <p:attrName>style.visibility</p:attrName>
                                        </p:attrNameLst>
                                      </p:cBhvr>
                                      <p:to>
                                        <p:strVal val="visible"/>
                                      </p:to>
                                    </p:set>
                                    <p:anim calcmode="lin" valueType="num">
                                      <p:cBhvr additive="base">
                                        <p:cTn id="19"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
                                            <p:txEl>
                                              <p:pRg st="6" end="6"/>
                                            </p:txEl>
                                          </p:spTgt>
                                        </p:tgtEl>
                                        <p:attrNameLst>
                                          <p:attrName>style.visibility</p:attrName>
                                        </p:attrNameLst>
                                      </p:cBhvr>
                                      <p:to>
                                        <p:strVal val="visible"/>
                                      </p:to>
                                    </p:set>
                                    <p:anim calcmode="lin" valueType="num">
                                      <p:cBhvr additive="base">
                                        <p:cTn id="25" dur="500" fill="hold"/>
                                        <p:tgtEl>
                                          <p:spTgt spid="1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
                                            <p:txEl>
                                              <p:pRg st="8" end="8"/>
                                            </p:txEl>
                                          </p:spTgt>
                                        </p:tgtEl>
                                        <p:attrNameLst>
                                          <p:attrName>style.visibility</p:attrName>
                                        </p:attrNameLst>
                                      </p:cBhvr>
                                      <p:to>
                                        <p:strVal val="visible"/>
                                      </p:to>
                                    </p:set>
                                    <p:anim calcmode="lin" valueType="num">
                                      <p:cBhvr additive="base">
                                        <p:cTn id="31" dur="500" fill="hold"/>
                                        <p:tgtEl>
                                          <p:spTgt spid="15">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4072204" cy="461665"/>
          </a:xfrm>
          <a:prstGeom prst="rect">
            <a:avLst/>
          </a:prstGeom>
          <a:solidFill>
            <a:srgbClr val="FFFF00"/>
          </a:solidFill>
        </p:spPr>
        <p:txBody>
          <a:bodyPr wrap="square" rtlCol="0">
            <a:spAutoFit/>
          </a:bodyPr>
          <a:lstStyle/>
          <a:p>
            <a:r>
              <a:rPr lang="en-AU" sz="2400" dirty="0" smtClean="0"/>
              <a:t>Y11 Apps Chapter </a:t>
            </a:r>
            <a:r>
              <a:rPr lang="en-AU" sz="2400" dirty="0"/>
              <a:t>7</a:t>
            </a:r>
            <a:r>
              <a:rPr lang="en-AU" sz="2400" dirty="0" smtClean="0"/>
              <a:t> </a:t>
            </a:r>
            <a:r>
              <a:rPr lang="en-AU" sz="2400" dirty="0" smtClean="0"/>
              <a:t>Example 4</a:t>
            </a:r>
            <a:endParaRPr lang="en-AU" sz="2400" dirty="0"/>
          </a:p>
        </p:txBody>
      </p:sp>
      <mc:AlternateContent xmlns:mc="http://schemas.openxmlformats.org/markup-compatibility/2006" xmlns:a14="http://schemas.microsoft.com/office/drawing/2010/main">
        <mc:Choice Requires="a14">
          <p:sp>
            <p:nvSpPr>
              <p:cNvPr id="5" name="TextBox 4"/>
              <p:cNvSpPr txBox="1"/>
              <p:nvPr/>
            </p:nvSpPr>
            <p:spPr>
              <a:xfrm>
                <a:off x="340770" y="732656"/>
                <a:ext cx="11222698" cy="830997"/>
              </a:xfrm>
              <a:prstGeom prst="rect">
                <a:avLst/>
              </a:prstGeom>
              <a:noFill/>
            </p:spPr>
            <p:txBody>
              <a:bodyPr wrap="square" rtlCol="0">
                <a:spAutoFit/>
              </a:bodyPr>
              <a:lstStyle/>
              <a:p>
                <a:r>
                  <a:rPr lang="en-AU" sz="2400" dirty="0" smtClean="0"/>
                  <a:t>Find the value of </a:t>
                </a:r>
                <a14:m>
                  <m:oMath xmlns:m="http://schemas.openxmlformats.org/officeDocument/2006/math">
                    <m:r>
                      <a:rPr lang="en-AU" sz="2400" b="0" i="1" smtClean="0">
                        <a:latin typeface="Cambria Math" panose="02040503050406030204" pitchFamily="18" charset="0"/>
                      </a:rPr>
                      <m:t>𝑥</m:t>
                    </m:r>
                  </m:oMath>
                </a14:m>
                <a:r>
                  <a:rPr lang="en-AU" sz="2400" dirty="0" smtClean="0"/>
                  <a:t> in the diagram shown below, giving your answer correct to one decimal place.</a:t>
                </a:r>
                <a:endParaRPr lang="en-AU"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340770" y="732656"/>
                <a:ext cx="11222698" cy="830997"/>
              </a:xfrm>
              <a:prstGeom prst="rect">
                <a:avLst/>
              </a:prstGeom>
              <a:blipFill>
                <a:blip r:embed="rId2"/>
                <a:stretch>
                  <a:fillRect l="-869" t="-5839" b="-1532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496348" y="2719303"/>
                <a:ext cx="4607294" cy="4288610"/>
              </a:xfrm>
              <a:prstGeom prst="rect">
                <a:avLst/>
              </a:prstGeom>
              <a:noFill/>
            </p:spPr>
            <p:txBody>
              <a:bodyPr wrap="square" rtlCol="0">
                <a:spAutoFit/>
              </a:bodyPr>
              <a:lstStyle/>
              <a:p>
                <a:r>
                  <a:rPr lang="en-AU" sz="2400" b="1" i="1" dirty="0" smtClean="0">
                    <a:solidFill>
                      <a:srgbClr val="FF0000"/>
                    </a:solidFill>
                    <a:latin typeface="Cambria Math" panose="02040503050406030204" pitchFamily="18" charset="0"/>
                  </a:rPr>
                  <a:t>Let  y be the height of the triangle</a:t>
                </a:r>
              </a:p>
              <a:p>
                <a:pPr/>
                <a14:m>
                  <m:oMathPara xmlns:m="http://schemas.openxmlformats.org/officeDocument/2006/math">
                    <m:oMathParaPr>
                      <m:jc m:val="centerGroup"/>
                    </m:oMathParaPr>
                    <m:oMath xmlns:m="http://schemas.openxmlformats.org/officeDocument/2006/math">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𝟏𝟐</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𝟒</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𝒚</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𝟏𝟒</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𝟖</m:t>
                          </m:r>
                        </m:e>
                        <m:sup>
                          <m:r>
                            <a:rPr lang="en-AU" sz="2400" b="1" i="1" smtClean="0">
                              <a:solidFill>
                                <a:srgbClr val="FF0000"/>
                              </a:solidFill>
                              <a:latin typeface="Cambria Math" panose="02040503050406030204" pitchFamily="18" charset="0"/>
                            </a:rPr>
                            <m:t>𝟐</m:t>
                          </m:r>
                        </m:sup>
                      </m:sSup>
                    </m:oMath>
                  </m:oMathPara>
                </a14:m>
                <a:endParaRPr lang="en-AU" sz="2400" b="1" dirty="0" smtClean="0"/>
              </a:p>
              <a:p>
                <a:endParaRPr lang="en-AU" sz="2400" b="1" dirty="0"/>
              </a:p>
              <a:p>
                <a:pPr/>
                <a14:m>
                  <m:oMathPara xmlns:m="http://schemas.openxmlformats.org/officeDocument/2006/math">
                    <m:oMathParaPr>
                      <m:jc m:val="centerGroup"/>
                    </m:oMathParaPr>
                    <m:oMath xmlns:m="http://schemas.openxmlformats.org/officeDocument/2006/math">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𝒚</m:t>
                          </m:r>
                        </m:e>
                        <m:sup>
                          <m:r>
                            <a:rPr lang="en-AU" sz="2400" b="1" i="1">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𝟏𝟒</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𝟖</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𝟏𝟐</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𝟒</m:t>
                          </m:r>
                        </m:e>
                        <m:sup>
                          <m:r>
                            <a:rPr lang="en-AU" sz="2400" b="1" i="1" smtClean="0">
                              <a:solidFill>
                                <a:srgbClr val="FF0000"/>
                              </a:solidFill>
                              <a:latin typeface="Cambria Math" panose="02040503050406030204" pitchFamily="18" charset="0"/>
                            </a:rPr>
                            <m:t>𝟐</m:t>
                          </m:r>
                        </m:sup>
                      </m:sSup>
                    </m:oMath>
                  </m:oMathPara>
                </a14:m>
                <a:endParaRPr lang="en-AU" sz="2400" b="1" dirty="0" smtClean="0">
                  <a:solidFill>
                    <a:srgbClr val="FF0000"/>
                  </a:solidFill>
                </a:endParaRPr>
              </a:p>
              <a:p>
                <a:endParaRPr lang="en-AU" sz="2400" b="1" dirty="0" smtClean="0"/>
              </a:p>
              <a:p>
                <a:pPr/>
                <a14:m>
                  <m:oMathPara xmlns:m="http://schemas.openxmlformats.org/officeDocument/2006/math">
                    <m:oMathParaPr>
                      <m:jc m:val="centerGroup"/>
                    </m:oMathParaPr>
                    <m:oMath xmlns:m="http://schemas.openxmlformats.org/officeDocument/2006/math">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𝒚</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𝟔𝟓</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𝟐𝟖</m:t>
                      </m:r>
                    </m:oMath>
                  </m:oMathPara>
                </a14:m>
                <a:endParaRPr lang="en-AU" sz="2400" b="1" dirty="0" smtClean="0"/>
              </a:p>
              <a:p>
                <a:endParaRPr lang="en-AU" sz="2400" b="1" dirty="0" smtClean="0"/>
              </a:p>
              <a:p>
                <a:pPr/>
                <a14:m>
                  <m:oMathPara xmlns:m="http://schemas.openxmlformats.org/officeDocument/2006/math">
                    <m:oMathParaPr>
                      <m:jc m:val="centerGroup"/>
                    </m:oMathParaPr>
                    <m:oMath xmlns:m="http://schemas.openxmlformats.org/officeDocument/2006/math">
                      <m:rad>
                        <m:radPr>
                          <m:degHide m:val="on"/>
                          <m:ctrlPr>
                            <a:rPr lang="en-AU" sz="2400" b="1" i="1" smtClean="0">
                              <a:solidFill>
                                <a:srgbClr val="FF0000"/>
                              </a:solidFill>
                              <a:latin typeface="Cambria Math" panose="02040503050406030204" pitchFamily="18" charset="0"/>
                            </a:rPr>
                          </m:ctrlPr>
                        </m:radPr>
                        <m:deg/>
                        <m:e>
                          <m:r>
                            <a:rPr lang="en-AU" sz="2400" b="1" i="1" smtClean="0">
                              <a:solidFill>
                                <a:srgbClr val="FF0000"/>
                              </a:solidFill>
                              <a:latin typeface="Cambria Math" panose="02040503050406030204" pitchFamily="18" charset="0"/>
                            </a:rPr>
                            <m:t>𝟔𝟓</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𝟐𝟖</m:t>
                          </m:r>
                        </m:e>
                      </m:rad>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𝒚</m:t>
                      </m:r>
                    </m:oMath>
                  </m:oMathPara>
                </a14:m>
                <a:endParaRPr lang="en-AU" sz="2400" b="1" dirty="0" smtClean="0">
                  <a:solidFill>
                    <a:srgbClr val="FF0000"/>
                  </a:solidFill>
                </a:endParaRPr>
              </a:p>
              <a:p>
                <a:endParaRPr lang="en-AU" sz="2400" b="1" dirty="0" smtClean="0"/>
              </a:p>
              <a:p>
                <a:pPr/>
                <a14:m>
                  <m:oMathPara xmlns:m="http://schemas.openxmlformats.org/officeDocument/2006/math">
                    <m:oMathParaPr>
                      <m:jc m:val="centerGroup"/>
                    </m:oMathParaPr>
                    <m:oMath xmlns:m="http://schemas.openxmlformats.org/officeDocument/2006/math">
                      <m:r>
                        <a:rPr lang="en-AU" sz="2400" b="1" i="1" smtClean="0">
                          <a:solidFill>
                            <a:srgbClr val="FF0000"/>
                          </a:solidFill>
                          <a:latin typeface="Cambria Math" panose="02040503050406030204" pitchFamily="18" charset="0"/>
                        </a:rPr>
                        <m:t>𝟖</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𝟏</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𝒚</m:t>
                      </m:r>
                    </m:oMath>
                  </m:oMathPara>
                </a14:m>
                <a:endParaRPr lang="en-AU" sz="2400" b="1" dirty="0" smtClean="0">
                  <a:solidFill>
                    <a:srgbClr val="FF0000"/>
                  </a:solidFill>
                </a:endParaRPr>
              </a:p>
              <a:p>
                <a:endParaRPr lang="en-AU" sz="2400" b="1" dirty="0">
                  <a:solidFill>
                    <a:srgbClr val="FF0000"/>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496348" y="2719303"/>
                <a:ext cx="4607294" cy="4288610"/>
              </a:xfrm>
              <a:prstGeom prst="rect">
                <a:avLst/>
              </a:prstGeom>
              <a:blipFill>
                <a:blip r:embed="rId3"/>
                <a:stretch>
                  <a:fillRect l="-1984" t="-1136"/>
                </a:stretch>
              </a:blipFill>
            </p:spPr>
            <p:txBody>
              <a:bodyPr/>
              <a:lstStyle/>
              <a:p>
                <a:r>
                  <a:rPr lang="en-AU">
                    <a:noFill/>
                  </a:rPr>
                  <a:t> </a:t>
                </a:r>
              </a:p>
            </p:txBody>
          </p:sp>
        </mc:Fallback>
      </mc:AlternateContent>
      <p:pic>
        <p:nvPicPr>
          <p:cNvPr id="4" name="Picture 3"/>
          <p:cNvPicPr>
            <a:picLocks noChangeAspect="1"/>
          </p:cNvPicPr>
          <p:nvPr/>
        </p:nvPicPr>
        <p:blipFill>
          <a:blip r:embed="rId4"/>
          <a:stretch>
            <a:fillRect/>
          </a:stretch>
        </p:blipFill>
        <p:spPr>
          <a:xfrm>
            <a:off x="6903098" y="1219720"/>
            <a:ext cx="5288902" cy="1959783"/>
          </a:xfrm>
          <a:prstGeom prst="rect">
            <a:avLst/>
          </a:prstGeom>
        </p:spPr>
      </p:pic>
      <p:pic>
        <p:nvPicPr>
          <p:cNvPr id="7" name="Picture 6"/>
          <p:cNvPicPr>
            <a:picLocks noChangeAspect="1"/>
          </p:cNvPicPr>
          <p:nvPr/>
        </p:nvPicPr>
        <p:blipFill>
          <a:blip r:embed="rId5"/>
          <a:stretch>
            <a:fillRect/>
          </a:stretch>
        </p:blipFill>
        <p:spPr>
          <a:xfrm>
            <a:off x="895705" y="1505233"/>
            <a:ext cx="3602543" cy="1093629"/>
          </a:xfrm>
          <a:prstGeom prst="rect">
            <a:avLst/>
          </a:prstGeom>
        </p:spPr>
      </p:pic>
      <mc:AlternateContent xmlns:mc="http://schemas.openxmlformats.org/markup-compatibility/2006" xmlns:a14="http://schemas.microsoft.com/office/drawing/2010/main">
        <mc:Choice Requires="a14">
          <p:sp>
            <p:nvSpPr>
              <p:cNvPr id="10" name="TextBox 9"/>
              <p:cNvSpPr txBox="1"/>
              <p:nvPr/>
            </p:nvSpPr>
            <p:spPr>
              <a:xfrm>
                <a:off x="6309928" y="3229512"/>
                <a:ext cx="5125414" cy="3432991"/>
              </a:xfrm>
              <a:prstGeom prst="rect">
                <a:avLst/>
              </a:prstGeom>
              <a:noFill/>
            </p:spPr>
            <p:txBody>
              <a:bodyPr wrap="square" rtlCol="0">
                <a:spAutoFit/>
              </a:bodyPr>
              <a:lstStyle/>
              <a:p>
                <a:r>
                  <a:rPr lang="en-AU" sz="2400" b="1" i="1" dirty="0" smtClean="0">
                    <a:solidFill>
                      <a:srgbClr val="FF0000"/>
                    </a:solidFill>
                    <a:latin typeface="Cambria Math" panose="02040503050406030204" pitchFamily="18" charset="0"/>
                  </a:rPr>
                  <a:t>Use the value calculated to solve for x</a:t>
                </a:r>
              </a:p>
              <a:p>
                <a:pPr/>
                <a14:m>
                  <m:oMathPara xmlns:m="http://schemas.openxmlformats.org/officeDocument/2006/math">
                    <m:oMathParaPr>
                      <m:jc m:val="centerGroup"/>
                    </m:oMathParaPr>
                    <m:oMath xmlns:m="http://schemas.openxmlformats.org/officeDocument/2006/math">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𝒙</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𝟔𝟓</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𝟐𝟖</m:t>
                      </m:r>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𝟏𝟎</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𝟏</m:t>
                          </m:r>
                        </m:e>
                        <m:sup>
                          <m:r>
                            <a:rPr lang="en-AU" sz="2400" b="1" i="1" smtClean="0">
                              <a:solidFill>
                                <a:srgbClr val="FF0000"/>
                              </a:solidFill>
                              <a:latin typeface="Cambria Math" panose="02040503050406030204" pitchFamily="18" charset="0"/>
                            </a:rPr>
                            <m:t>𝟐</m:t>
                          </m:r>
                        </m:sup>
                      </m:sSup>
                    </m:oMath>
                  </m:oMathPara>
                </a14:m>
                <a:endParaRPr lang="en-AU" sz="2400" b="1" dirty="0" smtClean="0"/>
              </a:p>
              <a:p>
                <a:endParaRPr lang="en-AU" sz="2400" b="1" dirty="0"/>
              </a:p>
              <a:p>
                <a:pPr/>
                <a14:m>
                  <m:oMathPara xmlns:m="http://schemas.openxmlformats.org/officeDocument/2006/math">
                    <m:oMathParaPr>
                      <m:jc m:val="centerGroup"/>
                    </m:oMathParaPr>
                    <m:oMath xmlns:m="http://schemas.openxmlformats.org/officeDocument/2006/math">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𝒙</m:t>
                          </m:r>
                        </m:e>
                        <m:sup>
                          <m:r>
                            <a:rPr lang="en-AU" sz="2400" b="1" i="1">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𝟏𝟎</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𝟏</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𝟔𝟓</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𝟐𝟖</m:t>
                      </m:r>
                    </m:oMath>
                  </m:oMathPara>
                </a14:m>
                <a:endParaRPr lang="en-AU" sz="2400" b="1" dirty="0" smtClean="0">
                  <a:solidFill>
                    <a:srgbClr val="FF0000"/>
                  </a:solidFill>
                </a:endParaRPr>
              </a:p>
              <a:p>
                <a:endParaRPr lang="en-AU" sz="2400" b="1" dirty="0" smtClean="0"/>
              </a:p>
              <a:p>
                <a:pPr/>
                <a14:m>
                  <m:oMathPara xmlns:m="http://schemas.openxmlformats.org/officeDocument/2006/math">
                    <m:oMathParaPr>
                      <m:jc m:val="centerGroup"/>
                    </m:oMathParaPr>
                    <m:oMath xmlns:m="http://schemas.openxmlformats.org/officeDocument/2006/math">
                      <m:r>
                        <a:rPr lang="en-AU" sz="2400" b="1" i="1" smtClean="0">
                          <a:solidFill>
                            <a:srgbClr val="FF0000"/>
                          </a:solidFill>
                          <a:latin typeface="Cambria Math" panose="02040503050406030204" pitchFamily="18" charset="0"/>
                        </a:rPr>
                        <m:t>𝒙</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𝟔</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𝟎𝟔𝟏</m:t>
                      </m:r>
                    </m:oMath>
                  </m:oMathPara>
                </a14:m>
                <a:endParaRPr lang="en-AU" sz="2400" b="1" dirty="0" smtClean="0">
                  <a:solidFill>
                    <a:srgbClr val="FF0000"/>
                  </a:solidFill>
                </a:endParaRPr>
              </a:p>
              <a:p>
                <a:endParaRPr lang="en-AU" sz="2400" b="1" dirty="0" smtClean="0"/>
              </a:p>
              <a:p>
                <a:pPr/>
                <a14:m>
                  <m:oMathPara xmlns:m="http://schemas.openxmlformats.org/officeDocument/2006/math">
                    <m:oMathParaPr>
                      <m:jc m:val="centerGroup"/>
                    </m:oMathParaPr>
                    <m:oMath xmlns:m="http://schemas.openxmlformats.org/officeDocument/2006/math">
                      <m:r>
                        <a:rPr lang="en-AU" sz="2400" b="1" i="1" smtClean="0">
                          <a:solidFill>
                            <a:srgbClr val="FF0000"/>
                          </a:solidFill>
                          <a:latin typeface="Cambria Math" panose="02040503050406030204" pitchFamily="18" charset="0"/>
                        </a:rPr>
                        <m:t>𝒙</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𝟔</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𝟏</m:t>
                      </m:r>
                      <m:r>
                        <a:rPr lang="en-AU" sz="2400" b="1" i="1" smtClean="0">
                          <a:solidFill>
                            <a:srgbClr val="FF0000"/>
                          </a:solidFill>
                          <a:latin typeface="Cambria Math" panose="02040503050406030204" pitchFamily="18" charset="0"/>
                        </a:rPr>
                        <m:t> </m:t>
                      </m:r>
                      <m:r>
                        <a:rPr lang="en-AU" sz="2400" b="1" i="1" smtClean="0">
                          <a:solidFill>
                            <a:srgbClr val="FF0000"/>
                          </a:solidFill>
                          <a:latin typeface="Cambria Math" panose="02040503050406030204" pitchFamily="18" charset="0"/>
                        </a:rPr>
                        <m:t>𝒄𝒐𝒓𝒓𝒆𝒄𝒕</m:t>
                      </m:r>
                      <m:r>
                        <a:rPr lang="en-AU" sz="2400" b="1" i="1" smtClean="0">
                          <a:solidFill>
                            <a:srgbClr val="FF0000"/>
                          </a:solidFill>
                          <a:latin typeface="Cambria Math" panose="02040503050406030204" pitchFamily="18" charset="0"/>
                        </a:rPr>
                        <m:t> </m:t>
                      </m:r>
                      <m:r>
                        <a:rPr lang="en-AU" sz="2400" b="1" i="1" smtClean="0">
                          <a:solidFill>
                            <a:srgbClr val="FF0000"/>
                          </a:solidFill>
                          <a:latin typeface="Cambria Math" panose="02040503050406030204" pitchFamily="18" charset="0"/>
                        </a:rPr>
                        <m:t>𝒕𝒐</m:t>
                      </m:r>
                      <m:r>
                        <a:rPr lang="en-AU" sz="2400" b="1" i="1" smtClean="0">
                          <a:solidFill>
                            <a:srgbClr val="FF0000"/>
                          </a:solidFill>
                          <a:latin typeface="Cambria Math" panose="02040503050406030204" pitchFamily="18" charset="0"/>
                        </a:rPr>
                        <m:t> </m:t>
                      </m:r>
                      <m:r>
                        <a:rPr lang="en-AU" sz="2400" b="1" i="1" smtClean="0">
                          <a:solidFill>
                            <a:srgbClr val="FF0000"/>
                          </a:solidFill>
                          <a:latin typeface="Cambria Math" panose="02040503050406030204" pitchFamily="18" charset="0"/>
                        </a:rPr>
                        <m:t>𝟏</m:t>
                      </m:r>
                      <m:r>
                        <a:rPr lang="en-AU" sz="2400" b="1" i="1" smtClean="0">
                          <a:solidFill>
                            <a:srgbClr val="FF0000"/>
                          </a:solidFill>
                          <a:latin typeface="Cambria Math" panose="02040503050406030204" pitchFamily="18" charset="0"/>
                        </a:rPr>
                        <m:t> </m:t>
                      </m:r>
                      <m:r>
                        <a:rPr lang="en-AU" sz="2400" b="1" i="1" smtClean="0">
                          <a:solidFill>
                            <a:srgbClr val="FF0000"/>
                          </a:solidFill>
                          <a:latin typeface="Cambria Math" panose="02040503050406030204" pitchFamily="18" charset="0"/>
                        </a:rPr>
                        <m:t>𝒅</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𝒑</m:t>
                      </m:r>
                      <m:r>
                        <a:rPr lang="en-AU" sz="2400" b="1" i="1" smtClean="0">
                          <a:solidFill>
                            <a:srgbClr val="FF0000"/>
                          </a:solidFill>
                          <a:latin typeface="Cambria Math" panose="02040503050406030204" pitchFamily="18" charset="0"/>
                        </a:rPr>
                        <m:t>.</m:t>
                      </m:r>
                    </m:oMath>
                  </m:oMathPara>
                </a14:m>
                <a:endParaRPr lang="en-AU" sz="2400" b="1" dirty="0" smtClean="0">
                  <a:solidFill>
                    <a:srgbClr val="FF0000"/>
                  </a:solidFill>
                </a:endParaRPr>
              </a:p>
              <a:p>
                <a:endParaRPr lang="en-AU" sz="2400" b="1" dirty="0">
                  <a:solidFill>
                    <a:srgbClr val="FF0000"/>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6309928" y="3229512"/>
                <a:ext cx="5125414" cy="3432991"/>
              </a:xfrm>
              <a:prstGeom prst="rect">
                <a:avLst/>
              </a:prstGeom>
              <a:blipFill>
                <a:blip r:embed="rId6"/>
                <a:stretch>
                  <a:fillRect l="-1784" t="-1421"/>
                </a:stretch>
              </a:blipFill>
            </p:spPr>
            <p:txBody>
              <a:bodyPr/>
              <a:lstStyle/>
              <a:p>
                <a:r>
                  <a:rPr lang="en-AU">
                    <a:noFill/>
                  </a:rPr>
                  <a:t> </a:t>
                </a:r>
              </a:p>
            </p:txBody>
          </p:sp>
        </mc:Fallback>
      </mc:AlternateContent>
      <p:sp>
        <p:nvSpPr>
          <p:cNvPr id="11" name="TextBox 10"/>
          <p:cNvSpPr txBox="1"/>
          <p:nvPr/>
        </p:nvSpPr>
        <p:spPr>
          <a:xfrm>
            <a:off x="5883018" y="155958"/>
            <a:ext cx="2846378" cy="461665"/>
          </a:xfrm>
          <a:prstGeom prst="rect">
            <a:avLst/>
          </a:prstGeom>
          <a:solidFill>
            <a:srgbClr val="FFFF00"/>
          </a:solidFill>
        </p:spPr>
        <p:txBody>
          <a:bodyPr wrap="square" rtlCol="0">
            <a:spAutoFit/>
          </a:bodyPr>
          <a:lstStyle/>
          <a:p>
            <a:r>
              <a:rPr lang="en-AU" sz="2400" dirty="0" smtClean="0"/>
              <a:t>Now Try Ex 7A</a:t>
            </a:r>
            <a:endParaRPr lang="en-AU" sz="2400" dirty="0"/>
          </a:p>
        </p:txBody>
      </p:sp>
    </p:spTree>
    <p:extLst>
      <p:ext uri="{BB962C8B-B14F-4D97-AF65-F5344CB8AC3E}">
        <p14:creationId xmlns:p14="http://schemas.microsoft.com/office/powerpoint/2010/main" val="4102911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 calcmode="lin" valueType="num">
                                      <p:cBhvr additive="base">
                                        <p:cTn id="12"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5">
                                            <p:txEl>
                                              <p:pRg st="1" end="1"/>
                                            </p:txEl>
                                          </p:spTgt>
                                        </p:tgtEl>
                                        <p:attrNameLst>
                                          <p:attrName>style.visibility</p:attrName>
                                        </p:attrNameLst>
                                      </p:cBhvr>
                                      <p:to>
                                        <p:strVal val="visible"/>
                                      </p:to>
                                    </p:set>
                                    <p:anim calcmode="lin" valueType="num">
                                      <p:cBhvr additive="base">
                                        <p:cTn id="18" dur="500" fill="hold"/>
                                        <p:tgtEl>
                                          <p:spTgt spid="15">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5">
                                            <p:txEl>
                                              <p:pRg st="3" end="3"/>
                                            </p:txEl>
                                          </p:spTgt>
                                        </p:tgtEl>
                                        <p:attrNameLst>
                                          <p:attrName>style.visibility</p:attrName>
                                        </p:attrNameLst>
                                      </p:cBhvr>
                                      <p:to>
                                        <p:strVal val="visible"/>
                                      </p:to>
                                    </p:set>
                                    <p:anim calcmode="lin" valueType="num">
                                      <p:cBhvr additive="base">
                                        <p:cTn id="24"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5">
                                            <p:txEl>
                                              <p:pRg st="5" end="5"/>
                                            </p:txEl>
                                          </p:spTgt>
                                        </p:tgtEl>
                                        <p:attrNameLst>
                                          <p:attrName>style.visibility</p:attrName>
                                        </p:attrNameLst>
                                      </p:cBhvr>
                                      <p:to>
                                        <p:strVal val="visible"/>
                                      </p:to>
                                    </p:set>
                                    <p:anim calcmode="lin" valueType="num">
                                      <p:cBhvr additive="base">
                                        <p:cTn id="30" dur="500" fill="hold"/>
                                        <p:tgtEl>
                                          <p:spTgt spid="15">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5">
                                            <p:txEl>
                                              <p:pRg st="7" end="7"/>
                                            </p:txEl>
                                          </p:spTgt>
                                        </p:tgtEl>
                                        <p:attrNameLst>
                                          <p:attrName>style.visibility</p:attrName>
                                        </p:attrNameLst>
                                      </p:cBhvr>
                                      <p:to>
                                        <p:strVal val="visible"/>
                                      </p:to>
                                    </p:set>
                                    <p:anim calcmode="lin" valueType="num">
                                      <p:cBhvr additive="base">
                                        <p:cTn id="36" dur="500" fill="hold"/>
                                        <p:tgtEl>
                                          <p:spTgt spid="15">
                                            <p:txEl>
                                              <p:pRg st="7" end="7"/>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5">
                                            <p:txEl>
                                              <p:pRg st="9" end="9"/>
                                            </p:txEl>
                                          </p:spTgt>
                                        </p:tgtEl>
                                        <p:attrNameLst>
                                          <p:attrName>style.visibility</p:attrName>
                                        </p:attrNameLst>
                                      </p:cBhvr>
                                      <p:to>
                                        <p:strVal val="visible"/>
                                      </p:to>
                                    </p:set>
                                    <p:anim calcmode="lin" valueType="num">
                                      <p:cBhvr additive="base">
                                        <p:cTn id="42" dur="500" fill="hold"/>
                                        <p:tgtEl>
                                          <p:spTgt spid="15">
                                            <p:txEl>
                                              <p:pRg st="9" end="9"/>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10">
                                            <p:txEl>
                                              <p:pRg st="0" end="0"/>
                                            </p:txEl>
                                          </p:spTgt>
                                        </p:tgtEl>
                                        <p:attrNameLst>
                                          <p:attrName>style.visibility</p:attrName>
                                        </p:attrNameLst>
                                      </p:cBhvr>
                                      <p:to>
                                        <p:strVal val="visible"/>
                                      </p:to>
                                    </p:set>
                                    <p:anim calcmode="lin" valueType="num">
                                      <p:cBhvr additive="base">
                                        <p:cTn id="48"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10">
                                            <p:txEl>
                                              <p:pRg st="1" end="1"/>
                                            </p:txEl>
                                          </p:spTgt>
                                        </p:tgtEl>
                                        <p:attrNameLst>
                                          <p:attrName>style.visibility</p:attrName>
                                        </p:attrNameLst>
                                      </p:cBhvr>
                                      <p:to>
                                        <p:strVal val="visible"/>
                                      </p:to>
                                    </p:set>
                                    <p:anim calcmode="lin" valueType="num">
                                      <p:cBhvr additive="base">
                                        <p:cTn id="54"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10">
                                            <p:txEl>
                                              <p:pRg st="3" end="3"/>
                                            </p:txEl>
                                          </p:spTgt>
                                        </p:tgtEl>
                                        <p:attrNameLst>
                                          <p:attrName>style.visibility</p:attrName>
                                        </p:attrNameLst>
                                      </p:cBhvr>
                                      <p:to>
                                        <p:strVal val="visible"/>
                                      </p:to>
                                    </p:set>
                                    <p:anim calcmode="lin" valueType="num">
                                      <p:cBhvr additive="base">
                                        <p:cTn id="60"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10">
                                            <p:txEl>
                                              <p:pRg st="5" end="5"/>
                                            </p:txEl>
                                          </p:spTgt>
                                        </p:tgtEl>
                                        <p:attrNameLst>
                                          <p:attrName>style.visibility</p:attrName>
                                        </p:attrNameLst>
                                      </p:cBhvr>
                                      <p:to>
                                        <p:strVal val="visible"/>
                                      </p:to>
                                    </p:set>
                                    <p:anim calcmode="lin" valueType="num">
                                      <p:cBhvr additive="base">
                                        <p:cTn id="66"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10">
                                            <p:txEl>
                                              <p:pRg st="7" end="7"/>
                                            </p:txEl>
                                          </p:spTgt>
                                        </p:tgtEl>
                                        <p:attrNameLst>
                                          <p:attrName>style.visibility</p:attrName>
                                        </p:attrNameLst>
                                      </p:cBhvr>
                                      <p:to>
                                        <p:strVal val="visible"/>
                                      </p:to>
                                    </p:set>
                                    <p:anim calcmode="lin" valueType="num">
                                      <p:cBhvr additive="base">
                                        <p:cTn id="72"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1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11"/>
                                        </p:tgtEl>
                                        <p:attrNameLst>
                                          <p:attrName>style.visibility</p:attrName>
                                        </p:attrNameLst>
                                      </p:cBhvr>
                                      <p:to>
                                        <p:strVal val="visible"/>
                                      </p:to>
                                    </p:set>
                                    <p:animEffect transition="in" filter="fade">
                                      <p:cBhvr>
                                        <p:cTn id="7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5599990" cy="461665"/>
          </a:xfrm>
          <a:prstGeom prst="rect">
            <a:avLst/>
          </a:prstGeom>
          <a:solidFill>
            <a:srgbClr val="FFFF00"/>
          </a:solidFill>
        </p:spPr>
        <p:txBody>
          <a:bodyPr wrap="square" rtlCol="0">
            <a:spAutoFit/>
          </a:bodyPr>
          <a:lstStyle/>
          <a:p>
            <a:r>
              <a:rPr lang="en-AU" sz="2400" dirty="0" smtClean="0"/>
              <a:t>Y11 Apps Chapter </a:t>
            </a:r>
            <a:r>
              <a:rPr lang="en-AU" sz="2400" dirty="0"/>
              <a:t>7</a:t>
            </a:r>
            <a:r>
              <a:rPr lang="en-AU" sz="2400" dirty="0" smtClean="0"/>
              <a:t> </a:t>
            </a:r>
            <a:r>
              <a:rPr lang="en-AU" sz="2400" dirty="0" smtClean="0"/>
              <a:t>Example 5</a:t>
            </a:r>
            <a:endParaRPr lang="en-AU" sz="2400" dirty="0"/>
          </a:p>
        </p:txBody>
      </p:sp>
      <p:sp>
        <p:nvSpPr>
          <p:cNvPr id="5" name="TextBox 4"/>
          <p:cNvSpPr txBox="1"/>
          <p:nvPr/>
        </p:nvSpPr>
        <p:spPr>
          <a:xfrm>
            <a:off x="340770" y="732656"/>
            <a:ext cx="11222698" cy="830997"/>
          </a:xfrm>
          <a:prstGeom prst="rect">
            <a:avLst/>
          </a:prstGeom>
          <a:noFill/>
        </p:spPr>
        <p:txBody>
          <a:bodyPr wrap="square" rtlCol="0">
            <a:spAutoFit/>
          </a:bodyPr>
          <a:lstStyle/>
          <a:p>
            <a:r>
              <a:rPr lang="en-AU" sz="2400" dirty="0" smtClean="0"/>
              <a:t>A boat leaves a </a:t>
            </a:r>
            <a:r>
              <a:rPr lang="en-AU" sz="2400" dirty="0" err="1" smtClean="0"/>
              <a:t>harvour</a:t>
            </a:r>
            <a:r>
              <a:rPr lang="en-AU" sz="2400" dirty="0" smtClean="0"/>
              <a:t>, H, and travels 2.3km due North and then 1.3km due East. How far is the boat from the harbour?</a:t>
            </a:r>
          </a:p>
        </p:txBody>
      </p:sp>
      <mc:AlternateContent xmlns:mc="http://schemas.openxmlformats.org/markup-compatibility/2006" xmlns:a14="http://schemas.microsoft.com/office/drawing/2010/main">
        <mc:Choice Requires="a14">
          <p:sp>
            <p:nvSpPr>
              <p:cNvPr id="15" name="TextBox 14"/>
              <p:cNvSpPr txBox="1"/>
              <p:nvPr/>
            </p:nvSpPr>
            <p:spPr>
              <a:xfrm>
                <a:off x="737119" y="2199612"/>
                <a:ext cx="3534810" cy="31481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𝒙</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𝟐</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𝟑</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𝟏</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𝟑</m:t>
                          </m:r>
                        </m:e>
                        <m:sup>
                          <m:r>
                            <a:rPr lang="en-AU" sz="2400" b="1" i="1" smtClean="0">
                              <a:solidFill>
                                <a:srgbClr val="FF0000"/>
                              </a:solidFill>
                              <a:latin typeface="Cambria Math" panose="02040503050406030204" pitchFamily="18" charset="0"/>
                            </a:rPr>
                            <m:t>𝟐</m:t>
                          </m:r>
                        </m:sup>
                      </m:sSup>
                    </m:oMath>
                  </m:oMathPara>
                </a14:m>
                <a:endParaRPr lang="en-AU" sz="2400" b="1" dirty="0" smtClean="0"/>
              </a:p>
              <a:p>
                <a:endParaRPr lang="en-AU" sz="2400" b="1" dirty="0"/>
              </a:p>
              <a:p>
                <a:pPr/>
                <a14:m>
                  <m:oMathPara xmlns:m="http://schemas.openxmlformats.org/officeDocument/2006/math">
                    <m:oMathParaPr>
                      <m:jc m:val="centerGroup"/>
                    </m:oMathParaPr>
                    <m:oMath xmlns:m="http://schemas.openxmlformats.org/officeDocument/2006/math">
                      <m:r>
                        <a:rPr lang="en-AU" sz="2400" b="1" i="1" smtClean="0">
                          <a:solidFill>
                            <a:srgbClr val="FF0000"/>
                          </a:solidFill>
                          <a:latin typeface="Cambria Math" panose="02040503050406030204" pitchFamily="18" charset="0"/>
                        </a:rPr>
                        <m:t>𝒙</m:t>
                      </m:r>
                      <m:r>
                        <a:rPr lang="en-AU" sz="2400" b="1" i="1" smtClean="0">
                          <a:solidFill>
                            <a:srgbClr val="FF0000"/>
                          </a:solidFill>
                          <a:latin typeface="Cambria Math" panose="02040503050406030204" pitchFamily="18" charset="0"/>
                        </a:rPr>
                        <m:t>=</m:t>
                      </m:r>
                      <m:rad>
                        <m:radPr>
                          <m:degHide m:val="on"/>
                          <m:ctrlPr>
                            <a:rPr lang="en-AU" sz="2400" b="1" i="1" smtClean="0">
                              <a:solidFill>
                                <a:srgbClr val="FF0000"/>
                              </a:solidFill>
                              <a:latin typeface="Cambria Math" panose="02040503050406030204" pitchFamily="18" charset="0"/>
                            </a:rPr>
                          </m:ctrlPr>
                        </m:radPr>
                        <m:deg/>
                        <m:e>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𝟐</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𝟑</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𝟏</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𝟑</m:t>
                              </m:r>
                            </m:e>
                            <m:sup>
                              <m:r>
                                <a:rPr lang="en-AU" sz="2400" b="1" i="1" smtClean="0">
                                  <a:solidFill>
                                    <a:srgbClr val="FF0000"/>
                                  </a:solidFill>
                                  <a:latin typeface="Cambria Math" panose="02040503050406030204" pitchFamily="18" charset="0"/>
                                </a:rPr>
                                <m:t>𝟐</m:t>
                              </m:r>
                            </m:sup>
                          </m:sSup>
                        </m:e>
                      </m:rad>
                    </m:oMath>
                  </m:oMathPara>
                </a14:m>
                <a:endParaRPr lang="en-AU" sz="2400" b="1" dirty="0" smtClean="0">
                  <a:solidFill>
                    <a:srgbClr val="FF0000"/>
                  </a:solidFill>
                </a:endParaRPr>
              </a:p>
              <a:p>
                <a:endParaRPr lang="en-AU" sz="2400" b="1" dirty="0" smtClean="0"/>
              </a:p>
              <a:p>
                <a:pPr/>
                <a14:m>
                  <m:oMathPara xmlns:m="http://schemas.openxmlformats.org/officeDocument/2006/math">
                    <m:oMathParaPr>
                      <m:jc m:val="centerGroup"/>
                    </m:oMathParaPr>
                    <m:oMath xmlns:m="http://schemas.openxmlformats.org/officeDocument/2006/math">
                      <m:r>
                        <a:rPr lang="en-AU" sz="2400" b="1" i="1" smtClean="0">
                          <a:solidFill>
                            <a:srgbClr val="FF0000"/>
                          </a:solidFill>
                          <a:latin typeface="Cambria Math" panose="02040503050406030204" pitchFamily="18" charset="0"/>
                        </a:rPr>
                        <m:t>𝒙</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𝟐</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𝟔𝟒</m:t>
                      </m:r>
                    </m:oMath>
                  </m:oMathPara>
                </a14:m>
                <a:endParaRPr lang="en-AU" sz="2400" b="1" dirty="0" smtClean="0">
                  <a:solidFill>
                    <a:srgbClr val="FF0000"/>
                  </a:solidFill>
                </a:endParaRPr>
              </a:p>
              <a:p>
                <a:endParaRPr lang="en-AU" sz="2400" b="1" dirty="0">
                  <a:solidFill>
                    <a:srgbClr val="FF0000"/>
                  </a:solidFill>
                </a:endParaRPr>
              </a:p>
              <a:p>
                <a:r>
                  <a:rPr lang="en-AU" sz="2400" b="1" dirty="0" smtClean="0">
                    <a:solidFill>
                      <a:srgbClr val="FF0000"/>
                    </a:solidFill>
                  </a:rPr>
                  <a:t>The boat is 2.6km from the harbour.</a:t>
                </a:r>
                <a:endParaRPr lang="en-AU" sz="2400" b="1" dirty="0">
                  <a:solidFill>
                    <a:srgbClr val="FF0000"/>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737119" y="2199612"/>
                <a:ext cx="3534810" cy="3148170"/>
              </a:xfrm>
              <a:prstGeom prst="rect">
                <a:avLst/>
              </a:prstGeom>
              <a:blipFill>
                <a:blip r:embed="rId2"/>
                <a:stretch>
                  <a:fillRect l="-2759" b="-3488"/>
                </a:stretch>
              </a:blipFill>
            </p:spPr>
            <p:txBody>
              <a:bodyPr/>
              <a:lstStyle/>
              <a:p>
                <a:r>
                  <a:rPr lang="en-AU">
                    <a:noFill/>
                  </a:rPr>
                  <a:t> </a:t>
                </a:r>
              </a:p>
            </p:txBody>
          </p:sp>
        </mc:Fallback>
      </mc:AlternateContent>
      <p:pic>
        <p:nvPicPr>
          <p:cNvPr id="4" name="Picture 3"/>
          <p:cNvPicPr>
            <a:picLocks noChangeAspect="1"/>
          </p:cNvPicPr>
          <p:nvPr/>
        </p:nvPicPr>
        <p:blipFill>
          <a:blip r:embed="rId3"/>
          <a:stretch>
            <a:fillRect/>
          </a:stretch>
        </p:blipFill>
        <p:spPr>
          <a:xfrm>
            <a:off x="6519566" y="1216479"/>
            <a:ext cx="2823216" cy="4785112"/>
          </a:xfrm>
          <a:prstGeom prst="rect">
            <a:avLst/>
          </a:prstGeom>
        </p:spPr>
      </p:pic>
    </p:spTree>
    <p:extLst>
      <p:ext uri="{BB962C8B-B14F-4D97-AF65-F5344CB8AC3E}">
        <p14:creationId xmlns:p14="http://schemas.microsoft.com/office/powerpoint/2010/main" val="1446314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 calcmode="lin" valueType="num">
                                      <p:cBhvr additive="base">
                                        <p:cTn id="12"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5">
                                            <p:txEl>
                                              <p:pRg st="2" end="2"/>
                                            </p:txEl>
                                          </p:spTgt>
                                        </p:tgtEl>
                                        <p:attrNameLst>
                                          <p:attrName>style.visibility</p:attrName>
                                        </p:attrNameLst>
                                      </p:cBhvr>
                                      <p:to>
                                        <p:strVal val="visible"/>
                                      </p:to>
                                    </p:set>
                                    <p:anim calcmode="lin" valueType="num">
                                      <p:cBhvr additive="base">
                                        <p:cTn id="18"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5">
                                            <p:txEl>
                                              <p:pRg st="4" end="4"/>
                                            </p:txEl>
                                          </p:spTgt>
                                        </p:tgtEl>
                                        <p:attrNameLst>
                                          <p:attrName>style.visibility</p:attrName>
                                        </p:attrNameLst>
                                      </p:cBhvr>
                                      <p:to>
                                        <p:strVal val="visible"/>
                                      </p:to>
                                    </p:set>
                                    <p:anim calcmode="lin" valueType="num">
                                      <p:cBhvr additive="base">
                                        <p:cTn id="24"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5">
                                            <p:txEl>
                                              <p:pRg st="6" end="6"/>
                                            </p:txEl>
                                          </p:spTgt>
                                        </p:tgtEl>
                                        <p:attrNameLst>
                                          <p:attrName>style.visibility</p:attrName>
                                        </p:attrNameLst>
                                      </p:cBhvr>
                                      <p:to>
                                        <p:strVal val="visible"/>
                                      </p:to>
                                    </p:set>
                                    <p:anim calcmode="lin" valueType="num">
                                      <p:cBhvr additive="base">
                                        <p:cTn id="30" dur="500" fill="hold"/>
                                        <p:tgtEl>
                                          <p:spTgt spid="15">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5599990" cy="461665"/>
          </a:xfrm>
          <a:prstGeom prst="rect">
            <a:avLst/>
          </a:prstGeom>
          <a:solidFill>
            <a:srgbClr val="FFFF00"/>
          </a:solidFill>
        </p:spPr>
        <p:txBody>
          <a:bodyPr wrap="square" rtlCol="0">
            <a:spAutoFit/>
          </a:bodyPr>
          <a:lstStyle/>
          <a:p>
            <a:r>
              <a:rPr lang="en-AU" sz="2400" dirty="0" smtClean="0"/>
              <a:t>Y11 Apps Chapter </a:t>
            </a:r>
            <a:r>
              <a:rPr lang="en-AU" sz="2400" dirty="0"/>
              <a:t>7</a:t>
            </a:r>
            <a:r>
              <a:rPr lang="en-AU" sz="2400" dirty="0" smtClean="0"/>
              <a:t> </a:t>
            </a:r>
            <a:r>
              <a:rPr lang="en-AU" sz="2400" dirty="0" smtClean="0"/>
              <a:t>Example 5</a:t>
            </a:r>
            <a:endParaRPr lang="en-AU" sz="2400" dirty="0"/>
          </a:p>
        </p:txBody>
      </p:sp>
      <p:sp>
        <p:nvSpPr>
          <p:cNvPr id="5" name="TextBox 4"/>
          <p:cNvSpPr txBox="1"/>
          <p:nvPr/>
        </p:nvSpPr>
        <p:spPr>
          <a:xfrm>
            <a:off x="340770" y="732656"/>
            <a:ext cx="11222698" cy="1200329"/>
          </a:xfrm>
          <a:prstGeom prst="rect">
            <a:avLst/>
          </a:prstGeom>
          <a:noFill/>
        </p:spPr>
        <p:txBody>
          <a:bodyPr wrap="square" rtlCol="0">
            <a:spAutoFit/>
          </a:bodyPr>
          <a:lstStyle/>
          <a:p>
            <a:r>
              <a:rPr lang="en-AU" sz="2400" dirty="0" smtClean="0"/>
              <a:t>A ladder has its base on level ground and its top resting against a vertical wall. If the ladder is 5.1 metres in length and reaches 4.9 metres up the wall, how far is the foot of the ladder from the base of the wall?</a:t>
            </a:r>
          </a:p>
        </p:txBody>
      </p:sp>
      <mc:AlternateContent xmlns:mc="http://schemas.openxmlformats.org/markup-compatibility/2006" xmlns:a14="http://schemas.microsoft.com/office/drawing/2010/main">
        <mc:Choice Requires="a14">
          <p:sp>
            <p:nvSpPr>
              <p:cNvPr id="15" name="TextBox 14"/>
              <p:cNvSpPr txBox="1"/>
              <p:nvPr/>
            </p:nvSpPr>
            <p:spPr>
              <a:xfrm>
                <a:off x="737119" y="2199612"/>
                <a:ext cx="4789038" cy="315124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𝒙</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𝟒</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𝟗</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𝟓</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𝟏</m:t>
                          </m:r>
                        </m:e>
                        <m:sup>
                          <m:r>
                            <a:rPr lang="en-AU" sz="2400" b="1" i="1" smtClean="0">
                              <a:solidFill>
                                <a:srgbClr val="FF0000"/>
                              </a:solidFill>
                              <a:latin typeface="Cambria Math" panose="02040503050406030204" pitchFamily="18" charset="0"/>
                            </a:rPr>
                            <m:t>𝟐</m:t>
                          </m:r>
                        </m:sup>
                      </m:sSup>
                    </m:oMath>
                  </m:oMathPara>
                </a14:m>
                <a:endParaRPr lang="en-AU" sz="2400" b="1" dirty="0" smtClean="0"/>
              </a:p>
              <a:p>
                <a:endParaRPr lang="en-AU" sz="2400" b="1" dirty="0"/>
              </a:p>
              <a:p>
                <a:pPr/>
                <a14:m>
                  <m:oMathPara xmlns:m="http://schemas.openxmlformats.org/officeDocument/2006/math">
                    <m:oMathParaPr>
                      <m:jc m:val="centerGroup"/>
                    </m:oMathParaPr>
                    <m:oMath xmlns:m="http://schemas.openxmlformats.org/officeDocument/2006/math">
                      <m:r>
                        <a:rPr lang="en-AU" sz="2400" b="1" i="1" smtClean="0">
                          <a:solidFill>
                            <a:srgbClr val="FF0000"/>
                          </a:solidFill>
                          <a:latin typeface="Cambria Math" panose="02040503050406030204" pitchFamily="18" charset="0"/>
                        </a:rPr>
                        <m:t>𝒙</m:t>
                      </m:r>
                      <m:r>
                        <a:rPr lang="en-AU" sz="2400" b="1" i="1" smtClean="0">
                          <a:solidFill>
                            <a:srgbClr val="FF0000"/>
                          </a:solidFill>
                          <a:latin typeface="Cambria Math" panose="02040503050406030204" pitchFamily="18" charset="0"/>
                        </a:rPr>
                        <m:t>=</m:t>
                      </m:r>
                      <m:rad>
                        <m:radPr>
                          <m:degHide m:val="on"/>
                          <m:ctrlPr>
                            <a:rPr lang="en-AU" sz="2400" b="1" i="1" smtClean="0">
                              <a:solidFill>
                                <a:srgbClr val="FF0000"/>
                              </a:solidFill>
                              <a:latin typeface="Cambria Math" panose="02040503050406030204" pitchFamily="18" charset="0"/>
                            </a:rPr>
                          </m:ctrlPr>
                        </m:radPr>
                        <m:deg/>
                        <m:e>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𝟓</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𝟏</m:t>
                              </m:r>
                            </m:e>
                            <m:sup>
                              <m:r>
                                <a:rPr lang="en-AU" sz="2400" b="1" i="1" smtClean="0">
                                  <a:solidFill>
                                    <a:srgbClr val="FF0000"/>
                                  </a:solidFill>
                                  <a:latin typeface="Cambria Math" panose="02040503050406030204" pitchFamily="18" charset="0"/>
                                </a:rPr>
                                <m:t>𝟐</m:t>
                              </m:r>
                            </m:sup>
                          </m:sSup>
                          <m:r>
                            <a:rPr lang="en-AU" sz="2400" b="1" i="1" smtClean="0">
                              <a:solidFill>
                                <a:srgbClr val="FF0000"/>
                              </a:solidFill>
                              <a:latin typeface="Cambria Math" panose="02040503050406030204" pitchFamily="18" charset="0"/>
                            </a:rPr>
                            <m:t>−</m:t>
                          </m:r>
                          <m:sSup>
                            <m:sSupPr>
                              <m:ctrlPr>
                                <a:rPr lang="en-AU" sz="2400" b="1" i="1" smtClean="0">
                                  <a:solidFill>
                                    <a:srgbClr val="FF0000"/>
                                  </a:solidFill>
                                  <a:latin typeface="Cambria Math" panose="02040503050406030204" pitchFamily="18" charset="0"/>
                                </a:rPr>
                              </m:ctrlPr>
                            </m:sSupPr>
                            <m:e>
                              <m:r>
                                <a:rPr lang="en-AU" sz="2400" b="1" i="1" smtClean="0">
                                  <a:solidFill>
                                    <a:srgbClr val="FF0000"/>
                                  </a:solidFill>
                                  <a:latin typeface="Cambria Math" panose="02040503050406030204" pitchFamily="18" charset="0"/>
                                </a:rPr>
                                <m:t>𝟒</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𝟗</m:t>
                              </m:r>
                            </m:e>
                            <m:sup>
                              <m:r>
                                <a:rPr lang="en-AU" sz="2400" b="1" i="1" smtClean="0">
                                  <a:solidFill>
                                    <a:srgbClr val="FF0000"/>
                                  </a:solidFill>
                                  <a:latin typeface="Cambria Math" panose="02040503050406030204" pitchFamily="18" charset="0"/>
                                </a:rPr>
                                <m:t>𝟐</m:t>
                              </m:r>
                            </m:sup>
                          </m:sSup>
                        </m:e>
                      </m:rad>
                    </m:oMath>
                  </m:oMathPara>
                </a14:m>
                <a:endParaRPr lang="en-AU" sz="2400" b="1" dirty="0" smtClean="0">
                  <a:solidFill>
                    <a:srgbClr val="FF0000"/>
                  </a:solidFill>
                </a:endParaRPr>
              </a:p>
              <a:p>
                <a:endParaRPr lang="en-AU" sz="2400" b="1" dirty="0" smtClean="0"/>
              </a:p>
              <a:p>
                <a:pPr/>
                <a14:m>
                  <m:oMathPara xmlns:m="http://schemas.openxmlformats.org/officeDocument/2006/math">
                    <m:oMathParaPr>
                      <m:jc m:val="centerGroup"/>
                    </m:oMathParaPr>
                    <m:oMath xmlns:m="http://schemas.openxmlformats.org/officeDocument/2006/math">
                      <m:r>
                        <a:rPr lang="en-AU" sz="2400" b="1" i="1" smtClean="0">
                          <a:solidFill>
                            <a:srgbClr val="FF0000"/>
                          </a:solidFill>
                          <a:latin typeface="Cambria Math" panose="02040503050406030204" pitchFamily="18" charset="0"/>
                        </a:rPr>
                        <m:t>𝒙</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𝟏</m:t>
                      </m:r>
                      <m:r>
                        <a:rPr lang="en-AU" sz="2400" b="1" i="1" smtClean="0">
                          <a:solidFill>
                            <a:srgbClr val="FF0000"/>
                          </a:solidFill>
                          <a:latin typeface="Cambria Math" panose="02040503050406030204" pitchFamily="18" charset="0"/>
                        </a:rPr>
                        <m:t>.</m:t>
                      </m:r>
                      <m:r>
                        <a:rPr lang="en-AU" sz="2400" b="1" i="1" smtClean="0">
                          <a:solidFill>
                            <a:srgbClr val="FF0000"/>
                          </a:solidFill>
                          <a:latin typeface="Cambria Math" panose="02040503050406030204" pitchFamily="18" charset="0"/>
                        </a:rPr>
                        <m:t>𝟒𝟏</m:t>
                      </m:r>
                    </m:oMath>
                  </m:oMathPara>
                </a14:m>
                <a:endParaRPr lang="en-AU" sz="2400" b="1" dirty="0" smtClean="0">
                  <a:solidFill>
                    <a:srgbClr val="FF0000"/>
                  </a:solidFill>
                </a:endParaRPr>
              </a:p>
              <a:p>
                <a:endParaRPr lang="en-AU" sz="2400" b="1" dirty="0">
                  <a:solidFill>
                    <a:srgbClr val="FF0000"/>
                  </a:solidFill>
                </a:endParaRPr>
              </a:p>
              <a:p>
                <a:r>
                  <a:rPr lang="en-AU" sz="2400" b="1" dirty="0" smtClean="0">
                    <a:solidFill>
                      <a:srgbClr val="FF0000"/>
                    </a:solidFill>
                  </a:rPr>
                  <a:t>The base of the ladder is 1.4m from the base of the wall.</a:t>
                </a:r>
                <a:endParaRPr lang="en-AU" sz="2400" b="1" dirty="0">
                  <a:solidFill>
                    <a:srgbClr val="FF0000"/>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737119" y="2199612"/>
                <a:ext cx="4789038" cy="3151247"/>
              </a:xfrm>
              <a:prstGeom prst="rect">
                <a:avLst/>
              </a:prstGeom>
              <a:blipFill>
                <a:blip r:embed="rId2"/>
                <a:stretch>
                  <a:fillRect l="-2036" r="-636" b="-3482"/>
                </a:stretch>
              </a:blipFill>
            </p:spPr>
            <p:txBody>
              <a:bodyPr/>
              <a:lstStyle/>
              <a:p>
                <a:r>
                  <a:rPr lang="en-AU">
                    <a:noFill/>
                  </a:rPr>
                  <a:t> </a:t>
                </a:r>
              </a:p>
            </p:txBody>
          </p:sp>
        </mc:Fallback>
      </mc:AlternateContent>
      <p:pic>
        <p:nvPicPr>
          <p:cNvPr id="2" name="Picture 1"/>
          <p:cNvPicPr>
            <a:picLocks noChangeAspect="1"/>
          </p:cNvPicPr>
          <p:nvPr/>
        </p:nvPicPr>
        <p:blipFill>
          <a:blip r:embed="rId3"/>
          <a:stretch>
            <a:fillRect/>
          </a:stretch>
        </p:blipFill>
        <p:spPr>
          <a:xfrm>
            <a:off x="6148829" y="1979366"/>
            <a:ext cx="3364337" cy="3877976"/>
          </a:xfrm>
          <a:prstGeom prst="rect">
            <a:avLst/>
          </a:prstGeom>
        </p:spPr>
      </p:pic>
      <p:sp>
        <p:nvSpPr>
          <p:cNvPr id="7" name="TextBox 6"/>
          <p:cNvSpPr txBox="1"/>
          <p:nvPr/>
        </p:nvSpPr>
        <p:spPr>
          <a:xfrm>
            <a:off x="7052996" y="178676"/>
            <a:ext cx="2846378" cy="461665"/>
          </a:xfrm>
          <a:prstGeom prst="rect">
            <a:avLst/>
          </a:prstGeom>
          <a:solidFill>
            <a:srgbClr val="FFFF00"/>
          </a:solidFill>
        </p:spPr>
        <p:txBody>
          <a:bodyPr wrap="square" rtlCol="0">
            <a:spAutoFit/>
          </a:bodyPr>
          <a:lstStyle/>
          <a:p>
            <a:r>
              <a:rPr lang="en-AU" sz="2400" dirty="0" smtClean="0"/>
              <a:t>Now Try Ex 7B</a:t>
            </a:r>
            <a:endParaRPr lang="en-AU" sz="2400" dirty="0"/>
          </a:p>
        </p:txBody>
      </p:sp>
    </p:spTree>
    <p:extLst>
      <p:ext uri="{BB962C8B-B14F-4D97-AF65-F5344CB8AC3E}">
        <p14:creationId xmlns:p14="http://schemas.microsoft.com/office/powerpoint/2010/main" val="2013704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 calcmode="lin" valueType="num">
                                      <p:cBhvr additive="base">
                                        <p:cTn id="12"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5">
                                            <p:txEl>
                                              <p:pRg st="2" end="2"/>
                                            </p:txEl>
                                          </p:spTgt>
                                        </p:tgtEl>
                                        <p:attrNameLst>
                                          <p:attrName>style.visibility</p:attrName>
                                        </p:attrNameLst>
                                      </p:cBhvr>
                                      <p:to>
                                        <p:strVal val="visible"/>
                                      </p:to>
                                    </p:set>
                                    <p:anim calcmode="lin" valueType="num">
                                      <p:cBhvr additive="base">
                                        <p:cTn id="18"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5">
                                            <p:txEl>
                                              <p:pRg st="4" end="4"/>
                                            </p:txEl>
                                          </p:spTgt>
                                        </p:tgtEl>
                                        <p:attrNameLst>
                                          <p:attrName>style.visibility</p:attrName>
                                        </p:attrNameLst>
                                      </p:cBhvr>
                                      <p:to>
                                        <p:strVal val="visible"/>
                                      </p:to>
                                    </p:set>
                                    <p:anim calcmode="lin" valueType="num">
                                      <p:cBhvr additive="base">
                                        <p:cTn id="24"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5">
                                            <p:txEl>
                                              <p:pRg st="6" end="6"/>
                                            </p:txEl>
                                          </p:spTgt>
                                        </p:tgtEl>
                                        <p:attrNameLst>
                                          <p:attrName>style.visibility</p:attrName>
                                        </p:attrNameLst>
                                      </p:cBhvr>
                                      <p:to>
                                        <p:strVal val="visible"/>
                                      </p:to>
                                    </p:set>
                                    <p:anim calcmode="lin" valueType="num">
                                      <p:cBhvr additive="base">
                                        <p:cTn id="30" dur="500" fill="hold"/>
                                        <p:tgtEl>
                                          <p:spTgt spid="15">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705</Words>
  <Application>Microsoft Office PowerPoint</Application>
  <PresentationFormat>Widescreen</PresentationFormat>
  <Paragraphs>85</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STEDMAN Shaun [Harrisdale Senior High School]</dc:creator>
  <cp:lastModifiedBy>STEDMAN Shaun [Harrisdale Senior High School]</cp:lastModifiedBy>
  <cp:revision>9</cp:revision>
  <dcterms:created xsi:type="dcterms:W3CDTF">2021-02-02T11:02:06Z</dcterms:created>
  <dcterms:modified xsi:type="dcterms:W3CDTF">2021-05-17T00:56:13Z</dcterms:modified>
</cp:coreProperties>
</file>
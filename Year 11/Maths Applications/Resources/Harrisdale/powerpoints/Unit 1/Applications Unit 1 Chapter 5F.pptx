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5" autoAdjust="0"/>
    <p:restoredTop sz="94660"/>
  </p:normalViewPr>
  <p:slideViewPr>
    <p:cSldViewPr snapToGrid="0">
      <p:cViewPr varScale="1">
        <p:scale>
          <a:sx n="85" d="100"/>
          <a:sy n="85" d="100"/>
        </p:scale>
        <p:origin x="63" y="17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15/03/2021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635332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15/03/2021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6142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10A132-FF45-4605-9BB8-80702934D916}" type="datetimeFigureOut">
              <a:rPr lang="en-AU" smtClean="0"/>
              <a:t>15/03/2021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519000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1E10A132-FF45-4605-9BB8-80702934D916}" type="datetimeFigureOut">
              <a:rPr lang="en-AU" smtClean="0"/>
              <a:t>15/03/2021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2126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1E10A132-FF45-4605-9BB8-80702934D916}" type="datetimeFigureOut">
              <a:rPr lang="en-AU" smtClean="0"/>
              <a:t>15/03/2021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3806612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1E10A132-FF45-4605-9BB8-80702934D916}" type="datetimeFigureOut">
              <a:rPr lang="en-AU" smtClean="0"/>
              <a:t>15/03/2021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16967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10A132-FF45-4605-9BB8-80702934D916}" type="datetimeFigureOut">
              <a:rPr lang="en-AU" smtClean="0"/>
              <a:t>15/03/2021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2740264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15/03/2021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18241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15/03/2021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426928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15/03/2021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49306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15/03/2021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4010192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10A132-FF45-4605-9BB8-80702934D916}" type="datetimeFigureOut">
              <a:rPr lang="en-AU" smtClean="0"/>
              <a:t>15/03/2021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DE3931-47A2-415E-8FB2-549750A36BAE}" type="slidenum">
              <a:rPr lang="en-AU" smtClean="0"/>
              <a:t>‹#›</a:t>
            </a:fld>
            <a:endParaRPr lang="en-AU"/>
          </a:p>
        </p:txBody>
      </p:sp>
    </p:spTree>
    <p:extLst>
      <p:ext uri="{BB962C8B-B14F-4D97-AF65-F5344CB8AC3E}">
        <p14:creationId xmlns:p14="http://schemas.microsoft.com/office/powerpoint/2010/main" val="186218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4061507" cy="461665"/>
          </a:xfrm>
          <a:prstGeom prst="rect">
            <a:avLst/>
          </a:prstGeom>
          <a:solidFill>
            <a:srgbClr val="FFFF00"/>
          </a:solidFill>
        </p:spPr>
        <p:txBody>
          <a:bodyPr wrap="square" rtlCol="0">
            <a:spAutoFit/>
          </a:bodyPr>
          <a:lstStyle/>
          <a:p>
            <a:r>
              <a:rPr lang="en-AU" sz="2400" dirty="0" smtClean="0"/>
              <a:t>Y11 Apps Chapter 5 Situation 7</a:t>
            </a:r>
            <a:endParaRPr lang="en-AU" sz="2400" dirty="0"/>
          </a:p>
        </p:txBody>
      </p:sp>
      <p:sp>
        <p:nvSpPr>
          <p:cNvPr id="3" name="TextBox 2"/>
          <p:cNvSpPr txBox="1"/>
          <p:nvPr/>
        </p:nvSpPr>
        <p:spPr>
          <a:xfrm>
            <a:off x="224393" y="605860"/>
            <a:ext cx="11746954" cy="5847755"/>
          </a:xfrm>
          <a:prstGeom prst="rect">
            <a:avLst/>
          </a:prstGeom>
          <a:noFill/>
        </p:spPr>
        <p:txBody>
          <a:bodyPr wrap="square" rtlCol="0">
            <a:spAutoFit/>
          </a:bodyPr>
          <a:lstStyle/>
          <a:p>
            <a:r>
              <a:rPr lang="en-AU" sz="2200" dirty="0" smtClean="0"/>
              <a:t>Pete and Julie want to go on holiday with their two children next year, but are not sure they will be able to save enough money to pay for it. They decide to prepare a budget.</a:t>
            </a:r>
          </a:p>
          <a:p>
            <a:endParaRPr lang="en-AU" sz="2200" dirty="0"/>
          </a:p>
          <a:p>
            <a:r>
              <a:rPr lang="en-AU" sz="2200" dirty="0" smtClean="0"/>
              <a:t>This means that they allocate their future income to the various expenses they are likely to occur, to see if there is enough income left over to create a holiday fund.</a:t>
            </a:r>
          </a:p>
          <a:p>
            <a:endParaRPr lang="en-AU" sz="2200" dirty="0"/>
          </a:p>
          <a:p>
            <a:r>
              <a:rPr lang="en-AU" sz="2200" dirty="0" smtClean="0"/>
              <a:t>They know that the total family income is $1330 per week and they have the following weekly expenses.</a:t>
            </a:r>
          </a:p>
          <a:p>
            <a:endParaRPr lang="en-AU" sz="2200" dirty="0"/>
          </a:p>
          <a:p>
            <a:r>
              <a:rPr lang="en-AU" sz="2200" dirty="0" smtClean="0"/>
              <a:t>Rent $320			Utilities $30				Phones $20		</a:t>
            </a:r>
          </a:p>
          <a:p>
            <a:endParaRPr lang="en-AU" sz="2200" dirty="0"/>
          </a:p>
          <a:p>
            <a:r>
              <a:rPr lang="en-AU" sz="2200" dirty="0" smtClean="0"/>
              <a:t>Internet $15			Entertainment/meals out $100		Clothing $75</a:t>
            </a:r>
          </a:p>
          <a:p>
            <a:endParaRPr lang="en-AU" sz="2200" dirty="0"/>
          </a:p>
          <a:p>
            <a:r>
              <a:rPr lang="en-AU" sz="2200" dirty="0" smtClean="0"/>
              <a:t>Car $160			Health fund $80				Insurances $40</a:t>
            </a:r>
          </a:p>
          <a:p>
            <a:endParaRPr lang="en-AU" sz="2200" dirty="0"/>
          </a:p>
          <a:p>
            <a:r>
              <a:rPr lang="en-AU" sz="2200" dirty="0" smtClean="0"/>
              <a:t>Loan repayments $95		Food $200				Sports and Gym $50</a:t>
            </a:r>
          </a:p>
          <a:p>
            <a:endParaRPr lang="en-AU" sz="2200" dirty="0"/>
          </a:p>
        </p:txBody>
      </p:sp>
    </p:spTree>
    <p:extLst>
      <p:ext uri="{BB962C8B-B14F-4D97-AF65-F5344CB8AC3E}">
        <p14:creationId xmlns:p14="http://schemas.microsoft.com/office/powerpoint/2010/main" val="3739359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 calcmode="lin" valueType="num">
                                      <p:cBhvr additive="base">
                                        <p:cTn id="2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anim calcmode="lin" valueType="num">
                                      <p:cBhvr additive="base">
                                        <p:cTn id="3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4061507" cy="461665"/>
          </a:xfrm>
          <a:prstGeom prst="rect">
            <a:avLst/>
          </a:prstGeom>
          <a:solidFill>
            <a:srgbClr val="FFFF00"/>
          </a:solidFill>
        </p:spPr>
        <p:txBody>
          <a:bodyPr wrap="square" rtlCol="0">
            <a:spAutoFit/>
          </a:bodyPr>
          <a:lstStyle/>
          <a:p>
            <a:r>
              <a:rPr lang="en-AU" sz="2400" dirty="0" smtClean="0"/>
              <a:t>Y11 Apps Chapter 5 Situation 6</a:t>
            </a:r>
            <a:endParaRPr lang="en-AU" sz="2400" dirty="0"/>
          </a:p>
        </p:txBody>
      </p:sp>
      <p:sp>
        <p:nvSpPr>
          <p:cNvPr id="4" name="TextBox 3"/>
          <p:cNvSpPr txBox="1"/>
          <p:nvPr/>
        </p:nvSpPr>
        <p:spPr>
          <a:xfrm>
            <a:off x="224393" y="605860"/>
            <a:ext cx="11746954" cy="5847755"/>
          </a:xfrm>
          <a:prstGeom prst="rect">
            <a:avLst/>
          </a:prstGeom>
          <a:noFill/>
        </p:spPr>
        <p:txBody>
          <a:bodyPr wrap="square" rtlCol="0">
            <a:spAutoFit/>
          </a:bodyPr>
          <a:lstStyle/>
          <a:p>
            <a:r>
              <a:rPr lang="en-AU" sz="2200" dirty="0" smtClean="0"/>
              <a:t>They know that the total family income is $1330 per week and they have the following weekly expenses.</a:t>
            </a:r>
          </a:p>
          <a:p>
            <a:endParaRPr lang="en-AU" sz="2200" dirty="0"/>
          </a:p>
          <a:p>
            <a:r>
              <a:rPr lang="en-AU" sz="2200" dirty="0" smtClean="0"/>
              <a:t>Rent $320			Utilities $30				Phones $20		</a:t>
            </a:r>
          </a:p>
          <a:p>
            <a:endParaRPr lang="en-AU" sz="2200" dirty="0"/>
          </a:p>
          <a:p>
            <a:r>
              <a:rPr lang="en-AU" sz="2200" dirty="0" smtClean="0"/>
              <a:t>Internet $15			Entertainment/meals out $100		Clothing $75</a:t>
            </a:r>
          </a:p>
          <a:p>
            <a:endParaRPr lang="en-AU" sz="2200" dirty="0"/>
          </a:p>
          <a:p>
            <a:r>
              <a:rPr lang="en-AU" sz="2200" dirty="0" smtClean="0"/>
              <a:t>Car $160			Health fund $80				Insurances $40</a:t>
            </a:r>
          </a:p>
          <a:p>
            <a:endParaRPr lang="en-AU" sz="2200" dirty="0"/>
          </a:p>
          <a:p>
            <a:r>
              <a:rPr lang="en-AU" sz="2200" dirty="0" smtClean="0"/>
              <a:t>Loan repayments $95		Food $200				Sports and Gym $50</a:t>
            </a:r>
          </a:p>
          <a:p>
            <a:endParaRPr lang="en-AU" sz="2200" dirty="0"/>
          </a:p>
          <a:p>
            <a:r>
              <a:rPr lang="en-AU" sz="2200" dirty="0" smtClean="0"/>
              <a:t>Some of these involve fixed expenditure (fixed, agreed amount per week – probably paid fortnightly or monthly).</a:t>
            </a:r>
          </a:p>
          <a:p>
            <a:endParaRPr lang="en-AU" sz="2200" dirty="0"/>
          </a:p>
          <a:p>
            <a:r>
              <a:rPr lang="en-AU" sz="2200" dirty="0" smtClean="0"/>
              <a:t>Some of these involve discretionary spending (the family can choose to spend more or less each week).</a:t>
            </a:r>
          </a:p>
          <a:p>
            <a:endParaRPr lang="en-AU" sz="2200" dirty="0"/>
          </a:p>
        </p:txBody>
      </p:sp>
    </p:spTree>
    <p:extLst>
      <p:ext uri="{BB962C8B-B14F-4D97-AF65-F5344CB8AC3E}">
        <p14:creationId xmlns:p14="http://schemas.microsoft.com/office/powerpoint/2010/main" val="36020679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4061507" cy="461665"/>
          </a:xfrm>
          <a:prstGeom prst="rect">
            <a:avLst/>
          </a:prstGeom>
          <a:solidFill>
            <a:srgbClr val="FFFF00"/>
          </a:solidFill>
        </p:spPr>
        <p:txBody>
          <a:bodyPr wrap="square" rtlCol="0">
            <a:spAutoFit/>
          </a:bodyPr>
          <a:lstStyle/>
          <a:p>
            <a:r>
              <a:rPr lang="en-AU" sz="2400" dirty="0" smtClean="0"/>
              <a:t>Y11 Apps Chapter 5 Situation 6</a:t>
            </a:r>
            <a:endParaRPr lang="en-AU" sz="2400" dirty="0"/>
          </a:p>
        </p:txBody>
      </p:sp>
      <p:sp>
        <p:nvSpPr>
          <p:cNvPr id="4" name="TextBox 3"/>
          <p:cNvSpPr txBox="1"/>
          <p:nvPr/>
        </p:nvSpPr>
        <p:spPr>
          <a:xfrm>
            <a:off x="224393" y="605860"/>
            <a:ext cx="11746954" cy="1785104"/>
          </a:xfrm>
          <a:prstGeom prst="rect">
            <a:avLst/>
          </a:prstGeom>
          <a:noFill/>
        </p:spPr>
        <p:txBody>
          <a:bodyPr wrap="square" rtlCol="0">
            <a:spAutoFit/>
          </a:bodyPr>
          <a:lstStyle/>
          <a:p>
            <a:r>
              <a:rPr lang="en-AU" sz="2200" dirty="0" smtClean="0"/>
              <a:t>The budget shown below shows that they could start a holiday fund with $145 per week being available to go into it, providing they stick to their budget.</a:t>
            </a:r>
          </a:p>
          <a:p>
            <a:endParaRPr lang="en-AU" sz="2200" dirty="0"/>
          </a:p>
          <a:p>
            <a:endParaRPr lang="en-AU" sz="2200" dirty="0" smtClean="0"/>
          </a:p>
          <a:p>
            <a:endParaRPr lang="en-AU" sz="2200" dirty="0"/>
          </a:p>
        </p:txBody>
      </p:sp>
      <p:pic>
        <p:nvPicPr>
          <p:cNvPr id="5" name="Picture 4"/>
          <p:cNvPicPr>
            <a:picLocks noChangeAspect="1"/>
          </p:cNvPicPr>
          <p:nvPr/>
        </p:nvPicPr>
        <p:blipFill>
          <a:blip r:embed="rId2"/>
          <a:stretch>
            <a:fillRect/>
          </a:stretch>
        </p:blipFill>
        <p:spPr>
          <a:xfrm>
            <a:off x="283821" y="1605548"/>
            <a:ext cx="5561454" cy="4727936"/>
          </a:xfrm>
          <a:prstGeom prst="rect">
            <a:avLst/>
          </a:prstGeom>
        </p:spPr>
      </p:pic>
      <p:sp>
        <p:nvSpPr>
          <p:cNvPr id="6" name="TextBox 5"/>
          <p:cNvSpPr txBox="1"/>
          <p:nvPr/>
        </p:nvSpPr>
        <p:spPr>
          <a:xfrm>
            <a:off x="4695416" y="0"/>
            <a:ext cx="6563485" cy="430887"/>
          </a:xfrm>
          <a:prstGeom prst="rect">
            <a:avLst/>
          </a:prstGeom>
          <a:solidFill>
            <a:srgbClr val="FFFF00"/>
          </a:solidFill>
        </p:spPr>
        <p:txBody>
          <a:bodyPr wrap="square" rtlCol="0">
            <a:spAutoFit/>
          </a:bodyPr>
          <a:lstStyle/>
          <a:p>
            <a:r>
              <a:rPr lang="en-AU" sz="2200" dirty="0" smtClean="0"/>
              <a:t>Now do worksheet – budgeting </a:t>
            </a:r>
            <a:r>
              <a:rPr lang="en-AU" sz="2200" dirty="0" smtClean="0"/>
              <a:t>scenarios or </a:t>
            </a:r>
            <a:r>
              <a:rPr lang="en-AU" sz="2200" dirty="0" err="1" smtClean="0"/>
              <a:t>Mathspace</a:t>
            </a:r>
            <a:endParaRPr lang="en-AU" sz="2200" dirty="0"/>
          </a:p>
        </p:txBody>
      </p:sp>
    </p:spTree>
    <p:extLst>
      <p:ext uri="{BB962C8B-B14F-4D97-AF65-F5344CB8AC3E}">
        <p14:creationId xmlns:p14="http://schemas.microsoft.com/office/powerpoint/2010/main" val="3976815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TotalTime>
  <Words>344</Words>
  <Application>Microsoft Office PowerPoint</Application>
  <PresentationFormat>Widescreen</PresentationFormat>
  <Paragraphs>32</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HarrisdaleSHS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LEVITT Megan [Harrisdale Senior High School]</cp:lastModifiedBy>
  <cp:revision>25</cp:revision>
  <dcterms:created xsi:type="dcterms:W3CDTF">2020-12-09T06:24:59Z</dcterms:created>
  <dcterms:modified xsi:type="dcterms:W3CDTF">2021-03-15T04:05:05Z</dcterms:modified>
</cp:coreProperties>
</file>
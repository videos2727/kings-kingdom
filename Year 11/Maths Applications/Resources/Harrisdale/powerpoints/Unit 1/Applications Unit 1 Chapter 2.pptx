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5" r:id="rId3"/>
    <p:sldId id="266" r:id="rId4"/>
    <p:sldId id="267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8" r:id="rId13"/>
    <p:sldId id="263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3E3CD-6D42-4481-86EC-30EC14BABB08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F92B3-7453-42A6-AB1D-37D2FDBB16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41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E82941-8845-4B62-906A-560EFBA418AD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2761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E82941-8845-4B62-906A-560EFBA418AD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904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163735" y="0"/>
          <a:ext cx="5028265" cy="1285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2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Finding</a:t>
                      </a:r>
                      <a:r>
                        <a:rPr lang="en-AU" baseline="0" dirty="0" smtClean="0"/>
                        <a:t> a percentage using decimal multiplication: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Convert the percentage to a decimal by dividing by 100.</a:t>
                      </a:r>
                      <a:endParaRPr lang="en-AU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AU" baseline="0" dirty="0" smtClean="0">
                          <a:solidFill>
                            <a:srgbClr val="0070C0"/>
                          </a:solidFill>
                        </a:rPr>
                        <a:t>Multiply the amount by the decimal.</a:t>
                      </a:r>
                      <a:endParaRPr lang="en-AU" dirty="0" smtClean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55611" y="1087120"/>
                <a:ext cx="626364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Find 34.2 % of 90</a:t>
                </a:r>
                <a:endParaRPr lang="en-AU" sz="2800" b="1" dirty="0"/>
              </a:p>
              <a:p>
                <a:endParaRPr lang="en-AU" sz="28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𝟑𝟒𝟐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𝟑𝟒𝟐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8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28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𝟕𝟖</m:t>
                      </m:r>
                    </m:oMath>
                  </m:oMathPara>
                </a14:m>
                <a:endParaRPr lang="en-AU" sz="2800" b="1" dirty="0" smtClean="0">
                  <a:solidFill>
                    <a:srgbClr val="0070C0"/>
                  </a:solidFill>
                </a:endParaRPr>
              </a:p>
              <a:p>
                <a:endParaRPr lang="en-AU" sz="2800" b="1" dirty="0" smtClean="0">
                  <a:solidFill>
                    <a:srgbClr val="0070C0"/>
                  </a:solidFill>
                </a:endParaRPr>
              </a:p>
              <a:p>
                <a:r>
                  <a:rPr lang="en-AU" sz="2800" b="1" dirty="0" smtClean="0"/>
                  <a:t>34.2% of 90 is 30.78</a:t>
                </a:r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11" y="1087120"/>
                <a:ext cx="6263640" cy="3108543"/>
              </a:xfrm>
              <a:prstGeom prst="rect">
                <a:avLst/>
              </a:prstGeom>
              <a:blipFill rotWithShape="0">
                <a:blip r:embed="rId2"/>
                <a:stretch>
                  <a:fillRect l="-2045" t="-1765" b="-47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8925560" y="1615440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1</a:t>
                      </a:r>
                      <a:r>
                        <a:rPr lang="en-AU" baseline="30000" dirty="0" smtClean="0"/>
                        <a:t>st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1</a:t>
                      </a:r>
                      <a:r>
                        <a:rPr lang="en-AU" i="1" baseline="30000" dirty="0" smtClean="0"/>
                        <a:t>st</a:t>
                      </a:r>
                      <a:r>
                        <a:rPr lang="en-AU" i="1" dirty="0" smtClean="0"/>
                        <a:t> step is to ……..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8925560" y="2956560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2</a:t>
                      </a:r>
                      <a:r>
                        <a:rPr lang="en-AU" baseline="30000" dirty="0" smtClean="0"/>
                        <a:t>nd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2</a:t>
                      </a:r>
                      <a:r>
                        <a:rPr lang="en-AU" i="1" baseline="30000" dirty="0" smtClean="0"/>
                        <a:t>nd</a:t>
                      </a:r>
                      <a:r>
                        <a:rPr lang="en-AU" i="1" dirty="0" smtClean="0"/>
                        <a:t> step is to ………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39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163735" y="0"/>
          <a:ext cx="5028265" cy="1285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2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Finding</a:t>
                      </a:r>
                      <a:r>
                        <a:rPr lang="en-AU" baseline="0" dirty="0" smtClean="0"/>
                        <a:t> a percentage using decimal multiplication: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Convert the percentage to a decimal by dividing by 100.</a:t>
                      </a:r>
                      <a:endParaRPr lang="en-AU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AU" baseline="0" dirty="0" smtClean="0">
                          <a:solidFill>
                            <a:srgbClr val="0070C0"/>
                          </a:solidFill>
                        </a:rPr>
                        <a:t>Multiply the amount by the decimal.</a:t>
                      </a:r>
                      <a:endParaRPr lang="en-AU" dirty="0" smtClean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55611" y="1087120"/>
                <a:ext cx="626364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Find 27.5 % of 300</a:t>
                </a:r>
                <a:endParaRPr lang="en-AU" sz="2800" b="1" dirty="0"/>
              </a:p>
              <a:p>
                <a:endParaRPr lang="en-AU" sz="28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𝟐𝟕𝟓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𝟐𝟕𝟓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𝟑𝟎𝟎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𝟖𝟐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 smtClean="0">
                  <a:solidFill>
                    <a:srgbClr val="0070C0"/>
                  </a:solidFill>
                </a:endParaRPr>
              </a:p>
              <a:p>
                <a:endParaRPr lang="en-AU" sz="2800" b="1" dirty="0" smtClean="0">
                  <a:solidFill>
                    <a:srgbClr val="0070C0"/>
                  </a:solidFill>
                </a:endParaRPr>
              </a:p>
              <a:p>
                <a:r>
                  <a:rPr lang="en-AU" sz="2800" b="1" dirty="0" smtClean="0"/>
                  <a:t>27.5% of 300 is 82.5</a:t>
                </a:r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11" y="1087120"/>
                <a:ext cx="6263640" cy="3108543"/>
              </a:xfrm>
              <a:prstGeom prst="rect">
                <a:avLst/>
              </a:prstGeom>
              <a:blipFill rotWithShape="0">
                <a:blip r:embed="rId2"/>
                <a:stretch>
                  <a:fillRect l="-2045" t="-1765" b="-47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8925560" y="1615440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1</a:t>
                      </a:r>
                      <a:r>
                        <a:rPr lang="en-AU" baseline="30000" dirty="0" smtClean="0"/>
                        <a:t>st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1</a:t>
                      </a:r>
                      <a:r>
                        <a:rPr lang="en-AU" i="1" baseline="30000" dirty="0" smtClean="0"/>
                        <a:t>st</a:t>
                      </a:r>
                      <a:r>
                        <a:rPr lang="en-AU" i="1" dirty="0" smtClean="0"/>
                        <a:t> step is to ……..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8925560" y="2956560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2</a:t>
                      </a:r>
                      <a:r>
                        <a:rPr lang="en-AU" baseline="30000" dirty="0" smtClean="0"/>
                        <a:t>nd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2</a:t>
                      </a:r>
                      <a:r>
                        <a:rPr lang="en-AU" i="1" baseline="30000" dirty="0" smtClean="0"/>
                        <a:t>nd</a:t>
                      </a:r>
                      <a:r>
                        <a:rPr lang="en-AU" i="1" dirty="0" smtClean="0"/>
                        <a:t> step is to ………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54305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188200" y="0"/>
          <a:ext cx="50038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0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Write an</a:t>
                      </a:r>
                      <a:r>
                        <a:rPr lang="en-AU" baseline="0" dirty="0" smtClean="0"/>
                        <a:t> amount as a percentage of another: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AU" baseline="0" dirty="0" smtClean="0">
                          <a:solidFill>
                            <a:srgbClr val="FF0000"/>
                          </a:solidFill>
                        </a:rPr>
                        <a:t>Write the amount as a fraction of a total.</a:t>
                      </a:r>
                    </a:p>
                    <a:p>
                      <a:r>
                        <a:rPr lang="en-AU" baseline="0" dirty="0" smtClean="0">
                          <a:solidFill>
                            <a:srgbClr val="0070C0"/>
                          </a:solidFill>
                        </a:rPr>
                        <a:t>2.   Multiply by 100 to get the percentage.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8925560" y="1205923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1</a:t>
                      </a:r>
                      <a:r>
                        <a:rPr lang="en-AU" baseline="30000" dirty="0" smtClean="0"/>
                        <a:t>st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1</a:t>
                      </a:r>
                      <a:r>
                        <a:rPr lang="en-AU" i="1" baseline="30000" dirty="0" smtClean="0"/>
                        <a:t>st</a:t>
                      </a:r>
                      <a:r>
                        <a:rPr lang="en-AU" i="1" dirty="0" smtClean="0"/>
                        <a:t> step is to ……..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8925560" y="2401188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2</a:t>
                      </a:r>
                      <a:r>
                        <a:rPr lang="en-AU" baseline="30000" dirty="0" smtClean="0"/>
                        <a:t>nd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2</a:t>
                      </a:r>
                      <a:r>
                        <a:rPr lang="en-AU" i="1" baseline="30000" dirty="0" smtClean="0"/>
                        <a:t>nd</a:t>
                      </a:r>
                      <a:r>
                        <a:rPr lang="en-AU" i="1" dirty="0" smtClean="0"/>
                        <a:t> step is to ………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45996" y="697611"/>
            <a:ext cx="71074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Tyler scored 13 out of 18 on his French test.</a:t>
            </a:r>
          </a:p>
          <a:p>
            <a:r>
              <a:rPr lang="en-AU" sz="2800" b="1" dirty="0" smtClean="0"/>
              <a:t>What percentage did he get?</a:t>
            </a:r>
          </a:p>
          <a:p>
            <a:endParaRPr lang="en-AU" sz="2800" b="1" dirty="0" smtClean="0"/>
          </a:p>
          <a:p>
            <a:endParaRPr lang="en-AU" sz="2800" b="1" dirty="0"/>
          </a:p>
          <a:p>
            <a:endParaRPr lang="en-AU" sz="2800" b="1" dirty="0"/>
          </a:p>
          <a:p>
            <a:endParaRPr lang="en-AU" sz="2800" b="1" dirty="0" smtClean="0"/>
          </a:p>
          <a:p>
            <a:endParaRPr lang="en-AU" sz="2800" b="1" dirty="0"/>
          </a:p>
          <a:p>
            <a:endParaRPr lang="en-AU" sz="2800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5772" y="1945681"/>
                <a:ext cx="3214424" cy="901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𝟕𝟐𝟐𝟐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..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2" y="1945681"/>
                <a:ext cx="3214424" cy="9019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4785" y="3081871"/>
                <a:ext cx="66308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𝟕𝟐𝟐𝟐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𝟕𝟐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(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5" y="3081871"/>
                <a:ext cx="6630895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28299" y="3822677"/>
            <a:ext cx="6911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Tyler scored 72.2% on his French test.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66591" y="4874930"/>
                <a:ext cx="8145453" cy="714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We could simplify this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den>
                    </m:f>
                    <m:r>
                      <a:rPr lang="en-AU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%.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91" y="4874930"/>
                <a:ext cx="8145453" cy="714811"/>
              </a:xfrm>
              <a:prstGeom prst="rect">
                <a:avLst/>
              </a:prstGeom>
              <a:blipFill rotWithShape="0">
                <a:blip r:embed="rId5"/>
                <a:stretch>
                  <a:fillRect l="-1572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60305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188200" y="0"/>
          <a:ext cx="50038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0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Write an</a:t>
                      </a:r>
                      <a:r>
                        <a:rPr lang="en-AU" baseline="0" dirty="0" smtClean="0"/>
                        <a:t> amount as a percentage of another: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AU" baseline="0" dirty="0" smtClean="0">
                          <a:solidFill>
                            <a:srgbClr val="FF0000"/>
                          </a:solidFill>
                        </a:rPr>
                        <a:t>Write the amount as a fraction of a total.</a:t>
                      </a:r>
                    </a:p>
                    <a:p>
                      <a:r>
                        <a:rPr lang="en-AU" baseline="0" dirty="0" smtClean="0">
                          <a:solidFill>
                            <a:srgbClr val="0070C0"/>
                          </a:solidFill>
                        </a:rPr>
                        <a:t>2.   Multiply by 100 to get the percentage.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8925560" y="1205923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1</a:t>
                      </a:r>
                      <a:r>
                        <a:rPr lang="en-AU" baseline="30000" dirty="0" smtClean="0"/>
                        <a:t>st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1</a:t>
                      </a:r>
                      <a:r>
                        <a:rPr lang="en-AU" i="1" baseline="30000" dirty="0" smtClean="0"/>
                        <a:t>st</a:t>
                      </a:r>
                      <a:r>
                        <a:rPr lang="en-AU" i="1" dirty="0" smtClean="0"/>
                        <a:t> step is to ……..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8925560" y="2401188"/>
          <a:ext cx="32664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2</a:t>
                      </a:r>
                      <a:r>
                        <a:rPr lang="en-AU" baseline="30000" dirty="0" smtClean="0"/>
                        <a:t>nd</a:t>
                      </a:r>
                      <a:r>
                        <a:rPr lang="en-AU" dirty="0" smtClean="0"/>
                        <a:t> step?</a:t>
                      </a:r>
                    </a:p>
                    <a:p>
                      <a:r>
                        <a:rPr lang="en-AU" i="1" dirty="0" smtClean="0"/>
                        <a:t>The 2</a:t>
                      </a:r>
                      <a:r>
                        <a:rPr lang="en-AU" i="1" baseline="30000" dirty="0" smtClean="0"/>
                        <a:t>nd</a:t>
                      </a:r>
                      <a:r>
                        <a:rPr lang="en-AU" i="1" dirty="0" smtClean="0"/>
                        <a:t> step is to ………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45996" y="697611"/>
            <a:ext cx="71074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Ashe kicked nine goals from 13 shots at goal. </a:t>
            </a:r>
          </a:p>
          <a:p>
            <a:r>
              <a:rPr lang="en-AU" sz="2800" b="1" dirty="0" smtClean="0"/>
              <a:t>Calculate Ashe’s percentage kicking accuracy.</a:t>
            </a:r>
          </a:p>
          <a:p>
            <a:endParaRPr lang="en-AU" sz="2800" b="1" dirty="0" smtClean="0"/>
          </a:p>
          <a:p>
            <a:endParaRPr lang="en-AU" sz="2800" b="1" dirty="0"/>
          </a:p>
          <a:p>
            <a:endParaRPr lang="en-AU" sz="2800" b="1" dirty="0"/>
          </a:p>
          <a:p>
            <a:endParaRPr lang="en-AU" sz="2800" b="1" dirty="0" smtClean="0"/>
          </a:p>
          <a:p>
            <a:endParaRPr lang="en-AU" sz="2800" b="1" dirty="0"/>
          </a:p>
          <a:p>
            <a:endParaRPr lang="en-AU" sz="2800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5772" y="1945681"/>
                <a:ext cx="3214424" cy="901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den>
                      </m:f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𝟔𝟗𝟐𝟑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..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2" y="1945681"/>
                <a:ext cx="3214424" cy="9019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4785" y="3081871"/>
                <a:ext cx="66308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𝟔𝟗𝟐𝟑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𝟔𝟗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(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5" y="3081871"/>
                <a:ext cx="6630895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28299" y="3824104"/>
            <a:ext cx="6911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Ashe’s kicking accuracy is 69.2%.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6591" y="4874930"/>
                <a:ext cx="8145453" cy="712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We could simplify this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  <m:r>
                      <a:rPr lang="en-AU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𝟔𝟗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%.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91" y="4874930"/>
                <a:ext cx="8145453" cy="712631"/>
              </a:xfrm>
              <a:prstGeom prst="rect">
                <a:avLst/>
              </a:prstGeom>
              <a:blipFill rotWithShape="0">
                <a:blip r:embed="rId5"/>
                <a:stretch>
                  <a:fillRect l="-1572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7980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Situation 1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12196" y="678788"/>
            <a:ext cx="11836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workforce at a factory were all told ‘Due to lost contracts, you will now only work a 4 day week. You will receive a reduced salary of your original salary decreased by 20%.’</a:t>
            </a:r>
          </a:p>
          <a:p>
            <a:endParaRPr lang="en-AU" sz="2400" dirty="0"/>
          </a:p>
          <a:p>
            <a:r>
              <a:rPr lang="en-AU" sz="2400" dirty="0" smtClean="0"/>
              <a:t>Shortly afterwards, things improved and the workforce were told ‘We can return to our 5 day week. You will now receive the salary you have been receiving recently increased by 20%.’</a:t>
            </a:r>
          </a:p>
          <a:p>
            <a:endParaRPr lang="en-AU" sz="2400" dirty="0"/>
          </a:p>
          <a:p>
            <a:r>
              <a:rPr lang="en-AU" sz="2400" dirty="0" smtClean="0"/>
              <a:t>Does this mean that salaries have returned to their original rates?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6586" y="3356444"/>
            <a:ext cx="59239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Imagine a worker on $50 000 a year originally.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A 20% decrease meant they were receiving 80% of their original salary.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0.80 x 50 000 = 40 000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So their salary was reduced to $40 000 a year.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024942" y="3356444"/>
            <a:ext cx="59239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salaries increase by 20% again.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A 20% increase means they are receiving 120% of their reduced salary.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1.20 x 40 000 = 48 000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So their salary has increased to $48 000, </a:t>
            </a:r>
            <a:r>
              <a:rPr lang="en-AU" sz="2400" b="1" dirty="0" smtClean="0"/>
              <a:t>less than what they originally earned.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Situation 2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17806" y="605860"/>
            <a:ext cx="1190963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newspaper article talking about a new drug for a medical condition states that it has </a:t>
            </a:r>
            <a:r>
              <a:rPr lang="en-AU" sz="2400" i="1" dirty="0" smtClean="0"/>
              <a:t>‘the potential to increase the likelihood of a person taking the drug from developing a particular form of </a:t>
            </a:r>
            <a:r>
              <a:rPr lang="en-AU" sz="2400" i="1" dirty="0" err="1" smtClean="0"/>
              <a:t>diseaes</a:t>
            </a:r>
            <a:r>
              <a:rPr lang="en-AU" sz="2400" i="1" dirty="0" smtClean="0"/>
              <a:t> </a:t>
            </a:r>
            <a:r>
              <a:rPr lang="en-AU" sz="2400" i="1" dirty="0" smtClean="0"/>
              <a:t>by up to 50% of the risk for someone not taking the drug.’</a:t>
            </a:r>
            <a:endParaRPr lang="en-AU" sz="2400" i="1" dirty="0"/>
          </a:p>
          <a:p>
            <a:r>
              <a:rPr lang="en-AU" sz="2400" dirty="0" smtClean="0"/>
              <a:t>The article also states that </a:t>
            </a:r>
            <a:r>
              <a:rPr lang="en-AU" sz="2400" i="1" dirty="0" smtClean="0"/>
              <a:t>‘for people not taking the drug there is a 1% chance of developing this </a:t>
            </a:r>
            <a:r>
              <a:rPr lang="en-AU" sz="2400" i="1" dirty="0" smtClean="0"/>
              <a:t>disease</a:t>
            </a:r>
            <a:r>
              <a:rPr lang="en-AU" sz="2400" i="1" dirty="0" smtClean="0"/>
              <a:t>.’</a:t>
            </a:r>
            <a:endParaRPr lang="en-AU" sz="2400" i="1" dirty="0"/>
          </a:p>
          <a:p>
            <a:r>
              <a:rPr lang="en-AU" sz="2400" dirty="0" smtClean="0"/>
              <a:t>Mr Chan is taking this drug and is very concerned to read that the risk of developing this type of </a:t>
            </a:r>
            <a:r>
              <a:rPr lang="en-AU" sz="2400" dirty="0" smtClean="0"/>
              <a:t>disease</a:t>
            </a:r>
            <a:r>
              <a:rPr lang="en-AU" sz="2400" dirty="0" smtClean="0"/>
              <a:t> </a:t>
            </a:r>
            <a:r>
              <a:rPr lang="en-AU" sz="2400" dirty="0" smtClean="0"/>
              <a:t>is 51%! </a:t>
            </a:r>
          </a:p>
          <a:p>
            <a:endParaRPr lang="en-AU" sz="2400" dirty="0"/>
          </a:p>
          <a:p>
            <a:r>
              <a:rPr lang="en-AU" sz="2400" dirty="0" smtClean="0"/>
              <a:t>Is this correct?</a:t>
            </a:r>
          </a:p>
          <a:p>
            <a:endParaRPr lang="en-AU" sz="2400" dirty="0"/>
          </a:p>
          <a:p>
            <a:r>
              <a:rPr lang="en-AU" sz="2400" dirty="0" smtClean="0"/>
              <a:t>The risk of developing the </a:t>
            </a:r>
            <a:r>
              <a:rPr lang="en-AU" sz="2400" dirty="0" smtClean="0"/>
              <a:t>disease</a:t>
            </a:r>
            <a:r>
              <a:rPr lang="en-AU" sz="2400" dirty="0" smtClean="0"/>
              <a:t> </a:t>
            </a:r>
            <a:r>
              <a:rPr lang="en-AU" sz="2400" dirty="0" smtClean="0"/>
              <a:t>is 1% if you are not taking the medication.</a:t>
            </a:r>
          </a:p>
          <a:p>
            <a:endParaRPr lang="en-AU" sz="2400" dirty="0"/>
          </a:p>
          <a:p>
            <a:r>
              <a:rPr lang="en-AU" sz="2400" dirty="0" smtClean="0"/>
              <a:t>The increased risk if you are taking the medication is up to 50% more THAN the 1% risk if you aren’t.</a:t>
            </a:r>
          </a:p>
          <a:p>
            <a:endParaRPr lang="en-AU" sz="2400" dirty="0"/>
          </a:p>
          <a:p>
            <a:r>
              <a:rPr lang="en-AU" sz="2400" dirty="0" smtClean="0"/>
              <a:t>50% of 1% is 0.5% so the actual risk if you take the medication is only </a:t>
            </a:r>
            <a:r>
              <a:rPr lang="en-AU" sz="2400" b="1" dirty="0" smtClean="0"/>
              <a:t>up to 1.5%, </a:t>
            </a:r>
            <a:r>
              <a:rPr lang="en-AU" sz="2400" dirty="0" smtClean="0"/>
              <a:t>not as bad!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9284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Example 1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40245" y="639519"/>
            <a:ext cx="78874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Express each of the following as a percentage.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 smtClean="0"/>
              <a:t>18 students out of a total of 40 students</a:t>
            </a:r>
          </a:p>
          <a:p>
            <a:pPr marL="342900" indent="-342900">
              <a:buAutoNum type="alphaLcParenR"/>
            </a:pPr>
            <a:r>
              <a:rPr lang="en-AU" sz="2400" dirty="0" smtClean="0"/>
              <a:t>$3.60 out of $45.00</a:t>
            </a:r>
          </a:p>
          <a:p>
            <a:pPr marL="342900" indent="-342900">
              <a:buAutoNum type="alphaLcParenR"/>
            </a:pPr>
            <a:r>
              <a:rPr lang="en-AU" sz="2400" dirty="0" smtClean="0"/>
              <a:t>$34 out of a total of $245 (to 1 decimal place)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r>
              <a:rPr lang="en-AU" sz="2400" dirty="0" smtClean="0"/>
              <a:t>Step 1: Express it as a fraction.</a:t>
            </a:r>
          </a:p>
          <a:p>
            <a:endParaRPr lang="en-AU" sz="2400" dirty="0"/>
          </a:p>
          <a:p>
            <a:r>
              <a:rPr lang="en-AU" sz="2400" dirty="0" smtClean="0"/>
              <a:t>Step 2: Find this fraction of 100.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0245" y="4274680"/>
                <a:ext cx="510493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a) 18 out of 40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5" y="4274680"/>
                <a:ext cx="5104933" cy="616964"/>
              </a:xfrm>
              <a:prstGeom prst="rect">
                <a:avLst/>
              </a:prstGeom>
              <a:blipFill rotWithShape="0">
                <a:blip r:embed="rId2"/>
                <a:stretch>
                  <a:fillRect l="-1792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1955" y="4960012"/>
                <a:ext cx="510493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100=45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55" y="4960012"/>
                <a:ext cx="5104933" cy="786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31954" y="5930510"/>
            <a:ext cx="5104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18 students out of 40 is 45%.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27806" y="4274680"/>
                <a:ext cx="510493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b) $3.60 out of $45.00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3.6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806" y="4274680"/>
                <a:ext cx="5104933" cy="616964"/>
              </a:xfrm>
              <a:prstGeom prst="rect">
                <a:avLst/>
              </a:prstGeom>
              <a:blipFill rotWithShape="0">
                <a:blip r:embed="rId4"/>
                <a:stretch>
                  <a:fillRect l="-1790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19516" y="4960012"/>
                <a:ext cx="510493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3.6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516" y="4960012"/>
                <a:ext cx="5104933" cy="7861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219515" y="5930510"/>
            <a:ext cx="5104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$3.60 out of $45.00 is 8%.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149609" y="4352329"/>
            <a:ext cx="137440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You do c)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231468" y="5075965"/>
            <a:ext cx="5104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$34 out of $245 is 13.9%.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6018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Example 2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68294" y="611470"/>
            <a:ext cx="116235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price of a commodity increases from $1640 per tonne to $1846 per tonne. Express the increase as a percentage increase, correct to 1 decimal place.</a:t>
            </a:r>
          </a:p>
          <a:p>
            <a:endParaRPr lang="en-AU" sz="2400" dirty="0"/>
          </a:p>
          <a:p>
            <a:r>
              <a:rPr lang="en-AU" sz="2400" dirty="0"/>
              <a:t>Step 1: </a:t>
            </a:r>
            <a:r>
              <a:rPr lang="en-AU" sz="2400" dirty="0" smtClean="0"/>
              <a:t>Find the value of the increase or decrease.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Step 2: </a:t>
            </a:r>
            <a:r>
              <a:rPr lang="en-AU" sz="2400" dirty="0" smtClean="0"/>
              <a:t>Express it as a fraction.</a:t>
            </a:r>
          </a:p>
          <a:p>
            <a:endParaRPr lang="en-AU" sz="2400" dirty="0"/>
          </a:p>
          <a:p>
            <a:r>
              <a:rPr lang="en-AU" sz="2400" dirty="0" smtClean="0"/>
              <a:t>Step 3: Find this fraction of 100.</a:t>
            </a:r>
            <a:endParaRPr lang="en-AU" sz="2400" dirty="0"/>
          </a:p>
          <a:p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8294" y="3814674"/>
            <a:ext cx="6911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Increase = $1846 - $1640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  = $206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366" y="4640805"/>
                <a:ext cx="510493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 $206 out of $1640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206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1640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6" y="4640805"/>
                <a:ext cx="5104933" cy="616964"/>
              </a:xfrm>
              <a:prstGeom prst="rect">
                <a:avLst/>
              </a:prstGeom>
              <a:blipFill rotWithShape="0">
                <a:blip r:embed="rId2"/>
                <a:stretch>
                  <a:fillRect l="-597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9513" y="5331003"/>
                <a:ext cx="510493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206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1640</m:t>
                          </m:r>
                        </m:den>
                      </m:f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100=12.56..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3" y="5331003"/>
                <a:ext cx="5104933" cy="786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79512" y="6301501"/>
            <a:ext cx="913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price of the commodity has increased by 12.6%.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2526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Example 3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13173" y="673178"/>
            <a:ext cx="7500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27% of $60, with and without a calculator.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260555" y="1267818"/>
            <a:ext cx="56322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Without a calculator:</a:t>
            </a:r>
          </a:p>
          <a:p>
            <a:endParaRPr lang="en-AU" sz="2400" dirty="0"/>
          </a:p>
          <a:p>
            <a:r>
              <a:rPr lang="en-AU" sz="2400" dirty="0" smtClean="0"/>
              <a:t>Step 1: Find 1% of the amount.</a:t>
            </a:r>
          </a:p>
          <a:p>
            <a:endParaRPr lang="en-AU" sz="2400" dirty="0"/>
          </a:p>
          <a:p>
            <a:r>
              <a:rPr lang="en-AU" sz="2400" dirty="0" smtClean="0"/>
              <a:t>Step 2: Multiply this by the % you want.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13173" y="1267818"/>
            <a:ext cx="57322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With a calculator:</a:t>
            </a:r>
          </a:p>
          <a:p>
            <a:endParaRPr lang="en-AU" sz="2400" dirty="0"/>
          </a:p>
          <a:p>
            <a:r>
              <a:rPr lang="en-AU" sz="2400" dirty="0" smtClean="0"/>
              <a:t>Step 1: Find the decimal equivalent of the %.</a:t>
            </a:r>
          </a:p>
          <a:p>
            <a:endParaRPr lang="en-AU" sz="2400" dirty="0"/>
          </a:p>
          <a:p>
            <a:r>
              <a:rPr lang="en-AU" sz="2400" dirty="0" smtClean="0"/>
              <a:t>Step 2: Multiply the amount by the decimal.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3173" y="3579062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27% is equivalent to 0.27 (27/100 = 0.27)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13173" y="4182146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0.27 x 60 = 16.2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13173" y="4785230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27% of $60 is $16.20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260555" y="3579062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1% of $60 = 60/100 = 0.6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260555" y="4182146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27% of $60 = 0.6 x 27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60555" y="4785229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27% of $60 is $16.20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4859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Example 4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13173" y="673178"/>
            <a:ext cx="7500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Increase $450 by 24%, with and without a calculator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260555" y="1267818"/>
            <a:ext cx="56322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Without a calculator:</a:t>
            </a:r>
          </a:p>
          <a:p>
            <a:endParaRPr lang="en-AU" sz="2400" dirty="0"/>
          </a:p>
          <a:p>
            <a:r>
              <a:rPr lang="en-AU" sz="2400" dirty="0" smtClean="0"/>
              <a:t>Step 1: Add or subtract the percentage increase or decrease from 100%.</a:t>
            </a:r>
          </a:p>
          <a:p>
            <a:endParaRPr lang="en-AU" sz="2400" dirty="0"/>
          </a:p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 Find 1% of the amount.</a:t>
            </a:r>
          </a:p>
          <a:p>
            <a:endParaRPr lang="en-AU" sz="2400" dirty="0"/>
          </a:p>
          <a:p>
            <a:r>
              <a:rPr lang="en-AU" sz="2400" dirty="0" smtClean="0"/>
              <a:t>Step 3: Multiply this by the % you want.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3173" y="1267818"/>
            <a:ext cx="57322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With a calculator:</a:t>
            </a:r>
          </a:p>
          <a:p>
            <a:endParaRPr lang="en-AU" sz="2400" dirty="0"/>
          </a:p>
          <a:p>
            <a:r>
              <a:rPr lang="en-AU" sz="2400" dirty="0" smtClean="0"/>
              <a:t>Step 1: Add or subtract the percentage increase or decrease from 100%</a:t>
            </a:r>
          </a:p>
          <a:p>
            <a:endParaRPr lang="en-AU" sz="2400" dirty="0"/>
          </a:p>
          <a:p>
            <a:r>
              <a:rPr lang="en-AU" sz="2400" dirty="0" smtClean="0"/>
              <a:t>Step 2: Find the decimal equivalent of the %.</a:t>
            </a:r>
          </a:p>
          <a:p>
            <a:endParaRPr lang="en-AU" sz="2400" dirty="0"/>
          </a:p>
          <a:p>
            <a:r>
              <a:rPr lang="en-AU" sz="2400" dirty="0" smtClean="0"/>
              <a:t>Step 3: Multiply the amount by the decimal.  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13173" y="4432668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100% + 24% = 124%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13173" y="5035752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124% is 1.24 as a decimal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13173" y="5638836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1.24 x 450 = 558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260555" y="4894334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1% of $450 = 450/100 = 4.5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60555" y="5497418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124% of $450 = 4.5 x 124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260555" y="6100501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$450 increased by 24% is $558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3173" y="6100501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$450 increased by 24% is $558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260555" y="4421133"/>
            <a:ext cx="536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100% + 24% = 124%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5565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Example 5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13173" y="650739"/>
            <a:ext cx="11657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the 10% goods and services tax (GST) has been added to an invoice, the final amount payable is $522.50. </a:t>
            </a:r>
          </a:p>
          <a:p>
            <a:r>
              <a:rPr lang="en-AU" sz="2400" dirty="0" smtClean="0"/>
              <a:t>Determine the amount on the invoice </a:t>
            </a:r>
            <a:r>
              <a:rPr lang="en-AU" sz="2400" b="1" dirty="0" smtClean="0"/>
              <a:t>prior</a:t>
            </a:r>
            <a:r>
              <a:rPr lang="en-AU" sz="2400" dirty="0" smtClean="0"/>
              <a:t> to the GST being added.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8539" y="2182218"/>
                <a:ext cx="10748408" cy="357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$522.50 represents 100% of the prior invoice + the 10% GST (a 10% increase).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$522.50 = 110% of the pre GST amount.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1.1 x pre GST amount = 522.50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Pre GST amount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522.50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1.1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= 475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The amount on the invoice prior to the GST being added was $475.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39" y="2182218"/>
                <a:ext cx="10748408" cy="3574568"/>
              </a:xfrm>
              <a:prstGeom prst="rect">
                <a:avLst/>
              </a:prstGeom>
              <a:blipFill rotWithShape="0">
                <a:blip r:embed="rId2"/>
                <a:stretch>
                  <a:fillRect l="-908" t="-1365" b="-30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218583" y="0"/>
            <a:ext cx="274881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2A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9859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Situation </a:t>
            </a:r>
            <a:r>
              <a:rPr lang="en-AU" sz="2400" dirty="0" smtClean="0"/>
              <a:t>3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17806" y="605860"/>
            <a:ext cx="1190963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Inflation is the rise in the price of goods over a period of time. Inflation is usually quoted as an annual percentage rate based on the increase in the price of goods and services typically used by a household. </a:t>
            </a:r>
          </a:p>
          <a:p>
            <a:endParaRPr lang="en-AU" sz="2400" dirty="0" smtClean="0"/>
          </a:p>
          <a:p>
            <a:r>
              <a:rPr lang="en-AU" sz="2400" dirty="0" smtClean="0"/>
              <a:t>Each dollar has less purchasing power than a dollar earned the previous year. For example, the amount of fruit and vegetables that could be purchased for $1 in 1950 would be significantly higher than in 2021. The $1 has lost purchasing power.</a:t>
            </a:r>
          </a:p>
          <a:p>
            <a:endParaRPr lang="en-AU" sz="2400" dirty="0"/>
          </a:p>
          <a:p>
            <a:r>
              <a:rPr lang="en-AU" sz="2400" dirty="0" smtClean="0"/>
              <a:t>If a loaf of bread costs $1.20 and the annual inflation rate is 2.6%, the same loaf of bread would cost $1.23 the following year. (1.20 x 1.026 = 1.2312)</a:t>
            </a:r>
          </a:p>
          <a:p>
            <a:endParaRPr lang="en-AU" sz="2400" dirty="0"/>
          </a:p>
          <a:p>
            <a:r>
              <a:rPr lang="en-AU" sz="2400" dirty="0" smtClean="0"/>
              <a:t>If the annual inflation rate then jumped to 7.8%, the loaf of bread would cost $1.33 the year after. (1.2312 x 1.078 = 1.3272…)</a:t>
            </a:r>
          </a:p>
          <a:p>
            <a:endParaRPr lang="en-AU" sz="2400" dirty="0"/>
          </a:p>
          <a:p>
            <a:r>
              <a:rPr lang="en-AU" sz="2400" dirty="0" smtClean="0"/>
              <a:t>The opposite of inflation is deflation (where prices go down over time) although this is not common.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218582" y="0"/>
            <a:ext cx="27488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2B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8536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Example 6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45855" y="617080"/>
            <a:ext cx="11746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shop offers 5% discount on all good purchased with cash rather than credit cards.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 smtClean="0"/>
              <a:t>What is the cash discount price for a jacket that usually costs $85.00?</a:t>
            </a:r>
          </a:p>
          <a:p>
            <a:pPr marL="342900" indent="-342900">
              <a:buAutoNum type="alphaLcParenR"/>
            </a:pPr>
            <a:r>
              <a:rPr lang="en-AU" sz="2400" dirty="0" smtClean="0"/>
              <a:t>If a computer game has a discounted price of $159.60 for cash, what is the usual price of the game?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5855" y="2905884"/>
            <a:ext cx="61707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AU" sz="2400" dirty="0" smtClean="0"/>
              <a:t>The cash discount price is 95% of the usual price (100% - 5% = 95%).</a:t>
            </a:r>
          </a:p>
          <a:p>
            <a:pPr marL="457200" indent="-457200">
              <a:buAutoNum type="alphaLcParenR"/>
            </a:pPr>
            <a:endParaRPr lang="en-AU" sz="2400" dirty="0"/>
          </a:p>
          <a:p>
            <a:r>
              <a:rPr lang="en-AU" sz="2400" dirty="0" smtClean="0"/>
              <a:t>       0.95 x 85 = 80.75</a:t>
            </a:r>
          </a:p>
          <a:p>
            <a:endParaRPr lang="en-AU" sz="2400" dirty="0"/>
          </a:p>
          <a:p>
            <a:r>
              <a:rPr lang="en-AU" sz="2400" dirty="0" smtClean="0"/>
              <a:t>       The discounted price of the jacket is $80.75.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19332" y="2905884"/>
                <a:ext cx="6170798" cy="320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lphaLcParenR" startAt="2"/>
                </a:pPr>
                <a:r>
                  <a:rPr lang="en-AU" sz="2400" dirty="0" smtClean="0"/>
                  <a:t>The cash discount price is 95% of the usual</a:t>
                </a:r>
              </a:p>
              <a:p>
                <a:r>
                  <a:rPr lang="en-AU" sz="2400" dirty="0"/>
                  <a:t> </a:t>
                </a:r>
                <a:r>
                  <a:rPr lang="en-AU" sz="2400" dirty="0" smtClean="0"/>
                  <a:t>      </a:t>
                </a:r>
                <a:r>
                  <a:rPr lang="en-AU" sz="2400" dirty="0"/>
                  <a:t>price (100% - 5% = 95%).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       0.95 x usual price = 159.60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       Usual price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159.60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0.95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= $168.00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       The usual price of the game is $168.00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332" y="2905884"/>
                <a:ext cx="6170798" cy="3207545"/>
              </a:xfrm>
              <a:prstGeom prst="rect">
                <a:avLst/>
              </a:prstGeom>
              <a:blipFill rotWithShape="0">
                <a:blip r:embed="rId2"/>
                <a:stretch>
                  <a:fillRect l="-1579" t="-1901" b="-34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91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Situation </a:t>
            </a:r>
            <a:r>
              <a:rPr lang="en-AU" sz="2400" dirty="0"/>
              <a:t>4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17806" y="605860"/>
            <a:ext cx="119096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fees charged by a business for selling an item (like a house) is sometimes based on the price the item sells for. </a:t>
            </a:r>
          </a:p>
          <a:p>
            <a:r>
              <a:rPr lang="en-AU" sz="2400" dirty="0" smtClean="0"/>
              <a:t>The amount of pay some people receive is sometimes based on the quantity or value of sales they make.</a:t>
            </a:r>
          </a:p>
          <a:p>
            <a:r>
              <a:rPr lang="en-AU" sz="2400" dirty="0" smtClean="0"/>
              <a:t>Both of these are examples of </a:t>
            </a:r>
            <a:r>
              <a:rPr lang="en-AU" sz="2400" b="1" dirty="0" smtClean="0"/>
              <a:t>commission</a:t>
            </a:r>
            <a:r>
              <a:rPr lang="en-AU" sz="2400" dirty="0"/>
              <a:t> </a:t>
            </a:r>
            <a:r>
              <a:rPr lang="en-AU" sz="2400" dirty="0" smtClean="0"/>
              <a:t>(and are often a percentage of the value).</a:t>
            </a:r>
          </a:p>
          <a:p>
            <a:endParaRPr lang="en-AU" sz="2400" dirty="0"/>
          </a:p>
          <a:p>
            <a:r>
              <a:rPr lang="en-AU" sz="2400" dirty="0" smtClean="0"/>
              <a:t>If a computer sales person is paid 15% commission on their sales, and they sell $17 650 worth of goods one month, their commission would be $2647.50 (17 650 x 0.15).</a:t>
            </a:r>
          </a:p>
          <a:p>
            <a:endParaRPr lang="en-AU" sz="2400" dirty="0"/>
          </a:p>
          <a:p>
            <a:r>
              <a:rPr lang="en-AU" sz="2400" dirty="0" smtClean="0"/>
              <a:t>If a real estate agency charges commission on the sale of a house as follows:</a:t>
            </a:r>
          </a:p>
          <a:p>
            <a:r>
              <a:rPr lang="en-AU" sz="2400" dirty="0" smtClean="0"/>
              <a:t>3% of the first $100 000</a:t>
            </a:r>
          </a:p>
          <a:p>
            <a:r>
              <a:rPr lang="en-AU" sz="2400" dirty="0" smtClean="0"/>
              <a:t>2.5% of the next $150 000</a:t>
            </a:r>
          </a:p>
          <a:p>
            <a:r>
              <a:rPr lang="en-AU" sz="2400" dirty="0" smtClean="0"/>
              <a:t>2% of the next $150 000</a:t>
            </a:r>
          </a:p>
          <a:p>
            <a:endParaRPr lang="en-AU" sz="2400" dirty="0"/>
          </a:p>
          <a:p>
            <a:r>
              <a:rPr lang="en-AU" sz="2400" dirty="0" smtClean="0"/>
              <a:t>Then a house sold for $365 000 would earn commission of $9050.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773953" y="4235411"/>
            <a:ext cx="463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0.03 x 100 000 =   3000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773953" y="4610438"/>
            <a:ext cx="463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0.025 x 150 000 = 3750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773953" y="4962639"/>
            <a:ext cx="463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0.02 x 115 000 =   </a:t>
            </a:r>
            <a:r>
              <a:rPr lang="en-AU" sz="2400" u="sng" dirty="0" smtClean="0"/>
              <a:t>2300</a:t>
            </a:r>
            <a:endParaRPr lang="en-AU" sz="24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995440" y="5337666"/>
            <a:ext cx="4639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9050</a:t>
            </a:r>
            <a:endParaRPr lang="en-AU" sz="2400" u="sng" dirty="0"/>
          </a:p>
        </p:txBody>
      </p:sp>
    </p:spTree>
    <p:extLst>
      <p:ext uri="{BB962C8B-B14F-4D97-AF65-F5344CB8AC3E}">
        <p14:creationId xmlns:p14="http://schemas.microsoft.com/office/powerpoint/2010/main" val="148345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2 Situation </a:t>
            </a:r>
            <a:r>
              <a:rPr lang="en-AU" sz="2400" dirty="0" smtClean="0"/>
              <a:t>5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17806" y="958061"/>
                <a:ext cx="11909639" cy="3971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we sell something for more than we bought it for, we have made a profit. If we sell it for less, we have made a loss. 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Item 1: Bought for $40, sold for $70		Profit = $30</a:t>
                </a:r>
              </a:p>
              <a:p>
                <a:r>
                  <a:rPr lang="en-AU" sz="2400" dirty="0" smtClean="0"/>
                  <a:t>Item 2: Bought for $300, sold for $330	Profit = $30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The profit is the same, but arguably better for the first item than the 2</a:t>
                </a:r>
                <a:r>
                  <a:rPr lang="en-AU" sz="2400" baseline="30000" dirty="0" smtClean="0"/>
                  <a:t>nd</a:t>
                </a:r>
                <a:r>
                  <a:rPr lang="en-AU" sz="2400" dirty="0" smtClean="0"/>
                  <a:t>.</a:t>
                </a:r>
              </a:p>
              <a:p>
                <a:r>
                  <a:rPr lang="en-AU" sz="2400" dirty="0" smtClean="0"/>
                  <a:t>To compare the two, we could express each profit as a percentage of the original price.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Percentage profit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𝑂𝑟𝑖𝑔𝑖𝑛𝑎𝑙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6" y="958061"/>
                <a:ext cx="11909639" cy="3971344"/>
              </a:xfrm>
              <a:prstGeom prst="rect">
                <a:avLst/>
              </a:prstGeom>
              <a:blipFill>
                <a:blip r:embed="rId2"/>
                <a:stretch>
                  <a:fillRect l="-768" t="-1227" r="-921" b="-1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804053" y="4257618"/>
                <a:ext cx="4811766" cy="6589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400" dirty="0" smtClean="0"/>
                  <a:t>Percentage loss </a:t>
                </a: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𝑂𝑟𝑖𝑔𝑖𝑛𝑎𝑙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𝑐𝑜𝑠𝑡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053" y="4257618"/>
                <a:ext cx="4811766" cy="658963"/>
              </a:xfrm>
              <a:prstGeom prst="rect">
                <a:avLst/>
              </a:prstGeom>
              <a:blipFill>
                <a:blip r:embed="rId3"/>
                <a:stretch>
                  <a:fillRect l="-1901" b="-18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17805" y="5071274"/>
                <a:ext cx="6973001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Item 1: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100=75%</m:t>
                    </m:r>
                  </m:oMath>
                </a14:m>
                <a:r>
                  <a:rPr lang="en-AU" sz="2400" dirty="0" smtClean="0"/>
                  <a:t> percentage profit</a:t>
                </a:r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5" y="5071274"/>
                <a:ext cx="6973001" cy="616964"/>
              </a:xfrm>
              <a:prstGeom prst="rect">
                <a:avLst/>
              </a:prstGeom>
              <a:blipFill>
                <a:blip r:embed="rId4"/>
                <a:stretch>
                  <a:fillRect l="-1311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17804" y="5688238"/>
                <a:ext cx="6973001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Item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100=10%</m:t>
                    </m:r>
                  </m:oMath>
                </a14:m>
                <a:r>
                  <a:rPr lang="en-AU" sz="2400" dirty="0" smtClean="0"/>
                  <a:t> percentage profit</a:t>
                </a:r>
                <a:endParaRPr lang="en-AU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4" y="5688238"/>
                <a:ext cx="6973001" cy="616964"/>
              </a:xfrm>
              <a:prstGeom prst="rect">
                <a:avLst/>
              </a:prstGeom>
              <a:blipFill>
                <a:blip r:embed="rId5"/>
                <a:stretch>
                  <a:fillRect l="-1311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218582" y="0"/>
            <a:ext cx="27488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</a:t>
            </a:r>
            <a:r>
              <a:rPr lang="en-AU" sz="2400" dirty="0" smtClean="0"/>
              <a:t>2C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3702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2088</Words>
  <Application>Microsoft Office PowerPoint</Application>
  <PresentationFormat>Widescreen</PresentationFormat>
  <Paragraphs>254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29</cp:revision>
  <dcterms:created xsi:type="dcterms:W3CDTF">2020-12-09T06:24:59Z</dcterms:created>
  <dcterms:modified xsi:type="dcterms:W3CDTF">2021-02-04T07:19:33Z</dcterms:modified>
</cp:coreProperties>
</file>
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62" r:id="rId4"/>
    <p:sldId id="263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093B2-5556-4EE9-8C90-EBF5AC0903B7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B74B7-C29A-417F-9CA5-EC3A5D6C91D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6891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30036-B1CC-4EC1-8518-BBBBCA1AD223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48518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30036-B1CC-4EC1-8518-BBBBCA1AD22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88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30036-B1CC-4EC1-8518-BBBBCA1AD22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38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30036-B1CC-4EC1-8518-BBBBCA1AD223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5240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830036-B1CC-4EC1-8518-BBBBCA1AD223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397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83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685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67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150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324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2776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369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0395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52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89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150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A32B1-3C39-41A3-AA7E-BE82A6F0C5DA}" type="datetimeFigureOut">
              <a:rPr lang="en-AU" smtClean="0"/>
              <a:t>17/02/2021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B6C83-D31B-412E-8EA8-F37325C33C3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611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290.png"/><Relationship Id="rId3" Type="http://schemas.openxmlformats.org/officeDocument/2006/relationships/image" Target="../media/image1.png"/><Relationship Id="rId7" Type="http://schemas.openxmlformats.org/officeDocument/2006/relationships/image" Target="../media/image1220.png"/><Relationship Id="rId12" Type="http://schemas.openxmlformats.org/officeDocument/2006/relationships/image" Target="../media/image128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.png"/><Relationship Id="rId11" Type="http://schemas.openxmlformats.org/officeDocument/2006/relationships/image" Target="../media/image1270.png"/><Relationship Id="rId5" Type="http://schemas.openxmlformats.org/officeDocument/2006/relationships/image" Target="../media/image3.png"/><Relationship Id="rId10" Type="http://schemas.openxmlformats.org/officeDocument/2006/relationships/image" Target="../media/image1260.png"/><Relationship Id="rId4" Type="http://schemas.openxmlformats.org/officeDocument/2006/relationships/image" Target="../media/image2.png"/><Relationship Id="rId9" Type="http://schemas.openxmlformats.org/officeDocument/2006/relationships/image" Target="../media/image1230.png"/><Relationship Id="rId14" Type="http://schemas.openxmlformats.org/officeDocument/2006/relationships/image" Target="../media/image13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0.png"/><Relationship Id="rId5" Type="http://schemas.openxmlformats.org/officeDocument/2006/relationships/image" Target="../media/image1340.png"/><Relationship Id="rId4" Type="http://schemas.openxmlformats.org/officeDocument/2006/relationships/image" Target="../media/image13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4.png"/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21.png"/><Relationship Id="rId5" Type="http://schemas.openxmlformats.org/officeDocument/2006/relationships/image" Target="../media/image50.pn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49.png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491.png"/><Relationship Id="rId3" Type="http://schemas.openxmlformats.org/officeDocument/2006/relationships/image" Target="../media/image4.png"/><Relationship Id="rId7" Type="http://schemas.openxmlformats.org/officeDocument/2006/relationships/image" Target="../media/image230.png"/><Relationship Id="rId12" Type="http://schemas.openxmlformats.org/officeDocument/2006/relationships/image" Target="../media/image4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11" Type="http://schemas.openxmlformats.org/officeDocument/2006/relationships/image" Target="../media/image471.png"/><Relationship Id="rId5" Type="http://schemas.openxmlformats.org/officeDocument/2006/relationships/image" Target="../media/image451.png"/><Relationship Id="rId10" Type="http://schemas.openxmlformats.org/officeDocument/2006/relationships/image" Target="../media/image270.png"/><Relationship Id="rId4" Type="http://schemas.openxmlformats.org/officeDocument/2006/relationships/image" Target="../media/image3.png"/><Relationship Id="rId9" Type="http://schemas.openxmlformats.org/officeDocument/2006/relationships/image" Target="../media/image260.png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09.png"/><Relationship Id="rId3" Type="http://schemas.openxmlformats.org/officeDocument/2006/relationships/image" Target="../media/image7.png"/><Relationship Id="rId7" Type="http://schemas.openxmlformats.org/officeDocument/2006/relationships/image" Target="../media/image64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7.png"/><Relationship Id="rId5" Type="http://schemas.openxmlformats.org/officeDocument/2006/relationships/image" Target="../media/image57.png"/><Relationship Id="rId15" Type="http://schemas.openxmlformats.org/officeDocument/2006/relationships/image" Target="../media/image70.png"/><Relationship Id="rId10" Type="http://schemas.openxmlformats.org/officeDocument/2006/relationships/image" Target="../media/image66.png"/><Relationship Id="rId4" Type="http://schemas.openxmlformats.org/officeDocument/2006/relationships/image" Target="../media/image56.png"/><Relationship Id="rId9" Type="http://schemas.openxmlformats.org/officeDocument/2006/relationships/image" Target="../media/image65.pn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2684" y="751715"/>
            <a:ext cx="118311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Clive needs to borrow $12 000 to buy a machine for his factory. He wants to pay back the loan in full in 3 years time. He is offered three different loans. Which one should he pick?</a:t>
            </a: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89884" y="1806358"/>
            <a:ext cx="33739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Quick Loans:</a:t>
            </a:r>
            <a:endParaRPr lang="en-AU" sz="2400" dirty="0"/>
          </a:p>
          <a:p>
            <a:pPr algn="ctr"/>
            <a:r>
              <a:rPr lang="en-AU" sz="2400" dirty="0" smtClean="0"/>
              <a:t>Simple interest of 6% p.a.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3994191" y="1806358"/>
            <a:ext cx="29844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Zoom Loans:</a:t>
            </a:r>
            <a:endParaRPr lang="en-AU" sz="2400" dirty="0"/>
          </a:p>
          <a:p>
            <a:pPr algn="ctr"/>
            <a:r>
              <a:rPr lang="en-AU" sz="2400" dirty="0" smtClean="0"/>
              <a:t>Compound interest of 4.5% p.a.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8072691" y="1806358"/>
            <a:ext cx="38762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Magic Loans:</a:t>
            </a:r>
            <a:endParaRPr lang="en-AU" sz="2400" dirty="0"/>
          </a:p>
          <a:p>
            <a:pPr algn="ctr"/>
            <a:r>
              <a:rPr lang="en-AU" sz="2400" dirty="0" smtClean="0"/>
              <a:t>Compound interest of 4.45% p.a., compounded quarterly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600" y="3004611"/>
            <a:ext cx="1566217" cy="4121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284" y="2941324"/>
            <a:ext cx="2686940" cy="53873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490" y="3126663"/>
            <a:ext cx="2713281" cy="866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-56098" y="3689923"/>
                <a:ext cx="3304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=12000×0.06×3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098" y="3689923"/>
                <a:ext cx="330418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-56098" y="4235010"/>
                <a:ext cx="16044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=2 160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098" y="4235010"/>
                <a:ext cx="1604407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-56098" y="4834824"/>
                <a:ext cx="15931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098" y="4834824"/>
                <a:ext cx="1593188" cy="46166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-189799" y="5434638"/>
                <a:ext cx="31246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=12 000+2 160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799" y="5434638"/>
                <a:ext cx="3124667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-189798" y="6034452"/>
                <a:ext cx="21812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=$14 160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9798" y="6034452"/>
                <a:ext cx="2181284" cy="461665"/>
              </a:xfrm>
              <a:prstGeom prst="rect">
                <a:avLst/>
              </a:prstGeom>
              <a:blipFill>
                <a:blip r:embed="rId10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988677" y="3639882"/>
                <a:ext cx="364422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=12000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(1+0.045)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677" y="3639882"/>
                <a:ext cx="3644220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609565" y="4271016"/>
                <a:ext cx="3304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=$13 693.99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565" y="4271016"/>
                <a:ext cx="3304182" cy="461665"/>
              </a:xfrm>
              <a:prstGeom prst="rect">
                <a:avLst/>
              </a:prstGeom>
              <a:blipFill>
                <a:blip r:embed="rId12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632897" y="3978242"/>
                <a:ext cx="5329956" cy="1027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=12000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0.04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45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2897" y="3978242"/>
                <a:ext cx="5329956" cy="102784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822157" y="5065364"/>
                <a:ext cx="33041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=$13703.75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2157" y="5065364"/>
                <a:ext cx="3304182" cy="461665"/>
              </a:xfrm>
              <a:prstGeom prst="rect">
                <a:avLst/>
              </a:prstGeom>
              <a:blipFill>
                <a:blip r:embed="rId1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4224511" y="5716216"/>
            <a:ext cx="557896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He should pick Zoom loans as he will have to repay the least amount of money. </a:t>
            </a:r>
            <a:endParaRPr lang="en-AU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</a:t>
            </a:r>
            <a:r>
              <a:rPr lang="en-AU" sz="2400" dirty="0" smtClean="0"/>
              <a:t>7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081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12" grpId="0"/>
      <p:bldP spid="23" grpId="0"/>
      <p:bldP spid="24" grpId="0"/>
      <p:bldP spid="25" grpId="0"/>
      <p:bldP spid="26" grpId="0"/>
      <p:bldP spid="34" grpId="0"/>
      <p:bldP spid="35" grpId="0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0733" y="762935"/>
            <a:ext cx="116964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Martina won $5 000 in the lottery and decides to invest it for 2 years. She is given the choice of an interest rate of 5.1% p.a., compounded quarterly or 5.1% p.a., compounded daily. </a:t>
            </a:r>
          </a:p>
          <a:p>
            <a:r>
              <a:rPr lang="en-AU" sz="2400" dirty="0" smtClean="0"/>
              <a:t>Which is the better deal?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858302" y="2047583"/>
            <a:ext cx="2703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First choice: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02" y="2630194"/>
            <a:ext cx="2713281" cy="8661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17588" y="2047583"/>
            <a:ext cx="2703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Second choice: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163" y="2630194"/>
            <a:ext cx="2713281" cy="866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90732" y="3676428"/>
                <a:ext cx="4089557" cy="995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=5000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0.0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2" y="3676428"/>
                <a:ext cx="4089557" cy="9951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55288" y="5053921"/>
                <a:ext cx="23804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=$5 533.35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288" y="5053921"/>
                <a:ext cx="2380466" cy="461665"/>
              </a:xfrm>
              <a:prstGeom prst="rect">
                <a:avLst/>
              </a:prstGeom>
              <a:blipFill>
                <a:blip r:embed="rId5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767824" y="3676428"/>
                <a:ext cx="4089557" cy="995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=5000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0.0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51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365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824" y="3676428"/>
                <a:ext cx="4089557" cy="9951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932380" y="5053921"/>
                <a:ext cx="238046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=$5 536.88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380" y="5053921"/>
                <a:ext cx="2380466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440270" y="5845428"/>
            <a:ext cx="608665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 second choice is the better deal as the value of the investment will be greater.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</a:t>
            </a:r>
            <a:r>
              <a:rPr lang="en-AU" sz="2400" dirty="0" smtClean="0"/>
              <a:t>8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99471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31" grpId="0"/>
      <p:bldP spid="32" grpId="0"/>
      <p:bldP spid="33" grpId="0"/>
      <p:bldP spid="3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687" y="-20052"/>
            <a:ext cx="5365313" cy="22810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683" y="751715"/>
            <a:ext cx="68773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How much would need to be invested at 8% p.a. compounded each half year to </a:t>
            </a:r>
            <a:r>
              <a:rPr lang="en-AU" sz="2400" dirty="0" smtClean="0"/>
              <a:t>accumulate to $9 600 in 6 years. Round your answer to the nearest dollar.</a:t>
            </a:r>
            <a:endParaRPr lang="en-AU" sz="2400" dirty="0"/>
          </a:p>
          <a:p>
            <a:endParaRPr lang="en-AU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552" y="2293763"/>
            <a:ext cx="2713281" cy="866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083475" y="3136681"/>
                <a:ext cx="5329956" cy="1000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9600=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0.0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×6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475" y="3136681"/>
                <a:ext cx="5329956" cy="10004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751641" y="4172571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9600=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1.04</m:t>
                              </m:r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641" y="4172571"/>
                <a:ext cx="519764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70442" y="2658378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𝟔𝟎𝟎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2" y="2658378"/>
                <a:ext cx="2872225" cy="461665"/>
              </a:xfrm>
              <a:prstGeom prst="rect">
                <a:avLst/>
              </a:prstGeom>
              <a:blipFill>
                <a:blip r:embed="rId7"/>
                <a:stretch>
                  <a:fillRect l="-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70441" y="3120043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1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AU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1" y="3120043"/>
                <a:ext cx="2872225" cy="461665"/>
              </a:xfrm>
              <a:prstGeom prst="rect">
                <a:avLst/>
              </a:prstGeom>
              <a:blipFill>
                <a:blip r:embed="rId8"/>
                <a:stretch>
                  <a:fillRect l="-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70440" y="3618228"/>
                <a:ext cx="187383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AU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𝟎𝟖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0" y="3618228"/>
                <a:ext cx="1873833" cy="7861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31171" y="4517198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71" y="4517198"/>
                <a:ext cx="2872225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215782" y="4722282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9600=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(1.601032219)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782" y="4722282"/>
                <a:ext cx="5197649" cy="461665"/>
              </a:xfrm>
              <a:prstGeom prst="rect">
                <a:avLst/>
              </a:prstGeom>
              <a:blipFill>
                <a:blip r:embed="rId11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706555" y="5202072"/>
                <a:ext cx="5197649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9600</m:t>
                          </m:r>
                        </m:num>
                        <m:den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1.601032219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6555" y="5202072"/>
                <a:ext cx="5197649" cy="7861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602599" y="6184519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𝟗𝟗𝟔</m:t>
                    </m:r>
                  </m:oMath>
                </a14:m>
                <a:r>
                  <a:rPr lang="en-AU" sz="2400" dirty="0" smtClean="0"/>
                  <a:t>(nearest dollar)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599" y="6184519"/>
                <a:ext cx="5197649" cy="461665"/>
              </a:xfrm>
              <a:prstGeom prst="rect">
                <a:avLst/>
              </a:prstGeom>
              <a:blipFill>
                <a:blip r:embed="rId13"/>
                <a:stretch>
                  <a:fillRect l="-234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9318" y="2457251"/>
            <a:ext cx="3977830" cy="1811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0"/>
            <a:ext cx="4061507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</a:t>
            </a:r>
            <a:r>
              <a:rPr lang="en-AU" sz="2400" dirty="0" smtClean="0"/>
              <a:t>9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5544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22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687" y="0"/>
            <a:ext cx="5365313" cy="22810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684" y="751715"/>
            <a:ext cx="70068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Aunt Eva leaves Heidi a legacy of some deposit stock that was invested for 10 years at 5.11% p.a. compounded </a:t>
            </a:r>
            <a:r>
              <a:rPr lang="en-AU" sz="2400" b="1" dirty="0" smtClean="0"/>
              <a:t>daily</a:t>
            </a:r>
            <a:r>
              <a:rPr lang="en-AU" sz="2400" dirty="0" smtClean="0"/>
              <a:t>. The value of the cheque received was $21 669.68. Calculate the initial deposit. Give your answer to the nearest dollar.</a:t>
            </a:r>
          </a:p>
          <a:p>
            <a:endParaRPr lang="en-AU" sz="2400" dirty="0"/>
          </a:p>
          <a:p>
            <a:endParaRPr lang="en-AU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391" y="2233869"/>
            <a:ext cx="2713281" cy="8661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785053" y="3060009"/>
                <a:ext cx="5329956" cy="1027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21 669.68=</m:t>
                      </m:r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2400" i="1">
                                      <a:latin typeface="Cambria Math" panose="02040503050406030204" pitchFamily="18" charset="0"/>
                                    </a:rPr>
                                    <m:t>0.0</m:t>
                                  </m:r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511</m:t>
                                  </m:r>
                                </m:num>
                                <m:den>
                                  <m:r>
                                    <a:rPr lang="en-AU" sz="2400" b="0" i="1" smtClean="0">
                                      <a:latin typeface="Cambria Math" panose="02040503050406030204" pitchFamily="18" charset="0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365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053" y="3060009"/>
                <a:ext cx="5329956" cy="10278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4426693" y="4082472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21 669.68=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1.00014</m:t>
                              </m:r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3650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693" y="4082472"/>
                <a:ext cx="5197649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1669" y="3620807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𝟐𝟏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𝟔𝟔𝟗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𝟔𝟖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9" y="3620807"/>
                <a:ext cx="2872225" cy="461665"/>
              </a:xfrm>
              <a:prstGeom prst="rect">
                <a:avLst/>
              </a:prstGeom>
              <a:blipFill rotWithShape="0">
                <a:blip r:embed="rId7"/>
                <a:stretch>
                  <a:fillRect l="-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1668" y="4082472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1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AU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8" y="4082472"/>
                <a:ext cx="2872225" cy="461665"/>
              </a:xfrm>
              <a:prstGeom prst="rect">
                <a:avLst/>
              </a:prstGeom>
              <a:blipFill rotWithShape="0">
                <a:blip r:embed="rId8"/>
                <a:stretch>
                  <a:fillRect l="-4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21667" y="4580657"/>
                <a:ext cx="1873833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AU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𝟎𝟓𝟏𝟏</m:t>
                          </m:r>
                        </m:num>
                        <m:den>
                          <m:r>
                            <a:rPr lang="en-AU" sz="24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𝟑𝟔𝟓</m:t>
                          </m:r>
                        </m:den>
                      </m:f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7" y="4580657"/>
                <a:ext cx="1873833" cy="78617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82398" y="5479627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𝟑𝟔𝟓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</m:oMath>
                  </m:oMathPara>
                </a14:m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98" y="5479627"/>
                <a:ext cx="2872225" cy="461665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341764" y="4719922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21 669.68=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(1.6668977)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764" y="4719922"/>
                <a:ext cx="5197649" cy="461665"/>
              </a:xfrm>
              <a:prstGeom prst="rect">
                <a:avLst/>
              </a:prstGeom>
              <a:blipFill>
                <a:blip r:embed="rId11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494566" y="5275047"/>
                <a:ext cx="5197649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21669.68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1.6668977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566" y="5275047"/>
                <a:ext cx="5197649" cy="7861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207848" y="6061224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1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=$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𝟏𝟑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r>
                  <a:rPr lang="en-AU" sz="2400" dirty="0" smtClean="0"/>
                  <a:t> (nearest dollar)</a:t>
                </a:r>
                <a:endParaRPr lang="en-AU" sz="2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7848" y="6061224"/>
                <a:ext cx="5197649" cy="461665"/>
              </a:xfrm>
              <a:prstGeom prst="rect">
                <a:avLst/>
              </a:prstGeom>
              <a:blipFill>
                <a:blip r:embed="rId13"/>
                <a:stretch>
                  <a:fillRect l="-234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6036" y="68454"/>
            <a:ext cx="4698163" cy="21400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0" y="0"/>
            <a:ext cx="4261658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</a:t>
            </a:r>
            <a:r>
              <a:rPr lang="en-AU" sz="2400" dirty="0" smtClean="0"/>
              <a:t>10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28561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22" grpId="0"/>
      <p:bldP spid="27" grpId="0"/>
      <p:bldP spid="28" grpId="0"/>
      <p:bldP spid="29" grpId="0"/>
      <p:bldP spid="30" grpId="0"/>
      <p:bldP spid="31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671" y="220720"/>
            <a:ext cx="5729329" cy="14573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684" y="751715"/>
            <a:ext cx="62999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Sales of $3 000 grow to $3 500 in 2 years. Calculate the percentage growth p.a. rounded to 2 decimal places. Assume the growth compounds annually.</a:t>
            </a:r>
            <a:endParaRPr lang="en-AU" sz="2400" dirty="0" smtClean="0"/>
          </a:p>
          <a:p>
            <a:endParaRPr lang="en-AU" sz="2400" dirty="0"/>
          </a:p>
          <a:p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695058" y="3045181"/>
                <a:ext cx="5329956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500=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000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AU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58" y="3045181"/>
                <a:ext cx="5329956" cy="4658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695058" y="3594185"/>
                <a:ext cx="4708405" cy="793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  <m:r>
                            <a:rPr lang="en-AU" sz="2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AU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AU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058" y="3594185"/>
                <a:ext cx="4708405" cy="7936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21669" y="3006442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𝟑𝟓𝟎𝟎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9" y="3006442"/>
                <a:ext cx="2872225" cy="461665"/>
              </a:xfrm>
              <a:prstGeom prst="rect">
                <a:avLst/>
              </a:prstGeom>
              <a:blipFill>
                <a:blip r:embed="rId6"/>
                <a:stretch>
                  <a:fillRect l="-424" b="-3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21668" y="3468107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AU" sz="2400" b="1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GB" sz="2400" b="1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𝟑𝟎𝟎</m:t>
                      </m:r>
                      <m:r>
                        <a:rPr lang="en-AU" sz="2400" b="1" i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AU" sz="2400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8" y="3468107"/>
                <a:ext cx="2872225" cy="461665"/>
              </a:xfrm>
              <a:prstGeom prst="rect">
                <a:avLst/>
              </a:prstGeom>
              <a:blipFill>
                <a:blip r:embed="rId7"/>
                <a:stretch>
                  <a:fillRect l="-424" b="-26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21667" y="3966292"/>
                <a:ext cx="18738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AU" sz="2400" b="1" i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AU" sz="24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67" y="3966292"/>
                <a:ext cx="1873833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62684" y="4534408"/>
                <a:ext cx="2872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𝐭</m:t>
                      </m:r>
                      <m:r>
                        <a:rPr lang="en-AU" sz="2400" b="1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1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84" y="4534408"/>
                <a:ext cx="2872225" cy="461665"/>
              </a:xfrm>
              <a:prstGeom prst="rect">
                <a:avLst/>
              </a:prstGeom>
              <a:blipFill>
                <a:blip r:embed="rId9"/>
                <a:stretch>
                  <a:fillRect l="-2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655090" y="4430561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.166666666667=</m:t>
                      </m:r>
                      <m:sSup>
                        <m:sSup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AU" sz="24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AU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  <m:sup>
                          <m:r>
                            <a:rPr lang="en-AU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090" y="4430561"/>
                <a:ext cx="5197649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63817" y="5020050"/>
                <a:ext cx="5197649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1.166666666667</m:t>
                          </m:r>
                        </m:e>
                      </m:rad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i="1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AU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817" y="5020050"/>
                <a:ext cx="5197649" cy="5052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/>
              <p:cNvSpPr txBox="1"/>
              <p:nvPr/>
            </p:nvSpPr>
            <p:spPr>
              <a:xfrm>
                <a:off x="7493000" y="6304519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𝟎𝟖𝟏𝟐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GB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AU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𝟏𝟐</m:t>
                    </m:r>
                    <m:r>
                      <a:rPr lang="en-GB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AU" sz="2400" dirty="0" smtClean="0"/>
                  <a:t>p.a.</a:t>
                </a:r>
                <a:endParaRPr lang="en-AU" sz="2400" dirty="0"/>
              </a:p>
            </p:txBody>
          </p:sp>
        </mc:Choice>
        <mc:Fallback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3000" y="6304519"/>
                <a:ext cx="5197649" cy="461665"/>
              </a:xfrm>
              <a:prstGeom prst="rect">
                <a:avLst/>
              </a:prstGeom>
              <a:blipFill>
                <a:blip r:embed="rId1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573324" y="2216212"/>
                <a:ext cx="4173204" cy="688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AU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6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AU" sz="36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36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AU" sz="3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AU" sz="3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6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AU" sz="36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AU" sz="3600" b="1" dirty="0"/>
                            <m:t> </m:t>
                          </m:r>
                        </m:e>
                        <m:sup>
                          <m:r>
                            <a:rPr lang="en-AU" sz="3600" b="1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</m:sSup>
                    </m:oMath>
                  </m:oMathPara>
                </a14:m>
                <a:endParaRPr lang="en-AU" sz="36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324" y="2216212"/>
                <a:ext cx="4173204" cy="68897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833062" y="5671493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08012345=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AU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062" y="5671493"/>
                <a:ext cx="5197649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771691" y="6304520"/>
                <a:ext cx="51976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.0812345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0812345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1691" y="6304520"/>
                <a:ext cx="5197649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11483" y="1692289"/>
            <a:ext cx="4560374" cy="19763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3021" y="3714328"/>
            <a:ext cx="34026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b="1" dirty="0" smtClean="0">
                <a:solidFill>
                  <a:srgbClr val="FF0000"/>
                </a:solidFill>
              </a:rPr>
              <a:t>Ignore the negative answer.</a:t>
            </a:r>
            <a:endParaRPr lang="en-AU" sz="22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0" y="0"/>
            <a:ext cx="4245033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Y11 Apps Chapter 4 Example </a:t>
            </a:r>
            <a:r>
              <a:rPr lang="en-AU" sz="2400" dirty="0" smtClean="0"/>
              <a:t>11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1861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22" grpId="0"/>
      <p:bldP spid="27" grpId="0"/>
      <p:bldP spid="28" grpId="0"/>
      <p:bldP spid="29" grpId="0"/>
      <p:bldP spid="30" grpId="0"/>
      <p:bldP spid="31" grpId="0"/>
      <p:bldP spid="32" grpId="0"/>
      <p:bldP spid="17" grpId="0"/>
      <p:bldP spid="18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651</Words>
  <Application>Microsoft Office PowerPoint</Application>
  <PresentationFormat>Widescreen</PresentationFormat>
  <Paragraphs>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LEVITT Megan [Harrisdale Senior High School]</dc:creator>
  <cp:lastModifiedBy>LEVITT Megan [Harrisdale Senior High School]</cp:lastModifiedBy>
  <cp:revision>2</cp:revision>
  <dcterms:created xsi:type="dcterms:W3CDTF">2021-02-17T01:00:47Z</dcterms:created>
  <dcterms:modified xsi:type="dcterms:W3CDTF">2021-02-17T01:07:36Z</dcterms:modified>
</cp:coreProperties>
</file>
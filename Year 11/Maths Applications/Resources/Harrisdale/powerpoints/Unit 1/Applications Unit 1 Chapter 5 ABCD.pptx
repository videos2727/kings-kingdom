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85" r:id="rId2"/>
    <p:sldId id="266" r:id="rId3"/>
    <p:sldId id="267" r:id="rId4"/>
    <p:sldId id="268" r:id="rId5"/>
    <p:sldId id="269" r:id="rId6"/>
    <p:sldId id="270" r:id="rId7"/>
    <p:sldId id="271" r:id="rId8"/>
    <p:sldId id="256" r:id="rId9"/>
    <p:sldId id="264" r:id="rId10"/>
    <p:sldId id="286" r:id="rId11"/>
    <p:sldId id="276" r:id="rId12"/>
    <p:sldId id="274" r:id="rId13"/>
    <p:sldId id="275" r:id="rId14"/>
    <p:sldId id="272" r:id="rId15"/>
    <p:sldId id="273" r:id="rId16"/>
    <p:sldId id="287" r:id="rId17"/>
    <p:sldId id="277" r:id="rId18"/>
    <p:sldId id="279" r:id="rId19"/>
    <p:sldId id="280" r:id="rId20"/>
    <p:sldId id="288" r:id="rId21"/>
    <p:sldId id="281" r:id="rId22"/>
    <p:sldId id="282" r:id="rId23"/>
    <p:sldId id="283" r:id="rId24"/>
    <p:sldId id="28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5" autoAdjust="0"/>
    <p:restoredTop sz="94660"/>
  </p:normalViewPr>
  <p:slideViewPr>
    <p:cSldViewPr snapToGrid="0">
      <p:cViewPr varScale="1">
        <p:scale>
          <a:sx n="85" d="100"/>
          <a:sy n="85" d="100"/>
        </p:scale>
        <p:origin x="48" y="1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2-17T02:07:48.043"/>
    </inkml:context>
    <inkml:brush xml:id="br0">
      <inkml:brushProperty name="width" value="0.13333" units="cm"/>
      <inkml:brushProperty name="height" value="0.13333" units="cm"/>
      <inkml:brushProperty name="color" value="#ED1C24"/>
      <inkml:brushProperty name="fitToCurve" value="1"/>
    </inkml:brush>
  </inkml:definitions>
  <inkml:traceGroup>
    <inkml:annotationXML>
      <emma:emma xmlns:emma="http://www.w3.org/2003/04/emma" version="1.0">
        <emma:interpretation id="{4E0E9651-6AED-44FD-94A3-1CE7EAFD67F7}" emma:medium="tactile" emma:mode="ink">
          <msink:context xmlns:msink="http://schemas.microsoft.com/ink/2010/main" type="inkDrawing" rotatedBoundingBox="13959,10032 17148,10592 17063,11071 13875,10512" semanticType="callout" shapeName="Other">
            <msink:sourceLink direction="to" ref="{08F6EFE5-B13E-48C4-B90B-D8AEDE576CB7}"/>
            <msink:sourceLink direction="from" ref="{048723E6-9C4E-4001-B2D8-E361A22E7EBC}"/>
          </msink:context>
        </emma:interpretation>
      </emma:emma>
    </inkml:annotationXML>
    <inkml:trace contextRef="#ctx0" brushRef="#br0">3143 650 6447 0,'0'0'272'0,"0"0"80"0,0 0-352 16,0 0 0-16,0 0 0 0,0 0 0 0,0 0 992 0,0 0 128 16,0 0 32-16,0 0 0 0,0 0-176 0,0 0-16 15,0 0-16-15,0 0 0 0,0 0 16 0,13 2 0 16,-13-2 0-16,0 0 0 0,0 0-256 0,0 0-64 15,13-2 0-15,-13 2 0 0,0 0-288 0,0 0-64 16,0 0-16-16,0 0 0 0,0 0 160 0,0 0 16 16,0 0 16-16,0 0 0 0,0 0 192 0,0 0 48 0,-8 15 0 0,0-5 0 15,8-10-144-15,-12 6-32 0,1 1 0 0,-1-7 0 16,-1-8-144-16,0 1-48 0,-5 4 0 0,3-1 0 16,0 1-48-16,0-2-16 0,-1-6 0 0,-2 4 0 15,0 6 128-15,0-1 32 0,-3-1 0 0,-2-1 0 16,0 1 32-16,-4 0 16 0,-2-5 0 15,2-2 0-15,1-2-80 0,3 4-16 0,-1 2 0 0,-1-3 0 16,-3-1-112-16,3 4-16 0,1 3-16 0,-1-2 0 16,-4-4-80-16,2 3-16 0,3 1 0 0,-1 0 0 15,1-1 16-15,1-1 0 0,0 2 0 0,-2 0 0 0,0-1 80 0,1 2 16 16,-2 3 0-16,-4-3 0 0,2-1 0 16,-1 0 16-16,-4 1 0 0,-2-1 0 0,2 0-80 0,1 0 0 15,-1-7-16-15,0 2 0 0,0 2-32 0,0 2 0 16,0-3 0-16,-1 0 0 0,0-1-144 0,1 3 128 15,2 1-128-15,1-1 128 0,0-1-128 0,1 0 192 16,-1 1-192-16,2 1 192 0,-1 1-64 0,-1-2 0 16,-2-3 0-16,0 2 0 0,0 3-128 0,-1 0 192 15,0 0-192-15,0-1 192 0,0-1-192 0,0 1 128 16,1-1-128-16,-5 0 128 0,3 1-128 0,0-2 128 16,-1-2-128-16,1 2 128 0,-1 1-128 0,2 0 128 15,1-2-128-15,0 0 128 0,-1 0 0 0,2 2-128 16,2 0 192-16,-2 1-64 0,-2-2-128 0,2-2 0 15,1 0 144-15,-1 3-144 0,0 2 0 0,1-1 144 0,1-2-144 0,1 3 0 16,0 3 160-16,3 0-160 0,1 1 128 16,-1-2-128-16,0-1 160 0,1 3-160 0,-1-1 192 0,2-1-192 15,0-4 160-15,2 1-160 0,-1-1 128 0,3 2-128 16,-1 2 128-16,2-2-128 0,0-2 128 0,2 1-128 16,-3 4 128-16,3-1-128 0,1 0 0 0,1-1 128 15,-1 1-128-15,0-2 160 0,0 0-160 0,0 0 160 16,2 2-160-16,-1 1 160 0,-1 1-160 0,0-1 160 15,2 0-160-15,1-1 0 0,1 0 0 0,-1 1 128 16,1 1-128-16,11 1 0 0,-12 0 0 0,3-2 128 16,-5-1-128-16,14 3 0 0,0 0 144 0,0 0-144 15,0 0 240-15,0 0-32 0,-8-5 0 0,8 5 0 0,0 0-80 16,0 0 0-16,0 0-128 0,0 0 192 16,0 0-64-16,0 0-128 0,0 0 176 0,0 0-176 0,0 0 128 15,0 0-128-15,0 0 0 0,0 0 0 0,0 0 0 16,0 0 0-16,0 0 0 0,0 0 0 0,0 0 0 0,0 0 0 15,0 0 0-15,0 0 0 0,0 0 0 0,0 0 0 16,-6 11 0-16,1-1 0 0,5-10 0 0,0 0 0 16,0 0 0-16,13 8 0 0,-13-8 144 0,0 0-144 15,10 7 0-15,-10-7 144 0,11 11-144 0,2 2 0 16,2-3 0-16,-3 2 0 0,-12-12 0 0,13 13 0 16,3 0 0-16,1 0 0 0,-3 2 0 0,1 0 0 15,2-2 0-15,-3 0 0 0,1 3 0 0,0 1 0 16,0-1-144-16,-1-1 144 0,0 0 0 0,0-1 0 15,1 1-128-15,0 0 128 0,-2 0 0 0,0 1 0 16,0 2 0-16,0 0 0 0,0-1 0 0,2-3 0 0,0-2 0 0,0-1 0 16,-4 4-128-16,2 5 128 0,2-2 0 0,0-2 0 15,-2-2-128-15,0-1 128 0,-1 0 0 0,-2-2 0 16,3-1 0-16,0 2 0 0,-2-4 0 0,-11-8 0 16,8 10-192-16,-8-10 192 0,14 11-192 0,-14-11 192 15,0 0-320-15,0 0 32 0,0 0 16 0,0 0 0 31,0 0-624-31,0 0-112 0,0 0-16 0,0 0-16 16,0 0-2576-16,0 0-512 0</inkml:trace>
  </inkml:traceGroup>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2-17T02:07:48.951"/>
    </inkml:context>
    <inkml:brush xml:id="br0">
      <inkml:brushProperty name="width" value="0.13333" units="cm"/>
      <inkml:brushProperty name="height" value="0.13333" units="cm"/>
      <inkml:brushProperty name="color" value="#ED1C24"/>
      <inkml:brushProperty name="fitToCurve" value="1"/>
    </inkml:brush>
  </inkml:definitions>
  <inkml:traceGroup>
    <inkml:annotationXML>
      <emma:emma xmlns:emma="http://www.w3.org/2003/04/emma" version="1.0">
        <emma:interpretation id="{A265EEAE-6E0D-46EA-93AB-00D56B596C27}" emma:medium="tactile" emma:mode="ink">
          <msink:context xmlns:msink="http://schemas.microsoft.com/ink/2010/main" type="writingRegion" rotatedBoundingBox="13929,9593 16481,9499 16498,9944 13946,10038"/>
        </emma:interpretation>
      </emma:emma>
    </inkml:annotationXML>
    <inkml:traceGroup>
      <inkml:annotationXML>
        <emma:emma xmlns:emma="http://www.w3.org/2003/04/emma" version="1.0">
          <emma:interpretation id="{EBC5EC45-D965-4A75-988F-53743944530A}" emma:medium="tactile" emma:mode="ink">
            <msink:context xmlns:msink="http://schemas.microsoft.com/ink/2010/main" type="paragraph" rotatedBoundingBox="13929,9593 16481,9499 16498,9944 13946,10038" alignmentLevel="1"/>
          </emma:interpretation>
        </emma:emma>
      </inkml:annotationXML>
      <inkml:traceGroup>
        <inkml:annotationXML>
          <emma:emma xmlns:emma="http://www.w3.org/2003/04/emma" version="1.0">
            <emma:interpretation id="{84D4DDD9-466C-43FE-B2EA-D4AB571E82F7}" emma:medium="tactile" emma:mode="ink">
              <msink:context xmlns:msink="http://schemas.microsoft.com/ink/2010/main" type="line" rotatedBoundingBox="13929,9593 16481,9499 16498,9944 13946,10038"/>
            </emma:interpretation>
          </emma:emma>
        </inkml:annotationXML>
        <inkml:traceGroup>
          <inkml:annotationXML>
            <emma:emma xmlns:emma="http://www.w3.org/2003/04/emma" version="1.0">
              <emma:interpretation id="{08F6EFE5-B13E-48C4-B90B-D8AEDE576CB7}" emma:medium="tactile" emma:mode="ink">
                <msink:context xmlns:msink="http://schemas.microsoft.com/ink/2010/main" type="inkWord" rotatedBoundingBox="13930,9617 14738,9587 14751,9940 13943,9970">
                  <msink:destinationLink direction="to" ref="{4E0E9651-6AED-44FD-94A3-1CE7EAFD67F7}"/>
                </msink:context>
              </emma:interpretation>
              <emma:one-of disjunction-type="recognition" id="oneOf0">
                <emma:interpretation id="interp0" emma:lang="" emma:confidence="1">
                  <emma:literal/>
                </emma:interpretation>
              </emma:one-of>
            </emma:emma>
          </inkml:annotationXML>
          <inkml:trace contextRef="#ctx0" brushRef="#br0">-7 362 12495 0,'0'0'256'0,"0"0"64"0,0 0 16 0,0 0 48 0,0 0-384 0,0 0 0 0,0 0 0 0,0 0 0 0,0 0 0 0,0 0-128 16,0 0 0-16,0 0 0 15,0 0-256-15,0 0-32 0,0 0-16 0,0 0 0 0,0 0 672 0,0 0 128 16,0 0 16-16,0 0 16 0,0 0 1008 0,0 0 192 16,6 9 32-16,-6-9 16 0,0 0-112 0,0 0 0 15,0 0-16-15,0 0 0 0,0 0-640 0,0 0-128 16,0 0-32-16,10 9 0 0,-10-9-304 0,0 0-64 15,0 0-16-15,0 0 0 0,0 0 48 0,13-2 16 16,-13 2 0-16,0 0 0 0,0 0 112 0,0 0 0 16,15-3 16-16,-15 3 0 0,0 0 112 0,0 0 0 0,0 0 16 0,0 0 0 15,15-10-64-15,-5 2-16 0,-4-2 0 16,-6 10 0-16,0 0-192 0,10-12-64 0,0 1 0 0,0 1 0 16,-10 10-96-16,10-8-32 0,-10 8 0 0,13-7 0 15,-13 7 64-15,13-8 16 0,0 1 0 0,0 1 0 16,-1-1 112-16,-1 1 0 0,0-4 16 0,4 3 0 15,-2 2 48-15,2 1 16 0,-2-3 0 0,0 0 0 16,1 1-32-16,0-1-16 0,1 1 0 0,2-1 0 16,-1-1-176-16,0 1-48 0,-1-1 0 0,3 2 0 15,0-1-192-15,2-1 144 0,-2-2-144 0,0 2 128 16,0 1-128-16,2 1 0 0,1-4 144 0,-1 2-144 16,-2-1 128-16,2 1-128 0,-1 3 128 0,-4-1-128 0,-2-6 0 15,2 4 0-15,-2 1 0 0,0 1 128 0,0-4-128 16,0 2 0-16,1-2 0 0,-3 3 0 0,-11 7 0 15,12-3-208-15,-12 3 80 0,11-5 128 16,-1 2-512-16,-10 3 0 0,0 0 16 0,13 0 0 16,-13 0-1872-16,13 3-384 0,-1-1-80 0</inkml:trace>
        </inkml:traceGroup>
        <inkml:traceGroup>
          <inkml:annotationXML>
            <emma:emma xmlns:emma="http://www.w3.org/2003/04/emma" version="1.0">
              <emma:interpretation id="{B6624885-4A54-426C-9BD4-EBCB13F375A1}" emma:medium="tactile" emma:mode="ink">
                <msink:context xmlns:msink="http://schemas.microsoft.com/ink/2010/main" type="inkWord" rotatedBoundingBox="15506,9535 15839,9523 15856,9967 15523,9980"/>
              </emma:interpretation>
              <emma:one-of disjunction-type="recognition" id="oneOf1">
                <emma:interpretation id="interp1" emma:lang="" emma:confidence="1">
                  <emma:literal/>
                </emma:interpretation>
              </emma:one-of>
            </emma:emma>
          </inkml:annotationXML>
          <inkml:trace contextRef="#ctx0" brushRef="#br0" timeOffset="735.8439">1869-57 19295 0,'0'0'416'0,"0"0"96"0,0 0 0 0,0 0 48 0,11-5-560 0,-11 5 0 0,10-5 0 0,-10 5 0 15,0 0 368-15,0 0-48 0,0 0 0 0,0 0 0 16,0 0-192-16,0 0-128 0,0 0 128 0,0 0-128 16,0 0 304-16,0 0-16 0,0 0 0 0,0 0 0 15,-5 15 608-15,5-15 112 0,0 0 16 0,-7 15 16 16,1 1-336-16,-1 1-64 0,-1-1 0 0,0 2-16 15,-4-3-464-15,1 1-160 0,-1 1 0 0,1-1 144 16,-1-1-144-16,1 0 0 0,1-1 0 0,0 3 128 16,-1-1-128-16,-1 1 0 0,2-3 144 0,1 1-144 15,-1 0 320-15,2 1 0 0,-2-4 0 0,0-2 0 16,2 0-112-16,-2-1-16 0,-3 6-16 0,4-3 0 16,3-3-176-16,-1 0 0 0,-3-1 144 0,2 0-144 15,-2-1 0-15,4-1 128 0,6-6-128 0,-7 8 0 16,7-8 0-16,-6 9 0 0,6-9 0 0,-7 10 0 15,7-10-256-15,0 0-32 0,0 0 0 0,0 0 0 16,0 0-576-16,0 0-112 0,0 0-32 16,0 0-10912-16</inkml:trace>
        </inkml:traceGroup>
        <inkml:traceGroup>
          <inkml:annotationXML>
            <emma:emma xmlns:emma="http://www.w3.org/2003/04/emma" version="1.0">
              <emma:interpretation id="{048723E6-9C4E-4001-B2D8-E361A22E7EBC}" emma:medium="tactile" emma:mode="ink">
                <msink:context xmlns:msink="http://schemas.microsoft.com/ink/2010/main" type="inkWord" rotatedBoundingBox="15574,9543 16482,9510 16497,9929 15589,9963">
                  <msink:destinationLink direction="from" ref="{4E0E9651-6AED-44FD-94A3-1CE7EAFD67F7}"/>
                </msink:context>
              </emma:interpretation>
              <emma:one-of disjunction-type="recognition" id="oneOf2">
                <emma:interpretation id="interp2" emma:lang="" emma:confidence="0">
                  <emma:literal>12</emma:literal>
                </emma:interpretation>
                <emma:interpretation id="interp3" emma:lang="" emma:confidence="0">
                  <emma:literal>\ 2</emma:literal>
                </emma:interpretation>
                <emma:interpretation id="interp4" emma:lang="" emma:confidence="0">
                  <emma:literal>` 2</emma:literal>
                </emma:interpretation>
                <emma:interpretation id="interp5" emma:lang="" emma:confidence="0">
                  <emma:literal>/ 2</emma:literal>
                </emma:interpretation>
                <emma:interpretation id="interp6" emma:lang="" emma:confidence="0">
                  <emma:literal>' 2</emma:literal>
                </emma:interpretation>
              </emma:one-of>
            </emma:emma>
          </inkml:annotationXML>
          <inkml:trace contextRef="#ctx0" brushRef="#br0" timeOffset="1200.5836">1626 7 11919 0,'0'0'512'0,"0"0"128"0,0 0-512 0,0 0-128 0,0 0 0 0,0 0 0 16,0 0 1872-16,0 0 352 0,0 0 64 0,0 0 16 15,0 0-1104-15,0 0-224 0,0 0-32 0,10-2-16 16,-10 2-480-16,11 7-80 0,-11-7-32 0,0 0 0 16,0 0-144-16,11 10-16 0,-1 1-16 0,-10-11 0 15,0 0-16-15,12 10 0 0,-12-10 0 0,10 10 0 16,-10-10 304-16,0 0 48 0,10 12 16 0,-2-3 0 15,-8-9 0-15,10 14 0 0,-10-14 0 0,11 13 0 16,1 0-208-16,-3 0-48 0,0 0 0 0,0 0 0 16,1-1-112-16,0-2-16 0,-10-10-128 0,13 11 192 0,-3 2-192 15,0-3 128-15,-10-10-128 0,8 13 0 0,-1-3 0 16,-7-10 0-16,6 11 0 0,-6-11 0 0,0 0-160 0,9 12-32 16,-9-12 0-16,0 0 0 15,0 0-640-15,0 0-144 0,0 0-32 0,0 0 0 16,-2 11-1936-16,2-11-400 0</inkml:trace>
          <inkml:trace contextRef="#ctx0" brushRef="#br0" timeOffset="2096.311">2243 37 3679 0,'0'0'320'0,"0"0"-320"16,0 0 0-16,0 0 0 0,0 0 2256 0,0 0 384 16,0 0 80-16,0 0 16 0,0 0-1872 0,6-10-368 15,4-2-80-15,-10 12-16 0,0 0-80 0,10-10-32 16,0 2 0-16,0 0 0 0,0 1 448 0,-10 7 96 16,0 0 0-16,16-6 16 0,-3-1 64 0,2 1 16 0,-5-1 0 0,0 4 0 15,-10 3-112-15,13-5-32 0,-3-3 0 0,-1 3 0 16,-9 5-336-16,0 0-64 0,0 0 0 0,17-3-16 15,-2-2-224-15,-2 3-144 0,-13 2 192 0,0 0-192 16,14-2 192-16,-2 2-64 0,-12 0 0 0,13 5-128 16,-13-5 256-16,12 5-48 0,-12-5-16 0,0 0 0 15,0 0-192-15,13 12 176 0,-3-1-176 0,-10-11 160 16,0 0 16-16,6 13 0 0,-1 0 0 0,-5-13 0 16,0 0-176-16,3 15 160 0,-3-15-160 0,0 17 160 15,-1 1 16-15,-3-4 0 0,4-14 0 0,-6 17 0 16,-1-1-176-16,1 1 0 0,1-1 144 0,0-3-144 15,5-13 0-15,-8 13 0 0,-1 1 0 0,0-1 0 16,-3-3 0-16,2-2 0 0,10-8 0 0,-14 10 0 0,-1 1 0 16,2-1 0-16,1-2 0 0,1 0 0 0,-1 4 0 15,1-4 128-15,2 0-128 0,1-1 0 0,8-7 0 16,0 0 144-16,-15 5-144 0,15-5 0 0,0 0 128 0,-8 6-128 16,8-6 0-16,0 0 0 0,-10 12 0 0,10-12 0 15,-6 10 0-15,6-10 0 0,-5 9 128 0,5-9-128 16,0 0 0-16,0 0 0 0,0 0 0 0,0 0 160 15,5 15-160-15,-5-15 128 0,0 0-128 0,0 0 0 16,0 0 144-16,0 0-144 0,8 12 192 0,-8-12-48 16,0 0 0-16,12 6 0 0,-3 1 48 0,-9-7 16 15,0 0 0-15,18 0 0 0,-1-3 96 0,-2-1 16 16,-4 1 0-16,2 1 0 0,-13 2 64 0,17-3 32 16,-3-2 0-16,0 2 0 0,-3 1-64 0,1 1-16 0,-12 1 0 15,13-4 0-15,-3-1-208 0,-10 5-128 0,14-3 128 16,-14 3-128-16,13-5 0 0,1 2-160 0,-5 0 16 0,-9 3 0 31,0 0-1568-31,0 0-304 0,0 0-64 0</inkml:trace>
        </inkml:traceGroup>
      </inkml:traceGroup>
    </inkml:traceGroup>
  </inkml:traceGroup>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2-17T02:07:56.310"/>
    </inkml:context>
    <inkml:brush xml:id="br0">
      <inkml:brushProperty name="width" value="0.13333" units="cm"/>
      <inkml:brushProperty name="height" value="0.13333" units="cm"/>
      <inkml:brushProperty name="color" value="#ED1C24"/>
      <inkml:brushProperty name="fitToCurve" value="1"/>
    </inkml:brush>
  </inkml:definitions>
  <inkml:traceGroup>
    <inkml:annotationXML>
      <emma:emma xmlns:emma="http://www.w3.org/2003/04/emma" version="1.0">
        <emma:interpretation id="{323C8F08-57C3-447E-B175-57728CC5E601}" emma:medium="tactile" emma:mode="ink">
          <msink:context xmlns:msink="http://schemas.microsoft.com/ink/2010/main" type="inkDrawing" rotatedBoundingBox="6516,8063 10097,9161 9971,9574 6389,8476" semanticType="callout" shapeName="Other">
            <msink:sourceLink direction="to" ref="{643D67E6-D350-4F27-9CCA-BC33BFCBF24E}"/>
            <msink:sourceLink direction="from" ref="{643D67E6-D350-4F27-9CCA-BC33BFCBF24E}"/>
          </msink:context>
        </emma:interpretation>
      </emma:emma>
    </inkml:annotationXML>
    <inkml:trace contextRef="#ctx0" brushRef="#br0">5 80 8463 0,'3'-11'368'0,"-3"11"80"0,0 0-448 0,0 0 0 0,0 0 0 0,0 0 0 16,0 0 640-16,-3-8 16 0,0-1 16 0,3 9 0 16,0-13-512-16,0 3-160 0,-4 0 0 0,4 10 0 15,0 0 0-15,0 0 0 0,0-11 0 0,-1 3 0 16,-3 1 208-16,4 7 144 0,0 0 32 0,0 0 0 15,0 0 736-15,0 0 160 0,0 0 16 0,0 0 16 16,0 0-144-16,0 0-16 0,0 0-16 0,0 0 0 16,0 0-240-16,0 0-64 0,0 0 0 0,0 0 0 15,0 0-304-15,0 0-64 0,0 0-16 0,0 0 0 16,0 0-128-16,0 0-16 0,0 0-16 0,0 0 0 16,10 13 80-16,-10-13 16 0,0 0 0 0,7 18 0 15,6-1 32-15,-2-4 16 0,-2-3 0 0,-9-10 0 0,14 5-16 0,1 3 0 16,0 2 0-16,1-2 0 0,1-1-128 0,1-3-32 15,2 1 0-15,1 5 0 0,-1 3-80 0,3-4-32 16,3-8 0-16,0 6 0 0,-3 6 0 0,2-2 0 16,-2-2 0-16,1-1 0 0,3-2 32 0,-3 1 0 15,1 0 0-15,1 2 0 0,2 3 16 0,0 1 16 16,-2-6 0-16,5 1 0 0,2 0-32 0,-2 2-16 16,-4-4 0-16,5 6 0 0,8 4-32 0,-3-3 0 15,-2-3 0-15,1-2 0 0,0-3-128 0,-1 9 0 16,-1 7 144-16,1-8-144 0,-1-8 0 0,1 1 0 15,-3 6 0-15,1 4 128 0,0 6-128 0,1-6 0 16,-1-4 128-16,0-1-128 0,2 2 128 0,-3 2-128 16,0 1 128-16,0-2-128 0,3-6 0 0,-1 3 0 15,-1 2 0-15,0 2 0 0,1-2 0 0,1 2 0 16,-2 0 0-16,0-4 0 0,-2-3 0 0,2 2 0 0,-1 3 0 16,1-1 0-16,0-4 0 0,2 2 0 0,1 2 0 0,0-1 0 15,0-3 0-15,0 2 0 0,-2 0 0 0,1 1 0 16,-1-1 0-16,1 0 0 0,-1-2 0 0,-1 2 0 15,-2 0 0-15,-1 0 0 0,-4 0 0 0,0-2 0 16,2 0 0-16,-1-1 128 0,-5-2-128 0,3 3 0 16,-2-2 0-16,2 3 0 0,-1-1 0 0,3 0 0 15,-1 0 0-15,-2 0 0 0,-1 2 0 0,2 0 0 16,1 0 0-16,1-2 0 0,-4-1 0 0,0 1 0 16,-2-2 0-16,-1 3 0 0,-2-1 0 0,0-2 0 15,1 1 0-15,3 1 0 0,1 0 0 0,-5 1 0 16,-4-4 0-16,3-1 0 0,1 3 0 0,-2 0 0 15,1-2 0-15,-2-2 0 0,-2 0 0 0,0 2 0 0,2 5 0 16,-1 0 0-16,1 0 0 0,0 1 0 0,-2-1 0 16,2-5 0-16,1-5 0 0,-1 3 0 0,-2 5 0 0,-3-3 0 15,-10-5 0-15,13 2 128 0,0 0-128 0,0 1 0 16,0 2 0-16,-13-5 0 0,0 0 0 0,15 5 0 16,2-5 0-16,-4 1 128 0,-13-1-128 0,13 5 0 15,0-2 0-15,-13-3 0 0,0 0 0 0,15 4 0 16,-2 1 0-16,0-2 128 0,-13-3-128 0,15 5 0 15,-2 0 0-15,0-2 0 0,-13-3 0 0,13 3 0 16,-13-3 0-16,13 2 0 0,-13-2 0 0,15 5 0 16,-2-2 0-16,-13-3 0 0,0 0 0 0,13 4 0 15,-13-4 0-15,14 0 128 0,-1 1-128 0,-13-1 0 16,0 0 0-16,0 0 0 0,14 2 0 0,1-1 0 16,-2-1 0-16,-13 0 0 0,13 2 128 0,-13-2-128 0,0 0 128 0,0 0-128 15,14 3 176-15,-14-3-48 0,0 0 0 0,0 0 0 16,14 5 64-16,-14-5 0 0,0 0 0 0,0 0 0 15,0 0-64-15,0 0 0 0,0 0 0 0,0 0 0 16,0 0 48-16,0 0 0 0,0 0 0 0,0 0 0 16,7-8-176-16,-7 8 0 0,0 0 0 0,0 0 0 15,0 0 128-15,2-13 0 0,-2 3 0 0,0 10 0 16,0 0 16-16,-2-11 0 0,0-1 0 0,2 12 0 16,0 0-16-16,-3-11 0 0,3 11 0 0,-3-13 0 15,3 1 0-15,-4 2 0 0,-5 2 0 0,9 8 0 16,-10-12-128-16,2 1 0 0,1-4 144 0,-1 4-144 15,-2 1 0-15,10 10 128 0,-5-12-128 0,-3 1 0 0,-7-1 128 0,2 3-128 16,5 0 128-16,-4-2-128 0,-3-2 0 16,7 1 0-16,8 12 0 0,-6-13 128 0,-4 0-128 0,0 0 0 15,-2-2 128-15,4 4-128 0,2 1 192 0,-6-2-48 16,-3-3 0-16,2 2 0 0,2 0-144 0,1 2 0 16,0-1 0-16,-1 1 0 0,-2-2 0 0,1-2 0 15,2 2 0-15,2 0 0 0,0 1 0 0,1 2-192 16,1-1 0-16,2 3 16 15,4 8-416-15,0 0-96 0,0 0-16 0,0 0 0 16,0 0-1648-16,0 0-336 0,-5-10-64 0,5 10-7184 16,0 0-1456-16</inkml:trace>
  </inkml:traceGroup>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2-17T02:07:58.004"/>
    </inkml:context>
    <inkml:brush xml:id="br0">
      <inkml:brushProperty name="width" value="0.13333" units="cm"/>
      <inkml:brushProperty name="height" value="0.13333" units="cm"/>
      <inkml:brushProperty name="color" value="#ED1C24"/>
      <inkml:brushProperty name="fitToCurve" value="1"/>
    </inkml:brush>
  </inkml:definitions>
  <inkml:traceGroup>
    <inkml:annotationXML>
      <emma:emma xmlns:emma="http://www.w3.org/2003/04/emma" version="1.0">
        <emma:interpretation id="{AC551B57-60EC-4BC3-925C-E6F4E496C1DF}" emma:medium="tactile" emma:mode="ink">
          <msink:context xmlns:msink="http://schemas.microsoft.com/ink/2010/main" type="inkDrawing" rotatedBoundingBox="7409,7508 7412,7464 7422,7465 7420,7509" shapeName="Other"/>
        </emma:interpretation>
      </emma:emma>
    </inkml:annotationXML>
    <inkml:trace contextRef="#ctx0" brushRef="#br0">1 44 21183 0,'0'0'1888'0,"0"0"-1504"16,-1-8-384-16,-1 3 0 0,2 5 1744 0,0 0 288 0,0-13 48 15,0 7 16-15,0 6-1392 0,0 0-288 0,0 0-48 0,0 0-16 16,0 0-208-16,0 0-144 0,0 0 192 0,0 0-192 16,0 0 0-16,0 0 0 0,7-12 0 0,-7 12 0 15,0 0 0-15,0 0 0 0,0 0 0 0,0 0 0 16,0 0-144-16,0 0 144 0,3 15-128 0,-3-15 128 31,0 0-1904-31,0 0-288 0,-2 18-64 0</inkml:trace>
  </inkml:traceGroup>
</inkml:ink>
</file>

<file path=ppt/ink/ink5.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2-17T02:07:57.177"/>
    </inkml:context>
    <inkml:brush xml:id="br0">
      <inkml:brushProperty name="width" value="0.13333" units="cm"/>
      <inkml:brushProperty name="height" value="0.13333" units="cm"/>
      <inkml:brushProperty name="color" value="#ED1C24"/>
      <inkml:brushProperty name="fitToCurve" value="1"/>
    </inkml:brush>
  </inkml:definitions>
  <inkml:traceGroup>
    <inkml:annotationXML>
      <emma:emma xmlns:emma="http://www.w3.org/2003/04/emma" version="1.0">
        <emma:interpretation id="{81D67A0D-3842-4AFF-8A84-EAECB318B030}" emma:medium="tactile" emma:mode="ink">
          <msink:context xmlns:msink="http://schemas.microsoft.com/ink/2010/main" type="inkDrawing" rotatedBoundingBox="9380,9906 10044,9604 10064,9646 9399,9948" semanticType="callout" shapeName="Other">
            <msink:sourceLink direction="with" ref="{643D67E6-D350-4F27-9CCA-BC33BFCBF24E}"/>
          </msink:context>
        </emma:interpretation>
      </emma:emma>
    </inkml:annotationXML>
    <inkml:trace contextRef="#ctx0" brushRef="#br0">548 25 4719 0,'0'0'192'0,"0"0"64"0,0 0-256 0,0 0 0 0,10-5 0 16,-10 5 0-16,0 0 0 0,0 0 0 0,8-11 0 0,0 4 0 15,-8 7-224-15,0 0-96 0,0 0-32 0,15 0 0 16,-15 0 672-16,13 4 128 0,-13-4 16 0,0 0 16 16,15 3 688-16,-15-3 144 0,0 0 32 0,0 0 0 15,0 0-384-15,13 2-64 0,-3-4 0 0,-10 2-16 16,0 0-288-16,0 0-48 0,13 2-16 0,-13-2 0 16,0 0 240-16,0 0 64 0,0 0 0 0,0 0 0 15,10-9 208-15,-4 3 48 0,-6 6 16 0,0 0 0 16,0 0-336-16,0 0-64 0,0 0 0 0,0 0-16 15,0 0-64-15,0 0-16 0,0 0 0 0,0 0 0 16,0 0-288-16,0 0-64 0,0 0-16 0,0 0 0 16,0 0-32-16,0 0 0 0,0 0 0 0,0 0 0 15,0 0 208-15,0 0 32 0,0 0 16 0,-11 6 0 16,11-6 112-16,-15 9 0 0,2-1 16 0,2-3 0 0,11-5-96 0,-15 3-32 16,0 2 0-16,4 2 0 0,11-7-208 0,-15 9-64 15,-3 0 0-15,3-1 0 0,3 0-192 0,-1 0 0 16,-1 0 128-16,-3 1-128 0,1-3 0 0,-1-1 176 15,-1 0-176-15,0 0 160 0,0 2 32 0,0-1 0 16,0-1 0-16,2 2 0 0,-1 1 0 0,1 2 16 16,1-2 0-16,0 0 0 0,0-1-208 0,1 1 144 15,-1 0-144-15,0-1 128 0,0-6-128 0,2 2 0 16,0 2 0-16,0 2 0 0,2 0 0 0,-1-3 0 16,1 0 0-16,-1 1 0 0,-1 0-160 0,1 1 160 0,1 4 0 0,1-5-144 15,10-5 144-15,-15 3 0 0,-1 2-144 0,3 0 144 16,13-5-256-16,0 0 32 0,-13 0 0 0,13 0 0 31,-10 5-1392-31,10-5-288 0,0 0-48 0,0 0-11744 0</inkml:trace>
  </inkml:traceGroup>
</inkml:ink>
</file>

<file path=ppt/ink/ink6.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2-17T02:07:58.568"/>
    </inkml:context>
    <inkml:brush xml:id="br0">
      <inkml:brushProperty name="width" value="0.13333" units="cm"/>
      <inkml:brushProperty name="height" value="0.13333" units="cm"/>
      <inkml:brushProperty name="color" value="#ED1C24"/>
      <inkml:brushProperty name="fitToCurve" value="1"/>
    </inkml:brush>
  </inkml:definitions>
  <inkml:traceGroup>
    <inkml:annotationXML>
      <emma:emma xmlns:emma="http://www.w3.org/2003/04/emma" version="1.0">
        <emma:interpretation id="{3DBB7E13-2535-4DE7-8EB9-8EA80C1872EF}" emma:medium="tactile" emma:mode="ink">
          <msink:context xmlns:msink="http://schemas.microsoft.com/ink/2010/main" type="writingRegion" rotatedBoundingBox="7179,7682 8674,7682 8674,8261 7179,8261">
            <msink:destinationLink direction="with" ref="{2C812183-C9CC-44D8-A20C-10A8AE98FED4}"/>
          </msink:context>
        </emma:interpretation>
      </emma:emma>
    </inkml:annotationXML>
    <inkml:traceGroup>
      <inkml:annotationXML>
        <emma:emma xmlns:emma="http://www.w3.org/2003/04/emma" version="1.0">
          <emma:interpretation id="{98860BBF-B8F3-44C4-94A9-2220DE51AEA4}" emma:medium="tactile" emma:mode="ink">
            <msink:context xmlns:msink="http://schemas.microsoft.com/ink/2010/main" type="paragraph" rotatedBoundingBox="7179,7682 8674,7682 8674,8261 7179,8261" alignmentLevel="1"/>
          </emma:interpretation>
        </emma:emma>
      </inkml:annotationXML>
      <inkml:traceGroup>
        <inkml:annotationXML>
          <emma:emma xmlns:emma="http://www.w3.org/2003/04/emma" version="1.0">
            <emma:interpretation id="{CCEBB513-40B2-4EB6-B6D4-6FCF48F67993}" emma:medium="tactile" emma:mode="ink">
              <msink:context xmlns:msink="http://schemas.microsoft.com/ink/2010/main" type="line" rotatedBoundingBox="7179,7682 8674,7682 8674,8261 7179,8261"/>
            </emma:interpretation>
          </emma:emma>
        </inkml:annotationXML>
        <inkml:traceGroup>
          <inkml:annotationXML>
            <emma:emma xmlns:emma="http://www.w3.org/2003/04/emma" version="1.0">
              <emma:interpretation id="{643D67E6-D350-4F27-9CCA-BC33BFCBF24E}" emma:medium="tactile" emma:mode="ink">
                <msink:context xmlns:msink="http://schemas.microsoft.com/ink/2010/main" type="inkWord" rotatedBoundingBox="7179,7682 8674,7682 8674,8261 7179,8261">
                  <msink:destinationLink direction="to" ref="{323C8F08-57C3-447E-B175-57728CC5E601}"/>
                  <msink:destinationLink direction="from" ref="{323C8F08-57C3-447E-B175-57728CC5E601}"/>
                  <msink:destinationLink direction="with" ref="{81D67A0D-3842-4AFF-8A84-EAECB318B030}"/>
                </msink:context>
              </emma:interpretation>
              <emma:one-of disjunction-type="recognition" id="oneOf0">
                <emma:interpretation id="interp0" emma:lang="" emma:confidence="0">
                  <emma:literal>-2</emma:literal>
                </emma:interpretation>
                <emma:interpretation id="interp1" emma:lang="" emma:confidence="0">
                  <emma:literal>_ 2</emma:literal>
                </emma:interpretation>
                <emma:interpretation id="interp2" emma:lang="" emma:confidence="0">
                  <emma:literal>- 2</emma:literal>
                </emma:interpretation>
                <emma:interpretation id="interp3" emma:lang="" emma:confidence="0">
                  <emma:literal>. 2</emma:literal>
                </emma:interpretation>
                <emma:interpretation id="interp4" emma:lang="" emma:confidence="0">
                  <emma:literal>` 2</emma:literal>
                </emma:interpretation>
              </emma:one-of>
            </emma:emma>
          </inkml:annotationXML>
          <inkml:trace contextRef="#ctx0" brushRef="#br0">619 4 12895 0,'0'0'1152'0,"0"0"-928"0,0 0-224 0,0 0 0 16,-13 1 2560-16,1-1 480 0,1-1 96 0,11 1 0 16,-10-2-1664-16,10 2-352 0,-11 2-64 0,11-2-16 15,-12-2-656-15,2 0-128 0,-1 1-16 0,-1 1-16 16,1 1-224-16,-1-1 0 0,1 0 128 0,-2 4-128 15,-5-1 0-15,1 0 128 0,1 2-128 0,-2-2 0 16,-4-4 320-16,1 4-16 0,-2 4-16 0,2-3 0 16,-1-5-96-16,1-2-32 0,0 4 0 0,-1 2 0 15,-2 1-160-15,1-1 0 0,0-6 0 0,2 4 0 16,1 3 0-16,2-3 0 0,1-2 0 0,4 1 0 16,2 0 0-16,-1 3 0 0,-1 0 0 0,3 1 0 0,10-4 0 15,-13 3 0-15,0-3 0 0,13 0 0 0,0 0 0 0,0 0-144 16,0 0 144-16,0 0-208 15,0 0-304-15,0 0-64 0,0 0-16 0,0 0 0 16,0 0-1504-16,15 3-288 0,1 2-64 0,1 0-16 16</inkml:trace>
          <inkml:trace contextRef="#ctx0" brushRef="#br0" timeOffset="1178.8971">990 38 2751 0,'0'0'256'0,"0"0"-256"0,0 0 0 0,0 0 0 0,0 0 1712 0,-5-10 288 15,5 10 64-15,0 0 16 0,-3-11-1216 0,3 11-240 16,0-10-48-16,0 0-16 0,0-1 176 0,0 11 32 16,5-14 16-16,0 6 0 0,-5 8 512 0,0 0 112 15,6-8 0-15,1-4 16 0,-1-1-144 0,-6 13-48 16,0 0 0-16,12-6 0 0,-2-4-464 0,0 0-112 16,-1 4-16-16,-9 6 0 0,15 0-272 0,0-2-64 15,-2-3-16-15,0 0 0 0,0 2-32 0,0 3 0 16,-13 0 0-16,18 3 0 0,4-3 32 0,-4 0 0 15,-3 0 0-15,-1 3 0 0,1 2 64 0,3 0 16 16,4-2 0-16,-6 2 0 0,-16-5-144 0,13 10-32 0,-1 0 0 16,1 3 0-16,2 0-192 0,-1 0 144 0,-1 2-144 0,-3-2 128 15,-3-1-128-15,1 1 0 0,4 0 0 0,-4 0 128 16,-5 0-128-16,-3 4 0 0,-2 1 0 0,1-2 0 16,1-3 0-16,-5 1 0 0,-7 0 128 0,2 1-128 15,2-2 160-15,0 0-160 0,-3-1 192 0,-1 4-192 16,-1 4 128-16,0-2-128 0,-2-3 0 0,0 1 0 15,1-1 0-15,-3 1 0 0,-1 1 0 0,0-1 0 16,-2-1 0-16,1-2 0 0,-1-1 0 0,3-3 0 16,3 0 0-16,1-1 0 0,-1 0 0 0,1-1 0 15,2-2 0-15,-1 1 0 0,1 2 0 0,1-1 0 16,10-7 0-16,-11 3 0 0,11-3 128 0,0 0-128 16,0 0 128-16,0 0-128 0,0 0 144 0,0 0-144 0,0 0 256 0,0 0-32 15,-4-10-16-15,4 10 0 0,0 0-16 0,0 0 0 16,8-10 0-16,2 1 0 0,0-3-64 0,2 4-128 15,1 1 176-15,0 1-176 0,0-2 160 0,2 3-160 16,1 5 128-16,2 0-128 0,2-5 0 0,1 1 128 16,2 3-128-16,-1-1 0 0,-4-1 0 0,3 0 0 15,4 4 0-15,1-1 0 0,-2-1 0 0,-1 5 0 16,-1 6 0-16,-3-5 0 16,0-8-544-16,-3 3-32 0,-3 3-16 0,0 2-14496 0</inkml:trace>
        </inkml:traceGroup>
      </inkml:traceGroup>
    </inkml:traceGroup>
  </inkml:traceGroup>
</inkml:ink>
</file>

<file path=ppt/ink/ink7.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2-17T02:07:58.794"/>
    </inkml:context>
    <inkml:brush xml:id="br0">
      <inkml:brushProperty name="width" value="0.13333" units="cm"/>
      <inkml:brushProperty name="height" value="0.13333" units="cm"/>
      <inkml:brushProperty name="color" value="#ED1C24"/>
      <inkml:brushProperty name="fitToCurve" value="1"/>
    </inkml:brush>
  </inkml:definitions>
  <inkml:traceGroup>
    <inkml:annotationXML>
      <emma:emma xmlns:emma="http://www.w3.org/2003/04/emma" version="1.0">
        <emma:interpretation id="{2C812183-C9CC-44D8-A20C-10A8AE98FED4}" emma:medium="tactile" emma:mode="ink">
          <msink:context xmlns:msink="http://schemas.microsoft.com/ink/2010/main" type="inkDrawing" rotatedBoundingBox="7590,8159 7610,8255 7570,8264 7550,8167" semanticType="underline" shapeName="Other">
            <msink:sourceLink direction="with" ref="{3DBB7E13-2535-4DE7-8EB9-8EA80C1872EF}"/>
          </msink:context>
        </emma:interpretation>
      </emma:emma>
    </inkml:annotationXML>
    <inkml:trace contextRef="#ctx0" brushRef="#br0">52 97 4607 0,'0'0'400'0,"0"0"-400"0,0 0 0 0,0 0 0 16,-11 0 6464-16,11 0 1200 0,-14-5 240 0,5 0 48 15,0 0-6032-15,9 5-1216 0,-3-11-256 0,1-1-32 31,-1-4-864-31,3 5-160 0,0 11-32 0,0 0-16 0,7-10-2544 16,4 0-512-16,4-2-112 0</inkml:trace>
  </inkml:traceGroup>
</inkml:ink>
</file>

<file path=ppt/ink/ink8.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2-17T02:17:00.576"/>
    </inkml:context>
    <inkml:brush xml:id="br0">
      <inkml:brushProperty name="width" value="0.13333" units="cm"/>
      <inkml:brushProperty name="height" value="0.13333" units="cm"/>
      <inkml:brushProperty name="color" value="#177D36"/>
      <inkml:brushProperty name="fitToCurve" value="1"/>
    </inkml:brush>
  </inkml:definitions>
  <inkml:traceGroup>
    <inkml:annotationXML>
      <emma:emma xmlns:emma="http://www.w3.org/2003/04/emma" version="1.0">
        <emma:interpretation id="{760BF76B-8783-4DD5-9B9B-0556F7C72AB6}" emma:medium="tactile" emma:mode="ink">
          <msink:context xmlns:msink="http://schemas.microsoft.com/ink/2010/main" type="inkDrawing" rotatedBoundingBox="-1174,13472 1983,2316 9910,4560 6751,15716" hotPoints="9283,8987 4266,14004 -750,8987 4266,3970" semanticType="enclosure" shapeName="Circle"/>
        </emma:interpretation>
      </emma:emma>
    </inkml:annotationXML>
    <inkml:trace contextRef="#ctx0" brushRef="#br0">6744 1501 911 0,'0'0'0'0,"0"0"0"0,-2-11 0 0,2 1 0 0,0 10 0 0,0-12 0 15,-1-4 2944-15,1 3 496 0,0 0 96 0,-2 0 32 16,-3 1-1936-16,2 1-384 0,3-1-80 0,-2 1-16 16,-3-3-384-16,0-2-64 0,1 1-32 0,0 0 0 15,1 1-352-15,-4-3-64 0,-6 1 0 0,2-1-16 16,1-1-80-16,-2-3-16 0,-1-2 0 0,-3 0 0 16,-2 3 48-16,0-1 0 0,-2-4 0 0,-1-1 0 15,-2-2 160-15,1 2 32 0,1 5 16 0,0-6 0 16,-1-4 208-16,1-2 32 0,-2 2 16 0,0 3 0 15,-3 4-64-15,1-3-16 0,1-4 0 0,-3 5 0 0,-2 5 0 0,-2-2-16 16,-5-4 0-16,3 3 0 16,2-1-48-16,-2 2 0 0,-5 0 0 0,0-3 0 0,-1-4-128 0,-1 3-48 15,-2 2 0-15,1 0 0 0,1 1-80 0,-1-3 0 16,-3-2-16-16,1 4 0 0,1 2-80 0,-3 0-16 16,1 0 0-16,-4 0 0 0,-2 0-144 0,2 2 0 15,2 1 144-15,-2 4-144 0,1 1 0 0,1-1 0 16,0-2 0-16,0 5 0 0,-2 3 144 0,1 2-144 15,-1-4 192-15,1 1-192 0,-1 1 240 0,0 3-64 16,-1 1-16-16,-3-1 0 0,-4 0-160 0,0 3 192 16,0-1-192-16,2 1 192 0,2 1-192 0,-1 0 0 15,2-1 0-15,0 4 0 0,-1 4 0 0,1-1 0 16,0-3 0-16,-2 5 0 0,-2 3 0 0,2 0 0 16,6 1 144-16,-1-1-144 0,-1 2 192 0,1 1-48 0,2 2 0 15,-3 2 0-15,1 0 48 0,-1 0 0 0,0-2 0 16,0 3 0-16,1 2-192 0,-1 0 0 0,-4-1 0 0,1 1 0 15,1 1 0-15,0 6 0 0,2 3 0 0,1-5 0 16,1-3 0-16,-1 1 128 0,-1 2-128 0,-2 3 0 16,0-1 128-16,-2-1-128 0,1 3 128 0,1 1-128 15,0-1 144-15,2 3-144 0,0 1 160 0,1 2-160 16,2-3 176-16,0 2-176 0,0 3 192 0,-1 3-192 16,1 1 208-16,-2-1-64 0,-3-2-16 0,4 3 0 15,4 6 16-15,-3-3 0 0,-5-2 0 0,2 1 0 16,-2 5-144-16,5-4 160 0,3 1-160 0,2-2 160 15,2-2-160-15,0 1 128 0,-4 4-128 0,2 0 128 0,0 4-128 16,0 0 0-16,-4-4 0 0,4 3 128 0,5 6-128 16,-3-2 128-16,-2-2-128 0,3 0 128 0,4-1-128 15,-1 4 0-15,2 3 0 0,2-3 128 0,0 1-128 16,0 2 0-16,1 8 0 0,2-2 128 0,0-4-128 0,1-1 0 16,-3 0 0-16,2-2 0 0,0 0 0 0,-1 2 0 15,-4-2 128-15,3 2-128 0,6-2 0 0,-3 3 0 16,0 6 144-16,2-4-144 0,2-3 128 0,0-2-128 15,-3 3 160-15,3 1-160 0,1-1 160 0,3-3-160 16,1-1 160-16,-2 3-160 0,-1 4 0 0,3 4 128 16,0 4-128-16,1-4 0 0,2-2 0 0,1-3 128 15,-3 2-128-15,2-2 0 0,2 2 128 0,0-1-128 16,0-1 0-16,1 9 0 0,1 5 128 0,1-4-128 16,0-5 0-16,2-1 144 0,2-6-144 0,-1 4 0 0,-3 1 0 0,2 2 0 15,1 2 128-15,-1 1-128 0,0-1 128 16,0 3-128-16,0 3 0 0,-2-3 0 0,0-3 0 0,2-1 0 15,-1 1 192-15,3 3-64 0,-2 1 0 0,-1 3 0 16,3-4-128-16,-1 1 0 0,-1 4 0 0,2-3 0 16,-3-7 0-16,4 5 208 0,4 1-48 0,-4-1-16 15,-3-3-144-15,-1 3 0 0,5 3 0 0,0-2 0 16,1-1 128-16,0 0 0 0,-4 0 0 0,-1 0 0 16,-2 2-128-16,2-1 0 0,1 3 0 0,2 0 0 15,0 0 0-15,1-1 0 0,-1-2 0 0,1 1 0 16,1-2 0-16,0-2 0 0,-1-3 0 0,3 3 0 15,1 7 0-15,1-3 128 0,-1-5-128 0,4-1 0 16,1-1 0-16,3 0 0 0,0 0 128 0,0 0-128 16,0 0 0-16,1 0 0 0,-3 2 0 0,6 1 0 0,1 0 0 15,2-1 0-15,-2-2 128 0,2-5-128 0,1-3 0 0,0-2 192 16,1 2-192-16,2 0 192 0,3 0-192 0,-2 1 0 16,-4 4 0-16,4-2 0 0,1-2 0 0,0-1 0 15,1-5 0-15,1 0 128 0,0-2-128 0,0 0 0 16,-2-1 144-16,4 3-144 0,1 3 0 0,3 0 0 15,2 0 0-15,-1-1 0 0,-5-2 0 0,3 1 0 16,1 1 0-16,1-1 0 0,-1-1 0 0,2-5 0 16,2-5 0-16,2 5-128 0,-3 5 128 0,1 0 0 15,0-4 0-15,2 3 0 0,1 2 0 0,0-6-160 16,0-5 160-16,0 0-208 0,0 0 208 0,2 4 0 16,0 1 0-16,-1-4 0 0,-2-2 0 0,3-3 0 15,3 1 0-15,-2-2 0 0,-1-3 0 0,-2 3 0 0,-2 5 192 16,-1-1-192-16,0-1 0 0,0 0 0 0,0 2 0 15,-1-3 0-15,-2-3 128 0,1-3-128 0,2-4 0 0,3 2 0 16,0-2 0-16,5-2 0 0,4-5 0 0,-1 2-144 16,0 2 144-16,1-2 0 0,-4-2 0 0,3-1 128 15,0-4-128-15,2 4 144 0,-2 1-144 0,2-4 160 16,2-4-160-16,1 3 0 0,2 4 144 0,0 1-144 16,3-4 0-16,2 1 144 0,3 2-144 0,0-1 0 15,0-1 192-15,-3 2-192 0,-3 0 192 0,-1-4-192 16,-1-8 128-16,1 0-128 0,4-1 0 0,2 0 0 15,-1-1 0-15,2 2 0 0,0-3 0 0,4 0 0 16,1 3 160-16,0-3-160 0,-2 0 128 0,0-1-128 16,1-3 0-16,1 1 0 0,0-4 0 0,1-3 0 15,1-5 128-15,0 2-128 0,-2 7 128 0,0-6-128 0,0-3 128 16,-5-1-128-16,-2-1 0 0,1-1 128 0,2-2-128 0,6 1 0 16,3-1 144-16,2 0-144 0,-1-1 0 0,-1-1 0 15,-2-1 0-15,-3 0 128 0,-3 2-128 0,-2-4 0 16,0-5 0-16,0 4 0 0,2 0 0 0,2-4 144 15,-1-3-144-15,2 0 0 0,-2 0 176 0,-1 0-176 16,-4 2 160-16,-1-5-160 0,-2-3 0 0,1-1 0 16,0-1 0-16,3-5 0 0,-1-7 0 0,1 4 0 15,-4 3 0-15,5-5 0 0,3-7 0 0,-3-1 0 16,-4 0 0-16,-1 3 0 0,-2 2 128 0,-1 0-128 16,-2-4 0-16,1-1 144 0,-3 2-144 0,1-4 0 15,-1-2 0-15,-2 1 0 0,-4-1 0 0,-2-2 0 16,2-3 0-16,-1 6 0 0,-1 4 0 0,-1-6 128 0,-4-6-128 0,1-3 192 15,-4 1-192-15,0 1-144 0,-1 1 144 0,1 6-208 16,2 1 208-16,1-1 0 0,-1-2 0 0,-2 2 0 16,-1-1 0-16,-1-3 192 0,-1-6-64 0,2 2-128 15,-1-2 224-15,1 2-64 0,-4 0-16 0,0 3 0 16,-1-2-16-16,-1 2 0 0,1 0 0 0,-2-3 0 16,-3-6-128-16,1 3 192 0,0 1-192 0,2 0 192 15,-1 3-192-15,-1 2 192 0,-1 0-192 0,-1-1 192 16,1 4-32-16,-2-5 0 0,0-3 0 0,-1 0 0 15,-3-1 48-15,1 3 16 0,-2-1 0 0,2 4 0 16,3 2-64-16,-2-2-16 0,-6-3 0 0,0-2 0 16,2-4-144-16,-1 0 0 0,-3-5 144 0,1 6-144 15,-1 3 0-15,3 4 0 0,4 1 0 0,-5-2 0 0,-5-1 0 16,1-1 0-16,4 1 0 0,-5 0 0 0,-2-2 0 16,7 3 128-16,2 1-128 0,-4 2 0 0,-5 4 0 0,-1-2 144 15,-4-4-144-15,1 1 0 0,-1 3 128 0,2-1-128 16,0-11 0-16,0 8 0 0,0 4 0 0,2 0 0 15,1-4 0-15,-1 4 0 0,-2 5 0 0,3-1 0 16,0-7 0-16,-1 3 0 0,-1 2 0 0,-1 1 0 16,-1 3 0-16,1-4 0 0,0-2 0 0,-2 3 0 15,-1 1 0-15,-2 1 0 0,-2-5 0 0,2 1 0 16,0-4 0-16,-4 1 0 0,-8 3 0 0,2-1 0 16,4-3 0-16,-2 3-144 0,-4 4 144 0,-1 4-160 15,0 2 160-15,4-3-160 0,-1 0 160 0,0 1 0 0,0 1 0 0,0 1-128 16,1 0 128-16,-1 2 0 0,0 1 0 15,2 6 0-15,0 1 0 0,0 1 0 0,0 4 0 16,-1-2 128-16,3 1-128 0,0-1 0 0,-1 2 0 0,-1-4 128 16,0-2-128-16,-2-4 0 0,0-2 0 0,0 2 0 15,1 4 0-15,-1-1 0 0,0 3 0 0,0 3 0 16,2-1 0-16,-3 2 0 0,-4 1 0 0,4 1 0 16,1-1 0-16,0 1 0 0,-1 0 0 0,-1-1 0 15,1-1 0-15,1 1 0 0,0 1 0 0,4 1 0 16,1 2 0-16,-1-5 0 0,-1-3 0 0,-1 1 0 15,-2 5 0-15,0 3 0 0,2 1 0 0,0-1 0 16,-3-1 0-16,1 2 0 0,2 2 0 0,-2 1 0 16,-1 1 0-16,3 1 0 0,1-1 0 0,2 4 0 15,-1 0 0-15,-1 1 0 0,1 0 0 0,1 0 0 0,0-1 0 0,-1 0 0 16,-3 3 0-16,3-2-128 0,-1-1 128 16,1-1 0-16,-2 3-144 0,1-3 144 0,-1-1 0 0,2-1-144 15,-1-4 144-15,-1 3 0 0,0 4-144 0,-2-2 144 16,-1 0 0-16,-1-2-144 0,-1 1 144 0,-1-1-160 15,-1 2 160-15,-1 2-160 0,-2-2 32 0,0 1 0 16,-4 3 0-16,-1-1 0 16,-1-3-304-16,-2 0-48 0,-2 3-16 0,-6 2 0 15,-9 0-2064-15,-5-1-432 0,-2-3-80 0</inkml:trace>
  </inkml:traceGroup>
</inkml:ink>
</file>

<file path=ppt/ink/ink9.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2-17T02:28:49.357"/>
    </inkml:context>
    <inkml:brush xml:id="br0">
      <inkml:brushProperty name="width" value="0.13333" units="cm"/>
      <inkml:brushProperty name="height" value="0.13333" units="cm"/>
      <inkml:brushProperty name="color" value="#177D36"/>
      <inkml:brushProperty name="fitToCurve" value="1"/>
    </inkml:brush>
  </inkml:definitions>
  <inkml:traceGroup>
    <inkml:annotationXML>
      <emma:emma xmlns:emma="http://www.w3.org/2003/04/emma" version="1.0">
        <emma:interpretation id="{58E59E32-B59B-49E6-AA9E-8804E9AB8DCC}" emma:medium="tactile" emma:mode="ink">
          <msink:context xmlns:msink="http://schemas.microsoft.com/ink/2010/main" type="inkDrawing" rotatedBoundingBox="6662,12306 9527,3876 15452,5889 12587,14319" hotPoints="14487,9249 10784,12952 7080,9249 10784,5546" semanticType="enclosure" shapeName="Circle"/>
        </emma:interpretation>
      </emma:emma>
    </inkml:annotationXML>
    <inkml:trace contextRef="#ctx0" brushRef="#br0">5013 607 26207 0,'5'-17'1152'0,"-3"6"256"0,-4-2-1136 0,-1-5-272 0,-5-5 0 0,0-2 0 15,-2-5 0-15,3 6 0 0,1 1-176 0,-3 2 176 16,-2-2 240-16,-1 5 144 0,3 4 48 0,-1 0 0 16,-3-6-288-16,-2 0-144 0,-3 2 160 0,-2 3-160 15,0-1 192-15,2 3-48 0,4 1-16 0,-9-2 0 0,-9-4 320 0,0 0 48 16,-6 1 16-16,-2 4 0 0,-1 3-256 0,-1-3-32 16,-1 2-16-16,-1-3 0 0,-4 0-208 0,-3-1 176 15,-3-2-176-15,-2 4 160 0,-4 3-160 0,-3 2 0 16,-2 0 144-16,-1 1-144 0,2 3 368 0,3 4 0 15,0 3 0-15,1 0 0 0,-1-1-48 0,-1 3 0 16,-4 1 0-16,5 6 0 0,5 1 128 0,1 3 32 16,-3 4 0-16,1 0 0 0,-2-4-96 0,3 2 0 15,0 2-16-15,-1 3 0 0,-2 3-208 0,-2 0-32 16,-3-3-128-16,1 4 192 0,1-1-192 0,1 5 128 16,-1-1-128-16,3 2 0 0,1 3 128 0,3 3-128 0,-4-1 0 0,1 1 0 15,-1-2 160-15,2 2-160 0,-1 0 160 0,1 1-160 16,3-1 160-16,-1 4-160 0,0 1 160 0,4 1-160 15,1 1 192-15,3-1-48 0,1 0-16 0,0 4 0 16,-2 3-128-16,-1 1 0 0,-2 3 0 0,4 2 0 16,4 4 0-16,-1-1 0 0,-4 0 0 0,-1-5 0 15,4 0 0-15,4-1 0 0,4 1 0 0,-1 6 0 16,-1 6 0-16,2 1 0 0,3-4 128 0,1-2-128 16,0 1 128-16,-1-1-128 0,-2 0 128 0,-2 1-128 15,-1-1 176-15,4 5-48 0,6 7-128 0,-3-2 192 16,-4-1-48-16,2-2-16 0,-1-3 0 0,1 4 0 15,-2 6 0-15,1-1 0 0,4 1 0 0,0 1 0 16,0 1-128-16,3-2 0 0,0-4 0 0,0-1 128 16,2-2-128-16,1 1 0 0,1 1 0 0,1-1 0 0,-2-6 0 15,0 9 0-15,2 5 0 0,4 0 0 0,-1-5 0 0,2 1 0 16,0 2 0-16,2-1 0 0,-1 2 0 0,4-1 0 16,3 1 0-16,-1 0 128 0,-3 2-128 0,6 1 0 15,3-2 0-15,0-1 0 0,-3 0 0 0,3 0 0 16,7 2 0-16,0 1 0 0,-4 2 0 0,4-3 0 15,3-2 0-15,1-1 0 0,6-1 0 0,-1 2 0 16,1-5 0-16,2 6 0 0,3 5 0 0,-2-4 0 16,-2-3 0-16,3-4 0 0,2-3 0 0,0 0 0 15,0 1 0-15,0 4 0 0,2 7 0 0,0-3 0 16,-1-1 0-16,3-3 0 0,1-3 0 0,1-5 128 16,1-6-128-16,1 3 128 0,-1 2-128 0,1 4 0 15,7 0 144-15,0-2-144 0,0-7 0 0,3-3 0 0,3-1 0 0,4-4 0 16,-1 1 0-16,4-2-208 0,7-2 48 0,1 2 16 15,2-2 144-15,0 8-128 0,-1 3 128 0,6 0-128 16,3-6 128-16,3-1 0 0,4-2 0 0,-2 0 128 16,0-5 0-16,0-2 0 0,0-3 0 0,-4-3 0 15,-4-2 64-15,-2 0 0 0,0 0 16 0,4-1 0 16,2-4-208-16,-1-3 0 0,-1-5 128 0,1-2-128 16,3-1 0-16,0-4 176 0,-3-4-176 0,4 2 160 15,0 6-32-15,5-7 0 0,4-11 0 0,2 1 0 16,-1 4 0-16,1-1-128 0,0-3 192 0,-2-6-64 15,-3-8-128-15,3-1 160 0,4 2-160 0,-1-9 160 16,-1-11-160-16,3 1 0 0,3-1 0 0,-4-4 0 16,-4-3-144-16,1 5 144 0,8 0 0 0,-2 0 0 15,-1-8-160-15,-1 3 160 0,-1-5-128 0,-3 3 128 0,0 1 0 16,-1-4 0-16,2-4 0 0,-4-4-128 0,-4-4 128 0,6 2 0 16,6-1 128-16,-5-1-128 0,-9-7 0 0,-2 2 144 15,-5 0-144-15,-1-3 0 0,-4-1 192 0,2-4-64 16,1-5 0-16,-1-2-128 0,-2-3 0 0,-3 0 0 15,4-2 0-15,-6 4 0 0,1-3 0 0,-6-2 0 16,1-7 0-16,-5-3 0 0,-1-1 0 0,-2 3 0 16,-1 1 0-16,2 0 0 0,-3-2 0 0,0-1 0 15,1 0 128-15,-6-4-128 0,-7-3 128 0,-5 4-128 16,1 3 144-16,-1-1-144 0,-1 1 0 0,1-5 0 16,-1-5 0-16,-4 3-160 0,1 3 160 0,-8 2 0 15,-4 5-144-15,0-6 144 0,2-9 0 0,-4 2 0 16,-3 3 0-16,-2 2 0 0,1 0-128 0,1 3 128 0,-2 2 0 15,-1-1 0-15,-4-2 0 0,-1 4 0 0,-2 5 0 16,2 1 0-16,2-6 128 0,1-1 0 0,-4-2 0 0,0 0 0 16,-3 3-128-16,-1 2 0 0,0 2 144 0,0 5-144 15,0 2 160-15,1 1-32 0,1-1-128 0,-1-1 192 16,-6 0-64-16,2 5-128 0,-1 5 176 0,1-1-176 16,-2-4 144-16,-2 2-144 0,0 1 0 0,4 2 144 15,4-3-144-15,1 3 0 0,-4 3 0 0,2 6 0 16,0 4 0-16,1 2 0 0,1 1 0 0,1 1 128 15,-3 2-128-15,0 1 192 0,0-2-192 0,-2 0 192 16,-1 0-192-16,1 1 0 0,0-5 144 0,-3 5-144 16,-3 0 0-16,-1 3 0 0,3-3 0 0,-6 3 128 0,-3 3-128 0,-2-1 0 15,-1 1 0-15,0 1 0 0,-2 2 752 0,0 5 176 16,-3 3 32-16,5-1 16 16,-2-1-1600-16,-1-2-320 0,-2-3-64 0,0 4-16 0,-2 7 752 0,-1-3 144 15,-4-4 128-15,2 2-192 0,1 3-80 0,1-2-32 16,-2-3 0-16,0-2 0 15,-2-3-2224-15,6-3-448 0,-11-22-96 0,10 0 0 0</inkml:trace>
  </inkml:traceGroup>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D9ECE-6E8A-4293-B5A7-2EC6D0B46D79}" type="datetimeFigureOut">
              <a:rPr lang="en-AU" smtClean="0"/>
              <a:t>23/02/2021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904848-C657-4BED-B173-7BF4AB7B8618}" type="slidenum">
              <a:rPr lang="en-AU" smtClean="0"/>
              <a:t>‹#›</a:t>
            </a:fld>
            <a:endParaRPr lang="en-AU"/>
          </a:p>
        </p:txBody>
      </p:sp>
    </p:spTree>
    <p:extLst>
      <p:ext uri="{BB962C8B-B14F-4D97-AF65-F5344CB8AC3E}">
        <p14:creationId xmlns:p14="http://schemas.microsoft.com/office/powerpoint/2010/main" val="1304415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70E82941-8845-4B62-906A-560EFBA418AD}" type="slidenum">
              <a:rPr lang="en-AU" smtClean="0"/>
              <a:t>3</a:t>
            </a:fld>
            <a:endParaRPr lang="en-AU"/>
          </a:p>
        </p:txBody>
      </p:sp>
    </p:spTree>
    <p:extLst>
      <p:ext uri="{BB962C8B-B14F-4D97-AF65-F5344CB8AC3E}">
        <p14:creationId xmlns:p14="http://schemas.microsoft.com/office/powerpoint/2010/main" val="2102916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70E82941-8845-4B62-906A-560EFBA418AD}" type="slidenum">
              <a:rPr lang="en-AU" smtClean="0"/>
              <a:t>4</a:t>
            </a:fld>
            <a:endParaRPr lang="en-AU"/>
          </a:p>
        </p:txBody>
      </p:sp>
    </p:spTree>
    <p:extLst>
      <p:ext uri="{BB962C8B-B14F-4D97-AF65-F5344CB8AC3E}">
        <p14:creationId xmlns:p14="http://schemas.microsoft.com/office/powerpoint/2010/main" val="980652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70E82941-8845-4B62-906A-560EFBA418AD}" type="slidenum">
              <a:rPr lang="en-AU" smtClean="0"/>
              <a:t>5</a:t>
            </a:fld>
            <a:endParaRPr lang="en-AU"/>
          </a:p>
        </p:txBody>
      </p:sp>
    </p:spTree>
    <p:extLst>
      <p:ext uri="{BB962C8B-B14F-4D97-AF65-F5344CB8AC3E}">
        <p14:creationId xmlns:p14="http://schemas.microsoft.com/office/powerpoint/2010/main" val="223756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70E82941-8845-4B62-906A-560EFBA418AD}" type="slidenum">
              <a:rPr lang="en-AU" smtClean="0"/>
              <a:t>6</a:t>
            </a:fld>
            <a:endParaRPr lang="en-AU"/>
          </a:p>
        </p:txBody>
      </p:sp>
    </p:spTree>
    <p:extLst>
      <p:ext uri="{BB962C8B-B14F-4D97-AF65-F5344CB8AC3E}">
        <p14:creationId xmlns:p14="http://schemas.microsoft.com/office/powerpoint/2010/main" val="1053116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70E82941-8845-4B62-906A-560EFBA418AD}" type="slidenum">
              <a:rPr lang="en-AU" smtClean="0"/>
              <a:t>7</a:t>
            </a:fld>
            <a:endParaRPr lang="en-AU"/>
          </a:p>
        </p:txBody>
      </p:sp>
    </p:spTree>
    <p:extLst>
      <p:ext uri="{BB962C8B-B14F-4D97-AF65-F5344CB8AC3E}">
        <p14:creationId xmlns:p14="http://schemas.microsoft.com/office/powerpoint/2010/main" val="2123966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23/02/2021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63533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23/02/2021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6142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10A132-FF45-4605-9BB8-80702934D916}" type="datetimeFigureOut">
              <a:rPr lang="en-AU" smtClean="0"/>
              <a:t>23/02/2021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51900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E10A132-FF45-4605-9BB8-80702934D916}" type="datetimeFigureOut">
              <a:rPr lang="en-AU" smtClean="0"/>
              <a:t>23/02/2021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212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E10A132-FF45-4605-9BB8-80702934D916}" type="datetimeFigureOut">
              <a:rPr lang="en-AU" smtClean="0"/>
              <a:t>23/02/2021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38066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E10A132-FF45-4605-9BB8-80702934D916}" type="datetimeFigureOut">
              <a:rPr lang="en-AU" smtClean="0"/>
              <a:t>23/02/2021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1696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A132-FF45-4605-9BB8-80702934D916}" type="datetimeFigureOut">
              <a:rPr lang="en-AU" smtClean="0"/>
              <a:t>23/02/2021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27402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23/02/2021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1824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23/02/2021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42692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23/02/2021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4930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23/02/2021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401019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0A132-FF45-4605-9BB8-80702934D916}" type="datetimeFigureOut">
              <a:rPr lang="en-AU" smtClean="0"/>
              <a:t>23/02/2021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E3931-47A2-415E-8FB2-549750A36BAE}" type="slidenum">
              <a:rPr lang="en-AU" smtClean="0"/>
              <a:t>‹#›</a:t>
            </a:fld>
            <a:endParaRPr lang="en-AU"/>
          </a:p>
        </p:txBody>
      </p:sp>
    </p:spTree>
    <p:extLst>
      <p:ext uri="{BB962C8B-B14F-4D97-AF65-F5344CB8AC3E}">
        <p14:creationId xmlns:p14="http://schemas.microsoft.com/office/powerpoint/2010/main" val="18621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customXml" Target="../ink/ink6.xml"/><Relationship Id="rId18" Type="http://schemas.openxmlformats.org/officeDocument/2006/relationships/image" Target="../media/image12.emf"/><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9.emf"/><Relationship Id="rId17" Type="http://schemas.openxmlformats.org/officeDocument/2006/relationships/customXml" Target="../ink/ink8.xml"/><Relationship Id="rId2" Type="http://schemas.openxmlformats.org/officeDocument/2006/relationships/image" Target="../media/image17.png"/><Relationship Id="rId16" Type="http://schemas.openxmlformats.org/officeDocument/2006/relationships/image" Target="../media/image11.emf"/><Relationship Id="rId1" Type="http://schemas.openxmlformats.org/officeDocument/2006/relationships/slideLayout" Target="../slideLayouts/slideLayout1.xml"/><Relationship Id="rId6" Type="http://schemas.openxmlformats.org/officeDocument/2006/relationships/image" Target="../media/image6.emf"/><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8.emf"/><Relationship Id="rId4" Type="http://schemas.openxmlformats.org/officeDocument/2006/relationships/image" Target="../media/image5.emf"/><Relationship Id="rId9" Type="http://schemas.openxmlformats.org/officeDocument/2006/relationships/customXml" Target="../ink/ink4.xml"/><Relationship Id="rId14" Type="http://schemas.openxmlformats.org/officeDocument/2006/relationships/image" Target="../media/image10.emf"/></Relationships>
</file>

<file path=ppt/slides/_rels/slide15.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7.emf"/><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customXml" Target="../ink/ink9.xml"/><Relationship Id="rId5" Type="http://schemas.openxmlformats.org/officeDocument/2006/relationships/image" Target="../media/image16.png"/><Relationship Id="rId4" Type="http://schemas.openxmlformats.org/officeDocument/2006/relationships/image" Target="../media/image1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Exercise 5A – Wages and Salary </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901987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 y="0"/>
            <a:ext cx="2692713" cy="584775"/>
          </a:xfrm>
          <a:prstGeom prst="homePlate">
            <a:avLst/>
          </a:prstGeom>
          <a:solidFill>
            <a:schemeClr val="accent5">
              <a:lumMod val="50000"/>
            </a:schemeClr>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Daily Review</a:t>
            </a:r>
            <a:endParaRPr lang="en-AU" sz="3200" dirty="0"/>
          </a:p>
        </p:txBody>
      </p:sp>
      <p:sp>
        <p:nvSpPr>
          <p:cNvPr id="2" name="TextBox 1"/>
          <p:cNvSpPr txBox="1"/>
          <p:nvPr/>
        </p:nvSpPr>
        <p:spPr>
          <a:xfrm>
            <a:off x="230002" y="768545"/>
            <a:ext cx="6260555" cy="1384995"/>
          </a:xfrm>
          <a:prstGeom prst="rect">
            <a:avLst/>
          </a:prstGeom>
          <a:noFill/>
        </p:spPr>
        <p:txBody>
          <a:bodyPr wrap="square" rtlCol="0">
            <a:spAutoFit/>
          </a:bodyPr>
          <a:lstStyle/>
          <a:p>
            <a:r>
              <a:rPr lang="en-AU" sz="2800" b="1" dirty="0" smtClean="0">
                <a:solidFill>
                  <a:srgbClr val="FF0000"/>
                </a:solidFill>
              </a:rPr>
              <a:t>Wages: </a:t>
            </a:r>
            <a:r>
              <a:rPr lang="en-AU" sz="2800" b="1" dirty="0" smtClean="0"/>
              <a:t>Hourly rate of pay. Extra work may be paid as overtime at penalty rates (time-and-a-half, double time).</a:t>
            </a:r>
            <a:endParaRPr lang="en-AU" sz="2800" b="1" dirty="0"/>
          </a:p>
        </p:txBody>
      </p:sp>
      <p:sp>
        <p:nvSpPr>
          <p:cNvPr id="13" name="TextBox 12"/>
          <p:cNvSpPr txBox="1"/>
          <p:nvPr/>
        </p:nvSpPr>
        <p:spPr>
          <a:xfrm>
            <a:off x="230002" y="2441205"/>
            <a:ext cx="6260555" cy="1384995"/>
          </a:xfrm>
          <a:prstGeom prst="rect">
            <a:avLst/>
          </a:prstGeom>
          <a:noFill/>
        </p:spPr>
        <p:txBody>
          <a:bodyPr wrap="square" rtlCol="0">
            <a:spAutoFit/>
          </a:bodyPr>
          <a:lstStyle/>
          <a:p>
            <a:r>
              <a:rPr lang="en-AU" sz="2800" b="1" dirty="0" smtClean="0">
                <a:solidFill>
                  <a:srgbClr val="FF0000"/>
                </a:solidFill>
              </a:rPr>
              <a:t>Salary: </a:t>
            </a:r>
            <a:r>
              <a:rPr lang="en-AU" sz="2800" b="1" dirty="0" smtClean="0"/>
              <a:t>Weekly, monthly or annual rate of pay. Overtime not usually paid; time off may be given instead.</a:t>
            </a:r>
            <a:endParaRPr lang="en-AU" sz="2800" b="1" dirty="0"/>
          </a:p>
        </p:txBody>
      </p:sp>
      <p:sp>
        <p:nvSpPr>
          <p:cNvPr id="15" name="TextBox 14"/>
          <p:cNvSpPr txBox="1"/>
          <p:nvPr/>
        </p:nvSpPr>
        <p:spPr>
          <a:xfrm>
            <a:off x="230002" y="4113865"/>
            <a:ext cx="6260555" cy="1384995"/>
          </a:xfrm>
          <a:prstGeom prst="rect">
            <a:avLst/>
          </a:prstGeom>
          <a:noFill/>
        </p:spPr>
        <p:txBody>
          <a:bodyPr wrap="square" rtlCol="0">
            <a:spAutoFit/>
          </a:bodyPr>
          <a:lstStyle/>
          <a:p>
            <a:r>
              <a:rPr lang="en-AU" sz="2800" b="1" dirty="0" smtClean="0">
                <a:solidFill>
                  <a:srgbClr val="FF0000"/>
                </a:solidFill>
              </a:rPr>
              <a:t>Commission: </a:t>
            </a:r>
            <a:r>
              <a:rPr lang="en-AU" sz="2800" b="1" dirty="0" smtClean="0"/>
              <a:t>Retainer or flat fee plus percentage of the value of sales made, or a certain amount of every sale.</a:t>
            </a:r>
            <a:endParaRPr lang="en-AU" sz="2800" b="1" dirty="0"/>
          </a:p>
        </p:txBody>
      </p:sp>
      <p:sp>
        <p:nvSpPr>
          <p:cNvPr id="16" name="TextBox 15"/>
          <p:cNvSpPr txBox="1"/>
          <p:nvPr/>
        </p:nvSpPr>
        <p:spPr>
          <a:xfrm>
            <a:off x="230002" y="5907560"/>
            <a:ext cx="6260555" cy="523220"/>
          </a:xfrm>
          <a:prstGeom prst="rect">
            <a:avLst/>
          </a:prstGeom>
          <a:noFill/>
        </p:spPr>
        <p:txBody>
          <a:bodyPr wrap="square" rtlCol="0">
            <a:spAutoFit/>
          </a:bodyPr>
          <a:lstStyle/>
          <a:p>
            <a:r>
              <a:rPr lang="en-AU" sz="2800" b="1" dirty="0" smtClean="0">
                <a:solidFill>
                  <a:srgbClr val="FF0000"/>
                </a:solidFill>
              </a:rPr>
              <a:t>Piece work: </a:t>
            </a:r>
            <a:r>
              <a:rPr lang="en-AU" sz="2800" b="1" dirty="0" smtClean="0"/>
              <a:t>Payment per item produced.</a:t>
            </a:r>
            <a:endParaRPr lang="en-AU" sz="2800" b="1" dirty="0"/>
          </a:p>
        </p:txBody>
      </p:sp>
      <p:sp>
        <p:nvSpPr>
          <p:cNvPr id="18" name="TextBox 17"/>
          <p:cNvSpPr txBox="1"/>
          <p:nvPr/>
        </p:nvSpPr>
        <p:spPr>
          <a:xfrm>
            <a:off x="6989144" y="4385711"/>
            <a:ext cx="4648200" cy="1200329"/>
          </a:xfrm>
          <a:prstGeom prst="rect">
            <a:avLst/>
          </a:prstGeom>
          <a:noFill/>
        </p:spPr>
        <p:txBody>
          <a:bodyPr wrap="square" rtlCol="0">
            <a:spAutoFit/>
          </a:bodyPr>
          <a:lstStyle/>
          <a:p>
            <a:pPr algn="ctr"/>
            <a:r>
              <a:rPr lang="en-AU" sz="2400" b="1" dirty="0" smtClean="0"/>
              <a:t>Danielle works in real estate. She gets paid $500 a week, plus $1200 for every house she sells.</a:t>
            </a:r>
            <a:endParaRPr lang="en-AU" sz="2400" b="1" dirty="0"/>
          </a:p>
        </p:txBody>
      </p:sp>
      <p:sp>
        <p:nvSpPr>
          <p:cNvPr id="19" name="TextBox 18"/>
          <p:cNvSpPr txBox="1"/>
          <p:nvPr/>
        </p:nvSpPr>
        <p:spPr>
          <a:xfrm>
            <a:off x="6689424" y="2278521"/>
            <a:ext cx="5247640" cy="1938992"/>
          </a:xfrm>
          <a:prstGeom prst="rect">
            <a:avLst/>
          </a:prstGeom>
          <a:noFill/>
        </p:spPr>
        <p:txBody>
          <a:bodyPr wrap="square" rtlCol="0">
            <a:spAutoFit/>
          </a:bodyPr>
          <a:lstStyle/>
          <a:p>
            <a:pPr algn="ctr"/>
            <a:r>
              <a:rPr lang="en-AU" sz="2400" b="1" dirty="0" smtClean="0"/>
              <a:t>Ava is a teacher. She gets paid the same amount each fortnight. She works at home a couple of evenings a week and on Saturday mornings, but doesn’t get paid extra.</a:t>
            </a:r>
            <a:endParaRPr lang="en-AU" sz="2400" b="1" dirty="0"/>
          </a:p>
        </p:txBody>
      </p:sp>
      <p:sp>
        <p:nvSpPr>
          <p:cNvPr id="20" name="TextBox 19"/>
          <p:cNvSpPr txBox="1"/>
          <p:nvPr/>
        </p:nvSpPr>
        <p:spPr>
          <a:xfrm>
            <a:off x="6918554" y="458190"/>
            <a:ext cx="4648200" cy="1569660"/>
          </a:xfrm>
          <a:prstGeom prst="rect">
            <a:avLst/>
          </a:prstGeom>
          <a:noFill/>
        </p:spPr>
        <p:txBody>
          <a:bodyPr wrap="square" rtlCol="0">
            <a:spAutoFit/>
          </a:bodyPr>
          <a:lstStyle/>
          <a:p>
            <a:pPr algn="ctr"/>
            <a:r>
              <a:rPr lang="en-AU" sz="2400" b="1" dirty="0" smtClean="0"/>
              <a:t>Bob works in a shop. He works 20 hours during the week and sometimes works an extra 8 hours on Saturdays.</a:t>
            </a:r>
            <a:endParaRPr lang="en-AU" sz="2400" b="1" dirty="0"/>
          </a:p>
        </p:txBody>
      </p:sp>
      <p:sp>
        <p:nvSpPr>
          <p:cNvPr id="21" name="TextBox 20"/>
          <p:cNvSpPr txBox="1"/>
          <p:nvPr/>
        </p:nvSpPr>
        <p:spPr>
          <a:xfrm>
            <a:off x="7064409" y="5836711"/>
            <a:ext cx="4648200" cy="830997"/>
          </a:xfrm>
          <a:prstGeom prst="rect">
            <a:avLst/>
          </a:prstGeom>
          <a:noFill/>
        </p:spPr>
        <p:txBody>
          <a:bodyPr wrap="square" rtlCol="0">
            <a:spAutoFit/>
          </a:bodyPr>
          <a:lstStyle/>
          <a:p>
            <a:pPr algn="ctr"/>
            <a:r>
              <a:rPr lang="en-AU" sz="2400" b="1" dirty="0" smtClean="0"/>
              <a:t>Cameron shears sheep. He gets paid $30 for every sheep he shears.</a:t>
            </a:r>
            <a:endParaRPr lang="en-AU" sz="2400" b="1" dirty="0"/>
          </a:p>
        </p:txBody>
      </p:sp>
    </p:spTree>
    <p:extLst>
      <p:ext uri="{BB962C8B-B14F-4D97-AF65-F5344CB8AC3E}">
        <p14:creationId xmlns:p14="http://schemas.microsoft.com/office/powerpoint/2010/main" val="2817602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nvPr>
        </p:nvGraphicFramePr>
        <p:xfrm>
          <a:off x="8852290" y="0"/>
          <a:ext cx="3339710" cy="859151"/>
        </p:xfrm>
        <a:graphic>
          <a:graphicData uri="http://schemas.openxmlformats.org/drawingml/2006/table">
            <a:tbl>
              <a:tblPr firstRow="1" bandRow="1">
                <a:tableStyleId>{21E4AEA4-8DFA-4A89-87EB-49C32662AFE0}</a:tableStyleId>
              </a:tblPr>
              <a:tblGrid>
                <a:gridCol w="3339710">
                  <a:extLst>
                    <a:ext uri="{9D8B030D-6E8A-4147-A177-3AD203B41FA5}">
                      <a16:colId xmlns:a16="http://schemas.microsoft.com/office/drawing/2014/main" val="20000"/>
                    </a:ext>
                  </a:extLst>
                </a:gridCol>
              </a:tblGrid>
              <a:tr h="273159">
                <a:tc>
                  <a:txBody>
                    <a:bodyPr/>
                    <a:lstStyle/>
                    <a:p>
                      <a:r>
                        <a:rPr lang="en-AU" dirty="0" smtClean="0"/>
                        <a:t>VOCABULARY</a:t>
                      </a:r>
                      <a:endParaRPr lang="en-AU" dirty="0"/>
                    </a:p>
                  </a:txBody>
                  <a:tcPr>
                    <a:solidFill>
                      <a:srgbClr val="9933FF"/>
                    </a:solidFill>
                  </a:tcPr>
                </a:tc>
                <a:extLst>
                  <a:ext uri="{0D108BD9-81ED-4DB2-BD59-A6C34878D82A}">
                    <a16:rowId xmlns:a16="http://schemas.microsoft.com/office/drawing/2014/main" val="10000"/>
                  </a:ext>
                </a:extLst>
              </a:tr>
              <a:tr h="493391">
                <a:tc>
                  <a:txBody>
                    <a:bodyPr/>
                    <a:lstStyle/>
                    <a:p>
                      <a:r>
                        <a:rPr lang="en-AU" i="0" dirty="0" smtClean="0"/>
                        <a:t>Wage – hourly rate of pay</a:t>
                      </a:r>
                    </a:p>
                  </a:txBody>
                  <a:tcPr>
                    <a:solidFill>
                      <a:srgbClr val="CC99FF"/>
                    </a:solidFill>
                  </a:tcPr>
                </a:tc>
                <a:extLst>
                  <a:ext uri="{0D108BD9-81ED-4DB2-BD59-A6C34878D82A}">
                    <a16:rowId xmlns:a16="http://schemas.microsoft.com/office/drawing/2014/main" val="10001"/>
                  </a:ext>
                </a:extLst>
              </a:tr>
            </a:tbl>
          </a:graphicData>
        </a:graphic>
      </p:graphicFrame>
      <p:sp>
        <p:nvSpPr>
          <p:cNvPr id="8" name="TextBox 7"/>
          <p:cNvSpPr txBox="1"/>
          <p:nvPr/>
        </p:nvSpPr>
        <p:spPr>
          <a:xfrm>
            <a:off x="190158" y="798621"/>
            <a:ext cx="11406408" cy="2677656"/>
          </a:xfrm>
          <a:prstGeom prst="rect">
            <a:avLst/>
          </a:prstGeom>
          <a:noFill/>
        </p:spPr>
        <p:txBody>
          <a:bodyPr wrap="square" rtlCol="0">
            <a:spAutoFit/>
          </a:bodyPr>
          <a:lstStyle/>
          <a:p>
            <a:r>
              <a:rPr lang="en-AU" sz="2400" b="1" dirty="0" smtClean="0"/>
              <a:t>Sim is employed as an intern at a photographic studio. </a:t>
            </a:r>
          </a:p>
          <a:p>
            <a:r>
              <a:rPr lang="en-AU" sz="2400" b="1" dirty="0" err="1" smtClean="0"/>
              <a:t>Sim’s</a:t>
            </a:r>
            <a:r>
              <a:rPr lang="en-AU" sz="2400" b="1" dirty="0" smtClean="0"/>
              <a:t> job is covered by an agreement that says he must be paid a standard hourly rate </a:t>
            </a:r>
          </a:p>
          <a:p>
            <a:r>
              <a:rPr lang="en-AU" sz="2400" b="1" dirty="0" smtClean="0"/>
              <a:t>of $15.80 for a standard 38 hour Monday to Friday week. </a:t>
            </a:r>
          </a:p>
          <a:p>
            <a:r>
              <a:rPr lang="en-AU" sz="2400" b="1" dirty="0" smtClean="0"/>
              <a:t>On Saturday he is paid time-and-a-half (1.5 x $15.80) for the first 3 hours and </a:t>
            </a:r>
          </a:p>
          <a:p>
            <a:r>
              <a:rPr lang="en-AU" sz="2400" b="1" dirty="0" smtClean="0"/>
              <a:t>double time (2 x $15.80) for any additional hours after that.</a:t>
            </a:r>
          </a:p>
          <a:p>
            <a:r>
              <a:rPr lang="en-AU" sz="2400" b="1" dirty="0" smtClean="0"/>
              <a:t>One week, Sim worked his normal week, plus 4.5 hours on Saturday.</a:t>
            </a:r>
          </a:p>
          <a:p>
            <a:r>
              <a:rPr lang="en-AU" sz="2400" b="1" dirty="0" smtClean="0"/>
              <a:t>How much money did he earn that week?</a:t>
            </a:r>
            <a:endParaRPr lang="en-AU" sz="2400" b="1" dirty="0"/>
          </a:p>
        </p:txBody>
      </p:sp>
      <p:sp>
        <p:nvSpPr>
          <p:cNvPr id="9" name="TextBox 8"/>
          <p:cNvSpPr txBox="1"/>
          <p:nvPr/>
        </p:nvSpPr>
        <p:spPr>
          <a:xfrm>
            <a:off x="190158" y="3605303"/>
            <a:ext cx="5298440" cy="1384995"/>
          </a:xfrm>
          <a:prstGeom prst="rect">
            <a:avLst/>
          </a:prstGeom>
          <a:noFill/>
        </p:spPr>
        <p:txBody>
          <a:bodyPr wrap="square" rtlCol="0">
            <a:spAutoFit/>
          </a:bodyPr>
          <a:lstStyle/>
          <a:p>
            <a:r>
              <a:rPr lang="en-AU" sz="2800" b="1" dirty="0" smtClean="0">
                <a:solidFill>
                  <a:srgbClr val="FF0000"/>
                </a:solidFill>
              </a:rPr>
              <a:t>Standard hours:               38</a:t>
            </a:r>
          </a:p>
          <a:p>
            <a:r>
              <a:rPr lang="en-AU" sz="2800" b="1" dirty="0" smtClean="0">
                <a:solidFill>
                  <a:srgbClr val="00B050"/>
                </a:solidFill>
              </a:rPr>
              <a:t>Time-and-a-half hours:   3</a:t>
            </a:r>
          </a:p>
          <a:p>
            <a:r>
              <a:rPr lang="en-AU" sz="2800" b="1" dirty="0" smtClean="0">
                <a:solidFill>
                  <a:srgbClr val="00B0F0"/>
                </a:solidFill>
              </a:rPr>
              <a:t>Double time hours:         1.5</a:t>
            </a:r>
            <a:endParaRPr lang="en-AU" sz="2800" b="1" dirty="0">
              <a:solidFill>
                <a:srgbClr val="00B0F0"/>
              </a:solidFill>
            </a:endParaRPr>
          </a:p>
        </p:txBody>
      </p:sp>
      <p:sp>
        <p:nvSpPr>
          <p:cNvPr id="10" name="TextBox 9"/>
          <p:cNvSpPr txBox="1"/>
          <p:nvPr/>
        </p:nvSpPr>
        <p:spPr>
          <a:xfrm>
            <a:off x="4937744" y="3629146"/>
            <a:ext cx="7206649" cy="2246769"/>
          </a:xfrm>
          <a:prstGeom prst="rect">
            <a:avLst/>
          </a:prstGeom>
          <a:noFill/>
        </p:spPr>
        <p:txBody>
          <a:bodyPr wrap="square" rtlCol="0">
            <a:spAutoFit/>
          </a:bodyPr>
          <a:lstStyle/>
          <a:p>
            <a:r>
              <a:rPr lang="en-AU" sz="2800" b="1" dirty="0" smtClean="0">
                <a:solidFill>
                  <a:srgbClr val="FF0000"/>
                </a:solidFill>
              </a:rPr>
              <a:t>38 x 15.8           = 600.40</a:t>
            </a:r>
          </a:p>
          <a:p>
            <a:r>
              <a:rPr lang="en-AU" sz="2800" b="1" dirty="0" smtClean="0">
                <a:solidFill>
                  <a:srgbClr val="00B050"/>
                </a:solidFill>
              </a:rPr>
              <a:t>3 x (1.5 x 15.8) = 71.10</a:t>
            </a:r>
          </a:p>
          <a:p>
            <a:r>
              <a:rPr lang="en-AU" sz="2800" b="1" dirty="0" smtClean="0">
                <a:solidFill>
                  <a:srgbClr val="00B0F0"/>
                </a:solidFill>
              </a:rPr>
              <a:t>1.5 x (2 x 15.8) = 47.40</a:t>
            </a:r>
          </a:p>
          <a:p>
            <a:endParaRPr lang="en-AU" sz="2800" b="1" dirty="0">
              <a:solidFill>
                <a:srgbClr val="00B0F0"/>
              </a:solidFill>
            </a:endParaRPr>
          </a:p>
          <a:p>
            <a:r>
              <a:rPr lang="en-AU" sz="2800" b="1" u="sng" dirty="0" smtClean="0"/>
              <a:t>Sim </a:t>
            </a:r>
            <a:r>
              <a:rPr lang="en-AU" sz="2800" b="1" u="sng" dirty="0" err="1" smtClean="0"/>
              <a:t>earnt</a:t>
            </a:r>
            <a:r>
              <a:rPr lang="en-AU" sz="2800" b="1" u="sng" dirty="0" smtClean="0"/>
              <a:t> $718.90 that week.</a:t>
            </a:r>
            <a:endParaRPr lang="en-AU" sz="2800" b="1" u="sng" dirty="0"/>
          </a:p>
        </p:txBody>
      </p:sp>
      <p:cxnSp>
        <p:nvCxnSpPr>
          <p:cNvPr id="11" name="Straight Connector 10"/>
          <p:cNvCxnSpPr/>
          <p:nvPr/>
        </p:nvCxnSpPr>
        <p:spPr>
          <a:xfrm flipV="1">
            <a:off x="2176609" y="1884898"/>
            <a:ext cx="5278836" cy="1683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225644" y="2255146"/>
            <a:ext cx="6193237" cy="16829"/>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08540" y="2647833"/>
            <a:ext cx="7533983"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 y="0"/>
            <a:ext cx="2692713" cy="584775"/>
          </a:xfrm>
          <a:prstGeom prst="homePlate">
            <a:avLst/>
          </a:prstGeom>
          <a:solidFill>
            <a:schemeClr val="accent5">
              <a:lumMod val="50000"/>
            </a:schemeClr>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Daily Review</a:t>
            </a:r>
            <a:endParaRPr lang="en-AU" sz="3200" dirty="0"/>
          </a:p>
        </p:txBody>
      </p:sp>
    </p:spTree>
    <p:extLst>
      <p:ext uri="{BB962C8B-B14F-4D97-AF65-F5344CB8AC3E}">
        <p14:creationId xmlns:p14="http://schemas.microsoft.com/office/powerpoint/2010/main" val="2668816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nvPr>
        </p:nvGraphicFramePr>
        <p:xfrm>
          <a:off x="8852290" y="0"/>
          <a:ext cx="3339710" cy="1005840"/>
        </p:xfrm>
        <a:graphic>
          <a:graphicData uri="http://schemas.openxmlformats.org/drawingml/2006/table">
            <a:tbl>
              <a:tblPr firstRow="1" bandRow="1">
                <a:tableStyleId>{21E4AEA4-8DFA-4A89-87EB-49C32662AFE0}</a:tableStyleId>
              </a:tblPr>
              <a:tblGrid>
                <a:gridCol w="3339710">
                  <a:extLst>
                    <a:ext uri="{9D8B030D-6E8A-4147-A177-3AD203B41FA5}">
                      <a16:colId xmlns:a16="http://schemas.microsoft.com/office/drawing/2014/main" val="20000"/>
                    </a:ext>
                  </a:extLst>
                </a:gridCol>
              </a:tblGrid>
              <a:tr h="273159">
                <a:tc>
                  <a:txBody>
                    <a:bodyPr/>
                    <a:lstStyle/>
                    <a:p>
                      <a:r>
                        <a:rPr lang="en-AU" dirty="0" smtClean="0"/>
                        <a:t>VOCABULARY</a:t>
                      </a:r>
                      <a:endParaRPr lang="en-AU" dirty="0"/>
                    </a:p>
                  </a:txBody>
                  <a:tcPr>
                    <a:solidFill>
                      <a:srgbClr val="9933FF"/>
                    </a:solidFill>
                  </a:tcPr>
                </a:tc>
                <a:extLst>
                  <a:ext uri="{0D108BD9-81ED-4DB2-BD59-A6C34878D82A}">
                    <a16:rowId xmlns:a16="http://schemas.microsoft.com/office/drawing/2014/main" val="10000"/>
                  </a:ext>
                </a:extLst>
              </a:tr>
              <a:tr h="493391">
                <a:tc>
                  <a:txBody>
                    <a:bodyPr/>
                    <a:lstStyle/>
                    <a:p>
                      <a:r>
                        <a:rPr lang="en-AU" i="0" dirty="0" smtClean="0"/>
                        <a:t>Salary – weekly, monthly</a:t>
                      </a:r>
                      <a:r>
                        <a:rPr lang="en-AU" i="0" baseline="0" dirty="0" smtClean="0"/>
                        <a:t> or annual rate of pay</a:t>
                      </a:r>
                      <a:endParaRPr lang="en-AU" i="0" dirty="0" smtClean="0"/>
                    </a:p>
                  </a:txBody>
                  <a:tcPr>
                    <a:solidFill>
                      <a:srgbClr val="CC99FF"/>
                    </a:solidFill>
                  </a:tcPr>
                </a:tc>
                <a:extLst>
                  <a:ext uri="{0D108BD9-81ED-4DB2-BD59-A6C34878D82A}">
                    <a16:rowId xmlns:a16="http://schemas.microsoft.com/office/drawing/2014/main" val="10001"/>
                  </a:ext>
                </a:extLst>
              </a:tr>
            </a:tbl>
          </a:graphicData>
        </a:graphic>
      </p:graphicFrame>
      <p:sp>
        <p:nvSpPr>
          <p:cNvPr id="13" name="TextBox 12"/>
          <p:cNvSpPr txBox="1"/>
          <p:nvPr/>
        </p:nvSpPr>
        <p:spPr>
          <a:xfrm>
            <a:off x="190771" y="816790"/>
            <a:ext cx="8448346" cy="2923877"/>
          </a:xfrm>
          <a:prstGeom prst="rect">
            <a:avLst/>
          </a:prstGeom>
          <a:noFill/>
        </p:spPr>
        <p:txBody>
          <a:bodyPr wrap="square" rtlCol="0">
            <a:spAutoFit/>
          </a:bodyPr>
          <a:lstStyle/>
          <a:p>
            <a:r>
              <a:rPr lang="en-AU" sz="2800" b="1" dirty="0" smtClean="0"/>
              <a:t>A doctor earns a salary of $120 000 per annum (yearly).</a:t>
            </a:r>
          </a:p>
          <a:p>
            <a:r>
              <a:rPr lang="en-AU" sz="2800" b="1" dirty="0" smtClean="0"/>
              <a:t>They get paid fortnightly.</a:t>
            </a:r>
          </a:p>
          <a:p>
            <a:r>
              <a:rPr lang="en-AU" sz="2800" b="1" dirty="0" smtClean="0"/>
              <a:t>Assuming there are exactly 26 fortnights in a year, how much do they earn each pay?</a:t>
            </a:r>
          </a:p>
          <a:p>
            <a:endParaRPr lang="en-AU" sz="2400" dirty="0"/>
          </a:p>
          <a:p>
            <a:endParaRPr lang="en-AU" sz="2400" dirty="0" smtClean="0"/>
          </a:p>
          <a:p>
            <a:endParaRPr lang="en-AU" sz="2400" dirty="0">
              <a:solidFill>
                <a:srgbClr val="FF0000"/>
              </a:solidFill>
            </a:endParaRPr>
          </a:p>
        </p:txBody>
      </p:sp>
      <mc:AlternateContent xmlns:mc="http://schemas.openxmlformats.org/markup-compatibility/2006" xmlns:a14="http://schemas.microsoft.com/office/drawing/2010/main">
        <mc:Choice Requires="a14">
          <p:sp>
            <p:nvSpPr>
              <p:cNvPr id="2" name="TextBox 1"/>
              <p:cNvSpPr txBox="1"/>
              <p:nvPr/>
            </p:nvSpPr>
            <p:spPr>
              <a:xfrm>
                <a:off x="297321" y="3023691"/>
                <a:ext cx="8717654" cy="2246769"/>
              </a:xfrm>
              <a:prstGeom prst="rect">
                <a:avLst/>
              </a:prstGeom>
              <a:noFill/>
            </p:spPr>
            <p:txBody>
              <a:bodyPr wrap="square" rtlCol="0">
                <a:spAutoFit/>
              </a:bodyPr>
              <a:lstStyle/>
              <a:p>
                <a:r>
                  <a:rPr lang="en-AU" sz="2800" b="1" dirty="0" smtClean="0"/>
                  <a:t>If there are 26 fortnights in a year, and the doctor gets paid every fortnight, this means their salary is paid to them in 26 equal instalments. </a:t>
                </a:r>
              </a:p>
              <a:p>
                <a:endParaRPr lang="en-AU" sz="2800" b="1" dirty="0"/>
              </a:p>
              <a:p>
                <a:pPr/>
                <a14:m>
                  <m:oMathPara xmlns:m="http://schemas.openxmlformats.org/officeDocument/2006/math">
                    <m:oMathParaPr>
                      <m:jc m:val="left"/>
                    </m:oMathParaPr>
                    <m:oMath xmlns:m="http://schemas.openxmlformats.org/officeDocument/2006/math">
                      <m:r>
                        <a:rPr lang="en-AU" sz="2800" b="1" i="1" smtClean="0">
                          <a:solidFill>
                            <a:srgbClr val="FF0000"/>
                          </a:solidFill>
                          <a:latin typeface="Cambria Math" panose="02040503050406030204" pitchFamily="18" charset="0"/>
                        </a:rPr>
                        <m:t>𝟏𝟐𝟎</m:t>
                      </m:r>
                      <m:r>
                        <a:rPr lang="en-AU" sz="2800" b="1" i="1" smtClean="0">
                          <a:solidFill>
                            <a:srgbClr val="FF0000"/>
                          </a:solidFill>
                          <a:latin typeface="Cambria Math" panose="02040503050406030204" pitchFamily="18" charset="0"/>
                        </a:rPr>
                        <m:t> </m:t>
                      </m:r>
                      <m:r>
                        <a:rPr lang="en-AU" sz="2800" b="1" i="1" smtClean="0">
                          <a:solidFill>
                            <a:srgbClr val="FF0000"/>
                          </a:solidFill>
                          <a:latin typeface="Cambria Math" panose="02040503050406030204" pitchFamily="18" charset="0"/>
                        </a:rPr>
                        <m:t>𝟎𝟎𝟎</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𝟐𝟔</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𝟒𝟔𝟏𝟓</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𝟑𝟖</m:t>
                      </m:r>
                    </m:oMath>
                  </m:oMathPara>
                </a14:m>
                <a:endParaRPr lang="en-AU" sz="2800" b="1" dirty="0">
                  <a:solidFill>
                    <a:srgbClr val="FF0000"/>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97321" y="3023691"/>
                <a:ext cx="8717654" cy="2246769"/>
              </a:xfrm>
              <a:prstGeom prst="rect">
                <a:avLst/>
              </a:prstGeom>
              <a:blipFill rotWithShape="0">
                <a:blip r:embed="rId3"/>
                <a:stretch>
                  <a:fillRect l="-1469" t="-2439"/>
                </a:stretch>
              </a:blipFill>
            </p:spPr>
            <p:txBody>
              <a:bodyPr/>
              <a:lstStyle/>
              <a:p>
                <a:r>
                  <a:rPr lang="en-AU">
                    <a:noFill/>
                  </a:rPr>
                  <a:t> </a:t>
                </a:r>
              </a:p>
            </p:txBody>
          </p:sp>
        </mc:Fallback>
      </mc:AlternateContent>
      <p:graphicFrame>
        <p:nvGraphicFramePr>
          <p:cNvPr id="15" name="Table 14"/>
          <p:cNvGraphicFramePr>
            <a:graphicFrameLocks noGrp="1"/>
          </p:cNvGraphicFramePr>
          <p:nvPr>
            <p:extLst/>
          </p:nvPr>
        </p:nvGraphicFramePr>
        <p:xfrm>
          <a:off x="8841412" y="1364792"/>
          <a:ext cx="3266440" cy="1828800"/>
        </p:xfrm>
        <a:graphic>
          <a:graphicData uri="http://schemas.openxmlformats.org/drawingml/2006/table">
            <a:tbl>
              <a:tblPr firstRow="1" bandRow="1">
                <a:tableStyleId>{21E4AEA4-8DFA-4A89-87EB-49C32662AFE0}</a:tableStyleId>
              </a:tblPr>
              <a:tblGrid>
                <a:gridCol w="3266440">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How many payments a year would you receive if you were paid weekly?</a:t>
                      </a:r>
                    </a:p>
                    <a:p>
                      <a:r>
                        <a:rPr lang="en-AU" i="1" dirty="0" smtClean="0"/>
                        <a:t>If you were paid weekly, you would</a:t>
                      </a:r>
                      <a:r>
                        <a:rPr lang="en-AU" i="1" baseline="0" dirty="0" smtClean="0"/>
                        <a:t> receive ……….</a:t>
                      </a:r>
                      <a:endParaRPr lang="en-AU" i="1" dirty="0" smtClean="0"/>
                    </a:p>
                  </a:txBody>
                  <a:tcPr>
                    <a:solidFill>
                      <a:schemeClr val="bg2"/>
                    </a:solidFill>
                  </a:tcPr>
                </a:tc>
                <a:extLst>
                  <a:ext uri="{0D108BD9-81ED-4DB2-BD59-A6C34878D82A}">
                    <a16:rowId xmlns:a16="http://schemas.microsoft.com/office/drawing/2014/main" val="10001"/>
                  </a:ext>
                </a:extLst>
              </a:tr>
            </a:tbl>
          </a:graphicData>
        </a:graphic>
      </p:graphicFrame>
      <p:pic>
        <p:nvPicPr>
          <p:cNvPr id="3" name="Picture 2"/>
          <p:cNvPicPr>
            <a:picLocks noChangeAspect="1"/>
          </p:cNvPicPr>
          <p:nvPr/>
        </p:nvPicPr>
        <p:blipFill>
          <a:blip r:embed="rId4"/>
          <a:stretch>
            <a:fillRect/>
          </a:stretch>
        </p:blipFill>
        <p:spPr>
          <a:xfrm>
            <a:off x="8418815" y="3322910"/>
            <a:ext cx="3667728" cy="3535090"/>
          </a:xfrm>
          <a:prstGeom prst="rect">
            <a:avLst/>
          </a:prstGeom>
        </p:spPr>
      </p:pic>
      <p:sp>
        <p:nvSpPr>
          <p:cNvPr id="5" name="TextBox 4"/>
          <p:cNvSpPr txBox="1"/>
          <p:nvPr/>
        </p:nvSpPr>
        <p:spPr>
          <a:xfrm>
            <a:off x="297321" y="5463960"/>
            <a:ext cx="6832756" cy="523220"/>
          </a:xfrm>
          <a:prstGeom prst="rect">
            <a:avLst/>
          </a:prstGeom>
          <a:noFill/>
        </p:spPr>
        <p:txBody>
          <a:bodyPr wrap="square" rtlCol="0">
            <a:spAutoFit/>
          </a:bodyPr>
          <a:lstStyle/>
          <a:p>
            <a:r>
              <a:rPr lang="en-AU" sz="2800" b="1" dirty="0" smtClean="0"/>
              <a:t>The doctor earns $4615.38 per pay.</a:t>
            </a:r>
            <a:endParaRPr lang="en-AU" sz="2800" b="1" dirty="0"/>
          </a:p>
        </p:txBody>
      </p:sp>
      <p:sp>
        <p:nvSpPr>
          <p:cNvPr id="9" name="TextBox 8"/>
          <p:cNvSpPr txBox="1"/>
          <p:nvPr/>
        </p:nvSpPr>
        <p:spPr>
          <a:xfrm>
            <a:off x="-1" y="0"/>
            <a:ext cx="2692713" cy="584775"/>
          </a:xfrm>
          <a:prstGeom prst="homePlate">
            <a:avLst/>
          </a:prstGeom>
          <a:solidFill>
            <a:schemeClr val="accent5">
              <a:lumMod val="50000"/>
            </a:schemeClr>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Daily Review</a:t>
            </a:r>
            <a:endParaRPr lang="en-AU" sz="3200" dirty="0"/>
          </a:p>
        </p:txBody>
      </p:sp>
    </p:spTree>
    <p:extLst>
      <p:ext uri="{BB962C8B-B14F-4D97-AF65-F5344CB8AC3E}">
        <p14:creationId xmlns:p14="http://schemas.microsoft.com/office/powerpoint/2010/main" val="1011812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nvPr>
        </p:nvGraphicFramePr>
        <p:xfrm>
          <a:off x="8852290" y="0"/>
          <a:ext cx="3339710" cy="1005840"/>
        </p:xfrm>
        <a:graphic>
          <a:graphicData uri="http://schemas.openxmlformats.org/drawingml/2006/table">
            <a:tbl>
              <a:tblPr firstRow="1" bandRow="1">
                <a:tableStyleId>{21E4AEA4-8DFA-4A89-87EB-49C32662AFE0}</a:tableStyleId>
              </a:tblPr>
              <a:tblGrid>
                <a:gridCol w="3339710">
                  <a:extLst>
                    <a:ext uri="{9D8B030D-6E8A-4147-A177-3AD203B41FA5}">
                      <a16:colId xmlns:a16="http://schemas.microsoft.com/office/drawing/2014/main" val="20000"/>
                    </a:ext>
                  </a:extLst>
                </a:gridCol>
              </a:tblGrid>
              <a:tr h="273159">
                <a:tc>
                  <a:txBody>
                    <a:bodyPr/>
                    <a:lstStyle/>
                    <a:p>
                      <a:r>
                        <a:rPr lang="en-AU" dirty="0" smtClean="0"/>
                        <a:t>VOCABULARY</a:t>
                      </a:r>
                      <a:endParaRPr lang="en-AU" dirty="0"/>
                    </a:p>
                  </a:txBody>
                  <a:tcPr>
                    <a:solidFill>
                      <a:srgbClr val="9933FF"/>
                    </a:solidFill>
                  </a:tcPr>
                </a:tc>
                <a:extLst>
                  <a:ext uri="{0D108BD9-81ED-4DB2-BD59-A6C34878D82A}">
                    <a16:rowId xmlns:a16="http://schemas.microsoft.com/office/drawing/2014/main" val="10000"/>
                  </a:ext>
                </a:extLst>
              </a:tr>
              <a:tr h="493391">
                <a:tc>
                  <a:txBody>
                    <a:bodyPr/>
                    <a:lstStyle/>
                    <a:p>
                      <a:r>
                        <a:rPr lang="en-AU" i="0" dirty="0" smtClean="0"/>
                        <a:t>Salary – weekly, monthly</a:t>
                      </a:r>
                      <a:r>
                        <a:rPr lang="en-AU" i="0" baseline="0" dirty="0" smtClean="0"/>
                        <a:t> or annual rate of pay</a:t>
                      </a:r>
                      <a:endParaRPr lang="en-AU" i="0" dirty="0" smtClean="0"/>
                    </a:p>
                  </a:txBody>
                  <a:tcPr>
                    <a:solidFill>
                      <a:srgbClr val="CC99FF"/>
                    </a:solidFill>
                  </a:tcPr>
                </a:tc>
                <a:extLst>
                  <a:ext uri="{0D108BD9-81ED-4DB2-BD59-A6C34878D82A}">
                    <a16:rowId xmlns:a16="http://schemas.microsoft.com/office/drawing/2014/main" val="10001"/>
                  </a:ext>
                </a:extLst>
              </a:tr>
            </a:tbl>
          </a:graphicData>
        </a:graphic>
      </p:graphicFrame>
      <p:sp>
        <p:nvSpPr>
          <p:cNvPr id="13" name="TextBox 12"/>
          <p:cNvSpPr txBox="1"/>
          <p:nvPr/>
        </p:nvSpPr>
        <p:spPr>
          <a:xfrm>
            <a:off x="190771" y="816790"/>
            <a:ext cx="8448346" cy="2492990"/>
          </a:xfrm>
          <a:prstGeom prst="rect">
            <a:avLst/>
          </a:prstGeom>
          <a:noFill/>
        </p:spPr>
        <p:txBody>
          <a:bodyPr wrap="square" rtlCol="0">
            <a:spAutoFit/>
          </a:bodyPr>
          <a:lstStyle/>
          <a:p>
            <a:r>
              <a:rPr lang="en-AU" sz="2800" b="1" dirty="0" smtClean="0"/>
              <a:t>A doctor earns a salary of $120 000 per annum (yearly).</a:t>
            </a:r>
          </a:p>
          <a:p>
            <a:r>
              <a:rPr lang="en-AU" sz="2800" b="1" dirty="0" smtClean="0"/>
              <a:t>They get paid monthly.</a:t>
            </a:r>
          </a:p>
          <a:p>
            <a:r>
              <a:rPr lang="en-AU" sz="2800" b="1" dirty="0"/>
              <a:t>H</a:t>
            </a:r>
            <a:r>
              <a:rPr lang="en-AU" sz="2800" b="1" dirty="0" smtClean="0"/>
              <a:t>ow much do they earn each pay?</a:t>
            </a:r>
          </a:p>
          <a:p>
            <a:endParaRPr lang="en-AU" sz="2400" dirty="0"/>
          </a:p>
          <a:p>
            <a:endParaRPr lang="en-AU" sz="2400" dirty="0" smtClean="0"/>
          </a:p>
          <a:p>
            <a:endParaRPr lang="en-AU" sz="2400" dirty="0">
              <a:solidFill>
                <a:srgbClr val="FF0000"/>
              </a:solidFill>
            </a:endParaRPr>
          </a:p>
        </p:txBody>
      </p:sp>
      <mc:AlternateContent xmlns:mc="http://schemas.openxmlformats.org/markup-compatibility/2006" xmlns:a14="http://schemas.microsoft.com/office/drawing/2010/main">
        <mc:Choice Requires="a14">
          <p:sp>
            <p:nvSpPr>
              <p:cNvPr id="2" name="TextBox 1"/>
              <p:cNvSpPr txBox="1"/>
              <p:nvPr/>
            </p:nvSpPr>
            <p:spPr>
              <a:xfrm>
                <a:off x="190771" y="2283196"/>
                <a:ext cx="8717654" cy="2246769"/>
              </a:xfrm>
              <a:prstGeom prst="rect">
                <a:avLst/>
              </a:prstGeom>
              <a:noFill/>
            </p:spPr>
            <p:txBody>
              <a:bodyPr wrap="square" rtlCol="0">
                <a:spAutoFit/>
              </a:bodyPr>
              <a:lstStyle/>
              <a:p>
                <a:r>
                  <a:rPr lang="en-AU" sz="2800" b="1" dirty="0" smtClean="0"/>
                  <a:t>If there are 12 months in a year, and the doctor gets paid every month, this means their salary is paid to them in 12 equal instalments. </a:t>
                </a:r>
              </a:p>
              <a:p>
                <a:endParaRPr lang="en-AU" sz="2800" b="1" dirty="0"/>
              </a:p>
              <a:p>
                <a:pPr/>
                <a14:m>
                  <m:oMathPara xmlns:m="http://schemas.openxmlformats.org/officeDocument/2006/math">
                    <m:oMathParaPr>
                      <m:jc m:val="left"/>
                    </m:oMathParaPr>
                    <m:oMath xmlns:m="http://schemas.openxmlformats.org/officeDocument/2006/math">
                      <m:r>
                        <a:rPr lang="en-AU" sz="2800" b="1" i="1" smtClean="0">
                          <a:solidFill>
                            <a:srgbClr val="FF0000"/>
                          </a:solidFill>
                          <a:latin typeface="Cambria Math" panose="02040503050406030204" pitchFamily="18" charset="0"/>
                        </a:rPr>
                        <m:t>𝟏𝟐𝟎</m:t>
                      </m:r>
                      <m:r>
                        <a:rPr lang="en-AU" sz="2800" b="1" i="1" smtClean="0">
                          <a:solidFill>
                            <a:srgbClr val="FF0000"/>
                          </a:solidFill>
                          <a:latin typeface="Cambria Math" panose="02040503050406030204" pitchFamily="18" charset="0"/>
                        </a:rPr>
                        <m:t> </m:t>
                      </m:r>
                      <m:r>
                        <a:rPr lang="en-AU" sz="2800" b="1" i="1" smtClean="0">
                          <a:solidFill>
                            <a:srgbClr val="FF0000"/>
                          </a:solidFill>
                          <a:latin typeface="Cambria Math" panose="02040503050406030204" pitchFamily="18" charset="0"/>
                        </a:rPr>
                        <m:t>𝟎𝟎𝟎</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𝟏𝟐</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𝟏𝟎</m:t>
                      </m:r>
                      <m:r>
                        <a:rPr lang="en-AU" sz="2800" b="1" i="1" smtClean="0">
                          <a:solidFill>
                            <a:srgbClr val="FF0000"/>
                          </a:solidFill>
                          <a:latin typeface="Cambria Math" panose="02040503050406030204" pitchFamily="18" charset="0"/>
                          <a:ea typeface="Cambria Math" panose="02040503050406030204" pitchFamily="18" charset="0"/>
                        </a:rPr>
                        <m:t> </m:t>
                      </m:r>
                      <m:r>
                        <a:rPr lang="en-AU" sz="2800" b="1" i="1" smtClean="0">
                          <a:solidFill>
                            <a:srgbClr val="FF0000"/>
                          </a:solidFill>
                          <a:latin typeface="Cambria Math" panose="02040503050406030204" pitchFamily="18" charset="0"/>
                          <a:ea typeface="Cambria Math" panose="02040503050406030204" pitchFamily="18" charset="0"/>
                        </a:rPr>
                        <m:t>𝟎𝟎𝟎</m:t>
                      </m:r>
                    </m:oMath>
                  </m:oMathPara>
                </a14:m>
                <a:endParaRPr lang="en-AU" sz="2800" b="1" dirty="0">
                  <a:solidFill>
                    <a:srgbClr val="FF0000"/>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90771" y="2283196"/>
                <a:ext cx="8717654" cy="2246769"/>
              </a:xfrm>
              <a:prstGeom prst="rect">
                <a:avLst/>
              </a:prstGeom>
              <a:blipFill rotWithShape="0">
                <a:blip r:embed="rId3"/>
                <a:stretch>
                  <a:fillRect l="-1399" t="-2717" r="-1958"/>
                </a:stretch>
              </a:blipFill>
            </p:spPr>
            <p:txBody>
              <a:bodyPr/>
              <a:lstStyle/>
              <a:p>
                <a:r>
                  <a:rPr lang="en-AU">
                    <a:noFill/>
                  </a:rPr>
                  <a:t> </a:t>
                </a:r>
              </a:p>
            </p:txBody>
          </p:sp>
        </mc:Fallback>
      </mc:AlternateContent>
      <p:graphicFrame>
        <p:nvGraphicFramePr>
          <p:cNvPr id="15" name="Table 14"/>
          <p:cNvGraphicFramePr>
            <a:graphicFrameLocks noGrp="1"/>
          </p:cNvGraphicFramePr>
          <p:nvPr>
            <p:extLst/>
          </p:nvPr>
        </p:nvGraphicFramePr>
        <p:xfrm>
          <a:off x="8841412" y="1364792"/>
          <a:ext cx="3266440" cy="1828800"/>
        </p:xfrm>
        <a:graphic>
          <a:graphicData uri="http://schemas.openxmlformats.org/drawingml/2006/table">
            <a:tbl>
              <a:tblPr firstRow="1" bandRow="1">
                <a:tableStyleId>{21E4AEA4-8DFA-4A89-87EB-49C32662AFE0}</a:tableStyleId>
              </a:tblPr>
              <a:tblGrid>
                <a:gridCol w="3266440">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How many payments a year would you receive if you were paid weekly?</a:t>
                      </a:r>
                    </a:p>
                    <a:p>
                      <a:r>
                        <a:rPr lang="en-AU" i="1" dirty="0" smtClean="0"/>
                        <a:t>If you were paid weekly, you would</a:t>
                      </a:r>
                      <a:r>
                        <a:rPr lang="en-AU" i="1" baseline="0" dirty="0" smtClean="0"/>
                        <a:t> receive ……….</a:t>
                      </a:r>
                      <a:endParaRPr lang="en-AU" i="1" dirty="0" smtClean="0"/>
                    </a:p>
                  </a:txBody>
                  <a:tcPr>
                    <a:solidFill>
                      <a:schemeClr val="bg2"/>
                    </a:solidFill>
                  </a:tcPr>
                </a:tc>
                <a:extLst>
                  <a:ext uri="{0D108BD9-81ED-4DB2-BD59-A6C34878D82A}">
                    <a16:rowId xmlns:a16="http://schemas.microsoft.com/office/drawing/2014/main" val="10001"/>
                  </a:ext>
                </a:extLst>
              </a:tr>
            </a:tbl>
          </a:graphicData>
        </a:graphic>
      </p:graphicFrame>
      <p:sp>
        <p:nvSpPr>
          <p:cNvPr id="5" name="TextBox 4"/>
          <p:cNvSpPr txBox="1"/>
          <p:nvPr/>
        </p:nvSpPr>
        <p:spPr>
          <a:xfrm>
            <a:off x="297321" y="5463960"/>
            <a:ext cx="6832756" cy="523220"/>
          </a:xfrm>
          <a:prstGeom prst="rect">
            <a:avLst/>
          </a:prstGeom>
          <a:noFill/>
        </p:spPr>
        <p:txBody>
          <a:bodyPr wrap="square" rtlCol="0">
            <a:spAutoFit/>
          </a:bodyPr>
          <a:lstStyle/>
          <a:p>
            <a:r>
              <a:rPr lang="en-AU" sz="2800" b="1" dirty="0" smtClean="0"/>
              <a:t>The doctor earns $10 000 per pay.</a:t>
            </a:r>
            <a:endParaRPr lang="en-AU" sz="2800" b="1" dirty="0"/>
          </a:p>
        </p:txBody>
      </p:sp>
      <p:sp>
        <p:nvSpPr>
          <p:cNvPr id="9" name="TextBox 8"/>
          <p:cNvSpPr txBox="1"/>
          <p:nvPr/>
        </p:nvSpPr>
        <p:spPr>
          <a:xfrm>
            <a:off x="-1" y="0"/>
            <a:ext cx="2692713" cy="584775"/>
          </a:xfrm>
          <a:prstGeom prst="homePlate">
            <a:avLst/>
          </a:prstGeom>
          <a:solidFill>
            <a:schemeClr val="accent5">
              <a:lumMod val="50000"/>
            </a:schemeClr>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Daily Review</a:t>
            </a:r>
            <a:endParaRPr lang="en-AU" sz="3200" dirty="0"/>
          </a:p>
        </p:txBody>
      </p:sp>
    </p:spTree>
    <p:extLst>
      <p:ext uri="{BB962C8B-B14F-4D97-AF65-F5344CB8AC3E}">
        <p14:creationId xmlns:p14="http://schemas.microsoft.com/office/powerpoint/2010/main" val="253418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nvPr>
        </p:nvGraphicFramePr>
        <p:xfrm>
          <a:off x="8852290" y="0"/>
          <a:ext cx="3339710" cy="1005840"/>
        </p:xfrm>
        <a:graphic>
          <a:graphicData uri="http://schemas.openxmlformats.org/drawingml/2006/table">
            <a:tbl>
              <a:tblPr firstRow="1" bandRow="1">
                <a:tableStyleId>{21E4AEA4-8DFA-4A89-87EB-49C32662AFE0}</a:tableStyleId>
              </a:tblPr>
              <a:tblGrid>
                <a:gridCol w="3339710">
                  <a:extLst>
                    <a:ext uri="{9D8B030D-6E8A-4147-A177-3AD203B41FA5}">
                      <a16:colId xmlns:a16="http://schemas.microsoft.com/office/drawing/2014/main" val="20000"/>
                    </a:ext>
                  </a:extLst>
                </a:gridCol>
              </a:tblGrid>
              <a:tr h="273159">
                <a:tc>
                  <a:txBody>
                    <a:bodyPr/>
                    <a:lstStyle/>
                    <a:p>
                      <a:r>
                        <a:rPr lang="en-AU" dirty="0" smtClean="0"/>
                        <a:t>VOCABULARY</a:t>
                      </a:r>
                      <a:endParaRPr lang="en-AU" dirty="0"/>
                    </a:p>
                  </a:txBody>
                  <a:tcPr>
                    <a:solidFill>
                      <a:srgbClr val="9933FF"/>
                    </a:solidFill>
                  </a:tcPr>
                </a:tc>
                <a:extLst>
                  <a:ext uri="{0D108BD9-81ED-4DB2-BD59-A6C34878D82A}">
                    <a16:rowId xmlns:a16="http://schemas.microsoft.com/office/drawing/2014/main" val="10000"/>
                  </a:ext>
                </a:extLst>
              </a:tr>
              <a:tr h="493391">
                <a:tc>
                  <a:txBody>
                    <a:bodyPr/>
                    <a:lstStyle/>
                    <a:p>
                      <a:r>
                        <a:rPr lang="en-AU" i="0" dirty="0" smtClean="0"/>
                        <a:t>Salary – weekly, monthly</a:t>
                      </a:r>
                      <a:r>
                        <a:rPr lang="en-AU" i="0" baseline="0" dirty="0" smtClean="0"/>
                        <a:t> or annual rate of pay</a:t>
                      </a:r>
                      <a:endParaRPr lang="en-AU" i="0" dirty="0" smtClean="0"/>
                    </a:p>
                  </a:txBody>
                  <a:tcPr>
                    <a:solidFill>
                      <a:srgbClr val="CC99FF"/>
                    </a:solidFill>
                  </a:tcPr>
                </a:tc>
                <a:extLst>
                  <a:ext uri="{0D108BD9-81ED-4DB2-BD59-A6C34878D82A}">
                    <a16:rowId xmlns:a16="http://schemas.microsoft.com/office/drawing/2014/main" val="10001"/>
                  </a:ext>
                </a:extLst>
              </a:tr>
            </a:tbl>
          </a:graphicData>
        </a:graphic>
      </p:graphicFrame>
      <p:sp>
        <p:nvSpPr>
          <p:cNvPr id="13" name="TextBox 12"/>
          <p:cNvSpPr txBox="1"/>
          <p:nvPr/>
        </p:nvSpPr>
        <p:spPr>
          <a:xfrm>
            <a:off x="190771" y="816790"/>
            <a:ext cx="8448346" cy="2923877"/>
          </a:xfrm>
          <a:prstGeom prst="rect">
            <a:avLst/>
          </a:prstGeom>
          <a:noFill/>
        </p:spPr>
        <p:txBody>
          <a:bodyPr wrap="square" rtlCol="0">
            <a:spAutoFit/>
          </a:bodyPr>
          <a:lstStyle/>
          <a:p>
            <a:r>
              <a:rPr lang="en-AU" sz="2800" b="1" dirty="0" smtClean="0"/>
              <a:t>A doctor earns a salary of $120 000 per annum (yearly).</a:t>
            </a:r>
          </a:p>
          <a:p>
            <a:r>
              <a:rPr lang="en-AU" sz="2800" b="1" dirty="0" smtClean="0"/>
              <a:t>They get paid weekly.</a:t>
            </a:r>
          </a:p>
          <a:p>
            <a:r>
              <a:rPr lang="en-AU" sz="2800" b="1" dirty="0" smtClean="0"/>
              <a:t>Assuming there are exactly 52 weeks in a year, how much do they earn each pay?</a:t>
            </a:r>
          </a:p>
          <a:p>
            <a:endParaRPr lang="en-AU" sz="2400" dirty="0"/>
          </a:p>
          <a:p>
            <a:endParaRPr lang="en-AU" sz="2400" dirty="0" smtClean="0"/>
          </a:p>
          <a:p>
            <a:endParaRPr lang="en-AU" sz="2400" dirty="0">
              <a:solidFill>
                <a:srgbClr val="FF0000"/>
              </a:solidFill>
            </a:endParaRPr>
          </a:p>
        </p:txBody>
      </p:sp>
      <mc:AlternateContent xmlns:mc="http://schemas.openxmlformats.org/markup-compatibility/2006" xmlns:a14="http://schemas.microsoft.com/office/drawing/2010/main">
        <mc:Choice Requires="a14">
          <p:sp>
            <p:nvSpPr>
              <p:cNvPr id="2" name="TextBox 1"/>
              <p:cNvSpPr txBox="1"/>
              <p:nvPr/>
            </p:nvSpPr>
            <p:spPr>
              <a:xfrm>
                <a:off x="190771" y="2524418"/>
                <a:ext cx="8717654" cy="2246769"/>
              </a:xfrm>
              <a:prstGeom prst="rect">
                <a:avLst/>
              </a:prstGeom>
              <a:noFill/>
            </p:spPr>
            <p:txBody>
              <a:bodyPr wrap="square" rtlCol="0">
                <a:spAutoFit/>
              </a:bodyPr>
              <a:lstStyle/>
              <a:p>
                <a:r>
                  <a:rPr lang="en-AU" sz="2800" b="1" dirty="0" smtClean="0"/>
                  <a:t>If there are 52 weeks in a year, and the doctor gets paid every week, this means their salary is paid to them in 52 equal instalments. </a:t>
                </a:r>
              </a:p>
              <a:p>
                <a:endParaRPr lang="en-AU" sz="2800" b="1" dirty="0"/>
              </a:p>
              <a:p>
                <a:pPr/>
                <a14:m>
                  <m:oMathPara xmlns:m="http://schemas.openxmlformats.org/officeDocument/2006/math">
                    <m:oMathParaPr>
                      <m:jc m:val="left"/>
                    </m:oMathParaPr>
                    <m:oMath xmlns:m="http://schemas.openxmlformats.org/officeDocument/2006/math">
                      <m:r>
                        <a:rPr lang="en-AU" sz="2800" b="1" i="1" smtClean="0">
                          <a:solidFill>
                            <a:srgbClr val="FF0000"/>
                          </a:solidFill>
                          <a:latin typeface="Cambria Math" panose="02040503050406030204" pitchFamily="18" charset="0"/>
                        </a:rPr>
                        <m:t>𝟏𝟐𝟎</m:t>
                      </m:r>
                      <m:r>
                        <a:rPr lang="en-AU" sz="2800" b="1" i="1" smtClean="0">
                          <a:solidFill>
                            <a:srgbClr val="FF0000"/>
                          </a:solidFill>
                          <a:latin typeface="Cambria Math" panose="02040503050406030204" pitchFamily="18" charset="0"/>
                        </a:rPr>
                        <m:t> </m:t>
                      </m:r>
                      <m:r>
                        <a:rPr lang="en-AU" sz="2800" b="1" i="1" smtClean="0">
                          <a:solidFill>
                            <a:srgbClr val="FF0000"/>
                          </a:solidFill>
                          <a:latin typeface="Cambria Math" panose="02040503050406030204" pitchFamily="18" charset="0"/>
                        </a:rPr>
                        <m:t>𝟎𝟎𝟎</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𝟓𝟐</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𝟐𝟑𝟎𝟕</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𝟔𝟗</m:t>
                      </m:r>
                    </m:oMath>
                  </m:oMathPara>
                </a14:m>
                <a:endParaRPr lang="en-AU" sz="2800" b="1" dirty="0">
                  <a:solidFill>
                    <a:srgbClr val="FF0000"/>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90771" y="2524418"/>
                <a:ext cx="8717654" cy="2246769"/>
              </a:xfrm>
              <a:prstGeom prst="rect">
                <a:avLst/>
              </a:prstGeom>
              <a:blipFill rotWithShape="0">
                <a:blip r:embed="rId3"/>
                <a:stretch>
                  <a:fillRect l="-1399" t="-2439"/>
                </a:stretch>
              </a:blipFill>
            </p:spPr>
            <p:txBody>
              <a:bodyPr/>
              <a:lstStyle/>
              <a:p>
                <a:r>
                  <a:rPr lang="en-AU">
                    <a:noFill/>
                  </a:rPr>
                  <a:t> </a:t>
                </a:r>
              </a:p>
            </p:txBody>
          </p:sp>
        </mc:Fallback>
      </mc:AlternateContent>
      <p:graphicFrame>
        <p:nvGraphicFramePr>
          <p:cNvPr id="15" name="Table 14"/>
          <p:cNvGraphicFramePr>
            <a:graphicFrameLocks noGrp="1"/>
          </p:cNvGraphicFramePr>
          <p:nvPr>
            <p:extLst/>
          </p:nvPr>
        </p:nvGraphicFramePr>
        <p:xfrm>
          <a:off x="8841412" y="1364792"/>
          <a:ext cx="3266440" cy="1828800"/>
        </p:xfrm>
        <a:graphic>
          <a:graphicData uri="http://schemas.openxmlformats.org/drawingml/2006/table">
            <a:tbl>
              <a:tblPr firstRow="1" bandRow="1">
                <a:tableStyleId>{21E4AEA4-8DFA-4A89-87EB-49C32662AFE0}</a:tableStyleId>
              </a:tblPr>
              <a:tblGrid>
                <a:gridCol w="3266440">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How many payments a year would you receive if you were paid weekly?</a:t>
                      </a:r>
                    </a:p>
                    <a:p>
                      <a:r>
                        <a:rPr lang="en-AU" i="1" dirty="0" smtClean="0"/>
                        <a:t>If you were paid weekly, you would</a:t>
                      </a:r>
                      <a:r>
                        <a:rPr lang="en-AU" i="1" baseline="0" dirty="0" smtClean="0"/>
                        <a:t> receive ……….</a:t>
                      </a:r>
                      <a:endParaRPr lang="en-AU" i="1" dirty="0" smtClean="0"/>
                    </a:p>
                  </a:txBody>
                  <a:tcPr>
                    <a:solidFill>
                      <a:schemeClr val="bg2"/>
                    </a:solidFill>
                  </a:tcPr>
                </a:tc>
                <a:extLst>
                  <a:ext uri="{0D108BD9-81ED-4DB2-BD59-A6C34878D82A}">
                    <a16:rowId xmlns:a16="http://schemas.microsoft.com/office/drawing/2014/main" val="10001"/>
                  </a:ext>
                </a:extLst>
              </a:tr>
            </a:tbl>
          </a:graphicData>
        </a:graphic>
      </p:graphicFrame>
      <p:sp>
        <p:nvSpPr>
          <p:cNvPr id="5" name="TextBox 4"/>
          <p:cNvSpPr txBox="1"/>
          <p:nvPr/>
        </p:nvSpPr>
        <p:spPr>
          <a:xfrm>
            <a:off x="297321" y="5463960"/>
            <a:ext cx="6832756" cy="523220"/>
          </a:xfrm>
          <a:prstGeom prst="rect">
            <a:avLst/>
          </a:prstGeom>
          <a:noFill/>
        </p:spPr>
        <p:txBody>
          <a:bodyPr wrap="square" rtlCol="0">
            <a:spAutoFit/>
          </a:bodyPr>
          <a:lstStyle/>
          <a:p>
            <a:r>
              <a:rPr lang="en-AU" sz="2800" b="1" dirty="0" smtClean="0"/>
              <a:t>The doctor earns $2307.69 per pay.</a:t>
            </a:r>
            <a:endParaRPr lang="en-AU" sz="2800" b="1" dirty="0"/>
          </a:p>
        </p:txBody>
      </p:sp>
      <p:sp>
        <p:nvSpPr>
          <p:cNvPr id="9" name="TextBox 8"/>
          <p:cNvSpPr txBox="1"/>
          <p:nvPr/>
        </p:nvSpPr>
        <p:spPr>
          <a:xfrm>
            <a:off x="-1" y="0"/>
            <a:ext cx="2692713" cy="584775"/>
          </a:xfrm>
          <a:prstGeom prst="homePlate">
            <a:avLst/>
          </a:prstGeom>
          <a:solidFill>
            <a:schemeClr val="accent5">
              <a:lumMod val="50000"/>
            </a:schemeClr>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Daily Review</a:t>
            </a:r>
            <a:endParaRPr lang="en-AU" sz="3200" dirty="0"/>
          </a:p>
        </p:txBody>
      </p:sp>
    </p:spTree>
    <p:extLst>
      <p:ext uri="{BB962C8B-B14F-4D97-AF65-F5344CB8AC3E}">
        <p14:creationId xmlns:p14="http://schemas.microsoft.com/office/powerpoint/2010/main" val="48205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78574" y="777521"/>
            <a:ext cx="6445642" cy="2123658"/>
          </a:xfrm>
          <a:prstGeom prst="rect">
            <a:avLst/>
          </a:prstGeom>
          <a:noFill/>
        </p:spPr>
        <p:txBody>
          <a:bodyPr wrap="square" rtlCol="0">
            <a:spAutoFit/>
          </a:bodyPr>
          <a:lstStyle/>
          <a:p>
            <a:r>
              <a:rPr lang="en-AU" sz="2800" b="1" dirty="0" smtClean="0"/>
              <a:t>Find the annual salary of a nurse whose weekly pay is $1589. Assume there are exactly 52 weeks in a year.</a:t>
            </a:r>
          </a:p>
          <a:p>
            <a:endParaRPr lang="en-AU" sz="2400" dirty="0"/>
          </a:p>
          <a:p>
            <a:endParaRPr lang="en-AU" sz="2400" dirty="0" smtClean="0"/>
          </a:p>
        </p:txBody>
      </p:sp>
      <mc:AlternateContent xmlns:mc="http://schemas.openxmlformats.org/markup-compatibility/2006" xmlns:a14="http://schemas.microsoft.com/office/drawing/2010/main">
        <mc:Choice Requires="a14">
          <p:sp>
            <p:nvSpPr>
              <p:cNvPr id="15" name="TextBox 14"/>
              <p:cNvSpPr txBox="1"/>
              <p:nvPr/>
            </p:nvSpPr>
            <p:spPr>
              <a:xfrm>
                <a:off x="235613" y="2513198"/>
                <a:ext cx="8717654" cy="1815882"/>
              </a:xfrm>
              <a:prstGeom prst="rect">
                <a:avLst/>
              </a:prstGeom>
              <a:noFill/>
            </p:spPr>
            <p:txBody>
              <a:bodyPr wrap="square" rtlCol="0">
                <a:spAutoFit/>
              </a:bodyPr>
              <a:lstStyle/>
              <a:p>
                <a:endParaRPr lang="en-AU" sz="2800" b="1" dirty="0" smtClean="0"/>
              </a:p>
              <a:p>
                <a:r>
                  <a:rPr lang="en-AU" sz="2800" b="1" dirty="0" smtClean="0">
                    <a:solidFill>
                      <a:srgbClr val="FF0000"/>
                    </a:solidFill>
                  </a:rPr>
                  <a:t>There will be 52 pays a year.</a:t>
                </a:r>
                <a:endParaRPr lang="en-AU" sz="2800" b="1" dirty="0">
                  <a:solidFill>
                    <a:srgbClr val="FF0000"/>
                  </a:solidFill>
                </a:endParaRPr>
              </a:p>
              <a:p>
                <a:endParaRPr lang="en-AU" sz="2800" b="1" dirty="0"/>
              </a:p>
              <a:p>
                <a:pPr/>
                <a14:m>
                  <m:oMathPara xmlns:m="http://schemas.openxmlformats.org/officeDocument/2006/math">
                    <m:oMathParaPr>
                      <m:jc m:val="left"/>
                    </m:oMathParaPr>
                    <m:oMath xmlns:m="http://schemas.openxmlformats.org/officeDocument/2006/math">
                      <m:r>
                        <a:rPr lang="en-AU" sz="2800" b="1" i="1" smtClean="0">
                          <a:solidFill>
                            <a:srgbClr val="0070C0"/>
                          </a:solidFill>
                          <a:latin typeface="Cambria Math" panose="02040503050406030204" pitchFamily="18" charset="0"/>
                        </a:rPr>
                        <m:t>𝟏𝟓𝟖𝟗</m:t>
                      </m:r>
                      <m:r>
                        <a:rPr lang="en-AU" sz="2800" b="1" i="1">
                          <a:solidFill>
                            <a:srgbClr val="0070C0"/>
                          </a:solidFill>
                          <a:latin typeface="Cambria Math" panose="02040503050406030204" pitchFamily="18" charset="0"/>
                          <a:ea typeface="Cambria Math" panose="02040503050406030204" pitchFamily="18" charset="0"/>
                        </a:rPr>
                        <m:t>×</m:t>
                      </m:r>
                      <m:r>
                        <a:rPr lang="en-AU" sz="2800" b="1" i="1" smtClean="0">
                          <a:solidFill>
                            <a:srgbClr val="0070C0"/>
                          </a:solidFill>
                          <a:latin typeface="Cambria Math" panose="02040503050406030204" pitchFamily="18" charset="0"/>
                          <a:ea typeface="Cambria Math" panose="02040503050406030204" pitchFamily="18" charset="0"/>
                        </a:rPr>
                        <m:t>𝟓𝟐</m:t>
                      </m:r>
                      <m:r>
                        <a:rPr lang="en-AU" sz="2800" b="1" i="1" smtClean="0">
                          <a:solidFill>
                            <a:srgbClr val="0070C0"/>
                          </a:solidFill>
                          <a:latin typeface="Cambria Math" panose="02040503050406030204" pitchFamily="18" charset="0"/>
                          <a:ea typeface="Cambria Math" panose="02040503050406030204" pitchFamily="18" charset="0"/>
                        </a:rPr>
                        <m:t>=$</m:t>
                      </m:r>
                      <m:r>
                        <a:rPr lang="en-AU" sz="2800" b="1" i="1" smtClean="0">
                          <a:solidFill>
                            <a:srgbClr val="0070C0"/>
                          </a:solidFill>
                          <a:latin typeface="Cambria Math" panose="02040503050406030204" pitchFamily="18" charset="0"/>
                          <a:ea typeface="Cambria Math" panose="02040503050406030204" pitchFamily="18" charset="0"/>
                        </a:rPr>
                        <m:t>𝟖𝟐</m:t>
                      </m:r>
                      <m:r>
                        <a:rPr lang="en-AU" sz="2800" b="1" i="1" smtClean="0">
                          <a:solidFill>
                            <a:srgbClr val="0070C0"/>
                          </a:solidFill>
                          <a:latin typeface="Cambria Math" panose="02040503050406030204" pitchFamily="18" charset="0"/>
                          <a:ea typeface="Cambria Math" panose="02040503050406030204" pitchFamily="18" charset="0"/>
                        </a:rPr>
                        <m:t> </m:t>
                      </m:r>
                      <m:r>
                        <a:rPr lang="en-AU" sz="2800" b="1" i="1" smtClean="0">
                          <a:solidFill>
                            <a:srgbClr val="0070C0"/>
                          </a:solidFill>
                          <a:latin typeface="Cambria Math" panose="02040503050406030204" pitchFamily="18" charset="0"/>
                          <a:ea typeface="Cambria Math" panose="02040503050406030204" pitchFamily="18" charset="0"/>
                        </a:rPr>
                        <m:t>𝟔𝟐𝟖</m:t>
                      </m:r>
                    </m:oMath>
                  </m:oMathPara>
                </a14:m>
                <a:endParaRPr lang="en-AU" sz="2800" b="1" dirty="0">
                  <a:solidFill>
                    <a:srgbClr val="0070C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235613" y="2513198"/>
                <a:ext cx="8717654" cy="1815882"/>
              </a:xfrm>
              <a:prstGeom prst="rect">
                <a:avLst/>
              </a:prstGeom>
              <a:blipFill rotWithShape="0">
                <a:blip r:embed="rId3"/>
                <a:stretch>
                  <a:fillRect l="-1469"/>
                </a:stretch>
              </a:blipFill>
            </p:spPr>
            <p:txBody>
              <a:bodyPr/>
              <a:lstStyle/>
              <a:p>
                <a:r>
                  <a:rPr lang="en-AU">
                    <a:noFill/>
                  </a:rPr>
                  <a:t> </a:t>
                </a:r>
              </a:p>
            </p:txBody>
          </p:sp>
        </mc:Fallback>
      </mc:AlternateContent>
      <p:sp>
        <p:nvSpPr>
          <p:cNvPr id="16" name="TextBox 15"/>
          <p:cNvSpPr txBox="1"/>
          <p:nvPr/>
        </p:nvSpPr>
        <p:spPr>
          <a:xfrm>
            <a:off x="297321" y="5082493"/>
            <a:ext cx="6832756" cy="523220"/>
          </a:xfrm>
          <a:prstGeom prst="rect">
            <a:avLst/>
          </a:prstGeom>
          <a:noFill/>
        </p:spPr>
        <p:txBody>
          <a:bodyPr wrap="square" rtlCol="0">
            <a:spAutoFit/>
          </a:bodyPr>
          <a:lstStyle/>
          <a:p>
            <a:r>
              <a:rPr lang="en-AU" sz="2800" b="1" dirty="0" smtClean="0"/>
              <a:t>The nurse earns $82 628 per annum.</a:t>
            </a:r>
            <a:endParaRPr lang="en-AU" sz="2800" b="1" dirty="0"/>
          </a:p>
        </p:txBody>
      </p:sp>
      <p:graphicFrame>
        <p:nvGraphicFramePr>
          <p:cNvPr id="6" name="Table 5"/>
          <p:cNvGraphicFramePr>
            <a:graphicFrameLocks noGrp="1"/>
          </p:cNvGraphicFramePr>
          <p:nvPr>
            <p:extLst/>
          </p:nvPr>
        </p:nvGraphicFramePr>
        <p:xfrm>
          <a:off x="6221287" y="0"/>
          <a:ext cx="5970714" cy="1010920"/>
        </p:xfrm>
        <a:graphic>
          <a:graphicData uri="http://schemas.openxmlformats.org/drawingml/2006/table">
            <a:tbl>
              <a:tblPr firstRow="1" bandRow="1">
                <a:tableStyleId>{F5AB1C69-6EDB-4FF4-983F-18BD219EF322}</a:tableStyleId>
              </a:tblPr>
              <a:tblGrid>
                <a:gridCol w="5970714">
                  <a:extLst>
                    <a:ext uri="{9D8B030D-6E8A-4147-A177-3AD203B41FA5}">
                      <a16:colId xmlns:a16="http://schemas.microsoft.com/office/drawing/2014/main" val="20000"/>
                    </a:ext>
                  </a:extLst>
                </a:gridCol>
              </a:tblGrid>
              <a:tr h="370840">
                <a:tc>
                  <a:txBody>
                    <a:bodyPr/>
                    <a:lstStyle/>
                    <a:p>
                      <a:r>
                        <a:rPr lang="en-AU" dirty="0" smtClean="0"/>
                        <a:t>Calculating salary:</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pPr marL="342900" marR="0" indent="-342900" algn="l" defTabSz="914400" rtl="0" eaLnBrk="1" fontAlgn="auto" latinLnBrk="0" hangingPunct="1">
                        <a:lnSpc>
                          <a:spcPct val="100000"/>
                        </a:lnSpc>
                        <a:spcBef>
                          <a:spcPts val="0"/>
                        </a:spcBef>
                        <a:spcAft>
                          <a:spcPts val="0"/>
                        </a:spcAft>
                        <a:buClrTx/>
                        <a:buSzTx/>
                        <a:buFontTx/>
                        <a:buAutoNum type="arabicPeriod"/>
                        <a:tabLst/>
                        <a:defRPr/>
                      </a:pPr>
                      <a:r>
                        <a:rPr lang="en-AU" baseline="0" dirty="0" smtClean="0">
                          <a:solidFill>
                            <a:srgbClr val="FF0000"/>
                          </a:solidFill>
                        </a:rPr>
                        <a:t>Work out how many pays there will be in one year.</a:t>
                      </a:r>
                    </a:p>
                    <a:p>
                      <a:pPr marL="342900" marR="0" indent="-342900" algn="l" defTabSz="914400" rtl="0" eaLnBrk="1" fontAlgn="auto" latinLnBrk="0" hangingPunct="1">
                        <a:lnSpc>
                          <a:spcPct val="100000"/>
                        </a:lnSpc>
                        <a:spcBef>
                          <a:spcPts val="0"/>
                        </a:spcBef>
                        <a:spcAft>
                          <a:spcPts val="0"/>
                        </a:spcAft>
                        <a:buClrTx/>
                        <a:buSzTx/>
                        <a:buFontTx/>
                        <a:buAutoNum type="arabicPeriod"/>
                        <a:tabLst/>
                        <a:defRPr/>
                      </a:pPr>
                      <a:r>
                        <a:rPr lang="en-AU" baseline="0" dirty="0" smtClean="0">
                          <a:solidFill>
                            <a:srgbClr val="0070C0"/>
                          </a:solidFill>
                        </a:rPr>
                        <a:t>Multiply the pay by this amount.</a:t>
                      </a:r>
                      <a:endParaRPr lang="en-AU" dirty="0" smtClean="0">
                        <a:solidFill>
                          <a:srgbClr val="0070C0"/>
                        </a:solidFill>
                      </a:endParaRP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7" name="TextBox 6"/>
          <p:cNvSpPr txBox="1"/>
          <p:nvPr/>
        </p:nvSpPr>
        <p:spPr>
          <a:xfrm>
            <a:off x="-1" y="0"/>
            <a:ext cx="2692713" cy="584775"/>
          </a:xfrm>
          <a:prstGeom prst="homePlate">
            <a:avLst/>
          </a:prstGeom>
          <a:solidFill>
            <a:schemeClr val="accent5">
              <a:lumMod val="50000"/>
            </a:schemeClr>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Daily Review</a:t>
            </a:r>
            <a:endParaRPr lang="en-AU" sz="3200" dirty="0"/>
          </a:p>
        </p:txBody>
      </p:sp>
    </p:spTree>
    <p:extLst>
      <p:ext uri="{BB962C8B-B14F-4D97-AF65-F5344CB8AC3E}">
        <p14:creationId xmlns:p14="http://schemas.microsoft.com/office/powerpoint/2010/main" val="2044448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1</a:t>
            </a:r>
            <a:endParaRPr lang="en-AU" sz="2400" dirty="0"/>
          </a:p>
        </p:txBody>
      </p:sp>
      <p:sp>
        <p:nvSpPr>
          <p:cNvPr id="2" name="TextBox 1"/>
          <p:cNvSpPr txBox="1"/>
          <p:nvPr/>
        </p:nvSpPr>
        <p:spPr>
          <a:xfrm>
            <a:off x="140245" y="600250"/>
            <a:ext cx="11819883" cy="1938992"/>
          </a:xfrm>
          <a:prstGeom prst="rect">
            <a:avLst/>
          </a:prstGeom>
          <a:noFill/>
        </p:spPr>
        <p:txBody>
          <a:bodyPr wrap="square" rtlCol="0">
            <a:spAutoFit/>
          </a:bodyPr>
          <a:lstStyle/>
          <a:p>
            <a:r>
              <a:rPr lang="en-AU" sz="2000" dirty="0" smtClean="0"/>
              <a:t>Jemima works for a company and her normal rate of pay is $23.40 per hour. However:</a:t>
            </a:r>
          </a:p>
          <a:p>
            <a:pPr marL="285750" indent="-285750">
              <a:buFont typeface="Arial" panose="020B0604020202020204" pitchFamily="34" charset="0"/>
              <a:buChar char="•"/>
            </a:pPr>
            <a:r>
              <a:rPr lang="en-AU" sz="2000" dirty="0" smtClean="0"/>
              <a:t>If she works more than 8 hours on a weekday, further hours are paid at ‘time and a half’.</a:t>
            </a:r>
          </a:p>
          <a:p>
            <a:pPr marL="285750" indent="-285750">
              <a:buFont typeface="Arial" panose="020B0604020202020204" pitchFamily="34" charset="0"/>
              <a:buChar char="•"/>
            </a:pPr>
            <a:r>
              <a:rPr lang="en-AU" sz="2000" dirty="0" smtClean="0"/>
              <a:t>Any Saturday hours are paid at ‘time and a half’.</a:t>
            </a:r>
          </a:p>
          <a:p>
            <a:pPr marL="285750" indent="-285750">
              <a:buFont typeface="Arial" panose="020B0604020202020204" pitchFamily="34" charset="0"/>
              <a:buChar char="•"/>
            </a:pPr>
            <a:r>
              <a:rPr lang="en-AU" sz="2000" dirty="0" smtClean="0"/>
              <a:t>Any Sunday hours are paid at ‘double time’.</a:t>
            </a:r>
          </a:p>
          <a:p>
            <a:endParaRPr lang="en-AU" sz="2000" dirty="0"/>
          </a:p>
          <a:p>
            <a:r>
              <a:rPr lang="en-AU" sz="2000" dirty="0" smtClean="0"/>
              <a:t>Complete the wage slip for Jemima.</a:t>
            </a:r>
          </a:p>
        </p:txBody>
      </p:sp>
      <p:pic>
        <p:nvPicPr>
          <p:cNvPr id="4" name="Picture 3"/>
          <p:cNvPicPr>
            <a:picLocks noChangeAspect="1"/>
          </p:cNvPicPr>
          <p:nvPr/>
        </p:nvPicPr>
        <p:blipFill>
          <a:blip r:embed="rId2"/>
          <a:stretch>
            <a:fillRect/>
          </a:stretch>
        </p:blipFill>
        <p:spPr>
          <a:xfrm>
            <a:off x="182786" y="2452483"/>
            <a:ext cx="11734800" cy="3905250"/>
          </a:xfrm>
          <a:prstGeom prst="rect">
            <a:avLst/>
          </a:prstGeom>
        </p:spPr>
      </p:pic>
      <p:sp>
        <p:nvSpPr>
          <p:cNvPr id="5" name="TextBox 4"/>
          <p:cNvSpPr txBox="1"/>
          <p:nvPr/>
        </p:nvSpPr>
        <p:spPr>
          <a:xfrm>
            <a:off x="4695416" y="3332231"/>
            <a:ext cx="1531480" cy="400110"/>
          </a:xfrm>
          <a:prstGeom prst="rect">
            <a:avLst/>
          </a:prstGeom>
          <a:noFill/>
        </p:spPr>
        <p:txBody>
          <a:bodyPr wrap="square" rtlCol="0">
            <a:spAutoFit/>
          </a:bodyPr>
          <a:lstStyle/>
          <a:p>
            <a:r>
              <a:rPr lang="en-AU" sz="2000" b="1" dirty="0" smtClean="0">
                <a:solidFill>
                  <a:srgbClr val="FF0000"/>
                </a:solidFill>
              </a:rPr>
              <a:t>$35.10/hour</a:t>
            </a:r>
            <a:endParaRPr lang="en-AU" sz="2000" b="1" dirty="0">
              <a:solidFill>
                <a:srgbClr val="FF0000"/>
              </a:solidFill>
            </a:endParaRPr>
          </a:p>
        </p:txBody>
      </p:sp>
      <p:sp>
        <p:nvSpPr>
          <p:cNvPr id="7" name="TextBox 6"/>
          <p:cNvSpPr txBox="1"/>
          <p:nvPr/>
        </p:nvSpPr>
        <p:spPr>
          <a:xfrm>
            <a:off x="7961264" y="3669755"/>
            <a:ext cx="3853008" cy="400110"/>
          </a:xfrm>
          <a:prstGeom prst="rect">
            <a:avLst/>
          </a:prstGeom>
          <a:noFill/>
        </p:spPr>
        <p:txBody>
          <a:bodyPr wrap="square" rtlCol="0">
            <a:spAutoFit/>
          </a:bodyPr>
          <a:lstStyle/>
          <a:p>
            <a:r>
              <a:rPr lang="en-AU" sz="2000" b="1" dirty="0" smtClean="0">
                <a:solidFill>
                  <a:srgbClr val="FF0000"/>
                </a:solidFill>
              </a:rPr>
              <a:t>8 x 23.4 = $187.20</a:t>
            </a:r>
            <a:endParaRPr lang="en-AU" sz="2000" b="1" dirty="0">
              <a:solidFill>
                <a:srgbClr val="FF0000"/>
              </a:solidFill>
            </a:endParaRPr>
          </a:p>
        </p:txBody>
      </p:sp>
      <p:sp>
        <p:nvSpPr>
          <p:cNvPr id="8" name="TextBox 7"/>
          <p:cNvSpPr txBox="1"/>
          <p:nvPr/>
        </p:nvSpPr>
        <p:spPr>
          <a:xfrm>
            <a:off x="7961264" y="4004998"/>
            <a:ext cx="3853008" cy="400110"/>
          </a:xfrm>
          <a:prstGeom prst="rect">
            <a:avLst/>
          </a:prstGeom>
          <a:noFill/>
        </p:spPr>
        <p:txBody>
          <a:bodyPr wrap="square" rtlCol="0">
            <a:spAutoFit/>
          </a:bodyPr>
          <a:lstStyle/>
          <a:p>
            <a:r>
              <a:rPr lang="en-AU" sz="2000" b="1" dirty="0" smtClean="0">
                <a:solidFill>
                  <a:srgbClr val="FF0000"/>
                </a:solidFill>
              </a:rPr>
              <a:t>8 x 23.4 = $187.20</a:t>
            </a:r>
            <a:endParaRPr lang="en-AU" sz="2000" b="1" dirty="0">
              <a:solidFill>
                <a:srgbClr val="FF0000"/>
              </a:solidFill>
            </a:endParaRPr>
          </a:p>
        </p:txBody>
      </p:sp>
      <p:sp>
        <p:nvSpPr>
          <p:cNvPr id="9" name="TextBox 8"/>
          <p:cNvSpPr txBox="1"/>
          <p:nvPr/>
        </p:nvSpPr>
        <p:spPr>
          <a:xfrm>
            <a:off x="7961264" y="4340241"/>
            <a:ext cx="3853008" cy="400110"/>
          </a:xfrm>
          <a:prstGeom prst="rect">
            <a:avLst/>
          </a:prstGeom>
          <a:noFill/>
        </p:spPr>
        <p:txBody>
          <a:bodyPr wrap="square" rtlCol="0">
            <a:spAutoFit/>
          </a:bodyPr>
          <a:lstStyle/>
          <a:p>
            <a:r>
              <a:rPr lang="en-AU" sz="2000" b="1" dirty="0" smtClean="0">
                <a:solidFill>
                  <a:srgbClr val="FF0000"/>
                </a:solidFill>
              </a:rPr>
              <a:t>8 x 23.4 + 1 x 35.1 = $222.30</a:t>
            </a:r>
            <a:endParaRPr lang="en-AU" sz="2000" b="1" dirty="0">
              <a:solidFill>
                <a:srgbClr val="FF0000"/>
              </a:solidFill>
            </a:endParaRPr>
          </a:p>
        </p:txBody>
      </p:sp>
      <p:sp>
        <p:nvSpPr>
          <p:cNvPr id="10" name="TextBox 9"/>
          <p:cNvSpPr txBox="1"/>
          <p:nvPr/>
        </p:nvSpPr>
        <p:spPr>
          <a:xfrm>
            <a:off x="4371916" y="4749558"/>
            <a:ext cx="7150646" cy="400110"/>
          </a:xfrm>
          <a:prstGeom prst="rect">
            <a:avLst/>
          </a:prstGeom>
          <a:noFill/>
        </p:spPr>
        <p:txBody>
          <a:bodyPr wrap="square" rtlCol="0">
            <a:spAutoFit/>
          </a:bodyPr>
          <a:lstStyle/>
          <a:p>
            <a:r>
              <a:rPr lang="en-AU" sz="2000" b="1" dirty="0" smtClean="0">
                <a:solidFill>
                  <a:srgbClr val="FF0000"/>
                </a:solidFill>
              </a:rPr>
              <a:t>8                          2                           0   8 x 23.4 + 2 x 35.1 = $257.40</a:t>
            </a:r>
            <a:endParaRPr lang="en-AU" sz="2000" b="1" dirty="0">
              <a:solidFill>
                <a:srgbClr val="FF0000"/>
              </a:solidFill>
            </a:endParaRPr>
          </a:p>
        </p:txBody>
      </p:sp>
      <p:sp>
        <p:nvSpPr>
          <p:cNvPr id="11" name="TextBox 10"/>
          <p:cNvSpPr txBox="1"/>
          <p:nvPr/>
        </p:nvSpPr>
        <p:spPr>
          <a:xfrm>
            <a:off x="4371916" y="5144328"/>
            <a:ext cx="7150646" cy="400110"/>
          </a:xfrm>
          <a:prstGeom prst="rect">
            <a:avLst/>
          </a:prstGeom>
          <a:noFill/>
        </p:spPr>
        <p:txBody>
          <a:bodyPr wrap="square" rtlCol="0">
            <a:spAutoFit/>
          </a:bodyPr>
          <a:lstStyle/>
          <a:p>
            <a:r>
              <a:rPr lang="en-AU" sz="2000" b="1" dirty="0" smtClean="0">
                <a:solidFill>
                  <a:srgbClr val="FF0000"/>
                </a:solidFill>
              </a:rPr>
              <a:t>8                          0                           0   8 x 23.4 = $187.20</a:t>
            </a:r>
            <a:endParaRPr lang="en-AU" sz="2000" b="1" dirty="0">
              <a:solidFill>
                <a:srgbClr val="FF0000"/>
              </a:solidFill>
            </a:endParaRPr>
          </a:p>
        </p:txBody>
      </p:sp>
      <p:sp>
        <p:nvSpPr>
          <p:cNvPr id="12" name="TextBox 11"/>
          <p:cNvSpPr txBox="1"/>
          <p:nvPr/>
        </p:nvSpPr>
        <p:spPr>
          <a:xfrm>
            <a:off x="4371916" y="5494118"/>
            <a:ext cx="7150646" cy="400110"/>
          </a:xfrm>
          <a:prstGeom prst="rect">
            <a:avLst/>
          </a:prstGeom>
          <a:noFill/>
        </p:spPr>
        <p:txBody>
          <a:bodyPr wrap="square" rtlCol="0">
            <a:spAutoFit/>
          </a:bodyPr>
          <a:lstStyle/>
          <a:p>
            <a:r>
              <a:rPr lang="en-AU" sz="2000" b="1" dirty="0" smtClean="0">
                <a:solidFill>
                  <a:srgbClr val="FF0000"/>
                </a:solidFill>
              </a:rPr>
              <a:t>0                          </a:t>
            </a:r>
            <a:r>
              <a:rPr lang="en-AU" sz="2000" b="1" dirty="0">
                <a:solidFill>
                  <a:srgbClr val="FF0000"/>
                </a:solidFill>
              </a:rPr>
              <a:t>4</a:t>
            </a:r>
            <a:r>
              <a:rPr lang="en-AU" sz="2000" b="1" dirty="0" smtClean="0">
                <a:solidFill>
                  <a:srgbClr val="FF0000"/>
                </a:solidFill>
              </a:rPr>
              <a:t>                           0   4 x 35.1 = $140.40</a:t>
            </a:r>
            <a:endParaRPr lang="en-AU" sz="2000" b="1" dirty="0">
              <a:solidFill>
                <a:srgbClr val="FF0000"/>
              </a:solidFill>
            </a:endParaRPr>
          </a:p>
        </p:txBody>
      </p:sp>
      <p:sp>
        <p:nvSpPr>
          <p:cNvPr id="13" name="TextBox 12"/>
          <p:cNvSpPr txBox="1"/>
          <p:nvPr/>
        </p:nvSpPr>
        <p:spPr>
          <a:xfrm>
            <a:off x="4371916" y="5838568"/>
            <a:ext cx="7150646" cy="400110"/>
          </a:xfrm>
          <a:prstGeom prst="rect">
            <a:avLst/>
          </a:prstGeom>
          <a:noFill/>
        </p:spPr>
        <p:txBody>
          <a:bodyPr wrap="square" rtlCol="0">
            <a:spAutoFit/>
          </a:bodyPr>
          <a:lstStyle/>
          <a:p>
            <a:r>
              <a:rPr lang="en-AU" sz="2000" b="1" dirty="0" smtClean="0">
                <a:solidFill>
                  <a:srgbClr val="FF0000"/>
                </a:solidFill>
              </a:rPr>
              <a:t>0                          0                           </a:t>
            </a:r>
            <a:r>
              <a:rPr lang="en-AU" sz="2000" b="1" dirty="0">
                <a:solidFill>
                  <a:srgbClr val="FF0000"/>
                </a:solidFill>
              </a:rPr>
              <a:t>4</a:t>
            </a:r>
            <a:r>
              <a:rPr lang="en-AU" sz="2000" b="1" dirty="0" smtClean="0">
                <a:solidFill>
                  <a:srgbClr val="FF0000"/>
                </a:solidFill>
              </a:rPr>
              <a:t>   4 x 46.8 = $187.20</a:t>
            </a:r>
            <a:endParaRPr lang="en-AU" sz="2000" b="1" dirty="0">
              <a:solidFill>
                <a:srgbClr val="FF0000"/>
              </a:solidFill>
            </a:endParaRPr>
          </a:p>
        </p:txBody>
      </p:sp>
      <p:sp>
        <p:nvSpPr>
          <p:cNvPr id="6" name="TextBox 5"/>
          <p:cNvSpPr txBox="1"/>
          <p:nvPr/>
        </p:nvSpPr>
        <p:spPr>
          <a:xfrm>
            <a:off x="5461156" y="6348254"/>
            <a:ext cx="6835093" cy="400110"/>
          </a:xfrm>
          <a:prstGeom prst="rect">
            <a:avLst/>
          </a:prstGeom>
          <a:noFill/>
        </p:spPr>
        <p:txBody>
          <a:bodyPr wrap="square" rtlCol="0">
            <a:spAutoFit/>
          </a:bodyPr>
          <a:lstStyle/>
          <a:p>
            <a:r>
              <a:rPr lang="en-AU" sz="2000" b="1" dirty="0" smtClean="0"/>
              <a:t>Total earnings for week:      $1368.90</a:t>
            </a:r>
            <a:endParaRPr lang="en-AU" sz="2000" b="1" dirty="0"/>
          </a:p>
        </p:txBody>
      </p:sp>
      <p:sp>
        <p:nvSpPr>
          <p:cNvPr id="15" name="TextBox 14"/>
          <p:cNvSpPr txBox="1"/>
          <p:nvPr/>
        </p:nvSpPr>
        <p:spPr>
          <a:xfrm>
            <a:off x="7085198" y="2934012"/>
            <a:ext cx="566591" cy="369332"/>
          </a:xfrm>
          <a:prstGeom prst="rect">
            <a:avLst/>
          </a:prstGeom>
          <a:noFill/>
        </p:spPr>
        <p:txBody>
          <a:bodyPr wrap="square" rtlCol="0">
            <a:spAutoFit/>
          </a:bodyPr>
          <a:lstStyle/>
          <a:p>
            <a:r>
              <a:rPr lang="en-AU" b="1" dirty="0" smtClean="0"/>
              <a:t>x2</a:t>
            </a:r>
            <a:endParaRPr lang="en-AU" b="1" dirty="0"/>
          </a:p>
        </p:txBody>
      </p:sp>
      <p:sp>
        <p:nvSpPr>
          <p:cNvPr id="16" name="TextBox 15"/>
          <p:cNvSpPr txBox="1"/>
          <p:nvPr/>
        </p:nvSpPr>
        <p:spPr>
          <a:xfrm>
            <a:off x="5772501" y="2931661"/>
            <a:ext cx="674113" cy="369332"/>
          </a:xfrm>
          <a:prstGeom prst="rect">
            <a:avLst/>
          </a:prstGeom>
          <a:noFill/>
        </p:spPr>
        <p:txBody>
          <a:bodyPr wrap="square" rtlCol="0">
            <a:spAutoFit/>
          </a:bodyPr>
          <a:lstStyle/>
          <a:p>
            <a:r>
              <a:rPr lang="en-AU" b="1" dirty="0"/>
              <a:t>x</a:t>
            </a:r>
            <a:r>
              <a:rPr lang="en-AU" b="1" dirty="0" smtClean="0"/>
              <a:t>1.5</a:t>
            </a:r>
            <a:endParaRPr lang="en-AU" b="1" dirty="0"/>
          </a:p>
        </p:txBody>
      </p:sp>
    </p:spTree>
    <p:extLst>
      <p:ext uri="{BB962C8B-B14F-4D97-AF65-F5344CB8AC3E}">
        <p14:creationId xmlns:p14="http://schemas.microsoft.com/office/powerpoint/2010/main" val="373935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2</a:t>
            </a:r>
            <a:endParaRPr lang="en-AU" sz="2400" dirty="0"/>
          </a:p>
        </p:txBody>
      </p:sp>
      <p:sp>
        <p:nvSpPr>
          <p:cNvPr id="4" name="TextBox 3"/>
          <p:cNvSpPr txBox="1"/>
          <p:nvPr/>
        </p:nvSpPr>
        <p:spPr>
          <a:xfrm>
            <a:off x="112196" y="560982"/>
            <a:ext cx="11808663" cy="2246769"/>
          </a:xfrm>
          <a:prstGeom prst="rect">
            <a:avLst/>
          </a:prstGeom>
          <a:noFill/>
        </p:spPr>
        <p:txBody>
          <a:bodyPr wrap="square" rtlCol="0">
            <a:spAutoFit/>
          </a:bodyPr>
          <a:lstStyle/>
          <a:p>
            <a:r>
              <a:rPr lang="en-AU" sz="2000" dirty="0" smtClean="0"/>
              <a:t>Tom is looking in the newspaper for clerical jobs and sees the advertisement partially shown on the right.</a:t>
            </a:r>
          </a:p>
          <a:p>
            <a:endParaRPr lang="en-AU" sz="2000" dirty="0"/>
          </a:p>
          <a:p>
            <a:r>
              <a:rPr lang="en-AU" sz="2000" dirty="0" smtClean="0"/>
              <a:t>Tom is 22 years old and wants to know:</a:t>
            </a:r>
          </a:p>
          <a:p>
            <a:pPr marL="285750" indent="-285750">
              <a:buFont typeface="Arial" panose="020B0604020202020204" pitchFamily="34" charset="0"/>
              <a:buChar char="•"/>
            </a:pPr>
            <a:r>
              <a:rPr lang="en-AU" sz="2000" dirty="0" smtClean="0"/>
              <a:t>How much this job would pay per week.</a:t>
            </a:r>
          </a:p>
          <a:p>
            <a:pPr marL="285750" indent="-285750">
              <a:buFont typeface="Arial" panose="020B0604020202020204" pitchFamily="34" charset="0"/>
              <a:buChar char="•"/>
            </a:pPr>
            <a:r>
              <a:rPr lang="en-AU" sz="2000" dirty="0" smtClean="0"/>
              <a:t>How much this job would pay per fortnight.</a:t>
            </a:r>
          </a:p>
          <a:p>
            <a:pPr marL="285750" indent="-285750">
              <a:buFont typeface="Arial" panose="020B0604020202020204" pitchFamily="34" charset="0"/>
              <a:buChar char="•"/>
            </a:pPr>
            <a:r>
              <a:rPr lang="en-AU" sz="2000" dirty="0" smtClean="0"/>
              <a:t>How much this job would pay per month.</a:t>
            </a:r>
          </a:p>
          <a:p>
            <a:pPr marL="285750" indent="-285750">
              <a:buFont typeface="Arial" panose="020B0604020202020204" pitchFamily="34" charset="0"/>
              <a:buChar char="•"/>
            </a:pPr>
            <a:r>
              <a:rPr lang="en-AU" sz="2000" dirty="0" smtClean="0"/>
              <a:t>How much weekly income would increase once he is 25.</a:t>
            </a:r>
            <a:endParaRPr lang="en-AU" sz="2000" dirty="0"/>
          </a:p>
        </p:txBody>
      </p:sp>
      <p:sp>
        <p:nvSpPr>
          <p:cNvPr id="6" name="TextBox 5"/>
          <p:cNvSpPr txBox="1"/>
          <p:nvPr/>
        </p:nvSpPr>
        <p:spPr>
          <a:xfrm>
            <a:off x="7651789" y="1245379"/>
            <a:ext cx="3786625" cy="2215991"/>
          </a:xfrm>
          <a:prstGeom prst="rect">
            <a:avLst/>
          </a:prstGeom>
          <a:noFill/>
          <a:ln>
            <a:solidFill>
              <a:schemeClr val="tx1"/>
            </a:solidFill>
          </a:ln>
        </p:spPr>
        <p:txBody>
          <a:bodyPr wrap="square" rtlCol="0">
            <a:spAutoFit/>
          </a:bodyPr>
          <a:lstStyle/>
          <a:p>
            <a:pPr algn="ctr"/>
            <a:r>
              <a:rPr lang="en-AU" sz="2000" dirty="0" smtClean="0"/>
              <a:t>WANTED</a:t>
            </a:r>
          </a:p>
          <a:p>
            <a:pPr algn="ctr"/>
            <a:r>
              <a:rPr lang="en-AU" sz="2000" dirty="0" smtClean="0"/>
              <a:t>ACCOUNTS CLERK</a:t>
            </a:r>
          </a:p>
          <a:p>
            <a:pPr algn="ctr"/>
            <a:endParaRPr lang="en-AU" sz="2000" dirty="0"/>
          </a:p>
          <a:p>
            <a:pPr algn="ctr"/>
            <a:r>
              <a:rPr lang="en-AU" sz="2000" dirty="0" smtClean="0"/>
              <a:t>Annual salary:</a:t>
            </a:r>
          </a:p>
          <a:p>
            <a:pPr algn="ctr"/>
            <a:r>
              <a:rPr lang="en-AU" sz="2000" dirty="0" smtClean="0"/>
              <a:t>Aged 20-24	$58 000</a:t>
            </a:r>
          </a:p>
          <a:p>
            <a:pPr algn="ctr"/>
            <a:r>
              <a:rPr lang="en-AU" sz="2000" dirty="0" smtClean="0"/>
              <a:t>Aged 25+	$65 000</a:t>
            </a:r>
          </a:p>
          <a:p>
            <a:endParaRPr lang="en-AU" dirty="0"/>
          </a:p>
        </p:txBody>
      </p:sp>
      <p:sp>
        <p:nvSpPr>
          <p:cNvPr id="7" name="TextBox 6"/>
          <p:cNvSpPr txBox="1"/>
          <p:nvPr/>
        </p:nvSpPr>
        <p:spPr>
          <a:xfrm>
            <a:off x="420736" y="2934505"/>
            <a:ext cx="6434459" cy="400110"/>
          </a:xfrm>
          <a:prstGeom prst="rect">
            <a:avLst/>
          </a:prstGeom>
          <a:noFill/>
        </p:spPr>
        <p:txBody>
          <a:bodyPr wrap="square" rtlCol="0">
            <a:spAutoFit/>
          </a:bodyPr>
          <a:lstStyle/>
          <a:p>
            <a:r>
              <a:rPr lang="en-AU" sz="2000" b="1" dirty="0" smtClean="0"/>
              <a:t>Pay per week: 		58 000 / 52 = $1115.38</a:t>
            </a:r>
            <a:endParaRPr lang="en-AU" sz="2000" b="1" dirty="0"/>
          </a:p>
        </p:txBody>
      </p:sp>
      <p:sp>
        <p:nvSpPr>
          <p:cNvPr id="9" name="TextBox 8"/>
          <p:cNvSpPr txBox="1"/>
          <p:nvPr/>
        </p:nvSpPr>
        <p:spPr>
          <a:xfrm>
            <a:off x="420736" y="3444652"/>
            <a:ext cx="6434459" cy="400110"/>
          </a:xfrm>
          <a:prstGeom prst="rect">
            <a:avLst/>
          </a:prstGeom>
          <a:noFill/>
        </p:spPr>
        <p:txBody>
          <a:bodyPr wrap="square" rtlCol="0">
            <a:spAutoFit/>
          </a:bodyPr>
          <a:lstStyle/>
          <a:p>
            <a:r>
              <a:rPr lang="en-AU" sz="2000" b="1" dirty="0" smtClean="0"/>
              <a:t>Pay per fortnight: 	58 000 / 26 = $2230.77 </a:t>
            </a:r>
            <a:endParaRPr lang="en-AU" sz="2000" b="1" dirty="0"/>
          </a:p>
        </p:txBody>
      </p:sp>
      <p:sp>
        <p:nvSpPr>
          <p:cNvPr id="10" name="TextBox 9"/>
          <p:cNvSpPr txBox="1"/>
          <p:nvPr/>
        </p:nvSpPr>
        <p:spPr>
          <a:xfrm>
            <a:off x="420736" y="3954799"/>
            <a:ext cx="6434459" cy="400110"/>
          </a:xfrm>
          <a:prstGeom prst="rect">
            <a:avLst/>
          </a:prstGeom>
          <a:noFill/>
        </p:spPr>
        <p:txBody>
          <a:bodyPr wrap="square" rtlCol="0">
            <a:spAutoFit/>
          </a:bodyPr>
          <a:lstStyle/>
          <a:p>
            <a:r>
              <a:rPr lang="en-AU" sz="2000" b="1" dirty="0" smtClean="0"/>
              <a:t>Pay per month: 		58 000 / 12 = $4833.33 </a:t>
            </a:r>
            <a:endParaRPr lang="en-AU" sz="2000" b="1" dirty="0"/>
          </a:p>
        </p:txBody>
      </p:sp>
      <p:sp>
        <p:nvSpPr>
          <p:cNvPr id="11" name="TextBox 10"/>
          <p:cNvSpPr txBox="1"/>
          <p:nvPr/>
        </p:nvSpPr>
        <p:spPr>
          <a:xfrm>
            <a:off x="420735" y="4464946"/>
            <a:ext cx="7090809" cy="707886"/>
          </a:xfrm>
          <a:prstGeom prst="rect">
            <a:avLst/>
          </a:prstGeom>
          <a:noFill/>
        </p:spPr>
        <p:txBody>
          <a:bodyPr wrap="square" rtlCol="0">
            <a:spAutoFit/>
          </a:bodyPr>
          <a:lstStyle/>
          <a:p>
            <a:r>
              <a:rPr lang="en-AU" sz="2000" b="1" dirty="0" smtClean="0"/>
              <a:t>Pay per week once 25: 	65 000 / 52 = $1250</a:t>
            </a:r>
          </a:p>
          <a:p>
            <a:r>
              <a:rPr lang="en-AU" sz="2000" b="1" dirty="0"/>
              <a:t>	</a:t>
            </a:r>
            <a:r>
              <a:rPr lang="en-AU" sz="2000" b="1" dirty="0" smtClean="0"/>
              <a:t>		1250 – 1115.38 = $134.62 more a week</a:t>
            </a:r>
            <a:endParaRPr lang="en-AU" sz="2000" b="1" dirty="0"/>
          </a:p>
        </p:txBody>
      </p:sp>
      <p:sp>
        <p:nvSpPr>
          <p:cNvPr id="12" name="TextBox 11"/>
          <p:cNvSpPr txBox="1"/>
          <p:nvPr/>
        </p:nvSpPr>
        <p:spPr>
          <a:xfrm>
            <a:off x="420733" y="5595277"/>
            <a:ext cx="11387929" cy="400110"/>
          </a:xfrm>
          <a:prstGeom prst="rect">
            <a:avLst/>
          </a:prstGeom>
          <a:noFill/>
        </p:spPr>
        <p:txBody>
          <a:bodyPr wrap="square" rtlCol="0">
            <a:spAutoFit/>
          </a:bodyPr>
          <a:lstStyle/>
          <a:p>
            <a:r>
              <a:rPr lang="en-AU" sz="2000" dirty="0" smtClean="0"/>
              <a:t>(We have assumed there are exactly 52 weeks and 26 fortnights in a year.)</a:t>
            </a:r>
            <a:endParaRPr lang="en-AU" sz="2000" dirty="0"/>
          </a:p>
        </p:txBody>
      </p:sp>
      <p:sp>
        <p:nvSpPr>
          <p:cNvPr id="13" name="TextBox 12"/>
          <p:cNvSpPr txBox="1"/>
          <p:nvPr/>
        </p:nvSpPr>
        <p:spPr>
          <a:xfrm>
            <a:off x="4400898" y="0"/>
            <a:ext cx="2779666" cy="461665"/>
          </a:xfrm>
          <a:prstGeom prst="rect">
            <a:avLst/>
          </a:prstGeom>
          <a:solidFill>
            <a:srgbClr val="FFFF00"/>
          </a:solidFill>
        </p:spPr>
        <p:txBody>
          <a:bodyPr wrap="square" rtlCol="0">
            <a:spAutoFit/>
          </a:bodyPr>
          <a:lstStyle/>
          <a:p>
            <a:pPr algn="ctr"/>
            <a:r>
              <a:rPr lang="en-AU" sz="2400" dirty="0" smtClean="0"/>
              <a:t>Now do Exercise 5A</a:t>
            </a:r>
            <a:endParaRPr lang="en-AU" sz="2400" dirty="0"/>
          </a:p>
        </p:txBody>
      </p:sp>
    </p:spTree>
    <p:extLst>
      <p:ext uri="{BB962C8B-B14F-4D97-AF65-F5344CB8AC3E}">
        <p14:creationId xmlns:p14="http://schemas.microsoft.com/office/powerpoint/2010/main" val="53915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Exercise 5B – Comparing Prices </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409617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692AAAE-AC6B-47F3-A6B4-C4F34FA04B8D}"/>
              </a:ext>
            </a:extLst>
          </p:cNvPr>
          <p:cNvPicPr>
            <a:picLocks noChangeAspect="1"/>
          </p:cNvPicPr>
          <p:nvPr/>
        </p:nvPicPr>
        <p:blipFill>
          <a:blip r:embed="rId2"/>
          <a:stretch>
            <a:fillRect/>
          </a:stretch>
        </p:blipFill>
        <p:spPr>
          <a:xfrm>
            <a:off x="359664" y="3982361"/>
            <a:ext cx="2615113" cy="2615113"/>
          </a:xfrm>
          <a:prstGeom prst="rect">
            <a:avLst/>
          </a:prstGeom>
        </p:spPr>
      </p:pic>
      <p:pic>
        <p:nvPicPr>
          <p:cNvPr id="8" name="Picture 7">
            <a:extLst>
              <a:ext uri="{FF2B5EF4-FFF2-40B4-BE49-F238E27FC236}">
                <a16:creationId xmlns:a16="http://schemas.microsoft.com/office/drawing/2014/main" id="{494C382E-81C0-4477-85A6-3C23D18DEF45}"/>
              </a:ext>
            </a:extLst>
          </p:cNvPr>
          <p:cNvPicPr>
            <a:picLocks noChangeAspect="1"/>
          </p:cNvPicPr>
          <p:nvPr/>
        </p:nvPicPr>
        <p:blipFill>
          <a:blip r:embed="rId3"/>
          <a:stretch>
            <a:fillRect/>
          </a:stretch>
        </p:blipFill>
        <p:spPr>
          <a:xfrm>
            <a:off x="3064116" y="720864"/>
            <a:ext cx="2804922" cy="2804922"/>
          </a:xfrm>
          <a:prstGeom prst="rect">
            <a:avLst/>
          </a:prstGeom>
        </p:spPr>
      </p:pic>
      <p:pic>
        <p:nvPicPr>
          <p:cNvPr id="12" name="Picture 11">
            <a:extLst>
              <a:ext uri="{FF2B5EF4-FFF2-40B4-BE49-F238E27FC236}">
                <a16:creationId xmlns:a16="http://schemas.microsoft.com/office/drawing/2014/main" id="{372E8380-9A77-45A8-8787-816BD2C026B8}"/>
              </a:ext>
            </a:extLst>
          </p:cNvPr>
          <p:cNvPicPr>
            <a:picLocks noChangeAspect="1"/>
          </p:cNvPicPr>
          <p:nvPr/>
        </p:nvPicPr>
        <p:blipFill>
          <a:blip r:embed="rId4"/>
          <a:stretch>
            <a:fillRect/>
          </a:stretch>
        </p:blipFill>
        <p:spPr>
          <a:xfrm>
            <a:off x="5908064" y="3711159"/>
            <a:ext cx="2798402" cy="2798402"/>
          </a:xfrm>
          <a:prstGeom prst="rect">
            <a:avLst/>
          </a:prstGeom>
        </p:spPr>
      </p:pic>
      <p:pic>
        <p:nvPicPr>
          <p:cNvPr id="13" name="Picture 12">
            <a:extLst>
              <a:ext uri="{FF2B5EF4-FFF2-40B4-BE49-F238E27FC236}">
                <a16:creationId xmlns:a16="http://schemas.microsoft.com/office/drawing/2014/main" id="{C125A512-6908-4260-BDED-983EE8C9218B}"/>
              </a:ext>
            </a:extLst>
          </p:cNvPr>
          <p:cNvPicPr>
            <a:picLocks noChangeAspect="1"/>
          </p:cNvPicPr>
          <p:nvPr/>
        </p:nvPicPr>
        <p:blipFill>
          <a:blip r:embed="rId5"/>
          <a:stretch>
            <a:fillRect/>
          </a:stretch>
        </p:blipFill>
        <p:spPr>
          <a:xfrm>
            <a:off x="9247632" y="289624"/>
            <a:ext cx="2568976" cy="2568976"/>
          </a:xfrm>
          <a:prstGeom prst="rect">
            <a:avLst/>
          </a:prstGeom>
        </p:spPr>
      </p:pic>
      <p:sp>
        <p:nvSpPr>
          <p:cNvPr id="15" name="TextBox 14">
            <a:extLst>
              <a:ext uri="{FF2B5EF4-FFF2-40B4-BE49-F238E27FC236}">
                <a16:creationId xmlns:a16="http://schemas.microsoft.com/office/drawing/2014/main" id="{F7182D83-49ED-4AF6-95D5-9545DB0B664C}"/>
              </a:ext>
            </a:extLst>
          </p:cNvPr>
          <p:cNvSpPr txBox="1"/>
          <p:nvPr/>
        </p:nvSpPr>
        <p:spPr>
          <a:xfrm>
            <a:off x="253626" y="2220498"/>
            <a:ext cx="2748209" cy="1569660"/>
          </a:xfrm>
          <a:prstGeom prst="rect">
            <a:avLst/>
          </a:prstGeom>
          <a:noFill/>
        </p:spPr>
        <p:txBody>
          <a:bodyPr wrap="square" rtlCol="0">
            <a:spAutoFit/>
          </a:bodyPr>
          <a:lstStyle/>
          <a:p>
            <a:pPr algn="ctr"/>
            <a:r>
              <a:rPr lang="en-AU" sz="3200" b="1" dirty="0">
                <a:solidFill>
                  <a:srgbClr val="C00000"/>
                </a:solidFill>
              </a:rPr>
              <a:t>$3.00</a:t>
            </a:r>
          </a:p>
          <a:p>
            <a:pPr algn="ctr"/>
            <a:r>
              <a:rPr lang="en-AU" sz="3200" b="1" dirty="0">
                <a:solidFill>
                  <a:srgbClr val="C00000"/>
                </a:solidFill>
              </a:rPr>
              <a:t> for a 100 g block</a:t>
            </a:r>
          </a:p>
        </p:txBody>
      </p:sp>
      <p:sp>
        <p:nvSpPr>
          <p:cNvPr id="16" name="TextBox 15">
            <a:extLst>
              <a:ext uri="{FF2B5EF4-FFF2-40B4-BE49-F238E27FC236}">
                <a16:creationId xmlns:a16="http://schemas.microsoft.com/office/drawing/2014/main" id="{33863867-2717-4FBD-B074-4911B9653CB2}"/>
              </a:ext>
            </a:extLst>
          </p:cNvPr>
          <p:cNvSpPr txBox="1"/>
          <p:nvPr/>
        </p:nvSpPr>
        <p:spPr>
          <a:xfrm>
            <a:off x="3070587" y="3578971"/>
            <a:ext cx="2748209" cy="1569660"/>
          </a:xfrm>
          <a:prstGeom prst="rect">
            <a:avLst/>
          </a:prstGeom>
          <a:noFill/>
        </p:spPr>
        <p:txBody>
          <a:bodyPr wrap="square" rtlCol="0">
            <a:spAutoFit/>
          </a:bodyPr>
          <a:lstStyle/>
          <a:p>
            <a:pPr algn="ctr"/>
            <a:r>
              <a:rPr lang="en-AU" sz="3200" b="1" dirty="0">
                <a:solidFill>
                  <a:srgbClr val="7030A0"/>
                </a:solidFill>
              </a:rPr>
              <a:t>$4.80</a:t>
            </a:r>
          </a:p>
          <a:p>
            <a:pPr algn="ctr"/>
            <a:r>
              <a:rPr lang="en-AU" sz="3200" b="1" dirty="0">
                <a:solidFill>
                  <a:srgbClr val="7030A0"/>
                </a:solidFill>
              </a:rPr>
              <a:t> for a 200 g bag</a:t>
            </a:r>
          </a:p>
        </p:txBody>
      </p:sp>
      <p:sp>
        <p:nvSpPr>
          <p:cNvPr id="17" name="TextBox 16">
            <a:extLst>
              <a:ext uri="{FF2B5EF4-FFF2-40B4-BE49-F238E27FC236}">
                <a16:creationId xmlns:a16="http://schemas.microsoft.com/office/drawing/2014/main" id="{F9D79861-4E51-4487-A7A7-BDAEE5ABCD12}"/>
              </a:ext>
            </a:extLst>
          </p:cNvPr>
          <p:cNvSpPr txBox="1"/>
          <p:nvPr/>
        </p:nvSpPr>
        <p:spPr>
          <a:xfrm>
            <a:off x="5887623" y="1859340"/>
            <a:ext cx="2748209" cy="1569660"/>
          </a:xfrm>
          <a:prstGeom prst="rect">
            <a:avLst/>
          </a:prstGeom>
          <a:noFill/>
        </p:spPr>
        <p:txBody>
          <a:bodyPr wrap="square" rtlCol="0">
            <a:spAutoFit/>
          </a:bodyPr>
          <a:lstStyle/>
          <a:p>
            <a:pPr algn="ctr"/>
            <a:r>
              <a:rPr lang="en-AU" sz="3200" b="1" dirty="0">
                <a:solidFill>
                  <a:schemeClr val="accent6">
                    <a:lumMod val="75000"/>
                  </a:schemeClr>
                </a:solidFill>
              </a:rPr>
              <a:t>$4.00</a:t>
            </a:r>
          </a:p>
          <a:p>
            <a:pPr algn="ctr"/>
            <a:r>
              <a:rPr lang="en-AU" sz="3200" b="1" dirty="0">
                <a:solidFill>
                  <a:schemeClr val="accent6">
                    <a:lumMod val="75000"/>
                  </a:schemeClr>
                </a:solidFill>
              </a:rPr>
              <a:t> for a 290 g bag</a:t>
            </a:r>
          </a:p>
        </p:txBody>
      </p:sp>
      <p:sp>
        <p:nvSpPr>
          <p:cNvPr id="18" name="TextBox 17">
            <a:extLst>
              <a:ext uri="{FF2B5EF4-FFF2-40B4-BE49-F238E27FC236}">
                <a16:creationId xmlns:a16="http://schemas.microsoft.com/office/drawing/2014/main" id="{6301C765-3B70-4D59-8468-744C4EC36600}"/>
              </a:ext>
            </a:extLst>
          </p:cNvPr>
          <p:cNvSpPr txBox="1"/>
          <p:nvPr/>
        </p:nvSpPr>
        <p:spPr>
          <a:xfrm>
            <a:off x="9068399" y="3087163"/>
            <a:ext cx="2748209" cy="1569660"/>
          </a:xfrm>
          <a:prstGeom prst="rect">
            <a:avLst/>
          </a:prstGeom>
          <a:noFill/>
        </p:spPr>
        <p:txBody>
          <a:bodyPr wrap="square" rtlCol="0">
            <a:spAutoFit/>
          </a:bodyPr>
          <a:lstStyle/>
          <a:p>
            <a:pPr algn="ctr"/>
            <a:r>
              <a:rPr lang="en-AU" sz="3200" b="1" dirty="0">
                <a:solidFill>
                  <a:srgbClr val="0070C0"/>
                </a:solidFill>
              </a:rPr>
              <a:t>$3.50</a:t>
            </a:r>
          </a:p>
          <a:p>
            <a:pPr algn="ctr"/>
            <a:r>
              <a:rPr lang="en-AU" sz="3200" b="1" dirty="0">
                <a:solidFill>
                  <a:srgbClr val="0070C0"/>
                </a:solidFill>
              </a:rPr>
              <a:t> for a 220 g block</a:t>
            </a:r>
          </a:p>
        </p:txBody>
      </p:sp>
      <p:pic>
        <p:nvPicPr>
          <p:cNvPr id="2" name="Picture 1">
            <a:extLst>
              <a:ext uri="{FF2B5EF4-FFF2-40B4-BE49-F238E27FC236}">
                <a16:creationId xmlns:a16="http://schemas.microsoft.com/office/drawing/2014/main" id="{03CBC571-5691-4F29-A472-1C9D51B5D83E}"/>
              </a:ext>
            </a:extLst>
          </p:cNvPr>
          <p:cNvPicPr>
            <a:picLocks noChangeAspect="1"/>
          </p:cNvPicPr>
          <p:nvPr/>
        </p:nvPicPr>
        <p:blipFill>
          <a:blip r:embed="rId6"/>
          <a:stretch>
            <a:fillRect/>
          </a:stretch>
        </p:blipFill>
        <p:spPr>
          <a:xfrm>
            <a:off x="359664" y="720864"/>
            <a:ext cx="2615112" cy="3151129"/>
          </a:xfrm>
          <a:prstGeom prst="rect">
            <a:avLst/>
          </a:prstGeom>
        </p:spPr>
      </p:pic>
      <p:pic>
        <p:nvPicPr>
          <p:cNvPr id="5" name="Picture 4">
            <a:extLst>
              <a:ext uri="{FF2B5EF4-FFF2-40B4-BE49-F238E27FC236}">
                <a16:creationId xmlns:a16="http://schemas.microsoft.com/office/drawing/2014/main" id="{EC4353B0-8B60-45DA-8C92-A9D925937235}"/>
              </a:ext>
            </a:extLst>
          </p:cNvPr>
          <p:cNvPicPr>
            <a:picLocks noChangeAspect="1"/>
          </p:cNvPicPr>
          <p:nvPr/>
        </p:nvPicPr>
        <p:blipFill>
          <a:blip r:embed="rId7"/>
          <a:stretch>
            <a:fillRect/>
          </a:stretch>
        </p:blipFill>
        <p:spPr>
          <a:xfrm>
            <a:off x="3065972" y="3540154"/>
            <a:ext cx="2806825" cy="3216955"/>
          </a:xfrm>
          <a:prstGeom prst="rect">
            <a:avLst/>
          </a:prstGeom>
        </p:spPr>
      </p:pic>
      <p:pic>
        <p:nvPicPr>
          <p:cNvPr id="6" name="Picture 5">
            <a:extLst>
              <a:ext uri="{FF2B5EF4-FFF2-40B4-BE49-F238E27FC236}">
                <a16:creationId xmlns:a16="http://schemas.microsoft.com/office/drawing/2014/main" id="{5EEB3E98-2B79-4EF0-A05F-D0301B9DE29A}"/>
              </a:ext>
            </a:extLst>
          </p:cNvPr>
          <p:cNvPicPr>
            <a:picLocks noChangeAspect="1"/>
          </p:cNvPicPr>
          <p:nvPr/>
        </p:nvPicPr>
        <p:blipFill>
          <a:blip r:embed="rId8"/>
          <a:stretch>
            <a:fillRect/>
          </a:stretch>
        </p:blipFill>
        <p:spPr>
          <a:xfrm>
            <a:off x="5887623" y="289624"/>
            <a:ext cx="2702704" cy="3203205"/>
          </a:xfrm>
          <a:prstGeom prst="rect">
            <a:avLst/>
          </a:prstGeom>
        </p:spPr>
      </p:pic>
      <p:pic>
        <p:nvPicPr>
          <p:cNvPr id="4" name="Picture 3">
            <a:extLst>
              <a:ext uri="{FF2B5EF4-FFF2-40B4-BE49-F238E27FC236}">
                <a16:creationId xmlns:a16="http://schemas.microsoft.com/office/drawing/2014/main" id="{D3083DCD-1101-4575-BB97-3E54400F08BC}"/>
              </a:ext>
            </a:extLst>
          </p:cNvPr>
          <p:cNvPicPr>
            <a:picLocks noChangeAspect="1"/>
          </p:cNvPicPr>
          <p:nvPr/>
        </p:nvPicPr>
        <p:blipFill>
          <a:blip r:embed="rId9"/>
          <a:stretch>
            <a:fillRect/>
          </a:stretch>
        </p:blipFill>
        <p:spPr>
          <a:xfrm>
            <a:off x="8714889" y="3005328"/>
            <a:ext cx="3352549" cy="3767973"/>
          </a:xfrm>
          <a:prstGeom prst="rect">
            <a:avLst/>
          </a:prstGeom>
        </p:spPr>
      </p:pic>
      <p:sp>
        <p:nvSpPr>
          <p:cNvPr id="21" name="TextBox 20">
            <a:extLst>
              <a:ext uri="{FF2B5EF4-FFF2-40B4-BE49-F238E27FC236}">
                <a16:creationId xmlns:a16="http://schemas.microsoft.com/office/drawing/2014/main" id="{B3FD89B0-1664-435D-A5ED-B15C3B0AB03E}"/>
              </a:ext>
            </a:extLst>
          </p:cNvPr>
          <p:cNvSpPr txBox="1"/>
          <p:nvPr/>
        </p:nvSpPr>
        <p:spPr>
          <a:xfrm>
            <a:off x="0" y="-20052"/>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
        <p:nvSpPr>
          <p:cNvPr id="3" name="TextBox 2"/>
          <p:cNvSpPr txBox="1"/>
          <p:nvPr/>
        </p:nvSpPr>
        <p:spPr>
          <a:xfrm>
            <a:off x="100977" y="2429050"/>
            <a:ext cx="11898419" cy="1200329"/>
          </a:xfrm>
          <a:prstGeom prst="rect">
            <a:avLst/>
          </a:prstGeom>
          <a:solidFill>
            <a:schemeClr val="bg1"/>
          </a:solidFill>
          <a:ln>
            <a:solidFill>
              <a:schemeClr val="tx1"/>
            </a:solidFill>
          </a:ln>
        </p:spPr>
        <p:txBody>
          <a:bodyPr wrap="square" rtlCol="0">
            <a:spAutoFit/>
          </a:bodyPr>
          <a:lstStyle/>
          <a:p>
            <a:pPr algn="ctr"/>
            <a:r>
              <a:rPr lang="en-AU" sz="2400" dirty="0" smtClean="0"/>
              <a:t>In 2009, the Australian Federal Government made it compulsory for all large supermarkets to display Unit Price information with particular grocery items. Look for these the next time you are in a large supermarket!</a:t>
            </a:r>
            <a:endParaRPr lang="en-AU" sz="2400" dirty="0"/>
          </a:p>
        </p:txBody>
      </p:sp>
    </p:spTree>
    <p:extLst>
      <p:ext uri="{BB962C8B-B14F-4D97-AF65-F5344CB8AC3E}">
        <p14:creationId xmlns:p14="http://schemas.microsoft.com/office/powerpoint/2010/main" val="1674423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13F1F9D1-3978-4854-9A52-802A344745B5}"/>
              </a:ext>
            </a:extLst>
          </p:cNvPr>
          <p:cNvSpPr txBox="1"/>
          <p:nvPr/>
        </p:nvSpPr>
        <p:spPr>
          <a:xfrm>
            <a:off x="0" y="0"/>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
        <p:nvSpPr>
          <p:cNvPr id="19" name="TextBox 18">
            <a:extLst>
              <a:ext uri="{FF2B5EF4-FFF2-40B4-BE49-F238E27FC236}">
                <a16:creationId xmlns:a16="http://schemas.microsoft.com/office/drawing/2014/main" id="{ED6DCC90-0FEB-4DF5-8787-250F02B89FB6}"/>
              </a:ext>
            </a:extLst>
          </p:cNvPr>
          <p:cNvSpPr txBox="1"/>
          <p:nvPr/>
        </p:nvSpPr>
        <p:spPr>
          <a:xfrm>
            <a:off x="3881872" y="133679"/>
            <a:ext cx="7376154" cy="707886"/>
          </a:xfrm>
          <a:prstGeom prst="rect">
            <a:avLst/>
          </a:prstGeom>
          <a:noFill/>
        </p:spPr>
        <p:txBody>
          <a:bodyPr wrap="square" rtlCol="0">
            <a:spAutoFit/>
          </a:bodyPr>
          <a:lstStyle/>
          <a:p>
            <a:pPr algn="ctr"/>
            <a:r>
              <a:rPr lang="en-AU" sz="4000" b="1" dirty="0"/>
              <a:t>Which is better value for money?</a:t>
            </a:r>
          </a:p>
        </p:txBody>
      </p:sp>
      <p:pic>
        <p:nvPicPr>
          <p:cNvPr id="3" name="Picture 2">
            <a:extLst>
              <a:ext uri="{FF2B5EF4-FFF2-40B4-BE49-F238E27FC236}">
                <a16:creationId xmlns:a16="http://schemas.microsoft.com/office/drawing/2014/main" id="{9748BAB6-BC16-431F-BD92-11E129F9E27B}"/>
              </a:ext>
            </a:extLst>
          </p:cNvPr>
          <p:cNvPicPr>
            <a:picLocks noChangeAspect="1"/>
          </p:cNvPicPr>
          <p:nvPr/>
        </p:nvPicPr>
        <p:blipFill>
          <a:blip r:embed="rId2"/>
          <a:stretch>
            <a:fillRect/>
          </a:stretch>
        </p:blipFill>
        <p:spPr>
          <a:xfrm>
            <a:off x="4847969" y="874856"/>
            <a:ext cx="1372962" cy="1957201"/>
          </a:xfrm>
          <a:prstGeom prst="rect">
            <a:avLst/>
          </a:prstGeom>
        </p:spPr>
      </p:pic>
      <p:pic>
        <p:nvPicPr>
          <p:cNvPr id="5" name="Picture 4">
            <a:extLst>
              <a:ext uri="{FF2B5EF4-FFF2-40B4-BE49-F238E27FC236}">
                <a16:creationId xmlns:a16="http://schemas.microsoft.com/office/drawing/2014/main" id="{21037306-606C-409C-ACEB-8CE168B9053E}"/>
              </a:ext>
            </a:extLst>
          </p:cNvPr>
          <p:cNvPicPr>
            <a:picLocks noChangeAspect="1"/>
          </p:cNvPicPr>
          <p:nvPr/>
        </p:nvPicPr>
        <p:blipFill>
          <a:blip r:embed="rId3"/>
          <a:stretch>
            <a:fillRect/>
          </a:stretch>
        </p:blipFill>
        <p:spPr>
          <a:xfrm>
            <a:off x="2938360" y="1105498"/>
            <a:ext cx="1055378" cy="1477529"/>
          </a:xfrm>
          <a:prstGeom prst="rect">
            <a:avLst/>
          </a:prstGeom>
        </p:spPr>
      </p:pic>
      <p:sp>
        <p:nvSpPr>
          <p:cNvPr id="23" name="TextBox 22">
            <a:extLst>
              <a:ext uri="{FF2B5EF4-FFF2-40B4-BE49-F238E27FC236}">
                <a16:creationId xmlns:a16="http://schemas.microsoft.com/office/drawing/2014/main" id="{B0F513BC-13CD-431F-9263-AE146F891B40}"/>
              </a:ext>
            </a:extLst>
          </p:cNvPr>
          <p:cNvSpPr txBox="1"/>
          <p:nvPr/>
        </p:nvSpPr>
        <p:spPr>
          <a:xfrm>
            <a:off x="2300065" y="2647832"/>
            <a:ext cx="2080301" cy="1200329"/>
          </a:xfrm>
          <a:prstGeom prst="rect">
            <a:avLst/>
          </a:prstGeom>
          <a:solidFill>
            <a:schemeClr val="bg1"/>
          </a:solidFill>
        </p:spPr>
        <p:txBody>
          <a:bodyPr wrap="square" rtlCol="0">
            <a:spAutoFit/>
          </a:bodyPr>
          <a:lstStyle/>
          <a:p>
            <a:pPr algn="ctr"/>
            <a:r>
              <a:rPr lang="en-AU" sz="3600" b="1" dirty="0">
                <a:solidFill>
                  <a:srgbClr val="0070C0"/>
                </a:solidFill>
              </a:rPr>
              <a:t>500 g box</a:t>
            </a:r>
          </a:p>
          <a:p>
            <a:pPr algn="ctr"/>
            <a:r>
              <a:rPr lang="en-AU" sz="3600" b="1" dirty="0">
                <a:solidFill>
                  <a:srgbClr val="0070C0"/>
                </a:solidFill>
              </a:rPr>
              <a:t>for $5.99</a:t>
            </a:r>
          </a:p>
        </p:txBody>
      </p:sp>
      <p:sp>
        <p:nvSpPr>
          <p:cNvPr id="24" name="TextBox 23">
            <a:extLst>
              <a:ext uri="{FF2B5EF4-FFF2-40B4-BE49-F238E27FC236}">
                <a16:creationId xmlns:a16="http://schemas.microsoft.com/office/drawing/2014/main" id="{83B1183B-F7C7-4352-9157-15159B660901}"/>
              </a:ext>
            </a:extLst>
          </p:cNvPr>
          <p:cNvSpPr txBox="1"/>
          <p:nvPr/>
        </p:nvSpPr>
        <p:spPr>
          <a:xfrm>
            <a:off x="4600130" y="2647832"/>
            <a:ext cx="2080301" cy="1200329"/>
          </a:xfrm>
          <a:prstGeom prst="rect">
            <a:avLst/>
          </a:prstGeom>
          <a:solidFill>
            <a:schemeClr val="bg1"/>
          </a:solidFill>
        </p:spPr>
        <p:txBody>
          <a:bodyPr wrap="square" rtlCol="0">
            <a:spAutoFit/>
          </a:bodyPr>
          <a:lstStyle/>
          <a:p>
            <a:pPr algn="ctr"/>
            <a:r>
              <a:rPr lang="en-AU" sz="3600" b="1" dirty="0">
                <a:solidFill>
                  <a:srgbClr val="C00000"/>
                </a:solidFill>
              </a:rPr>
              <a:t>820 g box</a:t>
            </a:r>
          </a:p>
          <a:p>
            <a:pPr algn="ctr"/>
            <a:r>
              <a:rPr lang="en-AU" sz="3600" b="1" dirty="0">
                <a:solidFill>
                  <a:srgbClr val="C00000"/>
                </a:solidFill>
              </a:rPr>
              <a:t>for $7.21</a:t>
            </a:r>
          </a:p>
        </p:txBody>
      </p:sp>
      <p:pic>
        <p:nvPicPr>
          <p:cNvPr id="7" name="Picture 6">
            <a:extLst>
              <a:ext uri="{FF2B5EF4-FFF2-40B4-BE49-F238E27FC236}">
                <a16:creationId xmlns:a16="http://schemas.microsoft.com/office/drawing/2014/main" id="{F7F14AAE-DF83-4284-A3BA-FC3D4312E335}"/>
              </a:ext>
            </a:extLst>
          </p:cNvPr>
          <p:cNvPicPr>
            <a:picLocks noChangeAspect="1"/>
          </p:cNvPicPr>
          <p:nvPr/>
        </p:nvPicPr>
        <p:blipFill>
          <a:blip r:embed="rId4"/>
          <a:stretch>
            <a:fillRect/>
          </a:stretch>
        </p:blipFill>
        <p:spPr>
          <a:xfrm>
            <a:off x="9583120" y="999187"/>
            <a:ext cx="1615631" cy="1615631"/>
          </a:xfrm>
          <a:prstGeom prst="rect">
            <a:avLst/>
          </a:prstGeom>
        </p:spPr>
      </p:pic>
      <p:sp>
        <p:nvSpPr>
          <p:cNvPr id="33" name="TextBox 32">
            <a:extLst>
              <a:ext uri="{FF2B5EF4-FFF2-40B4-BE49-F238E27FC236}">
                <a16:creationId xmlns:a16="http://schemas.microsoft.com/office/drawing/2014/main" id="{8DA9BF2D-08D0-42AC-8563-76ADDF1BA2D7}"/>
              </a:ext>
            </a:extLst>
          </p:cNvPr>
          <p:cNvSpPr txBox="1"/>
          <p:nvPr/>
        </p:nvSpPr>
        <p:spPr>
          <a:xfrm>
            <a:off x="7051680" y="2647832"/>
            <a:ext cx="2080301" cy="1200329"/>
          </a:xfrm>
          <a:prstGeom prst="rect">
            <a:avLst/>
          </a:prstGeom>
          <a:solidFill>
            <a:schemeClr val="bg1"/>
          </a:solidFill>
        </p:spPr>
        <p:txBody>
          <a:bodyPr wrap="square" rtlCol="0">
            <a:spAutoFit/>
          </a:bodyPr>
          <a:lstStyle/>
          <a:p>
            <a:pPr algn="ctr"/>
            <a:r>
              <a:rPr lang="en-AU" sz="3600" b="1" dirty="0">
                <a:solidFill>
                  <a:srgbClr val="7030A0"/>
                </a:solidFill>
              </a:rPr>
              <a:t>60 g bag</a:t>
            </a:r>
          </a:p>
          <a:p>
            <a:pPr algn="ctr"/>
            <a:r>
              <a:rPr lang="en-AU" sz="3600" b="1" dirty="0">
                <a:solidFill>
                  <a:srgbClr val="7030A0"/>
                </a:solidFill>
              </a:rPr>
              <a:t>for $3.14</a:t>
            </a:r>
          </a:p>
        </p:txBody>
      </p:sp>
      <p:sp>
        <p:nvSpPr>
          <p:cNvPr id="34" name="TextBox 33">
            <a:extLst>
              <a:ext uri="{FF2B5EF4-FFF2-40B4-BE49-F238E27FC236}">
                <a16:creationId xmlns:a16="http://schemas.microsoft.com/office/drawing/2014/main" id="{35729B23-CB01-476A-AFA3-907374CC9456}"/>
              </a:ext>
            </a:extLst>
          </p:cNvPr>
          <p:cNvSpPr txBox="1"/>
          <p:nvPr/>
        </p:nvSpPr>
        <p:spPr>
          <a:xfrm>
            <a:off x="9396402" y="2647832"/>
            <a:ext cx="2080301" cy="1200329"/>
          </a:xfrm>
          <a:prstGeom prst="rect">
            <a:avLst/>
          </a:prstGeom>
          <a:solidFill>
            <a:schemeClr val="bg1"/>
          </a:solidFill>
        </p:spPr>
        <p:txBody>
          <a:bodyPr wrap="square" rtlCol="0">
            <a:spAutoFit/>
          </a:bodyPr>
          <a:lstStyle/>
          <a:p>
            <a:pPr algn="ctr"/>
            <a:r>
              <a:rPr lang="en-AU" sz="3600" b="1" dirty="0">
                <a:solidFill>
                  <a:schemeClr val="accent6">
                    <a:lumMod val="75000"/>
                  </a:schemeClr>
                </a:solidFill>
              </a:rPr>
              <a:t>140 g bag</a:t>
            </a:r>
          </a:p>
          <a:p>
            <a:pPr algn="ctr"/>
            <a:r>
              <a:rPr lang="en-AU" sz="3600" b="1" dirty="0">
                <a:solidFill>
                  <a:schemeClr val="accent6">
                    <a:lumMod val="75000"/>
                  </a:schemeClr>
                </a:solidFill>
              </a:rPr>
              <a:t>for $7.52</a:t>
            </a:r>
          </a:p>
        </p:txBody>
      </p:sp>
      <p:pic>
        <p:nvPicPr>
          <p:cNvPr id="8" name="Picture 7">
            <a:extLst>
              <a:ext uri="{FF2B5EF4-FFF2-40B4-BE49-F238E27FC236}">
                <a16:creationId xmlns:a16="http://schemas.microsoft.com/office/drawing/2014/main" id="{04ABBF27-B601-4328-BD57-70DE0E8F490F}"/>
              </a:ext>
            </a:extLst>
          </p:cNvPr>
          <p:cNvPicPr>
            <a:picLocks noChangeAspect="1"/>
          </p:cNvPicPr>
          <p:nvPr/>
        </p:nvPicPr>
        <p:blipFill>
          <a:blip r:embed="rId5"/>
          <a:stretch>
            <a:fillRect/>
          </a:stretch>
        </p:blipFill>
        <p:spPr>
          <a:xfrm>
            <a:off x="7223040" y="938213"/>
            <a:ext cx="1737579" cy="1737579"/>
          </a:xfrm>
          <a:prstGeom prst="rect">
            <a:avLst/>
          </a:prstGeom>
        </p:spPr>
      </p:pic>
      <p:sp>
        <p:nvSpPr>
          <p:cNvPr id="9" name="Rectangle 8">
            <a:extLst>
              <a:ext uri="{FF2B5EF4-FFF2-40B4-BE49-F238E27FC236}">
                <a16:creationId xmlns:a16="http://schemas.microsoft.com/office/drawing/2014/main" id="{1EC72343-D35C-40C7-99CE-14FCE98C4FD2}"/>
              </a:ext>
            </a:extLst>
          </p:cNvPr>
          <p:cNvSpPr/>
          <p:nvPr/>
        </p:nvSpPr>
        <p:spPr>
          <a:xfrm rot="21404290">
            <a:off x="2224445" y="2405148"/>
            <a:ext cx="1957702" cy="2445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B6F58AB-F318-46B1-B3C4-5725B40569E4}"/>
              </a:ext>
            </a:extLst>
          </p:cNvPr>
          <p:cNvSpPr/>
          <p:nvPr/>
        </p:nvSpPr>
        <p:spPr>
          <a:xfrm rot="1819034">
            <a:off x="2617631" y="2350569"/>
            <a:ext cx="667772" cy="2445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5F75828C-5CE1-4803-81EE-4DDE44846BE9}"/>
              </a:ext>
            </a:extLst>
          </p:cNvPr>
          <p:cNvSpPr txBox="1"/>
          <p:nvPr/>
        </p:nvSpPr>
        <p:spPr>
          <a:xfrm>
            <a:off x="0" y="2619528"/>
            <a:ext cx="2080301" cy="1200329"/>
          </a:xfrm>
          <a:prstGeom prst="rect">
            <a:avLst/>
          </a:prstGeom>
          <a:solidFill>
            <a:srgbClr val="FFFF00"/>
          </a:solidFill>
        </p:spPr>
        <p:txBody>
          <a:bodyPr wrap="square" rtlCol="0">
            <a:spAutoFit/>
          </a:bodyPr>
          <a:lstStyle/>
          <a:p>
            <a:pPr algn="ctr"/>
            <a:r>
              <a:rPr lang="en-AU" sz="2400" b="1" dirty="0">
                <a:solidFill>
                  <a:srgbClr val="C00000"/>
                </a:solidFill>
              </a:rPr>
              <a:t>Find the </a:t>
            </a:r>
          </a:p>
          <a:p>
            <a:pPr algn="ctr"/>
            <a:r>
              <a:rPr lang="en-AU" sz="2400" b="1" dirty="0">
                <a:solidFill>
                  <a:srgbClr val="C00000"/>
                </a:solidFill>
              </a:rPr>
              <a:t>Unit </a:t>
            </a:r>
            <a:r>
              <a:rPr lang="en-AU" sz="2400" b="1" dirty="0" smtClean="0">
                <a:solidFill>
                  <a:srgbClr val="C00000"/>
                </a:solidFill>
              </a:rPr>
              <a:t>Price per 1g</a:t>
            </a:r>
            <a:endParaRPr lang="en-AU" sz="2400" dirty="0">
              <a:solidFill>
                <a:srgbClr val="C00000"/>
              </a:solidFill>
            </a:endParaRPr>
          </a:p>
        </p:txBody>
      </p:sp>
      <p:sp>
        <p:nvSpPr>
          <p:cNvPr id="46" name="TextBox 45">
            <a:extLst>
              <a:ext uri="{FF2B5EF4-FFF2-40B4-BE49-F238E27FC236}">
                <a16:creationId xmlns:a16="http://schemas.microsoft.com/office/drawing/2014/main" id="{3F5182FA-904E-4014-B323-F12C53D55732}"/>
              </a:ext>
            </a:extLst>
          </p:cNvPr>
          <p:cNvSpPr txBox="1"/>
          <p:nvPr/>
        </p:nvSpPr>
        <p:spPr>
          <a:xfrm>
            <a:off x="2233900" y="6053124"/>
            <a:ext cx="2464297" cy="523220"/>
          </a:xfrm>
          <a:prstGeom prst="rect">
            <a:avLst/>
          </a:prstGeom>
          <a:solidFill>
            <a:schemeClr val="bg1"/>
          </a:solidFill>
        </p:spPr>
        <p:txBody>
          <a:bodyPr wrap="square" rtlCol="0">
            <a:spAutoFit/>
          </a:bodyPr>
          <a:lstStyle/>
          <a:p>
            <a:r>
              <a:rPr lang="en-AU" sz="2800" dirty="0">
                <a:solidFill>
                  <a:srgbClr val="0066CC"/>
                </a:solidFill>
              </a:rPr>
              <a:t> </a:t>
            </a:r>
            <a:r>
              <a:rPr lang="en-AU" sz="2800" u="sng" dirty="0" smtClean="0">
                <a:solidFill>
                  <a:srgbClr val="0066CC"/>
                </a:solidFill>
              </a:rPr>
              <a:t>$0.012 </a:t>
            </a:r>
            <a:r>
              <a:rPr lang="en-AU" sz="2800" u="sng" dirty="0">
                <a:solidFill>
                  <a:srgbClr val="0066CC"/>
                </a:solidFill>
              </a:rPr>
              <a:t>per 1</a:t>
            </a:r>
            <a:r>
              <a:rPr lang="en-AU" sz="2800" u="sng" dirty="0" smtClean="0">
                <a:solidFill>
                  <a:srgbClr val="0066CC"/>
                </a:solidFill>
              </a:rPr>
              <a:t>g</a:t>
            </a:r>
            <a:endParaRPr lang="en-AU" sz="2800" u="sng" dirty="0">
              <a:solidFill>
                <a:srgbClr val="0066CC"/>
              </a:solidFill>
            </a:endParaRPr>
          </a:p>
        </p:txBody>
      </p:sp>
      <p:sp>
        <p:nvSpPr>
          <p:cNvPr id="52" name="TextBox 51">
            <a:extLst>
              <a:ext uri="{FF2B5EF4-FFF2-40B4-BE49-F238E27FC236}">
                <a16:creationId xmlns:a16="http://schemas.microsoft.com/office/drawing/2014/main" id="{DD8F0857-C2C1-41CB-98CC-1B607A2C815C}"/>
              </a:ext>
            </a:extLst>
          </p:cNvPr>
          <p:cNvSpPr txBox="1"/>
          <p:nvPr/>
        </p:nvSpPr>
        <p:spPr>
          <a:xfrm>
            <a:off x="4394825" y="6053124"/>
            <a:ext cx="2656855" cy="523220"/>
          </a:xfrm>
          <a:prstGeom prst="rect">
            <a:avLst/>
          </a:prstGeom>
          <a:solidFill>
            <a:schemeClr val="bg1"/>
          </a:solidFill>
        </p:spPr>
        <p:txBody>
          <a:bodyPr wrap="square" rtlCol="0">
            <a:spAutoFit/>
          </a:bodyPr>
          <a:lstStyle/>
          <a:p>
            <a:r>
              <a:rPr lang="en-AU" sz="2800" dirty="0">
                <a:solidFill>
                  <a:srgbClr val="C00000"/>
                </a:solidFill>
              </a:rPr>
              <a:t> </a:t>
            </a:r>
            <a:r>
              <a:rPr lang="en-AU" sz="2800" u="sng" dirty="0">
                <a:solidFill>
                  <a:srgbClr val="C00000"/>
                </a:solidFill>
              </a:rPr>
              <a:t>$</a:t>
            </a:r>
            <a:r>
              <a:rPr lang="en-AU" sz="2800" u="sng" dirty="0" smtClean="0">
                <a:solidFill>
                  <a:srgbClr val="C00000"/>
                </a:solidFill>
              </a:rPr>
              <a:t>0.009 </a:t>
            </a:r>
            <a:r>
              <a:rPr lang="en-AU" sz="2800" u="sng" dirty="0">
                <a:solidFill>
                  <a:srgbClr val="C00000"/>
                </a:solidFill>
              </a:rPr>
              <a:t>per </a:t>
            </a:r>
            <a:r>
              <a:rPr lang="en-AU" sz="2800" u="sng" dirty="0" smtClean="0">
                <a:solidFill>
                  <a:srgbClr val="C00000"/>
                </a:solidFill>
              </a:rPr>
              <a:t>1g</a:t>
            </a:r>
            <a:endParaRPr lang="en-AU" sz="2800" u="sng" dirty="0">
              <a:solidFill>
                <a:srgbClr val="C00000"/>
              </a:solidFill>
            </a:endParaRPr>
          </a:p>
        </p:txBody>
      </p:sp>
      <p:sp>
        <p:nvSpPr>
          <p:cNvPr id="53" name="TextBox 52">
            <a:extLst>
              <a:ext uri="{FF2B5EF4-FFF2-40B4-BE49-F238E27FC236}">
                <a16:creationId xmlns:a16="http://schemas.microsoft.com/office/drawing/2014/main" id="{094C035A-71B8-4C5D-B375-B3AB3B698FED}"/>
              </a:ext>
            </a:extLst>
          </p:cNvPr>
          <p:cNvSpPr txBox="1"/>
          <p:nvPr/>
        </p:nvSpPr>
        <p:spPr>
          <a:xfrm>
            <a:off x="6991719" y="6053124"/>
            <a:ext cx="2464297" cy="523220"/>
          </a:xfrm>
          <a:prstGeom prst="rect">
            <a:avLst/>
          </a:prstGeom>
          <a:solidFill>
            <a:schemeClr val="bg1"/>
          </a:solidFill>
        </p:spPr>
        <p:txBody>
          <a:bodyPr wrap="square" rtlCol="0">
            <a:spAutoFit/>
          </a:bodyPr>
          <a:lstStyle/>
          <a:p>
            <a:r>
              <a:rPr lang="en-AU" sz="2800" dirty="0">
                <a:solidFill>
                  <a:srgbClr val="7030A0"/>
                </a:solidFill>
              </a:rPr>
              <a:t> </a:t>
            </a:r>
            <a:r>
              <a:rPr lang="en-AU" sz="2800" u="sng" dirty="0" smtClean="0">
                <a:solidFill>
                  <a:srgbClr val="7030A0"/>
                </a:solidFill>
              </a:rPr>
              <a:t>$0.052 </a:t>
            </a:r>
            <a:r>
              <a:rPr lang="en-AU" sz="2800" u="sng" dirty="0">
                <a:solidFill>
                  <a:srgbClr val="7030A0"/>
                </a:solidFill>
              </a:rPr>
              <a:t>per </a:t>
            </a:r>
            <a:r>
              <a:rPr lang="en-AU" sz="2800" u="sng" dirty="0" smtClean="0">
                <a:solidFill>
                  <a:srgbClr val="7030A0"/>
                </a:solidFill>
              </a:rPr>
              <a:t>1g</a:t>
            </a:r>
            <a:endParaRPr lang="en-AU" sz="2800" u="sng" dirty="0">
              <a:solidFill>
                <a:srgbClr val="7030A0"/>
              </a:solidFill>
            </a:endParaRPr>
          </a:p>
        </p:txBody>
      </p:sp>
      <p:sp>
        <p:nvSpPr>
          <p:cNvPr id="54" name="TextBox 53">
            <a:extLst>
              <a:ext uri="{FF2B5EF4-FFF2-40B4-BE49-F238E27FC236}">
                <a16:creationId xmlns:a16="http://schemas.microsoft.com/office/drawing/2014/main" id="{C94DADF3-5530-40BF-A5CA-46774C9E503A}"/>
              </a:ext>
            </a:extLst>
          </p:cNvPr>
          <p:cNvSpPr txBox="1"/>
          <p:nvPr/>
        </p:nvSpPr>
        <p:spPr>
          <a:xfrm>
            <a:off x="9396402" y="6053124"/>
            <a:ext cx="2464297" cy="523220"/>
          </a:xfrm>
          <a:prstGeom prst="rect">
            <a:avLst/>
          </a:prstGeom>
          <a:solidFill>
            <a:schemeClr val="bg1"/>
          </a:solidFill>
        </p:spPr>
        <p:txBody>
          <a:bodyPr wrap="square" rtlCol="0">
            <a:spAutoFit/>
          </a:bodyPr>
          <a:lstStyle/>
          <a:p>
            <a:r>
              <a:rPr lang="en-AU" sz="2800" dirty="0">
                <a:solidFill>
                  <a:schemeClr val="accent6">
                    <a:lumMod val="75000"/>
                  </a:schemeClr>
                </a:solidFill>
              </a:rPr>
              <a:t> </a:t>
            </a:r>
            <a:r>
              <a:rPr lang="en-AU" sz="2800" u="sng" dirty="0" smtClean="0">
                <a:solidFill>
                  <a:schemeClr val="accent6">
                    <a:lumMod val="75000"/>
                  </a:schemeClr>
                </a:solidFill>
              </a:rPr>
              <a:t>$0.054 </a:t>
            </a:r>
            <a:r>
              <a:rPr lang="en-AU" sz="2800" u="sng" dirty="0">
                <a:solidFill>
                  <a:schemeClr val="accent6">
                    <a:lumMod val="75000"/>
                  </a:schemeClr>
                </a:solidFill>
              </a:rPr>
              <a:t>per </a:t>
            </a:r>
            <a:r>
              <a:rPr lang="en-AU" sz="2800" u="sng" dirty="0" smtClean="0">
                <a:solidFill>
                  <a:schemeClr val="accent6">
                    <a:lumMod val="75000"/>
                  </a:schemeClr>
                </a:solidFill>
              </a:rPr>
              <a:t>1g</a:t>
            </a:r>
            <a:endParaRPr lang="en-AU" sz="2800" u="sng" dirty="0">
              <a:solidFill>
                <a:schemeClr val="accent6">
                  <a:lumMod val="75000"/>
                </a:schemeClr>
              </a:solidFill>
            </a:endParaRPr>
          </a:p>
        </p:txBody>
      </p:sp>
      <p:cxnSp>
        <p:nvCxnSpPr>
          <p:cNvPr id="11" name="Straight Connector 10">
            <a:extLst>
              <a:ext uri="{FF2B5EF4-FFF2-40B4-BE49-F238E27FC236}">
                <a16:creationId xmlns:a16="http://schemas.microsoft.com/office/drawing/2014/main" id="{F81DC32D-368F-477F-AEA7-F1EC4C2C0B27}"/>
              </a:ext>
            </a:extLst>
          </p:cNvPr>
          <p:cNvCxnSpPr>
            <a:cxnSpLocks/>
          </p:cNvCxnSpPr>
          <p:nvPr/>
        </p:nvCxnSpPr>
        <p:spPr>
          <a:xfrm>
            <a:off x="6975026" y="874856"/>
            <a:ext cx="18154" cy="59995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2280062" y="4310936"/>
            <a:ext cx="1946606" cy="954107"/>
          </a:xfrm>
          <a:prstGeom prst="rect">
            <a:avLst/>
          </a:prstGeom>
          <a:noFill/>
        </p:spPr>
        <p:txBody>
          <a:bodyPr wrap="square" rtlCol="0">
            <a:spAutoFit/>
          </a:bodyPr>
          <a:lstStyle/>
          <a:p>
            <a:pPr algn="ctr"/>
            <a:r>
              <a:rPr lang="en-AU" sz="2800" dirty="0" smtClean="0"/>
              <a:t>5.99 / 500 </a:t>
            </a:r>
          </a:p>
          <a:p>
            <a:pPr algn="ctr"/>
            <a:r>
              <a:rPr lang="en-AU" sz="2800" dirty="0" smtClean="0"/>
              <a:t>= 0.01198</a:t>
            </a:r>
            <a:endParaRPr lang="en-AU" sz="2800" dirty="0"/>
          </a:p>
        </p:txBody>
      </p:sp>
      <p:sp>
        <p:nvSpPr>
          <p:cNvPr id="31" name="TextBox 30"/>
          <p:cNvSpPr txBox="1"/>
          <p:nvPr/>
        </p:nvSpPr>
        <p:spPr>
          <a:xfrm>
            <a:off x="4512190" y="4310935"/>
            <a:ext cx="1946606" cy="954107"/>
          </a:xfrm>
          <a:prstGeom prst="rect">
            <a:avLst/>
          </a:prstGeom>
          <a:noFill/>
        </p:spPr>
        <p:txBody>
          <a:bodyPr wrap="square" rtlCol="0">
            <a:spAutoFit/>
          </a:bodyPr>
          <a:lstStyle/>
          <a:p>
            <a:pPr algn="ctr"/>
            <a:r>
              <a:rPr lang="en-AU" sz="2800" dirty="0" smtClean="0"/>
              <a:t>7.21 / 820 </a:t>
            </a:r>
          </a:p>
          <a:p>
            <a:pPr algn="ctr"/>
            <a:r>
              <a:rPr lang="en-AU" sz="2800" dirty="0" smtClean="0"/>
              <a:t>= 0.00879</a:t>
            </a:r>
            <a:endParaRPr lang="en-AU" sz="2800" dirty="0"/>
          </a:p>
        </p:txBody>
      </p:sp>
      <p:sp>
        <p:nvSpPr>
          <p:cNvPr id="32" name="TextBox 31"/>
          <p:cNvSpPr txBox="1"/>
          <p:nvPr/>
        </p:nvSpPr>
        <p:spPr>
          <a:xfrm>
            <a:off x="7164274" y="4324438"/>
            <a:ext cx="1946606" cy="954107"/>
          </a:xfrm>
          <a:prstGeom prst="rect">
            <a:avLst/>
          </a:prstGeom>
          <a:noFill/>
        </p:spPr>
        <p:txBody>
          <a:bodyPr wrap="square" rtlCol="0">
            <a:spAutoFit/>
          </a:bodyPr>
          <a:lstStyle/>
          <a:p>
            <a:pPr algn="ctr"/>
            <a:r>
              <a:rPr lang="en-AU" sz="2800" dirty="0" smtClean="0"/>
              <a:t>3.14 / 60 </a:t>
            </a:r>
          </a:p>
          <a:p>
            <a:pPr algn="ctr"/>
            <a:r>
              <a:rPr lang="en-AU" sz="2800" dirty="0" smtClean="0"/>
              <a:t>= 0.052</a:t>
            </a:r>
            <a:endParaRPr lang="en-AU" sz="2800" dirty="0"/>
          </a:p>
        </p:txBody>
      </p:sp>
      <p:sp>
        <p:nvSpPr>
          <p:cNvPr id="37" name="TextBox 36"/>
          <p:cNvSpPr txBox="1"/>
          <p:nvPr/>
        </p:nvSpPr>
        <p:spPr>
          <a:xfrm>
            <a:off x="9396402" y="4324437"/>
            <a:ext cx="1946606" cy="954107"/>
          </a:xfrm>
          <a:prstGeom prst="rect">
            <a:avLst/>
          </a:prstGeom>
          <a:noFill/>
        </p:spPr>
        <p:txBody>
          <a:bodyPr wrap="square" rtlCol="0">
            <a:spAutoFit/>
          </a:bodyPr>
          <a:lstStyle/>
          <a:p>
            <a:pPr algn="ctr"/>
            <a:r>
              <a:rPr lang="en-AU" sz="2800" dirty="0" smtClean="0"/>
              <a:t>7.52 / 140 </a:t>
            </a:r>
          </a:p>
          <a:p>
            <a:pPr algn="ctr"/>
            <a:r>
              <a:rPr lang="en-AU" sz="2800" dirty="0" smtClean="0"/>
              <a:t>= 0.054</a:t>
            </a:r>
            <a:endParaRPr lang="en-AU" sz="2800" dirty="0"/>
          </a:p>
        </p:txBody>
      </p:sp>
    </p:spTree>
    <p:extLst>
      <p:ext uri="{BB962C8B-B14F-4D97-AF65-F5344CB8AC3E}">
        <p14:creationId xmlns:p14="http://schemas.microsoft.com/office/powerpoint/2010/main" val="1273698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52" grpId="0" animBg="1"/>
      <p:bldP spid="2" grpId="0"/>
      <p:bldP spid="31" grpId="0"/>
      <p:bldP spid="32" grpId="0"/>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13F1F9D1-3978-4854-9A52-802A344745B5}"/>
              </a:ext>
            </a:extLst>
          </p:cNvPr>
          <p:cNvSpPr txBox="1"/>
          <p:nvPr/>
        </p:nvSpPr>
        <p:spPr>
          <a:xfrm>
            <a:off x="0" y="0"/>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
        <p:nvSpPr>
          <p:cNvPr id="19" name="TextBox 18">
            <a:extLst>
              <a:ext uri="{FF2B5EF4-FFF2-40B4-BE49-F238E27FC236}">
                <a16:creationId xmlns:a16="http://schemas.microsoft.com/office/drawing/2014/main" id="{ED6DCC90-0FEB-4DF5-8787-250F02B89FB6}"/>
              </a:ext>
            </a:extLst>
          </p:cNvPr>
          <p:cNvSpPr txBox="1"/>
          <p:nvPr/>
        </p:nvSpPr>
        <p:spPr>
          <a:xfrm>
            <a:off x="3881872" y="133679"/>
            <a:ext cx="7376154" cy="707886"/>
          </a:xfrm>
          <a:prstGeom prst="rect">
            <a:avLst/>
          </a:prstGeom>
          <a:noFill/>
        </p:spPr>
        <p:txBody>
          <a:bodyPr wrap="square" rtlCol="0">
            <a:spAutoFit/>
          </a:bodyPr>
          <a:lstStyle/>
          <a:p>
            <a:pPr algn="ctr"/>
            <a:r>
              <a:rPr lang="en-AU" sz="4000" b="1" dirty="0"/>
              <a:t>Which is better value for money?</a:t>
            </a:r>
          </a:p>
        </p:txBody>
      </p:sp>
      <p:pic>
        <p:nvPicPr>
          <p:cNvPr id="3" name="Picture 2">
            <a:extLst>
              <a:ext uri="{FF2B5EF4-FFF2-40B4-BE49-F238E27FC236}">
                <a16:creationId xmlns:a16="http://schemas.microsoft.com/office/drawing/2014/main" id="{9748BAB6-BC16-431F-BD92-11E129F9E27B}"/>
              </a:ext>
            </a:extLst>
          </p:cNvPr>
          <p:cNvPicPr>
            <a:picLocks noChangeAspect="1"/>
          </p:cNvPicPr>
          <p:nvPr/>
        </p:nvPicPr>
        <p:blipFill>
          <a:blip r:embed="rId2"/>
          <a:stretch>
            <a:fillRect/>
          </a:stretch>
        </p:blipFill>
        <p:spPr>
          <a:xfrm>
            <a:off x="4847969" y="874856"/>
            <a:ext cx="1372962" cy="1957201"/>
          </a:xfrm>
          <a:prstGeom prst="rect">
            <a:avLst/>
          </a:prstGeom>
        </p:spPr>
      </p:pic>
      <p:pic>
        <p:nvPicPr>
          <p:cNvPr id="5" name="Picture 4">
            <a:extLst>
              <a:ext uri="{FF2B5EF4-FFF2-40B4-BE49-F238E27FC236}">
                <a16:creationId xmlns:a16="http://schemas.microsoft.com/office/drawing/2014/main" id="{21037306-606C-409C-ACEB-8CE168B9053E}"/>
              </a:ext>
            </a:extLst>
          </p:cNvPr>
          <p:cNvPicPr>
            <a:picLocks noChangeAspect="1"/>
          </p:cNvPicPr>
          <p:nvPr/>
        </p:nvPicPr>
        <p:blipFill>
          <a:blip r:embed="rId3"/>
          <a:stretch>
            <a:fillRect/>
          </a:stretch>
        </p:blipFill>
        <p:spPr>
          <a:xfrm>
            <a:off x="2938360" y="1105498"/>
            <a:ext cx="1055378" cy="1477529"/>
          </a:xfrm>
          <a:prstGeom prst="rect">
            <a:avLst/>
          </a:prstGeom>
        </p:spPr>
      </p:pic>
      <p:sp>
        <p:nvSpPr>
          <p:cNvPr id="23" name="TextBox 22">
            <a:extLst>
              <a:ext uri="{FF2B5EF4-FFF2-40B4-BE49-F238E27FC236}">
                <a16:creationId xmlns:a16="http://schemas.microsoft.com/office/drawing/2014/main" id="{B0F513BC-13CD-431F-9263-AE146F891B40}"/>
              </a:ext>
            </a:extLst>
          </p:cNvPr>
          <p:cNvSpPr txBox="1"/>
          <p:nvPr/>
        </p:nvSpPr>
        <p:spPr>
          <a:xfrm>
            <a:off x="2300065" y="2647832"/>
            <a:ext cx="2080301" cy="1200329"/>
          </a:xfrm>
          <a:prstGeom prst="rect">
            <a:avLst/>
          </a:prstGeom>
          <a:solidFill>
            <a:schemeClr val="bg1"/>
          </a:solidFill>
        </p:spPr>
        <p:txBody>
          <a:bodyPr wrap="square" rtlCol="0">
            <a:spAutoFit/>
          </a:bodyPr>
          <a:lstStyle/>
          <a:p>
            <a:pPr algn="ctr"/>
            <a:r>
              <a:rPr lang="en-AU" sz="3600" b="1" dirty="0">
                <a:solidFill>
                  <a:srgbClr val="0070C0"/>
                </a:solidFill>
              </a:rPr>
              <a:t>500 g box</a:t>
            </a:r>
          </a:p>
          <a:p>
            <a:pPr algn="ctr"/>
            <a:r>
              <a:rPr lang="en-AU" sz="3600" b="1" dirty="0">
                <a:solidFill>
                  <a:srgbClr val="0070C0"/>
                </a:solidFill>
              </a:rPr>
              <a:t>for $5.99</a:t>
            </a:r>
          </a:p>
        </p:txBody>
      </p:sp>
      <p:sp>
        <p:nvSpPr>
          <p:cNvPr id="24" name="TextBox 23">
            <a:extLst>
              <a:ext uri="{FF2B5EF4-FFF2-40B4-BE49-F238E27FC236}">
                <a16:creationId xmlns:a16="http://schemas.microsoft.com/office/drawing/2014/main" id="{83B1183B-F7C7-4352-9157-15159B660901}"/>
              </a:ext>
            </a:extLst>
          </p:cNvPr>
          <p:cNvSpPr txBox="1"/>
          <p:nvPr/>
        </p:nvSpPr>
        <p:spPr>
          <a:xfrm>
            <a:off x="4600130" y="2647832"/>
            <a:ext cx="2080301" cy="1200329"/>
          </a:xfrm>
          <a:prstGeom prst="rect">
            <a:avLst/>
          </a:prstGeom>
          <a:solidFill>
            <a:schemeClr val="bg1"/>
          </a:solidFill>
        </p:spPr>
        <p:txBody>
          <a:bodyPr wrap="square" rtlCol="0">
            <a:spAutoFit/>
          </a:bodyPr>
          <a:lstStyle/>
          <a:p>
            <a:pPr algn="ctr"/>
            <a:r>
              <a:rPr lang="en-AU" sz="3600" b="1" dirty="0">
                <a:solidFill>
                  <a:srgbClr val="C00000"/>
                </a:solidFill>
              </a:rPr>
              <a:t>820 g box</a:t>
            </a:r>
          </a:p>
          <a:p>
            <a:pPr algn="ctr"/>
            <a:r>
              <a:rPr lang="en-AU" sz="3600" b="1" dirty="0">
                <a:solidFill>
                  <a:srgbClr val="C00000"/>
                </a:solidFill>
              </a:rPr>
              <a:t>for $7.21</a:t>
            </a:r>
          </a:p>
        </p:txBody>
      </p:sp>
      <p:sp>
        <p:nvSpPr>
          <p:cNvPr id="33" name="TextBox 32">
            <a:extLst>
              <a:ext uri="{FF2B5EF4-FFF2-40B4-BE49-F238E27FC236}">
                <a16:creationId xmlns:a16="http://schemas.microsoft.com/office/drawing/2014/main" id="{8DA9BF2D-08D0-42AC-8563-76ADDF1BA2D7}"/>
              </a:ext>
            </a:extLst>
          </p:cNvPr>
          <p:cNvSpPr txBox="1"/>
          <p:nvPr/>
        </p:nvSpPr>
        <p:spPr>
          <a:xfrm>
            <a:off x="7051680" y="2647832"/>
            <a:ext cx="2080301" cy="1200329"/>
          </a:xfrm>
          <a:prstGeom prst="rect">
            <a:avLst/>
          </a:prstGeom>
          <a:solidFill>
            <a:schemeClr val="bg1"/>
          </a:solidFill>
        </p:spPr>
        <p:txBody>
          <a:bodyPr wrap="square" rtlCol="0">
            <a:spAutoFit/>
          </a:bodyPr>
          <a:lstStyle/>
          <a:p>
            <a:pPr algn="ctr"/>
            <a:r>
              <a:rPr lang="en-AU" sz="3600" b="1" dirty="0">
                <a:solidFill>
                  <a:srgbClr val="7030A0"/>
                </a:solidFill>
              </a:rPr>
              <a:t>500 g jar</a:t>
            </a:r>
          </a:p>
          <a:p>
            <a:pPr algn="ctr"/>
            <a:r>
              <a:rPr lang="en-AU" sz="3600" b="1" dirty="0">
                <a:solidFill>
                  <a:srgbClr val="7030A0"/>
                </a:solidFill>
              </a:rPr>
              <a:t>for $3.30</a:t>
            </a:r>
          </a:p>
        </p:txBody>
      </p:sp>
      <p:sp>
        <p:nvSpPr>
          <p:cNvPr id="34" name="TextBox 33">
            <a:extLst>
              <a:ext uri="{FF2B5EF4-FFF2-40B4-BE49-F238E27FC236}">
                <a16:creationId xmlns:a16="http://schemas.microsoft.com/office/drawing/2014/main" id="{35729B23-CB01-476A-AFA3-907374CC9456}"/>
              </a:ext>
            </a:extLst>
          </p:cNvPr>
          <p:cNvSpPr txBox="1"/>
          <p:nvPr/>
        </p:nvSpPr>
        <p:spPr>
          <a:xfrm>
            <a:off x="9347708" y="2647832"/>
            <a:ext cx="2631813" cy="1200329"/>
          </a:xfrm>
          <a:prstGeom prst="rect">
            <a:avLst/>
          </a:prstGeom>
          <a:solidFill>
            <a:schemeClr val="bg1"/>
          </a:solidFill>
        </p:spPr>
        <p:txBody>
          <a:bodyPr wrap="square" rtlCol="0">
            <a:spAutoFit/>
          </a:bodyPr>
          <a:lstStyle/>
          <a:p>
            <a:pPr algn="ctr"/>
            <a:r>
              <a:rPr lang="en-AU" sz="3600" b="1" dirty="0">
                <a:solidFill>
                  <a:schemeClr val="accent6">
                    <a:lumMod val="75000"/>
                  </a:schemeClr>
                </a:solidFill>
              </a:rPr>
              <a:t>85 g packet</a:t>
            </a:r>
          </a:p>
          <a:p>
            <a:pPr algn="ctr"/>
            <a:r>
              <a:rPr lang="en-AU" sz="3600" b="1" dirty="0">
                <a:solidFill>
                  <a:schemeClr val="accent6">
                    <a:lumMod val="75000"/>
                  </a:schemeClr>
                </a:solidFill>
              </a:rPr>
              <a:t>for $0.60</a:t>
            </a:r>
          </a:p>
        </p:txBody>
      </p:sp>
      <p:sp>
        <p:nvSpPr>
          <p:cNvPr id="9" name="Rectangle 8">
            <a:extLst>
              <a:ext uri="{FF2B5EF4-FFF2-40B4-BE49-F238E27FC236}">
                <a16:creationId xmlns:a16="http://schemas.microsoft.com/office/drawing/2014/main" id="{1EC72343-D35C-40C7-99CE-14FCE98C4FD2}"/>
              </a:ext>
            </a:extLst>
          </p:cNvPr>
          <p:cNvSpPr/>
          <p:nvPr/>
        </p:nvSpPr>
        <p:spPr>
          <a:xfrm rot="21404290">
            <a:off x="2224445" y="2405148"/>
            <a:ext cx="1957702" cy="2445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B6F58AB-F318-46B1-B3C4-5725B40569E4}"/>
              </a:ext>
            </a:extLst>
          </p:cNvPr>
          <p:cNvSpPr/>
          <p:nvPr/>
        </p:nvSpPr>
        <p:spPr>
          <a:xfrm rot="1819034">
            <a:off x="2617631" y="2350569"/>
            <a:ext cx="667772" cy="2445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3F5182FA-904E-4014-B323-F12C53D55732}"/>
              </a:ext>
            </a:extLst>
          </p:cNvPr>
          <p:cNvSpPr txBox="1"/>
          <p:nvPr/>
        </p:nvSpPr>
        <p:spPr>
          <a:xfrm>
            <a:off x="2135833" y="6059327"/>
            <a:ext cx="2464297" cy="523220"/>
          </a:xfrm>
          <a:prstGeom prst="rect">
            <a:avLst/>
          </a:prstGeom>
          <a:solidFill>
            <a:schemeClr val="bg1"/>
          </a:solidFill>
        </p:spPr>
        <p:txBody>
          <a:bodyPr wrap="square" rtlCol="0">
            <a:spAutoFit/>
          </a:bodyPr>
          <a:lstStyle/>
          <a:p>
            <a:r>
              <a:rPr lang="en-AU" sz="2800" dirty="0">
                <a:solidFill>
                  <a:srgbClr val="0066CC"/>
                </a:solidFill>
              </a:rPr>
              <a:t> </a:t>
            </a:r>
            <a:r>
              <a:rPr lang="en-AU" sz="2800" u="sng" dirty="0">
                <a:solidFill>
                  <a:srgbClr val="0066CC"/>
                </a:solidFill>
              </a:rPr>
              <a:t>$1.20 per 100g</a:t>
            </a:r>
          </a:p>
        </p:txBody>
      </p:sp>
      <p:sp>
        <p:nvSpPr>
          <p:cNvPr id="52" name="TextBox 51">
            <a:extLst>
              <a:ext uri="{FF2B5EF4-FFF2-40B4-BE49-F238E27FC236}">
                <a16:creationId xmlns:a16="http://schemas.microsoft.com/office/drawing/2014/main" id="{DD8F0857-C2C1-41CB-98CC-1B607A2C815C}"/>
              </a:ext>
            </a:extLst>
          </p:cNvPr>
          <p:cNvSpPr txBox="1"/>
          <p:nvPr/>
        </p:nvSpPr>
        <p:spPr>
          <a:xfrm>
            <a:off x="4510729" y="6053124"/>
            <a:ext cx="2464297" cy="523220"/>
          </a:xfrm>
          <a:prstGeom prst="rect">
            <a:avLst/>
          </a:prstGeom>
          <a:solidFill>
            <a:schemeClr val="bg1"/>
          </a:solidFill>
        </p:spPr>
        <p:txBody>
          <a:bodyPr wrap="square" rtlCol="0">
            <a:spAutoFit/>
          </a:bodyPr>
          <a:lstStyle/>
          <a:p>
            <a:r>
              <a:rPr lang="en-AU" sz="2800" dirty="0">
                <a:solidFill>
                  <a:srgbClr val="C00000"/>
                </a:solidFill>
              </a:rPr>
              <a:t> </a:t>
            </a:r>
            <a:r>
              <a:rPr lang="en-AU" sz="2800" u="sng" dirty="0">
                <a:solidFill>
                  <a:srgbClr val="C00000"/>
                </a:solidFill>
              </a:rPr>
              <a:t>$0.88 per 100g</a:t>
            </a:r>
          </a:p>
        </p:txBody>
      </p:sp>
      <p:sp>
        <p:nvSpPr>
          <p:cNvPr id="53" name="TextBox 52">
            <a:extLst>
              <a:ext uri="{FF2B5EF4-FFF2-40B4-BE49-F238E27FC236}">
                <a16:creationId xmlns:a16="http://schemas.microsoft.com/office/drawing/2014/main" id="{094C035A-71B8-4C5D-B375-B3AB3B698FED}"/>
              </a:ext>
            </a:extLst>
          </p:cNvPr>
          <p:cNvSpPr txBox="1"/>
          <p:nvPr/>
        </p:nvSpPr>
        <p:spPr>
          <a:xfrm>
            <a:off x="6991719" y="6053124"/>
            <a:ext cx="2689176" cy="523220"/>
          </a:xfrm>
          <a:prstGeom prst="rect">
            <a:avLst/>
          </a:prstGeom>
          <a:solidFill>
            <a:schemeClr val="bg1"/>
          </a:solidFill>
        </p:spPr>
        <p:txBody>
          <a:bodyPr wrap="square" rtlCol="0">
            <a:spAutoFit/>
          </a:bodyPr>
          <a:lstStyle/>
          <a:p>
            <a:r>
              <a:rPr lang="en-AU" sz="2800" dirty="0">
                <a:solidFill>
                  <a:srgbClr val="7030A0"/>
                </a:solidFill>
              </a:rPr>
              <a:t> </a:t>
            </a:r>
            <a:r>
              <a:rPr lang="en-AU" sz="2800" u="sng" dirty="0">
                <a:solidFill>
                  <a:srgbClr val="7030A0"/>
                </a:solidFill>
              </a:rPr>
              <a:t>$0.66 per 100g</a:t>
            </a:r>
          </a:p>
        </p:txBody>
      </p:sp>
      <p:sp>
        <p:nvSpPr>
          <p:cNvPr id="54" name="TextBox 53">
            <a:extLst>
              <a:ext uri="{FF2B5EF4-FFF2-40B4-BE49-F238E27FC236}">
                <a16:creationId xmlns:a16="http://schemas.microsoft.com/office/drawing/2014/main" id="{C94DADF3-5530-40BF-A5CA-46774C9E503A}"/>
              </a:ext>
            </a:extLst>
          </p:cNvPr>
          <p:cNvSpPr txBox="1"/>
          <p:nvPr/>
        </p:nvSpPr>
        <p:spPr>
          <a:xfrm>
            <a:off x="9569686" y="6053124"/>
            <a:ext cx="2464297" cy="523220"/>
          </a:xfrm>
          <a:prstGeom prst="rect">
            <a:avLst/>
          </a:prstGeom>
          <a:solidFill>
            <a:schemeClr val="bg1"/>
          </a:solidFill>
        </p:spPr>
        <p:txBody>
          <a:bodyPr wrap="square" rtlCol="0">
            <a:spAutoFit/>
          </a:bodyPr>
          <a:lstStyle/>
          <a:p>
            <a:r>
              <a:rPr lang="en-AU" sz="2800" dirty="0">
                <a:solidFill>
                  <a:schemeClr val="accent6">
                    <a:lumMod val="75000"/>
                  </a:schemeClr>
                </a:solidFill>
              </a:rPr>
              <a:t> </a:t>
            </a:r>
            <a:r>
              <a:rPr lang="en-AU" sz="2800" u="sng" dirty="0">
                <a:solidFill>
                  <a:schemeClr val="accent6">
                    <a:lumMod val="75000"/>
                  </a:schemeClr>
                </a:solidFill>
              </a:rPr>
              <a:t>$0.71 per 100g</a:t>
            </a:r>
          </a:p>
        </p:txBody>
      </p:sp>
      <p:cxnSp>
        <p:nvCxnSpPr>
          <p:cNvPr id="11" name="Straight Connector 10">
            <a:extLst>
              <a:ext uri="{FF2B5EF4-FFF2-40B4-BE49-F238E27FC236}">
                <a16:creationId xmlns:a16="http://schemas.microsoft.com/office/drawing/2014/main" id="{F81DC32D-368F-477F-AEA7-F1EC4C2C0B27}"/>
              </a:ext>
            </a:extLst>
          </p:cNvPr>
          <p:cNvCxnSpPr>
            <a:cxnSpLocks/>
          </p:cNvCxnSpPr>
          <p:nvPr/>
        </p:nvCxnSpPr>
        <p:spPr>
          <a:xfrm>
            <a:off x="6975026" y="874856"/>
            <a:ext cx="18154" cy="59995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5B700ADC-2A14-4126-A38C-5F5D5FC3A82B}"/>
              </a:ext>
            </a:extLst>
          </p:cNvPr>
          <p:cNvPicPr>
            <a:picLocks noChangeAspect="1"/>
          </p:cNvPicPr>
          <p:nvPr/>
        </p:nvPicPr>
        <p:blipFill>
          <a:blip r:embed="rId4"/>
          <a:stretch>
            <a:fillRect/>
          </a:stretch>
        </p:blipFill>
        <p:spPr>
          <a:xfrm>
            <a:off x="7646608" y="949693"/>
            <a:ext cx="851434" cy="1755535"/>
          </a:xfrm>
          <a:prstGeom prst="rect">
            <a:avLst/>
          </a:prstGeom>
        </p:spPr>
      </p:pic>
      <p:pic>
        <p:nvPicPr>
          <p:cNvPr id="1026" name="Picture 2" descr="Image result for pasta sauce packet">
            <a:extLst>
              <a:ext uri="{FF2B5EF4-FFF2-40B4-BE49-F238E27FC236}">
                <a16:creationId xmlns:a16="http://schemas.microsoft.com/office/drawing/2014/main" id="{7759F0EB-0615-44BE-8B38-33F24A1F305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19556" y="910058"/>
            <a:ext cx="1795170" cy="1795170"/>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5F75828C-5CE1-4803-81EE-4DDE44846BE9}"/>
              </a:ext>
            </a:extLst>
          </p:cNvPr>
          <p:cNvSpPr txBox="1"/>
          <p:nvPr/>
        </p:nvSpPr>
        <p:spPr>
          <a:xfrm>
            <a:off x="0" y="2619528"/>
            <a:ext cx="2080301" cy="1200329"/>
          </a:xfrm>
          <a:prstGeom prst="rect">
            <a:avLst/>
          </a:prstGeom>
          <a:solidFill>
            <a:srgbClr val="FFFF00"/>
          </a:solidFill>
        </p:spPr>
        <p:txBody>
          <a:bodyPr wrap="square" rtlCol="0">
            <a:spAutoFit/>
          </a:bodyPr>
          <a:lstStyle/>
          <a:p>
            <a:pPr algn="ctr"/>
            <a:r>
              <a:rPr lang="en-AU" sz="2400" b="1" dirty="0">
                <a:solidFill>
                  <a:srgbClr val="C00000"/>
                </a:solidFill>
              </a:rPr>
              <a:t>Find the </a:t>
            </a:r>
          </a:p>
          <a:p>
            <a:pPr algn="ctr"/>
            <a:r>
              <a:rPr lang="en-AU" sz="2400" b="1" dirty="0">
                <a:solidFill>
                  <a:srgbClr val="C00000"/>
                </a:solidFill>
              </a:rPr>
              <a:t>Unit </a:t>
            </a:r>
            <a:r>
              <a:rPr lang="en-AU" sz="2400" b="1" dirty="0" smtClean="0">
                <a:solidFill>
                  <a:srgbClr val="C00000"/>
                </a:solidFill>
              </a:rPr>
              <a:t>Price per 100g</a:t>
            </a:r>
            <a:endParaRPr lang="en-AU" sz="2400" dirty="0">
              <a:solidFill>
                <a:srgbClr val="C00000"/>
              </a:solidFill>
            </a:endParaRPr>
          </a:p>
        </p:txBody>
      </p:sp>
      <p:sp>
        <p:nvSpPr>
          <p:cNvPr id="30" name="TextBox 29"/>
          <p:cNvSpPr txBox="1"/>
          <p:nvPr/>
        </p:nvSpPr>
        <p:spPr>
          <a:xfrm>
            <a:off x="2300065" y="3899021"/>
            <a:ext cx="1946606" cy="954107"/>
          </a:xfrm>
          <a:prstGeom prst="rect">
            <a:avLst/>
          </a:prstGeom>
          <a:noFill/>
        </p:spPr>
        <p:txBody>
          <a:bodyPr wrap="square" rtlCol="0">
            <a:spAutoFit/>
          </a:bodyPr>
          <a:lstStyle/>
          <a:p>
            <a:pPr algn="ctr"/>
            <a:r>
              <a:rPr lang="en-AU" sz="2800" dirty="0" smtClean="0"/>
              <a:t>5.99 / 5 </a:t>
            </a:r>
          </a:p>
          <a:p>
            <a:pPr algn="ctr"/>
            <a:r>
              <a:rPr lang="en-AU" sz="2800" dirty="0" smtClean="0"/>
              <a:t>= 1.198</a:t>
            </a:r>
            <a:endParaRPr lang="en-AU" sz="2800" dirty="0"/>
          </a:p>
        </p:txBody>
      </p:sp>
      <p:sp>
        <p:nvSpPr>
          <p:cNvPr id="31" name="TextBox 30"/>
          <p:cNvSpPr txBox="1"/>
          <p:nvPr/>
        </p:nvSpPr>
        <p:spPr>
          <a:xfrm>
            <a:off x="4532193" y="3899020"/>
            <a:ext cx="1946606" cy="954107"/>
          </a:xfrm>
          <a:prstGeom prst="rect">
            <a:avLst/>
          </a:prstGeom>
          <a:noFill/>
        </p:spPr>
        <p:txBody>
          <a:bodyPr wrap="square" rtlCol="0">
            <a:spAutoFit/>
          </a:bodyPr>
          <a:lstStyle/>
          <a:p>
            <a:pPr algn="ctr"/>
            <a:r>
              <a:rPr lang="en-AU" sz="2800" dirty="0" smtClean="0"/>
              <a:t>7.21 / 8.2 </a:t>
            </a:r>
          </a:p>
          <a:p>
            <a:pPr algn="ctr"/>
            <a:r>
              <a:rPr lang="en-AU" sz="2800" dirty="0" smtClean="0"/>
              <a:t>= 0.879</a:t>
            </a:r>
            <a:endParaRPr lang="en-AU" sz="2800" dirty="0"/>
          </a:p>
        </p:txBody>
      </p:sp>
      <p:sp>
        <p:nvSpPr>
          <p:cNvPr id="37" name="TextBox 36"/>
          <p:cNvSpPr txBox="1"/>
          <p:nvPr/>
        </p:nvSpPr>
        <p:spPr>
          <a:xfrm>
            <a:off x="7135948" y="3899021"/>
            <a:ext cx="1946606" cy="954107"/>
          </a:xfrm>
          <a:prstGeom prst="rect">
            <a:avLst/>
          </a:prstGeom>
          <a:noFill/>
        </p:spPr>
        <p:txBody>
          <a:bodyPr wrap="square" rtlCol="0">
            <a:spAutoFit/>
          </a:bodyPr>
          <a:lstStyle/>
          <a:p>
            <a:pPr algn="ctr"/>
            <a:r>
              <a:rPr lang="en-AU" sz="2800" dirty="0" smtClean="0"/>
              <a:t>3.30 / 5 </a:t>
            </a:r>
          </a:p>
          <a:p>
            <a:pPr algn="ctr"/>
            <a:r>
              <a:rPr lang="en-AU" sz="2800" dirty="0" smtClean="0"/>
              <a:t>= 0.66</a:t>
            </a:r>
            <a:endParaRPr lang="en-AU" sz="2800" dirty="0"/>
          </a:p>
        </p:txBody>
      </p:sp>
      <p:sp>
        <p:nvSpPr>
          <p:cNvPr id="38" name="TextBox 37"/>
          <p:cNvSpPr txBox="1"/>
          <p:nvPr/>
        </p:nvSpPr>
        <p:spPr>
          <a:xfrm>
            <a:off x="9368076" y="3899020"/>
            <a:ext cx="1946606" cy="954107"/>
          </a:xfrm>
          <a:prstGeom prst="rect">
            <a:avLst/>
          </a:prstGeom>
          <a:noFill/>
        </p:spPr>
        <p:txBody>
          <a:bodyPr wrap="square" rtlCol="0">
            <a:spAutoFit/>
          </a:bodyPr>
          <a:lstStyle/>
          <a:p>
            <a:pPr algn="ctr"/>
            <a:r>
              <a:rPr lang="en-AU" sz="2800" dirty="0" smtClean="0"/>
              <a:t>0.60 / 0.85 </a:t>
            </a:r>
          </a:p>
          <a:p>
            <a:pPr algn="ctr"/>
            <a:r>
              <a:rPr lang="en-AU" sz="2800" dirty="0" smtClean="0"/>
              <a:t>= 0.706</a:t>
            </a:r>
            <a:endParaRPr lang="en-AU" sz="2800" dirty="0"/>
          </a:p>
        </p:txBody>
      </p:sp>
    </p:spTree>
    <p:extLst>
      <p:ext uri="{BB962C8B-B14F-4D97-AF65-F5344CB8AC3E}">
        <p14:creationId xmlns:p14="http://schemas.microsoft.com/office/powerpoint/2010/main" val="3506706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52" grpId="0" animBg="1"/>
      <p:bldP spid="53" grpId="0" animBg="1"/>
      <p:bldP spid="54" grpId="0" animBg="1"/>
      <p:bldP spid="30" grpId="0"/>
      <p:bldP spid="31" grpId="0"/>
      <p:bldP spid="37" grpId="0"/>
      <p:bldP spid="3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a:t>
            </a:r>
            <a:r>
              <a:rPr lang="en-AU" sz="2400" dirty="0"/>
              <a:t>3</a:t>
            </a:r>
          </a:p>
        </p:txBody>
      </p:sp>
      <p:pic>
        <p:nvPicPr>
          <p:cNvPr id="2" name="Picture 1"/>
          <p:cNvPicPr>
            <a:picLocks noChangeAspect="1"/>
          </p:cNvPicPr>
          <p:nvPr/>
        </p:nvPicPr>
        <p:blipFill>
          <a:blip r:embed="rId2"/>
          <a:stretch>
            <a:fillRect/>
          </a:stretch>
        </p:blipFill>
        <p:spPr>
          <a:xfrm>
            <a:off x="485189" y="1635612"/>
            <a:ext cx="1750234" cy="3054194"/>
          </a:xfrm>
          <a:prstGeom prst="rect">
            <a:avLst/>
          </a:prstGeom>
        </p:spPr>
      </p:pic>
      <p:pic>
        <p:nvPicPr>
          <p:cNvPr id="15" name="Picture 14"/>
          <p:cNvPicPr>
            <a:picLocks noChangeAspect="1"/>
          </p:cNvPicPr>
          <p:nvPr/>
        </p:nvPicPr>
        <p:blipFill>
          <a:blip r:embed="rId2"/>
          <a:stretch>
            <a:fillRect/>
          </a:stretch>
        </p:blipFill>
        <p:spPr>
          <a:xfrm>
            <a:off x="3595506" y="2496368"/>
            <a:ext cx="1256970" cy="2193438"/>
          </a:xfrm>
          <a:prstGeom prst="rect">
            <a:avLst/>
          </a:prstGeom>
        </p:spPr>
      </p:pic>
      <p:pic>
        <p:nvPicPr>
          <p:cNvPr id="16" name="Picture 15"/>
          <p:cNvPicPr>
            <a:picLocks noChangeAspect="1"/>
          </p:cNvPicPr>
          <p:nvPr/>
        </p:nvPicPr>
        <p:blipFill>
          <a:blip r:embed="rId2"/>
          <a:stretch>
            <a:fillRect/>
          </a:stretch>
        </p:blipFill>
        <p:spPr>
          <a:xfrm>
            <a:off x="6212559" y="3242473"/>
            <a:ext cx="829408" cy="1447333"/>
          </a:xfrm>
          <a:prstGeom prst="rect">
            <a:avLst/>
          </a:prstGeom>
        </p:spPr>
      </p:pic>
      <p:sp>
        <p:nvSpPr>
          <p:cNvPr id="3" name="TextBox 2"/>
          <p:cNvSpPr txBox="1"/>
          <p:nvPr/>
        </p:nvSpPr>
        <p:spPr>
          <a:xfrm>
            <a:off x="108991" y="505939"/>
            <a:ext cx="11943298" cy="769441"/>
          </a:xfrm>
          <a:prstGeom prst="rect">
            <a:avLst/>
          </a:prstGeom>
          <a:noFill/>
        </p:spPr>
        <p:txBody>
          <a:bodyPr wrap="square" rtlCol="0">
            <a:spAutoFit/>
          </a:bodyPr>
          <a:lstStyle/>
          <a:p>
            <a:r>
              <a:rPr lang="en-AU" sz="2200" dirty="0" smtClean="0"/>
              <a:t>Consider the three different sizes of coffee jars you can buy in the local supermarket.</a:t>
            </a:r>
          </a:p>
          <a:p>
            <a:r>
              <a:rPr lang="en-AU" sz="2200" dirty="0" smtClean="0"/>
              <a:t>Which of these three gives the best value for money?</a:t>
            </a:r>
            <a:endParaRPr lang="en-AU" sz="2200" dirty="0"/>
          </a:p>
        </p:txBody>
      </p:sp>
      <p:sp>
        <p:nvSpPr>
          <p:cNvPr id="5" name="TextBox 4"/>
          <p:cNvSpPr txBox="1"/>
          <p:nvPr/>
        </p:nvSpPr>
        <p:spPr>
          <a:xfrm>
            <a:off x="659094" y="4689806"/>
            <a:ext cx="1842884" cy="369332"/>
          </a:xfrm>
          <a:prstGeom prst="rect">
            <a:avLst/>
          </a:prstGeom>
          <a:noFill/>
        </p:spPr>
        <p:txBody>
          <a:bodyPr wrap="square" rtlCol="0">
            <a:spAutoFit/>
          </a:bodyPr>
          <a:lstStyle/>
          <a:p>
            <a:r>
              <a:rPr lang="en-AU" dirty="0" smtClean="0"/>
              <a:t>200g - $17.80</a:t>
            </a:r>
            <a:endParaRPr lang="en-AU" dirty="0"/>
          </a:p>
        </p:txBody>
      </p:sp>
      <p:sp>
        <p:nvSpPr>
          <p:cNvPr id="17" name="TextBox 16"/>
          <p:cNvSpPr txBox="1"/>
          <p:nvPr/>
        </p:nvSpPr>
        <p:spPr>
          <a:xfrm>
            <a:off x="3549085" y="4689806"/>
            <a:ext cx="1842884" cy="369332"/>
          </a:xfrm>
          <a:prstGeom prst="rect">
            <a:avLst/>
          </a:prstGeom>
          <a:noFill/>
        </p:spPr>
        <p:txBody>
          <a:bodyPr wrap="square" rtlCol="0">
            <a:spAutoFit/>
          </a:bodyPr>
          <a:lstStyle/>
          <a:p>
            <a:r>
              <a:rPr lang="en-AU" dirty="0"/>
              <a:t>1</a:t>
            </a:r>
            <a:r>
              <a:rPr lang="en-AU" dirty="0" smtClean="0"/>
              <a:t>00g - $9.00</a:t>
            </a:r>
            <a:endParaRPr lang="en-AU" dirty="0"/>
          </a:p>
        </p:txBody>
      </p:sp>
      <p:sp>
        <p:nvSpPr>
          <p:cNvPr id="18" name="TextBox 17"/>
          <p:cNvSpPr txBox="1"/>
          <p:nvPr/>
        </p:nvSpPr>
        <p:spPr>
          <a:xfrm>
            <a:off x="6080640" y="4689806"/>
            <a:ext cx="1842884" cy="369332"/>
          </a:xfrm>
          <a:prstGeom prst="rect">
            <a:avLst/>
          </a:prstGeom>
          <a:noFill/>
        </p:spPr>
        <p:txBody>
          <a:bodyPr wrap="square" rtlCol="0">
            <a:spAutoFit/>
          </a:bodyPr>
          <a:lstStyle/>
          <a:p>
            <a:r>
              <a:rPr lang="en-AU" dirty="0" smtClean="0"/>
              <a:t>50g - $4.60</a:t>
            </a:r>
            <a:endParaRPr lang="en-AU" dirty="0"/>
          </a:p>
        </p:txBody>
      </p:sp>
      <mc:AlternateContent xmlns:mc="http://schemas.openxmlformats.org/markup-compatibility/2006" xmlns:p14="http://schemas.microsoft.com/office/powerpoint/2010/main">
        <mc:Choice Requires="p14">
          <p:contentPart p14:bwMode="auto" r:id="rId3">
            <p14:nvContentPartPr>
              <p14:cNvPr id="20" name="Ink 19"/>
              <p14:cNvContentPartPr/>
              <p14:nvPr/>
            </p14:nvContentPartPr>
            <p14:xfrm>
              <a:off x="4942086" y="4037157"/>
              <a:ext cx="1140480" cy="247680"/>
            </p14:xfrm>
          </p:contentPart>
        </mc:Choice>
        <mc:Fallback xmlns="">
          <p:pic>
            <p:nvPicPr>
              <p:cNvPr id="20" name="Ink 19"/>
              <p:cNvPicPr/>
              <p:nvPr/>
            </p:nvPicPr>
            <p:blipFill>
              <a:blip r:embed="rId4"/>
              <a:stretch>
                <a:fillRect/>
              </a:stretch>
            </p:blipFill>
            <p:spPr>
              <a:xfrm>
                <a:off x="4908606" y="4003677"/>
                <a:ext cx="119448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6" name="Ink 25"/>
              <p14:cNvContentPartPr/>
              <p14:nvPr/>
            </p14:nvContentPartPr>
            <p14:xfrm>
              <a:off x="4938126" y="3845637"/>
              <a:ext cx="916920" cy="168480"/>
            </p14:xfrm>
          </p:contentPart>
        </mc:Choice>
        <mc:Fallback xmlns="">
          <p:pic>
            <p:nvPicPr>
              <p:cNvPr id="26" name="Ink 25"/>
              <p:cNvPicPr/>
              <p:nvPr/>
            </p:nvPicPr>
            <p:blipFill>
              <a:blip r:embed="rId6"/>
              <a:stretch>
                <a:fillRect/>
              </a:stretch>
            </p:blipFill>
            <p:spPr>
              <a:xfrm>
                <a:off x="4919046" y="3822957"/>
                <a:ext cx="96372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9" name="Ink 28"/>
              <p14:cNvContentPartPr/>
              <p14:nvPr/>
            </p14:nvContentPartPr>
            <p14:xfrm>
              <a:off x="2238846" y="3410397"/>
              <a:ext cx="1269360" cy="445320"/>
            </p14:xfrm>
          </p:contentPart>
        </mc:Choice>
        <mc:Fallback xmlns="">
          <p:pic>
            <p:nvPicPr>
              <p:cNvPr id="29" name="Ink 28"/>
              <p:cNvPicPr/>
              <p:nvPr/>
            </p:nvPicPr>
            <p:blipFill>
              <a:blip r:embed="rId8"/>
              <a:stretch>
                <a:fillRect/>
              </a:stretch>
            </p:blipFill>
            <p:spPr>
              <a:xfrm>
                <a:off x="2216526" y="3388077"/>
                <a:ext cx="1321920" cy="497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2" name="Ink 31"/>
              <p14:cNvContentPartPr/>
              <p14:nvPr/>
            </p14:nvContentPartPr>
            <p14:xfrm>
              <a:off x="2585166" y="3108357"/>
              <a:ext cx="2880" cy="16200"/>
            </p14:xfrm>
          </p:contentPart>
        </mc:Choice>
        <mc:Fallback xmlns="">
          <p:pic>
            <p:nvPicPr>
              <p:cNvPr id="32" name="Ink 31"/>
              <p:cNvPicPr/>
              <p:nvPr/>
            </p:nvPicPr>
            <p:blipFill>
              <a:blip r:embed="rId10"/>
              <a:stretch>
                <a:fillRect/>
              </a:stretch>
            </p:blipFill>
            <p:spPr>
              <a:xfrm>
                <a:off x="2560686" y="3083877"/>
                <a:ext cx="5148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3" name="Ink 32"/>
              <p14:cNvContentPartPr/>
              <p14:nvPr/>
            </p14:nvContentPartPr>
            <p14:xfrm>
              <a:off x="3296526" y="3890997"/>
              <a:ext cx="239760" cy="104040"/>
            </p14:xfrm>
          </p:contentPart>
        </mc:Choice>
        <mc:Fallback xmlns="">
          <p:pic>
            <p:nvPicPr>
              <p:cNvPr id="33" name="Ink 32"/>
              <p:cNvPicPr/>
              <p:nvPr/>
            </p:nvPicPr>
            <p:blipFill>
              <a:blip r:embed="rId12"/>
              <a:stretch>
                <a:fillRect/>
              </a:stretch>
            </p:blipFill>
            <p:spPr>
              <a:xfrm>
                <a:off x="3269886" y="3866877"/>
                <a:ext cx="29052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6" name="Ink 35"/>
              <p14:cNvContentPartPr/>
              <p14:nvPr/>
            </p14:nvContentPartPr>
            <p14:xfrm>
              <a:off x="2501646" y="3187197"/>
              <a:ext cx="535320" cy="208080"/>
            </p14:xfrm>
          </p:contentPart>
        </mc:Choice>
        <mc:Fallback xmlns="">
          <p:pic>
            <p:nvPicPr>
              <p:cNvPr id="36" name="Ink 35"/>
              <p:cNvPicPr/>
              <p:nvPr/>
            </p:nvPicPr>
            <p:blipFill>
              <a:blip r:embed="rId14"/>
              <a:stretch>
                <a:fillRect/>
              </a:stretch>
            </p:blipFill>
            <p:spPr>
              <a:xfrm>
                <a:off x="2476806" y="3163797"/>
                <a:ext cx="58212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7" name="Ink 36"/>
              <p14:cNvContentPartPr/>
              <p14:nvPr/>
            </p14:nvContentPartPr>
            <p14:xfrm>
              <a:off x="2636646" y="3358197"/>
              <a:ext cx="19080" cy="34920"/>
            </p14:xfrm>
          </p:contentPart>
        </mc:Choice>
        <mc:Fallback xmlns="">
          <p:pic>
            <p:nvPicPr>
              <p:cNvPr id="37" name="Ink 36"/>
              <p:cNvPicPr/>
              <p:nvPr/>
            </p:nvPicPr>
            <p:blipFill>
              <a:blip r:embed="rId16"/>
              <a:stretch>
                <a:fillRect/>
              </a:stretch>
            </p:blipFill>
            <p:spPr>
              <a:xfrm>
                <a:off x="2609646" y="3338397"/>
                <a:ext cx="59400" cy="76320"/>
              </a:xfrm>
              <a:prstGeom prst="rect">
                <a:avLst/>
              </a:prstGeom>
            </p:spPr>
          </p:pic>
        </mc:Fallback>
      </mc:AlternateContent>
      <p:sp>
        <p:nvSpPr>
          <p:cNvPr id="38" name="TextBox 37"/>
          <p:cNvSpPr txBox="1"/>
          <p:nvPr/>
        </p:nvSpPr>
        <p:spPr>
          <a:xfrm>
            <a:off x="108991" y="5303050"/>
            <a:ext cx="10686700" cy="769441"/>
          </a:xfrm>
          <a:prstGeom prst="rect">
            <a:avLst/>
          </a:prstGeom>
          <a:noFill/>
        </p:spPr>
        <p:txBody>
          <a:bodyPr wrap="square" rtlCol="0">
            <a:spAutoFit/>
          </a:bodyPr>
          <a:lstStyle/>
          <a:p>
            <a:r>
              <a:rPr lang="en-AU" sz="2200" dirty="0" smtClean="0"/>
              <a:t>This example is quite easy because the little jar is half the size of the middle jar and the big jar is twice as big as the middle jar. We can easily compare them.</a:t>
            </a:r>
            <a:endParaRPr lang="en-AU" sz="2200" dirty="0"/>
          </a:p>
        </p:txBody>
      </p:sp>
      <p:sp>
        <p:nvSpPr>
          <p:cNvPr id="39" name="TextBox 38"/>
          <p:cNvSpPr txBox="1"/>
          <p:nvPr/>
        </p:nvSpPr>
        <p:spPr>
          <a:xfrm>
            <a:off x="583420" y="1329921"/>
            <a:ext cx="2389782" cy="370248"/>
          </a:xfrm>
          <a:prstGeom prst="rect">
            <a:avLst/>
          </a:prstGeom>
          <a:noFill/>
        </p:spPr>
        <p:txBody>
          <a:bodyPr wrap="square" rtlCol="0">
            <a:spAutoFit/>
          </a:bodyPr>
          <a:lstStyle/>
          <a:p>
            <a:r>
              <a:rPr lang="en-AU" dirty="0" smtClean="0"/>
              <a:t>Per 100g - $8.90</a:t>
            </a:r>
            <a:endParaRPr lang="en-AU" dirty="0"/>
          </a:p>
        </p:txBody>
      </p:sp>
      <p:sp>
        <p:nvSpPr>
          <p:cNvPr id="40" name="TextBox 39"/>
          <p:cNvSpPr txBox="1"/>
          <p:nvPr/>
        </p:nvSpPr>
        <p:spPr>
          <a:xfrm>
            <a:off x="5807191" y="1329921"/>
            <a:ext cx="2389782" cy="370248"/>
          </a:xfrm>
          <a:prstGeom prst="rect">
            <a:avLst/>
          </a:prstGeom>
          <a:noFill/>
        </p:spPr>
        <p:txBody>
          <a:bodyPr wrap="square" rtlCol="0">
            <a:spAutoFit/>
          </a:bodyPr>
          <a:lstStyle/>
          <a:p>
            <a:r>
              <a:rPr lang="en-AU" dirty="0" smtClean="0"/>
              <a:t>Per 100g - $9.20</a:t>
            </a:r>
            <a:endParaRPr lang="en-AU" dirty="0"/>
          </a:p>
        </p:txBody>
      </p:sp>
      <p:sp>
        <p:nvSpPr>
          <p:cNvPr id="41" name="TextBox 40"/>
          <p:cNvSpPr txBox="1"/>
          <p:nvPr/>
        </p:nvSpPr>
        <p:spPr>
          <a:xfrm>
            <a:off x="3465264" y="1317050"/>
            <a:ext cx="2389782" cy="370248"/>
          </a:xfrm>
          <a:prstGeom prst="rect">
            <a:avLst/>
          </a:prstGeom>
          <a:noFill/>
        </p:spPr>
        <p:txBody>
          <a:bodyPr wrap="square" rtlCol="0">
            <a:spAutoFit/>
          </a:bodyPr>
          <a:lstStyle/>
          <a:p>
            <a:r>
              <a:rPr lang="en-AU" dirty="0" smtClean="0"/>
              <a:t>Per 100g - $9.00</a:t>
            </a:r>
            <a:endParaRPr lang="en-AU" dirty="0"/>
          </a:p>
        </p:txBody>
      </p:sp>
      <mc:AlternateContent xmlns:mc="http://schemas.openxmlformats.org/markup-compatibility/2006" xmlns:p14="http://schemas.microsoft.com/office/powerpoint/2010/main">
        <mc:Choice Requires="p14">
          <p:contentPart p14:bwMode="auto" r:id="rId17">
            <p14:nvContentPartPr>
              <p14:cNvPr id="43" name="Ink 42"/>
              <p14:cNvContentPartPr/>
              <p14:nvPr/>
            </p14:nvContentPartPr>
            <p14:xfrm>
              <a:off x="100175" y="1147541"/>
              <a:ext cx="2932920" cy="4178520"/>
            </p14:xfrm>
          </p:contentPart>
        </mc:Choice>
        <mc:Fallback xmlns="">
          <p:pic>
            <p:nvPicPr>
              <p:cNvPr id="43" name="Ink 42"/>
              <p:cNvPicPr/>
              <p:nvPr/>
            </p:nvPicPr>
            <p:blipFill>
              <a:blip r:embed="rId18"/>
              <a:stretch>
                <a:fillRect/>
              </a:stretch>
            </p:blipFill>
            <p:spPr>
              <a:xfrm>
                <a:off x="67415" y="1119461"/>
                <a:ext cx="3003120" cy="4240440"/>
              </a:xfrm>
              <a:prstGeom prst="rect">
                <a:avLst/>
              </a:prstGeom>
            </p:spPr>
          </p:pic>
        </mc:Fallback>
      </mc:AlternateContent>
    </p:spTree>
    <p:extLst>
      <p:ext uri="{BB962C8B-B14F-4D97-AF65-F5344CB8AC3E}">
        <p14:creationId xmlns:p14="http://schemas.microsoft.com/office/powerpoint/2010/main" val="2731994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4</a:t>
            </a:r>
            <a:endParaRPr lang="en-AU" sz="2400" dirty="0"/>
          </a:p>
        </p:txBody>
      </p:sp>
      <p:pic>
        <p:nvPicPr>
          <p:cNvPr id="2" name="Picture 1"/>
          <p:cNvPicPr>
            <a:picLocks noChangeAspect="1"/>
          </p:cNvPicPr>
          <p:nvPr/>
        </p:nvPicPr>
        <p:blipFill>
          <a:blip r:embed="rId2"/>
          <a:stretch>
            <a:fillRect/>
          </a:stretch>
        </p:blipFill>
        <p:spPr>
          <a:xfrm>
            <a:off x="525249" y="1295867"/>
            <a:ext cx="1431509" cy="2917105"/>
          </a:xfrm>
          <a:prstGeom prst="rect">
            <a:avLst/>
          </a:prstGeom>
        </p:spPr>
      </p:pic>
      <p:pic>
        <p:nvPicPr>
          <p:cNvPr id="4" name="Picture 3"/>
          <p:cNvPicPr>
            <a:picLocks noChangeAspect="1"/>
          </p:cNvPicPr>
          <p:nvPr/>
        </p:nvPicPr>
        <p:blipFill>
          <a:blip r:embed="rId2"/>
          <a:stretch>
            <a:fillRect/>
          </a:stretch>
        </p:blipFill>
        <p:spPr>
          <a:xfrm>
            <a:off x="3300643" y="2159779"/>
            <a:ext cx="1007562" cy="2053192"/>
          </a:xfrm>
          <a:prstGeom prst="rect">
            <a:avLst/>
          </a:prstGeom>
        </p:spPr>
      </p:pic>
      <p:pic>
        <p:nvPicPr>
          <p:cNvPr id="5" name="Picture 4"/>
          <p:cNvPicPr>
            <a:picLocks noChangeAspect="1"/>
          </p:cNvPicPr>
          <p:nvPr/>
        </p:nvPicPr>
        <p:blipFill>
          <a:blip r:embed="rId2"/>
          <a:stretch>
            <a:fillRect/>
          </a:stretch>
        </p:blipFill>
        <p:spPr>
          <a:xfrm>
            <a:off x="5652090" y="2799298"/>
            <a:ext cx="693731" cy="1413673"/>
          </a:xfrm>
          <a:prstGeom prst="rect">
            <a:avLst/>
          </a:prstGeom>
        </p:spPr>
      </p:pic>
      <p:sp>
        <p:nvSpPr>
          <p:cNvPr id="6" name="TextBox 5"/>
          <p:cNvSpPr txBox="1"/>
          <p:nvPr/>
        </p:nvSpPr>
        <p:spPr>
          <a:xfrm>
            <a:off x="108991" y="505939"/>
            <a:ext cx="11943298" cy="769441"/>
          </a:xfrm>
          <a:prstGeom prst="rect">
            <a:avLst/>
          </a:prstGeom>
          <a:noFill/>
        </p:spPr>
        <p:txBody>
          <a:bodyPr wrap="square" rtlCol="0">
            <a:spAutoFit/>
          </a:bodyPr>
          <a:lstStyle/>
          <a:p>
            <a:r>
              <a:rPr lang="en-AU" sz="2200" dirty="0" smtClean="0"/>
              <a:t>Consider the three different sizes of coffee jars you can buy in the local supermarket.</a:t>
            </a:r>
          </a:p>
          <a:p>
            <a:r>
              <a:rPr lang="en-AU" sz="2200" dirty="0" smtClean="0"/>
              <a:t>Which of these three gives the best value for money?</a:t>
            </a:r>
            <a:endParaRPr lang="en-AU" sz="2200" dirty="0"/>
          </a:p>
        </p:txBody>
      </p:sp>
      <p:sp>
        <p:nvSpPr>
          <p:cNvPr id="7" name="TextBox 6"/>
          <p:cNvSpPr txBox="1"/>
          <p:nvPr/>
        </p:nvSpPr>
        <p:spPr>
          <a:xfrm>
            <a:off x="586167" y="4233459"/>
            <a:ext cx="1842884" cy="369332"/>
          </a:xfrm>
          <a:prstGeom prst="rect">
            <a:avLst/>
          </a:prstGeom>
          <a:noFill/>
        </p:spPr>
        <p:txBody>
          <a:bodyPr wrap="square" rtlCol="0">
            <a:spAutoFit/>
          </a:bodyPr>
          <a:lstStyle/>
          <a:p>
            <a:r>
              <a:rPr lang="en-AU" dirty="0" smtClean="0"/>
              <a:t>250g - $22.40</a:t>
            </a:r>
            <a:endParaRPr lang="en-AU" dirty="0"/>
          </a:p>
        </p:txBody>
      </p:sp>
      <p:sp>
        <p:nvSpPr>
          <p:cNvPr id="8" name="TextBox 7"/>
          <p:cNvSpPr txBox="1"/>
          <p:nvPr/>
        </p:nvSpPr>
        <p:spPr>
          <a:xfrm>
            <a:off x="3140065" y="4233459"/>
            <a:ext cx="1842884" cy="369332"/>
          </a:xfrm>
          <a:prstGeom prst="rect">
            <a:avLst/>
          </a:prstGeom>
          <a:noFill/>
        </p:spPr>
        <p:txBody>
          <a:bodyPr wrap="square" rtlCol="0">
            <a:spAutoFit/>
          </a:bodyPr>
          <a:lstStyle/>
          <a:p>
            <a:r>
              <a:rPr lang="en-AU" dirty="0" smtClean="0"/>
              <a:t>145g - $12.65</a:t>
            </a:r>
            <a:endParaRPr lang="en-AU" dirty="0"/>
          </a:p>
        </p:txBody>
      </p:sp>
      <p:sp>
        <p:nvSpPr>
          <p:cNvPr id="9" name="TextBox 8"/>
          <p:cNvSpPr txBox="1"/>
          <p:nvPr/>
        </p:nvSpPr>
        <p:spPr>
          <a:xfrm>
            <a:off x="5491609" y="4212971"/>
            <a:ext cx="1842884" cy="369332"/>
          </a:xfrm>
          <a:prstGeom prst="rect">
            <a:avLst/>
          </a:prstGeom>
          <a:noFill/>
        </p:spPr>
        <p:txBody>
          <a:bodyPr wrap="square" rtlCol="0">
            <a:spAutoFit/>
          </a:bodyPr>
          <a:lstStyle/>
          <a:p>
            <a:r>
              <a:rPr lang="en-AU" dirty="0" smtClean="0"/>
              <a:t>75g - $7.20</a:t>
            </a:r>
            <a:endParaRPr lang="en-AU" dirty="0"/>
          </a:p>
        </p:txBody>
      </p:sp>
      <p:sp>
        <p:nvSpPr>
          <p:cNvPr id="10" name="TextBox 9"/>
          <p:cNvSpPr txBox="1"/>
          <p:nvPr/>
        </p:nvSpPr>
        <p:spPr>
          <a:xfrm>
            <a:off x="148259" y="4803777"/>
            <a:ext cx="10686700" cy="1107996"/>
          </a:xfrm>
          <a:prstGeom prst="rect">
            <a:avLst/>
          </a:prstGeom>
          <a:noFill/>
        </p:spPr>
        <p:txBody>
          <a:bodyPr wrap="square" rtlCol="0">
            <a:spAutoFit/>
          </a:bodyPr>
          <a:lstStyle/>
          <a:p>
            <a:r>
              <a:rPr lang="en-AU" sz="2200" dirty="0" smtClean="0"/>
              <a:t>This example is trickier as the jars aren’t doubles of each other.</a:t>
            </a:r>
          </a:p>
          <a:p>
            <a:r>
              <a:rPr lang="en-AU" sz="2200" dirty="0" smtClean="0"/>
              <a:t>We can compare the price per gram, or the price per 100g to see which one gives the best value.</a:t>
            </a:r>
            <a:endParaRPr lang="en-AU" sz="2200" dirty="0"/>
          </a:p>
        </p:txBody>
      </p:sp>
      <mc:AlternateContent xmlns:mc="http://schemas.openxmlformats.org/markup-compatibility/2006" xmlns:a14="http://schemas.microsoft.com/office/drawing/2010/main">
        <mc:Choice Requires="a14">
          <p:sp>
            <p:nvSpPr>
              <p:cNvPr id="3" name="TextBox 2"/>
              <p:cNvSpPr txBox="1"/>
              <p:nvPr/>
            </p:nvSpPr>
            <p:spPr>
              <a:xfrm>
                <a:off x="6620614" y="1275380"/>
                <a:ext cx="5390002" cy="573234"/>
              </a:xfrm>
              <a:prstGeom prst="rect">
                <a:avLst/>
              </a:prstGeom>
              <a:noFill/>
            </p:spPr>
            <p:txBody>
              <a:bodyPr wrap="square" rtlCol="0">
                <a:spAutoFit/>
              </a:bodyPr>
              <a:lstStyle/>
              <a:p>
                <a:r>
                  <a:rPr lang="en-AU" sz="2200" dirty="0" smtClean="0"/>
                  <a:t>250g </a:t>
                </a:r>
                <a14:m>
                  <m:oMath xmlns:m="http://schemas.openxmlformats.org/officeDocument/2006/math">
                    <m:r>
                      <a:rPr lang="en-AU" sz="2200" b="0" i="1" smtClean="0">
                        <a:latin typeface="Cambria Math" panose="02040503050406030204" pitchFamily="18" charset="0"/>
                      </a:rPr>
                      <m:t>= </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22.40</m:t>
                        </m:r>
                      </m:num>
                      <m:den>
                        <m:r>
                          <a:rPr lang="en-AU" sz="2200" b="0" i="1" smtClean="0">
                            <a:latin typeface="Cambria Math" panose="02040503050406030204" pitchFamily="18" charset="0"/>
                          </a:rPr>
                          <m:t>250</m:t>
                        </m:r>
                      </m:den>
                    </m:f>
                    <m:r>
                      <a:rPr lang="en-AU" sz="2200" b="0" i="1" smtClean="0">
                        <a:latin typeface="Cambria Math" panose="02040503050406030204" pitchFamily="18" charset="0"/>
                      </a:rPr>
                      <m:t>=0.0896 $/</m:t>
                    </m:r>
                    <m:r>
                      <a:rPr lang="en-AU" sz="2200" b="0" i="1" smtClean="0">
                        <a:latin typeface="Cambria Math" panose="02040503050406030204" pitchFamily="18" charset="0"/>
                      </a:rPr>
                      <m:t>𝑔</m:t>
                    </m:r>
                  </m:oMath>
                </a14:m>
                <a:r>
                  <a:rPr lang="en-AU" sz="2200" dirty="0" smtClean="0"/>
                  <a:t>     ($8.96/100g)</a:t>
                </a:r>
                <a:endParaRPr lang="en-AU" sz="2200" dirty="0"/>
              </a:p>
            </p:txBody>
          </p:sp>
        </mc:Choice>
        <mc:Fallback xmlns="">
          <p:sp>
            <p:nvSpPr>
              <p:cNvPr id="3" name="TextBox 2"/>
              <p:cNvSpPr txBox="1">
                <a:spLocks noRot="1" noChangeAspect="1" noMove="1" noResize="1" noEditPoints="1" noAdjustHandles="1" noChangeArrowheads="1" noChangeShapeType="1" noTextEdit="1"/>
              </p:cNvSpPr>
              <p:nvPr/>
            </p:nvSpPr>
            <p:spPr>
              <a:xfrm>
                <a:off x="6620614" y="1275380"/>
                <a:ext cx="5390002" cy="573234"/>
              </a:xfrm>
              <a:prstGeom prst="rect">
                <a:avLst/>
              </a:prstGeom>
              <a:blipFill>
                <a:blip r:embed="rId3"/>
                <a:stretch>
                  <a:fillRect l="-1471" b="-957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6620614" y="1994371"/>
                <a:ext cx="5390002" cy="572529"/>
              </a:xfrm>
              <a:prstGeom prst="rect">
                <a:avLst/>
              </a:prstGeom>
              <a:noFill/>
            </p:spPr>
            <p:txBody>
              <a:bodyPr wrap="square" rtlCol="0">
                <a:spAutoFit/>
              </a:bodyPr>
              <a:lstStyle/>
              <a:p>
                <a:r>
                  <a:rPr lang="en-AU" sz="2200" dirty="0" smtClean="0"/>
                  <a:t>145g </a:t>
                </a:r>
                <a14:m>
                  <m:oMath xmlns:m="http://schemas.openxmlformats.org/officeDocument/2006/math">
                    <m:r>
                      <a:rPr lang="en-AU" sz="2200" b="0" i="1" smtClean="0">
                        <a:latin typeface="Cambria Math" panose="02040503050406030204" pitchFamily="18" charset="0"/>
                      </a:rPr>
                      <m:t>= </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12.65</m:t>
                        </m:r>
                      </m:num>
                      <m:den>
                        <m:r>
                          <a:rPr lang="en-AU" sz="2200" b="0" i="1" smtClean="0">
                            <a:latin typeface="Cambria Math" panose="02040503050406030204" pitchFamily="18" charset="0"/>
                          </a:rPr>
                          <m:t>145</m:t>
                        </m:r>
                      </m:den>
                    </m:f>
                    <m:r>
                      <a:rPr lang="en-AU" sz="2200" b="0" i="1" smtClean="0">
                        <a:latin typeface="Cambria Math" panose="02040503050406030204" pitchFamily="18" charset="0"/>
                      </a:rPr>
                      <m:t>=0.0872 $/</m:t>
                    </m:r>
                    <m:r>
                      <a:rPr lang="en-AU" sz="2200" b="0" i="1" smtClean="0">
                        <a:latin typeface="Cambria Math" panose="02040503050406030204" pitchFamily="18" charset="0"/>
                      </a:rPr>
                      <m:t>𝑔</m:t>
                    </m:r>
                  </m:oMath>
                </a14:m>
                <a:r>
                  <a:rPr lang="en-AU" sz="2200" dirty="0" smtClean="0"/>
                  <a:t>     ($8.72/100g)</a:t>
                </a:r>
                <a:endParaRPr lang="en-AU" sz="2200" dirty="0"/>
              </a:p>
            </p:txBody>
          </p:sp>
        </mc:Choice>
        <mc:Fallback xmlns="">
          <p:sp>
            <p:nvSpPr>
              <p:cNvPr id="12" name="TextBox 11"/>
              <p:cNvSpPr txBox="1">
                <a:spLocks noRot="1" noChangeAspect="1" noMove="1" noResize="1" noEditPoints="1" noAdjustHandles="1" noChangeArrowheads="1" noChangeShapeType="1" noTextEdit="1"/>
              </p:cNvSpPr>
              <p:nvPr/>
            </p:nvSpPr>
            <p:spPr>
              <a:xfrm>
                <a:off x="6620614" y="1994371"/>
                <a:ext cx="5390002" cy="572529"/>
              </a:xfrm>
              <a:prstGeom prst="rect">
                <a:avLst/>
              </a:prstGeom>
              <a:blipFill>
                <a:blip r:embed="rId4"/>
                <a:stretch>
                  <a:fillRect l="-1471" b="-1063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6620614" y="2785880"/>
                <a:ext cx="5390002" cy="571310"/>
              </a:xfrm>
              <a:prstGeom prst="rect">
                <a:avLst/>
              </a:prstGeom>
              <a:noFill/>
            </p:spPr>
            <p:txBody>
              <a:bodyPr wrap="square" rtlCol="0">
                <a:spAutoFit/>
              </a:bodyPr>
              <a:lstStyle/>
              <a:p>
                <a:r>
                  <a:rPr lang="en-AU" sz="2200" dirty="0" smtClean="0"/>
                  <a:t> 75g </a:t>
                </a:r>
                <a14:m>
                  <m:oMath xmlns:m="http://schemas.openxmlformats.org/officeDocument/2006/math">
                    <m:r>
                      <a:rPr lang="en-AU" sz="2200" b="0" i="1" smtClean="0">
                        <a:latin typeface="Cambria Math" panose="02040503050406030204" pitchFamily="18" charset="0"/>
                      </a:rPr>
                      <m:t>= </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7.20</m:t>
                        </m:r>
                      </m:num>
                      <m:den>
                        <m:r>
                          <a:rPr lang="en-AU" sz="2200" b="0" i="1" smtClean="0">
                            <a:latin typeface="Cambria Math" panose="02040503050406030204" pitchFamily="18" charset="0"/>
                          </a:rPr>
                          <m:t>75</m:t>
                        </m:r>
                      </m:den>
                    </m:f>
                    <m:r>
                      <a:rPr lang="en-AU" sz="2200" b="0" i="1" smtClean="0">
                        <a:latin typeface="Cambria Math" panose="02040503050406030204" pitchFamily="18" charset="0"/>
                      </a:rPr>
                      <m:t>=0.096 $/</m:t>
                    </m:r>
                    <m:r>
                      <a:rPr lang="en-AU" sz="2200" b="0" i="1" smtClean="0">
                        <a:latin typeface="Cambria Math" panose="02040503050406030204" pitchFamily="18" charset="0"/>
                      </a:rPr>
                      <m:t>𝑔</m:t>
                    </m:r>
                  </m:oMath>
                </a14:m>
                <a:r>
                  <a:rPr lang="en-AU" sz="2200" dirty="0" smtClean="0"/>
                  <a:t>           ($9.76/100g)</a:t>
                </a:r>
                <a:endParaRPr lang="en-AU" sz="2200" dirty="0"/>
              </a:p>
            </p:txBody>
          </p:sp>
        </mc:Choice>
        <mc:Fallback xmlns="">
          <p:sp>
            <p:nvSpPr>
              <p:cNvPr id="13" name="TextBox 12"/>
              <p:cNvSpPr txBox="1">
                <a:spLocks noRot="1" noChangeAspect="1" noMove="1" noResize="1" noEditPoints="1" noAdjustHandles="1" noChangeArrowheads="1" noChangeShapeType="1" noTextEdit="1"/>
              </p:cNvSpPr>
              <p:nvPr/>
            </p:nvSpPr>
            <p:spPr>
              <a:xfrm>
                <a:off x="6620614" y="2785880"/>
                <a:ext cx="5390002" cy="571310"/>
              </a:xfrm>
              <a:prstGeom prst="rect">
                <a:avLst/>
              </a:prstGeom>
              <a:blipFill>
                <a:blip r:embed="rId5"/>
                <a:stretch>
                  <a:fillRect l="-339" b="-9574"/>
                </a:stretch>
              </a:blipFill>
            </p:spPr>
            <p:txBody>
              <a:bodyPr/>
              <a:lstStyle/>
              <a:p>
                <a:r>
                  <a:rPr lang="en-AU">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15" name="Ink 14"/>
              <p14:cNvContentPartPr/>
              <p14:nvPr/>
            </p14:nvContentPartPr>
            <p14:xfrm>
              <a:off x="2769935" y="1750181"/>
              <a:ext cx="2279880" cy="3105360"/>
            </p14:xfrm>
          </p:contentPart>
        </mc:Choice>
        <mc:Fallback xmlns="">
          <p:pic>
            <p:nvPicPr>
              <p:cNvPr id="15" name="Ink 14"/>
              <p:cNvPicPr/>
              <p:nvPr/>
            </p:nvPicPr>
            <p:blipFill>
              <a:blip r:embed="rId7"/>
              <a:stretch>
                <a:fillRect/>
              </a:stretch>
            </p:blipFill>
            <p:spPr>
              <a:xfrm>
                <a:off x="2739335" y="1724621"/>
                <a:ext cx="2342880" cy="3162960"/>
              </a:xfrm>
              <a:prstGeom prst="rect">
                <a:avLst/>
              </a:prstGeom>
            </p:spPr>
          </p:pic>
        </mc:Fallback>
      </mc:AlternateContent>
      <p:sp>
        <p:nvSpPr>
          <p:cNvPr id="16" name="TextBox 15"/>
          <p:cNvSpPr txBox="1"/>
          <p:nvPr/>
        </p:nvSpPr>
        <p:spPr>
          <a:xfrm>
            <a:off x="4400898" y="0"/>
            <a:ext cx="2779666" cy="461665"/>
          </a:xfrm>
          <a:prstGeom prst="rect">
            <a:avLst/>
          </a:prstGeom>
          <a:solidFill>
            <a:srgbClr val="FFFF00"/>
          </a:solidFill>
        </p:spPr>
        <p:txBody>
          <a:bodyPr wrap="square" rtlCol="0">
            <a:spAutoFit/>
          </a:bodyPr>
          <a:lstStyle/>
          <a:p>
            <a:pPr algn="ctr"/>
            <a:r>
              <a:rPr lang="en-AU" sz="2400" dirty="0" smtClean="0"/>
              <a:t>Now do Exercise 5B</a:t>
            </a:r>
            <a:endParaRPr lang="en-AU" sz="2400" dirty="0"/>
          </a:p>
        </p:txBody>
      </p:sp>
    </p:spTree>
    <p:extLst>
      <p:ext uri="{BB962C8B-B14F-4D97-AF65-F5344CB8AC3E}">
        <p14:creationId xmlns:p14="http://schemas.microsoft.com/office/powerpoint/2010/main" val="199824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13" grpId="0"/>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Exercise 5C – Foreign Exchange</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142213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854" y="690495"/>
            <a:ext cx="7464327" cy="874644"/>
          </a:xfrm>
        </p:spPr>
        <p:txBody>
          <a:bodyPr>
            <a:normAutofit/>
          </a:bodyPr>
          <a:lstStyle/>
          <a:p>
            <a:r>
              <a:rPr lang="en-US" sz="2400" dirty="0" smtClean="0">
                <a:latin typeface="+mn-lt"/>
              </a:rPr>
              <a:t>There are lots of different currencies around the world.</a:t>
            </a:r>
            <a:endParaRPr lang="en-US" sz="2400" dirty="0">
              <a:latin typeface="+mn-lt"/>
            </a:endParaRPr>
          </a:p>
        </p:txBody>
      </p:sp>
      <p:sp>
        <p:nvSpPr>
          <p:cNvPr id="3" name="Content Placeholder 2"/>
          <p:cNvSpPr>
            <a:spLocks noGrp="1"/>
          </p:cNvSpPr>
          <p:nvPr>
            <p:ph idx="1"/>
          </p:nvPr>
        </p:nvSpPr>
        <p:spPr/>
        <p:txBody>
          <a:bodyPr>
            <a:normAutofit lnSpcReduction="10000"/>
          </a:bodyPr>
          <a:lstStyle/>
          <a:p>
            <a:r>
              <a:rPr lang="en-US" dirty="0"/>
              <a:t>Australia (dollars): AUD, A$, $A</a:t>
            </a:r>
          </a:p>
          <a:p>
            <a:endParaRPr lang="en-US" dirty="0"/>
          </a:p>
          <a:p>
            <a:r>
              <a:rPr lang="en-US" dirty="0"/>
              <a:t>New Zealand (dollars): NZD, NZ$, $NZ</a:t>
            </a:r>
          </a:p>
          <a:p>
            <a:endParaRPr lang="en-US" dirty="0"/>
          </a:p>
          <a:p>
            <a:r>
              <a:rPr lang="en-US" dirty="0"/>
              <a:t>United Kingdom (pound sterling): </a:t>
            </a:r>
            <a:r>
              <a:rPr lang="en-GB" dirty="0" smtClean="0"/>
              <a:t>£ , GBP</a:t>
            </a:r>
            <a:endParaRPr lang="en-GB" dirty="0"/>
          </a:p>
          <a:p>
            <a:endParaRPr lang="en-GB" dirty="0"/>
          </a:p>
          <a:p>
            <a:r>
              <a:rPr lang="en-GB" dirty="0"/>
              <a:t>Japan (yen): ¥ </a:t>
            </a:r>
          </a:p>
          <a:p>
            <a:endParaRPr lang="en-GB" dirty="0"/>
          </a:p>
          <a:p>
            <a:r>
              <a:rPr lang="en-AU" dirty="0" smtClean="0"/>
              <a:t>United States of America (dollars): USD, US$</a:t>
            </a:r>
            <a:endParaRPr lang="en-US" dirty="0"/>
          </a:p>
        </p:txBody>
      </p:sp>
      <p:sp>
        <p:nvSpPr>
          <p:cNvPr id="4" name="TextBox 3">
            <a:extLst>
              <a:ext uri="{FF2B5EF4-FFF2-40B4-BE49-F238E27FC236}">
                <a16:creationId xmlns:a16="http://schemas.microsoft.com/office/drawing/2014/main" id="{13F1F9D1-3978-4854-9A52-802A344745B5}"/>
              </a:ext>
            </a:extLst>
          </p:cNvPr>
          <p:cNvSpPr txBox="1"/>
          <p:nvPr/>
        </p:nvSpPr>
        <p:spPr>
          <a:xfrm>
            <a:off x="0" y="0"/>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Tree>
    <p:extLst>
      <p:ext uri="{BB962C8B-B14F-4D97-AF65-F5344CB8AC3E}">
        <p14:creationId xmlns:p14="http://schemas.microsoft.com/office/powerpoint/2010/main" val="25368956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5</a:t>
            </a:r>
            <a:endParaRPr lang="en-AU" sz="2400" dirty="0"/>
          </a:p>
        </p:txBody>
      </p:sp>
      <p:sp>
        <p:nvSpPr>
          <p:cNvPr id="11" name="TextBox 10"/>
          <p:cNvSpPr txBox="1"/>
          <p:nvPr/>
        </p:nvSpPr>
        <p:spPr>
          <a:xfrm>
            <a:off x="235612" y="678788"/>
            <a:ext cx="11657198" cy="3139321"/>
          </a:xfrm>
          <a:prstGeom prst="rect">
            <a:avLst/>
          </a:prstGeom>
          <a:noFill/>
        </p:spPr>
        <p:txBody>
          <a:bodyPr wrap="square" rtlCol="0">
            <a:spAutoFit/>
          </a:bodyPr>
          <a:lstStyle/>
          <a:p>
            <a:r>
              <a:rPr lang="en-AU" sz="2200" dirty="0" smtClean="0"/>
              <a:t>If you travel overseas you will need to exchange Australian currency for the currency used in the country you are visiting.</a:t>
            </a:r>
          </a:p>
          <a:p>
            <a:endParaRPr lang="en-AU" sz="2200" dirty="0"/>
          </a:p>
          <a:p>
            <a:r>
              <a:rPr lang="en-AU" sz="2200" dirty="0" smtClean="0"/>
              <a:t>You might choose to use Australian money to buy bank notes (cash) in the foreign currency, or you might purchase traveller’s cheques that can be exchanged for currency in the other country (more common in the past) or load up a prepaid travel card with foreign currency (more common now).</a:t>
            </a:r>
          </a:p>
          <a:p>
            <a:endParaRPr lang="en-AU" sz="2200" dirty="0"/>
          </a:p>
          <a:p>
            <a:r>
              <a:rPr lang="en-AU" sz="2200" dirty="0" smtClean="0"/>
              <a:t>To determine how much foreign currency we can get for our Australian dollars, we need to know the </a:t>
            </a:r>
            <a:r>
              <a:rPr lang="en-AU" sz="2200" b="1" dirty="0" smtClean="0"/>
              <a:t>exchange rate </a:t>
            </a:r>
            <a:r>
              <a:rPr lang="en-AU" sz="2200" dirty="0" smtClean="0"/>
              <a:t>for the two currencies. These rates can vary day to day.</a:t>
            </a:r>
            <a:endParaRPr lang="en-AU" sz="2200" dirty="0"/>
          </a:p>
        </p:txBody>
      </p:sp>
      <p:pic>
        <p:nvPicPr>
          <p:cNvPr id="17" name="Picture 16"/>
          <p:cNvPicPr>
            <a:picLocks noChangeAspect="1"/>
          </p:cNvPicPr>
          <p:nvPr/>
        </p:nvPicPr>
        <p:blipFill>
          <a:blip r:embed="rId2"/>
          <a:stretch>
            <a:fillRect/>
          </a:stretch>
        </p:blipFill>
        <p:spPr>
          <a:xfrm>
            <a:off x="235612" y="3818109"/>
            <a:ext cx="9044221" cy="955059"/>
          </a:xfrm>
          <a:prstGeom prst="rect">
            <a:avLst/>
          </a:prstGeom>
        </p:spPr>
      </p:pic>
      <p:sp>
        <p:nvSpPr>
          <p:cNvPr id="19" name="Content Placeholder 2"/>
          <p:cNvSpPr txBox="1">
            <a:spLocks/>
          </p:cNvSpPr>
          <p:nvPr/>
        </p:nvSpPr>
        <p:spPr>
          <a:xfrm>
            <a:off x="314999" y="5174685"/>
            <a:ext cx="7886552" cy="760500"/>
          </a:xfrm>
          <a:prstGeom prst="rect">
            <a:avLst/>
          </a:prstGeom>
          <a:ln w="38100">
            <a:solidFill>
              <a:schemeClr val="accent1"/>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smtClean="0"/>
              <a:t>To convert Australian Dollar into another currency MULTIPLY by the rate.</a:t>
            </a:r>
          </a:p>
          <a:p>
            <a:r>
              <a:rPr lang="en-US" sz="2000" dirty="0" smtClean="0"/>
              <a:t>To convert another currency into Australian Dollar DIVIDE by the rate.</a:t>
            </a:r>
            <a:endParaRPr lang="en-US" sz="2000" dirty="0"/>
          </a:p>
        </p:txBody>
      </p:sp>
    </p:spTree>
    <p:extLst>
      <p:ext uri="{BB962C8B-B14F-4D97-AF65-F5344CB8AC3E}">
        <p14:creationId xmlns:p14="http://schemas.microsoft.com/office/powerpoint/2010/main" val="1290591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4011018" cy="461665"/>
          </a:xfrm>
          <a:prstGeom prst="rect">
            <a:avLst/>
          </a:prstGeom>
          <a:solidFill>
            <a:srgbClr val="92D050"/>
          </a:solidFill>
        </p:spPr>
        <p:txBody>
          <a:bodyPr wrap="square" rtlCol="0">
            <a:spAutoFit/>
          </a:bodyPr>
          <a:lstStyle/>
          <a:p>
            <a:r>
              <a:rPr lang="en-AU" sz="2400" dirty="0" smtClean="0"/>
              <a:t>Y11 Apps Chapter 5 Example 1</a:t>
            </a:r>
            <a:endParaRPr lang="en-AU" sz="2400" dirty="0"/>
          </a:p>
        </p:txBody>
      </p:sp>
      <p:sp>
        <p:nvSpPr>
          <p:cNvPr id="19" name="Content Placeholder 2"/>
          <p:cNvSpPr txBox="1">
            <a:spLocks/>
          </p:cNvSpPr>
          <p:nvPr/>
        </p:nvSpPr>
        <p:spPr>
          <a:xfrm>
            <a:off x="146704" y="664393"/>
            <a:ext cx="7886552" cy="760500"/>
          </a:xfrm>
          <a:prstGeom prst="rect">
            <a:avLst/>
          </a:prstGeom>
          <a:ln w="38100">
            <a:solidFill>
              <a:schemeClr val="accent1"/>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smtClean="0"/>
              <a:t>To convert Australian Dollar into another currency MULTIPLY by the rate.</a:t>
            </a:r>
          </a:p>
          <a:p>
            <a:r>
              <a:rPr lang="en-US" sz="2000" dirty="0" smtClean="0"/>
              <a:t>To convert another currency into Australian Dollar DIVIDE by the rate.</a:t>
            </a:r>
            <a:endParaRPr lang="en-US" sz="2000" dirty="0"/>
          </a:p>
        </p:txBody>
      </p:sp>
      <p:sp>
        <p:nvSpPr>
          <p:cNvPr id="2" name="TextBox 1"/>
          <p:cNvSpPr txBox="1"/>
          <p:nvPr/>
        </p:nvSpPr>
        <p:spPr>
          <a:xfrm>
            <a:off x="146704" y="1610017"/>
            <a:ext cx="11510494" cy="1107996"/>
          </a:xfrm>
          <a:prstGeom prst="rect">
            <a:avLst/>
          </a:prstGeom>
          <a:noFill/>
        </p:spPr>
        <p:txBody>
          <a:bodyPr wrap="square" rtlCol="0">
            <a:spAutoFit/>
          </a:bodyPr>
          <a:lstStyle/>
          <a:p>
            <a:r>
              <a:rPr lang="en-AU" sz="2200" dirty="0" smtClean="0"/>
              <a:t>With one Australian dollar being equal to 54.9071 Indian Rupees:</a:t>
            </a:r>
          </a:p>
          <a:p>
            <a:pPr marL="342900" indent="-342900">
              <a:buAutoNum type="alphaLcParenR"/>
            </a:pPr>
            <a:r>
              <a:rPr lang="en-AU" sz="2200" dirty="0" smtClean="0"/>
              <a:t>How many Rupees could be bought for A$250?</a:t>
            </a:r>
          </a:p>
          <a:p>
            <a:pPr marL="342900" indent="-342900">
              <a:buAutoNum type="alphaLcParenR"/>
            </a:pPr>
            <a:r>
              <a:rPr lang="en-AU" sz="2200" dirty="0" smtClean="0"/>
              <a:t>How many A$ could be bought for 2500 Rupees?</a:t>
            </a:r>
            <a:endParaRPr lang="en-AU" sz="2200" dirty="0"/>
          </a:p>
        </p:txBody>
      </p:sp>
      <p:sp>
        <p:nvSpPr>
          <p:cNvPr id="3" name="TextBox 2"/>
          <p:cNvSpPr txBox="1"/>
          <p:nvPr/>
        </p:nvSpPr>
        <p:spPr>
          <a:xfrm>
            <a:off x="252442" y="2961983"/>
            <a:ext cx="10955970" cy="430887"/>
          </a:xfrm>
          <a:prstGeom prst="rect">
            <a:avLst/>
          </a:prstGeom>
          <a:noFill/>
        </p:spPr>
        <p:txBody>
          <a:bodyPr wrap="square" rtlCol="0">
            <a:spAutoFit/>
          </a:bodyPr>
          <a:lstStyle/>
          <a:p>
            <a:r>
              <a:rPr lang="en-AU" sz="2200" dirty="0" smtClean="0"/>
              <a:t>a) 250 x 54.9071 = 13 726.78 Rupees ( 13 726 rounded down as you cannot purchase 13 727 )</a:t>
            </a:r>
            <a:endParaRPr lang="en-AU" sz="2200" dirty="0"/>
          </a:p>
        </p:txBody>
      </p:sp>
      <p:sp>
        <p:nvSpPr>
          <p:cNvPr id="8" name="TextBox 7"/>
          <p:cNvSpPr txBox="1"/>
          <p:nvPr/>
        </p:nvSpPr>
        <p:spPr>
          <a:xfrm>
            <a:off x="252442" y="3726597"/>
            <a:ext cx="10955970" cy="430887"/>
          </a:xfrm>
          <a:prstGeom prst="rect">
            <a:avLst/>
          </a:prstGeom>
          <a:noFill/>
        </p:spPr>
        <p:txBody>
          <a:bodyPr wrap="square" rtlCol="0">
            <a:spAutoFit/>
          </a:bodyPr>
          <a:lstStyle/>
          <a:p>
            <a:r>
              <a:rPr lang="en-AU" sz="2200" dirty="0"/>
              <a:t>b</a:t>
            </a:r>
            <a:r>
              <a:rPr lang="en-AU" sz="2200" dirty="0" smtClean="0"/>
              <a:t>) 2500 </a:t>
            </a:r>
            <a:r>
              <a:rPr lang="en-AU" sz="2200" dirty="0"/>
              <a:t>÷</a:t>
            </a:r>
            <a:r>
              <a:rPr lang="en-AU" sz="2200" dirty="0" smtClean="0"/>
              <a:t> 54.9071 = 45.53  ( A$45.53 to the nearest cent)</a:t>
            </a:r>
            <a:endParaRPr lang="en-AU" sz="2200" dirty="0"/>
          </a:p>
        </p:txBody>
      </p:sp>
      <p:sp>
        <p:nvSpPr>
          <p:cNvPr id="7" name="TextBox 6"/>
          <p:cNvSpPr txBox="1"/>
          <p:nvPr/>
        </p:nvSpPr>
        <p:spPr>
          <a:xfrm>
            <a:off x="4400898" y="0"/>
            <a:ext cx="2779666" cy="461665"/>
          </a:xfrm>
          <a:prstGeom prst="rect">
            <a:avLst/>
          </a:prstGeom>
          <a:solidFill>
            <a:srgbClr val="FFFF00"/>
          </a:solidFill>
        </p:spPr>
        <p:txBody>
          <a:bodyPr wrap="square" rtlCol="0">
            <a:spAutoFit/>
          </a:bodyPr>
          <a:lstStyle/>
          <a:p>
            <a:pPr algn="ctr"/>
            <a:r>
              <a:rPr lang="en-AU" sz="2400" dirty="0" smtClean="0"/>
              <a:t>Now do Exercise 5C</a:t>
            </a:r>
            <a:endParaRPr lang="en-AU" sz="2400" dirty="0"/>
          </a:p>
        </p:txBody>
      </p:sp>
    </p:spTree>
    <p:extLst>
      <p:ext uri="{BB962C8B-B14F-4D97-AF65-F5344CB8AC3E}">
        <p14:creationId xmlns:p14="http://schemas.microsoft.com/office/powerpoint/2010/main" val="938089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Exercise 5D – Shares</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443947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6</a:t>
            </a:r>
            <a:endParaRPr lang="en-AU" sz="2400" dirty="0"/>
          </a:p>
        </p:txBody>
      </p:sp>
      <p:sp>
        <p:nvSpPr>
          <p:cNvPr id="2" name="TextBox 1"/>
          <p:cNvSpPr txBox="1"/>
          <p:nvPr/>
        </p:nvSpPr>
        <p:spPr>
          <a:xfrm>
            <a:off x="274881" y="667568"/>
            <a:ext cx="11494513" cy="5509200"/>
          </a:xfrm>
          <a:prstGeom prst="rect">
            <a:avLst/>
          </a:prstGeom>
          <a:noFill/>
        </p:spPr>
        <p:txBody>
          <a:bodyPr wrap="square" rtlCol="0">
            <a:spAutoFit/>
          </a:bodyPr>
          <a:lstStyle/>
          <a:p>
            <a:r>
              <a:rPr lang="en-AU" sz="2200" dirty="0" smtClean="0"/>
              <a:t>Some people choose to invest money by buying shares. </a:t>
            </a:r>
          </a:p>
          <a:p>
            <a:r>
              <a:rPr lang="en-AU" sz="2200" dirty="0" smtClean="0"/>
              <a:t>A share is a unit of ownership in a company. If you buy shares in a company, you own part or a ‘share’ of that company.</a:t>
            </a:r>
          </a:p>
          <a:p>
            <a:endParaRPr lang="en-AU" sz="2200" dirty="0"/>
          </a:p>
          <a:p>
            <a:r>
              <a:rPr lang="en-AU" sz="2200" dirty="0" smtClean="0"/>
              <a:t>How to make money from shares:</a:t>
            </a:r>
          </a:p>
          <a:p>
            <a:pPr marL="285750" indent="-285750">
              <a:buFont typeface="Arial" panose="020B0604020202020204" pitchFamily="34" charset="0"/>
              <a:buChar char="•"/>
            </a:pPr>
            <a:r>
              <a:rPr lang="en-AU" sz="2200" dirty="0" smtClean="0"/>
              <a:t>Buy the share at a low price and sell it at a high price (generally short term)</a:t>
            </a:r>
          </a:p>
          <a:p>
            <a:pPr marL="285750" indent="-285750">
              <a:buFont typeface="Arial" panose="020B0604020202020204" pitchFamily="34" charset="0"/>
              <a:buChar char="•"/>
            </a:pPr>
            <a:r>
              <a:rPr lang="en-AU" sz="2200" dirty="0" smtClean="0"/>
              <a:t>Dividends paid out by the company </a:t>
            </a:r>
          </a:p>
          <a:p>
            <a:pPr marL="285750" indent="-285750">
              <a:buFont typeface="Arial" panose="020B0604020202020204" pitchFamily="34" charset="0"/>
              <a:buChar char="•"/>
            </a:pPr>
            <a:r>
              <a:rPr lang="en-AU" sz="2200" dirty="0" smtClean="0"/>
              <a:t>Buy the share, keep it for a long time and wait for the value of the share to increase</a:t>
            </a:r>
          </a:p>
          <a:p>
            <a:pPr marL="285750" indent="-285750">
              <a:buFont typeface="Arial" panose="020B0604020202020204" pitchFamily="34" charset="0"/>
              <a:buChar char="•"/>
            </a:pPr>
            <a:endParaRPr lang="en-AU" sz="2200" dirty="0"/>
          </a:p>
          <a:p>
            <a:r>
              <a:rPr lang="en-AU" sz="2200" dirty="0" smtClean="0"/>
              <a:t>If the company is doing well, the value of their shares may increase.</a:t>
            </a:r>
          </a:p>
          <a:p>
            <a:r>
              <a:rPr lang="en-AU" sz="2200" dirty="0" smtClean="0"/>
              <a:t>If the company is making a profit, they may pay out some of this profit to any shareholders.</a:t>
            </a:r>
          </a:p>
          <a:p>
            <a:endParaRPr lang="en-AU" sz="2200" dirty="0"/>
          </a:p>
          <a:p>
            <a:endParaRPr lang="en-AU" sz="2200" dirty="0" smtClean="0"/>
          </a:p>
          <a:p>
            <a:r>
              <a:rPr lang="en-AU" sz="2200" dirty="0" smtClean="0"/>
              <a:t>The investor may see the value of their investment rise, as the share price increases.</a:t>
            </a:r>
          </a:p>
          <a:p>
            <a:r>
              <a:rPr lang="en-AU" sz="2200" dirty="0" smtClean="0"/>
              <a:t>The investor may also receive an annual payment, called a </a:t>
            </a:r>
            <a:r>
              <a:rPr lang="en-AU" sz="2200" b="1" dirty="0" smtClean="0"/>
              <a:t>dividend, </a:t>
            </a:r>
            <a:r>
              <a:rPr lang="en-AU" sz="2200" dirty="0" smtClean="0"/>
              <a:t>which is a share of the company’s profits.</a:t>
            </a:r>
            <a:endParaRPr lang="en-AU" sz="2200" b="1" dirty="0"/>
          </a:p>
        </p:txBody>
      </p:sp>
    </p:spTree>
    <p:extLst>
      <p:ext uri="{BB962C8B-B14F-4D97-AF65-F5344CB8AC3E}">
        <p14:creationId xmlns:p14="http://schemas.microsoft.com/office/powerpoint/2010/main" val="360956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4011018" cy="461665"/>
          </a:xfrm>
          <a:prstGeom prst="rect">
            <a:avLst/>
          </a:prstGeom>
          <a:solidFill>
            <a:srgbClr val="92D050"/>
          </a:solidFill>
        </p:spPr>
        <p:txBody>
          <a:bodyPr wrap="square" rtlCol="0">
            <a:spAutoFit/>
          </a:bodyPr>
          <a:lstStyle/>
          <a:p>
            <a:r>
              <a:rPr lang="en-AU" sz="2400" dirty="0" smtClean="0"/>
              <a:t>Y11 Apps Chapter 5 Example 2</a:t>
            </a:r>
            <a:endParaRPr lang="en-AU" sz="2400" dirty="0"/>
          </a:p>
        </p:txBody>
      </p:sp>
      <p:sp>
        <p:nvSpPr>
          <p:cNvPr id="4" name="TextBox 3"/>
          <p:cNvSpPr txBox="1"/>
          <p:nvPr/>
        </p:nvSpPr>
        <p:spPr>
          <a:xfrm>
            <a:off x="114300" y="658906"/>
            <a:ext cx="11793071" cy="1107996"/>
          </a:xfrm>
          <a:prstGeom prst="rect">
            <a:avLst/>
          </a:prstGeom>
          <a:noFill/>
        </p:spPr>
        <p:txBody>
          <a:bodyPr wrap="square" rtlCol="0">
            <a:spAutoFit/>
          </a:bodyPr>
          <a:lstStyle/>
          <a:p>
            <a:r>
              <a:rPr lang="en-AU" sz="2200" dirty="0" smtClean="0"/>
              <a:t>An investor owns shares in four companies as shown the by portfolio details below, which also shows the dividend per share for each company. Calculate the total value of the portfolio and the total dividend the investor will receive.</a:t>
            </a:r>
            <a:endParaRPr lang="en-AU" sz="2200" dirty="0"/>
          </a:p>
        </p:txBody>
      </p:sp>
      <p:graphicFrame>
        <p:nvGraphicFramePr>
          <p:cNvPr id="5" name="Table 4"/>
          <p:cNvGraphicFramePr>
            <a:graphicFrameLocks noGrp="1"/>
          </p:cNvGraphicFramePr>
          <p:nvPr>
            <p:extLst>
              <p:ext uri="{D42A27DB-BD31-4B8C-83A1-F6EECF244321}">
                <p14:modId xmlns:p14="http://schemas.microsoft.com/office/powerpoint/2010/main" val="1603411576"/>
              </p:ext>
            </p:extLst>
          </p:nvPr>
        </p:nvGraphicFramePr>
        <p:xfrm>
          <a:off x="216647" y="1882836"/>
          <a:ext cx="9081994" cy="1854200"/>
        </p:xfrm>
        <a:graphic>
          <a:graphicData uri="http://schemas.openxmlformats.org/drawingml/2006/table">
            <a:tbl>
              <a:tblPr firstRow="1" bandRow="1">
                <a:tableStyleId>{5C22544A-7EE6-4342-B048-85BDC9FD1C3A}</a:tableStyleId>
              </a:tblPr>
              <a:tblGrid>
                <a:gridCol w="2107581">
                  <a:extLst>
                    <a:ext uri="{9D8B030D-6E8A-4147-A177-3AD203B41FA5}">
                      <a16:colId xmlns:a16="http://schemas.microsoft.com/office/drawing/2014/main" val="4281012795"/>
                    </a:ext>
                  </a:extLst>
                </a:gridCol>
                <a:gridCol w="2107581">
                  <a:extLst>
                    <a:ext uri="{9D8B030D-6E8A-4147-A177-3AD203B41FA5}">
                      <a16:colId xmlns:a16="http://schemas.microsoft.com/office/drawing/2014/main" val="487182576"/>
                    </a:ext>
                  </a:extLst>
                </a:gridCol>
                <a:gridCol w="2353251">
                  <a:extLst>
                    <a:ext uri="{9D8B030D-6E8A-4147-A177-3AD203B41FA5}">
                      <a16:colId xmlns:a16="http://schemas.microsoft.com/office/drawing/2014/main" val="88858147"/>
                    </a:ext>
                  </a:extLst>
                </a:gridCol>
                <a:gridCol w="2513581">
                  <a:extLst>
                    <a:ext uri="{9D8B030D-6E8A-4147-A177-3AD203B41FA5}">
                      <a16:colId xmlns:a16="http://schemas.microsoft.com/office/drawing/2014/main" val="137430549"/>
                    </a:ext>
                  </a:extLst>
                </a:gridCol>
              </a:tblGrid>
              <a:tr h="370840">
                <a:tc>
                  <a:txBody>
                    <a:bodyPr/>
                    <a:lstStyle/>
                    <a:p>
                      <a:r>
                        <a:rPr lang="en-AU" dirty="0" smtClean="0"/>
                        <a:t>Company</a:t>
                      </a:r>
                      <a:endParaRPr lang="en-AU" dirty="0"/>
                    </a:p>
                  </a:txBody>
                  <a:tcPr/>
                </a:tc>
                <a:tc>
                  <a:txBody>
                    <a:bodyPr/>
                    <a:lstStyle/>
                    <a:p>
                      <a:r>
                        <a:rPr lang="en-AU" dirty="0" smtClean="0"/>
                        <a:t>Number of shares</a:t>
                      </a:r>
                      <a:endParaRPr lang="en-AU" dirty="0"/>
                    </a:p>
                  </a:txBody>
                  <a:tcPr/>
                </a:tc>
                <a:tc>
                  <a:txBody>
                    <a:bodyPr/>
                    <a:lstStyle/>
                    <a:p>
                      <a:r>
                        <a:rPr lang="en-AU" dirty="0" smtClean="0"/>
                        <a:t>Value per share ($)</a:t>
                      </a:r>
                      <a:endParaRPr lang="en-AU" dirty="0"/>
                    </a:p>
                  </a:txBody>
                  <a:tcPr/>
                </a:tc>
                <a:tc>
                  <a:txBody>
                    <a:bodyPr/>
                    <a:lstStyle/>
                    <a:p>
                      <a:r>
                        <a:rPr lang="en-AU" dirty="0" smtClean="0"/>
                        <a:t>Dividend</a:t>
                      </a:r>
                      <a:r>
                        <a:rPr lang="en-AU" baseline="0" dirty="0" smtClean="0"/>
                        <a:t> per share ($)</a:t>
                      </a:r>
                      <a:endParaRPr lang="en-AU" dirty="0"/>
                    </a:p>
                  </a:txBody>
                  <a:tcPr/>
                </a:tc>
                <a:extLst>
                  <a:ext uri="{0D108BD9-81ED-4DB2-BD59-A6C34878D82A}">
                    <a16:rowId xmlns:a16="http://schemas.microsoft.com/office/drawing/2014/main" val="2020494724"/>
                  </a:ext>
                </a:extLst>
              </a:tr>
              <a:tr h="370840">
                <a:tc>
                  <a:txBody>
                    <a:bodyPr/>
                    <a:lstStyle/>
                    <a:p>
                      <a:r>
                        <a:rPr lang="en-AU" dirty="0" smtClean="0"/>
                        <a:t>ABC Limited</a:t>
                      </a:r>
                      <a:endParaRPr lang="en-AU" dirty="0"/>
                    </a:p>
                  </a:txBody>
                  <a:tcPr/>
                </a:tc>
                <a:tc>
                  <a:txBody>
                    <a:bodyPr/>
                    <a:lstStyle/>
                    <a:p>
                      <a:r>
                        <a:rPr lang="en-AU" dirty="0" smtClean="0"/>
                        <a:t>4000</a:t>
                      </a:r>
                      <a:endParaRPr lang="en-AU" dirty="0"/>
                    </a:p>
                  </a:txBody>
                  <a:tcPr/>
                </a:tc>
                <a:tc>
                  <a:txBody>
                    <a:bodyPr/>
                    <a:lstStyle/>
                    <a:p>
                      <a:r>
                        <a:rPr lang="en-AU" dirty="0" smtClean="0"/>
                        <a:t>0.86</a:t>
                      </a:r>
                      <a:endParaRPr lang="en-AU" dirty="0"/>
                    </a:p>
                  </a:txBody>
                  <a:tcPr/>
                </a:tc>
                <a:tc>
                  <a:txBody>
                    <a:bodyPr/>
                    <a:lstStyle/>
                    <a:p>
                      <a:r>
                        <a:rPr lang="en-AU" dirty="0" smtClean="0"/>
                        <a:t>0.05</a:t>
                      </a:r>
                      <a:endParaRPr lang="en-AU" dirty="0"/>
                    </a:p>
                  </a:txBody>
                  <a:tcPr/>
                </a:tc>
                <a:extLst>
                  <a:ext uri="{0D108BD9-81ED-4DB2-BD59-A6C34878D82A}">
                    <a16:rowId xmlns:a16="http://schemas.microsoft.com/office/drawing/2014/main" val="478073245"/>
                  </a:ext>
                </a:extLst>
              </a:tr>
              <a:tr h="370840">
                <a:tc>
                  <a:txBody>
                    <a:bodyPr/>
                    <a:lstStyle/>
                    <a:p>
                      <a:r>
                        <a:rPr lang="en-AU" dirty="0" smtClean="0"/>
                        <a:t>DEF Group</a:t>
                      </a:r>
                      <a:endParaRPr lang="en-AU" dirty="0"/>
                    </a:p>
                  </a:txBody>
                  <a:tcPr/>
                </a:tc>
                <a:tc>
                  <a:txBody>
                    <a:bodyPr/>
                    <a:lstStyle/>
                    <a:p>
                      <a:r>
                        <a:rPr lang="en-AU" dirty="0" smtClean="0"/>
                        <a:t>550</a:t>
                      </a:r>
                      <a:endParaRPr lang="en-AU" dirty="0"/>
                    </a:p>
                  </a:txBody>
                  <a:tcPr/>
                </a:tc>
                <a:tc>
                  <a:txBody>
                    <a:bodyPr/>
                    <a:lstStyle/>
                    <a:p>
                      <a:r>
                        <a:rPr lang="en-AU" dirty="0" smtClean="0"/>
                        <a:t>23.50</a:t>
                      </a:r>
                      <a:endParaRPr lang="en-AU" dirty="0"/>
                    </a:p>
                  </a:txBody>
                  <a:tcPr/>
                </a:tc>
                <a:tc>
                  <a:txBody>
                    <a:bodyPr/>
                    <a:lstStyle/>
                    <a:p>
                      <a:r>
                        <a:rPr lang="en-AU" dirty="0" smtClean="0"/>
                        <a:t>1.45</a:t>
                      </a:r>
                      <a:endParaRPr lang="en-AU" dirty="0"/>
                    </a:p>
                  </a:txBody>
                  <a:tcPr/>
                </a:tc>
                <a:extLst>
                  <a:ext uri="{0D108BD9-81ED-4DB2-BD59-A6C34878D82A}">
                    <a16:rowId xmlns:a16="http://schemas.microsoft.com/office/drawing/2014/main" val="2300229781"/>
                  </a:ext>
                </a:extLst>
              </a:tr>
              <a:tr h="370840">
                <a:tc>
                  <a:txBody>
                    <a:bodyPr/>
                    <a:lstStyle/>
                    <a:p>
                      <a:r>
                        <a:rPr lang="en-AU" dirty="0" smtClean="0"/>
                        <a:t>GH Resources</a:t>
                      </a:r>
                      <a:endParaRPr lang="en-AU" dirty="0"/>
                    </a:p>
                  </a:txBody>
                  <a:tcPr/>
                </a:tc>
                <a:tc>
                  <a:txBody>
                    <a:bodyPr/>
                    <a:lstStyle/>
                    <a:p>
                      <a:r>
                        <a:rPr lang="en-AU" dirty="0" smtClean="0"/>
                        <a:t>2500</a:t>
                      </a:r>
                      <a:endParaRPr lang="en-AU" dirty="0"/>
                    </a:p>
                  </a:txBody>
                  <a:tcPr/>
                </a:tc>
                <a:tc>
                  <a:txBody>
                    <a:bodyPr/>
                    <a:lstStyle/>
                    <a:p>
                      <a:r>
                        <a:rPr lang="en-AU" dirty="0" smtClean="0"/>
                        <a:t>3.40</a:t>
                      </a:r>
                      <a:endParaRPr lang="en-AU" dirty="0"/>
                    </a:p>
                  </a:txBody>
                  <a:tcPr/>
                </a:tc>
                <a:tc>
                  <a:txBody>
                    <a:bodyPr/>
                    <a:lstStyle/>
                    <a:p>
                      <a:r>
                        <a:rPr lang="en-AU" dirty="0" smtClean="0"/>
                        <a:t>0.28</a:t>
                      </a:r>
                      <a:endParaRPr lang="en-AU" dirty="0"/>
                    </a:p>
                  </a:txBody>
                  <a:tcPr/>
                </a:tc>
                <a:extLst>
                  <a:ext uri="{0D108BD9-81ED-4DB2-BD59-A6C34878D82A}">
                    <a16:rowId xmlns:a16="http://schemas.microsoft.com/office/drawing/2014/main" val="516263948"/>
                  </a:ext>
                </a:extLst>
              </a:tr>
              <a:tr h="370840">
                <a:tc>
                  <a:txBody>
                    <a:bodyPr/>
                    <a:lstStyle/>
                    <a:p>
                      <a:r>
                        <a:rPr lang="en-AU" dirty="0" smtClean="0"/>
                        <a:t>IJ Technology</a:t>
                      </a:r>
                      <a:endParaRPr lang="en-AU" dirty="0"/>
                    </a:p>
                  </a:txBody>
                  <a:tcPr/>
                </a:tc>
                <a:tc>
                  <a:txBody>
                    <a:bodyPr/>
                    <a:lstStyle/>
                    <a:p>
                      <a:r>
                        <a:rPr lang="en-AU" dirty="0" smtClean="0"/>
                        <a:t>8000</a:t>
                      </a:r>
                      <a:endParaRPr lang="en-AU" dirty="0"/>
                    </a:p>
                  </a:txBody>
                  <a:tcPr/>
                </a:tc>
                <a:tc>
                  <a:txBody>
                    <a:bodyPr/>
                    <a:lstStyle/>
                    <a:p>
                      <a:r>
                        <a:rPr lang="en-AU" dirty="0" smtClean="0"/>
                        <a:t>0.54</a:t>
                      </a:r>
                      <a:endParaRPr lang="en-AU" dirty="0"/>
                    </a:p>
                  </a:txBody>
                  <a:tcPr/>
                </a:tc>
                <a:tc>
                  <a:txBody>
                    <a:bodyPr/>
                    <a:lstStyle/>
                    <a:p>
                      <a:r>
                        <a:rPr lang="en-AU" dirty="0" smtClean="0"/>
                        <a:t>No dividend</a:t>
                      </a:r>
                      <a:endParaRPr lang="en-AU" dirty="0"/>
                    </a:p>
                  </a:txBody>
                  <a:tcPr/>
                </a:tc>
                <a:extLst>
                  <a:ext uri="{0D108BD9-81ED-4DB2-BD59-A6C34878D82A}">
                    <a16:rowId xmlns:a16="http://schemas.microsoft.com/office/drawing/2014/main" val="3949062381"/>
                  </a:ext>
                </a:extLst>
              </a:tr>
            </a:tbl>
          </a:graphicData>
        </a:graphic>
      </p:graphicFrame>
      <p:sp>
        <p:nvSpPr>
          <p:cNvPr id="6" name="TextBox 5"/>
          <p:cNvSpPr txBox="1"/>
          <p:nvPr/>
        </p:nvSpPr>
        <p:spPr>
          <a:xfrm>
            <a:off x="216647" y="3906371"/>
            <a:ext cx="4832724" cy="2400657"/>
          </a:xfrm>
          <a:prstGeom prst="rect">
            <a:avLst/>
          </a:prstGeom>
          <a:noFill/>
        </p:spPr>
        <p:txBody>
          <a:bodyPr wrap="square" rtlCol="0">
            <a:spAutoFit/>
          </a:bodyPr>
          <a:lstStyle/>
          <a:p>
            <a:r>
              <a:rPr lang="en-AU" sz="2200" dirty="0" smtClean="0"/>
              <a:t>Total value of portfolio:</a:t>
            </a:r>
          </a:p>
          <a:p>
            <a:r>
              <a:rPr lang="en-AU" sz="2200" dirty="0" smtClean="0"/>
              <a:t>ABC: 	4000 x 0.86 = 3440  </a:t>
            </a:r>
          </a:p>
          <a:p>
            <a:r>
              <a:rPr lang="en-AU" sz="2200" dirty="0" smtClean="0"/>
              <a:t>DEF: 	 550 x 23.50 = 12925</a:t>
            </a:r>
          </a:p>
          <a:p>
            <a:r>
              <a:rPr lang="en-AU" sz="2200" dirty="0" smtClean="0"/>
              <a:t>GH: 	2500 x 3.40 = 1350</a:t>
            </a:r>
          </a:p>
          <a:p>
            <a:r>
              <a:rPr lang="en-AU" sz="2200" dirty="0" smtClean="0"/>
              <a:t>IJ: 	8000 x 0.54 = 4320</a:t>
            </a:r>
          </a:p>
          <a:p>
            <a:r>
              <a:rPr lang="en-AU" sz="2200" dirty="0" smtClean="0"/>
              <a:t>Total:		    = $22 035</a:t>
            </a:r>
          </a:p>
          <a:p>
            <a:endParaRPr lang="en-AU" dirty="0"/>
          </a:p>
        </p:txBody>
      </p:sp>
      <p:sp>
        <p:nvSpPr>
          <p:cNvPr id="11" name="TextBox 10"/>
          <p:cNvSpPr txBox="1"/>
          <p:nvPr/>
        </p:nvSpPr>
        <p:spPr>
          <a:xfrm>
            <a:off x="4598147" y="3906371"/>
            <a:ext cx="4832724" cy="2400657"/>
          </a:xfrm>
          <a:prstGeom prst="rect">
            <a:avLst/>
          </a:prstGeom>
          <a:noFill/>
        </p:spPr>
        <p:txBody>
          <a:bodyPr wrap="square" rtlCol="0">
            <a:spAutoFit/>
          </a:bodyPr>
          <a:lstStyle/>
          <a:p>
            <a:r>
              <a:rPr lang="en-AU" sz="2200" dirty="0" smtClean="0"/>
              <a:t>Total dividend:</a:t>
            </a:r>
          </a:p>
          <a:p>
            <a:r>
              <a:rPr lang="en-AU" sz="2200" dirty="0" smtClean="0"/>
              <a:t>ABC: 	4000 x 0.05 = 200  </a:t>
            </a:r>
          </a:p>
          <a:p>
            <a:r>
              <a:rPr lang="en-AU" sz="2200" dirty="0" smtClean="0"/>
              <a:t>DEF: 	  550 x 1.45 = 797.50</a:t>
            </a:r>
          </a:p>
          <a:p>
            <a:r>
              <a:rPr lang="en-AU" sz="2200" dirty="0" smtClean="0"/>
              <a:t>GH: 	2500 x 0.28 = 700</a:t>
            </a:r>
          </a:p>
          <a:p>
            <a:r>
              <a:rPr lang="en-AU" sz="2200" dirty="0" smtClean="0"/>
              <a:t>IJ: 	     8000 x 0 = 0</a:t>
            </a:r>
          </a:p>
          <a:p>
            <a:r>
              <a:rPr lang="en-AU" sz="2200" dirty="0" smtClean="0"/>
              <a:t>Total:		     = $1697.50</a:t>
            </a:r>
          </a:p>
          <a:p>
            <a:endParaRPr lang="en-AU" dirty="0"/>
          </a:p>
        </p:txBody>
      </p:sp>
    </p:spTree>
    <p:extLst>
      <p:ext uri="{BB962C8B-B14F-4D97-AF65-F5344CB8AC3E}">
        <p14:creationId xmlns:p14="http://schemas.microsoft.com/office/powerpoint/2010/main" val="1641351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a:t>
            </a:r>
            <a:r>
              <a:rPr lang="en-AU" sz="2400" dirty="0"/>
              <a:t>7</a:t>
            </a:r>
          </a:p>
        </p:txBody>
      </p:sp>
      <mc:AlternateContent xmlns:mc="http://schemas.openxmlformats.org/markup-compatibility/2006" xmlns:a14="http://schemas.microsoft.com/office/drawing/2010/main">
        <mc:Choice Requires="a14">
          <p:sp>
            <p:nvSpPr>
              <p:cNvPr id="3" name="TextBox 2"/>
              <p:cNvSpPr txBox="1"/>
              <p:nvPr/>
            </p:nvSpPr>
            <p:spPr>
              <a:xfrm>
                <a:off x="208429" y="645459"/>
                <a:ext cx="11591365" cy="5928995"/>
              </a:xfrm>
              <a:prstGeom prst="rect">
                <a:avLst/>
              </a:prstGeom>
              <a:noFill/>
            </p:spPr>
            <p:txBody>
              <a:bodyPr wrap="square" rtlCol="0">
                <a:spAutoFit/>
              </a:bodyPr>
              <a:lstStyle/>
              <a:p>
                <a:r>
                  <a:rPr lang="en-AU" sz="2200" dirty="0" smtClean="0"/>
                  <a:t>If a share with a value of $20 paid a dividend of $4 in the last 12 months, we say its </a:t>
                </a:r>
              </a:p>
              <a:p>
                <a:r>
                  <a:rPr lang="en-AU" sz="2200" b="1" dirty="0" smtClean="0"/>
                  <a:t>price-to-earnings ratio </a:t>
                </a:r>
                <a:r>
                  <a:rPr lang="en-AU" sz="2200" dirty="0" smtClean="0"/>
                  <a:t>(P/E) is 20/4 or 5.</a:t>
                </a:r>
              </a:p>
              <a:p>
                <a:endParaRPr lang="en-AU" sz="2200" dirty="0"/>
              </a:p>
              <a:p>
                <a:r>
                  <a:rPr lang="en-AU" sz="2200" dirty="0"/>
                  <a:t>If a share with a value of </a:t>
                </a:r>
                <a:r>
                  <a:rPr lang="en-AU" sz="2200" dirty="0" smtClean="0"/>
                  <a:t>$32 </a:t>
                </a:r>
                <a:r>
                  <a:rPr lang="en-AU" sz="2200" dirty="0"/>
                  <a:t>paid a dividend of </a:t>
                </a:r>
                <a:r>
                  <a:rPr lang="en-AU" sz="2200" dirty="0" smtClean="0"/>
                  <a:t>$2 </a:t>
                </a:r>
                <a:r>
                  <a:rPr lang="en-AU" sz="2200" dirty="0"/>
                  <a:t>in the last 12 months, we say its </a:t>
                </a:r>
              </a:p>
              <a:p>
                <a:r>
                  <a:rPr lang="en-AU" sz="2200" b="1" dirty="0"/>
                  <a:t>price-to-earnings ratio </a:t>
                </a:r>
                <a:r>
                  <a:rPr lang="en-AU" sz="2200" dirty="0"/>
                  <a:t>(P/E) is </a:t>
                </a:r>
                <a:r>
                  <a:rPr lang="en-AU" sz="2200" dirty="0" smtClean="0"/>
                  <a:t>32/2 </a:t>
                </a:r>
                <a:r>
                  <a:rPr lang="en-AU" sz="2200" dirty="0"/>
                  <a:t>or </a:t>
                </a:r>
                <a:r>
                  <a:rPr lang="en-AU" sz="2200" dirty="0" smtClean="0"/>
                  <a:t>16.</a:t>
                </a:r>
              </a:p>
              <a:p>
                <a:endParaRPr lang="en-AU" sz="2200" dirty="0"/>
              </a:p>
              <a:p>
                <a:r>
                  <a:rPr lang="en-AU" sz="2200" b="1" dirty="0" smtClean="0"/>
                  <a:t>Price-to-earnings ratio </a:t>
                </a:r>
                <a14:m>
                  <m:oMath xmlns:m="http://schemas.openxmlformats.org/officeDocument/2006/math">
                    <m:r>
                      <a:rPr lang="en-AU" sz="2600" b="1" i="0" smtClean="0">
                        <a:latin typeface="Cambria Math" panose="02040503050406030204" pitchFamily="18" charset="0"/>
                      </a:rPr>
                      <m:t>=</m:t>
                    </m:r>
                    <m:f>
                      <m:fPr>
                        <m:ctrlPr>
                          <a:rPr lang="en-AU" sz="2600" b="1" i="1" smtClean="0">
                            <a:latin typeface="Cambria Math" panose="02040503050406030204" pitchFamily="18" charset="0"/>
                          </a:rPr>
                        </m:ctrlPr>
                      </m:fPr>
                      <m:num>
                        <m:r>
                          <a:rPr lang="en-AU" sz="2600" b="1" i="1" smtClean="0">
                            <a:latin typeface="Cambria Math" panose="02040503050406030204" pitchFamily="18" charset="0"/>
                          </a:rPr>
                          <m:t>𝑺𝒉𝒂𝒓𝒆</m:t>
                        </m:r>
                        <m:r>
                          <a:rPr lang="en-AU" sz="2600" b="1" i="1" smtClean="0">
                            <a:latin typeface="Cambria Math" panose="02040503050406030204" pitchFamily="18" charset="0"/>
                          </a:rPr>
                          <m:t> </m:t>
                        </m:r>
                        <m:r>
                          <a:rPr lang="en-AU" sz="2600" b="1" i="1" smtClean="0">
                            <a:latin typeface="Cambria Math" panose="02040503050406030204" pitchFamily="18" charset="0"/>
                          </a:rPr>
                          <m:t>𝒑𝒓𝒊𝒄𝒆</m:t>
                        </m:r>
                      </m:num>
                      <m:den>
                        <m:r>
                          <a:rPr lang="en-AU" sz="2600" b="1" i="1" smtClean="0">
                            <a:latin typeface="Cambria Math" panose="02040503050406030204" pitchFamily="18" charset="0"/>
                          </a:rPr>
                          <m:t>𝑬𝒂𝒓𝒏𝒊𝒏𝒈𝒔</m:t>
                        </m:r>
                        <m:r>
                          <a:rPr lang="en-AU" sz="2600" b="1" i="1" smtClean="0">
                            <a:latin typeface="Cambria Math" panose="02040503050406030204" pitchFamily="18" charset="0"/>
                          </a:rPr>
                          <m:t> </m:t>
                        </m:r>
                        <m:r>
                          <a:rPr lang="en-AU" sz="2600" b="1" i="1" smtClean="0">
                            <a:latin typeface="Cambria Math" panose="02040503050406030204" pitchFamily="18" charset="0"/>
                          </a:rPr>
                          <m:t>𝒊𝒏</m:t>
                        </m:r>
                        <m:r>
                          <a:rPr lang="en-AU" sz="2600" b="1" i="1" smtClean="0">
                            <a:latin typeface="Cambria Math" panose="02040503050406030204" pitchFamily="18" charset="0"/>
                          </a:rPr>
                          <m:t> </m:t>
                        </m:r>
                        <m:r>
                          <a:rPr lang="en-AU" sz="2600" b="1" i="1" smtClean="0">
                            <a:latin typeface="Cambria Math" panose="02040503050406030204" pitchFamily="18" charset="0"/>
                          </a:rPr>
                          <m:t>𝒑𝒂𝒔𝒕</m:t>
                        </m:r>
                        <m:r>
                          <a:rPr lang="en-AU" sz="2600" b="1" i="1" smtClean="0">
                            <a:latin typeface="Cambria Math" panose="02040503050406030204" pitchFamily="18" charset="0"/>
                          </a:rPr>
                          <m:t> </m:t>
                        </m:r>
                        <m:r>
                          <a:rPr lang="en-AU" sz="2600" b="1" i="1" smtClean="0">
                            <a:latin typeface="Cambria Math" panose="02040503050406030204" pitchFamily="18" charset="0"/>
                          </a:rPr>
                          <m:t>𝒚𝒆𝒂𝒓</m:t>
                        </m:r>
                      </m:den>
                    </m:f>
                  </m:oMath>
                </a14:m>
                <a:endParaRPr lang="en-AU" sz="2600" b="1" dirty="0" smtClean="0"/>
              </a:p>
              <a:p>
                <a:endParaRPr lang="en-AU" sz="2600" b="1" dirty="0"/>
              </a:p>
              <a:p>
                <a:r>
                  <a:rPr lang="en-AU" sz="2200" dirty="0" smtClean="0"/>
                  <a:t>The P/E ratio tells us how many dollars of shares we need to get one dollar of earnings in the year. </a:t>
                </a:r>
              </a:p>
              <a:p>
                <a:r>
                  <a:rPr lang="en-AU" sz="2200" dirty="0" smtClean="0"/>
                  <a:t>In the first case above, for every $5 worth of shares an investor has, they earn $1 of dividend.</a:t>
                </a:r>
              </a:p>
              <a:p>
                <a:r>
                  <a:rPr lang="en-AU" sz="2200" dirty="0" smtClean="0"/>
                  <a:t>In the 2</a:t>
                </a:r>
                <a:r>
                  <a:rPr lang="en-AU" sz="2200" baseline="30000" dirty="0" smtClean="0"/>
                  <a:t>nd</a:t>
                </a:r>
                <a:r>
                  <a:rPr lang="en-AU" sz="2200" dirty="0" smtClean="0"/>
                  <a:t> case, for every $16 worth of shares an investor has, they earn $1 of dividend.</a:t>
                </a:r>
              </a:p>
              <a:p>
                <a:endParaRPr lang="en-AU" sz="2200" dirty="0"/>
              </a:p>
              <a:p>
                <a:r>
                  <a:rPr lang="en-AU" sz="2200" dirty="0" smtClean="0"/>
                  <a:t>It sounds like the first share is the better option; however, P/E is only one thing to consider when investing in shares. You need to consider future prospects, share price history, past earnings and other aspects all need to be considered</a:t>
                </a:r>
                <a:endParaRPr lang="en-AU" sz="2200" dirty="0"/>
              </a:p>
              <a:p>
                <a:endParaRPr lang="en-AU" sz="2600" dirty="0"/>
              </a:p>
            </p:txBody>
          </p:sp>
        </mc:Choice>
        <mc:Fallback xmlns="">
          <p:sp>
            <p:nvSpPr>
              <p:cNvPr id="3" name="TextBox 2"/>
              <p:cNvSpPr txBox="1">
                <a:spLocks noRot="1" noChangeAspect="1" noMove="1" noResize="1" noEditPoints="1" noAdjustHandles="1" noChangeArrowheads="1" noChangeShapeType="1" noTextEdit="1"/>
              </p:cNvSpPr>
              <p:nvPr/>
            </p:nvSpPr>
            <p:spPr>
              <a:xfrm>
                <a:off x="208429" y="645459"/>
                <a:ext cx="11591365" cy="5928995"/>
              </a:xfrm>
              <a:prstGeom prst="rect">
                <a:avLst/>
              </a:prstGeom>
              <a:blipFill>
                <a:blip r:embed="rId2"/>
                <a:stretch>
                  <a:fillRect l="-683" t="-720"/>
                </a:stretch>
              </a:blipFill>
            </p:spPr>
            <p:txBody>
              <a:bodyPr/>
              <a:lstStyle/>
              <a:p>
                <a:r>
                  <a:rPr lang="en-AU">
                    <a:noFill/>
                  </a:rPr>
                  <a:t> </a:t>
                </a:r>
              </a:p>
            </p:txBody>
          </p:sp>
        </mc:Fallback>
      </mc:AlternateContent>
    </p:spTree>
    <p:extLst>
      <p:ext uri="{BB962C8B-B14F-4D97-AF65-F5344CB8AC3E}">
        <p14:creationId xmlns:p14="http://schemas.microsoft.com/office/powerpoint/2010/main" val="4264947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4011018" cy="461665"/>
          </a:xfrm>
          <a:prstGeom prst="rect">
            <a:avLst/>
          </a:prstGeom>
          <a:solidFill>
            <a:srgbClr val="92D050"/>
          </a:solidFill>
        </p:spPr>
        <p:txBody>
          <a:bodyPr wrap="square" rtlCol="0">
            <a:spAutoFit/>
          </a:bodyPr>
          <a:lstStyle/>
          <a:p>
            <a:r>
              <a:rPr lang="en-AU" sz="2400" dirty="0" smtClean="0"/>
              <a:t>Y11 Apps Chapter 5 Example </a:t>
            </a:r>
            <a:r>
              <a:rPr lang="en-AU" sz="2400" dirty="0"/>
              <a:t>3</a:t>
            </a:r>
          </a:p>
        </p:txBody>
      </p:sp>
      <mc:AlternateContent xmlns:mc="http://schemas.openxmlformats.org/markup-compatibility/2006" xmlns:a14="http://schemas.microsoft.com/office/drawing/2010/main">
        <mc:Choice Requires="a14">
          <p:sp>
            <p:nvSpPr>
              <p:cNvPr id="2" name="TextBox 1"/>
              <p:cNvSpPr txBox="1"/>
              <p:nvPr/>
            </p:nvSpPr>
            <p:spPr>
              <a:xfrm>
                <a:off x="181535" y="665629"/>
                <a:ext cx="11806518" cy="4718151"/>
              </a:xfrm>
              <a:prstGeom prst="rect">
                <a:avLst/>
              </a:prstGeom>
              <a:noFill/>
            </p:spPr>
            <p:txBody>
              <a:bodyPr wrap="square" rtlCol="0">
                <a:spAutoFit/>
              </a:bodyPr>
              <a:lstStyle/>
              <a:p>
                <a:r>
                  <a:rPr lang="en-AU" sz="2200" dirty="0" smtClean="0"/>
                  <a:t>Determine the price to earnings ratio for a share with a price of $6.50 and dividends in the last twelve months totalling 48 cents per share.</a:t>
                </a:r>
              </a:p>
              <a:p>
                <a:endParaRPr lang="en-AU" sz="2200" dirty="0"/>
              </a:p>
              <a:p>
                <a:r>
                  <a:rPr lang="en-AU" sz="2000" b="1" dirty="0"/>
                  <a:t>Price-to-earnings ratio </a:t>
                </a:r>
                <a14:m>
                  <m:oMath xmlns:m="http://schemas.openxmlformats.org/officeDocument/2006/math">
                    <m:r>
                      <a:rPr lang="en-AU" sz="2600" b="1">
                        <a:latin typeface="Cambria Math" panose="02040503050406030204" pitchFamily="18" charset="0"/>
                      </a:rPr>
                      <m:t>=</m:t>
                    </m:r>
                    <m:f>
                      <m:fPr>
                        <m:ctrlPr>
                          <a:rPr lang="en-AU" sz="2600" b="1" i="1">
                            <a:latin typeface="Cambria Math" panose="02040503050406030204" pitchFamily="18" charset="0"/>
                          </a:rPr>
                        </m:ctrlPr>
                      </m:fPr>
                      <m:num>
                        <m:r>
                          <a:rPr lang="en-AU" sz="2600" b="1" i="1">
                            <a:latin typeface="Cambria Math" panose="02040503050406030204" pitchFamily="18" charset="0"/>
                          </a:rPr>
                          <m:t>𝑺𝒉𝒂𝒓𝒆</m:t>
                        </m:r>
                        <m:r>
                          <a:rPr lang="en-AU" sz="2600" b="1" i="1">
                            <a:latin typeface="Cambria Math" panose="02040503050406030204" pitchFamily="18" charset="0"/>
                          </a:rPr>
                          <m:t> </m:t>
                        </m:r>
                        <m:r>
                          <a:rPr lang="en-AU" sz="2600" b="1" i="1">
                            <a:latin typeface="Cambria Math" panose="02040503050406030204" pitchFamily="18" charset="0"/>
                          </a:rPr>
                          <m:t>𝒑𝒓𝒊𝒄𝒆</m:t>
                        </m:r>
                      </m:num>
                      <m:den>
                        <m:r>
                          <a:rPr lang="en-AU" sz="2600" b="1" i="1">
                            <a:latin typeface="Cambria Math" panose="02040503050406030204" pitchFamily="18" charset="0"/>
                          </a:rPr>
                          <m:t>𝑬𝒂𝒓𝒏𝒊𝒏𝒈𝒔</m:t>
                        </m:r>
                        <m:r>
                          <a:rPr lang="en-AU" sz="2600" b="1" i="1">
                            <a:latin typeface="Cambria Math" panose="02040503050406030204" pitchFamily="18" charset="0"/>
                          </a:rPr>
                          <m:t> </m:t>
                        </m:r>
                        <m:r>
                          <a:rPr lang="en-AU" sz="2600" b="1" i="1">
                            <a:latin typeface="Cambria Math" panose="02040503050406030204" pitchFamily="18" charset="0"/>
                          </a:rPr>
                          <m:t>𝒊𝒏</m:t>
                        </m:r>
                        <m:r>
                          <a:rPr lang="en-AU" sz="2600" b="1" i="1">
                            <a:latin typeface="Cambria Math" panose="02040503050406030204" pitchFamily="18" charset="0"/>
                          </a:rPr>
                          <m:t> </m:t>
                        </m:r>
                        <m:r>
                          <a:rPr lang="en-AU" sz="2600" b="1" i="1">
                            <a:latin typeface="Cambria Math" panose="02040503050406030204" pitchFamily="18" charset="0"/>
                          </a:rPr>
                          <m:t>𝒑𝒂𝒔𝒕</m:t>
                        </m:r>
                        <m:r>
                          <a:rPr lang="en-AU" sz="2600" b="1" i="1">
                            <a:latin typeface="Cambria Math" panose="02040503050406030204" pitchFamily="18" charset="0"/>
                          </a:rPr>
                          <m:t> </m:t>
                        </m:r>
                        <m:r>
                          <a:rPr lang="en-AU" sz="2600" b="1" i="1">
                            <a:latin typeface="Cambria Math" panose="02040503050406030204" pitchFamily="18" charset="0"/>
                          </a:rPr>
                          <m:t>𝒚𝒆𝒂𝒓</m:t>
                        </m:r>
                      </m:den>
                    </m:f>
                  </m:oMath>
                </a14:m>
                <a:endParaRPr lang="en-AU" sz="2600" dirty="0" smtClean="0"/>
              </a:p>
              <a:p>
                <a:endParaRPr lang="en-AU" sz="2600" dirty="0"/>
              </a:p>
              <a:p>
                <a:r>
                  <a:rPr lang="en-AU" sz="2600" dirty="0" smtClean="0"/>
                  <a:t>		        </a:t>
                </a:r>
              </a:p>
              <a:p>
                <a:r>
                  <a:rPr lang="en-AU" sz="2600" dirty="0"/>
                  <a:t> </a:t>
                </a:r>
                <a:r>
                  <a:rPr lang="en-AU" sz="2600" dirty="0" smtClean="0"/>
                  <a:t>			</a:t>
                </a:r>
                <a14:m>
                  <m:oMath xmlns:m="http://schemas.openxmlformats.org/officeDocument/2006/math">
                    <m:r>
                      <a:rPr lang="en-AU" sz="2600" b="0" i="1" smtClean="0">
                        <a:latin typeface="Cambria Math" panose="02040503050406030204" pitchFamily="18" charset="0"/>
                      </a:rPr>
                      <m:t>= </m:t>
                    </m:r>
                    <m:f>
                      <m:fPr>
                        <m:ctrlPr>
                          <a:rPr lang="en-AU" sz="2600" b="0" i="1" smtClean="0">
                            <a:latin typeface="Cambria Math" panose="02040503050406030204" pitchFamily="18" charset="0"/>
                          </a:rPr>
                        </m:ctrlPr>
                      </m:fPr>
                      <m:num>
                        <m:r>
                          <a:rPr lang="en-AU" sz="2600" b="0" i="1" smtClean="0">
                            <a:latin typeface="Cambria Math" panose="02040503050406030204" pitchFamily="18" charset="0"/>
                          </a:rPr>
                          <m:t>6.5</m:t>
                        </m:r>
                      </m:num>
                      <m:den>
                        <m:r>
                          <a:rPr lang="en-AU" sz="2600" b="0" i="1" smtClean="0">
                            <a:latin typeface="Cambria Math" panose="02040503050406030204" pitchFamily="18" charset="0"/>
                          </a:rPr>
                          <m:t>0.48</m:t>
                        </m:r>
                      </m:den>
                    </m:f>
                  </m:oMath>
                </a14:m>
                <a:endParaRPr lang="en-AU" sz="2600" dirty="0" smtClean="0"/>
              </a:p>
              <a:p>
                <a:endParaRPr lang="en-AU" sz="2600" dirty="0"/>
              </a:p>
              <a:p>
                <a:r>
                  <a:rPr lang="en-AU" sz="2600" dirty="0" smtClean="0"/>
                  <a:t>			</a:t>
                </a:r>
                <a14:m>
                  <m:oMath xmlns:m="http://schemas.openxmlformats.org/officeDocument/2006/math">
                    <m:r>
                      <a:rPr lang="en-AU" sz="2600" b="0" i="1" smtClean="0">
                        <a:latin typeface="Cambria Math" panose="02040503050406030204" pitchFamily="18" charset="0"/>
                      </a:rPr>
                      <m:t>=12.5</m:t>
                    </m:r>
                  </m:oMath>
                </a14:m>
                <a:endParaRPr lang="en-AU" sz="2600" b="0" dirty="0" smtClean="0"/>
              </a:p>
              <a:p>
                <a:endParaRPr lang="en-AU" sz="2600" dirty="0" smtClean="0"/>
              </a:p>
              <a:p>
                <a:r>
                  <a:rPr lang="en-AU" sz="2200" dirty="0" smtClean="0"/>
                  <a:t>The P/E ratio for this share is 12.5</a:t>
                </a:r>
                <a:endParaRPr lang="en-AU" sz="2200" dirty="0"/>
              </a:p>
            </p:txBody>
          </p:sp>
        </mc:Choice>
        <mc:Fallback xmlns="">
          <p:sp>
            <p:nvSpPr>
              <p:cNvPr id="2" name="TextBox 1"/>
              <p:cNvSpPr txBox="1">
                <a:spLocks noRot="1" noChangeAspect="1" noMove="1" noResize="1" noEditPoints="1" noAdjustHandles="1" noChangeArrowheads="1" noChangeShapeType="1" noTextEdit="1"/>
              </p:cNvSpPr>
              <p:nvPr/>
            </p:nvSpPr>
            <p:spPr>
              <a:xfrm>
                <a:off x="181535" y="665629"/>
                <a:ext cx="11806518" cy="4718151"/>
              </a:xfrm>
              <a:prstGeom prst="rect">
                <a:avLst/>
              </a:prstGeom>
              <a:blipFill>
                <a:blip r:embed="rId2"/>
                <a:stretch>
                  <a:fillRect l="-671" t="-904" r="-103" b="-388"/>
                </a:stretch>
              </a:blipFill>
            </p:spPr>
            <p:txBody>
              <a:bodyPr/>
              <a:lstStyle/>
              <a:p>
                <a:r>
                  <a:rPr lang="en-AU">
                    <a:noFill/>
                  </a:rPr>
                  <a:t> </a:t>
                </a:r>
              </a:p>
            </p:txBody>
          </p:sp>
        </mc:Fallback>
      </mc:AlternateContent>
      <p:sp>
        <p:nvSpPr>
          <p:cNvPr id="8" name="TextBox 7"/>
          <p:cNvSpPr txBox="1"/>
          <p:nvPr/>
        </p:nvSpPr>
        <p:spPr>
          <a:xfrm>
            <a:off x="4400898" y="0"/>
            <a:ext cx="2779666" cy="461665"/>
          </a:xfrm>
          <a:prstGeom prst="rect">
            <a:avLst/>
          </a:prstGeom>
          <a:solidFill>
            <a:srgbClr val="FFFF00"/>
          </a:solidFill>
        </p:spPr>
        <p:txBody>
          <a:bodyPr wrap="square" rtlCol="0">
            <a:spAutoFit/>
          </a:bodyPr>
          <a:lstStyle/>
          <a:p>
            <a:pPr algn="ctr"/>
            <a:r>
              <a:rPr lang="en-AU" sz="2400" dirty="0" smtClean="0"/>
              <a:t>Now do Exercise 5D</a:t>
            </a:r>
            <a:endParaRPr lang="en-AU" sz="2400" dirty="0"/>
          </a:p>
        </p:txBody>
      </p:sp>
    </p:spTree>
    <p:extLst>
      <p:ext uri="{BB962C8B-B14F-4D97-AF65-F5344CB8AC3E}">
        <p14:creationId xmlns:p14="http://schemas.microsoft.com/office/powerpoint/2010/main" val="1296921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518</TotalTime>
  <Words>2478</Words>
  <Application>Microsoft Office PowerPoint</Application>
  <PresentationFormat>Widescreen</PresentationFormat>
  <Paragraphs>310</Paragraphs>
  <Slides>24</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Cambria Math</vt:lpstr>
      <vt:lpstr>Office Theme</vt:lpstr>
      <vt:lpstr>Exercise 5A – Wages and Salary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5B – Comparing Prices </vt:lpstr>
      <vt:lpstr>PowerPoint Presentation</vt:lpstr>
      <vt:lpstr>PowerPoint Presentation</vt:lpstr>
      <vt:lpstr>PowerPoint Presentation</vt:lpstr>
      <vt:lpstr>PowerPoint Presentation</vt:lpstr>
      <vt:lpstr>PowerPoint Presentation</vt:lpstr>
      <vt:lpstr>Exercise 5C – Foreign Exchange</vt:lpstr>
      <vt:lpstr>There are lots of different currencies around the world.</vt:lpstr>
      <vt:lpstr>PowerPoint Presentation</vt:lpstr>
      <vt:lpstr>PowerPoint Presentation</vt:lpstr>
      <vt:lpstr>Exercise 5D – Shares</vt:lpstr>
      <vt:lpstr>PowerPoint Presentation</vt:lpstr>
      <vt:lpstr>PowerPoint Presentation</vt:lpstr>
      <vt:lpstr>PowerPoint Presentation</vt:lpstr>
      <vt:lpstr>PowerPoint Presentation</vt:lpstr>
    </vt:vector>
  </TitlesOfParts>
  <Company>HarrisdaleSHS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LEVITT Megan [Harrisdale Senior High School]</cp:lastModifiedBy>
  <cp:revision>53</cp:revision>
  <dcterms:created xsi:type="dcterms:W3CDTF">2020-12-09T06:24:59Z</dcterms:created>
  <dcterms:modified xsi:type="dcterms:W3CDTF">2021-02-23T00:33:12Z</dcterms:modified>
</cp:coreProperties>
</file>
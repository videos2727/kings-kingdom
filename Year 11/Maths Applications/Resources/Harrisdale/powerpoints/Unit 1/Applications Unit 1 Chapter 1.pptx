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4" r:id="rId4"/>
    <p:sldId id="256"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85" d="100"/>
          <a:sy n="85" d="100"/>
        </p:scale>
        <p:origin x="81" y="4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28/01/2021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28/01/2021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28/01/2021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28/01/2021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28/01/2021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28/01/2021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28/01/2021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28/01/2021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28/01/2021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0.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30.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4F75DB1-1514-4D26-BCB1-AB8F6E634B31}"/>
              </a:ext>
            </a:extLst>
          </p:cNvPr>
          <p:cNvSpPr/>
          <p:nvPr/>
        </p:nvSpPr>
        <p:spPr>
          <a:xfrm>
            <a:off x="97056" y="744015"/>
            <a:ext cx="6053846" cy="461665"/>
          </a:xfrm>
          <a:prstGeom prst="rect">
            <a:avLst/>
          </a:prstGeom>
        </p:spPr>
        <p:txBody>
          <a:bodyPr wrap="square">
            <a:spAutoFit/>
          </a:bodyPr>
          <a:lstStyle/>
          <a:p>
            <a:r>
              <a:rPr lang="en-AU" sz="2400" dirty="0" smtClean="0">
                <a:latin typeface="Arial" panose="020B0604020202020204" pitchFamily="34" charset="0"/>
                <a:cs typeface="Arial" panose="020B0604020202020204" pitchFamily="34" charset="0"/>
              </a:rPr>
              <a:t>Substitute into the following formulas</a:t>
            </a:r>
            <a:endParaRPr lang="en-AU" sz="20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636F7CC8-7433-4D62-A1AE-4F5260B20BB4}"/>
                  </a:ext>
                </a:extLst>
              </p:cNvPr>
              <p:cNvSpPr/>
              <p:nvPr/>
            </p:nvSpPr>
            <p:spPr>
              <a:xfrm>
                <a:off x="419029" y="1164134"/>
                <a:ext cx="9815437" cy="49859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AU" sz="2800" b="1" i="1" smtClean="0">
                          <a:solidFill>
                            <a:schemeClr val="tx1"/>
                          </a:solidFill>
                          <a:latin typeface="Cambria Math" panose="02040503050406030204" pitchFamily="18" charset="0"/>
                        </a:rPr>
                        <m:t>𝑻𝒉𝒆</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𝒂𝒓𝒆𝒂</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𝒐𝒇</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𝒂</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𝒓𝒆𝒄𝒕𝒂𝒏𝒈𝒍𝒆</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𝑨</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𝒊𝒔</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𝒈𝒊𝒗𝒆𝒏</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𝒃𝒚</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𝒕𝒉𝒆</m:t>
                      </m:r>
                      <m:r>
                        <a:rPr lang="en-AU" sz="2800" b="1" i="1" smtClean="0">
                          <a:solidFill>
                            <a:schemeClr val="tx1"/>
                          </a:solidFill>
                          <a:latin typeface="Cambria Math" panose="02040503050406030204" pitchFamily="18" charset="0"/>
                        </a:rPr>
                        <m:t> </m:t>
                      </m:r>
                      <m:r>
                        <a:rPr lang="en-AU" sz="2800" b="1" i="1" smtClean="0">
                          <a:solidFill>
                            <a:schemeClr val="tx1"/>
                          </a:solidFill>
                          <a:latin typeface="Cambria Math" panose="02040503050406030204" pitchFamily="18" charset="0"/>
                        </a:rPr>
                        <m:t>𝒇𝒐𝒓𝒎𝒖𝒍𝒂</m:t>
                      </m:r>
                    </m:oMath>
                  </m:oMathPara>
                </a14:m>
                <a:endParaRPr lang="en-AU" sz="2800" dirty="0">
                  <a:latin typeface="Calibri "/>
                </a:endParaRPr>
              </a:p>
              <a:p>
                <a:pPr algn="ctr"/>
                <a:r>
                  <a:rPr lang="en-AU" sz="2800" b="1" i="1" dirty="0" smtClean="0">
                    <a:solidFill>
                      <a:schemeClr val="tx1"/>
                    </a:solidFill>
                    <a:latin typeface="Calibri "/>
                  </a:rPr>
                  <a:t>A = L x W,</a:t>
                </a:r>
                <a:r>
                  <a:rPr lang="en-AU" sz="2800" dirty="0" smtClean="0">
                    <a:solidFill>
                      <a:schemeClr val="tx1"/>
                    </a:solidFill>
                    <a:latin typeface="Calibri "/>
                  </a:rPr>
                  <a:t> </a:t>
                </a:r>
              </a:p>
              <a:p>
                <a:pPr algn="ctr"/>
                <a:r>
                  <a:rPr lang="en-AU" sz="2800" dirty="0" smtClean="0">
                    <a:solidFill>
                      <a:schemeClr val="tx1"/>
                    </a:solidFill>
                    <a:latin typeface="Calibri "/>
                  </a:rPr>
                  <a:t>where L = Length and W = Width</a:t>
                </a:r>
                <a:endParaRPr lang="en-AU" sz="2800" dirty="0">
                  <a:latin typeface="Calibri "/>
                </a:endParaRPr>
              </a:p>
              <a:p>
                <a:r>
                  <a:rPr lang="en-AU" dirty="0" smtClean="0">
                    <a:latin typeface="Calibri "/>
                  </a:rPr>
                  <a:t>Find the area of rectangles with the following dimensions</a:t>
                </a:r>
              </a:p>
              <a:p>
                <a:pPr marL="514350" indent="-514350">
                  <a:lnSpc>
                    <a:spcPct val="150000"/>
                  </a:lnSpc>
                  <a:buAutoNum type="alphaLcParenR"/>
                </a:pPr>
                <a:r>
                  <a:rPr lang="en-AU" dirty="0" smtClean="0">
                    <a:solidFill>
                      <a:schemeClr val="tx1"/>
                    </a:solidFill>
                    <a:latin typeface="Calibri "/>
                  </a:rPr>
                  <a:t>L = 5cm, W = 6cm</a:t>
                </a:r>
              </a:p>
              <a:p>
                <a:pPr>
                  <a:lnSpc>
                    <a:spcPct val="150000"/>
                  </a:lnSpc>
                </a:pPr>
                <a:r>
                  <a:rPr lang="en-AU" dirty="0" smtClean="0">
                    <a:solidFill>
                      <a:srgbClr val="FF0000"/>
                    </a:solidFill>
                    <a:latin typeface="Calibri "/>
                  </a:rPr>
                  <a:t>A = 5 x 6 = 30cm</a:t>
                </a:r>
                <a:r>
                  <a:rPr lang="en-AU" baseline="30000" dirty="0" smtClean="0">
                    <a:solidFill>
                      <a:srgbClr val="FF0000"/>
                    </a:solidFill>
                    <a:latin typeface="Calibri "/>
                  </a:rPr>
                  <a:t>2</a:t>
                </a:r>
                <a:r>
                  <a:rPr lang="en-AU" dirty="0" smtClean="0">
                    <a:solidFill>
                      <a:srgbClr val="FF0000"/>
                    </a:solidFill>
                    <a:latin typeface="Calibri "/>
                  </a:rPr>
                  <a:t> </a:t>
                </a:r>
              </a:p>
              <a:p>
                <a:pPr>
                  <a:lnSpc>
                    <a:spcPct val="150000"/>
                  </a:lnSpc>
                </a:pPr>
                <a:endParaRPr lang="en-AU" dirty="0">
                  <a:latin typeface="Calibri "/>
                </a:endParaRPr>
              </a:p>
              <a:p>
                <a:pPr>
                  <a:lnSpc>
                    <a:spcPct val="150000"/>
                  </a:lnSpc>
                </a:pPr>
                <a:r>
                  <a:rPr lang="en-AU" dirty="0" smtClean="0">
                    <a:solidFill>
                      <a:schemeClr val="tx1"/>
                    </a:solidFill>
                    <a:latin typeface="Calibri "/>
                  </a:rPr>
                  <a:t>b)    L = 2.5 cm, W =  3cm</a:t>
                </a:r>
              </a:p>
              <a:p>
                <a:pPr>
                  <a:lnSpc>
                    <a:spcPct val="150000"/>
                  </a:lnSpc>
                </a:pPr>
                <a:r>
                  <a:rPr lang="en-AU" dirty="0" smtClean="0">
                    <a:solidFill>
                      <a:srgbClr val="FF0000"/>
                    </a:solidFill>
                    <a:latin typeface="Calibri "/>
                  </a:rPr>
                  <a:t>A = 2.5 x 3 = 7.5 cm</a:t>
                </a:r>
                <a:r>
                  <a:rPr lang="en-AU" baseline="30000" dirty="0" smtClean="0">
                    <a:solidFill>
                      <a:srgbClr val="FF0000"/>
                    </a:solidFill>
                    <a:latin typeface="Calibri "/>
                  </a:rPr>
                  <a:t>2</a:t>
                </a:r>
                <a:r>
                  <a:rPr lang="en-AU" dirty="0" smtClean="0">
                    <a:solidFill>
                      <a:srgbClr val="FF0000"/>
                    </a:solidFill>
                    <a:latin typeface="Calibri "/>
                  </a:rPr>
                  <a:t> </a:t>
                </a:r>
              </a:p>
              <a:p>
                <a:pPr>
                  <a:lnSpc>
                    <a:spcPct val="150000"/>
                  </a:lnSpc>
                </a:pPr>
                <a:endParaRPr lang="en-AU" dirty="0" smtClean="0">
                  <a:solidFill>
                    <a:srgbClr val="FF0000"/>
                  </a:solidFill>
                  <a:latin typeface="Calibri "/>
                </a:endParaRPr>
              </a:p>
              <a:p>
                <a:pPr>
                  <a:lnSpc>
                    <a:spcPct val="150000"/>
                  </a:lnSpc>
                </a:pPr>
                <a:r>
                  <a:rPr lang="en-AU" dirty="0" smtClean="0">
                    <a:latin typeface="Calibri "/>
                  </a:rPr>
                  <a:t>c)    L = 6m, W= 300cm 				</a:t>
                </a:r>
              </a:p>
              <a:p>
                <a:pPr>
                  <a:lnSpc>
                    <a:spcPct val="150000"/>
                  </a:lnSpc>
                </a:pPr>
                <a:r>
                  <a:rPr lang="en-AU" dirty="0" smtClean="0">
                    <a:solidFill>
                      <a:srgbClr val="FF0000"/>
                    </a:solidFill>
                    <a:latin typeface="Calibri "/>
                  </a:rPr>
                  <a:t>A = 6 x 3 = 18m</a:t>
                </a:r>
                <a:r>
                  <a:rPr lang="en-AU" baseline="30000" dirty="0" smtClean="0">
                    <a:solidFill>
                      <a:srgbClr val="FF0000"/>
                    </a:solidFill>
                    <a:latin typeface="Calibri "/>
                  </a:rPr>
                  <a:t>2</a:t>
                </a:r>
                <a:r>
                  <a:rPr lang="en-AU" dirty="0" smtClean="0">
                    <a:solidFill>
                      <a:srgbClr val="FF0000"/>
                    </a:solidFill>
                    <a:latin typeface="Calibri "/>
                  </a:rPr>
                  <a:t>	</a:t>
                </a:r>
                <a:r>
                  <a:rPr lang="en-AU" dirty="0" smtClean="0">
                    <a:latin typeface="Calibri "/>
                  </a:rPr>
                  <a:t>		</a:t>
                </a:r>
              </a:p>
            </p:txBody>
          </p:sp>
        </mc:Choice>
        <mc:Fallback xmlns="">
          <p:sp>
            <p:nvSpPr>
              <p:cNvPr id="2" name="Rectangle 1">
                <a:extLst>
                  <a:ext uri="{FF2B5EF4-FFF2-40B4-BE49-F238E27FC236}">
                    <a16:creationId xmlns="" xmlns:a16="http://schemas.microsoft.com/office/drawing/2014/main" xmlns:a14="http://schemas.microsoft.com/office/drawing/2010/main" id="{636F7CC8-7433-4D62-A1AE-4F5260B20BB4}"/>
                  </a:ext>
                </a:extLst>
              </p:cNvPr>
              <p:cNvSpPr>
                <a:spLocks noRot="1" noChangeAspect="1" noMove="1" noResize="1" noEditPoints="1" noAdjustHandles="1" noChangeArrowheads="1" noChangeShapeType="1" noTextEdit="1"/>
              </p:cNvSpPr>
              <p:nvPr/>
            </p:nvSpPr>
            <p:spPr>
              <a:xfrm>
                <a:off x="419029" y="1164134"/>
                <a:ext cx="9815437" cy="4985980"/>
              </a:xfrm>
              <a:prstGeom prst="rect">
                <a:avLst/>
              </a:prstGeom>
              <a:blipFill rotWithShape="0">
                <a:blip r:embed="rId2"/>
                <a:stretch>
                  <a:fillRect l="-559"/>
                </a:stretch>
              </a:blipFill>
            </p:spPr>
            <p:txBody>
              <a:bodyPr/>
              <a:lstStyle/>
              <a:p>
                <a:r>
                  <a:rPr lang="en-AU">
                    <a:noFill/>
                  </a:rPr>
                  <a:t> </a:t>
                </a:r>
              </a:p>
            </p:txBody>
          </p:sp>
        </mc:Fallback>
      </mc:AlternateContent>
      <p:sp>
        <p:nvSpPr>
          <p:cNvPr id="8" name="TextBox 7">
            <a:extLst>
              <a:ext uri="{FF2B5EF4-FFF2-40B4-BE49-F238E27FC236}">
                <a16:creationId xmlns:a16="http://schemas.microsoft.com/office/drawing/2014/main" id="{75706F46-6F52-4EE8-92EF-EFFCB2875C85}"/>
              </a:ext>
            </a:extLst>
          </p:cNvPr>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a:t>
            </a:r>
            <a:r>
              <a:rPr lang="en-AU" sz="3200" dirty="0" smtClean="0"/>
              <a:t>y Review</a:t>
            </a:r>
            <a:endParaRPr lang="en-AU" sz="3200" dirty="0"/>
          </a:p>
        </p:txBody>
      </p:sp>
      <p:grpSp>
        <p:nvGrpSpPr>
          <p:cNvPr id="9" name="Group 8">
            <a:extLst>
              <a:ext uri="{FF2B5EF4-FFF2-40B4-BE49-F238E27FC236}">
                <a16:creationId xmlns:a16="http://schemas.microsoft.com/office/drawing/2014/main" id="{A4BEE6A2-556E-47EB-BE0D-1D5CA4374488}"/>
              </a:ext>
            </a:extLst>
          </p:cNvPr>
          <p:cNvGrpSpPr/>
          <p:nvPr/>
        </p:nvGrpSpPr>
        <p:grpSpPr>
          <a:xfrm>
            <a:off x="9950490" y="155096"/>
            <a:ext cx="2098575" cy="1145510"/>
            <a:chOff x="597455" y="3602071"/>
            <a:chExt cx="2098575" cy="1145510"/>
          </a:xfrm>
        </p:grpSpPr>
        <p:sp>
          <p:nvSpPr>
            <p:cNvPr id="10" name="TextBox 9">
              <a:extLst>
                <a:ext uri="{FF2B5EF4-FFF2-40B4-BE49-F238E27FC236}">
                  <a16:creationId xmlns:a16="http://schemas.microsoft.com/office/drawing/2014/main" id="{C4CB765C-CAC2-440D-9D52-CA15DC2897B0}"/>
                </a:ext>
              </a:extLst>
            </p:cNvPr>
            <p:cNvSpPr txBox="1"/>
            <p:nvPr/>
          </p:nvSpPr>
          <p:spPr>
            <a:xfrm>
              <a:off x="597455" y="3602071"/>
              <a:ext cx="2098575" cy="307777"/>
            </a:xfrm>
            <a:prstGeom prst="rect">
              <a:avLst/>
            </a:prstGeom>
            <a:solidFill>
              <a:srgbClr val="01244E"/>
            </a:solidFill>
            <a:ln>
              <a:solidFill>
                <a:schemeClr val="tx1"/>
              </a:solidFill>
            </a:ln>
          </p:spPr>
          <p:txBody>
            <a:bodyPr wrap="square" rtlCol="0">
              <a:spAutoFit/>
            </a:bodyPr>
            <a:lstStyle/>
            <a:p>
              <a:r>
                <a:rPr lang="en-AU" sz="1400" b="1" dirty="0">
                  <a:solidFill>
                    <a:schemeClr val="bg1"/>
                  </a:solidFill>
                </a:rPr>
                <a:t>CFU</a:t>
              </a:r>
            </a:p>
          </p:txBody>
        </p:sp>
        <p:sp>
          <p:nvSpPr>
            <p:cNvPr id="11" name="Rectangle 10">
              <a:extLst>
                <a:ext uri="{FF2B5EF4-FFF2-40B4-BE49-F238E27FC236}">
                  <a16:creationId xmlns:a16="http://schemas.microsoft.com/office/drawing/2014/main" id="{9071FAA3-C029-4C42-9F5A-D80968D531A2}"/>
                </a:ext>
              </a:extLst>
            </p:cNvPr>
            <p:cNvSpPr/>
            <p:nvPr/>
          </p:nvSpPr>
          <p:spPr>
            <a:xfrm>
              <a:off x="597455" y="3931961"/>
              <a:ext cx="2098574" cy="815620"/>
            </a:xfrm>
            <a:prstGeom prst="rect">
              <a:avLst/>
            </a:prstGeom>
            <a:solidFill>
              <a:schemeClr val="accent1">
                <a:lumMod val="60000"/>
                <a:lumOff val="40000"/>
                <a:alpha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smtClean="0">
                  <a:solidFill>
                    <a:schemeClr val="tx1"/>
                  </a:solidFill>
                </a:rPr>
                <a:t>Convert 300 cm into metres</a:t>
              </a:r>
            </a:p>
            <a:p>
              <a:pPr algn="ctr"/>
              <a:r>
                <a:rPr lang="en-AU" dirty="0" smtClean="0">
                  <a:solidFill>
                    <a:schemeClr val="tx1"/>
                  </a:solidFill>
                </a:rPr>
                <a:t>(Hint: 100cm = 1m)</a:t>
              </a:r>
              <a:endParaRPr lang="en-AU" dirty="0">
                <a:solidFill>
                  <a:schemeClr val="tx1"/>
                </a:solidFill>
              </a:endParaRPr>
            </a:p>
          </p:txBody>
        </p:sp>
      </p:grpSp>
    </p:spTree>
    <p:extLst>
      <p:ext uri="{BB962C8B-B14F-4D97-AF65-F5344CB8AC3E}">
        <p14:creationId xmlns:p14="http://schemas.microsoft.com/office/powerpoint/2010/main" val="250737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706F46-6F52-4EE8-92EF-EFFCB2875C85}"/>
              </a:ext>
            </a:extLst>
          </p:cNvPr>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mc:AlternateContent xmlns:mc="http://schemas.openxmlformats.org/markup-compatibility/2006" xmlns:a14="http://schemas.microsoft.com/office/drawing/2010/main">
        <mc:Choice Requires="a14">
          <p:sp>
            <p:nvSpPr>
              <p:cNvPr id="3" name="TextBox 2"/>
              <p:cNvSpPr txBox="1"/>
              <p:nvPr/>
            </p:nvSpPr>
            <p:spPr>
              <a:xfrm>
                <a:off x="380527" y="1084785"/>
                <a:ext cx="11608904" cy="5239896"/>
              </a:xfrm>
              <a:prstGeom prst="rect">
                <a:avLst/>
              </a:prstGeom>
              <a:noFill/>
            </p:spPr>
            <p:txBody>
              <a:bodyPr wrap="square" rtlCol="0">
                <a:spAutoFit/>
              </a:bodyPr>
              <a:lstStyle/>
              <a:p>
                <a:r>
                  <a:rPr lang="en-AU" sz="2000" dirty="0" smtClean="0"/>
                  <a:t>The speed (s) of an object can be given by the formula:</a:t>
                </a:r>
              </a:p>
              <a:p>
                <a:endParaRPr lang="en-AU" sz="2000" dirty="0"/>
              </a:p>
              <a:p>
                <a:r>
                  <a:rPr lang="en-AU" sz="2000" dirty="0"/>
                  <a:t>	</a:t>
                </a:r>
                <a:r>
                  <a:rPr lang="en-AU" sz="2000" dirty="0" smtClean="0"/>
                  <a:t>				</a:t>
                </a:r>
                <a14:m>
                  <m:oMath xmlns:m="http://schemas.openxmlformats.org/officeDocument/2006/math">
                    <m:r>
                      <m:rPr>
                        <m:sty m:val="p"/>
                      </m:rPr>
                      <a:rPr lang="en-AU" sz="3200" b="0" i="0" smtClean="0">
                        <a:latin typeface="Cambria Math" panose="02040503050406030204" pitchFamily="18" charset="0"/>
                      </a:rPr>
                      <m:t>s</m:t>
                    </m:r>
                    <m:r>
                      <a:rPr lang="en-AU" sz="3200" b="0" i="1" smtClean="0">
                        <a:latin typeface="Cambria Math" panose="02040503050406030204" pitchFamily="18" charset="0"/>
                      </a:rPr>
                      <m:t>=</m:t>
                    </m:r>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𝑑</m:t>
                        </m:r>
                      </m:num>
                      <m:den>
                        <m:r>
                          <a:rPr lang="en-AU" sz="3200" b="0" i="1" smtClean="0">
                            <a:latin typeface="Cambria Math" panose="02040503050406030204" pitchFamily="18" charset="0"/>
                          </a:rPr>
                          <m:t>𝑡</m:t>
                        </m:r>
                      </m:den>
                    </m:f>
                  </m:oMath>
                </a14:m>
                <a:r>
                  <a:rPr lang="en-AU" sz="2000" dirty="0" smtClean="0"/>
                  <a:t> </a:t>
                </a:r>
              </a:p>
              <a:p>
                <a:pPr algn="ctr"/>
                <a:r>
                  <a:rPr lang="en-AU" sz="2000" dirty="0" smtClean="0"/>
                  <a:t>where </a:t>
                </a:r>
                <a:r>
                  <a:rPr lang="en-AU" sz="2000" i="1" dirty="0" smtClean="0"/>
                  <a:t>s= speed in metres per second, d = distance travelled in metres, t = time taken to travel distance in seconds</a:t>
                </a:r>
              </a:p>
              <a:p>
                <a:r>
                  <a:rPr lang="en-AU" sz="2000" dirty="0" smtClean="0"/>
                  <a:t>Calculate the value of s when:</a:t>
                </a:r>
              </a:p>
              <a:p>
                <a:endParaRPr lang="en-AU" sz="2000" dirty="0"/>
              </a:p>
              <a:p>
                <a:pPr marL="342900" indent="-342900">
                  <a:buAutoNum type="arabicPeriod"/>
                </a:pPr>
                <a:r>
                  <a:rPr lang="en-AU" sz="2000" dirty="0" smtClean="0"/>
                  <a:t>d = 100 , t = 10</a:t>
                </a:r>
              </a:p>
              <a:p>
                <a:endParaRPr lang="en-AU" sz="2000" dirty="0"/>
              </a:p>
              <a:p>
                <a14:m>
                  <m:oMath xmlns:m="http://schemas.openxmlformats.org/officeDocument/2006/math">
                    <m:r>
                      <m:rPr>
                        <m:sty m:val="p"/>
                      </m:rPr>
                      <a:rPr lang="en-AU" sz="2000" smtClean="0">
                        <a:solidFill>
                          <a:srgbClr val="FF0000"/>
                        </a:solidFill>
                        <a:latin typeface="Cambria Math" panose="02040503050406030204" pitchFamily="18" charset="0"/>
                      </a:rPr>
                      <m:t>s</m:t>
                    </m:r>
                    <m:r>
                      <a:rPr lang="en-AU" sz="2000" i="1">
                        <a:solidFill>
                          <a:srgbClr val="FF0000"/>
                        </a:solidFill>
                        <a:latin typeface="Cambria Math" panose="02040503050406030204" pitchFamily="18" charset="0"/>
                      </a:rPr>
                      <m:t>=</m:t>
                    </m:r>
                    <m:f>
                      <m:fPr>
                        <m:ctrlPr>
                          <a:rPr lang="en-AU" sz="2000" i="1">
                            <a:solidFill>
                              <a:srgbClr val="FF0000"/>
                            </a:solidFill>
                            <a:latin typeface="Cambria Math" panose="02040503050406030204" pitchFamily="18" charset="0"/>
                          </a:rPr>
                        </m:ctrlPr>
                      </m:fPr>
                      <m:num>
                        <m:r>
                          <a:rPr lang="en-AU" sz="2000" b="0" i="1" smtClean="0">
                            <a:solidFill>
                              <a:srgbClr val="FF0000"/>
                            </a:solidFill>
                            <a:latin typeface="Cambria Math" panose="02040503050406030204" pitchFamily="18" charset="0"/>
                          </a:rPr>
                          <m:t>100</m:t>
                        </m:r>
                      </m:num>
                      <m:den>
                        <m:r>
                          <a:rPr lang="en-AU" sz="2000" b="0" i="1" smtClean="0">
                            <a:solidFill>
                              <a:srgbClr val="FF0000"/>
                            </a:solidFill>
                            <a:latin typeface="Cambria Math" panose="02040503050406030204" pitchFamily="18" charset="0"/>
                          </a:rPr>
                          <m:t>10</m:t>
                        </m:r>
                      </m:den>
                    </m:f>
                  </m:oMath>
                </a14:m>
                <a:r>
                  <a:rPr lang="en-AU" sz="2000" dirty="0" smtClean="0">
                    <a:solidFill>
                      <a:srgbClr val="FF0000"/>
                    </a:solidFill>
                  </a:rPr>
                  <a:t> </a:t>
                </a:r>
              </a:p>
              <a:p>
                <a:endParaRPr lang="en-AU" sz="2000" dirty="0">
                  <a:solidFill>
                    <a:srgbClr val="FF0000"/>
                  </a:solidFill>
                </a:endParaRPr>
              </a:p>
              <a:p>
                <a:r>
                  <a:rPr lang="en-AU" sz="2000" dirty="0" smtClean="0">
                    <a:solidFill>
                      <a:srgbClr val="FF0000"/>
                    </a:solidFill>
                  </a:rPr>
                  <a:t>s = 10 m/s</a:t>
                </a:r>
              </a:p>
              <a:p>
                <a:endParaRPr lang="en-AU" sz="2000" dirty="0"/>
              </a:p>
              <a:p>
                <a:endParaRPr lang="en-AU" sz="2000" dirty="0"/>
              </a:p>
              <a:p>
                <a:endParaRPr lang="en-AU"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380527" y="1084785"/>
                <a:ext cx="11608904" cy="5239896"/>
              </a:xfrm>
              <a:prstGeom prst="rect">
                <a:avLst/>
              </a:prstGeom>
              <a:blipFill rotWithShape="0">
                <a:blip r:embed="rId2"/>
                <a:stretch>
                  <a:fillRect l="-577" t="-69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094749" y="3582528"/>
                <a:ext cx="2271802" cy="2374240"/>
              </a:xfrm>
              <a:prstGeom prst="rect">
                <a:avLst/>
              </a:prstGeom>
              <a:noFill/>
            </p:spPr>
            <p:txBody>
              <a:bodyPr wrap="square" rtlCol="0">
                <a:spAutoFit/>
              </a:bodyPr>
              <a:lstStyle/>
              <a:p>
                <a:r>
                  <a:rPr lang="en-AU" sz="2000" dirty="0" smtClean="0"/>
                  <a:t>2.   d </a:t>
                </a:r>
                <a:r>
                  <a:rPr lang="en-AU" sz="2000" dirty="0"/>
                  <a:t>= </a:t>
                </a:r>
                <a:r>
                  <a:rPr lang="en-AU" sz="2000" dirty="0" smtClean="0"/>
                  <a:t>220 </a:t>
                </a:r>
                <a:r>
                  <a:rPr lang="en-AU" sz="2000" dirty="0"/>
                  <a:t>, t = </a:t>
                </a:r>
                <a:r>
                  <a:rPr lang="en-AU" sz="2000" dirty="0" smtClean="0"/>
                  <a:t>11</a:t>
                </a:r>
                <a:endParaRPr lang="en-AU" sz="2000" dirty="0"/>
              </a:p>
              <a:p>
                <a:endParaRPr lang="en-AU" sz="2000" dirty="0"/>
              </a:p>
              <a:p>
                <a14:m>
                  <m:oMath xmlns:m="http://schemas.openxmlformats.org/officeDocument/2006/math">
                    <m:r>
                      <m:rPr>
                        <m:sty m:val="p"/>
                      </m:rPr>
                      <a:rPr lang="en-AU" sz="2000">
                        <a:solidFill>
                          <a:srgbClr val="FF0000"/>
                        </a:solidFill>
                        <a:latin typeface="Cambria Math" panose="02040503050406030204" pitchFamily="18" charset="0"/>
                      </a:rPr>
                      <m:t>s</m:t>
                    </m:r>
                    <m:r>
                      <a:rPr lang="en-AU" sz="2000" i="1">
                        <a:solidFill>
                          <a:srgbClr val="FF0000"/>
                        </a:solidFill>
                        <a:latin typeface="Cambria Math" panose="02040503050406030204" pitchFamily="18" charset="0"/>
                      </a:rPr>
                      <m:t>=</m:t>
                    </m:r>
                    <m:f>
                      <m:fPr>
                        <m:ctrlPr>
                          <a:rPr lang="en-AU" sz="2000" i="1">
                            <a:solidFill>
                              <a:srgbClr val="FF0000"/>
                            </a:solidFill>
                            <a:latin typeface="Cambria Math" panose="02040503050406030204" pitchFamily="18" charset="0"/>
                          </a:rPr>
                        </m:ctrlPr>
                      </m:fPr>
                      <m:num>
                        <m:r>
                          <a:rPr lang="en-AU" sz="2000" b="0" i="1" smtClean="0">
                            <a:solidFill>
                              <a:srgbClr val="FF0000"/>
                            </a:solidFill>
                            <a:latin typeface="Cambria Math" panose="02040503050406030204" pitchFamily="18" charset="0"/>
                          </a:rPr>
                          <m:t>220</m:t>
                        </m:r>
                      </m:num>
                      <m:den>
                        <m:r>
                          <a:rPr lang="en-AU" sz="2000" i="1">
                            <a:solidFill>
                              <a:srgbClr val="FF0000"/>
                            </a:solidFill>
                            <a:latin typeface="Cambria Math" panose="02040503050406030204" pitchFamily="18" charset="0"/>
                          </a:rPr>
                          <m:t>1</m:t>
                        </m:r>
                        <m:r>
                          <a:rPr lang="en-AU" sz="2000" b="0" i="1" smtClean="0">
                            <a:solidFill>
                              <a:srgbClr val="FF0000"/>
                            </a:solidFill>
                            <a:latin typeface="Cambria Math" panose="02040503050406030204" pitchFamily="18" charset="0"/>
                          </a:rPr>
                          <m:t>1</m:t>
                        </m:r>
                      </m:den>
                    </m:f>
                  </m:oMath>
                </a14:m>
                <a:r>
                  <a:rPr lang="en-AU" sz="2000" dirty="0">
                    <a:solidFill>
                      <a:srgbClr val="FF0000"/>
                    </a:solidFill>
                  </a:rPr>
                  <a:t> </a:t>
                </a:r>
              </a:p>
              <a:p>
                <a:endParaRPr lang="en-AU" sz="2000" dirty="0">
                  <a:solidFill>
                    <a:srgbClr val="FF0000"/>
                  </a:solidFill>
                </a:endParaRPr>
              </a:p>
              <a:p>
                <a:r>
                  <a:rPr lang="en-AU" sz="2000" dirty="0">
                    <a:solidFill>
                      <a:srgbClr val="FF0000"/>
                    </a:solidFill>
                  </a:rPr>
                  <a:t>s = </a:t>
                </a:r>
                <a:r>
                  <a:rPr lang="en-AU" sz="2000" dirty="0" smtClean="0">
                    <a:solidFill>
                      <a:srgbClr val="FF0000"/>
                    </a:solidFill>
                  </a:rPr>
                  <a:t>20 </a:t>
                </a:r>
                <a:r>
                  <a:rPr lang="en-AU" sz="2000" dirty="0">
                    <a:solidFill>
                      <a:srgbClr val="FF0000"/>
                    </a:solidFill>
                  </a:rPr>
                  <a:t>m/s</a:t>
                </a:r>
              </a:p>
              <a:p>
                <a:endParaRPr lang="en-AU" sz="2000" dirty="0"/>
              </a:p>
              <a:p>
                <a:endParaRPr lang="en-AU"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3094749" y="3582528"/>
                <a:ext cx="2271802" cy="2374240"/>
              </a:xfrm>
              <a:prstGeom prst="rect">
                <a:avLst/>
              </a:prstGeom>
              <a:blipFill rotWithShape="0">
                <a:blip r:embed="rId3"/>
                <a:stretch>
                  <a:fillRect l="-2957" t="-1542"/>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472792" y="3539258"/>
                <a:ext cx="2271802" cy="2392322"/>
              </a:xfrm>
              <a:prstGeom prst="rect">
                <a:avLst/>
              </a:prstGeom>
              <a:noFill/>
            </p:spPr>
            <p:txBody>
              <a:bodyPr wrap="square" rtlCol="0">
                <a:spAutoFit/>
              </a:bodyPr>
              <a:lstStyle/>
              <a:p>
                <a:r>
                  <a:rPr lang="en-AU" sz="2000" dirty="0" smtClean="0"/>
                  <a:t>3.   d </a:t>
                </a:r>
                <a:r>
                  <a:rPr lang="en-AU" sz="2000" dirty="0"/>
                  <a:t>= </a:t>
                </a:r>
                <a:r>
                  <a:rPr lang="en-AU" sz="2000" dirty="0" smtClean="0"/>
                  <a:t>350 </a:t>
                </a:r>
                <a:r>
                  <a:rPr lang="en-AU" sz="2000" dirty="0"/>
                  <a:t>, t = </a:t>
                </a:r>
                <a:r>
                  <a:rPr lang="en-AU" sz="2000" dirty="0" smtClean="0"/>
                  <a:t>60</a:t>
                </a:r>
                <a:endParaRPr lang="en-AU" sz="2000" dirty="0"/>
              </a:p>
              <a:p>
                <a:endParaRPr lang="en-AU" sz="2000" dirty="0"/>
              </a:p>
              <a:p>
                <a14:m>
                  <m:oMath xmlns:m="http://schemas.openxmlformats.org/officeDocument/2006/math">
                    <m:r>
                      <m:rPr>
                        <m:sty m:val="p"/>
                      </m:rPr>
                      <a:rPr lang="en-AU" sz="2000">
                        <a:solidFill>
                          <a:srgbClr val="FF0000"/>
                        </a:solidFill>
                        <a:latin typeface="Cambria Math" panose="02040503050406030204" pitchFamily="18" charset="0"/>
                      </a:rPr>
                      <m:t>s</m:t>
                    </m:r>
                    <m:r>
                      <a:rPr lang="en-AU" sz="2000" i="1">
                        <a:solidFill>
                          <a:srgbClr val="FF0000"/>
                        </a:solidFill>
                        <a:latin typeface="Cambria Math" panose="02040503050406030204" pitchFamily="18" charset="0"/>
                      </a:rPr>
                      <m:t>=</m:t>
                    </m:r>
                    <m:f>
                      <m:fPr>
                        <m:ctrlPr>
                          <a:rPr lang="en-AU" sz="2000" i="1">
                            <a:solidFill>
                              <a:srgbClr val="FF0000"/>
                            </a:solidFill>
                            <a:latin typeface="Cambria Math" panose="02040503050406030204" pitchFamily="18" charset="0"/>
                          </a:rPr>
                        </m:ctrlPr>
                      </m:fPr>
                      <m:num>
                        <m:r>
                          <a:rPr lang="en-AU" sz="2000" b="0" i="1" smtClean="0">
                            <a:solidFill>
                              <a:srgbClr val="FF0000"/>
                            </a:solidFill>
                            <a:latin typeface="Cambria Math" panose="02040503050406030204" pitchFamily="18" charset="0"/>
                          </a:rPr>
                          <m:t>350</m:t>
                        </m:r>
                      </m:num>
                      <m:den>
                        <m:r>
                          <a:rPr lang="en-AU" sz="2000" b="0" i="1" smtClean="0">
                            <a:solidFill>
                              <a:srgbClr val="FF0000"/>
                            </a:solidFill>
                            <a:latin typeface="Cambria Math" panose="02040503050406030204" pitchFamily="18" charset="0"/>
                          </a:rPr>
                          <m:t>60</m:t>
                        </m:r>
                      </m:den>
                    </m:f>
                  </m:oMath>
                </a14:m>
                <a:r>
                  <a:rPr lang="en-AU" sz="2000" dirty="0">
                    <a:solidFill>
                      <a:srgbClr val="FF0000"/>
                    </a:solidFill>
                  </a:rPr>
                  <a:t> </a:t>
                </a:r>
              </a:p>
              <a:p>
                <a:endParaRPr lang="en-AU" sz="2000" dirty="0">
                  <a:solidFill>
                    <a:srgbClr val="FF0000"/>
                  </a:solidFill>
                </a:endParaRPr>
              </a:p>
              <a:p>
                <a:r>
                  <a:rPr lang="en-AU" sz="2000" dirty="0">
                    <a:solidFill>
                      <a:srgbClr val="FF0000"/>
                    </a:solidFill>
                  </a:rPr>
                  <a:t>s = </a:t>
                </a:r>
                <a:r>
                  <a:rPr lang="en-AU" sz="2000" dirty="0" smtClean="0">
                    <a:solidFill>
                      <a:srgbClr val="FF0000"/>
                    </a:solidFill>
                  </a:rPr>
                  <a:t>5.8</a:t>
                </a:r>
                <a14:m>
                  <m:oMath xmlns:m="http://schemas.openxmlformats.org/officeDocument/2006/math">
                    <m:acc>
                      <m:accPr>
                        <m:chr m:val="̇"/>
                        <m:ctrlPr>
                          <a:rPr lang="en-AU" sz="2000" i="1" smtClean="0">
                            <a:solidFill>
                              <a:srgbClr val="FF0000"/>
                            </a:solidFill>
                            <a:latin typeface="Cambria Math" panose="02040503050406030204" pitchFamily="18" charset="0"/>
                          </a:rPr>
                        </m:ctrlPr>
                      </m:accPr>
                      <m:e>
                        <m:r>
                          <a:rPr lang="en-AU" sz="2000" b="0" i="1" smtClean="0">
                            <a:solidFill>
                              <a:srgbClr val="FF0000"/>
                            </a:solidFill>
                            <a:latin typeface="Cambria Math" panose="02040503050406030204" pitchFamily="18" charset="0"/>
                          </a:rPr>
                          <m:t>3</m:t>
                        </m:r>
                      </m:e>
                    </m:acc>
                  </m:oMath>
                </a14:m>
                <a:r>
                  <a:rPr lang="en-AU" sz="2000" dirty="0" smtClean="0">
                    <a:solidFill>
                      <a:srgbClr val="FF0000"/>
                    </a:solidFill>
                  </a:rPr>
                  <a:t> </a:t>
                </a:r>
                <a:r>
                  <a:rPr lang="en-AU" sz="2000" dirty="0">
                    <a:solidFill>
                      <a:srgbClr val="FF0000"/>
                    </a:solidFill>
                  </a:rPr>
                  <a:t>m/s</a:t>
                </a:r>
              </a:p>
              <a:p>
                <a:endParaRPr lang="en-AU" sz="2000" dirty="0"/>
              </a:p>
              <a:p>
                <a:endParaRPr lang="en-AU"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5472792" y="3539258"/>
                <a:ext cx="2271802" cy="2392322"/>
              </a:xfrm>
              <a:prstGeom prst="rect">
                <a:avLst/>
              </a:prstGeom>
              <a:blipFill rotWithShape="0">
                <a:blip r:embed="rId4"/>
                <a:stretch>
                  <a:fillRect l="-2957" t="-153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379212" y="3539258"/>
                <a:ext cx="2271802" cy="2380588"/>
              </a:xfrm>
              <a:prstGeom prst="rect">
                <a:avLst/>
              </a:prstGeom>
              <a:noFill/>
            </p:spPr>
            <p:txBody>
              <a:bodyPr wrap="square" rtlCol="0">
                <a:spAutoFit/>
              </a:bodyPr>
              <a:lstStyle/>
              <a:p>
                <a:r>
                  <a:rPr lang="en-AU" sz="2000" dirty="0" smtClean="0"/>
                  <a:t>4.   d </a:t>
                </a:r>
                <a:r>
                  <a:rPr lang="en-AU" sz="2000" dirty="0"/>
                  <a:t>= </a:t>
                </a:r>
                <a:r>
                  <a:rPr lang="en-AU" sz="2000" dirty="0" smtClean="0"/>
                  <a:t>12.5 </a:t>
                </a:r>
                <a:r>
                  <a:rPr lang="en-AU" sz="2000" dirty="0"/>
                  <a:t>, t = </a:t>
                </a:r>
                <a:r>
                  <a:rPr lang="en-AU" sz="2000" dirty="0" smtClean="0"/>
                  <a:t>25</a:t>
                </a:r>
                <a:endParaRPr lang="en-AU" sz="2000" dirty="0"/>
              </a:p>
              <a:p>
                <a:endParaRPr lang="en-AU" sz="2000" dirty="0"/>
              </a:p>
              <a:p>
                <a14:m>
                  <m:oMath xmlns:m="http://schemas.openxmlformats.org/officeDocument/2006/math">
                    <m:r>
                      <m:rPr>
                        <m:sty m:val="p"/>
                      </m:rPr>
                      <a:rPr lang="en-AU" sz="2000">
                        <a:solidFill>
                          <a:srgbClr val="FF0000"/>
                        </a:solidFill>
                        <a:latin typeface="Cambria Math" panose="02040503050406030204" pitchFamily="18" charset="0"/>
                      </a:rPr>
                      <m:t>s</m:t>
                    </m:r>
                    <m:r>
                      <a:rPr lang="en-AU" sz="2000" i="1">
                        <a:solidFill>
                          <a:srgbClr val="FF0000"/>
                        </a:solidFill>
                        <a:latin typeface="Cambria Math" panose="02040503050406030204" pitchFamily="18" charset="0"/>
                      </a:rPr>
                      <m:t>=</m:t>
                    </m:r>
                    <m:f>
                      <m:fPr>
                        <m:ctrlPr>
                          <a:rPr lang="en-AU" sz="2000" i="1">
                            <a:solidFill>
                              <a:srgbClr val="FF0000"/>
                            </a:solidFill>
                            <a:latin typeface="Cambria Math" panose="02040503050406030204" pitchFamily="18" charset="0"/>
                          </a:rPr>
                        </m:ctrlPr>
                      </m:fPr>
                      <m:num>
                        <m:r>
                          <a:rPr lang="en-AU" sz="2000" b="0" i="1" smtClean="0">
                            <a:solidFill>
                              <a:srgbClr val="FF0000"/>
                            </a:solidFill>
                            <a:latin typeface="Cambria Math" panose="02040503050406030204" pitchFamily="18" charset="0"/>
                          </a:rPr>
                          <m:t>12.5</m:t>
                        </m:r>
                      </m:num>
                      <m:den>
                        <m:r>
                          <a:rPr lang="en-AU" sz="2000" b="0" i="1" smtClean="0">
                            <a:solidFill>
                              <a:srgbClr val="FF0000"/>
                            </a:solidFill>
                            <a:latin typeface="Cambria Math" panose="02040503050406030204" pitchFamily="18" charset="0"/>
                          </a:rPr>
                          <m:t>25</m:t>
                        </m:r>
                      </m:den>
                    </m:f>
                  </m:oMath>
                </a14:m>
                <a:r>
                  <a:rPr lang="en-AU" sz="2000" dirty="0">
                    <a:solidFill>
                      <a:srgbClr val="FF0000"/>
                    </a:solidFill>
                  </a:rPr>
                  <a:t> </a:t>
                </a:r>
              </a:p>
              <a:p>
                <a:endParaRPr lang="en-AU" sz="2000" dirty="0">
                  <a:solidFill>
                    <a:srgbClr val="FF0000"/>
                  </a:solidFill>
                </a:endParaRPr>
              </a:p>
              <a:p>
                <a:r>
                  <a:rPr lang="en-AU" sz="2000" dirty="0">
                    <a:solidFill>
                      <a:srgbClr val="FF0000"/>
                    </a:solidFill>
                  </a:rPr>
                  <a:t>s = </a:t>
                </a:r>
                <a:r>
                  <a:rPr lang="en-AU" sz="2000" dirty="0" smtClean="0">
                    <a:solidFill>
                      <a:srgbClr val="FF0000"/>
                    </a:solidFill>
                  </a:rPr>
                  <a:t>0.5 </a:t>
                </a:r>
                <a:r>
                  <a:rPr lang="en-AU" sz="2000" dirty="0">
                    <a:solidFill>
                      <a:srgbClr val="FF0000"/>
                    </a:solidFill>
                  </a:rPr>
                  <a:t>m/s</a:t>
                </a:r>
              </a:p>
              <a:p>
                <a:endParaRPr lang="en-AU" sz="2000" dirty="0"/>
              </a:p>
              <a:p>
                <a:endParaRPr lang="en-AU"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8379212" y="3539258"/>
                <a:ext cx="2271802" cy="2380588"/>
              </a:xfrm>
              <a:prstGeom prst="rect">
                <a:avLst/>
              </a:prstGeom>
              <a:blipFill rotWithShape="0">
                <a:blip r:embed="rId5"/>
                <a:stretch>
                  <a:fillRect l="-2957" t="-1538"/>
                </a:stretch>
              </a:blipFill>
            </p:spPr>
            <p:txBody>
              <a:bodyPr/>
              <a:lstStyle/>
              <a:p>
                <a:r>
                  <a:rPr lang="en-AU">
                    <a:noFill/>
                  </a:rPr>
                  <a:t> </a:t>
                </a:r>
              </a:p>
            </p:txBody>
          </p:sp>
        </mc:Fallback>
      </mc:AlternateContent>
    </p:spTree>
    <p:extLst>
      <p:ext uri="{BB962C8B-B14F-4D97-AF65-F5344CB8AC3E}">
        <p14:creationId xmlns:p14="http://schemas.microsoft.com/office/powerpoint/2010/main" val="186366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4F75DB1-1514-4D26-BCB1-AB8F6E634B31}"/>
              </a:ext>
            </a:extLst>
          </p:cNvPr>
          <p:cNvSpPr/>
          <p:nvPr/>
        </p:nvSpPr>
        <p:spPr>
          <a:xfrm>
            <a:off x="159531" y="787873"/>
            <a:ext cx="3434530" cy="584775"/>
          </a:xfrm>
          <a:prstGeom prst="rect">
            <a:avLst/>
          </a:prstGeom>
        </p:spPr>
        <p:txBody>
          <a:bodyPr wrap="none">
            <a:spAutoFit/>
          </a:bodyPr>
          <a:lstStyle/>
          <a:p>
            <a:r>
              <a:rPr lang="en-AU" sz="3200" b="1" dirty="0" smtClean="0">
                <a:solidFill>
                  <a:schemeClr val="tx1"/>
                </a:solidFill>
                <a:latin typeface="Arial" panose="020B0604020202020204" pitchFamily="34" charset="0"/>
                <a:cs typeface="Arial" panose="020B0604020202020204" pitchFamily="34" charset="0"/>
              </a:rPr>
              <a:t>Worded problem</a:t>
            </a:r>
            <a:endParaRPr lang="en-AU" sz="3200" b="1"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5706F46-6F52-4EE8-92EF-EFFCB2875C85}"/>
              </a:ext>
            </a:extLst>
          </p:cNvPr>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12" name="Rectangle 11">
            <a:extLst>
              <a:ext uri="{FF2B5EF4-FFF2-40B4-BE49-F238E27FC236}">
                <a16:creationId xmlns:a16="http://schemas.microsoft.com/office/drawing/2014/main" id="{84F75DB1-1514-4D26-BCB1-AB8F6E634B31}"/>
              </a:ext>
            </a:extLst>
          </p:cNvPr>
          <p:cNvSpPr/>
          <p:nvPr/>
        </p:nvSpPr>
        <p:spPr>
          <a:xfrm>
            <a:off x="159530" y="1303410"/>
            <a:ext cx="11977567" cy="4216539"/>
          </a:xfrm>
          <a:prstGeom prst="rect">
            <a:avLst/>
          </a:prstGeom>
        </p:spPr>
        <p:txBody>
          <a:bodyPr wrap="square">
            <a:spAutoFit/>
          </a:bodyPr>
          <a:lstStyle/>
          <a:p>
            <a:r>
              <a:rPr lang="en-AU" sz="2400" dirty="0" smtClean="0">
                <a:solidFill>
                  <a:schemeClr val="tx1"/>
                </a:solidFill>
                <a:cs typeface="Arial" panose="020B0604020202020204" pitchFamily="34" charset="0"/>
              </a:rPr>
              <a:t>A Zoo sells tickets that costs $10 for children and $15 for adults.</a:t>
            </a:r>
          </a:p>
          <a:p>
            <a:r>
              <a:rPr lang="en-AU" sz="2400" dirty="0" smtClean="0">
                <a:cs typeface="Arial" panose="020B0604020202020204" pitchFamily="34" charset="0"/>
              </a:rPr>
              <a:t>The total money (M) received by the zoo is given by the formula:</a:t>
            </a:r>
            <a:endParaRPr lang="en-AU" sz="2400" dirty="0">
              <a:solidFill>
                <a:schemeClr val="tx1"/>
              </a:solidFill>
              <a:cs typeface="Arial" panose="020B0604020202020204" pitchFamily="34" charset="0"/>
            </a:endParaRPr>
          </a:p>
          <a:p>
            <a:pPr algn="ctr"/>
            <a:r>
              <a:rPr lang="en-AU" sz="2400" i="1" dirty="0" smtClean="0">
                <a:cs typeface="Arial" panose="020B0604020202020204" pitchFamily="34" charset="0"/>
              </a:rPr>
              <a:t>M = 10c + 15a, </a:t>
            </a:r>
          </a:p>
          <a:p>
            <a:pPr algn="ctr"/>
            <a:r>
              <a:rPr lang="en-AU" sz="2400" i="1" dirty="0" smtClean="0">
                <a:cs typeface="Arial" panose="020B0604020202020204" pitchFamily="34" charset="0"/>
              </a:rPr>
              <a:t>where c = number of children and a = number of adults</a:t>
            </a:r>
          </a:p>
          <a:p>
            <a:pPr algn="ctr"/>
            <a:endParaRPr lang="en-AU" sz="2400" i="1" dirty="0">
              <a:cs typeface="Arial" panose="020B0604020202020204" pitchFamily="34" charset="0"/>
            </a:endParaRPr>
          </a:p>
          <a:p>
            <a:r>
              <a:rPr lang="en-AU" sz="2400" dirty="0" smtClean="0">
                <a:cs typeface="Arial" panose="020B0604020202020204" pitchFamily="34" charset="0"/>
              </a:rPr>
              <a:t>How much money will the zoo make if:</a:t>
            </a:r>
          </a:p>
          <a:p>
            <a:endParaRPr lang="en-AU" sz="2400" dirty="0" smtClean="0">
              <a:cs typeface="Arial" panose="020B0604020202020204" pitchFamily="34" charset="0"/>
            </a:endParaRPr>
          </a:p>
          <a:p>
            <a:r>
              <a:rPr lang="en-AU" sz="2000" dirty="0" smtClean="0">
                <a:cs typeface="Arial" panose="020B0604020202020204" pitchFamily="34" charset="0"/>
              </a:rPr>
              <a:t>a) 250 children and 300 adults visited the zoo?</a:t>
            </a:r>
          </a:p>
          <a:p>
            <a:endParaRPr lang="en-AU" sz="2000" dirty="0" smtClean="0">
              <a:cs typeface="Arial" panose="020B0604020202020204" pitchFamily="34" charset="0"/>
            </a:endParaRPr>
          </a:p>
          <a:p>
            <a:r>
              <a:rPr lang="en-AU" sz="2000" dirty="0" smtClean="0">
                <a:solidFill>
                  <a:srgbClr val="FF0000"/>
                </a:solidFill>
                <a:cs typeface="Arial" panose="020B0604020202020204" pitchFamily="34" charset="0"/>
              </a:rPr>
              <a:t>M = 10 (250) + 15(300)</a:t>
            </a:r>
          </a:p>
          <a:p>
            <a:r>
              <a:rPr lang="en-AU" sz="2000" dirty="0">
                <a:solidFill>
                  <a:srgbClr val="FF0000"/>
                </a:solidFill>
                <a:cs typeface="Arial" panose="020B0604020202020204" pitchFamily="34" charset="0"/>
              </a:rPr>
              <a:t> </a:t>
            </a:r>
            <a:r>
              <a:rPr lang="en-AU" sz="2000" dirty="0" smtClean="0">
                <a:solidFill>
                  <a:srgbClr val="FF0000"/>
                </a:solidFill>
                <a:cs typeface="Arial" panose="020B0604020202020204" pitchFamily="34" charset="0"/>
              </a:rPr>
              <a:t>   = 2500 + 4500</a:t>
            </a:r>
          </a:p>
          <a:p>
            <a:r>
              <a:rPr lang="en-AU" sz="2000" dirty="0" smtClean="0">
                <a:solidFill>
                  <a:srgbClr val="FF0000"/>
                </a:solidFill>
                <a:cs typeface="Arial" panose="020B0604020202020204" pitchFamily="34" charset="0"/>
              </a:rPr>
              <a:t>    = $7000</a:t>
            </a:r>
            <a:endParaRPr lang="en-AU" sz="2000" i="1" dirty="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4238" y="0"/>
            <a:ext cx="1802859" cy="1696808"/>
          </a:xfrm>
          <a:prstGeom prst="rect">
            <a:avLst/>
          </a:prstGeom>
        </p:spPr>
      </p:pic>
      <p:sp>
        <p:nvSpPr>
          <p:cNvPr id="6" name="TextBox 5"/>
          <p:cNvSpPr txBox="1"/>
          <p:nvPr/>
        </p:nvSpPr>
        <p:spPr>
          <a:xfrm>
            <a:off x="6094107" y="3907498"/>
            <a:ext cx="5440964" cy="1754326"/>
          </a:xfrm>
          <a:prstGeom prst="rect">
            <a:avLst/>
          </a:prstGeom>
          <a:noFill/>
        </p:spPr>
        <p:txBody>
          <a:bodyPr wrap="square" rtlCol="0">
            <a:spAutoFit/>
          </a:bodyPr>
          <a:lstStyle/>
          <a:p>
            <a:r>
              <a:rPr lang="en-AU" dirty="0" smtClean="0"/>
              <a:t>b)</a:t>
            </a:r>
            <a:r>
              <a:rPr lang="en-AU" dirty="0">
                <a:cs typeface="Arial" panose="020B0604020202020204" pitchFamily="34" charset="0"/>
              </a:rPr>
              <a:t> </a:t>
            </a:r>
            <a:r>
              <a:rPr lang="en-AU" dirty="0" smtClean="0">
                <a:cs typeface="Arial" panose="020B0604020202020204" pitchFamily="34" charset="0"/>
              </a:rPr>
              <a:t>80 </a:t>
            </a:r>
            <a:r>
              <a:rPr lang="en-AU" dirty="0">
                <a:cs typeface="Arial" panose="020B0604020202020204" pitchFamily="34" charset="0"/>
              </a:rPr>
              <a:t>children and </a:t>
            </a:r>
            <a:r>
              <a:rPr lang="en-AU" dirty="0" smtClean="0">
                <a:cs typeface="Arial" panose="020B0604020202020204" pitchFamily="34" charset="0"/>
              </a:rPr>
              <a:t>240 </a:t>
            </a:r>
            <a:r>
              <a:rPr lang="en-AU" dirty="0">
                <a:cs typeface="Arial" panose="020B0604020202020204" pitchFamily="34" charset="0"/>
              </a:rPr>
              <a:t>adults visited the zoo?</a:t>
            </a:r>
          </a:p>
          <a:p>
            <a:endParaRPr lang="en-AU" dirty="0">
              <a:cs typeface="Arial" panose="020B0604020202020204" pitchFamily="34" charset="0"/>
            </a:endParaRPr>
          </a:p>
          <a:p>
            <a:r>
              <a:rPr lang="en-AU" dirty="0">
                <a:solidFill>
                  <a:srgbClr val="FF0000"/>
                </a:solidFill>
                <a:cs typeface="Arial" panose="020B0604020202020204" pitchFamily="34" charset="0"/>
              </a:rPr>
              <a:t>M = 10 </a:t>
            </a:r>
            <a:r>
              <a:rPr lang="en-AU" dirty="0" smtClean="0">
                <a:solidFill>
                  <a:srgbClr val="FF0000"/>
                </a:solidFill>
                <a:cs typeface="Arial" panose="020B0604020202020204" pitchFamily="34" charset="0"/>
              </a:rPr>
              <a:t>(80) </a:t>
            </a:r>
            <a:r>
              <a:rPr lang="en-AU" dirty="0">
                <a:solidFill>
                  <a:srgbClr val="FF0000"/>
                </a:solidFill>
                <a:cs typeface="Arial" panose="020B0604020202020204" pitchFamily="34" charset="0"/>
              </a:rPr>
              <a:t>+ </a:t>
            </a:r>
            <a:r>
              <a:rPr lang="en-AU" dirty="0" smtClean="0">
                <a:solidFill>
                  <a:srgbClr val="FF0000"/>
                </a:solidFill>
                <a:cs typeface="Arial" panose="020B0604020202020204" pitchFamily="34" charset="0"/>
              </a:rPr>
              <a:t>15(240)</a:t>
            </a:r>
            <a:endParaRPr lang="en-AU" dirty="0">
              <a:solidFill>
                <a:srgbClr val="FF0000"/>
              </a:solidFill>
              <a:cs typeface="Arial" panose="020B0604020202020204" pitchFamily="34" charset="0"/>
            </a:endParaRPr>
          </a:p>
          <a:p>
            <a:r>
              <a:rPr lang="en-AU" dirty="0">
                <a:solidFill>
                  <a:srgbClr val="FF0000"/>
                </a:solidFill>
                <a:cs typeface="Arial" panose="020B0604020202020204" pitchFamily="34" charset="0"/>
              </a:rPr>
              <a:t>    = 8</a:t>
            </a:r>
            <a:r>
              <a:rPr lang="en-AU" dirty="0" smtClean="0">
                <a:solidFill>
                  <a:srgbClr val="FF0000"/>
                </a:solidFill>
                <a:cs typeface="Arial" panose="020B0604020202020204" pitchFamily="34" charset="0"/>
              </a:rPr>
              <a:t>00 </a:t>
            </a:r>
            <a:r>
              <a:rPr lang="en-AU" dirty="0">
                <a:solidFill>
                  <a:srgbClr val="FF0000"/>
                </a:solidFill>
                <a:cs typeface="Arial" panose="020B0604020202020204" pitchFamily="34" charset="0"/>
              </a:rPr>
              <a:t>+ </a:t>
            </a:r>
            <a:r>
              <a:rPr lang="en-AU" dirty="0" smtClean="0">
                <a:solidFill>
                  <a:srgbClr val="FF0000"/>
                </a:solidFill>
                <a:cs typeface="Arial" panose="020B0604020202020204" pitchFamily="34" charset="0"/>
              </a:rPr>
              <a:t>3600</a:t>
            </a:r>
            <a:endParaRPr lang="en-AU" dirty="0">
              <a:solidFill>
                <a:srgbClr val="FF0000"/>
              </a:solidFill>
              <a:cs typeface="Arial" panose="020B0604020202020204" pitchFamily="34" charset="0"/>
            </a:endParaRPr>
          </a:p>
          <a:p>
            <a:r>
              <a:rPr lang="en-AU" dirty="0">
                <a:solidFill>
                  <a:srgbClr val="FF0000"/>
                </a:solidFill>
                <a:cs typeface="Arial" panose="020B0604020202020204" pitchFamily="34" charset="0"/>
              </a:rPr>
              <a:t>    = </a:t>
            </a:r>
            <a:r>
              <a:rPr lang="en-AU" dirty="0" smtClean="0">
                <a:solidFill>
                  <a:srgbClr val="FF0000"/>
                </a:solidFill>
                <a:cs typeface="Arial" panose="020B0604020202020204" pitchFamily="34" charset="0"/>
              </a:rPr>
              <a:t>$4400</a:t>
            </a:r>
            <a:endParaRPr lang="en-AU" i="1" dirty="0">
              <a:cs typeface="Arial" panose="020B0604020202020204" pitchFamily="34" charset="0"/>
            </a:endParaRPr>
          </a:p>
          <a:p>
            <a:r>
              <a:rPr lang="en-AU" dirty="0" smtClean="0"/>
              <a:t> </a:t>
            </a:r>
            <a:endParaRPr lang="en-AU" dirty="0"/>
          </a:p>
        </p:txBody>
      </p:sp>
    </p:spTree>
    <p:extLst>
      <p:ext uri="{BB962C8B-B14F-4D97-AF65-F5344CB8AC3E}">
        <p14:creationId xmlns:p14="http://schemas.microsoft.com/office/powerpoint/2010/main" val="272514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218783" y="723667"/>
                <a:ext cx="11415975" cy="5611857"/>
              </a:xfrm>
              <a:prstGeom prst="rect">
                <a:avLst/>
              </a:prstGeom>
              <a:noFill/>
            </p:spPr>
            <p:txBody>
              <a:bodyPr wrap="square" rtlCol="0">
                <a:spAutoFit/>
              </a:bodyPr>
              <a:lstStyle/>
              <a:p>
                <a:r>
                  <a:rPr lang="en-AU" sz="2400" dirty="0" smtClean="0"/>
                  <a:t>A person has a modern cookbook that gives oven temperatures in degrees Celsius but an old oven with the dial graduated in degrees Fahrenheit. They wish to convert some Celsius temperatures in the book to Fahrenheit temperatures in order to correctly set the oven dial.</a:t>
                </a:r>
              </a:p>
              <a:p>
                <a:endParaRPr lang="en-AU" sz="2400" dirty="0"/>
              </a:p>
              <a:p>
                <a:r>
                  <a:rPr lang="en-AU" sz="2400" dirty="0" smtClean="0"/>
                  <a:t>To do this, they can use the formula:       </a:t>
                </a:r>
                <a14:m>
                  <m:oMath xmlns:m="http://schemas.openxmlformats.org/officeDocument/2006/math">
                    <m:r>
                      <a:rPr lang="en-AU" sz="2400" b="1" i="1" smtClean="0">
                        <a:latin typeface="Cambria Math" panose="02040503050406030204" pitchFamily="18" charset="0"/>
                      </a:rPr>
                      <m:t>𝑭</m:t>
                    </m:r>
                    <m:r>
                      <a:rPr lang="en-AU" sz="2400" b="1" i="1" smtClean="0">
                        <a:latin typeface="Cambria Math" panose="02040503050406030204" pitchFamily="18" charset="0"/>
                      </a:rPr>
                      <m:t>=</m:t>
                    </m:r>
                    <m:f>
                      <m:fPr>
                        <m:ctrlPr>
                          <a:rPr lang="en-AU" sz="2400" b="1" i="1" smtClean="0">
                            <a:latin typeface="Cambria Math" panose="02040503050406030204" pitchFamily="18" charset="0"/>
                          </a:rPr>
                        </m:ctrlPr>
                      </m:fPr>
                      <m:num>
                        <m:r>
                          <a:rPr lang="en-AU" sz="2400" b="1" i="1" smtClean="0">
                            <a:latin typeface="Cambria Math" panose="02040503050406030204" pitchFamily="18" charset="0"/>
                          </a:rPr>
                          <m:t>𝟗</m:t>
                        </m:r>
                      </m:num>
                      <m:den>
                        <m:r>
                          <a:rPr lang="en-AU" sz="2400" b="1" i="1" smtClean="0">
                            <a:latin typeface="Cambria Math" panose="02040503050406030204" pitchFamily="18" charset="0"/>
                          </a:rPr>
                          <m:t>𝟓</m:t>
                        </m:r>
                      </m:den>
                    </m:f>
                    <m:r>
                      <a:rPr lang="en-AU" sz="2400" b="1" i="1" smtClean="0">
                        <a:latin typeface="Cambria Math" panose="02040503050406030204" pitchFamily="18" charset="0"/>
                      </a:rPr>
                      <m:t>𝑪</m:t>
                    </m:r>
                    <m:r>
                      <a:rPr lang="en-AU" sz="2400" b="1" i="1" smtClean="0">
                        <a:latin typeface="Cambria Math" panose="02040503050406030204" pitchFamily="18" charset="0"/>
                      </a:rPr>
                      <m:t>+</m:t>
                    </m:r>
                    <m:r>
                      <a:rPr lang="en-AU" sz="2400" b="1" i="1" smtClean="0">
                        <a:latin typeface="Cambria Math" panose="02040503050406030204" pitchFamily="18" charset="0"/>
                      </a:rPr>
                      <m:t>𝟑𝟐</m:t>
                    </m:r>
                  </m:oMath>
                </a14:m>
                <a:endParaRPr lang="en-AU" sz="2400" b="1" dirty="0" smtClean="0"/>
              </a:p>
              <a:p>
                <a:endParaRPr lang="en-AU" sz="2400" b="1" dirty="0"/>
              </a:p>
              <a:p>
                <a:r>
                  <a:rPr lang="en-AU" sz="2400" dirty="0" smtClean="0"/>
                  <a:t>Change the following Celsius temperatures to Fahrenheit.</a:t>
                </a:r>
              </a:p>
              <a:p>
                <a:endParaRPr lang="en-AU" sz="2400" dirty="0" smtClean="0"/>
              </a:p>
              <a:p>
                <a:pPr marL="457200" indent="-457200">
                  <a:buAutoNum type="alphaLcParenR"/>
                </a:pPr>
                <a:r>
                  <a:rPr lang="en-AU" sz="2400" dirty="0" smtClean="0"/>
                  <a:t>200°C</a:t>
                </a:r>
              </a:p>
              <a:p>
                <a:pPr marL="457200" indent="-457200">
                  <a:buFontTx/>
                  <a:buAutoNum type="alphaLcParenR"/>
                </a:pPr>
                <a:r>
                  <a:rPr lang="en-AU" sz="2400" dirty="0" smtClean="0"/>
                  <a:t>170°C</a:t>
                </a:r>
              </a:p>
              <a:p>
                <a:pPr marL="457200" indent="-457200">
                  <a:buFontTx/>
                  <a:buAutoNum type="alphaLcParenR"/>
                </a:pPr>
                <a:r>
                  <a:rPr lang="en-AU" sz="2400" dirty="0" smtClean="0"/>
                  <a:t>150°C</a:t>
                </a:r>
              </a:p>
              <a:p>
                <a:pPr marL="457200" indent="-457200">
                  <a:buFontTx/>
                  <a:buAutoNum type="alphaLcParenR"/>
                </a:pPr>
                <a:r>
                  <a:rPr lang="en-AU" sz="2400" dirty="0" smtClean="0"/>
                  <a:t>100°C</a:t>
                </a:r>
              </a:p>
              <a:p>
                <a:endParaRPr lang="en-AU" dirty="0"/>
              </a:p>
              <a:p>
                <a:endParaRPr lang="en-AU" dirty="0"/>
              </a:p>
            </p:txBody>
          </p:sp>
        </mc:Choice>
        <mc:Fallback xmlns="">
          <p:sp>
            <p:nvSpPr>
              <p:cNvPr id="4" name="TextBox 3"/>
              <p:cNvSpPr txBox="1">
                <a:spLocks noRot="1" noChangeAspect="1" noMove="1" noResize="1" noEditPoints="1" noAdjustHandles="1" noChangeArrowheads="1" noChangeShapeType="1" noTextEdit="1"/>
              </p:cNvSpPr>
              <p:nvPr/>
            </p:nvSpPr>
            <p:spPr>
              <a:xfrm>
                <a:off x="218783" y="723667"/>
                <a:ext cx="11415975" cy="5611857"/>
              </a:xfrm>
              <a:prstGeom prst="rect">
                <a:avLst/>
              </a:prstGeom>
              <a:blipFill rotWithShape="0">
                <a:blip r:embed="rId2"/>
                <a:stretch>
                  <a:fillRect l="-854" t="-870" r="-58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640771" y="4111995"/>
                <a:ext cx="3141497" cy="1372042"/>
              </a:xfrm>
              <a:prstGeom prst="rect">
                <a:avLst/>
              </a:prstGeom>
              <a:noFill/>
            </p:spPr>
            <p:txBody>
              <a:bodyPr wrap="square" rtlCol="0">
                <a:spAutoFit/>
              </a:bodyPr>
              <a:lstStyle/>
              <a:p>
                <a:r>
                  <a:rPr lang="en-AU" sz="2400" b="0" dirty="0" smtClean="0"/>
                  <a:t>a)   </a:t>
                </a:r>
                <a14:m>
                  <m:oMath xmlns:m="http://schemas.openxmlformats.org/officeDocument/2006/math">
                    <m:r>
                      <m:rPr>
                        <m:sty m:val="p"/>
                      </m:rPr>
                      <a:rPr lang="en-AU" sz="2400" b="0" i="0" smtClean="0">
                        <a:latin typeface="Cambria Math" panose="02040503050406030204" pitchFamily="18" charset="0"/>
                      </a:rPr>
                      <m:t>F</m:t>
                    </m:r>
                    <m:r>
                      <a:rPr lang="en-AU" sz="2400" b="0" i="0"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0" smtClean="0">
                            <a:latin typeface="Cambria Math" panose="02040503050406030204" pitchFamily="18" charset="0"/>
                          </a:rPr>
                          <m:t>9(200)</m:t>
                        </m:r>
                      </m:num>
                      <m:den>
                        <m:r>
                          <a:rPr lang="en-AU" sz="2400" b="0" i="0" smtClean="0">
                            <a:latin typeface="Cambria Math" panose="02040503050406030204" pitchFamily="18" charset="0"/>
                          </a:rPr>
                          <m:t>5</m:t>
                        </m:r>
                      </m:den>
                    </m:f>
                    <m:r>
                      <a:rPr lang="en-AU" sz="2400" b="0" i="0" smtClean="0">
                        <a:latin typeface="Cambria Math" panose="02040503050406030204" pitchFamily="18" charset="0"/>
                      </a:rPr>
                      <m:t>+32</m:t>
                    </m:r>
                  </m:oMath>
                </a14:m>
                <a:endParaRPr lang="en-AU" sz="2400" b="0" dirty="0" smtClean="0"/>
              </a:p>
              <a:p>
                <a:r>
                  <a:rPr lang="en-AU" sz="2400" dirty="0" smtClean="0"/>
                  <a:t>       </a:t>
                </a:r>
                <a14:m>
                  <m:oMath xmlns:m="http://schemas.openxmlformats.org/officeDocument/2006/math">
                    <m:r>
                      <m:rPr>
                        <m:sty m:val="p"/>
                      </m:rPr>
                      <a:rPr lang="en-AU" sz="2400" b="0" i="0" smtClean="0">
                        <a:latin typeface="Cambria Math" panose="02040503050406030204" pitchFamily="18" charset="0"/>
                      </a:rPr>
                      <m:t>F</m:t>
                    </m:r>
                    <m:r>
                      <a:rPr lang="en-AU" sz="2400" b="0" i="0" smtClean="0">
                        <a:latin typeface="Cambria Math" panose="02040503050406030204" pitchFamily="18" charset="0"/>
                      </a:rPr>
                      <m:t>=450+32</m:t>
                    </m:r>
                  </m:oMath>
                </a14:m>
                <a:endParaRPr lang="en-AU" sz="2400" b="0" dirty="0" smtClean="0"/>
              </a:p>
              <a:p>
                <a:pPr algn="ct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F</m:t>
                      </m:r>
                      <m:r>
                        <a:rPr lang="en-AU" sz="2400" b="0" i="1" smtClean="0">
                          <a:latin typeface="Cambria Math" panose="02040503050406030204" pitchFamily="18" charset="0"/>
                        </a:rPr>
                        <m:t>=482</m:t>
                      </m:r>
                    </m:oMath>
                  </m:oMathPara>
                </a14:m>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640771" y="4111995"/>
                <a:ext cx="3141497" cy="1372042"/>
              </a:xfrm>
              <a:prstGeom prst="rect">
                <a:avLst/>
              </a:prstGeom>
              <a:blipFill rotWithShape="0">
                <a:blip r:embed="rId3"/>
                <a:stretch>
                  <a:fillRect l="-290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480273" y="4098412"/>
                <a:ext cx="3141497" cy="1002710"/>
              </a:xfrm>
              <a:prstGeom prst="rect">
                <a:avLst/>
              </a:prstGeom>
              <a:noFill/>
            </p:spPr>
            <p:txBody>
              <a:bodyPr wrap="square" rtlCol="0">
                <a:spAutoFit/>
              </a:bodyPr>
              <a:lstStyle/>
              <a:p>
                <a:pPr marL="457200" indent="-457200">
                  <a:buAutoNum type="alphaLcParenR" startAt="2"/>
                </a:pPr>
                <a14:m>
                  <m:oMath xmlns:m="http://schemas.openxmlformats.org/officeDocument/2006/math">
                    <m:r>
                      <m:rPr>
                        <m:sty m:val="p"/>
                      </m:rPr>
                      <a:rPr lang="en-AU" sz="2400" smtClean="0">
                        <a:latin typeface="Cambria Math" panose="02040503050406030204" pitchFamily="18" charset="0"/>
                      </a:rPr>
                      <m:t>F</m:t>
                    </m:r>
                    <m:r>
                      <a:rPr lang="en-AU" sz="2400" b="0" i="0"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0" smtClean="0">
                            <a:latin typeface="Cambria Math" panose="02040503050406030204" pitchFamily="18" charset="0"/>
                          </a:rPr>
                          <m:t>9(170)</m:t>
                        </m:r>
                      </m:num>
                      <m:den>
                        <m:r>
                          <a:rPr lang="en-AU" sz="2400" b="0" i="0" smtClean="0">
                            <a:latin typeface="Cambria Math" panose="02040503050406030204" pitchFamily="18" charset="0"/>
                          </a:rPr>
                          <m:t>5</m:t>
                        </m:r>
                      </m:den>
                    </m:f>
                    <m:r>
                      <a:rPr lang="en-AU" sz="2400" b="0" i="0" smtClean="0">
                        <a:latin typeface="Cambria Math" panose="02040503050406030204" pitchFamily="18" charset="0"/>
                      </a:rPr>
                      <m:t>+32</m:t>
                    </m:r>
                  </m:oMath>
                </a14:m>
                <a:endParaRPr lang="en-AU" sz="2400" b="0" i="0"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F</m:t>
                      </m:r>
                      <m:r>
                        <a:rPr lang="en-AU" sz="2400" b="0" i="1" smtClean="0">
                          <a:latin typeface="Cambria Math" panose="02040503050406030204" pitchFamily="18" charset="0"/>
                        </a:rPr>
                        <m:t>=338</m:t>
                      </m:r>
                    </m:oMath>
                  </m:oMathPara>
                </a14:m>
                <a:endParaRPr lang="en-AU"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6480273" y="4098412"/>
                <a:ext cx="3141497" cy="1002710"/>
              </a:xfrm>
              <a:prstGeom prst="rect">
                <a:avLst/>
              </a:prstGeom>
              <a:blipFill rotWithShape="0">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194489" y="4111995"/>
                <a:ext cx="3141497" cy="1002710"/>
              </a:xfrm>
              <a:prstGeom prst="rect">
                <a:avLst/>
              </a:prstGeom>
              <a:noFill/>
            </p:spPr>
            <p:txBody>
              <a:bodyPr wrap="square" rtlCol="0">
                <a:spAutoFit/>
              </a:bodyPr>
              <a:lstStyle/>
              <a:p>
                <a:r>
                  <a:rPr lang="en-AU" sz="2400" dirty="0" smtClean="0"/>
                  <a:t>c)   </a:t>
                </a:r>
                <a14:m>
                  <m:oMath xmlns:m="http://schemas.openxmlformats.org/officeDocument/2006/math">
                    <m:r>
                      <m:rPr>
                        <m:sty m:val="p"/>
                      </m:rPr>
                      <a:rPr lang="en-AU" sz="2400">
                        <a:latin typeface="Cambria Math" panose="02040503050406030204" pitchFamily="18" charset="0"/>
                      </a:rPr>
                      <m:t>F</m:t>
                    </m:r>
                    <m:r>
                      <a:rPr lang="en-AU" sz="2400" b="0" i="0"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0" smtClean="0">
                            <a:latin typeface="Cambria Math" panose="02040503050406030204" pitchFamily="18" charset="0"/>
                          </a:rPr>
                          <m:t>9(150)</m:t>
                        </m:r>
                      </m:num>
                      <m:den>
                        <m:r>
                          <a:rPr lang="en-AU" sz="2400" b="0" i="0" smtClean="0">
                            <a:latin typeface="Cambria Math" panose="02040503050406030204" pitchFamily="18" charset="0"/>
                          </a:rPr>
                          <m:t>5</m:t>
                        </m:r>
                      </m:den>
                    </m:f>
                    <m:r>
                      <a:rPr lang="en-AU" sz="2400" b="0" i="0" smtClean="0">
                        <a:latin typeface="Cambria Math" panose="02040503050406030204" pitchFamily="18" charset="0"/>
                      </a:rPr>
                      <m:t>+32</m:t>
                    </m:r>
                  </m:oMath>
                </a14:m>
                <a:endParaRPr lang="en-AU" sz="2400" b="0" dirty="0" smtClean="0"/>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F</m:t>
                      </m:r>
                      <m:r>
                        <a:rPr lang="en-AU" sz="2400" b="0" i="1" smtClean="0">
                          <a:latin typeface="Cambria Math" panose="02040503050406030204" pitchFamily="18" charset="0"/>
                        </a:rPr>
                        <m:t>=302</m:t>
                      </m:r>
                    </m:oMath>
                  </m:oMathPara>
                </a14:m>
                <a:endParaRPr lang="en-AU"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9194489" y="4111995"/>
                <a:ext cx="3141497" cy="1002710"/>
              </a:xfrm>
              <a:prstGeom prst="rect">
                <a:avLst/>
              </a:prstGeom>
              <a:blipFill rotWithShape="0">
                <a:blip r:embed="rId5"/>
                <a:stretch>
                  <a:fillRect l="-2907"/>
                </a:stretch>
              </a:blipFill>
            </p:spPr>
            <p:txBody>
              <a:bodyPr/>
              <a:lstStyle/>
              <a:p>
                <a:r>
                  <a:rPr lang="en-AU">
                    <a:noFill/>
                  </a:rPr>
                  <a:t> </a:t>
                </a:r>
              </a:p>
            </p:txBody>
          </p:sp>
        </mc:Fallback>
      </mc:AlternateContent>
      <p:sp>
        <p:nvSpPr>
          <p:cNvPr id="8" name="TextBox 7"/>
          <p:cNvSpPr txBox="1"/>
          <p:nvPr/>
        </p:nvSpPr>
        <p:spPr>
          <a:xfrm>
            <a:off x="1778312" y="4173702"/>
            <a:ext cx="1643676" cy="461665"/>
          </a:xfrm>
          <a:prstGeom prst="rect">
            <a:avLst/>
          </a:prstGeom>
          <a:noFill/>
        </p:spPr>
        <p:txBody>
          <a:bodyPr wrap="square" rtlCol="0">
            <a:spAutoFit/>
          </a:bodyPr>
          <a:lstStyle/>
          <a:p>
            <a:r>
              <a:rPr lang="en-AU" sz="2400" dirty="0" smtClean="0">
                <a:solidFill>
                  <a:srgbClr val="FF0000"/>
                </a:solidFill>
              </a:rPr>
              <a:t>= 482°F</a:t>
            </a:r>
            <a:endParaRPr lang="en-AU" sz="2400" dirty="0">
              <a:solidFill>
                <a:srgbClr val="FF0000"/>
              </a:solidFill>
            </a:endParaRPr>
          </a:p>
        </p:txBody>
      </p:sp>
      <p:sp>
        <p:nvSpPr>
          <p:cNvPr id="10" name="TextBox 9"/>
          <p:cNvSpPr txBox="1"/>
          <p:nvPr/>
        </p:nvSpPr>
        <p:spPr>
          <a:xfrm>
            <a:off x="1778312" y="4544804"/>
            <a:ext cx="1643676" cy="461665"/>
          </a:xfrm>
          <a:prstGeom prst="rect">
            <a:avLst/>
          </a:prstGeom>
          <a:noFill/>
        </p:spPr>
        <p:txBody>
          <a:bodyPr wrap="square" rtlCol="0">
            <a:spAutoFit/>
          </a:bodyPr>
          <a:lstStyle/>
          <a:p>
            <a:r>
              <a:rPr lang="en-AU" sz="2400" dirty="0" smtClean="0">
                <a:solidFill>
                  <a:srgbClr val="FF0000"/>
                </a:solidFill>
              </a:rPr>
              <a:t>= 338°F</a:t>
            </a:r>
            <a:endParaRPr lang="en-AU" sz="2400" dirty="0">
              <a:solidFill>
                <a:srgbClr val="FF0000"/>
              </a:solidFill>
            </a:endParaRPr>
          </a:p>
        </p:txBody>
      </p:sp>
      <p:sp>
        <p:nvSpPr>
          <p:cNvPr id="11" name="TextBox 10"/>
          <p:cNvSpPr txBox="1"/>
          <p:nvPr/>
        </p:nvSpPr>
        <p:spPr>
          <a:xfrm>
            <a:off x="1778312" y="4915906"/>
            <a:ext cx="1643676" cy="461665"/>
          </a:xfrm>
          <a:prstGeom prst="rect">
            <a:avLst/>
          </a:prstGeom>
          <a:noFill/>
        </p:spPr>
        <p:txBody>
          <a:bodyPr wrap="square" rtlCol="0">
            <a:spAutoFit/>
          </a:bodyPr>
          <a:lstStyle/>
          <a:p>
            <a:r>
              <a:rPr lang="en-AU" sz="2400" dirty="0" smtClean="0">
                <a:solidFill>
                  <a:srgbClr val="FF0000"/>
                </a:solidFill>
              </a:rPr>
              <a:t>= 302°F</a:t>
            </a:r>
            <a:endParaRPr lang="en-AU" sz="2400" dirty="0">
              <a:solidFill>
                <a:srgbClr val="FF0000"/>
              </a:solidFill>
            </a:endParaRPr>
          </a:p>
        </p:txBody>
      </p:sp>
      <p:sp>
        <p:nvSpPr>
          <p:cNvPr id="12" name="TextBox 11"/>
          <p:cNvSpPr txBox="1"/>
          <p:nvPr/>
        </p:nvSpPr>
        <p:spPr>
          <a:xfrm>
            <a:off x="9951812" y="5957624"/>
            <a:ext cx="1374406" cy="461665"/>
          </a:xfrm>
          <a:prstGeom prst="rect">
            <a:avLst/>
          </a:prstGeom>
          <a:solidFill>
            <a:srgbClr val="FFFF00"/>
          </a:solidFill>
        </p:spPr>
        <p:txBody>
          <a:bodyPr wrap="square" rtlCol="0">
            <a:spAutoFit/>
          </a:bodyPr>
          <a:lstStyle/>
          <a:p>
            <a:r>
              <a:rPr lang="en-AU" sz="2400" dirty="0" smtClean="0"/>
              <a:t>You do d)</a:t>
            </a:r>
            <a:endParaRPr lang="en-AU" sz="2400" dirty="0"/>
          </a:p>
        </p:txBody>
      </p:sp>
      <p:sp>
        <p:nvSpPr>
          <p:cNvPr id="13" name="TextBox 12"/>
          <p:cNvSpPr txBox="1"/>
          <p:nvPr/>
        </p:nvSpPr>
        <p:spPr>
          <a:xfrm>
            <a:off x="1778312" y="5287007"/>
            <a:ext cx="1643676" cy="461665"/>
          </a:xfrm>
          <a:prstGeom prst="rect">
            <a:avLst/>
          </a:prstGeom>
          <a:noFill/>
        </p:spPr>
        <p:txBody>
          <a:bodyPr wrap="square" rtlCol="0">
            <a:spAutoFit/>
          </a:bodyPr>
          <a:lstStyle/>
          <a:p>
            <a:r>
              <a:rPr lang="en-AU" sz="2400" dirty="0" smtClean="0">
                <a:solidFill>
                  <a:srgbClr val="FF0000"/>
                </a:solidFill>
              </a:rPr>
              <a:t>= 212°F</a:t>
            </a:r>
            <a:endParaRPr lang="en-AU" sz="2400" dirty="0">
              <a:solidFill>
                <a:srgbClr val="FF0000"/>
              </a:solidFill>
            </a:endParaRPr>
          </a:p>
        </p:txBody>
      </p:sp>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1 Situation 1</a:t>
            </a:r>
            <a:endParaRPr lang="en-AU" sz="2400" dirty="0"/>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1 Situation 2</a:t>
            </a:r>
            <a:endParaRPr lang="en-AU" sz="2400" dirty="0"/>
          </a:p>
        </p:txBody>
      </p:sp>
      <mc:AlternateContent xmlns:mc="http://schemas.openxmlformats.org/markup-compatibility/2006" xmlns:a14="http://schemas.microsoft.com/office/drawing/2010/main">
        <mc:Choice Requires="a14">
          <p:sp>
            <p:nvSpPr>
              <p:cNvPr id="2" name="TextBox 1"/>
              <p:cNvSpPr txBox="1"/>
              <p:nvPr/>
            </p:nvSpPr>
            <p:spPr>
              <a:xfrm>
                <a:off x="123416" y="622690"/>
                <a:ext cx="11909639" cy="4537204"/>
              </a:xfrm>
              <a:prstGeom prst="rect">
                <a:avLst/>
              </a:prstGeom>
              <a:noFill/>
            </p:spPr>
            <p:txBody>
              <a:bodyPr wrap="square" rtlCol="0">
                <a:spAutoFit/>
              </a:bodyPr>
              <a:lstStyle/>
              <a:p>
                <a:r>
                  <a:rPr lang="en-AU" sz="2400" dirty="0" smtClean="0"/>
                  <a:t>For some medical procedures, the surface area of the patient’s body may need to be known. The </a:t>
                </a:r>
                <a:r>
                  <a:rPr lang="en-AU" sz="2400" dirty="0" err="1" smtClean="0"/>
                  <a:t>Mosteller</a:t>
                </a:r>
                <a:r>
                  <a:rPr lang="en-AU" sz="2400" dirty="0" smtClean="0"/>
                  <a:t> formula provides an estimate of the surface area of the patient (</a:t>
                </a:r>
                <a14:m>
                  <m:oMath xmlns:m="http://schemas.openxmlformats.org/officeDocument/2006/math">
                    <m:r>
                      <a:rPr lang="en-AU" sz="2400" b="0" i="1" smtClean="0">
                        <a:latin typeface="Cambria Math" panose="02040503050406030204" pitchFamily="18" charset="0"/>
                      </a:rPr>
                      <m:t>𝐴</m:t>
                    </m:r>
                  </m:oMath>
                </a14:m>
                <a:r>
                  <a:rPr lang="en-AU" sz="2400" dirty="0" smtClean="0"/>
                  <a:t> </a:t>
                </a:r>
                <a:r>
                  <a:rPr lang="en-AU" sz="2400" dirty="0" err="1" smtClean="0"/>
                  <a:t>sq</a:t>
                </a:r>
                <a:r>
                  <a:rPr lang="en-AU" sz="2400" dirty="0" smtClean="0"/>
                  <a:t> metres), using the weight of the patient, (</a:t>
                </a:r>
                <a14:m>
                  <m:oMath xmlns:m="http://schemas.openxmlformats.org/officeDocument/2006/math">
                    <m:r>
                      <a:rPr lang="en-AU" sz="2400" b="0" i="1" smtClean="0">
                        <a:latin typeface="Cambria Math" panose="02040503050406030204" pitchFamily="18" charset="0"/>
                      </a:rPr>
                      <m:t>𝑊</m:t>
                    </m:r>
                  </m:oMath>
                </a14:m>
                <a:r>
                  <a:rPr lang="en-AU" sz="2400" dirty="0" smtClean="0"/>
                  <a:t> kg), and the height of the patient, (</a:t>
                </a:r>
                <a14:m>
                  <m:oMath xmlns:m="http://schemas.openxmlformats.org/officeDocument/2006/math">
                    <m:r>
                      <a:rPr lang="en-AU" sz="2400" b="0" i="1" smtClean="0">
                        <a:latin typeface="Cambria Math" panose="02040503050406030204" pitchFamily="18" charset="0"/>
                      </a:rPr>
                      <m:t>h</m:t>
                    </m:r>
                  </m:oMath>
                </a14:m>
                <a:r>
                  <a:rPr lang="en-AU" sz="2400" dirty="0" smtClean="0"/>
                  <a:t> cm).</a:t>
                </a:r>
              </a:p>
              <a:p>
                <a:endParaRPr lang="en-AU" sz="2400" dirty="0"/>
              </a:p>
              <a:p>
                <a:r>
                  <a:rPr lang="en-AU" sz="2400" dirty="0" smtClean="0"/>
                  <a:t>The </a:t>
                </a:r>
                <a:r>
                  <a:rPr lang="en-AU" sz="2400" dirty="0" err="1" smtClean="0"/>
                  <a:t>Mosteller</a:t>
                </a:r>
                <a:r>
                  <a:rPr lang="en-AU" sz="2400" dirty="0" smtClean="0"/>
                  <a:t> formula:       </a:t>
                </a:r>
                <a14:m>
                  <m:oMath xmlns:m="http://schemas.openxmlformats.org/officeDocument/2006/math">
                    <m:r>
                      <a:rPr lang="en-AU" sz="2400" b="1" i="1" smtClean="0">
                        <a:latin typeface="Cambria Math" panose="02040503050406030204" pitchFamily="18" charset="0"/>
                      </a:rPr>
                      <m:t>𝑨</m:t>
                    </m:r>
                    <m:r>
                      <a:rPr lang="en-AU" sz="2400" b="1" i="1" smtClean="0">
                        <a:latin typeface="Cambria Math" panose="02040503050406030204" pitchFamily="18" charset="0"/>
                      </a:rPr>
                      <m:t>=</m:t>
                    </m:r>
                    <m:rad>
                      <m:radPr>
                        <m:degHide m:val="on"/>
                        <m:ctrlPr>
                          <a:rPr lang="en-AU" sz="2400" b="1" i="1" smtClean="0">
                            <a:latin typeface="Cambria Math" panose="02040503050406030204" pitchFamily="18" charset="0"/>
                          </a:rPr>
                        </m:ctrlPr>
                      </m:radPr>
                      <m:deg/>
                      <m:e>
                        <m:f>
                          <m:fPr>
                            <m:ctrlPr>
                              <a:rPr lang="en-AU" sz="2400" b="1" i="1" smtClean="0">
                                <a:latin typeface="Cambria Math" panose="02040503050406030204" pitchFamily="18" charset="0"/>
                              </a:rPr>
                            </m:ctrlPr>
                          </m:fPr>
                          <m:num>
                            <m:r>
                              <a:rPr lang="en-AU" sz="2400" b="1" i="1" smtClean="0">
                                <a:latin typeface="Cambria Math" panose="02040503050406030204" pitchFamily="18" charset="0"/>
                              </a:rPr>
                              <m:t>𝑾</m:t>
                            </m:r>
                            <m:r>
                              <a:rPr lang="en-AU" sz="2400" b="1" i="1" smtClean="0">
                                <a:latin typeface="Cambria Math" panose="02040503050406030204" pitchFamily="18" charset="0"/>
                                <a:ea typeface="Cambria Math" panose="02040503050406030204" pitchFamily="18" charset="0"/>
                              </a:rPr>
                              <m:t>×</m:t>
                            </m:r>
                            <m:r>
                              <a:rPr lang="en-AU" sz="2400" b="1" i="1" smtClean="0">
                                <a:latin typeface="Cambria Math" panose="02040503050406030204" pitchFamily="18" charset="0"/>
                                <a:ea typeface="Cambria Math" panose="02040503050406030204" pitchFamily="18" charset="0"/>
                              </a:rPr>
                              <m:t>𝒉</m:t>
                            </m:r>
                          </m:num>
                          <m:den>
                            <m:r>
                              <a:rPr lang="en-AU" sz="2400" b="1" i="1" smtClean="0">
                                <a:latin typeface="Cambria Math" panose="02040503050406030204" pitchFamily="18" charset="0"/>
                              </a:rPr>
                              <m:t>𝟑𝟔𝟎𝟎</m:t>
                            </m:r>
                          </m:den>
                        </m:f>
                      </m:e>
                    </m:rad>
                  </m:oMath>
                </a14:m>
                <a:endParaRPr lang="en-AU" sz="2400" b="1" dirty="0" smtClean="0"/>
              </a:p>
              <a:p>
                <a:endParaRPr lang="en-AU" sz="2400" b="1" dirty="0"/>
              </a:p>
              <a:p>
                <a:r>
                  <a:rPr lang="en-AU" sz="2400" dirty="0" smtClean="0"/>
                  <a:t>Using this formula, estimate the surface area of a patient with:</a:t>
                </a:r>
              </a:p>
              <a:p>
                <a:endParaRPr lang="en-AU" sz="2400" dirty="0"/>
              </a:p>
              <a:p>
                <a:pPr marL="457200" indent="-457200">
                  <a:buAutoNum type="alphaLcParenR"/>
                </a:pPr>
                <a:r>
                  <a:rPr lang="en-AU" sz="2400" dirty="0" smtClean="0"/>
                  <a:t>W 80 kg, h 169 cm</a:t>
                </a:r>
              </a:p>
              <a:p>
                <a:pPr marL="457200" indent="-457200">
                  <a:buAutoNum type="alphaLcParenR"/>
                </a:pPr>
                <a:r>
                  <a:rPr lang="en-AU" sz="2400" dirty="0" smtClean="0"/>
                  <a:t>W 61 kg, h 155 cm</a:t>
                </a:r>
              </a:p>
              <a:p>
                <a:pPr marL="457200" indent="-457200">
                  <a:buAutoNum type="alphaLcParenR"/>
                </a:pPr>
                <a:r>
                  <a:rPr lang="en-AU" sz="2400" dirty="0" smtClean="0"/>
                  <a:t>W 70 kg, h 159 cm</a:t>
                </a:r>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23416" y="622690"/>
                <a:ext cx="11909639" cy="4537204"/>
              </a:xfrm>
              <a:prstGeom prst="rect">
                <a:avLst/>
              </a:prstGeom>
              <a:blipFill rotWithShape="0">
                <a:blip r:embed="rId2"/>
                <a:stretch>
                  <a:fillRect l="-819" t="-1075" b="-2285"/>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4294313" y="3699834"/>
                <a:ext cx="3567843" cy="19607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a</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A</m:t>
                      </m:r>
                      <m:r>
                        <a:rPr lang="en-AU" sz="2400" b="0" i="0"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f>
                            <m:fPr>
                              <m:ctrlPr>
                                <a:rPr lang="en-AU" sz="2400" b="0" i="1" smtClean="0">
                                  <a:latin typeface="Cambria Math" panose="02040503050406030204" pitchFamily="18" charset="0"/>
                                </a:rPr>
                              </m:ctrlPr>
                            </m:fPr>
                            <m:num>
                              <m:r>
                                <a:rPr lang="en-AU" sz="2400" b="0" i="0" smtClean="0">
                                  <a:latin typeface="Cambria Math" panose="02040503050406030204" pitchFamily="18" charset="0"/>
                                </a:rPr>
                                <m:t>(80)</m:t>
                              </m:r>
                              <m:r>
                                <a:rPr lang="en-AU" sz="2400" b="0" i="0" smtClean="0">
                                  <a:latin typeface="Cambria Math" panose="02040503050406030204" pitchFamily="18" charset="0"/>
                                  <a:ea typeface="Cambria Math" panose="02040503050406030204" pitchFamily="18" charset="0"/>
                                </a:rPr>
                                <m:t>×(169)</m:t>
                              </m:r>
                            </m:num>
                            <m:den>
                              <m:r>
                                <a:rPr lang="en-AU" sz="2400" b="0" i="0" smtClean="0">
                                  <a:latin typeface="Cambria Math" panose="02040503050406030204" pitchFamily="18" charset="0"/>
                                </a:rPr>
                                <m:t>3600</m:t>
                              </m:r>
                            </m:den>
                          </m:f>
                        </m:e>
                      </m:rad>
                    </m:oMath>
                  </m:oMathPara>
                </a14:m>
                <a:endParaRPr lang="en-AU" sz="2400" b="0" dirty="0" smtClean="0"/>
              </a:p>
              <a:p>
                <a:r>
                  <a:rPr lang="en-AU" sz="2400" dirty="0" smtClean="0"/>
                  <a:t>      </a:t>
                </a:r>
                <a14:m>
                  <m:oMath xmlns:m="http://schemas.openxmlformats.org/officeDocument/2006/math">
                    <m:r>
                      <m:rPr>
                        <m:sty m:val="p"/>
                      </m:rPr>
                      <a:rPr lang="en-AU" sz="2400" b="0" i="0" smtClean="0">
                        <a:latin typeface="Cambria Math" panose="02040503050406030204" pitchFamily="18" charset="0"/>
                      </a:rPr>
                      <m:t>A</m:t>
                    </m:r>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3.755555556</m:t>
                        </m:r>
                      </m:e>
                    </m:rad>
                  </m:oMath>
                </a14:m>
                <a:endParaRPr lang="en-AU" sz="2400" dirty="0" smtClean="0"/>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A</m:t>
                      </m:r>
                      <m:r>
                        <a:rPr lang="en-AU" sz="2400" b="0" i="1" smtClean="0">
                          <a:latin typeface="Cambria Math" panose="02040503050406030204" pitchFamily="18" charset="0"/>
                        </a:rPr>
                        <m:t>=1.94</m:t>
                      </m:r>
                    </m:oMath>
                  </m:oMathPara>
                </a14:m>
                <a:endParaRPr lang="en-AU"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4294313" y="3699834"/>
                <a:ext cx="3567843" cy="1960730"/>
              </a:xfrm>
              <a:prstGeom prst="rect">
                <a:avLst/>
              </a:prstGeom>
              <a:blipFill rotWithShape="0">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8008946" y="3699834"/>
                <a:ext cx="3567843" cy="155286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400" b="0" i="0" smtClean="0">
                          <a:latin typeface="Cambria Math" panose="02040503050406030204" pitchFamily="18" charset="0"/>
                        </a:rPr>
                        <m:t> </m:t>
                      </m:r>
                      <m:r>
                        <m:rPr>
                          <m:sty m:val="p"/>
                        </m:rPr>
                        <a:rPr lang="en-AU" sz="2400" b="0" i="0" smtClean="0">
                          <a:latin typeface="Cambria Math" panose="02040503050406030204" pitchFamily="18" charset="0"/>
                        </a:rPr>
                        <m:t>b</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A</m:t>
                      </m:r>
                      <m:r>
                        <a:rPr lang="en-AU" sz="2400" b="0" i="0"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f>
                            <m:fPr>
                              <m:ctrlPr>
                                <a:rPr lang="en-AU" sz="2400" b="0" i="1" smtClean="0">
                                  <a:latin typeface="Cambria Math" panose="02040503050406030204" pitchFamily="18" charset="0"/>
                                </a:rPr>
                              </m:ctrlPr>
                            </m:fPr>
                            <m:num>
                              <m:r>
                                <a:rPr lang="en-AU" sz="2400" b="0" i="0" smtClean="0">
                                  <a:latin typeface="Cambria Math" panose="02040503050406030204" pitchFamily="18" charset="0"/>
                                </a:rPr>
                                <m:t>(61)</m:t>
                              </m:r>
                              <m:r>
                                <a:rPr lang="en-AU" sz="2400" b="0" i="0" smtClean="0">
                                  <a:latin typeface="Cambria Math" panose="02040503050406030204" pitchFamily="18" charset="0"/>
                                  <a:ea typeface="Cambria Math" panose="02040503050406030204" pitchFamily="18" charset="0"/>
                                </a:rPr>
                                <m:t>×(155)</m:t>
                              </m:r>
                            </m:num>
                            <m:den>
                              <m:r>
                                <a:rPr lang="en-AU" sz="2400" b="0" i="0" smtClean="0">
                                  <a:latin typeface="Cambria Math" panose="02040503050406030204" pitchFamily="18" charset="0"/>
                                </a:rPr>
                                <m:t>3600</m:t>
                              </m:r>
                            </m:den>
                          </m:f>
                        </m:e>
                      </m:rad>
                    </m:oMath>
                  </m:oMathPara>
                </a14:m>
                <a:endParaRPr lang="en-AU" sz="2400" dirty="0" smtClean="0"/>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rPr>
                        <m:t>A</m:t>
                      </m:r>
                      <m:r>
                        <a:rPr lang="en-AU" sz="2400" b="0" i="1" smtClean="0">
                          <a:latin typeface="Cambria Math" panose="02040503050406030204" pitchFamily="18" charset="0"/>
                        </a:rPr>
                        <m:t>=1.62</m:t>
                      </m:r>
                    </m:oMath>
                  </m:oMathPara>
                </a14:m>
                <a:endParaRPr lang="en-AU"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8008946" y="3699834"/>
                <a:ext cx="3567843" cy="1552861"/>
              </a:xfrm>
              <a:prstGeom prst="rect">
                <a:avLst/>
              </a:prstGeom>
              <a:blipFill rotWithShape="0">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957306" y="3904432"/>
                <a:ext cx="1761481" cy="461665"/>
              </a:xfrm>
              <a:prstGeom prst="rect">
                <a:avLst/>
              </a:prstGeom>
              <a:noFill/>
            </p:spPr>
            <p:txBody>
              <a:bodyPr wrap="square" rtlCol="0">
                <a:spAutoFit/>
              </a:bodyPr>
              <a:lstStyle/>
              <a:p>
                <a:r>
                  <a:rPr lang="en-AU" sz="2400" dirty="0" smtClean="0">
                    <a:solidFill>
                      <a:srgbClr val="FF0000"/>
                    </a:solidFill>
                  </a:rPr>
                  <a:t>A = 1.94</a:t>
                </a:r>
                <a14:m>
                  <m:oMath xmlns:m="http://schemas.openxmlformats.org/officeDocument/2006/math">
                    <m:sSup>
                      <m:sSupPr>
                        <m:ctrlPr>
                          <a:rPr lang="en-AU" sz="2400" i="1" smtClean="0">
                            <a:solidFill>
                              <a:srgbClr val="FF0000"/>
                            </a:solidFill>
                            <a:latin typeface="Cambria Math" panose="02040503050406030204" pitchFamily="18" charset="0"/>
                          </a:rPr>
                        </m:ctrlPr>
                      </m:sSupPr>
                      <m:e>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𝑚</m:t>
                        </m:r>
                      </m:e>
                      <m:sup>
                        <m:r>
                          <a:rPr lang="en-AU" sz="2400" b="0" i="1" smtClean="0">
                            <a:solidFill>
                              <a:srgbClr val="FF0000"/>
                            </a:solidFill>
                            <a:latin typeface="Cambria Math" panose="02040503050406030204" pitchFamily="18" charset="0"/>
                          </a:rPr>
                          <m:t>2</m:t>
                        </m:r>
                      </m:sup>
                    </m:sSup>
                  </m:oMath>
                </a14:m>
                <a:endParaRPr lang="en-AU" sz="2400"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957306" y="3904432"/>
                <a:ext cx="1761481" cy="461665"/>
              </a:xfrm>
              <a:prstGeom prst="rect">
                <a:avLst/>
              </a:prstGeom>
              <a:blipFill rotWithShape="0">
                <a:blip r:embed="rId5"/>
                <a:stretch>
                  <a:fillRect l="-5190" t="-10526" b="-2894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957305" y="4274547"/>
                <a:ext cx="1761481" cy="461665"/>
              </a:xfrm>
              <a:prstGeom prst="rect">
                <a:avLst/>
              </a:prstGeom>
              <a:noFill/>
            </p:spPr>
            <p:txBody>
              <a:bodyPr wrap="square" rtlCol="0">
                <a:spAutoFit/>
              </a:bodyPr>
              <a:lstStyle/>
              <a:p>
                <a:r>
                  <a:rPr lang="en-AU" sz="2400" dirty="0" smtClean="0">
                    <a:solidFill>
                      <a:srgbClr val="FF0000"/>
                    </a:solidFill>
                  </a:rPr>
                  <a:t>A = 1.62</a:t>
                </a:r>
                <a14:m>
                  <m:oMath xmlns:m="http://schemas.openxmlformats.org/officeDocument/2006/math">
                    <m:sSup>
                      <m:sSupPr>
                        <m:ctrlPr>
                          <a:rPr lang="en-AU" sz="2400" i="1" smtClean="0">
                            <a:solidFill>
                              <a:srgbClr val="FF0000"/>
                            </a:solidFill>
                            <a:latin typeface="Cambria Math" panose="02040503050406030204" pitchFamily="18" charset="0"/>
                          </a:rPr>
                        </m:ctrlPr>
                      </m:sSupPr>
                      <m:e>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𝑚</m:t>
                        </m:r>
                      </m:e>
                      <m:sup>
                        <m:r>
                          <a:rPr lang="en-AU" sz="2400" b="0" i="1" smtClean="0">
                            <a:solidFill>
                              <a:srgbClr val="FF0000"/>
                            </a:solidFill>
                            <a:latin typeface="Cambria Math" panose="02040503050406030204" pitchFamily="18" charset="0"/>
                          </a:rPr>
                          <m:t>2</m:t>
                        </m:r>
                      </m:sup>
                    </m:sSup>
                  </m:oMath>
                </a14:m>
                <a:endParaRPr lang="en-AU" sz="2400" dirty="0">
                  <a:solidFill>
                    <a:srgbClr val="FF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2957305" y="4274547"/>
                <a:ext cx="1761481" cy="461665"/>
              </a:xfrm>
              <a:prstGeom prst="rect">
                <a:avLst/>
              </a:prstGeom>
              <a:blipFill rotWithShape="0">
                <a:blip r:embed="rId6"/>
                <a:stretch>
                  <a:fillRect l="-5190" t="-10526" b="-2894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957306" y="4644662"/>
                <a:ext cx="1761481" cy="461665"/>
              </a:xfrm>
              <a:prstGeom prst="rect">
                <a:avLst/>
              </a:prstGeom>
              <a:noFill/>
            </p:spPr>
            <p:txBody>
              <a:bodyPr wrap="square" rtlCol="0">
                <a:spAutoFit/>
              </a:bodyPr>
              <a:lstStyle/>
              <a:p>
                <a:r>
                  <a:rPr lang="en-AU" sz="2400" dirty="0" smtClean="0">
                    <a:solidFill>
                      <a:srgbClr val="FF0000"/>
                    </a:solidFill>
                  </a:rPr>
                  <a:t>A = 1.76</a:t>
                </a:r>
                <a14:m>
                  <m:oMath xmlns:m="http://schemas.openxmlformats.org/officeDocument/2006/math">
                    <m:sSup>
                      <m:sSupPr>
                        <m:ctrlPr>
                          <a:rPr lang="en-AU" sz="2400" i="1" smtClean="0">
                            <a:solidFill>
                              <a:srgbClr val="FF0000"/>
                            </a:solidFill>
                            <a:latin typeface="Cambria Math" panose="02040503050406030204" pitchFamily="18" charset="0"/>
                          </a:rPr>
                        </m:ctrlPr>
                      </m:sSupPr>
                      <m:e>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𝑚</m:t>
                        </m:r>
                      </m:e>
                      <m:sup>
                        <m:r>
                          <a:rPr lang="en-AU" sz="2400" b="0" i="1" smtClean="0">
                            <a:solidFill>
                              <a:srgbClr val="FF0000"/>
                            </a:solidFill>
                            <a:latin typeface="Cambria Math" panose="02040503050406030204" pitchFamily="18" charset="0"/>
                          </a:rPr>
                          <m:t>2</m:t>
                        </m:r>
                      </m:sup>
                    </m:sSup>
                  </m:oMath>
                </a14:m>
                <a:endParaRPr lang="en-AU" sz="2400" dirty="0">
                  <a:solidFill>
                    <a:srgbClr val="FF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2957306" y="4644662"/>
                <a:ext cx="1761481" cy="461665"/>
              </a:xfrm>
              <a:prstGeom prst="rect">
                <a:avLst/>
              </a:prstGeom>
              <a:blipFill rotWithShape="0">
                <a:blip r:embed="rId7"/>
                <a:stretch>
                  <a:fillRect l="-5190" t="-10526" b="-28947"/>
                </a:stretch>
              </a:blipFill>
            </p:spPr>
            <p:txBody>
              <a:bodyPr/>
              <a:lstStyle/>
              <a:p>
                <a:r>
                  <a:rPr lang="en-AU">
                    <a:noFill/>
                  </a:rPr>
                  <a:t> </a:t>
                </a:r>
              </a:p>
            </p:txBody>
          </p:sp>
        </mc:Fallback>
      </mc:AlternateContent>
      <p:sp>
        <p:nvSpPr>
          <p:cNvPr id="19" name="TextBox 18"/>
          <p:cNvSpPr txBox="1"/>
          <p:nvPr/>
        </p:nvSpPr>
        <p:spPr>
          <a:xfrm>
            <a:off x="9951812" y="5957624"/>
            <a:ext cx="1374406" cy="461665"/>
          </a:xfrm>
          <a:prstGeom prst="rect">
            <a:avLst/>
          </a:prstGeom>
          <a:solidFill>
            <a:srgbClr val="FFFF00"/>
          </a:solidFill>
        </p:spPr>
        <p:txBody>
          <a:bodyPr wrap="square" rtlCol="0">
            <a:spAutoFit/>
          </a:bodyPr>
          <a:lstStyle/>
          <a:p>
            <a:r>
              <a:rPr lang="en-AU" sz="2400" dirty="0" smtClean="0"/>
              <a:t>You do c)</a:t>
            </a:r>
            <a:endParaRPr lang="en-AU" sz="2400" dirty="0"/>
          </a:p>
        </p:txBody>
      </p:sp>
    </p:spTree>
    <p:extLst>
      <p:ext uri="{BB962C8B-B14F-4D97-AF65-F5344CB8AC3E}">
        <p14:creationId xmlns:p14="http://schemas.microsoft.com/office/powerpoint/2010/main" val="169284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18"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061507" cy="461665"/>
          </a:xfrm>
          <a:prstGeom prst="rect">
            <a:avLst/>
          </a:prstGeom>
          <a:solidFill>
            <a:srgbClr val="92D050"/>
          </a:solidFill>
        </p:spPr>
        <p:txBody>
          <a:bodyPr wrap="square" rtlCol="0">
            <a:spAutoFit/>
          </a:bodyPr>
          <a:lstStyle/>
          <a:p>
            <a:r>
              <a:rPr lang="en-AU" sz="2400" dirty="0" smtClean="0"/>
              <a:t>Y11 Apps Chapter 1 Example 1</a:t>
            </a:r>
            <a:endParaRPr lang="en-AU" sz="2400" dirty="0"/>
          </a:p>
        </p:txBody>
      </p:sp>
      <mc:AlternateContent xmlns:mc="http://schemas.openxmlformats.org/markup-compatibility/2006" xmlns:a14="http://schemas.microsoft.com/office/drawing/2010/main">
        <mc:Choice Requires="a14">
          <p:sp>
            <p:nvSpPr>
              <p:cNvPr id="2" name="TextBox 1"/>
              <p:cNvSpPr txBox="1"/>
              <p:nvPr/>
            </p:nvSpPr>
            <p:spPr>
              <a:xfrm>
                <a:off x="190734" y="667568"/>
                <a:ext cx="11550611" cy="461665"/>
              </a:xfrm>
              <a:prstGeom prst="rect">
                <a:avLst/>
              </a:prstGeom>
              <a:noFill/>
            </p:spPr>
            <p:txBody>
              <a:bodyPr wrap="square" rtlCol="0">
                <a:spAutoFit/>
              </a:bodyPr>
              <a:lstStyle/>
              <a:p>
                <a:r>
                  <a:rPr lang="en-AU" sz="2400" dirty="0" smtClean="0"/>
                  <a:t>Formula: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m:t>
                    </m:r>
                    <m:r>
                      <a:rPr lang="en-AU" sz="2400" b="0" i="1" smtClean="0">
                        <a:latin typeface="Cambria Math" panose="02040503050406030204" pitchFamily="18" charset="0"/>
                      </a:rPr>
                      <m:t>𝑃</m:t>
                    </m:r>
                    <m:r>
                      <a:rPr lang="en-AU" sz="2400" b="0" i="1" smtClean="0">
                        <a:latin typeface="Cambria Math" panose="02040503050406030204" pitchFamily="18" charset="0"/>
                      </a:rPr>
                      <m:t>+</m:t>
                    </m:r>
                    <m:r>
                      <a:rPr lang="en-AU" sz="2400" b="0" i="1" smtClean="0">
                        <a:latin typeface="Cambria Math" panose="02040503050406030204" pitchFamily="18" charset="0"/>
                      </a:rPr>
                      <m:t>𝐼</m:t>
                    </m:r>
                  </m:oMath>
                </a14:m>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90734" y="667568"/>
                <a:ext cx="11550611" cy="461665"/>
              </a:xfrm>
              <a:prstGeom prst="rect">
                <a:avLst/>
              </a:prstGeom>
              <a:blipFill rotWithShape="0">
                <a:blip r:embed="rId2"/>
                <a:stretch>
                  <a:fillRect l="-792" t="-10667" b="-306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90733" y="1242803"/>
                <a:ext cx="11550611" cy="461665"/>
              </a:xfrm>
              <a:prstGeom prst="rect">
                <a:avLst/>
              </a:prstGeom>
              <a:noFill/>
            </p:spPr>
            <p:txBody>
              <a:bodyPr wrap="square" rtlCol="0">
                <a:spAutoFit/>
              </a:bodyPr>
              <a:lstStyle/>
              <a:p>
                <a:r>
                  <a:rPr lang="en-AU" sz="2400" dirty="0" smtClean="0"/>
                  <a:t>Find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 </m:t>
                    </m:r>
                  </m:oMath>
                </a14:m>
                <a:r>
                  <a:rPr lang="en-AU" sz="2400" dirty="0" smtClean="0"/>
                  <a:t>given that </a:t>
                </a:r>
                <a14:m>
                  <m:oMath xmlns:m="http://schemas.openxmlformats.org/officeDocument/2006/math">
                    <m:r>
                      <a:rPr lang="en-AU" sz="2400" b="0" i="1" smtClean="0">
                        <a:latin typeface="Cambria Math" panose="02040503050406030204" pitchFamily="18" charset="0"/>
                      </a:rPr>
                      <m:t>𝑃</m:t>
                    </m:r>
                    <m:r>
                      <a:rPr lang="en-AU" sz="2400" b="0" i="0" smtClean="0">
                        <a:latin typeface="Cambria Math" panose="02040503050406030204" pitchFamily="18" charset="0"/>
                      </a:rPr>
                      <m:t>=4000</m:t>
                    </m:r>
                  </m:oMath>
                </a14:m>
                <a:r>
                  <a:rPr lang="en-AU" sz="2400" dirty="0" smtClean="0"/>
                  <a:t> and </a:t>
                </a:r>
                <a14:m>
                  <m:oMath xmlns:m="http://schemas.openxmlformats.org/officeDocument/2006/math">
                    <m:r>
                      <a:rPr lang="en-AU" sz="2400" b="0" i="1" smtClean="0">
                        <a:latin typeface="Cambria Math" panose="02040503050406030204" pitchFamily="18" charset="0"/>
                      </a:rPr>
                      <m:t>𝐼</m:t>
                    </m:r>
                    <m:r>
                      <a:rPr lang="en-AU" sz="2400" b="0" i="1" smtClean="0">
                        <a:latin typeface="Cambria Math" panose="02040503050406030204" pitchFamily="18" charset="0"/>
                      </a:rPr>
                      <m:t>=525</m:t>
                    </m:r>
                  </m:oMath>
                </a14:m>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90733" y="1242803"/>
                <a:ext cx="11550611" cy="461665"/>
              </a:xfrm>
              <a:prstGeom prst="rect">
                <a:avLst/>
              </a:prstGeom>
              <a:blipFill rotWithShape="0">
                <a:blip r:embed="rId3"/>
                <a:stretch>
                  <a:fillRect l="-792" t="-10526" b="-28947"/>
                </a:stretch>
              </a:blipFill>
            </p:spPr>
            <p:txBody>
              <a:bodyPr/>
              <a:lstStyle/>
              <a:p>
                <a:r>
                  <a:rPr lang="en-AU">
                    <a:noFill/>
                  </a:rPr>
                  <a:t> </a:t>
                </a:r>
              </a:p>
            </p:txBody>
          </p:sp>
        </mc:Fallback>
      </mc:AlternateContent>
      <p:sp>
        <p:nvSpPr>
          <p:cNvPr id="3" name="TextBox 2"/>
          <p:cNvSpPr txBox="1"/>
          <p:nvPr/>
        </p:nvSpPr>
        <p:spPr>
          <a:xfrm>
            <a:off x="190733" y="2081242"/>
            <a:ext cx="8240820" cy="1938992"/>
          </a:xfrm>
          <a:prstGeom prst="rect">
            <a:avLst/>
          </a:prstGeom>
          <a:noFill/>
        </p:spPr>
        <p:txBody>
          <a:bodyPr wrap="square" rtlCol="0">
            <a:spAutoFit/>
          </a:bodyPr>
          <a:lstStyle/>
          <a:p>
            <a:r>
              <a:rPr lang="en-AU" sz="2400" dirty="0" smtClean="0"/>
              <a:t>Step 1: Write out the formula.</a:t>
            </a:r>
          </a:p>
          <a:p>
            <a:endParaRPr lang="en-AU" sz="2400" dirty="0"/>
          </a:p>
          <a:p>
            <a:r>
              <a:rPr lang="en-AU" sz="2400" dirty="0" smtClean="0"/>
              <a:t>Step 2: Substitute in the known values.</a:t>
            </a:r>
          </a:p>
          <a:p>
            <a:endParaRPr lang="en-AU" sz="2400" dirty="0"/>
          </a:p>
          <a:p>
            <a:r>
              <a:rPr lang="en-AU" sz="2400" dirty="0" smtClean="0"/>
              <a:t>Step 3: Evaluate the answer.</a:t>
            </a:r>
            <a:endParaRPr lang="en-AU" sz="2400" dirty="0"/>
          </a:p>
        </p:txBody>
      </p:sp>
      <mc:AlternateContent xmlns:mc="http://schemas.openxmlformats.org/markup-compatibility/2006" xmlns:a14="http://schemas.microsoft.com/office/drawing/2010/main">
        <mc:Choice Requires="a14">
          <p:sp>
            <p:nvSpPr>
              <p:cNvPr id="6" name="TextBox 5"/>
              <p:cNvSpPr txBox="1"/>
              <p:nvPr/>
            </p:nvSpPr>
            <p:spPr>
              <a:xfrm>
                <a:off x="5469570" y="2081242"/>
                <a:ext cx="51161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m:t>
                      </m:r>
                      <m:r>
                        <a:rPr lang="en-AU" sz="2400" b="0" i="1" smtClean="0">
                          <a:latin typeface="Cambria Math" panose="02040503050406030204" pitchFamily="18" charset="0"/>
                        </a:rPr>
                        <m:t>𝑃</m:t>
                      </m:r>
                      <m:r>
                        <a:rPr lang="en-AU" sz="2400" b="0" i="1" smtClean="0">
                          <a:latin typeface="Cambria Math" panose="02040503050406030204" pitchFamily="18" charset="0"/>
                        </a:rPr>
                        <m:t>+</m:t>
                      </m:r>
                      <m:r>
                        <a:rPr lang="en-AU" sz="2400" b="0" i="1" smtClean="0">
                          <a:latin typeface="Cambria Math" panose="02040503050406030204" pitchFamily="18" charset="0"/>
                        </a:rPr>
                        <m:t>𝐼</m:t>
                      </m:r>
                    </m:oMath>
                  </m:oMathPara>
                </a14:m>
                <a:endParaRPr lang="en-AU"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5469570" y="2081242"/>
                <a:ext cx="5116152" cy="461665"/>
              </a:xfrm>
              <a:prstGeom prst="rect">
                <a:avLst/>
              </a:prstGeom>
              <a:blipFill rotWithShape="0">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69570" y="2819905"/>
                <a:ext cx="51161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=(4000)+(525)</m:t>
                      </m:r>
                    </m:oMath>
                  </m:oMathPara>
                </a14:m>
                <a:endParaRPr lang="en-AU"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5469570" y="2819905"/>
                <a:ext cx="5116152" cy="461665"/>
              </a:xfrm>
              <a:prstGeom prst="rect">
                <a:avLst/>
              </a:prstGeom>
              <a:blipFill rotWithShape="0">
                <a:blip r:embed="rId5"/>
                <a:stretch>
                  <a:fillRect b="-186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69570" y="3539820"/>
                <a:ext cx="51161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=4525</m:t>
                      </m:r>
                    </m:oMath>
                  </m:oMathPara>
                </a14:m>
                <a:endParaRPr lang="en-AU"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5469570" y="3539820"/>
                <a:ext cx="5116152" cy="461665"/>
              </a:xfrm>
              <a:prstGeom prst="rect">
                <a:avLst/>
              </a:prstGeom>
              <a:blipFill rotWithShape="0">
                <a:blip r:embed="rId6"/>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66018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061507" cy="461665"/>
          </a:xfrm>
          <a:prstGeom prst="rect">
            <a:avLst/>
          </a:prstGeom>
          <a:solidFill>
            <a:srgbClr val="92D050"/>
          </a:solidFill>
        </p:spPr>
        <p:txBody>
          <a:bodyPr wrap="square" rtlCol="0">
            <a:spAutoFit/>
          </a:bodyPr>
          <a:lstStyle/>
          <a:p>
            <a:r>
              <a:rPr lang="en-AU" sz="2400" dirty="0" smtClean="0"/>
              <a:t>Y11 Apps Chapter 1 Example 2</a:t>
            </a:r>
            <a:endParaRPr lang="en-AU" sz="2400" dirty="0"/>
          </a:p>
        </p:txBody>
      </p:sp>
      <mc:AlternateContent xmlns:mc="http://schemas.openxmlformats.org/markup-compatibility/2006" xmlns:a14="http://schemas.microsoft.com/office/drawing/2010/main">
        <mc:Choice Requires="a14">
          <p:sp>
            <p:nvSpPr>
              <p:cNvPr id="3" name="TextBox 2"/>
              <p:cNvSpPr txBox="1"/>
              <p:nvPr/>
            </p:nvSpPr>
            <p:spPr>
              <a:xfrm>
                <a:off x="190734" y="667568"/>
                <a:ext cx="11550611" cy="637290"/>
              </a:xfrm>
              <a:prstGeom prst="rect">
                <a:avLst/>
              </a:prstGeom>
              <a:noFill/>
            </p:spPr>
            <p:txBody>
              <a:bodyPr wrap="square" rtlCol="0">
                <a:spAutoFit/>
              </a:bodyPr>
              <a:lstStyle/>
              <a:p>
                <a:r>
                  <a:rPr lang="en-AU" sz="2400" dirty="0" smtClean="0"/>
                  <a:t>Formula: </a:t>
                </a:r>
                <a14:m>
                  <m:oMath xmlns:m="http://schemas.openxmlformats.org/officeDocument/2006/math">
                    <m:r>
                      <a:rPr lang="en-AU" sz="2400" b="0" i="1" smtClean="0">
                        <a:latin typeface="Cambria Math" panose="02040503050406030204" pitchFamily="18" charset="0"/>
                      </a:rPr>
                      <m:t>𝑠</m:t>
                    </m:r>
                    <m:r>
                      <a:rPr lang="en-AU" sz="2400" b="0" i="1" smtClean="0">
                        <a:latin typeface="Cambria Math" panose="02040503050406030204" pitchFamily="18" charset="0"/>
                      </a:rPr>
                      <m:t>=</m:t>
                    </m:r>
                    <m:r>
                      <a:rPr lang="en-AU" sz="2400" b="0" i="1" smtClean="0">
                        <a:latin typeface="Cambria Math" panose="02040503050406030204" pitchFamily="18" charset="0"/>
                      </a:rPr>
                      <m:t>𝑢𝑡</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𝑎𝑡</m:t>
                        </m:r>
                      </m:e>
                      <m:sup>
                        <m:r>
                          <a:rPr lang="en-AU" sz="2400" b="0" i="1" smtClean="0">
                            <a:latin typeface="Cambria Math" panose="02040503050406030204" pitchFamily="18" charset="0"/>
                          </a:rPr>
                          <m:t>2</m:t>
                        </m:r>
                      </m:sup>
                    </m:sSup>
                  </m:oMath>
                </a14:m>
                <a:endParaRPr lang="en-AU"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190734" y="667568"/>
                <a:ext cx="11550611" cy="637290"/>
              </a:xfrm>
              <a:prstGeom prst="rect">
                <a:avLst/>
              </a:prstGeom>
              <a:blipFill rotWithShape="0">
                <a:blip r:embed="rId2"/>
                <a:stretch>
                  <a:fillRect l="-792" b="-673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90733" y="1304858"/>
                <a:ext cx="11550611" cy="461665"/>
              </a:xfrm>
              <a:prstGeom prst="rect">
                <a:avLst/>
              </a:prstGeom>
              <a:noFill/>
            </p:spPr>
            <p:txBody>
              <a:bodyPr wrap="square" rtlCol="0">
                <a:spAutoFit/>
              </a:bodyPr>
              <a:lstStyle/>
              <a:p>
                <a:r>
                  <a:rPr lang="en-AU" sz="2400" dirty="0" smtClean="0"/>
                  <a:t>Find </a:t>
                </a:r>
                <a14:m>
                  <m:oMath xmlns:m="http://schemas.openxmlformats.org/officeDocument/2006/math">
                    <m:r>
                      <m:rPr>
                        <m:sty m:val="p"/>
                      </m:rPr>
                      <a:rPr lang="en-AU" sz="2400" b="0" i="0" smtClean="0">
                        <a:latin typeface="Cambria Math" panose="02040503050406030204" pitchFamily="18" charset="0"/>
                      </a:rPr>
                      <m:t>s</m:t>
                    </m:r>
                    <m:r>
                      <a:rPr lang="en-AU" sz="2400" b="0" i="1" smtClean="0">
                        <a:latin typeface="Cambria Math" panose="02040503050406030204" pitchFamily="18" charset="0"/>
                      </a:rPr>
                      <m:t> </m:t>
                    </m:r>
                  </m:oMath>
                </a14:m>
                <a:r>
                  <a:rPr lang="en-AU" sz="2400" dirty="0" smtClean="0"/>
                  <a:t>given that </a:t>
                </a:r>
                <a14:m>
                  <m:oMath xmlns:m="http://schemas.openxmlformats.org/officeDocument/2006/math">
                    <m:r>
                      <a:rPr lang="en-AU" sz="2400" b="0" i="1" smtClean="0">
                        <a:latin typeface="Cambria Math" panose="02040503050406030204" pitchFamily="18" charset="0"/>
                      </a:rPr>
                      <m:t>𝑢</m:t>
                    </m:r>
                    <m:r>
                      <a:rPr lang="en-AU" sz="2400" b="0" i="0" smtClean="0">
                        <a:latin typeface="Cambria Math" panose="02040503050406030204" pitchFamily="18" charset="0"/>
                      </a:rPr>
                      <m:t>=5, </m:t>
                    </m:r>
                    <m:r>
                      <m:rPr>
                        <m:sty m:val="p"/>
                      </m:rPr>
                      <a:rPr lang="en-AU" sz="2400" b="0" i="0" smtClean="0">
                        <a:latin typeface="Cambria Math" panose="02040503050406030204" pitchFamily="18" charset="0"/>
                      </a:rPr>
                      <m:t>t</m:t>
                    </m:r>
                    <m:r>
                      <a:rPr lang="en-AU" sz="2400" b="0" i="0" smtClean="0">
                        <a:latin typeface="Cambria Math" panose="02040503050406030204" pitchFamily="18" charset="0"/>
                      </a:rPr>
                      <m:t>=3</m:t>
                    </m:r>
                  </m:oMath>
                </a14:m>
                <a:r>
                  <a:rPr lang="en-AU" sz="2400" dirty="0" smtClean="0"/>
                  <a:t> and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=4</m:t>
                    </m:r>
                  </m:oMath>
                </a14:m>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90733" y="1304858"/>
                <a:ext cx="11550611" cy="461665"/>
              </a:xfrm>
              <a:prstGeom prst="rect">
                <a:avLst/>
              </a:prstGeom>
              <a:blipFill rotWithShape="0">
                <a:blip r:embed="rId3"/>
                <a:stretch>
                  <a:fillRect l="-792" t="-10526" b="-28947"/>
                </a:stretch>
              </a:blipFill>
            </p:spPr>
            <p:txBody>
              <a:bodyPr/>
              <a:lstStyle/>
              <a:p>
                <a:r>
                  <a:rPr lang="en-AU">
                    <a:noFill/>
                  </a:rPr>
                  <a:t> </a:t>
                </a:r>
              </a:p>
            </p:txBody>
          </p:sp>
        </mc:Fallback>
      </mc:AlternateContent>
      <p:sp>
        <p:nvSpPr>
          <p:cNvPr id="6" name="TextBox 5"/>
          <p:cNvSpPr txBox="1"/>
          <p:nvPr/>
        </p:nvSpPr>
        <p:spPr>
          <a:xfrm>
            <a:off x="190733" y="2081242"/>
            <a:ext cx="8240820" cy="1938992"/>
          </a:xfrm>
          <a:prstGeom prst="rect">
            <a:avLst/>
          </a:prstGeom>
          <a:noFill/>
        </p:spPr>
        <p:txBody>
          <a:bodyPr wrap="square" rtlCol="0">
            <a:spAutoFit/>
          </a:bodyPr>
          <a:lstStyle/>
          <a:p>
            <a:r>
              <a:rPr lang="en-AU" sz="2400" dirty="0" smtClean="0"/>
              <a:t>Step 1: Write out the formula.</a:t>
            </a:r>
          </a:p>
          <a:p>
            <a:endParaRPr lang="en-AU" sz="2400" dirty="0"/>
          </a:p>
          <a:p>
            <a:r>
              <a:rPr lang="en-AU" sz="2400" dirty="0" smtClean="0"/>
              <a:t>Step 2: Substitute in the known values.</a:t>
            </a:r>
          </a:p>
          <a:p>
            <a:endParaRPr lang="en-AU" sz="2400" dirty="0"/>
          </a:p>
          <a:p>
            <a:r>
              <a:rPr lang="en-AU" sz="2400" dirty="0" smtClean="0"/>
              <a:t>Step 3: Evaluate the answer.</a:t>
            </a:r>
            <a:endParaRPr lang="en-AU" sz="2400" dirty="0"/>
          </a:p>
        </p:txBody>
      </p:sp>
      <mc:AlternateContent xmlns:mc="http://schemas.openxmlformats.org/markup-compatibility/2006" xmlns:a14="http://schemas.microsoft.com/office/drawing/2010/main">
        <mc:Choice Requires="a14">
          <p:sp>
            <p:nvSpPr>
              <p:cNvPr id="2" name="TextBox 1"/>
              <p:cNvSpPr txBox="1"/>
              <p:nvPr/>
            </p:nvSpPr>
            <p:spPr>
              <a:xfrm>
                <a:off x="5898720" y="1825912"/>
                <a:ext cx="4103582"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𝑠</m:t>
                      </m:r>
                      <m:r>
                        <a:rPr lang="en-AU" sz="2400" i="1">
                          <a:latin typeface="Cambria Math" panose="02040503050406030204" pitchFamily="18" charset="0"/>
                        </a:rPr>
                        <m:t>=</m:t>
                      </m:r>
                      <m:r>
                        <a:rPr lang="en-AU" sz="2400" i="1">
                          <a:latin typeface="Cambria Math" panose="02040503050406030204" pitchFamily="18" charset="0"/>
                        </a:rPr>
                        <m:t>𝑢𝑡</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2</m:t>
                          </m:r>
                        </m:den>
                      </m:f>
                      <m:sSup>
                        <m:sSupPr>
                          <m:ctrlPr>
                            <a:rPr lang="en-AU" sz="2400" i="1">
                              <a:latin typeface="Cambria Math" panose="02040503050406030204" pitchFamily="18" charset="0"/>
                            </a:rPr>
                          </m:ctrlPr>
                        </m:sSupPr>
                        <m:e>
                          <m:r>
                            <a:rPr lang="en-AU" sz="2400" i="1">
                              <a:latin typeface="Cambria Math" panose="02040503050406030204" pitchFamily="18" charset="0"/>
                            </a:rPr>
                            <m:t>𝑎𝑡</m:t>
                          </m:r>
                        </m:e>
                        <m:sup>
                          <m:r>
                            <a:rPr lang="en-AU" sz="2400" i="1">
                              <a:latin typeface="Cambria Math" panose="02040503050406030204" pitchFamily="18" charset="0"/>
                            </a:rPr>
                            <m:t>2</m:t>
                          </m:r>
                        </m:sup>
                      </m:sSup>
                    </m:oMath>
                  </m:oMathPara>
                </a14:m>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5898720" y="1825912"/>
                <a:ext cx="4103582" cy="783804"/>
              </a:xfrm>
              <a:prstGeom prst="rect">
                <a:avLst/>
              </a:prstGeom>
              <a:blipFill rotWithShape="0">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898720" y="2609716"/>
                <a:ext cx="4103582"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𝑠</m:t>
                      </m:r>
                      <m:r>
                        <a:rPr lang="en-AU" sz="2400" i="1" smtClean="0">
                          <a:latin typeface="Cambria Math" panose="02040503050406030204" pitchFamily="18" charset="0"/>
                        </a:rPr>
                        <m:t>=(5)(3)+</m:t>
                      </m:r>
                      <m:f>
                        <m:fPr>
                          <m:ctrlPr>
                            <a:rPr lang="en-AU"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2</m:t>
                          </m:r>
                        </m:den>
                      </m:f>
                      <m:sSup>
                        <m:sSupPr>
                          <m:ctrlPr>
                            <a:rPr lang="en-AU" sz="2400" i="1">
                              <a:latin typeface="Cambria Math" panose="02040503050406030204" pitchFamily="18" charset="0"/>
                            </a:rPr>
                          </m:ctrlPr>
                        </m:sSupPr>
                        <m:e>
                          <m:r>
                            <a:rPr lang="en-AU" sz="2400" b="0" i="1" smtClean="0">
                              <a:latin typeface="Cambria Math" panose="02040503050406030204" pitchFamily="18" charset="0"/>
                            </a:rPr>
                            <m:t>(4)(3)</m:t>
                          </m:r>
                        </m:e>
                        <m:sup>
                          <m:r>
                            <a:rPr lang="en-AU" sz="2400" i="1">
                              <a:latin typeface="Cambria Math" panose="02040503050406030204" pitchFamily="18" charset="0"/>
                            </a:rPr>
                            <m:t>2</m:t>
                          </m:r>
                        </m:sup>
                      </m:sSup>
                    </m:oMath>
                  </m:oMathPara>
                </a14:m>
                <a:endParaRPr lang="en-AU"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5898720" y="2609716"/>
                <a:ext cx="4103582" cy="783804"/>
              </a:xfrm>
              <a:prstGeom prst="rect">
                <a:avLst/>
              </a:prstGeom>
              <a:blipFill rotWithShape="0">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898720" y="3393520"/>
                <a:ext cx="410358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𝑠</m:t>
                      </m:r>
                      <m:r>
                        <a:rPr lang="en-AU" sz="2400" i="1" smtClean="0">
                          <a:latin typeface="Cambria Math" panose="02040503050406030204" pitchFamily="18" charset="0"/>
                        </a:rPr>
                        <m:t>=15+2×9</m:t>
                      </m:r>
                    </m:oMath>
                  </m:oMathPara>
                </a14:m>
                <a:endParaRPr lang="en-AU"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5898720" y="3393520"/>
                <a:ext cx="4103582" cy="461665"/>
              </a:xfrm>
              <a:prstGeom prst="rect">
                <a:avLst/>
              </a:prstGeom>
              <a:blipFill rotWithShape="0">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898720" y="3921994"/>
                <a:ext cx="410358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𝑠</m:t>
                      </m:r>
                      <m:r>
                        <a:rPr lang="en-AU" sz="2400" i="1" smtClean="0">
                          <a:latin typeface="Cambria Math" panose="02040503050406030204" pitchFamily="18" charset="0"/>
                        </a:rPr>
                        <m:t>=33</m:t>
                      </m:r>
                    </m:oMath>
                  </m:oMathPara>
                </a14:m>
                <a:endParaRPr lang="en-AU"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5898720" y="3921994"/>
                <a:ext cx="4103582" cy="461665"/>
              </a:xfrm>
              <a:prstGeom prst="rect">
                <a:avLst/>
              </a:prstGeom>
              <a:blipFill rotWithShape="0">
                <a:blip r:embed="rId7"/>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82526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061507" cy="461665"/>
          </a:xfrm>
          <a:prstGeom prst="rect">
            <a:avLst/>
          </a:prstGeom>
          <a:solidFill>
            <a:srgbClr val="92D050"/>
          </a:solidFill>
        </p:spPr>
        <p:txBody>
          <a:bodyPr wrap="square" rtlCol="0">
            <a:spAutoFit/>
          </a:bodyPr>
          <a:lstStyle/>
          <a:p>
            <a:r>
              <a:rPr lang="en-AU" sz="2400" dirty="0" smtClean="0"/>
              <a:t>Y11 Apps Chapter 1 Example 3</a:t>
            </a:r>
            <a:endParaRPr lang="en-AU" sz="2400" dirty="0"/>
          </a:p>
        </p:txBody>
      </p:sp>
      <mc:AlternateContent xmlns:mc="http://schemas.openxmlformats.org/markup-compatibility/2006" xmlns:a14="http://schemas.microsoft.com/office/drawing/2010/main">
        <mc:Choice Requires="a14">
          <p:sp>
            <p:nvSpPr>
              <p:cNvPr id="3" name="TextBox 2"/>
              <p:cNvSpPr txBox="1"/>
              <p:nvPr/>
            </p:nvSpPr>
            <p:spPr>
              <a:xfrm>
                <a:off x="190734" y="667568"/>
                <a:ext cx="11550611" cy="461665"/>
              </a:xfrm>
              <a:prstGeom prst="rect">
                <a:avLst/>
              </a:prstGeom>
              <a:noFill/>
            </p:spPr>
            <p:txBody>
              <a:bodyPr wrap="square" rtlCol="0">
                <a:spAutoFit/>
              </a:bodyPr>
              <a:lstStyle/>
              <a:p>
                <a:r>
                  <a:rPr lang="en-AU" sz="2400" dirty="0" smtClean="0"/>
                  <a:t>Formula: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=250</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(1.08)</m:t>
                        </m:r>
                      </m:e>
                      <m:sup>
                        <m:r>
                          <a:rPr lang="en-AU" sz="2400" b="0" i="1" smtClean="0">
                            <a:latin typeface="Cambria Math" panose="02040503050406030204" pitchFamily="18" charset="0"/>
                          </a:rPr>
                          <m:t>𝑛</m:t>
                        </m:r>
                      </m:sup>
                    </m:sSup>
                  </m:oMath>
                </a14:m>
                <a:endParaRPr lang="en-AU"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190734" y="667568"/>
                <a:ext cx="11550611" cy="461665"/>
              </a:xfrm>
              <a:prstGeom prst="rect">
                <a:avLst/>
              </a:prstGeom>
              <a:blipFill rotWithShape="0">
                <a:blip r:embed="rId2"/>
                <a:stretch>
                  <a:fillRect l="-792" t="-10667" b="-306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90733" y="1304858"/>
                <a:ext cx="11550611" cy="461665"/>
              </a:xfrm>
              <a:prstGeom prst="rect">
                <a:avLst/>
              </a:prstGeom>
              <a:noFill/>
            </p:spPr>
            <p:txBody>
              <a:bodyPr wrap="square" rtlCol="0">
                <a:spAutoFit/>
              </a:bodyPr>
              <a:lstStyle/>
              <a:p>
                <a:r>
                  <a:rPr lang="en-AU" sz="2400" dirty="0" smtClean="0"/>
                  <a:t>Find </a:t>
                </a:r>
                <a14:m>
                  <m:oMath xmlns:m="http://schemas.openxmlformats.org/officeDocument/2006/math">
                    <m:r>
                      <m:rPr>
                        <m:sty m:val="p"/>
                      </m:rPr>
                      <a:rPr lang="en-AU" sz="2400" b="0" i="0" smtClean="0">
                        <a:latin typeface="Cambria Math" panose="02040503050406030204" pitchFamily="18" charset="0"/>
                      </a:rPr>
                      <m:t>A</m:t>
                    </m:r>
                    <m:r>
                      <a:rPr lang="en-AU" sz="2400" b="0" i="0" smtClean="0">
                        <a:latin typeface="Cambria Math" panose="02040503050406030204" pitchFamily="18" charset="0"/>
                      </a:rPr>
                      <m:t> </m:t>
                    </m:r>
                  </m:oMath>
                </a14:m>
                <a:r>
                  <a:rPr lang="en-AU" sz="2400" dirty="0" smtClean="0"/>
                  <a:t>correct to 1 decimal places given that </a:t>
                </a:r>
                <a14:m>
                  <m:oMath xmlns:m="http://schemas.openxmlformats.org/officeDocument/2006/math">
                    <m:r>
                      <m:rPr>
                        <m:sty m:val="p"/>
                      </m:rPr>
                      <a:rPr lang="en-AU" sz="2400" b="0" i="0" smtClean="0">
                        <a:latin typeface="Cambria Math" panose="02040503050406030204" pitchFamily="18" charset="0"/>
                      </a:rPr>
                      <m:t>n</m:t>
                    </m:r>
                    <m:r>
                      <a:rPr lang="en-AU" sz="2400" b="0" i="0" smtClean="0">
                        <a:latin typeface="Cambria Math" panose="02040503050406030204" pitchFamily="18" charset="0"/>
                      </a:rPr>
                      <m:t>=14</m:t>
                    </m:r>
                  </m:oMath>
                </a14:m>
                <a:endParaRPr lang="en-AU"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90733" y="1304858"/>
                <a:ext cx="11550611" cy="461665"/>
              </a:xfrm>
              <a:prstGeom prst="rect">
                <a:avLst/>
              </a:prstGeom>
              <a:blipFill rotWithShape="0">
                <a:blip r:embed="rId3"/>
                <a:stretch>
                  <a:fillRect l="-792" t="-10526" b="-28947"/>
                </a:stretch>
              </a:blipFill>
            </p:spPr>
            <p:txBody>
              <a:bodyPr/>
              <a:lstStyle/>
              <a:p>
                <a:r>
                  <a:rPr lang="en-AU">
                    <a:noFill/>
                  </a:rPr>
                  <a:t> </a:t>
                </a:r>
              </a:p>
            </p:txBody>
          </p:sp>
        </mc:Fallback>
      </mc:AlternateContent>
      <p:sp>
        <p:nvSpPr>
          <p:cNvPr id="6" name="TextBox 5"/>
          <p:cNvSpPr txBox="1"/>
          <p:nvPr/>
        </p:nvSpPr>
        <p:spPr>
          <a:xfrm>
            <a:off x="190733" y="2081242"/>
            <a:ext cx="8240820" cy="1938992"/>
          </a:xfrm>
          <a:prstGeom prst="rect">
            <a:avLst/>
          </a:prstGeom>
          <a:noFill/>
        </p:spPr>
        <p:txBody>
          <a:bodyPr wrap="square" rtlCol="0">
            <a:spAutoFit/>
          </a:bodyPr>
          <a:lstStyle/>
          <a:p>
            <a:r>
              <a:rPr lang="en-AU" sz="2400" dirty="0" smtClean="0"/>
              <a:t>Step 1: Write out the formula.</a:t>
            </a:r>
          </a:p>
          <a:p>
            <a:endParaRPr lang="en-AU" sz="2400" dirty="0"/>
          </a:p>
          <a:p>
            <a:r>
              <a:rPr lang="en-AU" sz="2400" dirty="0" smtClean="0"/>
              <a:t>Step 2: Substitute in the known values.</a:t>
            </a:r>
          </a:p>
          <a:p>
            <a:endParaRPr lang="en-AU" sz="2400" dirty="0"/>
          </a:p>
          <a:p>
            <a:r>
              <a:rPr lang="en-AU" sz="2400" dirty="0" smtClean="0"/>
              <a:t>Step 3: Evaluate the answer.</a:t>
            </a:r>
            <a:endParaRPr lang="en-AU" sz="2400" dirty="0"/>
          </a:p>
        </p:txBody>
      </p:sp>
      <mc:AlternateContent xmlns:mc="http://schemas.openxmlformats.org/markup-compatibility/2006" xmlns:a14="http://schemas.microsoft.com/office/drawing/2010/main">
        <mc:Choice Requires="a14">
          <p:sp>
            <p:nvSpPr>
              <p:cNvPr id="2" name="TextBox 1"/>
              <p:cNvSpPr txBox="1"/>
              <p:nvPr/>
            </p:nvSpPr>
            <p:spPr>
              <a:xfrm>
                <a:off x="5497620" y="2081242"/>
                <a:ext cx="517786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𝐴</m:t>
                      </m:r>
                      <m:r>
                        <a:rPr lang="en-AU" sz="2400" i="1">
                          <a:latin typeface="Cambria Math" panose="02040503050406030204" pitchFamily="18" charset="0"/>
                        </a:rPr>
                        <m:t>=250</m:t>
                      </m:r>
                      <m:sSup>
                        <m:sSupPr>
                          <m:ctrlPr>
                            <a:rPr lang="en-AU" sz="2400" i="1">
                              <a:latin typeface="Cambria Math" panose="02040503050406030204" pitchFamily="18" charset="0"/>
                            </a:rPr>
                          </m:ctrlPr>
                        </m:sSupPr>
                        <m:e>
                          <m:r>
                            <a:rPr lang="en-AU" sz="2400" i="1">
                              <a:latin typeface="Cambria Math" panose="02040503050406030204" pitchFamily="18" charset="0"/>
                            </a:rPr>
                            <m:t>(1.08)</m:t>
                          </m:r>
                        </m:e>
                        <m:sup>
                          <m:r>
                            <a:rPr lang="en-AU" sz="2400" i="1">
                              <a:latin typeface="Cambria Math" panose="02040503050406030204" pitchFamily="18" charset="0"/>
                            </a:rPr>
                            <m:t>𝑛</m:t>
                          </m:r>
                        </m:sup>
                      </m:sSup>
                    </m:oMath>
                  </m:oMathPara>
                </a14:m>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5497620" y="2081242"/>
                <a:ext cx="5177860" cy="461665"/>
              </a:xfrm>
              <a:prstGeom prst="rect">
                <a:avLst/>
              </a:prstGeom>
              <a:blipFill rotWithShape="0">
                <a:blip r:embed="rId4"/>
                <a:stretch>
                  <a:fillRect b="-17105"/>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42457" y="2819905"/>
                <a:ext cx="517786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𝐴</m:t>
                      </m:r>
                      <m:r>
                        <a:rPr lang="en-AU" sz="2400" i="1" smtClean="0">
                          <a:latin typeface="Cambria Math" panose="02040503050406030204" pitchFamily="18" charset="0"/>
                        </a:rPr>
                        <m:t>=250</m:t>
                      </m:r>
                      <m:sSup>
                        <m:sSupPr>
                          <m:ctrlPr>
                            <a:rPr lang="en-AU" sz="2400" i="1">
                              <a:latin typeface="Cambria Math" panose="02040503050406030204" pitchFamily="18" charset="0"/>
                            </a:rPr>
                          </m:ctrlPr>
                        </m:sSupPr>
                        <m:e>
                          <m:r>
                            <a:rPr lang="en-AU" sz="2400" i="1">
                              <a:latin typeface="Cambria Math" panose="02040503050406030204" pitchFamily="18" charset="0"/>
                            </a:rPr>
                            <m:t>(1.08)</m:t>
                          </m:r>
                        </m:e>
                        <m:sup>
                          <m:r>
                            <a:rPr lang="en-AU" sz="2400" b="0" i="1" smtClean="0">
                              <a:latin typeface="Cambria Math" panose="02040503050406030204" pitchFamily="18" charset="0"/>
                            </a:rPr>
                            <m:t>14</m:t>
                          </m:r>
                        </m:sup>
                      </m:sSup>
                    </m:oMath>
                  </m:oMathPara>
                </a14:m>
                <a:endParaRPr lang="en-AU"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5442457" y="2819905"/>
                <a:ext cx="5177860" cy="461665"/>
              </a:xfrm>
              <a:prstGeom prst="rect">
                <a:avLst/>
              </a:prstGeom>
              <a:blipFill rotWithShape="0">
                <a:blip r:embed="rId5"/>
                <a:stretch>
                  <a:fillRect b="-186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387294" y="3516457"/>
                <a:ext cx="517786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𝐴</m:t>
                      </m:r>
                      <m:r>
                        <a:rPr lang="en-AU" sz="2400" i="1" smtClean="0">
                          <a:latin typeface="Cambria Math" panose="02040503050406030204" pitchFamily="18" charset="0"/>
                        </a:rPr>
                        <m:t>=734.298….</m:t>
                      </m:r>
                    </m:oMath>
                  </m:oMathPara>
                </a14:m>
                <a:endParaRPr lang="en-AU"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5387294" y="3516457"/>
                <a:ext cx="5177860" cy="461665"/>
              </a:xfrm>
              <a:prstGeom prst="rect">
                <a:avLst/>
              </a:prstGeom>
              <a:blipFill rotWithShape="0">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42457" y="4104120"/>
                <a:ext cx="517786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𝐴</m:t>
                      </m:r>
                      <m:r>
                        <a:rPr lang="en-AU" sz="2400" i="1" smtClean="0">
                          <a:latin typeface="Cambria Math" panose="02040503050406030204" pitchFamily="18" charset="0"/>
                        </a:rPr>
                        <m:t>=734.3 (1 </m:t>
                      </m:r>
                      <m:r>
                        <a:rPr lang="en-AU" sz="2400" b="0" i="1" smtClean="0">
                          <a:latin typeface="Cambria Math" panose="02040503050406030204" pitchFamily="18" charset="0"/>
                        </a:rPr>
                        <m:t>𝑑</m:t>
                      </m:r>
                      <m:r>
                        <a:rPr lang="en-AU" sz="2400" b="0" i="1" smtClean="0">
                          <a:latin typeface="Cambria Math" panose="02040503050406030204" pitchFamily="18" charset="0"/>
                        </a:rPr>
                        <m:t>.</m:t>
                      </m:r>
                      <m:r>
                        <a:rPr lang="en-AU" sz="2400" b="0" i="1" smtClean="0">
                          <a:latin typeface="Cambria Math" panose="02040503050406030204" pitchFamily="18" charset="0"/>
                        </a:rPr>
                        <m:t>𝑝</m:t>
                      </m:r>
                      <m:r>
                        <a:rPr lang="en-AU" sz="2400" b="0" i="1" smtClean="0">
                          <a:latin typeface="Cambria Math" panose="02040503050406030204" pitchFamily="18" charset="0"/>
                        </a:rPr>
                        <m:t>)</m:t>
                      </m:r>
                    </m:oMath>
                  </m:oMathPara>
                </a14:m>
                <a:endParaRPr lang="en-AU"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5442457" y="4104120"/>
                <a:ext cx="5177860" cy="461665"/>
              </a:xfrm>
              <a:prstGeom prst="rect">
                <a:avLst/>
              </a:prstGeom>
              <a:blipFill rotWithShape="0">
                <a:blip r:embed="rId7"/>
                <a:stretch>
                  <a:fillRect b="-17105"/>
                </a:stretch>
              </a:blipFill>
            </p:spPr>
            <p:txBody>
              <a:bodyPr/>
              <a:lstStyle/>
              <a:p>
                <a:r>
                  <a:rPr lang="en-AU">
                    <a:noFill/>
                  </a:rPr>
                  <a:t> </a:t>
                </a:r>
              </a:p>
            </p:txBody>
          </p:sp>
        </mc:Fallback>
      </mc:AlternateContent>
    </p:spTree>
    <p:extLst>
      <p:ext uri="{BB962C8B-B14F-4D97-AF65-F5344CB8AC3E}">
        <p14:creationId xmlns:p14="http://schemas.microsoft.com/office/powerpoint/2010/main" val="64859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4061507" cy="461665"/>
          </a:xfrm>
          <a:prstGeom prst="rect">
            <a:avLst/>
          </a:prstGeom>
          <a:solidFill>
            <a:srgbClr val="92D050"/>
          </a:solidFill>
        </p:spPr>
        <p:txBody>
          <a:bodyPr wrap="square" rtlCol="0">
            <a:spAutoFit/>
          </a:bodyPr>
          <a:lstStyle/>
          <a:p>
            <a:r>
              <a:rPr lang="en-AU" sz="2400" dirty="0" smtClean="0"/>
              <a:t>Y11 Apps Chapter 1 Example 4</a:t>
            </a:r>
            <a:endParaRPr lang="en-AU" sz="2400" dirty="0"/>
          </a:p>
        </p:txBody>
      </p:sp>
      <mc:AlternateContent xmlns:mc="http://schemas.openxmlformats.org/markup-compatibility/2006" xmlns:a14="http://schemas.microsoft.com/office/drawing/2010/main">
        <mc:Choice Requires="a14">
          <p:sp>
            <p:nvSpPr>
              <p:cNvPr id="2" name="TextBox 1"/>
              <p:cNvSpPr txBox="1"/>
              <p:nvPr/>
            </p:nvSpPr>
            <p:spPr>
              <a:xfrm>
                <a:off x="179514" y="656348"/>
                <a:ext cx="11651588" cy="3071931"/>
              </a:xfrm>
              <a:prstGeom prst="rect">
                <a:avLst/>
              </a:prstGeom>
              <a:noFill/>
            </p:spPr>
            <p:txBody>
              <a:bodyPr wrap="square" rtlCol="0">
                <a:spAutoFit/>
              </a:bodyPr>
              <a:lstStyle/>
              <a:p>
                <a:r>
                  <a:rPr lang="en-AU" sz="2400" dirty="0" smtClean="0"/>
                  <a:t>A particular industrial process involves the mining and production of a particular metal to various levels of purity. The production of 1 tonne of the metal of </a:t>
                </a:r>
                <a14:m>
                  <m:oMath xmlns:m="http://schemas.openxmlformats.org/officeDocument/2006/math">
                    <m:r>
                      <a:rPr lang="en-AU" sz="2400" b="0" i="1" smtClean="0">
                        <a:latin typeface="Cambria Math" panose="02040503050406030204" pitchFamily="18" charset="0"/>
                      </a:rPr>
                      <m:t>𝑝</m:t>
                    </m:r>
                    <m:r>
                      <a:rPr lang="en-AU" sz="2400" b="0" i="1" smtClean="0">
                        <a:latin typeface="Cambria Math" panose="02040503050406030204" pitchFamily="18" charset="0"/>
                      </a:rPr>
                      <m:t>%</m:t>
                    </m:r>
                  </m:oMath>
                </a14:m>
                <a:r>
                  <a:rPr lang="en-AU" sz="2400" dirty="0" smtClean="0"/>
                  <a:t> purity costs the company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𝐶</m:t>
                    </m:r>
                    <m:r>
                      <a:rPr lang="en-AU" sz="2400" b="0" i="1" smtClean="0">
                        <a:latin typeface="Cambria Math" panose="02040503050406030204" pitchFamily="18" charset="0"/>
                      </a:rPr>
                      <m:t> </m:t>
                    </m:r>
                  </m:oMath>
                </a14:m>
                <a:r>
                  <a:rPr lang="en-AU" sz="2400" dirty="0" smtClean="0"/>
                  <a:t>where a good approximation of </a:t>
                </a:r>
                <a14:m>
                  <m:oMath xmlns:m="http://schemas.openxmlformats.org/officeDocument/2006/math">
                    <m:r>
                      <a:rPr lang="en-AU" sz="2400" b="0" i="1" smtClean="0">
                        <a:latin typeface="Cambria Math" panose="02040503050406030204" pitchFamily="18" charset="0"/>
                      </a:rPr>
                      <m:t>𝐶</m:t>
                    </m:r>
                  </m:oMath>
                </a14:m>
                <a:r>
                  <a:rPr lang="en-AU" sz="2400" dirty="0" smtClean="0"/>
                  <a:t> is given by the formula:</a:t>
                </a:r>
              </a:p>
              <a:p>
                <a:endParaRPr lang="en-AU" sz="2400" dirty="0"/>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𝐶</m:t>
                      </m:r>
                      <m:r>
                        <a:rPr lang="en-AU" sz="2400" b="0" i="1" smtClean="0">
                          <a:latin typeface="Cambria Math" panose="02040503050406030204" pitchFamily="18" charset="0"/>
                        </a:rPr>
                        <m:t>=1500+</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125 000</m:t>
                          </m:r>
                        </m:num>
                        <m:den>
                          <m:r>
                            <a:rPr lang="en-AU" sz="2400" b="0" i="1" smtClean="0">
                              <a:latin typeface="Cambria Math" panose="02040503050406030204" pitchFamily="18" charset="0"/>
                            </a:rPr>
                            <m:t>100 −</m:t>
                          </m:r>
                          <m:r>
                            <a:rPr lang="en-AU" sz="2400" b="0" i="1" smtClean="0">
                              <a:latin typeface="Cambria Math" panose="02040503050406030204" pitchFamily="18" charset="0"/>
                            </a:rPr>
                            <m:t>𝑝</m:t>
                          </m:r>
                        </m:den>
                      </m:f>
                    </m:oMath>
                  </m:oMathPara>
                </a14:m>
                <a:endParaRPr lang="en-AU" sz="2400" dirty="0" smtClean="0"/>
              </a:p>
              <a:p>
                <a:r>
                  <a:rPr lang="en-AU" sz="2400" dirty="0" smtClean="0"/>
                  <a:t>Find the cost of producing one tonne of:</a:t>
                </a:r>
              </a:p>
              <a:p>
                <a:r>
                  <a:rPr lang="en-AU" sz="2400" dirty="0" smtClean="0"/>
                  <a:t>a) The metal of 90% purity			b) The metal of 99% purity</a:t>
                </a:r>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79514" y="656348"/>
                <a:ext cx="11651588" cy="3071931"/>
              </a:xfrm>
              <a:prstGeom prst="rect">
                <a:avLst/>
              </a:prstGeom>
              <a:blipFill rotWithShape="0">
                <a:blip r:embed="rId2"/>
                <a:stretch>
                  <a:fillRect l="-785" t="-1587" b="-357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01100" y="3817707"/>
                <a:ext cx="3180765" cy="6674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=1500+</m:t>
                      </m:r>
                      <m:f>
                        <m:fPr>
                          <m:ctrlPr>
                            <a:rPr lang="en-AU" i="1">
                              <a:latin typeface="Cambria Math" panose="02040503050406030204" pitchFamily="18" charset="0"/>
                            </a:rPr>
                          </m:ctrlPr>
                        </m:fPr>
                        <m:num>
                          <m:r>
                            <a:rPr lang="en-AU" i="1">
                              <a:latin typeface="Cambria Math" panose="02040503050406030204" pitchFamily="18" charset="0"/>
                            </a:rPr>
                            <m:t>125 000</m:t>
                          </m:r>
                        </m:num>
                        <m:den>
                          <m:r>
                            <a:rPr lang="en-AU" i="1">
                              <a:latin typeface="Cambria Math" panose="02040503050406030204" pitchFamily="18" charset="0"/>
                            </a:rPr>
                            <m:t>100 −</m:t>
                          </m:r>
                          <m:r>
                            <a:rPr lang="en-AU" b="0" i="1" smtClean="0">
                              <a:latin typeface="Cambria Math" panose="02040503050406030204" pitchFamily="18" charset="0"/>
                            </a:rPr>
                            <m:t>(90)</m:t>
                          </m:r>
                        </m:den>
                      </m:f>
                    </m:oMath>
                  </m:oMathPara>
                </a14:m>
                <a:endParaRPr lang="en-AU" dirty="0"/>
              </a:p>
            </p:txBody>
          </p:sp>
        </mc:Choice>
        <mc:Fallback xmlns="">
          <p:sp>
            <p:nvSpPr>
              <p:cNvPr id="5" name="TextBox 4"/>
              <p:cNvSpPr txBox="1">
                <a:spLocks noRot="1" noChangeAspect="1" noMove="1" noResize="1" noEditPoints="1" noAdjustHandles="1" noChangeArrowheads="1" noChangeShapeType="1" noTextEdit="1"/>
              </p:cNvSpPr>
              <p:nvPr/>
            </p:nvSpPr>
            <p:spPr>
              <a:xfrm>
                <a:off x="401100" y="3817707"/>
                <a:ext cx="3180765" cy="667490"/>
              </a:xfrm>
              <a:prstGeom prst="rect">
                <a:avLst/>
              </a:prstGeom>
              <a:blipFill rotWithShape="0">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01099" y="4580423"/>
                <a:ext cx="3180765"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=1500+</m:t>
                      </m:r>
                      <m:f>
                        <m:fPr>
                          <m:ctrlPr>
                            <a:rPr lang="en-AU" i="1">
                              <a:latin typeface="Cambria Math" panose="02040503050406030204" pitchFamily="18" charset="0"/>
                            </a:rPr>
                          </m:ctrlPr>
                        </m:fPr>
                        <m:num>
                          <m:r>
                            <a:rPr lang="en-AU" i="1">
                              <a:latin typeface="Cambria Math" panose="02040503050406030204" pitchFamily="18" charset="0"/>
                            </a:rPr>
                            <m:t>125 000</m:t>
                          </m:r>
                        </m:num>
                        <m:den>
                          <m:r>
                            <a:rPr lang="en-AU" i="1">
                              <a:latin typeface="Cambria Math" panose="02040503050406030204" pitchFamily="18" charset="0"/>
                            </a:rPr>
                            <m:t>10</m:t>
                          </m:r>
                        </m:den>
                      </m:f>
                    </m:oMath>
                  </m:oMathPara>
                </a14:m>
                <a:endParaRPr lang="en-AU" dirty="0"/>
              </a:p>
            </p:txBody>
          </p:sp>
        </mc:Choice>
        <mc:Fallback xmlns="">
          <p:sp>
            <p:nvSpPr>
              <p:cNvPr id="6" name="TextBox 5"/>
              <p:cNvSpPr txBox="1">
                <a:spLocks noRot="1" noChangeAspect="1" noMove="1" noResize="1" noEditPoints="1" noAdjustHandles="1" noChangeArrowheads="1" noChangeShapeType="1" noTextEdit="1"/>
              </p:cNvSpPr>
              <p:nvPr/>
            </p:nvSpPr>
            <p:spPr>
              <a:xfrm>
                <a:off x="401099" y="4580423"/>
                <a:ext cx="3180765" cy="618311"/>
              </a:xfrm>
              <a:prstGeom prst="rect">
                <a:avLst/>
              </a:prstGeom>
              <a:blipFill rotWithShape="0">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01099" y="5213382"/>
                <a:ext cx="31807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=1500+12 500</m:t>
                      </m:r>
                    </m:oMath>
                  </m:oMathPara>
                </a14:m>
                <a:endParaRPr lang="en-AU" dirty="0"/>
              </a:p>
            </p:txBody>
          </p:sp>
        </mc:Choice>
        <mc:Fallback xmlns="">
          <p:sp>
            <p:nvSpPr>
              <p:cNvPr id="7" name="TextBox 6"/>
              <p:cNvSpPr txBox="1">
                <a:spLocks noRot="1" noChangeAspect="1" noMove="1" noResize="1" noEditPoints="1" noAdjustHandles="1" noChangeArrowheads="1" noChangeShapeType="1" noTextEdit="1"/>
              </p:cNvSpPr>
              <p:nvPr/>
            </p:nvSpPr>
            <p:spPr>
              <a:xfrm>
                <a:off x="401099" y="5213382"/>
                <a:ext cx="3180765" cy="369332"/>
              </a:xfrm>
              <a:prstGeom prst="rect">
                <a:avLst/>
              </a:prstGeom>
              <a:blipFill rotWithShape="0">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01099" y="5597362"/>
                <a:ext cx="31807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=14 000</m:t>
                      </m:r>
                    </m:oMath>
                  </m:oMathPara>
                </a14:m>
                <a:endParaRPr lang="en-AU" dirty="0"/>
              </a:p>
            </p:txBody>
          </p:sp>
        </mc:Choice>
        <mc:Fallback xmlns="">
          <p:sp>
            <p:nvSpPr>
              <p:cNvPr id="8" name="TextBox 7"/>
              <p:cNvSpPr txBox="1">
                <a:spLocks noRot="1" noChangeAspect="1" noMove="1" noResize="1" noEditPoints="1" noAdjustHandles="1" noChangeArrowheads="1" noChangeShapeType="1" noTextEdit="1"/>
              </p:cNvSpPr>
              <p:nvPr/>
            </p:nvSpPr>
            <p:spPr>
              <a:xfrm>
                <a:off x="401099" y="5597362"/>
                <a:ext cx="3180765" cy="369332"/>
              </a:xfrm>
              <a:prstGeom prst="rect">
                <a:avLst/>
              </a:prstGeom>
              <a:blipFill rotWithShape="0">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804288" y="3817707"/>
                <a:ext cx="3180765" cy="6674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=1500+</m:t>
                      </m:r>
                      <m:f>
                        <m:fPr>
                          <m:ctrlPr>
                            <a:rPr lang="en-AU" i="1">
                              <a:latin typeface="Cambria Math" panose="02040503050406030204" pitchFamily="18" charset="0"/>
                            </a:rPr>
                          </m:ctrlPr>
                        </m:fPr>
                        <m:num>
                          <m:r>
                            <a:rPr lang="en-AU" i="1">
                              <a:latin typeface="Cambria Math" panose="02040503050406030204" pitchFamily="18" charset="0"/>
                            </a:rPr>
                            <m:t>125 000</m:t>
                          </m:r>
                        </m:num>
                        <m:den>
                          <m:r>
                            <a:rPr lang="en-AU" i="1">
                              <a:latin typeface="Cambria Math" panose="02040503050406030204" pitchFamily="18" charset="0"/>
                            </a:rPr>
                            <m:t>100 −</m:t>
                          </m:r>
                          <m:r>
                            <a:rPr lang="en-AU" b="0" i="1" smtClean="0">
                              <a:latin typeface="Cambria Math" panose="02040503050406030204" pitchFamily="18" charset="0"/>
                            </a:rPr>
                            <m:t>(99)</m:t>
                          </m:r>
                        </m:den>
                      </m:f>
                    </m:oMath>
                  </m:oMathPara>
                </a14:m>
                <a:endParaRPr lang="en-AU" dirty="0"/>
              </a:p>
            </p:txBody>
          </p:sp>
        </mc:Choice>
        <mc:Fallback xmlns="">
          <p:sp>
            <p:nvSpPr>
              <p:cNvPr id="9" name="TextBox 8"/>
              <p:cNvSpPr txBox="1">
                <a:spLocks noRot="1" noChangeAspect="1" noMove="1" noResize="1" noEditPoints="1" noAdjustHandles="1" noChangeArrowheads="1" noChangeShapeType="1" noTextEdit="1"/>
              </p:cNvSpPr>
              <p:nvPr/>
            </p:nvSpPr>
            <p:spPr>
              <a:xfrm>
                <a:off x="5804288" y="3817707"/>
                <a:ext cx="3180765" cy="667490"/>
              </a:xfrm>
              <a:prstGeom prst="rect">
                <a:avLst/>
              </a:prstGeom>
              <a:blipFill rotWithShape="0">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804287" y="4580423"/>
                <a:ext cx="3180765"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=1500+</m:t>
                      </m:r>
                      <m:f>
                        <m:fPr>
                          <m:ctrlPr>
                            <a:rPr lang="en-AU" i="1">
                              <a:latin typeface="Cambria Math" panose="02040503050406030204" pitchFamily="18" charset="0"/>
                            </a:rPr>
                          </m:ctrlPr>
                        </m:fPr>
                        <m:num>
                          <m:r>
                            <a:rPr lang="en-AU" i="1">
                              <a:latin typeface="Cambria Math" panose="02040503050406030204" pitchFamily="18" charset="0"/>
                            </a:rPr>
                            <m:t>125 000</m:t>
                          </m:r>
                        </m:num>
                        <m:den>
                          <m:r>
                            <a:rPr lang="en-AU" i="1">
                              <a:latin typeface="Cambria Math" panose="02040503050406030204" pitchFamily="18" charset="0"/>
                            </a:rPr>
                            <m:t>1</m:t>
                          </m:r>
                        </m:den>
                      </m:f>
                    </m:oMath>
                  </m:oMathPara>
                </a14:m>
                <a:endParaRPr lang="en-AU" dirty="0"/>
              </a:p>
            </p:txBody>
          </p:sp>
        </mc:Choice>
        <mc:Fallback xmlns="">
          <p:sp>
            <p:nvSpPr>
              <p:cNvPr id="10" name="TextBox 9"/>
              <p:cNvSpPr txBox="1">
                <a:spLocks noRot="1" noChangeAspect="1" noMove="1" noResize="1" noEditPoints="1" noAdjustHandles="1" noChangeArrowheads="1" noChangeShapeType="1" noTextEdit="1"/>
              </p:cNvSpPr>
              <p:nvPr/>
            </p:nvSpPr>
            <p:spPr>
              <a:xfrm>
                <a:off x="5804287" y="4580423"/>
                <a:ext cx="3180765" cy="618311"/>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804287" y="5213382"/>
                <a:ext cx="31807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=1500+125 000</m:t>
                      </m:r>
                    </m:oMath>
                  </m:oMathPara>
                </a14:m>
                <a:endParaRPr lang="en-AU" dirty="0"/>
              </a:p>
            </p:txBody>
          </p:sp>
        </mc:Choice>
        <mc:Fallback xmlns="">
          <p:sp>
            <p:nvSpPr>
              <p:cNvPr id="11" name="TextBox 10"/>
              <p:cNvSpPr txBox="1">
                <a:spLocks noRot="1" noChangeAspect="1" noMove="1" noResize="1" noEditPoints="1" noAdjustHandles="1" noChangeArrowheads="1" noChangeShapeType="1" noTextEdit="1"/>
              </p:cNvSpPr>
              <p:nvPr/>
            </p:nvSpPr>
            <p:spPr>
              <a:xfrm>
                <a:off x="5804287" y="5213382"/>
                <a:ext cx="3180765" cy="369332"/>
              </a:xfrm>
              <a:prstGeom prst="rect">
                <a:avLst/>
              </a:prstGeom>
              <a:blipFill rotWithShape="0">
                <a:blip r:embed="rId9"/>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804287" y="5597362"/>
                <a:ext cx="31807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𝐶</m:t>
                      </m:r>
                      <m:r>
                        <a:rPr lang="en-AU" i="1" smtClean="0">
                          <a:latin typeface="Cambria Math" panose="02040503050406030204" pitchFamily="18" charset="0"/>
                        </a:rPr>
                        <m:t>=126 500</m:t>
                      </m:r>
                    </m:oMath>
                  </m:oMathPara>
                </a14:m>
                <a:endParaRPr lang="en-AU" dirty="0"/>
              </a:p>
            </p:txBody>
          </p:sp>
        </mc:Choice>
        <mc:Fallback xmlns="">
          <p:sp>
            <p:nvSpPr>
              <p:cNvPr id="12" name="TextBox 11"/>
              <p:cNvSpPr txBox="1">
                <a:spLocks noRot="1" noChangeAspect="1" noMove="1" noResize="1" noEditPoints="1" noAdjustHandles="1" noChangeArrowheads="1" noChangeShapeType="1" noTextEdit="1"/>
              </p:cNvSpPr>
              <p:nvPr/>
            </p:nvSpPr>
            <p:spPr>
              <a:xfrm>
                <a:off x="5804287" y="5597362"/>
                <a:ext cx="3180765" cy="369332"/>
              </a:xfrm>
              <a:prstGeom prst="rect">
                <a:avLst/>
              </a:prstGeom>
              <a:blipFill rotWithShape="0">
                <a:blip r:embed="rId10"/>
                <a:stretch>
                  <a:fillRect/>
                </a:stretch>
              </a:blipFill>
            </p:spPr>
            <p:txBody>
              <a:bodyPr/>
              <a:lstStyle/>
              <a:p>
                <a:r>
                  <a:rPr lang="en-AU">
                    <a:noFill/>
                  </a:rPr>
                  <a:t> </a:t>
                </a:r>
              </a:p>
            </p:txBody>
          </p:sp>
        </mc:Fallback>
      </mc:AlternateContent>
      <p:sp>
        <p:nvSpPr>
          <p:cNvPr id="13" name="TextBox 12"/>
          <p:cNvSpPr txBox="1"/>
          <p:nvPr/>
        </p:nvSpPr>
        <p:spPr>
          <a:xfrm>
            <a:off x="-302930" y="6050878"/>
            <a:ext cx="5009566" cy="646331"/>
          </a:xfrm>
          <a:prstGeom prst="rect">
            <a:avLst/>
          </a:prstGeom>
          <a:noFill/>
        </p:spPr>
        <p:txBody>
          <a:bodyPr wrap="square" rtlCol="0">
            <a:spAutoFit/>
          </a:bodyPr>
          <a:lstStyle/>
          <a:p>
            <a:pPr algn="ctr"/>
            <a:r>
              <a:rPr lang="en-AU" dirty="0" smtClean="0"/>
              <a:t>The cost of producing 1 tonne of the </a:t>
            </a:r>
          </a:p>
          <a:p>
            <a:pPr algn="ctr"/>
            <a:r>
              <a:rPr lang="en-AU" dirty="0" smtClean="0"/>
              <a:t>metal of 90% purity is $14 000.</a:t>
            </a:r>
            <a:endParaRPr lang="en-AU" dirty="0"/>
          </a:p>
        </p:txBody>
      </p:sp>
      <p:sp>
        <p:nvSpPr>
          <p:cNvPr id="14" name="TextBox 13"/>
          <p:cNvSpPr txBox="1"/>
          <p:nvPr/>
        </p:nvSpPr>
        <p:spPr>
          <a:xfrm>
            <a:off x="4948793" y="6050877"/>
            <a:ext cx="5009566" cy="646331"/>
          </a:xfrm>
          <a:prstGeom prst="rect">
            <a:avLst/>
          </a:prstGeom>
          <a:noFill/>
        </p:spPr>
        <p:txBody>
          <a:bodyPr wrap="square" rtlCol="0">
            <a:spAutoFit/>
          </a:bodyPr>
          <a:lstStyle/>
          <a:p>
            <a:pPr algn="ctr"/>
            <a:r>
              <a:rPr lang="en-AU" dirty="0" smtClean="0"/>
              <a:t>The cost of producing 1 tonne of the </a:t>
            </a:r>
          </a:p>
          <a:p>
            <a:pPr algn="ctr"/>
            <a:r>
              <a:rPr lang="en-AU" dirty="0" smtClean="0"/>
              <a:t>metal of 99% purity is $126 500.</a:t>
            </a:r>
            <a:endParaRPr lang="en-AU" dirty="0"/>
          </a:p>
        </p:txBody>
      </p:sp>
      <p:sp>
        <p:nvSpPr>
          <p:cNvPr id="15" name="TextBox 14"/>
          <p:cNvSpPr txBox="1"/>
          <p:nvPr/>
        </p:nvSpPr>
        <p:spPr>
          <a:xfrm>
            <a:off x="4218583" y="0"/>
            <a:ext cx="2748810" cy="461665"/>
          </a:xfrm>
          <a:prstGeom prst="rect">
            <a:avLst/>
          </a:prstGeom>
          <a:solidFill>
            <a:srgbClr val="FFFF00"/>
          </a:solidFill>
        </p:spPr>
        <p:txBody>
          <a:bodyPr wrap="square" rtlCol="0">
            <a:spAutoFit/>
          </a:bodyPr>
          <a:lstStyle/>
          <a:p>
            <a:pPr algn="ctr"/>
            <a:r>
              <a:rPr lang="en-AU" sz="2400" dirty="0" smtClean="0"/>
              <a:t>Now do Exercise 1A</a:t>
            </a:r>
            <a:endParaRPr lang="en-AU" sz="2400" dirty="0"/>
          </a:p>
        </p:txBody>
      </p:sp>
    </p:spTree>
    <p:extLst>
      <p:ext uri="{BB962C8B-B14F-4D97-AF65-F5344CB8AC3E}">
        <p14:creationId xmlns:p14="http://schemas.microsoft.com/office/powerpoint/2010/main" val="1355654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1148</Words>
  <Application>Microsoft Office PowerPoint</Application>
  <PresentationFormat>Widescreen</PresentationFormat>
  <Paragraphs>161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14</cp:revision>
  <dcterms:created xsi:type="dcterms:W3CDTF">2020-12-09T06:24:59Z</dcterms:created>
  <dcterms:modified xsi:type="dcterms:W3CDTF">2021-01-28T06:55:05Z</dcterms:modified>
</cp:coreProperties>
</file>
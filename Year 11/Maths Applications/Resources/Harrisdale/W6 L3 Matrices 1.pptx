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69" r:id="rId15"/>
    <p:sldId id="273" r:id="rId16"/>
    <p:sldId id="274" r:id="rId17"/>
    <p:sldId id="272" r:id="rId1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54"/>
    <p:restoredTop sz="90732"/>
  </p:normalViewPr>
  <p:slideViewPr>
    <p:cSldViewPr snapToGrid="0" snapToObjects="1">
      <p:cViewPr varScale="1">
        <p:scale>
          <a:sx n="88" d="100"/>
          <a:sy n="88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B5FD9-E38D-784B-98B9-0CCE37DCA261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8B65-9909-7740-B1B5-BADC01F04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67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74DA6-57E5-4941-8E9E-5915B3DF92CB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AC82F-F3D8-EE47-8CCD-DDA1B20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r-IN" dirty="0" err="1"/>
              <a:t>http</a:t>
            </a:r>
            <a:r>
              <a:rPr lang="mr-IN" dirty="0"/>
              <a:t>://</a:t>
            </a:r>
            <a:r>
              <a:rPr lang="mr-IN" dirty="0" err="1"/>
              <a:t>i.dailymail.co.uk</a:t>
            </a:r>
            <a:r>
              <a:rPr lang="mr-IN" dirty="0"/>
              <a:t>/</a:t>
            </a:r>
            <a:r>
              <a:rPr lang="mr-IN" dirty="0" err="1"/>
              <a:t>i</a:t>
            </a:r>
            <a:r>
              <a:rPr lang="mr-IN" dirty="0"/>
              <a:t>/</a:t>
            </a:r>
            <a:r>
              <a:rPr lang="mr-IN" dirty="0" err="1"/>
              <a:t>pix</a:t>
            </a:r>
            <a:r>
              <a:rPr lang="mr-IN" dirty="0"/>
              <a:t>/2017/01/31/22/3CB519FB00000578-4177942-image-a-2_1485902238514.jpg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62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1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png;base64,iVBORw0KGgoAAAANSUhEUgAAAKgAAACJCAMAAACPZYMVAAAAh1BMVEX///8AAADj4+Ps7Oz39/fp6en5+fn8/Pzv7+9SUlI3Nzfz8/P19fU/Pz9paWnIyMhvb2/a2towMDCBgYHQ0NANDQ2goKDW1tbBwcGsrKxERERlZWVeXl4qKioTExN2dnaVlZW6urqwsLCNjY1NTU0fHx+ZmZkYGBiOjo4jIyNYWFiFhYWjo6Plby6xAAAMoklEQVR4nO1c6XbqvA6NMw8kZCSQgQyEAIH3f75rByhOJaftOdxT1rfQj66CsLPjUduSLElv+UsxZnTKTv5nOL6U4OgIdX6k/0MkX4jjH0Wqi63d/6077AdpNew0TCHnwxFVxH7Xow2z9IreRJ+RDzdFsF/jOIN9+1HNycXqCM+xPyCAUrunD1YRxbZeFgWCdBn2y9xHFPF2s7S86/g8hujLG5F9/9f0SIb8Ih8USSYX8P2iKukTkg0sUQw6LQEVulcspCWBLbbILfoWpLnCKHfYjFomzf3fS+4iQA0SGZIWwpaTbY8Oqc4CJZTSlySVnMHIl0lPe9DOQYk4pFUtkuj6abePIQzHsxe3f9Nh7SJdvxiB2iHosJhVrFs2eP3ldgRagB4MyIqitUrwjIacaYkkv1alkAiOp/ijh3RrLWNATQZU6Qh47JKMQEPQcE0yAoXDOr0CJeAZLVNQoNeqjDMJwE/87b2Z+0gKxEAzMVDw9g35KdDNBCiteff5Fyqpbj0fZ6mytl0FtI9z7XobrCqxqEWFXX8F2p0A0HvX36qSs+TzeBpf5fpbK8vcJLGWnyu5TaZh8VkRhBSP2Q3gscHeZ0O7AqOaTiZDSktYYrln8zKp7p97sDJY+w9gBq0Dm/WSVZiSnPRgzjg+W54ONVaCvhqyoDlWvuBmxUPMwWI99FGiZYOHF7nMuB5dV0nSw22fVqCebTi8pfV240QE2WiWpDUrFzEgmqR1fEtBFGSteO5HpwW2PR35G+LxD677foUAWnauh5otyy7DFevOLRA4FFCWVei+Q1fG/DFUjGE7HYJntgJ/Q4S21/9LEZGa/+h4yHb2EnIhEf8xyLAR9goSTxe39WE/Z1D/oqgk5Pf7loS/BmVejEPCD8oLgWvvi4hN2scH/Uwq8U9/Vyx+v6CTvv4tIF8JhfaYPtR2g9vci8iReI/1X7MJMEFeRWrCbVSaS9JfxDIrG5I99uCATICqTb1GCb626ZcI16SmHFWgJcy2xvvK3PQxunSbm3qiiMmDxDOgnAniWEPfechzA7eqiY/YGHLn1Rm2bihuXruQ27Gt0KvdI6LQSr8O6+8BrQ8K/QYhvxUdyRVpwPfG7qBLa8xaiFyTPgkpEVGrsiGQYxqVy2xArhdi4j6ApjxQc2C7VPjJYGWyo1h2/Pp7E40Z95oLSzgj+SU1LHGga056ioAiZRTaSTimlJLyYUAGSSJzvy3oXzuD9qWhSvoJMZzT7ciZsp/S5Q7SiDVjIWriPapKSfJ4olzuNe63zIa2XcRwNlfZFulgIV1ef0GXD6CqKV0esSVci8qEPKbIeisEqrVtdoZ2uZAut1e6bP0xXZbYIcThUVxOOHN0eRICHZ8Nz4OELXrremGLJlj1AGgpABqMDNQe4DJ07hl1hLw+KOnAWiBnT/FhpMs+LMGABjY821wfxrMnn9veCeG6ngeqe3TW63s4Ix1yimnrWYDXKwUtkZawhOTm7IAF0jHTrlQpTqBC6wr2GjVXuRAoY6y0C5BztNCSHWwdpSMrllYEoaGbJJb6EzKILmVq1CFSoj8EdFnmxsoMUKndZyeM6wWeG5YtsvEZ/SkrsRJGfcpC5JWpIsxcbHPVd3s35N9sCpRMuZ1qCs7yF46AWi1MgUIVKYQlnOmIngX6SvIG+mx5A322vIE+W95Any3/DaDyUoBbW6NsmSpiwaYrLwVedxln5KDEDFCjKvM9dlKu70LvtEK26KDoQvRQSC3sfIuYW5Lpu0UIaSI1ASy3OPD2zQzQy1ZGPb/MNptS2XvllS8pPlaCWXJNgrBi5uFuEf+hFJWOdOGo5gxQNWd0uUTOE0Jq7WonGCURhLR4O/Gr3PDYArpslkdDirdnoJAzajhrCVdCDDRw2aGu3QGrVr+6GF0w6JyKMuUmgcRipCIqyQGrEdPlLW0gXUxFeKAjbcHI3dVp655Qv5HUf/goucf+pXf5C6Aiuix0g49VuEioRvsH3uX++0BnW1Sz0RY1Cg/Bf2tRkXcZbdH620BTm/FeuwO1qzc3OLYw+p4jwWVo5PUL0ZEOFhRwfTX+SEcMdFGMdBk5JDtUOp31FVyo9Z2vLlo4mcZZ75AaKJTDWaezHhLsgBFsjT8km1lHV0nwESgzkVWYjlwa4FwR3/NshNfv6DqKnUcaTHFBjrmNKDRHAN8BqlZ2ZdfIBqRGWWX3sEHljDBBTlQdP6v2G2SvVHzLDy/IM8yBKvhGmtvr9bQJUC6rBw3m7DZMhQm2d6vpGg/3U4MGXT0kfTlV/Desp1eSN9Bnyxvos+UN9NnyBvpsmQWqA3/CTQxRxLmwxF8r5oC2oetiB+9Sa2cZGsi1KbMM8/gbZzfEj+r7MLPQGIFj6U5M4RmgzC7bYFS22VLFCame+VB6jKIcT4GaYYHKm21s1DZSYnWQjfOe67gZoCwGXMe8Rra/kLQDDMs0c5dxZhA8y0JsWqnCwjIzan5jYZmKVTAnDVdCDFTOmKluD2B63egydIgF4ei5Q0KngtqhYKENLo+cKcMCXXNGRbhDBTFQoS9UGDos9IXSQaqt+NOEu9zIHQxfa24s9Fu8/gu6nHw/GJvW7FuY9/c5dFnkr7/SZfdHQKn1n5dw2j/lACINxyMdGAFxTxiAUeO3hAHY9YrCGgnmhARsgsmZDQo0pPp21ysWKx96kDURRpdLD6ZgsNMq2S1AgeDgahQo5PVawg7JEEoeh8wfnXBLzszytNsr11f+LJEr006Dp5r6OVnQ1Rcqgr2lSGfkUEr3OxNn3r4tTRUzQLXB23QeslnKlt8OMKienctVGwuLlOrtvk6wSKk0qzbdDguIss8blw+ymNtClUvUoJu6tjq36BatrM5oCX153K3RquT63KBn43IdNfzg+m9YT68kb6DPljfQZ8sb6LPlDfTZMg/0n6ctiRVzQLUiw7xG1GLIswhVpEMXoVt6PGQVah00VodEolJZD9mEV84ADchqsTsgYyEmKz1CQoqZiWdWCWLgU6JpVhliPW3KOA2xHOox5y77nvVUnag1f4CeX6koTEnbQutSHZOs94gFOwx4FqNakNiokHQKh2Uxpny+tsKHt0+Aah1zqIU5aKB7kjXoyjHJ2kTIr3waXYwwAdloIk33kdDPmFHgT3Q5FETkxiVL0rYzIV2GSdbkp0nW9OeUEiI2eHMNHZ64GCdAk2/T5ZncZZhkLfIu04kw7AcsMhahy6Gg6+eB/oguj0B1JGqc+dZiq4OMH4sa50Lv5TB8zMyRCM6clCB0mQjosjBq/AYKstA7XX5UpSUZl4KRbLnsgYxNJhvGCdwmE3b2xDhuB73L8jXJGk4mzfUZC4UXAYyTacFPppTwWReTpJbqpFJqXYNK6GJDeTSyPF3vgEAUkmXp6K0RARt4FyTRzyk6acq8p7kiE6BBuIujDOmuuDzGFQyKGdfQ2LewOzIOfZwjEf2ObzWti+4dh82y8LhOi4krAiqlvhWheQ0UDX43TOoVZzzJ2sNLKBd/qPF87WI48m82yWeST1Mfv64KLIZnKkSXzHwqMQH6yjl3qwlQ+1WTwVkWo/VYD03rm+n1vyCTvFDHJ/WvIflCPP7iGP1IECfIa8gkd/m1s8F5J09L4Cn1a4hxmGT5LQ/</a:t>
            </a:r>
            <a:r>
              <a:rPr lang="en-US" dirty="0" err="1"/>
              <a:t>ghpUXEZWUvHmduq</a:t>
            </a:r>
            <a:r>
              <a:rPr lang="en-US" dirty="0"/>
              <a:t>/Kl+Op7fXKt2pMYwEn95QYRx+xhKgovdeiO5+y87HMMdoCRx/P3JePfoOPNr3l7YyITK9Q429+UWy/KbBVQOv8pQtTEsfs67aD3htGCqoGzb5O7ajNkFunpCaf5PobQzL1pMph97H+n/cqtauRrercadS6RNw3u2S8NgeWKEZ7FCnhDyoemb5e7XigAeCSw8ftRObALPwS8caMDrEQcYhlOU6XxzvJFsidZFrCkqxLJEaVsREOKLidiO7992E5JmTPuBhh1Hh6dTG6YMx9FTWOLt4ToDVo9cXHDVpPpMs/</a:t>
            </a:r>
            <a:r>
              <a:rPr lang="en-US" dirty="0" err="1"/>
              <a:t>jxr</a:t>
            </a:r>
            <a:r>
              <a:rPr lang="en-US" dirty="0"/>
              <a:t>/BFQrCHh7734n2c+jxr9Ksv5zoMidZPS7W99/FVhQ4nRZxVr0iyTr7RdAjR0S2uJ47rVFbknW8KJDYWZDeqjYBX8wT+F2Jxlc0cZQjTT8aowqCbaCre+xH37IXQbIi01NWHkLo59Njz4xPcHLLQ3mGlcQo9yxfZZkjW4rHNAeC/BhMdg3xEmj9XuERC3DVluViKIha213Qkhle2q0GruTrD2t5TMWTpQ2EdndIqmdskZw0o66Zx41XV6gKdOboiiWyMan033JQ42Fi1WgcVgqrcrDmmvj+VSudfUlfhYkre4XbWgynrhiaIEodUyoEFeFnqXrDpNxWspoSvoo+Wvd6CqmR1qFX/zwK5KeZ0xk54VaVHiU8uLyPyEf3iOGZQ3CAAAAAElFTkSuQm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00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4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tif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110" y="0"/>
            <a:ext cx="4957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2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4966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matrix is a collection of numbers ordered by rows and columns into a </a:t>
            </a:r>
            <a:r>
              <a:rPr lang="en-US" i="1" u="sng" dirty="0">
                <a:solidFill>
                  <a:srgbClr val="FF0000"/>
                </a:solidFill>
              </a:rPr>
              <a:t>rectangular array</a:t>
            </a:r>
            <a:r>
              <a:rPr lang="en-US" dirty="0"/>
              <a:t>. It is customary to enclose the elements of a matrix in parentheses, brackets, or braces.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99160" y="3810000"/>
                <a:ext cx="2788920" cy="1026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" y="3810000"/>
                <a:ext cx="2788920" cy="10264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42741" y="3509308"/>
                <a:ext cx="2655022" cy="1627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741" y="3509308"/>
                <a:ext cx="2655022" cy="16278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76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matrices?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3554095"/>
          </a:xfrm>
        </p:spPr>
        <p:txBody>
          <a:bodyPr/>
          <a:lstStyle/>
          <a:p>
            <a:r>
              <a:rPr lang="en-US" dirty="0"/>
              <a:t>A way of representing data (e.g. AFL league table).</a:t>
            </a:r>
          </a:p>
          <a:p>
            <a:endParaRPr lang="en-US" dirty="0"/>
          </a:p>
          <a:p>
            <a:r>
              <a:rPr lang="en-US" dirty="0"/>
              <a:t>Useful for representing route information.</a:t>
            </a:r>
          </a:p>
          <a:p>
            <a:endParaRPr lang="en-US" dirty="0"/>
          </a:p>
          <a:p>
            <a:r>
              <a:rPr lang="en-US" dirty="0"/>
              <a:t>Can be used to represent simultaneous equations.</a:t>
            </a:r>
          </a:p>
        </p:txBody>
      </p:sp>
    </p:spTree>
    <p:extLst>
      <p:ext uri="{BB962C8B-B14F-4D97-AF65-F5344CB8AC3E}">
        <p14:creationId xmlns:p14="http://schemas.microsoft.com/office/powerpoint/2010/main" val="141987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78" y="302575"/>
            <a:ext cx="8343900" cy="3263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728" y="3685540"/>
            <a:ext cx="28194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2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of a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48" y="1690690"/>
            <a:ext cx="2819400" cy="287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65258" y="1402080"/>
            <a:ext cx="5648563" cy="483209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This matrix has</a:t>
            </a:r>
          </a:p>
          <a:p>
            <a:pPr lvl="1"/>
            <a:r>
              <a:rPr lang="en-US" sz="2800" dirty="0"/>
              <a:t>SIX rows</a:t>
            </a:r>
          </a:p>
          <a:p>
            <a:pPr lvl="1"/>
            <a:r>
              <a:rPr lang="en-US" sz="2800" dirty="0"/>
              <a:t>SIX columns</a:t>
            </a:r>
          </a:p>
          <a:p>
            <a:r>
              <a:rPr lang="en-US" sz="2800" dirty="0"/>
              <a:t>It is a SIX by SIX (6 x 6) matrix.</a:t>
            </a:r>
          </a:p>
          <a:p>
            <a:endParaRPr lang="en-US" sz="2800" dirty="0"/>
          </a:p>
          <a:p>
            <a:r>
              <a:rPr lang="en-US" sz="2800" dirty="0"/>
              <a:t>6 x 6 </a:t>
            </a:r>
            <a:r>
              <a:rPr lang="mr-IN" sz="2800" dirty="0"/>
              <a:t>–</a:t>
            </a:r>
            <a:r>
              <a:rPr lang="en-US" sz="2800" dirty="0"/>
              <a:t> dimension (or the size of a matrix)</a:t>
            </a:r>
          </a:p>
          <a:p>
            <a:endParaRPr lang="en-US" sz="2800" dirty="0"/>
          </a:p>
          <a:p>
            <a:r>
              <a:rPr lang="en-US" sz="2800" dirty="0"/>
              <a:t>This is also called a </a:t>
            </a:r>
            <a:r>
              <a:rPr lang="en-US" sz="2800" dirty="0">
                <a:solidFill>
                  <a:srgbClr val="FF0000"/>
                </a:solidFill>
              </a:rPr>
              <a:t>SQUARE</a:t>
            </a:r>
            <a:r>
              <a:rPr lang="en-US" sz="2800" dirty="0"/>
              <a:t> matrix as the </a:t>
            </a:r>
            <a:r>
              <a:rPr lang="en-US" sz="2800" dirty="0">
                <a:solidFill>
                  <a:srgbClr val="FF0000"/>
                </a:solidFill>
              </a:rPr>
              <a:t>number of rows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= number of columns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8124" y="2301240"/>
            <a:ext cx="3504724" cy="396240"/>
            <a:chOff x="228124" y="2301240"/>
            <a:chExt cx="3504724" cy="396240"/>
          </a:xfrm>
        </p:grpSpPr>
        <p:sp>
          <p:nvSpPr>
            <p:cNvPr id="6" name="Rectangle 5"/>
            <p:cNvSpPr/>
            <p:nvPr/>
          </p:nvSpPr>
          <p:spPr>
            <a:xfrm>
              <a:off x="913448" y="2301240"/>
              <a:ext cx="2819400" cy="335280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     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124" y="2328148"/>
              <a:ext cx="899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ROW        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05000" y="1690691"/>
            <a:ext cx="405646" cy="3900685"/>
            <a:chOff x="1905000" y="1690691"/>
            <a:chExt cx="405646" cy="3900685"/>
          </a:xfrm>
        </p:grpSpPr>
        <p:sp>
          <p:nvSpPr>
            <p:cNvPr id="7" name="Rectangle 6"/>
            <p:cNvSpPr/>
            <p:nvPr/>
          </p:nvSpPr>
          <p:spPr>
            <a:xfrm>
              <a:off x="1905000" y="1690691"/>
              <a:ext cx="381000" cy="2713670"/>
            </a:xfrm>
            <a:prstGeom prst="rect">
              <a:avLst/>
            </a:prstGeom>
            <a:solidFill>
              <a:srgbClr val="FF0000">
                <a:alpha val="14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 rot="16200000">
              <a:off x="1188720" y="4469450"/>
              <a:ext cx="1874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COLUMN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8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90807"/>
            <a:ext cx="8543925" cy="1325563"/>
          </a:xfrm>
        </p:spPr>
        <p:txBody>
          <a:bodyPr/>
          <a:lstStyle/>
          <a:p>
            <a:r>
              <a:rPr lang="en-US" dirty="0"/>
              <a:t>More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520"/>
            <a:ext cx="9921362" cy="334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1048" y="1722120"/>
            <a:ext cx="1342072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1295400"/>
            <a:ext cx="381000" cy="126492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574280" y="1295400"/>
            <a:ext cx="381000" cy="126492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381000" cy="82296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642360" y="1341120"/>
            <a:ext cx="381000" cy="79248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93744" y="1363980"/>
            <a:ext cx="1699736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42560" y="1722120"/>
            <a:ext cx="685800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68968" y="1752600"/>
            <a:ext cx="854392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4704398" y="868680"/>
            <a:ext cx="1711642" cy="3703320"/>
            <a:chOff x="4704398" y="868680"/>
            <a:chExt cx="1711642" cy="3703320"/>
          </a:xfrm>
        </p:grpSpPr>
        <p:sp>
          <p:nvSpPr>
            <p:cNvPr id="14" name="Rectangle 13"/>
            <p:cNvSpPr/>
            <p:nvPr/>
          </p:nvSpPr>
          <p:spPr>
            <a:xfrm>
              <a:off x="4704398" y="868680"/>
              <a:ext cx="1711642" cy="37033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93707" y="3925669"/>
              <a:ext cx="13330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COLUMN</a:t>
              </a:r>
            </a:p>
            <a:p>
              <a:pPr algn="ctr"/>
              <a:r>
                <a:rPr lang="en-US" dirty="0"/>
                <a:t>MATRIX</a:t>
              </a: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5573673"/>
            <a:ext cx="2146300" cy="6223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042160" y="5558432"/>
            <a:ext cx="381000" cy="622301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644968" y="5638800"/>
            <a:ext cx="1524952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495040" y="5275629"/>
            <a:ext cx="1584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charset="0"/>
                <a:ea typeface="Calibri" charset="0"/>
                <a:cs typeface="Calibri" charset="0"/>
              </a:rPr>
              <a:t>1 row</a:t>
            </a:r>
          </a:p>
          <a:p>
            <a:pPr algn="ctr"/>
            <a:r>
              <a:rPr lang="en-US" dirty="0">
                <a:latin typeface="Calibri" charset="0"/>
                <a:ea typeface="Calibri" charset="0"/>
                <a:cs typeface="Calibri" charset="0"/>
              </a:rPr>
              <a:t>and </a:t>
            </a:r>
          </a:p>
          <a:p>
            <a:pPr algn="ctr"/>
            <a:r>
              <a:rPr lang="en-US" dirty="0">
                <a:latin typeface="Calibri" charset="0"/>
                <a:ea typeface="Calibri" charset="0"/>
                <a:cs typeface="Calibri" charset="0"/>
              </a:rPr>
              <a:t>4 columns</a:t>
            </a:r>
          </a:p>
          <a:p>
            <a:pPr algn="ctr"/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A 1 x 4 matrix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112520" y="5069619"/>
            <a:ext cx="5303520" cy="1683338"/>
            <a:chOff x="1112520" y="5069619"/>
            <a:chExt cx="5303520" cy="1683338"/>
          </a:xfrm>
        </p:grpSpPr>
        <p:sp>
          <p:nvSpPr>
            <p:cNvPr id="17" name="TextBox 16"/>
            <p:cNvSpPr txBox="1"/>
            <p:nvPr/>
          </p:nvSpPr>
          <p:spPr>
            <a:xfrm>
              <a:off x="5242560" y="5691127"/>
              <a:ext cx="9120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ROW</a:t>
              </a:r>
            </a:p>
            <a:p>
              <a:pPr algn="ctr"/>
              <a:r>
                <a:rPr lang="en-US" dirty="0"/>
                <a:t>MATRIX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12520" y="5069619"/>
              <a:ext cx="5303520" cy="168333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815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Matrix </a:t>
            </a:r>
            <a:r>
              <a:rPr lang="mr-IN" dirty="0"/>
              <a:t>–</a:t>
            </a:r>
            <a:r>
              <a:rPr lang="en-US" dirty="0"/>
              <a:t> leading diagonal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68" y="1782130"/>
            <a:ext cx="2819400" cy="2870200"/>
          </a:xfrm>
          <a:prstGeom prst="rect">
            <a:avLst/>
          </a:prstGeom>
          <a:ln w="28575">
            <a:noFill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1187768" y="1782130"/>
            <a:ext cx="2927032" cy="30184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55920" y="1782130"/>
                <a:ext cx="1570558" cy="1026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920" y="1782130"/>
                <a:ext cx="1570558" cy="10264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593080" y="1782130"/>
            <a:ext cx="1433398" cy="12353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13537" y="4226835"/>
                <a:ext cx="3820405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110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210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121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38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537" y="4226835"/>
                <a:ext cx="3820405" cy="16238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>
            <a:off x="5313537" y="4226835"/>
            <a:ext cx="3820405" cy="17320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83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Matrix - Diagonal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0" y="1966794"/>
                <a:ext cx="1570558" cy="1026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6794"/>
                <a:ext cx="1570558" cy="10264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50497" y="1666102"/>
                <a:ext cx="3820405" cy="1627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497" y="1666102"/>
                <a:ext cx="3820405" cy="16278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21" y="3992880"/>
            <a:ext cx="3573076" cy="22860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1116787" y="2060789"/>
            <a:ext cx="1179179" cy="9308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65032" y="1692770"/>
            <a:ext cx="3119227" cy="15985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81038" y="4251960"/>
            <a:ext cx="2885122" cy="18592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898" y="3724945"/>
            <a:ext cx="3489981" cy="2845996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4953000" y="3722390"/>
            <a:ext cx="3017520" cy="28485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37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28" y="273370"/>
            <a:ext cx="2819400" cy="2870200"/>
          </a:xfrm>
          <a:prstGeom prst="rect">
            <a:avLst/>
          </a:prstGeom>
          <a:ln w="28575">
            <a:noFill/>
          </a:ln>
        </p:spPr>
      </p:pic>
      <p:sp>
        <p:nvSpPr>
          <p:cNvPr id="5" name="Oval 4"/>
          <p:cNvSpPr/>
          <p:nvPr/>
        </p:nvSpPr>
        <p:spPr>
          <a:xfrm>
            <a:off x="3368040" y="426720"/>
            <a:ext cx="411480" cy="457200"/>
          </a:xfrm>
          <a:prstGeom prst="ellipse">
            <a:avLst/>
          </a:prstGeom>
          <a:solidFill>
            <a:srgbClr val="00B050">
              <a:alpha val="3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45080" y="1295400"/>
            <a:ext cx="411480" cy="457200"/>
          </a:xfrm>
          <a:prstGeom prst="ellipse">
            <a:avLst/>
          </a:prstGeom>
          <a:solidFill>
            <a:srgbClr val="00B050">
              <a:alpha val="3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endCxn id="5" idx="6"/>
          </p:cNvCxnSpPr>
          <p:nvPr/>
        </p:nvCxnSpPr>
        <p:spPr>
          <a:xfrm flipH="1" flipV="1">
            <a:off x="3779520" y="655320"/>
            <a:ext cx="2590800" cy="1097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6" idx="6"/>
          </p:cNvCxnSpPr>
          <p:nvPr/>
        </p:nvCxnSpPr>
        <p:spPr>
          <a:xfrm flipH="1" flipV="1">
            <a:off x="2956560" y="1524000"/>
            <a:ext cx="3413760" cy="228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69368" y="1295400"/>
            <a:ext cx="23326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Elements of </a:t>
            </a:r>
            <a:r>
              <a:rPr lang="en-US" sz="2800"/>
              <a:t>the matrix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5480" y="3561097"/>
                <a:ext cx="5242560" cy="1784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/>
                  <a:t>A  =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80" y="3561097"/>
                <a:ext cx="5242560" cy="1784591"/>
              </a:xfrm>
              <a:prstGeom prst="rect">
                <a:avLst/>
              </a:prstGeom>
              <a:blipFill rotWithShape="0">
                <a:blip r:embed="rId3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480560" y="3292138"/>
            <a:ext cx="5425440" cy="1569660"/>
            <a:chOff x="4480560" y="3292138"/>
            <a:chExt cx="5425440" cy="1569660"/>
          </a:xfrm>
        </p:grpSpPr>
        <p:sp>
          <p:nvSpPr>
            <p:cNvPr id="16" name="Oval 15"/>
            <p:cNvSpPr/>
            <p:nvPr/>
          </p:nvSpPr>
          <p:spPr>
            <a:xfrm>
              <a:off x="4480560" y="3561096"/>
              <a:ext cx="914400" cy="629904"/>
            </a:xfrm>
            <a:prstGeom prst="ellipse">
              <a:avLst/>
            </a:prstGeom>
            <a:solidFill>
              <a:srgbClr val="00B050">
                <a:alpha val="37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5410200" y="3876048"/>
              <a:ext cx="1767840" cy="31495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208520" y="3292138"/>
              <a:ext cx="26974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Element is written as</a:t>
              </a:r>
            </a:p>
            <a:p>
              <a:r>
                <a:rPr lang="en-US" sz="3200" dirty="0" err="1"/>
                <a:t>a</a:t>
              </a:r>
              <a:r>
                <a:rPr lang="en-US" sz="3200" baseline="-25000" dirty="0" err="1"/>
                <a:t>row</a:t>
              </a:r>
              <a:r>
                <a:rPr lang="en-US" sz="3200" baseline="-25000" dirty="0"/>
                <a:t> </a:t>
              </a:r>
              <a:r>
                <a:rPr lang="en-US" sz="3200" baseline="-25000" dirty="0" err="1"/>
                <a:t>no.,column</a:t>
              </a:r>
              <a:r>
                <a:rPr lang="en-US" sz="3200" baseline="-25000" dirty="0"/>
                <a:t> no.</a:t>
              </a:r>
              <a:endParaRPr lang="en-US" sz="3200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15766" y="4119880"/>
            <a:ext cx="3039428" cy="2501146"/>
            <a:chOff x="415766" y="4119880"/>
            <a:chExt cx="3039428" cy="2501146"/>
          </a:xfrm>
        </p:grpSpPr>
        <p:sp>
          <p:nvSpPr>
            <p:cNvPr id="26" name="Oval 25"/>
            <p:cNvSpPr/>
            <p:nvPr/>
          </p:nvSpPr>
          <p:spPr>
            <a:xfrm>
              <a:off x="2087880" y="4119880"/>
              <a:ext cx="640080" cy="696198"/>
            </a:xfrm>
            <a:prstGeom prst="ellipse">
              <a:avLst/>
            </a:prstGeom>
            <a:solidFill>
              <a:srgbClr val="FF0000">
                <a:alpha val="37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V="1">
              <a:off x="1935480" y="4861799"/>
              <a:ext cx="365760" cy="73128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15766" y="5543808"/>
              <a:ext cx="303942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Capital letter to label </a:t>
              </a:r>
              <a:r>
                <a:rPr lang="en-US" sz="3200"/>
                <a:t>a matrix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923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1" y="568341"/>
            <a:ext cx="6180182" cy="31654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1" y="3566160"/>
            <a:ext cx="19659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</a:t>
            </a:r>
            <a:r>
              <a:rPr lang="en-US" sz="2800" baseline="-25000" dirty="0"/>
              <a:t>12</a:t>
            </a:r>
            <a:r>
              <a:rPr lang="en-US" sz="2800" dirty="0"/>
              <a:t> = 0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21</a:t>
            </a:r>
            <a:r>
              <a:rPr lang="en-US" sz="2800" dirty="0"/>
              <a:t> = 1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32</a:t>
            </a:r>
            <a:r>
              <a:rPr lang="en-US" sz="2800" dirty="0"/>
              <a:t> = 7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13</a:t>
            </a:r>
            <a:r>
              <a:rPr lang="en-US" sz="2800" dirty="0"/>
              <a:t> =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8184" y="3566160"/>
            <a:ext cx="19659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</a:t>
            </a:r>
            <a:r>
              <a:rPr lang="en-US" sz="2800" baseline="-25000" dirty="0"/>
              <a:t>34</a:t>
            </a:r>
            <a:r>
              <a:rPr lang="en-US" sz="2800" dirty="0"/>
              <a:t> = 4 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14</a:t>
            </a:r>
            <a:r>
              <a:rPr lang="en-US" sz="2800" dirty="0"/>
              <a:t> = 3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23</a:t>
            </a:r>
            <a:r>
              <a:rPr lang="en-US" sz="2800" dirty="0"/>
              <a:t> = -3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22</a:t>
            </a:r>
            <a:r>
              <a:rPr lang="en-US" sz="2800" dirty="0"/>
              <a:t> =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F936BF-1CEB-E044-815B-F5F43BC94658}"/>
              </a:ext>
            </a:extLst>
          </p:cNvPr>
          <p:cNvSpPr/>
          <p:nvPr/>
        </p:nvSpPr>
        <p:spPr>
          <a:xfrm>
            <a:off x="6230319" y="3566160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E7C98-8CDD-B249-B7CF-A24063FD8B8F}"/>
              </a:ext>
            </a:extLst>
          </p:cNvPr>
          <p:cNvSpPr/>
          <p:nvPr/>
        </p:nvSpPr>
        <p:spPr>
          <a:xfrm>
            <a:off x="6230319" y="4416808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E1C487-E6B1-4340-AB62-1E11F3CD116E}"/>
              </a:ext>
            </a:extLst>
          </p:cNvPr>
          <p:cNvSpPr/>
          <p:nvPr/>
        </p:nvSpPr>
        <p:spPr>
          <a:xfrm>
            <a:off x="6230319" y="5267456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E71BC-4EE5-3247-89D0-682AC3F2E742}"/>
              </a:ext>
            </a:extLst>
          </p:cNvPr>
          <p:cNvSpPr/>
          <p:nvPr/>
        </p:nvSpPr>
        <p:spPr>
          <a:xfrm>
            <a:off x="6230318" y="6169460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7D0C2-AC22-0244-B8EF-78E9A792DA1A}"/>
              </a:ext>
            </a:extLst>
          </p:cNvPr>
          <p:cNvSpPr/>
          <p:nvPr/>
        </p:nvSpPr>
        <p:spPr>
          <a:xfrm>
            <a:off x="2871423" y="4542245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4A76A-DFA1-8F43-B219-661BDC6F1585}"/>
              </a:ext>
            </a:extLst>
          </p:cNvPr>
          <p:cNvSpPr/>
          <p:nvPr/>
        </p:nvSpPr>
        <p:spPr>
          <a:xfrm>
            <a:off x="2871423" y="5392893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8AF59-98DA-7141-B563-C1E9C02BDEEA}"/>
              </a:ext>
            </a:extLst>
          </p:cNvPr>
          <p:cNvSpPr/>
          <p:nvPr/>
        </p:nvSpPr>
        <p:spPr>
          <a:xfrm>
            <a:off x="2871423" y="6243541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9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and subtracting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024255"/>
          </a:xfrm>
        </p:spPr>
        <p:txBody>
          <a:bodyPr/>
          <a:lstStyle/>
          <a:p>
            <a:r>
              <a:rPr lang="en-US" dirty="0"/>
              <a:t>When adding and subtracting matrices, only matrices of the same dimension can be added </a:t>
            </a:r>
            <a:r>
              <a:rPr lang="en-US"/>
              <a:t>or subtracted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1038" y="3190102"/>
                <a:ext cx="3146246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38" y="3190102"/>
                <a:ext cx="3146246" cy="1148199"/>
              </a:xfrm>
              <a:prstGeom prst="rect">
                <a:avLst/>
              </a:prstGeom>
              <a:blipFill rotWithShape="0">
                <a:blip r:embed="rId2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68657" y="3198887"/>
                <a:ext cx="2934650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72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657" y="3198887"/>
                <a:ext cx="2934650" cy="1176604"/>
              </a:xfrm>
              <a:prstGeom prst="rect">
                <a:avLst/>
              </a:prstGeom>
              <a:blipFill rotWithShape="0">
                <a:blip r:embed="rId3"/>
                <a:stretch>
                  <a:fillRect l="-7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44680" y="3427956"/>
                <a:ext cx="1470915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/>
                  <a:t>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680" y="3427956"/>
                <a:ext cx="1470915" cy="718466"/>
              </a:xfrm>
              <a:prstGeom prst="rect">
                <a:avLst/>
              </a:prstGeom>
              <a:blipFill rotWithShape="0">
                <a:blip r:embed="rId4"/>
                <a:stretch>
                  <a:fillRect l="-14938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032760" y="4916377"/>
            <a:ext cx="5303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Matrix A </a:t>
            </a:r>
            <a:r>
              <a:rPr lang="mr-IN" sz="2800" b="1" dirty="0"/>
              <a:t>–</a:t>
            </a:r>
            <a:r>
              <a:rPr lang="en-US" sz="2800" b="1" dirty="0"/>
              <a:t> 3 x 3 matrix</a:t>
            </a:r>
          </a:p>
          <a:p>
            <a:r>
              <a:rPr lang="en-US" sz="2800" b="1" dirty="0"/>
              <a:t>Matrix B </a:t>
            </a:r>
            <a:r>
              <a:rPr lang="mr-IN" sz="2800" b="1" dirty="0"/>
              <a:t>–</a:t>
            </a:r>
            <a:r>
              <a:rPr lang="en-US" sz="2800" b="1" dirty="0"/>
              <a:t> 3 x 3 matrix</a:t>
            </a:r>
          </a:p>
          <a:p>
            <a:r>
              <a:rPr lang="en-US" sz="2800" b="1" dirty="0"/>
              <a:t>Matrix C </a:t>
            </a:r>
            <a:r>
              <a:rPr lang="mr-IN" sz="2800" b="1" dirty="0"/>
              <a:t>–</a:t>
            </a:r>
            <a:r>
              <a:rPr lang="en-US" sz="2800" b="1" dirty="0"/>
              <a:t> 2 x 2 matrix</a:t>
            </a:r>
          </a:p>
        </p:txBody>
      </p:sp>
    </p:spTree>
    <p:extLst>
      <p:ext uri="{BB962C8B-B14F-4D97-AF65-F5344CB8AC3E}">
        <p14:creationId xmlns:p14="http://schemas.microsoft.com/office/powerpoint/2010/main" val="171607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blipFill rotWithShape="0">
                <a:blip r:embed="rId2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72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blipFill rotWithShape="0">
                <a:blip r:embed="rId3"/>
                <a:stretch>
                  <a:fillRect l="-7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/>
                  <a:t>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blipFill rotWithShape="0">
                <a:blip r:embed="rId4"/>
                <a:stretch>
                  <a:fillRect l="-14938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85838" y="1746986"/>
                <a:ext cx="8015784" cy="990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A +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20+20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5+0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65+42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22+72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21+21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32+5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4+3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6+0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145+145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290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1746986"/>
                <a:ext cx="8015784" cy="990336"/>
              </a:xfrm>
              <a:prstGeom prst="rect">
                <a:avLst/>
              </a:prstGeom>
              <a:blipFill rotWithShape="0">
                <a:blip r:embed="rId5"/>
                <a:stretch>
                  <a:fillRect l="-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85838" y="3132731"/>
                <a:ext cx="8015784" cy="990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B + 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0+120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0+5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42+65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72+22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21+21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5+32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3+4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0+6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145+145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290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3132731"/>
                <a:ext cx="8015784" cy="990336"/>
              </a:xfrm>
              <a:prstGeom prst="rect">
                <a:avLst/>
              </a:prstGeom>
              <a:blipFill rotWithShape="0">
                <a:blip r:embed="rId6"/>
                <a:stretch>
                  <a:fillRect l="-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467678" y="4404360"/>
            <a:ext cx="9100040" cy="83099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 + B = B + A</a:t>
            </a:r>
            <a:r>
              <a:rPr lang="en-US" sz="2800" dirty="0"/>
              <a:t>  </a:t>
            </a:r>
          </a:p>
          <a:p>
            <a:pPr algn="ctr"/>
            <a:r>
              <a:rPr lang="en-US" sz="2000" dirty="0"/>
              <a:t>Therefore addition of matrices is commutative, i.e. the order does not matter.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678" y="5638800"/>
            <a:ext cx="9100040" cy="40011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Since A (or B) and C have different dimensions, addition cannot be performed.</a:t>
            </a:r>
          </a:p>
        </p:txBody>
      </p:sp>
    </p:spTree>
    <p:extLst>
      <p:ext uri="{BB962C8B-B14F-4D97-AF65-F5344CB8AC3E}">
        <p14:creationId xmlns:p14="http://schemas.microsoft.com/office/powerpoint/2010/main" val="201242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blipFill rotWithShape="0">
                <a:blip r:embed="rId2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72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blipFill rotWithShape="0">
                <a:blip r:embed="rId3"/>
                <a:stretch>
                  <a:fillRect l="-7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/>
                  <a:t>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blipFill rotWithShape="0">
                <a:blip r:embed="rId4"/>
                <a:stretch>
                  <a:fillRect l="-14938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85838" y="1746986"/>
                <a:ext cx="7675947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A -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20−20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5−0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65−42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22−72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21−21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32−5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4−3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6−0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145−145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−50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1746986"/>
                <a:ext cx="7675947" cy="984116"/>
              </a:xfrm>
              <a:prstGeom prst="rect">
                <a:avLst/>
              </a:prstGeom>
              <a:blipFill rotWithShape="0">
                <a:blip r:embed="rId5"/>
                <a:stretch>
                  <a:fillRect l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985838" y="3132731"/>
                <a:ext cx="8304325" cy="1008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B - 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0−120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0−5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42−65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72−22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21−21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5−32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3−4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0−6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145−145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−23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−27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3132731"/>
                <a:ext cx="8304325" cy="1008481"/>
              </a:xfrm>
              <a:prstGeom prst="rect">
                <a:avLst/>
              </a:prstGeom>
              <a:blipFill>
                <a:blip r:embed="rId6"/>
                <a:stretch>
                  <a:fillRect l="-2290" t="-1250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67678" y="4404360"/>
                <a:ext cx="9100040" cy="830997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A - B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>
                    <a:solidFill>
                      <a:srgbClr val="FF0000"/>
                    </a:solidFill>
                  </a:rPr>
                  <a:t>B - </a:t>
                </a:r>
                <a:r>
                  <a:rPr lang="en-US" sz="2800" dirty="0">
                    <a:solidFill>
                      <a:srgbClr val="FF0000"/>
                    </a:solidFill>
                  </a:rPr>
                  <a:t>A</a:t>
                </a:r>
                <a:r>
                  <a:rPr lang="en-US" sz="2800" dirty="0"/>
                  <a:t>  </a:t>
                </a:r>
              </a:p>
              <a:p>
                <a:pPr algn="ctr"/>
                <a:r>
                  <a:rPr lang="en-US" sz="2000" dirty="0"/>
                  <a:t>Therefore subtraction of matrices is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NOT</a:t>
                </a:r>
                <a:r>
                  <a:rPr lang="en-US" sz="2000" dirty="0"/>
                  <a:t> commutative, i.e. the order is important.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8" y="4404360"/>
                <a:ext cx="9100040" cy="830997"/>
              </a:xfrm>
              <a:prstGeom prst="rect">
                <a:avLst/>
              </a:prstGeom>
              <a:blipFill rotWithShape="0">
                <a:blip r:embed="rId7"/>
                <a:stretch>
                  <a:fillRect t="-5674" b="-9220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67678" y="5638800"/>
            <a:ext cx="9100040" cy="40011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Since A (or B) and C have different dimensions, subtraction cannot be performed.</a:t>
            </a:r>
          </a:p>
        </p:txBody>
      </p:sp>
    </p:spTree>
    <p:extLst>
      <p:ext uri="{BB962C8B-B14F-4D97-AF65-F5344CB8AC3E}">
        <p14:creationId xmlns:p14="http://schemas.microsoft.com/office/powerpoint/2010/main" val="1291520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28800" y="1895819"/>
                <a:ext cx="1975284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895819"/>
                <a:ext cx="1975284" cy="615810"/>
              </a:xfrm>
              <a:prstGeom prst="rect">
                <a:avLst/>
              </a:prstGeom>
              <a:blipFill rotWithShape="0">
                <a:blip r:embed="rId2"/>
                <a:stretch>
                  <a:fillRect l="-9259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3520" y="1620549"/>
                <a:ext cx="1713931" cy="97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1620549"/>
                <a:ext cx="1713931" cy="975332"/>
              </a:xfrm>
              <a:prstGeom prst="rect">
                <a:avLst/>
              </a:prstGeom>
              <a:blipFill rotWithShape="0">
                <a:blip r:embed="rId3"/>
                <a:stretch>
                  <a:fillRect l="-10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28800" y="3374099"/>
                <a:ext cx="5450979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2C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374099"/>
                <a:ext cx="5450979" cy="615810"/>
              </a:xfrm>
              <a:prstGeom prst="rect">
                <a:avLst/>
              </a:prstGeom>
              <a:blipFill rotWithShape="0">
                <a:blip r:embed="rId4"/>
                <a:stretch>
                  <a:fillRect l="-335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28800" y="4636076"/>
                <a:ext cx="4763163" cy="1353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0.5D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3.5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636076"/>
                <a:ext cx="4763163" cy="1353447"/>
              </a:xfrm>
              <a:prstGeom prst="rect">
                <a:avLst/>
              </a:prstGeom>
              <a:blipFill rotWithShape="0">
                <a:blip r:embed="rId5"/>
                <a:stretch>
                  <a:fillRect l="-3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21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F6C7B5-8845-CB41-81CD-85E833FA08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11" t="59965" r="29189" b="25384"/>
          <a:stretch/>
        </p:blipFill>
        <p:spPr>
          <a:xfrm>
            <a:off x="189424" y="212942"/>
            <a:ext cx="9527151" cy="150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0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B02BE-A57F-1143-992A-BD9039B780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49" t="40102" r="18188" b="40681"/>
          <a:stretch/>
        </p:blipFill>
        <p:spPr>
          <a:xfrm>
            <a:off x="388306" y="200417"/>
            <a:ext cx="9078497" cy="15908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96302E-E995-4A43-8F95-0902093C544E}"/>
              </a:ext>
            </a:extLst>
          </p:cNvPr>
          <p:cNvSpPr/>
          <p:nvPr/>
        </p:nvSpPr>
        <p:spPr>
          <a:xfrm>
            <a:off x="6764055" y="1440493"/>
            <a:ext cx="2379945" cy="4008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5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58240" y="2087880"/>
                <a:ext cx="7335341" cy="268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AU" sz="3600" b="0" dirty="0"/>
                  <a:t>If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mr-IN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600" b="0" i="1" smtClean="0">
                                  <a:latin typeface="Cambria Math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𝑒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6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6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600" dirty="0"/>
                  <a:t> then</a:t>
                </a:r>
              </a:p>
              <a:p>
                <a:pPr algn="ctr"/>
                <a:endParaRPr lang="en-US" sz="3600" dirty="0"/>
              </a:p>
              <a:p>
                <a:pPr algn="ctr"/>
                <a:r>
                  <a:rPr lang="en-US" sz="3600" dirty="0"/>
                  <a:t>a = 3, b = 13, c = 18, d = 11, e = 23, f = 4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" y="2087880"/>
                <a:ext cx="7335341" cy="2681247"/>
              </a:xfrm>
              <a:prstGeom prst="rect">
                <a:avLst/>
              </a:prstGeom>
              <a:blipFill rotWithShape="0">
                <a:blip r:embed="rId2"/>
                <a:stretch>
                  <a:fillRect l="-3325" r="-3325" b="-9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816028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397</TotalTime>
  <Words>695</Words>
  <Application>Microsoft Macintosh PowerPoint</Application>
  <PresentationFormat>A4 Paper (210x297 mm)</PresentationFormat>
  <Paragraphs>96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A4 Presentation</vt:lpstr>
      <vt:lpstr>PowerPoint Presentation</vt:lpstr>
      <vt:lpstr>Matrix</vt:lpstr>
      <vt:lpstr>Why do we need matrices?</vt:lpstr>
      <vt:lpstr>PowerPoint Presentation</vt:lpstr>
      <vt:lpstr>Dimensions of a matrix</vt:lpstr>
      <vt:lpstr>More examples</vt:lpstr>
      <vt:lpstr>Square Matrix – leading diagonal</vt:lpstr>
      <vt:lpstr>Square Matrix - Diagonal Matrix</vt:lpstr>
      <vt:lpstr>PowerPoint Presentation</vt:lpstr>
      <vt:lpstr>PowerPoint Presentation</vt:lpstr>
      <vt:lpstr>Adding and subtracting matrices</vt:lpstr>
      <vt:lpstr>PowerPoint Presentation</vt:lpstr>
      <vt:lpstr>PowerPoint Presentation</vt:lpstr>
      <vt:lpstr>Scalar multiplication</vt:lpstr>
      <vt:lpstr>PowerPoint Presentation</vt:lpstr>
      <vt:lpstr>PowerPoint Presentation</vt:lpstr>
      <vt:lpstr>Equal matrices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31</cp:revision>
  <cp:lastPrinted>2019-03-14T01:31:53Z</cp:lastPrinted>
  <dcterms:created xsi:type="dcterms:W3CDTF">2017-03-19T05:05:44Z</dcterms:created>
  <dcterms:modified xsi:type="dcterms:W3CDTF">2019-03-14T04:45:28Z</dcterms:modified>
</cp:coreProperties>
</file>
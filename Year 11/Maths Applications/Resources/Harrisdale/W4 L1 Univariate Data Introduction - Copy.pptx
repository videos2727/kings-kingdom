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7" r:id="rId2"/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2"/>
  </p:normalViewPr>
  <p:slideViewPr>
    <p:cSldViewPr snapToGrid="0" snapToObjects="1">
      <p:cViewPr varScale="1">
        <p:scale>
          <a:sx n="109" d="100"/>
          <a:sy n="109" d="100"/>
        </p:scale>
        <p:origin x="1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3E82E4-FF1A-A14F-AD8E-20FB9E1AAE5B}" type="datetimeFigureOut">
              <a:rPr lang="en-US" smtClean="0"/>
              <a:t>8/11/19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79D34-3621-7D46-8E84-DE2F5CD0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12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bc.net.au/news/2017-06-27/census-australia-as-100-people/8634318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What number gives the same answer when you add 16 to it as when you multiply it by five?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 think of a number, double it, add five, multiply the results by 4, take away the number I first thought of an end up with 62. What is the number?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Solve the following equations:</a:t>
                </a:r>
              </a:p>
              <a:p>
                <a:pPr marL="971550" lvl="1" indent="-51435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+7=2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−1 </m:t>
                    </m:r>
                  </m:oMath>
                </a14:m>
                <a:endParaRPr lang="en-US" dirty="0"/>
              </a:p>
              <a:p>
                <a:pPr marL="971550" lvl="1" indent="-514350"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+3=6</m:t>
                    </m:r>
                  </m:oMath>
                </a14:m>
                <a:endParaRPr lang="en-US" dirty="0"/>
              </a:p>
              <a:p>
                <a:pPr marL="971550" lvl="1" indent="-51435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AU" i="1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+3</m:t>
                        </m:r>
                      </m:e>
                    </m:d>
                  </m:oMath>
                </a14:m>
                <a:endParaRPr lang="en-AU" dirty="0"/>
              </a:p>
              <a:p>
                <a:pPr marL="971550" lvl="1" indent="-514350">
                  <a:buFont typeface="+mj-lt"/>
                  <a:buAutoNum type="alphaLcPeriod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6" t="-2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22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Univariate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59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CENSUS 2016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http://www.abc.net.au/news/2017-06-27/census-australia-as-100-people/8634318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13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</a:t>
            </a:r>
          </a:p>
          <a:p>
            <a:pPr lvl="1"/>
            <a:r>
              <a:rPr lang="en-US" dirty="0"/>
              <a:t>Data we collect ourselves, e.g. by experiment, survey etc.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SECONDARY</a:t>
            </a:r>
          </a:p>
          <a:p>
            <a:pPr lvl="1"/>
            <a:r>
              <a:rPr lang="en-US" dirty="0"/>
              <a:t>Data collected by other people, e.g. census (Australian Bureau of Statistics [ABS]).</a:t>
            </a:r>
          </a:p>
        </p:txBody>
      </p:sp>
    </p:spTree>
    <p:extLst>
      <p:ext uri="{BB962C8B-B14F-4D97-AF65-F5344CB8AC3E}">
        <p14:creationId xmlns:p14="http://schemas.microsoft.com/office/powerpoint/2010/main" val="2038177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your </a:t>
            </a:r>
            <a:r>
              <a:rPr lang="en-US" dirty="0" err="1"/>
              <a:t>favourite</a:t>
            </a:r>
            <a:r>
              <a:rPr lang="en-US" dirty="0"/>
              <a:t> sport?</a:t>
            </a:r>
            <a:br>
              <a:rPr lang="en-US" dirty="0"/>
            </a:br>
            <a:r>
              <a:rPr lang="en-US" dirty="0"/>
              <a:t>How old are you?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3984866"/>
          </a:xfrm>
        </p:spPr>
        <p:txBody>
          <a:bodyPr/>
          <a:lstStyle/>
          <a:p>
            <a:r>
              <a:rPr lang="en-US" dirty="0"/>
              <a:t>From a survey of 400 students, the data collected: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604288"/>
              </p:ext>
            </p:extLst>
          </p:nvPr>
        </p:nvGraphicFramePr>
        <p:xfrm>
          <a:off x="1967696" y="2489838"/>
          <a:ext cx="5648447" cy="3147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6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1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11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56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Age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AFL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Rugby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Tennis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Cycling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9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16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2400" u="none" strike="noStrike" dirty="0">
                          <a:effectLst/>
                        </a:rPr>
                        <a:t>18</a:t>
                      </a:r>
                      <a:endParaRPr lang="fi-F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2400" u="none" strike="noStrike">
                          <a:effectLst/>
                        </a:rPr>
                        <a:t>23</a:t>
                      </a:r>
                      <a:endParaRPr lang="is-IS" sz="2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2400" u="none" strike="noStrike">
                          <a:effectLst/>
                        </a:rPr>
                        <a:t>18</a:t>
                      </a:r>
                      <a:endParaRPr lang="fi-FI" sz="2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9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17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16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2400" u="none" strike="noStrike" dirty="0">
                          <a:effectLst/>
                        </a:rPr>
                        <a:t>18</a:t>
                      </a:r>
                      <a:endParaRPr lang="fi-F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2400" u="none" strike="noStrike">
                          <a:effectLst/>
                        </a:rPr>
                        <a:t>27</a:t>
                      </a:r>
                      <a:endParaRPr lang="is-IS" sz="2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925">
                <a:tc>
                  <a:txBody>
                    <a:bodyPr/>
                    <a:lstStyle/>
                    <a:p>
                      <a:pPr algn="ctr" fontAlgn="b"/>
                      <a:r>
                        <a:rPr lang="fi-FI" sz="2400" b="1" u="none" strike="noStrike" dirty="0">
                          <a:effectLst/>
                        </a:rPr>
                        <a:t>18</a:t>
                      </a:r>
                      <a:endParaRPr lang="fi-FI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2400" u="none" strike="noStrike">
                          <a:effectLst/>
                        </a:rPr>
                        <a:t>25</a:t>
                      </a:r>
                      <a:endParaRPr lang="is-IS" sz="2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2400" u="none" strike="noStrike" dirty="0">
                          <a:effectLst/>
                        </a:rPr>
                        <a:t>22</a:t>
                      </a:r>
                      <a:endParaRPr lang="is-I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</a:rPr>
                        <a:t>34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2400" u="none" strike="noStrike">
                          <a:effectLst/>
                        </a:rPr>
                        <a:t>13</a:t>
                      </a:r>
                      <a:endParaRPr lang="is-IS" sz="2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9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19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2400" u="none" strike="noStrike">
                          <a:effectLst/>
                        </a:rPr>
                        <a:t>23</a:t>
                      </a:r>
                      <a:endParaRPr lang="is-IS" sz="2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17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665">
                <a:tc>
                  <a:txBody>
                    <a:bodyPr/>
                    <a:lstStyle/>
                    <a:p>
                      <a:pPr algn="ctr" fontAlgn="b"/>
                      <a:r>
                        <a:rPr lang="is-IS" sz="2400" b="1" u="none" strike="noStrike" dirty="0">
                          <a:effectLst/>
                        </a:rPr>
                        <a:t>20</a:t>
                      </a:r>
                      <a:endParaRPr lang="is-I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2400" u="none" strike="noStrike">
                          <a:effectLst/>
                        </a:rPr>
                        <a:t>25</a:t>
                      </a:r>
                      <a:endParaRPr lang="is-IS" sz="2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2400" u="none" strike="noStrike">
                          <a:effectLst/>
                        </a:rPr>
                        <a:t>23</a:t>
                      </a:r>
                      <a:endParaRPr lang="is-IS" sz="2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2400" u="none" strike="noStrike" dirty="0">
                          <a:effectLst/>
                        </a:rPr>
                        <a:t>18</a:t>
                      </a:r>
                      <a:endParaRPr lang="fi-F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2400" u="none" strike="noStrike" dirty="0">
                          <a:effectLst/>
                        </a:rPr>
                        <a:t>20</a:t>
                      </a:r>
                      <a:endParaRPr lang="is-I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6423949" y="2489838"/>
            <a:ext cx="1192194" cy="63532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967696" y="3044136"/>
            <a:ext cx="985778" cy="54593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15" idx="0"/>
          </p:cNvCxnSpPr>
          <p:nvPr/>
        </p:nvCxnSpPr>
        <p:spPr>
          <a:xfrm flipH="1" flipV="1">
            <a:off x="7454096" y="3044137"/>
            <a:ext cx="1255853" cy="131951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5" idx="0"/>
          </p:cNvCxnSpPr>
          <p:nvPr/>
        </p:nvCxnSpPr>
        <p:spPr>
          <a:xfrm flipH="1" flipV="1">
            <a:off x="2953474" y="3402309"/>
            <a:ext cx="5756475" cy="96134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32830" y="4363651"/>
            <a:ext cx="1354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Variables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527" y="6007261"/>
            <a:ext cx="8530541" cy="52322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Considering </a:t>
            </a:r>
            <a:r>
              <a:rPr lang="en-US" sz="2800" b="1" dirty="0">
                <a:solidFill>
                  <a:srgbClr val="FF0000"/>
                </a:solidFill>
              </a:rPr>
              <a:t>ONE</a:t>
            </a:r>
            <a:r>
              <a:rPr lang="en-US" sz="2800" dirty="0"/>
              <a:t> </a:t>
            </a:r>
            <a:r>
              <a:rPr lang="en-US" sz="2800"/>
              <a:t>variable only - </a:t>
            </a:r>
            <a:r>
              <a:rPr lang="en-US" sz="2800" b="1">
                <a:solidFill>
                  <a:srgbClr val="FF0000"/>
                </a:solidFill>
              </a:rPr>
              <a:t>UNIVARIATE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56375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5" grpId="0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062714" y="486138"/>
            <a:ext cx="1435260" cy="707886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/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1185" y="2084967"/>
            <a:ext cx="2731627" cy="584775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CATEGORICAL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54547" y="2083445"/>
            <a:ext cx="2278283" cy="584775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NUMERICAL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182" y="3842796"/>
            <a:ext cx="165518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NOMINAL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7175" y="3842795"/>
            <a:ext cx="165518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ORDINAL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168" y="3842795"/>
            <a:ext cx="165518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DISCRETE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5160" y="3842794"/>
            <a:ext cx="1950333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CONTINUOUS</a:t>
            </a:r>
          </a:p>
        </p:txBody>
      </p:sp>
      <p:cxnSp>
        <p:nvCxnSpPr>
          <p:cNvPr id="13" name="Straight Arrow Connector 12"/>
          <p:cNvCxnSpPr>
            <a:stCxn id="5" idx="2"/>
            <a:endCxn id="6" idx="0"/>
          </p:cNvCxnSpPr>
          <p:nvPr/>
        </p:nvCxnSpPr>
        <p:spPr>
          <a:xfrm flipH="1">
            <a:off x="2666999" y="1194024"/>
            <a:ext cx="2113345" cy="89094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2"/>
            <a:endCxn id="7" idx="0"/>
          </p:cNvCxnSpPr>
          <p:nvPr/>
        </p:nvCxnSpPr>
        <p:spPr>
          <a:xfrm>
            <a:off x="4780344" y="1194024"/>
            <a:ext cx="2113345" cy="88942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0" idx="0"/>
          </p:cNvCxnSpPr>
          <p:nvPr/>
        </p:nvCxnSpPr>
        <p:spPr>
          <a:xfrm flipH="1">
            <a:off x="5993758" y="2692890"/>
            <a:ext cx="899930" cy="114990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6893688" y="2692890"/>
            <a:ext cx="1506639" cy="114990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8" idx="0"/>
          </p:cNvCxnSpPr>
          <p:nvPr/>
        </p:nvCxnSpPr>
        <p:spPr>
          <a:xfrm flipH="1">
            <a:off x="1475772" y="2692890"/>
            <a:ext cx="1215340" cy="114990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9" idx="0"/>
          </p:cNvCxnSpPr>
          <p:nvPr/>
        </p:nvCxnSpPr>
        <p:spPr>
          <a:xfrm>
            <a:off x="2666999" y="2692890"/>
            <a:ext cx="1067766" cy="114990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56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mode of transport for you to get to school?</a:t>
            </a:r>
          </a:p>
          <a:p>
            <a:r>
              <a:rPr lang="en-US" dirty="0"/>
              <a:t>What is your </a:t>
            </a:r>
            <a:r>
              <a:rPr lang="en-US" dirty="0" err="1"/>
              <a:t>favourite</a:t>
            </a:r>
            <a:r>
              <a:rPr lang="en-US" dirty="0"/>
              <a:t> singer?</a:t>
            </a:r>
          </a:p>
          <a:p>
            <a:r>
              <a:rPr lang="en-US" dirty="0"/>
              <a:t>Which suburb do you live in?</a:t>
            </a:r>
          </a:p>
          <a:p>
            <a:endParaRPr lang="en-US" dirty="0"/>
          </a:p>
          <a:p>
            <a:r>
              <a:rPr lang="en-US" dirty="0"/>
              <a:t>What do you think is your fitness level </a:t>
            </a:r>
            <a:r>
              <a:rPr lang="mr-IN" dirty="0"/>
              <a:t>–</a:t>
            </a:r>
            <a:r>
              <a:rPr lang="en-US" dirty="0"/>
              <a:t> unfit, fit, very fit?</a:t>
            </a:r>
          </a:p>
          <a:p>
            <a:r>
              <a:rPr lang="en-US" dirty="0"/>
              <a:t>How do you rate the TV series </a:t>
            </a:r>
            <a:r>
              <a:rPr lang="mr-IN" dirty="0"/>
              <a:t>–</a:t>
            </a:r>
            <a:r>
              <a:rPr lang="en-US" dirty="0"/>
              <a:t> one star to five stars?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1038" y="1690690"/>
            <a:ext cx="8543925" cy="1712267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1037" y="3718189"/>
            <a:ext cx="8543925" cy="1712267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8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87858" y="580258"/>
            <a:ext cx="2731627" cy="584775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CATEGORICAL</a:t>
            </a:r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145893" y="2291124"/>
            <a:ext cx="165518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NOMINAL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982" y="2383060"/>
            <a:ext cx="165518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ORDINAL</a:t>
            </a:r>
          </a:p>
        </p:txBody>
      </p:sp>
      <p:cxnSp>
        <p:nvCxnSpPr>
          <p:cNvPr id="7" name="Straight Arrow Connector 6"/>
          <p:cNvCxnSpPr>
            <a:stCxn id="16" idx="2"/>
          </p:cNvCxnSpPr>
          <p:nvPr/>
        </p:nvCxnSpPr>
        <p:spPr>
          <a:xfrm flipH="1">
            <a:off x="1973484" y="1579099"/>
            <a:ext cx="2498683" cy="67796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6" idx="2"/>
            <a:endCxn id="6" idx="0"/>
          </p:cNvCxnSpPr>
          <p:nvPr/>
        </p:nvCxnSpPr>
        <p:spPr>
          <a:xfrm>
            <a:off x="4472167" y="1579099"/>
            <a:ext cx="2642405" cy="80396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6137" y="3055716"/>
            <a:ext cx="36276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400" dirty="0"/>
              <a:t>No order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400" dirty="0"/>
              <a:t>Based on the name only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400" dirty="0"/>
              <a:t>Need a sub-group (names) to complete the description e.g. </a:t>
            </a:r>
            <a:r>
              <a:rPr lang="en-US" sz="2400" dirty="0" err="1"/>
              <a:t>favourite</a:t>
            </a:r>
            <a:r>
              <a:rPr lang="en-US" sz="2400" dirty="0"/>
              <a:t> </a:t>
            </a:r>
            <a:r>
              <a:rPr lang="en-US" sz="2400" dirty="0" err="1"/>
              <a:t>colour</a:t>
            </a:r>
            <a:r>
              <a:rPr lang="en-US" sz="2400" dirty="0"/>
              <a:t> is blue, green etc.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926" y="3055716"/>
            <a:ext cx="36276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400" dirty="0"/>
              <a:t>Label do suggest an order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400" dirty="0"/>
              <a:t>Need a ranking to order the description, such as achievement levels: very high, high, satisfactory and so 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351" y="1178989"/>
            <a:ext cx="3629631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FF0000"/>
                </a:solidFill>
              </a:rPr>
              <a:t>Particular group or category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949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many students are there in year 11?</a:t>
            </a:r>
          </a:p>
          <a:p>
            <a:r>
              <a:rPr lang="en-US" dirty="0"/>
              <a:t>How many people travel on the train to work?</a:t>
            </a:r>
          </a:p>
          <a:p>
            <a:r>
              <a:rPr lang="en-US" dirty="0"/>
              <a:t>How many dogs do I count when I go to the park?</a:t>
            </a:r>
          </a:p>
          <a:p>
            <a:endParaRPr lang="en-US" dirty="0"/>
          </a:p>
          <a:p>
            <a:r>
              <a:rPr lang="en-US" dirty="0"/>
              <a:t>The mass of a newly born baby in the month on June?</a:t>
            </a:r>
          </a:p>
          <a:p>
            <a:r>
              <a:rPr lang="en-US" dirty="0"/>
              <a:t>What is the half hourly temperature for the average day in June?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1038" y="1690690"/>
            <a:ext cx="8543925" cy="1712267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1037" y="3718189"/>
            <a:ext cx="8543925" cy="1712267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46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87858" y="580258"/>
            <a:ext cx="2731627" cy="584775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NUMERICAL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893" y="2291124"/>
            <a:ext cx="165518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DISCRETE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858" y="2383060"/>
            <a:ext cx="1956122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CONTINUOUS</a:t>
            </a:r>
            <a:endParaRPr lang="en-US" sz="2400" dirty="0"/>
          </a:p>
        </p:txBody>
      </p:sp>
      <p:cxnSp>
        <p:nvCxnSpPr>
          <p:cNvPr id="7" name="Straight Arrow Connector 6"/>
          <p:cNvCxnSpPr>
            <a:stCxn id="9" idx="2"/>
          </p:cNvCxnSpPr>
          <p:nvPr/>
        </p:nvCxnSpPr>
        <p:spPr>
          <a:xfrm flipH="1">
            <a:off x="1973484" y="1576079"/>
            <a:ext cx="2532682" cy="68098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9" idx="2"/>
            <a:endCxn id="6" idx="0"/>
          </p:cNvCxnSpPr>
          <p:nvPr/>
        </p:nvCxnSpPr>
        <p:spPr>
          <a:xfrm>
            <a:off x="4506166" y="1576079"/>
            <a:ext cx="2571753" cy="80698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6137" y="3055716"/>
            <a:ext cx="36276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400" dirty="0"/>
              <a:t>Only integer 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400" dirty="0"/>
              <a:t>Counted in exact values, such as goals scored in a football match, number of students and so 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926" y="3055716"/>
            <a:ext cx="36276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400" dirty="0"/>
              <a:t>Can take on any value, not just integer.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400" dirty="0"/>
              <a:t>Measured in a continuous decimal scale, such as mass, time, length and so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7858" y="1175969"/>
            <a:ext cx="2636615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FF0000"/>
                </a:solidFill>
              </a:rPr>
              <a:t>Number indicates a size</a:t>
            </a:r>
          </a:p>
        </p:txBody>
      </p:sp>
    </p:spTree>
    <p:extLst>
      <p:ext uri="{BB962C8B-B14F-4D97-AF65-F5344CB8AC3E}">
        <p14:creationId xmlns:p14="http://schemas.microsoft.com/office/powerpoint/2010/main" val="311213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Classify each of the following data: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number of </a:t>
            </a:r>
            <a:r>
              <a:rPr lang="en-US"/>
              <a:t>students going on the ski trip.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types of vehicles using a certain road.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various pizza sizes available at a local takeaway.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room temperature at various times during the day.</a:t>
            </a:r>
          </a:p>
        </p:txBody>
      </p:sp>
    </p:spTree>
    <p:extLst>
      <p:ext uri="{BB962C8B-B14F-4D97-AF65-F5344CB8AC3E}">
        <p14:creationId xmlns:p14="http://schemas.microsoft.com/office/powerpoint/2010/main" val="1082759174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182</TotalTime>
  <Words>483</Words>
  <Application>Microsoft Macintosh PowerPoint</Application>
  <PresentationFormat>A4 Paper (210x297 mm)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A4</vt:lpstr>
      <vt:lpstr>Revision</vt:lpstr>
      <vt:lpstr>Univariate Data</vt:lpstr>
      <vt:lpstr>CENSUS 2016</vt:lpstr>
      <vt:lpstr>DATA</vt:lpstr>
      <vt:lpstr>What is your favourite sport? How old are you?</vt:lpstr>
      <vt:lpstr>PowerPoint Presentation</vt:lpstr>
      <vt:lpstr>Categorical</vt:lpstr>
      <vt:lpstr>PowerPoint Presentation</vt:lpstr>
      <vt:lpstr>Numerical</vt:lpstr>
      <vt:lpstr>PowerPoint Presentation</vt:lpstr>
      <vt:lpstr>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</dc:title>
  <dc:creator>LOH Michael [Shenton College]</dc:creator>
  <cp:lastModifiedBy>LOH Michael [Shenton College]</cp:lastModifiedBy>
  <cp:revision>17</cp:revision>
  <dcterms:created xsi:type="dcterms:W3CDTF">2017-07-16T07:46:19Z</dcterms:created>
  <dcterms:modified xsi:type="dcterms:W3CDTF">2019-08-11T06:57:04Z</dcterms:modified>
</cp:coreProperties>
</file>
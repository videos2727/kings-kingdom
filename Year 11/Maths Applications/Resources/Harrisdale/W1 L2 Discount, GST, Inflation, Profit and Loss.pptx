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8"/>
  </p:notesMasterIdLst>
  <p:sldIdLst>
    <p:sldId id="257" r:id="rId2"/>
    <p:sldId id="256" r:id="rId3"/>
    <p:sldId id="258" r:id="rId4"/>
    <p:sldId id="259" r:id="rId5"/>
    <p:sldId id="267" r:id="rId6"/>
    <p:sldId id="271" r:id="rId7"/>
    <p:sldId id="268" r:id="rId8"/>
    <p:sldId id="270" r:id="rId9"/>
    <p:sldId id="269" r:id="rId10"/>
    <p:sldId id="260" r:id="rId11"/>
    <p:sldId id="261" r:id="rId12"/>
    <p:sldId id="266" r:id="rId13"/>
    <p:sldId id="263" r:id="rId14"/>
    <p:sldId id="264" r:id="rId15"/>
    <p:sldId id="262" r:id="rId16"/>
    <p:sldId id="265" r:id="rId17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67"/>
    <p:restoredTop sz="94081"/>
  </p:normalViewPr>
  <p:slideViewPr>
    <p:cSldViewPr snapToGrid="0" snapToObjects="1">
      <p:cViewPr varScale="1">
        <p:scale>
          <a:sx n="91" d="100"/>
          <a:sy n="91" d="100"/>
        </p:scale>
        <p:origin x="15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309E34-DB10-7140-9D50-3E5CA7A03957}" type="datetimeFigureOut">
              <a:rPr lang="en-US" smtClean="0"/>
              <a:t>2/4/19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69A515-2550-0B47-BF51-C172E7830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032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tweakyourbiz.com</a:t>
            </a:r>
            <a:r>
              <a:rPr lang="en-US" dirty="0"/>
              <a:t>/marketing/2015/04/14/how-discounts-and-sales-deals-help-ecommerce-boom-globally/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69A515-2550-0B47-BF51-C172E783089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986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thestockyfox.com</a:t>
            </a:r>
            <a:r>
              <a:rPr lang="en-US" dirty="0"/>
              <a:t>/2016/02/2015-was-an-awesomely-tame-year-for-inflation/</a:t>
            </a:r>
          </a:p>
          <a:p>
            <a:r>
              <a:rPr lang="en-US" dirty="0"/>
              <a:t>http://</a:t>
            </a:r>
            <a:r>
              <a:rPr lang="en-US" dirty="0" err="1"/>
              <a:t>en.tradimo.com</a:t>
            </a:r>
            <a:r>
              <a:rPr lang="en-US" dirty="0"/>
              <a:t>/</a:t>
            </a:r>
            <a:r>
              <a:rPr lang="en-US" dirty="0" err="1"/>
              <a:t>tradipedia</a:t>
            </a:r>
            <a:r>
              <a:rPr lang="en-US" dirty="0"/>
              <a:t>/inflation-rate/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69A515-2550-0B47-BF51-C172E783089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14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www.evalesco.com.au</a:t>
            </a:r>
            <a:r>
              <a:rPr lang="en-US" dirty="0"/>
              <a:t>/cash-terrible-long-term-investment/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69A515-2550-0B47-BF51-C172E783089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3985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www.gstmalaysia.co</a:t>
            </a:r>
            <a:r>
              <a:rPr lang="en-US" dirty="0"/>
              <a:t>/</a:t>
            </a:r>
          </a:p>
          <a:p>
            <a:r>
              <a:rPr lang="en-US" dirty="0"/>
              <a:t>https://</a:t>
            </a:r>
            <a:r>
              <a:rPr lang="en-US" dirty="0" err="1"/>
              <a:t>www.ato.gov.au</a:t>
            </a:r>
            <a:r>
              <a:rPr lang="en-US" dirty="0"/>
              <a:t>/Business/GST/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69A515-2550-0B47-BF51-C172E783089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316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2/4/19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2/4/19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2/4/19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37F27-3561-F447-A297-B1BA2E47B84D}" type="datetimeFigureOut">
              <a:rPr lang="en-US" smtClean="0"/>
              <a:t>2/4/19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62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tif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644807"/>
          </a:xfrm>
        </p:spPr>
        <p:txBody>
          <a:bodyPr>
            <a:normAutofit fontScale="90000"/>
          </a:bodyPr>
          <a:lstStyle/>
          <a:p>
            <a:r>
              <a:rPr lang="en-US" dirty="0"/>
              <a:t>5 minutes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910" y="1009934"/>
            <a:ext cx="8679053" cy="51670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1. Find the following amounts:</a:t>
            </a:r>
          </a:p>
          <a:p>
            <a:pPr marL="0" indent="0">
              <a:buNone/>
            </a:pPr>
            <a:r>
              <a:rPr lang="en-US" dirty="0"/>
              <a:t> a) 10% of $350  b) 2% of $600  c) 6% of $300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2. The following students gained these percentages on a Year 11 test. If the test was out of 60 marks, calculate each student’s score to the nearest whole number:</a:t>
            </a:r>
          </a:p>
          <a:p>
            <a:pPr marL="0" indent="0">
              <a:buNone/>
            </a:pPr>
            <a:r>
              <a:rPr lang="en-US" dirty="0"/>
              <a:t> a) Cameron 55%  b) Janelle 97%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3.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price of a commodity increases from $1 640 per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tonne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to $1 846 per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tonne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Express the increase as a percentage increase.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131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Consumer Arithmetic - Percentages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117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of percentages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Discount</a:t>
            </a:r>
          </a:p>
          <a:p>
            <a:r>
              <a:rPr lang="en-US" b="1" dirty="0">
                <a:solidFill>
                  <a:srgbClr val="FF0000"/>
                </a:solidFill>
              </a:rPr>
              <a:t>Inflation</a:t>
            </a:r>
          </a:p>
          <a:p>
            <a:r>
              <a:rPr lang="en-US" b="1" dirty="0">
                <a:solidFill>
                  <a:srgbClr val="FF0000"/>
                </a:solidFill>
              </a:rPr>
              <a:t>Profit and loss</a:t>
            </a:r>
          </a:p>
          <a:p>
            <a:r>
              <a:rPr lang="en-US" b="1" dirty="0">
                <a:solidFill>
                  <a:srgbClr val="FF0000"/>
                </a:solidFill>
              </a:rPr>
              <a:t>GST</a:t>
            </a:r>
          </a:p>
          <a:p>
            <a:r>
              <a:rPr lang="en-US" dirty="0"/>
              <a:t>Commission</a:t>
            </a:r>
          </a:p>
          <a:p>
            <a:r>
              <a:rPr lang="en-US" dirty="0"/>
              <a:t>Taxes</a:t>
            </a:r>
          </a:p>
          <a:p>
            <a:r>
              <a:rPr lang="en-US" b="1" dirty="0">
                <a:solidFill>
                  <a:srgbClr val="FF0000"/>
                </a:solidFill>
              </a:rPr>
              <a:t>Interest </a:t>
            </a:r>
            <a:r>
              <a:rPr lang="mr-IN" b="1" dirty="0">
                <a:solidFill>
                  <a:srgbClr val="FF0000"/>
                </a:solidFill>
              </a:rPr>
              <a:t>–</a:t>
            </a:r>
            <a:r>
              <a:rPr lang="en-US" b="1" dirty="0">
                <a:solidFill>
                  <a:srgbClr val="FF0000"/>
                </a:solidFill>
              </a:rPr>
              <a:t> simple and compound</a:t>
            </a:r>
            <a:endParaRPr lang="en-US" dirty="0"/>
          </a:p>
          <a:p>
            <a:r>
              <a:rPr lang="en-US" b="1" dirty="0"/>
              <a:t>Others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985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5"/>
            <a:ext cx="7630449" cy="344241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Reduction of price</a:t>
            </a:r>
          </a:p>
          <a:p>
            <a:r>
              <a:rPr lang="en-US" dirty="0"/>
              <a:t>Reasons:</a:t>
            </a:r>
          </a:p>
          <a:p>
            <a:pPr lvl="1"/>
            <a:r>
              <a:rPr lang="en-US" dirty="0"/>
              <a:t>Sale</a:t>
            </a:r>
          </a:p>
          <a:p>
            <a:pPr lvl="1"/>
            <a:r>
              <a:rPr lang="en-US" dirty="0"/>
              <a:t>Bulk buy</a:t>
            </a:r>
          </a:p>
          <a:p>
            <a:pPr lvl="1"/>
            <a:r>
              <a:rPr lang="en-US" dirty="0"/>
              <a:t>Damaged goods</a:t>
            </a:r>
          </a:p>
          <a:p>
            <a:pPr lvl="1"/>
            <a:r>
              <a:rPr lang="en-US" dirty="0"/>
              <a:t>Cash purchases</a:t>
            </a:r>
          </a:p>
          <a:p>
            <a:pPr lvl="1"/>
            <a:r>
              <a:rPr lang="en-US" dirty="0"/>
              <a:t>Customer loyalty</a:t>
            </a:r>
          </a:p>
          <a:p>
            <a:r>
              <a:rPr lang="en-US" dirty="0"/>
              <a:t>Usually express in % of the original price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331" y="365127"/>
            <a:ext cx="3894656" cy="25964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73033" y="5512153"/>
            <a:ext cx="6961034" cy="523220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Discount = original price * % discount</a:t>
            </a:r>
          </a:p>
        </p:txBody>
      </p:sp>
    </p:spTree>
    <p:extLst>
      <p:ext uri="{BB962C8B-B14F-4D97-AF65-F5344CB8AC3E}">
        <p14:creationId xmlns:p14="http://schemas.microsoft.com/office/powerpoint/2010/main" val="1549612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A03ED-15AF-2C40-9C11-7D440049C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8" y="379828"/>
            <a:ext cx="8543925" cy="5797135"/>
          </a:xfrm>
        </p:spPr>
        <p:txBody>
          <a:bodyPr/>
          <a:lstStyle/>
          <a:p>
            <a:r>
              <a:rPr lang="en-AU" dirty="0"/>
              <a:t>Company X is giving a discount of 15% for all their computers.  What is the discounted price for a computer with a price tag of $2 100.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05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EF80E-3744-7546-85EA-4A30C391C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8" y="450166"/>
            <a:ext cx="8543925" cy="5726797"/>
          </a:xfrm>
        </p:spPr>
        <p:txBody>
          <a:bodyPr/>
          <a:lstStyle/>
          <a:p>
            <a:r>
              <a:rPr lang="en-US" dirty="0" err="1"/>
              <a:t>Mr</a:t>
            </a:r>
            <a:r>
              <a:rPr lang="en-US" dirty="0"/>
              <a:t> Smith increases the price of the furniture he sells by 5%. If the original price of a cupboard is $1 200, what is the new price?</a:t>
            </a:r>
          </a:p>
        </p:txBody>
      </p:sp>
    </p:spTree>
    <p:extLst>
      <p:ext uri="{BB962C8B-B14F-4D97-AF65-F5344CB8AC3E}">
        <p14:creationId xmlns:p14="http://schemas.microsoft.com/office/powerpoint/2010/main" val="687917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71758" y="2700337"/>
            <a:ext cx="3471863" cy="164306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Original Amount, X</a:t>
            </a:r>
          </a:p>
        </p:txBody>
      </p:sp>
      <p:sp>
        <p:nvSpPr>
          <p:cNvPr id="5" name="Up Arrow 4"/>
          <p:cNvSpPr/>
          <p:nvPr/>
        </p:nvSpPr>
        <p:spPr>
          <a:xfrm>
            <a:off x="3407564" y="1457832"/>
            <a:ext cx="2000250" cy="1000125"/>
          </a:xfrm>
          <a:prstGeom prst="upArrow">
            <a:avLst>
              <a:gd name="adj1" fmla="val 50000"/>
              <a:gd name="adj2" fmla="val 5571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543545" y="1665507"/>
            <a:ext cx="29289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Increase by a%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808589" y="501118"/>
                <a:ext cx="3957638" cy="666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Multiply by 1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8589" y="501118"/>
                <a:ext cx="3957638" cy="666529"/>
              </a:xfrm>
              <a:prstGeom prst="rect">
                <a:avLst/>
              </a:prstGeom>
              <a:blipFill>
                <a:blip r:embed="rId2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Up Arrow 7"/>
          <p:cNvSpPr/>
          <p:nvPr/>
        </p:nvSpPr>
        <p:spPr>
          <a:xfrm flipV="1">
            <a:off x="3445660" y="4539176"/>
            <a:ext cx="2000250" cy="1000125"/>
          </a:xfrm>
          <a:prstGeom prst="upArrow">
            <a:avLst>
              <a:gd name="adj1" fmla="val 50000"/>
              <a:gd name="adj2" fmla="val 5571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581641" y="4746851"/>
            <a:ext cx="29289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Decrease by a%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948362" y="5801343"/>
                <a:ext cx="3957638" cy="6692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Multiply by 1 -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362" y="5801343"/>
                <a:ext cx="3957638" cy="669222"/>
              </a:xfrm>
              <a:prstGeom prst="rect">
                <a:avLst/>
              </a:prstGeom>
              <a:blipFill>
                <a:blip r:embed="rId3"/>
                <a:stretch>
                  <a:fillRect b="-113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5FC5C011-18E4-5D4E-8DC5-B18E31C7A413}"/>
              </a:ext>
            </a:extLst>
          </p:cNvPr>
          <p:cNvSpPr/>
          <p:nvPr/>
        </p:nvSpPr>
        <p:spPr>
          <a:xfrm>
            <a:off x="2626524" y="298815"/>
            <a:ext cx="3471863" cy="9295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Final Amount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CE8CCD-5BED-384F-B698-FFBF7C47DE68}"/>
              </a:ext>
            </a:extLst>
          </p:cNvPr>
          <p:cNvSpPr/>
          <p:nvPr/>
        </p:nvSpPr>
        <p:spPr>
          <a:xfrm>
            <a:off x="2596707" y="5573982"/>
            <a:ext cx="3471863" cy="9295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Final Amount</a:t>
            </a:r>
          </a:p>
        </p:txBody>
      </p:sp>
    </p:spTree>
    <p:extLst>
      <p:ext uri="{BB962C8B-B14F-4D97-AF65-F5344CB8AC3E}">
        <p14:creationId xmlns:p14="http://schemas.microsoft.com/office/powerpoint/2010/main" val="193544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BAB3D-1C87-B842-BFB7-B1EF17BBF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8" y="437322"/>
            <a:ext cx="8543925" cy="6162261"/>
          </a:xfrm>
        </p:spPr>
        <p:txBody>
          <a:bodyPr/>
          <a:lstStyle/>
          <a:p>
            <a:r>
              <a:rPr lang="en-AU" dirty="0"/>
              <a:t>After discount of 20%, the price of a phone is $400.  What is the original price?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pPr marL="0" indent="0">
              <a:buNone/>
            </a:pPr>
            <a:endParaRPr lang="en-AU" dirty="0"/>
          </a:p>
          <a:p>
            <a:r>
              <a:rPr lang="en-AU" dirty="0"/>
              <a:t>After inflation (3% </a:t>
            </a:r>
            <a:r>
              <a:rPr lang="en-AU" dirty="0" err="1"/>
              <a:t>p.a</a:t>
            </a:r>
            <a:r>
              <a:rPr lang="en-AU" dirty="0"/>
              <a:t>), the price of a car is $21 000. What was the price last year?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721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43225" y="2700336"/>
            <a:ext cx="3471863" cy="1643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Original Amount, X</a:t>
            </a:r>
          </a:p>
        </p:txBody>
      </p:sp>
      <p:sp>
        <p:nvSpPr>
          <p:cNvPr id="5" name="Up Arrow 4"/>
          <p:cNvSpPr/>
          <p:nvPr/>
        </p:nvSpPr>
        <p:spPr>
          <a:xfrm>
            <a:off x="3679031" y="4523535"/>
            <a:ext cx="2000250" cy="1000125"/>
          </a:xfrm>
          <a:prstGeom prst="upArrow">
            <a:avLst>
              <a:gd name="adj1" fmla="val 50000"/>
              <a:gd name="adj2" fmla="val 5571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428874" y="755164"/>
            <a:ext cx="4500564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</a:rPr>
              <a:t>Amount increased </a:t>
            </a:r>
            <a:r>
              <a:rPr lang="en-US" sz="3200" b="1" dirty="0">
                <a:solidFill>
                  <a:schemeClr val="bg1"/>
                </a:solidFill>
              </a:rPr>
              <a:t>by a%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222080" y="1683236"/>
                <a:ext cx="3957638" cy="6692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Divide by 1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2080" y="1683236"/>
                <a:ext cx="3957638" cy="669222"/>
              </a:xfrm>
              <a:prstGeom prst="rect">
                <a:avLst/>
              </a:prstGeom>
              <a:blipFill>
                <a:blip r:embed="rId2"/>
                <a:stretch>
                  <a:fillRect b="-113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Up Arrow 7"/>
          <p:cNvSpPr/>
          <p:nvPr/>
        </p:nvSpPr>
        <p:spPr>
          <a:xfrm flipV="1">
            <a:off x="3679031" y="1520075"/>
            <a:ext cx="2000250" cy="1000125"/>
          </a:xfrm>
          <a:prstGeom prst="upArrow">
            <a:avLst>
              <a:gd name="adj1" fmla="val 50000"/>
              <a:gd name="adj2" fmla="val 5571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222080" y="4761988"/>
                <a:ext cx="3957638" cy="6692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Divide by 1 -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2080" y="4761988"/>
                <a:ext cx="3957638" cy="669222"/>
              </a:xfrm>
              <a:prstGeom prst="rect">
                <a:avLst/>
              </a:prstGeom>
              <a:blipFill>
                <a:blip r:embed="rId3"/>
                <a:stretch>
                  <a:fillRect b="-9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2428874" y="5703798"/>
            <a:ext cx="4500564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Amount decreased by a%</a:t>
            </a:r>
          </a:p>
        </p:txBody>
      </p:sp>
    </p:spTree>
    <p:extLst>
      <p:ext uri="{BB962C8B-B14F-4D97-AF65-F5344CB8AC3E}">
        <p14:creationId xmlns:p14="http://schemas.microsoft.com/office/powerpoint/2010/main" val="2981513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Inflation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Rise in the price of goods over a period of time</a:t>
            </a:r>
          </a:p>
          <a:p>
            <a:r>
              <a:rPr lang="en-US" dirty="0"/>
              <a:t>Usually in annual percentage rate</a:t>
            </a:r>
          </a:p>
          <a:p>
            <a:r>
              <a:rPr lang="en-US" dirty="0"/>
              <a:t>Different countries have different inflation rates</a:t>
            </a:r>
          </a:p>
          <a:p>
            <a:r>
              <a:rPr lang="en-US" dirty="0"/>
              <a:t>Link to purchasing power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865" y="3892731"/>
            <a:ext cx="4196135" cy="296526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8548" y="3850482"/>
            <a:ext cx="26670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328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85" y="174171"/>
            <a:ext cx="9468572" cy="6018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437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68061-9A4C-F643-BB17-2479BD930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8" y="548640"/>
            <a:ext cx="8543925" cy="5628323"/>
          </a:xfrm>
        </p:spPr>
        <p:txBody>
          <a:bodyPr/>
          <a:lstStyle/>
          <a:p>
            <a:r>
              <a:rPr lang="en-US" dirty="0"/>
              <a:t>Assume that the annual rate of inflation is 3%, and the current price of a particular item is $54. What is the price of that item in a) one year; b) 3 years?</a:t>
            </a:r>
          </a:p>
        </p:txBody>
      </p:sp>
    </p:spTree>
    <p:extLst>
      <p:ext uri="{BB962C8B-B14F-4D97-AF65-F5344CB8AC3E}">
        <p14:creationId xmlns:p14="http://schemas.microsoft.com/office/powerpoint/2010/main" val="41985421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Goods and Services Tax (GST)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Goods and services tax (GST) is a broad-based tax of 10% on most goods, services and other items sold or consumed in Australia. (Australian Tax Office)</a:t>
            </a:r>
          </a:p>
          <a:p>
            <a:endParaRPr lang="en-US" dirty="0"/>
          </a:p>
          <a:p>
            <a:r>
              <a:rPr lang="en-US" dirty="0"/>
              <a:t>Rate </a:t>
            </a:r>
            <a:r>
              <a:rPr lang="mr-IN" dirty="0"/>
              <a:t>–</a:t>
            </a:r>
            <a:r>
              <a:rPr lang="en-US" dirty="0"/>
              <a:t> 10% in Australia</a:t>
            </a:r>
          </a:p>
          <a:p>
            <a:endParaRPr lang="en-US" dirty="0"/>
          </a:p>
          <a:p>
            <a:r>
              <a:rPr lang="en-US" dirty="0"/>
              <a:t>Different in other countries</a:t>
            </a:r>
          </a:p>
          <a:p>
            <a:endParaRPr lang="en-US" dirty="0"/>
          </a:p>
          <a:p>
            <a:r>
              <a:rPr lang="en-US" dirty="0"/>
              <a:t>Called Value Added Tax (VAT) in some other countries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355" y="3320427"/>
            <a:ext cx="3367314" cy="1903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7059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234497"/>
            <a:ext cx="8543925" cy="1325563"/>
          </a:xfrm>
        </p:spPr>
        <p:txBody>
          <a:bodyPr/>
          <a:lstStyle/>
          <a:p>
            <a:r>
              <a:rPr lang="en-US" dirty="0"/>
              <a:t>Calculating Price including GST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645" y="1560060"/>
            <a:ext cx="7628709" cy="1569660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Price including GST = original price + GST</a:t>
            </a:r>
          </a:p>
          <a:p>
            <a:r>
              <a:rPr lang="en-US" sz="2400" dirty="0"/>
              <a:t>                                   = original price + (original price * 10%)</a:t>
            </a:r>
          </a:p>
          <a:p>
            <a:r>
              <a:rPr lang="en-US" sz="2400" dirty="0"/>
              <a:t>                                   = original price *(1 + 10%)</a:t>
            </a:r>
          </a:p>
          <a:p>
            <a:r>
              <a:rPr lang="en-US" sz="2400" dirty="0"/>
              <a:t>                                   = 1.1 * original price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81036" y="352104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Calculating GST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558141" y="4846610"/>
                <a:ext cx="3999413" cy="780085"/>
              </a:xfrm>
              <a:prstGeom prst="rect">
                <a:avLst/>
              </a:prstGeom>
              <a:noFill/>
              <a:ln w="38100"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GST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800" dirty="0"/>
                          <m:t>Price</m:t>
                        </m:r>
                        <m:r>
                          <m:rPr>
                            <m:nor/>
                          </m:rPr>
                          <a:rPr lang="en-US" sz="2800" dirty="0"/>
                          <m:t> </m:t>
                        </m:r>
                        <m:r>
                          <m:rPr>
                            <m:nor/>
                          </m:rPr>
                          <a:rPr lang="en-US" sz="2800" dirty="0"/>
                          <m:t>including</m:t>
                        </m:r>
                        <m:r>
                          <m:rPr>
                            <m:nor/>
                          </m:rPr>
                          <a:rPr lang="en-US" sz="2800" dirty="0"/>
                          <m:t> </m:t>
                        </m:r>
                        <m:r>
                          <m:rPr>
                            <m:nor/>
                          </m:rPr>
                          <a:rPr lang="en-US" sz="2800" dirty="0"/>
                          <m:t>GST</m:t>
                        </m:r>
                      </m:num>
                      <m:den>
                        <m:r>
                          <a:rPr lang="en-AU" sz="2800" b="0" i="1" smtClean="0">
                            <a:latin typeface="Cambria Math" charset="0"/>
                          </a:rPr>
                          <m:t>11</m:t>
                        </m:r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8141" y="4846610"/>
                <a:ext cx="3999413" cy="780085"/>
              </a:xfrm>
              <a:prstGeom prst="rect">
                <a:avLst/>
              </a:prstGeom>
              <a:blipFill rotWithShape="0">
                <a:blip r:embed="rId2"/>
                <a:stretch>
                  <a:fillRect l="-2719" b="-7463"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03830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Profit and loss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7" y="1564368"/>
            <a:ext cx="8543925" cy="1052465"/>
          </a:xfrm>
        </p:spPr>
        <p:txBody>
          <a:bodyPr/>
          <a:lstStyle/>
          <a:p>
            <a:r>
              <a:rPr lang="en-US" dirty="0"/>
              <a:t>Profit </a:t>
            </a:r>
            <a:r>
              <a:rPr lang="mr-IN" dirty="0"/>
              <a:t>–</a:t>
            </a:r>
            <a:r>
              <a:rPr lang="en-US" dirty="0"/>
              <a:t> Selling something above the price we paid for </a:t>
            </a:r>
          </a:p>
          <a:p>
            <a:r>
              <a:rPr lang="en-US" dirty="0"/>
              <a:t>Loss </a:t>
            </a:r>
            <a:r>
              <a:rPr lang="mr-IN" dirty="0"/>
              <a:t>–</a:t>
            </a:r>
            <a:r>
              <a:rPr lang="en-US" dirty="0"/>
              <a:t> Selling something below the price we paid for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681038" y="2867706"/>
            <a:ext cx="3605348" cy="3605348"/>
            <a:chOff x="2769326" y="2919958"/>
            <a:chExt cx="3605348" cy="3605348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69326" y="2919958"/>
              <a:ext cx="3605348" cy="3605348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2821578" y="4366363"/>
              <a:ext cx="3396343" cy="461665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Price we paid, $x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4898571" y="3021449"/>
            <a:ext cx="4326391" cy="3046988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Price we paid for the item = $x</a:t>
            </a:r>
          </a:p>
          <a:p>
            <a:r>
              <a:rPr lang="en-US" sz="2400" dirty="0"/>
              <a:t>Price we sold of the item = $y</a:t>
            </a:r>
          </a:p>
          <a:p>
            <a:endParaRPr lang="en-US" sz="2400" dirty="0"/>
          </a:p>
          <a:p>
            <a:r>
              <a:rPr lang="en-US" sz="2400" dirty="0"/>
              <a:t>Difference in price = $y - $x</a:t>
            </a:r>
          </a:p>
          <a:p>
            <a:endParaRPr lang="en-US" sz="2400" dirty="0"/>
          </a:p>
          <a:p>
            <a:r>
              <a:rPr lang="en-US" sz="2400" dirty="0"/>
              <a:t>If $y - $x &gt; 0, we made a profit</a:t>
            </a:r>
          </a:p>
          <a:p>
            <a:r>
              <a:rPr lang="en-US" sz="2400" dirty="0"/>
              <a:t>If $y - $x &lt; 0, we made a loss</a:t>
            </a:r>
          </a:p>
          <a:p>
            <a:r>
              <a:rPr lang="en-US" sz="2400" dirty="0"/>
              <a:t>If $y - $x = 0, we broke even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500443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Percentage profit/loss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22367" y="1938884"/>
                <a:ext cx="8802596" cy="73469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Percentage profit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charset="0"/>
                          </a:rPr>
                          <m:t>𝑝𝑟𝑜𝑓𝑖𝑡</m:t>
                        </m:r>
                        <m:r>
                          <a:rPr lang="en-AU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charset="0"/>
                          </a:rPr>
                          <m:t>𝑚𝑎𝑑𝑒</m:t>
                        </m:r>
                        <m:r>
                          <a:rPr lang="en-AU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charset="0"/>
                          </a:rPr>
                          <m:t>𝑤h𝑒𝑛</m:t>
                        </m:r>
                        <m:r>
                          <a:rPr lang="en-AU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charset="0"/>
                          </a:rPr>
                          <m:t>𝑦𝑜𝑢</m:t>
                        </m:r>
                        <m:r>
                          <a:rPr lang="en-AU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charset="0"/>
                          </a:rPr>
                          <m:t>𝑠𝑒𝑙𝑙</m:t>
                        </m:r>
                        <m:r>
                          <a:rPr lang="en-AU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charset="0"/>
                          </a:rPr>
                          <m:t>𝑡h𝑒</m:t>
                        </m:r>
                        <m:r>
                          <a:rPr lang="en-AU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charset="0"/>
                          </a:rPr>
                          <m:t>𝑖𝑡𝑒𝑚</m:t>
                        </m:r>
                      </m:num>
                      <m:den>
                        <m:r>
                          <a:rPr lang="en-AU" b="0" i="1" smtClean="0">
                            <a:latin typeface="Cambria Math" charset="0"/>
                          </a:rPr>
                          <m:t>𝑎𝑚𝑜𝑢𝑛𝑡</m:t>
                        </m:r>
                        <m:r>
                          <a:rPr lang="en-AU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charset="0"/>
                          </a:rPr>
                          <m:t>𝑦𝑜𝑢</m:t>
                        </m:r>
                        <m:r>
                          <a:rPr lang="en-AU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charset="0"/>
                          </a:rPr>
                          <m:t>𝑝𝑎𝑖𝑑</m:t>
                        </m:r>
                        <m:r>
                          <a:rPr lang="en-AU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charset="0"/>
                          </a:rPr>
                          <m:t>𝑓𝑜𝑟</m:t>
                        </m:r>
                        <m:r>
                          <a:rPr lang="en-AU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charset="0"/>
                          </a:rPr>
                          <m:t>𝑡h𝑒</m:t>
                        </m:r>
                        <m:r>
                          <a:rPr lang="en-AU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charset="0"/>
                          </a:rPr>
                          <m:t>𝑖𝑡𝑒𝑚</m:t>
                        </m:r>
                      </m:den>
                    </m:f>
                  </m:oMath>
                </a14:m>
                <a:r>
                  <a:rPr lang="en-US" dirty="0"/>
                  <a:t> * 100%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2367" y="1938884"/>
                <a:ext cx="8802596" cy="734695"/>
              </a:xfrm>
              <a:blipFill rotWithShape="0">
                <a:blip r:embed="rId2"/>
                <a:stretch>
                  <a:fillRect l="-1385" b="-16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/>
              <p:cNvSpPr txBox="1">
                <a:spLocks/>
              </p:cNvSpPr>
              <p:nvPr/>
            </p:nvSpPr>
            <p:spPr>
              <a:xfrm>
                <a:off x="551702" y="3906114"/>
                <a:ext cx="8802596" cy="73469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Percentage loss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charset="0"/>
                          </a:rPr>
                          <m:t>𝑙𝑜𝑠𝑠</m:t>
                        </m:r>
                        <m:r>
                          <a:rPr lang="en-AU" i="1" smtClean="0">
                            <a:latin typeface="Cambria Math" charset="0"/>
                          </a:rPr>
                          <m:t> </m:t>
                        </m:r>
                        <m:r>
                          <a:rPr lang="en-AU" i="1" smtClean="0">
                            <a:latin typeface="Cambria Math" charset="0"/>
                          </a:rPr>
                          <m:t>𝑚𝑎𝑑𝑒</m:t>
                        </m:r>
                        <m:r>
                          <a:rPr lang="en-AU" i="1" smtClean="0">
                            <a:latin typeface="Cambria Math" charset="0"/>
                          </a:rPr>
                          <m:t> </m:t>
                        </m:r>
                        <m:r>
                          <a:rPr lang="en-AU" i="1" smtClean="0">
                            <a:latin typeface="Cambria Math" charset="0"/>
                          </a:rPr>
                          <m:t>𝑤h𝑒𝑛</m:t>
                        </m:r>
                        <m:r>
                          <a:rPr lang="en-AU" i="1" smtClean="0">
                            <a:latin typeface="Cambria Math" charset="0"/>
                          </a:rPr>
                          <m:t> </m:t>
                        </m:r>
                        <m:r>
                          <a:rPr lang="en-AU" i="1" smtClean="0">
                            <a:latin typeface="Cambria Math" charset="0"/>
                          </a:rPr>
                          <m:t>𝑦𝑜𝑢</m:t>
                        </m:r>
                        <m:r>
                          <a:rPr lang="en-AU" i="1" smtClean="0">
                            <a:latin typeface="Cambria Math" charset="0"/>
                          </a:rPr>
                          <m:t> </m:t>
                        </m:r>
                        <m:r>
                          <a:rPr lang="en-AU" i="1" smtClean="0">
                            <a:latin typeface="Cambria Math" charset="0"/>
                          </a:rPr>
                          <m:t>𝑠𝑒𝑙𝑙</m:t>
                        </m:r>
                        <m:r>
                          <a:rPr lang="en-AU" i="1" smtClean="0">
                            <a:latin typeface="Cambria Math" charset="0"/>
                          </a:rPr>
                          <m:t> </m:t>
                        </m:r>
                        <m:r>
                          <a:rPr lang="en-AU" i="1" smtClean="0">
                            <a:latin typeface="Cambria Math" charset="0"/>
                          </a:rPr>
                          <m:t>𝑡h𝑒</m:t>
                        </m:r>
                        <m:r>
                          <a:rPr lang="en-AU" i="1" smtClean="0">
                            <a:latin typeface="Cambria Math" charset="0"/>
                          </a:rPr>
                          <m:t> </m:t>
                        </m:r>
                        <m:r>
                          <a:rPr lang="en-AU" i="1" smtClean="0">
                            <a:latin typeface="Cambria Math" charset="0"/>
                          </a:rPr>
                          <m:t>𝑖𝑡𝑒𝑚</m:t>
                        </m:r>
                      </m:num>
                      <m:den>
                        <m:r>
                          <a:rPr lang="en-AU" i="1" smtClean="0">
                            <a:latin typeface="Cambria Math" charset="0"/>
                          </a:rPr>
                          <m:t>𝑎𝑚𝑜𝑢𝑛𝑡</m:t>
                        </m:r>
                        <m:r>
                          <a:rPr lang="en-AU" i="1" smtClean="0">
                            <a:latin typeface="Cambria Math" charset="0"/>
                          </a:rPr>
                          <m:t> </m:t>
                        </m:r>
                        <m:r>
                          <a:rPr lang="en-AU" i="1" smtClean="0">
                            <a:latin typeface="Cambria Math" charset="0"/>
                          </a:rPr>
                          <m:t>𝑦𝑜𝑢</m:t>
                        </m:r>
                        <m:r>
                          <a:rPr lang="en-AU" i="1" smtClean="0">
                            <a:latin typeface="Cambria Math" charset="0"/>
                          </a:rPr>
                          <m:t> </m:t>
                        </m:r>
                        <m:r>
                          <a:rPr lang="en-AU" i="1" smtClean="0">
                            <a:latin typeface="Cambria Math" charset="0"/>
                          </a:rPr>
                          <m:t>𝑝𝑎𝑖𝑑</m:t>
                        </m:r>
                        <m:r>
                          <a:rPr lang="en-AU" i="1" smtClean="0">
                            <a:latin typeface="Cambria Math" charset="0"/>
                          </a:rPr>
                          <m:t> </m:t>
                        </m:r>
                        <m:r>
                          <a:rPr lang="en-AU" i="1" smtClean="0">
                            <a:latin typeface="Cambria Math" charset="0"/>
                          </a:rPr>
                          <m:t>𝑓𝑜𝑟</m:t>
                        </m:r>
                        <m:r>
                          <a:rPr lang="en-AU" i="1" smtClean="0">
                            <a:latin typeface="Cambria Math" charset="0"/>
                          </a:rPr>
                          <m:t> </m:t>
                        </m:r>
                        <m:r>
                          <a:rPr lang="en-AU" i="1" smtClean="0">
                            <a:latin typeface="Cambria Math" charset="0"/>
                          </a:rPr>
                          <m:t>𝑡h𝑒</m:t>
                        </m:r>
                        <m:r>
                          <a:rPr lang="en-AU" i="1" smtClean="0">
                            <a:latin typeface="Cambria Math" charset="0"/>
                          </a:rPr>
                          <m:t> </m:t>
                        </m:r>
                        <m:r>
                          <a:rPr lang="en-AU" i="1" smtClean="0">
                            <a:latin typeface="Cambria Math" charset="0"/>
                          </a:rPr>
                          <m:t>𝑖𝑡𝑒𝑚</m:t>
                        </m:r>
                      </m:den>
                    </m:f>
                  </m:oMath>
                </a14:m>
                <a:r>
                  <a:rPr lang="en-US" dirty="0"/>
                  <a:t> * 100%</a:t>
                </a:r>
              </a:p>
            </p:txBody>
          </p:sp>
        </mc:Choice>
        <mc:Fallback xmlns="">
          <p:sp>
            <p:nvSpPr>
              <p:cNvPr id="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702" y="3906114"/>
                <a:ext cx="8802596" cy="734695"/>
              </a:xfrm>
              <a:prstGeom prst="rect">
                <a:avLst/>
              </a:prstGeom>
              <a:blipFill rotWithShape="0">
                <a:blip r:embed="rId3"/>
                <a:stretch>
                  <a:fillRect l="-1455" t="-833" b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9744335"/>
      </p:ext>
    </p:extLst>
  </p:cSld>
  <p:clrMapOvr>
    <a:masterClrMapping/>
  </p:clrMapOvr>
</p:sld>
</file>

<file path=ppt/theme/theme1.xml><?xml version="1.0" encoding="utf-8"?>
<a:theme xmlns:a="http://schemas.openxmlformats.org/drawingml/2006/main" name="A4 Presentatio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 Presentation" id="{6EB52EA6-304B-CC44-AB4C-483953AB2727}" vid="{71B54E89-6D82-044A-9BF6-882F340DFA5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363</TotalTime>
  <Words>563</Words>
  <Application>Microsoft Macintosh PowerPoint</Application>
  <PresentationFormat>A4 Paper (210x297 mm)</PresentationFormat>
  <Paragraphs>94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A4 Presentation</vt:lpstr>
      <vt:lpstr>5 minutes quiz</vt:lpstr>
      <vt:lpstr>Consumer Arithmetic - Percentages</vt:lpstr>
      <vt:lpstr>Application of percentages</vt:lpstr>
      <vt:lpstr>Discount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Inflation</vt:lpstr>
      <vt:lpstr>PowerPoint Presentation</vt:lpstr>
      <vt:lpstr>PowerPoint Presentation</vt:lpstr>
      <vt:lpstr>Goods and Services Tax (GST)</vt:lpstr>
      <vt:lpstr>Calculating Price including GST</vt:lpstr>
      <vt:lpstr>Profit and loss</vt:lpstr>
      <vt:lpstr>Percentage profit/loss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Loh</dc:creator>
  <cp:lastModifiedBy>LOH Michael [Shenton College]</cp:lastModifiedBy>
  <cp:revision>21</cp:revision>
  <cp:lastPrinted>2019-02-04T05:14:18Z</cp:lastPrinted>
  <dcterms:created xsi:type="dcterms:W3CDTF">2017-02-12T01:02:40Z</dcterms:created>
  <dcterms:modified xsi:type="dcterms:W3CDTF">2019-02-04T05:48:09Z</dcterms:modified>
</cp:coreProperties>
</file>
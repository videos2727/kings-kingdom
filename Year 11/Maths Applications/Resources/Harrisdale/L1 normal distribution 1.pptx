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263" r:id="rId5"/>
    <p:sldId id="260" r:id="rId6"/>
    <p:sldId id="261" r:id="rId7"/>
    <p:sldId id="264" r:id="rId8"/>
    <p:sldId id="265" r:id="rId9"/>
    <p:sldId id="266" r:id="rId10"/>
    <p:sldId id="268" r:id="rId11"/>
    <p:sldId id="270" r:id="rId12"/>
    <p:sldId id="271" r:id="rId13"/>
    <p:sldId id="269" r:id="rId14"/>
    <p:sldId id="275" r:id="rId15"/>
    <p:sldId id="272" r:id="rId16"/>
    <p:sldId id="274" r:id="rId17"/>
    <p:sldId id="273" r:id="rId18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96"/>
    <p:restoredTop sz="92430"/>
  </p:normalViewPr>
  <p:slideViewPr>
    <p:cSldViewPr snapToGrid="0" snapToObjects="1">
      <p:cViewPr>
        <p:scale>
          <a:sx n="104" d="100"/>
          <a:sy n="104" d="100"/>
        </p:scale>
        <p:origin x="1072" y="-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7FEDED-F970-464E-BE5F-2A4F603B187E}" type="datetimeFigureOut">
              <a:rPr lang="en-US" smtClean="0"/>
              <a:t>9/17/19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486AE5-E904-C440-9F8E-4217FE48B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015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www.mathsisfun.com</a:t>
            </a:r>
            <a:r>
              <a:rPr lang="en-US" dirty="0"/>
              <a:t>/data/standard-normal-</a:t>
            </a:r>
            <a:r>
              <a:rPr lang="en-US" dirty="0" err="1"/>
              <a:t>distribution.html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486AE5-E904-C440-9F8E-4217FE48B0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1991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www.investopedia.com</a:t>
            </a:r>
            <a:r>
              <a:rPr lang="en-US" dirty="0"/>
              <a:t>/articles/active-trading/092914/normal-distribution-table-</a:t>
            </a:r>
            <a:r>
              <a:rPr lang="en-US" dirty="0" err="1"/>
              <a:t>explained.asp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486AE5-E904-C440-9F8E-4217FE48B0B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227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9/17/19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9/17/19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9/17/19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9/17/19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9/17/19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9/17/19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8D555-D2EB-A045-AEDE-72C9D0B9666E}" type="datetimeFigureOut">
              <a:rPr lang="en-US" smtClean="0"/>
              <a:t>9/17/19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0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if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Normal Distribution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95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695" y="389123"/>
            <a:ext cx="8533098" cy="48283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36976" y="814155"/>
            <a:ext cx="28373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Bell shaped curve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5957047" y="1075765"/>
            <a:ext cx="779929" cy="83371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877671" y="5513294"/>
            <a:ext cx="4881282" cy="646331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Normal Distribution</a:t>
            </a:r>
          </a:p>
        </p:txBody>
      </p:sp>
    </p:spTree>
    <p:extLst>
      <p:ext uri="{BB962C8B-B14F-4D97-AF65-F5344CB8AC3E}">
        <p14:creationId xmlns:p14="http://schemas.microsoft.com/office/powerpoint/2010/main" val="1718396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normal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7" y="1462554"/>
            <a:ext cx="8543925" cy="2585010"/>
          </a:xfrm>
        </p:spPr>
        <p:txBody>
          <a:bodyPr/>
          <a:lstStyle/>
          <a:p>
            <a:r>
              <a:rPr lang="en-US" dirty="0"/>
              <a:t>Also known as Gaussian distribution</a:t>
            </a:r>
          </a:p>
          <a:p>
            <a:r>
              <a:rPr lang="en-US" dirty="0"/>
              <a:t>mean = median = mode</a:t>
            </a:r>
          </a:p>
          <a:p>
            <a:r>
              <a:rPr lang="en-US" dirty="0"/>
              <a:t>symmetry about the </a:t>
            </a:r>
            <a:r>
              <a:rPr lang="en-US" dirty="0" err="1"/>
              <a:t>centre</a:t>
            </a:r>
            <a:endParaRPr lang="en-US" dirty="0"/>
          </a:p>
          <a:p>
            <a:r>
              <a:rPr lang="en-US" dirty="0"/>
              <a:t>50% of values less than the mean and 50% greater than the mean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8308" y="3691195"/>
            <a:ext cx="5366479" cy="2907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6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943"/>
          <a:stretch/>
        </p:blipFill>
        <p:spPr>
          <a:xfrm>
            <a:off x="125787" y="1254488"/>
            <a:ext cx="9600331" cy="3482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417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68%, 95%, 99.7% RULE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3598" r="10696"/>
          <a:stretch/>
        </p:blipFill>
        <p:spPr>
          <a:xfrm>
            <a:off x="2310539" y="1355065"/>
            <a:ext cx="5190641" cy="53944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11298" y="4633994"/>
            <a:ext cx="802319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dirty="0"/>
              <a:t>Mean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6826" y="4633994"/>
            <a:ext cx="64963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1sd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63009" y="4633994"/>
            <a:ext cx="64963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1sd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6297" y="4633994"/>
            <a:ext cx="64963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2sd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0862" y="4633994"/>
            <a:ext cx="64963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2</a:t>
            </a:r>
            <a:r>
              <a:rPr lang="en-US" sz="2000" b="1"/>
              <a:t>sd</a:t>
            </a:r>
            <a:endParaRPr lang="en-US" sz="2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2052561" y="4633994"/>
            <a:ext cx="64963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3sd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2899" y="4633994"/>
            <a:ext cx="64963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3</a:t>
            </a:r>
            <a:r>
              <a:rPr lang="en-US" sz="2000" b="1"/>
              <a:t>sd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860806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it mean?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0556" y="1690690"/>
            <a:ext cx="8964407" cy="4457188"/>
          </a:xfrm>
        </p:spPr>
        <p:txBody>
          <a:bodyPr>
            <a:normAutofit/>
          </a:bodyPr>
          <a:lstStyle/>
          <a:p>
            <a:r>
              <a:rPr lang="en-US" dirty="0"/>
              <a:t>68.3% of data values are within 1 standard deviation of the mean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Probability of a randomly chosen data point within 1σ = 68.3%</a:t>
            </a:r>
          </a:p>
          <a:p>
            <a:r>
              <a:rPr lang="en-US" dirty="0"/>
              <a:t>95.4% of data values are within 2 standard deviations of the mean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Probability of a randomly chosen data point within 2σ = 95.4%</a:t>
            </a:r>
            <a:endParaRPr lang="en-US" dirty="0"/>
          </a:p>
          <a:p>
            <a:r>
              <a:rPr lang="en-US" dirty="0"/>
              <a:t>99.7% of data values are within 3 standard deviations of the mean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Probability of a randomly chosen data point within 3σ = 99.7%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550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69"/>
          <a:stretch/>
        </p:blipFill>
        <p:spPr>
          <a:xfrm>
            <a:off x="0" y="1469036"/>
            <a:ext cx="9906000" cy="149570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r="943"/>
          <a:stretch/>
        </p:blipFill>
        <p:spPr>
          <a:xfrm>
            <a:off x="152834" y="3113268"/>
            <a:ext cx="9600331" cy="3482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277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667" y="973380"/>
            <a:ext cx="8836437" cy="414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629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5"/>
          <a:stretch/>
        </p:blipFill>
        <p:spPr>
          <a:xfrm>
            <a:off x="0" y="1394846"/>
            <a:ext cx="9906000" cy="215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770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90413" y="294468"/>
            <a:ext cx="7946442" cy="4463513"/>
            <a:chOff x="483302" y="681925"/>
            <a:chExt cx="8718503" cy="4773479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3302" y="681925"/>
              <a:ext cx="8718503" cy="4773479"/>
            </a:xfrm>
            <a:prstGeom prst="rect">
              <a:avLst/>
            </a:prstGeom>
          </p:spPr>
        </p:pic>
        <p:grpSp>
          <p:nvGrpSpPr>
            <p:cNvPr id="7" name="Group 6"/>
            <p:cNvGrpSpPr/>
            <p:nvPr/>
          </p:nvGrpSpPr>
          <p:grpSpPr>
            <a:xfrm>
              <a:off x="588936" y="681925"/>
              <a:ext cx="4819972" cy="3099661"/>
              <a:chOff x="588936" y="681925"/>
              <a:chExt cx="4819972" cy="3099661"/>
            </a:xfrm>
          </p:grpSpPr>
          <p:sp>
            <p:nvSpPr>
              <p:cNvPr id="5" name="Rectangle 4"/>
              <p:cNvSpPr/>
              <p:nvPr/>
            </p:nvSpPr>
            <p:spPr>
              <a:xfrm>
                <a:off x="588936" y="883403"/>
                <a:ext cx="2681206" cy="289818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/>
              <p:cNvSpPr/>
              <p:nvPr/>
            </p:nvSpPr>
            <p:spPr>
              <a:xfrm>
                <a:off x="2833607" y="681925"/>
                <a:ext cx="2575301" cy="11339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7" name="TextBox 16"/>
          <p:cNvSpPr txBox="1"/>
          <p:nvPr/>
        </p:nvSpPr>
        <p:spPr>
          <a:xfrm>
            <a:off x="4815383" y="4495933"/>
            <a:ext cx="802319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/>
              <a:t>512</a:t>
            </a:r>
            <a:endParaRPr lang="en-US" sz="20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5770102" y="4495933"/>
            <a:ext cx="64963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520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8334" y="4495933"/>
            <a:ext cx="64963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504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58626" y="4495933"/>
            <a:ext cx="64963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496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50339" y="4495933"/>
            <a:ext cx="64963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528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6230" y="4495933"/>
            <a:ext cx="64963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488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30576" y="4495933"/>
            <a:ext cx="64963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536</a:t>
            </a:r>
          </a:p>
        </p:txBody>
      </p:sp>
    </p:spTree>
    <p:extLst>
      <p:ext uri="{BB962C8B-B14F-4D97-AF65-F5344CB8AC3E}">
        <p14:creationId xmlns:p14="http://schemas.microsoft.com/office/powerpoint/2010/main" val="399031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53" y="1484026"/>
            <a:ext cx="9492706" cy="26232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052038" y="5245405"/>
                <a:ext cx="5486400" cy="584584"/>
              </a:xfrm>
              <a:prstGeom prst="rect">
                <a:avLst/>
              </a:prstGeom>
              <a:noFill/>
              <a:ln w="28575"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/>
                  <a:t>Standardised score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charset="0"/>
                          </a:rPr>
                          <m:t>𝑟𝑎𝑤</m:t>
                        </m:r>
                        <m:r>
                          <a:rPr lang="en-AU" sz="2400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charset="0"/>
                          </a:rPr>
                          <m:t>𝑠𝑐𝑜𝑟𝑒</m:t>
                        </m:r>
                        <m:r>
                          <a:rPr lang="en-AU" sz="2400" b="0" i="1" smtClean="0">
                            <a:latin typeface="Cambria Math" charset="0"/>
                          </a:rPr>
                          <m:t> −</m:t>
                        </m:r>
                        <m:r>
                          <a:rPr lang="en-AU" sz="2400" b="0" i="1" smtClean="0">
                            <a:latin typeface="Cambria Math" charset="0"/>
                          </a:rPr>
                          <m:t>𝑚𝑒𝑎𝑛</m:t>
                        </m:r>
                      </m:num>
                      <m:den>
                        <m:r>
                          <a:rPr lang="en-AU" sz="2400" b="0" i="1" smtClean="0">
                            <a:latin typeface="Cambria Math" charset="0"/>
                          </a:rPr>
                          <m:t>𝑠𝑡𝑎𝑛𝑑𝑎𝑟𝑑</m:t>
                        </m:r>
                        <m:r>
                          <a:rPr lang="en-AU" sz="2400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charset="0"/>
                          </a:rPr>
                          <m:t>𝑑𝑒𝑣𝑖𝑎𝑡𝑖𝑜𝑛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2038" y="5245405"/>
                <a:ext cx="5486400" cy="584584"/>
              </a:xfrm>
              <a:prstGeom prst="rect">
                <a:avLst/>
              </a:prstGeom>
              <a:blipFill rotWithShape="0">
                <a:blip r:embed="rId3"/>
                <a:stretch>
                  <a:fillRect b="-6931"/>
                </a:stretch>
              </a:blipFill>
              <a:ln w="28575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8319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361" y="484063"/>
            <a:ext cx="8214609" cy="6080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55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05024" y="3409628"/>
                <a:ext cx="8543925" cy="1868434"/>
              </a:xfrm>
            </p:spPr>
            <p:txBody>
              <a:bodyPr/>
              <a:lstStyle/>
              <a:p>
                <a:r>
                  <a:rPr lang="en-US" dirty="0"/>
                  <a:t>X </a:t>
                </a:r>
                <a:r>
                  <a:rPr lang="en-AU" dirty="0"/>
                  <a:t>-</a:t>
                </a:r>
                <a:r>
                  <a:rPr lang="en-US" dirty="0"/>
                  <a:t> normally distributed set of data</a:t>
                </a: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𝜇</m:t>
                    </m:r>
                  </m:oMath>
                </a14:m>
                <a:r>
                  <a:rPr lang="en-US" dirty="0"/>
                  <a:t> - mean of the data</a:t>
                </a: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𝜎</m:t>
                    </m:r>
                  </m:oMath>
                </a14:m>
                <a:r>
                  <a:rPr lang="en-US" dirty="0"/>
                  <a:t> - standard deviation (note: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𝜎</m:t>
                    </m:r>
                  </m:oMath>
                </a14:m>
                <a:r>
                  <a:rPr lang="en-US" baseline="30000" dirty="0"/>
                  <a:t>2</a:t>
                </a:r>
                <a:r>
                  <a:rPr lang="en-US" dirty="0"/>
                  <a:t> = variance)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05024" y="3409628"/>
                <a:ext cx="8543925" cy="1868434"/>
              </a:xfrm>
              <a:blipFill>
                <a:blip r:embed="rId2"/>
                <a:stretch>
                  <a:fillRect l="-1187" t="-46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603715" y="2287672"/>
                <a:ext cx="3504870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800" b="0" i="1" smtClean="0">
                          <a:latin typeface="Cambria Math" charset="0"/>
                        </a:rPr>
                        <m:t>𝑋</m:t>
                      </m:r>
                      <m:r>
                        <a:rPr lang="en-AU" sz="4800" b="0" i="1" smtClean="0">
                          <a:latin typeface="Cambria Math" charset="0"/>
                        </a:rPr>
                        <m:t> ~ </m:t>
                      </m:r>
                      <m:r>
                        <a:rPr lang="en-AU" sz="4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𝑁</m:t>
                      </m:r>
                      <m:r>
                        <a:rPr lang="en-AU" sz="4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(</m:t>
                      </m:r>
                      <m:r>
                        <a:rPr lang="en-AU" sz="4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𝜇</m:t>
                      </m:r>
                      <m:r>
                        <a:rPr lang="en-AU" sz="4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,</m:t>
                      </m:r>
                      <m:sSup>
                        <m:sSupPr>
                          <m:ctrlPr>
                            <a:rPr lang="en-AU" sz="4800" b="0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sSupPr>
                        <m:e>
                          <m:r>
                            <a:rPr lang="en-AU" sz="4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𝜎</m:t>
                          </m:r>
                        </m:e>
                        <m:sup>
                          <m:r>
                            <a:rPr lang="en-AU" sz="4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AU" sz="4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)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3715" y="2287672"/>
                <a:ext cx="3504870" cy="73866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23057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63AA44-6C18-594D-AFBE-9217FA920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656" y="464370"/>
            <a:ext cx="3958666" cy="32817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5C018C4-B00C-D14F-A297-1486509364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5932" y="0"/>
            <a:ext cx="3253154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BAE2FA-3037-324A-BE7C-FC818C4C96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4141" y="0"/>
            <a:ext cx="32531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631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98B5DAE-FB04-FA46-B44F-05E8C4021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4260"/>
            <a:ext cx="4817729" cy="36132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A298492-61C8-5743-934D-AA99EDDC8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5931" y="27656"/>
            <a:ext cx="3253154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26A25D-B8A7-9142-A6DC-F34E0CC809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4102" y="0"/>
            <a:ext cx="32531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7809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CDAAEE-60DF-8A42-B37D-A91077ABD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55" y="330455"/>
            <a:ext cx="3636352" cy="281747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20FEE55-699E-C447-9AF2-DA1A8EA4D7A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4535" b="33989"/>
          <a:stretch/>
        </p:blipFill>
        <p:spPr>
          <a:xfrm>
            <a:off x="249255" y="3597640"/>
            <a:ext cx="3253154" cy="21585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E85E21-5CE6-FB4E-8CBB-F7877E37CE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6128" y="0"/>
            <a:ext cx="3253154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8A4B80-E736-DF4E-89AA-9C494F3C88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9092" y="0"/>
            <a:ext cx="32531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0196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BCB191D-1AD8-524D-B433-A71C2BB21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71552" cy="355374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9D723E3-9FA2-4142-950B-ED689B5F318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9542" b="33339"/>
          <a:stretch/>
        </p:blipFill>
        <p:spPr>
          <a:xfrm>
            <a:off x="362262" y="3942413"/>
            <a:ext cx="4371552" cy="131913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381DB04-90E1-AF42-BBAD-B985D4DBEB62}"/>
              </a:ext>
            </a:extLst>
          </p:cNvPr>
          <p:cNvSpPr txBox="1"/>
          <p:nvPr/>
        </p:nvSpPr>
        <p:spPr>
          <a:xfrm>
            <a:off x="524655" y="3296082"/>
            <a:ext cx="29680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1: Find the P(X &gt; 87.2) using your class pad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2A8361-7BBE-CF43-B557-6B799DC0ED5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12" t="16615" r="3652" b="68740"/>
          <a:stretch/>
        </p:blipFill>
        <p:spPr>
          <a:xfrm>
            <a:off x="701749" y="5456618"/>
            <a:ext cx="2968053" cy="10043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1F61D5-77C3-2744-9AD1-4E3CE2BF4EB4}"/>
              </a:ext>
            </a:extLst>
          </p:cNvPr>
          <p:cNvSpPr txBox="1"/>
          <p:nvPr/>
        </p:nvSpPr>
        <p:spPr>
          <a:xfrm>
            <a:off x="4050422" y="493458"/>
            <a:ext cx="296805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2: Add the two probabilities together to determine P(X &lt; K) </a:t>
            </a:r>
          </a:p>
          <a:p>
            <a:r>
              <a:rPr lang="en-US" dirty="0"/>
              <a:t>0.5964 + 0.0808 = 0.6772</a:t>
            </a:r>
          </a:p>
          <a:p>
            <a:endParaRPr lang="en-US" dirty="0"/>
          </a:p>
          <a:p>
            <a:r>
              <a:rPr lang="en-US" dirty="0"/>
              <a:t>Step 3: Use Inverse Distribution to find K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5061FB8-6793-2345-BDDD-D867796A736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764" t="33566" r="10555" b="36814"/>
          <a:stretch/>
        </p:blipFill>
        <p:spPr>
          <a:xfrm>
            <a:off x="4050422" y="2940050"/>
            <a:ext cx="2624677" cy="20313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D1C688-C523-D749-B63E-E12DB2BE6B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4896" y="80053"/>
            <a:ext cx="3051104" cy="643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19954"/>
      </p:ext>
    </p:extLst>
  </p:cSld>
  <p:clrMapOvr>
    <a:masterClrMapping/>
  </p:clrMapOvr>
</p:sld>
</file>

<file path=ppt/theme/theme1.xml><?xml version="1.0" encoding="utf-8"?>
<a:theme xmlns:a="http://schemas.openxmlformats.org/drawingml/2006/main" name="A4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" id="{5D1E2C3C-E28F-A04D-A3BF-B9774A855780}" vid="{4F857BDB-CED6-704E-A61F-568D547E0E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5722</TotalTime>
  <Words>259</Words>
  <Application>Microsoft Macintosh PowerPoint</Application>
  <PresentationFormat>A4 Paper (210x297 mm)</PresentationFormat>
  <Paragraphs>47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A4</vt:lpstr>
      <vt:lpstr>Normal Distribution</vt:lpstr>
      <vt:lpstr>PowerPoint Presentation</vt:lpstr>
      <vt:lpstr>The normal distribution</vt:lpstr>
      <vt:lpstr>PowerPoint Presentation</vt:lpstr>
      <vt:lpstr>68%, 95%, 99.7% RULE</vt:lpstr>
      <vt:lpstr>What does it mean?</vt:lpstr>
      <vt:lpstr>Example 1</vt:lpstr>
      <vt:lpstr>PowerPoint Presentation</vt:lpstr>
      <vt:lpstr>Example 2</vt:lpstr>
      <vt:lpstr>PowerPoint Presentation</vt:lpstr>
      <vt:lpstr>PowerPoint Presentation</vt:lpstr>
      <vt:lpstr>PowerPoint Presentation</vt:lpstr>
      <vt:lpstr>Notation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Normal Distribution</dc:title>
  <dc:creator>LOH Michael [Shenton College]</dc:creator>
  <cp:lastModifiedBy>LOH Michael [Shenton College]</cp:lastModifiedBy>
  <cp:revision>30</cp:revision>
  <cp:lastPrinted>2017-09-07T14:50:32Z</cp:lastPrinted>
  <dcterms:created xsi:type="dcterms:W3CDTF">2017-09-03T14:11:37Z</dcterms:created>
  <dcterms:modified xsi:type="dcterms:W3CDTF">2019-09-17T05:08:04Z</dcterms:modified>
</cp:coreProperties>
</file>
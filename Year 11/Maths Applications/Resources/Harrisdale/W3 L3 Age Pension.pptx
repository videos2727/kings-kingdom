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64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32212-00C6-904F-903A-D76A8E88D673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6DA60-6172-8B4A-BE72-A0385DF7F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0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www.budgetdirect.com.au</a:t>
            </a:r>
            <a:r>
              <a:rPr lang="en-US" dirty="0"/>
              <a:t>/blog/how-</a:t>
            </a:r>
            <a:r>
              <a:rPr lang="en-US" dirty="0" err="1"/>
              <a:t>australian</a:t>
            </a:r>
            <a:r>
              <a:rPr lang="en-US" dirty="0"/>
              <a:t>-housing-has-changed-over-the-</a:t>
            </a:r>
            <a:r>
              <a:rPr lang="en-US" dirty="0" err="1"/>
              <a:t>years.html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au.pinterest.com</a:t>
            </a:r>
            <a:r>
              <a:rPr lang="en-US" dirty="0"/>
              <a:t>/pin/520025088193023365/</a:t>
            </a:r>
          </a:p>
          <a:p>
            <a:r>
              <a:rPr lang="en-US" dirty="0"/>
              <a:t>http://</a:t>
            </a:r>
            <a:r>
              <a:rPr lang="en-US" dirty="0" err="1"/>
              <a:t>www.sharemarketschool.com</a:t>
            </a:r>
            <a:r>
              <a:rPr lang="en-US" dirty="0"/>
              <a:t>/stocks-explained/</a:t>
            </a:r>
          </a:p>
          <a:p>
            <a:r>
              <a:rPr lang="en-US" dirty="0"/>
              <a:t>https://</a:t>
            </a:r>
            <a:r>
              <a:rPr lang="en-US" dirty="0" err="1"/>
              <a:t>www.cartrade.com</a:t>
            </a:r>
            <a:r>
              <a:rPr lang="en-US" dirty="0"/>
              <a:t>/new-cars/by-price/5lakh-10lakh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15598-96DA-604C-9DE9-395138AC10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1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stuartsfin.wordpress.com</a:t>
            </a:r>
            <a:r>
              <a:rPr lang="en-US" dirty="0"/>
              <a:t>/2012/10/30/make-sustainability-a-priority-when-planning-your-retirement-income/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15598-96DA-604C-9DE9-395138AC10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23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15598-96DA-604C-9DE9-395138AC10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1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Government Allowances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/>
              <a:t>Age Pensions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202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Age Pension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138" y="6223288"/>
            <a:ext cx="86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www.humanservices.gov.au</a:t>
            </a:r>
            <a:r>
              <a:rPr lang="en-US" dirty="0"/>
              <a:t>/sites/default/files/2017/06/ci006-1707en-p.pdf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B6C81-8B27-8C45-B9C0-EACA54CFCE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"/>
          <a:stretch/>
        </p:blipFill>
        <p:spPr>
          <a:xfrm>
            <a:off x="-15498" y="1649323"/>
            <a:ext cx="9960583" cy="32844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5650" y="4099414"/>
            <a:ext cx="9577286" cy="600501"/>
          </a:xfrm>
          <a:prstGeom prst="rect">
            <a:avLst/>
          </a:prstGeom>
          <a:solidFill>
            <a:srgbClr val="C4847D">
              <a:alpha val="2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Rate (fortnightly)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130" y="5964702"/>
            <a:ext cx="697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There are new rates from Department of </a:t>
            </a:r>
            <a:r>
              <a:rPr lang="en-US"/>
              <a:t>Human Services website.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27061" b="12769"/>
          <a:stretch/>
        </p:blipFill>
        <p:spPr>
          <a:xfrm>
            <a:off x="158703" y="2110154"/>
            <a:ext cx="9642016" cy="2058889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 flipH="1">
            <a:off x="154987" y="2094656"/>
            <a:ext cx="19218" cy="20743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73139" y="3701271"/>
            <a:ext cx="130185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/>
              <a:t>$582.40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7326645" y="4085444"/>
            <a:ext cx="13483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386055" y="3710903"/>
            <a:ext cx="13483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59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3622" y="1364774"/>
            <a:ext cx="3971499" cy="390326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Full Pension</a:t>
            </a:r>
          </a:p>
        </p:txBody>
      </p:sp>
      <p:sp>
        <p:nvSpPr>
          <p:cNvPr id="7" name="Oval 6"/>
          <p:cNvSpPr/>
          <p:nvPr/>
        </p:nvSpPr>
        <p:spPr>
          <a:xfrm>
            <a:off x="7391303" y="2081282"/>
            <a:ext cx="2336042" cy="247024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Pension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26339" y="2081283"/>
            <a:ext cx="2770496" cy="900751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Assets Test</a:t>
            </a:r>
            <a:endParaRPr lang="en-US" sz="2800" dirty="0"/>
          </a:p>
        </p:txBody>
      </p:sp>
      <p:sp>
        <p:nvSpPr>
          <p:cNvPr id="9" name="Right Arrow 8"/>
          <p:cNvSpPr/>
          <p:nvPr/>
        </p:nvSpPr>
        <p:spPr>
          <a:xfrm>
            <a:off x="4326339" y="3650776"/>
            <a:ext cx="2770496" cy="9007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Income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84542" y="960895"/>
            <a:ext cx="3068666" cy="5253925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349589" y="1162373"/>
            <a:ext cx="2500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Adjustment/reduction based on either: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6339" y="5251342"/>
            <a:ext cx="2770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</a:t>
            </a:r>
            <a:r>
              <a:rPr lang="en-US" sz="2000" b="1" dirty="0">
                <a:solidFill>
                  <a:srgbClr val="FF0000"/>
                </a:solidFill>
              </a:rPr>
              <a:t> lesser </a:t>
            </a:r>
            <a:r>
              <a:rPr lang="en-US" b="1" dirty="0"/>
              <a:t>of the two amounts will be the pension</a:t>
            </a:r>
          </a:p>
        </p:txBody>
      </p:sp>
    </p:spTree>
    <p:extLst>
      <p:ext uri="{BB962C8B-B14F-4D97-AF65-F5344CB8AC3E}">
        <p14:creationId xmlns:p14="http://schemas.microsoft.com/office/powerpoint/2010/main" val="171329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assets?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" y="1690690"/>
            <a:ext cx="3059310" cy="20471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010" y="4030852"/>
            <a:ext cx="3122047" cy="2341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334" y="813446"/>
            <a:ext cx="3002301" cy="29722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8395" y="4030852"/>
            <a:ext cx="3378629" cy="253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0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Assets Test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" r="1168"/>
          <a:stretch/>
        </p:blipFill>
        <p:spPr>
          <a:xfrm>
            <a:off x="106068" y="1534333"/>
            <a:ext cx="9781849" cy="1146874"/>
          </a:xfrm>
        </p:spPr>
      </p:pic>
      <p:grpSp>
        <p:nvGrpSpPr>
          <p:cNvPr id="9" name="Group 8"/>
          <p:cNvGrpSpPr/>
          <p:nvPr/>
        </p:nvGrpSpPr>
        <p:grpSpPr>
          <a:xfrm>
            <a:off x="106068" y="3278349"/>
            <a:ext cx="4984864" cy="2106382"/>
            <a:chOff x="245659" y="1364776"/>
            <a:chExt cx="9187219" cy="3903260"/>
          </a:xfrm>
        </p:grpSpPr>
        <p:sp>
          <p:nvSpPr>
            <p:cNvPr id="6" name="Oval 5"/>
            <p:cNvSpPr/>
            <p:nvPr/>
          </p:nvSpPr>
          <p:spPr>
            <a:xfrm>
              <a:off x="245659" y="1364776"/>
              <a:ext cx="3971499" cy="39032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Full Pension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096836" y="2081283"/>
              <a:ext cx="2336042" cy="247024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Pension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326339" y="2081283"/>
              <a:ext cx="2770496" cy="900751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Assets Test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326661" y="2892390"/>
            <a:ext cx="44062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Full fortnightly pension will be reduced by </a:t>
            </a:r>
          </a:p>
          <a:p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$1.50  for single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$0.75 for each member of a couple</a:t>
            </a:r>
          </a:p>
          <a:p>
            <a:endParaRPr lang="en-US" sz="2000" dirty="0"/>
          </a:p>
          <a:p>
            <a:r>
              <a:rPr lang="en-US" sz="2000" dirty="0"/>
              <a:t>f</a:t>
            </a:r>
            <a:r>
              <a:rPr lang="en-US" sz="2000"/>
              <a:t>or </a:t>
            </a:r>
            <a:r>
              <a:rPr lang="en-US" sz="2000" dirty="0"/>
              <a:t>each $1000 above the amount showed in the table</a:t>
            </a:r>
          </a:p>
        </p:txBody>
      </p:sp>
    </p:spTree>
    <p:extLst>
      <p:ext uri="{BB962C8B-B14F-4D97-AF65-F5344CB8AC3E}">
        <p14:creationId xmlns:p14="http://schemas.microsoft.com/office/powerpoint/2010/main" val="162465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0" y="842893"/>
            <a:ext cx="9720020" cy="52731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5776" y="216976"/>
            <a:ext cx="21542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Full pension will be reduced by $1.50 for each $1000 above </a:t>
            </a:r>
            <a:r>
              <a:rPr lang="en-US" sz="2000"/>
              <a:t>the limits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059836" y="216976"/>
            <a:ext cx="2962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Full pension will be reduced by $0.75 for each $1000 above the limits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262752" y="3208149"/>
            <a:ext cx="1518834" cy="154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438045" y="2275664"/>
            <a:ext cx="1518834" cy="154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374610" y="1748729"/>
            <a:ext cx="1518834" cy="154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227732" y="2647627"/>
            <a:ext cx="1518834" cy="154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57219" y="2765179"/>
            <a:ext cx="1131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$192,500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1773" y="1832694"/>
            <a:ext cx="1131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$332,000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1460" y="2202026"/>
            <a:ext cx="1131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$273,000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1215" y="1322969"/>
            <a:ext cx="1131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$412,500</a:t>
            </a:r>
          </a:p>
        </p:txBody>
      </p:sp>
    </p:spTree>
    <p:extLst>
      <p:ext uri="{BB962C8B-B14F-4D97-AF65-F5344CB8AC3E}">
        <p14:creationId xmlns:p14="http://schemas.microsoft.com/office/powerpoint/2010/main" val="283975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3471" y="1825625"/>
                <a:ext cx="9283485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Determine home ownership.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the assets limit to reduce the full pension.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For single: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charset="0"/>
                        </a:rPr>
                        <m:t>𝐹𝑜𝑟𝑡𝑛𝑖𝑔h𝑡𝑙𝑦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b="0" i="1" smtClean="0">
                          <a:latin typeface="Cambria Math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𝑓𝑢𝑙𝑙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−(</m:t>
                      </m:r>
                      <m:f>
                        <m:fPr>
                          <m:ctrlPr>
                            <a:rPr lang="mr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charset="0"/>
                            </a:rPr>
                            <m:t>𝐴𝑠𝑠𝑒𝑡𝑠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𝑣𝑎𝑙𝑢𝑒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 −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𝑎𝑠𝑠𝑒𝑡𝑠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𝑙𝑖𝑚𝑖𝑡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charset="0"/>
                            </a:rPr>
                            <m:t>$1000</m:t>
                          </m:r>
                        </m:den>
                      </m:f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 $1.50)</m:t>
                      </m:r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dirty="0"/>
                  <a:t>For couple: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charset="0"/>
                        </a:rPr>
                        <m:t>𝐹𝑜𝑟𝑡𝑛𝑖𝑔h𝑡𝑙𝑦</m:t>
                      </m:r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i="1">
                          <a:latin typeface="Cambria Math" charset="0"/>
                        </a:rPr>
                        <m:t>=</m:t>
                      </m:r>
                      <m:r>
                        <a:rPr lang="en-AU" sz="2000" i="1">
                          <a:latin typeface="Cambria Math" charset="0"/>
                        </a:rPr>
                        <m:t>𝑓𝑢𝑙𝑙</m:t>
                      </m:r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i="1">
                          <a:latin typeface="Cambria Math" charset="0"/>
                        </a:rPr>
                        <m:t> −(</m:t>
                      </m:r>
                      <m:f>
                        <m:fPr>
                          <m:ctrlPr>
                            <a:rPr lang="mr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charset="0"/>
                            </a:rPr>
                            <m:t>𝐴𝑠𝑠𝑒𝑡𝑠</m:t>
                          </m:r>
                          <m:r>
                            <a:rPr lang="en-AU" sz="2000" i="1">
                              <a:latin typeface="Cambria Math" charset="0"/>
                            </a:rPr>
                            <m:t> </m:t>
                          </m:r>
                          <m:r>
                            <a:rPr lang="en-AU" sz="2000" i="1">
                              <a:latin typeface="Cambria Math" charset="0"/>
                            </a:rPr>
                            <m:t>𝑣𝑎𝑙𝑢𝑒</m:t>
                          </m:r>
                          <m:r>
                            <a:rPr lang="en-AU" sz="2000" i="1">
                              <a:latin typeface="Cambria Math" charset="0"/>
                            </a:rPr>
                            <m:t> −</m:t>
                          </m:r>
                          <m:r>
                            <a:rPr lang="en-AU" sz="2000" i="1">
                              <a:latin typeface="Cambria Math" charset="0"/>
                            </a:rPr>
                            <m:t>𝑎𝑠𝑠𝑒𝑡𝑠</m:t>
                          </m:r>
                          <m:r>
                            <a:rPr lang="en-AU" sz="2000" i="1">
                              <a:latin typeface="Cambria Math" charset="0"/>
                            </a:rPr>
                            <m:t> </m:t>
                          </m:r>
                          <m:r>
                            <a:rPr lang="en-AU" sz="2000" i="1">
                              <a:latin typeface="Cambria Math" charset="0"/>
                            </a:rPr>
                            <m:t>𝑙𝑖𝑚𝑖𝑡</m:t>
                          </m:r>
                        </m:num>
                        <m:den>
                          <m:r>
                            <a:rPr lang="en-AU" sz="2000" i="1">
                              <a:latin typeface="Cambria Math" charset="0"/>
                            </a:rPr>
                            <m:t>$1000</m:t>
                          </m:r>
                        </m:den>
                      </m:f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 $</m:t>
                      </m:r>
                      <m:r>
                        <a:rPr lang="en-AU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0.75</m:t>
                      </m:r>
                      <m:r>
                        <a:rPr lang="en-AU" sz="20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471" y="1825625"/>
                <a:ext cx="9283485" cy="4351338"/>
              </a:xfrm>
              <a:blipFill rotWithShape="0">
                <a:blip r:embed="rId2"/>
                <a:stretch>
                  <a:fillRect l="-1379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Assets Test</a:t>
            </a:r>
          </a:p>
        </p:txBody>
      </p:sp>
    </p:spTree>
    <p:extLst>
      <p:ext uri="{BB962C8B-B14F-4D97-AF65-F5344CB8AC3E}">
        <p14:creationId xmlns:p14="http://schemas.microsoft.com/office/powerpoint/2010/main" val="70351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075" y="1690690"/>
            <a:ext cx="6805849" cy="485937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</p:spPr>
        <p:txBody>
          <a:bodyPr/>
          <a:lstStyle/>
          <a:p>
            <a:r>
              <a:rPr lang="en-US" dirty="0"/>
              <a:t>INCOME ????</a:t>
            </a:r>
          </a:p>
        </p:txBody>
      </p:sp>
    </p:spTree>
    <p:extLst>
      <p:ext uri="{BB962C8B-B14F-4D97-AF65-F5344CB8AC3E}">
        <p14:creationId xmlns:p14="http://schemas.microsoft.com/office/powerpoint/2010/main" val="274564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Test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" b="1"/>
          <a:stretch/>
        </p:blipFill>
        <p:spPr>
          <a:xfrm>
            <a:off x="233349" y="1317356"/>
            <a:ext cx="8991614" cy="1444101"/>
          </a:xfrm>
          <a:scene3d>
            <a:camera prst="orthographicFront">
              <a:rot lat="0" lon="0" rev="0"/>
            </a:camera>
            <a:lightRig rig="threePt" dir="t"/>
          </a:scene3d>
        </p:spPr>
      </p:pic>
      <p:grpSp>
        <p:nvGrpSpPr>
          <p:cNvPr id="7" name="Group 6"/>
          <p:cNvGrpSpPr/>
          <p:nvPr/>
        </p:nvGrpSpPr>
        <p:grpSpPr>
          <a:xfrm>
            <a:off x="309078" y="3482192"/>
            <a:ext cx="4665877" cy="1964743"/>
            <a:chOff x="245659" y="1364776"/>
            <a:chExt cx="9187219" cy="3903260"/>
          </a:xfrm>
        </p:grpSpPr>
        <p:sp>
          <p:nvSpPr>
            <p:cNvPr id="4" name="Oval 3"/>
            <p:cNvSpPr/>
            <p:nvPr/>
          </p:nvSpPr>
          <p:spPr>
            <a:xfrm>
              <a:off x="245659" y="1364776"/>
              <a:ext cx="3971499" cy="39032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Full Pension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7096836" y="2081283"/>
              <a:ext cx="2336042" cy="247024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Pension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326339" y="3650776"/>
              <a:ext cx="2770496" cy="900751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Income Test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326661" y="2892390"/>
            <a:ext cx="44062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Full fortnightly pension will be reduced by </a:t>
            </a:r>
          </a:p>
          <a:p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$0.50 for single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$0.25 for each member of a couple</a:t>
            </a:r>
          </a:p>
          <a:p>
            <a:endParaRPr lang="en-US" sz="2000" dirty="0"/>
          </a:p>
          <a:p>
            <a:r>
              <a:rPr lang="en-US" sz="2000" dirty="0"/>
              <a:t>for each $1 above the amount showed in the table</a:t>
            </a:r>
          </a:p>
        </p:txBody>
      </p:sp>
    </p:spTree>
    <p:extLst>
      <p:ext uri="{BB962C8B-B14F-4D97-AF65-F5344CB8AC3E}">
        <p14:creationId xmlns:p14="http://schemas.microsoft.com/office/powerpoint/2010/main" val="380483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91165" y="1381698"/>
            <a:ext cx="4107049" cy="341632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Income earning assets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Bank accounts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Shares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Investment properties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Other investments</a:t>
            </a:r>
          </a:p>
          <a:p>
            <a:r>
              <a:rPr lang="en-US" sz="2400" dirty="0"/>
              <a:t>These will be deemed to earn income at the “deeming rate”, using </a:t>
            </a:r>
            <a:r>
              <a:rPr lang="en-US" sz="2400" b="1" dirty="0">
                <a:solidFill>
                  <a:srgbClr val="FF0000"/>
                </a:solidFill>
              </a:rPr>
              <a:t>4% </a:t>
            </a:r>
            <a:r>
              <a:rPr lang="en-US" sz="2400" dirty="0"/>
              <a:t>in this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568" y="1612189"/>
            <a:ext cx="3983065" cy="304698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Employment</a:t>
            </a:r>
          </a:p>
          <a:p>
            <a:endParaRPr lang="en-US" sz="2400" dirty="0"/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Part-time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Casual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Etc.</a:t>
            </a:r>
          </a:p>
          <a:p>
            <a:r>
              <a:rPr lang="en-US" sz="2400" dirty="0"/>
              <a:t>Frist $250 earned not included in the income test [work bonus]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4068303" y="478628"/>
            <a:ext cx="1794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INCOME</a:t>
            </a:r>
          </a:p>
        </p:txBody>
      </p:sp>
      <p:sp>
        <p:nvSpPr>
          <p:cNvPr id="3" name="Bent-Up Arrow 2"/>
          <p:cNvSpPr/>
          <p:nvPr/>
        </p:nvSpPr>
        <p:spPr>
          <a:xfrm flipV="1">
            <a:off x="5862384" y="735367"/>
            <a:ext cx="1995256" cy="526942"/>
          </a:xfrm>
          <a:prstGeom prst="bent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Bent-Up Arrow 6"/>
          <p:cNvSpPr/>
          <p:nvPr/>
        </p:nvSpPr>
        <p:spPr>
          <a:xfrm flipH="1" flipV="1">
            <a:off x="2090555" y="766678"/>
            <a:ext cx="1977747" cy="526942"/>
          </a:xfrm>
          <a:prstGeom prst="bent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301" y="5470902"/>
            <a:ext cx="9837699" cy="83099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Fortnightly income = (Employment income - $250) + (Assets Income)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EACH</a:t>
            </a:r>
          </a:p>
        </p:txBody>
      </p:sp>
    </p:spTree>
    <p:extLst>
      <p:ext uri="{BB962C8B-B14F-4D97-AF65-F5344CB8AC3E}">
        <p14:creationId xmlns:p14="http://schemas.microsoft.com/office/powerpoint/2010/main" val="361586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549832"/>
                <a:ext cx="8543925" cy="4928460"/>
              </a:xfrm>
            </p:spPr>
            <p:txBody>
              <a:bodyPr/>
              <a:lstStyle/>
              <a:p>
                <a:r>
                  <a:rPr lang="en-US" dirty="0"/>
                  <a:t>Calculate fortnightly income.</a:t>
                </a:r>
              </a:p>
              <a:p>
                <a:pPr lvl="1"/>
                <a:r>
                  <a:rPr lang="en-US" dirty="0"/>
                  <a:t>Based on income producing assets and the deeming rate: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charset="0"/>
                        </a:rPr>
                        <m:t>𝐹𝑜𝑟𝑡𝑛𝑖𝑔h𝑡𝑙𝑦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𝑖𝑛𝑐𝑜𝑚𝑒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𝑓𝑟𝑜𝑚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𝑎𝑠𝑠𝑒𝑡𝑠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mr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charset="0"/>
                            </a:rPr>
                            <m:t>𝑣𝑎𝑙𝑢𝑒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𝑜𝑓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𝑎𝑠𝑠𝑒𝑡𝑠</m:t>
                          </m:r>
                          <m:r>
                            <a:rPr lang="en-AU" sz="2000" b="0" i="1" smtClean="0">
                              <a:latin typeface="Cambria Math" charset="0"/>
                            </a:rPr>
                            <m:t> × </m:t>
                          </m:r>
                          <m:r>
                            <a:rPr lang="en-AU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𝑑𝑒𝑒𝑚𝑖𝑛𝑔</m:t>
                          </m:r>
                          <m:r>
                            <a:rPr lang="en-AU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𝑟𝑎𝑡𝑒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lvl="1"/>
                <a:r>
                  <a:rPr lang="en-US" dirty="0"/>
                  <a:t>Based on employment (only for amount above $250):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  <a:tabLst>
                    <a:tab pos="159385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charset="0"/>
                        </a:rPr>
                        <m:t>𝐹𝑜𝑟𝑡𝑛𝑖𝑔h𝑡𝑙𝑦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𝑖𝑛𝑐𝑜𝑚𝑒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𝑓𝑟𝑜𝑚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𝑒𝑚𝑝𝑙𝑜𝑦𝑚𝑒𝑛𝑡</m:t>
                      </m:r>
                      <m:r>
                        <a:rPr lang="en-AU" sz="2000" b="0" i="1" smtClean="0">
                          <a:latin typeface="Cambria Math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𝑖𝑛𝑐𝑜𝑚𝑒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−$250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Total fortnightly income = fortnightly income from assets + fortnightly income from employment.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549832"/>
                <a:ext cx="8543925" cy="4928460"/>
              </a:xfrm>
              <a:blipFill rotWithShape="0">
                <a:blip r:embed="rId2"/>
                <a:stretch>
                  <a:fillRect l="-1499" t="-1978" b="-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06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Test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9485" y="1825625"/>
                <a:ext cx="954695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Use the income limit to reduce the full pension.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single: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charset="0"/>
                        </a:rPr>
                        <m:t>𝐹𝑜𝑟𝑡𝑛𝑖𝑔h𝑡𝑙𝑦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b="0" i="1" smtClean="0">
                          <a:latin typeface="Cambria Math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𝑓𝑢𝑙𝑙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−(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𝑡𝑜𝑡𝑎𝑙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𝑓𝑜𝑟𝑡𝑛𝑖𝑔h𝑡𝑙𝑦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charset="0"/>
                        </a:rPr>
                        <m:t>𝑖𝑛𝑐𝑜𝑚𝑒</m:t>
                      </m:r>
                      <m:r>
                        <a:rPr lang="en-AU" sz="2000" b="0" i="1" smtClean="0">
                          <a:latin typeface="Cambria Math" charset="0"/>
                        </a:rPr>
                        <m:t> −$152)×$0.5</m:t>
                      </m:r>
                    </m:oMath>
                  </m:oMathPara>
                </a14:m>
                <a:endParaRPr lang="en-US" sz="2000" i="1" dirty="0">
                  <a:latin typeface="Cambria Math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For couple: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charset="0"/>
                        </a:rPr>
                        <m:t>𝐹𝑜𝑟𝑡𝑛𝑖𝑔h𝑡𝑙𝑦</m:t>
                      </m:r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i="1">
                          <a:latin typeface="Cambria Math" charset="0"/>
                        </a:rPr>
                        <m:t>=</m:t>
                      </m:r>
                      <m:r>
                        <a:rPr lang="en-AU" sz="2000" i="1">
                          <a:latin typeface="Cambria Math" charset="0"/>
                        </a:rPr>
                        <m:t>𝑓𝑢𝑙𝑙</m:t>
                      </m:r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</a:rPr>
                        <m:t>𝑝𝑒𝑛𝑠𝑖𝑜𝑛</m:t>
                      </m:r>
                      <m:r>
                        <a:rPr lang="en-AU" sz="2000" i="1">
                          <a:latin typeface="Cambria Math" charset="0"/>
                        </a:rPr>
                        <m:t> −(</m:t>
                      </m:r>
                      <m:r>
                        <a:rPr lang="en-AU" sz="2000" i="1">
                          <a:latin typeface="Cambria Math" charset="0"/>
                        </a:rPr>
                        <m:t>𝑡𝑜𝑡𝑎𝑙</m:t>
                      </m:r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</a:rPr>
                        <m:t>𝑓𝑜𝑟𝑡𝑛𝑖𝑔h𝑡𝑙𝑦</m:t>
                      </m:r>
                      <m:r>
                        <a:rPr lang="en-AU" sz="2000" i="1">
                          <a:latin typeface="Cambria Math" charset="0"/>
                        </a:rPr>
                        <m:t> </m:t>
                      </m:r>
                      <m:r>
                        <a:rPr lang="en-AU" sz="2000" i="1">
                          <a:latin typeface="Cambria Math" charset="0"/>
                        </a:rPr>
                        <m:t>𝑖𝑛𝑐𝑜𝑚𝑒</m:t>
                      </m:r>
                      <m:r>
                        <a:rPr lang="en-AU" sz="2000" i="1">
                          <a:latin typeface="Cambria Math" charset="0"/>
                        </a:rPr>
                        <m:t> −$268)×$0.25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485" y="1825625"/>
                <a:ext cx="9546956" cy="4351338"/>
              </a:xfrm>
              <a:blipFill rotWithShape="0">
                <a:blip r:embed="rId2"/>
                <a:stretch>
                  <a:fillRect l="-134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876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1 - Single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Margaret, a retiree, owns the house she lives in which is worth $350,000.  She has assets which are worth $500,000, of which $320,000 is deemed to earn 4% per annum income.  She also earns a fortnightly income of $150 from tutoring.  Determine her fortnightly age pension.</a:t>
            </a:r>
          </a:p>
        </p:txBody>
      </p:sp>
    </p:spTree>
    <p:extLst>
      <p:ext uri="{BB962C8B-B14F-4D97-AF65-F5344CB8AC3E}">
        <p14:creationId xmlns:p14="http://schemas.microsoft.com/office/powerpoint/2010/main" val="2797903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2 - Single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John rents a house after retirement.  He has assets which are worth $150,000, of which $80,000 is deemed to earn 4% per annum income. Determine his fortnightly age pension.</a:t>
            </a:r>
          </a:p>
        </p:txBody>
      </p:sp>
    </p:spTree>
    <p:extLst>
      <p:ext uri="{BB962C8B-B14F-4D97-AF65-F5344CB8AC3E}">
        <p14:creationId xmlns:p14="http://schemas.microsoft.com/office/powerpoint/2010/main" val="2685788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3 - Couple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Mr. and Mrs. White live in a flat they owned which is worth $200,000.  They have assets which are worth $425,000, of which $298,000 is deemed to earn 4% per annum income.  To supplement their income, they make $100 each per week cleaning at a local aged care facility.  Determine Mrs. White’s fortnightly age pension.</a:t>
            </a:r>
          </a:p>
        </p:txBody>
      </p:sp>
    </p:spTree>
    <p:extLst>
      <p:ext uri="{BB962C8B-B14F-4D97-AF65-F5344CB8AC3E}">
        <p14:creationId xmlns:p14="http://schemas.microsoft.com/office/powerpoint/2010/main" val="241104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4 - Couple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Mr. &amp; Mrs. Brown live in a caravan park.  They have assets which are worth $285,000, of which $200,000 is deemed to earn 4% per annum income. Mr. Brown earns $400 a fortnight as the caretaker of the caravan park while Mrs. Brown earns $200 a fortnight tutoring mathematics. Determine their combined fortnightly age pension.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10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9161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status </a:t>
            </a:r>
            <a:r>
              <a:rPr lang="mr-IN" dirty="0"/>
              <a:t>–</a:t>
            </a:r>
            <a:r>
              <a:rPr lang="en-US" dirty="0"/>
              <a:t> single or couple.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will determine the full pension.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Assets Test to determine the value of the fortnightly pensions.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Income Test, determine the fortnightly income </a:t>
            </a:r>
            <a:r>
              <a:rPr lang="mr-IN" dirty="0"/>
              <a:t>–</a:t>
            </a:r>
            <a:r>
              <a:rPr lang="en-US" dirty="0"/>
              <a:t> combine the income from assets and from employment.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Income test to determine the value of fortnightly pensions.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lesser of the two amounts will be the fortnightly pension (round to the nearest dollar)</a:t>
            </a:r>
          </a:p>
        </p:txBody>
      </p:sp>
    </p:spTree>
    <p:extLst>
      <p:ext uri="{BB962C8B-B14F-4D97-AF65-F5344CB8AC3E}">
        <p14:creationId xmlns:p14="http://schemas.microsoft.com/office/powerpoint/2010/main" val="4222856885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60</TotalTime>
  <Words>814</Words>
  <Application>Microsoft Macintosh PowerPoint</Application>
  <PresentationFormat>A4 Paper (210x297 mm)</PresentationFormat>
  <Paragraphs>106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A4</vt:lpstr>
      <vt:lpstr>Government Allowances</vt:lpstr>
      <vt:lpstr>The Age Pension</vt:lpstr>
      <vt:lpstr>Payment Rate (fortnightly)</vt:lpstr>
      <vt:lpstr>PowerPoint Presentation</vt:lpstr>
      <vt:lpstr>What are assets?</vt:lpstr>
      <vt:lpstr>Assets Test</vt:lpstr>
      <vt:lpstr>PowerPoint Presentation</vt:lpstr>
      <vt:lpstr>Assets Test</vt:lpstr>
      <vt:lpstr>INCOME ????</vt:lpstr>
      <vt:lpstr>Income Test</vt:lpstr>
      <vt:lpstr>PowerPoint Presentation</vt:lpstr>
      <vt:lpstr>Income Test</vt:lpstr>
      <vt:lpstr>Income Test (cont’d)</vt:lpstr>
      <vt:lpstr>Example 1 - Single</vt:lpstr>
      <vt:lpstr>Example 2 - Single</vt:lpstr>
      <vt:lpstr>Example 3 - Couple</vt:lpstr>
      <vt:lpstr>Example 4 - Couple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Allowances</dc:title>
  <dc:creator>LOH Michael [Shenton College]</dc:creator>
  <cp:lastModifiedBy>LOH Michael [Shenton College]</cp:lastModifiedBy>
  <cp:revision>4</cp:revision>
  <dcterms:created xsi:type="dcterms:W3CDTF">2018-02-24T07:29:07Z</dcterms:created>
  <dcterms:modified xsi:type="dcterms:W3CDTF">2019-02-21T01:10:54Z</dcterms:modified>
</cp:coreProperties>
</file>
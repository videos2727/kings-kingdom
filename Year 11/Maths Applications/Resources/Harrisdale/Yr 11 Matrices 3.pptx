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5" r:id="rId11"/>
    <p:sldId id="266" r:id="rId12"/>
    <p:sldId id="264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6"/>
    <p:restoredTop sz="94619"/>
  </p:normalViewPr>
  <p:slideViewPr>
    <p:cSldViewPr snapToGrid="0" snapToObjects="1">
      <p:cViewPr varScale="1">
        <p:scale>
          <a:sx n="109" d="100"/>
          <a:sy n="109" d="100"/>
        </p:scale>
        <p:origin x="1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F97EC-8299-CD4A-94B6-BC0DCC6A5DB8}" type="datetimeFigureOut">
              <a:rPr lang="en-US" smtClean="0"/>
              <a:t>3/15/19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D8B64-0A2D-0943-9BAA-6C017FA65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3/15/19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2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Matrices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717594" y="2219849"/>
            <a:ext cx="4060374" cy="2447886"/>
            <a:chOff x="717594" y="2219849"/>
            <a:chExt cx="4060374" cy="2447886"/>
          </a:xfrm>
        </p:grpSpPr>
        <p:sp>
          <p:nvSpPr>
            <p:cNvPr id="27" name="Freeform 26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Oval 4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15" name="Straight Connector 14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6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5218748" y="2476247"/>
            <a:ext cx="40605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How many </a:t>
            </a:r>
            <a:r>
              <a:rPr lang="en-US" sz="2400" b="1"/>
              <a:t>direct</a:t>
            </a:r>
            <a:r>
              <a:rPr lang="en-US" sz="2400"/>
              <a:t> route(s) </a:t>
            </a:r>
            <a:r>
              <a:rPr lang="en-US" sz="2400" dirty="0"/>
              <a:t>from one town to the other?</a:t>
            </a:r>
          </a:p>
          <a:p>
            <a:endParaRPr lang="en-US" sz="2400" dirty="0"/>
          </a:p>
          <a:p>
            <a:r>
              <a:rPr lang="en-US" sz="2400" dirty="0"/>
              <a:t>e.g. from A to B, A to D etc.</a:t>
            </a:r>
          </a:p>
        </p:txBody>
      </p:sp>
    </p:spTree>
    <p:extLst>
      <p:ext uri="{BB962C8B-B14F-4D97-AF65-F5344CB8AC3E}">
        <p14:creationId xmlns:p14="http://schemas.microsoft.com/office/powerpoint/2010/main" val="109295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080750" y="329056"/>
            <a:ext cx="4060374" cy="2447886"/>
            <a:chOff x="717594" y="2219849"/>
            <a:chExt cx="4060374" cy="2447886"/>
          </a:xfrm>
        </p:grpSpPr>
        <p:sp>
          <p:nvSpPr>
            <p:cNvPr id="5" name="Freeform 4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16" name="Oval 15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TextBox 11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8" name="Straight Connector 7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endCxn id="8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109097"/>
              </p:ext>
            </p:extLst>
          </p:nvPr>
        </p:nvGraphicFramePr>
        <p:xfrm>
          <a:off x="1808937" y="3684895"/>
          <a:ext cx="6604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2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22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the table in a matrix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48" y="1580827"/>
            <a:ext cx="7857641" cy="3998563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3471620" y="2906390"/>
            <a:ext cx="4262034" cy="25490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3794500" y="3022168"/>
            <a:ext cx="1521419" cy="1066800"/>
            <a:chOff x="3794500" y="3022168"/>
            <a:chExt cx="1521419" cy="1066800"/>
          </a:xfrm>
        </p:grpSpPr>
        <p:sp>
          <p:nvSpPr>
            <p:cNvPr id="9" name="Oval 8"/>
            <p:cNvSpPr/>
            <p:nvPr/>
          </p:nvSpPr>
          <p:spPr>
            <a:xfrm>
              <a:off x="4773478" y="3022168"/>
              <a:ext cx="542441" cy="511445"/>
            </a:xfrm>
            <a:prstGeom prst="ellipse">
              <a:avLst/>
            </a:prstGeom>
            <a:solidFill>
              <a:srgbClr val="F8CBAD">
                <a:alpha val="36863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" name="Oval 9"/>
            <p:cNvSpPr/>
            <p:nvPr/>
          </p:nvSpPr>
          <p:spPr>
            <a:xfrm>
              <a:off x="3794500" y="3577523"/>
              <a:ext cx="542441" cy="511445"/>
            </a:xfrm>
            <a:prstGeom prst="ellipse">
              <a:avLst/>
            </a:prstGeom>
            <a:solidFill>
              <a:srgbClr val="F8CBAD">
                <a:alpha val="36863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799359" y="3577523"/>
            <a:ext cx="2409884" cy="1706940"/>
            <a:chOff x="4799359" y="3577523"/>
            <a:chExt cx="2409884" cy="1706940"/>
          </a:xfrm>
        </p:grpSpPr>
        <p:sp>
          <p:nvSpPr>
            <p:cNvPr id="11" name="Oval 10"/>
            <p:cNvSpPr/>
            <p:nvPr/>
          </p:nvSpPr>
          <p:spPr>
            <a:xfrm>
              <a:off x="4799359" y="4773018"/>
              <a:ext cx="542441" cy="511445"/>
            </a:xfrm>
            <a:prstGeom prst="ellipse">
              <a:avLst/>
            </a:prstGeom>
            <a:solidFill>
              <a:schemeClr val="accent5">
                <a:lumMod val="75000"/>
                <a:alpha val="36863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2" name="Oval 11"/>
            <p:cNvSpPr/>
            <p:nvPr/>
          </p:nvSpPr>
          <p:spPr>
            <a:xfrm>
              <a:off x="6666802" y="3577523"/>
              <a:ext cx="542441" cy="511445"/>
            </a:xfrm>
            <a:prstGeom prst="ellipse">
              <a:avLst/>
            </a:prstGeom>
            <a:solidFill>
              <a:schemeClr val="accent5">
                <a:lumMod val="75000"/>
                <a:alpha val="36863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410346" y="5811864"/>
            <a:ext cx="7439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direct route matrix (one stage route matrix)</a:t>
            </a:r>
          </a:p>
        </p:txBody>
      </p:sp>
    </p:spTree>
    <p:extLst>
      <p:ext uri="{BB962C8B-B14F-4D97-AF65-F5344CB8AC3E}">
        <p14:creationId xmlns:p14="http://schemas.microsoft.com/office/powerpoint/2010/main" val="114903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15043" y="406549"/>
            <a:ext cx="3335548" cy="2135174"/>
            <a:chOff x="717594" y="2219849"/>
            <a:chExt cx="4060374" cy="2447886"/>
          </a:xfrm>
        </p:grpSpPr>
        <p:sp>
          <p:nvSpPr>
            <p:cNvPr id="5" name="Freeform 4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16" name="Oval 15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TextBox 11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8" name="Straight Connector 7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endCxn id="10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4355024" y="669976"/>
            <a:ext cx="4200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about a two-stage route?</a:t>
            </a:r>
          </a:p>
          <a:p>
            <a:endParaRPr lang="en-US" sz="2400" dirty="0"/>
          </a:p>
          <a:p>
            <a:r>
              <a:rPr lang="en-US" sz="2400" dirty="0"/>
              <a:t>How can go from A to A?</a:t>
            </a:r>
          </a:p>
          <a:p>
            <a:endParaRPr lang="en-US" sz="2400" dirty="0"/>
          </a:p>
          <a:p>
            <a:r>
              <a:rPr lang="en-US" sz="2400" dirty="0"/>
              <a:t>What about from A to D?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371197" y="3813593"/>
            <a:ext cx="3335548" cy="2135174"/>
            <a:chOff x="717594" y="2219849"/>
            <a:chExt cx="4060374" cy="2447886"/>
          </a:xfrm>
        </p:grpSpPr>
        <p:sp>
          <p:nvSpPr>
            <p:cNvPr id="22" name="Freeform 21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33" name="Oval 32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" name="TextBox 28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25" name="Straight Connector 24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endCxn id="29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5262670" y="3796120"/>
            <a:ext cx="3335548" cy="2135174"/>
            <a:chOff x="717594" y="2219849"/>
            <a:chExt cx="4060374" cy="2447886"/>
          </a:xfrm>
        </p:grpSpPr>
        <p:sp>
          <p:nvSpPr>
            <p:cNvPr id="38" name="Freeform 37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49" name="Oval 48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" name="TextBox 44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endCxn id="45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2789695" y="3084163"/>
            <a:ext cx="4231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What about from B to C?</a:t>
            </a:r>
          </a:p>
        </p:txBody>
      </p:sp>
    </p:spTree>
    <p:extLst>
      <p:ext uri="{BB962C8B-B14F-4D97-AF65-F5344CB8AC3E}">
        <p14:creationId xmlns:p14="http://schemas.microsoft.com/office/powerpoint/2010/main" val="32022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789695" y="651747"/>
            <a:ext cx="3487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How about from C to C?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350439" y="1872389"/>
            <a:ext cx="2684618" cy="1809709"/>
            <a:chOff x="350439" y="1872389"/>
            <a:chExt cx="2684618" cy="1809709"/>
          </a:xfrm>
        </p:grpSpPr>
        <p:grpSp>
          <p:nvGrpSpPr>
            <p:cNvPr id="4" name="Group 3"/>
            <p:cNvGrpSpPr/>
            <p:nvPr/>
          </p:nvGrpSpPr>
          <p:grpSpPr>
            <a:xfrm>
              <a:off x="350439" y="1872389"/>
              <a:ext cx="2684618" cy="1809709"/>
              <a:chOff x="717594" y="2219849"/>
              <a:chExt cx="4060374" cy="2447886"/>
            </a:xfrm>
          </p:grpSpPr>
          <p:sp>
            <p:nvSpPr>
              <p:cNvPr id="5" name="Freeform 4"/>
              <p:cNvSpPr/>
              <p:nvPr/>
            </p:nvSpPr>
            <p:spPr>
              <a:xfrm>
                <a:off x="1443310" y="4209143"/>
                <a:ext cx="2714172" cy="458592"/>
              </a:xfrm>
              <a:custGeom>
                <a:avLst/>
                <a:gdLst>
                  <a:gd name="connsiteX0" fmla="*/ 0 w 2714172"/>
                  <a:gd name="connsiteY0" fmla="*/ 0 h 537062"/>
                  <a:gd name="connsiteX1" fmla="*/ 1291772 w 2714172"/>
                  <a:gd name="connsiteY1" fmla="*/ 537028 h 537062"/>
                  <a:gd name="connsiteX2" fmla="*/ 2714172 w 2714172"/>
                  <a:gd name="connsiteY2" fmla="*/ 29028 h 537062"/>
                  <a:gd name="connsiteX0" fmla="*/ 0 w 2714172"/>
                  <a:gd name="connsiteY0" fmla="*/ 0 h 551575"/>
                  <a:gd name="connsiteX1" fmla="*/ 1494972 w 2714172"/>
                  <a:gd name="connsiteY1" fmla="*/ 551542 h 551575"/>
                  <a:gd name="connsiteX2" fmla="*/ 2714172 w 2714172"/>
                  <a:gd name="connsiteY2" fmla="*/ 29028 h 551575"/>
                  <a:gd name="connsiteX0" fmla="*/ 0 w 2714172"/>
                  <a:gd name="connsiteY0" fmla="*/ 0 h 458592"/>
                  <a:gd name="connsiteX1" fmla="*/ 1339989 w 2714172"/>
                  <a:gd name="connsiteY1" fmla="*/ 458552 h 458592"/>
                  <a:gd name="connsiteX2" fmla="*/ 2714172 w 2714172"/>
                  <a:gd name="connsiteY2" fmla="*/ 29028 h 45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14172" h="458592">
                    <a:moveTo>
                      <a:pt x="0" y="0"/>
                    </a:moveTo>
                    <a:cubicBezTo>
                      <a:pt x="419705" y="266095"/>
                      <a:pt x="887627" y="453714"/>
                      <a:pt x="1339989" y="458552"/>
                    </a:cubicBezTo>
                    <a:cubicBezTo>
                      <a:pt x="1792351" y="463390"/>
                      <a:pt x="2714172" y="29028"/>
                      <a:pt x="2714172" y="29028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1457825" y="3904233"/>
                <a:ext cx="2670628" cy="333938"/>
              </a:xfrm>
              <a:custGeom>
                <a:avLst/>
                <a:gdLst>
                  <a:gd name="connsiteX0" fmla="*/ 0 w 2670628"/>
                  <a:gd name="connsiteY0" fmla="*/ 304910 h 333938"/>
                  <a:gd name="connsiteX1" fmla="*/ 1364343 w 2670628"/>
                  <a:gd name="connsiteY1" fmla="*/ 110 h 333938"/>
                  <a:gd name="connsiteX2" fmla="*/ 2670628 w 2670628"/>
                  <a:gd name="connsiteY2" fmla="*/ 333938 h 333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70628" h="333938">
                    <a:moveTo>
                      <a:pt x="0" y="304910"/>
                    </a:moveTo>
                    <a:cubicBezTo>
                      <a:pt x="459619" y="150091"/>
                      <a:pt x="919238" y="-4728"/>
                      <a:pt x="1364343" y="110"/>
                    </a:cubicBezTo>
                    <a:cubicBezTo>
                      <a:pt x="1809448" y="4948"/>
                      <a:pt x="2670628" y="333938"/>
                      <a:pt x="2670628" y="333938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/>
              <p:cNvGrpSpPr/>
              <p:nvPr/>
            </p:nvGrpSpPr>
            <p:grpSpPr>
              <a:xfrm>
                <a:off x="717594" y="2219849"/>
                <a:ext cx="4060374" cy="2266458"/>
                <a:chOff x="1538513" y="2016649"/>
                <a:chExt cx="4060374" cy="2266458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2108199" y="2159000"/>
                  <a:ext cx="3011716" cy="2010226"/>
                  <a:chOff x="2108199" y="2159000"/>
                  <a:chExt cx="3011716" cy="2010226"/>
                </a:xfrm>
              </p:grpSpPr>
              <p:sp>
                <p:nvSpPr>
                  <p:cNvPr id="16" name="Oval 15"/>
                  <p:cNvSpPr/>
                  <p:nvPr/>
                </p:nvSpPr>
                <p:spPr>
                  <a:xfrm>
                    <a:off x="2108199" y="2159000"/>
                    <a:ext cx="304800" cy="319314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Oval 16"/>
                  <p:cNvSpPr/>
                  <p:nvPr/>
                </p:nvSpPr>
                <p:spPr>
                  <a:xfrm>
                    <a:off x="4815115" y="2159000"/>
                    <a:ext cx="304800" cy="319314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/>
                  <p:cNvSpPr/>
                  <p:nvPr/>
                </p:nvSpPr>
                <p:spPr>
                  <a:xfrm>
                    <a:off x="2108199" y="3849912"/>
                    <a:ext cx="304800" cy="319314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/>
                  <p:cNvSpPr/>
                  <p:nvPr/>
                </p:nvSpPr>
                <p:spPr>
                  <a:xfrm>
                    <a:off x="4815115" y="3849912"/>
                    <a:ext cx="304800" cy="319314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" name="TextBox 11"/>
                <p:cNvSpPr txBox="1"/>
                <p:nvPr/>
              </p:nvSpPr>
              <p:spPr>
                <a:xfrm>
                  <a:off x="5119915" y="2016649"/>
                  <a:ext cx="478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B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1567541" y="3778736"/>
                  <a:ext cx="478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D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1538513" y="2042215"/>
                  <a:ext cx="478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A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119915" y="3821442"/>
                  <a:ext cx="478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C</a:t>
                  </a:r>
                </a:p>
              </p:txBody>
            </p:sp>
          </p:grpSp>
          <p:cxnSp>
            <p:nvCxnSpPr>
              <p:cNvPr id="8" name="Straight Connector 7"/>
              <p:cNvCxnSpPr/>
              <p:nvPr/>
            </p:nvCxnSpPr>
            <p:spPr>
              <a:xfrm flipH="1">
                <a:off x="1439680" y="2521857"/>
                <a:ext cx="2706917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4146596" y="2521857"/>
                <a:ext cx="0" cy="173361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>
                <a:endCxn id="12" idx="3"/>
              </p:cNvCxnSpPr>
              <p:nvPr/>
            </p:nvCxnSpPr>
            <p:spPr>
              <a:xfrm flipH="1">
                <a:off x="1331917" y="2521857"/>
                <a:ext cx="2814679" cy="1803807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23"/>
            <p:cNvCxnSpPr/>
            <p:nvPr/>
          </p:nvCxnSpPr>
          <p:spPr>
            <a:xfrm>
              <a:off x="2624807" y="2485395"/>
              <a:ext cx="0" cy="499067"/>
            </a:xfrm>
            <a:prstGeom prst="straightConnector1">
              <a:avLst/>
            </a:prstGeom>
            <a:ln>
              <a:solidFill>
                <a:srgbClr val="FF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3762344" y="1891290"/>
            <a:ext cx="2684618" cy="1809709"/>
            <a:chOff x="717594" y="2219849"/>
            <a:chExt cx="4060374" cy="2447886"/>
          </a:xfrm>
        </p:grpSpPr>
        <p:sp>
          <p:nvSpPr>
            <p:cNvPr id="27" name="Freeform 26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38" name="Oval 37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Oval 39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30" name="Straight Connector 29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36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954377" y="1910191"/>
            <a:ext cx="2684618" cy="1809709"/>
            <a:chOff x="717594" y="2219849"/>
            <a:chExt cx="4060374" cy="2447886"/>
          </a:xfrm>
        </p:grpSpPr>
        <p:sp>
          <p:nvSpPr>
            <p:cNvPr id="43" name="Freeform 42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54" name="Oval 53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Oval 56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0" name="TextBox 49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46" name="Straight Connector 45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endCxn id="52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/>
          <p:cNvGrpSpPr/>
          <p:nvPr/>
        </p:nvGrpSpPr>
        <p:grpSpPr>
          <a:xfrm>
            <a:off x="2085944" y="4258468"/>
            <a:ext cx="2684618" cy="1809709"/>
            <a:chOff x="717594" y="2219849"/>
            <a:chExt cx="4060374" cy="2447886"/>
          </a:xfrm>
        </p:grpSpPr>
        <p:sp>
          <p:nvSpPr>
            <p:cNvPr id="60" name="Freeform 59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66" name="Group 65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71" name="Oval 70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7" name="TextBox 66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63" name="Straight Connector 62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5277977" y="4277369"/>
            <a:ext cx="2684618" cy="1809709"/>
            <a:chOff x="717594" y="2219849"/>
            <a:chExt cx="4060374" cy="2447886"/>
          </a:xfrm>
        </p:grpSpPr>
        <p:sp>
          <p:nvSpPr>
            <p:cNvPr id="76" name="Freeform 75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82" name="Group 81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87" name="Oval 86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3" name="TextBox 82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79" name="Straight Connector 78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Freeform 91"/>
          <p:cNvSpPr/>
          <p:nvPr/>
        </p:nvSpPr>
        <p:spPr>
          <a:xfrm>
            <a:off x="4897464" y="3114972"/>
            <a:ext cx="542441" cy="62181"/>
          </a:xfrm>
          <a:custGeom>
            <a:avLst/>
            <a:gdLst>
              <a:gd name="connsiteX0" fmla="*/ 0 w 542441"/>
              <a:gd name="connsiteY0" fmla="*/ 46682 h 62181"/>
              <a:gd name="connsiteX1" fmla="*/ 263471 w 542441"/>
              <a:gd name="connsiteY1" fmla="*/ 187 h 62181"/>
              <a:gd name="connsiteX2" fmla="*/ 542441 w 542441"/>
              <a:gd name="connsiteY2" fmla="*/ 62181 h 6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441" h="62181">
                <a:moveTo>
                  <a:pt x="0" y="46682"/>
                </a:moveTo>
                <a:cubicBezTo>
                  <a:pt x="86532" y="22143"/>
                  <a:pt x="173064" y="-2396"/>
                  <a:pt x="263471" y="187"/>
                </a:cubicBezTo>
                <a:cubicBezTo>
                  <a:pt x="353878" y="2770"/>
                  <a:pt x="542441" y="62181"/>
                  <a:pt x="542441" y="62181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2"/>
          <p:cNvSpPr/>
          <p:nvPr/>
        </p:nvSpPr>
        <p:spPr>
          <a:xfrm>
            <a:off x="7946720" y="3664027"/>
            <a:ext cx="654839" cy="70783"/>
          </a:xfrm>
          <a:custGeom>
            <a:avLst/>
            <a:gdLst>
              <a:gd name="connsiteX0" fmla="*/ 0 w 588935"/>
              <a:gd name="connsiteY0" fmla="*/ 15498 h 93108"/>
              <a:gd name="connsiteX1" fmla="*/ 247973 w 588935"/>
              <a:gd name="connsiteY1" fmla="*/ 92990 h 93108"/>
              <a:gd name="connsiteX2" fmla="*/ 588935 w 588935"/>
              <a:gd name="connsiteY2" fmla="*/ 0 h 93108"/>
              <a:gd name="connsiteX0" fmla="*/ 0 w 603567"/>
              <a:gd name="connsiteY0" fmla="*/ 0 h 133611"/>
              <a:gd name="connsiteX1" fmla="*/ 262605 w 603567"/>
              <a:gd name="connsiteY1" fmla="*/ 133287 h 133611"/>
              <a:gd name="connsiteX2" fmla="*/ 603567 w 603567"/>
              <a:gd name="connsiteY2" fmla="*/ 40297 h 133611"/>
              <a:gd name="connsiteX0" fmla="*/ 0 w 603567"/>
              <a:gd name="connsiteY0" fmla="*/ 0 h 108353"/>
              <a:gd name="connsiteX1" fmla="*/ 300648 w 603567"/>
              <a:gd name="connsiteY1" fmla="*/ 107925 h 108353"/>
              <a:gd name="connsiteX2" fmla="*/ 603567 w 603567"/>
              <a:gd name="connsiteY2" fmla="*/ 40297 h 108353"/>
              <a:gd name="connsiteX0" fmla="*/ 0 w 603567"/>
              <a:gd name="connsiteY0" fmla="*/ 0 h 113531"/>
              <a:gd name="connsiteX1" fmla="*/ 300648 w 603567"/>
              <a:gd name="connsiteY1" fmla="*/ 112997 h 113531"/>
              <a:gd name="connsiteX2" fmla="*/ 603567 w 603567"/>
              <a:gd name="connsiteY2" fmla="*/ 45369 h 113531"/>
              <a:gd name="connsiteX0" fmla="*/ 0 w 603567"/>
              <a:gd name="connsiteY0" fmla="*/ 0 h 113080"/>
              <a:gd name="connsiteX1" fmla="*/ 300648 w 603567"/>
              <a:gd name="connsiteY1" fmla="*/ 112997 h 113080"/>
              <a:gd name="connsiteX2" fmla="*/ 603567 w 603567"/>
              <a:gd name="connsiteY2" fmla="*/ 20008 h 11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67" h="113080">
                <a:moveTo>
                  <a:pt x="0" y="0"/>
                </a:moveTo>
                <a:cubicBezTo>
                  <a:pt x="74908" y="40037"/>
                  <a:pt x="200054" y="109662"/>
                  <a:pt x="300648" y="112997"/>
                </a:cubicBezTo>
                <a:cubicBezTo>
                  <a:pt x="401242" y="116332"/>
                  <a:pt x="603567" y="20008"/>
                  <a:pt x="603567" y="20008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93"/>
          <p:cNvSpPr/>
          <p:nvPr/>
        </p:nvSpPr>
        <p:spPr>
          <a:xfrm>
            <a:off x="3219903" y="5487008"/>
            <a:ext cx="542441" cy="62181"/>
          </a:xfrm>
          <a:custGeom>
            <a:avLst/>
            <a:gdLst>
              <a:gd name="connsiteX0" fmla="*/ 0 w 542441"/>
              <a:gd name="connsiteY0" fmla="*/ 46682 h 62181"/>
              <a:gd name="connsiteX1" fmla="*/ 263471 w 542441"/>
              <a:gd name="connsiteY1" fmla="*/ 187 h 62181"/>
              <a:gd name="connsiteX2" fmla="*/ 542441 w 542441"/>
              <a:gd name="connsiteY2" fmla="*/ 62181 h 6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441" h="62181">
                <a:moveTo>
                  <a:pt x="0" y="46682"/>
                </a:moveTo>
                <a:cubicBezTo>
                  <a:pt x="86532" y="22143"/>
                  <a:pt x="173064" y="-2396"/>
                  <a:pt x="263471" y="187"/>
                </a:cubicBezTo>
                <a:cubicBezTo>
                  <a:pt x="353878" y="2770"/>
                  <a:pt x="542441" y="62181"/>
                  <a:pt x="542441" y="62181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94"/>
          <p:cNvSpPr/>
          <p:nvPr/>
        </p:nvSpPr>
        <p:spPr>
          <a:xfrm>
            <a:off x="6380138" y="5496547"/>
            <a:ext cx="542441" cy="62181"/>
          </a:xfrm>
          <a:custGeom>
            <a:avLst/>
            <a:gdLst>
              <a:gd name="connsiteX0" fmla="*/ 0 w 542441"/>
              <a:gd name="connsiteY0" fmla="*/ 46682 h 62181"/>
              <a:gd name="connsiteX1" fmla="*/ 263471 w 542441"/>
              <a:gd name="connsiteY1" fmla="*/ 187 h 62181"/>
              <a:gd name="connsiteX2" fmla="*/ 542441 w 542441"/>
              <a:gd name="connsiteY2" fmla="*/ 62181 h 6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441" h="62181">
                <a:moveTo>
                  <a:pt x="0" y="46682"/>
                </a:moveTo>
                <a:cubicBezTo>
                  <a:pt x="86532" y="22143"/>
                  <a:pt x="173064" y="-2396"/>
                  <a:pt x="263471" y="187"/>
                </a:cubicBezTo>
                <a:cubicBezTo>
                  <a:pt x="353878" y="2770"/>
                  <a:pt x="542441" y="62181"/>
                  <a:pt x="542441" y="62181"/>
                </a:cubicBezTo>
              </a:path>
            </a:pathLst>
          </a:custGeom>
          <a:noFill/>
          <a:ln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 95"/>
          <p:cNvSpPr/>
          <p:nvPr/>
        </p:nvSpPr>
        <p:spPr>
          <a:xfrm>
            <a:off x="3077667" y="6001688"/>
            <a:ext cx="654839" cy="70783"/>
          </a:xfrm>
          <a:custGeom>
            <a:avLst/>
            <a:gdLst>
              <a:gd name="connsiteX0" fmla="*/ 0 w 588935"/>
              <a:gd name="connsiteY0" fmla="*/ 15498 h 93108"/>
              <a:gd name="connsiteX1" fmla="*/ 247973 w 588935"/>
              <a:gd name="connsiteY1" fmla="*/ 92990 h 93108"/>
              <a:gd name="connsiteX2" fmla="*/ 588935 w 588935"/>
              <a:gd name="connsiteY2" fmla="*/ 0 h 93108"/>
              <a:gd name="connsiteX0" fmla="*/ 0 w 603567"/>
              <a:gd name="connsiteY0" fmla="*/ 0 h 133611"/>
              <a:gd name="connsiteX1" fmla="*/ 262605 w 603567"/>
              <a:gd name="connsiteY1" fmla="*/ 133287 h 133611"/>
              <a:gd name="connsiteX2" fmla="*/ 603567 w 603567"/>
              <a:gd name="connsiteY2" fmla="*/ 40297 h 133611"/>
              <a:gd name="connsiteX0" fmla="*/ 0 w 603567"/>
              <a:gd name="connsiteY0" fmla="*/ 0 h 108353"/>
              <a:gd name="connsiteX1" fmla="*/ 300648 w 603567"/>
              <a:gd name="connsiteY1" fmla="*/ 107925 h 108353"/>
              <a:gd name="connsiteX2" fmla="*/ 603567 w 603567"/>
              <a:gd name="connsiteY2" fmla="*/ 40297 h 108353"/>
              <a:gd name="connsiteX0" fmla="*/ 0 w 603567"/>
              <a:gd name="connsiteY0" fmla="*/ 0 h 113531"/>
              <a:gd name="connsiteX1" fmla="*/ 300648 w 603567"/>
              <a:gd name="connsiteY1" fmla="*/ 112997 h 113531"/>
              <a:gd name="connsiteX2" fmla="*/ 603567 w 603567"/>
              <a:gd name="connsiteY2" fmla="*/ 45369 h 113531"/>
              <a:gd name="connsiteX0" fmla="*/ 0 w 603567"/>
              <a:gd name="connsiteY0" fmla="*/ 0 h 113080"/>
              <a:gd name="connsiteX1" fmla="*/ 300648 w 603567"/>
              <a:gd name="connsiteY1" fmla="*/ 112997 h 113080"/>
              <a:gd name="connsiteX2" fmla="*/ 603567 w 603567"/>
              <a:gd name="connsiteY2" fmla="*/ 20008 h 11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67" h="113080">
                <a:moveTo>
                  <a:pt x="0" y="0"/>
                </a:moveTo>
                <a:cubicBezTo>
                  <a:pt x="74908" y="40037"/>
                  <a:pt x="200054" y="109662"/>
                  <a:pt x="300648" y="112997"/>
                </a:cubicBezTo>
                <a:cubicBezTo>
                  <a:pt x="401242" y="116332"/>
                  <a:pt x="603567" y="20008"/>
                  <a:pt x="603567" y="20008"/>
                </a:cubicBezTo>
              </a:path>
            </a:pathLst>
          </a:custGeom>
          <a:noFill/>
          <a:ln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reeform 96"/>
          <p:cNvSpPr/>
          <p:nvPr/>
        </p:nvSpPr>
        <p:spPr>
          <a:xfrm>
            <a:off x="6301316" y="6017188"/>
            <a:ext cx="654839" cy="70783"/>
          </a:xfrm>
          <a:custGeom>
            <a:avLst/>
            <a:gdLst>
              <a:gd name="connsiteX0" fmla="*/ 0 w 588935"/>
              <a:gd name="connsiteY0" fmla="*/ 15498 h 93108"/>
              <a:gd name="connsiteX1" fmla="*/ 247973 w 588935"/>
              <a:gd name="connsiteY1" fmla="*/ 92990 h 93108"/>
              <a:gd name="connsiteX2" fmla="*/ 588935 w 588935"/>
              <a:gd name="connsiteY2" fmla="*/ 0 h 93108"/>
              <a:gd name="connsiteX0" fmla="*/ 0 w 603567"/>
              <a:gd name="connsiteY0" fmla="*/ 0 h 133611"/>
              <a:gd name="connsiteX1" fmla="*/ 262605 w 603567"/>
              <a:gd name="connsiteY1" fmla="*/ 133287 h 133611"/>
              <a:gd name="connsiteX2" fmla="*/ 603567 w 603567"/>
              <a:gd name="connsiteY2" fmla="*/ 40297 h 133611"/>
              <a:gd name="connsiteX0" fmla="*/ 0 w 603567"/>
              <a:gd name="connsiteY0" fmla="*/ 0 h 108353"/>
              <a:gd name="connsiteX1" fmla="*/ 300648 w 603567"/>
              <a:gd name="connsiteY1" fmla="*/ 107925 h 108353"/>
              <a:gd name="connsiteX2" fmla="*/ 603567 w 603567"/>
              <a:gd name="connsiteY2" fmla="*/ 40297 h 108353"/>
              <a:gd name="connsiteX0" fmla="*/ 0 w 603567"/>
              <a:gd name="connsiteY0" fmla="*/ 0 h 113531"/>
              <a:gd name="connsiteX1" fmla="*/ 300648 w 603567"/>
              <a:gd name="connsiteY1" fmla="*/ 112997 h 113531"/>
              <a:gd name="connsiteX2" fmla="*/ 603567 w 603567"/>
              <a:gd name="connsiteY2" fmla="*/ 45369 h 113531"/>
              <a:gd name="connsiteX0" fmla="*/ 0 w 603567"/>
              <a:gd name="connsiteY0" fmla="*/ 0 h 113080"/>
              <a:gd name="connsiteX1" fmla="*/ 300648 w 603567"/>
              <a:gd name="connsiteY1" fmla="*/ 112997 h 113080"/>
              <a:gd name="connsiteX2" fmla="*/ 603567 w 603567"/>
              <a:gd name="connsiteY2" fmla="*/ 20008 h 11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67" h="113080">
                <a:moveTo>
                  <a:pt x="0" y="0"/>
                </a:moveTo>
                <a:cubicBezTo>
                  <a:pt x="74908" y="40037"/>
                  <a:pt x="200054" y="109662"/>
                  <a:pt x="300648" y="112997"/>
                </a:cubicBezTo>
                <a:cubicBezTo>
                  <a:pt x="401242" y="116332"/>
                  <a:pt x="603567" y="20008"/>
                  <a:pt x="603567" y="20008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8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789695" y="651747"/>
            <a:ext cx="3487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about from D to D?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350439" y="1872389"/>
            <a:ext cx="2684618" cy="1809709"/>
            <a:chOff x="350439" y="1872389"/>
            <a:chExt cx="2684618" cy="1809709"/>
          </a:xfrm>
        </p:grpSpPr>
        <p:grpSp>
          <p:nvGrpSpPr>
            <p:cNvPr id="4" name="Group 3"/>
            <p:cNvGrpSpPr/>
            <p:nvPr/>
          </p:nvGrpSpPr>
          <p:grpSpPr>
            <a:xfrm>
              <a:off x="350439" y="1872389"/>
              <a:ext cx="2684618" cy="1809709"/>
              <a:chOff x="717594" y="2219849"/>
              <a:chExt cx="4060374" cy="2447886"/>
            </a:xfrm>
          </p:grpSpPr>
          <p:cxnSp>
            <p:nvCxnSpPr>
              <p:cNvPr id="10" name="Straight Connector 9"/>
              <p:cNvCxnSpPr>
                <a:endCxn id="12" idx="3"/>
              </p:cNvCxnSpPr>
              <p:nvPr/>
            </p:nvCxnSpPr>
            <p:spPr>
              <a:xfrm flipH="1">
                <a:off x="1331917" y="2521857"/>
                <a:ext cx="2814679" cy="180380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Freeform 4"/>
              <p:cNvSpPr/>
              <p:nvPr/>
            </p:nvSpPr>
            <p:spPr>
              <a:xfrm>
                <a:off x="1443310" y="4209143"/>
                <a:ext cx="2714172" cy="458592"/>
              </a:xfrm>
              <a:custGeom>
                <a:avLst/>
                <a:gdLst>
                  <a:gd name="connsiteX0" fmla="*/ 0 w 2714172"/>
                  <a:gd name="connsiteY0" fmla="*/ 0 h 537062"/>
                  <a:gd name="connsiteX1" fmla="*/ 1291772 w 2714172"/>
                  <a:gd name="connsiteY1" fmla="*/ 537028 h 537062"/>
                  <a:gd name="connsiteX2" fmla="*/ 2714172 w 2714172"/>
                  <a:gd name="connsiteY2" fmla="*/ 29028 h 537062"/>
                  <a:gd name="connsiteX0" fmla="*/ 0 w 2714172"/>
                  <a:gd name="connsiteY0" fmla="*/ 0 h 551575"/>
                  <a:gd name="connsiteX1" fmla="*/ 1494972 w 2714172"/>
                  <a:gd name="connsiteY1" fmla="*/ 551542 h 551575"/>
                  <a:gd name="connsiteX2" fmla="*/ 2714172 w 2714172"/>
                  <a:gd name="connsiteY2" fmla="*/ 29028 h 551575"/>
                  <a:gd name="connsiteX0" fmla="*/ 0 w 2714172"/>
                  <a:gd name="connsiteY0" fmla="*/ 0 h 458592"/>
                  <a:gd name="connsiteX1" fmla="*/ 1339989 w 2714172"/>
                  <a:gd name="connsiteY1" fmla="*/ 458552 h 458592"/>
                  <a:gd name="connsiteX2" fmla="*/ 2714172 w 2714172"/>
                  <a:gd name="connsiteY2" fmla="*/ 29028 h 45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14172" h="458592">
                    <a:moveTo>
                      <a:pt x="0" y="0"/>
                    </a:moveTo>
                    <a:cubicBezTo>
                      <a:pt x="419705" y="266095"/>
                      <a:pt x="887627" y="453714"/>
                      <a:pt x="1339989" y="458552"/>
                    </a:cubicBezTo>
                    <a:cubicBezTo>
                      <a:pt x="1792351" y="463390"/>
                      <a:pt x="2714172" y="29028"/>
                      <a:pt x="2714172" y="29028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1457825" y="3904233"/>
                <a:ext cx="2670628" cy="333938"/>
              </a:xfrm>
              <a:custGeom>
                <a:avLst/>
                <a:gdLst>
                  <a:gd name="connsiteX0" fmla="*/ 0 w 2670628"/>
                  <a:gd name="connsiteY0" fmla="*/ 304910 h 333938"/>
                  <a:gd name="connsiteX1" fmla="*/ 1364343 w 2670628"/>
                  <a:gd name="connsiteY1" fmla="*/ 110 h 333938"/>
                  <a:gd name="connsiteX2" fmla="*/ 2670628 w 2670628"/>
                  <a:gd name="connsiteY2" fmla="*/ 333938 h 333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70628" h="333938">
                    <a:moveTo>
                      <a:pt x="0" y="304910"/>
                    </a:moveTo>
                    <a:cubicBezTo>
                      <a:pt x="459619" y="150091"/>
                      <a:pt x="919238" y="-4728"/>
                      <a:pt x="1364343" y="110"/>
                    </a:cubicBezTo>
                    <a:cubicBezTo>
                      <a:pt x="1809448" y="4948"/>
                      <a:pt x="2670628" y="333938"/>
                      <a:pt x="2670628" y="333938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/>
              <p:cNvGrpSpPr/>
              <p:nvPr/>
            </p:nvGrpSpPr>
            <p:grpSpPr>
              <a:xfrm>
                <a:off x="717594" y="2219849"/>
                <a:ext cx="4060374" cy="2266458"/>
                <a:chOff x="1538513" y="2016649"/>
                <a:chExt cx="4060374" cy="2266458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2108199" y="2159000"/>
                  <a:ext cx="3011716" cy="2010226"/>
                  <a:chOff x="2108199" y="2159000"/>
                  <a:chExt cx="3011716" cy="2010226"/>
                </a:xfrm>
              </p:grpSpPr>
              <p:sp>
                <p:nvSpPr>
                  <p:cNvPr id="16" name="Oval 15"/>
                  <p:cNvSpPr/>
                  <p:nvPr/>
                </p:nvSpPr>
                <p:spPr>
                  <a:xfrm>
                    <a:off x="2108199" y="2159000"/>
                    <a:ext cx="304800" cy="319314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Oval 16"/>
                  <p:cNvSpPr/>
                  <p:nvPr/>
                </p:nvSpPr>
                <p:spPr>
                  <a:xfrm>
                    <a:off x="4815115" y="2159000"/>
                    <a:ext cx="304800" cy="319314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/>
                  <p:cNvSpPr/>
                  <p:nvPr/>
                </p:nvSpPr>
                <p:spPr>
                  <a:xfrm>
                    <a:off x="2108199" y="3849912"/>
                    <a:ext cx="304800" cy="319314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/>
                  <p:cNvSpPr/>
                  <p:nvPr/>
                </p:nvSpPr>
                <p:spPr>
                  <a:xfrm>
                    <a:off x="4815115" y="3849912"/>
                    <a:ext cx="304800" cy="319314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" name="TextBox 11"/>
                <p:cNvSpPr txBox="1"/>
                <p:nvPr/>
              </p:nvSpPr>
              <p:spPr>
                <a:xfrm>
                  <a:off x="5119915" y="2016649"/>
                  <a:ext cx="478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B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1567541" y="3778736"/>
                  <a:ext cx="478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D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1538513" y="2042215"/>
                  <a:ext cx="478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A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119915" y="3821442"/>
                  <a:ext cx="478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C</a:t>
                  </a:r>
                </a:p>
              </p:txBody>
            </p:sp>
          </p:grpSp>
          <p:cxnSp>
            <p:nvCxnSpPr>
              <p:cNvPr id="8" name="Straight Connector 7"/>
              <p:cNvCxnSpPr/>
              <p:nvPr/>
            </p:nvCxnSpPr>
            <p:spPr>
              <a:xfrm flipH="1">
                <a:off x="1439680" y="2521857"/>
                <a:ext cx="2706917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>
                <a:cxnSpLocks/>
              </p:cNvCxnSpPr>
              <p:nvPr/>
            </p:nvCxnSpPr>
            <p:spPr>
              <a:xfrm>
                <a:off x="4104270" y="2475525"/>
                <a:ext cx="0" cy="1733617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23"/>
            <p:cNvCxnSpPr>
              <a:cxnSpLocks/>
            </p:cNvCxnSpPr>
            <p:nvPr/>
          </p:nvCxnSpPr>
          <p:spPr>
            <a:xfrm flipH="1">
              <a:off x="1506071" y="2592593"/>
              <a:ext cx="398033" cy="311972"/>
            </a:xfrm>
            <a:prstGeom prst="straightConnector1">
              <a:avLst/>
            </a:prstGeom>
            <a:ln>
              <a:solidFill>
                <a:srgbClr val="FF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3762344" y="1891290"/>
            <a:ext cx="2684618" cy="1809709"/>
            <a:chOff x="717594" y="2219849"/>
            <a:chExt cx="4060374" cy="2447886"/>
          </a:xfrm>
        </p:grpSpPr>
        <p:sp>
          <p:nvSpPr>
            <p:cNvPr id="27" name="Freeform 26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38" name="Oval 37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Oval 39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30" name="Straight Connector 29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36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954377" y="1910191"/>
            <a:ext cx="2684618" cy="1809709"/>
            <a:chOff x="717594" y="2219849"/>
            <a:chExt cx="4060374" cy="2447886"/>
          </a:xfrm>
        </p:grpSpPr>
        <p:sp>
          <p:nvSpPr>
            <p:cNvPr id="43" name="Freeform 42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54" name="Oval 53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Oval 56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0" name="TextBox 49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46" name="Straight Connector 45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endCxn id="52" idx="3"/>
            </p:cNvCxnSpPr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/>
          <p:cNvGrpSpPr/>
          <p:nvPr/>
        </p:nvGrpSpPr>
        <p:grpSpPr>
          <a:xfrm>
            <a:off x="2085944" y="4258468"/>
            <a:ext cx="2684618" cy="1809709"/>
            <a:chOff x="717594" y="2219849"/>
            <a:chExt cx="4060374" cy="2447886"/>
          </a:xfrm>
        </p:grpSpPr>
        <p:sp>
          <p:nvSpPr>
            <p:cNvPr id="60" name="Freeform 59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66" name="Group 65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71" name="Oval 70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7" name="TextBox 66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63" name="Straight Connector 62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5277977" y="4277369"/>
            <a:ext cx="2684618" cy="1809709"/>
            <a:chOff x="717594" y="2219849"/>
            <a:chExt cx="4060374" cy="2447886"/>
          </a:xfrm>
        </p:grpSpPr>
        <p:sp>
          <p:nvSpPr>
            <p:cNvPr id="76" name="Freeform 75"/>
            <p:cNvSpPr/>
            <p:nvPr/>
          </p:nvSpPr>
          <p:spPr>
            <a:xfrm>
              <a:off x="1443310" y="4209143"/>
              <a:ext cx="2714172" cy="458592"/>
            </a:xfrm>
            <a:custGeom>
              <a:avLst/>
              <a:gdLst>
                <a:gd name="connsiteX0" fmla="*/ 0 w 2714172"/>
                <a:gd name="connsiteY0" fmla="*/ 0 h 537062"/>
                <a:gd name="connsiteX1" fmla="*/ 1291772 w 2714172"/>
                <a:gd name="connsiteY1" fmla="*/ 537028 h 537062"/>
                <a:gd name="connsiteX2" fmla="*/ 2714172 w 2714172"/>
                <a:gd name="connsiteY2" fmla="*/ 29028 h 537062"/>
                <a:gd name="connsiteX0" fmla="*/ 0 w 2714172"/>
                <a:gd name="connsiteY0" fmla="*/ 0 h 551575"/>
                <a:gd name="connsiteX1" fmla="*/ 1494972 w 2714172"/>
                <a:gd name="connsiteY1" fmla="*/ 551542 h 551575"/>
                <a:gd name="connsiteX2" fmla="*/ 2714172 w 2714172"/>
                <a:gd name="connsiteY2" fmla="*/ 29028 h 551575"/>
                <a:gd name="connsiteX0" fmla="*/ 0 w 2714172"/>
                <a:gd name="connsiteY0" fmla="*/ 0 h 458592"/>
                <a:gd name="connsiteX1" fmla="*/ 1339989 w 2714172"/>
                <a:gd name="connsiteY1" fmla="*/ 458552 h 458592"/>
                <a:gd name="connsiteX2" fmla="*/ 2714172 w 2714172"/>
                <a:gd name="connsiteY2" fmla="*/ 29028 h 45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172" h="458592">
                  <a:moveTo>
                    <a:pt x="0" y="0"/>
                  </a:moveTo>
                  <a:cubicBezTo>
                    <a:pt x="419705" y="266095"/>
                    <a:pt x="887627" y="453714"/>
                    <a:pt x="1339989" y="458552"/>
                  </a:cubicBezTo>
                  <a:cubicBezTo>
                    <a:pt x="1792351" y="463390"/>
                    <a:pt x="2714172" y="29028"/>
                    <a:pt x="2714172" y="2902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457825" y="3904233"/>
              <a:ext cx="2670628" cy="333938"/>
            </a:xfrm>
            <a:custGeom>
              <a:avLst/>
              <a:gdLst>
                <a:gd name="connsiteX0" fmla="*/ 0 w 2670628"/>
                <a:gd name="connsiteY0" fmla="*/ 304910 h 333938"/>
                <a:gd name="connsiteX1" fmla="*/ 1364343 w 2670628"/>
                <a:gd name="connsiteY1" fmla="*/ 110 h 333938"/>
                <a:gd name="connsiteX2" fmla="*/ 2670628 w 2670628"/>
                <a:gd name="connsiteY2" fmla="*/ 333938 h 3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0628" h="333938">
                  <a:moveTo>
                    <a:pt x="0" y="304910"/>
                  </a:moveTo>
                  <a:cubicBezTo>
                    <a:pt x="459619" y="150091"/>
                    <a:pt x="919238" y="-4728"/>
                    <a:pt x="1364343" y="110"/>
                  </a:cubicBezTo>
                  <a:cubicBezTo>
                    <a:pt x="1809448" y="4948"/>
                    <a:pt x="2670628" y="333938"/>
                    <a:pt x="2670628" y="3339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717594" y="2219849"/>
              <a:ext cx="4060374" cy="2266458"/>
              <a:chOff x="1538513" y="2016649"/>
              <a:chExt cx="4060374" cy="2266458"/>
            </a:xfrm>
          </p:grpSpPr>
          <p:grpSp>
            <p:nvGrpSpPr>
              <p:cNvPr id="82" name="Group 81"/>
              <p:cNvGrpSpPr/>
              <p:nvPr/>
            </p:nvGrpSpPr>
            <p:grpSpPr>
              <a:xfrm>
                <a:off x="2108199" y="2159000"/>
                <a:ext cx="3011716" cy="2010226"/>
                <a:chOff x="2108199" y="2159000"/>
                <a:chExt cx="3011716" cy="2010226"/>
              </a:xfrm>
            </p:grpSpPr>
            <p:sp>
              <p:nvSpPr>
                <p:cNvPr id="87" name="Oval 86"/>
                <p:cNvSpPr/>
                <p:nvPr/>
              </p:nvSpPr>
              <p:spPr>
                <a:xfrm>
                  <a:off x="2108199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>
                  <a:off x="4815115" y="2159000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/>
                <p:cNvSpPr/>
                <p:nvPr/>
              </p:nvSpPr>
              <p:spPr>
                <a:xfrm>
                  <a:off x="2108199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4815115" y="3849912"/>
                  <a:ext cx="304800" cy="31931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3" name="TextBox 82"/>
              <p:cNvSpPr txBox="1"/>
              <p:nvPr/>
            </p:nvSpPr>
            <p:spPr>
              <a:xfrm>
                <a:off x="5119915" y="2016649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B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1567541" y="3778736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D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1538513" y="2042215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119915" y="3821442"/>
                <a:ext cx="478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C</a:t>
                </a:r>
              </a:p>
            </p:txBody>
          </p:sp>
        </p:grpSp>
        <p:cxnSp>
          <p:nvCxnSpPr>
            <p:cNvPr id="79" name="Straight Connector 78"/>
            <p:cNvCxnSpPr/>
            <p:nvPr/>
          </p:nvCxnSpPr>
          <p:spPr>
            <a:xfrm flipH="1">
              <a:off x="1439680" y="2521857"/>
              <a:ext cx="270691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4146596" y="2521857"/>
              <a:ext cx="0" cy="173361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H="1">
              <a:off x="1331917" y="2521857"/>
              <a:ext cx="2814679" cy="18038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Freeform 91"/>
          <p:cNvSpPr/>
          <p:nvPr/>
        </p:nvSpPr>
        <p:spPr>
          <a:xfrm>
            <a:off x="4897464" y="3114972"/>
            <a:ext cx="542441" cy="62181"/>
          </a:xfrm>
          <a:custGeom>
            <a:avLst/>
            <a:gdLst>
              <a:gd name="connsiteX0" fmla="*/ 0 w 542441"/>
              <a:gd name="connsiteY0" fmla="*/ 46682 h 62181"/>
              <a:gd name="connsiteX1" fmla="*/ 263471 w 542441"/>
              <a:gd name="connsiteY1" fmla="*/ 187 h 62181"/>
              <a:gd name="connsiteX2" fmla="*/ 542441 w 542441"/>
              <a:gd name="connsiteY2" fmla="*/ 62181 h 6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441" h="62181">
                <a:moveTo>
                  <a:pt x="0" y="46682"/>
                </a:moveTo>
                <a:cubicBezTo>
                  <a:pt x="86532" y="22143"/>
                  <a:pt x="173064" y="-2396"/>
                  <a:pt x="263471" y="187"/>
                </a:cubicBezTo>
                <a:cubicBezTo>
                  <a:pt x="353878" y="2770"/>
                  <a:pt x="542441" y="62181"/>
                  <a:pt x="542441" y="62181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2"/>
          <p:cNvSpPr/>
          <p:nvPr/>
        </p:nvSpPr>
        <p:spPr>
          <a:xfrm>
            <a:off x="7946720" y="3664027"/>
            <a:ext cx="654839" cy="70783"/>
          </a:xfrm>
          <a:custGeom>
            <a:avLst/>
            <a:gdLst>
              <a:gd name="connsiteX0" fmla="*/ 0 w 588935"/>
              <a:gd name="connsiteY0" fmla="*/ 15498 h 93108"/>
              <a:gd name="connsiteX1" fmla="*/ 247973 w 588935"/>
              <a:gd name="connsiteY1" fmla="*/ 92990 h 93108"/>
              <a:gd name="connsiteX2" fmla="*/ 588935 w 588935"/>
              <a:gd name="connsiteY2" fmla="*/ 0 h 93108"/>
              <a:gd name="connsiteX0" fmla="*/ 0 w 603567"/>
              <a:gd name="connsiteY0" fmla="*/ 0 h 133611"/>
              <a:gd name="connsiteX1" fmla="*/ 262605 w 603567"/>
              <a:gd name="connsiteY1" fmla="*/ 133287 h 133611"/>
              <a:gd name="connsiteX2" fmla="*/ 603567 w 603567"/>
              <a:gd name="connsiteY2" fmla="*/ 40297 h 133611"/>
              <a:gd name="connsiteX0" fmla="*/ 0 w 603567"/>
              <a:gd name="connsiteY0" fmla="*/ 0 h 108353"/>
              <a:gd name="connsiteX1" fmla="*/ 300648 w 603567"/>
              <a:gd name="connsiteY1" fmla="*/ 107925 h 108353"/>
              <a:gd name="connsiteX2" fmla="*/ 603567 w 603567"/>
              <a:gd name="connsiteY2" fmla="*/ 40297 h 108353"/>
              <a:gd name="connsiteX0" fmla="*/ 0 w 603567"/>
              <a:gd name="connsiteY0" fmla="*/ 0 h 113531"/>
              <a:gd name="connsiteX1" fmla="*/ 300648 w 603567"/>
              <a:gd name="connsiteY1" fmla="*/ 112997 h 113531"/>
              <a:gd name="connsiteX2" fmla="*/ 603567 w 603567"/>
              <a:gd name="connsiteY2" fmla="*/ 45369 h 113531"/>
              <a:gd name="connsiteX0" fmla="*/ 0 w 603567"/>
              <a:gd name="connsiteY0" fmla="*/ 0 h 113080"/>
              <a:gd name="connsiteX1" fmla="*/ 300648 w 603567"/>
              <a:gd name="connsiteY1" fmla="*/ 112997 h 113080"/>
              <a:gd name="connsiteX2" fmla="*/ 603567 w 603567"/>
              <a:gd name="connsiteY2" fmla="*/ 20008 h 11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67" h="113080">
                <a:moveTo>
                  <a:pt x="0" y="0"/>
                </a:moveTo>
                <a:cubicBezTo>
                  <a:pt x="74908" y="40037"/>
                  <a:pt x="200054" y="109662"/>
                  <a:pt x="300648" y="112997"/>
                </a:cubicBezTo>
                <a:cubicBezTo>
                  <a:pt x="401242" y="116332"/>
                  <a:pt x="603567" y="20008"/>
                  <a:pt x="603567" y="20008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93"/>
          <p:cNvSpPr/>
          <p:nvPr/>
        </p:nvSpPr>
        <p:spPr>
          <a:xfrm>
            <a:off x="3219903" y="5487008"/>
            <a:ext cx="542441" cy="62181"/>
          </a:xfrm>
          <a:custGeom>
            <a:avLst/>
            <a:gdLst>
              <a:gd name="connsiteX0" fmla="*/ 0 w 542441"/>
              <a:gd name="connsiteY0" fmla="*/ 46682 h 62181"/>
              <a:gd name="connsiteX1" fmla="*/ 263471 w 542441"/>
              <a:gd name="connsiteY1" fmla="*/ 187 h 62181"/>
              <a:gd name="connsiteX2" fmla="*/ 542441 w 542441"/>
              <a:gd name="connsiteY2" fmla="*/ 62181 h 6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441" h="62181">
                <a:moveTo>
                  <a:pt x="0" y="46682"/>
                </a:moveTo>
                <a:cubicBezTo>
                  <a:pt x="86532" y="22143"/>
                  <a:pt x="173064" y="-2396"/>
                  <a:pt x="263471" y="187"/>
                </a:cubicBezTo>
                <a:cubicBezTo>
                  <a:pt x="353878" y="2770"/>
                  <a:pt x="542441" y="62181"/>
                  <a:pt x="542441" y="62181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94"/>
          <p:cNvSpPr/>
          <p:nvPr/>
        </p:nvSpPr>
        <p:spPr>
          <a:xfrm>
            <a:off x="6380138" y="5496547"/>
            <a:ext cx="542441" cy="62181"/>
          </a:xfrm>
          <a:custGeom>
            <a:avLst/>
            <a:gdLst>
              <a:gd name="connsiteX0" fmla="*/ 0 w 542441"/>
              <a:gd name="connsiteY0" fmla="*/ 46682 h 62181"/>
              <a:gd name="connsiteX1" fmla="*/ 263471 w 542441"/>
              <a:gd name="connsiteY1" fmla="*/ 187 h 62181"/>
              <a:gd name="connsiteX2" fmla="*/ 542441 w 542441"/>
              <a:gd name="connsiteY2" fmla="*/ 62181 h 6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441" h="62181">
                <a:moveTo>
                  <a:pt x="0" y="46682"/>
                </a:moveTo>
                <a:cubicBezTo>
                  <a:pt x="86532" y="22143"/>
                  <a:pt x="173064" y="-2396"/>
                  <a:pt x="263471" y="187"/>
                </a:cubicBezTo>
                <a:cubicBezTo>
                  <a:pt x="353878" y="2770"/>
                  <a:pt x="542441" y="62181"/>
                  <a:pt x="542441" y="62181"/>
                </a:cubicBezTo>
              </a:path>
            </a:pathLst>
          </a:custGeom>
          <a:noFill/>
          <a:ln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 95"/>
          <p:cNvSpPr/>
          <p:nvPr/>
        </p:nvSpPr>
        <p:spPr>
          <a:xfrm>
            <a:off x="3077667" y="6001688"/>
            <a:ext cx="654839" cy="70783"/>
          </a:xfrm>
          <a:custGeom>
            <a:avLst/>
            <a:gdLst>
              <a:gd name="connsiteX0" fmla="*/ 0 w 588935"/>
              <a:gd name="connsiteY0" fmla="*/ 15498 h 93108"/>
              <a:gd name="connsiteX1" fmla="*/ 247973 w 588935"/>
              <a:gd name="connsiteY1" fmla="*/ 92990 h 93108"/>
              <a:gd name="connsiteX2" fmla="*/ 588935 w 588935"/>
              <a:gd name="connsiteY2" fmla="*/ 0 h 93108"/>
              <a:gd name="connsiteX0" fmla="*/ 0 w 603567"/>
              <a:gd name="connsiteY0" fmla="*/ 0 h 133611"/>
              <a:gd name="connsiteX1" fmla="*/ 262605 w 603567"/>
              <a:gd name="connsiteY1" fmla="*/ 133287 h 133611"/>
              <a:gd name="connsiteX2" fmla="*/ 603567 w 603567"/>
              <a:gd name="connsiteY2" fmla="*/ 40297 h 133611"/>
              <a:gd name="connsiteX0" fmla="*/ 0 w 603567"/>
              <a:gd name="connsiteY0" fmla="*/ 0 h 108353"/>
              <a:gd name="connsiteX1" fmla="*/ 300648 w 603567"/>
              <a:gd name="connsiteY1" fmla="*/ 107925 h 108353"/>
              <a:gd name="connsiteX2" fmla="*/ 603567 w 603567"/>
              <a:gd name="connsiteY2" fmla="*/ 40297 h 108353"/>
              <a:gd name="connsiteX0" fmla="*/ 0 w 603567"/>
              <a:gd name="connsiteY0" fmla="*/ 0 h 113531"/>
              <a:gd name="connsiteX1" fmla="*/ 300648 w 603567"/>
              <a:gd name="connsiteY1" fmla="*/ 112997 h 113531"/>
              <a:gd name="connsiteX2" fmla="*/ 603567 w 603567"/>
              <a:gd name="connsiteY2" fmla="*/ 45369 h 113531"/>
              <a:gd name="connsiteX0" fmla="*/ 0 w 603567"/>
              <a:gd name="connsiteY0" fmla="*/ 0 h 113080"/>
              <a:gd name="connsiteX1" fmla="*/ 300648 w 603567"/>
              <a:gd name="connsiteY1" fmla="*/ 112997 h 113080"/>
              <a:gd name="connsiteX2" fmla="*/ 603567 w 603567"/>
              <a:gd name="connsiteY2" fmla="*/ 20008 h 11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67" h="113080">
                <a:moveTo>
                  <a:pt x="0" y="0"/>
                </a:moveTo>
                <a:cubicBezTo>
                  <a:pt x="74908" y="40037"/>
                  <a:pt x="200054" y="109662"/>
                  <a:pt x="300648" y="112997"/>
                </a:cubicBezTo>
                <a:cubicBezTo>
                  <a:pt x="401242" y="116332"/>
                  <a:pt x="603567" y="20008"/>
                  <a:pt x="603567" y="20008"/>
                </a:cubicBezTo>
              </a:path>
            </a:pathLst>
          </a:custGeom>
          <a:noFill/>
          <a:ln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reeform 96"/>
          <p:cNvSpPr/>
          <p:nvPr/>
        </p:nvSpPr>
        <p:spPr>
          <a:xfrm>
            <a:off x="6301316" y="6017188"/>
            <a:ext cx="654839" cy="70783"/>
          </a:xfrm>
          <a:custGeom>
            <a:avLst/>
            <a:gdLst>
              <a:gd name="connsiteX0" fmla="*/ 0 w 588935"/>
              <a:gd name="connsiteY0" fmla="*/ 15498 h 93108"/>
              <a:gd name="connsiteX1" fmla="*/ 247973 w 588935"/>
              <a:gd name="connsiteY1" fmla="*/ 92990 h 93108"/>
              <a:gd name="connsiteX2" fmla="*/ 588935 w 588935"/>
              <a:gd name="connsiteY2" fmla="*/ 0 h 93108"/>
              <a:gd name="connsiteX0" fmla="*/ 0 w 603567"/>
              <a:gd name="connsiteY0" fmla="*/ 0 h 133611"/>
              <a:gd name="connsiteX1" fmla="*/ 262605 w 603567"/>
              <a:gd name="connsiteY1" fmla="*/ 133287 h 133611"/>
              <a:gd name="connsiteX2" fmla="*/ 603567 w 603567"/>
              <a:gd name="connsiteY2" fmla="*/ 40297 h 133611"/>
              <a:gd name="connsiteX0" fmla="*/ 0 w 603567"/>
              <a:gd name="connsiteY0" fmla="*/ 0 h 108353"/>
              <a:gd name="connsiteX1" fmla="*/ 300648 w 603567"/>
              <a:gd name="connsiteY1" fmla="*/ 107925 h 108353"/>
              <a:gd name="connsiteX2" fmla="*/ 603567 w 603567"/>
              <a:gd name="connsiteY2" fmla="*/ 40297 h 108353"/>
              <a:gd name="connsiteX0" fmla="*/ 0 w 603567"/>
              <a:gd name="connsiteY0" fmla="*/ 0 h 113531"/>
              <a:gd name="connsiteX1" fmla="*/ 300648 w 603567"/>
              <a:gd name="connsiteY1" fmla="*/ 112997 h 113531"/>
              <a:gd name="connsiteX2" fmla="*/ 603567 w 603567"/>
              <a:gd name="connsiteY2" fmla="*/ 45369 h 113531"/>
              <a:gd name="connsiteX0" fmla="*/ 0 w 603567"/>
              <a:gd name="connsiteY0" fmla="*/ 0 h 113080"/>
              <a:gd name="connsiteX1" fmla="*/ 300648 w 603567"/>
              <a:gd name="connsiteY1" fmla="*/ 112997 h 113080"/>
              <a:gd name="connsiteX2" fmla="*/ 603567 w 603567"/>
              <a:gd name="connsiteY2" fmla="*/ 20008 h 11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67" h="113080">
                <a:moveTo>
                  <a:pt x="0" y="0"/>
                </a:moveTo>
                <a:cubicBezTo>
                  <a:pt x="74908" y="40037"/>
                  <a:pt x="200054" y="109662"/>
                  <a:pt x="300648" y="112997"/>
                </a:cubicBezTo>
                <a:cubicBezTo>
                  <a:pt x="401242" y="116332"/>
                  <a:pt x="603567" y="20008"/>
                  <a:pt x="603567" y="20008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1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93" y="1658319"/>
            <a:ext cx="6502927" cy="3380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69762" y="836908"/>
            <a:ext cx="5873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Two stage </a:t>
            </a:r>
            <a:r>
              <a:rPr lang="en-US" sz="2400" b="1"/>
              <a:t>route matrix</a:t>
            </a:r>
          </a:p>
        </p:txBody>
      </p:sp>
    </p:spTree>
    <p:extLst>
      <p:ext uri="{BB962C8B-B14F-4D97-AF65-F5344CB8AC3E}">
        <p14:creationId xmlns:p14="http://schemas.microsoft.com/office/powerpoint/2010/main" val="1661691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" b="1"/>
          <a:stretch/>
        </p:blipFill>
        <p:spPr>
          <a:xfrm>
            <a:off x="-19371" y="1784973"/>
            <a:ext cx="4343400" cy="13533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" r="50000" b="1"/>
          <a:stretch/>
        </p:blipFill>
        <p:spPr>
          <a:xfrm>
            <a:off x="4632058" y="1784972"/>
            <a:ext cx="2171700" cy="1353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3494" y="771343"/>
            <a:ext cx="875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 your calculator to multiply the one stage </a:t>
            </a:r>
            <a:r>
              <a:rPr lang="en-US" sz="2400" b="1"/>
              <a:t>route matrix by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4029" y="2154267"/>
            <a:ext cx="356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244" y="2184515"/>
            <a:ext cx="356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=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61" t="31499" r="8103" b="7396"/>
          <a:stretch/>
        </p:blipFill>
        <p:spPr>
          <a:xfrm>
            <a:off x="7309593" y="1800470"/>
            <a:ext cx="2472421" cy="1297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5268" y="1673817"/>
            <a:ext cx="21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1180" y="25572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611824" y="3921071"/>
            <a:ext cx="6074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Conclusion?</a:t>
            </a:r>
          </a:p>
        </p:txBody>
      </p:sp>
    </p:spTree>
    <p:extLst>
      <p:ext uri="{BB962C8B-B14F-4D97-AF65-F5344CB8AC3E}">
        <p14:creationId xmlns:p14="http://schemas.microsoft.com/office/powerpoint/2010/main" val="108528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08" y="1673818"/>
            <a:ext cx="9143270" cy="319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53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39" y="449451"/>
            <a:ext cx="7744314" cy="265648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596323" y="3105931"/>
            <a:ext cx="2588217" cy="3970318"/>
            <a:chOff x="1038385" y="3105931"/>
            <a:chExt cx="2588217" cy="3970318"/>
          </a:xfrm>
        </p:grpSpPr>
        <p:sp>
          <p:nvSpPr>
            <p:cNvPr id="5" name="TextBox 4"/>
            <p:cNvSpPr txBox="1"/>
            <p:nvPr/>
          </p:nvSpPr>
          <p:spPr>
            <a:xfrm>
              <a:off x="1038385" y="3105931"/>
              <a:ext cx="2588217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Direct Route Matrix</a:t>
              </a:r>
            </a:p>
            <a:p>
              <a:pPr algn="ctr"/>
              <a:endParaRPr lang="en-US" sz="2800" dirty="0"/>
            </a:p>
            <a:p>
              <a:pPr algn="ctr"/>
              <a:endParaRPr lang="en-US" sz="2800" dirty="0"/>
            </a:p>
            <a:p>
              <a:pPr algn="ctr"/>
              <a:r>
                <a:rPr lang="en-US" sz="2800" dirty="0"/>
                <a:t>0  1  1  0</a:t>
              </a:r>
            </a:p>
            <a:p>
              <a:pPr algn="ctr"/>
              <a:r>
                <a:rPr lang="en-US" sz="2800" dirty="0"/>
                <a:t>1  0  1  1</a:t>
              </a:r>
            </a:p>
            <a:p>
              <a:pPr algn="ctr"/>
              <a:r>
                <a:rPr lang="en-US" sz="2800" dirty="0"/>
                <a:t>1  1  0  1</a:t>
              </a:r>
            </a:p>
            <a:p>
              <a:pPr algn="ctr"/>
              <a:r>
                <a:rPr lang="en-US" sz="2800" dirty="0"/>
                <a:t>0  1  1  1</a:t>
              </a:r>
            </a:p>
            <a:p>
              <a:pPr marL="342900" indent="-342900" algn="ctr">
                <a:buAutoNum type="arabicPlain"/>
              </a:pPr>
              <a:endParaRPr lang="en-US" sz="2800" dirty="0"/>
            </a:p>
          </p:txBody>
        </p:sp>
        <p:sp>
          <p:nvSpPr>
            <p:cNvPr id="6" name="Left Bracket 5"/>
            <p:cNvSpPr/>
            <p:nvPr/>
          </p:nvSpPr>
          <p:spPr>
            <a:xfrm>
              <a:off x="1565325" y="4876135"/>
              <a:ext cx="139485" cy="1797803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ket 6"/>
            <p:cNvSpPr/>
            <p:nvPr/>
          </p:nvSpPr>
          <p:spPr>
            <a:xfrm rot="10800000">
              <a:off x="2987676" y="4876135"/>
              <a:ext cx="139485" cy="1797803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835104" y="3072352"/>
            <a:ext cx="2588217" cy="3970318"/>
            <a:chOff x="1038385" y="3105931"/>
            <a:chExt cx="2588217" cy="3970318"/>
          </a:xfrm>
        </p:grpSpPr>
        <p:sp>
          <p:nvSpPr>
            <p:cNvPr id="10" name="TextBox 9"/>
            <p:cNvSpPr txBox="1"/>
            <p:nvPr/>
          </p:nvSpPr>
          <p:spPr>
            <a:xfrm>
              <a:off x="1038385" y="3105931"/>
              <a:ext cx="2588217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Two Stage Route Matrix</a:t>
              </a:r>
            </a:p>
            <a:p>
              <a:pPr algn="ctr"/>
              <a:endParaRPr lang="en-US" sz="2800" dirty="0"/>
            </a:p>
            <a:p>
              <a:pPr algn="ctr"/>
              <a:endParaRPr lang="en-US" sz="2800" dirty="0"/>
            </a:p>
            <a:p>
              <a:pPr algn="ctr"/>
              <a:r>
                <a:rPr lang="en-US" sz="2800" dirty="0"/>
                <a:t>2  1  1  2</a:t>
              </a:r>
            </a:p>
            <a:p>
              <a:pPr algn="ctr"/>
              <a:r>
                <a:rPr lang="en-US" sz="2800" dirty="0"/>
                <a:t>1  3  2  2</a:t>
              </a:r>
            </a:p>
            <a:p>
              <a:pPr algn="ctr"/>
              <a:r>
                <a:rPr lang="en-US" sz="2800" dirty="0"/>
                <a:t>1  2  3  2</a:t>
              </a:r>
            </a:p>
            <a:p>
              <a:pPr algn="ctr"/>
              <a:r>
                <a:rPr lang="en-US" sz="2800" dirty="0"/>
                <a:t>2  2  2  3</a:t>
              </a:r>
            </a:p>
            <a:p>
              <a:pPr marL="342900" indent="-342900" algn="ctr">
                <a:buAutoNum type="arabicPlain"/>
              </a:pPr>
              <a:endParaRPr lang="en-US" sz="2800" dirty="0"/>
            </a:p>
          </p:txBody>
        </p:sp>
        <p:sp>
          <p:nvSpPr>
            <p:cNvPr id="11" name="Left Bracket 10"/>
            <p:cNvSpPr/>
            <p:nvPr/>
          </p:nvSpPr>
          <p:spPr>
            <a:xfrm>
              <a:off x="1543810" y="4847558"/>
              <a:ext cx="139485" cy="1797803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Left Bracket 11"/>
            <p:cNvSpPr/>
            <p:nvPr/>
          </p:nvSpPr>
          <p:spPr>
            <a:xfrm rot="10800000">
              <a:off x="2901614" y="4817571"/>
              <a:ext cx="139485" cy="1797803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2E6130-B73F-E740-B7C4-3CDF4BEF129D}"/>
              </a:ext>
            </a:extLst>
          </p:cNvPr>
          <p:cNvSpPr txBox="1"/>
          <p:nvPr/>
        </p:nvSpPr>
        <p:spPr>
          <a:xfrm>
            <a:off x="1932165" y="4121593"/>
            <a:ext cx="1893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</a:t>
            </a:r>
          </a:p>
          <a:p>
            <a:r>
              <a:rPr lang="en-US" dirty="0"/>
              <a:t>     A     B   C    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6662E7-B6E4-E74F-8D53-80034FE79B9F}"/>
              </a:ext>
            </a:extLst>
          </p:cNvPr>
          <p:cNvSpPr txBox="1"/>
          <p:nvPr/>
        </p:nvSpPr>
        <p:spPr>
          <a:xfrm>
            <a:off x="683061" y="5416248"/>
            <a:ext cx="1149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1E632E-FD4B-FD41-9FC4-D8F300DC22FC}"/>
              </a:ext>
            </a:extLst>
          </p:cNvPr>
          <p:cNvSpPr/>
          <p:nvPr/>
        </p:nvSpPr>
        <p:spPr>
          <a:xfrm>
            <a:off x="1706231" y="6242450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38066-3001-B043-B240-75118AA16DA1}"/>
              </a:ext>
            </a:extLst>
          </p:cNvPr>
          <p:cNvSpPr/>
          <p:nvPr/>
        </p:nvSpPr>
        <p:spPr>
          <a:xfrm>
            <a:off x="1696126" y="4923966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97B7E2-46AE-2E47-AAA8-7B3FBE0126BE}"/>
              </a:ext>
            </a:extLst>
          </p:cNvPr>
          <p:cNvSpPr/>
          <p:nvPr/>
        </p:nvSpPr>
        <p:spPr>
          <a:xfrm>
            <a:off x="1691915" y="5405704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39AA62-C5E3-D646-80FE-278AB0299679}"/>
              </a:ext>
            </a:extLst>
          </p:cNvPr>
          <p:cNvSpPr/>
          <p:nvPr/>
        </p:nvSpPr>
        <p:spPr>
          <a:xfrm>
            <a:off x="1691915" y="5785580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6E1C76-4839-D440-A6D0-B5E7B989BC97}"/>
              </a:ext>
            </a:extLst>
          </p:cNvPr>
          <p:cNvSpPr txBox="1"/>
          <p:nvPr/>
        </p:nvSpPr>
        <p:spPr>
          <a:xfrm>
            <a:off x="6182539" y="4075025"/>
            <a:ext cx="1893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</a:t>
            </a:r>
          </a:p>
          <a:p>
            <a:r>
              <a:rPr lang="en-US" dirty="0"/>
              <a:t>     A     B   C    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3706B5-7CCD-E842-BF7F-74237EBEDC63}"/>
              </a:ext>
            </a:extLst>
          </p:cNvPr>
          <p:cNvSpPr txBox="1"/>
          <p:nvPr/>
        </p:nvSpPr>
        <p:spPr>
          <a:xfrm>
            <a:off x="4912605" y="5331979"/>
            <a:ext cx="1149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9C794C-96BB-E84F-B3E6-35D7F78F0775}"/>
              </a:ext>
            </a:extLst>
          </p:cNvPr>
          <p:cNvSpPr/>
          <p:nvPr/>
        </p:nvSpPr>
        <p:spPr>
          <a:xfrm>
            <a:off x="5935775" y="6158181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83420C-F4A0-B144-906A-A10CA3238AEF}"/>
              </a:ext>
            </a:extLst>
          </p:cNvPr>
          <p:cNvSpPr/>
          <p:nvPr/>
        </p:nvSpPr>
        <p:spPr>
          <a:xfrm>
            <a:off x="5925670" y="4839697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1A96AE-74B5-0B4C-9A30-D61816B14C51}"/>
              </a:ext>
            </a:extLst>
          </p:cNvPr>
          <p:cNvSpPr/>
          <p:nvPr/>
        </p:nvSpPr>
        <p:spPr>
          <a:xfrm>
            <a:off x="5921459" y="5321435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7903AD-1B88-EE47-8DF7-8A6C76953933}"/>
              </a:ext>
            </a:extLst>
          </p:cNvPr>
          <p:cNvSpPr/>
          <p:nvPr/>
        </p:nvSpPr>
        <p:spPr>
          <a:xfrm>
            <a:off x="5921459" y="5701311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FE1409-3F7F-2A44-9C40-2D45DA496BD8}"/>
              </a:ext>
            </a:extLst>
          </p:cNvPr>
          <p:cNvSpPr/>
          <p:nvPr/>
        </p:nvSpPr>
        <p:spPr>
          <a:xfrm>
            <a:off x="2000013" y="4721356"/>
            <a:ext cx="1825498" cy="20559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A7DF13-6716-9A48-A9DF-47CBB8A8BD33}"/>
              </a:ext>
            </a:extLst>
          </p:cNvPr>
          <p:cNvGrpSpPr/>
          <p:nvPr/>
        </p:nvGrpSpPr>
        <p:grpSpPr>
          <a:xfrm>
            <a:off x="884520" y="2938975"/>
            <a:ext cx="3301109" cy="3642821"/>
            <a:chOff x="5122211" y="2855561"/>
            <a:chExt cx="3301109" cy="36428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E0C503-4AAA-5B46-B358-4362FA77E583}"/>
                </a:ext>
              </a:extLst>
            </p:cNvPr>
            <p:cNvSpPr/>
            <p:nvPr/>
          </p:nvSpPr>
          <p:spPr>
            <a:xfrm>
              <a:off x="5858791" y="2855561"/>
              <a:ext cx="2564529" cy="18160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14ECF6-5E4C-7649-B0B5-F6587A830E69}"/>
                </a:ext>
              </a:extLst>
            </p:cNvPr>
            <p:cNvSpPr/>
            <p:nvPr/>
          </p:nvSpPr>
          <p:spPr>
            <a:xfrm>
              <a:off x="5122211" y="4682357"/>
              <a:ext cx="1128019" cy="18160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F49311A-26CB-5B43-8699-E9BB9968CFD4}"/>
              </a:ext>
            </a:extLst>
          </p:cNvPr>
          <p:cNvGrpSpPr/>
          <p:nvPr/>
        </p:nvGrpSpPr>
        <p:grpSpPr>
          <a:xfrm>
            <a:off x="5107039" y="2916270"/>
            <a:ext cx="3301109" cy="3642821"/>
            <a:chOff x="5122211" y="2855561"/>
            <a:chExt cx="3301109" cy="364282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0FDF437-9AC9-6B42-8013-5A3BE3DD6188}"/>
                </a:ext>
              </a:extLst>
            </p:cNvPr>
            <p:cNvSpPr/>
            <p:nvPr/>
          </p:nvSpPr>
          <p:spPr>
            <a:xfrm>
              <a:off x="5858791" y="2855561"/>
              <a:ext cx="2564529" cy="18160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AD8FE91-0E24-564F-BFC2-33BF1F9FB82A}"/>
                </a:ext>
              </a:extLst>
            </p:cNvPr>
            <p:cNvSpPr/>
            <p:nvPr/>
          </p:nvSpPr>
          <p:spPr>
            <a:xfrm>
              <a:off x="5122211" y="4682357"/>
              <a:ext cx="1128019" cy="18160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4545BF31-01C1-934C-81DE-EBF7B62DEB12}"/>
              </a:ext>
            </a:extLst>
          </p:cNvPr>
          <p:cNvSpPr/>
          <p:nvPr/>
        </p:nvSpPr>
        <p:spPr>
          <a:xfrm>
            <a:off x="6162717" y="4614815"/>
            <a:ext cx="1825498" cy="20559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Interaction?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" r="5276" b="3906"/>
          <a:stretch/>
        </p:blipFill>
        <p:spPr>
          <a:xfrm>
            <a:off x="309966" y="1690690"/>
            <a:ext cx="4060556" cy="3056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963" y="1998118"/>
            <a:ext cx="4479010" cy="258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28480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603</TotalTime>
  <Words>257</Words>
  <Application>Microsoft Macintosh PowerPoint</Application>
  <PresentationFormat>A4 Paper (210x297 mm)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A4 Presentation</vt:lpstr>
      <vt:lpstr>Matrices</vt:lpstr>
      <vt:lpstr>Route Matrices</vt:lpstr>
      <vt:lpstr>PowerPoint Presentation</vt:lpstr>
      <vt:lpstr>Writing the table in a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Social Interaction?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Matrices</dc:title>
  <dc:creator>Michael Loh</dc:creator>
  <cp:lastModifiedBy>LOH Michael [Shenton College]</cp:lastModifiedBy>
  <cp:revision>33</cp:revision>
  <dcterms:created xsi:type="dcterms:W3CDTF">2017-03-20T13:17:54Z</dcterms:created>
  <dcterms:modified xsi:type="dcterms:W3CDTF">2019-03-15T05:15:45Z</dcterms:modified>
</cp:coreProperties>
</file>
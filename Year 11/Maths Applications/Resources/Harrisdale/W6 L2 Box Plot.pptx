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16"/>
  </p:notesMasterIdLst>
  <p:sldIdLst>
    <p:sldId id="256" r:id="rId2"/>
    <p:sldId id="257" r:id="rId3"/>
    <p:sldId id="260" r:id="rId4"/>
    <p:sldId id="258" r:id="rId5"/>
    <p:sldId id="259" r:id="rId6"/>
    <p:sldId id="261" r:id="rId7"/>
    <p:sldId id="262" r:id="rId8"/>
    <p:sldId id="263" r:id="rId9"/>
    <p:sldId id="264" r:id="rId10"/>
    <p:sldId id="265" r:id="rId11"/>
    <p:sldId id="266" r:id="rId12"/>
    <p:sldId id="267" r:id="rId13"/>
    <p:sldId id="268" r:id="rId14"/>
    <p:sldId id="269" r:id="rId15"/>
  </p:sldIdLst>
  <p:sldSz cx="9906000" cy="6858000" type="A4"/>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8CC6D"/>
    <a:srgbClr val="F3303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418"/>
    <p:restoredTop sz="91928"/>
  </p:normalViewPr>
  <p:slideViewPr>
    <p:cSldViewPr snapToGrid="0" snapToObjects="1">
      <p:cViewPr varScale="1">
        <p:scale>
          <a:sx n="106" d="100"/>
          <a:sy n="106" d="100"/>
        </p:scale>
        <p:origin x="1280"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A3103D1-C9DD-BB41-81C6-5BBCA4F89524}" type="datetimeFigureOut">
              <a:rPr lang="en-US" smtClean="0"/>
              <a:t>8/25/19</a:t>
            </a:fld>
            <a:endParaRPr lang="en-US"/>
          </a:p>
        </p:txBody>
      </p:sp>
      <p:sp>
        <p:nvSpPr>
          <p:cNvPr id="4" name="Slide Image Placeholder 3"/>
          <p:cNvSpPr>
            <a:spLocks noGrp="1" noRot="1" noChangeAspect="1"/>
          </p:cNvSpPr>
          <p:nvPr>
            <p:ph type="sldImg" idx="2"/>
          </p:nvPr>
        </p:nvSpPr>
        <p:spPr>
          <a:xfrm>
            <a:off x="1200150" y="1143000"/>
            <a:ext cx="44577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E013EDC-AF55-B34E-946B-21866E704D5D}" type="slidenum">
              <a:rPr lang="en-US" smtClean="0"/>
              <a:t>‹#›</a:t>
            </a:fld>
            <a:endParaRPr lang="en-US"/>
          </a:p>
        </p:txBody>
      </p:sp>
    </p:spTree>
    <p:extLst>
      <p:ext uri="{BB962C8B-B14F-4D97-AF65-F5344CB8AC3E}">
        <p14:creationId xmlns:p14="http://schemas.microsoft.com/office/powerpoint/2010/main" val="10658328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http://</a:t>
            </a:r>
            <a:r>
              <a:rPr lang="en-US" dirty="0" err="1"/>
              <a:t>intermath.coe.uga.edu</a:t>
            </a:r>
            <a:r>
              <a:rPr lang="en-US" dirty="0"/>
              <a:t>/</a:t>
            </a:r>
            <a:r>
              <a:rPr lang="en-US" dirty="0" err="1"/>
              <a:t>dictnary</a:t>
            </a:r>
            <a:r>
              <a:rPr lang="en-US" dirty="0"/>
              <a:t>/</a:t>
            </a:r>
            <a:r>
              <a:rPr lang="en-US" dirty="0" err="1"/>
              <a:t>descript.asp?termID</a:t>
            </a:r>
            <a:r>
              <a:rPr lang="en-US" dirty="0"/>
              <a:t>=57</a:t>
            </a:r>
          </a:p>
          <a:p>
            <a:endParaRPr lang="en-US" dirty="0"/>
          </a:p>
        </p:txBody>
      </p:sp>
      <p:sp>
        <p:nvSpPr>
          <p:cNvPr id="4" name="Slide Number Placeholder 3"/>
          <p:cNvSpPr>
            <a:spLocks noGrp="1"/>
          </p:cNvSpPr>
          <p:nvPr>
            <p:ph type="sldNum" sz="quarter" idx="10"/>
          </p:nvPr>
        </p:nvSpPr>
        <p:spPr/>
        <p:txBody>
          <a:bodyPr/>
          <a:lstStyle/>
          <a:p>
            <a:fld id="{6E013EDC-AF55-B34E-946B-21866E704D5D}" type="slidenum">
              <a:rPr lang="en-US" smtClean="0"/>
              <a:t>4</a:t>
            </a:fld>
            <a:endParaRPr lang="en-US"/>
          </a:p>
        </p:txBody>
      </p:sp>
    </p:spTree>
    <p:extLst>
      <p:ext uri="{BB962C8B-B14F-4D97-AF65-F5344CB8AC3E}">
        <p14:creationId xmlns:p14="http://schemas.microsoft.com/office/powerpoint/2010/main" val="12907699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a:t>
            </a:r>
            <a:r>
              <a:rPr lang="en-US" dirty="0" err="1"/>
              <a:t>www.mathcaptain.com</a:t>
            </a:r>
            <a:r>
              <a:rPr lang="en-US" dirty="0"/>
              <a:t>/statistics/analyzing-</a:t>
            </a:r>
            <a:r>
              <a:rPr lang="en-US" dirty="0" err="1"/>
              <a:t>data.html</a:t>
            </a:r>
            <a:endParaRPr lang="en-US" dirty="0"/>
          </a:p>
        </p:txBody>
      </p:sp>
      <p:sp>
        <p:nvSpPr>
          <p:cNvPr id="4" name="Slide Number Placeholder 3"/>
          <p:cNvSpPr>
            <a:spLocks noGrp="1"/>
          </p:cNvSpPr>
          <p:nvPr>
            <p:ph type="sldNum" sz="quarter" idx="10"/>
          </p:nvPr>
        </p:nvSpPr>
        <p:spPr/>
        <p:txBody>
          <a:bodyPr/>
          <a:lstStyle/>
          <a:p>
            <a:fld id="{6E013EDC-AF55-B34E-946B-21866E704D5D}" type="slidenum">
              <a:rPr lang="en-US" smtClean="0"/>
              <a:t>5</a:t>
            </a:fld>
            <a:endParaRPr lang="en-US"/>
          </a:p>
        </p:txBody>
      </p:sp>
    </p:spTree>
    <p:extLst>
      <p:ext uri="{BB962C8B-B14F-4D97-AF65-F5344CB8AC3E}">
        <p14:creationId xmlns:p14="http://schemas.microsoft.com/office/powerpoint/2010/main" val="5354161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a:t>
            </a:r>
            <a:r>
              <a:rPr lang="en-US" dirty="0" err="1"/>
              <a:t>intermath.coe.uga.edu</a:t>
            </a:r>
            <a:r>
              <a:rPr lang="en-US" dirty="0"/>
              <a:t>/</a:t>
            </a:r>
            <a:r>
              <a:rPr lang="en-US" dirty="0" err="1"/>
              <a:t>dictnary</a:t>
            </a:r>
            <a:r>
              <a:rPr lang="en-US" dirty="0"/>
              <a:t>/html/</a:t>
            </a:r>
            <a:r>
              <a:rPr lang="en-US" dirty="0" err="1"/>
              <a:t>MakingPlots.html#box&amp;whisker</a:t>
            </a:r>
            <a:endParaRPr lang="en-US" dirty="0"/>
          </a:p>
        </p:txBody>
      </p:sp>
      <p:sp>
        <p:nvSpPr>
          <p:cNvPr id="4" name="Slide Number Placeholder 3"/>
          <p:cNvSpPr>
            <a:spLocks noGrp="1"/>
          </p:cNvSpPr>
          <p:nvPr>
            <p:ph type="sldNum" sz="quarter" idx="10"/>
          </p:nvPr>
        </p:nvSpPr>
        <p:spPr/>
        <p:txBody>
          <a:bodyPr/>
          <a:lstStyle/>
          <a:p>
            <a:fld id="{6E013EDC-AF55-B34E-946B-21866E704D5D}" type="slidenum">
              <a:rPr lang="en-US" smtClean="0"/>
              <a:t>7</a:t>
            </a:fld>
            <a:endParaRPr lang="en-US"/>
          </a:p>
        </p:txBody>
      </p:sp>
    </p:spTree>
    <p:extLst>
      <p:ext uri="{BB962C8B-B14F-4D97-AF65-F5344CB8AC3E}">
        <p14:creationId xmlns:p14="http://schemas.microsoft.com/office/powerpoint/2010/main" val="126853777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a:t>
            </a:r>
            <a:r>
              <a:rPr lang="en-US" dirty="0" err="1"/>
              <a:t>intermath.coe.uga.edu</a:t>
            </a:r>
            <a:r>
              <a:rPr lang="en-US" dirty="0"/>
              <a:t>/</a:t>
            </a:r>
            <a:r>
              <a:rPr lang="en-US" dirty="0" err="1"/>
              <a:t>dictnary</a:t>
            </a:r>
            <a:r>
              <a:rPr lang="en-US" dirty="0"/>
              <a:t>/html/</a:t>
            </a:r>
            <a:r>
              <a:rPr lang="en-US" dirty="0" err="1"/>
              <a:t>MakingPlots.html#box&amp;whisker</a:t>
            </a:r>
            <a:endParaRPr lang="en-US" dirty="0"/>
          </a:p>
        </p:txBody>
      </p:sp>
      <p:sp>
        <p:nvSpPr>
          <p:cNvPr id="4" name="Slide Number Placeholder 3"/>
          <p:cNvSpPr>
            <a:spLocks noGrp="1"/>
          </p:cNvSpPr>
          <p:nvPr>
            <p:ph type="sldNum" sz="quarter" idx="10"/>
          </p:nvPr>
        </p:nvSpPr>
        <p:spPr/>
        <p:txBody>
          <a:bodyPr/>
          <a:lstStyle/>
          <a:p>
            <a:fld id="{6E013EDC-AF55-B34E-946B-21866E704D5D}" type="slidenum">
              <a:rPr lang="en-US" smtClean="0"/>
              <a:t>8</a:t>
            </a:fld>
            <a:endParaRPr lang="en-US"/>
          </a:p>
        </p:txBody>
      </p:sp>
    </p:spTree>
    <p:extLst>
      <p:ext uri="{BB962C8B-B14F-4D97-AF65-F5344CB8AC3E}">
        <p14:creationId xmlns:p14="http://schemas.microsoft.com/office/powerpoint/2010/main" val="967202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a:t>
            </a:r>
            <a:r>
              <a:rPr lang="en-US" dirty="0" err="1"/>
              <a:t>intermath.coe.uga.edu</a:t>
            </a:r>
            <a:r>
              <a:rPr lang="en-US" dirty="0"/>
              <a:t>/</a:t>
            </a:r>
            <a:r>
              <a:rPr lang="en-US" dirty="0" err="1"/>
              <a:t>dictnary</a:t>
            </a:r>
            <a:r>
              <a:rPr lang="en-US" dirty="0"/>
              <a:t>/html/</a:t>
            </a:r>
            <a:r>
              <a:rPr lang="en-US" dirty="0" err="1"/>
              <a:t>MakingPlots.html#box&amp;whisker</a:t>
            </a:r>
            <a:endParaRPr lang="en-US" dirty="0"/>
          </a:p>
        </p:txBody>
      </p:sp>
      <p:sp>
        <p:nvSpPr>
          <p:cNvPr id="4" name="Slide Number Placeholder 3"/>
          <p:cNvSpPr>
            <a:spLocks noGrp="1"/>
          </p:cNvSpPr>
          <p:nvPr>
            <p:ph type="sldNum" sz="quarter" idx="10"/>
          </p:nvPr>
        </p:nvSpPr>
        <p:spPr/>
        <p:txBody>
          <a:bodyPr/>
          <a:lstStyle/>
          <a:p>
            <a:fld id="{6E013EDC-AF55-B34E-946B-21866E704D5D}" type="slidenum">
              <a:rPr lang="en-US" smtClean="0"/>
              <a:t>9</a:t>
            </a:fld>
            <a:endParaRPr lang="en-US"/>
          </a:p>
        </p:txBody>
      </p:sp>
    </p:spTree>
    <p:extLst>
      <p:ext uri="{BB962C8B-B14F-4D97-AF65-F5344CB8AC3E}">
        <p14:creationId xmlns:p14="http://schemas.microsoft.com/office/powerpoint/2010/main" val="207879788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a:t>
            </a:r>
            <a:r>
              <a:rPr lang="en-US" dirty="0" err="1"/>
              <a:t>intermath.coe.uga.edu</a:t>
            </a:r>
            <a:r>
              <a:rPr lang="en-US" dirty="0"/>
              <a:t>/</a:t>
            </a:r>
            <a:r>
              <a:rPr lang="en-US" dirty="0" err="1"/>
              <a:t>dictnary</a:t>
            </a:r>
            <a:r>
              <a:rPr lang="en-US" dirty="0"/>
              <a:t>/html/</a:t>
            </a:r>
            <a:r>
              <a:rPr lang="en-US" dirty="0" err="1"/>
              <a:t>MakingPlots.html#box&amp;whisker</a:t>
            </a:r>
            <a:endParaRPr lang="en-US" dirty="0"/>
          </a:p>
        </p:txBody>
      </p:sp>
      <p:sp>
        <p:nvSpPr>
          <p:cNvPr id="4" name="Slide Number Placeholder 3"/>
          <p:cNvSpPr>
            <a:spLocks noGrp="1"/>
          </p:cNvSpPr>
          <p:nvPr>
            <p:ph type="sldNum" sz="quarter" idx="10"/>
          </p:nvPr>
        </p:nvSpPr>
        <p:spPr/>
        <p:txBody>
          <a:bodyPr/>
          <a:lstStyle/>
          <a:p>
            <a:fld id="{6E013EDC-AF55-B34E-946B-21866E704D5D}" type="slidenum">
              <a:rPr lang="en-US" smtClean="0"/>
              <a:t>10</a:t>
            </a:fld>
            <a:endParaRPr lang="en-US"/>
          </a:p>
        </p:txBody>
      </p:sp>
    </p:spTree>
    <p:extLst>
      <p:ext uri="{BB962C8B-B14F-4D97-AF65-F5344CB8AC3E}">
        <p14:creationId xmlns:p14="http://schemas.microsoft.com/office/powerpoint/2010/main" val="9445497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a:t>
            </a:r>
            <a:r>
              <a:rPr lang="en-US" dirty="0" err="1"/>
              <a:t>www.leansigmacorporation.com</a:t>
            </a:r>
            <a:r>
              <a:rPr lang="en-US" dirty="0"/>
              <a:t>/box-plot-with-</a:t>
            </a:r>
            <a:r>
              <a:rPr lang="en-US" dirty="0" err="1"/>
              <a:t>minitab</a:t>
            </a:r>
            <a:r>
              <a:rPr lang="en-US" dirty="0"/>
              <a:t>/</a:t>
            </a:r>
          </a:p>
        </p:txBody>
      </p:sp>
      <p:sp>
        <p:nvSpPr>
          <p:cNvPr id="4" name="Slide Number Placeholder 3"/>
          <p:cNvSpPr>
            <a:spLocks noGrp="1"/>
          </p:cNvSpPr>
          <p:nvPr>
            <p:ph type="sldNum" sz="quarter" idx="10"/>
          </p:nvPr>
        </p:nvSpPr>
        <p:spPr/>
        <p:txBody>
          <a:bodyPr/>
          <a:lstStyle/>
          <a:p>
            <a:fld id="{6E013EDC-AF55-B34E-946B-21866E704D5D}" type="slidenum">
              <a:rPr lang="en-US" smtClean="0"/>
              <a:t>11</a:t>
            </a:fld>
            <a:endParaRPr lang="en-US"/>
          </a:p>
        </p:txBody>
      </p:sp>
    </p:spTree>
    <p:extLst>
      <p:ext uri="{BB962C8B-B14F-4D97-AF65-F5344CB8AC3E}">
        <p14:creationId xmlns:p14="http://schemas.microsoft.com/office/powerpoint/2010/main" val="17641298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a:t>
            </a:r>
            <a:r>
              <a:rPr lang="en-US" dirty="0" err="1"/>
              <a:t>www.varsitytutors.com</a:t>
            </a:r>
            <a:r>
              <a:rPr lang="en-US" dirty="0"/>
              <a:t>/</a:t>
            </a:r>
            <a:r>
              <a:rPr lang="en-US" dirty="0" err="1"/>
              <a:t>hotmath</a:t>
            </a:r>
            <a:r>
              <a:rPr lang="en-US" dirty="0"/>
              <a:t>/</a:t>
            </a:r>
            <a:r>
              <a:rPr lang="en-US" dirty="0" err="1"/>
              <a:t>hotmath_help</a:t>
            </a:r>
            <a:r>
              <a:rPr lang="en-US" dirty="0"/>
              <a:t>/topics/box-and-whisker-plots</a:t>
            </a:r>
          </a:p>
        </p:txBody>
      </p:sp>
      <p:sp>
        <p:nvSpPr>
          <p:cNvPr id="4" name="Slide Number Placeholder 3"/>
          <p:cNvSpPr>
            <a:spLocks noGrp="1"/>
          </p:cNvSpPr>
          <p:nvPr>
            <p:ph type="sldNum" sz="quarter" idx="10"/>
          </p:nvPr>
        </p:nvSpPr>
        <p:spPr/>
        <p:txBody>
          <a:bodyPr/>
          <a:lstStyle/>
          <a:p>
            <a:fld id="{6E013EDC-AF55-B34E-946B-21866E704D5D}" type="slidenum">
              <a:rPr lang="en-US" smtClean="0"/>
              <a:t>13</a:t>
            </a:fld>
            <a:endParaRPr lang="en-US"/>
          </a:p>
        </p:txBody>
      </p:sp>
    </p:spTree>
    <p:extLst>
      <p:ext uri="{BB962C8B-B14F-4D97-AF65-F5344CB8AC3E}">
        <p14:creationId xmlns:p14="http://schemas.microsoft.com/office/powerpoint/2010/main" val="203187971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42950" y="1122363"/>
            <a:ext cx="84201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238250" y="3602038"/>
            <a:ext cx="74295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F08D555-D2EB-A045-AEDE-72C9D0B9666E}" type="datetimeFigureOut">
              <a:rPr lang="en-US" smtClean="0"/>
              <a:t>8/25/19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7B348C-02C1-B54D-ACD1-55D3EC15EDC4}"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F08D555-D2EB-A045-AEDE-72C9D0B9666E}" type="datetimeFigureOut">
              <a:rPr lang="en-US" smtClean="0"/>
              <a:t>8/25/19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7B348C-02C1-B54D-ACD1-55D3EC15EDC4}"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5879" y="1709740"/>
            <a:ext cx="8543925"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75879" y="4589465"/>
            <a:ext cx="8543925"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F08D555-D2EB-A045-AEDE-72C9D0B9666E}" type="datetimeFigureOut">
              <a:rPr lang="en-US" smtClean="0"/>
              <a:t>8/25/19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7B348C-02C1-B54D-ACD1-55D3EC15EDC4}"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1038" y="1825625"/>
            <a:ext cx="42100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14913" y="1825625"/>
            <a:ext cx="42100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F08D555-D2EB-A045-AEDE-72C9D0B9666E}" type="datetimeFigureOut">
              <a:rPr lang="en-US" smtClean="0"/>
              <a:t>8/25/19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C7B348C-02C1-B54D-ACD1-55D3EC15EDC4}"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82328" y="365127"/>
            <a:ext cx="8543925"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82329" y="1681163"/>
            <a:ext cx="4190702"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2329" y="2505075"/>
            <a:ext cx="4190702"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14913" y="1681163"/>
            <a:ext cx="4211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14913" y="2505075"/>
            <a:ext cx="4211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F08D555-D2EB-A045-AEDE-72C9D0B9666E}" type="datetimeFigureOut">
              <a:rPr lang="en-US" smtClean="0"/>
              <a:t>8/25/19</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C7B348C-02C1-B54D-ACD1-55D3EC15EDC4}"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F08D555-D2EB-A045-AEDE-72C9D0B9666E}" type="datetimeFigureOut">
              <a:rPr lang="en-US" smtClean="0"/>
              <a:t>8/25/19</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C7B348C-02C1-B54D-ACD1-55D3EC15EDC4}"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F08D555-D2EB-A045-AEDE-72C9D0B9666E}" type="datetimeFigureOut">
              <a:rPr lang="en-US" smtClean="0"/>
              <a:t>8/25/19</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C7B348C-02C1-B54D-ACD1-55D3EC15EDC4}"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2328" y="457200"/>
            <a:ext cx="3194943"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4211340" y="987427"/>
            <a:ext cx="5014913"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2328" y="2057400"/>
            <a:ext cx="319494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F08D555-D2EB-A045-AEDE-72C9D0B9666E}" type="datetimeFigureOut">
              <a:rPr lang="en-US" smtClean="0"/>
              <a:t>8/25/19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C7B348C-02C1-B54D-ACD1-55D3EC15EDC4}"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2328" y="457200"/>
            <a:ext cx="3194943"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4211340" y="987427"/>
            <a:ext cx="5014913"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Drag picture to placeholder or click icon to add</a:t>
            </a:r>
            <a:endParaRPr lang="en-US" dirty="0"/>
          </a:p>
        </p:txBody>
      </p:sp>
      <p:sp>
        <p:nvSpPr>
          <p:cNvPr id="4" name="Text Placeholder 3"/>
          <p:cNvSpPr>
            <a:spLocks noGrp="1"/>
          </p:cNvSpPr>
          <p:nvPr>
            <p:ph type="body" sz="half" idx="2"/>
          </p:nvPr>
        </p:nvSpPr>
        <p:spPr>
          <a:xfrm>
            <a:off x="682328" y="2057400"/>
            <a:ext cx="319494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F08D555-D2EB-A045-AEDE-72C9D0B9666E}" type="datetimeFigureOut">
              <a:rPr lang="en-US" smtClean="0"/>
              <a:t>8/25/19</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C7B348C-02C1-B54D-ACD1-55D3EC15EDC4}"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F08D555-D2EB-A045-AEDE-72C9D0B9666E}" type="datetimeFigureOut">
              <a:rPr lang="en-US" smtClean="0"/>
              <a:t>8/25/19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7B348C-02C1-B54D-ACD1-55D3EC15EDC4}"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88982" y="365125"/>
            <a:ext cx="2135981"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1038" y="365125"/>
            <a:ext cx="6284119"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F08D555-D2EB-A045-AEDE-72C9D0B9666E}" type="datetimeFigureOut">
              <a:rPr lang="en-US" smtClean="0"/>
              <a:t>8/25/19</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C7B348C-02C1-B54D-ACD1-55D3EC15EDC4}"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1038" y="365127"/>
            <a:ext cx="8543925"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1038" y="1825625"/>
            <a:ext cx="8543925"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81038" y="6356352"/>
            <a:ext cx="222885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F08D555-D2EB-A045-AEDE-72C9D0B9666E}" type="datetimeFigureOut">
              <a:rPr lang="en-US" smtClean="0"/>
              <a:t>8/25/19</a:t>
            </a:fld>
            <a:endParaRPr lang="en-US"/>
          </a:p>
        </p:txBody>
      </p:sp>
      <p:sp>
        <p:nvSpPr>
          <p:cNvPr id="5" name="Footer Placeholder 4"/>
          <p:cNvSpPr>
            <a:spLocks noGrp="1"/>
          </p:cNvSpPr>
          <p:nvPr>
            <p:ph type="ftr" sz="quarter" idx="3"/>
          </p:nvPr>
        </p:nvSpPr>
        <p:spPr>
          <a:xfrm>
            <a:off x="3281363" y="6356352"/>
            <a:ext cx="3343275"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996113" y="6356352"/>
            <a:ext cx="222885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C7B348C-02C1-B54D-ACD1-55D3EC15EDC4}" type="slidenum">
              <a:rPr lang="en-US" smtClean="0"/>
              <a:t>‹#›</a:t>
            </a:fld>
            <a:endParaRPr lang="en-US"/>
          </a:p>
        </p:txBody>
      </p:sp>
    </p:spTree>
    <p:extLst>
      <p:ext uri="{BB962C8B-B14F-4D97-AF65-F5344CB8AC3E}">
        <p14:creationId xmlns:p14="http://schemas.microsoft.com/office/powerpoint/2010/main" val="117620403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tiff"/><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tiff"/><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0.emf"/></Relationships>
</file>

<file path=ppt/slides/_rels/slide10.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12.tiff"/></Relationships>
</file>

<file path=ppt/slides/_rels/slide11.xml.rels><?xml version="1.0" encoding="UTF-8" standalone="yes"?>
<Relationships xmlns="http://schemas.openxmlformats.org/package/2006/relationships"><Relationship Id="rId3" Type="http://schemas.openxmlformats.org/officeDocument/2006/relationships/image" Target="../media/image13.tiff"/><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5.tif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Statistics</a:t>
            </a:r>
          </a:p>
        </p:txBody>
      </p:sp>
      <p:sp>
        <p:nvSpPr>
          <p:cNvPr id="3" name="Subtitle 2"/>
          <p:cNvSpPr>
            <a:spLocks noGrp="1"/>
          </p:cNvSpPr>
          <p:nvPr>
            <p:ph type="subTitle" idx="1"/>
          </p:nvPr>
        </p:nvSpPr>
        <p:spPr/>
        <p:txBody>
          <a:bodyPr/>
          <a:lstStyle/>
          <a:p>
            <a:r>
              <a:rPr lang="en-US" dirty="0"/>
              <a:t>Box Plot</a:t>
            </a:r>
          </a:p>
        </p:txBody>
      </p:sp>
    </p:spTree>
    <p:extLst>
      <p:ext uri="{BB962C8B-B14F-4D97-AF65-F5344CB8AC3E}">
        <p14:creationId xmlns:p14="http://schemas.microsoft.com/office/powerpoint/2010/main" val="13607940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Different ways of representing data</a:t>
            </a:r>
          </a:p>
        </p:txBody>
      </p:sp>
      <p:sp>
        <p:nvSpPr>
          <p:cNvPr id="3" name="Content Placeholder 2"/>
          <p:cNvSpPr>
            <a:spLocks noGrp="1"/>
          </p:cNvSpPr>
          <p:nvPr>
            <p:ph idx="1"/>
          </p:nvPr>
        </p:nvSpPr>
        <p:spPr/>
        <p:txBody>
          <a:bodyPr/>
          <a:lstStyle/>
          <a:p>
            <a:r>
              <a:rPr lang="en-US" dirty="0"/>
              <a:t>Stem and leaf diagram</a:t>
            </a:r>
          </a:p>
          <a:p>
            <a:endParaRPr lang="en-US" dirty="0"/>
          </a:p>
          <a:p>
            <a:endParaRPr lang="en-US" dirty="0"/>
          </a:p>
          <a:p>
            <a:r>
              <a:rPr lang="en-US" dirty="0"/>
              <a:t>Dot frequency diagram</a:t>
            </a:r>
          </a:p>
          <a:p>
            <a:endParaRPr lang="en-US" dirty="0"/>
          </a:p>
          <a:p>
            <a:endParaRPr lang="en-US" dirty="0"/>
          </a:p>
          <a:p>
            <a:r>
              <a:rPr lang="en-US" dirty="0"/>
              <a:t>Histogram</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30454" y="4541968"/>
            <a:ext cx="4739563" cy="2001149"/>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17408" y="2947915"/>
            <a:ext cx="4997663" cy="1337403"/>
          </a:xfrm>
          <a:prstGeom prst="rect">
            <a:avLst/>
          </a:prstGeom>
        </p:spPr>
      </p:pic>
      <p:pic>
        <p:nvPicPr>
          <p:cNvPr id="6" name="Picture 5"/>
          <p:cNvPicPr>
            <a:picLocks noChangeAspect="1"/>
          </p:cNvPicPr>
          <p:nvPr/>
        </p:nvPicPr>
        <p:blipFill rotWithShape="1">
          <a:blip r:embed="rId4">
            <a:extLst>
              <a:ext uri="{28A0092B-C50C-407E-A947-70E740481C1C}">
                <a14:useLocalDpi xmlns:a14="http://schemas.microsoft.com/office/drawing/2010/main" val="0"/>
              </a:ext>
            </a:extLst>
          </a:blip>
          <a:srcRect t="2080" b="2439"/>
          <a:stretch/>
        </p:blipFill>
        <p:spPr>
          <a:xfrm>
            <a:off x="4653886" y="1459471"/>
            <a:ext cx="4204079" cy="1122290"/>
          </a:xfrm>
          <a:prstGeom prst="rect">
            <a:avLst/>
          </a:prstGeom>
        </p:spPr>
      </p:pic>
    </p:spTree>
    <p:extLst>
      <p:ext uri="{BB962C8B-B14F-4D97-AF65-F5344CB8AC3E}">
        <p14:creationId xmlns:p14="http://schemas.microsoft.com/office/powerpoint/2010/main" val="15010106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591097" y="425088"/>
            <a:ext cx="8543925" cy="1325563"/>
          </a:xfrm>
        </p:spPr>
        <p:txBody>
          <a:bodyPr/>
          <a:lstStyle/>
          <a:p>
            <a:r>
              <a:rPr lang="en-US" dirty="0"/>
              <a:t>Box plot</a:t>
            </a:r>
          </a:p>
        </p:txBody>
      </p:sp>
      <p:sp>
        <p:nvSpPr>
          <p:cNvPr id="5" name="Content Placeholder 2"/>
          <p:cNvSpPr>
            <a:spLocks noGrp="1"/>
          </p:cNvSpPr>
          <p:nvPr>
            <p:ph idx="1"/>
          </p:nvPr>
        </p:nvSpPr>
        <p:spPr>
          <a:xfrm>
            <a:off x="591096" y="1435857"/>
            <a:ext cx="8543925" cy="4904982"/>
          </a:xfrm>
        </p:spPr>
        <p:txBody>
          <a:bodyPr>
            <a:normAutofit lnSpcReduction="10000"/>
          </a:bodyPr>
          <a:lstStyle/>
          <a:p>
            <a:r>
              <a:rPr lang="en-US" dirty="0"/>
              <a:t>Also known as box and whisker diagram</a:t>
            </a:r>
          </a:p>
          <a:p>
            <a:r>
              <a:rPr lang="en-US" dirty="0"/>
              <a:t>From the data collected, it is necessary to work out:</a:t>
            </a:r>
          </a:p>
          <a:p>
            <a:pPr lvl="1"/>
            <a:endParaRPr lang="en-US" dirty="0"/>
          </a:p>
          <a:p>
            <a:pPr lvl="1"/>
            <a:r>
              <a:rPr lang="en-US" dirty="0"/>
              <a:t>Minimum</a:t>
            </a:r>
          </a:p>
          <a:p>
            <a:pPr lvl="1"/>
            <a:r>
              <a:rPr lang="en-US" dirty="0"/>
              <a:t>Maximum</a:t>
            </a:r>
          </a:p>
          <a:p>
            <a:pPr lvl="1"/>
            <a:endParaRPr lang="en-US" dirty="0"/>
          </a:p>
          <a:p>
            <a:pPr lvl="1"/>
            <a:r>
              <a:rPr lang="en-US" dirty="0"/>
              <a:t>Median (50</a:t>
            </a:r>
            <a:r>
              <a:rPr lang="en-US" baseline="30000" dirty="0"/>
              <a:t>th</a:t>
            </a:r>
            <a:r>
              <a:rPr lang="en-US" dirty="0"/>
              <a:t> percentile, second quartile)</a:t>
            </a:r>
          </a:p>
          <a:p>
            <a:pPr lvl="1"/>
            <a:endParaRPr lang="en-US" dirty="0"/>
          </a:p>
          <a:p>
            <a:pPr lvl="1"/>
            <a:r>
              <a:rPr lang="en-US" dirty="0"/>
              <a:t>Lower quartile (25</a:t>
            </a:r>
            <a:r>
              <a:rPr lang="en-US" baseline="30000" dirty="0"/>
              <a:t>th</a:t>
            </a:r>
            <a:r>
              <a:rPr lang="en-US" dirty="0"/>
              <a:t>  percentile, first quartile)</a:t>
            </a:r>
          </a:p>
          <a:p>
            <a:pPr lvl="1"/>
            <a:r>
              <a:rPr lang="en-US" dirty="0"/>
              <a:t>Upper quartile (75</a:t>
            </a:r>
            <a:r>
              <a:rPr lang="en-US" baseline="30000" dirty="0"/>
              <a:t>th</a:t>
            </a:r>
            <a:r>
              <a:rPr lang="en-US" dirty="0"/>
              <a:t> percentile, third quartile)</a:t>
            </a:r>
          </a:p>
          <a:p>
            <a:pPr lvl="1"/>
            <a:endParaRPr lang="en-US" dirty="0"/>
          </a:p>
          <a:p>
            <a:pPr lvl="1"/>
            <a:r>
              <a:rPr lang="en-US" dirty="0"/>
              <a:t>Inter quartile range (IQR) = upper quartile </a:t>
            </a:r>
            <a:r>
              <a:rPr lang="mr-IN" dirty="0"/>
              <a:t>–</a:t>
            </a:r>
            <a:r>
              <a:rPr lang="en-US" dirty="0"/>
              <a:t> lower </a:t>
            </a:r>
            <a:r>
              <a:rPr lang="en-US" dirty="0" err="1"/>
              <a:t>qurtile</a:t>
            </a:r>
            <a:endParaRPr lang="en-US" dirty="0"/>
          </a:p>
        </p:txBody>
      </p:sp>
    </p:spTree>
    <p:extLst>
      <p:ext uri="{BB962C8B-B14F-4D97-AF65-F5344CB8AC3E}">
        <p14:creationId xmlns:p14="http://schemas.microsoft.com/office/powerpoint/2010/main" val="7824327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stretch>
            <a:fillRect/>
          </a:stretch>
        </p:blipFill>
        <p:spPr>
          <a:xfrm>
            <a:off x="601596" y="813404"/>
            <a:ext cx="8550866" cy="4702976"/>
          </a:xfrm>
          <a:prstGeom prst="rect">
            <a:avLst/>
          </a:prstGeom>
        </p:spPr>
      </p:pic>
    </p:spTree>
    <p:extLst>
      <p:ext uri="{BB962C8B-B14F-4D97-AF65-F5344CB8AC3E}">
        <p14:creationId xmlns:p14="http://schemas.microsoft.com/office/powerpoint/2010/main" val="18226618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stretch>
            <a:fillRect/>
          </a:stretch>
        </p:blipFill>
        <p:spPr>
          <a:xfrm>
            <a:off x="1798820" y="329155"/>
            <a:ext cx="5480860" cy="6326478"/>
          </a:xfrm>
          <a:prstGeom prst="rect">
            <a:avLst/>
          </a:prstGeom>
        </p:spPr>
      </p:pic>
    </p:spTree>
    <p:extLst>
      <p:ext uri="{BB962C8B-B14F-4D97-AF65-F5344CB8AC3E}">
        <p14:creationId xmlns:p14="http://schemas.microsoft.com/office/powerpoint/2010/main" val="9034913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45" y="1636195"/>
            <a:ext cx="9906000" cy="3572471"/>
          </a:xfrm>
          <a:prstGeom prst="rect">
            <a:avLst/>
          </a:prstGeom>
        </p:spPr>
      </p:pic>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60631" y="5208666"/>
            <a:ext cx="7594600" cy="1409700"/>
          </a:xfrm>
          <a:prstGeom prst="rect">
            <a:avLst/>
          </a:prstGeom>
        </p:spPr>
      </p:pic>
    </p:spTree>
    <p:extLst>
      <p:ext uri="{BB962C8B-B14F-4D97-AF65-F5344CB8AC3E}">
        <p14:creationId xmlns:p14="http://schemas.microsoft.com/office/powerpoint/2010/main" val="3022664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Draw the box plot for the following data</a:t>
            </a:r>
          </a:p>
        </p:txBody>
      </p:sp>
      <p:sp>
        <p:nvSpPr>
          <p:cNvPr id="3" name="Content Placeholder 2"/>
          <p:cNvSpPr>
            <a:spLocks noGrp="1"/>
          </p:cNvSpPr>
          <p:nvPr>
            <p:ph idx="1"/>
          </p:nvPr>
        </p:nvSpPr>
        <p:spPr>
          <a:xfrm>
            <a:off x="681038" y="1825625"/>
            <a:ext cx="8543925" cy="3241050"/>
          </a:xfrm>
        </p:spPr>
        <p:txBody>
          <a:bodyPr>
            <a:normAutofit/>
          </a:bodyPr>
          <a:lstStyle/>
          <a:p>
            <a:pPr marL="0" indent="0">
              <a:buNone/>
            </a:pPr>
            <a:r>
              <a:rPr lang="is-IS" dirty="0"/>
              <a:t>This is the consumer rating for a particular brand of peanut butter: </a:t>
            </a:r>
          </a:p>
          <a:p>
            <a:pPr marL="0" indent="0">
              <a:buNone/>
            </a:pPr>
            <a:endParaRPr lang="is-IS" dirty="0"/>
          </a:p>
          <a:p>
            <a:pPr marL="0" indent="0">
              <a:buNone/>
            </a:pPr>
            <a:r>
              <a:rPr lang="is-IS" dirty="0"/>
              <a:t>71		69		60		60		57</a:t>
            </a:r>
          </a:p>
          <a:p>
            <a:pPr marL="0" indent="0">
              <a:buNone/>
            </a:pPr>
            <a:r>
              <a:rPr lang="is-IS" dirty="0"/>
              <a:t>52		34		89		69		69</a:t>
            </a:r>
          </a:p>
          <a:p>
            <a:pPr marL="0" indent="0">
              <a:buNone/>
            </a:pPr>
            <a:r>
              <a:rPr lang="is-IS" dirty="0"/>
              <a:t>67		63		57		40</a:t>
            </a:r>
            <a:endParaRPr lang="en-US" dirty="0"/>
          </a:p>
        </p:txBody>
      </p:sp>
    </p:spTree>
    <p:extLst>
      <p:ext uri="{BB962C8B-B14F-4D97-AF65-F5344CB8AC3E}">
        <p14:creationId xmlns:p14="http://schemas.microsoft.com/office/powerpoint/2010/main" val="213716333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86166" y="359764"/>
            <a:ext cx="8543925" cy="5906125"/>
          </a:xfrm>
        </p:spPr>
        <p:txBody>
          <a:bodyPr>
            <a:normAutofit/>
          </a:bodyPr>
          <a:lstStyle/>
          <a:p>
            <a:r>
              <a:rPr lang="en-US" b="1" dirty="0"/>
              <a:t>Step 1: </a:t>
            </a:r>
            <a:r>
              <a:rPr lang="en-US" dirty="0"/>
              <a:t>Arrange the data from smallest to largest and label them from 1 to the number of data points:</a:t>
            </a:r>
          </a:p>
          <a:p>
            <a:endParaRPr lang="en-US" dirty="0"/>
          </a:p>
          <a:p>
            <a:endParaRPr lang="en-US" dirty="0"/>
          </a:p>
          <a:p>
            <a:r>
              <a:rPr lang="en-US" b="1" dirty="0"/>
              <a:t>Step 2: </a:t>
            </a:r>
            <a:r>
              <a:rPr lang="en-US" dirty="0"/>
              <a:t>Find the median of the data:</a:t>
            </a:r>
          </a:p>
          <a:p>
            <a:endParaRPr lang="en-US" dirty="0"/>
          </a:p>
          <a:p>
            <a:endParaRPr lang="en-US" dirty="0"/>
          </a:p>
          <a:p>
            <a:endParaRPr lang="en-US" dirty="0"/>
          </a:p>
          <a:p>
            <a:pPr marL="0" indent="0">
              <a:buNone/>
            </a:pPr>
            <a:r>
              <a:rPr lang="en-US" sz="2400" dirty="0"/>
              <a:t>We have 14 data values, so to compute the median of an </a:t>
            </a:r>
            <a:r>
              <a:rPr lang="en-US" sz="2400" b="1" dirty="0">
                <a:solidFill>
                  <a:srgbClr val="FF0000"/>
                </a:solidFill>
              </a:rPr>
              <a:t>even number</a:t>
            </a:r>
            <a:r>
              <a:rPr lang="en-US" sz="2400" dirty="0"/>
              <a:t> of data values we compute the </a:t>
            </a:r>
            <a:r>
              <a:rPr lang="en-US" sz="2400" b="1" dirty="0">
                <a:solidFill>
                  <a:srgbClr val="FF0000"/>
                </a:solidFill>
              </a:rPr>
              <a:t>mean of the two middle values</a:t>
            </a:r>
            <a:r>
              <a:rPr lang="en-US" sz="2400" b="1" dirty="0"/>
              <a:t>:</a:t>
            </a:r>
            <a:r>
              <a:rPr lang="en-US" sz="2400" dirty="0"/>
              <a:t> </a:t>
            </a:r>
            <a:r>
              <a:rPr lang="en-US" sz="2400" b="1" dirty="0"/>
              <a:t>7</a:t>
            </a:r>
            <a:r>
              <a:rPr lang="en-US" sz="2400" dirty="0"/>
              <a:t> and </a:t>
            </a:r>
            <a:r>
              <a:rPr lang="en-US" sz="2400" b="1" dirty="0"/>
              <a:t>8</a:t>
            </a:r>
            <a:r>
              <a:rPr lang="en-US" sz="2400" dirty="0"/>
              <a:t> (</a:t>
            </a:r>
            <a:r>
              <a:rPr lang="en-US" sz="2400" b="1" dirty="0"/>
              <a:t>14/2 = 7, 14/2 + 1 = 8</a:t>
            </a:r>
            <a:r>
              <a:rPr lang="en-US" sz="2400" dirty="0"/>
              <a:t>) . So with the data above we get : (60+63)/2 = </a:t>
            </a:r>
            <a:r>
              <a:rPr lang="en-US" sz="2400" b="1" dirty="0"/>
              <a:t>61.5</a:t>
            </a:r>
            <a:endParaRPr lang="en-US" sz="2400" dirty="0"/>
          </a:p>
        </p:txBody>
      </p:sp>
      <p:pic>
        <p:nvPicPr>
          <p:cNvPr id="4" name="Picture 3"/>
          <p:cNvPicPr>
            <a:picLocks noChangeAspect="1"/>
          </p:cNvPicPr>
          <p:nvPr/>
        </p:nvPicPr>
        <p:blipFill>
          <a:blip r:embed="rId3"/>
          <a:stretch>
            <a:fillRect/>
          </a:stretch>
        </p:blipFill>
        <p:spPr>
          <a:xfrm>
            <a:off x="0" y="1433079"/>
            <a:ext cx="9906000" cy="574084"/>
          </a:xfrm>
          <a:prstGeom prst="rect">
            <a:avLst/>
          </a:prstGeom>
        </p:spPr>
      </p:pic>
      <p:grpSp>
        <p:nvGrpSpPr>
          <p:cNvPr id="9" name="Group 8"/>
          <p:cNvGrpSpPr/>
          <p:nvPr/>
        </p:nvGrpSpPr>
        <p:grpSpPr>
          <a:xfrm>
            <a:off x="0" y="2950832"/>
            <a:ext cx="9906000" cy="1291384"/>
            <a:chOff x="0" y="2950832"/>
            <a:chExt cx="9906000" cy="1291384"/>
          </a:xfrm>
        </p:grpSpPr>
        <p:pic>
          <p:nvPicPr>
            <p:cNvPr id="7" name="Picture 6"/>
            <p:cNvPicPr>
              <a:picLocks noChangeAspect="1"/>
            </p:cNvPicPr>
            <p:nvPr/>
          </p:nvPicPr>
          <p:blipFill>
            <a:blip r:embed="rId3"/>
            <a:stretch>
              <a:fillRect/>
            </a:stretch>
          </p:blipFill>
          <p:spPr>
            <a:xfrm>
              <a:off x="0" y="2950832"/>
              <a:ext cx="9906000" cy="574084"/>
            </a:xfrm>
            <a:prstGeom prst="rect">
              <a:avLst/>
            </a:prstGeom>
          </p:spPr>
        </p:pic>
        <p:sp>
          <p:nvSpPr>
            <p:cNvPr id="8" name="Up Arrow 7"/>
            <p:cNvSpPr/>
            <p:nvPr/>
          </p:nvSpPr>
          <p:spPr>
            <a:xfrm>
              <a:off x="5096656" y="3524916"/>
              <a:ext cx="359764" cy="717300"/>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4371473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1038" y="509666"/>
            <a:ext cx="8543925" cy="6115986"/>
          </a:xfrm>
        </p:spPr>
        <p:txBody>
          <a:bodyPr>
            <a:normAutofit/>
          </a:bodyPr>
          <a:lstStyle/>
          <a:p>
            <a:r>
              <a:rPr lang="en-US" b="1" dirty="0"/>
              <a:t>Step 3: </a:t>
            </a:r>
            <a:r>
              <a:rPr lang="en-US" dirty="0"/>
              <a:t>Find the lower quartile:</a:t>
            </a:r>
          </a:p>
          <a:p>
            <a:endParaRPr lang="en-US" dirty="0"/>
          </a:p>
          <a:p>
            <a:endParaRPr lang="en-US" dirty="0"/>
          </a:p>
          <a:p>
            <a:pPr marL="0" indent="0">
              <a:buNone/>
            </a:pPr>
            <a:r>
              <a:rPr lang="en-US" sz="2400" dirty="0"/>
              <a:t>The lower quartile is the median of the numbers above. Since we have an </a:t>
            </a:r>
            <a:r>
              <a:rPr lang="en-US" sz="2400" b="1" dirty="0"/>
              <a:t>odd </a:t>
            </a:r>
            <a:r>
              <a:rPr lang="en-US" sz="2400" dirty="0"/>
              <a:t>number of data points the median is the data value with rank </a:t>
            </a:r>
            <a:r>
              <a:rPr lang="en-US" sz="2400" b="1" dirty="0"/>
              <a:t>(7+1)/2 = 4</a:t>
            </a:r>
            <a:r>
              <a:rPr lang="en-US" sz="2400" dirty="0"/>
              <a:t>. So the </a:t>
            </a:r>
            <a:r>
              <a:rPr lang="en-US" sz="2400" b="1" dirty="0"/>
              <a:t>lower quartile is 57.</a:t>
            </a:r>
          </a:p>
          <a:p>
            <a:pPr marL="0" indent="0">
              <a:buNone/>
            </a:pPr>
            <a:endParaRPr lang="en-US" sz="2400" b="1" dirty="0"/>
          </a:p>
          <a:p>
            <a:r>
              <a:rPr lang="en-US" b="1" dirty="0"/>
              <a:t>Step 4: </a:t>
            </a:r>
            <a:r>
              <a:rPr lang="en-US" dirty="0"/>
              <a:t>Find the upper quartile:</a:t>
            </a:r>
          </a:p>
          <a:p>
            <a:endParaRPr lang="en-US" dirty="0"/>
          </a:p>
          <a:p>
            <a:endParaRPr lang="en-US" dirty="0"/>
          </a:p>
          <a:p>
            <a:pPr marL="0" indent="0">
              <a:buNone/>
            </a:pPr>
            <a:r>
              <a:rPr lang="en-US" sz="2400" dirty="0"/>
              <a:t>The upper quartile is the median of the numbers above. Since we have an </a:t>
            </a:r>
            <a:r>
              <a:rPr lang="en-US" sz="2400" b="1" dirty="0"/>
              <a:t>odd </a:t>
            </a:r>
            <a:r>
              <a:rPr lang="en-US" sz="2400" dirty="0"/>
              <a:t>number of data points the median is the data value with rank </a:t>
            </a:r>
            <a:r>
              <a:rPr lang="en-US" sz="2400" b="1" dirty="0"/>
              <a:t>(7+1)/2 = 4</a:t>
            </a:r>
            <a:r>
              <a:rPr lang="en-US" sz="2400" dirty="0"/>
              <a:t>. So the </a:t>
            </a:r>
            <a:r>
              <a:rPr lang="en-US" sz="2400" b="1" dirty="0"/>
              <a:t>upper quartile is 69.</a:t>
            </a:r>
            <a:endParaRPr lang="en-US" sz="2400" dirty="0"/>
          </a:p>
        </p:txBody>
      </p:sp>
      <p:pic>
        <p:nvPicPr>
          <p:cNvPr id="4" name="Picture 3"/>
          <p:cNvPicPr>
            <a:picLocks noChangeAspect="1"/>
          </p:cNvPicPr>
          <p:nvPr/>
        </p:nvPicPr>
        <p:blipFill>
          <a:blip r:embed="rId3"/>
          <a:stretch>
            <a:fillRect/>
          </a:stretch>
        </p:blipFill>
        <p:spPr>
          <a:xfrm>
            <a:off x="0" y="1223218"/>
            <a:ext cx="9906000" cy="574084"/>
          </a:xfrm>
          <a:prstGeom prst="rect">
            <a:avLst/>
          </a:prstGeom>
        </p:spPr>
      </p:pic>
      <p:pic>
        <p:nvPicPr>
          <p:cNvPr id="5" name="Picture 4"/>
          <p:cNvPicPr>
            <a:picLocks noChangeAspect="1"/>
          </p:cNvPicPr>
          <p:nvPr/>
        </p:nvPicPr>
        <p:blipFill>
          <a:blip r:embed="rId4"/>
          <a:stretch>
            <a:fillRect/>
          </a:stretch>
        </p:blipFill>
        <p:spPr>
          <a:xfrm>
            <a:off x="0" y="4221250"/>
            <a:ext cx="9906000" cy="574084"/>
          </a:xfrm>
          <a:prstGeom prst="rect">
            <a:avLst/>
          </a:prstGeom>
        </p:spPr>
      </p:pic>
    </p:spTree>
    <p:extLst>
      <p:ext uri="{BB962C8B-B14F-4D97-AF65-F5344CB8AC3E}">
        <p14:creationId xmlns:p14="http://schemas.microsoft.com/office/powerpoint/2010/main" val="8076621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81038" y="479685"/>
            <a:ext cx="8543925" cy="5697278"/>
          </a:xfrm>
        </p:spPr>
        <p:txBody>
          <a:bodyPr/>
          <a:lstStyle/>
          <a:p>
            <a:r>
              <a:rPr lang="en-US" b="1" dirty="0"/>
              <a:t>Step 4: </a:t>
            </a:r>
            <a:r>
              <a:rPr lang="en-US" dirty="0"/>
              <a:t>Find the minimum and maximum value:</a:t>
            </a:r>
          </a:p>
          <a:p>
            <a:endParaRPr lang="en-US" dirty="0"/>
          </a:p>
          <a:p>
            <a:endParaRPr lang="en-US" dirty="0"/>
          </a:p>
          <a:p>
            <a:r>
              <a:rPr lang="en-US" b="1" dirty="0"/>
              <a:t>Step 5: Create the Box-and-Whisker Plot:</a:t>
            </a:r>
          </a:p>
          <a:p>
            <a:endParaRPr lang="en-US" b="1" dirty="0"/>
          </a:p>
          <a:p>
            <a:endParaRPr lang="en-US" b="1" dirty="0"/>
          </a:p>
          <a:p>
            <a:endParaRPr lang="en-US" b="1" dirty="0"/>
          </a:p>
          <a:p>
            <a:endParaRPr lang="en-US" b="1" dirty="0"/>
          </a:p>
          <a:p>
            <a:pPr marL="0" indent="0">
              <a:buNone/>
            </a:pPr>
            <a:r>
              <a:rPr lang="en-US" sz="2400" dirty="0"/>
              <a:t>The rectangle is drawn from the lower quartile (57) to the upper quartile (69) the vertical line in the middle is the median (61.5). The whiskers extend to the minimum value (40) and the maximum value (89).</a:t>
            </a:r>
            <a:endParaRPr lang="en-US" sz="2400" b="1" dirty="0"/>
          </a:p>
          <a:p>
            <a:endParaRPr lang="en-US" dirty="0"/>
          </a:p>
        </p:txBody>
      </p:sp>
      <p:pic>
        <p:nvPicPr>
          <p:cNvPr id="5" name="Picture 4"/>
          <p:cNvPicPr>
            <a:picLocks noChangeAspect="1"/>
          </p:cNvPicPr>
          <p:nvPr/>
        </p:nvPicPr>
        <p:blipFill>
          <a:blip r:embed="rId3"/>
          <a:stretch>
            <a:fillRect/>
          </a:stretch>
        </p:blipFill>
        <p:spPr>
          <a:xfrm>
            <a:off x="0" y="1178246"/>
            <a:ext cx="9906000" cy="574084"/>
          </a:xfrm>
          <a:prstGeom prst="rect">
            <a:avLst/>
          </a:prstGeom>
        </p:spPr>
      </p:pic>
      <p:pic>
        <p:nvPicPr>
          <p:cNvPr id="6" name="Picture 5"/>
          <p:cNvPicPr>
            <a:picLocks noChangeAspect="1"/>
          </p:cNvPicPr>
          <p:nvPr/>
        </p:nvPicPr>
        <p:blipFill>
          <a:blip r:embed="rId4"/>
          <a:stretch>
            <a:fillRect/>
          </a:stretch>
        </p:blipFill>
        <p:spPr>
          <a:xfrm>
            <a:off x="1409076" y="2583078"/>
            <a:ext cx="6341364" cy="1490491"/>
          </a:xfrm>
          <a:prstGeom prst="rect">
            <a:avLst/>
          </a:prstGeom>
        </p:spPr>
      </p:pic>
    </p:spTree>
    <p:extLst>
      <p:ext uri="{BB962C8B-B14F-4D97-AF65-F5344CB8AC3E}">
        <p14:creationId xmlns:p14="http://schemas.microsoft.com/office/powerpoint/2010/main" val="297178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OUTLIERS</a:t>
            </a:r>
          </a:p>
        </p:txBody>
      </p:sp>
      <p:pic>
        <p:nvPicPr>
          <p:cNvPr id="4" name="Picture 3"/>
          <p:cNvPicPr>
            <a:picLocks noChangeAspect="1"/>
          </p:cNvPicPr>
          <p:nvPr/>
        </p:nvPicPr>
        <p:blipFill>
          <a:blip r:embed="rId3"/>
          <a:stretch>
            <a:fillRect/>
          </a:stretch>
        </p:blipFill>
        <p:spPr>
          <a:xfrm>
            <a:off x="0" y="1395493"/>
            <a:ext cx="9906000" cy="4546699"/>
          </a:xfrm>
          <a:prstGeom prst="rect">
            <a:avLst/>
          </a:prstGeom>
        </p:spPr>
      </p:pic>
      <p:sp>
        <p:nvSpPr>
          <p:cNvPr id="5" name="Rectangle 4"/>
          <p:cNvSpPr/>
          <p:nvPr/>
        </p:nvSpPr>
        <p:spPr>
          <a:xfrm>
            <a:off x="179882" y="5096656"/>
            <a:ext cx="899410" cy="26982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p:cNvSpPr/>
          <p:nvPr/>
        </p:nvSpPr>
        <p:spPr>
          <a:xfrm>
            <a:off x="4664440" y="5578839"/>
            <a:ext cx="899410" cy="269823"/>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99422218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a:t>
            </a:r>
          </a:p>
        </p:txBody>
      </p:sp>
      <p:sp>
        <p:nvSpPr>
          <p:cNvPr id="3" name="Content Placeholder 2"/>
          <p:cNvSpPr>
            <a:spLocks noGrp="1"/>
          </p:cNvSpPr>
          <p:nvPr>
            <p:ph idx="1"/>
          </p:nvPr>
        </p:nvSpPr>
        <p:spPr>
          <a:xfrm>
            <a:off x="681038" y="1825625"/>
            <a:ext cx="8543925" cy="2356631"/>
          </a:xfrm>
        </p:spPr>
        <p:txBody>
          <a:bodyPr/>
          <a:lstStyle/>
          <a:p>
            <a:r>
              <a:rPr lang="en-US" dirty="0"/>
              <a:t>Draw a box plot for the following data:</a:t>
            </a:r>
          </a:p>
          <a:p>
            <a:endParaRPr lang="en-US" dirty="0"/>
          </a:p>
          <a:p>
            <a:pPr marL="0" indent="0">
              <a:buNone/>
            </a:pPr>
            <a:r>
              <a:rPr lang="fi-FI" dirty="0"/>
              <a:t>55	48	42	75	40	49	53	50	52</a:t>
            </a:r>
          </a:p>
          <a:p>
            <a:pPr marL="0" indent="0">
              <a:buNone/>
            </a:pPr>
            <a:r>
              <a:rPr lang="fi-FI" dirty="0"/>
              <a:t>50	5	46	58	56	102</a:t>
            </a:r>
            <a:endParaRPr lang="en-US" dirty="0"/>
          </a:p>
        </p:txBody>
      </p:sp>
    </p:spTree>
    <p:extLst>
      <p:ext uri="{BB962C8B-B14F-4D97-AF65-F5344CB8AC3E}">
        <p14:creationId xmlns:p14="http://schemas.microsoft.com/office/powerpoint/2010/main" val="15706878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stretch>
            <a:fillRect/>
          </a:stretch>
        </p:blipFill>
        <p:spPr>
          <a:xfrm>
            <a:off x="6" y="704871"/>
            <a:ext cx="9905994" cy="531486"/>
          </a:xfrm>
          <a:prstGeom prst="rect">
            <a:avLst/>
          </a:prstGeom>
        </p:spPr>
      </p:pic>
      <p:grpSp>
        <p:nvGrpSpPr>
          <p:cNvPr id="16" name="Group 15"/>
          <p:cNvGrpSpPr/>
          <p:nvPr/>
        </p:nvGrpSpPr>
        <p:grpSpPr>
          <a:xfrm>
            <a:off x="4901785" y="704871"/>
            <a:ext cx="584616" cy="1063968"/>
            <a:chOff x="4901785" y="704871"/>
            <a:chExt cx="584616" cy="1063968"/>
          </a:xfrm>
        </p:grpSpPr>
        <p:sp>
          <p:nvSpPr>
            <p:cNvPr id="6" name="Rectangle 5"/>
            <p:cNvSpPr/>
            <p:nvPr/>
          </p:nvSpPr>
          <p:spPr>
            <a:xfrm>
              <a:off x="4901785" y="704871"/>
              <a:ext cx="584616" cy="531486"/>
            </a:xfrm>
            <a:prstGeom prst="rect">
              <a:avLst/>
            </a:prstGeom>
            <a:solidFill>
              <a:srgbClr val="F33033">
                <a:alpha val="4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Up Arrow 6"/>
            <p:cNvSpPr/>
            <p:nvPr/>
          </p:nvSpPr>
          <p:spPr>
            <a:xfrm>
              <a:off x="5066674" y="1236357"/>
              <a:ext cx="299805" cy="532482"/>
            </a:xfrm>
            <a:prstGeom prst="upArrow">
              <a:avLst/>
            </a:prstGeom>
            <a:solidFill>
              <a:srgbClr val="F3303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9" name="TextBox 8"/>
          <p:cNvSpPr txBox="1"/>
          <p:nvPr/>
        </p:nvSpPr>
        <p:spPr>
          <a:xfrm>
            <a:off x="4766872" y="1930993"/>
            <a:ext cx="929390" cy="369332"/>
          </a:xfrm>
          <a:prstGeom prst="rect">
            <a:avLst/>
          </a:prstGeom>
          <a:noFill/>
        </p:spPr>
        <p:txBody>
          <a:bodyPr wrap="square" rtlCol="0">
            <a:spAutoFit/>
          </a:bodyPr>
          <a:lstStyle/>
          <a:p>
            <a:r>
              <a:rPr lang="en-US"/>
              <a:t>Median</a:t>
            </a:r>
          </a:p>
        </p:txBody>
      </p:sp>
      <p:sp>
        <p:nvSpPr>
          <p:cNvPr id="11" name="TextBox 10"/>
          <p:cNvSpPr txBox="1"/>
          <p:nvPr/>
        </p:nvSpPr>
        <p:spPr>
          <a:xfrm>
            <a:off x="2325982" y="1903513"/>
            <a:ext cx="929390" cy="646331"/>
          </a:xfrm>
          <a:prstGeom prst="rect">
            <a:avLst/>
          </a:prstGeom>
          <a:noFill/>
        </p:spPr>
        <p:txBody>
          <a:bodyPr wrap="square" rtlCol="0">
            <a:spAutoFit/>
          </a:bodyPr>
          <a:lstStyle/>
          <a:p>
            <a:pPr algn="ctr"/>
            <a:r>
              <a:rPr lang="en-US"/>
              <a:t>Lower quartile</a:t>
            </a:r>
            <a:endParaRPr lang="en-US" dirty="0"/>
          </a:p>
        </p:txBody>
      </p:sp>
      <p:sp>
        <p:nvSpPr>
          <p:cNvPr id="13" name="TextBox 12"/>
          <p:cNvSpPr txBox="1"/>
          <p:nvPr/>
        </p:nvSpPr>
        <p:spPr>
          <a:xfrm>
            <a:off x="7287712" y="1948483"/>
            <a:ext cx="929390" cy="646331"/>
          </a:xfrm>
          <a:prstGeom prst="rect">
            <a:avLst/>
          </a:prstGeom>
          <a:noFill/>
        </p:spPr>
        <p:txBody>
          <a:bodyPr wrap="square" rtlCol="0">
            <a:spAutoFit/>
          </a:bodyPr>
          <a:lstStyle/>
          <a:p>
            <a:pPr algn="ctr"/>
            <a:r>
              <a:rPr lang="en-US" dirty="0"/>
              <a:t>Upper quartile</a:t>
            </a:r>
          </a:p>
        </p:txBody>
      </p:sp>
      <p:grpSp>
        <p:nvGrpSpPr>
          <p:cNvPr id="17" name="Group 16"/>
          <p:cNvGrpSpPr/>
          <p:nvPr/>
        </p:nvGrpSpPr>
        <p:grpSpPr>
          <a:xfrm>
            <a:off x="2450892" y="704871"/>
            <a:ext cx="584616" cy="1036488"/>
            <a:chOff x="2480872" y="704871"/>
            <a:chExt cx="584616" cy="1036488"/>
          </a:xfrm>
        </p:grpSpPr>
        <p:sp>
          <p:nvSpPr>
            <p:cNvPr id="10" name="Up Arrow 9"/>
            <p:cNvSpPr/>
            <p:nvPr/>
          </p:nvSpPr>
          <p:spPr>
            <a:xfrm>
              <a:off x="2655764" y="1208877"/>
              <a:ext cx="299805" cy="532482"/>
            </a:xfrm>
            <a:prstGeom prst="upArrow">
              <a:avLst/>
            </a:prstGeom>
            <a:solidFill>
              <a:srgbClr val="F3303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2480872" y="704871"/>
              <a:ext cx="584616" cy="531486"/>
            </a:xfrm>
            <a:prstGeom prst="rect">
              <a:avLst/>
            </a:prstGeom>
            <a:solidFill>
              <a:srgbClr val="F33033">
                <a:alpha val="4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8" name="Group 17"/>
          <p:cNvGrpSpPr/>
          <p:nvPr/>
        </p:nvGrpSpPr>
        <p:grpSpPr>
          <a:xfrm>
            <a:off x="7352677" y="692381"/>
            <a:ext cx="584616" cy="1093948"/>
            <a:chOff x="7322697" y="677391"/>
            <a:chExt cx="584616" cy="1093948"/>
          </a:xfrm>
        </p:grpSpPr>
        <p:sp>
          <p:nvSpPr>
            <p:cNvPr id="12" name="Up Arrow 11"/>
            <p:cNvSpPr/>
            <p:nvPr/>
          </p:nvSpPr>
          <p:spPr>
            <a:xfrm>
              <a:off x="7557534" y="1238857"/>
              <a:ext cx="299805" cy="532482"/>
            </a:xfrm>
            <a:prstGeom prst="upArrow">
              <a:avLst/>
            </a:prstGeom>
            <a:solidFill>
              <a:srgbClr val="F33033"/>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7322697" y="677391"/>
              <a:ext cx="584616" cy="531486"/>
            </a:xfrm>
            <a:prstGeom prst="rect">
              <a:avLst/>
            </a:prstGeom>
            <a:solidFill>
              <a:srgbClr val="F33033">
                <a:alpha val="4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9" name="TextBox 18"/>
          <p:cNvSpPr txBox="1"/>
          <p:nvPr/>
        </p:nvSpPr>
        <p:spPr>
          <a:xfrm>
            <a:off x="1094282" y="3357797"/>
            <a:ext cx="8499423" cy="2246769"/>
          </a:xfrm>
          <a:prstGeom prst="rect">
            <a:avLst/>
          </a:prstGeom>
          <a:noFill/>
        </p:spPr>
        <p:txBody>
          <a:bodyPr wrap="square" rtlCol="0">
            <a:spAutoFit/>
          </a:bodyPr>
          <a:lstStyle/>
          <a:p>
            <a:r>
              <a:rPr lang="en-US" sz="2800" dirty="0"/>
              <a:t>Inter quartile range (IQR) = 56 </a:t>
            </a:r>
            <a:r>
              <a:rPr lang="mr-IN" sz="2800" dirty="0"/>
              <a:t>–</a:t>
            </a:r>
            <a:r>
              <a:rPr lang="en-US" sz="2800" dirty="0"/>
              <a:t> 46 = 10</a:t>
            </a:r>
          </a:p>
          <a:p>
            <a:endParaRPr lang="en-US" sz="2800" dirty="0"/>
          </a:p>
          <a:p>
            <a:r>
              <a:rPr lang="en-US" sz="2800" dirty="0"/>
              <a:t>Maximum = 56 + 1.5 x IQR = 56 + 1.5 x 10 = 56 + 15 = 71</a:t>
            </a:r>
          </a:p>
          <a:p>
            <a:endParaRPr lang="en-US" sz="2800" dirty="0"/>
          </a:p>
          <a:p>
            <a:r>
              <a:rPr lang="en-US" sz="2800" dirty="0"/>
              <a:t>Minimum = 46 </a:t>
            </a:r>
            <a:r>
              <a:rPr lang="mr-IN" sz="2800" dirty="0"/>
              <a:t>–</a:t>
            </a:r>
            <a:r>
              <a:rPr lang="en-US" sz="2800" dirty="0"/>
              <a:t> 1.5 x IQR = 46 </a:t>
            </a:r>
            <a:r>
              <a:rPr lang="mr-IN" sz="2800" dirty="0"/>
              <a:t>–</a:t>
            </a:r>
            <a:r>
              <a:rPr lang="en-US" sz="2800" dirty="0"/>
              <a:t> 15 = 31</a:t>
            </a:r>
          </a:p>
        </p:txBody>
      </p:sp>
      <p:sp>
        <p:nvSpPr>
          <p:cNvPr id="20" name="Rectangle 19"/>
          <p:cNvSpPr/>
          <p:nvPr/>
        </p:nvSpPr>
        <p:spPr>
          <a:xfrm>
            <a:off x="620853" y="712746"/>
            <a:ext cx="584616" cy="531486"/>
          </a:xfrm>
          <a:prstGeom prst="rect">
            <a:avLst/>
          </a:prstGeom>
          <a:solidFill>
            <a:srgbClr val="58CC6D">
              <a:alpha val="4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p:cNvSpPr/>
          <p:nvPr/>
        </p:nvSpPr>
        <p:spPr>
          <a:xfrm>
            <a:off x="8558140" y="696996"/>
            <a:ext cx="584616" cy="531486"/>
          </a:xfrm>
          <a:prstGeom prst="rect">
            <a:avLst/>
          </a:prstGeom>
          <a:solidFill>
            <a:srgbClr val="58CC6D">
              <a:alpha val="4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p:cNvSpPr/>
          <p:nvPr/>
        </p:nvSpPr>
        <p:spPr>
          <a:xfrm>
            <a:off x="9218953" y="704871"/>
            <a:ext cx="584616" cy="531486"/>
          </a:xfrm>
          <a:prstGeom prst="rect">
            <a:avLst/>
          </a:prstGeom>
          <a:solidFill>
            <a:srgbClr val="58CC6D">
              <a:alpha val="45098"/>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324194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rot="5400000">
            <a:off x="2180070" y="-970365"/>
            <a:ext cx="5236065" cy="8726774"/>
          </a:xfrm>
          <a:prstGeom prst="rect">
            <a:avLst/>
          </a:prstGeom>
        </p:spPr>
      </p:pic>
      <p:pic>
        <p:nvPicPr>
          <p:cNvPr id="4" name="Picture 3"/>
          <p:cNvPicPr>
            <a:picLocks noChangeAspect="1"/>
          </p:cNvPicPr>
          <p:nvPr/>
        </p:nvPicPr>
        <p:blipFill>
          <a:blip r:embed="rId2"/>
          <a:stretch>
            <a:fillRect/>
          </a:stretch>
        </p:blipFill>
        <p:spPr>
          <a:xfrm rot="5400000">
            <a:off x="2150089" y="-1015335"/>
            <a:ext cx="5236065" cy="8726774"/>
          </a:xfrm>
          <a:prstGeom prst="rect">
            <a:avLst/>
          </a:prstGeom>
        </p:spPr>
      </p:pic>
      <p:sp>
        <p:nvSpPr>
          <p:cNvPr id="5" name="TextBox 4"/>
          <p:cNvSpPr txBox="1"/>
          <p:nvPr/>
        </p:nvSpPr>
        <p:spPr>
          <a:xfrm>
            <a:off x="8484433" y="3327807"/>
            <a:ext cx="374754" cy="369332"/>
          </a:xfrm>
          <a:prstGeom prst="rect">
            <a:avLst/>
          </a:prstGeom>
          <a:noFill/>
        </p:spPr>
        <p:txBody>
          <a:bodyPr wrap="square" rtlCol="0">
            <a:spAutoFit/>
          </a:bodyPr>
          <a:lstStyle/>
          <a:p>
            <a:pPr algn="ctr"/>
            <a:r>
              <a:rPr lang="en-US" dirty="0"/>
              <a:t>x</a:t>
            </a:r>
          </a:p>
        </p:txBody>
      </p:sp>
      <p:sp>
        <p:nvSpPr>
          <p:cNvPr id="7" name="TextBox 6"/>
          <p:cNvSpPr txBox="1"/>
          <p:nvPr/>
        </p:nvSpPr>
        <p:spPr>
          <a:xfrm>
            <a:off x="6313372" y="3345297"/>
            <a:ext cx="374754" cy="369332"/>
          </a:xfrm>
          <a:prstGeom prst="rect">
            <a:avLst/>
          </a:prstGeom>
          <a:noFill/>
        </p:spPr>
        <p:txBody>
          <a:bodyPr wrap="square" rtlCol="0">
            <a:spAutoFit/>
          </a:bodyPr>
          <a:lstStyle/>
          <a:p>
            <a:pPr algn="ctr"/>
            <a:r>
              <a:rPr lang="en-US" dirty="0"/>
              <a:t>x</a:t>
            </a:r>
          </a:p>
        </p:txBody>
      </p:sp>
      <p:sp>
        <p:nvSpPr>
          <p:cNvPr id="8" name="TextBox 7"/>
          <p:cNvSpPr txBox="1"/>
          <p:nvPr/>
        </p:nvSpPr>
        <p:spPr>
          <a:xfrm>
            <a:off x="722057" y="3330306"/>
            <a:ext cx="374754" cy="369332"/>
          </a:xfrm>
          <a:prstGeom prst="rect">
            <a:avLst/>
          </a:prstGeom>
          <a:noFill/>
        </p:spPr>
        <p:txBody>
          <a:bodyPr wrap="square" rtlCol="0">
            <a:spAutoFit/>
          </a:bodyPr>
          <a:lstStyle/>
          <a:p>
            <a:pPr algn="ctr"/>
            <a:r>
              <a:rPr lang="en-US" dirty="0"/>
              <a:t>x</a:t>
            </a:r>
          </a:p>
        </p:txBody>
      </p:sp>
    </p:spTree>
    <p:extLst>
      <p:ext uri="{BB962C8B-B14F-4D97-AF65-F5344CB8AC3E}">
        <p14:creationId xmlns:p14="http://schemas.microsoft.com/office/powerpoint/2010/main" val="473209916"/>
      </p:ext>
    </p:extLst>
  </p:cSld>
  <p:clrMapOvr>
    <a:masterClrMapping/>
  </p:clrMapOvr>
</p:sld>
</file>

<file path=ppt/theme/theme1.xml><?xml version="1.0" encoding="utf-8"?>
<a:theme xmlns:a="http://schemas.openxmlformats.org/drawingml/2006/main" name="A4">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4" id="{5D1E2C3C-E28F-A04D-A3BF-B9774A855780}" vid="{4F857BDB-CED6-704E-A61F-568D547E0E2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Default Theme</Template>
  <TotalTime>630</TotalTime>
  <Words>325</Words>
  <Application>Microsoft Macintosh PowerPoint</Application>
  <PresentationFormat>A4 Paper (210x297 mm)</PresentationFormat>
  <Paragraphs>89</Paragraphs>
  <Slides>14</Slides>
  <Notes>8</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Calibri Light</vt:lpstr>
      <vt:lpstr>A4</vt:lpstr>
      <vt:lpstr>Statistics</vt:lpstr>
      <vt:lpstr>Different ways of representing data</vt:lpstr>
      <vt:lpstr>Box plot</vt:lpstr>
      <vt:lpstr>PowerPoint Presentation</vt:lpstr>
      <vt:lpstr>PowerPoint Presentation</vt:lpstr>
      <vt:lpstr>Example</vt:lpstr>
      <vt:lpstr>Draw the box plot for the following data</vt:lpstr>
      <vt:lpstr>PowerPoint Presentation</vt:lpstr>
      <vt:lpstr>PowerPoint Presentation</vt:lpstr>
      <vt:lpstr>PowerPoint Presentation</vt:lpstr>
      <vt:lpstr>OUTLIERS</vt:lpstr>
      <vt:lpstr>Example</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Statistics</dc:title>
  <dc:creator>LOH Michael [Shenton College]</dc:creator>
  <cp:lastModifiedBy>LOH Michael [Shenton College]</cp:lastModifiedBy>
  <cp:revision>12</cp:revision>
  <cp:lastPrinted>2018-08-02T02:45:02Z</cp:lastPrinted>
  <dcterms:created xsi:type="dcterms:W3CDTF">2017-07-30T06:34:15Z</dcterms:created>
  <dcterms:modified xsi:type="dcterms:W3CDTF">2019-08-25T02:42:20Z</dcterms:modified>
</cp:coreProperties>
</file>
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2" r:id="rId6"/>
    <p:sldId id="261" r:id="rId7"/>
    <p:sldId id="269" r:id="rId8"/>
    <p:sldId id="270" r:id="rId9"/>
    <p:sldId id="264" r:id="rId10"/>
    <p:sldId id="263" r:id="rId11"/>
    <p:sldId id="271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86926"/>
  </p:normalViewPr>
  <p:slideViewPr>
    <p:cSldViewPr snapToGrid="0" snapToObjects="1">
      <p:cViewPr varScale="1">
        <p:scale>
          <a:sx n="83" d="100"/>
          <a:sy n="83" d="100"/>
        </p:scale>
        <p:origin x="17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77F23-7E3F-AA4F-85C7-880FF0DF38B2}" type="datetimeFigureOut">
              <a:rPr lang="en-US" smtClean="0"/>
              <a:t>2/2/19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C9E62-C7F0-724E-989F-CABCDB350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0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reiwa.com.au</a:t>
            </a:r>
            <a:r>
              <a:rPr lang="en-US" dirty="0"/>
              <a:t>/</a:t>
            </a:r>
            <a:r>
              <a:rPr lang="en-US" dirty="0" err="1"/>
              <a:t>uploadedImages</a:t>
            </a:r>
            <a:r>
              <a:rPr lang="en-US" dirty="0"/>
              <a:t>/Public/Content/</a:t>
            </a:r>
            <a:r>
              <a:rPr lang="en-US" dirty="0" err="1"/>
              <a:t>About_Us</a:t>
            </a:r>
            <a:r>
              <a:rPr lang="en-US" dirty="0"/>
              <a:t>/News/photo-hand-holding-</a:t>
            </a:r>
            <a:r>
              <a:rPr lang="en-US" dirty="0" err="1"/>
              <a:t>australian</a:t>
            </a:r>
            <a:r>
              <a:rPr lang="en-US" dirty="0"/>
              <a:t>-</a:t>
            </a:r>
            <a:r>
              <a:rPr lang="en-US" dirty="0" err="1"/>
              <a:t>money.jpg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www.google.com.au</a:t>
            </a:r>
            <a:r>
              <a:rPr lang="en-US" dirty="0"/>
              <a:t>/</a:t>
            </a:r>
            <a:r>
              <a:rPr lang="en-US" dirty="0" err="1"/>
              <a:t>imgres?imgurl</a:t>
            </a:r>
            <a:r>
              <a:rPr lang="en-US" dirty="0"/>
              <a:t>=http%3A%2F%2Fpreviews.123rf.com%2Fimages%2Fkritchanut%2Fkritchanut1509%2Fkritchanut150900083%2F44894786-Hands-holding-money-Australian-dollar-AUD-banknotes-isolated-on-white-background-Stock-Photo.jpg&amp;imgrefurl=http%3A%2F%2Fwww.123rf.com%2Fphoto_44894786_hands-holding-money-australian-dollar-aud-banknotes-isolated-on-white-background.html&amp;docid=ifphiShd4KghhM&amp;tbnid=UhebnYvSMjZxbM%3A&amp;vet=1&amp;w=1300&amp;h=866&amp;bih=676&amp;biw=1424&amp;ved=0ahUKEwjL07CAiO_RAhXIfrwKHdUYAp4QxiAIAygB&amp;iact=</a:t>
            </a:r>
            <a:r>
              <a:rPr lang="en-US" dirty="0" err="1"/>
              <a:t>c&amp;ictx</a:t>
            </a:r>
            <a:r>
              <a:rPr lang="en-US" dirty="0"/>
              <a:t>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FC9E62-C7F0-724E-989F-CABCDB350F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35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ewealthfinance.com</a:t>
            </a:r>
            <a:r>
              <a:rPr lang="en-US" dirty="0"/>
              <a:t>/</a:t>
            </a:r>
            <a:r>
              <a:rPr lang="en-US" dirty="0" err="1"/>
              <a:t>ewealthfinancecom</a:t>
            </a:r>
            <a:r>
              <a:rPr lang="en-US" dirty="0"/>
              <a:t>/images/</a:t>
            </a:r>
            <a:r>
              <a:rPr lang="en-US" dirty="0" err="1"/>
              <a:t>australian_money.jpg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FC9E62-C7F0-724E-989F-CABCDB350F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29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Simple Interest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52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80" y="680038"/>
            <a:ext cx="3684862" cy="23951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085" y="3524377"/>
            <a:ext cx="4349804" cy="2894597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 rot="1836273">
            <a:off x="3968749" y="2950372"/>
            <a:ext cx="1090863" cy="638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70021" y="3269459"/>
            <a:ext cx="2534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Borrowed money or 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9094" y="2182108"/>
            <a:ext cx="2534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Repayment or final amount</a:t>
            </a:r>
          </a:p>
        </p:txBody>
      </p:sp>
    </p:spTree>
    <p:extLst>
      <p:ext uri="{BB962C8B-B14F-4D97-AF65-F5344CB8AC3E}">
        <p14:creationId xmlns:p14="http://schemas.microsoft.com/office/powerpoint/2010/main" val="54020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470" y="703420"/>
            <a:ext cx="2206101" cy="19756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90" y="673767"/>
            <a:ext cx="3085023" cy="20052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2635" y="3898219"/>
            <a:ext cx="3833026" cy="2550705"/>
          </a:xfrm>
          <a:prstGeom prst="rect">
            <a:avLst/>
          </a:prstGeom>
        </p:spPr>
      </p:pic>
      <p:sp>
        <p:nvSpPr>
          <p:cNvPr id="9" name="Cross 8"/>
          <p:cNvSpPr/>
          <p:nvPr/>
        </p:nvSpPr>
        <p:spPr>
          <a:xfrm>
            <a:off x="3994483" y="1187116"/>
            <a:ext cx="1518987" cy="1491916"/>
          </a:xfrm>
          <a:prstGeom prst="plus">
            <a:avLst>
              <a:gd name="adj" fmla="val 443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212506" y="4844709"/>
            <a:ext cx="1748590" cy="330997"/>
            <a:chOff x="338211" y="4604084"/>
            <a:chExt cx="1748590" cy="330997"/>
          </a:xfrm>
        </p:grpSpPr>
        <p:cxnSp>
          <p:nvCxnSpPr>
            <p:cNvPr id="11" name="Straight Connector 10"/>
            <p:cNvCxnSpPr/>
            <p:nvPr/>
          </p:nvCxnSpPr>
          <p:spPr>
            <a:xfrm flipV="1">
              <a:off x="338211" y="4604084"/>
              <a:ext cx="1748590" cy="213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338211" y="4932947"/>
              <a:ext cx="1748590" cy="213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898358" y="2983832"/>
            <a:ext cx="22138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Principal (Borrowed money or investment)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5761" y="3088570"/>
            <a:ext cx="2213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Interest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F7F4A-DD56-DA45-A0B9-C451E7F65757}"/>
              </a:ext>
            </a:extLst>
          </p:cNvPr>
          <p:cNvSpPr txBox="1"/>
          <p:nvPr/>
        </p:nvSpPr>
        <p:spPr>
          <a:xfrm>
            <a:off x="7109873" y="5808177"/>
            <a:ext cx="2534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Repayment or final amount</a:t>
            </a:r>
          </a:p>
        </p:txBody>
      </p:sp>
    </p:spTree>
    <p:extLst>
      <p:ext uri="{BB962C8B-B14F-4D97-AF65-F5344CB8AC3E}">
        <p14:creationId xmlns:p14="http://schemas.microsoft.com/office/powerpoint/2010/main" val="52147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243180"/>
            <a:ext cx="8543925" cy="1325563"/>
          </a:xfrm>
        </p:spPr>
        <p:txBody>
          <a:bodyPr/>
          <a:lstStyle/>
          <a:p>
            <a:r>
              <a:rPr lang="en-US" dirty="0"/>
              <a:t>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488741"/>
            <a:ext cx="8543925" cy="4430796"/>
          </a:xfrm>
        </p:spPr>
        <p:txBody>
          <a:bodyPr/>
          <a:lstStyle/>
          <a:p>
            <a:r>
              <a:rPr lang="en-US" dirty="0"/>
              <a:t>Amount of money paid when one borrows money or invest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amount of </a:t>
            </a:r>
            <a:r>
              <a:rPr lang="en-US" dirty="0">
                <a:solidFill>
                  <a:srgbClr val="FF0000"/>
                </a:solidFill>
              </a:rPr>
              <a:t>interest (I)</a:t>
            </a:r>
            <a:r>
              <a:rPr lang="en-US" dirty="0"/>
              <a:t> paid is dependent on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principal (P)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the initial amount of money which is borrowed or invested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rate (R) </a:t>
            </a:r>
            <a:r>
              <a:rPr lang="en-US" dirty="0"/>
              <a:t>at which the interest is charged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time (T)</a:t>
            </a:r>
            <a:r>
              <a:rPr lang="en-US" dirty="0"/>
              <a:t> for which the money is borrow.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17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7" y="525548"/>
            <a:ext cx="8543925" cy="1944936"/>
          </a:xfrm>
        </p:spPr>
        <p:txBody>
          <a:bodyPr/>
          <a:lstStyle/>
          <a:p>
            <a:r>
              <a:rPr lang="en-US" dirty="0"/>
              <a:t>SIMPLE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9291" y="3304673"/>
            <a:ext cx="2784058" cy="2310063"/>
          </a:xfrm>
          <a:ln w="381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I = interest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P = principal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R = rate (%)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T = time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14400" y="3689684"/>
            <a:ext cx="2791326" cy="1187116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>
                <a:solidFill>
                  <a:srgbClr val="FF0000"/>
                </a:solidFill>
              </a:rPr>
              <a:t>I = PRT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61506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8" y="337787"/>
            <a:ext cx="8543925" cy="4351338"/>
          </a:xfrm>
        </p:spPr>
        <p:txBody>
          <a:bodyPr>
            <a:normAutofit/>
          </a:bodyPr>
          <a:lstStyle/>
          <a:p>
            <a:r>
              <a:rPr lang="en-US" dirty="0"/>
              <a:t>How much interest would I have to pay if I borrow $4,000 for 6 years at an simple interest rate of 6% per annum?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107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259DAC-B37F-414C-8E57-5EE9BC2C3F00}"/>
              </a:ext>
            </a:extLst>
          </p:cNvPr>
          <p:cNvSpPr txBox="1">
            <a:spLocks/>
          </p:cNvSpPr>
          <p:nvPr/>
        </p:nvSpPr>
        <p:spPr>
          <a:xfrm>
            <a:off x="495058" y="337787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Mark borrowed $3000 from his parents to buy a motorbike and he paid back a total of $3,600 after 5 years which includes simple interest on the loan.  How much was the interest rate?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953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68A49-EAC4-8242-BDF0-0F97C103B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69" y="461773"/>
            <a:ext cx="8772928" cy="5691053"/>
          </a:xfrm>
        </p:spPr>
        <p:txBody>
          <a:bodyPr/>
          <a:lstStyle/>
          <a:p>
            <a:r>
              <a:rPr lang="en-US" dirty="0"/>
              <a:t>The interest paid on a loan was $2,000.  Given that the interest rate is 5% and the money was borrowed over 10 years, what is the principal?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97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27" y="65380"/>
            <a:ext cx="8543925" cy="1325563"/>
          </a:xfrm>
        </p:spPr>
        <p:txBody>
          <a:bodyPr/>
          <a:lstStyle/>
          <a:p>
            <a:r>
              <a:rPr lang="en-US" dirty="0"/>
              <a:t>What if T is less than 1 year?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344361"/>
            <a:ext cx="8543925" cy="13827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Given that the interest rate is always given per annum (per year), if T is less than one year, we can calculate the interest based on the duration.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336884" y="2727157"/>
                <a:ext cx="7619999" cy="3769896"/>
              </a:xfrm>
              <a:prstGeom prst="rect">
                <a:avLst/>
              </a:prstGeom>
              <a:ln w="38100">
                <a:solidFill>
                  <a:srgbClr val="0070C0"/>
                </a:solidFill>
              </a:ln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685800" indent="-685800">
                  <a:buFont typeface="Arial" charset="0"/>
                  <a:buChar char="•"/>
                </a:pPr>
                <a:r>
                  <a:rPr lang="en-US" sz="2800" dirty="0"/>
                  <a:t>For</a:t>
                </a:r>
                <a:r>
                  <a:rPr lang="en-US" sz="2800" b="1" dirty="0"/>
                  <a:t> T in days days,    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𝑷𝑹𝑻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𝟑𝟔𝟓</m:t>
                        </m:r>
                      </m:den>
                    </m:f>
                  </m:oMath>
                </a14:m>
                <a:endParaRPr lang="en-AU" sz="2800" b="1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endParaRPr lang="en-AU" sz="2800" b="1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r>
                  <a:rPr lang="en-US" sz="2800" dirty="0"/>
                  <a:t>For</a:t>
                </a:r>
                <a:r>
                  <a:rPr lang="en-US" sz="2800" b="1" dirty="0"/>
                  <a:t> T in months,    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𝑷𝑹𝑻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𝟏𝟐</m:t>
                        </m:r>
                      </m:den>
                    </m:f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endParaRPr lang="en-US" sz="2800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r>
                  <a:rPr lang="en-US" sz="2800" dirty="0"/>
                  <a:t>For</a:t>
                </a:r>
                <a:r>
                  <a:rPr lang="en-US" sz="2800" b="1" dirty="0"/>
                  <a:t> T in quarters (3 months),    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𝑷𝑹𝑻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𝟒</m:t>
                        </m:r>
                      </m:den>
                    </m:f>
                  </m:oMath>
                </a14:m>
                <a:endParaRPr lang="en-AU" sz="2800" b="1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endParaRPr lang="en-US" sz="2800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r>
                  <a:rPr lang="en-US" sz="2800" dirty="0"/>
                  <a:t>For</a:t>
                </a:r>
                <a:r>
                  <a:rPr lang="en-US" sz="2800" b="1" dirty="0"/>
                  <a:t> T in half year (6 months),    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𝑷𝑹𝑻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4" y="2727157"/>
                <a:ext cx="7619999" cy="3769896"/>
              </a:xfrm>
              <a:prstGeom prst="rect">
                <a:avLst/>
              </a:prstGeom>
              <a:blipFill rotWithShape="0">
                <a:blip r:embed="rId2"/>
                <a:stretch>
                  <a:fillRect l="-1194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68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062" y="384283"/>
            <a:ext cx="8881416" cy="57685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How much interest is due after 75 days for an investment of $25 678 invested at 8% per annum?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7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061" y="384283"/>
            <a:ext cx="9237877" cy="57685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much is the interest rate per annum if I invested $88 000 in an account which yield an interest of $289 after 3 months?  (Give your answers to 2 decimal places)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449464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1239</TotalTime>
  <Words>478</Words>
  <Application>Microsoft Macintosh PowerPoint</Application>
  <PresentationFormat>A4 Paper (210x297 mm)</PresentationFormat>
  <Paragraphs>43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A4 Presentation</vt:lpstr>
      <vt:lpstr>Simple Interest</vt:lpstr>
      <vt:lpstr>PowerPoint Presentation</vt:lpstr>
      <vt:lpstr>PowerPoint Presentation</vt:lpstr>
      <vt:lpstr>Interest</vt:lpstr>
      <vt:lpstr>SIMPLE Interest</vt:lpstr>
      <vt:lpstr>PowerPoint Presentation</vt:lpstr>
      <vt:lpstr>PowerPoint Presentation</vt:lpstr>
      <vt:lpstr>PowerPoint Presentation</vt:lpstr>
      <vt:lpstr>What if T is less than 1 year?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Michael Loh</dc:creator>
  <cp:lastModifiedBy>LOH Michael [Shenton College]</cp:lastModifiedBy>
  <cp:revision>29</cp:revision>
  <cp:lastPrinted>2017-02-13T14:27:17Z</cp:lastPrinted>
  <dcterms:created xsi:type="dcterms:W3CDTF">2017-02-01T02:45:54Z</dcterms:created>
  <dcterms:modified xsi:type="dcterms:W3CDTF">2019-02-02T15:16:47Z</dcterms:modified>
</cp:coreProperties>
</file>
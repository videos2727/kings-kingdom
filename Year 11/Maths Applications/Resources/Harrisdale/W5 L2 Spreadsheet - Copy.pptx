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3" r:id="rId4"/>
    <p:sldId id="260" r:id="rId5"/>
    <p:sldId id="261" r:id="rId6"/>
    <p:sldId id="262" r:id="rId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37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D0BC5-3CED-674B-9F7E-D559A0FDF0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Spreadsheet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3D924-BB1E-414E-BC6F-6AB42F70C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4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CFCB-2ED1-C74D-BD2E-41D25AB3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Spreadsheet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286AD-64EB-CA48-863E-FFF5B0F4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804"/>
            <a:ext cx="9906000" cy="55683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D4FE3E-15F1-D54E-BAA6-0B6B4443558C}"/>
              </a:ext>
            </a:extLst>
          </p:cNvPr>
          <p:cNvSpPr txBox="1"/>
          <p:nvPr/>
        </p:nvSpPr>
        <p:spPr>
          <a:xfrm>
            <a:off x="1003767" y="1143000"/>
            <a:ext cx="1228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A1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7AEA2-26C9-DA4A-A5FD-E88006A74D62}"/>
              </a:ext>
            </a:extLst>
          </p:cNvPr>
          <p:cNvSpPr txBox="1"/>
          <p:nvPr/>
        </p:nvSpPr>
        <p:spPr>
          <a:xfrm>
            <a:off x="3854684" y="2293784"/>
            <a:ext cx="1228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C4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E75CD-672B-5E42-AA1C-B9B34467A319}"/>
              </a:ext>
            </a:extLst>
          </p:cNvPr>
          <p:cNvSpPr txBox="1"/>
          <p:nvPr/>
        </p:nvSpPr>
        <p:spPr>
          <a:xfrm>
            <a:off x="5661212" y="1543110"/>
            <a:ext cx="3052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Cell reference</a:t>
            </a:r>
            <a:endParaRPr lang="en-US" sz="32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B6A443-42D0-EA46-81B1-10E517194F18}"/>
              </a:ext>
            </a:extLst>
          </p:cNvPr>
          <p:cNvCxnSpPr/>
          <p:nvPr/>
        </p:nvCxnSpPr>
        <p:spPr>
          <a:xfrm flipH="1" flipV="1">
            <a:off x="1617989" y="1343055"/>
            <a:ext cx="3922199" cy="492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1D036C-5D57-0C49-8CEA-175CE59F7A18}"/>
              </a:ext>
            </a:extLst>
          </p:cNvPr>
          <p:cNvCxnSpPr>
            <a:cxnSpLocks/>
          </p:cNvCxnSpPr>
          <p:nvPr/>
        </p:nvCxnSpPr>
        <p:spPr>
          <a:xfrm flipH="1">
            <a:off x="4376946" y="1835497"/>
            <a:ext cx="1127383" cy="658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09B0E7-D018-8049-A290-2BFD32E91550}"/>
              </a:ext>
            </a:extLst>
          </p:cNvPr>
          <p:cNvSpPr txBox="1"/>
          <p:nvPr/>
        </p:nvSpPr>
        <p:spPr>
          <a:xfrm>
            <a:off x="2164697" y="220320"/>
            <a:ext cx="1990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Column</a:t>
            </a:r>
            <a:endParaRPr lang="en-US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9BA572-6B4E-CD46-82B4-F26F7BA7B050}"/>
              </a:ext>
            </a:extLst>
          </p:cNvPr>
          <p:cNvSpPr txBox="1"/>
          <p:nvPr/>
        </p:nvSpPr>
        <p:spPr>
          <a:xfrm>
            <a:off x="6889097" y="4554755"/>
            <a:ext cx="1990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Row</a:t>
            </a:r>
            <a:endParaRPr lang="en-US" sz="2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E0A493-EB77-4A4D-9321-A4A5CAE5168F}"/>
              </a:ext>
            </a:extLst>
          </p:cNvPr>
          <p:cNvSpPr/>
          <p:nvPr/>
        </p:nvSpPr>
        <p:spPr>
          <a:xfrm>
            <a:off x="2164697" y="220320"/>
            <a:ext cx="1414391" cy="5992875"/>
          </a:xfrm>
          <a:prstGeom prst="rect">
            <a:avLst/>
          </a:prstGeom>
          <a:solidFill>
            <a:srgbClr val="4472C4">
              <a:alpha val="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88F350-A31A-7A41-AF45-F74B9BF04BFC}"/>
              </a:ext>
            </a:extLst>
          </p:cNvPr>
          <p:cNvSpPr/>
          <p:nvPr/>
        </p:nvSpPr>
        <p:spPr>
          <a:xfrm>
            <a:off x="681038" y="4554755"/>
            <a:ext cx="9224962" cy="461665"/>
          </a:xfrm>
          <a:prstGeom prst="rect">
            <a:avLst/>
          </a:prstGeom>
          <a:solidFill>
            <a:srgbClr val="FF2600">
              <a:alpha val="1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0C991-DB2A-194B-A95D-C08A0E1FF116}"/>
              </a:ext>
            </a:extLst>
          </p:cNvPr>
          <p:cNvSpPr txBox="1"/>
          <p:nvPr/>
        </p:nvSpPr>
        <p:spPr>
          <a:xfrm>
            <a:off x="2404432" y="4614981"/>
            <a:ext cx="1228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B10</a:t>
            </a:r>
            <a:endParaRPr lang="en-US" sz="20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6EB4EC-6D31-3246-B0FF-718224579EB5}"/>
              </a:ext>
            </a:extLst>
          </p:cNvPr>
          <p:cNvCxnSpPr>
            <a:cxnSpLocks/>
          </p:cNvCxnSpPr>
          <p:nvPr/>
        </p:nvCxnSpPr>
        <p:spPr>
          <a:xfrm flipH="1">
            <a:off x="2962555" y="1835497"/>
            <a:ext cx="2541774" cy="295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44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1E2222-5D36-8F41-97F8-8E690682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31070" y="-1445540"/>
            <a:ext cx="6730001" cy="96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0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14764-91EC-154C-A591-B33ECE13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05" y="1622294"/>
            <a:ext cx="7188200" cy="4267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6E1566-8447-BD4C-914D-C55E9EB2DC53}"/>
              </a:ext>
            </a:extLst>
          </p:cNvPr>
          <p:cNvSpPr/>
          <p:nvPr/>
        </p:nvSpPr>
        <p:spPr>
          <a:xfrm>
            <a:off x="2443642" y="622158"/>
            <a:ext cx="25768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/>
              <a:t>s = </a:t>
            </a:r>
            <a:r>
              <a:rPr lang="en-AU" sz="3600" dirty="0" err="1"/>
              <a:t>ut</a:t>
            </a:r>
            <a:r>
              <a:rPr lang="en-AU" sz="3600" dirty="0"/>
              <a:t> + ½ at</a:t>
            </a:r>
            <a:r>
              <a:rPr lang="en-AU" sz="3600" baseline="30000" dirty="0"/>
              <a:t>2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3173C-22A1-694C-820C-E16064DC373A}"/>
              </a:ext>
            </a:extLst>
          </p:cNvPr>
          <p:cNvSpPr txBox="1"/>
          <p:nvPr/>
        </p:nvSpPr>
        <p:spPr>
          <a:xfrm>
            <a:off x="5989599" y="3878866"/>
            <a:ext cx="337521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= A2*C2+0.5*B2*(C2)^2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B6604B-D6E6-434D-AC79-5F84B099F72C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466491" y="2956638"/>
            <a:ext cx="210714" cy="92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17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09DC38-FCD4-9B4A-9941-8A5637BE0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09" y="1486487"/>
            <a:ext cx="7709698" cy="4120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67C361-208F-984F-A47E-47D89A9651EA}"/>
              </a:ext>
            </a:extLst>
          </p:cNvPr>
          <p:cNvSpPr txBox="1"/>
          <p:nvPr/>
        </p:nvSpPr>
        <p:spPr>
          <a:xfrm>
            <a:off x="5720658" y="876905"/>
            <a:ext cx="337521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= A2</a:t>
            </a:r>
            <a:r>
              <a:rPr lang="en-AU" sz="2400">
                <a:solidFill>
                  <a:srgbClr val="FF0000"/>
                </a:solidFill>
              </a:rPr>
              <a:t>*C2+0.5*B2</a:t>
            </a:r>
            <a:r>
              <a:rPr lang="en-AU" sz="2400" dirty="0">
                <a:solidFill>
                  <a:srgbClr val="FF0000"/>
                </a:solidFill>
              </a:rPr>
              <a:t>*(C2)^2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7737F3-B66D-AF49-9D27-F91D5CCD688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408264" y="1338570"/>
            <a:ext cx="431371" cy="12701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42206E-E8F1-1B4C-A078-91732BC40726}"/>
              </a:ext>
            </a:extLst>
          </p:cNvPr>
          <p:cNvSpPr txBox="1"/>
          <p:nvPr/>
        </p:nvSpPr>
        <p:spPr>
          <a:xfrm>
            <a:off x="5123595" y="5838255"/>
            <a:ext cx="3375212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50"/>
                </a:solidFill>
              </a:rPr>
              <a:t>= A3*C3+0.5*B3*(C3)^2</a:t>
            </a:r>
            <a:endParaRPr lang="en-US" sz="2400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75500A-718D-9B46-8A38-BF84A4AA3A92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811201" y="3070395"/>
            <a:ext cx="1028434" cy="27678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976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9E34-7005-6545-819E-B923C334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Useful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3F31A-50CD-5B4B-9996-EE9EFDA2B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Cell reference</a:t>
            </a:r>
          </a:p>
          <a:p>
            <a:pPr lvl="1"/>
            <a:r>
              <a:rPr lang="en-AU" dirty="0"/>
              <a:t>$ in front of the column (or row) means that the position of the column (or row) dost not change</a:t>
            </a:r>
          </a:p>
          <a:p>
            <a:pPr lvl="2"/>
            <a:r>
              <a:rPr lang="en-AU" dirty="0"/>
              <a:t>$B$5 – you will always refer to the cell B5</a:t>
            </a:r>
          </a:p>
          <a:p>
            <a:pPr lvl="2"/>
            <a:r>
              <a:rPr lang="en-AU" dirty="0"/>
              <a:t>$B5 – the row can change but the column does not change, always B</a:t>
            </a:r>
          </a:p>
          <a:p>
            <a:pPr lvl="2"/>
            <a:r>
              <a:rPr lang="en-AU" dirty="0"/>
              <a:t>B$5 – the column can change but the row does not change, always 5</a:t>
            </a:r>
          </a:p>
          <a:p>
            <a:r>
              <a:rPr lang="en-AU" dirty="0"/>
              <a:t>Addition (+), subtraction (-), multiplication (*), division (/), power (^)</a:t>
            </a:r>
          </a:p>
          <a:p>
            <a:r>
              <a:rPr lang="en-AU" dirty="0"/>
              <a:t>=sum(A2:A8) means =A2+A3+A4+A5+A6+A7+A8</a:t>
            </a:r>
          </a:p>
          <a:p>
            <a:r>
              <a:rPr lang="en-AU" dirty="0"/>
              <a:t>Other functions – explore on your 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84575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51</TotalTime>
  <Words>158</Words>
  <Application>Microsoft Macintosh PowerPoint</Application>
  <PresentationFormat>A4 Paper (210x297 mm)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A4</vt:lpstr>
      <vt:lpstr>Spreadsheet</vt:lpstr>
      <vt:lpstr>Spreadsheet</vt:lpstr>
      <vt:lpstr>PowerPoint Presentation</vt:lpstr>
      <vt:lpstr>PowerPoint Presentation</vt:lpstr>
      <vt:lpstr>PowerPoint Presentation</vt:lpstr>
      <vt:lpstr>Useful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Formula</dc:title>
  <dc:creator>LOH Michael [Shenton College]</dc:creator>
  <cp:lastModifiedBy>LOH Michael [Shenton College]</cp:lastModifiedBy>
  <cp:revision>8</cp:revision>
  <dcterms:created xsi:type="dcterms:W3CDTF">2018-02-08T00:07:30Z</dcterms:created>
  <dcterms:modified xsi:type="dcterms:W3CDTF">2019-03-04T13:02:09Z</dcterms:modified>
</cp:coreProperties>
</file>
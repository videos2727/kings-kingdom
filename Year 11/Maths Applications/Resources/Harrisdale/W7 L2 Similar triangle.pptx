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60" r:id="rId3"/>
    <p:sldId id="266" r:id="rId4"/>
    <p:sldId id="275" r:id="rId5"/>
    <p:sldId id="276" r:id="rId6"/>
    <p:sldId id="277" r:id="rId7"/>
    <p:sldId id="270" r:id="rId8"/>
    <p:sldId id="271" r:id="rId9"/>
    <p:sldId id="272" r:id="rId10"/>
    <p:sldId id="273" r:id="rId11"/>
    <p:sldId id="274" r:id="rId12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922"/>
    <p:restoredTop sz="90789"/>
  </p:normalViewPr>
  <p:slideViewPr>
    <p:cSldViewPr snapToGrid="0" snapToObjects="1">
      <p:cViewPr varScale="1">
        <p:scale>
          <a:sx n="88" d="100"/>
          <a:sy n="88" d="100"/>
        </p:scale>
        <p:origin x="1048" y="17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330C50-DFDB-FC49-8DD0-8B806F2F7779}" type="datetimeFigureOut">
              <a:rPr lang="en-US" smtClean="0"/>
              <a:t>6/11/19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251CA1-19B0-6E45-A9A8-231EA3D53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347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www.mathsisfun.com</a:t>
            </a:r>
            <a:r>
              <a:rPr lang="en-US" dirty="0"/>
              <a:t>/geometry/triangles-similar-</a:t>
            </a:r>
            <a:r>
              <a:rPr lang="en-US" dirty="0" err="1"/>
              <a:t>finding.html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95317D-73DB-8E4C-AC7B-D447ADDD033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338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www.mathsisfun.com</a:t>
            </a:r>
            <a:r>
              <a:rPr lang="en-US" dirty="0"/>
              <a:t>/geometry/triangles-similar-</a:t>
            </a:r>
            <a:r>
              <a:rPr lang="en-US" dirty="0" err="1"/>
              <a:t>finding.html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95317D-73DB-8E4C-AC7B-D447ADDD033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890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www.mathsisfun.com</a:t>
            </a:r>
            <a:r>
              <a:rPr lang="en-US" dirty="0"/>
              <a:t>/geometry/triangles-similar-</a:t>
            </a:r>
            <a:r>
              <a:rPr lang="en-US" dirty="0" err="1"/>
              <a:t>finding.html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95317D-73DB-8E4C-AC7B-D447ADDD033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04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6/11/19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6/11/19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6/11/19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6/11/19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6/11/19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6/11/19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6/11/19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6/11/19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6/11/19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6/11/19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6/11/19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37F27-3561-F447-A297-B1BA2E47B84D}" type="datetimeFigureOut">
              <a:rPr lang="en-US" smtClean="0"/>
              <a:t>6/11/19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6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tiff"/><Relationship Id="rId3" Type="http://schemas.openxmlformats.org/officeDocument/2006/relationships/image" Target="../media/image1.tiff"/><Relationship Id="rId7" Type="http://schemas.openxmlformats.org/officeDocument/2006/relationships/image" Target="../media/image5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tiff"/><Relationship Id="rId5" Type="http://schemas.openxmlformats.org/officeDocument/2006/relationships/image" Target="../media/image3.tiff"/><Relationship Id="rId4" Type="http://schemas.openxmlformats.org/officeDocument/2006/relationships/image" Target="../media/image2.tiff"/><Relationship Id="rId9" Type="http://schemas.openxmlformats.org/officeDocument/2006/relationships/image" Target="../media/image7.tif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Similarity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3 </a:t>
            </a:r>
            <a:r>
              <a:rPr lang="mr-IN" dirty="0"/>
              <a:t>–</a:t>
            </a:r>
            <a:r>
              <a:rPr lang="en-US" dirty="0"/>
              <a:t> Similar Triangles</a:t>
            </a:r>
          </a:p>
        </p:txBody>
      </p:sp>
    </p:spTree>
    <p:extLst>
      <p:ext uri="{BB962C8B-B14F-4D97-AF65-F5344CB8AC3E}">
        <p14:creationId xmlns:p14="http://schemas.microsoft.com/office/powerpoint/2010/main" val="584226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Similar Triangles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2308856"/>
            <a:ext cx="3791266" cy="13982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1867548"/>
            <a:ext cx="192500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1. AAA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1043" y="1687609"/>
            <a:ext cx="192500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2. SSS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970081"/>
            <a:ext cx="192500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3. SAS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3970081"/>
            <a:ext cx="468631" cy="47513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/>
          </a:p>
        </p:txBody>
      </p:sp>
      <p:sp>
        <p:nvSpPr>
          <p:cNvPr id="11" name="Oval 10"/>
          <p:cNvSpPr/>
          <p:nvPr/>
        </p:nvSpPr>
        <p:spPr>
          <a:xfrm>
            <a:off x="2171699" y="4883467"/>
            <a:ext cx="164783" cy="34209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/>
          </a:p>
        </p:txBody>
      </p:sp>
      <p:sp>
        <p:nvSpPr>
          <p:cNvPr id="13" name="Oval 12"/>
          <p:cNvSpPr/>
          <p:nvPr/>
        </p:nvSpPr>
        <p:spPr>
          <a:xfrm>
            <a:off x="3129913" y="4915852"/>
            <a:ext cx="164783" cy="34209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7810" y="4354123"/>
            <a:ext cx="3541396" cy="186513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783581" y="2075997"/>
            <a:ext cx="3095625" cy="156845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0412" y="2091873"/>
            <a:ext cx="1107274" cy="38513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04787" y="4440627"/>
            <a:ext cx="3434568" cy="171728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76240" y="4531744"/>
            <a:ext cx="792640" cy="73602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31043" y="3895590"/>
            <a:ext cx="192500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4. RHS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110807" y="4543845"/>
            <a:ext cx="1140793" cy="55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182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" y="2126258"/>
            <a:ext cx="9042083" cy="63123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If triangle ABC is similar to triangle DEF, we can then write </a:t>
            </a:r>
            <a:r>
              <a:rPr lang="en-US"/>
              <a:t>the following: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139038" y="2867124"/>
                <a:ext cx="3241272" cy="600164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3900" i="1">
                        <a:solidFill>
                          <a:srgbClr val="0070C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US" sz="3900" i="1">
                        <a:solidFill>
                          <a:srgbClr val="0070C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∆</m:t>
                    </m:r>
                  </m:oMath>
                </a14:m>
                <a:r>
                  <a:rPr lang="en-US" sz="3900" dirty="0">
                    <a:solidFill>
                      <a:srgbClr val="0070C0"/>
                    </a:solidFill>
                  </a:rPr>
                  <a:t> ABC </a:t>
                </a:r>
                <a14:m>
                  <m:oMath xmlns:m="http://schemas.openxmlformats.org/officeDocument/2006/math">
                    <m:r>
                      <a:rPr lang="en-US" sz="3900" i="1">
                        <a:solidFill>
                          <a:srgbClr val="0070C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~</m:t>
                    </m:r>
                  </m:oMath>
                </a14:m>
                <a:r>
                  <a:rPr lang="en-US" sz="39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900" i="1">
                        <a:solidFill>
                          <a:srgbClr val="0070C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∆</m:t>
                    </m:r>
                  </m:oMath>
                </a14:m>
                <a:r>
                  <a:rPr lang="en-US" sz="3900" dirty="0">
                    <a:solidFill>
                      <a:srgbClr val="0070C0"/>
                    </a:solidFill>
                  </a:rPr>
                  <a:t> DEF 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3432" y="2737460"/>
                <a:ext cx="3988271" cy="738664"/>
              </a:xfrm>
              <a:prstGeom prst="rect">
                <a:avLst/>
              </a:prstGeom>
              <a:blipFill rotWithShape="0">
                <a:blip r:embed="rId2"/>
                <a:stretch>
                  <a:fillRect t="-21429" r="-7739" b="-46032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3139038" y="4418341"/>
            <a:ext cx="3334246" cy="671979"/>
            <a:chOff x="3863432" y="4232996"/>
            <a:chExt cx="4103687" cy="8270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/>
                <p:cNvSpPr txBox="1"/>
                <p:nvPr/>
              </p:nvSpPr>
              <p:spPr>
                <a:xfrm>
                  <a:off x="3863432" y="4254426"/>
                  <a:ext cx="4103687" cy="73866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AU" sz="39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 </m:t>
                      </m:r>
                      <m:r>
                        <a:rPr lang="en-US" sz="39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∆</m:t>
                      </m:r>
                    </m:oMath>
                  </a14:m>
                  <a:r>
                    <a:rPr lang="en-US" sz="3900" dirty="0"/>
                    <a:t> ABC    </a:t>
                  </a:r>
                  <a14:m>
                    <m:oMath xmlns:m="http://schemas.openxmlformats.org/officeDocument/2006/math">
                      <m:r>
                        <a:rPr lang="en-AU" sz="3900">
                          <a:latin typeface="Cambria Math" charset="0"/>
                          <a:ea typeface="Cambria Math" charset="0"/>
                          <a:cs typeface="Cambria Math" charset="0"/>
                        </a:rPr>
                        <m:t>  </m:t>
                      </m:r>
                      <m:r>
                        <a:rPr lang="en-US" sz="39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∆</m:t>
                      </m:r>
                    </m:oMath>
                  </a14:m>
                  <a:r>
                    <a:rPr lang="en-US" sz="3900" dirty="0"/>
                    <a:t> DEF </a:t>
                  </a:r>
                </a:p>
              </p:txBody>
            </p:sp>
          </mc:Choice>
          <mc:Fallback xmlns="">
            <p:sp>
              <p:nvSpPr>
                <p:cNvPr id="5" name="Text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3432" y="4254426"/>
                  <a:ext cx="4100481" cy="738664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t="-24793" r="-8036" b="-495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/>
                <p:cNvSpPr/>
                <p:nvPr/>
              </p:nvSpPr>
              <p:spPr>
                <a:xfrm rot="5400000">
                  <a:off x="5500147" y="4220370"/>
                  <a:ext cx="827052" cy="85230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9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≡</m:t>
                        </m:r>
                      </m:oMath>
                    </m:oMathPara>
                  </a14:m>
                  <a:endParaRPr lang="en-US" sz="3900" dirty="0"/>
                </a:p>
              </p:txBody>
            </p:sp>
          </mc:Choice>
          <mc:Fallback xmlns="">
            <p:sp>
              <p:nvSpPr>
                <p:cNvPr id="8" name="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521578" y="4231022"/>
                  <a:ext cx="784189" cy="830997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TextBox 9"/>
          <p:cNvSpPr txBox="1"/>
          <p:nvPr/>
        </p:nvSpPr>
        <p:spPr>
          <a:xfrm>
            <a:off x="4449578" y="3893339"/>
            <a:ext cx="67518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1905081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440" y="4536440"/>
            <a:ext cx="7670800" cy="14605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680" y="1506220"/>
            <a:ext cx="6337300" cy="18034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39340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3640265"/>
            <a:ext cx="5532120" cy="236683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351"/>
          <a:stretch/>
        </p:blipFill>
        <p:spPr>
          <a:xfrm>
            <a:off x="1729740" y="901700"/>
            <a:ext cx="6027420" cy="202438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122305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27" b="10588"/>
          <a:stretch/>
        </p:blipFill>
        <p:spPr>
          <a:xfrm>
            <a:off x="1115060" y="1021080"/>
            <a:ext cx="7454900" cy="156972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037569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950" y="733862"/>
            <a:ext cx="8543925" cy="1077020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888" y="1478111"/>
            <a:ext cx="6823711" cy="31144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78407" y="4961750"/>
            <a:ext cx="4779644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50" b="1" dirty="0"/>
              <a:t>Given ∆ ABC ~ ∆ XYZ, find the length of AB.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0552" y="2871788"/>
            <a:ext cx="342899" cy="31745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463"/>
          </a:p>
        </p:txBody>
      </p:sp>
      <p:sp>
        <p:nvSpPr>
          <p:cNvPr id="8" name="TextBox 7"/>
          <p:cNvSpPr txBox="1"/>
          <p:nvPr/>
        </p:nvSpPr>
        <p:spPr>
          <a:xfrm>
            <a:off x="2135507" y="2555132"/>
            <a:ext cx="342899" cy="31745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463"/>
          </a:p>
        </p:txBody>
      </p:sp>
      <p:sp>
        <p:nvSpPr>
          <p:cNvPr id="9" name="TextBox 8"/>
          <p:cNvSpPr txBox="1"/>
          <p:nvPr/>
        </p:nvSpPr>
        <p:spPr>
          <a:xfrm>
            <a:off x="5905501" y="2804687"/>
            <a:ext cx="342899" cy="31745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463"/>
          </a:p>
        </p:txBody>
      </p:sp>
    </p:spTree>
    <p:extLst>
      <p:ext uri="{BB962C8B-B14F-4D97-AF65-F5344CB8AC3E}">
        <p14:creationId xmlns:p14="http://schemas.microsoft.com/office/powerpoint/2010/main" val="477621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37521"/>
          <a:stretch/>
        </p:blipFill>
        <p:spPr>
          <a:xfrm>
            <a:off x="247427" y="687381"/>
            <a:ext cx="4263392" cy="311449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62339"/>
          <a:stretch/>
        </p:blipFill>
        <p:spPr>
          <a:xfrm rot="8398448">
            <a:off x="5275897" y="1198966"/>
            <a:ext cx="2569844" cy="31144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46119" y="2025968"/>
            <a:ext cx="342899" cy="31745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463"/>
          </a:p>
        </p:txBody>
      </p:sp>
      <p:sp>
        <p:nvSpPr>
          <p:cNvPr id="9" name="TextBox 8"/>
          <p:cNvSpPr txBox="1"/>
          <p:nvPr/>
        </p:nvSpPr>
        <p:spPr>
          <a:xfrm rot="19861362">
            <a:off x="7063740" y="2074430"/>
            <a:ext cx="342899" cy="31745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463"/>
          </a:p>
        </p:txBody>
      </p:sp>
      <p:sp>
        <p:nvSpPr>
          <p:cNvPr id="10" name="TextBox 9"/>
          <p:cNvSpPr txBox="1"/>
          <p:nvPr/>
        </p:nvSpPr>
        <p:spPr>
          <a:xfrm>
            <a:off x="1005844" y="1728787"/>
            <a:ext cx="342899" cy="31745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463"/>
          </a:p>
        </p:txBody>
      </p:sp>
      <p:sp>
        <p:nvSpPr>
          <p:cNvPr id="11" name="TextBox 10"/>
          <p:cNvSpPr txBox="1"/>
          <p:nvPr/>
        </p:nvSpPr>
        <p:spPr>
          <a:xfrm>
            <a:off x="6092190" y="3077528"/>
            <a:ext cx="468628" cy="31745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63" b="1" dirty="0">
                <a:solidFill>
                  <a:srgbClr val="00B0F0"/>
                </a:solidFill>
                <a:latin typeface="Arial" charset="0"/>
                <a:ea typeface="Arial" charset="0"/>
                <a:cs typeface="Arial" charset="0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 rot="19350735">
            <a:off x="5524064" y="1788677"/>
            <a:ext cx="442392" cy="31745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63" b="1" dirty="0">
                <a:solidFill>
                  <a:srgbClr val="00B0F0"/>
                </a:solidFill>
                <a:latin typeface="Arial" charset="0"/>
                <a:ea typeface="Arial" charset="0"/>
                <a:cs typeface="Arial" charset="0"/>
              </a:rPr>
              <a:t>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47426" y="4163230"/>
                <a:ext cx="9010874" cy="1434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17909" indent="-417909">
                  <a:buFont typeface="+mj-lt"/>
                  <a:buAutoNum type="arabicPeriod"/>
                </a:pPr>
                <a:r>
                  <a:rPr lang="en-US" sz="2275" dirty="0"/>
                  <a:t>Find the scale factor using the matching sides: </a:t>
                </a:r>
                <a:r>
                  <a:rPr lang="en-US" sz="2275" dirty="0">
                    <a:solidFill>
                      <a:srgbClr val="FF0000"/>
                    </a:solidFill>
                  </a:rPr>
                  <a:t>Scale factor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sz="2275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275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𝐴𝐶</m:t>
                        </m:r>
                      </m:num>
                      <m:den>
                        <m:r>
                          <a:rPr lang="en-AU" sz="2275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𝑋𝑍</m:t>
                        </m:r>
                      </m:den>
                    </m:f>
                  </m:oMath>
                </a14:m>
                <a:r>
                  <a:rPr lang="en-US" sz="2275" dirty="0">
                    <a:solidFill>
                      <a:srgbClr val="FF0000"/>
                    </a:solidFill>
                  </a:rPr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sz="2275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275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21</m:t>
                        </m:r>
                      </m:num>
                      <m:den>
                        <m:r>
                          <a:rPr lang="en-AU" sz="2275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14</m:t>
                        </m:r>
                      </m:den>
                    </m:f>
                  </m:oMath>
                </a14:m>
                <a:r>
                  <a:rPr lang="en-US" sz="2275" dirty="0">
                    <a:solidFill>
                      <a:srgbClr val="FF0000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sz="2275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275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3</m:t>
                        </m:r>
                      </m:num>
                      <m:den>
                        <m:r>
                          <a:rPr lang="en-AU" sz="2275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275" dirty="0"/>
              </a:p>
              <a:p>
                <a:pPr marL="417909" indent="-417909">
                  <a:buFont typeface="+mj-lt"/>
                  <a:buAutoNum type="arabicPeriod"/>
                </a:pPr>
                <a:r>
                  <a:rPr lang="en-US" sz="2275" dirty="0"/>
                  <a:t>Find the length of AB by multiplying the scale factor to the matching side (in this case, XY): </a:t>
                </a:r>
                <a:r>
                  <a:rPr lang="en-US" sz="2275" dirty="0">
                    <a:solidFill>
                      <a:srgbClr val="FF0000"/>
                    </a:solidFill>
                  </a:rPr>
                  <a:t>AB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sz="2275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275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3</m:t>
                        </m:r>
                      </m:num>
                      <m:den>
                        <m:r>
                          <a:rPr lang="en-AU" sz="2275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275" dirty="0">
                    <a:solidFill>
                      <a:srgbClr val="FF0000"/>
                    </a:solidFill>
                  </a:rPr>
                  <a:t> x 10 = 15</a:t>
                </a:r>
                <a:endParaRPr lang="en-US" sz="2275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426" y="4163230"/>
                <a:ext cx="9010874" cy="1434880"/>
              </a:xfrm>
              <a:prstGeom prst="rect">
                <a:avLst/>
              </a:prstGeom>
              <a:blipFill rotWithShape="0">
                <a:blip r:embed="rId4"/>
                <a:stretch>
                  <a:fillRect l="-1015" b="-3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7341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323" y="136424"/>
            <a:ext cx="8543925" cy="674460"/>
          </a:xfrm>
        </p:spPr>
        <p:txBody>
          <a:bodyPr>
            <a:normAutofit/>
          </a:bodyPr>
          <a:lstStyle/>
          <a:p>
            <a:r>
              <a:rPr lang="en-US" sz="3200" dirty="0"/>
              <a:t>Example 4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691"/>
          <a:stretch/>
        </p:blipFill>
        <p:spPr>
          <a:xfrm>
            <a:off x="246323" y="810884"/>
            <a:ext cx="8370297" cy="3747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8E7EEC-8CB1-5A4E-9E56-8A25B614D3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66" t="12346" r="39224"/>
          <a:stretch/>
        </p:blipFill>
        <p:spPr>
          <a:xfrm>
            <a:off x="6250308" y="1185638"/>
            <a:ext cx="3463035" cy="300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061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5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569301" y="1552560"/>
            <a:ext cx="3718852" cy="1624308"/>
            <a:chOff x="4159876" y="4546244"/>
            <a:chExt cx="3938400" cy="1571222"/>
          </a:xfrm>
        </p:grpSpPr>
        <p:sp>
          <p:nvSpPr>
            <p:cNvPr id="3" name="Freeform 2"/>
            <p:cNvSpPr/>
            <p:nvPr/>
          </p:nvSpPr>
          <p:spPr>
            <a:xfrm>
              <a:off x="4159876" y="4546244"/>
              <a:ext cx="3938400" cy="1571222"/>
            </a:xfrm>
            <a:custGeom>
              <a:avLst/>
              <a:gdLst>
                <a:gd name="connsiteX0" fmla="*/ 3000777 w 3000777"/>
                <a:gd name="connsiteY0" fmla="*/ 0 h 1906073"/>
                <a:gd name="connsiteX1" fmla="*/ 2987898 w 3000777"/>
                <a:gd name="connsiteY1" fmla="*/ 1906073 h 1906073"/>
                <a:gd name="connsiteX2" fmla="*/ 0 w 3000777"/>
                <a:gd name="connsiteY2" fmla="*/ 1867437 h 1906073"/>
                <a:gd name="connsiteX3" fmla="*/ 3000777 w 3000777"/>
                <a:gd name="connsiteY3" fmla="*/ 0 h 1906073"/>
                <a:gd name="connsiteX0" fmla="*/ 3908155 w 3908155"/>
                <a:gd name="connsiteY0" fmla="*/ 0 h 1571222"/>
                <a:gd name="connsiteX1" fmla="*/ 2987898 w 3908155"/>
                <a:gd name="connsiteY1" fmla="*/ 1571222 h 1571222"/>
                <a:gd name="connsiteX2" fmla="*/ 0 w 3908155"/>
                <a:gd name="connsiteY2" fmla="*/ 1532586 h 1571222"/>
                <a:gd name="connsiteX3" fmla="*/ 3908155 w 3908155"/>
                <a:gd name="connsiteY3" fmla="*/ 0 h 1571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08155" h="1571222">
                  <a:moveTo>
                    <a:pt x="3908155" y="0"/>
                  </a:moveTo>
                  <a:lnTo>
                    <a:pt x="2987898" y="1571222"/>
                  </a:lnTo>
                  <a:lnTo>
                    <a:pt x="0" y="1532586"/>
                  </a:lnTo>
                  <a:lnTo>
                    <a:pt x="3908155" y="0"/>
                  </a:lnTo>
                  <a:close/>
                </a:path>
              </a:pathLst>
            </a:custGeom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63"/>
            </a:p>
          </p:txBody>
        </p:sp>
        <p:cxnSp>
          <p:nvCxnSpPr>
            <p:cNvPr id="6" name="Straight Connector 5"/>
            <p:cNvCxnSpPr/>
            <p:nvPr/>
          </p:nvCxnSpPr>
          <p:spPr>
            <a:xfrm flipH="1">
              <a:off x="5516058" y="5424014"/>
              <a:ext cx="362392" cy="651415"/>
            </a:xfrm>
            <a:prstGeom prst="line">
              <a:avLst/>
            </a:prstGeom>
            <a:ln w="381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/>
          <p:cNvSpPr txBox="1"/>
          <p:nvPr/>
        </p:nvSpPr>
        <p:spPr>
          <a:xfrm>
            <a:off x="313922" y="3133412"/>
            <a:ext cx="123510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31111" y="2103543"/>
            <a:ext cx="220266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22193" y="3182622"/>
            <a:ext cx="127690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2557" y="3168455"/>
            <a:ext cx="255379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398" y="3176869"/>
            <a:ext cx="725603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2 cm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4643" y="1246342"/>
            <a:ext cx="255379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7495" y="3160041"/>
            <a:ext cx="725603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8 cm</a:t>
            </a:r>
          </a:p>
        </p:txBody>
      </p:sp>
      <p:sp>
        <p:nvSpPr>
          <p:cNvPr id="19" name="TextBox 18"/>
          <p:cNvSpPr txBox="1"/>
          <p:nvPr/>
        </p:nvSpPr>
        <p:spPr>
          <a:xfrm rot="20250913">
            <a:off x="2560082" y="1818221"/>
            <a:ext cx="725603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12 cm</a:t>
            </a:r>
          </a:p>
        </p:txBody>
      </p:sp>
      <p:sp>
        <p:nvSpPr>
          <p:cNvPr id="25" name="TextBox 24"/>
          <p:cNvSpPr txBox="1"/>
          <p:nvPr/>
        </p:nvSpPr>
        <p:spPr>
          <a:xfrm rot="20250913">
            <a:off x="892006" y="2534960"/>
            <a:ext cx="725603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3 cm</a:t>
            </a:r>
          </a:p>
        </p:txBody>
      </p:sp>
      <p:sp>
        <p:nvSpPr>
          <p:cNvPr id="26" name="TextBox 25"/>
          <p:cNvSpPr txBox="1"/>
          <p:nvPr/>
        </p:nvSpPr>
        <p:spPr>
          <a:xfrm rot="17847107">
            <a:off x="3545170" y="2348563"/>
            <a:ext cx="794403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5 cm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3181" y="1478112"/>
            <a:ext cx="3034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 the length of BC given the BC is parallel to DE.</a:t>
            </a:r>
          </a:p>
        </p:txBody>
      </p:sp>
    </p:spTree>
    <p:extLst>
      <p:ext uri="{BB962C8B-B14F-4D97-AF65-F5344CB8AC3E}">
        <p14:creationId xmlns:p14="http://schemas.microsoft.com/office/powerpoint/2010/main" val="968914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6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71" y="1581906"/>
            <a:ext cx="9212898" cy="1029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12094"/>
      </p:ext>
    </p:extLst>
  </p:cSld>
  <p:clrMapOvr>
    <a:masterClrMapping/>
  </p:clrMapOvr>
</p:sld>
</file>

<file path=ppt/theme/theme1.xml><?xml version="1.0" encoding="utf-8"?>
<a:theme xmlns:a="http://schemas.openxmlformats.org/drawingml/2006/main" name="A4 Presentatio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 Presentation" id="{6EB52EA6-304B-CC44-AB4C-483953AB2727}" vid="{71B54E89-6D82-044A-9BF6-882F340DFA5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491</TotalTime>
  <Words>188</Words>
  <Application>Microsoft Macintosh PowerPoint</Application>
  <PresentationFormat>A4 Paper (210x297 mm)</PresentationFormat>
  <Paragraphs>40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A4 Presentation</vt:lpstr>
      <vt:lpstr>Similarity</vt:lpstr>
      <vt:lpstr>Similar Triangles</vt:lpstr>
      <vt:lpstr>NOTATION</vt:lpstr>
      <vt:lpstr>Examples</vt:lpstr>
      <vt:lpstr>PowerPoint Presentation</vt:lpstr>
      <vt:lpstr>PowerPoint Presentation</vt:lpstr>
      <vt:lpstr>Example</vt:lpstr>
      <vt:lpstr>PowerPoint Presentation</vt:lpstr>
      <vt:lpstr>Example 4</vt:lpstr>
      <vt:lpstr>Example 5</vt:lpstr>
      <vt:lpstr>Example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Loh</dc:creator>
  <cp:lastModifiedBy>LOH Michael [Shenton College]</cp:lastModifiedBy>
  <cp:revision>19</cp:revision>
  <dcterms:created xsi:type="dcterms:W3CDTF">2017-06-11T08:28:12Z</dcterms:created>
  <dcterms:modified xsi:type="dcterms:W3CDTF">2019-06-11T00:20:02Z</dcterms:modified>
</cp:coreProperties>
</file>
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  <p:sldId id="263" r:id="rId9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8"/>
  </p:normalViewPr>
  <p:slideViewPr>
    <p:cSldViewPr snapToGrid="0" snapToObjects="1">
      <p:cViewPr varScale="1">
        <p:scale>
          <a:sx n="111" d="100"/>
          <a:sy n="111" d="100"/>
        </p:scale>
        <p:origin x="13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Sine </a:t>
            </a:r>
            <a:r>
              <a:rPr lang="en-US" dirty="0"/>
              <a:t>and Cosine Rules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517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angle 3"/>
          <p:cNvSpPr/>
          <p:nvPr/>
        </p:nvSpPr>
        <p:spPr>
          <a:xfrm>
            <a:off x="1766887" y="855992"/>
            <a:ext cx="5929312" cy="2639770"/>
          </a:xfrm>
          <a:prstGeom prst="triangle">
            <a:avLst>
              <a:gd name="adj" fmla="val 15343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696199" y="3215854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793" y="1174590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8773" y="1590088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2006" y="3101089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1939" y="98969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8611" y="3355808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984272" y="4585975"/>
                <a:ext cx="7451678" cy="1348895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Sine rule: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mr-IN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charset="0"/>
                          </a:rPr>
                          <m:t>𝑎</m:t>
                        </m:r>
                      </m:num>
                      <m:den>
                        <m:func>
                          <m:funcPr>
                            <m:ctrlPr>
                              <a:rPr lang="en-AU" sz="4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AU" sz="4000" b="0" i="0" smtClean="0">
                                <a:latin typeface="Cambria Math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AU" sz="4000" b="0" i="1" smtClean="0">
                                <a:latin typeface="Cambria Math" charset="0"/>
                              </a:rPr>
                              <m:t>𝐴</m:t>
                            </m:r>
                            <m:r>
                              <a:rPr lang="en-AU" sz="4000" b="0" i="1" smtClean="0">
                                <a:latin typeface="Cambria Math" charset="0"/>
                              </a:rPr>
                              <m:t> </m:t>
                            </m:r>
                          </m:e>
                        </m:func>
                      </m:den>
                    </m:f>
                    <m:r>
                      <a:rPr lang="en-AU" sz="4000" b="0" i="1" smtClean="0">
                        <a:latin typeface="Cambria Math" charset="0"/>
                      </a:rPr>
                      <m:t>= </m:t>
                    </m:r>
                    <m:f>
                      <m:fPr>
                        <m:ctrlPr>
                          <a:rPr lang="mr-IN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charset="0"/>
                          </a:rPr>
                          <m:t>𝑏</m:t>
                        </m:r>
                      </m:num>
                      <m:den>
                        <m:func>
                          <m:funcPr>
                            <m:ctrlPr>
                              <a:rPr lang="en-AU" sz="4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AU" sz="4000" b="0" i="0" smtClean="0">
                                <a:latin typeface="Cambria Math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AU" sz="4000" b="0" i="1" smtClean="0">
                                <a:latin typeface="Cambria Math" charset="0"/>
                              </a:rPr>
                              <m:t>𝐵</m:t>
                            </m:r>
                          </m:e>
                        </m:func>
                      </m:den>
                    </m:f>
                    <m:r>
                      <a:rPr lang="en-AU" sz="4000" b="0" i="1" smtClean="0">
                        <a:latin typeface="Cambria Math" charset="0"/>
                      </a:rPr>
                      <m:t>= </m:t>
                    </m:r>
                    <m:f>
                      <m:fPr>
                        <m:ctrlPr>
                          <a:rPr lang="mr-IN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charset="0"/>
                          </a:rPr>
                          <m:t>𝑐</m:t>
                        </m:r>
                      </m:num>
                      <m:den>
                        <m:func>
                          <m:funcPr>
                            <m:ctrlPr>
                              <a:rPr lang="en-AU" sz="4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AU" sz="4000" b="0" i="0" smtClean="0">
                                <a:latin typeface="Cambria Math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AU" sz="4000" b="0" i="1" smtClean="0">
                                <a:latin typeface="Cambria Math" charset="0"/>
                              </a:rPr>
                              <m:t>𝐶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2400" dirty="0"/>
                  <a:t>  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272" y="4585975"/>
                <a:ext cx="7451678" cy="1348895"/>
              </a:xfrm>
              <a:prstGeom prst="rect">
                <a:avLst/>
              </a:prstGeom>
              <a:blipFill rotWithShape="0">
                <a:blip r:embed="rId2"/>
                <a:stretch>
                  <a:fillRect l="-1143" t="-3125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1096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748" y="1353345"/>
            <a:ext cx="2165783" cy="20773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143" y="1040963"/>
            <a:ext cx="3793331" cy="18429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974" y="3274847"/>
            <a:ext cx="3906446" cy="322508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145" y="3165185"/>
            <a:ext cx="3840480" cy="357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49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95" y="558018"/>
            <a:ext cx="7496047" cy="10175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540" y="1805549"/>
            <a:ext cx="4442359" cy="168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923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angle 3"/>
          <p:cNvSpPr/>
          <p:nvPr/>
        </p:nvSpPr>
        <p:spPr>
          <a:xfrm>
            <a:off x="1977902" y="602773"/>
            <a:ext cx="5929312" cy="2639770"/>
          </a:xfrm>
          <a:prstGeom prst="triangle">
            <a:avLst>
              <a:gd name="adj" fmla="val 15343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907214" y="2962635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56808" y="921371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39788" y="1336869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3021" y="2847870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2954" y="-154250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9626" y="3102589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4272" y="4585975"/>
            <a:ext cx="7451678" cy="156966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Cosine rule:</a:t>
            </a:r>
          </a:p>
          <a:p>
            <a:pPr algn="ctr"/>
            <a:r>
              <a:rPr lang="en-US" sz="2400" dirty="0"/>
              <a:t>c</a:t>
            </a:r>
            <a:r>
              <a:rPr lang="en-US" sz="2400" baseline="30000" dirty="0"/>
              <a:t>2</a:t>
            </a:r>
            <a:r>
              <a:rPr lang="en-US" sz="2400" dirty="0"/>
              <a:t> = a</a:t>
            </a:r>
            <a:r>
              <a:rPr lang="en-US" sz="2400" baseline="30000" dirty="0"/>
              <a:t>2</a:t>
            </a:r>
            <a:r>
              <a:rPr lang="en-US" sz="2400" dirty="0"/>
              <a:t> + b</a:t>
            </a:r>
            <a:r>
              <a:rPr lang="en-US" sz="2400" baseline="30000" dirty="0"/>
              <a:t>2</a:t>
            </a:r>
            <a:r>
              <a:rPr lang="en-US" sz="2400" dirty="0"/>
              <a:t> </a:t>
            </a:r>
            <a:r>
              <a:rPr lang="mr-IN" sz="2400" dirty="0"/>
              <a:t>–</a:t>
            </a:r>
            <a:r>
              <a:rPr lang="en-US" sz="2400" dirty="0"/>
              <a:t> 2 ab cos C</a:t>
            </a:r>
          </a:p>
          <a:p>
            <a:pPr algn="ctr"/>
            <a:r>
              <a:rPr lang="en-US" sz="2400" dirty="0"/>
              <a:t>b</a:t>
            </a:r>
            <a:r>
              <a:rPr lang="en-US" sz="2400" baseline="30000" dirty="0"/>
              <a:t>2</a:t>
            </a:r>
            <a:r>
              <a:rPr lang="en-US" sz="2400" dirty="0"/>
              <a:t> = a</a:t>
            </a:r>
            <a:r>
              <a:rPr lang="en-US" sz="2400" baseline="30000" dirty="0"/>
              <a:t>2</a:t>
            </a:r>
            <a:r>
              <a:rPr lang="en-US" sz="2400" dirty="0"/>
              <a:t> + c</a:t>
            </a:r>
            <a:r>
              <a:rPr lang="en-US" sz="2400" baseline="30000" dirty="0"/>
              <a:t>2</a:t>
            </a:r>
            <a:r>
              <a:rPr lang="en-US" sz="2400" dirty="0"/>
              <a:t> </a:t>
            </a:r>
            <a:r>
              <a:rPr lang="mr-IN" sz="2400" dirty="0"/>
              <a:t>–</a:t>
            </a:r>
            <a:r>
              <a:rPr lang="en-US" sz="2400" dirty="0"/>
              <a:t> 2 ac cos B</a:t>
            </a:r>
          </a:p>
          <a:p>
            <a:pPr algn="ctr"/>
            <a:r>
              <a:rPr lang="en-US" sz="2400" dirty="0"/>
              <a:t>a</a:t>
            </a:r>
            <a:r>
              <a:rPr lang="en-US" sz="2400" baseline="30000" dirty="0"/>
              <a:t>2</a:t>
            </a:r>
            <a:r>
              <a:rPr lang="en-US" sz="2400" dirty="0"/>
              <a:t> = b</a:t>
            </a:r>
            <a:r>
              <a:rPr lang="en-US" sz="2400" baseline="30000" dirty="0"/>
              <a:t>2</a:t>
            </a:r>
            <a:r>
              <a:rPr lang="en-US" sz="2400" dirty="0"/>
              <a:t> + c</a:t>
            </a:r>
            <a:r>
              <a:rPr lang="en-US" sz="2400" baseline="30000" dirty="0"/>
              <a:t>2</a:t>
            </a:r>
            <a:r>
              <a:rPr lang="en-US" sz="2400" dirty="0"/>
              <a:t> </a:t>
            </a:r>
            <a:r>
              <a:rPr lang="mr-IN" sz="2400" dirty="0"/>
              <a:t>–</a:t>
            </a:r>
            <a:r>
              <a:rPr lang="en-US" sz="2400" dirty="0"/>
              <a:t> 2 </a:t>
            </a:r>
            <a:r>
              <a:rPr lang="en-US" sz="2400" dirty="0" err="1"/>
              <a:t>bc</a:t>
            </a:r>
            <a:r>
              <a:rPr lang="en-US" sz="2400" dirty="0"/>
              <a:t> cos A </a:t>
            </a:r>
          </a:p>
        </p:txBody>
      </p:sp>
    </p:spTree>
    <p:extLst>
      <p:ext uri="{BB962C8B-B14F-4D97-AF65-F5344CB8AC3E}">
        <p14:creationId xmlns:p14="http://schemas.microsoft.com/office/powerpoint/2010/main" val="1097991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434" y="889850"/>
            <a:ext cx="3643142" cy="260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44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49" b="-1"/>
          <a:stretch/>
        </p:blipFill>
        <p:spPr>
          <a:xfrm>
            <a:off x="240696" y="473760"/>
            <a:ext cx="5824822" cy="12629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" t="2568" r="10391"/>
          <a:stretch/>
        </p:blipFill>
        <p:spPr>
          <a:xfrm>
            <a:off x="5957942" y="179738"/>
            <a:ext cx="3727938" cy="213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647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" t="2568" r="10391"/>
          <a:stretch/>
        </p:blipFill>
        <p:spPr>
          <a:xfrm>
            <a:off x="703384" y="872452"/>
            <a:ext cx="7813017" cy="4473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982813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56</TotalTime>
  <Words>59</Words>
  <Application>Microsoft Macintosh PowerPoint</Application>
  <PresentationFormat>A4 Paper (210x297 mm)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A4</vt:lpstr>
      <vt:lpstr>Sine and Cosine Rules</vt:lpstr>
      <vt:lpstr>PowerPoint Presentation</vt:lpstr>
      <vt:lpstr>Examples</vt:lpstr>
      <vt:lpstr>PowerPoint Presentation</vt:lpstr>
      <vt:lpstr>PowerPoint Presentation</vt:lpstr>
      <vt:lpstr>Examples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Finding Sides of A Triangle</dc:title>
  <dc:creator>LOH Michael [Shenton College]</dc:creator>
  <cp:lastModifiedBy>LOH Michael [Shenton College]</cp:lastModifiedBy>
  <cp:revision>7</cp:revision>
  <dcterms:created xsi:type="dcterms:W3CDTF">2017-09-17T04:16:21Z</dcterms:created>
  <dcterms:modified xsi:type="dcterms:W3CDTF">2019-10-21T02:49:44Z</dcterms:modified>
</cp:coreProperties>
</file>
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9" r:id="rId4"/>
    <p:sldId id="262" r:id="rId5"/>
    <p:sldId id="258" r:id="rId6"/>
    <p:sldId id="260" r:id="rId7"/>
    <p:sldId id="261" r:id="rId8"/>
    <p:sldId id="263" r:id="rId9"/>
    <p:sldId id="264" r:id="rId10"/>
    <p:sldId id="265" r:id="rId11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40"/>
  </p:normalViewPr>
  <p:slideViewPr>
    <p:cSldViewPr snapToGrid="0" snapToObjects="1">
      <p:cViewPr varScale="1">
        <p:scale>
          <a:sx n="92" d="100"/>
          <a:sy n="92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9C606-5621-2A45-8E50-47B1F41C9E07}" type="datetimeFigureOut">
              <a:rPr lang="en-US" smtClean="0"/>
              <a:t>4/29/19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0E762-62CF-EC4F-9F98-8D8D5247A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682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B958C-A5C0-494A-BD7B-55C0C7C7FC33}" type="datetimeFigureOut">
              <a:rPr lang="en-US" smtClean="0"/>
              <a:t>4/29/19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A8D9DE-EB4D-D84E-9C27-9F1251A2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27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www.mathsteacher.com.au</a:t>
            </a:r>
            <a:r>
              <a:rPr lang="en-US" dirty="0"/>
              <a:t>/year9/ch14_measurement/15_total/</a:t>
            </a:r>
            <a:r>
              <a:rPr lang="en-US" dirty="0" err="1"/>
              <a:t>cylinder.htm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8D9DE-EB4D-D84E-9C27-9F1251A2202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075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img.clipartfest.com</a:t>
            </a:r>
            <a:r>
              <a:rPr lang="en-US" dirty="0"/>
              <a:t>/a65b40c78dec844d5063ecbf09805943_34654262-sphere-volume_300-281.jpeg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8D9DE-EB4D-D84E-9C27-9F1251A220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03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4/29/19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4/29/19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4/29/19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4/29/19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4/29/19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4/29/19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4/29/19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4/29/19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4/29/19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4/29/19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4/29/19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4/29/19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Surface area and volume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1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Prism </a:t>
            </a:r>
            <a:r>
              <a:rPr lang="mr-IN" dirty="0"/>
              <a:t>–</a:t>
            </a:r>
            <a:r>
              <a:rPr lang="en-US" dirty="0"/>
              <a:t> surface area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5" r="6875"/>
          <a:stretch/>
        </p:blipFill>
        <p:spPr>
          <a:xfrm>
            <a:off x="433658" y="1422399"/>
            <a:ext cx="9038684" cy="3035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5362" y="5053306"/>
            <a:ext cx="7915275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Surface area a prism = sum of the area of all </a:t>
            </a:r>
            <a:r>
              <a:rPr lang="en-US" sz="2400" b="1"/>
              <a:t>the surfaces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69149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Prism </a:t>
            </a:r>
            <a:r>
              <a:rPr lang="mr-IN" dirty="0"/>
              <a:t>–</a:t>
            </a:r>
            <a:r>
              <a:rPr lang="en-US" dirty="0"/>
              <a:t>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862" y="4535782"/>
            <a:ext cx="7915275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Volume of a prism = area of uniform cross section * length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0" r="5911"/>
          <a:stretch/>
        </p:blipFill>
        <p:spPr>
          <a:xfrm>
            <a:off x="300038" y="1633537"/>
            <a:ext cx="892492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0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shapes with uniform cross section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72" y="2314575"/>
            <a:ext cx="9145456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4" y="5222227"/>
            <a:ext cx="7915275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Volume = area of uniform cross section * length</a:t>
            </a:r>
          </a:p>
        </p:txBody>
      </p:sp>
    </p:spTree>
    <p:extLst>
      <p:ext uri="{BB962C8B-B14F-4D97-AF65-F5344CB8AC3E}">
        <p14:creationId xmlns:p14="http://schemas.microsoft.com/office/powerpoint/2010/main" val="738868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Cylinder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2359" y="1027908"/>
            <a:ext cx="2752725" cy="38114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5084" y="1547357"/>
            <a:ext cx="5486693" cy="32920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02359" y="5257800"/>
                <a:ext cx="8098779" cy="830997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Surface area = 2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</m:oMath>
                </a14:m>
                <a:r>
                  <a:rPr lang="en-US" sz="2400" dirty="0"/>
                  <a:t>r</a:t>
                </a:r>
                <a:r>
                  <a:rPr lang="en-US" sz="2400" baseline="30000" dirty="0"/>
                  <a:t>2 + </a:t>
                </a:r>
                <a:r>
                  <a:rPr lang="en-US" sz="2400" dirty="0"/>
                  <a:t>2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</m:oMath>
                </a14:m>
                <a:r>
                  <a:rPr lang="en-US" sz="2400" dirty="0"/>
                  <a:t>r(h)</a:t>
                </a:r>
              </a:p>
              <a:p>
                <a:pPr algn="ctr"/>
                <a:r>
                  <a:rPr lang="en-US" sz="2400" dirty="0"/>
                  <a:t>Volume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</m:oMath>
                </a14:m>
                <a:r>
                  <a:rPr lang="en-US" sz="2400" dirty="0"/>
                  <a:t>r</a:t>
                </a:r>
                <a:r>
                  <a:rPr lang="en-US" sz="2400" baseline="30000" dirty="0"/>
                  <a:t>2</a:t>
                </a:r>
                <a:r>
                  <a:rPr lang="en-US" sz="2400" dirty="0"/>
                  <a:t>h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359" y="5257800"/>
                <a:ext cx="8098779" cy="830997"/>
              </a:xfrm>
              <a:prstGeom prst="rect">
                <a:avLst/>
              </a:prstGeom>
              <a:blipFill rotWithShape="0">
                <a:blip r:embed="rId5"/>
                <a:stretch>
                  <a:fillRect t="-3521" b="-12676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2894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Pyramid </a:t>
            </a:r>
            <a:r>
              <a:rPr lang="mr-IN" dirty="0"/>
              <a:t>–</a:t>
            </a:r>
            <a:r>
              <a:rPr lang="en-US" dirty="0"/>
              <a:t> Surface area and volume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14386" y="4696118"/>
                <a:ext cx="7915275" cy="1016689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Surface area a pyramid = sum of the area of all the surfaces</a:t>
                </a:r>
              </a:p>
              <a:p>
                <a:pPr algn="ctr"/>
                <a:r>
                  <a:rPr lang="en-US" sz="2400" b="1" dirty="0"/>
                  <a:t>Volume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smtClean="0">
                            <a:latin typeface="Cambria Math" charset="0"/>
                          </a:rPr>
                          <m:t>𝟏</m:t>
                        </m:r>
                      </m:num>
                      <m:den>
                        <m:r>
                          <a:rPr lang="en-AU" sz="2400" b="1" i="1" smtClean="0">
                            <a:latin typeface="Cambria Math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2400" b="1" dirty="0"/>
                  <a:t> base area * height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386" y="4696118"/>
                <a:ext cx="7915275" cy="1016689"/>
              </a:xfrm>
              <a:prstGeom prst="rect">
                <a:avLst/>
              </a:prstGeom>
              <a:blipFill rotWithShape="0">
                <a:blip r:embed="rId2"/>
                <a:stretch>
                  <a:fillRect t="-2890" b="-1156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0" r="4728"/>
          <a:stretch/>
        </p:blipFill>
        <p:spPr>
          <a:xfrm>
            <a:off x="471487" y="1941512"/>
            <a:ext cx="8601075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8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Cone </a:t>
            </a:r>
            <a:r>
              <a:rPr lang="mr-IN" dirty="0"/>
              <a:t>–</a:t>
            </a:r>
            <a:r>
              <a:rPr lang="en-US" dirty="0"/>
              <a:t> surface area &amp; volume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2" t="12648" r="6826" b="6432"/>
          <a:stretch/>
        </p:blipFill>
        <p:spPr>
          <a:xfrm>
            <a:off x="238120" y="1928813"/>
            <a:ext cx="3543846" cy="34290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1428745" y="2200275"/>
            <a:ext cx="14287" cy="2443163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2969" y="3381703"/>
            <a:ext cx="500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781967" y="2217005"/>
                <a:ext cx="5890672" cy="2426433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Curved surface area =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</m:oMath>
                </a14:m>
                <a:r>
                  <a:rPr lang="en-US" sz="2800" dirty="0"/>
                  <a:t>rl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Total surface area =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</m:oMath>
                </a14:m>
                <a:r>
                  <a:rPr lang="en-US" sz="2800" dirty="0" err="1"/>
                  <a:t>rl</a:t>
                </a:r>
                <a:r>
                  <a:rPr lang="en-US" sz="2800" dirty="0"/>
                  <a:t> +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</m:oMath>
                </a14:m>
                <a:r>
                  <a:rPr lang="en-US" sz="2800" dirty="0"/>
                  <a:t>r</a:t>
                </a:r>
                <a:r>
                  <a:rPr lang="en-US" sz="2800" baseline="30000" dirty="0"/>
                  <a:t>2</a:t>
                </a:r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Volume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800" dirty="0"/>
                  <a:t> base area * height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sz="2800" i="1">
                            <a:latin typeface="Cambria Math" charset="0"/>
                          </a:rPr>
                          <m:t>3</m:t>
                        </m:r>
                      </m:den>
                    </m:f>
                    <m:r>
                      <a:rPr lang="en-AU" sz="2800" i="1">
                        <a:latin typeface="Cambria Math" charset="0"/>
                      </a:rPr>
                      <m:t> 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</m:oMath>
                </a14:m>
                <a:r>
                  <a:rPr lang="en-US" sz="2800" dirty="0"/>
                  <a:t>r</a:t>
                </a:r>
                <a:r>
                  <a:rPr lang="en-US" sz="2800" baseline="30000" dirty="0"/>
                  <a:t>2</a:t>
                </a:r>
                <a:r>
                  <a:rPr lang="en-US" sz="2800" dirty="0"/>
                  <a:t>h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967" y="2217005"/>
                <a:ext cx="5890672" cy="2426433"/>
              </a:xfrm>
              <a:prstGeom prst="rect">
                <a:avLst/>
              </a:prstGeom>
              <a:blipFill rotWithShape="0">
                <a:blip r:embed="rId3"/>
                <a:stretch>
                  <a:fillRect l="-1747" t="-1733" b="-1980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291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Sphere</a:t>
            </a:r>
            <a:r>
              <a:rPr lang="mr-IN" dirty="0"/>
              <a:t> –</a:t>
            </a:r>
            <a:r>
              <a:rPr lang="en-US" dirty="0"/>
              <a:t> surface area &amp; volume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4" y="1690690"/>
            <a:ext cx="3884571" cy="36385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53000" y="2868247"/>
                <a:ext cx="3925930" cy="1563761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Total surface area = 4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</m:oMath>
                </a14:m>
                <a:r>
                  <a:rPr lang="en-US" sz="2800" dirty="0"/>
                  <a:t>r</a:t>
                </a:r>
                <a:r>
                  <a:rPr lang="en-US" sz="2800" baseline="30000" dirty="0"/>
                  <a:t>2</a:t>
                </a:r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Volume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charset="0"/>
                          </a:rPr>
                          <m:t>4</m:t>
                        </m:r>
                      </m:num>
                      <m:den>
                        <m:r>
                          <a:rPr lang="en-AU" sz="2800" b="0" i="1" smtClean="0">
                            <a:latin typeface="Cambria Math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</m:oMath>
                </a14:m>
                <a:r>
                  <a:rPr lang="en-US" sz="2800" dirty="0"/>
                  <a:t>r</a:t>
                </a:r>
                <a:r>
                  <a:rPr lang="en-US" sz="2800" baseline="30000" dirty="0"/>
                  <a:t>3</a:t>
                </a:r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868247"/>
                <a:ext cx="3925930" cy="1563761"/>
              </a:xfrm>
              <a:prstGeom prst="rect">
                <a:avLst/>
              </a:prstGeom>
              <a:blipFill rotWithShape="0">
                <a:blip r:embed="rId4"/>
                <a:stretch>
                  <a:fillRect l="-2769" t="-2672" b="-3435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310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296FCE-F9E2-6840-A7AE-07BAB92F24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62" t="33670" r="21679" b="33670"/>
          <a:stretch/>
        </p:blipFill>
        <p:spPr>
          <a:xfrm>
            <a:off x="263237" y="360218"/>
            <a:ext cx="8342537" cy="282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800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67BD27-B686-7149-A513-8DCC798956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82" t="22156" r="29790" b="37779"/>
          <a:stretch/>
        </p:blipFill>
        <p:spPr>
          <a:xfrm>
            <a:off x="471054" y="193962"/>
            <a:ext cx="8506691" cy="358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86991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80</TotalTime>
  <Words>184</Words>
  <Application>Microsoft Macintosh PowerPoint</Application>
  <PresentationFormat>A4 Paper (210x297 mm)</PresentationFormat>
  <Paragraphs>28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A4 Presentation</vt:lpstr>
      <vt:lpstr>Surface area and volume</vt:lpstr>
      <vt:lpstr>Prism – surface area</vt:lpstr>
      <vt:lpstr>Prism – volume</vt:lpstr>
      <vt:lpstr>Other shapes with uniform cross section</vt:lpstr>
      <vt:lpstr>Cylinder</vt:lpstr>
      <vt:lpstr>Pyramid – Surface area and volume</vt:lpstr>
      <vt:lpstr>Cone – surface area &amp; volume</vt:lpstr>
      <vt:lpstr>Sphere – surface area &amp; volume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Surface area and volume</dc:title>
  <dc:creator>Michael Loh</dc:creator>
  <cp:lastModifiedBy>LOH Michael [Shenton College]</cp:lastModifiedBy>
  <cp:revision>7</cp:revision>
  <cp:lastPrinted>2017-05-01T00:47:18Z</cp:lastPrinted>
  <dcterms:created xsi:type="dcterms:W3CDTF">2017-04-30T10:53:42Z</dcterms:created>
  <dcterms:modified xsi:type="dcterms:W3CDTF">2019-04-29T07:10:58Z</dcterms:modified>
</cp:coreProperties>
</file>
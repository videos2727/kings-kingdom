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72" r:id="rId12"/>
    <p:sldId id="264" r:id="rId13"/>
    <p:sldId id="268" r:id="rId14"/>
    <p:sldId id="275" r:id="rId15"/>
    <p:sldId id="269" r:id="rId16"/>
    <p:sldId id="270" r:id="rId17"/>
    <p:sldId id="271" r:id="rId18"/>
    <p:sldId id="273" r:id="rId19"/>
    <p:sldId id="274" r:id="rId2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25"/>
    <p:restoredTop sz="94611"/>
  </p:normalViewPr>
  <p:slideViewPr>
    <p:cSldViewPr snapToGrid="0" snapToObjects="1">
      <p:cViewPr varScale="1">
        <p:scale>
          <a:sx n="84" d="100"/>
          <a:sy n="84" d="100"/>
        </p:scale>
        <p:origin x="19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F97EC-8299-CD4A-94B6-BC0DCC6A5DB8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D8B64-0A2D-0943-9BAA-6C017FA6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2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of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2436659"/>
          </a:xfrm>
        </p:spPr>
        <p:txBody>
          <a:bodyPr/>
          <a:lstStyle/>
          <a:p>
            <a:r>
              <a:rPr lang="en-US" dirty="0"/>
              <a:t>Recall scalar multiplication</a:t>
            </a:r>
          </a:p>
          <a:p>
            <a:endParaRPr lang="en-US" dirty="0"/>
          </a:p>
          <a:p>
            <a:r>
              <a:rPr lang="en-US" dirty="0"/>
              <a:t>Given a matrix C, if the matrix is multiply by a number, them all the elements in the matrix is multiply by the number.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169445" y="4323477"/>
                <a:ext cx="1975284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445" y="4323477"/>
                <a:ext cx="1975284" cy="615810"/>
              </a:xfrm>
              <a:prstGeom prst="rect">
                <a:avLst/>
              </a:prstGeom>
              <a:blipFill rotWithShape="0">
                <a:blip r:embed="rId2"/>
                <a:stretch>
                  <a:fillRect l="-9568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9303" y="5689596"/>
                <a:ext cx="5450979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400" dirty="0"/>
                  <a:t>2C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×</m:t>
                              </m:r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charset="0"/>
                                </a:rPr>
                                <m:t>32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03" y="5689596"/>
                <a:ext cx="5450979" cy="615810"/>
              </a:xfrm>
              <a:prstGeom prst="rect">
                <a:avLst/>
              </a:prstGeom>
              <a:blipFill rotWithShape="0">
                <a:blip r:embed="rId3"/>
                <a:stretch>
                  <a:fillRect l="-3356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2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755343"/>
          </a:xfrm>
        </p:spPr>
        <p:txBody>
          <a:bodyPr/>
          <a:lstStyle/>
          <a:p>
            <a:r>
              <a:rPr lang="en-US"/>
              <a:t>Consider the following matrices: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02398" y="3382297"/>
                <a:ext cx="3304130" cy="1026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98" y="3382297"/>
                <a:ext cx="3304130" cy="1026435"/>
              </a:xfrm>
              <a:prstGeom prst="rect">
                <a:avLst/>
              </a:prstGeom>
              <a:blipFill rotWithShape="0">
                <a:blip r:embed="rId2"/>
                <a:stretch>
                  <a:fillRect l="-9225" b="-10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45979" y="3081605"/>
                <a:ext cx="3519594" cy="1627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4000" dirty="0"/>
                  <a:t>B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9 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979" y="3081605"/>
                <a:ext cx="3519594" cy="1627818"/>
              </a:xfrm>
              <a:prstGeom prst="rect">
                <a:avLst/>
              </a:prstGeom>
              <a:blipFill rotWithShape="0">
                <a:blip r:embed="rId3"/>
                <a:stretch>
                  <a:fillRect l="-8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74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31893" y="565355"/>
                <a:ext cx="7920378" cy="50100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B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i="1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i="1"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i="1">
                                  <a:latin typeface="Cambria Math" charset="0"/>
                                </a:rPr>
                                <m:t>9 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+1</m:t>
                              </m:r>
                              <m:r>
                                <a:rPr lang="en-AU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3+3</m:t>
                              </m:r>
                              <m:r>
                                <a:rPr lang="en-AU" sz="4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/>
                          </m:mr>
                          <m:mr>
                            <m:e/>
                            <m:e/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/>
                          </m:mr>
                          <m:mr>
                            <m:e/>
                            <m:e/>
                          </m:mr>
                        </m:m>
                      </m:e>
                    </m:d>
                  </m:oMath>
                </a14:m>
                <a:r>
                  <a:rPr lang="en-US" sz="5400" dirty="0"/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93" y="565355"/>
                <a:ext cx="7920378" cy="5010026"/>
              </a:xfrm>
              <a:prstGeom prst="rect">
                <a:avLst/>
              </a:prstGeom>
              <a:blipFill>
                <a:blip r:embed="rId2"/>
                <a:stretch>
                  <a:fillRect l="-3680" t="-253" b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488879" y="871139"/>
            <a:ext cx="1864164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96348" y="565355"/>
            <a:ext cx="1002890" cy="1705897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31893" y="565355"/>
                <a:ext cx="8362830" cy="4969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B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  <m:r>
                                <a:rPr lang="en-AU" sz="40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sz="40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−4+1</m:t>
                              </m:r>
                              <m:r>
                                <a:rPr lang="en-US" sz="40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8+3</m:t>
                              </m:r>
                              <m:r>
                                <a:rPr lang="en-US" sz="40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  <m:mr>
                            <m:e/>
                            <m:e/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/>
                            <m:e/>
                          </m:mr>
                        </m:m>
                      </m:e>
                    </m:d>
                  </m:oMath>
                </a14:m>
                <a:r>
                  <a:rPr lang="en-US" sz="5400" dirty="0"/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93" y="565355"/>
                <a:ext cx="8362830" cy="4969437"/>
              </a:xfrm>
              <a:prstGeom prst="rect">
                <a:avLst/>
              </a:prstGeom>
              <a:blipFill>
                <a:blip r:embed="rId2"/>
                <a:stretch>
                  <a:fillRect l="-3485" t="-255" b="-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468077" y="911728"/>
            <a:ext cx="1864164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14081" y="565355"/>
            <a:ext cx="1002890" cy="1705897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9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31893" y="565355"/>
                <a:ext cx="8362830" cy="49288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</a:t>
                </a:r>
                <a:r>
                  <a:rPr lang="en-US" sz="40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/>
                  <a:t>B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  <m:r>
                                <a:rPr lang="en-AU" sz="40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sz="400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1+4</m:t>
                              </m:r>
                              <m:r>
                                <a:rPr lang="en-US" sz="4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3+5</m:t>
                              </m:r>
                              <m:r>
                                <a:rPr lang="en-US" sz="4000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/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37</m:t>
                              </m:r>
                            </m:e>
                            <m:e/>
                          </m:mr>
                        </m:m>
                      </m:e>
                    </m:d>
                  </m:oMath>
                </a14:m>
                <a:r>
                  <a:rPr lang="en-US" sz="5400" dirty="0"/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93" y="565355"/>
                <a:ext cx="8362830" cy="4928850"/>
              </a:xfrm>
              <a:prstGeom prst="rect">
                <a:avLst/>
              </a:prstGeom>
              <a:blipFill>
                <a:blip r:embed="rId2"/>
                <a:stretch>
                  <a:fillRect l="-3485" t="-257" b="-2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796704" y="1500741"/>
            <a:ext cx="1864164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43287" y="565354"/>
            <a:ext cx="1002890" cy="1705897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27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31893" y="565355"/>
                <a:ext cx="8362830" cy="49471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</a:t>
                </a:r>
                <a:r>
                  <a:rPr lang="en-US" sz="40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/>
                  <a:t>B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  <m:r>
                                <a:rPr lang="en-AU" sz="40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−37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US" sz="400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−4+4</m:t>
                              </m:r>
                              <m:r>
                                <a:rPr lang="en-US" sz="4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8+5</m:t>
                              </m:r>
                              <m:r>
                                <a:rPr lang="en-US" sz="40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−37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73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5400" dirty="0"/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93" y="565355"/>
                <a:ext cx="8362830" cy="4947124"/>
              </a:xfrm>
              <a:prstGeom prst="rect">
                <a:avLst/>
              </a:prstGeom>
              <a:blipFill>
                <a:blip r:embed="rId2"/>
                <a:stretch>
                  <a:fillRect l="-3485" t="-256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747394" y="1503765"/>
            <a:ext cx="1864164" cy="4114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95981" y="565355"/>
            <a:ext cx="1002890" cy="1705897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3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1277" y="530186"/>
                <a:ext cx="9394723" cy="46235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000" dirty="0"/>
                  <a:t>A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B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4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400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  <m:r>
                                <a:rPr lang="en-AU" sz="40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  <a:p>
                <a:endParaRPr lang="en-US" sz="4000" dirty="0"/>
              </a:p>
              <a:p>
                <a:r>
                  <a:rPr lang="en-US" sz="4000" dirty="0"/>
                  <a:t>	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1+1</m:t>
                              </m:r>
                              <m: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3+3</m:t>
                              </m:r>
                              <m: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2800" i="1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2 </m:t>
                              </m:r>
                              <m:r>
                                <a:rPr lang="en-AU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−4+1 </m:t>
                              </m:r>
                              <m:r>
                                <a:rPr lang="en-AU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8+3 </m:t>
                              </m:r>
                              <m:r>
                                <a:rPr lang="en-AU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AU" sz="28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1+4 </m:t>
                              </m:r>
                              <m:r>
                                <a:rPr lang="en-AU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3+5</m:t>
                              </m:r>
                              <m:r>
                                <a:rPr lang="en-AU" sz="28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−10</m:t>
                              </m:r>
                            </m:e>
                            <m:e>
                              <m:r>
                                <a:rPr lang="en-AU" sz="2800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1 </m:t>
                              </m:r>
                              <m:r>
                                <a:rPr lang="en-AU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−4+4 </m:t>
                              </m:r>
                              <m:r>
                                <a:rPr lang="en-AU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8+5 </m:t>
                              </m:r>
                              <m:r>
                                <a:rPr lang="en-AU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AU" sz="2800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/>
              </a:p>
              <a:p>
                <a:endParaRPr lang="en-US" sz="4000" dirty="0"/>
              </a:p>
              <a:p>
                <a:r>
                  <a:rPr lang="en-US" sz="4000" dirty="0"/>
                  <a:t> 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4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0070C0"/>
                                  </a:solidFill>
                                  <a:latin typeface="Cambria Math" charset="0"/>
                                </a:rPr>
                                <m:t>27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−37</m:t>
                              </m:r>
                            </m:e>
                            <m:e>
                              <m:r>
                                <a:rPr lang="en-AU" sz="4000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73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5400" dirty="0"/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77" y="530186"/>
                <a:ext cx="9394723" cy="4623510"/>
              </a:xfrm>
              <a:prstGeom prst="rect">
                <a:avLst/>
              </a:prstGeom>
              <a:blipFill>
                <a:blip r:embed="rId2"/>
                <a:stretch>
                  <a:fillRect l="-3239" t="-274" b="-2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655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9" y="1497042"/>
            <a:ext cx="3227761" cy="11212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5" y="4955559"/>
            <a:ext cx="2676139" cy="1449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8" y="2784704"/>
            <a:ext cx="2902105" cy="11137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9" t="21161" b="4107"/>
          <a:stretch/>
        </p:blipFill>
        <p:spPr>
          <a:xfrm>
            <a:off x="678940" y="4019522"/>
            <a:ext cx="3793650" cy="104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0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5" b="5993"/>
          <a:stretch/>
        </p:blipFill>
        <p:spPr>
          <a:xfrm>
            <a:off x="851877" y="509480"/>
            <a:ext cx="6328446" cy="11083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1" b="8866"/>
          <a:stretch/>
        </p:blipFill>
        <p:spPr>
          <a:xfrm>
            <a:off x="1055946" y="5075836"/>
            <a:ext cx="5968340" cy="14075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17071" b="12081"/>
          <a:stretch/>
        </p:blipFill>
        <p:spPr>
          <a:xfrm>
            <a:off x="851877" y="1988869"/>
            <a:ext cx="6534862" cy="11824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28" y="3542393"/>
            <a:ext cx="7403289" cy="1333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1121" y="1430400"/>
            <a:ext cx="5809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1 x 2                    2 x 2                                       1 x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4329" y="3155906"/>
            <a:ext cx="5809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2 x 2                    2 x 2                                       2 x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120" y="4675726"/>
            <a:ext cx="5809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1 x 2                         2 x 3                                        1 x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946" y="6400279"/>
            <a:ext cx="5809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2 x 2                    2 x 1                                         2 x 1</a:t>
            </a:r>
          </a:p>
        </p:txBody>
      </p:sp>
    </p:spTree>
    <p:extLst>
      <p:ext uri="{BB962C8B-B14F-4D97-AF65-F5344CB8AC3E}">
        <p14:creationId xmlns:p14="http://schemas.microsoft.com/office/powerpoint/2010/main" val="214256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17071" b="12081"/>
          <a:stretch/>
        </p:blipFill>
        <p:spPr>
          <a:xfrm>
            <a:off x="1062893" y="975995"/>
            <a:ext cx="6534862" cy="11824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17071" r="63589" b="12081"/>
          <a:stretch/>
        </p:blipFill>
        <p:spPr>
          <a:xfrm>
            <a:off x="3044093" y="3334678"/>
            <a:ext cx="2259427" cy="11824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1" t="17071" r="35552" b="12081"/>
          <a:stretch/>
        </p:blipFill>
        <p:spPr>
          <a:xfrm>
            <a:off x="1159022" y="3334678"/>
            <a:ext cx="1885071" cy="1182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57293" y="3520498"/>
                <a:ext cx="2182072" cy="9135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sz="3200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293" y="3520498"/>
                <a:ext cx="2182072" cy="913520"/>
              </a:xfrm>
              <a:prstGeom prst="rect">
                <a:avLst/>
              </a:prstGeom>
              <a:blipFill rotWithShape="0">
                <a:blip r:embed="rId3"/>
                <a:stretch>
                  <a:fillRect l="-6983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73723" y="5092505"/>
                <a:ext cx="8046720" cy="954107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In matrix multiplication, </a:t>
                </a:r>
                <a:r>
                  <a:rPr lang="en-US" sz="2800" dirty="0">
                    <a:solidFill>
                      <a:srgbClr val="FF0000"/>
                    </a:solidFill>
                  </a:rPr>
                  <a:t>AB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BA</a:t>
                </a:r>
                <a:r>
                  <a:rPr lang="en-US" sz="2800" dirty="0"/>
                  <a:t>, therefore matrix multiplication is not commutative.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3" y="5092505"/>
                <a:ext cx="8046720" cy="954107"/>
              </a:xfrm>
              <a:prstGeom prst="rect">
                <a:avLst/>
              </a:prstGeom>
              <a:blipFill rotWithShape="0">
                <a:blip r:embed="rId4"/>
                <a:stretch>
                  <a:fillRect t="-3681" b="-14724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92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767" y="492370"/>
            <a:ext cx="8543925" cy="1125415"/>
          </a:xfrm>
          <a:ln w="28575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Two matrices can be multiplied together if the number of columns in the first matrix equals the number of the number of rows in the second matrix.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130" y="1871004"/>
            <a:ext cx="7863840" cy="415498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 matrix A has dimensions of m x n and matrix B has dimensions of p x q</a:t>
            </a:r>
          </a:p>
          <a:p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The matrix product </a:t>
            </a:r>
            <a:r>
              <a:rPr lang="en-US" sz="2400" dirty="0" err="1"/>
              <a:t>A</a:t>
            </a:r>
            <a:r>
              <a:rPr lang="en-US" sz="2400" baseline="-25000" dirty="0" err="1"/>
              <a:t>mxn</a:t>
            </a:r>
            <a:r>
              <a:rPr lang="en-US" sz="2400" dirty="0" err="1"/>
              <a:t>B</a:t>
            </a:r>
            <a:r>
              <a:rPr lang="en-US" sz="2400" baseline="-25000" dirty="0" err="1"/>
              <a:t>pxq</a:t>
            </a:r>
            <a:r>
              <a:rPr lang="en-US" sz="2400" dirty="0"/>
              <a:t> can only be formed if n = p and AB will have dimensions m x q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The matrix product </a:t>
            </a:r>
            <a:r>
              <a:rPr lang="en-US" sz="2400" dirty="0" err="1"/>
              <a:t>B</a:t>
            </a:r>
            <a:r>
              <a:rPr lang="en-US" sz="2400" baseline="-25000" dirty="0" err="1"/>
              <a:t>pxq</a:t>
            </a:r>
            <a:r>
              <a:rPr lang="en-US" sz="2400" dirty="0" err="1"/>
              <a:t>A</a:t>
            </a:r>
            <a:r>
              <a:rPr lang="en-US" sz="2400" baseline="-25000" dirty="0" err="1"/>
              <a:t>mxn</a:t>
            </a:r>
            <a:r>
              <a:rPr lang="en-US" sz="2400" dirty="0"/>
              <a:t> can only be formed if q = m and AB will have dimensions p x n</a:t>
            </a:r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  <a:p>
            <a:r>
              <a:rPr lang="en-US" sz="2400" dirty="0"/>
              <a:t>In the product AB,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B is </a:t>
            </a:r>
            <a:r>
              <a:rPr lang="en-US" sz="2400" i="1" dirty="0" err="1"/>
              <a:t>premultiplied</a:t>
            </a:r>
            <a:r>
              <a:rPr lang="en-US" sz="2400" dirty="0"/>
              <a:t> by A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/>
              <a:t>A is </a:t>
            </a:r>
            <a:r>
              <a:rPr lang="en-US" sz="2400" i="1" dirty="0" err="1"/>
              <a:t>postmultiplied</a:t>
            </a:r>
            <a:r>
              <a:rPr lang="en-US" sz="2400" dirty="0"/>
              <a:t> by B</a:t>
            </a:r>
          </a:p>
        </p:txBody>
      </p:sp>
    </p:spTree>
    <p:extLst>
      <p:ext uri="{BB962C8B-B14F-4D97-AF65-F5344CB8AC3E}">
        <p14:creationId xmlns:p14="http://schemas.microsoft.com/office/powerpoint/2010/main" val="231680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70" y="1388793"/>
            <a:ext cx="5257800" cy="2082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102" y="1795193"/>
            <a:ext cx="1854200" cy="127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8" t="16794" r="2620" b="10517"/>
          <a:stretch/>
        </p:blipFill>
        <p:spPr>
          <a:xfrm>
            <a:off x="1589650" y="3803650"/>
            <a:ext cx="4023360" cy="1513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0" r="46611"/>
          <a:stretch/>
        </p:blipFill>
        <p:spPr>
          <a:xfrm>
            <a:off x="5750244" y="3803650"/>
            <a:ext cx="495226" cy="127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25" r="1"/>
          <a:stretch/>
        </p:blipFill>
        <p:spPr>
          <a:xfrm>
            <a:off x="6168097" y="3803650"/>
            <a:ext cx="214607" cy="127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52102" y="3795517"/>
                <a:ext cx="2099529" cy="1413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=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2000" b="0" i="1" smtClean="0">
                                        <a:latin typeface="Cambria Math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2000" b="0" i="1" smtClean="0">
                                        <a:latin typeface="Cambria Math" charset="0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AU" sz="2000" b="0" i="1" smtClean="0">
                                  <a:latin typeface="Cambria Math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2000" b="0" i="1" smtClean="0">
                                        <a:latin typeface="Cambria Math" charset="0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AU" sz="2000" b="0" i="1" smtClean="0">
                                        <a:latin typeface="Cambria Math" charset="0"/>
                                      </a:rPr>
                                      <m:t>9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102" y="3795517"/>
                <a:ext cx="2099529" cy="1413592"/>
              </a:xfrm>
              <a:prstGeom prst="rect">
                <a:avLst/>
              </a:prstGeom>
              <a:blipFill rotWithShape="0">
                <a:blip r:embed="rId4"/>
                <a:stretch>
                  <a:fillRect l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65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6C2184-63CD-5F4B-9106-961036FECA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38" t="32180" r="18308" b="24690"/>
          <a:stretch/>
        </p:blipFill>
        <p:spPr>
          <a:xfrm>
            <a:off x="106680" y="137158"/>
            <a:ext cx="9342120" cy="374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95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561107"/>
          </a:xfrm>
        </p:spPr>
        <p:txBody>
          <a:bodyPr>
            <a:normAutofit/>
          </a:bodyPr>
          <a:lstStyle/>
          <a:p>
            <a:r>
              <a:rPr lang="en-US" dirty="0"/>
              <a:t>All elements in a zero matrix is 0.</a:t>
            </a:r>
          </a:p>
          <a:p>
            <a:r>
              <a:rPr lang="en-US" dirty="0"/>
              <a:t>The letter O is used to represent a zero matrix</a:t>
            </a:r>
          </a:p>
          <a:p>
            <a:endParaRPr lang="en-US" dirty="0"/>
          </a:p>
          <a:p>
            <a:r>
              <a:rPr lang="en-US" dirty="0"/>
              <a:t>For any matrix A, </a:t>
            </a:r>
          </a:p>
          <a:p>
            <a:pPr lvl="1"/>
            <a:r>
              <a:rPr lang="en-US" dirty="0"/>
              <a:t>A + O = A</a:t>
            </a:r>
          </a:p>
          <a:p>
            <a:pPr lvl="1"/>
            <a:r>
              <a:rPr lang="en-US" dirty="0"/>
              <a:t>O + A = A</a:t>
            </a:r>
          </a:p>
          <a:p>
            <a:pPr lvl="1"/>
            <a:r>
              <a:rPr lang="en-US" dirty="0"/>
              <a:t>A * O = O</a:t>
            </a:r>
          </a:p>
          <a:p>
            <a:pPr lvl="1"/>
            <a:r>
              <a:rPr lang="en-US" dirty="0"/>
              <a:t>O * A = O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378634" y="3684340"/>
            <a:ext cx="4951828" cy="1015663"/>
            <a:chOff x="1378634" y="3684340"/>
            <a:chExt cx="4951828" cy="1015663"/>
          </a:xfrm>
        </p:grpSpPr>
        <p:sp>
          <p:nvSpPr>
            <p:cNvPr id="4" name="Rectangle 3"/>
            <p:cNvSpPr/>
            <p:nvPr/>
          </p:nvSpPr>
          <p:spPr>
            <a:xfrm>
              <a:off x="1378634" y="3812345"/>
              <a:ext cx="1350498" cy="75965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729132" y="4192172"/>
              <a:ext cx="1744394" cy="1406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473526" y="3684340"/>
              <a:ext cx="1856936" cy="1015663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O is referred to as </a:t>
              </a:r>
              <a:r>
                <a:rPr lang="en-US" sz="2000" i="1" dirty="0"/>
                <a:t>additive </a:t>
              </a:r>
              <a:r>
                <a:rPr lang="en-US" sz="2000" i="1"/>
                <a:t>identity matrix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62774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1860110"/>
          </a:xfrm>
        </p:spPr>
        <p:txBody>
          <a:bodyPr/>
          <a:lstStyle/>
          <a:p>
            <a:r>
              <a:rPr lang="en-US" dirty="0"/>
              <a:t>If x and y represents number, if </a:t>
            </a:r>
            <a:r>
              <a:rPr lang="en-US" dirty="0" err="1"/>
              <a:t>xy</a:t>
            </a:r>
            <a:r>
              <a:rPr lang="en-US" dirty="0"/>
              <a:t> = 0, then either x = 0 and/or y = 0.</a:t>
            </a:r>
          </a:p>
          <a:p>
            <a:r>
              <a:rPr lang="en-US" dirty="0"/>
              <a:t>However for matrices, if AB = O, it is not necessarily that A and/or B = 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9"/>
          <a:stretch/>
        </p:blipFill>
        <p:spPr>
          <a:xfrm>
            <a:off x="2293034" y="3820669"/>
            <a:ext cx="4994031" cy="255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1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461648"/>
                <a:ext cx="8543925" cy="1775704"/>
              </a:xfrm>
            </p:spPr>
            <p:txBody>
              <a:bodyPr/>
              <a:lstStyle/>
              <a:p>
                <a:r>
                  <a:rPr lang="en-US" dirty="0"/>
                  <a:t>When x, y and z represent numbers, if </a:t>
                </a:r>
                <a:r>
                  <a:rPr lang="en-US" dirty="0" err="1"/>
                  <a:t>xz</a:t>
                </a:r>
                <a:r>
                  <a:rPr lang="en-US" dirty="0"/>
                  <a:t> = </a:t>
                </a:r>
                <a:r>
                  <a:rPr lang="en-US" dirty="0" err="1"/>
                  <a:t>yz</a:t>
                </a:r>
                <a:r>
                  <a:rPr lang="en-US" dirty="0"/>
                  <a:t> and z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dirty="0"/>
                  <a:t> 0, the x = y.</a:t>
                </a:r>
              </a:p>
              <a:p>
                <a:r>
                  <a:rPr lang="en-US" dirty="0"/>
                  <a:t>But for matrices, if AB = CB and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dirty="0"/>
                  <a:t> O, matrix A is not necessarily the same as matrix 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461648"/>
                <a:ext cx="8543925" cy="1775704"/>
              </a:xfrm>
              <a:blipFill rotWithShape="0">
                <a:blip r:embed="rId2"/>
                <a:stretch>
                  <a:fillRect l="-1285" t="-5842" r="-1213" b="-8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89" y="3549948"/>
            <a:ext cx="6157921" cy="25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54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Multiplicative Identity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2690104"/>
          </a:xfrm>
        </p:spPr>
        <p:txBody>
          <a:bodyPr/>
          <a:lstStyle/>
          <a:p>
            <a:r>
              <a:rPr lang="en-US" dirty="0"/>
              <a:t>A multiplicative identity matrix leaves all other matrices unchanged under multiplication</a:t>
            </a:r>
          </a:p>
          <a:p>
            <a:r>
              <a:rPr lang="en-US" dirty="0"/>
              <a:t>If I </a:t>
            </a:r>
            <a:r>
              <a:rPr lang="en-US" baseline="-25000" dirty="0" err="1"/>
              <a:t>mxn</a:t>
            </a:r>
            <a:r>
              <a:rPr lang="en-US" dirty="0"/>
              <a:t> is a multiplicative matrix</a:t>
            </a:r>
          </a:p>
          <a:p>
            <a:pPr lvl="1"/>
            <a:r>
              <a:rPr lang="en-US" dirty="0" err="1"/>
              <a:t>I</a:t>
            </a:r>
            <a:r>
              <a:rPr lang="en-US" baseline="-25000" dirty="0" err="1"/>
              <a:t>mxn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nxp</a:t>
            </a:r>
            <a:r>
              <a:rPr lang="en-US" dirty="0"/>
              <a:t> = </a:t>
            </a:r>
            <a:r>
              <a:rPr lang="en-US" dirty="0" err="1"/>
              <a:t>A</a:t>
            </a:r>
            <a:r>
              <a:rPr lang="en-US" baseline="-25000" dirty="0" err="1"/>
              <a:t>nxp</a:t>
            </a:r>
            <a:r>
              <a:rPr lang="en-US" dirty="0"/>
              <a:t>         thus m = n</a:t>
            </a:r>
          </a:p>
          <a:p>
            <a:pPr lvl="1"/>
            <a:r>
              <a:rPr lang="en-US" dirty="0" err="1"/>
              <a:t>B</a:t>
            </a:r>
            <a:r>
              <a:rPr lang="en-US" baseline="-25000" dirty="0" err="1"/>
              <a:t>qxm</a:t>
            </a:r>
            <a:r>
              <a:rPr lang="en-US" dirty="0" err="1"/>
              <a:t>I</a:t>
            </a:r>
            <a:r>
              <a:rPr lang="en-US" baseline="-25000" dirty="0" err="1"/>
              <a:t>mxn</a:t>
            </a:r>
            <a:r>
              <a:rPr lang="en-US" dirty="0"/>
              <a:t> = </a:t>
            </a:r>
            <a:r>
              <a:rPr lang="en-US" dirty="0" err="1"/>
              <a:t>B</a:t>
            </a:r>
            <a:r>
              <a:rPr lang="en-US" baseline="-25000" dirty="0" err="1"/>
              <a:t>qxn</a:t>
            </a:r>
            <a:r>
              <a:rPr lang="en-US" dirty="0"/>
              <a:t>	    thus m = n</a:t>
            </a:r>
          </a:p>
          <a:p>
            <a:r>
              <a:rPr lang="en-US" dirty="0"/>
              <a:t>Therefore I is a square matrix.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70406" y="5067737"/>
                <a:ext cx="94134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s-I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s-IS" sz="240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s-IS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s-IS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is-IS" sz="240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406" y="5067737"/>
                <a:ext cx="941348" cy="6158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53000" y="4887335"/>
                <a:ext cx="1439818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sz="240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887335"/>
                <a:ext cx="1439818" cy="97661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4953000" y="4887335"/>
            <a:ext cx="1321191" cy="9766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370406" y="5067737"/>
            <a:ext cx="876884" cy="5828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02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1114523"/>
              </a:xfrm>
            </p:spPr>
            <p:txBody>
              <a:bodyPr/>
              <a:lstStyle/>
              <a:p>
                <a:r>
                  <a:rPr lang="en-US" dirty="0"/>
                  <a:t>In numbers, if </a:t>
                </a:r>
                <a:r>
                  <a:rPr lang="en-US" dirty="0" err="1"/>
                  <a:t>xy</a:t>
                </a:r>
                <a:r>
                  <a:rPr lang="en-US" dirty="0"/>
                  <a:t> = x, for x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dirty="0"/>
                  <a:t> 0, then y = 1 </a:t>
                </a:r>
              </a:p>
              <a:p>
                <a:r>
                  <a:rPr lang="en-US" dirty="0"/>
                  <a:t>But for matrices AB = B, B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dirty="0"/>
                  <a:t> 0, A is not necessarily </a:t>
                </a:r>
                <a:r>
                  <a:rPr lang="en-US"/>
                  <a:t>= 1.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1114523"/>
              </a:xfrm>
              <a:blipFill rotWithShape="0">
                <a:blip r:embed="rId2"/>
                <a:stretch>
                  <a:fillRect l="-1285" t="-8743" b="-4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56" y="3322869"/>
            <a:ext cx="7159115" cy="16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0399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539</TotalTime>
  <Words>497</Words>
  <Application>Microsoft Macintosh PowerPoint</Application>
  <PresentationFormat>A4 Paper (210x297 mm)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A4 Presentation</vt:lpstr>
      <vt:lpstr>Matrices</vt:lpstr>
      <vt:lpstr>Multiplication of Matrices</vt:lpstr>
      <vt:lpstr>Matrix multiplication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examples</vt:lpstr>
      <vt:lpstr>PowerPoint Presentation</vt:lpstr>
      <vt:lpstr>PowerPoint Presentation</vt:lpstr>
      <vt:lpstr>PowerPoint Presentation</vt:lpstr>
      <vt:lpstr>Practical examples</vt:lpstr>
      <vt:lpstr>PowerPoint Presentation</vt:lpstr>
      <vt:lpstr>Zero matrices</vt:lpstr>
      <vt:lpstr>Note</vt:lpstr>
      <vt:lpstr>Note</vt:lpstr>
      <vt:lpstr>Multiplicative Identity Matrices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Matrices</dc:title>
  <dc:creator>Michael Loh</dc:creator>
  <cp:lastModifiedBy>LOH Michael [Shenton College]</cp:lastModifiedBy>
  <cp:revision>28</cp:revision>
  <cp:lastPrinted>2019-03-19T00:31:15Z</cp:lastPrinted>
  <dcterms:created xsi:type="dcterms:W3CDTF">2017-03-20T13:17:54Z</dcterms:created>
  <dcterms:modified xsi:type="dcterms:W3CDTF">2019-03-19T00:46:35Z</dcterms:modified>
</cp:coreProperties>
</file>
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2"/>
  </p:normalViewPr>
  <p:slideViewPr>
    <p:cSldViewPr snapToGrid="0" snapToObjects="1">
      <p:cViewPr varScale="1">
        <p:scale>
          <a:sx n="109" d="100"/>
          <a:sy n="109" d="100"/>
        </p:scale>
        <p:origin x="14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8/11/19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Displaying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148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display numerical data?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" r="4478" b="5480"/>
          <a:stretch/>
        </p:blipFill>
        <p:spPr>
          <a:xfrm>
            <a:off x="546100" y="1346200"/>
            <a:ext cx="6375400" cy="1752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6"/>
          <a:stretch/>
        </p:blipFill>
        <p:spPr>
          <a:xfrm>
            <a:off x="749300" y="3416300"/>
            <a:ext cx="4203700" cy="314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56438" y="1690690"/>
            <a:ext cx="24638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Dot </a:t>
            </a:r>
            <a:r>
              <a:rPr lang="en-US" sz="2400"/>
              <a:t>frequency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838" y="4575601"/>
            <a:ext cx="246380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Frequency histogram</a:t>
            </a:r>
          </a:p>
        </p:txBody>
      </p:sp>
    </p:spTree>
    <p:extLst>
      <p:ext uri="{BB962C8B-B14F-4D97-AF65-F5344CB8AC3E}">
        <p14:creationId xmlns:p14="http://schemas.microsoft.com/office/powerpoint/2010/main" val="1817079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Dot frequency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3251201"/>
            <a:ext cx="8543925" cy="2925762"/>
          </a:xfrm>
        </p:spPr>
        <p:txBody>
          <a:bodyPr/>
          <a:lstStyle/>
          <a:p>
            <a:r>
              <a:rPr lang="en-US" dirty="0"/>
              <a:t>Discrete data </a:t>
            </a:r>
            <a:r>
              <a:rPr lang="mr-IN" dirty="0"/>
              <a:t>–</a:t>
            </a:r>
            <a:r>
              <a:rPr lang="en-US" dirty="0"/>
              <a:t> number of pupils, not continuous.</a:t>
            </a:r>
          </a:p>
          <a:p>
            <a:r>
              <a:rPr lang="en-US" dirty="0"/>
              <a:t>y</a:t>
            </a:r>
            <a:r>
              <a:rPr lang="en-AU" dirty="0"/>
              <a:t>-</a:t>
            </a:r>
            <a:r>
              <a:rPr lang="en-US" dirty="0"/>
              <a:t>axis is always frequency</a:t>
            </a:r>
          </a:p>
          <a:p>
            <a:r>
              <a:rPr lang="en-US" dirty="0"/>
              <a:t>x-axis is always numbers (in this case, integer)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" r="4478" b="5480"/>
          <a:stretch/>
        </p:blipFill>
        <p:spPr>
          <a:xfrm>
            <a:off x="1481138" y="1393825"/>
            <a:ext cx="63754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420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Frequency histogram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8300" y="1600994"/>
            <a:ext cx="5046663" cy="3458367"/>
          </a:xfrm>
        </p:spPr>
        <p:txBody>
          <a:bodyPr/>
          <a:lstStyle/>
          <a:p>
            <a:r>
              <a:rPr lang="en-US" dirty="0"/>
              <a:t>Length </a:t>
            </a:r>
            <a:r>
              <a:rPr lang="mr-IN" dirty="0"/>
              <a:t>–</a:t>
            </a:r>
            <a:r>
              <a:rPr lang="en-US" dirty="0"/>
              <a:t> continuous data</a:t>
            </a:r>
          </a:p>
          <a:p>
            <a:r>
              <a:rPr lang="en-US" dirty="0"/>
              <a:t>50 cm </a:t>
            </a:r>
            <a:r>
              <a:rPr lang="mr-IN" dirty="0"/>
              <a:t>–</a:t>
            </a:r>
            <a:r>
              <a:rPr lang="en-US" dirty="0"/>
              <a:t> between 49.5 to 50.5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6" r="8761"/>
          <a:stretch/>
        </p:blipFill>
        <p:spPr>
          <a:xfrm>
            <a:off x="342900" y="1600994"/>
            <a:ext cx="3835400" cy="3149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38" y="5059361"/>
            <a:ext cx="61976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07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histogram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gaps between the bar except when frequency = 0.</a:t>
            </a:r>
          </a:p>
          <a:p>
            <a:r>
              <a:rPr lang="en-US" dirty="0"/>
              <a:t>Usually have 6 </a:t>
            </a:r>
            <a:r>
              <a:rPr lang="mr-IN" dirty="0"/>
              <a:t>–</a:t>
            </a:r>
            <a:r>
              <a:rPr lang="en-US" dirty="0"/>
              <a:t> 10 equal intervals.</a:t>
            </a:r>
          </a:p>
          <a:p>
            <a:r>
              <a:rPr lang="en-US" dirty="0"/>
              <a:t>y</a:t>
            </a:r>
            <a:r>
              <a:rPr lang="en-AU" dirty="0"/>
              <a:t>-</a:t>
            </a:r>
            <a:r>
              <a:rPr lang="en-US" dirty="0"/>
              <a:t>axis is always frequency</a:t>
            </a:r>
          </a:p>
          <a:p>
            <a:r>
              <a:rPr lang="en-US" dirty="0"/>
              <a:t>x-axis is always numbers</a:t>
            </a:r>
          </a:p>
          <a:p>
            <a:r>
              <a:rPr lang="en-US" dirty="0"/>
              <a:t>The frequency can be expressed in </a:t>
            </a:r>
          </a:p>
          <a:p>
            <a:pPr lvl="1"/>
            <a:r>
              <a:rPr lang="en-US" dirty="0"/>
              <a:t>Relative frequency </a:t>
            </a:r>
            <a:r>
              <a:rPr lang="mr-IN" dirty="0"/>
              <a:t>–</a:t>
            </a:r>
            <a:r>
              <a:rPr lang="en-US" dirty="0"/>
              <a:t> fraction of the whole</a:t>
            </a:r>
          </a:p>
          <a:p>
            <a:pPr lvl="1"/>
            <a:r>
              <a:rPr lang="en-US" dirty="0"/>
              <a:t>Percentage frequency </a:t>
            </a:r>
            <a:r>
              <a:rPr lang="mr-IN" dirty="0"/>
              <a:t>–</a:t>
            </a:r>
            <a:r>
              <a:rPr lang="en-US" dirty="0"/>
              <a:t> percentage of the whole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601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5" b="4736"/>
          <a:stretch/>
        </p:blipFill>
        <p:spPr>
          <a:xfrm>
            <a:off x="381000" y="927100"/>
            <a:ext cx="9118600" cy="441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28850" y="6121400"/>
            <a:ext cx="2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Frequency polygon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340100" y="3594100"/>
            <a:ext cx="317500" cy="25273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223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716" y="1347953"/>
            <a:ext cx="9701284" cy="53803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3200" dirty="0"/>
              <a:t>The following data give the number of hours 60 self-employed brick layers worked during a particular week.</a:t>
            </a:r>
          </a:p>
          <a:p>
            <a:pPr marL="0" indent="0">
              <a:buNone/>
            </a:pPr>
            <a:endParaRPr lang="en-GB" sz="3200" dirty="0"/>
          </a:p>
          <a:p>
            <a:pPr marL="0" indent="0">
              <a:buNone/>
            </a:pPr>
            <a:endParaRPr lang="en-GB" sz="3200" dirty="0"/>
          </a:p>
          <a:p>
            <a:pPr marL="0" indent="0">
              <a:buNone/>
            </a:pPr>
            <a:endParaRPr lang="en-GB" sz="3200" dirty="0"/>
          </a:p>
          <a:p>
            <a:pPr marL="0" indent="0">
              <a:buNone/>
            </a:pPr>
            <a:r>
              <a:rPr lang="en-AU" sz="3200" dirty="0"/>
              <a:t> </a:t>
            </a:r>
            <a:endParaRPr lang="en-GB" sz="3200" dirty="0"/>
          </a:p>
          <a:p>
            <a:pPr marL="0" indent="0">
              <a:buNone/>
            </a:pPr>
            <a:r>
              <a:rPr lang="en-AU" sz="3200" dirty="0"/>
              <a:t>a. Represent the data on a frequency distribution table.</a:t>
            </a:r>
            <a:endParaRPr lang="en-GB" sz="3200" dirty="0"/>
          </a:p>
          <a:p>
            <a:pPr marL="0" indent="0">
              <a:buNone/>
            </a:pPr>
            <a:r>
              <a:rPr lang="en-AU" sz="3200" dirty="0"/>
              <a:t>b. Draw a histogram of the data.</a:t>
            </a:r>
            <a:endParaRPr lang="en-GB" sz="3200" dirty="0"/>
          </a:p>
          <a:p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0"/>
          <a:stretch/>
        </p:blipFill>
        <p:spPr>
          <a:xfrm>
            <a:off x="28576" y="2528887"/>
            <a:ext cx="9758363" cy="180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899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Determine the interval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6440" y="4470921"/>
            <a:ext cx="51588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Minimum = 12 hours </a:t>
            </a:r>
          </a:p>
          <a:p>
            <a:endParaRPr lang="en-US" sz="2800" dirty="0"/>
          </a:p>
          <a:p>
            <a:r>
              <a:rPr lang="en-US" sz="2800" dirty="0"/>
              <a:t>Maximum </a:t>
            </a:r>
            <a:r>
              <a:rPr lang="en-US" sz="2800"/>
              <a:t>= 62 </a:t>
            </a:r>
            <a:r>
              <a:rPr lang="en-US" sz="2800" dirty="0"/>
              <a:t>hours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0"/>
          <a:stretch/>
        </p:blipFill>
        <p:spPr>
          <a:xfrm>
            <a:off x="73818" y="2043112"/>
            <a:ext cx="9758363" cy="180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285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50" y="1270769"/>
            <a:ext cx="8880837" cy="45155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575708" y="2013898"/>
            <a:ext cx="614149" cy="368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||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6881" y="4687275"/>
            <a:ext cx="614149" cy="368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|||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2724" y="5208113"/>
            <a:ext cx="777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0970" y="4675053"/>
            <a:ext cx="777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||||</a:t>
            </a:r>
          </a:p>
        </p:txBody>
      </p:sp>
      <p:cxnSp>
        <p:nvCxnSpPr>
          <p:cNvPr id="14" name="Straight Connector 13"/>
          <p:cNvCxnSpPr>
            <a:stCxn id="11" idx="1"/>
          </p:cNvCxnSpPr>
          <p:nvPr/>
        </p:nvCxnSpPr>
        <p:spPr>
          <a:xfrm>
            <a:off x="3550970" y="4859719"/>
            <a:ext cx="571005" cy="15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701873" y="2567054"/>
            <a:ext cx="777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||||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85" y="2750175"/>
            <a:ext cx="571005" cy="15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554308" y="3345429"/>
            <a:ext cx="777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||||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3578620" y="3528550"/>
            <a:ext cx="571005" cy="15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61988" y="3374231"/>
            <a:ext cx="777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||||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4186300" y="3557352"/>
            <a:ext cx="571005" cy="15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829438" y="3372686"/>
            <a:ext cx="777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||||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4853750" y="3555807"/>
            <a:ext cx="470586" cy="15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58501" y="3343884"/>
            <a:ext cx="777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||||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5516558" y="3531274"/>
            <a:ext cx="571005" cy="15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578117" y="3940747"/>
            <a:ext cx="777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||||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3602429" y="4123868"/>
            <a:ext cx="571005" cy="15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185797" y="3969549"/>
            <a:ext cx="777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||||</a:t>
            </a:r>
          </a:p>
        </p:txBody>
      </p:sp>
      <p:cxnSp>
        <p:nvCxnSpPr>
          <p:cNvPr id="39" name="Straight Connector 38"/>
          <p:cNvCxnSpPr/>
          <p:nvPr/>
        </p:nvCxnSpPr>
        <p:spPr>
          <a:xfrm>
            <a:off x="4210109" y="4152670"/>
            <a:ext cx="571005" cy="15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96196" y="3952969"/>
            <a:ext cx="777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||||</a:t>
            </a:r>
          </a:p>
        </p:txBody>
      </p:sp>
      <p:cxnSp>
        <p:nvCxnSpPr>
          <p:cNvPr id="41" name="Straight Connector 40"/>
          <p:cNvCxnSpPr/>
          <p:nvPr/>
        </p:nvCxnSpPr>
        <p:spPr>
          <a:xfrm>
            <a:off x="4877559" y="4151125"/>
            <a:ext cx="470586" cy="15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372030" y="3940865"/>
            <a:ext cx="777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||||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5430087" y="4128255"/>
            <a:ext cx="571005" cy="15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780488" y="4123868"/>
            <a:ext cx="765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|| ||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0" y="2013898"/>
            <a:ext cx="385763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7772399" y="2707786"/>
            <a:ext cx="385763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7710480" y="3295017"/>
            <a:ext cx="647708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7734288" y="3947481"/>
            <a:ext cx="519118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7781923" y="4538045"/>
            <a:ext cx="385763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7781922" y="5231933"/>
            <a:ext cx="385763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017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  <p:bldP spid="11" grpId="0"/>
      <p:bldP spid="18" grpId="0"/>
      <p:bldP spid="21" grpId="0"/>
      <p:bldP spid="23" grpId="0"/>
      <p:bldP spid="26" grpId="0"/>
      <p:bldP spid="28" grpId="0"/>
      <p:bldP spid="36" grpId="0"/>
      <p:bldP spid="38" grpId="0"/>
      <p:bldP spid="40" grpId="0"/>
      <p:bldP spid="42" grpId="0"/>
      <p:bldP spid="44" grpId="0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715904" y="5895833"/>
            <a:ext cx="368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7" r="4754"/>
          <a:stretch/>
        </p:blipFill>
        <p:spPr>
          <a:xfrm>
            <a:off x="72301" y="1171575"/>
            <a:ext cx="9257438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530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1066800"/>
            <a:ext cx="98679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015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55" y="842962"/>
            <a:ext cx="8974887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281826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146</TotalTime>
  <Words>156</Words>
  <Application>Microsoft Macintosh PowerPoint</Application>
  <PresentationFormat>A4 Paper (210x297 mm)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A4</vt:lpstr>
      <vt:lpstr>Displaying Data</vt:lpstr>
      <vt:lpstr>How do we display numerical data?</vt:lpstr>
      <vt:lpstr>Dot frequency diagram</vt:lpstr>
      <vt:lpstr>Frequency histogram</vt:lpstr>
      <vt:lpstr>Frequency histogram</vt:lpstr>
      <vt:lpstr>PowerPoint Presentation</vt:lpstr>
      <vt:lpstr>Worksheet</vt:lpstr>
      <vt:lpstr>Determine the interval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Displaying Data</dc:title>
  <dc:creator>LOH Michael [Shenton College]</dc:creator>
  <cp:lastModifiedBy>LOH Michael [Shenton College]</cp:lastModifiedBy>
  <cp:revision>12</cp:revision>
  <dcterms:created xsi:type="dcterms:W3CDTF">2017-07-18T12:06:13Z</dcterms:created>
  <dcterms:modified xsi:type="dcterms:W3CDTF">2019-08-11T06:58:21Z</dcterms:modified>
</cp:coreProperties>
</file>
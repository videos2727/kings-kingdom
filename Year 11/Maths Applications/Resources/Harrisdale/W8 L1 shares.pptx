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
  </p:notesMasterIdLst>
  <p:sldIdLst>
    <p:sldId id="256" r:id="rId2"/>
    <p:sldId id="257" r:id="rId3"/>
    <p:sldId id="258" r:id="rId4"/>
    <p:sldId id="259" r:id="rId5"/>
    <p:sldId id="260" r:id="rId6"/>
    <p:sldId id="264" r:id="rId7"/>
    <p:sldId id="261" r:id="rId8"/>
    <p:sldId id="262" r:id="rId9"/>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7"/>
    <p:restoredTop sz="91259"/>
  </p:normalViewPr>
  <p:slideViewPr>
    <p:cSldViewPr snapToGrid="0" snapToObjects="1">
      <p:cViewPr varScale="1">
        <p:scale>
          <a:sx n="89" d="100"/>
          <a:sy n="89" d="100"/>
        </p:scale>
        <p:origin x="158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156813-9CBF-1749-B387-3353926AFDA1}" type="datetimeFigureOut">
              <a:rPr lang="en-US" smtClean="0"/>
              <a:t>6/16/19</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693AEB-E195-ED44-AD3F-12CA3824BDF3}" type="slidenum">
              <a:rPr lang="en-US" smtClean="0"/>
              <a:t>‹#›</a:t>
            </a:fld>
            <a:endParaRPr lang="en-US"/>
          </a:p>
        </p:txBody>
      </p:sp>
    </p:spTree>
    <p:extLst>
      <p:ext uri="{BB962C8B-B14F-4D97-AF65-F5344CB8AC3E}">
        <p14:creationId xmlns:p14="http://schemas.microsoft.com/office/powerpoint/2010/main" val="1049707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australianinvestmenteducation.com.au</a:t>
            </a:r>
            <a:r>
              <a:rPr lang="en-US" dirty="0"/>
              <a:t>/articles/how-to-buy-shares-in-the-stock-market/</a:t>
            </a:r>
          </a:p>
        </p:txBody>
      </p:sp>
      <p:sp>
        <p:nvSpPr>
          <p:cNvPr id="4" name="Slide Number Placeholder 3"/>
          <p:cNvSpPr>
            <a:spLocks noGrp="1"/>
          </p:cNvSpPr>
          <p:nvPr>
            <p:ph type="sldNum" sz="quarter" idx="10"/>
          </p:nvPr>
        </p:nvSpPr>
        <p:spPr/>
        <p:txBody>
          <a:bodyPr/>
          <a:lstStyle/>
          <a:p>
            <a:fld id="{05693AEB-E195-ED44-AD3F-12CA3824BDF3}" type="slidenum">
              <a:rPr lang="en-US" smtClean="0"/>
              <a:t>2</a:t>
            </a:fld>
            <a:endParaRPr lang="en-US"/>
          </a:p>
        </p:txBody>
      </p:sp>
    </p:spTree>
    <p:extLst>
      <p:ext uri="{BB962C8B-B14F-4D97-AF65-F5344CB8AC3E}">
        <p14:creationId xmlns:p14="http://schemas.microsoft.com/office/powerpoint/2010/main" val="854447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8337F27-3561-F447-A297-B1BA2E47B84D}" type="datetimeFigureOut">
              <a:rPr lang="en-US" smtClean="0"/>
              <a:t>6/16/19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337F27-3561-F447-A297-B1BA2E47B84D}" type="datetimeFigureOut">
              <a:rPr lang="en-US" smtClean="0"/>
              <a:t>6/16/19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337F27-3561-F447-A297-B1BA2E47B84D}" type="datetimeFigureOut">
              <a:rPr lang="en-US" smtClean="0"/>
              <a:t>6/16/19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337F27-3561-F447-A297-B1BA2E47B84D}" type="datetimeFigureOut">
              <a:rPr lang="en-US" smtClean="0"/>
              <a:t>6/16/19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337F27-3561-F447-A297-B1BA2E47B84D}" type="datetimeFigureOut">
              <a:rPr lang="en-US" smtClean="0"/>
              <a:t>6/16/19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337F27-3561-F447-A297-B1BA2E47B84D}" type="datetimeFigureOut">
              <a:rPr lang="en-US" smtClean="0"/>
              <a:t>6/16/19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337F27-3561-F447-A297-B1BA2E47B84D}" type="datetimeFigureOut">
              <a:rPr lang="en-US" smtClean="0"/>
              <a:t>6/16/19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337F27-3561-F447-A297-B1BA2E47B84D}" type="datetimeFigureOut">
              <a:rPr lang="en-US" smtClean="0"/>
              <a:t>6/16/19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337F27-3561-F447-A297-B1BA2E47B84D}" type="datetimeFigureOut">
              <a:rPr lang="en-US" smtClean="0"/>
              <a:t>6/16/19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337F27-3561-F447-A297-B1BA2E47B84D}" type="datetimeFigureOut">
              <a:rPr lang="en-US" smtClean="0"/>
              <a:t>6/16/19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337F27-3561-F447-A297-B1BA2E47B84D}" type="datetimeFigureOut">
              <a:rPr lang="en-US" smtClean="0"/>
              <a:t>6/16/19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337F27-3561-F447-A297-B1BA2E47B84D}" type="datetimeFigureOut">
              <a:rPr lang="en-US" smtClean="0"/>
              <a:t>6/16/19</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440C13-C396-FA4F-B9F9-0B19ECA580A0}" type="slidenum">
              <a:rPr lang="en-US" smtClean="0"/>
              <a:t>‹#›</a:t>
            </a:fld>
            <a:endParaRPr lang="en-US"/>
          </a:p>
        </p:txBody>
      </p:sp>
    </p:spTree>
    <p:extLst>
      <p:ext uri="{BB962C8B-B14F-4D97-AF65-F5344CB8AC3E}">
        <p14:creationId xmlns:p14="http://schemas.microsoft.com/office/powerpoint/2010/main" val="4436629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Shares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66691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800100" y="1447800"/>
            <a:ext cx="8305800" cy="3962400"/>
          </a:xfrm>
          <a:prstGeom prst="rect">
            <a:avLst/>
          </a:prstGeom>
        </p:spPr>
      </p:pic>
      <p:sp>
        <p:nvSpPr>
          <p:cNvPr id="5" name="TextBox 4"/>
          <p:cNvSpPr txBox="1"/>
          <p:nvPr/>
        </p:nvSpPr>
        <p:spPr>
          <a:xfrm>
            <a:off x="2909455" y="498764"/>
            <a:ext cx="4087090" cy="461665"/>
          </a:xfrm>
          <a:prstGeom prst="rect">
            <a:avLst/>
          </a:prstGeom>
          <a:noFill/>
        </p:spPr>
        <p:txBody>
          <a:bodyPr wrap="square" rtlCol="0">
            <a:spAutoFit/>
          </a:bodyPr>
          <a:lstStyle/>
          <a:p>
            <a:pPr algn="ctr"/>
            <a:r>
              <a:rPr lang="en-US" sz="2400" dirty="0"/>
              <a:t>Buying and selling shares?</a:t>
            </a:r>
          </a:p>
        </p:txBody>
      </p:sp>
    </p:spTree>
    <p:extLst>
      <p:ext uri="{BB962C8B-B14F-4D97-AF65-F5344CB8AC3E}">
        <p14:creationId xmlns:p14="http://schemas.microsoft.com/office/powerpoint/2010/main" val="1775858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buy shares?</a:t>
            </a:r>
          </a:p>
        </p:txBody>
      </p:sp>
      <p:sp>
        <p:nvSpPr>
          <p:cNvPr id="3" name="Content Placeholder 2"/>
          <p:cNvSpPr>
            <a:spLocks noGrp="1"/>
          </p:cNvSpPr>
          <p:nvPr>
            <p:ph idx="1"/>
          </p:nvPr>
        </p:nvSpPr>
        <p:spPr>
          <a:xfrm>
            <a:off x="681038" y="1825625"/>
            <a:ext cx="8543925" cy="1222375"/>
          </a:xfrm>
        </p:spPr>
        <p:txBody>
          <a:bodyPr/>
          <a:lstStyle/>
          <a:p>
            <a:r>
              <a:rPr lang="en-US" dirty="0"/>
              <a:t>Making money </a:t>
            </a:r>
            <a:r>
              <a:rPr lang="en-AU" dirty="0"/>
              <a:t>for living</a:t>
            </a:r>
            <a:endParaRPr lang="en-US" dirty="0"/>
          </a:p>
          <a:p>
            <a:r>
              <a:rPr lang="en-US" dirty="0"/>
              <a:t>Investment for retirement</a:t>
            </a:r>
          </a:p>
          <a:p>
            <a:endParaRPr lang="en-US" dirty="0"/>
          </a:p>
          <a:p>
            <a:endParaRPr lang="en-US" dirty="0"/>
          </a:p>
        </p:txBody>
      </p:sp>
      <p:sp>
        <p:nvSpPr>
          <p:cNvPr id="4" name="Title 1"/>
          <p:cNvSpPr txBox="1">
            <a:spLocks/>
          </p:cNvSpPr>
          <p:nvPr/>
        </p:nvSpPr>
        <p:spPr>
          <a:xfrm>
            <a:off x="681038" y="2664981"/>
            <a:ext cx="854392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How to make money from shares?</a:t>
            </a:r>
          </a:p>
        </p:txBody>
      </p:sp>
      <p:sp>
        <p:nvSpPr>
          <p:cNvPr id="5" name="Content Placeholder 2"/>
          <p:cNvSpPr txBox="1">
            <a:spLocks/>
          </p:cNvSpPr>
          <p:nvPr/>
        </p:nvSpPr>
        <p:spPr>
          <a:xfrm>
            <a:off x="681038" y="3887355"/>
            <a:ext cx="8543925" cy="263813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Buy the share at a low price and sell it at a high price (generally short term)</a:t>
            </a:r>
            <a:endParaRPr lang="en-US" dirty="0"/>
          </a:p>
          <a:p>
            <a:r>
              <a:rPr lang="en-US" dirty="0"/>
              <a:t>Dividend given by the company.</a:t>
            </a:r>
          </a:p>
          <a:p>
            <a:r>
              <a:rPr lang="en-US" dirty="0"/>
              <a:t>Capital gains - buy the share at a price, keep the shares for a long time and wait for the value of the share price to increase. </a:t>
            </a:r>
          </a:p>
          <a:p>
            <a:endParaRPr lang="en-US" dirty="0"/>
          </a:p>
          <a:p>
            <a:endParaRPr lang="en-US" dirty="0"/>
          </a:p>
        </p:txBody>
      </p:sp>
    </p:spTree>
    <p:extLst>
      <p:ext uri="{BB962C8B-B14F-4D97-AF65-F5344CB8AC3E}">
        <p14:creationId xmlns:p14="http://schemas.microsoft.com/office/powerpoint/2010/main" val="1292147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Dividend</a:t>
            </a:r>
          </a:p>
        </p:txBody>
      </p:sp>
      <p:sp>
        <p:nvSpPr>
          <p:cNvPr id="3" name="Content Placeholder 2"/>
          <p:cNvSpPr>
            <a:spLocks noGrp="1"/>
          </p:cNvSpPr>
          <p:nvPr>
            <p:ph idx="1"/>
          </p:nvPr>
        </p:nvSpPr>
        <p:spPr/>
        <p:txBody>
          <a:bodyPr/>
          <a:lstStyle/>
          <a:p>
            <a:r>
              <a:rPr lang="en-US" dirty="0"/>
              <a:t>Company which made some profits may choose to distribute the profits among the shareholders.</a:t>
            </a:r>
          </a:p>
          <a:p>
            <a:pPr lvl="1"/>
            <a:r>
              <a:rPr lang="en-US" dirty="0"/>
              <a:t>May not happen every year </a:t>
            </a:r>
            <a:r>
              <a:rPr lang="mr-IN" dirty="0"/>
              <a:t>–</a:t>
            </a:r>
            <a:r>
              <a:rPr lang="en-US" dirty="0"/>
              <a:t> it depends on the amount made.</a:t>
            </a:r>
          </a:p>
          <a:p>
            <a:pPr lvl="1"/>
            <a:endParaRPr lang="en-US" dirty="0"/>
          </a:p>
          <a:p>
            <a:r>
              <a:rPr lang="en-US" dirty="0"/>
              <a:t>The company director may not want to share the profits because they want to expand the company or re-invest the money.</a:t>
            </a:r>
          </a:p>
          <a:p>
            <a:pPr lvl="1"/>
            <a:endParaRPr lang="en-US" dirty="0"/>
          </a:p>
        </p:txBody>
      </p:sp>
    </p:spTree>
    <p:extLst>
      <p:ext uri="{BB962C8B-B14F-4D97-AF65-F5344CB8AC3E}">
        <p14:creationId xmlns:p14="http://schemas.microsoft.com/office/powerpoint/2010/main" val="335059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Portfolio</a:t>
            </a:r>
          </a:p>
        </p:txBody>
      </p:sp>
      <p:sp>
        <p:nvSpPr>
          <p:cNvPr id="3" name="Content Placeholder 2"/>
          <p:cNvSpPr>
            <a:spLocks noGrp="1"/>
          </p:cNvSpPr>
          <p:nvPr>
            <p:ph idx="1"/>
          </p:nvPr>
        </p:nvSpPr>
        <p:spPr/>
        <p:txBody>
          <a:bodyPr/>
          <a:lstStyle/>
          <a:p>
            <a:r>
              <a:rPr lang="en-US" dirty="0"/>
              <a:t>All the shares an investor own.</a:t>
            </a:r>
          </a:p>
          <a:p>
            <a:endParaRPr lang="en-US" dirty="0"/>
          </a:p>
          <a:p>
            <a:r>
              <a:rPr lang="en-US" dirty="0"/>
              <a:t>Can calculate the total value of the share based on the share price.</a:t>
            </a:r>
          </a:p>
          <a:p>
            <a:endParaRPr lang="en-US" dirty="0"/>
          </a:p>
          <a:p>
            <a:r>
              <a:rPr lang="en-US" dirty="0"/>
              <a:t>Worksheet.</a:t>
            </a:r>
          </a:p>
        </p:txBody>
      </p:sp>
    </p:spTree>
    <p:extLst>
      <p:ext uri="{BB962C8B-B14F-4D97-AF65-F5344CB8AC3E}">
        <p14:creationId xmlns:p14="http://schemas.microsoft.com/office/powerpoint/2010/main" val="1482365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B4E71C-E3DC-BA44-AB23-052E0DE7EC2E}"/>
              </a:ext>
            </a:extLst>
          </p:cNvPr>
          <p:cNvPicPr>
            <a:picLocks noChangeAspect="1"/>
          </p:cNvPicPr>
          <p:nvPr/>
        </p:nvPicPr>
        <p:blipFill rotWithShape="1">
          <a:blip r:embed="rId2"/>
          <a:srcRect t="2741" b="8178"/>
          <a:stretch/>
        </p:blipFill>
        <p:spPr>
          <a:xfrm>
            <a:off x="125412" y="371475"/>
            <a:ext cx="9398000" cy="3043238"/>
          </a:xfrm>
          <a:prstGeom prst="rect">
            <a:avLst/>
          </a:prstGeom>
        </p:spPr>
      </p:pic>
    </p:spTree>
    <p:extLst>
      <p:ext uri="{BB962C8B-B14F-4D97-AF65-F5344CB8AC3E}">
        <p14:creationId xmlns:p14="http://schemas.microsoft.com/office/powerpoint/2010/main" val="1863201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Price to earning ratio (P/E ratio)</a:t>
            </a:r>
          </a:p>
        </p:txBody>
      </p:sp>
      <mc:AlternateContent xmlns:mc="http://schemas.openxmlformats.org/markup-compatibility/2006" xmlns:a14="http://schemas.microsoft.com/office/drawing/2010/main">
        <mc:Choice Requires="a14">
          <p:sp>
            <p:nvSpPr>
              <p:cNvPr id="6" name="TextBox 5"/>
              <p:cNvSpPr txBox="1"/>
              <p:nvPr/>
            </p:nvSpPr>
            <p:spPr>
              <a:xfrm>
                <a:off x="1108364" y="2240300"/>
                <a:ext cx="7356764" cy="961545"/>
              </a:xfrm>
              <a:prstGeom prst="rect">
                <a:avLst/>
              </a:prstGeom>
              <a:noFill/>
              <a:ln w="38100">
                <a:solidFill>
                  <a:srgbClr val="0070C0"/>
                </a:solidFill>
              </a:ln>
            </p:spPr>
            <p:txBody>
              <a:bodyPr wrap="square" rtlCol="0">
                <a:spAutoFit/>
              </a:bodyPr>
              <a:lstStyle/>
              <a:p>
                <a:pPr algn="ctr"/>
                <a:r>
                  <a:rPr lang="en-US" sz="3600" dirty="0"/>
                  <a:t>P/E ratio =  </a:t>
                </a:r>
                <a14:m>
                  <m:oMath xmlns:m="http://schemas.openxmlformats.org/officeDocument/2006/math">
                    <m:f>
                      <m:fPr>
                        <m:ctrlPr>
                          <a:rPr lang="mr-IN" sz="3600" i="1" smtClean="0">
                            <a:latin typeface="Cambria Math" panose="02040503050406030204" pitchFamily="18" charset="0"/>
                          </a:rPr>
                        </m:ctrlPr>
                      </m:fPr>
                      <m:num>
                        <m:r>
                          <a:rPr lang="en-AU" sz="3600" b="0" i="1" smtClean="0">
                            <a:latin typeface="Cambria Math" charset="0"/>
                          </a:rPr>
                          <m:t>𝑆h𝑎𝑟𝑒</m:t>
                        </m:r>
                        <m:r>
                          <a:rPr lang="en-AU" sz="3600" b="0" i="1" smtClean="0">
                            <a:latin typeface="Cambria Math" charset="0"/>
                          </a:rPr>
                          <m:t> </m:t>
                        </m:r>
                        <m:r>
                          <a:rPr lang="en-AU" sz="3600" b="0" i="1" smtClean="0">
                            <a:latin typeface="Cambria Math" charset="0"/>
                          </a:rPr>
                          <m:t>𝑝𝑟𝑖𝑐𝑒</m:t>
                        </m:r>
                      </m:num>
                      <m:den>
                        <m:r>
                          <a:rPr lang="en-AU" sz="3600" b="0" i="1" smtClean="0">
                            <a:latin typeface="Cambria Math" charset="0"/>
                          </a:rPr>
                          <m:t>𝐸𝑎𝑟𝑛𝑖𝑛𝑔𝑠</m:t>
                        </m:r>
                        <m:r>
                          <a:rPr lang="en-AU" sz="3600" b="0" i="1" smtClean="0">
                            <a:latin typeface="Cambria Math" charset="0"/>
                          </a:rPr>
                          <m:t> </m:t>
                        </m:r>
                        <m:r>
                          <a:rPr lang="en-AU" sz="3600" b="0" i="1" smtClean="0">
                            <a:latin typeface="Cambria Math" charset="0"/>
                          </a:rPr>
                          <m:t>𝑖𝑛</m:t>
                        </m:r>
                        <m:r>
                          <a:rPr lang="en-AU" sz="3600" b="0" i="1" smtClean="0">
                            <a:latin typeface="Cambria Math" charset="0"/>
                          </a:rPr>
                          <m:t> </m:t>
                        </m:r>
                        <m:r>
                          <a:rPr lang="en-AU" sz="3600" b="0" i="1" smtClean="0">
                            <a:latin typeface="Cambria Math" charset="0"/>
                          </a:rPr>
                          <m:t>𝑡h𝑒</m:t>
                        </m:r>
                        <m:r>
                          <a:rPr lang="en-AU" sz="3600" b="0" i="1" smtClean="0">
                            <a:latin typeface="Cambria Math" charset="0"/>
                          </a:rPr>
                          <m:t> </m:t>
                        </m:r>
                        <m:r>
                          <a:rPr lang="en-AU" sz="3600" b="0" i="1" smtClean="0">
                            <a:latin typeface="Cambria Math" charset="0"/>
                          </a:rPr>
                          <m:t>𝑝𝑎𝑠𝑡</m:t>
                        </m:r>
                        <m:r>
                          <a:rPr lang="en-AU" sz="3600" b="0" i="1" smtClean="0">
                            <a:latin typeface="Cambria Math" charset="0"/>
                          </a:rPr>
                          <m:t> </m:t>
                        </m:r>
                        <m:r>
                          <a:rPr lang="en-AU" sz="3600" b="0" i="1" smtClean="0">
                            <a:latin typeface="Cambria Math" charset="0"/>
                          </a:rPr>
                          <m:t>𝑦𝑒𝑎𝑟</m:t>
                        </m:r>
                      </m:den>
                    </m:f>
                  </m:oMath>
                </a14:m>
                <a:endParaRPr lang="en-US" sz="3600" dirty="0"/>
              </a:p>
            </p:txBody>
          </p:sp>
        </mc:Choice>
        <mc:Fallback xmlns="">
          <p:sp>
            <p:nvSpPr>
              <p:cNvPr id="6" name="TextBox 5"/>
              <p:cNvSpPr txBox="1">
                <a:spLocks noRot="1" noChangeAspect="1" noMove="1" noResize="1" noEditPoints="1" noAdjustHandles="1" noChangeArrowheads="1" noChangeShapeType="1" noTextEdit="1"/>
              </p:cNvSpPr>
              <p:nvPr/>
            </p:nvSpPr>
            <p:spPr>
              <a:xfrm>
                <a:off x="1108364" y="2240300"/>
                <a:ext cx="7356764" cy="961545"/>
              </a:xfrm>
              <a:prstGeom prst="rect">
                <a:avLst/>
              </a:prstGeom>
              <a:blipFill rotWithShape="0">
                <a:blip r:embed="rId2"/>
                <a:stretch>
                  <a:fillRect b="-3681"/>
                </a:stretch>
              </a:blipFill>
              <a:ln w="38100">
                <a:solidFill>
                  <a:srgbClr val="0070C0"/>
                </a:solidFill>
              </a:ln>
            </p:spPr>
            <p:txBody>
              <a:bodyPr/>
              <a:lstStyle/>
              <a:p>
                <a:r>
                  <a:rPr lang="en-US">
                    <a:noFill/>
                  </a:rPr>
                  <a:t> </a:t>
                </a:r>
              </a:p>
            </p:txBody>
          </p:sp>
        </mc:Fallback>
      </mc:AlternateContent>
      <p:sp>
        <p:nvSpPr>
          <p:cNvPr id="7" name="TextBox 6"/>
          <p:cNvSpPr txBox="1"/>
          <p:nvPr/>
        </p:nvSpPr>
        <p:spPr>
          <a:xfrm>
            <a:off x="858982" y="4114800"/>
            <a:ext cx="7509163" cy="2215991"/>
          </a:xfrm>
          <a:prstGeom prst="rect">
            <a:avLst/>
          </a:prstGeom>
          <a:noFill/>
        </p:spPr>
        <p:txBody>
          <a:bodyPr wrap="square" rtlCol="0">
            <a:spAutoFit/>
          </a:bodyPr>
          <a:lstStyle/>
          <a:p>
            <a:pPr marL="285750" indent="-285750">
              <a:buFont typeface="Arial" charset="0"/>
              <a:buChar char="•"/>
            </a:pPr>
            <a:r>
              <a:rPr lang="en-US" sz="2400" dirty="0"/>
              <a:t>Earnings in the past year = dividend in the last 12 months.</a:t>
            </a:r>
          </a:p>
          <a:p>
            <a:pPr marL="285750" indent="-285750">
              <a:buFont typeface="Arial" charset="0"/>
              <a:buChar char="•"/>
            </a:pPr>
            <a:r>
              <a:rPr lang="en-US" sz="2400" dirty="0"/>
              <a:t>How many dollars worth of share value we must pay to get one dollar of earnings in the year or the number of years it will take for the dividend to pay for the share.</a:t>
            </a:r>
          </a:p>
          <a:p>
            <a:pPr marL="285750" indent="-285750">
              <a:buFont typeface="Arial" charset="0"/>
              <a:buChar char="•"/>
            </a:pPr>
            <a:endParaRPr lang="en-US" dirty="0"/>
          </a:p>
        </p:txBody>
      </p:sp>
    </p:spTree>
    <p:extLst>
      <p:ext uri="{BB962C8B-B14F-4D97-AF65-F5344CB8AC3E}">
        <p14:creationId xmlns:p14="http://schemas.microsoft.com/office/powerpoint/2010/main" val="932745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B9A2518-FFB8-274A-BBB7-161BC41C99CD}"/>
              </a:ext>
            </a:extLst>
          </p:cNvPr>
          <p:cNvPicPr>
            <a:picLocks noChangeAspect="1"/>
          </p:cNvPicPr>
          <p:nvPr/>
        </p:nvPicPr>
        <p:blipFill rotWithShape="1">
          <a:blip r:embed="rId2"/>
          <a:srcRect t="9887"/>
          <a:stretch/>
        </p:blipFill>
        <p:spPr>
          <a:xfrm>
            <a:off x="395469" y="629587"/>
            <a:ext cx="9055100" cy="732436"/>
          </a:xfrm>
          <a:prstGeom prst="rect">
            <a:avLst/>
          </a:prstGeom>
        </p:spPr>
      </p:pic>
    </p:spTree>
    <p:extLst>
      <p:ext uri="{BB962C8B-B14F-4D97-AF65-F5344CB8AC3E}">
        <p14:creationId xmlns:p14="http://schemas.microsoft.com/office/powerpoint/2010/main" val="3768136595"/>
      </p:ext>
    </p:extLst>
  </p:cSld>
  <p:clrMapOvr>
    <a:masterClrMapping/>
  </p:clrMapOvr>
</p:sld>
</file>

<file path=ppt/theme/theme1.xml><?xml version="1.0" encoding="utf-8"?>
<a:theme xmlns:a="http://schemas.openxmlformats.org/drawingml/2006/main" name="A4 Presentatio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4 Presentation" id="{6EB52EA6-304B-CC44-AB4C-483953AB2727}" vid="{71B54E89-6D82-044A-9BF6-882F340DFA5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100</TotalTime>
  <Words>231</Words>
  <Application>Microsoft Macintosh PowerPoint</Application>
  <PresentationFormat>A4 Paper (210x297 mm)</PresentationFormat>
  <Paragraphs>26</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Cambria Math</vt:lpstr>
      <vt:lpstr>A4 Presentation</vt:lpstr>
      <vt:lpstr>Shares</vt:lpstr>
      <vt:lpstr>PowerPoint Presentation</vt:lpstr>
      <vt:lpstr>Why buy shares?</vt:lpstr>
      <vt:lpstr>Dividend</vt:lpstr>
      <vt:lpstr>Portfolio</vt:lpstr>
      <vt:lpstr>PowerPoint Presentation</vt:lpstr>
      <vt:lpstr>Price to earning ratio (P/E ratio)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Shares</dc:title>
  <dc:creator>Michael Loh</dc:creator>
  <cp:lastModifiedBy>LOH Michael [Shenton College]</cp:lastModifiedBy>
  <cp:revision>10</cp:revision>
  <dcterms:created xsi:type="dcterms:W3CDTF">2017-03-09T12:42:27Z</dcterms:created>
  <dcterms:modified xsi:type="dcterms:W3CDTF">2019-06-16T02:31:47Z</dcterms:modified>
</cp:coreProperties>
</file>
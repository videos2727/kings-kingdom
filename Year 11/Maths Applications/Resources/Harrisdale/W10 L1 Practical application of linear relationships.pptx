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83"/>
  </p:normalViewPr>
  <p:slideViewPr>
    <p:cSldViewPr snapToGrid="0" snapToObjects="1">
      <p:cViewPr varScale="1">
        <p:scale>
          <a:sx n="98" d="100"/>
          <a:sy n="98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110</c:v>
                </c:pt>
                <c:pt idx="2">
                  <c:v>160</c:v>
                </c:pt>
                <c:pt idx="3">
                  <c:v>210</c:v>
                </c:pt>
                <c:pt idx="4">
                  <c:v>260</c:v>
                </c:pt>
                <c:pt idx="5">
                  <c:v>310</c:v>
                </c:pt>
                <c:pt idx="6">
                  <c:v>360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F79-244E-B68C-C93C3521F0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70</c:v>
                </c:pt>
                <c:pt idx="2">
                  <c:v>140</c:v>
                </c:pt>
                <c:pt idx="3">
                  <c:v>210</c:v>
                </c:pt>
                <c:pt idx="4">
                  <c:v>280</c:v>
                </c:pt>
                <c:pt idx="5">
                  <c:v>350</c:v>
                </c:pt>
                <c:pt idx="6">
                  <c:v>420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79-244E-B68C-C93C3521F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03273071"/>
        <c:axId val="1578139903"/>
      </c:scatterChart>
      <c:valAx>
        <c:axId val="1503273071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(hours)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8139903"/>
        <c:crosses val="autoZero"/>
        <c:crossBetween val="midCat"/>
      </c:valAx>
      <c:valAx>
        <c:axId val="157813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Cost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3273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F541-9959-5144-9DEE-D17EAED526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Relationships in Practical Situations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63910-4FEF-CA4F-A634-29247B271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5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022673-3804-B841-8C17-16A975415BC2}"/>
              </a:ext>
            </a:extLst>
          </p:cNvPr>
          <p:cNvSpPr txBox="1"/>
          <p:nvPr/>
        </p:nvSpPr>
        <p:spPr>
          <a:xfrm>
            <a:off x="530087" y="304800"/>
            <a:ext cx="8415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Electrician A charges $60 call out fee and then $50 per hour for the time he spends on the job.  Write an equation for this linear relationships and sketch a graph to find the cost of a job which he spends 3 hours 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1FC30-E181-2A46-941E-2F20B90BF32F}"/>
              </a:ext>
            </a:extLst>
          </p:cNvPr>
          <p:cNvSpPr txBox="1"/>
          <p:nvPr/>
        </p:nvSpPr>
        <p:spPr>
          <a:xfrm>
            <a:off x="260750" y="1489275"/>
            <a:ext cx="459850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 </a:t>
            </a:r>
          </a:p>
          <a:p>
            <a:r>
              <a:rPr lang="en-US" sz="2000" dirty="0"/>
              <a:t>c = the cost of the job ($)</a:t>
            </a:r>
          </a:p>
          <a:p>
            <a:r>
              <a:rPr lang="en-US" sz="2000" dirty="0"/>
              <a:t>t = time he spends on the job (hours)</a:t>
            </a:r>
          </a:p>
          <a:p>
            <a:endParaRPr lang="en-US" sz="2000" dirty="0"/>
          </a:p>
          <a:p>
            <a:r>
              <a:rPr lang="en-US" sz="2000" dirty="0"/>
              <a:t>c = </a:t>
            </a:r>
            <a:r>
              <a:rPr lang="en-US" sz="2000" dirty="0" err="1"/>
              <a:t>mt</a:t>
            </a:r>
            <a:r>
              <a:rPr lang="en-US" sz="2000" dirty="0"/>
              <a:t> + constant    [y = mx + c]</a:t>
            </a:r>
          </a:p>
          <a:p>
            <a:endParaRPr lang="en-US" sz="2000" dirty="0"/>
          </a:p>
          <a:p>
            <a:r>
              <a:rPr lang="en-US" sz="2000" dirty="0"/>
              <a:t>The call out fee is $60 – this is the constant, the fee that is charged independent on the hours he spends on the job.</a:t>
            </a:r>
          </a:p>
          <a:p>
            <a:endParaRPr lang="en-US" sz="2000" dirty="0"/>
          </a:p>
          <a:p>
            <a:r>
              <a:rPr lang="en-US" sz="2000" dirty="0"/>
              <a:t>The gradient is the rate - $50/hour</a:t>
            </a:r>
          </a:p>
          <a:p>
            <a:endParaRPr lang="en-US" sz="2000" dirty="0"/>
          </a:p>
          <a:p>
            <a:r>
              <a:rPr lang="en-US" sz="2000" dirty="0"/>
              <a:t>c = 50t + 60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8AD46-3FF0-DD45-9F7E-38537306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652" y="2001069"/>
            <a:ext cx="4908401" cy="28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7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A6F35D-FBBE-494C-8F28-C37F9C07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21" y="755374"/>
            <a:ext cx="8545038" cy="49371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732713-7503-9242-A93D-DCD771C9C278}"/>
              </a:ext>
            </a:extLst>
          </p:cNvPr>
          <p:cNvSpPr txBox="1"/>
          <p:nvPr/>
        </p:nvSpPr>
        <p:spPr>
          <a:xfrm>
            <a:off x="4548859" y="1990250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 = 50t + 60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291469-CE41-2C43-9F44-5384CB1A9F6D}"/>
              </a:ext>
            </a:extLst>
          </p:cNvPr>
          <p:cNvSpPr/>
          <p:nvPr/>
        </p:nvSpPr>
        <p:spPr>
          <a:xfrm>
            <a:off x="1603513" y="3816626"/>
            <a:ext cx="318052" cy="3578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24979-BFB7-BF4E-A43B-9EF35AD28189}"/>
              </a:ext>
            </a:extLst>
          </p:cNvPr>
          <p:cNvSpPr txBox="1"/>
          <p:nvPr/>
        </p:nvSpPr>
        <p:spPr>
          <a:xfrm>
            <a:off x="1311965" y="2512188"/>
            <a:ext cx="2093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y – intercept (constant)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981B51-83BB-E04C-95AD-025878FB4035}"/>
              </a:ext>
            </a:extLst>
          </p:cNvPr>
          <p:cNvCxnSpPr>
            <a:cxnSpLocks/>
          </p:cNvCxnSpPr>
          <p:nvPr/>
        </p:nvCxnSpPr>
        <p:spPr>
          <a:xfrm flipH="1">
            <a:off x="1921565" y="3220074"/>
            <a:ext cx="437322" cy="5965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C2E813-D88B-A542-8613-0028FECC3378}"/>
              </a:ext>
            </a:extLst>
          </p:cNvPr>
          <p:cNvCxnSpPr/>
          <p:nvPr/>
        </p:nvCxnSpPr>
        <p:spPr>
          <a:xfrm>
            <a:off x="3021496" y="3584610"/>
            <a:ext cx="107342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CF9ADE-B1C6-8C4C-9505-7F8BE5EE5B95}"/>
              </a:ext>
            </a:extLst>
          </p:cNvPr>
          <p:cNvCxnSpPr/>
          <p:nvPr/>
        </p:nvCxnSpPr>
        <p:spPr>
          <a:xfrm flipV="1">
            <a:off x="4094922" y="3220074"/>
            <a:ext cx="0" cy="36453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1EB937-05F0-3744-8C15-F8DACDAAC1F7}"/>
              </a:ext>
            </a:extLst>
          </p:cNvPr>
          <p:cNvSpPr txBox="1"/>
          <p:nvPr/>
        </p:nvSpPr>
        <p:spPr>
          <a:xfrm>
            <a:off x="2839328" y="3686791"/>
            <a:ext cx="2637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Slope (rate -  $50/hour)</a:t>
            </a:r>
          </a:p>
        </p:txBody>
      </p:sp>
    </p:spTree>
    <p:extLst>
      <p:ext uri="{BB962C8B-B14F-4D97-AF65-F5344CB8AC3E}">
        <p14:creationId xmlns:p14="http://schemas.microsoft.com/office/powerpoint/2010/main" val="243218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C147EC-9531-0141-8A60-C546BDAD72DD}"/>
              </a:ext>
            </a:extLst>
          </p:cNvPr>
          <p:cNvSpPr/>
          <p:nvPr/>
        </p:nvSpPr>
        <p:spPr>
          <a:xfrm>
            <a:off x="380414" y="495776"/>
            <a:ext cx="88761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Electrician B charges $70 per hour for the time he spends on the job but no call out fee.  Write an equation for this linear relationships and sketch a graph of this relationships on the same graph.  If you want an electrician for a job which lasts 4 hours, who would you use.  Justify your answer.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D7D84-8E07-7B49-A999-A8BC553B81C8}"/>
              </a:ext>
            </a:extLst>
          </p:cNvPr>
          <p:cNvSpPr txBox="1"/>
          <p:nvPr/>
        </p:nvSpPr>
        <p:spPr>
          <a:xfrm>
            <a:off x="965561" y="2277065"/>
            <a:ext cx="459850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 </a:t>
            </a:r>
          </a:p>
          <a:p>
            <a:r>
              <a:rPr lang="en-US" sz="2000" dirty="0"/>
              <a:t>c1 = the cost of the job ($)</a:t>
            </a:r>
          </a:p>
          <a:p>
            <a:r>
              <a:rPr lang="en-US" sz="2000" dirty="0"/>
              <a:t>t = time he spends on the job (hours)</a:t>
            </a:r>
          </a:p>
          <a:p>
            <a:endParaRPr lang="en-US" sz="2000" dirty="0"/>
          </a:p>
          <a:p>
            <a:r>
              <a:rPr lang="en-US" sz="2000" dirty="0"/>
              <a:t>c1 = </a:t>
            </a:r>
            <a:r>
              <a:rPr lang="en-US" sz="2000" dirty="0" err="1"/>
              <a:t>mt</a:t>
            </a:r>
            <a:r>
              <a:rPr lang="en-US" sz="2000" dirty="0"/>
              <a:t> + constant    [y = mx + c]</a:t>
            </a:r>
          </a:p>
          <a:p>
            <a:endParaRPr lang="en-US" sz="2000" dirty="0"/>
          </a:p>
          <a:p>
            <a:r>
              <a:rPr lang="en-US" sz="2000" dirty="0"/>
              <a:t>The call out fee is $0</a:t>
            </a:r>
          </a:p>
          <a:p>
            <a:endParaRPr lang="en-US" sz="2000" dirty="0"/>
          </a:p>
          <a:p>
            <a:r>
              <a:rPr lang="en-US" sz="2000" dirty="0"/>
              <a:t>The gradient is the rate - $70/hour</a:t>
            </a:r>
          </a:p>
          <a:p>
            <a:endParaRPr lang="en-US" sz="2000" dirty="0"/>
          </a:p>
          <a:p>
            <a:r>
              <a:rPr lang="en-US" sz="2000" dirty="0"/>
              <a:t>c = 70t</a:t>
            </a:r>
          </a:p>
        </p:txBody>
      </p:sp>
    </p:spTree>
    <p:extLst>
      <p:ext uri="{BB962C8B-B14F-4D97-AF65-F5344CB8AC3E}">
        <p14:creationId xmlns:p14="http://schemas.microsoft.com/office/powerpoint/2010/main" val="419861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E31F49D-9004-374A-AED6-2A772792A2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43072"/>
              </p:ext>
            </p:extLst>
          </p:nvPr>
        </p:nvGraphicFramePr>
        <p:xfrm>
          <a:off x="520505" y="703385"/>
          <a:ext cx="8792307" cy="5570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4735F0-449F-1C49-B14D-BCCA054A45CF}"/>
              </a:ext>
            </a:extLst>
          </p:cNvPr>
          <p:cNvSpPr txBox="1"/>
          <p:nvPr/>
        </p:nvSpPr>
        <p:spPr>
          <a:xfrm>
            <a:off x="6855961" y="2693634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 = 50t + 60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7BAA8-70B0-2149-9430-6805150CCE67}"/>
              </a:ext>
            </a:extLst>
          </p:cNvPr>
          <p:cNvSpPr txBox="1"/>
          <p:nvPr/>
        </p:nvSpPr>
        <p:spPr>
          <a:xfrm>
            <a:off x="5798540" y="1734686"/>
            <a:ext cx="185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c = 70t</a:t>
            </a:r>
          </a:p>
        </p:txBody>
      </p:sp>
    </p:spTree>
    <p:extLst>
      <p:ext uri="{BB962C8B-B14F-4D97-AF65-F5344CB8AC3E}">
        <p14:creationId xmlns:p14="http://schemas.microsoft.com/office/powerpoint/2010/main" val="122539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D6C695-9C45-214F-8E47-56D2EC110896}"/>
              </a:ext>
            </a:extLst>
          </p:cNvPr>
          <p:cNvGrpSpPr/>
          <p:nvPr/>
        </p:nvGrpSpPr>
        <p:grpSpPr>
          <a:xfrm>
            <a:off x="176387" y="156753"/>
            <a:ext cx="9934264" cy="1907177"/>
            <a:chOff x="126352" y="222068"/>
            <a:chExt cx="9553225" cy="163285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3BF59DB-B010-FB4D-B9F6-0A1C940C6A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194" t="29813" r="3663" b="50377"/>
            <a:stretch/>
          </p:blipFill>
          <p:spPr>
            <a:xfrm>
              <a:off x="126352" y="222068"/>
              <a:ext cx="9247636" cy="163285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113F13-B8AB-D04A-887F-9BA4421271CA}"/>
                </a:ext>
              </a:extLst>
            </p:cNvPr>
            <p:cNvSpPr/>
            <p:nvPr/>
          </p:nvSpPr>
          <p:spPr>
            <a:xfrm>
              <a:off x="992777" y="1541417"/>
              <a:ext cx="8686800" cy="3135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35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039022-70EF-D541-BD6D-62E4DDC10A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19" t="30666" r="3023" b="29333"/>
          <a:stretch/>
        </p:blipFill>
        <p:spPr>
          <a:xfrm>
            <a:off x="158931" y="130628"/>
            <a:ext cx="9588137" cy="30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8496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49</TotalTime>
  <Words>276</Words>
  <Application>Microsoft Macintosh PowerPoint</Application>
  <PresentationFormat>A4 Paper (210x297 mm)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A4</vt:lpstr>
      <vt:lpstr>Linear Relationships in Practical Situations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Relationships in Practical Situations</dc:title>
  <dc:creator>LOH Michael [Shenton College]</dc:creator>
  <cp:lastModifiedBy>LOH Michael [Shenton College]</cp:lastModifiedBy>
  <cp:revision>9</cp:revision>
  <dcterms:created xsi:type="dcterms:W3CDTF">2018-08-19T09:35:45Z</dcterms:created>
  <dcterms:modified xsi:type="dcterms:W3CDTF">2019-07-01T04:42:28Z</dcterms:modified>
</cp:coreProperties>
</file>
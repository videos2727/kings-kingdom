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0" r:id="rId5"/>
    <p:sldId id="258" r:id="rId6"/>
    <p:sldId id="259" r:id="rId7"/>
    <p:sldId id="261" r:id="rId8"/>
    <p:sldId id="26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2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BE672B44-CE56-42BF-86C8-330162BF108D}" type="datetimeFigureOut">
              <a:rPr lang="en-AU" smtClean="0"/>
              <a:t>9/04/2018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3877541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E672B44-CE56-42BF-86C8-330162BF108D}" type="datetimeFigureOut">
              <a:rPr lang="en-AU" smtClean="0"/>
              <a:t>9/04/2018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4287463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672B44-CE56-42BF-86C8-330162BF108D}" type="datetimeFigureOut">
              <a:rPr lang="en-AU" smtClean="0"/>
              <a:t>9/04/2018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2908272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BE672B44-CE56-42BF-86C8-330162BF108D}" type="datetimeFigureOut">
              <a:rPr lang="en-AU" smtClean="0"/>
              <a:t>9/04/2018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1308394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BE672B44-CE56-42BF-86C8-330162BF108D}" type="datetimeFigureOut">
              <a:rPr lang="en-AU" smtClean="0"/>
              <a:t>9/04/2018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2307050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BE672B44-CE56-42BF-86C8-330162BF108D}" type="datetimeFigureOut">
              <a:rPr lang="en-AU" smtClean="0"/>
              <a:t>9/04/2018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1827637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672B44-CE56-42BF-86C8-330162BF108D}" type="datetimeFigureOut">
              <a:rPr lang="en-AU" smtClean="0"/>
              <a:t>9/04/2018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3552669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672B44-CE56-42BF-86C8-330162BF108D}" type="datetimeFigureOut">
              <a:rPr lang="en-AU" smtClean="0"/>
              <a:t>9/04/2018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3392433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672B44-CE56-42BF-86C8-330162BF108D}" type="datetimeFigureOut">
              <a:rPr lang="en-AU" smtClean="0"/>
              <a:t>9/04/2018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3996270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E672B44-CE56-42BF-86C8-330162BF108D}" type="datetimeFigureOut">
              <a:rPr lang="en-AU" smtClean="0"/>
              <a:t>9/04/2018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3334400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E672B44-CE56-42BF-86C8-330162BF108D}" type="datetimeFigureOut">
              <a:rPr lang="en-AU" smtClean="0"/>
              <a:t>9/04/2018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766407F-A482-4B4F-A1B7-CF63ACA1FA97}" type="slidenum">
              <a:rPr lang="en-AU" smtClean="0"/>
              <a:t>‹#›</a:t>
            </a:fld>
            <a:endParaRPr lang="en-AU"/>
          </a:p>
        </p:txBody>
      </p:sp>
    </p:spTree>
    <p:extLst>
      <p:ext uri="{BB962C8B-B14F-4D97-AF65-F5344CB8AC3E}">
        <p14:creationId xmlns:p14="http://schemas.microsoft.com/office/powerpoint/2010/main" val="1444074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672B44-CE56-42BF-86C8-330162BF108D}" type="datetimeFigureOut">
              <a:rPr lang="en-AU" smtClean="0"/>
              <a:t>9/04/2018</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66407F-A482-4B4F-A1B7-CF63ACA1FA97}" type="slidenum">
              <a:rPr lang="en-AU" smtClean="0"/>
              <a:t>‹#›</a:t>
            </a:fld>
            <a:endParaRPr lang="en-AU"/>
          </a:p>
        </p:txBody>
      </p:sp>
    </p:spTree>
    <p:extLst>
      <p:ext uri="{BB962C8B-B14F-4D97-AF65-F5344CB8AC3E}">
        <p14:creationId xmlns:p14="http://schemas.microsoft.com/office/powerpoint/2010/main" val="3460491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Examining Masculinities </a:t>
            </a:r>
            <a:endParaRPr lang="en-AU" dirty="0"/>
          </a:p>
        </p:txBody>
      </p:sp>
      <p:sp>
        <p:nvSpPr>
          <p:cNvPr id="3" name="Subtitle 2"/>
          <p:cNvSpPr>
            <a:spLocks noGrp="1"/>
          </p:cNvSpPr>
          <p:nvPr>
            <p:ph type="subTitle" idx="1"/>
          </p:nvPr>
        </p:nvSpPr>
        <p:spPr/>
        <p:txBody>
          <a:bodyPr/>
          <a:lstStyle/>
          <a:p>
            <a:r>
              <a:rPr lang="en-AU" dirty="0" smtClean="0"/>
              <a:t>Year 11 ATAR </a:t>
            </a:r>
            <a:endParaRPr lang="en-AU" dirty="0"/>
          </a:p>
        </p:txBody>
      </p:sp>
    </p:spTree>
    <p:extLst>
      <p:ext uri="{BB962C8B-B14F-4D97-AF65-F5344CB8AC3E}">
        <p14:creationId xmlns:p14="http://schemas.microsoft.com/office/powerpoint/2010/main" val="1049136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Multiple masculinities </a:t>
            </a:r>
            <a:endParaRPr lang="en-AU" dirty="0"/>
          </a:p>
        </p:txBody>
      </p:sp>
      <p:sp>
        <p:nvSpPr>
          <p:cNvPr id="3" name="Content Placeholder 2"/>
          <p:cNvSpPr>
            <a:spLocks noGrp="1"/>
          </p:cNvSpPr>
          <p:nvPr>
            <p:ph idx="1"/>
          </p:nvPr>
        </p:nvSpPr>
        <p:spPr/>
        <p:txBody>
          <a:bodyPr>
            <a:normAutofit fontScale="62500" lnSpcReduction="20000"/>
          </a:bodyPr>
          <a:lstStyle/>
          <a:p>
            <a:r>
              <a:rPr lang="en-AU" dirty="0"/>
              <a:t>Five key understandings of masculinity (according the R.W. Connell) are…</a:t>
            </a:r>
          </a:p>
          <a:p>
            <a:pPr lvl="0"/>
            <a:r>
              <a:rPr lang="en-AU" dirty="0"/>
              <a:t>Even the beneficiaries of an oppressive system can come to see its oppressiveness, especially in the way it poisons areas of life they share.</a:t>
            </a:r>
          </a:p>
          <a:p>
            <a:pPr lvl="0"/>
            <a:r>
              <a:rPr lang="en-AU" dirty="0"/>
              <a:t>Heterosexual men are often committed in important ways to women – their wives and lovers, mothers and sisters, daughters and nieces, co-workers – and may desire better lives for them. </a:t>
            </a:r>
          </a:p>
          <a:p>
            <a:pPr lvl="0"/>
            <a:r>
              <a:rPr lang="en-AU" dirty="0"/>
              <a:t>Heterosexual men are not all the same or all united, and many do suffer some injury from the present system. The oppression of gays, for instance, has a back-wash damaging </a:t>
            </a:r>
            <a:r>
              <a:rPr lang="en-AU" dirty="0" err="1"/>
              <a:t>ot</a:t>
            </a:r>
            <a:r>
              <a:rPr lang="en-AU" dirty="0"/>
              <a:t> effeminate or unassertive heterosexuals.</a:t>
            </a:r>
          </a:p>
          <a:p>
            <a:pPr lvl="0"/>
            <a:r>
              <a:rPr lang="en-AU" dirty="0"/>
              <a:t>Change in gender relations is happening anyway, and on a large scale. A good many heterosexual men recognise that they cannot cling to the past and want some new directions.</a:t>
            </a:r>
          </a:p>
          <a:p>
            <a:pPr lvl="0"/>
            <a:r>
              <a:rPr lang="en-AU" dirty="0"/>
              <a:t>Heterosexual men are not excluded from the basic human capacity to share experiences, feelings and hopes. This ability is often blunted, but the capacity for caring and identification is not necessarily killed. </a:t>
            </a:r>
          </a:p>
          <a:p>
            <a:endParaRPr lang="en-AU" dirty="0"/>
          </a:p>
        </p:txBody>
      </p:sp>
    </p:spTree>
    <p:extLst>
      <p:ext uri="{BB962C8B-B14F-4D97-AF65-F5344CB8AC3E}">
        <p14:creationId xmlns:p14="http://schemas.microsoft.com/office/powerpoint/2010/main" val="1056401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Sex role theory</a:t>
            </a:r>
          </a:p>
        </p:txBody>
      </p:sp>
      <p:sp>
        <p:nvSpPr>
          <p:cNvPr id="3" name="Content Placeholder 2"/>
          <p:cNvSpPr>
            <a:spLocks noGrp="1"/>
          </p:cNvSpPr>
          <p:nvPr>
            <p:ph idx="1"/>
          </p:nvPr>
        </p:nvSpPr>
        <p:spPr>
          <a:xfrm>
            <a:off x="467544" y="1484784"/>
            <a:ext cx="8229600" cy="4525963"/>
          </a:xfrm>
        </p:spPr>
        <p:txBody>
          <a:bodyPr>
            <a:noAutofit/>
          </a:bodyPr>
          <a:lstStyle/>
          <a:p>
            <a:pPr lvl="0"/>
            <a:r>
              <a:rPr lang="en-AU" sz="1600" dirty="0" smtClean="0"/>
              <a:t>Social </a:t>
            </a:r>
            <a:r>
              <a:rPr lang="en-AU" sz="1600" dirty="0"/>
              <a:t>pressure is said to come from the occupants of counter positions who hold stereotyped role expectations and reward or punish depending on conformity (Women are breeders and nurturers – barefoot and pregnant in the kitchen – as the saying goes)</a:t>
            </a:r>
          </a:p>
          <a:p>
            <a:pPr lvl="0"/>
            <a:r>
              <a:rPr lang="en-AU" sz="1600" dirty="0"/>
              <a:t>Primary origin of sex-differentiated social behaviour</a:t>
            </a:r>
          </a:p>
          <a:p>
            <a:pPr lvl="0"/>
            <a:r>
              <a:rPr lang="en-AU" sz="1600" dirty="0"/>
              <a:t>Power relationships between genders and within genders in the current Western gender order are centred</a:t>
            </a:r>
          </a:p>
          <a:p>
            <a:pPr lvl="0"/>
            <a:r>
              <a:rPr lang="en-AU" sz="1600" dirty="0"/>
              <a:t>“the global dominance of men over women”</a:t>
            </a:r>
          </a:p>
          <a:p>
            <a:pPr lvl="0"/>
            <a:r>
              <a:rPr lang="en-AU" sz="1600" dirty="0"/>
              <a:t>Dominance not only over women but subordinate masculinities (Hegemony)</a:t>
            </a:r>
          </a:p>
          <a:p>
            <a:r>
              <a:rPr lang="en-AU" sz="1600" dirty="0"/>
              <a:t> </a:t>
            </a:r>
            <a:r>
              <a:rPr lang="en-AU" sz="1600" dirty="0" smtClean="0"/>
              <a:t>Feminist </a:t>
            </a:r>
            <a:r>
              <a:rPr lang="en-AU" sz="1600" dirty="0"/>
              <a:t>insight that the relations between genders involve oppression and dominance</a:t>
            </a:r>
          </a:p>
          <a:p>
            <a:pPr lvl="0"/>
            <a:r>
              <a:rPr lang="en-AU" sz="1600" dirty="0"/>
              <a:t>Institutions that correspond to these structures of gender relations (labour market, state, family) – gender regimes</a:t>
            </a:r>
          </a:p>
          <a:p>
            <a:pPr lvl="0"/>
            <a:r>
              <a:rPr lang="en-AU" sz="1600" dirty="0"/>
              <a:t>Hegemony over gay males/homosexuals, working class and/or black minorities</a:t>
            </a:r>
          </a:p>
          <a:p>
            <a:pPr lvl="0"/>
            <a:r>
              <a:rPr lang="en-AU" sz="1600" dirty="0"/>
              <a:t>‘Complicit masculinity’ – exemplary masculinities (Sly Stallone or Arnie)</a:t>
            </a:r>
          </a:p>
          <a:p>
            <a:pPr lvl="0"/>
            <a:r>
              <a:rPr lang="en-AU" sz="1600" dirty="0"/>
              <a:t>NB. CLT’s – Foucault – disciplinary power; the history of sexuality</a:t>
            </a:r>
          </a:p>
          <a:p>
            <a:pPr lvl="0"/>
            <a:r>
              <a:rPr lang="en-AU" sz="1600" dirty="0"/>
              <a:t>‘Men are from Mars and Women are from Venus’ – success based on selling a ‘natural difference’ between the sexes</a:t>
            </a:r>
          </a:p>
        </p:txBody>
      </p:sp>
    </p:spTree>
    <p:extLst>
      <p:ext uri="{BB962C8B-B14F-4D97-AF65-F5344CB8AC3E}">
        <p14:creationId xmlns:p14="http://schemas.microsoft.com/office/powerpoint/2010/main" val="52247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Bodies as arenas</a:t>
            </a:r>
            <a:endParaRPr lang="en-AU" dirty="0"/>
          </a:p>
        </p:txBody>
      </p:sp>
      <p:sp>
        <p:nvSpPr>
          <p:cNvPr id="3" name="Content Placeholder 2"/>
          <p:cNvSpPr>
            <a:spLocks noGrp="1"/>
          </p:cNvSpPr>
          <p:nvPr>
            <p:ph idx="1"/>
          </p:nvPr>
        </p:nvSpPr>
        <p:spPr/>
        <p:txBody>
          <a:bodyPr>
            <a:normAutofit fontScale="85000" lnSpcReduction="20000"/>
          </a:bodyPr>
          <a:lstStyle/>
          <a:p>
            <a:r>
              <a:rPr lang="en-AU" dirty="0"/>
              <a:t>However, sexual reproduction does not require bodies to be specialised by sex:</a:t>
            </a:r>
          </a:p>
          <a:p>
            <a:pPr lvl="0"/>
            <a:r>
              <a:rPr lang="en-AU" dirty="0"/>
              <a:t>Intersex</a:t>
            </a:r>
          </a:p>
          <a:p>
            <a:pPr lvl="0"/>
            <a:r>
              <a:rPr lang="en-AU" dirty="0"/>
              <a:t>Overlap of male and female development in adolescence including height and brain anatomy</a:t>
            </a:r>
          </a:p>
          <a:p>
            <a:r>
              <a:rPr lang="en-AU" dirty="0"/>
              <a:t>Remember that bodies have agency (essentially the freedom and capacity to live are act in a defined world; the ability to make choices) and bodies are socially constructed</a:t>
            </a:r>
          </a:p>
          <a:p>
            <a:r>
              <a:rPr lang="en-AU" dirty="0"/>
              <a:t> </a:t>
            </a:r>
          </a:p>
          <a:p>
            <a:r>
              <a:rPr lang="en-AU" dirty="0"/>
              <a:t> </a:t>
            </a:r>
          </a:p>
          <a:p>
            <a:endParaRPr lang="en-AU" dirty="0"/>
          </a:p>
        </p:txBody>
      </p:sp>
    </p:spTree>
    <p:extLst>
      <p:ext uri="{BB962C8B-B14F-4D97-AF65-F5344CB8AC3E}">
        <p14:creationId xmlns:p14="http://schemas.microsoft.com/office/powerpoint/2010/main" val="4242988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Hierarchy and hegemony</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639660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Collective </a:t>
            </a:r>
            <a:r>
              <a:rPr lang="en-AU" dirty="0" err="1" smtClean="0"/>
              <a:t>masculinites</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409028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Active construction</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1026515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Internal complexity and contradiction</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1403928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350</Words>
  <Application>Microsoft Office PowerPoint</Application>
  <PresentationFormat>On-screen Show (4:3)</PresentationFormat>
  <Paragraphs>32</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Examining Masculinities </vt:lpstr>
      <vt:lpstr>Multiple masculinities </vt:lpstr>
      <vt:lpstr>Sex role theory</vt:lpstr>
      <vt:lpstr>Bodies as arenas</vt:lpstr>
      <vt:lpstr>Hierarchy and hegemony</vt:lpstr>
      <vt:lpstr>Collective masculinites</vt:lpstr>
      <vt:lpstr>Active construction</vt:lpstr>
      <vt:lpstr>Internal complexity and contradiction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Examining Masculinities</dc:title>
  <dc:creator>JACKSON Tara</dc:creator>
  <cp:lastModifiedBy>DAVIDSON Louise</cp:lastModifiedBy>
  <cp:revision>3</cp:revision>
  <dcterms:created xsi:type="dcterms:W3CDTF">2018-04-04T07:06:28Z</dcterms:created>
  <dcterms:modified xsi:type="dcterms:W3CDTF">2018-04-09T05:59:30Z</dcterms:modified>
</cp:coreProperties>
</file>
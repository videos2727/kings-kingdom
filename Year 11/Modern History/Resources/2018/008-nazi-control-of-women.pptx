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2" r:id="rId2"/>
    <p:sldId id="256" r:id="rId3"/>
    <p:sldId id="263" r:id="rId4"/>
    <p:sldId id="264" r:id="rId5"/>
    <p:sldId id="260" r:id="rId6"/>
    <p:sldId id="257" r:id="rId7"/>
    <p:sldId id="258" r:id="rId8"/>
    <p:sldId id="259"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0" autoAdjust="0"/>
    <p:restoredTop sz="94660"/>
  </p:normalViewPr>
  <p:slideViewPr>
    <p:cSldViewPr snapToGrid="0">
      <p:cViewPr>
        <p:scale>
          <a:sx n="1" d="2"/>
          <a:sy n="1" d="2"/>
        </p:scale>
        <p:origin x="2408" y="12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19C5EA-D646-4CD1-9880-DA0B001C2D3E}" type="datetimeFigureOut">
              <a:rPr lang="en-GB" smtClean="0"/>
              <a:t>19/08/2018</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C99DF7-50F6-4C28-90BB-932355124DCF}" type="slidenum">
              <a:rPr lang="en-GB" smtClean="0"/>
              <a:t>‹#›</a:t>
            </a:fld>
            <a:endParaRPr lang="en-GB"/>
          </a:p>
        </p:txBody>
      </p:sp>
    </p:spTree>
    <p:extLst>
      <p:ext uri="{BB962C8B-B14F-4D97-AF65-F5344CB8AC3E}">
        <p14:creationId xmlns:p14="http://schemas.microsoft.com/office/powerpoint/2010/main" val="248723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0EB6839-A35D-43FE-96E2-E6B8A6CAC569}" type="datetimeFigureOut">
              <a:rPr lang="en-US" smtClean="0"/>
              <a:t>8/19/18</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310658488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0EB6839-A35D-43FE-96E2-E6B8A6CAC569}" type="datetimeFigureOut">
              <a:rPr lang="en-US" smtClean="0"/>
              <a:t>8/19/18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3695323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0EB6839-A35D-43FE-96E2-E6B8A6CAC569}" type="datetimeFigureOut">
              <a:rPr lang="en-US" smtClean="0"/>
              <a:t>8/19/18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32506127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0EB6839-A35D-43FE-96E2-E6B8A6CAC569}" type="datetimeFigureOut">
              <a:rPr lang="en-US" smtClean="0"/>
              <a:t>8/19/18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4251050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0EB6839-A35D-43FE-96E2-E6B8A6CAC569}" type="datetimeFigureOut">
              <a:rPr lang="en-US" smtClean="0"/>
              <a:t>8/19/18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1521109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0EB6839-A35D-43FE-96E2-E6B8A6CAC569}" type="datetimeFigureOut">
              <a:rPr lang="en-US" smtClean="0"/>
              <a:t>8/19/18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356418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EB6839-A35D-43FE-96E2-E6B8A6CAC569}" type="datetimeFigureOut">
              <a:rPr lang="en-US" smtClean="0"/>
              <a:t>8/19/18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2912926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0EB6839-A35D-43FE-96E2-E6B8A6CAC569}" type="datetimeFigureOut">
              <a:rPr lang="en-US" smtClean="0"/>
              <a:t>8/19/18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3708950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0EB6839-A35D-43FE-96E2-E6B8A6CAC569}" type="datetimeFigureOut">
              <a:rPr lang="en-US" smtClean="0"/>
              <a:t>8/19/18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E93096DD-2F74-4A04-BDD8-4691BB5CD38A}" type="slidenum">
              <a:rPr lang="en-US" smtClean="0"/>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Tree>
    <p:extLst>
      <p:ext uri="{BB962C8B-B14F-4D97-AF65-F5344CB8AC3E}">
        <p14:creationId xmlns:p14="http://schemas.microsoft.com/office/powerpoint/2010/main" val="3306411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0EB6839-A35D-43FE-96E2-E6B8A6CAC569}" type="datetimeFigureOut">
              <a:rPr lang="en-US" smtClean="0"/>
              <a:t>8/19/18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2267121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0EB6839-A35D-43FE-96E2-E6B8A6CAC569}" type="datetimeFigureOut">
              <a:rPr lang="en-US" smtClean="0"/>
              <a:t>8/19/18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096DD-2F74-4A04-BDD8-4691BB5CD38A}" type="slidenum">
              <a:rPr lang="en-US" smtClean="0"/>
              <a:t>‹#›</a:t>
            </a:fld>
            <a:endParaRPr lang="en-US"/>
          </a:p>
        </p:txBody>
      </p:sp>
    </p:spTree>
    <p:extLst>
      <p:ext uri="{BB962C8B-B14F-4D97-AF65-F5344CB8AC3E}">
        <p14:creationId xmlns:p14="http://schemas.microsoft.com/office/powerpoint/2010/main" val="211972727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0EB6839-A35D-43FE-96E2-E6B8A6CAC569}" type="datetimeFigureOut">
              <a:rPr lang="en-US" smtClean="0"/>
              <a:t>8/19/18</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93096DD-2F74-4A04-BDD8-4691BB5CD38A}" type="slidenum">
              <a:rPr lang="en-US" smtClean="0"/>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grpSp>
    </p:spTree>
    <p:extLst>
      <p:ext uri="{BB962C8B-B14F-4D97-AF65-F5344CB8AC3E}">
        <p14:creationId xmlns:p14="http://schemas.microsoft.com/office/powerpoint/2010/main" val="2744775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78100"/>
            <a:ext cx="7152409" cy="1143000"/>
          </a:xfrm>
        </p:spPr>
        <p:txBody>
          <a:bodyPr>
            <a:noAutofit/>
          </a:bodyPr>
          <a:lstStyle/>
          <a:p>
            <a:r>
              <a:rPr lang="en-GB" sz="3200" dirty="0" smtClean="0">
                <a:solidFill>
                  <a:srgbClr val="0070C0"/>
                </a:solidFill>
              </a:rPr>
              <a:t>What does this photograph tell you about women in Nazi Germany? </a:t>
            </a:r>
            <a:r>
              <a:rPr lang="en-GB" sz="3200" dirty="0" smtClean="0"/>
              <a:t/>
            </a:r>
            <a:br>
              <a:rPr lang="en-GB" sz="3200" dirty="0" smtClean="0"/>
            </a:br>
            <a:r>
              <a:rPr lang="en-GB" sz="3200" dirty="0" smtClean="0"/>
              <a:t> </a:t>
            </a:r>
            <a:endParaRPr lang="en-GB" sz="3200" dirty="0"/>
          </a:p>
        </p:txBody>
      </p:sp>
      <p:pic>
        <p:nvPicPr>
          <p:cNvPr id="1026" name="Picture 2" descr="http://www.google.co.uk/imgres?imgurl=http://www.bbc.co.uk/schools/gcsebitesize/history/images/hist_women_hitler.jpg&amp;imgrefurl=http://www.bbc.co.uk/schools/gcsebitesize/history/mwh/germany/womenrev2.shtml&amp;usg=__ou8eofTF3bChvGJpWvM-TG5lO7A=&amp;h=447&amp;w=344&amp;sz=46&amp;hl=en&amp;start=2&amp;zoom=1&amp;um=1&amp;itbs=1&amp;tbnid=rsSUcWg3klLB0M:&amp;tbnh=127&amp;tbnw=98&amp;prev=/images%3Fq%3Dnazi%2Bwomen%2Bideal%26um%3D1%26hl%3Den%26safe%3Dactive%26tbs%3Disch:1"/>
          <p:cNvPicPr>
            <a:picLocks noChangeAspect="1" noChangeArrowheads="1"/>
          </p:cNvPicPr>
          <p:nvPr/>
        </p:nvPicPr>
        <p:blipFill>
          <a:blip r:embed="rId2" cstate="print"/>
          <a:srcRect/>
          <a:stretch>
            <a:fillRect/>
          </a:stretch>
        </p:blipFill>
        <p:spPr bwMode="auto">
          <a:xfrm>
            <a:off x="8104893" y="920763"/>
            <a:ext cx="3276600" cy="4257675"/>
          </a:xfrm>
          <a:prstGeom prst="rect">
            <a:avLst/>
          </a:prstGeom>
          <a:noFill/>
        </p:spPr>
      </p:pic>
      <p:sp>
        <p:nvSpPr>
          <p:cNvPr id="5" name="TextBox 4"/>
          <p:cNvSpPr txBox="1"/>
          <p:nvPr/>
        </p:nvSpPr>
        <p:spPr>
          <a:xfrm>
            <a:off x="7709221" y="5455504"/>
            <a:ext cx="4067944" cy="830997"/>
          </a:xfrm>
          <a:prstGeom prst="rect">
            <a:avLst/>
          </a:prstGeom>
          <a:noFill/>
        </p:spPr>
        <p:txBody>
          <a:bodyPr wrap="square" rtlCol="0">
            <a:spAutoFit/>
          </a:bodyPr>
          <a:lstStyle/>
          <a:p>
            <a:pPr algn="ctr"/>
            <a:r>
              <a:rPr lang="en-GB" sz="2400" b="1" dirty="0">
                <a:solidFill>
                  <a:srgbClr val="0070C0"/>
                </a:solidFill>
              </a:rPr>
              <a:t>Nazi propaganda poster from 1939</a:t>
            </a:r>
          </a:p>
        </p:txBody>
      </p:sp>
      <p:sp>
        <p:nvSpPr>
          <p:cNvPr id="6" name="Title 1"/>
          <p:cNvSpPr txBox="1">
            <a:spLocks/>
          </p:cNvSpPr>
          <p:nvPr/>
        </p:nvSpPr>
        <p:spPr>
          <a:xfrm>
            <a:off x="609600" y="704088"/>
            <a:ext cx="10972800" cy="1143000"/>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mtClean="0">
                <a:solidFill>
                  <a:srgbClr val="FF0000"/>
                </a:solidFill>
              </a:rPr>
              <a:t>Starter</a:t>
            </a:r>
            <a:endParaRPr lang="en-US" dirty="0">
              <a:solidFill>
                <a:srgbClr val="FF0000"/>
              </a:solidFill>
            </a:endParaRPr>
          </a:p>
        </p:txBody>
      </p:sp>
    </p:spTree>
    <p:extLst>
      <p:ext uri="{BB962C8B-B14F-4D97-AF65-F5344CB8AC3E}">
        <p14:creationId xmlns:p14="http://schemas.microsoft.com/office/powerpoint/2010/main" val="314195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1199" y="0"/>
            <a:ext cx="10468864" cy="1828800"/>
          </a:xfrm>
        </p:spPr>
        <p:txBody>
          <a:bodyPr/>
          <a:lstStyle/>
          <a:p>
            <a:r>
              <a:rPr lang="en-US" dirty="0" smtClean="0"/>
              <a:t>Nazi control of Women</a:t>
            </a:r>
            <a:endParaRPr lang="en-US" dirty="0"/>
          </a:p>
        </p:txBody>
      </p:sp>
      <p:sp>
        <p:nvSpPr>
          <p:cNvPr id="3" name="Subtitle 2"/>
          <p:cNvSpPr>
            <a:spLocks noGrp="1"/>
          </p:cNvSpPr>
          <p:nvPr>
            <p:ph type="subTitle" idx="1"/>
          </p:nvPr>
        </p:nvSpPr>
        <p:spPr>
          <a:xfrm>
            <a:off x="709167" y="1914086"/>
            <a:ext cx="10472928" cy="1752600"/>
          </a:xfrm>
        </p:spPr>
        <p:txBody>
          <a:bodyPr/>
          <a:lstStyle/>
          <a:p>
            <a:r>
              <a:rPr lang="en-US" dirty="0" smtClean="0"/>
              <a:t>How important were women to Nazi ideology?</a:t>
            </a:r>
            <a:endParaRPr lang="en-US" dirty="0"/>
          </a:p>
        </p:txBody>
      </p:sp>
      <p:sp>
        <p:nvSpPr>
          <p:cNvPr id="4" name="TextBox 3"/>
          <p:cNvSpPr txBox="1"/>
          <p:nvPr/>
        </p:nvSpPr>
        <p:spPr>
          <a:xfrm>
            <a:off x="42137" y="6336631"/>
            <a:ext cx="11806989" cy="461665"/>
          </a:xfrm>
          <a:prstGeom prst="rect">
            <a:avLst/>
          </a:prstGeom>
          <a:noFill/>
        </p:spPr>
        <p:txBody>
          <a:bodyPr wrap="square" rtlCol="0">
            <a:spAutoFit/>
          </a:bodyPr>
          <a:lstStyle/>
          <a:p>
            <a:pPr algn="ctr"/>
            <a:r>
              <a:rPr lang="en-US" sz="2400" dirty="0" smtClean="0"/>
              <a:t>Aim: To explain (B) or evaluate (A) the importance of women within Nazi society  </a:t>
            </a: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3160713"/>
            <a:ext cx="3657600" cy="285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61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4386" t="26242" r="25444" b="11604"/>
          <a:stretch/>
        </p:blipFill>
        <p:spPr bwMode="auto">
          <a:xfrm>
            <a:off x="1199456" y="19401"/>
            <a:ext cx="9793088" cy="682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086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0"/>
            <a:ext cx="10972800" cy="1143000"/>
          </a:xfrm>
        </p:spPr>
        <p:txBody>
          <a:bodyPr/>
          <a:lstStyle/>
          <a:p>
            <a:r>
              <a:rPr lang="en-GB" dirty="0" smtClean="0">
                <a:solidFill>
                  <a:srgbClr val="FF0000"/>
                </a:solidFill>
              </a:rPr>
              <a:t>What was life like for women?</a:t>
            </a:r>
            <a:endParaRPr lang="en-GB" dirty="0">
              <a:solidFill>
                <a:srgbClr val="FF0000"/>
              </a:solidFill>
            </a:endParaRPr>
          </a:p>
        </p:txBody>
      </p:sp>
      <p:sp>
        <p:nvSpPr>
          <p:cNvPr id="3" name="Content Placeholder 2"/>
          <p:cNvSpPr>
            <a:spLocks noGrp="1"/>
          </p:cNvSpPr>
          <p:nvPr>
            <p:ph idx="1"/>
          </p:nvPr>
        </p:nvSpPr>
        <p:spPr>
          <a:xfrm>
            <a:off x="609600" y="1219200"/>
            <a:ext cx="10972800" cy="5522168"/>
          </a:xfrm>
        </p:spPr>
        <p:txBody>
          <a:bodyPr>
            <a:normAutofit fontScale="62500" lnSpcReduction="20000"/>
          </a:bodyPr>
          <a:lstStyle/>
          <a:p>
            <a:pPr marL="0" lvl="0" indent="0">
              <a:buNone/>
            </a:pPr>
            <a:r>
              <a:rPr lang="en-GB" sz="3600" dirty="0" smtClean="0">
                <a:solidFill>
                  <a:srgbClr val="0070C0"/>
                </a:solidFill>
              </a:rPr>
              <a:t>- Encouraged </a:t>
            </a:r>
            <a:r>
              <a:rPr lang="en-GB" sz="3600" dirty="0">
                <a:solidFill>
                  <a:srgbClr val="0070C0"/>
                </a:solidFill>
              </a:rPr>
              <a:t>by loans, family allowances and child subsides to stay at </a:t>
            </a:r>
            <a:r>
              <a:rPr lang="en-GB" sz="3600" dirty="0" smtClean="0">
                <a:solidFill>
                  <a:srgbClr val="0070C0"/>
                </a:solidFill>
              </a:rPr>
              <a:t>home.</a:t>
            </a:r>
            <a:endParaRPr lang="en-GB" sz="3600" dirty="0">
              <a:solidFill>
                <a:srgbClr val="0070C0"/>
              </a:solidFill>
            </a:endParaRPr>
          </a:p>
          <a:p>
            <a:pPr marL="0" lvl="0" indent="0">
              <a:buNone/>
            </a:pPr>
            <a:r>
              <a:rPr lang="en-GB" sz="3600" dirty="0" smtClean="0">
                <a:solidFill>
                  <a:srgbClr val="0070C0"/>
                </a:solidFill>
              </a:rPr>
              <a:t>- Women </a:t>
            </a:r>
            <a:r>
              <a:rPr lang="en-GB" sz="3600" dirty="0">
                <a:solidFill>
                  <a:srgbClr val="0070C0"/>
                </a:solidFill>
              </a:rPr>
              <a:t>were also given medals if they had a large family (Motherhood Cross System</a:t>
            </a:r>
            <a:r>
              <a:rPr lang="en-GB" sz="3600" dirty="0" smtClean="0">
                <a:solidFill>
                  <a:srgbClr val="0070C0"/>
                </a:solidFill>
              </a:rPr>
              <a:t>).</a:t>
            </a:r>
            <a:endParaRPr lang="en-GB" sz="3600" dirty="0">
              <a:solidFill>
                <a:srgbClr val="0070C0"/>
              </a:solidFill>
            </a:endParaRPr>
          </a:p>
          <a:p>
            <a:pPr marL="0" lvl="0" indent="0">
              <a:buNone/>
            </a:pPr>
            <a:r>
              <a:rPr lang="en-GB" sz="3600" dirty="0" smtClean="0">
                <a:solidFill>
                  <a:srgbClr val="0070C0"/>
                </a:solidFill>
              </a:rPr>
              <a:t>- Nazis </a:t>
            </a:r>
            <a:r>
              <a:rPr lang="en-GB" sz="3600" dirty="0">
                <a:solidFill>
                  <a:srgbClr val="0070C0"/>
                </a:solidFill>
              </a:rPr>
              <a:t>banned birth control clinics, contraceptive and </a:t>
            </a:r>
            <a:r>
              <a:rPr lang="en-GB" sz="3600" dirty="0" smtClean="0">
                <a:solidFill>
                  <a:srgbClr val="0070C0"/>
                </a:solidFill>
              </a:rPr>
              <a:t>abortion.</a:t>
            </a:r>
            <a:endParaRPr lang="en-GB" sz="3600" dirty="0">
              <a:solidFill>
                <a:srgbClr val="0070C0"/>
              </a:solidFill>
            </a:endParaRPr>
          </a:p>
          <a:p>
            <a:pPr marL="0" lvl="0" indent="0">
              <a:buNone/>
            </a:pPr>
            <a:r>
              <a:rPr lang="en-GB" sz="3600" dirty="0" smtClean="0">
                <a:solidFill>
                  <a:srgbClr val="0070C0"/>
                </a:solidFill>
              </a:rPr>
              <a:t>- Word </a:t>
            </a:r>
            <a:r>
              <a:rPr lang="en-GB" sz="3600" dirty="0">
                <a:solidFill>
                  <a:srgbClr val="0070C0"/>
                </a:solidFill>
              </a:rPr>
              <a:t>“family” was only given to households with 4 or more </a:t>
            </a:r>
            <a:r>
              <a:rPr lang="en-GB" sz="3600" dirty="0" smtClean="0">
                <a:solidFill>
                  <a:srgbClr val="0070C0"/>
                </a:solidFill>
              </a:rPr>
              <a:t>children.</a:t>
            </a:r>
            <a:endParaRPr lang="en-GB" sz="3600" dirty="0">
              <a:solidFill>
                <a:srgbClr val="0070C0"/>
              </a:solidFill>
            </a:endParaRPr>
          </a:p>
          <a:p>
            <a:pPr marL="0" indent="0">
              <a:buNone/>
            </a:pPr>
            <a:endParaRPr lang="en-GB" sz="3600" b="1" dirty="0" smtClean="0">
              <a:solidFill>
                <a:srgbClr val="0070C0"/>
              </a:solidFill>
            </a:endParaRPr>
          </a:p>
          <a:p>
            <a:pPr marL="0" indent="0">
              <a:buNone/>
            </a:pPr>
            <a:r>
              <a:rPr lang="en-GB" sz="3600" b="1" dirty="0" smtClean="0">
                <a:solidFill>
                  <a:srgbClr val="0070C0"/>
                </a:solidFill>
              </a:rPr>
              <a:t>Reactions</a:t>
            </a:r>
            <a:r>
              <a:rPr lang="en-GB" sz="3600" b="1" dirty="0">
                <a:solidFill>
                  <a:srgbClr val="0070C0"/>
                </a:solidFill>
              </a:rPr>
              <a:t> </a:t>
            </a:r>
            <a:endParaRPr lang="en-GB" sz="3600" dirty="0">
              <a:solidFill>
                <a:srgbClr val="0070C0"/>
              </a:solidFill>
            </a:endParaRPr>
          </a:p>
          <a:p>
            <a:pPr marL="0" lvl="0" indent="0">
              <a:buNone/>
            </a:pPr>
            <a:r>
              <a:rPr lang="en-GB" sz="3600" dirty="0" smtClean="0">
                <a:solidFill>
                  <a:srgbClr val="0070C0"/>
                </a:solidFill>
              </a:rPr>
              <a:t>- Some </a:t>
            </a:r>
            <a:r>
              <a:rPr lang="en-GB" sz="3600" dirty="0">
                <a:solidFill>
                  <a:srgbClr val="0070C0"/>
                </a:solidFill>
              </a:rPr>
              <a:t>always believed that their role was a domestic one and would have voted for Hitler in the first </a:t>
            </a:r>
            <a:r>
              <a:rPr lang="en-GB" sz="3600" dirty="0" smtClean="0">
                <a:solidFill>
                  <a:srgbClr val="0070C0"/>
                </a:solidFill>
              </a:rPr>
              <a:t>place.</a:t>
            </a:r>
            <a:endParaRPr lang="en-GB" sz="3600" dirty="0">
              <a:solidFill>
                <a:srgbClr val="0070C0"/>
              </a:solidFill>
            </a:endParaRPr>
          </a:p>
          <a:p>
            <a:pPr marL="0" lvl="0" indent="0">
              <a:buNone/>
            </a:pPr>
            <a:r>
              <a:rPr lang="en-GB" sz="3600" dirty="0" smtClean="0">
                <a:solidFill>
                  <a:srgbClr val="0070C0"/>
                </a:solidFill>
              </a:rPr>
              <a:t>- Others </a:t>
            </a:r>
            <a:r>
              <a:rPr lang="en-GB" sz="3600" dirty="0">
                <a:solidFill>
                  <a:srgbClr val="0070C0"/>
                </a:solidFill>
              </a:rPr>
              <a:t>may have been converted to the Nazi idea and been proud of the new status of motherhood.</a:t>
            </a:r>
          </a:p>
          <a:p>
            <a:pPr marL="0" lvl="0" indent="0">
              <a:buNone/>
            </a:pPr>
            <a:r>
              <a:rPr lang="en-GB" sz="3600" dirty="0" smtClean="0">
                <a:solidFill>
                  <a:srgbClr val="0070C0"/>
                </a:solidFill>
              </a:rPr>
              <a:t>- Others </a:t>
            </a:r>
            <a:r>
              <a:rPr lang="en-GB" sz="3600" dirty="0">
                <a:solidFill>
                  <a:srgbClr val="0070C0"/>
                </a:solidFill>
              </a:rPr>
              <a:t>were resentful because they had no choice in their new </a:t>
            </a:r>
            <a:r>
              <a:rPr lang="en-GB" sz="3600" dirty="0" smtClean="0">
                <a:solidFill>
                  <a:srgbClr val="0070C0"/>
                </a:solidFill>
              </a:rPr>
              <a:t>role.</a:t>
            </a:r>
            <a:endParaRPr lang="en-GB" sz="3600" dirty="0">
              <a:solidFill>
                <a:srgbClr val="0070C0"/>
              </a:solidFill>
            </a:endParaRPr>
          </a:p>
          <a:p>
            <a:pPr marL="0" lvl="0" indent="0">
              <a:buNone/>
            </a:pPr>
            <a:r>
              <a:rPr lang="en-GB" sz="3600" dirty="0" smtClean="0">
                <a:solidFill>
                  <a:srgbClr val="0070C0"/>
                </a:solidFill>
              </a:rPr>
              <a:t>- Some </a:t>
            </a:r>
            <a:r>
              <a:rPr lang="en-GB" sz="3600" dirty="0">
                <a:solidFill>
                  <a:srgbClr val="0070C0"/>
                </a:solidFill>
              </a:rPr>
              <a:t>protested, and joined opposition groups</a:t>
            </a:r>
            <a:r>
              <a:rPr lang="en-GB" sz="3600" b="1" dirty="0">
                <a:solidFill>
                  <a:srgbClr val="0070C0"/>
                </a:solidFill>
              </a:rPr>
              <a:t> </a:t>
            </a:r>
            <a:r>
              <a:rPr lang="en-GB" sz="3600" dirty="0">
                <a:solidFill>
                  <a:srgbClr val="0070C0"/>
                </a:solidFill>
              </a:rPr>
              <a:t>because they believed:</a:t>
            </a:r>
          </a:p>
          <a:p>
            <a:pPr lvl="1"/>
            <a:r>
              <a:rPr lang="en-GB" sz="2900" dirty="0">
                <a:solidFill>
                  <a:srgbClr val="0070C0"/>
                </a:solidFill>
              </a:rPr>
              <a:t>Women would remain unfulfilled</a:t>
            </a:r>
          </a:p>
          <a:p>
            <a:pPr lvl="1"/>
            <a:r>
              <a:rPr lang="en-GB" sz="2900" dirty="0">
                <a:solidFill>
                  <a:srgbClr val="0070C0"/>
                </a:solidFill>
              </a:rPr>
              <a:t>Women were deprived of vital experience</a:t>
            </a:r>
          </a:p>
          <a:p>
            <a:pPr lvl="1"/>
            <a:r>
              <a:rPr lang="en-GB" sz="2900" dirty="0">
                <a:solidFill>
                  <a:srgbClr val="0070C0"/>
                </a:solidFill>
              </a:rPr>
              <a:t>Women had talents of particular types of employment.</a:t>
            </a:r>
          </a:p>
          <a:p>
            <a:endParaRPr lang="en-GB" dirty="0">
              <a:solidFill>
                <a:schemeClr val="accent5">
                  <a:lumMod val="50000"/>
                </a:schemeClr>
              </a:solidFill>
            </a:endParaRPr>
          </a:p>
        </p:txBody>
      </p:sp>
    </p:spTree>
    <p:extLst>
      <p:ext uri="{BB962C8B-B14F-4D97-AF65-F5344CB8AC3E}">
        <p14:creationId xmlns:p14="http://schemas.microsoft.com/office/powerpoint/2010/main" val="1929354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Women were expected to raise large families</a:t>
            </a:r>
            <a:endParaRPr lang="en-US"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a:solidFill>
                  <a:srgbClr val="0070C0"/>
                </a:solidFill>
              </a:rPr>
              <a:t> Nazis didn't want women to have too much freedom. They believed the role of women was to support their families at home. Women existed to provide children. </a:t>
            </a:r>
          </a:p>
          <a:p>
            <a:r>
              <a:rPr lang="en-US" dirty="0" smtClean="0">
                <a:solidFill>
                  <a:srgbClr val="0070C0"/>
                </a:solidFill>
              </a:rPr>
              <a:t>The </a:t>
            </a:r>
            <a:r>
              <a:rPr lang="en-US" dirty="0">
                <a:solidFill>
                  <a:srgbClr val="0070C0"/>
                </a:solidFill>
              </a:rPr>
              <a:t>League of German Maidens spread the Nazi idea that it was an </a:t>
            </a:r>
            <a:r>
              <a:rPr lang="en-US" dirty="0" err="1">
                <a:solidFill>
                  <a:srgbClr val="0070C0"/>
                </a:solidFill>
              </a:rPr>
              <a:t>honour</a:t>
            </a:r>
            <a:r>
              <a:rPr lang="en-US" dirty="0">
                <a:solidFill>
                  <a:srgbClr val="0070C0"/>
                </a:solidFill>
              </a:rPr>
              <a:t> to produce large families for Germany. Nazis gave awards to women for doing this. </a:t>
            </a:r>
          </a:p>
          <a:p>
            <a:r>
              <a:rPr lang="en-US" dirty="0" smtClean="0">
                <a:solidFill>
                  <a:srgbClr val="0070C0"/>
                </a:solidFill>
              </a:rPr>
              <a:t>At </a:t>
            </a:r>
            <a:r>
              <a:rPr lang="en-US" dirty="0">
                <a:solidFill>
                  <a:srgbClr val="0070C0"/>
                </a:solidFill>
              </a:rPr>
              <a:t>school, girls studied subjects like cookery. It was stressed that they should choose 'Aryan' husbands. </a:t>
            </a:r>
          </a:p>
          <a:p>
            <a:r>
              <a:rPr lang="en-US" dirty="0" smtClean="0">
                <a:solidFill>
                  <a:srgbClr val="0070C0"/>
                </a:solidFill>
              </a:rPr>
              <a:t>Women </a:t>
            </a:r>
            <a:r>
              <a:rPr lang="en-US" dirty="0">
                <a:solidFill>
                  <a:srgbClr val="0070C0"/>
                </a:solidFill>
              </a:rPr>
              <a:t>were banned from being lawyers in 1936 and the Nazis did their best to stop them following other professions. But the shortage of workers after 1937 meant more women had to go back to work. </a:t>
            </a:r>
          </a:p>
        </p:txBody>
      </p:sp>
    </p:spTree>
    <p:extLst>
      <p:ext uri="{BB962C8B-B14F-4D97-AF65-F5344CB8AC3E}">
        <p14:creationId xmlns:p14="http://schemas.microsoft.com/office/powerpoint/2010/main" val="4148004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33137"/>
            <a:ext cx="8229600" cy="548680"/>
          </a:xfrm>
        </p:spPr>
        <p:txBody>
          <a:bodyPr>
            <a:noAutofit/>
          </a:bodyPr>
          <a:lstStyle/>
          <a:p>
            <a:pPr algn="ctr"/>
            <a:r>
              <a:rPr lang="en-GB" sz="4000" dirty="0">
                <a:solidFill>
                  <a:srgbClr val="FF0000"/>
                </a:solidFill>
              </a:rPr>
              <a:t>C</a:t>
            </a:r>
            <a:r>
              <a:rPr lang="en-GB" sz="4000" dirty="0" smtClean="0">
                <a:solidFill>
                  <a:srgbClr val="FF0000"/>
                </a:solidFill>
              </a:rPr>
              <a:t>ontrol </a:t>
            </a:r>
            <a:r>
              <a:rPr lang="en-GB" sz="4000" dirty="0">
                <a:solidFill>
                  <a:srgbClr val="FF0000"/>
                </a:solidFill>
              </a:rPr>
              <a:t>of women</a:t>
            </a:r>
          </a:p>
        </p:txBody>
      </p:sp>
      <p:sp>
        <p:nvSpPr>
          <p:cNvPr id="3" name="Content Placeholder 2"/>
          <p:cNvSpPr>
            <a:spLocks noGrp="1"/>
          </p:cNvSpPr>
          <p:nvPr>
            <p:ph idx="1"/>
          </p:nvPr>
        </p:nvSpPr>
        <p:spPr>
          <a:xfrm>
            <a:off x="0" y="1318701"/>
            <a:ext cx="12192000" cy="3975194"/>
          </a:xfrm>
        </p:spPr>
        <p:txBody>
          <a:bodyPr>
            <a:noAutofit/>
          </a:bodyPr>
          <a:lstStyle/>
          <a:p>
            <a:r>
              <a:rPr lang="en-GB" sz="2800" dirty="0">
                <a:solidFill>
                  <a:srgbClr val="0070C0"/>
                </a:solidFill>
              </a:rPr>
              <a:t>Ideal Nazi woman was traditional (no makeup, blonde, heavy hipped, athletic, flat shoes, did not work, did not smoke, cooked and brought up children, took no interest in politics</a:t>
            </a:r>
            <a:r>
              <a:rPr lang="en-GB" sz="2800" dirty="0" smtClean="0">
                <a:solidFill>
                  <a:srgbClr val="0070C0"/>
                </a:solidFill>
              </a:rPr>
              <a:t>).</a:t>
            </a:r>
          </a:p>
          <a:p>
            <a:pPr marL="0" indent="0">
              <a:buNone/>
            </a:pPr>
            <a:endParaRPr lang="en-GB" sz="2800" dirty="0">
              <a:solidFill>
                <a:srgbClr val="0070C0"/>
              </a:solidFill>
            </a:endParaRPr>
          </a:p>
          <a:p>
            <a:r>
              <a:rPr lang="en-GB" sz="2800" dirty="0">
                <a:solidFill>
                  <a:srgbClr val="0070C0"/>
                </a:solidFill>
              </a:rPr>
              <a:t>Before 1933 women’s rights had made big steps in Germany.  This was reversed by Nazi </a:t>
            </a:r>
            <a:r>
              <a:rPr lang="en-GB" sz="2800" dirty="0" smtClean="0">
                <a:solidFill>
                  <a:srgbClr val="0070C0"/>
                </a:solidFill>
              </a:rPr>
              <a:t>policy.</a:t>
            </a:r>
          </a:p>
          <a:p>
            <a:pPr marL="0" indent="0">
              <a:buNone/>
            </a:pPr>
            <a:endParaRPr lang="en-GB" sz="2800" dirty="0">
              <a:solidFill>
                <a:srgbClr val="0070C0"/>
              </a:solidFill>
            </a:endParaRPr>
          </a:p>
          <a:p>
            <a:r>
              <a:rPr lang="en-GB" sz="2800" dirty="0">
                <a:solidFill>
                  <a:srgbClr val="0070C0"/>
                </a:solidFill>
              </a:rPr>
              <a:t>Massive propaganda campaign to promote </a:t>
            </a:r>
            <a:r>
              <a:rPr lang="en-GB" sz="2800" dirty="0" smtClean="0">
                <a:solidFill>
                  <a:srgbClr val="0070C0"/>
                </a:solidFill>
              </a:rPr>
              <a:t>motherhood.</a:t>
            </a:r>
          </a:p>
        </p:txBody>
      </p:sp>
    </p:spTree>
    <p:extLst>
      <p:ext uri="{BB962C8B-B14F-4D97-AF65-F5344CB8AC3E}">
        <p14:creationId xmlns:p14="http://schemas.microsoft.com/office/powerpoint/2010/main" val="3773723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178" y="158657"/>
            <a:ext cx="10972800" cy="1143000"/>
          </a:xfrm>
        </p:spPr>
        <p:txBody>
          <a:bodyPr/>
          <a:lstStyle/>
          <a:p>
            <a:r>
              <a:rPr lang="en-US" dirty="0" smtClean="0">
                <a:solidFill>
                  <a:srgbClr val="FF0000"/>
                </a:solidFill>
              </a:rPr>
              <a:t>Policies appeal?</a:t>
            </a:r>
            <a:endParaRPr lang="en-US" dirty="0">
              <a:solidFill>
                <a:srgbClr val="FF0000"/>
              </a:solidFill>
            </a:endParaRPr>
          </a:p>
        </p:txBody>
      </p:sp>
      <p:sp>
        <p:nvSpPr>
          <p:cNvPr id="3" name="Content Placeholder 2"/>
          <p:cNvSpPr>
            <a:spLocks noGrp="1"/>
          </p:cNvSpPr>
          <p:nvPr>
            <p:ph idx="1"/>
          </p:nvPr>
        </p:nvSpPr>
        <p:spPr>
          <a:xfrm>
            <a:off x="288757" y="1614638"/>
            <a:ext cx="11389896" cy="4389120"/>
          </a:xfrm>
        </p:spPr>
        <p:txBody>
          <a:bodyPr>
            <a:normAutofit fontScale="92500" lnSpcReduction="10000"/>
          </a:bodyPr>
          <a:lstStyle/>
          <a:p>
            <a:r>
              <a:rPr lang="en-GB" sz="2800" dirty="0">
                <a:solidFill>
                  <a:srgbClr val="0070C0"/>
                </a:solidFill>
              </a:rPr>
              <a:t>1933 Law for the Encouragement of Marriage – loans given to couples provided the woman left her job.  They got to keep a quarter of the money for each child they </a:t>
            </a:r>
            <a:r>
              <a:rPr lang="en-GB" sz="2800" dirty="0" smtClean="0">
                <a:solidFill>
                  <a:srgbClr val="0070C0"/>
                </a:solidFill>
              </a:rPr>
              <a:t>had.</a:t>
            </a:r>
            <a:endParaRPr lang="en-GB" sz="2800" dirty="0">
              <a:solidFill>
                <a:srgbClr val="0070C0"/>
              </a:solidFill>
            </a:endParaRPr>
          </a:p>
          <a:p>
            <a:r>
              <a:rPr lang="en-GB" sz="2800" dirty="0">
                <a:solidFill>
                  <a:srgbClr val="0070C0"/>
                </a:solidFill>
              </a:rPr>
              <a:t>On Hitler’s mother’s birthday, 12 August, medals were given to women with large </a:t>
            </a:r>
            <a:r>
              <a:rPr lang="en-GB" sz="2800" dirty="0" smtClean="0">
                <a:solidFill>
                  <a:srgbClr val="0070C0"/>
                </a:solidFill>
              </a:rPr>
              <a:t>families.</a:t>
            </a:r>
            <a:endParaRPr lang="en-GB" sz="2800" dirty="0">
              <a:solidFill>
                <a:srgbClr val="0070C0"/>
              </a:solidFill>
            </a:endParaRPr>
          </a:p>
          <a:p>
            <a:r>
              <a:rPr lang="en-GB" sz="2800" dirty="0">
                <a:solidFill>
                  <a:srgbClr val="0070C0"/>
                </a:solidFill>
              </a:rPr>
              <a:t>1938 changed the divorce law.  A husband could divorce his wife if she could not have </a:t>
            </a:r>
            <a:r>
              <a:rPr lang="en-GB" sz="2800" dirty="0" smtClean="0">
                <a:solidFill>
                  <a:srgbClr val="0070C0"/>
                </a:solidFill>
              </a:rPr>
              <a:t>children.</a:t>
            </a:r>
            <a:endParaRPr lang="en-GB" sz="2800" dirty="0">
              <a:solidFill>
                <a:srgbClr val="0070C0"/>
              </a:solidFill>
            </a:endParaRPr>
          </a:p>
          <a:p>
            <a:r>
              <a:rPr lang="en-GB" sz="2800" dirty="0" err="1">
                <a:solidFill>
                  <a:srgbClr val="0070C0"/>
                </a:solidFill>
              </a:rPr>
              <a:t>Lebensborn</a:t>
            </a:r>
            <a:r>
              <a:rPr lang="en-GB" sz="2800" dirty="0">
                <a:solidFill>
                  <a:srgbClr val="0070C0"/>
                </a:solidFill>
              </a:rPr>
              <a:t> was a programme where unmarried women could donate a baby to the Fuhrer by becoming pregnant by racially pure Aryan </a:t>
            </a:r>
            <a:r>
              <a:rPr lang="en-GB" sz="2800" dirty="0" smtClean="0">
                <a:solidFill>
                  <a:srgbClr val="0070C0"/>
                </a:solidFill>
              </a:rPr>
              <a:t>men.</a:t>
            </a:r>
            <a:endParaRPr lang="en-GB" sz="2800" dirty="0">
              <a:solidFill>
                <a:srgbClr val="0070C0"/>
              </a:solidFill>
            </a:endParaRPr>
          </a:p>
          <a:p>
            <a:r>
              <a:rPr lang="en-GB" sz="2800" dirty="0">
                <a:solidFill>
                  <a:srgbClr val="0070C0"/>
                </a:solidFill>
              </a:rPr>
              <a:t>The German’s Women’s Enterprise was set up who organised classes and talks on </a:t>
            </a:r>
            <a:r>
              <a:rPr lang="en-GB" sz="2800" dirty="0" smtClean="0">
                <a:solidFill>
                  <a:srgbClr val="0070C0"/>
                </a:solidFill>
              </a:rPr>
              <a:t>motherhood.</a:t>
            </a:r>
            <a:endParaRPr lang="en-GB" sz="2800" dirty="0">
              <a:solidFill>
                <a:srgbClr val="0070C0"/>
              </a:solidFill>
            </a:endParaRPr>
          </a:p>
          <a:p>
            <a:endParaRPr lang="en-US" dirty="0"/>
          </a:p>
        </p:txBody>
      </p:sp>
    </p:spTree>
    <p:extLst>
      <p:ext uri="{BB962C8B-B14F-4D97-AF65-F5344CB8AC3E}">
        <p14:creationId xmlns:p14="http://schemas.microsoft.com/office/powerpoint/2010/main" val="4150241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Kinder, </a:t>
            </a:r>
            <a:r>
              <a:rPr lang="en-US" dirty="0" err="1" smtClean="0">
                <a:solidFill>
                  <a:srgbClr val="FF0000"/>
                </a:solidFill>
              </a:rPr>
              <a:t>Kuche</a:t>
            </a:r>
            <a:r>
              <a:rPr lang="en-US" dirty="0" smtClean="0">
                <a:solidFill>
                  <a:srgbClr val="FF0000"/>
                </a:solidFill>
              </a:rPr>
              <a:t>, </a:t>
            </a:r>
            <a:r>
              <a:rPr lang="en-US" dirty="0" err="1" smtClean="0">
                <a:solidFill>
                  <a:srgbClr val="FF0000"/>
                </a:solidFill>
              </a:rPr>
              <a:t>Kirche</a:t>
            </a:r>
            <a:r>
              <a:rPr lang="en-US" dirty="0" smtClean="0">
                <a:solidFill>
                  <a:srgbClr val="FF0000"/>
                </a:solidFill>
              </a:rPr>
              <a:t> (3K’s)</a:t>
            </a:r>
            <a:endParaRPr lang="en-US" dirty="0">
              <a:solidFill>
                <a:srgbClr val="FF0000"/>
              </a:solidFill>
            </a:endParaRPr>
          </a:p>
        </p:txBody>
      </p:sp>
      <p:sp>
        <p:nvSpPr>
          <p:cNvPr id="3" name="Content Placeholder 2"/>
          <p:cNvSpPr>
            <a:spLocks noGrp="1"/>
          </p:cNvSpPr>
          <p:nvPr>
            <p:ph idx="1"/>
          </p:nvPr>
        </p:nvSpPr>
        <p:spPr/>
        <p:txBody>
          <a:bodyPr/>
          <a:lstStyle/>
          <a:p>
            <a:r>
              <a:rPr lang="en-GB" sz="2800" dirty="0">
                <a:solidFill>
                  <a:srgbClr val="0070C0"/>
                </a:solidFill>
              </a:rPr>
              <a:t>Women were asked to stick to the 3 Ks – Kinder, </a:t>
            </a:r>
            <a:r>
              <a:rPr lang="en-GB" sz="2800" dirty="0" err="1">
                <a:solidFill>
                  <a:srgbClr val="0070C0"/>
                </a:solidFill>
              </a:rPr>
              <a:t>kuche</a:t>
            </a:r>
            <a:r>
              <a:rPr lang="en-GB" sz="2800" dirty="0">
                <a:solidFill>
                  <a:srgbClr val="0070C0"/>
                </a:solidFill>
              </a:rPr>
              <a:t>, </a:t>
            </a:r>
            <a:r>
              <a:rPr lang="en-GB" sz="2800" dirty="0" err="1">
                <a:solidFill>
                  <a:srgbClr val="0070C0"/>
                </a:solidFill>
              </a:rPr>
              <a:t>Kirche</a:t>
            </a:r>
            <a:r>
              <a:rPr lang="en-GB" sz="2800" dirty="0">
                <a:solidFill>
                  <a:srgbClr val="0070C0"/>
                </a:solidFill>
              </a:rPr>
              <a:t> (Children, cooking and Church</a:t>
            </a:r>
            <a:r>
              <a:rPr lang="en-GB" sz="2800" dirty="0" smtClean="0">
                <a:solidFill>
                  <a:srgbClr val="0070C0"/>
                </a:solidFill>
              </a:rPr>
              <a:t>).</a:t>
            </a:r>
            <a:endParaRPr lang="en-GB" sz="2800" dirty="0">
              <a:solidFill>
                <a:srgbClr val="0070C0"/>
              </a:solidFill>
            </a:endParaRPr>
          </a:p>
          <a:p>
            <a:r>
              <a:rPr lang="en-GB" sz="2800" dirty="0">
                <a:solidFill>
                  <a:srgbClr val="0070C0"/>
                </a:solidFill>
              </a:rPr>
              <a:t>Women were discouraged from higher education at school and at the League of German Maiden </a:t>
            </a:r>
            <a:r>
              <a:rPr lang="en-GB" sz="2800" dirty="0" smtClean="0">
                <a:solidFill>
                  <a:srgbClr val="0070C0"/>
                </a:solidFill>
              </a:rPr>
              <a:t>meetings.</a:t>
            </a:r>
            <a:endParaRPr lang="en-GB" sz="2800" dirty="0">
              <a:solidFill>
                <a:srgbClr val="0070C0"/>
              </a:solidFill>
            </a:endParaRPr>
          </a:p>
          <a:p>
            <a:endParaRPr lang="en-US" dirty="0"/>
          </a:p>
        </p:txBody>
      </p:sp>
    </p:spTree>
    <p:extLst>
      <p:ext uri="{BB962C8B-B14F-4D97-AF65-F5344CB8AC3E}">
        <p14:creationId xmlns:p14="http://schemas.microsoft.com/office/powerpoint/2010/main" val="141354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Evaluation task</a:t>
            </a:r>
            <a:endParaRPr lang="en-US" dirty="0">
              <a:solidFill>
                <a:srgbClr val="FF0000"/>
              </a:solidFill>
            </a:endParaRPr>
          </a:p>
        </p:txBody>
      </p:sp>
      <p:sp>
        <p:nvSpPr>
          <p:cNvPr id="3" name="Content Placeholder 2"/>
          <p:cNvSpPr>
            <a:spLocks noGrp="1"/>
          </p:cNvSpPr>
          <p:nvPr>
            <p:ph idx="1"/>
          </p:nvPr>
        </p:nvSpPr>
        <p:spPr/>
        <p:txBody>
          <a:bodyPr/>
          <a:lstStyle/>
          <a:p>
            <a:r>
              <a:rPr lang="en-GB" sz="2800" dirty="0" smtClean="0">
                <a:solidFill>
                  <a:srgbClr val="0070C0"/>
                </a:solidFill>
              </a:rPr>
              <a:t>Which of the Nazi policies would have had the most influence on women?</a:t>
            </a:r>
          </a:p>
          <a:p>
            <a:endParaRPr lang="en-GB" sz="2800" dirty="0">
              <a:solidFill>
                <a:srgbClr val="0070C0"/>
              </a:solidFill>
            </a:endParaRPr>
          </a:p>
          <a:p>
            <a:r>
              <a:rPr lang="en-GB" sz="2800" dirty="0" smtClean="0">
                <a:solidFill>
                  <a:srgbClr val="0070C0"/>
                </a:solidFill>
              </a:rPr>
              <a:t>Would Nazi policies have appealed to women? Explain your answers.</a:t>
            </a:r>
          </a:p>
          <a:p>
            <a:endParaRPr lang="en-GB" sz="2800" dirty="0">
              <a:solidFill>
                <a:srgbClr val="0070C0"/>
              </a:solidFill>
            </a:endParaRPr>
          </a:p>
          <a:p>
            <a:endParaRPr lang="en-US" dirty="0"/>
          </a:p>
        </p:txBody>
      </p:sp>
    </p:spTree>
    <p:extLst>
      <p:ext uri="{BB962C8B-B14F-4D97-AF65-F5344CB8AC3E}">
        <p14:creationId xmlns:p14="http://schemas.microsoft.com/office/powerpoint/2010/main" val="3834519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Examination technique</a:t>
            </a:r>
            <a:endParaRPr lang="en-US" dirty="0">
              <a:solidFill>
                <a:srgbClr val="FF0000"/>
              </a:solidFill>
            </a:endParaRPr>
          </a:p>
        </p:txBody>
      </p:sp>
      <p:sp>
        <p:nvSpPr>
          <p:cNvPr id="3" name="Content Placeholder 2"/>
          <p:cNvSpPr>
            <a:spLocks noGrp="1"/>
          </p:cNvSpPr>
          <p:nvPr>
            <p:ph idx="1"/>
          </p:nvPr>
        </p:nvSpPr>
        <p:spPr/>
        <p:txBody>
          <a:bodyPr/>
          <a:lstStyle/>
          <a:p>
            <a:r>
              <a:rPr lang="en-GB" sz="2800" dirty="0" smtClean="0">
                <a:solidFill>
                  <a:srgbClr val="0070C0"/>
                </a:solidFill>
              </a:rPr>
              <a:t>How important were marriage loans </a:t>
            </a:r>
          </a:p>
          <a:p>
            <a:endParaRPr lang="en-GB" sz="2800" dirty="0">
              <a:solidFill>
                <a:srgbClr val="0070C0"/>
              </a:solidFill>
            </a:endParaRPr>
          </a:p>
          <a:p>
            <a:r>
              <a:rPr lang="en-GB" sz="2800" dirty="0" smtClean="0">
                <a:solidFill>
                  <a:srgbClr val="0070C0"/>
                </a:solidFill>
              </a:rPr>
              <a:t>How important were women to Nazi ideology? </a:t>
            </a:r>
          </a:p>
          <a:p>
            <a:endParaRPr lang="en-GB" sz="2800" dirty="0">
              <a:solidFill>
                <a:srgbClr val="0070C0"/>
              </a:solidFill>
            </a:endParaRPr>
          </a:p>
          <a:p>
            <a:r>
              <a:rPr lang="en-GB" sz="2800" dirty="0" smtClean="0">
                <a:solidFill>
                  <a:srgbClr val="0070C0"/>
                </a:solidFill>
              </a:rPr>
              <a:t>How important was propaganda, amongst other factors, in ensuring women conformed to Nazi ideology </a:t>
            </a:r>
            <a:endParaRPr lang="en-GB" sz="2800" dirty="0">
              <a:solidFill>
                <a:srgbClr val="0070C0"/>
              </a:solidFill>
            </a:endParaRPr>
          </a:p>
          <a:p>
            <a:endParaRPr lang="en-US" dirty="0"/>
          </a:p>
        </p:txBody>
      </p:sp>
    </p:spTree>
    <p:extLst>
      <p:ext uri="{BB962C8B-B14F-4D97-AF65-F5344CB8AC3E}">
        <p14:creationId xmlns:p14="http://schemas.microsoft.com/office/powerpoint/2010/main" val="2443035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Source work</a:t>
            </a:r>
            <a:endParaRPr lang="en-US" dirty="0">
              <a:solidFill>
                <a:srgbClr val="FF0000"/>
              </a:solidFill>
            </a:endParaRPr>
          </a:p>
        </p:txBody>
      </p:sp>
      <p:sp>
        <p:nvSpPr>
          <p:cNvPr id="3" name="Content Placeholder 2"/>
          <p:cNvSpPr>
            <a:spLocks noGrp="1"/>
          </p:cNvSpPr>
          <p:nvPr>
            <p:ph idx="1"/>
          </p:nvPr>
        </p:nvSpPr>
        <p:spPr>
          <a:xfrm>
            <a:off x="609600" y="1935480"/>
            <a:ext cx="5143500" cy="4389120"/>
          </a:xfrm>
        </p:spPr>
        <p:txBody>
          <a:bodyPr/>
          <a:lstStyle/>
          <a:p>
            <a:r>
              <a:rPr lang="en-US" dirty="0" smtClean="0">
                <a:solidFill>
                  <a:srgbClr val="0070C0"/>
                </a:solidFill>
              </a:rPr>
              <a:t>Explain the view point of the Nazis that is suggested in both sources.</a:t>
            </a:r>
          </a:p>
          <a:p>
            <a:endParaRPr lang="en-US" dirty="0">
              <a:solidFill>
                <a:srgbClr val="0070C0"/>
              </a:solidFill>
            </a:endParaRPr>
          </a:p>
          <a:p>
            <a:r>
              <a:rPr lang="en-US" dirty="0" smtClean="0">
                <a:solidFill>
                  <a:srgbClr val="0070C0"/>
                </a:solidFill>
              </a:rPr>
              <a:t>Refer to both sources and your own knowledge in your answer (6)</a:t>
            </a:r>
            <a:endParaRPr lang="en-US" dirty="0">
              <a:solidFill>
                <a:srgbClr val="0070C0"/>
              </a:solidFill>
            </a:endParaRPr>
          </a:p>
        </p:txBody>
      </p:sp>
      <p:sp>
        <p:nvSpPr>
          <p:cNvPr id="5" name="Rectangle 4"/>
          <p:cNvSpPr/>
          <p:nvPr/>
        </p:nvSpPr>
        <p:spPr>
          <a:xfrm>
            <a:off x="5753100" y="969151"/>
            <a:ext cx="6096000" cy="2308324"/>
          </a:xfrm>
          <a:prstGeom prst="rect">
            <a:avLst/>
          </a:prstGeom>
          <a:noFill/>
          <a:ln>
            <a:solidFill>
              <a:srgbClr val="7030A0"/>
            </a:solidFill>
          </a:ln>
        </p:spPr>
        <p:txBody>
          <a:bodyPr>
            <a:spAutoFit/>
          </a:bodyPr>
          <a:lstStyle/>
          <a:p>
            <a:r>
              <a:rPr lang="en-GB" dirty="0">
                <a:solidFill>
                  <a:srgbClr val="0070C0"/>
                </a:solidFill>
              </a:rPr>
              <a:t> </a:t>
            </a:r>
          </a:p>
          <a:p>
            <a:r>
              <a:rPr lang="en-GB" dirty="0" smtClean="0">
                <a:solidFill>
                  <a:srgbClr val="0070C0"/>
                </a:solidFill>
              </a:rPr>
              <a:t>"</a:t>
            </a:r>
            <a:r>
              <a:rPr lang="en-GB" dirty="0">
                <a:solidFill>
                  <a:srgbClr val="0070C0"/>
                </a:solidFill>
              </a:rPr>
              <a:t>In the Germanic nations there has never been anything else than equality of rights for women. Both sexes have their rights, their tasks, and these tasks were in the case of each equal in dignity and value, and therefore man and woman were on an equality."  </a:t>
            </a:r>
          </a:p>
          <a:p>
            <a:r>
              <a:rPr lang="en-GB" b="1" dirty="0">
                <a:solidFill>
                  <a:srgbClr val="0070C0"/>
                </a:solidFill>
              </a:rPr>
              <a:t>Hitler in 1935 </a:t>
            </a:r>
          </a:p>
          <a:p>
            <a:r>
              <a:rPr lang="en-GB" dirty="0"/>
              <a:t> </a:t>
            </a:r>
          </a:p>
        </p:txBody>
      </p:sp>
      <p:sp>
        <p:nvSpPr>
          <p:cNvPr id="6" name="Rectangle 5"/>
          <p:cNvSpPr/>
          <p:nvPr/>
        </p:nvSpPr>
        <p:spPr>
          <a:xfrm>
            <a:off x="5753100" y="3740826"/>
            <a:ext cx="5865382" cy="2031325"/>
          </a:xfrm>
          <a:prstGeom prst="rect">
            <a:avLst/>
          </a:prstGeom>
          <a:ln>
            <a:solidFill>
              <a:srgbClr val="7030A0"/>
            </a:solidFill>
          </a:ln>
        </p:spPr>
        <p:txBody>
          <a:bodyPr wrap="square">
            <a:spAutoFit/>
          </a:bodyPr>
          <a:lstStyle/>
          <a:p>
            <a:r>
              <a:rPr lang="en-GB" dirty="0">
                <a:solidFill>
                  <a:srgbClr val="0070C0"/>
                </a:solidFill>
              </a:rPr>
              <a:t>"The mission of women is to be beautiful and to bring children into the world. This is not at all as.........</a:t>
            </a:r>
            <a:r>
              <a:rPr lang="en-GB" dirty="0" err="1">
                <a:solidFill>
                  <a:srgbClr val="0070C0"/>
                </a:solidFill>
              </a:rPr>
              <a:t>unmodern</a:t>
            </a:r>
            <a:r>
              <a:rPr lang="en-GB" dirty="0">
                <a:solidFill>
                  <a:srgbClr val="0070C0"/>
                </a:solidFill>
              </a:rPr>
              <a:t> as it sounds. The female bird pretties herself for her mate and hatches eggs for him. In exchange, the male takes care of gathering food, and stands guard and wards off the enemy."  </a:t>
            </a:r>
          </a:p>
          <a:p>
            <a:r>
              <a:rPr lang="en-GB" b="1" dirty="0">
                <a:solidFill>
                  <a:srgbClr val="0070C0"/>
                </a:solidFill>
              </a:rPr>
              <a:t>Joseph Goebbels, </a:t>
            </a:r>
            <a:r>
              <a:rPr lang="en-GB" b="1" dirty="0" smtClean="0">
                <a:solidFill>
                  <a:srgbClr val="0070C0"/>
                </a:solidFill>
              </a:rPr>
              <a:t>written </a:t>
            </a:r>
            <a:r>
              <a:rPr lang="en-GB" b="1" dirty="0">
                <a:solidFill>
                  <a:srgbClr val="0070C0"/>
                </a:solidFill>
              </a:rPr>
              <a:t>in 1929.</a:t>
            </a:r>
          </a:p>
        </p:txBody>
      </p:sp>
    </p:spTree>
    <p:extLst>
      <p:ext uri="{BB962C8B-B14F-4D97-AF65-F5344CB8AC3E}">
        <p14:creationId xmlns:p14="http://schemas.microsoft.com/office/powerpoint/2010/main" val="3153934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GCSE">
      <a:dk1>
        <a:sysClr val="windowText" lastClr="000000"/>
      </a:dk1>
      <a:lt1>
        <a:sysClr val="window" lastClr="FFFFFF"/>
      </a:lt1>
      <a:dk2>
        <a:srgbClr val="000000"/>
      </a:dk2>
      <a:lt2>
        <a:srgbClr val="DBF5F9"/>
      </a:lt2>
      <a:accent1>
        <a:srgbClr val="54A838"/>
      </a:accent1>
      <a:accent2>
        <a:srgbClr val="000000"/>
      </a:accent2>
      <a:accent3>
        <a:srgbClr val="7CCA62"/>
      </a:accent3>
      <a:accent4>
        <a:srgbClr val="716B00"/>
      </a:accent4>
      <a:accent5>
        <a:srgbClr val="7CCA62"/>
      </a:accent5>
      <a:accent6>
        <a:srgbClr val="A5C249"/>
      </a:accent6>
      <a:hlink>
        <a:srgbClr val="716B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1" id="{C7C7170C-C290-45D6-987E-5D3192D8F933}" vid="{37E540DD-9AA4-4401-82BA-28DF293926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75</TotalTime>
  <Words>683</Words>
  <Application>Microsoft Macintosh PowerPoint</Application>
  <PresentationFormat>Widescreen</PresentationFormat>
  <Paragraphs>60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Constantia</vt:lpstr>
      <vt:lpstr>Wingdings 2</vt:lpstr>
      <vt:lpstr>Theme1</vt:lpstr>
      <vt:lpstr>What does this photograph tell you about women in Nazi Germany?   </vt:lpstr>
      <vt:lpstr>Nazi control of Women</vt:lpstr>
      <vt:lpstr>PowerPoint Presentation</vt:lpstr>
      <vt:lpstr>What was life like for women?</vt:lpstr>
      <vt:lpstr>Women were expected to raise large families</vt:lpstr>
      <vt:lpstr>Control of women</vt:lpstr>
      <vt:lpstr>Policies appeal?</vt:lpstr>
      <vt:lpstr>Kinder, Kuche, Kirche (3K’s)</vt:lpstr>
      <vt:lpstr>Evaluation task</vt:lpstr>
      <vt:lpstr>Examination technique</vt:lpstr>
      <vt:lpstr>Source work</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 Clendennen; dean smith</dc:creator>
  <cp:lastModifiedBy>HARRIS Adam [Narrogin Senior High School]</cp:lastModifiedBy>
  <cp:revision>12</cp:revision>
  <dcterms:created xsi:type="dcterms:W3CDTF">2013-03-23T11:14:23Z</dcterms:created>
  <dcterms:modified xsi:type="dcterms:W3CDTF">2018-08-19T13:27:47Z</dcterms:modified>
</cp:coreProperties>
</file>
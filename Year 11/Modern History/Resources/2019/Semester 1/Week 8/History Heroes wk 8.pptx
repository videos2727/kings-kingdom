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71" r:id="rId10"/>
    <p:sldId id="272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1762A-680F-4990-82C5-B9EA40E70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33CE82-0753-459D-BBA9-2ADAAD14E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B8357-F20C-4545-92B0-BA8F2FA40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F4B9-4F42-44A5-9E73-4B3C31A3E865}" type="datetimeFigureOut">
              <a:rPr lang="en-AU" smtClean="0"/>
              <a:t>27/03/2019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725F2-9AF5-4EAE-9418-EA3E46A5D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DFA02-EEC6-45BA-AE47-FE0C8C5E8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FFC26-3AB3-4940-83B8-EB0E99914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5929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2BB33-CF07-4A8D-BA5F-2C3E08FF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52554-A629-43CF-B6C0-4E3644994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90B70-90B2-4DAB-BCFF-5EBC6B756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F4B9-4F42-44A5-9E73-4B3C31A3E865}" type="datetimeFigureOut">
              <a:rPr lang="en-AU" smtClean="0"/>
              <a:t>27/03/2019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5757E-9031-4641-9E45-4B0564133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14B83-5C77-42F9-AC25-B5DE96C55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FFC26-3AB3-4940-83B8-EB0E99914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690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BD70-C9BF-4BA8-9151-0F9DC63E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FAE71-1084-48C6-A908-A78601806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DE5E8-F5EA-4176-8A0A-928BE22D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F4B9-4F42-44A5-9E73-4B3C31A3E865}" type="datetimeFigureOut">
              <a:rPr lang="en-AU" smtClean="0"/>
              <a:t>27/03/2019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38EF4-E8EA-41CF-9625-6BC7FCCE1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71E19-3EB7-4C92-84E8-0D5DE958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FFC26-3AB3-4940-83B8-EB0E99914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2005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16C81-ABE5-49B6-9E10-E55D1D32F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C522C-A40A-4D5A-9D68-9E70BCF481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4E7B-59DC-456D-9738-DA2ECF8BB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4C7B14-5837-4F7A-A5EB-E79C17481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F4B9-4F42-44A5-9E73-4B3C31A3E865}" type="datetimeFigureOut">
              <a:rPr lang="en-AU" smtClean="0"/>
              <a:t>27/03/2019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13100-39D8-460A-8FD0-27ED491DB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27FBE7-BB93-4CBA-9175-E45E623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FFC26-3AB3-4940-83B8-EB0E99914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0879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5EDE7-ADB0-44D1-9558-0E20AAC2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4B378-4AA9-42FC-8D7E-CA2709A06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C4C7D-E123-43AA-AB7A-DABD0EF06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DF2545-A4DF-442D-A943-AB236CCE6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09D70E-F164-4999-AE08-CA2F56EF47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806B97-87D3-40FF-893F-2ABD0C685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F4B9-4F42-44A5-9E73-4B3C31A3E865}" type="datetimeFigureOut">
              <a:rPr lang="en-AU" smtClean="0"/>
              <a:t>27/03/2019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FB332A-2178-4A75-925A-7CC0B226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85DF0C-6B4D-424D-8E0B-161EB52C0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FFC26-3AB3-4940-83B8-EB0E99914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5362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71AF-0FD9-4EA2-8DE1-D31EEE3EA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505535-FF0F-4B78-A88F-F45A9ABA1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F4B9-4F42-44A5-9E73-4B3C31A3E865}" type="datetimeFigureOut">
              <a:rPr lang="en-AU" smtClean="0"/>
              <a:t>27/03/2019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39B7D2-67A9-44D9-B38B-AFA2B7FBD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4E96B-CF14-449E-923E-FAC3708DB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FFC26-3AB3-4940-83B8-EB0E99914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1616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225568-3DC5-432F-9DF8-56388BABD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F4B9-4F42-44A5-9E73-4B3C31A3E865}" type="datetimeFigureOut">
              <a:rPr lang="en-AU" smtClean="0"/>
              <a:t>27/03/2019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C2E36E-B85D-4DE9-8929-B9E3E50D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3B251-F89E-4183-A5A5-F2881FD2C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FFC26-3AB3-4940-83B8-EB0E99914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3401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AE4CF-B29E-4243-ABA8-38723CCDC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BB6E0-635B-4366-85FE-E394BDC57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A657A4-F9FA-460A-9C44-2048BAC7BD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132B4F-788C-4C03-A4BD-ACC41A360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F4B9-4F42-44A5-9E73-4B3C31A3E865}" type="datetimeFigureOut">
              <a:rPr lang="en-AU" smtClean="0"/>
              <a:t>27/03/2019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DA013-BFCD-4D49-AB29-BD9B7DE6F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7CC48-8B28-410A-A81B-34EE800B9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FFC26-3AB3-4940-83B8-EB0E99914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392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83BCA-2228-45FB-AE28-F1D503C41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B5930B-1543-4414-91CC-09067BA8F4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F9AEAE-9634-4CDA-A3BC-CA65E2774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2676BF-2687-4269-B630-2C1ADEBCE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F4B9-4F42-44A5-9E73-4B3C31A3E865}" type="datetimeFigureOut">
              <a:rPr lang="en-AU" smtClean="0"/>
              <a:t>27/03/2019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A6AB4-F8E0-450B-A446-2FFC8424E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76A79-D4CF-4F12-AEB2-A43385E75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FFC26-3AB3-4940-83B8-EB0E99914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45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19E82-B47B-4FFB-8B9A-46BEDFC99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410DE6-A41D-468F-BC94-BE2ACB849D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564E5-F02F-42AB-A187-E5CA89FA1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F4B9-4F42-44A5-9E73-4B3C31A3E865}" type="datetimeFigureOut">
              <a:rPr lang="en-AU" smtClean="0"/>
              <a:t>27/03/2019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3B6E1-DF12-4EB0-8B68-4660F32D0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73CEF-E3A3-4BD4-9E25-011BD46EC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FFC26-3AB3-4940-83B8-EB0E99914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5604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93644D-9603-4B2E-8774-430C509823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49673-A3C9-41B6-A4B5-D17A599EC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45858-03B1-458C-BCA7-8C548E892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F4B9-4F42-44A5-9E73-4B3C31A3E865}" type="datetimeFigureOut">
              <a:rPr lang="en-AU" smtClean="0"/>
              <a:t>27/03/2019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48ACB-5609-4CA7-B068-E5898860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7E20C-C6C2-485D-B7E3-218E42B14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FFC26-3AB3-4940-83B8-EB0E99914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3419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C445AC-F150-41D0-88DF-331B8FE1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6FD49-6DF9-4A00-887B-6803215F6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871A9-7854-491B-A268-495D593DE4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0F4B9-4F42-44A5-9E73-4B3C31A3E865}" type="datetimeFigureOut">
              <a:rPr lang="en-AU" smtClean="0"/>
              <a:t>27/03/2019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B3B6F-7506-4454-840F-D72939ACD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7740A-9308-48FA-A00F-D624C3B9C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3FFC26-3AB3-4940-83B8-EB0E99914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8550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mage result for american 1920s">
            <a:extLst>
              <a:ext uri="{FF2B5EF4-FFF2-40B4-BE49-F238E27FC236}">
                <a16:creationId xmlns:a16="http://schemas.microsoft.com/office/drawing/2014/main" id="{D702783F-EFF6-49F2-ACF5-C9533FF1BA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7" b="17643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8C3973-36AD-4962-9F06-987FFAD98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965200"/>
            <a:ext cx="10261600" cy="3564869"/>
          </a:xfrm>
        </p:spPr>
        <p:txBody>
          <a:bodyPr>
            <a:normAutofit/>
          </a:bodyPr>
          <a:lstStyle/>
          <a:p>
            <a:pPr algn="l"/>
            <a:r>
              <a:rPr lang="en-AU" sz="11500" dirty="0">
                <a:ln w="22225">
                  <a:solidFill>
                    <a:schemeClr val="tx1"/>
                  </a:solidFill>
                  <a:miter lim="800000"/>
                </a:ln>
              </a:rPr>
              <a:t>History Heroes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7151A9-8B8B-4377-B012-9045FB48C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4572002"/>
            <a:ext cx="10261600" cy="1202995"/>
          </a:xfrm>
        </p:spPr>
        <p:txBody>
          <a:bodyPr>
            <a:normAutofit/>
          </a:bodyPr>
          <a:lstStyle/>
          <a:p>
            <a:pPr algn="l"/>
            <a:r>
              <a:rPr lang="en-AU" sz="3200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14101715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 result for american 1920s">
            <a:extLst>
              <a:ext uri="{FF2B5EF4-FFF2-40B4-BE49-F238E27FC236}">
                <a16:creationId xmlns:a16="http://schemas.microsoft.com/office/drawing/2014/main" id="{0A7F5DE7-B4FE-4B46-B0E3-7E62132F7B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7" b="17643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F70731-2463-4575-9D9C-3A76A591F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965200"/>
            <a:ext cx="10261600" cy="4221942"/>
          </a:xfrm>
          <a:solidFill>
            <a:schemeClr val="bg1">
              <a:lumMod val="75000"/>
              <a:lumOff val="25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8100" dirty="0">
                <a:ln w="22225">
                  <a:solidFill>
                    <a:schemeClr val="tx1"/>
                  </a:solidFill>
                  <a:miter lim="800000"/>
                </a:ln>
              </a:rPr>
              <a:t>1. </a:t>
            </a:r>
            <a:r>
              <a:rPr lang="en-US" sz="8100" dirty="0" smtClean="0">
                <a:ln w="22225">
                  <a:solidFill>
                    <a:schemeClr val="tx1"/>
                  </a:solidFill>
                  <a:miter lim="800000"/>
                </a:ln>
              </a:rPr>
              <a:t>Which groups in US society did not share in the prosperity of the 1920s?</a:t>
            </a:r>
            <a:br>
              <a:rPr lang="en-US" sz="8100" dirty="0" smtClean="0">
                <a:ln w="22225">
                  <a:solidFill>
                    <a:schemeClr val="tx1"/>
                  </a:solidFill>
                  <a:miter lim="800000"/>
                </a:ln>
              </a:rPr>
            </a:br>
            <a:r>
              <a:rPr lang="en-US" sz="8100" dirty="0" smtClean="0">
                <a:ln w="22225">
                  <a:solidFill>
                    <a:schemeClr val="tx1"/>
                  </a:solidFill>
                  <a:miter lim="800000"/>
                </a:ln>
              </a:rPr>
              <a:t>(2 groups, 2 marks)</a:t>
            </a:r>
            <a:endParaRPr lang="en-US" sz="8100" dirty="0">
              <a:ln w="22225">
                <a:solidFill>
                  <a:schemeClr val="tx1"/>
                </a:solidFill>
                <a:miter lim="800000"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072800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42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8" name="Picture 4" descr="Image result for american 1920s">
            <a:extLst>
              <a:ext uri="{FF2B5EF4-FFF2-40B4-BE49-F238E27FC236}">
                <a16:creationId xmlns:a16="http://schemas.microsoft.com/office/drawing/2014/main" id="{6D846E0F-054B-4F33-8644-B01979E73E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7" b="17643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1C815D-46E8-4BA7-8C4A-88140B479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635" y="1905448"/>
            <a:ext cx="3865419" cy="3805396"/>
          </a:xfrm>
          <a:solidFill>
            <a:schemeClr val="bg1">
              <a:lumMod val="75000"/>
              <a:lumOff val="25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sz="5600" dirty="0">
                <a:ln w="22225">
                  <a:solidFill>
                    <a:srgbClr val="FFFFFF"/>
                  </a:solidFill>
                </a:ln>
              </a:rPr>
              <a:t>2. </a:t>
            </a:r>
            <a:r>
              <a:rPr lang="en-US" sz="5600" dirty="0" smtClean="0">
                <a:ln w="22225">
                  <a:solidFill>
                    <a:srgbClr val="FFFFFF"/>
                  </a:solidFill>
                </a:ln>
              </a:rPr>
              <a:t>Who was Alphonse  Capone?</a:t>
            </a:r>
            <a:br>
              <a:rPr lang="en-US" sz="5600" dirty="0" smtClean="0">
                <a:ln w="22225">
                  <a:solidFill>
                    <a:srgbClr val="FFFFFF"/>
                  </a:solidFill>
                </a:ln>
              </a:rPr>
            </a:br>
            <a:r>
              <a:rPr lang="en-US" sz="5600" dirty="0" smtClean="0">
                <a:ln w="22225">
                  <a:solidFill>
                    <a:srgbClr val="FFFFFF"/>
                  </a:solidFill>
                </a:ln>
              </a:rPr>
              <a:t>(1 mark)</a:t>
            </a:r>
            <a:endParaRPr lang="en-US" sz="5600" dirty="0">
              <a:ln w="22225">
                <a:solidFill>
                  <a:srgbClr val="FFFFFF"/>
                </a:solidFill>
              </a:ln>
            </a:endParaRPr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811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40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0" name="Picture 2" descr="Image result for american 1920s">
            <a:extLst>
              <a:ext uri="{FF2B5EF4-FFF2-40B4-BE49-F238E27FC236}">
                <a16:creationId xmlns:a16="http://schemas.microsoft.com/office/drawing/2014/main" id="{B56A89ED-831E-403A-913F-4CAA2838D0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7" b="17643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8B84E6-F7EB-4AB7-942C-D0463B04C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11" y="1065861"/>
            <a:ext cx="6492143" cy="5235185"/>
          </a:xfrm>
          <a:solidFill>
            <a:schemeClr val="bg1">
              <a:lumMod val="75000"/>
              <a:lumOff val="25000"/>
            </a:schemeClr>
          </a:solidFill>
        </p:spPr>
        <p:txBody>
          <a:bodyPr vert="horz" lIns="91440" tIns="45720" rIns="91440" bIns="45720" rtlCol="0">
            <a:normAutofit fontScale="90000"/>
          </a:bodyPr>
          <a:lstStyle/>
          <a:p>
            <a:pPr algn="r"/>
            <a:r>
              <a:rPr lang="en-US" sz="6800" dirty="0">
                <a:ln w="22225">
                  <a:solidFill>
                    <a:srgbClr val="FFFFFF"/>
                  </a:solidFill>
                </a:ln>
              </a:rPr>
              <a:t>3. </a:t>
            </a:r>
            <a:r>
              <a:rPr lang="en-US" sz="6800" dirty="0" smtClean="0">
                <a:ln w="22225">
                  <a:solidFill>
                    <a:srgbClr val="FFFFFF"/>
                  </a:solidFill>
                </a:ln>
              </a:rPr>
              <a:t>State one group/movement in US society who campaigned for Prohibition.</a:t>
            </a:r>
            <a:br>
              <a:rPr lang="en-US" sz="6800" dirty="0" smtClean="0">
                <a:ln w="22225">
                  <a:solidFill>
                    <a:srgbClr val="FFFFFF"/>
                  </a:solidFill>
                </a:ln>
              </a:rPr>
            </a:br>
            <a:r>
              <a:rPr lang="en-US" sz="6800" dirty="0" smtClean="0">
                <a:ln w="22225">
                  <a:solidFill>
                    <a:srgbClr val="FFFFFF"/>
                  </a:solidFill>
                </a:ln>
              </a:rPr>
              <a:t>(1 mark)</a:t>
            </a:r>
            <a:r>
              <a:rPr lang="en-US" sz="6800" dirty="0" smtClean="0">
                <a:ln w="22225">
                  <a:solidFill>
                    <a:srgbClr val="FFFFFF"/>
                  </a:solidFill>
                </a:ln>
              </a:rPr>
              <a:t> </a:t>
            </a:r>
            <a:endParaRPr lang="en-US" sz="6800" dirty="0">
              <a:ln w="22225">
                <a:solidFill>
                  <a:srgbClr val="FFFFFF"/>
                </a:solidFill>
              </a:ln>
            </a:endParaRP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5297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american 1920s">
            <a:extLst>
              <a:ext uri="{FF2B5EF4-FFF2-40B4-BE49-F238E27FC236}">
                <a16:creationId xmlns:a16="http://schemas.microsoft.com/office/drawing/2014/main" id="{21E63EE5-24A6-4485-B892-ADEE465627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7" b="17643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603953-8411-46E2-8B22-6FF5129F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10" y="1737359"/>
            <a:ext cx="10261600" cy="3657601"/>
          </a:xfrm>
          <a:solidFill>
            <a:schemeClr val="bg1">
              <a:lumMod val="75000"/>
              <a:lumOff val="25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7200" dirty="0">
                <a:ln w="22225">
                  <a:solidFill>
                    <a:schemeClr val="tx1"/>
                  </a:solidFill>
                  <a:miter lim="800000"/>
                </a:ln>
              </a:rPr>
              <a:t>4. </a:t>
            </a:r>
            <a:r>
              <a:rPr lang="en-US" sz="7200" dirty="0" smtClean="0">
                <a:ln w="22225">
                  <a:solidFill>
                    <a:schemeClr val="tx1"/>
                  </a:solidFill>
                  <a:miter lim="800000"/>
                </a:ln>
              </a:rPr>
              <a:t>State two groups </a:t>
            </a:r>
            <a:r>
              <a:rPr lang="en-US" sz="7200" dirty="0" smtClean="0">
                <a:ln w="22225">
                  <a:solidFill>
                    <a:schemeClr val="tx1"/>
                  </a:solidFill>
                  <a:miter lim="800000"/>
                </a:ln>
              </a:rPr>
              <a:t>in society the KKK opposed during the 1920s resurgence period (2 marks).</a:t>
            </a:r>
            <a:endParaRPr lang="en-US" sz="7200" dirty="0">
              <a:ln w="22225">
                <a:solidFill>
                  <a:schemeClr val="tx1"/>
                </a:solidFill>
                <a:miter lim="800000"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321616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9" name="Picture 2" descr="Image result for american 1920s">
            <a:extLst>
              <a:ext uri="{FF2B5EF4-FFF2-40B4-BE49-F238E27FC236}">
                <a16:creationId xmlns:a16="http://schemas.microsoft.com/office/drawing/2014/main" id="{423EF038-4262-4242-BCDD-F29DFCF7CAB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7" b="17643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4E3F93-5C02-410D-BDED-4FEFC13E3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965200"/>
            <a:ext cx="10261600" cy="3564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11500" dirty="0">
                <a:ln w="22225">
                  <a:solidFill>
                    <a:schemeClr val="tx1"/>
                  </a:solidFill>
                  <a:miter lim="800000"/>
                </a:ln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29067613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 result for american 1920s">
            <a:extLst>
              <a:ext uri="{FF2B5EF4-FFF2-40B4-BE49-F238E27FC236}">
                <a16:creationId xmlns:a16="http://schemas.microsoft.com/office/drawing/2014/main" id="{0A7F5DE7-B4FE-4B46-B0E3-7E62132F7B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7" b="17643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F70731-2463-4575-9D9C-3A76A591F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8814" y="1205345"/>
            <a:ext cx="6848764" cy="4447309"/>
          </a:xfrm>
          <a:solidFill>
            <a:schemeClr val="bg1">
              <a:lumMod val="75000"/>
              <a:lumOff val="25000"/>
            </a:schemeClr>
          </a:solidFill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500" dirty="0">
                <a:ln w="22225">
                  <a:solidFill>
                    <a:schemeClr val="tx1"/>
                  </a:solidFill>
                  <a:miter lim="800000"/>
                </a:ln>
              </a:rPr>
              <a:t>1. </a:t>
            </a:r>
            <a:r>
              <a:rPr lang="en-US" sz="2500" dirty="0" smtClean="0">
                <a:ln w="22225">
                  <a:solidFill>
                    <a:schemeClr val="tx1"/>
                  </a:solidFill>
                  <a:miter lim="800000"/>
                </a:ln>
              </a:rPr>
              <a:t>(2 marks)</a:t>
            </a:r>
            <a:br>
              <a:rPr lang="en-US" sz="2500" dirty="0" smtClean="0">
                <a:ln w="22225">
                  <a:solidFill>
                    <a:schemeClr val="tx1"/>
                  </a:solidFill>
                  <a:miter lim="800000"/>
                </a:ln>
              </a:rPr>
            </a:br>
            <a:r>
              <a:rPr lang="en-US" sz="2500" dirty="0" smtClean="0">
                <a:ln w="22225">
                  <a:solidFill>
                    <a:schemeClr val="tx1"/>
                  </a:solidFill>
                  <a:miter lim="800000"/>
                </a:ln>
              </a:rPr>
              <a:t/>
            </a:r>
            <a:br>
              <a:rPr lang="en-US" sz="2500" dirty="0" smtClean="0">
                <a:ln w="22225">
                  <a:solidFill>
                    <a:schemeClr val="tx1"/>
                  </a:solidFill>
                  <a:miter lim="800000"/>
                </a:ln>
              </a:rPr>
            </a:br>
            <a:r>
              <a:rPr lang="en-US" sz="2500" dirty="0" smtClean="0">
                <a:ln w="22225">
                  <a:solidFill>
                    <a:schemeClr val="tx1"/>
                  </a:solidFill>
                  <a:miter lim="800000"/>
                </a:ln>
              </a:rPr>
              <a:t>Farmers</a:t>
            </a:r>
            <a:br>
              <a:rPr lang="en-US" sz="2500" dirty="0" smtClean="0">
                <a:ln w="22225">
                  <a:solidFill>
                    <a:schemeClr val="tx1"/>
                  </a:solidFill>
                  <a:miter lim="800000"/>
                </a:ln>
              </a:rPr>
            </a:br>
            <a:r>
              <a:rPr lang="en-US" sz="2500" dirty="0" smtClean="0">
                <a:ln w="22225">
                  <a:solidFill>
                    <a:schemeClr val="tx1"/>
                  </a:solidFill>
                  <a:miter lim="800000"/>
                </a:ln>
              </a:rPr>
              <a:t/>
            </a:r>
            <a:br>
              <a:rPr lang="en-US" sz="2500" dirty="0" smtClean="0">
                <a:ln w="22225">
                  <a:solidFill>
                    <a:schemeClr val="tx1"/>
                  </a:solidFill>
                  <a:miter lim="800000"/>
                </a:ln>
              </a:rPr>
            </a:br>
            <a:r>
              <a:rPr lang="en-AU" sz="2500" dirty="0" smtClean="0">
                <a:ln w="22225">
                  <a:solidFill>
                    <a:schemeClr val="tx1"/>
                  </a:solidFill>
                  <a:miter lim="800000"/>
                </a:ln>
              </a:rPr>
              <a:t>Blacks</a:t>
            </a:r>
            <a:r>
              <a:rPr lang="en-AU" sz="2500" dirty="0">
                <a:ln w="22225">
                  <a:solidFill>
                    <a:schemeClr val="tx1"/>
                  </a:solidFill>
                  <a:miter lim="800000"/>
                </a:ln>
              </a:rPr>
              <a:t>, Asians, Hispanics and American </a:t>
            </a:r>
            <a:r>
              <a:rPr lang="en-AU" sz="2500" dirty="0" smtClean="0">
                <a:ln w="22225">
                  <a:solidFill>
                    <a:schemeClr val="tx1"/>
                  </a:solidFill>
                  <a:miter lim="800000"/>
                </a:ln>
              </a:rPr>
              <a:t>Indians</a:t>
            </a:r>
            <a:br>
              <a:rPr lang="en-AU" sz="2500" dirty="0" smtClean="0">
                <a:ln w="22225">
                  <a:solidFill>
                    <a:schemeClr val="tx1"/>
                  </a:solidFill>
                  <a:miter lim="800000"/>
                </a:ln>
              </a:rPr>
            </a:br>
            <a:r>
              <a:rPr lang="en-AU" sz="2500" dirty="0" smtClean="0">
                <a:ln w="22225">
                  <a:solidFill>
                    <a:schemeClr val="tx1"/>
                  </a:solidFill>
                  <a:miter lim="800000"/>
                </a:ln>
              </a:rPr>
              <a:t/>
            </a:r>
            <a:br>
              <a:rPr lang="en-AU" sz="2500" dirty="0" smtClean="0">
                <a:ln w="22225">
                  <a:solidFill>
                    <a:schemeClr val="tx1"/>
                  </a:solidFill>
                  <a:miter lim="800000"/>
                </a:ln>
              </a:rPr>
            </a:br>
            <a:r>
              <a:rPr lang="en-AU" sz="2500" dirty="0" smtClean="0">
                <a:ln w="22225">
                  <a:solidFill>
                    <a:schemeClr val="tx1"/>
                  </a:solidFill>
                  <a:miter lim="800000"/>
                </a:ln>
              </a:rPr>
              <a:t>The unemployed</a:t>
            </a:r>
            <a:br>
              <a:rPr lang="en-AU" sz="2500" dirty="0" smtClean="0">
                <a:ln w="22225">
                  <a:solidFill>
                    <a:schemeClr val="tx1"/>
                  </a:solidFill>
                  <a:miter lim="800000"/>
                </a:ln>
              </a:rPr>
            </a:br>
            <a:r>
              <a:rPr lang="en-AU" sz="2500" dirty="0" smtClean="0">
                <a:ln w="22225">
                  <a:solidFill>
                    <a:schemeClr val="tx1"/>
                  </a:solidFill>
                  <a:miter lim="800000"/>
                </a:ln>
              </a:rPr>
              <a:t/>
            </a:r>
            <a:br>
              <a:rPr lang="en-AU" sz="2500" dirty="0" smtClean="0">
                <a:ln w="22225">
                  <a:solidFill>
                    <a:schemeClr val="tx1"/>
                  </a:solidFill>
                  <a:miter lim="800000"/>
                </a:ln>
              </a:rPr>
            </a:br>
            <a:r>
              <a:rPr lang="en-AU" sz="2500" dirty="0" smtClean="0">
                <a:ln w="22225">
                  <a:solidFill>
                    <a:schemeClr val="tx1"/>
                  </a:solidFill>
                  <a:miter lim="800000"/>
                </a:ln>
              </a:rPr>
              <a:t>Immigrants</a:t>
            </a:r>
            <a:br>
              <a:rPr lang="en-AU" sz="2500" dirty="0" smtClean="0">
                <a:ln w="22225">
                  <a:solidFill>
                    <a:schemeClr val="tx1"/>
                  </a:solidFill>
                  <a:miter lim="800000"/>
                </a:ln>
              </a:rPr>
            </a:br>
            <a:r>
              <a:rPr lang="en-AU" sz="2500" dirty="0" smtClean="0">
                <a:ln w="22225">
                  <a:solidFill>
                    <a:schemeClr val="tx1"/>
                  </a:solidFill>
                  <a:miter lim="800000"/>
                </a:ln>
              </a:rPr>
              <a:t/>
            </a:r>
            <a:br>
              <a:rPr lang="en-AU" sz="2500" dirty="0" smtClean="0">
                <a:ln w="22225">
                  <a:solidFill>
                    <a:schemeClr val="tx1"/>
                  </a:solidFill>
                  <a:miter lim="800000"/>
                </a:ln>
              </a:rPr>
            </a:br>
            <a:r>
              <a:rPr lang="en-AU" sz="2500" dirty="0" smtClean="0">
                <a:ln w="22225">
                  <a:solidFill>
                    <a:schemeClr val="tx1"/>
                  </a:solidFill>
                  <a:miter lim="800000"/>
                </a:ln>
              </a:rPr>
              <a:t>Catholics and Jews</a:t>
            </a:r>
            <a:endParaRPr lang="en-US" sz="2500" dirty="0">
              <a:ln w="22225">
                <a:solidFill>
                  <a:schemeClr val="tx1"/>
                </a:solidFill>
                <a:miter lim="800000"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8719814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42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8" name="Picture 4" descr="Image result for american 1920s">
            <a:extLst>
              <a:ext uri="{FF2B5EF4-FFF2-40B4-BE49-F238E27FC236}">
                <a16:creationId xmlns:a16="http://schemas.microsoft.com/office/drawing/2014/main" id="{6D846E0F-054B-4F33-8644-B01979E73E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7" b="17643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1C815D-46E8-4BA7-8C4A-88140B479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783" y="556953"/>
            <a:ext cx="5785657" cy="5677591"/>
          </a:xfrm>
          <a:solidFill>
            <a:schemeClr val="bg1">
              <a:lumMod val="75000"/>
              <a:lumOff val="25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sz="5600" dirty="0">
                <a:ln w="22225">
                  <a:solidFill>
                    <a:srgbClr val="FFFFFF"/>
                  </a:solidFill>
                </a:ln>
              </a:rPr>
              <a:t>2</a:t>
            </a:r>
            <a:r>
              <a:rPr lang="en-US" sz="5600" dirty="0" smtClean="0">
                <a:ln w="22225">
                  <a:solidFill>
                    <a:srgbClr val="FFFFFF"/>
                  </a:solidFill>
                </a:ln>
              </a:rPr>
              <a:t>. (1 mark)</a:t>
            </a:r>
            <a:r>
              <a:rPr lang="en-AU" sz="5600" dirty="0" smtClean="0">
                <a:ln w="22225">
                  <a:solidFill>
                    <a:srgbClr val="FFFFFF"/>
                  </a:solidFill>
                </a:ln>
              </a:rPr>
              <a:t> </a:t>
            </a:r>
            <a:br>
              <a:rPr lang="en-AU" sz="5600" dirty="0" smtClean="0">
                <a:ln w="22225">
                  <a:solidFill>
                    <a:srgbClr val="FFFFFF"/>
                  </a:solidFill>
                </a:ln>
              </a:rPr>
            </a:br>
            <a:r>
              <a:rPr lang="en-AU" sz="5600" dirty="0" smtClean="0">
                <a:ln w="22225">
                  <a:solidFill>
                    <a:srgbClr val="FFFFFF"/>
                  </a:solidFill>
                </a:ln>
              </a:rPr>
              <a:t>An </a:t>
            </a:r>
            <a:r>
              <a:rPr lang="en-AU" sz="5600" dirty="0">
                <a:ln w="22225">
                  <a:solidFill>
                    <a:srgbClr val="FFFFFF"/>
                  </a:solidFill>
                </a:ln>
              </a:rPr>
              <a:t>American gangster and businessman who attained notoriety during the Prohibition era</a:t>
            </a:r>
            <a:r>
              <a:rPr lang="en-US" sz="5600" dirty="0" smtClean="0">
                <a:ln w="22225">
                  <a:solidFill>
                    <a:srgbClr val="FFFFFF"/>
                  </a:solidFill>
                </a:ln>
              </a:rPr>
              <a:t> </a:t>
            </a:r>
            <a:endParaRPr lang="en-US" sz="5600" dirty="0">
              <a:ln w="22225">
                <a:solidFill>
                  <a:srgbClr val="FFFFFF"/>
                </a:solidFill>
              </a:ln>
            </a:endParaRPr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6397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40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80" name="Picture 2" descr="Image result for american 1920s">
            <a:extLst>
              <a:ext uri="{FF2B5EF4-FFF2-40B4-BE49-F238E27FC236}">
                <a16:creationId xmlns:a16="http://schemas.microsoft.com/office/drawing/2014/main" id="{B56A89ED-831E-403A-913F-4CAA2838D0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7" b="17643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8B84E6-F7EB-4AB7-942C-D0463B04C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11" y="1065861"/>
            <a:ext cx="6492143" cy="5235185"/>
          </a:xfrm>
          <a:solidFill>
            <a:schemeClr val="bg1">
              <a:lumMod val="75000"/>
              <a:lumOff val="25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sz="5000" dirty="0">
                <a:ln w="22225">
                  <a:solidFill>
                    <a:srgbClr val="FFFFFF"/>
                  </a:solidFill>
                </a:ln>
              </a:rPr>
              <a:t>3. </a:t>
            </a:r>
            <a:r>
              <a:rPr lang="en-US" sz="5000" dirty="0" smtClean="0">
                <a:ln w="22225">
                  <a:solidFill>
                    <a:srgbClr val="FFFFFF"/>
                  </a:solidFill>
                </a:ln>
              </a:rPr>
              <a:t>(1 mark)</a:t>
            </a:r>
            <a:br>
              <a:rPr lang="en-US" sz="5000" dirty="0" smtClean="0">
                <a:ln w="22225">
                  <a:solidFill>
                    <a:srgbClr val="FFFFFF"/>
                  </a:solidFill>
                </a:ln>
              </a:rPr>
            </a:br>
            <a:r>
              <a:rPr lang="en-US" sz="5000" dirty="0">
                <a:ln w="22225">
                  <a:solidFill>
                    <a:srgbClr val="FFFFFF"/>
                  </a:solidFill>
                </a:ln>
              </a:rPr>
              <a:t/>
            </a:r>
            <a:br>
              <a:rPr lang="en-US" sz="5000" dirty="0">
                <a:ln w="22225">
                  <a:solidFill>
                    <a:srgbClr val="FFFFFF"/>
                  </a:solidFill>
                </a:ln>
              </a:rPr>
            </a:br>
            <a:r>
              <a:rPr lang="en-US" sz="5000" dirty="0" smtClean="0">
                <a:ln w="22225">
                  <a:solidFill>
                    <a:srgbClr val="FFFFFF"/>
                  </a:solidFill>
                </a:ln>
              </a:rPr>
              <a:t>Anti-Saloon League</a:t>
            </a:r>
            <a:br>
              <a:rPr lang="en-US" sz="5000" dirty="0" smtClean="0">
                <a:ln w="22225">
                  <a:solidFill>
                    <a:srgbClr val="FFFFFF"/>
                  </a:solidFill>
                </a:ln>
              </a:rPr>
            </a:br>
            <a:r>
              <a:rPr lang="en-US" sz="5000" dirty="0">
                <a:ln w="22225">
                  <a:solidFill>
                    <a:srgbClr val="FFFFFF"/>
                  </a:solidFill>
                </a:ln>
              </a:rPr>
              <a:t/>
            </a:r>
            <a:br>
              <a:rPr lang="en-US" sz="5000" dirty="0">
                <a:ln w="22225">
                  <a:solidFill>
                    <a:srgbClr val="FFFFFF"/>
                  </a:solidFill>
                </a:ln>
              </a:rPr>
            </a:br>
            <a:r>
              <a:rPr lang="en-US" sz="5000" dirty="0" smtClean="0">
                <a:ln w="22225">
                  <a:solidFill>
                    <a:srgbClr val="FFFFFF"/>
                  </a:solidFill>
                </a:ln>
              </a:rPr>
              <a:t>Women’s Christian Temperance Movement</a:t>
            </a:r>
            <a:r>
              <a:rPr lang="en-US" sz="5000" dirty="0" smtClean="0">
                <a:ln w="22225">
                  <a:solidFill>
                    <a:srgbClr val="FFFFFF"/>
                  </a:solidFill>
                </a:ln>
              </a:rPr>
              <a:t> </a:t>
            </a:r>
            <a:endParaRPr lang="en-US" sz="5000" dirty="0">
              <a:ln w="22225">
                <a:solidFill>
                  <a:srgbClr val="FFFFFF"/>
                </a:solidFill>
              </a:ln>
            </a:endParaRP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2058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american 1920s">
            <a:extLst>
              <a:ext uri="{FF2B5EF4-FFF2-40B4-BE49-F238E27FC236}">
                <a16:creationId xmlns:a16="http://schemas.microsoft.com/office/drawing/2014/main" id="{21E63EE5-24A6-4485-B892-ADEE465627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7" b="17643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603953-8411-46E2-8B22-6FF5129F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10" y="1163782"/>
            <a:ext cx="10261600" cy="5353395"/>
          </a:xfrm>
          <a:solidFill>
            <a:schemeClr val="bg1">
              <a:lumMod val="75000"/>
              <a:lumOff val="25000"/>
            </a:schemeClr>
          </a:solidFill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000" dirty="0">
                <a:ln w="22225">
                  <a:solidFill>
                    <a:schemeClr val="tx1"/>
                  </a:solidFill>
                  <a:miter lim="800000"/>
                </a:ln>
              </a:rPr>
              <a:t>4. </a:t>
            </a:r>
            <a:r>
              <a:rPr lang="en-US" sz="4000" dirty="0" smtClean="0">
                <a:ln w="22225">
                  <a:solidFill>
                    <a:schemeClr val="tx1"/>
                  </a:solidFill>
                  <a:miter lim="800000"/>
                </a:ln>
              </a:rPr>
              <a:t>2 marks</a:t>
            </a:r>
            <a:r>
              <a:rPr lang="en-US" sz="4000" dirty="0">
                <a:ln w="22225">
                  <a:solidFill>
                    <a:schemeClr val="tx1"/>
                  </a:solidFill>
                  <a:miter lim="800000"/>
                </a:ln>
              </a:rPr>
              <a:t/>
            </a:r>
            <a:br>
              <a:rPr lang="en-US" sz="4000" dirty="0">
                <a:ln w="22225">
                  <a:solidFill>
                    <a:schemeClr val="tx1"/>
                  </a:solidFill>
                  <a:miter lim="800000"/>
                </a:ln>
              </a:rPr>
            </a:br>
            <a:r>
              <a:rPr lang="en-US" sz="4000" dirty="0">
                <a:ln w="22225">
                  <a:solidFill>
                    <a:schemeClr val="tx1"/>
                  </a:solidFill>
                  <a:miter lim="800000"/>
                </a:ln>
              </a:rPr>
              <a:t/>
            </a:r>
            <a:br>
              <a:rPr lang="en-US" sz="4000" dirty="0">
                <a:ln w="22225">
                  <a:solidFill>
                    <a:schemeClr val="tx1"/>
                  </a:solidFill>
                  <a:miter lim="800000"/>
                </a:ln>
              </a:rPr>
            </a:br>
            <a:r>
              <a:rPr lang="en-US" sz="4000" dirty="0">
                <a:ln w="22225">
                  <a:solidFill>
                    <a:schemeClr val="tx1"/>
                  </a:solidFill>
                  <a:miter lim="800000"/>
                </a:ln>
              </a:rPr>
              <a:t>African-Americans</a:t>
            </a:r>
            <a:br>
              <a:rPr lang="en-US" sz="4000" dirty="0">
                <a:ln w="22225">
                  <a:solidFill>
                    <a:schemeClr val="tx1"/>
                  </a:solidFill>
                  <a:miter lim="800000"/>
                </a:ln>
              </a:rPr>
            </a:br>
            <a:r>
              <a:rPr lang="en-US" sz="4000" dirty="0">
                <a:ln w="22225">
                  <a:solidFill>
                    <a:schemeClr val="tx1"/>
                  </a:solidFill>
                  <a:miter lim="800000"/>
                </a:ln>
              </a:rPr>
              <a:t/>
            </a:r>
            <a:br>
              <a:rPr lang="en-US" sz="4000" dirty="0">
                <a:ln w="22225">
                  <a:solidFill>
                    <a:schemeClr val="tx1"/>
                  </a:solidFill>
                  <a:miter lim="800000"/>
                </a:ln>
              </a:rPr>
            </a:br>
            <a:r>
              <a:rPr lang="en-US" sz="4000" dirty="0">
                <a:ln w="22225">
                  <a:solidFill>
                    <a:schemeClr val="tx1"/>
                  </a:solidFill>
                  <a:miter lim="800000"/>
                </a:ln>
              </a:rPr>
              <a:t>Communists</a:t>
            </a:r>
            <a:br>
              <a:rPr lang="en-US" sz="4000" dirty="0">
                <a:ln w="22225">
                  <a:solidFill>
                    <a:schemeClr val="tx1"/>
                  </a:solidFill>
                  <a:miter lim="800000"/>
                </a:ln>
              </a:rPr>
            </a:br>
            <a:r>
              <a:rPr lang="en-US" sz="4000" dirty="0">
                <a:ln w="22225">
                  <a:solidFill>
                    <a:schemeClr val="tx1"/>
                  </a:solidFill>
                  <a:miter lim="800000"/>
                </a:ln>
              </a:rPr>
              <a:t/>
            </a:r>
            <a:br>
              <a:rPr lang="en-US" sz="4000" dirty="0">
                <a:ln w="22225">
                  <a:solidFill>
                    <a:schemeClr val="tx1"/>
                  </a:solidFill>
                  <a:miter lim="800000"/>
                </a:ln>
              </a:rPr>
            </a:br>
            <a:r>
              <a:rPr lang="en-US" sz="4000" dirty="0">
                <a:ln w="22225">
                  <a:solidFill>
                    <a:schemeClr val="tx1"/>
                  </a:solidFill>
                  <a:miter lim="800000"/>
                </a:ln>
              </a:rPr>
              <a:t>Immigrants</a:t>
            </a:r>
            <a:br>
              <a:rPr lang="en-US" sz="4000" dirty="0">
                <a:ln w="22225">
                  <a:solidFill>
                    <a:schemeClr val="tx1"/>
                  </a:solidFill>
                  <a:miter lim="800000"/>
                </a:ln>
              </a:rPr>
            </a:br>
            <a:r>
              <a:rPr lang="en-US" sz="4000" dirty="0">
                <a:ln w="22225">
                  <a:solidFill>
                    <a:schemeClr val="tx1"/>
                  </a:solidFill>
                  <a:miter lim="800000"/>
                </a:ln>
              </a:rPr>
              <a:t/>
            </a:r>
            <a:br>
              <a:rPr lang="en-US" sz="4000" dirty="0">
                <a:ln w="22225">
                  <a:solidFill>
                    <a:schemeClr val="tx1"/>
                  </a:solidFill>
                  <a:miter lim="800000"/>
                </a:ln>
              </a:rPr>
            </a:br>
            <a:r>
              <a:rPr lang="en-US" sz="4000" dirty="0">
                <a:ln w="22225">
                  <a:solidFill>
                    <a:schemeClr val="tx1"/>
                  </a:solidFill>
                  <a:miter lim="800000"/>
                </a:ln>
              </a:rPr>
              <a:t>Jews</a:t>
            </a:r>
            <a:endParaRPr lang="en-US" sz="4000" dirty="0">
              <a:ln w="22225">
                <a:solidFill>
                  <a:schemeClr val="tx1"/>
                </a:solidFill>
                <a:miter lim="800000"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723138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american 1920s">
            <a:extLst>
              <a:ext uri="{FF2B5EF4-FFF2-40B4-BE49-F238E27FC236}">
                <a16:creationId xmlns:a16="http://schemas.microsoft.com/office/drawing/2014/main" id="{21E63EE5-24A6-4485-B892-ADEE465627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7" b="17643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603953-8411-46E2-8B22-6FF5129F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749287"/>
            <a:ext cx="10261600" cy="1568173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10000" dirty="0" smtClean="0">
                <a:ln w="22225">
                  <a:solidFill>
                    <a:schemeClr val="tx1"/>
                  </a:solidFill>
                  <a:miter lim="800000"/>
                </a:ln>
              </a:rPr>
              <a:t>/6</a:t>
            </a:r>
            <a:endParaRPr lang="en-US" sz="10000" dirty="0">
              <a:ln w="22225">
                <a:solidFill>
                  <a:schemeClr val="tx1"/>
                </a:solidFill>
                <a:miter lim="800000"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702463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207848-8F79-495D-A945-586C3394D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237" y="914400"/>
            <a:ext cx="3657600" cy="28875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Source of the week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8FB9660-F42F-4313-BBC4-47C007FE48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Image result for mustard sau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312" y="1039089"/>
            <a:ext cx="4035541" cy="403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8152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prohibition dra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1425" y="0"/>
            <a:ext cx="8060575" cy="6847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197033" y="2917768"/>
            <a:ext cx="1313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1920s, USA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9014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92</Words>
  <Application>Microsoft Office PowerPoint</Application>
  <PresentationFormat>Widescreen</PresentationFormat>
  <Paragraphs>14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History Heroes</vt:lpstr>
      <vt:lpstr>1. Which groups in US society did not share in the prosperity of the 1920s? (2 groups, 2 marks)</vt:lpstr>
      <vt:lpstr>2. Who was Alphonse  Capone? (1 mark)</vt:lpstr>
      <vt:lpstr>3. State one group/movement in US society who campaigned for Prohibition. (1 mark) </vt:lpstr>
      <vt:lpstr>4. State two groups in society the KKK opposed during the 1920s resurgence period (2 marks).</vt:lpstr>
      <vt:lpstr>ANSWERS</vt:lpstr>
      <vt:lpstr>1. (2 marks)  Farmers  Blacks, Asians, Hispanics and American Indians  The unemployed  Immigrants  Catholics and Jews</vt:lpstr>
      <vt:lpstr>2. (1 mark)  An American gangster and businessman who attained notoriety during the Prohibition era </vt:lpstr>
      <vt:lpstr>3. (1 mark)  Anti-Saloon League  Women’s Christian Temperance Movement </vt:lpstr>
      <vt:lpstr>4. 2 marks  African-Americans  Communists  Immigrants  Jews</vt:lpstr>
      <vt:lpstr>/6</vt:lpstr>
      <vt:lpstr>Source of the week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Heroes</dc:title>
  <dc:creator>Natasha Hawkes</dc:creator>
  <cp:lastModifiedBy>HAWKES Natasha [Narrogin Senior High School]</cp:lastModifiedBy>
  <cp:revision>3</cp:revision>
  <dcterms:created xsi:type="dcterms:W3CDTF">2019-03-17T08:37:12Z</dcterms:created>
  <dcterms:modified xsi:type="dcterms:W3CDTF">2019-03-27T01:51:20Z</dcterms:modified>
</cp:coreProperties>
</file>
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1" r:id="rId2"/>
    <p:sldId id="260" r:id="rId3"/>
    <p:sldId id="259" r:id="rId4"/>
    <p:sldId id="258" r:id="rId5"/>
    <p:sldId id="263" r:id="rId6"/>
    <p:sldId id="264" r:id="rId7"/>
    <p:sldId id="257" r:id="rId8"/>
    <p:sldId id="256" r:id="rId9"/>
    <p:sldId id="271" r:id="rId10"/>
    <p:sldId id="262" r:id="rId11"/>
    <p:sldId id="265" r:id="rId12"/>
    <p:sldId id="269" r:id="rId13"/>
    <p:sldId id="270" r:id="rId14"/>
    <p:sldId id="266" r:id="rId15"/>
    <p:sldId id="267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9AE32F-D4AB-45F0-BBBE-129CE27D637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89FB388-D993-4B38-AFE3-345C836FB517}">
      <dgm:prSet/>
      <dgm:spPr/>
      <dgm:t>
        <a:bodyPr/>
        <a:lstStyle/>
        <a:p>
          <a:r>
            <a:rPr lang="en-AU" dirty="0">
              <a:solidFill>
                <a:schemeClr val="tx1"/>
              </a:solidFill>
            </a:rPr>
            <a:t>The idea that it was not the responsibility of government to be involved in social and economic issues.</a:t>
          </a:r>
          <a:endParaRPr lang="en-US" dirty="0">
            <a:solidFill>
              <a:schemeClr val="tx1"/>
            </a:solidFill>
          </a:endParaRPr>
        </a:p>
      </dgm:t>
    </dgm:pt>
    <dgm:pt modelId="{0A3D2B9F-E074-4181-B141-439D4E3DA339}" type="parTrans" cxnId="{B8944021-18B4-42E5-A0BE-180E4CE7E640}">
      <dgm:prSet/>
      <dgm:spPr/>
      <dgm:t>
        <a:bodyPr/>
        <a:lstStyle/>
        <a:p>
          <a:endParaRPr lang="en-US"/>
        </a:p>
      </dgm:t>
    </dgm:pt>
    <dgm:pt modelId="{A0D5C24D-0B46-4E80-9F50-C205104B1985}" type="sibTrans" cxnId="{B8944021-18B4-42E5-A0BE-180E4CE7E640}">
      <dgm:prSet/>
      <dgm:spPr/>
      <dgm:t>
        <a:bodyPr/>
        <a:lstStyle/>
        <a:p>
          <a:endParaRPr lang="en-US"/>
        </a:p>
      </dgm:t>
    </dgm:pt>
    <dgm:pt modelId="{5F862AB7-A2D0-4DDB-AEF5-3CC091EF9C9D}">
      <dgm:prSet/>
      <dgm:spPr/>
      <dgm:t>
        <a:bodyPr/>
        <a:lstStyle/>
        <a:p>
          <a:r>
            <a:rPr lang="en-AU" dirty="0">
              <a:solidFill>
                <a:schemeClr val="tx1"/>
              </a:solidFill>
            </a:rPr>
            <a:t>This allowed businesses to expand without restriction.</a:t>
          </a:r>
          <a:endParaRPr lang="en-US" dirty="0">
            <a:solidFill>
              <a:schemeClr val="tx1"/>
            </a:solidFill>
          </a:endParaRPr>
        </a:p>
      </dgm:t>
    </dgm:pt>
    <dgm:pt modelId="{DE165CA4-0309-4059-95AD-ED97727744E7}" type="parTrans" cxnId="{7AA354BA-B2F7-429B-8D38-FD345417BAA1}">
      <dgm:prSet/>
      <dgm:spPr/>
      <dgm:t>
        <a:bodyPr/>
        <a:lstStyle/>
        <a:p>
          <a:endParaRPr lang="en-US"/>
        </a:p>
      </dgm:t>
    </dgm:pt>
    <dgm:pt modelId="{B0554FD0-3A4D-4018-808C-87FE40815C84}" type="sibTrans" cxnId="{7AA354BA-B2F7-429B-8D38-FD345417BAA1}">
      <dgm:prSet/>
      <dgm:spPr/>
      <dgm:t>
        <a:bodyPr/>
        <a:lstStyle/>
        <a:p>
          <a:endParaRPr lang="en-US"/>
        </a:p>
      </dgm:t>
    </dgm:pt>
    <dgm:pt modelId="{E8096590-BC20-448A-83FF-A74B420B09CF}">
      <dgm:prSet/>
      <dgm:spPr/>
      <dgm:t>
        <a:bodyPr/>
        <a:lstStyle/>
        <a:p>
          <a:r>
            <a:rPr lang="en-AU" dirty="0">
              <a:solidFill>
                <a:schemeClr val="tx1"/>
              </a:solidFill>
            </a:rPr>
            <a:t>Harding and Coolidge believed it was not the function of government to interfere in peoples’ lives.</a:t>
          </a:r>
          <a:endParaRPr lang="en-US" dirty="0">
            <a:solidFill>
              <a:schemeClr val="tx1"/>
            </a:solidFill>
          </a:endParaRPr>
        </a:p>
      </dgm:t>
    </dgm:pt>
    <dgm:pt modelId="{69D6E197-E971-4062-8FA6-88C4B5DEFA91}" type="parTrans" cxnId="{0097E861-25A8-4634-879B-3091934156E8}">
      <dgm:prSet/>
      <dgm:spPr/>
      <dgm:t>
        <a:bodyPr/>
        <a:lstStyle/>
        <a:p>
          <a:endParaRPr lang="en-US"/>
        </a:p>
      </dgm:t>
    </dgm:pt>
    <dgm:pt modelId="{181BDFE4-3F31-4B24-89C3-B4CD5E954AB4}" type="sibTrans" cxnId="{0097E861-25A8-4634-879B-3091934156E8}">
      <dgm:prSet/>
      <dgm:spPr/>
      <dgm:t>
        <a:bodyPr/>
        <a:lstStyle/>
        <a:p>
          <a:endParaRPr lang="en-US"/>
        </a:p>
      </dgm:t>
    </dgm:pt>
    <dgm:pt modelId="{438F06EA-106F-4A48-96B8-9DAB9DA739C6}">
      <dgm:prSet/>
      <dgm:spPr/>
      <dgm:t>
        <a:bodyPr/>
        <a:lstStyle/>
        <a:p>
          <a:r>
            <a:rPr lang="en-AU" dirty="0">
              <a:solidFill>
                <a:schemeClr val="tx1"/>
              </a:solidFill>
            </a:rPr>
            <a:t>Businesses left alone to organise their own affairs and workers free to bargain for wages in workplaces.</a:t>
          </a:r>
          <a:endParaRPr lang="en-US" dirty="0">
            <a:solidFill>
              <a:schemeClr val="tx1"/>
            </a:solidFill>
          </a:endParaRPr>
        </a:p>
      </dgm:t>
    </dgm:pt>
    <dgm:pt modelId="{D9D2D1F3-F713-4739-A8EA-B08F24AE1929}" type="parTrans" cxnId="{3B5E6A80-0A3E-4C0C-A08B-5BA808E7DFF9}">
      <dgm:prSet/>
      <dgm:spPr/>
      <dgm:t>
        <a:bodyPr/>
        <a:lstStyle/>
        <a:p>
          <a:endParaRPr lang="en-US"/>
        </a:p>
      </dgm:t>
    </dgm:pt>
    <dgm:pt modelId="{B6027D46-C16C-4CFE-A4E1-A138733E2CC0}" type="sibTrans" cxnId="{3B5E6A80-0A3E-4C0C-A08B-5BA808E7DFF9}">
      <dgm:prSet/>
      <dgm:spPr/>
      <dgm:t>
        <a:bodyPr/>
        <a:lstStyle/>
        <a:p>
          <a:endParaRPr lang="en-US"/>
        </a:p>
      </dgm:t>
    </dgm:pt>
    <dgm:pt modelId="{33FE91CF-6519-434E-A439-EEF0A4B46AC2}" type="pres">
      <dgm:prSet presAssocID="{B49AE32F-D4AB-45F0-BBBE-129CE27D637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DA7825B-C487-4981-A70C-B85046CB9652}" type="pres">
      <dgm:prSet presAssocID="{889FB388-D993-4B38-AFE3-345C836FB51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3E9437-9585-4738-ABDC-BA043C4917ED}" type="pres">
      <dgm:prSet presAssocID="{A0D5C24D-0B46-4E80-9F50-C205104B1985}" presName="spacer" presStyleCnt="0"/>
      <dgm:spPr/>
    </dgm:pt>
    <dgm:pt modelId="{E6DD108D-DF3D-45FF-9E7A-21E1A280AEF5}" type="pres">
      <dgm:prSet presAssocID="{5F862AB7-A2D0-4DDB-AEF5-3CC091EF9C9D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66FBBA-8CE9-4273-86BD-D073B817CA52}" type="pres">
      <dgm:prSet presAssocID="{B0554FD0-3A4D-4018-808C-87FE40815C84}" presName="spacer" presStyleCnt="0"/>
      <dgm:spPr/>
    </dgm:pt>
    <dgm:pt modelId="{59739C93-0CEB-48CD-A261-AD0E4528ACEF}" type="pres">
      <dgm:prSet presAssocID="{E8096590-BC20-448A-83FF-A74B420B09CF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43206F-6E90-4364-81F6-2208F41C4517}" type="pres">
      <dgm:prSet presAssocID="{181BDFE4-3F31-4B24-89C3-B4CD5E954AB4}" presName="spacer" presStyleCnt="0"/>
      <dgm:spPr/>
    </dgm:pt>
    <dgm:pt modelId="{D25CCBEA-866E-4288-AAA2-3BC76458167F}" type="pres">
      <dgm:prSet presAssocID="{438F06EA-106F-4A48-96B8-9DAB9DA739C6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DED01E9-A129-42EF-94AB-F24083AFA38A}" type="presOf" srcId="{5F862AB7-A2D0-4DDB-AEF5-3CC091EF9C9D}" destId="{E6DD108D-DF3D-45FF-9E7A-21E1A280AEF5}" srcOrd="0" destOrd="0" presId="urn:microsoft.com/office/officeart/2005/8/layout/vList2"/>
    <dgm:cxn modelId="{0097E861-25A8-4634-879B-3091934156E8}" srcId="{B49AE32F-D4AB-45F0-BBBE-129CE27D637E}" destId="{E8096590-BC20-448A-83FF-A74B420B09CF}" srcOrd="2" destOrd="0" parTransId="{69D6E197-E971-4062-8FA6-88C4B5DEFA91}" sibTransId="{181BDFE4-3F31-4B24-89C3-B4CD5E954AB4}"/>
    <dgm:cxn modelId="{B8944021-18B4-42E5-A0BE-180E4CE7E640}" srcId="{B49AE32F-D4AB-45F0-BBBE-129CE27D637E}" destId="{889FB388-D993-4B38-AFE3-345C836FB517}" srcOrd="0" destOrd="0" parTransId="{0A3D2B9F-E074-4181-B141-439D4E3DA339}" sibTransId="{A0D5C24D-0B46-4E80-9F50-C205104B1985}"/>
    <dgm:cxn modelId="{7AA354BA-B2F7-429B-8D38-FD345417BAA1}" srcId="{B49AE32F-D4AB-45F0-BBBE-129CE27D637E}" destId="{5F862AB7-A2D0-4DDB-AEF5-3CC091EF9C9D}" srcOrd="1" destOrd="0" parTransId="{DE165CA4-0309-4059-95AD-ED97727744E7}" sibTransId="{B0554FD0-3A4D-4018-808C-87FE40815C84}"/>
    <dgm:cxn modelId="{503143FE-D4B4-4063-B782-221E14DB6FDE}" type="presOf" srcId="{889FB388-D993-4B38-AFE3-345C836FB517}" destId="{9DA7825B-C487-4981-A70C-B85046CB9652}" srcOrd="0" destOrd="0" presId="urn:microsoft.com/office/officeart/2005/8/layout/vList2"/>
    <dgm:cxn modelId="{AB9272FA-8C66-48F8-8AAC-C26AA8E7D0A9}" type="presOf" srcId="{B49AE32F-D4AB-45F0-BBBE-129CE27D637E}" destId="{33FE91CF-6519-434E-A439-EEF0A4B46AC2}" srcOrd="0" destOrd="0" presId="urn:microsoft.com/office/officeart/2005/8/layout/vList2"/>
    <dgm:cxn modelId="{3B5E6A80-0A3E-4C0C-A08B-5BA808E7DFF9}" srcId="{B49AE32F-D4AB-45F0-BBBE-129CE27D637E}" destId="{438F06EA-106F-4A48-96B8-9DAB9DA739C6}" srcOrd="3" destOrd="0" parTransId="{D9D2D1F3-F713-4739-A8EA-B08F24AE1929}" sibTransId="{B6027D46-C16C-4CFE-A4E1-A138733E2CC0}"/>
    <dgm:cxn modelId="{A749ADFA-E7D8-4A36-9A37-548846A8C827}" type="presOf" srcId="{438F06EA-106F-4A48-96B8-9DAB9DA739C6}" destId="{D25CCBEA-866E-4288-AAA2-3BC76458167F}" srcOrd="0" destOrd="0" presId="urn:microsoft.com/office/officeart/2005/8/layout/vList2"/>
    <dgm:cxn modelId="{8C87075E-EBE9-4B35-8AF9-A020B712459D}" type="presOf" srcId="{E8096590-BC20-448A-83FF-A74B420B09CF}" destId="{59739C93-0CEB-48CD-A261-AD0E4528ACEF}" srcOrd="0" destOrd="0" presId="urn:microsoft.com/office/officeart/2005/8/layout/vList2"/>
    <dgm:cxn modelId="{FA82EBC0-03C1-4545-8D5C-AEBC682D9061}" type="presParOf" srcId="{33FE91CF-6519-434E-A439-EEF0A4B46AC2}" destId="{9DA7825B-C487-4981-A70C-B85046CB9652}" srcOrd="0" destOrd="0" presId="urn:microsoft.com/office/officeart/2005/8/layout/vList2"/>
    <dgm:cxn modelId="{4B8D465D-B66E-406E-87FD-957EB0EC7539}" type="presParOf" srcId="{33FE91CF-6519-434E-A439-EEF0A4B46AC2}" destId="{B33E9437-9585-4738-ABDC-BA043C4917ED}" srcOrd="1" destOrd="0" presId="urn:microsoft.com/office/officeart/2005/8/layout/vList2"/>
    <dgm:cxn modelId="{57545C86-ADF7-4633-92E9-5958D8E8697D}" type="presParOf" srcId="{33FE91CF-6519-434E-A439-EEF0A4B46AC2}" destId="{E6DD108D-DF3D-45FF-9E7A-21E1A280AEF5}" srcOrd="2" destOrd="0" presId="urn:microsoft.com/office/officeart/2005/8/layout/vList2"/>
    <dgm:cxn modelId="{0AD88DDB-6C0A-4CDF-A870-C3D029D5A3A9}" type="presParOf" srcId="{33FE91CF-6519-434E-A439-EEF0A4B46AC2}" destId="{2466FBBA-8CE9-4273-86BD-D073B817CA52}" srcOrd="3" destOrd="0" presId="urn:microsoft.com/office/officeart/2005/8/layout/vList2"/>
    <dgm:cxn modelId="{C6B48D6B-A624-48F4-9CDB-7D09A215336D}" type="presParOf" srcId="{33FE91CF-6519-434E-A439-EEF0A4B46AC2}" destId="{59739C93-0CEB-48CD-A261-AD0E4528ACEF}" srcOrd="4" destOrd="0" presId="urn:microsoft.com/office/officeart/2005/8/layout/vList2"/>
    <dgm:cxn modelId="{627640FF-EE6A-4D00-9201-184B47CF2B12}" type="presParOf" srcId="{33FE91CF-6519-434E-A439-EEF0A4B46AC2}" destId="{1743206F-6E90-4364-81F6-2208F41C4517}" srcOrd="5" destOrd="0" presId="urn:microsoft.com/office/officeart/2005/8/layout/vList2"/>
    <dgm:cxn modelId="{00E8C6F9-AB86-4D00-BA84-290ABEAA16E5}" type="presParOf" srcId="{33FE91CF-6519-434E-A439-EEF0A4B46AC2}" destId="{D25CCBEA-866E-4288-AAA2-3BC7645816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7825B-C487-4981-A70C-B85046CB9652}">
      <dsp:nvSpPr>
        <dsp:cNvPr id="0" name=""/>
        <dsp:cNvSpPr/>
      </dsp:nvSpPr>
      <dsp:spPr>
        <a:xfrm>
          <a:off x="0" y="85213"/>
          <a:ext cx="6513603" cy="13747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>
              <a:solidFill>
                <a:schemeClr val="tx1"/>
              </a:solidFill>
            </a:rPr>
            <a:t>The idea that it was not the responsibility of government to be involved in social and economic issues.</a:t>
          </a:r>
          <a:endParaRPr lang="en-US" sz="2500" kern="1200" dirty="0">
            <a:solidFill>
              <a:schemeClr val="tx1"/>
            </a:solidFill>
          </a:endParaRPr>
        </a:p>
      </dsp:txBody>
      <dsp:txXfrm>
        <a:off x="67110" y="152323"/>
        <a:ext cx="6379383" cy="1240530"/>
      </dsp:txXfrm>
    </dsp:sp>
    <dsp:sp modelId="{E6DD108D-DF3D-45FF-9E7A-21E1A280AEF5}">
      <dsp:nvSpPr>
        <dsp:cNvPr id="0" name=""/>
        <dsp:cNvSpPr/>
      </dsp:nvSpPr>
      <dsp:spPr>
        <a:xfrm>
          <a:off x="0" y="1531963"/>
          <a:ext cx="6513603" cy="137475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>
              <a:solidFill>
                <a:schemeClr val="tx1"/>
              </a:solidFill>
            </a:rPr>
            <a:t>This allowed businesses to expand without restriction.</a:t>
          </a:r>
          <a:endParaRPr lang="en-US" sz="2500" kern="1200" dirty="0">
            <a:solidFill>
              <a:schemeClr val="tx1"/>
            </a:solidFill>
          </a:endParaRPr>
        </a:p>
      </dsp:txBody>
      <dsp:txXfrm>
        <a:off x="67110" y="1599073"/>
        <a:ext cx="6379383" cy="1240530"/>
      </dsp:txXfrm>
    </dsp:sp>
    <dsp:sp modelId="{59739C93-0CEB-48CD-A261-AD0E4528ACEF}">
      <dsp:nvSpPr>
        <dsp:cNvPr id="0" name=""/>
        <dsp:cNvSpPr/>
      </dsp:nvSpPr>
      <dsp:spPr>
        <a:xfrm>
          <a:off x="0" y="2978713"/>
          <a:ext cx="6513603" cy="137475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>
              <a:solidFill>
                <a:schemeClr val="tx1"/>
              </a:solidFill>
            </a:rPr>
            <a:t>Harding and Coolidge believed it was not the function of government to interfere in peoples’ lives.</a:t>
          </a:r>
          <a:endParaRPr lang="en-US" sz="2500" kern="1200" dirty="0">
            <a:solidFill>
              <a:schemeClr val="tx1"/>
            </a:solidFill>
          </a:endParaRPr>
        </a:p>
      </dsp:txBody>
      <dsp:txXfrm>
        <a:off x="67110" y="3045823"/>
        <a:ext cx="6379383" cy="1240530"/>
      </dsp:txXfrm>
    </dsp:sp>
    <dsp:sp modelId="{D25CCBEA-866E-4288-AAA2-3BC76458167F}">
      <dsp:nvSpPr>
        <dsp:cNvPr id="0" name=""/>
        <dsp:cNvSpPr/>
      </dsp:nvSpPr>
      <dsp:spPr>
        <a:xfrm>
          <a:off x="0" y="4425463"/>
          <a:ext cx="6513603" cy="137475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>
              <a:solidFill>
                <a:schemeClr val="tx1"/>
              </a:solidFill>
            </a:rPr>
            <a:t>Businesses left alone to organise their own affairs and workers free to bargain for wages in workplaces.</a:t>
          </a:r>
          <a:endParaRPr lang="en-US" sz="2500" kern="1200" dirty="0">
            <a:solidFill>
              <a:schemeClr val="tx1"/>
            </a:solidFill>
          </a:endParaRPr>
        </a:p>
      </dsp:txBody>
      <dsp:txXfrm>
        <a:off x="67110" y="4492573"/>
        <a:ext cx="6379383" cy="1240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106BC-B05A-4BD1-90B4-1A925BC4DEC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07DD4-5667-4F0C-BAD8-3AF7A11130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908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Woodrow Wilson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07DD4-5667-4F0C-BAD8-3AF7A1113083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808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Theodore Roosevelt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07DD4-5667-4F0C-BAD8-3AF7A111308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6121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Andrew Carnegie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07DD4-5667-4F0C-BAD8-3AF7A111308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052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Henry Ford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07DD4-5667-4F0C-BAD8-3AF7A111308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9838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Warren Harding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07DD4-5667-4F0C-BAD8-3AF7A1113083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4100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Calvin Coolidge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07DD4-5667-4F0C-BAD8-3AF7A1113083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5569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7E76-C1FC-49B7-8FF9-127DEE2A1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2DFE7-020B-4686-B02C-4C0F63805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C861D-82B6-4F03-B89F-9DC9DCF3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62D88-A09C-4671-A3C2-2EDEA532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7AAE9-60B1-4AB0-B720-E9FC4185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99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D3E3-557D-4387-9A5E-AC95F917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E85BB-B9AD-4936-B537-333DBF2F6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FCC99-C6C2-47C9-B6A6-25332005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545E8-CCEE-4548-9FD2-C8F22E84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BBBBB-2B0F-49CB-A152-1F135FF8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5750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4C3A7-EAA5-4EC1-A9A7-0748B80C5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07FFA-2F47-469D-8389-633D6F9BF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E87F2-A1CC-4FC1-AAE3-FAAF91E81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7E1CE-7251-4FA1-BB2F-68D094BD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C182D-3A8E-4665-BB9B-5640D6F2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142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7E62-69CB-4610-BD89-C4908ECD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ADA71-5D4E-438B-98F6-51D0B092A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1AC2A-5A43-4513-AA2F-B6D88D094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B81B6-D752-4817-99EE-FB745136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D12CE-9A84-4916-9B43-26286B9E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52752-2ECB-4387-9190-662985DF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1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5FE6-07BF-45A7-9312-DC9C7858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A8580-577C-4CC8-8881-0AC5B1A61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C18FC-4A77-473A-9240-82021741D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04B839-EBF4-428E-8615-E141A44E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D51EB-730E-4082-9F49-8780EFBCE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36668-7EF3-42E1-8114-4DE9664D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4560F9-6873-463C-9A75-747AA4DD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F1DD9-FA88-4657-BA70-7F4D0875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550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3F92-6D72-4957-9BC7-CF2CB921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B87E0-DD9D-4F93-8397-E715E910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9B2D3-53B9-4D5E-A4D9-F0E3484AC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22592-79D5-4716-8966-CD0243FE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848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49B67F-818D-48DA-91E2-B77C627C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B43D1-5688-4704-A8F4-49D0DEB89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97E33-995D-4F28-A046-119C1132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778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44646-25BB-44A0-9615-70D01F771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425AB-1986-4F82-9B7A-FC5BCE4B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D231D-CBE3-461B-9A41-D921DC858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D6428-B956-48FE-A1BC-36705428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33B18-3252-4536-98F1-DF63D02A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12A55-8102-485D-9522-00FD8B4B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947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B4EF3-405D-40B8-8900-309157094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3B10B-F51C-4EFB-BC7A-2D0DB8677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3B1AF-FE76-4253-A9AC-7241883AD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A8973-2A5E-49F8-863F-3AACDCF26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70574-CC5A-46FC-A2AF-719E84FD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E99D7-D7A4-442E-99D8-B77490DD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483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D1DDB-BE1F-4608-BA56-1C1444902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00983-5545-43DA-BDC9-0D1B8573D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A3EB1-C347-4754-9E50-494F0EE8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CCD62-BCC1-4785-BC19-AD744557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E1400-C40F-4C4B-9F42-67EB1404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353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57A78-CF1D-4AD7-9C0A-2433A3FAE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9CEA7-65A9-4C4B-A419-28E057B7A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D7977-C59D-42FD-9092-7B48DE00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6E2E0-202D-4F1E-B6C0-39847B484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77E8C-8EC0-4F99-8E0B-F694E479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18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DF18DE-B23A-43BF-9A93-DB4023FA9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D6498-4467-4150-A831-69FE38D31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8986A-3CFC-447A-8C69-99A2D39850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631EA-F111-4C50-B99B-7FC16E9FEE86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5CEFA-DC5D-4F43-BABC-873DC65B5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D614D-61F2-4D60-9CA3-94F5BE374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A06BB-14C9-4F63-B44C-AC66BF0A54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88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bcpxEGhPzI&amp;t=28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2A015-0798-4C1F-8FD9-20E88764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Who is this?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9" name="Picture 2" descr="Image result for woodrow wilson">
            <a:extLst>
              <a:ext uri="{FF2B5EF4-FFF2-40B4-BE49-F238E27FC236}">
                <a16:creationId xmlns:a16="http://schemas.microsoft.com/office/drawing/2014/main" id="{129EA163-CC5F-41B8-8518-A583EFF490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236" y="492573"/>
            <a:ext cx="4430716" cy="58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36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2EBF8-96E7-4BF5-95E4-4018D743A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Who is this?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5" name="Picture 2" descr="Image result for theodore roosevelt">
            <a:extLst>
              <a:ext uri="{FF2B5EF4-FFF2-40B4-BE49-F238E27FC236}">
                <a16:creationId xmlns:a16="http://schemas.microsoft.com/office/drawing/2014/main" id="{8F37ECEB-EA94-4711-A8F8-419DDFE4BD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263" y="492573"/>
            <a:ext cx="4160663" cy="58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742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88FC7-1121-44C7-8B3C-4E7A51B7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Who is this?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1" name="Picture 2" descr="Image result for andrew carnegie">
            <a:extLst>
              <a:ext uri="{FF2B5EF4-FFF2-40B4-BE49-F238E27FC236}">
                <a16:creationId xmlns:a16="http://schemas.microsoft.com/office/drawing/2014/main" id="{4CC62EFF-504C-4CDD-A50D-58C5B15105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243" y="492573"/>
            <a:ext cx="4454702" cy="58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926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BE3D7-1BA9-4885-902F-BE9F78C88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Who is this?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7" name="Picture 2" descr="Image result for henry ford">
            <a:extLst>
              <a:ext uri="{FF2B5EF4-FFF2-40B4-BE49-F238E27FC236}">
                <a16:creationId xmlns:a16="http://schemas.microsoft.com/office/drawing/2014/main" id="{D1C2EA84-B0AE-4918-837E-C78C98E29E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45" y="492573"/>
            <a:ext cx="4425298" cy="58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278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99577-9CB3-407D-BE82-58E0A5B4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Who is this?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3" name="Picture 2" descr="Image result for warren harding">
            <a:extLst>
              <a:ext uri="{FF2B5EF4-FFF2-40B4-BE49-F238E27FC236}">
                <a16:creationId xmlns:a16="http://schemas.microsoft.com/office/drawing/2014/main" id="{21327784-19FC-4F93-BDE0-319C2885E9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402" y="492573"/>
            <a:ext cx="4322384" cy="58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56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F3100-D1BF-40A1-A975-BE1C1F58F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03326"/>
            <a:ext cx="5314536" cy="5316120"/>
          </a:xfrm>
        </p:spPr>
        <p:txBody>
          <a:bodyPr>
            <a:normAutofit/>
          </a:bodyPr>
          <a:lstStyle/>
          <a:p>
            <a:r>
              <a:rPr lang="en-AU" sz="6000" dirty="0"/>
              <a:t>“Return to Normalcy.”</a:t>
            </a:r>
            <a:r>
              <a:rPr lang="en-AU" dirty="0"/>
              <a:t/>
            </a:r>
            <a:br>
              <a:rPr lang="en-AU" dirty="0"/>
            </a:br>
            <a:r>
              <a:rPr lang="en-AU" dirty="0"/>
              <a:t/>
            </a:r>
            <a:br>
              <a:rPr lang="en-AU" dirty="0"/>
            </a:br>
            <a:r>
              <a:rPr lang="en-AU" dirty="0"/>
              <a:t>-Harding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 descr="Image result for warren harding">
            <a:extLst>
              <a:ext uri="{FF2B5EF4-FFF2-40B4-BE49-F238E27FC236}">
                <a16:creationId xmlns:a16="http://schemas.microsoft.com/office/drawing/2014/main" id="{40689F5B-7F6F-489E-8F8E-75B7929C25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3623"/>
          <a:stretch/>
        </p:blipFill>
        <p:spPr bwMode="auto">
          <a:xfrm>
            <a:off x="6750141" y="-2"/>
            <a:ext cx="5441859" cy="5654940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810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25231-7EEC-4157-914B-70395627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Who is this?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Image result for coolidge">
            <a:extLst>
              <a:ext uri="{FF2B5EF4-FFF2-40B4-BE49-F238E27FC236}">
                <a16:creationId xmlns:a16="http://schemas.microsoft.com/office/drawing/2014/main" id="{9E1534F7-DECE-453E-9AB6-9AD0F5282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196" y="492573"/>
            <a:ext cx="5880796" cy="58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197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FA3C9-1AF1-4751-8C2D-7D466AE00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6628" y="1783959"/>
            <a:ext cx="4645250" cy="2889114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“After all, the chief business of the American people is business.” </a:t>
            </a:r>
            <a:endParaRPr lang="en-AU" sz="47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6E35C2-6D7F-4F49-BE36-83587638B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6627" y="4750893"/>
            <a:ext cx="4645250" cy="1147863"/>
          </a:xfrm>
        </p:spPr>
        <p:txBody>
          <a:bodyPr anchor="t">
            <a:normAutofit/>
          </a:bodyPr>
          <a:lstStyle/>
          <a:p>
            <a:pPr algn="l"/>
            <a:r>
              <a:rPr lang="en-US" sz="2000"/>
              <a:t>– Coolidge</a:t>
            </a:r>
            <a:endParaRPr lang="en-AU" sz="200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Image result for coolidge">
            <a:extLst>
              <a:ext uri="{FF2B5EF4-FFF2-40B4-BE49-F238E27FC236}">
                <a16:creationId xmlns:a16="http://schemas.microsoft.com/office/drawing/2014/main" id="{361F1743-2713-46D5-9D01-775862A420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9" r="2580"/>
          <a:stretch/>
        </p:blipFill>
        <p:spPr bwMode="auto"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779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37197B-6E92-42D8-B814-72D8D1439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1920s Republican Presidents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64D2D-1433-437A-B907-60C19A171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3"/>
              </a:rPr>
              <a:t>https://www.youtube.com/watch?v=UbcpxEGhPzI&amp;t=28s</a:t>
            </a: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049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arren harding">
            <a:extLst>
              <a:ext uri="{FF2B5EF4-FFF2-40B4-BE49-F238E27FC236}">
                <a16:creationId xmlns:a16="http://schemas.microsoft.com/office/drawing/2014/main" id="{D23CDDEA-DFE7-41C1-9EF0-EBFA9145E3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6499"/>
          <a:stretch/>
        </p:blipFill>
        <p:spPr bwMode="auto">
          <a:xfrm>
            <a:off x="3125968" y="2527222"/>
            <a:ext cx="3316388" cy="3316386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Image result for herbert hoover">
            <a:extLst>
              <a:ext uri="{FF2B5EF4-FFF2-40B4-BE49-F238E27FC236}">
                <a16:creationId xmlns:a16="http://schemas.microsoft.com/office/drawing/2014/main" id="{171E84E0-7169-467F-9CF1-F8A9A144BA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6" r="3" b="27919"/>
          <a:stretch/>
        </p:blipFill>
        <p:spPr bwMode="auto">
          <a:xfrm>
            <a:off x="1" y="1"/>
            <a:ext cx="4443799" cy="3776782"/>
          </a:xfrm>
          <a:custGeom>
            <a:avLst/>
            <a:gdLst>
              <a:gd name="connsiteX0" fmla="*/ 0 w 4443799"/>
              <a:gd name="connsiteY0" fmla="*/ 0 h 3776782"/>
              <a:gd name="connsiteX1" fmla="*/ 4164578 w 4443799"/>
              <a:gd name="connsiteY1" fmla="*/ 0 h 3776782"/>
              <a:gd name="connsiteX2" fmla="*/ 4238884 w 4443799"/>
              <a:gd name="connsiteY2" fmla="*/ 154250 h 3776782"/>
              <a:gd name="connsiteX3" fmla="*/ 4443799 w 4443799"/>
              <a:gd name="connsiteY3" fmla="*/ 1169228 h 3776782"/>
              <a:gd name="connsiteX4" fmla="*/ 1836244 w 4443799"/>
              <a:gd name="connsiteY4" fmla="*/ 3776782 h 3776782"/>
              <a:gd name="connsiteX5" fmla="*/ 177598 w 4443799"/>
              <a:gd name="connsiteY5" fmla="*/ 3181344 h 3776782"/>
              <a:gd name="connsiteX6" fmla="*/ 0 w 4443799"/>
              <a:gd name="connsiteY6" fmla="*/ 3019932 h 3776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3799" h="3776782">
                <a:moveTo>
                  <a:pt x="0" y="0"/>
                </a:moveTo>
                <a:lnTo>
                  <a:pt x="4164578" y="0"/>
                </a:lnTo>
                <a:lnTo>
                  <a:pt x="4238884" y="154250"/>
                </a:lnTo>
                <a:cubicBezTo>
                  <a:pt x="4370833" y="466214"/>
                  <a:pt x="4443799" y="809200"/>
                  <a:pt x="4443799" y="1169228"/>
                </a:cubicBezTo>
                <a:cubicBezTo>
                  <a:pt x="4443799" y="2609341"/>
                  <a:pt x="3276357" y="3776782"/>
                  <a:pt x="1836244" y="3776782"/>
                </a:cubicBezTo>
                <a:cubicBezTo>
                  <a:pt x="1206195" y="3776782"/>
                  <a:pt x="628337" y="3553326"/>
                  <a:pt x="177598" y="3181344"/>
                </a:cubicBezTo>
                <a:lnTo>
                  <a:pt x="0" y="3019932"/>
                </a:ln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mage result for coolidge">
            <a:extLst>
              <a:ext uri="{FF2B5EF4-FFF2-40B4-BE49-F238E27FC236}">
                <a16:creationId xmlns:a16="http://schemas.microsoft.com/office/drawing/2014/main" id="{7DD99D71-1C0C-4DAB-9D7A-BE827064C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27" r="-5" b="4622"/>
          <a:stretch/>
        </p:blipFill>
        <p:spPr bwMode="auto">
          <a:xfrm>
            <a:off x="20" y="3917273"/>
            <a:ext cx="3440566" cy="2950205"/>
          </a:xfrm>
          <a:custGeom>
            <a:avLst/>
            <a:gdLst>
              <a:gd name="connsiteX0" fmla="*/ 1539166 w 3440586"/>
              <a:gd name="connsiteY0" fmla="*/ 0 h 2950205"/>
              <a:gd name="connsiteX1" fmla="*/ 3440586 w 3440586"/>
              <a:gd name="connsiteY1" fmla="*/ 1901419 h 2950205"/>
              <a:gd name="connsiteX2" fmla="*/ 3211095 w 3440586"/>
              <a:gd name="connsiteY2" fmla="*/ 2807749 h 2950205"/>
              <a:gd name="connsiteX3" fmla="*/ 3124550 w 3440586"/>
              <a:gd name="connsiteY3" fmla="*/ 2950205 h 2950205"/>
              <a:gd name="connsiteX4" fmla="*/ 0 w 3440586"/>
              <a:gd name="connsiteY4" fmla="*/ 2950205 h 2950205"/>
              <a:gd name="connsiteX5" fmla="*/ 0 w 3440586"/>
              <a:gd name="connsiteY5" fmla="*/ 788141 h 2950205"/>
              <a:gd name="connsiteX6" fmla="*/ 71938 w 3440586"/>
              <a:gd name="connsiteY6" fmla="*/ 691940 h 2950205"/>
              <a:gd name="connsiteX7" fmla="*/ 1539166 w 3440586"/>
              <a:gd name="connsiteY7" fmla="*/ 0 h 295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40586" h="2950205">
                <a:moveTo>
                  <a:pt x="1539166" y="0"/>
                </a:moveTo>
                <a:cubicBezTo>
                  <a:pt x="2589292" y="0"/>
                  <a:pt x="3440586" y="851294"/>
                  <a:pt x="3440586" y="1901419"/>
                </a:cubicBezTo>
                <a:cubicBezTo>
                  <a:pt x="3440586" y="2229583"/>
                  <a:pt x="3357452" y="2538330"/>
                  <a:pt x="3211095" y="2807749"/>
                </a:cubicBezTo>
                <a:lnTo>
                  <a:pt x="3124550" y="2950205"/>
                </a:lnTo>
                <a:lnTo>
                  <a:pt x="0" y="2950205"/>
                </a:lnTo>
                <a:lnTo>
                  <a:pt x="0" y="788141"/>
                </a:lnTo>
                <a:lnTo>
                  <a:pt x="71938" y="691940"/>
                </a:lnTo>
                <a:cubicBezTo>
                  <a:pt x="420687" y="269355"/>
                  <a:pt x="948471" y="0"/>
                  <a:pt x="1539166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70">
            <a:extLst>
              <a:ext uri="{FF2B5EF4-FFF2-40B4-BE49-F238E27FC236}">
                <a16:creationId xmlns:a16="http://schemas.microsoft.com/office/drawing/2014/main" id="{DD257392-088E-4D55-B128-FFD59A895D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C551EC-0FF7-47CD-871A-E784A8DC5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67" y="802955"/>
            <a:ext cx="4333814" cy="1454051"/>
          </a:xfrm>
        </p:spPr>
        <p:txBody>
          <a:bodyPr>
            <a:normAutofit/>
          </a:bodyPr>
          <a:lstStyle/>
          <a:p>
            <a:r>
              <a:rPr lang="en-AU" sz="3600" b="1" dirty="0">
                <a:solidFill>
                  <a:srgbClr val="000000"/>
                </a:solidFill>
              </a:rPr>
              <a:t>The Republican Decade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0AFDE-517B-433B-8D00-619FB597C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4684" y="2421682"/>
            <a:ext cx="5152516" cy="409166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2500" dirty="0">
                <a:solidFill>
                  <a:srgbClr val="000000"/>
                </a:solidFill>
              </a:rPr>
              <a:t>Between 1921 and 1933 US dominated by three Republican Presidents.</a:t>
            </a:r>
          </a:p>
          <a:p>
            <a:pPr lvl="1">
              <a:lnSpc>
                <a:spcPct val="150000"/>
              </a:lnSpc>
            </a:pPr>
            <a:r>
              <a:rPr lang="en-AU" sz="2500" dirty="0">
                <a:solidFill>
                  <a:srgbClr val="000000"/>
                </a:solidFill>
              </a:rPr>
              <a:t>Warren Harding 1921-1923</a:t>
            </a:r>
          </a:p>
          <a:p>
            <a:pPr lvl="1">
              <a:lnSpc>
                <a:spcPct val="150000"/>
              </a:lnSpc>
            </a:pPr>
            <a:r>
              <a:rPr lang="en-AU" sz="2500" dirty="0">
                <a:solidFill>
                  <a:srgbClr val="000000"/>
                </a:solidFill>
              </a:rPr>
              <a:t>Calvin Coolidge 1923-1929</a:t>
            </a:r>
          </a:p>
          <a:p>
            <a:pPr lvl="1">
              <a:lnSpc>
                <a:spcPct val="150000"/>
              </a:lnSpc>
            </a:pPr>
            <a:r>
              <a:rPr lang="en-AU" sz="2500" dirty="0">
                <a:solidFill>
                  <a:srgbClr val="000000"/>
                </a:solidFill>
              </a:rPr>
              <a:t>Herbert Hoover 1929-1933</a:t>
            </a:r>
          </a:p>
        </p:txBody>
      </p:sp>
    </p:spTree>
    <p:extLst>
      <p:ext uri="{BB962C8B-B14F-4D97-AF65-F5344CB8AC3E}">
        <p14:creationId xmlns:p14="http://schemas.microsoft.com/office/powerpoint/2010/main" val="71790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A34BE-EFB9-45C1-8748-97E8EEE6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AU" dirty="0"/>
              <a:t>Warren Harding </a:t>
            </a:r>
          </a:p>
        </p:txBody>
      </p:sp>
      <p:pic>
        <p:nvPicPr>
          <p:cNvPr id="4" name="Picture 2" descr="Image result for warren harding">
            <a:extLst>
              <a:ext uri="{FF2B5EF4-FFF2-40B4-BE49-F238E27FC236}">
                <a16:creationId xmlns:a16="http://schemas.microsoft.com/office/drawing/2014/main" id="{4887A989-62A9-4FBD-9F13-859A432730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" r="7249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FC967-DC74-4B37-9550-ED78C4946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3354" y="2314807"/>
            <a:ext cx="7160455" cy="433920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sz="3000" dirty="0"/>
              <a:t>He believed in:</a:t>
            </a:r>
          </a:p>
          <a:p>
            <a:r>
              <a:rPr lang="en-AU" sz="3000" dirty="0"/>
              <a:t>Higher tariffs on imported goods</a:t>
            </a:r>
          </a:p>
          <a:p>
            <a:r>
              <a:rPr lang="en-AU" sz="3000" dirty="0"/>
              <a:t>Lower taxes on business and private income</a:t>
            </a:r>
          </a:p>
          <a:p>
            <a:r>
              <a:rPr lang="en-AU" sz="3000" dirty="0"/>
              <a:t>Fewer immigrants </a:t>
            </a:r>
          </a:p>
          <a:p>
            <a:r>
              <a:rPr lang="en-AU" sz="3000" dirty="0"/>
              <a:t>More farm aid</a:t>
            </a:r>
          </a:p>
          <a:p>
            <a:r>
              <a:rPr lang="en-AU" sz="3000" dirty="0"/>
              <a:t>Rejection of the League of Nations</a:t>
            </a:r>
          </a:p>
          <a:p>
            <a:r>
              <a:rPr lang="en-AU" sz="3000" dirty="0"/>
              <a:t>A return to laissez-faire politics </a:t>
            </a:r>
          </a:p>
          <a:p>
            <a:endParaRPr lang="en-AU" sz="3000" dirty="0"/>
          </a:p>
          <a:p>
            <a:pPr marL="0" indent="0">
              <a:buNone/>
            </a:pPr>
            <a:r>
              <a:rPr lang="en-AU" sz="3000" dirty="0"/>
              <a:t>Presidency marred by scandals and allegations of corruption.</a:t>
            </a:r>
          </a:p>
          <a:p>
            <a:pPr marL="0" indent="0">
              <a:buNone/>
            </a:pPr>
            <a:r>
              <a:rPr lang="en-AU" sz="3000" dirty="0"/>
              <a:t>Considered one of the worst Presidents in American history.</a:t>
            </a:r>
          </a:p>
          <a:p>
            <a:r>
              <a:rPr lang="en-AU" sz="3000" dirty="0"/>
              <a:t>Teapot Dome Scandal: bribery to lease federal oil reserves that were set aside for emergency use only.</a:t>
            </a:r>
          </a:p>
          <a:p>
            <a:endParaRPr lang="en-AU" sz="2000" dirty="0"/>
          </a:p>
          <a:p>
            <a:pPr marL="0" indent="0"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302229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F32C-2700-4F92-A1E6-B706432AE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AU" dirty="0"/>
              <a:t>Calvin Coolidge</a:t>
            </a:r>
          </a:p>
        </p:txBody>
      </p:sp>
      <p:pic>
        <p:nvPicPr>
          <p:cNvPr id="4" name="Picture 2" descr="Image result for coolidge">
            <a:extLst>
              <a:ext uri="{FF2B5EF4-FFF2-40B4-BE49-F238E27FC236}">
                <a16:creationId xmlns:a16="http://schemas.microsoft.com/office/drawing/2014/main" id="{EAC6A777-6D89-449E-AB47-55F62EFCA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3" r="12703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D59D7-4A4D-4787-A8E4-F11A83204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7006175" cy="4215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200" dirty="0"/>
              <a:t>He believed in:</a:t>
            </a:r>
          </a:p>
          <a:p>
            <a:r>
              <a:rPr lang="en-AU" sz="2200" dirty="0"/>
              <a:t>Minimal government intervention</a:t>
            </a:r>
          </a:p>
          <a:p>
            <a:r>
              <a:rPr lang="en-AU" sz="2200" dirty="0"/>
              <a:t>Only role of the government was to:</a:t>
            </a:r>
          </a:p>
          <a:p>
            <a:pPr lvl="1"/>
            <a:r>
              <a:rPr lang="en-AU" sz="2200" dirty="0"/>
              <a:t>Balance the budget</a:t>
            </a:r>
          </a:p>
          <a:p>
            <a:pPr lvl="1"/>
            <a:r>
              <a:rPr lang="en-AU" sz="2200" dirty="0"/>
              <a:t>Reduce debt</a:t>
            </a:r>
          </a:p>
          <a:p>
            <a:pPr lvl="1"/>
            <a:r>
              <a:rPr lang="en-AU" sz="2200" dirty="0"/>
              <a:t>Cut taxes</a:t>
            </a:r>
          </a:p>
          <a:p>
            <a:pPr lvl="1"/>
            <a:r>
              <a:rPr lang="en-AU" sz="2200" dirty="0"/>
              <a:t>Make easy credit available</a:t>
            </a:r>
          </a:p>
          <a:p>
            <a:pPr marL="0" indent="0">
              <a:buNone/>
            </a:pPr>
            <a:endParaRPr lang="en-AU" sz="2200" dirty="0"/>
          </a:p>
          <a:p>
            <a:pPr marL="0" indent="0">
              <a:buNone/>
            </a:pPr>
            <a:r>
              <a:rPr lang="en-AU" sz="2200" dirty="0"/>
              <a:t>Known as ‘Silent Cal’ because of his refusal to engage in small talk.</a:t>
            </a:r>
          </a:p>
          <a:p>
            <a:pPr lvl="2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371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934D-C567-40FF-83CE-A56A1EAE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AU" dirty="0"/>
              <a:t>Herbert Hoover</a:t>
            </a:r>
          </a:p>
        </p:txBody>
      </p:sp>
      <p:pic>
        <p:nvPicPr>
          <p:cNvPr id="4" name="Picture 2" descr="Image result for herbert hoover">
            <a:extLst>
              <a:ext uri="{FF2B5EF4-FFF2-40B4-BE49-F238E27FC236}">
                <a16:creationId xmlns:a16="http://schemas.microsoft.com/office/drawing/2014/main" id="{2857E29E-4165-4ED8-8A67-812246D078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3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74F78-5D31-42DD-8CD4-C00CD793E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 fontScale="92500" lnSpcReduction="10000"/>
          </a:bodyPr>
          <a:lstStyle/>
          <a:p>
            <a:r>
              <a:rPr lang="en-AU" sz="5000" dirty="0"/>
              <a:t>President during Wall Street Crash and ensuing Great Depression.</a:t>
            </a:r>
          </a:p>
          <a:p>
            <a:r>
              <a:rPr lang="en-AU" sz="5000" dirty="0"/>
              <a:t>Doomed to fail?</a:t>
            </a:r>
          </a:p>
          <a:p>
            <a:r>
              <a:rPr lang="en-AU" sz="5000" dirty="0"/>
              <a:t>Firm believer in ‘rugged individualism’.</a:t>
            </a:r>
          </a:p>
        </p:txBody>
      </p:sp>
    </p:spTree>
    <p:extLst>
      <p:ext uri="{BB962C8B-B14F-4D97-AF65-F5344CB8AC3E}">
        <p14:creationId xmlns:p14="http://schemas.microsoft.com/office/powerpoint/2010/main" val="2861109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CB71D-8E75-480C-B274-121137C4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Laissez-faire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4713BE-78F1-44CC-AF2B-08E8B8CBF0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507240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1607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45E29B-B971-41C6-A57B-B29BBB108A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76015D-CFEA-4204-9A50-352560FFC2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7325C43C-72B5-4DC9-B386-90859B58BF0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95AD9A4-5AF5-48C4-BC2A-635316433A4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AF4A3D62-D56C-4A32-8C75-100D383EC61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E1F47E4-066D-4C27-98C8-B2B2C7BABF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38772"/>
            <a:ext cx="12192000" cy="39804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2133B-40E8-483D-A1A0-4F3E460DE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0505"/>
            <a:ext cx="10515600" cy="935025"/>
          </a:xfrm>
        </p:spPr>
        <p:txBody>
          <a:bodyPr>
            <a:normAutofit/>
          </a:bodyPr>
          <a:lstStyle/>
          <a:p>
            <a:pPr algn="ctr"/>
            <a:r>
              <a:rPr lang="en-AU" sz="5000" b="1" dirty="0">
                <a:solidFill>
                  <a:schemeClr val="tx2"/>
                </a:solidFill>
              </a:rPr>
              <a:t>‘Rugged individualism’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0B0DE-CBB8-4E01-8D5C-5EA1958BD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414" y="2725273"/>
            <a:ext cx="8447171" cy="21094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4000" dirty="0">
                <a:solidFill>
                  <a:schemeClr val="tx2"/>
                </a:solidFill>
              </a:rPr>
              <a:t>The term used to describe the American view that people achieved success by their own hard work and effort.</a:t>
            </a:r>
          </a:p>
        </p:txBody>
      </p:sp>
    </p:spTree>
    <p:extLst>
      <p:ext uri="{BB962C8B-B14F-4D97-AF65-F5344CB8AC3E}">
        <p14:creationId xmlns:p14="http://schemas.microsoft.com/office/powerpoint/2010/main" val="4100269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2142" t="16101" r="15065" b="2947"/>
          <a:stretch/>
        </p:blipFill>
        <p:spPr>
          <a:xfrm>
            <a:off x="404445" y="0"/>
            <a:ext cx="11384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0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</Words>
  <Application>Microsoft Office PowerPoint</Application>
  <PresentationFormat>Widescreen</PresentationFormat>
  <Paragraphs>61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Who is this?</vt:lpstr>
      <vt:lpstr>Who is this?</vt:lpstr>
      <vt:lpstr>Who is this?</vt:lpstr>
      <vt:lpstr>Who is this?</vt:lpstr>
      <vt:lpstr>Who is this?</vt:lpstr>
      <vt:lpstr>“Return to Normalcy.”  -Harding</vt:lpstr>
      <vt:lpstr>Who is this?</vt:lpstr>
      <vt:lpstr>“After all, the chief business of the American people is business.” </vt:lpstr>
      <vt:lpstr>1920s Republican Presidents</vt:lpstr>
      <vt:lpstr>The Republican Decade</vt:lpstr>
      <vt:lpstr>Warren Harding </vt:lpstr>
      <vt:lpstr>Calvin Coolidge</vt:lpstr>
      <vt:lpstr>Herbert Hoover</vt:lpstr>
      <vt:lpstr>Laissez-faire</vt:lpstr>
      <vt:lpstr>‘Rugged individualism’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is this?</dc:title>
  <dc:creator>Natasha Hawkes</dc:creator>
  <cp:lastModifiedBy>HAWKES Natasha [Narrogin Senior High School]</cp:lastModifiedBy>
  <cp:revision>2</cp:revision>
  <dcterms:created xsi:type="dcterms:W3CDTF">2019-03-17T10:18:31Z</dcterms:created>
  <dcterms:modified xsi:type="dcterms:W3CDTF">2019-03-21T00:37:53Z</dcterms:modified>
</cp:coreProperties>
</file>
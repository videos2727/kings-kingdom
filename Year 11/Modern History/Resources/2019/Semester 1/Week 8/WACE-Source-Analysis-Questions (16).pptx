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65" r:id="rId14"/>
    <p:sldId id="270" r:id="rId15"/>
    <p:sldId id="272" r:id="rId16"/>
    <p:sldId id="266"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3/22/2019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3/22/2019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3/22/2019</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WACE Source Analysis Questions </a:t>
            </a:r>
          </a:p>
        </p:txBody>
      </p:sp>
      <p:sp>
        <p:nvSpPr>
          <p:cNvPr id="3" name="Subtitle 2"/>
          <p:cNvSpPr>
            <a:spLocks noGrp="1"/>
          </p:cNvSpPr>
          <p:nvPr>
            <p:ph type="subTitle" idx="1"/>
          </p:nvPr>
        </p:nvSpPr>
        <p:spPr/>
        <p:txBody>
          <a:bodyPr/>
          <a:lstStyle/>
          <a:p>
            <a:r>
              <a:rPr lang="en-AU" dirty="0"/>
              <a:t>HTAWA  May 2016</a:t>
            </a:r>
          </a:p>
        </p:txBody>
      </p:sp>
    </p:spTree>
    <p:extLst>
      <p:ext uri="{BB962C8B-B14F-4D97-AF65-F5344CB8AC3E}">
        <p14:creationId xmlns:p14="http://schemas.microsoft.com/office/powerpoint/2010/main" val="3697732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the sample paper marking guide.</a:t>
            </a:r>
          </a:p>
        </p:txBody>
      </p:sp>
      <p:sp>
        <p:nvSpPr>
          <p:cNvPr id="3" name="Content Placeholder 2"/>
          <p:cNvSpPr>
            <a:spLocks noGrp="1"/>
          </p:cNvSpPr>
          <p:nvPr>
            <p:ph idx="1"/>
          </p:nvPr>
        </p:nvSpPr>
        <p:spPr>
          <a:xfrm>
            <a:off x="677334" y="1543575"/>
            <a:ext cx="8596668" cy="4497788"/>
          </a:xfrm>
        </p:spPr>
        <p:txBody>
          <a:bodyPr>
            <a:normAutofit lnSpcReduction="10000"/>
          </a:bodyPr>
          <a:lstStyle/>
          <a:p>
            <a:pPr marL="0" indent="0">
              <a:buNone/>
            </a:pPr>
            <a:r>
              <a:rPr lang="en-AU" dirty="0"/>
              <a:t>When marking a candidate’s work:  </a:t>
            </a:r>
          </a:p>
          <a:p>
            <a:r>
              <a:rPr lang="en-AU" dirty="0"/>
              <a:t>1. Not all points necessarily need to be in an answer for the candidate to gain full marks.  </a:t>
            </a:r>
          </a:p>
          <a:p>
            <a:r>
              <a:rPr lang="en-AU" dirty="0"/>
              <a:t>2. Reward each salient point made by the candidate.</a:t>
            </a:r>
          </a:p>
          <a:p>
            <a:r>
              <a:rPr lang="en-AU" dirty="0"/>
              <a:t> Candidates may make different valid points of interpretation.</a:t>
            </a:r>
          </a:p>
          <a:p>
            <a:r>
              <a:rPr lang="en-AU" dirty="0"/>
              <a:t>  3. Candidates are expected to refer to relevant supporting evidence from the sources.</a:t>
            </a:r>
          </a:p>
          <a:p>
            <a:r>
              <a:rPr lang="en-AU" dirty="0"/>
              <a:t>There are now 4 lines per mark.</a:t>
            </a:r>
          </a:p>
          <a:p>
            <a:r>
              <a:rPr lang="en-AU" dirty="0"/>
              <a:t>The questions could be in any order from the sample paper so the kiddies need to be have a good understanding of all the questions.</a:t>
            </a:r>
          </a:p>
          <a:p>
            <a:r>
              <a:rPr lang="en-AU" dirty="0"/>
              <a:t>There is 25 marks in 45 minutes (so about just under 2 mins per mark </a:t>
            </a:r>
            <a:r>
              <a:rPr lang="en-AU" dirty="0" err="1"/>
              <a:t>eg</a:t>
            </a:r>
            <a:r>
              <a:rPr lang="en-AU" dirty="0"/>
              <a:t> a question worth 4 marks shouldn’t take more than 7 minutes.)</a:t>
            </a:r>
          </a:p>
          <a:p>
            <a:pPr marL="0" indent="0">
              <a:buNone/>
            </a:pPr>
            <a:r>
              <a:rPr lang="en-AU" dirty="0"/>
              <a:t> </a:t>
            </a:r>
          </a:p>
          <a:p>
            <a:endParaRPr lang="en-AU" dirty="0"/>
          </a:p>
        </p:txBody>
      </p:sp>
    </p:spTree>
    <p:extLst>
      <p:ext uri="{BB962C8B-B14F-4D97-AF65-F5344CB8AC3E}">
        <p14:creationId xmlns:p14="http://schemas.microsoft.com/office/powerpoint/2010/main" val="2830829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Compare and contrast the messages of Sources 1 and 2. (4 marks)  </a:t>
            </a:r>
            <a:br>
              <a:rPr lang="en-AU" dirty="0"/>
            </a:br>
            <a:endParaRPr lang="en-AU" dirty="0"/>
          </a:p>
        </p:txBody>
      </p:sp>
      <p:sp>
        <p:nvSpPr>
          <p:cNvPr id="3" name="Content Placeholder 2"/>
          <p:cNvSpPr>
            <a:spLocks noGrp="1"/>
          </p:cNvSpPr>
          <p:nvPr>
            <p:ph idx="1"/>
          </p:nvPr>
        </p:nvSpPr>
        <p:spPr/>
        <p:txBody>
          <a:bodyPr/>
          <a:lstStyle/>
          <a:p>
            <a:r>
              <a:rPr lang="en-AU" dirty="0"/>
              <a:t>Reference to the messages in Source 1 and Source 2                                 1–2</a:t>
            </a:r>
          </a:p>
          <a:p>
            <a:r>
              <a:rPr lang="en-AU" dirty="0"/>
              <a:t> Points of comparison of the message(s) in Source 1 and Source 2                 1</a:t>
            </a:r>
          </a:p>
          <a:p>
            <a:r>
              <a:rPr lang="en-AU" dirty="0"/>
              <a:t> Points of contrast of the message in Source 1 and Source 2                          1</a:t>
            </a:r>
          </a:p>
          <a:p>
            <a:r>
              <a:rPr lang="en-AU" dirty="0"/>
              <a:t>Markers’ notes: Look for the message of each of the sources. Evidence should be sourced from the documents themselves to support message.  </a:t>
            </a:r>
          </a:p>
          <a:p>
            <a:endParaRPr lang="en-AU" dirty="0"/>
          </a:p>
        </p:txBody>
      </p:sp>
    </p:spTree>
    <p:extLst>
      <p:ext uri="{BB962C8B-B14F-4D97-AF65-F5344CB8AC3E}">
        <p14:creationId xmlns:p14="http://schemas.microsoft.com/office/powerpoint/2010/main" val="3306703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2200712"/>
          </a:xfrm>
        </p:spPr>
        <p:txBody>
          <a:bodyPr>
            <a:normAutofit fontScale="90000"/>
          </a:bodyPr>
          <a:lstStyle/>
          <a:p>
            <a:r>
              <a:rPr lang="en-AU" dirty="0"/>
              <a:t> Evaluate the usefulness, in terms of strengths and weaknesses, of Sources 1 and 2 as representations of ………. (5 marks)  </a:t>
            </a:r>
            <a:br>
              <a:rPr lang="en-AU" dirty="0"/>
            </a:br>
            <a:endParaRPr lang="en-AU" dirty="0"/>
          </a:p>
        </p:txBody>
      </p:sp>
      <p:sp>
        <p:nvSpPr>
          <p:cNvPr id="3" name="Content Placeholder 2"/>
          <p:cNvSpPr>
            <a:spLocks noGrp="1"/>
          </p:cNvSpPr>
          <p:nvPr>
            <p:ph idx="1"/>
          </p:nvPr>
        </p:nvSpPr>
        <p:spPr>
          <a:xfrm>
            <a:off x="677334" y="2810313"/>
            <a:ext cx="8596668" cy="3231050"/>
          </a:xfrm>
        </p:spPr>
        <p:txBody>
          <a:bodyPr>
            <a:normAutofit/>
          </a:bodyPr>
          <a:lstStyle/>
          <a:p>
            <a:r>
              <a:rPr lang="en-AU" dirty="0"/>
              <a:t>Provide example of a strength and weakness of Source 1 as a representation of …….                                                                                                   1–2 </a:t>
            </a:r>
          </a:p>
          <a:p>
            <a:r>
              <a:rPr lang="en-AU" dirty="0"/>
              <a:t>Provide example of a strength and weakness of Source 2 as a representation of ……..                                                                                                  1–2 </a:t>
            </a:r>
          </a:p>
          <a:p>
            <a:r>
              <a:rPr lang="en-AU" dirty="0"/>
              <a:t>Evaluation of the usefulness of the sources                                                1 </a:t>
            </a:r>
          </a:p>
          <a:p>
            <a:r>
              <a:rPr lang="en-AU" dirty="0"/>
              <a:t>Total 5</a:t>
            </a:r>
          </a:p>
          <a:p>
            <a:r>
              <a:rPr lang="en-AU" dirty="0"/>
              <a:t> Markers’ notes: Higher marks should be awarded to candidates who look at both the strengths and weaknesses of the sources provided in terms of how they are representative of ……….  </a:t>
            </a:r>
          </a:p>
          <a:p>
            <a:endParaRPr lang="en-AU" dirty="0"/>
          </a:p>
        </p:txBody>
      </p:sp>
    </p:spTree>
    <p:extLst>
      <p:ext uri="{BB962C8B-B14F-4D97-AF65-F5344CB8AC3E}">
        <p14:creationId xmlns:p14="http://schemas.microsoft.com/office/powerpoint/2010/main" val="2416495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Explain the historical context of Source 3. (4 marks)</a:t>
            </a:r>
          </a:p>
        </p:txBody>
      </p:sp>
      <p:sp>
        <p:nvSpPr>
          <p:cNvPr id="3" name="Content Placeholder 2"/>
          <p:cNvSpPr>
            <a:spLocks noGrp="1"/>
          </p:cNvSpPr>
          <p:nvPr>
            <p:ph idx="1"/>
          </p:nvPr>
        </p:nvSpPr>
        <p:spPr/>
        <p:txBody>
          <a:bodyPr/>
          <a:lstStyle/>
          <a:p>
            <a:r>
              <a:rPr lang="en-AU" dirty="0"/>
              <a:t>Identify the focus of the source                                                                 1</a:t>
            </a:r>
          </a:p>
          <a:p>
            <a:r>
              <a:rPr lang="en-AU" dirty="0"/>
              <a:t> Outline the causes or events that lead to the focus of the source              1 </a:t>
            </a:r>
          </a:p>
          <a:p>
            <a:r>
              <a:rPr lang="en-AU" dirty="0"/>
              <a:t>Provide specific details for the focus of the source, dates/events/people/place/ideas                                                          1–2 </a:t>
            </a:r>
          </a:p>
          <a:p>
            <a:r>
              <a:rPr lang="en-AU" dirty="0"/>
              <a:t>Markers’ notes: This question is concerned with the historical context in which the source is located. The answer must concentrate on what is in the source and explain the relevance/significance.   </a:t>
            </a:r>
          </a:p>
          <a:p>
            <a:endParaRPr lang="en-AU" dirty="0"/>
          </a:p>
        </p:txBody>
      </p:sp>
    </p:spTree>
    <p:extLst>
      <p:ext uri="{BB962C8B-B14F-4D97-AF65-F5344CB8AC3E}">
        <p14:creationId xmlns:p14="http://schemas.microsoft.com/office/powerpoint/2010/main" val="3263637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5781" y="584433"/>
            <a:ext cx="8596668" cy="1320800"/>
          </a:xfrm>
        </p:spPr>
        <p:txBody>
          <a:bodyPr>
            <a:normAutofit fontScale="90000"/>
          </a:bodyPr>
          <a:lstStyle/>
          <a:p>
            <a:r>
              <a:rPr lang="en-AU" dirty="0"/>
              <a:t> </a:t>
            </a:r>
            <a:r>
              <a:rPr lang="en-AU" sz="3100" dirty="0"/>
              <a:t>Identify and account for the authors’ perspectives in Sources 3 and 4 regarding the…… (6 marks)  </a:t>
            </a:r>
            <a:r>
              <a:rPr lang="en-AU" dirty="0"/>
              <a:t/>
            </a:r>
            <a:br>
              <a:rPr lang="en-AU" dirty="0"/>
            </a:br>
            <a:endParaRPr lang="en-AU" dirty="0"/>
          </a:p>
        </p:txBody>
      </p:sp>
      <p:sp>
        <p:nvSpPr>
          <p:cNvPr id="3" name="Content Placeholder 2"/>
          <p:cNvSpPr>
            <a:spLocks noGrp="1"/>
          </p:cNvSpPr>
          <p:nvPr>
            <p:ph idx="1"/>
          </p:nvPr>
        </p:nvSpPr>
        <p:spPr/>
        <p:txBody>
          <a:bodyPr>
            <a:normAutofit/>
          </a:bodyPr>
          <a:lstStyle/>
          <a:p>
            <a:r>
              <a:rPr lang="en-AU" dirty="0"/>
              <a:t>Articulation of the perspective of Source 3.                                              1 </a:t>
            </a:r>
          </a:p>
          <a:p>
            <a:r>
              <a:rPr lang="en-AU" dirty="0"/>
              <a:t>Articulation of the perspective of Source 4                                               1 </a:t>
            </a:r>
          </a:p>
          <a:p>
            <a:r>
              <a:rPr lang="en-AU" dirty="0"/>
              <a:t>Analysis of the perspectives in relation to the question asked. This may include discussion of: • motives • bias • time • place • purpose.           1–4 </a:t>
            </a:r>
          </a:p>
          <a:p>
            <a:r>
              <a:rPr lang="en-AU" dirty="0"/>
              <a:t>Markers’ notes: The last part of the question ‘regarding’. Candidates must consider the perspective of the sources in terms of the theme/force of the document study.  </a:t>
            </a:r>
          </a:p>
          <a:p>
            <a:r>
              <a:rPr lang="en-AU" dirty="0"/>
              <a:t>To do this: • articulate the perspectives from which the sources were constructed or analyse  reasons for the perspective (purpose/motive/place/and time). • use evidence of the perspective from the source. • identify how the author shows the perspective in the source.   </a:t>
            </a:r>
          </a:p>
          <a:p>
            <a:endParaRPr lang="en-AU" dirty="0"/>
          </a:p>
        </p:txBody>
      </p:sp>
    </p:spTree>
    <p:extLst>
      <p:ext uri="{BB962C8B-B14F-4D97-AF65-F5344CB8AC3E}">
        <p14:creationId xmlns:p14="http://schemas.microsoft.com/office/powerpoint/2010/main" val="114804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599"/>
            <a:ext cx="8596668" cy="1630261"/>
          </a:xfrm>
        </p:spPr>
        <p:txBody>
          <a:bodyPr>
            <a:noAutofit/>
          </a:bodyPr>
          <a:lstStyle/>
          <a:p>
            <a:r>
              <a:rPr lang="en-AU" sz="2400" dirty="0"/>
              <a:t>Evaluate the extent to which the four sources give an accurate insight into the significance of ….. in the relevant society during your period of study.    (6 marks)</a:t>
            </a:r>
          </a:p>
        </p:txBody>
      </p:sp>
      <p:sp>
        <p:nvSpPr>
          <p:cNvPr id="3" name="Content Placeholder 2"/>
          <p:cNvSpPr>
            <a:spLocks noGrp="1"/>
          </p:cNvSpPr>
          <p:nvPr>
            <p:ph idx="1"/>
          </p:nvPr>
        </p:nvSpPr>
        <p:spPr/>
        <p:txBody>
          <a:bodyPr>
            <a:normAutofit/>
          </a:bodyPr>
          <a:lstStyle/>
          <a:p>
            <a:r>
              <a:rPr lang="en-AU" dirty="0"/>
              <a:t>Articulation of the different aspects of ……. that are shown. 2 </a:t>
            </a:r>
          </a:p>
          <a:p>
            <a:r>
              <a:rPr lang="en-AU" dirty="0"/>
              <a:t>Identification of aspects of ………. that have been omitted. 1 </a:t>
            </a:r>
          </a:p>
          <a:p>
            <a:r>
              <a:rPr lang="en-AU" dirty="0"/>
              <a:t>Evaluation of the extent to which the sources reflect the significant aspects of the ……. being depicted in the sources in terms of their impact on the context studied. 1–3 </a:t>
            </a:r>
          </a:p>
          <a:p>
            <a:r>
              <a:rPr lang="en-AU" dirty="0"/>
              <a:t>Markers’ notes: The intent is to not have a list of what has been omitted, rather candidates need to focus on what the documents do tell them about…. within the context studied and why it may have been significant to highlight that, plus what the implication/impact of …….. was on the society being studied. Candidates should include their own knowledge of the course studied to support their point of view as well as the sources provided.  </a:t>
            </a:r>
          </a:p>
          <a:p>
            <a:endParaRPr lang="en-AU" dirty="0"/>
          </a:p>
        </p:txBody>
      </p:sp>
    </p:spTree>
    <p:extLst>
      <p:ext uri="{BB962C8B-B14F-4D97-AF65-F5344CB8AC3E}">
        <p14:creationId xmlns:p14="http://schemas.microsoft.com/office/powerpoint/2010/main" val="20899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spTree>
    <p:extLst>
      <p:ext uri="{BB962C8B-B14F-4D97-AF65-F5344CB8AC3E}">
        <p14:creationId xmlns:p14="http://schemas.microsoft.com/office/powerpoint/2010/main" val="2543451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Explain the message of Source 3. (3 marks)</a:t>
            </a:r>
          </a:p>
        </p:txBody>
      </p:sp>
      <p:sp>
        <p:nvSpPr>
          <p:cNvPr id="3" name="Content Placeholder 2"/>
          <p:cNvSpPr>
            <a:spLocks noGrp="1"/>
          </p:cNvSpPr>
          <p:nvPr>
            <p:ph idx="1"/>
          </p:nvPr>
        </p:nvSpPr>
        <p:spPr/>
        <p:txBody>
          <a:bodyPr/>
          <a:lstStyle/>
          <a:p>
            <a:r>
              <a:rPr lang="en-AU" dirty="0"/>
              <a:t>Outlines the message of the source                                                         2 </a:t>
            </a:r>
          </a:p>
          <a:p>
            <a:r>
              <a:rPr lang="en-AU" dirty="0"/>
              <a:t>Identifies an aspect of the message of the source                                    1 </a:t>
            </a:r>
          </a:p>
          <a:p>
            <a:r>
              <a:rPr lang="en-AU" dirty="0"/>
              <a:t>Markers’ notes: Look for the message of the source.  </a:t>
            </a:r>
          </a:p>
          <a:p>
            <a:r>
              <a:rPr lang="en-AU" dirty="0"/>
              <a:t>To do this:  </a:t>
            </a:r>
          </a:p>
          <a:p>
            <a:pPr marL="0" indent="0">
              <a:buNone/>
            </a:pPr>
            <a:r>
              <a:rPr lang="en-AU" dirty="0"/>
              <a:t> read all the elements of the source (title/author/date/location) </a:t>
            </a:r>
          </a:p>
          <a:p>
            <a:pPr marL="0" indent="0">
              <a:buNone/>
            </a:pPr>
            <a:r>
              <a:rPr lang="en-AU" dirty="0"/>
              <a:t> identify the issue/event/subject </a:t>
            </a:r>
          </a:p>
          <a:p>
            <a:pPr marL="0" indent="0">
              <a:buNone/>
            </a:pPr>
            <a:r>
              <a:rPr lang="en-AU" dirty="0"/>
              <a:t> identify the representation or opinion being expressed</a:t>
            </a:r>
          </a:p>
          <a:p>
            <a:pPr marL="0" indent="0">
              <a:buNone/>
            </a:pPr>
            <a:r>
              <a:rPr lang="en-AU" dirty="0"/>
              <a:t> provide evidence from the source to support the response.</a:t>
            </a:r>
          </a:p>
          <a:p>
            <a:endParaRPr lang="en-AU" dirty="0"/>
          </a:p>
        </p:txBody>
      </p:sp>
    </p:spTree>
    <p:extLst>
      <p:ext uri="{BB962C8B-B14F-4D97-AF65-F5344CB8AC3E}">
        <p14:creationId xmlns:p14="http://schemas.microsoft.com/office/powerpoint/2010/main" val="1093358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2121" y="687898"/>
            <a:ext cx="8321879" cy="4524315"/>
          </a:xfrm>
          <a:prstGeom prst="rect">
            <a:avLst/>
          </a:prstGeom>
        </p:spPr>
        <p:txBody>
          <a:bodyPr wrap="square">
            <a:spAutoFit/>
          </a:bodyPr>
          <a:lstStyle/>
          <a:p>
            <a:r>
              <a:rPr lang="en-AU" b="1" dirty="0"/>
              <a:t>The changing European world since 1945</a:t>
            </a:r>
            <a:r>
              <a:rPr lang="en-AU" dirty="0"/>
              <a:t>:</a:t>
            </a:r>
          </a:p>
          <a:p>
            <a:endParaRPr lang="en-AU" dirty="0"/>
          </a:p>
          <a:p>
            <a:r>
              <a:rPr lang="en-AU" dirty="0"/>
              <a:t> </a:t>
            </a:r>
            <a:r>
              <a:rPr lang="en-AU" dirty="0">
                <a:solidFill>
                  <a:srgbClr val="00B050"/>
                </a:solidFill>
              </a:rPr>
              <a:t>The message of Source 3 is </a:t>
            </a:r>
            <a:r>
              <a:rPr lang="en-AU" dirty="0"/>
              <a:t>that Khrushchev’s crackdown on Hungary represents a betrayal of the Communist ideals the Soviet leadership claim to embody. </a:t>
            </a:r>
          </a:p>
          <a:p>
            <a:r>
              <a:rPr lang="en-AU" dirty="0">
                <a:solidFill>
                  <a:srgbClr val="0070C0"/>
                </a:solidFill>
              </a:rPr>
              <a:t>In using statements from Marx and Lenin, seen as the ideological founders of the Soviet State, and juxtaposing them against the epithet ‘Counter-Revolutionaries’ uttered by Khrushchev (perhaps the greatest insult a communist can hurl at another), the cartoonist is arguing that the decision to intervene militarily in Hungary following their attempt to declare neutrality and withdraw from the Warsaw Pact, does not represent the need to support a fellow communist nation, but purely and simply to maintain control over an unwilling member of the Warsaw Pact. </a:t>
            </a:r>
          </a:p>
          <a:p>
            <a:r>
              <a:rPr lang="en-AU" dirty="0">
                <a:solidFill>
                  <a:srgbClr val="7030A0"/>
                </a:solidFill>
              </a:rPr>
              <a:t>The source is highly ironic </a:t>
            </a:r>
            <a:r>
              <a:rPr lang="en-AU" dirty="0"/>
              <a:t>in that it uses statements by communist greats of the past to condemn a current communist leader, and that leader’s response merely heightens the sense of irony in the source. </a:t>
            </a:r>
          </a:p>
        </p:txBody>
      </p:sp>
    </p:spTree>
    <p:extLst>
      <p:ext uri="{BB962C8B-B14F-4D97-AF65-F5344CB8AC3E}">
        <p14:creationId xmlns:p14="http://schemas.microsoft.com/office/powerpoint/2010/main" val="633536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8290" y="889844"/>
            <a:ext cx="8145710" cy="3970318"/>
          </a:xfrm>
          <a:prstGeom prst="rect">
            <a:avLst/>
          </a:prstGeom>
        </p:spPr>
        <p:txBody>
          <a:bodyPr wrap="square">
            <a:spAutoFit/>
          </a:bodyPr>
          <a:lstStyle/>
          <a:p>
            <a:r>
              <a:rPr lang="en-AU" b="1" dirty="0"/>
              <a:t>Australia’s engagement with Asia</a:t>
            </a:r>
            <a:r>
              <a:rPr lang="en-AU" dirty="0"/>
              <a:t>:</a:t>
            </a:r>
          </a:p>
          <a:p>
            <a:r>
              <a:rPr lang="en-AU" dirty="0"/>
              <a:t> Source 3 in this case is a ‘Geoff’ cartoon published soon after the Santa Cruz massacre in 1991, where Indonesian security forces killed scores of civilians in a crackdown on unrest in East Timor, which Indonesia had occupied since 1975. </a:t>
            </a:r>
            <a:r>
              <a:rPr lang="en-AU" dirty="0">
                <a:solidFill>
                  <a:srgbClr val="00B050"/>
                </a:solidFill>
              </a:rPr>
              <a:t>The message of the source </a:t>
            </a:r>
            <a:r>
              <a:rPr lang="en-AU" dirty="0"/>
              <a:t>is one very critical of the ALP, in that it makes noises about supporting Timorese independence, but in fact does nothing about it, and that such noises are insincere. </a:t>
            </a:r>
          </a:p>
          <a:p>
            <a:r>
              <a:rPr lang="en-AU" dirty="0">
                <a:solidFill>
                  <a:srgbClr val="0070C0"/>
                </a:solidFill>
              </a:rPr>
              <a:t>The use of Whitlam whispering into Hawke’s ear seems designed to show that such an attitude in fact represents long-standing ALP policy. The representation of Hawke as a small, angry man flailing away is clearly negative, designed to negatively position the viewer towards the failure of the government to adequately support human rights for the East Timorese. </a:t>
            </a:r>
            <a:r>
              <a:rPr lang="en-AU" dirty="0">
                <a:solidFill>
                  <a:srgbClr val="7030A0"/>
                </a:solidFill>
              </a:rPr>
              <a:t>The sarcastic statement </a:t>
            </a:r>
            <a:r>
              <a:rPr lang="en-AU" dirty="0"/>
              <a:t>by Whitlam serves to reinforce the sense in which the cartoonist views the ALP’s policies as morally bankrupt. </a:t>
            </a:r>
          </a:p>
        </p:txBody>
      </p:sp>
    </p:spTree>
    <p:extLst>
      <p:ext uri="{BB962C8B-B14F-4D97-AF65-F5344CB8AC3E}">
        <p14:creationId xmlns:p14="http://schemas.microsoft.com/office/powerpoint/2010/main" val="2542069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2455" y="1720840"/>
            <a:ext cx="8271545" cy="3139321"/>
          </a:xfrm>
          <a:prstGeom prst="rect">
            <a:avLst/>
          </a:prstGeom>
        </p:spPr>
        <p:txBody>
          <a:bodyPr wrap="square">
            <a:spAutoFit/>
          </a:bodyPr>
          <a:lstStyle/>
          <a:p>
            <a:r>
              <a:rPr lang="en-AU" b="1" dirty="0"/>
              <a:t>The struggle for peace in the Middle East</a:t>
            </a:r>
            <a:r>
              <a:rPr lang="en-AU" dirty="0"/>
              <a:t>:  </a:t>
            </a:r>
          </a:p>
          <a:p>
            <a:r>
              <a:rPr lang="en-AU" dirty="0">
                <a:solidFill>
                  <a:srgbClr val="00B050"/>
                </a:solidFill>
              </a:rPr>
              <a:t>The message of this cartoonist </a:t>
            </a:r>
            <a:r>
              <a:rPr lang="en-AU" dirty="0"/>
              <a:t>is that the true religion and guiding principles of the PLO, rather than peace and justice for the Palestinian people that Arafat proclaimed, are instead their methods of terrorism, war, blackmail and violence. </a:t>
            </a:r>
          </a:p>
          <a:p>
            <a:r>
              <a:rPr lang="en-AU" dirty="0">
                <a:solidFill>
                  <a:srgbClr val="0070C0"/>
                </a:solidFill>
              </a:rPr>
              <a:t>It depicts the PLO as a violent, militant organisation that seeks to continue conflict in the Middle East, and are therefore unlikely to be interested in peace.</a:t>
            </a:r>
          </a:p>
          <a:p>
            <a:r>
              <a:rPr lang="en-AU" dirty="0">
                <a:solidFill>
                  <a:srgbClr val="0070C0"/>
                </a:solidFill>
              </a:rPr>
              <a:t> </a:t>
            </a:r>
            <a:r>
              <a:rPr lang="en-AU" dirty="0"/>
              <a:t>The reference to ‘The New Mecca?’ reinforces </a:t>
            </a:r>
            <a:r>
              <a:rPr lang="en-AU" dirty="0">
                <a:solidFill>
                  <a:srgbClr val="7030A0"/>
                </a:solidFill>
              </a:rPr>
              <a:t>the satirical nature of the cartoon,</a:t>
            </a:r>
            <a:r>
              <a:rPr lang="en-AU" dirty="0"/>
              <a:t> in that the PLO, whilst proclaiming to be Islamic, in fact worships far more brutal and negative gods. </a:t>
            </a:r>
          </a:p>
        </p:txBody>
      </p:sp>
    </p:spTree>
    <p:extLst>
      <p:ext uri="{BB962C8B-B14F-4D97-AF65-F5344CB8AC3E}">
        <p14:creationId xmlns:p14="http://schemas.microsoft.com/office/powerpoint/2010/main" val="41926065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01086"/>
          </a:xfrm>
        </p:spPr>
        <p:txBody>
          <a:bodyPr>
            <a:normAutofit/>
          </a:bodyPr>
          <a:lstStyle/>
          <a:p>
            <a:r>
              <a:rPr lang="en-AU" sz="2800" dirty="0"/>
              <a:t>Identify how and discuss why Sources 3 and 4 are contestable.  (6 marks)</a:t>
            </a:r>
          </a:p>
        </p:txBody>
      </p:sp>
      <p:sp>
        <p:nvSpPr>
          <p:cNvPr id="3" name="Content Placeholder 2"/>
          <p:cNvSpPr>
            <a:spLocks noGrp="1"/>
          </p:cNvSpPr>
          <p:nvPr>
            <p:ph idx="1"/>
          </p:nvPr>
        </p:nvSpPr>
        <p:spPr>
          <a:xfrm>
            <a:off x="677334" y="1610687"/>
            <a:ext cx="8596668" cy="4430676"/>
          </a:xfrm>
        </p:spPr>
        <p:txBody>
          <a:bodyPr>
            <a:normAutofit fontScale="92500" lnSpcReduction="20000"/>
          </a:bodyPr>
          <a:lstStyle/>
          <a:p>
            <a:r>
              <a:rPr lang="en-AU" dirty="0"/>
              <a:t>Identifies the element/s of contestability for Sources 3 and 4                           1–2 </a:t>
            </a:r>
          </a:p>
          <a:p>
            <a:r>
              <a:rPr lang="en-AU" dirty="0"/>
              <a:t>Discusses the reasons for the contestability of Source 3                                    1–2 </a:t>
            </a:r>
          </a:p>
          <a:p>
            <a:r>
              <a:rPr lang="en-AU" dirty="0"/>
              <a:t>Discusses the reasons for the contestability of Source 4                                    1–2 </a:t>
            </a:r>
          </a:p>
          <a:p>
            <a:r>
              <a:rPr lang="en-AU" dirty="0"/>
              <a:t>Markers’ notes: The concept of contestability requires a discussion of conflicting historical interpretations represented in source material, specifically why they are different and open to debate.  </a:t>
            </a:r>
          </a:p>
          <a:p>
            <a:r>
              <a:rPr lang="en-AU" dirty="0"/>
              <a:t>Answers should: </a:t>
            </a:r>
          </a:p>
          <a:p>
            <a:pPr marL="0" indent="0">
              <a:buNone/>
            </a:pPr>
            <a:r>
              <a:rPr lang="en-AU" dirty="0"/>
              <a:t>  demonstrate an understanding of what can make a source contestable, whether it provides a certain interpretation of events for which other interpretations exist; or whether the source/s can be disputed as historical evidence</a:t>
            </a:r>
          </a:p>
          <a:p>
            <a:pPr marL="0" indent="0">
              <a:buNone/>
            </a:pPr>
            <a:r>
              <a:rPr lang="en-AU" dirty="0"/>
              <a:t>  identify in each source the argument/s, biases, motives or perspectives that can be disputed.   </a:t>
            </a:r>
          </a:p>
          <a:p>
            <a:pPr marL="0" indent="0">
              <a:buNone/>
            </a:pPr>
            <a:r>
              <a:rPr lang="en-AU" b="1" dirty="0"/>
              <a:t>Stronger candidates may discuss the nature of the contestability, perhaps by referring to alternative arguments or viewpoints on the interpretations presented by the sources, or by making comparisons between the two sources.  </a:t>
            </a:r>
          </a:p>
          <a:p>
            <a:endParaRPr lang="en-AU" dirty="0"/>
          </a:p>
        </p:txBody>
      </p:sp>
    </p:spTree>
    <p:extLst>
      <p:ext uri="{BB962C8B-B14F-4D97-AF65-F5344CB8AC3E}">
        <p14:creationId xmlns:p14="http://schemas.microsoft.com/office/powerpoint/2010/main" val="2645125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4734" y="-1049149"/>
            <a:ext cx="8179266" cy="6340197"/>
          </a:xfrm>
          <a:prstGeom prst="rect">
            <a:avLst/>
          </a:prstGeom>
        </p:spPr>
        <p:txBody>
          <a:bodyPr wrap="square">
            <a:spAutoFit/>
          </a:bodyPr>
          <a:lstStyle/>
          <a:p>
            <a:endParaRPr lang="en-AU" sz="1400" dirty="0"/>
          </a:p>
          <a:p>
            <a:endParaRPr lang="en-AU" sz="1400" dirty="0"/>
          </a:p>
          <a:p>
            <a:endParaRPr lang="en-AU" sz="1400" dirty="0"/>
          </a:p>
          <a:p>
            <a:endParaRPr lang="en-AU" sz="1400" dirty="0"/>
          </a:p>
          <a:p>
            <a:endParaRPr lang="en-AU" sz="1400" dirty="0"/>
          </a:p>
          <a:p>
            <a:endParaRPr lang="en-AU" sz="1400" dirty="0"/>
          </a:p>
          <a:p>
            <a:endParaRPr lang="en-AU" sz="1400" dirty="0"/>
          </a:p>
          <a:p>
            <a:endParaRPr lang="en-AU" sz="1400" b="1" dirty="0"/>
          </a:p>
          <a:p>
            <a:endParaRPr lang="en-AU" sz="1400" b="1" dirty="0"/>
          </a:p>
          <a:p>
            <a:r>
              <a:rPr lang="en-AU" sz="1400" b="1" dirty="0"/>
              <a:t>The changing European world since 1945:</a:t>
            </a:r>
          </a:p>
          <a:p>
            <a:r>
              <a:rPr lang="en-AU" sz="1400" dirty="0"/>
              <a:t> The cartoon contains a number of contestable elements.</a:t>
            </a:r>
          </a:p>
          <a:p>
            <a:r>
              <a:rPr lang="en-AU" sz="1400" dirty="0"/>
              <a:t>Being a western source, the cartoonist is highly biased against the Soviet Union, and this raises a number of issues. One would be the notion that the actions of Khrushchev represent a betrayal of communist ideals. A Soviet cartoonist would presumably suggest that the action was in fact seeking to save a communist nation from leaving the true path. Furthermore, acting with force to maintain control could be seen as very much in keeping with communist traditions as established by Lenin, and more particularly Stalin, rather than a betrayal of it. It could also be argued (as it was, albeit from the Soviet perspective) that Hungary leaving the Warsaw Pact presented an unacceptable security threat to the Eastern Bloc, and that Nagy’s actions in declaring neutrality went well beyond what was acceptable within the Warsaw Pact. </a:t>
            </a:r>
          </a:p>
          <a:p>
            <a:r>
              <a:rPr lang="en-AU" sz="1400" dirty="0"/>
              <a:t>  </a:t>
            </a:r>
          </a:p>
          <a:p>
            <a:r>
              <a:rPr lang="en-AU" sz="1400" dirty="0"/>
              <a:t>The extract by Gaddis in fact argues a somewhat controversial thesis (that the Cold War was in fact a long peace), and as such contestable elements could be made clear. Although it is likely that Gaddis is exaggerating to make a point, the counter-argument to this is that the world lived for over 40 years under the ‘Sword of Damocles’ as it were, with the constant threat of nuclear war which, at times such as the Cuban Missile Crisis, and the New Cold War of the early 1980s, seemed all too plausible. Furthermore, Gaddis argues that both sides in effect operated within an unspoken code of behaviour which served to keep the rest of the world in line, something that the events of Source 3 could be used to debate. </a:t>
            </a:r>
          </a:p>
        </p:txBody>
      </p:sp>
    </p:spTree>
    <p:extLst>
      <p:ext uri="{BB962C8B-B14F-4D97-AF65-F5344CB8AC3E}">
        <p14:creationId xmlns:p14="http://schemas.microsoft.com/office/powerpoint/2010/main" val="1913790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Compare and contrast the purpose of Sources 1 and 2. (5 marks)  </a:t>
            </a:r>
            <a:br>
              <a:rPr lang="en-AU" dirty="0"/>
            </a:br>
            <a:endParaRPr lang="en-AU" dirty="0"/>
          </a:p>
        </p:txBody>
      </p:sp>
      <p:sp>
        <p:nvSpPr>
          <p:cNvPr id="3" name="Content Placeholder 2"/>
          <p:cNvSpPr>
            <a:spLocks noGrp="1"/>
          </p:cNvSpPr>
          <p:nvPr>
            <p:ph idx="1"/>
          </p:nvPr>
        </p:nvSpPr>
        <p:spPr/>
        <p:txBody>
          <a:bodyPr>
            <a:normAutofit fontScale="77500" lnSpcReduction="20000"/>
          </a:bodyPr>
          <a:lstStyle/>
          <a:p>
            <a:r>
              <a:rPr lang="en-AU" dirty="0"/>
              <a:t>Articulation of the purpose of source 1                                                                                      1</a:t>
            </a:r>
          </a:p>
          <a:p>
            <a:r>
              <a:rPr lang="en-AU" dirty="0"/>
              <a:t> Articulation of the purpose of source 2                                                                                     1 </a:t>
            </a:r>
          </a:p>
          <a:p>
            <a:r>
              <a:rPr lang="en-AU" dirty="0"/>
              <a:t>Identification of elements of comparison and contrast between the two sources                          1–3 </a:t>
            </a:r>
          </a:p>
          <a:p>
            <a:pPr marL="0" indent="0">
              <a:buNone/>
            </a:pPr>
            <a:r>
              <a:rPr lang="en-AU" dirty="0"/>
              <a:t>Markers’ notes:  </a:t>
            </a:r>
          </a:p>
          <a:p>
            <a:r>
              <a:rPr lang="en-AU" dirty="0"/>
              <a:t>This question focuses on the reasons for the construction of the sources, and what they aim to achieve. Candidates need to: </a:t>
            </a:r>
          </a:p>
          <a:p>
            <a:pPr marL="0" indent="0">
              <a:buNone/>
            </a:pPr>
            <a:r>
              <a:rPr lang="en-AU" dirty="0"/>
              <a:t> identify the issue/event/subject of each source </a:t>
            </a:r>
          </a:p>
          <a:p>
            <a:pPr marL="0" indent="0">
              <a:buNone/>
            </a:pPr>
            <a:r>
              <a:rPr lang="en-AU" dirty="0"/>
              <a:t> identify the message of the sources </a:t>
            </a:r>
          </a:p>
          <a:p>
            <a:pPr marL="0" indent="0">
              <a:buNone/>
            </a:pPr>
            <a:r>
              <a:rPr lang="en-AU" dirty="0"/>
              <a:t> identify the likely purpose for which the source was constructed (or, in the case of the photograph, how the source might have been used, which might produce variations in student interpretation) </a:t>
            </a:r>
          </a:p>
          <a:p>
            <a:pPr marL="0" indent="0">
              <a:buNone/>
            </a:pPr>
            <a:r>
              <a:rPr lang="en-AU" dirty="0"/>
              <a:t> use evidence from the source to support the response.  </a:t>
            </a:r>
          </a:p>
          <a:p>
            <a:r>
              <a:rPr lang="en-AU" dirty="0"/>
              <a:t>Explain how they compare (are similar) and contrast (are different) in terms of their purpose.  </a:t>
            </a:r>
          </a:p>
          <a:p>
            <a:r>
              <a:rPr lang="en-AU" dirty="0"/>
              <a:t>A strong answer will integrate their comparisons and contrasts with the discussion of their purpose. </a:t>
            </a:r>
          </a:p>
        </p:txBody>
      </p:sp>
    </p:spTree>
    <p:extLst>
      <p:ext uri="{BB962C8B-B14F-4D97-AF65-F5344CB8AC3E}">
        <p14:creationId xmlns:p14="http://schemas.microsoft.com/office/powerpoint/2010/main" val="29340729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82305"/>
          </a:xfrm>
        </p:spPr>
        <p:txBody>
          <a:bodyPr>
            <a:normAutofit/>
          </a:bodyPr>
          <a:lstStyle/>
          <a:p>
            <a:r>
              <a:rPr lang="en-AU" sz="1600" dirty="0"/>
              <a:t>Using your knowledge of the whole period of study, evaluate the importance of the themes, ideas and/or events represented in the four sources.  (7 marks)</a:t>
            </a:r>
          </a:p>
        </p:txBody>
      </p:sp>
      <p:sp>
        <p:nvSpPr>
          <p:cNvPr id="3" name="Content Placeholder 2"/>
          <p:cNvSpPr>
            <a:spLocks noGrp="1"/>
          </p:cNvSpPr>
          <p:nvPr>
            <p:ph idx="1"/>
          </p:nvPr>
        </p:nvSpPr>
        <p:spPr>
          <a:xfrm>
            <a:off x="677334" y="1291905"/>
            <a:ext cx="8596668" cy="4749457"/>
          </a:xfrm>
        </p:spPr>
        <p:txBody>
          <a:bodyPr>
            <a:normAutofit fontScale="70000" lnSpcReduction="20000"/>
          </a:bodyPr>
          <a:lstStyle/>
          <a:p>
            <a:r>
              <a:rPr lang="en-AU" dirty="0">
                <a:solidFill>
                  <a:srgbClr val="00B050"/>
                </a:solidFill>
              </a:rPr>
              <a:t>Identification of the themes/ideas/events                                                                                                 </a:t>
            </a:r>
            <a:r>
              <a:rPr lang="en-AU" dirty="0"/>
              <a:t>1</a:t>
            </a:r>
          </a:p>
          <a:p>
            <a:r>
              <a:rPr lang="en-AU" dirty="0"/>
              <a:t> </a:t>
            </a:r>
            <a:r>
              <a:rPr lang="en-AU" dirty="0">
                <a:solidFill>
                  <a:srgbClr val="FF0000"/>
                </a:solidFill>
              </a:rPr>
              <a:t>Placement of the themes/ideas/events with the themes/ideas/events of the broader historical context of the time. Candidates should be able to demonstrate a breadth and depth of knowledge of the time period  </a:t>
            </a:r>
            <a:r>
              <a:rPr lang="en-AU" dirty="0"/>
              <a:t>1-2</a:t>
            </a:r>
          </a:p>
          <a:p>
            <a:r>
              <a:rPr lang="en-AU" dirty="0">
                <a:solidFill>
                  <a:srgbClr val="0070C0"/>
                </a:solidFill>
              </a:rPr>
              <a:t>Evaluation of the themes/ideas/events in relation to those of the broader historical context                    </a:t>
            </a:r>
            <a:r>
              <a:rPr lang="en-AU" dirty="0"/>
              <a:t>1–2</a:t>
            </a:r>
          </a:p>
          <a:p>
            <a:r>
              <a:rPr lang="en-AU" dirty="0"/>
              <a:t> Compare and/or contrast what is in the sources with the other themes/ideas/events of the time period  1–2 </a:t>
            </a:r>
          </a:p>
          <a:p>
            <a:r>
              <a:rPr lang="en-AU" dirty="0"/>
              <a:t>Markers’ notes: </a:t>
            </a:r>
          </a:p>
          <a:p>
            <a:pPr marL="0" indent="0" algn="ctr">
              <a:buNone/>
            </a:pPr>
            <a:r>
              <a:rPr lang="en-AU" b="1" dirty="0"/>
              <a:t>This question does not require reiteration of the messages in the sources</a:t>
            </a:r>
          </a:p>
          <a:p>
            <a:pPr marL="0" indent="0">
              <a:buNone/>
            </a:pPr>
            <a:r>
              <a:rPr lang="en-AU" dirty="0"/>
              <a:t> Evaluate the importance of the theme/idea/event in relation to how they are represented in the sources, relates to the other themes/ideas/events of the whole period </a:t>
            </a:r>
          </a:p>
          <a:p>
            <a:pPr marL="0" indent="0">
              <a:buNone/>
            </a:pPr>
            <a:r>
              <a:rPr lang="en-AU" dirty="0"/>
              <a:t>To do this: </a:t>
            </a:r>
          </a:p>
          <a:p>
            <a:pPr marL="0" indent="0">
              <a:buNone/>
            </a:pPr>
            <a:r>
              <a:rPr lang="en-AU" dirty="0"/>
              <a:t> identify the themes/ideas/events in the sources</a:t>
            </a:r>
          </a:p>
          <a:p>
            <a:pPr marL="0" indent="0">
              <a:buNone/>
            </a:pPr>
            <a:r>
              <a:rPr lang="en-AU" dirty="0"/>
              <a:t>  evaluate the importance of what is shown in the sources by using evidence from the sources and the whole historical period</a:t>
            </a:r>
          </a:p>
          <a:p>
            <a:pPr marL="0" indent="0">
              <a:buNone/>
            </a:pPr>
            <a:r>
              <a:rPr lang="en-AU" dirty="0"/>
              <a:t>  refer to the long and/or short term effects of the theme/idea/event</a:t>
            </a:r>
          </a:p>
          <a:p>
            <a:pPr marL="0" indent="0">
              <a:buNone/>
            </a:pPr>
            <a:r>
              <a:rPr lang="en-AU" dirty="0"/>
              <a:t>  refer to elements of continuity and/or change evident in the theme/idea/event </a:t>
            </a:r>
          </a:p>
          <a:p>
            <a:pPr marL="0" indent="0">
              <a:buNone/>
            </a:pPr>
            <a:r>
              <a:rPr lang="en-AU" dirty="0"/>
              <a:t> candidates should be able to demonstrate a depth and breadth of knowledge for the whole time period.   </a:t>
            </a:r>
          </a:p>
          <a:p>
            <a:r>
              <a:rPr lang="en-AU" dirty="0"/>
              <a:t>  </a:t>
            </a:r>
          </a:p>
        </p:txBody>
      </p:sp>
    </p:spTree>
    <p:extLst>
      <p:ext uri="{BB962C8B-B14F-4D97-AF65-F5344CB8AC3E}">
        <p14:creationId xmlns:p14="http://schemas.microsoft.com/office/powerpoint/2010/main" val="629852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2338" y="-495151"/>
            <a:ext cx="8791662" cy="6186309"/>
          </a:xfrm>
          <a:prstGeom prst="rect">
            <a:avLst/>
          </a:prstGeom>
        </p:spPr>
        <p:txBody>
          <a:bodyPr wrap="square">
            <a:spAutoFit/>
          </a:bodyPr>
          <a:lstStyle/>
          <a:p>
            <a:endParaRPr lang="en-AU" dirty="0"/>
          </a:p>
          <a:p>
            <a:endParaRPr lang="en-AU" dirty="0"/>
          </a:p>
          <a:p>
            <a:endParaRPr lang="en-AU" dirty="0"/>
          </a:p>
          <a:p>
            <a:r>
              <a:rPr lang="en-AU" b="1" dirty="0"/>
              <a:t>Australia’s engagement with Asia: </a:t>
            </a:r>
          </a:p>
          <a:p>
            <a:r>
              <a:rPr lang="en-AU" dirty="0"/>
              <a:t>The document set includes several key themes/ideas/events, including:  </a:t>
            </a:r>
          </a:p>
          <a:p>
            <a:r>
              <a:rPr lang="en-AU" dirty="0">
                <a:solidFill>
                  <a:srgbClr val="00B050"/>
                </a:solidFill>
              </a:rPr>
              <a:t>The nature of (mostly) the ALP’s political attitudes towards Asian nations. </a:t>
            </a:r>
          </a:p>
          <a:p>
            <a:r>
              <a:rPr lang="en-AU" dirty="0">
                <a:solidFill>
                  <a:srgbClr val="FF0000"/>
                </a:solidFill>
              </a:rPr>
              <a:t>In the context of Australia’s engagement with Asia throughout the study period, the importance of the ALP in seeking to promote closer relations with Asia is important in that it often was juxtaposed against a more cautious attitude of the Liberals when in power. The shift under Whitlam when compared to the previous 23 years of Liberal rule was </a:t>
            </a:r>
            <a:r>
              <a:rPr lang="en-AU" dirty="0">
                <a:solidFill>
                  <a:srgbClr val="0070C0"/>
                </a:solidFill>
              </a:rPr>
              <a:t>enormously important in that it established a new pattern of engagement which future governments sought to follow (at least in part) in terms of greater participation in Asian institutions</a:t>
            </a:r>
            <a:r>
              <a:rPr lang="en-AU" dirty="0">
                <a:solidFill>
                  <a:srgbClr val="C00000"/>
                </a:solidFill>
              </a:rPr>
              <a:t> (such as APEC and ASEAN forums).   </a:t>
            </a:r>
          </a:p>
          <a:p>
            <a:r>
              <a:rPr lang="en-AU" dirty="0">
                <a:solidFill>
                  <a:srgbClr val="0070C0"/>
                </a:solidFill>
              </a:rPr>
              <a:t>Two of the sources focus on Australia’s political relationship with Indonesia, which was of considerable importance. </a:t>
            </a:r>
            <a:r>
              <a:rPr lang="en-AU" dirty="0">
                <a:solidFill>
                  <a:srgbClr val="FF0000"/>
                </a:solidFill>
              </a:rPr>
              <a:t>As our closest Asian neighbour, maintaining strong relationships, and responding to perceived threats, </a:t>
            </a:r>
            <a:r>
              <a:rPr lang="en-AU" dirty="0">
                <a:solidFill>
                  <a:srgbClr val="0070C0"/>
                </a:solidFill>
              </a:rPr>
              <a:t>has led to governments pursuing a range of policies to support/accommodate Indonesia </a:t>
            </a:r>
            <a:r>
              <a:rPr lang="en-AU" dirty="0">
                <a:solidFill>
                  <a:srgbClr val="FF0000"/>
                </a:solidFill>
              </a:rPr>
              <a:t>such as supporting Suharto’s crackdown on communism in the 1960s and limited opposition to Indonesia’s incorporation of East Timor in 1975.  </a:t>
            </a:r>
          </a:p>
          <a:p>
            <a:r>
              <a:rPr lang="en-AU" dirty="0"/>
              <a:t>The sources also include several other important ideas, such as decolonisation and regional security, although these ideas are not ones that connect all four of the documents. </a:t>
            </a:r>
          </a:p>
        </p:txBody>
      </p:sp>
    </p:spTree>
    <p:extLst>
      <p:ext uri="{BB962C8B-B14F-4D97-AF65-F5344CB8AC3E}">
        <p14:creationId xmlns:p14="http://schemas.microsoft.com/office/powerpoint/2010/main" val="13708412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69</TotalTime>
  <Words>2353</Words>
  <Application>Microsoft Office PowerPoint</Application>
  <PresentationFormat>Widescreen</PresentationFormat>
  <Paragraphs>119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Trebuchet MS</vt:lpstr>
      <vt:lpstr>Wingdings 3</vt:lpstr>
      <vt:lpstr>Facet</vt:lpstr>
      <vt:lpstr>WACE Source Analysis Questions </vt:lpstr>
      <vt:lpstr>Using the sample paper marking guide.</vt:lpstr>
      <vt:lpstr>Compare and contrast the messages of Sources 1 and 2. (4 marks)   </vt:lpstr>
      <vt:lpstr> Evaluate the usefulness, in terms of strengths and weaknesses, of Sources 1 and 2 as representations of ………. (5 marks)   </vt:lpstr>
      <vt:lpstr>Explain the historical context of Source 3. (4 marks)</vt:lpstr>
      <vt:lpstr> Identify and account for the authors’ perspectives in Sources 3 and 4 regarding the…… (6 marks)   </vt:lpstr>
      <vt:lpstr>Evaluate the extent to which the four sources give an accurate insight into the significance of ….. in the relevant society during your period of study.    (6 marks)</vt:lpstr>
      <vt:lpstr>PowerPoint Presentation</vt:lpstr>
      <vt:lpstr>Explain the message of Source 3. (3 marks)</vt:lpstr>
      <vt:lpstr>PowerPoint Presentation</vt:lpstr>
      <vt:lpstr>PowerPoint Presentation</vt:lpstr>
      <vt:lpstr>PowerPoint Presentation</vt:lpstr>
      <vt:lpstr>Identify how and discuss why Sources 3 and 4 are contestable.  (6 marks)</vt:lpstr>
      <vt:lpstr>PowerPoint Presentation</vt:lpstr>
      <vt:lpstr>Compare and contrast the purpose of Sources 1 and 2. (5 marks)   </vt:lpstr>
      <vt:lpstr>Using your knowledge of the whole period of study, evaluate the importance of the themes, ideas and/or events represented in the four sources.  (7 marks)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WACE Source Analysis Questions</dc:title>
  <dc:creator>Lynton Baron</dc:creator>
  <cp:lastModifiedBy>HAWKES Natasha [Narrogin Senior High School]</cp:lastModifiedBy>
  <cp:revision>8</cp:revision>
  <dcterms:created xsi:type="dcterms:W3CDTF">2016-05-05T11:25:45Z</dcterms:created>
  <dcterms:modified xsi:type="dcterms:W3CDTF">2019-03-22T00:04:14Z</dcterms:modified>
</cp:coreProperties>
</file>
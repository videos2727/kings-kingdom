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67" r:id="rId4"/>
    <p:sldId id="266" r:id="rId5"/>
    <p:sldId id="264" r:id="rId6"/>
    <p:sldId id="261" r:id="rId7"/>
    <p:sldId id="259" r:id="rId8"/>
    <p:sldId id="268"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varScale="1">
        <p:scale>
          <a:sx n="106" d="100"/>
          <a:sy n="106" d="100"/>
        </p:scale>
        <p:origin x="12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1921927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4104649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173663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9CE26C9-BA20-4CC4-A591-2C914B7B9811}" type="datetimeFigureOut">
              <a:rPr lang="en-AU" smtClean="0"/>
              <a:t>30/01/2019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1725581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9CE26C9-BA20-4CC4-A591-2C914B7B9811}" type="datetimeFigureOut">
              <a:rPr lang="en-AU" smtClean="0"/>
              <a:t>30/01/2019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2675362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3"/>
          <p:cNvSpPr>
            <a:spLocks noGrp="1"/>
          </p:cNvSpPr>
          <p:nvPr>
            <p:ph type="ftr" sz="quarter" idx="11"/>
          </p:nvPr>
        </p:nvSpPr>
        <p:spPr/>
        <p:txBody>
          <a:bodyPr/>
          <a:lstStyle/>
          <a:p>
            <a:endParaRPr lang="en-AU"/>
          </a:p>
        </p:txBody>
      </p:sp>
      <p:sp>
        <p:nvSpPr>
          <p:cNvPr id="6" name="Slide Number Placeholder 4"/>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3306888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2"/>
          <p:cNvSpPr>
            <a:spLocks noGrp="1"/>
          </p:cNvSpPr>
          <p:nvPr>
            <p:ph type="ftr" sz="quarter" idx="11"/>
          </p:nvPr>
        </p:nvSpPr>
        <p:spPr/>
        <p:txBody>
          <a:bodyPr/>
          <a:lstStyle/>
          <a:p>
            <a:endParaRPr lang="en-AU"/>
          </a:p>
        </p:txBody>
      </p:sp>
      <p:sp>
        <p:nvSpPr>
          <p:cNvPr id="6" name="Slide Number Placeholder 3"/>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162310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5"/>
          <p:cNvSpPr>
            <a:spLocks noGrp="1"/>
          </p:cNvSpPr>
          <p:nvPr>
            <p:ph type="ftr" sz="quarter" idx="11"/>
          </p:nvPr>
        </p:nvSpPr>
        <p:spPr/>
        <p:txBody>
          <a:bodyPr/>
          <a:lstStyle/>
          <a:p>
            <a:endParaRPr lang="en-AU"/>
          </a:p>
        </p:txBody>
      </p:sp>
      <p:sp>
        <p:nvSpPr>
          <p:cNvPr id="6" name="Slide Number Placeholder 6"/>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394750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9CE26C9-BA20-4CC4-A591-2C914B7B9811}" type="datetimeFigureOut">
              <a:rPr lang="en-AU" smtClean="0"/>
              <a:t>30/01/2019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2520874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9CE26C9-BA20-4CC4-A591-2C914B7B9811}" type="datetimeFigureOut">
              <a:rPr lang="en-AU" smtClean="0"/>
              <a:t>30/01/2019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429347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167689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86041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26023928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4"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881227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4"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3112589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870318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CE26C9-BA20-4CC4-A591-2C914B7B9811}" type="datetimeFigureOut">
              <a:rPr lang="en-AU" smtClean="0"/>
              <a:t>30/01/2019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CFA530-156D-4082-93A4-FA25E8CA4689}" type="slidenum">
              <a:rPr lang="en-AU" smtClean="0"/>
              <a:t>‹#›</a:t>
            </a:fld>
            <a:endParaRPr lang="en-AU"/>
          </a:p>
        </p:txBody>
      </p:sp>
    </p:spTree>
    <p:extLst>
      <p:ext uri="{BB962C8B-B14F-4D97-AF65-F5344CB8AC3E}">
        <p14:creationId xmlns:p14="http://schemas.microsoft.com/office/powerpoint/2010/main" val="2683177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9CE26C9-BA20-4CC4-A591-2C914B7B9811}" type="datetimeFigureOut">
              <a:rPr lang="en-AU" smtClean="0"/>
              <a:t>30/01/2019</a:t>
            </a:fld>
            <a:endParaRPr lang="en-A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A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ECFA530-156D-4082-93A4-FA25E8CA4689}" type="slidenum">
              <a:rPr lang="en-AU" smtClean="0"/>
              <a:t>‹#›</a:t>
            </a:fld>
            <a:endParaRPr lang="en-AU"/>
          </a:p>
        </p:txBody>
      </p:sp>
    </p:spTree>
    <p:extLst>
      <p:ext uri="{BB962C8B-B14F-4D97-AF65-F5344CB8AC3E}">
        <p14:creationId xmlns:p14="http://schemas.microsoft.com/office/powerpoint/2010/main" val="33155551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History_of_the_United_States" TargetMode="External"/><Relationship Id="rId2" Type="http://schemas.openxmlformats.org/officeDocument/2006/relationships/hyperlink" Target="https://civilwar.mrdonn.org/powerpoint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AU" dirty="0" smtClean="0"/>
              <a:t>The American </a:t>
            </a:r>
            <a:br>
              <a:rPr lang="en-AU" dirty="0" smtClean="0"/>
            </a:br>
            <a:r>
              <a:rPr lang="en-AU" dirty="0" smtClean="0"/>
              <a:t>Civil War</a:t>
            </a:r>
            <a:endParaRPr lang="en-AU" dirty="0"/>
          </a:p>
        </p:txBody>
      </p:sp>
      <p:sp>
        <p:nvSpPr>
          <p:cNvPr id="3" name="Subtitle 2"/>
          <p:cNvSpPr>
            <a:spLocks noGrp="1"/>
          </p:cNvSpPr>
          <p:nvPr>
            <p:ph type="subTitle" idx="1"/>
          </p:nvPr>
        </p:nvSpPr>
        <p:spPr/>
        <p:txBody>
          <a:bodyPr/>
          <a:lstStyle/>
          <a:p>
            <a:pPr algn="l"/>
            <a:r>
              <a:rPr lang="en-AU" dirty="0" smtClean="0"/>
              <a:t>April 1861  –  April 1865</a:t>
            </a:r>
            <a:endParaRPr lang="en-AU" dirty="0"/>
          </a:p>
        </p:txBody>
      </p:sp>
      <p:pic>
        <p:nvPicPr>
          <p:cNvPr id="2050" name="Picture 2" descr="CivilWarUSACol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9161" y="255362"/>
            <a:ext cx="3993720" cy="6472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874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88779"/>
            <a:ext cx="9404723" cy="1014689"/>
          </a:xfrm>
        </p:spPr>
        <p:txBody>
          <a:bodyPr/>
          <a:lstStyle/>
          <a:p>
            <a:r>
              <a:rPr lang="en-AU" dirty="0" smtClean="0"/>
              <a:t>Brief Background…. Very brief!!</a:t>
            </a:r>
            <a:endParaRPr lang="en-AU" dirty="0"/>
          </a:p>
        </p:txBody>
      </p:sp>
      <p:sp>
        <p:nvSpPr>
          <p:cNvPr id="3" name="Content Placeholder 2"/>
          <p:cNvSpPr>
            <a:spLocks noGrp="1"/>
          </p:cNvSpPr>
          <p:nvPr>
            <p:ph idx="1"/>
          </p:nvPr>
        </p:nvSpPr>
        <p:spPr>
          <a:xfrm>
            <a:off x="283169" y="1203468"/>
            <a:ext cx="11450648" cy="5316301"/>
          </a:xfrm>
        </p:spPr>
        <p:txBody>
          <a:bodyPr>
            <a:normAutofit fontScale="85000" lnSpcReduction="10000"/>
          </a:bodyPr>
          <a:lstStyle/>
          <a:p>
            <a:r>
              <a:rPr lang="en-AU" dirty="0" smtClean="0"/>
              <a:t>Mostly British colonists settled in what is now the USA in the early 17thC.</a:t>
            </a:r>
          </a:p>
          <a:p>
            <a:r>
              <a:rPr lang="en-AU" dirty="0" smtClean="0"/>
              <a:t>By the 1770s there were about 2.5m people scattered over 13 colonies, mainly on the north east coast.</a:t>
            </a:r>
          </a:p>
          <a:p>
            <a:r>
              <a:rPr lang="en-AU" dirty="0" smtClean="0"/>
              <a:t>The ‘Patriots’ [some of those living in the colonies] protested against taxes imposed by Great Britain – Boston Tea Party in 1773 which led to harsh laws and taxes by the Brits….which led to armed conflict.</a:t>
            </a:r>
          </a:p>
          <a:p>
            <a:r>
              <a:rPr lang="en-AU" b="1" dirty="0" smtClean="0"/>
              <a:t>1776 – Declaration of Independence</a:t>
            </a:r>
            <a:r>
              <a:rPr lang="en-AU" dirty="0" smtClean="0"/>
              <a:t>….. Led to war which the American colonists led by George Washington won [help from France too]. </a:t>
            </a:r>
          </a:p>
          <a:p>
            <a:r>
              <a:rPr lang="en-AU" b="1" dirty="0" smtClean="0"/>
              <a:t>Constitution adopted in 1789 </a:t>
            </a:r>
            <a:r>
              <a:rPr lang="en-AU" dirty="0" smtClean="0"/>
              <a:t>and </a:t>
            </a:r>
            <a:r>
              <a:rPr lang="en-AU" b="1" dirty="0" smtClean="0"/>
              <a:t>Bill of Rights follows in 1791</a:t>
            </a:r>
            <a:r>
              <a:rPr lang="en-AU" dirty="0" smtClean="0"/>
              <a:t>.</a:t>
            </a:r>
          </a:p>
          <a:p>
            <a:r>
              <a:rPr lang="en-AU" dirty="0" smtClean="0"/>
              <a:t>Based on the concept of ‘manifest destiny’ colonists and new immigrants spread west to the Pacific over the next century. This led to frontier conflict with the People of the First Nations. The California Gold Rush 1840s hastened the expansion and immigration. </a:t>
            </a:r>
          </a:p>
          <a:p>
            <a:r>
              <a:rPr lang="en-AU" dirty="0" smtClean="0"/>
              <a:t>The northern states (mostly the original 13) became increasingly urban and industrial.</a:t>
            </a:r>
          </a:p>
          <a:p>
            <a:r>
              <a:rPr lang="en-AU" dirty="0" smtClean="0"/>
              <a:t>The southern states’ economy was based on agriculture, particularly cotton. This was instrumental in forming the ‘slave triangle’ [Africa – southern America – Britain]</a:t>
            </a:r>
          </a:p>
          <a:p>
            <a:r>
              <a:rPr lang="en-AU" dirty="0" smtClean="0"/>
              <a:t>By the 1840s ‘abolitionists’ stated that slavery was a sin or at least a social evil (A Lincoln)</a:t>
            </a:r>
          </a:p>
          <a:p>
            <a:r>
              <a:rPr lang="en-AU" dirty="0" smtClean="0"/>
              <a:t>This began a secession movement by some southern states which had been building for some time. </a:t>
            </a:r>
            <a:endParaRPr lang="en-AU" dirty="0"/>
          </a:p>
        </p:txBody>
      </p:sp>
    </p:spTree>
    <p:extLst>
      <p:ext uri="{BB962C8B-B14F-4D97-AF65-F5344CB8AC3E}">
        <p14:creationId xmlns:p14="http://schemas.microsoft.com/office/powerpoint/2010/main" val="3033940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8732" y="1319922"/>
            <a:ext cx="3738525" cy="4921595"/>
          </a:xfrm>
        </p:spPr>
        <p:txBody>
          <a:bodyPr/>
          <a:lstStyle/>
          <a:p>
            <a:r>
              <a:rPr lang="en-AU" sz="2800" dirty="0"/>
              <a:t>The United States, immediately before the Civil War. All of the lands east of, or bordering, the Mississippi River were organized as states in the Union, but the West was still largely </a:t>
            </a:r>
            <a:r>
              <a:rPr lang="en-AU" sz="2800" dirty="0" smtClean="0"/>
              <a:t>unsettled.</a:t>
            </a:r>
            <a:endParaRPr lang="en-AU" sz="2800" dirty="0"/>
          </a:p>
        </p:txBody>
      </p:sp>
      <p:pic>
        <p:nvPicPr>
          <p:cNvPr id="6146" name="Picture 2" descr="https://upload.wikimedia.org/wikipedia/commons/thumb/a/aa/National-atlas-1970-1860.png/300px-National-atlas-1970-1860.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1142" y="627249"/>
            <a:ext cx="7502451" cy="477656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a:stCxn id="2" idx="1"/>
          </p:cNvCxnSpPr>
          <p:nvPr/>
        </p:nvCxnSpPr>
        <p:spPr>
          <a:xfrm flipH="1" flipV="1">
            <a:off x="4866968" y="3374431"/>
            <a:ext cx="3061764" cy="4062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45713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5658" y="1390715"/>
            <a:ext cx="2046923" cy="3004304"/>
          </a:xfrm>
        </p:spPr>
        <p:txBody>
          <a:bodyPr/>
          <a:lstStyle/>
          <a:p>
            <a:r>
              <a:rPr lang="en-AU" sz="2000" b="1" dirty="0" smtClean="0"/>
              <a:t>Southern States and secession.</a:t>
            </a:r>
            <a:r>
              <a:rPr lang="en-AU" sz="1800" dirty="0" smtClean="0"/>
              <a:t/>
            </a:r>
            <a:br>
              <a:rPr lang="en-AU" sz="1800" dirty="0" smtClean="0"/>
            </a:br>
            <a:r>
              <a:rPr lang="en-AU" sz="1800" dirty="0" smtClean="0"/>
              <a:t/>
            </a:r>
            <a:br>
              <a:rPr lang="en-AU" sz="1800" dirty="0" smtClean="0"/>
            </a:br>
            <a:r>
              <a:rPr lang="en-AU" sz="1800" dirty="0"/>
              <a:t/>
            </a:r>
            <a:br>
              <a:rPr lang="en-AU" sz="1800" dirty="0"/>
            </a:br>
            <a:r>
              <a:rPr lang="en-AU" sz="1800" dirty="0" smtClean="0"/>
              <a:t>Fort Sumter was the3 first battle of the Civil War in 1861. </a:t>
            </a:r>
            <a:endParaRPr lang="en-AU" sz="1800" dirty="0"/>
          </a:p>
        </p:txBody>
      </p:sp>
      <p:pic>
        <p:nvPicPr>
          <p:cNvPr id="4" name="Picture 4"/>
          <p:cNvPicPr>
            <a:picLocks noGrp="1" noChangeAspect="1" noChangeArrowheads="1"/>
          </p:cNvPicPr>
          <p:nvPr>
            <p:ph idx="1"/>
          </p:nvPr>
        </p:nvPicPr>
        <p:blipFill>
          <a:blip r:embed="rId2">
            <a:lum bright="-6000" contrast="12000"/>
            <a:extLst>
              <a:ext uri="{28A0092B-C50C-407E-A947-70E740481C1C}">
                <a14:useLocalDpi xmlns:a14="http://schemas.microsoft.com/office/drawing/2010/main" val="0"/>
              </a:ext>
            </a:extLst>
          </a:blip>
          <a:srcRect/>
          <a:stretch>
            <a:fillRect/>
          </a:stretch>
        </p:blipFill>
        <p:spPr bwMode="auto">
          <a:xfrm>
            <a:off x="127570" y="370126"/>
            <a:ext cx="9261934" cy="5859592"/>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34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553556" y="275392"/>
            <a:ext cx="4704244" cy="2554545"/>
          </a:xfrm>
          <a:prstGeom prst="rect">
            <a:avLst/>
          </a:prstGeom>
          <a:noFill/>
          <a:ln>
            <a:noFill/>
          </a:ln>
          <a:effectLst>
            <a:outerShdw dist="28398" dir="3806097"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ctr">
              <a:spcBef>
                <a:spcPct val="50000"/>
              </a:spcBef>
            </a:pPr>
            <a:r>
              <a:rPr lang="en-US" altLang="en-US" sz="3200" b="1" i="1" dirty="0">
                <a:solidFill>
                  <a:srgbClr val="000066"/>
                </a:solidFill>
                <a:latin typeface="Wrangler" pitchFamily="2" charset="0"/>
              </a:rPr>
              <a:t>Uncle Tom’s </a:t>
            </a:r>
            <a:r>
              <a:rPr lang="en-US" altLang="en-US" sz="3200" b="1" i="1" dirty="0" smtClean="0">
                <a:solidFill>
                  <a:srgbClr val="000066"/>
                </a:solidFill>
                <a:latin typeface="Wrangler" pitchFamily="2" charset="0"/>
              </a:rPr>
              <a:t>Cabin by Harriet Beecher Stowe</a:t>
            </a:r>
            <a:endParaRPr lang="en-US" altLang="en-US" sz="3200" b="1" i="1" dirty="0">
              <a:solidFill>
                <a:srgbClr val="000066"/>
              </a:solidFill>
              <a:latin typeface="Wrangler" pitchFamily="2" charset="0"/>
            </a:endParaRPr>
          </a:p>
          <a:p>
            <a:pPr algn="ctr">
              <a:spcBef>
                <a:spcPct val="50000"/>
              </a:spcBef>
            </a:pPr>
            <a:r>
              <a:rPr lang="en-US" altLang="en-US" sz="3200" b="1" dirty="0" smtClean="0">
                <a:solidFill>
                  <a:srgbClr val="000066"/>
                </a:solidFill>
                <a:latin typeface="Wrangler" pitchFamily="2" charset="0"/>
              </a:rPr>
              <a:t>1852</a:t>
            </a:r>
          </a:p>
          <a:p>
            <a:pPr algn="ctr">
              <a:spcBef>
                <a:spcPct val="50000"/>
              </a:spcBef>
            </a:pPr>
            <a:endParaRPr lang="en-US" altLang="en-US" sz="3200" b="1" dirty="0">
              <a:solidFill>
                <a:srgbClr val="000066"/>
              </a:solidFill>
              <a:latin typeface="Wrangler" pitchFamily="2" charset="0"/>
            </a:endParaRPr>
          </a:p>
        </p:txBody>
      </p:sp>
      <p:pic>
        <p:nvPicPr>
          <p:cNvPr id="39941" name="Picture 5" descr="cwp65"/>
          <p:cNvPicPr>
            <a:picLocks noChangeAspect="1" noChangeArrowheads="1"/>
          </p:cNvPicPr>
          <p:nvPr/>
        </p:nvPicPr>
        <p:blipFill>
          <a:blip r:embed="rId2">
            <a:lum bright="-6000" contrast="18000"/>
            <a:extLst>
              <a:ext uri="{28A0092B-C50C-407E-A947-70E740481C1C}">
                <a14:useLocalDpi xmlns:a14="http://schemas.microsoft.com/office/drawing/2010/main" val="0"/>
              </a:ext>
            </a:extLst>
          </a:blip>
          <a:srcRect/>
          <a:stretch>
            <a:fillRect/>
          </a:stretch>
        </p:blipFill>
        <p:spPr bwMode="auto">
          <a:xfrm>
            <a:off x="5524500" y="352426"/>
            <a:ext cx="4762500" cy="6124575"/>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9942" name="Text Box 6"/>
          <p:cNvSpPr txBox="1">
            <a:spLocks noChangeArrowheads="1"/>
          </p:cNvSpPr>
          <p:nvPr/>
        </p:nvSpPr>
        <p:spPr bwMode="auto">
          <a:xfrm>
            <a:off x="454250" y="4191001"/>
            <a:ext cx="4803550" cy="1654299"/>
          </a:xfrm>
          <a:prstGeom prst="rect">
            <a:avLst/>
          </a:prstGeom>
          <a:noFill/>
          <a:ln>
            <a:noFill/>
          </a:ln>
          <a:effectLst>
            <a:outerShdw dist="28398" dir="3806097"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288925" indent="-288925">
              <a:defRPr sz="2400">
                <a:solidFill>
                  <a:schemeClr val="tx1"/>
                </a:solidFill>
                <a:latin typeface="Arial" panose="020B0604020202020204" pitchFamily="34" charset="0"/>
              </a:defRPr>
            </a:lvl1pPr>
            <a:lvl2pPr>
              <a:defRPr sz="2400">
                <a:solidFill>
                  <a:schemeClr val="tx1"/>
                </a:solidFill>
                <a:latin typeface="Arial" panose="020B0604020202020204" pitchFamily="34" charset="0"/>
              </a:defRPr>
            </a:lvl2pPr>
            <a:lvl3pPr>
              <a:defRPr sz="2400">
                <a:solidFill>
                  <a:schemeClr val="tx1"/>
                </a:solidFill>
                <a:latin typeface="Arial" panose="020B0604020202020204" pitchFamily="34" charset="0"/>
              </a:defRPr>
            </a:lvl3pPr>
            <a:lvl4pPr>
              <a:defRPr sz="2400">
                <a:solidFill>
                  <a:schemeClr val="tx1"/>
                </a:solidFill>
                <a:latin typeface="Arial" panose="020B0604020202020204" pitchFamily="34" charset="0"/>
              </a:defRPr>
            </a:lvl4pPr>
            <a:lvl5pPr>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spcBef>
                <a:spcPct val="50000"/>
              </a:spcBef>
              <a:buClr>
                <a:srgbClr val="97BAFF"/>
              </a:buClr>
              <a:buFont typeface="Wingdings" panose="05000000000000000000" pitchFamily="2" charset="2"/>
              <a:buChar char="§"/>
            </a:pPr>
            <a:r>
              <a:rPr lang="en-US" altLang="en-US" sz="2900" b="1" dirty="0">
                <a:solidFill>
                  <a:srgbClr val="DDDDDD"/>
                </a:solidFill>
                <a:latin typeface="Wrangler" pitchFamily="2" charset="0"/>
              </a:rPr>
              <a:t>Sold 300,000 copies in</a:t>
            </a:r>
            <a:br>
              <a:rPr lang="en-US" altLang="en-US" sz="2900" b="1" dirty="0">
                <a:solidFill>
                  <a:srgbClr val="DDDDDD"/>
                </a:solidFill>
                <a:latin typeface="Wrangler" pitchFamily="2" charset="0"/>
              </a:rPr>
            </a:br>
            <a:r>
              <a:rPr lang="en-US" altLang="en-US" sz="2900" b="1" dirty="0">
                <a:solidFill>
                  <a:srgbClr val="DDDDDD"/>
                </a:solidFill>
                <a:latin typeface="Wrangler" pitchFamily="2" charset="0"/>
              </a:rPr>
              <a:t>the first year.</a:t>
            </a:r>
          </a:p>
          <a:p>
            <a:pPr>
              <a:spcBef>
                <a:spcPct val="50000"/>
              </a:spcBef>
              <a:buClr>
                <a:srgbClr val="97BAFF"/>
              </a:buClr>
              <a:buFont typeface="Wingdings" panose="05000000000000000000" pitchFamily="2" charset="2"/>
              <a:buChar char="§"/>
            </a:pPr>
            <a:r>
              <a:rPr lang="en-US" altLang="en-US" sz="2900" b="1" dirty="0">
                <a:solidFill>
                  <a:srgbClr val="DDDDDD"/>
                </a:solidFill>
                <a:latin typeface="Wrangler" pitchFamily="2" charset="0"/>
              </a:rPr>
              <a:t>2 million in a decade!</a:t>
            </a:r>
          </a:p>
        </p:txBody>
      </p:sp>
      <p:pic>
        <p:nvPicPr>
          <p:cNvPr id="5" name="Picture 7" descr="Harriet Beecher Stowe"/>
          <p:cNvPicPr>
            <a:picLocks noChangeAspect="1" noChangeArrowheads="1"/>
          </p:cNvPicPr>
          <p:nvPr/>
        </p:nvPicPr>
        <p:blipFill>
          <a:blip r:embed="rId3" cstate="print">
            <a:lum bright="-12000" contrast="6000"/>
            <a:extLst>
              <a:ext uri="{28A0092B-C50C-407E-A947-70E740481C1C}">
                <a14:useLocalDpi xmlns:a14="http://schemas.microsoft.com/office/drawing/2010/main" val="0"/>
              </a:ext>
            </a:extLst>
          </a:blip>
          <a:srcRect b="1370"/>
          <a:stretch>
            <a:fillRect/>
          </a:stretch>
        </p:blipFill>
        <p:spPr bwMode="auto">
          <a:xfrm>
            <a:off x="407793" y="1388314"/>
            <a:ext cx="2011557" cy="2475763"/>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4751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9942">
                                            <p:txEl>
                                              <p:pRg st="0" end="0"/>
                                            </p:txEl>
                                          </p:spTgt>
                                        </p:tgtEl>
                                        <p:attrNameLst>
                                          <p:attrName>style.visibility</p:attrName>
                                        </p:attrNameLst>
                                      </p:cBhvr>
                                      <p:to>
                                        <p:strVal val="visible"/>
                                      </p:to>
                                    </p:set>
                                    <p:animEffect transition="in" filter="fade">
                                      <p:cBhvr>
                                        <p:cTn id="7" dur="1000"/>
                                        <p:tgtEl>
                                          <p:spTgt spid="399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9942">
                                            <p:txEl>
                                              <p:pRg st="1" end="1"/>
                                            </p:txEl>
                                          </p:spTgt>
                                        </p:tgtEl>
                                        <p:attrNameLst>
                                          <p:attrName>style.visibility</p:attrName>
                                        </p:attrNameLst>
                                      </p:cBhvr>
                                      <p:to>
                                        <p:strVal val="visible"/>
                                      </p:to>
                                    </p:set>
                                    <p:animEffect transition="in" filter="fade">
                                      <p:cBhvr>
                                        <p:cTn id="12" dur="1000"/>
                                        <p:tgtEl>
                                          <p:spTgt spid="399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3958467" y="1418469"/>
            <a:ext cx="3725934" cy="2362200"/>
          </a:xfrm>
          <a:noFill/>
          <a:ln/>
          <a:effectLst>
            <a:outerShdw dist="28398" dir="3806097" algn="ctr" rotWithShape="0">
              <a:srgbClr val="000000"/>
            </a:outerShdw>
          </a:effectLst>
          <a:extLst>
            <a:ext uri="{91240B29-F687-4F45-9708-019B960494DF}">
              <a14:hiddenLine xmlns:a14="http://schemas.microsoft.com/office/drawing/2010/main" w="9525">
                <a:solidFill>
                  <a:schemeClr val="bg2"/>
                </a:solidFill>
                <a:miter lim="800000"/>
                <a:headEnd/>
                <a:tailEnd/>
              </a14:hiddenLine>
            </a:ext>
          </a:extLst>
        </p:spPr>
        <p:txBody>
          <a:bodyPr>
            <a:normAutofit fontScale="90000"/>
          </a:bodyPr>
          <a:lstStyle/>
          <a:p>
            <a:r>
              <a:rPr lang="en-US" altLang="en-US" sz="5200" b="1" dirty="0">
                <a:solidFill>
                  <a:srgbClr val="FFFF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1860</a:t>
            </a:r>
            <a:br>
              <a:rPr lang="en-US" altLang="en-US" sz="5200" b="1" dirty="0">
                <a:solidFill>
                  <a:srgbClr val="FFFF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br>
            <a:r>
              <a:rPr lang="en-US" altLang="en-US" sz="5200" b="1" dirty="0">
                <a:solidFill>
                  <a:srgbClr val="FFFF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Presidential</a:t>
            </a:r>
            <a:br>
              <a:rPr lang="en-US" altLang="en-US" sz="5200" b="1" dirty="0">
                <a:solidFill>
                  <a:srgbClr val="FFFF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br>
            <a:r>
              <a:rPr lang="en-US" altLang="en-US" sz="5200" b="1" dirty="0">
                <a:solidFill>
                  <a:srgbClr val="FFFF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Election</a:t>
            </a:r>
          </a:p>
        </p:txBody>
      </p:sp>
      <p:sp>
        <p:nvSpPr>
          <p:cNvPr id="63494" name="Text Box 6"/>
          <p:cNvSpPr txBox="1">
            <a:spLocks noChangeArrowheads="1"/>
          </p:cNvSpPr>
          <p:nvPr/>
        </p:nvSpPr>
        <p:spPr bwMode="auto">
          <a:xfrm>
            <a:off x="1133532" y="2370969"/>
            <a:ext cx="3124200" cy="1384995"/>
          </a:xfrm>
          <a:prstGeom prst="rect">
            <a:avLst/>
          </a:prstGeom>
          <a:noFill/>
          <a:ln>
            <a:noFill/>
          </a:ln>
          <a:effectLst>
            <a:outerShdw dist="28398" dir="3806097"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lang="en-US" altLang="en-US" sz="2800" b="1" dirty="0">
                <a:solidFill>
                  <a:srgbClr val="FF0000"/>
                </a:solidFill>
                <a:latin typeface="Wrangler" pitchFamily="2" charset="0"/>
              </a:rPr>
              <a:t>√</a:t>
            </a:r>
            <a:r>
              <a:rPr lang="en-US" altLang="en-US" sz="2800" b="1" dirty="0">
                <a:solidFill>
                  <a:schemeClr val="hlink"/>
                </a:solidFill>
                <a:latin typeface="Wrangler" pitchFamily="2" charset="0"/>
              </a:rPr>
              <a:t> </a:t>
            </a:r>
            <a:r>
              <a:rPr lang="en-US" altLang="en-US" sz="2800" b="1" dirty="0">
                <a:solidFill>
                  <a:srgbClr val="00B0F0"/>
                </a:solidFill>
                <a:latin typeface="Wrangler" pitchFamily="2" charset="0"/>
              </a:rPr>
              <a:t>Abraham Lincoln</a:t>
            </a:r>
            <a:br>
              <a:rPr lang="en-US" altLang="en-US" sz="2800" b="1" dirty="0">
                <a:solidFill>
                  <a:srgbClr val="00B0F0"/>
                </a:solidFill>
                <a:latin typeface="Wrangler" pitchFamily="2" charset="0"/>
              </a:rPr>
            </a:br>
            <a:r>
              <a:rPr lang="en-US" altLang="en-US" sz="2800" b="1" dirty="0">
                <a:solidFill>
                  <a:srgbClr val="00B0F0"/>
                </a:solidFill>
                <a:latin typeface="Wrangler" pitchFamily="2" charset="0"/>
              </a:rPr>
              <a:t>Republican</a:t>
            </a:r>
          </a:p>
        </p:txBody>
      </p:sp>
      <p:sp>
        <p:nvSpPr>
          <p:cNvPr id="63495" name="Text Box 7"/>
          <p:cNvSpPr txBox="1">
            <a:spLocks noChangeArrowheads="1"/>
          </p:cNvSpPr>
          <p:nvPr/>
        </p:nvSpPr>
        <p:spPr bwMode="auto">
          <a:xfrm>
            <a:off x="8614042" y="2236799"/>
            <a:ext cx="3048000" cy="138499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lang="en-US" altLang="en-US" sz="2800" b="1" dirty="0">
                <a:solidFill>
                  <a:schemeClr val="accent6">
                    <a:lumMod val="40000"/>
                    <a:lumOff val="60000"/>
                  </a:schemeClr>
                </a:solidFill>
                <a:latin typeface="Wrangler" pitchFamily="2" charset="0"/>
              </a:rPr>
              <a:t>John Bell</a:t>
            </a:r>
            <a:br>
              <a:rPr lang="en-US" altLang="en-US" sz="2800" b="1" dirty="0">
                <a:solidFill>
                  <a:schemeClr val="accent6">
                    <a:lumMod val="40000"/>
                    <a:lumOff val="60000"/>
                  </a:schemeClr>
                </a:solidFill>
                <a:latin typeface="Wrangler" pitchFamily="2" charset="0"/>
              </a:rPr>
            </a:br>
            <a:r>
              <a:rPr lang="en-US" altLang="en-US" sz="2800" b="1" dirty="0">
                <a:solidFill>
                  <a:schemeClr val="accent6">
                    <a:lumMod val="40000"/>
                    <a:lumOff val="60000"/>
                  </a:schemeClr>
                </a:solidFill>
                <a:latin typeface="Wrangler" pitchFamily="2" charset="0"/>
              </a:rPr>
              <a:t>Constitutional Union</a:t>
            </a:r>
          </a:p>
        </p:txBody>
      </p:sp>
      <p:sp>
        <p:nvSpPr>
          <p:cNvPr id="63496" name="Text Box 8"/>
          <p:cNvSpPr txBox="1">
            <a:spLocks noChangeArrowheads="1"/>
          </p:cNvSpPr>
          <p:nvPr/>
        </p:nvSpPr>
        <p:spPr bwMode="auto">
          <a:xfrm>
            <a:off x="2615380" y="4516542"/>
            <a:ext cx="3276600" cy="181588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lang="en-US" altLang="en-US" sz="2800" b="1" dirty="0">
                <a:solidFill>
                  <a:srgbClr val="FF0000"/>
                </a:solidFill>
                <a:latin typeface="Wrangler" pitchFamily="2" charset="0"/>
              </a:rPr>
              <a:t>Stephen A. Douglas</a:t>
            </a:r>
            <a:br>
              <a:rPr lang="en-US" altLang="en-US" sz="2800" b="1" dirty="0">
                <a:solidFill>
                  <a:srgbClr val="FF0000"/>
                </a:solidFill>
                <a:latin typeface="Wrangler" pitchFamily="2" charset="0"/>
              </a:rPr>
            </a:br>
            <a:r>
              <a:rPr lang="en-US" altLang="en-US" sz="2800" b="1" dirty="0">
                <a:solidFill>
                  <a:srgbClr val="FF0000"/>
                </a:solidFill>
                <a:latin typeface="Wrangler" pitchFamily="2" charset="0"/>
              </a:rPr>
              <a:t>Northern Democrat</a:t>
            </a:r>
          </a:p>
        </p:txBody>
      </p:sp>
      <p:sp>
        <p:nvSpPr>
          <p:cNvPr id="63497" name="Text Box 9"/>
          <p:cNvSpPr txBox="1">
            <a:spLocks noChangeArrowheads="1"/>
          </p:cNvSpPr>
          <p:nvPr/>
        </p:nvSpPr>
        <p:spPr bwMode="auto">
          <a:xfrm>
            <a:off x="6779184" y="4484683"/>
            <a:ext cx="3200400" cy="1815882"/>
          </a:xfrm>
          <a:prstGeom prst="rect">
            <a:avLst/>
          </a:prstGeom>
          <a:noFill/>
          <a:ln>
            <a:noFill/>
          </a:ln>
          <a:effectLst>
            <a:outerShdw dist="28398" dir="3806097"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lang="en-US" altLang="en-US" sz="2800" b="1" dirty="0">
                <a:solidFill>
                  <a:srgbClr val="FF0000"/>
                </a:solidFill>
                <a:latin typeface="Wrangler" pitchFamily="2" charset="0"/>
              </a:rPr>
              <a:t>John C. Breckinridge</a:t>
            </a:r>
            <a:br>
              <a:rPr lang="en-US" altLang="en-US" sz="2800" b="1" dirty="0">
                <a:solidFill>
                  <a:srgbClr val="FF0000"/>
                </a:solidFill>
                <a:latin typeface="Wrangler" pitchFamily="2" charset="0"/>
              </a:rPr>
            </a:br>
            <a:r>
              <a:rPr lang="en-US" altLang="en-US" sz="2800" b="1" dirty="0">
                <a:solidFill>
                  <a:srgbClr val="FF0000"/>
                </a:solidFill>
                <a:latin typeface="Wrangler" pitchFamily="2" charset="0"/>
              </a:rPr>
              <a:t>Southern Democrat</a:t>
            </a:r>
          </a:p>
        </p:txBody>
      </p:sp>
      <p:pic>
        <p:nvPicPr>
          <p:cNvPr id="63498" name="Picture 10" descr="Stephen A Dougl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2343" y="4402024"/>
            <a:ext cx="1443037" cy="1981200"/>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pic>
      <p:pic>
        <p:nvPicPr>
          <p:cNvPr id="63500" name="Picture 12" descr="Abe Lincoln"/>
          <p:cNvPicPr>
            <a:picLocks noChangeAspect="1" noChangeArrowheads="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1373189" y="357403"/>
            <a:ext cx="1527175" cy="1930400"/>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pic>
      <p:pic>
        <p:nvPicPr>
          <p:cNvPr id="63501" name="Picture 13" descr="John Bell"/>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b="20000"/>
          <a:stretch>
            <a:fillRect/>
          </a:stretch>
        </p:blipFill>
        <p:spPr bwMode="auto">
          <a:xfrm>
            <a:off x="7729472" y="465969"/>
            <a:ext cx="1630363" cy="19050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63502" name="Picture 14" descr="John Caball Breckinridge"/>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9979584" y="4452824"/>
            <a:ext cx="1524000" cy="18796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2906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preferRelativeResize="0">
            <a:picLocks noChangeAspect="1" noChangeArrowheads="1"/>
          </p:cNvPicPr>
          <p:nvPr/>
        </p:nvPicPr>
        <p:blipFill>
          <a:blip r:embed="rId2">
            <a:lum bright="-6000" contrast="12000"/>
            <a:extLst>
              <a:ext uri="{28A0092B-C50C-407E-A947-70E740481C1C}">
                <a14:useLocalDpi xmlns:a14="http://schemas.microsoft.com/office/drawing/2010/main" val="0"/>
              </a:ext>
            </a:extLst>
          </a:blip>
          <a:srcRect/>
          <a:stretch>
            <a:fillRect/>
          </a:stretch>
        </p:blipFill>
        <p:spPr bwMode="auto">
          <a:xfrm>
            <a:off x="2553221" y="94390"/>
            <a:ext cx="6655672" cy="6673400"/>
          </a:xfrm>
          <a:prstGeom prst="rect">
            <a:avLst/>
          </a:prstGeom>
          <a:noFill/>
          <a:ln w="127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034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Go to Civil War </a:t>
            </a:r>
            <a:r>
              <a:rPr lang="en-AU" dirty="0" err="1" smtClean="0"/>
              <a:t>ppt</a:t>
            </a:r>
            <a:r>
              <a:rPr lang="en-AU" dirty="0" smtClean="0"/>
              <a:t>….. </a:t>
            </a:r>
            <a:r>
              <a:rPr lang="en-AU" dirty="0" smtClean="0">
                <a:sym typeface="Wingdings" panose="05000000000000000000" pitchFamily="2" charset="2"/>
              </a:rPr>
              <a:t></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73492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References:</a:t>
            </a:r>
            <a:endParaRPr lang="en-AU" dirty="0"/>
          </a:p>
        </p:txBody>
      </p:sp>
      <p:sp>
        <p:nvSpPr>
          <p:cNvPr id="3" name="Content Placeholder 2"/>
          <p:cNvSpPr>
            <a:spLocks noGrp="1"/>
          </p:cNvSpPr>
          <p:nvPr>
            <p:ph idx="1"/>
          </p:nvPr>
        </p:nvSpPr>
        <p:spPr/>
        <p:txBody>
          <a:bodyPr/>
          <a:lstStyle/>
          <a:p>
            <a:r>
              <a:rPr lang="en-AU" dirty="0">
                <a:hlinkClick r:id="rId2"/>
              </a:rPr>
              <a:t>https://</a:t>
            </a:r>
            <a:r>
              <a:rPr lang="en-AU" dirty="0" smtClean="0">
                <a:hlinkClick r:id="rId2"/>
              </a:rPr>
              <a:t>civilwar.mrdonn.org/powerpoints.html</a:t>
            </a:r>
            <a:endParaRPr lang="en-AU" dirty="0" smtClean="0"/>
          </a:p>
          <a:p>
            <a:r>
              <a:rPr lang="en-AU" dirty="0">
                <a:hlinkClick r:id="rId3"/>
              </a:rPr>
              <a:t>https://</a:t>
            </a:r>
            <a:r>
              <a:rPr lang="en-AU" dirty="0" smtClean="0">
                <a:hlinkClick r:id="rId3"/>
              </a:rPr>
              <a:t>en.wikipedia.org/wiki/History_of_the_United_States</a:t>
            </a:r>
            <a:endParaRPr lang="en-AU" dirty="0" smtClean="0"/>
          </a:p>
          <a:p>
            <a:endParaRPr lang="en-AU" dirty="0" smtClean="0"/>
          </a:p>
          <a:p>
            <a:endParaRPr lang="en-AU" dirty="0"/>
          </a:p>
        </p:txBody>
      </p:sp>
    </p:spTree>
    <p:extLst>
      <p:ext uri="{BB962C8B-B14F-4D97-AF65-F5344CB8AC3E}">
        <p14:creationId xmlns:p14="http://schemas.microsoft.com/office/powerpoint/2010/main" val="1895400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60</TotalTime>
  <Words>344</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Century Gothic</vt:lpstr>
      <vt:lpstr>Times New Roman</vt:lpstr>
      <vt:lpstr>Wingdings</vt:lpstr>
      <vt:lpstr>Wingdings 3</vt:lpstr>
      <vt:lpstr>Wrangler</vt:lpstr>
      <vt:lpstr>Ion</vt:lpstr>
      <vt:lpstr>The American  Civil War</vt:lpstr>
      <vt:lpstr>Brief Background…. Very brief!!</vt:lpstr>
      <vt:lpstr>The United States, immediately before the Civil War. All of the lands east of, or bordering, the Mississippi River were organized as states in the Union, but the West was still largely unsettled.</vt:lpstr>
      <vt:lpstr>Southern States and secession.   Fort Sumter was the3 first battle of the Civil War in 1861. </vt:lpstr>
      <vt:lpstr>PowerPoint Presentation</vt:lpstr>
      <vt:lpstr>1860 Presidential Election</vt:lpstr>
      <vt:lpstr>PowerPoint Presentation</vt:lpstr>
      <vt:lpstr>Go to Civil War ppt….. </vt:lpstr>
      <vt:lpstr>References:</vt:lpstr>
    </vt:vector>
  </TitlesOfParts>
  <Company>Great Southern Grammar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American  Civil War</dc:title>
  <dc:creator>Meredith Wright</dc:creator>
  <cp:lastModifiedBy>HAWKES Natasha [Narrogin Senior High School]</cp:lastModifiedBy>
  <cp:revision>12</cp:revision>
  <dcterms:created xsi:type="dcterms:W3CDTF">2019-01-08T03:26:50Z</dcterms:created>
  <dcterms:modified xsi:type="dcterms:W3CDTF">2019-01-30T04:01:52Z</dcterms:modified>
</cp:coreProperties>
</file>
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09"/>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50" r:id="rId16"/>
    <p:sldId id="270" r:id="rId17"/>
    <p:sldId id="271" r:id="rId18"/>
    <p:sldId id="272" r:id="rId19"/>
    <p:sldId id="273" r:id="rId20"/>
    <p:sldId id="274" r:id="rId21"/>
    <p:sldId id="275" r:id="rId22"/>
    <p:sldId id="276" r:id="rId23"/>
    <p:sldId id="277" r:id="rId24"/>
    <p:sldId id="278" r:id="rId25"/>
    <p:sldId id="351"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352" r:id="rId41"/>
    <p:sldId id="353" r:id="rId42"/>
    <p:sldId id="354" r:id="rId43"/>
    <p:sldId id="355"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56" r:id="rId73"/>
    <p:sldId id="357" r:id="rId74"/>
    <p:sldId id="358" r:id="rId75"/>
    <p:sldId id="321" r:id="rId76"/>
    <p:sldId id="322" r:id="rId77"/>
    <p:sldId id="323" r:id="rId78"/>
    <p:sldId id="324" r:id="rId79"/>
    <p:sldId id="325" r:id="rId80"/>
    <p:sldId id="359" r:id="rId81"/>
    <p:sldId id="360" r:id="rId82"/>
    <p:sldId id="326" r:id="rId83"/>
    <p:sldId id="328"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4" r:id="rId97"/>
    <p:sldId id="361" r:id="rId98"/>
    <p:sldId id="342" r:id="rId99"/>
    <p:sldId id="343" r:id="rId100"/>
    <p:sldId id="345" r:id="rId101"/>
    <p:sldId id="346" r:id="rId102"/>
    <p:sldId id="347" r:id="rId103"/>
    <p:sldId id="348" r:id="rId104"/>
    <p:sldId id="349" r:id="rId105"/>
    <p:sldId id="362" r:id="rId106"/>
    <p:sldId id="363" r:id="rId107"/>
    <p:sldId id="364" r:id="rId108"/>
  </p:sldIdLst>
  <p:sldSz cx="9144000" cy="6858000" type="screen4x3"/>
  <p:notesSz cx="6669088" cy="975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978" y="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handoutMaster" Target="handoutMasters/handout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8768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77607" y="0"/>
            <a:ext cx="2889938" cy="487680"/>
          </a:xfrm>
          <a:prstGeom prst="rect">
            <a:avLst/>
          </a:prstGeom>
        </p:spPr>
        <p:txBody>
          <a:bodyPr vert="horz" lIns="91440" tIns="45720" rIns="91440" bIns="45720" rtlCol="0"/>
          <a:lstStyle>
            <a:lvl1pPr algn="r">
              <a:defRPr sz="1200"/>
            </a:lvl1pPr>
          </a:lstStyle>
          <a:p>
            <a:fld id="{8B70323E-C6AC-4C8A-8E8F-B71332B3C959}" type="datetimeFigureOut">
              <a:rPr lang="en-GB" smtClean="0"/>
              <a:pPr/>
              <a:t>24/06/2013</a:t>
            </a:fld>
            <a:endParaRPr lang="en-GB"/>
          </a:p>
        </p:txBody>
      </p:sp>
      <p:sp>
        <p:nvSpPr>
          <p:cNvPr id="4" name="Footer Placeholder 3"/>
          <p:cNvSpPr>
            <a:spLocks noGrp="1"/>
          </p:cNvSpPr>
          <p:nvPr>
            <p:ph type="ftr" sz="quarter" idx="2"/>
          </p:nvPr>
        </p:nvSpPr>
        <p:spPr>
          <a:xfrm>
            <a:off x="0" y="9264227"/>
            <a:ext cx="2889938" cy="48768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77607" y="9264227"/>
            <a:ext cx="2889938" cy="487680"/>
          </a:xfrm>
          <a:prstGeom prst="rect">
            <a:avLst/>
          </a:prstGeom>
        </p:spPr>
        <p:txBody>
          <a:bodyPr vert="horz" lIns="91440" tIns="45720" rIns="91440" bIns="45720" rtlCol="0" anchor="b"/>
          <a:lstStyle>
            <a:lvl1pPr algn="r">
              <a:defRPr sz="1200"/>
            </a:lvl1pPr>
          </a:lstStyle>
          <a:p>
            <a:fld id="{2BC64750-3B09-4213-AAA0-26F92E897411}" type="slidenum">
              <a:rPr lang="en-GB" smtClean="0"/>
              <a:pPr/>
              <a:t>‹#›</a:t>
            </a:fld>
            <a:endParaRPr lang="en-GB"/>
          </a:p>
        </p:txBody>
      </p:sp>
    </p:spTree>
    <p:extLst>
      <p:ext uri="{BB962C8B-B14F-4D97-AF65-F5344CB8AC3E}">
        <p14:creationId xmlns:p14="http://schemas.microsoft.com/office/powerpoint/2010/main" val="4158248173"/>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CEE6E91D-FFB5-4C8E-A0C6-76FCCD14BC9B}" type="datetimeFigureOut">
              <a:rPr lang="en-GB" smtClean="0"/>
              <a:pPr/>
              <a:t>24/06/2013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7DA9F3-8B4F-4206-813E-7585714272F7}"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EE6E91D-FFB5-4C8E-A0C6-76FCCD14BC9B}" type="datetimeFigureOut">
              <a:rPr lang="en-GB" smtClean="0"/>
              <a:pPr/>
              <a:t>24/06/2013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7DA9F3-8B4F-4206-813E-7585714272F7}"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EE6E91D-FFB5-4C8E-A0C6-76FCCD14BC9B}" type="datetimeFigureOut">
              <a:rPr lang="en-GB" smtClean="0"/>
              <a:pPr/>
              <a:t>24/06/2013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7DA9F3-8B4F-4206-813E-7585714272F7}"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CEE6E91D-FFB5-4C8E-A0C6-76FCCD14BC9B}" type="datetimeFigureOut">
              <a:rPr lang="en-GB" smtClean="0"/>
              <a:pPr/>
              <a:t>24/06/2013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E7DA9F3-8B4F-4206-813E-7585714272F7}"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CEE6E91D-FFB5-4C8E-A0C6-76FCCD14BC9B}" type="datetimeFigureOut">
              <a:rPr lang="en-GB" smtClean="0"/>
              <a:pPr/>
              <a:t>24/06/2013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E7DA9F3-8B4F-4206-813E-7585714272F7}"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CEE6E91D-FFB5-4C8E-A0C6-76FCCD14BC9B}" type="datetimeFigureOut">
              <a:rPr lang="en-GB" smtClean="0"/>
              <a:pPr/>
              <a:t>24/06/2013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E7DA9F3-8B4F-4206-813E-7585714272F7}"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E6E91D-FFB5-4C8E-A0C6-76FCCD14BC9B}" type="datetimeFigureOut">
              <a:rPr lang="en-GB" smtClean="0"/>
              <a:pPr/>
              <a:t>24/06/2013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E7DA9F3-8B4F-4206-813E-7585714272F7}"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E6E91D-FFB5-4C8E-A0C6-76FCCD14BC9B}" type="datetimeFigureOut">
              <a:rPr lang="en-GB" smtClean="0"/>
              <a:pPr/>
              <a:t>24/06/2013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E7DA9F3-8B4F-4206-813E-7585714272F7}"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E6E91D-FFB5-4C8E-A0C6-76FCCD14BC9B}" type="datetimeFigureOut">
              <a:rPr lang="en-GB" smtClean="0"/>
              <a:pPr/>
              <a:t>24/06/2013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E7DA9F3-8B4F-4206-813E-7585714272F7}"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EE6E91D-FFB5-4C8E-A0C6-76FCCD14BC9B}" type="datetimeFigureOut">
              <a:rPr lang="en-GB" smtClean="0"/>
              <a:pPr/>
              <a:t>24/06/2013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7DA9F3-8B4F-4206-813E-7585714272F7}"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EE6E91D-FFB5-4C8E-A0C6-76FCCD14BC9B}" type="datetimeFigureOut">
              <a:rPr lang="en-GB" smtClean="0"/>
              <a:pPr/>
              <a:t>24/06/2013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7DA9F3-8B4F-4206-813E-7585714272F7}"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E6E91D-FFB5-4C8E-A0C6-76FCCD14BC9B}" type="datetimeFigureOut">
              <a:rPr lang="en-GB" smtClean="0"/>
              <a:pPr/>
              <a:t>24/06/2013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7DA9F3-8B4F-4206-813E-7585714272F7}"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1.  The Problems of the Weimar Republic 1918-1923</a:t>
            </a:r>
            <a:endParaRPr lang="en-GB" dirty="0"/>
          </a:p>
        </p:txBody>
      </p:sp>
      <p:sp>
        <p:nvSpPr>
          <p:cNvPr id="3" name="Subtitle 2"/>
          <p:cNvSpPr>
            <a:spLocks noGrp="1"/>
          </p:cNvSpPr>
          <p:nvPr>
            <p:ph type="subTitle" idx="1"/>
          </p:nvPr>
        </p:nvSpPr>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  a) The Armistice</a:t>
            </a:r>
            <a:endParaRPr lang="en-GB" dirty="0"/>
          </a:p>
        </p:txBody>
      </p:sp>
      <p:sp>
        <p:nvSpPr>
          <p:cNvPr id="3" name="Content Placeholder 2"/>
          <p:cNvSpPr>
            <a:spLocks noGrp="1"/>
          </p:cNvSpPr>
          <p:nvPr>
            <p:ph idx="1"/>
          </p:nvPr>
        </p:nvSpPr>
        <p:spPr/>
        <p:txBody>
          <a:bodyPr/>
          <a:lstStyle/>
          <a:p>
            <a:r>
              <a:rPr lang="en-GB" dirty="0" smtClean="0"/>
              <a:t>Signed 11 </a:t>
            </a:r>
            <a:r>
              <a:rPr lang="en-GB" dirty="0"/>
              <a:t>N</a:t>
            </a:r>
            <a:r>
              <a:rPr lang="en-GB" dirty="0" smtClean="0"/>
              <a:t>ovember 1918 (peace agreement)</a:t>
            </a:r>
          </a:p>
          <a:p>
            <a:r>
              <a:rPr lang="en-GB" dirty="0" smtClean="0"/>
              <a:t>Germans felt that they had been forced to surrender by the new Government who had taken over after the Kaiser had abdicated</a:t>
            </a:r>
          </a:p>
          <a:p>
            <a:r>
              <a:rPr lang="en-GB" dirty="0" smtClean="0"/>
              <a:t>These politicians became known as “the November Criminals” who stabbed Germany in the back</a:t>
            </a: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1.  b) The new constitution had weaknesses</a:t>
            </a:r>
            <a:endParaRPr lang="en-GB" dirty="0"/>
          </a:p>
        </p:txBody>
      </p:sp>
      <p:sp>
        <p:nvSpPr>
          <p:cNvPr id="3" name="Content Placeholder 2"/>
          <p:cNvSpPr>
            <a:spLocks noGrp="1"/>
          </p:cNvSpPr>
          <p:nvPr>
            <p:ph idx="1"/>
          </p:nvPr>
        </p:nvSpPr>
        <p:spPr>
          <a:xfrm>
            <a:off x="0" y="1484784"/>
            <a:ext cx="9144000" cy="5373216"/>
          </a:xfrm>
        </p:spPr>
        <p:txBody>
          <a:bodyPr>
            <a:normAutofit/>
          </a:bodyPr>
          <a:lstStyle/>
          <a:p>
            <a:r>
              <a:rPr lang="en-GB" dirty="0" smtClean="0"/>
              <a:t>Proportional representation meant no single party won a majority of seats which meant the country was ruled by weak coalitions which always broke down meaning there were always new elections</a:t>
            </a:r>
          </a:p>
          <a:p>
            <a:pPr>
              <a:buFontTx/>
              <a:buChar char="-"/>
            </a:pPr>
            <a:r>
              <a:rPr lang="en-GB" dirty="0" smtClean="0"/>
              <a:t>1923-30 there were 10 coalition Governments</a:t>
            </a:r>
          </a:p>
          <a:p>
            <a:r>
              <a:rPr lang="en-GB" dirty="0" smtClean="0"/>
              <a:t>Article 48 meant the President could rule without Parliament in an emergency (this happened in 1930 after the Wall Street Crash)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 C)  Unrest in Germany 1918-23</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t>The new Government was unpopular with the public who felt they had surrendered after WW1 and had a weak constitution</a:t>
            </a:r>
          </a:p>
          <a:p>
            <a:r>
              <a:rPr lang="en-GB" dirty="0" smtClean="0"/>
              <a:t>Weimar was hated by Communists (</a:t>
            </a:r>
            <a:r>
              <a:rPr lang="en-GB" dirty="0" err="1" smtClean="0"/>
              <a:t>Spartacist</a:t>
            </a:r>
            <a:r>
              <a:rPr lang="en-GB" dirty="0" smtClean="0"/>
              <a:t> Rising 1919 ) and they staged an uprising in 1919</a:t>
            </a:r>
          </a:p>
          <a:p>
            <a:r>
              <a:rPr lang="en-GB" dirty="0" smtClean="0"/>
              <a:t>The army hated Weimar and in 1920 right wing extremists staged an uprising in the </a:t>
            </a:r>
            <a:r>
              <a:rPr lang="en-GB" dirty="0" err="1" smtClean="0"/>
              <a:t>Kapp</a:t>
            </a:r>
            <a:r>
              <a:rPr lang="en-GB" dirty="0" smtClean="0"/>
              <a:t> Putsch.  The army did not support the Government</a:t>
            </a:r>
          </a:p>
          <a:p>
            <a:r>
              <a:rPr lang="en-GB" dirty="0" smtClean="0"/>
              <a:t>In 1923 Hitler tried to overthrow the Government in the Munich Putsch</a:t>
            </a: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764704"/>
          </a:xfrm>
        </p:spPr>
        <p:txBody>
          <a:bodyPr/>
          <a:lstStyle/>
          <a:p>
            <a:r>
              <a:rPr lang="en-GB" dirty="0" smtClean="0"/>
              <a:t>1.  d)  The Treaty of Versailles</a:t>
            </a:r>
            <a:endParaRPr lang="en-GB" dirty="0"/>
          </a:p>
        </p:txBody>
      </p:sp>
      <p:sp>
        <p:nvSpPr>
          <p:cNvPr id="3" name="Content Placeholder 2"/>
          <p:cNvSpPr>
            <a:spLocks noGrp="1"/>
          </p:cNvSpPr>
          <p:nvPr>
            <p:ph idx="1"/>
          </p:nvPr>
        </p:nvSpPr>
        <p:spPr>
          <a:xfrm>
            <a:off x="0" y="836712"/>
            <a:ext cx="9144000" cy="6021288"/>
          </a:xfrm>
        </p:spPr>
        <p:txBody>
          <a:bodyPr>
            <a:normAutofit fontScale="85000" lnSpcReduction="10000"/>
          </a:bodyPr>
          <a:lstStyle/>
          <a:p>
            <a:r>
              <a:rPr lang="en-GB" dirty="0" smtClean="0"/>
              <a:t>Signed 28 June 1919</a:t>
            </a:r>
          </a:p>
          <a:p>
            <a:r>
              <a:rPr lang="en-GB" dirty="0" smtClean="0"/>
              <a:t>Conditions horrified Germans.  The claimed it was a “diktat” – a forced peace</a:t>
            </a:r>
          </a:p>
          <a:p>
            <a:pPr marL="514350" indent="-514350">
              <a:buFont typeface="+mj-lt"/>
              <a:buAutoNum type="arabicPeriod"/>
            </a:pPr>
            <a:r>
              <a:rPr lang="en-GB" dirty="0" smtClean="0"/>
              <a:t>Germany lost 13% of it’s land, 48% of it’s iron production</a:t>
            </a:r>
          </a:p>
          <a:p>
            <a:pPr marL="514350" indent="-514350">
              <a:buFont typeface="+mj-lt"/>
              <a:buAutoNum type="arabicPeriod"/>
            </a:pPr>
            <a:r>
              <a:rPr lang="en-GB" dirty="0" smtClean="0"/>
              <a:t>Article 231 the War Guilt Clause.  Germany had to accept full guilt for WW1</a:t>
            </a:r>
          </a:p>
          <a:p>
            <a:pPr marL="514350" indent="-514350">
              <a:buFont typeface="+mj-lt"/>
              <a:buAutoNum type="arabicPeriod"/>
            </a:pPr>
            <a:r>
              <a:rPr lang="en-GB" dirty="0" smtClean="0"/>
              <a:t>Reparation repayments of 6.6 billion </a:t>
            </a:r>
          </a:p>
          <a:p>
            <a:pPr marL="514350" indent="-514350">
              <a:buFont typeface="+mj-lt"/>
              <a:buAutoNum type="arabicPeriod"/>
            </a:pPr>
            <a:r>
              <a:rPr lang="en-GB" dirty="0" smtClean="0"/>
              <a:t>They were not allowed to be a part of the League of Nations</a:t>
            </a:r>
          </a:p>
          <a:p>
            <a:pPr marL="514350" indent="-514350">
              <a:buFont typeface="+mj-lt"/>
              <a:buAutoNum type="arabicPeriod"/>
            </a:pPr>
            <a:r>
              <a:rPr lang="en-GB" dirty="0" smtClean="0"/>
              <a:t>Their army was restricted to 100,000 and was not allowed in the Rhineland (the area of Germany closest to France)</a:t>
            </a:r>
          </a:p>
          <a:p>
            <a:r>
              <a:rPr lang="en-GB" i="1" u="sng" dirty="0" smtClean="0"/>
              <a:t>Germany at first rejected the terms but had to accept or go back into war.  They called the terms </a:t>
            </a:r>
            <a:r>
              <a:rPr lang="en-GB" i="1" u="sng" dirty="0" err="1" smtClean="0"/>
              <a:t>Gewaltfrieden</a:t>
            </a:r>
            <a:r>
              <a:rPr lang="en-GB" i="1" u="sng" dirty="0" smtClean="0"/>
              <a:t> (enforced peace) and the Chancellor resigned</a:t>
            </a:r>
            <a:endParaRPr lang="en-GB" i="1" u="sng"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  e)  Economic instability</a:t>
            </a:r>
            <a:endParaRPr lang="en-GB" dirty="0"/>
          </a:p>
        </p:txBody>
      </p:sp>
      <p:sp>
        <p:nvSpPr>
          <p:cNvPr id="3" name="Content Placeholder 2"/>
          <p:cNvSpPr>
            <a:spLocks noGrp="1"/>
          </p:cNvSpPr>
          <p:nvPr>
            <p:ph idx="1"/>
          </p:nvPr>
        </p:nvSpPr>
        <p:spPr>
          <a:xfrm>
            <a:off x="0" y="1600200"/>
            <a:ext cx="8686800" cy="5257800"/>
          </a:xfrm>
        </p:spPr>
        <p:txBody>
          <a:bodyPr>
            <a:normAutofit/>
          </a:bodyPr>
          <a:lstStyle/>
          <a:p>
            <a:r>
              <a:rPr lang="en-GB" dirty="0" smtClean="0"/>
              <a:t>Germany could not pay the reparation repayments so French and Belgian forces occupied the industrial area of the Ruhr</a:t>
            </a:r>
          </a:p>
          <a:p>
            <a:r>
              <a:rPr lang="en-GB" dirty="0" smtClean="0"/>
              <a:t>This led to inflation which meant the Government had to print more money which made it worthless</a:t>
            </a:r>
          </a:p>
          <a:p>
            <a:r>
              <a:rPr lang="en-GB" dirty="0" smtClean="0"/>
              <a:t>This led to hyperinflation which reached it’s height in 1923 and was a humiliation for the Government</a:t>
            </a:r>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2.  Period of recovery 1923-29</a:t>
            </a:r>
            <a:endParaRPr lang="en-GB" dirty="0"/>
          </a:p>
        </p:txBody>
      </p:sp>
      <p:sp>
        <p:nvSpPr>
          <p:cNvPr id="3" name="Content Placeholder 2"/>
          <p:cNvSpPr>
            <a:spLocks noGrp="1"/>
          </p:cNvSpPr>
          <p:nvPr>
            <p:ph idx="1"/>
          </p:nvPr>
        </p:nvSpPr>
        <p:spPr/>
        <p:txBody>
          <a:bodyPr/>
          <a:lstStyle/>
          <a:p>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2. a)  Economic recovery</a:t>
            </a:r>
            <a:endParaRPr lang="en-GB" dirty="0"/>
          </a:p>
        </p:txBody>
      </p:sp>
      <p:sp>
        <p:nvSpPr>
          <p:cNvPr id="3" name="Content Placeholder 2"/>
          <p:cNvSpPr>
            <a:spLocks noGrp="1"/>
          </p:cNvSpPr>
          <p:nvPr>
            <p:ph idx="1"/>
          </p:nvPr>
        </p:nvSpPr>
        <p:spPr/>
        <p:txBody>
          <a:bodyPr>
            <a:normAutofit lnSpcReduction="10000"/>
          </a:bodyPr>
          <a:lstStyle/>
          <a:p>
            <a:r>
              <a:rPr lang="en-GB" dirty="0" smtClean="0"/>
              <a:t>1923 Gustav Stresemann became Chancellor</a:t>
            </a:r>
          </a:p>
          <a:p>
            <a:r>
              <a:rPr lang="en-GB" dirty="0" smtClean="0"/>
              <a:t>He introduced a new currency called the </a:t>
            </a:r>
            <a:r>
              <a:rPr lang="en-GB" dirty="0" err="1" smtClean="0"/>
              <a:t>Rentenmark</a:t>
            </a:r>
            <a:r>
              <a:rPr lang="en-GB" dirty="0" smtClean="0"/>
              <a:t> which later became the </a:t>
            </a:r>
            <a:r>
              <a:rPr lang="en-GB" dirty="0" err="1" smtClean="0"/>
              <a:t>Reichsmark</a:t>
            </a:r>
            <a:endParaRPr lang="en-GB" dirty="0" smtClean="0"/>
          </a:p>
          <a:p>
            <a:r>
              <a:rPr lang="en-GB" dirty="0" smtClean="0"/>
              <a:t>The USA lent Germany money under the Dawes plan in 1924</a:t>
            </a:r>
          </a:p>
          <a:p>
            <a:r>
              <a:rPr lang="en-GB" dirty="0" smtClean="0"/>
              <a:t>1929 Young Plan reduced the reparation repayments by ¾ and lengthened the time Germany had to pay it by 59 years</a:t>
            </a:r>
          </a:p>
          <a:p>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2.  b)  </a:t>
            </a:r>
            <a:r>
              <a:rPr lang="en-GB" dirty="0" err="1" smtClean="0"/>
              <a:t>Stresseman’s</a:t>
            </a:r>
            <a:r>
              <a:rPr lang="en-GB" dirty="0" smtClean="0"/>
              <a:t> foreign Policy success</a:t>
            </a:r>
            <a:endParaRPr lang="en-GB" dirty="0"/>
          </a:p>
        </p:txBody>
      </p:sp>
      <p:sp>
        <p:nvSpPr>
          <p:cNvPr id="3" name="Content Placeholder 2"/>
          <p:cNvSpPr>
            <a:spLocks noGrp="1"/>
          </p:cNvSpPr>
          <p:nvPr>
            <p:ph idx="1"/>
          </p:nvPr>
        </p:nvSpPr>
        <p:spPr/>
        <p:txBody>
          <a:bodyPr/>
          <a:lstStyle/>
          <a:p>
            <a:r>
              <a:rPr lang="en-GB" dirty="0" smtClean="0"/>
              <a:t>Germany was allowed to join the League of Nations showing trust from foreign powers</a:t>
            </a:r>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2.  c)  Stresemann’s political success</a:t>
            </a:r>
            <a:endParaRPr lang="en-GB" dirty="0"/>
          </a:p>
        </p:txBody>
      </p:sp>
      <p:sp>
        <p:nvSpPr>
          <p:cNvPr id="3" name="Content Placeholder 2"/>
          <p:cNvSpPr>
            <a:spLocks noGrp="1"/>
          </p:cNvSpPr>
          <p:nvPr>
            <p:ph idx="1"/>
          </p:nvPr>
        </p:nvSpPr>
        <p:spPr/>
        <p:txBody>
          <a:bodyPr/>
          <a:lstStyle/>
          <a:p>
            <a:r>
              <a:rPr lang="en-GB" dirty="0" smtClean="0"/>
              <a:t>A strong coalition was formed in 1928 which led to a more stable Government</a:t>
            </a:r>
          </a:p>
          <a:p>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3.  How the Nazi Party developed 1920-23</a:t>
            </a:r>
            <a:endParaRPr lang="en-GB" dirty="0"/>
          </a:p>
        </p:txBody>
      </p:sp>
      <p:sp>
        <p:nvSpPr>
          <p:cNvPr id="3" name="Content Placeholder 2"/>
          <p:cNvSpPr>
            <a:spLocks noGrp="1"/>
          </p:cNvSpPr>
          <p:nvPr>
            <p:ph idx="1"/>
          </p:nvPr>
        </p:nvSpPr>
        <p:spPr/>
        <p:txBody>
          <a:bodyPr/>
          <a:lstStyle/>
          <a:p>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3. a) 1919</a:t>
            </a:r>
            <a:endParaRPr lang="en-GB" dirty="0"/>
          </a:p>
        </p:txBody>
      </p:sp>
      <p:sp>
        <p:nvSpPr>
          <p:cNvPr id="3" name="Content Placeholder 2"/>
          <p:cNvSpPr>
            <a:spLocks noGrp="1"/>
          </p:cNvSpPr>
          <p:nvPr>
            <p:ph idx="1"/>
          </p:nvPr>
        </p:nvSpPr>
        <p:spPr/>
        <p:txBody>
          <a:bodyPr/>
          <a:lstStyle/>
          <a:p>
            <a:r>
              <a:rPr lang="en-GB" dirty="0" smtClean="0"/>
              <a:t>Anton Drexler formed the German Workers Party</a:t>
            </a:r>
          </a:p>
          <a:p>
            <a:r>
              <a:rPr lang="en-GB" dirty="0" smtClean="0"/>
              <a:t>It was very right wing and nationalistic</a:t>
            </a:r>
          </a:p>
          <a:p>
            <a:r>
              <a:rPr lang="en-GB" dirty="0" smtClean="0"/>
              <a:t>While working for the army as a spy Hitler was recruited by Drexler as he was so good at public speaking</a:t>
            </a:r>
          </a:p>
          <a:p>
            <a:r>
              <a:rPr lang="en-GB" dirty="0" smtClean="0"/>
              <a:t>He was made responsible for propaganda and recruitment within the Party</a:t>
            </a:r>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3.  B)  1920</a:t>
            </a:r>
            <a:endParaRPr lang="en-GB" dirty="0"/>
          </a:p>
        </p:txBody>
      </p:sp>
      <p:sp>
        <p:nvSpPr>
          <p:cNvPr id="3" name="Content Placeholder 2"/>
          <p:cNvSpPr>
            <a:spLocks noGrp="1"/>
          </p:cNvSpPr>
          <p:nvPr>
            <p:ph idx="1"/>
          </p:nvPr>
        </p:nvSpPr>
        <p:spPr>
          <a:xfrm>
            <a:off x="0" y="1600200"/>
            <a:ext cx="8686800" cy="5257800"/>
          </a:xfrm>
        </p:spPr>
        <p:txBody>
          <a:bodyPr>
            <a:normAutofit fontScale="92500" lnSpcReduction="20000"/>
          </a:bodyPr>
          <a:lstStyle/>
          <a:p>
            <a:r>
              <a:rPr lang="en-GB" dirty="0" smtClean="0"/>
              <a:t>February Hitler and Drexler drew up a manifesto of party ideas “ the 25 point plan” – Hitler kept to these ideas for most of his life</a:t>
            </a:r>
          </a:p>
          <a:p>
            <a:pPr>
              <a:buNone/>
            </a:pPr>
            <a:r>
              <a:rPr lang="en-GB" dirty="0" smtClean="0"/>
              <a:t>- Hate of the Treaty of Versailles, hate of the November Criminals, hate of the “Stab in the back” and the Armistice, hate of Communists and Jews and hate of Weimar</a:t>
            </a:r>
          </a:p>
          <a:p>
            <a:r>
              <a:rPr lang="en-GB" dirty="0" smtClean="0"/>
              <a:t>The party changed it’s name to the National Socialist German worker’s Party (Nazi for short)</a:t>
            </a:r>
          </a:p>
          <a:p>
            <a:r>
              <a:rPr lang="en-GB" dirty="0" smtClean="0"/>
              <a:t>The membership grew due to Hitler’s public speeches</a:t>
            </a:r>
          </a:p>
          <a:p>
            <a:r>
              <a:rPr lang="en-GB" dirty="0" smtClean="0"/>
              <a:t>They published their own newspaper – the </a:t>
            </a:r>
            <a:r>
              <a:rPr lang="en-GB" dirty="0" err="1" smtClean="0"/>
              <a:t>Volkisher</a:t>
            </a:r>
            <a:r>
              <a:rPr lang="en-GB" dirty="0" smtClean="0"/>
              <a:t> </a:t>
            </a:r>
            <a:r>
              <a:rPr lang="en-GB" dirty="0" err="1" smtClean="0"/>
              <a:t>Beobachter</a:t>
            </a:r>
            <a:r>
              <a:rPr lang="en-GB" dirty="0" smtClean="0"/>
              <a:t> (People’s Observer)</a:t>
            </a:r>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3.  c)  1921</a:t>
            </a:r>
            <a:endParaRPr lang="en-GB" dirty="0"/>
          </a:p>
        </p:txBody>
      </p:sp>
      <p:sp>
        <p:nvSpPr>
          <p:cNvPr id="3" name="Content Placeholder 2"/>
          <p:cNvSpPr>
            <a:spLocks noGrp="1"/>
          </p:cNvSpPr>
          <p:nvPr>
            <p:ph idx="1"/>
          </p:nvPr>
        </p:nvSpPr>
        <p:spPr/>
        <p:txBody>
          <a:bodyPr/>
          <a:lstStyle/>
          <a:p>
            <a:r>
              <a:rPr lang="en-GB" dirty="0" smtClean="0"/>
              <a:t>Hitler became leader</a:t>
            </a:r>
          </a:p>
          <a:p>
            <a:r>
              <a:rPr lang="en-GB" dirty="0" smtClean="0"/>
              <a:t>He gave himself the title “Fuhrer” which meant he would have absolute power in the party</a:t>
            </a:r>
          </a:p>
          <a:p>
            <a:pPr>
              <a:buNone/>
            </a:pPr>
            <a:r>
              <a:rPr lang="en-GB" dirty="0" smtClean="0"/>
              <a:t>- 	This became known as the “</a:t>
            </a:r>
            <a:r>
              <a:rPr lang="en-GB" dirty="0" err="1" smtClean="0"/>
              <a:t>fuhrerprinzip</a:t>
            </a:r>
            <a:r>
              <a:rPr lang="en-GB" dirty="0" smtClean="0"/>
              <a:t>” this is how Hitler chose to lead Germany when he became Chancellor in 1933</a:t>
            </a:r>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3d 1921 the SA</a:t>
            </a:r>
            <a:endParaRPr lang="en-GB" dirty="0"/>
          </a:p>
        </p:txBody>
      </p:sp>
      <p:sp>
        <p:nvSpPr>
          <p:cNvPr id="3" name="Content Placeholder 2"/>
          <p:cNvSpPr>
            <a:spLocks noGrp="1"/>
          </p:cNvSpPr>
          <p:nvPr>
            <p:ph idx="1"/>
          </p:nvPr>
        </p:nvSpPr>
        <p:spPr/>
        <p:txBody>
          <a:bodyPr/>
          <a:lstStyle/>
          <a:p>
            <a:r>
              <a:rPr lang="en-GB" dirty="0" smtClean="0"/>
              <a:t>1921 He introduced the </a:t>
            </a:r>
            <a:r>
              <a:rPr lang="en-GB" dirty="0" err="1" smtClean="0"/>
              <a:t>Sturmabteilung</a:t>
            </a:r>
            <a:r>
              <a:rPr lang="en-GB" dirty="0" smtClean="0"/>
              <a:t> (the SA) to protect Nazi speakers led by Ernst Rohm</a:t>
            </a:r>
          </a:p>
          <a:p>
            <a:pPr>
              <a:buNone/>
            </a:pPr>
            <a:r>
              <a:rPr lang="en-GB" dirty="0" smtClean="0"/>
              <a:t>- 	Became known as the “brown shirts due to the colour of their uniform”</a:t>
            </a:r>
          </a:p>
          <a:p>
            <a:pPr>
              <a:buNone/>
            </a:pPr>
            <a:r>
              <a:rPr lang="en-GB" dirty="0" smtClean="0"/>
              <a:t>-	Disrupted meetings of Social Democrat and Communist meetings</a:t>
            </a:r>
          </a:p>
          <a:p>
            <a:r>
              <a:rPr lang="en-GB" dirty="0" smtClean="0"/>
              <a:t>Membership grew from 1100 in 1920 to 55,000 in 1923.  </a:t>
            </a:r>
          </a:p>
          <a:p>
            <a:pPr>
              <a:buNone/>
            </a:pPr>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3. e)  1921-23  </a:t>
            </a:r>
            <a:endParaRPr lang="en-GB" dirty="0"/>
          </a:p>
        </p:txBody>
      </p:sp>
      <p:sp>
        <p:nvSpPr>
          <p:cNvPr id="3" name="Content Placeholder 2"/>
          <p:cNvSpPr>
            <a:spLocks noGrp="1"/>
          </p:cNvSpPr>
          <p:nvPr>
            <p:ph idx="1"/>
          </p:nvPr>
        </p:nvSpPr>
        <p:spPr>
          <a:xfrm>
            <a:off x="0" y="1484784"/>
            <a:ext cx="9144000" cy="5373216"/>
          </a:xfrm>
        </p:spPr>
        <p:txBody>
          <a:bodyPr>
            <a:normAutofit/>
          </a:bodyPr>
          <a:lstStyle/>
          <a:p>
            <a:r>
              <a:rPr lang="en-GB" dirty="0" smtClean="0"/>
              <a:t>The swastika was created and the use of the raised arm salute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4.  The Consequences of the Munich Putsch</a:t>
            </a:r>
            <a:endParaRPr lang="en-GB" dirty="0"/>
          </a:p>
        </p:txBody>
      </p:sp>
      <p:sp>
        <p:nvSpPr>
          <p:cNvPr id="3" name="Content Placeholder 2"/>
          <p:cNvSpPr>
            <a:spLocks noGrp="1"/>
          </p:cNvSpPr>
          <p:nvPr>
            <p:ph idx="1"/>
          </p:nvPr>
        </p:nvSpPr>
        <p:spPr/>
        <p:txBody>
          <a:bodyPr/>
          <a:lstStyle/>
          <a:p>
            <a:endParaRPr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4. a)  reasons for the Munich Putsch November 1923</a:t>
            </a:r>
            <a:endParaRPr lang="en-GB" dirty="0"/>
          </a:p>
        </p:txBody>
      </p:sp>
      <p:sp>
        <p:nvSpPr>
          <p:cNvPr id="3" name="Content Placeholder 2"/>
          <p:cNvSpPr>
            <a:spLocks noGrp="1"/>
          </p:cNvSpPr>
          <p:nvPr>
            <p:ph idx="1"/>
          </p:nvPr>
        </p:nvSpPr>
        <p:spPr/>
        <p:txBody>
          <a:bodyPr>
            <a:normAutofit fontScale="85000" lnSpcReduction="20000"/>
          </a:bodyPr>
          <a:lstStyle/>
          <a:p>
            <a:pPr marL="514350" indent="-514350">
              <a:buAutoNum type="arabicPeriod"/>
            </a:pPr>
            <a:r>
              <a:rPr lang="en-GB" dirty="0" smtClean="0"/>
              <a:t>Hitler hated the Weimar Government</a:t>
            </a:r>
          </a:p>
          <a:p>
            <a:pPr marL="514350" indent="-514350">
              <a:buAutoNum type="arabicPeriod"/>
            </a:pPr>
            <a:r>
              <a:rPr lang="en-GB" dirty="0" smtClean="0"/>
              <a:t>German people hated Weimar and felt humiliated following French invasion of the Ruhr so would support Hitler</a:t>
            </a:r>
          </a:p>
          <a:p>
            <a:pPr marL="514350" indent="-514350">
              <a:buAutoNum type="arabicPeriod"/>
            </a:pPr>
            <a:r>
              <a:rPr lang="en-GB" dirty="0" smtClean="0"/>
              <a:t>The Nazi Party had grown and thought they would have support</a:t>
            </a:r>
          </a:p>
          <a:p>
            <a:pPr marL="514350" indent="-514350">
              <a:buAutoNum type="arabicPeriod"/>
            </a:pPr>
            <a:r>
              <a:rPr lang="en-GB" dirty="0" smtClean="0"/>
              <a:t>SA would be armed support</a:t>
            </a:r>
          </a:p>
          <a:p>
            <a:pPr marL="514350" indent="-514350">
              <a:buAutoNum type="arabicPeriod"/>
            </a:pPr>
            <a:r>
              <a:rPr lang="en-GB" dirty="0" smtClean="0"/>
              <a:t>Hitler had the support of General Ludendorff who was popular</a:t>
            </a:r>
          </a:p>
          <a:p>
            <a:pPr marL="514350" indent="-514350">
              <a:buAutoNum type="arabicPeriod"/>
            </a:pPr>
            <a:r>
              <a:rPr lang="en-GB" dirty="0" smtClean="0"/>
              <a:t>Hitler thought the province of Bavaria would support him</a:t>
            </a:r>
            <a:endParaRPr lang="en-GB"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4.  b) the Munich Putsch 8 November 1923</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The Nazis seized the beer hall where Bavarian politicians such as Von </a:t>
            </a:r>
            <a:r>
              <a:rPr lang="en-GB" dirty="0" err="1" smtClean="0"/>
              <a:t>Kahr</a:t>
            </a:r>
            <a:r>
              <a:rPr lang="en-GB" dirty="0" smtClean="0"/>
              <a:t> were attending a meeting </a:t>
            </a:r>
          </a:p>
          <a:p>
            <a:r>
              <a:rPr lang="en-GB" dirty="0" smtClean="0"/>
              <a:t>He held them at gunpoint and they agreed to support him</a:t>
            </a:r>
          </a:p>
          <a:p>
            <a:r>
              <a:rPr lang="en-GB" dirty="0" smtClean="0"/>
              <a:t>They were allowed to leave the beer hall though and arranged for troops and police to stop Hitler’s uprising in Munich</a:t>
            </a:r>
          </a:p>
          <a:p>
            <a:r>
              <a:rPr lang="en-GB" dirty="0" smtClean="0"/>
              <a:t>16 Nazis were killed and 4 police men</a:t>
            </a:r>
          </a:p>
          <a:p>
            <a:r>
              <a:rPr lang="en-GB" dirty="0" smtClean="0"/>
              <a:t>Hitler was arrested with Ludendorff and the Nazi party was banned</a:t>
            </a:r>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4.  c)  The effects of the Much Putsch 1923</a:t>
            </a:r>
            <a:endParaRPr lang="en-GB" dirty="0"/>
          </a:p>
        </p:txBody>
      </p:sp>
      <p:sp>
        <p:nvSpPr>
          <p:cNvPr id="3" name="Content Placeholder 2"/>
          <p:cNvSpPr>
            <a:spLocks noGrp="1"/>
          </p:cNvSpPr>
          <p:nvPr>
            <p:ph idx="1"/>
          </p:nvPr>
        </p:nvSpPr>
        <p:spPr>
          <a:xfrm>
            <a:off x="0" y="1600200"/>
            <a:ext cx="8686800" cy="5257800"/>
          </a:xfrm>
        </p:spPr>
        <p:txBody>
          <a:bodyPr>
            <a:normAutofit fontScale="92500" lnSpcReduction="10000"/>
          </a:bodyPr>
          <a:lstStyle/>
          <a:p>
            <a:r>
              <a:rPr lang="en-GB" dirty="0" smtClean="0"/>
              <a:t>Trial began in Feb 1924 and lasted a month.  He used the trial as a public platform putting his ideas forward about the “November Criminals” and the Treaty of Versailles</a:t>
            </a:r>
          </a:p>
          <a:p>
            <a:r>
              <a:rPr lang="en-GB" dirty="0" smtClean="0"/>
              <a:t>Judges were sympathetic and only sentenced him to 5 years the minimum sentence and only served 9 months</a:t>
            </a:r>
          </a:p>
          <a:p>
            <a:r>
              <a:rPr lang="en-GB" dirty="0" smtClean="0"/>
              <a:t>In prison he wrote Mein </a:t>
            </a:r>
            <a:r>
              <a:rPr lang="en-GB" dirty="0" err="1" smtClean="0"/>
              <a:t>Kampf</a:t>
            </a:r>
            <a:r>
              <a:rPr lang="en-GB" dirty="0" smtClean="0"/>
              <a:t> (My Struggle) which contained all of his political views such as Lebensraum (a bigger living space for pure Aryans) and all Jews to be eliminated from Germany and </a:t>
            </a:r>
            <a:r>
              <a:rPr lang="en-GB" dirty="0" err="1" smtClean="0"/>
              <a:t>volksgemeinschaft</a:t>
            </a:r>
            <a:r>
              <a:rPr lang="en-GB" dirty="0" smtClean="0"/>
              <a:t> (strongest races would dominate)</a:t>
            </a:r>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5.  How did the Nazi Party change 1924-29</a:t>
            </a:r>
            <a:endParaRPr lang="en-GB" dirty="0"/>
          </a:p>
        </p:txBody>
      </p:sp>
      <p:sp>
        <p:nvSpPr>
          <p:cNvPr id="3" name="Content Placeholder 2"/>
          <p:cNvSpPr>
            <a:spLocks noGrp="1"/>
          </p:cNvSpPr>
          <p:nvPr>
            <p:ph idx="1"/>
          </p:nvPr>
        </p:nvSpPr>
        <p:spPr/>
        <p:txBody>
          <a:bodyPr/>
          <a:lstStyle/>
          <a:p>
            <a:endParaRPr lang="en-GB"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5.  a)  How did the Nazi Party change 1924-29</a:t>
            </a:r>
            <a:endParaRPr lang="en-GB" dirty="0"/>
          </a:p>
        </p:txBody>
      </p:sp>
      <p:sp>
        <p:nvSpPr>
          <p:cNvPr id="3" name="Content Placeholder 2"/>
          <p:cNvSpPr>
            <a:spLocks noGrp="1"/>
          </p:cNvSpPr>
          <p:nvPr>
            <p:ph idx="1"/>
          </p:nvPr>
        </p:nvSpPr>
        <p:spPr>
          <a:xfrm>
            <a:off x="0" y="1412776"/>
            <a:ext cx="8686800" cy="5445224"/>
          </a:xfrm>
        </p:spPr>
        <p:txBody>
          <a:bodyPr>
            <a:normAutofit fontScale="92500" lnSpcReduction="20000"/>
          </a:bodyPr>
          <a:lstStyle/>
          <a:p>
            <a:r>
              <a:rPr lang="en-GB" dirty="0" smtClean="0"/>
              <a:t>Following his release from prison </a:t>
            </a:r>
            <a:r>
              <a:rPr lang="en-GB" dirty="0"/>
              <a:t>H</a:t>
            </a:r>
            <a:r>
              <a:rPr lang="en-GB" dirty="0" smtClean="0"/>
              <a:t>itler managed to get the ban on the party lifted</a:t>
            </a:r>
          </a:p>
          <a:p>
            <a:r>
              <a:rPr lang="en-GB" dirty="0" smtClean="0"/>
              <a:t>At the </a:t>
            </a:r>
            <a:r>
              <a:rPr lang="en-GB" dirty="0" err="1" smtClean="0"/>
              <a:t>Bamburg</a:t>
            </a:r>
            <a:r>
              <a:rPr lang="en-GB" dirty="0" smtClean="0"/>
              <a:t> Party Conference in 1926 Hitler strengthened his position as leader removing opposition</a:t>
            </a:r>
          </a:p>
          <a:p>
            <a:r>
              <a:rPr lang="en-GB" dirty="0" smtClean="0"/>
              <a:t>1926 Hitler created his own private bodyguard the </a:t>
            </a:r>
            <a:r>
              <a:rPr lang="en-GB" dirty="0" err="1" smtClean="0"/>
              <a:t>Schutzstaffel</a:t>
            </a:r>
            <a:r>
              <a:rPr lang="en-GB" dirty="0" smtClean="0"/>
              <a:t> (SS)</a:t>
            </a:r>
          </a:p>
          <a:p>
            <a:r>
              <a:rPr lang="en-GB" dirty="0" smtClean="0"/>
              <a:t>1926 Hitler created the </a:t>
            </a:r>
            <a:r>
              <a:rPr lang="en-GB" dirty="0" err="1" smtClean="0"/>
              <a:t>HitlerJugend</a:t>
            </a:r>
            <a:r>
              <a:rPr lang="en-GB" dirty="0" smtClean="0"/>
              <a:t> (Hitler Youth)</a:t>
            </a:r>
          </a:p>
          <a:p>
            <a:r>
              <a:rPr lang="en-GB" dirty="0" smtClean="0"/>
              <a:t>In 1928 </a:t>
            </a:r>
            <a:r>
              <a:rPr lang="en-GB" dirty="0" err="1" smtClean="0"/>
              <a:t>hitler</a:t>
            </a:r>
            <a:r>
              <a:rPr lang="en-GB" dirty="0" smtClean="0"/>
              <a:t> started to target rural voters as well as urban looking to farmers</a:t>
            </a:r>
          </a:p>
          <a:p>
            <a:r>
              <a:rPr lang="en-GB" dirty="0" smtClean="0"/>
              <a:t>1925 = 27,000 members:  1928 100,000+ members</a:t>
            </a:r>
          </a:p>
          <a:p>
            <a:pPr algn="ctr"/>
            <a:r>
              <a:rPr lang="en-GB" u="sng" dirty="0" smtClean="0"/>
              <a:t>However, in the 1928 election they only gained 12 seats </a:t>
            </a:r>
            <a:endParaRPr lang="en-GB" u="sng"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6.  Why was </a:t>
            </a:r>
            <a:r>
              <a:rPr lang="en-GB" dirty="0"/>
              <a:t>H</a:t>
            </a:r>
            <a:r>
              <a:rPr lang="en-GB" dirty="0" smtClean="0"/>
              <a:t>itler appointed Chancellor in 1933</a:t>
            </a:r>
            <a:endParaRPr lang="en-GB" dirty="0"/>
          </a:p>
        </p:txBody>
      </p:sp>
      <p:sp>
        <p:nvSpPr>
          <p:cNvPr id="3" name="Content Placeholder 2"/>
          <p:cNvSpPr>
            <a:spLocks noGrp="1"/>
          </p:cNvSpPr>
          <p:nvPr>
            <p:ph idx="1"/>
          </p:nvPr>
        </p:nvSpPr>
        <p:spPr/>
        <p:txBody>
          <a:bodyPr>
            <a:normAutofit fontScale="85000" lnSpcReduction="10000"/>
          </a:bodyPr>
          <a:lstStyle/>
          <a:p>
            <a:pPr marL="514350" indent="-514350">
              <a:buAutoNum type="arabicPeriod"/>
            </a:pPr>
            <a:r>
              <a:rPr lang="en-GB" dirty="0" smtClean="0"/>
              <a:t>Great depression</a:t>
            </a:r>
          </a:p>
          <a:p>
            <a:pPr marL="514350" indent="-514350">
              <a:buAutoNum type="arabicPeriod"/>
            </a:pPr>
            <a:r>
              <a:rPr lang="en-GB" dirty="0" smtClean="0"/>
              <a:t>Weak opposition</a:t>
            </a:r>
          </a:p>
          <a:p>
            <a:pPr marL="514350" indent="-514350">
              <a:buAutoNum type="arabicPeriod"/>
            </a:pPr>
            <a:r>
              <a:rPr lang="en-GB" dirty="0" smtClean="0"/>
              <a:t>Strength of the SA</a:t>
            </a:r>
          </a:p>
          <a:p>
            <a:pPr marL="514350" indent="-514350">
              <a:buAutoNum type="arabicPeriod"/>
            </a:pPr>
            <a:r>
              <a:rPr lang="en-GB" dirty="0" smtClean="0"/>
              <a:t>Hitler was a  strong leader</a:t>
            </a:r>
          </a:p>
          <a:p>
            <a:pPr marL="514350" indent="-514350">
              <a:buFont typeface="Arial" pitchFamily="34" charset="0"/>
              <a:buAutoNum type="arabicPeriod"/>
            </a:pPr>
            <a:r>
              <a:rPr lang="en-GB" dirty="0" smtClean="0"/>
              <a:t>Fear of Communism</a:t>
            </a:r>
          </a:p>
          <a:p>
            <a:pPr marL="514350" indent="-514350">
              <a:buAutoNum type="arabicPeriod"/>
            </a:pPr>
            <a:r>
              <a:rPr lang="en-GB" dirty="0" smtClean="0"/>
              <a:t>Financial backing</a:t>
            </a:r>
          </a:p>
          <a:p>
            <a:pPr marL="514350" indent="-514350">
              <a:buAutoNum type="arabicPeriod"/>
            </a:pPr>
            <a:r>
              <a:rPr lang="en-GB" dirty="0" smtClean="0"/>
              <a:t>Hitler promised lots of things to lots of different types of people</a:t>
            </a:r>
          </a:p>
          <a:p>
            <a:pPr marL="514350" indent="-514350">
              <a:buAutoNum type="arabicPeriod"/>
            </a:pPr>
            <a:r>
              <a:rPr lang="en-GB" dirty="0" smtClean="0"/>
              <a:t>Use of propaganda</a:t>
            </a:r>
          </a:p>
          <a:p>
            <a:pPr marL="514350" indent="-514350">
              <a:buAutoNum type="arabicPeriod"/>
            </a:pPr>
            <a:r>
              <a:rPr lang="en-GB" dirty="0" smtClean="0"/>
              <a:t>Political manipulation of Hindenburg and Von </a:t>
            </a:r>
            <a:r>
              <a:rPr lang="en-GB" dirty="0" err="1" smtClean="0"/>
              <a:t>Papan</a:t>
            </a:r>
            <a:endParaRPr lang="en-GB" dirty="0" smtClean="0"/>
          </a:p>
          <a:p>
            <a:pPr marL="514350" indent="-514350">
              <a:buAutoNum type="arabicPeriod"/>
            </a:pPr>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6.  a)  impact of the wall Street Crash and Great depression</a:t>
            </a:r>
            <a:endParaRPr lang="en-GB" dirty="0"/>
          </a:p>
        </p:txBody>
      </p:sp>
      <p:sp>
        <p:nvSpPr>
          <p:cNvPr id="3" name="Content Placeholder 2"/>
          <p:cNvSpPr>
            <a:spLocks noGrp="1"/>
          </p:cNvSpPr>
          <p:nvPr>
            <p:ph idx="1"/>
          </p:nvPr>
        </p:nvSpPr>
        <p:spPr>
          <a:xfrm>
            <a:off x="0" y="1556792"/>
            <a:ext cx="9144000" cy="5301208"/>
          </a:xfrm>
        </p:spPr>
        <p:txBody>
          <a:bodyPr>
            <a:normAutofit/>
          </a:bodyPr>
          <a:lstStyle/>
          <a:p>
            <a:r>
              <a:rPr lang="en-GB" dirty="0" smtClean="0"/>
              <a:t>1929 the stock market collapsed in the USA and bankers withdrew loans made under the Dawes Plan in 1924</a:t>
            </a:r>
          </a:p>
          <a:p>
            <a:r>
              <a:rPr lang="en-GB" dirty="0" smtClean="0"/>
              <a:t>Unemployment rose (1932 6 million were unemployed)</a:t>
            </a:r>
          </a:p>
          <a:p>
            <a:r>
              <a:rPr lang="en-GB" dirty="0" smtClean="0"/>
              <a:t>Farmers struggled as food prices fell</a:t>
            </a:r>
          </a:p>
          <a:p>
            <a:r>
              <a:rPr lang="en-GB" dirty="0" smtClean="0"/>
              <a:t>Homelessness rose</a:t>
            </a:r>
          </a:p>
          <a:p>
            <a:r>
              <a:rPr lang="en-GB" dirty="0" smtClean="0"/>
              <a:t>Benefits were cut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6.  b)  Fear of Communism</a:t>
            </a:r>
            <a:endParaRPr lang="en-GB" dirty="0"/>
          </a:p>
        </p:txBody>
      </p:sp>
      <p:sp>
        <p:nvSpPr>
          <p:cNvPr id="3" name="Content Placeholder 2"/>
          <p:cNvSpPr>
            <a:spLocks noGrp="1"/>
          </p:cNvSpPr>
          <p:nvPr>
            <p:ph idx="1"/>
          </p:nvPr>
        </p:nvSpPr>
        <p:spPr/>
        <p:txBody>
          <a:bodyPr/>
          <a:lstStyle/>
          <a:p>
            <a:r>
              <a:rPr lang="en-GB" dirty="0" smtClean="0"/>
              <a:t>The unemployed and hungry started to look to extremist parties (like the Nazis and Communists) for solutions</a:t>
            </a:r>
          </a:p>
          <a:p>
            <a:r>
              <a:rPr lang="en-GB" dirty="0" smtClean="0"/>
              <a:t>The middle class were worried about the growth of the German Communist Party (KPD)</a:t>
            </a:r>
          </a:p>
          <a:p>
            <a:pPr>
              <a:buNone/>
            </a:pPr>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6.  c)  Weak opposition</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The Government failed to deal with the economic crisis effectively and the Chancellor </a:t>
            </a:r>
            <a:r>
              <a:rPr lang="en-GB" dirty="0" err="1" smtClean="0"/>
              <a:t>Bruning</a:t>
            </a:r>
            <a:r>
              <a:rPr lang="en-GB" dirty="0" smtClean="0"/>
              <a:t> was blamed</a:t>
            </a:r>
          </a:p>
          <a:p>
            <a:r>
              <a:rPr lang="en-GB" dirty="0" smtClean="0"/>
              <a:t>There was no majority or effective coalition in 1930.  They relied on President Hindenburg using Article 48</a:t>
            </a:r>
          </a:p>
          <a:p>
            <a:pPr>
              <a:buFontTx/>
              <a:buChar char="-"/>
            </a:pPr>
            <a:r>
              <a:rPr lang="en-GB" dirty="0" smtClean="0"/>
              <a:t>The Reichstag was used less </a:t>
            </a:r>
          </a:p>
          <a:p>
            <a:r>
              <a:rPr lang="en-GB" dirty="0" smtClean="0"/>
              <a:t>1930 the Nazis won 107 seats and became the second biggest party in Germany</a:t>
            </a:r>
          </a:p>
          <a:p>
            <a:r>
              <a:rPr lang="en-GB" dirty="0" err="1" smtClean="0"/>
              <a:t>Bruning</a:t>
            </a:r>
            <a:r>
              <a:rPr lang="en-GB" dirty="0" smtClean="0"/>
              <a:t> was forced to resign in May 1932 due to lack of support</a:t>
            </a:r>
            <a:endParaRPr lang="en-GB"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6.  d)  Propaganda</a:t>
            </a:r>
            <a:endParaRPr lang="en-GB" dirty="0"/>
          </a:p>
        </p:txBody>
      </p:sp>
      <p:sp>
        <p:nvSpPr>
          <p:cNvPr id="3" name="Content Placeholder 2"/>
          <p:cNvSpPr>
            <a:spLocks noGrp="1"/>
          </p:cNvSpPr>
          <p:nvPr>
            <p:ph idx="1"/>
          </p:nvPr>
        </p:nvSpPr>
        <p:spPr/>
        <p:txBody>
          <a:bodyPr>
            <a:normAutofit fontScale="85000" lnSpcReduction="10000"/>
          </a:bodyPr>
          <a:lstStyle/>
          <a:p>
            <a:r>
              <a:rPr lang="en-GB" dirty="0" smtClean="0"/>
              <a:t>Nazis increased their support through propaganda</a:t>
            </a:r>
          </a:p>
          <a:p>
            <a:r>
              <a:rPr lang="en-GB" dirty="0" smtClean="0"/>
              <a:t>Josef Goebbels was in charge of propaganda </a:t>
            </a:r>
          </a:p>
          <a:p>
            <a:pPr>
              <a:buFontTx/>
              <a:buChar char="-"/>
            </a:pPr>
            <a:r>
              <a:rPr lang="en-GB" dirty="0" smtClean="0"/>
              <a:t>Mass rallies</a:t>
            </a:r>
          </a:p>
          <a:p>
            <a:pPr>
              <a:buFontTx/>
              <a:buChar char="-"/>
            </a:pPr>
            <a:r>
              <a:rPr lang="en-GB" dirty="0" smtClean="0"/>
              <a:t>Displaying posters and banners wherever possible</a:t>
            </a:r>
          </a:p>
          <a:p>
            <a:pPr>
              <a:buFontTx/>
              <a:buChar char="-"/>
            </a:pPr>
            <a:r>
              <a:rPr lang="en-GB" dirty="0" smtClean="0"/>
              <a:t>1930 the Nazis owned 120 newspapers</a:t>
            </a:r>
          </a:p>
          <a:p>
            <a:pPr>
              <a:buFontTx/>
              <a:buChar char="-"/>
            </a:pPr>
            <a:r>
              <a:rPr lang="en-GB" dirty="0" smtClean="0"/>
              <a:t>Nazi message constantly spread through the radio, newspapers, posters </a:t>
            </a:r>
          </a:p>
          <a:p>
            <a:pPr>
              <a:buFontTx/>
              <a:buChar char="-"/>
            </a:pPr>
            <a:r>
              <a:rPr lang="en-GB" dirty="0" smtClean="0"/>
              <a:t>They were one of the first parties to use airplanes so that Hitler could visit more than one city in a day</a:t>
            </a:r>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6.  e)  He appealed to all classes of people</a:t>
            </a:r>
            <a:endParaRPr lang="en-GB" dirty="0"/>
          </a:p>
        </p:txBody>
      </p:sp>
      <p:sp>
        <p:nvSpPr>
          <p:cNvPr id="3" name="Content Placeholder 2"/>
          <p:cNvSpPr>
            <a:spLocks noGrp="1"/>
          </p:cNvSpPr>
          <p:nvPr>
            <p:ph idx="1"/>
          </p:nvPr>
        </p:nvSpPr>
        <p:spPr>
          <a:xfrm>
            <a:off x="0" y="1600200"/>
            <a:ext cx="8686800" cy="5257800"/>
          </a:xfrm>
        </p:spPr>
        <p:txBody>
          <a:bodyPr>
            <a:normAutofit lnSpcReduction="10000"/>
          </a:bodyPr>
          <a:lstStyle/>
          <a:p>
            <a:r>
              <a:rPr lang="en-GB" dirty="0" smtClean="0"/>
              <a:t>Alternative to the weak Weimar Government</a:t>
            </a:r>
          </a:p>
          <a:p>
            <a:r>
              <a:rPr lang="en-GB" dirty="0" smtClean="0"/>
              <a:t>Hitler offered the Jews and the </a:t>
            </a:r>
            <a:r>
              <a:rPr lang="en-GB" dirty="0"/>
              <a:t>W</a:t>
            </a:r>
            <a:r>
              <a:rPr lang="en-GB" dirty="0" smtClean="0"/>
              <a:t>eimar Government as a scapegoat to the problem </a:t>
            </a:r>
          </a:p>
          <a:p>
            <a:r>
              <a:rPr lang="en-GB" dirty="0" smtClean="0"/>
              <a:t>He promised the working classes jobs</a:t>
            </a:r>
          </a:p>
          <a:p>
            <a:r>
              <a:rPr lang="en-GB" dirty="0" smtClean="0"/>
              <a:t>He promised the middle and upper classes to crush the threat of Communism</a:t>
            </a:r>
          </a:p>
          <a:p>
            <a:pPr>
              <a:buNone/>
            </a:pPr>
            <a:r>
              <a:rPr lang="en-GB" dirty="0" smtClean="0"/>
              <a:t>- 	Hitler stood against Hindenburg in the Presidential elections in 1932 and won a large section of the votes and although he lost Goebbels portrayed it as a victory</a:t>
            </a:r>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6.  f)  Financial support of the Nazis</a:t>
            </a:r>
            <a:endParaRPr lang="en-GB" dirty="0"/>
          </a:p>
        </p:txBody>
      </p:sp>
      <p:sp>
        <p:nvSpPr>
          <p:cNvPr id="3" name="Content Placeholder 2"/>
          <p:cNvSpPr>
            <a:spLocks noGrp="1"/>
          </p:cNvSpPr>
          <p:nvPr>
            <p:ph idx="1"/>
          </p:nvPr>
        </p:nvSpPr>
        <p:spPr/>
        <p:txBody>
          <a:bodyPr/>
          <a:lstStyle/>
          <a:p>
            <a:r>
              <a:rPr lang="en-GB" dirty="0" smtClean="0"/>
              <a:t>Financial backing came from industrialists who were scared of Communism like Krupp and Bosch.  They knew Hitler would also reduce </a:t>
            </a:r>
            <a:r>
              <a:rPr lang="en-GB" dirty="0" err="1" smtClean="0"/>
              <a:t>thepower</a:t>
            </a:r>
            <a:r>
              <a:rPr lang="en-GB" dirty="0" smtClean="0"/>
              <a:t> of the Trade unions</a:t>
            </a:r>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6.  g)  the </a:t>
            </a:r>
            <a:r>
              <a:rPr lang="en-GB" dirty="0" err="1" smtClean="0"/>
              <a:t>Sturmabteilung</a:t>
            </a:r>
            <a:r>
              <a:rPr lang="en-GB" dirty="0" smtClean="0"/>
              <a:t> (the SA)</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Known as brown shirts or storm troopers</a:t>
            </a:r>
          </a:p>
          <a:p>
            <a:r>
              <a:rPr lang="en-GB" dirty="0" smtClean="0"/>
              <a:t>Protected Nazi speakers</a:t>
            </a:r>
          </a:p>
          <a:p>
            <a:r>
              <a:rPr lang="en-GB" dirty="0" smtClean="0"/>
              <a:t>Disrupted meetings of their opponents</a:t>
            </a:r>
          </a:p>
          <a:p>
            <a:r>
              <a:rPr lang="en-GB" dirty="0" smtClean="0"/>
              <a:t>They were the “bully boy thugs” of the party and beat up opposition.  </a:t>
            </a:r>
          </a:p>
          <a:p>
            <a:r>
              <a:rPr lang="en-GB" dirty="0" smtClean="0"/>
              <a:t>They had a membership of 170,000 in 1932</a:t>
            </a:r>
          </a:p>
          <a:p>
            <a:r>
              <a:rPr lang="en-GB" dirty="0" smtClean="0"/>
              <a:t>The Communists had their own army (Red Front Fighters) and their were many fights between them and the SA.  Hitler wanted to show Germany he could stamp out their threat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6.  h) Hitler was a strong leader</a:t>
            </a:r>
            <a:endParaRPr lang="en-GB" dirty="0"/>
          </a:p>
        </p:txBody>
      </p:sp>
      <p:sp>
        <p:nvSpPr>
          <p:cNvPr id="3" name="Content Placeholder 2"/>
          <p:cNvSpPr>
            <a:spLocks noGrp="1"/>
          </p:cNvSpPr>
          <p:nvPr>
            <p:ph idx="1"/>
          </p:nvPr>
        </p:nvSpPr>
        <p:spPr/>
        <p:txBody>
          <a:bodyPr/>
          <a:lstStyle/>
          <a:p>
            <a:r>
              <a:rPr lang="en-GB" dirty="0" smtClean="0"/>
              <a:t>Hitler had brilliant public speaking skills</a:t>
            </a:r>
          </a:p>
          <a:p>
            <a:r>
              <a:rPr lang="en-GB" dirty="0" smtClean="0"/>
              <a:t>He was strong and charismatic making him popular</a:t>
            </a:r>
          </a:p>
          <a:p>
            <a:r>
              <a:rPr lang="en-GB" dirty="0" smtClean="0"/>
              <a:t>People agreed with his ideas</a:t>
            </a:r>
            <a:endParaRPr lang="en-GB"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6.  </a:t>
            </a:r>
            <a:r>
              <a:rPr lang="en-GB" dirty="0" err="1" smtClean="0"/>
              <a:t>i</a:t>
            </a:r>
            <a:r>
              <a:rPr lang="en-GB" dirty="0" smtClean="0"/>
              <a:t>)  political manipulation </a:t>
            </a:r>
            <a:endParaRPr lang="en-GB" dirty="0"/>
          </a:p>
        </p:txBody>
      </p:sp>
      <p:sp>
        <p:nvSpPr>
          <p:cNvPr id="3" name="Content Placeholder 2"/>
          <p:cNvSpPr>
            <a:spLocks noGrp="1"/>
          </p:cNvSpPr>
          <p:nvPr>
            <p:ph idx="1"/>
          </p:nvPr>
        </p:nvSpPr>
        <p:spPr>
          <a:xfrm>
            <a:off x="0" y="1340768"/>
            <a:ext cx="8686800" cy="5517232"/>
          </a:xfrm>
        </p:spPr>
        <p:txBody>
          <a:bodyPr>
            <a:normAutofit fontScale="92500"/>
          </a:bodyPr>
          <a:lstStyle/>
          <a:p>
            <a:r>
              <a:rPr lang="en-GB" dirty="0" smtClean="0"/>
              <a:t>In the 1932 July elections the Nazis won 230 seats and were the largest party in the Reichstag</a:t>
            </a:r>
          </a:p>
          <a:p>
            <a:r>
              <a:rPr lang="en-GB" dirty="0" smtClean="0"/>
              <a:t>Hindenburg refused to make Hitler Chancellor keeping Von Papen in the post</a:t>
            </a:r>
          </a:p>
          <a:p>
            <a:r>
              <a:rPr lang="en-GB" dirty="0" smtClean="0"/>
              <a:t>Von Papen failed to secure support in the Reichstag so Hindenburg appointed Von </a:t>
            </a:r>
            <a:r>
              <a:rPr lang="en-GB" dirty="0" err="1" smtClean="0"/>
              <a:t>Schleicher</a:t>
            </a:r>
            <a:endParaRPr lang="en-GB" dirty="0" smtClean="0"/>
          </a:p>
          <a:p>
            <a:r>
              <a:rPr lang="en-GB" dirty="0" smtClean="0"/>
              <a:t>Hitler met with Von Papen and persuaded him that he should persuade Hindenburg to make him Chancellor and he could be Vice Chancellor</a:t>
            </a:r>
          </a:p>
          <a:p>
            <a:r>
              <a:rPr lang="en-GB" dirty="0" smtClean="0"/>
              <a:t>Von </a:t>
            </a:r>
            <a:r>
              <a:rPr lang="en-GB" dirty="0" err="1" smtClean="0"/>
              <a:t>Schleicher</a:t>
            </a:r>
            <a:r>
              <a:rPr lang="en-GB" dirty="0" smtClean="0"/>
              <a:t> was unpopular so Hindenburg agreed and made Hitler Chancellor </a:t>
            </a:r>
            <a:endParaRPr lang="en-GB"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7.  How did Hitler consolidate his power?</a:t>
            </a:r>
            <a:endParaRPr lang="en-GB" dirty="0"/>
          </a:p>
        </p:txBody>
      </p:sp>
      <p:sp>
        <p:nvSpPr>
          <p:cNvPr id="3" name="Content Placeholder 2"/>
          <p:cNvSpPr>
            <a:spLocks noGrp="1"/>
          </p:cNvSpPr>
          <p:nvPr>
            <p:ph idx="1"/>
          </p:nvPr>
        </p:nvSpPr>
        <p:spPr/>
        <p:txBody>
          <a:bodyPr/>
          <a:lstStyle/>
          <a:p>
            <a:pPr marL="514350" indent="-514350">
              <a:buAutoNum type="arabicPeriod"/>
            </a:pPr>
            <a:r>
              <a:rPr lang="en-GB" dirty="0" smtClean="0"/>
              <a:t>Reichstag Fire</a:t>
            </a:r>
          </a:p>
          <a:p>
            <a:pPr marL="514350" indent="-514350">
              <a:buAutoNum type="arabicPeriod"/>
            </a:pPr>
            <a:r>
              <a:rPr lang="en-GB" dirty="0" smtClean="0"/>
              <a:t>March Elections</a:t>
            </a:r>
          </a:p>
          <a:p>
            <a:pPr marL="514350" indent="-514350">
              <a:buAutoNum type="arabicPeriod"/>
            </a:pPr>
            <a:r>
              <a:rPr lang="en-GB" dirty="0" smtClean="0"/>
              <a:t>Enabling Act</a:t>
            </a:r>
          </a:p>
          <a:p>
            <a:pPr marL="514350" indent="-514350">
              <a:buAutoNum type="arabicPeriod"/>
            </a:pPr>
            <a:r>
              <a:rPr lang="en-GB" dirty="0" smtClean="0"/>
              <a:t>Night of the Long Knives</a:t>
            </a:r>
          </a:p>
          <a:p>
            <a:pPr marL="514350" indent="-514350">
              <a:buAutoNum type="arabicPeriod"/>
            </a:pPr>
            <a:r>
              <a:rPr lang="en-GB" dirty="0" smtClean="0"/>
              <a:t>Death of Hindenburg</a:t>
            </a:r>
            <a:endParaRPr lang="en-GB"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7a  The importance of the Reichstag Fire</a:t>
            </a:r>
            <a:endParaRPr lang="en-GB" dirty="0"/>
          </a:p>
        </p:txBody>
      </p:sp>
      <p:sp>
        <p:nvSpPr>
          <p:cNvPr id="3" name="Content Placeholder 2"/>
          <p:cNvSpPr>
            <a:spLocks noGrp="1"/>
          </p:cNvSpPr>
          <p:nvPr>
            <p:ph idx="1"/>
          </p:nvPr>
        </p:nvSpPr>
        <p:spPr>
          <a:xfrm>
            <a:off x="0" y="1600200"/>
            <a:ext cx="8686800" cy="5257800"/>
          </a:xfrm>
        </p:spPr>
        <p:txBody>
          <a:bodyPr>
            <a:normAutofit fontScale="85000" lnSpcReduction="20000"/>
          </a:bodyPr>
          <a:lstStyle/>
          <a:p>
            <a:r>
              <a:rPr lang="en-GB" dirty="0" smtClean="0"/>
              <a:t>One week before the March elections on 27</a:t>
            </a:r>
            <a:r>
              <a:rPr lang="en-GB" baseline="30000" dirty="0" smtClean="0"/>
              <a:t>th</a:t>
            </a:r>
            <a:r>
              <a:rPr lang="en-GB" dirty="0" smtClean="0"/>
              <a:t> Feb 1933 the Reichstag was set on fire</a:t>
            </a:r>
          </a:p>
          <a:p>
            <a:r>
              <a:rPr lang="en-GB" dirty="0" smtClean="0"/>
              <a:t>The Nazis arrested Dutch Communist </a:t>
            </a:r>
            <a:r>
              <a:rPr lang="en-GB" dirty="0" err="1" smtClean="0"/>
              <a:t>Marinus</a:t>
            </a:r>
            <a:r>
              <a:rPr lang="en-GB" dirty="0" smtClean="0"/>
              <a:t> Van </a:t>
            </a:r>
            <a:r>
              <a:rPr lang="en-GB" dirty="0" err="1" smtClean="0"/>
              <a:t>Der</a:t>
            </a:r>
            <a:r>
              <a:rPr lang="en-GB" dirty="0" smtClean="0"/>
              <a:t> </a:t>
            </a:r>
            <a:r>
              <a:rPr lang="en-GB" dirty="0" err="1" smtClean="0"/>
              <a:t>Lubbe</a:t>
            </a:r>
            <a:endParaRPr lang="en-GB" dirty="0" smtClean="0"/>
          </a:p>
          <a:p>
            <a:r>
              <a:rPr lang="en-GB" dirty="0" smtClean="0"/>
              <a:t>They claimed the Communists were staging a takeover</a:t>
            </a:r>
          </a:p>
          <a:p>
            <a:r>
              <a:rPr lang="en-GB" dirty="0" smtClean="0"/>
              <a:t>Some believe it was the Nazis that set the Reichstag on fire</a:t>
            </a:r>
          </a:p>
          <a:p>
            <a:r>
              <a:rPr lang="en-GB" dirty="0" smtClean="0"/>
              <a:t>Following the fire Hitler got Hindenburg to sign the “Decree for the Protection of People and State”</a:t>
            </a:r>
          </a:p>
          <a:p>
            <a:pPr>
              <a:buFontTx/>
              <a:buChar char="-"/>
            </a:pPr>
            <a:r>
              <a:rPr lang="en-GB" dirty="0" smtClean="0"/>
              <a:t>This suspended civil rights and allowed the Nazis to arrest many of their opposition just before the March elections.  It also stopped opposition parties from promoting themselves</a:t>
            </a:r>
          </a:p>
          <a:p>
            <a:pPr>
              <a:buFontTx/>
              <a:buChar char="-"/>
            </a:pPr>
            <a:r>
              <a:rPr lang="en-GB" dirty="0" smtClean="0"/>
              <a:t>Hitler arrested Communists and put them in concentration camps and they were banned from the Reichstag</a:t>
            </a:r>
          </a:p>
          <a:p>
            <a:pPr>
              <a:buNone/>
            </a:pPr>
            <a:endParaRPr lang="en-GB"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7b  The March elections</a:t>
            </a:r>
            <a:endParaRPr lang="en-GB" dirty="0"/>
          </a:p>
        </p:txBody>
      </p:sp>
      <p:sp>
        <p:nvSpPr>
          <p:cNvPr id="3" name="Content Placeholder 2"/>
          <p:cNvSpPr>
            <a:spLocks noGrp="1"/>
          </p:cNvSpPr>
          <p:nvPr>
            <p:ph idx="1"/>
          </p:nvPr>
        </p:nvSpPr>
        <p:spPr>
          <a:xfrm>
            <a:off x="0" y="1600200"/>
            <a:ext cx="8686800" cy="5257800"/>
          </a:xfrm>
        </p:spPr>
        <p:txBody>
          <a:bodyPr>
            <a:normAutofit fontScale="92500" lnSpcReduction="10000"/>
          </a:bodyPr>
          <a:lstStyle/>
          <a:p>
            <a:r>
              <a:rPr lang="en-GB" dirty="0" smtClean="0"/>
              <a:t>5 March 1933 following the Reichstag Fire Hitler wanted to get a majority (2/3 of the vote) in the Reichstag</a:t>
            </a:r>
          </a:p>
          <a:p>
            <a:r>
              <a:rPr lang="en-GB" dirty="0" smtClean="0"/>
              <a:t>Violence and terror were seen in the campaign with 70 deaths in the weeks leading up to it</a:t>
            </a:r>
          </a:p>
          <a:p>
            <a:r>
              <a:rPr lang="en-GB" dirty="0" smtClean="0"/>
              <a:t>Hitler received large amounts of money from industrialists such as Bosch and Krupp</a:t>
            </a:r>
          </a:p>
          <a:p>
            <a:r>
              <a:rPr lang="en-GB" dirty="0" smtClean="0"/>
              <a:t>There was a massive propaganda campaign</a:t>
            </a:r>
          </a:p>
          <a:p>
            <a:r>
              <a:rPr lang="en-GB" dirty="0" smtClean="0"/>
              <a:t>They imprisoned many opposition and the opposition did not have any media control</a:t>
            </a:r>
          </a:p>
          <a:p>
            <a:r>
              <a:rPr lang="en-GB" dirty="0" smtClean="0"/>
              <a:t>The Nazis won 288 seats which was not a majority</a:t>
            </a:r>
            <a:endParaRPr lang="en-GB"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7c  The Enabling Act 23 March 1933</a:t>
            </a:r>
            <a:endParaRPr lang="en-GB" dirty="0"/>
          </a:p>
        </p:txBody>
      </p:sp>
      <p:sp>
        <p:nvSpPr>
          <p:cNvPr id="3" name="Content Placeholder 2"/>
          <p:cNvSpPr>
            <a:spLocks noGrp="1"/>
          </p:cNvSpPr>
          <p:nvPr>
            <p:ph idx="1"/>
          </p:nvPr>
        </p:nvSpPr>
        <p:spPr>
          <a:xfrm>
            <a:off x="251520" y="1600200"/>
            <a:ext cx="8435280" cy="5069160"/>
          </a:xfrm>
        </p:spPr>
        <p:txBody>
          <a:bodyPr>
            <a:normAutofit fontScale="85000" lnSpcReduction="20000"/>
          </a:bodyPr>
          <a:lstStyle/>
          <a:p>
            <a:r>
              <a:rPr lang="en-GB" dirty="0" smtClean="0"/>
              <a:t>Hitler needed 2/3 of the Reichstag to be able to change the constitution.  He had failed to get this in the March 5</a:t>
            </a:r>
            <a:r>
              <a:rPr lang="en-GB" baseline="30000" dirty="0" smtClean="0"/>
              <a:t>th</a:t>
            </a:r>
            <a:r>
              <a:rPr lang="en-GB" dirty="0" smtClean="0"/>
              <a:t> elections</a:t>
            </a:r>
          </a:p>
          <a:p>
            <a:r>
              <a:rPr lang="en-GB" dirty="0" smtClean="0"/>
              <a:t>He wanted to pass the enabling bill ( a new law) which meant he could pass any law he wanted without consulting the Reichstag</a:t>
            </a:r>
          </a:p>
          <a:p>
            <a:r>
              <a:rPr lang="en-GB" dirty="0" smtClean="0"/>
              <a:t>2/3 of the Reichstag had to agree to the enabling act for it to be passed.  Intimidation of politicians was used to get them to agree to it</a:t>
            </a:r>
          </a:p>
          <a:p>
            <a:r>
              <a:rPr lang="en-GB" dirty="0" smtClean="0"/>
              <a:t>It was passed on 23 March 1933 and was considered the “foundation stone” of the Third Reich (Hitler’s rule)</a:t>
            </a:r>
          </a:p>
          <a:p>
            <a:r>
              <a:rPr lang="en-GB" dirty="0" smtClean="0"/>
              <a:t>It resulted in censorship, abolition of trade unions and the banning of all political parties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7C  The Enabling Act</a:t>
            </a:r>
            <a:endParaRPr lang="en-GB" dirty="0"/>
          </a:p>
        </p:txBody>
      </p:sp>
      <p:sp>
        <p:nvSpPr>
          <p:cNvPr id="3" name="Content Placeholder 2"/>
          <p:cNvSpPr>
            <a:spLocks noGrp="1"/>
          </p:cNvSpPr>
          <p:nvPr>
            <p:ph idx="1"/>
          </p:nvPr>
        </p:nvSpPr>
        <p:spPr>
          <a:xfrm>
            <a:off x="0" y="1484784"/>
            <a:ext cx="9144000" cy="5373216"/>
          </a:xfrm>
        </p:spPr>
        <p:txBody>
          <a:bodyPr>
            <a:normAutofit fontScale="85000" lnSpcReduction="10000"/>
          </a:bodyPr>
          <a:lstStyle/>
          <a:p>
            <a:r>
              <a:rPr lang="en-GB" dirty="0" smtClean="0"/>
              <a:t>Due to the Enabling Act Hitler introduced </a:t>
            </a:r>
            <a:r>
              <a:rPr lang="en-GB" dirty="0" err="1" smtClean="0"/>
              <a:t>Gleichschaltung</a:t>
            </a:r>
            <a:r>
              <a:rPr lang="en-GB" dirty="0" smtClean="0"/>
              <a:t>:  every aspect of life would be controlled by the Nazis</a:t>
            </a:r>
          </a:p>
          <a:p>
            <a:r>
              <a:rPr lang="en-GB" dirty="0" smtClean="0"/>
              <a:t>2 May 1933 all trade unions were banned and the DAF was set up who decided wages and banned strikes.  If anyone disagreed they would be sent to the newly opened concentration camps (the first being Dachau March 1933)</a:t>
            </a:r>
          </a:p>
          <a:p>
            <a:r>
              <a:rPr lang="en-GB" dirty="0" smtClean="0"/>
              <a:t>14 July 1933 the law against the formation of parties was passed and the Nazi Party became the sole legal party in Germany</a:t>
            </a:r>
          </a:p>
          <a:p>
            <a:r>
              <a:rPr lang="en-GB" dirty="0" smtClean="0"/>
              <a:t>Hitler abolished the 18 “Lander” (provincial Parliaments and put a Reich Governor in to replace them who would be a loyal Nazi</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7e  The importance of the Night of the long Knives</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Also known as Operation Hummingbird or the Bloody Purge</a:t>
            </a:r>
          </a:p>
          <a:p>
            <a:r>
              <a:rPr lang="en-GB" dirty="0" smtClean="0"/>
              <a:t>Hitler ordered the killing of 400 SA leaders and opposition including Von </a:t>
            </a:r>
            <a:r>
              <a:rPr lang="en-GB" dirty="0" err="1"/>
              <a:t>S</a:t>
            </a:r>
            <a:r>
              <a:rPr lang="en-GB" dirty="0" err="1" smtClean="0"/>
              <a:t>chleicher</a:t>
            </a:r>
            <a:r>
              <a:rPr lang="en-GB" dirty="0" smtClean="0"/>
              <a:t> and Rohm by the SS on 30 June 1934</a:t>
            </a:r>
          </a:p>
          <a:p>
            <a:r>
              <a:rPr lang="en-GB" dirty="0" smtClean="0"/>
              <a:t>This was to win the support of the army who distrusted the SA</a:t>
            </a:r>
          </a:p>
          <a:p>
            <a:r>
              <a:rPr lang="en-GB" dirty="0" smtClean="0"/>
              <a:t>To remove the threat to his power (they were a massive organisation)</a:t>
            </a:r>
          </a:p>
          <a:p>
            <a:r>
              <a:rPr lang="en-GB" dirty="0" smtClean="0"/>
              <a:t>It showed that Hitler would rule through terror and fear</a:t>
            </a:r>
          </a:p>
          <a:p>
            <a:endParaRPr lang="en-GB"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7f  the death of Hindenburg</a:t>
            </a:r>
            <a:endParaRPr lang="en-GB" dirty="0"/>
          </a:p>
        </p:txBody>
      </p:sp>
      <p:sp>
        <p:nvSpPr>
          <p:cNvPr id="3" name="Content Placeholder 2"/>
          <p:cNvSpPr>
            <a:spLocks noGrp="1"/>
          </p:cNvSpPr>
          <p:nvPr>
            <p:ph idx="1"/>
          </p:nvPr>
        </p:nvSpPr>
        <p:spPr/>
        <p:txBody>
          <a:bodyPr/>
          <a:lstStyle/>
          <a:p>
            <a:r>
              <a:rPr lang="en-GB" dirty="0" smtClean="0"/>
              <a:t>August 1934</a:t>
            </a:r>
          </a:p>
          <a:p>
            <a:r>
              <a:rPr lang="en-GB" dirty="0" smtClean="0"/>
              <a:t>The army swore allegiance to Hitler</a:t>
            </a:r>
          </a:p>
          <a:p>
            <a:r>
              <a:rPr lang="en-GB" dirty="0" smtClean="0"/>
              <a:t>Hitler combined the roles of Chancellor and President to become “Fuhrer”</a:t>
            </a:r>
          </a:p>
          <a:p>
            <a:r>
              <a:rPr lang="en-GB" dirty="0" smtClean="0"/>
              <a:t>He asked the approval of the German people and more than 90% of voters agreed showing his popularity</a:t>
            </a:r>
            <a:endParaRPr lang="en-GB"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Describe questions</a:t>
            </a:r>
            <a:endParaRPr lang="en-GB" dirty="0"/>
          </a:p>
        </p:txBody>
      </p:sp>
      <p:sp>
        <p:nvSpPr>
          <p:cNvPr id="3" name="Content Placeholder 2"/>
          <p:cNvSpPr>
            <a:spLocks noGrp="1"/>
          </p:cNvSpPr>
          <p:nvPr>
            <p:ph idx="1"/>
          </p:nvPr>
        </p:nvSpPr>
        <p:spPr/>
        <p:txBody>
          <a:bodyPr>
            <a:normAutofit fontScale="85000" lnSpcReduction="20000"/>
          </a:bodyPr>
          <a:lstStyle/>
          <a:p>
            <a:pPr marL="514350" indent="-514350">
              <a:buAutoNum type="arabicPeriod"/>
            </a:pPr>
            <a:r>
              <a:rPr lang="en-GB" dirty="0" smtClean="0"/>
              <a:t>Describe the Munich Putsch</a:t>
            </a:r>
          </a:p>
          <a:p>
            <a:pPr marL="514350" indent="-514350">
              <a:buAutoNum type="arabicPeriod"/>
            </a:pPr>
            <a:r>
              <a:rPr lang="en-GB" dirty="0" smtClean="0"/>
              <a:t>Describe Mein </a:t>
            </a:r>
            <a:r>
              <a:rPr lang="en-GB" dirty="0" err="1" smtClean="0"/>
              <a:t>Kampf</a:t>
            </a:r>
            <a:endParaRPr lang="en-GB" dirty="0" smtClean="0"/>
          </a:p>
          <a:p>
            <a:pPr marL="514350" indent="-514350">
              <a:buAutoNum type="arabicPeriod"/>
            </a:pPr>
            <a:r>
              <a:rPr lang="en-GB" dirty="0" smtClean="0"/>
              <a:t>Describe how the SA dealt with opposition</a:t>
            </a:r>
          </a:p>
          <a:p>
            <a:pPr marL="514350" indent="-514350">
              <a:buAutoNum type="arabicPeriod"/>
            </a:pPr>
            <a:r>
              <a:rPr lang="en-GB" dirty="0" smtClean="0"/>
              <a:t>Describe the effects of the Wall Street Crash</a:t>
            </a:r>
          </a:p>
          <a:p>
            <a:pPr marL="514350" indent="-514350">
              <a:buAutoNum type="arabicPeriod"/>
            </a:pPr>
            <a:r>
              <a:rPr lang="en-GB" dirty="0" smtClean="0"/>
              <a:t>Describe how Hitler used propaganda effectively between 1929-33</a:t>
            </a:r>
          </a:p>
          <a:p>
            <a:pPr marL="514350" indent="-514350">
              <a:buAutoNum type="arabicPeriod"/>
            </a:pPr>
            <a:r>
              <a:rPr lang="en-GB" dirty="0" smtClean="0"/>
              <a:t>Describe the political manipulation of Hindenburg and Von Papen in 1933 by Hitler</a:t>
            </a:r>
          </a:p>
          <a:p>
            <a:pPr marL="514350" indent="-514350">
              <a:buAutoNum type="arabicPeriod"/>
            </a:pPr>
            <a:r>
              <a:rPr lang="en-GB" dirty="0" smtClean="0"/>
              <a:t>Describe the Reichstag Fire</a:t>
            </a:r>
          </a:p>
          <a:p>
            <a:pPr marL="514350" indent="-514350">
              <a:buAutoNum type="arabicPeriod"/>
            </a:pPr>
            <a:r>
              <a:rPr lang="en-GB" dirty="0" smtClean="0"/>
              <a:t>Describe the March elections 1933</a:t>
            </a:r>
          </a:p>
          <a:p>
            <a:pPr marL="514350" indent="-514350">
              <a:buAutoNum type="arabicPeriod"/>
            </a:pPr>
            <a:r>
              <a:rPr lang="en-GB" dirty="0" smtClean="0"/>
              <a:t>Describe the Night of the Long Knives</a:t>
            </a:r>
          </a:p>
          <a:p>
            <a:pPr marL="514350" indent="-514350">
              <a:buAutoNum type="arabicPeriod"/>
            </a:pPr>
            <a:endParaRPr lang="en-GB"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Explain Questions</a:t>
            </a:r>
            <a:endParaRPr lang="en-GB" dirty="0"/>
          </a:p>
        </p:txBody>
      </p:sp>
      <p:sp>
        <p:nvSpPr>
          <p:cNvPr id="3" name="Content Placeholder 2"/>
          <p:cNvSpPr>
            <a:spLocks noGrp="1"/>
          </p:cNvSpPr>
          <p:nvPr>
            <p:ph idx="1"/>
          </p:nvPr>
        </p:nvSpPr>
        <p:spPr>
          <a:xfrm>
            <a:off x="0" y="1556792"/>
            <a:ext cx="9144000" cy="5301208"/>
          </a:xfrm>
        </p:spPr>
        <p:txBody>
          <a:bodyPr>
            <a:normAutofit fontScale="85000" lnSpcReduction="10000"/>
          </a:bodyPr>
          <a:lstStyle/>
          <a:p>
            <a:pPr marL="514350" indent="-514350">
              <a:buAutoNum type="arabicPeriod"/>
            </a:pPr>
            <a:r>
              <a:rPr lang="en-GB" dirty="0" smtClean="0"/>
              <a:t>Explain how Germany was affected by the Great Depression</a:t>
            </a:r>
          </a:p>
          <a:p>
            <a:pPr marL="514350" indent="-514350">
              <a:buAutoNum type="arabicPeriod"/>
            </a:pPr>
            <a:r>
              <a:rPr lang="en-GB" dirty="0" smtClean="0"/>
              <a:t>Explain how propaganda helped Hitler to become Chancellor in 1933</a:t>
            </a:r>
          </a:p>
          <a:p>
            <a:pPr marL="514350" indent="-514350">
              <a:buAutoNum type="arabicPeriod"/>
            </a:pPr>
            <a:r>
              <a:rPr lang="en-GB" dirty="0" smtClean="0"/>
              <a:t>Explain how the SA helped Hitler become Chancellor in 1933</a:t>
            </a:r>
          </a:p>
          <a:p>
            <a:pPr marL="514350" indent="-514350">
              <a:buAutoNum type="arabicPeriod"/>
            </a:pPr>
            <a:r>
              <a:rPr lang="en-GB" dirty="0" smtClean="0"/>
              <a:t>Explain how the Reichstag Fire helped Hitler to consolidate his power</a:t>
            </a:r>
          </a:p>
          <a:p>
            <a:pPr marL="514350" indent="-514350">
              <a:buAutoNum type="arabicPeriod"/>
            </a:pPr>
            <a:r>
              <a:rPr lang="en-GB" dirty="0" smtClean="0"/>
              <a:t>Explain how the Enabling Act helped Hitler to consolidate his power</a:t>
            </a:r>
          </a:p>
          <a:p>
            <a:pPr marL="514350" indent="-514350">
              <a:buAutoNum type="arabicPeriod"/>
            </a:pPr>
            <a:r>
              <a:rPr lang="en-GB" dirty="0" smtClean="0"/>
              <a:t>Explain how the Night of the Long Knives helped Hitler to consolidate his power</a:t>
            </a:r>
          </a:p>
          <a:p>
            <a:pPr marL="514350" indent="-514350">
              <a:buAutoNum type="arabicPeriod"/>
            </a:pPr>
            <a:r>
              <a:rPr lang="en-GB" dirty="0" smtClean="0"/>
              <a:t>Explain how the death of Hindenburg helped Hitler to consolidate his power</a:t>
            </a:r>
            <a:endParaRPr lang="en-GB"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10 mark questions</a:t>
            </a:r>
            <a:endParaRPr lang="en-GB" dirty="0"/>
          </a:p>
        </p:txBody>
      </p:sp>
      <p:sp>
        <p:nvSpPr>
          <p:cNvPr id="3" name="Content Placeholder 2"/>
          <p:cNvSpPr>
            <a:spLocks noGrp="1"/>
          </p:cNvSpPr>
          <p:nvPr>
            <p:ph idx="1"/>
          </p:nvPr>
        </p:nvSpPr>
        <p:spPr/>
        <p:txBody>
          <a:bodyPr>
            <a:normAutofit lnSpcReduction="10000"/>
          </a:bodyPr>
          <a:lstStyle/>
          <a:p>
            <a:pPr marL="514350" indent="-514350">
              <a:buAutoNum type="arabicPeriod"/>
            </a:pPr>
            <a:r>
              <a:rPr lang="en-GB" dirty="0" smtClean="0"/>
              <a:t>Was the Reichstag Fire/Enabling Act/Night of the Long Knives/the Death of Hindenburg the main reason that Hitler consolidated his power in 1934</a:t>
            </a:r>
          </a:p>
          <a:p>
            <a:pPr marL="514350" indent="-514350">
              <a:buAutoNum type="arabicPeriod"/>
            </a:pPr>
            <a:endParaRPr lang="en-GB" dirty="0"/>
          </a:p>
          <a:p>
            <a:pPr marL="514350" indent="-514350">
              <a:buAutoNum type="arabicPeriod"/>
            </a:pPr>
            <a:r>
              <a:rPr lang="en-GB" dirty="0" smtClean="0"/>
              <a:t>Was the Great Depression/political manipulation/propaganda/a weak Weimar Government the main reason Hitler became Chancellor in 1933</a:t>
            </a:r>
            <a:endParaRPr lang="en-GB"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Did life improve for ordinary Germans under Nazi rule between 1933-39</a:t>
            </a:r>
            <a:endParaRPr lang="en-GB" dirty="0"/>
          </a:p>
        </p:txBody>
      </p:sp>
      <p:sp>
        <p:nvSpPr>
          <p:cNvPr id="3" name="Content Placeholder 2"/>
          <p:cNvSpPr>
            <a:spLocks noGrp="1"/>
          </p:cNvSpPr>
          <p:nvPr>
            <p:ph idx="1"/>
          </p:nvPr>
        </p:nvSpPr>
        <p:spPr/>
        <p:txBody>
          <a:bodyPr/>
          <a:lstStyle/>
          <a:p>
            <a:r>
              <a:rPr lang="en-GB" dirty="0" smtClean="0"/>
              <a:t>Economic policy</a:t>
            </a:r>
          </a:p>
          <a:p>
            <a:r>
              <a:rPr lang="en-GB" dirty="0" smtClean="0"/>
              <a:t>Education/youth policy</a:t>
            </a:r>
          </a:p>
          <a:p>
            <a:r>
              <a:rPr lang="en-GB" dirty="0" smtClean="0"/>
              <a:t>Women policy</a:t>
            </a:r>
          </a:p>
          <a:p>
            <a:r>
              <a:rPr lang="en-GB" dirty="0" smtClean="0"/>
              <a:t>Race Policy</a:t>
            </a:r>
          </a:p>
          <a:p>
            <a:r>
              <a:rPr lang="en-GB" dirty="0" smtClean="0"/>
              <a:t>Religious policy</a:t>
            </a:r>
          </a:p>
          <a:p>
            <a:r>
              <a:rPr lang="en-GB" dirty="0" smtClean="0"/>
              <a:t>Political policy/Police State</a:t>
            </a:r>
          </a:p>
          <a:p>
            <a:r>
              <a:rPr lang="en-GB" dirty="0" smtClean="0"/>
              <a:t>Censorship</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8 How did German economic policy affect life in Germany</a:t>
            </a:r>
            <a:endParaRPr lang="en-GB" dirty="0"/>
          </a:p>
        </p:txBody>
      </p:sp>
      <p:sp>
        <p:nvSpPr>
          <p:cNvPr id="3" name="Content Placeholder 2"/>
          <p:cNvSpPr>
            <a:spLocks noGrp="1"/>
          </p:cNvSpPr>
          <p:nvPr>
            <p:ph idx="1"/>
          </p:nvPr>
        </p:nvSpPr>
        <p:spPr/>
        <p:txBody>
          <a:bodyPr/>
          <a:lstStyle/>
          <a:p>
            <a:endParaRPr lang="en-GB"/>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8a  How he improved the economy</a:t>
            </a:r>
            <a:endParaRPr lang="en-GB" dirty="0"/>
          </a:p>
        </p:txBody>
      </p:sp>
      <p:sp>
        <p:nvSpPr>
          <p:cNvPr id="3" name="Content Placeholder 2"/>
          <p:cNvSpPr>
            <a:spLocks noGrp="1"/>
          </p:cNvSpPr>
          <p:nvPr>
            <p:ph idx="1"/>
          </p:nvPr>
        </p:nvSpPr>
        <p:spPr/>
        <p:txBody>
          <a:bodyPr/>
          <a:lstStyle/>
          <a:p>
            <a:r>
              <a:rPr lang="en-GB" dirty="0" smtClean="0"/>
              <a:t>The RAD provided men between 18-25 with manual labour jobs which reduced unemployment</a:t>
            </a:r>
          </a:p>
          <a:p>
            <a:endParaRPr lang="en-GB" dirty="0"/>
          </a:p>
          <a:p>
            <a:r>
              <a:rPr lang="en-GB" dirty="0" smtClean="0"/>
              <a:t>BUT it was compulsory from 1935.  It was low paid and all workers lived in camps and had to wear uniform</a:t>
            </a:r>
          </a:p>
          <a:p>
            <a:endParaRPr lang="en-GB" dirty="0"/>
          </a:p>
          <a:p>
            <a:endParaRPr lang="en-GB"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8a  How he improved the economy</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t>Hitler spent millions on job creation schemes.  They introduced a massive road building scheme which built 7000km of autobahns as well as hospitals, schools and houses</a:t>
            </a:r>
          </a:p>
          <a:p>
            <a:endParaRPr lang="en-GB" dirty="0"/>
          </a:p>
          <a:p>
            <a:r>
              <a:rPr lang="en-GB" dirty="0" smtClean="0"/>
              <a:t>BUT there was invisible unemployment. Jews were fired and women were not included in figures.  Part time workers were shown as full time employed so the figures looked better than they were</a:t>
            </a:r>
            <a:endParaRPr lang="en-GB" dirty="0"/>
          </a:p>
          <a:p>
            <a:endParaRPr lang="en-GB"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8a  How he improved the economy</a:t>
            </a:r>
            <a:endParaRPr lang="en-GB" dirty="0"/>
          </a:p>
        </p:txBody>
      </p:sp>
      <p:sp>
        <p:nvSpPr>
          <p:cNvPr id="3" name="Content Placeholder 2"/>
          <p:cNvSpPr>
            <a:spLocks noGrp="1"/>
          </p:cNvSpPr>
          <p:nvPr>
            <p:ph idx="1"/>
          </p:nvPr>
        </p:nvSpPr>
        <p:spPr/>
        <p:txBody>
          <a:bodyPr/>
          <a:lstStyle/>
          <a:p>
            <a:r>
              <a:rPr lang="en-GB" dirty="0" smtClean="0"/>
              <a:t>1934 </a:t>
            </a:r>
            <a:r>
              <a:rPr lang="en-GB" dirty="0" err="1" smtClean="0"/>
              <a:t>Hjalmar</a:t>
            </a:r>
            <a:r>
              <a:rPr lang="en-GB" dirty="0" smtClean="0"/>
              <a:t> </a:t>
            </a:r>
            <a:r>
              <a:rPr lang="en-GB" dirty="0" err="1" smtClean="0"/>
              <a:t>Schact</a:t>
            </a:r>
            <a:r>
              <a:rPr lang="en-GB" dirty="0" smtClean="0"/>
              <a:t> introduced </a:t>
            </a:r>
            <a:r>
              <a:rPr lang="en-GB" dirty="0" err="1" smtClean="0"/>
              <a:t>Mefo</a:t>
            </a:r>
            <a:r>
              <a:rPr lang="en-GB" dirty="0" smtClean="0"/>
              <a:t> Bills.  Credit notes to boost spending</a:t>
            </a:r>
            <a:endParaRPr lang="en-GB"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8a  How he improved the economy</a:t>
            </a:r>
            <a:endParaRPr lang="en-GB" dirty="0"/>
          </a:p>
        </p:txBody>
      </p:sp>
      <p:sp>
        <p:nvSpPr>
          <p:cNvPr id="3" name="Content Placeholder 2"/>
          <p:cNvSpPr>
            <a:spLocks noGrp="1"/>
          </p:cNvSpPr>
          <p:nvPr>
            <p:ph idx="1"/>
          </p:nvPr>
        </p:nvSpPr>
        <p:spPr/>
        <p:txBody>
          <a:bodyPr/>
          <a:lstStyle/>
          <a:p>
            <a:r>
              <a:rPr lang="en-GB" dirty="0" smtClean="0"/>
              <a:t>1936 Goering introduced the 4 year plan to create autarky (self sufficiency) e.g. the chemical company IG </a:t>
            </a:r>
            <a:r>
              <a:rPr lang="en-GB" dirty="0" err="1" smtClean="0"/>
              <a:t>Farben</a:t>
            </a:r>
            <a:r>
              <a:rPr lang="en-GB" dirty="0" smtClean="0"/>
              <a:t> was paid to try and develop a way of getting oil out of coal</a:t>
            </a:r>
          </a:p>
          <a:p>
            <a:endParaRPr lang="en-GB" dirty="0"/>
          </a:p>
          <a:p>
            <a:r>
              <a:rPr lang="en-GB" dirty="0" smtClean="0"/>
              <a:t>BUT these method s did not reduce the amount of imports that Germany imported</a:t>
            </a:r>
            <a:endParaRPr lang="en-GB"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8a  How he improved the economy</a:t>
            </a:r>
            <a:endParaRPr lang="en-GB" dirty="0"/>
          </a:p>
        </p:txBody>
      </p:sp>
      <p:sp>
        <p:nvSpPr>
          <p:cNvPr id="3" name="Content Placeholder 2"/>
          <p:cNvSpPr>
            <a:spLocks noGrp="1"/>
          </p:cNvSpPr>
          <p:nvPr>
            <p:ph idx="1"/>
          </p:nvPr>
        </p:nvSpPr>
        <p:spPr/>
        <p:txBody>
          <a:bodyPr/>
          <a:lstStyle/>
          <a:p>
            <a:r>
              <a:rPr lang="en-GB" dirty="0" smtClean="0"/>
              <a:t>Rearmament created jobs e.g. between 1933-39 use of oil, iron and steel trebled.  In 1939 26 billion was spent on rearmament</a:t>
            </a:r>
          </a:p>
          <a:p>
            <a:pPr>
              <a:buNone/>
            </a:pPr>
            <a:endParaRPr lang="en-GB" dirty="0" smtClean="0"/>
          </a:p>
          <a:p>
            <a:r>
              <a:rPr lang="en-GB" dirty="0" smtClean="0"/>
              <a:t>Hitler reintroduced conscription in 1935 and men had to join the army meaning they were no longer unemployed</a:t>
            </a:r>
            <a:endParaRPr lang="en-GB"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548680"/>
          </a:xfrm>
        </p:spPr>
        <p:txBody>
          <a:bodyPr>
            <a:normAutofit fontScale="90000"/>
          </a:bodyPr>
          <a:lstStyle/>
          <a:p>
            <a:r>
              <a:rPr lang="en-GB" dirty="0" smtClean="0"/>
              <a:t>8a  How he improved the economy</a:t>
            </a:r>
            <a:endParaRPr lang="en-GB" dirty="0"/>
          </a:p>
        </p:txBody>
      </p:sp>
      <p:sp>
        <p:nvSpPr>
          <p:cNvPr id="3" name="Content Placeholder 2"/>
          <p:cNvSpPr>
            <a:spLocks noGrp="1"/>
          </p:cNvSpPr>
          <p:nvPr>
            <p:ph idx="1"/>
          </p:nvPr>
        </p:nvSpPr>
        <p:spPr>
          <a:xfrm>
            <a:off x="0" y="404664"/>
            <a:ext cx="9144000" cy="5904656"/>
          </a:xfrm>
        </p:spPr>
        <p:txBody>
          <a:bodyPr>
            <a:noAutofit/>
          </a:bodyPr>
          <a:lstStyle/>
          <a:p>
            <a:r>
              <a:rPr lang="en-GB" sz="2400" dirty="0" smtClean="0"/>
              <a:t>The DAF (National </a:t>
            </a:r>
            <a:r>
              <a:rPr lang="en-GB" sz="2400" dirty="0" err="1" smtClean="0"/>
              <a:t>Labout</a:t>
            </a:r>
            <a:r>
              <a:rPr lang="en-GB" sz="2400" dirty="0" smtClean="0"/>
              <a:t> Front) was set up on May 2 1933.  the DAF replaced trade unions and was led by Robert </a:t>
            </a:r>
            <a:r>
              <a:rPr lang="en-GB" sz="2400" dirty="0" err="1" smtClean="0"/>
              <a:t>Ley</a:t>
            </a:r>
            <a:endParaRPr lang="en-GB" sz="2400" dirty="0" smtClean="0"/>
          </a:p>
          <a:p>
            <a:pPr>
              <a:buFontTx/>
              <a:buChar char="-"/>
            </a:pPr>
            <a:r>
              <a:rPr lang="en-GB" sz="2400" dirty="0" smtClean="0"/>
              <a:t>Workers given relatively high wages</a:t>
            </a:r>
          </a:p>
          <a:p>
            <a:pPr>
              <a:buFontTx/>
              <a:buChar char="-"/>
            </a:pPr>
            <a:r>
              <a:rPr lang="en-GB" sz="2400" dirty="0" smtClean="0"/>
              <a:t>They set up the </a:t>
            </a:r>
            <a:r>
              <a:rPr lang="en-GB" sz="2400" dirty="0" err="1" smtClean="0"/>
              <a:t>KdF</a:t>
            </a:r>
            <a:r>
              <a:rPr lang="en-GB" sz="2400" dirty="0" smtClean="0"/>
              <a:t> Strength Through Joy which rewarded hard workers with sponsored leisure activities such as concerts, sporting events and cruises.  They also improved working conditions building canteens and sports facilities and installing better lights</a:t>
            </a:r>
          </a:p>
          <a:p>
            <a:pPr>
              <a:buFontTx/>
              <a:buChar char="-"/>
            </a:pPr>
            <a:endParaRPr lang="en-GB" sz="2400" dirty="0"/>
          </a:p>
          <a:p>
            <a:r>
              <a:rPr lang="en-GB" sz="2400" dirty="0" smtClean="0"/>
              <a:t>BUT  the </a:t>
            </a:r>
            <a:r>
              <a:rPr lang="en-GB" sz="2400" dirty="0" err="1" smtClean="0"/>
              <a:t>KdF</a:t>
            </a:r>
            <a:r>
              <a:rPr lang="en-GB" sz="2400" dirty="0" smtClean="0"/>
              <a:t> meant that the German people’s leisure time was controlled</a:t>
            </a:r>
          </a:p>
          <a:p>
            <a:r>
              <a:rPr lang="en-GB" sz="2400" dirty="0" smtClean="0"/>
              <a:t>Workers received work books and if you didn’t have one e.g. you weren’t a member of the DAF you couldn’t get work</a:t>
            </a:r>
          </a:p>
          <a:p>
            <a:r>
              <a:rPr lang="en-GB" sz="2400" dirty="0" smtClean="0"/>
              <a:t>Strikes were banned</a:t>
            </a:r>
          </a:p>
          <a:p>
            <a:r>
              <a:rPr lang="en-GB" sz="2400" dirty="0" smtClean="0"/>
              <a:t>Membership cost 3 </a:t>
            </a:r>
            <a:r>
              <a:rPr lang="en-GB" sz="2400" dirty="0" err="1" smtClean="0"/>
              <a:t>Reichsmark</a:t>
            </a:r>
            <a:endParaRPr lang="en-GB" sz="2400" dirty="0" smtClean="0"/>
          </a:p>
          <a:p>
            <a:r>
              <a:rPr lang="en-GB" sz="2400" dirty="0" smtClean="0"/>
              <a:t>In 1938 the </a:t>
            </a:r>
            <a:r>
              <a:rPr lang="en-GB" sz="2400" dirty="0" err="1" smtClean="0"/>
              <a:t>Volkswagon</a:t>
            </a:r>
            <a:r>
              <a:rPr lang="en-GB" sz="2400" dirty="0" smtClean="0"/>
              <a:t> Scheme conned people.  The cars never arrived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9.  How Hitler controlled people through social policy</a:t>
            </a:r>
            <a:endParaRPr lang="en-GB" dirty="0"/>
          </a:p>
        </p:txBody>
      </p:sp>
      <p:sp>
        <p:nvSpPr>
          <p:cNvPr id="3" name="Content Placeholder 2"/>
          <p:cNvSpPr>
            <a:spLocks noGrp="1"/>
          </p:cNvSpPr>
          <p:nvPr>
            <p:ph idx="1"/>
          </p:nvPr>
        </p:nvSpPr>
        <p:spPr/>
        <p:txBody>
          <a:bodyPr/>
          <a:lstStyle/>
          <a:p>
            <a:endParaRPr lang="en-GB"/>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548680"/>
          </a:xfrm>
        </p:spPr>
        <p:txBody>
          <a:bodyPr>
            <a:normAutofit fontScale="90000"/>
          </a:bodyPr>
          <a:lstStyle/>
          <a:p>
            <a:r>
              <a:rPr lang="en-GB" sz="3600" dirty="0" smtClean="0"/>
              <a:t>9a  control of women</a:t>
            </a:r>
            <a:endParaRPr lang="en-GB" sz="3600" dirty="0"/>
          </a:p>
        </p:txBody>
      </p:sp>
      <p:sp>
        <p:nvSpPr>
          <p:cNvPr id="3" name="Content Placeholder 2"/>
          <p:cNvSpPr>
            <a:spLocks noGrp="1"/>
          </p:cNvSpPr>
          <p:nvPr>
            <p:ph idx="1"/>
          </p:nvPr>
        </p:nvSpPr>
        <p:spPr>
          <a:xfrm>
            <a:off x="0" y="548680"/>
            <a:ext cx="9144000" cy="6309320"/>
          </a:xfrm>
        </p:spPr>
        <p:txBody>
          <a:bodyPr>
            <a:noAutofit/>
          </a:bodyPr>
          <a:lstStyle/>
          <a:p>
            <a:r>
              <a:rPr lang="en-GB" sz="1800" dirty="0" smtClean="0"/>
              <a:t>Ideal Nazi woman was traditional (no makeup, blonde, heavy hipped, athletic, flat shoes, did not work, did not smoke, cooked and brought up children, took no interest in politics)</a:t>
            </a:r>
          </a:p>
          <a:p>
            <a:r>
              <a:rPr lang="en-GB" sz="1800" dirty="0" smtClean="0"/>
              <a:t>Before 1933 women’s rights had made big steps in Germany.  This was reversed by Nazi policy</a:t>
            </a:r>
          </a:p>
          <a:p>
            <a:r>
              <a:rPr lang="en-GB" sz="1800" dirty="0" smtClean="0"/>
              <a:t>Massive propaganda campaign to promote motherhood</a:t>
            </a:r>
          </a:p>
          <a:p>
            <a:r>
              <a:rPr lang="en-GB" sz="1800" dirty="0" smtClean="0"/>
              <a:t>1933 Law for the Encouragement of Marriage – loans given to couples provided the woman left her job.  They got to keep a quarter of the money for each child they had</a:t>
            </a:r>
          </a:p>
          <a:p>
            <a:r>
              <a:rPr lang="en-GB" sz="1800" dirty="0" smtClean="0"/>
              <a:t>On Hitler’s mother’s birthday, 12 August, medals were given to women with large families</a:t>
            </a:r>
          </a:p>
          <a:p>
            <a:r>
              <a:rPr lang="en-GB" sz="1800" dirty="0" smtClean="0"/>
              <a:t>1938 changed the divorce law.  A husband could divorce his wife if she could not have children</a:t>
            </a:r>
          </a:p>
          <a:p>
            <a:r>
              <a:rPr lang="en-GB" sz="1800" dirty="0" err="1" smtClean="0"/>
              <a:t>Lebensborn</a:t>
            </a:r>
            <a:r>
              <a:rPr lang="en-GB" sz="1800" dirty="0" smtClean="0"/>
              <a:t> was a programme where unmarried women could donate a baby to the Fuhrer by becoming pregnant by racially pure Aryan men</a:t>
            </a:r>
          </a:p>
          <a:p>
            <a:r>
              <a:rPr lang="en-GB" sz="1800" dirty="0" smtClean="0"/>
              <a:t>The German’s Women’s Enterprise was set up who organised classes and talks on motherhood</a:t>
            </a:r>
          </a:p>
          <a:p>
            <a:r>
              <a:rPr lang="en-GB" sz="1800" dirty="0" smtClean="0"/>
              <a:t>Women were asked to stick to the 3 Ks – Kinder, </a:t>
            </a:r>
            <a:r>
              <a:rPr lang="en-GB" sz="1800" dirty="0" err="1" smtClean="0"/>
              <a:t>kuche</a:t>
            </a:r>
            <a:r>
              <a:rPr lang="en-GB" sz="1800" dirty="0" smtClean="0"/>
              <a:t>, </a:t>
            </a:r>
            <a:r>
              <a:rPr lang="en-GB" sz="1800" dirty="0" err="1" smtClean="0"/>
              <a:t>Kirche</a:t>
            </a:r>
            <a:r>
              <a:rPr lang="en-GB" sz="1800" dirty="0" smtClean="0"/>
              <a:t> (Children, cooking and Church)</a:t>
            </a:r>
          </a:p>
          <a:p>
            <a:r>
              <a:rPr lang="en-GB" sz="1800" dirty="0" smtClean="0"/>
              <a:t>Women were discouraged from higher education at school and at the League of German Maiden meetings</a:t>
            </a:r>
            <a:endParaRPr lang="en-GB"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9b Control of children through education</a:t>
            </a:r>
            <a:endParaRPr lang="en-GB" dirty="0"/>
          </a:p>
        </p:txBody>
      </p:sp>
      <p:sp>
        <p:nvSpPr>
          <p:cNvPr id="3" name="Content Placeholder 2"/>
          <p:cNvSpPr>
            <a:spLocks noGrp="1"/>
          </p:cNvSpPr>
          <p:nvPr>
            <p:ph idx="1"/>
          </p:nvPr>
        </p:nvSpPr>
        <p:spPr>
          <a:xfrm>
            <a:off x="0" y="1600200"/>
            <a:ext cx="8686800" cy="5257800"/>
          </a:xfrm>
        </p:spPr>
        <p:txBody>
          <a:bodyPr>
            <a:normAutofit fontScale="92500" lnSpcReduction="10000"/>
          </a:bodyPr>
          <a:lstStyle/>
          <a:p>
            <a:r>
              <a:rPr lang="en-GB" dirty="0" smtClean="0"/>
              <a:t>Teachers had to swear an oath of loyalty to Hitler and join the Nazi Teacher’s League</a:t>
            </a:r>
          </a:p>
          <a:p>
            <a:r>
              <a:rPr lang="en-GB" dirty="0" smtClean="0"/>
              <a:t>The Curriculum was changed.  Boys focus was to prepare them for the military and girl’s motherhood.  Race studies was introduced</a:t>
            </a:r>
          </a:p>
          <a:p>
            <a:r>
              <a:rPr lang="en-GB" dirty="0" smtClean="0"/>
              <a:t>Lessons began and ended with “</a:t>
            </a:r>
            <a:r>
              <a:rPr lang="en-GB" dirty="0" err="1" smtClean="0"/>
              <a:t>Heil</a:t>
            </a:r>
            <a:r>
              <a:rPr lang="en-GB" dirty="0" smtClean="0"/>
              <a:t> Hitler” salute.  Nazi themes were taught in all subjects e.g. History taught the evils of the Treaty of Versailles</a:t>
            </a:r>
          </a:p>
          <a:p>
            <a:r>
              <a:rPr lang="en-GB" dirty="0" smtClean="0"/>
              <a:t>Textbooks were rewritten and were full of anti </a:t>
            </a:r>
            <a:r>
              <a:rPr lang="en-GB" dirty="0" err="1" smtClean="0"/>
              <a:t>semitic</a:t>
            </a:r>
            <a:r>
              <a:rPr lang="en-GB" dirty="0" smtClean="0"/>
              <a:t> (anti Jewish) propaganda.  Mein </a:t>
            </a:r>
            <a:r>
              <a:rPr lang="en-GB" dirty="0" err="1" smtClean="0"/>
              <a:t>Kampf</a:t>
            </a:r>
            <a:r>
              <a:rPr lang="en-GB" dirty="0" smtClean="0"/>
              <a:t> was a standard text</a:t>
            </a:r>
            <a:endParaRPr lang="en-GB"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9c  Hitler’s control of youth in their spare time</a:t>
            </a:r>
            <a:endParaRPr lang="en-GB" dirty="0"/>
          </a:p>
        </p:txBody>
      </p:sp>
      <p:sp>
        <p:nvSpPr>
          <p:cNvPr id="3" name="Content Placeholder 2"/>
          <p:cNvSpPr>
            <a:spLocks noGrp="1"/>
          </p:cNvSpPr>
          <p:nvPr>
            <p:ph idx="1"/>
          </p:nvPr>
        </p:nvSpPr>
        <p:spPr>
          <a:xfrm>
            <a:off x="0" y="1600200"/>
            <a:ext cx="9144000" cy="5257800"/>
          </a:xfrm>
        </p:spPr>
        <p:txBody>
          <a:bodyPr>
            <a:normAutofit fontScale="85000" lnSpcReduction="20000"/>
          </a:bodyPr>
          <a:lstStyle/>
          <a:p>
            <a:r>
              <a:rPr lang="en-GB" dirty="0" smtClean="0"/>
              <a:t>Hitler Youth</a:t>
            </a:r>
          </a:p>
          <a:p>
            <a:pPr>
              <a:buFontTx/>
              <a:buChar char="-"/>
            </a:pPr>
            <a:r>
              <a:rPr lang="en-GB" dirty="0" smtClean="0"/>
              <a:t>All other youth organisations banned</a:t>
            </a:r>
          </a:p>
          <a:p>
            <a:pPr>
              <a:buFontTx/>
              <a:buChar char="-"/>
            </a:pPr>
            <a:r>
              <a:rPr lang="en-GB" dirty="0" smtClean="0"/>
              <a:t>1939 membership was compulsory and there were 7 million members</a:t>
            </a:r>
          </a:p>
          <a:p>
            <a:pPr>
              <a:buFontTx/>
              <a:buChar char="-"/>
            </a:pPr>
            <a:r>
              <a:rPr lang="en-GB" dirty="0" smtClean="0"/>
              <a:t>Joined the </a:t>
            </a:r>
            <a:r>
              <a:rPr lang="en-GB" dirty="0" err="1" smtClean="0"/>
              <a:t>Jungvolk</a:t>
            </a:r>
            <a:r>
              <a:rPr lang="en-GB" dirty="0" smtClean="0"/>
              <a:t> at 10 (German Young People) and the Hitler </a:t>
            </a:r>
            <a:r>
              <a:rPr lang="en-GB" dirty="0" err="1" smtClean="0"/>
              <a:t>Jungend</a:t>
            </a:r>
            <a:r>
              <a:rPr lang="en-GB" dirty="0" smtClean="0"/>
              <a:t> (Hitler Youth) 14-18.  They camped, did athletics and learnt military skills</a:t>
            </a:r>
          </a:p>
          <a:p>
            <a:r>
              <a:rPr lang="en-GB" dirty="0" smtClean="0"/>
              <a:t>Girls joined the Young Girls (</a:t>
            </a:r>
            <a:r>
              <a:rPr lang="en-GB" dirty="0" err="1" smtClean="0"/>
              <a:t>Jungmadel</a:t>
            </a:r>
            <a:r>
              <a:rPr lang="en-GB" dirty="0" smtClean="0"/>
              <a:t>) at 10 and  the League of German Maidens 14-18 (Bund </a:t>
            </a:r>
            <a:r>
              <a:rPr lang="en-GB" dirty="0" err="1" smtClean="0"/>
              <a:t>Deutche</a:t>
            </a:r>
            <a:r>
              <a:rPr lang="en-GB" dirty="0" smtClean="0"/>
              <a:t> </a:t>
            </a:r>
            <a:r>
              <a:rPr lang="en-GB" dirty="0" err="1" smtClean="0"/>
              <a:t>Madchen</a:t>
            </a:r>
            <a:r>
              <a:rPr lang="en-GB" dirty="0" smtClean="0"/>
              <a:t>).  They learnt domestic skills to prepare them for marriage and motherhood</a:t>
            </a:r>
          </a:p>
          <a:p>
            <a:endParaRPr lang="en-GB" dirty="0"/>
          </a:p>
          <a:p>
            <a:r>
              <a:rPr lang="en-GB" dirty="0" smtClean="0"/>
              <a:t>Many children did not like these organisations but had no choice but to attend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10 Political policy </a:t>
            </a:r>
            <a:endParaRPr lang="en-GB" dirty="0"/>
          </a:p>
        </p:txBody>
      </p:sp>
      <p:sp>
        <p:nvSpPr>
          <p:cNvPr id="3" name="Content Placeholder 2"/>
          <p:cNvSpPr>
            <a:spLocks noGrp="1"/>
          </p:cNvSpPr>
          <p:nvPr>
            <p:ph idx="1"/>
          </p:nvPr>
        </p:nvSpPr>
        <p:spPr/>
        <p:txBody>
          <a:bodyPr/>
          <a:lstStyle/>
          <a:p>
            <a:r>
              <a:rPr lang="en-GB" dirty="0" smtClean="0"/>
              <a:t>The police state</a:t>
            </a:r>
          </a:p>
          <a:p>
            <a:pPr marL="514350" indent="-514350">
              <a:buAutoNum type="arabicPeriod"/>
            </a:pPr>
            <a:r>
              <a:rPr lang="en-GB" dirty="0" smtClean="0"/>
              <a:t>SS</a:t>
            </a:r>
          </a:p>
          <a:p>
            <a:pPr marL="514350" indent="-514350">
              <a:buAutoNum type="arabicPeriod"/>
            </a:pPr>
            <a:r>
              <a:rPr lang="en-GB" dirty="0" smtClean="0"/>
              <a:t>Gestapo</a:t>
            </a:r>
          </a:p>
          <a:p>
            <a:pPr marL="514350" indent="-514350">
              <a:buAutoNum type="arabicPeriod"/>
            </a:pPr>
            <a:r>
              <a:rPr lang="en-GB" dirty="0" smtClean="0"/>
              <a:t>Concentration camps</a:t>
            </a:r>
            <a:endParaRPr lang="en-GB"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10a  the police state</a:t>
            </a:r>
            <a:endParaRPr lang="en-GB" dirty="0"/>
          </a:p>
        </p:txBody>
      </p:sp>
      <p:sp>
        <p:nvSpPr>
          <p:cNvPr id="3" name="Content Placeholder 2"/>
          <p:cNvSpPr>
            <a:spLocks noGrp="1"/>
          </p:cNvSpPr>
          <p:nvPr>
            <p:ph idx="1"/>
          </p:nvPr>
        </p:nvSpPr>
        <p:spPr/>
        <p:txBody>
          <a:bodyPr/>
          <a:lstStyle/>
          <a:p>
            <a:r>
              <a:rPr lang="en-GB" b="1" u="sng" dirty="0" smtClean="0"/>
              <a:t>SS (</a:t>
            </a:r>
            <a:r>
              <a:rPr lang="en-GB" b="1" u="sng" dirty="0" err="1" smtClean="0"/>
              <a:t>Schutzstaffel</a:t>
            </a:r>
            <a:r>
              <a:rPr lang="en-GB" b="1" u="sng" dirty="0" smtClean="0"/>
              <a:t>) </a:t>
            </a:r>
            <a:r>
              <a:rPr lang="en-GB" dirty="0" smtClean="0"/>
              <a:t>formed in 1925 as a bodyguard for Hitler</a:t>
            </a:r>
          </a:p>
          <a:p>
            <a:pPr>
              <a:buFontTx/>
              <a:buChar char="-"/>
            </a:pPr>
            <a:r>
              <a:rPr lang="en-GB" dirty="0" smtClean="0"/>
              <a:t>Led by Heinrich Himmler after 1929</a:t>
            </a:r>
          </a:p>
          <a:p>
            <a:pPr>
              <a:buFontTx/>
              <a:buChar char="-"/>
            </a:pPr>
            <a:r>
              <a:rPr lang="en-GB" dirty="0" smtClean="0"/>
              <a:t>Wore black and showed complete obedience to the Fuhrer</a:t>
            </a:r>
          </a:p>
          <a:p>
            <a:pPr>
              <a:buFontTx/>
              <a:buChar char="-"/>
            </a:pPr>
            <a:r>
              <a:rPr lang="en-GB" dirty="0" smtClean="0"/>
              <a:t>1934 50,000 members </a:t>
            </a:r>
          </a:p>
          <a:p>
            <a:pPr>
              <a:buFontTx/>
              <a:buChar char="-"/>
            </a:pPr>
            <a:r>
              <a:rPr lang="en-GB" dirty="0" smtClean="0"/>
              <a:t>After the Night of the Long Knives were responsible for removing all opposition</a:t>
            </a:r>
            <a:endParaRPr lang="en-GB"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10a  the police state</a:t>
            </a:r>
            <a:endParaRPr lang="en-GB" dirty="0"/>
          </a:p>
        </p:txBody>
      </p:sp>
      <p:sp>
        <p:nvSpPr>
          <p:cNvPr id="3" name="Content Placeholder 2"/>
          <p:cNvSpPr>
            <a:spLocks noGrp="1"/>
          </p:cNvSpPr>
          <p:nvPr>
            <p:ph idx="1"/>
          </p:nvPr>
        </p:nvSpPr>
        <p:spPr/>
        <p:txBody>
          <a:bodyPr/>
          <a:lstStyle/>
          <a:p>
            <a:r>
              <a:rPr lang="en-GB" b="1" u="sng" dirty="0" smtClean="0"/>
              <a:t>The Gestapo </a:t>
            </a:r>
            <a:r>
              <a:rPr lang="en-GB" dirty="0" smtClean="0"/>
              <a:t>(Secret State Police) set up in 1933 by Goering</a:t>
            </a:r>
          </a:p>
          <a:p>
            <a:pPr>
              <a:buFontTx/>
              <a:buChar char="-"/>
            </a:pPr>
            <a:r>
              <a:rPr lang="en-GB" dirty="0" smtClean="0"/>
              <a:t>Was part of the SS after 1936</a:t>
            </a:r>
          </a:p>
          <a:p>
            <a:pPr>
              <a:buFontTx/>
              <a:buChar char="-"/>
            </a:pPr>
            <a:r>
              <a:rPr lang="en-GB" dirty="0" smtClean="0"/>
              <a:t>Arrested and imprisoned opposition (usually in </a:t>
            </a:r>
            <a:r>
              <a:rPr lang="en-GB" dirty="0" err="1" smtClean="0"/>
              <a:t>concentrtaion</a:t>
            </a:r>
            <a:r>
              <a:rPr lang="en-GB" dirty="0" smtClean="0"/>
              <a:t> camps)</a:t>
            </a:r>
          </a:p>
          <a:p>
            <a:pPr>
              <a:buFontTx/>
              <a:buChar char="-"/>
            </a:pPr>
            <a:r>
              <a:rPr lang="en-GB" dirty="0" smtClean="0"/>
              <a:t>1939 160,000 people under arrest for political crimes</a:t>
            </a:r>
            <a:endParaRPr lang="en-GB"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10a  The Police State </a:t>
            </a:r>
            <a:endParaRPr lang="en-GB" dirty="0"/>
          </a:p>
        </p:txBody>
      </p:sp>
      <p:sp>
        <p:nvSpPr>
          <p:cNvPr id="3" name="Content Placeholder 2"/>
          <p:cNvSpPr>
            <a:spLocks noGrp="1"/>
          </p:cNvSpPr>
          <p:nvPr>
            <p:ph idx="1"/>
          </p:nvPr>
        </p:nvSpPr>
        <p:spPr/>
        <p:txBody>
          <a:bodyPr>
            <a:normAutofit lnSpcReduction="10000"/>
          </a:bodyPr>
          <a:lstStyle/>
          <a:p>
            <a:r>
              <a:rPr lang="en-GB" b="1" u="sng" dirty="0" smtClean="0"/>
              <a:t>The legal system</a:t>
            </a:r>
          </a:p>
          <a:p>
            <a:pPr>
              <a:buFontTx/>
              <a:buChar char="-"/>
            </a:pPr>
            <a:r>
              <a:rPr lang="en-GB" dirty="0" smtClean="0"/>
              <a:t>Some judges removed and all had to become members of the National Socialist League for the Maintenance of Law</a:t>
            </a:r>
          </a:p>
          <a:p>
            <a:pPr>
              <a:buFontTx/>
              <a:buChar char="-"/>
            </a:pPr>
            <a:r>
              <a:rPr lang="en-GB" dirty="0" smtClean="0"/>
              <a:t>October 1933 German lawyers Front set up </a:t>
            </a:r>
          </a:p>
          <a:p>
            <a:pPr>
              <a:buFontTx/>
              <a:buChar char="-"/>
            </a:pPr>
            <a:r>
              <a:rPr lang="en-GB" dirty="0" smtClean="0"/>
              <a:t>1934 People’s Court set up to try cases of treason.  Judges were loyal Nazis and Hitler would intervene if he felt a sentence was too lenient</a:t>
            </a:r>
          </a:p>
          <a:p>
            <a:pPr>
              <a:buNone/>
            </a:pPr>
            <a:endParaRPr lang="en-GB"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10a  The Police State </a:t>
            </a:r>
            <a:endParaRPr lang="en-GB" dirty="0"/>
          </a:p>
        </p:txBody>
      </p:sp>
      <p:sp>
        <p:nvSpPr>
          <p:cNvPr id="3" name="Content Placeholder 2"/>
          <p:cNvSpPr>
            <a:spLocks noGrp="1"/>
          </p:cNvSpPr>
          <p:nvPr>
            <p:ph idx="1"/>
          </p:nvPr>
        </p:nvSpPr>
        <p:spPr>
          <a:xfrm>
            <a:off x="0" y="1600200"/>
            <a:ext cx="8686800" cy="5257800"/>
          </a:xfrm>
        </p:spPr>
        <p:txBody>
          <a:bodyPr>
            <a:normAutofit fontScale="92500"/>
          </a:bodyPr>
          <a:lstStyle/>
          <a:p>
            <a:r>
              <a:rPr lang="en-GB" dirty="0" smtClean="0"/>
              <a:t>Concentration Camps</a:t>
            </a:r>
          </a:p>
          <a:p>
            <a:pPr>
              <a:buFontTx/>
              <a:buChar char="-"/>
            </a:pPr>
            <a:r>
              <a:rPr lang="en-GB" dirty="0" smtClean="0"/>
              <a:t>Ran by SA originally and then the SS</a:t>
            </a:r>
          </a:p>
          <a:p>
            <a:pPr>
              <a:buFontTx/>
              <a:buChar char="-"/>
            </a:pPr>
            <a:r>
              <a:rPr lang="en-GB" dirty="0" smtClean="0"/>
              <a:t>First was in Dachau in April 1933</a:t>
            </a:r>
          </a:p>
          <a:p>
            <a:pPr>
              <a:buFontTx/>
              <a:buChar char="-"/>
            </a:pPr>
            <a:r>
              <a:rPr lang="en-GB" dirty="0" smtClean="0"/>
              <a:t>Prisoners put into different categories shown by different coloured triangles on their uniforms</a:t>
            </a:r>
          </a:p>
          <a:p>
            <a:pPr>
              <a:buFontTx/>
              <a:buChar char="-"/>
            </a:pPr>
            <a:r>
              <a:rPr lang="en-GB" dirty="0" smtClean="0"/>
              <a:t>Opponents of the Nazis were taken there for questioning, hard labour and torture.  Usually used as slave labour</a:t>
            </a:r>
          </a:p>
          <a:p>
            <a:pPr>
              <a:buFontTx/>
              <a:buChar char="-"/>
            </a:pPr>
            <a:r>
              <a:rPr lang="en-GB" dirty="0" smtClean="0"/>
              <a:t>Many were killed and the family would be informed that they had died of disease or trying to escape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10b Control over Government</a:t>
            </a:r>
            <a:endParaRPr lang="en-GB" dirty="0"/>
          </a:p>
        </p:txBody>
      </p:sp>
      <p:sp>
        <p:nvSpPr>
          <p:cNvPr id="3" name="Content Placeholder 2"/>
          <p:cNvSpPr>
            <a:spLocks noGrp="1"/>
          </p:cNvSpPr>
          <p:nvPr>
            <p:ph idx="1"/>
          </p:nvPr>
        </p:nvSpPr>
        <p:spPr>
          <a:xfrm>
            <a:off x="0" y="1600200"/>
            <a:ext cx="8686800" cy="5257800"/>
          </a:xfrm>
        </p:spPr>
        <p:txBody>
          <a:bodyPr>
            <a:normAutofit fontScale="92500" lnSpcReduction="20000"/>
          </a:bodyPr>
          <a:lstStyle/>
          <a:p>
            <a:r>
              <a:rPr lang="en-GB" dirty="0" smtClean="0"/>
              <a:t>The Cabinet by 1938 was all Nazi.  The Reich </a:t>
            </a:r>
            <a:r>
              <a:rPr lang="en-GB" dirty="0" err="1" smtClean="0"/>
              <a:t>Chancellory</a:t>
            </a:r>
            <a:r>
              <a:rPr lang="en-GB" dirty="0" smtClean="0"/>
              <a:t> -  a man called </a:t>
            </a:r>
            <a:r>
              <a:rPr lang="en-GB" dirty="0" err="1" smtClean="0"/>
              <a:t>Lammers</a:t>
            </a:r>
            <a:r>
              <a:rPr lang="en-GB" dirty="0" smtClean="0"/>
              <a:t> drew up many of the new laws</a:t>
            </a:r>
          </a:p>
          <a:p>
            <a:r>
              <a:rPr lang="en-GB" dirty="0" smtClean="0"/>
              <a:t>Civil Service – 1939 it was </a:t>
            </a:r>
            <a:r>
              <a:rPr lang="en-GB" dirty="0" err="1" smtClean="0"/>
              <a:t>compusory</a:t>
            </a:r>
            <a:r>
              <a:rPr lang="en-GB" dirty="0" smtClean="0"/>
              <a:t> for all civil servants to be members of the Nazi Party</a:t>
            </a:r>
          </a:p>
          <a:p>
            <a:r>
              <a:rPr lang="en-GB" dirty="0" smtClean="0"/>
              <a:t>31 March 1933 all state Governments (Landers) closed down and the country was divided into </a:t>
            </a:r>
            <a:r>
              <a:rPr lang="en-GB" dirty="0" err="1" smtClean="0"/>
              <a:t>Gaus</a:t>
            </a:r>
            <a:r>
              <a:rPr lang="en-GB" dirty="0" smtClean="0"/>
              <a:t> (provinces) each headed by a Nazi Reich Governor</a:t>
            </a:r>
          </a:p>
          <a:p>
            <a:r>
              <a:rPr lang="en-GB" dirty="0" smtClean="0"/>
              <a:t>The Reichstag lost power after the enabling bill.  It became an applause machine for Hitler’s speeches</a:t>
            </a:r>
          </a:p>
          <a:p>
            <a:r>
              <a:rPr lang="en-GB" dirty="0" smtClean="0"/>
              <a:t>Fuhrer.  Had supreme authority.  Germany was governed by “the will of the Fuhrer”</a:t>
            </a:r>
            <a:endParaRPr lang="en-GB"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548680"/>
          </a:xfrm>
        </p:spPr>
        <p:txBody>
          <a:bodyPr>
            <a:normAutofit fontScale="90000"/>
          </a:bodyPr>
          <a:lstStyle/>
          <a:p>
            <a:r>
              <a:rPr lang="en-GB" sz="3600" dirty="0" smtClean="0"/>
              <a:t>10c Propaganda and censorship</a:t>
            </a:r>
            <a:endParaRPr lang="en-GB" sz="3600" dirty="0"/>
          </a:p>
        </p:txBody>
      </p:sp>
      <p:sp>
        <p:nvSpPr>
          <p:cNvPr id="3" name="Content Placeholder 2"/>
          <p:cNvSpPr>
            <a:spLocks noGrp="1"/>
          </p:cNvSpPr>
          <p:nvPr>
            <p:ph idx="1"/>
          </p:nvPr>
        </p:nvSpPr>
        <p:spPr>
          <a:xfrm>
            <a:off x="0" y="548680"/>
            <a:ext cx="9144000" cy="6309320"/>
          </a:xfrm>
        </p:spPr>
        <p:txBody>
          <a:bodyPr>
            <a:normAutofit fontScale="70000" lnSpcReduction="20000"/>
          </a:bodyPr>
          <a:lstStyle/>
          <a:p>
            <a:r>
              <a:rPr lang="en-GB" dirty="0" smtClean="0"/>
              <a:t>March 1934 </a:t>
            </a:r>
            <a:r>
              <a:rPr lang="en-GB" u="sng" dirty="0" smtClean="0"/>
              <a:t>Josef Goebbels </a:t>
            </a:r>
            <a:r>
              <a:rPr lang="en-GB" dirty="0" smtClean="0"/>
              <a:t>set </a:t>
            </a:r>
            <a:r>
              <a:rPr lang="en-GB" u="sng" dirty="0" smtClean="0"/>
              <a:t>up Ministry for Enlightenment and Propaganda </a:t>
            </a:r>
            <a:r>
              <a:rPr lang="en-GB" dirty="0" smtClean="0"/>
              <a:t>to control the hearts and minds of the German people</a:t>
            </a:r>
          </a:p>
          <a:p>
            <a:r>
              <a:rPr lang="en-GB" u="sng" dirty="0" smtClean="0"/>
              <a:t>Newspapers</a:t>
            </a:r>
            <a:r>
              <a:rPr lang="en-GB" dirty="0" smtClean="0"/>
              <a:t>:  non Nazi newspapers shut down.  German people only read what the Nazis wanted them to know.  Editors who didn’t obey were sent to concentration camps</a:t>
            </a:r>
          </a:p>
          <a:p>
            <a:r>
              <a:rPr lang="en-GB" u="sng" dirty="0" smtClean="0"/>
              <a:t>Radio</a:t>
            </a:r>
            <a:r>
              <a:rPr lang="en-GB" dirty="0" smtClean="0"/>
              <a:t>:  cheap mass produced radios sold which could only get German channels.  Radio sets were put in cafes and factories and loudspeakers were set up on the street so that everyone could hear regular broadcasts by Goebbels and Hitler</a:t>
            </a:r>
          </a:p>
          <a:p>
            <a:r>
              <a:rPr lang="en-GB" u="sng" dirty="0" smtClean="0"/>
              <a:t>Film</a:t>
            </a:r>
            <a:r>
              <a:rPr lang="en-GB" dirty="0" smtClean="0"/>
              <a:t>:  Goebbels commissioned films with Nazi slants e.g. </a:t>
            </a:r>
            <a:r>
              <a:rPr lang="en-GB" dirty="0" err="1" smtClean="0"/>
              <a:t>Hitlerjunge</a:t>
            </a:r>
            <a:r>
              <a:rPr lang="en-GB" dirty="0" smtClean="0"/>
              <a:t> </a:t>
            </a:r>
            <a:r>
              <a:rPr lang="en-GB" dirty="0" err="1" smtClean="0"/>
              <a:t>Quex</a:t>
            </a:r>
            <a:r>
              <a:rPr lang="en-GB" dirty="0" smtClean="0"/>
              <a:t> in 1933 told the story of a young boy who broke away from Communists to join the Hitler Youth to be murdered by the Communists at the end.  All films had a 45 minutes newsreel before hand which showed Nazi achievements</a:t>
            </a:r>
          </a:p>
          <a:p>
            <a:r>
              <a:rPr lang="en-GB" u="sng" dirty="0" smtClean="0"/>
              <a:t>Rallies</a:t>
            </a:r>
            <a:r>
              <a:rPr lang="en-GB" dirty="0" smtClean="0"/>
              <a:t>:  mass rallies were held regularly to show the power of the Nazis e.g. the Nuremburg rally was held every year and thousands would attend</a:t>
            </a:r>
          </a:p>
          <a:p>
            <a:r>
              <a:rPr lang="en-GB" u="sng" dirty="0" smtClean="0"/>
              <a:t>Posters:</a:t>
            </a:r>
            <a:r>
              <a:rPr lang="en-GB" dirty="0" smtClean="0"/>
              <a:t>  cleverly put across the Nazi message</a:t>
            </a:r>
          </a:p>
          <a:p>
            <a:r>
              <a:rPr lang="en-GB" u="sng" dirty="0" smtClean="0"/>
              <a:t>Books:</a:t>
            </a:r>
            <a:r>
              <a:rPr lang="en-GB" dirty="0" smtClean="0"/>
              <a:t>  controlled heavily.  Goebbels encouraged students to burn 20,000 books in Berlins wrote by Jews and any Nazis in May 1933</a:t>
            </a:r>
          </a:p>
          <a:p>
            <a:r>
              <a:rPr lang="en-GB" dirty="0" smtClean="0"/>
              <a:t>It was illegal to tell an anti Nazi joke due to the </a:t>
            </a:r>
            <a:r>
              <a:rPr lang="en-GB" u="sng" dirty="0" smtClean="0"/>
              <a:t>Law Against Malicious Gossip</a:t>
            </a:r>
            <a:r>
              <a:rPr lang="en-GB" dirty="0" smtClean="0"/>
              <a:t> in 1934</a:t>
            </a:r>
          </a:p>
          <a:p>
            <a:endParaRPr lang="en-GB"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10c Propaganda and censorship</a:t>
            </a:r>
            <a:endParaRPr lang="en-GB" dirty="0"/>
          </a:p>
        </p:txBody>
      </p:sp>
      <p:sp>
        <p:nvSpPr>
          <p:cNvPr id="3" name="Content Placeholder 2"/>
          <p:cNvSpPr>
            <a:spLocks noGrp="1"/>
          </p:cNvSpPr>
          <p:nvPr>
            <p:ph idx="1"/>
          </p:nvPr>
        </p:nvSpPr>
        <p:spPr>
          <a:xfrm>
            <a:off x="0" y="1600200"/>
            <a:ext cx="9144000" cy="5257800"/>
          </a:xfrm>
        </p:spPr>
        <p:txBody>
          <a:bodyPr>
            <a:normAutofit fontScale="92500" lnSpcReduction="20000"/>
          </a:bodyPr>
          <a:lstStyle/>
          <a:p>
            <a:r>
              <a:rPr lang="en-GB" dirty="0" smtClean="0"/>
              <a:t>Goebbels set up the Reich Chamber of Culture and all Musicians, Actors, and writers had to be a member.  Any that were unsuitable were banned</a:t>
            </a:r>
          </a:p>
          <a:p>
            <a:r>
              <a:rPr lang="en-GB" dirty="0" smtClean="0"/>
              <a:t>Music:  Jazz music banned (associated with black people)</a:t>
            </a:r>
          </a:p>
          <a:p>
            <a:r>
              <a:rPr lang="en-GB" dirty="0" smtClean="0"/>
              <a:t>Theatre:  cheap theatre tickets made </a:t>
            </a:r>
            <a:r>
              <a:rPr lang="en-GB" dirty="0" err="1" smtClean="0"/>
              <a:t>availab;e</a:t>
            </a:r>
            <a:r>
              <a:rPr lang="en-GB" dirty="0" smtClean="0"/>
              <a:t> to see plays with a pro Nazi slant</a:t>
            </a:r>
          </a:p>
          <a:p>
            <a:r>
              <a:rPr lang="en-GB" dirty="0" smtClean="0"/>
              <a:t>Architecture:  Hitler liked traditional buildings and grand styles often copies from Ancient Rome and Greece</a:t>
            </a:r>
          </a:p>
          <a:p>
            <a:r>
              <a:rPr lang="en-GB" dirty="0" smtClean="0"/>
              <a:t>Art:  Hitler hated modern art.  He wanted art to shoe hard work as heroic, perfect Aryans, women in their preferred role as mothers and wives</a:t>
            </a:r>
          </a:p>
          <a:p>
            <a:endParaRPr lang="en-GB"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11  Racial policy 1933-39</a:t>
            </a:r>
            <a:endParaRPr lang="en-GB" dirty="0"/>
          </a:p>
        </p:txBody>
      </p:sp>
      <p:sp>
        <p:nvSpPr>
          <p:cNvPr id="3" name="Content Placeholder 2"/>
          <p:cNvSpPr>
            <a:spLocks noGrp="1"/>
          </p:cNvSpPr>
          <p:nvPr>
            <p:ph idx="1"/>
          </p:nvPr>
        </p:nvSpPr>
        <p:spPr/>
        <p:txBody>
          <a:bodyPr/>
          <a:lstStyle/>
          <a:p>
            <a:endParaRPr lang="en-GB"/>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11a Hitler’s beliefs</a:t>
            </a:r>
            <a:endParaRPr lang="en-GB" dirty="0"/>
          </a:p>
        </p:txBody>
      </p:sp>
      <p:sp>
        <p:nvSpPr>
          <p:cNvPr id="3" name="Content Placeholder 2"/>
          <p:cNvSpPr>
            <a:spLocks noGrp="1"/>
          </p:cNvSpPr>
          <p:nvPr>
            <p:ph idx="1"/>
          </p:nvPr>
        </p:nvSpPr>
        <p:spPr/>
        <p:txBody>
          <a:bodyPr/>
          <a:lstStyle/>
          <a:p>
            <a:r>
              <a:rPr lang="en-GB" dirty="0" smtClean="0"/>
              <a:t>The Germans were a pure race from Aryan descent which had been contaminated by </a:t>
            </a:r>
            <a:r>
              <a:rPr lang="en-GB" dirty="0" err="1" smtClean="0"/>
              <a:t>subhumans</a:t>
            </a:r>
            <a:endParaRPr lang="en-GB" dirty="0" smtClean="0"/>
          </a:p>
          <a:p>
            <a:r>
              <a:rPr lang="en-GB" dirty="0" smtClean="0"/>
              <a:t>Jews and Slavs were </a:t>
            </a:r>
            <a:r>
              <a:rPr lang="en-GB" dirty="0" err="1" smtClean="0"/>
              <a:t>subhumans</a:t>
            </a:r>
            <a:endParaRPr lang="en-GB" dirty="0" smtClean="0"/>
          </a:p>
          <a:p>
            <a:r>
              <a:rPr lang="en-GB" dirty="0" smtClean="0"/>
              <a:t>Hitler believed in selective breeding by making sure all non Aryans did not reproduce</a:t>
            </a:r>
            <a:endParaRPr lang="en-GB"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10b  Persecution of the Jews 1933-39</a:t>
            </a:r>
            <a:endParaRPr lang="en-GB" dirty="0"/>
          </a:p>
        </p:txBody>
      </p:sp>
      <p:sp>
        <p:nvSpPr>
          <p:cNvPr id="3" name="Content Placeholder 2"/>
          <p:cNvSpPr>
            <a:spLocks noGrp="1"/>
          </p:cNvSpPr>
          <p:nvPr>
            <p:ph idx="1"/>
          </p:nvPr>
        </p:nvSpPr>
        <p:spPr>
          <a:xfrm>
            <a:off x="0" y="1268760"/>
            <a:ext cx="9144000" cy="5589240"/>
          </a:xfrm>
        </p:spPr>
        <p:txBody>
          <a:bodyPr>
            <a:normAutofit lnSpcReduction="10000"/>
          </a:bodyPr>
          <a:lstStyle/>
          <a:p>
            <a:r>
              <a:rPr lang="en-GB" u="sng" dirty="0" smtClean="0"/>
              <a:t>Anti </a:t>
            </a:r>
            <a:r>
              <a:rPr lang="en-GB" u="sng" dirty="0" err="1" smtClean="0"/>
              <a:t>semitism</a:t>
            </a:r>
            <a:r>
              <a:rPr lang="en-GB" u="sng" dirty="0" smtClean="0"/>
              <a:t> in schools</a:t>
            </a:r>
            <a:r>
              <a:rPr lang="en-GB" dirty="0" smtClean="0"/>
              <a:t>:  propaganda through lessons and textbooks.  November 1938 all Jews expelled from schools</a:t>
            </a:r>
          </a:p>
          <a:p>
            <a:r>
              <a:rPr lang="en-GB" u="sng" dirty="0" smtClean="0"/>
              <a:t>Laws against Jews</a:t>
            </a:r>
            <a:r>
              <a:rPr lang="en-GB" dirty="0" smtClean="0"/>
              <a:t>:  1933 SA organised a boycott of shops</a:t>
            </a:r>
          </a:p>
          <a:p>
            <a:r>
              <a:rPr lang="en-GB" dirty="0" smtClean="0"/>
              <a:t>1935 Nuremburg Laws.  Only those of German blood could be German citizens and </a:t>
            </a:r>
            <a:r>
              <a:rPr lang="en-GB" dirty="0" err="1" smtClean="0"/>
              <a:t>Jewslost</a:t>
            </a:r>
            <a:r>
              <a:rPr lang="en-GB" dirty="0" smtClean="0"/>
              <a:t> their citizenship e.g. right to vote.  They also made relations between Jews and German citizens illegal</a:t>
            </a:r>
          </a:p>
          <a:p>
            <a:r>
              <a:rPr lang="en-GB" dirty="0" smtClean="0"/>
              <a:t>1938 – Jews had to carry identity cards and had the red letter J stamped on their passports</a:t>
            </a:r>
            <a:endParaRPr lang="en-GB"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10b  Persecution of the Jews 1933-39</a:t>
            </a:r>
            <a:endParaRPr lang="en-GB" dirty="0"/>
          </a:p>
        </p:txBody>
      </p:sp>
      <p:sp>
        <p:nvSpPr>
          <p:cNvPr id="3" name="Content Placeholder 2"/>
          <p:cNvSpPr>
            <a:spLocks noGrp="1"/>
          </p:cNvSpPr>
          <p:nvPr>
            <p:ph idx="1"/>
          </p:nvPr>
        </p:nvSpPr>
        <p:spPr>
          <a:xfrm>
            <a:off x="0" y="1124744"/>
            <a:ext cx="9144000" cy="5733256"/>
          </a:xfrm>
        </p:spPr>
        <p:txBody>
          <a:bodyPr>
            <a:normAutofit fontScale="85000" lnSpcReduction="10000"/>
          </a:bodyPr>
          <a:lstStyle/>
          <a:p>
            <a:r>
              <a:rPr lang="en-GB" u="sng" dirty="0" err="1" smtClean="0"/>
              <a:t>Kristallnacht</a:t>
            </a:r>
            <a:r>
              <a:rPr lang="en-GB" u="sng" dirty="0" smtClean="0"/>
              <a:t> </a:t>
            </a:r>
            <a:r>
              <a:rPr lang="en-GB" dirty="0" smtClean="0"/>
              <a:t>9 November 1938</a:t>
            </a:r>
          </a:p>
          <a:p>
            <a:pPr>
              <a:buFontTx/>
              <a:buChar char="-"/>
            </a:pPr>
            <a:r>
              <a:rPr lang="en-GB" dirty="0" smtClean="0"/>
              <a:t>A polish Jew shot a German official at the Embassy in Paris</a:t>
            </a:r>
          </a:p>
          <a:p>
            <a:pPr>
              <a:buFontTx/>
              <a:buChar char="-"/>
            </a:pPr>
            <a:r>
              <a:rPr lang="en-GB" dirty="0" smtClean="0"/>
              <a:t>Goebbels organised anti Jewish demos on the 9-10 November attacking Jewish shops, homes and Synagogues</a:t>
            </a:r>
          </a:p>
          <a:p>
            <a:pPr>
              <a:buFontTx/>
              <a:buChar char="-"/>
            </a:pPr>
            <a:r>
              <a:rPr lang="en-GB" dirty="0" smtClean="0"/>
              <a:t>So many windows were smashed that it became known as the “Night of the Broken Glass” or </a:t>
            </a:r>
            <a:r>
              <a:rPr lang="en-GB" dirty="0" err="1" smtClean="0"/>
              <a:t>Kristallnacht</a:t>
            </a:r>
            <a:endParaRPr lang="en-GB" dirty="0" smtClean="0"/>
          </a:p>
          <a:p>
            <a:pPr>
              <a:buFontTx/>
              <a:buChar char="-"/>
            </a:pPr>
            <a:r>
              <a:rPr lang="en-GB" dirty="0" smtClean="0"/>
              <a:t>100 Jews were killed and 20,000 were sent to concentration camps</a:t>
            </a:r>
          </a:p>
          <a:p>
            <a:pPr>
              <a:buFontTx/>
              <a:buChar char="-"/>
            </a:pPr>
            <a:r>
              <a:rPr lang="en-GB" dirty="0" smtClean="0"/>
              <a:t>Many ordinary Germans were disgusted at the violence but Hitler said they had provoked the attack</a:t>
            </a:r>
          </a:p>
          <a:p>
            <a:pPr>
              <a:buFontTx/>
              <a:buChar char="-"/>
            </a:pPr>
            <a:r>
              <a:rPr lang="en-GB" dirty="0" smtClean="0"/>
              <a:t>Hitler ordered Jews be fined 1 </a:t>
            </a:r>
            <a:r>
              <a:rPr lang="en-GB" dirty="0"/>
              <a:t>b</a:t>
            </a:r>
            <a:r>
              <a:rPr lang="en-GB" dirty="0" smtClean="0"/>
              <a:t>illion </a:t>
            </a:r>
            <a:r>
              <a:rPr lang="en-GB" dirty="0" err="1" smtClean="0"/>
              <a:t>Reichmarks</a:t>
            </a:r>
            <a:r>
              <a:rPr lang="en-GB" dirty="0" smtClean="0"/>
              <a:t> for damage, Jews were no longer allowed to own or manage shops, Jewish children could no longer attend Aryan schools</a:t>
            </a:r>
          </a:p>
          <a:p>
            <a:pPr>
              <a:buFontTx/>
              <a:buChar char="-"/>
            </a:pPr>
            <a:endParaRPr lang="en-GB" dirty="0" smtClean="0"/>
          </a:p>
          <a:p>
            <a:pPr>
              <a:buFontTx/>
              <a:buChar char="-"/>
            </a:pPr>
            <a:endParaRPr lang="en-GB"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10b  Persecution of the Jews 1933-39</a:t>
            </a:r>
            <a:endParaRPr lang="en-GB" dirty="0"/>
          </a:p>
        </p:txBody>
      </p:sp>
      <p:sp>
        <p:nvSpPr>
          <p:cNvPr id="3" name="Content Placeholder 2"/>
          <p:cNvSpPr>
            <a:spLocks noGrp="1"/>
          </p:cNvSpPr>
          <p:nvPr>
            <p:ph idx="1"/>
          </p:nvPr>
        </p:nvSpPr>
        <p:spPr/>
        <p:txBody>
          <a:bodyPr>
            <a:normAutofit/>
          </a:bodyPr>
          <a:lstStyle/>
          <a:p>
            <a:r>
              <a:rPr lang="en-GB" b="1" u="sng" dirty="0" smtClean="0"/>
              <a:t>1939</a:t>
            </a:r>
            <a:r>
              <a:rPr lang="en-GB" dirty="0" smtClean="0"/>
              <a:t> Reich office for Jewish Emigration set up under </a:t>
            </a:r>
            <a:r>
              <a:rPr lang="en-GB" dirty="0" err="1"/>
              <a:t>H</a:t>
            </a:r>
            <a:r>
              <a:rPr lang="en-GB" dirty="0" err="1" smtClean="0"/>
              <a:t>eydrich</a:t>
            </a:r>
            <a:r>
              <a:rPr lang="en-GB" dirty="0" smtClean="0"/>
              <a:t>.  Tried to implement forced immigration wanting other countries to take Jews</a:t>
            </a:r>
          </a:p>
          <a:p>
            <a:r>
              <a:rPr lang="en-GB" dirty="0" smtClean="0"/>
              <a:t>Jews had to give up all metal and </a:t>
            </a:r>
            <a:r>
              <a:rPr lang="en-GB" dirty="0" err="1" smtClean="0"/>
              <a:t>jewellry</a:t>
            </a:r>
            <a:endParaRPr lang="en-GB" dirty="0" smtClean="0"/>
          </a:p>
          <a:p>
            <a:r>
              <a:rPr lang="en-GB" dirty="0" smtClean="0"/>
              <a:t>30 April they were evicted into </a:t>
            </a:r>
            <a:r>
              <a:rPr lang="en-GB" u="sng" dirty="0" smtClean="0"/>
              <a:t>ghettos</a:t>
            </a:r>
          </a:p>
          <a:p>
            <a:r>
              <a:rPr lang="en-GB" dirty="0" smtClean="0"/>
              <a:t>September Jews had to give up radios so they couldn’t listen to foreign news</a:t>
            </a:r>
            <a:endParaRPr lang="en-GB"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11 Hitler and the church</a:t>
            </a:r>
            <a:endParaRPr lang="en-GB" dirty="0"/>
          </a:p>
        </p:txBody>
      </p:sp>
      <p:sp>
        <p:nvSpPr>
          <p:cNvPr id="3" name="Content Placeholder 2"/>
          <p:cNvSpPr>
            <a:spLocks noGrp="1"/>
          </p:cNvSpPr>
          <p:nvPr>
            <p:ph idx="1"/>
          </p:nvPr>
        </p:nvSpPr>
        <p:spPr/>
        <p:txBody>
          <a:bodyPr/>
          <a:lstStyle/>
          <a:p>
            <a:endParaRPr lang="en-GB"/>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11a Catholic Church</a:t>
            </a:r>
            <a:endParaRPr lang="en-GB" dirty="0"/>
          </a:p>
        </p:txBody>
      </p:sp>
      <p:sp>
        <p:nvSpPr>
          <p:cNvPr id="3" name="Content Placeholder 2"/>
          <p:cNvSpPr>
            <a:spLocks noGrp="1"/>
          </p:cNvSpPr>
          <p:nvPr>
            <p:ph idx="1"/>
          </p:nvPr>
        </p:nvSpPr>
        <p:spPr>
          <a:xfrm>
            <a:off x="0" y="1124744"/>
            <a:ext cx="9144000" cy="5733256"/>
          </a:xfrm>
        </p:spPr>
        <p:txBody>
          <a:bodyPr>
            <a:normAutofit fontScale="92500" lnSpcReduction="10000"/>
          </a:bodyPr>
          <a:lstStyle/>
          <a:p>
            <a:r>
              <a:rPr lang="en-GB" dirty="0" smtClean="0"/>
              <a:t>They were a threat because their first loyalty was to the Pope not Hitler</a:t>
            </a:r>
          </a:p>
          <a:p>
            <a:pPr marL="514350" indent="-514350"/>
            <a:r>
              <a:rPr lang="en-GB" dirty="0" smtClean="0"/>
              <a:t>1933 signed a concordat with the Pope which said that if the Church did not interfere with politics Hitler would not interfere with the Church</a:t>
            </a:r>
          </a:p>
          <a:p>
            <a:pPr marL="514350" indent="-514350"/>
            <a:r>
              <a:rPr lang="en-GB" dirty="0" smtClean="0"/>
              <a:t>Hitler broke the Concordat.  He arrested many priests, Catholic schools were eventually abolished, Catholic Youth organisations were shut down, Monasteries were closed</a:t>
            </a:r>
          </a:p>
          <a:p>
            <a:pPr marL="514350" indent="-514350"/>
            <a:r>
              <a:rPr lang="en-GB" dirty="0" smtClean="0"/>
              <a:t>1937 the Pope made a speech attacking the Nazi rule.  This resulted in 400 priests being arrested and sent to Dachau</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11b Protestant Church</a:t>
            </a:r>
            <a:endParaRPr lang="en-GB" dirty="0"/>
          </a:p>
        </p:txBody>
      </p:sp>
      <p:sp>
        <p:nvSpPr>
          <p:cNvPr id="3" name="Content Placeholder 2"/>
          <p:cNvSpPr>
            <a:spLocks noGrp="1"/>
          </p:cNvSpPr>
          <p:nvPr>
            <p:ph idx="1"/>
          </p:nvPr>
        </p:nvSpPr>
        <p:spPr/>
        <p:txBody>
          <a:bodyPr>
            <a:normAutofit lnSpcReduction="10000"/>
          </a:bodyPr>
          <a:lstStyle/>
          <a:p>
            <a:r>
              <a:rPr lang="en-GB" dirty="0" smtClean="0"/>
              <a:t>Many opposed Hitler and the Nazis</a:t>
            </a:r>
          </a:p>
          <a:p>
            <a:r>
              <a:rPr lang="en-GB" dirty="0" smtClean="0"/>
              <a:t>They were led by Martin </a:t>
            </a:r>
            <a:r>
              <a:rPr lang="en-GB" dirty="0" err="1" smtClean="0"/>
              <a:t>Niemolled</a:t>
            </a:r>
            <a:r>
              <a:rPr lang="en-GB" dirty="0" smtClean="0"/>
              <a:t> a Protestant Preacher.  </a:t>
            </a:r>
          </a:p>
          <a:p>
            <a:r>
              <a:rPr lang="en-GB" dirty="0" smtClean="0"/>
              <a:t>He set up the Pastor’s Emergency League in December 1933 to oppose Hitler</a:t>
            </a:r>
          </a:p>
          <a:p>
            <a:r>
              <a:rPr lang="en-GB" dirty="0" smtClean="0"/>
              <a:t>1934 they set up the Confessional Church </a:t>
            </a:r>
          </a:p>
          <a:p>
            <a:r>
              <a:rPr lang="en-GB" dirty="0" smtClean="0"/>
              <a:t>1937 </a:t>
            </a:r>
            <a:r>
              <a:rPr lang="en-GB" dirty="0" err="1" smtClean="0"/>
              <a:t>Niemoller</a:t>
            </a:r>
            <a:r>
              <a:rPr lang="en-GB" dirty="0" smtClean="0"/>
              <a:t> was sent to a concentration camp and the Confessional Church was banned</a:t>
            </a:r>
            <a:endParaRPr lang="en-GB"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11c Hitler’s National Reich </a:t>
            </a:r>
            <a:r>
              <a:rPr lang="en-GB" dirty="0" err="1" smtClean="0"/>
              <a:t>Chruch</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28 Protestant church groups united in 1933 to create the National Reich Church (a </a:t>
            </a:r>
            <a:r>
              <a:rPr lang="en-GB" dirty="0" err="1" smtClean="0"/>
              <a:t>Nazified</a:t>
            </a:r>
            <a:r>
              <a:rPr lang="en-GB" dirty="0" smtClean="0"/>
              <a:t> church)</a:t>
            </a:r>
          </a:p>
          <a:p>
            <a:r>
              <a:rPr lang="en-GB" dirty="0" smtClean="0"/>
              <a:t>Leader was Reich Bishop Ludwig Muller</a:t>
            </a:r>
          </a:p>
          <a:p>
            <a:r>
              <a:rPr lang="en-GB" dirty="0" smtClean="0"/>
              <a:t>Members of the church wore Nazi uniforms and gave the </a:t>
            </a:r>
            <a:r>
              <a:rPr lang="en-GB" dirty="0" err="1" smtClean="0"/>
              <a:t>heil</a:t>
            </a:r>
            <a:r>
              <a:rPr lang="en-GB" dirty="0" smtClean="0"/>
              <a:t> Hitler greeting</a:t>
            </a:r>
          </a:p>
          <a:p>
            <a:r>
              <a:rPr lang="en-GB" dirty="0" smtClean="0"/>
              <a:t>Slogan “the swastika on our chests and the Cross in our hearts”</a:t>
            </a:r>
          </a:p>
          <a:p>
            <a:r>
              <a:rPr lang="en-GB" dirty="0" smtClean="0"/>
              <a:t>Bible and cross replaced with Mein </a:t>
            </a:r>
            <a:r>
              <a:rPr lang="en-GB" dirty="0" err="1" smtClean="0"/>
              <a:t>Kampf</a:t>
            </a:r>
            <a:r>
              <a:rPr lang="en-GB" dirty="0" smtClean="0"/>
              <a:t> and a sword</a:t>
            </a:r>
            <a:endParaRPr lang="en-GB"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Explain questions (4 marks)</a:t>
            </a:r>
            <a:endParaRPr lang="en-GB" dirty="0"/>
          </a:p>
        </p:txBody>
      </p:sp>
      <p:sp>
        <p:nvSpPr>
          <p:cNvPr id="3" name="Content Placeholder 2"/>
          <p:cNvSpPr>
            <a:spLocks noGrp="1"/>
          </p:cNvSpPr>
          <p:nvPr>
            <p:ph idx="1"/>
          </p:nvPr>
        </p:nvSpPr>
        <p:spPr>
          <a:xfrm>
            <a:off x="179512" y="1124744"/>
            <a:ext cx="8964488" cy="5733256"/>
          </a:xfrm>
        </p:spPr>
        <p:txBody>
          <a:bodyPr>
            <a:normAutofit fontScale="55000" lnSpcReduction="20000"/>
          </a:bodyPr>
          <a:lstStyle/>
          <a:p>
            <a:pPr marL="514350" indent="-514350">
              <a:buAutoNum type="arabicPeriod"/>
            </a:pPr>
            <a:r>
              <a:rPr lang="en-GB" dirty="0" smtClean="0"/>
              <a:t>Explain how the Nazis improved the economy between 1933-39</a:t>
            </a:r>
          </a:p>
          <a:p>
            <a:pPr marL="514350" indent="-514350">
              <a:buAutoNum type="arabicPeriod"/>
            </a:pPr>
            <a:r>
              <a:rPr lang="en-GB" dirty="0" smtClean="0"/>
              <a:t>Explain how Hitler used the DAF to control Germans</a:t>
            </a:r>
          </a:p>
          <a:p>
            <a:pPr marL="514350" indent="-514350">
              <a:buAutoNum type="arabicPeriod"/>
            </a:pPr>
            <a:r>
              <a:rPr lang="en-GB" dirty="0" smtClean="0"/>
              <a:t>Explain how the </a:t>
            </a:r>
            <a:r>
              <a:rPr lang="en-GB" dirty="0" err="1" smtClean="0"/>
              <a:t>KdF</a:t>
            </a:r>
            <a:r>
              <a:rPr lang="en-GB" dirty="0" smtClean="0"/>
              <a:t> was used to control German people</a:t>
            </a:r>
          </a:p>
          <a:p>
            <a:pPr marL="514350" indent="-514350">
              <a:buAutoNum type="arabicPeriod"/>
            </a:pPr>
            <a:r>
              <a:rPr lang="en-GB" dirty="0" smtClean="0"/>
              <a:t>Explain how the Nazis changed the lives of women between 1933-39</a:t>
            </a:r>
          </a:p>
          <a:p>
            <a:pPr marL="514350" indent="-514350">
              <a:buAutoNum type="arabicPeriod"/>
            </a:pPr>
            <a:r>
              <a:rPr lang="en-GB" dirty="0" smtClean="0"/>
              <a:t>Explain why the Nazis wanted to control education</a:t>
            </a:r>
          </a:p>
          <a:p>
            <a:pPr marL="514350" indent="-514350">
              <a:buAutoNum type="arabicPeriod"/>
            </a:pPr>
            <a:r>
              <a:rPr lang="en-GB" dirty="0" smtClean="0"/>
              <a:t>Explain how the Nazis controlled education</a:t>
            </a:r>
          </a:p>
          <a:p>
            <a:pPr marL="514350" indent="-514350">
              <a:buAutoNum type="arabicPeriod"/>
            </a:pPr>
            <a:r>
              <a:rPr lang="en-GB" dirty="0" smtClean="0"/>
              <a:t>Explain why the SS and Gestapo played such an important role in Nazi Germany</a:t>
            </a:r>
          </a:p>
          <a:p>
            <a:pPr marL="514350" indent="-514350">
              <a:buAutoNum type="arabicPeriod"/>
            </a:pPr>
            <a:r>
              <a:rPr lang="en-GB" dirty="0" smtClean="0"/>
              <a:t>Explain why the use of the police state was so important to the Nazis</a:t>
            </a:r>
          </a:p>
          <a:p>
            <a:pPr marL="514350" indent="-514350">
              <a:buAutoNum type="arabicPeriod"/>
            </a:pPr>
            <a:r>
              <a:rPr lang="en-GB" dirty="0" smtClean="0"/>
              <a:t>Explain how the Nazis used concentration camps between 1933-39 to control German people</a:t>
            </a:r>
          </a:p>
          <a:p>
            <a:pPr marL="514350" indent="-514350">
              <a:buAutoNum type="arabicPeriod"/>
            </a:pPr>
            <a:r>
              <a:rPr lang="en-GB" dirty="0" smtClean="0"/>
              <a:t>Explain how the Nazis extended their control over  central and local Government</a:t>
            </a:r>
          </a:p>
          <a:p>
            <a:pPr marL="514350" indent="-514350">
              <a:buAutoNum type="arabicPeriod"/>
            </a:pPr>
            <a:r>
              <a:rPr lang="en-GB" dirty="0" smtClean="0"/>
              <a:t>Explain how the Nazis used propaganda to gain control over the hearts and minds of the German people</a:t>
            </a:r>
          </a:p>
          <a:p>
            <a:pPr marL="514350" indent="-514350">
              <a:buAutoNum type="arabicPeriod"/>
            </a:pPr>
            <a:r>
              <a:rPr lang="en-GB" dirty="0" smtClean="0"/>
              <a:t>Explain why it was important for Hitler to control the arts</a:t>
            </a:r>
          </a:p>
          <a:p>
            <a:pPr marL="514350" indent="-514350">
              <a:buAutoNum type="arabicPeriod"/>
            </a:pPr>
            <a:r>
              <a:rPr lang="en-GB" dirty="0" smtClean="0"/>
              <a:t>Explain why Hitler persecuted the Jews</a:t>
            </a:r>
          </a:p>
          <a:p>
            <a:pPr marL="514350" indent="-514350">
              <a:buAutoNum type="arabicPeriod"/>
            </a:pPr>
            <a:r>
              <a:rPr lang="en-GB" dirty="0" smtClean="0"/>
              <a:t>Explain how the Nuremburg Laws effected Jewish life in Nazi Germany</a:t>
            </a:r>
          </a:p>
          <a:p>
            <a:pPr marL="514350" indent="-514350">
              <a:buAutoNum type="arabicPeriod"/>
            </a:pPr>
            <a:r>
              <a:rPr lang="en-GB" dirty="0" smtClean="0"/>
              <a:t>Explain how the Nazis persecuted the Jews</a:t>
            </a:r>
          </a:p>
          <a:p>
            <a:pPr marL="514350" indent="-514350">
              <a:buAutoNum type="arabicPeriod"/>
            </a:pPr>
            <a:r>
              <a:rPr lang="en-GB" dirty="0" smtClean="0"/>
              <a:t>Explain why Hitler wanted control over the church in Germany</a:t>
            </a:r>
          </a:p>
          <a:p>
            <a:pPr marL="514350" indent="-514350">
              <a:buAutoNum type="arabicPeriod"/>
            </a:pPr>
            <a:r>
              <a:rPr lang="en-GB" dirty="0" smtClean="0"/>
              <a:t>Explain how Hitler extended control over the church in Germany</a:t>
            </a:r>
          </a:p>
          <a:p>
            <a:pPr marL="514350" indent="-514350">
              <a:buAutoNum type="arabicPeriod"/>
            </a:pPr>
            <a:endParaRPr lang="en-GB"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Describe Questions (5)</a:t>
            </a:r>
            <a:endParaRPr lang="en-GB" dirty="0"/>
          </a:p>
        </p:txBody>
      </p:sp>
      <p:sp>
        <p:nvSpPr>
          <p:cNvPr id="3" name="Content Placeholder 2"/>
          <p:cNvSpPr>
            <a:spLocks noGrp="1"/>
          </p:cNvSpPr>
          <p:nvPr>
            <p:ph idx="1"/>
          </p:nvPr>
        </p:nvSpPr>
        <p:spPr>
          <a:xfrm>
            <a:off x="0" y="1124744"/>
            <a:ext cx="9144000" cy="5733256"/>
          </a:xfrm>
        </p:spPr>
        <p:txBody>
          <a:bodyPr>
            <a:normAutofit fontScale="55000" lnSpcReduction="20000"/>
          </a:bodyPr>
          <a:lstStyle/>
          <a:p>
            <a:pPr marL="514350" indent="-514350">
              <a:buAutoNum type="arabicPeriod"/>
            </a:pPr>
            <a:r>
              <a:rPr lang="en-GB" dirty="0" smtClean="0"/>
              <a:t>Describe the DAF</a:t>
            </a:r>
          </a:p>
          <a:p>
            <a:pPr marL="514350" indent="-514350">
              <a:buAutoNum type="arabicPeriod"/>
            </a:pPr>
            <a:r>
              <a:rPr lang="en-GB" dirty="0" smtClean="0"/>
              <a:t>Describe the RAD </a:t>
            </a:r>
          </a:p>
          <a:p>
            <a:pPr marL="514350" indent="-514350">
              <a:buAutoNum type="arabicPeriod"/>
            </a:pPr>
            <a:r>
              <a:rPr lang="en-GB" dirty="0" smtClean="0"/>
              <a:t>Describe how the Nazis improved the economy </a:t>
            </a:r>
          </a:p>
          <a:p>
            <a:pPr marL="514350" indent="-514350">
              <a:buAutoNum type="arabicPeriod"/>
            </a:pPr>
            <a:r>
              <a:rPr lang="en-GB" dirty="0" smtClean="0"/>
              <a:t>Describe the </a:t>
            </a:r>
            <a:r>
              <a:rPr lang="en-GB" dirty="0" err="1" smtClean="0"/>
              <a:t>KdF</a:t>
            </a:r>
            <a:r>
              <a:rPr lang="en-GB" dirty="0" smtClean="0"/>
              <a:t>/Strength Through Joy movement</a:t>
            </a:r>
          </a:p>
          <a:p>
            <a:pPr marL="514350" indent="-514350">
              <a:buAutoNum type="arabicPeriod"/>
            </a:pPr>
            <a:r>
              <a:rPr lang="en-GB" dirty="0" smtClean="0"/>
              <a:t>Describe the 4 year plan</a:t>
            </a:r>
          </a:p>
          <a:p>
            <a:pPr marL="514350" indent="-514350">
              <a:buAutoNum type="arabicPeriod"/>
            </a:pPr>
            <a:r>
              <a:rPr lang="en-GB" dirty="0" smtClean="0"/>
              <a:t>Describe invisible unemployment</a:t>
            </a:r>
          </a:p>
          <a:p>
            <a:pPr marL="514350" indent="-514350">
              <a:buAutoNum type="arabicPeriod"/>
            </a:pPr>
            <a:r>
              <a:rPr lang="en-GB" dirty="0" smtClean="0"/>
              <a:t>Describe the attitude of </a:t>
            </a:r>
            <a:r>
              <a:rPr lang="en-GB" dirty="0" err="1" smtClean="0"/>
              <a:t>nazis</a:t>
            </a:r>
            <a:r>
              <a:rPr lang="en-GB" dirty="0" smtClean="0"/>
              <a:t> towards the role of the woman</a:t>
            </a:r>
          </a:p>
          <a:p>
            <a:pPr marL="514350" indent="-514350">
              <a:buAutoNum type="arabicPeriod"/>
            </a:pPr>
            <a:r>
              <a:rPr lang="en-GB" dirty="0" smtClean="0"/>
              <a:t>Describe how the school curriculum changed under the Nazis</a:t>
            </a:r>
          </a:p>
          <a:p>
            <a:pPr marL="514350" indent="-514350">
              <a:buAutoNum type="arabicPeriod"/>
            </a:pPr>
            <a:r>
              <a:rPr lang="en-GB" dirty="0" smtClean="0"/>
              <a:t>Describe the Hitler Youth</a:t>
            </a:r>
          </a:p>
          <a:p>
            <a:pPr marL="514350" indent="-514350">
              <a:buAutoNum type="arabicPeriod"/>
            </a:pPr>
            <a:r>
              <a:rPr lang="en-GB" dirty="0" smtClean="0"/>
              <a:t>Describe how the Nazis controlled German youth</a:t>
            </a:r>
          </a:p>
          <a:p>
            <a:pPr marL="514350" indent="-514350">
              <a:buAutoNum type="arabicPeriod"/>
            </a:pPr>
            <a:r>
              <a:rPr lang="en-GB" dirty="0" smtClean="0"/>
              <a:t>Describe the use of concentration camps between 1933-39</a:t>
            </a:r>
          </a:p>
          <a:p>
            <a:pPr marL="514350" indent="-514350">
              <a:buAutoNum type="arabicPeriod"/>
            </a:pPr>
            <a:r>
              <a:rPr lang="en-GB" dirty="0" smtClean="0"/>
              <a:t>Describe the use of the Gestapo between 1933-39</a:t>
            </a:r>
          </a:p>
          <a:p>
            <a:pPr marL="514350" indent="-514350">
              <a:buAutoNum type="arabicPeriod"/>
            </a:pPr>
            <a:r>
              <a:rPr lang="en-GB" dirty="0" smtClean="0"/>
              <a:t>Describe the role of the SS between 1933-39</a:t>
            </a:r>
          </a:p>
          <a:p>
            <a:pPr marL="514350" indent="-514350">
              <a:buAutoNum type="arabicPeriod"/>
            </a:pPr>
            <a:r>
              <a:rPr lang="en-GB" dirty="0" smtClean="0"/>
              <a:t>Describe the use of propaganda in Nazi Germany 1933-39</a:t>
            </a:r>
          </a:p>
          <a:p>
            <a:pPr marL="514350" indent="-514350">
              <a:buAutoNum type="arabicPeriod"/>
            </a:pPr>
            <a:r>
              <a:rPr lang="en-GB" dirty="0" smtClean="0"/>
              <a:t>Describe the use of censorship in Nazi Germany 1933-39</a:t>
            </a:r>
          </a:p>
          <a:p>
            <a:pPr marL="514350" indent="-514350">
              <a:buAutoNum type="arabicPeriod"/>
            </a:pPr>
            <a:r>
              <a:rPr lang="en-GB" dirty="0" smtClean="0"/>
              <a:t>Describe the Nuremburg Laws</a:t>
            </a:r>
          </a:p>
          <a:p>
            <a:pPr marL="514350" indent="-514350">
              <a:buAutoNum type="arabicPeriod"/>
            </a:pPr>
            <a:r>
              <a:rPr lang="en-GB" dirty="0" smtClean="0"/>
              <a:t>Describe </a:t>
            </a:r>
            <a:r>
              <a:rPr lang="en-GB" dirty="0" err="1" smtClean="0"/>
              <a:t>Kristallnacht</a:t>
            </a:r>
            <a:r>
              <a:rPr lang="en-GB" dirty="0" smtClean="0"/>
              <a:t>/the Night of the Broken Glass</a:t>
            </a:r>
          </a:p>
          <a:p>
            <a:pPr marL="514350" indent="-514350">
              <a:buAutoNum type="arabicPeriod"/>
            </a:pPr>
            <a:r>
              <a:rPr lang="en-GB" dirty="0" smtClean="0"/>
              <a:t>Describe how Hitler controlled the church between 1933-39</a:t>
            </a:r>
          </a:p>
          <a:p>
            <a:pPr marL="514350" indent="-514350">
              <a:buAutoNum type="arabicPeriod"/>
            </a:pPr>
            <a:r>
              <a:rPr lang="en-GB" dirty="0" smtClean="0"/>
              <a:t>Describe the National Reich Church</a:t>
            </a:r>
          </a:p>
          <a:p>
            <a:pPr marL="514350" indent="-514350">
              <a:buAutoNum type="arabicPeriod"/>
            </a:pPr>
            <a:endParaRPr lang="en-GB" dirty="0" smtClean="0"/>
          </a:p>
          <a:p>
            <a:pPr marL="514350" indent="-514350">
              <a:buAutoNum type="arabicPeriod"/>
            </a:pPr>
            <a:endParaRPr lang="en-GB" dirty="0" smtClean="0"/>
          </a:p>
          <a:p>
            <a:pPr marL="514350" indent="-514350">
              <a:buAutoNum type="arabicPeriod"/>
            </a:pPr>
            <a:endParaRPr lang="en-GB" dirty="0" smtClean="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10 Mark questions</a:t>
            </a:r>
            <a:endParaRPr lang="en-GB" dirty="0"/>
          </a:p>
        </p:txBody>
      </p:sp>
      <p:sp>
        <p:nvSpPr>
          <p:cNvPr id="3" name="Content Placeholder 2"/>
          <p:cNvSpPr>
            <a:spLocks noGrp="1"/>
          </p:cNvSpPr>
          <p:nvPr>
            <p:ph idx="1"/>
          </p:nvPr>
        </p:nvSpPr>
        <p:spPr/>
        <p:txBody>
          <a:bodyPr/>
          <a:lstStyle/>
          <a:p>
            <a:pPr marL="514350" indent="-514350">
              <a:buAutoNum type="arabicPeriod"/>
            </a:pPr>
            <a:r>
              <a:rPr lang="en-GB" dirty="0" smtClean="0"/>
              <a:t>Did life improve for ordinary Germans between 1933-39</a:t>
            </a:r>
          </a:p>
          <a:p>
            <a:pPr marL="514350" indent="-514350">
              <a:buAutoNum type="arabicPeriod"/>
            </a:pPr>
            <a:r>
              <a:rPr lang="en-GB" dirty="0" smtClean="0"/>
              <a:t>Was the boycott of Jewish shops the worst problem faced by Jews between 1933-39</a:t>
            </a:r>
          </a:p>
          <a:p>
            <a:pPr marL="514350" indent="-514350">
              <a:buAutoNum type="arabicPeriod"/>
            </a:pPr>
            <a:r>
              <a:rPr lang="en-GB" dirty="0" smtClean="0"/>
              <a:t>Was censorship and propaganda the main method used by the Nazis to control the German people</a:t>
            </a:r>
            <a:endParaRPr lang="en-GB"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12 Life in the early years of war </a:t>
            </a:r>
            <a:br>
              <a:rPr lang="en-GB" dirty="0" smtClean="0"/>
            </a:br>
            <a:r>
              <a:rPr lang="en-GB" dirty="0" smtClean="0"/>
              <a:t>1939-41</a:t>
            </a:r>
            <a:endParaRPr lang="en-GB" dirty="0"/>
          </a:p>
        </p:txBody>
      </p:sp>
      <p:sp>
        <p:nvSpPr>
          <p:cNvPr id="3" name="Content Placeholder 2"/>
          <p:cNvSpPr>
            <a:spLocks noGrp="1"/>
          </p:cNvSpPr>
          <p:nvPr>
            <p:ph idx="1"/>
          </p:nvPr>
        </p:nvSpPr>
        <p:spPr/>
        <p:txBody>
          <a:bodyPr/>
          <a:lstStyle/>
          <a:p>
            <a:endParaRPr lang="en-GB"/>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1143000"/>
          </a:xfrm>
        </p:spPr>
        <p:txBody>
          <a:bodyPr/>
          <a:lstStyle/>
          <a:p>
            <a:r>
              <a:rPr lang="en-GB" dirty="0" smtClean="0"/>
              <a:t>12 a)  Initial impact of war 1939-41</a:t>
            </a:r>
            <a:endParaRPr lang="en-GB" dirty="0"/>
          </a:p>
        </p:txBody>
      </p:sp>
      <p:sp>
        <p:nvSpPr>
          <p:cNvPr id="3" name="Content Placeholder 2"/>
          <p:cNvSpPr>
            <a:spLocks noGrp="1"/>
          </p:cNvSpPr>
          <p:nvPr>
            <p:ph idx="1"/>
          </p:nvPr>
        </p:nvSpPr>
        <p:spPr>
          <a:xfrm>
            <a:off x="0" y="1124744"/>
            <a:ext cx="9144000" cy="5733256"/>
          </a:xfrm>
        </p:spPr>
        <p:txBody>
          <a:bodyPr>
            <a:normAutofit fontScale="85000" lnSpcReduction="10000"/>
          </a:bodyPr>
          <a:lstStyle/>
          <a:p>
            <a:r>
              <a:rPr lang="en-GB" dirty="0" smtClean="0"/>
              <a:t>War had little effect on Germans</a:t>
            </a:r>
          </a:p>
          <a:p>
            <a:r>
              <a:rPr lang="en-GB" dirty="0" smtClean="0"/>
              <a:t>Blitzkrieg (heavy bombing campaigns) brought German victories and morale was high</a:t>
            </a:r>
          </a:p>
          <a:p>
            <a:r>
              <a:rPr lang="en-GB" dirty="0" smtClean="0"/>
              <a:t>There were no food shortages and goods such as gold and silk came in from newly acquired countries such as Poland</a:t>
            </a:r>
          </a:p>
          <a:p>
            <a:r>
              <a:rPr lang="en-GB" dirty="0" smtClean="0"/>
              <a:t>Due to </a:t>
            </a:r>
            <a:r>
              <a:rPr lang="en-GB" dirty="0" err="1" smtClean="0"/>
              <a:t>aurtarky</a:t>
            </a:r>
            <a:r>
              <a:rPr lang="en-GB" dirty="0" smtClean="0"/>
              <a:t> (self sufficiency) there were no food shortages.  There was rationing (but not heavily) from 1939 but it meant that 2/5 Germans followed a better diet </a:t>
            </a:r>
          </a:p>
          <a:p>
            <a:r>
              <a:rPr lang="en-GB" dirty="0" smtClean="0"/>
              <a:t>All sections of community were told to take part in the war effort e.g. Hitler Youth collected metal, clothing and books for recycling</a:t>
            </a:r>
          </a:p>
          <a:p>
            <a:r>
              <a:rPr lang="en-GB" dirty="0" smtClean="0"/>
              <a:t>Children were evacuated from Berlin in 1940 but many soon returned as bombing campaigns weren’t very bad</a:t>
            </a:r>
            <a:endParaRPr lang="en-GB"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12b Changing role of women during war </a:t>
            </a:r>
            <a:endParaRPr lang="en-GB" dirty="0"/>
          </a:p>
        </p:txBody>
      </p:sp>
      <p:sp>
        <p:nvSpPr>
          <p:cNvPr id="3" name="Content Placeholder 2"/>
          <p:cNvSpPr>
            <a:spLocks noGrp="1"/>
          </p:cNvSpPr>
          <p:nvPr>
            <p:ph idx="1"/>
          </p:nvPr>
        </p:nvSpPr>
        <p:spPr/>
        <p:txBody>
          <a:bodyPr/>
          <a:lstStyle/>
          <a:p>
            <a:r>
              <a:rPr lang="en-GB" dirty="0" smtClean="0"/>
              <a:t>Although originally </a:t>
            </a:r>
            <a:r>
              <a:rPr lang="en-GB" dirty="0" err="1" smtClean="0"/>
              <a:t>Naiz</a:t>
            </a:r>
            <a:r>
              <a:rPr lang="en-GB" dirty="0" smtClean="0"/>
              <a:t> policy encouraged women to stay at home they had to reverse this decision as men went to fight</a:t>
            </a:r>
          </a:p>
          <a:p>
            <a:r>
              <a:rPr lang="en-GB" dirty="0" smtClean="0"/>
              <a:t>1933 there were 4.2 million married women working and in 1939 there were 6.2 million</a:t>
            </a:r>
          </a:p>
          <a:p>
            <a:r>
              <a:rPr lang="en-GB" dirty="0" smtClean="0"/>
              <a:t>Jan 1943 women between 17-45 had to work but many found ways around it</a:t>
            </a:r>
            <a:endParaRPr lang="en-GB"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12c Propaganda during the first half of the war</a:t>
            </a:r>
            <a:endParaRPr lang="en-GB" dirty="0"/>
          </a:p>
        </p:txBody>
      </p:sp>
      <p:sp>
        <p:nvSpPr>
          <p:cNvPr id="3" name="Content Placeholder 2"/>
          <p:cNvSpPr>
            <a:spLocks noGrp="1"/>
          </p:cNvSpPr>
          <p:nvPr>
            <p:ph idx="1"/>
          </p:nvPr>
        </p:nvSpPr>
        <p:spPr/>
        <p:txBody>
          <a:bodyPr/>
          <a:lstStyle/>
          <a:p>
            <a:r>
              <a:rPr lang="en-GB" dirty="0" smtClean="0"/>
              <a:t>Used to maintain morale by Josef Goebbels.  Much more essential in the later war years when they were losing</a:t>
            </a:r>
          </a:p>
          <a:p>
            <a:r>
              <a:rPr lang="en-GB" dirty="0" smtClean="0"/>
              <a:t>Posters showed German victories in the first half of the war</a:t>
            </a:r>
          </a:p>
          <a:p>
            <a:r>
              <a:rPr lang="en-GB" dirty="0" smtClean="0"/>
              <a:t>Goebbels claimed that in December 1941 Germany gave 1.5 million furs to the German army in Russia to encourage others to give </a:t>
            </a:r>
            <a:endParaRPr lang="en-GB"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13 Germany in the later war years 1943-35</a:t>
            </a:r>
            <a:endParaRPr lang="en-GB" dirty="0"/>
          </a:p>
        </p:txBody>
      </p:sp>
      <p:sp>
        <p:nvSpPr>
          <p:cNvPr id="3" name="Content Placeholder 2"/>
          <p:cNvSpPr>
            <a:spLocks noGrp="1"/>
          </p:cNvSpPr>
          <p:nvPr>
            <p:ph idx="1"/>
          </p:nvPr>
        </p:nvSpPr>
        <p:spPr/>
        <p:txBody>
          <a:bodyPr/>
          <a:lstStyle/>
          <a:p>
            <a:r>
              <a:rPr lang="en-GB" dirty="0" smtClean="0"/>
              <a:t>Total War policy</a:t>
            </a:r>
          </a:p>
          <a:p>
            <a:r>
              <a:rPr lang="en-GB" dirty="0" smtClean="0"/>
              <a:t>Heavy bombings of German cities</a:t>
            </a:r>
          </a:p>
          <a:p>
            <a:r>
              <a:rPr lang="en-GB" dirty="0" smtClean="0"/>
              <a:t>German losses meant a turning point in the war (Germany were losing)</a:t>
            </a:r>
            <a:endParaRPr lang="en-GB"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8229600" cy="1143000"/>
          </a:xfrm>
        </p:spPr>
        <p:txBody>
          <a:bodyPr>
            <a:normAutofit/>
          </a:bodyPr>
          <a:lstStyle/>
          <a:p>
            <a:r>
              <a:rPr lang="en-GB" dirty="0" smtClean="0"/>
              <a:t>13 b) Economic policy 1943-45</a:t>
            </a:r>
            <a:endParaRPr lang="en-GB" dirty="0"/>
          </a:p>
        </p:txBody>
      </p:sp>
      <p:sp>
        <p:nvSpPr>
          <p:cNvPr id="3" name="Content Placeholder 2"/>
          <p:cNvSpPr>
            <a:spLocks noGrp="1"/>
          </p:cNvSpPr>
          <p:nvPr>
            <p:ph idx="1"/>
          </p:nvPr>
        </p:nvSpPr>
        <p:spPr>
          <a:xfrm>
            <a:off x="0" y="908720"/>
            <a:ext cx="9144000" cy="5949280"/>
          </a:xfrm>
        </p:spPr>
        <p:txBody>
          <a:bodyPr>
            <a:normAutofit/>
          </a:bodyPr>
          <a:lstStyle/>
          <a:p>
            <a:endParaRPr lang="en-GB" dirty="0" smtClean="0"/>
          </a:p>
          <a:p>
            <a:r>
              <a:rPr lang="en-GB" dirty="0" smtClean="0"/>
              <a:t>1942 food rations became worse also soap, clothing and shoes.  </a:t>
            </a:r>
          </a:p>
          <a:p>
            <a:pPr>
              <a:buNone/>
            </a:pPr>
            <a:r>
              <a:rPr lang="en-GB" dirty="0" smtClean="0"/>
              <a:t>- Black market and illegal trading rife </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8229600" cy="1143000"/>
          </a:xfrm>
        </p:spPr>
        <p:txBody>
          <a:bodyPr>
            <a:normAutofit/>
          </a:bodyPr>
          <a:lstStyle/>
          <a:p>
            <a:r>
              <a:rPr lang="en-GB" dirty="0" smtClean="0"/>
              <a:t>13 b) Economic policy 1943-45</a:t>
            </a:r>
            <a:endParaRPr lang="en-GB" dirty="0"/>
          </a:p>
        </p:txBody>
      </p:sp>
      <p:sp>
        <p:nvSpPr>
          <p:cNvPr id="3" name="Content Placeholder 2"/>
          <p:cNvSpPr>
            <a:spLocks noGrp="1"/>
          </p:cNvSpPr>
          <p:nvPr>
            <p:ph idx="1"/>
          </p:nvPr>
        </p:nvSpPr>
        <p:spPr>
          <a:xfrm>
            <a:off x="0" y="908720"/>
            <a:ext cx="9144000" cy="5949280"/>
          </a:xfrm>
        </p:spPr>
        <p:txBody>
          <a:bodyPr>
            <a:normAutofit fontScale="92500"/>
          </a:bodyPr>
          <a:lstStyle/>
          <a:p>
            <a:r>
              <a:rPr lang="en-GB" dirty="0" smtClean="0"/>
              <a:t>The concept of “Total war was introduced by Goebbels in a speech at the Berlin </a:t>
            </a:r>
            <a:r>
              <a:rPr lang="en-GB" dirty="0" err="1" smtClean="0"/>
              <a:t>Sportzplatz</a:t>
            </a:r>
            <a:r>
              <a:rPr lang="en-GB" dirty="0" smtClean="0"/>
              <a:t> in Feb 1943</a:t>
            </a:r>
          </a:p>
          <a:p>
            <a:pPr>
              <a:buNone/>
            </a:pPr>
            <a:r>
              <a:rPr lang="en-GB" dirty="0" smtClean="0"/>
              <a:t>-  Closed all non essential to war businesses</a:t>
            </a:r>
          </a:p>
          <a:p>
            <a:pPr>
              <a:buFontTx/>
              <a:buChar char="-"/>
            </a:pPr>
            <a:r>
              <a:rPr lang="en-GB" dirty="0" smtClean="0"/>
              <a:t>Wanted all production and activity to be geared to war</a:t>
            </a:r>
          </a:p>
          <a:p>
            <a:pPr>
              <a:buFontTx/>
              <a:buChar char="-"/>
            </a:pPr>
            <a:r>
              <a:rPr lang="en-GB" dirty="0" smtClean="0"/>
              <a:t>Albert Speer appointed Reich Minister for Armaments who ensured all factories concentrated on war production</a:t>
            </a:r>
          </a:p>
          <a:p>
            <a:pPr>
              <a:buFontTx/>
              <a:buChar char="-"/>
            </a:pPr>
            <a:r>
              <a:rPr lang="en-GB" dirty="0" smtClean="0"/>
              <a:t>Speer brought in more foreign workers to cover worker shortages.  1944 29.2% of workers were foreign</a:t>
            </a:r>
          </a:p>
          <a:p>
            <a:pPr>
              <a:buFontTx/>
              <a:buChar char="-"/>
            </a:pPr>
            <a:r>
              <a:rPr lang="en-GB" dirty="0" smtClean="0"/>
              <a:t>1939-44 in munitions manufacture output increased by 60% despite bombings</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8229600" cy="1143000"/>
          </a:xfrm>
        </p:spPr>
        <p:txBody>
          <a:bodyPr>
            <a:normAutofit fontScale="90000"/>
          </a:bodyPr>
          <a:lstStyle/>
          <a:p>
            <a:r>
              <a:rPr lang="en-GB" dirty="0" smtClean="0"/>
              <a:t>13 a)  Propaganda changed in the later half of the war</a:t>
            </a:r>
            <a:endParaRPr lang="en-GB" dirty="0"/>
          </a:p>
        </p:txBody>
      </p:sp>
      <p:sp>
        <p:nvSpPr>
          <p:cNvPr id="3" name="Content Placeholder 2"/>
          <p:cNvSpPr>
            <a:spLocks noGrp="1"/>
          </p:cNvSpPr>
          <p:nvPr>
            <p:ph idx="1"/>
          </p:nvPr>
        </p:nvSpPr>
        <p:spPr>
          <a:xfrm>
            <a:off x="0" y="1412776"/>
            <a:ext cx="9144000" cy="5445224"/>
          </a:xfrm>
        </p:spPr>
        <p:txBody>
          <a:bodyPr>
            <a:normAutofit fontScale="92500" lnSpcReduction="20000"/>
          </a:bodyPr>
          <a:lstStyle/>
          <a:p>
            <a:r>
              <a:rPr lang="en-GB" dirty="0" smtClean="0"/>
              <a:t>January 1943 Germany lost badly at Stalingrad in Russia</a:t>
            </a:r>
          </a:p>
          <a:p>
            <a:r>
              <a:rPr lang="en-GB" dirty="0" smtClean="0"/>
              <a:t>There were heavy Allied bombings of German cities</a:t>
            </a:r>
          </a:p>
          <a:p>
            <a:r>
              <a:rPr lang="en-GB" dirty="0" smtClean="0"/>
              <a:t>Nature of propaganda changed as needed to raise morale and support for the war</a:t>
            </a:r>
          </a:p>
          <a:p>
            <a:pPr>
              <a:buFontTx/>
              <a:buChar char="-"/>
            </a:pPr>
            <a:r>
              <a:rPr lang="en-GB" dirty="0" smtClean="0"/>
              <a:t>Posters showed that Germany would be victorious in the long run</a:t>
            </a:r>
          </a:p>
          <a:p>
            <a:pPr>
              <a:buFontTx/>
              <a:buChar char="-"/>
            </a:pPr>
            <a:r>
              <a:rPr lang="en-GB" dirty="0" smtClean="0"/>
              <a:t>Bombing of German cities was used to increase support against the evil Allies</a:t>
            </a:r>
          </a:p>
          <a:p>
            <a:pPr>
              <a:buFontTx/>
              <a:buChar char="-"/>
            </a:pPr>
            <a:r>
              <a:rPr lang="en-GB" dirty="0" smtClean="0"/>
              <a:t>“Total War” was supported i.e. everything should be focused towards war</a:t>
            </a:r>
          </a:p>
          <a:p>
            <a:pPr>
              <a:buFontTx/>
              <a:buChar char="-"/>
            </a:pPr>
            <a:r>
              <a:rPr lang="en-GB" dirty="0" smtClean="0"/>
              <a:t>Other campaigns included asking people to save fuel, work harder and avoid tooth decay</a:t>
            </a:r>
          </a:p>
          <a:p>
            <a:pPr>
              <a:buFontTx/>
              <a:buChar char="-"/>
            </a:pPr>
            <a:endParaRPr lang="en-GB" dirty="0" smtClean="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13c Allied bombings 1942-45</a:t>
            </a:r>
            <a:endParaRPr lang="en-GB" dirty="0"/>
          </a:p>
        </p:txBody>
      </p:sp>
      <p:sp>
        <p:nvSpPr>
          <p:cNvPr id="3" name="Content Placeholder 2"/>
          <p:cNvSpPr>
            <a:spLocks noGrp="1"/>
          </p:cNvSpPr>
          <p:nvPr>
            <p:ph idx="1"/>
          </p:nvPr>
        </p:nvSpPr>
        <p:spPr/>
        <p:txBody>
          <a:bodyPr>
            <a:normAutofit/>
          </a:bodyPr>
          <a:lstStyle/>
          <a:p>
            <a:r>
              <a:rPr lang="en-GB" dirty="0" smtClean="0"/>
              <a:t>Allies Aim:  to stop war production and destroy morale</a:t>
            </a:r>
          </a:p>
          <a:p>
            <a:r>
              <a:rPr lang="en-GB" dirty="0" smtClean="0"/>
              <a:t>At the end of the war 3.5 million civilians had been killed</a:t>
            </a:r>
          </a:p>
          <a:p>
            <a:r>
              <a:rPr lang="en-GB" dirty="0" smtClean="0"/>
              <a:t>Berlin, Dresden and Hamburg were in ruins</a:t>
            </a:r>
          </a:p>
          <a:p>
            <a:r>
              <a:rPr lang="en-GB" dirty="0" smtClean="0"/>
              <a:t>Dresden 70% of buildings destroyed in 1945 – millions homeless</a:t>
            </a:r>
          </a:p>
          <a:p>
            <a:endParaRPr lang="en-GB" dirty="0" smtClean="0"/>
          </a:p>
          <a:p>
            <a:endParaRPr lang="en-GB" dirty="0" smtClean="0"/>
          </a:p>
          <a:p>
            <a:endParaRPr lang="en-GB" dirty="0" smtClean="0"/>
          </a:p>
          <a:p>
            <a:endParaRPr lang="en-GB"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14 How were the Jewish treated during the war years?</a:t>
            </a:r>
            <a:endParaRPr lang="en-GB" dirty="0"/>
          </a:p>
        </p:txBody>
      </p:sp>
      <p:sp>
        <p:nvSpPr>
          <p:cNvPr id="3" name="Content Placeholder 2"/>
          <p:cNvSpPr>
            <a:spLocks noGrp="1"/>
          </p:cNvSpPr>
          <p:nvPr>
            <p:ph idx="1"/>
          </p:nvPr>
        </p:nvSpPr>
        <p:spPr/>
        <p:txBody>
          <a:bodyPr/>
          <a:lstStyle/>
          <a:p>
            <a:endParaRPr lang="en-GB"/>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8229600" cy="1143000"/>
          </a:xfrm>
        </p:spPr>
        <p:txBody>
          <a:bodyPr/>
          <a:lstStyle/>
          <a:p>
            <a:r>
              <a:rPr lang="en-GB" dirty="0" smtClean="0"/>
              <a:t>14a 1939</a:t>
            </a:r>
            <a:endParaRPr lang="en-GB" dirty="0"/>
          </a:p>
        </p:txBody>
      </p:sp>
      <p:sp>
        <p:nvSpPr>
          <p:cNvPr id="3" name="Content Placeholder 2"/>
          <p:cNvSpPr>
            <a:spLocks noGrp="1"/>
          </p:cNvSpPr>
          <p:nvPr>
            <p:ph idx="1"/>
          </p:nvPr>
        </p:nvSpPr>
        <p:spPr>
          <a:xfrm>
            <a:off x="0" y="1196752"/>
            <a:ext cx="9144000" cy="5661248"/>
          </a:xfrm>
        </p:spPr>
        <p:txBody>
          <a:bodyPr>
            <a:normAutofit fontScale="92500" lnSpcReduction="20000"/>
          </a:bodyPr>
          <a:lstStyle/>
          <a:p>
            <a:r>
              <a:rPr lang="en-GB" dirty="0" smtClean="0"/>
              <a:t>Reich Central Office for Emigration was set up to force German Jews out of Germany (Madagascar was suggested for an area of resettlement)</a:t>
            </a:r>
          </a:p>
          <a:p>
            <a:r>
              <a:rPr lang="en-GB" dirty="0" smtClean="0"/>
              <a:t>When war broke out it allowed the persecution of Jews to get worse without world opinion, they also had more Jews e.g. 3million in West Poland</a:t>
            </a:r>
          </a:p>
          <a:p>
            <a:r>
              <a:rPr lang="en-GB" dirty="0" smtClean="0"/>
              <a:t>Ghettos introduced in 1939.  All Jews rounded up and sent there</a:t>
            </a:r>
          </a:p>
          <a:p>
            <a:pPr>
              <a:buFontTx/>
              <a:buChar char="-"/>
            </a:pPr>
            <a:r>
              <a:rPr lang="en-GB" dirty="0" smtClean="0"/>
              <a:t>Jewish reservations in towns with walls to keep the Jews in.  The largest was Warsaw in Poland</a:t>
            </a:r>
          </a:p>
          <a:p>
            <a:pPr>
              <a:buFontTx/>
              <a:buChar char="-"/>
            </a:pPr>
            <a:r>
              <a:rPr lang="en-GB" dirty="0" smtClean="0"/>
              <a:t>Starvation rations and many died from starvation, cold and diseases like typhus</a:t>
            </a:r>
          </a:p>
          <a:p>
            <a:pPr>
              <a:buFontTx/>
              <a:buChar char="-"/>
            </a:pPr>
            <a:r>
              <a:rPr lang="en-GB" dirty="0" smtClean="0"/>
              <a:t>55,000 Jews died in the Warsaw ghetto</a:t>
            </a:r>
            <a:endParaRPr lang="en-GB"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14b 1941</a:t>
            </a:r>
            <a:endParaRPr lang="en-GB" dirty="0"/>
          </a:p>
        </p:txBody>
      </p:sp>
      <p:sp>
        <p:nvSpPr>
          <p:cNvPr id="3" name="Content Placeholder 2"/>
          <p:cNvSpPr>
            <a:spLocks noGrp="1"/>
          </p:cNvSpPr>
          <p:nvPr>
            <p:ph idx="1"/>
          </p:nvPr>
        </p:nvSpPr>
        <p:spPr>
          <a:xfrm>
            <a:off x="0" y="1196752"/>
            <a:ext cx="9144000" cy="5661248"/>
          </a:xfrm>
        </p:spPr>
        <p:txBody>
          <a:bodyPr>
            <a:normAutofit lnSpcReduction="10000"/>
          </a:bodyPr>
          <a:lstStyle/>
          <a:p>
            <a:r>
              <a:rPr lang="en-GB" dirty="0" smtClean="0"/>
              <a:t>Following the invasion of Russia the Nazis had even more Jews under their control and no  where to put them</a:t>
            </a:r>
          </a:p>
          <a:p>
            <a:r>
              <a:rPr lang="en-GB" dirty="0" smtClean="0"/>
              <a:t>Murder squads known as the </a:t>
            </a:r>
            <a:r>
              <a:rPr lang="en-GB" dirty="0" err="1" smtClean="0"/>
              <a:t>Einsatzgruppen</a:t>
            </a:r>
            <a:r>
              <a:rPr lang="en-GB" dirty="0" smtClean="0"/>
              <a:t> were introduced</a:t>
            </a:r>
          </a:p>
          <a:p>
            <a:r>
              <a:rPr lang="en-GB" dirty="0" smtClean="0"/>
              <a:t>They followed German troops into Russia rounding up Jews taking them to the outskirts of towns.  There Jews were ordered to dig their own graves before they were shot</a:t>
            </a:r>
          </a:p>
          <a:p>
            <a:r>
              <a:rPr lang="en-GB" dirty="0" smtClean="0"/>
              <a:t>1943 the </a:t>
            </a:r>
            <a:r>
              <a:rPr lang="en-GB" dirty="0" err="1" smtClean="0"/>
              <a:t>Einsatzgruppen</a:t>
            </a:r>
            <a:r>
              <a:rPr lang="en-GB" dirty="0" smtClean="0"/>
              <a:t> had murdered 2 million Russian Jews</a:t>
            </a:r>
            <a:endParaRPr lang="en-GB"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14 c 1942-45</a:t>
            </a:r>
            <a:endParaRPr lang="en-GB" dirty="0"/>
          </a:p>
        </p:txBody>
      </p:sp>
      <p:sp>
        <p:nvSpPr>
          <p:cNvPr id="3" name="Content Placeholder 2"/>
          <p:cNvSpPr>
            <a:spLocks noGrp="1"/>
          </p:cNvSpPr>
          <p:nvPr>
            <p:ph idx="1"/>
          </p:nvPr>
        </p:nvSpPr>
        <p:spPr>
          <a:xfrm>
            <a:off x="0" y="1268760"/>
            <a:ext cx="9144000" cy="5589240"/>
          </a:xfrm>
        </p:spPr>
        <p:txBody>
          <a:bodyPr>
            <a:normAutofit lnSpcReduction="10000"/>
          </a:bodyPr>
          <a:lstStyle/>
          <a:p>
            <a:r>
              <a:rPr lang="en-GB" dirty="0" smtClean="0"/>
              <a:t>The Final Solution: to the Jewish problem.  To exterminate them in death camps</a:t>
            </a:r>
          </a:p>
          <a:p>
            <a:r>
              <a:rPr lang="en-GB" dirty="0" smtClean="0"/>
              <a:t>It was the main idea of Himmler</a:t>
            </a:r>
          </a:p>
          <a:p>
            <a:r>
              <a:rPr lang="en-GB" dirty="0" smtClean="0"/>
              <a:t>It was an efficient and quick solution</a:t>
            </a:r>
          </a:p>
          <a:p>
            <a:r>
              <a:rPr lang="en-GB" dirty="0" smtClean="0"/>
              <a:t>The details of the Final Solution was were worked out at the </a:t>
            </a:r>
            <a:r>
              <a:rPr lang="en-GB" dirty="0" err="1" smtClean="0"/>
              <a:t>Wanassee</a:t>
            </a:r>
            <a:r>
              <a:rPr lang="en-GB" dirty="0" smtClean="0"/>
              <a:t> Conference in Jan 1942</a:t>
            </a:r>
          </a:p>
          <a:p>
            <a:r>
              <a:rPr lang="en-GB" dirty="0" smtClean="0"/>
              <a:t>Death camps were built in Poland where Jews would be worked to death building gas chambers and crematoria (ovens for bodies)</a:t>
            </a:r>
          </a:p>
          <a:p>
            <a:r>
              <a:rPr lang="en-GB" dirty="0" smtClean="0"/>
              <a:t>First death camp was opened in March 1942 at </a:t>
            </a:r>
            <a:r>
              <a:rPr lang="en-GB" dirty="0" err="1" smtClean="0"/>
              <a:t>Belzec</a:t>
            </a:r>
            <a:r>
              <a:rPr lang="en-GB" dirty="0" smtClean="0"/>
              <a:t>  </a:t>
            </a:r>
            <a:endParaRPr lang="en-GB"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14d Gas chambers</a:t>
            </a:r>
            <a:endParaRPr lang="en-GB" dirty="0"/>
          </a:p>
        </p:txBody>
      </p:sp>
      <p:sp>
        <p:nvSpPr>
          <p:cNvPr id="3" name="Content Placeholder 2"/>
          <p:cNvSpPr>
            <a:spLocks noGrp="1"/>
          </p:cNvSpPr>
          <p:nvPr>
            <p:ph idx="1"/>
          </p:nvPr>
        </p:nvSpPr>
        <p:spPr>
          <a:xfrm>
            <a:off x="0" y="1196752"/>
            <a:ext cx="9144000" cy="5661248"/>
          </a:xfrm>
        </p:spPr>
        <p:txBody>
          <a:bodyPr>
            <a:normAutofit fontScale="92500" lnSpcReduction="10000"/>
          </a:bodyPr>
          <a:lstStyle/>
          <a:p>
            <a:r>
              <a:rPr lang="en-GB" dirty="0" smtClean="0"/>
              <a:t>Gases: Carbon Monoxide and </a:t>
            </a:r>
            <a:r>
              <a:rPr lang="en-GB" dirty="0" err="1" smtClean="0"/>
              <a:t>Zyklon</a:t>
            </a:r>
            <a:r>
              <a:rPr lang="en-GB" dirty="0" smtClean="0"/>
              <a:t> B</a:t>
            </a:r>
          </a:p>
          <a:p>
            <a:r>
              <a:rPr lang="en-GB" dirty="0" smtClean="0"/>
              <a:t>Very efficient.  In Treblinka 140,000 Jews were killed a month in 1942</a:t>
            </a:r>
          </a:p>
          <a:p>
            <a:r>
              <a:rPr lang="en-GB" dirty="0" smtClean="0"/>
              <a:t>Fitted out as showers to avoid panic and bodies were burnt or left in mass pits</a:t>
            </a:r>
          </a:p>
          <a:p>
            <a:r>
              <a:rPr lang="en-GB" dirty="0" smtClean="0"/>
              <a:t>Prisoners who weren’t gassed were given many jobs to do the worst being to remove dead bodies from the gas chambers</a:t>
            </a:r>
          </a:p>
          <a:p>
            <a:r>
              <a:rPr lang="en-GB" dirty="0" smtClean="0"/>
              <a:t>Strict routine and terrible conditions</a:t>
            </a:r>
          </a:p>
          <a:p>
            <a:r>
              <a:rPr lang="en-GB" dirty="0" smtClean="0"/>
              <a:t>Doctors used inmates for medical experiments without </a:t>
            </a:r>
            <a:r>
              <a:rPr lang="en-GB" dirty="0" err="1" smtClean="0"/>
              <a:t>anaestetic</a:t>
            </a:r>
            <a:endParaRPr lang="en-GB" dirty="0" smtClean="0"/>
          </a:p>
          <a:p>
            <a:r>
              <a:rPr lang="en-GB" dirty="0" smtClean="0"/>
              <a:t>1945 6 million people had been killed in the camps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15 Opposition to the Nazis during the war years</a:t>
            </a:r>
            <a:endParaRPr lang="en-GB" dirty="0"/>
          </a:p>
        </p:txBody>
      </p:sp>
      <p:sp>
        <p:nvSpPr>
          <p:cNvPr id="3" name="Content Placeholder 2"/>
          <p:cNvSpPr>
            <a:spLocks noGrp="1"/>
          </p:cNvSpPr>
          <p:nvPr>
            <p:ph idx="1"/>
          </p:nvPr>
        </p:nvSpPr>
        <p:spPr/>
        <p:txBody>
          <a:bodyPr/>
          <a:lstStyle/>
          <a:p>
            <a:r>
              <a:rPr lang="en-GB" dirty="0" smtClean="0"/>
              <a:t>Military </a:t>
            </a:r>
            <a:r>
              <a:rPr lang="en-GB" dirty="0" err="1" smtClean="0"/>
              <a:t>oppostion</a:t>
            </a:r>
            <a:endParaRPr lang="en-GB" dirty="0" smtClean="0"/>
          </a:p>
          <a:p>
            <a:r>
              <a:rPr lang="en-GB" dirty="0" smtClean="0"/>
              <a:t>Youth opposition</a:t>
            </a:r>
          </a:p>
          <a:p>
            <a:r>
              <a:rPr lang="en-GB" dirty="0" smtClean="0"/>
              <a:t>Religious opposition</a:t>
            </a:r>
            <a:endParaRPr lang="en-GB"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1143000"/>
          </a:xfrm>
        </p:spPr>
        <p:txBody>
          <a:bodyPr/>
          <a:lstStyle/>
          <a:p>
            <a:r>
              <a:rPr lang="en-GB" dirty="0" smtClean="0"/>
              <a:t>15a Military opposition</a:t>
            </a:r>
            <a:endParaRPr lang="en-GB" dirty="0"/>
          </a:p>
        </p:txBody>
      </p:sp>
      <p:sp>
        <p:nvSpPr>
          <p:cNvPr id="3" name="Content Placeholder 2"/>
          <p:cNvSpPr>
            <a:spLocks noGrp="1"/>
          </p:cNvSpPr>
          <p:nvPr>
            <p:ph idx="1"/>
          </p:nvPr>
        </p:nvSpPr>
        <p:spPr>
          <a:xfrm>
            <a:off x="0" y="1196752"/>
            <a:ext cx="9144000" cy="5661248"/>
          </a:xfrm>
        </p:spPr>
        <p:txBody>
          <a:bodyPr>
            <a:normAutofit/>
          </a:bodyPr>
          <a:lstStyle/>
          <a:p>
            <a:r>
              <a:rPr lang="en-GB" dirty="0" err="1" smtClean="0"/>
              <a:t>Kreisau</a:t>
            </a:r>
            <a:r>
              <a:rPr lang="en-GB" dirty="0" smtClean="0"/>
              <a:t> Circle:  wanted to get rid of Hitler from power but not kill him.  Leader arrested in 1944 for speaking out against the regime.  </a:t>
            </a:r>
          </a:p>
          <a:p>
            <a:r>
              <a:rPr lang="en-GB" dirty="0" smtClean="0"/>
              <a:t>The army:  growing discontent with Hitler after defeats in the later part of the war.  Karl </a:t>
            </a:r>
            <a:r>
              <a:rPr lang="en-GB" dirty="0" err="1" smtClean="0"/>
              <a:t>Goerdeler</a:t>
            </a:r>
            <a:r>
              <a:rPr lang="en-GB" dirty="0" smtClean="0"/>
              <a:t> and General Ludwig Beck tried two failed assassination attempts on Hitler</a:t>
            </a:r>
          </a:p>
          <a:p>
            <a:r>
              <a:rPr lang="en-GB" dirty="0" smtClean="0"/>
              <a:t>These two groups joined Colonel Von </a:t>
            </a:r>
            <a:r>
              <a:rPr lang="en-GB" dirty="0" err="1" smtClean="0"/>
              <a:t>Stauffenburg</a:t>
            </a:r>
            <a:r>
              <a:rPr lang="en-GB" dirty="0" smtClean="0"/>
              <a:t> for the 5</a:t>
            </a:r>
            <a:r>
              <a:rPr lang="en-GB" baseline="30000" dirty="0" smtClean="0"/>
              <a:t>th</a:t>
            </a:r>
            <a:r>
              <a:rPr lang="en-GB" dirty="0" smtClean="0"/>
              <a:t> July Bomb Plot (</a:t>
            </a:r>
            <a:r>
              <a:rPr lang="en-GB" dirty="0" err="1" smtClean="0"/>
              <a:t>Valkyrie</a:t>
            </a:r>
            <a:r>
              <a:rPr lang="en-GB" dirty="0" smtClean="0"/>
              <a:t>)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1143000"/>
          </a:xfrm>
        </p:spPr>
        <p:txBody>
          <a:bodyPr/>
          <a:lstStyle/>
          <a:p>
            <a:r>
              <a:rPr lang="en-GB" dirty="0" smtClean="0"/>
              <a:t>15a Military opposition (</a:t>
            </a:r>
            <a:r>
              <a:rPr lang="en-GB" dirty="0" err="1" smtClean="0"/>
              <a:t>Valkyrie</a:t>
            </a:r>
            <a:r>
              <a:rPr lang="en-GB" dirty="0" smtClean="0"/>
              <a:t>)</a:t>
            </a:r>
            <a:endParaRPr lang="en-GB" dirty="0"/>
          </a:p>
        </p:txBody>
      </p:sp>
      <p:sp>
        <p:nvSpPr>
          <p:cNvPr id="3" name="Content Placeholder 2"/>
          <p:cNvSpPr>
            <a:spLocks noGrp="1"/>
          </p:cNvSpPr>
          <p:nvPr>
            <p:ph idx="1"/>
          </p:nvPr>
        </p:nvSpPr>
        <p:spPr>
          <a:xfrm>
            <a:off x="0" y="1124744"/>
            <a:ext cx="9144000" cy="5733256"/>
          </a:xfrm>
        </p:spPr>
        <p:txBody>
          <a:bodyPr>
            <a:normAutofit lnSpcReduction="10000"/>
          </a:bodyPr>
          <a:lstStyle/>
          <a:p>
            <a:r>
              <a:rPr lang="en-GB" dirty="0" smtClean="0"/>
              <a:t>Colonel Von </a:t>
            </a:r>
            <a:r>
              <a:rPr lang="en-GB" dirty="0" err="1" smtClean="0"/>
              <a:t>Stauffenburg</a:t>
            </a:r>
            <a:r>
              <a:rPr lang="en-GB" dirty="0" smtClean="0"/>
              <a:t> fought in Russia.  Was appalled by the treatment of the Jews and wanted to kill Hitler</a:t>
            </a:r>
          </a:p>
          <a:p>
            <a:r>
              <a:rPr lang="en-GB" dirty="0" smtClean="0"/>
              <a:t>He thought up Operation </a:t>
            </a:r>
            <a:r>
              <a:rPr lang="en-GB" dirty="0" err="1" smtClean="0"/>
              <a:t>Valkyrie</a:t>
            </a:r>
            <a:r>
              <a:rPr lang="en-GB" dirty="0" smtClean="0"/>
              <a:t> which used a bomb in a briefcase to kill Hitler.  Unfortunately the suitcase was moved and Hitler was just injured</a:t>
            </a:r>
          </a:p>
          <a:p>
            <a:r>
              <a:rPr lang="en-GB" dirty="0" smtClean="0"/>
              <a:t>5746 people executed for their role in the plot</a:t>
            </a:r>
          </a:p>
          <a:p>
            <a:r>
              <a:rPr lang="en-GB" dirty="0" smtClean="0"/>
              <a:t>Every member of the army had to re swear an oath of loyalty to Hitler</a:t>
            </a:r>
          </a:p>
          <a:p>
            <a:r>
              <a:rPr lang="en-GB" dirty="0" smtClean="0"/>
              <a:t>The military salute was replaced with the </a:t>
            </a:r>
            <a:r>
              <a:rPr lang="en-GB" dirty="0" err="1" smtClean="0"/>
              <a:t>Heil</a:t>
            </a:r>
            <a:r>
              <a:rPr lang="en-GB" dirty="0" smtClean="0"/>
              <a:t> </a:t>
            </a:r>
            <a:r>
              <a:rPr lang="en-GB" dirty="0"/>
              <a:t>H</a:t>
            </a:r>
            <a:r>
              <a:rPr lang="en-GB" dirty="0" smtClean="0"/>
              <a:t>itler salute </a:t>
            </a:r>
            <a:endParaRPr lang="en-GB"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15b  Opposition from Youth groups</a:t>
            </a:r>
            <a:endParaRPr lang="en-GB" dirty="0"/>
          </a:p>
        </p:txBody>
      </p:sp>
      <p:sp>
        <p:nvSpPr>
          <p:cNvPr id="3" name="Content Placeholder 2"/>
          <p:cNvSpPr>
            <a:spLocks noGrp="1"/>
          </p:cNvSpPr>
          <p:nvPr>
            <p:ph idx="1"/>
          </p:nvPr>
        </p:nvSpPr>
        <p:spPr>
          <a:xfrm>
            <a:off x="0" y="1600200"/>
            <a:ext cx="9144000" cy="5257800"/>
          </a:xfrm>
        </p:spPr>
        <p:txBody>
          <a:bodyPr>
            <a:normAutofit/>
          </a:bodyPr>
          <a:lstStyle/>
          <a:p>
            <a:r>
              <a:rPr lang="en-GB" sz="3600" dirty="0" smtClean="0"/>
              <a:t>Edelweiss pirates:  a youth group who’s symbol was Edelweiss flower</a:t>
            </a:r>
          </a:p>
          <a:p>
            <a:pPr>
              <a:buFontTx/>
              <a:buChar char="-"/>
            </a:pPr>
            <a:r>
              <a:rPr lang="en-GB" sz="3600" dirty="0" smtClean="0"/>
              <a:t>Go on hikes and camping trying to beat up Hitler Youth patrols.  They hid deserters from the army and pushed anti Hitler leaflets through doors</a:t>
            </a:r>
          </a:p>
          <a:p>
            <a:pPr>
              <a:buFontTx/>
              <a:buChar char="-"/>
            </a:pPr>
            <a:r>
              <a:rPr lang="en-GB" sz="3600" dirty="0" smtClean="0"/>
              <a:t>1944 12 members of a group were publicly hanged in Cologne</a:t>
            </a:r>
            <a:endParaRPr lang="en-GB" sz="36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8229600" cy="1143000"/>
          </a:xfrm>
        </p:spPr>
        <p:txBody>
          <a:bodyPr/>
          <a:lstStyle/>
          <a:p>
            <a:r>
              <a:rPr lang="en-GB" dirty="0" smtClean="0"/>
              <a:t>15b  Opposition from youth groups</a:t>
            </a:r>
            <a:endParaRPr lang="en-GB" dirty="0"/>
          </a:p>
        </p:txBody>
      </p:sp>
      <p:sp>
        <p:nvSpPr>
          <p:cNvPr id="3" name="Content Placeholder 2"/>
          <p:cNvSpPr>
            <a:spLocks noGrp="1"/>
          </p:cNvSpPr>
          <p:nvPr>
            <p:ph idx="1"/>
          </p:nvPr>
        </p:nvSpPr>
        <p:spPr>
          <a:xfrm>
            <a:off x="0" y="1268760"/>
            <a:ext cx="9144000" cy="5589240"/>
          </a:xfrm>
        </p:spPr>
        <p:txBody>
          <a:bodyPr>
            <a:normAutofit fontScale="92500"/>
          </a:bodyPr>
          <a:lstStyle/>
          <a:p>
            <a:r>
              <a:rPr lang="en-GB" dirty="0" smtClean="0"/>
              <a:t>Swing Groups:  upper middle class youths in large cities that didn’t like the ideals of the Hitler Youth.  Met in bars and played American black music, jazz and Jewish music</a:t>
            </a:r>
          </a:p>
          <a:p>
            <a:pPr>
              <a:buFontTx/>
              <a:buChar char="-"/>
            </a:pPr>
            <a:r>
              <a:rPr lang="en-GB" dirty="0" smtClean="0"/>
              <a:t>Nazis closed the bars and made some arrests</a:t>
            </a:r>
          </a:p>
          <a:p>
            <a:r>
              <a:rPr lang="en-GB" dirty="0" smtClean="0"/>
              <a:t>White Rose Group (led by Hans and Sophie Scholl):  set up in Munich University in 1941.  Issued 6 leaflets telling people of Nazi atrocities. They also painted anti Nazi messages on buildings.  </a:t>
            </a:r>
            <a:endParaRPr lang="en-GB" dirty="0"/>
          </a:p>
          <a:p>
            <a:pPr>
              <a:buNone/>
            </a:pPr>
            <a:r>
              <a:rPr lang="en-GB" dirty="0" smtClean="0"/>
              <a:t>- They were spotted by a Nazi caretaker in Feb 1943.  The leaders were tortured by the Gestapo and hanged</a:t>
            </a:r>
            <a:endParaRPr lang="en-GB"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8229600" cy="1143000"/>
          </a:xfrm>
        </p:spPr>
        <p:txBody>
          <a:bodyPr>
            <a:normAutofit fontScale="90000"/>
          </a:bodyPr>
          <a:lstStyle/>
          <a:p>
            <a:r>
              <a:rPr lang="en-GB" dirty="0" smtClean="0"/>
              <a:t>15c  Opposition from religious groups</a:t>
            </a:r>
            <a:endParaRPr lang="en-GB" dirty="0"/>
          </a:p>
        </p:txBody>
      </p:sp>
      <p:sp>
        <p:nvSpPr>
          <p:cNvPr id="3" name="Content Placeholder 2"/>
          <p:cNvSpPr>
            <a:spLocks noGrp="1"/>
          </p:cNvSpPr>
          <p:nvPr>
            <p:ph idx="1"/>
          </p:nvPr>
        </p:nvSpPr>
        <p:spPr>
          <a:xfrm>
            <a:off x="0" y="1268760"/>
            <a:ext cx="9144000" cy="5589240"/>
          </a:xfrm>
        </p:spPr>
        <p:txBody>
          <a:bodyPr>
            <a:normAutofit fontScale="92500" lnSpcReduction="20000"/>
          </a:bodyPr>
          <a:lstStyle/>
          <a:p>
            <a:r>
              <a:rPr lang="en-GB" dirty="0" smtClean="0"/>
              <a:t>Martin </a:t>
            </a:r>
            <a:r>
              <a:rPr lang="en-GB" dirty="0" err="1" smtClean="0"/>
              <a:t>Niemoller</a:t>
            </a:r>
            <a:r>
              <a:rPr lang="en-GB" dirty="0" smtClean="0"/>
              <a:t>:  1934 set up Confessional Church to rival Hitler’s Reich Church and spoke out openly against the regime.  He was arrested and was sent to a concentration camp.  He survived</a:t>
            </a:r>
          </a:p>
          <a:p>
            <a:r>
              <a:rPr lang="en-GB" dirty="0" smtClean="0"/>
              <a:t>Dietrich </a:t>
            </a:r>
            <a:r>
              <a:rPr lang="en-GB" dirty="0" err="1" smtClean="0"/>
              <a:t>Bonheoeffer</a:t>
            </a:r>
            <a:r>
              <a:rPr lang="en-GB" dirty="0" smtClean="0"/>
              <a:t>: Helped to create the Confessional Church.  He spoke out against Hitler and was part of a secret group trying to overthrow Hitler.  He set up Operation 7 helping Jews to escape.  He was sent to a concentration camp where he was executed in 1945</a:t>
            </a:r>
          </a:p>
          <a:p>
            <a:r>
              <a:rPr lang="en-GB" dirty="0" smtClean="0"/>
              <a:t>Von Galen:  Catholic Bishop.  He spoke out publicly against Hitler’s murder of disabled people amongst other things but was unpunished because he was too popular</a:t>
            </a:r>
            <a:endParaRPr lang="en-GB"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16 Germany after the war</a:t>
            </a:r>
            <a:endParaRPr lang="en-GB" dirty="0"/>
          </a:p>
        </p:txBody>
      </p:sp>
      <p:sp>
        <p:nvSpPr>
          <p:cNvPr id="3" name="Content Placeholder 2"/>
          <p:cNvSpPr>
            <a:spLocks noGrp="1"/>
          </p:cNvSpPr>
          <p:nvPr>
            <p:ph idx="1"/>
          </p:nvPr>
        </p:nvSpPr>
        <p:spPr/>
        <p:txBody>
          <a:bodyPr/>
          <a:lstStyle/>
          <a:p>
            <a:endParaRPr lang="en-GB"/>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16a Why did they lose</a:t>
            </a:r>
            <a:endParaRPr lang="en-GB" dirty="0"/>
          </a:p>
        </p:txBody>
      </p:sp>
      <p:sp>
        <p:nvSpPr>
          <p:cNvPr id="3" name="Content Placeholder 2"/>
          <p:cNvSpPr>
            <a:spLocks noGrp="1"/>
          </p:cNvSpPr>
          <p:nvPr>
            <p:ph idx="1"/>
          </p:nvPr>
        </p:nvSpPr>
        <p:spPr/>
        <p:txBody>
          <a:bodyPr>
            <a:normAutofit fontScale="77500" lnSpcReduction="20000"/>
          </a:bodyPr>
          <a:lstStyle/>
          <a:p>
            <a:pPr marL="514350" indent="-514350">
              <a:buAutoNum type="arabicPeriod"/>
            </a:pPr>
            <a:r>
              <a:rPr lang="en-GB" dirty="0" smtClean="0"/>
              <a:t>Heavy Allied bombings</a:t>
            </a:r>
          </a:p>
          <a:p>
            <a:pPr marL="514350" indent="-514350">
              <a:buAutoNum type="arabicPeriod"/>
            </a:pPr>
            <a:r>
              <a:rPr lang="en-GB" dirty="0" smtClean="0"/>
              <a:t>The Allies had better resources</a:t>
            </a:r>
          </a:p>
          <a:p>
            <a:pPr marL="514350" indent="-514350">
              <a:buAutoNum type="arabicPeriod"/>
            </a:pPr>
            <a:r>
              <a:rPr lang="en-GB" dirty="0" smtClean="0"/>
              <a:t>The invasion of Russia meant that Hitler was fighting on two fronts (borders)</a:t>
            </a:r>
          </a:p>
          <a:p>
            <a:pPr marL="514350" indent="-514350">
              <a:buAutoNum type="arabicPeriod"/>
            </a:pPr>
            <a:r>
              <a:rPr lang="en-GB" dirty="0" smtClean="0"/>
              <a:t>German treatment of people in occupied countries led to resistance and protest giving the Allies help</a:t>
            </a:r>
          </a:p>
          <a:p>
            <a:pPr marL="514350" indent="-514350">
              <a:buAutoNum type="arabicPeriod"/>
            </a:pPr>
            <a:r>
              <a:rPr lang="en-GB" dirty="0" smtClean="0"/>
              <a:t>Advances in technology stopped Germany’s navy (in particular their u-boats)</a:t>
            </a:r>
          </a:p>
          <a:p>
            <a:pPr marL="514350" indent="-514350">
              <a:buAutoNum type="arabicPeriod"/>
            </a:pPr>
            <a:r>
              <a:rPr lang="en-GB" dirty="0" smtClean="0"/>
              <a:t>The Allies had strong leaders (Churchill/Stalin) who united their people in the belief they were fighting a war against evil</a:t>
            </a:r>
          </a:p>
          <a:p>
            <a:pPr marL="514350" indent="-514350">
              <a:buAutoNum type="arabicPeriod"/>
            </a:pPr>
            <a:r>
              <a:rPr lang="en-GB" dirty="0" smtClean="0"/>
              <a:t>Hitler meddled in military affairs and made mistakes e.g. he refused to allow his troops to retreat from Stalingrad</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16 B:  The People’s Home Guard</a:t>
            </a:r>
            <a:endParaRPr lang="en-GB" dirty="0"/>
          </a:p>
        </p:txBody>
      </p:sp>
      <p:sp>
        <p:nvSpPr>
          <p:cNvPr id="3" name="Content Placeholder 2"/>
          <p:cNvSpPr>
            <a:spLocks noGrp="1"/>
          </p:cNvSpPr>
          <p:nvPr>
            <p:ph idx="1"/>
          </p:nvPr>
        </p:nvSpPr>
        <p:spPr/>
        <p:txBody>
          <a:bodyPr/>
          <a:lstStyle/>
          <a:p>
            <a:r>
              <a:rPr lang="en-GB" dirty="0" smtClean="0"/>
              <a:t>1944 People’s Army created in 1944 to defend German cities from the Allied invasion</a:t>
            </a:r>
          </a:p>
          <a:p>
            <a:r>
              <a:rPr lang="en-GB" dirty="0" smtClean="0"/>
              <a:t>They lacked experience and never really taken seriously as they had few weapons and suffered low morale</a:t>
            </a:r>
            <a:endParaRPr lang="en-GB"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16b)  the fall of Berlin</a:t>
            </a:r>
            <a:endParaRPr lang="en-GB" dirty="0"/>
          </a:p>
        </p:txBody>
      </p:sp>
      <p:sp>
        <p:nvSpPr>
          <p:cNvPr id="3" name="Content Placeholder 2"/>
          <p:cNvSpPr>
            <a:spLocks noGrp="1"/>
          </p:cNvSpPr>
          <p:nvPr>
            <p:ph idx="1"/>
          </p:nvPr>
        </p:nvSpPr>
        <p:spPr/>
        <p:txBody>
          <a:bodyPr>
            <a:normAutofit fontScale="77500" lnSpcReduction="20000"/>
          </a:bodyPr>
          <a:lstStyle/>
          <a:p>
            <a:r>
              <a:rPr lang="en-GB" dirty="0" smtClean="0"/>
              <a:t>Following the D Day landings the Allies took Paris 25 August 1944 and advanced towards Germany</a:t>
            </a:r>
          </a:p>
          <a:p>
            <a:r>
              <a:rPr lang="en-GB" dirty="0" smtClean="0"/>
              <a:t>Operation Market Garden was launched in 1944 to take the bridges (they flew men in behind the enemy lines). This failed due to weather and poor radio  communication</a:t>
            </a:r>
          </a:p>
          <a:p>
            <a:r>
              <a:rPr lang="en-GB" dirty="0" smtClean="0"/>
              <a:t>Hitler tried to defeat the Allies in one last push at the Battle of the Bulge in Belgium but failed and March 1945 Russian forces attacked Berlin but were held back</a:t>
            </a:r>
          </a:p>
          <a:p>
            <a:r>
              <a:rPr lang="en-GB" dirty="0" smtClean="0"/>
              <a:t>1944 Russians freed Warsaw and Vienna and they began their final attack on Berlin 16 April 1945.  The Russians were hard to control and looted, raped and were very violent</a:t>
            </a:r>
          </a:p>
          <a:p>
            <a:r>
              <a:rPr lang="en-GB" dirty="0" smtClean="0"/>
              <a:t>8 May 1945 the last German troops surrendered</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16c the death of Hitler</a:t>
            </a:r>
            <a:endParaRPr lang="en-GB" dirty="0"/>
          </a:p>
        </p:txBody>
      </p:sp>
      <p:sp>
        <p:nvSpPr>
          <p:cNvPr id="3" name="Content Placeholder 2"/>
          <p:cNvSpPr>
            <a:spLocks noGrp="1"/>
          </p:cNvSpPr>
          <p:nvPr>
            <p:ph idx="1"/>
          </p:nvPr>
        </p:nvSpPr>
        <p:spPr/>
        <p:txBody>
          <a:bodyPr/>
          <a:lstStyle/>
          <a:p>
            <a:r>
              <a:rPr lang="en-GB" dirty="0" smtClean="0"/>
              <a:t>Hitler hid in an underground bunker and married Eva Braun and committed suicide on 30 April by poison and shooting</a:t>
            </a:r>
          </a:p>
          <a:p>
            <a:r>
              <a:rPr lang="en-GB" dirty="0" smtClean="0"/>
              <a:t>He wanted his body burnt</a:t>
            </a:r>
          </a:p>
          <a:p>
            <a:r>
              <a:rPr lang="en-GB" dirty="0" smtClean="0"/>
              <a:t>1 May Goebbels committed suicide with his wife having poisoned his 6 children</a:t>
            </a:r>
            <a:endParaRPr lang="en-GB"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16d Germany’s surrender</a:t>
            </a:r>
            <a:endParaRPr lang="en-GB" dirty="0"/>
          </a:p>
        </p:txBody>
      </p:sp>
      <p:sp>
        <p:nvSpPr>
          <p:cNvPr id="3" name="Content Placeholder 2"/>
          <p:cNvSpPr>
            <a:spLocks noGrp="1"/>
          </p:cNvSpPr>
          <p:nvPr>
            <p:ph idx="1"/>
          </p:nvPr>
        </p:nvSpPr>
        <p:spPr/>
        <p:txBody>
          <a:bodyPr/>
          <a:lstStyle/>
          <a:p>
            <a:r>
              <a:rPr lang="en-GB" dirty="0" smtClean="0"/>
              <a:t>Admiral Donitz was left in charge and began negotiations for surrender</a:t>
            </a:r>
          </a:p>
          <a:p>
            <a:r>
              <a:rPr lang="en-GB" dirty="0" smtClean="0"/>
              <a:t>The end of fighting was 11pm on 8 May despite surrendering on 2 May</a:t>
            </a:r>
          </a:p>
          <a:p>
            <a:r>
              <a:rPr lang="en-GB" dirty="0" smtClean="0"/>
              <a:t>All German cities lay in rubble with 3.6 million dead and millions of refugees with nowhere to go.  The economy was in ruins and the transport system was non-existent</a:t>
            </a:r>
            <a:endParaRPr lang="en-GB"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16e Germany’s punishment</a:t>
            </a:r>
            <a:endParaRPr lang="en-GB" dirty="0"/>
          </a:p>
        </p:txBody>
      </p:sp>
      <p:sp>
        <p:nvSpPr>
          <p:cNvPr id="3" name="Content Placeholder 2"/>
          <p:cNvSpPr>
            <a:spLocks noGrp="1"/>
          </p:cNvSpPr>
          <p:nvPr>
            <p:ph idx="1"/>
          </p:nvPr>
        </p:nvSpPr>
        <p:spPr/>
        <p:txBody>
          <a:bodyPr>
            <a:normAutofit fontScale="85000" lnSpcReduction="10000"/>
          </a:bodyPr>
          <a:lstStyle/>
          <a:p>
            <a:r>
              <a:rPr lang="en-GB" dirty="0" smtClean="0"/>
              <a:t>Yalta Conference 1945: the Allies could not agree on key decisions but agreed to divide Germany into 4 zones; French; US; British; Russian</a:t>
            </a:r>
          </a:p>
          <a:p>
            <a:r>
              <a:rPr lang="en-GB" dirty="0" smtClean="0"/>
              <a:t>Potsdam Conference 1945:    agreed on reparations, </a:t>
            </a:r>
            <a:r>
              <a:rPr lang="en-GB" dirty="0" err="1" smtClean="0"/>
              <a:t>denazification</a:t>
            </a:r>
            <a:r>
              <a:rPr lang="en-GB" dirty="0" smtClean="0"/>
              <a:t> and getting rid of the army in Germany</a:t>
            </a:r>
          </a:p>
          <a:p>
            <a:r>
              <a:rPr lang="en-GB" dirty="0" smtClean="0"/>
              <a:t>Nuremburg trials for war crimes:  22 senior Nazis tried and 200 others</a:t>
            </a:r>
          </a:p>
          <a:p>
            <a:pPr>
              <a:buFontTx/>
              <a:buChar char="-"/>
            </a:pPr>
            <a:r>
              <a:rPr lang="en-GB" dirty="0" smtClean="0"/>
              <a:t>Trials between 21 </a:t>
            </a:r>
            <a:r>
              <a:rPr lang="en-GB" dirty="0"/>
              <a:t>N</a:t>
            </a:r>
            <a:r>
              <a:rPr lang="en-GB" dirty="0" smtClean="0"/>
              <a:t>ovember 1945 and 1 October 1946 in Nuremburg</a:t>
            </a:r>
          </a:p>
          <a:p>
            <a:pPr>
              <a:buFontTx/>
              <a:buChar char="-"/>
            </a:pPr>
            <a:r>
              <a:rPr lang="en-GB" dirty="0" smtClean="0"/>
              <a:t>24 were executed and the rest bar 35 were imprisoned</a:t>
            </a:r>
          </a:p>
          <a:p>
            <a:pPr>
              <a:buFontTx/>
              <a:buChar char="-"/>
            </a:pPr>
            <a:endParaRPr lang="en-GB"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16f </a:t>
            </a:r>
            <a:r>
              <a:rPr lang="en-GB" dirty="0" err="1" smtClean="0"/>
              <a:t>Denazification</a:t>
            </a:r>
            <a:endParaRPr lang="en-GB" dirty="0"/>
          </a:p>
        </p:txBody>
      </p:sp>
      <p:sp>
        <p:nvSpPr>
          <p:cNvPr id="3" name="Content Placeholder 2"/>
          <p:cNvSpPr>
            <a:spLocks noGrp="1"/>
          </p:cNvSpPr>
          <p:nvPr>
            <p:ph idx="1"/>
          </p:nvPr>
        </p:nvSpPr>
        <p:spPr/>
        <p:txBody>
          <a:bodyPr/>
          <a:lstStyle/>
          <a:p>
            <a:r>
              <a:rPr lang="en-GB" dirty="0" smtClean="0"/>
              <a:t>Removing any trace of the Nazi regime from Germany</a:t>
            </a:r>
          </a:p>
          <a:p>
            <a:pPr>
              <a:buFontTx/>
              <a:buChar char="-"/>
            </a:pPr>
            <a:r>
              <a:rPr lang="en-GB" dirty="0" smtClean="0"/>
              <a:t>Banned the Nazi party</a:t>
            </a:r>
          </a:p>
          <a:p>
            <a:pPr>
              <a:buFontTx/>
              <a:buChar char="-"/>
            </a:pPr>
            <a:r>
              <a:rPr lang="en-GB" dirty="0" smtClean="0"/>
              <a:t>Punished members of the party by manual labour </a:t>
            </a:r>
          </a:p>
          <a:p>
            <a:pPr>
              <a:buFontTx/>
              <a:buChar char="-"/>
            </a:pPr>
            <a:r>
              <a:rPr lang="en-GB" dirty="0" smtClean="0"/>
              <a:t>30,000 books were banned</a:t>
            </a:r>
          </a:p>
          <a:p>
            <a:pPr>
              <a:buFontTx/>
              <a:buChar char="-"/>
            </a:pPr>
            <a:r>
              <a:rPr lang="en-GB" dirty="0" smtClean="0"/>
              <a:t>Tried to punish many of the Germans</a:t>
            </a:r>
            <a:endParaRPr lang="en-GB"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17 Germany in 1947</a:t>
            </a:r>
            <a:endParaRPr lang="en-GB" dirty="0"/>
          </a:p>
        </p:txBody>
      </p:sp>
      <p:sp>
        <p:nvSpPr>
          <p:cNvPr id="3" name="Content Placeholder 2"/>
          <p:cNvSpPr>
            <a:spLocks noGrp="1"/>
          </p:cNvSpPr>
          <p:nvPr>
            <p:ph idx="1"/>
          </p:nvPr>
        </p:nvSpPr>
        <p:spPr/>
        <p:txBody>
          <a:bodyPr/>
          <a:lstStyle/>
          <a:p>
            <a:endParaRPr lang="en-GB"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17a Germany in 1947</a:t>
            </a:r>
            <a:endParaRPr lang="en-GB" dirty="0"/>
          </a:p>
        </p:txBody>
      </p:sp>
      <p:sp>
        <p:nvSpPr>
          <p:cNvPr id="3" name="Content Placeholder 2"/>
          <p:cNvSpPr>
            <a:spLocks noGrp="1"/>
          </p:cNvSpPr>
          <p:nvPr>
            <p:ph idx="1"/>
          </p:nvPr>
        </p:nvSpPr>
        <p:spPr/>
        <p:txBody>
          <a:bodyPr/>
          <a:lstStyle/>
          <a:p>
            <a:r>
              <a:rPr lang="en-GB" dirty="0" smtClean="0"/>
              <a:t>4 zones in Germany stopped working together (Russians had Communist ideas and the US, France and Britain had capitalist)</a:t>
            </a:r>
          </a:p>
          <a:p>
            <a:r>
              <a:rPr lang="en-GB" dirty="0" smtClean="0"/>
              <a:t>This hostility between Russia and the Allies became known as the cold war and two Germanys continued to exist (East and West) until they were reunited as one country in 1990</a:t>
            </a:r>
            <a:endParaRPr lang="en-GB"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Explain questions (4)</a:t>
            </a:r>
            <a:endParaRPr lang="en-GB" dirty="0"/>
          </a:p>
        </p:txBody>
      </p:sp>
      <p:sp>
        <p:nvSpPr>
          <p:cNvPr id="3" name="Content Placeholder 2"/>
          <p:cNvSpPr>
            <a:spLocks noGrp="1"/>
          </p:cNvSpPr>
          <p:nvPr>
            <p:ph idx="1"/>
          </p:nvPr>
        </p:nvSpPr>
        <p:spPr>
          <a:xfrm>
            <a:off x="0" y="1268760"/>
            <a:ext cx="8892480" cy="5400600"/>
          </a:xfrm>
        </p:spPr>
        <p:txBody>
          <a:bodyPr>
            <a:normAutofit fontScale="55000" lnSpcReduction="20000"/>
          </a:bodyPr>
          <a:lstStyle/>
          <a:p>
            <a:pPr marL="514350" indent="-514350">
              <a:buAutoNum type="arabicPeriod"/>
            </a:pPr>
            <a:r>
              <a:rPr lang="en-GB" dirty="0" smtClean="0"/>
              <a:t>Explain why the role of women changed in WW2</a:t>
            </a:r>
          </a:p>
          <a:p>
            <a:pPr marL="514350" indent="-514350">
              <a:buAutoNum type="arabicPeriod"/>
            </a:pPr>
            <a:r>
              <a:rPr lang="en-GB" dirty="0" smtClean="0"/>
              <a:t>Explain how life on the </a:t>
            </a:r>
            <a:r>
              <a:rPr lang="en-GB" dirty="0" err="1" smtClean="0"/>
              <a:t>homefront</a:t>
            </a:r>
            <a:r>
              <a:rPr lang="en-GB" dirty="0" smtClean="0"/>
              <a:t> changed after 1942</a:t>
            </a:r>
          </a:p>
          <a:p>
            <a:pPr marL="514350" indent="-514350">
              <a:buAutoNum type="arabicPeriod"/>
            </a:pPr>
            <a:r>
              <a:rPr lang="en-GB" dirty="0" smtClean="0"/>
              <a:t>Explain how the Nazis controlled the economy during WW2</a:t>
            </a:r>
          </a:p>
          <a:p>
            <a:pPr marL="514350" indent="-514350">
              <a:buAutoNum type="arabicPeriod"/>
            </a:pPr>
            <a:r>
              <a:rPr lang="en-GB" dirty="0" smtClean="0"/>
              <a:t>Explain how propaganda was used during WW2</a:t>
            </a:r>
          </a:p>
          <a:p>
            <a:pPr marL="514350" indent="-514350">
              <a:buAutoNum type="arabicPeriod"/>
            </a:pPr>
            <a:r>
              <a:rPr lang="en-GB" dirty="0" smtClean="0"/>
              <a:t>Explain how Albert Speer managed to increase weapons production</a:t>
            </a:r>
          </a:p>
          <a:p>
            <a:pPr marL="514350" indent="-514350">
              <a:buAutoNum type="arabicPeriod"/>
            </a:pPr>
            <a:r>
              <a:rPr lang="en-GB" dirty="0" smtClean="0"/>
              <a:t>Explain the effects of Allied bombings n German cities in 1945</a:t>
            </a:r>
          </a:p>
          <a:p>
            <a:pPr marL="514350" indent="-514350">
              <a:buAutoNum type="arabicPeriod"/>
            </a:pPr>
            <a:r>
              <a:rPr lang="en-GB" dirty="0" smtClean="0"/>
              <a:t>Explain why the persecution of Jewish people escalated after 1939</a:t>
            </a:r>
          </a:p>
          <a:p>
            <a:pPr marL="514350" indent="-514350">
              <a:buAutoNum type="arabicPeriod"/>
            </a:pPr>
            <a:r>
              <a:rPr lang="en-GB" dirty="0" smtClean="0"/>
              <a:t>Explain why the Final Solution was introduced in 1942</a:t>
            </a:r>
          </a:p>
          <a:p>
            <a:pPr marL="514350" indent="-514350">
              <a:buAutoNum type="arabicPeriod"/>
            </a:pPr>
            <a:r>
              <a:rPr lang="en-GB" dirty="0" smtClean="0"/>
              <a:t>Explain why opposition to the Nazis increased during WW2</a:t>
            </a:r>
          </a:p>
          <a:p>
            <a:pPr marL="514350" indent="-514350">
              <a:buAutoNum type="arabicPeriod"/>
            </a:pPr>
            <a:r>
              <a:rPr lang="en-GB" dirty="0" smtClean="0"/>
              <a:t>Explain how youth groups/ordinary civilians opposed the Nazis during WW2</a:t>
            </a:r>
          </a:p>
          <a:p>
            <a:pPr marL="514350" indent="-514350">
              <a:buAutoNum type="arabicPeriod"/>
            </a:pPr>
            <a:r>
              <a:rPr lang="en-GB" dirty="0" smtClean="0"/>
              <a:t>Explain how the church opposed the Nazis during WW2</a:t>
            </a:r>
          </a:p>
          <a:p>
            <a:pPr marL="514350" indent="-514350">
              <a:buAutoNum type="arabicPeriod"/>
            </a:pPr>
            <a:r>
              <a:rPr lang="en-GB" dirty="0" smtClean="0"/>
              <a:t>Explain how the military opposed the Nazis during WW2</a:t>
            </a:r>
          </a:p>
          <a:p>
            <a:pPr marL="514350" indent="-514350">
              <a:buAutoNum type="arabicPeriod"/>
            </a:pPr>
            <a:r>
              <a:rPr lang="en-GB" dirty="0" smtClean="0"/>
              <a:t>Explain why Germany was forced to surrender in 1945</a:t>
            </a:r>
          </a:p>
          <a:p>
            <a:pPr marL="514350" indent="-514350">
              <a:buAutoNum type="arabicPeriod"/>
            </a:pPr>
            <a:r>
              <a:rPr lang="en-GB" dirty="0" smtClean="0"/>
              <a:t>Explain why the Yalta conference took place</a:t>
            </a:r>
          </a:p>
          <a:p>
            <a:pPr marL="514350" indent="-514350">
              <a:buAutoNum type="arabicPeriod"/>
            </a:pPr>
            <a:r>
              <a:rPr lang="en-GB" dirty="0" smtClean="0"/>
              <a:t>Explain why the Nuremburg trials took place</a:t>
            </a:r>
          </a:p>
          <a:p>
            <a:pPr marL="514350" indent="-514350">
              <a:buAutoNum type="arabicPeriod"/>
            </a:pPr>
            <a:r>
              <a:rPr lang="en-GB" dirty="0" smtClean="0"/>
              <a:t>Explain why it was important that the Allies controlled the German media after WW2</a:t>
            </a:r>
          </a:p>
          <a:p>
            <a:pPr marL="514350" indent="-514350">
              <a:buAutoNum type="arabicPeriod"/>
            </a:pPr>
            <a:r>
              <a:rPr lang="en-GB" dirty="0" smtClean="0"/>
              <a:t>Explain why </a:t>
            </a:r>
            <a:r>
              <a:rPr lang="en-GB" dirty="0" err="1" smtClean="0"/>
              <a:t>denazifcation</a:t>
            </a:r>
            <a:r>
              <a:rPr lang="en-GB" dirty="0" smtClean="0"/>
              <a:t> was important to the Allies</a:t>
            </a:r>
            <a:endParaRPr lang="en-GB"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1143000"/>
          </a:xfrm>
        </p:spPr>
        <p:txBody>
          <a:bodyPr/>
          <a:lstStyle/>
          <a:p>
            <a:r>
              <a:rPr lang="en-GB" dirty="0" smtClean="0"/>
              <a:t>Describe questions (5)</a:t>
            </a:r>
            <a:endParaRPr lang="en-GB" dirty="0"/>
          </a:p>
        </p:txBody>
      </p:sp>
      <p:sp>
        <p:nvSpPr>
          <p:cNvPr id="3" name="Content Placeholder 2"/>
          <p:cNvSpPr>
            <a:spLocks noGrp="1"/>
          </p:cNvSpPr>
          <p:nvPr>
            <p:ph idx="1"/>
          </p:nvPr>
        </p:nvSpPr>
        <p:spPr>
          <a:xfrm>
            <a:off x="0" y="836712"/>
            <a:ext cx="9468544" cy="6021288"/>
          </a:xfrm>
        </p:spPr>
        <p:txBody>
          <a:bodyPr>
            <a:normAutofit fontScale="40000" lnSpcReduction="20000"/>
          </a:bodyPr>
          <a:lstStyle/>
          <a:p>
            <a:pPr marL="514350" indent="-514350">
              <a:buAutoNum type="arabicPeriod"/>
            </a:pPr>
            <a:r>
              <a:rPr lang="en-GB" dirty="0" smtClean="0"/>
              <a:t>Describe life on the </a:t>
            </a:r>
            <a:r>
              <a:rPr lang="en-GB" dirty="0" err="1" smtClean="0"/>
              <a:t>homefront</a:t>
            </a:r>
            <a:r>
              <a:rPr lang="en-GB" dirty="0" smtClean="0"/>
              <a:t> 1939-41</a:t>
            </a:r>
          </a:p>
          <a:p>
            <a:pPr marL="514350" indent="-514350">
              <a:buAutoNum type="arabicPeriod"/>
            </a:pPr>
            <a:r>
              <a:rPr lang="en-GB" dirty="0" smtClean="0"/>
              <a:t>Describe life on the </a:t>
            </a:r>
            <a:r>
              <a:rPr lang="en-GB" dirty="0" err="1" smtClean="0"/>
              <a:t>homefront</a:t>
            </a:r>
            <a:r>
              <a:rPr lang="en-GB" dirty="0" smtClean="0"/>
              <a:t> 1942-45</a:t>
            </a:r>
          </a:p>
          <a:p>
            <a:pPr marL="514350" indent="-514350">
              <a:buAutoNum type="arabicPeriod"/>
            </a:pPr>
            <a:r>
              <a:rPr lang="en-GB" dirty="0" smtClean="0"/>
              <a:t>Describe total war</a:t>
            </a:r>
          </a:p>
          <a:p>
            <a:pPr marL="514350" indent="-514350">
              <a:buAutoNum type="arabicPeriod"/>
            </a:pPr>
            <a:r>
              <a:rPr lang="en-GB" dirty="0" smtClean="0"/>
              <a:t>Describe how propaganda was used during WW2 on the German </a:t>
            </a:r>
            <a:r>
              <a:rPr lang="en-GB" dirty="0" err="1" smtClean="0"/>
              <a:t>homefront</a:t>
            </a:r>
            <a:endParaRPr lang="en-GB" dirty="0" smtClean="0"/>
          </a:p>
          <a:p>
            <a:pPr marL="514350" indent="-514350">
              <a:buAutoNum type="arabicPeriod"/>
            </a:pPr>
            <a:r>
              <a:rPr lang="en-GB" dirty="0" smtClean="0"/>
              <a:t>Describe the effects of Allied bombings on German cities</a:t>
            </a:r>
          </a:p>
          <a:p>
            <a:pPr marL="514350" indent="-514350">
              <a:buAutoNum type="arabicPeriod"/>
            </a:pPr>
            <a:r>
              <a:rPr lang="en-GB" dirty="0" smtClean="0"/>
              <a:t>Describe the use of rationing in Germany during WW2</a:t>
            </a:r>
          </a:p>
          <a:p>
            <a:pPr marL="514350" indent="-514350">
              <a:buAutoNum type="arabicPeriod"/>
            </a:pPr>
            <a:r>
              <a:rPr lang="en-GB" dirty="0" smtClean="0"/>
              <a:t>Describe the </a:t>
            </a:r>
            <a:r>
              <a:rPr lang="en-GB" dirty="0" err="1" smtClean="0"/>
              <a:t>Volksturm</a:t>
            </a:r>
            <a:endParaRPr lang="en-GB" dirty="0" smtClean="0"/>
          </a:p>
          <a:p>
            <a:pPr marL="514350" indent="-514350">
              <a:buAutoNum type="arabicPeriod"/>
            </a:pPr>
            <a:r>
              <a:rPr lang="en-GB" dirty="0" smtClean="0"/>
              <a:t>Describe the activities on the </a:t>
            </a:r>
            <a:r>
              <a:rPr lang="en-GB" dirty="0" err="1" smtClean="0"/>
              <a:t>Einsatzgruppen</a:t>
            </a:r>
            <a:endParaRPr lang="en-GB" dirty="0" smtClean="0"/>
          </a:p>
          <a:p>
            <a:pPr marL="514350" indent="-514350">
              <a:buAutoNum type="arabicPeriod"/>
            </a:pPr>
            <a:r>
              <a:rPr lang="en-GB" dirty="0" smtClean="0"/>
              <a:t>Describe the use of Ghettos</a:t>
            </a:r>
          </a:p>
          <a:p>
            <a:pPr marL="514350" indent="-514350">
              <a:buAutoNum type="arabicPeriod"/>
            </a:pPr>
            <a:r>
              <a:rPr lang="en-GB" dirty="0" smtClean="0"/>
              <a:t>Describe the Final Solution</a:t>
            </a:r>
          </a:p>
          <a:p>
            <a:pPr marL="514350" indent="-514350">
              <a:buAutoNum type="arabicPeriod"/>
            </a:pPr>
            <a:r>
              <a:rPr lang="en-GB" dirty="0" smtClean="0"/>
              <a:t>Describe the use of gas chambers during WW2</a:t>
            </a:r>
          </a:p>
          <a:p>
            <a:pPr marL="514350" indent="-514350">
              <a:buAutoNum type="arabicPeriod"/>
            </a:pPr>
            <a:r>
              <a:rPr lang="en-GB" dirty="0" smtClean="0"/>
              <a:t>Describe the Holocaust</a:t>
            </a:r>
          </a:p>
          <a:p>
            <a:pPr marL="514350" indent="-514350">
              <a:buAutoNum type="arabicPeriod"/>
            </a:pPr>
            <a:r>
              <a:rPr lang="en-GB" dirty="0" smtClean="0"/>
              <a:t>Describe </a:t>
            </a:r>
            <a:r>
              <a:rPr lang="en-GB" dirty="0" err="1" smtClean="0"/>
              <a:t>oppostion</a:t>
            </a:r>
            <a:r>
              <a:rPr lang="en-GB" dirty="0" smtClean="0"/>
              <a:t> from youth groups during WW2</a:t>
            </a:r>
          </a:p>
          <a:p>
            <a:pPr marL="514350" indent="-514350">
              <a:buAutoNum type="arabicPeriod"/>
            </a:pPr>
            <a:r>
              <a:rPr lang="en-GB" dirty="0" smtClean="0"/>
              <a:t>Describe the Edelweiss Pirates</a:t>
            </a:r>
          </a:p>
          <a:p>
            <a:pPr marL="514350" indent="-514350">
              <a:buAutoNum type="arabicPeriod"/>
            </a:pPr>
            <a:r>
              <a:rPr lang="en-GB" dirty="0" smtClean="0"/>
              <a:t>Describe the White Rose Group</a:t>
            </a:r>
          </a:p>
          <a:p>
            <a:pPr marL="514350" indent="-514350">
              <a:buAutoNum type="arabicPeriod"/>
            </a:pPr>
            <a:r>
              <a:rPr lang="en-GB" dirty="0" smtClean="0"/>
              <a:t>Describe religious opposition to the Nazis during WW2</a:t>
            </a:r>
          </a:p>
          <a:p>
            <a:pPr marL="514350" indent="-514350">
              <a:buAutoNum type="arabicPeriod"/>
            </a:pPr>
            <a:r>
              <a:rPr lang="en-GB" dirty="0" smtClean="0"/>
              <a:t>Describe the work of Martin </a:t>
            </a:r>
            <a:r>
              <a:rPr lang="en-GB" dirty="0" err="1" smtClean="0"/>
              <a:t>Niemoller</a:t>
            </a:r>
            <a:r>
              <a:rPr lang="en-GB" dirty="0" smtClean="0"/>
              <a:t> </a:t>
            </a:r>
          </a:p>
          <a:p>
            <a:pPr marL="514350" indent="-514350">
              <a:buAutoNum type="arabicPeriod"/>
            </a:pPr>
            <a:r>
              <a:rPr lang="en-GB" dirty="0" smtClean="0"/>
              <a:t>Describe the July Bomb Plot</a:t>
            </a:r>
          </a:p>
          <a:p>
            <a:pPr marL="514350" indent="-514350">
              <a:buAutoNum type="arabicPeriod"/>
            </a:pPr>
            <a:r>
              <a:rPr lang="en-GB" dirty="0" smtClean="0"/>
              <a:t>Describe military opposition to the Nazis during WW2</a:t>
            </a:r>
          </a:p>
          <a:p>
            <a:pPr marL="514350" indent="-514350">
              <a:buAutoNum type="arabicPeriod"/>
            </a:pPr>
            <a:r>
              <a:rPr lang="en-GB" dirty="0" smtClean="0"/>
              <a:t>Describe Operation </a:t>
            </a:r>
            <a:r>
              <a:rPr lang="en-GB" dirty="0" err="1" smtClean="0"/>
              <a:t>Marke</a:t>
            </a:r>
            <a:r>
              <a:rPr lang="en-GB" dirty="0" smtClean="0"/>
              <a:t> Garden</a:t>
            </a:r>
          </a:p>
          <a:p>
            <a:pPr marL="514350" indent="-514350">
              <a:buAutoNum type="arabicPeriod"/>
            </a:pPr>
            <a:r>
              <a:rPr lang="en-GB" dirty="0" smtClean="0"/>
              <a:t>Describe the Battle of the Bulge</a:t>
            </a:r>
          </a:p>
          <a:p>
            <a:pPr marL="514350" indent="-514350">
              <a:buAutoNum type="arabicPeriod"/>
            </a:pPr>
            <a:r>
              <a:rPr lang="en-GB" dirty="0" smtClean="0"/>
              <a:t>Describe the fall of Berlin in 1945</a:t>
            </a:r>
          </a:p>
          <a:p>
            <a:pPr marL="514350" indent="-514350">
              <a:buAutoNum type="arabicPeriod"/>
            </a:pPr>
            <a:r>
              <a:rPr lang="en-GB" dirty="0" smtClean="0"/>
              <a:t>Describe the Soviet attack on Berlin in 1945</a:t>
            </a:r>
          </a:p>
          <a:p>
            <a:pPr marL="514350" indent="-514350">
              <a:buAutoNum type="arabicPeriod"/>
            </a:pPr>
            <a:r>
              <a:rPr lang="en-GB" dirty="0" smtClean="0"/>
              <a:t>Describe the condition of Germany in 1945</a:t>
            </a:r>
          </a:p>
          <a:p>
            <a:pPr marL="514350" indent="-514350">
              <a:buAutoNum type="arabicPeriod"/>
            </a:pPr>
            <a:r>
              <a:rPr lang="en-GB" dirty="0" smtClean="0"/>
              <a:t>Describe the decisions made at the Potsdam Conference</a:t>
            </a:r>
          </a:p>
          <a:p>
            <a:pPr marL="514350" indent="-514350">
              <a:buAutoNum type="arabicPeriod"/>
            </a:pPr>
            <a:r>
              <a:rPr lang="en-GB" dirty="0" smtClean="0"/>
              <a:t>Describe the Nuremburg trials</a:t>
            </a:r>
          </a:p>
          <a:p>
            <a:pPr marL="514350" indent="-514350">
              <a:buAutoNum type="arabicPeriod"/>
            </a:pPr>
            <a:r>
              <a:rPr lang="en-GB" dirty="0" smtClean="0"/>
              <a:t>Describe </a:t>
            </a:r>
            <a:r>
              <a:rPr lang="en-GB" dirty="0" err="1" smtClean="0"/>
              <a:t>denazification</a:t>
            </a:r>
            <a:endParaRPr lang="en-GB" dirty="0" smtClean="0"/>
          </a:p>
          <a:p>
            <a:pPr marL="514350" indent="-514350">
              <a:buAutoNum type="arabicPeriod"/>
            </a:pPr>
            <a:endParaRPr lang="en-GB"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10 mark questions</a:t>
            </a:r>
            <a:endParaRPr lang="en-GB" dirty="0"/>
          </a:p>
        </p:txBody>
      </p:sp>
      <p:sp>
        <p:nvSpPr>
          <p:cNvPr id="3" name="Content Placeholder 2"/>
          <p:cNvSpPr>
            <a:spLocks noGrp="1"/>
          </p:cNvSpPr>
          <p:nvPr>
            <p:ph idx="1"/>
          </p:nvPr>
        </p:nvSpPr>
        <p:spPr>
          <a:xfrm>
            <a:off x="0" y="1268760"/>
            <a:ext cx="9144000" cy="5589240"/>
          </a:xfrm>
        </p:spPr>
        <p:txBody>
          <a:bodyPr/>
          <a:lstStyle/>
          <a:p>
            <a:pPr marL="514350" indent="-514350">
              <a:buAutoNum type="arabicPeriod"/>
            </a:pPr>
            <a:r>
              <a:rPr lang="en-GB" dirty="0" smtClean="0"/>
              <a:t>Was life one of hardship on the home front for ordinary Germans 1939-45</a:t>
            </a:r>
          </a:p>
          <a:p>
            <a:pPr marL="514350" indent="-514350">
              <a:buAutoNum type="arabicPeriod"/>
            </a:pPr>
            <a:r>
              <a:rPr lang="en-GB" dirty="0" smtClean="0"/>
              <a:t>Was the main opposition to the Nazis from the military between 1939-45</a:t>
            </a:r>
          </a:p>
          <a:p>
            <a:pPr marL="514350" indent="-514350">
              <a:buAutoNum type="arabicPeriod"/>
            </a:pPr>
            <a:r>
              <a:rPr lang="en-GB" dirty="0" smtClean="0"/>
              <a:t>Was heavy Allied bombings the main reason for Germany’s defeat at the end of the war</a:t>
            </a:r>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4304</TotalTime>
  <Words>7019</Words>
  <Application>Microsoft Office PowerPoint</Application>
  <PresentationFormat>On-screen Show (4:3)</PresentationFormat>
  <Paragraphs>598</Paragraphs>
  <Slides>107</Slides>
  <Notes>0</Notes>
  <HiddenSlides>0</HiddenSlides>
  <MMClips>0</MMClips>
  <ScaleCrop>false</ScaleCrop>
  <HeadingPairs>
    <vt:vector size="4" baseType="variant">
      <vt:variant>
        <vt:lpstr>Theme</vt:lpstr>
      </vt:variant>
      <vt:variant>
        <vt:i4>1</vt:i4>
      </vt:variant>
      <vt:variant>
        <vt:lpstr>Slide Titles</vt:lpstr>
      </vt:variant>
      <vt:variant>
        <vt:i4>107</vt:i4>
      </vt:variant>
    </vt:vector>
  </HeadingPairs>
  <TitlesOfParts>
    <vt:vector size="108" baseType="lpstr">
      <vt:lpstr>Office Theme</vt:lpstr>
      <vt:lpstr>1.  The Problems of the Weimar Republic 1918-1923</vt:lpstr>
      <vt:lpstr>1.  a) The Armistice</vt:lpstr>
      <vt:lpstr>1.  b) The new constitution had weaknesses</vt:lpstr>
      <vt:lpstr>1. C)  Unrest in Germany 1918-23</vt:lpstr>
      <vt:lpstr>1.  d)  The Treaty of Versailles</vt:lpstr>
      <vt:lpstr>1.  e)  Economic instability</vt:lpstr>
      <vt:lpstr>2.  Period of recovery 1923-29</vt:lpstr>
      <vt:lpstr>2. a)  Economic recovery</vt:lpstr>
      <vt:lpstr>2.  b)  Stresseman’s foreign Policy success</vt:lpstr>
      <vt:lpstr>2.  c)  Stresemann’s political success</vt:lpstr>
      <vt:lpstr>3.  How the Nazi Party developed 1920-23</vt:lpstr>
      <vt:lpstr>3. a) 1919</vt:lpstr>
      <vt:lpstr>3.  B)  1920</vt:lpstr>
      <vt:lpstr>3.  c)  1921</vt:lpstr>
      <vt:lpstr> 3d 1921 the SA</vt:lpstr>
      <vt:lpstr>3. e)  1921-23  </vt:lpstr>
      <vt:lpstr>4.  The Consequences of the Munich Putsch</vt:lpstr>
      <vt:lpstr>4. a)  reasons for the Munich Putsch November 1923</vt:lpstr>
      <vt:lpstr>4.  b) the Munich Putsch 8 November 1923</vt:lpstr>
      <vt:lpstr>4.  c)  The effects of the Much Putsch 1923</vt:lpstr>
      <vt:lpstr>5.  How did the Nazi Party change 1924-29</vt:lpstr>
      <vt:lpstr>5.  a)  How did the Nazi Party change 1924-29</vt:lpstr>
      <vt:lpstr>6.  Why was Hitler appointed Chancellor in 1933</vt:lpstr>
      <vt:lpstr>6.  a)  impact of the wall Street Crash and Great depression</vt:lpstr>
      <vt:lpstr>6.  b)  Fear of Communism</vt:lpstr>
      <vt:lpstr>6.  c)  Weak opposition</vt:lpstr>
      <vt:lpstr>6.  d)  Propaganda</vt:lpstr>
      <vt:lpstr>6.  e)  He appealed to all classes of people</vt:lpstr>
      <vt:lpstr>6.  f)  Financial support of the Nazis</vt:lpstr>
      <vt:lpstr>6.  g)  the Sturmabteilung (the SA)</vt:lpstr>
      <vt:lpstr>6.  h) Hitler was a strong leader</vt:lpstr>
      <vt:lpstr>6.  i)  political manipulation </vt:lpstr>
      <vt:lpstr>7.  How did Hitler consolidate his power?</vt:lpstr>
      <vt:lpstr>7a  The importance of the Reichstag Fire</vt:lpstr>
      <vt:lpstr>7b  The March elections</vt:lpstr>
      <vt:lpstr>7c  The Enabling Act 23 March 1933</vt:lpstr>
      <vt:lpstr>7C  The Enabling Act</vt:lpstr>
      <vt:lpstr>7e  The importance of the Night of the long Knives</vt:lpstr>
      <vt:lpstr>7f  the death of Hindenburg</vt:lpstr>
      <vt:lpstr>Describe questions</vt:lpstr>
      <vt:lpstr>Explain Questions</vt:lpstr>
      <vt:lpstr>10 mark questions</vt:lpstr>
      <vt:lpstr>Did life improve for ordinary Germans under Nazi rule between 1933-39</vt:lpstr>
      <vt:lpstr>8 How did German economic policy affect life in Germany</vt:lpstr>
      <vt:lpstr>8a  How he improved the economy</vt:lpstr>
      <vt:lpstr>8a  How he improved the economy</vt:lpstr>
      <vt:lpstr>8a  How he improved the economy</vt:lpstr>
      <vt:lpstr>8a  How he improved the economy</vt:lpstr>
      <vt:lpstr>8a  How he improved the economy</vt:lpstr>
      <vt:lpstr>8a  How he improved the economy</vt:lpstr>
      <vt:lpstr>9.  How Hitler controlled people through social policy</vt:lpstr>
      <vt:lpstr>9a  control of women</vt:lpstr>
      <vt:lpstr>9b Control of children through education</vt:lpstr>
      <vt:lpstr>9c  Hitler’s control of youth in their spare time</vt:lpstr>
      <vt:lpstr>10 Political policy </vt:lpstr>
      <vt:lpstr>10a  the police state</vt:lpstr>
      <vt:lpstr>10a  the police state</vt:lpstr>
      <vt:lpstr>10a  The Police State </vt:lpstr>
      <vt:lpstr>10a  The Police State </vt:lpstr>
      <vt:lpstr>10b Control over Government</vt:lpstr>
      <vt:lpstr>10c Propaganda and censorship</vt:lpstr>
      <vt:lpstr>10c Propaganda and censorship</vt:lpstr>
      <vt:lpstr>11  Racial policy 1933-39</vt:lpstr>
      <vt:lpstr>11a Hitler’s beliefs</vt:lpstr>
      <vt:lpstr>10b  Persecution of the Jews 1933-39</vt:lpstr>
      <vt:lpstr>10b  Persecution of the Jews 1933-39</vt:lpstr>
      <vt:lpstr>10b  Persecution of the Jews 1933-39</vt:lpstr>
      <vt:lpstr>11 Hitler and the church</vt:lpstr>
      <vt:lpstr>11a Catholic Church</vt:lpstr>
      <vt:lpstr>11b Protestant Church</vt:lpstr>
      <vt:lpstr>11c Hitler’s National Reich Chruch</vt:lpstr>
      <vt:lpstr>Explain questions (4 marks)</vt:lpstr>
      <vt:lpstr>Describe Questions (5)</vt:lpstr>
      <vt:lpstr>10 Mark questions</vt:lpstr>
      <vt:lpstr>12 Life in the early years of war  1939-41</vt:lpstr>
      <vt:lpstr>12 a)  Initial impact of war 1939-41</vt:lpstr>
      <vt:lpstr>12b Changing role of women during war </vt:lpstr>
      <vt:lpstr>12c Propaganda during the first half of the war</vt:lpstr>
      <vt:lpstr>13 Germany in the later war years 1943-35</vt:lpstr>
      <vt:lpstr>13 b) Economic policy 1943-45</vt:lpstr>
      <vt:lpstr>13 b) Economic policy 1943-45</vt:lpstr>
      <vt:lpstr>13 a)  Propaganda changed in the later half of the war</vt:lpstr>
      <vt:lpstr>13c Allied bombings 1942-45</vt:lpstr>
      <vt:lpstr>14 How were the Jewish treated during the war years?</vt:lpstr>
      <vt:lpstr>14a 1939</vt:lpstr>
      <vt:lpstr>14b 1941</vt:lpstr>
      <vt:lpstr>14 c 1942-45</vt:lpstr>
      <vt:lpstr>14d Gas chambers</vt:lpstr>
      <vt:lpstr>15 Opposition to the Nazis during the war years</vt:lpstr>
      <vt:lpstr>15a Military opposition</vt:lpstr>
      <vt:lpstr>15a Military opposition (Valkyrie)</vt:lpstr>
      <vt:lpstr>15b  Opposition from Youth groups</vt:lpstr>
      <vt:lpstr>15b  Opposition from youth groups</vt:lpstr>
      <vt:lpstr>15c  Opposition from religious groups</vt:lpstr>
      <vt:lpstr>16 Germany after the war</vt:lpstr>
      <vt:lpstr>16a Why did they lose</vt:lpstr>
      <vt:lpstr>16 B:  The People’s Home Guard</vt:lpstr>
      <vt:lpstr>16b)  the fall of Berlin</vt:lpstr>
      <vt:lpstr>16c the death of Hitler</vt:lpstr>
      <vt:lpstr>16d Germany’s surrender</vt:lpstr>
      <vt:lpstr>16e Germany’s punishment</vt:lpstr>
      <vt:lpstr>16f Denazification</vt:lpstr>
      <vt:lpstr>17 Germany in 1947</vt:lpstr>
      <vt:lpstr>17a Germany in 1947</vt:lpstr>
      <vt:lpstr>Explain questions (4)</vt:lpstr>
      <vt:lpstr>Describe questions (5)</vt:lpstr>
      <vt:lpstr>10 mark questions</vt:lpstr>
    </vt:vector>
  </TitlesOfParts>
  <Company>Higher Blackley Education Village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The Problems of the Weimar Republic</dc:title>
  <dc:creator>Ramesys</dc:creator>
  <cp:lastModifiedBy>Kieren</cp:lastModifiedBy>
  <cp:revision>302</cp:revision>
  <dcterms:created xsi:type="dcterms:W3CDTF">2011-02-14T09:55:26Z</dcterms:created>
  <dcterms:modified xsi:type="dcterms:W3CDTF">2013-06-24T00:56:36Z</dcterms:modified>
</cp:coreProperties>
</file>
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7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546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458089F4-2608-4FD9-A575-3DA2EDA65F7F}" type="datetimeFigureOut">
              <a:rPr lang="en-AU" smtClean="0"/>
              <a:t>21/02/2019</a:t>
            </a:fld>
            <a:endParaRPr lang="en-AU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en-AU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4747E25A-0D4B-4960-84A5-970E14645EC5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89F4-2608-4FD9-A575-3DA2EDA65F7F}" type="datetimeFigureOut">
              <a:rPr lang="en-AU" smtClean="0"/>
              <a:t>21/02/2019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7E25A-0D4B-4960-84A5-970E14645EC5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89F4-2608-4FD9-A575-3DA2EDA65F7F}" type="datetimeFigureOut">
              <a:rPr lang="en-AU" smtClean="0"/>
              <a:t>21/02/2019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7E25A-0D4B-4960-84A5-970E14645EC5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89F4-2608-4FD9-A575-3DA2EDA65F7F}" type="datetimeFigureOut">
              <a:rPr lang="en-AU" smtClean="0"/>
              <a:t>21/02/2019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7E25A-0D4B-4960-84A5-970E14645EC5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458089F4-2608-4FD9-A575-3DA2EDA65F7F}" type="datetimeFigureOut">
              <a:rPr lang="en-AU" smtClean="0"/>
              <a:t>21/02/2019</a:t>
            </a:fld>
            <a:endParaRPr lang="en-AU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747E25A-0D4B-4960-84A5-970E14645EC5}" type="slidenum">
              <a:rPr lang="en-AU" smtClean="0"/>
              <a:t>‹#›</a:t>
            </a:fld>
            <a:endParaRPr lang="en-AU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458089F4-2608-4FD9-A575-3DA2EDA65F7F}" type="datetimeFigureOut">
              <a:rPr lang="en-AU" smtClean="0"/>
              <a:t>21/02/2019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4747E25A-0D4B-4960-84A5-970E14645EC5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89F4-2608-4FD9-A575-3DA2EDA65F7F}" type="datetimeFigureOut">
              <a:rPr lang="en-AU" smtClean="0"/>
              <a:t>21/02/2019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7E25A-0D4B-4960-84A5-970E14645EC5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89F4-2608-4FD9-A575-3DA2EDA65F7F}" type="datetimeFigureOut">
              <a:rPr lang="en-AU" smtClean="0"/>
              <a:t>21/02/2019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7E25A-0D4B-4960-84A5-970E14645EC5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89F4-2608-4FD9-A575-3DA2EDA65F7F}" type="datetimeFigureOut">
              <a:rPr lang="en-AU" smtClean="0"/>
              <a:t>21/02/2019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7E25A-0D4B-4960-84A5-970E14645EC5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89F4-2608-4FD9-A575-3DA2EDA65F7F}" type="datetimeFigureOut">
              <a:rPr lang="en-AU" smtClean="0"/>
              <a:t>21/02/2019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7E25A-0D4B-4960-84A5-970E14645EC5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89F4-2608-4FD9-A575-3DA2EDA65F7F}" type="datetimeFigureOut">
              <a:rPr lang="en-AU" smtClean="0"/>
              <a:t>21/02/2019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7E25A-0D4B-4960-84A5-970E14645EC5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458089F4-2608-4FD9-A575-3DA2EDA65F7F}" type="datetimeFigureOut">
              <a:rPr lang="en-AU" smtClean="0"/>
              <a:t>21/02/2019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AU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4747E25A-0D4B-4960-84A5-970E14645EC5}" type="slidenum">
              <a:rPr lang="en-AU" smtClean="0"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8X4CypTaOQs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1484784"/>
            <a:ext cx="8229600" cy="3672408"/>
          </a:xfrm>
        </p:spPr>
        <p:txBody>
          <a:bodyPr>
            <a:normAutofit/>
          </a:bodyPr>
          <a:lstStyle/>
          <a:p>
            <a:pPr algn="ctr"/>
            <a:r>
              <a:rPr lang="en-AU" dirty="0" smtClean="0"/>
              <a:t>BRAINSTORM:</a:t>
            </a:r>
            <a:br>
              <a:rPr lang="en-AU" dirty="0" smtClean="0"/>
            </a:br>
            <a:r>
              <a:rPr lang="en-AU" dirty="0" smtClean="0"/>
              <a:t> </a:t>
            </a:r>
            <a:br>
              <a:rPr lang="en-AU" dirty="0" smtClean="0"/>
            </a:br>
            <a:r>
              <a:rPr lang="en-AU" dirty="0" smtClean="0"/>
              <a:t>WHAT DO WE ALREADY KNOW ABOUT </a:t>
            </a:r>
            <a:r>
              <a:rPr lang="en-AU" b="1" i="1" dirty="0" smtClean="0">
                <a:solidFill>
                  <a:srgbClr val="FF0000"/>
                </a:solidFill>
              </a:rPr>
              <a:t>immigration</a:t>
            </a:r>
            <a:r>
              <a:rPr lang="en-AU" dirty="0" smtClean="0"/>
              <a:t> IN OUR TIME PERIOD?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13407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5536" y="3861048"/>
            <a:ext cx="8458200" cy="677937"/>
          </a:xfrm>
        </p:spPr>
        <p:txBody>
          <a:bodyPr>
            <a:normAutofit fontScale="90000"/>
          </a:bodyPr>
          <a:lstStyle/>
          <a:p>
            <a:r>
              <a:rPr lang="en-AU" dirty="0" smtClean="0">
                <a:solidFill>
                  <a:schemeClr val="accent2"/>
                </a:solidFill>
              </a:rPr>
              <a:t>Coming to America</a:t>
            </a:r>
            <a:endParaRPr lang="en-AU" dirty="0">
              <a:solidFill>
                <a:schemeClr val="accent2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7714" y="548680"/>
            <a:ext cx="4381500" cy="2628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115616" y="6237312"/>
            <a:ext cx="6840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200" dirty="0" smtClean="0"/>
              <a:t>Information taken from “The USA between the wars 1919-1941” </a:t>
            </a:r>
            <a:endParaRPr lang="en-AU" sz="1200" dirty="0"/>
          </a:p>
        </p:txBody>
      </p:sp>
    </p:spTree>
    <p:extLst>
      <p:ext uri="{BB962C8B-B14F-4D97-AF65-F5344CB8AC3E}">
        <p14:creationId xmlns:p14="http://schemas.microsoft.com/office/powerpoint/2010/main" val="1980272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692696"/>
            <a:ext cx="8229600" cy="1066800"/>
          </a:xfrm>
        </p:spPr>
        <p:txBody>
          <a:bodyPr/>
          <a:lstStyle/>
          <a:p>
            <a:r>
              <a:rPr lang="en-AU" dirty="0" smtClean="0"/>
              <a:t>Lesson Objectives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AU" dirty="0" smtClean="0"/>
              <a:t>To understand the people who made up American Society.</a:t>
            </a:r>
          </a:p>
          <a:p>
            <a:pPr>
              <a:lnSpc>
                <a:spcPct val="150000"/>
              </a:lnSpc>
            </a:pPr>
            <a:r>
              <a:rPr lang="en-AU" dirty="0" smtClean="0"/>
              <a:t>To understand the process of immigration to America in the 1800’s.</a:t>
            </a:r>
          </a:p>
          <a:p>
            <a:pPr>
              <a:lnSpc>
                <a:spcPct val="150000"/>
              </a:lnSpc>
            </a:pPr>
            <a:r>
              <a:rPr lang="en-AU" dirty="0" smtClean="0"/>
              <a:t>To explore the push and pull factors of immigration.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38605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What was life like in the land of the free?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2816"/>
            <a:ext cx="8229600" cy="480172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AU" dirty="0" smtClean="0"/>
              <a:t>Between 1850 and 1914 over 40 million  people immigrated to America.</a:t>
            </a:r>
          </a:p>
          <a:p>
            <a:pPr>
              <a:lnSpc>
                <a:spcPct val="150000"/>
              </a:lnSpc>
            </a:pPr>
            <a:endParaRPr lang="en-AU" dirty="0" smtClean="0"/>
          </a:p>
          <a:p>
            <a:pPr>
              <a:lnSpc>
                <a:spcPct val="150000"/>
              </a:lnSpc>
            </a:pPr>
            <a:r>
              <a:rPr lang="en-AU" dirty="0" smtClean="0"/>
              <a:t>About 10% of the European population. </a:t>
            </a:r>
          </a:p>
          <a:p>
            <a:pPr>
              <a:lnSpc>
                <a:spcPct val="150000"/>
              </a:lnSpc>
            </a:pPr>
            <a:endParaRPr lang="en-AU" dirty="0" smtClean="0"/>
          </a:p>
          <a:p>
            <a:pPr>
              <a:lnSpc>
                <a:spcPct val="150000"/>
              </a:lnSpc>
            </a:pPr>
            <a:r>
              <a:rPr lang="en-AU" dirty="0" smtClean="0"/>
              <a:t>Trip to </a:t>
            </a:r>
            <a:r>
              <a:rPr lang="en-AU" dirty="0"/>
              <a:t>A</a:t>
            </a:r>
            <a:r>
              <a:rPr lang="en-AU" dirty="0" smtClean="0"/>
              <a:t>merica was harsh – most could only afford the cheapest ticket – little privacy/rough weather/cramped conditions.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71109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692696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What was it like in the land of the free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4945736"/>
          </a:xfrm>
        </p:spPr>
        <p:txBody>
          <a:bodyPr>
            <a:normAutofit lnSpcReduction="10000"/>
          </a:bodyPr>
          <a:lstStyle/>
          <a:p>
            <a:r>
              <a:rPr lang="en-AU" dirty="0" smtClean="0"/>
              <a:t>First American land mark to be seen was the Statue of Liberty  - marked the beginning of a new life, for some.</a:t>
            </a:r>
          </a:p>
          <a:p>
            <a:endParaRPr lang="en-AU" dirty="0"/>
          </a:p>
          <a:p>
            <a:r>
              <a:rPr lang="en-AU" dirty="0" smtClean="0"/>
              <a:t>Immigration processing took place on Ellis Island – no guarantee of admission to the US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pPr algn="ctr"/>
            <a:r>
              <a:rPr lang="en-AU" dirty="0" smtClean="0">
                <a:hlinkClick r:id="rId2"/>
              </a:rPr>
              <a:t>Ellis Island - A history of Immigration to the United States 1890-1920</a:t>
            </a:r>
            <a:r>
              <a:rPr lang="en-AU" dirty="0" smtClean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11025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692696"/>
            <a:ext cx="8229600" cy="1066800"/>
          </a:xfrm>
        </p:spPr>
        <p:txBody>
          <a:bodyPr/>
          <a:lstStyle/>
          <a:p>
            <a:r>
              <a:rPr lang="en-AU" dirty="0" smtClean="0"/>
              <a:t>Ellis Island – the Isle of Tears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00808"/>
            <a:ext cx="8229600" cy="4873728"/>
          </a:xfrm>
        </p:spPr>
        <p:txBody>
          <a:bodyPr/>
          <a:lstStyle/>
          <a:p>
            <a:r>
              <a:rPr lang="en-AU" dirty="0" smtClean="0"/>
              <a:t>After ships docked – immigrants put on the ferry to Ellis Island to be registered.</a:t>
            </a:r>
          </a:p>
          <a:p>
            <a:endParaRPr lang="en-AU" dirty="0"/>
          </a:p>
          <a:p>
            <a:r>
              <a:rPr lang="en-AU" dirty="0" smtClean="0"/>
              <a:t>Faced long waits in queues to undergo a series of test for clearance</a:t>
            </a:r>
          </a:p>
          <a:p>
            <a:endParaRPr lang="en-AU" dirty="0"/>
          </a:p>
          <a:p>
            <a:r>
              <a:rPr lang="en-AU" dirty="0" smtClean="0"/>
              <a:t>Faced invasive medical tests and clothes were marked with chalk to categorise their illnesses.</a:t>
            </a:r>
          </a:p>
          <a:p>
            <a:endParaRPr lang="en-AU" dirty="0"/>
          </a:p>
          <a:p>
            <a:r>
              <a:rPr lang="en-AU" dirty="0" smtClean="0"/>
              <a:t>Some were often detained for weeks/months.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5644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692696"/>
            <a:ext cx="8229600" cy="1066800"/>
          </a:xfrm>
        </p:spPr>
        <p:txBody>
          <a:bodyPr/>
          <a:lstStyle/>
          <a:p>
            <a:r>
              <a:rPr lang="en-AU" dirty="0" smtClean="0"/>
              <a:t>Continued …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4945736"/>
          </a:xfrm>
        </p:spPr>
        <p:txBody>
          <a:bodyPr/>
          <a:lstStyle/>
          <a:p>
            <a:r>
              <a:rPr lang="en-AU" dirty="0" smtClean="0"/>
              <a:t>Interviews were conduction about occupations/literacy ability/financial situation.</a:t>
            </a:r>
          </a:p>
          <a:p>
            <a:endParaRPr lang="en-AU" dirty="0"/>
          </a:p>
          <a:p>
            <a:r>
              <a:rPr lang="en-AU" dirty="0" smtClean="0"/>
              <a:t>Names were a problem – officials often couldn’t understand names so many were given new ones.</a:t>
            </a:r>
          </a:p>
          <a:p>
            <a:endParaRPr lang="en-AU" dirty="0"/>
          </a:p>
          <a:p>
            <a:r>
              <a:rPr lang="en-AU" dirty="0" smtClean="0"/>
              <a:t>Some were detained for other reasons – single women needed to be collected by a relative – fears they would become destitute and turn to prostitution. 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09957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692696"/>
            <a:ext cx="8229600" cy="1066800"/>
          </a:xfrm>
        </p:spPr>
        <p:txBody>
          <a:bodyPr/>
          <a:lstStyle/>
          <a:p>
            <a:r>
              <a:rPr lang="en-AU" dirty="0" smtClean="0"/>
              <a:t>End of the line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4729712"/>
          </a:xfrm>
        </p:spPr>
        <p:txBody>
          <a:bodyPr/>
          <a:lstStyle/>
          <a:p>
            <a:r>
              <a:rPr lang="en-AU" dirty="0" smtClean="0"/>
              <a:t>Many were sent back to Europe labelled as undesirable (old/sick/illiterate)</a:t>
            </a:r>
          </a:p>
          <a:p>
            <a:endParaRPr lang="en-AU" dirty="0"/>
          </a:p>
          <a:p>
            <a:r>
              <a:rPr lang="en-AU" dirty="0" smtClean="0"/>
              <a:t>In 1911 – 2% of people where denied entry, for them Ellis Island aptly names “Isle of Tears”</a:t>
            </a:r>
          </a:p>
          <a:p>
            <a:endParaRPr lang="en-AU" dirty="0"/>
          </a:p>
          <a:p>
            <a:r>
              <a:rPr lang="en-AU" dirty="0" smtClean="0"/>
              <a:t>Vast majority passed and were allowed to enter Manhattan – most still had long journeys to their final destinations.  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88146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Immigration Problems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Less land becoming available</a:t>
            </a:r>
          </a:p>
          <a:p>
            <a:r>
              <a:rPr lang="en-AU" dirty="0" smtClean="0"/>
              <a:t>Believed the quality of migrants declining</a:t>
            </a:r>
          </a:p>
          <a:p>
            <a:r>
              <a:rPr lang="en-AU" dirty="0" smtClean="0"/>
              <a:t>War encouraged anti-German feelings’</a:t>
            </a:r>
          </a:p>
          <a:p>
            <a:r>
              <a:rPr lang="en-AU" dirty="0" smtClean="0"/>
              <a:t>Immigrant ghettos appeared</a:t>
            </a:r>
          </a:p>
          <a:p>
            <a:r>
              <a:rPr lang="en-AU" dirty="0" smtClean="0"/>
              <a:t>Blamed for urban crime</a:t>
            </a:r>
          </a:p>
          <a:p>
            <a:r>
              <a:rPr lang="en-AU" dirty="0" smtClean="0"/>
              <a:t>Led to widespread intolerance for foreigners</a:t>
            </a:r>
          </a:p>
          <a:p>
            <a:r>
              <a:rPr lang="en-AU" dirty="0" smtClean="0"/>
              <a:t>Further division </a:t>
            </a:r>
            <a:r>
              <a:rPr lang="en-AU" smtClean="0"/>
              <a:t>in society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96577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3528" y="3933056"/>
            <a:ext cx="5040560" cy="1512168"/>
          </a:xfrm>
        </p:spPr>
        <p:txBody>
          <a:bodyPr/>
          <a:lstStyle/>
          <a:p>
            <a:pPr algn="ctr"/>
            <a:r>
              <a:rPr lang="en-AU" dirty="0" smtClean="0">
                <a:solidFill>
                  <a:schemeClr val="accent2"/>
                </a:solidFill>
              </a:rPr>
              <a:t>Class divisions in American Society </a:t>
            </a:r>
            <a:endParaRPr lang="en-AU" dirty="0">
              <a:solidFill>
                <a:schemeClr val="accent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35696" y="6381328"/>
            <a:ext cx="56886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1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Information taken from “the USA between the wars 1919-1941”</a:t>
            </a:r>
            <a:endParaRPr kumimoji="0" lang="en-AU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0163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692696"/>
            <a:ext cx="8229600" cy="1066800"/>
          </a:xfrm>
        </p:spPr>
        <p:txBody>
          <a:bodyPr/>
          <a:lstStyle/>
          <a:p>
            <a:r>
              <a:rPr lang="en-AU" dirty="0" smtClean="0"/>
              <a:t>Lesson Objectives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2816"/>
            <a:ext cx="8229600" cy="480172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AU" dirty="0" smtClean="0"/>
              <a:t>To understand the social classes in early 1900’s America</a:t>
            </a:r>
          </a:p>
          <a:p>
            <a:pPr>
              <a:lnSpc>
                <a:spcPct val="150000"/>
              </a:lnSpc>
            </a:pPr>
            <a:r>
              <a:rPr lang="en-AU" dirty="0" smtClean="0"/>
              <a:t>To be able to identify why these groups differed.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08083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764704"/>
            <a:ext cx="8229600" cy="1066800"/>
          </a:xfrm>
        </p:spPr>
        <p:txBody>
          <a:bodyPr/>
          <a:lstStyle/>
          <a:p>
            <a:r>
              <a:rPr lang="en-AU" dirty="0" smtClean="0"/>
              <a:t>The Melting Pot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16832"/>
            <a:ext cx="8229600" cy="4657704"/>
          </a:xfrm>
        </p:spPr>
        <p:txBody>
          <a:bodyPr/>
          <a:lstStyle/>
          <a:p>
            <a:r>
              <a:rPr lang="en-AU" dirty="0" smtClean="0"/>
              <a:t>Immigration made the USA a very mixed society.</a:t>
            </a:r>
          </a:p>
          <a:p>
            <a:endParaRPr lang="en-AU" dirty="0"/>
          </a:p>
          <a:p>
            <a:r>
              <a:rPr lang="en-AU" dirty="0" smtClean="0"/>
              <a:t>By 1920 there were 103 different nationalities.</a:t>
            </a:r>
          </a:p>
          <a:p>
            <a:endParaRPr lang="en-AU" dirty="0"/>
          </a:p>
          <a:p>
            <a:r>
              <a:rPr lang="en-AU" dirty="0" smtClean="0"/>
              <a:t>“melting pot’ – where immigrants lost their old identities and became Americans.</a:t>
            </a:r>
          </a:p>
          <a:p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4500563"/>
            <a:ext cx="2143125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8385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692696"/>
            <a:ext cx="8229600" cy="1066800"/>
          </a:xfrm>
        </p:spPr>
        <p:txBody>
          <a:bodyPr/>
          <a:lstStyle/>
          <a:p>
            <a:r>
              <a:rPr lang="en-AU" dirty="0" smtClean="0"/>
              <a:t>Problems with the melting pot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2816"/>
            <a:ext cx="8229600" cy="480172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AU" dirty="0"/>
              <a:t>However each new groups of immigrants were treated with suspicion </a:t>
            </a:r>
            <a:endParaRPr lang="en-AU" dirty="0" smtClean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r>
              <a:rPr lang="en-AU" dirty="0"/>
              <a:t>T</a:t>
            </a:r>
            <a:r>
              <a:rPr lang="en-AU" dirty="0" smtClean="0"/>
              <a:t>hey </a:t>
            </a:r>
            <a:r>
              <a:rPr lang="en-AU" dirty="0"/>
              <a:t>often got the worst jobs/poorest pay.  </a:t>
            </a:r>
            <a:endParaRPr lang="en-AU" dirty="0" smtClean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r>
              <a:rPr lang="en-AU" dirty="0" smtClean="0"/>
              <a:t>Definite hierarchy within American society.</a:t>
            </a:r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r>
              <a:rPr lang="en-AU" dirty="0" smtClean="0"/>
              <a:t>White settlers who had arrived first dominated, the further back you could trace your ancestry the better. </a:t>
            </a: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47083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692696"/>
            <a:ext cx="8229600" cy="1066800"/>
          </a:xfrm>
        </p:spPr>
        <p:txBody>
          <a:bodyPr/>
          <a:lstStyle/>
          <a:p>
            <a:r>
              <a:rPr lang="en-AU" dirty="0" smtClean="0"/>
              <a:t>Groups within society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28800"/>
            <a:ext cx="9036496" cy="494573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AU" dirty="0" smtClean="0"/>
              <a:t>Old Immigrants</a:t>
            </a:r>
          </a:p>
          <a:p>
            <a:pPr lvl="1">
              <a:lnSpc>
                <a:spcPct val="150000"/>
              </a:lnSpc>
            </a:pPr>
            <a:r>
              <a:rPr lang="en-AU" dirty="0" smtClean="0"/>
              <a:t>First </a:t>
            </a:r>
            <a:r>
              <a:rPr lang="en-AU" dirty="0"/>
              <a:t>E</a:t>
            </a:r>
            <a:r>
              <a:rPr lang="en-AU" dirty="0" smtClean="0"/>
              <a:t>uropean settlers came largely from northern and western Europe (Britain, Germany, Scandinavia).</a:t>
            </a:r>
          </a:p>
          <a:p>
            <a:pPr lvl="1">
              <a:lnSpc>
                <a:spcPct val="150000"/>
              </a:lnSpc>
            </a:pPr>
            <a:r>
              <a:rPr lang="en-AU" dirty="0" smtClean="0"/>
              <a:t>Descendants tended to hold the best jobs, most money, most political power.</a:t>
            </a:r>
          </a:p>
          <a:p>
            <a:pPr lvl="1">
              <a:lnSpc>
                <a:spcPct val="150000"/>
              </a:lnSpc>
            </a:pPr>
            <a:r>
              <a:rPr lang="en-AU" dirty="0" smtClean="0"/>
              <a:t>Sometimes called WASPS – White Anglo-Saxon Protestants. 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64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29600" cy="1066800"/>
          </a:xfrm>
        </p:spPr>
        <p:txBody>
          <a:bodyPr/>
          <a:lstStyle/>
          <a:p>
            <a:r>
              <a:rPr lang="en-AU" dirty="0" smtClean="0"/>
              <a:t>Groups within society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28800"/>
            <a:ext cx="8892480" cy="494573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AU" dirty="0" smtClean="0"/>
              <a:t>Native Americans</a:t>
            </a:r>
          </a:p>
          <a:p>
            <a:pPr lvl="1">
              <a:lnSpc>
                <a:spcPct val="150000"/>
              </a:lnSpc>
            </a:pPr>
            <a:r>
              <a:rPr lang="en-AU" dirty="0" smtClean="0"/>
              <a:t>Originally live right across the North American continent</a:t>
            </a:r>
          </a:p>
          <a:p>
            <a:pPr lvl="1">
              <a:lnSpc>
                <a:spcPct val="150000"/>
              </a:lnSpc>
            </a:pPr>
            <a:r>
              <a:rPr lang="en-AU" dirty="0" smtClean="0"/>
              <a:t>Greatly effected by immigration.</a:t>
            </a:r>
          </a:p>
          <a:p>
            <a:pPr lvl="1">
              <a:lnSpc>
                <a:spcPct val="150000"/>
              </a:lnSpc>
            </a:pPr>
            <a:r>
              <a:rPr lang="en-AU" dirty="0" smtClean="0"/>
              <a:t>Between 1850-1890’s, gradually forced off their land. </a:t>
            </a:r>
          </a:p>
          <a:p>
            <a:pPr lvl="1">
              <a:lnSpc>
                <a:spcPct val="150000"/>
              </a:lnSpc>
            </a:pPr>
            <a:r>
              <a:rPr lang="en-AU" dirty="0" smtClean="0"/>
              <a:t>By 1917 many lived on RESERVATIONS – some assimilated into white society.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10823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29600" cy="1066800"/>
          </a:xfrm>
        </p:spPr>
        <p:txBody>
          <a:bodyPr/>
          <a:lstStyle/>
          <a:p>
            <a:r>
              <a:rPr lang="en-AU" dirty="0" smtClean="0"/>
              <a:t>Groups within society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772816"/>
            <a:ext cx="8784976" cy="4801720"/>
          </a:xfrm>
        </p:spPr>
        <p:txBody>
          <a:bodyPr>
            <a:normAutofit fontScale="92500"/>
          </a:bodyPr>
          <a:lstStyle/>
          <a:p>
            <a:r>
              <a:rPr lang="en-AU" dirty="0" smtClean="0"/>
              <a:t>Negroes (African Americans)</a:t>
            </a:r>
            <a:endParaRPr lang="en-AU" dirty="0" smtClean="0"/>
          </a:p>
          <a:p>
            <a:pPr lvl="1">
              <a:lnSpc>
                <a:spcPct val="150000"/>
              </a:lnSpc>
            </a:pPr>
            <a:r>
              <a:rPr lang="en-AU" dirty="0" smtClean="0"/>
              <a:t>18</a:t>
            </a:r>
            <a:r>
              <a:rPr lang="en-AU" baseline="30000" dirty="0" smtClean="0"/>
              <a:t>th</a:t>
            </a:r>
            <a:r>
              <a:rPr lang="en-AU" dirty="0" smtClean="0"/>
              <a:t> and 19</a:t>
            </a:r>
            <a:r>
              <a:rPr lang="en-AU" baseline="30000" dirty="0" smtClean="0"/>
              <a:t>th</a:t>
            </a:r>
            <a:r>
              <a:rPr lang="en-AU" dirty="0" smtClean="0"/>
              <a:t> centuries millions of Africans were brought to America as slaves to work cotton plantations in southern states.</a:t>
            </a:r>
          </a:p>
          <a:p>
            <a:pPr lvl="1">
              <a:lnSpc>
                <a:spcPct val="150000"/>
              </a:lnSpc>
            </a:pPr>
            <a:r>
              <a:rPr lang="en-AU" dirty="0" smtClean="0"/>
              <a:t>Slavery ended in 1865 after the civil war.</a:t>
            </a:r>
          </a:p>
          <a:p>
            <a:pPr lvl="1">
              <a:lnSpc>
                <a:spcPct val="150000"/>
              </a:lnSpc>
            </a:pPr>
            <a:r>
              <a:rPr lang="en-AU" dirty="0" smtClean="0"/>
              <a:t>By 1920 11 million black people living throughout America.</a:t>
            </a:r>
          </a:p>
          <a:p>
            <a:pPr lvl="1">
              <a:lnSpc>
                <a:spcPct val="150000"/>
              </a:lnSpc>
            </a:pPr>
            <a:r>
              <a:rPr lang="en-AU" dirty="0" smtClean="0"/>
              <a:t>Many worked as farmers/farm labourers in the south or factory workers in the north. </a:t>
            </a:r>
          </a:p>
        </p:txBody>
      </p:sp>
    </p:spTree>
    <p:extLst>
      <p:ext uri="{BB962C8B-B14F-4D97-AF65-F5344CB8AC3E}">
        <p14:creationId xmlns:p14="http://schemas.microsoft.com/office/powerpoint/2010/main" val="2667071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692696"/>
            <a:ext cx="8229600" cy="1066800"/>
          </a:xfrm>
        </p:spPr>
        <p:txBody>
          <a:bodyPr/>
          <a:lstStyle/>
          <a:p>
            <a:r>
              <a:rPr lang="en-AU" dirty="0" smtClean="0"/>
              <a:t>Groups within society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44824"/>
            <a:ext cx="9144000" cy="4757160"/>
          </a:xfrm>
        </p:spPr>
        <p:txBody>
          <a:bodyPr/>
          <a:lstStyle/>
          <a:p>
            <a:r>
              <a:rPr lang="en-AU" dirty="0" smtClean="0"/>
              <a:t>Southern and Eastern Europeans</a:t>
            </a:r>
          </a:p>
          <a:p>
            <a:pPr lvl="1">
              <a:lnSpc>
                <a:spcPct val="150000"/>
              </a:lnSpc>
            </a:pPr>
            <a:r>
              <a:rPr lang="en-AU" dirty="0" smtClean="0"/>
              <a:t>Late 19</a:t>
            </a:r>
            <a:r>
              <a:rPr lang="en-AU" baseline="30000" dirty="0" smtClean="0"/>
              <a:t>th</a:t>
            </a:r>
            <a:r>
              <a:rPr lang="en-AU" dirty="0" smtClean="0"/>
              <a:t> century most new immigrants came from Southern and Eastern Europe (Russia, Poland, Italy)</a:t>
            </a:r>
          </a:p>
          <a:p>
            <a:pPr lvl="1">
              <a:lnSpc>
                <a:spcPct val="150000"/>
              </a:lnSpc>
            </a:pPr>
            <a:r>
              <a:rPr lang="en-AU" dirty="0" smtClean="0"/>
              <a:t>Escaping persecution and poverty.</a:t>
            </a:r>
          </a:p>
          <a:p>
            <a:pPr lvl="1">
              <a:lnSpc>
                <a:spcPct val="150000"/>
              </a:lnSpc>
            </a:pPr>
            <a:r>
              <a:rPr lang="en-AU" dirty="0" smtClean="0"/>
              <a:t>Many of these new immigrants were Jews and Catholics.</a:t>
            </a:r>
          </a:p>
        </p:txBody>
      </p:sp>
    </p:spTree>
    <p:extLst>
      <p:ext uri="{BB962C8B-B14F-4D97-AF65-F5344CB8AC3E}">
        <p14:creationId xmlns:p14="http://schemas.microsoft.com/office/powerpoint/2010/main" val="1075392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692696"/>
            <a:ext cx="8229600" cy="1066800"/>
          </a:xfrm>
        </p:spPr>
        <p:txBody>
          <a:bodyPr/>
          <a:lstStyle/>
          <a:p>
            <a:r>
              <a:rPr lang="en-AU" dirty="0" smtClean="0"/>
              <a:t>Groups within society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56792"/>
            <a:ext cx="8964488" cy="5184576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AU" dirty="0" smtClean="0"/>
              <a:t>Asians</a:t>
            </a:r>
          </a:p>
          <a:p>
            <a:pPr lvl="1">
              <a:lnSpc>
                <a:spcPct val="150000"/>
              </a:lnSpc>
            </a:pPr>
            <a:r>
              <a:rPr lang="en-AU" dirty="0" smtClean="0"/>
              <a:t>Growing number of Chinese and Japanese came to America – especially on the west coast.</a:t>
            </a:r>
          </a:p>
          <a:p>
            <a:pPr lvl="1">
              <a:lnSpc>
                <a:spcPct val="150000"/>
              </a:lnSpc>
            </a:pPr>
            <a:r>
              <a:rPr lang="en-AU" dirty="0" smtClean="0"/>
              <a:t>Chinese helped create the cities on the west coast, many worked on the construction of the railroads.</a:t>
            </a:r>
          </a:p>
          <a:p>
            <a:pPr>
              <a:lnSpc>
                <a:spcPct val="150000"/>
              </a:lnSpc>
            </a:pPr>
            <a:r>
              <a:rPr lang="en-AU" dirty="0" smtClean="0"/>
              <a:t>Hispanics</a:t>
            </a:r>
          </a:p>
          <a:p>
            <a:pPr lvl="1">
              <a:lnSpc>
                <a:spcPct val="150000"/>
              </a:lnSpc>
            </a:pPr>
            <a:r>
              <a:rPr lang="en-AU" dirty="0" smtClean="0"/>
              <a:t>USA attractive to people from Central/South America and Mexico.</a:t>
            </a:r>
          </a:p>
          <a:p>
            <a:pPr lvl="1">
              <a:lnSpc>
                <a:spcPct val="150000"/>
              </a:lnSpc>
            </a:pPr>
            <a:r>
              <a:rPr lang="en-AU" dirty="0" smtClean="0"/>
              <a:t>Shared a common language of </a:t>
            </a:r>
            <a:r>
              <a:rPr lang="en-AU" dirty="0"/>
              <a:t>S</a:t>
            </a:r>
            <a:r>
              <a:rPr lang="en-AU" dirty="0" smtClean="0"/>
              <a:t>panish</a:t>
            </a:r>
          </a:p>
          <a:p>
            <a:pPr lvl="1">
              <a:lnSpc>
                <a:spcPct val="150000"/>
              </a:lnSpc>
            </a:pPr>
            <a:r>
              <a:rPr lang="en-AU" dirty="0" smtClean="0"/>
              <a:t>Many worked can cowboys on great cattle ranches in the west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5248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264</TotalTime>
  <Words>741</Words>
  <Application>Microsoft Office PowerPoint</Application>
  <PresentationFormat>On-screen Show (4:3)</PresentationFormat>
  <Paragraphs>98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Georgia</vt:lpstr>
      <vt:lpstr>Trebuchet MS</vt:lpstr>
      <vt:lpstr>Wingdings 2</vt:lpstr>
      <vt:lpstr>Urban</vt:lpstr>
      <vt:lpstr>BRAINSTORM:   WHAT DO WE ALREADY KNOW ABOUT immigration IN OUR TIME PERIOD?</vt:lpstr>
      <vt:lpstr>Coming to America</vt:lpstr>
      <vt:lpstr>Lesson Objectives </vt:lpstr>
      <vt:lpstr>What was life like in the land of the free?</vt:lpstr>
      <vt:lpstr>What was it like in the land of the free</vt:lpstr>
      <vt:lpstr>Ellis Island – the Isle of Tears</vt:lpstr>
      <vt:lpstr>Continued …</vt:lpstr>
      <vt:lpstr>End of the line</vt:lpstr>
      <vt:lpstr>Immigration Problems</vt:lpstr>
      <vt:lpstr>Class divisions in American Society </vt:lpstr>
      <vt:lpstr>Lesson Objectives</vt:lpstr>
      <vt:lpstr>The Melting Pot</vt:lpstr>
      <vt:lpstr>Problems with the melting pot</vt:lpstr>
      <vt:lpstr>Groups within society</vt:lpstr>
      <vt:lpstr>Groups within society </vt:lpstr>
      <vt:lpstr>Groups within society </vt:lpstr>
      <vt:lpstr>Groups within society</vt:lpstr>
      <vt:lpstr>Groups within society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Coming to America</dc:title>
  <dc:creator>CARTLEDGE Erin</dc:creator>
  <cp:lastModifiedBy>HAWKES Natasha [Narrogin Senior High School]</cp:lastModifiedBy>
  <cp:revision>11</cp:revision>
  <dcterms:created xsi:type="dcterms:W3CDTF">2015-12-01T06:19:37Z</dcterms:created>
  <dcterms:modified xsi:type="dcterms:W3CDTF">2019-02-21T05:32:14Z</dcterms:modified>
</cp:coreProperties>
</file>
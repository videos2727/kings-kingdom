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69" r:id="rId15"/>
    <p:sldId id="270" r:id="rId16"/>
    <p:sldId id="272" r:id="rId17"/>
    <p:sldId id="274" r:id="rId18"/>
    <p:sldId id="2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10.png"/><Relationship Id="rId6" Type="http://schemas.openxmlformats.org/officeDocument/2006/relationships/hyperlink" Target="http://commons.wikimedia.org/wiki/file:dark_blue_left_arrow.svg" TargetMode="External"/><Relationship Id="rId5" Type="http://schemas.openxmlformats.org/officeDocument/2006/relationships/image" Target="../media/image12.png"/><Relationship Id="rId4" Type="http://schemas.openxmlformats.org/officeDocument/2006/relationships/hyperlink" Target="http://en.wikipedia.org/wiki/File:Dark_blue_right_arrow.svg" TargetMode="External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10.png"/><Relationship Id="rId6" Type="http://schemas.openxmlformats.org/officeDocument/2006/relationships/hyperlink" Target="http://commons.wikimedia.org/wiki/file:dark_blue_left_arrow.svg" TargetMode="External"/><Relationship Id="rId5" Type="http://schemas.openxmlformats.org/officeDocument/2006/relationships/image" Target="../media/image12.png"/><Relationship Id="rId4" Type="http://schemas.openxmlformats.org/officeDocument/2006/relationships/hyperlink" Target="http://en.wikipedia.org/wiki/File:Dark_blue_right_arrow.svg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682657-7BAB-4F75-B055-74126A0AEAFC}" type="doc">
      <dgm:prSet loTypeId="urn:microsoft.com/office/officeart/2005/8/layout/process1" loCatId="process" qsTypeId="urn:microsoft.com/office/officeart/2005/8/quickstyle/simple1" qsCatId="simple" csTypeId="urn:microsoft.com/office/officeart/2005/8/colors/colorful4" csCatId="colorful" phldr="1"/>
      <dgm:spPr/>
    </dgm:pt>
    <dgm:pt modelId="{B3206A99-EDF6-41DD-A58B-80D86D0B9600}">
      <dgm:prSet phldrT="[Text]" custT="1"/>
      <dgm:spPr/>
      <dgm:t>
        <a:bodyPr/>
        <a:lstStyle/>
        <a:p>
          <a:r>
            <a:rPr lang="en-AU" sz="3000" dirty="0">
              <a:solidFill>
                <a:schemeClr val="tx1"/>
              </a:solidFill>
            </a:rPr>
            <a:t>1865-1900</a:t>
          </a:r>
        </a:p>
      </dgm:t>
    </dgm:pt>
    <dgm:pt modelId="{E56E4ED9-CF9E-4F8B-A44C-FC64166391A1}" type="parTrans" cxnId="{1920FD9C-2488-4146-A40D-52771DBA3BE0}">
      <dgm:prSet/>
      <dgm:spPr/>
      <dgm:t>
        <a:bodyPr/>
        <a:lstStyle/>
        <a:p>
          <a:endParaRPr lang="en-AU"/>
        </a:p>
      </dgm:t>
    </dgm:pt>
    <dgm:pt modelId="{1507314D-857C-43E9-BD2A-9B35ACEE3E25}" type="sibTrans" cxnId="{1920FD9C-2488-4146-A40D-52771DBA3BE0}">
      <dgm:prSet/>
      <dgm:spPr/>
      <dgm:t>
        <a:bodyPr/>
        <a:lstStyle/>
        <a:p>
          <a:endParaRPr lang="en-AU"/>
        </a:p>
      </dgm:t>
    </dgm:pt>
    <dgm:pt modelId="{4552839C-A3D6-4D6C-9060-BA3B3ADE5BBD}">
      <dgm:prSet phldrT="[Text]" custT="1"/>
      <dgm:spPr/>
      <dgm:t>
        <a:bodyPr/>
        <a:lstStyle/>
        <a:p>
          <a:r>
            <a:rPr lang="en-AU" sz="3000" dirty="0">
              <a:solidFill>
                <a:schemeClr val="tx1"/>
              </a:solidFill>
            </a:rPr>
            <a:t>1900-1918</a:t>
          </a:r>
        </a:p>
      </dgm:t>
    </dgm:pt>
    <dgm:pt modelId="{CFE99381-316D-4901-99CE-6B117E68AAE6}" type="parTrans" cxnId="{3D418329-F143-4021-BD17-38192625DAFE}">
      <dgm:prSet/>
      <dgm:spPr/>
      <dgm:t>
        <a:bodyPr/>
        <a:lstStyle/>
        <a:p>
          <a:endParaRPr lang="en-AU"/>
        </a:p>
      </dgm:t>
    </dgm:pt>
    <dgm:pt modelId="{684851B8-01EA-48BD-87FE-80AB52737BA5}" type="sibTrans" cxnId="{3D418329-F143-4021-BD17-38192625DAFE}">
      <dgm:prSet/>
      <dgm:spPr/>
      <dgm:t>
        <a:bodyPr/>
        <a:lstStyle/>
        <a:p>
          <a:endParaRPr lang="en-AU"/>
        </a:p>
      </dgm:t>
    </dgm:pt>
    <dgm:pt modelId="{37782497-1B51-41F2-BA46-BBD9C4F7B4F3}">
      <dgm:prSet phldrT="[Text]" custT="1"/>
      <dgm:spPr/>
      <dgm:t>
        <a:bodyPr/>
        <a:lstStyle/>
        <a:p>
          <a:r>
            <a:rPr lang="en-AU" sz="3000" dirty="0">
              <a:solidFill>
                <a:schemeClr val="tx1"/>
              </a:solidFill>
            </a:rPr>
            <a:t>1918-1920</a:t>
          </a:r>
        </a:p>
      </dgm:t>
    </dgm:pt>
    <dgm:pt modelId="{CAAAEDCF-0DAD-4B93-80BD-6F8108FC17A3}" type="parTrans" cxnId="{9FC28312-7D6C-455C-8D49-5960AF74D95D}">
      <dgm:prSet/>
      <dgm:spPr/>
      <dgm:t>
        <a:bodyPr/>
        <a:lstStyle/>
        <a:p>
          <a:endParaRPr lang="en-AU"/>
        </a:p>
      </dgm:t>
    </dgm:pt>
    <dgm:pt modelId="{0E5E3D56-F46F-4470-A85D-6AC934FD7B0E}" type="sibTrans" cxnId="{9FC28312-7D6C-455C-8D49-5960AF74D95D}">
      <dgm:prSet/>
      <dgm:spPr/>
      <dgm:t>
        <a:bodyPr/>
        <a:lstStyle/>
        <a:p>
          <a:endParaRPr lang="en-AU"/>
        </a:p>
      </dgm:t>
    </dgm:pt>
    <dgm:pt modelId="{02351276-EDFC-41DC-8EDB-F7CFA771A7BD}">
      <dgm:prSet phldrT="[Text]" custT="1"/>
      <dgm:spPr/>
      <dgm:t>
        <a:bodyPr/>
        <a:lstStyle/>
        <a:p>
          <a:r>
            <a:rPr lang="en-AU" sz="3000" dirty="0">
              <a:solidFill>
                <a:schemeClr val="tx1"/>
              </a:solidFill>
            </a:rPr>
            <a:t>1920-1929</a:t>
          </a:r>
        </a:p>
      </dgm:t>
    </dgm:pt>
    <dgm:pt modelId="{19025981-B110-4486-9E87-D3728889B7BE}" type="parTrans" cxnId="{841C3366-CEB9-4321-9157-592D5A4C6D88}">
      <dgm:prSet/>
      <dgm:spPr/>
      <dgm:t>
        <a:bodyPr/>
        <a:lstStyle/>
        <a:p>
          <a:endParaRPr lang="en-AU"/>
        </a:p>
      </dgm:t>
    </dgm:pt>
    <dgm:pt modelId="{D798F94E-9BA4-4A7C-8EA0-AD4750E95A74}" type="sibTrans" cxnId="{841C3366-CEB9-4321-9157-592D5A4C6D88}">
      <dgm:prSet/>
      <dgm:spPr/>
      <dgm:t>
        <a:bodyPr/>
        <a:lstStyle/>
        <a:p>
          <a:endParaRPr lang="en-AU"/>
        </a:p>
      </dgm:t>
    </dgm:pt>
    <dgm:pt modelId="{7B9E0E4C-B28B-4CEF-8494-BB67E7E8CF2A}" type="pres">
      <dgm:prSet presAssocID="{E1682657-7BAB-4F75-B055-74126A0AEAFC}" presName="Name0" presStyleCnt="0">
        <dgm:presLayoutVars>
          <dgm:dir/>
          <dgm:resizeHandles val="exact"/>
        </dgm:presLayoutVars>
      </dgm:prSet>
      <dgm:spPr/>
    </dgm:pt>
    <dgm:pt modelId="{0606821C-1F19-4A00-9B3B-0F0ACA7DE0B8}" type="pres">
      <dgm:prSet presAssocID="{B3206A99-EDF6-41DD-A58B-80D86D0B9600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04FEC4-CF3B-4536-B425-3118E2375BF9}" type="pres">
      <dgm:prSet presAssocID="{1507314D-857C-43E9-BD2A-9B35ACEE3E25}" presName="sibTrans" presStyleLbl="sibTrans2D1" presStyleIdx="0" presStyleCnt="3"/>
      <dgm:spPr/>
      <dgm:t>
        <a:bodyPr/>
        <a:lstStyle/>
        <a:p>
          <a:endParaRPr lang="en-US"/>
        </a:p>
      </dgm:t>
    </dgm:pt>
    <dgm:pt modelId="{746A476C-A974-4893-A39C-88328A66AADC}" type="pres">
      <dgm:prSet presAssocID="{1507314D-857C-43E9-BD2A-9B35ACEE3E25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8A53EC44-DC2E-4B70-9A73-C950DF4FFAA4}" type="pres">
      <dgm:prSet presAssocID="{4552839C-A3D6-4D6C-9060-BA3B3ADE5BBD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E2D84E-56A4-493E-B435-7EA0C43155BF}" type="pres">
      <dgm:prSet presAssocID="{684851B8-01EA-48BD-87FE-80AB52737BA5}" presName="sibTrans" presStyleLbl="sibTrans2D1" presStyleIdx="1" presStyleCnt="3"/>
      <dgm:spPr/>
      <dgm:t>
        <a:bodyPr/>
        <a:lstStyle/>
        <a:p>
          <a:endParaRPr lang="en-US"/>
        </a:p>
      </dgm:t>
    </dgm:pt>
    <dgm:pt modelId="{83FEDC83-C9F9-4B4E-BA3E-40885737D580}" type="pres">
      <dgm:prSet presAssocID="{684851B8-01EA-48BD-87FE-80AB52737BA5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783D4E1C-F4EC-4C9B-B104-801715AE1D46}" type="pres">
      <dgm:prSet presAssocID="{37782497-1B51-41F2-BA46-BBD9C4F7B4F3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B836B6-C84D-42E7-BA89-D7B2F73152AC}" type="pres">
      <dgm:prSet presAssocID="{0E5E3D56-F46F-4470-A85D-6AC934FD7B0E}" presName="sibTrans" presStyleLbl="sibTrans2D1" presStyleIdx="2" presStyleCnt="3"/>
      <dgm:spPr/>
      <dgm:t>
        <a:bodyPr/>
        <a:lstStyle/>
        <a:p>
          <a:endParaRPr lang="en-US"/>
        </a:p>
      </dgm:t>
    </dgm:pt>
    <dgm:pt modelId="{9954D746-319F-442C-BA1F-369EA1B6C0E5}" type="pres">
      <dgm:prSet presAssocID="{0E5E3D56-F46F-4470-A85D-6AC934FD7B0E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D48D0B70-C6E7-4AF4-8FDA-F364B2B3F290}" type="pres">
      <dgm:prSet presAssocID="{02351276-EDFC-41DC-8EDB-F7CFA771A7BD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E057C27-FEAA-44FC-8C35-7D458F2D0B16}" type="presOf" srcId="{684851B8-01EA-48BD-87FE-80AB52737BA5}" destId="{83FEDC83-C9F9-4B4E-BA3E-40885737D580}" srcOrd="1" destOrd="0" presId="urn:microsoft.com/office/officeart/2005/8/layout/process1"/>
    <dgm:cxn modelId="{841C3366-CEB9-4321-9157-592D5A4C6D88}" srcId="{E1682657-7BAB-4F75-B055-74126A0AEAFC}" destId="{02351276-EDFC-41DC-8EDB-F7CFA771A7BD}" srcOrd="3" destOrd="0" parTransId="{19025981-B110-4486-9E87-D3728889B7BE}" sibTransId="{D798F94E-9BA4-4A7C-8EA0-AD4750E95A74}"/>
    <dgm:cxn modelId="{576AD15C-E1E6-4664-AF2B-643F6562FCA2}" type="presOf" srcId="{1507314D-857C-43E9-BD2A-9B35ACEE3E25}" destId="{6304FEC4-CF3B-4536-B425-3118E2375BF9}" srcOrd="0" destOrd="0" presId="urn:microsoft.com/office/officeart/2005/8/layout/process1"/>
    <dgm:cxn modelId="{CCB0C1CC-BF79-47DC-95FC-EC29C8162E19}" type="presOf" srcId="{0E5E3D56-F46F-4470-A85D-6AC934FD7B0E}" destId="{9954D746-319F-442C-BA1F-369EA1B6C0E5}" srcOrd="1" destOrd="0" presId="urn:microsoft.com/office/officeart/2005/8/layout/process1"/>
    <dgm:cxn modelId="{1920FD9C-2488-4146-A40D-52771DBA3BE0}" srcId="{E1682657-7BAB-4F75-B055-74126A0AEAFC}" destId="{B3206A99-EDF6-41DD-A58B-80D86D0B9600}" srcOrd="0" destOrd="0" parTransId="{E56E4ED9-CF9E-4F8B-A44C-FC64166391A1}" sibTransId="{1507314D-857C-43E9-BD2A-9B35ACEE3E25}"/>
    <dgm:cxn modelId="{4540356F-27E0-44F0-8485-03D39CCA6004}" type="presOf" srcId="{684851B8-01EA-48BD-87FE-80AB52737BA5}" destId="{38E2D84E-56A4-493E-B435-7EA0C43155BF}" srcOrd="0" destOrd="0" presId="urn:microsoft.com/office/officeart/2005/8/layout/process1"/>
    <dgm:cxn modelId="{61005E22-1E53-43E5-ACF7-F4EE7D3F8372}" type="presOf" srcId="{4552839C-A3D6-4D6C-9060-BA3B3ADE5BBD}" destId="{8A53EC44-DC2E-4B70-9A73-C950DF4FFAA4}" srcOrd="0" destOrd="0" presId="urn:microsoft.com/office/officeart/2005/8/layout/process1"/>
    <dgm:cxn modelId="{3D418329-F143-4021-BD17-38192625DAFE}" srcId="{E1682657-7BAB-4F75-B055-74126A0AEAFC}" destId="{4552839C-A3D6-4D6C-9060-BA3B3ADE5BBD}" srcOrd="1" destOrd="0" parTransId="{CFE99381-316D-4901-99CE-6B117E68AAE6}" sibTransId="{684851B8-01EA-48BD-87FE-80AB52737BA5}"/>
    <dgm:cxn modelId="{481781D8-5D64-420F-9033-0967AF887309}" type="presOf" srcId="{0E5E3D56-F46F-4470-A85D-6AC934FD7B0E}" destId="{92B836B6-C84D-42E7-BA89-D7B2F73152AC}" srcOrd="0" destOrd="0" presId="urn:microsoft.com/office/officeart/2005/8/layout/process1"/>
    <dgm:cxn modelId="{1ED79084-8E54-4E44-A168-97CC2F12AEDC}" type="presOf" srcId="{B3206A99-EDF6-41DD-A58B-80D86D0B9600}" destId="{0606821C-1F19-4A00-9B3B-0F0ACA7DE0B8}" srcOrd="0" destOrd="0" presId="urn:microsoft.com/office/officeart/2005/8/layout/process1"/>
    <dgm:cxn modelId="{9FC28312-7D6C-455C-8D49-5960AF74D95D}" srcId="{E1682657-7BAB-4F75-B055-74126A0AEAFC}" destId="{37782497-1B51-41F2-BA46-BBD9C4F7B4F3}" srcOrd="2" destOrd="0" parTransId="{CAAAEDCF-0DAD-4B93-80BD-6F8108FC17A3}" sibTransId="{0E5E3D56-F46F-4470-A85D-6AC934FD7B0E}"/>
    <dgm:cxn modelId="{AF7D48B4-77F7-4C42-8A6A-BB644A7462DD}" type="presOf" srcId="{E1682657-7BAB-4F75-B055-74126A0AEAFC}" destId="{7B9E0E4C-B28B-4CEF-8494-BB67E7E8CF2A}" srcOrd="0" destOrd="0" presId="urn:microsoft.com/office/officeart/2005/8/layout/process1"/>
    <dgm:cxn modelId="{0C64DCB0-6BD6-49C3-B32F-634A043A14D0}" type="presOf" srcId="{1507314D-857C-43E9-BD2A-9B35ACEE3E25}" destId="{746A476C-A974-4893-A39C-88328A66AADC}" srcOrd="1" destOrd="0" presId="urn:microsoft.com/office/officeart/2005/8/layout/process1"/>
    <dgm:cxn modelId="{93055DB2-FDBE-442D-BA4D-E9ADCAD31859}" type="presOf" srcId="{37782497-1B51-41F2-BA46-BBD9C4F7B4F3}" destId="{783D4E1C-F4EC-4C9B-B104-801715AE1D46}" srcOrd="0" destOrd="0" presId="urn:microsoft.com/office/officeart/2005/8/layout/process1"/>
    <dgm:cxn modelId="{5D43BEFC-A037-4567-843E-4B081A3328CE}" type="presOf" srcId="{02351276-EDFC-41DC-8EDB-F7CFA771A7BD}" destId="{D48D0B70-C6E7-4AF4-8FDA-F364B2B3F290}" srcOrd="0" destOrd="0" presId="urn:microsoft.com/office/officeart/2005/8/layout/process1"/>
    <dgm:cxn modelId="{72DA7114-B31A-4736-9870-E6EE06D10984}" type="presParOf" srcId="{7B9E0E4C-B28B-4CEF-8494-BB67E7E8CF2A}" destId="{0606821C-1F19-4A00-9B3B-0F0ACA7DE0B8}" srcOrd="0" destOrd="0" presId="urn:microsoft.com/office/officeart/2005/8/layout/process1"/>
    <dgm:cxn modelId="{AFEC3BA3-0442-4D36-87DC-B48B06EABB49}" type="presParOf" srcId="{7B9E0E4C-B28B-4CEF-8494-BB67E7E8CF2A}" destId="{6304FEC4-CF3B-4536-B425-3118E2375BF9}" srcOrd="1" destOrd="0" presId="urn:microsoft.com/office/officeart/2005/8/layout/process1"/>
    <dgm:cxn modelId="{3170AD8F-BFBB-4415-B010-D7ECC6ED45C4}" type="presParOf" srcId="{6304FEC4-CF3B-4536-B425-3118E2375BF9}" destId="{746A476C-A974-4893-A39C-88328A66AADC}" srcOrd="0" destOrd="0" presId="urn:microsoft.com/office/officeart/2005/8/layout/process1"/>
    <dgm:cxn modelId="{7082C9DD-849B-499E-BB5B-3C998918E25A}" type="presParOf" srcId="{7B9E0E4C-B28B-4CEF-8494-BB67E7E8CF2A}" destId="{8A53EC44-DC2E-4B70-9A73-C950DF4FFAA4}" srcOrd="2" destOrd="0" presId="urn:microsoft.com/office/officeart/2005/8/layout/process1"/>
    <dgm:cxn modelId="{FD39509D-1616-4A98-93B0-74F13D4BFB15}" type="presParOf" srcId="{7B9E0E4C-B28B-4CEF-8494-BB67E7E8CF2A}" destId="{38E2D84E-56A4-493E-B435-7EA0C43155BF}" srcOrd="3" destOrd="0" presId="urn:microsoft.com/office/officeart/2005/8/layout/process1"/>
    <dgm:cxn modelId="{00EB955C-260D-4A63-82DA-E4E4F04BA0CB}" type="presParOf" srcId="{38E2D84E-56A4-493E-B435-7EA0C43155BF}" destId="{83FEDC83-C9F9-4B4E-BA3E-40885737D580}" srcOrd="0" destOrd="0" presId="urn:microsoft.com/office/officeart/2005/8/layout/process1"/>
    <dgm:cxn modelId="{E7AEDC7E-0EF3-4486-9170-44EB7E8EE116}" type="presParOf" srcId="{7B9E0E4C-B28B-4CEF-8494-BB67E7E8CF2A}" destId="{783D4E1C-F4EC-4C9B-B104-801715AE1D46}" srcOrd="4" destOrd="0" presId="urn:microsoft.com/office/officeart/2005/8/layout/process1"/>
    <dgm:cxn modelId="{55C93412-7D2C-408A-9923-482319F75FC4}" type="presParOf" srcId="{7B9E0E4C-B28B-4CEF-8494-BB67E7E8CF2A}" destId="{92B836B6-C84D-42E7-BA89-D7B2F73152AC}" srcOrd="5" destOrd="0" presId="urn:microsoft.com/office/officeart/2005/8/layout/process1"/>
    <dgm:cxn modelId="{2D2418CD-EA1E-49ED-9925-683FC9D55E3E}" type="presParOf" srcId="{92B836B6-C84D-42E7-BA89-D7B2F73152AC}" destId="{9954D746-319F-442C-BA1F-369EA1B6C0E5}" srcOrd="0" destOrd="0" presId="urn:microsoft.com/office/officeart/2005/8/layout/process1"/>
    <dgm:cxn modelId="{0516E599-22DD-44B8-92AF-93D62F0F5117}" type="presParOf" srcId="{7B9E0E4C-B28B-4CEF-8494-BB67E7E8CF2A}" destId="{D48D0B70-C6E7-4AF4-8FDA-F364B2B3F290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B0D062-1347-4D11-AE52-4F8EE36C9A73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1A87D7C-C37C-4B55-A4C3-502BB785E815}">
      <dgm:prSet/>
      <dgm:spPr/>
      <dgm:t>
        <a:bodyPr/>
        <a:lstStyle/>
        <a:p>
          <a:r>
            <a:rPr lang="en-AU"/>
            <a:t>‘Staple’ industries depressed</a:t>
          </a:r>
          <a:endParaRPr lang="en-US"/>
        </a:p>
      </dgm:t>
    </dgm:pt>
    <dgm:pt modelId="{DFCC608D-2E89-477E-B8C3-A56D276CBD1F}" type="parTrans" cxnId="{0870623D-5B98-448E-87BF-16897628DA1C}">
      <dgm:prSet/>
      <dgm:spPr/>
      <dgm:t>
        <a:bodyPr/>
        <a:lstStyle/>
        <a:p>
          <a:endParaRPr lang="en-US"/>
        </a:p>
      </dgm:t>
    </dgm:pt>
    <dgm:pt modelId="{5552CDA5-F4AA-4305-B007-5D2FD9C71971}" type="sibTrans" cxnId="{0870623D-5B98-448E-87BF-16897628DA1C}">
      <dgm:prSet/>
      <dgm:spPr/>
      <dgm:t>
        <a:bodyPr/>
        <a:lstStyle/>
        <a:p>
          <a:endParaRPr lang="en-US"/>
        </a:p>
      </dgm:t>
    </dgm:pt>
    <dgm:pt modelId="{1E724975-4356-4E23-A736-DA10A9D11B03}">
      <dgm:prSet/>
      <dgm:spPr/>
      <dgm:t>
        <a:bodyPr/>
        <a:lstStyle/>
        <a:p>
          <a:r>
            <a:rPr lang="en-AU"/>
            <a:t>Agricultural sector depressed</a:t>
          </a:r>
          <a:endParaRPr lang="en-US"/>
        </a:p>
      </dgm:t>
    </dgm:pt>
    <dgm:pt modelId="{CAE2DD2F-914F-497C-A0CA-FA8C369D133A}" type="parTrans" cxnId="{B1052A79-6595-4CA1-BBF6-05B4B4A8BDCC}">
      <dgm:prSet/>
      <dgm:spPr/>
      <dgm:t>
        <a:bodyPr/>
        <a:lstStyle/>
        <a:p>
          <a:endParaRPr lang="en-US"/>
        </a:p>
      </dgm:t>
    </dgm:pt>
    <dgm:pt modelId="{BB963898-5756-4FCD-B901-A25D11982D60}" type="sibTrans" cxnId="{B1052A79-6595-4CA1-BBF6-05B4B4A8BDCC}">
      <dgm:prSet/>
      <dgm:spPr/>
      <dgm:t>
        <a:bodyPr/>
        <a:lstStyle/>
        <a:p>
          <a:endParaRPr lang="en-US"/>
        </a:p>
      </dgm:t>
    </dgm:pt>
    <dgm:pt modelId="{1F3C108B-6D07-48A7-B697-A4FE78624F9F}">
      <dgm:prSet/>
      <dgm:spPr/>
      <dgm:t>
        <a:bodyPr/>
        <a:lstStyle/>
        <a:p>
          <a:r>
            <a:rPr lang="en-AU"/>
            <a:t>Overproduction of new and old industries</a:t>
          </a:r>
          <a:endParaRPr lang="en-US"/>
        </a:p>
      </dgm:t>
    </dgm:pt>
    <dgm:pt modelId="{F736AC4D-19E1-4C3F-8BDD-98643EF7ED46}" type="parTrans" cxnId="{C6408A7F-1505-4F50-A0DC-3C975824425D}">
      <dgm:prSet/>
      <dgm:spPr/>
      <dgm:t>
        <a:bodyPr/>
        <a:lstStyle/>
        <a:p>
          <a:endParaRPr lang="en-US"/>
        </a:p>
      </dgm:t>
    </dgm:pt>
    <dgm:pt modelId="{4EC33049-AD23-4573-A65C-A1BBCCA0DEC7}" type="sibTrans" cxnId="{C6408A7F-1505-4F50-A0DC-3C975824425D}">
      <dgm:prSet/>
      <dgm:spPr/>
      <dgm:t>
        <a:bodyPr/>
        <a:lstStyle/>
        <a:p>
          <a:endParaRPr lang="en-US"/>
        </a:p>
      </dgm:t>
    </dgm:pt>
    <dgm:pt modelId="{01DA8CE5-3E8A-46F9-AEE7-B0B634C56C73}">
      <dgm:prSet/>
      <dgm:spPr/>
      <dgm:t>
        <a:bodyPr/>
        <a:lstStyle/>
        <a:p>
          <a:r>
            <a:rPr lang="en-AU"/>
            <a:t>Undercapitalisation of banks</a:t>
          </a:r>
          <a:endParaRPr lang="en-US"/>
        </a:p>
      </dgm:t>
    </dgm:pt>
    <dgm:pt modelId="{5A5F65ED-6EAB-4C47-8C7D-20C75A4E4E33}" type="parTrans" cxnId="{27FE1F65-D673-4E12-B3B8-20EB4E0F83B0}">
      <dgm:prSet/>
      <dgm:spPr/>
      <dgm:t>
        <a:bodyPr/>
        <a:lstStyle/>
        <a:p>
          <a:endParaRPr lang="en-US"/>
        </a:p>
      </dgm:t>
    </dgm:pt>
    <dgm:pt modelId="{59B7AEF3-427F-4CE8-90C5-F213133E9128}" type="sibTrans" cxnId="{27FE1F65-D673-4E12-B3B8-20EB4E0F83B0}">
      <dgm:prSet/>
      <dgm:spPr/>
      <dgm:t>
        <a:bodyPr/>
        <a:lstStyle/>
        <a:p>
          <a:endParaRPr lang="en-US"/>
        </a:p>
      </dgm:t>
    </dgm:pt>
    <dgm:pt modelId="{0E008069-78E2-4366-8E05-FCF3DDF4ACE9}">
      <dgm:prSet/>
      <dgm:spPr/>
      <dgm:t>
        <a:bodyPr/>
        <a:lstStyle/>
        <a:p>
          <a:r>
            <a:rPr lang="en-AU"/>
            <a:t>Grossly unequal distribution of wealth</a:t>
          </a:r>
          <a:endParaRPr lang="en-US"/>
        </a:p>
      </dgm:t>
    </dgm:pt>
    <dgm:pt modelId="{59D1793F-CB78-44B4-811E-3C9782C59A70}" type="parTrans" cxnId="{EBB4A482-8306-447A-9AAF-E492134776F8}">
      <dgm:prSet/>
      <dgm:spPr/>
      <dgm:t>
        <a:bodyPr/>
        <a:lstStyle/>
        <a:p>
          <a:endParaRPr lang="en-US"/>
        </a:p>
      </dgm:t>
    </dgm:pt>
    <dgm:pt modelId="{D44E453F-F111-4B1A-81B5-BF2CE8F54349}" type="sibTrans" cxnId="{EBB4A482-8306-447A-9AAF-E492134776F8}">
      <dgm:prSet/>
      <dgm:spPr/>
      <dgm:t>
        <a:bodyPr/>
        <a:lstStyle/>
        <a:p>
          <a:endParaRPr lang="en-US"/>
        </a:p>
      </dgm:t>
    </dgm:pt>
    <dgm:pt modelId="{4E6505D2-9949-4259-88E6-1CE01AFDA63A}">
      <dgm:prSet/>
      <dgm:spPr/>
      <dgm:t>
        <a:bodyPr/>
        <a:lstStyle/>
        <a:p>
          <a:r>
            <a:rPr lang="en-AU"/>
            <a:t>Much of speculation of 1920s financed by credit</a:t>
          </a:r>
          <a:endParaRPr lang="en-US"/>
        </a:p>
      </dgm:t>
    </dgm:pt>
    <dgm:pt modelId="{0DAE9FFF-142D-4052-8DC6-4966923E9082}" type="parTrans" cxnId="{9E56E250-7DDD-4892-9EC5-72F042B78BB1}">
      <dgm:prSet/>
      <dgm:spPr/>
      <dgm:t>
        <a:bodyPr/>
        <a:lstStyle/>
        <a:p>
          <a:endParaRPr lang="en-US"/>
        </a:p>
      </dgm:t>
    </dgm:pt>
    <dgm:pt modelId="{950FC9B0-4741-4727-A8EA-2FE06A8D727A}" type="sibTrans" cxnId="{9E56E250-7DDD-4892-9EC5-72F042B78BB1}">
      <dgm:prSet/>
      <dgm:spPr/>
      <dgm:t>
        <a:bodyPr/>
        <a:lstStyle/>
        <a:p>
          <a:endParaRPr lang="en-US"/>
        </a:p>
      </dgm:t>
    </dgm:pt>
    <dgm:pt modelId="{4E88250E-1F89-498F-A12E-A24C2E6E31B5}" type="pres">
      <dgm:prSet presAssocID="{9BB0D062-1347-4D11-AE52-4F8EE36C9A73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B06DCC44-599B-4E51-9215-86AE31EEF95F}" type="pres">
      <dgm:prSet presAssocID="{91A87D7C-C37C-4B55-A4C3-502BB785E815}" presName="thickLine" presStyleLbl="alignNode1" presStyleIdx="0" presStyleCnt="6"/>
      <dgm:spPr/>
    </dgm:pt>
    <dgm:pt modelId="{A0EA614A-C377-44BB-8EE6-9D976BD14F76}" type="pres">
      <dgm:prSet presAssocID="{91A87D7C-C37C-4B55-A4C3-502BB785E815}" presName="horz1" presStyleCnt="0"/>
      <dgm:spPr/>
    </dgm:pt>
    <dgm:pt modelId="{F40262DE-03AE-42C0-9A48-D59B60D6866C}" type="pres">
      <dgm:prSet presAssocID="{91A87D7C-C37C-4B55-A4C3-502BB785E815}" presName="tx1" presStyleLbl="revTx" presStyleIdx="0" presStyleCnt="6"/>
      <dgm:spPr/>
      <dgm:t>
        <a:bodyPr/>
        <a:lstStyle/>
        <a:p>
          <a:endParaRPr lang="en-US"/>
        </a:p>
      </dgm:t>
    </dgm:pt>
    <dgm:pt modelId="{CA58093C-C144-4A36-85AC-E88409C51CE7}" type="pres">
      <dgm:prSet presAssocID="{91A87D7C-C37C-4B55-A4C3-502BB785E815}" presName="vert1" presStyleCnt="0"/>
      <dgm:spPr/>
    </dgm:pt>
    <dgm:pt modelId="{40967EBA-6884-4498-9E73-A0ED0C0F7FB5}" type="pres">
      <dgm:prSet presAssocID="{1E724975-4356-4E23-A736-DA10A9D11B03}" presName="thickLine" presStyleLbl="alignNode1" presStyleIdx="1" presStyleCnt="6"/>
      <dgm:spPr/>
    </dgm:pt>
    <dgm:pt modelId="{D49EA382-B0AE-4389-B8E1-0C8C1342B3A5}" type="pres">
      <dgm:prSet presAssocID="{1E724975-4356-4E23-A736-DA10A9D11B03}" presName="horz1" presStyleCnt="0"/>
      <dgm:spPr/>
    </dgm:pt>
    <dgm:pt modelId="{913372B7-92D1-4782-AD4E-760441221E68}" type="pres">
      <dgm:prSet presAssocID="{1E724975-4356-4E23-A736-DA10A9D11B03}" presName="tx1" presStyleLbl="revTx" presStyleIdx="1" presStyleCnt="6"/>
      <dgm:spPr/>
      <dgm:t>
        <a:bodyPr/>
        <a:lstStyle/>
        <a:p>
          <a:endParaRPr lang="en-US"/>
        </a:p>
      </dgm:t>
    </dgm:pt>
    <dgm:pt modelId="{5532C014-F8C3-4C80-9CC2-547467A8A7B5}" type="pres">
      <dgm:prSet presAssocID="{1E724975-4356-4E23-A736-DA10A9D11B03}" presName="vert1" presStyleCnt="0"/>
      <dgm:spPr/>
    </dgm:pt>
    <dgm:pt modelId="{A7494E47-2CB3-4106-838B-5F1FFC06B403}" type="pres">
      <dgm:prSet presAssocID="{1F3C108B-6D07-48A7-B697-A4FE78624F9F}" presName="thickLine" presStyleLbl="alignNode1" presStyleIdx="2" presStyleCnt="6"/>
      <dgm:spPr/>
    </dgm:pt>
    <dgm:pt modelId="{A090D9BD-9F9E-4491-87F9-627641A0FE40}" type="pres">
      <dgm:prSet presAssocID="{1F3C108B-6D07-48A7-B697-A4FE78624F9F}" presName="horz1" presStyleCnt="0"/>
      <dgm:spPr/>
    </dgm:pt>
    <dgm:pt modelId="{D05184BA-3B38-45F2-93CC-BD15339E4B6B}" type="pres">
      <dgm:prSet presAssocID="{1F3C108B-6D07-48A7-B697-A4FE78624F9F}" presName="tx1" presStyleLbl="revTx" presStyleIdx="2" presStyleCnt="6"/>
      <dgm:spPr/>
      <dgm:t>
        <a:bodyPr/>
        <a:lstStyle/>
        <a:p>
          <a:endParaRPr lang="en-US"/>
        </a:p>
      </dgm:t>
    </dgm:pt>
    <dgm:pt modelId="{AE20885F-6A05-49EE-A966-524FBE8EED1D}" type="pres">
      <dgm:prSet presAssocID="{1F3C108B-6D07-48A7-B697-A4FE78624F9F}" presName="vert1" presStyleCnt="0"/>
      <dgm:spPr/>
    </dgm:pt>
    <dgm:pt modelId="{DBB95869-4623-48F8-B1CE-F6E65F24693C}" type="pres">
      <dgm:prSet presAssocID="{01DA8CE5-3E8A-46F9-AEE7-B0B634C56C73}" presName="thickLine" presStyleLbl="alignNode1" presStyleIdx="3" presStyleCnt="6"/>
      <dgm:spPr/>
    </dgm:pt>
    <dgm:pt modelId="{44FF4986-4C2A-4252-8895-1FD3B0BF00DB}" type="pres">
      <dgm:prSet presAssocID="{01DA8CE5-3E8A-46F9-AEE7-B0B634C56C73}" presName="horz1" presStyleCnt="0"/>
      <dgm:spPr/>
    </dgm:pt>
    <dgm:pt modelId="{2AFA0248-91A5-4D6E-A24D-29ACE8617C53}" type="pres">
      <dgm:prSet presAssocID="{01DA8CE5-3E8A-46F9-AEE7-B0B634C56C73}" presName="tx1" presStyleLbl="revTx" presStyleIdx="3" presStyleCnt="6"/>
      <dgm:spPr/>
      <dgm:t>
        <a:bodyPr/>
        <a:lstStyle/>
        <a:p>
          <a:endParaRPr lang="en-US"/>
        </a:p>
      </dgm:t>
    </dgm:pt>
    <dgm:pt modelId="{D0EE7508-5032-461E-9653-9421DB8D3620}" type="pres">
      <dgm:prSet presAssocID="{01DA8CE5-3E8A-46F9-AEE7-B0B634C56C73}" presName="vert1" presStyleCnt="0"/>
      <dgm:spPr/>
    </dgm:pt>
    <dgm:pt modelId="{2FF29899-79A2-42F0-BC33-4A19253A220C}" type="pres">
      <dgm:prSet presAssocID="{0E008069-78E2-4366-8E05-FCF3DDF4ACE9}" presName="thickLine" presStyleLbl="alignNode1" presStyleIdx="4" presStyleCnt="6"/>
      <dgm:spPr/>
    </dgm:pt>
    <dgm:pt modelId="{1869601A-0DF6-45F6-9D69-6D15686C96B6}" type="pres">
      <dgm:prSet presAssocID="{0E008069-78E2-4366-8E05-FCF3DDF4ACE9}" presName="horz1" presStyleCnt="0"/>
      <dgm:spPr/>
    </dgm:pt>
    <dgm:pt modelId="{33657BEA-B38D-4432-B02E-C3D7AD7F8417}" type="pres">
      <dgm:prSet presAssocID="{0E008069-78E2-4366-8E05-FCF3DDF4ACE9}" presName="tx1" presStyleLbl="revTx" presStyleIdx="4" presStyleCnt="6"/>
      <dgm:spPr/>
      <dgm:t>
        <a:bodyPr/>
        <a:lstStyle/>
        <a:p>
          <a:endParaRPr lang="en-US"/>
        </a:p>
      </dgm:t>
    </dgm:pt>
    <dgm:pt modelId="{D9E77C73-E6D4-415E-A6F5-9C056A84DCE9}" type="pres">
      <dgm:prSet presAssocID="{0E008069-78E2-4366-8E05-FCF3DDF4ACE9}" presName="vert1" presStyleCnt="0"/>
      <dgm:spPr/>
    </dgm:pt>
    <dgm:pt modelId="{500ED958-9A1A-4FBC-B944-C4FA5ED0EC6E}" type="pres">
      <dgm:prSet presAssocID="{4E6505D2-9949-4259-88E6-1CE01AFDA63A}" presName="thickLine" presStyleLbl="alignNode1" presStyleIdx="5" presStyleCnt="6"/>
      <dgm:spPr/>
    </dgm:pt>
    <dgm:pt modelId="{5470B5BF-8644-482E-B469-72E1B34B9897}" type="pres">
      <dgm:prSet presAssocID="{4E6505D2-9949-4259-88E6-1CE01AFDA63A}" presName="horz1" presStyleCnt="0"/>
      <dgm:spPr/>
    </dgm:pt>
    <dgm:pt modelId="{20DB378F-6D56-4974-B701-56460A058876}" type="pres">
      <dgm:prSet presAssocID="{4E6505D2-9949-4259-88E6-1CE01AFDA63A}" presName="tx1" presStyleLbl="revTx" presStyleIdx="5" presStyleCnt="6"/>
      <dgm:spPr/>
      <dgm:t>
        <a:bodyPr/>
        <a:lstStyle/>
        <a:p>
          <a:endParaRPr lang="en-US"/>
        </a:p>
      </dgm:t>
    </dgm:pt>
    <dgm:pt modelId="{A2FEE0E8-C415-45C9-9CCB-9FC1E6821918}" type="pres">
      <dgm:prSet presAssocID="{4E6505D2-9949-4259-88E6-1CE01AFDA63A}" presName="vert1" presStyleCnt="0"/>
      <dgm:spPr/>
    </dgm:pt>
  </dgm:ptLst>
  <dgm:cxnLst>
    <dgm:cxn modelId="{E1AAB8F8-0686-441A-AA9D-554BC7197D08}" type="presOf" srcId="{1E724975-4356-4E23-A736-DA10A9D11B03}" destId="{913372B7-92D1-4782-AD4E-760441221E68}" srcOrd="0" destOrd="0" presId="urn:microsoft.com/office/officeart/2008/layout/LinedList"/>
    <dgm:cxn modelId="{2874DCAF-98B5-46AB-98F8-5B14D88CC845}" type="presOf" srcId="{01DA8CE5-3E8A-46F9-AEE7-B0B634C56C73}" destId="{2AFA0248-91A5-4D6E-A24D-29ACE8617C53}" srcOrd="0" destOrd="0" presId="urn:microsoft.com/office/officeart/2008/layout/LinedList"/>
    <dgm:cxn modelId="{27FE1F65-D673-4E12-B3B8-20EB4E0F83B0}" srcId="{9BB0D062-1347-4D11-AE52-4F8EE36C9A73}" destId="{01DA8CE5-3E8A-46F9-AEE7-B0B634C56C73}" srcOrd="3" destOrd="0" parTransId="{5A5F65ED-6EAB-4C47-8C7D-20C75A4E4E33}" sibTransId="{59B7AEF3-427F-4CE8-90C5-F213133E9128}"/>
    <dgm:cxn modelId="{8E115380-ED1A-4A75-BC5A-5BB4795481D5}" type="presOf" srcId="{4E6505D2-9949-4259-88E6-1CE01AFDA63A}" destId="{20DB378F-6D56-4974-B701-56460A058876}" srcOrd="0" destOrd="0" presId="urn:microsoft.com/office/officeart/2008/layout/LinedList"/>
    <dgm:cxn modelId="{B1052A79-6595-4CA1-BBF6-05B4B4A8BDCC}" srcId="{9BB0D062-1347-4D11-AE52-4F8EE36C9A73}" destId="{1E724975-4356-4E23-A736-DA10A9D11B03}" srcOrd="1" destOrd="0" parTransId="{CAE2DD2F-914F-497C-A0CA-FA8C369D133A}" sibTransId="{BB963898-5756-4FCD-B901-A25D11982D60}"/>
    <dgm:cxn modelId="{EBB4A482-8306-447A-9AAF-E492134776F8}" srcId="{9BB0D062-1347-4D11-AE52-4F8EE36C9A73}" destId="{0E008069-78E2-4366-8E05-FCF3DDF4ACE9}" srcOrd="4" destOrd="0" parTransId="{59D1793F-CB78-44B4-811E-3C9782C59A70}" sibTransId="{D44E453F-F111-4B1A-81B5-BF2CE8F54349}"/>
    <dgm:cxn modelId="{1694577A-4742-4F3C-AF30-674D9737E413}" type="presOf" srcId="{1F3C108B-6D07-48A7-B697-A4FE78624F9F}" destId="{D05184BA-3B38-45F2-93CC-BD15339E4B6B}" srcOrd="0" destOrd="0" presId="urn:microsoft.com/office/officeart/2008/layout/LinedList"/>
    <dgm:cxn modelId="{9D5E6AA9-EBC2-4C56-83F8-3BD2B5DC9A6B}" type="presOf" srcId="{9BB0D062-1347-4D11-AE52-4F8EE36C9A73}" destId="{4E88250E-1F89-498F-A12E-A24C2E6E31B5}" srcOrd="0" destOrd="0" presId="urn:microsoft.com/office/officeart/2008/layout/LinedList"/>
    <dgm:cxn modelId="{593544E8-AA4F-44D5-B401-640792BA8334}" type="presOf" srcId="{0E008069-78E2-4366-8E05-FCF3DDF4ACE9}" destId="{33657BEA-B38D-4432-B02E-C3D7AD7F8417}" srcOrd="0" destOrd="0" presId="urn:microsoft.com/office/officeart/2008/layout/LinedList"/>
    <dgm:cxn modelId="{C6408A7F-1505-4F50-A0DC-3C975824425D}" srcId="{9BB0D062-1347-4D11-AE52-4F8EE36C9A73}" destId="{1F3C108B-6D07-48A7-B697-A4FE78624F9F}" srcOrd="2" destOrd="0" parTransId="{F736AC4D-19E1-4C3F-8BDD-98643EF7ED46}" sibTransId="{4EC33049-AD23-4573-A65C-A1BBCCA0DEC7}"/>
    <dgm:cxn modelId="{0870623D-5B98-448E-87BF-16897628DA1C}" srcId="{9BB0D062-1347-4D11-AE52-4F8EE36C9A73}" destId="{91A87D7C-C37C-4B55-A4C3-502BB785E815}" srcOrd="0" destOrd="0" parTransId="{DFCC608D-2E89-477E-B8C3-A56D276CBD1F}" sibTransId="{5552CDA5-F4AA-4305-B007-5D2FD9C71971}"/>
    <dgm:cxn modelId="{CCE402C8-4C6E-4D65-8A6C-E1BAA692D822}" type="presOf" srcId="{91A87D7C-C37C-4B55-A4C3-502BB785E815}" destId="{F40262DE-03AE-42C0-9A48-D59B60D6866C}" srcOrd="0" destOrd="0" presId="urn:microsoft.com/office/officeart/2008/layout/LinedList"/>
    <dgm:cxn modelId="{9E56E250-7DDD-4892-9EC5-72F042B78BB1}" srcId="{9BB0D062-1347-4D11-AE52-4F8EE36C9A73}" destId="{4E6505D2-9949-4259-88E6-1CE01AFDA63A}" srcOrd="5" destOrd="0" parTransId="{0DAE9FFF-142D-4052-8DC6-4966923E9082}" sibTransId="{950FC9B0-4741-4727-A8EA-2FE06A8D727A}"/>
    <dgm:cxn modelId="{B032AB95-CB4E-44D0-97E4-C66E72F6ABAD}" type="presParOf" srcId="{4E88250E-1F89-498F-A12E-A24C2E6E31B5}" destId="{B06DCC44-599B-4E51-9215-86AE31EEF95F}" srcOrd="0" destOrd="0" presId="urn:microsoft.com/office/officeart/2008/layout/LinedList"/>
    <dgm:cxn modelId="{72B9931B-89E6-4E9F-8DF9-2A418854F8E3}" type="presParOf" srcId="{4E88250E-1F89-498F-A12E-A24C2E6E31B5}" destId="{A0EA614A-C377-44BB-8EE6-9D976BD14F76}" srcOrd="1" destOrd="0" presId="urn:microsoft.com/office/officeart/2008/layout/LinedList"/>
    <dgm:cxn modelId="{D2F77A9B-8ACC-441C-8CA7-CE5AE6EC5CDB}" type="presParOf" srcId="{A0EA614A-C377-44BB-8EE6-9D976BD14F76}" destId="{F40262DE-03AE-42C0-9A48-D59B60D6866C}" srcOrd="0" destOrd="0" presId="urn:microsoft.com/office/officeart/2008/layout/LinedList"/>
    <dgm:cxn modelId="{6EB46A4A-933F-49C2-8A1B-F0ED51455636}" type="presParOf" srcId="{A0EA614A-C377-44BB-8EE6-9D976BD14F76}" destId="{CA58093C-C144-4A36-85AC-E88409C51CE7}" srcOrd="1" destOrd="0" presId="urn:microsoft.com/office/officeart/2008/layout/LinedList"/>
    <dgm:cxn modelId="{A2FF1F9B-CD02-4B19-91A3-7EE06103C494}" type="presParOf" srcId="{4E88250E-1F89-498F-A12E-A24C2E6E31B5}" destId="{40967EBA-6884-4498-9E73-A0ED0C0F7FB5}" srcOrd="2" destOrd="0" presId="urn:microsoft.com/office/officeart/2008/layout/LinedList"/>
    <dgm:cxn modelId="{7DF472D0-FAAA-4847-91E8-6F92DD61156B}" type="presParOf" srcId="{4E88250E-1F89-498F-A12E-A24C2E6E31B5}" destId="{D49EA382-B0AE-4389-B8E1-0C8C1342B3A5}" srcOrd="3" destOrd="0" presId="urn:microsoft.com/office/officeart/2008/layout/LinedList"/>
    <dgm:cxn modelId="{AE2B0EBF-6E93-4A99-9C2F-50116C9682A0}" type="presParOf" srcId="{D49EA382-B0AE-4389-B8E1-0C8C1342B3A5}" destId="{913372B7-92D1-4782-AD4E-760441221E68}" srcOrd="0" destOrd="0" presId="urn:microsoft.com/office/officeart/2008/layout/LinedList"/>
    <dgm:cxn modelId="{EF3FC66B-0F75-4E34-9E90-DACA81B495E6}" type="presParOf" srcId="{D49EA382-B0AE-4389-B8E1-0C8C1342B3A5}" destId="{5532C014-F8C3-4C80-9CC2-547467A8A7B5}" srcOrd="1" destOrd="0" presId="urn:microsoft.com/office/officeart/2008/layout/LinedList"/>
    <dgm:cxn modelId="{BA664DEB-E313-470D-8DFC-839A2D287742}" type="presParOf" srcId="{4E88250E-1F89-498F-A12E-A24C2E6E31B5}" destId="{A7494E47-2CB3-4106-838B-5F1FFC06B403}" srcOrd="4" destOrd="0" presId="urn:microsoft.com/office/officeart/2008/layout/LinedList"/>
    <dgm:cxn modelId="{F87E207B-53AF-44C8-A9C8-FC61089144A9}" type="presParOf" srcId="{4E88250E-1F89-498F-A12E-A24C2E6E31B5}" destId="{A090D9BD-9F9E-4491-87F9-627641A0FE40}" srcOrd="5" destOrd="0" presId="urn:microsoft.com/office/officeart/2008/layout/LinedList"/>
    <dgm:cxn modelId="{F431CFF1-D8D5-420A-A440-CEBD9599454A}" type="presParOf" srcId="{A090D9BD-9F9E-4491-87F9-627641A0FE40}" destId="{D05184BA-3B38-45F2-93CC-BD15339E4B6B}" srcOrd="0" destOrd="0" presId="urn:microsoft.com/office/officeart/2008/layout/LinedList"/>
    <dgm:cxn modelId="{729F7958-8FF2-4D3B-A0B5-26829EFD863B}" type="presParOf" srcId="{A090D9BD-9F9E-4491-87F9-627641A0FE40}" destId="{AE20885F-6A05-49EE-A966-524FBE8EED1D}" srcOrd="1" destOrd="0" presId="urn:microsoft.com/office/officeart/2008/layout/LinedList"/>
    <dgm:cxn modelId="{FF640B42-6EB3-4878-9992-5C61E7285FD6}" type="presParOf" srcId="{4E88250E-1F89-498F-A12E-A24C2E6E31B5}" destId="{DBB95869-4623-48F8-B1CE-F6E65F24693C}" srcOrd="6" destOrd="0" presId="urn:microsoft.com/office/officeart/2008/layout/LinedList"/>
    <dgm:cxn modelId="{D7199837-C33F-4E97-8DF0-111A3732FCA1}" type="presParOf" srcId="{4E88250E-1F89-498F-A12E-A24C2E6E31B5}" destId="{44FF4986-4C2A-4252-8895-1FD3B0BF00DB}" srcOrd="7" destOrd="0" presId="urn:microsoft.com/office/officeart/2008/layout/LinedList"/>
    <dgm:cxn modelId="{6FBC0861-D3B1-4BEA-9ADE-B4024F599DFD}" type="presParOf" srcId="{44FF4986-4C2A-4252-8895-1FD3B0BF00DB}" destId="{2AFA0248-91A5-4D6E-A24D-29ACE8617C53}" srcOrd="0" destOrd="0" presId="urn:microsoft.com/office/officeart/2008/layout/LinedList"/>
    <dgm:cxn modelId="{2E86F546-60EF-4382-BE96-0AF193AE00A6}" type="presParOf" srcId="{44FF4986-4C2A-4252-8895-1FD3B0BF00DB}" destId="{D0EE7508-5032-461E-9653-9421DB8D3620}" srcOrd="1" destOrd="0" presId="urn:microsoft.com/office/officeart/2008/layout/LinedList"/>
    <dgm:cxn modelId="{F06C4025-7B93-4FC6-A3C5-B0CAAF265962}" type="presParOf" srcId="{4E88250E-1F89-498F-A12E-A24C2E6E31B5}" destId="{2FF29899-79A2-42F0-BC33-4A19253A220C}" srcOrd="8" destOrd="0" presId="urn:microsoft.com/office/officeart/2008/layout/LinedList"/>
    <dgm:cxn modelId="{7A0BBB4D-C52A-44AC-931E-E65633DF198F}" type="presParOf" srcId="{4E88250E-1F89-498F-A12E-A24C2E6E31B5}" destId="{1869601A-0DF6-45F6-9D69-6D15686C96B6}" srcOrd="9" destOrd="0" presId="urn:microsoft.com/office/officeart/2008/layout/LinedList"/>
    <dgm:cxn modelId="{5C793AFB-0DEF-4812-9795-C56D1FDFFA78}" type="presParOf" srcId="{1869601A-0DF6-45F6-9D69-6D15686C96B6}" destId="{33657BEA-B38D-4432-B02E-C3D7AD7F8417}" srcOrd="0" destOrd="0" presId="urn:microsoft.com/office/officeart/2008/layout/LinedList"/>
    <dgm:cxn modelId="{20CBB416-F6FB-4FEC-9C69-D3F2A0D61BA2}" type="presParOf" srcId="{1869601A-0DF6-45F6-9D69-6D15686C96B6}" destId="{D9E77C73-E6D4-415E-A6F5-9C056A84DCE9}" srcOrd="1" destOrd="0" presId="urn:microsoft.com/office/officeart/2008/layout/LinedList"/>
    <dgm:cxn modelId="{1EE6E7BA-E5E6-4DDB-8DAD-8799C15EDB31}" type="presParOf" srcId="{4E88250E-1F89-498F-A12E-A24C2E6E31B5}" destId="{500ED958-9A1A-4FBC-B944-C4FA5ED0EC6E}" srcOrd="10" destOrd="0" presId="urn:microsoft.com/office/officeart/2008/layout/LinedList"/>
    <dgm:cxn modelId="{E79711F7-55DB-4A58-9AAE-E694A317B765}" type="presParOf" srcId="{4E88250E-1F89-498F-A12E-A24C2E6E31B5}" destId="{5470B5BF-8644-482E-B469-72E1B34B9897}" srcOrd="11" destOrd="0" presId="urn:microsoft.com/office/officeart/2008/layout/LinedList"/>
    <dgm:cxn modelId="{ECD69DE4-817A-4DAE-B9B4-5D1F560FD62E}" type="presParOf" srcId="{5470B5BF-8644-482E-B469-72E1B34B9897}" destId="{20DB378F-6D56-4974-B701-56460A058876}" srcOrd="0" destOrd="0" presId="urn:microsoft.com/office/officeart/2008/layout/LinedList"/>
    <dgm:cxn modelId="{691C427D-9DEA-4C6F-922B-EF8B8EBF70F2}" type="presParOf" srcId="{5470B5BF-8644-482E-B469-72E1B34B9897}" destId="{A2FEE0E8-C415-45C9-9CCB-9FC1E682191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66EF6C-CD9A-420F-8239-D53DDE327AB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D47BEDF-46C4-47DD-AA73-0B4A475EC01F}">
      <dgm:prSet/>
      <dgm:spPr/>
      <dgm:t>
        <a:bodyPr/>
        <a:lstStyle/>
        <a:p>
          <a:pPr>
            <a:defRPr b="1"/>
          </a:pPr>
          <a:r>
            <a:rPr lang="en-AU"/>
            <a:t>The Supreme Court</a:t>
          </a:r>
          <a:endParaRPr lang="en-US"/>
        </a:p>
      </dgm:t>
    </dgm:pt>
    <dgm:pt modelId="{2271CEF0-D174-4D17-86BD-D5D571897358}" type="parTrans" cxnId="{E11B6240-BE1F-45FE-8B94-B5B7EB8961DC}">
      <dgm:prSet/>
      <dgm:spPr/>
      <dgm:t>
        <a:bodyPr/>
        <a:lstStyle/>
        <a:p>
          <a:endParaRPr lang="en-US"/>
        </a:p>
      </dgm:t>
    </dgm:pt>
    <dgm:pt modelId="{902B9BF8-E4E1-486C-B32E-9F97B7552830}" type="sibTrans" cxnId="{E11B6240-BE1F-45FE-8B94-B5B7EB8961DC}">
      <dgm:prSet/>
      <dgm:spPr/>
      <dgm:t>
        <a:bodyPr/>
        <a:lstStyle/>
        <a:p>
          <a:endParaRPr lang="en-US"/>
        </a:p>
      </dgm:t>
    </dgm:pt>
    <dgm:pt modelId="{5301C976-019C-46CE-B8D7-84E0EEE05447}">
      <dgm:prSet custT="1"/>
      <dgm:spPr/>
      <dgm:t>
        <a:bodyPr/>
        <a:lstStyle/>
        <a:p>
          <a:r>
            <a:rPr lang="en-AU" sz="2500" dirty="0"/>
            <a:t>From 1933 to 1936, FDR encountered legal obstacles to parts of his New Deal</a:t>
          </a:r>
          <a:endParaRPr lang="en-US" sz="2500" dirty="0"/>
        </a:p>
      </dgm:t>
    </dgm:pt>
    <dgm:pt modelId="{995BCE4D-1048-445C-819A-6BBADF62B45E}" type="parTrans" cxnId="{08DDA230-E1BE-491E-A06E-BA0BB26BA38F}">
      <dgm:prSet/>
      <dgm:spPr/>
      <dgm:t>
        <a:bodyPr/>
        <a:lstStyle/>
        <a:p>
          <a:endParaRPr lang="en-US"/>
        </a:p>
      </dgm:t>
    </dgm:pt>
    <dgm:pt modelId="{D15DD7DC-5F45-4981-9E61-89F682062DDF}" type="sibTrans" cxnId="{08DDA230-E1BE-491E-A06E-BA0BB26BA38F}">
      <dgm:prSet/>
      <dgm:spPr/>
      <dgm:t>
        <a:bodyPr/>
        <a:lstStyle/>
        <a:p>
          <a:endParaRPr lang="en-US"/>
        </a:p>
      </dgm:t>
    </dgm:pt>
    <dgm:pt modelId="{364A8A80-A213-4158-9BB4-2E36355A58AC}">
      <dgm:prSet/>
      <dgm:spPr/>
      <dgm:t>
        <a:bodyPr/>
        <a:lstStyle/>
        <a:p>
          <a:pPr>
            <a:defRPr b="1"/>
          </a:pPr>
          <a:r>
            <a:rPr lang="en-AU"/>
            <a:t>The Right</a:t>
          </a:r>
          <a:endParaRPr lang="en-US"/>
        </a:p>
      </dgm:t>
    </dgm:pt>
    <dgm:pt modelId="{C0171228-86F4-403D-9F93-BFE2A6A3C250}" type="parTrans" cxnId="{A526BBC5-CCBF-4903-AE56-7DBB06642D18}">
      <dgm:prSet/>
      <dgm:spPr/>
      <dgm:t>
        <a:bodyPr/>
        <a:lstStyle/>
        <a:p>
          <a:endParaRPr lang="en-US"/>
        </a:p>
      </dgm:t>
    </dgm:pt>
    <dgm:pt modelId="{F76B71E4-4261-409A-917B-605265C9D491}" type="sibTrans" cxnId="{A526BBC5-CCBF-4903-AE56-7DBB06642D18}">
      <dgm:prSet/>
      <dgm:spPr/>
      <dgm:t>
        <a:bodyPr/>
        <a:lstStyle/>
        <a:p>
          <a:endParaRPr lang="en-US"/>
        </a:p>
      </dgm:t>
    </dgm:pt>
    <dgm:pt modelId="{959CE7F8-0C13-4D0A-915D-2F861F37B62C}">
      <dgm:prSet custT="1"/>
      <dgm:spPr/>
      <dgm:t>
        <a:bodyPr/>
        <a:lstStyle/>
        <a:p>
          <a:r>
            <a:rPr lang="en-AU" sz="2500" dirty="0"/>
            <a:t>Argued FDR’s measures went too far toward people relying on welfare</a:t>
          </a:r>
          <a:endParaRPr lang="en-US" sz="2500" dirty="0"/>
        </a:p>
      </dgm:t>
    </dgm:pt>
    <dgm:pt modelId="{6A75A679-DB66-4E3F-8FBA-BA7EE4535EDB}" type="parTrans" cxnId="{018E2DAD-6BA2-43BC-BAA0-792AFBAA16B1}">
      <dgm:prSet/>
      <dgm:spPr/>
      <dgm:t>
        <a:bodyPr/>
        <a:lstStyle/>
        <a:p>
          <a:endParaRPr lang="en-US"/>
        </a:p>
      </dgm:t>
    </dgm:pt>
    <dgm:pt modelId="{25709B01-60B0-4989-ABA7-88D77423A436}" type="sibTrans" cxnId="{018E2DAD-6BA2-43BC-BAA0-792AFBAA16B1}">
      <dgm:prSet/>
      <dgm:spPr/>
      <dgm:t>
        <a:bodyPr/>
        <a:lstStyle/>
        <a:p>
          <a:endParaRPr lang="en-US"/>
        </a:p>
      </dgm:t>
    </dgm:pt>
    <dgm:pt modelId="{57700079-D0EC-4DD3-B5C6-40EE6F08568A}">
      <dgm:prSet/>
      <dgm:spPr/>
      <dgm:t>
        <a:bodyPr/>
        <a:lstStyle/>
        <a:p>
          <a:pPr>
            <a:defRPr b="1"/>
          </a:pPr>
          <a:r>
            <a:rPr lang="en-AU"/>
            <a:t>The Left</a:t>
          </a:r>
          <a:endParaRPr lang="en-US"/>
        </a:p>
      </dgm:t>
    </dgm:pt>
    <dgm:pt modelId="{5A1DA0C1-D210-4ECA-8A05-C26CC90C938A}" type="parTrans" cxnId="{D222313D-7461-42DC-9817-6FB790A32CDB}">
      <dgm:prSet/>
      <dgm:spPr/>
      <dgm:t>
        <a:bodyPr/>
        <a:lstStyle/>
        <a:p>
          <a:endParaRPr lang="en-US"/>
        </a:p>
      </dgm:t>
    </dgm:pt>
    <dgm:pt modelId="{7E7AC9F8-DFF4-4503-A1A1-553D4A9CC563}" type="sibTrans" cxnId="{D222313D-7461-42DC-9817-6FB790A32CDB}">
      <dgm:prSet/>
      <dgm:spPr/>
      <dgm:t>
        <a:bodyPr/>
        <a:lstStyle/>
        <a:p>
          <a:endParaRPr lang="en-US"/>
        </a:p>
      </dgm:t>
    </dgm:pt>
    <dgm:pt modelId="{F2CC4A1F-C22B-4FED-9989-F4494AFCE40A}">
      <dgm:prSet custT="1"/>
      <dgm:spPr/>
      <dgm:t>
        <a:bodyPr/>
        <a:lstStyle/>
        <a:p>
          <a:r>
            <a:rPr lang="en-AU" sz="2500" dirty="0"/>
            <a:t>Argued FDR’s measures did not go far enough</a:t>
          </a:r>
          <a:endParaRPr lang="en-US" sz="2500" dirty="0"/>
        </a:p>
      </dgm:t>
    </dgm:pt>
    <dgm:pt modelId="{ACB469CB-7810-4D06-AF6F-C79D3D6D2179}" type="parTrans" cxnId="{F8279EE1-4B50-4D5F-BA57-2BF7896C80DF}">
      <dgm:prSet/>
      <dgm:spPr/>
      <dgm:t>
        <a:bodyPr/>
        <a:lstStyle/>
        <a:p>
          <a:endParaRPr lang="en-US"/>
        </a:p>
      </dgm:t>
    </dgm:pt>
    <dgm:pt modelId="{5B99E20A-3A3A-423C-9157-4D860C8ED500}" type="sibTrans" cxnId="{F8279EE1-4B50-4D5F-BA57-2BF7896C80DF}">
      <dgm:prSet/>
      <dgm:spPr/>
      <dgm:t>
        <a:bodyPr/>
        <a:lstStyle/>
        <a:p>
          <a:endParaRPr lang="en-US"/>
        </a:p>
      </dgm:t>
    </dgm:pt>
    <dgm:pt modelId="{1C1A4A85-43FB-4E39-89F9-889763E4D856}" type="pres">
      <dgm:prSet presAssocID="{2366EF6C-CD9A-420F-8239-D53DDE327AB3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619B63F-7C8A-4F4D-96D1-D8EB641335FB}" type="pres">
      <dgm:prSet presAssocID="{3D47BEDF-46C4-47DD-AA73-0B4A475EC01F}" presName="compNode" presStyleCnt="0"/>
      <dgm:spPr/>
    </dgm:pt>
    <dgm:pt modelId="{47B80729-EBFA-462A-A8AD-1DAE8DB2C2F1}" type="pres">
      <dgm:prSet presAssocID="{3D47BEDF-46C4-47DD-AA73-0B4A475EC01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5BEC029D-8F9E-43B4-A5ED-AC5BAAFECFAA}" type="pres">
      <dgm:prSet presAssocID="{3D47BEDF-46C4-47DD-AA73-0B4A475EC01F}" presName="iconSpace" presStyleCnt="0"/>
      <dgm:spPr/>
    </dgm:pt>
    <dgm:pt modelId="{3C80F25D-23C6-427A-A023-1CAA186B5235}" type="pres">
      <dgm:prSet presAssocID="{3D47BEDF-46C4-47DD-AA73-0B4A475EC01F}" presName="parTx" presStyleLbl="revTx" presStyleIdx="0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AB80DA15-73D6-4161-8470-CE599B64A083}" type="pres">
      <dgm:prSet presAssocID="{3D47BEDF-46C4-47DD-AA73-0B4A475EC01F}" presName="txSpace" presStyleCnt="0"/>
      <dgm:spPr/>
    </dgm:pt>
    <dgm:pt modelId="{0FAC5188-E33B-44F8-A3D2-F98367AF83AE}" type="pres">
      <dgm:prSet presAssocID="{3D47BEDF-46C4-47DD-AA73-0B4A475EC01F}" presName="desTx" presStyleLbl="revTx" presStyleIdx="1" presStyleCnt="6" custScaleY="136493" custLinFactNeighborX="-13" custLinFactNeighborY="73053">
        <dgm:presLayoutVars/>
      </dgm:prSet>
      <dgm:spPr/>
      <dgm:t>
        <a:bodyPr/>
        <a:lstStyle/>
        <a:p>
          <a:endParaRPr lang="en-US"/>
        </a:p>
      </dgm:t>
    </dgm:pt>
    <dgm:pt modelId="{CCCB9900-0BB8-4B01-BCD3-4FCA1EEBE61C}" type="pres">
      <dgm:prSet presAssocID="{902B9BF8-E4E1-486C-B32E-9F97B7552830}" presName="sibTrans" presStyleCnt="0"/>
      <dgm:spPr/>
    </dgm:pt>
    <dgm:pt modelId="{49ED6015-4119-4B6E-B456-0CA1DD25D382}" type="pres">
      <dgm:prSet presAssocID="{364A8A80-A213-4158-9BB4-2E36355A58AC}" presName="compNode" presStyleCnt="0"/>
      <dgm:spPr/>
    </dgm:pt>
    <dgm:pt modelId="{6C39BD3D-DB6B-4FE3-A494-7EB03568FF50}" type="pres">
      <dgm:prSet presAssocID="{364A8A80-A213-4158-9BB4-2E36355A58AC}" presName="iconRect" presStyleLbl="node1" presStyleIdx="1" presStyleCnt="3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4"/>
              </a:ext>
            </a:extLst>
          </a:blip>
          <a:srcRect/>
          <a:stretch>
            <a:fillRect l="-1000" r="-1000"/>
          </a:stretch>
        </a:blipFill>
        <a:ln>
          <a:noFill/>
        </a:ln>
      </dgm:spPr>
      <dgm:extLst/>
    </dgm:pt>
    <dgm:pt modelId="{9A1EFCCC-7902-40BD-A5D1-8215A41737E6}" type="pres">
      <dgm:prSet presAssocID="{364A8A80-A213-4158-9BB4-2E36355A58AC}" presName="iconSpace" presStyleCnt="0"/>
      <dgm:spPr/>
    </dgm:pt>
    <dgm:pt modelId="{0BBC3225-6371-4FDF-9DFC-D0ADABD89F93}" type="pres">
      <dgm:prSet presAssocID="{364A8A80-A213-4158-9BB4-2E36355A58AC}" presName="parTx" presStyleLbl="revTx" presStyleIdx="2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1B96E16B-697C-4416-92B5-D6B86F256330}" type="pres">
      <dgm:prSet presAssocID="{364A8A80-A213-4158-9BB4-2E36355A58AC}" presName="txSpace" presStyleCnt="0"/>
      <dgm:spPr/>
    </dgm:pt>
    <dgm:pt modelId="{40736ED9-DF7F-4506-A469-5A84A95979F5}" type="pres">
      <dgm:prSet presAssocID="{364A8A80-A213-4158-9BB4-2E36355A58AC}" presName="desTx" presStyleLbl="revTx" presStyleIdx="3" presStyleCnt="6">
        <dgm:presLayoutVars/>
      </dgm:prSet>
      <dgm:spPr/>
      <dgm:t>
        <a:bodyPr/>
        <a:lstStyle/>
        <a:p>
          <a:endParaRPr lang="en-US"/>
        </a:p>
      </dgm:t>
    </dgm:pt>
    <dgm:pt modelId="{D2639246-645A-4117-B36F-27E860F1AE13}" type="pres">
      <dgm:prSet presAssocID="{F76B71E4-4261-409A-917B-605265C9D491}" presName="sibTrans" presStyleCnt="0"/>
      <dgm:spPr/>
    </dgm:pt>
    <dgm:pt modelId="{D3F74317-9FC6-4493-8E6D-F9533E73C919}" type="pres">
      <dgm:prSet presAssocID="{57700079-D0EC-4DD3-B5C6-40EE6F08568A}" presName="compNode" presStyleCnt="0"/>
      <dgm:spPr/>
    </dgm:pt>
    <dgm:pt modelId="{633BB4AE-9835-4061-8860-84A377453777}" type="pres">
      <dgm:prSet presAssocID="{57700079-D0EC-4DD3-B5C6-40EE6F08568A}" presName="iconRect" presStyleLbl="node1" presStyleIdx="2" presStyleCnt="3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6"/>
              </a:ext>
            </a:extLst>
          </a:blip>
          <a:srcRect/>
          <a:stretch>
            <a:fillRect l="-1000" r="-1000"/>
          </a:stretch>
        </a:blipFill>
        <a:ln>
          <a:noFill/>
        </a:ln>
      </dgm:spPr>
      <dgm:extLst/>
    </dgm:pt>
    <dgm:pt modelId="{59379E37-1633-4AFA-A2E6-322570E55854}" type="pres">
      <dgm:prSet presAssocID="{57700079-D0EC-4DD3-B5C6-40EE6F08568A}" presName="iconSpace" presStyleCnt="0"/>
      <dgm:spPr/>
    </dgm:pt>
    <dgm:pt modelId="{378C0316-8106-4BD9-B29C-75EA9B3D5C6A}" type="pres">
      <dgm:prSet presAssocID="{57700079-D0EC-4DD3-B5C6-40EE6F08568A}" presName="parTx" presStyleLbl="revTx" presStyleIdx="4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A4C0C10B-5F80-4EAF-8BDA-15B2BAE37B86}" type="pres">
      <dgm:prSet presAssocID="{57700079-D0EC-4DD3-B5C6-40EE6F08568A}" presName="txSpace" presStyleCnt="0"/>
      <dgm:spPr/>
    </dgm:pt>
    <dgm:pt modelId="{7CF332DB-6B29-473B-B7B7-0576F51FCB73}" type="pres">
      <dgm:prSet presAssocID="{57700079-D0EC-4DD3-B5C6-40EE6F08568A}" presName="desTx" presStyleLbl="revTx" presStyleIdx="5" presStyleCnt="6">
        <dgm:presLayoutVars/>
      </dgm:prSet>
      <dgm:spPr/>
      <dgm:t>
        <a:bodyPr/>
        <a:lstStyle/>
        <a:p>
          <a:endParaRPr lang="en-US"/>
        </a:p>
      </dgm:t>
    </dgm:pt>
  </dgm:ptLst>
  <dgm:cxnLst>
    <dgm:cxn modelId="{4370C565-FB61-43DB-8192-037F7BEF96AE}" type="presOf" srcId="{959CE7F8-0C13-4D0A-915D-2F861F37B62C}" destId="{40736ED9-DF7F-4506-A469-5A84A95979F5}" srcOrd="0" destOrd="0" presId="urn:microsoft.com/office/officeart/2018/5/layout/CenteredIconLabelDescriptionList"/>
    <dgm:cxn modelId="{D222313D-7461-42DC-9817-6FB790A32CDB}" srcId="{2366EF6C-CD9A-420F-8239-D53DDE327AB3}" destId="{57700079-D0EC-4DD3-B5C6-40EE6F08568A}" srcOrd="2" destOrd="0" parTransId="{5A1DA0C1-D210-4ECA-8A05-C26CC90C938A}" sibTransId="{7E7AC9F8-DFF4-4503-A1A1-553D4A9CC563}"/>
    <dgm:cxn modelId="{98F99338-5F6C-46FE-A25A-B3F671086C07}" type="presOf" srcId="{F2CC4A1F-C22B-4FED-9989-F4494AFCE40A}" destId="{7CF332DB-6B29-473B-B7B7-0576F51FCB73}" srcOrd="0" destOrd="0" presId="urn:microsoft.com/office/officeart/2018/5/layout/CenteredIconLabelDescriptionList"/>
    <dgm:cxn modelId="{F8279EE1-4B50-4D5F-BA57-2BF7896C80DF}" srcId="{57700079-D0EC-4DD3-B5C6-40EE6F08568A}" destId="{F2CC4A1F-C22B-4FED-9989-F4494AFCE40A}" srcOrd="0" destOrd="0" parTransId="{ACB469CB-7810-4D06-AF6F-C79D3D6D2179}" sibTransId="{5B99E20A-3A3A-423C-9157-4D860C8ED500}"/>
    <dgm:cxn modelId="{BB6227D6-DE95-4AAA-81A0-F186CAEE3A59}" type="presOf" srcId="{3D47BEDF-46C4-47DD-AA73-0B4A475EC01F}" destId="{3C80F25D-23C6-427A-A023-1CAA186B5235}" srcOrd="0" destOrd="0" presId="urn:microsoft.com/office/officeart/2018/5/layout/CenteredIconLabelDescriptionList"/>
    <dgm:cxn modelId="{0F1A56D4-077D-4A20-91AA-9985E556AD1B}" type="presOf" srcId="{2366EF6C-CD9A-420F-8239-D53DDE327AB3}" destId="{1C1A4A85-43FB-4E39-89F9-889763E4D856}" srcOrd="0" destOrd="0" presId="urn:microsoft.com/office/officeart/2018/5/layout/CenteredIconLabelDescriptionList"/>
    <dgm:cxn modelId="{E11B6240-BE1F-45FE-8B94-B5B7EB8961DC}" srcId="{2366EF6C-CD9A-420F-8239-D53DDE327AB3}" destId="{3D47BEDF-46C4-47DD-AA73-0B4A475EC01F}" srcOrd="0" destOrd="0" parTransId="{2271CEF0-D174-4D17-86BD-D5D571897358}" sibTransId="{902B9BF8-E4E1-486C-B32E-9F97B7552830}"/>
    <dgm:cxn modelId="{4549DB24-C3F7-4A9D-AF6B-231DF3887AED}" type="presOf" srcId="{364A8A80-A213-4158-9BB4-2E36355A58AC}" destId="{0BBC3225-6371-4FDF-9DFC-D0ADABD89F93}" srcOrd="0" destOrd="0" presId="urn:microsoft.com/office/officeart/2018/5/layout/CenteredIconLabelDescriptionList"/>
    <dgm:cxn modelId="{08DDA230-E1BE-491E-A06E-BA0BB26BA38F}" srcId="{3D47BEDF-46C4-47DD-AA73-0B4A475EC01F}" destId="{5301C976-019C-46CE-B8D7-84E0EEE05447}" srcOrd="0" destOrd="0" parTransId="{995BCE4D-1048-445C-819A-6BBADF62B45E}" sibTransId="{D15DD7DC-5F45-4981-9E61-89F682062DDF}"/>
    <dgm:cxn modelId="{A526BBC5-CCBF-4903-AE56-7DBB06642D18}" srcId="{2366EF6C-CD9A-420F-8239-D53DDE327AB3}" destId="{364A8A80-A213-4158-9BB4-2E36355A58AC}" srcOrd="1" destOrd="0" parTransId="{C0171228-86F4-403D-9F93-BFE2A6A3C250}" sibTransId="{F76B71E4-4261-409A-917B-605265C9D491}"/>
    <dgm:cxn modelId="{4446F0DE-8EF2-4470-A805-F1E7176D50E6}" type="presOf" srcId="{5301C976-019C-46CE-B8D7-84E0EEE05447}" destId="{0FAC5188-E33B-44F8-A3D2-F98367AF83AE}" srcOrd="0" destOrd="0" presId="urn:microsoft.com/office/officeart/2018/5/layout/CenteredIconLabelDescriptionList"/>
    <dgm:cxn modelId="{2DE28A1D-527A-46AA-960B-150FEBCC6DE5}" type="presOf" srcId="{57700079-D0EC-4DD3-B5C6-40EE6F08568A}" destId="{378C0316-8106-4BD9-B29C-75EA9B3D5C6A}" srcOrd="0" destOrd="0" presId="urn:microsoft.com/office/officeart/2018/5/layout/CenteredIconLabelDescriptionList"/>
    <dgm:cxn modelId="{018E2DAD-6BA2-43BC-BAA0-792AFBAA16B1}" srcId="{364A8A80-A213-4158-9BB4-2E36355A58AC}" destId="{959CE7F8-0C13-4D0A-915D-2F861F37B62C}" srcOrd="0" destOrd="0" parTransId="{6A75A679-DB66-4E3F-8FBA-BA7EE4535EDB}" sibTransId="{25709B01-60B0-4989-ABA7-88D77423A436}"/>
    <dgm:cxn modelId="{FAB0B41F-DF84-4B1E-AF84-18788871E21F}" type="presParOf" srcId="{1C1A4A85-43FB-4E39-89F9-889763E4D856}" destId="{5619B63F-7C8A-4F4D-96D1-D8EB641335FB}" srcOrd="0" destOrd="0" presId="urn:microsoft.com/office/officeart/2018/5/layout/CenteredIconLabelDescriptionList"/>
    <dgm:cxn modelId="{BDFD9381-C587-4386-8151-30C9DF28EBE7}" type="presParOf" srcId="{5619B63F-7C8A-4F4D-96D1-D8EB641335FB}" destId="{47B80729-EBFA-462A-A8AD-1DAE8DB2C2F1}" srcOrd="0" destOrd="0" presId="urn:microsoft.com/office/officeart/2018/5/layout/CenteredIconLabelDescriptionList"/>
    <dgm:cxn modelId="{33053324-42DB-4852-8B68-038AA38036DD}" type="presParOf" srcId="{5619B63F-7C8A-4F4D-96D1-D8EB641335FB}" destId="{5BEC029D-8F9E-43B4-A5ED-AC5BAAFECFAA}" srcOrd="1" destOrd="0" presId="urn:microsoft.com/office/officeart/2018/5/layout/CenteredIconLabelDescriptionList"/>
    <dgm:cxn modelId="{15CF7B26-4DDA-42A6-BF61-C5A5ADC36CF1}" type="presParOf" srcId="{5619B63F-7C8A-4F4D-96D1-D8EB641335FB}" destId="{3C80F25D-23C6-427A-A023-1CAA186B5235}" srcOrd="2" destOrd="0" presId="urn:microsoft.com/office/officeart/2018/5/layout/CenteredIconLabelDescriptionList"/>
    <dgm:cxn modelId="{9237E81C-AC0A-4061-A200-73A4352012AF}" type="presParOf" srcId="{5619B63F-7C8A-4F4D-96D1-D8EB641335FB}" destId="{AB80DA15-73D6-4161-8470-CE599B64A083}" srcOrd="3" destOrd="0" presId="urn:microsoft.com/office/officeart/2018/5/layout/CenteredIconLabelDescriptionList"/>
    <dgm:cxn modelId="{3FDF3750-A33A-4F7D-8590-80555D50F96A}" type="presParOf" srcId="{5619B63F-7C8A-4F4D-96D1-D8EB641335FB}" destId="{0FAC5188-E33B-44F8-A3D2-F98367AF83AE}" srcOrd="4" destOrd="0" presId="urn:microsoft.com/office/officeart/2018/5/layout/CenteredIconLabelDescriptionList"/>
    <dgm:cxn modelId="{E1894CFD-34F4-431E-B841-2905FC8EBB3A}" type="presParOf" srcId="{1C1A4A85-43FB-4E39-89F9-889763E4D856}" destId="{CCCB9900-0BB8-4B01-BCD3-4FCA1EEBE61C}" srcOrd="1" destOrd="0" presId="urn:microsoft.com/office/officeart/2018/5/layout/CenteredIconLabelDescriptionList"/>
    <dgm:cxn modelId="{84FE0791-1701-48B7-A4F4-AC9C96064AFF}" type="presParOf" srcId="{1C1A4A85-43FB-4E39-89F9-889763E4D856}" destId="{49ED6015-4119-4B6E-B456-0CA1DD25D382}" srcOrd="2" destOrd="0" presId="urn:microsoft.com/office/officeart/2018/5/layout/CenteredIconLabelDescriptionList"/>
    <dgm:cxn modelId="{6E471F00-A6C8-422E-A675-174285EEF04F}" type="presParOf" srcId="{49ED6015-4119-4B6E-B456-0CA1DD25D382}" destId="{6C39BD3D-DB6B-4FE3-A494-7EB03568FF50}" srcOrd="0" destOrd="0" presId="urn:microsoft.com/office/officeart/2018/5/layout/CenteredIconLabelDescriptionList"/>
    <dgm:cxn modelId="{2867D6DB-EEA2-40D8-A7FD-353B79201387}" type="presParOf" srcId="{49ED6015-4119-4B6E-B456-0CA1DD25D382}" destId="{9A1EFCCC-7902-40BD-A5D1-8215A41737E6}" srcOrd="1" destOrd="0" presId="urn:microsoft.com/office/officeart/2018/5/layout/CenteredIconLabelDescriptionList"/>
    <dgm:cxn modelId="{3AAD77F7-FCAA-4451-A9FF-580CDFF0EF9B}" type="presParOf" srcId="{49ED6015-4119-4B6E-B456-0CA1DD25D382}" destId="{0BBC3225-6371-4FDF-9DFC-D0ADABD89F93}" srcOrd="2" destOrd="0" presId="urn:microsoft.com/office/officeart/2018/5/layout/CenteredIconLabelDescriptionList"/>
    <dgm:cxn modelId="{8761494F-61A1-4C37-82F1-2A314C79622A}" type="presParOf" srcId="{49ED6015-4119-4B6E-B456-0CA1DD25D382}" destId="{1B96E16B-697C-4416-92B5-D6B86F256330}" srcOrd="3" destOrd="0" presId="urn:microsoft.com/office/officeart/2018/5/layout/CenteredIconLabelDescriptionList"/>
    <dgm:cxn modelId="{2526354E-A858-4A66-A906-C67B8A08F1E8}" type="presParOf" srcId="{49ED6015-4119-4B6E-B456-0CA1DD25D382}" destId="{40736ED9-DF7F-4506-A469-5A84A95979F5}" srcOrd="4" destOrd="0" presId="urn:microsoft.com/office/officeart/2018/5/layout/CenteredIconLabelDescriptionList"/>
    <dgm:cxn modelId="{A270F82A-9CAC-4531-BC02-1C0212E591E2}" type="presParOf" srcId="{1C1A4A85-43FB-4E39-89F9-889763E4D856}" destId="{D2639246-645A-4117-B36F-27E860F1AE13}" srcOrd="3" destOrd="0" presId="urn:microsoft.com/office/officeart/2018/5/layout/CenteredIconLabelDescriptionList"/>
    <dgm:cxn modelId="{6ADA252E-F430-4BF6-8049-FA37566E5B15}" type="presParOf" srcId="{1C1A4A85-43FB-4E39-89F9-889763E4D856}" destId="{D3F74317-9FC6-4493-8E6D-F9533E73C919}" srcOrd="4" destOrd="0" presId="urn:microsoft.com/office/officeart/2018/5/layout/CenteredIconLabelDescriptionList"/>
    <dgm:cxn modelId="{C616517B-898A-4640-9971-6318A9F3FF98}" type="presParOf" srcId="{D3F74317-9FC6-4493-8E6D-F9533E73C919}" destId="{633BB4AE-9835-4061-8860-84A377453777}" srcOrd="0" destOrd="0" presId="urn:microsoft.com/office/officeart/2018/5/layout/CenteredIconLabelDescriptionList"/>
    <dgm:cxn modelId="{1B486A49-6629-4D2F-BC65-F5BC87177768}" type="presParOf" srcId="{D3F74317-9FC6-4493-8E6D-F9533E73C919}" destId="{59379E37-1633-4AFA-A2E6-322570E55854}" srcOrd="1" destOrd="0" presId="urn:microsoft.com/office/officeart/2018/5/layout/CenteredIconLabelDescriptionList"/>
    <dgm:cxn modelId="{4B675572-9201-40C6-B878-C13CD355DA0F}" type="presParOf" srcId="{D3F74317-9FC6-4493-8E6D-F9533E73C919}" destId="{378C0316-8106-4BD9-B29C-75EA9B3D5C6A}" srcOrd="2" destOrd="0" presId="urn:microsoft.com/office/officeart/2018/5/layout/CenteredIconLabelDescriptionList"/>
    <dgm:cxn modelId="{C99D5BDA-F700-40D4-AD52-A7B2AC872B71}" type="presParOf" srcId="{D3F74317-9FC6-4493-8E6D-F9533E73C919}" destId="{A4C0C10B-5F80-4EAF-8BDA-15B2BAE37B86}" srcOrd="3" destOrd="0" presId="urn:microsoft.com/office/officeart/2018/5/layout/CenteredIconLabelDescriptionList"/>
    <dgm:cxn modelId="{9070F312-F32A-4536-89CD-41831CBD75A1}" type="presParOf" srcId="{D3F74317-9FC6-4493-8E6D-F9533E73C919}" destId="{7CF332DB-6B29-473B-B7B7-0576F51FCB7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06821C-1F19-4A00-9B3B-0F0ACA7DE0B8}">
      <dsp:nvSpPr>
        <dsp:cNvPr id="0" name=""/>
        <dsp:cNvSpPr/>
      </dsp:nvSpPr>
      <dsp:spPr>
        <a:xfrm>
          <a:off x="5103" y="2039966"/>
          <a:ext cx="2231222" cy="133873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000" kern="1200" dirty="0">
              <a:solidFill>
                <a:schemeClr val="tx1"/>
              </a:solidFill>
            </a:rPr>
            <a:t>1865-1900</a:t>
          </a:r>
        </a:p>
      </dsp:txBody>
      <dsp:txXfrm>
        <a:off x="44313" y="2079176"/>
        <a:ext cx="2152802" cy="1260313"/>
      </dsp:txXfrm>
    </dsp:sp>
    <dsp:sp modelId="{6304FEC4-CF3B-4536-B425-3118E2375BF9}">
      <dsp:nvSpPr>
        <dsp:cNvPr id="0" name=""/>
        <dsp:cNvSpPr/>
      </dsp:nvSpPr>
      <dsp:spPr>
        <a:xfrm>
          <a:off x="2459447" y="2432661"/>
          <a:ext cx="473019" cy="5533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2300" kern="1200"/>
        </a:p>
      </dsp:txBody>
      <dsp:txXfrm>
        <a:off x="2459447" y="2543330"/>
        <a:ext cx="331113" cy="332005"/>
      </dsp:txXfrm>
    </dsp:sp>
    <dsp:sp modelId="{8A53EC44-DC2E-4B70-9A73-C950DF4FFAA4}">
      <dsp:nvSpPr>
        <dsp:cNvPr id="0" name=""/>
        <dsp:cNvSpPr/>
      </dsp:nvSpPr>
      <dsp:spPr>
        <a:xfrm>
          <a:off x="3128814" y="2039966"/>
          <a:ext cx="2231222" cy="1338733"/>
        </a:xfrm>
        <a:prstGeom prst="roundRect">
          <a:avLst>
            <a:gd name="adj" fmla="val 10000"/>
          </a:avLst>
        </a:prstGeom>
        <a:solidFill>
          <a:schemeClr val="accent4"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000" kern="1200" dirty="0">
              <a:solidFill>
                <a:schemeClr val="tx1"/>
              </a:solidFill>
            </a:rPr>
            <a:t>1900-1918</a:t>
          </a:r>
        </a:p>
      </dsp:txBody>
      <dsp:txXfrm>
        <a:off x="3168024" y="2079176"/>
        <a:ext cx="2152802" cy="1260313"/>
      </dsp:txXfrm>
    </dsp:sp>
    <dsp:sp modelId="{38E2D84E-56A4-493E-B435-7EA0C43155BF}">
      <dsp:nvSpPr>
        <dsp:cNvPr id="0" name=""/>
        <dsp:cNvSpPr/>
      </dsp:nvSpPr>
      <dsp:spPr>
        <a:xfrm>
          <a:off x="5583159" y="2432661"/>
          <a:ext cx="473019" cy="5533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2300" kern="1200"/>
        </a:p>
      </dsp:txBody>
      <dsp:txXfrm>
        <a:off x="5583159" y="2543330"/>
        <a:ext cx="331113" cy="332005"/>
      </dsp:txXfrm>
    </dsp:sp>
    <dsp:sp modelId="{783D4E1C-F4EC-4C9B-B104-801715AE1D46}">
      <dsp:nvSpPr>
        <dsp:cNvPr id="0" name=""/>
        <dsp:cNvSpPr/>
      </dsp:nvSpPr>
      <dsp:spPr>
        <a:xfrm>
          <a:off x="6252525" y="2039966"/>
          <a:ext cx="2231222" cy="1338733"/>
        </a:xfrm>
        <a:prstGeom prst="roundRect">
          <a:avLst>
            <a:gd name="adj" fmla="val 10000"/>
          </a:avLst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000" kern="1200" dirty="0">
              <a:solidFill>
                <a:schemeClr val="tx1"/>
              </a:solidFill>
            </a:rPr>
            <a:t>1918-1920</a:t>
          </a:r>
        </a:p>
      </dsp:txBody>
      <dsp:txXfrm>
        <a:off x="6291735" y="2079176"/>
        <a:ext cx="2152802" cy="1260313"/>
      </dsp:txXfrm>
    </dsp:sp>
    <dsp:sp modelId="{92B836B6-C84D-42E7-BA89-D7B2F73152AC}">
      <dsp:nvSpPr>
        <dsp:cNvPr id="0" name=""/>
        <dsp:cNvSpPr/>
      </dsp:nvSpPr>
      <dsp:spPr>
        <a:xfrm>
          <a:off x="8706870" y="2432661"/>
          <a:ext cx="473019" cy="5533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2300" kern="1200"/>
        </a:p>
      </dsp:txBody>
      <dsp:txXfrm>
        <a:off x="8706870" y="2543330"/>
        <a:ext cx="331113" cy="332005"/>
      </dsp:txXfrm>
    </dsp:sp>
    <dsp:sp modelId="{D48D0B70-C6E7-4AF4-8FDA-F364B2B3F290}">
      <dsp:nvSpPr>
        <dsp:cNvPr id="0" name=""/>
        <dsp:cNvSpPr/>
      </dsp:nvSpPr>
      <dsp:spPr>
        <a:xfrm>
          <a:off x="9376237" y="2039966"/>
          <a:ext cx="2231222" cy="1338733"/>
        </a:xfrm>
        <a:prstGeom prst="roundRect">
          <a:avLst>
            <a:gd name="adj" fmla="val 10000"/>
          </a:avLst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000" kern="1200" dirty="0">
              <a:solidFill>
                <a:schemeClr val="tx1"/>
              </a:solidFill>
            </a:rPr>
            <a:t>1920-1929</a:t>
          </a:r>
        </a:p>
      </dsp:txBody>
      <dsp:txXfrm>
        <a:off x="9415447" y="2079176"/>
        <a:ext cx="2152802" cy="12603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6DCC44-599B-4E51-9215-86AE31EEF95F}">
      <dsp:nvSpPr>
        <dsp:cNvPr id="0" name=""/>
        <dsp:cNvSpPr/>
      </dsp:nvSpPr>
      <dsp:spPr>
        <a:xfrm>
          <a:off x="0" y="2873"/>
          <a:ext cx="651360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0262DE-03AE-42C0-9A48-D59B60D6866C}">
      <dsp:nvSpPr>
        <dsp:cNvPr id="0" name=""/>
        <dsp:cNvSpPr/>
      </dsp:nvSpPr>
      <dsp:spPr>
        <a:xfrm>
          <a:off x="0" y="2873"/>
          <a:ext cx="6513603" cy="979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700" kern="1200"/>
            <a:t>‘Staple’ industries depressed</a:t>
          </a:r>
          <a:endParaRPr lang="en-US" sz="2700" kern="1200"/>
        </a:p>
      </dsp:txBody>
      <dsp:txXfrm>
        <a:off x="0" y="2873"/>
        <a:ext cx="6513603" cy="979946"/>
      </dsp:txXfrm>
    </dsp:sp>
    <dsp:sp modelId="{40967EBA-6884-4498-9E73-A0ED0C0F7FB5}">
      <dsp:nvSpPr>
        <dsp:cNvPr id="0" name=""/>
        <dsp:cNvSpPr/>
      </dsp:nvSpPr>
      <dsp:spPr>
        <a:xfrm>
          <a:off x="0" y="982820"/>
          <a:ext cx="6513603" cy="0"/>
        </a:xfrm>
        <a:prstGeom prst="line">
          <a:avLst/>
        </a:prstGeom>
        <a:solidFill>
          <a:schemeClr val="accent5">
            <a:hueOff val="-1470669"/>
            <a:satOff val="-2046"/>
            <a:lumOff val="-784"/>
            <a:alphaOff val="0"/>
          </a:schemeClr>
        </a:solidFill>
        <a:ln w="12700" cap="flat" cmpd="sng" algn="ctr">
          <a:solidFill>
            <a:schemeClr val="accent5">
              <a:hueOff val="-1470669"/>
              <a:satOff val="-2046"/>
              <a:lumOff val="-7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372B7-92D1-4782-AD4E-760441221E68}">
      <dsp:nvSpPr>
        <dsp:cNvPr id="0" name=""/>
        <dsp:cNvSpPr/>
      </dsp:nvSpPr>
      <dsp:spPr>
        <a:xfrm>
          <a:off x="0" y="982820"/>
          <a:ext cx="6513603" cy="979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700" kern="1200"/>
            <a:t>Agricultural sector depressed</a:t>
          </a:r>
          <a:endParaRPr lang="en-US" sz="2700" kern="1200"/>
        </a:p>
      </dsp:txBody>
      <dsp:txXfrm>
        <a:off x="0" y="982820"/>
        <a:ext cx="6513603" cy="979946"/>
      </dsp:txXfrm>
    </dsp:sp>
    <dsp:sp modelId="{A7494E47-2CB3-4106-838B-5F1FFC06B403}">
      <dsp:nvSpPr>
        <dsp:cNvPr id="0" name=""/>
        <dsp:cNvSpPr/>
      </dsp:nvSpPr>
      <dsp:spPr>
        <a:xfrm>
          <a:off x="0" y="1962766"/>
          <a:ext cx="6513603" cy="0"/>
        </a:xfrm>
        <a:prstGeom prst="line">
          <a:avLst/>
        </a:prstGeom>
        <a:solidFill>
          <a:schemeClr val="accent5">
            <a:hueOff val="-2941338"/>
            <a:satOff val="-4091"/>
            <a:lumOff val="-1569"/>
            <a:alphaOff val="0"/>
          </a:schemeClr>
        </a:solidFill>
        <a:ln w="12700" cap="flat" cmpd="sng" algn="ctr">
          <a:solidFill>
            <a:schemeClr val="accent5">
              <a:hueOff val="-2941338"/>
              <a:satOff val="-4091"/>
              <a:lumOff val="-15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5184BA-3B38-45F2-93CC-BD15339E4B6B}">
      <dsp:nvSpPr>
        <dsp:cNvPr id="0" name=""/>
        <dsp:cNvSpPr/>
      </dsp:nvSpPr>
      <dsp:spPr>
        <a:xfrm>
          <a:off x="0" y="1962766"/>
          <a:ext cx="6513603" cy="979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700" kern="1200"/>
            <a:t>Overproduction of new and old industries</a:t>
          </a:r>
          <a:endParaRPr lang="en-US" sz="2700" kern="1200"/>
        </a:p>
      </dsp:txBody>
      <dsp:txXfrm>
        <a:off x="0" y="1962766"/>
        <a:ext cx="6513603" cy="979946"/>
      </dsp:txXfrm>
    </dsp:sp>
    <dsp:sp modelId="{DBB95869-4623-48F8-B1CE-F6E65F24693C}">
      <dsp:nvSpPr>
        <dsp:cNvPr id="0" name=""/>
        <dsp:cNvSpPr/>
      </dsp:nvSpPr>
      <dsp:spPr>
        <a:xfrm>
          <a:off x="0" y="2942713"/>
          <a:ext cx="6513603" cy="0"/>
        </a:xfrm>
        <a:prstGeom prst="line">
          <a:avLst/>
        </a:prstGeom>
        <a:solidFill>
          <a:schemeClr val="accent5">
            <a:hueOff val="-4412007"/>
            <a:satOff val="-6137"/>
            <a:lumOff val="-2353"/>
            <a:alphaOff val="0"/>
          </a:schemeClr>
        </a:solidFill>
        <a:ln w="12700" cap="flat" cmpd="sng" algn="ctr">
          <a:solidFill>
            <a:schemeClr val="accent5">
              <a:hueOff val="-4412007"/>
              <a:satOff val="-6137"/>
              <a:lumOff val="-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FA0248-91A5-4D6E-A24D-29ACE8617C53}">
      <dsp:nvSpPr>
        <dsp:cNvPr id="0" name=""/>
        <dsp:cNvSpPr/>
      </dsp:nvSpPr>
      <dsp:spPr>
        <a:xfrm>
          <a:off x="0" y="2942713"/>
          <a:ext cx="6513603" cy="979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700" kern="1200"/>
            <a:t>Undercapitalisation of banks</a:t>
          </a:r>
          <a:endParaRPr lang="en-US" sz="2700" kern="1200"/>
        </a:p>
      </dsp:txBody>
      <dsp:txXfrm>
        <a:off x="0" y="2942713"/>
        <a:ext cx="6513603" cy="979946"/>
      </dsp:txXfrm>
    </dsp:sp>
    <dsp:sp modelId="{2FF29899-79A2-42F0-BC33-4A19253A220C}">
      <dsp:nvSpPr>
        <dsp:cNvPr id="0" name=""/>
        <dsp:cNvSpPr/>
      </dsp:nvSpPr>
      <dsp:spPr>
        <a:xfrm>
          <a:off x="0" y="3922659"/>
          <a:ext cx="6513603" cy="0"/>
        </a:xfrm>
        <a:prstGeom prst="line">
          <a:avLst/>
        </a:prstGeom>
        <a:solidFill>
          <a:schemeClr val="accent5">
            <a:hueOff val="-5882676"/>
            <a:satOff val="-8182"/>
            <a:lumOff val="-3138"/>
            <a:alphaOff val="0"/>
          </a:schemeClr>
        </a:solidFill>
        <a:ln w="12700" cap="flat" cmpd="sng" algn="ctr">
          <a:solidFill>
            <a:schemeClr val="accent5">
              <a:hueOff val="-5882676"/>
              <a:satOff val="-8182"/>
              <a:lumOff val="-31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657BEA-B38D-4432-B02E-C3D7AD7F8417}">
      <dsp:nvSpPr>
        <dsp:cNvPr id="0" name=""/>
        <dsp:cNvSpPr/>
      </dsp:nvSpPr>
      <dsp:spPr>
        <a:xfrm>
          <a:off x="0" y="3922659"/>
          <a:ext cx="6513603" cy="979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700" kern="1200"/>
            <a:t>Grossly unequal distribution of wealth</a:t>
          </a:r>
          <a:endParaRPr lang="en-US" sz="2700" kern="1200"/>
        </a:p>
      </dsp:txBody>
      <dsp:txXfrm>
        <a:off x="0" y="3922659"/>
        <a:ext cx="6513603" cy="979946"/>
      </dsp:txXfrm>
    </dsp:sp>
    <dsp:sp modelId="{500ED958-9A1A-4FBC-B944-C4FA5ED0EC6E}">
      <dsp:nvSpPr>
        <dsp:cNvPr id="0" name=""/>
        <dsp:cNvSpPr/>
      </dsp:nvSpPr>
      <dsp:spPr>
        <a:xfrm>
          <a:off x="0" y="4902605"/>
          <a:ext cx="6513603" cy="0"/>
        </a:xfrm>
        <a:prstGeom prst="line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DB378F-6D56-4974-B701-56460A058876}">
      <dsp:nvSpPr>
        <dsp:cNvPr id="0" name=""/>
        <dsp:cNvSpPr/>
      </dsp:nvSpPr>
      <dsp:spPr>
        <a:xfrm>
          <a:off x="0" y="4902605"/>
          <a:ext cx="6513603" cy="979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700" kern="1200"/>
            <a:t>Much of speculation of 1920s financed by credit</a:t>
          </a:r>
          <a:endParaRPr lang="en-US" sz="2700" kern="1200"/>
        </a:p>
      </dsp:txBody>
      <dsp:txXfrm>
        <a:off x="0" y="4902605"/>
        <a:ext cx="6513603" cy="9799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B80729-EBFA-462A-A8AD-1DAE8DB2C2F1}">
      <dsp:nvSpPr>
        <dsp:cNvPr id="0" name=""/>
        <dsp:cNvSpPr/>
      </dsp:nvSpPr>
      <dsp:spPr>
        <a:xfrm>
          <a:off x="1020487" y="426774"/>
          <a:ext cx="1098562" cy="1098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0F25D-23C6-427A-A023-1CAA186B5235}">
      <dsp:nvSpPr>
        <dsp:cNvPr id="0" name=""/>
        <dsp:cNvSpPr/>
      </dsp:nvSpPr>
      <dsp:spPr>
        <a:xfrm>
          <a:off x="393" y="1664297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AU" sz="3000" kern="1200"/>
            <a:t>The Supreme Court</a:t>
          </a:r>
          <a:endParaRPr lang="en-US" sz="3000" kern="1200"/>
        </a:p>
      </dsp:txBody>
      <dsp:txXfrm>
        <a:off x="393" y="1664297"/>
        <a:ext cx="3138750" cy="470812"/>
      </dsp:txXfrm>
    </dsp:sp>
    <dsp:sp modelId="{0FAC5188-E33B-44F8-A3D2-F98367AF83AE}">
      <dsp:nvSpPr>
        <dsp:cNvPr id="0" name=""/>
        <dsp:cNvSpPr/>
      </dsp:nvSpPr>
      <dsp:spPr>
        <a:xfrm>
          <a:off x="0" y="2360361"/>
          <a:ext cx="3138750" cy="1990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500" kern="1200" dirty="0"/>
            <a:t>From 1933 to 1936, FDR encountered legal obstacles to parts of his New Deal</a:t>
          </a:r>
          <a:endParaRPr lang="en-US" sz="2500" kern="1200" dirty="0"/>
        </a:p>
      </dsp:txBody>
      <dsp:txXfrm>
        <a:off x="0" y="2360361"/>
        <a:ext cx="3138750" cy="1990976"/>
      </dsp:txXfrm>
    </dsp:sp>
    <dsp:sp modelId="{6C39BD3D-DB6B-4FE3-A494-7EB03568FF50}">
      <dsp:nvSpPr>
        <dsp:cNvPr id="0" name=""/>
        <dsp:cNvSpPr/>
      </dsp:nvSpPr>
      <dsp:spPr>
        <a:xfrm>
          <a:off x="4708518" y="559852"/>
          <a:ext cx="1098562" cy="1098562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4"/>
              </a:ext>
            </a:extLst>
          </a:blip>
          <a:srcRect/>
          <a:stretch>
            <a:fillRect l="-1000" r="-1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BC3225-6371-4FDF-9DFC-D0ADABD89F93}">
      <dsp:nvSpPr>
        <dsp:cNvPr id="0" name=""/>
        <dsp:cNvSpPr/>
      </dsp:nvSpPr>
      <dsp:spPr>
        <a:xfrm>
          <a:off x="3688425" y="1797375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AU" sz="3000" kern="1200"/>
            <a:t>The Right</a:t>
          </a:r>
          <a:endParaRPr lang="en-US" sz="3000" kern="1200"/>
        </a:p>
      </dsp:txBody>
      <dsp:txXfrm>
        <a:off x="3688425" y="1797375"/>
        <a:ext cx="3138750" cy="470812"/>
      </dsp:txXfrm>
    </dsp:sp>
    <dsp:sp modelId="{40736ED9-DF7F-4506-A469-5A84A95979F5}">
      <dsp:nvSpPr>
        <dsp:cNvPr id="0" name=""/>
        <dsp:cNvSpPr/>
      </dsp:nvSpPr>
      <dsp:spPr>
        <a:xfrm>
          <a:off x="3688425" y="2332820"/>
          <a:ext cx="3138750" cy="1458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500" kern="1200" dirty="0"/>
            <a:t>Argued FDR’s measures went too far toward people relying on welfare</a:t>
          </a:r>
          <a:endParaRPr lang="en-US" sz="2500" kern="1200" dirty="0"/>
        </a:p>
      </dsp:txBody>
      <dsp:txXfrm>
        <a:off x="3688425" y="2332820"/>
        <a:ext cx="3138750" cy="1458665"/>
      </dsp:txXfrm>
    </dsp:sp>
    <dsp:sp modelId="{633BB4AE-9835-4061-8860-84A377453777}">
      <dsp:nvSpPr>
        <dsp:cNvPr id="0" name=""/>
        <dsp:cNvSpPr/>
      </dsp:nvSpPr>
      <dsp:spPr>
        <a:xfrm>
          <a:off x="8396550" y="559852"/>
          <a:ext cx="1098562" cy="1098562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6"/>
              </a:ext>
            </a:extLst>
          </a:blip>
          <a:srcRect/>
          <a:stretch>
            <a:fillRect l="-1000" r="-1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C0316-8106-4BD9-B29C-75EA9B3D5C6A}">
      <dsp:nvSpPr>
        <dsp:cNvPr id="0" name=""/>
        <dsp:cNvSpPr/>
      </dsp:nvSpPr>
      <dsp:spPr>
        <a:xfrm>
          <a:off x="7376456" y="1797375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AU" sz="3000" kern="1200"/>
            <a:t>The Left</a:t>
          </a:r>
          <a:endParaRPr lang="en-US" sz="3000" kern="1200"/>
        </a:p>
      </dsp:txBody>
      <dsp:txXfrm>
        <a:off x="7376456" y="1797375"/>
        <a:ext cx="3138750" cy="470812"/>
      </dsp:txXfrm>
    </dsp:sp>
    <dsp:sp modelId="{7CF332DB-6B29-473B-B7B7-0576F51FCB73}">
      <dsp:nvSpPr>
        <dsp:cNvPr id="0" name=""/>
        <dsp:cNvSpPr/>
      </dsp:nvSpPr>
      <dsp:spPr>
        <a:xfrm>
          <a:off x="7376456" y="2332820"/>
          <a:ext cx="3138750" cy="1458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500" kern="1200" dirty="0"/>
            <a:t>Argued FDR’s measures did not go far enough</a:t>
          </a:r>
          <a:endParaRPr lang="en-US" sz="2500" kern="1200" dirty="0"/>
        </a:p>
      </dsp:txBody>
      <dsp:txXfrm>
        <a:off x="7376456" y="2332820"/>
        <a:ext cx="3138750" cy="14586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20F9-36F9-44FA-A4E1-441D76481BE3}" type="datetimeFigureOut">
              <a:rPr lang="en-AU" smtClean="0"/>
              <a:t>3/04/2019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49E3-ADB3-44BC-AA19-1C510105BE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2931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20F9-36F9-44FA-A4E1-441D76481BE3}" type="datetimeFigureOut">
              <a:rPr lang="en-AU" smtClean="0"/>
              <a:t>3/04/2019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49E3-ADB3-44BC-AA19-1C510105BE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484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20F9-36F9-44FA-A4E1-441D76481BE3}" type="datetimeFigureOut">
              <a:rPr lang="en-AU" smtClean="0"/>
              <a:t>3/04/2019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49E3-ADB3-44BC-AA19-1C510105BE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2406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20F9-36F9-44FA-A4E1-441D76481BE3}" type="datetimeFigureOut">
              <a:rPr lang="en-AU" smtClean="0"/>
              <a:t>3/04/2019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49E3-ADB3-44BC-AA19-1C510105BE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0276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20F9-36F9-44FA-A4E1-441D76481BE3}" type="datetimeFigureOut">
              <a:rPr lang="en-AU" smtClean="0"/>
              <a:t>3/04/2019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49E3-ADB3-44BC-AA19-1C510105BE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707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20F9-36F9-44FA-A4E1-441D76481BE3}" type="datetimeFigureOut">
              <a:rPr lang="en-AU" smtClean="0"/>
              <a:t>3/04/2019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49E3-ADB3-44BC-AA19-1C510105BE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9177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20F9-36F9-44FA-A4E1-441D76481BE3}" type="datetimeFigureOut">
              <a:rPr lang="en-AU" smtClean="0"/>
              <a:t>3/04/2019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49E3-ADB3-44BC-AA19-1C510105BE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3259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20F9-36F9-44FA-A4E1-441D76481BE3}" type="datetimeFigureOut">
              <a:rPr lang="en-AU" smtClean="0"/>
              <a:t>3/04/2019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49E3-ADB3-44BC-AA19-1C510105BE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0351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20F9-36F9-44FA-A4E1-441D76481BE3}" type="datetimeFigureOut">
              <a:rPr lang="en-AU" smtClean="0"/>
              <a:t>3/04/2019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49E3-ADB3-44BC-AA19-1C510105BE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6446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20F9-36F9-44FA-A4E1-441D76481BE3}" type="datetimeFigureOut">
              <a:rPr lang="en-AU" smtClean="0"/>
              <a:t>3/04/2019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49E3-ADB3-44BC-AA19-1C510105BE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0877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20F9-36F9-44FA-A4E1-441D76481BE3}" type="datetimeFigureOut">
              <a:rPr lang="en-AU" smtClean="0"/>
              <a:t>3/04/2019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149E3-ADB3-44BC-AA19-1C510105BE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5203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220F9-36F9-44FA-A4E1-441D76481BE3}" type="datetimeFigureOut">
              <a:rPr lang="en-AU" smtClean="0"/>
              <a:t>3/04/2019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149E3-ADB3-44BC-AA19-1C510105BE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6188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v7IP2qL0gg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youtube.com/watch?v=gkAfjRolNCI&amp;t=59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youtube.com/watch?v=m6JLCHwNdT4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4685" y="242888"/>
            <a:ext cx="531453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dirty="0"/>
              <a:t>The Great Depression and the New Deal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88" y="1857375"/>
            <a:ext cx="6128332" cy="4757737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The impact of the stock market dealings throughout the 1920s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How these led to the Wall Street Crash of 1929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Other factors which contributed to the Great Depression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The spiral into economic depression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The short-term and long-term social, political and economic impacts, including the impact on capitalism and on different groups in society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Political responses, including: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Hoover and ‘Rugged Individualism’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200" dirty="0"/>
              <a:t>Roosevelt and the ‘New Deal’</a:t>
            </a:r>
          </a:p>
        </p:txBody>
      </p:sp>
      <p:sp>
        <p:nvSpPr>
          <p:cNvPr id="1028" name="Freeform: Shape 70">
            <a:extLst>
              <a:ext uri="{FF2B5EF4-FFF2-40B4-BE49-F238E27FC236}">
                <a16:creationId xmlns:a16="http://schemas.microsoft.com/office/drawing/2014/main" id="{CF62D2A7-8207-488C-9F46-316BA81A16C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82780" y="-2008"/>
            <a:ext cx="5609220" cy="5840278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Image result for great depression">
            <a:extLst>
              <a:ext uri="{FF2B5EF4-FFF2-40B4-BE49-F238E27FC236}">
                <a16:creationId xmlns:a16="http://schemas.microsoft.com/office/drawing/2014/main" id="{BAD936EF-5A48-4ECD-974E-7BDA31044C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9983"/>
          <a:stretch/>
        </p:blipFill>
        <p:spPr bwMode="auto">
          <a:xfrm>
            <a:off x="6750141" y="-2"/>
            <a:ext cx="5441859" cy="5654940"/>
          </a:xfrm>
          <a:custGeom>
            <a:avLst/>
            <a:gdLst>
              <a:gd name="connsiteX0" fmla="*/ 1041368 w 5441859"/>
              <a:gd name="connsiteY0" fmla="*/ 0 h 5654940"/>
              <a:gd name="connsiteX1" fmla="*/ 5441859 w 5441859"/>
              <a:gd name="connsiteY1" fmla="*/ 0 h 5654940"/>
              <a:gd name="connsiteX2" fmla="*/ 5441859 w 5441859"/>
              <a:gd name="connsiteY2" fmla="*/ 4820612 h 5654940"/>
              <a:gd name="connsiteX3" fmla="*/ 5285166 w 5441859"/>
              <a:gd name="connsiteY3" fmla="*/ 4957981 h 5654940"/>
              <a:gd name="connsiteX4" fmla="*/ 3267719 w 5441859"/>
              <a:gd name="connsiteY4" fmla="*/ 5654940 h 5654940"/>
              <a:gd name="connsiteX5" fmla="*/ 0 w 5441859"/>
              <a:gd name="connsiteY5" fmla="*/ 2387221 h 5654940"/>
              <a:gd name="connsiteX6" fmla="*/ 957093 w 5441859"/>
              <a:gd name="connsiteY6" fmla="*/ 76595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11806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story so far…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91BEEA7-4026-4135-A25C-C34F314487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1844367"/>
              </p:ext>
            </p:extLst>
          </p:nvPr>
        </p:nvGraphicFramePr>
        <p:xfrm>
          <a:off x="346074" y="0"/>
          <a:ext cx="1161256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651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great depression">
            <a:extLst>
              <a:ext uri="{FF2B5EF4-FFF2-40B4-BE49-F238E27FC236}">
                <a16:creationId xmlns:a16="http://schemas.microsoft.com/office/drawing/2014/main" id="{B4429800-9450-4E28-B70E-90F915BD46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95" b="1785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  <a:ex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2021" y="3231931"/>
            <a:ext cx="3852041" cy="18340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100"/>
              <a:t>The Great Depression Explained in One Minute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82910" y="5242675"/>
            <a:ext cx="4330262" cy="68328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hlinkClick r:id="rId3"/>
              </a:rPr>
              <a:t>https://www.youtube.com/watch?v=Sv7IP2qL0gg</a:t>
            </a:r>
            <a:r>
              <a:rPr lang="en-US" sz="2000" dirty="0"/>
              <a:t> 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953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en-AU">
                <a:solidFill>
                  <a:schemeClr val="accent1"/>
                </a:solidFill>
              </a:rPr>
              <a:t>Leading up to the Wall Street Crash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9198" y="449527"/>
            <a:ext cx="6823687" cy="5879836"/>
          </a:xfrm>
        </p:spPr>
        <p:txBody>
          <a:bodyPr anchor="ctr">
            <a:normAutofit/>
          </a:bodyPr>
          <a:lstStyle/>
          <a:p>
            <a:r>
              <a:rPr lang="en-AU" dirty="0"/>
              <a:t>Economic boom of 1920s based upon business confidence – economic growth continue indefinitely</a:t>
            </a:r>
          </a:p>
          <a:p>
            <a:r>
              <a:rPr lang="en-AU" dirty="0"/>
              <a:t>Readily available credit finance</a:t>
            </a:r>
          </a:p>
          <a:p>
            <a:r>
              <a:rPr lang="en-AU" dirty="0"/>
              <a:t>Serious imbalances, inequities and contradictions in US economy</a:t>
            </a:r>
          </a:p>
          <a:p>
            <a:pPr lvl="1"/>
            <a:r>
              <a:rPr lang="en-AU" sz="2800" dirty="0"/>
              <a:t>Many American companies produced more than people could afford to buy (overproduction)</a:t>
            </a:r>
          </a:p>
          <a:p>
            <a:pPr lvl="1"/>
            <a:r>
              <a:rPr lang="en-AU" sz="2800" dirty="0"/>
              <a:t>Average income began to decline from 1927</a:t>
            </a:r>
          </a:p>
          <a:p>
            <a:pPr lvl="1"/>
            <a:r>
              <a:rPr lang="en-AU" sz="2800" dirty="0"/>
              <a:t>By 1929, 35% of the personal income went to 5% of people</a:t>
            </a:r>
          </a:p>
        </p:txBody>
      </p:sp>
    </p:spTree>
    <p:extLst>
      <p:ext uri="{BB962C8B-B14F-4D97-AF65-F5344CB8AC3E}">
        <p14:creationId xmlns:p14="http://schemas.microsoft.com/office/powerpoint/2010/main" val="295847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en-AU">
                <a:solidFill>
                  <a:schemeClr val="accent1"/>
                </a:solidFill>
              </a:rPr>
              <a:t>The Wall Street Crash – A Catalyst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9198" y="340942"/>
            <a:ext cx="7021236" cy="6074146"/>
          </a:xfrm>
        </p:spPr>
        <p:txBody>
          <a:bodyPr anchor="ctr">
            <a:noAutofit/>
          </a:bodyPr>
          <a:lstStyle/>
          <a:p>
            <a:r>
              <a:rPr lang="en-AU" sz="2200" dirty="0"/>
              <a:t>24 Oct 1929 – 29 Oct 1929</a:t>
            </a:r>
          </a:p>
          <a:p>
            <a:r>
              <a:rPr lang="en-AU" sz="2200" dirty="0"/>
              <a:t>Wall Street Stock Exchange rose at astonishing rate between 1927-1929</a:t>
            </a:r>
          </a:p>
          <a:p>
            <a:r>
              <a:rPr lang="en-AU" sz="2200" dirty="0"/>
              <a:t>Many shares bought ‘on the margin’, or with credit (borrowed money).</a:t>
            </a:r>
          </a:p>
          <a:p>
            <a:r>
              <a:rPr lang="en-AU" sz="2200" dirty="0"/>
              <a:t>Market peaked September 1929.</a:t>
            </a:r>
          </a:p>
          <a:p>
            <a:r>
              <a:rPr lang="en-AU" sz="2200" dirty="0"/>
              <a:t>Late September a decline in confidence occurred among investors.</a:t>
            </a:r>
          </a:p>
          <a:p>
            <a:r>
              <a:rPr lang="en-AU" sz="2200" dirty="0"/>
              <a:t>In October this resulted in:</a:t>
            </a:r>
          </a:p>
          <a:p>
            <a:pPr lvl="1"/>
            <a:r>
              <a:rPr lang="en-AU" sz="2200" dirty="0"/>
              <a:t>October 21 prices began to fall sharply</a:t>
            </a:r>
          </a:p>
          <a:p>
            <a:pPr lvl="1"/>
            <a:r>
              <a:rPr lang="en-AU" sz="2200" dirty="0"/>
              <a:t>October 24 ‘Black Thursday’ the Wall Street Crash began – 12.5 million shares sold</a:t>
            </a:r>
          </a:p>
          <a:p>
            <a:r>
              <a:rPr lang="en-AU" sz="2200" dirty="0"/>
              <a:t>The Wall Street Crash was not the cause of the Great Depression, it was the catalyst of ‘trigger’ which highlighted deep-seated problems within the US economy.</a:t>
            </a:r>
          </a:p>
        </p:txBody>
      </p:sp>
    </p:spTree>
    <p:extLst>
      <p:ext uri="{BB962C8B-B14F-4D97-AF65-F5344CB8AC3E}">
        <p14:creationId xmlns:p14="http://schemas.microsoft.com/office/powerpoint/2010/main" val="3206388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The Great Depression - CAUSES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54DD9F-B010-484F-BCB8-53D84F0F14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3266629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6430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en-AU">
                <a:solidFill>
                  <a:schemeClr val="accent1"/>
                </a:solidFill>
              </a:rPr>
              <a:t>The Great Depression – underlying causes deepened the Depression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6031" y="449527"/>
            <a:ext cx="6611123" cy="5865548"/>
          </a:xfrm>
        </p:spPr>
        <p:txBody>
          <a:bodyPr anchor="ctr">
            <a:normAutofit/>
          </a:bodyPr>
          <a:lstStyle/>
          <a:p>
            <a:r>
              <a:rPr lang="en-AU" sz="3000" dirty="0"/>
              <a:t>Few would invest in stocks – business investment suffered</a:t>
            </a:r>
          </a:p>
          <a:p>
            <a:r>
              <a:rPr lang="en-AU" sz="3000" dirty="0"/>
              <a:t>People withdrew money from banks – smaller banks collapsed bringing greater hardship to other depositors</a:t>
            </a:r>
          </a:p>
          <a:p>
            <a:r>
              <a:rPr lang="en-AU" sz="3000" dirty="0"/>
              <a:t>Businesses began to lay off workers and pay the remaining workers less</a:t>
            </a:r>
          </a:p>
          <a:p>
            <a:r>
              <a:rPr lang="en-AU" sz="3000" dirty="0"/>
              <a:t>People stopped buying goods as they were being payed less or not at all</a:t>
            </a:r>
          </a:p>
          <a:p>
            <a:r>
              <a:rPr lang="en-AU" sz="3000" dirty="0"/>
              <a:t>Businesses were not selling goods as people were not buying, so had to lay off more people</a:t>
            </a:r>
          </a:p>
        </p:txBody>
      </p:sp>
    </p:spTree>
    <p:extLst>
      <p:ext uri="{BB962C8B-B14F-4D97-AF65-F5344CB8AC3E}">
        <p14:creationId xmlns:p14="http://schemas.microsoft.com/office/powerpoint/2010/main" val="1142101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7">
            <a:extLst>
              <a:ext uri="{FF2B5EF4-FFF2-40B4-BE49-F238E27FC236}">
                <a16:creationId xmlns:a16="http://schemas.microsoft.com/office/drawing/2014/main" id="{48A740BC-A0AA-45E0-B899-2AE9C6FE11C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3121" y="-2"/>
            <a:ext cx="6278879" cy="6858002"/>
          </a:xfrm>
          <a:custGeom>
            <a:avLst/>
            <a:gdLst>
              <a:gd name="connsiteX0" fmla="*/ 45572 w 6278879"/>
              <a:gd name="connsiteY0" fmla="*/ 0 h 6858002"/>
              <a:gd name="connsiteX1" fmla="*/ 6278879 w 6278879"/>
              <a:gd name="connsiteY1" fmla="*/ 0 h 6858002"/>
              <a:gd name="connsiteX2" fmla="*/ 6278879 w 6278879"/>
              <a:gd name="connsiteY2" fmla="*/ 6858002 h 6858002"/>
              <a:gd name="connsiteX3" fmla="*/ 3292308 w 6278879"/>
              <a:gd name="connsiteY3" fmla="*/ 6858002 h 6858002"/>
              <a:gd name="connsiteX4" fmla="*/ 3181526 w 6278879"/>
              <a:gd name="connsiteY4" fmla="*/ 6786982 h 6858002"/>
              <a:gd name="connsiteX5" fmla="*/ 0 w 6278879"/>
              <a:gd name="connsiteY5" fmla="*/ 803254 h 6858002"/>
              <a:gd name="connsiteX6" fmla="*/ 37255 w 6278879"/>
              <a:gd name="connsiteY6" fmla="*/ 65447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78879" h="6858002">
                <a:moveTo>
                  <a:pt x="45572" y="0"/>
                </a:moveTo>
                <a:lnTo>
                  <a:pt x="6278879" y="0"/>
                </a:lnTo>
                <a:lnTo>
                  <a:pt x="6278879" y="6858002"/>
                </a:lnTo>
                <a:lnTo>
                  <a:pt x="3292308" y="6858002"/>
                </a:lnTo>
                <a:lnTo>
                  <a:pt x="3181526" y="6786982"/>
                </a:lnTo>
                <a:cubicBezTo>
                  <a:pt x="1262021" y="5490191"/>
                  <a:pt x="0" y="3294103"/>
                  <a:pt x="0" y="803254"/>
                </a:cubicBezTo>
                <a:cubicBezTo>
                  <a:pt x="0" y="554169"/>
                  <a:pt x="12620" y="308032"/>
                  <a:pt x="37255" y="65447"/>
                </a:cubicBez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320" y="365125"/>
            <a:ext cx="9013052" cy="1623312"/>
          </a:xfrm>
        </p:spPr>
        <p:txBody>
          <a:bodyPr anchor="b">
            <a:normAutofit/>
          </a:bodyPr>
          <a:lstStyle/>
          <a:p>
            <a:r>
              <a:rPr lang="en-AU" sz="5000" b="1" dirty="0"/>
              <a:t>The extent of the Great Depression</a:t>
            </a:r>
            <a:r>
              <a:rPr lang="en-AU" sz="3100" dirty="0"/>
              <a:t/>
            </a:r>
            <a:br>
              <a:rPr lang="en-AU" sz="3100" dirty="0"/>
            </a:br>
            <a:endParaRPr lang="en-AU" sz="31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874EF51-C858-4BB9-97C3-D177557871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3661" y="2316480"/>
            <a:ext cx="82296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19" y="2644518"/>
            <a:ext cx="11046143" cy="3848353"/>
          </a:xfrm>
        </p:spPr>
        <p:txBody>
          <a:bodyPr>
            <a:noAutofit/>
          </a:bodyPr>
          <a:lstStyle/>
          <a:p>
            <a:r>
              <a:rPr lang="en-AU" sz="2500" dirty="0"/>
              <a:t>The ‘Great Depression’ was larger and longer, and created more suffering and economic, social and political dislocation, than any other economic recession before or since.</a:t>
            </a:r>
          </a:p>
          <a:p>
            <a:r>
              <a:rPr lang="en-AU" sz="2500" dirty="0"/>
              <a:t>The economy of the USA saw:</a:t>
            </a:r>
          </a:p>
          <a:p>
            <a:pPr lvl="1"/>
            <a:r>
              <a:rPr lang="en-AU" sz="2500" dirty="0"/>
              <a:t>GNP fall from $106 billion in 1929 to $57 billion in 1933</a:t>
            </a:r>
          </a:p>
          <a:p>
            <a:pPr lvl="1"/>
            <a:r>
              <a:rPr lang="en-AU" sz="2500" dirty="0"/>
              <a:t>Between 1929 and 1933 around 10,000 banks failed and collapsed</a:t>
            </a:r>
          </a:p>
          <a:p>
            <a:pPr lvl="1"/>
            <a:r>
              <a:rPr lang="en-AU" sz="2500" dirty="0"/>
              <a:t>Unemployment rose from 1.5 million in 1929 to 12.5 million in 1933 (one in four)</a:t>
            </a:r>
          </a:p>
          <a:p>
            <a:pPr lvl="1"/>
            <a:r>
              <a:rPr lang="en-AU" sz="2500" dirty="0"/>
              <a:t>Agricultural, forestry an fishery income dropped from $8.5 billion in 1929 to $3.3 billion in 1933</a:t>
            </a:r>
          </a:p>
        </p:txBody>
      </p:sp>
    </p:spTree>
    <p:extLst>
      <p:ext uri="{BB962C8B-B14F-4D97-AF65-F5344CB8AC3E}">
        <p14:creationId xmlns:p14="http://schemas.microsoft.com/office/powerpoint/2010/main" val="287108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558" y="365125"/>
            <a:ext cx="5505876" cy="1692794"/>
          </a:xfrm>
        </p:spPr>
        <p:txBody>
          <a:bodyPr>
            <a:normAutofit fontScale="90000"/>
          </a:bodyPr>
          <a:lstStyle/>
          <a:p>
            <a:r>
              <a:rPr lang="en-AU" sz="5000" b="1" dirty="0"/>
              <a:t>The extent of the Great Depression – SOCIAL</a:t>
            </a:r>
            <a:r>
              <a:rPr lang="en-AU" sz="1400" dirty="0"/>
              <a:t/>
            </a:r>
            <a:br>
              <a:rPr lang="en-AU" sz="1400" dirty="0"/>
            </a:br>
            <a:r>
              <a:rPr lang="en-AU" sz="1400" dirty="0">
                <a:hlinkClick r:id="rId2"/>
              </a:rPr>
              <a:t>https://www.youtube.com/watch?v=gkAfjRolNCI&amp;t=59s</a:t>
            </a:r>
            <a:endParaRPr lang="en-AU" sz="1400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558" y="2575041"/>
            <a:ext cx="5609291" cy="4025769"/>
          </a:xfrm>
        </p:spPr>
        <p:txBody>
          <a:bodyPr>
            <a:normAutofit/>
          </a:bodyPr>
          <a:lstStyle/>
          <a:p>
            <a:r>
              <a:rPr lang="en-AU" sz="4000" dirty="0"/>
              <a:t>Divorce rate rose</a:t>
            </a:r>
          </a:p>
          <a:p>
            <a:r>
              <a:rPr lang="en-AU" sz="4000" dirty="0"/>
              <a:t>Bread and soup lines became a common sight</a:t>
            </a:r>
          </a:p>
          <a:p>
            <a:r>
              <a:rPr lang="en-AU" sz="4000" dirty="0"/>
              <a:t>Homelessness rose – ‘</a:t>
            </a:r>
            <a:r>
              <a:rPr lang="en-AU" sz="4000" dirty="0" err="1"/>
              <a:t>Hoovervilles</a:t>
            </a:r>
            <a:r>
              <a:rPr lang="en-AU" sz="4000" dirty="0"/>
              <a:t>’</a:t>
            </a:r>
          </a:p>
          <a:p>
            <a:pPr marL="0" indent="0">
              <a:buNone/>
            </a:pPr>
            <a:endParaRPr lang="en-AU" sz="1800" dirty="0"/>
          </a:p>
        </p:txBody>
      </p:sp>
      <p:pic>
        <p:nvPicPr>
          <p:cNvPr id="4098" name="Picture 2" descr="Image result for hoovervilles">
            <a:extLst>
              <a:ext uri="{FF2B5EF4-FFF2-40B4-BE49-F238E27FC236}">
                <a16:creationId xmlns:a16="http://schemas.microsoft.com/office/drawing/2014/main" id="{5D419554-469C-455C-92AE-3B0FD89960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39" r="10868" b="1"/>
          <a:stretch/>
        </p:blipFill>
        <p:spPr bwMode="auto"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5128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AU">
                <a:solidFill>
                  <a:srgbClr val="FFFFFF"/>
                </a:solidFill>
              </a:rPr>
              <a:t>Hoover’s reaction to the GD</a:t>
            </a:r>
          </a:p>
        </p:txBody>
      </p:sp>
      <p:pic>
        <p:nvPicPr>
          <p:cNvPr id="5122" name="Picture 2" descr="Image result for hoover herbert depression">
            <a:extLst>
              <a:ext uri="{FF2B5EF4-FFF2-40B4-BE49-F238E27FC236}">
                <a16:creationId xmlns:a16="http://schemas.microsoft.com/office/drawing/2014/main" id="{7FAA951C-3A5A-4FC2-8AC5-65E04E2EE3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8"/>
          <a:stretch/>
        </p:blipFill>
        <p:spPr bwMode="auto">
          <a:xfrm>
            <a:off x="327547" y="321733"/>
            <a:ext cx="7058306" cy="410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144" y="574824"/>
            <a:ext cx="3895600" cy="5817457"/>
          </a:xfrm>
        </p:spPr>
        <p:txBody>
          <a:bodyPr anchor="ctr">
            <a:normAutofit fontScale="92500" lnSpcReduction="10000"/>
          </a:bodyPr>
          <a:lstStyle/>
          <a:p>
            <a:r>
              <a:rPr lang="en-AU" sz="3100" dirty="0">
                <a:solidFill>
                  <a:srgbClr val="FFFFFF"/>
                </a:solidFill>
              </a:rPr>
              <a:t>Attempted to restore confidence </a:t>
            </a:r>
          </a:p>
          <a:p>
            <a:r>
              <a:rPr lang="en-AU" sz="3100" dirty="0">
                <a:solidFill>
                  <a:srgbClr val="FFFFFF"/>
                </a:solidFill>
              </a:rPr>
              <a:t>“All the evidences indicate that the worst effects of the crash upon unemployment will have been passed in the next 60 days.”</a:t>
            </a:r>
          </a:p>
          <a:p>
            <a:r>
              <a:rPr lang="en-AU" sz="3100" dirty="0">
                <a:solidFill>
                  <a:srgbClr val="FFFFFF"/>
                </a:solidFill>
              </a:rPr>
              <a:t>Rugged individualism: </a:t>
            </a:r>
            <a:r>
              <a:rPr lang="en-US" sz="3100" dirty="0">
                <a:solidFill>
                  <a:srgbClr val="FFFFFF"/>
                </a:solidFill>
              </a:rPr>
              <a:t>The belief that all individuals can succeed on their own and that government help for people should be minimal.</a:t>
            </a:r>
          </a:p>
        </p:txBody>
      </p:sp>
    </p:spTree>
    <p:extLst>
      <p:ext uri="{BB962C8B-B14F-4D97-AF65-F5344CB8AC3E}">
        <p14:creationId xmlns:p14="http://schemas.microsoft.com/office/powerpoint/2010/main" val="1819275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06CF-BEB5-4EA1-BFB3-AC768D98A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n-AU" dirty="0"/>
              <a:t>Franklin D. Roosevelt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C0B86-374B-4EB8-AD1F-71C8D7511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r>
              <a:rPr lang="en-AU" sz="3000" dirty="0"/>
              <a:t>Won Presidential election 1932 by landslide</a:t>
            </a:r>
          </a:p>
          <a:p>
            <a:r>
              <a:rPr lang="en-AU" sz="3000" dirty="0"/>
              <a:t>Compared to Hoover, Roosevelt was seen as being proactive about Depression</a:t>
            </a:r>
          </a:p>
          <a:p>
            <a:r>
              <a:rPr lang="en-AU" sz="3000" dirty="0"/>
              <a:t>Introduced ‘Fireside Chats’</a:t>
            </a:r>
          </a:p>
          <a:p>
            <a:r>
              <a:rPr lang="en-AU" sz="3000" dirty="0"/>
              <a:t>Introduced the ‘New Deals’</a:t>
            </a:r>
          </a:p>
        </p:txBody>
      </p:sp>
      <p:pic>
        <p:nvPicPr>
          <p:cNvPr id="6146" name="Picture 2" descr="Image result for franklin roosevelt">
            <a:extLst>
              <a:ext uri="{FF2B5EF4-FFF2-40B4-BE49-F238E27FC236}">
                <a16:creationId xmlns:a16="http://schemas.microsoft.com/office/drawing/2014/main" id="{87D616D2-61DA-4C4A-8080-911E38DB94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51" r="14901" b="-1"/>
          <a:stretch/>
        </p:blipFill>
        <p:spPr bwMode="auto"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7612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72B7FB-59E0-4728-8819-14C5BD422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First New Deal 1933-1935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C178E-BB5D-437B-82A5-269C3940F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3" y="185737"/>
            <a:ext cx="5825201" cy="6486525"/>
          </a:xfrm>
        </p:spPr>
        <p:txBody>
          <a:bodyPr anchor="ctr">
            <a:noAutofit/>
          </a:bodyPr>
          <a:lstStyle/>
          <a:p>
            <a:r>
              <a:rPr lang="en-AU" dirty="0">
                <a:solidFill>
                  <a:srgbClr val="000000"/>
                </a:solidFill>
              </a:rPr>
              <a:t>In ‘The First 100 Days’ (Congress emergency session) after FDR’s inauguration a range of agencies (Alphabet Agencies’ were established to implement the Three R’s.</a:t>
            </a:r>
          </a:p>
          <a:p>
            <a:r>
              <a:rPr lang="en-AU" dirty="0">
                <a:solidFill>
                  <a:srgbClr val="000000"/>
                </a:solidFill>
              </a:rPr>
              <a:t>‘Relief, Recovery, Reform’ (Three R’s)</a:t>
            </a:r>
          </a:p>
          <a:p>
            <a:pPr lvl="1"/>
            <a:r>
              <a:rPr lang="en-AU" sz="2800" dirty="0">
                <a:solidFill>
                  <a:srgbClr val="000000"/>
                </a:solidFill>
              </a:rPr>
              <a:t>Relief: to bring immediate help to those in need</a:t>
            </a:r>
          </a:p>
          <a:p>
            <a:pPr lvl="1"/>
            <a:r>
              <a:rPr lang="en-AU" sz="2800" dirty="0">
                <a:solidFill>
                  <a:srgbClr val="000000"/>
                </a:solidFill>
              </a:rPr>
              <a:t>Recovery: provide jobs for people</a:t>
            </a:r>
          </a:p>
          <a:p>
            <a:pPr lvl="1"/>
            <a:r>
              <a:rPr lang="en-AU" sz="2800" dirty="0">
                <a:solidFill>
                  <a:srgbClr val="000000"/>
                </a:solidFill>
              </a:rPr>
              <a:t>Reform: to institute changes in economic system in order to prevent another Depression</a:t>
            </a:r>
          </a:p>
        </p:txBody>
      </p:sp>
    </p:spTree>
    <p:extLst>
      <p:ext uri="{BB962C8B-B14F-4D97-AF65-F5344CB8AC3E}">
        <p14:creationId xmlns:p14="http://schemas.microsoft.com/office/powerpoint/2010/main" val="2148922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3264" t="14528" r="14418" b="2969"/>
          <a:stretch/>
        </p:blipFill>
        <p:spPr>
          <a:xfrm>
            <a:off x="647468" y="0"/>
            <a:ext cx="10940473" cy="676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42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70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4DDE4D-5EC2-49F7-8F99-7CF2BFB11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000000"/>
                </a:solidFill>
              </a:rPr>
              <a:t>Second New Deal 1935-1939</a:t>
            </a:r>
          </a:p>
        </p:txBody>
      </p:sp>
      <p:sp>
        <p:nvSpPr>
          <p:cNvPr id="75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170" name="Picture 2" descr="Image result for second new deal">
            <a:extLst>
              <a:ext uri="{FF2B5EF4-FFF2-40B4-BE49-F238E27FC236}">
                <a16:creationId xmlns:a16="http://schemas.microsoft.com/office/drawing/2014/main" id="{4873E5DA-01AC-4C46-BAA1-E2D5847EF8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71" r="467"/>
          <a:stretch/>
        </p:blipFill>
        <p:spPr bwMode="auto">
          <a:xfrm>
            <a:off x="20" y="907231"/>
            <a:ext cx="4838021" cy="5063738"/>
          </a:xfrm>
          <a:custGeom>
            <a:avLst/>
            <a:gdLst>
              <a:gd name="connsiteX0" fmla="*/ 2306172 w 4838041"/>
              <a:gd name="connsiteY0" fmla="*/ 0 h 5063738"/>
              <a:gd name="connsiteX1" fmla="*/ 4838041 w 4838041"/>
              <a:gd name="connsiteY1" fmla="*/ 2531869 h 5063738"/>
              <a:gd name="connsiteX2" fmla="*/ 2306172 w 4838041"/>
              <a:gd name="connsiteY2" fmla="*/ 5063738 h 5063738"/>
              <a:gd name="connsiteX3" fmla="*/ 79886 w 4838041"/>
              <a:gd name="connsiteY3" fmla="*/ 3738709 h 5063738"/>
              <a:gd name="connsiteX4" fmla="*/ 0 w 4838041"/>
              <a:gd name="connsiteY4" fmla="*/ 3572876 h 5063738"/>
              <a:gd name="connsiteX5" fmla="*/ 0 w 4838041"/>
              <a:gd name="connsiteY5" fmla="*/ 1490863 h 5063738"/>
              <a:gd name="connsiteX6" fmla="*/ 79886 w 4838041"/>
              <a:gd name="connsiteY6" fmla="*/ 1325030 h 5063738"/>
              <a:gd name="connsiteX7" fmla="*/ 2306172 w 4838041"/>
              <a:gd name="connsiteY7" fmla="*/ 0 h 5063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703BB-E268-499A-BD7A-42BDE2EA8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AU" sz="3000" dirty="0">
                <a:solidFill>
                  <a:srgbClr val="000000"/>
                </a:solidFill>
              </a:rPr>
              <a:t>‘Second 100 Days’ where bills passed swiftly</a:t>
            </a:r>
          </a:p>
          <a:p>
            <a:r>
              <a:rPr lang="en-AU" sz="3000" dirty="0">
                <a:solidFill>
                  <a:srgbClr val="000000"/>
                </a:solidFill>
              </a:rPr>
              <a:t>With First New Deal, FDR relieved worst cases of hardship</a:t>
            </a:r>
          </a:p>
          <a:p>
            <a:r>
              <a:rPr lang="en-AU" sz="3000" dirty="0">
                <a:solidFill>
                  <a:srgbClr val="000000"/>
                </a:solidFill>
              </a:rPr>
              <a:t>Became more concerned with recovery and reform</a:t>
            </a:r>
          </a:p>
        </p:txBody>
      </p:sp>
    </p:spTree>
    <p:extLst>
      <p:ext uri="{BB962C8B-B14F-4D97-AF65-F5344CB8AC3E}">
        <p14:creationId xmlns:p14="http://schemas.microsoft.com/office/powerpoint/2010/main" val="3051586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C1208-8225-411A-A73E-F067F48B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U" dirty="0"/>
              <a:t>Opposition to the New Deal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B3DA7C-6752-47B8-87B8-207BE50404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59777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7454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03612-01EC-4775-AA6B-057CE38AA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 evaluation of the New Deal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37A4CC-EAB5-41FD-BD1C-E16A7BC17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960202"/>
              </p:ext>
            </p:extLst>
          </p:nvPr>
        </p:nvGraphicFramePr>
        <p:xfrm>
          <a:off x="340138" y="1690688"/>
          <a:ext cx="11511723" cy="47760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7241">
                  <a:extLst>
                    <a:ext uri="{9D8B030D-6E8A-4147-A177-3AD203B41FA5}">
                      <a16:colId xmlns:a16="http://schemas.microsoft.com/office/drawing/2014/main" val="3893646160"/>
                    </a:ext>
                  </a:extLst>
                </a:gridCol>
                <a:gridCol w="3837241">
                  <a:extLst>
                    <a:ext uri="{9D8B030D-6E8A-4147-A177-3AD203B41FA5}">
                      <a16:colId xmlns:a16="http://schemas.microsoft.com/office/drawing/2014/main" val="1819210773"/>
                    </a:ext>
                  </a:extLst>
                </a:gridCol>
                <a:gridCol w="3837241">
                  <a:extLst>
                    <a:ext uri="{9D8B030D-6E8A-4147-A177-3AD203B41FA5}">
                      <a16:colId xmlns:a16="http://schemas.microsoft.com/office/drawing/2014/main" val="965410800"/>
                    </a:ext>
                  </a:extLst>
                </a:gridCol>
              </a:tblGrid>
              <a:tr h="522426">
                <a:tc>
                  <a:txBody>
                    <a:bodyPr/>
                    <a:lstStyle/>
                    <a:p>
                      <a:pPr algn="ctr"/>
                      <a:r>
                        <a:rPr lang="en-AU" sz="3000" b="1" dirty="0"/>
                        <a:t>Successes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000" b="1" dirty="0"/>
                        <a:t>Limitations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000" b="1" dirty="0"/>
                        <a:t>Significance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977730"/>
                  </a:ext>
                </a:extLst>
              </a:tr>
              <a:tr h="422744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2500" dirty="0"/>
                        <a:t>Restored confidences in economic and political systems in USA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2500" dirty="0"/>
                        <a:t>Heralded a new approach to managing government finances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2500" dirty="0"/>
                        <a:t>Millions of jobs created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2500" dirty="0"/>
                        <a:t>Poverty (50% of population) and unemployment (8 million workers) still existed in both rural and urban USA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2500" dirty="0"/>
                        <a:t>A complete recovery not achieved until US entry to WW2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2500" dirty="0"/>
                        <a:t>Won over millions of voters to Democratic Party for next 20 years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sz="2500" dirty="0"/>
                        <a:t>Seen as a revolutionary response to problems in 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AU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107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1607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5631" y="3160656"/>
            <a:ext cx="531453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AU" sz="4400" dirty="0"/>
              <a:t>Understanding the Great Depression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448" y="5756045"/>
            <a:ext cx="6128332" cy="45356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AU" sz="2000" dirty="0">
                <a:hlinkClick r:id="rId2"/>
              </a:rPr>
              <a:t>https://www.youtube.com/watch?v=m6JLCHwNdT4</a:t>
            </a:r>
            <a:r>
              <a:rPr lang="en-AU" sz="2000" dirty="0"/>
              <a:t> </a:t>
            </a:r>
          </a:p>
          <a:p>
            <a:pPr lvl="0" algn="l"/>
            <a:endParaRPr lang="en-US" sz="2200" dirty="0"/>
          </a:p>
        </p:txBody>
      </p:sp>
      <p:sp>
        <p:nvSpPr>
          <p:cNvPr id="1028" name="Freeform: Shape 70">
            <a:extLst>
              <a:ext uri="{FF2B5EF4-FFF2-40B4-BE49-F238E27FC236}">
                <a16:creationId xmlns:a16="http://schemas.microsoft.com/office/drawing/2014/main" id="{CF62D2A7-8207-488C-9F46-316BA81A16C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82780" y="-2008"/>
            <a:ext cx="5609220" cy="5840278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Image result for great depression">
            <a:extLst>
              <a:ext uri="{FF2B5EF4-FFF2-40B4-BE49-F238E27FC236}">
                <a16:creationId xmlns:a16="http://schemas.microsoft.com/office/drawing/2014/main" id="{BAD936EF-5A48-4ECD-974E-7BDA31044C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9983"/>
          <a:stretch/>
        </p:blipFill>
        <p:spPr bwMode="auto">
          <a:xfrm>
            <a:off x="6750141" y="-2"/>
            <a:ext cx="5441859" cy="5654940"/>
          </a:xfrm>
          <a:custGeom>
            <a:avLst/>
            <a:gdLst>
              <a:gd name="connsiteX0" fmla="*/ 1041368 w 5441859"/>
              <a:gd name="connsiteY0" fmla="*/ 0 h 5654940"/>
              <a:gd name="connsiteX1" fmla="*/ 5441859 w 5441859"/>
              <a:gd name="connsiteY1" fmla="*/ 0 h 5654940"/>
              <a:gd name="connsiteX2" fmla="*/ 5441859 w 5441859"/>
              <a:gd name="connsiteY2" fmla="*/ 4820612 h 5654940"/>
              <a:gd name="connsiteX3" fmla="*/ 5285166 w 5441859"/>
              <a:gd name="connsiteY3" fmla="*/ 4957981 h 5654940"/>
              <a:gd name="connsiteX4" fmla="*/ 3267719 w 5441859"/>
              <a:gd name="connsiteY4" fmla="*/ 5654940 h 5654940"/>
              <a:gd name="connsiteX5" fmla="*/ 0 w 5441859"/>
              <a:gd name="connsiteY5" fmla="*/ 2387221 h 5654940"/>
              <a:gd name="connsiteX6" fmla="*/ 957093 w 5441859"/>
              <a:gd name="connsiteY6" fmla="*/ 76595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32689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AU">
                <a:solidFill>
                  <a:srgbClr val="FFFFFF"/>
                </a:solidFill>
              </a:rPr>
              <a:t>1929-1939 timeline </a:t>
            </a:r>
          </a:p>
        </p:txBody>
      </p:sp>
      <p:pic>
        <p:nvPicPr>
          <p:cNvPr id="3074" name="Picture 2" descr="Image result for great depression">
            <a:extLst>
              <a:ext uri="{FF2B5EF4-FFF2-40B4-BE49-F238E27FC236}">
                <a16:creationId xmlns:a16="http://schemas.microsoft.com/office/drawing/2014/main" id="{8FACF16A-3472-438C-9902-800A9B9875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2411"/>
          <a:stretch/>
        </p:blipFill>
        <p:spPr bwMode="auto">
          <a:xfrm>
            <a:off x="327547" y="321733"/>
            <a:ext cx="7058306" cy="410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4994" y="474812"/>
            <a:ext cx="3952750" cy="591746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200" dirty="0">
                <a:solidFill>
                  <a:srgbClr val="FFFFFF"/>
                </a:solidFill>
              </a:rPr>
              <a:t>Find the following key events/ideas. Create a timeline using these events and ideas and provide a short explanation for what they were. (they are not in chronological order).</a:t>
            </a:r>
          </a:p>
          <a:p>
            <a:pPr marL="0" indent="0">
              <a:buNone/>
            </a:pPr>
            <a:endParaRPr lang="en-AU" sz="2200" dirty="0">
              <a:solidFill>
                <a:srgbClr val="FFFFFF"/>
              </a:solidFill>
            </a:endParaRPr>
          </a:p>
          <a:p>
            <a:r>
              <a:rPr lang="en-AU" sz="2200" dirty="0">
                <a:solidFill>
                  <a:srgbClr val="FFFFFF"/>
                </a:solidFill>
              </a:rPr>
              <a:t>New deals</a:t>
            </a:r>
          </a:p>
          <a:p>
            <a:r>
              <a:rPr lang="en-AU" sz="2200" dirty="0">
                <a:solidFill>
                  <a:srgbClr val="FFFFFF"/>
                </a:solidFill>
              </a:rPr>
              <a:t>Wall street crash</a:t>
            </a:r>
          </a:p>
          <a:p>
            <a:r>
              <a:rPr lang="en-AU" sz="2200" dirty="0">
                <a:solidFill>
                  <a:srgbClr val="FFFFFF"/>
                </a:solidFill>
              </a:rPr>
              <a:t>End of Prohibition </a:t>
            </a:r>
          </a:p>
          <a:p>
            <a:r>
              <a:rPr lang="en-AU" sz="2200" dirty="0">
                <a:solidFill>
                  <a:srgbClr val="FFFFFF"/>
                </a:solidFill>
              </a:rPr>
              <a:t>Hoover becomes President </a:t>
            </a:r>
          </a:p>
          <a:p>
            <a:r>
              <a:rPr lang="en-AU" sz="2200" dirty="0">
                <a:solidFill>
                  <a:srgbClr val="FFFFFF"/>
                </a:solidFill>
              </a:rPr>
              <a:t>Alphabet agencies </a:t>
            </a:r>
          </a:p>
          <a:p>
            <a:r>
              <a:rPr lang="en-AU" sz="2200" dirty="0">
                <a:solidFill>
                  <a:srgbClr val="FFFFFF"/>
                </a:solidFill>
              </a:rPr>
              <a:t>FDR becomes President</a:t>
            </a:r>
          </a:p>
          <a:p>
            <a:r>
              <a:rPr lang="en-AU" sz="2200" dirty="0">
                <a:solidFill>
                  <a:srgbClr val="FFFFFF"/>
                </a:solidFill>
              </a:rPr>
              <a:t>America enters WW2</a:t>
            </a:r>
          </a:p>
          <a:p>
            <a:r>
              <a:rPr lang="en-AU" sz="2200" dirty="0">
                <a:solidFill>
                  <a:srgbClr val="FFFFFF"/>
                </a:solidFill>
              </a:rPr>
              <a:t>WW2 begins</a:t>
            </a:r>
          </a:p>
        </p:txBody>
      </p:sp>
    </p:spTree>
    <p:extLst>
      <p:ext uri="{BB962C8B-B14F-4D97-AF65-F5344CB8AC3E}">
        <p14:creationId xmlns:p14="http://schemas.microsoft.com/office/powerpoint/2010/main" val="4132151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909</Words>
  <Application>Microsoft Office PowerPoint</Application>
  <PresentationFormat>Widescreen</PresentationFormat>
  <Paragraphs>107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The Great Depression and the New Deal</vt:lpstr>
      <vt:lpstr>The story so far…</vt:lpstr>
      <vt:lpstr>The Great Depression Explained in One Minute</vt:lpstr>
      <vt:lpstr>Leading up to the Wall Street Crash</vt:lpstr>
      <vt:lpstr>The Wall Street Crash – A Catalyst </vt:lpstr>
      <vt:lpstr>The Great Depression - CAUSES</vt:lpstr>
      <vt:lpstr>The Great Depression – underlying causes deepened the Depression</vt:lpstr>
      <vt:lpstr>The extent of the Great Depression </vt:lpstr>
      <vt:lpstr>The extent of the Great Depression – SOCIAL https://www.youtube.com/watch?v=gkAfjRolNCI&amp;t=59s</vt:lpstr>
      <vt:lpstr>Hoover’s reaction to the GD</vt:lpstr>
      <vt:lpstr>Franklin D. Roosevelt</vt:lpstr>
      <vt:lpstr>First New Deal 1933-1935</vt:lpstr>
      <vt:lpstr>PowerPoint Presentation</vt:lpstr>
      <vt:lpstr>Second New Deal 1935-1939</vt:lpstr>
      <vt:lpstr>Opposition to the New Deal</vt:lpstr>
      <vt:lpstr>An evaluation of the New Deal</vt:lpstr>
      <vt:lpstr>Understanding the Great Depression</vt:lpstr>
      <vt:lpstr>1929-1939 timeline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Great Depression and the New Deal</dc:title>
  <dc:creator>Natasha Hawkes</dc:creator>
  <cp:lastModifiedBy>HAWKES Natasha [Narrogin Senior High School]</cp:lastModifiedBy>
  <cp:revision>6</cp:revision>
  <dcterms:created xsi:type="dcterms:W3CDTF">2019-04-01T12:21:32Z</dcterms:created>
  <dcterms:modified xsi:type="dcterms:W3CDTF">2019-04-03T07:37:27Z</dcterms:modified>
</cp:coreProperties>
</file>
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9931400" cy="6794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A26C4D-04D2-44A3-8097-55EDD8CA382D}" type="doc">
      <dgm:prSet loTypeId="urn:microsoft.com/office/officeart/2005/8/layout/process1" loCatId="process" qsTypeId="urn:microsoft.com/office/officeart/2005/8/quickstyle/simple1" qsCatId="simple" csTypeId="urn:microsoft.com/office/officeart/2005/8/colors/colorful4" csCatId="colorful" phldr="1"/>
      <dgm:spPr/>
    </dgm:pt>
    <dgm:pt modelId="{5B5E0D07-4B06-45DD-894E-B02ACB75213C}">
      <dgm:prSet phldrT="[Text]"/>
      <dgm:spPr>
        <a:solidFill>
          <a:srgbClr val="FF0000"/>
        </a:solidFill>
      </dgm:spPr>
      <dgm:t>
        <a:bodyPr/>
        <a:lstStyle/>
        <a:p>
          <a:r>
            <a:rPr lang="en-AU" dirty="0">
              <a:solidFill>
                <a:schemeClr val="tx1"/>
              </a:solidFill>
            </a:rPr>
            <a:t>End of Civil War 1865</a:t>
          </a:r>
        </a:p>
      </dgm:t>
    </dgm:pt>
    <dgm:pt modelId="{B4B112F4-1D7B-4080-95B6-BBB8E7059E6F}" type="parTrans" cxnId="{AA5EF443-6DBC-4F9B-9867-C89BEF3E2BF1}">
      <dgm:prSet/>
      <dgm:spPr/>
      <dgm:t>
        <a:bodyPr/>
        <a:lstStyle/>
        <a:p>
          <a:endParaRPr lang="en-AU"/>
        </a:p>
      </dgm:t>
    </dgm:pt>
    <dgm:pt modelId="{2EA9F32F-BC36-405D-BBB2-01ECE026D0CF}" type="sibTrans" cxnId="{AA5EF443-6DBC-4F9B-9867-C89BEF3E2BF1}">
      <dgm:prSet/>
      <dgm:spPr>
        <a:solidFill>
          <a:schemeClr val="tx1"/>
        </a:solidFill>
      </dgm:spPr>
      <dgm:t>
        <a:bodyPr/>
        <a:lstStyle/>
        <a:p>
          <a:endParaRPr lang="en-AU"/>
        </a:p>
      </dgm:t>
    </dgm:pt>
    <dgm:pt modelId="{E17E0D14-EC27-429F-98EE-9133D7AD2F6B}">
      <dgm:prSet phldrT="[Text]"/>
      <dgm:spPr>
        <a:solidFill>
          <a:srgbClr val="FFC000"/>
        </a:solidFill>
      </dgm:spPr>
      <dgm:t>
        <a:bodyPr/>
        <a:lstStyle/>
        <a:p>
          <a:r>
            <a:rPr lang="en-AU" dirty="0">
              <a:solidFill>
                <a:schemeClr val="tx1"/>
              </a:solidFill>
            </a:rPr>
            <a:t>The Gilded Age/Second Industrial Revolution 1865-1900</a:t>
          </a:r>
        </a:p>
      </dgm:t>
    </dgm:pt>
    <dgm:pt modelId="{A2A88385-0752-45D2-B0E7-E05AB90D8E31}" type="parTrans" cxnId="{ADDAB1C7-342A-473A-B8E6-46A7E415E28E}">
      <dgm:prSet/>
      <dgm:spPr/>
      <dgm:t>
        <a:bodyPr/>
        <a:lstStyle/>
        <a:p>
          <a:endParaRPr lang="en-AU"/>
        </a:p>
      </dgm:t>
    </dgm:pt>
    <dgm:pt modelId="{ADA4584A-7239-4667-8520-4E9875E386EB}" type="sibTrans" cxnId="{ADDAB1C7-342A-473A-B8E6-46A7E415E28E}">
      <dgm:prSet/>
      <dgm:spPr>
        <a:solidFill>
          <a:schemeClr val="tx1"/>
        </a:solidFill>
      </dgm:spPr>
      <dgm:t>
        <a:bodyPr/>
        <a:lstStyle/>
        <a:p>
          <a:endParaRPr lang="en-AU"/>
        </a:p>
      </dgm:t>
    </dgm:pt>
    <dgm:pt modelId="{67FE21D5-F4A8-4E8A-9154-5CD742AE4612}">
      <dgm:prSet phldrT="[Text]"/>
      <dgm:spPr>
        <a:solidFill>
          <a:srgbClr val="FFFF00"/>
        </a:solidFill>
      </dgm:spPr>
      <dgm:t>
        <a:bodyPr/>
        <a:lstStyle/>
        <a:p>
          <a:r>
            <a:rPr lang="en-AU" dirty="0">
              <a:solidFill>
                <a:schemeClr val="tx1"/>
              </a:solidFill>
            </a:rPr>
            <a:t>Progressive Era 1900-1917</a:t>
          </a:r>
        </a:p>
      </dgm:t>
    </dgm:pt>
    <dgm:pt modelId="{FEAC84E4-1428-4FD0-9E0F-F8DB9AEC80F4}" type="parTrans" cxnId="{03762D86-3184-4BB9-A81F-7148A906F0C4}">
      <dgm:prSet/>
      <dgm:spPr/>
      <dgm:t>
        <a:bodyPr/>
        <a:lstStyle/>
        <a:p>
          <a:endParaRPr lang="en-AU"/>
        </a:p>
      </dgm:t>
    </dgm:pt>
    <dgm:pt modelId="{5C656DF4-A427-4223-BAA0-DA4702353647}" type="sibTrans" cxnId="{03762D86-3184-4BB9-A81F-7148A906F0C4}">
      <dgm:prSet/>
      <dgm:spPr/>
      <dgm:t>
        <a:bodyPr/>
        <a:lstStyle/>
        <a:p>
          <a:endParaRPr lang="en-AU"/>
        </a:p>
      </dgm:t>
    </dgm:pt>
    <dgm:pt modelId="{80605654-D7EC-4A1C-A69E-DD5F300F9758}" type="pres">
      <dgm:prSet presAssocID="{ACA26C4D-04D2-44A3-8097-55EDD8CA382D}" presName="Name0" presStyleCnt="0">
        <dgm:presLayoutVars>
          <dgm:dir/>
          <dgm:resizeHandles val="exact"/>
        </dgm:presLayoutVars>
      </dgm:prSet>
      <dgm:spPr/>
    </dgm:pt>
    <dgm:pt modelId="{D4CBC531-70DB-4ECB-A197-46D9775CE880}" type="pres">
      <dgm:prSet presAssocID="{5B5E0D07-4B06-45DD-894E-B02ACB75213C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9CD200-DCB6-4F4F-A542-8B26FCF8FE82}" type="pres">
      <dgm:prSet presAssocID="{2EA9F32F-BC36-405D-BBB2-01ECE026D0CF}" presName="sibTrans" presStyleLbl="sibTrans2D1" presStyleIdx="0" presStyleCnt="2"/>
      <dgm:spPr/>
      <dgm:t>
        <a:bodyPr/>
        <a:lstStyle/>
        <a:p>
          <a:endParaRPr lang="en-US"/>
        </a:p>
      </dgm:t>
    </dgm:pt>
    <dgm:pt modelId="{25325378-7339-49C1-A156-EFBAF13C23D0}" type="pres">
      <dgm:prSet presAssocID="{2EA9F32F-BC36-405D-BBB2-01ECE026D0CF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3047A041-5BC3-4E8F-B3C9-3DEE2D1E048E}" type="pres">
      <dgm:prSet presAssocID="{E17E0D14-EC27-429F-98EE-9133D7AD2F6B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0BBC2A-0DAC-49AD-86C0-6BE847AD7D8D}" type="pres">
      <dgm:prSet presAssocID="{ADA4584A-7239-4667-8520-4E9875E386EB}" presName="sibTrans" presStyleLbl="sibTrans2D1" presStyleIdx="1" presStyleCnt="2"/>
      <dgm:spPr/>
      <dgm:t>
        <a:bodyPr/>
        <a:lstStyle/>
        <a:p>
          <a:endParaRPr lang="en-US"/>
        </a:p>
      </dgm:t>
    </dgm:pt>
    <dgm:pt modelId="{359F18B4-78AB-49EE-84A8-B086EDEA4506}" type="pres">
      <dgm:prSet presAssocID="{ADA4584A-7239-4667-8520-4E9875E386EB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4CAE772E-C4F7-4642-B71A-9FF2E34C13CA}" type="pres">
      <dgm:prSet presAssocID="{67FE21D5-F4A8-4E8A-9154-5CD742AE4612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648A3AB-596B-437C-A6FA-0644F326CD69}" type="presOf" srcId="{2EA9F32F-BC36-405D-BBB2-01ECE026D0CF}" destId="{229CD200-DCB6-4F4F-A542-8B26FCF8FE82}" srcOrd="0" destOrd="0" presId="urn:microsoft.com/office/officeart/2005/8/layout/process1"/>
    <dgm:cxn modelId="{82855A0E-196F-4EB8-87E3-E261F5772749}" type="presOf" srcId="{ADA4584A-7239-4667-8520-4E9875E386EB}" destId="{359F18B4-78AB-49EE-84A8-B086EDEA4506}" srcOrd="1" destOrd="0" presId="urn:microsoft.com/office/officeart/2005/8/layout/process1"/>
    <dgm:cxn modelId="{1DE6A9D0-8B81-4DE8-9FA4-AE71A330D17A}" type="presOf" srcId="{ADA4584A-7239-4667-8520-4E9875E386EB}" destId="{2B0BBC2A-0DAC-49AD-86C0-6BE847AD7D8D}" srcOrd="0" destOrd="0" presId="urn:microsoft.com/office/officeart/2005/8/layout/process1"/>
    <dgm:cxn modelId="{1CB672E4-E2C6-479E-9B77-96FE3104C29E}" type="presOf" srcId="{67FE21D5-F4A8-4E8A-9154-5CD742AE4612}" destId="{4CAE772E-C4F7-4642-B71A-9FF2E34C13CA}" srcOrd="0" destOrd="0" presId="urn:microsoft.com/office/officeart/2005/8/layout/process1"/>
    <dgm:cxn modelId="{AA5EF443-6DBC-4F9B-9867-C89BEF3E2BF1}" srcId="{ACA26C4D-04D2-44A3-8097-55EDD8CA382D}" destId="{5B5E0D07-4B06-45DD-894E-B02ACB75213C}" srcOrd="0" destOrd="0" parTransId="{B4B112F4-1D7B-4080-95B6-BBB8E7059E6F}" sibTransId="{2EA9F32F-BC36-405D-BBB2-01ECE026D0CF}"/>
    <dgm:cxn modelId="{ADDAB1C7-342A-473A-B8E6-46A7E415E28E}" srcId="{ACA26C4D-04D2-44A3-8097-55EDD8CA382D}" destId="{E17E0D14-EC27-429F-98EE-9133D7AD2F6B}" srcOrd="1" destOrd="0" parTransId="{A2A88385-0752-45D2-B0E7-E05AB90D8E31}" sibTransId="{ADA4584A-7239-4667-8520-4E9875E386EB}"/>
    <dgm:cxn modelId="{931D79CF-F9FB-44CB-AB5D-AABD15D43B3C}" type="presOf" srcId="{ACA26C4D-04D2-44A3-8097-55EDD8CA382D}" destId="{80605654-D7EC-4A1C-A69E-DD5F300F9758}" srcOrd="0" destOrd="0" presId="urn:microsoft.com/office/officeart/2005/8/layout/process1"/>
    <dgm:cxn modelId="{C4146652-A880-4BFD-8125-FE3298884B1B}" type="presOf" srcId="{E17E0D14-EC27-429F-98EE-9133D7AD2F6B}" destId="{3047A041-5BC3-4E8F-B3C9-3DEE2D1E048E}" srcOrd="0" destOrd="0" presId="urn:microsoft.com/office/officeart/2005/8/layout/process1"/>
    <dgm:cxn modelId="{0F0CA977-D5C3-45E1-B705-4C360A964F9C}" type="presOf" srcId="{5B5E0D07-4B06-45DD-894E-B02ACB75213C}" destId="{D4CBC531-70DB-4ECB-A197-46D9775CE880}" srcOrd="0" destOrd="0" presId="urn:microsoft.com/office/officeart/2005/8/layout/process1"/>
    <dgm:cxn modelId="{03762D86-3184-4BB9-A81F-7148A906F0C4}" srcId="{ACA26C4D-04D2-44A3-8097-55EDD8CA382D}" destId="{67FE21D5-F4A8-4E8A-9154-5CD742AE4612}" srcOrd="2" destOrd="0" parTransId="{FEAC84E4-1428-4FD0-9E0F-F8DB9AEC80F4}" sibTransId="{5C656DF4-A427-4223-BAA0-DA4702353647}"/>
    <dgm:cxn modelId="{AA54F5D9-F4CD-47E7-BAD8-9C5774F28D3A}" type="presOf" srcId="{2EA9F32F-BC36-405D-BBB2-01ECE026D0CF}" destId="{25325378-7339-49C1-A156-EFBAF13C23D0}" srcOrd="1" destOrd="0" presId="urn:microsoft.com/office/officeart/2005/8/layout/process1"/>
    <dgm:cxn modelId="{9AD631F4-3C26-460B-91DD-DDC49405E33F}" type="presParOf" srcId="{80605654-D7EC-4A1C-A69E-DD5F300F9758}" destId="{D4CBC531-70DB-4ECB-A197-46D9775CE880}" srcOrd="0" destOrd="0" presId="urn:microsoft.com/office/officeart/2005/8/layout/process1"/>
    <dgm:cxn modelId="{7F780181-9A59-46DC-9B77-CF5A8C47167D}" type="presParOf" srcId="{80605654-D7EC-4A1C-A69E-DD5F300F9758}" destId="{229CD200-DCB6-4F4F-A542-8B26FCF8FE82}" srcOrd="1" destOrd="0" presId="urn:microsoft.com/office/officeart/2005/8/layout/process1"/>
    <dgm:cxn modelId="{E2D061B8-9DCF-4D34-86E7-EB8723E8CAE5}" type="presParOf" srcId="{229CD200-DCB6-4F4F-A542-8B26FCF8FE82}" destId="{25325378-7339-49C1-A156-EFBAF13C23D0}" srcOrd="0" destOrd="0" presId="urn:microsoft.com/office/officeart/2005/8/layout/process1"/>
    <dgm:cxn modelId="{FF80EBEC-F613-483B-9BAA-1AF269390E54}" type="presParOf" srcId="{80605654-D7EC-4A1C-A69E-DD5F300F9758}" destId="{3047A041-5BC3-4E8F-B3C9-3DEE2D1E048E}" srcOrd="2" destOrd="0" presId="urn:microsoft.com/office/officeart/2005/8/layout/process1"/>
    <dgm:cxn modelId="{E42DCF9F-F732-4341-A256-693D202FE863}" type="presParOf" srcId="{80605654-D7EC-4A1C-A69E-DD5F300F9758}" destId="{2B0BBC2A-0DAC-49AD-86C0-6BE847AD7D8D}" srcOrd="3" destOrd="0" presId="urn:microsoft.com/office/officeart/2005/8/layout/process1"/>
    <dgm:cxn modelId="{B16B1739-373D-4D4D-B8D5-72B87B3C4A08}" type="presParOf" srcId="{2B0BBC2A-0DAC-49AD-86C0-6BE847AD7D8D}" destId="{359F18B4-78AB-49EE-84A8-B086EDEA4506}" srcOrd="0" destOrd="0" presId="urn:microsoft.com/office/officeart/2005/8/layout/process1"/>
    <dgm:cxn modelId="{AA5379C2-E573-414F-8982-4E5D0F290EBA}" type="presParOf" srcId="{80605654-D7EC-4A1C-A69E-DD5F300F9758}" destId="{4CAE772E-C4F7-4642-B71A-9FF2E34C13CA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4DC520-8761-4242-AF1C-4A45C73D51F6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1ED58B6-3D9F-4B29-91A7-922AC54D8D57}">
      <dgm:prSet custT="1"/>
      <dgm:spPr/>
      <dgm:t>
        <a:bodyPr/>
        <a:lstStyle/>
        <a:p>
          <a:r>
            <a:rPr lang="en-AU" sz="2000" dirty="0"/>
            <a:t>Explain how the Model T changed everyday life in America for the ‘common man’.</a:t>
          </a:r>
          <a:endParaRPr lang="en-US" sz="2000" dirty="0"/>
        </a:p>
      </dgm:t>
    </dgm:pt>
    <dgm:pt modelId="{4CAEF05D-91C0-476F-8E67-43336945B791}" type="parTrans" cxnId="{A8432E8A-2646-405E-AF5A-3145FD78C0CC}">
      <dgm:prSet/>
      <dgm:spPr/>
      <dgm:t>
        <a:bodyPr/>
        <a:lstStyle/>
        <a:p>
          <a:endParaRPr lang="en-US"/>
        </a:p>
      </dgm:t>
    </dgm:pt>
    <dgm:pt modelId="{3C527789-4653-4CEA-AA92-926C587294ED}" type="sibTrans" cxnId="{A8432E8A-2646-405E-AF5A-3145FD78C0CC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C96B9161-7897-461C-AB22-9BF5977C2CEE}">
      <dgm:prSet custT="1"/>
      <dgm:spPr/>
      <dgm:t>
        <a:bodyPr/>
        <a:lstStyle/>
        <a:p>
          <a:r>
            <a:rPr lang="en-AU" sz="1700" dirty="0"/>
            <a:t>How did developments in production (assembly line) affect America in the years to come? (focus on 1920s).</a:t>
          </a:r>
          <a:endParaRPr lang="en-US" sz="1700" dirty="0"/>
        </a:p>
      </dgm:t>
    </dgm:pt>
    <dgm:pt modelId="{2F4782C4-3771-4B9C-9D66-9A31FBE84CF2}" type="parTrans" cxnId="{64DED288-E226-4B06-A64E-AD81482D8926}">
      <dgm:prSet/>
      <dgm:spPr/>
      <dgm:t>
        <a:bodyPr/>
        <a:lstStyle/>
        <a:p>
          <a:endParaRPr lang="en-US"/>
        </a:p>
      </dgm:t>
    </dgm:pt>
    <dgm:pt modelId="{95852731-42F6-47B2-90E4-0B259A723420}" type="sibTrans" cxnId="{64DED288-E226-4B06-A64E-AD81482D8926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23DBC2FD-D1AF-4F34-A9D0-355A797EF548}">
      <dgm:prSet custT="1"/>
      <dgm:spPr/>
      <dgm:t>
        <a:bodyPr/>
        <a:lstStyle/>
        <a:p>
          <a:r>
            <a:rPr lang="en-AU" sz="1700" dirty="0"/>
            <a:t>Theodore Roosevelt was described as a ‘Progressive President’. Identify examples of his Progressive program.</a:t>
          </a:r>
          <a:endParaRPr lang="en-US" sz="1700" dirty="0"/>
        </a:p>
      </dgm:t>
    </dgm:pt>
    <dgm:pt modelId="{098E069C-33D1-4E06-8EB7-455499416EA0}" type="parTrans" cxnId="{DF241C9F-9226-4F52-B756-9321F6B4CBFC}">
      <dgm:prSet/>
      <dgm:spPr/>
      <dgm:t>
        <a:bodyPr/>
        <a:lstStyle/>
        <a:p>
          <a:endParaRPr lang="en-US"/>
        </a:p>
      </dgm:t>
    </dgm:pt>
    <dgm:pt modelId="{F981CD00-7F44-493D-9E79-81D3A3D2647A}" type="sibTrans" cxnId="{DF241C9F-9226-4F52-B756-9321F6B4CBFC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12B815A-6735-4937-A485-2837007656CF}">
      <dgm:prSet custT="1"/>
      <dgm:spPr/>
      <dgm:t>
        <a:bodyPr/>
        <a:lstStyle/>
        <a:p>
          <a:r>
            <a:rPr lang="en-AU" sz="2200" dirty="0"/>
            <a:t>How did Taft’s presidency differ from Theodore Roosevelt’s.</a:t>
          </a:r>
          <a:endParaRPr lang="en-US" sz="2200" dirty="0"/>
        </a:p>
      </dgm:t>
    </dgm:pt>
    <dgm:pt modelId="{D0BA2698-C888-48FB-8C34-DB3C3C1A63A3}" type="parTrans" cxnId="{6B7A7280-0694-4285-993E-8BDD209844E9}">
      <dgm:prSet/>
      <dgm:spPr/>
      <dgm:t>
        <a:bodyPr/>
        <a:lstStyle/>
        <a:p>
          <a:endParaRPr lang="en-US"/>
        </a:p>
      </dgm:t>
    </dgm:pt>
    <dgm:pt modelId="{45FED022-434D-4C50-89DF-725F1460F0A3}" type="sibTrans" cxnId="{6B7A7280-0694-4285-993E-8BDD209844E9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4A63165D-5BEA-4F84-80AA-E9129A5CD0F3}" type="pres">
      <dgm:prSet presAssocID="{E64DC520-8761-4242-AF1C-4A45C73D51F6}" presName="Name0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0E7926E-1EA0-43E6-A67B-6B9B2180C2C5}" type="pres">
      <dgm:prSet presAssocID="{21ED58B6-3D9F-4B29-91A7-922AC54D8D57}" presName="compositeNode" presStyleCnt="0">
        <dgm:presLayoutVars>
          <dgm:bulletEnabled val="1"/>
        </dgm:presLayoutVars>
      </dgm:prSet>
      <dgm:spPr/>
    </dgm:pt>
    <dgm:pt modelId="{49D08006-C9E2-4FF1-81F1-9F58839CEEFF}" type="pres">
      <dgm:prSet presAssocID="{21ED58B6-3D9F-4B29-91A7-922AC54D8D57}" presName="bgRect" presStyleLbl="bgAccFollowNode1" presStyleIdx="0" presStyleCnt="4"/>
      <dgm:spPr/>
      <dgm:t>
        <a:bodyPr/>
        <a:lstStyle/>
        <a:p>
          <a:endParaRPr lang="en-US"/>
        </a:p>
      </dgm:t>
    </dgm:pt>
    <dgm:pt modelId="{7187BBC6-040B-4417-9C6B-E99A0B5ADFC9}" type="pres">
      <dgm:prSet presAssocID="{3C527789-4653-4CEA-AA92-926C587294ED}" presName="sibTransNodeCircle" presStyleLbl="alignNode1" presStyleIdx="0" presStyleCnt="8">
        <dgm:presLayoutVars>
          <dgm:chMax val="0"/>
          <dgm:bulletEnabled/>
        </dgm:presLayoutVars>
      </dgm:prSet>
      <dgm:spPr/>
      <dgm:t>
        <a:bodyPr/>
        <a:lstStyle/>
        <a:p>
          <a:endParaRPr lang="en-US"/>
        </a:p>
      </dgm:t>
    </dgm:pt>
    <dgm:pt modelId="{79EEE6E5-9EA9-46D8-A77F-3F6367DCF07D}" type="pres">
      <dgm:prSet presAssocID="{21ED58B6-3D9F-4B29-91A7-922AC54D8D57}" presName="bottomLine" presStyleLbl="alignNode1" presStyleIdx="1" presStyleCnt="8">
        <dgm:presLayoutVars/>
      </dgm:prSet>
      <dgm:spPr/>
    </dgm:pt>
    <dgm:pt modelId="{5B7CC83C-67A2-47DE-9DE8-9D413C10E115}" type="pres">
      <dgm:prSet presAssocID="{21ED58B6-3D9F-4B29-91A7-922AC54D8D57}" presName="nodeText" presStyleLbl="b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5022E3-E3A8-4F59-B86C-90650E64D3BB}" type="pres">
      <dgm:prSet presAssocID="{3C527789-4653-4CEA-AA92-926C587294ED}" presName="sibTrans" presStyleCnt="0"/>
      <dgm:spPr/>
    </dgm:pt>
    <dgm:pt modelId="{4F1B8B09-A009-413B-889D-82CCB1F34716}" type="pres">
      <dgm:prSet presAssocID="{C96B9161-7897-461C-AB22-9BF5977C2CEE}" presName="compositeNode" presStyleCnt="0">
        <dgm:presLayoutVars>
          <dgm:bulletEnabled val="1"/>
        </dgm:presLayoutVars>
      </dgm:prSet>
      <dgm:spPr/>
    </dgm:pt>
    <dgm:pt modelId="{00273C5C-751D-4863-976C-E6B90D91D13F}" type="pres">
      <dgm:prSet presAssocID="{C96B9161-7897-461C-AB22-9BF5977C2CEE}" presName="bgRect" presStyleLbl="bgAccFollowNode1" presStyleIdx="1" presStyleCnt="4"/>
      <dgm:spPr/>
      <dgm:t>
        <a:bodyPr/>
        <a:lstStyle/>
        <a:p>
          <a:endParaRPr lang="en-US"/>
        </a:p>
      </dgm:t>
    </dgm:pt>
    <dgm:pt modelId="{E785056D-52E7-42EE-88E8-522451290F08}" type="pres">
      <dgm:prSet presAssocID="{95852731-42F6-47B2-90E4-0B259A723420}" presName="sibTransNodeCircle" presStyleLbl="alignNode1" presStyleIdx="2" presStyleCnt="8">
        <dgm:presLayoutVars>
          <dgm:chMax val="0"/>
          <dgm:bulletEnabled/>
        </dgm:presLayoutVars>
      </dgm:prSet>
      <dgm:spPr/>
      <dgm:t>
        <a:bodyPr/>
        <a:lstStyle/>
        <a:p>
          <a:endParaRPr lang="en-US"/>
        </a:p>
      </dgm:t>
    </dgm:pt>
    <dgm:pt modelId="{DCEB80EA-753E-4C8C-A92F-1F8A40DE3258}" type="pres">
      <dgm:prSet presAssocID="{C96B9161-7897-461C-AB22-9BF5977C2CEE}" presName="bottomLine" presStyleLbl="alignNode1" presStyleIdx="3" presStyleCnt="8">
        <dgm:presLayoutVars/>
      </dgm:prSet>
      <dgm:spPr/>
    </dgm:pt>
    <dgm:pt modelId="{B01B1E32-E025-470C-B29F-D48F40D2F01C}" type="pres">
      <dgm:prSet presAssocID="{C96B9161-7897-461C-AB22-9BF5977C2CEE}" presName="nodeText" presStyleLbl="b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F0549D-8D7C-496E-99E3-3549976CD91E}" type="pres">
      <dgm:prSet presAssocID="{95852731-42F6-47B2-90E4-0B259A723420}" presName="sibTrans" presStyleCnt="0"/>
      <dgm:spPr/>
    </dgm:pt>
    <dgm:pt modelId="{E799D06F-7EF0-4BC4-85E5-BB216A1F3A11}" type="pres">
      <dgm:prSet presAssocID="{23DBC2FD-D1AF-4F34-A9D0-355A797EF548}" presName="compositeNode" presStyleCnt="0">
        <dgm:presLayoutVars>
          <dgm:bulletEnabled val="1"/>
        </dgm:presLayoutVars>
      </dgm:prSet>
      <dgm:spPr/>
    </dgm:pt>
    <dgm:pt modelId="{5504135E-7A78-442F-982B-ADBAE5BC0EDA}" type="pres">
      <dgm:prSet presAssocID="{23DBC2FD-D1AF-4F34-A9D0-355A797EF548}" presName="bgRect" presStyleLbl="bgAccFollowNode1" presStyleIdx="2" presStyleCnt="4"/>
      <dgm:spPr/>
      <dgm:t>
        <a:bodyPr/>
        <a:lstStyle/>
        <a:p>
          <a:endParaRPr lang="en-US"/>
        </a:p>
      </dgm:t>
    </dgm:pt>
    <dgm:pt modelId="{2AD2C7B6-3878-4134-81E6-A08278EB9C8A}" type="pres">
      <dgm:prSet presAssocID="{F981CD00-7F44-493D-9E79-81D3A3D2647A}" presName="sibTransNodeCircle" presStyleLbl="alignNode1" presStyleIdx="4" presStyleCnt="8">
        <dgm:presLayoutVars>
          <dgm:chMax val="0"/>
          <dgm:bulletEnabled/>
        </dgm:presLayoutVars>
      </dgm:prSet>
      <dgm:spPr/>
      <dgm:t>
        <a:bodyPr/>
        <a:lstStyle/>
        <a:p>
          <a:endParaRPr lang="en-US"/>
        </a:p>
      </dgm:t>
    </dgm:pt>
    <dgm:pt modelId="{1D8E1F8E-7D26-4621-94B6-5E9FB92F3CD7}" type="pres">
      <dgm:prSet presAssocID="{23DBC2FD-D1AF-4F34-A9D0-355A797EF548}" presName="bottomLine" presStyleLbl="alignNode1" presStyleIdx="5" presStyleCnt="8">
        <dgm:presLayoutVars/>
      </dgm:prSet>
      <dgm:spPr/>
    </dgm:pt>
    <dgm:pt modelId="{9080775B-B555-44BB-9136-868F1C2A62DE}" type="pres">
      <dgm:prSet presAssocID="{23DBC2FD-D1AF-4F34-A9D0-355A797EF548}" presName="nodeText" presStyleLbl="b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F5EA146-83E8-40C7-9AAD-A33835D50C8F}" type="pres">
      <dgm:prSet presAssocID="{F981CD00-7F44-493D-9E79-81D3A3D2647A}" presName="sibTrans" presStyleCnt="0"/>
      <dgm:spPr/>
    </dgm:pt>
    <dgm:pt modelId="{E651D9DB-B6B4-4E0B-99A7-678454C3ACA9}" type="pres">
      <dgm:prSet presAssocID="{112B815A-6735-4937-A485-2837007656CF}" presName="compositeNode" presStyleCnt="0">
        <dgm:presLayoutVars>
          <dgm:bulletEnabled val="1"/>
        </dgm:presLayoutVars>
      </dgm:prSet>
      <dgm:spPr/>
    </dgm:pt>
    <dgm:pt modelId="{D970677E-5097-42C7-A724-BC1F348D4151}" type="pres">
      <dgm:prSet presAssocID="{112B815A-6735-4937-A485-2837007656CF}" presName="bgRect" presStyleLbl="bgAccFollowNode1" presStyleIdx="3" presStyleCnt="4"/>
      <dgm:spPr/>
      <dgm:t>
        <a:bodyPr/>
        <a:lstStyle/>
        <a:p>
          <a:endParaRPr lang="en-US"/>
        </a:p>
      </dgm:t>
    </dgm:pt>
    <dgm:pt modelId="{5E66CCDC-45F9-4739-A4A4-31E39AB432A7}" type="pres">
      <dgm:prSet presAssocID="{45FED022-434D-4C50-89DF-725F1460F0A3}" presName="sibTransNodeCircle" presStyleLbl="alignNode1" presStyleIdx="6" presStyleCnt="8">
        <dgm:presLayoutVars>
          <dgm:chMax val="0"/>
          <dgm:bulletEnabled/>
        </dgm:presLayoutVars>
      </dgm:prSet>
      <dgm:spPr/>
      <dgm:t>
        <a:bodyPr/>
        <a:lstStyle/>
        <a:p>
          <a:endParaRPr lang="en-US"/>
        </a:p>
      </dgm:t>
    </dgm:pt>
    <dgm:pt modelId="{A2CF65B9-BB1F-4BD6-820E-C34527FAD76C}" type="pres">
      <dgm:prSet presAssocID="{112B815A-6735-4937-A485-2837007656CF}" presName="bottomLine" presStyleLbl="alignNode1" presStyleIdx="7" presStyleCnt="8">
        <dgm:presLayoutVars/>
      </dgm:prSet>
      <dgm:spPr/>
    </dgm:pt>
    <dgm:pt modelId="{2AACBA22-7C4E-4E00-BA1F-8823656F0C8E}" type="pres">
      <dgm:prSet presAssocID="{112B815A-6735-4937-A485-2837007656CF}" presName="nodeText" presStyleLbl="b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8432E8A-2646-405E-AF5A-3145FD78C0CC}" srcId="{E64DC520-8761-4242-AF1C-4A45C73D51F6}" destId="{21ED58B6-3D9F-4B29-91A7-922AC54D8D57}" srcOrd="0" destOrd="0" parTransId="{4CAEF05D-91C0-476F-8E67-43336945B791}" sibTransId="{3C527789-4653-4CEA-AA92-926C587294ED}"/>
    <dgm:cxn modelId="{5D89B480-DD84-4BA7-AEA1-B6F59E94434A}" type="presOf" srcId="{95852731-42F6-47B2-90E4-0B259A723420}" destId="{E785056D-52E7-42EE-88E8-522451290F08}" srcOrd="0" destOrd="0" presId="urn:microsoft.com/office/officeart/2016/7/layout/BasicLinearProcessNumbered"/>
    <dgm:cxn modelId="{6B7A7280-0694-4285-993E-8BDD209844E9}" srcId="{E64DC520-8761-4242-AF1C-4A45C73D51F6}" destId="{112B815A-6735-4937-A485-2837007656CF}" srcOrd="3" destOrd="0" parTransId="{D0BA2698-C888-48FB-8C34-DB3C3C1A63A3}" sibTransId="{45FED022-434D-4C50-89DF-725F1460F0A3}"/>
    <dgm:cxn modelId="{42015F7B-9919-4631-87E6-404FDC485F1B}" type="presOf" srcId="{112B815A-6735-4937-A485-2837007656CF}" destId="{2AACBA22-7C4E-4E00-BA1F-8823656F0C8E}" srcOrd="1" destOrd="0" presId="urn:microsoft.com/office/officeart/2016/7/layout/BasicLinearProcessNumbered"/>
    <dgm:cxn modelId="{DF241C9F-9226-4F52-B756-9321F6B4CBFC}" srcId="{E64DC520-8761-4242-AF1C-4A45C73D51F6}" destId="{23DBC2FD-D1AF-4F34-A9D0-355A797EF548}" srcOrd="2" destOrd="0" parTransId="{098E069C-33D1-4E06-8EB7-455499416EA0}" sibTransId="{F981CD00-7F44-493D-9E79-81D3A3D2647A}"/>
    <dgm:cxn modelId="{DD2E1631-0033-49A7-A29B-8A0F8D0A7E16}" type="presOf" srcId="{21ED58B6-3D9F-4B29-91A7-922AC54D8D57}" destId="{5B7CC83C-67A2-47DE-9DE8-9D413C10E115}" srcOrd="1" destOrd="0" presId="urn:microsoft.com/office/officeart/2016/7/layout/BasicLinearProcessNumbered"/>
    <dgm:cxn modelId="{5A35D4D6-E677-4046-8409-54FD6AE84E22}" type="presOf" srcId="{112B815A-6735-4937-A485-2837007656CF}" destId="{D970677E-5097-42C7-A724-BC1F348D4151}" srcOrd="0" destOrd="0" presId="urn:microsoft.com/office/officeart/2016/7/layout/BasicLinearProcessNumbered"/>
    <dgm:cxn modelId="{6E98E3B6-2AE3-4862-A4F1-7DB72DB5D29A}" type="presOf" srcId="{23DBC2FD-D1AF-4F34-A9D0-355A797EF548}" destId="{5504135E-7A78-442F-982B-ADBAE5BC0EDA}" srcOrd="0" destOrd="0" presId="urn:microsoft.com/office/officeart/2016/7/layout/BasicLinearProcessNumbered"/>
    <dgm:cxn modelId="{64DED288-E226-4B06-A64E-AD81482D8926}" srcId="{E64DC520-8761-4242-AF1C-4A45C73D51F6}" destId="{C96B9161-7897-461C-AB22-9BF5977C2CEE}" srcOrd="1" destOrd="0" parTransId="{2F4782C4-3771-4B9C-9D66-9A31FBE84CF2}" sibTransId="{95852731-42F6-47B2-90E4-0B259A723420}"/>
    <dgm:cxn modelId="{51020169-25F6-4BD7-A3EC-50AD1930FDB8}" type="presOf" srcId="{C96B9161-7897-461C-AB22-9BF5977C2CEE}" destId="{00273C5C-751D-4863-976C-E6B90D91D13F}" srcOrd="0" destOrd="0" presId="urn:microsoft.com/office/officeart/2016/7/layout/BasicLinearProcessNumbered"/>
    <dgm:cxn modelId="{54F90E9C-BBF1-4DB5-864C-D4F48688AFB5}" type="presOf" srcId="{23DBC2FD-D1AF-4F34-A9D0-355A797EF548}" destId="{9080775B-B555-44BB-9136-868F1C2A62DE}" srcOrd="1" destOrd="0" presId="urn:microsoft.com/office/officeart/2016/7/layout/BasicLinearProcessNumbered"/>
    <dgm:cxn modelId="{D9734066-D4C5-454C-B716-3E995A93369D}" type="presOf" srcId="{C96B9161-7897-461C-AB22-9BF5977C2CEE}" destId="{B01B1E32-E025-470C-B29F-D48F40D2F01C}" srcOrd="1" destOrd="0" presId="urn:microsoft.com/office/officeart/2016/7/layout/BasicLinearProcessNumbered"/>
    <dgm:cxn modelId="{4C9F7CA7-0A06-4C44-9119-BC607CF2E1F9}" type="presOf" srcId="{3C527789-4653-4CEA-AA92-926C587294ED}" destId="{7187BBC6-040B-4417-9C6B-E99A0B5ADFC9}" srcOrd="0" destOrd="0" presId="urn:microsoft.com/office/officeart/2016/7/layout/BasicLinearProcessNumbered"/>
    <dgm:cxn modelId="{07C35501-4B33-4A05-8872-2C35E712D021}" type="presOf" srcId="{E64DC520-8761-4242-AF1C-4A45C73D51F6}" destId="{4A63165D-5BEA-4F84-80AA-E9129A5CD0F3}" srcOrd="0" destOrd="0" presId="urn:microsoft.com/office/officeart/2016/7/layout/BasicLinearProcessNumbered"/>
    <dgm:cxn modelId="{427FDECA-144D-4743-8348-0EE551C9CDDF}" type="presOf" srcId="{F981CD00-7F44-493D-9E79-81D3A3D2647A}" destId="{2AD2C7B6-3878-4134-81E6-A08278EB9C8A}" srcOrd="0" destOrd="0" presId="urn:microsoft.com/office/officeart/2016/7/layout/BasicLinearProcessNumbered"/>
    <dgm:cxn modelId="{3C7D61AB-25A3-495F-9C14-C921009A3F41}" type="presOf" srcId="{21ED58B6-3D9F-4B29-91A7-922AC54D8D57}" destId="{49D08006-C9E2-4FF1-81F1-9F58839CEEFF}" srcOrd="0" destOrd="0" presId="urn:microsoft.com/office/officeart/2016/7/layout/BasicLinearProcessNumbered"/>
    <dgm:cxn modelId="{5E950A2E-5F3C-4268-ACD3-D53779F0AB95}" type="presOf" srcId="{45FED022-434D-4C50-89DF-725F1460F0A3}" destId="{5E66CCDC-45F9-4739-A4A4-31E39AB432A7}" srcOrd="0" destOrd="0" presId="urn:microsoft.com/office/officeart/2016/7/layout/BasicLinearProcessNumbered"/>
    <dgm:cxn modelId="{0FDA64FC-3E2A-4E67-AD61-AD7679451909}" type="presParOf" srcId="{4A63165D-5BEA-4F84-80AA-E9129A5CD0F3}" destId="{60E7926E-1EA0-43E6-A67B-6B9B2180C2C5}" srcOrd="0" destOrd="0" presId="urn:microsoft.com/office/officeart/2016/7/layout/BasicLinearProcessNumbered"/>
    <dgm:cxn modelId="{22174D4A-556C-4AC7-A8B9-31987C9E20CA}" type="presParOf" srcId="{60E7926E-1EA0-43E6-A67B-6B9B2180C2C5}" destId="{49D08006-C9E2-4FF1-81F1-9F58839CEEFF}" srcOrd="0" destOrd="0" presId="urn:microsoft.com/office/officeart/2016/7/layout/BasicLinearProcessNumbered"/>
    <dgm:cxn modelId="{6B7F0449-DAA3-4653-8A76-55098B12A4DE}" type="presParOf" srcId="{60E7926E-1EA0-43E6-A67B-6B9B2180C2C5}" destId="{7187BBC6-040B-4417-9C6B-E99A0B5ADFC9}" srcOrd="1" destOrd="0" presId="urn:microsoft.com/office/officeart/2016/7/layout/BasicLinearProcessNumbered"/>
    <dgm:cxn modelId="{A98991E0-A9D5-4FE4-9D7E-4CD2B1F6F5B1}" type="presParOf" srcId="{60E7926E-1EA0-43E6-A67B-6B9B2180C2C5}" destId="{79EEE6E5-9EA9-46D8-A77F-3F6367DCF07D}" srcOrd="2" destOrd="0" presId="urn:microsoft.com/office/officeart/2016/7/layout/BasicLinearProcessNumbered"/>
    <dgm:cxn modelId="{D3B0F96B-930E-4975-B293-34B099A6802C}" type="presParOf" srcId="{60E7926E-1EA0-43E6-A67B-6B9B2180C2C5}" destId="{5B7CC83C-67A2-47DE-9DE8-9D413C10E115}" srcOrd="3" destOrd="0" presId="urn:microsoft.com/office/officeart/2016/7/layout/BasicLinearProcessNumbered"/>
    <dgm:cxn modelId="{D3FE190F-3546-4CCA-822B-F18317A56DAB}" type="presParOf" srcId="{4A63165D-5BEA-4F84-80AA-E9129A5CD0F3}" destId="{A35022E3-E3A8-4F59-B86C-90650E64D3BB}" srcOrd="1" destOrd="0" presId="urn:microsoft.com/office/officeart/2016/7/layout/BasicLinearProcessNumbered"/>
    <dgm:cxn modelId="{1050A6F9-4A42-45C7-A23F-DB4CAAE92189}" type="presParOf" srcId="{4A63165D-5BEA-4F84-80AA-E9129A5CD0F3}" destId="{4F1B8B09-A009-413B-889D-82CCB1F34716}" srcOrd="2" destOrd="0" presId="urn:microsoft.com/office/officeart/2016/7/layout/BasicLinearProcessNumbered"/>
    <dgm:cxn modelId="{742F0E24-0CC2-465D-BF5B-9680EDDF1AE6}" type="presParOf" srcId="{4F1B8B09-A009-413B-889D-82CCB1F34716}" destId="{00273C5C-751D-4863-976C-E6B90D91D13F}" srcOrd="0" destOrd="0" presId="urn:microsoft.com/office/officeart/2016/7/layout/BasicLinearProcessNumbered"/>
    <dgm:cxn modelId="{2B1980BB-A960-413B-994F-B608AAF9672E}" type="presParOf" srcId="{4F1B8B09-A009-413B-889D-82CCB1F34716}" destId="{E785056D-52E7-42EE-88E8-522451290F08}" srcOrd="1" destOrd="0" presId="urn:microsoft.com/office/officeart/2016/7/layout/BasicLinearProcessNumbered"/>
    <dgm:cxn modelId="{F62D1C5E-AC3C-494A-9B1C-A4D9D2CAAA55}" type="presParOf" srcId="{4F1B8B09-A009-413B-889D-82CCB1F34716}" destId="{DCEB80EA-753E-4C8C-A92F-1F8A40DE3258}" srcOrd="2" destOrd="0" presId="urn:microsoft.com/office/officeart/2016/7/layout/BasicLinearProcessNumbered"/>
    <dgm:cxn modelId="{6E3348F7-1D7B-4D92-8A28-5D23F3C376C5}" type="presParOf" srcId="{4F1B8B09-A009-413B-889D-82CCB1F34716}" destId="{B01B1E32-E025-470C-B29F-D48F40D2F01C}" srcOrd="3" destOrd="0" presId="urn:microsoft.com/office/officeart/2016/7/layout/BasicLinearProcessNumbered"/>
    <dgm:cxn modelId="{F0331178-8DAB-48C5-86F1-CFE62793AC39}" type="presParOf" srcId="{4A63165D-5BEA-4F84-80AA-E9129A5CD0F3}" destId="{D9F0549D-8D7C-496E-99E3-3549976CD91E}" srcOrd="3" destOrd="0" presId="urn:microsoft.com/office/officeart/2016/7/layout/BasicLinearProcessNumbered"/>
    <dgm:cxn modelId="{43C48BF6-7A23-4B7B-80F5-AAF8E5BCCEE4}" type="presParOf" srcId="{4A63165D-5BEA-4F84-80AA-E9129A5CD0F3}" destId="{E799D06F-7EF0-4BC4-85E5-BB216A1F3A11}" srcOrd="4" destOrd="0" presId="urn:microsoft.com/office/officeart/2016/7/layout/BasicLinearProcessNumbered"/>
    <dgm:cxn modelId="{C3086752-643A-4F5D-B793-9ED5037DFD26}" type="presParOf" srcId="{E799D06F-7EF0-4BC4-85E5-BB216A1F3A11}" destId="{5504135E-7A78-442F-982B-ADBAE5BC0EDA}" srcOrd="0" destOrd="0" presId="urn:microsoft.com/office/officeart/2016/7/layout/BasicLinearProcessNumbered"/>
    <dgm:cxn modelId="{45956E35-1917-4A49-88C5-D933613788F5}" type="presParOf" srcId="{E799D06F-7EF0-4BC4-85E5-BB216A1F3A11}" destId="{2AD2C7B6-3878-4134-81E6-A08278EB9C8A}" srcOrd="1" destOrd="0" presId="urn:microsoft.com/office/officeart/2016/7/layout/BasicLinearProcessNumbered"/>
    <dgm:cxn modelId="{416CDB74-DC6B-4A78-AD97-9065E68560FE}" type="presParOf" srcId="{E799D06F-7EF0-4BC4-85E5-BB216A1F3A11}" destId="{1D8E1F8E-7D26-4621-94B6-5E9FB92F3CD7}" srcOrd="2" destOrd="0" presId="urn:microsoft.com/office/officeart/2016/7/layout/BasicLinearProcessNumbered"/>
    <dgm:cxn modelId="{2D2D4792-1C6C-4778-806A-60821802A2CD}" type="presParOf" srcId="{E799D06F-7EF0-4BC4-85E5-BB216A1F3A11}" destId="{9080775B-B555-44BB-9136-868F1C2A62DE}" srcOrd="3" destOrd="0" presId="urn:microsoft.com/office/officeart/2016/7/layout/BasicLinearProcessNumbered"/>
    <dgm:cxn modelId="{8126865D-99A3-4405-8A44-E2FA1D433EE1}" type="presParOf" srcId="{4A63165D-5BEA-4F84-80AA-E9129A5CD0F3}" destId="{EF5EA146-83E8-40C7-9AAD-A33835D50C8F}" srcOrd="5" destOrd="0" presId="urn:microsoft.com/office/officeart/2016/7/layout/BasicLinearProcessNumbered"/>
    <dgm:cxn modelId="{C66D36F9-AFF5-4BA4-945F-8F77DDEE2441}" type="presParOf" srcId="{4A63165D-5BEA-4F84-80AA-E9129A5CD0F3}" destId="{E651D9DB-B6B4-4E0B-99A7-678454C3ACA9}" srcOrd="6" destOrd="0" presId="urn:microsoft.com/office/officeart/2016/7/layout/BasicLinearProcessNumbered"/>
    <dgm:cxn modelId="{57A3AFC8-878A-4F43-A540-2522F502944A}" type="presParOf" srcId="{E651D9DB-B6B4-4E0B-99A7-678454C3ACA9}" destId="{D970677E-5097-42C7-A724-BC1F348D4151}" srcOrd="0" destOrd="0" presId="urn:microsoft.com/office/officeart/2016/7/layout/BasicLinearProcessNumbered"/>
    <dgm:cxn modelId="{82AA6DD9-F97B-4650-BE6B-FAC6AEA0A39F}" type="presParOf" srcId="{E651D9DB-B6B4-4E0B-99A7-678454C3ACA9}" destId="{5E66CCDC-45F9-4739-A4A4-31E39AB432A7}" srcOrd="1" destOrd="0" presId="urn:microsoft.com/office/officeart/2016/7/layout/BasicLinearProcessNumbered"/>
    <dgm:cxn modelId="{89F4911B-D0CE-4ACC-B849-DD3300B20404}" type="presParOf" srcId="{E651D9DB-B6B4-4E0B-99A7-678454C3ACA9}" destId="{A2CF65B9-BB1F-4BD6-820E-C34527FAD76C}" srcOrd="2" destOrd="0" presId="urn:microsoft.com/office/officeart/2016/7/layout/BasicLinearProcessNumbered"/>
    <dgm:cxn modelId="{46E66FF8-4C61-4C4A-91CD-05A3D45505A1}" type="presParOf" srcId="{E651D9DB-B6B4-4E0B-99A7-678454C3ACA9}" destId="{2AACBA22-7C4E-4E00-BA1F-8823656F0C8E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CBC531-70DB-4ECB-A197-46D9775CE880}">
      <dsp:nvSpPr>
        <dsp:cNvPr id="0" name=""/>
        <dsp:cNvSpPr/>
      </dsp:nvSpPr>
      <dsp:spPr>
        <a:xfrm>
          <a:off x="8371" y="1425017"/>
          <a:ext cx="2502172" cy="1501303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100" kern="1200" dirty="0">
              <a:solidFill>
                <a:schemeClr val="tx1"/>
              </a:solidFill>
            </a:rPr>
            <a:t>End of Civil War 1865</a:t>
          </a:r>
        </a:p>
      </dsp:txBody>
      <dsp:txXfrm>
        <a:off x="52343" y="1468989"/>
        <a:ext cx="2414228" cy="1413359"/>
      </dsp:txXfrm>
    </dsp:sp>
    <dsp:sp modelId="{229CD200-DCB6-4F4F-A542-8B26FCF8FE82}">
      <dsp:nvSpPr>
        <dsp:cNvPr id="0" name=""/>
        <dsp:cNvSpPr/>
      </dsp:nvSpPr>
      <dsp:spPr>
        <a:xfrm>
          <a:off x="2760761" y="1865399"/>
          <a:ext cx="530460" cy="620538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1700" kern="1200"/>
        </a:p>
      </dsp:txBody>
      <dsp:txXfrm>
        <a:off x="2760761" y="1989507"/>
        <a:ext cx="371322" cy="372322"/>
      </dsp:txXfrm>
    </dsp:sp>
    <dsp:sp modelId="{3047A041-5BC3-4E8F-B3C9-3DEE2D1E048E}">
      <dsp:nvSpPr>
        <dsp:cNvPr id="0" name=""/>
        <dsp:cNvSpPr/>
      </dsp:nvSpPr>
      <dsp:spPr>
        <a:xfrm>
          <a:off x="3511413" y="1425017"/>
          <a:ext cx="2502172" cy="1501303"/>
        </a:xfrm>
        <a:prstGeom prst="roundRect">
          <a:avLst>
            <a:gd name="adj" fmla="val 10000"/>
          </a:avLst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100" kern="1200" dirty="0">
              <a:solidFill>
                <a:schemeClr val="tx1"/>
              </a:solidFill>
            </a:rPr>
            <a:t>The Gilded Age/Second Industrial Revolution 1865-1900</a:t>
          </a:r>
        </a:p>
      </dsp:txBody>
      <dsp:txXfrm>
        <a:off x="3555385" y="1468989"/>
        <a:ext cx="2414228" cy="1413359"/>
      </dsp:txXfrm>
    </dsp:sp>
    <dsp:sp modelId="{2B0BBC2A-0DAC-49AD-86C0-6BE847AD7D8D}">
      <dsp:nvSpPr>
        <dsp:cNvPr id="0" name=""/>
        <dsp:cNvSpPr/>
      </dsp:nvSpPr>
      <dsp:spPr>
        <a:xfrm>
          <a:off x="6263803" y="1865399"/>
          <a:ext cx="530460" cy="620538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1700" kern="1200"/>
        </a:p>
      </dsp:txBody>
      <dsp:txXfrm>
        <a:off x="6263803" y="1989507"/>
        <a:ext cx="371322" cy="372322"/>
      </dsp:txXfrm>
    </dsp:sp>
    <dsp:sp modelId="{4CAE772E-C4F7-4642-B71A-9FF2E34C13CA}">
      <dsp:nvSpPr>
        <dsp:cNvPr id="0" name=""/>
        <dsp:cNvSpPr/>
      </dsp:nvSpPr>
      <dsp:spPr>
        <a:xfrm>
          <a:off x="7014455" y="1425017"/>
          <a:ext cx="2502172" cy="1501303"/>
        </a:xfrm>
        <a:prstGeom prst="roundRect">
          <a:avLst>
            <a:gd name="adj" fmla="val 10000"/>
          </a:avLst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100" kern="1200" dirty="0">
              <a:solidFill>
                <a:schemeClr val="tx1"/>
              </a:solidFill>
            </a:rPr>
            <a:t>Progressive Era 1900-1917</a:t>
          </a:r>
        </a:p>
      </dsp:txBody>
      <dsp:txXfrm>
        <a:off x="7058427" y="1468989"/>
        <a:ext cx="2414228" cy="14133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D08006-C9E2-4FF1-81F1-9F58839CEEFF}">
      <dsp:nvSpPr>
        <dsp:cNvPr id="0" name=""/>
        <dsp:cNvSpPr/>
      </dsp:nvSpPr>
      <dsp:spPr>
        <a:xfrm>
          <a:off x="2964" y="0"/>
          <a:ext cx="2351960" cy="313136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368" tIns="330200" rIns="183368" bIns="330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000" kern="1200" dirty="0"/>
            <a:t>Explain how the Model T changed everyday life in America for the ‘common man’.</a:t>
          </a:r>
          <a:endParaRPr lang="en-US" sz="2000" kern="1200" dirty="0"/>
        </a:p>
      </dsp:txBody>
      <dsp:txXfrm>
        <a:off x="2964" y="1189918"/>
        <a:ext cx="2351960" cy="1878818"/>
      </dsp:txXfrm>
    </dsp:sp>
    <dsp:sp modelId="{7187BBC6-040B-4417-9C6B-E99A0B5ADFC9}">
      <dsp:nvSpPr>
        <dsp:cNvPr id="0" name=""/>
        <dsp:cNvSpPr/>
      </dsp:nvSpPr>
      <dsp:spPr>
        <a:xfrm>
          <a:off x="709240" y="313136"/>
          <a:ext cx="939409" cy="93940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3240" tIns="12700" rIns="73240" bIns="12700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kern="1200"/>
            <a:t>1</a:t>
          </a:r>
        </a:p>
      </dsp:txBody>
      <dsp:txXfrm>
        <a:off x="846813" y="450709"/>
        <a:ext cx="664263" cy="664263"/>
      </dsp:txXfrm>
    </dsp:sp>
    <dsp:sp modelId="{79EEE6E5-9EA9-46D8-A77F-3F6367DCF07D}">
      <dsp:nvSpPr>
        <dsp:cNvPr id="0" name=""/>
        <dsp:cNvSpPr/>
      </dsp:nvSpPr>
      <dsp:spPr>
        <a:xfrm>
          <a:off x="2964" y="3131292"/>
          <a:ext cx="2351960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0273C5C-751D-4863-976C-E6B90D91D13F}">
      <dsp:nvSpPr>
        <dsp:cNvPr id="0" name=""/>
        <dsp:cNvSpPr/>
      </dsp:nvSpPr>
      <dsp:spPr>
        <a:xfrm>
          <a:off x="2590121" y="0"/>
          <a:ext cx="2351960" cy="3131364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368" tIns="330200" rIns="183368" bIns="33020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700" kern="1200" dirty="0"/>
            <a:t>How did developments in production (assembly line) affect America in the years to come? (focus on 1920s).</a:t>
          </a:r>
          <a:endParaRPr lang="en-US" sz="1700" kern="1200" dirty="0"/>
        </a:p>
      </dsp:txBody>
      <dsp:txXfrm>
        <a:off x="2590121" y="1189918"/>
        <a:ext cx="2351960" cy="1878818"/>
      </dsp:txXfrm>
    </dsp:sp>
    <dsp:sp modelId="{E785056D-52E7-42EE-88E8-522451290F08}">
      <dsp:nvSpPr>
        <dsp:cNvPr id="0" name=""/>
        <dsp:cNvSpPr/>
      </dsp:nvSpPr>
      <dsp:spPr>
        <a:xfrm>
          <a:off x="3296397" y="313136"/>
          <a:ext cx="939409" cy="93940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3240" tIns="12700" rIns="73240" bIns="12700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kern="1200"/>
            <a:t>2</a:t>
          </a:r>
        </a:p>
      </dsp:txBody>
      <dsp:txXfrm>
        <a:off x="3433970" y="450709"/>
        <a:ext cx="664263" cy="664263"/>
      </dsp:txXfrm>
    </dsp:sp>
    <dsp:sp modelId="{DCEB80EA-753E-4C8C-A92F-1F8A40DE3258}">
      <dsp:nvSpPr>
        <dsp:cNvPr id="0" name=""/>
        <dsp:cNvSpPr/>
      </dsp:nvSpPr>
      <dsp:spPr>
        <a:xfrm>
          <a:off x="2590121" y="3131292"/>
          <a:ext cx="2351960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504135E-7A78-442F-982B-ADBAE5BC0EDA}">
      <dsp:nvSpPr>
        <dsp:cNvPr id="0" name=""/>
        <dsp:cNvSpPr/>
      </dsp:nvSpPr>
      <dsp:spPr>
        <a:xfrm>
          <a:off x="5177278" y="0"/>
          <a:ext cx="2351960" cy="3131364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368" tIns="330200" rIns="183368" bIns="330200" numCol="1" spcCol="1270" anchor="t" anchorCtr="0">
          <a:noAutofit/>
        </a:bodyPr>
        <a:lstStyle/>
        <a:p>
          <a:pPr lvl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700" kern="1200" dirty="0"/>
            <a:t>Theodore Roosevelt was described as a ‘Progressive President’. Identify examples of his Progressive program.</a:t>
          </a:r>
          <a:endParaRPr lang="en-US" sz="1700" kern="1200" dirty="0"/>
        </a:p>
      </dsp:txBody>
      <dsp:txXfrm>
        <a:off x="5177278" y="1189918"/>
        <a:ext cx="2351960" cy="1878818"/>
      </dsp:txXfrm>
    </dsp:sp>
    <dsp:sp modelId="{2AD2C7B6-3878-4134-81E6-A08278EB9C8A}">
      <dsp:nvSpPr>
        <dsp:cNvPr id="0" name=""/>
        <dsp:cNvSpPr/>
      </dsp:nvSpPr>
      <dsp:spPr>
        <a:xfrm>
          <a:off x="5883553" y="313136"/>
          <a:ext cx="939409" cy="93940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3240" tIns="12700" rIns="73240" bIns="12700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kern="1200"/>
            <a:t>3</a:t>
          </a:r>
        </a:p>
      </dsp:txBody>
      <dsp:txXfrm>
        <a:off x="6021126" y="450709"/>
        <a:ext cx="664263" cy="664263"/>
      </dsp:txXfrm>
    </dsp:sp>
    <dsp:sp modelId="{1D8E1F8E-7D26-4621-94B6-5E9FB92F3CD7}">
      <dsp:nvSpPr>
        <dsp:cNvPr id="0" name=""/>
        <dsp:cNvSpPr/>
      </dsp:nvSpPr>
      <dsp:spPr>
        <a:xfrm>
          <a:off x="5177278" y="3131292"/>
          <a:ext cx="2351960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970677E-5097-42C7-A724-BC1F348D4151}">
      <dsp:nvSpPr>
        <dsp:cNvPr id="0" name=""/>
        <dsp:cNvSpPr/>
      </dsp:nvSpPr>
      <dsp:spPr>
        <a:xfrm>
          <a:off x="7764434" y="0"/>
          <a:ext cx="2351960" cy="3131364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3368" tIns="330200" rIns="183368" bIns="330200" numCol="1" spcCol="1270" anchor="t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200" kern="1200" dirty="0"/>
            <a:t>How did Taft’s presidency differ from Theodore Roosevelt’s.</a:t>
          </a:r>
          <a:endParaRPr lang="en-US" sz="2200" kern="1200" dirty="0"/>
        </a:p>
      </dsp:txBody>
      <dsp:txXfrm>
        <a:off x="7764434" y="1189918"/>
        <a:ext cx="2351960" cy="1878818"/>
      </dsp:txXfrm>
    </dsp:sp>
    <dsp:sp modelId="{5E66CCDC-45F9-4739-A4A4-31E39AB432A7}">
      <dsp:nvSpPr>
        <dsp:cNvPr id="0" name=""/>
        <dsp:cNvSpPr/>
      </dsp:nvSpPr>
      <dsp:spPr>
        <a:xfrm>
          <a:off x="8470710" y="313136"/>
          <a:ext cx="939409" cy="93940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3240" tIns="12700" rIns="73240" bIns="12700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500" kern="1200"/>
            <a:t>4</a:t>
          </a:r>
        </a:p>
      </dsp:txBody>
      <dsp:txXfrm>
        <a:off x="8608283" y="450709"/>
        <a:ext cx="664263" cy="664263"/>
      </dsp:txXfrm>
    </dsp:sp>
    <dsp:sp modelId="{A2CF65B9-BB1F-4BD6-820E-C34527FAD76C}">
      <dsp:nvSpPr>
        <dsp:cNvPr id="0" name=""/>
        <dsp:cNvSpPr/>
      </dsp:nvSpPr>
      <dsp:spPr>
        <a:xfrm>
          <a:off x="7764434" y="3131292"/>
          <a:ext cx="2351960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 xmlns="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4700" y="0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0935A9-70C7-4417-8C2D-63FBFD9EE07F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453472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4700" y="6453472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88A05-4553-41EA-89E3-9C37241EB2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46395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3510F-DEF9-481E-B15E-F85F95C503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0B63FF-3F0E-433B-ADF3-5182D508A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0B678-3241-4724-9956-DB9EEAE98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D941-9614-4FFC-947F-83EA7510BBBE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DB851-F346-472A-A89F-8FA7AD910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EBBCA-C0F9-4238-90A8-58ABBE6D0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3079-7AAF-44AF-85F7-59D130C5B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9044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61363-2BE2-4DD8-9DEA-CD3411CE0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AD897-7BA6-4335-BFD8-26FAE53ED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B7A83-BD88-4A43-9770-CF0E93D75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D941-9614-4FFC-947F-83EA7510BBBE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DD24F-2BF4-4F34-8119-9543D73A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E2865-CE51-4E26-85BF-F7847A8FF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3079-7AAF-44AF-85F7-59D130C5B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9513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DB08-8F9C-4CA1-8B2F-2EDFFBBD6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EA20A-9045-4588-8AD3-03881C59C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8DA48-5A0C-4C81-820B-3DFE24330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D941-9614-4FFC-947F-83EA7510BBBE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08473-2F3C-409D-B952-99572AC7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64185-B6DF-46E5-B8F4-02F1AC932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3079-7AAF-44AF-85F7-59D130C5B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1547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F235E-1E5C-4C36-B387-33A36C5C7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4A530-D671-4F39-93E7-9E75AF7AA5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DD27F-86A3-4F9E-B693-4879DFDC8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3A4C5-CB06-4F82-8C00-D04D11E0D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D941-9614-4FFC-947F-83EA7510BBBE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3D04E-28EC-429C-812C-C97677FB5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757CF-40D4-4C05-B18F-1CC69E6A4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3079-7AAF-44AF-85F7-59D130C5B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3825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C8A56-15D7-420B-88EF-AE29BC00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C9493-ADB6-41FC-88ED-4FAFC64A5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83901-86A4-48F3-B6F2-6CF59BAFC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7DC67E-A04D-4D42-AFF5-D0E5E521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0B08BD-858B-4C3B-94D9-7ABAB6EECA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D64862-D1F9-4128-A8C3-0CB929EAA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D941-9614-4FFC-947F-83EA7510BBBE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DCD410-8646-4D44-BFC3-6C1C2023E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68F424-AA88-4F55-9B4D-C3908D621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3079-7AAF-44AF-85F7-59D130C5B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1961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7BCB6-BD93-4650-A8A1-3C09E495F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9E0076-D19B-404A-A8CB-9D6734125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D941-9614-4FFC-947F-83EA7510BBBE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C3868F-3F8D-4B33-B8B9-B15B2FAA0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52266-AB61-4CA3-B16C-A90B0E59E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3079-7AAF-44AF-85F7-59D130C5B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367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98158-228F-46E0-93D7-4CD68A5BF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D941-9614-4FFC-947F-83EA7510BBBE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2B44E-78B6-48A9-A78C-2B84048C2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B52C7-F5DC-4E00-9D97-E7A727701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3079-7AAF-44AF-85F7-59D130C5B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7112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E160-E1BC-44AF-96D3-F8EF12300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CFEF8-F9AB-48A4-88AF-5B645C997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A76F0-255D-4CC4-90AB-0E1CCB09D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9DF90-52B3-467E-AE6A-96F6D2E5B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D941-9614-4FFC-947F-83EA7510BBBE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C8535-C5D4-430D-AB7A-DAFB4F017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6CD50-63DB-4212-9FBF-194C2C475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3079-7AAF-44AF-85F7-59D130C5B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5948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DFC1D-F61A-4990-881A-8D7F1E1EE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D39644-DF75-42DE-92EB-7137598D76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8E3C79-C3BD-45C7-B664-B50880C55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33B331-AA19-46EB-98E0-A032A05BB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D941-9614-4FFC-947F-83EA7510BBBE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9982C-A601-4660-959E-53DCDC998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380D2-3B50-47F9-B6D8-ACD107A1A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3079-7AAF-44AF-85F7-59D130C5B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3816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F79B-EC0E-4B34-BF35-01C244400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EE48B-8599-4A2D-9137-CEC556AC9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C91BC-0FB4-4FEA-A9F5-5E0281D5F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D941-9614-4FFC-947F-83EA7510BBBE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13FDB-61D7-4008-A2C1-DD0FEA8C0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10C4E-8A95-4C09-B1AE-8A1B67A4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3079-7AAF-44AF-85F7-59D130C5B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5466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8CDC88-3C96-4B95-8E56-0D09D0FE9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8F55D0-C657-4F6A-BE57-2433CBA19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21A8C-5687-40C5-A7BC-A1D5EBF09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D941-9614-4FFC-947F-83EA7510BBBE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06B97-1083-4008-BFCE-2B69EBEC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C0A21-26F4-41F0-948E-52B2BE5F1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C3079-7AAF-44AF-85F7-59D130C5B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885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C8E6A0-F1A0-4427-981D-96D49B6D3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5A1A2-ACB5-4B67-9E68-90F9018BD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B15EA-88A6-4A15-BE9D-830DEC4531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1D941-9614-4FFC-947F-83EA7510BBBE}" type="datetimeFigureOut">
              <a:rPr lang="en-AU" smtClean="0"/>
              <a:t>5/03/2019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26363-728F-4E3D-B044-2ABB8CB59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52ED1-458B-4E0B-B390-0EB976F671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C3079-7AAF-44AF-85F7-59D130C5B5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8022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www.history.com/topics/inventions/henry-ford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ww.history.com/topics/us-presidents/theodore-roosevel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history.com/topics/us-presidents/william-howard-taft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83D8A-BF5D-4AA1-9669-AACABAEF0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4385066"/>
            <a:ext cx="10923638" cy="1607768"/>
          </a:xfrm>
        </p:spPr>
        <p:txBody>
          <a:bodyPr>
            <a:normAutofit/>
          </a:bodyPr>
          <a:lstStyle/>
          <a:p>
            <a:pPr algn="l"/>
            <a:r>
              <a:rPr lang="en-AU" sz="2000" b="1" dirty="0"/>
              <a:t>Henry Ford </a:t>
            </a:r>
            <a:r>
              <a:rPr lang="en-AU" sz="2000" dirty="0"/>
              <a:t>and the Model T</a:t>
            </a:r>
            <a:br>
              <a:rPr lang="en-AU" sz="2000" dirty="0"/>
            </a:br>
            <a:r>
              <a:rPr lang="en-AU" sz="2000" dirty="0"/>
              <a:t/>
            </a:r>
            <a:br>
              <a:rPr lang="en-AU" sz="2000" dirty="0"/>
            </a:br>
            <a:r>
              <a:rPr lang="en-AU" sz="2000" b="1" dirty="0"/>
              <a:t>Theodore Roosevelt </a:t>
            </a:r>
            <a:r>
              <a:rPr lang="en-AU" sz="2000" dirty="0"/>
              <a:t>and Expansionism</a:t>
            </a:r>
            <a:br>
              <a:rPr lang="en-AU" sz="2000" dirty="0"/>
            </a:br>
            <a:r>
              <a:rPr lang="en-AU" sz="2000" dirty="0"/>
              <a:t/>
            </a:r>
            <a:br>
              <a:rPr lang="en-AU" sz="2000" dirty="0"/>
            </a:br>
            <a:r>
              <a:rPr lang="en-AU" sz="2000" b="1" dirty="0"/>
              <a:t>Taft</a:t>
            </a:r>
            <a:r>
              <a:rPr lang="en-AU" sz="2000" dirty="0"/>
              <a:t> and Economic Reform to Curb Laissez-Faire Policies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C4469-4558-4A03-8354-7C5DEA4E5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1" y="6195078"/>
            <a:ext cx="10923638" cy="521109"/>
          </a:xfrm>
        </p:spPr>
        <p:txBody>
          <a:bodyPr>
            <a:normAutofit/>
          </a:bodyPr>
          <a:lstStyle/>
          <a:p>
            <a:pPr algn="l"/>
            <a:r>
              <a:rPr lang="en-AU" dirty="0"/>
              <a:t>Year 11 Modern History</a:t>
            </a:r>
          </a:p>
        </p:txBody>
      </p:sp>
      <p:pic>
        <p:nvPicPr>
          <p:cNvPr id="1030" name="Picture 6" descr="Image result for henry ford">
            <a:extLst>
              <a:ext uri="{FF2B5EF4-FFF2-40B4-BE49-F238E27FC236}">
                <a16:creationId xmlns:a16="http://schemas.microsoft.com/office/drawing/2014/main" id="{77CF6D2A-09A1-4AC1-843B-1CA7FC846A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25"/>
          <a:stretch/>
        </p:blipFill>
        <p:spPr bwMode="auto">
          <a:xfrm>
            <a:off x="20" y="10"/>
            <a:ext cx="4059916" cy="424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taft william">
            <a:extLst>
              <a:ext uri="{FF2B5EF4-FFF2-40B4-BE49-F238E27FC236}">
                <a16:creationId xmlns:a16="http://schemas.microsoft.com/office/drawing/2014/main" id="{E548D363-72BA-4D8D-BF7E-9952E92B50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42" b="2"/>
          <a:stretch/>
        </p:blipFill>
        <p:spPr bwMode="auto">
          <a:xfrm>
            <a:off x="4090482" y="-1"/>
            <a:ext cx="4062918" cy="4242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mage result for t roosevelt">
            <a:extLst>
              <a:ext uri="{FF2B5EF4-FFF2-40B4-BE49-F238E27FC236}">
                <a16:creationId xmlns:a16="http://schemas.microsoft.com/office/drawing/2014/main" id="{F58DE42B-B381-497B-B333-F86E2A0445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82" b="18781"/>
          <a:stretch/>
        </p:blipFill>
        <p:spPr bwMode="auto">
          <a:xfrm>
            <a:off x="8132064" y="10"/>
            <a:ext cx="4059936" cy="424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800968E-0A99-46C4-A9B2-6A63AC66F4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2" y="4242136"/>
            <a:ext cx="12192002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627B73E-D784-4780-AA33-DCDFE7DA16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2919" y="-680"/>
            <a:ext cx="0" cy="4242816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BAD6A72-88E8-42F7-88B9-CAF744536BE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5838" y="-680"/>
            <a:ext cx="0" cy="4242816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3745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DF90F-AC87-49E2-8D9A-63B191538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864"/>
            <a:ext cx="10515600" cy="1325563"/>
          </a:xfrm>
        </p:spPr>
        <p:txBody>
          <a:bodyPr/>
          <a:lstStyle/>
          <a:p>
            <a:r>
              <a:rPr lang="en-AU" dirty="0"/>
              <a:t>Timeline so far…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5A0C60-384C-4728-8B97-07C3A2A92A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7343134"/>
              </p:ext>
            </p:extLst>
          </p:nvPr>
        </p:nvGraphicFramePr>
        <p:xfrm>
          <a:off x="241853" y="577505"/>
          <a:ext cx="95250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63B1C150-3747-49B3-B51F-1FB0264EF80C}"/>
              </a:ext>
            </a:extLst>
          </p:cNvPr>
          <p:cNvGrpSpPr/>
          <p:nvPr/>
        </p:nvGrpSpPr>
        <p:grpSpPr>
          <a:xfrm>
            <a:off x="9766853" y="4688601"/>
            <a:ext cx="1930824" cy="1534744"/>
            <a:chOff x="7743958" y="1346949"/>
            <a:chExt cx="2762398" cy="1657439"/>
          </a:xfrm>
          <a:solidFill>
            <a:srgbClr val="CC66FF"/>
          </a:solidFill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31A141D-7B8E-40E4-9510-8B1EEEEED19F}"/>
                </a:ext>
              </a:extLst>
            </p:cNvPr>
            <p:cNvSpPr/>
            <p:nvPr/>
          </p:nvSpPr>
          <p:spPr>
            <a:xfrm>
              <a:off x="7743958" y="1346949"/>
              <a:ext cx="2762398" cy="1657439"/>
            </a:xfrm>
            <a:prstGeom prst="roundRect">
              <a:avLst>
                <a:gd name="adj" fmla="val 1000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9800891"/>
                <a:satOff val="-40777"/>
                <a:lumOff val="9608"/>
                <a:alphaOff val="0"/>
              </a:schemeClr>
            </a:fillRef>
            <a:effectRef idx="0">
              <a:schemeClr val="accent4">
                <a:hueOff val="9800891"/>
                <a:satOff val="-40777"/>
                <a:lumOff val="960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A285B521-0283-4581-BCD0-B0255D99180E}"/>
                </a:ext>
              </a:extLst>
            </p:cNvPr>
            <p:cNvSpPr txBox="1"/>
            <p:nvPr/>
          </p:nvSpPr>
          <p:spPr>
            <a:xfrm>
              <a:off x="7792503" y="1395494"/>
              <a:ext cx="2665308" cy="1560349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AU" sz="1500" kern="1200" dirty="0">
                  <a:solidFill>
                    <a:schemeClr val="tx1"/>
                  </a:solidFill>
                </a:rPr>
                <a:t>Henry Ford revolutionises assembly line to produce Ford cars (Model T’s)</a:t>
              </a:r>
            </a:p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AU" sz="1500" dirty="0">
                  <a:solidFill>
                    <a:schemeClr val="tx1"/>
                  </a:solidFill>
                </a:rPr>
                <a:t>1913</a:t>
              </a:r>
              <a:endParaRPr lang="en-AU" sz="1500" kern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C6331B-E08D-4563-8E8B-14726E01E645}"/>
              </a:ext>
            </a:extLst>
          </p:cNvPr>
          <p:cNvSpPr/>
          <p:nvPr/>
        </p:nvSpPr>
        <p:spPr>
          <a:xfrm>
            <a:off x="5641513" y="4745751"/>
            <a:ext cx="1930824" cy="1534744"/>
          </a:xfrm>
          <a:prstGeom prst="roundRect">
            <a:avLst>
              <a:gd name="adj" fmla="val 10000"/>
            </a:avLst>
          </a:prstGeom>
          <a:solidFill>
            <a:srgbClr val="92D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9800891"/>
              <a:satOff val="-40777"/>
              <a:lumOff val="9608"/>
              <a:alphaOff val="0"/>
            </a:schemeClr>
          </a:fillRef>
          <a:effectRef idx="0">
            <a:schemeClr val="accent4">
              <a:hueOff val="9800891"/>
              <a:satOff val="-40777"/>
              <a:lumOff val="9608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r>
              <a:rPr lang="en-AU" sz="1500" dirty="0">
                <a:solidFill>
                  <a:schemeClr val="tx1"/>
                </a:solidFill>
              </a:rPr>
              <a:t>Theodore Roosevelt becomes President 1901 – expansionist policies 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99377E5-0E0E-42E9-A74F-D97945244E05}"/>
              </a:ext>
            </a:extLst>
          </p:cNvPr>
          <p:cNvGrpSpPr/>
          <p:nvPr/>
        </p:nvGrpSpPr>
        <p:grpSpPr>
          <a:xfrm>
            <a:off x="7664091" y="4745751"/>
            <a:ext cx="1930824" cy="1534744"/>
            <a:chOff x="7743958" y="1346949"/>
            <a:chExt cx="2762398" cy="1657439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FDE07A0-1942-4004-B9BA-1C2453C55CFE}"/>
                </a:ext>
              </a:extLst>
            </p:cNvPr>
            <p:cNvSpPr/>
            <p:nvPr/>
          </p:nvSpPr>
          <p:spPr>
            <a:xfrm>
              <a:off x="7743958" y="1346949"/>
              <a:ext cx="2762398" cy="165743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9800891"/>
                <a:satOff val="-40777"/>
                <a:lumOff val="9608"/>
                <a:alphaOff val="0"/>
              </a:schemeClr>
            </a:fillRef>
            <a:effectRef idx="0">
              <a:schemeClr val="accent4">
                <a:hueOff val="9800891"/>
                <a:satOff val="-40777"/>
                <a:lumOff val="960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14C8AAFC-7DC7-4EA9-9044-D1952F6731AE}"/>
                </a:ext>
              </a:extLst>
            </p:cNvPr>
            <p:cNvSpPr txBox="1"/>
            <p:nvPr/>
          </p:nvSpPr>
          <p:spPr>
            <a:xfrm>
              <a:off x="7792503" y="1395494"/>
              <a:ext cx="2665308" cy="156034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lvl="0" indent="0" algn="ctr" defTabSz="1022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AU" sz="1500" kern="1200" dirty="0">
                  <a:solidFill>
                    <a:schemeClr val="tx1"/>
                  </a:solidFill>
                </a:rPr>
                <a:t>William Taft becomes President 1908, believes in economic diplomacy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C1D9C5D-7792-44BF-A6CC-761C81AB98BC}"/>
              </a:ext>
            </a:extLst>
          </p:cNvPr>
          <p:cNvGrpSpPr/>
          <p:nvPr/>
        </p:nvGrpSpPr>
        <p:grpSpPr>
          <a:xfrm rot="7288171">
            <a:off x="6170312" y="3749053"/>
            <a:ext cx="1002132" cy="620538"/>
            <a:chOff x="6263803" y="1865399"/>
            <a:chExt cx="530460" cy="620538"/>
          </a:xfrm>
          <a:solidFill>
            <a:schemeClr val="tx1"/>
          </a:solidFill>
        </p:grpSpPr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8062FC3B-D3F9-4519-B09B-24E70BC6F2E8}"/>
                </a:ext>
              </a:extLst>
            </p:cNvPr>
            <p:cNvSpPr/>
            <p:nvPr/>
          </p:nvSpPr>
          <p:spPr>
            <a:xfrm>
              <a:off x="6263803" y="1865399"/>
              <a:ext cx="530460" cy="620538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9800891"/>
                <a:satOff val="-40777"/>
                <a:lumOff val="9608"/>
                <a:alphaOff val="0"/>
              </a:schemeClr>
            </a:fillRef>
            <a:effectRef idx="0">
              <a:schemeClr val="accent4">
                <a:hueOff val="9800891"/>
                <a:satOff val="-40777"/>
                <a:lumOff val="960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Arrow: Right 4">
              <a:extLst>
                <a:ext uri="{FF2B5EF4-FFF2-40B4-BE49-F238E27FC236}">
                  <a16:creationId xmlns:a16="http://schemas.microsoft.com/office/drawing/2014/main" id="{A04689E3-2B5A-470D-9DE9-F77F221C2159}"/>
                </a:ext>
              </a:extLst>
            </p:cNvPr>
            <p:cNvSpPr txBox="1"/>
            <p:nvPr/>
          </p:nvSpPr>
          <p:spPr>
            <a:xfrm>
              <a:off x="6263803" y="1989507"/>
              <a:ext cx="371322" cy="37232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AU" sz="1700" kern="120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BB9D46F-49E7-47DC-9C6D-3A48047F2364}"/>
              </a:ext>
            </a:extLst>
          </p:cNvPr>
          <p:cNvGrpSpPr/>
          <p:nvPr/>
        </p:nvGrpSpPr>
        <p:grpSpPr>
          <a:xfrm rot="5400000">
            <a:off x="8128436" y="3866731"/>
            <a:ext cx="1002132" cy="620538"/>
            <a:chOff x="6263803" y="1865399"/>
            <a:chExt cx="530460" cy="620538"/>
          </a:xfrm>
          <a:solidFill>
            <a:schemeClr val="tx1"/>
          </a:solidFill>
        </p:grpSpPr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E28F444B-0BD4-4019-8DCA-65EA37DD1AB6}"/>
                </a:ext>
              </a:extLst>
            </p:cNvPr>
            <p:cNvSpPr/>
            <p:nvPr/>
          </p:nvSpPr>
          <p:spPr>
            <a:xfrm>
              <a:off x="6263803" y="1865399"/>
              <a:ext cx="530460" cy="620538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9800891"/>
                <a:satOff val="-40777"/>
                <a:lumOff val="9608"/>
                <a:alphaOff val="0"/>
              </a:schemeClr>
            </a:fillRef>
            <a:effectRef idx="0">
              <a:schemeClr val="accent4">
                <a:hueOff val="9800891"/>
                <a:satOff val="-40777"/>
                <a:lumOff val="960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Arrow: Right 4">
              <a:extLst>
                <a:ext uri="{FF2B5EF4-FFF2-40B4-BE49-F238E27FC236}">
                  <a16:creationId xmlns:a16="http://schemas.microsoft.com/office/drawing/2014/main" id="{5813E5E9-C67E-447E-BB53-D7AD88196F59}"/>
                </a:ext>
              </a:extLst>
            </p:cNvPr>
            <p:cNvSpPr txBox="1"/>
            <p:nvPr/>
          </p:nvSpPr>
          <p:spPr>
            <a:xfrm>
              <a:off x="6263803" y="1989507"/>
              <a:ext cx="371322" cy="37232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AU" sz="1700" kern="120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EA62BC9-3291-46D3-8171-E7ADC5698E64}"/>
              </a:ext>
            </a:extLst>
          </p:cNvPr>
          <p:cNvGrpSpPr/>
          <p:nvPr/>
        </p:nvGrpSpPr>
        <p:grpSpPr>
          <a:xfrm rot="3173924">
            <a:off x="10000699" y="3769059"/>
            <a:ext cx="1002132" cy="620538"/>
            <a:chOff x="6263803" y="1865399"/>
            <a:chExt cx="530460" cy="620538"/>
          </a:xfrm>
          <a:solidFill>
            <a:schemeClr val="tx1"/>
          </a:solidFill>
        </p:grpSpPr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8B51B3F0-D834-4865-BDF4-C9E5514D3494}"/>
                </a:ext>
              </a:extLst>
            </p:cNvPr>
            <p:cNvSpPr/>
            <p:nvPr/>
          </p:nvSpPr>
          <p:spPr>
            <a:xfrm>
              <a:off x="6263803" y="1865399"/>
              <a:ext cx="530460" cy="620538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9800891"/>
                <a:satOff val="-40777"/>
                <a:lumOff val="9608"/>
                <a:alphaOff val="0"/>
              </a:schemeClr>
            </a:fillRef>
            <a:effectRef idx="0">
              <a:schemeClr val="accent4">
                <a:hueOff val="9800891"/>
                <a:satOff val="-40777"/>
                <a:lumOff val="960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Arrow: Right 4">
              <a:extLst>
                <a:ext uri="{FF2B5EF4-FFF2-40B4-BE49-F238E27FC236}">
                  <a16:creationId xmlns:a16="http://schemas.microsoft.com/office/drawing/2014/main" id="{25024F0D-76CD-4954-B6FE-F9F502D2530D}"/>
                </a:ext>
              </a:extLst>
            </p:cNvPr>
            <p:cNvSpPr txBox="1"/>
            <p:nvPr/>
          </p:nvSpPr>
          <p:spPr>
            <a:xfrm>
              <a:off x="6263803" y="1989507"/>
              <a:ext cx="371322" cy="372322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AU" sz="17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37880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58814-10C1-4A00-95FF-0F88D9837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263" y="32923"/>
            <a:ext cx="5120114" cy="814314"/>
          </a:xfrm>
        </p:spPr>
        <p:txBody>
          <a:bodyPr>
            <a:normAutofit/>
          </a:bodyPr>
          <a:lstStyle/>
          <a:p>
            <a:r>
              <a:rPr lang="en-AU" sz="2500" b="1" dirty="0"/>
              <a:t>Henry Ford and the Model T</a:t>
            </a:r>
            <a:r>
              <a:rPr lang="en-AU" sz="1800" dirty="0"/>
              <a:t/>
            </a:r>
            <a:br>
              <a:rPr lang="en-AU" sz="1800" dirty="0"/>
            </a:br>
            <a:r>
              <a:rPr lang="en-AU" sz="1200" dirty="0">
                <a:hlinkClick r:id="rId2"/>
              </a:rPr>
              <a:t>https://www.history.com/topics/inventions/henry-ford</a:t>
            </a:r>
            <a:r>
              <a:rPr lang="en-AU" sz="1200" dirty="0"/>
              <a:t> </a:t>
            </a:r>
          </a:p>
        </p:txBody>
      </p:sp>
      <p:cxnSp>
        <p:nvCxnSpPr>
          <p:cNvPr id="2052" name="Straight Arrow Connector 70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CBAAB-FE7A-46CF-BAD3-BF1827A5F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503" y="847237"/>
            <a:ext cx="5634346" cy="5845111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r>
              <a:rPr lang="en-AU" sz="2000" dirty="0"/>
              <a:t>1903 established Ford Motor Company, 1908 first Model T (Tin Lizzie)</a:t>
            </a:r>
          </a:p>
          <a:p>
            <a:r>
              <a:rPr lang="en-AU" sz="2000" dirty="0"/>
              <a:t>Overwhelming demand for Model T</a:t>
            </a:r>
          </a:p>
          <a:p>
            <a:r>
              <a:rPr lang="en-AU" sz="2000" dirty="0"/>
              <a:t>Introduced mass-production methods - large production plants, the use of standardised, interchangeable parts and, in 1913, first moving assembly line for cars. </a:t>
            </a:r>
          </a:p>
          <a:p>
            <a:r>
              <a:rPr lang="en-AU" sz="2000" dirty="0"/>
              <a:t>Assembly line reduced production time of a car from 12.5 hours to 1.5 hours.</a:t>
            </a:r>
          </a:p>
          <a:p>
            <a:r>
              <a:rPr lang="en-AU" sz="2000" dirty="0"/>
              <a:t>Cars could be produced quickly and cheaply.</a:t>
            </a:r>
          </a:p>
          <a:p>
            <a:r>
              <a:rPr lang="en-AU" sz="2000" dirty="0"/>
              <a:t>Skilled labourers replaced by cheaper machines.</a:t>
            </a:r>
          </a:p>
          <a:p>
            <a:r>
              <a:rPr lang="en-AU" sz="2000" dirty="0"/>
              <a:t>Ford Motor Company able to produce 1 million Model T’s each year in the 1920s at a much lower cost.</a:t>
            </a:r>
          </a:p>
          <a:p>
            <a:r>
              <a:rPr lang="en-AU" sz="2000" dirty="0"/>
              <a:t>In 1914 Model T cost $850, by 1926 cost $295.</a:t>
            </a:r>
          </a:p>
          <a:p>
            <a:r>
              <a:rPr lang="en-AU" sz="2000" dirty="0"/>
              <a:t>Could produce one Model T every 24 seconds.</a:t>
            </a:r>
          </a:p>
          <a:p>
            <a:r>
              <a:rPr lang="en-AU" sz="2000" dirty="0"/>
              <a:t>Increased the daily wage for an eight-hour day for his workers to $5 (up from $2.34 for nine hours).</a:t>
            </a:r>
          </a:p>
          <a:p>
            <a:endParaRPr lang="en-AU" sz="1100" dirty="0"/>
          </a:p>
        </p:txBody>
      </p:sp>
      <p:pic>
        <p:nvPicPr>
          <p:cNvPr id="2050" name="Picture 2" descr="Image result for model t">
            <a:extLst>
              <a:ext uri="{FF2B5EF4-FFF2-40B4-BE49-F238E27FC236}">
                <a16:creationId xmlns:a16="http://schemas.microsoft.com/office/drawing/2014/main" id="{C0E40EE4-C032-48D0-A947-92C9AF699B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3" r="34520"/>
          <a:stretch/>
        </p:blipFill>
        <p:spPr bwMode="auto"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649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70932-1658-4607-A171-8E67F2759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1" y="273567"/>
            <a:ext cx="6586491" cy="721228"/>
          </a:xfrm>
        </p:spPr>
        <p:txBody>
          <a:bodyPr anchor="b">
            <a:normAutofit/>
          </a:bodyPr>
          <a:lstStyle/>
          <a:p>
            <a:r>
              <a:rPr lang="en-AU" sz="2800" b="1" dirty="0"/>
              <a:t>Theodore Roosevelt and Expansionism</a:t>
            </a:r>
            <a:r>
              <a:rPr lang="en-AU" sz="2800" dirty="0"/>
              <a:t/>
            </a:r>
            <a:br>
              <a:rPr lang="en-AU" sz="2800" dirty="0"/>
            </a:br>
            <a:r>
              <a:rPr lang="en-AU" sz="1200" dirty="0">
                <a:hlinkClick r:id="rId2"/>
              </a:rPr>
              <a:t>https://www.history.com/topics/us-presidents/theodore-roosevelt</a:t>
            </a:r>
            <a:r>
              <a:rPr lang="en-AU" sz="1200" dirty="0"/>
              <a:t> </a:t>
            </a:r>
          </a:p>
        </p:txBody>
      </p:sp>
      <p:pic>
        <p:nvPicPr>
          <p:cNvPr id="3074" name="Picture 2" descr="Image result for t roosevelt">
            <a:extLst>
              <a:ext uri="{FF2B5EF4-FFF2-40B4-BE49-F238E27FC236}">
                <a16:creationId xmlns:a16="http://schemas.microsoft.com/office/drawing/2014/main" id="{B042E348-5C51-4D72-8AF6-95D80EA932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37" r="7395"/>
          <a:stretch/>
        </p:blipFill>
        <p:spPr bwMode="auto">
          <a:xfrm>
            <a:off x="20" y="10"/>
            <a:ext cx="4635571" cy="685799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7EC01-1A3B-42D4-82BA-CE33ACDC4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1351722"/>
            <a:ext cx="6586489" cy="5128591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AU" sz="2000" dirty="0"/>
              <a:t>T. Roosevelt became Republican President 1901.</a:t>
            </a:r>
          </a:p>
          <a:p>
            <a:r>
              <a:rPr lang="en-AU" sz="2000" dirty="0"/>
              <a:t>Known as great “trust buster” for his efforts to break up industrial combinations under the </a:t>
            </a:r>
            <a:r>
              <a:rPr lang="en-AU" sz="2000" i="1" dirty="0"/>
              <a:t>Sherman Antitrust Act (</a:t>
            </a:r>
            <a:r>
              <a:rPr lang="en-AU" sz="2000" dirty="0"/>
              <a:t>“Square Deal”). </a:t>
            </a:r>
          </a:p>
          <a:p>
            <a:r>
              <a:rPr lang="en-AU" sz="2000" dirty="0"/>
              <a:t>Roosevelt moved from </a:t>
            </a:r>
            <a:r>
              <a:rPr lang="en-AU" sz="2000" b="1" dirty="0"/>
              <a:t>isolationist</a:t>
            </a:r>
            <a:r>
              <a:rPr lang="en-AU" sz="2000" dirty="0"/>
              <a:t> foreign policy to </a:t>
            </a:r>
            <a:r>
              <a:rPr lang="en-AU" sz="2000" b="1" dirty="0"/>
              <a:t>expansionist</a:t>
            </a:r>
            <a:r>
              <a:rPr lang="en-AU" sz="2000" dirty="0"/>
              <a:t> policies.</a:t>
            </a:r>
          </a:p>
          <a:p>
            <a:r>
              <a:rPr lang="en-AU" sz="2000" dirty="0"/>
              <a:t>Expansionism: increasing the amount of land ruled by a country (expanding territory), or the business performed by a company (economic expansion).</a:t>
            </a:r>
          </a:p>
          <a:p>
            <a:r>
              <a:rPr lang="en-AU" sz="2000" dirty="0"/>
              <a:t>US believed had a right to intervene in regional politics (Latin America’s) and became ‘international police force’ by ‘speak softly and carry a big stick’.</a:t>
            </a:r>
          </a:p>
          <a:p>
            <a:r>
              <a:rPr lang="en-AU" sz="2000" dirty="0"/>
              <a:t>Beginning construction on the Panama Canal.</a:t>
            </a:r>
          </a:p>
          <a:p>
            <a:r>
              <a:rPr lang="en-AU" sz="2000" dirty="0"/>
              <a:t>Increased navy to become major international force at sea.</a:t>
            </a:r>
          </a:p>
          <a:p>
            <a:r>
              <a:rPr lang="en-AU" sz="2000" dirty="0"/>
              <a:t>Banana Wars</a:t>
            </a:r>
          </a:p>
          <a:p>
            <a:endParaRPr lang="en-AU" sz="1400" dirty="0"/>
          </a:p>
          <a:p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096744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taft william">
            <a:extLst>
              <a:ext uri="{FF2B5EF4-FFF2-40B4-BE49-F238E27FC236}">
                <a16:creationId xmlns:a16="http://schemas.microsoft.com/office/drawing/2014/main" id="{E1CAA4E8-5752-41DD-ABDF-55549BE800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53" r="36901"/>
          <a:stretch/>
        </p:blipFill>
        <p:spPr bwMode="auto">
          <a:xfrm>
            <a:off x="5797543" y="10"/>
            <a:ext cx="639415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54DDEBDD-D8BD-41A6-8A0D-B00E3768B0F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E7C6DB-41D7-41EF-B769-EB2761C78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164" y="253714"/>
            <a:ext cx="4803636" cy="1086626"/>
          </a:xfrm>
        </p:spPr>
        <p:txBody>
          <a:bodyPr>
            <a:normAutofit/>
          </a:bodyPr>
          <a:lstStyle/>
          <a:p>
            <a:r>
              <a:rPr lang="en-AU" sz="2500" b="1" dirty="0">
                <a:solidFill>
                  <a:srgbClr val="000000"/>
                </a:solidFill>
              </a:rPr>
              <a:t>Taft and Economic Reform to Curb Laissez-Faire Policies</a:t>
            </a:r>
            <a:r>
              <a:rPr lang="en-AU" sz="2100" dirty="0">
                <a:solidFill>
                  <a:srgbClr val="000000"/>
                </a:solidFill>
              </a:rPr>
              <a:t/>
            </a:r>
            <a:br>
              <a:rPr lang="en-AU" sz="2100" dirty="0">
                <a:solidFill>
                  <a:srgbClr val="000000"/>
                </a:solidFill>
              </a:rPr>
            </a:br>
            <a:r>
              <a:rPr lang="en-AU" sz="1200" dirty="0">
                <a:solidFill>
                  <a:srgbClr val="000000"/>
                </a:solidFill>
                <a:hlinkClick r:id="rId4"/>
              </a:rPr>
              <a:t>https://www.history.com/topics/us-presidents/william-howard-taft</a:t>
            </a:r>
            <a:r>
              <a:rPr lang="en-AU" sz="120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8E536-6B07-452E-B979-34354A104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015" y="1702190"/>
            <a:ext cx="5753687" cy="4902095"/>
          </a:xfrm>
        </p:spPr>
        <p:txBody>
          <a:bodyPr anchor="ctr">
            <a:normAutofit lnSpcReduction="10000"/>
          </a:bodyPr>
          <a:lstStyle/>
          <a:p>
            <a:r>
              <a:rPr lang="en-AU" sz="2200" dirty="0">
                <a:solidFill>
                  <a:srgbClr val="000000"/>
                </a:solidFill>
              </a:rPr>
              <a:t>Became Republican President 1908.</a:t>
            </a:r>
          </a:p>
          <a:p>
            <a:r>
              <a:rPr lang="en-AU" sz="2200" dirty="0">
                <a:solidFill>
                  <a:srgbClr val="000000"/>
                </a:solidFill>
              </a:rPr>
              <a:t>Differed from Roosevelt as he believed in using economic power, rather than military power to assert control in the region (Dollar Diplomacy).</a:t>
            </a:r>
          </a:p>
          <a:p>
            <a:r>
              <a:rPr lang="en-AU" sz="2200" dirty="0">
                <a:solidFill>
                  <a:srgbClr val="000000"/>
                </a:solidFill>
              </a:rPr>
              <a:t>Laissez-faire: (French) the idea that governments and the law should not interfere with business, finance, or the conditions of people's working lives.</a:t>
            </a:r>
          </a:p>
          <a:p>
            <a:r>
              <a:rPr lang="en-AU" sz="2200" dirty="0">
                <a:solidFill>
                  <a:srgbClr val="000000"/>
                </a:solidFill>
              </a:rPr>
              <a:t>Until 1908 laissez-faire policies dominated US – Taft sought to change.</a:t>
            </a:r>
          </a:p>
          <a:p>
            <a:r>
              <a:rPr lang="en-AU" sz="2200" dirty="0">
                <a:solidFill>
                  <a:srgbClr val="000000"/>
                </a:solidFill>
              </a:rPr>
              <a:t> Set railroad rates. </a:t>
            </a:r>
          </a:p>
          <a:p>
            <a:r>
              <a:rPr lang="en-AU" sz="2200" dirty="0">
                <a:solidFill>
                  <a:srgbClr val="000000"/>
                </a:solidFill>
              </a:rPr>
              <a:t>Supported federal income tax.</a:t>
            </a:r>
          </a:p>
          <a:p>
            <a:r>
              <a:rPr lang="en-AU" sz="2200" dirty="0">
                <a:solidFill>
                  <a:srgbClr val="000000"/>
                </a:solidFill>
              </a:rPr>
              <a:t>Generally, conservative – not supported by progressives. </a:t>
            </a:r>
            <a:endParaRPr lang="en-AU" sz="1600" dirty="0">
              <a:solidFill>
                <a:srgbClr val="000000"/>
              </a:solidFill>
            </a:endParaRPr>
          </a:p>
          <a:p>
            <a:endParaRPr lang="en-AU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607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351DFE5-F63D-4BE0-BDA9-E3EB88F01A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601" y="0"/>
            <a:ext cx="11480494" cy="2753936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DD2BC0-6F29-4B4F-8D61-2DCF6D2E8E7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226" y="826680"/>
            <a:ext cx="9833548" cy="1325563"/>
          </a:xfrm>
        </p:spPr>
        <p:txBody>
          <a:bodyPr>
            <a:normAutofit/>
          </a:bodyPr>
          <a:lstStyle/>
          <a:p>
            <a:pPr algn="ctr"/>
            <a:r>
              <a:rPr lang="en-AU" sz="4000">
                <a:solidFill>
                  <a:srgbClr val="FFFFFF"/>
                </a:solidFill>
              </a:rPr>
              <a:t>Key questions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73167F-EDB6-4577-A3C5-C3CC0D4D4F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0826870"/>
              </p:ext>
            </p:extLst>
          </p:nvPr>
        </p:nvGraphicFramePr>
        <p:xfrm>
          <a:off x="1036320" y="2899956"/>
          <a:ext cx="10119360" cy="3131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69295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Henry Ford and the Model T  Theodore Roosevelt and Expansionism  Taft and Economic Reform to Curb Laissez-Faire Policies</vt:lpstr>
      <vt:lpstr>Timeline so far…</vt:lpstr>
      <vt:lpstr>Henry Ford and the Model T https://www.history.com/topics/inventions/henry-ford </vt:lpstr>
      <vt:lpstr>Theodore Roosevelt and Expansionism https://www.history.com/topics/us-presidents/theodore-roosevelt </vt:lpstr>
      <vt:lpstr>Taft and Economic Reform to Curb Laissez-Faire Policies https://www.history.com/topics/us-presidents/william-howard-taft </vt:lpstr>
      <vt:lpstr>Key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Henry Ford and the Model T  Theodore Roosevelt and Expansionism  Taft and Economic Reform to Curb Laissez-Faire Policies</dc:title>
  <dc:creator>Natasha Hawkes</dc:creator>
  <cp:lastModifiedBy>HAWKES Natasha [Narrogin Senior High School]</cp:lastModifiedBy>
  <cp:revision>2</cp:revision>
  <cp:lastPrinted>2019-03-05T00:03:29Z</cp:lastPrinted>
  <dcterms:created xsi:type="dcterms:W3CDTF">2019-03-01T08:23:26Z</dcterms:created>
  <dcterms:modified xsi:type="dcterms:W3CDTF">2019-03-05T00:03:38Z</dcterms:modified>
</cp:coreProperties>
</file>
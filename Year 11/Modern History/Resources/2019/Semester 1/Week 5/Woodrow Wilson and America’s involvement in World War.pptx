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4"/>
  </p:handoutMasterIdLst>
  <p:sldIdLst>
    <p:sldId id="256" r:id="rId2"/>
    <p:sldId id="257" r:id="rId3"/>
    <p:sldId id="258" r:id="rId4"/>
    <p:sldId id="259" r:id="rId5"/>
    <p:sldId id="260" r:id="rId6"/>
    <p:sldId id="261" r:id="rId7"/>
    <p:sldId id="262" r:id="rId8"/>
    <p:sldId id="266" r:id="rId9"/>
    <p:sldId id="264" r:id="rId10"/>
    <p:sldId id="265" r:id="rId11"/>
    <p:sldId id="267" r:id="rId12"/>
    <p:sldId id="263" r:id="rId13"/>
  </p:sldIdLst>
  <p:sldSz cx="12192000" cy="6858000"/>
  <p:notesSz cx="9931400" cy="6794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59" autoAdjust="0"/>
    <p:restoredTop sz="94660"/>
  </p:normalViewPr>
  <p:slideViewPr>
    <p:cSldViewPr snapToGrid="0">
      <p:cViewPr varScale="1">
        <p:scale>
          <a:sx n="115" d="100"/>
          <a:sy n="115" d="100"/>
        </p:scale>
        <p:origin x="20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3607" cy="340905"/>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5625495" y="0"/>
            <a:ext cx="4303607" cy="340905"/>
          </a:xfrm>
          <a:prstGeom prst="rect">
            <a:avLst/>
          </a:prstGeom>
        </p:spPr>
        <p:txBody>
          <a:bodyPr vert="horz" lIns="91440" tIns="45720" rIns="91440" bIns="45720" rtlCol="0"/>
          <a:lstStyle>
            <a:lvl1pPr algn="r">
              <a:defRPr sz="1200"/>
            </a:lvl1pPr>
          </a:lstStyle>
          <a:p>
            <a:fld id="{2B3F6EAA-AA05-4BA4-B78D-28FA0A008BD0}" type="datetimeFigureOut">
              <a:rPr lang="en-AU" smtClean="0"/>
              <a:t>7/03/2019</a:t>
            </a:fld>
            <a:endParaRPr lang="en-AU"/>
          </a:p>
        </p:txBody>
      </p:sp>
      <p:sp>
        <p:nvSpPr>
          <p:cNvPr id="4" name="Footer Placeholder 3"/>
          <p:cNvSpPr>
            <a:spLocks noGrp="1"/>
          </p:cNvSpPr>
          <p:nvPr>
            <p:ph type="ftr" sz="quarter" idx="2"/>
          </p:nvPr>
        </p:nvSpPr>
        <p:spPr>
          <a:xfrm>
            <a:off x="0" y="6453596"/>
            <a:ext cx="4303607" cy="340904"/>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5625495" y="6453596"/>
            <a:ext cx="4303607" cy="340904"/>
          </a:xfrm>
          <a:prstGeom prst="rect">
            <a:avLst/>
          </a:prstGeom>
        </p:spPr>
        <p:txBody>
          <a:bodyPr vert="horz" lIns="91440" tIns="45720" rIns="91440" bIns="45720" rtlCol="0" anchor="b"/>
          <a:lstStyle>
            <a:lvl1pPr algn="r">
              <a:defRPr sz="1200"/>
            </a:lvl1pPr>
          </a:lstStyle>
          <a:p>
            <a:fld id="{EDC83A3C-AC79-47E8-8D89-5123F154283B}" type="slidenum">
              <a:rPr lang="en-AU" smtClean="0"/>
              <a:t>‹#›</a:t>
            </a:fld>
            <a:endParaRPr lang="en-AU"/>
          </a:p>
        </p:txBody>
      </p:sp>
    </p:spTree>
    <p:extLst>
      <p:ext uri="{BB962C8B-B14F-4D97-AF65-F5344CB8AC3E}">
        <p14:creationId xmlns:p14="http://schemas.microsoft.com/office/powerpoint/2010/main" val="926621338"/>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50778CD4-9876-4026-92BC-9F14C93E3FC2}" type="datetimeFigureOut">
              <a:rPr lang="en-AU" smtClean="0"/>
              <a:t>7/03/2019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D971CD-938C-4156-A10E-5457175908A4}" type="slidenum">
              <a:rPr lang="en-AU" smtClean="0"/>
              <a:t>‹#›</a:t>
            </a:fld>
            <a:endParaRPr lang="en-AU"/>
          </a:p>
        </p:txBody>
      </p:sp>
    </p:spTree>
    <p:extLst>
      <p:ext uri="{BB962C8B-B14F-4D97-AF65-F5344CB8AC3E}">
        <p14:creationId xmlns:p14="http://schemas.microsoft.com/office/powerpoint/2010/main" val="2488766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50778CD4-9876-4026-92BC-9F14C93E3FC2}" type="datetimeFigureOut">
              <a:rPr lang="en-AU" smtClean="0"/>
              <a:t>7/03/2019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D971CD-938C-4156-A10E-5457175908A4}" type="slidenum">
              <a:rPr lang="en-AU" smtClean="0"/>
              <a:t>‹#›</a:t>
            </a:fld>
            <a:endParaRPr lang="en-AU"/>
          </a:p>
        </p:txBody>
      </p:sp>
    </p:spTree>
    <p:extLst>
      <p:ext uri="{BB962C8B-B14F-4D97-AF65-F5344CB8AC3E}">
        <p14:creationId xmlns:p14="http://schemas.microsoft.com/office/powerpoint/2010/main" val="2345833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0778CD4-9876-4026-92BC-9F14C93E3FC2}" type="datetimeFigureOut">
              <a:rPr lang="en-AU" smtClean="0"/>
              <a:t>7/03/2019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D971CD-938C-4156-A10E-5457175908A4}" type="slidenum">
              <a:rPr lang="en-AU" smtClean="0"/>
              <a:t>‹#›</a:t>
            </a:fld>
            <a:endParaRPr lang="en-AU"/>
          </a:p>
        </p:txBody>
      </p:sp>
    </p:spTree>
    <p:extLst>
      <p:ext uri="{BB962C8B-B14F-4D97-AF65-F5344CB8AC3E}">
        <p14:creationId xmlns:p14="http://schemas.microsoft.com/office/powerpoint/2010/main" val="2145298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50778CD4-9876-4026-92BC-9F14C93E3FC2}" type="datetimeFigureOut">
              <a:rPr lang="en-AU" smtClean="0"/>
              <a:t>7/03/2019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BD971CD-938C-4156-A10E-5457175908A4}" type="slidenum">
              <a:rPr lang="en-AU" smtClean="0"/>
              <a:t>‹#›</a:t>
            </a:fld>
            <a:endParaRPr lang="en-AU"/>
          </a:p>
        </p:txBody>
      </p:sp>
    </p:spTree>
    <p:extLst>
      <p:ext uri="{BB962C8B-B14F-4D97-AF65-F5344CB8AC3E}">
        <p14:creationId xmlns:p14="http://schemas.microsoft.com/office/powerpoint/2010/main" val="3646600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50778CD4-9876-4026-92BC-9F14C93E3FC2}" type="datetimeFigureOut">
              <a:rPr lang="en-AU" smtClean="0"/>
              <a:t>7/03/2019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BBD971CD-938C-4156-A10E-5457175908A4}" type="slidenum">
              <a:rPr lang="en-AU" smtClean="0"/>
              <a:t>‹#›</a:t>
            </a:fld>
            <a:endParaRPr lang="en-AU"/>
          </a:p>
        </p:txBody>
      </p:sp>
    </p:spTree>
    <p:extLst>
      <p:ext uri="{BB962C8B-B14F-4D97-AF65-F5344CB8AC3E}">
        <p14:creationId xmlns:p14="http://schemas.microsoft.com/office/powerpoint/2010/main" val="1439265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50778CD4-9876-4026-92BC-9F14C93E3FC2}" type="datetimeFigureOut">
              <a:rPr lang="en-AU" smtClean="0"/>
              <a:t>7/03/2019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BBD971CD-938C-4156-A10E-5457175908A4}" type="slidenum">
              <a:rPr lang="en-AU" smtClean="0"/>
              <a:t>‹#›</a:t>
            </a:fld>
            <a:endParaRPr lang="en-AU"/>
          </a:p>
        </p:txBody>
      </p:sp>
    </p:spTree>
    <p:extLst>
      <p:ext uri="{BB962C8B-B14F-4D97-AF65-F5344CB8AC3E}">
        <p14:creationId xmlns:p14="http://schemas.microsoft.com/office/powerpoint/2010/main" val="376724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778CD4-9876-4026-92BC-9F14C93E3FC2}" type="datetimeFigureOut">
              <a:rPr lang="en-AU" smtClean="0"/>
              <a:t>7/03/2019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BBD971CD-938C-4156-A10E-5457175908A4}" type="slidenum">
              <a:rPr lang="en-AU" smtClean="0"/>
              <a:t>‹#›</a:t>
            </a:fld>
            <a:endParaRPr lang="en-AU"/>
          </a:p>
        </p:txBody>
      </p:sp>
    </p:spTree>
    <p:extLst>
      <p:ext uri="{BB962C8B-B14F-4D97-AF65-F5344CB8AC3E}">
        <p14:creationId xmlns:p14="http://schemas.microsoft.com/office/powerpoint/2010/main" val="1342632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0778CD4-9876-4026-92BC-9F14C93E3FC2}" type="datetimeFigureOut">
              <a:rPr lang="en-AU" smtClean="0"/>
              <a:t>7/03/2019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BD971CD-938C-4156-A10E-5457175908A4}" type="slidenum">
              <a:rPr lang="en-AU" smtClean="0"/>
              <a:t>‹#›</a:t>
            </a:fld>
            <a:endParaRPr lang="en-AU"/>
          </a:p>
        </p:txBody>
      </p:sp>
    </p:spTree>
    <p:extLst>
      <p:ext uri="{BB962C8B-B14F-4D97-AF65-F5344CB8AC3E}">
        <p14:creationId xmlns:p14="http://schemas.microsoft.com/office/powerpoint/2010/main" val="4210730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0778CD4-9876-4026-92BC-9F14C93E3FC2}" type="datetimeFigureOut">
              <a:rPr lang="en-AU" smtClean="0"/>
              <a:t>7/03/2019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BD971CD-938C-4156-A10E-5457175908A4}" type="slidenum">
              <a:rPr lang="en-AU" smtClean="0"/>
              <a:t>‹#›</a:t>
            </a:fld>
            <a:endParaRPr lang="en-AU"/>
          </a:p>
        </p:txBody>
      </p:sp>
    </p:spTree>
    <p:extLst>
      <p:ext uri="{BB962C8B-B14F-4D97-AF65-F5344CB8AC3E}">
        <p14:creationId xmlns:p14="http://schemas.microsoft.com/office/powerpoint/2010/main" val="1150353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50778CD4-9876-4026-92BC-9F14C93E3FC2}" type="datetimeFigureOut">
              <a:rPr lang="en-AU" smtClean="0"/>
              <a:t>7/03/2019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D971CD-938C-4156-A10E-5457175908A4}" type="slidenum">
              <a:rPr lang="en-AU" smtClean="0"/>
              <a:t>‹#›</a:t>
            </a:fld>
            <a:endParaRPr lang="en-AU"/>
          </a:p>
        </p:txBody>
      </p:sp>
    </p:spTree>
    <p:extLst>
      <p:ext uri="{BB962C8B-B14F-4D97-AF65-F5344CB8AC3E}">
        <p14:creationId xmlns:p14="http://schemas.microsoft.com/office/powerpoint/2010/main" val="982999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50778CD4-9876-4026-92BC-9F14C93E3FC2}" type="datetimeFigureOut">
              <a:rPr lang="en-AU" smtClean="0"/>
              <a:t>7/03/2019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BD971CD-938C-4156-A10E-5457175908A4}" type="slidenum">
              <a:rPr lang="en-AU" smtClean="0"/>
              <a:t>‹#›</a:t>
            </a:fld>
            <a:endParaRPr lang="en-AU"/>
          </a:p>
        </p:txBody>
      </p:sp>
    </p:spTree>
    <p:extLst>
      <p:ext uri="{BB962C8B-B14F-4D97-AF65-F5344CB8AC3E}">
        <p14:creationId xmlns:p14="http://schemas.microsoft.com/office/powerpoint/2010/main" val="3311306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778CD4-9876-4026-92BC-9F14C93E3FC2}" type="datetimeFigureOut">
              <a:rPr lang="en-AU" smtClean="0"/>
              <a:t>7/03/2019</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D971CD-938C-4156-A10E-5457175908A4}" type="slidenum">
              <a:rPr lang="en-AU" smtClean="0"/>
              <a:t>‹#›</a:t>
            </a:fld>
            <a:endParaRPr lang="en-AU"/>
          </a:p>
        </p:txBody>
      </p:sp>
    </p:spTree>
    <p:extLst>
      <p:ext uri="{BB962C8B-B14F-4D97-AF65-F5344CB8AC3E}">
        <p14:creationId xmlns:p14="http://schemas.microsoft.com/office/powerpoint/2010/main" val="33827202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hyperlink" Target="https://www.youtube.com/watch?v=Mun1dKkc_As" TargetMode="External"/><Relationship Id="rId4" Type="http://schemas.openxmlformats.org/officeDocument/2006/relationships/hyperlink" Target="https://www.youtube.com/watch?v=_uk_6vfqwTA"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8" name="Picture 4" descr="Image result for fourteen points document">
            <a:extLst>
              <a:ext uri="{FF2B5EF4-FFF2-40B4-BE49-F238E27FC236}">
                <a16:creationId xmlns:a16="http://schemas.microsoft.com/office/drawing/2014/main" id="{E386E6A9-15C2-4B31-97FB-118869C7423E}"/>
              </a:ext>
            </a:extLst>
          </p:cNvP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t="15267" r="5" b="13879"/>
          <a:stretch/>
        </p:blipFill>
        <p:spPr bwMode="auto">
          <a:xfrm>
            <a:off x="4966012" y="198387"/>
            <a:ext cx="3765946" cy="3765946"/>
          </a:xfrm>
          <a:custGeom>
            <a:avLst/>
            <a:gdLst>
              <a:gd name="connsiteX0" fmla="*/ 3028805 w 6057610"/>
              <a:gd name="connsiteY0" fmla="*/ 0 h 6057610"/>
              <a:gd name="connsiteX1" fmla="*/ 6057610 w 6057610"/>
              <a:gd name="connsiteY1" fmla="*/ 3028805 h 6057610"/>
              <a:gd name="connsiteX2" fmla="*/ 3028805 w 6057610"/>
              <a:gd name="connsiteY2" fmla="*/ 6057610 h 6057610"/>
              <a:gd name="connsiteX3" fmla="*/ 0 w 6057610"/>
              <a:gd name="connsiteY3" fmla="*/ 3028805 h 6057610"/>
              <a:gd name="connsiteX4" fmla="*/ 3028805 w 6057610"/>
              <a:gd name="connsiteY4" fmla="*/ 0 h 6057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noFill/>
          <a:effectLst>
            <a:softEdge rad="0"/>
          </a:effectLst>
          <a:extLst>
            <a:ext uri="{909E8E84-426E-40DD-AFC4-6F175D3DCCD1}">
              <a14:hiddenFill xmlns:a14="http://schemas.microsoft.com/office/drawing/2010/main">
                <a:solidFill>
                  <a:srgbClr val="FFFFFF"/>
                </a:solidFill>
              </a14:hiddenFill>
            </a:ext>
          </a:extLst>
        </p:spPr>
      </p:pic>
      <p:pic>
        <p:nvPicPr>
          <p:cNvPr id="1030" name="Picture 6" descr="Image result for us ww1">
            <a:extLst>
              <a:ext uri="{FF2B5EF4-FFF2-40B4-BE49-F238E27FC236}">
                <a16:creationId xmlns:a16="http://schemas.microsoft.com/office/drawing/2014/main" id="{8736542C-DFA9-4242-983E-B908E701FFC9}"/>
              </a:ext>
            </a:extLst>
          </p:cNvPr>
          <p:cNvPicPr>
            <a:picLocks noChangeAspect="1" noChangeArrowheads="1"/>
          </p:cNvPicPr>
          <p:nvPr/>
        </p:nvPicPr>
        <p:blipFill rotWithShape="1">
          <a:blip r:embed="rId3" cstate="print">
            <a:alphaModFix/>
            <a:extLst>
              <a:ext uri="{28A0092B-C50C-407E-A947-70E740481C1C}">
                <a14:useLocalDpi xmlns:a14="http://schemas.microsoft.com/office/drawing/2010/main" val="0"/>
              </a:ext>
            </a:extLst>
          </a:blip>
          <a:srcRect t="1473" r="2" b="2"/>
          <a:stretch/>
        </p:blipFill>
        <p:spPr bwMode="auto">
          <a:xfrm>
            <a:off x="1199077" y="4"/>
            <a:ext cx="4125131" cy="2489417"/>
          </a:xfrm>
          <a:custGeom>
            <a:avLst/>
            <a:gdLst>
              <a:gd name="connsiteX0" fmla="*/ 44777 w 4125131"/>
              <a:gd name="connsiteY0" fmla="*/ 0 h 2489417"/>
              <a:gd name="connsiteX1" fmla="*/ 4080354 w 4125131"/>
              <a:gd name="connsiteY1" fmla="*/ 0 h 2489417"/>
              <a:gd name="connsiteX2" fmla="*/ 4083227 w 4125131"/>
              <a:gd name="connsiteY2" fmla="*/ 11173 h 2489417"/>
              <a:gd name="connsiteX3" fmla="*/ 4125131 w 4125131"/>
              <a:gd name="connsiteY3" fmla="*/ 426852 h 2489417"/>
              <a:gd name="connsiteX4" fmla="*/ 2062565 w 4125131"/>
              <a:gd name="connsiteY4" fmla="*/ 2489417 h 2489417"/>
              <a:gd name="connsiteX5" fmla="*/ 0 w 4125131"/>
              <a:gd name="connsiteY5" fmla="*/ 426852 h 2489417"/>
              <a:gd name="connsiteX6" fmla="*/ 41904 w 4125131"/>
              <a:gd name="connsiteY6" fmla="*/ 11173 h 2489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25131" h="2489417">
                <a:moveTo>
                  <a:pt x="44777" y="0"/>
                </a:moveTo>
                <a:lnTo>
                  <a:pt x="4080354" y="0"/>
                </a:lnTo>
                <a:lnTo>
                  <a:pt x="4083227" y="11173"/>
                </a:lnTo>
                <a:cubicBezTo>
                  <a:pt x="4110702" y="145441"/>
                  <a:pt x="4125131" y="284462"/>
                  <a:pt x="4125131" y="426852"/>
                </a:cubicBezTo>
                <a:cubicBezTo>
                  <a:pt x="4125131" y="1565976"/>
                  <a:pt x="3201689" y="2489417"/>
                  <a:pt x="2062565" y="2489417"/>
                </a:cubicBezTo>
                <a:cubicBezTo>
                  <a:pt x="923442" y="2489417"/>
                  <a:pt x="0" y="1565976"/>
                  <a:pt x="0" y="426852"/>
                </a:cubicBezTo>
                <a:cubicBezTo>
                  <a:pt x="0" y="284462"/>
                  <a:pt x="14429" y="145441"/>
                  <a:pt x="41904" y="11173"/>
                </a:cubicBezTo>
                <a:close/>
              </a:path>
            </a:pathLst>
          </a:custGeom>
          <a:noFill/>
          <a:effectLst>
            <a:softEdge rad="0"/>
          </a:effectLst>
          <a:extLst>
            <a:ext uri="{909E8E84-426E-40DD-AFC4-6F175D3DCCD1}">
              <a14:hiddenFill xmlns:a14="http://schemas.microsoft.com/office/drawing/2010/main">
                <a:solidFill>
                  <a:srgbClr val="FFFFFF"/>
                </a:solidFill>
              </a14:hiddenFill>
            </a:ext>
          </a:extLst>
        </p:spPr>
      </p:pic>
      <p:pic>
        <p:nvPicPr>
          <p:cNvPr id="1026" name="Picture 2" descr="Image result for woodrow wilson">
            <a:extLst>
              <a:ext uri="{FF2B5EF4-FFF2-40B4-BE49-F238E27FC236}">
                <a16:creationId xmlns:a16="http://schemas.microsoft.com/office/drawing/2014/main" id="{186AB3E4-D8B0-469A-9132-41A7E3809C60}"/>
              </a:ext>
            </a:extLst>
          </p:cNvPr>
          <p:cNvPicPr>
            <a:picLocks noChangeAspect="1" noChangeArrowheads="1"/>
          </p:cNvPicPr>
          <p:nvPr/>
        </p:nvPicPr>
        <p:blipFill rotWithShape="1">
          <a:blip r:embed="rId4">
            <a:alphaModFix/>
            <a:extLst>
              <a:ext uri="{28A0092B-C50C-407E-A947-70E740481C1C}">
                <a14:useLocalDpi xmlns:a14="http://schemas.microsoft.com/office/drawing/2010/main" val="0"/>
              </a:ext>
            </a:extLst>
          </a:blip>
          <a:srcRect r="12927" b="2"/>
          <a:stretch/>
        </p:blipFill>
        <p:spPr bwMode="auto">
          <a:xfrm>
            <a:off x="-2" y="1998084"/>
            <a:ext cx="4231752" cy="4859916"/>
          </a:xfrm>
          <a:custGeom>
            <a:avLst/>
            <a:gdLst>
              <a:gd name="connsiteX0" fmla="*/ 1051869 w 4231752"/>
              <a:gd name="connsiteY0" fmla="*/ 0 h 4859916"/>
              <a:gd name="connsiteX1" fmla="*/ 4231752 w 4231752"/>
              <a:gd name="connsiteY1" fmla="*/ 3179883 h 4859916"/>
              <a:gd name="connsiteX2" fmla="*/ 3847958 w 4231752"/>
              <a:gd name="connsiteY2" fmla="*/ 4695604 h 4859916"/>
              <a:gd name="connsiteX3" fmla="*/ 3748135 w 4231752"/>
              <a:gd name="connsiteY3" fmla="*/ 4859916 h 4859916"/>
              <a:gd name="connsiteX4" fmla="*/ 0 w 4231752"/>
              <a:gd name="connsiteY4" fmla="*/ 4859916 h 4859916"/>
              <a:gd name="connsiteX5" fmla="*/ 0 w 4231752"/>
              <a:gd name="connsiteY5" fmla="*/ 181856 h 4859916"/>
              <a:gd name="connsiteX6" fmla="*/ 106268 w 4231752"/>
              <a:gd name="connsiteY6" fmla="*/ 142962 h 4859916"/>
              <a:gd name="connsiteX7" fmla="*/ 1051869 w 4231752"/>
              <a:gd name="connsiteY7" fmla="*/ 0 h 4859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31752" h="4859916">
                <a:moveTo>
                  <a:pt x="1051869" y="0"/>
                </a:moveTo>
                <a:cubicBezTo>
                  <a:pt x="2808070" y="0"/>
                  <a:pt x="4231752" y="1423682"/>
                  <a:pt x="4231752" y="3179883"/>
                </a:cubicBezTo>
                <a:cubicBezTo>
                  <a:pt x="4231752" y="3728696"/>
                  <a:pt x="4092721" y="4245036"/>
                  <a:pt x="3847958" y="4695604"/>
                </a:cubicBezTo>
                <a:lnTo>
                  <a:pt x="3748135" y="4859916"/>
                </a:lnTo>
                <a:lnTo>
                  <a:pt x="0" y="4859916"/>
                </a:lnTo>
                <a:lnTo>
                  <a:pt x="0" y="181856"/>
                </a:lnTo>
                <a:lnTo>
                  <a:pt x="106268" y="142962"/>
                </a:lnTo>
                <a:cubicBezTo>
                  <a:pt x="404983" y="50052"/>
                  <a:pt x="722581" y="0"/>
                  <a:pt x="1051869" y="0"/>
                </a:cubicBezTo>
                <a:close/>
              </a:path>
            </a:pathLst>
          </a:custGeom>
          <a:noFill/>
          <a:effectLst>
            <a:softEdge rad="0"/>
          </a:effectLst>
          <a:extLst>
            <a:ext uri="{909E8E84-426E-40DD-AFC4-6F175D3DCCD1}">
              <a14:hiddenFill xmlns:a14="http://schemas.microsoft.com/office/drawing/2010/main">
                <a:solidFill>
                  <a:srgbClr val="FFFFFF"/>
                </a:solidFill>
              </a14:hiddenFill>
            </a:ext>
          </a:extLst>
        </p:spPr>
      </p:pic>
      <p:pic>
        <p:nvPicPr>
          <p:cNvPr id="1032" name="Picture 8" descr="Image result for us ww1">
            <a:extLst>
              <a:ext uri="{FF2B5EF4-FFF2-40B4-BE49-F238E27FC236}">
                <a16:creationId xmlns:a16="http://schemas.microsoft.com/office/drawing/2014/main" id="{C2211A7D-3775-4AD5-AAFF-206CF78C8D02}"/>
              </a:ext>
            </a:extLst>
          </p:cNvPr>
          <p:cNvPicPr>
            <a:picLocks noChangeAspect="1" noChangeArrowheads="1"/>
          </p:cNvPicPr>
          <p:nvPr/>
        </p:nvPicPr>
        <p:blipFill rotWithShape="1">
          <a:blip r:embed="rId5" cstate="print">
            <a:alphaModFix/>
            <a:extLst>
              <a:ext uri="{28A0092B-C50C-407E-A947-70E740481C1C}">
                <a14:useLocalDpi xmlns:a14="http://schemas.microsoft.com/office/drawing/2010/main" val="0"/>
              </a:ext>
            </a:extLst>
          </a:blip>
          <a:srcRect t="19963" r="-3" b="-4"/>
          <a:stretch/>
        </p:blipFill>
        <p:spPr bwMode="auto">
          <a:xfrm>
            <a:off x="8845406" y="4"/>
            <a:ext cx="3346597" cy="3631921"/>
          </a:xfrm>
          <a:custGeom>
            <a:avLst/>
            <a:gdLst>
              <a:gd name="connsiteX0" fmla="*/ 416855 w 3346597"/>
              <a:gd name="connsiteY0" fmla="*/ 0 h 3631921"/>
              <a:gd name="connsiteX1" fmla="*/ 3346597 w 3346597"/>
              <a:gd name="connsiteY1" fmla="*/ 0 h 3631921"/>
              <a:gd name="connsiteX2" fmla="*/ 3346597 w 3346597"/>
              <a:gd name="connsiteY2" fmla="*/ 3384403 h 3631921"/>
              <a:gd name="connsiteX3" fmla="*/ 3209678 w 3346597"/>
              <a:gd name="connsiteY3" fmla="*/ 3450360 h 3631921"/>
              <a:gd name="connsiteX4" fmla="*/ 2310376 w 3346597"/>
              <a:gd name="connsiteY4" fmla="*/ 3631921 h 3631921"/>
              <a:gd name="connsiteX5" fmla="*/ 0 w 3346597"/>
              <a:gd name="connsiteY5" fmla="*/ 1321546 h 3631921"/>
              <a:gd name="connsiteX6" fmla="*/ 394576 w 3346597"/>
              <a:gd name="connsiteY6" fmla="*/ 29794 h 363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46597" h="3631921">
                <a:moveTo>
                  <a:pt x="416855" y="0"/>
                </a:moveTo>
                <a:lnTo>
                  <a:pt x="3346597" y="0"/>
                </a:lnTo>
                <a:lnTo>
                  <a:pt x="3346597" y="3384403"/>
                </a:lnTo>
                <a:lnTo>
                  <a:pt x="3209678" y="3450360"/>
                </a:lnTo>
                <a:cubicBezTo>
                  <a:pt x="2933269" y="3567272"/>
                  <a:pt x="2629372" y="3631921"/>
                  <a:pt x="2310376" y="3631921"/>
                </a:cubicBezTo>
                <a:cubicBezTo>
                  <a:pt x="1034390" y="3631921"/>
                  <a:pt x="0" y="2597531"/>
                  <a:pt x="0" y="1321546"/>
                </a:cubicBezTo>
                <a:cubicBezTo>
                  <a:pt x="0" y="843052"/>
                  <a:pt x="145461" y="398532"/>
                  <a:pt x="394576" y="29794"/>
                </a:cubicBezTo>
                <a:close/>
              </a:path>
            </a:pathLst>
          </a:custGeom>
          <a:noFill/>
          <a:effectLst>
            <a:softEdge rad="0"/>
          </a:effectLst>
          <a:extLst>
            <a:ext uri="{909E8E84-426E-40DD-AFC4-6F175D3DCCD1}">
              <a14:hiddenFill xmlns:a14="http://schemas.microsoft.com/office/drawing/2010/main">
                <a:solidFill>
                  <a:srgbClr val="FFFFFF"/>
                </a:solidFill>
              </a14:hiddenFill>
            </a:ext>
          </a:extLst>
        </p:spPr>
      </p:pic>
      <p:pic>
        <p:nvPicPr>
          <p:cNvPr id="77" name="Picture 76">
            <a:extLst>
              <a:ext uri="{FF2B5EF4-FFF2-40B4-BE49-F238E27FC236}">
                <a16:creationId xmlns:a16="http://schemas.microsoft.com/office/drawing/2014/main" id="{5E090A9D-9BD2-4EB9-A6B7-8D042B6E4185}"/>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4966012" y="4748981"/>
            <a:ext cx="6788453" cy="1910631"/>
          </a:xfrm>
        </p:spPr>
        <p:txBody>
          <a:bodyPr anchor="t">
            <a:noAutofit/>
          </a:bodyPr>
          <a:lstStyle/>
          <a:p>
            <a:pPr lvl="0" algn="r"/>
            <a:r>
              <a:rPr lang="en-AU" sz="2000" dirty="0">
                <a:solidFill>
                  <a:srgbClr val="000000"/>
                </a:solidFill>
              </a:rPr>
              <a:t>Woodrow Wilson and America’s involvement in World War I</a:t>
            </a:r>
            <a:br>
              <a:rPr lang="en-AU" sz="2000" dirty="0">
                <a:solidFill>
                  <a:srgbClr val="000000"/>
                </a:solidFill>
              </a:rPr>
            </a:br>
            <a:r>
              <a:rPr lang="en-AU" sz="2000" dirty="0">
                <a:solidFill>
                  <a:srgbClr val="000000"/>
                </a:solidFill>
              </a:rPr>
              <a:t/>
            </a:r>
            <a:br>
              <a:rPr lang="en-AU" sz="2000" dirty="0">
                <a:solidFill>
                  <a:srgbClr val="000000"/>
                </a:solidFill>
              </a:rPr>
            </a:br>
            <a:r>
              <a:rPr lang="en-AU" sz="2000" dirty="0">
                <a:solidFill>
                  <a:srgbClr val="000000"/>
                </a:solidFill>
              </a:rPr>
              <a:t>The Fourteen Points and the return to isolationism</a:t>
            </a:r>
            <a:br>
              <a:rPr lang="en-AU" sz="2000" dirty="0">
                <a:solidFill>
                  <a:srgbClr val="000000"/>
                </a:solidFill>
              </a:rPr>
            </a:br>
            <a:r>
              <a:rPr lang="en-AU" sz="2000" dirty="0">
                <a:solidFill>
                  <a:srgbClr val="000000"/>
                </a:solidFill>
              </a:rPr>
              <a:t/>
            </a:r>
            <a:br>
              <a:rPr lang="en-AU" sz="2000" dirty="0">
                <a:solidFill>
                  <a:srgbClr val="000000"/>
                </a:solidFill>
              </a:rPr>
            </a:br>
            <a:r>
              <a:rPr lang="en-AU" sz="2000" dirty="0">
                <a:solidFill>
                  <a:srgbClr val="000000"/>
                </a:solidFill>
              </a:rPr>
              <a:t>The impact of World War I on American capitalism </a:t>
            </a:r>
            <a:br>
              <a:rPr lang="en-AU" sz="2000" dirty="0">
                <a:solidFill>
                  <a:srgbClr val="000000"/>
                </a:solidFill>
              </a:rPr>
            </a:br>
            <a:r>
              <a:rPr lang="en-AU" sz="1500" dirty="0">
                <a:solidFill>
                  <a:srgbClr val="000000"/>
                </a:solidFill>
              </a:rPr>
              <a:t>(Industrialisation, Capitalism, Constitutional amendments: women voting, Immigration restriction)  </a:t>
            </a:r>
          </a:p>
        </p:txBody>
      </p:sp>
      <p:sp>
        <p:nvSpPr>
          <p:cNvPr id="3" name="Subtitle 2"/>
          <p:cNvSpPr>
            <a:spLocks noGrp="1"/>
          </p:cNvSpPr>
          <p:nvPr>
            <p:ph type="subTitle" idx="1"/>
          </p:nvPr>
        </p:nvSpPr>
        <p:spPr>
          <a:xfrm>
            <a:off x="5445677" y="3712730"/>
            <a:ext cx="5946202" cy="799032"/>
          </a:xfrm>
        </p:spPr>
        <p:txBody>
          <a:bodyPr anchor="b">
            <a:normAutofit/>
          </a:bodyPr>
          <a:lstStyle/>
          <a:p>
            <a:pPr algn="r"/>
            <a:r>
              <a:rPr lang="en-AU" sz="2500" dirty="0">
                <a:solidFill>
                  <a:srgbClr val="000000"/>
                </a:solidFill>
              </a:rPr>
              <a:t>Year 11 Modern History</a:t>
            </a:r>
          </a:p>
        </p:txBody>
      </p:sp>
    </p:spTree>
    <p:extLst>
      <p:ext uri="{BB962C8B-B14F-4D97-AF65-F5344CB8AC3E}">
        <p14:creationId xmlns:p14="http://schemas.microsoft.com/office/powerpoint/2010/main" val="11911341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5320" y="365125"/>
            <a:ext cx="5120114" cy="1692794"/>
          </a:xfrm>
        </p:spPr>
        <p:txBody>
          <a:bodyPr>
            <a:normAutofit/>
          </a:bodyPr>
          <a:lstStyle/>
          <a:p>
            <a:r>
              <a:rPr lang="en-AU" dirty="0"/>
              <a:t>Woodrow Wilson</a:t>
            </a:r>
          </a:p>
        </p:txBody>
      </p:sp>
      <p:cxnSp>
        <p:nvCxnSpPr>
          <p:cNvPr id="71" name="Straight Arrow Connector 70">
            <a:extLst>
              <a:ext uri="{FF2B5EF4-FFF2-40B4-BE49-F238E27FC236}">
                <a16:creationId xmlns:a16="http://schemas.microsoft.com/office/drawing/2014/main" id="{E4A809D5-3600-46D4-A466-67F2349A54FB}"/>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5320" y="2316480"/>
            <a:ext cx="45720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655321" y="2575033"/>
            <a:ext cx="5120113" cy="3917833"/>
          </a:xfrm>
        </p:spPr>
        <p:txBody>
          <a:bodyPr>
            <a:normAutofit/>
          </a:bodyPr>
          <a:lstStyle/>
          <a:p>
            <a:r>
              <a:rPr lang="en-AU" sz="2300" dirty="0"/>
              <a:t>Democratic President from 1912 to 1921.</a:t>
            </a:r>
          </a:p>
          <a:p>
            <a:r>
              <a:rPr lang="en-AU" sz="2300" dirty="0"/>
              <a:t>Ended laissez-faire politics and believed in gov’s greater control over businesses.</a:t>
            </a:r>
          </a:p>
          <a:p>
            <a:r>
              <a:rPr lang="en-AU" sz="2300" dirty="0"/>
              <a:t>New Freedom Program = series of legislative measures by which government intervened, for example, to investigate and regulate matters such as finances of large business corporations.</a:t>
            </a:r>
          </a:p>
        </p:txBody>
      </p:sp>
      <p:pic>
        <p:nvPicPr>
          <p:cNvPr id="2050" name="Picture 2" descr="Image result for woodrow wilson">
            <a:extLst>
              <a:ext uri="{FF2B5EF4-FFF2-40B4-BE49-F238E27FC236}">
                <a16:creationId xmlns:a16="http://schemas.microsoft.com/office/drawing/2014/main" id="{079559BF-1045-4570-9B9F-52BF5DC026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945"/>
          <a:stretch/>
        </p:blipFill>
        <p:spPr bwMode="auto">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5164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14A2F755-5219-4C4E-9378-2C80BB08DF8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5" name="Freeform: Shape 74">
            <a:extLst>
              <a:ext uri="{FF2B5EF4-FFF2-40B4-BE49-F238E27FC236}">
                <a16:creationId xmlns:a16="http://schemas.microsoft.com/office/drawing/2014/main" id="{9A87AD7E-457F-4836-8DDE-FFE0F009388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sp>
      <p:sp>
        <p:nvSpPr>
          <p:cNvPr id="2" name="Title 1"/>
          <p:cNvSpPr>
            <a:spLocks noGrp="1"/>
          </p:cNvSpPr>
          <p:nvPr>
            <p:ph type="title"/>
          </p:nvPr>
        </p:nvSpPr>
        <p:spPr>
          <a:xfrm>
            <a:off x="960983" y="498143"/>
            <a:ext cx="10269613" cy="1278902"/>
          </a:xfrm>
        </p:spPr>
        <p:txBody>
          <a:bodyPr>
            <a:normAutofit/>
          </a:bodyPr>
          <a:lstStyle/>
          <a:p>
            <a:r>
              <a:rPr lang="en-AU" sz="4100">
                <a:solidFill>
                  <a:schemeClr val="bg1"/>
                </a:solidFill>
              </a:rPr>
              <a:t>Woodrow Wilson and the First World War</a:t>
            </a:r>
            <a:br>
              <a:rPr lang="en-AU" sz="4100">
                <a:solidFill>
                  <a:schemeClr val="bg1"/>
                </a:solidFill>
              </a:rPr>
            </a:br>
            <a:r>
              <a:rPr lang="en-AU" sz="4100">
                <a:solidFill>
                  <a:schemeClr val="bg1"/>
                </a:solidFill>
              </a:rPr>
              <a:t>Why did America declare neutrality initially?</a:t>
            </a:r>
          </a:p>
        </p:txBody>
      </p:sp>
      <p:pic>
        <p:nvPicPr>
          <p:cNvPr id="3076" name="Picture 4" descr="Image result for us ww1 neutral">
            <a:extLst>
              <a:ext uri="{FF2B5EF4-FFF2-40B4-BE49-F238E27FC236}">
                <a16:creationId xmlns:a16="http://schemas.microsoft.com/office/drawing/2014/main" id="{64652CC7-D383-40C0-9FF9-97C530B5D5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471" y="2647757"/>
            <a:ext cx="4013877" cy="3449944"/>
          </a:xfrm>
          <a:prstGeom prst="rect">
            <a:avLst/>
          </a:prstGeom>
          <a:noFill/>
          <a:effectLst/>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4389061" y="2944459"/>
            <a:ext cx="7537467" cy="3449943"/>
          </a:xfrm>
        </p:spPr>
        <p:txBody>
          <a:bodyPr>
            <a:normAutofit/>
          </a:bodyPr>
          <a:lstStyle/>
          <a:p>
            <a:r>
              <a:rPr lang="en-AU" sz="2500" dirty="0"/>
              <a:t>Woodrow Wilson President for duration of WW1.</a:t>
            </a:r>
          </a:p>
          <a:p>
            <a:r>
              <a:rPr lang="en-AU" sz="2500" dirty="0"/>
              <a:t>WW1 began august 1914 but America remained neutral.</a:t>
            </a:r>
          </a:p>
          <a:p>
            <a:r>
              <a:rPr lang="en-AU" sz="2500" dirty="0"/>
              <a:t>America lent money to allies and sold munitions and food to Britain and France – as German and British industries were disrupted by war, those in America took over and boomed, the average wage rose by 25 per cent. </a:t>
            </a:r>
          </a:p>
          <a:p>
            <a:endParaRPr lang="en-AU" sz="2200" dirty="0"/>
          </a:p>
        </p:txBody>
      </p:sp>
    </p:spTree>
    <p:extLst>
      <p:ext uri="{BB962C8B-B14F-4D97-AF65-F5344CB8AC3E}">
        <p14:creationId xmlns:p14="http://schemas.microsoft.com/office/powerpoint/2010/main" val="12928782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Image result for us ww1">
            <a:extLst>
              <a:ext uri="{FF2B5EF4-FFF2-40B4-BE49-F238E27FC236}">
                <a16:creationId xmlns:a16="http://schemas.microsoft.com/office/drawing/2014/main" id="{46E31479-D71D-419A-BC6B-AC20573BBB2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93" r="12727" b="998"/>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71" name="Rectangle 70">
            <a:extLst>
              <a:ext uri="{FF2B5EF4-FFF2-40B4-BE49-F238E27FC236}">
                <a16:creationId xmlns:a16="http://schemas.microsoft.com/office/drawing/2014/main" id="{86C7B4A1-154A-4DF0-AC46-F88D75A2E0F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6"/>
            <a:ext cx="7197772" cy="5896743"/>
          </a:xfrm>
          <a:prstGeom prst="rect">
            <a:avLst/>
          </a:prstGeom>
          <a:solidFill>
            <a:schemeClr val="bg1">
              <a:alpha val="90000"/>
            </a:schemeClr>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4804" y="640263"/>
            <a:ext cx="6619811" cy="1344975"/>
          </a:xfrm>
        </p:spPr>
        <p:txBody>
          <a:bodyPr>
            <a:normAutofit/>
          </a:bodyPr>
          <a:lstStyle/>
          <a:p>
            <a:r>
              <a:rPr lang="en-AU" sz="3000" dirty="0"/>
              <a:t>How did America become involved in WW1?</a:t>
            </a:r>
          </a:p>
        </p:txBody>
      </p:sp>
      <p:sp>
        <p:nvSpPr>
          <p:cNvPr id="3" name="Content Placeholder 2"/>
          <p:cNvSpPr>
            <a:spLocks noGrp="1"/>
          </p:cNvSpPr>
          <p:nvPr>
            <p:ph idx="1"/>
          </p:nvPr>
        </p:nvSpPr>
        <p:spPr>
          <a:xfrm>
            <a:off x="594109" y="1858296"/>
            <a:ext cx="6620505" cy="4159045"/>
          </a:xfrm>
        </p:spPr>
        <p:txBody>
          <a:bodyPr>
            <a:noAutofit/>
          </a:bodyPr>
          <a:lstStyle/>
          <a:p>
            <a:pPr marL="0" indent="0">
              <a:buNone/>
            </a:pPr>
            <a:r>
              <a:rPr lang="en-AU" sz="1950" dirty="0"/>
              <a:t>Sequence of events…</a:t>
            </a:r>
          </a:p>
          <a:p>
            <a:pPr>
              <a:buBlip>
                <a:blip r:embed="rId3">
                  <a:extLst/>
                </a:blip>
              </a:buBlip>
            </a:pPr>
            <a:r>
              <a:rPr lang="en-AU" sz="1950" dirty="0"/>
              <a:t>Public opinion turned negative against Germany with U-boat attacks in the Atlantic – sinking of British North Atlantic passenger liner ‘Lusitania’ May 1915 with 128 American on board.</a:t>
            </a:r>
          </a:p>
          <a:p>
            <a:pPr>
              <a:buBlip>
                <a:blip r:embed="rId3">
                  <a:extLst/>
                </a:blip>
              </a:buBlip>
            </a:pPr>
            <a:r>
              <a:rPr lang="en-AU" sz="1950" dirty="0"/>
              <a:t>Wilson personally supported Britain – democratic ties, cultural history.</a:t>
            </a:r>
          </a:p>
          <a:p>
            <a:pPr>
              <a:buBlip>
                <a:blip r:embed="rId3">
                  <a:extLst/>
                </a:blip>
              </a:buBlip>
            </a:pPr>
            <a:r>
              <a:rPr lang="en-AU" sz="1950" dirty="0"/>
              <a:t>German U-boats began attacking American ships transporting supplies to allies.</a:t>
            </a:r>
          </a:p>
          <a:p>
            <a:pPr>
              <a:buBlip>
                <a:blip r:embed="rId3">
                  <a:extLst/>
                </a:blip>
              </a:buBlip>
            </a:pPr>
            <a:r>
              <a:rPr lang="en-AU" sz="1950" dirty="0"/>
              <a:t>Zimmermann Telegram from German Foreign Minister to Mexico proposing that Mexico support Germany against USA.</a:t>
            </a:r>
          </a:p>
          <a:p>
            <a:pPr>
              <a:buBlip>
                <a:blip r:embed="rId3">
                  <a:extLst/>
                </a:blip>
              </a:buBlip>
            </a:pPr>
            <a:r>
              <a:rPr lang="en-AU" sz="1950" dirty="0"/>
              <a:t>America enters WW1 April 6</a:t>
            </a:r>
            <a:r>
              <a:rPr lang="en-AU" sz="1950" baseline="30000" dirty="0"/>
              <a:t>th</a:t>
            </a:r>
            <a:r>
              <a:rPr lang="en-AU" sz="1950" dirty="0"/>
              <a:t> 1917.</a:t>
            </a:r>
          </a:p>
        </p:txBody>
      </p:sp>
    </p:spTree>
    <p:extLst>
      <p:ext uri="{BB962C8B-B14F-4D97-AF65-F5344CB8AC3E}">
        <p14:creationId xmlns:p14="http://schemas.microsoft.com/office/powerpoint/2010/main" val="28379285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6" name="Picture 2" descr="Image result for us ww1">
            <a:extLst>
              <a:ext uri="{FF2B5EF4-FFF2-40B4-BE49-F238E27FC236}">
                <a16:creationId xmlns:a16="http://schemas.microsoft.com/office/drawing/2014/main" id="{FFC91441-4AD4-4E4E-9547-969BDDB11F06}"/>
              </a:ext>
            </a:extLst>
          </p:cNvP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l="19819" r="25869" b="-1"/>
          <a:stretch/>
        </p:blipFill>
        <p:spPr bwMode="auto">
          <a:xfrm>
            <a:off x="5797543" y="10"/>
            <a:ext cx="6394152" cy="6857990"/>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a:extLst>
              <a:ext uri="{FF2B5EF4-FFF2-40B4-BE49-F238E27FC236}">
                <a16:creationId xmlns:a16="http://schemas.microsoft.com/office/drawing/2014/main" id="{54DDEBDD-D8BD-41A6-8A0D-B00E3768B0F9}"/>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sp>
        <p:nvSpPr>
          <p:cNvPr id="2" name="Title 1"/>
          <p:cNvSpPr>
            <a:spLocks noGrp="1"/>
          </p:cNvSpPr>
          <p:nvPr>
            <p:ph type="title"/>
          </p:nvPr>
        </p:nvSpPr>
        <p:spPr>
          <a:xfrm>
            <a:off x="804998" y="798445"/>
            <a:ext cx="4803636" cy="1311664"/>
          </a:xfrm>
        </p:spPr>
        <p:txBody>
          <a:bodyPr>
            <a:normAutofit/>
          </a:bodyPr>
          <a:lstStyle/>
          <a:p>
            <a:r>
              <a:rPr lang="en-AU" dirty="0">
                <a:solidFill>
                  <a:srgbClr val="000000"/>
                </a:solidFill>
              </a:rPr>
              <a:t>Course of War</a:t>
            </a:r>
          </a:p>
        </p:txBody>
      </p:sp>
      <p:sp>
        <p:nvSpPr>
          <p:cNvPr id="3" name="Content Placeholder 2"/>
          <p:cNvSpPr>
            <a:spLocks noGrp="1"/>
          </p:cNvSpPr>
          <p:nvPr>
            <p:ph idx="1"/>
          </p:nvPr>
        </p:nvSpPr>
        <p:spPr>
          <a:xfrm>
            <a:off x="804997" y="2272143"/>
            <a:ext cx="4706803" cy="4246644"/>
          </a:xfrm>
        </p:spPr>
        <p:txBody>
          <a:bodyPr anchor="ctr">
            <a:normAutofit/>
          </a:bodyPr>
          <a:lstStyle/>
          <a:p>
            <a:pPr marL="0" indent="0">
              <a:buNone/>
            </a:pPr>
            <a:r>
              <a:rPr lang="en-AU" sz="1200" dirty="0">
                <a:solidFill>
                  <a:srgbClr val="000000"/>
                </a:solidFill>
              </a:rPr>
              <a:t>Part 1 </a:t>
            </a:r>
            <a:r>
              <a:rPr lang="en-AU" sz="1200" dirty="0">
                <a:solidFill>
                  <a:srgbClr val="000000"/>
                </a:solidFill>
                <a:hlinkClick r:id="rId4"/>
              </a:rPr>
              <a:t>https://www.youtube.com/watch?v=_uk_6vfqwTA</a:t>
            </a:r>
            <a:r>
              <a:rPr lang="en-AU" sz="1200" dirty="0">
                <a:solidFill>
                  <a:srgbClr val="000000"/>
                </a:solidFill>
              </a:rPr>
              <a:t> </a:t>
            </a:r>
          </a:p>
          <a:p>
            <a:pPr marL="0" indent="0">
              <a:buNone/>
            </a:pPr>
            <a:r>
              <a:rPr lang="en-AU" sz="1200" dirty="0">
                <a:solidFill>
                  <a:srgbClr val="000000"/>
                </a:solidFill>
              </a:rPr>
              <a:t>Part 2 </a:t>
            </a:r>
            <a:r>
              <a:rPr lang="en-AU" sz="1200" dirty="0">
                <a:solidFill>
                  <a:srgbClr val="000000"/>
                </a:solidFill>
                <a:hlinkClick r:id="rId5"/>
              </a:rPr>
              <a:t>https://www.youtube.com/watch?v=Mun1dKkc_As</a:t>
            </a:r>
            <a:r>
              <a:rPr lang="en-AU" sz="1200" dirty="0">
                <a:solidFill>
                  <a:srgbClr val="000000"/>
                </a:solidFill>
              </a:rPr>
              <a:t> </a:t>
            </a:r>
          </a:p>
          <a:p>
            <a:pPr marL="0" indent="0">
              <a:buNone/>
            </a:pPr>
            <a:endParaRPr lang="en-AU" sz="1700" dirty="0">
              <a:solidFill>
                <a:srgbClr val="000000"/>
              </a:solidFill>
            </a:endParaRPr>
          </a:p>
          <a:p>
            <a:r>
              <a:rPr lang="en-AU" sz="2200" dirty="0">
                <a:solidFill>
                  <a:srgbClr val="000000"/>
                </a:solidFill>
              </a:rPr>
              <a:t>The US troops arrived just in time to turn the tide of the war in favour of the Allies. </a:t>
            </a:r>
          </a:p>
          <a:p>
            <a:r>
              <a:rPr lang="en-AU" sz="2200" dirty="0">
                <a:solidFill>
                  <a:srgbClr val="000000"/>
                </a:solidFill>
              </a:rPr>
              <a:t>Both sides were exhausted and running out of soldiers. </a:t>
            </a:r>
          </a:p>
          <a:p>
            <a:r>
              <a:rPr lang="en-AU" sz="2200" dirty="0">
                <a:solidFill>
                  <a:srgbClr val="000000"/>
                </a:solidFill>
              </a:rPr>
              <a:t>The influx of fresh troops helped to boost the morale of the Allies and played a major role in the defeat of the Germans. </a:t>
            </a:r>
          </a:p>
        </p:txBody>
      </p:sp>
    </p:spTree>
    <p:extLst>
      <p:ext uri="{BB962C8B-B14F-4D97-AF65-F5344CB8AC3E}">
        <p14:creationId xmlns:p14="http://schemas.microsoft.com/office/powerpoint/2010/main" val="196657708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Image result for woodrow wilson ww1">
            <a:extLst>
              <a:ext uri="{FF2B5EF4-FFF2-40B4-BE49-F238E27FC236}">
                <a16:creationId xmlns:a16="http://schemas.microsoft.com/office/drawing/2014/main" id="{926CFA18-D5C8-4910-B299-B619C3971E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933" r="9091" b="15440"/>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71" name="Rectangle 70">
            <a:extLst>
              <a:ext uri="{FF2B5EF4-FFF2-40B4-BE49-F238E27FC236}">
                <a16:creationId xmlns:a16="http://schemas.microsoft.com/office/drawing/2014/main" id="{257363FD-7E77-4145-9483-331A807ADF0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365125"/>
            <a:ext cx="10515600" cy="1325563"/>
          </a:xfrm>
        </p:spPr>
        <p:txBody>
          <a:bodyPr>
            <a:normAutofit/>
          </a:bodyPr>
          <a:lstStyle/>
          <a:p>
            <a:r>
              <a:rPr lang="en-AU" dirty="0"/>
              <a:t>After War: The Fourteen Points</a:t>
            </a:r>
          </a:p>
        </p:txBody>
      </p:sp>
      <p:sp>
        <p:nvSpPr>
          <p:cNvPr id="3" name="Content Placeholder 2"/>
          <p:cNvSpPr>
            <a:spLocks noGrp="1"/>
          </p:cNvSpPr>
          <p:nvPr>
            <p:ph idx="1"/>
          </p:nvPr>
        </p:nvSpPr>
        <p:spPr>
          <a:xfrm>
            <a:off x="634181" y="1415845"/>
            <a:ext cx="11002295" cy="5077030"/>
          </a:xfrm>
        </p:spPr>
        <p:txBody>
          <a:bodyPr numCol="2">
            <a:noAutofit/>
          </a:bodyPr>
          <a:lstStyle/>
          <a:p>
            <a:endParaRPr lang="en-AU" sz="2000" dirty="0"/>
          </a:p>
          <a:p>
            <a:r>
              <a:rPr lang="en-AU" sz="2000" dirty="0"/>
              <a:t>After Germany was defeated, President Wilson pushed for his </a:t>
            </a:r>
            <a:r>
              <a:rPr lang="en-AU" sz="2000" b="1" dirty="0"/>
              <a:t>Fourteen Points </a:t>
            </a:r>
            <a:r>
              <a:rPr lang="en-AU" sz="2000" dirty="0"/>
              <a:t>to be followed by the rest of Europe and the Allies. </a:t>
            </a:r>
          </a:p>
          <a:p>
            <a:r>
              <a:rPr lang="en-AU" sz="2000" dirty="0"/>
              <a:t>Wilson wanted all of Europe to be able to recover quickly from the war, including Germany. </a:t>
            </a:r>
          </a:p>
          <a:p>
            <a:r>
              <a:rPr lang="en-AU" sz="2000" dirty="0"/>
              <a:t>France and Britain disagreed and placed harsh reparations on Germany in the Treaty of Versailles.</a:t>
            </a:r>
          </a:p>
          <a:p>
            <a:r>
              <a:rPr lang="en-AU" sz="2000" dirty="0"/>
              <a:t>Proposals issued on 8</a:t>
            </a:r>
            <a:r>
              <a:rPr lang="en-AU" sz="2000" baseline="30000" dirty="0"/>
              <a:t>th</a:t>
            </a:r>
            <a:r>
              <a:rPr lang="en-AU" sz="2000" dirty="0"/>
              <a:t> January 1918 in form of </a:t>
            </a:r>
          </a:p>
          <a:p>
            <a:endParaRPr lang="en-AU" sz="2000" b="1" dirty="0"/>
          </a:p>
          <a:p>
            <a:endParaRPr lang="en-AU" sz="2000" b="1" dirty="0"/>
          </a:p>
          <a:p>
            <a:endParaRPr lang="en-AU" sz="2000" b="1" dirty="0"/>
          </a:p>
          <a:p>
            <a:pPr marL="0" indent="0">
              <a:buNone/>
            </a:pPr>
            <a:endParaRPr lang="en-AU" sz="2000" b="1" dirty="0"/>
          </a:p>
          <a:p>
            <a:pPr marL="0" indent="0">
              <a:buNone/>
            </a:pPr>
            <a:endParaRPr lang="en-AU" sz="2000" b="1" dirty="0"/>
          </a:p>
          <a:p>
            <a:pPr marL="0" indent="0">
              <a:buNone/>
            </a:pPr>
            <a:r>
              <a:rPr lang="en-AU" sz="2000" b="1" dirty="0"/>
              <a:t>Fourteen Points.</a:t>
            </a:r>
            <a:endParaRPr lang="en-AU" sz="2000" dirty="0"/>
          </a:p>
          <a:p>
            <a:pPr marL="914400" lvl="1" indent="-457200">
              <a:buAutoNum type="arabicPeriod"/>
            </a:pPr>
            <a:r>
              <a:rPr lang="en-AU" sz="1400" dirty="0"/>
              <a:t>There should be no more secret treaties</a:t>
            </a:r>
          </a:p>
          <a:p>
            <a:pPr marL="914400" lvl="1" indent="-457200">
              <a:buAutoNum type="arabicPeriod"/>
            </a:pPr>
            <a:r>
              <a:rPr lang="en-AU" sz="1400" dirty="0"/>
              <a:t>Absolute freedom of the seas at all times</a:t>
            </a:r>
          </a:p>
          <a:p>
            <a:pPr marL="914400" lvl="1" indent="-457200">
              <a:buAutoNum type="arabicPeriod"/>
            </a:pPr>
            <a:r>
              <a:rPr lang="en-AU" sz="1400" dirty="0"/>
              <a:t>Free trade between nations</a:t>
            </a:r>
          </a:p>
          <a:p>
            <a:pPr marL="914400" lvl="1" indent="-457200">
              <a:buAutoNum type="arabicPeriod"/>
            </a:pPr>
            <a:r>
              <a:rPr lang="en-AU" sz="1400" dirty="0"/>
              <a:t>All armaments to be reduced</a:t>
            </a:r>
          </a:p>
          <a:p>
            <a:pPr marL="914400" lvl="1" indent="-457200">
              <a:buAutoNum type="arabicPeriod"/>
            </a:pPr>
            <a:r>
              <a:rPr lang="en-AU" sz="1400" dirty="0"/>
              <a:t>The rights and opinions of people living in colonies to be considered when settling colonial claims</a:t>
            </a:r>
          </a:p>
          <a:p>
            <a:pPr marL="914400" lvl="1" indent="-457200">
              <a:buAutoNum type="arabicPeriod"/>
            </a:pPr>
            <a:r>
              <a:rPr lang="en-AU" sz="1400" dirty="0"/>
              <a:t>The Germans must withdraw from Russian territory</a:t>
            </a:r>
          </a:p>
          <a:p>
            <a:pPr marL="914400" lvl="1" indent="-457200">
              <a:buAutoNum type="arabicPeriod"/>
            </a:pPr>
            <a:r>
              <a:rPr lang="en-AU" sz="1400" dirty="0"/>
              <a:t>Belgium must be free and independent</a:t>
            </a:r>
          </a:p>
          <a:p>
            <a:pPr marL="914400" lvl="1" indent="-457200">
              <a:buAutoNum type="arabicPeriod"/>
            </a:pPr>
            <a:r>
              <a:rPr lang="en-AU" sz="1400" dirty="0"/>
              <a:t>France will regain the territory of Alsace-Lorraine (lost 1871)</a:t>
            </a:r>
          </a:p>
          <a:p>
            <a:pPr marL="914400" lvl="1" indent="-457200">
              <a:buAutoNum type="arabicPeriod"/>
            </a:pPr>
            <a:r>
              <a:rPr lang="en-AU" sz="1400" dirty="0"/>
              <a:t>The border between Austria and Italy to be readjusted (Italy’s favour)</a:t>
            </a:r>
          </a:p>
          <a:p>
            <a:pPr marL="914400" lvl="1" indent="-457200">
              <a:buAutoNum type="arabicPeriod"/>
            </a:pPr>
            <a:r>
              <a:rPr lang="en-AU" sz="1400" dirty="0"/>
              <a:t>The peoples of eastern Europe must have self-determination in their own independent nations</a:t>
            </a:r>
          </a:p>
          <a:p>
            <a:pPr marL="914400" lvl="1" indent="-457200">
              <a:buAutoNum type="arabicPeriod"/>
            </a:pPr>
            <a:r>
              <a:rPr lang="en-AU" sz="1400" dirty="0"/>
              <a:t>Romania, Serbia and Montenegro must be liberated and their territory guaranteed by international agreement</a:t>
            </a:r>
          </a:p>
          <a:p>
            <a:pPr marL="914400" lvl="1" indent="-457200">
              <a:buAutoNum type="arabicPeriod"/>
            </a:pPr>
            <a:r>
              <a:rPr lang="en-AU" sz="1400" dirty="0"/>
              <a:t>The people in the Turkish Empire must decide upon their own future (Turkey had fought on the side of Germany and Austria-Hungary</a:t>
            </a:r>
            <a:r>
              <a:rPr lang="en-AU" sz="1400" dirty="0" smtClean="0"/>
              <a:t>)</a:t>
            </a:r>
          </a:p>
          <a:p>
            <a:pPr marL="914400" lvl="1" indent="-457200">
              <a:buAutoNum type="arabicPeriod"/>
            </a:pPr>
            <a:r>
              <a:rPr lang="en-AU" sz="1400" dirty="0"/>
              <a:t>An independent Polish state should be </a:t>
            </a:r>
            <a:r>
              <a:rPr lang="en-AU" sz="1400" dirty="0" smtClean="0"/>
              <a:t>created.</a:t>
            </a:r>
          </a:p>
          <a:p>
            <a:pPr marL="914400" lvl="1" indent="-457200">
              <a:buAutoNum type="arabicPeriod"/>
            </a:pPr>
            <a:r>
              <a:rPr lang="en-AU" sz="1400" dirty="0" smtClean="0"/>
              <a:t>An </a:t>
            </a:r>
            <a:r>
              <a:rPr lang="en-AU" sz="1400" dirty="0"/>
              <a:t>association of nations – the League of Nations – to be set up to settle all disputes between countries</a:t>
            </a:r>
          </a:p>
        </p:txBody>
      </p:sp>
    </p:spTree>
    <p:extLst>
      <p:ext uri="{BB962C8B-B14F-4D97-AF65-F5344CB8AC3E}">
        <p14:creationId xmlns:p14="http://schemas.microsoft.com/office/powerpoint/2010/main" val="27689309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65430" y="629268"/>
            <a:ext cx="6586491" cy="1286160"/>
          </a:xfrm>
        </p:spPr>
        <p:txBody>
          <a:bodyPr anchor="b">
            <a:normAutofit/>
          </a:bodyPr>
          <a:lstStyle/>
          <a:p>
            <a:r>
              <a:rPr lang="en-AU" dirty="0"/>
              <a:t>Return to isolationism</a:t>
            </a:r>
          </a:p>
        </p:txBody>
      </p:sp>
      <p:pic>
        <p:nvPicPr>
          <p:cNvPr id="7170" name="Picture 2" descr="Image result for warren harding">
            <a:extLst>
              <a:ext uri="{FF2B5EF4-FFF2-40B4-BE49-F238E27FC236}">
                <a16:creationId xmlns:a16="http://schemas.microsoft.com/office/drawing/2014/main" id="{99DCF324-0196-4316-BAC5-ED45168A4D3A}"/>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87" r="7249"/>
          <a:stretch/>
        </p:blipFill>
        <p:spPr bwMode="auto">
          <a:xfrm>
            <a:off x="20" y="10"/>
            <a:ext cx="4635571"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1" name="Straight Connector 70">
            <a:extLst>
              <a:ext uri="{FF2B5EF4-FFF2-40B4-BE49-F238E27FC236}">
                <a16:creationId xmlns:a16="http://schemas.microsoft.com/office/drawing/2014/main" id="{A7F400EE-A8A5-48AF-B4D6-291B52C6F0B0}"/>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965431" y="2438400"/>
            <a:ext cx="6877524" cy="4124628"/>
          </a:xfrm>
        </p:spPr>
        <p:txBody>
          <a:bodyPr>
            <a:normAutofit/>
          </a:bodyPr>
          <a:lstStyle/>
          <a:p>
            <a:r>
              <a:rPr lang="en-AU" sz="2400" dirty="0"/>
              <a:t>Isolationism: The political belief that a nation should stay out of the disputes and affairs of other nations. </a:t>
            </a:r>
          </a:p>
          <a:p>
            <a:pPr lvl="1"/>
            <a:r>
              <a:rPr lang="en-AU" dirty="0"/>
              <a:t>The United States practiced a policy of isolationism until entering WW1. </a:t>
            </a:r>
          </a:p>
          <a:p>
            <a:r>
              <a:rPr lang="en-AU" sz="2400" dirty="0"/>
              <a:t>Following end of WW1 Americans did not support Wilson’s Fourteen Points and wanted to stay out of international politics.</a:t>
            </a:r>
          </a:p>
          <a:p>
            <a:r>
              <a:rPr lang="en-AU" sz="2400" dirty="0"/>
              <a:t>League of Nations rejected by Congress.</a:t>
            </a:r>
          </a:p>
          <a:p>
            <a:r>
              <a:rPr lang="en-AU" sz="2400" dirty="0"/>
              <a:t>America returned to isolationist policies and ‘normalcy’ (Warren Harding).</a:t>
            </a:r>
          </a:p>
        </p:txBody>
      </p:sp>
    </p:spTree>
    <p:extLst>
      <p:ext uri="{BB962C8B-B14F-4D97-AF65-F5344CB8AC3E}">
        <p14:creationId xmlns:p14="http://schemas.microsoft.com/office/powerpoint/2010/main" val="12499716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5911E3A-C35B-4EF7-A355-B84E9A14AF4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 name="Group 9">
            <a:extLst>
              <a:ext uri="{FF2B5EF4-FFF2-40B4-BE49-F238E27FC236}">
                <a16:creationId xmlns:a16="http://schemas.microsoft.com/office/drawing/2014/main" id="{E21ADB3D-AD65-44B4-847D-5E90E90A5D1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CF580C70-814C-4845-B645-919BFFBD16B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34D7BF57-4CAA-45B2-9EF0-0AA1FCF70B1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7886F306-C03A-40C6-8FD5-DCE3D4595D6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2FDC9A36-C7C3-47D7-A64E-ED25C47EC704}"/>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BB19BC37-158A-43DC-9A9E-E45CC71954D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077654CC-108F-48D5-B5E9-437F164F52A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A3CF3A63-1C1E-4E85-A78A-FDC16431E3A0}"/>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8740FC9A-72DD-4D9B-BA25-1CCED135240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7FBF5743-F2AE-4D0D-BCD1-01F7686D012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CED32316-D4F7-4795-BBE0-DEBB60E27CE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583B23C9-B9B7-4E93-9538-CBE316F83FD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B144260-9F2C-4ADB-A37C-1CFB4B428B1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53FF918D-79D3-4F55-A68C-0DD5880DABD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B9FC1440-933F-44FE-8D77-4827DD0F99A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0F67F308-A67C-4D2E-B081-59BB31D8EC50}"/>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80112F01-90EB-4AEC-A39C-5C6875FFB99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893F6B05-90EB-4C75-A0F0-C7247553BD8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227B563B-E0C0-4D81-966D-B5E2DBAAE8B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130DF93D-D1FF-477A-BDCE-C8B01C3B476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44ED67A1-C6FE-4AC8-8473-11DAC03DCD3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213A54F3-15FA-4C8F-8ABF-CE77E721965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33" name="Group 32">
            <a:extLst>
              <a:ext uri="{FF2B5EF4-FFF2-40B4-BE49-F238E27FC236}">
                <a16:creationId xmlns:a16="http://schemas.microsoft.com/office/drawing/2014/main" id="{5F8A7F7F-DD1A-4F41-98AC-B9CE2A620CDC}"/>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4" name="Rectangle 33">
              <a:extLst>
                <a:ext uri="{FF2B5EF4-FFF2-40B4-BE49-F238E27FC236}">
                  <a16:creationId xmlns:a16="http://schemas.microsoft.com/office/drawing/2014/main" id="{CEF47228-EB7C-4EBA-BE01-DA6CB241028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5" name="Isosceles Triangle 22">
              <a:extLst>
                <a:ext uri="{FF2B5EF4-FFF2-40B4-BE49-F238E27FC236}">
                  <a16:creationId xmlns:a16="http://schemas.microsoft.com/office/drawing/2014/main" id="{3D2FD25A-EFFD-4F5C-9258-981F5907DE2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6" name="Rectangle 35">
              <a:extLst>
                <a:ext uri="{FF2B5EF4-FFF2-40B4-BE49-F238E27FC236}">
                  <a16:creationId xmlns:a16="http://schemas.microsoft.com/office/drawing/2014/main" id="{DCF573BC-A06F-4036-A3A8-9D07DDE6225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904877" y="2415322"/>
            <a:ext cx="3451730" cy="2399869"/>
          </a:xfrm>
        </p:spPr>
        <p:txBody>
          <a:bodyPr>
            <a:normAutofit/>
          </a:bodyPr>
          <a:lstStyle/>
          <a:p>
            <a:pPr algn="ctr"/>
            <a:r>
              <a:rPr lang="en-AU" sz="4000">
                <a:solidFill>
                  <a:srgbClr val="FFFFFF"/>
                </a:solidFill>
              </a:rPr>
              <a:t>The impact of World War I on American capitalism</a:t>
            </a:r>
          </a:p>
        </p:txBody>
      </p:sp>
      <p:sp>
        <p:nvSpPr>
          <p:cNvPr id="3" name="Content Placeholder 2"/>
          <p:cNvSpPr>
            <a:spLocks noGrp="1"/>
          </p:cNvSpPr>
          <p:nvPr>
            <p:ph idx="1"/>
          </p:nvPr>
        </p:nvSpPr>
        <p:spPr>
          <a:xfrm>
            <a:off x="4822827" y="266699"/>
            <a:ext cx="7029448" cy="6252087"/>
          </a:xfrm>
        </p:spPr>
        <p:txBody>
          <a:bodyPr anchor="ctr">
            <a:normAutofit/>
          </a:bodyPr>
          <a:lstStyle/>
          <a:p>
            <a:pPr marL="0" indent="0">
              <a:buNone/>
            </a:pPr>
            <a:r>
              <a:rPr lang="en-AU" sz="2100" b="1" dirty="0"/>
              <a:t>Social</a:t>
            </a:r>
          </a:p>
          <a:p>
            <a:r>
              <a:rPr lang="en-AU" sz="2100" dirty="0"/>
              <a:t>Conscription - Selective Services Act</a:t>
            </a:r>
          </a:p>
          <a:p>
            <a:r>
              <a:rPr lang="en-AU" sz="2100" dirty="0"/>
              <a:t>Women became prominent in paid workforce</a:t>
            </a:r>
          </a:p>
          <a:p>
            <a:pPr lvl="1"/>
            <a:r>
              <a:rPr lang="en-AU" sz="2100" dirty="0"/>
              <a:t>Suffragists believed their involvement in the war would guarantee them the right to vote</a:t>
            </a:r>
          </a:p>
          <a:p>
            <a:pPr lvl="1"/>
            <a:r>
              <a:rPr lang="en-AU" sz="2100" dirty="0"/>
              <a:t>Wilson supported women’s suffrage</a:t>
            </a:r>
          </a:p>
          <a:p>
            <a:pPr lvl="1"/>
            <a:r>
              <a:rPr lang="en-AU" sz="2100" dirty="0"/>
              <a:t>1920 Nineteenth Amendment gave women the right to vote</a:t>
            </a:r>
          </a:p>
          <a:p>
            <a:r>
              <a:rPr lang="en-AU" sz="2100" dirty="0"/>
              <a:t>Negroes, Mexican-Americans, Chinese-Americans migrated to industrial cities to obtain jobs vacated by WASP soldiers.</a:t>
            </a:r>
          </a:p>
          <a:p>
            <a:r>
              <a:rPr lang="en-AU" sz="2100" dirty="0"/>
              <a:t>Influenza epidemic disoriented Americans and killed estimated 675 000</a:t>
            </a:r>
          </a:p>
          <a:p>
            <a:r>
              <a:rPr lang="en-AU" sz="2100" dirty="0"/>
              <a:t>Civil liberties severely diminished;</a:t>
            </a:r>
          </a:p>
          <a:p>
            <a:pPr lvl="1"/>
            <a:r>
              <a:rPr lang="en-AU" sz="2100" dirty="0"/>
              <a:t>Committee of Public information censored news</a:t>
            </a:r>
          </a:p>
          <a:p>
            <a:pPr lvl="1"/>
            <a:r>
              <a:rPr lang="en-AU" sz="2100" dirty="0"/>
              <a:t>Anti-espionage laws passed</a:t>
            </a:r>
          </a:p>
          <a:p>
            <a:pPr lvl="1"/>
            <a:r>
              <a:rPr lang="en-AU" sz="2100" dirty="0"/>
              <a:t>‘Red Scare’ began, involving socialists, communists, labour organisers, anarchists, pacifists.</a:t>
            </a:r>
          </a:p>
        </p:txBody>
      </p:sp>
    </p:spTree>
    <p:extLst>
      <p:ext uri="{BB962C8B-B14F-4D97-AF65-F5344CB8AC3E}">
        <p14:creationId xmlns:p14="http://schemas.microsoft.com/office/powerpoint/2010/main" val="3390718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5911E3A-C35B-4EF7-A355-B84E9A14AF4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 name="Group 9">
            <a:extLst>
              <a:ext uri="{FF2B5EF4-FFF2-40B4-BE49-F238E27FC236}">
                <a16:creationId xmlns:a16="http://schemas.microsoft.com/office/drawing/2014/main" id="{E21ADB3D-AD65-44B4-847D-5E90E90A5D1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CF580C70-814C-4845-B645-919BFFBD16B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34D7BF57-4CAA-45B2-9EF0-0AA1FCF70B1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7886F306-C03A-40C6-8FD5-DCE3D4595D6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2FDC9A36-C7C3-47D7-A64E-ED25C47EC704}"/>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BB19BC37-158A-43DC-9A9E-E45CC71954D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077654CC-108F-48D5-B5E9-437F164F52A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A3CF3A63-1C1E-4E85-A78A-FDC16431E3A0}"/>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8740FC9A-72DD-4D9B-BA25-1CCED135240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7FBF5743-F2AE-4D0D-BCD1-01F7686D012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CED32316-D4F7-4795-BBE0-DEBB60E27CE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583B23C9-B9B7-4E93-9538-CBE316F83FD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B144260-9F2C-4ADB-A37C-1CFB4B428B1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53FF918D-79D3-4F55-A68C-0DD5880DABD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B9FC1440-933F-44FE-8D77-4827DD0F99A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0F67F308-A67C-4D2E-B081-59BB31D8EC50}"/>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80112F01-90EB-4AEC-A39C-5C6875FFB99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893F6B05-90EB-4C75-A0F0-C7247553BD8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227B563B-E0C0-4D81-966D-B5E2DBAAE8B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130DF93D-D1FF-477A-BDCE-C8B01C3B476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44ED67A1-C6FE-4AC8-8473-11DAC03DCD3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213A54F3-15FA-4C8F-8ABF-CE77E721965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33" name="Group 32">
            <a:extLst>
              <a:ext uri="{FF2B5EF4-FFF2-40B4-BE49-F238E27FC236}">
                <a16:creationId xmlns:a16="http://schemas.microsoft.com/office/drawing/2014/main" id="{5F8A7F7F-DD1A-4F41-98AC-B9CE2A620CDC}"/>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4" name="Rectangle 33">
              <a:extLst>
                <a:ext uri="{FF2B5EF4-FFF2-40B4-BE49-F238E27FC236}">
                  <a16:creationId xmlns:a16="http://schemas.microsoft.com/office/drawing/2014/main" id="{CEF47228-EB7C-4EBA-BE01-DA6CB241028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5" name="Isosceles Triangle 22">
              <a:extLst>
                <a:ext uri="{FF2B5EF4-FFF2-40B4-BE49-F238E27FC236}">
                  <a16:creationId xmlns:a16="http://schemas.microsoft.com/office/drawing/2014/main" id="{3D2FD25A-EFFD-4F5C-9258-981F5907DE2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6" name="Rectangle 35">
              <a:extLst>
                <a:ext uri="{FF2B5EF4-FFF2-40B4-BE49-F238E27FC236}">
                  <a16:creationId xmlns:a16="http://schemas.microsoft.com/office/drawing/2014/main" id="{DCF573BC-A06F-4036-A3A8-9D07DDE6225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904877" y="2415322"/>
            <a:ext cx="3451730" cy="2399869"/>
          </a:xfrm>
        </p:spPr>
        <p:txBody>
          <a:bodyPr>
            <a:normAutofit/>
          </a:bodyPr>
          <a:lstStyle/>
          <a:p>
            <a:pPr algn="ctr"/>
            <a:r>
              <a:rPr lang="en-AU" sz="4000">
                <a:solidFill>
                  <a:srgbClr val="FFFFFF"/>
                </a:solidFill>
              </a:rPr>
              <a:t>The impact of World War I on American capitalism</a:t>
            </a:r>
          </a:p>
        </p:txBody>
      </p:sp>
      <p:sp>
        <p:nvSpPr>
          <p:cNvPr id="3" name="Content Placeholder 2"/>
          <p:cNvSpPr>
            <a:spLocks noGrp="1"/>
          </p:cNvSpPr>
          <p:nvPr>
            <p:ph idx="1"/>
          </p:nvPr>
        </p:nvSpPr>
        <p:spPr>
          <a:xfrm>
            <a:off x="5120640" y="804672"/>
            <a:ext cx="6281928" cy="5248656"/>
          </a:xfrm>
        </p:spPr>
        <p:txBody>
          <a:bodyPr anchor="ctr">
            <a:normAutofit/>
          </a:bodyPr>
          <a:lstStyle/>
          <a:p>
            <a:pPr marL="0" indent="0">
              <a:buNone/>
            </a:pPr>
            <a:r>
              <a:rPr lang="en-AU" sz="2500" b="1" dirty="0"/>
              <a:t>Economic</a:t>
            </a:r>
          </a:p>
          <a:p>
            <a:r>
              <a:rPr lang="en-AU" sz="2500" dirty="0"/>
              <a:t>Increased government controls over economy through;</a:t>
            </a:r>
          </a:p>
          <a:p>
            <a:pPr lvl="1"/>
            <a:r>
              <a:rPr lang="en-AU" sz="2500" dirty="0"/>
              <a:t>War Industries Board, Railways Administration &amp; Food Administration </a:t>
            </a:r>
          </a:p>
          <a:p>
            <a:r>
              <a:rPr lang="en-AU" sz="2500" dirty="0"/>
              <a:t>Labour force regulated through;</a:t>
            </a:r>
          </a:p>
          <a:p>
            <a:pPr lvl="1"/>
            <a:r>
              <a:rPr lang="en-AU" sz="2500" dirty="0"/>
              <a:t>War Labour Board &amp; Labour Policies Board</a:t>
            </a:r>
          </a:p>
          <a:p>
            <a:pPr lvl="1"/>
            <a:r>
              <a:rPr lang="en-AU" sz="2500" dirty="0"/>
              <a:t>Increase in union membership</a:t>
            </a:r>
          </a:p>
          <a:p>
            <a:r>
              <a:rPr lang="en-AU" sz="2500" dirty="0"/>
              <a:t>The US experienced economic boom owing to wartime armaments, fuel and food production.</a:t>
            </a:r>
          </a:p>
        </p:txBody>
      </p:sp>
    </p:spTree>
    <p:extLst>
      <p:ext uri="{BB962C8B-B14F-4D97-AF65-F5344CB8AC3E}">
        <p14:creationId xmlns:p14="http://schemas.microsoft.com/office/powerpoint/2010/main" val="3059427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5911E3A-C35B-4EF7-A355-B84E9A14AF4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 name="Group 9">
            <a:extLst>
              <a:ext uri="{FF2B5EF4-FFF2-40B4-BE49-F238E27FC236}">
                <a16:creationId xmlns:a16="http://schemas.microsoft.com/office/drawing/2014/main" id="{E21ADB3D-AD65-44B4-847D-5E90E90A5D1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7513" y="0"/>
            <a:ext cx="12584114" cy="6853238"/>
            <a:chOff x="-417513" y="0"/>
            <a:chExt cx="12584114" cy="6853238"/>
          </a:xfrm>
        </p:grpSpPr>
        <p:sp>
          <p:nvSpPr>
            <p:cNvPr id="11" name="Freeform 5">
              <a:extLst>
                <a:ext uri="{FF2B5EF4-FFF2-40B4-BE49-F238E27FC236}">
                  <a16:creationId xmlns:a16="http://schemas.microsoft.com/office/drawing/2014/main" id="{CF580C70-814C-4845-B645-919BFFBD16B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2" name="Freeform 6">
              <a:extLst>
                <a:ext uri="{FF2B5EF4-FFF2-40B4-BE49-F238E27FC236}">
                  <a16:creationId xmlns:a16="http://schemas.microsoft.com/office/drawing/2014/main" id="{34D7BF57-4CAA-45B2-9EF0-0AA1FCF70B1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3" name="Freeform 7">
              <a:extLst>
                <a:ext uri="{FF2B5EF4-FFF2-40B4-BE49-F238E27FC236}">
                  <a16:creationId xmlns:a16="http://schemas.microsoft.com/office/drawing/2014/main" id="{7886F306-C03A-40C6-8FD5-DCE3D4595D6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4" name="Freeform 8">
              <a:extLst>
                <a:ext uri="{FF2B5EF4-FFF2-40B4-BE49-F238E27FC236}">
                  <a16:creationId xmlns:a16="http://schemas.microsoft.com/office/drawing/2014/main" id="{2FDC9A36-C7C3-47D7-A64E-ED25C47EC704}"/>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5" name="Freeform 9">
              <a:extLst>
                <a:ext uri="{FF2B5EF4-FFF2-40B4-BE49-F238E27FC236}">
                  <a16:creationId xmlns:a16="http://schemas.microsoft.com/office/drawing/2014/main" id="{BB19BC37-158A-43DC-9A9E-E45CC71954D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6" name="Freeform 10">
              <a:extLst>
                <a:ext uri="{FF2B5EF4-FFF2-40B4-BE49-F238E27FC236}">
                  <a16:creationId xmlns:a16="http://schemas.microsoft.com/office/drawing/2014/main" id="{077654CC-108F-48D5-B5E9-437F164F52A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7" name="Freeform 11">
              <a:extLst>
                <a:ext uri="{FF2B5EF4-FFF2-40B4-BE49-F238E27FC236}">
                  <a16:creationId xmlns:a16="http://schemas.microsoft.com/office/drawing/2014/main" id="{A3CF3A63-1C1E-4E85-A78A-FDC16431E3A0}"/>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8" name="Freeform 12">
              <a:extLst>
                <a:ext uri="{FF2B5EF4-FFF2-40B4-BE49-F238E27FC236}">
                  <a16:creationId xmlns:a16="http://schemas.microsoft.com/office/drawing/2014/main" id="{8740FC9A-72DD-4D9B-BA25-1CCED135240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9" name="Freeform 13">
              <a:extLst>
                <a:ext uri="{FF2B5EF4-FFF2-40B4-BE49-F238E27FC236}">
                  <a16:creationId xmlns:a16="http://schemas.microsoft.com/office/drawing/2014/main" id="{7FBF5743-F2AE-4D0D-BCD1-01F7686D012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0" name="Freeform 14">
              <a:extLst>
                <a:ext uri="{FF2B5EF4-FFF2-40B4-BE49-F238E27FC236}">
                  <a16:creationId xmlns:a16="http://schemas.microsoft.com/office/drawing/2014/main" id="{CED32316-D4F7-4795-BBE0-DEBB60E27CE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1" name="Freeform 15">
              <a:extLst>
                <a:ext uri="{FF2B5EF4-FFF2-40B4-BE49-F238E27FC236}">
                  <a16:creationId xmlns:a16="http://schemas.microsoft.com/office/drawing/2014/main" id="{583B23C9-B9B7-4E93-9538-CBE316F83FD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2" name="Freeform 16">
              <a:extLst>
                <a:ext uri="{FF2B5EF4-FFF2-40B4-BE49-F238E27FC236}">
                  <a16:creationId xmlns:a16="http://schemas.microsoft.com/office/drawing/2014/main" id="{5B144260-9F2C-4ADB-A37C-1CFB4B428B1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3" name="Freeform 17">
              <a:extLst>
                <a:ext uri="{FF2B5EF4-FFF2-40B4-BE49-F238E27FC236}">
                  <a16:creationId xmlns:a16="http://schemas.microsoft.com/office/drawing/2014/main" id="{53FF918D-79D3-4F55-A68C-0DD5880DABD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4" name="Freeform 18">
              <a:extLst>
                <a:ext uri="{FF2B5EF4-FFF2-40B4-BE49-F238E27FC236}">
                  <a16:creationId xmlns:a16="http://schemas.microsoft.com/office/drawing/2014/main" id="{B9FC1440-933F-44FE-8D77-4827DD0F99A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5" name="Freeform 19">
              <a:extLst>
                <a:ext uri="{FF2B5EF4-FFF2-40B4-BE49-F238E27FC236}">
                  <a16:creationId xmlns:a16="http://schemas.microsoft.com/office/drawing/2014/main" id="{0F67F308-A67C-4D2E-B081-59BB31D8EC50}"/>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20">
              <a:extLst>
                <a:ext uri="{FF2B5EF4-FFF2-40B4-BE49-F238E27FC236}">
                  <a16:creationId xmlns:a16="http://schemas.microsoft.com/office/drawing/2014/main" id="{80112F01-90EB-4AEC-A39C-5C6875FFB99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27" name="Freeform 21">
              <a:extLst>
                <a:ext uri="{FF2B5EF4-FFF2-40B4-BE49-F238E27FC236}">
                  <a16:creationId xmlns:a16="http://schemas.microsoft.com/office/drawing/2014/main" id="{893F6B05-90EB-4C75-A0F0-C7247553BD8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28" name="Freeform 22">
              <a:extLst>
                <a:ext uri="{FF2B5EF4-FFF2-40B4-BE49-F238E27FC236}">
                  <a16:creationId xmlns:a16="http://schemas.microsoft.com/office/drawing/2014/main" id="{227B563B-E0C0-4D81-966D-B5E2DBAAE8B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23">
              <a:extLst>
                <a:ext uri="{FF2B5EF4-FFF2-40B4-BE49-F238E27FC236}">
                  <a16:creationId xmlns:a16="http://schemas.microsoft.com/office/drawing/2014/main" id="{130DF93D-D1FF-477A-BDCE-C8B01C3B476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24">
              <a:extLst>
                <a:ext uri="{FF2B5EF4-FFF2-40B4-BE49-F238E27FC236}">
                  <a16:creationId xmlns:a16="http://schemas.microsoft.com/office/drawing/2014/main" id="{44ED67A1-C6FE-4AC8-8473-11DAC03DCD3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25">
              <a:extLst>
                <a:ext uri="{FF2B5EF4-FFF2-40B4-BE49-F238E27FC236}">
                  <a16:creationId xmlns:a16="http://schemas.microsoft.com/office/drawing/2014/main" id="{213A54F3-15FA-4C8F-8ABF-CE77E721965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33" name="Group 32">
            <a:extLst>
              <a:ext uri="{FF2B5EF4-FFF2-40B4-BE49-F238E27FC236}">
                <a16:creationId xmlns:a16="http://schemas.microsoft.com/office/drawing/2014/main" id="{5F8A7F7F-DD1A-4F41-98AC-B9CE2A620CDC}"/>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144" y="1699589"/>
            <a:ext cx="3674476" cy="3470421"/>
            <a:chOff x="697883" y="1816768"/>
            <a:chExt cx="3674476" cy="3470421"/>
          </a:xfrm>
        </p:grpSpPr>
        <p:sp>
          <p:nvSpPr>
            <p:cNvPr id="34" name="Rectangle 33">
              <a:extLst>
                <a:ext uri="{FF2B5EF4-FFF2-40B4-BE49-F238E27FC236}">
                  <a16:creationId xmlns:a16="http://schemas.microsoft.com/office/drawing/2014/main" id="{CEF47228-EB7C-4EBA-BE01-DA6CB241028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5" name="Isosceles Triangle 22">
              <a:extLst>
                <a:ext uri="{FF2B5EF4-FFF2-40B4-BE49-F238E27FC236}">
                  <a16:creationId xmlns:a16="http://schemas.microsoft.com/office/drawing/2014/main" id="{3D2FD25A-EFFD-4F5C-9258-981F5907DE2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6" name="Rectangle 35">
              <a:extLst>
                <a:ext uri="{FF2B5EF4-FFF2-40B4-BE49-F238E27FC236}">
                  <a16:creationId xmlns:a16="http://schemas.microsoft.com/office/drawing/2014/main" id="{DCF573BC-A06F-4036-A3A8-9D07DDE6225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904877" y="2415322"/>
            <a:ext cx="3451730" cy="2399869"/>
          </a:xfrm>
        </p:spPr>
        <p:txBody>
          <a:bodyPr>
            <a:normAutofit/>
          </a:bodyPr>
          <a:lstStyle/>
          <a:p>
            <a:pPr algn="ctr"/>
            <a:r>
              <a:rPr lang="en-AU" sz="4000">
                <a:solidFill>
                  <a:srgbClr val="FFFFFF"/>
                </a:solidFill>
              </a:rPr>
              <a:t>The impact of World War I on American capitalism</a:t>
            </a:r>
          </a:p>
        </p:txBody>
      </p:sp>
      <p:sp>
        <p:nvSpPr>
          <p:cNvPr id="3" name="Content Placeholder 2"/>
          <p:cNvSpPr>
            <a:spLocks noGrp="1"/>
          </p:cNvSpPr>
          <p:nvPr>
            <p:ph idx="1"/>
          </p:nvPr>
        </p:nvSpPr>
        <p:spPr>
          <a:xfrm>
            <a:off x="4743085" y="266700"/>
            <a:ext cx="7109189" cy="6311080"/>
          </a:xfrm>
        </p:spPr>
        <p:txBody>
          <a:bodyPr anchor="ctr">
            <a:normAutofit/>
          </a:bodyPr>
          <a:lstStyle/>
          <a:p>
            <a:pPr marL="0" indent="0">
              <a:buNone/>
            </a:pPr>
            <a:r>
              <a:rPr lang="en-AU" sz="2000" b="1" dirty="0"/>
              <a:t>Political</a:t>
            </a:r>
          </a:p>
          <a:p>
            <a:r>
              <a:rPr lang="en-AU" sz="2000" dirty="0"/>
              <a:t>President was able to exercise wide-ranging emergency powers in his role as commander-in-chief of the military – what is the </a:t>
            </a:r>
            <a:r>
              <a:rPr lang="en-AU" sz="2000" b="1" dirty="0"/>
              <a:t>legacy </a:t>
            </a:r>
            <a:r>
              <a:rPr lang="en-AU" sz="2000" dirty="0"/>
              <a:t>of this?</a:t>
            </a:r>
          </a:p>
          <a:p>
            <a:r>
              <a:rPr lang="en-AU" sz="2000" dirty="0"/>
              <a:t>Red Summer 1919 and 1920 – racial violence</a:t>
            </a:r>
          </a:p>
          <a:p>
            <a:r>
              <a:rPr lang="en-AU" sz="2000" dirty="0"/>
              <a:t>Red Scare 1919 – 36 000 strikes, influence of communism </a:t>
            </a:r>
          </a:p>
          <a:p>
            <a:pPr lvl="1"/>
            <a:r>
              <a:rPr lang="en-AU" sz="2000" dirty="0"/>
              <a:t>Palmer Raids November 1919 and January 1920</a:t>
            </a:r>
          </a:p>
          <a:p>
            <a:pPr lvl="1"/>
            <a:r>
              <a:rPr lang="en-AU" sz="2000" dirty="0"/>
              <a:t>Sacco and Vanzetti</a:t>
            </a:r>
          </a:p>
          <a:p>
            <a:r>
              <a:rPr lang="en-AU" sz="2000" dirty="0"/>
              <a:t>Many Americans considered the Democratic Party too ‘socialist’. As Wilson and his Party had led the US into WW1 without the support of the majority of Americans, the Fourteen Points was not popular.</a:t>
            </a:r>
          </a:p>
          <a:p>
            <a:r>
              <a:rPr lang="en-AU" sz="2000" dirty="0"/>
              <a:t>In international terms, the USA became the largest economy in the world during WW1. This, and the fact that the US was on the winning side gave her international prestige.</a:t>
            </a:r>
          </a:p>
          <a:p>
            <a:r>
              <a:rPr lang="en-AU" sz="2000" dirty="0"/>
              <a:t>Immigration Restriction Act</a:t>
            </a:r>
          </a:p>
          <a:p>
            <a:pPr lvl="1"/>
            <a:r>
              <a:rPr lang="en-AU" sz="2000" dirty="0"/>
              <a:t>Immigration quotas introduced 1921</a:t>
            </a:r>
          </a:p>
          <a:p>
            <a:pPr lvl="1"/>
            <a:r>
              <a:rPr lang="en-AU" sz="2000" dirty="0"/>
              <a:t>Immigration Act 1924 reduced number of immigrants</a:t>
            </a:r>
          </a:p>
        </p:txBody>
      </p:sp>
    </p:spTree>
    <p:extLst>
      <p:ext uri="{BB962C8B-B14F-4D97-AF65-F5344CB8AC3E}">
        <p14:creationId xmlns:p14="http://schemas.microsoft.com/office/powerpoint/2010/main" val="2397266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4038CB10-1F5C-4D54-9DF7-12586DE5B00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24256" y="4767072"/>
            <a:ext cx="6594189" cy="1625210"/>
          </a:xfrm>
        </p:spPr>
        <p:txBody>
          <a:bodyPr>
            <a:normAutofit/>
          </a:bodyPr>
          <a:lstStyle/>
          <a:p>
            <a:pPr algn="r"/>
            <a:r>
              <a:rPr lang="en-AU">
                <a:solidFill>
                  <a:srgbClr val="FFFFFF"/>
                </a:solidFill>
              </a:rPr>
              <a:t>The impact of World War I on American capitalism</a:t>
            </a:r>
          </a:p>
        </p:txBody>
      </p:sp>
      <p:pic>
        <p:nvPicPr>
          <p:cNvPr id="9218" name="Picture 2" descr="Image result for us 1919">
            <a:extLst>
              <a:ext uri="{FF2B5EF4-FFF2-40B4-BE49-F238E27FC236}">
                <a16:creationId xmlns:a16="http://schemas.microsoft.com/office/drawing/2014/main" id="{BB83B835-64E5-4C6A-A856-BF169DFCEA1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 b="842"/>
          <a:stretch/>
        </p:blipFill>
        <p:spPr bwMode="auto">
          <a:xfrm>
            <a:off x="327547" y="321733"/>
            <a:ext cx="7058306" cy="4107392"/>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73ED6512-6858-4552-B699-9A97FE9A4EA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8029319" y="917725"/>
            <a:ext cx="3424739" cy="4852362"/>
          </a:xfrm>
        </p:spPr>
        <p:txBody>
          <a:bodyPr anchor="ctr">
            <a:normAutofit/>
          </a:bodyPr>
          <a:lstStyle/>
          <a:p>
            <a:pPr marL="0" indent="0">
              <a:buNone/>
            </a:pPr>
            <a:r>
              <a:rPr lang="en-AU" sz="3000" dirty="0">
                <a:solidFill>
                  <a:srgbClr val="FFFFFF"/>
                </a:solidFill>
              </a:rPr>
              <a:t>On the whole, Americans experienced increased regulation of their lives and the economy in which they worked.</a:t>
            </a:r>
          </a:p>
        </p:txBody>
      </p:sp>
    </p:spTree>
    <p:extLst>
      <p:ext uri="{BB962C8B-B14F-4D97-AF65-F5344CB8AC3E}">
        <p14:creationId xmlns:p14="http://schemas.microsoft.com/office/powerpoint/2010/main" val="1659010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351DFE5-F63D-4BE0-BDA9-E3EB88F01AA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AA16612-ACD2-4A16-8F2B-4514FD6BF28F}"/>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179226" y="826680"/>
            <a:ext cx="9833548" cy="1325563"/>
          </a:xfrm>
        </p:spPr>
        <p:txBody>
          <a:bodyPr>
            <a:normAutofit/>
          </a:bodyPr>
          <a:lstStyle/>
          <a:p>
            <a:pPr algn="ctr"/>
            <a:r>
              <a:rPr lang="en-AU" sz="2500" b="1" dirty="0">
                <a:solidFill>
                  <a:srgbClr val="FFFFFF"/>
                </a:solidFill>
              </a:rPr>
              <a:t>Key questions</a:t>
            </a:r>
            <a:br>
              <a:rPr lang="en-AU" sz="2500" b="1" dirty="0">
                <a:solidFill>
                  <a:srgbClr val="FFFFFF"/>
                </a:solidFill>
              </a:rPr>
            </a:br>
            <a:r>
              <a:rPr lang="en-AU" sz="2500" b="1" dirty="0">
                <a:solidFill>
                  <a:srgbClr val="FFFFFF"/>
                </a:solidFill>
              </a:rPr>
              <a:t/>
            </a:r>
            <a:br>
              <a:rPr lang="en-AU" sz="2500" b="1" dirty="0">
                <a:solidFill>
                  <a:srgbClr val="FFFFFF"/>
                </a:solidFill>
              </a:rPr>
            </a:br>
            <a:r>
              <a:rPr lang="en-AU" sz="2500" b="1" dirty="0">
                <a:solidFill>
                  <a:srgbClr val="FFFFFF"/>
                </a:solidFill>
              </a:rPr>
              <a:t>Write a paragraph response to each of these questions practicing TEXR.</a:t>
            </a:r>
          </a:p>
        </p:txBody>
      </p:sp>
      <p:sp>
        <p:nvSpPr>
          <p:cNvPr id="3" name="Content Placeholder 2"/>
          <p:cNvSpPr>
            <a:spLocks noGrp="1"/>
          </p:cNvSpPr>
          <p:nvPr>
            <p:ph idx="1"/>
          </p:nvPr>
        </p:nvSpPr>
        <p:spPr>
          <a:xfrm>
            <a:off x="1179226" y="3092970"/>
            <a:ext cx="9833548" cy="3234088"/>
          </a:xfrm>
        </p:spPr>
        <p:txBody>
          <a:bodyPr>
            <a:noAutofit/>
          </a:bodyPr>
          <a:lstStyle/>
          <a:p>
            <a:pPr marL="514350" indent="-514350">
              <a:buFont typeface="+mj-lt"/>
              <a:buAutoNum type="arabicPeriod"/>
            </a:pPr>
            <a:r>
              <a:rPr lang="en-AU" sz="3000" dirty="0">
                <a:solidFill>
                  <a:srgbClr val="000000"/>
                </a:solidFill>
              </a:rPr>
              <a:t>Why did the USA remain neutral when war broke out in Europe 1914?</a:t>
            </a:r>
          </a:p>
          <a:p>
            <a:pPr marL="514350" indent="-514350">
              <a:buFont typeface="+mj-lt"/>
              <a:buAutoNum type="arabicPeriod"/>
            </a:pPr>
            <a:r>
              <a:rPr lang="en-AU" sz="3000" dirty="0">
                <a:solidFill>
                  <a:srgbClr val="000000"/>
                </a:solidFill>
              </a:rPr>
              <a:t>What was Wilson’s vision for world peace after the First World War?</a:t>
            </a:r>
          </a:p>
          <a:p>
            <a:pPr marL="514350" indent="-514350">
              <a:buFont typeface="+mj-lt"/>
              <a:buAutoNum type="arabicPeriod"/>
            </a:pPr>
            <a:r>
              <a:rPr lang="en-AU" sz="3000" dirty="0">
                <a:solidFill>
                  <a:srgbClr val="000000"/>
                </a:solidFill>
              </a:rPr>
              <a:t>What impact did the war have on industrialisation? What did this lead to in future years?</a:t>
            </a:r>
          </a:p>
        </p:txBody>
      </p:sp>
    </p:spTree>
    <p:extLst>
      <p:ext uri="{BB962C8B-B14F-4D97-AF65-F5344CB8AC3E}">
        <p14:creationId xmlns:p14="http://schemas.microsoft.com/office/powerpoint/2010/main" val="204338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981</Words>
  <Application>Microsoft Office PowerPoint</Application>
  <PresentationFormat>Widescreen</PresentationFormat>
  <Paragraphs>95</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Woodrow Wilson and America’s involvement in World War I  The Fourteen Points and the return to isolationism  The impact of World War I on American capitalism  (Industrialisation, Capitalism, Constitutional amendments: women voting, Immigration restriction)  </vt:lpstr>
      <vt:lpstr>Woodrow Wilson</vt:lpstr>
      <vt:lpstr>Woodrow Wilson and the First World War Why did America declare neutrality initially?</vt:lpstr>
      <vt:lpstr>How did America become involved in WW1?</vt:lpstr>
      <vt:lpstr>Course of War</vt:lpstr>
      <vt:lpstr>After War: The Fourteen Points</vt:lpstr>
      <vt:lpstr>Return to isolationism</vt:lpstr>
      <vt:lpstr>The impact of World War I on American capitalism</vt:lpstr>
      <vt:lpstr>The impact of World War I on American capitalism</vt:lpstr>
      <vt:lpstr>The impact of World War I on American capitalism</vt:lpstr>
      <vt:lpstr>The impact of World War I on American capitalism</vt:lpstr>
      <vt:lpstr>Key questions  Write a paragraph response to each of these questions practicing TEXR.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Woodrow Wilson and America’s involvement in World War I  The Fourteen Points and the return to isolationism  The impact of World War I on American capitalism  (Industrialisation, Capitalism, Constitutional amendments: women voting, Immigration restriction)  </dc:title>
  <dc:creator>Natasha Hawkes</dc:creator>
  <cp:lastModifiedBy>HAWKES Natasha [Narrogin Senior High School]</cp:lastModifiedBy>
  <cp:revision>3</cp:revision>
  <cp:lastPrinted>2019-03-07T02:58:00Z</cp:lastPrinted>
  <dcterms:created xsi:type="dcterms:W3CDTF">2019-03-01T08:40:07Z</dcterms:created>
  <dcterms:modified xsi:type="dcterms:W3CDTF">2019-03-07T03:03:52Z</dcterms:modified>
</cp:coreProperties>
</file>
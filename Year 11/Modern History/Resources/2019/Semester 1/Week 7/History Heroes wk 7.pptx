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1762A-680F-4990-82C5-B9EA40E70C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33CE82-0753-459D-BBA9-2ADAAD14EE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AB8357-F20C-4545-92B0-BA8F2FA40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0F4B9-4F42-44A5-9E73-4B3C31A3E865}" type="datetimeFigureOut">
              <a:rPr lang="en-AU" smtClean="0"/>
              <a:t>17/03/2019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725F2-9AF5-4EAE-9418-EA3E46A5D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DDFA02-EEC6-45BA-AE47-FE0C8C5E8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FFC26-3AB3-4940-83B8-EB0E999147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5929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2BB33-CF07-4A8D-BA5F-2C3E08FF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52554-A629-43CF-B6C0-4E3644994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90B70-90B2-4DAB-BCFF-5EBC6B756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0F4B9-4F42-44A5-9E73-4B3C31A3E865}" type="datetimeFigureOut">
              <a:rPr lang="en-AU" smtClean="0"/>
              <a:t>17/03/2019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5757E-9031-4641-9E45-4B0564133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614B83-5C77-42F9-AC25-B5DE96C55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FFC26-3AB3-4940-83B8-EB0E999147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690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CBD70-C9BF-4BA8-9151-0F9DC63EF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2FAE71-1084-48C6-A908-A78601806F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DE5E8-F5EA-4176-8A0A-928BE22D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0F4B9-4F42-44A5-9E73-4B3C31A3E865}" type="datetimeFigureOut">
              <a:rPr lang="en-AU" smtClean="0"/>
              <a:t>17/03/2019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638EF4-E8EA-41CF-9625-6BC7FCCE1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871E19-3EB7-4C92-84E8-0D5DE9586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FFC26-3AB3-4940-83B8-EB0E999147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2005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16C81-ABE5-49B6-9E10-E55D1D32F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C522C-A40A-4D5A-9D68-9E70BCF481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64E7B-59DC-456D-9738-DA2ECF8BB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4C7B14-5837-4F7A-A5EB-E79C17481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0F4B9-4F42-44A5-9E73-4B3C31A3E865}" type="datetimeFigureOut">
              <a:rPr lang="en-AU" smtClean="0"/>
              <a:t>17/03/2019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C13100-39D8-460A-8FD0-27ED491DB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27FBE7-BB93-4CBA-9175-E45E623FA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FFC26-3AB3-4940-83B8-EB0E999147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0879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5EDE7-ADB0-44D1-9558-0E20AAC24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B4B378-4AA9-42FC-8D7E-CA2709A06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8C4C7D-E123-43AA-AB7A-DABD0EF06C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DF2545-A4DF-442D-A943-AB236CCE64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09D70E-F164-4999-AE08-CA2F56EF47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806B97-87D3-40FF-893F-2ABD0C685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0F4B9-4F42-44A5-9E73-4B3C31A3E865}" type="datetimeFigureOut">
              <a:rPr lang="en-AU" smtClean="0"/>
              <a:t>17/03/2019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FB332A-2178-4A75-925A-7CC0B2261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85DF0C-6B4D-424D-8E0B-161EB52C0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FFC26-3AB3-4940-83B8-EB0E999147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5362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B71AF-0FD9-4EA2-8DE1-D31EEE3EA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505535-FF0F-4B78-A88F-F45A9ABA1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0F4B9-4F42-44A5-9E73-4B3C31A3E865}" type="datetimeFigureOut">
              <a:rPr lang="en-AU" smtClean="0"/>
              <a:t>17/03/2019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39B7D2-67A9-44D9-B38B-AFA2B7FBD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64E96B-CF14-449E-923E-FAC3708DB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FFC26-3AB3-4940-83B8-EB0E999147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1616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225568-3DC5-432F-9DF8-56388BABD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0F4B9-4F42-44A5-9E73-4B3C31A3E865}" type="datetimeFigureOut">
              <a:rPr lang="en-AU" smtClean="0"/>
              <a:t>17/03/2019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C2E36E-B85D-4DE9-8929-B9E3E50D6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D3B251-F89E-4183-A5A5-F2881FD2C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FFC26-3AB3-4940-83B8-EB0E999147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3401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AE4CF-B29E-4243-ABA8-38723CCDC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BB6E0-635B-4366-85FE-E394BDC57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A657A4-F9FA-460A-9C44-2048BAC7BD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132B4F-788C-4C03-A4BD-ACC41A360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0F4B9-4F42-44A5-9E73-4B3C31A3E865}" type="datetimeFigureOut">
              <a:rPr lang="en-AU" smtClean="0"/>
              <a:t>17/03/2019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DDA013-BFCD-4D49-AB29-BD9B7DE6F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37CC48-8B28-410A-A81B-34EE800B9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FFC26-3AB3-4940-83B8-EB0E999147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392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83BCA-2228-45FB-AE28-F1D503C41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B5930B-1543-4414-91CC-09067BA8F4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F9AEAE-9634-4CDA-A3BC-CA65E2774F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2676BF-2687-4269-B630-2C1ADEBCE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0F4B9-4F42-44A5-9E73-4B3C31A3E865}" type="datetimeFigureOut">
              <a:rPr lang="en-AU" smtClean="0"/>
              <a:t>17/03/2019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DA6AB4-F8E0-450B-A446-2FFC8424E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A76A79-D4CF-4F12-AEB2-A43385E75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FFC26-3AB3-4940-83B8-EB0E999147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4501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19E82-B47B-4FFB-8B9A-46BEDFC99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410DE6-A41D-468F-BC94-BE2ACB849D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564E5-F02F-42AB-A187-E5CA89FA1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0F4B9-4F42-44A5-9E73-4B3C31A3E865}" type="datetimeFigureOut">
              <a:rPr lang="en-AU" smtClean="0"/>
              <a:t>17/03/2019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3B6E1-DF12-4EB0-8B68-4660F32D0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73CEF-E3A3-4BD4-9E25-011BD46EC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FFC26-3AB3-4940-83B8-EB0E999147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5604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93644D-9603-4B2E-8774-430C509823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B49673-A3C9-41B6-A4B5-D17A599ECF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45858-03B1-458C-BCA7-8C548E892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0F4B9-4F42-44A5-9E73-4B3C31A3E865}" type="datetimeFigureOut">
              <a:rPr lang="en-AU" smtClean="0"/>
              <a:t>17/03/2019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48ACB-5609-4CA7-B068-E5898860E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7E20C-C6C2-485D-B7E3-218E42B14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FFC26-3AB3-4940-83B8-EB0E999147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3419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C445AC-F150-41D0-88DF-331B8FE11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A6FD49-6DF9-4A00-887B-6803215F6E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E871A9-7854-491B-A268-495D593DE4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60F4B9-4F42-44A5-9E73-4B3C31A3E865}" type="datetimeFigureOut">
              <a:rPr lang="en-AU" smtClean="0"/>
              <a:t>17/03/2019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B3B6F-7506-4454-840F-D72939ACDC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E7740A-9308-48FA-A00F-D624C3B9C2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3FFC26-3AB3-4940-83B8-EB0E999147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8550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Image result for american 1920s">
            <a:extLst>
              <a:ext uri="{FF2B5EF4-FFF2-40B4-BE49-F238E27FC236}">
                <a16:creationId xmlns:a16="http://schemas.microsoft.com/office/drawing/2014/main" id="{D702783F-EFF6-49F2-ACF5-C9533FF1BA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57" b="17643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78C3973-36AD-4962-9F06-987FFAD98A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00" y="965200"/>
            <a:ext cx="10261600" cy="3564869"/>
          </a:xfrm>
        </p:spPr>
        <p:txBody>
          <a:bodyPr>
            <a:normAutofit/>
          </a:bodyPr>
          <a:lstStyle/>
          <a:p>
            <a:pPr algn="l"/>
            <a:r>
              <a:rPr lang="en-AU" sz="11500" dirty="0">
                <a:ln w="22225">
                  <a:solidFill>
                    <a:schemeClr val="tx1"/>
                  </a:solidFill>
                  <a:miter lim="800000"/>
                </a:ln>
              </a:rPr>
              <a:t>History Heroes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7151A9-8B8B-4377-B012-9045FB48C9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00" y="4572002"/>
            <a:ext cx="10261600" cy="1202995"/>
          </a:xfrm>
        </p:spPr>
        <p:txBody>
          <a:bodyPr>
            <a:normAutofit/>
          </a:bodyPr>
          <a:lstStyle/>
          <a:p>
            <a:pPr algn="l"/>
            <a:r>
              <a:rPr lang="en-AU" sz="3200"/>
              <a:t>Week 7</a:t>
            </a:r>
          </a:p>
        </p:txBody>
      </p:sp>
    </p:spTree>
    <p:extLst>
      <p:ext uri="{BB962C8B-B14F-4D97-AF65-F5344CB8AC3E}">
        <p14:creationId xmlns:p14="http://schemas.microsoft.com/office/powerpoint/2010/main" val="14101715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Image result for american 1920s">
            <a:extLst>
              <a:ext uri="{FF2B5EF4-FFF2-40B4-BE49-F238E27FC236}">
                <a16:creationId xmlns:a16="http://schemas.microsoft.com/office/drawing/2014/main" id="{0A7F5DE7-B4FE-4B46-B0E3-7E62132F7B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57" b="17643"/>
          <a:stretch/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8F70731-2463-4575-9D9C-3A76A591F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965200"/>
            <a:ext cx="10261600" cy="35648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100" dirty="0">
                <a:ln w="22225">
                  <a:solidFill>
                    <a:schemeClr val="tx1"/>
                  </a:solidFill>
                  <a:miter lim="800000"/>
                </a:ln>
              </a:rPr>
              <a:t>1. What was one other name given to the Roaring Twenties?</a:t>
            </a:r>
          </a:p>
        </p:txBody>
      </p:sp>
    </p:spTree>
    <p:extLst>
      <p:ext uri="{BB962C8B-B14F-4D97-AF65-F5344CB8AC3E}">
        <p14:creationId xmlns:p14="http://schemas.microsoft.com/office/powerpoint/2010/main" val="40728001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tangle 142">
            <a:extLst>
              <a:ext uri="{FF2B5EF4-FFF2-40B4-BE49-F238E27FC236}">
                <a16:creationId xmlns:a16="http://schemas.microsoft.com/office/drawing/2014/main" id="{C5E6CFF1-2F42-4E10-9A97-F116F46F5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8" name="Picture 4" descr="Image result for american 1920s">
            <a:extLst>
              <a:ext uri="{FF2B5EF4-FFF2-40B4-BE49-F238E27FC236}">
                <a16:creationId xmlns:a16="http://schemas.microsoft.com/office/drawing/2014/main" id="{6D846E0F-054B-4F33-8644-B01979E73E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57" b="17643"/>
          <a:stretch/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81C815D-46E8-4BA7-8C4A-88140B479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65862"/>
            <a:ext cx="6052955" cy="4726276"/>
          </a:xfrm>
        </p:spPr>
        <p:txBody>
          <a:bodyPr vert="horz" lIns="91440" tIns="45720" rIns="91440" bIns="45720" rtlCol="0">
            <a:normAutofit/>
          </a:bodyPr>
          <a:lstStyle/>
          <a:p>
            <a:pPr algn="r"/>
            <a:r>
              <a:rPr lang="en-US" sz="5600" dirty="0">
                <a:ln w="22225">
                  <a:solidFill>
                    <a:srgbClr val="FFFFFF"/>
                  </a:solidFill>
                </a:ln>
              </a:rPr>
              <a:t>2. On what date was the 19</a:t>
            </a:r>
            <a:r>
              <a:rPr lang="en-US" sz="5600" baseline="30000" dirty="0">
                <a:ln w="22225">
                  <a:solidFill>
                    <a:srgbClr val="FFFFFF"/>
                  </a:solidFill>
                </a:ln>
              </a:rPr>
              <a:t>th</a:t>
            </a:r>
            <a:r>
              <a:rPr lang="en-US" sz="5600" dirty="0">
                <a:ln w="22225">
                  <a:solidFill>
                    <a:srgbClr val="FFFFFF"/>
                  </a:solidFill>
                </a:ln>
              </a:rPr>
              <a:t> Amendment passed by Congress? </a:t>
            </a:r>
            <a:br>
              <a:rPr lang="en-US" sz="5600" dirty="0">
                <a:ln w="22225">
                  <a:solidFill>
                    <a:srgbClr val="FFFFFF"/>
                  </a:solidFill>
                </a:ln>
              </a:rPr>
            </a:br>
            <a:r>
              <a:rPr lang="en-US" sz="5600" dirty="0">
                <a:ln w="22225">
                  <a:solidFill>
                    <a:srgbClr val="FFFFFF"/>
                  </a:solidFill>
                </a:ln>
              </a:rPr>
              <a:t>(full date, 3 marks)</a:t>
            </a:r>
          </a:p>
        </p:txBody>
      </p: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96A8629B-8289-498B-939B-1CA0C1061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2899" y="2286000"/>
            <a:ext cx="0" cy="22860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98114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ectangle 140">
            <a:extLst>
              <a:ext uri="{FF2B5EF4-FFF2-40B4-BE49-F238E27FC236}">
                <a16:creationId xmlns:a16="http://schemas.microsoft.com/office/drawing/2014/main" id="{C5E6CFF1-2F42-4E10-9A97-F116F46F5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80" name="Picture 2" descr="Image result for american 1920s">
            <a:extLst>
              <a:ext uri="{FF2B5EF4-FFF2-40B4-BE49-F238E27FC236}">
                <a16:creationId xmlns:a16="http://schemas.microsoft.com/office/drawing/2014/main" id="{B56A89ED-831E-403A-913F-4CAA2838D0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57" b="17643"/>
          <a:stretch/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8B84E6-F7EB-4AB7-942C-D0463B04C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65862"/>
            <a:ext cx="6052955" cy="4726276"/>
          </a:xfrm>
        </p:spPr>
        <p:txBody>
          <a:bodyPr vert="horz" lIns="91440" tIns="45720" rIns="91440" bIns="45720" rtlCol="0">
            <a:normAutofit fontScale="90000"/>
          </a:bodyPr>
          <a:lstStyle/>
          <a:p>
            <a:pPr algn="r"/>
            <a:r>
              <a:rPr lang="en-US" sz="6800" dirty="0">
                <a:ln w="22225">
                  <a:solidFill>
                    <a:srgbClr val="FFFFFF"/>
                  </a:solidFill>
                </a:ln>
              </a:rPr>
              <a:t>3. On what date did Prohibition come into effect in the US?</a:t>
            </a:r>
            <a:br>
              <a:rPr lang="en-US" sz="6800" dirty="0">
                <a:ln w="22225">
                  <a:solidFill>
                    <a:srgbClr val="FFFFFF"/>
                  </a:solidFill>
                </a:ln>
              </a:rPr>
            </a:br>
            <a:r>
              <a:rPr lang="en-US" sz="6800" dirty="0">
                <a:ln w="22225">
                  <a:solidFill>
                    <a:srgbClr val="FFFFFF"/>
                  </a:solidFill>
                </a:ln>
              </a:rPr>
              <a:t>(3 marks)</a:t>
            </a:r>
          </a:p>
        </p:txBody>
      </p: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96A8629B-8289-498B-939B-1CA0C1061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2899" y="2286000"/>
            <a:ext cx="0" cy="22860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15297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Image result for american 1920s">
            <a:extLst>
              <a:ext uri="{FF2B5EF4-FFF2-40B4-BE49-F238E27FC236}">
                <a16:creationId xmlns:a16="http://schemas.microsoft.com/office/drawing/2014/main" id="{21E63EE5-24A6-4485-B892-ADEE465627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57" b="17643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603953-8411-46E2-8B22-6FF5129F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965200"/>
            <a:ext cx="10261600" cy="35648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dirty="0">
                <a:ln w="22225">
                  <a:solidFill>
                    <a:schemeClr val="tx1"/>
                  </a:solidFill>
                  <a:miter lim="800000"/>
                </a:ln>
              </a:rPr>
              <a:t>4. When did the ‘Red Scare’ occur in America and what was it? (2 marks)</a:t>
            </a:r>
          </a:p>
        </p:txBody>
      </p:sp>
    </p:spTree>
    <p:extLst>
      <p:ext uri="{BB962C8B-B14F-4D97-AF65-F5344CB8AC3E}">
        <p14:creationId xmlns:p14="http://schemas.microsoft.com/office/powerpoint/2010/main" val="2321616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9" name="Picture 2" descr="Image result for american 1920s">
            <a:extLst>
              <a:ext uri="{FF2B5EF4-FFF2-40B4-BE49-F238E27FC236}">
                <a16:creationId xmlns:a16="http://schemas.microsoft.com/office/drawing/2014/main" id="{423EF038-4262-4242-BCDD-F29DFCF7CAB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57" b="17643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44E3F93-5C02-410D-BDED-4FEFC13E3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965200"/>
            <a:ext cx="10261600" cy="356486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11500" dirty="0">
                <a:ln w="22225">
                  <a:solidFill>
                    <a:schemeClr val="tx1"/>
                  </a:solidFill>
                  <a:miter lim="800000"/>
                </a:ln>
              </a:rPr>
              <a:t>ANSWERS</a:t>
            </a:r>
          </a:p>
        </p:txBody>
      </p:sp>
    </p:spTree>
    <p:extLst>
      <p:ext uri="{BB962C8B-B14F-4D97-AF65-F5344CB8AC3E}">
        <p14:creationId xmlns:p14="http://schemas.microsoft.com/office/powerpoint/2010/main" val="29067613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Image result for american 1920s">
            <a:extLst>
              <a:ext uri="{FF2B5EF4-FFF2-40B4-BE49-F238E27FC236}">
                <a16:creationId xmlns:a16="http://schemas.microsoft.com/office/drawing/2014/main" id="{0A7F5DE7-B4FE-4B46-B0E3-7E62132F7B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57" b="17643"/>
          <a:stretch/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8F70731-2463-4575-9D9C-3A76A591F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965200"/>
            <a:ext cx="10261600" cy="474648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500" b="1" dirty="0">
                <a:ln w="22225">
                  <a:solidFill>
                    <a:schemeClr val="tx1"/>
                  </a:solidFill>
                  <a:miter lim="800000"/>
                </a:ln>
              </a:rPr>
              <a:t>1. </a:t>
            </a:r>
            <a:br>
              <a:rPr lang="en-US" sz="5500" b="1" dirty="0">
                <a:ln w="22225">
                  <a:solidFill>
                    <a:schemeClr val="tx1"/>
                  </a:solidFill>
                  <a:miter lim="800000"/>
                </a:ln>
              </a:rPr>
            </a:br>
            <a:r>
              <a:rPr lang="en-AU" sz="5500" b="1" dirty="0">
                <a:solidFill>
                  <a:srgbClr val="FFFFFF"/>
                </a:solidFill>
              </a:rPr>
              <a:t>The Golden Twenties</a:t>
            </a:r>
            <a:br>
              <a:rPr lang="en-AU" sz="5500" b="1" dirty="0">
                <a:solidFill>
                  <a:srgbClr val="FFFFFF"/>
                </a:solidFill>
              </a:rPr>
            </a:br>
            <a:r>
              <a:rPr lang="en-AU" sz="5500" b="1" dirty="0">
                <a:solidFill>
                  <a:srgbClr val="FFFFFF"/>
                </a:solidFill>
              </a:rPr>
              <a:t>The Decade of Prosperity</a:t>
            </a:r>
            <a:br>
              <a:rPr lang="en-AU" sz="5500" b="1" dirty="0">
                <a:solidFill>
                  <a:srgbClr val="FFFFFF"/>
                </a:solidFill>
              </a:rPr>
            </a:br>
            <a:r>
              <a:rPr lang="en-AU" sz="5500" b="1" dirty="0">
                <a:solidFill>
                  <a:srgbClr val="FFFFFF"/>
                </a:solidFill>
              </a:rPr>
              <a:t>The Republican Decade</a:t>
            </a:r>
            <a:br>
              <a:rPr lang="en-AU" sz="5500" b="1" dirty="0">
                <a:solidFill>
                  <a:srgbClr val="FFFFFF"/>
                </a:solidFill>
              </a:rPr>
            </a:br>
            <a:r>
              <a:rPr lang="en-AU" sz="5500" b="1" dirty="0">
                <a:solidFill>
                  <a:srgbClr val="FFFFFF"/>
                </a:solidFill>
              </a:rPr>
              <a:t>The Jazz Age</a:t>
            </a:r>
            <a:br>
              <a:rPr lang="en-AU" sz="5500" b="1" dirty="0">
                <a:solidFill>
                  <a:srgbClr val="FFFFFF"/>
                </a:solidFill>
              </a:rPr>
            </a:br>
            <a:r>
              <a:rPr lang="en-AU" sz="5500" b="1" dirty="0">
                <a:solidFill>
                  <a:srgbClr val="FFFFFF"/>
                </a:solidFill>
              </a:rPr>
              <a:t>The Period of Plenty</a:t>
            </a:r>
            <a:endParaRPr lang="en-US" sz="5500" b="1" dirty="0">
              <a:ln w="22225">
                <a:solidFill>
                  <a:schemeClr val="tx1"/>
                </a:solidFill>
                <a:miter lim="800000"/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7593809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tangle 142">
            <a:extLst>
              <a:ext uri="{FF2B5EF4-FFF2-40B4-BE49-F238E27FC236}">
                <a16:creationId xmlns:a16="http://schemas.microsoft.com/office/drawing/2014/main" id="{C5E6CFF1-2F42-4E10-9A97-F116F46F5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58" name="Picture 4" descr="Image result for american 1920s">
            <a:extLst>
              <a:ext uri="{FF2B5EF4-FFF2-40B4-BE49-F238E27FC236}">
                <a16:creationId xmlns:a16="http://schemas.microsoft.com/office/drawing/2014/main" id="{6D846E0F-054B-4F33-8644-B01979E73E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57" b="17643"/>
          <a:stretch/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81C815D-46E8-4BA7-8C4A-88140B479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65862"/>
            <a:ext cx="6052955" cy="4726276"/>
          </a:xfrm>
        </p:spPr>
        <p:txBody>
          <a:bodyPr vert="horz" lIns="91440" tIns="45720" rIns="91440" bIns="45720" rtlCol="0">
            <a:normAutofit/>
          </a:bodyPr>
          <a:lstStyle/>
          <a:p>
            <a:pPr algn="r"/>
            <a:r>
              <a:rPr lang="en-US" sz="5600" dirty="0">
                <a:ln w="22225">
                  <a:solidFill>
                    <a:srgbClr val="FFFFFF"/>
                  </a:solidFill>
                </a:ln>
              </a:rPr>
              <a:t>2. </a:t>
            </a:r>
            <a:r>
              <a:rPr lang="en-AU" sz="6000" b="1" dirty="0"/>
              <a:t>June 4, 1919</a:t>
            </a:r>
            <a:endParaRPr lang="en-US" sz="6000" b="1" dirty="0">
              <a:ln w="22225">
                <a:solidFill>
                  <a:srgbClr val="FFFFFF"/>
                </a:solidFill>
              </a:ln>
            </a:endParaRPr>
          </a:p>
        </p:txBody>
      </p: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96A8629B-8289-498B-939B-1CA0C1061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2899" y="2286000"/>
            <a:ext cx="0" cy="22860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26881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ectangle 140">
            <a:extLst>
              <a:ext uri="{FF2B5EF4-FFF2-40B4-BE49-F238E27FC236}">
                <a16:creationId xmlns:a16="http://schemas.microsoft.com/office/drawing/2014/main" id="{C5E6CFF1-2F42-4E10-9A97-F116F46F5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80" name="Picture 2" descr="Image result for american 1920s">
            <a:extLst>
              <a:ext uri="{FF2B5EF4-FFF2-40B4-BE49-F238E27FC236}">
                <a16:creationId xmlns:a16="http://schemas.microsoft.com/office/drawing/2014/main" id="{B56A89ED-831E-403A-913F-4CAA2838D0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57" b="17643"/>
          <a:stretch/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8B84E6-F7EB-4AB7-942C-D0463B04C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65862"/>
            <a:ext cx="6052955" cy="4726276"/>
          </a:xfrm>
        </p:spPr>
        <p:txBody>
          <a:bodyPr vert="horz" lIns="91440" tIns="45720" rIns="91440" bIns="45720" rtlCol="0">
            <a:noAutofit/>
          </a:bodyPr>
          <a:lstStyle/>
          <a:p>
            <a:pPr algn="r"/>
            <a:r>
              <a:rPr lang="en-US" sz="7000" dirty="0">
                <a:ln w="22225">
                  <a:solidFill>
                    <a:srgbClr val="FFFFFF"/>
                  </a:solidFill>
                </a:ln>
              </a:rPr>
              <a:t>3. January 17</a:t>
            </a:r>
            <a:r>
              <a:rPr lang="en-US" sz="7000" baseline="30000" dirty="0">
                <a:ln w="22225">
                  <a:solidFill>
                    <a:srgbClr val="FFFFFF"/>
                  </a:solidFill>
                </a:ln>
              </a:rPr>
              <a:t>th</a:t>
            </a:r>
            <a:r>
              <a:rPr lang="en-US" sz="7000" dirty="0">
                <a:ln w="22225">
                  <a:solidFill>
                    <a:srgbClr val="FFFFFF"/>
                  </a:solidFill>
                </a:ln>
              </a:rPr>
              <a:t> 1920</a:t>
            </a:r>
          </a:p>
        </p:txBody>
      </p: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96A8629B-8289-498B-939B-1CA0C1061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2899" y="2286000"/>
            <a:ext cx="0" cy="22860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28930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Image result for american 1920s">
            <a:extLst>
              <a:ext uri="{FF2B5EF4-FFF2-40B4-BE49-F238E27FC236}">
                <a16:creationId xmlns:a16="http://schemas.microsoft.com/office/drawing/2014/main" id="{21E63EE5-24A6-4485-B892-ADEE465627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57" b="17643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603953-8411-46E2-8B22-6FF5129F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3252" y="532295"/>
            <a:ext cx="10261600" cy="5793409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6000" dirty="0">
                <a:ln w="22225">
                  <a:solidFill>
                    <a:schemeClr val="tx1"/>
                  </a:solidFill>
                  <a:miter lim="800000"/>
                </a:ln>
              </a:rPr>
              <a:t>4. Wide-spread fears of communism in America caused the ‘Red Scare’ of December 1919 and January 1920. This resulted in the Boston Police Strike where a series of strikes occurred. </a:t>
            </a:r>
          </a:p>
        </p:txBody>
      </p:sp>
    </p:spTree>
    <p:extLst>
      <p:ext uri="{BB962C8B-B14F-4D97-AF65-F5344CB8AC3E}">
        <p14:creationId xmlns:p14="http://schemas.microsoft.com/office/powerpoint/2010/main" val="27745543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Image result for american 1920s">
            <a:extLst>
              <a:ext uri="{FF2B5EF4-FFF2-40B4-BE49-F238E27FC236}">
                <a16:creationId xmlns:a16="http://schemas.microsoft.com/office/drawing/2014/main" id="{21E63EE5-24A6-4485-B892-ADEE465627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57" b="17643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603953-8411-46E2-8B22-6FF5129F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1749287"/>
            <a:ext cx="10261600" cy="1568173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10000" dirty="0">
                <a:ln w="22225">
                  <a:solidFill>
                    <a:schemeClr val="tx1"/>
                  </a:solidFill>
                  <a:miter lim="800000"/>
                </a:ln>
              </a:rPr>
              <a:t>/9</a:t>
            </a:r>
          </a:p>
        </p:txBody>
      </p:sp>
    </p:spTree>
    <p:extLst>
      <p:ext uri="{BB962C8B-B14F-4D97-AF65-F5344CB8AC3E}">
        <p14:creationId xmlns:p14="http://schemas.microsoft.com/office/powerpoint/2010/main" val="17024632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AB45A142-4255-493C-8284-5D566C121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21177"/>
            <a:ext cx="4332307" cy="6179552"/>
          </a:xfrm>
          <a:prstGeom prst="rect">
            <a:avLst/>
          </a:prstGeom>
          <a:solidFill>
            <a:srgbClr val="404040">
              <a:alpha val="89804"/>
            </a:srgbClr>
          </a:solidFill>
          <a:ln w="127000" cap="sq" cmpd="thinThick">
            <a:solidFill>
              <a:srgbClr val="595959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207848-8F79-495D-A945-586C3394D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237" y="914400"/>
            <a:ext cx="3657600" cy="28875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Source of the week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38FB9660-F42F-4313-BBC4-47C007FE4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1126" y="3910267"/>
            <a:ext cx="258679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0" name="Picture 2" descr="Image result for tomato mustard sauce">
            <a:extLst>
              <a:ext uri="{FF2B5EF4-FFF2-40B4-BE49-F238E27FC236}">
                <a16:creationId xmlns:a16="http://schemas.microsoft.com/office/drawing/2014/main" id="{D506B622-268E-4125-B208-FD63B84408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0196" y="492573"/>
            <a:ext cx="5880796" cy="5880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81524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D8A0DE-7FA6-444C-B474-F0584804D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353972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"The Cloud," </a:t>
            </a:r>
            <a:r>
              <a:rPr lang="en-US" i="1" dirty="0"/>
              <a:t>The Atlanta Constitution</a:t>
            </a:r>
            <a:r>
              <a:rPr lang="en-US" dirty="0"/>
              <a:t>, Jan. 19, 1919</a:t>
            </a: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13316" name="Picture 4" descr="http://americainclass.org/sources/becomingmodern/divisions/images/text8s1lrg.jpg">
            <a:extLst>
              <a:ext uri="{FF2B5EF4-FFF2-40B4-BE49-F238E27FC236}">
                <a16:creationId xmlns:a16="http://schemas.microsoft.com/office/drawing/2014/main" id="{6DC8C430-2322-4DCC-9E4B-173C527510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2492" y="0"/>
            <a:ext cx="5439508" cy="6864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9014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124</Words>
  <Application>Microsoft Office PowerPoint</Application>
  <PresentationFormat>Widescreen</PresentationFormat>
  <Paragraphs>14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History Heroes</vt:lpstr>
      <vt:lpstr>1. What was one other name given to the Roaring Twenties?</vt:lpstr>
      <vt:lpstr>2. On what date was the 19th Amendment passed by Congress?  (full date, 3 marks)</vt:lpstr>
      <vt:lpstr>3. On what date did Prohibition come into effect in the US? (3 marks)</vt:lpstr>
      <vt:lpstr>4. When did the ‘Red Scare’ occur in America and what was it? (2 marks)</vt:lpstr>
      <vt:lpstr>ANSWERS</vt:lpstr>
      <vt:lpstr>1.  The Golden Twenties The Decade of Prosperity The Republican Decade The Jazz Age The Period of Plenty</vt:lpstr>
      <vt:lpstr>2. June 4, 1919</vt:lpstr>
      <vt:lpstr>3. January 17th 1920</vt:lpstr>
      <vt:lpstr>4. Wide-spread fears of communism in America caused the ‘Red Scare’ of December 1919 and January 1920. This resulted in the Boston Police Strike where a series of strikes occurred. </vt:lpstr>
      <vt:lpstr>/9</vt:lpstr>
      <vt:lpstr>Source of the week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History Heroes</dc:title>
  <dc:creator>Natasha Hawkes</dc:creator>
  <cp:lastModifiedBy>Natasha Hawkes</cp:lastModifiedBy>
  <cp:revision>1</cp:revision>
  <dcterms:created xsi:type="dcterms:W3CDTF">2019-03-17T08:37:12Z</dcterms:created>
  <dcterms:modified xsi:type="dcterms:W3CDTF">2019-03-17T08:43:16Z</dcterms:modified>
</cp:coreProperties>
</file>
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1" r:id="rId3"/>
    <p:sldId id="262" r:id="rId4"/>
    <p:sldId id="273" r:id="rId5"/>
    <p:sldId id="263" r:id="rId6"/>
    <p:sldId id="265" r:id="rId7"/>
    <p:sldId id="266" r:id="rId8"/>
    <p:sldId id="267" r:id="rId9"/>
    <p:sldId id="270" r:id="rId10"/>
    <p:sldId id="274" r:id="rId11"/>
    <p:sldId id="268" r:id="rId12"/>
    <p:sldId id="269" r:id="rId13"/>
    <p:sldId id="275" r:id="rId14"/>
  </p:sldIdLst>
  <p:sldSz cx="9144000" cy="5143500" type="screen16x9"/>
  <p:notesSz cx="9931400" cy="67945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DCC221-56B0-4BCE-AE3C-E65C33CBE197}">
  <a:tblStyle styleId="{AEDCC221-56B0-4BCE-AE3C-E65C33CBE1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4700" y="0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A1D96-FE7B-4E5E-9709-C9A78C127EC5}" type="datetimeFigureOut">
              <a:rPr lang="en-AU" smtClean="0"/>
              <a:t>15/03/2019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4700" y="6453472"/>
            <a:ext cx="4304381" cy="341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F593E-11B0-4E12-9761-7E81860287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0761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01925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792061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35f391192_00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0338" y="509588"/>
            <a:ext cx="4530725" cy="2547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798700" y="1991850"/>
            <a:ext cx="35466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3600"/>
              <a:buNone/>
              <a:defRPr sz="3600">
                <a:solidFill>
                  <a:srgbClr val="40322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✣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⨳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cxnSp>
        <p:nvCxnSpPr>
          <p:cNvPr id="22" name="Google Shape;22;p5"/>
          <p:cNvCxnSpPr/>
          <p:nvPr/>
        </p:nvCxnSpPr>
        <p:spPr>
          <a:xfrm>
            <a:off x="4279500" y="1427300"/>
            <a:ext cx="585000" cy="0"/>
          </a:xfrm>
          <a:prstGeom prst="straightConnector1">
            <a:avLst/>
          </a:prstGeom>
          <a:noFill/>
          <a:ln w="28575" cap="flat" cmpd="sng">
            <a:solidFill>
              <a:srgbClr val="92694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887900" y="434575"/>
            <a:ext cx="5368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224425" y="1477750"/>
            <a:ext cx="66951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Libre Baskerville"/>
              <a:buChar char="✣"/>
              <a:defRPr sz="24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⨳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■"/>
              <a:defRPr sz="20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●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○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■"/>
              <a:defRPr sz="1600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>
              <a:buNone/>
              <a:defRPr sz="1200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Qix7Ce3sL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5FQZhtpwcs" TargetMode="External"/><Relationship Id="rId2" Type="http://schemas.openxmlformats.org/officeDocument/2006/relationships/hyperlink" Target="https://www.youtube.com/watch?v=BQP7sQUiYZ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OzSdQjuEfM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www.youtube.com/watch?v=IbCr1aGS4CQ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ctrTitle"/>
          </p:nvPr>
        </p:nvSpPr>
        <p:spPr>
          <a:xfrm>
            <a:off x="2785730" y="1800464"/>
            <a:ext cx="4455042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AU" sz="4000" b="1" dirty="0"/>
              <a:t>Introduction to Source Analysis</a:t>
            </a:r>
            <a:endParaRPr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224450" y="584615"/>
            <a:ext cx="6695100" cy="41652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indent="0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AU" u="sng" dirty="0"/>
              <a:t>Learning intentions:</a:t>
            </a:r>
          </a:p>
          <a:p>
            <a:r>
              <a:rPr lang="en-AU" dirty="0"/>
              <a:t>Understand key terminology used for historical source analysis</a:t>
            </a:r>
          </a:p>
          <a:p>
            <a:pPr marL="76200" lvl="0" indent="0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n-AU" dirty="0"/>
          </a:p>
          <a:p>
            <a:pPr marL="76200" lvl="0" indent="0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AU" u="sng" dirty="0"/>
              <a:t>Success criteria:</a:t>
            </a:r>
          </a:p>
          <a:p>
            <a:r>
              <a:rPr lang="en-AU" dirty="0"/>
              <a:t>Recall how key terminology is used for historical source analysis</a:t>
            </a:r>
          </a:p>
          <a:p>
            <a:r>
              <a:rPr lang="en-AU" dirty="0" smtClean="0"/>
              <a:t>Look at a source analysis to identify how to correctly analyse a source.</a:t>
            </a:r>
            <a:endParaRPr dirty="0"/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4297650" y="47499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Image result for world war tw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454" y="3372324"/>
            <a:ext cx="3148757" cy="177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world war tw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405849"/>
            <a:ext cx="1926455" cy="276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interwar yea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887" y="1895349"/>
            <a:ext cx="4088113" cy="324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interwar yea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494" y="0"/>
            <a:ext cx="4460506" cy="2609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interwar year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7822" cy="240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ED5B82-F9A1-487B-9F6C-5BB8F27A9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900" y="1267340"/>
            <a:ext cx="5368200" cy="2532558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sz="5000" b="1" dirty="0"/>
              <a:t>HOW DO WE KNOW ABOUT HISTORY?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F5F50-3AAE-44F8-A006-8478A52DD7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7699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" name="Picture 10" descr="Image result for world war tw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454" y="3372324"/>
            <a:ext cx="3148757" cy="1771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 result for world war tw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405849"/>
            <a:ext cx="1926455" cy="276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mage result for interwar yea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887" y="1895349"/>
            <a:ext cx="4088113" cy="324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 result for interwar yea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494" y="0"/>
            <a:ext cx="4460506" cy="2609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interwar year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197822" cy="240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ED5B82-F9A1-487B-9F6C-5BB8F27A9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900" y="1267339"/>
            <a:ext cx="5368200" cy="2362759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sz="5000" b="1" dirty="0" smtClean="0"/>
              <a:t>SOURCES!</a:t>
            </a:r>
            <a:br>
              <a:rPr lang="en-AU" sz="5000" b="1" dirty="0" smtClean="0"/>
            </a:br>
            <a:endParaRPr lang="en-AU" sz="5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F5F50-3AAE-44F8-A006-8478A52DD7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200" b="0" i="0" u="none" strike="noStrike" kern="0" cap="none" spc="0" normalizeH="0" baseline="0" noProof="0" smtClean="0">
                <a:ln>
                  <a:noFill/>
                </a:ln>
                <a:solidFill>
                  <a:srgbClr val="926940"/>
                </a:solidFill>
                <a:effectLst/>
                <a:uLnTx/>
                <a:uFillTx/>
                <a:latin typeface="Cinzel"/>
                <a:sym typeface="Cinzel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lang="en" sz="1200" b="0" i="0" u="none" strike="noStrike" kern="0" cap="none" spc="0" normalizeH="0" baseline="0" noProof="0">
              <a:ln>
                <a:noFill/>
              </a:ln>
              <a:solidFill>
                <a:srgbClr val="926940"/>
              </a:solidFill>
              <a:effectLst/>
              <a:uLnTx/>
              <a:uFillTx/>
              <a:latin typeface="Cinzel"/>
              <a:sym typeface="Cinzel"/>
            </a:endParaRPr>
          </a:p>
        </p:txBody>
      </p:sp>
    </p:spTree>
    <p:extLst>
      <p:ext uri="{BB962C8B-B14F-4D97-AF65-F5344CB8AC3E}">
        <p14:creationId xmlns:p14="http://schemas.microsoft.com/office/powerpoint/2010/main" val="836949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A12D7-B83C-4E4C-A8EB-8B15D9EA9C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63343F8-43B5-49FD-BC3A-B44D3766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9763" y="1426468"/>
            <a:ext cx="6695100" cy="1169757"/>
          </a:xfr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GB" sz="3000" dirty="0">
                <a:solidFill>
                  <a:schemeClr val="tx1"/>
                </a:solidFill>
              </a:rPr>
              <a:t>To gather </a:t>
            </a:r>
            <a:r>
              <a:rPr lang="en-GB" sz="3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evidence </a:t>
            </a:r>
            <a:r>
              <a:rPr lang="en-GB" sz="3000" dirty="0">
                <a:solidFill>
                  <a:schemeClr val="tx1"/>
                </a:solidFill>
              </a:rPr>
              <a:t>to support your viewpoint or argument.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C329E6-3781-47C1-BDA4-F034FFFBFB13}"/>
              </a:ext>
            </a:extLst>
          </p:cNvPr>
          <p:cNvSpPr txBox="1">
            <a:spLocks/>
          </p:cNvSpPr>
          <p:nvPr/>
        </p:nvSpPr>
        <p:spPr>
          <a:xfrm>
            <a:off x="457200" y="187621"/>
            <a:ext cx="8229600" cy="969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 algn="ctr">
            <a:solidFill>
              <a:srgbClr val="002060"/>
            </a:solidFill>
            <a:prstDash val="soli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r>
              <a:rPr lang="en-GB" sz="3600" b="1" dirty="0">
                <a:solidFill>
                  <a:schemeClr val="tx1"/>
                </a:solidFill>
              </a:rPr>
              <a:t>Why </a:t>
            </a:r>
            <a:r>
              <a:rPr lang="en-GB" sz="3600" dirty="0">
                <a:solidFill>
                  <a:schemeClr val="tx1"/>
                </a:solidFill>
              </a:rPr>
              <a:t>do we Analyse Sources?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6CE9B4-DF70-4961-8A14-CA3B9666F8CA}"/>
              </a:ext>
            </a:extLst>
          </p:cNvPr>
          <p:cNvCxnSpPr/>
          <p:nvPr/>
        </p:nvCxnSpPr>
        <p:spPr>
          <a:xfrm flipV="1">
            <a:off x="3740814" y="3855858"/>
            <a:ext cx="1490786" cy="10691"/>
          </a:xfrm>
          <a:prstGeom prst="straightConnector1">
            <a:avLst/>
          </a:prstGeom>
          <a:ln w="76200">
            <a:solidFill>
              <a:srgbClr val="00206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26" name="Picture 2" descr="Image result for think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16" y="2766240"/>
            <a:ext cx="2838974" cy="189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herlock holm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448" y="2782390"/>
            <a:ext cx="1517822" cy="216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88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history thinking">
            <a:extLst>
              <a:ext uri="{FF2B5EF4-FFF2-40B4-BE49-F238E27FC236}">
                <a16:creationId xmlns:a16="http://schemas.microsoft.com/office/drawing/2014/main" id="{146AA8DD-6F67-481F-987D-D896D373C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21" y="1678615"/>
            <a:ext cx="4606928" cy="3071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4A405B-6316-4F44-8F20-6A612A2DBB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5" name="Oval Callout 3">
            <a:extLst>
              <a:ext uri="{FF2B5EF4-FFF2-40B4-BE49-F238E27FC236}">
                <a16:creationId xmlns:a16="http://schemas.microsoft.com/office/drawing/2014/main" id="{03B0B326-F8CD-45E8-8B62-ED21231B86E4}"/>
              </a:ext>
            </a:extLst>
          </p:cNvPr>
          <p:cNvSpPr/>
          <p:nvPr/>
        </p:nvSpPr>
        <p:spPr>
          <a:xfrm>
            <a:off x="3296093" y="806064"/>
            <a:ext cx="5847907" cy="4041524"/>
          </a:xfrm>
          <a:prstGeom prst="wedgeEllipseCallout">
            <a:avLst>
              <a:gd name="adj1" fmla="val -72189"/>
              <a:gd name="adj2" fmla="val 12721"/>
            </a:avLst>
          </a:prstGeom>
          <a:solidFill>
            <a:schemeClr val="accent1">
              <a:lumMod val="20000"/>
              <a:lumOff val="80000"/>
            </a:schemeClr>
          </a:solidFill>
          <a:ln w="38100" cap="flat" cmpd="sng" algn="ctr">
            <a:solidFill>
              <a:srgbClr val="00206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We ask Questions! – The more you ask, the more you will find out!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3146A8-C1CD-45E1-A4F2-DF85C7715E31}"/>
              </a:ext>
            </a:extLst>
          </p:cNvPr>
          <p:cNvSpPr txBox="1">
            <a:spLocks/>
          </p:cNvSpPr>
          <p:nvPr/>
        </p:nvSpPr>
        <p:spPr>
          <a:xfrm>
            <a:off x="307717" y="76528"/>
            <a:ext cx="6380740" cy="7295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 algn="ctr">
            <a:solidFill>
              <a:srgbClr val="002060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How</a:t>
            </a:r>
            <a:r>
              <a:rPr kumimoji="0" lang="en-GB" sz="44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 do we analyse sources?</a:t>
            </a:r>
          </a:p>
        </p:txBody>
      </p:sp>
    </p:spTree>
    <p:extLst>
      <p:ext uri="{BB962C8B-B14F-4D97-AF65-F5344CB8AC3E}">
        <p14:creationId xmlns:p14="http://schemas.microsoft.com/office/powerpoint/2010/main" val="1681993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5DB75-C55B-4EC6-90EF-B24B8F0A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025" y="5874"/>
            <a:ext cx="5368200" cy="857400"/>
          </a:xfrm>
        </p:spPr>
        <p:txBody>
          <a:bodyPr/>
          <a:lstStyle/>
          <a:p>
            <a:r>
              <a:rPr lang="en-AU" sz="3500" b="1" dirty="0">
                <a:solidFill>
                  <a:srgbClr val="002060"/>
                </a:solidFill>
              </a:rPr>
              <a:t>Message and Purpose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07D56-A3EC-4617-A6A6-F85AE17F9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6289" y="863273"/>
            <a:ext cx="6297672" cy="3948424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76200" indent="0">
              <a:buNone/>
            </a:pPr>
            <a:r>
              <a:rPr lang="en-AU" sz="2000" b="1" dirty="0" smtClean="0"/>
              <a:t>Message</a:t>
            </a:r>
          </a:p>
          <a:p>
            <a:pPr marL="76200" indent="0">
              <a:buNone/>
            </a:pPr>
            <a:r>
              <a:rPr lang="en-AU" sz="2000" dirty="0" smtClean="0"/>
              <a:t>What the creator wants you to think, feel or believe.</a:t>
            </a:r>
            <a:endParaRPr lang="en-AU" sz="2000" dirty="0"/>
          </a:p>
          <a:p>
            <a:r>
              <a:rPr lang="en-AU" sz="1800" dirty="0"/>
              <a:t>What is it trying to tell me</a:t>
            </a:r>
            <a:r>
              <a:rPr lang="en-AU" sz="1800" dirty="0" smtClean="0"/>
              <a:t>?</a:t>
            </a:r>
          </a:p>
          <a:p>
            <a:r>
              <a:rPr lang="en-AU" sz="1800" dirty="0"/>
              <a:t>What information can I gain from this source?</a:t>
            </a:r>
          </a:p>
          <a:p>
            <a:r>
              <a:rPr lang="en-AU" sz="1800" dirty="0"/>
              <a:t>What issue/event/subject is the source referring to? </a:t>
            </a:r>
          </a:p>
          <a:p>
            <a:endParaRPr lang="en-AU" sz="2000" dirty="0"/>
          </a:p>
          <a:p>
            <a:pPr marL="76200" indent="0">
              <a:buNone/>
            </a:pPr>
            <a:r>
              <a:rPr lang="en-AU" sz="2000" b="1" dirty="0" smtClean="0"/>
              <a:t>Purpose</a:t>
            </a:r>
          </a:p>
          <a:p>
            <a:pPr marL="76200" indent="0">
              <a:buNone/>
            </a:pPr>
            <a:r>
              <a:rPr lang="en-AU" sz="2000" dirty="0" smtClean="0"/>
              <a:t>The reason, goal or objective for creating the source.</a:t>
            </a:r>
            <a:endParaRPr lang="en-AU" sz="2000" dirty="0"/>
          </a:p>
          <a:p>
            <a:r>
              <a:rPr lang="en-AU" sz="1800" dirty="0"/>
              <a:t>What is this source used for? </a:t>
            </a:r>
            <a:endParaRPr lang="en-AU" sz="1800" dirty="0" smtClean="0"/>
          </a:p>
          <a:p>
            <a:r>
              <a:rPr lang="en-AU" sz="1800" dirty="0" smtClean="0"/>
              <a:t>What </a:t>
            </a:r>
            <a:r>
              <a:rPr lang="en-AU" sz="1800" dirty="0"/>
              <a:t>does its creator want you to know?</a:t>
            </a:r>
          </a:p>
          <a:p>
            <a:pPr marL="76200" indent="0">
              <a:buNone/>
            </a:pPr>
            <a:endParaRPr lang="en-AU" sz="2000" dirty="0"/>
          </a:p>
          <a:p>
            <a:pPr marL="76200" indent="0">
              <a:buNone/>
            </a:pPr>
            <a:endParaRPr lang="en-AU" sz="2000" dirty="0"/>
          </a:p>
        </p:txBody>
      </p:sp>
      <p:pic>
        <p:nvPicPr>
          <p:cNvPr id="4098" name="Picture 2" descr="Image result for mail">
            <a:extLst>
              <a:ext uri="{FF2B5EF4-FFF2-40B4-BE49-F238E27FC236}">
                <a16:creationId xmlns:a16="http://schemas.microsoft.com/office/drawing/2014/main" id="{06B1E467-EE62-4FC5-85AD-DB7D5C986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225" y="-95429"/>
            <a:ext cx="1917405" cy="191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740112" y="4681835"/>
            <a:ext cx="4001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>
                <a:hlinkClick r:id="rId3"/>
              </a:rPr>
              <a:t>Source </a:t>
            </a:r>
            <a:r>
              <a:rPr lang="en-AU" sz="1200" dirty="0" err="1" smtClean="0">
                <a:hlinkClick r:id="rId3"/>
              </a:rPr>
              <a:t>anal;ysis</a:t>
            </a:r>
            <a:r>
              <a:rPr lang="en-AU" sz="1200" dirty="0" smtClean="0">
                <a:hlinkClick r:id="rId3"/>
              </a:rPr>
              <a:t> – PURPOSE</a:t>
            </a:r>
          </a:p>
          <a:p>
            <a:r>
              <a:rPr lang="en-AU" sz="1200" dirty="0" smtClean="0">
                <a:hlinkClick r:id="rId3"/>
              </a:rPr>
              <a:t>https</a:t>
            </a:r>
            <a:r>
              <a:rPr lang="en-AU" sz="1200" dirty="0">
                <a:hlinkClick r:id="rId3"/>
              </a:rPr>
              <a:t>://</a:t>
            </a:r>
            <a:r>
              <a:rPr lang="en-AU" sz="1200" dirty="0" smtClean="0">
                <a:hlinkClick r:id="rId3"/>
              </a:rPr>
              <a:t>www.youtube.com/watch?v=uQix7Ce3sLg</a:t>
            </a:r>
            <a:r>
              <a:rPr lang="en-AU" sz="1200" dirty="0" smtClean="0"/>
              <a:t> </a:t>
            </a: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67378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E27D98-D865-491C-913C-DD55B10026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0FFDA3FF-360E-408B-A116-D0F91D7FC514}"/>
              </a:ext>
            </a:extLst>
          </p:cNvPr>
          <p:cNvSpPr txBox="1">
            <a:spLocks/>
          </p:cNvSpPr>
          <p:nvPr/>
        </p:nvSpPr>
        <p:spPr>
          <a:xfrm>
            <a:off x="467544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Cinzel"/>
              <a:buNone/>
              <a:defRPr sz="2400" b="0" i="0" u="none" strike="noStrike" cap="none">
                <a:solidFill>
                  <a:srgbClr val="926940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r>
              <a:rPr lang="en-GB" sz="3000" u="sng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ea typeface="Times New Roman"/>
              </a:rPr>
              <a:t>Message and </a:t>
            </a:r>
            <a:r>
              <a:rPr lang="en-GB" sz="3000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ea typeface="Times New Roman"/>
              </a:rPr>
              <a:t>Purpose: Example</a:t>
            </a:r>
            <a:endParaRPr lang="en-GB" sz="3000" dirty="0">
              <a:solidFill>
                <a:srgbClr val="002060"/>
              </a:solidFill>
            </a:endParaRP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208E8E4-A124-47F8-A828-ED2098EB2A15}"/>
              </a:ext>
            </a:extLst>
          </p:cNvPr>
          <p:cNvSpPr txBox="1">
            <a:spLocks/>
          </p:cNvSpPr>
          <p:nvPr/>
        </p:nvSpPr>
        <p:spPr>
          <a:xfrm>
            <a:off x="508720" y="1366444"/>
            <a:ext cx="8147248" cy="3257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Libre Baskerville"/>
              <a:buChar char="✣"/>
              <a:defRPr sz="24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⨳"/>
              <a:defRPr sz="20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■"/>
              <a:defRPr sz="20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●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○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■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●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○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■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pPr>
              <a:buFont typeface="Libre Baskerville"/>
              <a:buNone/>
            </a:pPr>
            <a:r>
              <a:rPr lang="en-GB" sz="2800" b="1" dirty="0">
                <a:solidFill>
                  <a:schemeClr val="tx1"/>
                </a:solidFill>
              </a:rPr>
              <a:t>Message: </a:t>
            </a:r>
            <a:r>
              <a:rPr lang="en-GB" sz="2800" dirty="0">
                <a:solidFill>
                  <a:schemeClr val="tx1"/>
                </a:solidFill>
              </a:rPr>
              <a:t>Eat Cadbury’s chocolate and your life will improve, it is so tasty, it can make anything better, cure boredom and keep you entertained.</a:t>
            </a:r>
            <a:br>
              <a:rPr lang="en-GB" sz="2800" dirty="0">
                <a:solidFill>
                  <a:schemeClr val="tx1"/>
                </a:solidFill>
              </a:rPr>
            </a:br>
            <a:endParaRPr lang="en-GB" sz="2800" dirty="0">
              <a:solidFill>
                <a:schemeClr val="tx1"/>
              </a:solidFill>
            </a:endParaRPr>
          </a:p>
          <a:p>
            <a:pPr>
              <a:buFont typeface="Libre Baskerville"/>
              <a:buNone/>
            </a:pPr>
            <a:r>
              <a:rPr lang="en-GB" sz="2800" b="1" dirty="0">
                <a:solidFill>
                  <a:schemeClr val="tx1"/>
                </a:solidFill>
              </a:rPr>
              <a:t>Purpose: </a:t>
            </a:r>
            <a:r>
              <a:rPr lang="en-GB" sz="2800" dirty="0">
                <a:solidFill>
                  <a:schemeClr val="tx1"/>
                </a:solidFill>
              </a:rPr>
              <a:t>To make people </a:t>
            </a:r>
            <a:br>
              <a:rPr lang="en-GB" sz="2800" dirty="0">
                <a:solidFill>
                  <a:schemeClr val="tx1"/>
                </a:solidFill>
              </a:rPr>
            </a:br>
            <a:r>
              <a:rPr lang="en-GB" sz="2800" dirty="0">
                <a:solidFill>
                  <a:schemeClr val="tx1"/>
                </a:solidFill>
              </a:rPr>
              <a:t>buy their chocolate.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B6FD97-11E2-4EBC-9E07-76A5B957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178" y="3203626"/>
            <a:ext cx="2915111" cy="193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0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8F59-25A2-4D31-9307-305D0DA7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900" y="276447"/>
            <a:ext cx="5368200" cy="1015528"/>
          </a:xfrm>
        </p:spPr>
        <p:txBody>
          <a:bodyPr/>
          <a:lstStyle/>
          <a:p>
            <a:r>
              <a:rPr lang="en-AU" sz="4000" b="1" dirty="0">
                <a:solidFill>
                  <a:srgbClr val="002060"/>
                </a:solidFill>
              </a:rPr>
              <a:t>Perspective</a:t>
            </a:r>
            <a:br>
              <a:rPr lang="en-AU" sz="4000" b="1" dirty="0">
                <a:solidFill>
                  <a:srgbClr val="002060"/>
                </a:solidFill>
              </a:rPr>
            </a:br>
            <a:r>
              <a:rPr lang="en-AU" sz="1800" dirty="0">
                <a:solidFill>
                  <a:srgbClr val="002060"/>
                </a:solidFill>
                <a:hlinkClick r:id="rId2"/>
              </a:rPr>
              <a:t>https://www.youtube.com/watch?v=BQP7sQUiYZY</a:t>
            </a:r>
            <a:r>
              <a:rPr lang="en-AU" sz="1800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707C-1341-4173-BF3E-7DF11DE4A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1498" y="1291974"/>
            <a:ext cx="3643554" cy="385152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76200" indent="0">
              <a:buNone/>
            </a:pPr>
            <a:r>
              <a:rPr lang="en-AU" sz="1800" dirty="0" smtClean="0"/>
              <a:t>The point of view of the creator.</a:t>
            </a:r>
            <a:endParaRPr lang="en-AU" sz="1800" dirty="0"/>
          </a:p>
          <a:p>
            <a:pPr>
              <a:lnSpc>
                <a:spcPct val="150000"/>
              </a:lnSpc>
            </a:pPr>
            <a:r>
              <a:rPr lang="en-US" sz="1800" dirty="0"/>
              <a:t>What is the maker’s viewpoint? 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Is it </a:t>
            </a:r>
            <a:r>
              <a:rPr lang="en-US" sz="3000" b="1" dirty="0"/>
              <a:t>biased</a:t>
            </a:r>
            <a:r>
              <a:rPr lang="en-US" sz="2000" dirty="0"/>
              <a:t> (favoring one side or only showing one part of the story</a:t>
            </a:r>
            <a:r>
              <a:rPr lang="en-US" sz="2000" dirty="0" smtClean="0"/>
              <a:t>)?</a:t>
            </a:r>
          </a:p>
          <a:p>
            <a:pPr>
              <a:lnSpc>
                <a:spcPct val="150000"/>
              </a:lnSpc>
            </a:pPr>
            <a:r>
              <a:rPr lang="en-AU" sz="1000" dirty="0" smtClean="0">
                <a:hlinkClick r:id="rId3"/>
              </a:rPr>
              <a:t>BIAS</a:t>
            </a:r>
          </a:p>
          <a:p>
            <a:pPr>
              <a:lnSpc>
                <a:spcPct val="150000"/>
              </a:lnSpc>
            </a:pPr>
            <a:r>
              <a:rPr lang="en-AU" sz="1000" dirty="0" smtClean="0">
                <a:hlinkClick r:id="rId3"/>
              </a:rPr>
              <a:t>https</a:t>
            </a:r>
            <a:r>
              <a:rPr lang="en-AU" sz="1000" dirty="0">
                <a:hlinkClick r:id="rId3"/>
              </a:rPr>
              <a:t>://</a:t>
            </a:r>
            <a:r>
              <a:rPr lang="en-AU" sz="1000" dirty="0" smtClean="0">
                <a:hlinkClick r:id="rId3"/>
              </a:rPr>
              <a:t>www.youtube.com/watch?v=95FQZhtpwcs</a:t>
            </a:r>
            <a:r>
              <a:rPr lang="en-AU" sz="1000" dirty="0" smtClean="0"/>
              <a:t> </a:t>
            </a:r>
            <a:endParaRPr lang="en-AU" sz="1000" dirty="0"/>
          </a:p>
        </p:txBody>
      </p:sp>
      <p:pic>
        <p:nvPicPr>
          <p:cNvPr id="1026" name="Picture 2" descr="Image result for perspectiv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526" y="2109191"/>
            <a:ext cx="4790476" cy="2418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63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757" y="2201231"/>
            <a:ext cx="5368200" cy="857400"/>
          </a:xfrm>
        </p:spPr>
        <p:txBody>
          <a:bodyPr/>
          <a:lstStyle/>
          <a:p>
            <a:r>
              <a:rPr lang="en-AU" b="1" dirty="0" smtClean="0">
                <a:solidFill>
                  <a:schemeClr val="tx1"/>
                </a:solidFill>
              </a:rPr>
              <a:t>OR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1026" name="Picture 2" descr="Image result for loll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210" y="701336"/>
            <a:ext cx="3764131" cy="376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B6FD97-11E2-4EBC-9E07-76A5B9573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42" y="1613464"/>
            <a:ext cx="2915111" cy="193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3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FE3ED-133A-46E7-8071-C1592A7CE8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C79D62-465A-4DCF-B5D3-C4E421008943}"/>
              </a:ext>
            </a:extLst>
          </p:cNvPr>
          <p:cNvSpPr txBox="1">
            <a:spLocks/>
          </p:cNvSpPr>
          <p:nvPr/>
        </p:nvSpPr>
        <p:spPr>
          <a:xfrm>
            <a:off x="340241" y="1430052"/>
            <a:ext cx="6882638" cy="34396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26940"/>
              </a:buClr>
              <a:buSzPts val="2400"/>
              <a:buFont typeface="Libre Baskerville"/>
              <a:buChar char="✣"/>
              <a:defRPr sz="24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⨳"/>
              <a:defRPr sz="20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2000"/>
              <a:buFont typeface="Libre Baskerville"/>
              <a:buChar char="■"/>
              <a:defRPr sz="20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●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○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6940"/>
              </a:buClr>
              <a:buSzPts val="1600"/>
              <a:buFont typeface="Libre Baskerville"/>
              <a:buChar char="■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●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○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3228"/>
              </a:buClr>
              <a:buSzPts val="1600"/>
              <a:buFont typeface="Libre Baskerville"/>
              <a:buChar char="■"/>
              <a:defRPr sz="1600" b="0" i="0" u="none" strike="noStrike" cap="none">
                <a:solidFill>
                  <a:srgbClr val="403228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r>
              <a:rPr lang="en-GB" sz="2800" dirty="0"/>
              <a:t>To decide if a source is</a:t>
            </a:r>
            <a:r>
              <a:rPr lang="en-GB" sz="2800" dirty="0">
                <a:solidFill>
                  <a:srgbClr val="00B050"/>
                </a:solidFill>
              </a:rPr>
              <a:t> </a:t>
            </a:r>
            <a:r>
              <a:rPr lang="en-GB" sz="2800" b="1" u="sng" dirty="0">
                <a:solidFill>
                  <a:srgbClr val="002060"/>
                </a:solidFill>
              </a:rPr>
              <a:t>useful</a:t>
            </a:r>
            <a:r>
              <a:rPr lang="en-GB" sz="2800" dirty="0">
                <a:solidFill>
                  <a:srgbClr val="00B050"/>
                </a:solidFill>
              </a:rPr>
              <a:t> </a:t>
            </a:r>
            <a:r>
              <a:rPr lang="en-GB" sz="2800" dirty="0"/>
              <a:t>you must decide if it </a:t>
            </a:r>
            <a:r>
              <a:rPr lang="en-GB" sz="2800" b="1" u="sng" dirty="0">
                <a:solidFill>
                  <a:srgbClr val="002060"/>
                </a:solidFill>
              </a:rPr>
              <a:t>teaches</a:t>
            </a:r>
            <a:r>
              <a:rPr lang="en-GB" sz="2800" dirty="0"/>
              <a:t> you anything!</a:t>
            </a:r>
            <a:br>
              <a:rPr lang="en-GB" sz="2800" dirty="0"/>
            </a:br>
            <a:endParaRPr lang="en-GB" sz="2800" dirty="0"/>
          </a:p>
          <a:p>
            <a:r>
              <a:rPr lang="en-GB" sz="2800" dirty="0"/>
              <a:t>Remember the </a:t>
            </a:r>
            <a:r>
              <a:rPr lang="en-GB" sz="2800" b="1" u="sng" dirty="0">
                <a:solidFill>
                  <a:srgbClr val="002060"/>
                </a:solidFill>
              </a:rPr>
              <a:t>usefulness</a:t>
            </a:r>
            <a:r>
              <a:rPr lang="en-GB" sz="2800" dirty="0"/>
              <a:t> of a source is </a:t>
            </a:r>
            <a:r>
              <a:rPr lang="en-GB" sz="2800" b="1" u="sng" dirty="0"/>
              <a:t>nothing</a:t>
            </a:r>
            <a:r>
              <a:rPr lang="en-GB" sz="2800" dirty="0"/>
              <a:t> to do with it’s reliability (trustworthiness).</a:t>
            </a:r>
            <a:endParaRPr lang="en-GB" sz="2800" b="1" u="sng" dirty="0"/>
          </a:p>
        </p:txBody>
      </p:sp>
      <p:pic>
        <p:nvPicPr>
          <p:cNvPr id="6" name="Picture 5" descr="https://encrypted-tbn1.gstatic.com/images?q=tbn:ANd9GcQwtsKs1Qdfklqrk6w0YHVxbhIbDYfAru-suEeSQ678m-bfJDJ3ckw_FA8y">
            <a:extLst>
              <a:ext uri="{FF2B5EF4-FFF2-40B4-BE49-F238E27FC236}">
                <a16:creationId xmlns:a16="http://schemas.microsoft.com/office/drawing/2014/main" id="{6672B144-293B-4D87-9E4D-49F7E2D8B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6896" t="15385" b="21585"/>
          <a:stretch>
            <a:fillRect/>
          </a:stretch>
        </p:blipFill>
        <p:spPr bwMode="auto">
          <a:xfrm>
            <a:off x="6648408" y="3454017"/>
            <a:ext cx="2495592" cy="1689483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2DE0E8E-852E-4A03-879F-68FE52809ED1}"/>
              </a:ext>
            </a:extLst>
          </p:cNvPr>
          <p:cNvSpPr txBox="1">
            <a:spLocks/>
          </p:cNvSpPr>
          <p:nvPr/>
        </p:nvSpPr>
        <p:spPr>
          <a:xfrm>
            <a:off x="534380" y="5968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u="sng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ea typeface="Times New Roman"/>
              </a:rPr>
              <a:t>Usefulness</a:t>
            </a:r>
          </a:p>
          <a:p>
            <a:r>
              <a:rPr lang="en-GB" sz="2400" dirty="0">
                <a:solidFill>
                  <a:srgbClr val="002060"/>
                </a:solidFill>
                <a:hlinkClick r:id="rId3"/>
              </a:rPr>
              <a:t>https://</a:t>
            </a:r>
            <a:r>
              <a:rPr lang="en-GB" sz="2400" dirty="0" smtClean="0">
                <a:solidFill>
                  <a:srgbClr val="002060"/>
                </a:solidFill>
                <a:hlinkClick r:id="rId3"/>
              </a:rPr>
              <a:t>www.youtube.com/watch?v=0OzSdQjuEfM</a:t>
            </a:r>
            <a:r>
              <a:rPr lang="en-GB" sz="2400" dirty="0" smtClean="0">
                <a:solidFill>
                  <a:srgbClr val="002060"/>
                </a:solidFill>
              </a:rPr>
              <a:t> </a:t>
            </a:r>
            <a:endParaRPr lang="en-GB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C3B6-9503-4473-825D-D94AF146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6385"/>
            <a:ext cx="5368200" cy="857400"/>
          </a:xfrm>
        </p:spPr>
        <p:txBody>
          <a:bodyPr/>
          <a:lstStyle/>
          <a:p>
            <a:r>
              <a:rPr lang="en-AU" sz="3600" b="1" dirty="0">
                <a:solidFill>
                  <a:srgbClr val="002060"/>
                </a:solidFill>
              </a:rPr>
              <a:t>Reliability</a:t>
            </a:r>
            <a:br>
              <a:rPr lang="en-AU" sz="3600" b="1" dirty="0">
                <a:solidFill>
                  <a:srgbClr val="002060"/>
                </a:solidFill>
              </a:rPr>
            </a:br>
            <a:r>
              <a:rPr lang="en-AU" sz="1500" b="1" dirty="0">
                <a:solidFill>
                  <a:srgbClr val="002060"/>
                </a:solidFill>
                <a:hlinkClick r:id="rId2"/>
              </a:rPr>
              <a:t>https://</a:t>
            </a:r>
            <a:r>
              <a:rPr lang="en-AU" sz="1500" b="1" dirty="0" smtClean="0">
                <a:solidFill>
                  <a:srgbClr val="002060"/>
                </a:solidFill>
                <a:hlinkClick r:id="rId2"/>
              </a:rPr>
              <a:t>www.youtube.com/watch?v=IbCr1aGS4CQ</a:t>
            </a:r>
            <a:r>
              <a:rPr lang="en-AU" sz="1500" b="1" dirty="0" smtClean="0">
                <a:solidFill>
                  <a:srgbClr val="002060"/>
                </a:solidFill>
              </a:rPr>
              <a:t> </a:t>
            </a:r>
            <a:endParaRPr lang="en-AU" sz="15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191DE-11E5-4460-99BC-C6C582ADC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81" y="1291975"/>
            <a:ext cx="8633637" cy="373722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GB" b="1" dirty="0">
                <a:solidFill>
                  <a:srgbClr val="7030A0"/>
                </a:solidFill>
              </a:rPr>
              <a:t>Reliability</a:t>
            </a:r>
            <a:r>
              <a:rPr lang="en-GB" dirty="0"/>
              <a:t> is about asking if you can trust the source.</a:t>
            </a:r>
            <a:br>
              <a:rPr lang="en-GB" dirty="0"/>
            </a:br>
            <a:endParaRPr lang="en-GB" dirty="0"/>
          </a:p>
          <a:p>
            <a:r>
              <a:rPr lang="en-GB" dirty="0"/>
              <a:t>There are different reasons why it may be </a:t>
            </a:r>
            <a:r>
              <a:rPr lang="en-GB" b="1" u="sng" dirty="0">
                <a:solidFill>
                  <a:srgbClr val="7030A0"/>
                </a:solidFill>
              </a:rPr>
              <a:t>trustworthy</a:t>
            </a:r>
            <a:r>
              <a:rPr lang="en-GB" b="1" u="sng" dirty="0"/>
              <a:t>:</a:t>
            </a:r>
            <a:br>
              <a:rPr lang="en-GB" b="1" u="sng" dirty="0"/>
            </a:br>
            <a:r>
              <a:rPr lang="en-GB" b="1" u="sng" dirty="0"/>
              <a:t/>
            </a:r>
            <a:br>
              <a:rPr lang="en-GB" b="1" u="sng" dirty="0"/>
            </a:br>
            <a:r>
              <a:rPr lang="en-GB" b="1" dirty="0">
                <a:solidFill>
                  <a:srgbClr val="FF0000"/>
                </a:solidFill>
              </a:rPr>
              <a:t>Who</a:t>
            </a:r>
            <a:r>
              <a:rPr lang="en-GB" dirty="0"/>
              <a:t> – Author: Wrote or drew the source?</a:t>
            </a:r>
            <a:br>
              <a:rPr lang="en-GB" dirty="0"/>
            </a:br>
            <a:r>
              <a:rPr lang="en-GB" b="1" dirty="0">
                <a:solidFill>
                  <a:srgbClr val="0070C0"/>
                </a:solidFill>
              </a:rPr>
              <a:t>Why</a:t>
            </a:r>
            <a:r>
              <a:rPr lang="en-GB" dirty="0"/>
              <a:t> – Purpose? Entertain, Public, Private?</a:t>
            </a:r>
            <a:br>
              <a:rPr lang="en-GB" dirty="0"/>
            </a:br>
            <a:r>
              <a:rPr lang="en-GB" b="1" dirty="0">
                <a:solidFill>
                  <a:srgbClr val="00B050"/>
                </a:solidFill>
              </a:rPr>
              <a:t>When</a:t>
            </a:r>
            <a:r>
              <a:rPr lang="en-GB" dirty="0"/>
              <a:t> – Were they </a:t>
            </a:r>
            <a:r>
              <a:rPr lang="en-GB" dirty="0" smtClean="0"/>
              <a:t>there </a:t>
            </a:r>
            <a:r>
              <a:rPr lang="en-GB" dirty="0"/>
              <a:t>at the time or after?</a:t>
            </a:r>
            <a:r>
              <a:rPr lang="en-GB" b="1" dirty="0"/>
              <a:t/>
            </a:r>
            <a:br>
              <a:rPr lang="en-GB" b="1" dirty="0"/>
            </a:br>
            <a:r>
              <a:rPr lang="en-GB" b="1" dirty="0">
                <a:solidFill>
                  <a:srgbClr val="7030A0"/>
                </a:solidFill>
              </a:rPr>
              <a:t>Where</a:t>
            </a:r>
            <a:r>
              <a:rPr lang="en-GB" dirty="0"/>
              <a:t> – Did they witness the event, are they part of the community/country or an outsider?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603C3-E35C-46C2-84B8-4B4865B49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2050" name="Picture 2" descr="Image result for reliab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677" y="116385"/>
            <a:ext cx="2082400" cy="118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90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7C3B6-9503-4473-825D-D94AF146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16820"/>
            <a:ext cx="5368200" cy="857400"/>
          </a:xfrm>
        </p:spPr>
        <p:txBody>
          <a:bodyPr/>
          <a:lstStyle/>
          <a:p>
            <a:r>
              <a:rPr lang="en-AU" sz="3600" b="1" dirty="0" smtClean="0">
                <a:solidFill>
                  <a:srgbClr val="002060"/>
                </a:solidFill>
              </a:rPr>
              <a:t>Historical Context</a:t>
            </a:r>
            <a:endParaRPr lang="en-AU" sz="3600" b="1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191DE-11E5-4460-99BC-C6C582ADC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181" y="1291975"/>
            <a:ext cx="5382139" cy="3737225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AU" dirty="0" smtClean="0"/>
              <a:t>What was happening at the time?</a:t>
            </a:r>
          </a:p>
          <a:p>
            <a:pPr marL="76200" indent="0">
              <a:buNone/>
            </a:pPr>
            <a:endParaRPr lang="en-AU" dirty="0"/>
          </a:p>
          <a:p>
            <a:pPr marL="76200" indent="0">
              <a:buNone/>
            </a:pPr>
            <a:r>
              <a:rPr lang="en-AU" dirty="0" smtClean="0"/>
              <a:t>Ask questions:</a:t>
            </a:r>
          </a:p>
          <a:p>
            <a:r>
              <a:rPr lang="en-AU" sz="2000" dirty="0" smtClean="0"/>
              <a:t>What</a:t>
            </a:r>
          </a:p>
          <a:p>
            <a:r>
              <a:rPr lang="en-AU" sz="2000" dirty="0" smtClean="0"/>
              <a:t>When</a:t>
            </a:r>
          </a:p>
          <a:p>
            <a:r>
              <a:rPr lang="en-AU" sz="2000" dirty="0" smtClean="0"/>
              <a:t>Cause</a:t>
            </a:r>
          </a:p>
          <a:p>
            <a:r>
              <a:rPr lang="en-AU" sz="2000" dirty="0" smtClean="0"/>
              <a:t>Effect </a:t>
            </a:r>
            <a:endParaRPr lang="en-AU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603C3-E35C-46C2-84B8-4B4865B497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5" name="Picture 2" descr="Image result for holocau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457" y="2099964"/>
            <a:ext cx="3809475" cy="285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650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labell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294</Words>
  <Application>Microsoft Office PowerPoint</Application>
  <PresentationFormat>On-screen Show (16:9)</PresentationFormat>
  <Paragraphs>61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Cinzel</vt:lpstr>
      <vt:lpstr>Comic Sans MS</vt:lpstr>
      <vt:lpstr>Libre Baskerville</vt:lpstr>
      <vt:lpstr>Times New Roman</vt:lpstr>
      <vt:lpstr>Dolabella template</vt:lpstr>
      <vt:lpstr>Introduction to Source Analysis</vt:lpstr>
      <vt:lpstr>PowerPoint Presentation</vt:lpstr>
      <vt:lpstr>HOW DO WE KNOW ABOUT HISTORY?</vt:lpstr>
      <vt:lpstr>SOURCES! </vt:lpstr>
      <vt:lpstr>PowerPoint Presentation</vt:lpstr>
      <vt:lpstr>PowerPoint Presentation</vt:lpstr>
      <vt:lpstr>Message and Purpose</vt:lpstr>
      <vt:lpstr>PowerPoint Presentation</vt:lpstr>
      <vt:lpstr>Perspective https://www.youtube.com/watch?v=BQP7sQUiYZY </vt:lpstr>
      <vt:lpstr>OR</vt:lpstr>
      <vt:lpstr>PowerPoint Presentation</vt:lpstr>
      <vt:lpstr>Reliability https://www.youtube.com/watch?v=IbCr1aGS4CQ </vt:lpstr>
      <vt:lpstr>Historical Context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dc:creator>Natasha Hawkes</dc:creator>
  <cp:lastModifiedBy>HAWKES Natasha [Narrogin Senior High School]</cp:lastModifiedBy>
  <cp:revision>30</cp:revision>
  <cp:lastPrinted>2018-09-11T09:22:52Z</cp:lastPrinted>
  <dcterms:modified xsi:type="dcterms:W3CDTF">2019-03-15T00:11:16Z</dcterms:modified>
</cp:coreProperties>
</file>